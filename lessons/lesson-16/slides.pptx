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8a17ff5f2524eac" /><Relationship Type="http://schemas.openxmlformats.org/officeDocument/2006/relationships/extended-properties" Target="/docProps/app.xml" Id="R7fe5016e21c146a2" /><Relationship Type="http://schemas.openxmlformats.org/officeDocument/2006/relationships/officeDocument" Target="/ppt/presentation.xml" Id="R7692da843b6c40f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53d46bf6e65482d"/>
  </p:sldMasterIdLst>
  <p:notesMasterIdLst>
    <p:notesMasterId xmlns:r="http://schemas.openxmlformats.org/officeDocument/2006/relationships" r:id="R6afaf57b72e84ad1"/>
  </p:notesMasterIdLst>
  <p:sldIdLst>
    <p:sldId xmlns:r="http://schemas.openxmlformats.org/officeDocument/2006/relationships" id="256" r:id="R9f7796b5ed3d4c32"/>
    <p:sldId xmlns:r="http://schemas.openxmlformats.org/officeDocument/2006/relationships" id="257" r:id="Rbfb7c08c44f34705"/>
    <p:sldId xmlns:r="http://schemas.openxmlformats.org/officeDocument/2006/relationships" id="258" r:id="R7b4dc21ec1f8474a"/>
    <p:sldId xmlns:r="http://schemas.openxmlformats.org/officeDocument/2006/relationships" id="259" r:id="R094b505986644898"/>
    <p:sldId xmlns:r="http://schemas.openxmlformats.org/officeDocument/2006/relationships" id="260" r:id="Rc74531fd3e77437d"/>
    <p:sldId xmlns:r="http://schemas.openxmlformats.org/officeDocument/2006/relationships" id="261" r:id="R88efcfa58b514b00"/>
    <p:sldId xmlns:r="http://schemas.openxmlformats.org/officeDocument/2006/relationships" id="262" r:id="Rfaf09e76c5804eec"/>
    <p:sldId xmlns:r="http://schemas.openxmlformats.org/officeDocument/2006/relationships" id="263" r:id="R8682aea90011471c"/>
    <p:sldId xmlns:r="http://schemas.openxmlformats.org/officeDocument/2006/relationships" id="264" r:id="Raf046c33d3384521"/>
    <p:sldId xmlns:r="http://schemas.openxmlformats.org/officeDocument/2006/relationships" id="265" r:id="Rc9cbb75a7d6b42ec"/>
    <p:sldId xmlns:r="http://schemas.openxmlformats.org/officeDocument/2006/relationships" id="266" r:id="R0856fbe186734d8b"/>
    <p:sldId xmlns:r="http://schemas.openxmlformats.org/officeDocument/2006/relationships" id="267" r:id="Rdd7d59377c954f6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64cc65eccbe423a" /><Relationship Type="http://schemas.openxmlformats.org/officeDocument/2006/relationships/slideMaster" Target="/ppt/slideMasters/slideMaster1.xml" Id="R853d46bf6e65482d" /><Relationship Type="http://schemas.openxmlformats.org/officeDocument/2006/relationships/notesMaster" Target="/ppt/notesMasters/notesMaster1.xml" Id="R6afaf57b72e84ad1" /><Relationship Type="http://schemas.openxmlformats.org/officeDocument/2006/relationships/presProps" Target="/ppt/presProps.xml" Id="R7f0ff6f7a05e42db" /><Relationship Type="http://schemas.openxmlformats.org/officeDocument/2006/relationships/viewProps" Target="/ppt/viewProps.xml" Id="Raa903a49b9cd4b71" /><Relationship Type="http://schemas.openxmlformats.org/officeDocument/2006/relationships/tableStyles" Target="/ppt/tableStyles.xml" Id="Rc7ec06f01db4481b" /><Relationship Type="http://schemas.openxmlformats.org/officeDocument/2006/relationships/slide" Target="/ppt/slides/slide1.xml" Id="R9f7796b5ed3d4c32" /><Relationship Type="http://schemas.openxmlformats.org/officeDocument/2006/relationships/slide" Target="/ppt/slides/slide2.xml" Id="Rbfb7c08c44f34705" /><Relationship Type="http://schemas.openxmlformats.org/officeDocument/2006/relationships/slide" Target="/ppt/slides/slide3.xml" Id="R7b4dc21ec1f8474a" /><Relationship Type="http://schemas.openxmlformats.org/officeDocument/2006/relationships/slide" Target="/ppt/slides/slide4.xml" Id="R094b505986644898" /><Relationship Type="http://schemas.openxmlformats.org/officeDocument/2006/relationships/slide" Target="/ppt/slides/slide5.xml" Id="Rc74531fd3e77437d" /><Relationship Type="http://schemas.openxmlformats.org/officeDocument/2006/relationships/slide" Target="/ppt/slides/slide6.xml" Id="R88efcfa58b514b00" /><Relationship Type="http://schemas.openxmlformats.org/officeDocument/2006/relationships/slide" Target="/ppt/slides/slide7.xml" Id="Rfaf09e76c5804eec" /><Relationship Type="http://schemas.openxmlformats.org/officeDocument/2006/relationships/slide" Target="/ppt/slides/slide8.xml" Id="R8682aea90011471c" /><Relationship Type="http://schemas.openxmlformats.org/officeDocument/2006/relationships/slide" Target="/ppt/slides/slide9.xml" Id="Raf046c33d3384521" /><Relationship Type="http://schemas.openxmlformats.org/officeDocument/2006/relationships/slide" Target="/ppt/slides/slide10.xml" Id="Rc9cbb75a7d6b42ec" /><Relationship Type="http://schemas.openxmlformats.org/officeDocument/2006/relationships/slide" Target="/ppt/slides/slide11.xml" Id="R0856fbe186734d8b" /><Relationship Type="http://schemas.openxmlformats.org/officeDocument/2006/relationships/slide" Target="/ppt/slides/slide12.xml" Id="Rdd7d59377c954f6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f540781fe67488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0ca3090dee54789" /><Relationship Type="http://schemas.openxmlformats.org/officeDocument/2006/relationships/notesMaster" Target="/ppt/notesMasters/notesMaster1.xml" Id="Rb02e14bab2da491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1eed52c125a4c3b" /><Relationship Type="http://schemas.openxmlformats.org/officeDocument/2006/relationships/notesMaster" Target="/ppt/notesMasters/notesMaster1.xml" Id="R6ff7ed0cb6bc420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f9709697ab64d14" /><Relationship Type="http://schemas.openxmlformats.org/officeDocument/2006/relationships/notesMaster" Target="/ppt/notesMasters/notesMaster1.xml" Id="R2803e232f5c649e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ee3fdc88a494676" /><Relationship Type="http://schemas.openxmlformats.org/officeDocument/2006/relationships/notesMaster" Target="/ppt/notesMasters/notesMaster1.xml" Id="Rb6df2e3d4364441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9d6d76dadf54c3c" /><Relationship Type="http://schemas.openxmlformats.org/officeDocument/2006/relationships/notesMaster" Target="/ppt/notesMasters/notesMaster1.xml" Id="Rcc30962af0e2404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35dab4f30e249e7" /><Relationship Type="http://schemas.openxmlformats.org/officeDocument/2006/relationships/notesMaster" Target="/ppt/notesMasters/notesMaster1.xml" Id="R67790f17a28742e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9ef42c55c2e47f5" /><Relationship Type="http://schemas.openxmlformats.org/officeDocument/2006/relationships/notesMaster" Target="/ppt/notesMasters/notesMaster1.xml" Id="Rab037e8c89e6445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9251d9a79374a75" /><Relationship Type="http://schemas.openxmlformats.org/officeDocument/2006/relationships/notesMaster" Target="/ppt/notesMasters/notesMaster1.xml" Id="R43dde00dd1b64bf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bcfe8bce0274169" /><Relationship Type="http://schemas.openxmlformats.org/officeDocument/2006/relationships/notesMaster" Target="/ppt/notesMasters/notesMaster1.xml" Id="R20440fc9a36a475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6a42538be794c88" /><Relationship Type="http://schemas.openxmlformats.org/officeDocument/2006/relationships/notesMaster" Target="/ppt/notesMasters/notesMaster1.xml" Id="R7e97d32bc6ee451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8653ea5e99c4771" /><Relationship Type="http://schemas.openxmlformats.org/officeDocument/2006/relationships/notesMaster" Target="/ppt/notesMasters/notesMaster1.xml" Id="R4fd91ae2fc974d4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750fd13ec034cf2" /><Relationship Type="http://schemas.openxmlformats.org/officeDocument/2006/relationships/notesMaster" Target="/ppt/notesMasters/notesMaster1.xml" Id="Re0076a356d934a9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页面：P01 第16讲 最终分享、论证门与项目提交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第16讲 最终分享、论证门与项目提交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本课没有新方法讲授。学生打开闪电页和项目材料。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syllabus.md；assignments.md Checkpoint 4。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页面：P02 今天采用两层展示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**全员闪电报告**：研究问题、关键结果状态、结论边界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**分组证据/工作流演示**：证据定位、trace、失败、人工判断与 AI 核验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教师在分组阶段抽查实验 ID、引用或工作流 trace。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五个必答问题由两层共同覆盖，不要求在闪电报告中全部说完。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本课板书、诊断与串词：</a:t>
            </a:r>
          </a:p>
          <a:p xmlns:a="http://schemas.openxmlformats.org/drawingml/2006/main">
            <a:r>
              <a:t>本节替换同类口头提示，不增加既有时段。开场诊断嵌入现有开场/回顾，后续再沿原实践时段操作。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**板书主线**：问题 → 证据 → 判断 → 工作流作用 → 边界。</a:t>
            </a:r>
          </a:p>
          <a:p xmlns:a="http://schemas.openxmlformats.org/drawingml/2006/main">
            <a:r>
              <a:t>- **诊断问题**：总展示能否只放成功结果？</a:t>
            </a:r>
          </a:p>
          <a:p xmlns:a="http://schemas.openxmlformats.org/drawingml/2006/main">
            <a:r>
              <a:t>- **预期回答**：应能反查关键依据、失败/局限、人工判断和AI核验。</a:t>
            </a:r>
          </a:p>
          <a:p xmlns:a="http://schemas.openxmlformats.org/drawingml/2006/main">
            <a:r>
              <a:t>- **常见误答后的追问**：普通技术故障进入修复，不能和伪造记录混为一谈。</a:t>
            </a:r>
          </a:p>
          <a:p xmlns:a="http://schemas.openxmlformats.org/drawingml/2006/main">
            <a:r>
              <a:t>- **过渡串词**：“用抽查发现的具体缺口完成最终修订与归档。”</a:t>
            </a:r>
          </a:p>
          <a:p xmlns:a="http://schemas.openxmlformats.org/drawingml/2006/main">
            <a:r>
              <a:t>- **当堂最小产出**：本人论证门完整材料及真实抽查记录。</a:t>
            </a:r>
          </a:p>
          <a:p xmlns:a="http://schemas.openxmlformats.org/drawingml/2006/main">
            <a:r>
              <a:t>- **退出记录**：写“已完成的动作、本人项目仍缺的证据/工件、下次补齐位置”。使用教师包时标明课堂方法练习，不能据此宣称本人研究门通过；正式提交课次仍为第 6、9、13、16 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§四；备课规划第 16 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页面：P03 闪电报告只回答三项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闪电报告：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我的研究问题与关键判断</a:t>
            </a:r>
          </a:p>
          <a:p xmlns:a="http://schemas.openxmlformats.org/drawingml/2006/main">
            <a:r>
              <a:t>2. 最关键结果：支持／反驳／仍不能判断</a:t>
            </a:r>
          </a:p>
          <a:p xmlns:a="http://schemas.openxmlformats.org/drawingml/2006/main">
            <a:r>
              <a:t>3. 当前结论边界与下一步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只用一页；关键数字给证据或运行记录位置。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每人占用 2 分钟时段，包含交接；按预排名单连续换人，不逐人长评。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§四；Alley, *The Craft of Scientific Presentations*。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页面：P04 全员闪电报告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按课堂名单依次报告。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研究问题 → 关键结果状态 → 结论边界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下一位提前打开自己的一页报告。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停留页。25 人连续完成；教师只记录状态和边界是否可辨。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班级展示名单；不在课件保存学生敏感信息，现场临时填入。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页面：P05 分组演示要打开真实工件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每人展示：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一条结论如何反查证据或实验记录</a:t>
            </a:r>
          </a:p>
          <a:p xmlns:a="http://schemas.openxmlformats.org/drawingml/2006/main">
            <a:r>
              <a:t>- 工作流改善了哪个科研动作</a:t>
            </a:r>
          </a:p>
          <a:p xmlns:a="http://schemas.openxmlformats.org/drawingml/2006/main">
            <a:r>
              <a:t>- 一次失败及修复／边界</a:t>
            </a:r>
          </a:p>
          <a:p xmlns:a="http://schemas.openxmlformats.org/drawingml/2006/main">
            <a:r>
              <a:t>- 一个不可外包的人工判断</a:t>
            </a:r>
          </a:p>
          <a:p xmlns:a="http://schemas.openxmlformats.org/drawingml/2006/main">
            <a:r>
              <a:t>- AI 如何被核验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7 组并行，每组 3—4 人；每人约 5—6 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§二—四；assignments.md Checkpoint 4。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页面：P06 证据追踪演示：从结论反查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结论 → 证据项／实验 ID → 运行记录 → 上游判断 → 边界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研究判断：支持／反驳／仍不能判断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证据成熟度：满足独立证据条件后才标 `stable`；方向支持仍需保留未决解释。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组员随机指定一条结论，让报告者现场反查。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§二；AGENTS.md 证据标准。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页面：P07 工作流演示：展示真实作用与失败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输入 → 权限边界 → 执行 → 人工审核 → 输出／失败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改善了哪个科研动作，如何评价？</a:t>
            </a:r>
          </a:p>
          <a:p xmlns:a="http://schemas.openxmlformats.org/drawingml/2006/main">
            <a:r>
              <a:t>哪次运行失败，原因已查明还是仍待查？</a:t>
            </a:r>
          </a:p>
          <a:p xmlns:a="http://schemas.openxmlformats.org/drawingml/2006/main">
            <a:r>
              <a:t>修复了什么，哪些边界仍保留？</a:t>
            </a:r>
          </a:p>
          <a:p xmlns:a="http://schemas.openxmlformats.org/drawingml/2006/main">
            <a:r>
              <a:t>哪个判断不能自动化？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不得只演示“能跑”。评估证据来自文件变化、日志、对照与人工核验。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§三；第 10—13 课同一工作流工件。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页面：P08 教师抽查：先判断故障类型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抽查对象：实验 ID｜引用｜工作流 trace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**普通失败**：环境、依赖、记录缺口、诚实披露的复现失败 → 修复与复盘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**学术规范红线**：编造、隐瞒、越权、伪造 → 按课程规则处理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记录对象、位置、现象、判断和后续动作；不在课堂逐台排障。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assessment.md 学术规范；讲义 §七—八。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页面：P09 论证门最终自查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1. 报告完整</a:t>
            </a:r>
          </a:p>
          <a:p xmlns:a="http://schemas.openxmlformats.org/drawingml/2006/main">
            <a:r>
              <a:t>2. 表图可追溯</a:t>
            </a:r>
          </a:p>
          <a:p xmlns:a="http://schemas.openxmlformats.org/drawingml/2006/main">
            <a:r>
              <a:t>3. 有效性或等价威胁</a:t>
            </a:r>
          </a:p>
          <a:p xmlns:a="http://schemas.openxmlformats.org/drawingml/2006/main">
            <a:r>
              <a:t>4. 反馈已逐条处理</a:t>
            </a:r>
          </a:p>
          <a:p xmlns:a="http://schemas.openxmlformats.org/drawingml/2006/main">
            <a:r>
              <a:t>5. 关键结论绑定证据与上游判断</a:t>
            </a:r>
          </a:p>
          <a:p xmlns:a="http://schemas.openxmlformats.org/drawingml/2006/main">
            <a:r>
              <a:t>6. `stable` 证据条件满足，否则降级</a:t>
            </a:r>
          </a:p>
          <a:p xmlns:a="http://schemas.openxmlformats.org/drawingml/2006/main">
            <a:r>
              <a:t>7. 工作流含运行、权限、评价、失败</a:t>
            </a:r>
          </a:p>
          <a:p xmlns:a="http://schemas.openxmlformats.org/drawingml/2006/main">
            <a:r>
              <a:t>8. 伦理、许可、贡献与 AI 披露完整</a:t>
            </a:r>
          </a:p>
          <a:p xmlns:a="http://schemas.openxmlformats.org/drawingml/2006/main">
            <a:r>
              <a:t>9. 工件状态与门检查一致</a:t>
            </a:r>
          </a:p>
          <a:p xmlns:a="http://schemas.openxmlformats.org/drawingml/2006/main">
            <a:r>
              <a:t>10. 展示、抽查与复盘完成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此页不新增规则；逐项以 assignments.md 为权威。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assignments.md Checkpoint 4；讲义 §八。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页面：P10 复盘八阶段：哪里改变了研究判断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问题定义 → 第一性原理分析 → 机制假设 → 外部输入摄取 → 证据整理 → 研究判断 → 原型验证 → 回写与表达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请选择一个转折：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哪项证据改变了问题或假设？</a:t>
            </a:r>
          </a:p>
          <a:p xmlns:a="http://schemas.openxmlformats.org/drawingml/2006/main">
            <a:r>
              <a:t>- 哪次失败改变了工作流或边界？</a:t>
            </a:r>
          </a:p>
          <a:p xmlns:a="http://schemas.openxmlformats.org/drawingml/2006/main">
            <a:r>
              <a:t>- 哪个判断始终不能自动化？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复盘不是逐课回忆，而是解释研究判断如何变化。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curriculum.md；讲义 §五。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页面：P11 AI 使用复盘：有效、误导、核验、责任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AI 在哪里有效？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哪里误导或失败？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人如何核验？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哪些判断与责任不能自动化？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让学生写一条最重要边界，回扣第 1 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§六；AGENTS.md；assessment.md。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页面：P12 提交、修复与课程收束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提交当前个人项目版本：链接、tag 或压缩包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局部缺口：按教师指定期限修复并复查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红线情形：不适用普通修订机制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问题仍由研究者定义，证据仍可核验，实验仍可复现，结论仍有边界，责任仍由人承担。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退出动作：每位学生写下一个当前仍“不能判断”的问题。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assignments.md；assessment.md；讲义 §八。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9b19de410840fc" /><Relationship Type="http://schemas.openxmlformats.org/officeDocument/2006/relationships/image" Target="/ppt/media/image.png" Id="Reba607a5c76c4261" /><Relationship Type="http://schemas.openxmlformats.org/officeDocument/2006/relationships/image" Target="/ppt/media/image2.png" Id="Rc7ff1472ecff40f6" /><Relationship Type="http://schemas.openxmlformats.org/officeDocument/2006/relationships/image" Target="/ppt/media/image3.png" Id="Rc2edfdbea72e40dd" /><Relationship Type="http://schemas.openxmlformats.org/officeDocument/2006/relationships/image" Target="/ppt/media/image4.png" Id="Rc03d6255037946b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b6636a0d2a4d5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d131a4e2cb4f8f" /><Relationship Type="http://schemas.openxmlformats.org/officeDocument/2006/relationships/image" Target="/ppt/media/image2.png" Id="Rb2327e427ec84203" /><Relationship Type="http://schemas.openxmlformats.org/officeDocument/2006/relationships/image" Target="/ppt/media/image5.png" Id="R37ba0728254e402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d3a209576c4bcb" /><Relationship Type="http://schemas.openxmlformats.org/officeDocument/2006/relationships/image" Target="/ppt/media/image.png" Id="R01e2c458432c416a" /><Relationship Type="http://schemas.openxmlformats.org/officeDocument/2006/relationships/image" Target="/ppt/media/image3.png" Id="R9087347c1df94a5a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a607a5c76c4261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7ff1472ecff40f6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2edfdbea72e40dd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3d6255037946ba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2327e427ec84203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ba0728254e402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e2c458432c416a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087347c1df94a5a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368fdc80ea946cd" /><Relationship Type="http://schemas.openxmlformats.org/officeDocument/2006/relationships/slideLayout" Target="/ppt/slideLayouts/slideLayout1.xml" Id="Rceb8dd0b1f2a4f3d" /><Relationship Type="http://schemas.openxmlformats.org/officeDocument/2006/relationships/slideLayout" Target="/ppt/slideLayouts/slideLayout2.xml" Id="Ra5dacdec29a04075" /><Relationship Type="http://schemas.openxmlformats.org/officeDocument/2006/relationships/slideLayout" Target="/ppt/slideLayouts/slideLayout3.xml" Id="Rbbec96d8e4204873" /><Relationship Type="http://schemas.openxmlformats.org/officeDocument/2006/relationships/slideLayout" Target="/ppt/slideLayouts/slideLayout4.xml" Id="R929b581587054124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eb8dd0b1f2a4f3d"/>
    <p:sldLayoutId xmlns:r="http://schemas.openxmlformats.org/officeDocument/2006/relationships" id="2147483650" r:id="Ra5dacdec29a04075"/>
    <p:sldLayoutId xmlns:r="http://schemas.openxmlformats.org/officeDocument/2006/relationships" id="2147483651" r:id="Rbbec96d8e4204873"/>
    <p:sldLayoutId xmlns:r="http://schemas.openxmlformats.org/officeDocument/2006/relationships" id="2147483652" r:id="R929b581587054124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5198ecb1d74a40" /><Relationship Type="http://schemas.openxmlformats.org/officeDocument/2006/relationships/notesSlide" Target="/ppt/notesSlides/notesSlide1.xml" Id="R81d7e54cee014d1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ae57e2cea084e11" /><Relationship Type="http://schemas.openxmlformats.org/officeDocument/2006/relationships/notesSlide" Target="/ppt/notesSlides/notesSlide2.xml" Id="R3b5950ec0185424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b2418587c814e46" /><Relationship Type="http://schemas.openxmlformats.org/officeDocument/2006/relationships/notesSlide" Target="/ppt/notesSlides/notesSlide3.xml" Id="R45fdafd1b94a466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3003bcc5e1b4845" /><Relationship Type="http://schemas.openxmlformats.org/officeDocument/2006/relationships/notesSlide" Target="/ppt/notesSlides/notesSlide4.xml" Id="R5b50f149969946f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5b49d1a6c2b4829" /><Relationship Type="http://schemas.openxmlformats.org/officeDocument/2006/relationships/notesSlide" Target="/ppt/notesSlides/notesSlide5.xml" Id="Rc6eefe1b65724e4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6d5ef2c483c41aa" /><Relationship Type="http://schemas.openxmlformats.org/officeDocument/2006/relationships/notesSlide" Target="/ppt/notesSlides/notesSlide6.xml" Id="R4ca5264653c3467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c127298fbec4f35" /><Relationship Type="http://schemas.openxmlformats.org/officeDocument/2006/relationships/notesSlide" Target="/ppt/notesSlides/notesSlide7.xml" Id="R7bfc93d9c21b4cf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cb9ec2642544228" /><Relationship Type="http://schemas.openxmlformats.org/officeDocument/2006/relationships/notesSlide" Target="/ppt/notesSlides/notesSlide8.xml" Id="R4afde09e90fa466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e7b83eb60314d51" /><Relationship Type="http://schemas.openxmlformats.org/officeDocument/2006/relationships/notesSlide" Target="/ppt/notesSlides/notesSlide9.xml" Id="R28d6e0dc7e104a9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d8c765debbd4591" /><Relationship Type="http://schemas.openxmlformats.org/officeDocument/2006/relationships/notesSlide" Target="/ppt/notesSlides/notesSlide10.xml" Id="R565b711adc83432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54b4014e3354129" /><Relationship Type="http://schemas.openxmlformats.org/officeDocument/2006/relationships/notesSlide" Target="/ppt/notesSlides/notesSlide11.xml" Id="Rc0935f714040411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c1d10b6ad5b4e14" /><Relationship Type="http://schemas.openxmlformats.org/officeDocument/2006/relationships/notesSlide" Target="/ppt/notesSlides/notesSlide12.xml" Id="R4e2549f7b083436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3920ED50-ECCC-4BCE-9F72-E242EE837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647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第16讲 最终分享、论证门与项目提交</a:t>
            </a: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今天采用两层展示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content-59">
            <a:extLst xmlns:a="http://schemas.openxmlformats.org/drawingml/2006/main">
              <a:ext uri="{FF2B5EF4-FFF2-40B4-BE49-F238E27FC236}">
                <a16:creationId xmlns:a16="http://schemas.microsoft.com/office/drawing/2014/main" id="{B2E0DC1E-6855-4D0B-9C60-AF6127F26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全员闪电报告：研究问题、关键结果状态、结论边界</a:t>
            </a:r>
          </a:p>
        </p:txBody>
      </p:sp>
      <p:sp>
        <p:nvSpPr>
          <p:cNvPr id="7" name="content-60">
            <a:extLst xmlns:a="http://schemas.openxmlformats.org/drawingml/2006/main">
              <a:ext uri="{FF2B5EF4-FFF2-40B4-BE49-F238E27FC236}">
                <a16:creationId xmlns:a16="http://schemas.microsoft.com/office/drawing/2014/main" id="{37F4CABB-1896-427C-9F86-821D07D4E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123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分组证据/工作流演示：证据定位、trace、失败、人工判断与 AI 核验</a:t>
            </a:r>
          </a:p>
        </p:txBody>
      </p:sp>
      <p:sp>
        <p:nvSpPr>
          <p:cNvPr id="8" name="content-61">
            <a:extLst xmlns:a="http://schemas.openxmlformats.org/drawingml/2006/main">
              <a:ext uri="{FF2B5EF4-FFF2-40B4-BE49-F238E27FC236}">
                <a16:creationId xmlns:a16="http://schemas.microsoft.com/office/drawing/2014/main" id="{28AADAE5-B8CF-4C5A-90A3-5CC287D91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084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教师在分组阶段抽查实验 ID、引用或工作流 trace。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闪电报告只回答三项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content-62">
            <a:extLst xmlns:a="http://schemas.openxmlformats.org/drawingml/2006/main">
              <a:ext uri="{FF2B5EF4-FFF2-40B4-BE49-F238E27FC236}">
                <a16:creationId xmlns:a16="http://schemas.microsoft.com/office/drawing/2014/main" id="{A171CAF8-592E-4EB9-9EA8-D9B0074FC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闪电报告：</a:t>
            </a:r>
          </a:p>
        </p:txBody>
      </p:sp>
      <p:sp>
        <p:nvSpPr>
          <p:cNvPr id="7" name="content-63">
            <a:extLst xmlns:a="http://schemas.openxmlformats.org/drawingml/2006/main">
              <a:ext uri="{FF2B5EF4-FFF2-40B4-BE49-F238E27FC236}">
                <a16:creationId xmlns:a16="http://schemas.microsoft.com/office/drawing/2014/main" id="{605B0AAE-873A-48E1-82AF-B325CA8DE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123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我的研究问题与关键判断</a:t>
            </a:r>
          </a:p>
        </p:txBody>
      </p:sp>
      <p:sp>
        <p:nvSpPr>
          <p:cNvPr id="8" name="content-64">
            <a:extLst xmlns:a="http://schemas.openxmlformats.org/drawingml/2006/main">
              <a:ext uri="{FF2B5EF4-FFF2-40B4-BE49-F238E27FC236}">
                <a16:creationId xmlns:a16="http://schemas.microsoft.com/office/drawing/2014/main" id="{D14C10BC-86BE-4D6C-A3F4-89404C501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084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最关键结果：支持／反驳／仍不能判断</a:t>
            </a:r>
          </a:p>
        </p:txBody>
      </p:sp>
      <p:sp>
        <p:nvSpPr>
          <p:cNvPr id="9" name="content-65">
            <a:extLst xmlns:a="http://schemas.openxmlformats.org/drawingml/2006/main">
              <a:ext uri="{FF2B5EF4-FFF2-40B4-BE49-F238E27FC236}">
                <a16:creationId xmlns:a16="http://schemas.microsoft.com/office/drawing/2014/main" id="{21FDCE76-4B04-49F3-B5D7-2D75A9DA3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045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当前结论边界与下一步</a:t>
            </a:r>
          </a:p>
        </p:txBody>
      </p:sp>
      <p:sp>
        <p:nvSpPr>
          <p:cNvPr id="10" name="content-66">
            <a:extLst xmlns:a="http://schemas.openxmlformats.org/drawingml/2006/main">
              <a:ext uri="{FF2B5EF4-FFF2-40B4-BE49-F238E27FC236}">
                <a16:creationId xmlns:a16="http://schemas.microsoft.com/office/drawing/2014/main" id="{704284AF-BAA3-4D8F-B40E-07328DC93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006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只用一页；关键数字给证据或运行记录位置。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全员闪电报告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process-67">
            <a:extLst xmlns:a="http://schemas.openxmlformats.org/drawingml/2006/main">
              <a:ext uri="{FF2B5EF4-FFF2-40B4-BE49-F238E27FC236}">
                <a16:creationId xmlns:a16="http://schemas.microsoft.com/office/drawing/2014/main" id="{AF1BD5B9-2B49-4822-8F58-4F4ED4CEF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34480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0">
            <a:noFill/>
          </a:ln>
        </p:spPr>
      </p:sp>
      <p:sp>
        <p:nvSpPr>
          <p:cNvPr id="7" name="content-68">
            <a:extLst xmlns:a="http://schemas.openxmlformats.org/drawingml/2006/main">
              <a:ext uri="{FF2B5EF4-FFF2-40B4-BE49-F238E27FC236}">
                <a16:creationId xmlns:a16="http://schemas.microsoft.com/office/drawing/2014/main" id="{B36EBCA1-0A4E-4ABD-A59E-E0FE330BE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85975"/>
            <a:ext cx="323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研究问题</a:t>
            </a:r>
          </a:p>
        </p:txBody>
      </p:sp>
      <p:sp>
        <p:nvSpPr>
          <p:cNvPr id="8" name="content-69">
            <a:extLst xmlns:a="http://schemas.openxmlformats.org/drawingml/2006/main">
              <a:ext uri="{FF2B5EF4-FFF2-40B4-BE49-F238E27FC236}">
                <a16:creationId xmlns:a16="http://schemas.microsoft.com/office/drawing/2014/main" id="{F4ED7515-EF0E-4C9D-B43A-6622A7E8B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200275"/>
            <a:ext cx="3143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9" name="process-70">
            <a:extLst xmlns:a="http://schemas.openxmlformats.org/drawingml/2006/main">
              <a:ext uri="{FF2B5EF4-FFF2-40B4-BE49-F238E27FC236}">
                <a16:creationId xmlns:a16="http://schemas.microsoft.com/office/drawing/2014/main" id="{21FB3EBA-2DEA-4670-93D0-32000D7FC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000250"/>
            <a:ext cx="34480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0" name="content-71">
            <a:extLst xmlns:a="http://schemas.openxmlformats.org/drawingml/2006/main">
              <a:ext uri="{FF2B5EF4-FFF2-40B4-BE49-F238E27FC236}">
                <a16:creationId xmlns:a16="http://schemas.microsoft.com/office/drawing/2014/main" id="{5042B73E-951E-4CEB-BCCF-3AA29D773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85975"/>
            <a:ext cx="323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关键结果状态</a:t>
            </a:r>
          </a:p>
        </p:txBody>
      </p:sp>
      <p:sp>
        <p:nvSpPr>
          <p:cNvPr id="11" name="content-72">
            <a:extLst xmlns:a="http://schemas.openxmlformats.org/drawingml/2006/main">
              <a:ext uri="{FF2B5EF4-FFF2-40B4-BE49-F238E27FC236}">
                <a16:creationId xmlns:a16="http://schemas.microsoft.com/office/drawing/2014/main" id="{F72D8750-D50B-4B30-AEC9-7FE80AFCB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2200275"/>
            <a:ext cx="3143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2" name="process-73">
            <a:extLst xmlns:a="http://schemas.openxmlformats.org/drawingml/2006/main">
              <a:ext uri="{FF2B5EF4-FFF2-40B4-BE49-F238E27FC236}">
                <a16:creationId xmlns:a16="http://schemas.microsoft.com/office/drawing/2014/main" id="{4135C94E-5DA4-4649-9F57-1CEE7007D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000250"/>
            <a:ext cx="34480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3" name="content-74">
            <a:extLst xmlns:a="http://schemas.openxmlformats.org/drawingml/2006/main">
              <a:ext uri="{FF2B5EF4-FFF2-40B4-BE49-F238E27FC236}">
                <a16:creationId xmlns:a16="http://schemas.microsoft.com/office/drawing/2014/main" id="{70E07684-F002-4898-8AA0-BB8D41166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085975"/>
            <a:ext cx="323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结论边界</a:t>
            </a:r>
          </a:p>
        </p:txBody>
      </p:sp>
      <p:sp>
        <p:nvSpPr>
          <p:cNvPr id="14" name="content-75">
            <a:extLst xmlns:a="http://schemas.openxmlformats.org/drawingml/2006/main">
              <a:ext uri="{FF2B5EF4-FFF2-40B4-BE49-F238E27FC236}">
                <a16:creationId xmlns:a16="http://schemas.microsoft.com/office/drawing/2014/main" id="{E9C4FA0A-9F7B-4AD1-8529-7B41DFD29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10972800" cy="4171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按课堂名单依次报告。</a:t>
            </a:r>
          </a:p>
        </p:txBody>
      </p:sp>
      <p:sp>
        <p:nvSpPr>
          <p:cNvPr id="15" name="content-76">
            <a:extLst xmlns:a="http://schemas.openxmlformats.org/drawingml/2006/main">
              <a:ext uri="{FF2B5EF4-FFF2-40B4-BE49-F238E27FC236}">
                <a16:creationId xmlns:a16="http://schemas.microsoft.com/office/drawing/2014/main" id="{9DC11557-E513-443D-B0AA-24296B098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5245"/>
            <a:ext cx="10972800" cy="4171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下一位提前打开自己的一页报告。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分组演示要打开真实工件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content-77">
            <a:extLst xmlns:a="http://schemas.openxmlformats.org/drawingml/2006/main">
              <a:ext uri="{FF2B5EF4-FFF2-40B4-BE49-F238E27FC236}">
                <a16:creationId xmlns:a16="http://schemas.microsoft.com/office/drawing/2014/main" id="{57719B2A-4224-4A26-BE22-DD3800BC9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每人展示：</a:t>
            </a:r>
          </a:p>
        </p:txBody>
      </p:sp>
      <p:sp>
        <p:nvSpPr>
          <p:cNvPr id="7" name="content-78">
            <a:extLst xmlns:a="http://schemas.openxmlformats.org/drawingml/2006/main">
              <a:ext uri="{FF2B5EF4-FFF2-40B4-BE49-F238E27FC236}">
                <a16:creationId xmlns:a16="http://schemas.microsoft.com/office/drawing/2014/main" id="{D5F7ED60-EAA0-40C3-BA58-7ABDDD62D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123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一条结论如何反查证据或实验记录</a:t>
            </a:r>
          </a:p>
        </p:txBody>
      </p:sp>
      <p:sp>
        <p:nvSpPr>
          <p:cNvPr id="8" name="content-79">
            <a:extLst xmlns:a="http://schemas.openxmlformats.org/drawingml/2006/main">
              <a:ext uri="{FF2B5EF4-FFF2-40B4-BE49-F238E27FC236}">
                <a16:creationId xmlns:a16="http://schemas.microsoft.com/office/drawing/2014/main" id="{90E18A96-C773-4E81-AEDF-97C9C51CC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084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工作流改善了哪个科研动作</a:t>
            </a:r>
          </a:p>
        </p:txBody>
      </p:sp>
      <p:sp>
        <p:nvSpPr>
          <p:cNvPr id="9" name="content-80">
            <a:extLst xmlns:a="http://schemas.openxmlformats.org/drawingml/2006/main">
              <a:ext uri="{FF2B5EF4-FFF2-40B4-BE49-F238E27FC236}">
                <a16:creationId xmlns:a16="http://schemas.microsoft.com/office/drawing/2014/main" id="{C790F0B3-6ABA-4CF2-9DBA-157643A17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045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一次失败及修复／边界</a:t>
            </a:r>
          </a:p>
        </p:txBody>
      </p:sp>
      <p:sp>
        <p:nvSpPr>
          <p:cNvPr id="10" name="content-81">
            <a:extLst xmlns:a="http://schemas.openxmlformats.org/drawingml/2006/main">
              <a:ext uri="{FF2B5EF4-FFF2-40B4-BE49-F238E27FC236}">
                <a16:creationId xmlns:a16="http://schemas.microsoft.com/office/drawing/2014/main" id="{E21AA11D-3585-487F-B328-CE2CC37BC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006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一个不可外包的人工判断</a:t>
            </a:r>
          </a:p>
        </p:txBody>
      </p:sp>
      <p:sp>
        <p:nvSpPr>
          <p:cNvPr id="11" name="content-82">
            <a:extLst xmlns:a="http://schemas.openxmlformats.org/drawingml/2006/main">
              <a:ext uri="{FF2B5EF4-FFF2-40B4-BE49-F238E27FC236}">
                <a16:creationId xmlns:a16="http://schemas.microsoft.com/office/drawing/2014/main" id="{8956F7DB-46EE-4631-9476-82CC50B77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967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如何被核验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证据追踪演示：从结论反查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process-83">
            <a:extLst xmlns:a="http://schemas.openxmlformats.org/drawingml/2006/main">
              <a:ext uri="{FF2B5EF4-FFF2-40B4-BE49-F238E27FC236}">
                <a16:creationId xmlns:a16="http://schemas.microsoft.com/office/drawing/2014/main" id="{5FAF802D-3B27-4B45-B9BA-EEA8488D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9431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0">
            <a:noFill/>
          </a:ln>
        </p:spPr>
      </p:sp>
      <p:sp>
        <p:nvSpPr>
          <p:cNvPr id="7" name="content-84">
            <a:extLst xmlns:a="http://schemas.openxmlformats.org/drawingml/2006/main">
              <a:ext uri="{FF2B5EF4-FFF2-40B4-BE49-F238E27FC236}">
                <a16:creationId xmlns:a16="http://schemas.microsoft.com/office/drawing/2014/main" id="{C28073C7-A63F-4B7C-8351-488A15E7E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85975"/>
            <a:ext cx="1733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结论</a:t>
            </a:r>
          </a:p>
        </p:txBody>
      </p:sp>
      <p:sp>
        <p:nvSpPr>
          <p:cNvPr id="8" name="content-85">
            <a:extLst xmlns:a="http://schemas.openxmlformats.org/drawingml/2006/main">
              <a:ext uri="{FF2B5EF4-FFF2-40B4-BE49-F238E27FC236}">
                <a16:creationId xmlns:a16="http://schemas.microsoft.com/office/drawing/2014/main" id="{CD4E565A-1C64-49BF-999F-A3D800404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200275"/>
            <a:ext cx="3143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9" name="process-86">
            <a:extLst xmlns:a="http://schemas.openxmlformats.org/drawingml/2006/main">
              <a:ext uri="{FF2B5EF4-FFF2-40B4-BE49-F238E27FC236}">
                <a16:creationId xmlns:a16="http://schemas.microsoft.com/office/drawing/2014/main" id="{50473089-6DAB-419B-AD0E-FB812E702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2000250"/>
            <a:ext cx="19431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0" name="content-87">
            <a:extLst xmlns:a="http://schemas.openxmlformats.org/drawingml/2006/main">
              <a:ext uri="{FF2B5EF4-FFF2-40B4-BE49-F238E27FC236}">
                <a16:creationId xmlns:a16="http://schemas.microsoft.com/office/drawing/2014/main" id="{32C310E1-8013-4F27-9EF9-BA685265F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085975"/>
            <a:ext cx="1733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证据项／实验 ID</a:t>
            </a:r>
          </a:p>
        </p:txBody>
      </p:sp>
      <p:sp>
        <p:nvSpPr>
          <p:cNvPr id="11" name="content-88">
            <a:extLst xmlns:a="http://schemas.openxmlformats.org/drawingml/2006/main">
              <a:ext uri="{FF2B5EF4-FFF2-40B4-BE49-F238E27FC236}">
                <a16:creationId xmlns:a16="http://schemas.microsoft.com/office/drawing/2014/main" id="{05E4138E-3C4C-4486-93CF-7E8AA376F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200275"/>
            <a:ext cx="3143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2" name="process-89">
            <a:extLst xmlns:a="http://schemas.openxmlformats.org/drawingml/2006/main">
              <a:ext uri="{FF2B5EF4-FFF2-40B4-BE49-F238E27FC236}">
                <a16:creationId xmlns:a16="http://schemas.microsoft.com/office/drawing/2014/main" id="{54081697-866E-4E07-B70F-F83E22E19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000250"/>
            <a:ext cx="19431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3" name="content-90">
            <a:extLst xmlns:a="http://schemas.openxmlformats.org/drawingml/2006/main">
              <a:ext uri="{FF2B5EF4-FFF2-40B4-BE49-F238E27FC236}">
                <a16:creationId xmlns:a16="http://schemas.microsoft.com/office/drawing/2014/main" id="{98B3E5AB-8D22-4C08-A225-C402A6204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2085975"/>
            <a:ext cx="1733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运行记录</a:t>
            </a:r>
          </a:p>
        </p:txBody>
      </p:sp>
      <p:sp>
        <p:nvSpPr>
          <p:cNvPr id="14" name="content-91">
            <a:extLst xmlns:a="http://schemas.openxmlformats.org/drawingml/2006/main">
              <a:ext uri="{FF2B5EF4-FFF2-40B4-BE49-F238E27FC236}">
                <a16:creationId xmlns:a16="http://schemas.microsoft.com/office/drawing/2014/main" id="{A5FE375B-14C5-47F4-99F9-97A628A9E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200275"/>
            <a:ext cx="3143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5" name="process-92">
            <a:extLst xmlns:a="http://schemas.openxmlformats.org/drawingml/2006/main">
              <a:ext uri="{FF2B5EF4-FFF2-40B4-BE49-F238E27FC236}">
                <a16:creationId xmlns:a16="http://schemas.microsoft.com/office/drawing/2014/main" id="{83736711-185A-4821-BDB7-8C9A4BECA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000250"/>
            <a:ext cx="19431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6" name="content-93">
            <a:extLst xmlns:a="http://schemas.openxmlformats.org/drawingml/2006/main">
              <a:ext uri="{FF2B5EF4-FFF2-40B4-BE49-F238E27FC236}">
                <a16:creationId xmlns:a16="http://schemas.microsoft.com/office/drawing/2014/main" id="{3C7054BF-EF7F-45A6-A898-2998AED28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085975"/>
            <a:ext cx="1733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上游判断</a:t>
            </a:r>
          </a:p>
        </p:txBody>
      </p:sp>
      <p:sp>
        <p:nvSpPr>
          <p:cNvPr id="17" name="content-94">
            <a:extLst xmlns:a="http://schemas.openxmlformats.org/drawingml/2006/main">
              <a:ext uri="{FF2B5EF4-FFF2-40B4-BE49-F238E27FC236}">
                <a16:creationId xmlns:a16="http://schemas.microsoft.com/office/drawing/2014/main" id="{99FC081D-BAF6-49B7-BD70-F24876909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200275"/>
            <a:ext cx="3143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8" name="process-95">
            <a:extLst xmlns:a="http://schemas.openxmlformats.org/drawingml/2006/main">
              <a:ext uri="{FF2B5EF4-FFF2-40B4-BE49-F238E27FC236}">
                <a16:creationId xmlns:a16="http://schemas.microsoft.com/office/drawing/2014/main" id="{388E661A-6988-4F94-BF77-F4DFAB94C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000250"/>
            <a:ext cx="19431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9" name="content-96">
            <a:extLst xmlns:a="http://schemas.openxmlformats.org/drawingml/2006/main">
              <a:ext uri="{FF2B5EF4-FFF2-40B4-BE49-F238E27FC236}">
                <a16:creationId xmlns:a16="http://schemas.microsoft.com/office/drawing/2014/main" id="{C77CA478-F696-4B9E-B2C5-64D4643E9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2085975"/>
            <a:ext cx="1733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边界</a:t>
            </a:r>
          </a:p>
        </p:txBody>
      </p:sp>
      <p:sp>
        <p:nvSpPr>
          <p:cNvPr id="20" name="content-97">
            <a:extLst xmlns:a="http://schemas.openxmlformats.org/drawingml/2006/main">
              <a:ext uri="{FF2B5EF4-FFF2-40B4-BE49-F238E27FC236}">
                <a16:creationId xmlns:a16="http://schemas.microsoft.com/office/drawing/2014/main" id="{20EF7E39-323E-42C5-8F22-66DFBF7F5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10972800" cy="4171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研究判断：支持／反驳／仍不能判断</a:t>
            </a:r>
          </a:p>
        </p:txBody>
      </p:sp>
      <p:sp>
        <p:nvSpPr>
          <p:cNvPr id="21" name="content-98">
            <a:extLst xmlns:a="http://schemas.openxmlformats.org/drawingml/2006/main">
              <a:ext uri="{FF2B5EF4-FFF2-40B4-BE49-F238E27FC236}">
                <a16:creationId xmlns:a16="http://schemas.microsoft.com/office/drawing/2014/main" id="{59AFBEBD-F07B-43B5-847B-12A6FDC6C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5245"/>
            <a:ext cx="10972800" cy="4171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证据成熟度：满足独立证据条件后才标 stable；方向支持仍需保留未决解释。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工作流演示：展示真实作用与失败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process-99">
            <a:extLst xmlns:a="http://schemas.openxmlformats.org/drawingml/2006/main">
              <a:ext uri="{FF2B5EF4-FFF2-40B4-BE49-F238E27FC236}">
                <a16:creationId xmlns:a16="http://schemas.microsoft.com/office/drawing/2014/main" id="{670283FE-EA71-4D28-BD5D-96A63139B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9431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0">
            <a:noFill/>
          </a:ln>
        </p:spPr>
      </p:sp>
      <p:sp>
        <p:nvSpPr>
          <p:cNvPr id="7" name="content-100">
            <a:extLst xmlns:a="http://schemas.openxmlformats.org/drawingml/2006/main">
              <a:ext uri="{FF2B5EF4-FFF2-40B4-BE49-F238E27FC236}">
                <a16:creationId xmlns:a16="http://schemas.microsoft.com/office/drawing/2014/main" id="{7F211AEB-EEA0-4DC1-AAE5-FD06D1A02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85975"/>
            <a:ext cx="1733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输入</a:t>
            </a:r>
          </a:p>
        </p:txBody>
      </p:sp>
      <p:sp>
        <p:nvSpPr>
          <p:cNvPr id="8" name="content-101">
            <a:extLst xmlns:a="http://schemas.openxmlformats.org/drawingml/2006/main">
              <a:ext uri="{FF2B5EF4-FFF2-40B4-BE49-F238E27FC236}">
                <a16:creationId xmlns:a16="http://schemas.microsoft.com/office/drawing/2014/main" id="{9B927FF3-D07C-4389-A09E-7F52F68A0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200275"/>
            <a:ext cx="3143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9" name="process-102">
            <a:extLst xmlns:a="http://schemas.openxmlformats.org/drawingml/2006/main">
              <a:ext uri="{FF2B5EF4-FFF2-40B4-BE49-F238E27FC236}">
                <a16:creationId xmlns:a16="http://schemas.microsoft.com/office/drawing/2014/main" id="{6217AD9A-2A2F-4A2A-B1DA-2CEB821DC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2000250"/>
            <a:ext cx="19431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0" name="content-103">
            <a:extLst xmlns:a="http://schemas.openxmlformats.org/drawingml/2006/main">
              <a:ext uri="{FF2B5EF4-FFF2-40B4-BE49-F238E27FC236}">
                <a16:creationId xmlns:a16="http://schemas.microsoft.com/office/drawing/2014/main" id="{71E8362B-CC92-45B1-B5AB-EE7FAB800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085975"/>
            <a:ext cx="1733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权限边界</a:t>
            </a:r>
          </a:p>
        </p:txBody>
      </p:sp>
      <p:sp>
        <p:nvSpPr>
          <p:cNvPr id="11" name="content-104">
            <a:extLst xmlns:a="http://schemas.openxmlformats.org/drawingml/2006/main">
              <a:ext uri="{FF2B5EF4-FFF2-40B4-BE49-F238E27FC236}">
                <a16:creationId xmlns:a16="http://schemas.microsoft.com/office/drawing/2014/main" id="{BBC6D155-7D2B-413A-B0FF-EB7228625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200275"/>
            <a:ext cx="3143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2" name="process-105">
            <a:extLst xmlns:a="http://schemas.openxmlformats.org/drawingml/2006/main">
              <a:ext uri="{FF2B5EF4-FFF2-40B4-BE49-F238E27FC236}">
                <a16:creationId xmlns:a16="http://schemas.microsoft.com/office/drawing/2014/main" id="{DC5AFCCD-71FA-4C1C-9287-713042979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000250"/>
            <a:ext cx="19431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3" name="content-106">
            <a:extLst xmlns:a="http://schemas.openxmlformats.org/drawingml/2006/main">
              <a:ext uri="{FF2B5EF4-FFF2-40B4-BE49-F238E27FC236}">
                <a16:creationId xmlns:a16="http://schemas.microsoft.com/office/drawing/2014/main" id="{6F9DA5E4-CF41-4901-A082-872D4F5F3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2085975"/>
            <a:ext cx="1733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4" name="content-107">
            <a:extLst xmlns:a="http://schemas.openxmlformats.org/drawingml/2006/main">
              <a:ext uri="{FF2B5EF4-FFF2-40B4-BE49-F238E27FC236}">
                <a16:creationId xmlns:a16="http://schemas.microsoft.com/office/drawing/2014/main" id="{C61F997B-56B1-4D69-B11F-486BBAE1E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200275"/>
            <a:ext cx="3143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5" name="process-108">
            <a:extLst xmlns:a="http://schemas.openxmlformats.org/drawingml/2006/main">
              <a:ext uri="{FF2B5EF4-FFF2-40B4-BE49-F238E27FC236}">
                <a16:creationId xmlns:a16="http://schemas.microsoft.com/office/drawing/2014/main" id="{3464211D-07FB-422D-8512-1381932D8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000250"/>
            <a:ext cx="19431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6" name="content-109">
            <a:extLst xmlns:a="http://schemas.openxmlformats.org/drawingml/2006/main">
              <a:ext uri="{FF2B5EF4-FFF2-40B4-BE49-F238E27FC236}">
                <a16:creationId xmlns:a16="http://schemas.microsoft.com/office/drawing/2014/main" id="{55F0C649-FC11-4843-B5E2-1945784A0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085975"/>
            <a:ext cx="1733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人工审核</a:t>
            </a:r>
          </a:p>
        </p:txBody>
      </p:sp>
      <p:sp>
        <p:nvSpPr>
          <p:cNvPr id="17" name="content-110">
            <a:extLst xmlns:a="http://schemas.openxmlformats.org/drawingml/2006/main">
              <a:ext uri="{FF2B5EF4-FFF2-40B4-BE49-F238E27FC236}">
                <a16:creationId xmlns:a16="http://schemas.microsoft.com/office/drawing/2014/main" id="{168CE0BB-B80B-4B1E-89BE-01E6A523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200275"/>
            <a:ext cx="3143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8" name="process-111">
            <a:extLst xmlns:a="http://schemas.openxmlformats.org/drawingml/2006/main">
              <a:ext uri="{FF2B5EF4-FFF2-40B4-BE49-F238E27FC236}">
                <a16:creationId xmlns:a16="http://schemas.microsoft.com/office/drawing/2014/main" id="{94E587E0-376A-4CEA-A8EA-10D26B11E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000250"/>
            <a:ext cx="19431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9" name="content-112">
            <a:extLst xmlns:a="http://schemas.openxmlformats.org/drawingml/2006/main">
              <a:ext uri="{FF2B5EF4-FFF2-40B4-BE49-F238E27FC236}">
                <a16:creationId xmlns:a16="http://schemas.microsoft.com/office/drawing/2014/main" id="{4BFE2466-43FF-4053-81C8-207CED285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2085975"/>
            <a:ext cx="1733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输出／失败</a:t>
            </a:r>
          </a:p>
        </p:txBody>
      </p:sp>
      <p:sp>
        <p:nvSpPr>
          <p:cNvPr id="20" name="content-113">
            <a:extLst xmlns:a="http://schemas.openxmlformats.org/drawingml/2006/main">
              <a:ext uri="{FF2B5EF4-FFF2-40B4-BE49-F238E27FC236}">
                <a16:creationId xmlns:a16="http://schemas.microsoft.com/office/drawing/2014/main" id="{AD9E887A-5F8C-453E-861C-C34B87642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10972800" cy="4171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改善了哪个科研动作，如何评价？</a:t>
            </a:r>
          </a:p>
        </p:txBody>
      </p:sp>
      <p:sp>
        <p:nvSpPr>
          <p:cNvPr id="21" name="content-114">
            <a:extLst xmlns:a="http://schemas.openxmlformats.org/drawingml/2006/main">
              <a:ext uri="{FF2B5EF4-FFF2-40B4-BE49-F238E27FC236}">
                <a16:creationId xmlns:a16="http://schemas.microsoft.com/office/drawing/2014/main" id="{D81418C0-CDFC-4A73-BD43-C32AE5410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5245"/>
            <a:ext cx="10972800" cy="4171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哪次运行失败，原因已查明还是仍待查？</a:t>
            </a:r>
          </a:p>
        </p:txBody>
      </p:sp>
      <p:sp>
        <p:nvSpPr>
          <p:cNvPr id="22" name="content-115">
            <a:extLst xmlns:a="http://schemas.openxmlformats.org/drawingml/2006/main">
              <a:ext uri="{FF2B5EF4-FFF2-40B4-BE49-F238E27FC236}">
                <a16:creationId xmlns:a16="http://schemas.microsoft.com/office/drawing/2014/main" id="{9FACF49F-24F4-430F-A8D8-827859A9D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44365"/>
            <a:ext cx="10972800" cy="4171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修复了什么，哪些边界仍保留？</a:t>
            </a:r>
          </a:p>
        </p:txBody>
      </p:sp>
      <p:sp>
        <p:nvSpPr>
          <p:cNvPr id="23" name="content-116">
            <a:extLst xmlns:a="http://schemas.openxmlformats.org/drawingml/2006/main">
              <a:ext uri="{FF2B5EF4-FFF2-40B4-BE49-F238E27FC236}">
                <a16:creationId xmlns:a16="http://schemas.microsoft.com/office/drawing/2014/main" id="{91224ACA-6845-4B2B-96C5-C0E763561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3485"/>
            <a:ext cx="10972800" cy="4171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哪个判断不能自动化？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教师抽查：先判断故障类型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content-117">
            <a:extLst xmlns:a="http://schemas.openxmlformats.org/drawingml/2006/main">
              <a:ext uri="{FF2B5EF4-FFF2-40B4-BE49-F238E27FC236}">
                <a16:creationId xmlns:a16="http://schemas.microsoft.com/office/drawing/2014/main" id="{1C2E1D1D-4864-4E60-A6F9-031A5A35B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抽查对象：实验 ID｜引用｜工作流 trace</a:t>
            </a:r>
          </a:p>
        </p:txBody>
      </p:sp>
      <p:sp>
        <p:nvSpPr>
          <p:cNvPr id="7" name="content-118">
            <a:extLst xmlns:a="http://schemas.openxmlformats.org/drawingml/2006/main">
              <a:ext uri="{FF2B5EF4-FFF2-40B4-BE49-F238E27FC236}">
                <a16:creationId xmlns:a16="http://schemas.microsoft.com/office/drawing/2014/main" id="{D2E1A5D8-F234-44D4-ACE9-AFAE9942B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123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普通失败：环境、依赖、记录缺口、诚实披露的复现失败 → 修复与复盘</a:t>
            </a:r>
          </a:p>
        </p:txBody>
      </p:sp>
      <p:sp>
        <p:nvSpPr>
          <p:cNvPr id="8" name="content-119">
            <a:extLst xmlns:a="http://schemas.openxmlformats.org/drawingml/2006/main">
              <a:ext uri="{FF2B5EF4-FFF2-40B4-BE49-F238E27FC236}">
                <a16:creationId xmlns:a16="http://schemas.microsoft.com/office/drawing/2014/main" id="{44CC628B-5147-425E-96E9-34081FC0A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084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学术规范红线：编造、隐瞒、越权、伪造 → 按课程规则处理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论证门最终自查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content-120">
            <a:extLst xmlns:a="http://schemas.openxmlformats.org/drawingml/2006/main">
              <a:ext uri="{FF2B5EF4-FFF2-40B4-BE49-F238E27FC236}">
                <a16:creationId xmlns:a16="http://schemas.microsoft.com/office/drawing/2014/main" id="{3DB2FA0F-88DF-4E53-967C-BB9A85568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5238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1. 报告完整</a:t>
            </a:r>
          </a:p>
        </p:txBody>
      </p:sp>
      <p:sp>
        <p:nvSpPr>
          <p:cNvPr id="7" name="rule-121">
            <a:extLst xmlns:a="http://schemas.openxmlformats.org/drawingml/2006/main">
              <a:ext uri="{FF2B5EF4-FFF2-40B4-BE49-F238E27FC236}">
                <a16:creationId xmlns:a16="http://schemas.microsoft.com/office/drawing/2014/main" id="{60CB1CD8-C293-4CF4-A51A-964085EF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5238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8" name="content-122">
            <a:extLst xmlns:a="http://schemas.openxmlformats.org/drawingml/2006/main">
              <a:ext uri="{FF2B5EF4-FFF2-40B4-BE49-F238E27FC236}">
                <a16:creationId xmlns:a16="http://schemas.microsoft.com/office/drawing/2014/main" id="{E9CB5100-37BA-4345-888C-263531941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5238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2. 表图可追溯</a:t>
            </a:r>
          </a:p>
        </p:txBody>
      </p:sp>
      <p:sp>
        <p:nvSpPr>
          <p:cNvPr id="9" name="rule-123">
            <a:extLst xmlns:a="http://schemas.openxmlformats.org/drawingml/2006/main">
              <a:ext uri="{FF2B5EF4-FFF2-40B4-BE49-F238E27FC236}">
                <a16:creationId xmlns:a16="http://schemas.microsoft.com/office/drawing/2014/main" id="{829B7484-B5D2-4670-A13A-FFDBBA24B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5238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0" name="content-124">
            <a:extLst xmlns:a="http://schemas.openxmlformats.org/drawingml/2006/main">
              <a:ext uri="{FF2B5EF4-FFF2-40B4-BE49-F238E27FC236}">
                <a16:creationId xmlns:a16="http://schemas.microsoft.com/office/drawing/2014/main" id="{1C281125-83F3-4DCE-9842-D6DF3BBCD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90875"/>
            <a:ext cx="5238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3. 有效性或等价威胁</a:t>
            </a:r>
          </a:p>
        </p:txBody>
      </p:sp>
      <p:sp>
        <p:nvSpPr>
          <p:cNvPr id="11" name="rule-125">
            <a:extLst xmlns:a="http://schemas.openxmlformats.org/drawingml/2006/main">
              <a:ext uri="{FF2B5EF4-FFF2-40B4-BE49-F238E27FC236}">
                <a16:creationId xmlns:a16="http://schemas.microsoft.com/office/drawing/2014/main" id="{017AD48E-D5AE-4301-80EF-D451C4C86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5238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2" name="content-126">
            <a:extLst xmlns:a="http://schemas.openxmlformats.org/drawingml/2006/main">
              <a:ext uri="{FF2B5EF4-FFF2-40B4-BE49-F238E27FC236}">
                <a16:creationId xmlns:a16="http://schemas.microsoft.com/office/drawing/2014/main" id="{40BB086A-20D5-49CF-A1D3-4D07C324D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29075"/>
            <a:ext cx="5238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4. 反馈已逐条处理</a:t>
            </a:r>
          </a:p>
        </p:txBody>
      </p:sp>
      <p:sp>
        <p:nvSpPr>
          <p:cNvPr id="13" name="rule-127">
            <a:extLst xmlns:a="http://schemas.openxmlformats.org/drawingml/2006/main">
              <a:ext uri="{FF2B5EF4-FFF2-40B4-BE49-F238E27FC236}">
                <a16:creationId xmlns:a16="http://schemas.microsoft.com/office/drawing/2014/main" id="{0ED5B1A2-EC46-4B12-8D27-8FCB5E2DE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5238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4" name="content-128">
            <a:extLst xmlns:a="http://schemas.openxmlformats.org/drawingml/2006/main">
              <a:ext uri="{FF2B5EF4-FFF2-40B4-BE49-F238E27FC236}">
                <a16:creationId xmlns:a16="http://schemas.microsoft.com/office/drawing/2014/main" id="{D25D432D-C732-49F1-BBE0-453DAA4EF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67275"/>
            <a:ext cx="5238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5. 关键结论绑定证据与上游判断</a:t>
            </a:r>
          </a:p>
        </p:txBody>
      </p:sp>
      <p:sp>
        <p:nvSpPr>
          <p:cNvPr id="15" name="content-129">
            <a:extLst xmlns:a="http://schemas.openxmlformats.org/drawingml/2006/main">
              <a:ext uri="{FF2B5EF4-FFF2-40B4-BE49-F238E27FC236}">
                <a16:creationId xmlns:a16="http://schemas.microsoft.com/office/drawing/2014/main" id="{540EDC12-7987-4EEA-9780-5B3C9C558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14475"/>
            <a:ext cx="5238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6. stable 证据条件满足，否则降级</a:t>
            </a:r>
          </a:p>
        </p:txBody>
      </p:sp>
      <p:sp>
        <p:nvSpPr>
          <p:cNvPr id="16" name="rule-130">
            <a:extLst xmlns:a="http://schemas.openxmlformats.org/drawingml/2006/main">
              <a:ext uri="{FF2B5EF4-FFF2-40B4-BE49-F238E27FC236}">
                <a16:creationId xmlns:a16="http://schemas.microsoft.com/office/drawing/2014/main" id="{952EBECA-085E-498C-8275-425C74DE7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66950"/>
            <a:ext cx="5238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7" name="content-131">
            <a:extLst xmlns:a="http://schemas.openxmlformats.org/drawingml/2006/main">
              <a:ext uri="{FF2B5EF4-FFF2-40B4-BE49-F238E27FC236}">
                <a16:creationId xmlns:a16="http://schemas.microsoft.com/office/drawing/2014/main" id="{8A64AF51-0FBF-48AD-9C25-5DDDD5DB3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52675"/>
            <a:ext cx="5238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7. 工作流含运行、权限、评价、失败</a:t>
            </a:r>
          </a:p>
        </p:txBody>
      </p:sp>
      <p:sp>
        <p:nvSpPr>
          <p:cNvPr id="18" name="rule-132">
            <a:extLst xmlns:a="http://schemas.openxmlformats.org/drawingml/2006/main">
              <a:ext uri="{FF2B5EF4-FFF2-40B4-BE49-F238E27FC236}">
                <a16:creationId xmlns:a16="http://schemas.microsoft.com/office/drawing/2014/main" id="{6A64AF8C-7C0E-4212-9CA8-CCAAE6D1F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105150"/>
            <a:ext cx="5238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9" name="content-133">
            <a:extLst xmlns:a="http://schemas.openxmlformats.org/drawingml/2006/main">
              <a:ext uri="{FF2B5EF4-FFF2-40B4-BE49-F238E27FC236}">
                <a16:creationId xmlns:a16="http://schemas.microsoft.com/office/drawing/2014/main" id="{84ACB0E3-8B78-4D8F-B64E-91F6A4C27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190875"/>
            <a:ext cx="5238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8. 伦理、许可、贡献与 AI 披露完整</a:t>
            </a:r>
          </a:p>
        </p:txBody>
      </p:sp>
      <p:sp>
        <p:nvSpPr>
          <p:cNvPr id="20" name="rule-134">
            <a:extLst xmlns:a="http://schemas.openxmlformats.org/drawingml/2006/main">
              <a:ext uri="{FF2B5EF4-FFF2-40B4-BE49-F238E27FC236}">
                <a16:creationId xmlns:a16="http://schemas.microsoft.com/office/drawing/2014/main" id="{1945047B-5672-461A-819C-D63338170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943350"/>
            <a:ext cx="5238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1" name="content-135">
            <a:extLst xmlns:a="http://schemas.openxmlformats.org/drawingml/2006/main">
              <a:ext uri="{FF2B5EF4-FFF2-40B4-BE49-F238E27FC236}">
                <a16:creationId xmlns:a16="http://schemas.microsoft.com/office/drawing/2014/main" id="{79A74EA4-097D-40A9-A74A-5C40F9824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29075"/>
            <a:ext cx="5238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9. 工件状态与门检查一致</a:t>
            </a:r>
          </a:p>
        </p:txBody>
      </p:sp>
      <p:sp>
        <p:nvSpPr>
          <p:cNvPr id="22" name="rule-136">
            <a:extLst xmlns:a="http://schemas.openxmlformats.org/drawingml/2006/main">
              <a:ext uri="{FF2B5EF4-FFF2-40B4-BE49-F238E27FC236}">
                <a16:creationId xmlns:a16="http://schemas.microsoft.com/office/drawing/2014/main" id="{3C368426-39CD-40D7-B11B-9F8223FB1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781550"/>
            <a:ext cx="5238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3" name="content-137">
            <a:extLst xmlns:a="http://schemas.openxmlformats.org/drawingml/2006/main">
              <a:ext uri="{FF2B5EF4-FFF2-40B4-BE49-F238E27FC236}">
                <a16:creationId xmlns:a16="http://schemas.microsoft.com/office/drawing/2014/main" id="{BFEAEBDB-37C6-4C37-A8DA-FDBE2D304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67275"/>
            <a:ext cx="5238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10. 展示、抽查与复盘完成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复盘八阶段：哪里改变了研究判断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process-138">
            <a:extLst xmlns:a="http://schemas.openxmlformats.org/drawingml/2006/main">
              <a:ext uri="{FF2B5EF4-FFF2-40B4-BE49-F238E27FC236}">
                <a16:creationId xmlns:a16="http://schemas.microsoft.com/office/drawing/2014/main" id="{DBF2239C-2E38-4089-98B2-47AB0700B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2507456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0">
            <a:noFill/>
          </a:ln>
        </p:spPr>
      </p:sp>
      <p:sp>
        <p:nvSpPr>
          <p:cNvPr id="7" name="content-139">
            <a:extLst xmlns:a="http://schemas.openxmlformats.org/drawingml/2006/main">
              <a:ext uri="{FF2B5EF4-FFF2-40B4-BE49-F238E27FC236}">
                <a16:creationId xmlns:a16="http://schemas.microsoft.com/office/drawing/2014/main" id="{C0D829CB-624B-4F44-BB3B-C3DB594D5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00225"/>
            <a:ext cx="2297906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1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问题定义</a:t>
            </a:r>
          </a:p>
        </p:txBody>
      </p:sp>
      <p:sp>
        <p:nvSpPr>
          <p:cNvPr id="8" name="content-140">
            <a:extLst xmlns:a="http://schemas.openxmlformats.org/drawingml/2006/main">
              <a:ext uri="{FF2B5EF4-FFF2-40B4-BE49-F238E27FC236}">
                <a16:creationId xmlns:a16="http://schemas.microsoft.com/office/drawing/2014/main" id="{E965AEFD-DDF4-4F32-9258-708104077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7056" y="1914525"/>
            <a:ext cx="3143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9" name="process-141">
            <a:extLst xmlns:a="http://schemas.openxmlformats.org/drawingml/2006/main">
              <a:ext uri="{FF2B5EF4-FFF2-40B4-BE49-F238E27FC236}">
                <a16:creationId xmlns:a16="http://schemas.microsoft.com/office/drawing/2014/main" id="{FFDFEDC0-1945-439C-A9B1-9BAEF33BE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1381" y="1714500"/>
            <a:ext cx="2507456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0" name="content-142">
            <a:extLst xmlns:a="http://schemas.openxmlformats.org/drawingml/2006/main">
              <a:ext uri="{FF2B5EF4-FFF2-40B4-BE49-F238E27FC236}">
                <a16:creationId xmlns:a16="http://schemas.microsoft.com/office/drawing/2014/main" id="{DA4D8235-E798-489E-846E-93166C29D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156" y="1800225"/>
            <a:ext cx="2297906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1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第一性原理分析</a:t>
            </a:r>
          </a:p>
        </p:txBody>
      </p:sp>
      <p:sp>
        <p:nvSpPr>
          <p:cNvPr id="11" name="content-143">
            <a:extLst xmlns:a="http://schemas.openxmlformats.org/drawingml/2006/main">
              <a:ext uri="{FF2B5EF4-FFF2-40B4-BE49-F238E27FC236}">
                <a16:creationId xmlns:a16="http://schemas.microsoft.com/office/drawing/2014/main" id="{5F7D7A19-E6EA-4FE5-9210-45C9E4D90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8838" y="1914525"/>
            <a:ext cx="3143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2" name="process-144">
            <a:extLst xmlns:a="http://schemas.openxmlformats.org/drawingml/2006/main">
              <a:ext uri="{FF2B5EF4-FFF2-40B4-BE49-F238E27FC236}">
                <a16:creationId xmlns:a16="http://schemas.microsoft.com/office/drawing/2014/main" id="{7650A2BA-277B-4591-A806-4EAE7F804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1714500"/>
            <a:ext cx="2507456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3" name="content-145">
            <a:extLst xmlns:a="http://schemas.openxmlformats.org/drawingml/2006/main">
              <a:ext uri="{FF2B5EF4-FFF2-40B4-BE49-F238E27FC236}">
                <a16:creationId xmlns:a16="http://schemas.microsoft.com/office/drawing/2014/main" id="{798483DB-2463-441F-BA56-86AA40A7D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1800225"/>
            <a:ext cx="2297906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1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机制假设</a:t>
            </a:r>
          </a:p>
        </p:txBody>
      </p:sp>
      <p:sp>
        <p:nvSpPr>
          <p:cNvPr id="14" name="content-146">
            <a:extLst xmlns:a="http://schemas.openxmlformats.org/drawingml/2006/main">
              <a:ext uri="{FF2B5EF4-FFF2-40B4-BE49-F238E27FC236}">
                <a16:creationId xmlns:a16="http://schemas.microsoft.com/office/drawing/2014/main" id="{AE948316-B5A6-4F53-8EDF-655B6EBE7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0619" y="1914525"/>
            <a:ext cx="3143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5" name="process-147">
            <a:extLst xmlns:a="http://schemas.openxmlformats.org/drawingml/2006/main">
              <a:ext uri="{FF2B5EF4-FFF2-40B4-BE49-F238E27FC236}">
                <a16:creationId xmlns:a16="http://schemas.microsoft.com/office/drawing/2014/main" id="{F8E811CA-681C-4C71-AE00-56B191ACB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4944" y="1714500"/>
            <a:ext cx="2507456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6" name="content-148">
            <a:extLst xmlns:a="http://schemas.openxmlformats.org/drawingml/2006/main">
              <a:ext uri="{FF2B5EF4-FFF2-40B4-BE49-F238E27FC236}">
                <a16:creationId xmlns:a16="http://schemas.microsoft.com/office/drawing/2014/main" id="{033BE9FE-15E5-4208-AA5E-69D659109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9719" y="1800225"/>
            <a:ext cx="2297906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1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外部输入摄取</a:t>
            </a:r>
          </a:p>
        </p:txBody>
      </p:sp>
      <p:sp>
        <p:nvSpPr>
          <p:cNvPr id="17" name="process-149">
            <a:extLst xmlns:a="http://schemas.openxmlformats.org/drawingml/2006/main">
              <a:ext uri="{FF2B5EF4-FFF2-40B4-BE49-F238E27FC236}">
                <a16:creationId xmlns:a16="http://schemas.microsoft.com/office/drawing/2014/main" id="{7F2BDE13-011C-41D7-B20B-4348F73FF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2507456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0">
            <a:noFill/>
          </a:ln>
        </p:spPr>
      </p:sp>
      <p:sp>
        <p:nvSpPr>
          <p:cNvPr id="18" name="content-150">
            <a:extLst xmlns:a="http://schemas.openxmlformats.org/drawingml/2006/main">
              <a:ext uri="{FF2B5EF4-FFF2-40B4-BE49-F238E27FC236}">
                <a16:creationId xmlns:a16="http://schemas.microsoft.com/office/drawing/2014/main" id="{9AB0F457-B4AC-4F03-B361-AB5D40FB3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105150"/>
            <a:ext cx="2297906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1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证据整理</a:t>
            </a:r>
          </a:p>
        </p:txBody>
      </p:sp>
      <p:sp>
        <p:nvSpPr>
          <p:cNvPr id="19" name="content-151">
            <a:extLst xmlns:a="http://schemas.openxmlformats.org/drawingml/2006/main">
              <a:ext uri="{FF2B5EF4-FFF2-40B4-BE49-F238E27FC236}">
                <a16:creationId xmlns:a16="http://schemas.microsoft.com/office/drawing/2014/main" id="{1BF9599A-F0C0-4428-A991-0B80B07E0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7056" y="3219450"/>
            <a:ext cx="3143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0" name="process-152">
            <a:extLst xmlns:a="http://schemas.openxmlformats.org/drawingml/2006/main">
              <a:ext uri="{FF2B5EF4-FFF2-40B4-BE49-F238E27FC236}">
                <a16:creationId xmlns:a16="http://schemas.microsoft.com/office/drawing/2014/main" id="{C3305CE4-BE3C-445F-B6A9-A75633296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1381" y="3019425"/>
            <a:ext cx="2507456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21" name="content-153">
            <a:extLst xmlns:a="http://schemas.openxmlformats.org/drawingml/2006/main">
              <a:ext uri="{FF2B5EF4-FFF2-40B4-BE49-F238E27FC236}">
                <a16:creationId xmlns:a16="http://schemas.microsoft.com/office/drawing/2014/main" id="{19D4EE63-CC9C-4434-BB88-8960DFF55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156" y="3105150"/>
            <a:ext cx="2297906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1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研究判断</a:t>
            </a:r>
          </a:p>
        </p:txBody>
      </p:sp>
      <p:sp>
        <p:nvSpPr>
          <p:cNvPr id="22" name="content-154">
            <a:extLst xmlns:a="http://schemas.openxmlformats.org/drawingml/2006/main">
              <a:ext uri="{FF2B5EF4-FFF2-40B4-BE49-F238E27FC236}">
                <a16:creationId xmlns:a16="http://schemas.microsoft.com/office/drawing/2014/main" id="{A90975F4-56F6-4D46-9733-B0AED23EE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8838" y="3219450"/>
            <a:ext cx="3143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3" name="process-155">
            <a:extLst xmlns:a="http://schemas.openxmlformats.org/drawingml/2006/main">
              <a:ext uri="{FF2B5EF4-FFF2-40B4-BE49-F238E27FC236}">
                <a16:creationId xmlns:a16="http://schemas.microsoft.com/office/drawing/2014/main" id="{73AEE105-610C-40F2-BF37-6F6C72714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3019425"/>
            <a:ext cx="2507456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24" name="content-156">
            <a:extLst xmlns:a="http://schemas.openxmlformats.org/drawingml/2006/main">
              <a:ext uri="{FF2B5EF4-FFF2-40B4-BE49-F238E27FC236}">
                <a16:creationId xmlns:a16="http://schemas.microsoft.com/office/drawing/2014/main" id="{24FD39B1-3AD7-4EA9-BBEA-84784FCE4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3105150"/>
            <a:ext cx="2297906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1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原型验证</a:t>
            </a:r>
          </a:p>
        </p:txBody>
      </p:sp>
      <p:sp>
        <p:nvSpPr>
          <p:cNvPr id="25" name="content-157">
            <a:extLst xmlns:a="http://schemas.openxmlformats.org/drawingml/2006/main">
              <a:ext uri="{FF2B5EF4-FFF2-40B4-BE49-F238E27FC236}">
                <a16:creationId xmlns:a16="http://schemas.microsoft.com/office/drawing/2014/main" id="{C15A6C81-31DB-48CD-B256-374AAEE52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0619" y="3219450"/>
            <a:ext cx="3143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6" name="process-158">
            <a:extLst xmlns:a="http://schemas.openxmlformats.org/drawingml/2006/main">
              <a:ext uri="{FF2B5EF4-FFF2-40B4-BE49-F238E27FC236}">
                <a16:creationId xmlns:a16="http://schemas.microsoft.com/office/drawing/2014/main" id="{255699EE-FDB4-4E36-B65A-80CA475CD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4944" y="3019425"/>
            <a:ext cx="2507456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27" name="content-159">
            <a:extLst xmlns:a="http://schemas.openxmlformats.org/drawingml/2006/main">
              <a:ext uri="{FF2B5EF4-FFF2-40B4-BE49-F238E27FC236}">
                <a16:creationId xmlns:a16="http://schemas.microsoft.com/office/drawing/2014/main" id="{853F4489-EEC9-4AF5-B02A-603C1DC02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9719" y="3105150"/>
            <a:ext cx="2297906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1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回写与表达</a:t>
            </a:r>
          </a:p>
        </p:txBody>
      </p:sp>
      <p:sp>
        <p:nvSpPr>
          <p:cNvPr id="28" name="content-160">
            <a:extLst xmlns:a="http://schemas.openxmlformats.org/drawingml/2006/main">
              <a:ext uri="{FF2B5EF4-FFF2-40B4-BE49-F238E27FC236}">
                <a16:creationId xmlns:a16="http://schemas.microsoft.com/office/drawing/2014/main" id="{CDE4D8A4-2462-4458-8EF1-A54938D81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选择一个改变判断的转折：</a:t>
            </a:r>
          </a:p>
        </p:txBody>
      </p:sp>
      <p:sp>
        <p:nvSpPr>
          <p:cNvPr id="29" name="content-161">
            <a:extLst xmlns:a="http://schemas.openxmlformats.org/drawingml/2006/main">
              <a:ext uri="{FF2B5EF4-FFF2-40B4-BE49-F238E27FC236}">
                <a16:creationId xmlns:a16="http://schemas.microsoft.com/office/drawing/2014/main" id="{C18D3B60-0E2A-470B-9180-0D11E16DA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4019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证据怎样改变问题或假设？失败怎样改变工作流或边界？</a:t>
            </a:r>
          </a:p>
        </p:txBody>
      </p:sp>
      <p:sp>
        <p:nvSpPr>
          <p:cNvPr id="30" name="content-162">
            <a:extLst xmlns:a="http://schemas.openxmlformats.org/drawingml/2006/main">
              <a:ext uri="{FF2B5EF4-FFF2-40B4-BE49-F238E27FC236}">
                <a16:creationId xmlns:a16="http://schemas.microsoft.com/office/drawing/2014/main" id="{07AFDEC9-E677-4488-B04A-4A778158D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4505"/>
            <a:ext cx="10972800" cy="4019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哪个判断始终不能自动化？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AI 使用复盘：有效、误导、核验、责任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content-163">
            <a:extLst xmlns:a="http://schemas.openxmlformats.org/drawingml/2006/main">
              <a:ext uri="{FF2B5EF4-FFF2-40B4-BE49-F238E27FC236}">
                <a16:creationId xmlns:a16="http://schemas.microsoft.com/office/drawing/2014/main" id="{4FFC336F-4D38-4B54-BA6E-8F46F20A3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857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900" b="0">
                <a:solidFill>
                  <a:srgbClr val="66727D"/>
                </a:solidFill>
                <a:latin typeface="Arial"/>
                <a:ea typeface="Arial"/>
                <a:cs typeface="Arial"/>
              </a:defRPr>
            </a:pPr>
            <a:r>
              <a:rPr sz="2900" b="0">
                <a:solidFill>
                  <a:srgbClr val="66727D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rule-164">
            <a:extLst xmlns:a="http://schemas.openxmlformats.org/drawingml/2006/main">
              <a:ext uri="{FF2B5EF4-FFF2-40B4-BE49-F238E27FC236}">
                <a16:creationId xmlns:a16="http://schemas.microsoft.com/office/drawing/2014/main" id="{529C7973-735C-479D-9155-AD84FC2C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5067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8" name="content-165">
            <a:extLst xmlns:a="http://schemas.openxmlformats.org/drawingml/2006/main">
              <a:ext uri="{FF2B5EF4-FFF2-40B4-BE49-F238E27FC236}">
                <a16:creationId xmlns:a16="http://schemas.microsoft.com/office/drawing/2014/main" id="{44BC27BB-41A5-465E-B17F-133CF48C2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50673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7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在哪里有效？</a:t>
            </a:r>
          </a:p>
        </p:txBody>
      </p:sp>
      <p:sp>
        <p:nvSpPr>
          <p:cNvPr id="9" name="content-166">
            <a:extLst xmlns:a="http://schemas.openxmlformats.org/drawingml/2006/main">
              <a:ext uri="{FF2B5EF4-FFF2-40B4-BE49-F238E27FC236}">
                <a16:creationId xmlns:a16="http://schemas.microsoft.com/office/drawing/2014/main" id="{8466043B-DCED-45B8-9B10-544D30339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714500"/>
            <a:ext cx="857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900" b="0">
                <a:solidFill>
                  <a:srgbClr val="66727D"/>
                </a:solidFill>
                <a:latin typeface="Arial"/>
                <a:ea typeface="Arial"/>
                <a:cs typeface="Arial"/>
              </a:defRPr>
            </a:pPr>
            <a:r>
              <a:rPr sz="2900" b="0">
                <a:solidFill>
                  <a:srgbClr val="66727D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rule-167">
            <a:extLst xmlns:a="http://schemas.openxmlformats.org/drawingml/2006/main">
              <a:ext uri="{FF2B5EF4-FFF2-40B4-BE49-F238E27FC236}">
                <a16:creationId xmlns:a16="http://schemas.microsoft.com/office/drawing/2014/main" id="{1A8445DD-0997-45B3-A883-B3D1C452E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2333625"/>
            <a:ext cx="5067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1" name="content-168">
            <a:extLst xmlns:a="http://schemas.openxmlformats.org/drawingml/2006/main">
              <a:ext uri="{FF2B5EF4-FFF2-40B4-BE49-F238E27FC236}">
                <a16:creationId xmlns:a16="http://schemas.microsoft.com/office/drawing/2014/main" id="{F98B314A-2AF7-4BA0-90DA-ECF64CAE6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2619375"/>
            <a:ext cx="50673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7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哪里误导或失败？</a:t>
            </a:r>
          </a:p>
        </p:txBody>
      </p:sp>
      <p:sp>
        <p:nvSpPr>
          <p:cNvPr id="12" name="content-169">
            <a:extLst xmlns:a="http://schemas.openxmlformats.org/drawingml/2006/main">
              <a:ext uri="{FF2B5EF4-FFF2-40B4-BE49-F238E27FC236}">
                <a16:creationId xmlns:a16="http://schemas.microsoft.com/office/drawing/2014/main" id="{3D79F7A4-3E6B-4251-A815-F31AB33AA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38575"/>
            <a:ext cx="857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900" b="0">
                <a:solidFill>
                  <a:srgbClr val="66727D"/>
                </a:solidFill>
                <a:latin typeface="Arial"/>
                <a:ea typeface="Arial"/>
                <a:cs typeface="Arial"/>
              </a:defRPr>
            </a:pPr>
            <a:r>
              <a:rPr sz="2900" b="0">
                <a:solidFill>
                  <a:srgbClr val="66727D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rule-170">
            <a:extLst xmlns:a="http://schemas.openxmlformats.org/drawingml/2006/main">
              <a:ext uri="{FF2B5EF4-FFF2-40B4-BE49-F238E27FC236}">
                <a16:creationId xmlns:a16="http://schemas.microsoft.com/office/drawing/2014/main" id="{B4FC4937-8489-4518-8675-6921AD736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5067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4" name="content-171">
            <a:extLst xmlns:a="http://schemas.openxmlformats.org/drawingml/2006/main">
              <a:ext uri="{FF2B5EF4-FFF2-40B4-BE49-F238E27FC236}">
                <a16:creationId xmlns:a16="http://schemas.microsoft.com/office/drawing/2014/main" id="{FB26E428-E4EE-473C-9EF2-0BDF9CAF6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50673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7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人如何核验？</a:t>
            </a:r>
          </a:p>
        </p:txBody>
      </p:sp>
      <p:sp>
        <p:nvSpPr>
          <p:cNvPr id="15" name="content-172">
            <a:extLst xmlns:a="http://schemas.openxmlformats.org/drawingml/2006/main">
              <a:ext uri="{FF2B5EF4-FFF2-40B4-BE49-F238E27FC236}">
                <a16:creationId xmlns:a16="http://schemas.microsoft.com/office/drawing/2014/main" id="{8C905F82-7002-486A-9D56-9794A8414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3838575"/>
            <a:ext cx="857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900" b="0">
                <a:solidFill>
                  <a:srgbClr val="66727D"/>
                </a:solidFill>
                <a:latin typeface="Arial"/>
                <a:ea typeface="Arial"/>
                <a:cs typeface="Arial"/>
              </a:defRPr>
            </a:pPr>
            <a:r>
              <a:rPr sz="2900" b="0">
                <a:solidFill>
                  <a:srgbClr val="66727D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rule-173">
            <a:extLst xmlns:a="http://schemas.openxmlformats.org/drawingml/2006/main">
              <a:ext uri="{FF2B5EF4-FFF2-40B4-BE49-F238E27FC236}">
                <a16:creationId xmlns:a16="http://schemas.microsoft.com/office/drawing/2014/main" id="{4267BD72-FC01-4AB8-8236-4178EE3EE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457700"/>
            <a:ext cx="5067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7" name="content-174">
            <a:extLst xmlns:a="http://schemas.openxmlformats.org/drawingml/2006/main">
              <a:ext uri="{FF2B5EF4-FFF2-40B4-BE49-F238E27FC236}">
                <a16:creationId xmlns:a16="http://schemas.microsoft.com/office/drawing/2014/main" id="{02423495-5D51-4533-836E-9A6379D01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743450"/>
            <a:ext cx="50673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7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哪些判断与责任不能自动化？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提交、修复与课程收束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content-175">
            <a:extLst xmlns:a="http://schemas.openxmlformats.org/drawingml/2006/main">
              <a:ext uri="{FF2B5EF4-FFF2-40B4-BE49-F238E27FC236}">
                <a16:creationId xmlns:a16="http://schemas.microsoft.com/office/drawing/2014/main" id="{F60F9869-48C8-4410-8DA0-C0F634F2C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提交当前个人项目版本：链接、tag 或压缩包</a:t>
            </a:r>
          </a:p>
        </p:txBody>
      </p:sp>
      <p:sp>
        <p:nvSpPr>
          <p:cNvPr id="7" name="content-176">
            <a:extLst xmlns:a="http://schemas.openxmlformats.org/drawingml/2006/main">
              <a:ext uri="{FF2B5EF4-FFF2-40B4-BE49-F238E27FC236}">
                <a16:creationId xmlns:a16="http://schemas.microsoft.com/office/drawing/2014/main" id="{E1A5E2F4-C3B2-4DA6-8809-61D15EABD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123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局部缺口：按教师指定期限修复并复查</a:t>
            </a:r>
          </a:p>
        </p:txBody>
      </p:sp>
      <p:sp>
        <p:nvSpPr>
          <p:cNvPr id="8" name="content-177">
            <a:extLst xmlns:a="http://schemas.openxmlformats.org/drawingml/2006/main">
              <a:ext uri="{FF2B5EF4-FFF2-40B4-BE49-F238E27FC236}">
                <a16:creationId xmlns:a16="http://schemas.microsoft.com/office/drawing/2014/main" id="{5FDB883D-17BD-41E4-BA1D-D2ABFAF18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084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红线情形：不适用普通修订机制</a:t>
            </a:r>
          </a:p>
        </p:txBody>
      </p:sp>
      <p:sp>
        <p:nvSpPr>
          <p:cNvPr id="9" name="content-178">
            <a:extLst xmlns:a="http://schemas.openxmlformats.org/drawingml/2006/main">
              <a:ext uri="{FF2B5EF4-FFF2-40B4-BE49-F238E27FC236}">
                <a16:creationId xmlns:a16="http://schemas.microsoft.com/office/drawing/2014/main" id="{BE0A8CFF-44DA-46FB-920D-CCB6B52D5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0455"/>
            <a:ext cx="10972800" cy="7981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问题仍由研究者定义，证据仍可核验，实验仍可复现，结论仍有边界，责任仍由人承担。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2026-09-16T01:26:51.3730000Z</dcterms:created>
  <dcterms:modified xsi:type="dcterms:W3CDTF">2026-09-16T01:26:51.3730000Z</dcterms:modified>
</coreProperties>
</file>