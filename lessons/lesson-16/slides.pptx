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a17ff5f2524eac" /><Relationship Type="http://schemas.openxmlformats.org/officeDocument/2006/relationships/extended-properties" Target="/docProps/app.xml" Id="R7fe5016e21c146a2" /><Relationship Type="http://schemas.openxmlformats.org/officeDocument/2006/relationships/officeDocument" Target="/ppt/presentation.xml" Id="R7692da843b6c40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3d46bf6e65482d"/>
  </p:sldMasterIdLst>
  <p:notesMasterIdLst>
    <p:notesMasterId xmlns:r="http://schemas.openxmlformats.org/officeDocument/2006/relationships" r:id="R6afaf57b72e84ad1"/>
  </p:notesMasterIdLst>
  <p:sldIdLst>
    <p:sldId xmlns:r="http://schemas.openxmlformats.org/officeDocument/2006/relationships" id="256" r:id="R9f7796b5ed3d4c32"/>
    <p:sldId xmlns:r="http://schemas.openxmlformats.org/officeDocument/2006/relationships" id="257" r:id="Rbfb7c08c44f34705"/>
    <p:sldId xmlns:r="http://schemas.openxmlformats.org/officeDocument/2006/relationships" id="258" r:id="R7b4dc21ec1f8474a"/>
    <p:sldId xmlns:r="http://schemas.openxmlformats.org/officeDocument/2006/relationships" id="259" r:id="R094b505986644898"/>
    <p:sldId xmlns:r="http://schemas.openxmlformats.org/officeDocument/2006/relationships" id="260" r:id="Rc74531fd3e77437d"/>
    <p:sldId xmlns:r="http://schemas.openxmlformats.org/officeDocument/2006/relationships" id="261" r:id="R88efcfa58b514b00"/>
    <p:sldId xmlns:r="http://schemas.openxmlformats.org/officeDocument/2006/relationships" id="262" r:id="Rfaf09e76c5804eec"/>
    <p:sldId xmlns:r="http://schemas.openxmlformats.org/officeDocument/2006/relationships" id="263" r:id="R8682aea90011471c"/>
    <p:sldId xmlns:r="http://schemas.openxmlformats.org/officeDocument/2006/relationships" id="264" r:id="Raf046c33d3384521"/>
    <p:sldId xmlns:r="http://schemas.openxmlformats.org/officeDocument/2006/relationships" id="265" r:id="Rc9cbb75a7d6b42ec"/>
    <p:sldId xmlns:r="http://schemas.openxmlformats.org/officeDocument/2006/relationships" id="266" r:id="R0856fbe186734d8b"/>
    <p:sldId xmlns:r="http://schemas.openxmlformats.org/officeDocument/2006/relationships" id="267" r:id="Rdd7d59377c954f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4cc65eccbe423a" /><Relationship Type="http://schemas.openxmlformats.org/officeDocument/2006/relationships/slideMaster" Target="/ppt/slideMasters/slideMaster1.xml" Id="R853d46bf6e65482d" /><Relationship Type="http://schemas.openxmlformats.org/officeDocument/2006/relationships/notesMaster" Target="/ppt/notesMasters/notesMaster1.xml" Id="R6afaf57b72e84ad1" /><Relationship Type="http://schemas.openxmlformats.org/officeDocument/2006/relationships/presProps" Target="/ppt/presProps.xml" Id="R7f0ff6f7a05e42db" /><Relationship Type="http://schemas.openxmlformats.org/officeDocument/2006/relationships/viewProps" Target="/ppt/viewProps.xml" Id="Raa903a49b9cd4b71" /><Relationship Type="http://schemas.openxmlformats.org/officeDocument/2006/relationships/tableStyles" Target="/ppt/tableStyles.xml" Id="Rc7ec06f01db4481b" /><Relationship Type="http://schemas.openxmlformats.org/officeDocument/2006/relationships/slide" Target="/ppt/slides/slide1.xml" Id="R9f7796b5ed3d4c32" /><Relationship Type="http://schemas.openxmlformats.org/officeDocument/2006/relationships/slide" Target="/ppt/slides/slide2.xml" Id="Rbfb7c08c44f34705" /><Relationship Type="http://schemas.openxmlformats.org/officeDocument/2006/relationships/slide" Target="/ppt/slides/slide3.xml" Id="R7b4dc21ec1f8474a" /><Relationship Type="http://schemas.openxmlformats.org/officeDocument/2006/relationships/slide" Target="/ppt/slides/slide4.xml" Id="R094b505986644898" /><Relationship Type="http://schemas.openxmlformats.org/officeDocument/2006/relationships/slide" Target="/ppt/slides/slide5.xml" Id="Rc74531fd3e77437d" /><Relationship Type="http://schemas.openxmlformats.org/officeDocument/2006/relationships/slide" Target="/ppt/slides/slide6.xml" Id="R88efcfa58b514b00" /><Relationship Type="http://schemas.openxmlformats.org/officeDocument/2006/relationships/slide" Target="/ppt/slides/slide7.xml" Id="Rfaf09e76c5804eec" /><Relationship Type="http://schemas.openxmlformats.org/officeDocument/2006/relationships/slide" Target="/ppt/slides/slide8.xml" Id="R8682aea90011471c" /><Relationship Type="http://schemas.openxmlformats.org/officeDocument/2006/relationships/slide" Target="/ppt/slides/slide9.xml" Id="Raf046c33d3384521" /><Relationship Type="http://schemas.openxmlformats.org/officeDocument/2006/relationships/slide" Target="/ppt/slides/slide10.xml" Id="Rc9cbb75a7d6b42ec" /><Relationship Type="http://schemas.openxmlformats.org/officeDocument/2006/relationships/slide" Target="/ppt/slides/slide11.xml" Id="R0856fbe186734d8b" /><Relationship Type="http://schemas.openxmlformats.org/officeDocument/2006/relationships/slide" Target="/ppt/slides/slide12.xml" Id="Rdd7d59377c954f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540781fe6748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ca3090dee54789" /><Relationship Type="http://schemas.openxmlformats.org/officeDocument/2006/relationships/notesMaster" Target="/ppt/notesMasters/notesMaster1.xml" Id="Rb02e14bab2da49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eed52c125a4c3b" /><Relationship Type="http://schemas.openxmlformats.org/officeDocument/2006/relationships/notesMaster" Target="/ppt/notesMasters/notesMaster1.xml" Id="R6ff7ed0cb6bc42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9709697ab64d14" /><Relationship Type="http://schemas.openxmlformats.org/officeDocument/2006/relationships/notesMaster" Target="/ppt/notesMasters/notesMaster1.xml" Id="R2803e232f5c649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e3fdc88a494676" /><Relationship Type="http://schemas.openxmlformats.org/officeDocument/2006/relationships/notesMaster" Target="/ppt/notesMasters/notesMaster1.xml" Id="Rb6df2e3d436444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d6d76dadf54c3c" /><Relationship Type="http://schemas.openxmlformats.org/officeDocument/2006/relationships/notesMaster" Target="/ppt/notesMasters/notesMaster1.xml" Id="Rcc30962af0e240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5dab4f30e249e7" /><Relationship Type="http://schemas.openxmlformats.org/officeDocument/2006/relationships/notesMaster" Target="/ppt/notesMasters/notesMaster1.xml" Id="R67790f17a28742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ef42c55c2e47f5" /><Relationship Type="http://schemas.openxmlformats.org/officeDocument/2006/relationships/notesMaster" Target="/ppt/notesMasters/notesMaster1.xml" Id="Rab037e8c89e644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251d9a79374a75" /><Relationship Type="http://schemas.openxmlformats.org/officeDocument/2006/relationships/notesMaster" Target="/ppt/notesMasters/notesMaster1.xml" Id="R43dde00dd1b64b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cfe8bce0274169" /><Relationship Type="http://schemas.openxmlformats.org/officeDocument/2006/relationships/notesMaster" Target="/ppt/notesMasters/notesMaster1.xml" Id="R20440fc9a36a47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a42538be794c88" /><Relationship Type="http://schemas.openxmlformats.org/officeDocument/2006/relationships/notesMaster" Target="/ppt/notesMasters/notesMaster1.xml" Id="R7e97d32bc6ee45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653ea5e99c4771" /><Relationship Type="http://schemas.openxmlformats.org/officeDocument/2006/relationships/notesMaster" Target="/ppt/notesMasters/notesMaster1.xml" Id="R4fd91ae2fc974d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50fd13ec034cf2" /><Relationship Type="http://schemas.openxmlformats.org/officeDocument/2006/relationships/notesMaster" Target="/ppt/notesMasters/notesMaster1.xml" Id="Re0076a356d934a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第16讲 最终分享、论证门与项目提交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今天采用两层展示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页面：P03 闪电报告只回答三项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页面：P04 全员闪电报告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页面：P05 分组演示要打开真实工件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页面：P06 结论—证据—运行—决定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先独立作答，再同伴比较；以下依据只在校准时揭示。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据断点是否影响核心结论决定：路径缺失但原记录存在可补索引；评价口径与结果不符须改结论并复核；无实际运行不能用讲述替代。未决问题可合格呈现，不能伪装全部通过。每人都有展示和同伴反查，教师只抽样不代表每人运行已被教师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先独立写决定和证据，后同伴比较；校准后再回写。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页面：P07 本人项目：决定、核验与回写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根据断点是否影响核心结论决定：路径缺失但原记录存在可补索引；评价口径与结果不符须改结论并复核；无实际运行不能用讲述替代。未决问题可合格呈现，不能伪装全部通过。每人都有展示和同伴反查，教师只抽样不代表每人运行已被教师验证。 按本课专用90分钟流程进行，不套用普通课时间。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全员闪电展示；固定 3–4 人组轮流反查。直接打开现有材料，说明一个关键取舍、失败或未决问题，并完成最终提交与复盘。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页面：P08 教师抽查：先判断故障类型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页面：P09 论证门最终自查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页面：P10 复盘八阶段：哪里改变了研究判断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页面：P11 AI 使用复盘：有效、误导、核验、责任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依据本页方法检查本人项目；按需参考。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页面：P12 最终提交与未决问题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15 分钟整理；45 分钟修订和最终提交；已有材料直接打包。 每课课外最多60分钟；详见讲义。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定位实际工件与下一项动作；按既定预算收口。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 teaching-plan.md 专用课堂时段安排；换场计入对应时段。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9b19de410840fc" /><Relationship Type="http://schemas.openxmlformats.org/officeDocument/2006/relationships/image" Target="/ppt/media/image.png" Id="Reba607a5c76c4261" /><Relationship Type="http://schemas.openxmlformats.org/officeDocument/2006/relationships/image" Target="/ppt/media/image2.png" Id="Rc7ff1472ecff40f6" /><Relationship Type="http://schemas.openxmlformats.org/officeDocument/2006/relationships/image" Target="/ppt/media/image3.png" Id="Rc2edfdbea72e40dd" /><Relationship Type="http://schemas.openxmlformats.org/officeDocument/2006/relationships/image" Target="/ppt/media/image4.png" Id="Rc03d6255037946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6636a0d2a4d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131a4e2cb4f8f" /><Relationship Type="http://schemas.openxmlformats.org/officeDocument/2006/relationships/image" Target="/ppt/media/image2.png" Id="Rb2327e427ec84203" /><Relationship Type="http://schemas.openxmlformats.org/officeDocument/2006/relationships/image" Target="/ppt/media/image5.png" Id="R37ba0728254e40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d3a209576c4bcb" /><Relationship Type="http://schemas.openxmlformats.org/officeDocument/2006/relationships/image" Target="/ppt/media/image.png" Id="R01e2c458432c416a" /><Relationship Type="http://schemas.openxmlformats.org/officeDocument/2006/relationships/image" Target="/ppt/media/image3.png" Id="R9087347c1df94a5a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607a5c76c4261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ff1472ecff40f6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edfdbea72e40dd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d6255037946ba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327e427ec84203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a0728254e40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2c458432c416a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087347c1df94a5a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68fdc80ea946cd" /><Relationship Type="http://schemas.openxmlformats.org/officeDocument/2006/relationships/slideLayout" Target="/ppt/slideLayouts/slideLayout1.xml" Id="Rceb8dd0b1f2a4f3d" /><Relationship Type="http://schemas.openxmlformats.org/officeDocument/2006/relationships/slideLayout" Target="/ppt/slideLayouts/slideLayout2.xml" Id="Ra5dacdec29a04075" /><Relationship Type="http://schemas.openxmlformats.org/officeDocument/2006/relationships/slideLayout" Target="/ppt/slideLayouts/slideLayout3.xml" Id="Rbbec96d8e4204873" /><Relationship Type="http://schemas.openxmlformats.org/officeDocument/2006/relationships/slideLayout" Target="/ppt/slideLayouts/slideLayout4.xml" Id="R929b58158705412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b8dd0b1f2a4f3d"/>
    <p:sldLayoutId xmlns:r="http://schemas.openxmlformats.org/officeDocument/2006/relationships" id="2147483650" r:id="Ra5dacdec29a04075"/>
    <p:sldLayoutId xmlns:r="http://schemas.openxmlformats.org/officeDocument/2006/relationships" id="2147483651" r:id="Rbbec96d8e4204873"/>
    <p:sldLayoutId xmlns:r="http://schemas.openxmlformats.org/officeDocument/2006/relationships" id="2147483652" r:id="R929b581587054124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198ecb1d74a40" /><Relationship Type="http://schemas.openxmlformats.org/officeDocument/2006/relationships/notesSlide" Target="/ppt/notesSlides/notesSlide1.xml" Id="R81d7e54cee014d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ae57e2cea084e11" /><Relationship Type="http://schemas.openxmlformats.org/officeDocument/2006/relationships/notesSlide" Target="/ppt/notesSlides/notesSlide2.xml" Id="R3b5950ec018542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b2418587c814e46" /><Relationship Type="http://schemas.openxmlformats.org/officeDocument/2006/relationships/notesSlide" Target="/ppt/notesSlides/notesSlide3.xml" Id="R45fdafd1b94a46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003bcc5e1b4845" /><Relationship Type="http://schemas.openxmlformats.org/officeDocument/2006/relationships/notesSlide" Target="/ppt/notesSlides/notesSlide4.xml" Id="R5b50f149969946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5b49d1a6c2b4829" /><Relationship Type="http://schemas.openxmlformats.org/officeDocument/2006/relationships/notesSlide" Target="/ppt/notesSlides/notesSlide5.xml" Id="Rc6eefe1b65724e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6d5ef2c483c41aa" /><Relationship Type="http://schemas.openxmlformats.org/officeDocument/2006/relationships/notesSlide" Target="/ppt/notesSlides/notesSlide6.xml" Id="R4ca5264653c346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127298fbec4f35" /><Relationship Type="http://schemas.openxmlformats.org/officeDocument/2006/relationships/notesSlide" Target="/ppt/notesSlides/notesSlide7.xml" Id="R7bfc93d9c21b4c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cb9ec2642544228" /><Relationship Type="http://schemas.openxmlformats.org/officeDocument/2006/relationships/notesSlide" Target="/ppt/notesSlides/notesSlide8.xml" Id="R4afde09e90fa46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e7b83eb60314d51" /><Relationship Type="http://schemas.openxmlformats.org/officeDocument/2006/relationships/notesSlide" Target="/ppt/notesSlides/notesSlide9.xml" Id="R28d6e0dc7e104a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8c765debbd4591" /><Relationship Type="http://schemas.openxmlformats.org/officeDocument/2006/relationships/notesSlide" Target="/ppt/notesSlides/notesSlide10.xml" Id="R565b711adc8343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54b4014e3354129" /><Relationship Type="http://schemas.openxmlformats.org/officeDocument/2006/relationships/notesSlide" Target="/ppt/notesSlides/notesSlide11.xml" Id="Rc0935f71404041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c1d10b6ad5b4e14" /><Relationship Type="http://schemas.openxmlformats.org/officeDocument/2006/relationships/notesSlide" Target="/ppt/notesSlides/notesSlide12.xml" Id="R4e2549f7b08343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920ED50-ECCC-4BCE-9F72-E242EE83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第16讲 最终分享、论证门与项目提交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今天采用两层展示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content-59">
            <a:extLst xmlns:a="http://schemas.openxmlformats.org/drawingml/2006/main">
              <a:ext uri="{FF2B5EF4-FFF2-40B4-BE49-F238E27FC236}">
                <a16:creationId xmlns:a16="http://schemas.microsoft.com/office/drawing/2014/main" id="{B2E0DC1E-6855-4D0B-9C60-AF6127F2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全员闪电报告：研究问题、关键结果状态、结论边界</a:t>
            </a:r>
          </a:p>
        </p:txBody>
      </p:sp>
      <p:sp>
        <p:nvSpPr>
          <p:cNvPr id="7" name="content-60">
            <a:extLst xmlns:a="http://schemas.openxmlformats.org/drawingml/2006/main">
              <a:ext uri="{FF2B5EF4-FFF2-40B4-BE49-F238E27FC236}">
                <a16:creationId xmlns:a16="http://schemas.microsoft.com/office/drawing/2014/main" id="{37F4CABB-1896-427C-9F86-821D07D4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分组证据/工作流演示：证据定位、trace、失败、人工判断与 AI 核验</a:t>
            </a:r>
          </a:p>
        </p:txBody>
      </p:sp>
      <p:sp>
        <p:nvSpPr>
          <p:cNvPr id="8" name="content-61">
            <a:extLst xmlns:a="http://schemas.openxmlformats.org/drawingml/2006/main">
              <a:ext uri="{FF2B5EF4-FFF2-40B4-BE49-F238E27FC236}">
                <a16:creationId xmlns:a16="http://schemas.microsoft.com/office/drawing/2014/main" id="{28AADAE5-B8CF-4C5A-90A3-5CC287D9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教师在分组阶段抽查实验 ID、引用或工作流 trace。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闪电报告只回答三项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content-62">
            <a:extLst xmlns:a="http://schemas.openxmlformats.org/drawingml/2006/main">
              <a:ext uri="{FF2B5EF4-FFF2-40B4-BE49-F238E27FC236}">
                <a16:creationId xmlns:a16="http://schemas.microsoft.com/office/drawing/2014/main" id="{A171CAF8-592E-4EB9-9EA8-D9B0074F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闪电报告：</a:t>
            </a:r>
          </a:p>
        </p:txBody>
      </p:sp>
      <p:sp>
        <p:nvSpPr>
          <p:cNvPr id="7" name="content-63">
            <a:extLst xmlns:a="http://schemas.openxmlformats.org/drawingml/2006/main">
              <a:ext uri="{FF2B5EF4-FFF2-40B4-BE49-F238E27FC236}">
                <a16:creationId xmlns:a16="http://schemas.microsoft.com/office/drawing/2014/main" id="{605B0AAE-873A-48E1-82AF-B325CA8D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我的研究问题与关键判断</a:t>
            </a:r>
          </a:p>
        </p:txBody>
      </p:sp>
      <p:sp>
        <p:nvSpPr>
          <p:cNvPr id="8" name="content-64">
            <a:extLst xmlns:a="http://schemas.openxmlformats.org/drawingml/2006/main">
              <a:ext uri="{FF2B5EF4-FFF2-40B4-BE49-F238E27FC236}">
                <a16:creationId xmlns:a16="http://schemas.microsoft.com/office/drawing/2014/main" id="{D14C10BC-86BE-4D6C-A3F4-89404C50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最关键结果：支持／反驳／仍不能判断</a:t>
            </a:r>
          </a:p>
        </p:txBody>
      </p:sp>
      <p:sp>
        <p:nvSpPr>
          <p:cNvPr id="9" name="content-65">
            <a:extLst xmlns:a="http://schemas.openxmlformats.org/drawingml/2006/main">
              <a:ext uri="{FF2B5EF4-FFF2-40B4-BE49-F238E27FC236}">
                <a16:creationId xmlns:a16="http://schemas.microsoft.com/office/drawing/2014/main" id="{21FDCE76-4B04-49F3-B5D7-2D75A9DA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当前结论边界与下一步</a:t>
            </a:r>
          </a:p>
        </p:txBody>
      </p:sp>
      <p:sp>
        <p:nvSpPr>
          <p:cNvPr id="10" name="content-66">
            <a:extLst xmlns:a="http://schemas.openxmlformats.org/drawingml/2006/main">
              <a:ext uri="{FF2B5EF4-FFF2-40B4-BE49-F238E27FC236}">
                <a16:creationId xmlns:a16="http://schemas.microsoft.com/office/drawing/2014/main" id="{704284AF-BAA3-4D8F-B40E-07328DC9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只用一页；关键数字给证据或运行记录位置。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全员闪电报告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process-67">
            <a:extLst xmlns:a="http://schemas.openxmlformats.org/drawingml/2006/main">
              <a:ext uri="{FF2B5EF4-FFF2-40B4-BE49-F238E27FC236}">
                <a16:creationId xmlns:a16="http://schemas.microsoft.com/office/drawing/2014/main" id="{AF1BD5B9-2B49-4822-8F58-4F4ED4CE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448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7" name="content-68">
            <a:extLst xmlns:a="http://schemas.openxmlformats.org/drawingml/2006/main">
              <a:ext uri="{FF2B5EF4-FFF2-40B4-BE49-F238E27FC236}">
                <a16:creationId xmlns:a16="http://schemas.microsoft.com/office/drawing/2014/main" id="{B36EBCA1-0A4E-4ABD-A59E-E0FE330B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859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研究问题</a:t>
            </a:r>
          </a:p>
        </p:txBody>
      </p:sp>
      <p:sp>
        <p:nvSpPr>
          <p:cNvPr id="8" name="content-69">
            <a:extLst xmlns:a="http://schemas.openxmlformats.org/drawingml/2006/main">
              <a:ext uri="{FF2B5EF4-FFF2-40B4-BE49-F238E27FC236}">
                <a16:creationId xmlns:a16="http://schemas.microsoft.com/office/drawing/2014/main" id="{F4ED7515-EF0E-4C9D-B43A-6622A7E8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00275"/>
            <a:ext cx="314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process-70">
            <a:extLst xmlns:a="http://schemas.openxmlformats.org/drawingml/2006/main">
              <a:ext uri="{FF2B5EF4-FFF2-40B4-BE49-F238E27FC236}">
                <a16:creationId xmlns:a16="http://schemas.microsoft.com/office/drawing/2014/main" id="{21FB3EBA-2DEA-4670-93D0-32000D7F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00250"/>
            <a:ext cx="3448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content-71">
            <a:extLst xmlns:a="http://schemas.openxmlformats.org/drawingml/2006/main">
              <a:ext uri="{FF2B5EF4-FFF2-40B4-BE49-F238E27FC236}">
                <a16:creationId xmlns:a16="http://schemas.microsoft.com/office/drawing/2014/main" id="{5042B73E-951E-4CEB-BCCF-3AA29D77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859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关键结果状态</a:t>
            </a:r>
          </a:p>
        </p:txBody>
      </p:sp>
      <p:sp>
        <p:nvSpPr>
          <p:cNvPr id="11" name="content-72">
            <a:extLst xmlns:a="http://schemas.openxmlformats.org/drawingml/2006/main">
              <a:ext uri="{FF2B5EF4-FFF2-40B4-BE49-F238E27FC236}">
                <a16:creationId xmlns:a16="http://schemas.microsoft.com/office/drawing/2014/main" id="{F72D8750-D50B-4B30-AEC9-7FE80AFC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200275"/>
            <a:ext cx="3143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process-73">
            <a:extLst xmlns:a="http://schemas.openxmlformats.org/drawingml/2006/main">
              <a:ext uri="{FF2B5EF4-FFF2-40B4-BE49-F238E27FC236}">
                <a16:creationId xmlns:a16="http://schemas.microsoft.com/office/drawing/2014/main" id="{4135C94E-5DA4-4649-9F57-1CEE7007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00250"/>
            <a:ext cx="3448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content-74">
            <a:extLst xmlns:a="http://schemas.openxmlformats.org/drawingml/2006/main">
              <a:ext uri="{FF2B5EF4-FFF2-40B4-BE49-F238E27FC236}">
                <a16:creationId xmlns:a16="http://schemas.microsoft.com/office/drawing/2014/main" id="{70E07684-F002-4898-8AA0-BB8D4116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85975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结论边界</a:t>
            </a:r>
          </a:p>
        </p:txBody>
      </p:sp>
      <p:sp>
        <p:nvSpPr>
          <p:cNvPr id="14" name="content-75">
            <a:extLst xmlns:a="http://schemas.openxmlformats.org/drawingml/2006/main">
              <a:ext uri="{FF2B5EF4-FFF2-40B4-BE49-F238E27FC236}">
                <a16:creationId xmlns:a16="http://schemas.microsoft.com/office/drawing/2014/main" id="{E9C4FA0A-9F7B-4AD1-8529-7B41DFD2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0972800" cy="41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按课堂名单依次报告。</a:t>
            </a:r>
          </a:p>
        </p:txBody>
      </p:sp>
      <p:sp>
        <p:nvSpPr>
          <p:cNvPr id="15" name="content-76">
            <a:extLst xmlns:a="http://schemas.openxmlformats.org/drawingml/2006/main">
              <a:ext uri="{FF2B5EF4-FFF2-40B4-BE49-F238E27FC236}">
                <a16:creationId xmlns:a16="http://schemas.microsoft.com/office/drawing/2014/main" id="{9DC11557-E513-443D-B0AA-24296B09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5245"/>
            <a:ext cx="10972800" cy="4171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下一位提前打开自己的一页报告。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分组演示要打开真实工件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content-77">
            <a:extLst xmlns:a="http://schemas.openxmlformats.org/drawingml/2006/main">
              <a:ext uri="{FF2B5EF4-FFF2-40B4-BE49-F238E27FC236}">
                <a16:creationId xmlns:a16="http://schemas.microsoft.com/office/drawing/2014/main" id="{57719B2A-4224-4A26-BE22-DD3800BC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每人展示：</a:t>
            </a:r>
          </a:p>
        </p:txBody>
      </p:sp>
      <p:sp>
        <p:nvSpPr>
          <p:cNvPr id="7" name="content-78">
            <a:extLst xmlns:a="http://schemas.openxmlformats.org/drawingml/2006/main">
              <a:ext uri="{FF2B5EF4-FFF2-40B4-BE49-F238E27FC236}">
                <a16:creationId xmlns:a16="http://schemas.microsoft.com/office/drawing/2014/main" id="{D5F7ED60-EAA0-40C3-BA58-7ABDDD62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一条结论如何反查证据或实验记录</a:t>
            </a:r>
          </a:p>
        </p:txBody>
      </p:sp>
      <p:sp>
        <p:nvSpPr>
          <p:cNvPr id="8" name="content-79">
            <a:extLst xmlns:a="http://schemas.openxmlformats.org/drawingml/2006/main">
              <a:ext uri="{FF2B5EF4-FFF2-40B4-BE49-F238E27FC236}">
                <a16:creationId xmlns:a16="http://schemas.microsoft.com/office/drawing/2014/main" id="{90E18A96-C773-4E81-AEDF-97C9C51C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工作流改善了哪个科研动作</a:t>
            </a:r>
          </a:p>
        </p:txBody>
      </p:sp>
      <p:sp>
        <p:nvSpPr>
          <p:cNvPr id="9" name="content-80">
            <a:extLst xmlns:a="http://schemas.openxmlformats.org/drawingml/2006/main">
              <a:ext uri="{FF2B5EF4-FFF2-40B4-BE49-F238E27FC236}">
                <a16:creationId xmlns:a16="http://schemas.microsoft.com/office/drawing/2014/main" id="{C790F0B3-6ABA-4CF2-9DBA-157643A1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一次失败及修复／边界</a:t>
            </a:r>
          </a:p>
        </p:txBody>
      </p:sp>
      <p:sp>
        <p:nvSpPr>
          <p:cNvPr id="10" name="content-81">
            <a:extLst xmlns:a="http://schemas.openxmlformats.org/drawingml/2006/main">
              <a:ext uri="{FF2B5EF4-FFF2-40B4-BE49-F238E27FC236}">
                <a16:creationId xmlns:a16="http://schemas.microsoft.com/office/drawing/2014/main" id="{E21AA11D-3585-487F-B328-CE2CC37B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一个不可外包的人工判断</a:t>
            </a:r>
          </a:p>
        </p:txBody>
      </p:sp>
      <p:sp>
        <p:nvSpPr>
          <p:cNvPr id="11" name="content-82">
            <a:extLst xmlns:a="http://schemas.openxmlformats.org/drawingml/2006/main">
              <a:ext uri="{FF2B5EF4-FFF2-40B4-BE49-F238E27FC236}">
                <a16:creationId xmlns:a16="http://schemas.microsoft.com/office/drawing/2014/main" id="{8956F7DB-46EE-4631-9476-82CC50B7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如何被核验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99D6C1C0-04F3-458D-8F3D-8294E9BB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结论—证据—运行—决定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75CDC1AA-81B9-413D-ACB5-17B4EA51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选一条本人关键结论，打开对应证据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A9BFFDAA-CA24-40A7-8BA6-89769441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同伴反查：运行 ID、输入版本、评价定义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作者说明：baseline 取舍、停止条件和范围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60618F85-F15E-4C8D-A4A2-49A79579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展示一次失败、放弃的备选或未决问题；记录缺口及处理决定。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B9CE62A3-3443-4441-A518-D2DBB5C0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7413956B-479E-40CA-A503-A2EF1FE1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F86088AF-3232-447B-81AB-7828B512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本人项目：决定、核验与回写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C986BEF2-A498-4CB3-AE33-91360309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全员闪电展示；固定 3–4 人组轮流反查。直接打开现有材料，说明一个关键取舍、失败或未决问题，并完成最终提交与复盘。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F666C94F-E2F1-4D37-AE67-FC36A8D8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每位学生留一条由真实同伴完成的反查记录；教师另记抽查对象与范围。断网使用本地工件，机器故障展示保存 trace 并约定实际运行复核。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B8940EFB-F5EA-48C3-820D-6257BF5C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保存：论证门与最终个人项目：报告、工作流、原始证据与复盘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C1768726-7974-450A-BFDA-ADE9CAB8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012A971A-18E5-4D43-8DB0-FAE98DAE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教师抽查：先判断故障类型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content-117">
            <a:extLst xmlns:a="http://schemas.openxmlformats.org/drawingml/2006/main">
              <a:ext uri="{FF2B5EF4-FFF2-40B4-BE49-F238E27FC236}">
                <a16:creationId xmlns:a16="http://schemas.microsoft.com/office/drawing/2014/main" id="{1C2E1D1D-4864-4E60-A6F9-031A5A35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抽查对象：实验 ID｜引用｜工作流 trace</a:t>
            </a:r>
          </a:p>
        </p:txBody>
      </p:sp>
      <p:sp>
        <p:nvSpPr>
          <p:cNvPr id="7" name="content-118">
            <a:extLst xmlns:a="http://schemas.openxmlformats.org/drawingml/2006/main">
              <a:ext uri="{FF2B5EF4-FFF2-40B4-BE49-F238E27FC236}">
                <a16:creationId xmlns:a16="http://schemas.microsoft.com/office/drawing/2014/main" id="{D2E1A5D8-F234-44D4-ACE9-AFAE9942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普通失败：环境、依赖、记录缺口、诚实披露的复现失败 → 修复与复盘</a:t>
            </a:r>
          </a:p>
        </p:txBody>
      </p:sp>
      <p:sp>
        <p:nvSpPr>
          <p:cNvPr id="8" name="content-119">
            <a:extLst xmlns:a="http://schemas.openxmlformats.org/drawingml/2006/main">
              <a:ext uri="{FF2B5EF4-FFF2-40B4-BE49-F238E27FC236}">
                <a16:creationId xmlns:a16="http://schemas.microsoft.com/office/drawing/2014/main" id="{44CC628B-5147-425E-96E9-34081FC0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学术规范红线：编造、隐瞒、越权、伪造 → 按课程规则处理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论证门最终自查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content-120">
            <a:extLst xmlns:a="http://schemas.openxmlformats.org/drawingml/2006/main">
              <a:ext uri="{FF2B5EF4-FFF2-40B4-BE49-F238E27FC236}">
                <a16:creationId xmlns:a16="http://schemas.microsoft.com/office/drawing/2014/main" id="{3DB2FA0F-88DF-4E53-967C-BB9A8556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238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1. 报告完整</a:t>
            </a:r>
          </a:p>
        </p:txBody>
      </p:sp>
      <p:sp>
        <p:nvSpPr>
          <p:cNvPr id="7" name="rule-121">
            <a:extLst xmlns:a="http://schemas.openxmlformats.org/drawingml/2006/main">
              <a:ext uri="{FF2B5EF4-FFF2-40B4-BE49-F238E27FC236}">
                <a16:creationId xmlns:a16="http://schemas.microsoft.com/office/drawing/2014/main" id="{60CB1CD8-C293-4CF4-A51A-964085EF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5238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8" name="content-122">
            <a:extLst xmlns:a="http://schemas.openxmlformats.org/drawingml/2006/main">
              <a:ext uri="{FF2B5EF4-FFF2-40B4-BE49-F238E27FC236}">
                <a16:creationId xmlns:a16="http://schemas.microsoft.com/office/drawing/2014/main" id="{E9CB5100-37BA-4345-888C-26353194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5238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2. 表图可追溯</a:t>
            </a:r>
          </a:p>
        </p:txBody>
      </p:sp>
      <p:sp>
        <p:nvSpPr>
          <p:cNvPr id="9" name="rule-123">
            <a:extLst xmlns:a="http://schemas.openxmlformats.org/drawingml/2006/main">
              <a:ext uri="{FF2B5EF4-FFF2-40B4-BE49-F238E27FC236}">
                <a16:creationId xmlns:a16="http://schemas.microsoft.com/office/drawing/2014/main" id="{829B7484-B5D2-4670-A13A-FFDBBA24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238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0" name="content-124">
            <a:extLst xmlns:a="http://schemas.openxmlformats.org/drawingml/2006/main">
              <a:ext uri="{FF2B5EF4-FFF2-40B4-BE49-F238E27FC236}">
                <a16:creationId xmlns:a16="http://schemas.microsoft.com/office/drawing/2014/main" id="{1C281125-83F3-4DCE-9842-D6DF3BBC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5238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3. 有效性或等价威胁</a:t>
            </a:r>
          </a:p>
        </p:txBody>
      </p:sp>
      <p:sp>
        <p:nvSpPr>
          <p:cNvPr id="11" name="rule-125">
            <a:extLst xmlns:a="http://schemas.openxmlformats.org/drawingml/2006/main">
              <a:ext uri="{FF2B5EF4-FFF2-40B4-BE49-F238E27FC236}">
                <a16:creationId xmlns:a16="http://schemas.microsoft.com/office/drawing/2014/main" id="{017AD48E-D5AE-4301-80EF-D451C4C8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238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content-126">
            <a:extLst xmlns:a="http://schemas.openxmlformats.org/drawingml/2006/main">
              <a:ext uri="{FF2B5EF4-FFF2-40B4-BE49-F238E27FC236}">
                <a16:creationId xmlns:a16="http://schemas.microsoft.com/office/drawing/2014/main" id="{40BB086A-20D5-49CF-A1D3-4D07C324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238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4. 反馈已逐条处理</a:t>
            </a:r>
          </a:p>
        </p:txBody>
      </p:sp>
      <p:sp>
        <p:nvSpPr>
          <p:cNvPr id="13" name="rule-127">
            <a:extLst xmlns:a="http://schemas.openxmlformats.org/drawingml/2006/main">
              <a:ext uri="{FF2B5EF4-FFF2-40B4-BE49-F238E27FC236}">
                <a16:creationId xmlns:a16="http://schemas.microsoft.com/office/drawing/2014/main" id="{0ED5B1A2-EC46-4B12-8D27-8FCB5E2D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5238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4" name="content-128">
            <a:extLst xmlns:a="http://schemas.openxmlformats.org/drawingml/2006/main">
              <a:ext uri="{FF2B5EF4-FFF2-40B4-BE49-F238E27FC236}">
                <a16:creationId xmlns:a16="http://schemas.microsoft.com/office/drawing/2014/main" id="{D25D432D-C732-49F1-BBE0-453DAA4E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5238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5. 关键结论绑定证据与上游判断</a:t>
            </a:r>
          </a:p>
        </p:txBody>
      </p:sp>
      <p:sp>
        <p:nvSpPr>
          <p:cNvPr id="15" name="content-129">
            <a:extLst xmlns:a="http://schemas.openxmlformats.org/drawingml/2006/main">
              <a:ext uri="{FF2B5EF4-FFF2-40B4-BE49-F238E27FC236}">
                <a16:creationId xmlns:a16="http://schemas.microsoft.com/office/drawing/2014/main" id="{540EDC12-7987-4EEA-9780-5B3C9C55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14475"/>
            <a:ext cx="5238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6. stable 证据条件满足，否则降级</a:t>
            </a:r>
          </a:p>
        </p:txBody>
      </p:sp>
      <p:sp>
        <p:nvSpPr>
          <p:cNvPr id="16" name="rule-130">
            <a:extLst xmlns:a="http://schemas.openxmlformats.org/drawingml/2006/main">
              <a:ext uri="{FF2B5EF4-FFF2-40B4-BE49-F238E27FC236}">
                <a16:creationId xmlns:a16="http://schemas.microsoft.com/office/drawing/2014/main" id="{952EBECA-085E-498C-8275-425C74DE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5238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7" name="content-131">
            <a:extLst xmlns:a="http://schemas.openxmlformats.org/drawingml/2006/main">
              <a:ext uri="{FF2B5EF4-FFF2-40B4-BE49-F238E27FC236}">
                <a16:creationId xmlns:a16="http://schemas.microsoft.com/office/drawing/2014/main" id="{8A64AF51-0FBF-48AD-9C25-5DDDD5DB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52675"/>
            <a:ext cx="5238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7. 工作流含运行、权限、评价、失败</a:t>
            </a:r>
          </a:p>
        </p:txBody>
      </p:sp>
      <p:sp>
        <p:nvSpPr>
          <p:cNvPr id="18" name="rule-132">
            <a:extLst xmlns:a="http://schemas.openxmlformats.org/drawingml/2006/main">
              <a:ext uri="{FF2B5EF4-FFF2-40B4-BE49-F238E27FC236}">
                <a16:creationId xmlns:a16="http://schemas.microsoft.com/office/drawing/2014/main" id="{6A64AF8C-7C0E-4212-9CA8-CCAAE6D1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5238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9" name="content-133">
            <a:extLst xmlns:a="http://schemas.openxmlformats.org/drawingml/2006/main">
              <a:ext uri="{FF2B5EF4-FFF2-40B4-BE49-F238E27FC236}">
                <a16:creationId xmlns:a16="http://schemas.microsoft.com/office/drawing/2014/main" id="{84ACB0E3-8B78-4D8F-B64E-91F6A4C2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90875"/>
            <a:ext cx="5238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8. 伦理、许可、贡献与 AI 披露完整</a:t>
            </a:r>
          </a:p>
        </p:txBody>
      </p:sp>
      <p:sp>
        <p:nvSpPr>
          <p:cNvPr id="20" name="rule-134">
            <a:extLst xmlns:a="http://schemas.openxmlformats.org/drawingml/2006/main">
              <a:ext uri="{FF2B5EF4-FFF2-40B4-BE49-F238E27FC236}">
                <a16:creationId xmlns:a16="http://schemas.microsoft.com/office/drawing/2014/main" id="{1945047B-5672-461A-819C-D6333817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43350"/>
            <a:ext cx="5238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1" name="content-135">
            <a:extLst xmlns:a="http://schemas.openxmlformats.org/drawingml/2006/main">
              <a:ext uri="{FF2B5EF4-FFF2-40B4-BE49-F238E27FC236}">
                <a16:creationId xmlns:a16="http://schemas.microsoft.com/office/drawing/2014/main" id="{79A74EA4-097D-40A9-A74A-5C40F982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29075"/>
            <a:ext cx="5238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9. 工件状态与门检查一致</a:t>
            </a:r>
          </a:p>
        </p:txBody>
      </p:sp>
      <p:sp>
        <p:nvSpPr>
          <p:cNvPr id="22" name="rule-136">
            <a:extLst xmlns:a="http://schemas.openxmlformats.org/drawingml/2006/main">
              <a:ext uri="{FF2B5EF4-FFF2-40B4-BE49-F238E27FC236}">
                <a16:creationId xmlns:a16="http://schemas.microsoft.com/office/drawing/2014/main" id="{3C368426-39CD-40D7-B11B-9F8223FB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81550"/>
            <a:ext cx="5238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3" name="content-137">
            <a:extLst xmlns:a="http://schemas.openxmlformats.org/drawingml/2006/main">
              <a:ext uri="{FF2B5EF4-FFF2-40B4-BE49-F238E27FC236}">
                <a16:creationId xmlns:a16="http://schemas.microsoft.com/office/drawing/2014/main" id="{BFEAEBDB-37C6-4C37-A8DA-FDBE2D30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67275"/>
            <a:ext cx="5238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10. 展示、抽查与复盘完成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复盘八阶段：哪里改变了研究判断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process-138">
            <a:extLst xmlns:a="http://schemas.openxmlformats.org/drawingml/2006/main">
              <a:ext uri="{FF2B5EF4-FFF2-40B4-BE49-F238E27FC236}">
                <a16:creationId xmlns:a16="http://schemas.microsoft.com/office/drawing/2014/main" id="{DBF2239C-2E38-4089-98B2-47AB0700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507456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7" name="content-139">
            <a:extLst xmlns:a="http://schemas.openxmlformats.org/drawingml/2006/main">
              <a:ext uri="{FF2B5EF4-FFF2-40B4-BE49-F238E27FC236}">
                <a16:creationId xmlns:a16="http://schemas.microsoft.com/office/drawing/2014/main" id="{C0D829CB-624B-4F44-BB3B-C3DB594D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0225"/>
            <a:ext cx="2297906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问题定义</a:t>
            </a:r>
          </a:p>
        </p:txBody>
      </p:sp>
      <p:sp>
        <p:nvSpPr>
          <p:cNvPr id="8" name="content-140">
            <a:extLst xmlns:a="http://schemas.openxmlformats.org/drawingml/2006/main">
              <a:ext uri="{FF2B5EF4-FFF2-40B4-BE49-F238E27FC236}">
                <a16:creationId xmlns:a16="http://schemas.microsoft.com/office/drawing/2014/main" id="{E965AEFD-DDF4-4F32-9258-70810407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56" y="1914525"/>
            <a:ext cx="314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process-141">
            <a:extLst xmlns:a="http://schemas.openxmlformats.org/drawingml/2006/main">
              <a:ext uri="{FF2B5EF4-FFF2-40B4-BE49-F238E27FC236}">
                <a16:creationId xmlns:a16="http://schemas.microsoft.com/office/drawing/2014/main" id="{FFDFEDC0-1945-439C-A9B1-9BAEF33B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381" y="1714500"/>
            <a:ext cx="2507456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0" name="content-142">
            <a:extLst xmlns:a="http://schemas.openxmlformats.org/drawingml/2006/main">
              <a:ext uri="{FF2B5EF4-FFF2-40B4-BE49-F238E27FC236}">
                <a16:creationId xmlns:a16="http://schemas.microsoft.com/office/drawing/2014/main" id="{DA4D8235-E798-489E-846E-93166C29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156" y="1800225"/>
            <a:ext cx="2297906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第一性原理分析</a:t>
            </a:r>
          </a:p>
        </p:txBody>
      </p:sp>
      <p:sp>
        <p:nvSpPr>
          <p:cNvPr id="11" name="content-143">
            <a:extLst xmlns:a="http://schemas.openxmlformats.org/drawingml/2006/main">
              <a:ext uri="{FF2B5EF4-FFF2-40B4-BE49-F238E27FC236}">
                <a16:creationId xmlns:a16="http://schemas.microsoft.com/office/drawing/2014/main" id="{5F7D7A19-E6EA-4FE5-9210-45C9E4D9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1914525"/>
            <a:ext cx="314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" name="process-144">
            <a:extLst xmlns:a="http://schemas.openxmlformats.org/drawingml/2006/main">
              <a:ext uri="{FF2B5EF4-FFF2-40B4-BE49-F238E27FC236}">
                <a16:creationId xmlns:a16="http://schemas.microsoft.com/office/drawing/2014/main" id="{7650A2BA-277B-4591-A806-4EAE7F80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63" y="1714500"/>
            <a:ext cx="2507456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3" name="content-145">
            <a:extLst xmlns:a="http://schemas.openxmlformats.org/drawingml/2006/main">
              <a:ext uri="{FF2B5EF4-FFF2-40B4-BE49-F238E27FC236}">
                <a16:creationId xmlns:a16="http://schemas.microsoft.com/office/drawing/2014/main" id="{798483DB-2463-441F-BA56-86AA40A7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1800225"/>
            <a:ext cx="2297906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机制假设</a:t>
            </a:r>
          </a:p>
        </p:txBody>
      </p:sp>
      <p:sp>
        <p:nvSpPr>
          <p:cNvPr id="14" name="content-146">
            <a:extLst xmlns:a="http://schemas.openxmlformats.org/drawingml/2006/main">
              <a:ext uri="{FF2B5EF4-FFF2-40B4-BE49-F238E27FC236}">
                <a16:creationId xmlns:a16="http://schemas.microsoft.com/office/drawing/2014/main" id="{AE948316-B5A6-4F53-8EDF-655B6EBE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0619" y="1914525"/>
            <a:ext cx="314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process-147">
            <a:extLst xmlns:a="http://schemas.openxmlformats.org/drawingml/2006/main">
              <a:ext uri="{FF2B5EF4-FFF2-40B4-BE49-F238E27FC236}">
                <a16:creationId xmlns:a16="http://schemas.microsoft.com/office/drawing/2014/main" id="{F8E811CA-681C-4C71-AE00-56B191AC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944" y="1714500"/>
            <a:ext cx="2507456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6" name="content-148">
            <a:extLst xmlns:a="http://schemas.openxmlformats.org/drawingml/2006/main">
              <a:ext uri="{FF2B5EF4-FFF2-40B4-BE49-F238E27FC236}">
                <a16:creationId xmlns:a16="http://schemas.microsoft.com/office/drawing/2014/main" id="{033BE9FE-15E5-4208-AA5E-69D65910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719" y="1800225"/>
            <a:ext cx="2297906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外部输入摄取</a:t>
            </a:r>
          </a:p>
        </p:txBody>
      </p:sp>
      <p:sp>
        <p:nvSpPr>
          <p:cNvPr id="17" name="process-149">
            <a:extLst xmlns:a="http://schemas.openxmlformats.org/drawingml/2006/main">
              <a:ext uri="{FF2B5EF4-FFF2-40B4-BE49-F238E27FC236}">
                <a16:creationId xmlns:a16="http://schemas.microsoft.com/office/drawing/2014/main" id="{7F2BDE13-011C-41D7-B20B-4348F73F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2507456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0"/>
          </a:solidFill>
          <a:ln xmlns:a="http://schemas.openxmlformats.org/drawingml/2006/main" w="0">
            <a:noFill/>
          </a:ln>
        </p:spPr>
      </p:sp>
      <p:sp>
        <p:nvSpPr>
          <p:cNvPr id="18" name="content-150">
            <a:extLst xmlns:a="http://schemas.openxmlformats.org/drawingml/2006/main">
              <a:ext uri="{FF2B5EF4-FFF2-40B4-BE49-F238E27FC236}">
                <a16:creationId xmlns:a16="http://schemas.microsoft.com/office/drawing/2014/main" id="{9AB0F457-B4AC-4F03-B361-AB5D40FB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05150"/>
            <a:ext cx="2297906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证据整理</a:t>
            </a:r>
          </a:p>
        </p:txBody>
      </p:sp>
      <p:sp>
        <p:nvSpPr>
          <p:cNvPr id="19" name="content-151">
            <a:extLst xmlns:a="http://schemas.openxmlformats.org/drawingml/2006/main">
              <a:ext uri="{FF2B5EF4-FFF2-40B4-BE49-F238E27FC236}">
                <a16:creationId xmlns:a16="http://schemas.microsoft.com/office/drawing/2014/main" id="{1BF9599A-F0C0-4428-A991-0B80B07E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056" y="3219450"/>
            <a:ext cx="314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0" name="process-152">
            <a:extLst xmlns:a="http://schemas.openxmlformats.org/drawingml/2006/main">
              <a:ext uri="{FF2B5EF4-FFF2-40B4-BE49-F238E27FC236}">
                <a16:creationId xmlns:a16="http://schemas.microsoft.com/office/drawing/2014/main" id="{C3305CE4-BE3C-445F-B6A9-A7563329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1381" y="3019425"/>
            <a:ext cx="2507456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1" name="content-153">
            <a:extLst xmlns:a="http://schemas.openxmlformats.org/drawingml/2006/main">
              <a:ext uri="{FF2B5EF4-FFF2-40B4-BE49-F238E27FC236}">
                <a16:creationId xmlns:a16="http://schemas.microsoft.com/office/drawing/2014/main" id="{19D4EE63-CC9C-4434-BB88-8960DFF5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156" y="3105150"/>
            <a:ext cx="2297906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研究判断</a:t>
            </a:r>
          </a:p>
        </p:txBody>
      </p:sp>
      <p:sp>
        <p:nvSpPr>
          <p:cNvPr id="22" name="content-154">
            <a:extLst xmlns:a="http://schemas.openxmlformats.org/drawingml/2006/main">
              <a:ext uri="{FF2B5EF4-FFF2-40B4-BE49-F238E27FC236}">
                <a16:creationId xmlns:a16="http://schemas.microsoft.com/office/drawing/2014/main" id="{A90975F4-56F6-4D46-9733-B0AED23E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3219450"/>
            <a:ext cx="314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3" name="process-155">
            <a:extLst xmlns:a="http://schemas.openxmlformats.org/drawingml/2006/main">
              <a:ext uri="{FF2B5EF4-FFF2-40B4-BE49-F238E27FC236}">
                <a16:creationId xmlns:a16="http://schemas.microsoft.com/office/drawing/2014/main" id="{73AEE105-610C-40F2-BF37-6F6C7271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163" y="3019425"/>
            <a:ext cx="2507456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4" name="content-156">
            <a:extLst xmlns:a="http://schemas.openxmlformats.org/drawingml/2006/main">
              <a:ext uri="{FF2B5EF4-FFF2-40B4-BE49-F238E27FC236}">
                <a16:creationId xmlns:a16="http://schemas.microsoft.com/office/drawing/2014/main" id="{24FD39B1-3AD7-4EA9-BBEA-84784FCE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3105150"/>
            <a:ext cx="2297906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原型验证</a:t>
            </a:r>
          </a:p>
        </p:txBody>
      </p:sp>
      <p:sp>
        <p:nvSpPr>
          <p:cNvPr id="25" name="content-157">
            <a:extLst xmlns:a="http://schemas.openxmlformats.org/drawingml/2006/main">
              <a:ext uri="{FF2B5EF4-FFF2-40B4-BE49-F238E27FC236}">
                <a16:creationId xmlns:a16="http://schemas.microsoft.com/office/drawing/2014/main" id="{C15A6C81-31DB-48CD-B256-374AAEE5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0619" y="3219450"/>
            <a:ext cx="3143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6" name="process-158">
            <a:extLst xmlns:a="http://schemas.openxmlformats.org/drawingml/2006/main">
              <a:ext uri="{FF2B5EF4-FFF2-40B4-BE49-F238E27FC236}">
                <a16:creationId xmlns:a16="http://schemas.microsoft.com/office/drawing/2014/main" id="{255699EE-FDB4-4E36-B65A-80CA475C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4944" y="3019425"/>
            <a:ext cx="2507456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7" name="content-159">
            <a:extLst xmlns:a="http://schemas.openxmlformats.org/drawingml/2006/main">
              <a:ext uri="{FF2B5EF4-FFF2-40B4-BE49-F238E27FC236}">
                <a16:creationId xmlns:a16="http://schemas.microsoft.com/office/drawing/2014/main" id="{853F4489-EEC9-4AF5-B02A-603C1DC0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9719" y="3105150"/>
            <a:ext cx="2297906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回写与表达</a:t>
            </a:r>
          </a:p>
        </p:txBody>
      </p:sp>
      <p:sp>
        <p:nvSpPr>
          <p:cNvPr id="28" name="content-160">
            <a:extLst xmlns:a="http://schemas.openxmlformats.org/drawingml/2006/main">
              <a:ext uri="{FF2B5EF4-FFF2-40B4-BE49-F238E27FC236}">
                <a16:creationId xmlns:a16="http://schemas.microsoft.com/office/drawing/2014/main" id="{CDE4D8A4-2462-4458-8EF1-A54938D8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5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选择一个改变判断的转折：</a:t>
            </a:r>
          </a:p>
        </p:txBody>
      </p:sp>
      <p:sp>
        <p:nvSpPr>
          <p:cNvPr id="29" name="content-161">
            <a:extLst xmlns:a="http://schemas.openxmlformats.org/drawingml/2006/main">
              <a:ext uri="{FF2B5EF4-FFF2-40B4-BE49-F238E27FC236}">
                <a16:creationId xmlns:a16="http://schemas.microsoft.com/office/drawing/2014/main" id="{C18D3B60-0E2A-470B-9180-0D11E16D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401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证据怎样改变问题或假设？失败怎样改变工作流或边界？</a:t>
            </a:r>
          </a:p>
        </p:txBody>
      </p:sp>
      <p:sp>
        <p:nvSpPr>
          <p:cNvPr id="30" name="content-162">
            <a:extLst xmlns:a="http://schemas.openxmlformats.org/drawingml/2006/main">
              <a:ext uri="{FF2B5EF4-FFF2-40B4-BE49-F238E27FC236}">
                <a16:creationId xmlns:a16="http://schemas.microsoft.com/office/drawing/2014/main" id="{07AFDEC9-E677-4488-B04A-4A778158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4505"/>
            <a:ext cx="10972800" cy="401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哪个判断始终不能自动化？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使用复盘：有效、误导、核验、责任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content-163">
            <a:extLst xmlns:a="http://schemas.openxmlformats.org/drawingml/2006/main">
              <a:ext uri="{FF2B5EF4-FFF2-40B4-BE49-F238E27FC236}">
                <a16:creationId xmlns:a16="http://schemas.microsoft.com/office/drawing/2014/main" id="{4FFC336F-4D38-4B54-BA6E-8F46F20A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900" b="0">
                <a:solidFill>
                  <a:srgbClr val="66727D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6672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rule-164">
            <a:extLst xmlns:a="http://schemas.openxmlformats.org/drawingml/2006/main">
              <a:ext uri="{FF2B5EF4-FFF2-40B4-BE49-F238E27FC236}">
                <a16:creationId xmlns:a16="http://schemas.microsoft.com/office/drawing/2014/main" id="{529C7973-735C-479D-9155-AD84FC2C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067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8" name="content-165">
            <a:extLst xmlns:a="http://schemas.openxmlformats.org/drawingml/2006/main">
              <a:ext uri="{FF2B5EF4-FFF2-40B4-BE49-F238E27FC236}">
                <a16:creationId xmlns:a16="http://schemas.microsoft.com/office/drawing/2014/main" id="{44BC27BB-41A5-465E-B17F-133CF48C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067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AI 在哪里有效？</a:t>
            </a:r>
          </a:p>
        </p:txBody>
      </p:sp>
      <p:sp>
        <p:nvSpPr>
          <p:cNvPr id="9" name="content-166">
            <a:extLst xmlns:a="http://schemas.openxmlformats.org/drawingml/2006/main">
              <a:ext uri="{FF2B5EF4-FFF2-40B4-BE49-F238E27FC236}">
                <a16:creationId xmlns:a16="http://schemas.microsoft.com/office/drawing/2014/main" id="{8466043B-DCED-45B8-9B10-544D3033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7145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900" b="0">
                <a:solidFill>
                  <a:srgbClr val="66727D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6672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ule-167">
            <a:extLst xmlns:a="http://schemas.openxmlformats.org/drawingml/2006/main">
              <a:ext uri="{FF2B5EF4-FFF2-40B4-BE49-F238E27FC236}">
                <a16:creationId xmlns:a16="http://schemas.microsoft.com/office/drawing/2014/main" id="{1A8445DD-0997-45B3-A883-B3D1C452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33625"/>
            <a:ext cx="5067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1" name="content-168">
            <a:extLst xmlns:a="http://schemas.openxmlformats.org/drawingml/2006/main">
              <a:ext uri="{FF2B5EF4-FFF2-40B4-BE49-F238E27FC236}">
                <a16:creationId xmlns:a16="http://schemas.microsoft.com/office/drawing/2014/main" id="{F98B314A-2AF7-4BA0-90DA-ECF64CAE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19375"/>
            <a:ext cx="5067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哪里误导或失败？</a:t>
            </a:r>
          </a:p>
        </p:txBody>
      </p:sp>
      <p:sp>
        <p:nvSpPr>
          <p:cNvPr id="12" name="content-169">
            <a:extLst xmlns:a="http://schemas.openxmlformats.org/drawingml/2006/main">
              <a:ext uri="{FF2B5EF4-FFF2-40B4-BE49-F238E27FC236}">
                <a16:creationId xmlns:a16="http://schemas.microsoft.com/office/drawing/2014/main" id="{3D79F7A4-3E6B-4251-A815-F31AB33A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900" b="0">
                <a:solidFill>
                  <a:srgbClr val="66727D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6672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ule-170">
            <a:extLst xmlns:a="http://schemas.openxmlformats.org/drawingml/2006/main">
              <a:ext uri="{FF2B5EF4-FFF2-40B4-BE49-F238E27FC236}">
                <a16:creationId xmlns:a16="http://schemas.microsoft.com/office/drawing/2014/main" id="{B4FC4937-8489-4518-8675-6921AD73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067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4" name="content-171">
            <a:extLst xmlns:a="http://schemas.openxmlformats.org/drawingml/2006/main">
              <a:ext uri="{FF2B5EF4-FFF2-40B4-BE49-F238E27FC236}">
                <a16:creationId xmlns:a16="http://schemas.microsoft.com/office/drawing/2014/main" id="{FB26E428-E4EE-473C-9EF2-0BDF9CAF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067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人如何核验？</a:t>
            </a:r>
          </a:p>
        </p:txBody>
      </p:sp>
      <p:sp>
        <p:nvSpPr>
          <p:cNvPr id="15" name="content-172">
            <a:extLst xmlns:a="http://schemas.openxmlformats.org/drawingml/2006/main">
              <a:ext uri="{FF2B5EF4-FFF2-40B4-BE49-F238E27FC236}">
                <a16:creationId xmlns:a16="http://schemas.microsoft.com/office/drawing/2014/main" id="{8C905F82-7002-486A-9D56-9794A841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83857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900" b="0">
                <a:solidFill>
                  <a:srgbClr val="66727D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6672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rule-173">
            <a:extLst xmlns:a="http://schemas.openxmlformats.org/drawingml/2006/main">
              <a:ext uri="{FF2B5EF4-FFF2-40B4-BE49-F238E27FC236}">
                <a16:creationId xmlns:a16="http://schemas.microsoft.com/office/drawing/2014/main" id="{4267BD72-FC01-4AB8-8236-4178EE3E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67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7" name="content-174">
            <a:extLst xmlns:a="http://schemas.openxmlformats.org/drawingml/2006/main">
              <a:ext uri="{FF2B5EF4-FFF2-40B4-BE49-F238E27FC236}">
                <a16:creationId xmlns:a16="http://schemas.microsoft.com/office/drawing/2014/main" id="{02423495-5D51-4533-836E-9A6379D0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743450"/>
            <a:ext cx="5067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哪些判断与责任不能自动化？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E161DCA4-A785-46EB-B075-AF65F36A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最终提交与未决问题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C9BFB805-2CD9-416A-A24B-5C514E2E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课程收束；仅修明确反馈缺口，不新增研究任务。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57D5308E-01BA-473B-84B6-84070527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回写已有项目：论证门与最终个人项目：报告、工作流、原始证据与复盘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EFB5389B-BAA6-4A50-A741-20EA6934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研究门材料按既定预算整理提交；不叠加新必读。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52244F12-92FB-4762-9EAF-7076994F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F159199A-7CE7-49B5-9BAE-9A423DE5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2026-09-16T01:26:51.3730000Z</dcterms:created>
  <dcterms:modified xsi:type="dcterms:W3CDTF">2026-09-16T01:26:51.3730000Z</dcterms:modified>
</coreProperties>
</file>