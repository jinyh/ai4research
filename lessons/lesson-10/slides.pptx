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b5764f14e44ab7" /><Relationship Type="http://schemas.openxmlformats.org/officeDocument/2006/relationships/extended-properties" Target="/docProps/app.xml" Id="R88f42377e1594165" /><Relationship Type="http://schemas.openxmlformats.org/officeDocument/2006/relationships/officeDocument" Target="/ppt/presentation.xml" Id="R885e44a6395a43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2a91966a8a4792"/>
  </p:sldMasterIdLst>
  <p:notesMasterIdLst>
    <p:notesMasterId xmlns:r="http://schemas.openxmlformats.org/officeDocument/2006/relationships" r:id="R6c07fa03ac8f4c26"/>
  </p:notesMasterIdLst>
  <p:sldIdLst>
    <p:sldId xmlns:r="http://schemas.openxmlformats.org/officeDocument/2006/relationships" id="256" r:id="Rc49308b45d0c4bff"/>
    <p:sldId xmlns:r="http://schemas.openxmlformats.org/officeDocument/2006/relationships" id="257" r:id="Rc0de3cdb36d84552"/>
    <p:sldId xmlns:r="http://schemas.openxmlformats.org/officeDocument/2006/relationships" id="258" r:id="R98d0314f6689416c"/>
    <p:sldId xmlns:r="http://schemas.openxmlformats.org/officeDocument/2006/relationships" id="259" r:id="R9fe9b8c4162c4ef9"/>
    <p:sldId xmlns:r="http://schemas.openxmlformats.org/officeDocument/2006/relationships" id="260" r:id="R6a4e4b23ffeb41d4"/>
    <p:sldId xmlns:r="http://schemas.openxmlformats.org/officeDocument/2006/relationships" id="261" r:id="R73dba1ebf1564e27"/>
    <p:sldId xmlns:r="http://schemas.openxmlformats.org/officeDocument/2006/relationships" id="262" r:id="R7d7e36615b5646f9"/>
    <p:sldId xmlns:r="http://schemas.openxmlformats.org/officeDocument/2006/relationships" id="263" r:id="R6750f2c640fe4f74"/>
    <p:sldId xmlns:r="http://schemas.openxmlformats.org/officeDocument/2006/relationships" id="264" r:id="R1b8a703a76214a07"/>
    <p:sldId xmlns:r="http://schemas.openxmlformats.org/officeDocument/2006/relationships" id="265" r:id="R80c4edeffac4443d"/>
    <p:sldId xmlns:r="http://schemas.openxmlformats.org/officeDocument/2006/relationships" id="266" r:id="R4aac2e9fc8fe4976"/>
    <p:sldId xmlns:r="http://schemas.openxmlformats.org/officeDocument/2006/relationships" id="267" r:id="R47f319b340a04c06"/>
    <p:sldId xmlns:r="http://schemas.openxmlformats.org/officeDocument/2006/relationships" id="268" r:id="R0bb2c2b241d84b78"/>
    <p:sldId xmlns:r="http://schemas.openxmlformats.org/officeDocument/2006/relationships" id="269" r:id="Rc32b17bcd50e467a"/>
    <p:sldId xmlns:r="http://schemas.openxmlformats.org/officeDocument/2006/relationships" id="270" r:id="Rb250e9da6a0544e8"/>
    <p:sldId xmlns:r="http://schemas.openxmlformats.org/officeDocument/2006/relationships" id="271" r:id="R7c173c20fbf84352"/>
    <p:sldId xmlns:r="http://schemas.openxmlformats.org/officeDocument/2006/relationships" id="272" r:id="R46cf1d7086c04b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47068d7de84c4d" /><Relationship Type="http://schemas.openxmlformats.org/officeDocument/2006/relationships/slideMaster" Target="/ppt/slideMasters/slideMaster1.xml" Id="R162a91966a8a4792" /><Relationship Type="http://schemas.openxmlformats.org/officeDocument/2006/relationships/notesMaster" Target="/ppt/notesMasters/notesMaster1.xml" Id="R6c07fa03ac8f4c26" /><Relationship Type="http://schemas.openxmlformats.org/officeDocument/2006/relationships/presProps" Target="/ppt/presProps.xml" Id="Rd5e75fbd2de64f4c" /><Relationship Type="http://schemas.openxmlformats.org/officeDocument/2006/relationships/viewProps" Target="/ppt/viewProps.xml" Id="R34ddca4236fe4575" /><Relationship Type="http://schemas.openxmlformats.org/officeDocument/2006/relationships/tableStyles" Target="/ppt/tableStyles.xml" Id="Re58babb7928a4930" /><Relationship Type="http://schemas.openxmlformats.org/officeDocument/2006/relationships/slide" Target="/ppt/slides/slide1.xml" Id="Rc49308b45d0c4bff" /><Relationship Type="http://schemas.openxmlformats.org/officeDocument/2006/relationships/slide" Target="/ppt/slides/slide2.xml" Id="Rc0de3cdb36d84552" /><Relationship Type="http://schemas.openxmlformats.org/officeDocument/2006/relationships/slide" Target="/ppt/slides/slide3.xml" Id="R98d0314f6689416c" /><Relationship Type="http://schemas.openxmlformats.org/officeDocument/2006/relationships/slide" Target="/ppt/slides/slide4.xml" Id="R9fe9b8c4162c4ef9" /><Relationship Type="http://schemas.openxmlformats.org/officeDocument/2006/relationships/slide" Target="/ppt/slides/slide5.xml" Id="R6a4e4b23ffeb41d4" /><Relationship Type="http://schemas.openxmlformats.org/officeDocument/2006/relationships/slide" Target="/ppt/slides/slide6.xml" Id="R73dba1ebf1564e27" /><Relationship Type="http://schemas.openxmlformats.org/officeDocument/2006/relationships/slide" Target="/ppt/slides/slide7.xml" Id="R7d7e36615b5646f9" /><Relationship Type="http://schemas.openxmlformats.org/officeDocument/2006/relationships/slide" Target="/ppt/slides/slide8.xml" Id="R6750f2c640fe4f74" /><Relationship Type="http://schemas.openxmlformats.org/officeDocument/2006/relationships/slide" Target="/ppt/slides/slide9.xml" Id="R1b8a703a76214a07" /><Relationship Type="http://schemas.openxmlformats.org/officeDocument/2006/relationships/slide" Target="/ppt/slides/slide10.xml" Id="R80c4edeffac4443d" /><Relationship Type="http://schemas.openxmlformats.org/officeDocument/2006/relationships/slide" Target="/ppt/slides/slide11.xml" Id="R4aac2e9fc8fe4976" /><Relationship Type="http://schemas.openxmlformats.org/officeDocument/2006/relationships/slide" Target="/ppt/slides/slide12.xml" Id="R47f319b340a04c06" /><Relationship Type="http://schemas.openxmlformats.org/officeDocument/2006/relationships/slide" Target="/ppt/slides/slide13.xml" Id="R0bb2c2b241d84b78" /><Relationship Type="http://schemas.openxmlformats.org/officeDocument/2006/relationships/slide" Target="/ppt/slides/slide14.xml" Id="Rc32b17bcd50e467a" /><Relationship Type="http://schemas.openxmlformats.org/officeDocument/2006/relationships/slide" Target="/ppt/slides/slide15.xml" Id="Rb250e9da6a0544e8" /><Relationship Type="http://schemas.openxmlformats.org/officeDocument/2006/relationships/slide" Target="/ppt/slides/slide16.xml" Id="R7c173c20fbf84352" /><Relationship Type="http://schemas.openxmlformats.org/officeDocument/2006/relationships/slide" Target="/ppt/slides/slide17.xml" Id="R46cf1d7086c04b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1d49396fd547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c4d7f86db64d3a" /><Relationship Type="http://schemas.openxmlformats.org/officeDocument/2006/relationships/notesMaster" Target="/ppt/notesMasters/notesMaster1.xml" Id="Rff3c241b734c4b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e53de83a1f4f22" /><Relationship Type="http://schemas.openxmlformats.org/officeDocument/2006/relationships/notesMaster" Target="/ppt/notesMasters/notesMaster1.xml" Id="R5d49004740864a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b2d55b0f4b4757" /><Relationship Type="http://schemas.openxmlformats.org/officeDocument/2006/relationships/notesMaster" Target="/ppt/notesMasters/notesMaster1.xml" Id="Rd6a45741cc6847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b48febbcf642c8" /><Relationship Type="http://schemas.openxmlformats.org/officeDocument/2006/relationships/notesMaster" Target="/ppt/notesMasters/notesMaster1.xml" Id="Rd5e378a8626b4f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7c94b60afc4454" /><Relationship Type="http://schemas.openxmlformats.org/officeDocument/2006/relationships/notesMaster" Target="/ppt/notesMasters/notesMaster1.xml" Id="Rfa9092ec1b43433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1f4aa7ca524063" /><Relationship Type="http://schemas.openxmlformats.org/officeDocument/2006/relationships/notesMaster" Target="/ppt/notesMasters/notesMaster1.xml" Id="R785d16e41a8f47a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a0a03384df4a9f" /><Relationship Type="http://schemas.openxmlformats.org/officeDocument/2006/relationships/notesMaster" Target="/ppt/notesMasters/notesMaster1.xml" Id="R32fee4926b664bf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398c3e751d84b80" /><Relationship Type="http://schemas.openxmlformats.org/officeDocument/2006/relationships/notesMaster" Target="/ppt/notesMasters/notesMaster1.xml" Id="R14279ee0428f4fa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97f79f7b8dd43a3" /><Relationship Type="http://schemas.openxmlformats.org/officeDocument/2006/relationships/notesMaster" Target="/ppt/notesMasters/notesMaster1.xml" Id="Rc33f5a298c0942a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93ce251bbd8420f" /><Relationship Type="http://schemas.openxmlformats.org/officeDocument/2006/relationships/notesMaster" Target="/ppt/notesMasters/notesMaster1.xml" Id="R9c40088ae05646b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71bf2ca7aa24399" /><Relationship Type="http://schemas.openxmlformats.org/officeDocument/2006/relationships/notesMaster" Target="/ppt/notesMasters/notesMaster1.xml" Id="R3f2690464193488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c26691d1c28460e" /><Relationship Type="http://schemas.openxmlformats.org/officeDocument/2006/relationships/notesMaster" Target="/ppt/notesMasters/notesMaster1.xml" Id="Rbbc3a3aab16c484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837c62a18054932" /><Relationship Type="http://schemas.openxmlformats.org/officeDocument/2006/relationships/notesMaster" Target="/ppt/notesMasters/notesMaster1.xml" Id="R288b1b5645f444d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896790acab84eef" /><Relationship Type="http://schemas.openxmlformats.org/officeDocument/2006/relationships/notesMaster" Target="/ppt/notesMasters/notesMaster1.xml" Id="Re9053ce6ec0e42c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48cff9e250d41f6" /><Relationship Type="http://schemas.openxmlformats.org/officeDocument/2006/relationships/notesMaster" Target="/ppt/notesMasters/notesMaster1.xml" Id="R3f10a54e09a3422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1e97bf14bdb41f4" /><Relationship Type="http://schemas.openxmlformats.org/officeDocument/2006/relationships/notesMaster" Target="/ppt/notesMasters/notesMaster1.xml" Id="R0de6cf264550472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11719ba768b4ec9" /><Relationship Type="http://schemas.openxmlformats.org/officeDocument/2006/relationships/notesMaster" Target="/ppt/notesMasters/notesMaster1.xml" Id="R841ba509151347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页面：P01 第10讲 AI 辅助编码、调试与受限 Agent 执行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开场放下模糊 prompt。第 9 课判断门已过，项目进入阶段七原型验证。本课回答：Agent 帮忙改代码、跑测试、归因错误时，研究者在哪里审核、用什么权限、留什么记录，才能让"Agent 帮忙"不等于"Agent 替代判断"或"Agent 污染实验"。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不展开课程行政信息，直接进入下一页回扣。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课程定位以 [syllabus.md](../../course/syllabus.md) 与 [备课规划.md](../备课规划.md) 第 10 课段为准。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页面：P02 实验规格还没有约束 Agent 执行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回扣第 9 课：判断门已过，实验规格中"哪些步骤拟用 Agent、哪些步骤必须人工"是本课任务契约的直接输入。本课把"拟用 Agent"步骤改写为带验收标准的任务契约，让 Agent 在受限权限下执行一次。明确边界：目标是完成一次受限 Agent 执行的可复盘链路，不要求把 baseline 跑到最优；产出回写个人项目，作为第 13 课验证门材料的过程证据。第 11 课把本课的"一次执行"扩展为冻结队列执行与失败恢复。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快问：你第 9 课实验规格中标注了几个"拟用 Agent"步骤？只听回答，不评价。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回扣第 9 课讲义 §三·5 与 §五；[备课规划.md](../备课规划.md) 第 10 课目标段；[assignments.md](../../course/assignments.md)（第 10 课非正式提交门）；[AGENTS.md](../../AGENTS.md) 证据标准。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页面：P03 测试通过，补丁就合格吗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先独立作答，再同伴比较；以下依据只在校准时揭示。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是已公开示例中的局部修复，满足旧缺字段契约而不满足本题完整契约；C 为适当方向，但具体实现需验证。B 吞异常可能降低分母。好测试需正常记录通过、坏输入明确拒绝且记录失败原因；全拒绝实现不能达标。不能为了新补丁修改旧评价口径。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先独立写决定和证据，后同伴比较；校准后再回写。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讲义 §二·1。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handout.md、judgment-task.md；../../course/judgment-path.md。教学构造仅用于方法判断；本人结果以实际记录为准。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页面：P04 任务契约先缩到一个可检查改动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演示的是受限代码修改与测试回放。教师若接入真实Agent，要保留真实调用记录；使用预置diff时如实标为回放。此工程改动不证明阅读卡降低遗漏率。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预测缺字段输入会在哪一步失败，并指定允许改动的位置。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./handout.md；课堂示例与构造数据见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页面：P05 任务契约把请求改写为可追溯执行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屏显按范围、权限、验收与失败处理四个方面比较原请求和任务契约；可追溯性由这些约束与日志共同建立。独立检查者应能从契约、diff、测试和失败记录复核本次执行。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让学生用对照表检查自己刚才写的五字段，标注哪些维度仍模糊。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讲义 §二·3；Russell &amp; Norvig 2020 Ch 2（[reading-list.md](../../course/reading-list.md) 第 10 课）。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页面：P06 授权声明还要落实到执行检查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用本课实际unittest入口说明什么执行得到授权。要求学生指出真正会停住的控制点。预置脚本接口只能证明接口拒绝，不能声称阻止任意直接文件访问。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为一个动作分别指出声明、控制和观察证据。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./handout.md；课堂示例与构造数据见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页面：P07 错误循环需要可见的失败恢复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ReAct 循环说明 Agent 输出必须被核验：错误会在推理、行动、观察任一环节传播并自我强化。任务契约与日志让错误传播可被观察。失败恢复不重试到成功——失败日志与成功结果同等重要，删除失败日志等同于伪造实验记录（沿用 [assessment.md](../../course/assessment.md) 学术规范红线）。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让学生检查自己任务契约的失败恢复段是否覆盖超时、越权、测试失败三种情形。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直接来源：[正式来源](https://iclr.cc/virtual/2023/poster/11003)。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 §二·4 与 §三·4；Yao et al. ReAct ICLR 2023（[reading-list.md](../../course/reading-list.md) 第 10 课）；[assessment.md](../../course/assessment.md) 学术规范红线。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页面：P08 用 diff 与测试审查候选实现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用本课真实 generate.diff 检查缺字段是否明确失败，再核对测试是否覆盖这一行为。屏显四项审核不能代替方法判断：baseline 公平性、指标定义与停止条件仍由研究者决定。后续 P14 的完整审查还会核对依赖、Non-goal 与提交说明是否只写事实。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让学生用贯穿案例的 diff 样例对照六项逐项检查。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直接来源：[本课工件](assets/agent-task-example/generate.diff)；[本课工件](assets/agent-task-example/test-output.txt)。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 §四·1 与 §四·3；第 1 课 §一·2 哪些判断不能外包；[AGENTS.md](../../AGENTS.md) 证据标准。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页面：P09 进入项目的修改需要根因与验证证据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三区分决定 Agent 提议能否进入当前实验版本。根因修复必须保留失败日志、diff 与根因分析；绕过建议应被拒绝并留痕；评价协议或 baseline 改动必须退出调试任务，作为新研究决定审核。强调技术失败与规范红线的边界。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让学生判断三段 diff 样例各属哪一类（教师提供）。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讲义 §四·2；[assessment.md](../../course/assessment.md) 学术规范红线。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页面：P10 SWE-bench 的测试判定仍不充分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SWE-bench 把"解决"定义为"测试通过"而非"代码看起来合理"，本课沿用这一判定。课程项目往往没有 SWE-bench 级别的测试集，因此研究者必须额外人工核验。测试通过不等于方法正确、不等于未引入数据泄漏、不等于未污染评价协议。SWE-bench 只分析任务构造与测试判定。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直接来源：[正式来源](https://www.swebench.com/original.html)。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 §四·4；Jimenez et al. SWE-bench ICLR 2024（[reading-list.md](../../course/reading-list.md) 第 10 课）。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页面：P11 工程检查与研究评价各管一件事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把本课小函数接到后续输入规范化的概念位置，不声称它已集成进另一份实际脚本。贯穿数据包单独提供完整可运行入口。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说出一个“代码通过测试但研究结论仍不成立”的原因。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./handout.md；课堂示例与构造数据见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页面：P12 diff、测试和失败日志形成一次 trace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直接打开本课资产 `generate.diff`、`test-output.txt`与 `failure-log.md`，而不只讲虚构结果。三者分别对应代码候选、真实运行证据和越权决策。第五步：本课产出回写个人项目，任务契约写入 `agent-tasks/`，失败记录写入 `experiments/*/agent-traces/`，AI 使用记录沿用完整披露字段。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让学生尝试为自己的任务写一条失败记录。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直接来源：[本课工件](assets/agent-task-example/generate.diff)；[本课工件](assets/agent-task-example/test-output.txt)；[本课工件](assets/agent-task-example/failure-log.md)。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 §五 第三步、第四步与第五步；[project-template.md](../../course/project-template.md) §6.1 任务契约；本课 `assets/agent-task-example/` 中的任务契约、真实 diff、测试输出与失败日志。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页面：P13 本人项目：决定、核验与回写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第一段作决定并查证据；中点处理共性卡点；第二段实际回写并验证。A 是已公开示例中的局部修复，满足旧缺字段契约而不满足本题完整契约；C 为适当方向，但具体实现需验证。B 吞异常可能降低分母。好测试需正常记录通过、坏输入明确拒绝且记录失败原因；全拒绝实现不能达标。不能为了新补丁修改旧评价口径。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从现有 normalize_record 示例或本人同规模动作出发，先冻结正常/缺字段/空值/类型用例，再实际修改一个模块。与 baseline 在相同输入上比较，保留旧失败和新结果。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[project-template.md](../../course/project-template.md) 字段模板；第 9 课实验规格。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handout.md、judgment-task.md；../../course/judgment-path.md。教学构造仅用于方法判断；本人结果以实际记录为准。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页面：P14 文件落点与 diff 审查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模板投屏停留。学生可照抄文件结构。本课产出任务契约、代码 diff、验证记录与失败记录，回写个人项目。Agent 执行可在课后用合规环境补做，但任务契约与失败记录必须在课堂内启动。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教师先点评权限过宽、验收不可测、评价代码未隔离三类共性问题；学生再继续第二段个人实践。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[project-template.md](../../course/project-template.md)；讲义 §五 第五步。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页面：P15 同伴提问，作者决定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作者先说明任务契约与 diff，同伴围绕五字段、修改范围、测试和失败记录提问。优先检查权限边界、人工审核是否真的停住、测试是否判定了目标行为。作者记录采纳、澄清、补证、保留异议或暂缓及真实理由；反馈不要求立即改写，也不形成共同提交。人数为奇数时组成三人组，适当缩短每人的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同伴互查。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同伴反馈为形成性活动，不单独计分，不共同提交（[assignments.md](../../course/assignments.md)）。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页面：P16 本讲知识点总结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回收任务契约、受限执行、diff/验证与失败保留的关系。本页不新增任务，要求学生用边界句检查自己的任务契约和执行记录。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学生快速指出自己当前最薄弱的一张卡。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[handout.md](./handout.md) §二-§六；[teaching-plan.md](./teaching-plan.md) 第四至六节。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页面：P17 保留本课决定，准备下一课输入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修课堂发现的一个边界用例，整理补丁理由；不另开新功能。 每课课外最多60分钟；详见讲义。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定位实际工件与下一项动作；按既定预算收口。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Russell, S., &amp; Norvig, P. *Artificial Intelligence: A Modern Approach*, 4th ed. Pearson, 2020, Ch 2. [出版社页面](https://www.pearson.com/en-us/subject-catalog/p/artificial-intelligence-a-modern-approach/P200000003500/9780134610993)。</a:t>
            </a:r>
          </a:p>
          <a:p xmlns:a="http://schemas.openxmlformats.org/drawingml/2006/main">
            <a:r>
              <a:t>- Yao, S. et al. "ReAct: Synergizing Reasoning and Acting in Language Models." *ICLR 2023*. [会议页面](https://iclr.cc/virtual/2023/poster/11003)。</a:t>
            </a:r>
          </a:p>
          <a:p xmlns:a="http://schemas.openxmlformats.org/drawingml/2006/main">
            <a:r>
              <a:t>- Amershi, S. et al. "Guidelines for Human-AI Interaction." *CHI 2019*. DOI: [10.1145/3290605.3300233](https://www.microsoft.com/en-us/research/publication/guidelines-for-human-ai-interaction/)。</a:t>
            </a:r>
          </a:p>
          <a:p xmlns:a="http://schemas.openxmlformats.org/drawingml/2006/main">
            <a:r>
              <a:t>- Jimenez, C. E. et al. *SWE-bench*, ICLR 2024. [项目页面](https://www.swebench.com/original.html)。</a:t>
            </a:r>
          </a:p>
          <a:p xmlns:a="http://schemas.openxmlformats.org/drawingml/2006/main">
            <a:r>
              <a:t>- 阅读规则见 [reading-list.md](../../course/reading-list.md) 第 10 课。</a:t>
            </a:r>
          </a:p>
          <a:p xmlns:a="http://schemas.openxmlformats.org/drawingml/2006/main">
            <a:r>
              <a:t>- 本课非正式提交门（[assignments.md](../../course/assignments.md)）。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handout.md、judgment-task.md；../../course/judgment-path.md。教学构造仅用于方法判断；本人结果以实际记录为准。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184de4921f4cb4" /><Relationship Type="http://schemas.openxmlformats.org/officeDocument/2006/relationships/image" Target="/ppt/media/image.png" Id="R4b24f6465ef74d74" /><Relationship Type="http://schemas.openxmlformats.org/officeDocument/2006/relationships/image" Target="/ppt/media/image2.png" Id="R6aeee48998834bd6" /><Relationship Type="http://schemas.openxmlformats.org/officeDocument/2006/relationships/image" Target="/ppt/media/image3.png" Id="R6aa074b616f34e8d" /><Relationship Type="http://schemas.openxmlformats.org/officeDocument/2006/relationships/image" Target="/ppt/media/image4.png" Id="R36ca0db350ad4d0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e20cd8828d424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a5639183de4ab5" /><Relationship Type="http://schemas.openxmlformats.org/officeDocument/2006/relationships/image" Target="/ppt/media/image2.png" Id="R5f661671d5314209" /><Relationship Type="http://schemas.openxmlformats.org/officeDocument/2006/relationships/image" Target="/ppt/media/image5.png" Id="R97caba98431443e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98673ad56f48c0" /><Relationship Type="http://schemas.openxmlformats.org/officeDocument/2006/relationships/image" Target="/ppt/media/image.png" Id="R9fd855d7723a4bc5" /><Relationship Type="http://schemas.openxmlformats.org/officeDocument/2006/relationships/image" Target="/ppt/media/image3.png" Id="R4c5589a118044da4" /></Relationships>
</file>

<file path=ppt/slideLayouts/slideLayout1.xml><?xml version="1.0" encoding="utf-8"?>
<p:sldLayout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24f6465ef74d74">
            <a:duotone>
              <a:prstClr val="black"/>
              <a:schemeClr val="accent1">
                <a:tint val="45000"/>
                <a:satMod val="400000"/>
              </a:schemeClr>
            </a:duotone>
            <a:alphaModFix amt="5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22" name="标题 1">
            <a:extLst xmlns:a="http://schemas.openxmlformats.org/drawingml/2006/main">
              <a:ext uri="{FF2B5EF4-FFF2-40B4-BE49-F238E27FC236}">
                <a16:creationId xmlns:a16="http://schemas.microsoft.com/office/drawing/2014/main" id="{9AF74CDA-19DD-45C1-88FF-2379736830C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69561" y="2016174"/>
            <a:ext cx="10052879" cy="10608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54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单击此处编辑标题样式</a:t>
            </a:r>
          </a:p>
        </p:txBody>
      </p:sp>
      <p:sp>
        <p:nvSpPr>
          <p:cNvPr id="26" name="内容占位符 25">
            <a:extLst xmlns:a="http://schemas.openxmlformats.org/drawingml/2006/main">
              <a:ext uri="{FF2B5EF4-FFF2-40B4-BE49-F238E27FC236}">
                <a16:creationId xmlns:a16="http://schemas.microsoft.com/office/drawing/2014/main" id="{981273AB-3D30-4A7E-951D-B80D3185213B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4644345" y="5196924"/>
            <a:ext cx="2903311" cy="454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fld id="{DE506FFD-8B27-444A-964F-E64D0BB3DAF0}" type="datetime2">
              <a:t>2019年1月28日</a:t>
            </a:fld>
            <a:endParaRPr/>
          </a:p>
        </p:txBody>
      </p:sp>
      <p:sp>
        <p:nvSpPr>
          <p:cNvPr id="32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F905EEBF-8ACE-4D30-A4F5-C5796F8343A2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4034910" y="4407403"/>
            <a:ext cx="4122181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50" name="图片 3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aeee48998834bd6"/>
          <a:srcRect xmlns:a="http://schemas.openxmlformats.org/drawingml/2006/main" l="74359" t="0" r="1346" b="0"/>
          <a:stretch xmlns:a="http://schemas.openxmlformats.org/drawingml/2006/main"/>
        </p:blipFill>
        <p:spPr>
          <a:xfrm xmlns:a="http://schemas.openxmlformats.org/drawingml/2006/main">
            <a:off x="8870172" y="274183"/>
            <a:ext cx="3002280" cy="411617"/>
          </a:xfrm>
          <a:prstGeom xmlns:a="http://schemas.openxmlformats.org/drawingml/2006/main" prst="rect">
            <a:avLst/>
          </a:prstGeom>
        </p:spPr>
      </p:pic>
      <p:pic>
        <p:nvPicPr>
          <p:cNvPr id="51" name="图片 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aa074b616f34e8d">
            <a:alphaModFix amt="35000"/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 rot="0" flipH="0" flipV="0">
            <a:off x="3352562" y="6244170"/>
            <a:ext cx="5486876" cy="406590"/>
          </a:xfrm>
          <a:prstGeom xmlns:a="http://schemas.openxmlformats.org/drawingml/2006/main" prst="rect">
            <a:avLst/>
          </a:prstGeom>
        </p:spPr>
      </p:pic>
      <p:sp>
        <p:nvSpPr>
          <p:cNvPr id="37" name="椭圆 36">
            <a:extLst xmlns:a="http://schemas.openxmlformats.org/drawingml/2006/main">
              <a:ext uri="{FF2B5EF4-FFF2-40B4-BE49-F238E27FC236}">
                <a16:creationId xmlns:a16="http://schemas.microsoft.com/office/drawing/2014/main" id="{53D809C0-A4EF-44AF-AECA-4A85E4BA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51000" y="6430138"/>
            <a:ext cx="90000" cy="9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直接连接符 38">
            <a:extLst xmlns:a="http://schemas.openxmlformats.org/drawingml/2006/main">
              <a:ext uri="{FF2B5EF4-FFF2-40B4-BE49-F238E27FC236}">
                <a16:creationId xmlns:a16="http://schemas.microsoft.com/office/drawing/2014/main" id="{31F7CAE3-0209-4DA4-9A92-731CC272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85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直接连接符 40">
            <a:extLst xmlns:a="http://schemas.openxmlformats.org/drawingml/2006/main">
              <a:ext uri="{FF2B5EF4-FFF2-40B4-BE49-F238E27FC236}">
                <a16:creationId xmlns:a16="http://schemas.microsoft.com/office/drawing/2014/main" id="{B3FF25BF-0A81-4E7C-A868-79A201F0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833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直接连接符 11">
            <a:extLst xmlns:a="http://schemas.openxmlformats.org/drawingml/2006/main">
              <a:ext uri="{FF2B5EF4-FFF2-40B4-BE49-F238E27FC236}">
                <a16:creationId xmlns:a16="http://schemas.microsoft.com/office/drawing/2014/main" id="{84931B68-BEBE-4F6A-A7A3-EB2B855A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1712549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26218CD3-8CA7-49E2-A133-F3172441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3428810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57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ca0db350ad4d05"/>
          <a:srcRect xmlns:a="http://schemas.openxmlformats.org/drawingml/2006/main" l="0" t="0" r="54251" b="0"/>
          <a:stretch xmlns:a="http://schemas.openxmlformats.org/drawingml/2006/main"/>
        </p:blipFill>
        <p:spPr>
          <a:xfrm xmlns:a="http://schemas.openxmlformats.org/drawingml/2006/main">
            <a:off x="332010" y="251357"/>
            <a:ext cx="1934780" cy="4825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目录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D1F02EB-A5F5-4A25-8E13-33D76C39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1" y="2455636"/>
            <a:ext cx="2960913" cy="14387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DBDFDE5-938B-46BA-BF04-52626678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736542" y="2389144"/>
            <a:ext cx="97430" cy="296091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E1AFFB6-310A-466D-BAD1-F84A11C9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8991" y="0"/>
            <a:ext cx="9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灯片编号占位符 2">
            <a:extLst xmlns:a="http://schemas.openxmlformats.org/drawingml/2006/main"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53781C-E1F6-4315-A39D-61273F2E0596}" type="slidenum">
              <a:t>‹#›</a:t>
            </a:fld>
            <a:endParaRPr/>
          </a:p>
        </p:txBody>
      </p:sp>
      <p:pic>
        <p:nvPicPr>
          <p:cNvPr id="25" name="图片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f661671d5314209"/>
          <a:srcRect xmlns:a="http://schemas.openxmlformats.org/drawingml/2006/main" l="0" t="0" r="1346" b="0"/>
          <a:stretch xmlns:a="http://schemas.openxmlformats.org/drawingml/2006/main"/>
        </p:blipFill>
        <p:spPr>
          <a:xfrm xmlns:a="http://schemas.openxmlformats.org/drawingml/2006/main">
            <a:off x="516" y="6041797"/>
            <a:ext cx="12166903" cy="411617"/>
          </a:xfrm>
          <a:prstGeom xmlns:a="http://schemas.openxmlformats.org/drawingml/2006/main" prst="rect">
            <a:avLst/>
          </a:prstGeom>
        </p:spPr>
      </p:pic>
      <p:sp>
        <p:nvSpPr>
          <p:cNvPr id="9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56FC8349-67FC-4E3B-B988-7A27FDAE9D24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19056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85368C87-925C-44AC-B001-5C4EE6F0064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4788940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9" name="平行四边形 18">
            <a:extLst xmlns:a="http://schemas.openxmlformats.org/drawingml/2006/main">
              <a:ext uri="{FF2B5EF4-FFF2-40B4-BE49-F238E27FC236}">
                <a16:creationId xmlns:a16="http://schemas.microsoft.com/office/drawing/2014/main" id="{9AE407FD-1006-4AC4-B10B-CB7686E6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1483" cy="685800"/>
          </a:xfrm>
          <a:prstGeom xmlns:a="http://schemas.openxmlformats.org/drawingml/2006/main" prst="parallelogram">
            <a:avLst>
              <a:gd name="adj" fmla="val 4305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9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caba98431443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9056" y="73482"/>
            <a:ext cx="538838" cy="538838"/>
          </a:xfrm>
          <a:prstGeom xmlns:a="http://schemas.openxmlformats.org/drawingml/2006/main" prst="rect">
            <a:avLst/>
          </a:prstGeom>
        </p:spPr>
      </p:pic>
      <p:sp>
        <p:nvSpPr>
          <p:cNvPr id="21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C2D49473-9331-4572-8AFC-3A905D765CF9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75351" y="43657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封底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d855d7723a4bc5">
            <a:duotone>
              <a:prstClr val="black"/>
              <a:schemeClr val="accent1">
                <a:tint val="45000"/>
                <a:satMod val="400000"/>
              </a:schemeClr>
            </a:duotone>
            <a:alphaModFix amt="2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0F60F5A8-3022-49D5-A1B7-18CDA62C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2989B7D2-D2DE-4D77-870B-585E5185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969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4EB0A957-E3E4-47EE-9713-82509E17FD51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2555162" y="3129756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6000" b="1" spc="6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27" name="图片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c5589a118044da4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>
            <a:off x="3352562" y="6146610"/>
            <a:ext cx="5486876" cy="406590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d78ad5b61a4994" /><Relationship Type="http://schemas.openxmlformats.org/officeDocument/2006/relationships/slideLayout" Target="/ppt/slideLayouts/slideLayout1.xml" Id="R557186bd04174fc9" /><Relationship Type="http://schemas.openxmlformats.org/officeDocument/2006/relationships/slideLayout" Target="/ppt/slideLayouts/slideLayout2.xml" Id="R703d400ad6914a97" /><Relationship Type="http://schemas.openxmlformats.org/officeDocument/2006/relationships/slideLayout" Target="/ppt/slideLayouts/slideLayout3.xml" Id="R4d79546d879546af" /><Relationship Type="http://schemas.openxmlformats.org/officeDocument/2006/relationships/slideLayout" Target="/ppt/slideLayouts/slideLayout4.xml" Id="Raaaa7abc298a4c84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F26411B-55E1-4CE5-B9CA-4734B17AE0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849970" y="6515101"/>
            <a:ext cx="103723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48644C6-89F0-466C-949F-E70AD72679A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7186bd04174fc9"/>
    <p:sldLayoutId xmlns:r="http://schemas.openxmlformats.org/officeDocument/2006/relationships" id="2147483650" r:id="R703d400ad6914a97"/>
    <p:sldLayoutId xmlns:r="http://schemas.openxmlformats.org/officeDocument/2006/relationships" id="2147483651" r:id="R4d79546d879546af"/>
    <p:sldLayoutId xmlns:r="http://schemas.openxmlformats.org/officeDocument/2006/relationships" id="2147483652" r:id="Raaaa7abc298a4c84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192">
          <p15:clr>
            <a:srgbClr xmlns:a="http://schemas.openxmlformats.org/drawingml/2006/main" val="F26B43"/>
          </p15:clr>
        </p15:guide>
        <p15:guide id="2" pos="7488">
          <p15:clr>
            <a:srgbClr xmlns:a="http://schemas.openxmlformats.org/drawingml/2006/main" val="F26B43"/>
          </p15:clr>
        </p15:guide>
        <p15:guide id="3" orient="horz" pos="432">
          <p15:clr>
            <a:srgbClr xmlns:a="http://schemas.openxmlformats.org/drawingml/2006/main" val="F26B43"/>
          </p15:clr>
        </p15:guide>
        <p15:guide id="4" orient="horz" pos="472">
          <p15:clr>
            <a:srgbClr xmlns:a="http://schemas.openxmlformats.org/drawingml/2006/main" val="F26B43"/>
          </p15:clr>
        </p15:guide>
        <p15:guide id="5" orient="horz" pos="4104">
          <p15:clr>
            <a:srgbClr xmlns:a="http://schemas.openxmlformats.org/drawingml/2006/main" val="F26B43"/>
          </p15:clr>
        </p15:guide>
        <p15:guide id="6" orient="horz" pos="4056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e3f3d2be3d4b16" /><Relationship Type="http://schemas.openxmlformats.org/officeDocument/2006/relationships/notesSlide" Target="/ppt/notesSlides/notesSlide1.xml" Id="R090aa2cc3fc34d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8eba0a3dfb64d42" /><Relationship Type="http://schemas.openxmlformats.org/officeDocument/2006/relationships/image" Target="/ppt/media/image6.png" Id="Rd33a0b334e2c49af" /><Relationship Type="http://schemas.openxmlformats.org/officeDocument/2006/relationships/notesSlide" Target="/ppt/notesSlides/notesSlide2.xml" Id="R0e37dcc8786f4d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136daef2f684dbe" /><Relationship Type="http://schemas.openxmlformats.org/officeDocument/2006/relationships/image" Target="/ppt/media/image7.png" Id="Rf6fb93cd7c824266" /><Relationship Type="http://schemas.openxmlformats.org/officeDocument/2006/relationships/notesSlide" Target="/ppt/notesSlides/notesSlide3.xml" Id="Rf0f3e51b43e847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9e80d2b6f344c73" /><Relationship Type="http://schemas.openxmlformats.org/officeDocument/2006/relationships/notesSlide" Target="/ppt/notesSlides/notesSlide4.xml" Id="R0e8b3c2342f2482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5601376e12b4127" /><Relationship Type="http://schemas.openxmlformats.org/officeDocument/2006/relationships/notesSlide" Target="/ppt/notesSlides/notesSlide5.xml" Id="Rbda4b47a9daf47c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a78b13da02c431d" /><Relationship Type="http://schemas.openxmlformats.org/officeDocument/2006/relationships/notesSlide" Target="/ppt/notesSlides/notesSlide6.xml" Id="R30480126abeb496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af13516726e4a55" /><Relationship Type="http://schemas.openxmlformats.org/officeDocument/2006/relationships/image" Target="/ppt/media/image8.png" Id="Rd797935cf4184437" /><Relationship Type="http://schemas.openxmlformats.org/officeDocument/2006/relationships/notesSlide" Target="/ppt/notesSlides/notesSlide7.xml" Id="R3451ec45a6af4df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905d57822be43c0" /><Relationship Type="http://schemas.openxmlformats.org/officeDocument/2006/relationships/image" Target="/ppt/media/image9.png" Id="R31a7d849a9e44f87" /><Relationship Type="http://schemas.openxmlformats.org/officeDocument/2006/relationships/notesSlide" Target="/ppt/notesSlides/notesSlide8.xml" Id="R4b194b63f33f442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e35532da391421c" /><Relationship Type="http://schemas.openxmlformats.org/officeDocument/2006/relationships/image" Target="/ppt/media/image10.png" Id="Redd478adba1d43c5" /><Relationship Type="http://schemas.openxmlformats.org/officeDocument/2006/relationships/notesSlide" Target="/ppt/notesSlides/notesSlide9.xml" Id="R0d9f03f0c364478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c1ea191de614d33" /><Relationship Type="http://schemas.openxmlformats.org/officeDocument/2006/relationships/image" Target="/ppt/media/image11.png" Id="Rb85b59d5c65c443e" /><Relationship Type="http://schemas.openxmlformats.org/officeDocument/2006/relationships/notesSlide" Target="/ppt/notesSlides/notesSlide10.xml" Id="R1fd7bd06526c40e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ac224fd2db34894" /><Relationship Type="http://schemas.openxmlformats.org/officeDocument/2006/relationships/notesSlide" Target="/ppt/notesSlides/notesSlide11.xml" Id="R0aa7161b1f5341e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34d9a4e9fd048cb" /><Relationship Type="http://schemas.openxmlformats.org/officeDocument/2006/relationships/image" Target="/ppt/media/image12.png" Id="R8c3b6a83e0704447" /><Relationship Type="http://schemas.openxmlformats.org/officeDocument/2006/relationships/notesSlide" Target="/ppt/notesSlides/notesSlide12.xml" Id="R027b7dfd49d2451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ceaa1c2d9cc450f" /><Relationship Type="http://schemas.openxmlformats.org/officeDocument/2006/relationships/image" Target="/ppt/media/image13.png" Id="R3b3f3f50ab6c4a8a" /><Relationship Type="http://schemas.openxmlformats.org/officeDocument/2006/relationships/notesSlide" Target="/ppt/notesSlides/notesSlide13.xml" Id="R052a9689e0e341c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1f4b2d567fa4d23" /><Relationship Type="http://schemas.openxmlformats.org/officeDocument/2006/relationships/image" Target="/ppt/media/image14.png" Id="R8bc0ffcd7f2c4c8b" /><Relationship Type="http://schemas.openxmlformats.org/officeDocument/2006/relationships/notesSlide" Target="/ppt/notesSlides/notesSlide14.xml" Id="R7467301fb224449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723245a40b644c9" /><Relationship Type="http://schemas.openxmlformats.org/officeDocument/2006/relationships/image" Target="/ppt/media/image15.png" Id="Rda507f76af78400e" /><Relationship Type="http://schemas.openxmlformats.org/officeDocument/2006/relationships/notesSlide" Target="/ppt/notesSlides/notesSlide15.xml" Id="R0d78eb5f9e78491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d24dba6d1a5410b" /><Relationship Type="http://schemas.openxmlformats.org/officeDocument/2006/relationships/image" Target="/ppt/media/image16.png" Id="R5e03b649304a4603" /><Relationship Type="http://schemas.openxmlformats.org/officeDocument/2006/relationships/notesSlide" Target="/ppt/notesSlides/notesSlide16.xml" Id="R6adcc099f4c54e5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817a7e16a8444cd" /><Relationship Type="http://schemas.openxmlformats.org/officeDocument/2006/relationships/image" Target="/ppt/media/image17.png" Id="R77ffc45794fe4b63" /><Relationship Type="http://schemas.openxmlformats.org/officeDocument/2006/relationships/notesSlide" Target="/ppt/notesSlides/notesSlide17.xml" Id="R343b8fd1bb6f435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60E20F2-0B4B-4FC2-B5EA-4B0878FF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990600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3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3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第10讲 AI 辅助编码、调试与受限 Agent 执行</a:t>
            </a:r>
          </a:p>
        </p:txBody>
      </p:sp>
    </p:spTree>
    <p:extLst>
      <p:ext uri="{BB962C8B-B14F-4D97-AF65-F5344CB8AC3E}">
        <p14:creationId xmlns:p14="http://schemas.microsoft.com/office/powerpoint/2010/main" val="345004539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实验规格还没有约束 Agent 执行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/>
          </a:p>
        </p:txBody>
      </p:sp>
      <p:sp>
        <p:nvSpPr>
          <p:cNvPr id="6" name="brand-header">
            <a:extLst xmlns:a="http://schemas.openxmlformats.org/drawingml/2006/main">
              <a:ext uri="{FF2B5EF4-FFF2-40B4-BE49-F238E27FC236}">
                <a16:creationId xmlns:a16="http://schemas.microsoft.com/office/drawing/2014/main" id="{4D5F40C2-2F3F-4C93-9015-5101F978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887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3a0b334e2c49af"/>
          <a:stretch xmlns:a="http://schemas.openxmlformats.org/drawingml/2006/main"/>
        </p:blipFill>
        <p:spPr>
          <a:xfrm xmlns:a="http://schemas.openxmlformats.org/drawingml/2006/main">
            <a:off x="323850" y="762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8" name="brand-title">
            <a:extLst xmlns:a="http://schemas.openxmlformats.org/drawingml/2006/main">
              <a:ext uri="{FF2B5EF4-FFF2-40B4-BE49-F238E27FC236}">
                <a16:creationId xmlns:a16="http://schemas.microsoft.com/office/drawing/2014/main" id="{44BCDA43-21B2-43C1-855E-12C21B4A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实验规格还没有约束 Agent 执行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D396BB41-E14B-4320-A322-A5082808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来源：lesson-10/slides.md；课程工件与讲义见 speaker notes</a:t>
            </a:r>
          </a:p>
        </p:txBody>
      </p:sp>
      <p:sp>
        <p:nvSpPr>
          <p:cNvPr id="10" name="chain-line-0">
            <a:extLst xmlns:a="http://schemas.openxmlformats.org/drawingml/2006/main">
              <a:ext uri="{FF2B5EF4-FFF2-40B4-BE49-F238E27FC236}">
                <a16:creationId xmlns:a16="http://schemas.microsoft.com/office/drawing/2014/main" id="{787005DC-CA4A-4516-B6C2-BD140853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1714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1" name="chain-0">
            <a:extLst xmlns:a="http://schemas.openxmlformats.org/drawingml/2006/main">
              <a:ext uri="{FF2B5EF4-FFF2-40B4-BE49-F238E27FC236}">
                <a16:creationId xmlns:a16="http://schemas.microsoft.com/office/drawing/2014/main" id="{BD4675C5-7B21-4001-B740-DA1AFCF7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实验规格</a:t>
            </a:r>
          </a:p>
        </p:txBody>
      </p:sp>
      <p:sp>
        <p:nvSpPr>
          <p:cNvPr id="12" name="chain-arrow-0">
            <a:extLst xmlns:a="http://schemas.openxmlformats.org/drawingml/2006/main">
              <a:ext uri="{FF2B5EF4-FFF2-40B4-BE49-F238E27FC236}">
                <a16:creationId xmlns:a16="http://schemas.microsoft.com/office/drawing/2014/main" id="{F1407D3A-1F5E-49C2-89BA-2D100649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52700"/>
            <a:ext cx="127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" name="chain-sub-0">
            <a:extLst xmlns:a="http://schemas.openxmlformats.org/drawingml/2006/main">
              <a:ext uri="{FF2B5EF4-FFF2-40B4-BE49-F238E27FC236}">
                <a16:creationId xmlns:a16="http://schemas.microsoft.com/office/drawing/2014/main" id="{30A24CD7-2F5F-4DAE-9D91-15E55A59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第 9 课输入</a:t>
            </a:r>
          </a:p>
        </p:txBody>
      </p:sp>
      <p:sp>
        <p:nvSpPr>
          <p:cNvPr id="14" name="chain-line-1">
            <a:extLst xmlns:a="http://schemas.openxmlformats.org/drawingml/2006/main">
              <a:ext uri="{FF2B5EF4-FFF2-40B4-BE49-F238E27FC236}">
                <a16:creationId xmlns:a16="http://schemas.microsoft.com/office/drawing/2014/main" id="{59003993-04F5-4D13-BB9C-2171405D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250" y="3105150"/>
            <a:ext cx="1714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5" name="chain-1">
            <a:extLst xmlns:a="http://schemas.openxmlformats.org/drawingml/2006/main">
              <a:ext uri="{FF2B5EF4-FFF2-40B4-BE49-F238E27FC236}">
                <a16:creationId xmlns:a16="http://schemas.microsoft.com/office/drawing/2014/main" id="{318E2285-58F2-4A73-9D36-14F8BCDBF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250" y="23812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任务契约</a:t>
            </a:r>
          </a:p>
        </p:txBody>
      </p:sp>
      <p:sp>
        <p:nvSpPr>
          <p:cNvPr id="16" name="chain-arrow-1">
            <a:extLst xmlns:a="http://schemas.openxmlformats.org/drawingml/2006/main">
              <a:ext uri="{FF2B5EF4-FFF2-40B4-BE49-F238E27FC236}">
                <a16:creationId xmlns:a16="http://schemas.microsoft.com/office/drawing/2014/main" id="{9ED90225-5810-4697-9CCA-CA6B9025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5750" y="2552700"/>
            <a:ext cx="127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7" name="chain-sub-1">
            <a:extLst xmlns:a="http://schemas.openxmlformats.org/drawingml/2006/main">
              <a:ext uri="{FF2B5EF4-FFF2-40B4-BE49-F238E27FC236}">
                <a16:creationId xmlns:a16="http://schemas.microsoft.com/office/drawing/2014/main" id="{2B6CF70C-98B0-49FC-B326-DCD555E62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250" y="3257550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本课边界</a:t>
            </a:r>
          </a:p>
        </p:txBody>
      </p:sp>
      <p:sp>
        <p:nvSpPr>
          <p:cNvPr id="18" name="chain-line-2">
            <a:extLst xmlns:a="http://schemas.openxmlformats.org/drawingml/2006/main">
              <a:ext uri="{FF2B5EF4-FFF2-40B4-BE49-F238E27FC236}">
                <a16:creationId xmlns:a16="http://schemas.microsoft.com/office/drawing/2014/main" id="{CA51F2A4-0946-4398-A3E2-F436E83B6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5750" y="3105150"/>
            <a:ext cx="1714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9" name="chain-2">
            <a:extLst xmlns:a="http://schemas.openxmlformats.org/drawingml/2006/main">
              <a:ext uri="{FF2B5EF4-FFF2-40B4-BE49-F238E27FC236}">
                <a16:creationId xmlns:a16="http://schemas.microsoft.com/office/drawing/2014/main" id="{BF6CF64C-A7FF-4BB4-8971-03D01044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5750" y="23812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diff / 日志</a:t>
            </a:r>
          </a:p>
        </p:txBody>
      </p:sp>
      <p:sp>
        <p:nvSpPr>
          <p:cNvPr id="20" name="chain-arrow-2">
            <a:extLst xmlns:a="http://schemas.openxmlformats.org/drawingml/2006/main">
              <a:ext uri="{FF2B5EF4-FFF2-40B4-BE49-F238E27FC236}">
                <a16:creationId xmlns:a16="http://schemas.microsoft.com/office/drawing/2014/main" id="{C69E7B6C-BAB9-4C5F-BF73-6E74938C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0250" y="2552700"/>
            <a:ext cx="127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1" name="chain-sub-2">
            <a:extLst xmlns:a="http://schemas.openxmlformats.org/drawingml/2006/main">
              <a:ext uri="{FF2B5EF4-FFF2-40B4-BE49-F238E27FC236}">
                <a16:creationId xmlns:a16="http://schemas.microsoft.com/office/drawing/2014/main" id="{EF6278C1-4324-4410-90E9-AAD356CE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5750" y="3257550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一次受限执行</a:t>
            </a:r>
          </a:p>
        </p:txBody>
      </p:sp>
      <p:sp>
        <p:nvSpPr>
          <p:cNvPr id="22" name="chain-line-3">
            <a:extLst xmlns:a="http://schemas.openxmlformats.org/drawingml/2006/main">
              <a:ext uri="{FF2B5EF4-FFF2-40B4-BE49-F238E27FC236}">
                <a16:creationId xmlns:a16="http://schemas.microsoft.com/office/drawing/2014/main" id="{E7F69CE5-2C9A-4597-B161-1A4DC3F8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05150"/>
            <a:ext cx="1714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23" name="chain-3">
            <a:extLst xmlns:a="http://schemas.openxmlformats.org/drawingml/2006/main">
              <a:ext uri="{FF2B5EF4-FFF2-40B4-BE49-F238E27FC236}">
                <a16:creationId xmlns:a16="http://schemas.microsoft.com/office/drawing/2014/main" id="{5B8C6A8D-96F0-4876-9045-779CB12F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812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冻结队列</a:t>
            </a:r>
          </a:p>
        </p:txBody>
      </p:sp>
      <p:sp>
        <p:nvSpPr>
          <p:cNvPr id="24" name="chain-sub-3">
            <a:extLst xmlns:a="http://schemas.openxmlformats.org/drawingml/2006/main">
              <a:ext uri="{FF2B5EF4-FFF2-40B4-BE49-F238E27FC236}">
                <a16:creationId xmlns:a16="http://schemas.microsoft.com/office/drawing/2014/main" id="{927E3543-2C32-416F-8CCB-43C46F69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57550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交给第 11 课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judgment-title">
            <a:extLst xmlns:a="http://schemas.openxmlformats.org/drawingml/2006/main">
              <a:ext uri="{FF2B5EF4-FFF2-40B4-BE49-F238E27FC236}">
                <a16:creationId xmlns:a16="http://schemas.microsoft.com/office/drawing/2014/main" id="{78B9E473-E540-4104-BF35-52343143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6200"/>
            <a:ext cx="10687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测试通过，补丁就合格吗</a:t>
            </a:r>
          </a:p>
        </p:txBody>
      </p:sp>
      <p:sp>
        <p:nvSpPr>
          <p:cNvPr id="2" name="judgment-body-0">
            <a:extLst xmlns:a="http://schemas.openxmlformats.org/drawingml/2006/main">
              <a:ext uri="{FF2B5EF4-FFF2-40B4-BE49-F238E27FC236}">
                <a16:creationId xmlns:a16="http://schemas.microsoft.com/office/drawing/2014/main" id="{5417726D-4064-4BAD-9563-6BBF7F1B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契约：两个字段均为非空字符串；正常记录保留</a:t>
            </a:r>
          </a:p>
        </p:txBody>
      </p:sp>
      <p:sp>
        <p:nvSpPr>
          <p:cNvPr id="3" name="judgment-body-1">
            <a:extLst xmlns:a="http://schemas.openxmlformats.org/drawingml/2006/main">
              <a:ext uri="{FF2B5EF4-FFF2-40B4-BE49-F238E27FC236}">
                <a16:creationId xmlns:a16="http://schemas.microsoft.com/office/drawing/2014/main" id="{08529109-C69C-4C6D-9DA9-9F93D999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858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A｜只查缺字段</a:t>
            </a:r>
          </a:p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B｜异常返回空对象，下游跳过</a:t>
            </a:r>
          </a:p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C｜检查类型与去空白后非空，保留失败</a:t>
            </a:r>
          </a:p>
        </p:txBody>
      </p:sp>
      <p:sp>
        <p:nvSpPr>
          <p:cNvPr id="4" name="judgment-body-2">
            <a:extLst xmlns:a="http://schemas.openxmlformats.org/drawingml/2006/main">
              <a:ext uri="{FF2B5EF4-FFF2-40B4-BE49-F238E27FC236}">
                <a16:creationId xmlns:a16="http://schemas.microsoft.com/office/drawing/2014/main" id="{84C8D2CE-00F0-48AA-948F-E1C11CE8B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10858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用 None、全空白、正常输入区分候选补丁；评价口径保持只读。</a:t>
            </a:r>
          </a:p>
        </p:txBody>
      </p:sp>
      <p:sp>
        <p:nvSpPr>
          <p:cNvPr id="5" name="judgment-source">
            <a:extLst xmlns:a="http://schemas.openxmlformats.org/drawingml/2006/main">
              <a:ext uri="{FF2B5EF4-FFF2-40B4-BE49-F238E27FC236}">
                <a16:creationId xmlns:a16="http://schemas.microsoft.com/office/drawing/2014/main" id="{3728DEB8-7E32-4995-B11E-07377609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7697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来源：本课判断任务与讲义；构造材料及真实来源按材料包标识</a:t>
            </a:r>
          </a:p>
        </p:txBody>
      </p:sp>
      <p:sp>
        <p:nvSpPr>
          <p:cNvPr id="6" name="judgment-page">
            <a:extLst xmlns:a="http://schemas.openxmlformats.org/drawingml/2006/main">
              <a:ext uri="{FF2B5EF4-FFF2-40B4-BE49-F238E27FC236}">
                <a16:creationId xmlns:a16="http://schemas.microsoft.com/office/drawing/2014/main" id="{FF3F29B2-82C1-4514-B5E7-165A3BD9B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562725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任务契约先缩到一个可检查改动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/>
          </a:p>
        </p:txBody>
      </p:sp>
      <p:sp>
        <p:nvSpPr>
          <p:cNvPr id="6" name="content-287">
            <a:extLst xmlns:a="http://schemas.openxmlformats.org/drawingml/2006/main">
              <a:ext uri="{FF2B5EF4-FFF2-40B4-BE49-F238E27FC236}">
                <a16:creationId xmlns:a16="http://schemas.microsoft.com/office/drawing/2014/main" id="{BEE38A52-AFA5-49D0-8B49-61366725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7" name="content-288">
            <a:extLst xmlns:a="http://schemas.openxmlformats.org/drawingml/2006/main">
              <a:ext uri="{FF2B5EF4-FFF2-40B4-BE49-F238E27FC236}">
                <a16:creationId xmlns:a16="http://schemas.microsoft.com/office/drawing/2014/main" id="{6645814C-8827-43AE-A8CD-E6E4B90CB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581150"/>
            <a:ext cx="828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为 normalize_record 补缺失字段检查。</a:t>
            </a:r>
          </a:p>
        </p:txBody>
      </p:sp>
      <p:sp>
        <p:nvSpPr>
          <p:cNvPr id="8" name="rule-289">
            <a:extLst xmlns:a="http://schemas.openxmlformats.org/drawingml/2006/main">
              <a:ext uri="{FF2B5EF4-FFF2-40B4-BE49-F238E27FC236}">
                <a16:creationId xmlns:a16="http://schemas.microsoft.com/office/drawing/2014/main" id="{3C6FB1DF-A7A2-46D5-A02C-86A17BE0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9" name="content-290">
            <a:extLst xmlns:a="http://schemas.openxmlformats.org/drawingml/2006/main">
              <a:ext uri="{FF2B5EF4-FFF2-40B4-BE49-F238E27FC236}">
                <a16:creationId xmlns:a16="http://schemas.microsoft.com/office/drawing/2014/main" id="{1023D8FB-ABE8-4812-AFAC-B34E5F59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只改</a:t>
            </a:r>
          </a:p>
        </p:txBody>
      </p:sp>
      <p:sp>
        <p:nvSpPr>
          <p:cNvPr id="10" name="content-291">
            <a:extLst xmlns:a="http://schemas.openxmlformats.org/drawingml/2006/main">
              <a:ext uri="{FF2B5EF4-FFF2-40B4-BE49-F238E27FC236}">
                <a16:creationId xmlns:a16="http://schemas.microsoft.com/office/drawing/2014/main" id="{261CDF55-F59E-435B-887F-9BCF73BE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09850"/>
            <a:ext cx="828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after/generate.py；测试与样例数据只读。</a:t>
            </a:r>
          </a:p>
        </p:txBody>
      </p:sp>
      <p:sp>
        <p:nvSpPr>
          <p:cNvPr id="11" name="rule-292">
            <a:extLst xmlns:a="http://schemas.openxmlformats.org/drawingml/2006/main">
              <a:ext uri="{FF2B5EF4-FFF2-40B4-BE49-F238E27FC236}">
                <a16:creationId xmlns:a16="http://schemas.microsoft.com/office/drawing/2014/main" id="{DDD95EC8-132B-4B14-A4DE-24284DE9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2" name="content-293">
            <a:extLst xmlns:a="http://schemas.openxmlformats.org/drawingml/2006/main">
              <a:ext uri="{FF2B5EF4-FFF2-40B4-BE49-F238E27FC236}">
                <a16:creationId xmlns:a16="http://schemas.microsoft.com/office/drawing/2014/main" id="{A9E6C55A-0108-4154-9EB6-68953BFB4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成功</a:t>
            </a:r>
          </a:p>
        </p:txBody>
      </p:sp>
      <p:sp>
        <p:nvSpPr>
          <p:cNvPr id="13" name="content-294">
            <a:extLst xmlns:a="http://schemas.openxmlformats.org/drawingml/2006/main">
              <a:ext uri="{FF2B5EF4-FFF2-40B4-BE49-F238E27FC236}">
                <a16:creationId xmlns:a16="http://schemas.microsoft.com/office/drawing/2014/main" id="{00E00D68-EBD5-47B5-B9FF-065D4153A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638550"/>
            <a:ext cx="828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正常输入通过；缺字段给明确错误。</a:t>
            </a:r>
          </a:p>
        </p:txBody>
      </p:sp>
      <p:sp>
        <p:nvSpPr>
          <p:cNvPr id="14" name="rule-295">
            <a:extLst xmlns:a="http://schemas.openxmlformats.org/drawingml/2006/main">
              <a:ext uri="{FF2B5EF4-FFF2-40B4-BE49-F238E27FC236}">
                <a16:creationId xmlns:a16="http://schemas.microsoft.com/office/drawing/2014/main" id="{EB588CD4-657E-4EF7-AFAC-6F195E5A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5" name="content-296">
            <a:extLst xmlns:a="http://schemas.openxmlformats.org/drawingml/2006/main">
              <a:ext uri="{FF2B5EF4-FFF2-40B4-BE49-F238E27FC236}">
                <a16:creationId xmlns:a16="http://schemas.microsoft.com/office/drawing/2014/main" id="{56EE58B0-57FD-47D2-A9EF-B36D0855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审核</a:t>
            </a:r>
          </a:p>
        </p:txBody>
      </p:sp>
      <p:sp>
        <p:nvSpPr>
          <p:cNvPr id="16" name="content-297">
            <a:extLst xmlns:a="http://schemas.openxmlformats.org/drawingml/2006/main">
              <a:ext uri="{FF2B5EF4-FFF2-40B4-BE49-F238E27FC236}">
                <a16:creationId xmlns:a16="http://schemas.microsoft.com/office/drawing/2014/main" id="{D2240AB9-048E-468E-A0E2-5F41AD2E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667250"/>
            <a:ext cx="828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先看候选 diff，再运行既定测试并核对日志。</a:t>
            </a:r>
          </a:p>
        </p:txBody>
      </p:sp>
      <p:sp>
        <p:nvSpPr>
          <p:cNvPr id="17" name="rule-298">
            <a:extLst xmlns:a="http://schemas.openxmlformats.org/drawingml/2006/main">
              <a:ext uri="{FF2B5EF4-FFF2-40B4-BE49-F238E27FC236}">
                <a16:creationId xmlns:a16="http://schemas.microsoft.com/office/drawing/2014/main" id="{A7EC56F8-CE06-477B-B570-3B415F975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任务契约把请求改写为可追溯执行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/>
          </a:p>
        </p:txBody>
      </p:sp>
      <p:graphicFrame>
        <p:nvGraphicFramePr>
          <p:cNvPr id="10" name="native-table-299"/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81300"/>
                <a:gridCol w="8191500"/>
              </a:tblGrid>
              <a:tr h="542925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4D7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含混请求</a:t>
                      </a:r>
                    </a:p>
                  </a:txBody>
                  <a:tcPr marL="123825" marR="123825" marT="85725" marB="85725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4D7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可执行的任务契约</a:t>
                      </a:r>
                    </a:p>
                  </a:txBody>
                  <a:tcPr marL="123825" marR="123825" marT="85725" marB="85725" anchor="ctr">
                    <a:solidFill>
                      <a:srgbClr val="F4F6F8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“帮我把代码修好”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补 normalize_record 的缺失字段检查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没有修改范围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只改 after/generate.py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“结果能用就行”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既定两项测试通过，人工检查 diff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出错后继续尝试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越权或测试失败时停止并留日志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ontent-300">
            <a:extLst xmlns:a="http://schemas.openxmlformats.org/drawingml/2006/main">
              <a:ext uri="{FF2B5EF4-FFF2-40B4-BE49-F238E27FC236}">
                <a16:creationId xmlns:a16="http://schemas.microsoft.com/office/drawing/2014/main" id="{484E1BD6-35BF-4C3D-A19E-3B5D111B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97280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测试、fixture 与评价标准保持只读。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授权声明还要落实到执行检查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/>
          </a:p>
        </p:txBody>
      </p:sp>
      <p:sp>
        <p:nvSpPr>
          <p:cNvPr id="6" name="content-301">
            <a:extLst xmlns:a="http://schemas.openxmlformats.org/drawingml/2006/main">
              <a:ext uri="{FF2B5EF4-FFF2-40B4-BE49-F238E27FC236}">
                <a16:creationId xmlns:a16="http://schemas.microsoft.com/office/drawing/2014/main" id="{8BF5491B-2F37-4D7D-B8C2-F4CB97E3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声明：允许读取、修改和执行的范围。</a:t>
            </a:r>
          </a:p>
        </p:txBody>
      </p:sp>
      <p:sp>
        <p:nvSpPr>
          <p:cNvPr id="7" name="content-302">
            <a:extLst xmlns:a="http://schemas.openxmlformats.org/drawingml/2006/main">
              <a:ext uri="{FF2B5EF4-FFF2-40B4-BE49-F238E27FC236}">
                <a16:creationId xmlns:a16="http://schemas.microsoft.com/office/drawing/2014/main" id="{C836678F-C76A-4A1E-9376-07191A89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123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控制：工具层限制与人工审核点。</a:t>
            </a:r>
          </a:p>
        </p:txBody>
      </p:sp>
      <p:sp>
        <p:nvSpPr>
          <p:cNvPr id="8" name="content-303">
            <a:extLst xmlns:a="http://schemas.openxmlformats.org/drawingml/2006/main">
              <a:ext uri="{FF2B5EF4-FFF2-40B4-BE49-F238E27FC236}">
                <a16:creationId xmlns:a16="http://schemas.microsoft.com/office/drawing/2014/main" id="{6AA8E6E2-4034-4B20-A57A-88D7A92F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084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证据：实际 diff、执行命令、测试与事件记录。</a:t>
            </a:r>
          </a:p>
        </p:txBody>
      </p:sp>
      <p:sp>
        <p:nvSpPr>
          <p:cNvPr id="9" name="content-304">
            <a:extLst xmlns:a="http://schemas.openxmlformats.org/drawingml/2006/main">
              <a:ext uri="{FF2B5EF4-FFF2-40B4-BE49-F238E27FC236}">
                <a16:creationId xmlns:a16="http://schemas.microsoft.com/office/drawing/2014/main" id="{074F0CCE-34FE-4D98-8970-D1960106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045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写进 AGENTS.md，不等于自动获得隔离。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错误循环需要可见的失败恢复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  <a:endParaRPr/>
          </a:p>
        </p:txBody>
      </p:sp>
      <p:sp>
        <p:nvSpPr>
          <p:cNvPr id="6" name="brand-header">
            <a:extLst xmlns:a="http://schemas.openxmlformats.org/drawingml/2006/main">
              <a:ext uri="{FF2B5EF4-FFF2-40B4-BE49-F238E27FC236}">
                <a16:creationId xmlns:a16="http://schemas.microsoft.com/office/drawing/2014/main" id="{477ECBC9-5566-4863-B9D4-6C05AC320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887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97935cf4184437"/>
          <a:stretch xmlns:a="http://schemas.openxmlformats.org/drawingml/2006/main"/>
        </p:blipFill>
        <p:spPr>
          <a:xfrm xmlns:a="http://schemas.openxmlformats.org/drawingml/2006/main">
            <a:off x="323850" y="762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8" name="brand-title">
            <a:extLst xmlns:a="http://schemas.openxmlformats.org/drawingml/2006/main">
              <a:ext uri="{FF2B5EF4-FFF2-40B4-BE49-F238E27FC236}">
                <a16:creationId xmlns:a16="http://schemas.microsoft.com/office/drawing/2014/main" id="{671514DB-8649-4A98-A0A3-DE254762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错误循环需要可见的失败恢复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09D2AE43-A0FF-40DC-84F3-EBECBF371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来源：Yao et al., 2023（ReAct）；课程处理口径详见 speaker notes</a:t>
            </a:r>
          </a:p>
        </p:txBody>
      </p:sp>
      <p:sp>
        <p:nvSpPr>
          <p:cNvPr id="10" name="chain-line-0">
            <a:extLst xmlns:a="http://schemas.openxmlformats.org/drawingml/2006/main">
              <a:ext uri="{FF2B5EF4-FFF2-40B4-BE49-F238E27FC236}">
                <a16:creationId xmlns:a16="http://schemas.microsoft.com/office/drawing/2014/main" id="{5051767A-B5FA-4F9D-A921-C3153FC5F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28900"/>
            <a:ext cx="1809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1" name="chain-0">
            <a:extLst xmlns:a="http://schemas.openxmlformats.org/drawingml/2006/main">
              <a:ext uri="{FF2B5EF4-FFF2-40B4-BE49-F238E27FC236}">
                <a16:creationId xmlns:a16="http://schemas.microsoft.com/office/drawing/2014/main" id="{30F76C72-99AA-4319-B122-BACD7FB9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0500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Reasoning</a:t>
            </a:r>
          </a:p>
        </p:txBody>
      </p:sp>
      <p:sp>
        <p:nvSpPr>
          <p:cNvPr id="12" name="chain-arrow-0">
            <a:extLst xmlns:a="http://schemas.openxmlformats.org/drawingml/2006/main">
              <a:ext uri="{FF2B5EF4-FFF2-40B4-BE49-F238E27FC236}">
                <a16:creationId xmlns:a16="http://schemas.microsoft.com/office/drawing/2014/main" id="{DCF02963-B7B0-4A98-8EFC-B92FE197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076450"/>
            <a:ext cx="88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" name="chain-sub-0">
            <a:extLst xmlns:a="http://schemas.openxmlformats.org/drawingml/2006/main">
              <a:ext uri="{FF2B5EF4-FFF2-40B4-BE49-F238E27FC236}">
                <a16:creationId xmlns:a16="http://schemas.microsoft.com/office/drawing/2014/main" id="{EC06DD52-E03F-44B6-B532-AD181668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8130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推理可能错</a:t>
            </a:r>
          </a:p>
        </p:txBody>
      </p:sp>
      <p:sp>
        <p:nvSpPr>
          <p:cNvPr id="14" name="chain-line-1">
            <a:extLst xmlns:a="http://schemas.openxmlformats.org/drawingml/2006/main">
              <a:ext uri="{FF2B5EF4-FFF2-40B4-BE49-F238E27FC236}">
                <a16:creationId xmlns:a16="http://schemas.microsoft.com/office/drawing/2014/main" id="{5D83F479-E86A-4557-9C52-30BD0F2A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3625" y="2628900"/>
            <a:ext cx="1809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5" name="chain-1">
            <a:extLst xmlns:a="http://schemas.openxmlformats.org/drawingml/2006/main">
              <a:ext uri="{FF2B5EF4-FFF2-40B4-BE49-F238E27FC236}">
                <a16:creationId xmlns:a16="http://schemas.microsoft.com/office/drawing/2014/main" id="{2E7C86E7-6567-41C1-A4FF-D5E6D37D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3625" y="190500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Action</a:t>
            </a:r>
          </a:p>
        </p:txBody>
      </p:sp>
      <p:sp>
        <p:nvSpPr>
          <p:cNvPr id="16" name="chain-arrow-1">
            <a:extLst xmlns:a="http://schemas.openxmlformats.org/drawingml/2006/main">
              <a:ext uri="{FF2B5EF4-FFF2-40B4-BE49-F238E27FC236}">
                <a16:creationId xmlns:a16="http://schemas.microsoft.com/office/drawing/2014/main" id="{FD4973B8-D102-45FA-833C-644EA11A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375" y="2076450"/>
            <a:ext cx="88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7" name="chain-sub-1">
            <a:extLst xmlns:a="http://schemas.openxmlformats.org/drawingml/2006/main">
              <a:ext uri="{FF2B5EF4-FFF2-40B4-BE49-F238E27FC236}">
                <a16:creationId xmlns:a16="http://schemas.microsoft.com/office/drawing/2014/main" id="{9161AB6E-9F85-4D41-B44B-C3AB7F44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3625" y="278130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行动可能越权</a:t>
            </a:r>
          </a:p>
        </p:txBody>
      </p:sp>
      <p:sp>
        <p:nvSpPr>
          <p:cNvPr id="18" name="chain-line-2">
            <a:extLst xmlns:a="http://schemas.openxmlformats.org/drawingml/2006/main">
              <a:ext uri="{FF2B5EF4-FFF2-40B4-BE49-F238E27FC236}">
                <a16:creationId xmlns:a16="http://schemas.microsoft.com/office/drawing/2014/main" id="{7043EF64-AF3D-4476-800A-50D7C6A4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2375" y="2628900"/>
            <a:ext cx="1809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9" name="chain-2">
            <a:extLst xmlns:a="http://schemas.openxmlformats.org/drawingml/2006/main">
              <a:ext uri="{FF2B5EF4-FFF2-40B4-BE49-F238E27FC236}">
                <a16:creationId xmlns:a16="http://schemas.microsoft.com/office/drawing/2014/main" id="{A8A06130-F703-4A50-99AE-C84F257E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2375" y="190500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Observation</a:t>
            </a:r>
          </a:p>
        </p:txBody>
      </p:sp>
      <p:sp>
        <p:nvSpPr>
          <p:cNvPr id="20" name="chain-arrow-2">
            <a:extLst xmlns:a="http://schemas.openxmlformats.org/drawingml/2006/main">
              <a:ext uri="{FF2B5EF4-FFF2-40B4-BE49-F238E27FC236}">
                <a16:creationId xmlns:a16="http://schemas.microsoft.com/office/drawing/2014/main" id="{E0B93AB4-E82B-4A32-925E-853E3AF5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125" y="2076450"/>
            <a:ext cx="88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1" name="chain-sub-2">
            <a:extLst xmlns:a="http://schemas.openxmlformats.org/drawingml/2006/main">
              <a:ext uri="{FF2B5EF4-FFF2-40B4-BE49-F238E27FC236}">
                <a16:creationId xmlns:a16="http://schemas.microsoft.com/office/drawing/2014/main" id="{1AC9207C-CFC7-4912-A64E-778F0CEB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2375" y="278130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观察可能误导</a:t>
            </a:r>
          </a:p>
        </p:txBody>
      </p:sp>
      <p:sp>
        <p:nvSpPr>
          <p:cNvPr id="22" name="chain-line-3">
            <a:extLst xmlns:a="http://schemas.openxmlformats.org/drawingml/2006/main">
              <a:ext uri="{FF2B5EF4-FFF2-40B4-BE49-F238E27FC236}">
                <a16:creationId xmlns:a16="http://schemas.microsoft.com/office/drawing/2014/main" id="{AB5BDF2E-40DE-4FA2-85EE-8DFBC99A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628900"/>
            <a:ext cx="1809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</a:ln>
        </p:spPr>
      </p:sp>
      <p:sp>
        <p:nvSpPr>
          <p:cNvPr id="23" name="chain-3">
            <a:extLst xmlns:a="http://schemas.openxmlformats.org/drawingml/2006/main">
              <a:ext uri="{FF2B5EF4-FFF2-40B4-BE49-F238E27FC236}">
                <a16:creationId xmlns:a16="http://schemas.microsoft.com/office/drawing/2014/main" id="{67B3AAAA-7A80-44F9-A21C-85ADEBDD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90500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停止并记录</a:t>
            </a:r>
          </a:p>
        </p:txBody>
      </p:sp>
      <p:sp>
        <p:nvSpPr>
          <p:cNvPr id="24" name="chain-sub-3">
            <a:extLst xmlns:a="http://schemas.openxmlformats.org/drawingml/2006/main">
              <a:ext uri="{FF2B5EF4-FFF2-40B4-BE49-F238E27FC236}">
                <a16:creationId xmlns:a16="http://schemas.microsoft.com/office/drawing/2014/main" id="{AB23D73B-7E05-4A4D-A5B9-3981D4E3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78130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阻断错误传播</a:t>
            </a:r>
          </a:p>
        </p:txBody>
      </p:sp>
      <p:sp>
        <p:nvSpPr>
          <p:cNvPr id="25" name="recover">
            <a:extLst xmlns:a="http://schemas.openxmlformats.org/drawingml/2006/main">
              <a:ext uri="{FF2B5EF4-FFF2-40B4-BE49-F238E27FC236}">
                <a16:creationId xmlns:a16="http://schemas.microsoft.com/office/drawing/2014/main" id="{C220459D-8685-4F59-8E25-2F70827B4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09575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超时 / 无法解析 / 工具失败 / 越权 / 测试失败</a:t>
            </a:r>
          </a:p>
        </p:txBody>
      </p:sp>
      <p:sp>
        <p:nvSpPr>
          <p:cNvPr id="26" name="redline">
            <a:extLst xmlns:a="http://schemas.openxmlformats.org/drawingml/2006/main">
              <a:ext uri="{FF2B5EF4-FFF2-40B4-BE49-F238E27FC236}">
                <a16:creationId xmlns:a16="http://schemas.microsoft.com/office/drawing/2014/main" id="{D66DE7EC-45A8-4C3C-BA7D-F5B4E7D6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00062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删除失败日志属于伪造实验记录。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用 diff 与测试审查候选实现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  <a:endParaRPr/>
          </a:p>
        </p:txBody>
      </p:sp>
      <p:sp>
        <p:nvSpPr>
          <p:cNvPr id="6" name="brand-header">
            <a:extLst xmlns:a="http://schemas.openxmlformats.org/drawingml/2006/main">
              <a:ext uri="{FF2B5EF4-FFF2-40B4-BE49-F238E27FC236}">
                <a16:creationId xmlns:a16="http://schemas.microsoft.com/office/drawing/2014/main" id="{DA99383D-33D0-4CB6-8751-5DBE309F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887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a7d849a9e44f87"/>
          <a:stretch xmlns:a="http://schemas.openxmlformats.org/drawingml/2006/main"/>
        </p:blipFill>
        <p:spPr>
          <a:xfrm xmlns:a="http://schemas.openxmlformats.org/drawingml/2006/main">
            <a:off x="323850" y="762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8" name="brand-title">
            <a:extLst xmlns:a="http://schemas.openxmlformats.org/drawingml/2006/main">
              <a:ext uri="{FF2B5EF4-FFF2-40B4-BE49-F238E27FC236}">
                <a16:creationId xmlns:a16="http://schemas.microsoft.com/office/drawing/2014/main" id="{925BB973-EB9E-4480-B264-76AEE7E7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用 diff 与测试审查候选实现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2B786ACB-0F61-48C7-8D28-B521E0DA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来源：lesson-10/slides.md；课程工件与讲义见 speaker notes</a:t>
            </a:r>
          </a:p>
        </p:txBody>
      </p:sp>
      <p:sp>
        <p:nvSpPr>
          <p:cNvPr id="10" name="doc-2-bg">
            <a:extLst xmlns:a="http://schemas.openxmlformats.org/drawingml/2006/main">
              <a:ext uri="{FF2B5EF4-FFF2-40B4-BE49-F238E27FC236}">
                <a16:creationId xmlns:a16="http://schemas.microsoft.com/office/drawing/2014/main" id="{D995623A-9AD0-4A7F-A12C-C1F9B81FE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7334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1" name="doc-2-title-bg">
            <a:extLst xmlns:a="http://schemas.openxmlformats.org/drawingml/2006/main">
              <a:ext uri="{FF2B5EF4-FFF2-40B4-BE49-F238E27FC236}">
                <a16:creationId xmlns:a16="http://schemas.microsoft.com/office/drawing/2014/main" id="{47622A31-E298-4AC7-BFE3-5CB25603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2" name="doc-2-title">
            <a:extLst xmlns:a="http://schemas.openxmlformats.org/drawingml/2006/main">
              <a:ext uri="{FF2B5EF4-FFF2-40B4-BE49-F238E27FC236}">
                <a16:creationId xmlns:a16="http://schemas.microsoft.com/office/drawing/2014/main" id="{41B615D5-416E-451C-AF6F-0E5AE6C4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0175"/>
            <a:ext cx="327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generate.diff｜真实代码</a:t>
            </a:r>
          </a:p>
        </p:txBody>
      </p:sp>
      <p:sp>
        <p:nvSpPr>
          <p:cNvPr id="13" name="doc-2-line-0">
            <a:extLst xmlns:a="http://schemas.openxmlformats.org/drawingml/2006/main">
              <a:ext uri="{FF2B5EF4-FFF2-40B4-BE49-F238E27FC236}">
                <a16:creationId xmlns:a16="http://schemas.microsoft.com/office/drawing/2014/main" id="{4B78362F-D5C5-4C4C-807C-34020132F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76425"/>
            <a:ext cx="6877050" cy="4789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E7D5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E7D5B"/>
                </a:solidFill>
                <a:latin typeface="Consolas"/>
                <a:ea typeface="Consolas"/>
                <a:cs typeface="Consolas"/>
              </a:rPr>
              <a:t>+ REQUIRED_FIELDS = ("paper_id", "summary")</a:t>
            </a:r>
          </a:p>
        </p:txBody>
      </p:sp>
      <p:sp>
        <p:nvSpPr>
          <p:cNvPr id="14" name="doc-2-line-1">
            <a:extLst xmlns:a="http://schemas.openxmlformats.org/drawingml/2006/main">
              <a:ext uri="{FF2B5EF4-FFF2-40B4-BE49-F238E27FC236}">
                <a16:creationId xmlns:a16="http://schemas.microsoft.com/office/drawing/2014/main" id="{37938BB4-6A68-418F-B954-D80DB243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3561"/>
            <a:ext cx="6877050" cy="4789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  def normalize_record(record):</a:t>
            </a:r>
          </a:p>
        </p:txBody>
      </p:sp>
      <p:sp>
        <p:nvSpPr>
          <p:cNvPr id="15" name="doc-2-line-2">
            <a:extLst xmlns:a="http://schemas.openxmlformats.org/drawingml/2006/main">
              <a:ext uri="{FF2B5EF4-FFF2-40B4-BE49-F238E27FC236}">
                <a16:creationId xmlns:a16="http://schemas.microsoft.com/office/drawing/2014/main" id="{051AE5FB-3F15-4A21-B932-BE7FA20A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0696"/>
            <a:ext cx="6877050" cy="4789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E7D5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E7D5B"/>
                </a:solidFill>
                <a:latin typeface="Consolas"/>
                <a:ea typeface="Consolas"/>
                <a:cs typeface="Consolas"/>
              </a:rPr>
              <a:t>+   missing = [field for field in REQUIRED_FIELDS</a:t>
            </a:r>
          </a:p>
        </p:txBody>
      </p:sp>
      <p:sp>
        <p:nvSpPr>
          <p:cNvPr id="16" name="doc-2-line-3">
            <a:extLst xmlns:a="http://schemas.openxmlformats.org/drawingml/2006/main">
              <a:ext uri="{FF2B5EF4-FFF2-40B4-BE49-F238E27FC236}">
                <a16:creationId xmlns:a16="http://schemas.microsoft.com/office/drawing/2014/main" id="{74884E3E-674A-4FBB-9AF2-F1D1E2E2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7832"/>
            <a:ext cx="6877050" cy="4789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E7D5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E7D5B"/>
                </a:solidFill>
                <a:latin typeface="Consolas"/>
                <a:ea typeface="Consolas"/>
                <a:cs typeface="Consolas"/>
              </a:rPr>
              <a:t>+              if field not in record]</a:t>
            </a:r>
          </a:p>
        </p:txBody>
      </p:sp>
      <p:sp>
        <p:nvSpPr>
          <p:cNvPr id="17" name="doc-2-line-4">
            <a:extLst xmlns:a="http://schemas.openxmlformats.org/drawingml/2006/main">
              <a:ext uri="{FF2B5EF4-FFF2-40B4-BE49-F238E27FC236}">
                <a16:creationId xmlns:a16="http://schemas.microsoft.com/office/drawing/2014/main" id="{2DE06EA0-6C29-49D6-96BC-3ED07DB0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24968"/>
            <a:ext cx="6877050" cy="4789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E7D5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E7D5B"/>
                </a:solidFill>
                <a:latin typeface="Consolas"/>
                <a:ea typeface="Consolas"/>
                <a:cs typeface="Consolas"/>
              </a:rPr>
              <a:t>+   if missing: raise ValueError("missing required fields")</a:t>
            </a:r>
          </a:p>
        </p:txBody>
      </p:sp>
      <p:sp>
        <p:nvSpPr>
          <p:cNvPr id="18" name="doc-2-line-5">
            <a:extLst xmlns:a="http://schemas.openxmlformats.org/drawingml/2006/main">
              <a:ext uri="{FF2B5EF4-FFF2-40B4-BE49-F238E27FC236}">
                <a16:creationId xmlns:a16="http://schemas.microsoft.com/office/drawing/2014/main" id="{376D1387-1E2B-4F84-878A-79F6B6F2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12104"/>
            <a:ext cx="6877050" cy="4789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    return {"paper_id": record["paper_id"],</a:t>
            </a:r>
          </a:p>
        </p:txBody>
      </p:sp>
      <p:sp>
        <p:nvSpPr>
          <p:cNvPr id="19" name="doc-2-line-6">
            <a:extLst xmlns:a="http://schemas.openxmlformats.org/drawingml/2006/main">
              <a:ext uri="{FF2B5EF4-FFF2-40B4-BE49-F238E27FC236}">
                <a16:creationId xmlns:a16="http://schemas.microsoft.com/office/drawing/2014/main" id="{28238563-93E7-42A8-88B3-655DE4D4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99239"/>
            <a:ext cx="6877050" cy="4789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            "summary": record["summary"].strip()}</a:t>
            </a:r>
          </a:p>
        </p:txBody>
      </p:sp>
      <p:sp>
        <p:nvSpPr>
          <p:cNvPr id="20" name="review-h">
            <a:extLst xmlns:a="http://schemas.openxmlformats.org/drawingml/2006/main">
              <a:ext uri="{FF2B5EF4-FFF2-40B4-BE49-F238E27FC236}">
                <a16:creationId xmlns:a16="http://schemas.microsoft.com/office/drawing/2014/main" id="{548B6F6A-CDEE-4313-A831-48C46B58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5716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人工审核</a:t>
            </a:r>
          </a:p>
        </p:txBody>
      </p:sp>
      <p:sp>
        <p:nvSpPr>
          <p:cNvPr id="21" name="list-875-220-0">
            <a:extLst xmlns:a="http://schemas.openxmlformats.org/drawingml/2006/main">
              <a:ext uri="{FF2B5EF4-FFF2-40B4-BE49-F238E27FC236}">
                <a16:creationId xmlns:a16="http://schemas.microsoft.com/office/drawing/2014/main" id="{503FA90B-8150-4EA3-A00D-99D1C2EA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955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✓ 只改授权文件</a:t>
            </a:r>
          </a:p>
        </p:txBody>
      </p:sp>
      <p:sp>
        <p:nvSpPr>
          <p:cNvPr id="22" name="list-875-220-1">
            <a:extLst xmlns:a="http://schemas.openxmlformats.org/drawingml/2006/main">
              <a:ext uri="{FF2B5EF4-FFF2-40B4-BE49-F238E27FC236}">
                <a16:creationId xmlns:a16="http://schemas.microsoft.com/office/drawing/2014/main" id="{F7A302A1-4679-4ADF-A565-6141434E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527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✓ 未改评价协议</a:t>
            </a:r>
          </a:p>
        </p:txBody>
      </p:sp>
      <p:sp>
        <p:nvSpPr>
          <p:cNvPr id="23" name="list-875-220-2">
            <a:extLst xmlns:a="http://schemas.openxmlformats.org/drawingml/2006/main">
              <a:ext uri="{FF2B5EF4-FFF2-40B4-BE49-F238E27FC236}">
                <a16:creationId xmlns:a16="http://schemas.microsoft.com/office/drawing/2014/main" id="{6EB48F53-52DB-4EBD-84B5-D854DD1B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099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✓ 缺字段明确失败</a:t>
            </a:r>
          </a:p>
        </p:txBody>
      </p:sp>
      <p:sp>
        <p:nvSpPr>
          <p:cNvPr id="24" name="list-875-220-3">
            <a:extLst xmlns:a="http://schemas.openxmlformats.org/drawingml/2006/main">
              <a:ext uri="{FF2B5EF4-FFF2-40B4-BE49-F238E27FC236}">
                <a16:creationId xmlns:a16="http://schemas.microsoft.com/office/drawing/2014/main" id="{2D091C64-2656-4E7D-9BDE-8FB01934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671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✓ 测试覆盖关键路径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进入项目的修改需要根因与验证证据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  <a:endParaRPr/>
          </a:p>
        </p:txBody>
      </p:sp>
      <p:sp>
        <p:nvSpPr>
          <p:cNvPr id="6" name="brand-header">
            <a:extLst xmlns:a="http://schemas.openxmlformats.org/drawingml/2006/main">
              <a:ext uri="{FF2B5EF4-FFF2-40B4-BE49-F238E27FC236}">
                <a16:creationId xmlns:a16="http://schemas.microsoft.com/office/drawing/2014/main" id="{99AEE7CA-C9F2-4092-B710-BD7B8AE86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887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d478adba1d43c5"/>
          <a:stretch xmlns:a="http://schemas.openxmlformats.org/drawingml/2006/main"/>
        </p:blipFill>
        <p:spPr>
          <a:xfrm xmlns:a="http://schemas.openxmlformats.org/drawingml/2006/main">
            <a:off x="323850" y="762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8" name="brand-title">
            <a:extLst xmlns:a="http://schemas.openxmlformats.org/drawingml/2006/main">
              <a:ext uri="{FF2B5EF4-FFF2-40B4-BE49-F238E27FC236}">
                <a16:creationId xmlns:a16="http://schemas.microsoft.com/office/drawing/2014/main" id="{7557DBCB-7F5E-448A-8A2E-3961B7E1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进入项目的修改需要根因与验证证据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82721243-AC8D-4B2E-A2B4-4F686564A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来源：lesson-10/slides.md；课程工件与讲义见 speaker notes</a:t>
            </a:r>
          </a:p>
        </p:txBody>
      </p:sp>
      <p:sp>
        <p:nvSpPr>
          <p:cNvPr id="10" name="chain-line-0">
            <a:extLst xmlns:a="http://schemas.openxmlformats.org/drawingml/2006/main">
              <a:ext uri="{FF2B5EF4-FFF2-40B4-BE49-F238E27FC236}">
                <a16:creationId xmlns:a16="http://schemas.microsoft.com/office/drawing/2014/main" id="{FC842E00-8FCF-4221-835C-36B8D03C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809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1" name="chain-0">
            <a:extLst xmlns:a="http://schemas.openxmlformats.org/drawingml/2006/main">
              <a:ext uri="{FF2B5EF4-FFF2-40B4-BE49-F238E27FC236}">
                <a16:creationId xmlns:a16="http://schemas.microsoft.com/office/drawing/2014/main" id="{4047BD63-C55C-49AB-BC22-58E70FF9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候选修改</a:t>
            </a:r>
          </a:p>
        </p:txBody>
      </p:sp>
      <p:sp>
        <p:nvSpPr>
          <p:cNvPr id="12" name="chain-arrow-0">
            <a:extLst xmlns:a="http://schemas.openxmlformats.org/drawingml/2006/main">
              <a:ext uri="{FF2B5EF4-FFF2-40B4-BE49-F238E27FC236}">
                <a16:creationId xmlns:a16="http://schemas.microsoft.com/office/drawing/2014/main" id="{F0E17977-3F1C-413F-A852-523BA399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885950"/>
            <a:ext cx="101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" name="chain-sub-0">
            <a:extLst xmlns:a="http://schemas.openxmlformats.org/drawingml/2006/main">
              <a:ext uri="{FF2B5EF4-FFF2-40B4-BE49-F238E27FC236}">
                <a16:creationId xmlns:a16="http://schemas.microsoft.com/office/drawing/2014/main" id="{2CC471F6-FA16-45CD-BF21-C052CC32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9080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Agent 建议</a:t>
            </a:r>
          </a:p>
        </p:txBody>
      </p:sp>
      <p:sp>
        <p:nvSpPr>
          <p:cNvPr id="14" name="chain-line-1">
            <a:extLst xmlns:a="http://schemas.openxmlformats.org/drawingml/2006/main">
              <a:ext uri="{FF2B5EF4-FFF2-40B4-BE49-F238E27FC236}">
                <a16:creationId xmlns:a16="http://schemas.microsoft.com/office/drawing/2014/main" id="{FDAC3EAF-CE8C-4D8C-851A-1A452898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7750" y="2438400"/>
            <a:ext cx="1809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5" name="chain-1">
            <a:extLst xmlns:a="http://schemas.openxmlformats.org/drawingml/2006/main">
              <a:ext uri="{FF2B5EF4-FFF2-40B4-BE49-F238E27FC236}">
                <a16:creationId xmlns:a16="http://schemas.microsoft.com/office/drawing/2014/main" id="{064BD294-4FF6-425E-B703-213B5B8AF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7750" y="171450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根因修复</a:t>
            </a:r>
          </a:p>
        </p:txBody>
      </p:sp>
      <p:sp>
        <p:nvSpPr>
          <p:cNvPr id="16" name="chain-arrow-1">
            <a:extLst xmlns:a="http://schemas.openxmlformats.org/drawingml/2006/main">
              <a:ext uri="{FF2B5EF4-FFF2-40B4-BE49-F238E27FC236}">
                <a16:creationId xmlns:a16="http://schemas.microsoft.com/office/drawing/2014/main" id="{C1D88754-882E-48E9-9831-745A618F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1885950"/>
            <a:ext cx="101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7" name="chain-sub-1">
            <a:extLst xmlns:a="http://schemas.openxmlformats.org/drawingml/2006/main">
              <a:ext uri="{FF2B5EF4-FFF2-40B4-BE49-F238E27FC236}">
                <a16:creationId xmlns:a16="http://schemas.microsoft.com/office/drawing/2014/main" id="{A9622885-488D-4D03-974E-A4933539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7750" y="259080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保留失败与 diff</a:t>
            </a:r>
          </a:p>
        </p:txBody>
      </p:sp>
      <p:sp>
        <p:nvSpPr>
          <p:cNvPr id="18" name="chain-line-2">
            <a:extLst xmlns:a="http://schemas.openxmlformats.org/drawingml/2006/main">
              <a:ext uri="{FF2B5EF4-FFF2-40B4-BE49-F238E27FC236}">
                <a16:creationId xmlns:a16="http://schemas.microsoft.com/office/drawing/2014/main" id="{FA05E285-8FA6-4EDF-873E-414F7F82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438400"/>
            <a:ext cx="1809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9" name="chain-2">
            <a:extLst xmlns:a="http://schemas.openxmlformats.org/drawingml/2006/main">
              <a:ext uri="{FF2B5EF4-FFF2-40B4-BE49-F238E27FC236}">
                <a16:creationId xmlns:a16="http://schemas.microsoft.com/office/drawing/2014/main" id="{BF576EC8-5DAB-4CB6-8CB5-5EBC078D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测试 + 人工核验</a:t>
            </a:r>
          </a:p>
        </p:txBody>
      </p:sp>
      <p:sp>
        <p:nvSpPr>
          <p:cNvPr id="20" name="chain-arrow-2">
            <a:extLst xmlns:a="http://schemas.openxmlformats.org/drawingml/2006/main">
              <a:ext uri="{FF2B5EF4-FFF2-40B4-BE49-F238E27FC236}">
                <a16:creationId xmlns:a16="http://schemas.microsoft.com/office/drawing/2014/main" id="{BD7EF306-F9A3-47D9-A650-6CB7C6BD4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0" y="1885950"/>
            <a:ext cx="101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1" name="chain-sub-2">
            <a:extLst xmlns:a="http://schemas.openxmlformats.org/drawingml/2006/main">
              <a:ext uri="{FF2B5EF4-FFF2-40B4-BE49-F238E27FC236}">
                <a16:creationId xmlns:a16="http://schemas.microsoft.com/office/drawing/2014/main" id="{057F594F-3699-4521-BC05-30197123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59080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方法边界仍人工判断</a:t>
            </a:r>
          </a:p>
        </p:txBody>
      </p:sp>
      <p:sp>
        <p:nvSpPr>
          <p:cNvPr id="22" name="chain-line-3">
            <a:extLst xmlns:a="http://schemas.openxmlformats.org/drawingml/2006/main">
              <a:ext uri="{FF2B5EF4-FFF2-40B4-BE49-F238E27FC236}">
                <a16:creationId xmlns:a16="http://schemas.microsoft.com/office/drawing/2014/main" id="{B0DAF82B-B008-45D8-BA21-945EB2AE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38400"/>
            <a:ext cx="1809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23" name="chain-3">
            <a:extLst xmlns:a="http://schemas.openxmlformats.org/drawingml/2006/main">
              <a:ext uri="{FF2B5EF4-FFF2-40B4-BE49-F238E27FC236}">
                <a16:creationId xmlns:a16="http://schemas.microsoft.com/office/drawing/2014/main" id="{3DA81C40-A8C6-4D83-B915-BA8BD1FB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1450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进入项目</a:t>
            </a:r>
          </a:p>
        </p:txBody>
      </p:sp>
      <p:sp>
        <p:nvSpPr>
          <p:cNvPr id="24" name="chain-sub-3">
            <a:extLst xmlns:a="http://schemas.openxmlformats.org/drawingml/2006/main">
              <a:ext uri="{FF2B5EF4-FFF2-40B4-BE49-F238E27FC236}">
                <a16:creationId xmlns:a16="http://schemas.microsoft.com/office/drawing/2014/main" id="{E03AD9ED-923C-4A7C-B5ED-643E2B97D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9080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可追溯</a:t>
            </a:r>
          </a:p>
        </p:txBody>
      </p:sp>
      <p:sp>
        <p:nvSpPr>
          <p:cNvPr id="25" name="left-h">
            <a:extLst xmlns:a="http://schemas.openxmlformats.org/drawingml/2006/main">
              <a:ext uri="{FF2B5EF4-FFF2-40B4-BE49-F238E27FC236}">
                <a16:creationId xmlns:a16="http://schemas.microsoft.com/office/drawing/2014/main" id="{9789BCA8-7EDD-4BB6-A496-3B3D3F3C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不能进入当前实验版本</a:t>
            </a:r>
          </a:p>
        </p:txBody>
      </p:sp>
      <p:sp>
        <p:nvSpPr>
          <p:cNvPr id="26" name="right-h">
            <a:extLst xmlns:a="http://schemas.openxmlformats.org/drawingml/2006/main">
              <a:ext uri="{FF2B5EF4-FFF2-40B4-BE49-F238E27FC236}">
                <a16:creationId xmlns:a16="http://schemas.microsoft.com/office/drawing/2014/main" id="{0961A9ED-50EC-4785-A5CC-2C9CE582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052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正确处置</a:t>
            </a:r>
          </a:p>
        </p:txBody>
      </p:sp>
      <p:sp>
        <p:nvSpPr>
          <p:cNvPr id="27" name="split">
            <a:extLst xmlns:a="http://schemas.openxmlformats.org/drawingml/2006/main">
              <a:ext uri="{FF2B5EF4-FFF2-40B4-BE49-F238E27FC236}">
                <a16:creationId xmlns:a16="http://schemas.microsoft.com/office/drawing/2014/main" id="{69C39D63-75E9-49E3-B5DD-13A32283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05250"/>
            <a:ext cx="95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28" name="list-64-472-0">
            <a:extLst xmlns:a="http://schemas.openxmlformats.org/drawingml/2006/main">
              <a:ext uri="{FF2B5EF4-FFF2-40B4-BE49-F238E27FC236}">
                <a16:creationId xmlns:a16="http://schemas.microsoft.com/office/drawing/2014/main" id="{DF75BA0A-00DF-4A8F-BDA2-E7A8493F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— 绕过失败：注释断言、跳过测试</a:t>
            </a:r>
          </a:p>
        </p:txBody>
      </p:sp>
      <p:sp>
        <p:nvSpPr>
          <p:cNvPr id="29" name="list-64-472-1">
            <a:extLst xmlns:a="http://schemas.openxmlformats.org/drawingml/2006/main">
              <a:ext uri="{FF2B5EF4-FFF2-40B4-BE49-F238E27FC236}">
                <a16:creationId xmlns:a16="http://schemas.microsoft.com/office/drawing/2014/main" id="{06E59BA7-85FC-4327-AC79-DFCD9A28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— 污染实验：改 rubric、数据划分或 baseline</a:t>
            </a:r>
          </a:p>
        </p:txBody>
      </p:sp>
      <p:sp>
        <p:nvSpPr>
          <p:cNvPr id="30" name="list-696-472-0">
            <a:extLst xmlns:a="http://schemas.openxmlformats.org/drawingml/2006/main">
              <a:ext uri="{FF2B5EF4-FFF2-40B4-BE49-F238E27FC236}">
                <a16:creationId xmlns:a16="http://schemas.microsoft.com/office/drawing/2014/main" id="{8B05B788-5CB4-41D9-99E0-17B5FEA5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958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— 被拒绝候选仍留痕</a:t>
            </a:r>
          </a:p>
        </p:txBody>
      </p:sp>
      <p:sp>
        <p:nvSpPr>
          <p:cNvPr id="31" name="list-696-472-1">
            <a:extLst xmlns:a="http://schemas.openxmlformats.org/drawingml/2006/main">
              <a:ext uri="{FF2B5EF4-FFF2-40B4-BE49-F238E27FC236}">
                <a16:creationId xmlns:a16="http://schemas.microsoft.com/office/drawing/2014/main" id="{ADD2E6A6-06BE-4116-A640-7AAEC043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9530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— 退出调试任务，进入研究决定审核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SWE-bench 的测试判定仍不充分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  <a:endParaRPr/>
          </a:p>
        </p:txBody>
      </p:sp>
      <p:sp>
        <p:nvSpPr>
          <p:cNvPr id="6" name="brand-header">
            <a:extLst xmlns:a="http://schemas.openxmlformats.org/drawingml/2006/main">
              <a:ext uri="{FF2B5EF4-FFF2-40B4-BE49-F238E27FC236}">
                <a16:creationId xmlns:a16="http://schemas.microsoft.com/office/drawing/2014/main" id="{1F14415E-2FFC-48FF-BD8C-F0C5A322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887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5b59d5c65c443e"/>
          <a:stretch xmlns:a="http://schemas.openxmlformats.org/drawingml/2006/main"/>
        </p:blipFill>
        <p:spPr>
          <a:xfrm xmlns:a="http://schemas.openxmlformats.org/drawingml/2006/main">
            <a:off x="323850" y="762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8" name="brand-title">
            <a:extLst xmlns:a="http://schemas.openxmlformats.org/drawingml/2006/main">
              <a:ext uri="{FF2B5EF4-FFF2-40B4-BE49-F238E27FC236}">
                <a16:creationId xmlns:a16="http://schemas.microsoft.com/office/drawing/2014/main" id="{C384B689-CE9E-4078-9B94-9C509712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SWE-bench 的测试判定仍不充分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B932474F-1D1E-47F2-9D23-1E9E73F04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来源：Jimenez et al., 2024（SWE-bench）；课程评价边界详见 speaker notes</a:t>
            </a:r>
          </a:p>
        </p:txBody>
      </p:sp>
      <p:sp>
        <p:nvSpPr>
          <p:cNvPr id="10" name="chain-line-0">
            <a:extLst xmlns:a="http://schemas.openxmlformats.org/drawingml/2006/main">
              <a:ext uri="{FF2B5EF4-FFF2-40B4-BE49-F238E27FC236}">
                <a16:creationId xmlns:a16="http://schemas.microsoft.com/office/drawing/2014/main" id="{384AA888-018C-48C3-B419-C6E0B65E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1619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1" name="chain-0">
            <a:extLst xmlns:a="http://schemas.openxmlformats.org/drawingml/2006/main">
              <a:ext uri="{FF2B5EF4-FFF2-40B4-BE49-F238E27FC236}">
                <a16:creationId xmlns:a16="http://schemas.microsoft.com/office/drawing/2014/main" id="{E2322FBE-4052-4279-A8AD-5B67EA2E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真实 issue</a:t>
            </a:r>
          </a:p>
        </p:txBody>
      </p:sp>
      <p:sp>
        <p:nvSpPr>
          <p:cNvPr id="12" name="chain-arrow-0">
            <a:extLst xmlns:a="http://schemas.openxmlformats.org/drawingml/2006/main">
              <a:ext uri="{FF2B5EF4-FFF2-40B4-BE49-F238E27FC236}">
                <a16:creationId xmlns:a16="http://schemas.microsoft.com/office/drawing/2014/main" id="{EFC6589D-DA31-4B56-941D-04CE44E0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266950"/>
            <a:ext cx="6429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" name="chain-sub-0">
            <a:extLst xmlns:a="http://schemas.openxmlformats.org/drawingml/2006/main">
              <a:ext uri="{FF2B5EF4-FFF2-40B4-BE49-F238E27FC236}">
                <a16:creationId xmlns:a16="http://schemas.microsoft.com/office/drawing/2014/main" id="{92C9AB11-008C-427B-BBF5-6BB74852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7180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问题身份</a:t>
            </a:r>
          </a:p>
        </p:txBody>
      </p:sp>
      <p:sp>
        <p:nvSpPr>
          <p:cNvPr id="14" name="chain-line-1">
            <a:extLst xmlns:a="http://schemas.openxmlformats.org/drawingml/2006/main">
              <a:ext uri="{FF2B5EF4-FFF2-40B4-BE49-F238E27FC236}">
                <a16:creationId xmlns:a16="http://schemas.microsoft.com/office/drawing/2014/main" id="{838E86EE-12C1-4925-966F-E4A0FC4AD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8938" y="2819400"/>
            <a:ext cx="1619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5" name="chain-1">
            <a:extLst xmlns:a="http://schemas.openxmlformats.org/drawingml/2006/main">
              <a:ext uri="{FF2B5EF4-FFF2-40B4-BE49-F238E27FC236}">
                <a16:creationId xmlns:a16="http://schemas.microsoft.com/office/drawing/2014/main" id="{A7CD471C-A3F4-4C1C-8A5E-A4B9D253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8938" y="209550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仓库快照</a:t>
            </a:r>
          </a:p>
        </p:txBody>
      </p:sp>
      <p:sp>
        <p:nvSpPr>
          <p:cNvPr id="16" name="chain-arrow-1">
            <a:extLst xmlns:a="http://schemas.openxmlformats.org/drawingml/2006/main">
              <a:ext uri="{FF2B5EF4-FFF2-40B4-BE49-F238E27FC236}">
                <a16:creationId xmlns:a16="http://schemas.microsoft.com/office/drawing/2014/main" id="{F4188CA8-9DF6-42EF-97F3-209A5692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8188" y="2266950"/>
            <a:ext cx="6429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7" name="chain-sub-1">
            <a:extLst xmlns:a="http://schemas.openxmlformats.org/drawingml/2006/main">
              <a:ext uri="{FF2B5EF4-FFF2-40B4-BE49-F238E27FC236}">
                <a16:creationId xmlns:a16="http://schemas.microsoft.com/office/drawing/2014/main" id="{BCA6D1E1-B7B5-4855-82CF-D9EC5467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8938" y="297180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固定输入</a:t>
            </a:r>
          </a:p>
        </p:txBody>
      </p:sp>
      <p:sp>
        <p:nvSpPr>
          <p:cNvPr id="18" name="chain-line-2">
            <a:extLst xmlns:a="http://schemas.openxmlformats.org/drawingml/2006/main">
              <a:ext uri="{FF2B5EF4-FFF2-40B4-BE49-F238E27FC236}">
                <a16:creationId xmlns:a16="http://schemas.microsoft.com/office/drawing/2014/main" id="{FF97C180-4556-46FF-8AE0-F2200B5C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819400"/>
            <a:ext cx="1619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9" name="chain-2">
            <a:extLst xmlns:a="http://schemas.openxmlformats.org/drawingml/2006/main">
              <a:ext uri="{FF2B5EF4-FFF2-40B4-BE49-F238E27FC236}">
                <a16:creationId xmlns:a16="http://schemas.microsoft.com/office/drawing/2014/main" id="{58A0C572-058A-4C23-B6F4-F0BAA660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09550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候选 patch</a:t>
            </a:r>
          </a:p>
        </p:txBody>
      </p:sp>
      <p:sp>
        <p:nvSpPr>
          <p:cNvPr id="20" name="chain-arrow-2">
            <a:extLst xmlns:a="http://schemas.openxmlformats.org/drawingml/2006/main">
              <a:ext uri="{FF2B5EF4-FFF2-40B4-BE49-F238E27FC236}">
                <a16:creationId xmlns:a16="http://schemas.microsoft.com/office/drawing/2014/main" id="{29C428EA-299F-40FD-AD31-2E465792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266950"/>
            <a:ext cx="6429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1" name="chain-sub-2">
            <a:extLst xmlns:a="http://schemas.openxmlformats.org/drawingml/2006/main">
              <a:ext uri="{FF2B5EF4-FFF2-40B4-BE49-F238E27FC236}">
                <a16:creationId xmlns:a16="http://schemas.microsoft.com/office/drawing/2014/main" id="{A3D16937-0A4F-4396-9160-1260E24D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97180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Agent 输出</a:t>
            </a:r>
          </a:p>
        </p:txBody>
      </p:sp>
      <p:sp>
        <p:nvSpPr>
          <p:cNvPr id="22" name="chain-line-3">
            <a:extLst xmlns:a="http://schemas.openxmlformats.org/drawingml/2006/main">
              <a:ext uri="{FF2B5EF4-FFF2-40B4-BE49-F238E27FC236}">
                <a16:creationId xmlns:a16="http://schemas.microsoft.com/office/drawing/2014/main" id="{27E4212A-7146-4944-A3E9-459C887D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3313" y="2819400"/>
            <a:ext cx="1619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23" name="chain-3">
            <a:extLst xmlns:a="http://schemas.openxmlformats.org/drawingml/2006/main">
              <a:ext uri="{FF2B5EF4-FFF2-40B4-BE49-F238E27FC236}">
                <a16:creationId xmlns:a16="http://schemas.microsoft.com/office/drawing/2014/main" id="{23541D97-4E64-4EDC-9D4B-C5B12BB0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3313" y="209550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指定 tests</a:t>
            </a:r>
          </a:p>
        </p:txBody>
      </p:sp>
      <p:sp>
        <p:nvSpPr>
          <p:cNvPr id="24" name="chain-arrow-3">
            <a:extLst xmlns:a="http://schemas.openxmlformats.org/drawingml/2006/main">
              <a:ext uri="{FF2B5EF4-FFF2-40B4-BE49-F238E27FC236}">
                <a16:creationId xmlns:a16="http://schemas.microsoft.com/office/drawing/2014/main" id="{93F7AA27-10CE-463E-AE43-4FE9875E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2266950"/>
            <a:ext cx="6429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5" name="chain-sub-3">
            <a:extLst xmlns:a="http://schemas.openxmlformats.org/drawingml/2006/main">
              <a:ext uri="{FF2B5EF4-FFF2-40B4-BE49-F238E27FC236}">
                <a16:creationId xmlns:a16="http://schemas.microsoft.com/office/drawing/2014/main" id="{58A287FE-821D-42E6-A636-4F06FC0D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3313" y="297180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是否解决</a:t>
            </a:r>
          </a:p>
        </p:txBody>
      </p:sp>
      <p:sp>
        <p:nvSpPr>
          <p:cNvPr id="26" name="chain-line-4">
            <a:extLst xmlns:a="http://schemas.openxmlformats.org/drawingml/2006/main">
              <a:ext uri="{FF2B5EF4-FFF2-40B4-BE49-F238E27FC236}">
                <a16:creationId xmlns:a16="http://schemas.microsoft.com/office/drawing/2014/main" id="{1DB8BCA9-F635-436C-AD13-48FA3AB93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19400"/>
            <a:ext cx="1619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noFill/>
          </a:ln>
        </p:spPr>
      </p:sp>
      <p:sp>
        <p:nvSpPr>
          <p:cNvPr id="27" name="chain-4">
            <a:extLst xmlns:a="http://schemas.openxmlformats.org/drawingml/2006/main">
              <a:ext uri="{FF2B5EF4-FFF2-40B4-BE49-F238E27FC236}">
                <a16:creationId xmlns:a16="http://schemas.microsoft.com/office/drawing/2014/main" id="{291AE276-7072-4F66-9B67-C3D90A05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9550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人工核验</a:t>
            </a:r>
          </a:p>
        </p:txBody>
      </p:sp>
      <p:sp>
        <p:nvSpPr>
          <p:cNvPr id="28" name="chain-sub-4">
            <a:extLst xmlns:a="http://schemas.openxmlformats.org/drawingml/2006/main">
              <a:ext uri="{FF2B5EF4-FFF2-40B4-BE49-F238E27FC236}">
                <a16:creationId xmlns:a16="http://schemas.microsoft.com/office/drawing/2014/main" id="{EBF55DE8-C88F-483E-9A7C-F4E49932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97180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课程项目额外需要</a:t>
            </a:r>
          </a:p>
        </p:txBody>
      </p:sp>
      <p:sp>
        <p:nvSpPr>
          <p:cNvPr id="29" name="boundary">
            <a:extLst xmlns:a="http://schemas.openxmlformats.org/drawingml/2006/main">
              <a:ext uri="{FF2B5EF4-FFF2-40B4-BE49-F238E27FC236}">
                <a16:creationId xmlns:a16="http://schemas.microsoft.com/office/drawing/2014/main" id="{608A8A72-A402-4915-8449-83619BD3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767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5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5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测试通过 ≠ 方法正确 ≠ 未泄漏数据 ≠ 未污染评价协议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工程检查与研究评价各管一件事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  <a:endParaRPr/>
          </a:p>
        </p:txBody>
      </p:sp>
      <p:sp>
        <p:nvSpPr>
          <p:cNvPr id="6" name="content-305">
            <a:extLst xmlns:a="http://schemas.openxmlformats.org/drawingml/2006/main">
              <a:ext uri="{FF2B5EF4-FFF2-40B4-BE49-F238E27FC236}">
                <a16:creationId xmlns:a16="http://schemas.microsoft.com/office/drawing/2014/main" id="{01C3A6B4-3CE0-4EB5-8D77-035B1861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normalize_record 测试：数据结构是否按契约处理？</a:t>
            </a:r>
          </a:p>
        </p:txBody>
      </p:sp>
      <p:sp>
        <p:nvSpPr>
          <p:cNvPr id="7" name="content-306">
            <a:extLst xmlns:a="http://schemas.openxmlformats.org/drawingml/2006/main">
              <a:ext uri="{FF2B5EF4-FFF2-40B4-BE49-F238E27FC236}">
                <a16:creationId xmlns:a16="http://schemas.microsoft.com/office/drawing/2014/main" id="{7257343F-7786-4783-888D-2323531D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123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阅读卡标注：输出保留了哪些限定条件？</a:t>
            </a:r>
          </a:p>
        </p:txBody>
      </p:sp>
      <p:sp>
        <p:nvSpPr>
          <p:cNvPr id="8" name="content-307">
            <a:extLst xmlns:a="http://schemas.openxmlformats.org/drawingml/2006/main">
              <a:ext uri="{FF2B5EF4-FFF2-40B4-BE49-F238E27FC236}">
                <a16:creationId xmlns:a16="http://schemas.microsoft.com/office/drawing/2014/main" id="{41D31B89-D76E-49B0-903D-064D5602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084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实验判断：差异对应哪个命题，边界是什么？</a:t>
            </a:r>
          </a:p>
        </p:txBody>
      </p:sp>
      <p:sp>
        <p:nvSpPr>
          <p:cNvPr id="9" name="content-308">
            <a:extLst xmlns:a="http://schemas.openxmlformats.org/drawingml/2006/main">
              <a:ext uri="{FF2B5EF4-FFF2-40B4-BE49-F238E27FC236}">
                <a16:creationId xmlns:a16="http://schemas.microsoft.com/office/drawing/2014/main" id="{A3B1A2D0-33FA-4FFA-92D1-943FF51C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045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测试通过后，仍要检查语义证据。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diff、测试和失败日志形成一次 trace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DB16885-0D3F-A391-B669-3211DB3B26E8}" type="slidenum">
              <a:t>12</a:t>
            </a:fld>
            <a:endParaRPr/>
          </a:p>
        </p:txBody>
      </p:sp>
      <p:sp>
        <p:nvSpPr>
          <p:cNvPr id="6" name="brand-header">
            <a:extLst xmlns:a="http://schemas.openxmlformats.org/drawingml/2006/main">
              <a:ext uri="{FF2B5EF4-FFF2-40B4-BE49-F238E27FC236}">
                <a16:creationId xmlns:a16="http://schemas.microsoft.com/office/drawing/2014/main" id="{8E751D38-157B-4459-AC41-D89FCB856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887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3b6a83e0704447"/>
          <a:stretch xmlns:a="http://schemas.openxmlformats.org/drawingml/2006/main"/>
        </p:blipFill>
        <p:spPr>
          <a:xfrm xmlns:a="http://schemas.openxmlformats.org/drawingml/2006/main">
            <a:off x="323850" y="762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8" name="brand-title">
            <a:extLst xmlns:a="http://schemas.openxmlformats.org/drawingml/2006/main">
              <a:ext uri="{FF2B5EF4-FFF2-40B4-BE49-F238E27FC236}">
                <a16:creationId xmlns:a16="http://schemas.microsoft.com/office/drawing/2014/main" id="{937AC357-4308-497B-BE4B-692D1DBA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diff、测试和失败日志形成一次 trace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429537B7-3223-41DF-9FA3-619B965A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来源：lesson-10/slides.md；课程工件与讲义见 speaker notes</a:t>
            </a:r>
          </a:p>
        </p:txBody>
      </p:sp>
      <p:sp>
        <p:nvSpPr>
          <p:cNvPr id="10" name="doc-3-bg">
            <a:extLst xmlns:a="http://schemas.openxmlformats.org/drawingml/2006/main">
              <a:ext uri="{FF2B5EF4-FFF2-40B4-BE49-F238E27FC236}">
                <a16:creationId xmlns:a16="http://schemas.microsoft.com/office/drawing/2014/main" id="{061D2827-68C1-4217-9040-0108E2D6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85875"/>
            <a:ext cx="6858000" cy="461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1" name="doc-3-title-bg">
            <a:extLst xmlns:a="http://schemas.openxmlformats.org/drawingml/2006/main">
              <a:ext uri="{FF2B5EF4-FFF2-40B4-BE49-F238E27FC236}">
                <a16:creationId xmlns:a16="http://schemas.microsoft.com/office/drawing/2014/main" id="{B53E1FC5-4C57-4A37-9BB5-47317219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85875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2" name="doc-3-title">
            <a:extLst xmlns:a="http://schemas.openxmlformats.org/drawingml/2006/main">
              <a:ext uri="{FF2B5EF4-FFF2-40B4-BE49-F238E27FC236}">
                <a16:creationId xmlns:a16="http://schemas.microsoft.com/office/drawing/2014/main" id="{338555CA-C7B1-42C6-99F9-6A3E832D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304925"/>
            <a:ext cx="327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generate.diff</a:t>
            </a:r>
          </a:p>
        </p:txBody>
      </p:sp>
      <p:sp>
        <p:nvSpPr>
          <p:cNvPr id="13" name="doc-3-line-0">
            <a:extLst xmlns:a="http://schemas.openxmlformats.org/drawingml/2006/main">
              <a:ext uri="{FF2B5EF4-FFF2-40B4-BE49-F238E27FC236}">
                <a16:creationId xmlns:a16="http://schemas.microsoft.com/office/drawing/2014/main" id="{19472E82-03BA-4B01-9F57-D45A15E1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781175"/>
            <a:ext cx="6400800" cy="387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E7D5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E7D5B"/>
                </a:solidFill>
                <a:latin typeface="Consolas"/>
                <a:ea typeface="Consolas"/>
                <a:cs typeface="Consolas"/>
              </a:rPr>
              <a:t>+ REQUIRED_FIELDS = ("paper_id", "summary")</a:t>
            </a:r>
          </a:p>
        </p:txBody>
      </p:sp>
      <p:sp>
        <p:nvSpPr>
          <p:cNvPr id="14" name="doc-3-line-1">
            <a:extLst xmlns:a="http://schemas.openxmlformats.org/drawingml/2006/main">
              <a:ext uri="{FF2B5EF4-FFF2-40B4-BE49-F238E27FC236}">
                <a16:creationId xmlns:a16="http://schemas.microsoft.com/office/drawing/2014/main" id="{C9BE301F-4B62-427E-9F80-9F2A0CBA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174558"/>
            <a:ext cx="6400800" cy="387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  def normalize_record(record):</a:t>
            </a:r>
          </a:p>
        </p:txBody>
      </p:sp>
      <p:sp>
        <p:nvSpPr>
          <p:cNvPr id="15" name="doc-3-line-2">
            <a:extLst xmlns:a="http://schemas.openxmlformats.org/drawingml/2006/main">
              <a:ext uri="{FF2B5EF4-FFF2-40B4-BE49-F238E27FC236}">
                <a16:creationId xmlns:a16="http://schemas.microsoft.com/office/drawing/2014/main" id="{98648766-0E09-48BC-BDED-01F6416E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567940"/>
            <a:ext cx="6400800" cy="387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E7D5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E7D5B"/>
                </a:solidFill>
                <a:latin typeface="Consolas"/>
                <a:ea typeface="Consolas"/>
                <a:cs typeface="Consolas"/>
              </a:rPr>
              <a:t>+     missing = [</a:t>
            </a:r>
          </a:p>
        </p:txBody>
      </p:sp>
      <p:sp>
        <p:nvSpPr>
          <p:cNvPr id="16" name="doc-3-line-3">
            <a:extLst xmlns:a="http://schemas.openxmlformats.org/drawingml/2006/main">
              <a:ext uri="{FF2B5EF4-FFF2-40B4-BE49-F238E27FC236}">
                <a16:creationId xmlns:a16="http://schemas.microsoft.com/office/drawing/2014/main" id="{DF992B34-D4DC-4681-8100-0DBD283B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961323"/>
            <a:ext cx="6400800" cy="387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E7D5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E7D5B"/>
                </a:solidFill>
                <a:latin typeface="Consolas"/>
                <a:ea typeface="Consolas"/>
                <a:cs typeface="Consolas"/>
              </a:rPr>
              <a:t>+         field for field in REQUIRED_FIELDS</a:t>
            </a:r>
          </a:p>
        </p:txBody>
      </p:sp>
      <p:sp>
        <p:nvSpPr>
          <p:cNvPr id="17" name="doc-3-line-4">
            <a:extLst xmlns:a="http://schemas.openxmlformats.org/drawingml/2006/main">
              <a:ext uri="{FF2B5EF4-FFF2-40B4-BE49-F238E27FC236}">
                <a16:creationId xmlns:a16="http://schemas.microsoft.com/office/drawing/2014/main" id="{75CF0690-9961-45FD-96C0-1108B8EF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354705"/>
            <a:ext cx="6400800" cy="387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E7D5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E7D5B"/>
                </a:solidFill>
                <a:latin typeface="Consolas"/>
                <a:ea typeface="Consolas"/>
                <a:cs typeface="Consolas"/>
              </a:rPr>
              <a:t>+         if field not in record</a:t>
            </a:r>
          </a:p>
        </p:txBody>
      </p:sp>
      <p:sp>
        <p:nvSpPr>
          <p:cNvPr id="18" name="doc-3-line-5">
            <a:extLst xmlns:a="http://schemas.openxmlformats.org/drawingml/2006/main">
              <a:ext uri="{FF2B5EF4-FFF2-40B4-BE49-F238E27FC236}">
                <a16:creationId xmlns:a16="http://schemas.microsoft.com/office/drawing/2014/main" id="{1179F63B-3DE1-4DA7-9381-B3F51F39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748088"/>
            <a:ext cx="6400800" cy="387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E7D5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E7D5B"/>
                </a:solidFill>
                <a:latin typeface="Consolas"/>
                <a:ea typeface="Consolas"/>
                <a:cs typeface="Consolas"/>
              </a:rPr>
              <a:t>+     ]</a:t>
            </a:r>
          </a:p>
        </p:txBody>
      </p:sp>
      <p:sp>
        <p:nvSpPr>
          <p:cNvPr id="19" name="doc-3-line-6">
            <a:extLst xmlns:a="http://schemas.openxmlformats.org/drawingml/2006/main">
              <a:ext uri="{FF2B5EF4-FFF2-40B4-BE49-F238E27FC236}">
                <a16:creationId xmlns:a16="http://schemas.microsoft.com/office/drawing/2014/main" id="{87B06AC7-65FC-456A-BC91-5CA830F7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141470"/>
            <a:ext cx="6400800" cy="387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E7D5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E7D5B"/>
                </a:solidFill>
                <a:latin typeface="Consolas"/>
                <a:ea typeface="Consolas"/>
                <a:cs typeface="Consolas"/>
              </a:rPr>
              <a:t>+     if missing:</a:t>
            </a:r>
          </a:p>
        </p:txBody>
      </p:sp>
      <p:sp>
        <p:nvSpPr>
          <p:cNvPr id="20" name="doc-3-line-7">
            <a:extLst xmlns:a="http://schemas.openxmlformats.org/drawingml/2006/main">
              <a:ext uri="{FF2B5EF4-FFF2-40B4-BE49-F238E27FC236}">
                <a16:creationId xmlns:a16="http://schemas.microsoft.com/office/drawing/2014/main" id="{B4B970CD-F2D5-48FB-AB43-A0C8850C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534853"/>
            <a:ext cx="6400800" cy="387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E7D5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E7D5B"/>
                </a:solidFill>
                <a:latin typeface="Consolas"/>
                <a:ea typeface="Consolas"/>
                <a:cs typeface="Consolas"/>
              </a:rPr>
              <a:t>+         raise ValueError(</a:t>
            </a:r>
          </a:p>
        </p:txBody>
      </p:sp>
      <p:sp>
        <p:nvSpPr>
          <p:cNvPr id="21" name="doc-3-line-8">
            <a:extLst xmlns:a="http://schemas.openxmlformats.org/drawingml/2006/main">
              <a:ext uri="{FF2B5EF4-FFF2-40B4-BE49-F238E27FC236}">
                <a16:creationId xmlns:a16="http://schemas.microsoft.com/office/drawing/2014/main" id="{A419C31C-B2F3-48CC-A912-D7BE8B5C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928235"/>
            <a:ext cx="6400800" cy="387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E7D5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E7D5B"/>
                </a:solidFill>
                <a:latin typeface="Consolas"/>
                <a:ea typeface="Consolas"/>
                <a:cs typeface="Consolas"/>
              </a:rPr>
              <a:t>+             "missing required fields"</a:t>
            </a:r>
          </a:p>
        </p:txBody>
      </p:sp>
      <p:sp>
        <p:nvSpPr>
          <p:cNvPr id="22" name="doc-3-line-9">
            <a:extLst xmlns:a="http://schemas.openxmlformats.org/drawingml/2006/main">
              <a:ext uri="{FF2B5EF4-FFF2-40B4-BE49-F238E27FC236}">
                <a16:creationId xmlns:a16="http://schemas.microsoft.com/office/drawing/2014/main" id="{4E3F8A12-3C9D-4E7D-8BF1-82C61EA92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321618"/>
            <a:ext cx="6400800" cy="387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E7D5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E7D5B"/>
                </a:solidFill>
                <a:latin typeface="Consolas"/>
                <a:ea typeface="Consolas"/>
                <a:cs typeface="Consolas"/>
              </a:rPr>
              <a:t>+         )</a:t>
            </a:r>
          </a:p>
        </p:txBody>
      </p:sp>
      <p:sp>
        <p:nvSpPr>
          <p:cNvPr id="23" name="doc-4-bg">
            <a:extLst xmlns:a="http://schemas.openxmlformats.org/drawingml/2006/main">
              <a:ext uri="{FF2B5EF4-FFF2-40B4-BE49-F238E27FC236}">
                <a16:creationId xmlns:a16="http://schemas.microsoft.com/office/drawing/2014/main" id="{D6A45896-CD01-446A-9A29-A74DB0DB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381125"/>
            <a:ext cx="3905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24" name="doc-4-title-bg">
            <a:extLst xmlns:a="http://schemas.openxmlformats.org/drawingml/2006/main">
              <a:ext uri="{FF2B5EF4-FFF2-40B4-BE49-F238E27FC236}">
                <a16:creationId xmlns:a16="http://schemas.microsoft.com/office/drawing/2014/main" id="{FA2B60B7-5299-4901-9BC2-2ADA6C70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381125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noFill/>
          </a:ln>
        </p:spPr>
      </p:sp>
      <p:sp>
        <p:nvSpPr>
          <p:cNvPr id="25" name="doc-4-title">
            <a:extLst xmlns:a="http://schemas.openxmlformats.org/drawingml/2006/main">
              <a:ext uri="{FF2B5EF4-FFF2-40B4-BE49-F238E27FC236}">
                <a16:creationId xmlns:a16="http://schemas.microsoft.com/office/drawing/2014/main" id="{A734A5CE-3567-446A-B9EF-5B02614F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400175"/>
            <a:ext cx="327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test-output.txt</a:t>
            </a:r>
          </a:p>
        </p:txBody>
      </p:sp>
      <p:sp>
        <p:nvSpPr>
          <p:cNvPr id="26" name="doc-4-line-0">
            <a:extLst xmlns:a="http://schemas.openxmlformats.org/drawingml/2006/main">
              <a:ext uri="{FF2B5EF4-FFF2-40B4-BE49-F238E27FC236}">
                <a16:creationId xmlns:a16="http://schemas.microsoft.com/office/drawing/2014/main" id="{044E3496-A916-4711-A91A-C40F1320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876425"/>
            <a:ext cx="3448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Ran 2 tests in 0.000s</a:t>
            </a:r>
          </a:p>
        </p:txBody>
      </p:sp>
      <p:sp>
        <p:nvSpPr>
          <p:cNvPr id="27" name="doc-4-line-1">
            <a:extLst xmlns:a="http://schemas.openxmlformats.org/drawingml/2006/main">
              <a:ext uri="{FF2B5EF4-FFF2-40B4-BE49-F238E27FC236}">
                <a16:creationId xmlns:a16="http://schemas.microsoft.com/office/drawing/2014/main" id="{BBCB00C9-9881-471A-A2B6-31E73DAC7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38400"/>
            <a:ext cx="3448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OK</a:t>
            </a:r>
          </a:p>
        </p:txBody>
      </p:sp>
      <p:sp>
        <p:nvSpPr>
          <p:cNvPr id="28" name="doc-5-bg">
            <a:extLst xmlns:a="http://schemas.openxmlformats.org/drawingml/2006/main">
              <a:ext uri="{FF2B5EF4-FFF2-40B4-BE49-F238E27FC236}">
                <a16:creationId xmlns:a16="http://schemas.microsoft.com/office/drawing/2014/main" id="{C55BCE0F-F8FD-44EE-BAFB-4E57C416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76625"/>
            <a:ext cx="3905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29" name="doc-5-title-bg">
            <a:extLst xmlns:a="http://schemas.openxmlformats.org/drawingml/2006/main">
              <a:ext uri="{FF2B5EF4-FFF2-40B4-BE49-F238E27FC236}">
                <a16:creationId xmlns:a16="http://schemas.microsoft.com/office/drawing/2014/main" id="{9EC60483-4C83-4B09-8650-9918F331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76625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</a:ln>
        </p:spPr>
      </p:sp>
      <p:sp>
        <p:nvSpPr>
          <p:cNvPr id="30" name="doc-5-title">
            <a:extLst xmlns:a="http://schemas.openxmlformats.org/drawingml/2006/main">
              <a:ext uri="{FF2B5EF4-FFF2-40B4-BE49-F238E27FC236}">
                <a16:creationId xmlns:a16="http://schemas.microsoft.com/office/drawing/2014/main" id="{206CFF80-0E64-4F88-AA23-9AA8D405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495675"/>
            <a:ext cx="327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failure-log.md</a:t>
            </a:r>
          </a:p>
        </p:txBody>
      </p:sp>
      <p:sp>
        <p:nvSpPr>
          <p:cNvPr id="31" name="doc-5-line-0">
            <a:extLst xmlns:a="http://schemas.openxmlformats.org/drawingml/2006/main">
              <a:ext uri="{FF2B5EF4-FFF2-40B4-BE49-F238E27FC236}">
                <a16:creationId xmlns:a16="http://schemas.microsoft.com/office/drawing/2014/main" id="{E28A5DC5-B2CB-413C-9536-95D27A7CC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71925"/>
            <a:ext cx="344805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越权请求：修改 tests</a:t>
            </a:r>
          </a:p>
        </p:txBody>
      </p:sp>
      <p:sp>
        <p:nvSpPr>
          <p:cNvPr id="32" name="doc-5-line-1">
            <a:extLst xmlns:a="http://schemas.openxmlformats.org/drawingml/2006/main">
              <a:ext uri="{FF2B5EF4-FFF2-40B4-BE49-F238E27FC236}">
                <a16:creationId xmlns:a16="http://schemas.microsoft.com/office/drawing/2014/main" id="{DBF5767E-F250-4EDC-8BA8-CF81C4A0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346575"/>
            <a:ext cx="344805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决定：拒绝</a:t>
            </a:r>
          </a:p>
        </p:txBody>
      </p:sp>
      <p:sp>
        <p:nvSpPr>
          <p:cNvPr id="33" name="doc-5-line-2">
            <a:extLst xmlns:a="http://schemas.openxmlformats.org/drawingml/2006/main">
              <a:ext uri="{FF2B5EF4-FFF2-40B4-BE49-F238E27FC236}">
                <a16:creationId xmlns:a16="http://schemas.microsoft.com/office/drawing/2014/main" id="{13DCF10D-73B5-403B-BC51-0CEAD357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721225"/>
            <a:ext cx="344805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原测试保持不变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judgment-title">
            <a:extLst xmlns:a="http://schemas.openxmlformats.org/drawingml/2006/main">
              <a:ext uri="{FF2B5EF4-FFF2-40B4-BE49-F238E27FC236}">
                <a16:creationId xmlns:a16="http://schemas.microsoft.com/office/drawing/2014/main" id="{0A91B0B9-4E4A-4366-9CDC-12658DA8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6200"/>
            <a:ext cx="10687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本人项目：决定、核验与回写</a:t>
            </a:r>
          </a:p>
        </p:txBody>
      </p:sp>
      <p:sp>
        <p:nvSpPr>
          <p:cNvPr id="2" name="judgment-body-0">
            <a:extLst xmlns:a="http://schemas.openxmlformats.org/drawingml/2006/main">
              <a:ext uri="{FF2B5EF4-FFF2-40B4-BE49-F238E27FC236}">
                <a16:creationId xmlns:a16="http://schemas.microsoft.com/office/drawing/2014/main" id="{B2EEE9E9-B64B-459A-ABDF-8B57E838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从现有 normalize_record 示例或本人同规模动作出发，先冻结正常/缺字段/空值/类型用例，再实际修改一个模块。与 baseline 在相同输入上比较，保留旧失败和新结果。</a:t>
            </a:r>
          </a:p>
        </p:txBody>
      </p:sp>
      <p:sp>
        <p:nvSpPr>
          <p:cNvPr id="3" name="judgment-body-1">
            <a:extLst xmlns:a="http://schemas.openxmlformats.org/drawingml/2006/main">
              <a:ext uri="{FF2B5EF4-FFF2-40B4-BE49-F238E27FC236}">
                <a16:creationId xmlns:a16="http://schemas.microsoft.com/office/drawing/2014/main" id="{256C5C81-8AC2-4F27-A644-890BD3D1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10858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检查 diff 仅在授权实现与本人新增行为测试内；gold/既有评价只读。若 AI 给出补丁，人工逐项审核；仅抄 after 示例不足以覆盖空值与类型。</a:t>
            </a:r>
          </a:p>
        </p:txBody>
      </p:sp>
      <p:sp>
        <p:nvSpPr>
          <p:cNvPr id="4" name="judgment-body-2">
            <a:extLst xmlns:a="http://schemas.openxmlformats.org/drawingml/2006/main">
              <a:ext uri="{FF2B5EF4-FFF2-40B4-BE49-F238E27FC236}">
                <a16:creationId xmlns:a16="http://schemas.microsoft.com/office/drawing/2014/main" id="{5EC8F7D3-6E30-4077-B864-C83C1DAF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10858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保存：受限补丁、失败用例、测试结果、trace 与人工决定</a:t>
            </a:r>
          </a:p>
        </p:txBody>
      </p:sp>
      <p:sp>
        <p:nvSpPr>
          <p:cNvPr id="5" name="judgment-source">
            <a:extLst xmlns:a="http://schemas.openxmlformats.org/drawingml/2006/main">
              <a:ext uri="{FF2B5EF4-FFF2-40B4-BE49-F238E27FC236}">
                <a16:creationId xmlns:a16="http://schemas.microsoft.com/office/drawing/2014/main" id="{5DB9C838-0CFC-4B48-8ED0-7A30849A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7697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来源：本课判断任务与讲义；构造材料及真实来源按材料包标识</a:t>
            </a:r>
          </a:p>
        </p:txBody>
      </p:sp>
      <p:sp>
        <p:nvSpPr>
          <p:cNvPr id="6" name="judgment-page">
            <a:extLst xmlns:a="http://schemas.openxmlformats.org/drawingml/2006/main">
              <a:ext uri="{FF2B5EF4-FFF2-40B4-BE49-F238E27FC236}">
                <a16:creationId xmlns:a16="http://schemas.microsoft.com/office/drawing/2014/main" id="{EDA78CCC-7014-47DE-943B-C46441D4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562725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文件落点与 diff 审查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7921A4-25C4-3DB4-06B1-32693CEE2241}" type="slidenum">
              <a:t>14</a:t>
            </a:fld>
            <a:endParaRPr/>
          </a:p>
        </p:txBody>
      </p:sp>
      <p:sp>
        <p:nvSpPr>
          <p:cNvPr id="6" name="brand-header">
            <a:extLst xmlns:a="http://schemas.openxmlformats.org/drawingml/2006/main">
              <a:ext uri="{FF2B5EF4-FFF2-40B4-BE49-F238E27FC236}">
                <a16:creationId xmlns:a16="http://schemas.microsoft.com/office/drawing/2014/main" id="{A4B163D4-683A-49C2-909A-1525305A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887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c0ffcd7f2c4c8b"/>
          <a:stretch xmlns:a="http://schemas.openxmlformats.org/drawingml/2006/main"/>
        </p:blipFill>
        <p:spPr>
          <a:xfrm xmlns:a="http://schemas.openxmlformats.org/drawingml/2006/main">
            <a:off x="323850" y="762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8" name="brand-title">
            <a:extLst xmlns:a="http://schemas.openxmlformats.org/drawingml/2006/main">
              <a:ext uri="{FF2B5EF4-FFF2-40B4-BE49-F238E27FC236}">
                <a16:creationId xmlns:a16="http://schemas.microsoft.com/office/drawing/2014/main" id="{49CA3F56-B794-4773-AE84-1EEEB8A0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文件落点与 diff 审查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53B92E2B-1E09-4F65-A7A3-C01C81C5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来源：lesson-10/slides.md；课程工件与讲义见 speaker notes</a:t>
            </a:r>
          </a:p>
        </p:txBody>
      </p:sp>
      <p:sp>
        <p:nvSpPr>
          <p:cNvPr id="10" name="doc-6-bg">
            <a:extLst xmlns:a="http://schemas.openxmlformats.org/drawingml/2006/main">
              <a:ext uri="{FF2B5EF4-FFF2-40B4-BE49-F238E27FC236}">
                <a16:creationId xmlns:a16="http://schemas.microsoft.com/office/drawing/2014/main" id="{4FD7553B-CF43-4270-BBAF-E8B84A78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5619750" cy="414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1" name="doc-6-title-bg">
            <a:extLst xmlns:a="http://schemas.openxmlformats.org/drawingml/2006/main">
              <a:ext uri="{FF2B5EF4-FFF2-40B4-BE49-F238E27FC236}">
                <a16:creationId xmlns:a16="http://schemas.microsoft.com/office/drawing/2014/main" id="{03F060BF-8EBD-4C9C-9571-16403EAA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2" name="doc-6-title">
            <a:extLst xmlns:a="http://schemas.openxmlformats.org/drawingml/2006/main">
              <a:ext uri="{FF2B5EF4-FFF2-40B4-BE49-F238E27FC236}">
                <a16:creationId xmlns:a16="http://schemas.microsoft.com/office/drawing/2014/main" id="{9CCB5120-1298-45F1-AD8C-5620BEAE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327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project/</a:t>
            </a:r>
          </a:p>
        </p:txBody>
      </p:sp>
      <p:sp>
        <p:nvSpPr>
          <p:cNvPr id="13" name="doc-6-line-0">
            <a:extLst xmlns:a="http://schemas.openxmlformats.org/drawingml/2006/main">
              <a:ext uri="{FF2B5EF4-FFF2-40B4-BE49-F238E27FC236}">
                <a16:creationId xmlns:a16="http://schemas.microsoft.com/office/drawing/2014/main" id="{634A831D-90BB-4A44-B47B-83E9A5FB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76425"/>
            <a:ext cx="51625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agent-tasks/task-01.md</a:t>
            </a:r>
          </a:p>
        </p:txBody>
      </p:sp>
      <p:sp>
        <p:nvSpPr>
          <p:cNvPr id="14" name="doc-6-line-1">
            <a:extLst xmlns:a="http://schemas.openxmlformats.org/drawingml/2006/main">
              <a:ext uri="{FF2B5EF4-FFF2-40B4-BE49-F238E27FC236}">
                <a16:creationId xmlns:a16="http://schemas.microsoft.com/office/drawing/2014/main" id="{B0710381-7B7A-4B3C-A40E-C54C920E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70364"/>
            <a:ext cx="51625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src/generate.py</a:t>
            </a:r>
          </a:p>
        </p:txBody>
      </p:sp>
      <p:sp>
        <p:nvSpPr>
          <p:cNvPr id="15" name="doc-6-line-2">
            <a:extLst xmlns:a="http://schemas.openxmlformats.org/drawingml/2006/main">
              <a:ext uri="{FF2B5EF4-FFF2-40B4-BE49-F238E27FC236}">
                <a16:creationId xmlns:a16="http://schemas.microsoft.com/office/drawing/2014/main" id="{86E43909-D958-428E-8E4F-59BF97F1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64304"/>
            <a:ext cx="51625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experiments/exp01/agent-traces/</a:t>
            </a:r>
          </a:p>
        </p:txBody>
      </p:sp>
      <p:sp>
        <p:nvSpPr>
          <p:cNvPr id="16" name="doc-6-line-3">
            <a:extLst xmlns:a="http://schemas.openxmlformats.org/drawingml/2006/main">
              <a:ext uri="{FF2B5EF4-FFF2-40B4-BE49-F238E27FC236}">
                <a16:creationId xmlns:a16="http://schemas.microsoft.com/office/drawing/2014/main" id="{C18FB6D3-009A-436E-A0F6-B848BB86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8243"/>
            <a:ext cx="51625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  generate.diff</a:t>
            </a:r>
          </a:p>
        </p:txBody>
      </p:sp>
      <p:sp>
        <p:nvSpPr>
          <p:cNvPr id="17" name="doc-6-line-4">
            <a:extLst xmlns:a="http://schemas.openxmlformats.org/drawingml/2006/main">
              <a:ext uri="{FF2B5EF4-FFF2-40B4-BE49-F238E27FC236}">
                <a16:creationId xmlns:a16="http://schemas.microsoft.com/office/drawing/2014/main" id="{6E8B0C46-8606-4044-891D-B20E9DF9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52182"/>
            <a:ext cx="51625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  test-output.txt</a:t>
            </a:r>
          </a:p>
        </p:txBody>
      </p:sp>
      <p:sp>
        <p:nvSpPr>
          <p:cNvPr id="18" name="doc-6-line-5">
            <a:extLst xmlns:a="http://schemas.openxmlformats.org/drawingml/2006/main">
              <a:ext uri="{FF2B5EF4-FFF2-40B4-BE49-F238E27FC236}">
                <a16:creationId xmlns:a16="http://schemas.microsoft.com/office/drawing/2014/main" id="{D675CF6A-464E-4434-A659-EAB290A51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6121"/>
            <a:ext cx="51625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  failure-log.md</a:t>
            </a:r>
          </a:p>
        </p:txBody>
      </p:sp>
      <p:sp>
        <p:nvSpPr>
          <p:cNvPr id="19" name="doc-6-line-6">
            <a:extLst xmlns:a="http://schemas.openxmlformats.org/drawingml/2006/main">
              <a:ext uri="{FF2B5EF4-FFF2-40B4-BE49-F238E27FC236}">
                <a16:creationId xmlns:a16="http://schemas.microsoft.com/office/drawing/2014/main" id="{DB3A8544-74C2-4821-8E5B-07F1D605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40061"/>
            <a:ext cx="51625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ai-usage-log.md</a:t>
            </a:r>
          </a:p>
        </p:txBody>
      </p:sp>
      <p:sp>
        <p:nvSpPr>
          <p:cNvPr id="20" name="audit-h">
            <a:extLst xmlns:a="http://schemas.openxmlformats.org/drawingml/2006/main">
              <a:ext uri="{FF2B5EF4-FFF2-40B4-BE49-F238E27FC236}">
                <a16:creationId xmlns:a16="http://schemas.microsoft.com/office/drawing/2014/main" id="{F05B2C59-2E03-47E4-9D1D-134E80E9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240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diff 写回前</a:t>
            </a:r>
          </a:p>
        </p:txBody>
      </p:sp>
      <p:sp>
        <p:nvSpPr>
          <p:cNvPr id="21" name="list-700-220-0">
            <a:extLst xmlns:a="http://schemas.openxmlformats.org/drawingml/2006/main">
              <a:ext uri="{FF2B5EF4-FFF2-40B4-BE49-F238E27FC236}">
                <a16:creationId xmlns:a16="http://schemas.microsoft.com/office/drawing/2014/main" id="{9F9B5B0B-A06E-47A0-9846-EE657DE6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□ 只含可写文件</a:t>
            </a:r>
          </a:p>
        </p:txBody>
      </p:sp>
      <p:sp>
        <p:nvSpPr>
          <p:cNvPr id="22" name="list-700-220-1">
            <a:extLst xmlns:a="http://schemas.openxmlformats.org/drawingml/2006/main">
              <a:ext uri="{FF2B5EF4-FFF2-40B4-BE49-F238E27FC236}">
                <a16:creationId xmlns:a16="http://schemas.microsoft.com/office/drawing/2014/main" id="{9B7DA8CE-B573-4834-B64C-53A3C321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527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□ 未引入未授权依赖</a:t>
            </a:r>
          </a:p>
        </p:txBody>
      </p:sp>
      <p:sp>
        <p:nvSpPr>
          <p:cNvPr id="23" name="list-700-220-2">
            <a:extLst xmlns:a="http://schemas.openxmlformats.org/drawingml/2006/main">
              <a:ext uri="{FF2B5EF4-FFF2-40B4-BE49-F238E27FC236}">
                <a16:creationId xmlns:a16="http://schemas.microsoft.com/office/drawing/2014/main" id="{4BC21991-85FC-4B39-80FC-C54F25CE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099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□ 未修改禁止层</a:t>
            </a:r>
          </a:p>
        </p:txBody>
      </p:sp>
      <p:sp>
        <p:nvSpPr>
          <p:cNvPr id="24" name="list-700-220-3">
            <a:extLst xmlns:a="http://schemas.openxmlformats.org/drawingml/2006/main">
              <a:ext uri="{FF2B5EF4-FFF2-40B4-BE49-F238E27FC236}">
                <a16:creationId xmlns:a16="http://schemas.microsoft.com/office/drawing/2014/main" id="{E2CE2AFB-30FA-49DE-802B-04A2E619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671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□ 测试先被审查</a:t>
            </a:r>
          </a:p>
        </p:txBody>
      </p:sp>
      <p:sp>
        <p:nvSpPr>
          <p:cNvPr id="25" name="list-700-220-4">
            <a:extLst xmlns:a="http://schemas.openxmlformats.org/drawingml/2006/main">
              <a:ext uri="{FF2B5EF4-FFF2-40B4-BE49-F238E27FC236}">
                <a16:creationId xmlns:a16="http://schemas.microsoft.com/office/drawing/2014/main" id="{92A0D0C5-84E3-49F9-9EF3-E4185ED7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243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□ 未越过 Non-goal</a:t>
            </a:r>
          </a:p>
        </p:txBody>
      </p:sp>
      <p:sp>
        <p:nvSpPr>
          <p:cNvPr id="26" name="list-700-220-5">
            <a:extLst xmlns:a="http://schemas.openxmlformats.org/drawingml/2006/main">
              <a:ext uri="{FF2B5EF4-FFF2-40B4-BE49-F238E27FC236}">
                <a16:creationId xmlns:a16="http://schemas.microsoft.com/office/drawing/2014/main" id="{1F4193C0-7641-411B-97E1-A084F48DC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815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□ commit message 只写事实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同伴提问，作者决定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A83FA91-883A-0168-8075-96CEB9DCA3C2}" type="slidenum">
              <a:t>15</a:t>
            </a:fld>
            <a:endParaRPr/>
          </a:p>
        </p:txBody>
      </p:sp>
      <p:sp>
        <p:nvSpPr>
          <p:cNvPr id="6" name="brand-header">
            <a:extLst xmlns:a="http://schemas.openxmlformats.org/drawingml/2006/main">
              <a:ext uri="{FF2B5EF4-FFF2-40B4-BE49-F238E27FC236}">
                <a16:creationId xmlns:a16="http://schemas.microsoft.com/office/drawing/2014/main" id="{B7E82527-9ED7-4A3C-A160-BC61B4EB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887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507f76af78400e"/>
          <a:stretch xmlns:a="http://schemas.openxmlformats.org/drawingml/2006/main"/>
        </p:blipFill>
        <p:spPr>
          <a:xfrm xmlns:a="http://schemas.openxmlformats.org/drawingml/2006/main">
            <a:off x="323850" y="762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8" name="brand-title">
            <a:extLst xmlns:a="http://schemas.openxmlformats.org/drawingml/2006/main">
              <a:ext uri="{FF2B5EF4-FFF2-40B4-BE49-F238E27FC236}">
                <a16:creationId xmlns:a16="http://schemas.microsoft.com/office/drawing/2014/main" id="{8C2395C2-4727-4E46-8E90-E75C898D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同伴提问，作者决定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7D97B8FB-4DAA-4FB3-A8EB-20B13777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来源：lesson-10/slides.md；课程工件与讲义见 speaker notes</a:t>
            </a:r>
          </a:p>
        </p:txBody>
      </p:sp>
      <p:sp>
        <p:nvSpPr>
          <p:cNvPr id="10" name="doc-7-bg">
            <a:extLst xmlns:a="http://schemas.openxmlformats.org/drawingml/2006/main">
              <a:ext uri="{FF2B5EF4-FFF2-40B4-BE49-F238E27FC236}">
                <a16:creationId xmlns:a16="http://schemas.microsoft.com/office/drawing/2014/main" id="{133BC9A2-8F7B-4589-95DF-08E09389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476375"/>
            <a:ext cx="53340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1" name="doc-7-title-bg">
            <a:extLst xmlns:a="http://schemas.openxmlformats.org/drawingml/2006/main">
              <a:ext uri="{FF2B5EF4-FFF2-40B4-BE49-F238E27FC236}">
                <a16:creationId xmlns:a16="http://schemas.microsoft.com/office/drawing/2014/main" id="{791B2F81-7C46-4553-AAC5-8EACA8D3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476375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2" name="doc-7-title">
            <a:extLst xmlns:a="http://schemas.openxmlformats.org/drawingml/2006/main">
              <a:ext uri="{FF2B5EF4-FFF2-40B4-BE49-F238E27FC236}">
                <a16:creationId xmlns:a16="http://schemas.microsoft.com/office/drawing/2014/main" id="{5B89081C-6CA7-4265-BDE1-621B5027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495425"/>
            <a:ext cx="327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作者的 task-01.md + diff</a:t>
            </a:r>
          </a:p>
        </p:txBody>
      </p:sp>
      <p:sp>
        <p:nvSpPr>
          <p:cNvPr id="13" name="doc-7-line-0">
            <a:extLst xmlns:a="http://schemas.openxmlformats.org/drawingml/2006/main">
              <a:ext uri="{FF2B5EF4-FFF2-40B4-BE49-F238E27FC236}">
                <a16:creationId xmlns:a16="http://schemas.microsoft.com/office/drawing/2014/main" id="{CEBC5FA5-FC65-4D2D-85AD-90C6138D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971675"/>
            <a:ext cx="4876800" cy="974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Context / Permission / Non-goal</a:t>
            </a:r>
          </a:p>
        </p:txBody>
      </p:sp>
      <p:sp>
        <p:nvSpPr>
          <p:cNvPr id="14" name="doc-7-line-1">
            <a:extLst xmlns:a="http://schemas.openxmlformats.org/drawingml/2006/main">
              <a:ext uri="{FF2B5EF4-FFF2-40B4-BE49-F238E27FC236}">
                <a16:creationId xmlns:a16="http://schemas.microsoft.com/office/drawing/2014/main" id="{25EA27E5-ADDB-4249-BE8F-9A53BB81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65450"/>
            <a:ext cx="4876800" cy="974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人工审核点 / 失败恢复</a:t>
            </a:r>
          </a:p>
        </p:txBody>
      </p:sp>
      <p:sp>
        <p:nvSpPr>
          <p:cNvPr id="15" name="doc-7-line-2">
            <a:extLst xmlns:a="http://schemas.openxmlformats.org/drawingml/2006/main">
              <a:ext uri="{FF2B5EF4-FFF2-40B4-BE49-F238E27FC236}">
                <a16:creationId xmlns:a16="http://schemas.microsoft.com/office/drawing/2014/main" id="{6B1E662E-DE89-4D42-8D26-2F053860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959225"/>
            <a:ext cx="4876800" cy="974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diff 范围 / 测试 / 失败记录</a:t>
            </a:r>
          </a:p>
        </p:txBody>
      </p:sp>
      <p:sp>
        <p:nvSpPr>
          <p:cNvPr id="16" name="peer-left">
            <a:extLst xmlns:a="http://schemas.openxmlformats.org/drawingml/2006/main">
              <a:ext uri="{FF2B5EF4-FFF2-40B4-BE49-F238E27FC236}">
                <a16:creationId xmlns:a16="http://schemas.microsoft.com/office/drawing/2014/main" id="{960EADC7-92BF-449F-8876-80C85211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38375"/>
            <a:ext cx="238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同伴只问：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边界够窄吗？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测试真的判定目标吗？</a:t>
            </a:r>
          </a:p>
        </p:txBody>
      </p:sp>
      <p:sp>
        <p:nvSpPr>
          <p:cNvPr id="17" name="peer-right">
            <a:extLst xmlns:a="http://schemas.openxmlformats.org/drawingml/2006/main">
              <a:ext uri="{FF2B5EF4-FFF2-40B4-BE49-F238E27FC236}">
                <a16:creationId xmlns:a16="http://schemas.microsoft.com/office/drawing/2014/main" id="{34317B23-AA6D-4C74-8E5B-1A0ED39E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38375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作者记录：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采纳 / 澄清 / 补证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保留异议 / 暂缓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本讲知识点总结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9C7607-4BA3-B4DC-A00F-2E67A9FCFF7E}" type="slidenum">
              <a:t>16</a:t>
            </a:fld>
            <a:endParaRPr/>
          </a:p>
        </p:txBody>
      </p:sp>
      <p:sp>
        <p:nvSpPr>
          <p:cNvPr id="6" name="brand-header">
            <a:extLst xmlns:a="http://schemas.openxmlformats.org/drawingml/2006/main">
              <a:ext uri="{FF2B5EF4-FFF2-40B4-BE49-F238E27FC236}">
                <a16:creationId xmlns:a16="http://schemas.microsoft.com/office/drawing/2014/main" id="{B31F40DA-7AA5-4B98-8850-F5F0E572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887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03b649304a4603"/>
          <a:stretch xmlns:a="http://schemas.openxmlformats.org/drawingml/2006/main"/>
        </p:blipFill>
        <p:spPr>
          <a:xfrm xmlns:a="http://schemas.openxmlformats.org/drawingml/2006/main">
            <a:off x="323850" y="762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8" name="brand-title">
            <a:extLst xmlns:a="http://schemas.openxmlformats.org/drawingml/2006/main">
              <a:ext uri="{FF2B5EF4-FFF2-40B4-BE49-F238E27FC236}">
                <a16:creationId xmlns:a16="http://schemas.microsoft.com/office/drawing/2014/main" id="{829BDDEE-886F-4229-9F97-0F8A5A25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本讲知识点总结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A6FEA23D-BE97-48C0-B184-73BEFAA9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来源：lesson-10/slides.md；课程工件与讲义见 speaker notes</a:t>
            </a:r>
          </a:p>
        </p:txBody>
      </p:sp>
      <p:sp>
        <p:nvSpPr>
          <p:cNvPr id="10" name="chain-line-0">
            <a:extLst xmlns:a="http://schemas.openxmlformats.org/drawingml/2006/main">
              <a:ext uri="{FF2B5EF4-FFF2-40B4-BE49-F238E27FC236}">
                <a16:creationId xmlns:a16="http://schemas.microsoft.com/office/drawing/2014/main" id="{CF3E8A2B-3DEB-4FCC-96D8-B92B1265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57525"/>
            <a:ext cx="19526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1" name="chain-0">
            <a:extLst xmlns:a="http://schemas.openxmlformats.org/drawingml/2006/main">
              <a:ext uri="{FF2B5EF4-FFF2-40B4-BE49-F238E27FC236}">
                <a16:creationId xmlns:a16="http://schemas.microsoft.com/office/drawing/2014/main" id="{1AE76B03-3205-47D3-81C1-58C19494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任务契约</a:t>
            </a:r>
          </a:p>
        </p:txBody>
      </p:sp>
      <p:sp>
        <p:nvSpPr>
          <p:cNvPr id="12" name="chain-arrow-0">
            <a:extLst xmlns:a="http://schemas.openxmlformats.org/drawingml/2006/main">
              <a:ext uri="{FF2B5EF4-FFF2-40B4-BE49-F238E27FC236}">
                <a16:creationId xmlns:a16="http://schemas.microsoft.com/office/drawing/2014/main" id="{BD6366ED-F982-4AE3-82FB-0AC88CD7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505075"/>
            <a:ext cx="92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" name="chain-sub-0">
            <a:extLst xmlns:a="http://schemas.openxmlformats.org/drawingml/2006/main">
              <a:ext uri="{FF2B5EF4-FFF2-40B4-BE49-F238E27FC236}">
                <a16:creationId xmlns:a16="http://schemas.microsoft.com/office/drawing/2014/main" id="{34E475AF-F439-49D6-A9A1-79A6F129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09925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本讲输入</a:t>
            </a:r>
          </a:p>
        </p:txBody>
      </p:sp>
      <p:sp>
        <p:nvSpPr>
          <p:cNvPr id="14" name="chain-line-1">
            <a:extLst xmlns:a="http://schemas.openxmlformats.org/drawingml/2006/main">
              <a:ext uri="{FF2B5EF4-FFF2-40B4-BE49-F238E27FC236}">
                <a16:creationId xmlns:a16="http://schemas.microsoft.com/office/drawing/2014/main" id="{DA0DF67F-1242-47B7-B472-2737787D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8225" y="3057525"/>
            <a:ext cx="19526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5" name="chain-1">
            <a:extLst xmlns:a="http://schemas.openxmlformats.org/drawingml/2006/main">
              <a:ext uri="{FF2B5EF4-FFF2-40B4-BE49-F238E27FC236}">
                <a16:creationId xmlns:a16="http://schemas.microsoft.com/office/drawing/2014/main" id="{B31D6F87-425A-464B-A8C6-B60F9B36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8225" y="233362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受限执行</a:t>
            </a:r>
          </a:p>
        </p:txBody>
      </p:sp>
      <p:sp>
        <p:nvSpPr>
          <p:cNvPr id="16" name="chain-arrow-1">
            <a:extLst xmlns:a="http://schemas.openxmlformats.org/drawingml/2006/main">
              <a:ext uri="{FF2B5EF4-FFF2-40B4-BE49-F238E27FC236}">
                <a16:creationId xmlns:a16="http://schemas.microsoft.com/office/drawing/2014/main" id="{E9A57960-1044-41A6-9AC9-AE110240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0850" y="2505075"/>
            <a:ext cx="92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7" name="chain-sub-1">
            <a:extLst xmlns:a="http://schemas.openxmlformats.org/drawingml/2006/main">
              <a:ext uri="{FF2B5EF4-FFF2-40B4-BE49-F238E27FC236}">
                <a16:creationId xmlns:a16="http://schemas.microsoft.com/office/drawing/2014/main" id="{17E97E43-3BC3-4DF3-B28C-FB6658AF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8225" y="3209925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本讲执行</a:t>
            </a:r>
          </a:p>
        </p:txBody>
      </p:sp>
      <p:sp>
        <p:nvSpPr>
          <p:cNvPr id="18" name="chain-line-2">
            <a:extLst xmlns:a="http://schemas.openxmlformats.org/drawingml/2006/main">
              <a:ext uri="{FF2B5EF4-FFF2-40B4-BE49-F238E27FC236}">
                <a16:creationId xmlns:a16="http://schemas.microsoft.com/office/drawing/2014/main" id="{33CA00A6-01B7-4A1D-A7EC-179A44D0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600" y="3057525"/>
            <a:ext cx="19526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9" name="chain-2">
            <a:extLst xmlns:a="http://schemas.openxmlformats.org/drawingml/2006/main">
              <a:ext uri="{FF2B5EF4-FFF2-40B4-BE49-F238E27FC236}">
                <a16:creationId xmlns:a16="http://schemas.microsoft.com/office/drawing/2014/main" id="{D6F66641-8688-4648-BA8F-D701F451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600" y="233362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diff / 测试</a:t>
            </a:r>
          </a:p>
        </p:txBody>
      </p:sp>
      <p:sp>
        <p:nvSpPr>
          <p:cNvPr id="20" name="chain-arrow-2">
            <a:extLst xmlns:a="http://schemas.openxmlformats.org/drawingml/2006/main">
              <a:ext uri="{FF2B5EF4-FFF2-40B4-BE49-F238E27FC236}">
                <a16:creationId xmlns:a16="http://schemas.microsoft.com/office/drawing/2014/main" id="{92932E4E-D7FE-40D2-B518-7A46976E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225" y="2505075"/>
            <a:ext cx="92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1" name="chain-sub-2">
            <a:extLst xmlns:a="http://schemas.openxmlformats.org/drawingml/2006/main">
              <a:ext uri="{FF2B5EF4-FFF2-40B4-BE49-F238E27FC236}">
                <a16:creationId xmlns:a16="http://schemas.microsoft.com/office/drawing/2014/main" id="{73028C60-6293-407D-8916-8D2309BD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600" y="3209925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本讲证据</a:t>
            </a:r>
          </a:p>
        </p:txBody>
      </p:sp>
      <p:sp>
        <p:nvSpPr>
          <p:cNvPr id="22" name="chain-line-3">
            <a:extLst xmlns:a="http://schemas.openxmlformats.org/drawingml/2006/main">
              <a:ext uri="{FF2B5EF4-FFF2-40B4-BE49-F238E27FC236}">
                <a16:creationId xmlns:a16="http://schemas.microsoft.com/office/drawing/2014/main" id="{7D7D1EE5-B2C5-4096-BB2C-31C56339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057525"/>
            <a:ext cx="19526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23" name="chain-3">
            <a:extLst xmlns:a="http://schemas.openxmlformats.org/drawingml/2006/main">
              <a:ext uri="{FF2B5EF4-FFF2-40B4-BE49-F238E27FC236}">
                <a16:creationId xmlns:a16="http://schemas.microsoft.com/office/drawing/2014/main" id="{E2056CE7-A70C-40D7-9B9E-9208221F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33362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失败保留</a:t>
            </a:r>
          </a:p>
        </p:txBody>
      </p:sp>
      <p:sp>
        <p:nvSpPr>
          <p:cNvPr id="24" name="chain-sub-3">
            <a:extLst xmlns:a="http://schemas.openxmlformats.org/drawingml/2006/main">
              <a:ext uri="{FF2B5EF4-FFF2-40B4-BE49-F238E27FC236}">
                <a16:creationId xmlns:a16="http://schemas.microsoft.com/office/drawing/2014/main" id="{372821AA-CAC1-4076-98A8-A0AA561FF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209925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下一步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judgment-title">
            <a:extLst xmlns:a="http://schemas.openxmlformats.org/drawingml/2006/main">
              <a:ext uri="{FF2B5EF4-FFF2-40B4-BE49-F238E27FC236}">
                <a16:creationId xmlns:a16="http://schemas.microsoft.com/office/drawing/2014/main" id="{5B851759-019F-4FC0-96EC-12553B47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6200"/>
            <a:ext cx="10687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保留本课决定，准备下一课输入</a:t>
            </a:r>
          </a:p>
        </p:txBody>
      </p:sp>
      <p:sp>
        <p:nvSpPr>
          <p:cNvPr id="2" name="judgment-body-0">
            <a:extLst xmlns:a="http://schemas.openxmlformats.org/drawingml/2006/main">
              <a:ext uri="{FF2B5EF4-FFF2-40B4-BE49-F238E27FC236}">
                <a16:creationId xmlns:a16="http://schemas.microsoft.com/office/drawing/2014/main" id="{07CB3B1D-7471-4E6E-ACF8-2DAD4386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L11 把已核准动作接到小队列，检验恢复与停止。</a:t>
            </a:r>
          </a:p>
        </p:txBody>
      </p:sp>
      <p:sp>
        <p:nvSpPr>
          <p:cNvPr id="3" name="judgment-body-1">
            <a:extLst xmlns:a="http://schemas.openxmlformats.org/drawingml/2006/main">
              <a:ext uri="{FF2B5EF4-FFF2-40B4-BE49-F238E27FC236}">
                <a16:creationId xmlns:a16="http://schemas.microsoft.com/office/drawing/2014/main" id="{CAB84FAB-6636-4666-881B-E5718D86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858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回写已有项目：受限补丁、失败用例、测试结果、trace 与人工决定</a:t>
            </a:r>
          </a:p>
        </p:txBody>
      </p:sp>
      <p:sp>
        <p:nvSpPr>
          <p:cNvPr id="4" name="judgment-body-2">
            <a:extLst xmlns:a="http://schemas.openxmlformats.org/drawingml/2006/main">
              <a:ext uri="{FF2B5EF4-FFF2-40B4-BE49-F238E27FC236}">
                <a16:creationId xmlns:a16="http://schemas.microsoft.com/office/drawing/2014/main" id="{88A2BAB7-E36B-4A3C-8B1F-ECC4E9C0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10858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只读指定段落，补课堂留下的真实缺口。安装与排障计入课外总预算。</a:t>
            </a:r>
          </a:p>
        </p:txBody>
      </p:sp>
      <p:sp>
        <p:nvSpPr>
          <p:cNvPr id="5" name="judgment-source">
            <a:extLst xmlns:a="http://schemas.openxmlformats.org/drawingml/2006/main">
              <a:ext uri="{FF2B5EF4-FFF2-40B4-BE49-F238E27FC236}">
                <a16:creationId xmlns:a16="http://schemas.microsoft.com/office/drawing/2014/main" id="{6FABD6E4-1852-48E4-911A-97173361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7697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来源：本课判断任务与讲义；构造材料及真实来源按材料包标识</a:t>
            </a:r>
          </a:p>
        </p:txBody>
      </p:sp>
      <p:sp>
        <p:nvSpPr>
          <p:cNvPr id="6" name="judgment-page">
            <a:extLst xmlns:a="http://schemas.openxmlformats.org/drawingml/2006/main">
              <a:ext uri="{FF2B5EF4-FFF2-40B4-BE49-F238E27FC236}">
                <a16:creationId xmlns:a16="http://schemas.microsoft.com/office/drawing/2014/main" id="{43DB3094-6641-47C9-ABA1-0D1876A1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562725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2026-09-16T01:27:17.7010000Z</dcterms:created>
  <dcterms:modified xsi:type="dcterms:W3CDTF">2026-09-16T01:27:17.7010000Z</dcterms:modified>
</coreProperties>
</file>