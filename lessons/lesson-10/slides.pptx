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7044d0433d45c2" /><Relationship Type="http://schemas.openxmlformats.org/officeDocument/2006/relationships/extended-properties" Target="/docProps/app.xml" Id="Rf2145c9b4d354b94" /><Relationship Type="http://schemas.openxmlformats.org/officeDocument/2006/relationships/officeDocument" Target="/ppt/presentation.xml" Id="Rb2724794037942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fff05465da4b50"/>
  </p:sldMasterIdLst>
  <p:notesMasterIdLst>
    <p:notesMasterId xmlns:r="http://schemas.openxmlformats.org/officeDocument/2006/relationships" r:id="R22eda3ad662a4a72"/>
  </p:notesMasterIdLst>
  <p:sldIdLst>
    <p:sldId xmlns:r="http://schemas.openxmlformats.org/officeDocument/2006/relationships" id="256" r:id="R59e358d8a8594719"/>
    <p:sldId xmlns:r="http://schemas.openxmlformats.org/officeDocument/2006/relationships" id="257" r:id="Rd1d06b401382494d"/>
    <p:sldId xmlns:r="http://schemas.openxmlformats.org/officeDocument/2006/relationships" id="258" r:id="R8c758d21be574706"/>
    <p:sldId xmlns:r="http://schemas.openxmlformats.org/officeDocument/2006/relationships" id="259" r:id="Rb32dc98d798f4e97"/>
    <p:sldId xmlns:r="http://schemas.openxmlformats.org/officeDocument/2006/relationships" id="260" r:id="R2643d77c2c4b4b23"/>
    <p:sldId xmlns:r="http://schemas.openxmlformats.org/officeDocument/2006/relationships" id="261" r:id="Rfa314951c9f440e7"/>
    <p:sldId xmlns:r="http://schemas.openxmlformats.org/officeDocument/2006/relationships" id="262" r:id="R1ab125fc92cd44e3"/>
    <p:sldId xmlns:r="http://schemas.openxmlformats.org/officeDocument/2006/relationships" id="263" r:id="R59ff6140d68b45fd"/>
    <p:sldId xmlns:r="http://schemas.openxmlformats.org/officeDocument/2006/relationships" id="264" r:id="R603dea1766924930"/>
    <p:sldId xmlns:r="http://schemas.openxmlformats.org/officeDocument/2006/relationships" id="265" r:id="Rc41027d58c0f48e3"/>
    <p:sldId xmlns:r="http://schemas.openxmlformats.org/officeDocument/2006/relationships" id="266" r:id="R784c0c05c4e14545"/>
    <p:sldId xmlns:r="http://schemas.openxmlformats.org/officeDocument/2006/relationships" id="267" r:id="R30d645d0dbda4993"/>
    <p:sldId xmlns:r="http://schemas.openxmlformats.org/officeDocument/2006/relationships" id="268" r:id="R89812a7ef3c14df1"/>
    <p:sldId xmlns:r="http://schemas.openxmlformats.org/officeDocument/2006/relationships" id="269" r:id="Rab7e81ad01db423f"/>
    <p:sldId xmlns:r="http://schemas.openxmlformats.org/officeDocument/2006/relationships" id="270" r:id="Rc3c4934987d94d5b"/>
    <p:sldId xmlns:r="http://schemas.openxmlformats.org/officeDocument/2006/relationships" id="271" r:id="R44b576d0990943f3"/>
    <p:sldId xmlns:r="http://schemas.openxmlformats.org/officeDocument/2006/relationships" id="272" r:id="R21e48d94e2744f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f2dc57ee1b4a10" /><Relationship Type="http://schemas.openxmlformats.org/officeDocument/2006/relationships/slideMaster" Target="/ppt/slideMasters/slideMaster1.xml" Id="R7ffff05465da4b50" /><Relationship Type="http://schemas.openxmlformats.org/officeDocument/2006/relationships/notesMaster" Target="/ppt/notesMasters/notesMaster1.xml" Id="R22eda3ad662a4a72" /><Relationship Type="http://schemas.openxmlformats.org/officeDocument/2006/relationships/presProps" Target="/ppt/presProps.xml" Id="R25947418c4804afd" /><Relationship Type="http://schemas.openxmlformats.org/officeDocument/2006/relationships/viewProps" Target="/ppt/viewProps.xml" Id="R0bfa9f2a1dcb40b1" /><Relationship Type="http://schemas.openxmlformats.org/officeDocument/2006/relationships/tableStyles" Target="/ppt/tableStyles.xml" Id="Re727d4b9eddf46ab" /><Relationship Type="http://schemas.openxmlformats.org/officeDocument/2006/relationships/slide" Target="/ppt/slides/slide1.xml" Id="R59e358d8a8594719" /><Relationship Type="http://schemas.openxmlformats.org/officeDocument/2006/relationships/slide" Target="/ppt/slides/slide2.xml" Id="Rd1d06b401382494d" /><Relationship Type="http://schemas.openxmlformats.org/officeDocument/2006/relationships/slide" Target="/ppt/slides/slide3.xml" Id="R8c758d21be574706" /><Relationship Type="http://schemas.openxmlformats.org/officeDocument/2006/relationships/slide" Target="/ppt/slides/slide4.xml" Id="Rb32dc98d798f4e97" /><Relationship Type="http://schemas.openxmlformats.org/officeDocument/2006/relationships/slide" Target="/ppt/slides/slide5.xml" Id="R2643d77c2c4b4b23" /><Relationship Type="http://schemas.openxmlformats.org/officeDocument/2006/relationships/slide" Target="/ppt/slides/slide6.xml" Id="Rfa314951c9f440e7" /><Relationship Type="http://schemas.openxmlformats.org/officeDocument/2006/relationships/slide" Target="/ppt/slides/slide7.xml" Id="R1ab125fc92cd44e3" /><Relationship Type="http://schemas.openxmlformats.org/officeDocument/2006/relationships/slide" Target="/ppt/slides/slide8.xml" Id="R59ff6140d68b45fd" /><Relationship Type="http://schemas.openxmlformats.org/officeDocument/2006/relationships/slide" Target="/ppt/slides/slide9.xml" Id="R603dea1766924930" /><Relationship Type="http://schemas.openxmlformats.org/officeDocument/2006/relationships/slide" Target="/ppt/slides/slide10.xml" Id="Rc41027d58c0f48e3" /><Relationship Type="http://schemas.openxmlformats.org/officeDocument/2006/relationships/slide" Target="/ppt/slides/slide11.xml" Id="R784c0c05c4e14545" /><Relationship Type="http://schemas.openxmlformats.org/officeDocument/2006/relationships/slide" Target="/ppt/slides/slide12.xml" Id="R30d645d0dbda4993" /><Relationship Type="http://schemas.openxmlformats.org/officeDocument/2006/relationships/slide" Target="/ppt/slides/slide13.xml" Id="R89812a7ef3c14df1" /><Relationship Type="http://schemas.openxmlformats.org/officeDocument/2006/relationships/slide" Target="/ppt/slides/slide14.xml" Id="Rab7e81ad01db423f" /><Relationship Type="http://schemas.openxmlformats.org/officeDocument/2006/relationships/slide" Target="/ppt/slides/slide15.xml" Id="Rc3c4934987d94d5b" /><Relationship Type="http://schemas.openxmlformats.org/officeDocument/2006/relationships/slide" Target="/ppt/slides/slide16.xml" Id="R44b576d0990943f3" /><Relationship Type="http://schemas.openxmlformats.org/officeDocument/2006/relationships/slide" Target="/ppt/slides/slide17.xml" Id="R21e48d94e2744f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89716cda5d40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2d007980584932" /><Relationship Type="http://schemas.openxmlformats.org/officeDocument/2006/relationships/notesMaster" Target="/ppt/notesMasters/notesMaster1.xml" Id="R5c4661132ace4a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6e478d54864b75" /><Relationship Type="http://schemas.openxmlformats.org/officeDocument/2006/relationships/notesMaster" Target="/ppt/notesMasters/notesMaster1.xml" Id="R403c081c508b4f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99d67d4ca8442a" /><Relationship Type="http://schemas.openxmlformats.org/officeDocument/2006/relationships/notesMaster" Target="/ppt/notesMasters/notesMaster1.xml" Id="R575501707c3b4e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18ae0615a94a18" /><Relationship Type="http://schemas.openxmlformats.org/officeDocument/2006/relationships/notesMaster" Target="/ppt/notesMasters/notesMaster1.xml" Id="R1d86c528538143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0a5e3d34d847bc" /><Relationship Type="http://schemas.openxmlformats.org/officeDocument/2006/relationships/notesMaster" Target="/ppt/notesMasters/notesMaster1.xml" Id="Rd62abbe2a02d48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fe2c80e5c44f83" /><Relationship Type="http://schemas.openxmlformats.org/officeDocument/2006/relationships/notesMaster" Target="/ppt/notesMasters/notesMaster1.xml" Id="Rc39c295a4c524c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e6aeb6820946f8" /><Relationship Type="http://schemas.openxmlformats.org/officeDocument/2006/relationships/notesMaster" Target="/ppt/notesMasters/notesMaster1.xml" Id="R08a9b64487c64b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d73617d03c4d1f" /><Relationship Type="http://schemas.openxmlformats.org/officeDocument/2006/relationships/notesMaster" Target="/ppt/notesMasters/notesMaster1.xml" Id="R825ba35139ac4a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2d7dd1db294672" /><Relationship Type="http://schemas.openxmlformats.org/officeDocument/2006/relationships/notesMaster" Target="/ppt/notesMasters/notesMaster1.xml" Id="R9aa74b6689df45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00d85573ee4bd9" /><Relationship Type="http://schemas.openxmlformats.org/officeDocument/2006/relationships/notesMaster" Target="/ppt/notesMasters/notesMaster1.xml" Id="Rdb015eaa356c4f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b0284d66e2433d" /><Relationship Type="http://schemas.openxmlformats.org/officeDocument/2006/relationships/notesMaster" Target="/ppt/notesMasters/notesMaster1.xml" Id="R51ef4098fbce4d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c8403e50004d55" /><Relationship Type="http://schemas.openxmlformats.org/officeDocument/2006/relationships/notesMaster" Target="/ppt/notesMasters/notesMaster1.xml" Id="R30ec7ffcf95542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1e526f062e41ec" /><Relationship Type="http://schemas.openxmlformats.org/officeDocument/2006/relationships/notesMaster" Target="/ppt/notesMasters/notesMaster1.xml" Id="R7e5b66cfb4184e6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bff81a8d5f478f" /><Relationship Type="http://schemas.openxmlformats.org/officeDocument/2006/relationships/notesMaster" Target="/ppt/notesMasters/notesMaster1.xml" Id="R30f4301ea4e94d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88c7e111b34f36" /><Relationship Type="http://schemas.openxmlformats.org/officeDocument/2006/relationships/notesMaster" Target="/ppt/notesMasters/notesMaster1.xml" Id="R2224295e370d433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ed1dc02f9d4a41" /><Relationship Type="http://schemas.openxmlformats.org/officeDocument/2006/relationships/notesMaster" Target="/ppt/notesMasters/notesMaster1.xml" Id="Ra4ba202a29624ac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6b4159ac7694f75" /><Relationship Type="http://schemas.openxmlformats.org/officeDocument/2006/relationships/notesMaster" Target="/ppt/notesMasters/notesMaster1.xml" Id="R63d4013fc79c4e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本讲聚焦“AI 辅助编码、调试与受限 Agent 执行”。封面只保留正式课名，课堂问题从下一页展开。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 9 课判断门：实验规格中“拟用 Agent / 必须人工”的标注是本课直接输入。快问学生标了几个拟用 Agent 步骤，只听回答，不评价。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展示“帮我把 baseline 跑通，看看结果怎么样，有问题就改一下”。让学生指出其中哪些词必须由研究者预先定义。重点不是模型可能犯错，而是出错后没有契约和日志可定位。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generate_summary() 贯穿案例逐项解释五字段。Context 不暴露最终 rubric；可写层只含具体文件；Non-goal 阻止任务膨胀；人工审核点必须停；失败恢复不重试到成功。契约写入 agent-tasks/task-01-generate-summary.md。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Russell, S. &amp; Norvig, P. Artificial Intelligence: A Modern Approach, 4th ed., Chapter 2. Pearson, 2020.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让学生用本页检查自己刚写的五字段：范围是否到具体函数，权限是否到具体路径和命令，验收是否由预设测试与人工核验共同构成，失败是否会停并留记录。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Russell, S. &amp; Norvig, P. Artificial Intelligence: A Modern Approach, 4th ed., Chapter 2. Pearson, 2020.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课的项目级权限矩阵在本课收紧为任务级契约。强调需确认与禁止层：评价协议、失败日志、既有结果和 notes 不能被 Agent 自行改变。让学生检查可写层是否仍写成整个 src/。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Amershi, S. et al. Guidelines for Human-AI Interaction. CHI 2019. DOI: 10.1145/3290605.3300233.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ReAct 描述 reasoning–action–observation 循环；本课只借它解释错误如何在循环中传播。任务契约与日志的作用是定位与阻断，不是承诺 Agent 永不犯错。删除失败日志等同伪造实验记录。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Yao, S. et al. ReAct: Synergizing Reasoning and Acting in Language Models. ICLR 2023.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产生的代码是候选实现。逐项检查 diff 范围、新依赖、禁止层、测试时序与覆盖、Non-goal，以及 commit message 是否把推断写成事实。任一项不通过，diff 不进入项目。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投屏三段教学 diff：修改分支条件、注释断言、调整 baseline 温度。让学生判断三类处理。绕过失败隐藏记录，污染实验混淆方法与评价效应；二者都不允许进入项目。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SWE-bench 将“解决”定义为指定测试通过，而不是代码看起来合理或 Agent 声称完成。本课借用任务构造和测试判定视角；课程项目测试通常更弱，所以必须追加人工核验。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Jimenez, C. E. et al. SWE-bench: Can Language Models Resolve Real-World GitHub Issues? ICLR 2024. https://www.swebench.com/original.html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先从第 9 课实验规格选择“步骤 3 分别生成”，再写五字段契约。强调 Context 不暴露最终 rubric；可写层只到 generate.py；configs 在需确认层，结果、rubric、notes 在禁止层。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直接打开课次 assets/agent-task-example/ 中的 generate.diff、test-output.txt 与 failure-log.md。真实 unittest 运行输出为 2 tests OK。成功 diff 与失败记录一起留存。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/Users/bright/Projects/courses/graduate/lessons/lesson-10/assets/agent-task-example/generate.diff</a:t>
            </a:r>
          </a:p>
          <a:p xmlns:a="http://schemas.openxmlformats.org/drawingml/2006/main">
            <a:r>
              <a:t>- /Users/bright/Projects/courses/graduate/lessons/lesson-10/assets/agent-task-example/test-output.txt</a:t>
            </a:r>
          </a:p>
          <a:p xmlns:a="http://schemas.openxmlformats.org/drawingml/2006/main">
            <a:r>
              <a:t>- /Users/bright/Projects/courses/graduate/lessons/lesson-10/assets/agent-task-example/failure-log.md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40:00–43:00 发布任务，随后切换 P14 停留。环境故障时直接审查 assets/agent-task-example/ 中的可核验工件，两条路径都完成同一套五步最小闭环。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本页停留到 60:00。学生可照抄写入结构；教师巡视只处理共同卡点，不逐台排障。任务契约与失败记录必须在课堂启动，Agent 执行可在合规环境中课后补做。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60:00–78:00 同伴互查。重点检查 Permission、人工审核点与 diff 范围，其余项确认已存在。反馈者只提问题；作者独立决定并记录采纳、暂不采纳或待核验。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/Users/bright/Projects/courses/graduate/lessons/lesson-10/teaching-plan.md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78:00–90:00 收束。学生只要完成五字段契约、diff 六项、至少一条失败记录和一条 AI 使用记录，就建立了第 11 课循环的起点。下一课增加固定指标、预算、停止条件与回退机制。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/Users/bright/Projects/courses/graduate/lessons/lesson-10/slides.md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111632f12141d7" /><Relationship Type="http://schemas.openxmlformats.org/officeDocument/2006/relationships/image" Target="/ppt/media/image.png" Id="R16057e02e3d54a38" /><Relationship Type="http://schemas.openxmlformats.org/officeDocument/2006/relationships/image" Target="/ppt/media/image2.png" Id="Rb14fd00305aa4162" /><Relationship Type="http://schemas.openxmlformats.org/officeDocument/2006/relationships/image" Target="/ppt/media/image3.png" Id="R060fac9f96624e5c" /><Relationship Type="http://schemas.openxmlformats.org/officeDocument/2006/relationships/image" Target="/ppt/media/image4.png" Id="R2789f019f2cc46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30c7eda7704d3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7a70fc011347f6" /><Relationship Type="http://schemas.openxmlformats.org/officeDocument/2006/relationships/image" Target="/ppt/media/image2.png" Id="Reb26aa72531c4414" /><Relationship Type="http://schemas.openxmlformats.org/officeDocument/2006/relationships/image" Target="/ppt/media/image5.png" Id="R3e905216ed834ec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e7f68785924010" /><Relationship Type="http://schemas.openxmlformats.org/officeDocument/2006/relationships/image" Target="/ppt/media/image.png" Id="R7cd9b4519d5a437a" /><Relationship Type="http://schemas.openxmlformats.org/officeDocument/2006/relationships/image" Target="/ppt/media/image3.png" Id="R2bedd386bbdc43b9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57e02e3d54a38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4fd00305aa416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0fac9f96624e5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89f019f2cc46b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26aa72531c4414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05216ed834e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9b4519d5a437a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edd386bbdc43b9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fd9e16fbea470a" /><Relationship Type="http://schemas.openxmlformats.org/officeDocument/2006/relationships/slideLayout" Target="/ppt/slideLayouts/slideLayout1.xml" Id="R6c3fb7840c2a472f" /><Relationship Type="http://schemas.openxmlformats.org/officeDocument/2006/relationships/slideLayout" Target="/ppt/slideLayouts/slideLayout2.xml" Id="R9836c1a86eec403b" /><Relationship Type="http://schemas.openxmlformats.org/officeDocument/2006/relationships/slideLayout" Target="/ppt/slideLayouts/slideLayout3.xml" Id="Rfa963669f8734801" /><Relationship Type="http://schemas.openxmlformats.org/officeDocument/2006/relationships/slideLayout" Target="/ppt/slideLayouts/slideLayout4.xml" Id="R952d2361d49e496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3fb7840c2a472f"/>
    <p:sldLayoutId xmlns:r="http://schemas.openxmlformats.org/officeDocument/2006/relationships" id="2147483650" r:id="R9836c1a86eec403b"/>
    <p:sldLayoutId xmlns:r="http://schemas.openxmlformats.org/officeDocument/2006/relationships" id="2147483651" r:id="Rfa963669f8734801"/>
    <p:sldLayoutId xmlns:r="http://schemas.openxmlformats.org/officeDocument/2006/relationships" id="2147483652" r:id="R952d2361d49e496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f0235aa1441fd" /><Relationship Type="http://schemas.openxmlformats.org/officeDocument/2006/relationships/notesSlide" Target="/ppt/notesSlides/notesSlide1.xml" Id="R56ec113ced1d45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dcee6c3cc54ed8" /><Relationship Type="http://schemas.openxmlformats.org/officeDocument/2006/relationships/notesSlide" Target="/ppt/notesSlides/notesSlide2.xml" Id="R6dafd5e714a340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1ec63152fed4647" /><Relationship Type="http://schemas.openxmlformats.org/officeDocument/2006/relationships/notesSlide" Target="/ppt/notesSlides/notesSlide3.xml" Id="R972c747b283343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13848f551b45ba" /><Relationship Type="http://schemas.openxmlformats.org/officeDocument/2006/relationships/notesSlide" Target="/ppt/notesSlides/notesSlide4.xml" Id="Rf838a2fa66b741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2fbaeb9fb24d8d" /><Relationship Type="http://schemas.openxmlformats.org/officeDocument/2006/relationships/notesSlide" Target="/ppt/notesSlides/notesSlide5.xml" Id="R97f68f31b4904f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b4509d265b46fa" /><Relationship Type="http://schemas.openxmlformats.org/officeDocument/2006/relationships/notesSlide" Target="/ppt/notesSlides/notesSlide6.xml" Id="Rde4f1e888dcb49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f36b12b4feb4a0d" /><Relationship Type="http://schemas.openxmlformats.org/officeDocument/2006/relationships/notesSlide" Target="/ppt/notesSlides/notesSlide7.xml" Id="Rd4f2df79e56540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e468ed0f164a15" /><Relationship Type="http://schemas.openxmlformats.org/officeDocument/2006/relationships/notesSlide" Target="/ppt/notesSlides/notesSlide8.xml" Id="Rfaeeb15531f749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15aa3a6cef40ea" /><Relationship Type="http://schemas.openxmlformats.org/officeDocument/2006/relationships/notesSlide" Target="/ppt/notesSlides/notesSlide9.xml" Id="R9f0957c4adb645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97eda8e5864c51" /><Relationship Type="http://schemas.openxmlformats.org/officeDocument/2006/relationships/notesSlide" Target="/ppt/notesSlides/notesSlide10.xml" Id="R5686a59a05a54c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52d7036a864565" /><Relationship Type="http://schemas.openxmlformats.org/officeDocument/2006/relationships/notesSlide" Target="/ppt/notesSlides/notesSlide11.xml" Id="R883b2648aac046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cea24e700524e95" /><Relationship Type="http://schemas.openxmlformats.org/officeDocument/2006/relationships/notesSlide" Target="/ppt/notesSlides/notesSlide12.xml" Id="R4c7408d4039f499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f9a4ae6b7b4ac9" /><Relationship Type="http://schemas.openxmlformats.org/officeDocument/2006/relationships/notesSlide" Target="/ppt/notesSlides/notesSlide13.xml" Id="R5466f873cf7d41b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5a4e1a389004922" /><Relationship Type="http://schemas.openxmlformats.org/officeDocument/2006/relationships/notesSlide" Target="/ppt/notesSlides/notesSlide14.xml" Id="R224c59bccd1c40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9548cf68fe4f45" /><Relationship Type="http://schemas.openxmlformats.org/officeDocument/2006/relationships/notesSlide" Target="/ppt/notesSlides/notesSlide15.xml" Id="R7d7a4f87da534b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c088129be24b30" /><Relationship Type="http://schemas.openxmlformats.org/officeDocument/2006/relationships/notesSlide" Target="/ppt/notesSlides/notesSlide16.xml" Id="Rd65bcc25cdb24f5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da1ebaec9b64275" /><Relationship Type="http://schemas.openxmlformats.org/officeDocument/2006/relationships/notesSlide" Target="/ppt/notesSlides/notesSlide17.xml" Id="Rc50d6a9337a746d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第10讲 AI 辅助编码、调试与受限 Agent 执行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9 课之后，实验规格还没有约束 Agent 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EE9107FE-F7D1-4F93-BE51-15B3F50F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9 课已建立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6C530BD-F2E5-4426-9807-8C05156C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七字段实验规格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baseline + J1/J2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3F6E9C85-4795-4419-B219-3BAEA8CF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复现说明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环境 + 配置 + 种子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847DE9E6-69C5-4EA3-924A-8ECD64C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步骤已标注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拟用 Agent / 必须人工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979165E0-986D-4A0E-B177-BE233DB7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91000" y="2962275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ot-equal">
            <a:extLst xmlns:a="http://schemas.openxmlformats.org/drawingml/2006/main">
              <a:ext uri="{FF2B5EF4-FFF2-40B4-BE49-F238E27FC236}">
                <a16:creationId xmlns:a16="http://schemas.microsoft.com/office/drawing/2014/main" id="{F4AF62FE-4181-447D-B08E-8C876279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76500"/>
            <a:ext cx="8953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A555259C-E2FB-4D6C-AEC4-5F3FEB86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本课必须补上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E9CD1226-7146-4B2B-8114-CA8574D4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 任务契约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五字段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D403F129-E913-412C-8D8A-FD1BD08D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 受限执行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diff + 测试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42BE3316-0B30-4C19-85DF-F6B1A3C5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 可复盘 trace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验证 + 失败记录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AB29C84D-7416-4005-A4F4-B6DE00A6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实验可执行 ≠ Agent 可放权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模糊 prompt 的问题不是可能出错，而是出错后无法追溯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b-0">
            <a:extLst xmlns:a="http://schemas.openxmlformats.org/drawingml/2006/main">
              <a:ext uri="{FF2B5EF4-FFF2-40B4-BE49-F238E27FC236}">
                <a16:creationId xmlns:a16="http://schemas.microsoft.com/office/drawing/2014/main" id="{A53BF1C4-3789-4A8D-90E6-CBA575C0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C2F0CC4D-229B-4401-9AF9-CB2CF275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“跑通”＝改到能跑？</a:t>
            </a:r>
          </a:p>
        </p:txBody>
      </p:sp>
      <p:sp>
        <p:nvSpPr>
          <p:cNvPr id="8" name="p03-b-1">
            <a:extLst xmlns:a="http://schemas.openxmlformats.org/drawingml/2006/main">
              <a:ext uri="{FF2B5EF4-FFF2-40B4-BE49-F238E27FC236}">
                <a16:creationId xmlns:a16="http://schemas.microsoft.com/office/drawing/2014/main" id="{D01401FF-6B12-41B1-8A30-0168EA08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AC06FE97-EBE1-4B11-B817-34D69D54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“结果”＝单次差异？</a:t>
            </a:r>
          </a:p>
        </p:txBody>
      </p:sp>
      <p:sp>
        <p:nvSpPr>
          <p:cNvPr id="10" name="p03-b-2">
            <a:extLst xmlns:a="http://schemas.openxmlformats.org/drawingml/2006/main">
              <a:ext uri="{FF2B5EF4-FFF2-40B4-BE49-F238E27FC236}">
                <a16:creationId xmlns:a16="http://schemas.microsoft.com/office/drawing/2014/main" id="{E96B36C5-E59A-4A26-A96D-61EDAF1C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1214C1D0-672B-4496-BFF9-E408638D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“有问题”＝测试失败？</a:t>
            </a:r>
          </a:p>
        </p:txBody>
      </p:sp>
      <p:sp>
        <p:nvSpPr>
          <p:cNvPr id="12" name="p03-b-3">
            <a:extLst xmlns:a="http://schemas.openxmlformats.org/drawingml/2006/main">
              <a:ext uri="{FF2B5EF4-FFF2-40B4-BE49-F238E27FC236}">
                <a16:creationId xmlns:a16="http://schemas.microsoft.com/office/drawing/2014/main" id="{7E21DCFA-546A-4230-AC75-FDD229B7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3A3BB176-899F-4A77-9402-54C7DB67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“改一下”＝改方法还是评价？</a:t>
            </a:r>
          </a:p>
        </p:txBody>
      </p:sp>
      <p:sp>
        <p:nvSpPr>
          <p:cNvPr id="14" name="p03-b-4">
            <a:extLst xmlns:a="http://schemas.openxmlformats.org/drawingml/2006/main">
              <a:ext uri="{FF2B5EF4-FFF2-40B4-BE49-F238E27FC236}">
                <a16:creationId xmlns:a16="http://schemas.microsoft.com/office/drawing/2014/main" id="{6FE613DC-C69E-4318-A53B-5B0A666C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02631CAF-3955-4A29-978C-580C1B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越权访问其他目录？</a:t>
            </a:r>
          </a:p>
        </p:txBody>
      </p:sp>
      <p:sp>
        <p:nvSpPr>
          <p:cNvPr id="16" name="p03-b-5">
            <a:extLst xmlns:a="http://schemas.openxmlformats.org/drawingml/2006/main">
              <a:ext uri="{FF2B5EF4-FFF2-40B4-BE49-F238E27FC236}">
                <a16:creationId xmlns:a16="http://schemas.microsoft.com/office/drawing/2014/main" id="{AC450CF2-5CBE-4DF8-8831-1A46BFB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1FBECE58-2AF3-415F-A4C3-32A53633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重试到结果好看？</a:t>
            </a:r>
          </a:p>
        </p:txBody>
      </p:sp>
      <p:sp>
        <p:nvSpPr>
          <p:cNvPr id="18" name="p03-separator">
            <a:extLst xmlns:a="http://schemas.openxmlformats.org/drawingml/2006/main">
              <a:ext uri="{FF2B5EF4-FFF2-40B4-BE49-F238E27FC236}">
                <a16:creationId xmlns:a16="http://schemas.microsoft.com/office/drawing/2014/main" id="{FAE759D5-478A-4854-A905-3CF6285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762250"/>
            <a:ext cx="344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B3D47DF6-576C-493E-A794-FDE71B8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66800"/>
            <a:ext cx="299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可能发生</a:t>
            </a:r>
          </a:p>
        </p:txBody>
      </p:sp>
      <p:sp>
        <p:nvSpPr>
          <p:cNvPr id="20" name="p03-output">
            <a:extLst xmlns:a="http://schemas.openxmlformats.org/drawingml/2006/main">
              <a:ext uri="{FF2B5EF4-FFF2-40B4-BE49-F238E27FC236}">
                <a16:creationId xmlns:a16="http://schemas.microsoft.com/office/drawing/2014/main" id="{1BF29DBD-05CB-4041-8F03-81B233DE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276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修改无关代码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跳过失败测试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改变评价协议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把运行差异当效应</a:t>
            </a:r>
          </a:p>
        </p:txBody>
      </p:sp>
      <p:sp>
        <p:nvSpPr>
          <p:cNvPr id="21" name="p03-minimum">
            <a:extLst xmlns:a="http://schemas.openxmlformats.org/drawingml/2006/main">
              <a:ext uri="{FF2B5EF4-FFF2-40B4-BE49-F238E27FC236}">
                <a16:creationId xmlns:a16="http://schemas.microsoft.com/office/drawing/2014/main" id="{B32198E6-BF51-48B0-94E9-0FD3BBE4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27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 / 权限 / 验收 / 失败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都没有预先写明</a:t>
            </a:r>
          </a:p>
        </p:txBody>
      </p:sp>
      <p:sp>
        <p:nvSpPr>
          <p:cNvPr id="22" name="p03-bottom">
            <a:extLst xmlns:a="http://schemas.openxmlformats.org/drawingml/2006/main">
              <a:ext uri="{FF2B5EF4-FFF2-40B4-BE49-F238E27FC236}">
                <a16:creationId xmlns:a16="http://schemas.microsoft.com/office/drawing/2014/main" id="{6385F2FE-D8B1-4793-8229-D7679518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模糊 prompt 的核心风险：研究者无法判断结果是否仍属于当前实验。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任务契约让 Agent 的每一步都有可检查边界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rediction">
            <a:extLst xmlns:a="http://schemas.openxmlformats.org/drawingml/2006/main">
              <a:ext uri="{FF2B5EF4-FFF2-40B4-BE49-F238E27FC236}">
                <a16:creationId xmlns:a16="http://schemas.microsoft.com/office/drawing/2014/main" id="{C67761C8-26B9-490A-9740-023586A1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524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看什么、对应哪一步</a:t>
            </a:r>
          </a:p>
        </p:txBody>
      </p:sp>
      <p:sp>
        <p:nvSpPr>
          <p:cNvPr id="7" name="p04-vs">
            <a:extLst xmlns:a="http://schemas.openxmlformats.org/drawingml/2006/main">
              <a:ext uri="{FF2B5EF4-FFF2-40B4-BE49-F238E27FC236}">
                <a16:creationId xmlns:a16="http://schemas.microsoft.com/office/drawing/2014/main" id="{CAA53DAC-51D9-4DD7-A651-AFE1224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3144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写清任务边界</a:t>
            </a:r>
          </a:p>
        </p:txBody>
      </p:sp>
      <p:sp>
        <p:nvSpPr>
          <p:cNvPr id="8" name="p04-mechanism">
            <a:extLst xmlns:a="http://schemas.openxmlformats.org/drawingml/2006/main">
              <a:ext uri="{FF2B5EF4-FFF2-40B4-BE49-F238E27FC236}">
                <a16:creationId xmlns:a16="http://schemas.microsoft.com/office/drawing/2014/main" id="{8190F934-831D-4054-9793-9B10465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066800"/>
            <a:ext cx="45148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Permission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只读 / 可写 / 可执行 / 需确认 / 禁止</a:t>
            </a:r>
          </a:p>
        </p:txBody>
      </p:sp>
      <p:sp>
        <p:nvSpPr>
          <p:cNvPr id="9" name="p04-chain-1">
            <a:extLst xmlns:a="http://schemas.openxmlformats.org/drawingml/2006/main">
              <a:ext uri="{FF2B5EF4-FFF2-40B4-BE49-F238E27FC236}">
                <a16:creationId xmlns:a16="http://schemas.microsoft.com/office/drawing/2014/main" id="{AADCA935-A870-475D-B7DB-EB7C00B0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chain-2">
            <a:extLst xmlns:a="http://schemas.openxmlformats.org/drawingml/2006/main">
              <a:ext uri="{FF2B5EF4-FFF2-40B4-BE49-F238E27FC236}">
                <a16:creationId xmlns:a16="http://schemas.microsoft.com/office/drawing/2014/main" id="{23D919C7-9DD6-45CB-A2AE-266EC5B6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64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chain-node-0">
            <a:extLst xmlns:a="http://schemas.openxmlformats.org/drawingml/2006/main">
              <a:ext uri="{FF2B5EF4-FFF2-40B4-BE49-F238E27FC236}">
                <a16:creationId xmlns:a16="http://schemas.microsoft.com/office/drawing/2014/main" id="{BBB3C465-2F5E-437E-B13E-A4905F09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Non-goal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明确不做</a:t>
            </a:r>
          </a:p>
        </p:txBody>
      </p:sp>
      <p:sp>
        <p:nvSpPr>
          <p:cNvPr id="12" name="p04-chain-node-1">
            <a:extLst xmlns:a="http://schemas.openxmlformats.org/drawingml/2006/main">
              <a:ext uri="{FF2B5EF4-FFF2-40B4-BE49-F238E27FC236}">
                <a16:creationId xmlns:a16="http://schemas.microsoft.com/office/drawing/2014/main" id="{0E4FA7D0-1A91-4BED-9E5D-31F475B3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人工审核点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停下来确认</a:t>
            </a:r>
          </a:p>
        </p:txBody>
      </p:sp>
      <p:sp>
        <p:nvSpPr>
          <p:cNvPr id="13" name="p04-chain-node-2">
            <a:extLst xmlns:a="http://schemas.openxmlformats.org/drawingml/2006/main">
              <a:ext uri="{FF2B5EF4-FFF2-40B4-BE49-F238E27FC236}">
                <a16:creationId xmlns:a16="http://schemas.microsoft.com/office/drawing/2014/main" id="{DF99B12A-DB62-48B4-BB2A-B5F3737E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终止 · 记录 · 拒绝</a:t>
            </a:r>
          </a:p>
        </p:txBody>
      </p:sp>
      <p:sp>
        <p:nvSpPr>
          <p:cNvPr id="14" name="p04-e-label-0">
            <a:extLst xmlns:a="http://schemas.openxmlformats.org/drawingml/2006/main">
              <a:ext uri="{FF2B5EF4-FFF2-40B4-BE49-F238E27FC236}">
                <a16:creationId xmlns:a16="http://schemas.microsoft.com/office/drawing/2014/main" id="{F3DDAA3A-81E9-4BC1-8EB7-694C9CD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15" name="p04-e-detail-0">
            <a:extLst xmlns:a="http://schemas.openxmlformats.org/drawingml/2006/main">
              <a:ext uri="{FF2B5EF4-FFF2-40B4-BE49-F238E27FC236}">
                <a16:creationId xmlns:a16="http://schemas.microsoft.com/office/drawing/2014/main" id="{CC48DD47-E89D-44F7-B83E-E6F73F26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generate.py</a:t>
            </a:r>
          </a:p>
        </p:txBody>
      </p:sp>
      <p:sp>
        <p:nvSpPr>
          <p:cNvPr id="16" name="p04-e-label-1">
            <a:extLst xmlns:a="http://schemas.openxmlformats.org/drawingml/2006/main">
              <a:ext uri="{FF2B5EF4-FFF2-40B4-BE49-F238E27FC236}">
                <a16:creationId xmlns:a16="http://schemas.microsoft.com/office/drawing/2014/main" id="{93B91202-ABD3-4679-AD9A-374B1ABF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</a:t>
            </a:r>
          </a:p>
        </p:txBody>
      </p:sp>
      <p:sp>
        <p:nvSpPr>
          <p:cNvPr id="17" name="p04-e-detail-1">
            <a:extLst xmlns:a="http://schemas.openxmlformats.org/drawingml/2006/main">
              <a:ext uri="{FF2B5EF4-FFF2-40B4-BE49-F238E27FC236}">
                <a16:creationId xmlns:a16="http://schemas.microsoft.com/office/drawing/2014/main" id="{23E99FB8-4391-41BA-A586-BB368BB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 pytest</a:t>
            </a:r>
          </a:p>
        </p:txBody>
      </p:sp>
      <p:sp>
        <p:nvSpPr>
          <p:cNvPr id="18" name="p04-e-label-2">
            <a:extLst xmlns:a="http://schemas.openxmlformats.org/drawingml/2006/main">
              <a:ext uri="{FF2B5EF4-FFF2-40B4-BE49-F238E27FC236}">
                <a16:creationId xmlns:a16="http://schemas.microsoft.com/office/drawing/2014/main" id="{4F9FCD2B-8A72-4728-A0BD-D12F9F53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需确认</a:t>
            </a:r>
          </a:p>
        </p:txBody>
      </p:sp>
      <p:sp>
        <p:nvSpPr>
          <p:cNvPr id="19" name="p04-e-detail-2">
            <a:extLst xmlns:a="http://schemas.openxmlformats.org/drawingml/2006/main">
              <a:ext uri="{FF2B5EF4-FFF2-40B4-BE49-F238E27FC236}">
                <a16:creationId xmlns:a16="http://schemas.microsoft.com/office/drawing/2014/main" id="{E924B18D-DB4F-4A8E-A168-81A82BC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configs/</a:t>
            </a:r>
          </a:p>
        </p:txBody>
      </p:sp>
      <p:sp>
        <p:nvSpPr>
          <p:cNvPr id="20" name="p04-e-label-3">
            <a:extLst xmlns:a="http://schemas.openxmlformats.org/drawingml/2006/main">
              <a:ext uri="{FF2B5EF4-FFF2-40B4-BE49-F238E27FC236}">
                <a16:creationId xmlns:a16="http://schemas.microsoft.com/office/drawing/2014/main" id="{34E80374-E6ED-4805-94F7-790775C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21" name="p04-e-detail-3">
            <a:extLst xmlns:a="http://schemas.openxmlformats.org/drawingml/2006/main">
              <a:ext uri="{FF2B5EF4-FFF2-40B4-BE49-F238E27FC236}">
                <a16:creationId xmlns:a16="http://schemas.microsoft.com/office/drawing/2014/main" id="{CEA41BB2-3172-4D05-B23E-EB28731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 / rubric</a:t>
            </a:r>
          </a:p>
        </p:txBody>
      </p:sp>
      <p:sp>
        <p:nvSpPr>
          <p:cNvPr id="22" name="p04-errors">
            <a:extLst xmlns:a="http://schemas.openxmlformats.org/drawingml/2006/main">
              <a:ext uri="{FF2B5EF4-FFF2-40B4-BE49-F238E27FC236}">
                <a16:creationId xmlns:a16="http://schemas.microsoft.com/office/drawing/2014/main" id="{A42C9100-C34C-4FCB-B7D1-1FD1D6F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任务契约是可被独立检查者复核的工件，不是写得更长的 prompt。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任务契约把模糊请求改造成可追溯执行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ine-left">
            <a:extLst xmlns:a="http://schemas.openxmlformats.org/drawingml/2006/main">
              <a:ext uri="{FF2B5EF4-FFF2-40B4-BE49-F238E27FC236}">
                <a16:creationId xmlns:a16="http://schemas.microsoft.com/office/drawing/2014/main" id="{0DD1B5E0-E682-46F7-A521-95A0528E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1404">
            <a:off x="2633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5-line-mid">
            <a:extLst xmlns:a="http://schemas.openxmlformats.org/drawingml/2006/main">
              <a:ext uri="{FF2B5EF4-FFF2-40B4-BE49-F238E27FC236}">
                <a16:creationId xmlns:a16="http://schemas.microsoft.com/office/drawing/2014/main" id="{ED160058-FA6B-40CA-BA2E-65EEC790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53100" y="2652713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5-line-right">
            <a:extLst xmlns:a="http://schemas.openxmlformats.org/drawingml/2006/main">
              <a:ext uri="{FF2B5EF4-FFF2-40B4-BE49-F238E27FC236}">
                <a16:creationId xmlns:a16="http://schemas.microsoft.com/office/drawing/2014/main" id="{BCE378CE-5B82-445A-9588-D48C9FD4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8596">
            <a:off x="6062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main">
            <a:extLst xmlns:a="http://schemas.openxmlformats.org/drawingml/2006/main">
              <a:ext uri="{FF2B5EF4-FFF2-40B4-BE49-F238E27FC236}">
                <a16:creationId xmlns:a16="http://schemas.microsoft.com/office/drawing/2014/main" id="{A1820B40-0FDE-4874-91C0-EB7F0A3C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066800"/>
            <a:ext cx="5486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模糊 prompt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范围、权限、验收、失败处理未声明</a:t>
            </a:r>
          </a:p>
        </p:txBody>
      </p:sp>
      <p:sp>
        <p:nvSpPr>
          <p:cNvPr id="10" name="p05-alt-0">
            <a:extLst xmlns:a="http://schemas.openxmlformats.org/drawingml/2006/main">
              <a:ext uri="{FF2B5EF4-FFF2-40B4-BE49-F238E27FC236}">
                <a16:creationId xmlns:a16="http://schemas.microsoft.com/office/drawing/2014/main" id="{797ACF48-5864-4C01-BFD6-36603501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具体函数与步骤</a:t>
            </a:r>
          </a:p>
        </p:txBody>
      </p:sp>
      <p:sp>
        <p:nvSpPr>
          <p:cNvPr id="11" name="p05-alt-1">
            <a:extLst xmlns:a="http://schemas.openxmlformats.org/drawingml/2006/main">
              <a:ext uri="{FF2B5EF4-FFF2-40B4-BE49-F238E27FC236}">
                <a16:creationId xmlns:a16="http://schemas.microsoft.com/office/drawing/2014/main" id="{2E24D3E3-CA90-4535-9E33-BCB071B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权限 + 验收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五层权限 + 指定测试</a:t>
            </a:r>
          </a:p>
        </p:txBody>
      </p:sp>
      <p:sp>
        <p:nvSpPr>
          <p:cNvPr id="12" name="p05-alt-2">
            <a:extLst xmlns:a="http://schemas.openxmlformats.org/drawingml/2006/main">
              <a:ext uri="{FF2B5EF4-FFF2-40B4-BE49-F238E27FC236}">
                <a16:creationId xmlns:a16="http://schemas.microsoft.com/office/drawing/2014/main" id="{F85333A9-5640-464B-B277-06FF5CAF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失败处理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终止、拒绝、留日志</a:t>
            </a:r>
          </a:p>
        </p:txBody>
      </p:sp>
      <p:sp>
        <p:nvSpPr>
          <p:cNvPr id="13" name="p05-definition">
            <a:extLst xmlns:a="http://schemas.openxmlformats.org/drawingml/2006/main">
              <a:ext uri="{FF2B5EF4-FFF2-40B4-BE49-F238E27FC236}">
                <a16:creationId xmlns:a16="http://schemas.microsoft.com/office/drawing/2014/main" id="{26D0B2DD-D456-4239-BC53-53BF79F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执行 trace：契约 + diff + 日志 + 人工核验一一对应。</a:t>
            </a:r>
          </a:p>
        </p:txBody>
      </p:sp>
      <p:sp>
        <p:nvSpPr>
          <p:cNvPr id="14" name="p05-eliminate">
            <a:extLst xmlns:a="http://schemas.openxmlformats.org/drawingml/2006/main">
              <a:ext uri="{FF2B5EF4-FFF2-40B4-BE49-F238E27FC236}">
                <a16:creationId xmlns:a16="http://schemas.microsoft.com/office/drawing/2014/main" id="{E9D8A878-E561-42D9-95B5-6CF02BD4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629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任务契约让推理、行动与观察留下可复盘边界；错误传播因此可被观察。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权限必须落到任务级，审核点必须真正停下来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-0">
            <a:extLst xmlns:a="http://schemas.openxmlformats.org/drawingml/2006/main">
              <a:ext uri="{FF2B5EF4-FFF2-40B4-BE49-F238E27FC236}">
                <a16:creationId xmlns:a16="http://schemas.microsoft.com/office/drawing/2014/main" id="{4DA5BF2D-718C-409A-B220-79B494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7" name="p06-type-0">
            <a:extLst xmlns:a="http://schemas.openxmlformats.org/drawingml/2006/main">
              <a:ext uri="{FF2B5EF4-FFF2-40B4-BE49-F238E27FC236}">
                <a16:creationId xmlns:a16="http://schemas.microsoft.com/office/drawing/2014/main" id="{39AABC17-9EEE-48FB-8DCA-2ACDC468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理解 Context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规格 / 证据地图</a:t>
            </a:r>
          </a:p>
        </p:txBody>
      </p:sp>
      <p:sp>
        <p:nvSpPr>
          <p:cNvPr id="8" name="p06-label-1">
            <a:extLst xmlns:a="http://schemas.openxmlformats.org/drawingml/2006/main">
              <a:ext uri="{FF2B5EF4-FFF2-40B4-BE49-F238E27FC236}">
                <a16:creationId xmlns:a16="http://schemas.microsoft.com/office/drawing/2014/main" id="{9B575EAA-1EB5-4085-8267-362EED6D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9" name="p06-type-1">
            <a:extLst xmlns:a="http://schemas.openxmlformats.org/drawingml/2006/main">
              <a:ext uri="{FF2B5EF4-FFF2-40B4-BE49-F238E27FC236}">
                <a16:creationId xmlns:a16="http://schemas.microsoft.com/office/drawing/2014/main" id="{68458D5B-53C2-4226-804A-430F238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仅修改具体文件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src/generate.py</a:t>
            </a:r>
          </a:p>
        </p:txBody>
      </p:sp>
      <p:sp>
        <p:nvSpPr>
          <p:cNvPr id="10" name="p06-label-2">
            <a:extLst xmlns:a="http://schemas.openxmlformats.org/drawingml/2006/main">
              <a:ext uri="{FF2B5EF4-FFF2-40B4-BE49-F238E27FC236}">
                <a16:creationId xmlns:a16="http://schemas.microsoft.com/office/drawing/2014/main" id="{D2F9B52A-C929-4A57-80BC-4717474A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</a:t>
            </a:r>
          </a:p>
        </p:txBody>
      </p:sp>
      <p:sp>
        <p:nvSpPr>
          <p:cNvPr id="11" name="p06-type-2">
            <a:extLst xmlns:a="http://schemas.openxmlformats.org/drawingml/2006/main">
              <a:ext uri="{FF2B5EF4-FFF2-40B4-BE49-F238E27FC236}">
                <a16:creationId xmlns:a16="http://schemas.microsoft.com/office/drawing/2014/main" id="{A75D245C-F0BD-46BB-B631-C1344DD7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仅运行明确命令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指定 pytest</a:t>
            </a:r>
          </a:p>
        </p:txBody>
      </p:sp>
      <p:sp>
        <p:nvSpPr>
          <p:cNvPr id="12" name="p06-label-3">
            <a:extLst xmlns:a="http://schemas.openxmlformats.org/drawingml/2006/main">
              <a:ext uri="{FF2B5EF4-FFF2-40B4-BE49-F238E27FC236}">
                <a16:creationId xmlns:a16="http://schemas.microsoft.com/office/drawing/2014/main" id="{F507D663-5753-4FB3-9A8E-888A60E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需确认 / 禁止</a:t>
            </a:r>
          </a:p>
        </p:txBody>
      </p:sp>
      <p:sp>
        <p:nvSpPr>
          <p:cNvPr id="13" name="p06-type-3">
            <a:extLst xmlns:a="http://schemas.openxmlformats.org/drawingml/2006/main">
              <a:ext uri="{FF2B5EF4-FFF2-40B4-BE49-F238E27FC236}">
                <a16:creationId xmlns:a16="http://schemas.microsoft.com/office/drawing/2014/main" id="{1AB5DEF4-C166-440A-BD69-B92B0D05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configs 需确认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评价 / 结果 / notes 禁止</a:t>
            </a:r>
          </a:p>
        </p:txBody>
      </p:sp>
      <p:sp>
        <p:nvSpPr>
          <p:cNvPr id="14" name="p06-record-title">
            <a:extLst xmlns:a="http://schemas.openxmlformats.org/drawingml/2006/main">
              <a:ext uri="{FF2B5EF4-FFF2-40B4-BE49-F238E27FC236}">
                <a16:creationId xmlns:a16="http://schemas.microsoft.com/office/drawing/2014/main" id="{04D2337F-7919-4EB0-A8AD-EAF4DBA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人工审核点：不是跑完再看一眼</a:t>
            </a:r>
          </a:p>
        </p:txBody>
      </p:sp>
      <p:sp>
        <p:nvSpPr>
          <p:cNvPr id="15" name="p06-field-label-0">
            <a:extLst xmlns:a="http://schemas.openxmlformats.org/drawingml/2006/main">
              <a:ext uri="{FF2B5EF4-FFF2-40B4-BE49-F238E27FC236}">
                <a16:creationId xmlns:a16="http://schemas.microsoft.com/office/drawing/2014/main" id="{A5C85025-1E26-4629-BE59-CC06899C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diff 写回前</a:t>
            </a:r>
          </a:p>
        </p:txBody>
      </p:sp>
      <p:sp>
        <p:nvSpPr>
          <p:cNvPr id="16" name="p06-field-detail-0">
            <a:extLst xmlns:a="http://schemas.openxmlformats.org/drawingml/2006/main">
              <a:ext uri="{FF2B5EF4-FFF2-40B4-BE49-F238E27FC236}">
                <a16:creationId xmlns:a16="http://schemas.microsoft.com/office/drawing/2014/main" id="{87A65883-3699-497F-9C2F-953361EA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核验范围</a:t>
            </a:r>
          </a:p>
        </p:txBody>
      </p:sp>
      <p:sp>
        <p:nvSpPr>
          <p:cNvPr id="17" name="p06-field-label-1">
            <a:extLst xmlns:a="http://schemas.openxmlformats.org/drawingml/2006/main">
              <a:ext uri="{FF2B5EF4-FFF2-40B4-BE49-F238E27FC236}">
                <a16:creationId xmlns:a16="http://schemas.microsoft.com/office/drawing/2014/main" id="{E8E962C3-E940-4679-8AE9-0D8A188B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测试失败时</a:t>
            </a:r>
          </a:p>
        </p:txBody>
      </p:sp>
      <p:sp>
        <p:nvSpPr>
          <p:cNvPr id="18" name="p06-field-detail-1">
            <a:extLst xmlns:a="http://schemas.openxmlformats.org/drawingml/2006/main">
              <a:ext uri="{FF2B5EF4-FFF2-40B4-BE49-F238E27FC236}">
                <a16:creationId xmlns:a16="http://schemas.microsoft.com/office/drawing/2014/main" id="{D456CCC2-6839-4EA5-8D33-07644CA6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停并记录</a:t>
            </a:r>
          </a:p>
        </p:txBody>
      </p:sp>
      <p:sp>
        <p:nvSpPr>
          <p:cNvPr id="19" name="p06-field-label-2">
            <a:extLst xmlns:a="http://schemas.openxmlformats.org/drawingml/2006/main">
              <a:ext uri="{FF2B5EF4-FFF2-40B4-BE49-F238E27FC236}">
                <a16:creationId xmlns:a16="http://schemas.microsoft.com/office/drawing/2014/main" id="{EC2B9126-56F9-4523-9452-F3008353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评价改动</a:t>
            </a:r>
          </a:p>
        </p:txBody>
      </p:sp>
      <p:sp>
        <p:nvSpPr>
          <p:cNvPr id="20" name="p06-field-detail-2">
            <a:extLst xmlns:a="http://schemas.openxmlformats.org/drawingml/2006/main">
              <a:ext uri="{FF2B5EF4-FFF2-40B4-BE49-F238E27FC236}">
                <a16:creationId xmlns:a16="http://schemas.microsoft.com/office/drawing/2014/main" id="{62177EBD-91C2-4509-8DE3-68840CB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必须确认</a:t>
            </a:r>
          </a:p>
        </p:txBody>
      </p:sp>
      <p:sp>
        <p:nvSpPr>
          <p:cNvPr id="21" name="p06-field-label-3">
            <a:extLst xmlns:a="http://schemas.openxmlformats.org/drawingml/2006/main">
              <a:ext uri="{FF2B5EF4-FFF2-40B4-BE49-F238E27FC236}">
                <a16:creationId xmlns:a16="http://schemas.microsoft.com/office/drawing/2014/main" id="{8E2A59B6-0F48-4AFB-A0B8-EB56D76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越权请求</a:t>
            </a:r>
          </a:p>
        </p:txBody>
      </p:sp>
      <p:sp>
        <p:nvSpPr>
          <p:cNvPr id="22" name="p06-field-detail-3">
            <a:extLst xmlns:a="http://schemas.openxmlformats.org/drawingml/2006/main">
              <a:ext uri="{FF2B5EF4-FFF2-40B4-BE49-F238E27FC236}">
                <a16:creationId xmlns:a16="http://schemas.microsoft.com/office/drawing/2014/main" id="{A1750493-A112-4E2A-8CB0-5803CAD3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 + 记录</a:t>
            </a:r>
          </a:p>
        </p:txBody>
      </p:sp>
      <p:sp>
        <p:nvSpPr>
          <p:cNvPr id="23" name="p06-field-label-4">
            <a:extLst xmlns:a="http://schemas.openxmlformats.org/drawingml/2006/main">
              <a:ext uri="{FF2B5EF4-FFF2-40B4-BE49-F238E27FC236}">
                <a16:creationId xmlns:a16="http://schemas.microsoft.com/office/drawing/2014/main" id="{F963E2F1-9489-4965-BD24-7DCFA901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任务结束</a:t>
            </a:r>
          </a:p>
        </p:txBody>
      </p:sp>
      <p:sp>
        <p:nvSpPr>
          <p:cNvPr id="24" name="p06-field-detail-4">
            <a:extLst xmlns:a="http://schemas.openxmlformats.org/drawingml/2006/main">
              <a:ext uri="{FF2B5EF4-FFF2-40B4-BE49-F238E27FC236}">
                <a16:creationId xmlns:a16="http://schemas.microsoft.com/office/drawing/2014/main" id="{0FC90B24-3365-4225-A9BD-8DFD36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回收权限</a:t>
            </a:r>
          </a:p>
        </p:txBody>
      </p:sp>
      <p:sp>
        <p:nvSpPr>
          <p:cNvPr id="25" name="p06-field-label-5">
            <a:extLst xmlns:a="http://schemas.openxmlformats.org/drawingml/2006/main">
              <a:ext uri="{FF2B5EF4-FFF2-40B4-BE49-F238E27FC236}">
                <a16:creationId xmlns:a16="http://schemas.microsoft.com/office/drawing/2014/main" id="{3FE3378C-1C8E-483C-A710-8D0FCB4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下一任务</a:t>
            </a:r>
          </a:p>
        </p:txBody>
      </p:sp>
      <p:sp>
        <p:nvSpPr>
          <p:cNvPr id="26" name="p06-field-detail-5">
            <a:extLst xmlns:a="http://schemas.openxmlformats.org/drawingml/2006/main">
              <a:ext uri="{FF2B5EF4-FFF2-40B4-BE49-F238E27FC236}">
                <a16:creationId xmlns:a16="http://schemas.microsoft.com/office/drawing/2014/main" id="{5554BC7A-F5CE-4D8B-87CD-8F81A40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重新授权</a:t>
            </a:r>
          </a:p>
        </p:txBody>
      </p:sp>
      <p:sp>
        <p:nvSpPr>
          <p:cNvPr id="27" name="p06-bottom">
            <a:extLst xmlns:a="http://schemas.openxmlformats.org/drawingml/2006/main">
              <a:ext uri="{FF2B5EF4-FFF2-40B4-BE49-F238E27FC236}">
                <a16:creationId xmlns:a16="http://schemas.microsoft.com/office/drawing/2014/main" id="{3D130851-12D7-484A-AA27-21C69F16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开放到任务所需为止，而不是开放到方便为止。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ReAct 的错误会循环传播，失败恢复必须阻断它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">
            <a:extLst xmlns:a="http://schemas.openxmlformats.org/drawingml/2006/main">
              <a:ext uri="{FF2B5EF4-FFF2-40B4-BE49-F238E27FC236}">
                <a16:creationId xmlns:a16="http://schemas.microsoft.com/office/drawing/2014/main" id="{E1962C74-0CEF-4062-9E10-8798E9E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Reasoning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错误推理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→ 选择错误行动</a:t>
            </a:r>
          </a:p>
        </p:txBody>
      </p:sp>
      <p:sp>
        <p:nvSpPr>
          <p:cNvPr id="7" name="p07-b">
            <a:extLst xmlns:a="http://schemas.openxmlformats.org/drawingml/2006/main">
              <a:ext uri="{FF2B5EF4-FFF2-40B4-BE49-F238E27FC236}">
                <a16:creationId xmlns:a16="http://schemas.microsoft.com/office/drawing/2014/main" id="{6B303354-6DBA-42FE-8587-F8690A07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Observation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错误观察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强化错误推理</a:t>
            </a:r>
          </a:p>
        </p:txBody>
      </p:sp>
      <p:sp>
        <p:nvSpPr>
          <p:cNvPr id="8" name="p07-a-risk">
            <a:extLst xmlns:a="http://schemas.openxmlformats.org/drawingml/2006/main">
              <a:ext uri="{FF2B5EF4-FFF2-40B4-BE49-F238E27FC236}">
                <a16:creationId xmlns:a16="http://schemas.microsoft.com/office/drawing/2014/main" id="{ED0A4581-AFEA-4A5D-8AB9-3A27C43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调用错误工具或修改</a:t>
            </a:r>
          </a:p>
        </p:txBody>
      </p:sp>
      <p:sp>
        <p:nvSpPr>
          <p:cNvPr id="9" name="p07-b-risk">
            <a:extLst xmlns:a="http://schemas.openxmlformats.org/drawingml/2006/main">
              <a:ext uri="{FF2B5EF4-FFF2-40B4-BE49-F238E27FC236}">
                <a16:creationId xmlns:a16="http://schemas.microsoft.com/office/drawing/2014/main" id="{2053D111-C3CE-48F9-8796-45D4FAE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Propagation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错误在循环中放大</a:t>
            </a:r>
          </a:p>
        </p:txBody>
      </p:sp>
      <p:sp>
        <p:nvSpPr>
          <p:cNvPr id="10" name="p07-compare-title">
            <a:extLst xmlns:a="http://schemas.openxmlformats.org/drawingml/2006/main">
              <a:ext uri="{FF2B5EF4-FFF2-40B4-BE49-F238E27FC236}">
                <a16:creationId xmlns:a16="http://schemas.microsoft.com/office/drawing/2014/main" id="{2C3F46C9-4510-4E2B-B9F0-426B814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6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11" name="p07-dim-0">
            <a:extLst xmlns:a="http://schemas.openxmlformats.org/drawingml/2006/main">
              <a:ext uri="{FF2B5EF4-FFF2-40B4-BE49-F238E27FC236}">
                <a16:creationId xmlns:a16="http://schemas.microsoft.com/office/drawing/2014/main" id="{5BE68A9C-DEEC-4720-A729-8B3B23F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超时 → 终止并记录</a:t>
            </a:r>
          </a:p>
        </p:txBody>
      </p:sp>
      <p:sp>
        <p:nvSpPr>
          <p:cNvPr id="12" name="p07-dim-1">
            <a:extLst xmlns:a="http://schemas.openxmlformats.org/drawingml/2006/main">
              <a:ext uri="{FF2B5EF4-FFF2-40B4-BE49-F238E27FC236}">
                <a16:creationId xmlns:a16="http://schemas.microsoft.com/office/drawing/2014/main" id="{C7B80669-2F17-4206-A14E-A25212D9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解析失败 → 保留原始输出</a:t>
            </a:r>
          </a:p>
        </p:txBody>
      </p:sp>
      <p:sp>
        <p:nvSpPr>
          <p:cNvPr id="13" name="p07-dim-2">
            <a:extLst xmlns:a="http://schemas.openxmlformats.org/drawingml/2006/main">
              <a:ext uri="{FF2B5EF4-FFF2-40B4-BE49-F238E27FC236}">
                <a16:creationId xmlns:a16="http://schemas.microsoft.com/office/drawing/2014/main" id="{B71DCA4D-0604-4315-951D-B17A000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工具失败 → 不换未授权工具</a:t>
            </a:r>
          </a:p>
        </p:txBody>
      </p:sp>
      <p:sp>
        <p:nvSpPr>
          <p:cNvPr id="14" name="p07-dim-3">
            <a:extLst xmlns:a="http://schemas.openxmlformats.org/drawingml/2006/main">
              <a:ext uri="{FF2B5EF4-FFF2-40B4-BE49-F238E27FC236}">
                <a16:creationId xmlns:a16="http://schemas.microsoft.com/office/drawing/2014/main" id="{C133F147-F482-4E6B-8F51-A7BD084B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越权 → 拒绝、记录、报告</a:t>
            </a:r>
          </a:p>
        </p:txBody>
      </p:sp>
      <p:sp>
        <p:nvSpPr>
          <p:cNvPr id="15" name="p07-dim-4">
            <a:extLst xmlns:a="http://schemas.openxmlformats.org/drawingml/2006/main">
              <a:ext uri="{FF2B5EF4-FFF2-40B4-BE49-F238E27FC236}">
                <a16:creationId xmlns:a16="http://schemas.microsoft.com/office/drawing/2014/main" id="{28286AC7-9771-41AE-89DF-3142F34C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24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测试失败 → 停，等人工判断</a:t>
            </a:r>
          </a:p>
        </p:txBody>
      </p:sp>
      <p:sp>
        <p:nvSpPr>
          <p:cNvPr id="16" name="p07-decision">
            <a:extLst xmlns:a="http://schemas.openxmlformats.org/drawingml/2006/main">
              <a:ext uri="{FF2B5EF4-FFF2-40B4-BE49-F238E27FC236}">
                <a16:creationId xmlns:a16="http://schemas.microsoft.com/office/drawing/2014/main" id="{36942D5E-2AE5-4766-AF99-66685D0D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任务契约不能消除错误，但能让错误可观察、可停止、可复盘。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diff 审查把候选实现变成可验证实现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h-0">
            <a:extLst xmlns:a="http://schemas.openxmlformats.org/drawingml/2006/main">
              <a:ext uri="{FF2B5EF4-FFF2-40B4-BE49-F238E27FC236}">
                <a16:creationId xmlns:a16="http://schemas.microsoft.com/office/drawing/2014/main" id="{38D4C9D2-0F96-4B93-A4D2-1602E977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562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核验层</a:t>
            </a:r>
          </a:p>
        </p:txBody>
      </p:sp>
      <p:sp>
        <p:nvSpPr>
          <p:cNvPr id="7" name="p08-h-1">
            <a:extLst xmlns:a="http://schemas.openxmlformats.org/drawingml/2006/main">
              <a:ext uri="{FF2B5EF4-FFF2-40B4-BE49-F238E27FC236}">
                <a16:creationId xmlns:a16="http://schemas.microsoft.com/office/drawing/2014/main" id="{7F4F3AAA-FEF2-4DE9-B83F-70ACFD3B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 1</a:t>
            </a:r>
          </a:p>
        </p:txBody>
      </p:sp>
      <p:sp>
        <p:nvSpPr>
          <p:cNvPr id="8" name="p08-h-2">
            <a:extLst xmlns:a="http://schemas.openxmlformats.org/drawingml/2006/main">
              <a:ext uri="{FF2B5EF4-FFF2-40B4-BE49-F238E27FC236}">
                <a16:creationId xmlns:a16="http://schemas.microsoft.com/office/drawing/2014/main" id="{044E0BEE-8EAC-4B47-8C87-AA03C4F4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14300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 2</a:t>
            </a:r>
          </a:p>
        </p:txBody>
      </p:sp>
      <p:sp>
        <p:nvSpPr>
          <p:cNvPr id="9" name="p08-h-3">
            <a:extLst xmlns:a="http://schemas.openxmlformats.org/drawingml/2006/main">
              <a:ext uri="{FF2B5EF4-FFF2-40B4-BE49-F238E27FC236}">
                <a16:creationId xmlns:a16="http://schemas.microsoft.com/office/drawing/2014/main" id="{8116D578-A48C-4A50-955C-DA1B551A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不通过时</a:t>
            </a:r>
          </a:p>
        </p:txBody>
      </p:sp>
      <p:sp>
        <p:nvSpPr>
          <p:cNvPr id="10" name="p08-h-4">
            <a:extLst xmlns:a="http://schemas.openxmlformats.org/drawingml/2006/main">
              <a:ext uri="{FF2B5EF4-FFF2-40B4-BE49-F238E27FC236}">
                <a16:creationId xmlns:a16="http://schemas.microsoft.com/office/drawing/2014/main" id="{737244F8-6ACC-4316-9D0A-F19274EF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决定</a:t>
            </a:r>
          </a:p>
        </p:txBody>
      </p:sp>
      <p:sp>
        <p:nvSpPr>
          <p:cNvPr id="11" name="p08-r0-0">
            <a:extLst xmlns:a="http://schemas.openxmlformats.org/drawingml/2006/main">
              <a:ext uri="{FF2B5EF4-FFF2-40B4-BE49-F238E27FC236}">
                <a16:creationId xmlns:a16="http://schemas.microsoft.com/office/drawing/2014/main" id="{A2CE4909-80ED-4D96-86B4-E8D135A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范围核验</a:t>
            </a:r>
          </a:p>
        </p:txBody>
      </p:sp>
      <p:sp>
        <p:nvSpPr>
          <p:cNvPr id="12" name="p08-r0-1">
            <a:extLst xmlns:a="http://schemas.openxmlformats.org/drawingml/2006/main">
              <a:ext uri="{FF2B5EF4-FFF2-40B4-BE49-F238E27FC236}">
                <a16:creationId xmlns:a16="http://schemas.microsoft.com/office/drawing/2014/main" id="{8DFEDC57-FEAE-4D8B-9E29-587FDAA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192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只改可写层？</a:t>
            </a:r>
          </a:p>
        </p:txBody>
      </p:sp>
      <p:sp>
        <p:nvSpPr>
          <p:cNvPr id="13" name="p08-r0-2">
            <a:extLst xmlns:a="http://schemas.openxmlformats.org/drawingml/2006/main">
              <a:ext uri="{FF2B5EF4-FFF2-40B4-BE49-F238E27FC236}">
                <a16:creationId xmlns:a16="http://schemas.microsoft.com/office/drawing/2014/main" id="{E595DF9D-EEBC-4C1A-9F1D-38DCE7E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19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无新依赖 / 外部调用？</a:t>
            </a:r>
          </a:p>
        </p:txBody>
      </p:sp>
      <p:sp>
        <p:nvSpPr>
          <p:cNvPr id="14" name="p08-r0-3">
            <a:extLst xmlns:a="http://schemas.openxmlformats.org/drawingml/2006/main">
              <a:ext uri="{FF2B5EF4-FFF2-40B4-BE49-F238E27FC236}">
                <a16:creationId xmlns:a16="http://schemas.microsoft.com/office/drawing/2014/main" id="{1C2760EA-DEFE-401B-8168-59284D3E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 diff</a:t>
            </a:r>
          </a:p>
        </p:txBody>
      </p:sp>
      <p:sp>
        <p:nvSpPr>
          <p:cNvPr id="15" name="p08-r0-4">
            <a:extLst xmlns:a="http://schemas.openxmlformats.org/drawingml/2006/main">
              <a:ext uri="{FF2B5EF4-FFF2-40B4-BE49-F238E27FC236}">
                <a16:creationId xmlns:a16="http://schemas.microsoft.com/office/drawing/2014/main" id="{07DA84FF-A9CF-4458-A06D-0C92D8E3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不进入项目</a:t>
            </a:r>
          </a:p>
        </p:txBody>
      </p:sp>
      <p:sp>
        <p:nvSpPr>
          <p:cNvPr id="16" name="p08-r1-0">
            <a:extLst xmlns:a="http://schemas.openxmlformats.org/drawingml/2006/main">
              <a:ext uri="{FF2B5EF4-FFF2-40B4-BE49-F238E27FC236}">
                <a16:creationId xmlns:a16="http://schemas.microsoft.com/office/drawing/2014/main" id="{DD8DDBAF-F6F5-4979-9F6E-454F860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测试核验</a:t>
            </a:r>
          </a:p>
        </p:txBody>
      </p:sp>
      <p:sp>
        <p:nvSpPr>
          <p:cNvPr id="17" name="p08-r1-1">
            <a:extLst xmlns:a="http://schemas.openxmlformats.org/drawingml/2006/main">
              <a:ext uri="{FF2B5EF4-FFF2-40B4-BE49-F238E27FC236}">
                <a16:creationId xmlns:a16="http://schemas.microsoft.com/office/drawing/2014/main" id="{CE67C768-7AD7-498D-9376-AEFB8FC9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098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测试先审查？</a:t>
            </a:r>
          </a:p>
        </p:txBody>
      </p:sp>
      <p:sp>
        <p:nvSpPr>
          <p:cNvPr id="18" name="p08-r1-2">
            <a:extLst xmlns:a="http://schemas.openxmlformats.org/drawingml/2006/main">
              <a:ext uri="{FF2B5EF4-FFF2-40B4-BE49-F238E27FC236}">
                <a16:creationId xmlns:a16="http://schemas.microsoft.com/office/drawing/2014/main" id="{B128B293-4250-4901-8334-25FE8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098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覆盖关键路径？</a:t>
            </a:r>
          </a:p>
        </p:txBody>
      </p:sp>
      <p:sp>
        <p:nvSpPr>
          <p:cNvPr id="19" name="p08-r1-3">
            <a:extLst xmlns:a="http://schemas.openxmlformats.org/drawingml/2006/main">
              <a:ext uri="{FF2B5EF4-FFF2-40B4-BE49-F238E27FC236}">
                <a16:creationId xmlns:a16="http://schemas.microsoft.com/office/drawing/2014/main" id="{0A99A40B-10ED-4723-AB49-B3F813BE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补测试 / 停</a:t>
            </a:r>
          </a:p>
        </p:txBody>
      </p:sp>
      <p:sp>
        <p:nvSpPr>
          <p:cNvPr id="20" name="p08-r1-4">
            <a:extLst xmlns:a="http://schemas.openxmlformats.org/drawingml/2006/main">
              <a:ext uri="{FF2B5EF4-FFF2-40B4-BE49-F238E27FC236}">
                <a16:creationId xmlns:a16="http://schemas.microsoft.com/office/drawing/2014/main" id="{AE75DFCF-7AC5-481A-85D8-5112E761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通过不等于正确</a:t>
            </a:r>
          </a:p>
        </p:txBody>
      </p:sp>
      <p:sp>
        <p:nvSpPr>
          <p:cNvPr id="21" name="p08-r2-0">
            <a:extLst xmlns:a="http://schemas.openxmlformats.org/drawingml/2006/main">
              <a:ext uri="{FF2B5EF4-FFF2-40B4-BE49-F238E27FC236}">
                <a16:creationId xmlns:a16="http://schemas.microsoft.com/office/drawing/2014/main" id="{C9CF3E09-3C2E-4F47-AE05-138414CA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04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判断核验</a:t>
            </a:r>
          </a:p>
        </p:txBody>
      </p:sp>
      <p:sp>
        <p:nvSpPr>
          <p:cNvPr id="22" name="p08-r2-1">
            <a:extLst xmlns:a="http://schemas.openxmlformats.org/drawingml/2006/main">
              <a:ext uri="{FF2B5EF4-FFF2-40B4-BE49-F238E27FC236}">
                <a16:creationId xmlns:a16="http://schemas.microsoft.com/office/drawing/2014/main" id="{67893BD4-FBF5-4654-AC9D-A2B5ECED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004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未改禁止层？</a:t>
            </a:r>
          </a:p>
        </p:txBody>
      </p:sp>
      <p:sp>
        <p:nvSpPr>
          <p:cNvPr id="23" name="p08-r2-2">
            <a:extLst xmlns:a="http://schemas.openxmlformats.org/drawingml/2006/main">
              <a:ext uri="{FF2B5EF4-FFF2-40B4-BE49-F238E27FC236}">
                <a16:creationId xmlns:a16="http://schemas.microsoft.com/office/drawing/2014/main" id="{70CFECA6-E7D8-4647-8C3C-2826A0D6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004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不违反 Non-goal？</a:t>
            </a:r>
          </a:p>
        </p:txBody>
      </p:sp>
      <p:sp>
        <p:nvSpPr>
          <p:cNvPr id="24" name="p08-r2-3">
            <a:extLst xmlns:a="http://schemas.openxmlformats.org/drawingml/2006/main">
              <a:ext uri="{FF2B5EF4-FFF2-40B4-BE49-F238E27FC236}">
                <a16:creationId xmlns:a16="http://schemas.microsoft.com/office/drawing/2014/main" id="{286AC6ED-959A-4E34-8965-75EA6CD0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研究者判断</a:t>
            </a:r>
          </a:p>
        </p:txBody>
      </p:sp>
      <p:sp>
        <p:nvSpPr>
          <p:cNvPr id="25" name="p08-r2-4">
            <a:extLst xmlns:a="http://schemas.openxmlformats.org/drawingml/2006/main">
              <a:ext uri="{FF2B5EF4-FFF2-40B4-BE49-F238E27FC236}">
                <a16:creationId xmlns:a16="http://schemas.microsoft.com/office/drawing/2014/main" id="{E10482D2-FC89-4354-862A-A980532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写机制性描述</a:t>
            </a:r>
          </a:p>
        </p:txBody>
      </p:sp>
      <p:sp>
        <p:nvSpPr>
          <p:cNvPr id="26" name="p08-bottom">
            <a:extLst xmlns:a="http://schemas.openxmlformats.org/drawingml/2006/main">
              <a:ext uri="{FF2B5EF4-FFF2-40B4-BE49-F238E27FC236}">
                <a16:creationId xmlns:a16="http://schemas.microsoft.com/office/drawing/2014/main" id="{B26AC0EF-2C2B-4744-A07A-D9D26C34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979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commit message 也要核验：写“修改分支条件”，不写“优化了方法”。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只有修复根因能进入项目；绕过与污染都是红线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4A4EB1B0-749B-4738-A3D1-9B0093C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三类失败处理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1ED01082-F944-4A27-A32E-0C1D8A1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05C018E4-3CE3-402F-8C6E-8BA47FD7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机制与后果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E7A03DD1-DE3F-4D21-8598-12C4BF4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修复根因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288A2EAF-FD75-4C67-A646-B3139FC3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找机制原因；保留日志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224376EF-91F4-4971-B327-8219E2F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绕过失败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51915736-A0AB-4F13-8F92-27AF06A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注释断言 / 跳测试；隐藏失败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03A7A6B0-33CA-45FD-B52F-74CBC57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污染实验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4F620BA-1778-4FC5-AF71-B6D6F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改评价 / 数据 / baseline；效应混淆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473B6B51-8CED-4B80-AF70-27384E7A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82E5DCBD-F903-4109-9E22-139A9AA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只接受第一类；后两类是红线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64AE2602-784B-4FBA-B1B1-7F6D936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对可追溯性的影响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DA010CC0-836C-45FF-8471-6C70EB5F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3C6A8891-C036-4EB3-93A6-951AE77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失败日志是否保留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128B52A7-42A9-4FCF-A6F1-C47F04D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B6772FE8-923E-48BC-8C1A-D4EA2FD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根因分析是否留下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51CCE020-D453-4108-9A1B-4A0EFC1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AD107FE3-98BD-416A-8D79-7368871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评价协议是否改变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FCB4217E-4660-4C0E-9570-1D16460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095055EB-245D-4A28-9837-19C5795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数据划分是否漂移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289F5A61-2E58-4F71-8DF9-2AC9ACA8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5F2B8A75-0F87-467A-AE95-8BA5C94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是否被改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27D50A14-2557-4EC4-BFFF-C108B076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981D0504-2375-4980-807C-33A175E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方法效应能否独立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8F3D0B35-20D9-42DA-9CC2-2299287E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F903A4CC-56E8-48AA-9CA4-4F4DA48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绕过失败：红线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BFAC206D-4734-4F59-9F21-AB5BF0D1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7DF0A642-FE1F-473E-940C-A4BD71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污染实验：红线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96FFFC96-BD11-4AD7-981B-7BDABAE8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修复根因 = 失败日志 + 修改记录 + 根因分析；测试通过不等于处理合规。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SWE-bench：测试判定比 Agent 叙述更可信，但仍不充分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heck-title">
            <a:extLst xmlns:a="http://schemas.openxmlformats.org/drawingml/2006/main">
              <a:ext uri="{FF2B5EF4-FFF2-40B4-BE49-F238E27FC236}">
                <a16:creationId xmlns:a16="http://schemas.microsoft.com/office/drawing/2014/main" id="{629FAFB0-1C6E-4404-8002-CB3636B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任务构造</a:t>
            </a:r>
          </a:p>
        </p:txBody>
      </p:sp>
      <p:sp>
        <p:nvSpPr>
          <p:cNvPr id="7" name="p10-n-0">
            <a:extLst xmlns:a="http://schemas.openxmlformats.org/drawingml/2006/main">
              <a:ext uri="{FF2B5EF4-FFF2-40B4-BE49-F238E27FC236}">
                <a16:creationId xmlns:a16="http://schemas.microsoft.com/office/drawing/2014/main" id="{CFEEE81F-1DD2-4E61-9BB1-FDD989AF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0-c-0">
            <a:extLst xmlns:a="http://schemas.openxmlformats.org/drawingml/2006/main">
              <a:ext uri="{FF2B5EF4-FFF2-40B4-BE49-F238E27FC236}">
                <a16:creationId xmlns:a16="http://schemas.microsoft.com/office/drawing/2014/main" id="{F5E1C5F7-0B34-4368-ACD8-09D80C15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811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 issue + 仓库快照</a:t>
            </a:r>
          </a:p>
        </p:txBody>
      </p:sp>
      <p:sp>
        <p:nvSpPr>
          <p:cNvPr id="9" name="p10-n-1">
            <a:extLst xmlns:a="http://schemas.openxmlformats.org/drawingml/2006/main">
              <a:ext uri="{FF2B5EF4-FFF2-40B4-BE49-F238E27FC236}">
                <a16:creationId xmlns:a16="http://schemas.microsoft.com/office/drawing/2014/main" id="{3326119E-76A5-47C2-934F-A5B35FBC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0-c-1">
            <a:extLst xmlns:a="http://schemas.openxmlformats.org/drawingml/2006/main">
              <a:ext uri="{FF2B5EF4-FFF2-40B4-BE49-F238E27FC236}">
                <a16:creationId xmlns:a16="http://schemas.microsoft.com/office/drawing/2014/main" id="{D6018B89-67AA-4102-A203-0F4B2220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717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指定可执行测试</a:t>
            </a:r>
          </a:p>
        </p:txBody>
      </p:sp>
      <p:sp>
        <p:nvSpPr>
          <p:cNvPr id="11" name="p10-n-2">
            <a:extLst xmlns:a="http://schemas.openxmlformats.org/drawingml/2006/main">
              <a:ext uri="{FF2B5EF4-FFF2-40B4-BE49-F238E27FC236}">
                <a16:creationId xmlns:a16="http://schemas.microsoft.com/office/drawing/2014/main" id="{8F3304DC-4F93-4E84-9652-E0BFB20C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0-c-2">
            <a:extLst xmlns:a="http://schemas.openxmlformats.org/drawingml/2006/main">
              <a:ext uri="{FF2B5EF4-FFF2-40B4-BE49-F238E27FC236}">
                <a16:creationId xmlns:a16="http://schemas.microsoft.com/office/drawing/2014/main" id="{78C37159-D673-47D4-B603-0FB00524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“解决”＝测试通过</a:t>
            </a:r>
          </a:p>
        </p:txBody>
      </p:sp>
      <p:sp>
        <p:nvSpPr>
          <p:cNvPr id="13" name="p10-n-3">
            <a:extLst xmlns:a="http://schemas.openxmlformats.org/drawingml/2006/main">
              <a:ext uri="{FF2B5EF4-FFF2-40B4-BE49-F238E27FC236}">
                <a16:creationId xmlns:a16="http://schemas.microsoft.com/office/drawing/2014/main" id="{3C48FF74-7980-4FDA-8F07-E59550A5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0-c-3">
            <a:extLst xmlns:a="http://schemas.openxmlformats.org/drawingml/2006/main">
              <a:ext uri="{FF2B5EF4-FFF2-40B4-BE49-F238E27FC236}">
                <a16:creationId xmlns:a16="http://schemas.microsoft.com/office/drawing/2014/main" id="{BB66591E-4102-48B0-BE44-60B8BFE8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不接受 Agent 自我陈述</a:t>
            </a:r>
          </a:p>
        </p:txBody>
      </p:sp>
      <p:sp>
        <p:nvSpPr>
          <p:cNvPr id="15" name="p10-n-4">
            <a:extLst xmlns:a="http://schemas.openxmlformats.org/drawingml/2006/main">
              <a:ext uri="{FF2B5EF4-FFF2-40B4-BE49-F238E27FC236}">
                <a16:creationId xmlns:a16="http://schemas.microsoft.com/office/drawing/2014/main" id="{2C5C1B2E-78E1-4D45-AB7A-BC9CA830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0-c-4">
            <a:extLst xmlns:a="http://schemas.openxmlformats.org/drawingml/2006/main">
              <a:ext uri="{FF2B5EF4-FFF2-40B4-BE49-F238E27FC236}">
                <a16:creationId xmlns:a16="http://schemas.microsoft.com/office/drawing/2014/main" id="{1740BCC9-B2E4-4CFE-934C-C18BED92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课程项目测试往往不完备</a:t>
            </a:r>
          </a:p>
        </p:txBody>
      </p:sp>
      <p:sp>
        <p:nvSpPr>
          <p:cNvPr id="17" name="p10-n-5">
            <a:extLst xmlns:a="http://schemas.openxmlformats.org/drawingml/2006/main">
              <a:ext uri="{FF2B5EF4-FFF2-40B4-BE49-F238E27FC236}">
                <a16:creationId xmlns:a16="http://schemas.microsoft.com/office/drawing/2014/main" id="{C7AC25DB-AA0A-4FD7-B847-47C60E26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0-c-5">
            <a:extLst xmlns:a="http://schemas.openxmlformats.org/drawingml/2006/main">
              <a:ext uri="{FF2B5EF4-FFF2-40B4-BE49-F238E27FC236}">
                <a16:creationId xmlns:a16="http://schemas.microsoft.com/office/drawing/2014/main" id="{AF83F3EE-F8AE-4D34-A3CD-B70ACD7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必须追加人工核验</a:t>
            </a:r>
          </a:p>
        </p:txBody>
      </p:sp>
      <p:sp>
        <p:nvSpPr>
          <p:cNvPr id="19" name="p10-flow-1">
            <a:extLst xmlns:a="http://schemas.openxmlformats.org/drawingml/2006/main">
              <a:ext uri="{FF2B5EF4-FFF2-40B4-BE49-F238E27FC236}">
                <a16:creationId xmlns:a16="http://schemas.microsoft.com/office/drawing/2014/main" id="{08C1B718-309E-4887-B6B5-BE55C164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09813"/>
            <a:ext cx="95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0-flow-2">
            <a:extLst xmlns:a="http://schemas.openxmlformats.org/drawingml/2006/main">
              <a:ext uri="{FF2B5EF4-FFF2-40B4-BE49-F238E27FC236}">
                <a16:creationId xmlns:a16="http://schemas.microsoft.com/office/drawing/2014/main" id="{2A003779-9709-4A0F-820B-A8DD7C27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53450" y="1928813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0-flow-3">
            <a:extLst xmlns:a="http://schemas.openxmlformats.org/drawingml/2006/main">
              <a:ext uri="{FF2B5EF4-FFF2-40B4-BE49-F238E27FC236}">
                <a16:creationId xmlns:a16="http://schemas.microsoft.com/office/drawing/2014/main" id="{EE52993F-DD94-4917-9AD4-2368FFF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486775" y="2757488"/>
            <a:ext cx="895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0-ai">
            <a:extLst xmlns:a="http://schemas.openxmlformats.org/drawingml/2006/main">
              <a:ext uri="{FF2B5EF4-FFF2-40B4-BE49-F238E27FC236}">
                <a16:creationId xmlns:a16="http://schemas.microsoft.com/office/drawing/2014/main" id="{2594A26D-3C8D-4EEB-BF33-13CE344C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1409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指定测试</a:t>
            </a:r>
          </a:p>
        </p:txBody>
      </p:sp>
      <p:sp>
        <p:nvSpPr>
          <p:cNvPr id="23" name="p10-audit">
            <a:extLst xmlns:a="http://schemas.openxmlformats.org/drawingml/2006/main">
              <a:ext uri="{FF2B5EF4-FFF2-40B4-BE49-F238E27FC236}">
                <a16:creationId xmlns:a16="http://schemas.microsoft.com/office/drawing/2014/main" id="{A0DD66B2-DE87-475D-A4F8-A5F3687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1790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4" name="p10-main">
            <a:extLst xmlns:a="http://schemas.openxmlformats.org/drawingml/2006/main">
              <a:ext uri="{FF2B5EF4-FFF2-40B4-BE49-F238E27FC236}">
                <a16:creationId xmlns:a16="http://schemas.microsoft.com/office/drawing/2014/main" id="{2CC9F631-2D05-449F-946D-704C328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066800"/>
            <a:ext cx="1885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可接受候选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预设测试通过 + diff 合规</a:t>
            </a:r>
          </a:p>
        </p:txBody>
      </p:sp>
      <p:sp>
        <p:nvSpPr>
          <p:cNvPr id="25" name="p10-clue">
            <a:extLst xmlns:a="http://schemas.openxmlformats.org/drawingml/2006/main">
              <a:ext uri="{FF2B5EF4-FFF2-40B4-BE49-F238E27FC236}">
                <a16:creationId xmlns:a16="http://schemas.microsoft.com/office/drawing/2014/main" id="{DA6ABD10-1CA7-4F52-93C2-016BFA8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28950"/>
            <a:ext cx="1885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仍需检查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方法 / 泄漏 / 评价污染</a:t>
            </a:r>
          </a:p>
        </p:txBody>
      </p:sp>
      <p:sp>
        <p:nvSpPr>
          <p:cNvPr id="26" name="p10-record">
            <a:extLst xmlns:a="http://schemas.openxmlformats.org/drawingml/2006/main">
              <a:ext uri="{FF2B5EF4-FFF2-40B4-BE49-F238E27FC236}">
                <a16:creationId xmlns:a16="http://schemas.microsoft.com/office/drawing/2014/main" id="{38BBB49D-6534-42E5-84AD-4444702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4876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测试通过 ≠ 方法正确 ≠ 无数据泄漏 ≠ 未污染评价协议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贯穿案例上半程：从实验规格标注到任务契约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watermark">
            <a:extLst xmlns:a="http://schemas.openxmlformats.org/drawingml/2006/main">
              <a:ext uri="{FF2B5EF4-FFF2-40B4-BE49-F238E27FC236}">
                <a16:creationId xmlns:a16="http://schemas.microsoft.com/office/drawing/2014/main" id="{F8D46C40-EC53-4198-8AF5-825A9E4C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87630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教学案例｜自由摘要 vs 阅读卡摘要</a:t>
            </a:r>
          </a:p>
        </p:txBody>
      </p:sp>
      <p:sp>
        <p:nvSpPr>
          <p:cNvPr id="7" name="p11-line-0">
            <a:extLst xmlns:a="http://schemas.openxmlformats.org/drawingml/2006/main">
              <a:ext uri="{FF2B5EF4-FFF2-40B4-BE49-F238E27FC236}">
                <a16:creationId xmlns:a16="http://schemas.microsoft.com/office/drawing/2014/main" id="{887A0D37-03FF-41D3-B768-402521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1">
            <a:extLst xmlns:a="http://schemas.openxmlformats.org/drawingml/2006/main">
              <a:ext uri="{FF2B5EF4-FFF2-40B4-BE49-F238E27FC236}">
                <a16:creationId xmlns:a16="http://schemas.microsoft.com/office/drawing/2014/main" id="{D044FA46-381F-4743-939E-33686F8B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2">
            <a:extLst xmlns:a="http://schemas.openxmlformats.org/drawingml/2006/main">
              <a:ext uri="{FF2B5EF4-FFF2-40B4-BE49-F238E27FC236}">
                <a16:creationId xmlns:a16="http://schemas.microsoft.com/office/drawing/2014/main" id="{E55D8E3E-17E2-4041-AFDF-5EE3F441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number-0">
            <a:extLst xmlns:a="http://schemas.openxmlformats.org/drawingml/2006/main">
              <a:ext uri="{FF2B5EF4-FFF2-40B4-BE49-F238E27FC236}">
                <a16:creationId xmlns:a16="http://schemas.microsoft.com/office/drawing/2014/main" id="{98B46FD8-CC01-4CA0-AC26-9CC1D96E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11-step-0">
            <a:extLst xmlns:a="http://schemas.openxmlformats.org/drawingml/2006/main">
              <a:ext uri="{FF2B5EF4-FFF2-40B4-BE49-F238E27FC236}">
                <a16:creationId xmlns:a16="http://schemas.microsoft.com/office/drawing/2014/main" id="{319E71F9-2032-44A0-B2B0-761EFDF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选择步骤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步骤 3“分别生成”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拟用 Agent</a:t>
            </a:r>
          </a:p>
        </p:txBody>
      </p:sp>
      <p:sp>
        <p:nvSpPr>
          <p:cNvPr id="12" name="p11-number-1">
            <a:extLst xmlns:a="http://schemas.openxmlformats.org/drawingml/2006/main">
              <a:ext uri="{FF2B5EF4-FFF2-40B4-BE49-F238E27FC236}">
                <a16:creationId xmlns:a16="http://schemas.microsoft.com/office/drawing/2014/main" id="{9586C302-2AF0-4B6A-AB93-55506DE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1-step-1">
            <a:extLst xmlns:a="http://schemas.openxmlformats.org/drawingml/2006/main">
              <a:ext uri="{FF2B5EF4-FFF2-40B4-BE49-F238E27FC236}">
                <a16:creationId xmlns:a16="http://schemas.microsoft.com/office/drawing/2014/main" id="{2247FC0D-C9FA-4765-82B8-9565F6C1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src/generate.py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实验规格步骤 3</a:t>
            </a:r>
          </a:p>
        </p:txBody>
      </p:sp>
      <p:sp>
        <p:nvSpPr>
          <p:cNvPr id="14" name="p11-number-2">
            <a:extLst xmlns:a="http://schemas.openxmlformats.org/drawingml/2006/main">
              <a:ext uri="{FF2B5EF4-FFF2-40B4-BE49-F238E27FC236}">
                <a16:creationId xmlns:a16="http://schemas.microsoft.com/office/drawing/2014/main" id="{9D37D208-27CE-45A1-91B8-ACC0CB81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11-step-2">
            <a:extLst xmlns:a="http://schemas.openxmlformats.org/drawingml/2006/main">
              <a:ext uri="{FF2B5EF4-FFF2-40B4-BE49-F238E27FC236}">
                <a16:creationId xmlns:a16="http://schemas.microsoft.com/office/drawing/2014/main" id="{3405DBE5-16A4-4609-A1F3-6AF6BCCB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Permission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写 generate.py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跑指定 pytest</a:t>
            </a:r>
          </a:p>
        </p:txBody>
      </p:sp>
      <p:sp>
        <p:nvSpPr>
          <p:cNvPr id="16" name="p11-number-3">
            <a:extLst xmlns:a="http://schemas.openxmlformats.org/drawingml/2006/main">
              <a:ext uri="{FF2B5EF4-FFF2-40B4-BE49-F238E27FC236}">
                <a16:creationId xmlns:a16="http://schemas.microsoft.com/office/drawing/2014/main" id="{77DC03C2-C407-4CA0-BA64-209EDED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11-step-3">
            <a:extLst xmlns:a="http://schemas.openxmlformats.org/drawingml/2006/main">
              <a:ext uri="{FF2B5EF4-FFF2-40B4-BE49-F238E27FC236}">
                <a16:creationId xmlns:a16="http://schemas.microsoft.com/office/drawing/2014/main" id="{92B3EA96-9CE0-4E1F-BDCA-F9978F1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Non-goal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不改 prompt / 模型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不重跑历史实验</a:t>
            </a:r>
          </a:p>
        </p:txBody>
      </p:sp>
      <p:sp>
        <p:nvSpPr>
          <p:cNvPr id="18" name="p11-predictions-title">
            <a:extLst xmlns:a="http://schemas.openxmlformats.org/drawingml/2006/main">
              <a:ext uri="{FF2B5EF4-FFF2-40B4-BE49-F238E27FC236}">
                <a16:creationId xmlns:a16="http://schemas.microsoft.com/office/drawing/2014/main" id="{2990AA63-9679-4E91-ACC3-0F04018A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任务承接第 9 课一个“拟用 Agent”步骤</a:t>
            </a:r>
          </a:p>
        </p:txBody>
      </p:sp>
      <p:sp>
        <p:nvSpPr>
          <p:cNvPr id="19" name="p11-pred-0">
            <a:extLst xmlns:a="http://schemas.openxmlformats.org/drawingml/2006/main">
              <a:ext uri="{FF2B5EF4-FFF2-40B4-BE49-F238E27FC236}">
                <a16:creationId xmlns:a16="http://schemas.microsoft.com/office/drawing/2014/main" id="{9FDC0C13-7BD6-4966-A2B8-C0ACA29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审核点：写回前 / 失败时</a:t>
            </a:r>
          </a:p>
        </p:txBody>
      </p:sp>
      <p:sp>
        <p:nvSpPr>
          <p:cNvPr id="20" name="p11-pred-1">
            <a:extLst xmlns:a="http://schemas.openxmlformats.org/drawingml/2006/main">
              <a:ext uri="{FF2B5EF4-FFF2-40B4-BE49-F238E27FC236}">
                <a16:creationId xmlns:a16="http://schemas.microsoft.com/office/drawing/2014/main" id="{4243CEC4-107B-4222-86E6-C209ED30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失败恢复：终止 / 拒绝 / 记录</a:t>
            </a:r>
          </a:p>
        </p:txBody>
      </p:sp>
      <p:sp>
        <p:nvSpPr>
          <p:cNvPr id="21" name="p11-pred-2">
            <a:extLst xmlns:a="http://schemas.openxmlformats.org/drawingml/2006/main">
              <a:ext uri="{FF2B5EF4-FFF2-40B4-BE49-F238E27FC236}">
                <a16:creationId xmlns:a16="http://schemas.microsoft.com/office/drawing/2014/main" id="{9DA8377B-3566-4DCA-ABFE-FE8AE15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写入 agent-tasks/task-01.md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贯穿案例下半程：执行、核验、失败记录与写入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可核验课次工件｜diff + unittest + failure-log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修改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diff 六项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unittest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执行事件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人工判断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写入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只改 generate.py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范围合规；2 tests OK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diff + 验证记录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请求修改 configs/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需确认层；当前温度已一致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 + failure-log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方法符合 H1？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额外核验，防泄漏 / 污染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一次受限执行 = 契约 + diff + 验证 + 失败记录 + 人工判断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个人实践：把一个拟用 Agent 步骤改写为受限任务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个人实践 5 步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选拟用 Agent 步骤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写五字段契约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审查真实 / 预置 diff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验证证据 + 失败决策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开始 AI 披露记录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环境就绪：可真实执行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环境故障：用预置工件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纸面也要写契约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两路径产出相同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失败记录课堂启动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验收五项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契约五字段是否完整？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可写层是否到具体文件？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diff 六项是否逐项检查？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是否有验证证据与人工核验？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失败与 AI 记录是否写入？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优先真实项目；备用贯穿案例必须改换子问题或表述。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实践停留页：文件写入位置与 diff 审查六项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43:00–60:00｜停留本页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只含任务契约“可写”层文件？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未引入未授权依赖或外部调用？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未修改评价、结果、失败日志、notes？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测试先审查，且覆盖关键路径？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没有做 Non-goal 声明不做的事？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commit message 未把推断写成事实？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本课产出写入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agent-tasks/task-01.md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agent-traces/generate.diff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agent-traces/test-output.txt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人工核验清单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agent-traces/failure-log.md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ai-usage-log.md 开头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现场故障：审查课次预置 diff / unittest / failure-log。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同伴互查：只提问题，不替作者决定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abel-0">
            <a:extLst xmlns:a="http://schemas.openxmlformats.org/drawingml/2006/main">
              <a:ext uri="{FF2B5EF4-FFF2-40B4-BE49-F238E27FC236}">
                <a16:creationId xmlns:a16="http://schemas.microsoft.com/office/drawing/2014/main" id="{4AB489BC-DFA7-492E-AD6C-3A26BBB5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7" name="p15-question-0">
            <a:extLst xmlns:a="http://schemas.openxmlformats.org/drawingml/2006/main">
              <a:ext uri="{FF2B5EF4-FFF2-40B4-BE49-F238E27FC236}">
                <a16:creationId xmlns:a16="http://schemas.microsoft.com/office/drawing/2014/main" id="{3C83C729-0BC4-4252-ABF7-DFE31F3E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430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是否只给任务所需材料，且不暴露最终 rubric？</a:t>
            </a:r>
          </a:p>
        </p:txBody>
      </p:sp>
      <p:sp>
        <p:nvSpPr>
          <p:cNvPr id="8" name="p15-label-1">
            <a:extLst xmlns:a="http://schemas.openxmlformats.org/drawingml/2006/main">
              <a:ext uri="{FF2B5EF4-FFF2-40B4-BE49-F238E27FC236}">
                <a16:creationId xmlns:a16="http://schemas.microsoft.com/office/drawing/2014/main" id="{86D45EC5-9E74-4E86-9FCB-E7A54F2A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Permission</a:t>
            </a:r>
          </a:p>
        </p:txBody>
      </p:sp>
      <p:sp>
        <p:nvSpPr>
          <p:cNvPr id="9" name="p15-question-1">
            <a:extLst xmlns:a="http://schemas.openxmlformats.org/drawingml/2006/main">
              <a:ext uri="{FF2B5EF4-FFF2-40B4-BE49-F238E27FC236}">
                <a16:creationId xmlns:a16="http://schemas.microsoft.com/office/drawing/2014/main" id="{6F14668C-203B-41F0-8856-613DF947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可写到具体文件？需确认与禁止是否明确？</a:t>
            </a:r>
          </a:p>
        </p:txBody>
      </p:sp>
      <p:sp>
        <p:nvSpPr>
          <p:cNvPr id="10" name="p15-label-2">
            <a:extLst xmlns:a="http://schemas.openxmlformats.org/drawingml/2006/main">
              <a:ext uri="{FF2B5EF4-FFF2-40B4-BE49-F238E27FC236}">
                <a16:creationId xmlns:a16="http://schemas.microsoft.com/office/drawing/2014/main" id="{4870307E-623C-4E2C-9054-0EAA768E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Non-goal + 审核</a:t>
            </a:r>
          </a:p>
        </p:txBody>
      </p:sp>
      <p:sp>
        <p:nvSpPr>
          <p:cNvPr id="11" name="p15-question-2">
            <a:extLst xmlns:a="http://schemas.openxmlformats.org/drawingml/2006/main">
              <a:ext uri="{FF2B5EF4-FFF2-40B4-BE49-F238E27FC236}">
                <a16:creationId xmlns:a16="http://schemas.microsoft.com/office/drawing/2014/main" id="{D0808C69-B981-423D-BD26-5E9034D0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051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防膨胀？写回、测试失败、评价改动是否会停？</a:t>
            </a:r>
          </a:p>
        </p:txBody>
      </p:sp>
      <p:sp>
        <p:nvSpPr>
          <p:cNvPr id="12" name="p15-label-3">
            <a:extLst xmlns:a="http://schemas.openxmlformats.org/drawingml/2006/main">
              <a:ext uri="{FF2B5EF4-FFF2-40B4-BE49-F238E27FC236}">
                <a16:creationId xmlns:a16="http://schemas.microsoft.com/office/drawing/2014/main" id="{AA1519C9-39A6-4570-96B5-8AC70653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失败恢复 + diff</a:t>
            </a:r>
          </a:p>
        </p:txBody>
      </p:sp>
      <p:sp>
        <p:nvSpPr>
          <p:cNvPr id="13" name="p15-question-3">
            <a:extLst xmlns:a="http://schemas.openxmlformats.org/drawingml/2006/main">
              <a:ext uri="{FF2B5EF4-FFF2-40B4-BE49-F238E27FC236}">
                <a16:creationId xmlns:a16="http://schemas.microsoft.com/office/drawing/2014/main" id="{D6F30B87-D41F-4E3D-A206-F714096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861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超时 / 越权 / 测试失败有处理？范围与依赖合规？</a:t>
            </a:r>
          </a:p>
        </p:txBody>
      </p:sp>
      <p:sp>
        <p:nvSpPr>
          <p:cNvPr id="14" name="p15-label-4">
            <a:extLst xmlns:a="http://schemas.openxmlformats.org/drawingml/2006/main">
              <a:ext uri="{FF2B5EF4-FFF2-40B4-BE49-F238E27FC236}">
                <a16:creationId xmlns:a16="http://schemas.microsoft.com/office/drawing/2014/main" id="{6AB2B7AF-34B4-4E53-BCF9-F25B002C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记录完整性</a:t>
            </a:r>
          </a:p>
        </p:txBody>
      </p:sp>
      <p:sp>
        <p:nvSpPr>
          <p:cNvPr id="15" name="p15-question-4">
            <a:extLst xmlns:a="http://schemas.openxmlformats.org/drawingml/2006/main">
              <a:ext uri="{FF2B5EF4-FFF2-40B4-BE49-F238E27FC236}">
                <a16:creationId xmlns:a16="http://schemas.microsoft.com/office/drawing/2014/main" id="{04680E33-595C-4C64-B45B-F3198D1C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672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失败记录与 AI 使用记录是否齐全？</a:t>
            </a:r>
          </a:p>
        </p:txBody>
      </p:sp>
      <p:sp>
        <p:nvSpPr>
          <p:cNvPr id="16" name="p15-format">
            <a:extLst xmlns:a="http://schemas.openxmlformats.org/drawingml/2006/main">
              <a:ext uri="{FF2B5EF4-FFF2-40B4-BE49-F238E27FC236}">
                <a16:creationId xmlns:a16="http://schemas.microsoft.com/office/drawing/2014/main" id="{08CFB459-0945-4EB8-833D-4B53FB3C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625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+ 3–5 分钟互查｜作者记：采纳 / 暂不采纳 / 待核验</a:t>
            </a:r>
          </a:p>
        </p:txBody>
      </p:sp>
      <p:sp>
        <p:nvSpPr>
          <p:cNvPr id="17" name="p15-bottom">
            <a:extLst xmlns:a="http://schemas.openxmlformats.org/drawingml/2006/main">
              <a:ext uri="{FF2B5EF4-FFF2-40B4-BE49-F238E27FC236}">
                <a16:creationId xmlns:a16="http://schemas.microsoft.com/office/drawing/2014/main" id="{25034347-F3F5-40AA-930D-7A0966B3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6260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summary-10-number-0">
            <a:extLst xmlns:a="http://schemas.openxmlformats.org/drawingml/2006/main">
              <a:ext uri="{FF2B5EF4-FFF2-40B4-BE49-F238E27FC236}">
                <a16:creationId xmlns:a16="http://schemas.microsoft.com/office/drawing/2014/main" id="{351A36F8-31E3-4604-B46E-2779FE82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0-heading-0">
            <a:extLst xmlns:a="http://schemas.openxmlformats.org/drawingml/2006/main">
              <a:ext uri="{FF2B5EF4-FFF2-40B4-BE49-F238E27FC236}">
                <a16:creationId xmlns:a16="http://schemas.microsoft.com/office/drawing/2014/main" id="{60B12BB4-1839-4DB3-B67F-6E3D47E4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8" name="summary-10-detail-0">
            <a:extLst xmlns:a="http://schemas.openxmlformats.org/drawingml/2006/main">
              <a:ext uri="{FF2B5EF4-FFF2-40B4-BE49-F238E27FC236}">
                <a16:creationId xmlns:a16="http://schemas.microsoft.com/office/drawing/2014/main" id="{42549185-9927-4F07-89A1-66E7066D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Context、目标、权限、Non-goal 与验收条件先写清</a:t>
            </a:r>
          </a:p>
        </p:txBody>
      </p:sp>
      <p:sp>
        <p:nvSpPr>
          <p:cNvPr id="9" name="summary-10-number-1">
            <a:extLst xmlns:a="http://schemas.openxmlformats.org/drawingml/2006/main">
              <a:ext uri="{FF2B5EF4-FFF2-40B4-BE49-F238E27FC236}">
                <a16:creationId xmlns:a16="http://schemas.microsoft.com/office/drawing/2014/main" id="{7FA8A677-6BAE-4A91-AC90-DC38508C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0-heading-1">
            <a:extLst xmlns:a="http://schemas.openxmlformats.org/drawingml/2006/main">
              <a:ext uri="{FF2B5EF4-FFF2-40B4-BE49-F238E27FC236}">
                <a16:creationId xmlns:a16="http://schemas.microsoft.com/office/drawing/2014/main" id="{3327524E-F26A-4D43-B92C-8B7CA8F9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受限执行</a:t>
            </a:r>
          </a:p>
        </p:txBody>
      </p:sp>
      <p:sp>
        <p:nvSpPr>
          <p:cNvPr id="11" name="summary-10-detail-1">
            <a:extLst xmlns:a="http://schemas.openxmlformats.org/drawingml/2006/main">
              <a:ext uri="{FF2B5EF4-FFF2-40B4-BE49-F238E27FC236}">
                <a16:creationId xmlns:a16="http://schemas.microsoft.com/office/drawing/2014/main" id="{E7C845A8-805D-49D8-836E-23377537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最小权限运行，越权、失败与停止都必须保留</a:t>
            </a:r>
          </a:p>
        </p:txBody>
      </p:sp>
      <p:sp>
        <p:nvSpPr>
          <p:cNvPr id="12" name="summary-10-number-2">
            <a:extLst xmlns:a="http://schemas.openxmlformats.org/drawingml/2006/main">
              <a:ext uri="{FF2B5EF4-FFF2-40B4-BE49-F238E27FC236}">
                <a16:creationId xmlns:a16="http://schemas.microsoft.com/office/drawing/2014/main" id="{E6A2AA52-F395-4D78-BF10-F587EFCD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0-heading-2">
            <a:extLst xmlns:a="http://schemas.openxmlformats.org/drawingml/2006/main">
              <a:ext uri="{FF2B5EF4-FFF2-40B4-BE49-F238E27FC236}">
                <a16:creationId xmlns:a16="http://schemas.microsoft.com/office/drawing/2014/main" id="{2952F14F-3DF4-4A6F-B342-CA16FFEF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diff 与验证</a:t>
            </a:r>
          </a:p>
        </p:txBody>
      </p:sp>
      <p:sp>
        <p:nvSpPr>
          <p:cNvPr id="14" name="summary-10-detail-2">
            <a:extLst xmlns:a="http://schemas.openxmlformats.org/drawingml/2006/main">
              <a:ext uri="{FF2B5EF4-FFF2-40B4-BE49-F238E27FC236}">
                <a16:creationId xmlns:a16="http://schemas.microsoft.com/office/drawing/2014/main" id="{7324D555-D9C4-4A54-A7C0-A2FAC30D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先审查改动范围，再运行测试并做人工方法核验</a:t>
            </a:r>
          </a:p>
        </p:txBody>
      </p:sp>
      <p:sp>
        <p:nvSpPr>
          <p:cNvPr id="15" name="summary-10-number-3">
            <a:extLst xmlns:a="http://schemas.openxmlformats.org/drawingml/2006/main">
              <a:ext uri="{FF2B5EF4-FFF2-40B4-BE49-F238E27FC236}">
                <a16:creationId xmlns:a16="http://schemas.microsoft.com/office/drawing/2014/main" id="{7FA014F9-04C2-42D9-BA64-9FB762CB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0-heading-3">
            <a:extLst xmlns:a="http://schemas.openxmlformats.org/drawingml/2006/main">
              <a:ext uri="{FF2B5EF4-FFF2-40B4-BE49-F238E27FC236}">
                <a16:creationId xmlns:a16="http://schemas.microsoft.com/office/drawing/2014/main" id="{3D1CBA58-C587-4B1A-BE2B-0B259DE9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失败保留</a:t>
            </a:r>
          </a:p>
        </p:txBody>
      </p:sp>
      <p:sp>
        <p:nvSpPr>
          <p:cNvPr id="17" name="summary-10-detail-3">
            <a:extLst xmlns:a="http://schemas.openxmlformats.org/drawingml/2006/main">
              <a:ext uri="{FF2B5EF4-FFF2-40B4-BE49-F238E27FC236}">
                <a16:creationId xmlns:a16="http://schemas.microsoft.com/office/drawing/2014/main" id="{AF840E45-BE62-4E70-AF56-71574061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根因修复、绕过失败与污染实验必须明确区分</a:t>
            </a:r>
          </a:p>
        </p:txBody>
      </p:sp>
      <p:sp>
        <p:nvSpPr>
          <p:cNvPr id="18" name="summary-10-boundary">
            <a:extLst xmlns:a="http://schemas.openxmlformats.org/drawingml/2006/main">
              <a:ext uri="{FF2B5EF4-FFF2-40B4-BE49-F238E27FC236}">
                <a16:creationId xmlns:a16="http://schemas.microsoft.com/office/drawing/2014/main" id="{60D09DD2-982F-4211-9FF7-15770EF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关键边界：测试通过只说明候选改动满足部分判定，不等于研究方法、结果或归因已经正确。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退出卡：这次 Agent 执行可以被安全地重复吗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6-exit-title">
            <a:extLst xmlns:a="http://schemas.openxmlformats.org/drawingml/2006/main">
              <a:ext uri="{FF2B5EF4-FFF2-40B4-BE49-F238E27FC236}">
                <a16:creationId xmlns:a16="http://schemas.microsoft.com/office/drawing/2014/main" id="{E1B0F3B8-70CE-4889-AA60-AAD3005E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失败与越权复盘</a:t>
            </a:r>
          </a:p>
        </p:txBody>
      </p:sp>
      <p:sp>
        <p:nvSpPr>
          <p:cNvPr id="7" name="p16-n-0">
            <a:extLst xmlns:a="http://schemas.openxmlformats.org/drawingml/2006/main">
              <a:ext uri="{FF2B5EF4-FFF2-40B4-BE49-F238E27FC236}">
                <a16:creationId xmlns:a16="http://schemas.microsoft.com/office/drawing/2014/main" id="{F52F852F-0FE8-480E-B802-08CC6EEC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6-q-0">
            <a:extLst xmlns:a="http://schemas.openxmlformats.org/drawingml/2006/main">
              <a:ext uri="{FF2B5EF4-FFF2-40B4-BE49-F238E27FC236}">
                <a16:creationId xmlns:a16="http://schemas.microsoft.com/office/drawing/2014/main" id="{03E1C003-D697-4334-BCFC-00FBFD8A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81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我的任务契约五字段哪项最弱？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D3D5E220-48CA-4F4A-B29D-AE78E188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DF2C9FE0-2AAB-4D56-B656-4631AB3C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可写权限是否只到具体文件？</a:t>
            </a:r>
          </a:p>
        </p:txBody>
      </p:sp>
      <p:sp>
        <p:nvSpPr>
          <p:cNvPr id="11" name="p16-n-2">
            <a:extLst xmlns:a="http://schemas.openxmlformats.org/drawingml/2006/main">
              <a:ext uri="{FF2B5EF4-FFF2-40B4-BE49-F238E27FC236}">
                <a16:creationId xmlns:a16="http://schemas.microsoft.com/office/drawing/2014/main" id="{1F933B00-50A2-49A6-9621-B48634E4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6-q-2">
            <a:extLst xmlns:a="http://schemas.openxmlformats.org/drawingml/2006/main">
              <a:ext uri="{FF2B5EF4-FFF2-40B4-BE49-F238E27FC236}">
                <a16:creationId xmlns:a16="http://schemas.microsoft.com/office/drawing/2014/main" id="{93694E98-4837-4B7E-9E68-B9CF5D0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diff 六项哪一项还没通过？</a:t>
            </a:r>
          </a:p>
        </p:txBody>
      </p:sp>
      <p:sp>
        <p:nvSpPr>
          <p:cNvPr id="13" name="p16-n-3">
            <a:extLst xmlns:a="http://schemas.openxmlformats.org/drawingml/2006/main">
              <a:ext uri="{FF2B5EF4-FFF2-40B4-BE49-F238E27FC236}">
                <a16:creationId xmlns:a16="http://schemas.microsoft.com/office/drawing/2014/main" id="{74A6FE59-FCF3-4D28-8A0E-C186DFF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6-q-3">
            <a:extLst xmlns:a="http://schemas.openxmlformats.org/drawingml/2006/main">
              <a:ext uri="{FF2B5EF4-FFF2-40B4-BE49-F238E27FC236}">
                <a16:creationId xmlns:a16="http://schemas.microsoft.com/office/drawing/2014/main" id="{ED5B5130-7694-4EA1-97D1-8FC1CCB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是否保留至少一条失败或越权？</a:t>
            </a:r>
          </a:p>
        </p:txBody>
      </p:sp>
      <p:sp>
        <p:nvSpPr>
          <p:cNvPr id="15" name="p16-n-4">
            <a:extLst xmlns:a="http://schemas.openxmlformats.org/drawingml/2006/main">
              <a:ext uri="{FF2B5EF4-FFF2-40B4-BE49-F238E27FC236}">
                <a16:creationId xmlns:a16="http://schemas.microsoft.com/office/drawing/2014/main" id="{EFECC883-CE44-4712-906F-37E5A81C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6-q-4">
            <a:extLst xmlns:a="http://schemas.openxmlformats.org/drawingml/2006/main">
              <a:ext uri="{FF2B5EF4-FFF2-40B4-BE49-F238E27FC236}">
                <a16:creationId xmlns:a16="http://schemas.microsoft.com/office/drawing/2014/main" id="{C52CE204-CE3C-47A4-9A62-2CF9E7C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产出是否已回写个人项目？</a:t>
            </a:r>
          </a:p>
        </p:txBody>
      </p:sp>
      <p:sp>
        <p:nvSpPr>
          <p:cNvPr id="17" name="p16-next-title">
            <a:extLst xmlns:a="http://schemas.openxmlformats.org/drawingml/2006/main">
              <a:ext uri="{FF2B5EF4-FFF2-40B4-BE49-F238E27FC236}">
                <a16:creationId xmlns:a16="http://schemas.microsoft.com/office/drawing/2014/main" id="{623D9715-1C91-48DD-8204-2DC1EA83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从一次执行到循环</a:t>
            </a:r>
          </a:p>
        </p:txBody>
      </p:sp>
      <p:sp>
        <p:nvSpPr>
          <p:cNvPr id="18" name="p16-line-1">
            <a:extLst xmlns:a="http://schemas.openxmlformats.org/drawingml/2006/main">
              <a:ext uri="{FF2B5EF4-FFF2-40B4-BE49-F238E27FC236}">
                <a16:creationId xmlns:a16="http://schemas.microsoft.com/office/drawing/2014/main" id="{44AC3A78-AD3E-49A2-BD93-2EC1E9A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26193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6-line-2">
            <a:extLst xmlns:a="http://schemas.openxmlformats.org/drawingml/2006/main">
              <a:ext uri="{FF2B5EF4-FFF2-40B4-BE49-F238E27FC236}">
                <a16:creationId xmlns:a16="http://schemas.microsoft.com/office/drawing/2014/main" id="{EABD11F4-46D1-49C5-9182-60103924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39909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6-now">
            <a:extLst xmlns:a="http://schemas.openxmlformats.org/drawingml/2006/main">
              <a:ext uri="{FF2B5EF4-FFF2-40B4-BE49-F238E27FC236}">
                <a16:creationId xmlns:a16="http://schemas.microsoft.com/office/drawing/2014/main" id="{ADC4F276-98BF-4155-8142-0DBC97F6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240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本课：一次受限执行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契约 + diff + 验证 + 失败</a:t>
            </a:r>
          </a:p>
        </p:txBody>
      </p:sp>
      <p:sp>
        <p:nvSpPr>
          <p:cNvPr id="21" name="p16-week8">
            <a:extLst xmlns:a="http://schemas.openxmlformats.org/drawingml/2006/main">
              <a:ext uri="{FF2B5EF4-FFF2-40B4-BE49-F238E27FC236}">
                <a16:creationId xmlns:a16="http://schemas.microsoft.com/office/drawing/2014/main" id="{6F07E4BD-2272-4F52-8299-020EF30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11 课：自动化循环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Edit → Evaluate → Keep / Discard</a:t>
            </a:r>
          </a:p>
        </p:txBody>
      </p:sp>
      <p:sp>
        <p:nvSpPr>
          <p:cNvPr id="22" name="p16-week9">
            <a:extLst xmlns:a="http://schemas.openxmlformats.org/drawingml/2006/main">
              <a:ext uri="{FF2B5EF4-FFF2-40B4-BE49-F238E27FC236}">
                <a16:creationId xmlns:a16="http://schemas.microsoft.com/office/drawing/2014/main" id="{6C0C4F82-19ED-4CF1-B1FB-AE85BD2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577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循环新增约束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预算 + 停止条件 + 回退</a:t>
            </a:r>
          </a:p>
        </p:txBody>
      </p:sp>
      <p:sp>
        <p:nvSpPr>
          <p:cNvPr id="23" name="p16-bottom">
            <a:extLst xmlns:a="http://schemas.openxmlformats.org/drawingml/2006/main">
              <a:ext uri="{FF2B5EF4-FFF2-40B4-BE49-F238E27FC236}">
                <a16:creationId xmlns:a16="http://schemas.microsoft.com/office/drawing/2014/main" id="{2BBB237B-CE52-4E43-8D61-9243520E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673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本课不正式提交；边界使执行能够被安全地重复。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2026-08-20T15:33:19.7670000Z</dcterms:created>
  <dcterms:modified xsi:type="dcterms:W3CDTF">2026-08-20T15:33:19.7670000Z</dcterms:modified>
</coreProperties>
</file>