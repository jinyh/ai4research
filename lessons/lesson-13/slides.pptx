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db923244d84046" /><Relationship Type="http://schemas.openxmlformats.org/officeDocument/2006/relationships/extended-properties" Target="/docProps/app.xml" Id="R3c70fd9361334f2c" /><Relationship Type="http://schemas.openxmlformats.org/officeDocument/2006/relationships/officeDocument" Target="/ppt/presentation.xml" Id="R356d5598827a46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04df9f48e6492d"/>
  </p:sldMasterIdLst>
  <p:notesMasterIdLst>
    <p:notesMasterId xmlns:r="http://schemas.openxmlformats.org/officeDocument/2006/relationships" r:id="R40e24404a8624cce"/>
  </p:notesMasterIdLst>
  <p:sldIdLst>
    <p:sldId xmlns:r="http://schemas.openxmlformats.org/officeDocument/2006/relationships" id="256" r:id="R8e79312a98bd40e4"/>
    <p:sldId xmlns:r="http://schemas.openxmlformats.org/officeDocument/2006/relationships" id="257" r:id="Rc59d1ca7116a4ce9"/>
    <p:sldId xmlns:r="http://schemas.openxmlformats.org/officeDocument/2006/relationships" id="258" r:id="R34c22b768e144bec"/>
    <p:sldId xmlns:r="http://schemas.openxmlformats.org/officeDocument/2006/relationships" id="259" r:id="R5926f4d35fdb46cc"/>
    <p:sldId xmlns:r="http://schemas.openxmlformats.org/officeDocument/2006/relationships" id="260" r:id="R3868708e5d494ea0"/>
    <p:sldId xmlns:r="http://schemas.openxmlformats.org/officeDocument/2006/relationships" id="261" r:id="R9f0ac992d0a64546"/>
    <p:sldId xmlns:r="http://schemas.openxmlformats.org/officeDocument/2006/relationships" id="262" r:id="R1ae7ec48c5304849"/>
    <p:sldId xmlns:r="http://schemas.openxmlformats.org/officeDocument/2006/relationships" id="263" r:id="Raf38d79a8fd947e7"/>
    <p:sldId xmlns:r="http://schemas.openxmlformats.org/officeDocument/2006/relationships" id="264" r:id="Rb58f4e10463f406e"/>
    <p:sldId xmlns:r="http://schemas.openxmlformats.org/officeDocument/2006/relationships" id="265" r:id="R16d1b1250b6b49ee"/>
    <p:sldId xmlns:r="http://schemas.openxmlformats.org/officeDocument/2006/relationships" id="266" r:id="Ra098a3c2b2b344ea"/>
    <p:sldId xmlns:r="http://schemas.openxmlformats.org/officeDocument/2006/relationships" id="267" r:id="Re801b823c2284ee1"/>
    <p:sldId xmlns:r="http://schemas.openxmlformats.org/officeDocument/2006/relationships" id="268" r:id="R7ff85cabb20f4319"/>
    <p:sldId xmlns:r="http://schemas.openxmlformats.org/officeDocument/2006/relationships" id="269" r:id="Rda02669c8d134931"/>
    <p:sldId xmlns:r="http://schemas.openxmlformats.org/officeDocument/2006/relationships" id="270" r:id="Rb780c15bd6c3445f"/>
    <p:sldId xmlns:r="http://schemas.openxmlformats.org/officeDocument/2006/relationships" id="271" r:id="R74c70b19c31941e5"/>
    <p:sldId xmlns:r="http://schemas.openxmlformats.org/officeDocument/2006/relationships" id="272" r:id="Rb6e1293615c74ab4"/>
    <p:sldId xmlns:r="http://schemas.openxmlformats.org/officeDocument/2006/relationships" id="273" r:id="R41a4e32daefa4d35"/>
    <p:sldId xmlns:r="http://schemas.openxmlformats.org/officeDocument/2006/relationships" id="274" r:id="Rc800637fb87f4417"/>
    <p:sldId xmlns:r="http://schemas.openxmlformats.org/officeDocument/2006/relationships" id="275" r:id="R2c70892c117144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d49045b9ce459d" /><Relationship Type="http://schemas.openxmlformats.org/officeDocument/2006/relationships/slideMaster" Target="/ppt/slideMasters/slideMaster1.xml" Id="R4504df9f48e6492d" /><Relationship Type="http://schemas.openxmlformats.org/officeDocument/2006/relationships/notesMaster" Target="/ppt/notesMasters/notesMaster1.xml" Id="R40e24404a8624cce" /><Relationship Type="http://schemas.openxmlformats.org/officeDocument/2006/relationships/presProps" Target="/ppt/presProps.xml" Id="R50b52733f9544faf" /><Relationship Type="http://schemas.openxmlformats.org/officeDocument/2006/relationships/viewProps" Target="/ppt/viewProps.xml" Id="Rad145bb08f064ae2" /><Relationship Type="http://schemas.openxmlformats.org/officeDocument/2006/relationships/tableStyles" Target="/ppt/tableStyles.xml" Id="R10e970706809471f" /><Relationship Type="http://schemas.openxmlformats.org/officeDocument/2006/relationships/slide" Target="/ppt/slides/slide1.xml" Id="R8e79312a98bd40e4" /><Relationship Type="http://schemas.openxmlformats.org/officeDocument/2006/relationships/slide" Target="/ppt/slides/slide2.xml" Id="Rc59d1ca7116a4ce9" /><Relationship Type="http://schemas.openxmlformats.org/officeDocument/2006/relationships/slide" Target="/ppt/slides/slide3.xml" Id="R34c22b768e144bec" /><Relationship Type="http://schemas.openxmlformats.org/officeDocument/2006/relationships/slide" Target="/ppt/slides/slide4.xml" Id="R5926f4d35fdb46cc" /><Relationship Type="http://schemas.openxmlformats.org/officeDocument/2006/relationships/slide" Target="/ppt/slides/slide5.xml" Id="R3868708e5d494ea0" /><Relationship Type="http://schemas.openxmlformats.org/officeDocument/2006/relationships/slide" Target="/ppt/slides/slide6.xml" Id="R9f0ac992d0a64546" /><Relationship Type="http://schemas.openxmlformats.org/officeDocument/2006/relationships/slide" Target="/ppt/slides/slide7.xml" Id="R1ae7ec48c5304849" /><Relationship Type="http://schemas.openxmlformats.org/officeDocument/2006/relationships/slide" Target="/ppt/slides/slide8.xml" Id="Raf38d79a8fd947e7" /><Relationship Type="http://schemas.openxmlformats.org/officeDocument/2006/relationships/slide" Target="/ppt/slides/slide9.xml" Id="Rb58f4e10463f406e" /><Relationship Type="http://schemas.openxmlformats.org/officeDocument/2006/relationships/slide" Target="/ppt/slides/slide10.xml" Id="R16d1b1250b6b49ee" /><Relationship Type="http://schemas.openxmlformats.org/officeDocument/2006/relationships/slide" Target="/ppt/slides/slide11.xml" Id="Ra098a3c2b2b344ea" /><Relationship Type="http://schemas.openxmlformats.org/officeDocument/2006/relationships/slide" Target="/ppt/slides/slide12.xml" Id="Re801b823c2284ee1" /><Relationship Type="http://schemas.openxmlformats.org/officeDocument/2006/relationships/slide" Target="/ppt/slides/slide13.xml" Id="R7ff85cabb20f4319" /><Relationship Type="http://schemas.openxmlformats.org/officeDocument/2006/relationships/slide" Target="/ppt/slides/slide14.xml" Id="Rda02669c8d134931" /><Relationship Type="http://schemas.openxmlformats.org/officeDocument/2006/relationships/slide" Target="/ppt/slides/slide15.xml" Id="Rb780c15bd6c3445f" /><Relationship Type="http://schemas.openxmlformats.org/officeDocument/2006/relationships/slide" Target="/ppt/slides/slide16.xml" Id="R74c70b19c31941e5" /><Relationship Type="http://schemas.openxmlformats.org/officeDocument/2006/relationships/slide" Target="/ppt/slides/slide17.xml" Id="Rb6e1293615c74ab4" /><Relationship Type="http://schemas.openxmlformats.org/officeDocument/2006/relationships/slide" Target="/ppt/slides/slide18.xml" Id="R41a4e32daefa4d35" /><Relationship Type="http://schemas.openxmlformats.org/officeDocument/2006/relationships/slide" Target="/ppt/slides/slide19.xml" Id="Rc800637fb87f4417" /><Relationship Type="http://schemas.openxmlformats.org/officeDocument/2006/relationships/slide" Target="/ppt/slides/slide20.xml" Id="R2c70892c117144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b59241d98049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92953b2aa647a1" /><Relationship Type="http://schemas.openxmlformats.org/officeDocument/2006/relationships/notesMaster" Target="/ppt/notesMasters/notesMaster1.xml" Id="R461fdd7b01a34b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08945d1b104a6b" /><Relationship Type="http://schemas.openxmlformats.org/officeDocument/2006/relationships/notesMaster" Target="/ppt/notesMasters/notesMaster1.xml" Id="R7cc3f57da8534c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5ae79d6dd84cce" /><Relationship Type="http://schemas.openxmlformats.org/officeDocument/2006/relationships/notesMaster" Target="/ppt/notesMasters/notesMaster1.xml" Id="Re2c4122a7dcd43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d7bf9850d2457b" /><Relationship Type="http://schemas.openxmlformats.org/officeDocument/2006/relationships/notesMaster" Target="/ppt/notesMasters/notesMaster1.xml" Id="R2391dee9ba644b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3b256511b644a0" /><Relationship Type="http://schemas.openxmlformats.org/officeDocument/2006/relationships/notesMaster" Target="/ppt/notesMasters/notesMaster1.xml" Id="Rf011e392dc7d48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0a3c58b5dd4711" /><Relationship Type="http://schemas.openxmlformats.org/officeDocument/2006/relationships/notesMaster" Target="/ppt/notesMasters/notesMaster1.xml" Id="R98a75526b09b47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671e7134334ff7" /><Relationship Type="http://schemas.openxmlformats.org/officeDocument/2006/relationships/notesMaster" Target="/ppt/notesMasters/notesMaster1.xml" Id="R451da8d0edd840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87cd4bf8b948ab" /><Relationship Type="http://schemas.openxmlformats.org/officeDocument/2006/relationships/notesMaster" Target="/ppt/notesMasters/notesMaster1.xml" Id="Rc3cf19b7298d47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11212ec52d4cff" /><Relationship Type="http://schemas.openxmlformats.org/officeDocument/2006/relationships/notesMaster" Target="/ppt/notesMasters/notesMaster1.xml" Id="Rcb088a939d9c41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5f3814e08a499c" /><Relationship Type="http://schemas.openxmlformats.org/officeDocument/2006/relationships/notesMaster" Target="/ppt/notesMasters/notesMaster1.xml" Id="R69d1adc6cc5943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5bb4478477495f" /><Relationship Type="http://schemas.openxmlformats.org/officeDocument/2006/relationships/notesMaster" Target="/ppt/notesMasters/notesMaster1.xml" Id="R68aa57f0071942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2f273a8d4749f3" /><Relationship Type="http://schemas.openxmlformats.org/officeDocument/2006/relationships/notesMaster" Target="/ppt/notesMasters/notesMaster1.xml" Id="R7f4e3fcb06b74a1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3aa7c54f2345be" /><Relationship Type="http://schemas.openxmlformats.org/officeDocument/2006/relationships/notesMaster" Target="/ppt/notesMasters/notesMaster1.xml" Id="R942fa55c5faa4b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8ccec5f3a043d3" /><Relationship Type="http://schemas.openxmlformats.org/officeDocument/2006/relationships/notesMaster" Target="/ppt/notesMasters/notesMaster1.xml" Id="R86f26922e5394e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a872a4c9b74985" /><Relationship Type="http://schemas.openxmlformats.org/officeDocument/2006/relationships/notesMaster" Target="/ppt/notesMasters/notesMaster1.xml" Id="Rf886afad476e48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52b0cf57e4b437b" /><Relationship Type="http://schemas.openxmlformats.org/officeDocument/2006/relationships/notesMaster" Target="/ppt/notesMasters/notesMaster1.xml" Id="R5abd7e10f4a94d0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b4af6c8e0384311" /><Relationship Type="http://schemas.openxmlformats.org/officeDocument/2006/relationships/notesMaster" Target="/ppt/notesMasters/notesMaster1.xml" Id="R1808ebf77f5d4ed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f54d36bb2da4af1" /><Relationship Type="http://schemas.openxmlformats.org/officeDocument/2006/relationships/notesMaster" Target="/ppt/notesMasters/notesMaster1.xml" Id="R0ff0d4ac0bae43b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9c23b740534792" /><Relationship Type="http://schemas.openxmlformats.org/officeDocument/2006/relationships/notesMaster" Target="/ppt/notesMasters/notesMaster1.xml" Id="R578e6a7ca2f6419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fd18b166a58458a" /><Relationship Type="http://schemas.openxmlformats.org/officeDocument/2006/relationships/notesMaster" Target="/ppt/notesMasters/notesMaster1.xml" Id="R364a16b4f1b444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第13讲 工作流评价、结果分析与失败复盘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第13讲 工作流评价、结果分析与失败复盘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开场放下工作流原型。第 10-12 课你完成了受限 Agent 执行、实验自动化和个人 Agent Workflow 设计，但"能运行"和"经过评价"之间还有距离。本课把原型收口为评价材料，并完成第三次正式提交——验证门。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13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工作流原型还缺评价闭环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工作流原型还缺评价闭环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agent-workflow/</a:t>
            </a:r>
          </a:p>
          <a:p xmlns:a="http://schemas.openxmlformats.org/drawingml/2006/main">
            <a:r>
              <a:t>contract.md          ✓</a:t>
            </a:r>
          </a:p>
          <a:p xmlns:a="http://schemas.openxmlformats.org/drawingml/2006/main">
            <a:r>
              <a:t>runs/                ✓</a:t>
            </a:r>
          </a:p>
          <a:p xmlns:a="http://schemas.openxmlformats.org/drawingml/2006/main">
            <a:r>
              <a:t>failure-trace.jsonl  ✓</a:t>
            </a:r>
          </a:p>
          <a:p xmlns:a="http://schemas.openxmlformats.org/drawingml/2006/main">
            <a:r>
              <a:t>baseline-report.md   ?</a:t>
            </a:r>
          </a:p>
          <a:p xmlns:a="http://schemas.openxmlformats.org/drawingml/2006/main">
            <a:r>
              <a:t>evaluation-report.md ?</a:t>
            </a:r>
          </a:p>
          <a:p xmlns:a="http://schemas.openxmlformats.org/drawingml/2006/main">
            <a:r>
              <a:t>judgment-revision.md ?</a:t>
            </a:r>
          </a:p>
          <a:p xmlns:a="http://schemas.openxmlformats.org/drawingml/2006/main">
            <a:r>
              <a:t>本课补齐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一张对照</a:t>
            </a:r>
          </a:p>
          <a:p xmlns:a="http://schemas.openxmlformats.org/drawingml/2006/main">
            <a:r>
              <a:t>一项失败 / 局限</a:t>
            </a:r>
          </a:p>
          <a:p xmlns:a="http://schemas.openxmlformats.org/drawingml/2006/main">
            <a:r>
              <a:t>一条判断修订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10-12 课：任务契约、执行循环和工作流原型让"做什么"和"怎么做"可见，但没有回答"是否改善了目标科研动作""结果支持还是反驳假设""失败怎么处理"。本课进入阶段七成案+评价，把原型变成验证门可检查材料。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快问：你第 12 课的工作流原型跑过几次？有没有 baseline 对比？只听回答，不评价。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**板书主线**：观察 → 候选原因 → 诊断证据 → 新版本。</a:t>
            </a:r>
          </a:p>
          <a:p xmlns:a="http://schemas.openxmlformats.org/drawingml/2006/main">
            <a:r>
              <a:t>- **诊断问题**：T03更差，能否直接认定图表提取是根因？</a:t>
            </a:r>
          </a:p>
          <a:p xmlns:a="http://schemas.openxmlformats.org/drawingml/2006/main">
            <a:r>
              <a:t>- **预期回答**：只能列候选原因，需过程检查或针对性对照。</a:t>
            </a:r>
          </a:p>
          <a:p xmlns:a="http://schemas.openxmlformats.org/drawingml/2006/main">
            <a:r>
              <a:t>- **常见误答后的追问**：若删负例，要求恢复并解释它怎样限制主张。</a:t>
            </a:r>
          </a:p>
          <a:p xmlns:a="http://schemas.openxmlformats.org/drawingml/2006/main">
            <a:r>
              <a:t>- **过渡串词**：“结果与边界清楚之后，下一课把它写成能反查的段落。”</a:t>
            </a:r>
          </a:p>
          <a:p xmlns:a="http://schemas.openxmlformats.org/drawingml/2006/main">
            <a:r>
              <a:t>- **当堂最小产出**：一张对照、一项失败/局限、一条判断修订。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10-12 课讲义；[AGENTS.md](../../AGENTS.md)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评价报告先完成三个可检查字段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评价报告先完成三个可检查字段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evaluation-report.md</a:t>
            </a:r>
          </a:p>
          <a:p xmlns:a="http://schemas.openxmlformats.org/drawingml/2006/main">
            <a:r>
              <a:t>## 结果对照｜输入、条件、运行数、主指标与结果</a:t>
            </a:r>
          </a:p>
          <a:p xmlns:a="http://schemas.openxmlformats.org/drawingml/2006/main">
            <a:r>
              <a:t>## 失败或局限｜表现、根因、边界与下一步</a:t>
            </a:r>
          </a:p>
          <a:p xmlns:a="http://schemas.openxmlformats.org/drawingml/2006/main">
            <a:r>
              <a:t>## 判断修订｜支持 / 反驳 / 仍不能判断 + 证据理由</a:t>
            </a:r>
          </a:p>
          <a:p xmlns:a="http://schemas.openxmlformats.org/drawingml/2006/main">
            <a:r>
              <a:t>课后补全｜人工审核、充分性、威胁、伦理与 10 项自查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明确边界：课堂只把课前已有结果收口为三项最低产出，不现场重跑完整研究。验证门条件仍以 [assignments.md](../../course/assignments.md) Checkpoint 3 为权威来源，其余字段课后补全。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[备课规划.md](../备课规划.md) 第 13 课目标段；[assignments.md](../../course/assignments.md) Checkpoint 3 验证门条件。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先看同一材料上的结果对照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源文本 | 阅读卡遗漏 | 自由摘要遗漏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T01 | 0/3 | 2/3 |</a:t>
            </a:r>
          </a:p>
          <a:p xmlns:a="http://schemas.openxmlformats.org/drawingml/2006/main">
            <a:r>
              <a:t>| T02 | 1/3 | 1/3 |</a:t>
            </a:r>
          </a:p>
          <a:p xmlns:a="http://schemas.openxmlformats.org/drawingml/2006/main">
            <a:r>
              <a:t>| T03 | 2/2 | 1/2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全为教学构造；三种方向都保留。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逐行读结果，先问是否每个材料都改善。学生应找到T02无改善、T03更差。总数不能替代分项，也不据3份构造材料外推真实研究效果。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选一行，反查其分母来自哪些源文本条件。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https://research.google/pubs/the-ml-test-score-a-rubric-for-ml-production-readiness-and-technical-debt-reduction/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评价维度由科研问题决定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评价维度由科研问题决定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工作流是否降低限定条件遗漏率？</a:t>
            </a:r>
          </a:p>
          <a:p xmlns:a="http://schemas.openxmlformats.org/drawingml/2006/main">
            <a:r>
              <a:t>主指标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人工基准遗漏率</a:t>
            </a:r>
          </a:p>
          <a:p xmlns:a="http://schemas.openxmlformats.org/drawingml/2006/main">
            <a:r>
              <a:t>运行风险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失败率 / 无效输出</a:t>
            </a:r>
          </a:p>
          <a:p xmlns:a="http://schemas.openxmlformats.org/drawingml/2006/main">
            <a:r>
              <a:t>人工代价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修订量 / 时间</a:t>
            </a:r>
          </a:p>
          <a:p xmlns:a="http://schemas.openxmlformats.org/drawingml/2006/main">
            <a:r>
              <a:t>权限风险</a:t>
            </a:r>
          </a:p>
          <a:p xmlns:a="http://schemas.openxmlformats.org/drawingml/2006/main">
            <a:r>
              <a:t>越权 / 外发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先由科研问题确定主指标。贯穿案例主指标为人工基准限定条件遗漏率；屏显另列运行失败、人工修订代价与权限风险，帮助观察工作流的局限，不要求把每个维度都做成研究假设。评价必须有 baseline、前后对比、对照或与研究问题相称的等价依据。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让学生为自己的工作流选至少 2 个维度，并说明为什么不选其他。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§二·2；[备课规划.md](../备课规划.md) 第 13 课评价维度段。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评价协议先锁住对象与口径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输入：同一批 T01–T03，两个条件各一份固定输出。</a:t>
            </a:r>
          </a:p>
          <a:p xmlns:a="http://schemas.openxmlformats.org/drawingml/2006/main">
            <a:r>
              <a:t>基准：人工列出的 8 项应保留条件。</a:t>
            </a:r>
          </a:p>
          <a:p xmlns:a="http://schemas.openxmlformats.org/drawingml/2006/main">
            <a:r>
              <a:t>评价：16 条条件×输出标注，核验原文与输出定位。</a:t>
            </a:r>
          </a:p>
          <a:p xmlns:a="http://schemas.openxmlformats.org/drawingml/2006/main">
            <a:r>
              <a:t>汇总：各条件缺失数之和 / 基准条件数之和。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参考标注随包提供，是可校准答案，不是已完成独立盲评的证据。先让学生独立标一项再展示参考。脚本不会判断语义，不能把运行成功说成标注正确。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独立标注一项，展示引用原句后与参考答案核对。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https://proceedings.mlsys.org/paper_files/paper/2021/hash/0184b0cd3cfb185989f858a1d9f5c1eb-Abstract.html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评价报告必须写出判断变化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评价报告条目 | 本次应写入的判断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结果比较 | 阅读卡 3/8；自由摘要 4/8 |</a:t>
            </a:r>
          </a:p>
          <a:p xmlns:a="http://schemas.openxmlformats.org/drawingml/2006/main">
            <a:r>
              <a:t>| Q1 | 仅在构造包内方向一致 |</a:t>
            </a:r>
          </a:p>
          <a:p xmlns:a="http://schemas.openxmlformats.org/drawingml/2006/main">
            <a:r>
              <a:t>| H1 与 A2 | 仍不能区分生成机制和评分提示 |</a:t>
            </a:r>
          </a:p>
          <a:p xmlns:a="http://schemas.openxmlformats.org/drawingml/2006/main">
            <a:r>
              <a:t>| 采用决定 | 暂不依据本结果决定采用 |</a:t>
            </a:r>
          </a:p>
          <a:p xmlns:a="http://schemas.openxmlformats.org/drawingml/2006/main">
            <a:r>
              <a:t>| 下一步 | 区分解释，补测其他质量与范围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保存到 evaluation-report.md，并关联逐项标注。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评价报告必须回答"工作流改变了哪个研究判断"。如果回答不出，说明评价还停留在功能清单层。组件保留/修改/移除的判断要写依据，不能只写"感觉有用"。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让学生检查自己的评价报告是否回答了"改变了哪个判断"。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本页数值、论文反例与运行 ID 属课程虚构教学示例，不是实际学生实验结果。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§二·4；[project-template.md](../../course/project-template.md) §8.5-8.6。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结果、机制、质量、范围分别判断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Q1｜本构造包方向一致：3/8 &lt; 4/8。</a:t>
            </a:r>
          </a:p>
          <a:p xmlns:a="http://schemas.openxmlformats.org/drawingml/2006/main">
            <a:r>
              <a:t>H1 / A2｜现有结果不能区分机制与测量解释。</a:t>
            </a:r>
          </a:p>
          <a:p xmlns:a="http://schemas.openxmlformats.org/drawingml/2006/main">
            <a:r>
              <a:t>A1｜其他质量错误未测量。</a:t>
            </a:r>
          </a:p>
          <a:p xmlns:a="http://schemas.openxmlformats.org/drawingml/2006/main">
            <a:r>
              <a:t>A3｜T03 为负例；不能外推所有材料。</a:t>
            </a:r>
          </a:p>
          <a:p xmlns:a="http://schemas.openxmlformats.org/drawingml/2006/main">
            <a:r>
              <a:t>J1｜是否采用，还需质量与资源依据。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三态是对一条明确命题作判断，不是把全项目贴一个支持标签。严禁将H1写成“支持待验证”同时又说没有区分解释。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把一条笼统“方法有效”拆成已知与未决两行。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汇总较好，负例仍然重要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总遗漏率：阅读卡 3/8 = 0.375；自由摘要 4/8 = 0.500。</a:t>
            </a:r>
          </a:p>
          <a:p xmlns:a="http://schemas.openxmlformats.org/drawingml/2006/main">
            <a:r>
              <a:t>差值（阅读卡－自由摘要）：−0.125。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T02 无改善；T03 阅读卡反而多遗漏一项。</a:t>
            </a:r>
          </a:p>
          <a:p xmlns:a="http://schemas.openxmlformats.org/drawingml/2006/main">
            <a:r>
              <a:t>无随机重复，不画误差线，不作显著性判断。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汇总采用micro口径，不是三个比例的简单平均。先数缺失条目再除8。图中若出现误差线就会暗示不存在的统计量；现有材料不支持。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说明为什么总分较好仍不能写“所有文本都更好”。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证据地图保留没有回答的问题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已观察：哪些限定条件被遗漏。</a:t>
            </a:r>
          </a:p>
          <a:p xmlns:a="http://schemas.openxmlformats.org/drawingml/2006/main">
            <a:r>
              <a:t>未区分：H1 与 A2。</a:t>
            </a:r>
          </a:p>
          <a:p xmlns:a="http://schemas.openxmlformats.org/drawingml/2006/main">
            <a:r>
              <a:t>未测量：其他事实错误与总质量代价。</a:t>
            </a:r>
          </a:p>
          <a:p xmlns:a="http://schemas.openxmlformats.org/drawingml/2006/main">
            <a:r>
              <a:t>范围线索：T03 涉及图示条件且出现负向结果。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线索可以提出后续检查，不能直接命名根因。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从T03提出“图表条件提取不足”候选解释；没有消融、过程检查或重复对照前不能写成确诊原因。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为一个候选原因补一项能区分它的诊断观察。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把结论边界贴在数字旁边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3 份教学构造文本，不代表真实论文总体。</a:t>
            </a:r>
          </a:p>
          <a:p xmlns:a="http://schemas.openxmlformats.org/drawingml/2006/main">
            <a:r>
              <a:t>固定输出回放，不估计模型随机波动。</a:t>
            </a:r>
          </a:p>
          <a:p xmlns:a="http://schemas.openxmlformats.org/drawingml/2006/main">
            <a:r>
              <a:t>参考标注需人工核验，不等于独立盲评。</a:t>
            </a:r>
          </a:p>
          <a:p xmlns:a="http://schemas.openxmlformats.org/drawingml/2006/main">
            <a:r>
              <a:t>只测限定条件遗漏，未覆盖全部质量。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每个边界都对应实际设计的局限，避免空泛“样本有限”后继续写普遍结论。若换成个人项目，边界必须根据其实际方法重写。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圈出当前结论超出了哪一项设计允许的范围。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失败必须留在运行账本中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记录类型 | 可打开的对象 | 处理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技术失败 | run-003：T02-card 受控失败 | 保留；run-004 恢复 |</a:t>
            </a:r>
          </a:p>
          <a:p xmlns:a="http://schemas.openxmlformats.org/drawingml/2006/main">
            <a:r>
              <a:t>| 研究负例 | T03：阅读卡 2/2，自由摘要 1/2 | 照常进入评价 |</a:t>
            </a:r>
          </a:p>
          <a:p xmlns:a="http://schemas.openxmlformats.org/drawingml/2006/main">
            <a:r>
              <a:t>| 接口拒绝 | access_denied：executor 请求 gold | 拒绝并记录边界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不得删除失败、事后偷改协议或伪造记录。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失败审计要对每次失败做根因。最严重的错误是静默重跑删除失败痕迹——这是学术规范红线。第 1 课 §五·4 已说"失败不是重跑到成功，而是工作流评价材料"，本课把它落到验证门。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让学生检查自己的实验目录：失败运行的日志还在吗？还是被删了？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本页数值、论文反例与运行 ID 属课程虚构教学示例，不是实际学生实验结果。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§四·1；[AGENTS.md](../../AGENTS.md)；[assessment.md](../../course/assessment.md) 学术规范红线；第 1 课 §五·4。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负例到修订之间，还差一次诊断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观察：T03 阅读卡遗漏 2/2，自由摘要遗漏 1/2。</a:t>
            </a:r>
          </a:p>
          <a:p xmlns:a="http://schemas.openxmlformats.org/drawingml/2006/main">
            <a:r>
              <a:t>候选原因：图示条件没有被正确提取。</a:t>
            </a:r>
          </a:p>
          <a:p xmlns:a="http://schemas.openxmlformats.org/drawingml/2006/main">
            <a:r>
              <a:t>待补证据：检查定位/提取过程或做针对性对照。</a:t>
            </a:r>
          </a:p>
          <a:p xmlns:a="http://schemas.openxmlformats.org/drawingml/2006/main">
            <a:r>
              <a:t>新版本：依据诊断再修订，保留旧输出和旧负例。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把技术中断与研究负例分开：前者可用受控失败演示恢复；后者不能靠重跑删除。讲义的根因分类是检查线索，不是现成诊断答案。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写“观察—候选原因—诊断—修订”四项，不虚构已经完成的实验。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https://research.google/pubs/hidden-technical-debt-in-machine-learning-systems/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一次技术失败也能反查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§三、结果分析；四、失败审计；五、贯穿案例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T02-card：受控失败事件</a:t>
            </a:r>
          </a:p>
          <a:p xmlns:a="http://schemas.openxmlformats.org/drawingml/2006/main">
            <a:r>
              <a:t>同一任务：新的调用恢复成功</a:t>
            </a:r>
          </a:p>
          <a:p xmlns:a="http://schemas.openxmlformats.org/drawingml/2006/main">
            <a:r>
              <a:t>输入摘要：保持一致</a:t>
            </a:r>
          </a:p>
          <a:p xmlns:a="http://schemas.openxmlformats.org/drawingml/2006/main">
            <a:r>
              <a:t>评价记录：使用最终完整的六份固定输出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技术恢复与研究负例分别保留。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只引用实际日志中的run_id，不写死虚构编号。打开events找到旧失败，再打开evaluation找到T03负例，确认这两个对象没有混为一谈。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各指出一条技术失败和一条负向研究观察的位置。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https://proceedings.mlr.press/v235/huang24y.html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验证门 10 项检查当前项目版本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验证门 10 项检查当前项目版本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12 课已建立</a:t>
            </a:r>
          </a:p>
          <a:p xmlns:a="http://schemas.openxmlformats.org/drawingml/2006/main">
            <a:r>
              <a:t>本课收口与课后补全</a:t>
            </a:r>
          </a:p>
          <a:p xmlns:a="http://schemas.openxmlformats.org/drawingml/2006/main">
            <a:r>
              <a:t>— 1 明确科研动作与边界</a:t>
            </a:r>
          </a:p>
          <a:p xmlns:a="http://schemas.openxmlformats.org/drawingml/2006/main">
            <a:r>
              <a:t>— 2 可运行或可演示原型</a:t>
            </a:r>
          </a:p>
          <a:p xmlns:a="http://schemas.openxmlformats.org/drawingml/2006/main">
            <a:r>
              <a:t>— 3 Context / 状态 / 数据来源</a:t>
            </a:r>
          </a:p>
          <a:p xmlns:a="http://schemas.openxmlformats.org/drawingml/2006/main">
            <a:r>
              <a:t>— 4 权限 / 预算 / 停止</a:t>
            </a:r>
          </a:p>
          <a:p xmlns:a="http://schemas.openxmlformats.org/drawingml/2006/main">
            <a:r>
              <a:t>— 5 可重复评价</a:t>
            </a:r>
          </a:p>
          <a:p xmlns:a="http://schemas.openxmlformats.org/drawingml/2006/main">
            <a:r>
              <a:t>— 6 失败或局限</a:t>
            </a:r>
          </a:p>
          <a:p xmlns:a="http://schemas.openxmlformats.org/drawingml/2006/main">
            <a:r>
              <a:t>— 7 人工审核</a:t>
            </a:r>
          </a:p>
          <a:p xmlns:a="http://schemas.openxmlformats.org/drawingml/2006/main">
            <a:r>
              <a:t>— 8 实际影响</a:t>
            </a:r>
          </a:p>
          <a:p xmlns:a="http://schemas.openxmlformats.org/drawingml/2006/main">
            <a:r>
              <a:t>— 9 证据与风险</a:t>
            </a:r>
          </a:p>
          <a:p xmlns:a="http://schemas.openxmlformats.org/drawingml/2006/main">
            <a:r>
              <a:t>— 10 伦理与合规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本页只定位验证门字段，不逐条复述。第 1–4 项承接第 12 课，本课课堂先推进第 5、6、8、9 项所需的对照、失败/局限与判断修订，其余课后补全。验证门检查当前项目版本，不重新制作材料。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让学生对照清单，标注当前项目哪些已满足、哪些待补全。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Checkpoint 3 验证门条件（权威来源）；[project-template.md](../../course/project-template.md) §6、§8、§10 字段模板。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工作流原型收口为三件评价工件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课堂收口为三件工件：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结果对照：阅读卡 3/8，自由摘要 4/8。</a:t>
            </a:r>
          </a:p>
          <a:p xmlns:a="http://schemas.openxmlformats.org/drawingml/2006/main">
            <a:r>
              <a:t>失败与局限：T02 受控失败、T03 负向结果分别保留。</a:t>
            </a:r>
          </a:p>
          <a:p xmlns:a="http://schemas.openxmlformats.org/drawingml/2006/main">
            <a:r>
              <a:t>判断修订：Q1 包内方向一致；H1/A2 仍不能区分。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课后补全人工审核、有效性威胁、伦理与十项验证门自查。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贯穿案例延续第 10–12 课同一工作流。教师重点演示如何从课前已有结果形成对照、局限和判断修订；0.375/0.500 与图表论文反例均为虚构教学示例。学生不在课堂从零运行完整研究。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让学生对照九步，标注自己已跑通哪几步、还缺哪几步。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本页数值、论文反例与运行 ID 属课程虚构教学示例，不是实际学生实验结果。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 贯穿案例；第 12 课工作流原型；第 9 课实验规格与 baseline。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实践停留页：完成三件最低产出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实践停留页：完成三件最低产出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一张对照｜输入、条件、运行数、指标、结果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一项失败或局限｜表现、根因、边界、下一步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一条判断修订｜支持 / 反驳 / 仍不能判断</a:t>
            </a:r>
          </a:p>
          <a:p xmlns:a="http://schemas.openxmlformats.org/drawingml/2006/main">
            <a:r>
              <a:t>evaluation-report.md</a:t>
            </a:r>
          </a:p>
          <a:p xmlns:a="http://schemas.openxmlformats.org/drawingml/2006/main">
            <a:r>
              <a:t>完成标志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三项都有证据项</a:t>
            </a:r>
          </a:p>
          <a:p xmlns:a="http://schemas.openxmlformats.org/drawingml/2006/main">
            <a:r>
              <a:t>并保留未决解释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第一段先完成对照表与结果状态；教师中点点评统一纠正不公平对照、字段填满率和机制过推。第二段补一项失败/局限并修订一条判断。不能读取个人结果者使用教师预置同口径虚构数据包。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个人实践第一段后暂停，听取教师中点点评，再继续第二段。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§六·3；[project-template.md](../../course/project-template.md)；[assignments.md](../../course/assignments.md) Checkpoint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同伴只问证据是否足够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同伴只问证据是否足够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作者的三项最低产出</a:t>
            </a:r>
          </a:p>
          <a:p xmlns:a="http://schemas.openxmlformats.org/drawingml/2006/main">
            <a:r>
              <a:t>结果对照｜口径可比吗</a:t>
            </a:r>
          </a:p>
          <a:p xmlns:a="http://schemas.openxmlformats.org/drawingml/2006/main">
            <a:r>
              <a:t>失败 / 局限｜根因具体吗</a:t>
            </a:r>
          </a:p>
          <a:p xmlns:a="http://schemas.openxmlformats.org/drawingml/2006/main">
            <a:r>
              <a:t>判断修订｜证据支持三态吗</a:t>
            </a:r>
          </a:p>
          <a:p xmlns:a="http://schemas.openxmlformats.org/drawingml/2006/main">
            <a:r>
              <a:t>同伴问题</a:t>
            </a:r>
          </a:p>
          <a:p xmlns:a="http://schemas.openxmlformats.org/drawingml/2006/main">
            <a:r>
              <a:t>契约 / 评价 / 证据 / 伦理</a:t>
            </a:r>
          </a:p>
          <a:p xmlns:a="http://schemas.openxmlformats.org/drawingml/2006/main">
            <a:r>
              <a:t>作者处理</a:t>
            </a:r>
          </a:p>
          <a:p xmlns:a="http://schemas.openxmlformats.org/drawingml/2006/main">
            <a:r>
              <a:t>采纳 / 澄清 / 补证</a:t>
            </a:r>
          </a:p>
          <a:p xmlns:a="http://schemas.openxmlformats.org/drawingml/2006/main">
            <a:r>
              <a:t>保留异议 / 暂缓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每位作者简述对照、失败/局限和判断修订；同伴只问证据是否足以支持该结果状态。作者记录采纳、澄清、补证、保留异议或暂缓及真实理由，不形成共同提交。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同伴互查；人数为奇数时组成三人组。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固定对照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本讲输入</a:t>
            </a:r>
          </a:p>
          <a:p xmlns:a="http://schemas.openxmlformats.org/drawingml/2006/main">
            <a:r>
              <a:t>结果三态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本讲执行</a:t>
            </a:r>
          </a:p>
          <a:p xmlns:a="http://schemas.openxmlformats.org/drawingml/2006/main">
            <a:r>
              <a:t>失败审计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本讲证据</a:t>
            </a:r>
          </a:p>
          <a:p xmlns:a="http://schemas.openxmlformats.org/drawingml/2006/main">
            <a:r>
              <a:t>验证门</a:t>
            </a:r>
          </a:p>
          <a:p xmlns:a="http://schemas.openxmlformats.org/drawingml/2006/main">
            <a:r>
              <a:t>下一步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回收评价、结果映射、失败复盘与验证门的关系。本页不新增任务。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学生指出自己验证门材料中最需要补齐的一项。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[handout.md](./handout.md) §二-§六；[assignments.md](../../course/assignments.md) Checkpoint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评价材料直接进入第 14 课写作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评价材料直接进入第 14 课写作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evaluation-report.md</a:t>
            </a:r>
          </a:p>
          <a:p xmlns:a="http://schemas.openxmlformats.org/drawingml/2006/main">
            <a:r>
              <a:t>结果对照</a:t>
            </a:r>
          </a:p>
          <a:p xmlns:a="http://schemas.openxmlformats.org/drawingml/2006/main">
            <a:r>
              <a:t>判断修订</a:t>
            </a:r>
          </a:p>
          <a:p xmlns:a="http://schemas.openxmlformats.org/drawingml/2006/main">
            <a:r>
              <a:t>失败 / 局限</a:t>
            </a:r>
          </a:p>
          <a:p xmlns:a="http://schemas.openxmlformats.org/drawingml/2006/main">
            <a:r>
              <a:t>证据与威胁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第 14 课论文结构</a:t>
            </a:r>
          </a:p>
          <a:p xmlns:a="http://schemas.openxmlformats.org/drawingml/2006/main">
            <a:r>
              <a:t>Results｜对照与结果</a:t>
            </a:r>
          </a:p>
          <a:p xmlns:a="http://schemas.openxmlformats.org/drawingml/2006/main">
            <a:r>
              <a:t>Discussion｜局限与替代解释</a:t>
            </a:r>
          </a:p>
          <a:p xmlns:a="http://schemas.openxmlformats.org/drawingml/2006/main">
            <a:r>
              <a:t>Disclosure｜人工审核与 AI 使用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屏显来源页脚：来源：lesson-13/slides.md；课程工件与讲义见 speaker notes。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回扣课堂最低产出：一张对照、一项失败/局限和一条判断修订。课后补齐人工审核、证据充分性、威胁有效性、伦理说明和 10 项自查后提交验证门材料包。第 14 课直接使用对照、判断修订与局限段落，不重新组织一套结果。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14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Sculley, D. et al. *NeurIPS 2015*, 2503-2511. [Google Research 正式页面](https://research.google/pubs/hidden-technical-debt-in-machine-learning-systems/)。</a:t>
            </a:r>
          </a:p>
          <a:p xmlns:a="http://schemas.openxmlformats.org/drawingml/2006/main">
            <a:r>
              <a:t>- Bouthillier, X. et al. *MLSys* 3 (2021). [MLSys 正式页面](https://proceedings.mlsys.org/paper_files/paper/2021/hash/0184b0cd3cfb185989f858a1d9f5c1eb-Abstract.html)。</a:t>
            </a:r>
          </a:p>
          <a:p xmlns:a="http://schemas.openxmlformats.org/drawingml/2006/main">
            <a:r>
              <a:t>- Breck, E. et al. *IEEE Big Data 2017*. [Google Research 正式页面](https://research.google/pubs/the-ml-test-score-a-rubric-for-ml-production-readiness-and-technical-debt-reduction/)。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>- 验证门条件见 [assignments.md](../../course/assignments.md) Checkpoint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https://research.google/pubs/hidden-technical-debt-in-machine-learning-systems/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https://proceedings.mlsys.org/paper_files/paper/2021/hash/0184b0cd3cfb185989f858a1d9f5c1eb-Abstract.html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https://research.google/pubs/the-ml-test-score-a-rubric-for-ml-production-readiness-and-technical-debt-reduction/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b93318264142f5" /><Relationship Type="http://schemas.openxmlformats.org/officeDocument/2006/relationships/image" Target="/ppt/media/image.png" Id="R4929c4679f274973" /><Relationship Type="http://schemas.openxmlformats.org/officeDocument/2006/relationships/image" Target="/ppt/media/image2.png" Id="Rf49764c4693b43b3" /><Relationship Type="http://schemas.openxmlformats.org/officeDocument/2006/relationships/image" Target="/ppt/media/image3.png" Id="R6778ea4aa091426b" /><Relationship Type="http://schemas.openxmlformats.org/officeDocument/2006/relationships/image" Target="/ppt/media/image4.png" Id="Ra70ec71fd83e42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ae607e7194e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f8deb498774678" /><Relationship Type="http://schemas.openxmlformats.org/officeDocument/2006/relationships/image" Target="/ppt/media/image2.png" Id="Ra7a263ce28ee4543" /><Relationship Type="http://schemas.openxmlformats.org/officeDocument/2006/relationships/image" Target="/ppt/media/image5.png" Id="Rff9851ba20464b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a170e210394731" /><Relationship Type="http://schemas.openxmlformats.org/officeDocument/2006/relationships/image" Target="/ppt/media/image.png" Id="R7a6a4565cb6947d4" /><Relationship Type="http://schemas.openxmlformats.org/officeDocument/2006/relationships/image" Target="/ppt/media/image3.png" Id="Rce07164bccb44528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29c4679f274973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9764c4693b43b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78ea4aa091426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ec71fd83e42c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a263ce28ee454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851ba20464b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a4565cb6947d4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07164bccb44528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b84dfbabfd41aa" /><Relationship Type="http://schemas.openxmlformats.org/officeDocument/2006/relationships/slideLayout" Target="/ppt/slideLayouts/slideLayout1.xml" Id="Rbe60b6af93fc49e6" /><Relationship Type="http://schemas.openxmlformats.org/officeDocument/2006/relationships/slideLayout" Target="/ppt/slideLayouts/slideLayout2.xml" Id="R120a629a36b54b2b" /><Relationship Type="http://schemas.openxmlformats.org/officeDocument/2006/relationships/slideLayout" Target="/ppt/slideLayouts/slideLayout3.xml" Id="R504d8cd69b974da5" /><Relationship Type="http://schemas.openxmlformats.org/officeDocument/2006/relationships/slideLayout" Target="/ppt/slideLayouts/slideLayout4.xml" Id="R7ea27407e9464c9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60b6af93fc49e6"/>
    <p:sldLayoutId xmlns:r="http://schemas.openxmlformats.org/officeDocument/2006/relationships" id="2147483650" r:id="R120a629a36b54b2b"/>
    <p:sldLayoutId xmlns:r="http://schemas.openxmlformats.org/officeDocument/2006/relationships" id="2147483651" r:id="R504d8cd69b974da5"/>
    <p:sldLayoutId xmlns:r="http://schemas.openxmlformats.org/officeDocument/2006/relationships" id="2147483652" r:id="R7ea27407e9464c9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f2edd7b0e4dea" /><Relationship Type="http://schemas.openxmlformats.org/officeDocument/2006/relationships/notesSlide" Target="/ppt/notesSlides/notesSlide1.xml" Id="R8fbe261d2d1b43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252107589f4a90" /><Relationship Type="http://schemas.openxmlformats.org/officeDocument/2006/relationships/image" Target="/ppt/media/image6.png" Id="R6aca138d949742dd" /><Relationship Type="http://schemas.openxmlformats.org/officeDocument/2006/relationships/notesSlide" Target="/ppt/notesSlides/notesSlide2.xml" Id="R1bbfa3c7715249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2a589709e2541ac" /><Relationship Type="http://schemas.openxmlformats.org/officeDocument/2006/relationships/image" Target="/ppt/media/image7.png" Id="Rfe51af5e49324956" /><Relationship Type="http://schemas.openxmlformats.org/officeDocument/2006/relationships/notesSlide" Target="/ppt/notesSlides/notesSlide3.xml" Id="R0702b9522c7741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bb514146e324aa2" /><Relationship Type="http://schemas.openxmlformats.org/officeDocument/2006/relationships/notesSlide" Target="/ppt/notesSlides/notesSlide4.xml" Id="Rb70b36eb2c7d4f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14531801964ee7" /><Relationship Type="http://schemas.openxmlformats.org/officeDocument/2006/relationships/image" Target="/ppt/media/image8.png" Id="R402315751a384efd" /><Relationship Type="http://schemas.openxmlformats.org/officeDocument/2006/relationships/notesSlide" Target="/ppt/notesSlides/notesSlide5.xml" Id="R184f031ae08a40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c2b31198c14936" /><Relationship Type="http://schemas.openxmlformats.org/officeDocument/2006/relationships/notesSlide" Target="/ppt/notesSlides/notesSlide6.xml" Id="Rada8c1edfa9a4f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f9296d08df4d47" /><Relationship Type="http://schemas.openxmlformats.org/officeDocument/2006/relationships/notesSlide" Target="/ppt/notesSlides/notesSlide7.xml" Id="R004a7c9324db4e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06b8f447194c28" /><Relationship Type="http://schemas.openxmlformats.org/officeDocument/2006/relationships/notesSlide" Target="/ppt/notesSlides/notesSlide8.xml" Id="R78c2a41e2b2d4c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9ce0b929804092" /><Relationship Type="http://schemas.openxmlformats.org/officeDocument/2006/relationships/chart" Target="/ppt/slides/charts/chart1.xml" Id="Ra60108203cd94fb8" /><Relationship Type="http://schemas.openxmlformats.org/officeDocument/2006/relationships/notesSlide" Target="/ppt/notesSlides/notesSlide9.xml" Id="Re8e1e72b91934c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781e0438864fb1" /><Relationship Type="http://schemas.openxmlformats.org/officeDocument/2006/relationships/notesSlide" Target="/ppt/notesSlides/notesSlide10.xml" Id="R05b7cd175d8c47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6551535c2b4950" /><Relationship Type="http://schemas.openxmlformats.org/officeDocument/2006/relationships/notesSlide" Target="/ppt/notesSlides/notesSlide11.xml" Id="R7719fdeb4e974a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fa36442e9fe4a61" /><Relationship Type="http://schemas.openxmlformats.org/officeDocument/2006/relationships/notesSlide" Target="/ppt/notesSlides/notesSlide12.xml" Id="R95e11a9fbe9842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cf33d86f7b4fe8" /><Relationship Type="http://schemas.openxmlformats.org/officeDocument/2006/relationships/notesSlide" Target="/ppt/notesSlides/notesSlide13.xml" Id="R4a0e5055fb9e48b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7a845d052c40ac" /><Relationship Type="http://schemas.openxmlformats.org/officeDocument/2006/relationships/notesSlide" Target="/ppt/notesSlides/notesSlide14.xml" Id="R2df33420dab441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b2da4d3348742d9" /><Relationship Type="http://schemas.openxmlformats.org/officeDocument/2006/relationships/image" Target="/ppt/media/image9.png" Id="Re7e21ba6605b4e51" /><Relationship Type="http://schemas.openxmlformats.org/officeDocument/2006/relationships/notesSlide" Target="/ppt/notesSlides/notesSlide15.xml" Id="Rff5595716d3941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c8afb8f2584e71" /><Relationship Type="http://schemas.openxmlformats.org/officeDocument/2006/relationships/notesSlide" Target="/ppt/notesSlides/notesSlide16.xml" Id="Rcca3fc6d887e4a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5372d3e9bb4831" /><Relationship Type="http://schemas.openxmlformats.org/officeDocument/2006/relationships/image" Target="/ppt/media/image10.png" Id="R54906bbc26ba45ee" /><Relationship Type="http://schemas.openxmlformats.org/officeDocument/2006/relationships/notesSlide" Target="/ppt/notesSlides/notesSlide17.xml" Id="Ref24b5ff90be41d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0d300fd7d5f4450" /><Relationship Type="http://schemas.openxmlformats.org/officeDocument/2006/relationships/image" Target="/ppt/media/image11.png" Id="Rd252ed4e60704d18" /><Relationship Type="http://schemas.openxmlformats.org/officeDocument/2006/relationships/notesSlide" Target="/ppt/notesSlides/notesSlide18.xml" Id="Rf8e3063749134b8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c99f95e8714771" /><Relationship Type="http://schemas.openxmlformats.org/officeDocument/2006/relationships/image" Target="/ppt/media/image12.png" Id="R3279b2ee65704aa7" /><Relationship Type="http://schemas.openxmlformats.org/officeDocument/2006/relationships/notesSlide" Target="/ppt/notesSlides/notesSlide19.xml" Id="R54d18dd9640b46b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22459da4334d36" /><Relationship Type="http://schemas.openxmlformats.org/officeDocument/2006/relationships/image" Target="/ppt/media/image13.png" Id="Ra14f7487ab144e33" /><Relationship Type="http://schemas.openxmlformats.org/officeDocument/2006/relationships/notesSlide" Target="/ppt/notesSlides/notesSlide20.xml" Id="R745c0a5dace047c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限定条件遗漏率</c:v>
          </c:tx>
          <c:spPr>
            <a:solidFill xmlns:a="http://schemas.openxmlformats.org/drawingml/2006/main">
              <a:srgbClr val="1F4D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C9AA6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阅读卡</c:v>
                </c:pt>
                <c:pt idx="1">
                  <c:v>自由摘要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0.375</c:v>
                </c:pt>
                <c:pt idx="1">
                  <c:v>0.5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00">
                  <a:solidFill>
                    <a:srgbClr val="2733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33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5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EFBFE4F-A607-4154-AA50-1EF24D78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第13讲 工作流评价、结果分析与失败复盘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工作流原型还缺评价闭环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356A976-BCC1-4B77-8852-01A263EB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a138d949742d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B587B8E-9009-478A-8447-4F0F5E62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工作流原型还缺评价闭环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A0599F1-32F2-459A-A0A9-7F11F111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8-bg">
            <a:extLst xmlns:a="http://schemas.openxmlformats.org/drawingml/2006/main">
              <a:ext uri="{FF2B5EF4-FFF2-40B4-BE49-F238E27FC236}">
                <a16:creationId xmlns:a16="http://schemas.microsoft.com/office/drawing/2014/main" id="{5D89EB2F-F465-4387-B4F9-80FB79A1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8-title-bg">
            <a:extLst xmlns:a="http://schemas.openxmlformats.org/drawingml/2006/main">
              <a:ext uri="{FF2B5EF4-FFF2-40B4-BE49-F238E27FC236}">
                <a16:creationId xmlns:a16="http://schemas.microsoft.com/office/drawing/2014/main" id="{3F8F3445-7206-4C02-82DA-EC0BD3BF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8-title">
            <a:extLst xmlns:a="http://schemas.openxmlformats.org/drawingml/2006/main">
              <a:ext uri="{FF2B5EF4-FFF2-40B4-BE49-F238E27FC236}">
                <a16:creationId xmlns:a16="http://schemas.microsoft.com/office/drawing/2014/main" id="{9FF867CE-0802-477B-A147-F94E6DBD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agent-workflow/</a:t>
            </a:r>
          </a:p>
        </p:txBody>
      </p:sp>
      <p:sp>
        <p:nvSpPr>
          <p:cNvPr id="13" name="doc-8-line-0">
            <a:extLst xmlns:a="http://schemas.openxmlformats.org/drawingml/2006/main">
              <a:ext uri="{FF2B5EF4-FFF2-40B4-BE49-F238E27FC236}">
                <a16:creationId xmlns:a16="http://schemas.microsoft.com/office/drawing/2014/main" id="{F2E5379D-3DCC-4E7E-A2EF-86D13D9E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764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contract.md          ✓</a:t>
            </a:r>
          </a:p>
        </p:txBody>
      </p:sp>
      <p:sp>
        <p:nvSpPr>
          <p:cNvPr id="14" name="doc-8-line-1">
            <a:extLst xmlns:a="http://schemas.openxmlformats.org/drawingml/2006/main">
              <a:ext uri="{FF2B5EF4-FFF2-40B4-BE49-F238E27FC236}">
                <a16:creationId xmlns:a16="http://schemas.microsoft.com/office/drawing/2014/main" id="{37EA3569-E518-46FF-8107-D725DF4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47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                ✓</a:t>
            </a:r>
          </a:p>
        </p:txBody>
      </p:sp>
      <p:sp>
        <p:nvSpPr>
          <p:cNvPr id="15" name="doc-8-line-2">
            <a:extLst xmlns:a="http://schemas.openxmlformats.org/drawingml/2006/main">
              <a:ext uri="{FF2B5EF4-FFF2-40B4-BE49-F238E27FC236}">
                <a16:creationId xmlns:a16="http://schemas.microsoft.com/office/drawing/2014/main" id="{B00C15ED-A521-408C-94E3-1985EF4B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307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failure-trace.jsonl  ✓</a:t>
            </a:r>
          </a:p>
        </p:txBody>
      </p:sp>
      <p:sp>
        <p:nvSpPr>
          <p:cNvPr id="16" name="doc-8-line-3">
            <a:extLst xmlns:a="http://schemas.openxmlformats.org/drawingml/2006/main">
              <a:ext uri="{FF2B5EF4-FFF2-40B4-BE49-F238E27FC236}">
                <a16:creationId xmlns:a16="http://schemas.microsoft.com/office/drawing/2014/main" id="{21BA0337-3A46-4B31-8837-68A9BB4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baseline-report.md   ?</a:t>
            </a:r>
          </a:p>
        </p:txBody>
      </p:sp>
      <p:sp>
        <p:nvSpPr>
          <p:cNvPr id="17" name="doc-8-line-4">
            <a:extLst xmlns:a="http://schemas.openxmlformats.org/drawingml/2006/main">
              <a:ext uri="{FF2B5EF4-FFF2-40B4-BE49-F238E27FC236}">
                <a16:creationId xmlns:a16="http://schemas.microsoft.com/office/drawing/2014/main" id="{54E2CBEC-2C55-48A9-879A-94D9E097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497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evaluation-report.md ?</a:t>
            </a:r>
          </a:p>
        </p:txBody>
      </p:sp>
      <p:sp>
        <p:nvSpPr>
          <p:cNvPr id="18" name="doc-8-line-5">
            <a:extLst xmlns:a="http://schemas.openxmlformats.org/drawingml/2006/main">
              <a:ext uri="{FF2B5EF4-FFF2-40B4-BE49-F238E27FC236}">
                <a16:creationId xmlns:a16="http://schemas.microsoft.com/office/drawing/2014/main" id="{D2230D47-FD7F-448A-A341-684DAF9E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80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judgment-revision.md ?</a:t>
            </a:r>
          </a:p>
        </p:txBody>
      </p:sp>
      <p:sp>
        <p:nvSpPr>
          <p:cNvPr id="19" name="missing">
            <a:extLst xmlns:a="http://schemas.openxmlformats.org/drawingml/2006/main">
              <a:ext uri="{FF2B5EF4-FFF2-40B4-BE49-F238E27FC236}">
                <a16:creationId xmlns:a16="http://schemas.microsoft.com/office/drawing/2014/main" id="{81D4B84F-305A-4E6D-B44E-96F50E7A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285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本课补齐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一张对照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一项失败 / 局限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一条判断修订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评价报告先完成三个可检查字段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DFDCB3F-394D-44FA-B090-C1343A6E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1af5e4932495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6FE2125-625A-4FB2-9A9C-CF33179B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评价报告先完成三个可检查字段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A6BABA3-E842-45EF-8968-FEF37A79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9-bg">
            <a:extLst xmlns:a="http://schemas.openxmlformats.org/drawingml/2006/main">
              <a:ext uri="{FF2B5EF4-FFF2-40B4-BE49-F238E27FC236}">
                <a16:creationId xmlns:a16="http://schemas.microsoft.com/office/drawing/2014/main" id="{F29E8BDA-286A-4815-9A1F-62EB90FF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9-title-bg">
            <a:extLst xmlns:a="http://schemas.openxmlformats.org/drawingml/2006/main">
              <a:ext uri="{FF2B5EF4-FFF2-40B4-BE49-F238E27FC236}">
                <a16:creationId xmlns:a16="http://schemas.microsoft.com/office/drawing/2014/main" id="{35AB1FC8-302C-42E2-9486-634E203A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9-title">
            <a:extLst xmlns:a="http://schemas.openxmlformats.org/drawingml/2006/main">
              <a:ext uri="{FF2B5EF4-FFF2-40B4-BE49-F238E27FC236}">
                <a16:creationId xmlns:a16="http://schemas.microsoft.com/office/drawing/2014/main" id="{A6EAE291-47BE-4143-9541-3C8357EA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13" name="doc-9-line-0">
            <a:extLst xmlns:a="http://schemas.openxmlformats.org/drawingml/2006/main">
              <a:ext uri="{FF2B5EF4-FFF2-40B4-BE49-F238E27FC236}">
                <a16:creationId xmlns:a16="http://schemas.microsoft.com/office/drawing/2014/main" id="{38D8ACDE-1259-4DE8-B9ED-254155FD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结果对照｜输入、条件、运行数、主指标与结果</a:t>
            </a:r>
          </a:p>
        </p:txBody>
      </p:sp>
      <p:sp>
        <p:nvSpPr>
          <p:cNvPr id="14" name="doc-9-line-1">
            <a:extLst xmlns:a="http://schemas.openxmlformats.org/drawingml/2006/main">
              <a:ext uri="{FF2B5EF4-FFF2-40B4-BE49-F238E27FC236}">
                <a16:creationId xmlns:a16="http://schemas.microsoft.com/office/drawing/2014/main" id="{2B06B9DA-23D3-4556-935C-D1C79B49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8913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失败或局限｜表现、根因、边界与下一步</a:t>
            </a:r>
          </a:p>
        </p:txBody>
      </p:sp>
      <p:sp>
        <p:nvSpPr>
          <p:cNvPr id="15" name="doc-9-line-2">
            <a:extLst xmlns:a="http://schemas.openxmlformats.org/drawingml/2006/main">
              <a:ext uri="{FF2B5EF4-FFF2-40B4-BE49-F238E27FC236}">
                <a16:creationId xmlns:a16="http://schemas.microsoft.com/office/drawing/2014/main" id="{B33481FF-295D-4072-B14B-B568E137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29025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判断修订｜支持 / 反驳 / 仍不能判断 + 证据理由</a:t>
            </a:r>
          </a:p>
        </p:txBody>
      </p:sp>
      <p:sp>
        <p:nvSpPr>
          <p:cNvPr id="16" name="doc-9-line-3">
            <a:extLst xmlns:a="http://schemas.openxmlformats.org/drawingml/2006/main">
              <a:ext uri="{FF2B5EF4-FFF2-40B4-BE49-F238E27FC236}">
                <a16:creationId xmlns:a16="http://schemas.microsoft.com/office/drawing/2014/main" id="{607F3BE3-C660-4784-BC79-28C3EA8E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9138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课后补全｜人工审核、充分性、威胁、伦理与 10 项自查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先看同一材料上的结果对照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graphicFrame>
        <p:nvGraphicFramePr>
          <p:cNvPr id="10" name="native-table-52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源文本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阅读卡遗漏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自由摘要遗漏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T01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0/3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2/3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T02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1/3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1/3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T03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2/2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1/2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53">
            <a:extLst xmlns:a="http://schemas.openxmlformats.org/drawingml/2006/main">
              <a:ext uri="{FF2B5EF4-FFF2-40B4-BE49-F238E27FC236}">
                <a16:creationId xmlns:a16="http://schemas.microsoft.com/office/drawing/2014/main" id="{49347B78-78E1-454E-9007-DFFB6F5C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全为教学构造；三种方向都保留。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评价维度由科研问题决定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58EBD8B-0EB5-48B4-A04A-57153A86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2315751a384ef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14F534C-C39C-449B-A935-5959CCA1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评价维度由科研问题决定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6A0F569-20A3-43BA-95BA-DBAE0898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question">
            <a:extLst xmlns:a="http://schemas.openxmlformats.org/drawingml/2006/main">
              <a:ext uri="{FF2B5EF4-FFF2-40B4-BE49-F238E27FC236}">
                <a16:creationId xmlns:a16="http://schemas.microsoft.com/office/drawing/2014/main" id="{ABF08EC5-878E-469F-9921-BCC896A6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工作流是否降低限定条件遗漏率？</a:t>
            </a:r>
          </a:p>
        </p:txBody>
      </p:sp>
      <p:sp>
        <p:nvSpPr>
          <p:cNvPr id="11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B585BD39-F1E4-4C0D-A621-98FCAF5F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chain-0">
            <a:extLst xmlns:a="http://schemas.openxmlformats.org/drawingml/2006/main">
              <a:ext uri="{FF2B5EF4-FFF2-40B4-BE49-F238E27FC236}">
                <a16:creationId xmlns:a16="http://schemas.microsoft.com/office/drawing/2014/main" id="{D75CE953-DF0A-4255-9B0C-EE708BBB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主指标</a:t>
            </a:r>
          </a:p>
        </p:txBody>
      </p:sp>
      <p:sp>
        <p:nvSpPr>
          <p:cNvPr id="13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371CF8E6-1F32-4D11-B304-17DE7BA4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hain-sub-0">
            <a:extLst xmlns:a="http://schemas.openxmlformats.org/drawingml/2006/main">
              <a:ext uri="{FF2B5EF4-FFF2-40B4-BE49-F238E27FC236}">
                <a16:creationId xmlns:a16="http://schemas.microsoft.com/office/drawing/2014/main" id="{5D15BE5E-E18E-4CB7-87DA-29D8D1D2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人工基准遗漏率</a:t>
            </a:r>
          </a:p>
        </p:txBody>
      </p:sp>
      <p:sp>
        <p:nvSpPr>
          <p:cNvPr id="15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B524381-F3CB-4EDD-B3F1-874A0FDB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chain-1">
            <a:extLst xmlns:a="http://schemas.openxmlformats.org/drawingml/2006/main">
              <a:ext uri="{FF2B5EF4-FFF2-40B4-BE49-F238E27FC236}">
                <a16:creationId xmlns:a16="http://schemas.microsoft.com/office/drawing/2014/main" id="{2C15E4FF-621C-48F2-A231-C89C92FC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运行风险</a:t>
            </a:r>
          </a:p>
        </p:txBody>
      </p:sp>
      <p:sp>
        <p:nvSpPr>
          <p:cNvPr id="17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F29A17A-7397-4D3A-8D1B-14B71196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675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chain-sub-1">
            <a:extLst xmlns:a="http://schemas.openxmlformats.org/drawingml/2006/main">
              <a:ext uri="{FF2B5EF4-FFF2-40B4-BE49-F238E27FC236}">
                <a16:creationId xmlns:a16="http://schemas.microsoft.com/office/drawing/2014/main" id="{CBCE9422-1DD3-4AA0-B32B-342C9155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失败率 / 无效输出</a:t>
            </a:r>
          </a:p>
        </p:txBody>
      </p:sp>
      <p:sp>
        <p:nvSpPr>
          <p:cNvPr id="19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65C9FACB-B324-47CF-A3CF-6BBD5DAD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2">
            <a:extLst xmlns:a="http://schemas.openxmlformats.org/drawingml/2006/main">
              <a:ext uri="{FF2B5EF4-FFF2-40B4-BE49-F238E27FC236}">
                <a16:creationId xmlns:a16="http://schemas.microsoft.com/office/drawing/2014/main" id="{159C1BE9-6EAA-41D5-8931-024ABE54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人工代价</a:t>
            </a:r>
          </a:p>
        </p:txBody>
      </p:sp>
      <p:sp>
        <p:nvSpPr>
          <p:cNvPr id="21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89FF899D-2F96-43C7-AB5C-099BE720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chain-sub-2">
            <a:extLst xmlns:a="http://schemas.openxmlformats.org/drawingml/2006/main">
              <a:ext uri="{FF2B5EF4-FFF2-40B4-BE49-F238E27FC236}">
                <a16:creationId xmlns:a16="http://schemas.microsoft.com/office/drawing/2014/main" id="{F6957AC3-DAF8-4864-B677-7361DD31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修订量 / 时间</a:t>
            </a:r>
          </a:p>
        </p:txBody>
      </p:sp>
      <p:sp>
        <p:nvSpPr>
          <p:cNvPr id="23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8D95563-8FA5-47D4-ADD3-94DEA65E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4" name="chain-3">
            <a:extLst xmlns:a="http://schemas.openxmlformats.org/drawingml/2006/main">
              <a:ext uri="{FF2B5EF4-FFF2-40B4-BE49-F238E27FC236}">
                <a16:creationId xmlns:a16="http://schemas.microsoft.com/office/drawing/2014/main" id="{BD214343-2F32-4AF6-B5B9-0BF47535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权限风险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B9D81F9-D21F-4255-8AE6-548DD16A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越权 / 外发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评价协议先锁住对象与口径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content-54">
            <a:extLst xmlns:a="http://schemas.openxmlformats.org/drawingml/2006/main">
              <a:ext uri="{FF2B5EF4-FFF2-40B4-BE49-F238E27FC236}">
                <a16:creationId xmlns:a16="http://schemas.microsoft.com/office/drawing/2014/main" id="{3E2FEDF7-0F0E-4DA5-B8EE-63F5200C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7" name="content-55">
            <a:extLst xmlns:a="http://schemas.openxmlformats.org/drawingml/2006/main">
              <a:ext uri="{FF2B5EF4-FFF2-40B4-BE49-F238E27FC236}">
                <a16:creationId xmlns:a16="http://schemas.microsoft.com/office/drawing/2014/main" id="{EFFF048B-1CC5-478F-890C-251F135A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同一批 T01–T03，两个条件各一份固定输出。</a:t>
            </a:r>
          </a:p>
        </p:txBody>
      </p:sp>
      <p:sp>
        <p:nvSpPr>
          <p:cNvPr id="8" name="rule-56">
            <a:extLst xmlns:a="http://schemas.openxmlformats.org/drawingml/2006/main">
              <a:ext uri="{FF2B5EF4-FFF2-40B4-BE49-F238E27FC236}">
                <a16:creationId xmlns:a16="http://schemas.microsoft.com/office/drawing/2014/main" id="{3468B496-251E-47CA-B980-50C2C29B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57">
            <a:extLst xmlns:a="http://schemas.openxmlformats.org/drawingml/2006/main">
              <a:ext uri="{FF2B5EF4-FFF2-40B4-BE49-F238E27FC236}">
                <a16:creationId xmlns:a16="http://schemas.microsoft.com/office/drawing/2014/main" id="{E60816B2-F903-4BA3-B1A2-847BB37C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基准</a:t>
            </a:r>
          </a:p>
        </p:txBody>
      </p:sp>
      <p:sp>
        <p:nvSpPr>
          <p:cNvPr id="10" name="content-58">
            <a:extLst xmlns:a="http://schemas.openxmlformats.org/drawingml/2006/main">
              <a:ext uri="{FF2B5EF4-FFF2-40B4-BE49-F238E27FC236}">
                <a16:creationId xmlns:a16="http://schemas.microsoft.com/office/drawing/2014/main" id="{77518BBC-B5EF-4797-A5F5-F354576A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人工列出的 8 项应保留条件。</a:t>
            </a:r>
          </a:p>
        </p:txBody>
      </p:sp>
      <p:sp>
        <p:nvSpPr>
          <p:cNvPr id="11" name="rule-59">
            <a:extLst xmlns:a="http://schemas.openxmlformats.org/drawingml/2006/main">
              <a:ext uri="{FF2B5EF4-FFF2-40B4-BE49-F238E27FC236}">
                <a16:creationId xmlns:a16="http://schemas.microsoft.com/office/drawing/2014/main" id="{5AE05F6F-0314-48B1-904E-76BEB537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60">
            <a:extLst xmlns:a="http://schemas.openxmlformats.org/drawingml/2006/main">
              <a:ext uri="{FF2B5EF4-FFF2-40B4-BE49-F238E27FC236}">
                <a16:creationId xmlns:a16="http://schemas.microsoft.com/office/drawing/2014/main" id="{83AA121E-57B5-4A2F-8EAB-CA934A26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</a:t>
            </a:r>
          </a:p>
        </p:txBody>
      </p:sp>
      <p:sp>
        <p:nvSpPr>
          <p:cNvPr id="13" name="content-61">
            <a:extLst xmlns:a="http://schemas.openxmlformats.org/drawingml/2006/main">
              <a:ext uri="{FF2B5EF4-FFF2-40B4-BE49-F238E27FC236}">
                <a16:creationId xmlns:a16="http://schemas.microsoft.com/office/drawing/2014/main" id="{A862758B-056D-4529-87FB-5EEB827D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16 条条件×输出标注，核验原文与输出定位。</a:t>
            </a:r>
          </a:p>
        </p:txBody>
      </p:sp>
      <p:sp>
        <p:nvSpPr>
          <p:cNvPr id="14" name="rule-62">
            <a:extLst xmlns:a="http://schemas.openxmlformats.org/drawingml/2006/main">
              <a:ext uri="{FF2B5EF4-FFF2-40B4-BE49-F238E27FC236}">
                <a16:creationId xmlns:a16="http://schemas.microsoft.com/office/drawing/2014/main" id="{D965A913-744C-425C-99E7-C2890FA2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63">
            <a:extLst xmlns:a="http://schemas.openxmlformats.org/drawingml/2006/main">
              <a:ext uri="{FF2B5EF4-FFF2-40B4-BE49-F238E27FC236}">
                <a16:creationId xmlns:a16="http://schemas.microsoft.com/office/drawing/2014/main" id="{3477FA2A-E0A9-448E-BEEF-A65EC3C2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16" name="content-64">
            <a:extLst xmlns:a="http://schemas.openxmlformats.org/drawingml/2006/main">
              <a:ext uri="{FF2B5EF4-FFF2-40B4-BE49-F238E27FC236}">
                <a16:creationId xmlns:a16="http://schemas.microsoft.com/office/drawing/2014/main" id="{EEBD14BE-B8BF-45BF-9BA7-5FE74E9B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各条件缺失数之和 / 基准条件数之和。</a:t>
            </a:r>
          </a:p>
        </p:txBody>
      </p:sp>
      <p:sp>
        <p:nvSpPr>
          <p:cNvPr id="17" name="rule-65">
            <a:extLst xmlns:a="http://schemas.openxmlformats.org/drawingml/2006/main">
              <a:ext uri="{FF2B5EF4-FFF2-40B4-BE49-F238E27FC236}">
                <a16:creationId xmlns:a16="http://schemas.microsoft.com/office/drawing/2014/main" id="{D3AA4621-4138-4D82-915F-42716DA0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评价报告必须写出判断变化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graphicFrame>
        <p:nvGraphicFramePr>
          <p:cNvPr id="10" name="native-table-66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81915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评价报告条目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本次应写入的判断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结果比较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阅读卡 3/8；自由摘要 4/8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Q1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仅在构造包内方向一致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H1 与 A2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仍不能区分生成机制和评分提示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采用决定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暂不依据本结果决定采用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下一步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区分解释，补测其他质量与范围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67">
            <a:extLst xmlns:a="http://schemas.openxmlformats.org/drawingml/2006/main">
              <a:ext uri="{FF2B5EF4-FFF2-40B4-BE49-F238E27FC236}">
                <a16:creationId xmlns:a16="http://schemas.microsoft.com/office/drawing/2014/main" id="{B3B8ECB1-9888-4C72-B6AE-A06847D9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保存到 evaluation-report.md，并关联逐项标注。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结果、机制、质量、范围分别判断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content-68">
            <a:extLst xmlns:a="http://schemas.openxmlformats.org/drawingml/2006/main">
              <a:ext uri="{FF2B5EF4-FFF2-40B4-BE49-F238E27FC236}">
                <a16:creationId xmlns:a16="http://schemas.microsoft.com/office/drawing/2014/main" id="{F18FF968-7DE7-49A6-BD4A-E1892E7D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Q1｜本构造包方向一致：3/8 &lt; 4/8。</a:t>
            </a:r>
          </a:p>
        </p:txBody>
      </p:sp>
      <p:sp>
        <p:nvSpPr>
          <p:cNvPr id="7" name="content-69">
            <a:extLst xmlns:a="http://schemas.openxmlformats.org/drawingml/2006/main">
              <a:ext uri="{FF2B5EF4-FFF2-40B4-BE49-F238E27FC236}">
                <a16:creationId xmlns:a16="http://schemas.microsoft.com/office/drawing/2014/main" id="{65FDDF9F-0390-47FE-A36E-466EFFD3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 / A2｜现有结果不能区分机制与测量解释。</a:t>
            </a:r>
          </a:p>
        </p:txBody>
      </p:sp>
      <p:sp>
        <p:nvSpPr>
          <p:cNvPr id="8" name="content-70">
            <a:extLst xmlns:a="http://schemas.openxmlformats.org/drawingml/2006/main">
              <a:ext uri="{FF2B5EF4-FFF2-40B4-BE49-F238E27FC236}">
                <a16:creationId xmlns:a16="http://schemas.microsoft.com/office/drawing/2014/main" id="{CD754844-5AFA-42B9-80EC-6943C552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A1｜其他质量错误未测量。</a:t>
            </a:r>
          </a:p>
        </p:txBody>
      </p:sp>
      <p:sp>
        <p:nvSpPr>
          <p:cNvPr id="9" name="content-71">
            <a:extLst xmlns:a="http://schemas.openxmlformats.org/drawingml/2006/main">
              <a:ext uri="{FF2B5EF4-FFF2-40B4-BE49-F238E27FC236}">
                <a16:creationId xmlns:a16="http://schemas.microsoft.com/office/drawing/2014/main" id="{8BDF44CA-1168-4516-BC58-99A572DF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A3｜T03 为负例；不能外推所有材料。</a:t>
            </a:r>
          </a:p>
        </p:txBody>
      </p:sp>
      <p:sp>
        <p:nvSpPr>
          <p:cNvPr id="10" name="content-72">
            <a:extLst xmlns:a="http://schemas.openxmlformats.org/drawingml/2006/main">
              <a:ext uri="{FF2B5EF4-FFF2-40B4-BE49-F238E27FC236}">
                <a16:creationId xmlns:a16="http://schemas.microsoft.com/office/drawing/2014/main" id="{A4673A54-29DC-4E7D-A601-970CD63E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J1｜是否采用，还需质量与资源依据。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汇总较好，负例仍然重要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6096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0108203cd94fb8"/>
          </a:graphicData>
        </a:graphic>
      </p:graphicFrame>
      <p:sp>
        <p:nvSpPr>
          <p:cNvPr id="7" name="content-73">
            <a:extLst xmlns:a="http://schemas.openxmlformats.org/drawingml/2006/main">
              <a:ext uri="{FF2B5EF4-FFF2-40B4-BE49-F238E27FC236}">
                <a16:creationId xmlns:a16="http://schemas.microsoft.com/office/drawing/2014/main" id="{60E26F5D-2BAC-4D82-9315-7112AB11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教学构造数据：8 项应保留条件；固定输出回放</a:t>
            </a:r>
          </a:p>
        </p:txBody>
      </p:sp>
      <p:sp>
        <p:nvSpPr>
          <p:cNvPr id="8" name="content-74">
            <a:extLst xmlns:a="http://schemas.openxmlformats.org/drawingml/2006/main">
              <a:ext uri="{FF2B5EF4-FFF2-40B4-BE49-F238E27FC236}">
                <a16:creationId xmlns:a16="http://schemas.microsoft.com/office/drawing/2014/main" id="{7BB6AFC2-2D22-458E-B840-BD775182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601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限定条件遗漏率（越低越好）</a:t>
            </a:r>
          </a:p>
        </p:txBody>
      </p:sp>
      <p:sp>
        <p:nvSpPr>
          <p:cNvPr id="9" name="content-75">
            <a:extLst xmlns:a="http://schemas.openxmlformats.org/drawingml/2006/main">
              <a:ext uri="{FF2B5EF4-FFF2-40B4-BE49-F238E27FC236}">
                <a16:creationId xmlns:a16="http://schemas.microsoft.com/office/drawing/2014/main" id="{E729B823-4EEC-49C6-A4DE-8F62A749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40005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3/8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自由摘要 4/8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差值 −0.125</a:t>
            </a:r>
          </a:p>
        </p:txBody>
      </p:sp>
      <p:sp>
        <p:nvSpPr>
          <p:cNvPr id="10" name="content-76">
            <a:extLst xmlns:a="http://schemas.openxmlformats.org/drawingml/2006/main">
              <a:ext uri="{FF2B5EF4-FFF2-40B4-BE49-F238E27FC236}">
                <a16:creationId xmlns:a16="http://schemas.microsoft.com/office/drawing/2014/main" id="{9F988F94-2CE6-4828-BBFF-DDE5C1B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T02 无改善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T03 阅读卡更差</a:t>
            </a:r>
          </a:p>
        </p:txBody>
      </p:sp>
      <p:sp>
        <p:nvSpPr>
          <p:cNvPr id="11" name="content-77">
            <a:extLst xmlns:a="http://schemas.openxmlformats.org/drawingml/2006/main">
              <a:ext uri="{FF2B5EF4-FFF2-40B4-BE49-F238E27FC236}">
                <a16:creationId xmlns:a16="http://schemas.microsoft.com/office/drawing/2014/main" id="{FEA59F10-B564-4C4D-8E8C-BE1EE09C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无随机重复，不画误差线，不作显著性判断。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证据地图保留没有回答的问题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content-78">
            <a:extLst xmlns:a="http://schemas.openxmlformats.org/drawingml/2006/main">
              <a:ext uri="{FF2B5EF4-FFF2-40B4-BE49-F238E27FC236}">
                <a16:creationId xmlns:a16="http://schemas.microsoft.com/office/drawing/2014/main" id="{4EDFB624-C9E6-4010-BACA-7A68FDB0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已观察：哪些限定条件被遗漏。</a:t>
            </a:r>
          </a:p>
        </p:txBody>
      </p:sp>
      <p:sp>
        <p:nvSpPr>
          <p:cNvPr id="7" name="content-79">
            <a:extLst xmlns:a="http://schemas.openxmlformats.org/drawingml/2006/main">
              <a:ext uri="{FF2B5EF4-FFF2-40B4-BE49-F238E27FC236}">
                <a16:creationId xmlns:a16="http://schemas.microsoft.com/office/drawing/2014/main" id="{4C093200-3624-4854-B8EC-CC869107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未区分：H1 与 A2。</a:t>
            </a:r>
          </a:p>
        </p:txBody>
      </p:sp>
      <p:sp>
        <p:nvSpPr>
          <p:cNvPr id="8" name="content-80">
            <a:extLst xmlns:a="http://schemas.openxmlformats.org/drawingml/2006/main">
              <a:ext uri="{FF2B5EF4-FFF2-40B4-BE49-F238E27FC236}">
                <a16:creationId xmlns:a16="http://schemas.microsoft.com/office/drawing/2014/main" id="{D5A6288F-55FE-4967-92F6-E57E356E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未测量：其他事实错误与总质量代价。</a:t>
            </a:r>
          </a:p>
        </p:txBody>
      </p:sp>
      <p:sp>
        <p:nvSpPr>
          <p:cNvPr id="9" name="content-81">
            <a:extLst xmlns:a="http://schemas.openxmlformats.org/drawingml/2006/main">
              <a:ext uri="{FF2B5EF4-FFF2-40B4-BE49-F238E27FC236}">
                <a16:creationId xmlns:a16="http://schemas.microsoft.com/office/drawing/2014/main" id="{629C7F85-7882-4F05-8F5C-1D8BBA8E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范围线索：T03 涉及图示条件且出现负向结果。</a:t>
            </a:r>
          </a:p>
        </p:txBody>
      </p:sp>
      <p:sp>
        <p:nvSpPr>
          <p:cNvPr id="10" name="content-82">
            <a:extLst xmlns:a="http://schemas.openxmlformats.org/drawingml/2006/main">
              <a:ext uri="{FF2B5EF4-FFF2-40B4-BE49-F238E27FC236}">
                <a16:creationId xmlns:a16="http://schemas.microsoft.com/office/drawing/2014/main" id="{07CC6802-E62B-4F8F-87C0-D4506D45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线索可以提出后续检查，不能直接命名根因。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把结论边界贴在数字旁边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83">
            <a:extLst xmlns:a="http://schemas.openxmlformats.org/drawingml/2006/main">
              <a:ext uri="{FF2B5EF4-FFF2-40B4-BE49-F238E27FC236}">
                <a16:creationId xmlns:a16="http://schemas.microsoft.com/office/drawing/2014/main" id="{D096AEC9-52B8-44AB-9450-8289F597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 份教学构造文本，不代表真实论文总体。</a:t>
            </a:r>
          </a:p>
        </p:txBody>
      </p:sp>
      <p:sp>
        <p:nvSpPr>
          <p:cNvPr id="7" name="content-84">
            <a:extLst xmlns:a="http://schemas.openxmlformats.org/drawingml/2006/main">
              <a:ext uri="{FF2B5EF4-FFF2-40B4-BE49-F238E27FC236}">
                <a16:creationId xmlns:a16="http://schemas.microsoft.com/office/drawing/2014/main" id="{C7A4A473-4459-4BCE-91C7-2E748413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固定输出回放，不估计模型随机波动。</a:t>
            </a:r>
          </a:p>
        </p:txBody>
      </p:sp>
      <p:sp>
        <p:nvSpPr>
          <p:cNvPr id="8" name="content-85">
            <a:extLst xmlns:a="http://schemas.openxmlformats.org/drawingml/2006/main">
              <a:ext uri="{FF2B5EF4-FFF2-40B4-BE49-F238E27FC236}">
                <a16:creationId xmlns:a16="http://schemas.microsoft.com/office/drawing/2014/main" id="{42320D30-D8AC-4266-A77D-C60A52D6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参考标注需人工核验，不等于独立盲评。</a:t>
            </a:r>
          </a:p>
        </p:txBody>
      </p:sp>
      <p:sp>
        <p:nvSpPr>
          <p:cNvPr id="9" name="content-86">
            <a:extLst xmlns:a="http://schemas.openxmlformats.org/drawingml/2006/main">
              <a:ext uri="{FF2B5EF4-FFF2-40B4-BE49-F238E27FC236}">
                <a16:creationId xmlns:a16="http://schemas.microsoft.com/office/drawing/2014/main" id="{E22C01DA-101E-41B9-ABD7-F9934900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只测限定条件遗漏，未覆盖全部质量。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失败必须留在运行账本中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graphicFrame>
        <p:nvGraphicFramePr>
          <p:cNvPr id="10" name="native-table-87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81200"/>
                <a:gridCol w="4495800"/>
                <a:gridCol w="44958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记录类型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可打开的对象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技术失败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run-003：T02-card 受控失败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保留；run-004 恢复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研究负例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T03：阅读卡 2/2，自由摘要 1/2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照常进入评价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8477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接口拒绝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access_denied：executor 请求 gold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拒绝并记录边界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88">
            <a:extLst xmlns:a="http://schemas.openxmlformats.org/drawingml/2006/main">
              <a:ext uri="{FF2B5EF4-FFF2-40B4-BE49-F238E27FC236}">
                <a16:creationId xmlns:a16="http://schemas.microsoft.com/office/drawing/2014/main" id="{02E14872-5696-4335-BD5B-8B3D274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不得删除失败、事后偷改协议或伪造记录。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负例到修订之间，还差一次诊断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content-89">
            <a:extLst xmlns:a="http://schemas.openxmlformats.org/drawingml/2006/main">
              <a:ext uri="{FF2B5EF4-FFF2-40B4-BE49-F238E27FC236}">
                <a16:creationId xmlns:a16="http://schemas.microsoft.com/office/drawing/2014/main" id="{881CEAFA-4967-48B7-8F42-D7B73475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</a:t>
            </a:r>
          </a:p>
        </p:txBody>
      </p:sp>
      <p:sp>
        <p:nvSpPr>
          <p:cNvPr id="7" name="content-90">
            <a:extLst xmlns:a="http://schemas.openxmlformats.org/drawingml/2006/main">
              <a:ext uri="{FF2B5EF4-FFF2-40B4-BE49-F238E27FC236}">
                <a16:creationId xmlns:a16="http://schemas.microsoft.com/office/drawing/2014/main" id="{9ABF9124-0190-46F5-8F6F-E2FAED7A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T03 阅读卡遗漏 2/2，自由摘要遗漏 1/2。</a:t>
            </a:r>
          </a:p>
        </p:txBody>
      </p:sp>
      <p:sp>
        <p:nvSpPr>
          <p:cNvPr id="8" name="rule-91">
            <a:extLst xmlns:a="http://schemas.openxmlformats.org/drawingml/2006/main">
              <a:ext uri="{FF2B5EF4-FFF2-40B4-BE49-F238E27FC236}">
                <a16:creationId xmlns:a16="http://schemas.microsoft.com/office/drawing/2014/main" id="{AFFA25B9-181D-4E57-9AA1-C143AD52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92">
            <a:extLst xmlns:a="http://schemas.openxmlformats.org/drawingml/2006/main">
              <a:ext uri="{FF2B5EF4-FFF2-40B4-BE49-F238E27FC236}">
                <a16:creationId xmlns:a16="http://schemas.microsoft.com/office/drawing/2014/main" id="{263E0621-B67D-41B0-87DE-483D6F25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候选原因</a:t>
            </a:r>
          </a:p>
        </p:txBody>
      </p:sp>
      <p:sp>
        <p:nvSpPr>
          <p:cNvPr id="10" name="content-93">
            <a:extLst xmlns:a="http://schemas.openxmlformats.org/drawingml/2006/main">
              <a:ext uri="{FF2B5EF4-FFF2-40B4-BE49-F238E27FC236}">
                <a16:creationId xmlns:a16="http://schemas.microsoft.com/office/drawing/2014/main" id="{B007B175-BBC4-430B-B4F4-D0C79A6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图示条件没有被正确提取。</a:t>
            </a:r>
          </a:p>
        </p:txBody>
      </p:sp>
      <p:sp>
        <p:nvSpPr>
          <p:cNvPr id="11" name="rule-94">
            <a:extLst xmlns:a="http://schemas.openxmlformats.org/drawingml/2006/main">
              <a:ext uri="{FF2B5EF4-FFF2-40B4-BE49-F238E27FC236}">
                <a16:creationId xmlns:a16="http://schemas.microsoft.com/office/drawing/2014/main" id="{51536EFB-F6F2-4C64-BF9B-DA590FDC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95">
            <a:extLst xmlns:a="http://schemas.openxmlformats.org/drawingml/2006/main">
              <a:ext uri="{FF2B5EF4-FFF2-40B4-BE49-F238E27FC236}">
                <a16:creationId xmlns:a16="http://schemas.microsoft.com/office/drawing/2014/main" id="{DCE8887E-426F-4B3F-92E4-E209178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待补证据</a:t>
            </a:r>
          </a:p>
        </p:txBody>
      </p:sp>
      <p:sp>
        <p:nvSpPr>
          <p:cNvPr id="13" name="content-96">
            <a:extLst xmlns:a="http://schemas.openxmlformats.org/drawingml/2006/main">
              <a:ext uri="{FF2B5EF4-FFF2-40B4-BE49-F238E27FC236}">
                <a16:creationId xmlns:a16="http://schemas.microsoft.com/office/drawing/2014/main" id="{6AA128A9-FF50-456F-9956-D5159856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检查定位/提取过程或做针对性对照。</a:t>
            </a:r>
          </a:p>
        </p:txBody>
      </p:sp>
      <p:sp>
        <p:nvSpPr>
          <p:cNvPr id="14" name="rule-97">
            <a:extLst xmlns:a="http://schemas.openxmlformats.org/drawingml/2006/main">
              <a:ext uri="{FF2B5EF4-FFF2-40B4-BE49-F238E27FC236}">
                <a16:creationId xmlns:a16="http://schemas.microsoft.com/office/drawing/2014/main" id="{BAAF4365-08DD-43FF-9EB0-E1156AC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98">
            <a:extLst xmlns:a="http://schemas.openxmlformats.org/drawingml/2006/main">
              <a:ext uri="{FF2B5EF4-FFF2-40B4-BE49-F238E27FC236}">
                <a16:creationId xmlns:a16="http://schemas.microsoft.com/office/drawing/2014/main" id="{2A00A87A-A3C1-4248-9D79-9571C284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新版本</a:t>
            </a:r>
          </a:p>
        </p:txBody>
      </p:sp>
      <p:sp>
        <p:nvSpPr>
          <p:cNvPr id="16" name="content-99">
            <a:extLst xmlns:a="http://schemas.openxmlformats.org/drawingml/2006/main">
              <a:ext uri="{FF2B5EF4-FFF2-40B4-BE49-F238E27FC236}">
                <a16:creationId xmlns:a16="http://schemas.microsoft.com/office/drawing/2014/main" id="{535E4A7D-6EE6-4E21-B8C9-30570D6C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依据诊断再修订，保留旧输出和旧负例。</a:t>
            </a:r>
          </a:p>
        </p:txBody>
      </p:sp>
      <p:sp>
        <p:nvSpPr>
          <p:cNvPr id="17" name="rule-100">
            <a:extLst xmlns:a="http://schemas.openxmlformats.org/drawingml/2006/main">
              <a:ext uri="{FF2B5EF4-FFF2-40B4-BE49-F238E27FC236}">
                <a16:creationId xmlns:a16="http://schemas.microsoft.com/office/drawing/2014/main" id="{40F8BD76-E168-4CC4-A793-665A2F37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一次技术失败也能反查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ontent-101">
            <a:extLst xmlns:a="http://schemas.openxmlformats.org/drawingml/2006/main">
              <a:ext uri="{FF2B5EF4-FFF2-40B4-BE49-F238E27FC236}">
                <a16:creationId xmlns:a16="http://schemas.microsoft.com/office/drawing/2014/main" id="{52E513B7-629F-47E2-B53E-894104C2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T02-card：受控失败事件</a:t>
            </a:r>
          </a:p>
        </p:txBody>
      </p:sp>
      <p:sp>
        <p:nvSpPr>
          <p:cNvPr id="7" name="content-102">
            <a:extLst xmlns:a="http://schemas.openxmlformats.org/drawingml/2006/main">
              <a:ext uri="{FF2B5EF4-FFF2-40B4-BE49-F238E27FC236}">
                <a16:creationId xmlns:a16="http://schemas.microsoft.com/office/drawing/2014/main" id="{EE81BA9B-7022-4804-9938-6CBD9F25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同一任务：新的调用恢复成功</a:t>
            </a:r>
          </a:p>
        </p:txBody>
      </p:sp>
      <p:sp>
        <p:nvSpPr>
          <p:cNvPr id="8" name="content-103">
            <a:extLst xmlns:a="http://schemas.openxmlformats.org/drawingml/2006/main">
              <a:ext uri="{FF2B5EF4-FFF2-40B4-BE49-F238E27FC236}">
                <a16:creationId xmlns:a16="http://schemas.microsoft.com/office/drawing/2014/main" id="{82BD6B7F-75B2-4B09-AB97-438AE38A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输入摘要：保持一致</a:t>
            </a:r>
          </a:p>
        </p:txBody>
      </p:sp>
      <p:sp>
        <p:nvSpPr>
          <p:cNvPr id="9" name="content-104">
            <a:extLst xmlns:a="http://schemas.openxmlformats.org/drawingml/2006/main">
              <a:ext uri="{FF2B5EF4-FFF2-40B4-BE49-F238E27FC236}">
                <a16:creationId xmlns:a16="http://schemas.microsoft.com/office/drawing/2014/main" id="{DD92B2F9-E9F2-4FE0-A586-3107699F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评价记录：使用最终完整的六份固定输出</a:t>
            </a:r>
          </a:p>
        </p:txBody>
      </p:sp>
      <p:sp>
        <p:nvSpPr>
          <p:cNvPr id="10" name="content-105">
            <a:extLst xmlns:a="http://schemas.openxmlformats.org/drawingml/2006/main">
              <a:ext uri="{FF2B5EF4-FFF2-40B4-BE49-F238E27FC236}">
                <a16:creationId xmlns:a16="http://schemas.microsoft.com/office/drawing/2014/main" id="{40292A37-CB75-4735-ADC0-F7CE36F7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技术恢复与研究负例分别保留。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验证门 10 项检查当前项目版本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5CBC811-6BB7-4413-BE04-E5C5B446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21ba6605b4e5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2A5951BC-60A0-443A-90D0-EACD8DEA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验证门 10 项检查当前项目版本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0AA4F45-8C1F-4EBD-9363-7263F14A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2F4DFABD-241E-425A-B3D4-68F7DE4F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第 12 课已建立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41CA1959-0DA7-41D5-A17F-099ABA26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本课收口与课后补全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6792336A-16FF-48D0-BA89-7BFE2663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871A4364-9C15-4DE3-87F2-D51030B9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1 明确科研动作与边界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D5CC1AC4-4FEB-40F0-99CC-942A90FC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2 可运行或可演示原型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75C8DF84-D989-4D1D-AAC1-D7767691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3 Context / 状态 / 数据来源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7511CC47-10AB-4A7A-8F7B-4863F837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4 权限 / 预算 / 停止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0670D99C-F73F-48EA-B385-E6420A5C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5 可重复评价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84A655B5-99DC-4CF6-B6E7-8CF8A29C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6 失败或局限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AB929E6E-3AD1-4F73-BCFB-05D584A9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7 人工审核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9F4327DE-41FE-48DD-82E9-6BF70510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8 实际影响</a:t>
            </a:r>
          </a:p>
        </p:txBody>
      </p:sp>
      <p:sp>
        <p:nvSpPr>
          <p:cNvPr id="21" name="list-696-217-4">
            <a:extLst xmlns:a="http://schemas.openxmlformats.org/drawingml/2006/main">
              <a:ext uri="{FF2B5EF4-FFF2-40B4-BE49-F238E27FC236}">
                <a16:creationId xmlns:a16="http://schemas.microsoft.com/office/drawing/2014/main" id="{645FC812-A8F0-4199-BBBC-F852023E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957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9 证据与风险</a:t>
            </a:r>
          </a:p>
        </p:txBody>
      </p:sp>
      <p:sp>
        <p:nvSpPr>
          <p:cNvPr id="22" name="list-696-217-5">
            <a:extLst xmlns:a="http://schemas.openxmlformats.org/drawingml/2006/main">
              <a:ext uri="{FF2B5EF4-FFF2-40B4-BE49-F238E27FC236}">
                <a16:creationId xmlns:a16="http://schemas.microsoft.com/office/drawing/2014/main" id="{DD5D7150-827B-41B3-9282-1C7B84A3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52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10 伦理与合规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工作流原型收口为三件评价工件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content-106">
            <a:extLst xmlns:a="http://schemas.openxmlformats.org/drawingml/2006/main">
              <a:ext uri="{FF2B5EF4-FFF2-40B4-BE49-F238E27FC236}">
                <a16:creationId xmlns:a16="http://schemas.microsoft.com/office/drawing/2014/main" id="{D8F40067-6829-4248-9904-7058783E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课堂收口为三件工件：</a:t>
            </a:r>
          </a:p>
        </p:txBody>
      </p:sp>
      <p:sp>
        <p:nvSpPr>
          <p:cNvPr id="7" name="content-107">
            <a:extLst xmlns:a="http://schemas.openxmlformats.org/drawingml/2006/main">
              <a:ext uri="{FF2B5EF4-FFF2-40B4-BE49-F238E27FC236}">
                <a16:creationId xmlns:a16="http://schemas.microsoft.com/office/drawing/2014/main" id="{6676000E-58BB-4368-B6B1-59007EAC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结果对照：阅读卡 3/8，自由摘要 4/8。</a:t>
            </a:r>
          </a:p>
        </p:txBody>
      </p:sp>
      <p:sp>
        <p:nvSpPr>
          <p:cNvPr id="8" name="content-108">
            <a:extLst xmlns:a="http://schemas.openxmlformats.org/drawingml/2006/main">
              <a:ext uri="{FF2B5EF4-FFF2-40B4-BE49-F238E27FC236}">
                <a16:creationId xmlns:a16="http://schemas.microsoft.com/office/drawing/2014/main" id="{972AE18E-2197-4FF6-B7B1-A5CC566B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失败与局限：T02 受控失败、T03 负向结果分别保留。</a:t>
            </a:r>
          </a:p>
        </p:txBody>
      </p:sp>
      <p:sp>
        <p:nvSpPr>
          <p:cNvPr id="9" name="content-109">
            <a:extLst xmlns:a="http://schemas.openxmlformats.org/drawingml/2006/main">
              <a:ext uri="{FF2B5EF4-FFF2-40B4-BE49-F238E27FC236}">
                <a16:creationId xmlns:a16="http://schemas.microsoft.com/office/drawing/2014/main" id="{B8FFA797-43B6-4FA1-B250-95502189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判断修订：Q1 包内方向一致；H1/A2 仍不能区分。</a:t>
            </a:r>
          </a:p>
        </p:txBody>
      </p:sp>
      <p:sp>
        <p:nvSpPr>
          <p:cNvPr id="10" name="content-110">
            <a:extLst xmlns:a="http://schemas.openxmlformats.org/drawingml/2006/main">
              <a:ext uri="{FF2B5EF4-FFF2-40B4-BE49-F238E27FC236}">
                <a16:creationId xmlns:a16="http://schemas.microsoft.com/office/drawing/2014/main" id="{4F4D2307-B873-4AE3-8839-FE94049E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课后补全人工审核、有效性威胁、伦理与十项验证门自查。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实践停留页：完成三件最低产出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0A4F2AF-EC29-4FDE-AB8C-7344F90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06bbc26ba45e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14DAF7D-F387-4945-8BE2-F9745934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实践停留页：完成三件最低产出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88D1864-8BB6-47B1-8742-28511401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9445F035-E492-4AC0-B626-871355E8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2DFA4062-4E8C-4D30-9C98-A408E4DD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一张对照｜输入、条件、运行数、指标、结果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C1B7C796-84A1-4873-9104-EC039776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7810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EA5D4021-BE4D-4957-8411-AED345E1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3525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08EA6E16-C328-4BC4-9B0C-C5886DCF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3525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一项失败或局限｜表现、根因、边界、下一步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2C25FC32-FFB0-46D8-8FB3-5B44A44D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893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741A00EB-3CE3-41D7-B24B-9311C551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650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680D7DA6-D6BB-4421-A338-D49B388A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4650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一条判断修订｜支持 / 反驳 / 仍不能判断</a:t>
            </a:r>
          </a:p>
        </p:txBody>
      </p:sp>
      <p:sp>
        <p:nvSpPr>
          <p:cNvPr id="18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BAC3B011-F981-434B-8F9C-A35A05F5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practice-h">
            <a:extLst xmlns:a="http://schemas.openxmlformats.org/drawingml/2006/main">
              <a:ext uri="{FF2B5EF4-FFF2-40B4-BE49-F238E27FC236}">
                <a16:creationId xmlns:a16="http://schemas.microsoft.com/office/drawing/2014/main" id="{FEFD2E8B-BF50-488C-BB94-F502A449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20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F24E8C3D-5D58-4251-A865-AEF6D697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完成标志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三项都有证据项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并保留未决解释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同伴只问证据是否足够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7AB9983-C6D0-4E04-95F5-40801F8E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2ed4e60704d1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224F083D-AA2B-40BB-A64B-781786C6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同伴只问证据是否足够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FBA3517-E8F9-4769-AA56-B53A7796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4-bg">
            <a:extLst xmlns:a="http://schemas.openxmlformats.org/drawingml/2006/main">
              <a:ext uri="{FF2B5EF4-FFF2-40B4-BE49-F238E27FC236}">
                <a16:creationId xmlns:a16="http://schemas.microsoft.com/office/drawing/2014/main" id="{1319A607-173B-4B03-96B9-174F190E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76375"/>
            <a:ext cx="55245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4-title-bg">
            <a:extLst xmlns:a="http://schemas.openxmlformats.org/drawingml/2006/main">
              <a:ext uri="{FF2B5EF4-FFF2-40B4-BE49-F238E27FC236}">
                <a16:creationId xmlns:a16="http://schemas.microsoft.com/office/drawing/2014/main" id="{47017246-161B-419F-8E23-019D9A46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4-title">
            <a:extLst xmlns:a="http://schemas.openxmlformats.org/drawingml/2006/main">
              <a:ext uri="{FF2B5EF4-FFF2-40B4-BE49-F238E27FC236}">
                <a16:creationId xmlns:a16="http://schemas.microsoft.com/office/drawing/2014/main" id="{5245809E-0CA5-43AF-8C0E-D1C30889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作者的三项最低产出</a:t>
            </a:r>
          </a:p>
        </p:txBody>
      </p:sp>
      <p:sp>
        <p:nvSpPr>
          <p:cNvPr id="13" name="doc-14-line-0">
            <a:extLst xmlns:a="http://schemas.openxmlformats.org/drawingml/2006/main">
              <a:ext uri="{FF2B5EF4-FFF2-40B4-BE49-F238E27FC236}">
                <a16:creationId xmlns:a16="http://schemas.microsoft.com/office/drawing/2014/main" id="{61935C2B-E8D4-4A05-BDBA-A41F98A7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71675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结果对照｜口径可比吗</a:t>
            </a:r>
          </a:p>
        </p:txBody>
      </p:sp>
      <p:sp>
        <p:nvSpPr>
          <p:cNvPr id="14" name="doc-14-line-1">
            <a:extLst xmlns:a="http://schemas.openxmlformats.org/drawingml/2006/main">
              <a:ext uri="{FF2B5EF4-FFF2-40B4-BE49-F238E27FC236}">
                <a16:creationId xmlns:a16="http://schemas.microsoft.com/office/drawing/2014/main" id="{ACD499CD-4F29-4EFC-91F4-1F72A428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65450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 / 局限｜根因具体吗</a:t>
            </a:r>
          </a:p>
        </p:txBody>
      </p:sp>
      <p:sp>
        <p:nvSpPr>
          <p:cNvPr id="15" name="doc-14-line-2">
            <a:extLst xmlns:a="http://schemas.openxmlformats.org/drawingml/2006/main">
              <a:ext uri="{FF2B5EF4-FFF2-40B4-BE49-F238E27FC236}">
                <a16:creationId xmlns:a16="http://schemas.microsoft.com/office/drawing/2014/main" id="{63CE1D16-09A0-4F41-A51E-2E221A05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59225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判断修订｜证据支持三态吗</a:t>
            </a:r>
          </a:p>
        </p:txBody>
      </p:sp>
      <p:sp>
        <p:nvSpPr>
          <p:cNvPr id="16" name="peer">
            <a:extLst xmlns:a="http://schemas.openxmlformats.org/drawingml/2006/main">
              <a:ext uri="{FF2B5EF4-FFF2-40B4-BE49-F238E27FC236}">
                <a16:creationId xmlns:a16="http://schemas.microsoft.com/office/drawing/2014/main" id="{D195C913-D541-41A1-BB2B-881A2BCB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同伴问题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契约 / 评价 / 证据 / 伦理</a:t>
            </a:r>
          </a:p>
        </p:txBody>
      </p:sp>
      <p:sp>
        <p:nvSpPr>
          <p:cNvPr id="17" name="author">
            <a:extLst xmlns:a="http://schemas.openxmlformats.org/drawingml/2006/main">
              <a:ext uri="{FF2B5EF4-FFF2-40B4-BE49-F238E27FC236}">
                <a16:creationId xmlns:a16="http://schemas.microsoft.com/office/drawing/2014/main" id="{A0F7B284-2C9E-486C-924F-20B6B930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43125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作者处理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 / 澄清 / 补证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 / 暂缓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29A1350-C521-492D-9172-C91E782C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9b2ee65704aa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EB01D12-2E4F-4A63-97F4-80FD2AF5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9D38E52-D502-40DE-B211-D20A4D53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39C1CA4-0CB8-4F17-BAB2-64200505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67F1D46-08ED-429B-B776-E5AB8FA8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固定对照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7C18F7D9-4746-43EA-9F5D-C5F61B8F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CA57C9FD-8305-43DB-A8DE-97DE4A45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E3FDE9A-06FC-4010-B88A-47E053A7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D1A09309-B7F2-4476-95A4-AE629B0D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结果三态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FFBAA93-C92E-4CC2-A612-0C64442D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35B8A6F4-3EEE-49CD-8D6B-5FF4A513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27A74BB-C845-440A-8B60-B85E6B12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7F2D5F98-A906-4701-AD35-C5614BBF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失败审计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18823D17-1697-4D46-811D-C1D2BB9D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3215A685-A55E-4D73-8A05-E4FBA6A0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3D9F0A8-5088-4069-AEB6-8F407F63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944F9669-5D94-4AEE-AC88-BEA5DE29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3D11A77-4F4E-4001-AAA5-B0A6E5A4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评价材料直接进入第 14 课写作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5442F73-AC2E-4E5C-A840-A747C0EC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f7487ab144e3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34B78B6-270C-48E9-80FB-2B0347AF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评价材料直接进入第 14 课写作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E56F65F0-10F7-47D6-AA77-C62E9DA1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5-bg">
            <a:extLst xmlns:a="http://schemas.openxmlformats.org/drawingml/2006/main">
              <a:ext uri="{FF2B5EF4-FFF2-40B4-BE49-F238E27FC236}">
                <a16:creationId xmlns:a16="http://schemas.microsoft.com/office/drawing/2014/main" id="{83624BE2-34D0-4904-820E-5884DBDF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5-title-bg">
            <a:extLst xmlns:a="http://schemas.openxmlformats.org/drawingml/2006/main">
              <a:ext uri="{FF2B5EF4-FFF2-40B4-BE49-F238E27FC236}">
                <a16:creationId xmlns:a16="http://schemas.microsoft.com/office/drawing/2014/main" id="{60FDAC97-DD0A-4F1D-820A-7AFEFCF9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5-title">
            <a:extLst xmlns:a="http://schemas.openxmlformats.org/drawingml/2006/main">
              <a:ext uri="{FF2B5EF4-FFF2-40B4-BE49-F238E27FC236}">
                <a16:creationId xmlns:a16="http://schemas.microsoft.com/office/drawing/2014/main" id="{48EFE941-60D1-4E61-BF67-57D554A3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0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13" name="doc-15-line-0">
            <a:extLst xmlns:a="http://schemas.openxmlformats.org/drawingml/2006/main">
              <a:ext uri="{FF2B5EF4-FFF2-40B4-BE49-F238E27FC236}">
                <a16:creationId xmlns:a16="http://schemas.microsoft.com/office/drawing/2014/main" id="{38E35CAC-BD86-4497-940B-22CDD990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669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结果对照</a:t>
            </a:r>
          </a:p>
        </p:txBody>
      </p:sp>
      <p:sp>
        <p:nvSpPr>
          <p:cNvPr id="14" name="doc-15-line-1">
            <a:extLst xmlns:a="http://schemas.openxmlformats.org/drawingml/2006/main">
              <a:ext uri="{FF2B5EF4-FFF2-40B4-BE49-F238E27FC236}">
                <a16:creationId xmlns:a16="http://schemas.microsoft.com/office/drawing/2014/main" id="{789CAE4D-0F20-44A1-AE28-1D58F3F8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527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判断修订</a:t>
            </a:r>
          </a:p>
        </p:txBody>
      </p:sp>
      <p:sp>
        <p:nvSpPr>
          <p:cNvPr id="15" name="doc-15-line-2">
            <a:extLst xmlns:a="http://schemas.openxmlformats.org/drawingml/2006/main">
              <a:ext uri="{FF2B5EF4-FFF2-40B4-BE49-F238E27FC236}">
                <a16:creationId xmlns:a16="http://schemas.microsoft.com/office/drawing/2014/main" id="{22C93E29-2AE2-4BEB-B55B-631CA95D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385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 / 局限</a:t>
            </a:r>
          </a:p>
        </p:txBody>
      </p:sp>
      <p:sp>
        <p:nvSpPr>
          <p:cNvPr id="16" name="doc-15-line-3">
            <a:extLst xmlns:a="http://schemas.openxmlformats.org/drawingml/2006/main">
              <a:ext uri="{FF2B5EF4-FFF2-40B4-BE49-F238E27FC236}">
                <a16:creationId xmlns:a16="http://schemas.microsoft.com/office/drawing/2014/main" id="{DC4BC316-EA99-4F3B-B80B-435CBFD5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243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证据与威胁</a:t>
            </a:r>
          </a:p>
        </p:txBody>
      </p:sp>
      <p:sp>
        <p:nvSpPr>
          <p:cNvPr id="17" name="to14">
            <a:extLst xmlns:a="http://schemas.openxmlformats.org/drawingml/2006/main">
              <a:ext uri="{FF2B5EF4-FFF2-40B4-BE49-F238E27FC236}">
                <a16:creationId xmlns:a16="http://schemas.microsoft.com/office/drawing/2014/main" id="{3C4B0D77-0A3E-4C73-AEEA-4A280571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527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doc-16-bg">
            <a:extLst xmlns:a="http://schemas.openxmlformats.org/drawingml/2006/main">
              <a:ext uri="{FF2B5EF4-FFF2-40B4-BE49-F238E27FC236}">
                <a16:creationId xmlns:a16="http://schemas.microsoft.com/office/drawing/2014/main" id="{FCA9384D-6A1D-4B9F-9704-703BBD8A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4476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doc-16-title-bg">
            <a:extLst xmlns:a="http://schemas.openxmlformats.org/drawingml/2006/main">
              <a:ext uri="{FF2B5EF4-FFF2-40B4-BE49-F238E27FC236}">
                <a16:creationId xmlns:a16="http://schemas.microsoft.com/office/drawing/2014/main" id="{463AEB6A-220D-4C60-B3C0-FAB1F463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0" name="doc-16-title">
            <a:extLst xmlns:a="http://schemas.openxmlformats.org/drawingml/2006/main">
              <a:ext uri="{FF2B5EF4-FFF2-40B4-BE49-F238E27FC236}">
                <a16:creationId xmlns:a16="http://schemas.microsoft.com/office/drawing/2014/main" id="{1C697B70-2DC7-4C23-A2D5-19D4C770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90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14 课论文结构</a:t>
            </a:r>
          </a:p>
        </p:txBody>
      </p:sp>
      <p:sp>
        <p:nvSpPr>
          <p:cNvPr id="21" name="doc-16-line-0">
            <a:extLst xmlns:a="http://schemas.openxmlformats.org/drawingml/2006/main">
              <a:ext uri="{FF2B5EF4-FFF2-40B4-BE49-F238E27FC236}">
                <a16:creationId xmlns:a16="http://schemas.microsoft.com/office/drawing/2014/main" id="{B6E61F73-156C-474B-B068-3C32474C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669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Results｜对照与结果</a:t>
            </a:r>
          </a:p>
        </p:txBody>
      </p:sp>
      <p:sp>
        <p:nvSpPr>
          <p:cNvPr id="22" name="doc-16-line-1">
            <a:extLst xmlns:a="http://schemas.openxmlformats.org/drawingml/2006/main">
              <a:ext uri="{FF2B5EF4-FFF2-40B4-BE49-F238E27FC236}">
                <a16:creationId xmlns:a16="http://schemas.microsoft.com/office/drawing/2014/main" id="{70293B27-B9AE-4DD4-A47B-8087AAA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813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Discussion｜局限与替代解释</a:t>
            </a:r>
          </a:p>
        </p:txBody>
      </p:sp>
      <p:sp>
        <p:nvSpPr>
          <p:cNvPr id="23" name="doc-16-line-2">
            <a:extLst xmlns:a="http://schemas.openxmlformats.org/drawingml/2006/main">
              <a:ext uri="{FF2B5EF4-FFF2-40B4-BE49-F238E27FC236}">
                <a16:creationId xmlns:a16="http://schemas.microsoft.com/office/drawing/2014/main" id="{1CA24C00-ECBB-43B0-8541-875A820F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957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Disclosure｜人工审核与 AI 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2026-09-16T01:34:14.5110000Z</dcterms:created>
  <dcterms:modified xsi:type="dcterms:W3CDTF">2026-09-16T01:34:14.5110000Z</dcterms:modified>
</coreProperties>
</file>