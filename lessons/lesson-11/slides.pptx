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46bc0c838743ce" /><Relationship Type="http://schemas.openxmlformats.org/officeDocument/2006/relationships/extended-properties" Target="/docProps/app.xml" Id="Ra240ed92da4d48e5" /><Relationship Type="http://schemas.openxmlformats.org/officeDocument/2006/relationships/officeDocument" Target="/ppt/presentation.xml" Id="R4fb605ddd5cf44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3648eec3394e79"/>
  </p:sldMasterIdLst>
  <p:notesMasterIdLst>
    <p:notesMasterId xmlns:r="http://schemas.openxmlformats.org/officeDocument/2006/relationships" r:id="R0ac36eb81e924060"/>
  </p:notesMasterIdLst>
  <p:sldIdLst>
    <p:sldId xmlns:r="http://schemas.openxmlformats.org/officeDocument/2006/relationships" id="256" r:id="Rab2931de19414b23"/>
    <p:sldId xmlns:r="http://schemas.openxmlformats.org/officeDocument/2006/relationships" id="257" r:id="R7f201091d00d47ec"/>
    <p:sldId xmlns:r="http://schemas.openxmlformats.org/officeDocument/2006/relationships" id="258" r:id="Re8587e99d1a34bd6"/>
    <p:sldId xmlns:r="http://schemas.openxmlformats.org/officeDocument/2006/relationships" id="259" r:id="Rfd289236d4f94b5c"/>
    <p:sldId xmlns:r="http://schemas.openxmlformats.org/officeDocument/2006/relationships" id="260" r:id="Raf2b979408bd4483"/>
    <p:sldId xmlns:r="http://schemas.openxmlformats.org/officeDocument/2006/relationships" id="261" r:id="Rd98a7f0d33dc42c0"/>
    <p:sldId xmlns:r="http://schemas.openxmlformats.org/officeDocument/2006/relationships" id="262" r:id="Rdfac37ef1d2f4bfa"/>
    <p:sldId xmlns:r="http://schemas.openxmlformats.org/officeDocument/2006/relationships" id="263" r:id="R03eeff3635614c17"/>
    <p:sldId xmlns:r="http://schemas.openxmlformats.org/officeDocument/2006/relationships" id="264" r:id="Re55699c3e8c7449c"/>
    <p:sldId xmlns:r="http://schemas.openxmlformats.org/officeDocument/2006/relationships" id="265" r:id="Re2650223914f4c93"/>
    <p:sldId xmlns:r="http://schemas.openxmlformats.org/officeDocument/2006/relationships" id="266" r:id="Rf48407b4c6cc47b5"/>
    <p:sldId xmlns:r="http://schemas.openxmlformats.org/officeDocument/2006/relationships" id="267" r:id="Rfbc97832eb7641a8"/>
    <p:sldId xmlns:r="http://schemas.openxmlformats.org/officeDocument/2006/relationships" id="268" r:id="R1f555ae8c98b48c7"/>
    <p:sldId xmlns:r="http://schemas.openxmlformats.org/officeDocument/2006/relationships" id="269" r:id="Rafdf716ba3fa4617"/>
    <p:sldId xmlns:r="http://schemas.openxmlformats.org/officeDocument/2006/relationships" id="270" r:id="Rb675410b5c054d35"/>
    <p:sldId xmlns:r="http://schemas.openxmlformats.org/officeDocument/2006/relationships" id="271" r:id="R5e196dd8e6bc4fd1"/>
    <p:sldId xmlns:r="http://schemas.openxmlformats.org/officeDocument/2006/relationships" id="272" r:id="Rd2fcbe8002fd4574"/>
    <p:sldId xmlns:r="http://schemas.openxmlformats.org/officeDocument/2006/relationships" id="273" r:id="Rfe17ecc4648e4996"/>
    <p:sldId xmlns:r="http://schemas.openxmlformats.org/officeDocument/2006/relationships" id="274" r:id="R7e3550d1a27b4aa0"/>
    <p:sldId xmlns:r="http://schemas.openxmlformats.org/officeDocument/2006/relationships" id="275" r:id="R2c81e26c7b2144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e2b854a72b42cf" /><Relationship Type="http://schemas.openxmlformats.org/officeDocument/2006/relationships/slideMaster" Target="/ppt/slideMasters/slideMaster1.xml" Id="Rb63648eec3394e79" /><Relationship Type="http://schemas.openxmlformats.org/officeDocument/2006/relationships/notesMaster" Target="/ppt/notesMasters/notesMaster1.xml" Id="R0ac36eb81e924060" /><Relationship Type="http://schemas.openxmlformats.org/officeDocument/2006/relationships/presProps" Target="/ppt/presProps.xml" Id="R2c057e554ace497e" /><Relationship Type="http://schemas.openxmlformats.org/officeDocument/2006/relationships/viewProps" Target="/ppt/viewProps.xml" Id="Radbdab3a41504261" /><Relationship Type="http://schemas.openxmlformats.org/officeDocument/2006/relationships/tableStyles" Target="/ppt/tableStyles.xml" Id="R51f48c13b4d14d38" /><Relationship Type="http://schemas.openxmlformats.org/officeDocument/2006/relationships/slide" Target="/ppt/slides/slide1.xml" Id="Rab2931de19414b23" /><Relationship Type="http://schemas.openxmlformats.org/officeDocument/2006/relationships/slide" Target="/ppt/slides/slide2.xml" Id="R7f201091d00d47ec" /><Relationship Type="http://schemas.openxmlformats.org/officeDocument/2006/relationships/slide" Target="/ppt/slides/slide3.xml" Id="Re8587e99d1a34bd6" /><Relationship Type="http://schemas.openxmlformats.org/officeDocument/2006/relationships/slide" Target="/ppt/slides/slide4.xml" Id="Rfd289236d4f94b5c" /><Relationship Type="http://schemas.openxmlformats.org/officeDocument/2006/relationships/slide" Target="/ppt/slides/slide5.xml" Id="Raf2b979408bd4483" /><Relationship Type="http://schemas.openxmlformats.org/officeDocument/2006/relationships/slide" Target="/ppt/slides/slide6.xml" Id="Rd98a7f0d33dc42c0" /><Relationship Type="http://schemas.openxmlformats.org/officeDocument/2006/relationships/slide" Target="/ppt/slides/slide7.xml" Id="Rdfac37ef1d2f4bfa" /><Relationship Type="http://schemas.openxmlformats.org/officeDocument/2006/relationships/slide" Target="/ppt/slides/slide8.xml" Id="R03eeff3635614c17" /><Relationship Type="http://schemas.openxmlformats.org/officeDocument/2006/relationships/slide" Target="/ppt/slides/slide9.xml" Id="Re55699c3e8c7449c" /><Relationship Type="http://schemas.openxmlformats.org/officeDocument/2006/relationships/slide" Target="/ppt/slides/slide10.xml" Id="Re2650223914f4c93" /><Relationship Type="http://schemas.openxmlformats.org/officeDocument/2006/relationships/slide" Target="/ppt/slides/slide11.xml" Id="Rf48407b4c6cc47b5" /><Relationship Type="http://schemas.openxmlformats.org/officeDocument/2006/relationships/slide" Target="/ppt/slides/slide12.xml" Id="Rfbc97832eb7641a8" /><Relationship Type="http://schemas.openxmlformats.org/officeDocument/2006/relationships/slide" Target="/ppt/slides/slide13.xml" Id="R1f555ae8c98b48c7" /><Relationship Type="http://schemas.openxmlformats.org/officeDocument/2006/relationships/slide" Target="/ppt/slides/slide14.xml" Id="Rafdf716ba3fa4617" /><Relationship Type="http://schemas.openxmlformats.org/officeDocument/2006/relationships/slide" Target="/ppt/slides/slide15.xml" Id="Rb675410b5c054d35" /><Relationship Type="http://schemas.openxmlformats.org/officeDocument/2006/relationships/slide" Target="/ppt/slides/slide16.xml" Id="R5e196dd8e6bc4fd1" /><Relationship Type="http://schemas.openxmlformats.org/officeDocument/2006/relationships/slide" Target="/ppt/slides/slide17.xml" Id="Rd2fcbe8002fd4574" /><Relationship Type="http://schemas.openxmlformats.org/officeDocument/2006/relationships/slide" Target="/ppt/slides/slide18.xml" Id="Rfe17ecc4648e4996" /><Relationship Type="http://schemas.openxmlformats.org/officeDocument/2006/relationships/slide" Target="/ppt/slides/slide19.xml" Id="R7e3550d1a27b4aa0" /><Relationship Type="http://schemas.openxmlformats.org/officeDocument/2006/relationships/slide" Target="/ppt/slides/slide20.xml" Id="R2c81e26c7b2144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e06ff371f447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41aa363f684816" /><Relationship Type="http://schemas.openxmlformats.org/officeDocument/2006/relationships/notesMaster" Target="/ppt/notesMasters/notesMaster1.xml" Id="R62246e2b0a3746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a671dc614c47ee" /><Relationship Type="http://schemas.openxmlformats.org/officeDocument/2006/relationships/notesMaster" Target="/ppt/notesMasters/notesMaster1.xml" Id="Re182f08b0f9a4a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bdf0f8791544ac" /><Relationship Type="http://schemas.openxmlformats.org/officeDocument/2006/relationships/notesMaster" Target="/ppt/notesMasters/notesMaster1.xml" Id="R97a729ab60a244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fceeed3f024f54" /><Relationship Type="http://schemas.openxmlformats.org/officeDocument/2006/relationships/notesMaster" Target="/ppt/notesMasters/notesMaster1.xml" Id="R511bfd46998f41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18e78508724407" /><Relationship Type="http://schemas.openxmlformats.org/officeDocument/2006/relationships/notesMaster" Target="/ppt/notesMasters/notesMaster1.xml" Id="R12e19779c1414c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1790ca543f4aea" /><Relationship Type="http://schemas.openxmlformats.org/officeDocument/2006/relationships/notesMaster" Target="/ppt/notesMasters/notesMaster1.xml" Id="R356bba93cf944f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0151ed44fd4b01" /><Relationship Type="http://schemas.openxmlformats.org/officeDocument/2006/relationships/notesMaster" Target="/ppt/notesMasters/notesMaster1.xml" Id="R301052fe6e9c40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eac221584f43c3" /><Relationship Type="http://schemas.openxmlformats.org/officeDocument/2006/relationships/notesMaster" Target="/ppt/notesMasters/notesMaster1.xml" Id="Rb3061b23b1874a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2b08cb8d2e4506" /><Relationship Type="http://schemas.openxmlformats.org/officeDocument/2006/relationships/notesMaster" Target="/ppt/notesMasters/notesMaster1.xml" Id="R2341c583038547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3cc826937c4aff" /><Relationship Type="http://schemas.openxmlformats.org/officeDocument/2006/relationships/notesMaster" Target="/ppt/notesMasters/notesMaster1.xml" Id="R045bf67c276f4b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01a628c52d4c93" /><Relationship Type="http://schemas.openxmlformats.org/officeDocument/2006/relationships/notesMaster" Target="/ppt/notesMasters/notesMaster1.xml" Id="R70bad4e9efa541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af9a597696454c" /><Relationship Type="http://schemas.openxmlformats.org/officeDocument/2006/relationships/notesMaster" Target="/ppt/notesMasters/notesMaster1.xml" Id="Re4af00d867a645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b1d9d69d4e44dc" /><Relationship Type="http://schemas.openxmlformats.org/officeDocument/2006/relationships/notesMaster" Target="/ppt/notesMasters/notesMaster1.xml" Id="R7e8d8171c4314b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fa53efa72c489a" /><Relationship Type="http://schemas.openxmlformats.org/officeDocument/2006/relationships/notesMaster" Target="/ppt/notesMasters/notesMaster1.xml" Id="Reefa593b2f1f4e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31d3ba0a2e4a30" /><Relationship Type="http://schemas.openxmlformats.org/officeDocument/2006/relationships/notesMaster" Target="/ppt/notesMasters/notesMaster1.xml" Id="R645bd4dfa76649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5f97e068374846" /><Relationship Type="http://schemas.openxmlformats.org/officeDocument/2006/relationships/notesMaster" Target="/ppt/notesMasters/notesMaster1.xml" Id="Rdb4ad63e25224a8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05844ceeeb485d" /><Relationship Type="http://schemas.openxmlformats.org/officeDocument/2006/relationships/notesMaster" Target="/ppt/notesMasters/notesMaster1.xml" Id="Rdb0ebfdf2a6441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fa7829260041fc" /><Relationship Type="http://schemas.openxmlformats.org/officeDocument/2006/relationships/notesMaster" Target="/ppt/notesMasters/notesMaster1.xml" Id="R8bb4191eca52417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04549352594441c" /><Relationship Type="http://schemas.openxmlformats.org/officeDocument/2006/relationships/notesMaster" Target="/ppt/notesMasters/notesMaster1.xml" Id="Rfc003b05a5af43b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e01dac96f84c32" /><Relationship Type="http://schemas.openxmlformats.org/officeDocument/2006/relationships/notesMaster" Target="/ppt/notesMasters/notesMaster1.xml" Id="R0a196d017f974a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第11讲 实验自动化与 AutoResearch 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开场放下第 10 课的受限执行记录。第 10 课已让 Agent 在受限权限下跑通一次，但"能跑通"和"可重复运行、可被评价、可被回退"之间还有距离。本课把受限执行扩展为实验自动化循环，并拆解 AutoResearch / AI Scientist 两类系统作为分析对象。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不展开课程行政信息，直接进入下一页回扣。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课程信息以 [syllabus.md](../../course/syllabus.md) 为准；备课规划 [第 11 课](../备课规划.md) 权威六段。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从一次受限执行到冻结运行队列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回扣第 10 课：受限 Agent 让"Agent 帮忙"可见，但没有回答"能不能反复跑""指标会不会被篡改""失败会不会被删""AutoResearch 那类系统在哪些维度上仍需人工"。本课进入阶段七实验追踪，把受限执行扩展为受限循环。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先停 1 分钟：在你现有的受限执行记录里，圈出最缺的一项：指标 / 预算 / 停止 / 回退。然后快问：指标是预先固定的吗？失败能与运行次数对账吗？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回扣第 10 课讲义与第 9 课实验规格；[AGENTS.md](../../AGENTS.md)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恢复与停止是两种判断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先独立作答，再同伴比较；以下依据只在校准时揭示。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技术失败在配置/输入未变时可恢复，成功任务不重复；更改输入须新版本新目录。无改善/负结果是评价事实，不是运行故障；保留并据协议决定停止或下一轮。固定指标仍可能因反复选优乐观，RSI 作为该问题的补充，不要求再做一个项目。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先独立写决定和证据，后同伴比较；校准后再回写。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[备课规划.md](../备课规划.md) 第 11 课权威六段；[assignments.md](../../course/assignments.md) 验证门 Checkpoint 3 在第 13 课后。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循环五步与 Keep / Discard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本页讲优化循环：候选方法改动在预先隔离的开发集上比较，评价口径、预算和停止规则保持冻结。Keep / Discard 决定是否采用候选改动，不删除失败记录。第 10 页的 6 份构造输出仅执行已冻结配置，不沿此分支调参。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快问：你之前做实验时，假设是先写的还是结果出来后补的？只听回答。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 §二·1；第 1 课 §2.7 工作流何时停止。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适用边界取决于重复性与判断风险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区分可固定的评价协议与不可交给执行器的判断。指标可以依赖人工建立并复核的基准和盲评，并不因为需要专家标注就排除自动化。研究问题仍在形成、评价持续变化或高风险外部动作应保留人工主导。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追问：判断"Agent 自动判断哪篇论文值得深入研究"是否适合改写为循环？为什么？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 §二·2-3；Sandve et al. 2013（可复现追踪链）。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指标定义在循环启动前冻结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固定指标不是"用什么指标"，而是"这个指标怎么算出来，且不可被工作流自身修改"。三个失败模式都是评价协议漂移的常见表现。判断指标是否被篡改：循环运行前后，指标定义文件、rubric 版本号、数据划分是否一致。任何不一致都应触发循环停止并人工审核。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 §三·1；第 9 课 §三·3 度量标准与标注协议。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预算与停止条件写进运行序列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预算是预先写明的硬上限，而非"大概要花多久"。停止条件在第 9 课是"运行次数与停止规则"，本课扩展为三类触发器。协议性停止指循环本身出了问题（数据污染、配置错误、指标被修改），与结果是否有利无关。禁止的停止是"因为结果不利就停、因为结果有利就停"——这构成隐性 p-hacking。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追问：你的循环如果"跑 100 次都没出现显著结果"，应该停还是继续？为什么？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 §三·2-3；第 9 课 §三·2 停止条件；第 1 课 §2.7 工作流何时停止。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回退到稳定配置，同时保留失败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退机制是循环在失败或停止后的处理路径。关键区分：回退到"最近一次通过人工审核的配置"，不是"上一次看起来不错的配置"——这两者经常被混淆。回退后失败迭代必须保留，并触发研究判断的修订。回退默认需要人工确认，因为回退通常意味着循环未按预期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 §三·4；第 9 课 §三·4 失败预案。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评价协议漂移会让循环失去可比性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日志中的 auto-switch rubric 是协议漂移的直接证据。停止并拒绝的是协议改动或无效候选，失败日志必须保留；结果不支持本身仍是有效结果，不触发删除、换指标或结果导向停止。0.34 与 0.19 均为教学虚构值，不可作研究结论。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让学生指出日志中哪一行暴露了问题。追问：若只看较低的最终分数，是否能发现协议已改变？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 §三·1；第 9 课 §三·3 度量标准。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6 份固定输出：执行、恢复与评价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打开实际小包，先指出任务清单。若任务不生成新候选、不据评价更新下一轮，就不能把它叫自主研究优化。随后用已有系统分析说明优化循环额外需要什么。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学生指出这个流程缺少哪一步才会成为优化循环。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失败与恢复保存在同一本账中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执行带fault-once的回放，预期在T02-card停住；去掉该选项再运行。让学生对照实际ID，课堂不写死虚构run-003。成功任务不能再生成重复记录。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找到同一任务的失败和成功事件，说明它们为什么不是两个独立样本。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AutoResearch 与 AI Scientist 的系统主链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本轮系统边界短分析与 P14/P15 共 4 分钟，完整系统比较为按需参考；RSI 补充案例占原 10 分钟短分析中的 6 分钟，不新增活动。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用第 1 课 §四·2 的 Agent Workflow 八部分框架拆解这两类系统。它们是分析对象，不是结论外推的依据——要看清的是每个维度上"哪些已由系统处理、哪些仍需人工判断"，而不是断言"AI 已能自主科研"。AI Scientist 报告的是特定 ML 研究设置下的系统表现：三篇送审稿中一篇评分超过工作坊平均接收阈值，但按预设协议撤回；工作坊接收率为 70%，研究团队内部判断三篇均未达到 ICLR 主会标准。这不等于顶会正式接收，也不适用于所有学科。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Lu, C. et al. "Towards end-to-end automation of AI research." *Nature* (2026). DOI: [10.1038/s41586-026-10265-5](https://www.nature.com/articles/s41586-026-10265-5)。**不外推为通用自主科研能力**。Karpathy. [*AutoResearch* commit `228791f`](https://github.com/karpathy/autoresearch/tree/228791fb499afffb54b46200aca536f79142f117)。Huang et al. MLAgentBench, ICML 2024（评价方法参考）。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固定协议下，选优分数仍会乐观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本页是合成环境上的实际 CPU 实验，500 次独立重复、2000 次 bootstrap，非 Dream-RSI 或工业任务实测。6 分钟完成协议完整性与选优反例诊断：指标、预算和完整日志都没有改变，但历史成绩参与选择。最终评价在冻结后揭示。等质量真值全部 0.65，因此真实选择损失为零；不能把乐观偏差直接解释为选错。完整八维系统比较留作原有按需参考。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判断历史反馈与最终证据的用途；其他系统维度保留在讲义参考，不在本页展开。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指出哪份证据参与选择；解释为何真实损失为零而历史分数仍乐观。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[RSI 案例](assets/rsi-selection-case/README.md#validation-gate)、recorded/summary.json；合成环境实际运行，不是工业实验。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系统边界决定哪些表述可以成立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与 P12/P15 合计 4 分钟；保留受限循环与人工判断边界。RSI 受控结果不外推为系统级自我改进或工业迁移。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两个边界判断贯穿本课。AI Scientist 只在特定 ML 设置下验证，不外推为通用自主科研。自动评审只作循环内部 Evals，不替代同行共识。不外推清单中的表述都超出了来源证据的适用范围。在作业或 slides 中出现类似表述，都应标记为越界并改写为带边界的形式。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让学生检查自己第 10 课的 AI 使用记录中是否出现过清单中的表述。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 §四·3-4；[AGENTS.md](../../AGENTS.md) 证据标准（关键结论至少绑定一项可核验直接证据）。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同一工作流映射到两个分析对象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P12/P14/P15 系统边界共 4 分钟；生成器不可自评与反复选优后的独立最终评价是相关但不同的检查。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只对比共同约束：指标、预算、停止与失败保留。AutoResearch 的候选方法优化不属于本课冻结生成队列；AI Scientist 的端到端链还包括想法、论文与评审，不能据此推断课程执行器拥有相同能力。主题价值、标注分歧与结论外推由研究者判断。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 §六·5；Karpathy AutoResearch（commit `228791f`）；Lu et al. 2026（Nature）。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页面：P16 本人项目：决定、核验与回写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第一段作决定并查证据；中点处理共性卡点；第二段实际回写并验证。技术失败在配置/输入未变时可恢复，成功任务不重复；更改输入须新版本新目录。无改善/负结果是评价事实，不是运行故障；保留并据协议决定停止或下一轮。固定指标仍可能因反复选优乐观，RSI 作为该问题的补充，不要求再做一个项目。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在同一微型项目执行 changed.py，使用 execute --fault-once；检查失败后状态，人工批准后恢复，比对 run_id 与完成任务，解释预算耗尽、完成或停止决定。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 §六·1-4；§八 练习 1-8。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页面：P17 恢复以后，先检查四件事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打开events与state核对四问，展示一次真实恢复。若输入变化，原目录拒绝续跑，应保留旧目录、开启新版本。不要为了让演示成功而清空日志。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在失败trace旁记录恢复依据和仍未解决的问题。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页面：P18 同伴只问四个循环边界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同伴互查只提问题，不替作者决定，不形成共同提交。重点检查四约束是否齐全、停止条件是否含禁止类、审核点是否标出、失败记录是否七字段、是否出现越界表述。同伴反馈由作者自己决定是否采纳，沿用第 8 课同伴组规则。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2–3 人互查，作者记录决定与理由；按本页建议时间完成。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handout §七 常见错误；第 8 课同伴反馈规则。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页面：P19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回收循环结构、约束、失败追踪与人工审核的关系。本页不新增任务。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学生用一句话指出自己的循环最可能在哪项约束上失效。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[handout.md](./handout.md) §二-§五；[teaching-plan.md](./teaching-plan.md) 第四至六节。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页面：P20 保留本课决定，准备下一课输入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整理一次恢复和停止理由；按需查看 RSI 选优案例，不新增运行项目。 每课课外最多60分钟；详见讲义。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定位实际工件与下一项动作；按既定预算收口。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[assignments.md](../../course/assignments.md) 验证门 Checkpoint 3 在第 13 课后；[syllabus.md](../../course/syllabus.md) 第 12 课主题。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bc225baf284652" /><Relationship Type="http://schemas.openxmlformats.org/officeDocument/2006/relationships/image" Target="/ppt/media/image.png" Id="Rf316e5d6b82c4841" /><Relationship Type="http://schemas.openxmlformats.org/officeDocument/2006/relationships/image" Target="/ppt/media/image2.png" Id="Rf775438539824c26" /><Relationship Type="http://schemas.openxmlformats.org/officeDocument/2006/relationships/image" Target="/ppt/media/image3.png" Id="R6287557e5d9f4197" /><Relationship Type="http://schemas.openxmlformats.org/officeDocument/2006/relationships/image" Target="/ppt/media/image4.png" Id="Rfd285553960e4a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bc54a30664f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fa5c0db6a4434" /><Relationship Type="http://schemas.openxmlformats.org/officeDocument/2006/relationships/image" Target="/ppt/media/image2.png" Id="Rc23c8abb899c4798" /><Relationship Type="http://schemas.openxmlformats.org/officeDocument/2006/relationships/image" Target="/ppt/media/image5.png" Id="R1338b1b8b38045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ca4f5cd7d4d07" /><Relationship Type="http://schemas.openxmlformats.org/officeDocument/2006/relationships/image" Target="/ppt/media/image.png" Id="R3362c7305774466d" /><Relationship Type="http://schemas.openxmlformats.org/officeDocument/2006/relationships/image" Target="/ppt/media/image3.png" Id="Re8367ac246d34f80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6e5d6b82c4841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75438539824c26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87557e5d9f4197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85553960e4a99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3c8abb899c4798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8b1b8b38045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2c7305774466d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367ac246d34f80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a0526b58cf469d" /><Relationship Type="http://schemas.openxmlformats.org/officeDocument/2006/relationships/slideLayout" Target="/ppt/slideLayouts/slideLayout1.xml" Id="R5a61e6ab0c004c9b" /><Relationship Type="http://schemas.openxmlformats.org/officeDocument/2006/relationships/slideLayout" Target="/ppt/slideLayouts/slideLayout2.xml" Id="R6900ff3750b74d60" /><Relationship Type="http://schemas.openxmlformats.org/officeDocument/2006/relationships/slideLayout" Target="/ppt/slideLayouts/slideLayout3.xml" Id="Rdbe3f7cf5e65454d" /><Relationship Type="http://schemas.openxmlformats.org/officeDocument/2006/relationships/slideLayout" Target="/ppt/slideLayouts/slideLayout4.xml" Id="Ra341eb4de2114ce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61e6ab0c004c9b"/>
    <p:sldLayoutId xmlns:r="http://schemas.openxmlformats.org/officeDocument/2006/relationships" id="2147483650" r:id="R6900ff3750b74d60"/>
    <p:sldLayoutId xmlns:r="http://schemas.openxmlformats.org/officeDocument/2006/relationships" id="2147483651" r:id="Rdbe3f7cf5e65454d"/>
    <p:sldLayoutId xmlns:r="http://schemas.openxmlformats.org/officeDocument/2006/relationships" id="2147483652" r:id="Ra341eb4de2114ce8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dc50957c84d04" /><Relationship Type="http://schemas.openxmlformats.org/officeDocument/2006/relationships/notesSlide" Target="/ppt/notesSlides/notesSlide1.xml" Id="R453ea172784e46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9cd4e619c34df0" /><Relationship Type="http://schemas.openxmlformats.org/officeDocument/2006/relationships/image" Target="/ppt/media/image6.png" Id="R2d54222defbf40e5" /><Relationship Type="http://schemas.openxmlformats.org/officeDocument/2006/relationships/notesSlide" Target="/ppt/notesSlides/notesSlide2.xml" Id="R038d82ecd6b843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93272b20b8e4645" /><Relationship Type="http://schemas.openxmlformats.org/officeDocument/2006/relationships/image" Target="/ppt/media/image7.png" Id="Ra8cbc61490474444" /><Relationship Type="http://schemas.openxmlformats.org/officeDocument/2006/relationships/notesSlide" Target="/ppt/notesSlides/notesSlide3.xml" Id="R5332dcabff3c44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8aaa28baac4447c" /><Relationship Type="http://schemas.openxmlformats.org/officeDocument/2006/relationships/image" Target="/ppt/media/image8.png" Id="R92869e6c57f441d8" /><Relationship Type="http://schemas.openxmlformats.org/officeDocument/2006/relationships/notesSlide" Target="/ppt/notesSlides/notesSlide4.xml" Id="R722edb9cfd8241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3c4af02b594238" /><Relationship Type="http://schemas.openxmlformats.org/officeDocument/2006/relationships/image" Target="/ppt/media/image9.png" Id="R2ace865782b2423a" /><Relationship Type="http://schemas.openxmlformats.org/officeDocument/2006/relationships/notesSlide" Target="/ppt/notesSlides/notesSlide5.xml" Id="Rae948eb3470040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6ca6ff99cf498f" /><Relationship Type="http://schemas.openxmlformats.org/officeDocument/2006/relationships/image" Target="/ppt/media/image10.png" Id="R6e9d8378f95f4eb1" /><Relationship Type="http://schemas.openxmlformats.org/officeDocument/2006/relationships/notesSlide" Target="/ppt/notesSlides/notesSlide6.xml" Id="R8464f434371f46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78cc69fc16f4bd5" /><Relationship Type="http://schemas.openxmlformats.org/officeDocument/2006/relationships/image" Target="/ppt/media/image11.png" Id="R32fe3fbd667046fb" /><Relationship Type="http://schemas.openxmlformats.org/officeDocument/2006/relationships/notesSlide" Target="/ppt/notesSlides/notesSlide7.xml" Id="Rd6dfdff25dec4d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cab8ee8b1e24d1a" /><Relationship Type="http://schemas.openxmlformats.org/officeDocument/2006/relationships/image" Target="/ppt/media/image12.png" Id="Rbf2792b98cdc4b64" /><Relationship Type="http://schemas.openxmlformats.org/officeDocument/2006/relationships/notesSlide" Target="/ppt/notesSlides/notesSlide8.xml" Id="R9c020ba25d2c41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bff1650fb034704" /><Relationship Type="http://schemas.openxmlformats.org/officeDocument/2006/relationships/image" Target="/ppt/media/image13.png" Id="R9076c19fa5d449b3" /><Relationship Type="http://schemas.openxmlformats.org/officeDocument/2006/relationships/notesSlide" Target="/ppt/notesSlides/notesSlide9.xml" Id="R451f4fb9b16843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d8377412214a04" /><Relationship Type="http://schemas.openxmlformats.org/officeDocument/2006/relationships/notesSlide" Target="/ppt/notesSlides/notesSlide10.xml" Id="R71cd4fd3cf914b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a44c912e2764bd0" /><Relationship Type="http://schemas.openxmlformats.org/officeDocument/2006/relationships/notesSlide" Target="/ppt/notesSlides/notesSlide11.xml" Id="Rd68a8e97314743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97a1612852346d2" /><Relationship Type="http://schemas.openxmlformats.org/officeDocument/2006/relationships/image" Target="/ppt/media/image14.png" Id="R72883546515a42b6" /><Relationship Type="http://schemas.openxmlformats.org/officeDocument/2006/relationships/notesSlide" Target="/ppt/notesSlides/notesSlide12.xml" Id="R79f9272e5a2c43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1399f8c7024b30" /><Relationship Type="http://schemas.openxmlformats.org/officeDocument/2006/relationships/image" Target="/ppt/media/image15.png" Id="R500f6be76c0e4d7f" /><Relationship Type="http://schemas.openxmlformats.org/officeDocument/2006/relationships/notesSlide" Target="/ppt/notesSlides/notesSlide13.xml" Id="R93c619bdc4374a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870219b6ba04ff9" /><Relationship Type="http://schemas.openxmlformats.org/officeDocument/2006/relationships/image" Target="/ppt/media/image16.png" Id="R57be1362c6c64238" /><Relationship Type="http://schemas.openxmlformats.org/officeDocument/2006/relationships/notesSlide" Target="/ppt/notesSlides/notesSlide14.xml" Id="R3ebc8ddd742b41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89855efb724d9a" /><Relationship Type="http://schemas.openxmlformats.org/officeDocument/2006/relationships/image" Target="/ppt/media/image17.png" Id="Ra823f52624cf4c89" /><Relationship Type="http://schemas.openxmlformats.org/officeDocument/2006/relationships/notesSlide" Target="/ppt/notesSlides/notesSlide15.xml" Id="Re0238fafa1cd4c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21fa9875ef4f72" /><Relationship Type="http://schemas.openxmlformats.org/officeDocument/2006/relationships/image" Target="/ppt/media/image18.png" Id="Rae4d7d701cea42fe" /><Relationship Type="http://schemas.openxmlformats.org/officeDocument/2006/relationships/notesSlide" Target="/ppt/notesSlides/notesSlide16.xml" Id="R5773b86b2cdc43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7d9964813f48ea" /><Relationship Type="http://schemas.openxmlformats.org/officeDocument/2006/relationships/notesSlide" Target="/ppt/notesSlides/notesSlide17.xml" Id="Ree0a1bde012243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844d3dce2a407d" /><Relationship Type="http://schemas.openxmlformats.org/officeDocument/2006/relationships/image" Target="/ppt/media/image19.png" Id="R74c26196148c451b" /><Relationship Type="http://schemas.openxmlformats.org/officeDocument/2006/relationships/notesSlide" Target="/ppt/notesSlides/notesSlide18.xml" Id="R09a0dd5ab3f94d9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b02a022db14266" /><Relationship Type="http://schemas.openxmlformats.org/officeDocument/2006/relationships/image" Target="/ppt/media/image20.png" Id="Rb392a6e8c1524c42" /><Relationship Type="http://schemas.openxmlformats.org/officeDocument/2006/relationships/notesSlide" Target="/ppt/notesSlides/notesSlide19.xml" Id="Rf2961ad226144f7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440bc462d64667" /><Relationship Type="http://schemas.openxmlformats.org/officeDocument/2006/relationships/image" Target="/ppt/media/image21.png" Id="R7c79cec7ec3240e0" /><Relationship Type="http://schemas.openxmlformats.org/officeDocument/2006/relationships/notesSlide" Target="/ppt/notesSlides/notesSlide20.xml" Id="Ra508429d549445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698D383-E450-42E0-8CAE-F5744912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第11讲 实验自动化与 AutoResearch 循环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从一次受限执行到冻结运行队列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351FED7B-F2ED-45E1-AF94-972E9E10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4222defbf40e5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5E860BAC-ECE1-445F-8F28-2A0B3683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从一次受限执行到冻结运行队列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F799280E-E700-4B73-90A3-33B62975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来源：lesson-11/slides.md；课程工件与讲义见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217EDAC9-2047-4F9D-8FAC-3D105C4B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71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54EE1F02-75C3-47A5-BC50-3D800E2B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task-01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CD9E4C4F-1754-4676-994C-49CCF4B2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2700"/>
            <a:ext cx="127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560E037C-2643-4927-8A5D-D7B585A1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契约 + diff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6E89C65D-AFEA-4B39-BEFB-66879DA7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50" y="3105150"/>
            <a:ext cx="171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01117F50-DFAB-4587-A1AD-39EA3B45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50" y="2381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run-001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8C8B86CA-D1FF-4293-AD37-1ADB885A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750" y="2552700"/>
            <a:ext cx="127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1388CF72-B830-4BA0-B06C-183D3C68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50" y="32575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正常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BFCC3EEC-F872-40B0-9C0F-1EE473A0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750" y="3105150"/>
            <a:ext cx="171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A5C9FFF0-74D9-497C-B8F6-940EBB93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750" y="2381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run-002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D1A40D5D-0974-450A-9F95-5E99AF56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250" y="2552700"/>
            <a:ext cx="127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D2A79B20-151C-43BE-8F63-487A63F6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750" y="32575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无改善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10A766F6-29C1-471B-9956-C9634198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71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A7131901-BE9B-4911-BFEB-7CF271EB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run-003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C71006C8-88D2-482B-9DAB-5C24AB80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失败保留</a:t>
            </a:r>
          </a:p>
        </p:txBody>
      </p:sp>
      <p:sp>
        <p:nvSpPr>
          <p:cNvPr id="25" name="gaps">
            <a:extLst xmlns:a="http://schemas.openxmlformats.org/drawingml/2006/main">
              <a:ext uri="{FF2B5EF4-FFF2-40B4-BE49-F238E27FC236}">
                <a16:creationId xmlns:a16="http://schemas.microsoft.com/office/drawing/2014/main" id="{544C62F5-16F2-4CA4-AEF4-3A860076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循环还缺：固定指标｜预算｜停止条件｜回退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5AD9174C-F99E-40A2-A89E-D288DB55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恢复与停止是两种判断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D00982A1-1794-425F-BA7B-C23392B1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6 个任务；最多 8 次尝试；前两任务成功，第三次 timeout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2F57A1BC-61A7-439B-8C98-1ED7B636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技术失败｜能否按原输入恢复？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T02 无改善｜是否需要重跑？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T03 负向｜是否可以删除？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25E926D6-B0DE-4D51-A485-12DAF211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输入变化时如何处理目录？保留什么证据才能解释停止决定？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5BBBC72F-7C73-4EA5-A548-9BE51D21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6140D968-4E7B-44AA-A7DA-1BCA0FBC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循环五步与 Keep / Discard 分支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81E30CAD-0711-486F-966A-D2EC17E4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69e6c57f441d8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DB165109-B26C-41BA-931D-693891B2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循环五步与 Keep / Discard 分支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FBF3CCF1-47D4-45E7-B915-84B7C948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来源：lesson-11/slides.md；课程工件与讲义见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6ABACD04-631B-46AD-A456-D1152972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666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1060E9AE-C28E-4526-8C0F-458117F0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假设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C883ABA9-47A5-497D-B4F6-69B1DA14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76450"/>
            <a:ext cx="58340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7D6965FC-69B5-4AEA-829E-B1FC7FDA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运行前写明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E029D8ED-3825-4C6F-97A8-EF475EF1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031" y="2628900"/>
            <a:ext cx="1666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B05A9355-E258-40EE-92E0-7391A82C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031" y="190500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EE9AA43C-A6BB-4242-9D4F-F0EC990F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906" y="2076450"/>
            <a:ext cx="58340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BB5B1C7B-6E79-4FAB-8675-99DDA0CA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031" y="27813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冻结配置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9EC11A9B-EAC9-4E33-B26E-BD1E3E3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2628900"/>
            <a:ext cx="1666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12DA2A5F-3604-4A2A-BFF1-90BA9394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190500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度量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F09E4742-E700-425C-BBBA-D3017192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88" y="2076450"/>
            <a:ext cx="58340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A8C32085-20BC-4D32-8D0D-2256E3B6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27813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指标不可改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FD004BBF-D014-4255-A566-471D5BDF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594" y="2628900"/>
            <a:ext cx="1666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812DB370-F3B9-4615-B2E3-50354E59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594" y="190500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24" name="chain-arrow-3">
            <a:extLst xmlns:a="http://schemas.openxmlformats.org/drawingml/2006/main">
              <a:ext uri="{FF2B5EF4-FFF2-40B4-BE49-F238E27FC236}">
                <a16:creationId xmlns:a16="http://schemas.microsoft.com/office/drawing/2014/main" id="{477CA584-2010-4992-A31A-D84E8190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469" y="2076450"/>
            <a:ext cx="58340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chain-sub-3">
            <a:extLst xmlns:a="http://schemas.openxmlformats.org/drawingml/2006/main">
              <a:ext uri="{FF2B5EF4-FFF2-40B4-BE49-F238E27FC236}">
                <a16:creationId xmlns:a16="http://schemas.microsoft.com/office/drawing/2014/main" id="{E35172CD-951E-41BA-B707-1778CD72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594" y="27813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人工判断</a:t>
            </a:r>
          </a:p>
        </p:txBody>
      </p:sp>
      <p:sp>
        <p:nvSpPr>
          <p:cNvPr id="26" name="chain-line-4">
            <a:extLst xmlns:a="http://schemas.openxmlformats.org/drawingml/2006/main">
              <a:ext uri="{FF2B5EF4-FFF2-40B4-BE49-F238E27FC236}">
                <a16:creationId xmlns:a16="http://schemas.microsoft.com/office/drawing/2014/main" id="{9EC58F0B-8547-4B71-9490-E6625AF9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28900"/>
            <a:ext cx="1666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6510"/>
          </a:solidFill>
          <a:ln xmlns:a="http://schemas.openxmlformats.org/drawingml/2006/main" w="0">
            <a:noFill/>
          </a:ln>
        </p:spPr>
      </p:sp>
      <p:sp>
        <p:nvSpPr>
          <p:cNvPr id="27" name="chain-4">
            <a:extLst xmlns:a="http://schemas.openxmlformats.org/drawingml/2006/main">
              <a:ext uri="{FF2B5EF4-FFF2-40B4-BE49-F238E27FC236}">
                <a16:creationId xmlns:a16="http://schemas.microsoft.com/office/drawing/2014/main" id="{93B4C766-2240-4D9D-BB7F-020E6EE0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Keep / Discard</a:t>
            </a:r>
          </a:p>
        </p:txBody>
      </p:sp>
      <p:sp>
        <p:nvSpPr>
          <p:cNvPr id="28" name="chain-sub-4">
            <a:extLst xmlns:a="http://schemas.openxmlformats.org/drawingml/2006/main">
              <a:ext uri="{FF2B5EF4-FFF2-40B4-BE49-F238E27FC236}">
                <a16:creationId xmlns:a16="http://schemas.microsoft.com/office/drawing/2014/main" id="{6D3AA4C7-1818-4487-9A6B-843C00EC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7813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回写或回退</a:t>
            </a:r>
          </a:p>
        </p:txBody>
      </p:sp>
      <p:sp>
        <p:nvSpPr>
          <p:cNvPr id="29" name="back">
            <a:extLst xmlns:a="http://schemas.openxmlformats.org/drawingml/2006/main">
              <a:ext uri="{FF2B5EF4-FFF2-40B4-BE49-F238E27FC236}">
                <a16:creationId xmlns:a16="http://schemas.microsoft.com/office/drawing/2014/main" id="{3E5BCB12-9AA4-415F-BE7F-E0BF8B8C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Discard 回到稳定配置；失败日志留在账本中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适用边界取决于重复性与判断风险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66ACE150-CFA0-4BD2-B7B4-ABFBB48D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e865782b2423a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55FEC14A-8AFF-407E-A9A7-6906ABED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适用边界取决于重复性与判断风险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91760A78-1B90-4BAC-B5CF-580920B0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来源：lesson-11/slides.md；课程工件与讲义见 speaker notes</a:t>
            </a:r>
          </a:p>
        </p:txBody>
      </p:sp>
      <p:sp>
        <p:nvSpPr>
          <p:cNvPr id="10" name="left-h">
            <a:extLst xmlns:a="http://schemas.openxmlformats.org/drawingml/2006/main">
              <a:ext uri="{FF2B5EF4-FFF2-40B4-BE49-F238E27FC236}">
                <a16:creationId xmlns:a16="http://schemas.microsoft.com/office/drawing/2014/main" id="{3D7360FE-9CA9-442A-9F8A-927758CA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适合受限循环</a:t>
            </a:r>
          </a:p>
        </p:txBody>
      </p:sp>
      <p:sp>
        <p:nvSpPr>
          <p:cNvPr id="11" name="right-h">
            <a:extLst xmlns:a="http://schemas.openxmlformats.org/drawingml/2006/main">
              <a:ext uri="{FF2B5EF4-FFF2-40B4-BE49-F238E27FC236}">
                <a16:creationId xmlns:a16="http://schemas.microsoft.com/office/drawing/2014/main" id="{6A53C637-0FE2-48D0-93C4-737C9120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7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保留人工主导</a:t>
            </a:r>
          </a:p>
        </p:txBody>
      </p:sp>
      <p:sp>
        <p:nvSpPr>
          <p:cNvPr id="12" name="split">
            <a:extLst xmlns:a="http://schemas.openxmlformats.org/drawingml/2006/main">
              <a:ext uri="{FF2B5EF4-FFF2-40B4-BE49-F238E27FC236}">
                <a16:creationId xmlns:a16="http://schemas.microsoft.com/office/drawing/2014/main" id="{B2D61171-0EA8-4F5E-A3CE-BB09FD12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list-64-217-0">
            <a:extLst xmlns:a="http://schemas.openxmlformats.org/drawingml/2006/main">
              <a:ext uri="{FF2B5EF4-FFF2-40B4-BE49-F238E27FC236}">
                <a16:creationId xmlns:a16="http://schemas.microsoft.com/office/drawing/2014/main" id="{CF32C691-93B5-4138-B4A7-14666C54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输入输出明确</a:t>
            </a:r>
          </a:p>
        </p:txBody>
      </p:sp>
      <p:sp>
        <p:nvSpPr>
          <p:cNvPr id="14" name="list-64-217-1">
            <a:extLst xmlns:a="http://schemas.openxmlformats.org/drawingml/2006/main">
              <a:ext uri="{FF2B5EF4-FFF2-40B4-BE49-F238E27FC236}">
                <a16:creationId xmlns:a16="http://schemas.microsoft.com/office/drawing/2014/main" id="{30F4208E-DFC8-4D2B-A492-532F7564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评价标准可预先固定</a:t>
            </a:r>
          </a:p>
        </p:txBody>
      </p:sp>
      <p:sp>
        <p:nvSpPr>
          <p:cNvPr id="15" name="list-64-217-2">
            <a:extLst xmlns:a="http://schemas.openxmlformats.org/drawingml/2006/main">
              <a:ext uri="{FF2B5EF4-FFF2-40B4-BE49-F238E27FC236}">
                <a16:creationId xmlns:a16="http://schemas.microsoft.com/office/drawing/2014/main" id="{93214113-C134-49C8-BF84-3431E5E9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失败可检测并回退</a:t>
            </a:r>
          </a:p>
        </p:txBody>
      </p:sp>
      <p:sp>
        <p:nvSpPr>
          <p:cNvPr id="16" name="list-64-217-3">
            <a:extLst xmlns:a="http://schemas.openxmlformats.org/drawingml/2006/main">
              <a:ext uri="{FF2B5EF4-FFF2-40B4-BE49-F238E27FC236}">
                <a16:creationId xmlns:a16="http://schemas.microsoft.com/office/drawing/2014/main" id="{789D5C3E-06F7-488E-AFC5-9CFF4965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重复执行有价值</a:t>
            </a:r>
          </a:p>
        </p:txBody>
      </p:sp>
      <p:sp>
        <p:nvSpPr>
          <p:cNvPr id="17" name="list-696-217-0">
            <a:extLst xmlns:a="http://schemas.openxmlformats.org/drawingml/2006/main">
              <a:ext uri="{FF2B5EF4-FFF2-40B4-BE49-F238E27FC236}">
                <a16:creationId xmlns:a16="http://schemas.microsoft.com/office/drawing/2014/main" id="{AB295E3B-A8A4-4006-B596-D94AF61C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66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研究问题仍在形成</a:t>
            </a:r>
          </a:p>
        </p:txBody>
      </p:sp>
      <p:sp>
        <p:nvSpPr>
          <p:cNvPr id="18" name="list-696-217-1">
            <a:extLst xmlns:a="http://schemas.openxmlformats.org/drawingml/2006/main">
              <a:ext uri="{FF2B5EF4-FFF2-40B4-BE49-F238E27FC236}">
                <a16:creationId xmlns:a16="http://schemas.microsoft.com/office/drawing/2014/main" id="{6775B39B-5858-4015-8084-01E9398E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24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评价协议需要不断改写</a:t>
            </a:r>
          </a:p>
        </p:txBody>
      </p:sp>
      <p:sp>
        <p:nvSpPr>
          <p:cNvPr id="19" name="list-696-217-2">
            <a:extLst xmlns:a="http://schemas.openxmlformats.org/drawingml/2006/main">
              <a:ext uri="{FF2B5EF4-FFF2-40B4-BE49-F238E27FC236}">
                <a16:creationId xmlns:a16="http://schemas.microsoft.com/office/drawing/2014/main" id="{F711A956-8A6B-4DDF-ADDD-3C888E1A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813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涉及高风险外部动作</a:t>
            </a:r>
          </a:p>
        </p:txBody>
      </p:sp>
      <p:sp>
        <p:nvSpPr>
          <p:cNvPr id="20" name="list-696-217-3">
            <a:extLst xmlns:a="http://schemas.openxmlformats.org/drawingml/2006/main">
              <a:ext uri="{FF2B5EF4-FFF2-40B4-BE49-F238E27FC236}">
                <a16:creationId xmlns:a16="http://schemas.microsoft.com/office/drawing/2014/main" id="{652CCB98-3C6F-4620-A03C-A16F61BE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无法保留失败与审计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指标定义在循环启动前冻结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1382AAB8-72DC-417F-A4C1-7747B5BC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d8378f95f4eb1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0D6A27B3-4275-4447-AECE-570F9053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指标定义在循环启动前冻结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C5C2157C-3152-49AE-A53A-82B2DB94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来源：lesson-11/slides.md；课程工件与讲义见 speaker notes</a:t>
            </a:r>
          </a:p>
        </p:txBody>
      </p:sp>
      <p:sp>
        <p:nvSpPr>
          <p:cNvPr id="10" name="doc-8-bg">
            <a:extLst xmlns:a="http://schemas.openxmlformats.org/drawingml/2006/main">
              <a:ext uri="{FF2B5EF4-FFF2-40B4-BE49-F238E27FC236}">
                <a16:creationId xmlns:a16="http://schemas.microsoft.com/office/drawing/2014/main" id="{E4D9C28D-2A4E-4002-8E11-E15BB430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8-title-bg">
            <a:extLst xmlns:a="http://schemas.openxmlformats.org/drawingml/2006/main">
              <a:ext uri="{FF2B5EF4-FFF2-40B4-BE49-F238E27FC236}">
                <a16:creationId xmlns:a16="http://schemas.microsoft.com/office/drawing/2014/main" id="{C82BF2A8-5991-47AD-A918-F8B487A8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8-title">
            <a:extLst xmlns:a="http://schemas.openxmlformats.org/drawingml/2006/main">
              <a:ext uri="{FF2B5EF4-FFF2-40B4-BE49-F238E27FC236}">
                <a16:creationId xmlns:a16="http://schemas.microsoft.com/office/drawing/2014/main" id="{014499E1-728E-434D-8278-3A7A1295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metric.yaml｜v1.2</a:t>
            </a:r>
          </a:p>
        </p:txBody>
      </p:sp>
      <p:sp>
        <p:nvSpPr>
          <p:cNvPr id="13" name="doc-8-line-0">
            <a:extLst xmlns:a="http://schemas.openxmlformats.org/drawingml/2006/main">
              <a:ext uri="{FF2B5EF4-FFF2-40B4-BE49-F238E27FC236}">
                <a16:creationId xmlns:a16="http://schemas.microsoft.com/office/drawing/2014/main" id="{7F46D4C6-D14C-4056-86BF-50C49620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name: qualifying_condition_omission_rate</a:t>
            </a:r>
          </a:p>
        </p:txBody>
      </p:sp>
      <p:sp>
        <p:nvSpPr>
          <p:cNvPr id="14" name="doc-8-line-1">
            <a:extLst xmlns:a="http://schemas.openxmlformats.org/drawingml/2006/main">
              <a:ext uri="{FF2B5EF4-FFF2-40B4-BE49-F238E27FC236}">
                <a16:creationId xmlns:a16="http://schemas.microsoft.com/office/drawing/2014/main" id="{71C34D35-667B-4D15-83E5-4D7077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841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numerator: omitted_gold_conditions</a:t>
            </a:r>
          </a:p>
        </p:txBody>
      </p:sp>
      <p:sp>
        <p:nvSpPr>
          <p:cNvPr id="15" name="doc-8-line-2">
            <a:extLst xmlns:a="http://schemas.openxmlformats.org/drawingml/2006/main">
              <a:ext uri="{FF2B5EF4-FFF2-40B4-BE49-F238E27FC236}">
                <a16:creationId xmlns:a16="http://schemas.microsoft.com/office/drawing/2014/main" id="{55DA18A4-488C-48E3-90AA-4D231E64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040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denominator: gold_conditions</a:t>
            </a:r>
          </a:p>
        </p:txBody>
      </p:sp>
      <p:sp>
        <p:nvSpPr>
          <p:cNvPr id="16" name="doc-8-line-3">
            <a:extLst xmlns:a="http://schemas.openxmlformats.org/drawingml/2006/main">
              <a:ext uri="{FF2B5EF4-FFF2-40B4-BE49-F238E27FC236}">
                <a16:creationId xmlns:a16="http://schemas.microsoft.com/office/drawing/2014/main" id="{FC39F621-70AD-4EDD-B864-DA174E9D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239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missing_output: count_as_omission</a:t>
            </a:r>
          </a:p>
        </p:txBody>
      </p:sp>
      <p:sp>
        <p:nvSpPr>
          <p:cNvPr id="17" name="doc-8-line-4">
            <a:extLst xmlns:a="http://schemas.openxmlformats.org/drawingml/2006/main">
              <a:ext uri="{FF2B5EF4-FFF2-40B4-BE49-F238E27FC236}">
                <a16:creationId xmlns:a16="http://schemas.microsoft.com/office/drawing/2014/main" id="{C9D96DE9-04F9-47AA-8996-94A1DAE6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438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rubric: human_gold_v1.2</a:t>
            </a:r>
          </a:p>
        </p:txBody>
      </p:sp>
      <p:sp>
        <p:nvSpPr>
          <p:cNvPr id="18" name="locked">
            <a:extLst xmlns:a="http://schemas.openxmlformats.org/drawingml/2006/main">
              <a:ext uri="{FF2B5EF4-FFF2-40B4-BE49-F238E27FC236}">
                <a16:creationId xmlns:a16="http://schemas.microsoft.com/office/drawing/2014/main" id="{2BE0BC53-69D6-440E-9E20-9FF1661D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运行期间不可写</a:t>
            </a:r>
          </a:p>
        </p:txBody>
      </p:sp>
      <p:sp>
        <p:nvSpPr>
          <p:cNvPr id="19" name="list-850-300-0">
            <a:extLst xmlns:a="http://schemas.openxmlformats.org/drawingml/2006/main">
              <a:ext uri="{FF2B5EF4-FFF2-40B4-BE49-F238E27FC236}">
                <a16:creationId xmlns:a16="http://schemas.microsoft.com/office/drawing/2014/main" id="{C7E4D41D-E7D9-45D8-98DE-DC8912B3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× 不能换更容易的指标</a:t>
            </a:r>
          </a:p>
        </p:txBody>
      </p:sp>
      <p:sp>
        <p:nvSpPr>
          <p:cNvPr id="20" name="list-850-300-1">
            <a:extLst xmlns:a="http://schemas.openxmlformats.org/drawingml/2006/main">
              <a:ext uri="{FF2B5EF4-FFF2-40B4-BE49-F238E27FC236}">
                <a16:creationId xmlns:a16="http://schemas.microsoft.com/office/drawing/2014/main" id="{D543FF52-BE59-43C8-8159-92ECA5DC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× 不能删除失败样本</a:t>
            </a:r>
          </a:p>
        </p:txBody>
      </p:sp>
      <p:sp>
        <p:nvSpPr>
          <p:cNvPr id="21" name="list-850-300-2">
            <a:extLst xmlns:a="http://schemas.openxmlformats.org/drawingml/2006/main">
              <a:ext uri="{FF2B5EF4-FFF2-40B4-BE49-F238E27FC236}">
                <a16:creationId xmlns:a16="http://schemas.microsoft.com/office/drawing/2014/main" id="{B649C224-1380-4850-9E13-ABD517DF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71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× 不能改变人工基准</a:t>
            </a:r>
          </a:p>
        </p:txBody>
      </p:sp>
      <p:sp>
        <p:nvSpPr>
          <p:cNvPr id="23" name="fiction">
            <a:extLst xmlns:a="http://schemas.openxmlformats.org/drawingml/2006/main">
              <a:ext uri="{FF2B5EF4-FFF2-40B4-BE49-F238E27FC236}">
                <a16:creationId xmlns:a16="http://schemas.microsoft.com/office/drawing/2014/main" id="{B82D1743-C9E2-448A-91D4-6135A602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课程虚构教学工件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预算与停止条件写进运行序列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7D40FB45-4A27-4052-BE7D-2DF0D8F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e3fbd667046fb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69E283D8-7E9D-4581-A393-409DFEA5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预算与停止条件写进运行序列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F5B8BBE2-108F-4A02-948C-E04C28F5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来源：lesson-11/slides.md；课程工件与讲义见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801F8F48-6111-4338-BD3C-D03FB693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666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E067003D-59F0-438D-8052-258E80D4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启动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11FA3E43-9439-4954-ADEB-5782B18B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71700"/>
            <a:ext cx="58340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A489D1D1-8019-446A-8413-C059EBDA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冻结承诺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85E25FBF-FEAE-4CA8-AFDA-091294DF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031" y="2724150"/>
            <a:ext cx="1666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F5E77D4E-AB41-475E-83C1-A53B74CF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031" y="20002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预算 1/3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0044E86F-7586-4F3D-B5E0-88D05F21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906" y="2171700"/>
            <a:ext cx="58340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3E7E5DBC-882E-4257-8D76-85B75644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031" y="287655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调用 / token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30D9CFD9-FAAC-49EC-AFCA-284908E4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2724150"/>
            <a:ext cx="1666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D83B89AB-3CBA-4F21-BCD9-098A3CDD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20002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预算 2/3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1F11E412-1ACF-4481-A47B-010C5753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88" y="2171700"/>
            <a:ext cx="58340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951A7187-69B6-4A9D-8C3A-A4167343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287655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时间 / 运行数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17F01009-ECC0-4280-BC76-6EC998EF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594" y="2724150"/>
            <a:ext cx="1666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DB6C1A3F-985E-4E20-BCE3-7E908048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594" y="20002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正常停止</a:t>
            </a:r>
          </a:p>
        </p:txBody>
      </p:sp>
      <p:sp>
        <p:nvSpPr>
          <p:cNvPr id="24" name="chain-arrow-3">
            <a:extLst xmlns:a="http://schemas.openxmlformats.org/drawingml/2006/main">
              <a:ext uri="{FF2B5EF4-FFF2-40B4-BE49-F238E27FC236}">
                <a16:creationId xmlns:a16="http://schemas.microsoft.com/office/drawing/2014/main" id="{ADFD486B-88F8-496F-A283-88FFC122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469" y="2171700"/>
            <a:ext cx="58340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chain-sub-3">
            <a:extLst xmlns:a="http://schemas.openxmlformats.org/drawingml/2006/main">
              <a:ext uri="{FF2B5EF4-FFF2-40B4-BE49-F238E27FC236}">
                <a16:creationId xmlns:a16="http://schemas.microsoft.com/office/drawing/2014/main" id="{6B1E7965-69F5-4A40-B87A-C9209DCC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594" y="287655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预算耗尽或队列完成</a:t>
            </a:r>
          </a:p>
        </p:txBody>
      </p:sp>
      <p:sp>
        <p:nvSpPr>
          <p:cNvPr id="26" name="chain-line-4">
            <a:extLst xmlns:a="http://schemas.openxmlformats.org/drawingml/2006/main">
              <a:ext uri="{FF2B5EF4-FFF2-40B4-BE49-F238E27FC236}">
                <a16:creationId xmlns:a16="http://schemas.microsoft.com/office/drawing/2014/main" id="{D63D7A60-BB95-49D3-BAD8-72D458DD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724150"/>
            <a:ext cx="1666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sp>
        <p:nvSpPr>
          <p:cNvPr id="27" name="chain-4">
            <a:extLst xmlns:a="http://schemas.openxmlformats.org/drawingml/2006/main">
              <a:ext uri="{FF2B5EF4-FFF2-40B4-BE49-F238E27FC236}">
                <a16:creationId xmlns:a16="http://schemas.microsoft.com/office/drawing/2014/main" id="{A49A75BF-7110-4C6A-B5BC-25267CA0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002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协议性停止</a:t>
            </a:r>
          </a:p>
        </p:txBody>
      </p:sp>
      <p:sp>
        <p:nvSpPr>
          <p:cNvPr id="28" name="chain-sub-4">
            <a:extLst xmlns:a="http://schemas.openxmlformats.org/drawingml/2006/main">
              <a:ext uri="{FF2B5EF4-FFF2-40B4-BE49-F238E27FC236}">
                <a16:creationId xmlns:a16="http://schemas.microsoft.com/office/drawing/2014/main" id="{A0E73DEE-FB8E-4B22-800D-14FA77C1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7655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指标漂移 / 越权 / 数据异常</a:t>
            </a:r>
          </a:p>
        </p:txBody>
      </p:sp>
      <p:sp>
        <p:nvSpPr>
          <p:cNvPr id="29" name="stop">
            <a:extLst xmlns:a="http://schemas.openxmlformats.org/drawingml/2006/main">
              <a:ext uri="{FF2B5EF4-FFF2-40B4-BE49-F238E27FC236}">
                <a16:creationId xmlns:a16="http://schemas.microsoft.com/office/drawing/2014/main" id="{1D5CAA12-56F8-4E63-9142-D3AA9931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禁止按结果好坏停止；越权、协议变更或删日志须立即停并记录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回退到稳定配置，同时保留失败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C13017D8-AEE3-47D6-B729-ACC36530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792b98cdc4b64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DC697EB1-AF48-4F32-B0A5-A14B0955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回退到稳定配置，同时保留失败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DAFDFE25-F481-47E6-B5A6-93CAED52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来源：lesson-11/slides.md；课程工件与讲义见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4792FEBA-2BFA-4CAC-8A59-F44318FF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1857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896FFFD9-61CE-4FF8-AEAD-EFFC2E39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stable-config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AC98EA64-A850-4673-8ED2-DC98667A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193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A611D1FF-626F-42C7-96A0-071CD8CE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857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冻结基线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856AD377-167B-4323-A503-1FA13B39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71775"/>
            <a:ext cx="1857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368E9D07-DB99-40F2-85BB-C56F7AF5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47875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candidate-run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0757C7EB-8E78-4A86-A7B5-CC96D685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193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7E032C41-4CB4-4837-A920-F7021171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24175"/>
            <a:ext cx="1857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保持同一指标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42433855-5D5A-4A3C-8347-8C57F595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1857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011F5654-3913-40BA-9322-A3FFD832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失败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6A018254-7920-46D1-B5FD-16859BB8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193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853511F2-A3F1-45BA-935E-BBCC9031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1857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保留 run ID / 日志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B916E003-C7CE-4E7D-8348-63B45ADA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71775"/>
            <a:ext cx="1857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1D7483A0-E1D4-45BD-8043-621F7244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47875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rollback pointer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7F2E5A58-35A5-4480-967F-A588B363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24175"/>
            <a:ext cx="1857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回到稳定版本</a:t>
            </a:r>
          </a:p>
        </p:txBody>
      </p:sp>
      <p:sp>
        <p:nvSpPr>
          <p:cNvPr id="25" name="no">
            <a:extLst xmlns:a="http://schemas.openxmlformats.org/drawingml/2006/main">
              <a:ext uri="{FF2B5EF4-FFF2-40B4-BE49-F238E27FC236}">
                <a16:creationId xmlns:a16="http://schemas.microsoft.com/office/drawing/2014/main" id="{901271DE-E48E-4DB6-8735-BB290AD8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回退不等于“重跑到成功”或删除失败。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评价协议漂移会让循环失去可比性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EEC9C317-F8D5-49AE-8F6B-02BEABD5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6c19fa5d449b3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51F5117D-BBD5-48DC-9FF1-4C2FBBDB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评价协议漂移会让循环失去可比性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14AF0639-9C29-44E7-9F0A-CBB7843D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来源：lesson-11/slides.md；课程工件与讲义见 speaker notes</a:t>
            </a:r>
          </a:p>
        </p:txBody>
      </p:sp>
      <p:sp>
        <p:nvSpPr>
          <p:cNvPr id="10" name="doc-9-bg">
            <a:extLst xmlns:a="http://schemas.openxmlformats.org/drawingml/2006/main">
              <a:ext uri="{FF2B5EF4-FFF2-40B4-BE49-F238E27FC236}">
                <a16:creationId xmlns:a16="http://schemas.microsoft.com/office/drawing/2014/main" id="{8514A8FF-2973-4445-B5CE-DAF1A781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9-title-bg">
            <a:extLst xmlns:a="http://schemas.openxmlformats.org/drawingml/2006/main">
              <a:ext uri="{FF2B5EF4-FFF2-40B4-BE49-F238E27FC236}">
                <a16:creationId xmlns:a16="http://schemas.microsoft.com/office/drawing/2014/main" id="{0535ACF6-677E-4BC4-A76D-E988D663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9-title">
            <a:extLst xmlns:a="http://schemas.openxmlformats.org/drawingml/2006/main">
              <a:ext uri="{FF2B5EF4-FFF2-40B4-BE49-F238E27FC236}">
                <a16:creationId xmlns:a16="http://schemas.microsoft.com/office/drawing/2014/main" id="{D5662151-4671-46C0-9723-D654D624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run-017.log｜虚构记录</a:t>
            </a:r>
          </a:p>
        </p:txBody>
      </p:sp>
      <p:sp>
        <p:nvSpPr>
          <p:cNvPr id="13" name="doc-9-line-0">
            <a:extLst xmlns:a="http://schemas.openxmlformats.org/drawingml/2006/main">
              <a:ext uri="{FF2B5EF4-FFF2-40B4-BE49-F238E27FC236}">
                <a16:creationId xmlns:a16="http://schemas.microsoft.com/office/drawing/2014/main" id="{1E33F564-5013-44A4-A657-93FFBBF7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metric_version = human_gold_v1.2</a:t>
            </a:r>
          </a:p>
        </p:txBody>
      </p:sp>
      <p:sp>
        <p:nvSpPr>
          <p:cNvPr id="14" name="doc-9-line-1">
            <a:extLst xmlns:a="http://schemas.openxmlformats.org/drawingml/2006/main">
              <a:ext uri="{FF2B5EF4-FFF2-40B4-BE49-F238E27FC236}">
                <a16:creationId xmlns:a16="http://schemas.microsoft.com/office/drawing/2014/main" id="{1AADE86A-24E9-4F27-A825-A80636A5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841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score = 0.34</a:t>
            </a:r>
          </a:p>
        </p:txBody>
      </p:sp>
      <p:sp>
        <p:nvSpPr>
          <p:cNvPr id="15" name="doc-9-line-2">
            <a:extLst xmlns:a="http://schemas.openxmlformats.org/drawingml/2006/main">
              <a:ext uri="{FF2B5EF4-FFF2-40B4-BE49-F238E27FC236}">
                <a16:creationId xmlns:a16="http://schemas.microsoft.com/office/drawing/2014/main" id="{C907A7A8-D82F-4B96-A593-071A2093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040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! auto-switch rubric -&gt; easy-v2</a:t>
            </a:r>
          </a:p>
        </p:txBody>
      </p:sp>
      <p:sp>
        <p:nvSpPr>
          <p:cNvPr id="16" name="doc-9-line-3">
            <a:extLst xmlns:a="http://schemas.openxmlformats.org/drawingml/2006/main">
              <a:ext uri="{FF2B5EF4-FFF2-40B4-BE49-F238E27FC236}">
                <a16:creationId xmlns:a16="http://schemas.microsoft.com/office/drawing/2014/main" id="{AC840ECF-01C2-429D-ACDF-0EEE1430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239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score = 0.19</a:t>
            </a:r>
          </a:p>
        </p:txBody>
      </p:sp>
      <p:sp>
        <p:nvSpPr>
          <p:cNvPr id="17" name="doc-9-line-4">
            <a:extLst xmlns:a="http://schemas.openxmlformats.org/drawingml/2006/main">
              <a:ext uri="{FF2B5EF4-FFF2-40B4-BE49-F238E27FC236}">
                <a16:creationId xmlns:a16="http://schemas.microsoft.com/office/drawing/2014/main" id="{4F711E7A-8CC1-4943-82BB-50DDCF53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438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decision = DISCARD_PROTOCOL_CHANGE</a:t>
            </a:r>
          </a:p>
        </p:txBody>
      </p:sp>
      <p:sp>
        <p:nvSpPr>
          <p:cNvPr id="18" name="decision">
            <a:extLst xmlns:a="http://schemas.openxmlformats.org/drawingml/2006/main">
              <a:ext uri="{FF2B5EF4-FFF2-40B4-BE49-F238E27FC236}">
                <a16:creationId xmlns:a16="http://schemas.microsoft.com/office/drawing/2014/main" id="{B5C5028E-3214-4DD4-9F04-46902B1A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处置：Discard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回到冻结协议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保留本次失败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份固定输出：执行、恢复与评价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content-309">
            <a:extLst xmlns:a="http://schemas.openxmlformats.org/drawingml/2006/main">
              <a:ext uri="{FF2B5EF4-FFF2-40B4-BE49-F238E27FC236}">
                <a16:creationId xmlns:a16="http://schemas.microsoft.com/office/drawing/2014/main" id="{314A3311-7812-482D-B67C-9C46BC8D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3 份源文本 × 2 个条件 = 6 个任务</a:t>
            </a:r>
          </a:p>
        </p:txBody>
      </p:sp>
      <p:sp>
        <p:nvSpPr>
          <p:cNvPr id="7" name="content-310">
            <a:extLst xmlns:a="http://schemas.openxmlformats.org/drawingml/2006/main">
              <a:ext uri="{FF2B5EF4-FFF2-40B4-BE49-F238E27FC236}">
                <a16:creationId xmlns:a16="http://schemas.microsoft.com/office/drawing/2014/main" id="{81AB527C-512D-432E-959F-57664584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执行：逐项回放固定输出。</a:t>
            </a:r>
          </a:p>
        </p:txBody>
      </p:sp>
      <p:sp>
        <p:nvSpPr>
          <p:cNvPr id="8" name="content-311">
            <a:extLst xmlns:a="http://schemas.openxmlformats.org/drawingml/2006/main">
              <a:ext uri="{FF2B5EF4-FFF2-40B4-BE49-F238E27FC236}">
                <a16:creationId xmlns:a16="http://schemas.microsoft.com/office/drawing/2014/main" id="{4F5252B0-10E7-41A8-ABA3-2DD2D022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恢复：只重试未完成项，保留旧失败。</a:t>
            </a:r>
          </a:p>
        </p:txBody>
      </p:sp>
      <p:sp>
        <p:nvSpPr>
          <p:cNvPr id="9" name="content-312">
            <a:extLst xmlns:a="http://schemas.openxmlformats.org/drawingml/2006/main">
              <a:ext uri="{FF2B5EF4-FFF2-40B4-BE49-F238E27FC236}">
                <a16:creationId xmlns:a16="http://schemas.microsoft.com/office/drawing/2014/main" id="{B2221F60-C3E3-4CF0-8B15-A0C69838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评价：核验人工标注并汇总遗漏率。</a:t>
            </a:r>
          </a:p>
        </p:txBody>
      </p:sp>
      <p:sp>
        <p:nvSpPr>
          <p:cNvPr id="10" name="content-313">
            <a:extLst xmlns:a="http://schemas.openxmlformats.org/drawingml/2006/main">
              <a:ext uri="{FF2B5EF4-FFF2-40B4-BE49-F238E27FC236}">
                <a16:creationId xmlns:a16="http://schemas.microsoft.com/office/drawing/2014/main" id="{A305DD4D-EBB6-47AD-88F0-DA0C4E9F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固定队列展示执行控制，不自动构成优化循环。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失败与恢复保存在同一本账中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graphicFrame>
        <p:nvGraphicFramePr>
          <p:cNvPr id="10" name="native-table-314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8191500"/>
              </a:tblGrid>
              <a:tr h="5429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实际记录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回答的问题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job_id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哪个固定任务，如 T02-card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run_id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哪次执行，如 run-003、run-004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event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controlled_failure 或 replayed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state.json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已完成任务与累计尝试次数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input-identity.json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输入与配置是否仍为同一版本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315">
            <a:extLst xmlns:a="http://schemas.openxmlformats.org/drawingml/2006/main">
              <a:ext uri="{FF2B5EF4-FFF2-40B4-BE49-F238E27FC236}">
                <a16:creationId xmlns:a16="http://schemas.microsoft.com/office/drawing/2014/main" id="{5EC71F2D-06F3-438D-B4EE-F28C7E90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728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同一任务恢复时产生新 run_id，旧失败保留。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AutoResearch 与 AI Scientist 的系统主链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6D57A154-8966-4612-8C56-D50A409F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83546515a42b6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1DDD75B8-7C4A-4EF1-A64C-018020B3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AutoResearch 与 AI Scientist 的系统主链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938CD449-5948-49CF-A2E8-12D165C0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来源：Karpathy, AutoResearch（commit 228791f）；Lu et al., 2026；详见 notes</a:t>
            </a:r>
          </a:p>
        </p:txBody>
      </p:sp>
      <p:sp>
        <p:nvSpPr>
          <p:cNvPr id="10" name="left-h">
            <a:extLst xmlns:a="http://schemas.openxmlformats.org/drawingml/2006/main">
              <a:ext uri="{FF2B5EF4-FFF2-40B4-BE49-F238E27FC236}">
                <a16:creationId xmlns:a16="http://schemas.microsoft.com/office/drawing/2014/main" id="{87E6889C-F0AF-4D84-90F4-0A7B80AB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AutoResearch｜最小循环</a:t>
            </a:r>
          </a:p>
        </p:txBody>
      </p:sp>
      <p:sp>
        <p:nvSpPr>
          <p:cNvPr id="11" name="right-h">
            <a:extLst xmlns:a="http://schemas.openxmlformats.org/drawingml/2006/main">
              <a:ext uri="{FF2B5EF4-FFF2-40B4-BE49-F238E27FC236}">
                <a16:creationId xmlns:a16="http://schemas.microsoft.com/office/drawing/2014/main" id="{CBBDF686-2005-4866-8D01-C7737F73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7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AI Scientist｜端到端链</a:t>
            </a:r>
          </a:p>
        </p:txBody>
      </p:sp>
      <p:sp>
        <p:nvSpPr>
          <p:cNvPr id="12" name="split">
            <a:extLst xmlns:a="http://schemas.openxmlformats.org/drawingml/2006/main">
              <a:ext uri="{FF2B5EF4-FFF2-40B4-BE49-F238E27FC236}">
                <a16:creationId xmlns:a16="http://schemas.microsoft.com/office/drawing/2014/main" id="{8969B760-230D-4B52-83E3-165615C2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list-64-217-0">
            <a:extLst xmlns:a="http://schemas.openxmlformats.org/drawingml/2006/main">
              <a:ext uri="{FF2B5EF4-FFF2-40B4-BE49-F238E27FC236}">
                <a16:creationId xmlns:a16="http://schemas.microsoft.com/office/drawing/2014/main" id="{EC0A0F27-85BE-4F14-A704-67317FAA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程序改动</a:t>
            </a:r>
          </a:p>
        </p:txBody>
      </p:sp>
      <p:sp>
        <p:nvSpPr>
          <p:cNvPr id="14" name="list-64-217-1">
            <a:extLst xmlns:a="http://schemas.openxmlformats.org/drawingml/2006/main">
              <a:ext uri="{FF2B5EF4-FFF2-40B4-BE49-F238E27FC236}">
                <a16:creationId xmlns:a16="http://schemas.microsoft.com/office/drawing/2014/main" id="{91580CD9-9450-4D37-8EB4-A18C6CBF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单指标评价</a:t>
            </a:r>
          </a:p>
        </p:txBody>
      </p:sp>
      <p:sp>
        <p:nvSpPr>
          <p:cNvPr id="15" name="list-64-217-2">
            <a:extLst xmlns:a="http://schemas.openxmlformats.org/drawingml/2006/main">
              <a:ext uri="{FF2B5EF4-FFF2-40B4-BE49-F238E27FC236}">
                <a16:creationId xmlns:a16="http://schemas.microsoft.com/office/drawing/2014/main" id="{E121436F-A705-43D3-9B84-10B542C6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Keep / Discard</a:t>
            </a:r>
          </a:p>
        </p:txBody>
      </p:sp>
      <p:sp>
        <p:nvSpPr>
          <p:cNvPr id="16" name="list-64-217-3">
            <a:extLst xmlns:a="http://schemas.openxmlformats.org/drawingml/2006/main">
              <a:ext uri="{FF2B5EF4-FFF2-40B4-BE49-F238E27FC236}">
                <a16:creationId xmlns:a16="http://schemas.microsoft.com/office/drawing/2014/main" id="{7A3B9E98-6E5D-4EBF-96B0-3DD63B1C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回到稳定版本</a:t>
            </a:r>
          </a:p>
        </p:txBody>
      </p:sp>
      <p:sp>
        <p:nvSpPr>
          <p:cNvPr id="17" name="list-696-217-0">
            <a:extLst xmlns:a="http://schemas.openxmlformats.org/drawingml/2006/main">
              <a:ext uri="{FF2B5EF4-FFF2-40B4-BE49-F238E27FC236}">
                <a16:creationId xmlns:a16="http://schemas.microsoft.com/office/drawing/2014/main" id="{A1225B85-D041-4DBB-B635-030A0C35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66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想法生成</a:t>
            </a:r>
          </a:p>
        </p:txBody>
      </p:sp>
      <p:sp>
        <p:nvSpPr>
          <p:cNvPr id="18" name="list-696-217-1">
            <a:extLst xmlns:a="http://schemas.openxmlformats.org/drawingml/2006/main">
              <a:ext uri="{FF2B5EF4-FFF2-40B4-BE49-F238E27FC236}">
                <a16:creationId xmlns:a16="http://schemas.microsoft.com/office/drawing/2014/main" id="{9D3B53CA-2D29-4DA9-AF73-86E85088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24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实现与实验</a:t>
            </a:r>
          </a:p>
        </p:txBody>
      </p:sp>
      <p:sp>
        <p:nvSpPr>
          <p:cNvPr id="19" name="list-696-217-2">
            <a:extLst xmlns:a="http://schemas.openxmlformats.org/drawingml/2006/main">
              <a:ext uri="{FF2B5EF4-FFF2-40B4-BE49-F238E27FC236}">
                <a16:creationId xmlns:a16="http://schemas.microsoft.com/office/drawing/2014/main" id="{E6AC28A2-CD36-47BA-B2EE-201EDF8C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813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结果分析</a:t>
            </a:r>
          </a:p>
        </p:txBody>
      </p:sp>
      <p:sp>
        <p:nvSpPr>
          <p:cNvPr id="20" name="list-696-217-3">
            <a:extLst xmlns:a="http://schemas.openxmlformats.org/drawingml/2006/main">
              <a:ext uri="{FF2B5EF4-FFF2-40B4-BE49-F238E27FC236}">
                <a16:creationId xmlns:a16="http://schemas.microsoft.com/office/drawing/2014/main" id="{62127B98-D9AC-40A5-ADE9-EC4411B6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论文与评审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固定协议下，选优分数仍会乐观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4595EE99-9D4D-45E3-8D79-ED764170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f6be76c0e4d7f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3B4662E0-37D5-446A-B3D3-AD372A84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固定协议下，选优分数仍会乐观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641EE6DB-4CB9-48AF-B551-C7139817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来源：RSI 合成环境实际 CPU 运行；配置与记录见 notes</a:t>
            </a:r>
          </a:p>
        </p:txBody>
      </p:sp>
      <p:sp>
        <p:nvSpPr>
          <p:cNvPr id="10" name="m-label-0">
            <a:extLst xmlns:a="http://schemas.openxmlformats.org/drawingml/2006/main">
              <a:ext uri="{FF2B5EF4-FFF2-40B4-BE49-F238E27FC236}">
                <a16:creationId xmlns:a16="http://schemas.microsoft.com/office/drawing/2014/main" id="{88936EAD-F26B-4BB4-91A6-3D41E239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476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候选真值</a:t>
            </a:r>
          </a:p>
        </p:txBody>
      </p:sp>
      <p:sp>
        <p:nvSpPr>
          <p:cNvPr id="11" name="m-value-0">
            <a:extLst xmlns:a="http://schemas.openxmlformats.org/drawingml/2006/main">
              <a:ext uri="{FF2B5EF4-FFF2-40B4-BE49-F238E27FC236}">
                <a16:creationId xmlns:a16="http://schemas.microsoft.com/office/drawing/2014/main" id="{2F8FF005-FF36-4A08-92F2-DC326462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381125"/>
            <a:ext cx="8324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全部 0.65（合成）</a:t>
            </a:r>
          </a:p>
        </p:txBody>
      </p:sp>
      <p:sp>
        <p:nvSpPr>
          <p:cNvPr id="12" name="m-rule-0">
            <a:extLst xmlns:a="http://schemas.openxmlformats.org/drawingml/2006/main">
              <a:ext uri="{FF2B5EF4-FFF2-40B4-BE49-F238E27FC236}">
                <a16:creationId xmlns:a16="http://schemas.microsoft.com/office/drawing/2014/main" id="{EBE47EA7-8C7B-4AB0-AF82-A6BE8CA9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m-label-1">
            <a:extLst xmlns:a="http://schemas.openxmlformats.org/drawingml/2006/main">
              <a:ext uri="{FF2B5EF4-FFF2-40B4-BE49-F238E27FC236}">
                <a16:creationId xmlns:a16="http://schemas.microsoft.com/office/drawing/2014/main" id="{CFF92111-CE24-4512-AD8C-4EEFE900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476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历史预算</a:t>
            </a:r>
          </a:p>
        </p:txBody>
      </p:sp>
      <p:sp>
        <p:nvSpPr>
          <p:cNvPr id="14" name="m-value-1">
            <a:extLst xmlns:a="http://schemas.openxmlformats.org/drawingml/2006/main">
              <a:ext uri="{FF2B5EF4-FFF2-40B4-BE49-F238E27FC236}">
                <a16:creationId xmlns:a16="http://schemas.microsoft.com/office/drawing/2014/main" id="{C401BD5E-41BF-4F68-946E-3C8BCB8E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8324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每候选 32 次</a:t>
            </a:r>
          </a:p>
        </p:txBody>
      </p:sp>
      <p:sp>
        <p:nvSpPr>
          <p:cNvPr id="15" name="m-rule-1">
            <a:extLst xmlns:a="http://schemas.openxmlformats.org/drawingml/2006/main">
              <a:ext uri="{FF2B5EF4-FFF2-40B4-BE49-F238E27FC236}">
                <a16:creationId xmlns:a16="http://schemas.microsoft.com/office/drawing/2014/main" id="{62A82DDA-1EF9-4F85-80D2-4D1D22A9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6" name="m-label-2">
            <a:extLst xmlns:a="http://schemas.openxmlformats.org/drawingml/2006/main">
              <a:ext uri="{FF2B5EF4-FFF2-40B4-BE49-F238E27FC236}">
                <a16:creationId xmlns:a16="http://schemas.microsoft.com/office/drawing/2014/main" id="{C620FF24-AB34-4A37-A02A-22E42E25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2476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候选数 K</a:t>
            </a:r>
          </a:p>
        </p:txBody>
      </p:sp>
      <p:sp>
        <p:nvSpPr>
          <p:cNvPr id="17" name="m-value-2">
            <a:extLst xmlns:a="http://schemas.openxmlformats.org/drawingml/2006/main">
              <a:ext uri="{FF2B5EF4-FFF2-40B4-BE49-F238E27FC236}">
                <a16:creationId xmlns:a16="http://schemas.microsoft.com/office/drawing/2014/main" id="{943D0B7A-D33D-4012-9879-1C5CC5F4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71775"/>
            <a:ext cx="8324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1 → 4 → 16 → 64</a:t>
            </a:r>
          </a:p>
        </p:txBody>
      </p:sp>
      <p:sp>
        <p:nvSpPr>
          <p:cNvPr id="18" name="m-rule-2">
            <a:extLst xmlns:a="http://schemas.openxmlformats.org/drawingml/2006/main">
              <a:ext uri="{FF2B5EF4-FFF2-40B4-BE49-F238E27FC236}">
                <a16:creationId xmlns:a16="http://schemas.microsoft.com/office/drawing/2014/main" id="{E6BDD34D-28E9-4FC5-B722-BB7C2718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9" name="m-label-3">
            <a:extLst xmlns:a="http://schemas.openxmlformats.org/drawingml/2006/main">
              <a:ext uri="{FF2B5EF4-FFF2-40B4-BE49-F238E27FC236}">
                <a16:creationId xmlns:a16="http://schemas.microsoft.com/office/drawing/2014/main" id="{F53715A9-EE8E-4231-B3EB-B7E11442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476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乐观偏差</a:t>
            </a:r>
          </a:p>
        </p:txBody>
      </p:sp>
      <p:sp>
        <p:nvSpPr>
          <p:cNvPr id="20" name="m-value-3">
            <a:extLst xmlns:a="http://schemas.openxmlformats.org/drawingml/2006/main">
              <a:ext uri="{FF2B5EF4-FFF2-40B4-BE49-F238E27FC236}">
                <a16:creationId xmlns:a16="http://schemas.microsoft.com/office/drawing/2014/main" id="{7DB66F20-7823-448F-A241-2189645A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67100"/>
            <a:ext cx="8324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0.0006 → 0.0828 → 0.1410 → 0.1882</a:t>
            </a:r>
          </a:p>
        </p:txBody>
      </p:sp>
      <p:sp>
        <p:nvSpPr>
          <p:cNvPr id="21" name="m-rule-3">
            <a:extLst xmlns:a="http://schemas.openxmlformats.org/drawingml/2006/main">
              <a:ext uri="{FF2B5EF4-FFF2-40B4-BE49-F238E27FC236}">
                <a16:creationId xmlns:a16="http://schemas.microsoft.com/office/drawing/2014/main" id="{8EA67106-C350-414E-9C0D-88563FED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2" name="m-label-4">
            <a:extLst xmlns:a="http://schemas.openxmlformats.org/drawingml/2006/main">
              <a:ext uri="{FF2B5EF4-FFF2-40B4-BE49-F238E27FC236}">
                <a16:creationId xmlns:a16="http://schemas.microsoft.com/office/drawing/2014/main" id="{0F5E1D51-4815-4643-BA77-A29879E7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2476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独立最终</a:t>
            </a:r>
          </a:p>
        </p:txBody>
      </p:sp>
      <p:sp>
        <p:nvSpPr>
          <p:cNvPr id="23" name="m-value-4">
            <a:extLst xmlns:a="http://schemas.openxmlformats.org/drawingml/2006/main">
              <a:ext uri="{FF2B5EF4-FFF2-40B4-BE49-F238E27FC236}">
                <a16:creationId xmlns:a16="http://schemas.microsoft.com/office/drawing/2014/main" id="{28551BA7-286E-4F9F-9633-F4DCECEE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62425"/>
            <a:ext cx="8324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K=64：0.6508 [0.6491, 0.6525]</a:t>
            </a:r>
          </a:p>
        </p:txBody>
      </p:sp>
      <p:sp>
        <p:nvSpPr>
          <p:cNvPr id="24" name="m-rule-4">
            <a:extLst xmlns:a="http://schemas.openxmlformats.org/drawingml/2006/main">
              <a:ext uri="{FF2B5EF4-FFF2-40B4-BE49-F238E27FC236}">
                <a16:creationId xmlns:a16="http://schemas.microsoft.com/office/drawing/2014/main" id="{D173D95F-A6ED-4CAD-9484-6A43BC83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5" name="m-label-5">
            <a:extLst xmlns:a="http://schemas.openxmlformats.org/drawingml/2006/main">
              <a:ext uri="{FF2B5EF4-FFF2-40B4-BE49-F238E27FC236}">
                <a16:creationId xmlns:a16="http://schemas.microsoft.com/office/drawing/2014/main" id="{7784AAA5-E1EA-44B5-875A-2838FB59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476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研究判断</a:t>
            </a:r>
          </a:p>
        </p:txBody>
      </p:sp>
      <p:sp>
        <p:nvSpPr>
          <p:cNvPr id="26" name="m-value-5">
            <a:extLst xmlns:a="http://schemas.openxmlformats.org/drawingml/2006/main">
              <a:ext uri="{FF2B5EF4-FFF2-40B4-BE49-F238E27FC236}">
                <a16:creationId xmlns:a16="http://schemas.microsoft.com/office/drawing/2014/main" id="{18E01007-8064-463F-9E39-B17FE052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57750"/>
            <a:ext cx="8324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分数乐观；真实选择损失为零</a:t>
            </a:r>
          </a:p>
        </p:txBody>
      </p:sp>
      <p:sp>
        <p:nvSpPr>
          <p:cNvPr id="27" name="m-rule-5">
            <a:extLst xmlns:a="http://schemas.openxmlformats.org/drawingml/2006/main">
              <a:ext uri="{FF2B5EF4-FFF2-40B4-BE49-F238E27FC236}">
                <a16:creationId xmlns:a16="http://schemas.microsoft.com/office/drawing/2014/main" id="{50EF693D-327F-4C5F-A685-33A7F7CF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系统边界决定哪些表述可以成立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A01C6C72-7586-4CE9-BF23-71DFD6B4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e1362c6c64238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4DCE4DCC-44A3-4B2F-B641-EA58E9CF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系统边界决定哪些表述可以成立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B3E8695D-C059-45E9-98CF-ECDA11C6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来源：Karpathy, AutoResearch；Lu et al., 2026；边界说明详见 notes</a:t>
            </a:r>
          </a:p>
        </p:txBody>
      </p:sp>
      <p:sp>
        <p:nvSpPr>
          <p:cNvPr id="10" name="left-h">
            <a:extLst xmlns:a="http://schemas.openxmlformats.org/drawingml/2006/main">
              <a:ext uri="{FF2B5EF4-FFF2-40B4-BE49-F238E27FC236}">
                <a16:creationId xmlns:a16="http://schemas.microsoft.com/office/drawing/2014/main" id="{AF14A406-79D1-435D-8F76-5871DBEE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证据不支持的外推</a:t>
            </a:r>
          </a:p>
        </p:txBody>
      </p:sp>
      <p:sp>
        <p:nvSpPr>
          <p:cNvPr id="11" name="right-h">
            <a:extLst xmlns:a="http://schemas.openxmlformats.org/drawingml/2006/main">
              <a:ext uri="{FF2B5EF4-FFF2-40B4-BE49-F238E27FC236}">
                <a16:creationId xmlns:a16="http://schemas.microsoft.com/office/drawing/2014/main" id="{A231557C-6824-4F7D-81F3-87FE98E7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7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当前可成立</a:t>
            </a:r>
          </a:p>
        </p:txBody>
      </p:sp>
      <p:sp>
        <p:nvSpPr>
          <p:cNvPr id="12" name="split">
            <a:extLst xmlns:a="http://schemas.openxmlformats.org/drawingml/2006/main">
              <a:ext uri="{FF2B5EF4-FFF2-40B4-BE49-F238E27FC236}">
                <a16:creationId xmlns:a16="http://schemas.microsoft.com/office/drawing/2014/main" id="{26F6E5ED-8F8A-4D89-B893-DE75FDA4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list-64-217-0">
            <a:extLst xmlns:a="http://schemas.openxmlformats.org/drawingml/2006/main">
              <a:ext uri="{FF2B5EF4-FFF2-40B4-BE49-F238E27FC236}">
                <a16:creationId xmlns:a16="http://schemas.microsoft.com/office/drawing/2014/main" id="{F85F86F5-10BC-413D-BDD1-00D133FC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“自动完成完整科研”</a:t>
            </a:r>
          </a:p>
        </p:txBody>
      </p:sp>
      <p:sp>
        <p:nvSpPr>
          <p:cNvPr id="14" name="list-64-217-1">
            <a:extLst xmlns:a="http://schemas.openxmlformats.org/drawingml/2006/main">
              <a:ext uri="{FF2B5EF4-FFF2-40B4-BE49-F238E27FC236}">
                <a16:creationId xmlns:a16="http://schemas.microsoft.com/office/drawing/2014/main" id="{00688A3B-C2AC-4E3C-B4B4-7B4EEE82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“自动评审替代同行”</a:t>
            </a:r>
          </a:p>
        </p:txBody>
      </p:sp>
      <p:sp>
        <p:nvSpPr>
          <p:cNvPr id="15" name="list-64-217-2">
            <a:extLst xmlns:a="http://schemas.openxmlformats.org/drawingml/2006/main">
              <a:ext uri="{FF2B5EF4-FFF2-40B4-BE49-F238E27FC236}">
                <a16:creationId xmlns:a16="http://schemas.microsoft.com/office/drawing/2014/main" id="{8B07ECA5-C861-435F-A0CD-DF356E02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“端到端适用于所有学科”</a:t>
            </a:r>
          </a:p>
        </p:txBody>
      </p:sp>
      <p:sp>
        <p:nvSpPr>
          <p:cNvPr id="16" name="list-64-217-3">
            <a:extLst xmlns:a="http://schemas.openxmlformats.org/drawingml/2006/main">
              <a:ext uri="{FF2B5EF4-FFF2-40B4-BE49-F238E27FC236}">
                <a16:creationId xmlns:a16="http://schemas.microsoft.com/office/drawing/2014/main" id="{AB8CD8E2-DAF4-4A1A-90CE-440AED6F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“失败可以自动删除”</a:t>
            </a:r>
          </a:p>
        </p:txBody>
      </p:sp>
      <p:sp>
        <p:nvSpPr>
          <p:cNvPr id="17" name="list-696-217-0">
            <a:extLst xmlns:a="http://schemas.openxmlformats.org/drawingml/2006/main">
              <a:ext uri="{FF2B5EF4-FFF2-40B4-BE49-F238E27FC236}">
                <a16:creationId xmlns:a16="http://schemas.microsoft.com/office/drawing/2014/main" id="{E583EF92-8CF8-40B1-A3E0-FAA395C1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66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可分析系统组件与边界</a:t>
            </a:r>
          </a:p>
        </p:txBody>
      </p:sp>
      <p:sp>
        <p:nvSpPr>
          <p:cNvPr id="18" name="list-696-217-1">
            <a:extLst xmlns:a="http://schemas.openxmlformats.org/drawingml/2006/main">
              <a:ext uri="{FF2B5EF4-FFF2-40B4-BE49-F238E27FC236}">
                <a16:creationId xmlns:a16="http://schemas.microsoft.com/office/drawing/2014/main" id="{04A10399-F064-4AF0-96BB-4DF7A1C1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24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可复用受限循环骨架</a:t>
            </a:r>
          </a:p>
        </p:txBody>
      </p:sp>
      <p:sp>
        <p:nvSpPr>
          <p:cNvPr id="19" name="list-696-217-2">
            <a:extLst xmlns:a="http://schemas.openxmlformats.org/drawingml/2006/main">
              <a:ext uri="{FF2B5EF4-FFF2-40B4-BE49-F238E27FC236}">
                <a16:creationId xmlns:a16="http://schemas.microsoft.com/office/drawing/2014/main" id="{E9D2AECA-8B1E-4830-A02F-E5229621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813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需人工核验方法与结论</a:t>
            </a:r>
          </a:p>
        </p:txBody>
      </p:sp>
      <p:sp>
        <p:nvSpPr>
          <p:cNvPr id="20" name="list-696-217-3">
            <a:extLst xmlns:a="http://schemas.openxmlformats.org/drawingml/2006/main">
              <a:ext uri="{FF2B5EF4-FFF2-40B4-BE49-F238E27FC236}">
                <a16:creationId xmlns:a16="http://schemas.microsoft.com/office/drawing/2014/main" id="{8A1978EB-7175-4D58-9CE4-8FE98D42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失败进入可审计记录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同一工作流映射到两个分析对象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6C6EB05F-B43C-44CC-9A4C-496F1E28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3f52624cf4c89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7988AF0A-A620-454E-9E34-414F5091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同一工作流映射到两个分析对象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D30D529D-8385-4B4D-B3C1-33CCE83F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来源：Karpathy, AutoResearch；Lu et al., 2026；对照维度详见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F856987C-5D90-41B4-B4ED-6ACD1C15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927499A8-D76D-42BB-A971-59425F5A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任务契约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86D9962A-CD4E-41D1-B847-7DC9634A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44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5A215F7D-B088-4923-9E4C-73717C32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先写清边界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340F8BD9-CB9B-422D-9072-9FC5303E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281940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80EA1319-62FD-4A95-AABF-80852E72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20955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执行循环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7231FB48-9A32-4C7A-A835-BD1F8C20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750" y="2266950"/>
            <a:ext cx="44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B81D3436-6D1F-4C99-BECA-4E37C3F1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29718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冻结队列 / 优化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D4CBF69F-D5B3-411F-9CC4-5DDD9330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250" y="281940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8E369CDC-D6AE-46BC-AA76-195B2FA4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250" y="20955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独立 Evals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005DD256-204E-47F3-9F0E-CBBB59E4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266950"/>
            <a:ext cx="44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D18131AB-528F-4676-B276-162C1F33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250" y="29718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生成器不可自评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BABB10B5-292C-4CBB-B447-FDAB4F3B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1940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318FD2CF-B2FC-49F3-822A-66D27614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人工判断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70120714-B4F0-4D8D-8DFF-6E48A3FD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核验方法与结论</a:t>
            </a:r>
          </a:p>
        </p:txBody>
      </p:sp>
      <p:sp>
        <p:nvSpPr>
          <p:cNvPr id="25" name="systems">
            <a:extLst xmlns:a="http://schemas.openxmlformats.org/drawingml/2006/main">
              <a:ext uri="{FF2B5EF4-FFF2-40B4-BE49-F238E27FC236}">
                <a16:creationId xmlns:a16="http://schemas.microsoft.com/office/drawing/2014/main" id="{FA40BE83-59FF-4173-B5D0-625B2E32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共同约束：指标、预算、停止、失败保留；选优另需独立最终评价。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9902218B-D177-4706-BC8E-8466A776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本人项目：决定、核验与回写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DD0CAE47-5773-48C5-9DCD-A9676E0A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在同一微型项目执行 changed.py，使用 execute --fault-once；检查失败后状态，人工批准后恢复，比对 run_id 与完成任务，解释预算耗尽、完成或停止决定。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C38A276A-1150-4436-B132-41F248F6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验证中断保留、重启不重复成功任务、输入或实现改变须新建目录。保留无改善和负结果；原阅读卡 replay 仅作相邻示范，权限接口不等于系统隔离。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52882B5D-0711-48F5-BC2B-D836AAAD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保存：本人队列运行目录、恢复证据与停止决定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3C96206C-77FC-4829-B088-B97888C5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77BD77BA-649F-47B7-8DEC-956C565C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恢复以后，先检查四件事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6" name="content-316">
            <a:extLst xmlns:a="http://schemas.openxmlformats.org/drawingml/2006/main">
              <a:ext uri="{FF2B5EF4-FFF2-40B4-BE49-F238E27FC236}">
                <a16:creationId xmlns:a16="http://schemas.microsoft.com/office/drawing/2014/main" id="{6B6C8C28-3EF9-47E9-BC44-9646318B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失败事件还在吗？</a:t>
            </a:r>
          </a:p>
        </p:txBody>
      </p:sp>
      <p:sp>
        <p:nvSpPr>
          <p:cNvPr id="7" name="content-317">
            <a:extLst xmlns:a="http://schemas.openxmlformats.org/drawingml/2006/main">
              <a:ext uri="{FF2B5EF4-FFF2-40B4-BE49-F238E27FC236}">
                <a16:creationId xmlns:a16="http://schemas.microsoft.com/office/drawing/2014/main" id="{24EC9AF8-D6F0-4811-A999-57DD6E91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输入和配置改变了吗？</a:t>
            </a:r>
          </a:p>
        </p:txBody>
      </p:sp>
      <p:sp>
        <p:nvSpPr>
          <p:cNvPr id="8" name="content-318">
            <a:extLst xmlns:a="http://schemas.openxmlformats.org/drawingml/2006/main">
              <a:ext uri="{FF2B5EF4-FFF2-40B4-BE49-F238E27FC236}">
                <a16:creationId xmlns:a16="http://schemas.microsoft.com/office/drawing/2014/main" id="{53D59AD8-172D-4C8B-A8EC-A9F31D85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成功任务被重复执行了吗？</a:t>
            </a:r>
          </a:p>
        </p:txBody>
      </p:sp>
      <p:sp>
        <p:nvSpPr>
          <p:cNvPr id="9" name="content-319">
            <a:extLst xmlns:a="http://schemas.openxmlformats.org/drawingml/2006/main">
              <a:ext uri="{FF2B5EF4-FFF2-40B4-BE49-F238E27FC236}">
                <a16:creationId xmlns:a16="http://schemas.microsoft.com/office/drawing/2014/main" id="{C66C2D57-9AF1-4B92-8AB2-263ACC6C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预算与停止条件仍然生效吗？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同伴只问四个循环边界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C2242678-EFCD-42B5-BB46-151C8B83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26196148c451b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D9D41C8F-0AB6-4E70-BBAC-4F046A8B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同伴只问四个循环边界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5ED5AF1C-A147-47CF-9690-17E60911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来源：lesson-11/slides.md；课程工件与讲义见 speaker notes</a:t>
            </a:r>
          </a:p>
        </p:txBody>
      </p:sp>
      <p:sp>
        <p:nvSpPr>
          <p:cNvPr id="10" name="doc-11-bg">
            <a:extLst xmlns:a="http://schemas.openxmlformats.org/drawingml/2006/main">
              <a:ext uri="{FF2B5EF4-FFF2-40B4-BE49-F238E27FC236}">
                <a16:creationId xmlns:a16="http://schemas.microsoft.com/office/drawing/2014/main" id="{CE7CB709-D4C8-491E-8249-5E79A0B7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53340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11-title-bg">
            <a:extLst xmlns:a="http://schemas.openxmlformats.org/drawingml/2006/main">
              <a:ext uri="{FF2B5EF4-FFF2-40B4-BE49-F238E27FC236}">
                <a16:creationId xmlns:a16="http://schemas.microsoft.com/office/drawing/2014/main" id="{209E7F93-4850-4526-9D5F-D10F2931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11-title">
            <a:extLst xmlns:a="http://schemas.openxmlformats.org/drawingml/2006/main">
              <a:ext uri="{FF2B5EF4-FFF2-40B4-BE49-F238E27FC236}">
                <a16:creationId xmlns:a16="http://schemas.microsoft.com/office/drawing/2014/main" id="{B43E718C-F427-468D-A8CB-99A36902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9542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作者的受限循环说明</a:t>
            </a:r>
          </a:p>
        </p:txBody>
      </p:sp>
      <p:sp>
        <p:nvSpPr>
          <p:cNvPr id="13" name="doc-11-line-0">
            <a:extLst xmlns:a="http://schemas.openxmlformats.org/drawingml/2006/main">
              <a:ext uri="{FF2B5EF4-FFF2-40B4-BE49-F238E27FC236}">
                <a16:creationId xmlns:a16="http://schemas.microsoft.com/office/drawing/2014/main" id="{7B268B59-141A-4145-B234-F2321C28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71675"/>
            <a:ext cx="4876800" cy="73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固定指标与版本</a:t>
            </a:r>
          </a:p>
        </p:txBody>
      </p:sp>
      <p:sp>
        <p:nvSpPr>
          <p:cNvPr id="14" name="doc-11-line-1">
            <a:extLst xmlns:a="http://schemas.openxmlformats.org/drawingml/2006/main">
              <a:ext uri="{FF2B5EF4-FFF2-40B4-BE49-F238E27FC236}">
                <a16:creationId xmlns:a16="http://schemas.microsoft.com/office/drawing/2014/main" id="{E4754BE3-66FE-442F-A963-96327E75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17006"/>
            <a:ext cx="4876800" cy="73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预算 / 停止 / 回退</a:t>
            </a:r>
          </a:p>
        </p:txBody>
      </p:sp>
      <p:sp>
        <p:nvSpPr>
          <p:cNvPr id="15" name="doc-11-line-2">
            <a:extLst xmlns:a="http://schemas.openxmlformats.org/drawingml/2006/main">
              <a:ext uri="{FF2B5EF4-FFF2-40B4-BE49-F238E27FC236}">
                <a16:creationId xmlns:a16="http://schemas.microsoft.com/office/drawing/2014/main" id="{2C7D0A23-AE69-49B6-8183-C5960124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62338"/>
            <a:ext cx="4876800" cy="73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人工审核点</a:t>
            </a:r>
          </a:p>
        </p:txBody>
      </p:sp>
      <p:sp>
        <p:nvSpPr>
          <p:cNvPr id="16" name="doc-11-line-3">
            <a:extLst xmlns:a="http://schemas.openxmlformats.org/drawingml/2006/main">
              <a:ext uri="{FF2B5EF4-FFF2-40B4-BE49-F238E27FC236}">
                <a16:creationId xmlns:a16="http://schemas.microsoft.com/office/drawing/2014/main" id="{FF7D0D47-0B56-439D-BAD0-26B737F9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07669"/>
            <a:ext cx="4876800" cy="73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正常 / 无改善 / 失败 trace</a:t>
            </a:r>
          </a:p>
        </p:txBody>
      </p:sp>
      <p:sp>
        <p:nvSpPr>
          <p:cNvPr id="17" name="peer">
            <a:extLst xmlns:a="http://schemas.openxmlformats.org/drawingml/2006/main">
              <a:ext uri="{FF2B5EF4-FFF2-40B4-BE49-F238E27FC236}">
                <a16:creationId xmlns:a16="http://schemas.microsoft.com/office/drawing/2014/main" id="{F21B36BA-5629-4240-A4BC-24CF2D9C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同伴提问</a:t>
            </a:r>
          </a:p>
        </p:txBody>
      </p:sp>
      <p:sp>
        <p:nvSpPr>
          <p:cNvPr id="18" name="list-70-280-0">
            <a:extLst xmlns:a="http://schemas.openxmlformats.org/drawingml/2006/main">
              <a:ext uri="{FF2B5EF4-FFF2-40B4-BE49-F238E27FC236}">
                <a16:creationId xmlns:a16="http://schemas.microsoft.com/office/drawing/2014/main" id="{42D7D260-33F7-4F3C-8244-FEA00E60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? 指标会漂移吗</a:t>
            </a:r>
          </a:p>
        </p:txBody>
      </p:sp>
      <p:sp>
        <p:nvSpPr>
          <p:cNvPr id="19" name="list-70-280-1">
            <a:extLst xmlns:a="http://schemas.openxmlformats.org/drawingml/2006/main">
              <a:ext uri="{FF2B5EF4-FFF2-40B4-BE49-F238E27FC236}">
                <a16:creationId xmlns:a16="http://schemas.microsoft.com/office/drawing/2014/main" id="{A3881F0D-A901-4CEB-BFAA-615CBE96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? 何时必须停</a:t>
            </a:r>
          </a:p>
        </p:txBody>
      </p:sp>
      <p:sp>
        <p:nvSpPr>
          <p:cNvPr id="20" name="list-70-280-2">
            <a:extLst xmlns:a="http://schemas.openxmlformats.org/drawingml/2006/main">
              <a:ext uri="{FF2B5EF4-FFF2-40B4-BE49-F238E27FC236}">
                <a16:creationId xmlns:a16="http://schemas.microsoft.com/office/drawing/2014/main" id="{D1173CA3-C759-4806-B5DF-6EDB36EF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? 失败仍在账本吗</a:t>
            </a:r>
          </a:p>
        </p:txBody>
      </p:sp>
      <p:sp>
        <p:nvSpPr>
          <p:cNvPr id="21" name="list-70-280-3">
            <a:extLst xmlns:a="http://schemas.openxmlformats.org/drawingml/2006/main">
              <a:ext uri="{FF2B5EF4-FFF2-40B4-BE49-F238E27FC236}">
                <a16:creationId xmlns:a16="http://schemas.microsoft.com/office/drawing/2014/main" id="{A8546C62-C822-4CBE-B85F-41B3B4C8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? 队列被当成优化吗</a:t>
            </a:r>
          </a:p>
        </p:txBody>
      </p:sp>
      <p:sp>
        <p:nvSpPr>
          <p:cNvPr id="22" name="author">
            <a:extLst xmlns:a="http://schemas.openxmlformats.org/drawingml/2006/main">
              <a:ext uri="{FF2B5EF4-FFF2-40B4-BE49-F238E27FC236}">
                <a16:creationId xmlns:a16="http://schemas.microsoft.com/office/drawing/2014/main" id="{E314FC96-793F-4780-A96A-D26E7C2C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作者记录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决定与理由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9A6D49A9-6EFF-4D86-8529-DF76FE64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2a6e8c1524c42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B2AAD3E9-06B9-49AE-8965-12015A2E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8E8B1793-362E-4877-A4E2-92B41533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来源：lesson-11/slides.md；课程工件与讲义见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C438E1B3-1C26-495A-9172-EC64F3C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98D82923-1FEC-42B2-AEA3-ED7B5C4F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冻结指标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89CBFB15-63D9-4D88-90C9-B9350752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05075"/>
            <a:ext cx="92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DDA87765-81F5-4E11-A1F7-3DA4D2DD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本讲输入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E5B22C26-BF9E-4C77-94D3-399247F0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22ED1FE5-94AC-453C-B011-1BF74393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预算 / 停止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ABFA49DC-8A1A-4602-9242-90403D34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850" y="2505075"/>
            <a:ext cx="92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39EE31EE-CF95-4671-BAFB-B03F3D8D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本讲执行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B9587E0B-3739-4421-8617-C2AE5173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FF4FB9C1-AC8C-445E-A3D8-B9EF186C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失败保留 / 回退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5B643F0F-8DBA-45EC-A589-5B368F6B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25" y="2505075"/>
            <a:ext cx="92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6E04CD6C-100E-44AA-A2A3-3CCEAB06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本讲证据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6461B6C4-F3A0-4AA9-BD1E-EE326E8A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3F540AAC-DFB6-4B87-835B-671FEEF0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交给 L12 设计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3BB63BE2-1B24-48E9-B869-C2A5643F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EA985D8D-338A-4964-9611-8A368C4F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保留本课决定，准备下一课输入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47FA7F10-8578-45AB-A0B2-0E6B5848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L12 以已验证动作设计一个实质工作流环节。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A94A4AA8-706C-4D93-9528-C28A4227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回写已有项目：本人队列运行目录、恢复证据与停止决定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D2CC4186-0F33-436D-A8A9-EEBEBFB0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只读指定段落，补课堂留下的真实缺口。安装与排障计入课外总预算。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E58A1AAB-057E-40B3-AA9E-3936408F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27748C8C-B4FC-441F-B673-67A00D6D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2026-09-16T01:27:21.1070000Z</dcterms:created>
  <dcterms:modified xsi:type="dcterms:W3CDTF">2026-09-16T01:27:21.1070000Z</dcterms:modified>
</coreProperties>
</file>