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be69921dda401d" /><Relationship Type="http://schemas.openxmlformats.org/officeDocument/2006/relationships/extended-properties" Target="/docProps/app.xml" Id="R531b00f2e9cd4737" /><Relationship Type="http://schemas.openxmlformats.org/officeDocument/2006/relationships/officeDocument" Target="/ppt/presentation.xml" Id="R667333c2c71a46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09adf1053c48b9"/>
  </p:sldMasterIdLst>
  <p:notesMasterIdLst>
    <p:notesMasterId xmlns:r="http://schemas.openxmlformats.org/officeDocument/2006/relationships" r:id="Rd9b5959486bf4f71"/>
  </p:notesMasterIdLst>
  <p:sldIdLst>
    <p:sldId xmlns:r="http://schemas.openxmlformats.org/officeDocument/2006/relationships" id="256" r:id="R4d9116ee02d14076"/>
    <p:sldId xmlns:r="http://schemas.openxmlformats.org/officeDocument/2006/relationships" id="257" r:id="Rce063e5f289846c1"/>
    <p:sldId xmlns:r="http://schemas.openxmlformats.org/officeDocument/2006/relationships" id="258" r:id="R7ae7dea1f3db4494"/>
    <p:sldId xmlns:r="http://schemas.openxmlformats.org/officeDocument/2006/relationships" id="259" r:id="R96b1d11b0d4342df"/>
    <p:sldId xmlns:r="http://schemas.openxmlformats.org/officeDocument/2006/relationships" id="260" r:id="R7b1b98c603c44e9c"/>
    <p:sldId xmlns:r="http://schemas.openxmlformats.org/officeDocument/2006/relationships" id="261" r:id="R7d66edf1b2344a37"/>
    <p:sldId xmlns:r="http://schemas.openxmlformats.org/officeDocument/2006/relationships" id="262" r:id="Rdd91a8a77cca4a10"/>
    <p:sldId xmlns:r="http://schemas.openxmlformats.org/officeDocument/2006/relationships" id="263" r:id="R74a0fd7a477c4577"/>
    <p:sldId xmlns:r="http://schemas.openxmlformats.org/officeDocument/2006/relationships" id="264" r:id="Rde54ed9aa7744885"/>
    <p:sldId xmlns:r="http://schemas.openxmlformats.org/officeDocument/2006/relationships" id="265" r:id="R15e27466d9134259"/>
    <p:sldId xmlns:r="http://schemas.openxmlformats.org/officeDocument/2006/relationships" id="266" r:id="Rc2eeae25d4ca4c76"/>
    <p:sldId xmlns:r="http://schemas.openxmlformats.org/officeDocument/2006/relationships" id="267" r:id="R367144dfc6794a1f"/>
    <p:sldId xmlns:r="http://schemas.openxmlformats.org/officeDocument/2006/relationships" id="268" r:id="Rdb57c97d103f4226"/>
    <p:sldId xmlns:r="http://schemas.openxmlformats.org/officeDocument/2006/relationships" id="269" r:id="R09539d423cf74b31"/>
    <p:sldId xmlns:r="http://schemas.openxmlformats.org/officeDocument/2006/relationships" id="270" r:id="Redf3648a0d4e41cd"/>
    <p:sldId xmlns:r="http://schemas.openxmlformats.org/officeDocument/2006/relationships" id="271" r:id="Raad2d49f8307438d"/>
    <p:sldId xmlns:r="http://schemas.openxmlformats.org/officeDocument/2006/relationships" id="272" r:id="Rafbb420537e24352"/>
    <p:sldId xmlns:r="http://schemas.openxmlformats.org/officeDocument/2006/relationships" id="273" r:id="R41a066c404ac4294"/>
    <p:sldId xmlns:r="http://schemas.openxmlformats.org/officeDocument/2006/relationships" id="274" r:id="R13950958d75149ee"/>
    <p:sldId xmlns:r="http://schemas.openxmlformats.org/officeDocument/2006/relationships" id="275" r:id="R1560b3d0f4074b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f66f4fddb143a5" /><Relationship Type="http://schemas.openxmlformats.org/officeDocument/2006/relationships/slideMaster" Target="/ppt/slideMasters/slideMaster1.xml" Id="R0f09adf1053c48b9" /><Relationship Type="http://schemas.openxmlformats.org/officeDocument/2006/relationships/notesMaster" Target="/ppt/notesMasters/notesMaster1.xml" Id="Rd9b5959486bf4f71" /><Relationship Type="http://schemas.openxmlformats.org/officeDocument/2006/relationships/presProps" Target="/ppt/presProps.xml" Id="R0de68e1bdbce428b" /><Relationship Type="http://schemas.openxmlformats.org/officeDocument/2006/relationships/viewProps" Target="/ppt/viewProps.xml" Id="R17523fa3320a4393" /><Relationship Type="http://schemas.openxmlformats.org/officeDocument/2006/relationships/tableStyles" Target="/ppt/tableStyles.xml" Id="Rfac760be223f4081" /><Relationship Type="http://schemas.openxmlformats.org/officeDocument/2006/relationships/slide" Target="/ppt/slides/slide1.xml" Id="R4d9116ee02d14076" /><Relationship Type="http://schemas.openxmlformats.org/officeDocument/2006/relationships/slide" Target="/ppt/slides/slide2.xml" Id="Rce063e5f289846c1" /><Relationship Type="http://schemas.openxmlformats.org/officeDocument/2006/relationships/slide" Target="/ppt/slides/slide3.xml" Id="R7ae7dea1f3db4494" /><Relationship Type="http://schemas.openxmlformats.org/officeDocument/2006/relationships/slide" Target="/ppt/slides/slide4.xml" Id="R96b1d11b0d4342df" /><Relationship Type="http://schemas.openxmlformats.org/officeDocument/2006/relationships/slide" Target="/ppt/slides/slide5.xml" Id="R7b1b98c603c44e9c" /><Relationship Type="http://schemas.openxmlformats.org/officeDocument/2006/relationships/slide" Target="/ppt/slides/slide6.xml" Id="R7d66edf1b2344a37" /><Relationship Type="http://schemas.openxmlformats.org/officeDocument/2006/relationships/slide" Target="/ppt/slides/slide7.xml" Id="Rdd91a8a77cca4a10" /><Relationship Type="http://schemas.openxmlformats.org/officeDocument/2006/relationships/slide" Target="/ppt/slides/slide8.xml" Id="R74a0fd7a477c4577" /><Relationship Type="http://schemas.openxmlformats.org/officeDocument/2006/relationships/slide" Target="/ppt/slides/slide9.xml" Id="Rde54ed9aa7744885" /><Relationship Type="http://schemas.openxmlformats.org/officeDocument/2006/relationships/slide" Target="/ppt/slides/slide10.xml" Id="R15e27466d9134259" /><Relationship Type="http://schemas.openxmlformats.org/officeDocument/2006/relationships/slide" Target="/ppt/slides/slide11.xml" Id="Rc2eeae25d4ca4c76" /><Relationship Type="http://schemas.openxmlformats.org/officeDocument/2006/relationships/slide" Target="/ppt/slides/slide12.xml" Id="R367144dfc6794a1f" /><Relationship Type="http://schemas.openxmlformats.org/officeDocument/2006/relationships/slide" Target="/ppt/slides/slide13.xml" Id="Rdb57c97d103f4226" /><Relationship Type="http://schemas.openxmlformats.org/officeDocument/2006/relationships/slide" Target="/ppt/slides/slide14.xml" Id="R09539d423cf74b31" /><Relationship Type="http://schemas.openxmlformats.org/officeDocument/2006/relationships/slide" Target="/ppt/slides/slide15.xml" Id="Redf3648a0d4e41cd" /><Relationship Type="http://schemas.openxmlformats.org/officeDocument/2006/relationships/slide" Target="/ppt/slides/slide16.xml" Id="Raad2d49f8307438d" /><Relationship Type="http://schemas.openxmlformats.org/officeDocument/2006/relationships/slide" Target="/ppt/slides/slide17.xml" Id="Rafbb420537e24352" /><Relationship Type="http://schemas.openxmlformats.org/officeDocument/2006/relationships/slide" Target="/ppt/slides/slide18.xml" Id="R41a066c404ac4294" /><Relationship Type="http://schemas.openxmlformats.org/officeDocument/2006/relationships/slide" Target="/ppt/slides/slide19.xml" Id="R13950958d75149ee" /><Relationship Type="http://schemas.openxmlformats.org/officeDocument/2006/relationships/slide" Target="/ppt/slides/slide20.xml" Id="R1560b3d0f4074b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d9235187c04f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440556a8914395" /><Relationship Type="http://schemas.openxmlformats.org/officeDocument/2006/relationships/notesMaster" Target="/ppt/notesMasters/notesMaster1.xml" Id="R7b8b5dc6861542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9bfe2fe449460a" /><Relationship Type="http://schemas.openxmlformats.org/officeDocument/2006/relationships/notesMaster" Target="/ppt/notesMasters/notesMaster1.xml" Id="R9a4a64a1b1e646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d603048ac3464d" /><Relationship Type="http://schemas.openxmlformats.org/officeDocument/2006/relationships/notesMaster" Target="/ppt/notesMasters/notesMaster1.xml" Id="R9d9ffdbecf9648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54c071bb0a484b" /><Relationship Type="http://schemas.openxmlformats.org/officeDocument/2006/relationships/notesMaster" Target="/ppt/notesMasters/notesMaster1.xml" Id="R3b1638af82234f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d0b77f49ee4d20" /><Relationship Type="http://schemas.openxmlformats.org/officeDocument/2006/relationships/notesMaster" Target="/ppt/notesMasters/notesMaster1.xml" Id="Rd3a5a13b2fd54a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53d8e7817d4c55" /><Relationship Type="http://schemas.openxmlformats.org/officeDocument/2006/relationships/notesMaster" Target="/ppt/notesMasters/notesMaster1.xml" Id="R54e99167efca40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1acce2286947c5" /><Relationship Type="http://schemas.openxmlformats.org/officeDocument/2006/relationships/notesMaster" Target="/ppt/notesMasters/notesMaster1.xml" Id="Rc7eb3d29e1f148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02227600634e1b" /><Relationship Type="http://schemas.openxmlformats.org/officeDocument/2006/relationships/notesMaster" Target="/ppt/notesMasters/notesMaster1.xml" Id="Rd71d5427189b4e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32a82d9dba43f2" /><Relationship Type="http://schemas.openxmlformats.org/officeDocument/2006/relationships/notesMaster" Target="/ppt/notesMasters/notesMaster1.xml" Id="R3b60047b3fe747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cccbab5d0640cb" /><Relationship Type="http://schemas.openxmlformats.org/officeDocument/2006/relationships/notesMaster" Target="/ppt/notesMasters/notesMaster1.xml" Id="R44dc2861f3d143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8b3cd01d614ef7" /><Relationship Type="http://schemas.openxmlformats.org/officeDocument/2006/relationships/notesMaster" Target="/ppt/notesMasters/notesMaster1.xml" Id="R8bfaa30f1f0e4c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d74409f8b94648" /><Relationship Type="http://schemas.openxmlformats.org/officeDocument/2006/relationships/notesMaster" Target="/ppt/notesMasters/notesMaster1.xml" Id="R293108c6957e4d0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c73975b9fa4963" /><Relationship Type="http://schemas.openxmlformats.org/officeDocument/2006/relationships/notesMaster" Target="/ppt/notesMasters/notesMaster1.xml" Id="Rc92d7683d4fc42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1bbb41c5f21403f" /><Relationship Type="http://schemas.openxmlformats.org/officeDocument/2006/relationships/notesMaster" Target="/ppt/notesMasters/notesMaster1.xml" Id="R26737c5b17a04f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b9dc4f6319483f" /><Relationship Type="http://schemas.openxmlformats.org/officeDocument/2006/relationships/notesMaster" Target="/ppt/notesMasters/notesMaster1.xml" Id="Rddf1cb4e41224e0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a4cf01c42f549cf" /><Relationship Type="http://schemas.openxmlformats.org/officeDocument/2006/relationships/notesMaster" Target="/ppt/notesMasters/notesMaster1.xml" Id="Rfaba0f0cfb4844d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7ff1c968e94714" /><Relationship Type="http://schemas.openxmlformats.org/officeDocument/2006/relationships/notesMaster" Target="/ppt/notesMasters/notesMaster1.xml" Id="R0558f542e2a34dd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151d5133c64dd0" /><Relationship Type="http://schemas.openxmlformats.org/officeDocument/2006/relationships/notesMaster" Target="/ppt/notesMasters/notesMaster1.xml" Id="Rc4a1d9d377c44b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edc75482a37455f" /><Relationship Type="http://schemas.openxmlformats.org/officeDocument/2006/relationships/notesMaster" Target="/ppt/notesMasters/notesMaster1.xml" Id="Re33d07a3035d42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9b90f3db96c4140" /><Relationship Type="http://schemas.openxmlformats.org/officeDocument/2006/relationships/notesMaster" Target="/ppt/notesMasters/notesMaster1.xml" Id="Rbdbe1d7ad8d647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本讲聚焦“实验自动化、AutoResearch 循环与结果追踪”。封面只保留正式课名，课堂问题从下一页展开。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停留 1 分钟：请学生在第 10 课记录中圈出指标、预算、停止、回退里最缺的一项。再快问指标是否在执行前固定，失败日志是否能与运行次数对账。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明确本课不要求课堂内跑完循环，先建立可审查骨架和至少一次失败记录。八维拆解训练边界判断，不以工具数量为目标。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循环不是新研究方法，而是把可重复科研动作串成可审计步骤。学生应能指出每一步对应的工件，以及回退后哪条研究判断需要更新。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Sandve et al. (2013), Ten Simple Rules for Reproducible Computational Research, https://doi.org/10.1371/journal.pcbi.1003285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追问：让 Agent 自动决定论文是否值得深读，为什么不适合直接改写为循环？答案应指向价值判断和指标不可操作化，而不是简单说模型不够强。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Sandve et al. (2013), https://doi.org/10.1371/journal.pcbi.1003285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固定指标指完整计算协议固定，而不只是指标名称不变。任何版本、分母或数据划分变化都应触发协议性停止和人工审核。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Sandve et al. (2013), https://doi.org/10.1371/journal.pcbi.1003285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协议性停止和结果好坏无关，它表示循环本身的评价协议或数据状态出了问题。禁止类停止是结果导向的随意终止。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回退不是删除证据。若回退发生，作者必须说明回退目标、失败记录是否保留，以及哪条研究判断被降级或改写。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这是课程教学反例。请学生先指出哪一行暴露问题，再说明如果不保留完整轨迹，只看最终 Keep，为什么无法发现评价协议漂移。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- Teaching example; all values and log entries are fictional.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本页全部数值为课程教学示意。让学生在自己的动作上先写出四约束数字，不要求当场精确；重点是有上限、有停止、有回退、有审核。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Teaching example; parameters, commit and rubric identifiers are fictional.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Discard 是决策，不是删除。失败记录应与成功记录使用相同格式；如果日志存在但记录缺失，数账等式就无法成立。第 13 课失败复盘将直接使用这些记录。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/Users/bright/Projects/courses/graduate/course/curriculum.md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AutoResearch 按课程固定 commit 分析，避免仓库变化导致口径漂移。AI Scientist 只覆盖计算型机器学习研究设置，不能用来证明所有学科的通用自主科研能力。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Karpathy AutoResearch commit 228791fb499afffb54b46200aca536f79142f117, https://github.com/karpathy/autoresearch/tree/228791fb499afffb54b46200aca536f79142f117</a:t>
            </a:r>
          </a:p>
          <a:p xmlns:a="http://schemas.openxmlformats.org/drawingml/2006/main">
            <a:r>
              <a:t>- Lu et al. (2026), Nature 651, 914–919, https://doi.org/10.1038/s41586-026-10265-5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Evals 维度要明确：自动评审可以作为循环内部信号，但不等于真实同行共识。失败恢复维度要检查记录是否完整，而不只看系统是否能继续运行。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 et al. (2026), https://doi.org/10.1038/s41586-026-10265-5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论文报告三篇 AI 生成稿件接受工作坊评审，其中一篇评分超过平均接收阈值；所有稿件按预设协议撤回。作者团队内部判断没有一篇达到 ICLR 主会标准。该边界用于防止外推。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 et al. (2026), Nature, https://doi.org/10.1038/s41586-026-10265-5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比较的目的不是给三个系统排高低，而是让学生辨认自己的循环覆盖了什么、没有覆盖什么、哪一类判断必须保留在人手中。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Karpathy AutoResearch commit 228791fb499afffb54b46200aca536f79142f117, https://github.com/karpathy/autoresearch/tree/228791fb499afffb54b46200aca536f79142f117</a:t>
            </a:r>
          </a:p>
          <a:p xmlns:a="http://schemas.openxmlformats.org/drawingml/2006/main">
            <a:r>
              <a:t>- Lu et al. (2026), https://doi.org/10.1038/s41586-026-10265-5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Teaching comparison; no empirical system ranking is claimed.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分钟开始个人实践。学生优先用第 10 课自己的动作；没有者沿用教学案例。巡视只处理共同卡点，不替学生决定循环边界。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/Users/bright/Projects/courses/graduate/lessons/lesson-11/teaching-plan.md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本页停留十分钟。右侧是课程教学样例，所有标识符均为虚构。学生应在自己的项目或纸面模板中完成同构记录，并检查失败与成功是否能对账。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Teaching example; IDs, commit and rubric versions are fictional.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2–3 人互查。作者不需要现场辩护，先记录具体问题，再自行决定采纳、拒绝或暂缓。固定同伴组只用于互查，不改变个人项目责任。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/Users/bright/Projects/courses/graduate/lessons/lesson-11/teaching-plan.md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用退出卡收束开场：循环成立的证据不是能跑，而是约束、工件、失败和审核都可追踪。第 12 课把这些要素重新组合为学生自己的工作流；第 13 课再评价实际影响。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89d0ad258e421a" /><Relationship Type="http://schemas.openxmlformats.org/officeDocument/2006/relationships/image" Target="/ppt/media/image.png" Id="R38a37bfe44584eb4" /><Relationship Type="http://schemas.openxmlformats.org/officeDocument/2006/relationships/image" Target="/ppt/media/image2.png" Id="R805d0be40a524ea1" /><Relationship Type="http://schemas.openxmlformats.org/officeDocument/2006/relationships/image" Target="/ppt/media/image3.png" Id="R0817c778968b477e" /><Relationship Type="http://schemas.openxmlformats.org/officeDocument/2006/relationships/image" Target="/ppt/media/image4.png" Id="Rafcf050de164425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e3fb75ae27437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6c50c3cfe4ab9" /><Relationship Type="http://schemas.openxmlformats.org/officeDocument/2006/relationships/image" Target="/ppt/media/image2.png" Id="R1883c2283db4463f" /><Relationship Type="http://schemas.openxmlformats.org/officeDocument/2006/relationships/image" Target="/ppt/media/image5.png" Id="R39e302bf53e5438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e937866ce44798" /><Relationship Type="http://schemas.openxmlformats.org/officeDocument/2006/relationships/image" Target="/ppt/media/image.png" Id="Ref42fc509d804a06" /><Relationship Type="http://schemas.openxmlformats.org/officeDocument/2006/relationships/image" Target="/ppt/media/image3.png" Id="R96b78f9e867445f0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37bfe44584eb4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5d0be40a524ea1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17c778968b477e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f050de164425e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83c2283db4463f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302bf53e543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2fc509d804a0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b78f9e867445f0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e4cf864efd4d95" /><Relationship Type="http://schemas.openxmlformats.org/officeDocument/2006/relationships/slideLayout" Target="/ppt/slideLayouts/slideLayout1.xml" Id="R13ebd4a877434c98" /><Relationship Type="http://schemas.openxmlformats.org/officeDocument/2006/relationships/slideLayout" Target="/ppt/slideLayouts/slideLayout2.xml" Id="R08c3bcf7783a40fd" /><Relationship Type="http://schemas.openxmlformats.org/officeDocument/2006/relationships/slideLayout" Target="/ppt/slideLayouts/slideLayout3.xml" Id="Ra583cbc3df74413f" /><Relationship Type="http://schemas.openxmlformats.org/officeDocument/2006/relationships/slideLayout" Target="/ppt/slideLayouts/slideLayout4.xml" Id="R614c558457054b5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ebd4a877434c98"/>
    <p:sldLayoutId xmlns:r="http://schemas.openxmlformats.org/officeDocument/2006/relationships" id="2147483650" r:id="R08c3bcf7783a40fd"/>
    <p:sldLayoutId xmlns:r="http://schemas.openxmlformats.org/officeDocument/2006/relationships" id="2147483651" r:id="Ra583cbc3df74413f"/>
    <p:sldLayoutId xmlns:r="http://schemas.openxmlformats.org/officeDocument/2006/relationships" id="2147483652" r:id="R614c558457054b5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e1694ebfd4641" /><Relationship Type="http://schemas.openxmlformats.org/officeDocument/2006/relationships/notesSlide" Target="/ppt/notesSlides/notesSlide1.xml" Id="Rfee29eeebb8847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4c4c8d30bc947ec" /><Relationship Type="http://schemas.openxmlformats.org/officeDocument/2006/relationships/notesSlide" Target="/ppt/notesSlides/notesSlide2.xml" Id="Rc5780e0763994f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b7faec2ffc4d50" /><Relationship Type="http://schemas.openxmlformats.org/officeDocument/2006/relationships/notesSlide" Target="/ppt/notesSlides/notesSlide3.xml" Id="R8f86c08332954d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9f84870ba17406c" /><Relationship Type="http://schemas.openxmlformats.org/officeDocument/2006/relationships/notesSlide" Target="/ppt/notesSlides/notesSlide4.xml" Id="Rc263134dc4fa4f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c140afaf50a49f3" /><Relationship Type="http://schemas.openxmlformats.org/officeDocument/2006/relationships/notesSlide" Target="/ppt/notesSlides/notesSlide5.xml" Id="R0faa19719e2343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a3c235db9a4b1b" /><Relationship Type="http://schemas.openxmlformats.org/officeDocument/2006/relationships/notesSlide" Target="/ppt/notesSlides/notesSlide6.xml" Id="Re442bd02f9f24b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271723a17b4d81" /><Relationship Type="http://schemas.openxmlformats.org/officeDocument/2006/relationships/notesSlide" Target="/ppt/notesSlides/notesSlide7.xml" Id="R02eabd9b858840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4faac13033469a" /><Relationship Type="http://schemas.openxmlformats.org/officeDocument/2006/relationships/notesSlide" Target="/ppt/notesSlides/notesSlide8.xml" Id="R58b5c45d193949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ac074eb9924aa7" /><Relationship Type="http://schemas.openxmlformats.org/officeDocument/2006/relationships/notesSlide" Target="/ppt/notesSlides/notesSlide9.xml" Id="Rb56f32712f2c4a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339e186fcb4cfe" /><Relationship Type="http://schemas.openxmlformats.org/officeDocument/2006/relationships/notesSlide" Target="/ppt/notesSlides/notesSlide10.xml" Id="R4ea8129c4f6442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6f76f87540c40bf" /><Relationship Type="http://schemas.openxmlformats.org/officeDocument/2006/relationships/notesSlide" Target="/ppt/notesSlides/notesSlide11.xml" Id="R0f1edecb7feb4f3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66827c00474d7e" /><Relationship Type="http://schemas.openxmlformats.org/officeDocument/2006/relationships/notesSlide" Target="/ppt/notesSlides/notesSlide12.xml" Id="Rec59c31bc2ca4e5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8a37bd25c14bc1" /><Relationship Type="http://schemas.openxmlformats.org/officeDocument/2006/relationships/notesSlide" Target="/ppt/notesSlides/notesSlide13.xml" Id="Rfafbc1ee6b314c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e994e838544e63" /><Relationship Type="http://schemas.openxmlformats.org/officeDocument/2006/relationships/notesSlide" Target="/ppt/notesSlides/notesSlide14.xml" Id="R0147142aa1424c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ab518f33134644" /><Relationship Type="http://schemas.openxmlformats.org/officeDocument/2006/relationships/notesSlide" Target="/ppt/notesSlides/notesSlide15.xml" Id="R998398463d7d403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8681f201704308" /><Relationship Type="http://schemas.openxmlformats.org/officeDocument/2006/relationships/notesSlide" Target="/ppt/notesSlides/notesSlide16.xml" Id="Rdb043f59850844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222e8a19e54aec" /><Relationship Type="http://schemas.openxmlformats.org/officeDocument/2006/relationships/notesSlide" Target="/ppt/notesSlides/notesSlide17.xml" Id="Rbca138ed6d974f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28d190c7c7d4a9e" /><Relationship Type="http://schemas.openxmlformats.org/officeDocument/2006/relationships/notesSlide" Target="/ppt/notesSlides/notesSlide18.xml" Id="R9f57f8fca8f541b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3d10eee4494502" /><Relationship Type="http://schemas.openxmlformats.org/officeDocument/2006/relationships/notesSlide" Target="/ppt/notesSlides/notesSlide19.xml" Id="Rdb244acbd5a74ad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67eaf782e6241bf" /><Relationship Type="http://schemas.openxmlformats.org/officeDocument/2006/relationships/notesSlide" Target="/ppt/notesSlides/notesSlide20.xml" Id="Rf0356aec681949b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第11讲 实验自动化、AutoResearch 循环与结果追踪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承接第 10 课：从受限执行到实验追踪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4BC874C2-66C1-4827-B2BA-29957374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9–10 课已有工件</a:t>
            </a:r>
          </a:p>
        </p:txBody>
      </p:sp>
      <p:sp>
        <p:nvSpPr>
          <p:cNvPr id="7" name="p02-l-0">
            <a:extLst xmlns:a="http://schemas.openxmlformats.org/drawingml/2006/main">
              <a:ext uri="{FF2B5EF4-FFF2-40B4-BE49-F238E27FC236}">
                <a16:creationId xmlns:a16="http://schemas.microsoft.com/office/drawing/2014/main" id="{EBC6D786-AE90-4BE3-B478-068E238A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2100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baseline 与复现说明</a:t>
            </a:r>
          </a:p>
        </p:txBody>
      </p:sp>
      <p:sp>
        <p:nvSpPr>
          <p:cNvPr id="8" name="p02-l-1">
            <a:extLst xmlns:a="http://schemas.openxmlformats.org/drawingml/2006/main">
              <a:ext uri="{FF2B5EF4-FFF2-40B4-BE49-F238E27FC236}">
                <a16:creationId xmlns:a16="http://schemas.microsoft.com/office/drawing/2014/main" id="{C0242C49-5F34-43F1-B385-14A0858E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42100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任务契约与权限边界</a:t>
            </a:r>
          </a:p>
        </p:txBody>
      </p:sp>
      <p:sp>
        <p:nvSpPr>
          <p:cNvPr id="9" name="p02-l-2">
            <a:extLst xmlns:a="http://schemas.openxmlformats.org/drawingml/2006/main">
              <a:ext uri="{FF2B5EF4-FFF2-40B4-BE49-F238E27FC236}">
                <a16:creationId xmlns:a16="http://schemas.microsoft.com/office/drawing/2014/main" id="{E5CDD8A2-2E2F-4A12-92C7-FDA32B5A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2100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diff、日志与失败记录</a:t>
            </a:r>
          </a:p>
        </p:txBody>
      </p:sp>
      <p:sp>
        <p:nvSpPr>
          <p:cNvPr id="10" name="p02-ne">
            <a:extLst xmlns:a="http://schemas.openxmlformats.org/drawingml/2006/main">
              <a:ext uri="{FF2B5EF4-FFF2-40B4-BE49-F238E27FC236}">
                <a16:creationId xmlns:a16="http://schemas.microsoft.com/office/drawing/2014/main" id="{31145798-A056-4F07-97E7-375F6C31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43150"/>
            <a:ext cx="990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C8161E"/>
                </a:solidFill>
              </a:defRPr>
            </a:pPr>
            <a:r>
              <a:rPr sz="36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1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C4A4A60C-B6F6-4AA4-9B36-917656A8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9906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循环仍未成立</a:t>
            </a:r>
          </a:p>
        </p:txBody>
      </p:sp>
      <p:sp>
        <p:nvSpPr>
          <p:cNvPr id="12" name="p02-r-0">
            <a:extLst xmlns:a="http://schemas.openxmlformats.org/drawingml/2006/main">
              <a:ext uri="{FF2B5EF4-FFF2-40B4-BE49-F238E27FC236}">
                <a16:creationId xmlns:a16="http://schemas.microsoft.com/office/drawing/2014/main" id="{E205AC3C-8B6D-4117-936B-C791A479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能否重复运行？</a:t>
            </a:r>
          </a:p>
        </p:txBody>
      </p:sp>
      <p:sp>
        <p:nvSpPr>
          <p:cNvPr id="13" name="p02-r-1">
            <a:extLst xmlns:a="http://schemas.openxmlformats.org/drawingml/2006/main">
              <a:ext uri="{FF2B5EF4-FFF2-40B4-BE49-F238E27FC236}">
                <a16:creationId xmlns:a16="http://schemas.microsoft.com/office/drawing/2014/main" id="{86E02CEF-CBA6-4847-863A-E14D556D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0980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指标与预算会不会漂移？</a:t>
            </a:r>
          </a:p>
        </p:txBody>
      </p:sp>
      <p:sp>
        <p:nvSpPr>
          <p:cNvPr id="14" name="p02-r-2">
            <a:extLst xmlns:a="http://schemas.openxmlformats.org/drawingml/2006/main">
              <a:ext uri="{FF2B5EF4-FFF2-40B4-BE49-F238E27FC236}">
                <a16:creationId xmlns:a16="http://schemas.microsoft.com/office/drawing/2014/main" id="{5B71F420-B58A-4DFA-8BD2-82BAAAA5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何时停止、回退到哪里？</a:t>
            </a:r>
          </a:p>
        </p:txBody>
      </p:sp>
      <p:sp>
        <p:nvSpPr>
          <p:cNvPr id="15" name="p02-r-3">
            <a:extLst xmlns:a="http://schemas.openxmlformats.org/drawingml/2006/main">
              <a:ext uri="{FF2B5EF4-FFF2-40B4-BE49-F238E27FC236}">
                <a16:creationId xmlns:a16="http://schemas.microsoft.com/office/drawing/2014/main" id="{D5870874-3539-481E-9D92-A3BBE5A7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4210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失败是否全部保留？</a:t>
            </a:r>
          </a:p>
        </p:txBody>
      </p:sp>
      <p:sp>
        <p:nvSpPr>
          <p:cNvPr id="16" name="p02-out">
            <a:extLst xmlns:a="http://schemas.openxmlformats.org/drawingml/2006/main">
              <a:ext uri="{FF2B5EF4-FFF2-40B4-BE49-F238E27FC236}">
                <a16:creationId xmlns:a16="http://schemas.microsoft.com/office/drawing/2014/main" id="{FC1D3BFB-572D-4AE0-8245-AFF58F4F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分钟动作｜在现有记录中圈出最缺的一项：指标 / 预算 / 停止 / 回退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line-0">
            <a:extLst xmlns:a="http://schemas.openxmlformats.org/drawingml/2006/main">
              <a:ext uri="{FF2B5EF4-FFF2-40B4-BE49-F238E27FC236}">
                <a16:creationId xmlns:a16="http://schemas.microsoft.com/office/drawing/2014/main" id="{FDB5113A-4B9A-4063-9816-16BA1809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3-line-1">
            <a:extLst xmlns:a="http://schemas.openxmlformats.org/drawingml/2006/main">
              <a:ext uri="{FF2B5EF4-FFF2-40B4-BE49-F238E27FC236}">
                <a16:creationId xmlns:a16="http://schemas.microsoft.com/office/drawing/2014/main" id="{BE9BAABE-4B91-4E20-A3C8-785B83A1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14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3-line-2">
            <a:extLst xmlns:a="http://schemas.openxmlformats.org/drawingml/2006/main">
              <a:ext uri="{FF2B5EF4-FFF2-40B4-BE49-F238E27FC236}">
                <a16:creationId xmlns:a16="http://schemas.microsoft.com/office/drawing/2014/main" id="{5CB9AD8C-D0B4-45D3-9DE2-58F5F45C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3-line-3">
            <a:extLst xmlns:a="http://schemas.openxmlformats.org/drawingml/2006/main">
              <a:ext uri="{FF2B5EF4-FFF2-40B4-BE49-F238E27FC236}">
                <a16:creationId xmlns:a16="http://schemas.microsoft.com/office/drawing/2014/main" id="{DE0F67ED-8051-46A8-951E-70188B9D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28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3-line-4">
            <a:extLst xmlns:a="http://schemas.openxmlformats.org/drawingml/2006/main">
              <a:ext uri="{FF2B5EF4-FFF2-40B4-BE49-F238E27FC236}">
                <a16:creationId xmlns:a16="http://schemas.microsoft.com/office/drawing/2014/main" id="{952E4D9F-EAA2-4D4A-979E-F8E1C226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17907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3-n-0">
            <a:extLst xmlns:a="http://schemas.openxmlformats.org/drawingml/2006/main">
              <a:ext uri="{FF2B5EF4-FFF2-40B4-BE49-F238E27FC236}">
                <a16:creationId xmlns:a16="http://schemas.microsoft.com/office/drawing/2014/main" id="{581D2E34-54D6-4435-8042-E04011C2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03-step-0">
            <a:extLst xmlns:a="http://schemas.openxmlformats.org/drawingml/2006/main">
              <a:ext uri="{FF2B5EF4-FFF2-40B4-BE49-F238E27FC236}">
                <a16:creationId xmlns:a16="http://schemas.microsoft.com/office/drawing/2014/main" id="{1097D1B7-4B46-4535-9455-A864CA0C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判适用</a:t>
            </a:r>
          </a:p>
        </p:txBody>
      </p:sp>
      <p:sp>
        <p:nvSpPr>
          <p:cNvPr id="13" name="p03-n-1">
            <a:extLst xmlns:a="http://schemas.openxmlformats.org/drawingml/2006/main">
              <a:ext uri="{FF2B5EF4-FFF2-40B4-BE49-F238E27FC236}">
                <a16:creationId xmlns:a16="http://schemas.microsoft.com/office/drawing/2014/main" id="{5E497B00-D05C-41CB-A55D-47866E86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03-step-1">
            <a:extLst xmlns:a="http://schemas.openxmlformats.org/drawingml/2006/main">
              <a:ext uri="{FF2B5EF4-FFF2-40B4-BE49-F238E27FC236}">
                <a16:creationId xmlns:a16="http://schemas.microsoft.com/office/drawing/2014/main" id="{4625229B-B9D5-498B-A330-30E6B477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定四约束</a:t>
            </a:r>
          </a:p>
        </p:txBody>
      </p:sp>
      <p:sp>
        <p:nvSpPr>
          <p:cNvPr id="15" name="p03-n-2">
            <a:extLst xmlns:a="http://schemas.openxmlformats.org/drawingml/2006/main">
              <a:ext uri="{FF2B5EF4-FFF2-40B4-BE49-F238E27FC236}">
                <a16:creationId xmlns:a16="http://schemas.microsoft.com/office/drawing/2014/main" id="{E452EDA7-41E4-4E2E-A51A-C154B44C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03-step-2">
            <a:extLst xmlns:a="http://schemas.openxmlformats.org/drawingml/2006/main">
              <a:ext uri="{FF2B5EF4-FFF2-40B4-BE49-F238E27FC236}">
                <a16:creationId xmlns:a16="http://schemas.microsoft.com/office/drawing/2014/main" id="{0380F07F-9786-4178-9588-ACC159C6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写五步</a:t>
            </a:r>
          </a:p>
        </p:txBody>
      </p:sp>
      <p:sp>
        <p:nvSpPr>
          <p:cNvPr id="17" name="p03-n-3">
            <a:extLst xmlns:a="http://schemas.openxmlformats.org/drawingml/2006/main">
              <a:ext uri="{FF2B5EF4-FFF2-40B4-BE49-F238E27FC236}">
                <a16:creationId xmlns:a16="http://schemas.microsoft.com/office/drawing/2014/main" id="{6B663F27-BB8E-4425-BE79-E1A77813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03-step-3">
            <a:extLst xmlns:a="http://schemas.openxmlformats.org/drawingml/2006/main">
              <a:ext uri="{FF2B5EF4-FFF2-40B4-BE49-F238E27FC236}">
                <a16:creationId xmlns:a16="http://schemas.microsoft.com/office/drawing/2014/main" id="{90B5091C-F674-4652-968C-5EFCA5C6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标审核点</a:t>
            </a:r>
          </a:p>
        </p:txBody>
      </p:sp>
      <p:sp>
        <p:nvSpPr>
          <p:cNvPr id="19" name="p03-n-4">
            <a:extLst xmlns:a="http://schemas.openxmlformats.org/drawingml/2006/main">
              <a:ext uri="{FF2B5EF4-FFF2-40B4-BE49-F238E27FC236}">
                <a16:creationId xmlns:a16="http://schemas.microsoft.com/office/drawing/2014/main" id="{13A031DE-2209-4254-BE57-F5271FC4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03-step-4">
            <a:extLst xmlns:a="http://schemas.openxmlformats.org/drawingml/2006/main">
              <a:ext uri="{FF2B5EF4-FFF2-40B4-BE49-F238E27FC236}">
                <a16:creationId xmlns:a16="http://schemas.microsoft.com/office/drawing/2014/main" id="{74AE9654-6A22-4D6F-B150-3BB06100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保留失败</a:t>
            </a:r>
          </a:p>
        </p:txBody>
      </p:sp>
      <p:sp>
        <p:nvSpPr>
          <p:cNvPr id="21" name="p03-n-5">
            <a:extLst xmlns:a="http://schemas.openxmlformats.org/drawingml/2006/main">
              <a:ext uri="{FF2B5EF4-FFF2-40B4-BE49-F238E27FC236}">
                <a16:creationId xmlns:a16="http://schemas.microsoft.com/office/drawing/2014/main" id="{42F89993-AF7E-4FBE-96B1-FF683A13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5049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p03-step-5">
            <a:extLst xmlns:a="http://schemas.openxmlformats.org/drawingml/2006/main">
              <a:ext uri="{FF2B5EF4-FFF2-40B4-BE49-F238E27FC236}">
                <a16:creationId xmlns:a16="http://schemas.microsoft.com/office/drawing/2014/main" id="{C3BFD45B-5270-48C3-9523-01D4C1BC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1504950"/>
            <a:ext cx="1200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析边界</a:t>
            </a:r>
          </a:p>
        </p:txBody>
      </p:sp>
      <p:sp>
        <p:nvSpPr>
          <p:cNvPr id="23" name="p03-out-title">
            <a:extLst xmlns:a="http://schemas.openxmlformats.org/drawingml/2006/main">
              <a:ext uri="{FF2B5EF4-FFF2-40B4-BE49-F238E27FC236}">
                <a16:creationId xmlns:a16="http://schemas.microsoft.com/office/drawing/2014/main" id="{B1338B8B-A60A-4D4E-A05E-EE6146F7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课堂可检查产出</a:t>
            </a:r>
          </a:p>
        </p:txBody>
      </p:sp>
      <p:sp>
        <p:nvSpPr>
          <p:cNvPr id="24" name="p03-oh-0">
            <a:extLst xmlns:a="http://schemas.openxmlformats.org/drawingml/2006/main">
              <a:ext uri="{FF2B5EF4-FFF2-40B4-BE49-F238E27FC236}">
                <a16:creationId xmlns:a16="http://schemas.microsoft.com/office/drawing/2014/main" id="{9BCD634E-55CE-4737-8B2B-337309AE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受限循环说明</a:t>
            </a:r>
          </a:p>
        </p:txBody>
      </p:sp>
      <p:sp>
        <p:nvSpPr>
          <p:cNvPr id="25" name="p03-od-0">
            <a:extLst xmlns:a="http://schemas.openxmlformats.org/drawingml/2006/main">
              <a:ext uri="{FF2B5EF4-FFF2-40B4-BE49-F238E27FC236}">
                <a16:creationId xmlns:a16="http://schemas.microsoft.com/office/drawing/2014/main" id="{A62B51BE-EF5A-4974-8CB0-E48168EC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四约束 + 五步 + ≥3 审核点</a:t>
            </a:r>
          </a:p>
        </p:txBody>
      </p:sp>
      <p:sp>
        <p:nvSpPr>
          <p:cNvPr id="26" name="p03-oh-1">
            <a:extLst xmlns:a="http://schemas.openxmlformats.org/drawingml/2006/main">
              <a:ext uri="{FF2B5EF4-FFF2-40B4-BE49-F238E27FC236}">
                <a16:creationId xmlns:a16="http://schemas.microsoft.com/office/drawing/2014/main" id="{F3025F36-0CBD-46AE-8B23-82CFA4F8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失败迭代记录</a:t>
            </a:r>
          </a:p>
        </p:txBody>
      </p:sp>
      <p:sp>
        <p:nvSpPr>
          <p:cNvPr id="27" name="p03-od-1">
            <a:extLst xmlns:a="http://schemas.openxmlformats.org/drawingml/2006/main">
              <a:ext uri="{FF2B5EF4-FFF2-40B4-BE49-F238E27FC236}">
                <a16:creationId xmlns:a16="http://schemas.microsoft.com/office/drawing/2014/main" id="{49C8DFDA-DEE1-48F6-B55A-3A7F556E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七字段；至少 1 次</a:t>
            </a:r>
          </a:p>
        </p:txBody>
      </p:sp>
      <p:sp>
        <p:nvSpPr>
          <p:cNvPr id="28" name="p03-oh-2">
            <a:extLst xmlns:a="http://schemas.openxmlformats.org/drawingml/2006/main">
              <a:ext uri="{FF2B5EF4-FFF2-40B4-BE49-F238E27FC236}">
                <a16:creationId xmlns:a16="http://schemas.microsoft.com/office/drawing/2014/main" id="{786FEAA8-D764-47CA-BFD0-BD511F13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194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八维拆解表</a:t>
            </a:r>
          </a:p>
        </p:txBody>
      </p:sp>
      <p:sp>
        <p:nvSpPr>
          <p:cNvPr id="29" name="p03-od-2">
            <a:extLst xmlns:a="http://schemas.openxmlformats.org/drawingml/2006/main">
              <a:ext uri="{FF2B5EF4-FFF2-40B4-BE49-F238E27FC236}">
                <a16:creationId xmlns:a16="http://schemas.microsoft.com/office/drawing/2014/main" id="{3E809DD1-795A-4F22-8A67-7D5ADE33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338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4 维；含人工判断</a:t>
            </a:r>
          </a:p>
        </p:txBody>
      </p:sp>
      <p:sp>
        <p:nvSpPr>
          <p:cNvPr id="30" name="p03-bottom">
            <a:extLst xmlns:a="http://schemas.openxmlformats.org/drawingml/2006/main">
              <a:ext uri="{FF2B5EF4-FFF2-40B4-BE49-F238E27FC236}">
                <a16:creationId xmlns:a16="http://schemas.microsoft.com/office/drawing/2014/main" id="{99EEEEA3-1E30-4220-92F7-1FC9DDF5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05400"/>
            <a:ext cx="887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本课无正式提交；第 12 课重新组合工作流，第 13 课验证门统一检查。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循环五步：假设→运行→度量→评价→回写/回退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link-0">
            <a:extLst xmlns:a="http://schemas.openxmlformats.org/drawingml/2006/main">
              <a:ext uri="{FF2B5EF4-FFF2-40B4-BE49-F238E27FC236}">
                <a16:creationId xmlns:a16="http://schemas.microsoft.com/office/drawing/2014/main" id="{B5E02C4A-DD77-45B3-ABEA-FA96859A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526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4-link-1">
            <a:extLst xmlns:a="http://schemas.openxmlformats.org/drawingml/2006/main">
              <a:ext uri="{FF2B5EF4-FFF2-40B4-BE49-F238E27FC236}">
                <a16:creationId xmlns:a16="http://schemas.microsoft.com/office/drawing/2014/main" id="{1A432F8B-5C01-480D-9B22-026C6961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4-link-2">
            <a:extLst xmlns:a="http://schemas.openxmlformats.org/drawingml/2006/main">
              <a:ext uri="{FF2B5EF4-FFF2-40B4-BE49-F238E27FC236}">
                <a16:creationId xmlns:a16="http://schemas.microsoft.com/office/drawing/2014/main" id="{E0DC1AF7-0253-41E3-8A17-3FB704CD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4-link-3">
            <a:extLst xmlns:a="http://schemas.openxmlformats.org/drawingml/2006/main">
              <a:ext uri="{FF2B5EF4-FFF2-40B4-BE49-F238E27FC236}">
                <a16:creationId xmlns:a16="http://schemas.microsoft.com/office/drawing/2014/main" id="{6CB71C72-35DF-4A6D-8610-41277E26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24950" y="22098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n-0">
            <a:extLst xmlns:a="http://schemas.openxmlformats.org/drawingml/2006/main">
              <a:ext uri="{FF2B5EF4-FFF2-40B4-BE49-F238E27FC236}">
                <a16:creationId xmlns:a16="http://schemas.microsoft.com/office/drawing/2014/main" id="{7E9821A1-4DA8-4212-9413-0DA84805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04-step-0">
            <a:extLst xmlns:a="http://schemas.openxmlformats.org/drawingml/2006/main">
              <a:ext uri="{FF2B5EF4-FFF2-40B4-BE49-F238E27FC236}">
                <a16:creationId xmlns:a16="http://schemas.microsoft.com/office/drawing/2014/main" id="{5F8B1022-6D36-456B-9D13-D67868A2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子假设条目</a:t>
            </a:r>
          </a:p>
        </p:txBody>
      </p:sp>
      <p:sp>
        <p:nvSpPr>
          <p:cNvPr id="12" name="p04-n-1">
            <a:extLst xmlns:a="http://schemas.openxmlformats.org/drawingml/2006/main">
              <a:ext uri="{FF2B5EF4-FFF2-40B4-BE49-F238E27FC236}">
                <a16:creationId xmlns:a16="http://schemas.microsoft.com/office/drawing/2014/main" id="{B02727C2-BA8A-42FB-AC6E-2E025069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04-step-1">
            <a:extLst xmlns:a="http://schemas.openxmlformats.org/drawingml/2006/main">
              <a:ext uri="{FF2B5EF4-FFF2-40B4-BE49-F238E27FC236}">
                <a16:creationId xmlns:a16="http://schemas.microsoft.com/office/drawing/2014/main" id="{CF3821AE-FB2F-4AA6-A9C4-EE5EBB7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配置与日志</a:t>
            </a:r>
          </a:p>
        </p:txBody>
      </p:sp>
      <p:sp>
        <p:nvSpPr>
          <p:cNvPr id="14" name="p04-n-2">
            <a:extLst xmlns:a="http://schemas.openxmlformats.org/drawingml/2006/main">
              <a:ext uri="{FF2B5EF4-FFF2-40B4-BE49-F238E27FC236}">
                <a16:creationId xmlns:a16="http://schemas.microsoft.com/office/drawing/2014/main" id="{A71A5C56-ED4E-4123-9EE7-C9579987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04-step-2">
            <a:extLst xmlns:a="http://schemas.openxmlformats.org/drawingml/2006/main">
              <a:ext uri="{FF2B5EF4-FFF2-40B4-BE49-F238E27FC236}">
                <a16:creationId xmlns:a16="http://schemas.microsoft.com/office/drawing/2014/main" id="{D4D4ACDB-D70D-4E06-93D4-EABFB11D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度量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指标记录</a:t>
            </a:r>
          </a:p>
        </p:txBody>
      </p:sp>
      <p:sp>
        <p:nvSpPr>
          <p:cNvPr id="16" name="p04-n-3">
            <a:extLst xmlns:a="http://schemas.openxmlformats.org/drawingml/2006/main">
              <a:ext uri="{FF2B5EF4-FFF2-40B4-BE49-F238E27FC236}">
                <a16:creationId xmlns:a16="http://schemas.microsoft.com/office/drawing/2014/main" id="{C0230266-923D-42E1-9B54-5C927A22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04-step-3">
            <a:extLst xmlns:a="http://schemas.openxmlformats.org/drawingml/2006/main">
              <a:ext uri="{FF2B5EF4-FFF2-40B4-BE49-F238E27FC236}">
                <a16:creationId xmlns:a16="http://schemas.microsoft.com/office/drawing/2014/main" id="{0753AE7C-0F13-4219-BBF6-EA53AF74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19050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评价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支持/削弱/推翻</a:t>
            </a:r>
          </a:p>
        </p:txBody>
      </p:sp>
      <p:sp>
        <p:nvSpPr>
          <p:cNvPr id="18" name="p04-n-4">
            <a:extLst xmlns:a="http://schemas.openxmlformats.org/drawingml/2006/main">
              <a:ext uri="{FF2B5EF4-FFF2-40B4-BE49-F238E27FC236}">
                <a16:creationId xmlns:a16="http://schemas.microsoft.com/office/drawing/2014/main" id="{E27CB319-2379-4F0E-94A5-CAA9660D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695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04-step-4">
            <a:extLst xmlns:a="http://schemas.openxmlformats.org/drawingml/2006/main">
              <a:ext uri="{FF2B5EF4-FFF2-40B4-BE49-F238E27FC236}">
                <a16:creationId xmlns:a16="http://schemas.microsoft.com/office/drawing/2014/main" id="{8B84D225-439E-4E74-86FC-D9603017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466850"/>
            <a:ext cx="1619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回写/回退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Keep/Discard + 理由</a:t>
            </a:r>
          </a:p>
        </p:txBody>
      </p:sp>
      <p:sp>
        <p:nvSpPr>
          <p:cNvPr id="20" name="p04-return">
            <a:extLst xmlns:a="http://schemas.openxmlformats.org/drawingml/2006/main">
              <a:ext uri="{FF2B5EF4-FFF2-40B4-BE49-F238E27FC236}">
                <a16:creationId xmlns:a16="http://schemas.microsoft.com/office/drawing/2014/main" id="{DF64DA6F-6927-4A2D-8278-31324696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771650" y="2709863"/>
            <a:ext cx="857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4-return-label">
            <a:extLst xmlns:a="http://schemas.openxmlformats.org/drawingml/2006/main">
              <a:ext uri="{FF2B5EF4-FFF2-40B4-BE49-F238E27FC236}">
                <a16:creationId xmlns:a16="http://schemas.microsoft.com/office/drawing/2014/main" id="{1CCA212A-1A80-40FA-B8BD-AE7A65D6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52700"/>
            <a:ext cx="3181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回退后修订假设</a:t>
            </a:r>
          </a:p>
        </p:txBody>
      </p:sp>
      <p:sp>
        <p:nvSpPr>
          <p:cNvPr id="22" name="p04-c-0">
            <a:extLst xmlns:a="http://schemas.openxmlformats.org/drawingml/2006/main">
              <a:ext uri="{FF2B5EF4-FFF2-40B4-BE49-F238E27FC236}">
                <a16:creationId xmlns:a16="http://schemas.microsoft.com/office/drawing/2014/main" id="{E5C6C066-08AD-48C5-9C37-E572D971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1009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假设在运行前写明</a:t>
            </a:r>
          </a:p>
        </p:txBody>
      </p:sp>
      <p:sp>
        <p:nvSpPr>
          <p:cNvPr id="23" name="p04-c-1">
            <a:extLst xmlns:a="http://schemas.openxmlformats.org/drawingml/2006/main">
              <a:ext uri="{FF2B5EF4-FFF2-40B4-BE49-F238E27FC236}">
                <a16:creationId xmlns:a16="http://schemas.microsoft.com/office/drawing/2014/main" id="{4B694A47-A21A-43EE-91E8-E3EFD90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1009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度量口径在评价前固定</a:t>
            </a:r>
          </a:p>
        </p:txBody>
      </p:sp>
      <p:sp>
        <p:nvSpPr>
          <p:cNvPr id="24" name="p04-c-2">
            <a:extLst xmlns:a="http://schemas.openxmlformats.org/drawingml/2006/main">
              <a:ext uri="{FF2B5EF4-FFF2-40B4-BE49-F238E27FC236}">
                <a16:creationId xmlns:a16="http://schemas.microsoft.com/office/drawing/2014/main" id="{8CBDB6F7-E23D-4941-8EEF-C863AE7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1009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停止条件在循环启动前承诺</a:t>
            </a:r>
          </a:p>
        </p:txBody>
      </p:sp>
      <p:sp>
        <p:nvSpPr>
          <p:cNvPr id="25" name="p04-bottom">
            <a:extLst xmlns:a="http://schemas.openxmlformats.org/drawingml/2006/main">
              <a:ext uri="{FF2B5EF4-FFF2-40B4-BE49-F238E27FC236}">
                <a16:creationId xmlns:a16="http://schemas.microsoft.com/office/drawing/2014/main" id="{00F5E797-27A7-4C6D-8F11-2C02DA0B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578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每一步都留下工件；任何一步事后补写，循环就退化为结果导向搜索。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适用条件与不适用范围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eft-h">
            <a:extLst xmlns:a="http://schemas.openxmlformats.org/drawingml/2006/main">
              <a:ext uri="{FF2B5EF4-FFF2-40B4-BE49-F238E27FC236}">
                <a16:creationId xmlns:a16="http://schemas.microsoft.com/office/drawing/2014/main" id="{57923330-74F2-4119-8D38-DDB3886A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适用：动作可被操作化</a:t>
            </a:r>
          </a:p>
        </p:txBody>
      </p:sp>
      <p:sp>
        <p:nvSpPr>
          <p:cNvPr id="7" name="p05-l-0">
            <a:extLst xmlns:a="http://schemas.openxmlformats.org/drawingml/2006/main">
              <a:ext uri="{FF2B5EF4-FFF2-40B4-BE49-F238E27FC236}">
                <a16:creationId xmlns:a16="http://schemas.microsoft.com/office/drawing/2014/main" id="{C6FBE794-44B8-4CD3-B4C5-E710F0C6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同配置可重复运行</a:t>
            </a:r>
          </a:p>
        </p:txBody>
      </p:sp>
      <p:sp>
        <p:nvSpPr>
          <p:cNvPr id="8" name="p05-l-1">
            <a:extLst xmlns:a="http://schemas.openxmlformats.org/drawingml/2006/main">
              <a:ext uri="{FF2B5EF4-FFF2-40B4-BE49-F238E27FC236}">
                <a16:creationId xmlns:a16="http://schemas.microsoft.com/office/drawing/2014/main" id="{DE39430C-AB00-4790-BC7F-48C4ECAF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指标可按操作定义计算</a:t>
            </a:r>
          </a:p>
        </p:txBody>
      </p:sp>
      <p:sp>
        <p:nvSpPr>
          <p:cNvPr id="9" name="p05-l-2">
            <a:extLst xmlns:a="http://schemas.openxmlformats.org/drawingml/2006/main">
              <a:ext uri="{FF2B5EF4-FFF2-40B4-BE49-F238E27FC236}">
                <a16:creationId xmlns:a16="http://schemas.microsoft.com/office/drawing/2014/main" id="{A70A5825-4DC0-46A5-A895-40317FE7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预算和停止条件有界</a:t>
            </a:r>
          </a:p>
        </p:txBody>
      </p:sp>
      <p:sp>
        <p:nvSpPr>
          <p:cNvPr id="10" name="p05-l-3">
            <a:extLst xmlns:a="http://schemas.openxmlformats.org/drawingml/2006/main">
              <a:ext uri="{FF2B5EF4-FFF2-40B4-BE49-F238E27FC236}">
                <a16:creationId xmlns:a16="http://schemas.microsoft.com/office/drawing/2014/main" id="{0486B2C0-CE30-4842-9002-14BF662A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失败可识别且可追踪</a:t>
            </a:r>
          </a:p>
        </p:txBody>
      </p:sp>
      <p:sp>
        <p:nvSpPr>
          <p:cNvPr id="11" name="p05-right-h">
            <a:extLst xmlns:a="http://schemas.openxmlformats.org/drawingml/2006/main">
              <a:ext uri="{FF2B5EF4-FFF2-40B4-BE49-F238E27FC236}">
                <a16:creationId xmlns:a16="http://schemas.microsoft.com/office/drawing/2014/main" id="{56B850BB-17EF-48EA-8872-F67A4AC3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0096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不适用：判断无法压成指标</a:t>
            </a:r>
          </a:p>
        </p:txBody>
      </p:sp>
      <p:sp>
        <p:nvSpPr>
          <p:cNvPr id="12" name="p05-r-0">
            <a:extLst xmlns:a="http://schemas.openxmlformats.org/drawingml/2006/main">
              <a:ext uri="{FF2B5EF4-FFF2-40B4-BE49-F238E27FC236}">
                <a16:creationId xmlns:a16="http://schemas.microsoft.com/office/drawing/2014/main" id="{362641B2-F37C-42D5-9823-47AFC8F1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自动判断哪篇论文值得研究</a:t>
            </a:r>
          </a:p>
        </p:txBody>
      </p:sp>
      <p:sp>
        <p:nvSpPr>
          <p:cNvPr id="13" name="p05-r-1">
            <a:extLst xmlns:a="http://schemas.openxmlformats.org/drawingml/2006/main">
              <a:ext uri="{FF2B5EF4-FFF2-40B4-BE49-F238E27FC236}">
                <a16:creationId xmlns:a16="http://schemas.microsoft.com/office/drawing/2014/main" id="{BD64EB79-ABD1-43E4-BF74-277AB486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38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伦理审查或敏感数据决定</a:t>
            </a:r>
          </a:p>
        </p:txBody>
      </p:sp>
      <p:sp>
        <p:nvSpPr>
          <p:cNvPr id="14" name="p05-r-2">
            <a:extLst xmlns:a="http://schemas.openxmlformats.org/drawingml/2006/main">
              <a:ext uri="{FF2B5EF4-FFF2-40B4-BE49-F238E27FC236}">
                <a16:creationId xmlns:a16="http://schemas.microsoft.com/office/drawing/2014/main" id="{F655D45A-56B8-4500-BDDA-585A1A3F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62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指标必须由专家持续标注</a:t>
            </a:r>
          </a:p>
        </p:txBody>
      </p:sp>
      <p:sp>
        <p:nvSpPr>
          <p:cNvPr id="15" name="p05-r-3">
            <a:extLst xmlns:a="http://schemas.openxmlformats.org/drawingml/2006/main">
              <a:ext uri="{FF2B5EF4-FFF2-40B4-BE49-F238E27FC236}">
                <a16:creationId xmlns:a16="http://schemas.microsoft.com/office/drawing/2014/main" id="{24857DEE-F351-4956-9038-DF554959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运行不可控或不可复现</a:t>
            </a:r>
          </a:p>
        </p:txBody>
      </p:sp>
      <p:sp>
        <p:nvSpPr>
          <p:cNvPr id="16" name="p05-bottom">
            <a:extLst xmlns:a="http://schemas.openxmlformats.org/drawingml/2006/main">
              <a:ext uri="{FF2B5EF4-FFF2-40B4-BE49-F238E27FC236}">
                <a16:creationId xmlns:a16="http://schemas.microsoft.com/office/drawing/2014/main" id="{CC071B7A-2133-4E2E-BB1A-07E1E030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29200"/>
            <a:ext cx="8953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循环 ≠ 跑很多次：先确认动作可重复、指标可计算、边界可承诺。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固定指标：循环启动前写明，运行期间不可被工作流修改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">
            <a:extLst xmlns:a="http://schemas.openxmlformats.org/drawingml/2006/main">
              <a:ext uri="{FF2B5EF4-FFF2-40B4-BE49-F238E27FC236}">
                <a16:creationId xmlns:a16="http://schemas.microsoft.com/office/drawing/2014/main" id="{7F7700AA-2187-471D-BE04-6FC8DF93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485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指标定义文件｜v1.2</a:t>
            </a:r>
          </a:p>
        </p:txBody>
      </p:sp>
      <p:sp>
        <p:nvSpPr>
          <p:cNvPr id="7" name="p06-f-0">
            <a:extLst xmlns:a="http://schemas.openxmlformats.org/drawingml/2006/main">
              <a:ext uri="{FF2B5EF4-FFF2-40B4-BE49-F238E27FC236}">
                <a16:creationId xmlns:a16="http://schemas.microsoft.com/office/drawing/2014/main" id="{5A944CE0-34BE-4030-B683-D042446F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8" name="p06-v-0">
            <a:extLst xmlns:a="http://schemas.openxmlformats.org/drawingml/2006/main">
              <a:ext uri="{FF2B5EF4-FFF2-40B4-BE49-F238E27FC236}">
                <a16:creationId xmlns:a16="http://schemas.microsoft.com/office/drawing/2014/main" id="{C862AAE0-8A82-4C7A-B266-4C1B75F9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6573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限定条件字段缺失率</a:t>
            </a:r>
          </a:p>
        </p:txBody>
      </p:sp>
      <p:sp>
        <p:nvSpPr>
          <p:cNvPr id="9" name="p06-f-1">
            <a:extLst xmlns:a="http://schemas.openxmlformats.org/drawingml/2006/main">
              <a:ext uri="{FF2B5EF4-FFF2-40B4-BE49-F238E27FC236}">
                <a16:creationId xmlns:a16="http://schemas.microsoft.com/office/drawing/2014/main" id="{A5EC330B-273E-42AD-96A6-918CDBC0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分母</a:t>
            </a:r>
          </a:p>
        </p:txBody>
      </p:sp>
      <p:sp>
        <p:nvSpPr>
          <p:cNvPr id="10" name="p06-v-1">
            <a:extLst xmlns:a="http://schemas.openxmlformats.org/drawingml/2006/main">
              <a:ext uri="{FF2B5EF4-FFF2-40B4-BE49-F238E27FC236}">
                <a16:creationId xmlns:a16="http://schemas.microsoft.com/office/drawing/2014/main" id="{370106E8-B2FC-4061-A8A0-9CBE511E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2669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应有字段数</a:t>
            </a:r>
          </a:p>
        </p:txBody>
      </p:sp>
      <p:sp>
        <p:nvSpPr>
          <p:cNvPr id="11" name="p06-f-2">
            <a:extLst xmlns:a="http://schemas.openxmlformats.org/drawingml/2006/main">
              <a:ext uri="{FF2B5EF4-FFF2-40B4-BE49-F238E27FC236}">
                <a16:creationId xmlns:a16="http://schemas.microsoft.com/office/drawing/2014/main" id="{4769965F-88F7-4D68-83EC-BCD4882C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分子</a:t>
            </a:r>
          </a:p>
        </p:txBody>
      </p:sp>
      <p:sp>
        <p:nvSpPr>
          <p:cNvPr id="12" name="p06-v-2">
            <a:extLst xmlns:a="http://schemas.openxmlformats.org/drawingml/2006/main">
              <a:ext uri="{FF2B5EF4-FFF2-40B4-BE49-F238E27FC236}">
                <a16:creationId xmlns:a16="http://schemas.microsoft.com/office/drawing/2014/main" id="{A644FDDA-2BF2-41C4-92B6-946A4948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765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缺失字段数</a:t>
            </a:r>
          </a:p>
        </p:txBody>
      </p:sp>
      <p:sp>
        <p:nvSpPr>
          <p:cNvPr id="13" name="p06-f-3">
            <a:extLst xmlns:a="http://schemas.openxmlformats.org/drawingml/2006/main">
              <a:ext uri="{FF2B5EF4-FFF2-40B4-BE49-F238E27FC236}">
                <a16:creationId xmlns:a16="http://schemas.microsoft.com/office/drawing/2014/main" id="{37141B0D-E3B2-4816-8ACD-7C4041A4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缺失处理</a:t>
            </a:r>
          </a:p>
        </p:txBody>
      </p:sp>
      <p:sp>
        <p:nvSpPr>
          <p:cNvPr id="14" name="p06-v-3">
            <a:extLst xmlns:a="http://schemas.openxmlformats.org/drawingml/2006/main">
              <a:ext uri="{FF2B5EF4-FFF2-40B4-BE49-F238E27FC236}">
                <a16:creationId xmlns:a16="http://schemas.microsoft.com/office/drawing/2014/main" id="{45CEC07A-471B-4CC0-92B1-C15F4400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4861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缺失即计 1，不补全</a:t>
            </a:r>
          </a:p>
        </p:txBody>
      </p:sp>
      <p:sp>
        <p:nvSpPr>
          <p:cNvPr id="15" name="p06-f-4">
            <a:extLst xmlns:a="http://schemas.openxmlformats.org/drawingml/2006/main">
              <a:ext uri="{FF2B5EF4-FFF2-40B4-BE49-F238E27FC236}">
                <a16:creationId xmlns:a16="http://schemas.microsoft.com/office/drawing/2014/main" id="{3596A3D6-3CC7-4318-973D-0E1AE8AB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标注协议</a:t>
            </a:r>
          </a:p>
        </p:txBody>
      </p:sp>
      <p:sp>
        <p:nvSpPr>
          <p:cNvPr id="16" name="p06-v-4">
            <a:extLst xmlns:a="http://schemas.openxmlformats.org/drawingml/2006/main">
              <a:ext uri="{FF2B5EF4-FFF2-40B4-BE49-F238E27FC236}">
                <a16:creationId xmlns:a16="http://schemas.microsoft.com/office/drawing/2014/main" id="{238A8157-3337-49D9-B2F4-A649E47D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95750"/>
            <a:ext cx="3314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 版本 + 数据划分</a:t>
            </a:r>
          </a:p>
        </p:txBody>
      </p:sp>
      <p:sp>
        <p:nvSpPr>
          <p:cNvPr id="17" name="p06-right-h">
            <a:extLst xmlns:a="http://schemas.openxmlformats.org/drawingml/2006/main">
              <a:ext uri="{FF2B5EF4-FFF2-40B4-BE49-F238E27FC236}">
                <a16:creationId xmlns:a16="http://schemas.microsoft.com/office/drawing/2014/main" id="{EFE51A74-E3BC-429A-A23A-B9BE30EC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00965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评价协议漂移</a:t>
            </a:r>
          </a:p>
        </p:txBody>
      </p:sp>
      <p:sp>
        <p:nvSpPr>
          <p:cNvPr id="18" name="p06-d-0">
            <a:extLst xmlns:a="http://schemas.openxmlformats.org/drawingml/2006/main">
              <a:ext uri="{FF2B5EF4-FFF2-40B4-BE49-F238E27FC236}">
                <a16:creationId xmlns:a16="http://schemas.microsoft.com/office/drawing/2014/main" id="{B6685FD2-A801-4D52-BFB1-9D1AB8A6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24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结果不利后自动换指标</a:t>
            </a:r>
          </a:p>
        </p:txBody>
      </p:sp>
      <p:sp>
        <p:nvSpPr>
          <p:cNvPr id="19" name="p06-d-1">
            <a:extLst xmlns:a="http://schemas.openxmlformats.org/drawingml/2006/main">
              <a:ext uri="{FF2B5EF4-FFF2-40B4-BE49-F238E27FC236}">
                <a16:creationId xmlns:a16="http://schemas.microsoft.com/office/drawing/2014/main" id="{7D533326-3530-411E-AAB9-0BF8EC83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4724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运行中自动修订 rubric</a:t>
            </a:r>
          </a:p>
        </p:txBody>
      </p:sp>
      <p:sp>
        <p:nvSpPr>
          <p:cNvPr id="20" name="p06-d-2">
            <a:extLst xmlns:a="http://schemas.openxmlformats.org/drawingml/2006/main">
              <a:ext uri="{FF2B5EF4-FFF2-40B4-BE49-F238E27FC236}">
                <a16:creationId xmlns:a16="http://schemas.microsoft.com/office/drawing/2014/main" id="{5C86BBC7-D94C-4AF2-928D-A1C10E0F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57600"/>
            <a:ext cx="4724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数据缺失时自动缩小分母</a:t>
            </a:r>
          </a:p>
        </p:txBody>
      </p:sp>
      <p:sp>
        <p:nvSpPr>
          <p:cNvPr id="21" name="p06-check">
            <a:extLst xmlns:a="http://schemas.openxmlformats.org/drawingml/2006/main">
              <a:ext uri="{FF2B5EF4-FFF2-40B4-BE49-F238E27FC236}">
                <a16:creationId xmlns:a16="http://schemas.microsoft.com/office/drawing/2014/main" id="{C95E1916-A58B-40E2-B68C-8BEE1ED0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86300"/>
            <a:ext cx="5181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运行前后核对：指标定义文件 · rubric 版本 · 数据划分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预算与停止条件：三类触发器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budget-h">
            <a:extLst xmlns:a="http://schemas.openxmlformats.org/drawingml/2006/main">
              <a:ext uri="{FF2B5EF4-FFF2-40B4-BE49-F238E27FC236}">
                <a16:creationId xmlns:a16="http://schemas.microsoft.com/office/drawing/2014/main" id="{376A7589-7947-43A3-97B8-9E700526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90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预算是硬上限</a:t>
            </a:r>
          </a:p>
        </p:txBody>
      </p:sp>
      <p:sp>
        <p:nvSpPr>
          <p:cNvPr id="7" name="p07-bh-0">
            <a:extLst xmlns:a="http://schemas.openxmlformats.org/drawingml/2006/main">
              <a:ext uri="{FF2B5EF4-FFF2-40B4-BE49-F238E27FC236}">
                <a16:creationId xmlns:a16="http://schemas.microsoft.com/office/drawing/2014/main" id="{F204F010-9E25-4BE7-AC38-5FFB422A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时间</a:t>
            </a:r>
          </a:p>
        </p:txBody>
      </p:sp>
      <p:sp>
        <p:nvSpPr>
          <p:cNvPr id="8" name="p07-bd-0">
            <a:extLst xmlns:a="http://schemas.openxmlformats.org/drawingml/2006/main">
              <a:ext uri="{FF2B5EF4-FFF2-40B4-BE49-F238E27FC236}">
                <a16:creationId xmlns:a16="http://schemas.microsoft.com/office/drawing/2014/main" id="{08BA9ACF-95C8-48CD-AD4D-838C2B6F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总时长 / 单次上限</a:t>
            </a:r>
          </a:p>
        </p:txBody>
      </p:sp>
      <p:sp>
        <p:nvSpPr>
          <p:cNvPr id="9" name="p07-bh-1">
            <a:extLst xmlns:a="http://schemas.openxmlformats.org/drawingml/2006/main">
              <a:ext uri="{FF2B5EF4-FFF2-40B4-BE49-F238E27FC236}">
                <a16:creationId xmlns:a16="http://schemas.microsoft.com/office/drawing/2014/main" id="{E9AA2772-7390-4FB7-B20F-8F4614A0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10" name="p07-bd-1">
            <a:extLst xmlns:a="http://schemas.openxmlformats.org/drawingml/2006/main">
              <a:ext uri="{FF2B5EF4-FFF2-40B4-BE49-F238E27FC236}">
                <a16:creationId xmlns:a16="http://schemas.microsoft.com/office/drawing/2014/main" id="{8D73B967-3B37-4F47-BB9B-CAEDE005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token / 算力 / API</a:t>
            </a:r>
          </a:p>
        </p:txBody>
      </p:sp>
      <p:sp>
        <p:nvSpPr>
          <p:cNvPr id="11" name="p07-bh-2">
            <a:extLst xmlns:a="http://schemas.openxmlformats.org/drawingml/2006/main">
              <a:ext uri="{FF2B5EF4-FFF2-40B4-BE49-F238E27FC236}">
                <a16:creationId xmlns:a16="http://schemas.microsoft.com/office/drawing/2014/main" id="{A8345969-8004-41F9-96A3-46941E47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</p:txBody>
      </p:sp>
      <p:sp>
        <p:nvSpPr>
          <p:cNvPr id="12" name="p07-bd-2">
            <a:extLst xmlns:a="http://schemas.openxmlformats.org/drawingml/2006/main">
              <a:ext uri="{FF2B5EF4-FFF2-40B4-BE49-F238E27FC236}">
                <a16:creationId xmlns:a16="http://schemas.microsoft.com/office/drawing/2014/main" id="{3054952B-881C-4F6C-B6A8-6AC020A2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最大轮数 / 每组次数</a:t>
            </a:r>
          </a:p>
        </p:txBody>
      </p:sp>
      <p:sp>
        <p:nvSpPr>
          <p:cNvPr id="13" name="p07-bh-3">
            <a:extLst xmlns:a="http://schemas.openxmlformats.org/drawingml/2006/main">
              <a:ext uri="{FF2B5EF4-FFF2-40B4-BE49-F238E27FC236}">
                <a16:creationId xmlns:a16="http://schemas.microsoft.com/office/drawing/2014/main" id="{8C308EE5-3E9F-4FB8-9C4B-5B48159D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150"/>
            <a:ext cx="10287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</a:t>
            </a:r>
          </a:p>
        </p:txBody>
      </p:sp>
      <p:sp>
        <p:nvSpPr>
          <p:cNvPr id="14" name="p07-bd-3">
            <a:extLst xmlns:a="http://schemas.openxmlformats.org/drawingml/2006/main">
              <a:ext uri="{FF2B5EF4-FFF2-40B4-BE49-F238E27FC236}">
                <a16:creationId xmlns:a16="http://schemas.microsoft.com/office/drawing/2014/main" id="{3968B67B-96A0-4967-A4EC-B10B4EFC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581150"/>
            <a:ext cx="158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连续失败触发停止</a:t>
            </a:r>
          </a:p>
        </p:txBody>
      </p:sp>
      <p:sp>
        <p:nvSpPr>
          <p:cNvPr id="15" name="p07-stop-h">
            <a:extLst xmlns:a="http://schemas.openxmlformats.org/drawingml/2006/main">
              <a:ext uri="{FF2B5EF4-FFF2-40B4-BE49-F238E27FC236}">
                <a16:creationId xmlns:a16="http://schemas.microsoft.com/office/drawing/2014/main" id="{30CB7EBA-D3D0-4C15-9CF2-8F5FA3E3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停止条件三类触发器</a:t>
            </a:r>
          </a:p>
        </p:txBody>
      </p:sp>
      <p:sp>
        <p:nvSpPr>
          <p:cNvPr id="16" name="p07-sh-0">
            <a:extLst xmlns:a="http://schemas.openxmlformats.org/drawingml/2006/main">
              <a:ext uri="{FF2B5EF4-FFF2-40B4-BE49-F238E27FC236}">
                <a16:creationId xmlns:a16="http://schemas.microsoft.com/office/drawing/2014/main" id="{064FD537-F7ED-478A-AFEC-C9FA143E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正常</a:t>
            </a:r>
          </a:p>
        </p:txBody>
      </p:sp>
      <p:sp>
        <p:nvSpPr>
          <p:cNvPr id="17" name="p07-sd-0">
            <a:extLst xmlns:a="http://schemas.openxmlformats.org/drawingml/2006/main">
              <a:ext uri="{FF2B5EF4-FFF2-40B4-BE49-F238E27FC236}">
                <a16:creationId xmlns:a16="http://schemas.microsoft.com/office/drawing/2014/main" id="{D52483A6-ADC7-4B00-B892-6A5B27A8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57600"/>
            <a:ext cx="3333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达到预算或完成扫描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例：120 次跑完</a:t>
            </a:r>
          </a:p>
        </p:txBody>
      </p:sp>
      <p:sp>
        <p:nvSpPr>
          <p:cNvPr id="18" name="p07-sh-1">
            <a:extLst xmlns:a="http://schemas.openxmlformats.org/drawingml/2006/main">
              <a:ext uri="{FF2B5EF4-FFF2-40B4-BE49-F238E27FC236}">
                <a16:creationId xmlns:a16="http://schemas.microsoft.com/office/drawing/2014/main" id="{30649F8A-5E29-414A-AE75-EC413F00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协议性</a:t>
            </a:r>
          </a:p>
        </p:txBody>
      </p:sp>
      <p:sp>
        <p:nvSpPr>
          <p:cNvPr id="19" name="p07-sd-1">
            <a:extLst xmlns:a="http://schemas.openxmlformats.org/drawingml/2006/main">
              <a:ext uri="{FF2B5EF4-FFF2-40B4-BE49-F238E27FC236}">
                <a16:creationId xmlns:a16="http://schemas.microsoft.com/office/drawing/2014/main" id="{E9A9C48C-EDB3-4E5E-B164-3989D928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57600"/>
            <a:ext cx="3333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数据污染 / 配置错误 / 指标变化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例：rubric 版本变化</a:t>
            </a:r>
          </a:p>
        </p:txBody>
      </p:sp>
      <p:sp>
        <p:nvSpPr>
          <p:cNvPr id="20" name="p07-sh-2">
            <a:extLst xmlns:a="http://schemas.openxmlformats.org/drawingml/2006/main">
              <a:ext uri="{FF2B5EF4-FFF2-40B4-BE49-F238E27FC236}">
                <a16:creationId xmlns:a16="http://schemas.microsoft.com/office/drawing/2014/main" id="{D5EE3FEB-6CE4-4722-B6E8-1DA41F1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21" name="p07-sd-2">
            <a:extLst xmlns:a="http://schemas.openxmlformats.org/drawingml/2006/main">
              <a:ext uri="{FF2B5EF4-FFF2-40B4-BE49-F238E27FC236}">
                <a16:creationId xmlns:a16="http://schemas.microsoft.com/office/drawing/2014/main" id="{0B15FD57-778E-4CAC-8B08-B8EA966F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57600"/>
            <a:ext cx="3333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因结果不利或有利而停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例：隐性 p-hacking</a:t>
            </a:r>
          </a:p>
        </p:txBody>
      </p:sp>
      <p:sp>
        <p:nvSpPr>
          <p:cNvPr id="22" name="p07-bottom">
            <a:extLst xmlns:a="http://schemas.openxmlformats.org/drawingml/2006/main">
              <a:ext uri="{FF2B5EF4-FFF2-40B4-BE49-F238E27FC236}">
                <a16:creationId xmlns:a16="http://schemas.microsoft.com/office/drawing/2014/main" id="{5C8F0A50-6F36-497A-855E-65836D55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67300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预算触顶必须停；不能“再跑一次说不定就成了”。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回退机制：回到稳定配置，不是“上一次看起来不错”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left-h">
            <a:extLst xmlns:a="http://schemas.openxmlformats.org/drawingml/2006/main">
              <a:ext uri="{FF2B5EF4-FFF2-40B4-BE49-F238E27FC236}">
                <a16:creationId xmlns:a16="http://schemas.microsoft.com/office/drawing/2014/main" id="{3689E227-D2D0-4F1F-951D-1C5C7EFD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回退到</a:t>
            </a:r>
          </a:p>
        </p:txBody>
      </p:sp>
      <p:sp>
        <p:nvSpPr>
          <p:cNvPr id="7" name="p08-l-0">
            <a:extLst xmlns:a="http://schemas.openxmlformats.org/drawingml/2006/main">
              <a:ext uri="{FF2B5EF4-FFF2-40B4-BE49-F238E27FC236}">
                <a16:creationId xmlns:a16="http://schemas.microsoft.com/office/drawing/2014/main" id="{2507BA25-FEE4-47BB-BA12-C5E1EF3D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最近一次通过人工审核的稳定配置</a:t>
            </a:r>
          </a:p>
        </p:txBody>
      </p:sp>
      <p:sp>
        <p:nvSpPr>
          <p:cNvPr id="8" name="p08-l-1">
            <a:extLst xmlns:a="http://schemas.openxmlformats.org/drawingml/2006/main">
              <a:ext uri="{FF2B5EF4-FFF2-40B4-BE49-F238E27FC236}">
                <a16:creationId xmlns:a16="http://schemas.microsoft.com/office/drawing/2014/main" id="{A55F56A7-8EB1-4025-B840-B715BEB2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保留已运行的失败迭代</a:t>
            </a:r>
          </a:p>
        </p:txBody>
      </p:sp>
      <p:sp>
        <p:nvSpPr>
          <p:cNvPr id="9" name="p08-l-2">
            <a:extLst xmlns:a="http://schemas.openxmlformats.org/drawingml/2006/main">
              <a:ext uri="{FF2B5EF4-FFF2-40B4-BE49-F238E27FC236}">
                <a16:creationId xmlns:a16="http://schemas.microsoft.com/office/drawing/2014/main" id="{CCE2D82E-0632-4B17-9728-D30A9F8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触发假设、判断或预算修订</a:t>
            </a:r>
          </a:p>
        </p:txBody>
      </p:sp>
      <p:sp>
        <p:nvSpPr>
          <p:cNvPr id="10" name="p08-l-3">
            <a:extLst xmlns:a="http://schemas.openxmlformats.org/drawingml/2006/main">
              <a:ext uri="{FF2B5EF4-FFF2-40B4-BE49-F238E27FC236}">
                <a16:creationId xmlns:a16="http://schemas.microsoft.com/office/drawing/2014/main" id="{CADDCB25-5960-460D-98B1-814059E7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默认需要人工确认</a:t>
            </a:r>
          </a:p>
        </p:txBody>
      </p:sp>
      <p:sp>
        <p:nvSpPr>
          <p:cNvPr id="11" name="p08-right-h">
            <a:extLst xmlns:a="http://schemas.openxmlformats.org/drawingml/2006/main">
              <a:ext uri="{FF2B5EF4-FFF2-40B4-BE49-F238E27FC236}">
                <a16:creationId xmlns:a16="http://schemas.microsoft.com/office/drawing/2014/main" id="{EA9303C6-DA12-4AC9-A75C-0BF7B46C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0287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回退不是</a:t>
            </a:r>
          </a:p>
        </p:txBody>
      </p:sp>
      <p:sp>
        <p:nvSpPr>
          <p:cNvPr id="12" name="p08-r-0">
            <a:extLst xmlns:a="http://schemas.openxmlformats.org/drawingml/2006/main">
              <a:ext uri="{FF2B5EF4-FFF2-40B4-BE49-F238E27FC236}">
                <a16:creationId xmlns:a16="http://schemas.microsoft.com/office/drawing/2014/main" id="{1D789B56-DC21-42D3-B1EA-B5B3DE89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回到上一次看起来不错</a:t>
            </a:r>
          </a:p>
        </p:txBody>
      </p:sp>
      <p:sp>
        <p:nvSpPr>
          <p:cNvPr id="13" name="p08-r-1">
            <a:extLst xmlns:a="http://schemas.openxmlformats.org/drawingml/2006/main">
              <a:ext uri="{FF2B5EF4-FFF2-40B4-BE49-F238E27FC236}">
                <a16:creationId xmlns:a16="http://schemas.microsoft.com/office/drawing/2014/main" id="{AF9F3E74-78EA-41DB-99A6-7303B8F8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删除失败再重跑</a:t>
            </a:r>
          </a:p>
        </p:txBody>
      </p:sp>
      <p:sp>
        <p:nvSpPr>
          <p:cNvPr id="14" name="p08-r-2">
            <a:extLst xmlns:a="http://schemas.openxmlformats.org/drawingml/2006/main">
              <a:ext uri="{FF2B5EF4-FFF2-40B4-BE49-F238E27FC236}">
                <a16:creationId xmlns:a16="http://schemas.microsoft.com/office/drawing/2014/main" id="{B21DC66A-D845-42C8-9F11-83A0993F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004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一直重跑到成功</a:t>
            </a:r>
          </a:p>
        </p:txBody>
      </p:sp>
      <p:sp>
        <p:nvSpPr>
          <p:cNvPr id="15" name="p08-r-3">
            <a:extLst xmlns:a="http://schemas.openxmlformats.org/drawingml/2006/main">
              <a:ext uri="{FF2B5EF4-FFF2-40B4-BE49-F238E27FC236}">
                <a16:creationId xmlns:a16="http://schemas.microsoft.com/office/drawing/2014/main" id="{3C1EF135-AFCB-455E-A030-FF59C6C6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724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不修订任何研究判断</a:t>
            </a:r>
          </a:p>
        </p:txBody>
      </p:sp>
      <p:sp>
        <p:nvSpPr>
          <p:cNvPr id="16" name="p08-bottom">
            <a:extLst xmlns:a="http://schemas.openxmlformats.org/drawingml/2006/main">
              <a:ext uri="{FF2B5EF4-FFF2-40B4-BE49-F238E27FC236}">
                <a16:creationId xmlns:a16="http://schemas.microsoft.com/office/drawing/2014/main" id="{DC6DD30E-E577-4BA8-95EF-B80E9ACE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29200"/>
            <a:ext cx="8572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回退承认本轮未达目标，并把系统带回上一个可审查状态。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反例：指标篡改（评价协议漂移）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case">
            <a:extLst xmlns:a="http://schemas.openxmlformats.org/drawingml/2006/main">
              <a:ext uri="{FF2B5EF4-FFF2-40B4-BE49-F238E27FC236}">
                <a16:creationId xmlns:a16="http://schemas.microsoft.com/office/drawing/2014/main" id="{3EB09E5E-C5F2-41C1-981E-B1AE7D96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课程教学反例｜虚构日志，不是实验结果</a:t>
            </a:r>
          </a:p>
        </p:txBody>
      </p:sp>
      <p:sp>
        <p:nvSpPr>
          <p:cNvPr id="7" name="p09-log">
            <a:extLst xmlns:a="http://schemas.openxmlformats.org/drawingml/2006/main">
              <a:ext uri="{FF2B5EF4-FFF2-40B4-BE49-F238E27FC236}">
                <a16:creationId xmlns:a16="http://schemas.microsoft.com/office/drawing/2014/main" id="{04AF897B-CCD9-4489-B32E-FB49B445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6762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228600" tIns="171450" rIns="228600" bIns="171450" anchor="ctr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迭代 3：限定条件遗漏率 0.42，未达阈值。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        自动切换到“字段覆盖率”指标。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迭代 3′：字段覆盖率 0.85，达到阈值，Keep。</a:t>
            </a:r>
          </a:p>
        </p:txBody>
      </p:sp>
      <p:sp>
        <p:nvSpPr>
          <p:cNvPr id="8" name="p09-problem">
            <a:extLst xmlns:a="http://schemas.openxmlformats.org/drawingml/2006/main">
              <a:ext uri="{FF2B5EF4-FFF2-40B4-BE49-F238E27FC236}">
                <a16:creationId xmlns:a16="http://schemas.microsoft.com/office/drawing/2014/main" id="{2D177E9E-9BD5-4439-9E0F-4DA0851B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0975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问题定位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结果不利后换指标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＝ 评价协议漂移</a:t>
            </a:r>
          </a:p>
        </p:txBody>
      </p:sp>
      <p:sp>
        <p:nvSpPr>
          <p:cNvPr id="9" name="p09-fix-h">
            <a:extLst xmlns:a="http://schemas.openxmlformats.org/drawingml/2006/main">
              <a:ext uri="{FF2B5EF4-FFF2-40B4-BE49-F238E27FC236}">
                <a16:creationId xmlns:a16="http://schemas.microsoft.com/office/drawing/2014/main" id="{349A4D0B-6C39-4FE0-9EB6-1068FD65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71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正确改写</a:t>
            </a:r>
          </a:p>
        </p:txBody>
      </p:sp>
      <p:sp>
        <p:nvSpPr>
          <p:cNvPr id="10" name="p09-fix">
            <a:extLst xmlns:a="http://schemas.openxmlformats.org/drawingml/2006/main">
              <a:ext uri="{FF2B5EF4-FFF2-40B4-BE49-F238E27FC236}">
                <a16:creationId xmlns:a16="http://schemas.microsoft.com/office/drawing/2014/main" id="{0A1D4326-F2E7-4548-A414-2E297F9F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48100"/>
            <a:ext cx="8591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启动前固定指标定义文件并版本化；结果不利 → Discard + 记录 + 回退，不换指标。</a:t>
            </a:r>
          </a:p>
        </p:txBody>
      </p:sp>
      <p:sp>
        <p:nvSpPr>
          <p:cNvPr id="11" name="p09-question">
            <a:extLst xmlns:a="http://schemas.openxmlformats.org/drawingml/2006/main">
              <a:ext uri="{FF2B5EF4-FFF2-40B4-BE49-F238E27FC236}">
                <a16:creationId xmlns:a16="http://schemas.microsoft.com/office/drawing/2014/main" id="{84018E3C-AF2A-4190-9EFE-4D0209FE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53000"/>
            <a:ext cx="800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只看最终 Keep 决策，你还能发现这次篡改吗？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演示：贯穿案例改写为受限循环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ase">
            <a:extLst xmlns:a="http://schemas.openxmlformats.org/drawingml/2006/main">
              <a:ext uri="{FF2B5EF4-FFF2-40B4-BE49-F238E27FC236}">
                <a16:creationId xmlns:a16="http://schemas.microsoft.com/office/drawing/2014/main" id="{28D9FF4F-85F3-48FA-B6F7-461A0002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4400"/>
            <a:ext cx="10934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课程教学案例｜阅读卡摘要；参数、commit 与 rubric 版本均为虚构</a:t>
            </a:r>
          </a:p>
        </p:txBody>
      </p:sp>
      <p:sp>
        <p:nvSpPr>
          <p:cNvPr id="7" name="p10-ch-0">
            <a:extLst xmlns:a="http://schemas.openxmlformats.org/drawingml/2006/main">
              <a:ext uri="{FF2B5EF4-FFF2-40B4-BE49-F238E27FC236}">
                <a16:creationId xmlns:a16="http://schemas.microsoft.com/office/drawing/2014/main" id="{919511C5-1E5C-4CC0-A288-FDCA6A3A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固定指标</a:t>
            </a:r>
          </a:p>
        </p:txBody>
      </p:sp>
      <p:sp>
        <p:nvSpPr>
          <p:cNvPr id="8" name="p10-cd-0">
            <a:extLst xmlns:a="http://schemas.openxmlformats.org/drawingml/2006/main">
              <a:ext uri="{FF2B5EF4-FFF2-40B4-BE49-F238E27FC236}">
                <a16:creationId xmlns:a16="http://schemas.microsoft.com/office/drawing/2014/main" id="{D7D5C061-1117-4F49-8179-F67E7FF2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遗漏率 = 缺失字段数 / 5</a:t>
            </a:r>
          </a:p>
        </p:txBody>
      </p:sp>
      <p:sp>
        <p:nvSpPr>
          <p:cNvPr id="9" name="p10-ch-1">
            <a:extLst xmlns:a="http://schemas.openxmlformats.org/drawingml/2006/main">
              <a:ext uri="{FF2B5EF4-FFF2-40B4-BE49-F238E27FC236}">
                <a16:creationId xmlns:a16="http://schemas.microsoft.com/office/drawing/2014/main" id="{CE0A5C81-7E3B-4D09-A181-357A1938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</a:t>
            </a:r>
          </a:p>
        </p:txBody>
      </p:sp>
      <p:sp>
        <p:nvSpPr>
          <p:cNvPr id="10" name="p10-cd-1">
            <a:extLst xmlns:a="http://schemas.openxmlformats.org/drawingml/2006/main">
              <a:ext uri="{FF2B5EF4-FFF2-40B4-BE49-F238E27FC236}">
                <a16:creationId xmlns:a16="http://schemas.microsoft.com/office/drawing/2014/main" id="{6927DC39-39B1-46B6-A9E7-476A55CE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 × 2 组 × 3 种子；60 分钟</a:t>
            </a:r>
          </a:p>
        </p:txBody>
      </p:sp>
      <p:sp>
        <p:nvSpPr>
          <p:cNvPr id="11" name="p10-ch-2">
            <a:extLst xmlns:a="http://schemas.openxmlformats.org/drawingml/2006/main">
              <a:ext uri="{FF2B5EF4-FFF2-40B4-BE49-F238E27FC236}">
                <a16:creationId xmlns:a16="http://schemas.microsoft.com/office/drawing/2014/main" id="{B3D218FA-12D4-406A-B8EB-962A1CDC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12" name="p10-cd-2">
            <a:extLst xmlns:a="http://schemas.openxmlformats.org/drawingml/2006/main">
              <a:ext uri="{FF2B5EF4-FFF2-40B4-BE49-F238E27FC236}">
                <a16:creationId xmlns:a16="http://schemas.microsoft.com/office/drawing/2014/main" id="{817D6315-42E8-44F1-ABDE-989F22DC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正常 / 协议性 / 禁止</a:t>
            </a:r>
          </a:p>
        </p:txBody>
      </p:sp>
      <p:sp>
        <p:nvSpPr>
          <p:cNvPr id="13" name="p10-ch-3">
            <a:extLst xmlns:a="http://schemas.openxmlformats.org/drawingml/2006/main">
              <a:ext uri="{FF2B5EF4-FFF2-40B4-BE49-F238E27FC236}">
                <a16:creationId xmlns:a16="http://schemas.microsoft.com/office/drawing/2014/main" id="{94B4FBEB-589B-49D3-821C-604210F7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24000"/>
            <a:ext cx="1123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14" name="p10-cd-3">
            <a:extLst xmlns:a="http://schemas.openxmlformats.org/drawingml/2006/main">
              <a:ext uri="{FF2B5EF4-FFF2-40B4-BE49-F238E27FC236}">
                <a16:creationId xmlns:a16="http://schemas.microsoft.com/office/drawing/2014/main" id="{FBE49C6E-83C8-4798-81EC-897460EC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524000"/>
            <a:ext cx="161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稳定 commit + rubric；失败保留</a:t>
            </a:r>
          </a:p>
        </p:txBody>
      </p:sp>
      <p:sp>
        <p:nvSpPr>
          <p:cNvPr id="15" name="p10-line-0">
            <a:extLst xmlns:a="http://schemas.openxmlformats.org/drawingml/2006/main">
              <a:ext uri="{FF2B5EF4-FFF2-40B4-BE49-F238E27FC236}">
                <a16:creationId xmlns:a16="http://schemas.microsoft.com/office/drawing/2014/main" id="{DA0FAA65-5C4D-4052-BE36-44B6E221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52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0-line-1">
            <a:extLst xmlns:a="http://schemas.openxmlformats.org/drawingml/2006/main">
              <a:ext uri="{FF2B5EF4-FFF2-40B4-BE49-F238E27FC236}">
                <a16:creationId xmlns:a16="http://schemas.microsoft.com/office/drawing/2014/main" id="{A2B67D7A-E1F7-46C9-99A1-C939E4EE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38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0-line-2">
            <a:extLst xmlns:a="http://schemas.openxmlformats.org/drawingml/2006/main">
              <a:ext uri="{FF2B5EF4-FFF2-40B4-BE49-F238E27FC236}">
                <a16:creationId xmlns:a16="http://schemas.microsoft.com/office/drawing/2014/main" id="{C4D1F16C-1BC3-4D17-8284-7D4A9AE1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10-line-3">
            <a:extLst xmlns:a="http://schemas.openxmlformats.org/drawingml/2006/main">
              <a:ext uri="{FF2B5EF4-FFF2-40B4-BE49-F238E27FC236}">
                <a16:creationId xmlns:a16="http://schemas.microsoft.com/office/drawing/2014/main" id="{B742EC9C-7E2D-47DD-9024-E592A7B4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0650" y="314325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0-n-0">
            <a:extLst xmlns:a="http://schemas.openxmlformats.org/drawingml/2006/main">
              <a:ext uri="{FF2B5EF4-FFF2-40B4-BE49-F238E27FC236}">
                <a16:creationId xmlns:a16="http://schemas.microsoft.com/office/drawing/2014/main" id="{5B139FB6-A7B4-48A2-A881-F26B62EB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p10-s-0">
            <a:extLst xmlns:a="http://schemas.openxmlformats.org/drawingml/2006/main">
              <a:ext uri="{FF2B5EF4-FFF2-40B4-BE49-F238E27FC236}">
                <a16:creationId xmlns:a16="http://schemas.microsoft.com/office/drawing/2014/main" id="{9AFA718D-BAFC-437B-8011-205B902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H1 子项</a:t>
            </a:r>
          </a:p>
        </p:txBody>
      </p:sp>
      <p:sp>
        <p:nvSpPr>
          <p:cNvPr id="21" name="p10-n-1">
            <a:extLst xmlns:a="http://schemas.openxmlformats.org/drawingml/2006/main">
              <a:ext uri="{FF2B5EF4-FFF2-40B4-BE49-F238E27FC236}">
                <a16:creationId xmlns:a16="http://schemas.microsoft.com/office/drawing/2014/main" id="{B8BBC75F-B911-4813-9231-C607ADAC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" name="p10-s-1">
            <a:extLst xmlns:a="http://schemas.openxmlformats.org/drawingml/2006/main">
              <a:ext uri="{FF2B5EF4-FFF2-40B4-BE49-F238E27FC236}">
                <a16:creationId xmlns:a16="http://schemas.microsoft.com/office/drawing/2014/main" id="{C2CE4E69-5B05-4485-827D-1A39DAE1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run.log</a:t>
            </a:r>
          </a:p>
        </p:txBody>
      </p:sp>
      <p:sp>
        <p:nvSpPr>
          <p:cNvPr id="23" name="p10-n-2">
            <a:extLst xmlns:a="http://schemas.openxmlformats.org/drawingml/2006/main">
              <a:ext uri="{FF2B5EF4-FFF2-40B4-BE49-F238E27FC236}">
                <a16:creationId xmlns:a16="http://schemas.microsoft.com/office/drawing/2014/main" id="{699AA792-069F-4F6D-8790-C05C89DC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p10-s-2">
            <a:extLst xmlns:a="http://schemas.openxmlformats.org/drawingml/2006/main">
              <a:ext uri="{FF2B5EF4-FFF2-40B4-BE49-F238E27FC236}">
                <a16:creationId xmlns:a16="http://schemas.microsoft.com/office/drawing/2014/main" id="{7063C85B-49E8-4630-BBCE-AA92B2C4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度量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missing_rate</a:t>
            </a:r>
          </a:p>
        </p:txBody>
      </p:sp>
      <p:sp>
        <p:nvSpPr>
          <p:cNvPr id="25" name="p10-n-3">
            <a:extLst xmlns:a="http://schemas.openxmlformats.org/drawingml/2006/main">
              <a:ext uri="{FF2B5EF4-FFF2-40B4-BE49-F238E27FC236}">
                <a16:creationId xmlns:a16="http://schemas.microsoft.com/office/drawing/2014/main" id="{7112212B-E052-48CD-A1FD-ED6EB2EE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p10-s-3">
            <a:extLst xmlns:a="http://schemas.openxmlformats.org/drawingml/2006/main">
              <a:ext uri="{FF2B5EF4-FFF2-40B4-BE49-F238E27FC236}">
                <a16:creationId xmlns:a16="http://schemas.microsoft.com/office/drawing/2014/main" id="{2AFC3CB9-D5BD-4254-9DBE-FB05A2B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支持/削弱</a:t>
            </a:r>
          </a:p>
        </p:txBody>
      </p:sp>
      <p:sp>
        <p:nvSpPr>
          <p:cNvPr id="27" name="p10-n-4">
            <a:extLst xmlns:a="http://schemas.openxmlformats.org/drawingml/2006/main">
              <a:ext uri="{FF2B5EF4-FFF2-40B4-BE49-F238E27FC236}">
                <a16:creationId xmlns:a16="http://schemas.microsoft.com/office/drawing/2014/main" id="{50F96ADA-4874-4D51-A67E-232CDA87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895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8" name="p10-s-4">
            <a:extLst xmlns:a="http://schemas.openxmlformats.org/drawingml/2006/main">
              <a:ext uri="{FF2B5EF4-FFF2-40B4-BE49-F238E27FC236}">
                <a16:creationId xmlns:a16="http://schemas.microsoft.com/office/drawing/2014/main" id="{20B3080F-9285-4069-A7CE-2BFD3C03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705100"/>
            <a:ext cx="16002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回写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Keep/Discard</a:t>
            </a:r>
          </a:p>
        </p:txBody>
      </p:sp>
      <p:sp>
        <p:nvSpPr>
          <p:cNvPr id="29" name="p10-audit">
            <a:extLst xmlns:a="http://schemas.openxmlformats.org/drawingml/2006/main">
              <a:ext uri="{FF2B5EF4-FFF2-40B4-BE49-F238E27FC236}">
                <a16:creationId xmlns:a16="http://schemas.microsoft.com/office/drawing/2014/main" id="{5B42EF57-7C48-41A2-AEBA-982E9B66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971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人工审核点｜启动前 · 协议性停止时 · 回退时 · 结束后 · 判断修订时</a:t>
            </a:r>
          </a:p>
        </p:txBody>
      </p:sp>
      <p:sp>
        <p:nvSpPr>
          <p:cNvPr id="30" name="p10-bottom">
            <a:extLst xmlns:a="http://schemas.openxmlformats.org/drawingml/2006/main">
              <a:ext uri="{FF2B5EF4-FFF2-40B4-BE49-F238E27FC236}">
                <a16:creationId xmlns:a16="http://schemas.microsoft.com/office/drawing/2014/main" id="{FD602A3E-ACB9-47C8-9388-A418EE37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四约束负责限制搜索；五步负责留下 trace；人工审核负责承担判断。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失败保留的最低字段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h-0">
            <a:extLst xmlns:a="http://schemas.openxmlformats.org/drawingml/2006/main">
              <a:ext uri="{FF2B5EF4-FFF2-40B4-BE49-F238E27FC236}">
                <a16:creationId xmlns:a16="http://schemas.microsoft.com/office/drawing/2014/main" id="{FA5BBA27-5906-4A90-83FB-FD1A4566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6680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7" name="p11-h-1">
            <a:extLst xmlns:a="http://schemas.openxmlformats.org/drawingml/2006/main">
              <a:ext uri="{FF2B5EF4-FFF2-40B4-BE49-F238E27FC236}">
                <a16:creationId xmlns:a16="http://schemas.microsoft.com/office/drawing/2014/main" id="{5EBC883B-ECBC-4961-A266-0C7FBE83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66800"/>
            <a:ext cx="790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必须记录</a:t>
            </a:r>
          </a:p>
        </p:txBody>
      </p:sp>
      <p:sp>
        <p:nvSpPr>
          <p:cNvPr id="8" name="p11-r0-0">
            <a:extLst xmlns:a="http://schemas.openxmlformats.org/drawingml/2006/main">
              <a:ext uri="{FF2B5EF4-FFF2-40B4-BE49-F238E27FC236}">
                <a16:creationId xmlns:a16="http://schemas.microsoft.com/office/drawing/2014/main" id="{DC9E75DE-F97A-43BC-B84E-05D21025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迭代 ID</a:t>
            </a:r>
          </a:p>
        </p:txBody>
      </p:sp>
      <p:sp>
        <p:nvSpPr>
          <p:cNvPr id="9" name="p11-r0-1">
            <a:extLst xmlns:a="http://schemas.openxmlformats.org/drawingml/2006/main">
              <a:ext uri="{FF2B5EF4-FFF2-40B4-BE49-F238E27FC236}">
                <a16:creationId xmlns:a16="http://schemas.microsoft.com/office/drawing/2014/main" id="{E20C1B27-75DB-4FA1-91DF-F4F1BF8F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8590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与运行日志一一对应</a:t>
            </a:r>
          </a:p>
        </p:txBody>
      </p:sp>
      <p:sp>
        <p:nvSpPr>
          <p:cNvPr id="10" name="p11-r1-0">
            <a:extLst xmlns:a="http://schemas.openxmlformats.org/drawingml/2006/main">
              <a:ext uri="{FF2B5EF4-FFF2-40B4-BE49-F238E27FC236}">
                <a16:creationId xmlns:a16="http://schemas.microsoft.com/office/drawing/2014/main" id="{531DC93F-8DF4-4CA9-A642-DC6E09C4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9775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假设对应</a:t>
            </a:r>
          </a:p>
        </p:txBody>
      </p:sp>
      <p:sp>
        <p:nvSpPr>
          <p:cNvPr id="11" name="p11-r1-1">
            <a:extLst xmlns:a="http://schemas.openxmlformats.org/drawingml/2006/main">
              <a:ext uri="{FF2B5EF4-FFF2-40B4-BE49-F238E27FC236}">
                <a16:creationId xmlns:a16="http://schemas.microsoft.com/office/drawing/2014/main" id="{D0DD1C66-CE68-4C93-B2E9-AAAD6BDD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9775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本次验证的子假设</a:t>
            </a:r>
          </a:p>
        </p:txBody>
      </p:sp>
      <p:sp>
        <p:nvSpPr>
          <p:cNvPr id="12" name="p11-r2-0">
            <a:extLst xmlns:a="http://schemas.openxmlformats.org/drawingml/2006/main">
              <a:ext uri="{FF2B5EF4-FFF2-40B4-BE49-F238E27FC236}">
                <a16:creationId xmlns:a16="http://schemas.microsoft.com/office/drawing/2014/main" id="{7EEF8B3B-0C1B-4C08-8C09-2BF2D9C4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失败类型</a:t>
            </a:r>
          </a:p>
        </p:txBody>
      </p:sp>
      <p:sp>
        <p:nvSpPr>
          <p:cNvPr id="13" name="p11-r2-1">
            <a:extLst xmlns:a="http://schemas.openxmlformats.org/drawingml/2006/main">
              <a:ext uri="{FF2B5EF4-FFF2-40B4-BE49-F238E27FC236}">
                <a16:creationId xmlns:a16="http://schemas.microsoft.com/office/drawing/2014/main" id="{7092D9C9-6B89-414B-A363-384D0733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3365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协议 / 污染 / 超时 / 不支持 / 越权</a:t>
            </a:r>
          </a:p>
        </p:txBody>
      </p:sp>
      <p:sp>
        <p:nvSpPr>
          <p:cNvPr id="14" name="p11-r3-0">
            <a:extLst xmlns:a="http://schemas.openxmlformats.org/drawingml/2006/main">
              <a:ext uri="{FF2B5EF4-FFF2-40B4-BE49-F238E27FC236}">
                <a16:creationId xmlns:a16="http://schemas.microsoft.com/office/drawing/2014/main" id="{D17E1D28-D04C-4393-AC9E-C55F598B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57525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15" name="p11-r3-1">
            <a:extLst xmlns:a="http://schemas.openxmlformats.org/drawingml/2006/main">
              <a:ext uri="{FF2B5EF4-FFF2-40B4-BE49-F238E27FC236}">
                <a16:creationId xmlns:a16="http://schemas.microsoft.com/office/drawing/2014/main" id="{9049ACBE-860E-4BBE-892F-2C6CB705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57525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正常 / 协议性 / 禁止</a:t>
            </a:r>
          </a:p>
        </p:txBody>
      </p:sp>
      <p:sp>
        <p:nvSpPr>
          <p:cNvPr id="16" name="p11-r4-0">
            <a:extLst xmlns:a="http://schemas.openxmlformats.org/drawingml/2006/main">
              <a:ext uri="{FF2B5EF4-FFF2-40B4-BE49-F238E27FC236}">
                <a16:creationId xmlns:a16="http://schemas.microsoft.com/office/drawing/2014/main" id="{C67F313F-7DC1-488D-B10A-26CB6638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回退目标</a:t>
            </a:r>
          </a:p>
        </p:txBody>
      </p:sp>
      <p:sp>
        <p:nvSpPr>
          <p:cNvPr id="17" name="p11-r4-1">
            <a:extLst xmlns:a="http://schemas.openxmlformats.org/drawingml/2006/main">
              <a:ext uri="{FF2B5EF4-FFF2-40B4-BE49-F238E27FC236}">
                <a16:creationId xmlns:a16="http://schemas.microsoft.com/office/drawing/2014/main" id="{D170B3DA-7CC2-44B5-96D7-F72A6ED5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上一稳定配置</a:t>
            </a:r>
          </a:p>
        </p:txBody>
      </p:sp>
      <p:sp>
        <p:nvSpPr>
          <p:cNvPr id="18" name="p11-r5-0">
            <a:extLst xmlns:a="http://schemas.openxmlformats.org/drawingml/2006/main">
              <a:ext uri="{FF2B5EF4-FFF2-40B4-BE49-F238E27FC236}">
                <a16:creationId xmlns:a16="http://schemas.microsoft.com/office/drawing/2014/main" id="{ED1D8453-64DB-408C-B0B6-DA2E5147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9" name="p11-r5-1">
            <a:extLst xmlns:a="http://schemas.openxmlformats.org/drawingml/2006/main">
              <a:ext uri="{FF2B5EF4-FFF2-40B4-BE49-F238E27FC236}">
                <a16:creationId xmlns:a16="http://schemas.microsoft.com/office/drawing/2014/main" id="{FE6B8D73-3385-4C42-8822-D24236A6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05275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是/否 + 审核人</a:t>
            </a:r>
          </a:p>
        </p:txBody>
      </p:sp>
      <p:sp>
        <p:nvSpPr>
          <p:cNvPr id="20" name="p11-r6-0">
            <a:extLst xmlns:a="http://schemas.openxmlformats.org/drawingml/2006/main">
              <a:ext uri="{FF2B5EF4-FFF2-40B4-BE49-F238E27FC236}">
                <a16:creationId xmlns:a16="http://schemas.microsoft.com/office/drawing/2014/main" id="{3441B251-F27B-4023-96EC-E6B13146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29150"/>
            <a:ext cx="2571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Keep/Discard</a:t>
            </a:r>
          </a:p>
        </p:txBody>
      </p:sp>
      <p:sp>
        <p:nvSpPr>
          <p:cNvPr id="21" name="p11-r6-1">
            <a:extLst xmlns:a="http://schemas.openxmlformats.org/drawingml/2006/main">
              <a:ext uri="{FF2B5EF4-FFF2-40B4-BE49-F238E27FC236}">
                <a16:creationId xmlns:a16="http://schemas.microsoft.com/office/drawing/2014/main" id="{2F4514DC-1D63-4C59-926A-60F651B8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29150"/>
            <a:ext cx="7905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Discard，但记录保留</a:t>
            </a:r>
          </a:p>
        </p:txBody>
      </p:sp>
      <p:sp>
        <p:nvSpPr>
          <p:cNvPr id="22" name="p11-eq">
            <a:extLst xmlns:a="http://schemas.openxmlformats.org/drawingml/2006/main">
              <a:ext uri="{FF2B5EF4-FFF2-40B4-BE49-F238E27FC236}">
                <a16:creationId xmlns:a16="http://schemas.microsoft.com/office/drawing/2014/main" id="{12288A3A-9AA7-4E0E-AD30-BC054310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57800"/>
            <a:ext cx="8572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失败迭代数  +  成功迭代数  =  总迭代数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AutoResearch / AI Scientist：两个分析对象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left-h">
            <a:extLst xmlns:a="http://schemas.openxmlformats.org/drawingml/2006/main">
              <a:ext uri="{FF2B5EF4-FFF2-40B4-BE49-F238E27FC236}">
                <a16:creationId xmlns:a16="http://schemas.microsoft.com/office/drawing/2014/main" id="{21D70EC6-6FAE-46BB-8639-1605FA43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program.md @ 228791f｜字段重绘</a:t>
            </a:r>
          </a:p>
        </p:txBody>
      </p:sp>
      <p:sp>
        <p:nvSpPr>
          <p:cNvPr id="7" name="p12-left">
            <a:extLst xmlns:a="http://schemas.openxmlformats.org/drawingml/2006/main">
              <a:ext uri="{FF2B5EF4-FFF2-40B4-BE49-F238E27FC236}">
                <a16:creationId xmlns:a16="http://schemas.microsoft.com/office/drawing/2014/main" id="{C4E48C4F-1AE1-4898-8D15-DD021A55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953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266700" tIns="171450" rIns="171450" bIns="171450" anchor="ctr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EDIT_SCOPE   train.py only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TIME_BUDGET  fixed 5 min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METRIC       val_bpb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DECISION     keep | discard | crash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TRACE        results.tsv</a:t>
            </a:r>
          </a:p>
        </p:txBody>
      </p:sp>
      <p:sp>
        <p:nvSpPr>
          <p:cNvPr id="8" name="p12-left-src">
            <a:extLst xmlns:a="http://schemas.openxmlformats.org/drawingml/2006/main">
              <a:ext uri="{FF2B5EF4-FFF2-40B4-BE49-F238E27FC236}">
                <a16:creationId xmlns:a16="http://schemas.microsoft.com/office/drawing/2014/main" id="{2852F72C-1E88-4AB9-87E3-174364B7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可核验源对象｜GitHub 固定 commit，非运行截图</a:t>
            </a:r>
          </a:p>
        </p:txBody>
      </p:sp>
      <p:sp>
        <p:nvSpPr>
          <p:cNvPr id="9" name="p12-right-h">
            <a:extLst xmlns:a="http://schemas.openxmlformats.org/drawingml/2006/main">
              <a:ext uri="{FF2B5EF4-FFF2-40B4-BE49-F238E27FC236}">
                <a16:creationId xmlns:a16="http://schemas.microsoft.com/office/drawing/2014/main" id="{062943EB-A9CB-411F-8B86-4CF423F7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0287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AI Scientist</a:t>
            </a:r>
          </a:p>
        </p:txBody>
      </p:sp>
      <p:sp>
        <p:nvSpPr>
          <p:cNvPr id="10" name="p12-right">
            <a:extLst xmlns:a="http://schemas.openxmlformats.org/drawingml/2006/main">
              <a:ext uri="{FF2B5EF4-FFF2-40B4-BE49-F238E27FC236}">
                <a16:creationId xmlns:a16="http://schemas.microsoft.com/office/drawing/2014/main" id="{C1228EC7-C1CA-436A-B044-4D2898F3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4953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Lu et al. · Nature 2026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计算型 ML 研究管线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想法 → 代码 → 实验 → 分析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论文 → 自动评审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角色：端到端自动化的边界案例</a:t>
            </a:r>
          </a:p>
        </p:txBody>
      </p:sp>
      <p:sp>
        <p:nvSpPr>
          <p:cNvPr id="11" name="p12-bottom">
            <a:extLst xmlns:a="http://schemas.openxmlformats.org/drawingml/2006/main">
              <a:ext uri="{FF2B5EF4-FFF2-40B4-BE49-F238E27FC236}">
                <a16:creationId xmlns:a16="http://schemas.microsoft.com/office/drawing/2014/main" id="{E4C0242B-F2F0-494D-8BDD-FA214FAE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334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分析对象 ≠ 外推依据：每一维都要问“系统处理了什么，仍需人判断什么”。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八维框架拆解：AI Scientist 的边界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h-0">
            <a:extLst xmlns:a="http://schemas.openxmlformats.org/drawingml/2006/main">
              <a:ext uri="{FF2B5EF4-FFF2-40B4-BE49-F238E27FC236}">
                <a16:creationId xmlns:a16="http://schemas.microsoft.com/office/drawing/2014/main" id="{D3545370-DCB7-4AEC-B8A1-D6F666F4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7" name="p13-h-1">
            <a:extLst xmlns:a="http://schemas.openxmlformats.org/drawingml/2006/main">
              <a:ext uri="{FF2B5EF4-FFF2-40B4-BE49-F238E27FC236}">
                <a16:creationId xmlns:a16="http://schemas.microsoft.com/office/drawing/2014/main" id="{8D1FA177-F15A-49FF-9051-7557CC29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95250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系统处理</a:t>
            </a:r>
          </a:p>
        </p:txBody>
      </p:sp>
      <p:sp>
        <p:nvSpPr>
          <p:cNvPr id="8" name="p13-h-2">
            <a:extLst xmlns:a="http://schemas.openxmlformats.org/drawingml/2006/main">
              <a:ext uri="{FF2B5EF4-FFF2-40B4-BE49-F238E27FC236}">
                <a16:creationId xmlns:a16="http://schemas.microsoft.com/office/drawing/2014/main" id="{F2EE9042-C2A7-48B3-9010-C2ADE855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952500"/>
            <a:ext cx="542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仍需人工判断</a:t>
            </a:r>
          </a:p>
        </p:txBody>
      </p:sp>
      <p:sp>
        <p:nvSpPr>
          <p:cNvPr id="9" name="p13-r0-0">
            <a:extLst xmlns:a="http://schemas.openxmlformats.org/drawingml/2006/main">
              <a:ext uri="{FF2B5EF4-FFF2-40B4-BE49-F238E27FC236}">
                <a16:creationId xmlns:a16="http://schemas.microsoft.com/office/drawing/2014/main" id="{476D6B87-6185-4192-AC06-CD461557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</p:txBody>
      </p:sp>
      <p:sp>
        <p:nvSpPr>
          <p:cNvPr id="10" name="p13-r0-1">
            <a:extLst xmlns:a="http://schemas.openxmlformats.org/drawingml/2006/main">
              <a:ext uri="{FF2B5EF4-FFF2-40B4-BE49-F238E27FC236}">
                <a16:creationId xmlns:a16="http://schemas.microsoft.com/office/drawing/2014/main" id="{00BF110E-4854-4D8D-901D-54E9AD6A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3525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系统模板</a:t>
            </a:r>
          </a:p>
        </p:txBody>
      </p:sp>
      <p:sp>
        <p:nvSpPr>
          <p:cNvPr id="11" name="p13-r0-2">
            <a:extLst xmlns:a="http://schemas.openxmlformats.org/drawingml/2006/main">
              <a:ext uri="{FF2B5EF4-FFF2-40B4-BE49-F238E27FC236}">
                <a16:creationId xmlns:a16="http://schemas.microsoft.com/office/drawing/2014/main" id="{6225E1A2-9A46-4029-8E44-7C837029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主题价值与范围</a:t>
            </a:r>
          </a:p>
        </p:txBody>
      </p:sp>
      <p:sp>
        <p:nvSpPr>
          <p:cNvPr id="12" name="p13-r1-0">
            <a:extLst xmlns:a="http://schemas.openxmlformats.org/drawingml/2006/main">
              <a:ext uri="{FF2B5EF4-FFF2-40B4-BE49-F238E27FC236}">
                <a16:creationId xmlns:a16="http://schemas.microsoft.com/office/drawing/2014/main" id="{E750D70A-9143-4AE1-98AF-D5428643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13" name="p13-r1-1">
            <a:extLst xmlns:a="http://schemas.openxmlformats.org/drawingml/2006/main">
              <a:ext uri="{FF2B5EF4-FFF2-40B4-BE49-F238E27FC236}">
                <a16:creationId xmlns:a16="http://schemas.microsoft.com/office/drawing/2014/main" id="{728FFABD-80AD-4CB5-8DAC-D1F53F27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478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维护研究上下文</a:t>
            </a:r>
          </a:p>
        </p:txBody>
      </p:sp>
      <p:sp>
        <p:nvSpPr>
          <p:cNvPr id="14" name="p13-r1-2">
            <a:extLst xmlns:a="http://schemas.openxmlformats.org/drawingml/2006/main">
              <a:ext uri="{FF2B5EF4-FFF2-40B4-BE49-F238E27FC236}">
                <a16:creationId xmlns:a16="http://schemas.microsoft.com/office/drawing/2014/main" id="{1AC6D633-2696-474E-8E31-5F2CF1E8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478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哪些材料应进入</a:t>
            </a:r>
          </a:p>
        </p:txBody>
      </p:sp>
      <p:sp>
        <p:nvSpPr>
          <p:cNvPr id="15" name="p13-r2-0">
            <a:extLst xmlns:a="http://schemas.openxmlformats.org/drawingml/2006/main">
              <a:ext uri="{FF2B5EF4-FFF2-40B4-BE49-F238E27FC236}">
                <a16:creationId xmlns:a16="http://schemas.microsoft.com/office/drawing/2014/main" id="{131AD264-4570-41D0-B4F2-1D58F4BA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工具权限</a:t>
            </a:r>
          </a:p>
        </p:txBody>
      </p:sp>
      <p:sp>
        <p:nvSpPr>
          <p:cNvPr id="16" name="p13-r2-1">
            <a:extLst xmlns:a="http://schemas.openxmlformats.org/drawingml/2006/main">
              <a:ext uri="{FF2B5EF4-FFF2-40B4-BE49-F238E27FC236}">
                <a16:creationId xmlns:a16="http://schemas.microsoft.com/office/drawing/2014/main" id="{BA208958-0FF5-4C7D-AD7C-156A1091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 / 文件 / 检索</a:t>
            </a:r>
          </a:p>
        </p:txBody>
      </p:sp>
      <p:sp>
        <p:nvSpPr>
          <p:cNvPr id="17" name="p13-r2-2">
            <a:extLst xmlns:a="http://schemas.openxmlformats.org/drawingml/2006/main">
              <a:ext uri="{FF2B5EF4-FFF2-40B4-BE49-F238E27FC236}">
                <a16:creationId xmlns:a16="http://schemas.microsoft.com/office/drawing/2014/main" id="{AF0A683D-E2E3-4A38-B727-3A1E2539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431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越权如何识别</a:t>
            </a:r>
          </a:p>
        </p:txBody>
      </p:sp>
      <p:sp>
        <p:nvSpPr>
          <p:cNvPr id="18" name="p13-r3-0">
            <a:extLst xmlns:a="http://schemas.openxmlformats.org/drawingml/2006/main">
              <a:ext uri="{FF2B5EF4-FFF2-40B4-BE49-F238E27FC236}">
                <a16:creationId xmlns:a16="http://schemas.microsoft.com/office/drawing/2014/main" id="{3B41FB65-2087-4F1C-BF94-AB7DE26E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19" name="p13-r3-1">
            <a:extLst xmlns:a="http://schemas.openxmlformats.org/drawingml/2006/main">
              <a:ext uri="{FF2B5EF4-FFF2-40B4-BE49-F238E27FC236}">
                <a16:creationId xmlns:a16="http://schemas.microsoft.com/office/drawing/2014/main" id="{40CAD686-8C91-419A-9B76-B5EA0F5D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384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跨步骤保留</a:t>
            </a:r>
          </a:p>
        </p:txBody>
      </p:sp>
      <p:sp>
        <p:nvSpPr>
          <p:cNvPr id="20" name="p13-r3-2">
            <a:extLst xmlns:a="http://schemas.openxmlformats.org/drawingml/2006/main">
              <a:ext uri="{FF2B5EF4-FFF2-40B4-BE49-F238E27FC236}">
                <a16:creationId xmlns:a16="http://schemas.microsoft.com/office/drawing/2014/main" id="{A38D6B06-3979-4A93-B329-EC7FC65E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384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是否被悄悄修改</a:t>
            </a:r>
          </a:p>
        </p:txBody>
      </p:sp>
      <p:sp>
        <p:nvSpPr>
          <p:cNvPr id="21" name="p13-r4-0">
            <a:extLst xmlns:a="http://schemas.openxmlformats.org/drawingml/2006/main">
              <a:ext uri="{FF2B5EF4-FFF2-40B4-BE49-F238E27FC236}">
                <a16:creationId xmlns:a16="http://schemas.microsoft.com/office/drawing/2014/main" id="{FFBB27FA-F127-4398-81F5-F217FBF2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执行循环</a:t>
            </a:r>
          </a:p>
        </p:txBody>
      </p:sp>
      <p:sp>
        <p:nvSpPr>
          <p:cNvPr id="22" name="p13-r4-1">
            <a:extLst xmlns:a="http://schemas.openxmlformats.org/drawingml/2006/main">
              <a:ext uri="{FF2B5EF4-FFF2-40B4-BE49-F238E27FC236}">
                <a16:creationId xmlns:a16="http://schemas.microsoft.com/office/drawing/2014/main" id="{BE9D1B2E-9262-45B6-89B4-A5E01A41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337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端到端串联</a:t>
            </a:r>
          </a:p>
        </p:txBody>
      </p:sp>
      <p:sp>
        <p:nvSpPr>
          <p:cNvPr id="23" name="p13-r4-2">
            <a:extLst xmlns:a="http://schemas.openxmlformats.org/drawingml/2006/main">
              <a:ext uri="{FF2B5EF4-FFF2-40B4-BE49-F238E27FC236}">
                <a16:creationId xmlns:a16="http://schemas.microsoft.com/office/drawing/2014/main" id="{780543DE-7D4C-4CC7-B15C-E5E2B3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337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能否修改指标</a:t>
            </a:r>
          </a:p>
        </p:txBody>
      </p:sp>
      <p:sp>
        <p:nvSpPr>
          <p:cNvPr id="24" name="p13-r5-0">
            <a:extLst xmlns:a="http://schemas.openxmlformats.org/drawingml/2006/main">
              <a:ext uri="{FF2B5EF4-FFF2-40B4-BE49-F238E27FC236}">
                <a16:creationId xmlns:a16="http://schemas.microsoft.com/office/drawing/2014/main" id="{57102E73-126D-441A-AC1B-F08D9381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25" name="p13-r5-1">
            <a:extLst xmlns:a="http://schemas.openxmlformats.org/drawingml/2006/main">
              <a:ext uri="{FF2B5EF4-FFF2-40B4-BE49-F238E27FC236}">
                <a16:creationId xmlns:a16="http://schemas.microsoft.com/office/drawing/2014/main" id="{157549E4-3E88-4AFB-976C-7ED089BC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290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代码 / 日志 / 论文</a:t>
            </a:r>
          </a:p>
        </p:txBody>
      </p:sp>
      <p:sp>
        <p:nvSpPr>
          <p:cNvPr id="26" name="p13-r5-2">
            <a:extLst xmlns:a="http://schemas.openxmlformats.org/drawingml/2006/main">
              <a:ext uri="{FF2B5EF4-FFF2-40B4-BE49-F238E27FC236}">
                <a16:creationId xmlns:a16="http://schemas.microsoft.com/office/drawing/2014/main" id="{ACA40CFB-E3C4-4166-AF8B-F954DA39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290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失败是否保留</a:t>
            </a:r>
          </a:p>
        </p:txBody>
      </p:sp>
      <p:sp>
        <p:nvSpPr>
          <p:cNvPr id="27" name="p13-r6-0">
            <a:extLst xmlns:a="http://schemas.openxmlformats.org/drawingml/2006/main">
              <a:ext uri="{FF2B5EF4-FFF2-40B4-BE49-F238E27FC236}">
                <a16:creationId xmlns:a16="http://schemas.microsoft.com/office/drawing/2014/main" id="{724F8018-1725-41F8-B112-ACD87A9D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Evals</a:t>
            </a:r>
          </a:p>
        </p:txBody>
      </p:sp>
      <p:sp>
        <p:nvSpPr>
          <p:cNvPr id="28" name="p13-r6-1">
            <a:extLst xmlns:a="http://schemas.openxmlformats.org/drawingml/2006/main">
              <a:ext uri="{FF2B5EF4-FFF2-40B4-BE49-F238E27FC236}">
                <a16:creationId xmlns:a16="http://schemas.microsoft.com/office/drawing/2014/main" id="{9F0105D3-AF1A-42E6-AFD0-DE277420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243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自动评审</a:t>
            </a:r>
          </a:p>
        </p:txBody>
      </p:sp>
      <p:sp>
        <p:nvSpPr>
          <p:cNvPr id="29" name="p13-r6-2">
            <a:extLst xmlns:a="http://schemas.openxmlformats.org/drawingml/2006/main">
              <a:ext uri="{FF2B5EF4-FFF2-40B4-BE49-F238E27FC236}">
                <a16:creationId xmlns:a16="http://schemas.microsoft.com/office/drawing/2014/main" id="{B7A8A9BE-9B3B-41C9-AD44-4268457E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243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能否替代同行共识</a:t>
            </a:r>
          </a:p>
        </p:txBody>
      </p:sp>
      <p:sp>
        <p:nvSpPr>
          <p:cNvPr id="30" name="p13-r7-0">
            <a:extLst xmlns:a="http://schemas.openxmlformats.org/drawingml/2006/main">
              <a:ext uri="{FF2B5EF4-FFF2-40B4-BE49-F238E27FC236}">
                <a16:creationId xmlns:a16="http://schemas.microsoft.com/office/drawing/2014/main" id="{CB66898F-6391-4D40-8093-2E14BD9E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</p:txBody>
      </p:sp>
      <p:sp>
        <p:nvSpPr>
          <p:cNvPr id="31" name="p13-r7-1">
            <a:extLst xmlns:a="http://schemas.openxmlformats.org/drawingml/2006/main">
              <a:ext uri="{FF2B5EF4-FFF2-40B4-BE49-F238E27FC236}">
                <a16:creationId xmlns:a16="http://schemas.microsoft.com/office/drawing/2014/main" id="{29A53EC1-AC9C-4345-9215-7E2E0C2A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965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有处理逻辑</a:t>
            </a:r>
          </a:p>
        </p:txBody>
      </p:sp>
      <p:sp>
        <p:nvSpPr>
          <p:cNvPr id="32" name="p13-r7-2">
            <a:extLst xmlns:a="http://schemas.openxmlformats.org/drawingml/2006/main">
              <a:ext uri="{FF2B5EF4-FFF2-40B4-BE49-F238E27FC236}">
                <a16:creationId xmlns:a16="http://schemas.microsoft.com/office/drawing/2014/main" id="{33EC097A-C968-4BAE-81AA-08991DA6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5429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是否选择性删除</a:t>
            </a:r>
          </a:p>
        </p:txBody>
      </p:sp>
      <p:sp>
        <p:nvSpPr>
          <p:cNvPr id="33" name="p13-bottom">
            <a:extLst xmlns:a="http://schemas.openxmlformats.org/drawingml/2006/main">
              <a:ext uri="{FF2B5EF4-FFF2-40B4-BE49-F238E27FC236}">
                <a16:creationId xmlns:a16="http://schemas.microsoft.com/office/drawing/2014/main" id="{EEA274D9-C7C6-4489-818F-ED339ADB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1020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重点不是“它会什么”，而是“哪一类判断仍不能交给循环本身”。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两个边界判断与不外推清单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b1">
            <a:extLst xmlns:a="http://schemas.openxmlformats.org/drawingml/2006/main">
              <a:ext uri="{FF2B5EF4-FFF2-40B4-BE49-F238E27FC236}">
                <a16:creationId xmlns:a16="http://schemas.microsoft.com/office/drawing/2014/main" id="{F7E3B5AD-6B3A-4D5D-9925-B90CAB99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90600"/>
            <a:ext cx="10096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端到端自动化  ≠  通用自主科研</a:t>
            </a:r>
          </a:p>
        </p:txBody>
      </p:sp>
      <p:sp>
        <p:nvSpPr>
          <p:cNvPr id="7" name="p14-b2">
            <a:extLst xmlns:a="http://schemas.openxmlformats.org/drawingml/2006/main">
              <a:ext uri="{FF2B5EF4-FFF2-40B4-BE49-F238E27FC236}">
                <a16:creationId xmlns:a16="http://schemas.microsoft.com/office/drawing/2014/main" id="{892EEF22-9C8B-4A57-B648-79FE33CE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526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自动评审  ≠  同行共识</a:t>
            </a:r>
          </a:p>
        </p:txBody>
      </p:sp>
      <p:sp>
        <p:nvSpPr>
          <p:cNvPr id="8" name="p14-h">
            <a:extLst xmlns:a="http://schemas.openxmlformats.org/drawingml/2006/main">
              <a:ext uri="{FF2B5EF4-FFF2-40B4-BE49-F238E27FC236}">
                <a16:creationId xmlns:a16="http://schemas.microsoft.com/office/drawing/2014/main" id="{13A79DC9-EE61-40AB-B0A8-BE7543DF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不得改写为</a:t>
            </a:r>
          </a:p>
        </p:txBody>
      </p:sp>
      <p:sp>
        <p:nvSpPr>
          <p:cNvPr id="9" name="p14-i-0">
            <a:extLst xmlns:a="http://schemas.openxmlformats.org/drawingml/2006/main">
              <a:ext uri="{FF2B5EF4-FFF2-40B4-BE49-F238E27FC236}">
                <a16:creationId xmlns:a16="http://schemas.microsoft.com/office/drawing/2014/main" id="{3FF50F01-0E3E-46A8-845E-35AB10A9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0985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AI 已能自主科研 / Agent 可替代研究判断</a:t>
            </a:r>
          </a:p>
        </p:txBody>
      </p:sp>
      <p:sp>
        <p:nvSpPr>
          <p:cNvPr id="10" name="p14-i-1">
            <a:extLst xmlns:a="http://schemas.openxmlformats.org/drawingml/2006/main">
              <a:ext uri="{FF2B5EF4-FFF2-40B4-BE49-F238E27FC236}">
                <a16:creationId xmlns:a16="http://schemas.microsoft.com/office/drawing/2014/main" id="{9D7AE4A2-6CE6-4AB6-B862-202DAD93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6230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自动评审可替代同行共识</a:t>
            </a:r>
          </a:p>
        </p:txBody>
      </p:sp>
      <p:sp>
        <p:nvSpPr>
          <p:cNvPr id="11" name="p14-i-2">
            <a:extLst xmlns:a="http://schemas.openxmlformats.org/drawingml/2006/main">
              <a:ext uri="{FF2B5EF4-FFF2-40B4-BE49-F238E27FC236}">
                <a16:creationId xmlns:a16="http://schemas.microsoft.com/office/drawing/2014/main" id="{7CF41B2C-C1BE-4402-99C2-867A3868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1475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端到端结果可外推到所有学科</a:t>
            </a:r>
          </a:p>
        </p:txBody>
      </p:sp>
      <p:sp>
        <p:nvSpPr>
          <p:cNvPr id="12" name="p14-i-3">
            <a:extLst xmlns:a="http://schemas.openxmlformats.org/drawingml/2006/main">
              <a:ext uri="{FF2B5EF4-FFF2-40B4-BE49-F238E27FC236}">
                <a16:creationId xmlns:a16="http://schemas.microsoft.com/office/drawing/2014/main" id="{9EE48200-3B8D-4F9B-9143-CDEC6EE2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67200"/>
            <a:ext cx="8058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失败实验可以选择性删除</a:t>
            </a:r>
          </a:p>
        </p:txBody>
      </p:sp>
      <p:sp>
        <p:nvSpPr>
          <p:cNvPr id="13" name="p14-evidence">
            <a:extLst xmlns:a="http://schemas.openxmlformats.org/drawingml/2006/main">
              <a:ext uri="{FF2B5EF4-FFF2-40B4-BE49-F238E27FC236}">
                <a16:creationId xmlns:a16="http://schemas.microsoft.com/office/drawing/2014/main" id="{FFCC1E3D-D352-4E18-A2E3-23D00204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Nature 2026 证据边界｜3 篇送审稿；1 篇超过工作坊平均阈值；按预设协议撤回；团队判断均未达 ICLR 主会标准。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贯穿案例：AutoResearch / AI Scientist 对比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case">
            <a:extLst xmlns:a="http://schemas.openxmlformats.org/drawingml/2006/main">
              <a:ext uri="{FF2B5EF4-FFF2-40B4-BE49-F238E27FC236}">
                <a16:creationId xmlns:a16="http://schemas.microsoft.com/office/drawing/2014/main" id="{6F53E20B-BE02-4092-A0EE-495CCFF5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744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课程教学案例｜阅读卡摘要循环；不代表真实系统评价</a:t>
            </a:r>
          </a:p>
        </p:txBody>
      </p:sp>
      <p:sp>
        <p:nvSpPr>
          <p:cNvPr id="7" name="p15-left-h">
            <a:extLst xmlns:a="http://schemas.openxmlformats.org/drawingml/2006/main">
              <a:ext uri="{FF2B5EF4-FFF2-40B4-BE49-F238E27FC236}">
                <a16:creationId xmlns:a16="http://schemas.microsoft.com/office/drawing/2014/main" id="{A3874179-8036-41A0-9695-19C6A48A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 AutoResearch 相似</a:t>
            </a:r>
          </a:p>
        </p:txBody>
      </p:sp>
      <p:sp>
        <p:nvSpPr>
          <p:cNvPr id="8" name="p15-left">
            <a:extLst xmlns:a="http://schemas.openxmlformats.org/drawingml/2006/main">
              <a:ext uri="{FF2B5EF4-FFF2-40B4-BE49-F238E27FC236}">
                <a16:creationId xmlns:a16="http://schemas.microsoft.com/office/drawing/2014/main" id="{3139A4C9-F3AC-4150-90D7-A0AE8C64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857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固定预算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固定指标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Keep / Discard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失败保留</a:t>
            </a:r>
          </a:p>
        </p:txBody>
      </p:sp>
      <p:sp>
        <p:nvSpPr>
          <p:cNvPr id="9" name="p15-right-h">
            <a:extLst xmlns:a="http://schemas.openxmlformats.org/drawingml/2006/main">
              <a:ext uri="{FF2B5EF4-FFF2-40B4-BE49-F238E27FC236}">
                <a16:creationId xmlns:a16="http://schemas.microsoft.com/office/drawing/2014/main" id="{C55A332A-C8D6-4456-B6DB-3B2C0470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5621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 AI Scientist 不同</a:t>
            </a:r>
          </a:p>
        </p:txBody>
      </p:sp>
      <p:sp>
        <p:nvSpPr>
          <p:cNvPr id="10" name="p15-right">
            <a:extLst xmlns:a="http://schemas.openxmlformats.org/drawingml/2006/main">
              <a:ext uri="{FF2B5EF4-FFF2-40B4-BE49-F238E27FC236}">
                <a16:creationId xmlns:a16="http://schemas.microsoft.com/office/drawing/2014/main" id="{A557585E-B15A-4F4D-9DAD-F3F2E3B7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76450"/>
            <a:ext cx="4857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不生成研究想法和论文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只覆盖摘要生成 + 指标计算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部分指标仍需人工盲评一致性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不把自动 Evals 当同行评审</a:t>
            </a:r>
          </a:p>
        </p:txBody>
      </p:sp>
      <p:sp>
        <p:nvSpPr>
          <p:cNvPr id="11" name="p15-human">
            <a:extLst xmlns:a="http://schemas.openxmlformats.org/drawingml/2006/main">
              <a:ext uri="{FF2B5EF4-FFF2-40B4-BE49-F238E27FC236}">
                <a16:creationId xmlns:a16="http://schemas.microsoft.com/office/drawing/2014/main" id="{F70287D8-C08B-4F02-957F-7D4D93EF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48200"/>
            <a:ext cx="971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仍需人工判断｜主题价值 · kappa 是否达标 · 回退目标 · 结论边界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个人实践：把可重复动作改写为受限循环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n-0">
            <a:extLst xmlns:a="http://schemas.openxmlformats.org/drawingml/2006/main">
              <a:ext uri="{FF2B5EF4-FFF2-40B4-BE49-F238E27FC236}">
                <a16:creationId xmlns:a16="http://schemas.microsoft.com/office/drawing/2014/main" id="{4C9B5FC5-E901-4817-A781-C75EF9E7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0287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6-t-0">
            <a:extLst xmlns:a="http://schemas.openxmlformats.org/drawingml/2006/main">
              <a:ext uri="{FF2B5EF4-FFF2-40B4-BE49-F238E27FC236}">
                <a16:creationId xmlns:a16="http://schemas.microsoft.com/office/drawing/2014/main" id="{EF344A98-4CFC-4447-86C4-2F86CBD8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87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选一个可重复动作</a:t>
            </a:r>
          </a:p>
        </p:txBody>
      </p:sp>
      <p:sp>
        <p:nvSpPr>
          <p:cNvPr id="8" name="p16-n-1">
            <a:extLst xmlns:a="http://schemas.openxmlformats.org/drawingml/2006/main">
              <a:ext uri="{FF2B5EF4-FFF2-40B4-BE49-F238E27FC236}">
                <a16:creationId xmlns:a16="http://schemas.microsoft.com/office/drawing/2014/main" id="{061C653B-26D4-44FD-878B-1C7C1C7B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16-t-1">
            <a:extLst xmlns:a="http://schemas.openxmlformats.org/drawingml/2006/main">
              <a:ext uri="{FF2B5EF4-FFF2-40B4-BE49-F238E27FC236}">
                <a16:creationId xmlns:a16="http://schemas.microsoft.com/office/drawing/2014/main" id="{1EEF9C4A-7E0C-4901-A620-57AF3267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764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写四约束</a:t>
            </a:r>
          </a:p>
        </p:txBody>
      </p:sp>
      <p:sp>
        <p:nvSpPr>
          <p:cNvPr id="10" name="p16-n-2">
            <a:extLst xmlns:a="http://schemas.openxmlformats.org/drawingml/2006/main">
              <a:ext uri="{FF2B5EF4-FFF2-40B4-BE49-F238E27FC236}">
                <a16:creationId xmlns:a16="http://schemas.microsoft.com/office/drawing/2014/main" id="{CC690DA3-9A67-44FF-A56F-778F21CE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16-t-2">
            <a:extLst xmlns:a="http://schemas.openxmlformats.org/drawingml/2006/main">
              <a:ext uri="{FF2B5EF4-FFF2-40B4-BE49-F238E27FC236}">
                <a16:creationId xmlns:a16="http://schemas.microsoft.com/office/drawing/2014/main" id="{16DE2724-F87B-4315-ACC4-C3C8EBA4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241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写五步骨架</a:t>
            </a:r>
          </a:p>
        </p:txBody>
      </p:sp>
      <p:sp>
        <p:nvSpPr>
          <p:cNvPr id="12" name="p16-n-3">
            <a:extLst xmlns:a="http://schemas.openxmlformats.org/drawingml/2006/main">
              <a:ext uri="{FF2B5EF4-FFF2-40B4-BE49-F238E27FC236}">
                <a16:creationId xmlns:a16="http://schemas.microsoft.com/office/drawing/2014/main" id="{69C27966-2A70-4C48-9656-B583421B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16-t-3">
            <a:extLst xmlns:a="http://schemas.openxmlformats.org/drawingml/2006/main">
              <a:ext uri="{FF2B5EF4-FFF2-40B4-BE49-F238E27FC236}">
                <a16:creationId xmlns:a16="http://schemas.microsoft.com/office/drawing/2014/main" id="{05F5C707-DC81-48DA-895A-9648127B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718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标 ≥3 审核点</a:t>
            </a:r>
          </a:p>
        </p:txBody>
      </p:sp>
      <p:sp>
        <p:nvSpPr>
          <p:cNvPr id="14" name="p16-n-4">
            <a:extLst xmlns:a="http://schemas.openxmlformats.org/drawingml/2006/main">
              <a:ext uri="{FF2B5EF4-FFF2-40B4-BE49-F238E27FC236}">
                <a16:creationId xmlns:a16="http://schemas.microsoft.com/office/drawing/2014/main" id="{E9DBAD0B-53DB-4BCD-81D9-834E1E4E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16-t-4">
            <a:extLst xmlns:a="http://schemas.openxmlformats.org/drawingml/2006/main">
              <a:ext uri="{FF2B5EF4-FFF2-40B4-BE49-F238E27FC236}">
                <a16:creationId xmlns:a16="http://schemas.microsoft.com/office/drawing/2014/main" id="{CF599A6E-E992-4A14-9372-C32A3906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≥1 失败记录</a:t>
            </a:r>
          </a:p>
        </p:txBody>
      </p:sp>
      <p:sp>
        <p:nvSpPr>
          <p:cNvPr id="16" name="p16-n-5">
            <a:extLst xmlns:a="http://schemas.openxmlformats.org/drawingml/2006/main">
              <a:ext uri="{FF2B5EF4-FFF2-40B4-BE49-F238E27FC236}">
                <a16:creationId xmlns:a16="http://schemas.microsoft.com/office/drawing/2014/main" id="{7E56D3C4-0000-4375-8913-FE53EA57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16-t-5">
            <a:extLst xmlns:a="http://schemas.openxmlformats.org/drawingml/2006/main">
              <a:ext uri="{FF2B5EF4-FFF2-40B4-BE49-F238E27FC236}">
                <a16:creationId xmlns:a16="http://schemas.microsoft.com/office/drawing/2014/main" id="{5F58F2A7-AF00-41D2-B04E-84FF2D73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67200"/>
            <a:ext cx="533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拆解 ≥4 个维度</a:t>
            </a:r>
          </a:p>
        </p:txBody>
      </p:sp>
      <p:sp>
        <p:nvSpPr>
          <p:cNvPr id="18" name="p16-out-h">
            <a:extLst xmlns:a="http://schemas.openxmlformats.org/drawingml/2006/main">
              <a:ext uri="{FF2B5EF4-FFF2-40B4-BE49-F238E27FC236}">
                <a16:creationId xmlns:a16="http://schemas.microsoft.com/office/drawing/2014/main" id="{3C9A0E89-C219-4EFD-B152-659F2EE0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066800"/>
            <a:ext cx="400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最小产出</a:t>
            </a:r>
          </a:p>
        </p:txBody>
      </p:sp>
      <p:sp>
        <p:nvSpPr>
          <p:cNvPr id="19" name="p16-out">
            <a:extLst xmlns:a="http://schemas.openxmlformats.org/drawingml/2006/main">
              <a:ext uri="{FF2B5EF4-FFF2-40B4-BE49-F238E27FC236}">
                <a16:creationId xmlns:a16="http://schemas.microsoft.com/office/drawing/2014/main" id="{295A23EA-6407-4349-ABA3-7A9641D8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81150"/>
            <a:ext cx="4000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受限循环说明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失败迭代记录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八维拆解表</a:t>
            </a:r>
          </a:p>
        </p:txBody>
      </p:sp>
      <p:sp>
        <p:nvSpPr>
          <p:cNvPr id="20" name="p16-question">
            <a:extLst xmlns:a="http://schemas.openxmlformats.org/drawingml/2006/main">
              <a:ext uri="{FF2B5EF4-FFF2-40B4-BE49-F238E27FC236}">
                <a16:creationId xmlns:a16="http://schemas.microsoft.com/office/drawing/2014/main" id="{CE813140-29F9-451F-B3DF-F33A091F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38650"/>
            <a:ext cx="4762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巡视问题：你的循环在哪个位置必须人工确认？</a:t>
            </a:r>
          </a:p>
        </p:txBody>
      </p:sp>
      <p:sp>
        <p:nvSpPr>
          <p:cNvPr id="21" name="p16-fallback">
            <a:extLst xmlns:a="http://schemas.openxmlformats.org/drawingml/2006/main">
              <a:ext uri="{FF2B5EF4-FFF2-40B4-BE49-F238E27FC236}">
                <a16:creationId xmlns:a16="http://schemas.microsoft.com/office/drawing/2014/main" id="{B0101799-42C0-461E-A050-47A55B87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149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环境故障：纸面或 Markdown 完成骨架，不逐台排障。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个人补全实践说明与失败保留记录样例（停留页）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left-h">
            <a:extLst xmlns:a="http://schemas.openxmlformats.org/drawingml/2006/main">
              <a:ext uri="{FF2B5EF4-FFF2-40B4-BE49-F238E27FC236}">
                <a16:creationId xmlns:a16="http://schemas.microsoft.com/office/drawing/2014/main" id="{4DC57C3B-7593-4D10-B22A-03F8615C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5162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补全检查｜65:00–75:00</a:t>
            </a:r>
          </a:p>
        </p:txBody>
      </p:sp>
      <p:sp>
        <p:nvSpPr>
          <p:cNvPr id="7" name="p17-c-0">
            <a:extLst xmlns:a="http://schemas.openxmlformats.org/drawingml/2006/main">
              <a:ext uri="{FF2B5EF4-FFF2-40B4-BE49-F238E27FC236}">
                <a16:creationId xmlns:a16="http://schemas.microsoft.com/office/drawing/2014/main" id="{D3B38EDA-4DBB-455C-B142-5A1FF82D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四约束齐全</a:t>
            </a:r>
          </a:p>
        </p:txBody>
      </p:sp>
      <p:sp>
        <p:nvSpPr>
          <p:cNvPr id="8" name="p17-c-1">
            <a:extLst xmlns:a="http://schemas.openxmlformats.org/drawingml/2006/main">
              <a:ext uri="{FF2B5EF4-FFF2-40B4-BE49-F238E27FC236}">
                <a16:creationId xmlns:a16="http://schemas.microsoft.com/office/drawing/2014/main" id="{432B43BD-92BF-4FEA-A7AE-3BABB8C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停止条件含三类</a:t>
            </a:r>
          </a:p>
        </p:txBody>
      </p:sp>
      <p:sp>
        <p:nvSpPr>
          <p:cNvPr id="9" name="p17-c-2">
            <a:extLst xmlns:a="http://schemas.openxmlformats.org/drawingml/2006/main">
              <a:ext uri="{FF2B5EF4-FFF2-40B4-BE49-F238E27FC236}">
                <a16:creationId xmlns:a16="http://schemas.microsoft.com/office/drawing/2014/main" id="{19DA4C6D-9F8D-4F73-BFEB-170D69AF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五步骨架写明</a:t>
            </a:r>
          </a:p>
        </p:txBody>
      </p:sp>
      <p:sp>
        <p:nvSpPr>
          <p:cNvPr id="10" name="p17-c-3">
            <a:extLst xmlns:a="http://schemas.openxmlformats.org/drawingml/2006/main">
              <a:ext uri="{FF2B5EF4-FFF2-40B4-BE49-F238E27FC236}">
                <a16:creationId xmlns:a16="http://schemas.microsoft.com/office/drawing/2014/main" id="{50D88AD3-2D5A-4AB0-9FFD-ACDC46E9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≥3 人工审核点</a:t>
            </a:r>
          </a:p>
        </p:txBody>
      </p:sp>
      <p:sp>
        <p:nvSpPr>
          <p:cNvPr id="11" name="p17-c-4">
            <a:extLst xmlns:a="http://schemas.openxmlformats.org/drawingml/2006/main">
              <a:ext uri="{FF2B5EF4-FFF2-40B4-BE49-F238E27FC236}">
                <a16:creationId xmlns:a16="http://schemas.microsoft.com/office/drawing/2014/main" id="{E92B6876-65F7-4C82-8853-D20820D8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□  ≥1 失败记录（七字段）</a:t>
            </a:r>
          </a:p>
        </p:txBody>
      </p:sp>
      <p:sp>
        <p:nvSpPr>
          <p:cNvPr id="12" name="p17-c-5">
            <a:extLst xmlns:a="http://schemas.openxmlformats.org/drawingml/2006/main">
              <a:ext uri="{FF2B5EF4-FFF2-40B4-BE49-F238E27FC236}">
                <a16:creationId xmlns:a16="http://schemas.microsoft.com/office/drawing/2014/main" id="{A7484BF9-3951-4C3F-84A2-94C7AC97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八维拆解 ≥4 维</a:t>
            </a:r>
          </a:p>
        </p:txBody>
      </p:sp>
      <p:sp>
        <p:nvSpPr>
          <p:cNvPr id="13" name="p17-c-6">
            <a:extLst xmlns:a="http://schemas.openxmlformats.org/drawingml/2006/main">
              <a:ext uri="{FF2B5EF4-FFF2-40B4-BE49-F238E27FC236}">
                <a16:creationId xmlns:a16="http://schemas.microsoft.com/office/drawing/2014/main" id="{00B150A8-B2A3-4DDD-8513-DC292C60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493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不外推清单自查</a:t>
            </a:r>
          </a:p>
        </p:txBody>
      </p:sp>
      <p:sp>
        <p:nvSpPr>
          <p:cNvPr id="14" name="p17-right-h">
            <a:extLst xmlns:a="http://schemas.openxmlformats.org/drawingml/2006/main">
              <a:ext uri="{FF2B5EF4-FFF2-40B4-BE49-F238E27FC236}">
                <a16:creationId xmlns:a16="http://schemas.microsoft.com/office/drawing/2014/main" id="{E7EAE240-34DF-4207-94FE-9225E529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933450"/>
            <a:ext cx="533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课程教学样例｜虚构 ID / commit / rubric</a:t>
            </a:r>
          </a:p>
        </p:txBody>
      </p:sp>
      <p:sp>
        <p:nvSpPr>
          <p:cNvPr id="15" name="p17-a-0">
            <a:extLst xmlns:a="http://schemas.openxmlformats.org/drawingml/2006/main">
              <a:ext uri="{FF2B5EF4-FFF2-40B4-BE49-F238E27FC236}">
                <a16:creationId xmlns:a16="http://schemas.microsoft.com/office/drawing/2014/main" id="{75062B39-B999-4E2E-9BD4-77E0C8C2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 ID</a:t>
            </a:r>
          </a:p>
        </p:txBody>
      </p:sp>
      <p:sp>
        <p:nvSpPr>
          <p:cNvPr id="16" name="p17-b-0">
            <a:extLst xmlns:a="http://schemas.openxmlformats.org/drawingml/2006/main">
              <a:ext uri="{FF2B5EF4-FFF2-40B4-BE49-F238E27FC236}">
                <a16:creationId xmlns:a16="http://schemas.microsoft.com/office/drawing/2014/main" id="{27641F25-9F34-48D5-B254-C97252F4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240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exp01-iter07</a:t>
            </a:r>
          </a:p>
        </p:txBody>
      </p:sp>
      <p:sp>
        <p:nvSpPr>
          <p:cNvPr id="17" name="p17-a-1">
            <a:extLst xmlns:a="http://schemas.openxmlformats.org/drawingml/2006/main">
              <a:ext uri="{FF2B5EF4-FFF2-40B4-BE49-F238E27FC236}">
                <a16:creationId xmlns:a16="http://schemas.microsoft.com/office/drawing/2014/main" id="{9200A771-8F59-447B-A882-E1C6FB43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193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18" name="p17-b-1">
            <a:extLst xmlns:a="http://schemas.openxmlformats.org/drawingml/2006/main">
              <a:ext uri="{FF2B5EF4-FFF2-40B4-BE49-F238E27FC236}">
                <a16:creationId xmlns:a16="http://schemas.microsoft.com/office/drawing/2014/main" id="{B86D80C1-118C-44ED-A28B-BD4B45B6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193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H1</a:t>
            </a:r>
          </a:p>
        </p:txBody>
      </p:sp>
      <p:sp>
        <p:nvSpPr>
          <p:cNvPr id="19" name="p17-a-2">
            <a:extLst xmlns:a="http://schemas.openxmlformats.org/drawingml/2006/main">
              <a:ext uri="{FF2B5EF4-FFF2-40B4-BE49-F238E27FC236}">
                <a16:creationId xmlns:a16="http://schemas.microsoft.com/office/drawing/2014/main" id="{3F898EB0-057E-4A5A-BC84-162BB65C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146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失败类型</a:t>
            </a:r>
          </a:p>
        </p:txBody>
      </p:sp>
      <p:sp>
        <p:nvSpPr>
          <p:cNvPr id="20" name="p17-b-2">
            <a:extLst xmlns:a="http://schemas.openxmlformats.org/drawingml/2006/main">
              <a:ext uri="{FF2B5EF4-FFF2-40B4-BE49-F238E27FC236}">
                <a16:creationId xmlns:a16="http://schemas.microsoft.com/office/drawing/2014/main" id="{70A117F2-D4DE-4B7F-872E-07A0A863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146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 版本不一致</a:t>
            </a:r>
          </a:p>
        </p:txBody>
      </p:sp>
      <p:sp>
        <p:nvSpPr>
          <p:cNvPr id="21" name="p17-a-3">
            <a:extLst xmlns:a="http://schemas.openxmlformats.org/drawingml/2006/main">
              <a:ext uri="{FF2B5EF4-FFF2-40B4-BE49-F238E27FC236}">
                <a16:creationId xmlns:a16="http://schemas.microsoft.com/office/drawing/2014/main" id="{563419D8-6025-4982-A32B-FC033304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22" name="p17-b-3">
            <a:extLst xmlns:a="http://schemas.openxmlformats.org/drawingml/2006/main">
              <a:ext uri="{FF2B5EF4-FFF2-40B4-BE49-F238E27FC236}">
                <a16:creationId xmlns:a16="http://schemas.microsoft.com/office/drawing/2014/main" id="{FEEF0262-6661-4917-AC3C-064C919B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协议性</a:t>
            </a:r>
          </a:p>
        </p:txBody>
      </p:sp>
      <p:sp>
        <p:nvSpPr>
          <p:cNvPr id="23" name="p17-a-4">
            <a:extLst xmlns:a="http://schemas.openxmlformats.org/drawingml/2006/main">
              <a:ext uri="{FF2B5EF4-FFF2-40B4-BE49-F238E27FC236}">
                <a16:creationId xmlns:a16="http://schemas.microsoft.com/office/drawing/2014/main" id="{3D82B19D-CD75-41A9-94AF-0D1A1754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052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24" name="p17-b-4">
            <a:extLst xmlns:a="http://schemas.openxmlformats.org/drawingml/2006/main">
              <a:ext uri="{FF2B5EF4-FFF2-40B4-BE49-F238E27FC236}">
                <a16:creationId xmlns:a16="http://schemas.microsoft.com/office/drawing/2014/main" id="{FCD8A372-7DBC-4EA0-B005-C0C716CE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052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abc123 + rubric v1.2</a:t>
            </a:r>
          </a:p>
        </p:txBody>
      </p:sp>
      <p:sp>
        <p:nvSpPr>
          <p:cNvPr id="25" name="p17-a-5">
            <a:extLst xmlns:a="http://schemas.openxmlformats.org/drawingml/2006/main">
              <a:ext uri="{FF2B5EF4-FFF2-40B4-BE49-F238E27FC236}">
                <a16:creationId xmlns:a16="http://schemas.microsoft.com/office/drawing/2014/main" id="{D58D81F4-A653-4FB1-82BD-902B917C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26" name="p17-b-5">
            <a:extLst xmlns:a="http://schemas.openxmlformats.org/drawingml/2006/main">
              <a:ext uri="{FF2B5EF4-FFF2-40B4-BE49-F238E27FC236}">
                <a16:creationId xmlns:a16="http://schemas.microsoft.com/office/drawing/2014/main" id="{0B487F76-16CF-4F3E-B950-349E8391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005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是（学生本人）</a:t>
            </a:r>
          </a:p>
        </p:txBody>
      </p:sp>
      <p:sp>
        <p:nvSpPr>
          <p:cNvPr id="27" name="p17-a-6">
            <a:extLst xmlns:a="http://schemas.openxmlformats.org/drawingml/2006/main">
              <a:ext uri="{FF2B5EF4-FFF2-40B4-BE49-F238E27FC236}">
                <a16:creationId xmlns:a16="http://schemas.microsoft.com/office/drawing/2014/main" id="{326AA574-EEB7-4CDF-879A-C02773B2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9580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28" name="p17-b-6">
            <a:extLst xmlns:a="http://schemas.openxmlformats.org/drawingml/2006/main">
              <a:ext uri="{FF2B5EF4-FFF2-40B4-BE49-F238E27FC236}">
                <a16:creationId xmlns:a16="http://schemas.microsoft.com/office/drawing/2014/main" id="{29906B79-5BDC-4167-A17B-FC4149F2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95800"/>
            <a:ext cx="3733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Discard；记录保留</a:t>
            </a:r>
          </a:p>
        </p:txBody>
      </p:sp>
      <p:sp>
        <p:nvSpPr>
          <p:cNvPr id="29" name="p17-eq">
            <a:extLst xmlns:a="http://schemas.openxmlformats.org/drawingml/2006/main">
              <a:ext uri="{FF2B5EF4-FFF2-40B4-BE49-F238E27FC236}">
                <a16:creationId xmlns:a16="http://schemas.microsoft.com/office/drawing/2014/main" id="{F2424136-64D0-42FC-8F1E-20D40E17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 + 成功 = 总迭代数｜跑通骨架即可，不要求跑完全部迭代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同伴互查：四约束 + 审核点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left-h">
            <a:extLst xmlns:a="http://schemas.openxmlformats.org/drawingml/2006/main">
              <a:ext uri="{FF2B5EF4-FFF2-40B4-BE49-F238E27FC236}">
                <a16:creationId xmlns:a16="http://schemas.microsoft.com/office/drawing/2014/main" id="{0DD88647-9603-4CA3-811D-01CB0BB5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作者负责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95E8AC9E-62B7-4B73-8786-5CF63410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3238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解释边界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记录问题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决定是否采纳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持续回写个人项目</a:t>
            </a:r>
          </a:p>
        </p:txBody>
      </p:sp>
      <p:sp>
        <p:nvSpPr>
          <p:cNvPr id="8" name="p18-right-h">
            <a:extLst xmlns:a="http://schemas.openxmlformats.org/drawingml/2006/main">
              <a:ext uri="{FF2B5EF4-FFF2-40B4-BE49-F238E27FC236}">
                <a16:creationId xmlns:a16="http://schemas.microsoft.com/office/drawing/2014/main" id="{96895D39-EF6E-491A-A742-8AE1E777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009650"/>
            <a:ext cx="7219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同伴只问五项</a:t>
            </a:r>
          </a:p>
        </p:txBody>
      </p:sp>
      <p:sp>
        <p:nvSpPr>
          <p:cNvPr id="9" name="p18-n-0">
            <a:extLst xmlns:a="http://schemas.openxmlformats.org/drawingml/2006/main">
              <a:ext uri="{FF2B5EF4-FFF2-40B4-BE49-F238E27FC236}">
                <a16:creationId xmlns:a16="http://schemas.microsoft.com/office/drawing/2014/main" id="{28E63B7B-F2F3-4B8F-A6B9-1922DAC5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76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p18-q-0">
            <a:extLst xmlns:a="http://schemas.openxmlformats.org/drawingml/2006/main">
              <a:ext uri="{FF2B5EF4-FFF2-40B4-BE49-F238E27FC236}">
                <a16:creationId xmlns:a16="http://schemas.microsoft.com/office/drawing/2014/main" id="{F4B24F98-E674-4AFB-BF1D-60D06B3D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7640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四约束缺哪一项？</a:t>
            </a:r>
          </a:p>
        </p:txBody>
      </p:sp>
      <p:sp>
        <p:nvSpPr>
          <p:cNvPr id="11" name="p18-n-1">
            <a:extLst xmlns:a="http://schemas.openxmlformats.org/drawingml/2006/main">
              <a:ext uri="{FF2B5EF4-FFF2-40B4-BE49-F238E27FC236}">
                <a16:creationId xmlns:a16="http://schemas.microsoft.com/office/drawing/2014/main" id="{AB7E1D31-748A-40C4-90D5-D53DACEE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p18-q-1">
            <a:extLst xmlns:a="http://schemas.openxmlformats.org/drawingml/2006/main">
              <a:ext uri="{FF2B5EF4-FFF2-40B4-BE49-F238E27FC236}">
                <a16:creationId xmlns:a16="http://schemas.microsoft.com/office/drawing/2014/main" id="{B9AFA9A8-B642-46A8-AB2C-C5746F31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6695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停止条件有禁止类吗？</a:t>
            </a:r>
          </a:p>
        </p:txBody>
      </p:sp>
      <p:sp>
        <p:nvSpPr>
          <p:cNvPr id="13" name="p18-n-2">
            <a:extLst xmlns:a="http://schemas.openxmlformats.org/drawingml/2006/main">
              <a:ext uri="{FF2B5EF4-FFF2-40B4-BE49-F238E27FC236}">
                <a16:creationId xmlns:a16="http://schemas.microsoft.com/office/drawing/2014/main" id="{0F5A674F-7523-48DF-8935-9052C29A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p18-q-2">
            <a:extLst xmlns:a="http://schemas.openxmlformats.org/drawingml/2006/main">
              <a:ext uri="{FF2B5EF4-FFF2-40B4-BE49-F238E27FC236}">
                <a16:creationId xmlns:a16="http://schemas.microsoft.com/office/drawing/2014/main" id="{96BC0B50-BE1C-44ED-B8C1-CA1623CB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5750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审核点标出了吗？</a:t>
            </a:r>
          </a:p>
        </p:txBody>
      </p:sp>
      <p:sp>
        <p:nvSpPr>
          <p:cNvPr id="15" name="p18-n-3">
            <a:extLst xmlns:a="http://schemas.openxmlformats.org/drawingml/2006/main">
              <a:ext uri="{FF2B5EF4-FFF2-40B4-BE49-F238E27FC236}">
                <a16:creationId xmlns:a16="http://schemas.microsoft.com/office/drawing/2014/main" id="{41F80F1E-8C86-49DE-AB03-30941C42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480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18-q-3">
            <a:extLst xmlns:a="http://schemas.openxmlformats.org/drawingml/2006/main">
              <a:ext uri="{FF2B5EF4-FFF2-40B4-BE49-F238E27FC236}">
                <a16:creationId xmlns:a16="http://schemas.microsoft.com/office/drawing/2014/main" id="{D5552600-E768-455D-A8C4-0C52D02F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4805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失败记录是七字段吗？</a:t>
            </a:r>
          </a:p>
        </p:txBody>
      </p:sp>
      <p:sp>
        <p:nvSpPr>
          <p:cNvPr id="17" name="p18-n-4">
            <a:extLst xmlns:a="http://schemas.openxmlformats.org/drawingml/2006/main">
              <a:ext uri="{FF2B5EF4-FFF2-40B4-BE49-F238E27FC236}">
                <a16:creationId xmlns:a16="http://schemas.microsoft.com/office/drawing/2014/main" id="{91443712-2152-4D98-AECD-79A22CF9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386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p18-q-4">
            <a:extLst xmlns:a="http://schemas.openxmlformats.org/drawingml/2006/main">
              <a:ext uri="{FF2B5EF4-FFF2-40B4-BE49-F238E27FC236}">
                <a16:creationId xmlns:a16="http://schemas.microsoft.com/office/drawing/2014/main" id="{B87C53E4-3D42-4E24-8BB6-935B68C4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38600"/>
            <a:ext cx="641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八维拆解出现越界表述吗？</a:t>
            </a:r>
          </a:p>
        </p:txBody>
      </p:sp>
      <p:sp>
        <p:nvSpPr>
          <p:cNvPr id="19" name="p18-bottom">
            <a:extLst xmlns:a="http://schemas.openxmlformats.org/drawingml/2006/main">
              <a:ext uri="{FF2B5EF4-FFF2-40B4-BE49-F238E27FC236}">
                <a16:creationId xmlns:a16="http://schemas.microsoft.com/office/drawing/2014/main" id="{68B37481-F049-4494-8D22-363D9844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857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 分钟｜只提问题，不替作者决定，不形成共同提交。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summary-11-number-0">
            <a:extLst xmlns:a="http://schemas.openxmlformats.org/drawingml/2006/main">
              <a:ext uri="{FF2B5EF4-FFF2-40B4-BE49-F238E27FC236}">
                <a16:creationId xmlns:a16="http://schemas.microsoft.com/office/drawing/2014/main" id="{29C6BC45-65A6-4C99-95B0-3E44A167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11-heading-0">
            <a:extLst xmlns:a="http://schemas.openxmlformats.org/drawingml/2006/main">
              <a:ext uri="{FF2B5EF4-FFF2-40B4-BE49-F238E27FC236}">
                <a16:creationId xmlns:a16="http://schemas.microsoft.com/office/drawing/2014/main" id="{358F5058-2662-4EC8-859A-909FBEF3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循环五步</a:t>
            </a:r>
          </a:p>
        </p:txBody>
      </p:sp>
      <p:sp>
        <p:nvSpPr>
          <p:cNvPr id="8" name="summary-11-detail-0">
            <a:extLst xmlns:a="http://schemas.openxmlformats.org/drawingml/2006/main">
              <a:ext uri="{FF2B5EF4-FFF2-40B4-BE49-F238E27FC236}">
                <a16:creationId xmlns:a16="http://schemas.microsoft.com/office/drawing/2014/main" id="{579EFCB4-D0A7-40D3-931D-B285616E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 → 运行 → 度量 → 评价 → 回写或回退</a:t>
            </a:r>
          </a:p>
        </p:txBody>
      </p:sp>
      <p:sp>
        <p:nvSpPr>
          <p:cNvPr id="9" name="summary-11-number-1">
            <a:extLst xmlns:a="http://schemas.openxmlformats.org/drawingml/2006/main">
              <a:ext uri="{FF2B5EF4-FFF2-40B4-BE49-F238E27FC236}">
                <a16:creationId xmlns:a16="http://schemas.microsoft.com/office/drawing/2014/main" id="{70E2CA75-44A2-4263-8D28-805EF9D3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11-heading-1">
            <a:extLst xmlns:a="http://schemas.openxmlformats.org/drawingml/2006/main">
              <a:ext uri="{FF2B5EF4-FFF2-40B4-BE49-F238E27FC236}">
                <a16:creationId xmlns:a16="http://schemas.microsoft.com/office/drawing/2014/main" id="{24C46275-294A-410F-8846-DBA29477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四项约束</a:t>
            </a:r>
          </a:p>
        </p:txBody>
      </p:sp>
      <p:sp>
        <p:nvSpPr>
          <p:cNvPr id="11" name="summary-11-detail-1">
            <a:extLst xmlns:a="http://schemas.openxmlformats.org/drawingml/2006/main">
              <a:ext uri="{FF2B5EF4-FFF2-40B4-BE49-F238E27FC236}">
                <a16:creationId xmlns:a16="http://schemas.microsoft.com/office/drawing/2014/main" id="{2002AEF6-1CFD-4BF2-9098-3981CCF1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固定指标、预算、停止条件与回退机制预先写明</a:t>
            </a:r>
          </a:p>
        </p:txBody>
      </p:sp>
      <p:sp>
        <p:nvSpPr>
          <p:cNvPr id="12" name="summary-11-number-2">
            <a:extLst xmlns:a="http://schemas.openxmlformats.org/drawingml/2006/main">
              <a:ext uri="{FF2B5EF4-FFF2-40B4-BE49-F238E27FC236}">
                <a16:creationId xmlns:a16="http://schemas.microsoft.com/office/drawing/2014/main" id="{2475D5AA-D53F-4CCD-9E5E-43D0274C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11-heading-2">
            <a:extLst xmlns:a="http://schemas.openxmlformats.org/drawingml/2006/main">
              <a:ext uri="{FF2B5EF4-FFF2-40B4-BE49-F238E27FC236}">
                <a16:creationId xmlns:a16="http://schemas.microsoft.com/office/drawing/2014/main" id="{AF9308F0-639C-44BE-A05C-CF4386A8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失败追踪</a:t>
            </a:r>
          </a:p>
        </p:txBody>
      </p:sp>
      <p:sp>
        <p:nvSpPr>
          <p:cNvPr id="14" name="summary-11-detail-2">
            <a:extLst xmlns:a="http://schemas.openxmlformats.org/drawingml/2006/main">
              <a:ext uri="{FF2B5EF4-FFF2-40B4-BE49-F238E27FC236}">
                <a16:creationId xmlns:a16="http://schemas.microsoft.com/office/drawing/2014/main" id="{40AD225D-2501-40BA-B69A-FB46E818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失败与成功共同构成总迭代数，不能只保留最佳结果</a:t>
            </a:r>
          </a:p>
        </p:txBody>
      </p:sp>
      <p:sp>
        <p:nvSpPr>
          <p:cNvPr id="15" name="summary-11-number-3">
            <a:extLst xmlns:a="http://schemas.openxmlformats.org/drawingml/2006/main">
              <a:ext uri="{FF2B5EF4-FFF2-40B4-BE49-F238E27FC236}">
                <a16:creationId xmlns:a16="http://schemas.microsoft.com/office/drawing/2014/main" id="{1BDED630-538C-45C5-9AE0-939E86FE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11-heading-3">
            <a:extLst xmlns:a="http://schemas.openxmlformats.org/drawingml/2006/main">
              <a:ext uri="{FF2B5EF4-FFF2-40B4-BE49-F238E27FC236}">
                <a16:creationId xmlns:a16="http://schemas.microsoft.com/office/drawing/2014/main" id="{87940C95-5A0C-4097-B558-67C13245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人工审核</a:t>
            </a:r>
          </a:p>
        </p:txBody>
      </p:sp>
      <p:sp>
        <p:nvSpPr>
          <p:cNvPr id="17" name="summary-11-detail-3">
            <a:extLst xmlns:a="http://schemas.openxmlformats.org/drawingml/2006/main">
              <a:ext uri="{FF2B5EF4-FFF2-40B4-BE49-F238E27FC236}">
                <a16:creationId xmlns:a16="http://schemas.microsoft.com/office/drawing/2014/main" id="{C0337A77-7180-4FF8-9854-34DA4402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指标、研究价值、回退目标和正式写回仍由研究者判断</a:t>
            </a:r>
          </a:p>
        </p:txBody>
      </p:sp>
      <p:sp>
        <p:nvSpPr>
          <p:cNvPr id="18" name="summary-11-boundary">
            <a:extLst xmlns:a="http://schemas.openxmlformats.org/drawingml/2006/main">
              <a:ext uri="{FF2B5EF4-FFF2-40B4-BE49-F238E27FC236}">
                <a16:creationId xmlns:a16="http://schemas.microsoft.com/office/drawing/2014/main" id="{CF41EA5D-46BF-426F-9827-4B6BD4C4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关键边界：自动循环可以重复动作，但不得在运行中自行改变评价协议或研究目标。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12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19-left-h">
            <a:extLst xmlns:a="http://schemas.openxmlformats.org/drawingml/2006/main">
              <a:ext uri="{FF2B5EF4-FFF2-40B4-BE49-F238E27FC236}">
                <a16:creationId xmlns:a16="http://schemas.microsoft.com/office/drawing/2014/main" id="{EDCA3F70-9960-4195-885E-4253381D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542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9-n-0">
            <a:extLst xmlns:a="http://schemas.openxmlformats.org/drawingml/2006/main">
              <a:ext uri="{FF2B5EF4-FFF2-40B4-BE49-F238E27FC236}">
                <a16:creationId xmlns:a16="http://schemas.microsoft.com/office/drawing/2014/main" id="{5AB31FEF-2823-46BD-8487-F2DBC2CF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9-q-0">
            <a:extLst xmlns:a="http://schemas.openxmlformats.org/drawingml/2006/main">
              <a:ext uri="{FF2B5EF4-FFF2-40B4-BE49-F238E27FC236}">
                <a16:creationId xmlns:a16="http://schemas.microsoft.com/office/drawing/2014/main" id="{4E3358AA-1F51-4C93-940D-1E7DB8B5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四约束最容易缺哪一项？</a:t>
            </a:r>
          </a:p>
        </p:txBody>
      </p:sp>
      <p:sp>
        <p:nvSpPr>
          <p:cNvPr id="9" name="p19-n-1">
            <a:extLst xmlns:a="http://schemas.openxmlformats.org/drawingml/2006/main">
              <a:ext uri="{FF2B5EF4-FFF2-40B4-BE49-F238E27FC236}">
                <a16:creationId xmlns:a16="http://schemas.microsoft.com/office/drawing/2014/main" id="{4F308E6E-283E-461F-9226-6DA4379B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9-q-1">
            <a:extLst xmlns:a="http://schemas.openxmlformats.org/drawingml/2006/main">
              <a:ext uri="{FF2B5EF4-FFF2-40B4-BE49-F238E27FC236}">
                <a16:creationId xmlns:a16="http://schemas.microsoft.com/office/drawing/2014/main" id="{B119FBEA-A27D-4862-8578-7A77E120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哪个位置最需要人工确认？</a:t>
            </a:r>
          </a:p>
        </p:txBody>
      </p:sp>
      <p:sp>
        <p:nvSpPr>
          <p:cNvPr id="11" name="p19-n-2">
            <a:extLst xmlns:a="http://schemas.openxmlformats.org/drawingml/2006/main">
              <a:ext uri="{FF2B5EF4-FFF2-40B4-BE49-F238E27FC236}">
                <a16:creationId xmlns:a16="http://schemas.microsoft.com/office/drawing/2014/main" id="{49FCD9F5-00A0-48DC-8C7D-7BDBB0852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9-q-2">
            <a:extLst xmlns:a="http://schemas.openxmlformats.org/drawingml/2006/main">
              <a:ext uri="{FF2B5EF4-FFF2-40B4-BE49-F238E27FC236}">
                <a16:creationId xmlns:a16="http://schemas.microsoft.com/office/drawing/2014/main" id="{60A963BD-194B-445B-9B56-B5763BD2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480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是否把两个案例外推成自主科研？</a:t>
            </a:r>
          </a:p>
        </p:txBody>
      </p:sp>
      <p:sp>
        <p:nvSpPr>
          <p:cNvPr id="13" name="p19-n-3">
            <a:extLst xmlns:a="http://schemas.openxmlformats.org/drawingml/2006/main">
              <a:ext uri="{FF2B5EF4-FFF2-40B4-BE49-F238E27FC236}">
                <a16:creationId xmlns:a16="http://schemas.microsoft.com/office/drawing/2014/main" id="{567C7C96-4CF9-4D8F-9F59-66FD5EF6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9-q-3">
            <a:extLst xmlns:a="http://schemas.openxmlformats.org/drawingml/2006/main">
              <a:ext uri="{FF2B5EF4-FFF2-40B4-BE49-F238E27FC236}">
                <a16:creationId xmlns:a16="http://schemas.microsoft.com/office/drawing/2014/main" id="{81B0B8AB-7317-410E-950D-18303074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4629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进入第 12 课前的最小卡点？</a:t>
            </a:r>
          </a:p>
        </p:txBody>
      </p:sp>
      <p:sp>
        <p:nvSpPr>
          <p:cNvPr id="15" name="p19-right-h">
            <a:extLst xmlns:a="http://schemas.openxmlformats.org/drawingml/2006/main">
              <a:ext uri="{FF2B5EF4-FFF2-40B4-BE49-F238E27FC236}">
                <a16:creationId xmlns:a16="http://schemas.microsoft.com/office/drawing/2014/main" id="{985278BB-3341-4954-BB09-2C4DEB9E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4895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12 课：重新组合为个人工作流</a:t>
            </a:r>
          </a:p>
        </p:txBody>
      </p:sp>
      <p:sp>
        <p:nvSpPr>
          <p:cNvPr id="16" name="p19-line-0">
            <a:extLst xmlns:a="http://schemas.openxmlformats.org/drawingml/2006/main">
              <a:ext uri="{FF2B5EF4-FFF2-40B4-BE49-F238E27FC236}">
                <a16:creationId xmlns:a16="http://schemas.microsoft.com/office/drawing/2014/main" id="{B3ED17D2-9A23-4543-BE2C-88932B0A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21907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9-f-0">
            <a:extLst xmlns:a="http://schemas.openxmlformats.org/drawingml/2006/main">
              <a:ext uri="{FF2B5EF4-FFF2-40B4-BE49-F238E27FC236}">
                <a16:creationId xmlns:a16="http://schemas.microsoft.com/office/drawing/2014/main" id="{5CFC39DA-3F1C-496E-B663-24A23302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1925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受限循环骨架</a:t>
            </a:r>
          </a:p>
        </p:txBody>
      </p:sp>
      <p:sp>
        <p:nvSpPr>
          <p:cNvPr id="18" name="p19-line-1">
            <a:extLst xmlns:a="http://schemas.openxmlformats.org/drawingml/2006/main">
              <a:ext uri="{FF2B5EF4-FFF2-40B4-BE49-F238E27FC236}">
                <a16:creationId xmlns:a16="http://schemas.microsoft.com/office/drawing/2014/main" id="{DDBD2FB8-1667-4DB6-A493-90300BCC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30480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9-f-1">
            <a:extLst xmlns:a="http://schemas.openxmlformats.org/drawingml/2006/main">
              <a:ext uri="{FF2B5EF4-FFF2-40B4-BE49-F238E27FC236}">
                <a16:creationId xmlns:a16="http://schemas.microsoft.com/office/drawing/2014/main" id="{CE5EAEFE-800E-4735-807C-6DAA522D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7650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 · Context · Memory</a:t>
            </a:r>
          </a:p>
        </p:txBody>
      </p:sp>
      <p:sp>
        <p:nvSpPr>
          <p:cNvPr id="20" name="p19-line-2">
            <a:extLst xmlns:a="http://schemas.openxmlformats.org/drawingml/2006/main">
              <a:ext uri="{FF2B5EF4-FFF2-40B4-BE49-F238E27FC236}">
                <a16:creationId xmlns:a16="http://schemas.microsoft.com/office/drawing/2014/main" id="{90DD9D46-BC89-4281-8371-C0045880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39052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9-f-2">
            <a:extLst xmlns:a="http://schemas.openxmlformats.org/drawingml/2006/main">
              <a:ext uri="{FF2B5EF4-FFF2-40B4-BE49-F238E27FC236}">
                <a16:creationId xmlns:a16="http://schemas.microsoft.com/office/drawing/2014/main" id="{3B9529C5-48EE-448D-9D0D-47242ABB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工具/权限 · Evals · 审核</a:t>
            </a:r>
          </a:p>
        </p:txBody>
      </p:sp>
      <p:sp>
        <p:nvSpPr>
          <p:cNvPr id="22" name="p19-f-3">
            <a:extLst xmlns:a="http://schemas.openxmlformats.org/drawingml/2006/main">
              <a:ext uri="{FF2B5EF4-FFF2-40B4-BE49-F238E27FC236}">
                <a16:creationId xmlns:a16="http://schemas.microsoft.com/office/drawing/2014/main" id="{E6156BC4-6345-4E65-A3D9-C5CDBB7D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91000"/>
            <a:ext cx="4171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可运行或可演示原型</a:t>
            </a:r>
          </a:p>
        </p:txBody>
      </p:sp>
      <p:sp>
        <p:nvSpPr>
          <p:cNvPr id="23" name="p19-bottom">
            <a:extLst xmlns:a="http://schemas.openxmlformats.org/drawingml/2006/main">
              <a:ext uri="{FF2B5EF4-FFF2-40B4-BE49-F238E27FC236}">
                <a16:creationId xmlns:a16="http://schemas.microsoft.com/office/drawing/2014/main" id="{96D123C9-05B9-4A6C-A7A9-67DEA0A0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本课无正式提交｜第 13 课验证门统一检查评价、失败保留与人工审核。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2026-08-20T15:33:22.3750000Z</dcterms:created>
  <dcterms:modified xsi:type="dcterms:W3CDTF">2026-08-20T15:33:22.3750000Z</dcterms:modified>
</coreProperties>
</file>