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7f23f755be34eaa" /><Relationship Type="http://schemas.openxmlformats.org/officeDocument/2006/relationships/extended-properties" Target="/docProps/app.xml" Id="R3b0f826e7ff840b9" /><Relationship Type="http://schemas.openxmlformats.org/officeDocument/2006/relationships/officeDocument" Target="/ppt/presentation.xml" Id="R7a23dc4a5a9c40b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ea7922d83b0430d"/>
  </p:sldMasterIdLst>
  <p:notesMasterIdLst>
    <p:notesMasterId xmlns:r="http://schemas.openxmlformats.org/officeDocument/2006/relationships" r:id="Rcef8c6fea7534ce0"/>
  </p:notesMasterIdLst>
  <p:sldIdLst>
    <p:sldId xmlns:r="http://schemas.openxmlformats.org/officeDocument/2006/relationships" id="256" r:id="Rbd8157d749a34bd8"/>
    <p:sldId xmlns:r="http://schemas.openxmlformats.org/officeDocument/2006/relationships" id="257" r:id="Rfbe70a642e2e4301"/>
    <p:sldId xmlns:r="http://schemas.openxmlformats.org/officeDocument/2006/relationships" id="258" r:id="R890ee1e723154797"/>
    <p:sldId xmlns:r="http://schemas.openxmlformats.org/officeDocument/2006/relationships" id="259" r:id="R2ccce51ac59c4698"/>
    <p:sldId xmlns:r="http://schemas.openxmlformats.org/officeDocument/2006/relationships" id="260" r:id="Rb01fafdd03c942e7"/>
    <p:sldId xmlns:r="http://schemas.openxmlformats.org/officeDocument/2006/relationships" id="261" r:id="R3260acda89c74e9c"/>
    <p:sldId xmlns:r="http://schemas.openxmlformats.org/officeDocument/2006/relationships" id="262" r:id="Re8e753574b3d4595"/>
    <p:sldId xmlns:r="http://schemas.openxmlformats.org/officeDocument/2006/relationships" id="263" r:id="R862759d97a0b42f7"/>
    <p:sldId xmlns:r="http://schemas.openxmlformats.org/officeDocument/2006/relationships" id="264" r:id="Rf3eb5e1c14f64955"/>
    <p:sldId xmlns:r="http://schemas.openxmlformats.org/officeDocument/2006/relationships" id="265" r:id="R292aabe3d7734bca"/>
    <p:sldId xmlns:r="http://schemas.openxmlformats.org/officeDocument/2006/relationships" id="266" r:id="R96652f9c7822479d"/>
    <p:sldId xmlns:r="http://schemas.openxmlformats.org/officeDocument/2006/relationships" id="267" r:id="R3f844e466c6b47e8"/>
    <p:sldId xmlns:r="http://schemas.openxmlformats.org/officeDocument/2006/relationships" id="268" r:id="R4a6804368c1e4525"/>
    <p:sldId xmlns:r="http://schemas.openxmlformats.org/officeDocument/2006/relationships" id="269" r:id="R6386b1292d424583"/>
    <p:sldId xmlns:r="http://schemas.openxmlformats.org/officeDocument/2006/relationships" id="270" r:id="R691c80720f6544f7"/>
    <p:sldId xmlns:r="http://schemas.openxmlformats.org/officeDocument/2006/relationships" id="271" r:id="R9a75ed38ed764f4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f56cf5d0c247a7" /><Relationship Type="http://schemas.openxmlformats.org/officeDocument/2006/relationships/slideMaster" Target="/ppt/slideMasters/slideMaster1.xml" Id="R9ea7922d83b0430d" /><Relationship Type="http://schemas.openxmlformats.org/officeDocument/2006/relationships/notesMaster" Target="/ppt/notesMasters/notesMaster1.xml" Id="Rcef8c6fea7534ce0" /><Relationship Type="http://schemas.openxmlformats.org/officeDocument/2006/relationships/presProps" Target="/ppt/presProps.xml" Id="Raad7bd56dc234dbf" /><Relationship Type="http://schemas.openxmlformats.org/officeDocument/2006/relationships/viewProps" Target="/ppt/viewProps.xml" Id="Rf2f928f062ea4ce1" /><Relationship Type="http://schemas.openxmlformats.org/officeDocument/2006/relationships/tableStyles" Target="/ppt/tableStyles.xml" Id="R56f76ca02be74c7b" /><Relationship Type="http://schemas.openxmlformats.org/officeDocument/2006/relationships/slide" Target="/ppt/slides/slide1.xml" Id="Rbd8157d749a34bd8" /><Relationship Type="http://schemas.openxmlformats.org/officeDocument/2006/relationships/slide" Target="/ppt/slides/slide2.xml" Id="Rfbe70a642e2e4301" /><Relationship Type="http://schemas.openxmlformats.org/officeDocument/2006/relationships/slide" Target="/ppt/slides/slide3.xml" Id="R890ee1e723154797" /><Relationship Type="http://schemas.openxmlformats.org/officeDocument/2006/relationships/slide" Target="/ppt/slides/slide4.xml" Id="R2ccce51ac59c4698" /><Relationship Type="http://schemas.openxmlformats.org/officeDocument/2006/relationships/slide" Target="/ppt/slides/slide5.xml" Id="Rb01fafdd03c942e7" /><Relationship Type="http://schemas.openxmlformats.org/officeDocument/2006/relationships/slide" Target="/ppt/slides/slide6.xml" Id="R3260acda89c74e9c" /><Relationship Type="http://schemas.openxmlformats.org/officeDocument/2006/relationships/slide" Target="/ppt/slides/slide7.xml" Id="Re8e753574b3d4595" /><Relationship Type="http://schemas.openxmlformats.org/officeDocument/2006/relationships/slide" Target="/ppt/slides/slide8.xml" Id="R862759d97a0b42f7" /><Relationship Type="http://schemas.openxmlformats.org/officeDocument/2006/relationships/slide" Target="/ppt/slides/slide9.xml" Id="Rf3eb5e1c14f64955" /><Relationship Type="http://schemas.openxmlformats.org/officeDocument/2006/relationships/slide" Target="/ppt/slides/slide10.xml" Id="R292aabe3d7734bca" /><Relationship Type="http://schemas.openxmlformats.org/officeDocument/2006/relationships/slide" Target="/ppt/slides/slide11.xml" Id="R96652f9c7822479d" /><Relationship Type="http://schemas.openxmlformats.org/officeDocument/2006/relationships/slide" Target="/ppt/slides/slide12.xml" Id="R3f844e466c6b47e8" /><Relationship Type="http://schemas.openxmlformats.org/officeDocument/2006/relationships/slide" Target="/ppt/slides/slide13.xml" Id="R4a6804368c1e4525" /><Relationship Type="http://schemas.openxmlformats.org/officeDocument/2006/relationships/slide" Target="/ppt/slides/slide14.xml" Id="R6386b1292d424583" /><Relationship Type="http://schemas.openxmlformats.org/officeDocument/2006/relationships/slide" Target="/ppt/slides/slide15.xml" Id="R691c80720f6544f7" /><Relationship Type="http://schemas.openxmlformats.org/officeDocument/2006/relationships/slide" Target="/ppt/slides/slide16.xml" Id="R9a75ed38ed764f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563f588deff4ed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9c7868943004be1" /><Relationship Type="http://schemas.openxmlformats.org/officeDocument/2006/relationships/notesMaster" Target="/ppt/notesMasters/notesMaster1.xml" Id="R1d46f9c2a2f94be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ea62bfb079c4577" /><Relationship Type="http://schemas.openxmlformats.org/officeDocument/2006/relationships/notesMaster" Target="/ppt/notesMasters/notesMaster1.xml" Id="Reb7fb675e1814a0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4853be18da0429a" /><Relationship Type="http://schemas.openxmlformats.org/officeDocument/2006/relationships/notesMaster" Target="/ppt/notesMasters/notesMaster1.xml" Id="R944ec560f92b476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fc46283d3dc4f87" /><Relationship Type="http://schemas.openxmlformats.org/officeDocument/2006/relationships/notesMaster" Target="/ppt/notesMasters/notesMaster1.xml" Id="Re47b26703b90428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8c712f99fd44bb7" /><Relationship Type="http://schemas.openxmlformats.org/officeDocument/2006/relationships/notesMaster" Target="/ppt/notesMasters/notesMaster1.xml" Id="R42c6d8c24d0148c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36b5682ce9d4189" /><Relationship Type="http://schemas.openxmlformats.org/officeDocument/2006/relationships/notesMaster" Target="/ppt/notesMasters/notesMaster1.xml" Id="R20f31001d23841d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42b948a0f644020" /><Relationship Type="http://schemas.openxmlformats.org/officeDocument/2006/relationships/notesMaster" Target="/ppt/notesMasters/notesMaster1.xml" Id="Rb94e45c851ef4ea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a6c22e7cdaf4503" /><Relationship Type="http://schemas.openxmlformats.org/officeDocument/2006/relationships/notesMaster" Target="/ppt/notesMasters/notesMaster1.xml" Id="Rec956f8fbcff421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628cc425f5b47f2" /><Relationship Type="http://schemas.openxmlformats.org/officeDocument/2006/relationships/notesMaster" Target="/ppt/notesMasters/notesMaster1.xml" Id="R51aa1c1d632245f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29d11066bda4b3d" /><Relationship Type="http://schemas.openxmlformats.org/officeDocument/2006/relationships/notesMaster" Target="/ppt/notesMasters/notesMaster1.xml" Id="R71da502813a54ee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3f086d485a14a3f" /><Relationship Type="http://schemas.openxmlformats.org/officeDocument/2006/relationships/notesMaster" Target="/ppt/notesMasters/notesMaster1.xml" Id="Rdfb77a02e89f487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400192fea954b32" /><Relationship Type="http://schemas.openxmlformats.org/officeDocument/2006/relationships/notesMaster" Target="/ppt/notesMasters/notesMaster1.xml" Id="R9aee00176642414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df2f136a4004527" /><Relationship Type="http://schemas.openxmlformats.org/officeDocument/2006/relationships/notesMaster" Target="/ppt/notesMasters/notesMaster1.xml" Id="R2a62e22575304cd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015605a04a342de" /><Relationship Type="http://schemas.openxmlformats.org/officeDocument/2006/relationships/notesMaster" Target="/ppt/notesMasters/notesMaster1.xml" Id="R78a9cb22ec52480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5a1a63a99bf43d9" /><Relationship Type="http://schemas.openxmlformats.org/officeDocument/2006/relationships/notesMaster" Target="/ppt/notesMasters/notesMaster1.xml" Id="Rc79a0794fd9c407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250c581f18f427d" /><Relationship Type="http://schemas.openxmlformats.org/officeDocument/2006/relationships/notesMaster" Target="/ppt/notesMasters/notesMaster1.xml" Id="R249ae93a7b4f4e8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页面：P01 第14讲 论文式表达与回写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第14讲 论文式表达与回写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承接第 13 课评价报告。本课不是写作理论综述，也不是正式提交门。学生打开自己的一个关键结果。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讲义导读；`assignments.md` 第 14 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https://press.uchicago.edu/ucp/books/book/chicago/C/bo215874008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页面：P02 从一个结果留下三个工件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一个论证段 → 一条结论追踪记录 → 一段 AI 披露摘要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课堂：完成最小工件；课后：补全 report.md；第 16 课：检查论证门。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让学生写下本课选择的结果编号或文件位置。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本课板书、诊断与串词：</a:t>
            </a:r>
          </a:p>
          <a:p xmlns:a="http://schemas.openxmlformats.org/drawingml/2006/main">
            <a:r>
              <a:t>本节替换同类口头提示，不增加既有时段。开场诊断嵌入现有开场/回顾，后续再沿原实践时段操作。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**板书主线**：主张 → 证据 → 推理 → 边界；反向追踪。</a:t>
            </a:r>
          </a:p>
          <a:p xmlns:a="http://schemas.openxmlformats.org/drawingml/2006/main">
            <a:r>
              <a:t>- **诊断问题**：两个总数允许写“机制已证明”吗？</a:t>
            </a:r>
          </a:p>
          <a:p xmlns:a="http://schemas.openxmlformats.org/drawingml/2006/main">
            <a:r>
              <a:t>- **预期回答**：只支持构造包内结果方向，机制未决。</a:t>
            </a:r>
          </a:p>
          <a:p xmlns:a="http://schemas.openxmlformats.org/drawingml/2006/main">
            <a:r>
              <a:t>- **常见误答后的追问**：先修改越界主句，不能仅追加“待验证”作尾注。</a:t>
            </a:r>
          </a:p>
          <a:p xmlns:a="http://schemas.openxmlformats.org/drawingml/2006/main">
            <a:r>
              <a:t>- **过渡串词**：“这份带证据和缺口的初稿，才是下一课真实评审对象。”</a:t>
            </a:r>
          </a:p>
          <a:p xmlns:a="http://schemas.openxmlformats.org/drawingml/2006/main">
            <a:r>
              <a:t>- **当堂最小产出**：一个四句段落、一条追踪记录、一段真实披露。</a:t>
            </a:r>
          </a:p>
          <a:p xmlns:a="http://schemas.openxmlformats.org/drawingml/2006/main">
            <a:r>
              <a:t>- **退出记录**：写“已完成的动作、本人项目仍缺的证据/工件、下次补齐位置”。使用教师包时标明课堂方法练习，不能据此宣称本人研究门通过；正式提交课次仍为第 6、9、13、16 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讲义“本课、课后与研究门的边界”。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https://press.uchicago.edu/ucp/books/book/chicago/C/bo215874008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页面：P03 先选一个能反查的结果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§六、贯穿案例：从验证门材料到论文式短文初版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结果：构造小包总遗漏率 3/8 与 4/8。</a:t>
            </a:r>
          </a:p>
          <a:p xmlns:a="http://schemas.openxmlformats.org/drawingml/2006/main">
            <a:r>
              <a:t>原始对象：T01–T03、输出原句与逐项标注。</a:t>
            </a:r>
          </a:p>
          <a:p xmlns:a="http://schemas.openxmlformats.org/drawingml/2006/main">
            <a:r>
              <a:t>反例：T03。</a:t>
            </a:r>
          </a:p>
          <a:p xmlns:a="http://schemas.openxmlformats.org/drawingml/2006/main">
            <a:r>
              <a:t>未决：H1/A2、其他质量与外推范围。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先定位结果记录再写段落。学生没有个人结果时可用教师包练习，但课后仍需迁移到本人研究。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指出本人一个结果及其原始记录位置。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./handout.md；课堂示例与构造数据见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https://press.uchicago.edu/ucp/books/book/chicago/C/bo215874008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页面：P04 论证段的四个部件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主张：本构造包中，阅读卡组总遗漏率较低。</a:t>
            </a:r>
          </a:p>
          <a:p xmlns:a="http://schemas.openxmlformats.org/drawingml/2006/main">
            <a:r>
              <a:t>证据：3/8 与 4/8，可反查逐项标注。</a:t>
            </a:r>
          </a:p>
          <a:p xmlns:a="http://schemas.openxmlformats.org/drawingml/2006/main">
            <a:r>
              <a:t>推理：汇总方向与 Q1 预测一致。</a:t>
            </a:r>
          </a:p>
          <a:p xmlns:a="http://schemas.openxmlformats.org/drawingml/2006/main">
            <a:r>
              <a:t>边界：H1/A2 未区分，其他质量未测，保留 T03 负例。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IMRaD 只用于定位这些部件，不另讲一套填表规则。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Booth et al., *The Craft of Research*, Ch. 5, 7；讲义 §二。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https://press.uchicago.edu/ucp/books/book/chicago/C/bo215874008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页面：P05 方法段交代数字如何产生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§六、贯穿案例：从验证门材料到论文式短文初版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材料：3 份教学构造源文本。</a:t>
            </a:r>
          </a:p>
          <a:p xmlns:a="http://schemas.openxmlformats.org/drawingml/2006/main">
            <a:r>
              <a:t>输出：每份两种预置输出，共 6 份。</a:t>
            </a:r>
          </a:p>
          <a:p xmlns:a="http://schemas.openxmlformats.org/drawingml/2006/main">
            <a:r>
              <a:t>标注：8 项基准条件，对应 16 条核验记录。</a:t>
            </a:r>
          </a:p>
          <a:p xmlns:a="http://schemas.openxmlformats.org/drawingml/2006/main">
            <a:r>
              <a:t>汇总：分别累计缺失数，分母均为 8。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无模型调用、无随机重复。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完整方法段不能把回放写成实时模型实验，也不能声称已完成双人盲评。所写每项方法应在文件或记录中找到对应。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删掉一项没有实际发生的方法描述。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./handout.md；课堂示例与构造数据见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https://press.uchicago.edu/ucp/books/book/chicago/C/bo215874008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页面：P06 总遗漏率较低，机制仍未区分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§六、贯穿案例：从验证门材料到论文式短文初版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阅读卡：3/8 = 0.375</a:t>
            </a:r>
          </a:p>
          <a:p xmlns:a="http://schemas.openxmlformats.org/drawingml/2006/main">
            <a:r>
              <a:t>自由摘要：4/8 = 0.500</a:t>
            </a:r>
          </a:p>
          <a:p xmlns:a="http://schemas.openxmlformats.org/drawingml/2006/main">
            <a:r>
              <a:t>差值：−0.125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T02 无改善；T03 更差。</a:t>
            </a:r>
          </a:p>
          <a:p xmlns:a="http://schemas.openxmlformats.org/drawingml/2006/main">
            <a:r>
              <a:t>教学构造汇总，无误差线和显著性结论。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图表使用真实可复算的分子分母。差值表示12.5个百分点，不是证明机制，更不是全体文本都改善。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请学生指出一个可写进结果段的句子和一个不能写的句子。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./handout.md；课堂示例与构造数据见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https://press.uchicago.edu/ucp/books/book/chicago/C/bo215874008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页面：P07 讨论中分别回答这些问题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§六、贯穿案例：从验证门材料到论文式短文初版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H1/A2：是否区分生成机制和评分提示？尚未。</a:t>
            </a:r>
          </a:p>
          <a:p xmlns:a="http://schemas.openxmlformats.org/drawingml/2006/main">
            <a:r>
              <a:t>A1：是否评估其他质量代价？尚未。</a:t>
            </a:r>
          </a:p>
          <a:p xmlns:a="http://schemas.openxmlformats.org/drawingml/2006/main">
            <a:r>
              <a:t>A3：是否支持外推所有材料？不支持；保留T03。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每个未决项对应下一项证据需求。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避免把四个编号并排叫“互斥假设”。先让学生说每个问题需要测什么，再决定是否追加实验或收窄主张。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为最影响本人结论的一项未决问题写补证路径。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./handout.md；课堂示例与构造数据见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https://press.uchicago.edu/ucp/books/book/chicago/C/bo215874008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页面：P08 四句话写出可追溯论证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§六、贯穿案例：从验证门材料到论文式短文初版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主张：本构造小包中，阅读卡的总遗漏率较低。</a:t>
            </a:r>
          </a:p>
          <a:p xmlns:a="http://schemas.openxmlformats.org/drawingml/2006/main">
            <a:r>
              <a:t>证据：阅读卡3/8，自由摘要4/8，见逐项标注。</a:t>
            </a:r>
          </a:p>
          <a:p xmlns:a="http://schemas.openxmlformats.org/drawingml/2006/main">
            <a:r>
              <a:t>推理：同口径汇总与Q1方向一致，不能识别机制。</a:t>
            </a:r>
          </a:p>
          <a:p xmlns:a="http://schemas.openxmlformats.org/drawingml/2006/main">
            <a:r>
              <a:t>边界：T03负向，H1/A2未区分，其他质量未测。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四句分别承担一个功能，先写出可核验的最小段落。完整可复制段落见讲义§六。把“模型证明了”改为实际数据允许的表述。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按四句结构写本人结果，标明一项具体证据位置。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./handout.md；课堂示例与构造数据见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https://press.uchicago.edu/ucp/books/book/chicago/C/bo215874008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页面：P09 修复这两处论证断裂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§六、贯穿案例：从验证门材料到论文式短文初版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错误一：“总分较好，所以H1成立。”</a:t>
            </a:r>
          </a:p>
          <a:p xmlns:a="http://schemas.openxmlformats.org/drawingml/2006/main">
            <a:r>
              <a:t>修订：结果与Q1方向一致，机制尚未区分。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错误二：“因此适用于所有文本。”</a:t>
            </a:r>
          </a:p>
          <a:p xmlns:a="http://schemas.openxmlformats.org/drawingml/2006/main">
            <a:r>
              <a:t>修订：本构造包范围内汇总较好，但T03为负例。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请学生先指出从证据跳到结论的哪一步没有依据，再展示修订。不要把“待验证”加在强结论后就当修复完成；主句本身要降到证据允许的范围。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修订自己段落里一个越界词，如证明、所有或必然。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./handout.md；课堂示例与构造数据见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https://press.uchicago.edu/ucp/books/book/chicago/C/bo215874008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页面：P10 追踪条目指向真实对象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§六、贯穿案例：从验证门材料到论文式短文初版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主张：本构造包的汇总比较。</a:t>
            </a:r>
          </a:p>
          <a:p xmlns:a="http://schemas.openxmlformats.org/drawingml/2006/main">
            <a:r>
              <a:t>证据：evaluation.json → annotations.json。</a:t>
            </a:r>
          </a:p>
          <a:p xmlns:a="http://schemas.openxmlformats.org/drawingml/2006/main">
            <a:r>
              <a:t>原始材料：T01–T03 的源文本与输出原句。</a:t>
            </a:r>
          </a:p>
          <a:p xmlns:a="http://schemas.openxmlformats.org/drawingml/2006/main">
            <a:r>
              <a:t>判断：Q1方向一致；H1/A2未决。</a:t>
            </a:r>
          </a:p>
          <a:p xmlns:a="http://schemas.openxmlformats.org/drawingml/2006/main">
            <a:r>
              <a:t>反例与缺口：T03；其他质量未测。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沿记录倒着点开，不能只填一个看似真实的exp编号。教师包路径见讲义；个人项目使用自己的实际记录。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同伴从段落选一个数字，完成一次反查。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./handout.md；课堂示例与构造数据见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https://press.uchicago.edu/ucp/books/book/chicago/C/bo215874008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页面：P11 披露只写真实发生的使用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§六、贯穿案例：从验证门材料到论文式短文初版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本示范回放预置输出，没有课堂模型调用。</a:t>
            </a:r>
          </a:p>
          <a:p xmlns:a="http://schemas.openxmlformats.org/drawingml/2006/main">
            <a:r>
              <a:t>若使用AI辅助写作：另记工具、版本/日期、用途与提示要点。</a:t>
            </a:r>
          </a:p>
          <a:p xmlns:a="http://schemas.openxmlformats.org/drawingml/2006/main">
            <a:r>
              <a:t>人工核验：数据、原句、范围、失败与引用。</a:t>
            </a:r>
          </a:p>
          <a:p xmlns:a="http://schemas.openxmlformats.org/drawingml/2006/main">
            <a:r>
              <a:t>输出用途：哪些候选实际进入报告。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不要为了填满披露模板虚构模型或版本。教师包的构造 provenance 不等于学生自己的AI使用日志。把执行记录与写作辅助记录分开。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从已有日志抽取一项真实用途和人工核验动作。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./handout.md；课堂示例与构造数据见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https://press.uchicago.edu/ucp/books/book/chicago/C/bo215874008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页面：P12 补齐追踪与披露，再保存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打开 report.md、结论追踪记录与 ai-usage-log.md。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追踪：C1 → 评价报告 → 逐项标注 → 源文本与输出。</a:t>
            </a:r>
          </a:p>
          <a:p xmlns:a="http://schemas.openxmlformats.org/drawingml/2006/main">
            <a:r>
              <a:t>强度：Q1 包内方向一致；H1/A2 未决，T03 负向。</a:t>
            </a:r>
          </a:p>
          <a:p xmlns:a="http://schemas.openxmlformats.org/drawingml/2006/main">
            <a:r>
              <a:t>披露：固定输出回放；其他 AI 辅助使用另据实记录。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完成标志：同伴能沿主张反查一次。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实践停留页。个人实践结束前提醒学生保存文件。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§三—四、§八练习。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https://press.uchicago.edu/ucp/books/book/chicago/C/bo215874008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页面：P13 请从同伴的主张反向找证据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主张 → 证据／运行记录 → 上游判断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能否找到？有没有越界？是否遗漏失败、冲突或 AI 核验？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作者记录处理决定与真实理由；采纳、澄清、补证、保留异议或暂缓，不凑类别。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两人互查。反馈可以采纳、澄清、补证、保留异议或暂缓，但必须指出具体位置。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讲义练习；assignments.md 第 15 课反馈口径。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https://press.uchicago.edu/ucp/books/book/chicago/C/bo215874008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页面：P14 本讲知识点总结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结果 → 主张 → 证据 → 推理 → 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写作可以重组事实，不能扩大证据支持范围。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反查：运行记录、上游判断与替代解释。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退出动作：学生说出本稿最需要补的一处证据或边界。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Booth et al.；AGENTS.md；讲义总结。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https://press.uchicago.edu/ucp/books/book/chicago/C/bo215874008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页面：P15 把一个段落扩成报告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report.md：问题／方法／结果／讨论。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用 IMRaD 或等价结构安排已有材料，写清一至两条可信贡献；核验引用和 AI 披露，保留失败、冲突与待验证状态。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课后补全，不新增独立作业。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删减内容不全部转成必读。学生只列一项最优先补全动作。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§二—七；assignments.md。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https://press.uchicago.edu/ucp/books/book/chicago/C/bo215874008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页面：P16 带着这份初稿进入真实评审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第 15 课输入：report.md 初版、结论追踪记录、AI 使用披露摘要、可定位证据与运行记录。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评审对象是论证链。请确认同伴能够打开这些材料。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明确第 14 课输出可直接作为第 15 课输入。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第 15 课 handout；assignments.md。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https://press.uchicago.edu/ucp/books/book/chicago/C/bo215874008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947a3dfed746d6" /><Relationship Type="http://schemas.openxmlformats.org/officeDocument/2006/relationships/image" Target="/ppt/media/image.png" Id="R2324476d56794e36" /><Relationship Type="http://schemas.openxmlformats.org/officeDocument/2006/relationships/image" Target="/ppt/media/image2.png" Id="R23b5e0f57b5642b2" /><Relationship Type="http://schemas.openxmlformats.org/officeDocument/2006/relationships/image" Target="/ppt/media/image3.png" Id="Re531241b14b844d8" /><Relationship Type="http://schemas.openxmlformats.org/officeDocument/2006/relationships/image" Target="/ppt/media/image4.png" Id="R46e031bb515c4c5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c92cbf5d3a487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8daee646af41ef" /><Relationship Type="http://schemas.openxmlformats.org/officeDocument/2006/relationships/image" Target="/ppt/media/image2.png" Id="Rf2e2a486c9724472" /><Relationship Type="http://schemas.openxmlformats.org/officeDocument/2006/relationships/image" Target="/ppt/media/image5.png" Id="R76c26b1b461045c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2ef1e4ce8b4fd6" /><Relationship Type="http://schemas.openxmlformats.org/officeDocument/2006/relationships/image" Target="/ppt/media/image.png" Id="Rc7a87c24308048c1" /><Relationship Type="http://schemas.openxmlformats.org/officeDocument/2006/relationships/image" Target="/ppt/media/image3.png" Id="Rb9bcc3e64a70420b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24476d56794e36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3b5e0f57b5642b2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531241b14b844d8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e031bb515c4c56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2e2a486c9724472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c26b1b461045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a87c24308048c1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9bcc3e64a70420b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a5d33331d334189" /><Relationship Type="http://schemas.openxmlformats.org/officeDocument/2006/relationships/slideLayout" Target="/ppt/slideLayouts/slideLayout1.xml" Id="R0ad717544d504489" /><Relationship Type="http://schemas.openxmlformats.org/officeDocument/2006/relationships/slideLayout" Target="/ppt/slideLayouts/slideLayout2.xml" Id="R2c847c23848e4dc6" /><Relationship Type="http://schemas.openxmlformats.org/officeDocument/2006/relationships/slideLayout" Target="/ppt/slideLayouts/slideLayout3.xml" Id="R6e249d7953424f1c" /><Relationship Type="http://schemas.openxmlformats.org/officeDocument/2006/relationships/slideLayout" Target="/ppt/slideLayouts/slideLayout4.xml" Id="R2465bba1cc7c4ff9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d717544d504489"/>
    <p:sldLayoutId xmlns:r="http://schemas.openxmlformats.org/officeDocument/2006/relationships" id="2147483650" r:id="R2c847c23848e4dc6"/>
    <p:sldLayoutId xmlns:r="http://schemas.openxmlformats.org/officeDocument/2006/relationships" id="2147483651" r:id="R6e249d7953424f1c"/>
    <p:sldLayoutId xmlns:r="http://schemas.openxmlformats.org/officeDocument/2006/relationships" id="2147483652" r:id="R2465bba1cc7c4ff9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752805988b4fbd" /><Relationship Type="http://schemas.openxmlformats.org/officeDocument/2006/relationships/notesSlide" Target="/ppt/notesSlides/notesSlide1.xml" Id="Rbffd12838a43460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bbd70da92a24083" /><Relationship Type="http://schemas.openxmlformats.org/officeDocument/2006/relationships/notesSlide" Target="/ppt/notesSlides/notesSlide2.xml" Id="Rae0d31a15851492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149e33050bd480c" /><Relationship Type="http://schemas.openxmlformats.org/officeDocument/2006/relationships/notesSlide" Target="/ppt/notesSlides/notesSlide3.xml" Id="R7d356fc695e2419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0b865913cde43b8" /><Relationship Type="http://schemas.openxmlformats.org/officeDocument/2006/relationships/notesSlide" Target="/ppt/notesSlides/notesSlide4.xml" Id="Re57036e6f41f47a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43fd9a8d97043ef" /><Relationship Type="http://schemas.openxmlformats.org/officeDocument/2006/relationships/notesSlide" Target="/ppt/notesSlides/notesSlide5.xml" Id="R9952c83e155a45a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389491b016b4c82" /><Relationship Type="http://schemas.openxmlformats.org/officeDocument/2006/relationships/chart" Target="/ppt/slides/charts/chart1.xml" Id="R103363f69d2c48a1" /><Relationship Type="http://schemas.openxmlformats.org/officeDocument/2006/relationships/notesSlide" Target="/ppt/notesSlides/notesSlide6.xml" Id="Rb785647af065439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cec9a0aff624950" /><Relationship Type="http://schemas.openxmlformats.org/officeDocument/2006/relationships/notesSlide" Target="/ppt/notesSlides/notesSlide7.xml" Id="Rb972e3815542468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43d63a6d77c47b3" /><Relationship Type="http://schemas.openxmlformats.org/officeDocument/2006/relationships/notesSlide" Target="/ppt/notesSlides/notesSlide8.xml" Id="Rb6bf06b89598480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66a732bbabf40d9" /><Relationship Type="http://schemas.openxmlformats.org/officeDocument/2006/relationships/notesSlide" Target="/ppt/notesSlides/notesSlide9.xml" Id="R9a32d4c99a29487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6df074e144e4591" /><Relationship Type="http://schemas.openxmlformats.org/officeDocument/2006/relationships/notesSlide" Target="/ppt/notesSlides/notesSlide10.xml" Id="Rf50afcd154e6453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5d5358095c54d9d" /><Relationship Type="http://schemas.openxmlformats.org/officeDocument/2006/relationships/notesSlide" Target="/ppt/notesSlides/notesSlide11.xml" Id="R6d5d14fe77d747e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5089e5dd72148b9" /><Relationship Type="http://schemas.openxmlformats.org/officeDocument/2006/relationships/notesSlide" Target="/ppt/notesSlides/notesSlide12.xml" Id="R7985ebc1a2e24a2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da35e4e7d084e89" /><Relationship Type="http://schemas.openxmlformats.org/officeDocument/2006/relationships/notesSlide" Target="/ppt/notesSlides/notesSlide13.xml" Id="R0ed4d5d29aa44d4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d9c0fa7471b4237" /><Relationship Type="http://schemas.openxmlformats.org/officeDocument/2006/relationships/notesSlide" Target="/ppt/notesSlides/notesSlide14.xml" Id="Rba048907d3554da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5af373b9b6d46c8" /><Relationship Type="http://schemas.openxmlformats.org/officeDocument/2006/relationships/notesSlide" Target="/ppt/notesSlides/notesSlide15.xml" Id="Rca2c1e5d5fa0479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c3122b00c3f49dc" /><Relationship Type="http://schemas.openxmlformats.org/officeDocument/2006/relationships/notesSlide" Target="/ppt/notesSlides/notesSlide16.xml" Id="R28d2c3b726134c64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限定条件遗漏率</c:v>
          </c:tx>
          <c:spPr>
            <a:solidFill xmlns:a="http://schemas.openxmlformats.org/drawingml/2006/main">
              <a:srgbClr val="1F4D78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F4D78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C9AA6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阅读卡</c:v>
                </c:pt>
                <c:pt idx="1">
                  <c:v>自由摘要</c:v>
                </c:pt>
              </c:strCache>
            </c:strRef>
          </c:cat>
          <c:val>
            <c:numRef>
              <c:f>'Chart Data'!$B$2:$B$3</c:f>
              <c:numCache>
                <c:formatCode>0.000</c:formatCode>
                <c:ptCount val="2"/>
                <c:pt idx="0">
                  <c:v>0.375</c:v>
                </c:pt>
                <c:pt idx="1">
                  <c:v>0.5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200">
                  <a:solidFill>
                    <a:srgbClr val="27333D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00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27333D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25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F2D0560-6FFE-455A-9F8D-D07A7F85A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第14讲 论文式表达与回写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从一个结果留下三个工件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report-top">
            <a:extLst xmlns:a="http://schemas.openxmlformats.org/drawingml/2006/main">
              <a:ext uri="{FF2B5EF4-FFF2-40B4-BE49-F238E27FC236}">
                <a16:creationId xmlns:a16="http://schemas.microsoft.com/office/drawing/2014/main" id="{67E3587C-021F-45BF-BB97-5D79DA4E8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67151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7" name="report-file">
            <a:extLst xmlns:a="http://schemas.openxmlformats.org/drawingml/2006/main">
              <a:ext uri="{FF2B5EF4-FFF2-40B4-BE49-F238E27FC236}">
                <a16:creationId xmlns:a16="http://schemas.microsoft.com/office/drawing/2014/main" id="{FEB59C4C-9CEF-4F47-9977-D7D40156B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6715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1F4D7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F4D78"/>
                </a:solidFill>
                <a:latin typeface="Consolas"/>
                <a:ea typeface="Consolas"/>
                <a:cs typeface="Consolas"/>
              </a:rPr>
              <a:t>report.md</a:t>
            </a:r>
          </a:p>
        </p:txBody>
      </p:sp>
      <p:sp>
        <p:nvSpPr>
          <p:cNvPr id="8" name="report-line0">
            <a:extLst xmlns:a="http://schemas.openxmlformats.org/drawingml/2006/main">
              <a:ext uri="{FF2B5EF4-FFF2-40B4-BE49-F238E27FC236}">
                <a16:creationId xmlns:a16="http://schemas.microsoft.com/office/drawing/2014/main" id="{924CF35B-06A2-4ED1-9F91-D5FD1ACE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43100"/>
            <a:ext cx="6486525" cy="8262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## 论证段</a:t>
            </a:r>
          </a:p>
        </p:txBody>
      </p:sp>
      <p:sp>
        <p:nvSpPr>
          <p:cNvPr id="9" name="report-line1">
            <a:extLst xmlns:a="http://schemas.openxmlformats.org/drawingml/2006/main">
              <a:ext uri="{FF2B5EF4-FFF2-40B4-BE49-F238E27FC236}">
                <a16:creationId xmlns:a16="http://schemas.microsoft.com/office/drawing/2014/main" id="{B887D09B-2403-4555-B0C8-BE96F4905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9394"/>
            <a:ext cx="6486525" cy="8262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主张 → 证据 → 推理 → 边界</a:t>
            </a:r>
          </a:p>
        </p:txBody>
      </p:sp>
      <p:sp>
        <p:nvSpPr>
          <p:cNvPr id="10" name="report-line2">
            <a:extLst xmlns:a="http://schemas.openxmlformats.org/drawingml/2006/main">
              <a:ext uri="{FF2B5EF4-FFF2-40B4-BE49-F238E27FC236}">
                <a16:creationId xmlns:a16="http://schemas.microsoft.com/office/drawing/2014/main" id="{5A70BD20-7123-42E5-869C-EDC2FE2E3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95688"/>
            <a:ext cx="6486525" cy="8262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## 结论追踪记录</a:t>
            </a:r>
          </a:p>
        </p:txBody>
      </p:sp>
      <p:sp>
        <p:nvSpPr>
          <p:cNvPr id="11" name="report-line3">
            <a:extLst xmlns:a="http://schemas.openxmlformats.org/drawingml/2006/main">
              <a:ext uri="{FF2B5EF4-FFF2-40B4-BE49-F238E27FC236}">
                <a16:creationId xmlns:a16="http://schemas.microsoft.com/office/drawing/2014/main" id="{DACD5A96-BF55-46ED-BAE3-1848B8E40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21981"/>
            <a:ext cx="6486525" cy="8262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## AI 使用披露摘要</a:t>
            </a:r>
          </a:p>
        </p:txBody>
      </p:sp>
      <p:sp>
        <p:nvSpPr>
          <p:cNvPr id="12" name="class-label">
            <a:extLst xmlns:a="http://schemas.openxmlformats.org/drawingml/2006/main">
              <a:ext uri="{FF2B5EF4-FFF2-40B4-BE49-F238E27FC236}">
                <a16:creationId xmlns:a16="http://schemas.microsoft.com/office/drawing/2014/main" id="{47860A32-91EA-423B-BC04-46785FB73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362075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课堂</a:t>
            </a:r>
          </a:p>
        </p:txBody>
      </p:sp>
      <p:sp>
        <p:nvSpPr>
          <p:cNvPr id="13" name="class-body">
            <a:extLst xmlns:a="http://schemas.openxmlformats.org/drawingml/2006/main">
              <a:ext uri="{FF2B5EF4-FFF2-40B4-BE49-F238E27FC236}">
                <a16:creationId xmlns:a16="http://schemas.microsoft.com/office/drawing/2014/main" id="{6C757949-B10A-4C8A-B870-16F853DC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66900"/>
            <a:ext cx="3429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完成三个最小工件</a:t>
            </a:r>
          </a:p>
        </p:txBody>
      </p:sp>
      <p:sp>
        <p:nvSpPr>
          <p:cNvPr id="14" name="after-label">
            <a:extLst xmlns:a="http://schemas.openxmlformats.org/drawingml/2006/main">
              <a:ext uri="{FF2B5EF4-FFF2-40B4-BE49-F238E27FC236}">
                <a16:creationId xmlns:a16="http://schemas.microsoft.com/office/drawing/2014/main" id="{44FC1272-6917-4E44-BD4A-48B228DD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00375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课后</a:t>
            </a:r>
          </a:p>
        </p:txBody>
      </p:sp>
      <p:sp>
        <p:nvSpPr>
          <p:cNvPr id="15" name="after-body">
            <a:extLst xmlns:a="http://schemas.openxmlformats.org/drawingml/2006/main">
              <a:ext uri="{FF2B5EF4-FFF2-40B4-BE49-F238E27FC236}">
                <a16:creationId xmlns:a16="http://schemas.microsoft.com/office/drawing/2014/main" id="{898F9270-D3C6-4D9E-99C5-FDE1985D3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505200"/>
            <a:ext cx="3429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补全 report.md</a:t>
            </a:r>
          </a:p>
        </p:txBody>
      </p:sp>
      <p:sp>
        <p:nvSpPr>
          <p:cNvPr id="16" name="gate">
            <a:extLst xmlns:a="http://schemas.openxmlformats.org/drawingml/2006/main">
              <a:ext uri="{FF2B5EF4-FFF2-40B4-BE49-F238E27FC236}">
                <a16:creationId xmlns:a16="http://schemas.microsoft.com/office/drawing/2014/main" id="{B07F4A41-8F3B-4D86-A2B2-49F7DBDA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76825"/>
            <a:ext cx="342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第 16 课才检查论证门</a:t>
            </a:r>
          </a:p>
        </p:txBody>
      </p:sp>
      <p:sp>
        <p:nvSpPr>
          <p:cNvPr id="17" name="source">
            <a:extLst xmlns:a="http://schemas.openxmlformats.org/drawingml/2006/main">
              <a:ext uri="{FF2B5EF4-FFF2-40B4-BE49-F238E27FC236}">
                <a16:creationId xmlns:a16="http://schemas.microsoft.com/office/drawing/2014/main" id="{F68CF746-96AD-40A3-9281-9E9FEFBB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来源：本课讲义；第 13 课评价报告；课程研究门规范 · 虚构数据不作为研究证据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先选一个能反查的结果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content-111">
            <a:extLst xmlns:a="http://schemas.openxmlformats.org/drawingml/2006/main">
              <a:ext uri="{FF2B5EF4-FFF2-40B4-BE49-F238E27FC236}">
                <a16:creationId xmlns:a16="http://schemas.microsoft.com/office/drawing/2014/main" id="{83C1D8FA-322F-4E9D-9180-D725DE12B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7" name="content-112">
            <a:extLst xmlns:a="http://schemas.openxmlformats.org/drawingml/2006/main">
              <a:ext uri="{FF2B5EF4-FFF2-40B4-BE49-F238E27FC236}">
                <a16:creationId xmlns:a16="http://schemas.microsoft.com/office/drawing/2014/main" id="{FDE9A375-5D38-4B7F-8237-C51A6F75D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5811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构造小包总遗漏率 3/8 与 4/8。</a:t>
            </a:r>
          </a:p>
        </p:txBody>
      </p:sp>
      <p:sp>
        <p:nvSpPr>
          <p:cNvPr id="8" name="rule-113">
            <a:extLst xmlns:a="http://schemas.openxmlformats.org/drawingml/2006/main">
              <a:ext uri="{FF2B5EF4-FFF2-40B4-BE49-F238E27FC236}">
                <a16:creationId xmlns:a16="http://schemas.microsoft.com/office/drawing/2014/main" id="{FA42AA39-E2AF-496A-8CDD-1886D6659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9" name="content-114">
            <a:extLst xmlns:a="http://schemas.openxmlformats.org/drawingml/2006/main">
              <a:ext uri="{FF2B5EF4-FFF2-40B4-BE49-F238E27FC236}">
                <a16:creationId xmlns:a16="http://schemas.microsoft.com/office/drawing/2014/main" id="{0731BAF7-9D3F-4EF2-ACB4-D08C994A5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原始对象</a:t>
            </a:r>
          </a:p>
        </p:txBody>
      </p:sp>
      <p:sp>
        <p:nvSpPr>
          <p:cNvPr id="10" name="content-115">
            <a:extLst xmlns:a="http://schemas.openxmlformats.org/drawingml/2006/main">
              <a:ext uri="{FF2B5EF4-FFF2-40B4-BE49-F238E27FC236}">
                <a16:creationId xmlns:a16="http://schemas.microsoft.com/office/drawing/2014/main" id="{A4950005-A10E-4ABE-B408-FD9007B2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6098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T01–T03、输出原句与逐项标注。</a:t>
            </a:r>
          </a:p>
        </p:txBody>
      </p:sp>
      <p:sp>
        <p:nvSpPr>
          <p:cNvPr id="11" name="rule-116">
            <a:extLst xmlns:a="http://schemas.openxmlformats.org/drawingml/2006/main">
              <a:ext uri="{FF2B5EF4-FFF2-40B4-BE49-F238E27FC236}">
                <a16:creationId xmlns:a16="http://schemas.microsoft.com/office/drawing/2014/main" id="{29E4BCCB-85FC-403A-BA6D-B76B3ED47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2" name="content-117">
            <a:extLst xmlns:a="http://schemas.openxmlformats.org/drawingml/2006/main">
              <a:ext uri="{FF2B5EF4-FFF2-40B4-BE49-F238E27FC236}">
                <a16:creationId xmlns:a16="http://schemas.microsoft.com/office/drawing/2014/main" id="{2B66CF9E-0309-4D14-988D-C6619E1D2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反例</a:t>
            </a:r>
          </a:p>
        </p:txBody>
      </p:sp>
      <p:sp>
        <p:nvSpPr>
          <p:cNvPr id="13" name="content-118">
            <a:extLst xmlns:a="http://schemas.openxmlformats.org/drawingml/2006/main">
              <a:ext uri="{FF2B5EF4-FFF2-40B4-BE49-F238E27FC236}">
                <a16:creationId xmlns:a16="http://schemas.microsoft.com/office/drawing/2014/main" id="{2C0575B6-D0B7-4989-8ED4-A51D64730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6385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T03。</a:t>
            </a:r>
          </a:p>
        </p:txBody>
      </p:sp>
      <p:sp>
        <p:nvSpPr>
          <p:cNvPr id="14" name="rule-119">
            <a:extLst xmlns:a="http://schemas.openxmlformats.org/drawingml/2006/main">
              <a:ext uri="{FF2B5EF4-FFF2-40B4-BE49-F238E27FC236}">
                <a16:creationId xmlns:a16="http://schemas.microsoft.com/office/drawing/2014/main" id="{9B27C02A-C731-4494-A351-CC2C8F01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5" name="content-120">
            <a:extLst xmlns:a="http://schemas.openxmlformats.org/drawingml/2006/main">
              <a:ext uri="{FF2B5EF4-FFF2-40B4-BE49-F238E27FC236}">
                <a16:creationId xmlns:a16="http://schemas.microsoft.com/office/drawing/2014/main" id="{58D36E32-030A-4CA9-A641-7270B57B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未决</a:t>
            </a:r>
          </a:p>
        </p:txBody>
      </p:sp>
      <p:sp>
        <p:nvSpPr>
          <p:cNvPr id="16" name="content-121">
            <a:extLst xmlns:a="http://schemas.openxmlformats.org/drawingml/2006/main">
              <a:ext uri="{FF2B5EF4-FFF2-40B4-BE49-F238E27FC236}">
                <a16:creationId xmlns:a16="http://schemas.microsoft.com/office/drawing/2014/main" id="{BE9383E8-404A-4578-A2D7-393E935A2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6672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H1/A2、其他质量与外推范围。</a:t>
            </a:r>
          </a:p>
        </p:txBody>
      </p:sp>
      <p:sp>
        <p:nvSpPr>
          <p:cNvPr id="17" name="rule-122">
            <a:extLst xmlns:a="http://schemas.openxmlformats.org/drawingml/2006/main">
              <a:ext uri="{FF2B5EF4-FFF2-40B4-BE49-F238E27FC236}">
                <a16:creationId xmlns:a16="http://schemas.microsoft.com/office/drawing/2014/main" id="{5A33F10C-7C39-4A1E-A6DF-94CEC7DFB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论证段的四个部件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content-123">
            <a:extLst xmlns:a="http://schemas.openxmlformats.org/drawingml/2006/main">
              <a:ext uri="{FF2B5EF4-FFF2-40B4-BE49-F238E27FC236}">
                <a16:creationId xmlns:a16="http://schemas.microsoft.com/office/drawing/2014/main" id="{7258EDC0-5101-4390-AE6F-3C0DEC23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主张</a:t>
            </a:r>
          </a:p>
        </p:txBody>
      </p:sp>
      <p:sp>
        <p:nvSpPr>
          <p:cNvPr id="7" name="content-124">
            <a:extLst xmlns:a="http://schemas.openxmlformats.org/drawingml/2006/main">
              <a:ext uri="{FF2B5EF4-FFF2-40B4-BE49-F238E27FC236}">
                <a16:creationId xmlns:a16="http://schemas.microsoft.com/office/drawing/2014/main" id="{B806CB32-BA6B-4731-824F-0C443349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5811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本构造包中，阅读卡组总遗漏率较低。</a:t>
            </a:r>
          </a:p>
        </p:txBody>
      </p:sp>
      <p:sp>
        <p:nvSpPr>
          <p:cNvPr id="8" name="rule-125">
            <a:extLst xmlns:a="http://schemas.openxmlformats.org/drawingml/2006/main">
              <a:ext uri="{FF2B5EF4-FFF2-40B4-BE49-F238E27FC236}">
                <a16:creationId xmlns:a16="http://schemas.microsoft.com/office/drawing/2014/main" id="{51200684-82B7-4E56-AA99-2C682C7E6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9" name="content-126">
            <a:extLst xmlns:a="http://schemas.openxmlformats.org/drawingml/2006/main">
              <a:ext uri="{FF2B5EF4-FFF2-40B4-BE49-F238E27FC236}">
                <a16:creationId xmlns:a16="http://schemas.microsoft.com/office/drawing/2014/main" id="{E45BBBD2-09A5-4D49-B2AF-C122B6D08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</a:t>
            </a:r>
          </a:p>
        </p:txBody>
      </p:sp>
      <p:sp>
        <p:nvSpPr>
          <p:cNvPr id="10" name="content-127">
            <a:extLst xmlns:a="http://schemas.openxmlformats.org/drawingml/2006/main">
              <a:ext uri="{FF2B5EF4-FFF2-40B4-BE49-F238E27FC236}">
                <a16:creationId xmlns:a16="http://schemas.microsoft.com/office/drawing/2014/main" id="{6C50E59E-A221-4339-B639-5F626927E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6098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3/8 与 4/8，可反查逐项标注。</a:t>
            </a:r>
          </a:p>
        </p:txBody>
      </p:sp>
      <p:sp>
        <p:nvSpPr>
          <p:cNvPr id="11" name="rule-128">
            <a:extLst xmlns:a="http://schemas.openxmlformats.org/drawingml/2006/main">
              <a:ext uri="{FF2B5EF4-FFF2-40B4-BE49-F238E27FC236}">
                <a16:creationId xmlns:a16="http://schemas.microsoft.com/office/drawing/2014/main" id="{CC4ED6F5-F7E6-4E50-AF2E-96DA6B8EE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2" name="content-129">
            <a:extLst xmlns:a="http://schemas.openxmlformats.org/drawingml/2006/main">
              <a:ext uri="{FF2B5EF4-FFF2-40B4-BE49-F238E27FC236}">
                <a16:creationId xmlns:a16="http://schemas.microsoft.com/office/drawing/2014/main" id="{4CE78AED-C147-4729-955D-81EB3DBC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3" name="content-130">
            <a:extLst xmlns:a="http://schemas.openxmlformats.org/drawingml/2006/main">
              <a:ext uri="{FF2B5EF4-FFF2-40B4-BE49-F238E27FC236}">
                <a16:creationId xmlns:a16="http://schemas.microsoft.com/office/drawing/2014/main" id="{BD0E7D93-68CE-4C03-A096-A01829E17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6385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汇总方向与 Q1 预测一致。</a:t>
            </a:r>
          </a:p>
        </p:txBody>
      </p:sp>
      <p:sp>
        <p:nvSpPr>
          <p:cNvPr id="14" name="rule-131">
            <a:extLst xmlns:a="http://schemas.openxmlformats.org/drawingml/2006/main">
              <a:ext uri="{FF2B5EF4-FFF2-40B4-BE49-F238E27FC236}">
                <a16:creationId xmlns:a16="http://schemas.microsoft.com/office/drawing/2014/main" id="{D3039CDE-59AA-4E3F-A1FF-67595E27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5" name="content-132">
            <a:extLst xmlns:a="http://schemas.openxmlformats.org/drawingml/2006/main">
              <a:ext uri="{FF2B5EF4-FFF2-40B4-BE49-F238E27FC236}">
                <a16:creationId xmlns:a16="http://schemas.microsoft.com/office/drawing/2014/main" id="{45812E74-06E7-4A17-A143-6CFC8CEEE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16" name="content-133">
            <a:extLst xmlns:a="http://schemas.openxmlformats.org/drawingml/2006/main">
              <a:ext uri="{FF2B5EF4-FFF2-40B4-BE49-F238E27FC236}">
                <a16:creationId xmlns:a16="http://schemas.microsoft.com/office/drawing/2014/main" id="{975D81EA-2A82-4FCD-8C56-45EB8DF84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6672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H1/A2 未区分，其他质量未测，保留 T03 负例。</a:t>
            </a:r>
          </a:p>
        </p:txBody>
      </p:sp>
      <p:sp>
        <p:nvSpPr>
          <p:cNvPr id="17" name="rule-134">
            <a:extLst xmlns:a="http://schemas.openxmlformats.org/drawingml/2006/main">
              <a:ext uri="{FF2B5EF4-FFF2-40B4-BE49-F238E27FC236}">
                <a16:creationId xmlns:a16="http://schemas.microsoft.com/office/drawing/2014/main" id="{0F8B9E79-B15C-4CCF-B2E4-A7ED373A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方法段交代数字如何产生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content-135">
            <a:extLst xmlns:a="http://schemas.openxmlformats.org/drawingml/2006/main">
              <a:ext uri="{FF2B5EF4-FFF2-40B4-BE49-F238E27FC236}">
                <a16:creationId xmlns:a16="http://schemas.microsoft.com/office/drawing/2014/main" id="{E5B0E682-BB7D-48AF-8963-D9472316D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材料：3 份教学构造源文本。</a:t>
            </a:r>
          </a:p>
        </p:txBody>
      </p:sp>
      <p:sp>
        <p:nvSpPr>
          <p:cNvPr id="7" name="content-136">
            <a:extLst xmlns:a="http://schemas.openxmlformats.org/drawingml/2006/main">
              <a:ext uri="{FF2B5EF4-FFF2-40B4-BE49-F238E27FC236}">
                <a16:creationId xmlns:a16="http://schemas.microsoft.com/office/drawing/2014/main" id="{A34463A6-A00E-49FF-A203-045EE36FD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输出：每份两种预置输出，共 6 份。</a:t>
            </a:r>
          </a:p>
        </p:txBody>
      </p:sp>
      <p:sp>
        <p:nvSpPr>
          <p:cNvPr id="8" name="content-137">
            <a:extLst xmlns:a="http://schemas.openxmlformats.org/drawingml/2006/main">
              <a:ext uri="{FF2B5EF4-FFF2-40B4-BE49-F238E27FC236}">
                <a16:creationId xmlns:a16="http://schemas.microsoft.com/office/drawing/2014/main" id="{8B3BFD42-A18B-4DDB-AF1D-2FC31C382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标注：8 项基准条件，对应 16 条核验记录。</a:t>
            </a:r>
          </a:p>
        </p:txBody>
      </p:sp>
      <p:sp>
        <p:nvSpPr>
          <p:cNvPr id="9" name="content-138">
            <a:extLst xmlns:a="http://schemas.openxmlformats.org/drawingml/2006/main">
              <a:ext uri="{FF2B5EF4-FFF2-40B4-BE49-F238E27FC236}">
                <a16:creationId xmlns:a16="http://schemas.microsoft.com/office/drawing/2014/main" id="{0C3FDB56-D477-440F-BB37-5997CAC0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汇总：分别累计缺失数，分母均为 8。</a:t>
            </a:r>
          </a:p>
        </p:txBody>
      </p:sp>
      <p:sp>
        <p:nvSpPr>
          <p:cNvPr id="10" name="content-139">
            <a:extLst xmlns:a="http://schemas.openxmlformats.org/drawingml/2006/main">
              <a:ext uri="{FF2B5EF4-FFF2-40B4-BE49-F238E27FC236}">
                <a16:creationId xmlns:a16="http://schemas.microsoft.com/office/drawing/2014/main" id="{1CE8FA0B-4D16-4E40-9EC9-8AC185A99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006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无模型调用、无随机重复。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总遗漏率较低，机制仍未区分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762000" y="1619250"/>
          <a:ext xmlns:a="http://schemas.openxmlformats.org/drawingml/2006/main" cx="60960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03363f69d2c48a1"/>
          </a:graphicData>
        </a:graphic>
      </p:graphicFrame>
      <p:sp>
        <p:nvSpPr>
          <p:cNvPr id="7" name="content-140">
            <a:extLst xmlns:a="http://schemas.openxmlformats.org/drawingml/2006/main">
              <a:ext uri="{FF2B5EF4-FFF2-40B4-BE49-F238E27FC236}">
                <a16:creationId xmlns:a16="http://schemas.microsoft.com/office/drawing/2014/main" id="{AEC17B9E-D442-421C-BEC4-C2263F4E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教学构造数据：8 项应保留条件；固定输出回放</a:t>
            </a:r>
          </a:p>
        </p:txBody>
      </p:sp>
      <p:sp>
        <p:nvSpPr>
          <p:cNvPr id="8" name="content-141">
            <a:extLst xmlns:a="http://schemas.openxmlformats.org/drawingml/2006/main">
              <a:ext uri="{FF2B5EF4-FFF2-40B4-BE49-F238E27FC236}">
                <a16:creationId xmlns:a16="http://schemas.microsoft.com/office/drawing/2014/main" id="{3AC56A64-3966-49A2-BDC7-0B16E361B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71625"/>
            <a:ext cx="601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限定条件遗漏率（越低越好）</a:t>
            </a:r>
          </a:p>
        </p:txBody>
      </p:sp>
      <p:sp>
        <p:nvSpPr>
          <p:cNvPr id="9" name="content-142">
            <a:extLst xmlns:a="http://schemas.openxmlformats.org/drawingml/2006/main">
              <a:ext uri="{FF2B5EF4-FFF2-40B4-BE49-F238E27FC236}">
                <a16:creationId xmlns:a16="http://schemas.microsoft.com/office/drawing/2014/main" id="{F6D57CA5-67F7-4420-A8A1-ACC2974F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09750"/>
            <a:ext cx="4000500" cy="1590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6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阅读卡 3/8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6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自由摘要 4/8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6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差值 −0.125</a:t>
            </a:r>
          </a:p>
        </p:txBody>
      </p:sp>
      <p:sp>
        <p:nvSpPr>
          <p:cNvPr id="10" name="content-143">
            <a:extLst xmlns:a="http://schemas.openxmlformats.org/drawingml/2006/main">
              <a:ext uri="{FF2B5EF4-FFF2-40B4-BE49-F238E27FC236}">
                <a16:creationId xmlns:a16="http://schemas.microsoft.com/office/drawing/2014/main" id="{A03E3285-D413-4C52-8737-F43845693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714750"/>
            <a:ext cx="4000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T02 无改善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T03 阅读卡更差</a:t>
            </a:r>
          </a:p>
        </p:txBody>
      </p:sp>
      <p:sp>
        <p:nvSpPr>
          <p:cNvPr id="11" name="content-144">
            <a:extLst xmlns:a="http://schemas.openxmlformats.org/drawingml/2006/main">
              <a:ext uri="{FF2B5EF4-FFF2-40B4-BE49-F238E27FC236}">
                <a16:creationId xmlns:a16="http://schemas.microsoft.com/office/drawing/2014/main" id="{5F7A8D24-8ECA-4864-BFBE-1C20FEF9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无随机重复，不画误差线，不作显著性判断。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讨论中分别回答这些问题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content-145">
            <a:extLst xmlns:a="http://schemas.openxmlformats.org/drawingml/2006/main">
              <a:ext uri="{FF2B5EF4-FFF2-40B4-BE49-F238E27FC236}">
                <a16:creationId xmlns:a16="http://schemas.microsoft.com/office/drawing/2014/main" id="{8DDA6354-ACC6-4F76-8D3F-F48086AE7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H1/A2：是否区分生成机制和评分提示？尚未。</a:t>
            </a:r>
          </a:p>
        </p:txBody>
      </p:sp>
      <p:sp>
        <p:nvSpPr>
          <p:cNvPr id="7" name="content-146">
            <a:extLst xmlns:a="http://schemas.openxmlformats.org/drawingml/2006/main">
              <a:ext uri="{FF2B5EF4-FFF2-40B4-BE49-F238E27FC236}">
                <a16:creationId xmlns:a16="http://schemas.microsoft.com/office/drawing/2014/main" id="{155BE4C3-DACA-4BC5-B96C-49B38496E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A1：是否评估其他质量代价？尚未。</a:t>
            </a:r>
          </a:p>
        </p:txBody>
      </p:sp>
      <p:sp>
        <p:nvSpPr>
          <p:cNvPr id="8" name="content-147">
            <a:extLst xmlns:a="http://schemas.openxmlformats.org/drawingml/2006/main">
              <a:ext uri="{FF2B5EF4-FFF2-40B4-BE49-F238E27FC236}">
                <a16:creationId xmlns:a16="http://schemas.microsoft.com/office/drawing/2014/main" id="{05541734-CAC4-46B2-8A02-62D812CED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A3：是否支持外推所有材料？不支持；保留T03。</a:t>
            </a:r>
          </a:p>
        </p:txBody>
      </p:sp>
      <p:sp>
        <p:nvSpPr>
          <p:cNvPr id="9" name="content-148">
            <a:extLst xmlns:a="http://schemas.openxmlformats.org/drawingml/2006/main">
              <a:ext uri="{FF2B5EF4-FFF2-40B4-BE49-F238E27FC236}">
                <a16:creationId xmlns:a16="http://schemas.microsoft.com/office/drawing/2014/main" id="{1C7ADFCE-E3BD-429A-B19F-153307D0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每个未决项对应下一项证据需求。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四句话写出可追溯论证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content-149">
            <a:extLst xmlns:a="http://schemas.openxmlformats.org/drawingml/2006/main">
              <a:ext uri="{FF2B5EF4-FFF2-40B4-BE49-F238E27FC236}">
                <a16:creationId xmlns:a16="http://schemas.microsoft.com/office/drawing/2014/main" id="{98B3514B-67E4-43DF-8D6A-C308671F0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主张</a:t>
            </a:r>
          </a:p>
        </p:txBody>
      </p:sp>
      <p:sp>
        <p:nvSpPr>
          <p:cNvPr id="7" name="content-150">
            <a:extLst xmlns:a="http://schemas.openxmlformats.org/drawingml/2006/main">
              <a:ext uri="{FF2B5EF4-FFF2-40B4-BE49-F238E27FC236}">
                <a16:creationId xmlns:a16="http://schemas.microsoft.com/office/drawing/2014/main" id="{C3E0A192-B3AF-4A67-AEB7-DFC509EFF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5811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本构造小包中，阅读卡的总遗漏率较低。</a:t>
            </a:r>
          </a:p>
        </p:txBody>
      </p:sp>
      <p:sp>
        <p:nvSpPr>
          <p:cNvPr id="8" name="rule-151">
            <a:extLst xmlns:a="http://schemas.openxmlformats.org/drawingml/2006/main">
              <a:ext uri="{FF2B5EF4-FFF2-40B4-BE49-F238E27FC236}">
                <a16:creationId xmlns:a16="http://schemas.microsoft.com/office/drawing/2014/main" id="{39918E0F-85E7-4FAB-96BF-B412BA928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9" name="content-152">
            <a:extLst xmlns:a="http://schemas.openxmlformats.org/drawingml/2006/main">
              <a:ext uri="{FF2B5EF4-FFF2-40B4-BE49-F238E27FC236}">
                <a16:creationId xmlns:a16="http://schemas.microsoft.com/office/drawing/2014/main" id="{AD27B227-D18C-43F0-B4BE-FE17F8AD3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</a:t>
            </a:r>
          </a:p>
        </p:txBody>
      </p:sp>
      <p:sp>
        <p:nvSpPr>
          <p:cNvPr id="10" name="content-153">
            <a:extLst xmlns:a="http://schemas.openxmlformats.org/drawingml/2006/main">
              <a:ext uri="{FF2B5EF4-FFF2-40B4-BE49-F238E27FC236}">
                <a16:creationId xmlns:a16="http://schemas.microsoft.com/office/drawing/2014/main" id="{555AD51A-1368-442F-A3B3-1C2C3094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6098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阅读卡3/8，自由摘要4/8，见逐项标注。</a:t>
            </a:r>
          </a:p>
        </p:txBody>
      </p:sp>
      <p:sp>
        <p:nvSpPr>
          <p:cNvPr id="11" name="rule-154">
            <a:extLst xmlns:a="http://schemas.openxmlformats.org/drawingml/2006/main">
              <a:ext uri="{FF2B5EF4-FFF2-40B4-BE49-F238E27FC236}">
                <a16:creationId xmlns:a16="http://schemas.microsoft.com/office/drawing/2014/main" id="{40BB5DD4-BE62-4D39-819E-FCC4DD896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2" name="content-155">
            <a:extLst xmlns:a="http://schemas.openxmlformats.org/drawingml/2006/main">
              <a:ext uri="{FF2B5EF4-FFF2-40B4-BE49-F238E27FC236}">
                <a16:creationId xmlns:a16="http://schemas.microsoft.com/office/drawing/2014/main" id="{19D7EB13-093E-4E56-9AA4-F753EC95B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3" name="content-156">
            <a:extLst xmlns:a="http://schemas.openxmlformats.org/drawingml/2006/main">
              <a:ext uri="{FF2B5EF4-FFF2-40B4-BE49-F238E27FC236}">
                <a16:creationId xmlns:a16="http://schemas.microsoft.com/office/drawing/2014/main" id="{FB783C31-A523-4B48-947E-89C2894FA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6385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同口径汇总与Q1方向一致，不能识别机制。</a:t>
            </a:r>
          </a:p>
        </p:txBody>
      </p:sp>
      <p:sp>
        <p:nvSpPr>
          <p:cNvPr id="14" name="rule-157">
            <a:extLst xmlns:a="http://schemas.openxmlformats.org/drawingml/2006/main">
              <a:ext uri="{FF2B5EF4-FFF2-40B4-BE49-F238E27FC236}">
                <a16:creationId xmlns:a16="http://schemas.microsoft.com/office/drawing/2014/main" id="{080A0172-5E23-4797-911C-EA9ADC3E6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5" name="content-158">
            <a:extLst xmlns:a="http://schemas.openxmlformats.org/drawingml/2006/main">
              <a:ext uri="{FF2B5EF4-FFF2-40B4-BE49-F238E27FC236}">
                <a16:creationId xmlns:a16="http://schemas.microsoft.com/office/drawing/2014/main" id="{9CE333E9-6E19-4AB9-B5B5-82D65004D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16" name="content-159">
            <a:extLst xmlns:a="http://schemas.openxmlformats.org/drawingml/2006/main">
              <a:ext uri="{FF2B5EF4-FFF2-40B4-BE49-F238E27FC236}">
                <a16:creationId xmlns:a16="http://schemas.microsoft.com/office/drawing/2014/main" id="{692DBFF3-A432-47BB-B789-79414E6AF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6672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T03负向，H1/A2未区分，其他质量未测。</a:t>
            </a:r>
          </a:p>
        </p:txBody>
      </p:sp>
      <p:sp>
        <p:nvSpPr>
          <p:cNvPr id="17" name="rule-160">
            <a:extLst xmlns:a="http://schemas.openxmlformats.org/drawingml/2006/main">
              <a:ext uri="{FF2B5EF4-FFF2-40B4-BE49-F238E27FC236}">
                <a16:creationId xmlns:a16="http://schemas.microsoft.com/office/drawing/2014/main" id="{552EFE35-2656-4EB9-B03E-891126F0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修复这两处论证断裂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content-161">
            <a:extLst xmlns:a="http://schemas.openxmlformats.org/drawingml/2006/main">
              <a:ext uri="{FF2B5EF4-FFF2-40B4-BE49-F238E27FC236}">
                <a16:creationId xmlns:a16="http://schemas.microsoft.com/office/drawing/2014/main" id="{F1BC8343-9FCD-4165-A1C5-6C41AADE1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错误一</a:t>
            </a:r>
          </a:p>
        </p:txBody>
      </p:sp>
      <p:sp>
        <p:nvSpPr>
          <p:cNvPr id="7" name="content-162">
            <a:extLst xmlns:a="http://schemas.openxmlformats.org/drawingml/2006/main">
              <a:ext uri="{FF2B5EF4-FFF2-40B4-BE49-F238E27FC236}">
                <a16:creationId xmlns:a16="http://schemas.microsoft.com/office/drawing/2014/main" id="{8FC32636-DBB8-4556-BB8D-047CE5393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5811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“总分较好，所以H1成立。”</a:t>
            </a:r>
          </a:p>
        </p:txBody>
      </p:sp>
      <p:sp>
        <p:nvSpPr>
          <p:cNvPr id="8" name="rule-163">
            <a:extLst xmlns:a="http://schemas.openxmlformats.org/drawingml/2006/main">
              <a:ext uri="{FF2B5EF4-FFF2-40B4-BE49-F238E27FC236}">
                <a16:creationId xmlns:a16="http://schemas.microsoft.com/office/drawing/2014/main" id="{AFABF5A5-00DF-4781-A79A-24C1F9BB0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9" name="content-164">
            <a:extLst xmlns:a="http://schemas.openxmlformats.org/drawingml/2006/main">
              <a:ext uri="{FF2B5EF4-FFF2-40B4-BE49-F238E27FC236}">
                <a16:creationId xmlns:a16="http://schemas.microsoft.com/office/drawing/2014/main" id="{F1F054E6-4131-4AFE-B33F-4ECE4826A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修订</a:t>
            </a:r>
          </a:p>
        </p:txBody>
      </p:sp>
      <p:sp>
        <p:nvSpPr>
          <p:cNvPr id="10" name="content-165">
            <a:extLst xmlns:a="http://schemas.openxmlformats.org/drawingml/2006/main">
              <a:ext uri="{FF2B5EF4-FFF2-40B4-BE49-F238E27FC236}">
                <a16:creationId xmlns:a16="http://schemas.microsoft.com/office/drawing/2014/main" id="{0A675055-0D8E-4BD1-BC91-ECE377415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6098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结果与Q1方向一致，机制尚未区分。</a:t>
            </a:r>
          </a:p>
        </p:txBody>
      </p:sp>
      <p:sp>
        <p:nvSpPr>
          <p:cNvPr id="11" name="rule-166">
            <a:extLst xmlns:a="http://schemas.openxmlformats.org/drawingml/2006/main">
              <a:ext uri="{FF2B5EF4-FFF2-40B4-BE49-F238E27FC236}">
                <a16:creationId xmlns:a16="http://schemas.microsoft.com/office/drawing/2014/main" id="{3331AD37-1607-40C0-A6A5-EE0F8C7F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2" name="content-167">
            <a:extLst xmlns:a="http://schemas.openxmlformats.org/drawingml/2006/main">
              <a:ext uri="{FF2B5EF4-FFF2-40B4-BE49-F238E27FC236}">
                <a16:creationId xmlns:a16="http://schemas.microsoft.com/office/drawing/2014/main" id="{0443EEA2-6F9C-47DC-9420-CD10D718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错误二</a:t>
            </a:r>
          </a:p>
        </p:txBody>
      </p:sp>
      <p:sp>
        <p:nvSpPr>
          <p:cNvPr id="13" name="content-168">
            <a:extLst xmlns:a="http://schemas.openxmlformats.org/drawingml/2006/main">
              <a:ext uri="{FF2B5EF4-FFF2-40B4-BE49-F238E27FC236}">
                <a16:creationId xmlns:a16="http://schemas.microsoft.com/office/drawing/2014/main" id="{4D1AC176-2D3E-45AA-BA99-2BF278017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6385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“因此适用于所有文本。”</a:t>
            </a:r>
          </a:p>
        </p:txBody>
      </p:sp>
      <p:sp>
        <p:nvSpPr>
          <p:cNvPr id="14" name="rule-169">
            <a:extLst xmlns:a="http://schemas.openxmlformats.org/drawingml/2006/main">
              <a:ext uri="{FF2B5EF4-FFF2-40B4-BE49-F238E27FC236}">
                <a16:creationId xmlns:a16="http://schemas.microsoft.com/office/drawing/2014/main" id="{2FDF0FCE-21EF-4883-BF44-072D9D08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5" name="content-170">
            <a:extLst xmlns:a="http://schemas.openxmlformats.org/drawingml/2006/main">
              <a:ext uri="{FF2B5EF4-FFF2-40B4-BE49-F238E27FC236}">
                <a16:creationId xmlns:a16="http://schemas.microsoft.com/office/drawing/2014/main" id="{C0472861-DA9F-42F3-893B-0B0CF152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修订</a:t>
            </a:r>
          </a:p>
        </p:txBody>
      </p:sp>
      <p:sp>
        <p:nvSpPr>
          <p:cNvPr id="16" name="content-171">
            <a:extLst xmlns:a="http://schemas.openxmlformats.org/drawingml/2006/main">
              <a:ext uri="{FF2B5EF4-FFF2-40B4-BE49-F238E27FC236}">
                <a16:creationId xmlns:a16="http://schemas.microsoft.com/office/drawing/2014/main" id="{22222FF4-8E18-4ADE-9BEB-378D11790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6672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本构造包范围内汇总较好，但T03为负例。</a:t>
            </a:r>
          </a:p>
        </p:txBody>
      </p:sp>
      <p:sp>
        <p:nvSpPr>
          <p:cNvPr id="17" name="rule-172">
            <a:extLst xmlns:a="http://schemas.openxmlformats.org/drawingml/2006/main">
              <a:ext uri="{FF2B5EF4-FFF2-40B4-BE49-F238E27FC236}">
                <a16:creationId xmlns:a16="http://schemas.microsoft.com/office/drawing/2014/main" id="{9ED9D901-038B-4ED5-9763-26FA58FF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追踪条目指向真实对象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content-173">
            <a:extLst xmlns:a="http://schemas.openxmlformats.org/drawingml/2006/main">
              <a:ext uri="{FF2B5EF4-FFF2-40B4-BE49-F238E27FC236}">
                <a16:creationId xmlns:a16="http://schemas.microsoft.com/office/drawing/2014/main" id="{BC589B23-7F33-4BE7-A95E-9CF968EC2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主张：本构造包的汇总比较。</a:t>
            </a:r>
          </a:p>
        </p:txBody>
      </p:sp>
      <p:sp>
        <p:nvSpPr>
          <p:cNvPr id="7" name="content-174">
            <a:extLst xmlns:a="http://schemas.openxmlformats.org/drawingml/2006/main">
              <a:ext uri="{FF2B5EF4-FFF2-40B4-BE49-F238E27FC236}">
                <a16:creationId xmlns:a16="http://schemas.microsoft.com/office/drawing/2014/main" id="{F5E8E986-F925-41E0-B64F-120E5039F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证据：evaluation.json → annotations.json。</a:t>
            </a:r>
          </a:p>
        </p:txBody>
      </p:sp>
      <p:sp>
        <p:nvSpPr>
          <p:cNvPr id="8" name="content-175">
            <a:extLst xmlns:a="http://schemas.openxmlformats.org/drawingml/2006/main">
              <a:ext uri="{FF2B5EF4-FFF2-40B4-BE49-F238E27FC236}">
                <a16:creationId xmlns:a16="http://schemas.microsoft.com/office/drawing/2014/main" id="{F30ECE07-8D5D-4E9E-A4AD-457C177D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原始材料：T01–T03 的源文本与输出原句。</a:t>
            </a:r>
          </a:p>
        </p:txBody>
      </p:sp>
      <p:sp>
        <p:nvSpPr>
          <p:cNvPr id="9" name="content-176">
            <a:extLst xmlns:a="http://schemas.openxmlformats.org/drawingml/2006/main">
              <a:ext uri="{FF2B5EF4-FFF2-40B4-BE49-F238E27FC236}">
                <a16:creationId xmlns:a16="http://schemas.microsoft.com/office/drawing/2014/main" id="{553582F6-3D43-483A-9C1D-9EF03D937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判断：Q1方向一致；H1/A2未决。</a:t>
            </a:r>
          </a:p>
        </p:txBody>
      </p:sp>
      <p:sp>
        <p:nvSpPr>
          <p:cNvPr id="10" name="content-177">
            <a:extLst xmlns:a="http://schemas.openxmlformats.org/drawingml/2006/main">
              <a:ext uri="{FF2B5EF4-FFF2-40B4-BE49-F238E27FC236}">
                <a16:creationId xmlns:a16="http://schemas.microsoft.com/office/drawing/2014/main" id="{29E29D68-175D-4A23-8BEC-6069CABE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006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反例与缺口：T03；其他质量未测。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披露只写真实发生的使用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content-178">
            <a:extLst xmlns:a="http://schemas.openxmlformats.org/drawingml/2006/main">
              <a:ext uri="{FF2B5EF4-FFF2-40B4-BE49-F238E27FC236}">
                <a16:creationId xmlns:a16="http://schemas.microsoft.com/office/drawing/2014/main" id="{7A846E86-84DB-4A7E-8963-CCA1D564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本示范回放预置输出，没有课堂模型调用。</a:t>
            </a:r>
          </a:p>
        </p:txBody>
      </p:sp>
      <p:sp>
        <p:nvSpPr>
          <p:cNvPr id="7" name="content-179">
            <a:extLst xmlns:a="http://schemas.openxmlformats.org/drawingml/2006/main">
              <a:ext uri="{FF2B5EF4-FFF2-40B4-BE49-F238E27FC236}">
                <a16:creationId xmlns:a16="http://schemas.microsoft.com/office/drawing/2014/main" id="{B7C112F9-DFF5-4839-8E4D-CD5A1819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若使用AI辅助写作：另记工具、版本/日期、用途与提示要点。</a:t>
            </a:r>
          </a:p>
        </p:txBody>
      </p:sp>
      <p:sp>
        <p:nvSpPr>
          <p:cNvPr id="8" name="content-180">
            <a:extLst xmlns:a="http://schemas.openxmlformats.org/drawingml/2006/main">
              <a:ext uri="{FF2B5EF4-FFF2-40B4-BE49-F238E27FC236}">
                <a16:creationId xmlns:a16="http://schemas.microsoft.com/office/drawing/2014/main" id="{7638D9D2-A734-4451-8914-57452D8D6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人工核验：数据、原句、范围、失败与引用。</a:t>
            </a:r>
          </a:p>
        </p:txBody>
      </p:sp>
      <p:sp>
        <p:nvSpPr>
          <p:cNvPr id="9" name="content-181">
            <a:extLst xmlns:a="http://schemas.openxmlformats.org/drawingml/2006/main">
              <a:ext uri="{FF2B5EF4-FFF2-40B4-BE49-F238E27FC236}">
                <a16:creationId xmlns:a16="http://schemas.microsoft.com/office/drawing/2014/main" id="{094F5EE4-915D-43A1-9902-6632CD37D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输出用途：哪些候选实际进入报告。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补齐追踪与披露，再保存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rocess-182">
            <a:extLst xmlns:a="http://schemas.openxmlformats.org/drawingml/2006/main">
              <a:ext uri="{FF2B5EF4-FFF2-40B4-BE49-F238E27FC236}">
                <a16:creationId xmlns:a16="http://schemas.microsoft.com/office/drawing/2014/main" id="{4B359949-4321-4496-B8EB-05B249A19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507456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0">
            <a:noFill/>
          </a:ln>
        </p:spPr>
      </p:sp>
      <p:sp>
        <p:nvSpPr>
          <p:cNvPr id="7" name="content-183">
            <a:extLst xmlns:a="http://schemas.openxmlformats.org/drawingml/2006/main">
              <a:ext uri="{FF2B5EF4-FFF2-40B4-BE49-F238E27FC236}">
                <a16:creationId xmlns:a16="http://schemas.microsoft.com/office/drawing/2014/main" id="{7AA28963-B9EC-48DA-BC45-975DC5E42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85975"/>
            <a:ext cx="2297906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追踪：C1</a:t>
            </a:r>
          </a:p>
        </p:txBody>
      </p:sp>
      <p:sp>
        <p:nvSpPr>
          <p:cNvPr id="8" name="content-184">
            <a:extLst xmlns:a="http://schemas.openxmlformats.org/drawingml/2006/main">
              <a:ext uri="{FF2B5EF4-FFF2-40B4-BE49-F238E27FC236}">
                <a16:creationId xmlns:a16="http://schemas.microsoft.com/office/drawing/2014/main" id="{80614E06-BB98-4766-9226-D01830697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7056" y="2200275"/>
            <a:ext cx="3143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process-185">
            <a:extLst xmlns:a="http://schemas.openxmlformats.org/drawingml/2006/main">
              <a:ext uri="{FF2B5EF4-FFF2-40B4-BE49-F238E27FC236}">
                <a16:creationId xmlns:a16="http://schemas.microsoft.com/office/drawing/2014/main" id="{34386523-9C13-4815-B6D9-D95A1E7E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1381" y="2000250"/>
            <a:ext cx="2507456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0" name="content-186">
            <a:extLst xmlns:a="http://schemas.openxmlformats.org/drawingml/2006/main">
              <a:ext uri="{FF2B5EF4-FFF2-40B4-BE49-F238E27FC236}">
                <a16:creationId xmlns:a16="http://schemas.microsoft.com/office/drawing/2014/main" id="{0767000F-75A3-427D-B229-D8A3E7E2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156" y="2085975"/>
            <a:ext cx="2297906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评价报告</a:t>
            </a:r>
          </a:p>
        </p:txBody>
      </p:sp>
      <p:sp>
        <p:nvSpPr>
          <p:cNvPr id="11" name="content-187">
            <a:extLst xmlns:a="http://schemas.openxmlformats.org/drawingml/2006/main">
              <a:ext uri="{FF2B5EF4-FFF2-40B4-BE49-F238E27FC236}">
                <a16:creationId xmlns:a16="http://schemas.microsoft.com/office/drawing/2014/main" id="{A5DD8612-2360-456F-A513-80209B10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8838" y="2200275"/>
            <a:ext cx="3143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process-188">
            <a:extLst xmlns:a="http://schemas.openxmlformats.org/drawingml/2006/main">
              <a:ext uri="{FF2B5EF4-FFF2-40B4-BE49-F238E27FC236}">
                <a16:creationId xmlns:a16="http://schemas.microsoft.com/office/drawing/2014/main" id="{7CA44F1F-E91F-4AE8-B49A-C33AC9FD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2000250"/>
            <a:ext cx="2507456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3" name="content-189">
            <a:extLst xmlns:a="http://schemas.openxmlformats.org/drawingml/2006/main">
              <a:ext uri="{FF2B5EF4-FFF2-40B4-BE49-F238E27FC236}">
                <a16:creationId xmlns:a16="http://schemas.microsoft.com/office/drawing/2014/main" id="{9C9C2071-F7F5-4E26-BEC5-3C4A6C56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2085975"/>
            <a:ext cx="2297906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逐项标注</a:t>
            </a:r>
          </a:p>
        </p:txBody>
      </p:sp>
      <p:sp>
        <p:nvSpPr>
          <p:cNvPr id="14" name="content-190">
            <a:extLst xmlns:a="http://schemas.openxmlformats.org/drawingml/2006/main">
              <a:ext uri="{FF2B5EF4-FFF2-40B4-BE49-F238E27FC236}">
                <a16:creationId xmlns:a16="http://schemas.microsoft.com/office/drawing/2014/main" id="{DF04AC25-CB31-4C11-B854-3D7C17D90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0619" y="2200275"/>
            <a:ext cx="3143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5" name="process-191">
            <a:extLst xmlns:a="http://schemas.openxmlformats.org/drawingml/2006/main">
              <a:ext uri="{FF2B5EF4-FFF2-40B4-BE49-F238E27FC236}">
                <a16:creationId xmlns:a16="http://schemas.microsoft.com/office/drawing/2014/main" id="{E5208136-F588-49CF-A171-6DD3B069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4944" y="2000250"/>
            <a:ext cx="2507456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6" name="content-192">
            <a:extLst xmlns:a="http://schemas.openxmlformats.org/drawingml/2006/main">
              <a:ext uri="{FF2B5EF4-FFF2-40B4-BE49-F238E27FC236}">
                <a16:creationId xmlns:a16="http://schemas.microsoft.com/office/drawing/2014/main" id="{A597F105-5C1F-4EB9-8803-626BFD74B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9719" y="2085975"/>
            <a:ext cx="2297906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源文本与输出。</a:t>
            </a:r>
          </a:p>
        </p:txBody>
      </p:sp>
      <p:sp>
        <p:nvSpPr>
          <p:cNvPr id="17" name="content-193">
            <a:extLst xmlns:a="http://schemas.openxmlformats.org/drawingml/2006/main">
              <a:ext uri="{FF2B5EF4-FFF2-40B4-BE49-F238E27FC236}">
                <a16:creationId xmlns:a16="http://schemas.microsoft.com/office/drawing/2014/main" id="{C7990DF9-C2EC-4138-B682-46F7743D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10972800" cy="417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打开 report.md、结论追踪记录与 ai-usage-log.md。</a:t>
            </a:r>
          </a:p>
        </p:txBody>
      </p:sp>
      <p:sp>
        <p:nvSpPr>
          <p:cNvPr id="18" name="content-194">
            <a:extLst xmlns:a="http://schemas.openxmlformats.org/drawingml/2006/main">
              <a:ext uri="{FF2B5EF4-FFF2-40B4-BE49-F238E27FC236}">
                <a16:creationId xmlns:a16="http://schemas.microsoft.com/office/drawing/2014/main" id="{35454902-E1A0-406A-B393-9BC371DD2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5245"/>
            <a:ext cx="10972800" cy="417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强度：Q1 包内方向一致；H1/A2 未决，T03 负向。</a:t>
            </a:r>
          </a:p>
        </p:txBody>
      </p:sp>
      <p:sp>
        <p:nvSpPr>
          <p:cNvPr id="19" name="content-195">
            <a:extLst xmlns:a="http://schemas.openxmlformats.org/drawingml/2006/main">
              <a:ext uri="{FF2B5EF4-FFF2-40B4-BE49-F238E27FC236}">
                <a16:creationId xmlns:a16="http://schemas.microsoft.com/office/drawing/2014/main" id="{B0B05616-3360-4C4C-AE17-7D9307EFE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4365"/>
            <a:ext cx="10972800" cy="417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披露：固定输出回放；其他 AI 辅助使用另据实记录。</a:t>
            </a:r>
          </a:p>
        </p:txBody>
      </p:sp>
      <p:sp>
        <p:nvSpPr>
          <p:cNvPr id="20" name="content-196">
            <a:extLst xmlns:a="http://schemas.openxmlformats.org/drawingml/2006/main">
              <a:ext uri="{FF2B5EF4-FFF2-40B4-BE49-F238E27FC236}">
                <a16:creationId xmlns:a16="http://schemas.microsoft.com/office/drawing/2014/main" id="{A1B20BB8-FC93-4148-8C03-1424010F4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3485"/>
            <a:ext cx="10972800" cy="417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完成标志：同伴能沿主张反查一次。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请从同伴的主张反向找证据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node0">
            <a:extLst xmlns:a="http://schemas.openxmlformats.org/drawingml/2006/main">
              <a:ext uri="{FF2B5EF4-FFF2-40B4-BE49-F238E27FC236}">
                <a16:creationId xmlns:a16="http://schemas.microsoft.com/office/drawing/2014/main" id="{ED06FAEA-A6EC-428B-94C5-95811F756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3238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主张</a:t>
            </a:r>
          </a:p>
        </p:txBody>
      </p:sp>
      <p:sp>
        <p:nvSpPr>
          <p:cNvPr id="7" name="arrow0">
            <a:extLst xmlns:a="http://schemas.openxmlformats.org/drawingml/2006/main">
              <a:ext uri="{FF2B5EF4-FFF2-40B4-BE49-F238E27FC236}">
                <a16:creationId xmlns:a16="http://schemas.microsoft.com/office/drawing/2014/main" id="{25EB0D02-40A3-402B-92CE-8E5608E8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552575"/>
            <a:ext cx="428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node1">
            <a:extLst xmlns:a="http://schemas.openxmlformats.org/drawingml/2006/main">
              <a:ext uri="{FF2B5EF4-FFF2-40B4-BE49-F238E27FC236}">
                <a16:creationId xmlns:a16="http://schemas.microsoft.com/office/drawing/2014/main" id="{2B8F7223-99C2-4080-95A6-568F3D9D7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52575"/>
            <a:ext cx="3238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证据／运行记录</a:t>
            </a:r>
          </a:p>
        </p:txBody>
      </p:sp>
      <p:sp>
        <p:nvSpPr>
          <p:cNvPr id="9" name="arrow1">
            <a:extLst xmlns:a="http://schemas.openxmlformats.org/drawingml/2006/main">
              <a:ext uri="{FF2B5EF4-FFF2-40B4-BE49-F238E27FC236}">
                <a16:creationId xmlns:a16="http://schemas.microsoft.com/office/drawing/2014/main" id="{2BBB41E2-40C0-4849-A67E-FF68F555E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552575"/>
            <a:ext cx="428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0" name="node2">
            <a:extLst xmlns:a="http://schemas.openxmlformats.org/drawingml/2006/main">
              <a:ext uri="{FF2B5EF4-FFF2-40B4-BE49-F238E27FC236}">
                <a16:creationId xmlns:a16="http://schemas.microsoft.com/office/drawing/2014/main" id="{C05EE511-5B5F-44F8-8BFA-73C2D76D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552575"/>
            <a:ext cx="3238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上游判断</a:t>
            </a:r>
          </a:p>
        </p:txBody>
      </p:sp>
      <p:sp>
        <p:nvSpPr>
          <p:cNvPr id="11" name="q0">
            <a:extLst xmlns:a="http://schemas.openxmlformats.org/drawingml/2006/main">
              <a:ext uri="{FF2B5EF4-FFF2-40B4-BE49-F238E27FC236}">
                <a16:creationId xmlns:a16="http://schemas.microsoft.com/office/drawing/2014/main" id="{2020B0EC-ADFD-4EBF-B071-9F1D94BC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3295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能否找到？</a:t>
            </a:r>
          </a:p>
        </p:txBody>
      </p:sp>
      <p:sp>
        <p:nvSpPr>
          <p:cNvPr id="12" name="detail0">
            <a:extLst xmlns:a="http://schemas.openxmlformats.org/drawingml/2006/main">
              <a:ext uri="{FF2B5EF4-FFF2-40B4-BE49-F238E27FC236}">
                <a16:creationId xmlns:a16="http://schemas.microsoft.com/office/drawing/2014/main" id="{AF948290-54C0-4EFF-9B8E-2F9D922D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32956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从主张反查具体位置。</a:t>
            </a:r>
          </a:p>
        </p:txBody>
      </p:sp>
      <p:sp>
        <p:nvSpPr>
          <p:cNvPr id="13" name="q1">
            <a:extLst xmlns:a="http://schemas.openxmlformats.org/drawingml/2006/main">
              <a:ext uri="{FF2B5EF4-FFF2-40B4-BE49-F238E27FC236}">
                <a16:creationId xmlns:a16="http://schemas.microsoft.com/office/drawing/2014/main" id="{6E194977-D4A9-4BDC-B1E9-D32108AB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05100"/>
            <a:ext cx="3295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有没有越界？</a:t>
            </a:r>
          </a:p>
        </p:txBody>
      </p:sp>
      <p:sp>
        <p:nvSpPr>
          <p:cNvPr id="14" name="detail1">
            <a:extLst xmlns:a="http://schemas.openxmlformats.org/drawingml/2006/main">
              <a:ext uri="{FF2B5EF4-FFF2-40B4-BE49-F238E27FC236}">
                <a16:creationId xmlns:a16="http://schemas.microsoft.com/office/drawing/2014/main" id="{8C24E3E7-F55C-4050-B52C-841671D21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86150"/>
            <a:ext cx="32956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待验证不能写成已证实。</a:t>
            </a:r>
          </a:p>
        </p:txBody>
      </p:sp>
      <p:sp>
        <p:nvSpPr>
          <p:cNvPr id="15" name="q2">
            <a:extLst xmlns:a="http://schemas.openxmlformats.org/drawingml/2006/main">
              <a:ext uri="{FF2B5EF4-FFF2-40B4-BE49-F238E27FC236}">
                <a16:creationId xmlns:a16="http://schemas.microsoft.com/office/drawing/2014/main" id="{1F858A2C-9EDF-4AA7-BD92-8CA1FB748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05100"/>
            <a:ext cx="3295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是否遗漏？</a:t>
            </a:r>
          </a:p>
        </p:txBody>
      </p:sp>
      <p:sp>
        <p:nvSpPr>
          <p:cNvPr id="16" name="detail2">
            <a:extLst xmlns:a="http://schemas.openxmlformats.org/drawingml/2006/main">
              <a:ext uri="{FF2B5EF4-FFF2-40B4-BE49-F238E27FC236}">
                <a16:creationId xmlns:a16="http://schemas.microsoft.com/office/drawing/2014/main" id="{751F1D01-2830-4B73-9D63-D963AC629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86150"/>
            <a:ext cx="32956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失败、冲突与 AI 核验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仍然可见。</a:t>
            </a:r>
          </a:p>
        </p:txBody>
      </p:sp>
      <p:sp>
        <p:nvSpPr>
          <p:cNvPr id="17" name="responsibility">
            <a:extLst xmlns:a="http://schemas.openxmlformats.org/drawingml/2006/main">
              <a:ext uri="{FF2B5EF4-FFF2-40B4-BE49-F238E27FC236}">
                <a16:creationId xmlns:a16="http://schemas.microsoft.com/office/drawing/2014/main" id="{92DBAE49-B66F-4EEC-A858-460401685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57775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8" name="response">
            <a:extLst xmlns:a="http://schemas.openxmlformats.org/drawingml/2006/main">
              <a:ext uri="{FF2B5EF4-FFF2-40B4-BE49-F238E27FC236}">
                <a16:creationId xmlns:a16="http://schemas.microsoft.com/office/drawing/2014/main" id="{D2322C8A-568D-418A-8C93-DA96D84E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858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作者记录处理决定与真实理由，不凑反馈类别。</a:t>
            </a:r>
          </a:p>
        </p:txBody>
      </p:sp>
      <p:sp>
        <p:nvSpPr>
          <p:cNvPr id="19" name="source">
            <a:extLst xmlns:a="http://schemas.openxmlformats.org/drawingml/2006/main">
              <a:ext uri="{FF2B5EF4-FFF2-40B4-BE49-F238E27FC236}">
                <a16:creationId xmlns:a16="http://schemas.microsoft.com/office/drawing/2014/main" id="{58747A60-65C0-43F3-8A5D-BA083912D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来源：本课讲义；第 13 课评价报告；课程研究门规范 · 虚构数据不作为研究证据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chain">
            <a:extLst xmlns:a="http://schemas.openxmlformats.org/drawingml/2006/main">
              <a:ext uri="{FF2B5EF4-FFF2-40B4-BE49-F238E27FC236}">
                <a16:creationId xmlns:a16="http://schemas.microsoft.com/office/drawing/2014/main" id="{70ACB8FD-58C2-4257-A0D7-69339F99F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858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结果 → 主张 → 证据 → 推理 → 边界</a:t>
            </a:r>
          </a:p>
        </p:txBody>
      </p:sp>
      <p:sp>
        <p:nvSpPr>
          <p:cNvPr id="7" name="takeaway">
            <a:extLst xmlns:a="http://schemas.openxmlformats.org/drawingml/2006/main">
              <a:ext uri="{FF2B5EF4-FFF2-40B4-BE49-F238E27FC236}">
                <a16:creationId xmlns:a16="http://schemas.microsoft.com/office/drawing/2014/main" id="{997B9EA5-6390-444E-891E-0D64CD3E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10858500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3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写作可以重组事实，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3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3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不能扩大证据支持范围。</a:t>
            </a:r>
          </a:p>
        </p:txBody>
      </p:sp>
      <p:sp>
        <p:nvSpPr>
          <p:cNvPr id="8" name="checkline">
            <a:extLst xmlns:a="http://schemas.openxmlformats.org/drawingml/2006/main">
              <a:ext uri="{FF2B5EF4-FFF2-40B4-BE49-F238E27FC236}">
                <a16:creationId xmlns:a16="http://schemas.microsoft.com/office/drawing/2014/main" id="{4F6BA725-6AB8-495B-90B1-4D6E6CC8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57775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9" name="reverse">
            <a:extLst xmlns:a="http://schemas.openxmlformats.org/drawingml/2006/main">
              <a:ext uri="{FF2B5EF4-FFF2-40B4-BE49-F238E27FC236}">
                <a16:creationId xmlns:a16="http://schemas.microsoft.com/office/drawing/2014/main" id="{097C044F-DE35-46F1-A5DE-D587321FD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反查：运行记录、上游判断与替代解释。</a:t>
            </a:r>
          </a:p>
        </p:txBody>
      </p:sp>
      <p:sp>
        <p:nvSpPr>
          <p:cNvPr id="10" name="source">
            <a:extLst xmlns:a="http://schemas.openxmlformats.org/drawingml/2006/main">
              <a:ext uri="{FF2B5EF4-FFF2-40B4-BE49-F238E27FC236}">
                <a16:creationId xmlns:a16="http://schemas.microsoft.com/office/drawing/2014/main" id="{DADB85D6-B0F4-4C57-ACD6-55E54095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来源：本课讲义；第 13 课评价报告；课程研究门规范 · 虚构数据不作为研究证据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把一个段落扩成报告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aragraph">
            <a:extLst xmlns:a="http://schemas.openxmlformats.org/drawingml/2006/main">
              <a:ext uri="{FF2B5EF4-FFF2-40B4-BE49-F238E27FC236}">
                <a16:creationId xmlns:a16="http://schemas.microsoft.com/office/drawing/2014/main" id="{106AA225-524F-4EA5-95EF-AD267FD77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3952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已有论证段</a:t>
            </a:r>
          </a:p>
        </p:txBody>
      </p:sp>
      <p:sp>
        <p:nvSpPr>
          <p:cNvPr id="7" name="paragraph-body">
            <a:extLst xmlns:a="http://schemas.openxmlformats.org/drawingml/2006/main">
              <a:ext uri="{FF2B5EF4-FFF2-40B4-BE49-F238E27FC236}">
                <a16:creationId xmlns:a16="http://schemas.microsoft.com/office/drawing/2014/main" id="{7236CC6A-859F-4A10-B4CA-A9AFBC51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3952875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主张／证据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推理／边界</a:t>
            </a:r>
          </a:p>
        </p:txBody>
      </p:sp>
      <p:sp>
        <p:nvSpPr>
          <p:cNvPr id="8" name="arrow">
            <a:extLst xmlns:a="http://schemas.openxmlformats.org/drawingml/2006/main">
              <a:ext uri="{FF2B5EF4-FFF2-40B4-BE49-F238E27FC236}">
                <a16:creationId xmlns:a16="http://schemas.microsoft.com/office/drawing/2014/main" id="{C7744E59-E603-43CE-AED4-60B024887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676525"/>
            <a:ext cx="60007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report-top">
            <a:extLst xmlns:a="http://schemas.openxmlformats.org/drawingml/2006/main">
              <a:ext uri="{FF2B5EF4-FFF2-40B4-BE49-F238E27FC236}">
                <a16:creationId xmlns:a16="http://schemas.microsoft.com/office/drawing/2014/main" id="{AB5168EC-1787-434A-BCB3-8B28DBBF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257300"/>
            <a:ext cx="5334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0" name="report-file">
            <a:extLst xmlns:a="http://schemas.openxmlformats.org/drawingml/2006/main">
              <a:ext uri="{FF2B5EF4-FFF2-40B4-BE49-F238E27FC236}">
                <a16:creationId xmlns:a16="http://schemas.microsoft.com/office/drawing/2014/main" id="{38BE3F8C-1837-4C6C-9FA8-E9FE2B63C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409700"/>
            <a:ext cx="533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1F4D7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F4D78"/>
                </a:solidFill>
                <a:latin typeface="Consolas"/>
                <a:ea typeface="Consolas"/>
                <a:cs typeface="Consolas"/>
              </a:rPr>
              <a:t>report.md</a:t>
            </a:r>
          </a:p>
        </p:txBody>
      </p:sp>
      <p:sp>
        <p:nvSpPr>
          <p:cNvPr id="11" name="report-line0">
            <a:extLst xmlns:a="http://schemas.openxmlformats.org/drawingml/2006/main">
              <a:ext uri="{FF2B5EF4-FFF2-40B4-BE49-F238E27FC236}">
                <a16:creationId xmlns:a16="http://schemas.microsoft.com/office/drawing/2014/main" id="{C09C2756-D267-4368-B643-2E3EE46A8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943100"/>
            <a:ext cx="5105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问题：为什么问</a:t>
            </a:r>
          </a:p>
        </p:txBody>
      </p:sp>
      <p:sp>
        <p:nvSpPr>
          <p:cNvPr id="12" name="report-line1">
            <a:extLst xmlns:a="http://schemas.openxmlformats.org/drawingml/2006/main">
              <a:ext uri="{FF2B5EF4-FFF2-40B4-BE49-F238E27FC236}">
                <a16:creationId xmlns:a16="http://schemas.microsoft.com/office/drawing/2014/main" id="{7AA1C9FA-6B2D-414D-ACF2-EF4F5048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657475"/>
            <a:ext cx="5105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方法：如何得到结果</a:t>
            </a:r>
          </a:p>
        </p:txBody>
      </p:sp>
      <p:sp>
        <p:nvSpPr>
          <p:cNvPr id="13" name="report-line2">
            <a:extLst xmlns:a="http://schemas.openxmlformats.org/drawingml/2006/main">
              <a:ext uri="{FF2B5EF4-FFF2-40B4-BE49-F238E27FC236}">
                <a16:creationId xmlns:a16="http://schemas.microsoft.com/office/drawing/2014/main" id="{DBA67BA0-3680-4FD8-A4E0-EF645F892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3371850"/>
            <a:ext cx="5105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结果：当前证据支持什么</a:t>
            </a:r>
          </a:p>
        </p:txBody>
      </p:sp>
      <p:sp>
        <p:nvSpPr>
          <p:cNvPr id="14" name="report-line3">
            <a:extLst xmlns:a="http://schemas.openxmlformats.org/drawingml/2006/main">
              <a:ext uri="{FF2B5EF4-FFF2-40B4-BE49-F238E27FC236}">
                <a16:creationId xmlns:a16="http://schemas.microsoft.com/office/drawing/2014/main" id="{03800118-7CA7-4CEF-9DF7-9BFB2F16F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086225"/>
            <a:ext cx="5105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讨论：边界与未决解释</a:t>
            </a:r>
          </a:p>
        </p:txBody>
      </p:sp>
      <p:sp>
        <p:nvSpPr>
          <p:cNvPr id="15" name="after">
            <a:extLst xmlns:a="http://schemas.openxmlformats.org/drawingml/2006/main">
              <a:ext uri="{FF2B5EF4-FFF2-40B4-BE49-F238E27FC236}">
                <a16:creationId xmlns:a16="http://schemas.microsoft.com/office/drawing/2014/main" id="{FBBF2380-6A3B-428A-9D78-337987F8D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85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课后补全：可信贡献、引用与 AI 披露；保留失败和冲突。</a:t>
            </a:r>
          </a:p>
        </p:txBody>
      </p:sp>
      <p:sp>
        <p:nvSpPr>
          <p:cNvPr id="16" name="source">
            <a:extLst xmlns:a="http://schemas.openxmlformats.org/drawingml/2006/main">
              <a:ext uri="{FF2B5EF4-FFF2-40B4-BE49-F238E27FC236}">
                <a16:creationId xmlns:a16="http://schemas.microsoft.com/office/drawing/2014/main" id="{A465D204-B779-4AD0-957F-49C779EB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来源：本课讲义；第 13 课评价报告；课程研究门规范 · 虚构数据不作为研究证据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带着这份初稿进入真实评审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handoff-top">
            <a:extLst xmlns:a="http://schemas.openxmlformats.org/drawingml/2006/main">
              <a:ext uri="{FF2B5EF4-FFF2-40B4-BE49-F238E27FC236}">
                <a16:creationId xmlns:a16="http://schemas.microsoft.com/office/drawing/2014/main" id="{E70A8CC6-9A8D-498F-BB44-683FD446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735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7" name="handoff-file">
            <a:extLst xmlns:a="http://schemas.openxmlformats.org/drawingml/2006/main">
              <a:ext uri="{FF2B5EF4-FFF2-40B4-BE49-F238E27FC236}">
                <a16:creationId xmlns:a16="http://schemas.microsoft.com/office/drawing/2014/main" id="{2232B7F3-BF1E-4053-84FD-F295C2D7E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7353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1F4D7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F4D78"/>
                </a:solidFill>
                <a:latin typeface="Consolas"/>
                <a:ea typeface="Consolas"/>
                <a:cs typeface="Consolas"/>
              </a:rPr>
              <a:t>第 15 课 · 真实同行评审</a:t>
            </a:r>
          </a:p>
        </p:txBody>
      </p:sp>
      <p:sp>
        <p:nvSpPr>
          <p:cNvPr id="8" name="handoff-line0">
            <a:extLst xmlns:a="http://schemas.openxmlformats.org/drawingml/2006/main">
              <a:ext uri="{FF2B5EF4-FFF2-40B4-BE49-F238E27FC236}">
                <a16:creationId xmlns:a16="http://schemas.microsoft.com/office/drawing/2014/main" id="{9C7E7C15-7CEB-4CD9-AAF4-E021B21CA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66925"/>
            <a:ext cx="71247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report.md 初版</a:t>
            </a:r>
          </a:p>
        </p:txBody>
      </p:sp>
      <p:sp>
        <p:nvSpPr>
          <p:cNvPr id="9" name="handoff-line1">
            <a:extLst xmlns:a="http://schemas.openxmlformats.org/drawingml/2006/main">
              <a:ext uri="{FF2B5EF4-FFF2-40B4-BE49-F238E27FC236}">
                <a16:creationId xmlns:a16="http://schemas.microsoft.com/office/drawing/2014/main" id="{A43F9AB4-B08A-4988-9F3C-DAA9708CE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71247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结论追踪记录</a:t>
            </a:r>
          </a:p>
        </p:txBody>
      </p:sp>
      <p:sp>
        <p:nvSpPr>
          <p:cNvPr id="10" name="handoff-line2">
            <a:extLst xmlns:a="http://schemas.openxmlformats.org/drawingml/2006/main">
              <a:ext uri="{FF2B5EF4-FFF2-40B4-BE49-F238E27FC236}">
                <a16:creationId xmlns:a16="http://schemas.microsoft.com/office/drawing/2014/main" id="{CB1A7594-ECD2-4453-B44D-9DD4CA70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24275"/>
            <a:ext cx="71247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AI 使用披露摘要</a:t>
            </a:r>
          </a:p>
        </p:txBody>
      </p:sp>
      <p:sp>
        <p:nvSpPr>
          <p:cNvPr id="11" name="handoff-line3">
            <a:extLst xmlns:a="http://schemas.openxmlformats.org/drawingml/2006/main">
              <a:ext uri="{FF2B5EF4-FFF2-40B4-BE49-F238E27FC236}">
                <a16:creationId xmlns:a16="http://schemas.microsoft.com/office/drawing/2014/main" id="{268C67F4-C2A5-4FC8-936B-CDB174686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52950"/>
            <a:ext cx="71247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可定位的证据与运行记录</a:t>
            </a:r>
          </a:p>
        </p:txBody>
      </p:sp>
      <p:sp>
        <p:nvSpPr>
          <p:cNvPr id="12" name="action">
            <a:extLst xmlns:a="http://schemas.openxmlformats.org/drawingml/2006/main">
              <a:ext uri="{FF2B5EF4-FFF2-40B4-BE49-F238E27FC236}">
                <a16:creationId xmlns:a16="http://schemas.microsoft.com/office/drawing/2014/main" id="{187324D8-7B20-45DF-9BC3-112631A73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190750"/>
            <a:ext cx="29051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请确认同伴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能够打开材料。</a:t>
            </a:r>
          </a:p>
        </p:txBody>
      </p:sp>
      <p:sp>
        <p:nvSpPr>
          <p:cNvPr id="13" name="object">
            <a:extLst xmlns:a="http://schemas.openxmlformats.org/drawingml/2006/main">
              <a:ext uri="{FF2B5EF4-FFF2-40B4-BE49-F238E27FC236}">
                <a16:creationId xmlns:a16="http://schemas.microsoft.com/office/drawing/2014/main" id="{007F6658-E4E4-491F-9667-F2A66830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419600"/>
            <a:ext cx="29051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评审对象：论证链</a:t>
            </a:r>
          </a:p>
        </p:txBody>
      </p:sp>
      <p:sp>
        <p:nvSpPr>
          <p:cNvPr id="14" name="source">
            <a:extLst xmlns:a="http://schemas.openxmlformats.org/drawingml/2006/main">
              <a:ext uri="{FF2B5EF4-FFF2-40B4-BE49-F238E27FC236}">
                <a16:creationId xmlns:a16="http://schemas.microsoft.com/office/drawing/2014/main" id="{4EC80649-12DD-4B7E-9DD3-E7D7F907C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来源：本课讲义；第 13 课评价报告；课程研究门规范 · 虚构数据不作为研究证据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2026-09-16T01:34:18.3380000Z</dcterms:created>
  <dcterms:modified xsi:type="dcterms:W3CDTF">2026-09-16T01:34:18.3380000Z</dcterms:modified>
</coreProperties>
</file>