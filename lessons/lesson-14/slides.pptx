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eb62d1d3a841b6" /><Relationship Type="http://schemas.openxmlformats.org/officeDocument/2006/relationships/extended-properties" Target="/docProps/app.xml" Id="Rd136a63738254644" /><Relationship Type="http://schemas.openxmlformats.org/officeDocument/2006/relationships/officeDocument" Target="/ppt/presentation.xml" Id="Ra63501f3412147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25d5cc94aa4add"/>
  </p:sldMasterIdLst>
  <p:notesMasterIdLst>
    <p:notesMasterId xmlns:r="http://schemas.openxmlformats.org/officeDocument/2006/relationships" r:id="Rf04da5ceaaf2493c"/>
  </p:notesMasterIdLst>
  <p:sldIdLst>
    <p:sldId xmlns:r="http://schemas.openxmlformats.org/officeDocument/2006/relationships" id="256" r:id="R7167d7c8776d4b42"/>
    <p:sldId xmlns:r="http://schemas.openxmlformats.org/officeDocument/2006/relationships" id="257" r:id="R295068153e734c97"/>
    <p:sldId xmlns:r="http://schemas.openxmlformats.org/officeDocument/2006/relationships" id="258" r:id="R606ef019ff1f4470"/>
    <p:sldId xmlns:r="http://schemas.openxmlformats.org/officeDocument/2006/relationships" id="259" r:id="R5da1544d46ee45b6"/>
    <p:sldId xmlns:r="http://schemas.openxmlformats.org/officeDocument/2006/relationships" id="260" r:id="Rada22f958c454321"/>
    <p:sldId xmlns:r="http://schemas.openxmlformats.org/officeDocument/2006/relationships" id="261" r:id="Rc801aa5bd1ed4382"/>
    <p:sldId xmlns:r="http://schemas.openxmlformats.org/officeDocument/2006/relationships" id="262" r:id="R725790c91b384f7b"/>
    <p:sldId xmlns:r="http://schemas.openxmlformats.org/officeDocument/2006/relationships" id="263" r:id="R1bad2c6feba14fd3"/>
    <p:sldId xmlns:r="http://schemas.openxmlformats.org/officeDocument/2006/relationships" id="264" r:id="R469da78e537e4aa2"/>
    <p:sldId xmlns:r="http://schemas.openxmlformats.org/officeDocument/2006/relationships" id="265" r:id="R92c2107fc70c4c8c"/>
    <p:sldId xmlns:r="http://schemas.openxmlformats.org/officeDocument/2006/relationships" id="266" r:id="R7cbf0f1ba2624a2d"/>
    <p:sldId xmlns:r="http://schemas.openxmlformats.org/officeDocument/2006/relationships" id="267" r:id="R7aa44872aa9a48c0"/>
    <p:sldId xmlns:r="http://schemas.openxmlformats.org/officeDocument/2006/relationships" id="268" r:id="Re8d3b5b7e9f0404e"/>
    <p:sldId xmlns:r="http://schemas.openxmlformats.org/officeDocument/2006/relationships" id="269" r:id="R9922f67190864916"/>
    <p:sldId xmlns:r="http://schemas.openxmlformats.org/officeDocument/2006/relationships" id="270" r:id="R187f36cb860f4690"/>
    <p:sldId xmlns:r="http://schemas.openxmlformats.org/officeDocument/2006/relationships" id="271" r:id="R5ee42a33dacd44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bf1896e0bd4916" /><Relationship Type="http://schemas.openxmlformats.org/officeDocument/2006/relationships/slideMaster" Target="/ppt/slideMasters/slideMaster1.xml" Id="Rbb25d5cc94aa4add" /><Relationship Type="http://schemas.openxmlformats.org/officeDocument/2006/relationships/notesMaster" Target="/ppt/notesMasters/notesMaster1.xml" Id="Rf04da5ceaaf2493c" /><Relationship Type="http://schemas.openxmlformats.org/officeDocument/2006/relationships/presProps" Target="/ppt/presProps.xml" Id="R13925c793186407c" /><Relationship Type="http://schemas.openxmlformats.org/officeDocument/2006/relationships/viewProps" Target="/ppt/viewProps.xml" Id="R9d43102e636e4870" /><Relationship Type="http://schemas.openxmlformats.org/officeDocument/2006/relationships/tableStyles" Target="/ppt/tableStyles.xml" Id="Ra94579f201e7424f" /><Relationship Type="http://schemas.openxmlformats.org/officeDocument/2006/relationships/slide" Target="/ppt/slides/slide1.xml" Id="R7167d7c8776d4b42" /><Relationship Type="http://schemas.openxmlformats.org/officeDocument/2006/relationships/slide" Target="/ppt/slides/slide2.xml" Id="R295068153e734c97" /><Relationship Type="http://schemas.openxmlformats.org/officeDocument/2006/relationships/slide" Target="/ppt/slides/slide3.xml" Id="R606ef019ff1f4470" /><Relationship Type="http://schemas.openxmlformats.org/officeDocument/2006/relationships/slide" Target="/ppt/slides/slide4.xml" Id="R5da1544d46ee45b6" /><Relationship Type="http://schemas.openxmlformats.org/officeDocument/2006/relationships/slide" Target="/ppt/slides/slide5.xml" Id="Rada22f958c454321" /><Relationship Type="http://schemas.openxmlformats.org/officeDocument/2006/relationships/slide" Target="/ppt/slides/slide6.xml" Id="Rc801aa5bd1ed4382" /><Relationship Type="http://schemas.openxmlformats.org/officeDocument/2006/relationships/slide" Target="/ppt/slides/slide7.xml" Id="R725790c91b384f7b" /><Relationship Type="http://schemas.openxmlformats.org/officeDocument/2006/relationships/slide" Target="/ppt/slides/slide8.xml" Id="R1bad2c6feba14fd3" /><Relationship Type="http://schemas.openxmlformats.org/officeDocument/2006/relationships/slide" Target="/ppt/slides/slide9.xml" Id="R469da78e537e4aa2" /><Relationship Type="http://schemas.openxmlformats.org/officeDocument/2006/relationships/slide" Target="/ppt/slides/slide10.xml" Id="R92c2107fc70c4c8c" /><Relationship Type="http://schemas.openxmlformats.org/officeDocument/2006/relationships/slide" Target="/ppt/slides/slide11.xml" Id="R7cbf0f1ba2624a2d" /><Relationship Type="http://schemas.openxmlformats.org/officeDocument/2006/relationships/slide" Target="/ppt/slides/slide12.xml" Id="R7aa44872aa9a48c0" /><Relationship Type="http://schemas.openxmlformats.org/officeDocument/2006/relationships/slide" Target="/ppt/slides/slide13.xml" Id="Re8d3b5b7e9f0404e" /><Relationship Type="http://schemas.openxmlformats.org/officeDocument/2006/relationships/slide" Target="/ppt/slides/slide14.xml" Id="R9922f67190864916" /><Relationship Type="http://schemas.openxmlformats.org/officeDocument/2006/relationships/slide" Target="/ppt/slides/slide15.xml" Id="R187f36cb860f4690" /><Relationship Type="http://schemas.openxmlformats.org/officeDocument/2006/relationships/slide" Target="/ppt/slides/slide16.xml" Id="R5ee42a33dacd44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b25c62621342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570f46f8914111" /><Relationship Type="http://schemas.openxmlformats.org/officeDocument/2006/relationships/notesMaster" Target="/ppt/notesMasters/notesMaster1.xml" Id="R7a04c2b8245a41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cf86d107df494c" /><Relationship Type="http://schemas.openxmlformats.org/officeDocument/2006/relationships/notesMaster" Target="/ppt/notesMasters/notesMaster1.xml" Id="Rc4ce6f8bb2844e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2e47ec218ee4662" /><Relationship Type="http://schemas.openxmlformats.org/officeDocument/2006/relationships/notesMaster" Target="/ppt/notesMasters/notesMaster1.xml" Id="R810e8f75c35444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c3af09c4954b22" /><Relationship Type="http://schemas.openxmlformats.org/officeDocument/2006/relationships/notesMaster" Target="/ppt/notesMasters/notesMaster1.xml" Id="Rf8f4b1070e3c43f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c5c1f2fcfe49fa" /><Relationship Type="http://schemas.openxmlformats.org/officeDocument/2006/relationships/notesMaster" Target="/ppt/notesMasters/notesMaster1.xml" Id="R2aa6c26f829746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c44671473749da" /><Relationship Type="http://schemas.openxmlformats.org/officeDocument/2006/relationships/notesMaster" Target="/ppt/notesMasters/notesMaster1.xml" Id="R291dbe4f6dcb4a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27bbebabcc4c16" /><Relationship Type="http://schemas.openxmlformats.org/officeDocument/2006/relationships/notesMaster" Target="/ppt/notesMasters/notesMaster1.xml" Id="Rab15bde07acf4e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1f098f69f84b52" /><Relationship Type="http://schemas.openxmlformats.org/officeDocument/2006/relationships/notesMaster" Target="/ppt/notesMasters/notesMaster1.xml" Id="R224e04b37c6446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51aed148eb848c7" /><Relationship Type="http://schemas.openxmlformats.org/officeDocument/2006/relationships/notesMaster" Target="/ppt/notesMasters/notesMaster1.xml" Id="R62225f55e23f48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8e3d195c2b445ad" /><Relationship Type="http://schemas.openxmlformats.org/officeDocument/2006/relationships/notesMaster" Target="/ppt/notesMasters/notesMaster1.xml" Id="Rd1c062061dba4e6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6f5ef4a01146ac" /><Relationship Type="http://schemas.openxmlformats.org/officeDocument/2006/relationships/notesMaster" Target="/ppt/notesMasters/notesMaster1.xml" Id="R574e032ae8074a7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3d563df99b43e5" /><Relationship Type="http://schemas.openxmlformats.org/officeDocument/2006/relationships/notesMaster" Target="/ppt/notesMasters/notesMaster1.xml" Id="R5e19e6e2c7aa40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68b34a2a27492d" /><Relationship Type="http://schemas.openxmlformats.org/officeDocument/2006/relationships/notesMaster" Target="/ppt/notesMasters/notesMaster1.xml" Id="R59fd0ce31391444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3bd26894cec4e79" /><Relationship Type="http://schemas.openxmlformats.org/officeDocument/2006/relationships/notesMaster" Target="/ppt/notesMasters/notesMaster1.xml" Id="R8b84e5f0f0904a2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b544d7fd8d74671" /><Relationship Type="http://schemas.openxmlformats.org/officeDocument/2006/relationships/notesMaster" Target="/ppt/notesMasters/notesMaster1.xml" Id="Rf82e14634e2e4f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ef00d33c5b40ed" /><Relationship Type="http://schemas.openxmlformats.org/officeDocument/2006/relationships/notesMaster" Target="/ppt/notesMasters/notesMaster1.xml" Id="Ra6d93c79b98445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现行逐页母稿：</a:t>
            </a:r>
          </a:p>
          <a:p xmlns:a="http://schemas.openxmlformats.org/drawingml/2006/main">
            <a:r>
              <a:t>## P01｜第14讲 论文式表达与回写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屏显内容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第14讲 论文式表达与回写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视觉结构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交大原生封面，仅正式课名，位于中部两横线之间。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教师备注／互动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承接第 13 课评价报告。本课不是写作理论综述，也不是正式提交门。学生打开自己的一个关键结果。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来源与边界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讲义导读；`assignments.md` 第 14 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内容与90分钟教学结构不变，独立总结前置。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lessons/lesson-14/handout.md</a:t>
            </a:r>
          </a:p>
          <a:p xmlns:a="http://schemas.openxmlformats.org/drawingml/2006/main">
            <a:r>
              <a:t>- lessons/lesson-14/slides.md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lessons/lesson-13/evaluation-report-example.md</a:t>
            </a:r>
          </a:p>
          <a:p xmlns:a="http://schemas.openxmlformats.org/drawingml/2006/main">
            <a:r>
              <a:t>- https://press.uchicago.edu/ucp/books/book/chicago/C/bo215874008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现行逐页母稿：</a:t>
            </a:r>
          </a:p>
          <a:p xmlns:a="http://schemas.openxmlformats.org/drawingml/2006/main">
            <a:r>
              <a:t>## P02｜从一个结果留下三个工件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屏显内容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一个论证段 → 一条结论追踪记录 → 一段 AI 披露摘要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课堂：完成最小工件；课后：补全 report.md；第 16 课：检查论证门。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视觉结构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左侧打开 report.md 的结构化片段，右侧课堂／课后／研究门边界；以文件中的三个区段为主体。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教师备注／互动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让学生写下本课选择的结果编号或文件位置。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来源与边界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讲义“本课、课后与研究门的边界”。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内容与90分钟教学结构不变，独立总结前置。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lessons/lesson-14/handout.md</a:t>
            </a:r>
          </a:p>
          <a:p xmlns:a="http://schemas.openxmlformats.org/drawingml/2006/main">
            <a:r>
              <a:t>- lessons/lesson-14/slides.md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lessons/lesson-13/evaluation-report-example.md</a:t>
            </a:r>
          </a:p>
          <a:p xmlns:a="http://schemas.openxmlformats.org/drawingml/2006/main">
            <a:r>
              <a:t>- https://press.uchicago.edu/ucp/books/book/chicago/C/bo215874008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现行逐页母稿：</a:t>
            </a:r>
          </a:p>
          <a:p xmlns:a="http://schemas.openxmlformats.org/drawingml/2006/main">
            <a:r>
              <a:t>## P03｜先定位结果，再开始写作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屏显内容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打开第 13 课评价报告：一条结果、记录位置、失败或替代解释。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课程虚构样例：限定条件遗漏率 0.18 / 0.31；H1 方向支持；A1/A2/A3 未决。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请选定本人结果编号；无结果者使用虚构记录。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视觉结构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左侧显示现有 evaluation-report-example.md 的结果行，右侧批注指向数值、记录和未决项；不画抽象文件栈。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教师备注／互动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不允许先写“方法有效”再补证据；先定位记录。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来源与边界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 §一、§三。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内容与90分钟教学结构不变，独立总结前置。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lessons/lesson-14/handout.md</a:t>
            </a:r>
          </a:p>
          <a:p xmlns:a="http://schemas.openxmlformats.org/drawingml/2006/main">
            <a:r>
              <a:t>- lessons/lesson-14/slides.md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lessons/lesson-13/evaluation-report-example.md</a:t>
            </a:r>
          </a:p>
          <a:p xmlns:a="http://schemas.openxmlformats.org/drawingml/2006/main">
            <a:r>
              <a:t>- https://press.uchicago.edu/ucp/books/book/chicago/C/bo215874008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现行逐页母稿：</a:t>
            </a:r>
          </a:p>
          <a:p xmlns:a="http://schemas.openxmlformats.org/drawingml/2006/main">
            <a:r>
              <a:t>## P04｜论证段的四个部件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屏显内容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主张：在本批论文中，阅读卡组遗漏率较低。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证据：虚构汇总 0.18 与 0.31，可反查评价报告。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推理：方向与 H1 预测一致。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边界：A1/A2/A3 尚未充分区分。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视觉结构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同一段四句论证居左，右侧四个边注与对应句对齐；颜色仅标关键解释。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教师备注／互动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IMRaD 只用于定位这些部件，不另讲一套填表规则。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来源与边界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Booth et al., *The Craft of Research*, Ch. 5, 7；讲义 §二。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内容与90分钟教学结构不变，独立总结前置。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lessons/lesson-14/handout.md</a:t>
            </a:r>
          </a:p>
          <a:p xmlns:a="http://schemas.openxmlformats.org/drawingml/2006/main">
            <a:r>
              <a:t>- lessons/lesson-14/slides.md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lessons/lesson-13/evaluation-report-example.md</a:t>
            </a:r>
          </a:p>
          <a:p xmlns:a="http://schemas.openxmlformats.org/drawingml/2006/main">
            <a:r>
              <a:t>- https://press.uchicago.edu/ucp/books/book/chicago/C/bo215874008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现行逐页母稿：</a:t>
            </a:r>
          </a:p>
          <a:p xmlns:a="http://schemas.openxmlformats.org/drawingml/2006/main">
            <a:r>
              <a:t>## P05｜把实验口径写进方法段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屏显内容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课程虚构教学案例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同一批 20 篇 CS 论文 → 阅读卡组／自由摘要组 → 各 3 次运行 → 120 次输出。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人工建立并复核基准限定条件；主指标：限定条件遗漏率。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视觉结构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同一论文批次分流到上下两条条件轨道，两轨各标三次运行，右侧汇合为总输出；下方为指标的实际定义。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教师备注／互动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强调 20×2×3=120 是输出数，不是 120 篇论文。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来源与边界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课程统一案例定义；数值只用于动作演示。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内容与90分钟教学结构不变，独立总结前置。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lessons/lesson-14/handout.md</a:t>
            </a:r>
          </a:p>
          <a:p xmlns:a="http://schemas.openxmlformats.org/drawingml/2006/main">
            <a:r>
              <a:t>- lessons/lesson-14/slides.md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lessons/lesson-13/evaluation-report-example.md</a:t>
            </a:r>
          </a:p>
          <a:p xmlns:a="http://schemas.openxmlformats.org/drawingml/2006/main">
            <a:r>
              <a:t>- https://press.uchicago.edu/ucp/books/book/chicago/C/bo215874008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现行逐页母稿：</a:t>
            </a:r>
          </a:p>
          <a:p xmlns:a="http://schemas.openxmlformats.org/drawingml/2006/main">
            <a:r>
              <a:t>## P06｜遗漏率较低，机制仍待区分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屏显内容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课程虚构教学汇总：阅读卡 0.18±0.03；自由摘要 0.31±0.04。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可写：在这批论文中，阅读卡组遗漏率较低，方向支持 H1。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不可写：阅读卡机制已被证明有效。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± 含义未定义，暂不绘制误差线；A1/A2/A3 尚未区分。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视觉结构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左侧原生可编辑两条件柱图，仅中心值 0.18/0.31；右侧绿色可写与红色越界句，同一对象旁显示未决解释；橙色注明误差线暂缓理由。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教师备注／互动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不把差异直接写成机制因果，也不把“不显著”当作机制不存在。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来源与边界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虚构教学数据；结论状态规则来自讲义 §三。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内容与90分钟教学结构不变，独立总结前置。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lessons/lesson-14/handout.md</a:t>
            </a:r>
          </a:p>
          <a:p xmlns:a="http://schemas.openxmlformats.org/drawingml/2006/main">
            <a:r>
              <a:t>- lessons/lesson-14/slides.md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lessons/lesson-13/evaluation-report-example.md</a:t>
            </a:r>
          </a:p>
          <a:p xmlns:a="http://schemas.openxmlformats.org/drawingml/2006/main">
            <a:r>
              <a:t>- https://press.uchicago.edu/ucp/books/book/chicago/C/bo215874008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现行逐页母稿：</a:t>
            </a:r>
          </a:p>
          <a:p xmlns:a="http://schemas.openxmlformats.org/drawingml/2006/main">
            <a:r>
              <a:t>## P07｜哪种解释还没有被排除？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屏显内容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课程虚构案例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H1：结构化阅读卡改善限定条件保留；方向支持（待验证）。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A1 任务转移：是否以其他错误增加为代价？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A2 标注提示效应：评价者看到字段提示后，是否改变标注？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A3 文档结构效应：是否依赖特定文档结构？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替代解释当前仍不能判断。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视觉结构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左侧保持上一页结果对象的小幅原生图；右侧三条未决解释与具体追问纵向对齐，不用环绕卡片充当解释。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教师备注／互动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要求学生指出自己的一个替代解释，而非背诵案例编号。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来源与边界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课程统一案例定义；讲义 §二—三。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内容与90分钟教学结构不变，独立总结前置。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lessons/lesson-14/handout.md</a:t>
            </a:r>
          </a:p>
          <a:p xmlns:a="http://schemas.openxmlformats.org/drawingml/2006/main">
            <a:r>
              <a:t>- lessons/lesson-14/slides.md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lessons/lesson-13/evaluation-report-example.md</a:t>
            </a:r>
          </a:p>
          <a:p xmlns:a="http://schemas.openxmlformats.org/drawingml/2006/main">
            <a:r>
              <a:t>- https://press.uchicago.edu/ucp/books/book/chicago/C/bo215874008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现行逐页母稿：</a:t>
            </a:r>
          </a:p>
          <a:p xmlns:a="http://schemas.openxmlformats.org/drawingml/2006/main">
            <a:r>
              <a:t>## P08｜写一段能反查证据的论证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屏显内容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把你的一个结果写成四句话。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打开：结果记录 + 证据项；保存：report.md 的一个段落。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完成样例（课程虚构）：主张—本批论文中阅读卡组遗漏率较低；证据—汇总为 0.18 与 0.31；推理—方向支持 H1；边界—A1/A2/A3 尚未区分。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完成标志：同伴能定位记录与未决项。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视觉结构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左侧单一操作与输入／保存位置，右侧沿用 P04 的四句完整样例。实践页增加操作区后重新分配横向位置，不以空白模板代替完成样例。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教师备注／互动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实践停留页。教师巡视，只追问证据和边界。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来源与边界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 §八练习。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内容与90分钟教学结构不变，独立总结前置。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lessons/lesson-14/handout.md</a:t>
            </a:r>
          </a:p>
          <a:p xmlns:a="http://schemas.openxmlformats.org/drawingml/2006/main">
            <a:r>
              <a:t>- lessons/lesson-14/slides.md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lessons/lesson-13/evaluation-report-example.md</a:t>
            </a:r>
          </a:p>
          <a:p xmlns:a="http://schemas.openxmlformats.org/drawingml/2006/main">
            <a:r>
              <a:t>- https://press.uchicago.edu/ucp/books/book/chicago/C/bo215874008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现行逐页母稿：</a:t>
            </a:r>
          </a:p>
          <a:p xmlns:a="http://schemas.openxmlformats.org/drawingml/2006/main">
            <a:r>
              <a:t>## P09｜修订这两句断裂的论证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屏显内容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课程虚构修订样例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− 结果表明方法有效。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+ 在本批论文中，阅读卡组遗漏率较低；见评价报告 §2。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− 这证明了阅读卡机制。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+ 方向支持 H1；A1/A2/A3 尚未充分区分。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请补位置、降强度、写边界。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视觉结构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可编辑的正文 diff 占主体，红色删除／绿色新增；两组修改以细分隔线区分，旁边标出修复的断裂。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教师备注／互动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现场展示一份匿名片段；不给新框架，只纠偏。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来源与边界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 §三。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内容与90分钟教学结构不变，独立总结前置。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lessons/lesson-14/handout.md</a:t>
            </a:r>
          </a:p>
          <a:p xmlns:a="http://schemas.openxmlformats.org/drawingml/2006/main">
            <a:r>
              <a:t>- lessons/lesson-14/slides.md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lessons/lesson-13/evaluation-report-example.md</a:t>
            </a:r>
          </a:p>
          <a:p xmlns:a="http://schemas.openxmlformats.org/drawingml/2006/main">
            <a:r>
              <a:t>- https://press.uchicago.edu/ucp/books/book/chicago/C/bo215874008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现行逐页母稿：</a:t>
            </a:r>
          </a:p>
          <a:p xmlns:a="http://schemas.openxmlformats.org/drawingml/2006/main">
            <a:r>
              <a:t>## P10｜把主张接回一条追踪记录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屏显内容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课程虚构教学记录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结论 C1：本批论文阅读卡组遗漏率较低。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记录：第 13 课评价报告 §2 的两条件汇总。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上游判断：人工基准限定条件与冻结指标。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缺失：A1/A2/A3 未充分区分。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状态：支持（待验证）；三态为支持／反驳／仍不能判断。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视觉结构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一条可读的记录以纵向键值展开；位置与状态高亮；不挤成五列窄表。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教师备注／互动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学生复制一行到自己的 `report.md` 或追踪表。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来源与边界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 §三；AGENTS.md 证据标准。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内容与90分钟教学结构不变，独立总结前置。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lessons/lesson-14/handout.md</a:t>
            </a:r>
          </a:p>
          <a:p xmlns:a="http://schemas.openxmlformats.org/drawingml/2006/main">
            <a:r>
              <a:t>- lessons/lesson-14/slides.md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lessons/lesson-13/evaluation-report-example.md</a:t>
            </a:r>
          </a:p>
          <a:p xmlns:a="http://schemas.openxmlformats.org/drawingml/2006/main">
            <a:r>
              <a:t>- https://press.uchicago.edu/ucp/books/book/chicago/C/bo215874008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现行逐页母稿：</a:t>
            </a:r>
          </a:p>
          <a:p xmlns:a="http://schemas.openxmlformats.org/drawingml/2006/main">
            <a:r>
              <a:t>## P11｜从已有日志写出 AI 披露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屏显内容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已有 ai-usage-log.md → 披露摘要 → 附件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环节与用途；模型／版本与提示要点；人工核验与输出用途；失败、偏差或已检查风险。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模型版本或记录缺失时注明缺口，不重建虚构日志。AI 输出只作线索，不作证据。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视觉结构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左侧展示讲义 §六第五步的既有虚构日志：检索／阅读／写作、Claude 4.5（2026-07-15）、原文核验／人工审核／偏差审计、把“降低”误写为“消除”；右侧为对应披露摘要，醒目标明非本次实际模型调用。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教师备注／互动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不要求课堂重建完整日志；缺日志者标注缺口，不虚构。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来源与边界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 §四；AGENTS.md；assessment.md。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内容与90分钟教学结构不变，独立总结前置。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lessons/lesson-14/handout.md</a:t>
            </a:r>
          </a:p>
          <a:p xmlns:a="http://schemas.openxmlformats.org/drawingml/2006/main">
            <a:r>
              <a:t>- lessons/lesson-14/slides.md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lessons/lesson-13/evaluation-report-example.md</a:t>
            </a:r>
          </a:p>
          <a:p xmlns:a="http://schemas.openxmlformats.org/drawingml/2006/main">
            <a:r>
              <a:t>- https://press.uchicago.edu/ucp/books/book/chicago/C/bo215874008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现行逐页母稿：</a:t>
            </a:r>
          </a:p>
          <a:p xmlns:a="http://schemas.openxmlformats.org/drawingml/2006/main">
            <a:r>
              <a:t>## P12｜补齐追踪与披露，再保存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屏显内容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打开：report.md、结论追踪记录、ai-usage-log.md。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完成一条可定位追踪记录和一段披露摘要。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完成样例（课程虚构）：C1 → 评价报告 §2；支持（待验证）；A1/A2/A3 未区分；人工把“消除”纠正为“降低”。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自检：记录能定位；强度匹配证据；失败冲突保留；AI 人工核验写清。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完成标志：同伴能沿主张反查一次。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视觉结构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左侧单一动作与输入，右侧显示完成样例的记录位置、结论状态、替代解释与具体人工纠错；不使用每页固定底条。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教师备注／互动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实践停留页。个人实践结束前提醒学生保存文件。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来源与边界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 §三—四、§八练习。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内容与90分钟教学结构不变，独立总结前置。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lessons/lesson-14/handout.md</a:t>
            </a:r>
          </a:p>
          <a:p xmlns:a="http://schemas.openxmlformats.org/drawingml/2006/main">
            <a:r>
              <a:t>- lessons/lesson-14/slides.md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lessons/lesson-13/evaluation-report-example.md</a:t>
            </a:r>
          </a:p>
          <a:p xmlns:a="http://schemas.openxmlformats.org/drawingml/2006/main">
            <a:r>
              <a:t>- https://press.uchicago.edu/ucp/books/book/chicago/C/bo215874008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现行逐页母稿：</a:t>
            </a:r>
          </a:p>
          <a:p xmlns:a="http://schemas.openxmlformats.org/drawingml/2006/main">
            <a:r>
              <a:t>## P13｜请从同伴的主张反向找证据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屏显内容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主张 → 证据／运行记录 → 上游判断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能否找到？有没有越界？是否遗漏失败、冲突或 AI 核验？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作者记录处理决定与真实理由；采纳、澄清、补证、保留异议或暂缓，不凑类别。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视觉结构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中央可追踪阅读路线，下面三项核验问题对应三个节点；作者责任放在反馈记录附近。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教师备注／互动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两人互查。反馈可以采纳、澄清、补证、保留异议或暂缓，但必须指出具体位置。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来源与边界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讲义练习；assignments.md 第 15 课反馈口径。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内容与90分钟教学结构不变，独立总结前置。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lessons/lesson-14/handout.md</a:t>
            </a:r>
          </a:p>
          <a:p xmlns:a="http://schemas.openxmlformats.org/drawingml/2006/main">
            <a:r>
              <a:t>- lessons/lesson-14/slides.md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lessons/lesson-13/evaluation-report-example.md</a:t>
            </a:r>
          </a:p>
          <a:p xmlns:a="http://schemas.openxmlformats.org/drawingml/2006/main">
            <a:r>
              <a:t>- https://press.uchicago.edu/ucp/books/book/chicago/C/bo215874008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现行逐页母稿：</a:t>
            </a:r>
          </a:p>
          <a:p xmlns:a="http://schemas.openxmlformats.org/drawingml/2006/main">
            <a:r>
              <a:t>## P14｜本讲知识点总结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屏显内容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结果 → 主张 → 证据 → 推理 → 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写作可以重组事实，不能扩大证据支持范围。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反查：运行记录、上游判断与替代解释。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视觉结构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独立知识总结页，以一条论证链和反向定位关系收束；不混入课后任务或下课预告。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教师备注／互动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退出动作：学生说出本稿最需要补的一处证据或边界。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来源与边界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Booth et al.；AGENTS.md；讲义总结。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内容与90分钟教学结构不变，独立总结前置。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lessons/lesson-14/handout.md</a:t>
            </a:r>
          </a:p>
          <a:p xmlns:a="http://schemas.openxmlformats.org/drawingml/2006/main">
            <a:r>
              <a:t>- lessons/lesson-14/slides.md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lessons/lesson-13/evaluation-report-example.md</a:t>
            </a:r>
          </a:p>
          <a:p xmlns:a="http://schemas.openxmlformats.org/drawingml/2006/main">
            <a:r>
              <a:t>- https://press.uchicago.edu/ucp/books/book/chicago/C/bo215874008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现行逐页母稿：</a:t>
            </a:r>
          </a:p>
          <a:p xmlns:a="http://schemas.openxmlformats.org/drawingml/2006/main">
            <a:r>
              <a:t>## P15｜把一个段落扩成报告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屏显内容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report.md：问题／方法／结果／讨论。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 IMRaD 或等价结构安排已有材料，写清一至两条可信贡献；核验引用和 AI 披露，保留失败、冲突与待验证状态。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课后补全，不新增独立作业。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视觉结构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左侧显示本人论证段进入报告“结果／讨论”位置，右侧显示其余结构待补全；不用机械四卡。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教师备注／互动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删减内容不全部转成必读。学生只列一项最优先补全动作。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来源与边界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讲义 §二—七；assignments.md。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内容与90分钟教学结构不变，独立总结前置。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lessons/lesson-14/handout.md</a:t>
            </a:r>
          </a:p>
          <a:p xmlns:a="http://schemas.openxmlformats.org/drawingml/2006/main">
            <a:r>
              <a:t>- lessons/lesson-14/slides.md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lessons/lesson-13/evaluation-report-example.md</a:t>
            </a:r>
          </a:p>
          <a:p xmlns:a="http://schemas.openxmlformats.org/drawingml/2006/main">
            <a:r>
              <a:t>- https://press.uchicago.edu/ucp/books/book/chicago/C/bo215874008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现行逐页母稿：</a:t>
            </a:r>
          </a:p>
          <a:p xmlns:a="http://schemas.openxmlformats.org/drawingml/2006/main">
            <a:r>
              <a:t>## P16｜带着这份初稿进入真实评审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屏显内容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15 课输入：report.md 初版、结论追踪记录、AI 使用披露摘要、可定位证据与运行记录。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评审对象是论证链。请确认同伴能够打开这些材料。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视觉结构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打开报告的中心对象与三项附件路径相连，旁边一个交接动作；不新增感谢页。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教师备注／互动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明确第 14 课输出可直接作为第 15 课输入。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来源与边界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15 课 handout；assignments.md。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内容与90分钟教学结构不变，独立总结前置。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lessons/lesson-14/handout.md</a:t>
            </a:r>
          </a:p>
          <a:p xmlns:a="http://schemas.openxmlformats.org/drawingml/2006/main">
            <a:r>
              <a:t>- lessons/lesson-14/slides.md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lessons/lesson-13/evaluation-report-example.md</a:t>
            </a:r>
          </a:p>
          <a:p xmlns:a="http://schemas.openxmlformats.org/drawingml/2006/main">
            <a:r>
              <a:t>- https://press.uchicago.edu/ucp/books/book/chicago/C/bo215874008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8132cfe6e4a72" /><Relationship Type="http://schemas.openxmlformats.org/officeDocument/2006/relationships/image" Target="/ppt/media/image.png" Id="Rf0f35ac0c4794b8a" /><Relationship Type="http://schemas.openxmlformats.org/officeDocument/2006/relationships/image" Target="/ppt/media/image2.png" Id="Rf9ee76ffb0d14d4c" /><Relationship Type="http://schemas.openxmlformats.org/officeDocument/2006/relationships/image" Target="/ppt/media/image3.png" Id="R1e5eabab97594241" /><Relationship Type="http://schemas.openxmlformats.org/officeDocument/2006/relationships/image" Target="/ppt/media/image4.png" Id="Rfd2b53470cdb49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b68130b44d4a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bca8b93d60401c" /><Relationship Type="http://schemas.openxmlformats.org/officeDocument/2006/relationships/image" Target="/ppt/media/image2.png" Id="R351a27be153b4406" /><Relationship Type="http://schemas.openxmlformats.org/officeDocument/2006/relationships/image" Target="/ppt/media/image5.png" Id="Ra5c82cee460045b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7fad6853484f34" /><Relationship Type="http://schemas.openxmlformats.org/officeDocument/2006/relationships/image" Target="/ppt/media/image.png" Id="R5530c835bc5e4731" /><Relationship Type="http://schemas.openxmlformats.org/officeDocument/2006/relationships/image" Target="/ppt/media/image3.png" Id="Reb1af346826f4099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f35ac0c4794b8a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9ee76ffb0d14d4c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e5eabab97594241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b53470cdb4982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1a27be153b4406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82cee460045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0c835bc5e4731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b1af346826f4099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4a2e06d452476f" /><Relationship Type="http://schemas.openxmlformats.org/officeDocument/2006/relationships/slideLayout" Target="/ppt/slideLayouts/slideLayout1.xml" Id="Ree24916e252948e7" /><Relationship Type="http://schemas.openxmlformats.org/officeDocument/2006/relationships/slideLayout" Target="/ppt/slideLayouts/slideLayout2.xml" Id="Re0727e36d5f54042" /><Relationship Type="http://schemas.openxmlformats.org/officeDocument/2006/relationships/slideLayout" Target="/ppt/slideLayouts/slideLayout3.xml" Id="R867ff81aeab84bc0" /><Relationship Type="http://schemas.openxmlformats.org/officeDocument/2006/relationships/slideLayout" Target="/ppt/slideLayouts/slideLayout4.xml" Id="R9cc7a29b46c640a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24916e252948e7"/>
    <p:sldLayoutId xmlns:r="http://schemas.openxmlformats.org/officeDocument/2006/relationships" id="2147483650" r:id="Re0727e36d5f54042"/>
    <p:sldLayoutId xmlns:r="http://schemas.openxmlformats.org/officeDocument/2006/relationships" id="2147483651" r:id="R867ff81aeab84bc0"/>
    <p:sldLayoutId xmlns:r="http://schemas.openxmlformats.org/officeDocument/2006/relationships" id="2147483652" r:id="R9cc7a29b46c640ab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fda03f9e394659" /><Relationship Type="http://schemas.openxmlformats.org/officeDocument/2006/relationships/notesSlide" Target="/ppt/notesSlides/notesSlide1.xml" Id="R20350473874f46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588a0f9d8804168" /><Relationship Type="http://schemas.openxmlformats.org/officeDocument/2006/relationships/notesSlide" Target="/ppt/notesSlides/notesSlide2.xml" Id="R10c32aa9136747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1e30748c24940d5" /><Relationship Type="http://schemas.openxmlformats.org/officeDocument/2006/relationships/notesSlide" Target="/ppt/notesSlides/notesSlide3.xml" Id="R1d1ae96709434b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37dc3a727424f77" /><Relationship Type="http://schemas.openxmlformats.org/officeDocument/2006/relationships/notesSlide" Target="/ppt/notesSlides/notesSlide4.xml" Id="R66f69c8304aa45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bc22e82ff645ae" /><Relationship Type="http://schemas.openxmlformats.org/officeDocument/2006/relationships/notesSlide" Target="/ppt/notesSlides/notesSlide5.xml" Id="R5dea64002fbe46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d797d2f082f4278" /><Relationship Type="http://schemas.openxmlformats.org/officeDocument/2006/relationships/chart" Target="/ppt/slides/charts/chart1.xml" Id="R29657fa405444a26" /><Relationship Type="http://schemas.openxmlformats.org/officeDocument/2006/relationships/notesSlide" Target="/ppt/notesSlides/notesSlide6.xml" Id="Red919a5fdfa448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8b0f06bfa3e4889" /><Relationship Type="http://schemas.openxmlformats.org/officeDocument/2006/relationships/chart" Target="/ppt/slides/charts/chart2.xml" Id="R205518af50764c67" /><Relationship Type="http://schemas.openxmlformats.org/officeDocument/2006/relationships/notesSlide" Target="/ppt/notesSlides/notesSlide7.xml" Id="R19f066bfa6ea40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c7830d682ff4247" /><Relationship Type="http://schemas.openxmlformats.org/officeDocument/2006/relationships/notesSlide" Target="/ppt/notesSlides/notesSlide8.xml" Id="R693f8260be4e48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280da573664888" /><Relationship Type="http://schemas.openxmlformats.org/officeDocument/2006/relationships/notesSlide" Target="/ppt/notesSlides/notesSlide9.xml" Id="Rc99336a8fd0e4d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b5809b4f2e489b" /><Relationship Type="http://schemas.openxmlformats.org/officeDocument/2006/relationships/notesSlide" Target="/ppt/notesSlides/notesSlide10.xml" Id="R7943eacc9be740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85f035eca03467f" /><Relationship Type="http://schemas.openxmlformats.org/officeDocument/2006/relationships/notesSlide" Target="/ppt/notesSlides/notesSlide11.xml" Id="R869f538c510e4a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9266c1e7f4c403f" /><Relationship Type="http://schemas.openxmlformats.org/officeDocument/2006/relationships/notesSlide" Target="/ppt/notesSlides/notesSlide12.xml" Id="R86551e6b4728494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0f81294ad6a48bd" /><Relationship Type="http://schemas.openxmlformats.org/officeDocument/2006/relationships/notesSlide" Target="/ppt/notesSlides/notesSlide13.xml" Id="Rc4ad122904bb435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cb7320b89d3469a" /><Relationship Type="http://schemas.openxmlformats.org/officeDocument/2006/relationships/notesSlide" Target="/ppt/notesSlides/notesSlide14.xml" Id="R67ebf3a83f9b46e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9de551fe7974614" /><Relationship Type="http://schemas.openxmlformats.org/officeDocument/2006/relationships/notesSlide" Target="/ppt/notesSlides/notesSlide15.xml" Id="R7222ec14674345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4c046031b7e46ef" /><Relationship Type="http://schemas.openxmlformats.org/officeDocument/2006/relationships/notesSlide" Target="/ppt/notesSlides/notesSlide16.xml" Id="Rd3e1dbda5e8f47e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限定条件遗漏率</c:v>
          </c:tx>
          <c:spPr>
            <a:solidFill xmlns:a="http://schemas.openxmlformats.org/drawingml/2006/main">
              <a:srgbClr val="1F4D7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F4D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C9AA6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阅读卡</c:v>
                </c:pt>
                <c:pt idx="1">
                  <c:v>自由摘要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0.18</c:v>
                </c:pt>
                <c:pt idx="1">
                  <c:v>0.31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00">
                  <a:solidFill>
                    <a:srgbClr val="2733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限定条件遗漏率</c:v>
          </c:tx>
          <c:spPr>
            <a:solidFill xmlns:a="http://schemas.openxmlformats.org/drawingml/2006/main">
              <a:srgbClr val="1F4D7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F4D7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8C9AA6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阅读卡</c:v>
                </c:pt>
                <c:pt idx="1">
                  <c:v>自由摘要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0.18</c:v>
                </c:pt>
                <c:pt idx="1">
                  <c:v>0.31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00">
                  <a:solidFill>
                    <a:srgbClr val="2733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0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7333D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F2D0560-6FFE-455A-9F8D-D07A7F85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第14讲 论文式表达与回写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从一个结果留下三个工件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report-top">
            <a:extLst xmlns:a="http://schemas.openxmlformats.org/drawingml/2006/main">
              <a:ext uri="{FF2B5EF4-FFF2-40B4-BE49-F238E27FC236}">
                <a16:creationId xmlns:a16="http://schemas.microsoft.com/office/drawing/2014/main" id="{67E3587C-021F-45BF-BB97-5D79DA4E8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7151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7" name="report-file">
            <a:extLst xmlns:a="http://schemas.openxmlformats.org/drawingml/2006/main">
              <a:ext uri="{FF2B5EF4-FFF2-40B4-BE49-F238E27FC236}">
                <a16:creationId xmlns:a16="http://schemas.microsoft.com/office/drawing/2014/main" id="{FEB59C4C-9CEF-4F47-9977-D7D40156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6715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F4D78"/>
                </a:solidFill>
                <a:latin typeface="Consolas"/>
                <a:ea typeface="Consolas"/>
                <a:cs typeface="Consolas"/>
              </a:rPr>
              <a:t>report.md</a:t>
            </a:r>
          </a:p>
        </p:txBody>
      </p:sp>
      <p:sp>
        <p:nvSpPr>
          <p:cNvPr id="8" name="report-line0">
            <a:extLst xmlns:a="http://schemas.openxmlformats.org/drawingml/2006/main">
              <a:ext uri="{FF2B5EF4-FFF2-40B4-BE49-F238E27FC236}">
                <a16:creationId xmlns:a16="http://schemas.microsoft.com/office/drawing/2014/main" id="{924CF35B-06A2-4ED1-9F91-D5FD1ACE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6486525" cy="826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## 论证段</a:t>
            </a:r>
          </a:p>
        </p:txBody>
      </p:sp>
      <p:sp>
        <p:nvSpPr>
          <p:cNvPr id="9" name="report-line1">
            <a:extLst xmlns:a="http://schemas.openxmlformats.org/drawingml/2006/main">
              <a:ext uri="{FF2B5EF4-FFF2-40B4-BE49-F238E27FC236}">
                <a16:creationId xmlns:a16="http://schemas.microsoft.com/office/drawing/2014/main" id="{B887D09B-2403-4555-B0C8-BE96F490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9394"/>
            <a:ext cx="6486525" cy="826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主张 → 证据 → 推理 → 边界</a:t>
            </a:r>
          </a:p>
        </p:txBody>
      </p:sp>
      <p:sp>
        <p:nvSpPr>
          <p:cNvPr id="10" name="report-line2">
            <a:extLst xmlns:a="http://schemas.openxmlformats.org/drawingml/2006/main">
              <a:ext uri="{FF2B5EF4-FFF2-40B4-BE49-F238E27FC236}">
                <a16:creationId xmlns:a16="http://schemas.microsoft.com/office/drawing/2014/main" id="{5A70BD20-7123-42E5-869C-EDC2FE2E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5688"/>
            <a:ext cx="6486525" cy="826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## 结论追踪记录</a:t>
            </a:r>
          </a:p>
        </p:txBody>
      </p:sp>
      <p:sp>
        <p:nvSpPr>
          <p:cNvPr id="11" name="report-line3">
            <a:extLst xmlns:a="http://schemas.openxmlformats.org/drawingml/2006/main">
              <a:ext uri="{FF2B5EF4-FFF2-40B4-BE49-F238E27FC236}">
                <a16:creationId xmlns:a16="http://schemas.microsoft.com/office/drawing/2014/main" id="{DACD5A96-BF55-46ED-BAE3-1848B8E4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1981"/>
            <a:ext cx="6486525" cy="8262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## AI 使用披露摘要</a:t>
            </a:r>
          </a:p>
        </p:txBody>
      </p:sp>
      <p:sp>
        <p:nvSpPr>
          <p:cNvPr id="12" name="class-label">
            <a:extLst xmlns:a="http://schemas.openxmlformats.org/drawingml/2006/main">
              <a:ext uri="{FF2B5EF4-FFF2-40B4-BE49-F238E27FC236}">
                <a16:creationId xmlns:a16="http://schemas.microsoft.com/office/drawing/2014/main" id="{47860A32-91EA-423B-BC04-46785FB7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3620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课堂</a:t>
            </a:r>
          </a:p>
        </p:txBody>
      </p:sp>
      <p:sp>
        <p:nvSpPr>
          <p:cNvPr id="13" name="class-body">
            <a:extLst xmlns:a="http://schemas.openxmlformats.org/drawingml/2006/main">
              <a:ext uri="{FF2B5EF4-FFF2-40B4-BE49-F238E27FC236}">
                <a16:creationId xmlns:a16="http://schemas.microsoft.com/office/drawing/2014/main" id="{6C757949-B10A-4C8A-B870-16F853DC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66900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完成三个最小工件</a:t>
            </a:r>
          </a:p>
        </p:txBody>
      </p:sp>
      <p:sp>
        <p:nvSpPr>
          <p:cNvPr id="14" name="after-label">
            <a:extLst xmlns:a="http://schemas.openxmlformats.org/drawingml/2006/main">
              <a:ext uri="{FF2B5EF4-FFF2-40B4-BE49-F238E27FC236}">
                <a16:creationId xmlns:a16="http://schemas.microsoft.com/office/drawing/2014/main" id="{44FC1272-6917-4E44-BD4A-48B228DD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00375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课后</a:t>
            </a:r>
          </a:p>
        </p:txBody>
      </p:sp>
      <p:sp>
        <p:nvSpPr>
          <p:cNvPr id="15" name="after-body">
            <a:extLst xmlns:a="http://schemas.openxmlformats.org/drawingml/2006/main">
              <a:ext uri="{FF2B5EF4-FFF2-40B4-BE49-F238E27FC236}">
                <a16:creationId xmlns:a16="http://schemas.microsoft.com/office/drawing/2014/main" id="{898F9270-D3C6-4D9E-99C5-FDE1985D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05200"/>
            <a:ext cx="3429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补全 report.md</a:t>
            </a:r>
          </a:p>
        </p:txBody>
      </p:sp>
      <p:sp>
        <p:nvSpPr>
          <p:cNvPr id="16" name="gate">
            <a:extLst xmlns:a="http://schemas.openxmlformats.org/drawingml/2006/main">
              <a:ext uri="{FF2B5EF4-FFF2-40B4-BE49-F238E27FC236}">
                <a16:creationId xmlns:a16="http://schemas.microsoft.com/office/drawing/2014/main" id="{B07F4A41-8F3B-4D86-A2B2-49F7DBDA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76825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第 16 课才检查论证门</a:t>
            </a:r>
          </a:p>
        </p:txBody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F68CF746-96AD-40A3-9281-9E9FEFBB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来源：本课讲义；第 13 课评价报告；课程研究门规范 · 虚构数据不作为研究证据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先定位结果，再开始写作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fiction">
            <a:extLst xmlns:a="http://schemas.openxmlformats.org/drawingml/2006/main">
              <a:ext uri="{FF2B5EF4-FFF2-40B4-BE49-F238E27FC236}">
                <a16:creationId xmlns:a16="http://schemas.microsoft.com/office/drawing/2014/main" id="{97D9778B-A55D-43DC-A7AF-F5D1014A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课程虚构教学案例</a:t>
            </a:r>
          </a:p>
        </p:txBody>
      </p:sp>
      <p:sp>
        <p:nvSpPr>
          <p:cNvPr id="7" name="record-top">
            <a:extLst xmlns:a="http://schemas.openxmlformats.org/drawingml/2006/main">
              <a:ext uri="{FF2B5EF4-FFF2-40B4-BE49-F238E27FC236}">
                <a16:creationId xmlns:a16="http://schemas.microsoft.com/office/drawing/2014/main" id="{DA784D78-BC19-4D62-8793-EE8EB4C6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6819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8" name="record-file">
            <a:extLst xmlns:a="http://schemas.openxmlformats.org/drawingml/2006/main">
              <a:ext uri="{FF2B5EF4-FFF2-40B4-BE49-F238E27FC236}">
                <a16:creationId xmlns:a16="http://schemas.microsoft.com/office/drawing/2014/main" id="{9AC2AA1B-A53E-46A1-8031-3A954150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681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F4D78"/>
                </a:solidFill>
                <a:latin typeface="Consolas"/>
                <a:ea typeface="Consolas"/>
                <a:cs typeface="Consolas"/>
              </a:rPr>
              <a:t>evaluation-report-example.md · §2</a:t>
            </a:r>
          </a:p>
        </p:txBody>
      </p:sp>
      <p:sp>
        <p:nvSpPr>
          <p:cNvPr id="9" name="record-line0">
            <a:extLst xmlns:a="http://schemas.openxmlformats.org/drawingml/2006/main">
              <a:ext uri="{FF2B5EF4-FFF2-40B4-BE49-F238E27FC236}">
                <a16:creationId xmlns:a16="http://schemas.microsoft.com/office/drawing/2014/main" id="{F397E20F-4087-454E-86CA-EDAE33C3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81225"/>
            <a:ext cx="659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120 次冻结输出的汇总</a:t>
            </a:r>
          </a:p>
        </p:txBody>
      </p:sp>
      <p:sp>
        <p:nvSpPr>
          <p:cNvPr id="10" name="record-line1">
            <a:extLst xmlns:a="http://schemas.openxmlformats.org/drawingml/2006/main">
              <a:ext uri="{FF2B5EF4-FFF2-40B4-BE49-F238E27FC236}">
                <a16:creationId xmlns:a16="http://schemas.microsoft.com/office/drawing/2014/main" id="{75080441-1CFF-41FF-B561-9CAF53F1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24175"/>
            <a:ext cx="659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阅读卡       0.18 ± 0.03</a:t>
            </a:r>
          </a:p>
        </p:txBody>
      </p:sp>
      <p:sp>
        <p:nvSpPr>
          <p:cNvPr id="11" name="record-line2">
            <a:extLst xmlns:a="http://schemas.openxmlformats.org/drawingml/2006/main">
              <a:ext uri="{FF2B5EF4-FFF2-40B4-BE49-F238E27FC236}">
                <a16:creationId xmlns:a16="http://schemas.microsoft.com/office/drawing/2014/main" id="{A29CCFDF-2B46-4D4E-9D2A-0B4AF17A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67125"/>
            <a:ext cx="659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自由摘要     0.31 ± 0.04</a:t>
            </a:r>
          </a:p>
        </p:txBody>
      </p:sp>
      <p:sp>
        <p:nvSpPr>
          <p:cNvPr id="12" name="record-line3">
            <a:extLst xmlns:a="http://schemas.openxmlformats.org/drawingml/2006/main">
              <a:ext uri="{FF2B5EF4-FFF2-40B4-BE49-F238E27FC236}">
                <a16:creationId xmlns:a16="http://schemas.microsoft.com/office/drawing/2014/main" id="{1CC2D8D3-A011-475B-A40E-DB46D09D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10075"/>
            <a:ext cx="659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方向支持 H1；非 stable</a:t>
            </a:r>
          </a:p>
        </p:txBody>
      </p:sp>
      <p:sp>
        <p:nvSpPr>
          <p:cNvPr id="13" name="locate-label">
            <a:extLst xmlns:a="http://schemas.openxmlformats.org/drawingml/2006/main">
              <a:ext uri="{FF2B5EF4-FFF2-40B4-BE49-F238E27FC236}">
                <a16:creationId xmlns:a16="http://schemas.microsoft.com/office/drawing/2014/main" id="{BF37A706-BF01-42D3-B952-9C05C92B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62100"/>
            <a:ext cx="3448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请先定位</a:t>
            </a:r>
          </a:p>
        </p:txBody>
      </p:sp>
      <p:sp>
        <p:nvSpPr>
          <p:cNvPr id="14" name="locate-body">
            <a:extLst xmlns:a="http://schemas.openxmlformats.org/drawingml/2006/main">
              <a:ext uri="{FF2B5EF4-FFF2-40B4-BE49-F238E27FC236}">
                <a16:creationId xmlns:a16="http://schemas.microsoft.com/office/drawing/2014/main" id="{6D9515DC-589F-48F4-B4B3-FA10C0A4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66925"/>
            <a:ext cx="34480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一条结果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一处记录位置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一个失败或替代解释</a:t>
            </a:r>
          </a:p>
        </p:txBody>
      </p:sp>
      <p:sp>
        <p:nvSpPr>
          <p:cNvPr id="15" name="unresolved">
            <a:extLst xmlns:a="http://schemas.openxmlformats.org/drawingml/2006/main">
              <a:ext uri="{FF2B5EF4-FFF2-40B4-BE49-F238E27FC236}">
                <a16:creationId xmlns:a16="http://schemas.microsoft.com/office/drawing/2014/main" id="{E9ADEB5B-7EF8-4EBB-A936-52E80A70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00525"/>
            <a:ext cx="34480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A1 / A2 / A3 尚未区分</a:t>
            </a:r>
          </a:p>
        </p:txBody>
      </p:sp>
      <p:sp>
        <p:nvSpPr>
          <p:cNvPr id="16" name="pick">
            <a:extLst xmlns:a="http://schemas.openxmlformats.org/drawingml/2006/main">
              <a:ext uri="{FF2B5EF4-FFF2-40B4-BE49-F238E27FC236}">
                <a16:creationId xmlns:a16="http://schemas.microsoft.com/office/drawing/2014/main" id="{2709F095-A661-4D47-904F-B796CC15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请选择本人结果编号；无结果者使用虚构记录。</a:t>
            </a:r>
          </a:p>
        </p:txBody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FB9F0423-A0A5-4EED-8DCE-84E524C5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来源：本课讲义；第 13 课评价报告；课程研究门规范 · 虚构数据不作为研究证据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论证段的四个部件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fiction">
            <a:extLst xmlns:a="http://schemas.openxmlformats.org/drawingml/2006/main">
              <a:ext uri="{FF2B5EF4-FFF2-40B4-BE49-F238E27FC236}">
                <a16:creationId xmlns:a16="http://schemas.microsoft.com/office/drawing/2014/main" id="{41FC26B1-838B-4C02-99CB-1ED24D54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课程虚构教学案例</a:t>
            </a:r>
          </a:p>
        </p:txBody>
      </p:sp>
      <p:sp>
        <p:nvSpPr>
          <p:cNvPr id="7" name="sentence0">
            <a:extLst xmlns:a="http://schemas.openxmlformats.org/drawingml/2006/main">
              <a:ext uri="{FF2B5EF4-FFF2-40B4-BE49-F238E27FC236}">
                <a16:creationId xmlns:a16="http://schemas.microsoft.com/office/drawing/2014/main" id="{2F6BDDBA-FAD9-4501-A23A-3B527B38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本批论文中，阅读卡组遗漏率较低。</a:t>
            </a:r>
          </a:p>
        </p:txBody>
      </p:sp>
      <p:sp>
        <p:nvSpPr>
          <p:cNvPr id="8" name="label0">
            <a:extLst xmlns:a="http://schemas.openxmlformats.org/drawingml/2006/main">
              <a:ext uri="{FF2B5EF4-FFF2-40B4-BE49-F238E27FC236}">
                <a16:creationId xmlns:a16="http://schemas.microsoft.com/office/drawing/2014/main" id="{4D6C07BC-D18A-4A05-8AD2-2589E91EE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65735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主张</a:t>
            </a:r>
          </a:p>
        </p:txBody>
      </p:sp>
      <p:sp>
        <p:nvSpPr>
          <p:cNvPr id="9" name="line0">
            <a:extLst xmlns:a="http://schemas.openxmlformats.org/drawingml/2006/main">
              <a:ext uri="{FF2B5EF4-FFF2-40B4-BE49-F238E27FC236}">
                <a16:creationId xmlns:a16="http://schemas.microsoft.com/office/drawing/2014/main" id="{84373C95-94CF-4DCD-9226-0792203D1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0" name="sentence1">
            <a:extLst xmlns:a="http://schemas.openxmlformats.org/drawingml/2006/main">
              <a:ext uri="{FF2B5EF4-FFF2-40B4-BE49-F238E27FC236}">
                <a16:creationId xmlns:a16="http://schemas.microsoft.com/office/drawing/2014/main" id="{F7396292-5522-495F-8E6F-B2780019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评价报告 §2：0.18 与 0.31。</a:t>
            </a:r>
          </a:p>
        </p:txBody>
      </p:sp>
      <p:sp>
        <p:nvSpPr>
          <p:cNvPr id="11" name="label1">
            <a:extLst xmlns:a="http://schemas.openxmlformats.org/drawingml/2006/main">
              <a:ext uri="{FF2B5EF4-FFF2-40B4-BE49-F238E27FC236}">
                <a16:creationId xmlns:a16="http://schemas.microsoft.com/office/drawing/2014/main" id="{2909DE25-EBF6-4D70-9EEA-F8979700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70510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</p:txBody>
      </p:sp>
      <p:sp>
        <p:nvSpPr>
          <p:cNvPr id="12" name="line1">
            <a:extLst xmlns:a="http://schemas.openxmlformats.org/drawingml/2006/main">
              <a:ext uri="{FF2B5EF4-FFF2-40B4-BE49-F238E27FC236}">
                <a16:creationId xmlns:a16="http://schemas.microsoft.com/office/drawing/2014/main" id="{DA99DB7B-3758-4A68-B83D-EA939FBB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33775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sentence2">
            <a:extLst xmlns:a="http://schemas.openxmlformats.org/drawingml/2006/main">
              <a:ext uri="{FF2B5EF4-FFF2-40B4-BE49-F238E27FC236}">
                <a16:creationId xmlns:a16="http://schemas.microsoft.com/office/drawing/2014/main" id="{3ACC0DB6-06E5-4632-B19B-5CAAC361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结果方向与 H1 的预测一致。</a:t>
            </a:r>
          </a:p>
        </p:txBody>
      </p:sp>
      <p:sp>
        <p:nvSpPr>
          <p:cNvPr id="14" name="label2">
            <a:extLst xmlns:a="http://schemas.openxmlformats.org/drawingml/2006/main">
              <a:ext uri="{FF2B5EF4-FFF2-40B4-BE49-F238E27FC236}">
                <a16:creationId xmlns:a16="http://schemas.microsoft.com/office/drawing/2014/main" id="{3CD9A10B-0800-46C2-B530-8BEE31C1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75285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推理</a:t>
            </a:r>
          </a:p>
        </p:txBody>
      </p:sp>
      <p:sp>
        <p:nvSpPr>
          <p:cNvPr id="15" name="line2">
            <a:extLst xmlns:a="http://schemas.openxmlformats.org/drawingml/2006/main">
              <a:ext uri="{FF2B5EF4-FFF2-40B4-BE49-F238E27FC236}">
                <a16:creationId xmlns:a16="http://schemas.microsoft.com/office/drawing/2014/main" id="{F55745DD-3611-49FF-ABB6-CBE18EA6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6" name="sentence3">
            <a:extLst xmlns:a="http://schemas.openxmlformats.org/drawingml/2006/main">
              <a:ext uri="{FF2B5EF4-FFF2-40B4-BE49-F238E27FC236}">
                <a16:creationId xmlns:a16="http://schemas.microsoft.com/office/drawing/2014/main" id="{21EA0913-E13A-4A89-838E-3C821ADA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7810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A1 / A2 / A3 尚未充分区分。</a:t>
            </a:r>
          </a:p>
        </p:txBody>
      </p:sp>
      <p:sp>
        <p:nvSpPr>
          <p:cNvPr id="17" name="label3">
            <a:extLst xmlns:a="http://schemas.openxmlformats.org/drawingml/2006/main">
              <a:ext uri="{FF2B5EF4-FFF2-40B4-BE49-F238E27FC236}">
                <a16:creationId xmlns:a16="http://schemas.microsoft.com/office/drawing/2014/main" id="{83231AC4-83A9-46B1-8B29-FB6070637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800600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边界</a:t>
            </a:r>
          </a:p>
        </p:txBody>
      </p:sp>
      <p:sp>
        <p:nvSpPr>
          <p:cNvPr id="18" name="line3">
            <a:extLst xmlns:a="http://schemas.openxmlformats.org/drawingml/2006/main">
              <a:ext uri="{FF2B5EF4-FFF2-40B4-BE49-F238E27FC236}">
                <a16:creationId xmlns:a16="http://schemas.microsoft.com/office/drawing/2014/main" id="{97351A5B-2036-4FEE-AC9B-AA144E7A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83F43E80-8CC4-4AB7-87EE-7A66612F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Booth et al. (2024), The Craft of Research, ch.5,7 · 课程虚构论证段用于展示论证部件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把实验口径写进方法段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fiction">
            <a:extLst xmlns:a="http://schemas.openxmlformats.org/drawingml/2006/main">
              <a:ext uri="{FF2B5EF4-FFF2-40B4-BE49-F238E27FC236}">
                <a16:creationId xmlns:a16="http://schemas.microsoft.com/office/drawing/2014/main" id="{BEB9AD31-4156-4D50-A2FC-1568321B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课程虚构教学案例</a:t>
            </a:r>
          </a:p>
        </p:txBody>
      </p:sp>
      <p:sp>
        <p:nvSpPr>
          <p:cNvPr id="7" name="papers">
            <a:extLst xmlns:a="http://schemas.openxmlformats.org/drawingml/2006/main">
              <a:ext uri="{FF2B5EF4-FFF2-40B4-BE49-F238E27FC236}">
                <a16:creationId xmlns:a16="http://schemas.microsoft.com/office/drawing/2014/main" id="{A92A4577-5708-49F0-A11E-BFB6F8CF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28875"/>
            <a:ext cx="2667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同一批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20 篇 CS 论文</a:t>
            </a:r>
          </a:p>
        </p:txBody>
      </p:sp>
      <p:sp>
        <p:nvSpPr>
          <p:cNvPr id="8" name="fork1">
            <a:extLst xmlns:a="http://schemas.openxmlformats.org/drawingml/2006/main">
              <a:ext uri="{FF2B5EF4-FFF2-40B4-BE49-F238E27FC236}">
                <a16:creationId xmlns:a16="http://schemas.microsoft.com/office/drawing/2014/main" id="{AE38A4F6-1442-46ED-B61A-0924D3BF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0977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fork2">
            <a:extLst xmlns:a="http://schemas.openxmlformats.org/drawingml/2006/main">
              <a:ext uri="{FF2B5EF4-FFF2-40B4-BE49-F238E27FC236}">
                <a16:creationId xmlns:a16="http://schemas.microsoft.com/office/drawing/2014/main" id="{DF37151D-0161-4236-9CEB-2F2E4566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76650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" name="condition1-label">
            <a:extLst xmlns:a="http://schemas.openxmlformats.org/drawingml/2006/main">
              <a:ext uri="{FF2B5EF4-FFF2-40B4-BE49-F238E27FC236}">
                <a16:creationId xmlns:a16="http://schemas.microsoft.com/office/drawing/2014/main" id="{1F5E4DC8-B50C-40AA-8CB3-1488DBAC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573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阅读卡组</a:t>
            </a:r>
          </a:p>
        </p:txBody>
      </p:sp>
      <p:sp>
        <p:nvSpPr>
          <p:cNvPr id="11" name="condition1-body">
            <a:extLst xmlns:a="http://schemas.openxmlformats.org/drawingml/2006/main">
              <a:ext uri="{FF2B5EF4-FFF2-40B4-BE49-F238E27FC236}">
                <a16:creationId xmlns:a16="http://schemas.microsoft.com/office/drawing/2014/main" id="{1E02C9C2-75AF-4692-96F7-6DDA9794B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62175"/>
            <a:ext cx="3905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每个条件运行 3 次</a:t>
            </a:r>
          </a:p>
        </p:txBody>
      </p:sp>
      <p:sp>
        <p:nvSpPr>
          <p:cNvPr id="12" name="condition2-label">
            <a:extLst xmlns:a="http://schemas.openxmlformats.org/drawingml/2006/main">
              <a:ext uri="{FF2B5EF4-FFF2-40B4-BE49-F238E27FC236}">
                <a16:creationId xmlns:a16="http://schemas.microsoft.com/office/drawing/2014/main" id="{D91203F7-2184-4BB3-8BEB-2D7F0891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3718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自由摘要组</a:t>
            </a:r>
          </a:p>
        </p:txBody>
      </p:sp>
      <p:sp>
        <p:nvSpPr>
          <p:cNvPr id="13" name="condition2-body">
            <a:extLst xmlns:a="http://schemas.openxmlformats.org/drawingml/2006/main">
              <a:ext uri="{FF2B5EF4-FFF2-40B4-BE49-F238E27FC236}">
                <a16:creationId xmlns:a16="http://schemas.microsoft.com/office/drawing/2014/main" id="{0706E15C-FF0D-45DB-9909-ED68CE06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876675"/>
            <a:ext cx="3905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每个条件运行 3 次</a:t>
            </a:r>
          </a:p>
        </p:txBody>
      </p:sp>
      <p:sp>
        <p:nvSpPr>
          <p:cNvPr id="14" name="sum-arrow">
            <a:extLst xmlns:a="http://schemas.openxmlformats.org/drawingml/2006/main">
              <a:ext uri="{FF2B5EF4-FFF2-40B4-BE49-F238E27FC236}">
                <a16:creationId xmlns:a16="http://schemas.microsoft.com/office/drawing/2014/main" id="{E40BD0F9-0CA6-4985-8561-0E86137F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908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5" name="outputs">
            <a:extLst xmlns:a="http://schemas.openxmlformats.org/drawingml/2006/main">
              <a:ext uri="{FF2B5EF4-FFF2-40B4-BE49-F238E27FC236}">
                <a16:creationId xmlns:a16="http://schemas.microsoft.com/office/drawing/2014/main" id="{C6C2E260-704E-49D2-B183-F5FC3193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381250"/>
            <a:ext cx="20383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120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次输出</a:t>
            </a:r>
          </a:p>
        </p:txBody>
      </p:sp>
      <p:sp>
        <p:nvSpPr>
          <p:cNvPr id="16" name="metric-rule">
            <a:extLst xmlns:a="http://schemas.openxmlformats.org/drawingml/2006/main">
              <a:ext uri="{FF2B5EF4-FFF2-40B4-BE49-F238E27FC236}">
                <a16:creationId xmlns:a16="http://schemas.microsoft.com/office/drawing/2014/main" id="{1C78614D-9F71-423C-AB86-57352DAF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7" name="metric-definition">
            <a:extLst xmlns:a="http://schemas.openxmlformats.org/drawingml/2006/main">
              <a:ext uri="{FF2B5EF4-FFF2-40B4-BE49-F238E27FC236}">
                <a16:creationId xmlns:a16="http://schemas.microsoft.com/office/drawing/2014/main" id="{FCD56B8E-BA65-463E-B2B0-FDA8C258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858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主指标：限定条件遗漏率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依据人工建立并复核的限定条件基准。</a:t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C31BC75B-78EC-4487-B258-90605C7F4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来源：本课讲义；第 13 课评价报告；课程研究门规范 · 虚构数据不作为研究证据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遗漏率较低，机制仍待区分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fiction">
            <a:extLst xmlns:a="http://schemas.openxmlformats.org/drawingml/2006/main">
              <a:ext uri="{FF2B5EF4-FFF2-40B4-BE49-F238E27FC236}">
                <a16:creationId xmlns:a16="http://schemas.microsoft.com/office/drawing/2014/main" id="{1894DF43-40BD-4CD6-94FC-16BCE88F2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课程虚构教学案例</a:t>
            </a:r>
          </a:p>
        </p:txBody>
      </p:sp>
      <p:sp>
        <p:nvSpPr>
          <p:cNvPr id="7" name="metric">
            <a:extLst xmlns:a="http://schemas.openxmlformats.org/drawingml/2006/main">
              <a:ext uri="{FF2B5EF4-FFF2-40B4-BE49-F238E27FC236}">
                <a16:creationId xmlns:a16="http://schemas.microsoft.com/office/drawing/2014/main" id="{CA209CE2-F4DE-4CDD-824D-C555FBFA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43025"/>
            <a:ext cx="6191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限定条件遗漏率 ↓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609600" y="1828800"/>
          <a:ext xmlns:a="http://schemas.openxmlformats.org/drawingml/2006/main" cx="6191250" cy="3267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657fa405444a26"/>
          </a:graphicData>
        </a:graphic>
      </p:graphicFrame>
      <p:sp>
        <p:nvSpPr>
          <p:cNvPr id="9" name="can">
            <a:extLst xmlns:a="http://schemas.openxmlformats.org/drawingml/2006/main">
              <a:ext uri="{FF2B5EF4-FFF2-40B4-BE49-F238E27FC236}">
                <a16:creationId xmlns:a16="http://schemas.microsoft.com/office/drawing/2014/main" id="{2BC7476B-0826-4B01-9EE6-40338567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14475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可写</a:t>
            </a:r>
          </a:p>
        </p:txBody>
      </p:sp>
      <p:sp>
        <p:nvSpPr>
          <p:cNvPr id="10" name="claim">
            <a:extLst xmlns:a="http://schemas.openxmlformats.org/drawingml/2006/main">
              <a:ext uri="{FF2B5EF4-FFF2-40B4-BE49-F238E27FC236}">
                <a16:creationId xmlns:a16="http://schemas.microsoft.com/office/drawing/2014/main" id="{66A5DE28-67E3-4204-8F2B-67D9D91F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9775"/>
            <a:ext cx="40481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本批论文中，阅读卡组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遗漏率较低，方向支持 H1。</a:t>
            </a:r>
          </a:p>
        </p:txBody>
      </p:sp>
      <p:sp>
        <p:nvSpPr>
          <p:cNvPr id="11" name="cannot">
            <a:extLst xmlns:a="http://schemas.openxmlformats.org/drawingml/2006/main">
              <a:ext uri="{FF2B5EF4-FFF2-40B4-BE49-F238E27FC236}">
                <a16:creationId xmlns:a16="http://schemas.microsoft.com/office/drawing/2014/main" id="{3247FA61-B3A5-4A04-8BA8-B9A41DB7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67100"/>
            <a:ext cx="4048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不可写</a:t>
            </a:r>
          </a:p>
        </p:txBody>
      </p:sp>
      <p:sp>
        <p:nvSpPr>
          <p:cNvPr id="12" name="invalid">
            <a:extLst xmlns:a="http://schemas.openxmlformats.org/drawingml/2006/main">
              <a:ext uri="{FF2B5EF4-FFF2-40B4-BE49-F238E27FC236}">
                <a16:creationId xmlns:a16="http://schemas.microsoft.com/office/drawing/2014/main" id="{52779634-8635-443B-8130-3A4C6A97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81450"/>
            <a:ext cx="4048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阅读卡机制已被证明有效。</a:t>
            </a:r>
          </a:p>
        </p:txBody>
      </p:sp>
      <p:sp>
        <p:nvSpPr>
          <p:cNvPr id="13" name="undetermined">
            <a:extLst xmlns:a="http://schemas.openxmlformats.org/drawingml/2006/main">
              <a:ext uri="{FF2B5EF4-FFF2-40B4-BE49-F238E27FC236}">
                <a16:creationId xmlns:a16="http://schemas.microsoft.com/office/drawing/2014/main" id="{69738478-98AF-48DB-BDF9-8AFFCC6F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0150"/>
            <a:ext cx="404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A1 / A2 / A3 尚未区分</a:t>
            </a:r>
          </a:p>
        </p:txBody>
      </p:sp>
      <p:sp>
        <p:nvSpPr>
          <p:cNvPr id="14" name="scale">
            <a:extLst xmlns:a="http://schemas.openxmlformats.org/drawingml/2006/main">
              <a:ext uri="{FF2B5EF4-FFF2-40B4-BE49-F238E27FC236}">
                <a16:creationId xmlns:a16="http://schemas.microsoft.com/office/drawing/2014/main" id="{AF5469C8-D4DB-4188-8E59-7D0CD1D1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810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同一批 20 篇 × 2 条件 × 3 次运行 = 120 次输出</a:t>
            </a:r>
          </a:p>
        </p:txBody>
      </p:sp>
      <p:sp>
        <p:nvSpPr>
          <p:cNvPr id="15" name="errorbar">
            <a:extLst xmlns:a="http://schemas.openxmlformats.org/drawingml/2006/main">
              <a:ext uri="{FF2B5EF4-FFF2-40B4-BE49-F238E27FC236}">
                <a16:creationId xmlns:a16="http://schemas.microsoft.com/office/drawing/2014/main" id="{0B874C22-C190-4240-A63C-FF5F3E44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± 含义未定义：暂不绘制误差线</a:t>
            </a:r>
          </a:p>
        </p:txBody>
      </p:sp>
      <p:sp>
        <p:nvSpPr>
          <p:cNvPr id="16" name="source">
            <a:extLst xmlns:a="http://schemas.openxmlformats.org/drawingml/2006/main">
              <a:ext uri="{FF2B5EF4-FFF2-40B4-BE49-F238E27FC236}">
                <a16:creationId xmlns:a16="http://schemas.microsoft.com/office/drawing/2014/main" id="{9C15177E-3108-4810-A9D5-C97168FB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课程虚构汇总：阅读卡 0.18±0.03 / 自由摘要 0.31±0.04；指标依据人工基准限定条件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哪种解释还没有被排除？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fiction">
            <a:extLst xmlns:a="http://schemas.openxmlformats.org/drawingml/2006/main">
              <a:ext uri="{FF2B5EF4-FFF2-40B4-BE49-F238E27FC236}">
                <a16:creationId xmlns:a16="http://schemas.microsoft.com/office/drawing/2014/main" id="{A551C150-6570-4AC2-BC9C-6B9F8276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课程虚构教学案例</a:t>
            </a:r>
          </a:p>
        </p:txBody>
      </p:sp>
      <p:sp>
        <p:nvSpPr>
          <p:cNvPr id="7" name="metric">
            <a:extLst xmlns:a="http://schemas.openxmlformats.org/drawingml/2006/main">
              <a:ext uri="{FF2B5EF4-FFF2-40B4-BE49-F238E27FC236}">
                <a16:creationId xmlns:a16="http://schemas.microsoft.com/office/drawing/2014/main" id="{01907496-A0C9-46B3-827F-8C8019C4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同一结果：0.18 / 0.31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5143500" cy="2981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05518af50764c67"/>
          </a:graphicData>
        </a:graphic>
      </p:graphicFrame>
      <p:sp>
        <p:nvSpPr>
          <p:cNvPr id="9" name="h1">
            <a:extLst xmlns:a="http://schemas.openxmlformats.org/drawingml/2006/main">
              <a:ext uri="{FF2B5EF4-FFF2-40B4-BE49-F238E27FC236}">
                <a16:creationId xmlns:a16="http://schemas.microsoft.com/office/drawing/2014/main" id="{142DF19C-B620-4CE4-8470-26E9BD54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5619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H1：方向支持（待验证）</a:t>
            </a:r>
          </a:p>
        </p:txBody>
      </p:sp>
      <p:sp>
        <p:nvSpPr>
          <p:cNvPr id="10" name="a0">
            <a:extLst xmlns:a="http://schemas.openxmlformats.org/drawingml/2006/main">
              <a:ext uri="{FF2B5EF4-FFF2-40B4-BE49-F238E27FC236}">
                <a16:creationId xmlns:a16="http://schemas.microsoft.com/office/drawing/2014/main" id="{12503145-8907-4DF2-9BF7-25225195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66850"/>
            <a:ext cx="4924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A1 任务转移</a:t>
            </a:r>
          </a:p>
        </p:txBody>
      </p:sp>
      <p:sp>
        <p:nvSpPr>
          <p:cNvPr id="11" name="q0">
            <a:extLst xmlns:a="http://schemas.openxmlformats.org/drawingml/2006/main">
              <a:ext uri="{FF2B5EF4-FFF2-40B4-BE49-F238E27FC236}">
                <a16:creationId xmlns:a16="http://schemas.microsoft.com/office/drawing/2014/main" id="{96124102-C6D3-4A82-B8E6-13F9BC62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49244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是否以其他错误增加为代价？</a:t>
            </a:r>
          </a:p>
        </p:txBody>
      </p:sp>
      <p:sp>
        <p:nvSpPr>
          <p:cNvPr id="12" name="sep0">
            <a:extLst xmlns:a="http://schemas.openxmlformats.org/drawingml/2006/main">
              <a:ext uri="{FF2B5EF4-FFF2-40B4-BE49-F238E27FC236}">
                <a16:creationId xmlns:a16="http://schemas.microsoft.com/office/drawing/2014/main" id="{B4878B8C-8499-4AD2-8258-AC9AE6FC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90825"/>
            <a:ext cx="4924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a1">
            <a:extLst xmlns:a="http://schemas.openxmlformats.org/drawingml/2006/main">
              <a:ext uri="{FF2B5EF4-FFF2-40B4-BE49-F238E27FC236}">
                <a16:creationId xmlns:a16="http://schemas.microsoft.com/office/drawing/2014/main" id="{EA3A5478-EF07-4D7F-9443-18E801CD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14650"/>
            <a:ext cx="4924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A2 标注提示效应</a:t>
            </a:r>
          </a:p>
        </p:txBody>
      </p:sp>
      <p:sp>
        <p:nvSpPr>
          <p:cNvPr id="14" name="q1">
            <a:extLst xmlns:a="http://schemas.openxmlformats.org/drawingml/2006/main">
              <a:ext uri="{FF2B5EF4-FFF2-40B4-BE49-F238E27FC236}">
                <a16:creationId xmlns:a16="http://schemas.microsoft.com/office/drawing/2014/main" id="{728B5178-A8BB-4C43-9D62-C92BC3A0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49244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评价者看到字段提示后，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是否改变标注？</a:t>
            </a:r>
          </a:p>
        </p:txBody>
      </p:sp>
      <p:sp>
        <p:nvSpPr>
          <p:cNvPr id="15" name="sep1">
            <a:extLst xmlns:a="http://schemas.openxmlformats.org/drawingml/2006/main">
              <a:ext uri="{FF2B5EF4-FFF2-40B4-BE49-F238E27FC236}">
                <a16:creationId xmlns:a16="http://schemas.microsoft.com/office/drawing/2014/main" id="{35303007-9099-4B1F-A211-77CC9ED6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9244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6" name="a2">
            <a:extLst xmlns:a="http://schemas.openxmlformats.org/drawingml/2006/main">
              <a:ext uri="{FF2B5EF4-FFF2-40B4-BE49-F238E27FC236}">
                <a16:creationId xmlns:a16="http://schemas.microsoft.com/office/drawing/2014/main" id="{423D9A6C-A31B-4D14-87EF-802A2F166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62450"/>
            <a:ext cx="49244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A3 文档结构效应</a:t>
            </a:r>
          </a:p>
        </p:txBody>
      </p:sp>
      <p:sp>
        <p:nvSpPr>
          <p:cNvPr id="17" name="q2">
            <a:extLst xmlns:a="http://schemas.openxmlformats.org/drawingml/2006/main">
              <a:ext uri="{FF2B5EF4-FFF2-40B4-BE49-F238E27FC236}">
                <a16:creationId xmlns:a16="http://schemas.microsoft.com/office/drawing/2014/main" id="{34169F21-AF43-4A1F-A700-D84C3983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38700"/>
            <a:ext cx="49244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是否依赖特定文档结构？</a:t>
            </a:r>
          </a:p>
        </p:txBody>
      </p:sp>
      <p:sp>
        <p:nvSpPr>
          <p:cNvPr id="18" name="status">
            <a:extLst xmlns:a="http://schemas.openxmlformats.org/drawingml/2006/main">
              <a:ext uri="{FF2B5EF4-FFF2-40B4-BE49-F238E27FC236}">
                <a16:creationId xmlns:a16="http://schemas.microsoft.com/office/drawing/2014/main" id="{615C2FB2-D787-4322-807D-C2E052B5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762625"/>
            <a:ext cx="4924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当前仍不能判断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91767A33-1835-46AC-930E-0982D8EF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来源：本课讲义；第 13 课评价报告；课程研究门规范 · 虚构数据不作为研究证据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写一段能反查证据的论证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fiction">
            <a:extLst xmlns:a="http://schemas.openxmlformats.org/drawingml/2006/main">
              <a:ext uri="{FF2B5EF4-FFF2-40B4-BE49-F238E27FC236}">
                <a16:creationId xmlns:a16="http://schemas.microsoft.com/office/drawing/2014/main" id="{C2AC3CD8-A9E2-46F1-AC54-25B5E6990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完成样例为课程虚构教学案例</a:t>
            </a:r>
          </a:p>
        </p:txBody>
      </p:sp>
      <p:sp>
        <p:nvSpPr>
          <p:cNvPr id="7" name="do">
            <a:extLst xmlns:a="http://schemas.openxmlformats.org/drawingml/2006/main">
              <a:ext uri="{FF2B5EF4-FFF2-40B4-BE49-F238E27FC236}">
                <a16:creationId xmlns:a16="http://schemas.microsoft.com/office/drawing/2014/main" id="{ABAF82BF-8FAC-4B71-A658-7F46016D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4095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把你的一个结果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写成四句话。</a:t>
            </a:r>
          </a:p>
        </p:txBody>
      </p:sp>
      <p:sp>
        <p:nvSpPr>
          <p:cNvPr id="8" name="input">
            <a:extLst xmlns:a="http://schemas.openxmlformats.org/drawingml/2006/main">
              <a:ext uri="{FF2B5EF4-FFF2-40B4-BE49-F238E27FC236}">
                <a16:creationId xmlns:a16="http://schemas.microsoft.com/office/drawing/2014/main" id="{A4F241CB-F747-4967-973B-F0987C0A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41719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打开：结果记录 + 证据项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保存：report.md 的一个段落</a:t>
            </a:r>
          </a:p>
        </p:txBody>
      </p:sp>
      <p:sp>
        <p:nvSpPr>
          <p:cNvPr id="9" name="done">
            <a:extLst xmlns:a="http://schemas.openxmlformats.org/drawingml/2006/main">
              <a:ext uri="{FF2B5EF4-FFF2-40B4-BE49-F238E27FC236}">
                <a16:creationId xmlns:a16="http://schemas.microsoft.com/office/drawing/2014/main" id="{F81F25C7-FA1B-42B0-9F3F-A8BF2283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4191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完成标志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同伴能定位记录与未决项</a:t>
            </a:r>
          </a:p>
        </p:txBody>
      </p:sp>
      <p:sp>
        <p:nvSpPr>
          <p:cNvPr id="10" name="sample0-key">
            <a:extLst xmlns:a="http://schemas.openxmlformats.org/drawingml/2006/main">
              <a:ext uri="{FF2B5EF4-FFF2-40B4-BE49-F238E27FC236}">
                <a16:creationId xmlns:a16="http://schemas.microsoft.com/office/drawing/2014/main" id="{9E7A2DAF-171B-4983-9A3F-323793E4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609725"/>
            <a:ext cx="106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主张</a:t>
            </a:r>
          </a:p>
        </p:txBody>
      </p:sp>
      <p:sp>
        <p:nvSpPr>
          <p:cNvPr id="11" name="sample0-value">
            <a:extLst xmlns:a="http://schemas.openxmlformats.org/drawingml/2006/main">
              <a:ext uri="{FF2B5EF4-FFF2-40B4-BE49-F238E27FC236}">
                <a16:creationId xmlns:a16="http://schemas.microsoft.com/office/drawing/2014/main" id="{DBB42723-1451-45B1-BAE2-6106C727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609725"/>
            <a:ext cx="4848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本批论文中，阅读卡组遗漏率较低。</a:t>
            </a:r>
          </a:p>
        </p:txBody>
      </p:sp>
      <p:sp>
        <p:nvSpPr>
          <p:cNvPr id="12" name="sample0-rule">
            <a:extLst xmlns:a="http://schemas.openxmlformats.org/drawingml/2006/main">
              <a:ext uri="{FF2B5EF4-FFF2-40B4-BE49-F238E27FC236}">
                <a16:creationId xmlns:a16="http://schemas.microsoft.com/office/drawing/2014/main" id="{4A09D0C3-8465-4D00-89D0-EFC26A7D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00300"/>
            <a:ext cx="6105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sample1-key">
            <a:extLst xmlns:a="http://schemas.openxmlformats.org/drawingml/2006/main">
              <a:ext uri="{FF2B5EF4-FFF2-40B4-BE49-F238E27FC236}">
                <a16:creationId xmlns:a16="http://schemas.microsoft.com/office/drawing/2014/main" id="{6B433540-CCE0-41DA-A104-F22F40B5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67000"/>
            <a:ext cx="106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</a:t>
            </a:r>
          </a:p>
        </p:txBody>
      </p:sp>
      <p:sp>
        <p:nvSpPr>
          <p:cNvPr id="14" name="sample1-value">
            <a:extLst xmlns:a="http://schemas.openxmlformats.org/drawingml/2006/main">
              <a:ext uri="{FF2B5EF4-FFF2-40B4-BE49-F238E27FC236}">
                <a16:creationId xmlns:a16="http://schemas.microsoft.com/office/drawing/2014/main" id="{2B11BD2F-F637-4809-8433-957A3F30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667000"/>
            <a:ext cx="4848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两条件汇总为 0.18 与 0.31。</a:t>
            </a:r>
          </a:p>
        </p:txBody>
      </p:sp>
      <p:sp>
        <p:nvSpPr>
          <p:cNvPr id="15" name="sample1-rule">
            <a:extLst xmlns:a="http://schemas.openxmlformats.org/drawingml/2006/main">
              <a:ext uri="{FF2B5EF4-FFF2-40B4-BE49-F238E27FC236}">
                <a16:creationId xmlns:a16="http://schemas.microsoft.com/office/drawing/2014/main" id="{B48E9DDC-C340-4D61-A070-533787194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57575"/>
            <a:ext cx="6105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6" name="sample2-key">
            <a:extLst xmlns:a="http://schemas.openxmlformats.org/drawingml/2006/main">
              <a:ext uri="{FF2B5EF4-FFF2-40B4-BE49-F238E27FC236}">
                <a16:creationId xmlns:a16="http://schemas.microsoft.com/office/drawing/2014/main" id="{2E75F539-3E24-433D-91EF-3E9C5962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24275"/>
            <a:ext cx="106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推理</a:t>
            </a:r>
          </a:p>
        </p:txBody>
      </p:sp>
      <p:sp>
        <p:nvSpPr>
          <p:cNvPr id="17" name="sample2-value">
            <a:extLst xmlns:a="http://schemas.openxmlformats.org/drawingml/2006/main">
              <a:ext uri="{FF2B5EF4-FFF2-40B4-BE49-F238E27FC236}">
                <a16:creationId xmlns:a16="http://schemas.microsoft.com/office/drawing/2014/main" id="{9EF1C8B7-0FCA-43EC-A317-0E0F1C9C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24275"/>
            <a:ext cx="4848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方向与 H1 的预测一致。</a:t>
            </a:r>
          </a:p>
        </p:txBody>
      </p:sp>
      <p:sp>
        <p:nvSpPr>
          <p:cNvPr id="18" name="sample2-rule">
            <a:extLst xmlns:a="http://schemas.openxmlformats.org/drawingml/2006/main">
              <a:ext uri="{FF2B5EF4-FFF2-40B4-BE49-F238E27FC236}">
                <a16:creationId xmlns:a16="http://schemas.microsoft.com/office/drawing/2014/main" id="{A9A8A6CB-5002-4E24-8F79-A3141C66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514850"/>
            <a:ext cx="6105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9" name="sample3-key">
            <a:extLst xmlns:a="http://schemas.openxmlformats.org/drawingml/2006/main">
              <a:ext uri="{FF2B5EF4-FFF2-40B4-BE49-F238E27FC236}">
                <a16:creationId xmlns:a16="http://schemas.microsoft.com/office/drawing/2014/main" id="{7CC505E2-0FB1-47BD-9D4E-B5DF9C4F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781550"/>
            <a:ext cx="1066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边界</a:t>
            </a:r>
          </a:p>
        </p:txBody>
      </p:sp>
      <p:sp>
        <p:nvSpPr>
          <p:cNvPr id="20" name="sample3-value">
            <a:extLst xmlns:a="http://schemas.openxmlformats.org/drawingml/2006/main">
              <a:ext uri="{FF2B5EF4-FFF2-40B4-BE49-F238E27FC236}">
                <a16:creationId xmlns:a16="http://schemas.microsoft.com/office/drawing/2014/main" id="{6A8CDE7B-BC9B-4B54-B33D-99688B0F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8482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A1 / A2 / A3 尚未区分。</a:t>
            </a:r>
          </a:p>
        </p:txBody>
      </p:sp>
      <p:sp>
        <p:nvSpPr>
          <p:cNvPr id="21" name="sample3-rule">
            <a:extLst xmlns:a="http://schemas.openxmlformats.org/drawingml/2006/main">
              <a:ext uri="{FF2B5EF4-FFF2-40B4-BE49-F238E27FC236}">
                <a16:creationId xmlns:a16="http://schemas.microsoft.com/office/drawing/2014/main" id="{0BDAE4E0-F6BB-44CC-8D38-95E7E4E5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572125"/>
            <a:ext cx="6105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66E9A917-BD44-4366-9917-6C0D63EA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来源：本课讲义；第 13 课评价报告；课程研究门规范 · 虚构数据不作为研究证据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修订这两句断裂的论证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fiction">
            <a:extLst xmlns:a="http://schemas.openxmlformats.org/drawingml/2006/main">
              <a:ext uri="{FF2B5EF4-FFF2-40B4-BE49-F238E27FC236}">
                <a16:creationId xmlns:a16="http://schemas.microsoft.com/office/drawing/2014/main" id="{F7B8545D-9BA0-44B0-BFBD-CA06BE2C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课程虚构修订样例</a:t>
            </a:r>
          </a:p>
        </p:txBody>
      </p:sp>
      <p:sp>
        <p:nvSpPr>
          <p:cNvPr id="7" name="diff-bg">
            <a:extLst xmlns:a="http://schemas.openxmlformats.org/drawingml/2006/main">
              <a:ext uri="{FF2B5EF4-FFF2-40B4-BE49-F238E27FC236}">
                <a16:creationId xmlns:a16="http://schemas.microsoft.com/office/drawing/2014/main" id="{60D331D8-3E30-4007-8811-51F054D8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8096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8" name="diff-0">
            <a:extLst xmlns:a="http://schemas.openxmlformats.org/drawingml/2006/main">
              <a:ext uri="{FF2B5EF4-FFF2-40B4-BE49-F238E27FC236}">
                <a16:creationId xmlns:a16="http://schemas.microsoft.com/office/drawing/2014/main" id="{5935CE9D-103B-445E-BD2F-5CB06068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452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− 结果表明方法有效。</a:t>
            </a:r>
          </a:p>
        </p:txBody>
      </p:sp>
      <p:sp>
        <p:nvSpPr>
          <p:cNvPr id="9" name="diff-1">
            <a:extLst xmlns:a="http://schemas.openxmlformats.org/drawingml/2006/main">
              <a:ext uri="{FF2B5EF4-FFF2-40B4-BE49-F238E27FC236}">
                <a16:creationId xmlns:a16="http://schemas.microsoft.com/office/drawing/2014/main" id="{158E0C37-08CD-4B4F-A829-CEA5FBB7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+ 本批论文阅读卡组遗漏率较低；见评价报告 §2。</a:t>
            </a:r>
          </a:p>
        </p:txBody>
      </p:sp>
      <p:sp>
        <p:nvSpPr>
          <p:cNvPr id="10" name="diff-2">
            <a:extLst xmlns:a="http://schemas.openxmlformats.org/drawingml/2006/main">
              <a:ext uri="{FF2B5EF4-FFF2-40B4-BE49-F238E27FC236}">
                <a16:creationId xmlns:a16="http://schemas.microsoft.com/office/drawing/2014/main" id="{EA4348DE-251C-4A3F-B69B-005FFB78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05175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− 这证明了阅读卡机制。</a:t>
            </a:r>
          </a:p>
        </p:txBody>
      </p:sp>
      <p:sp>
        <p:nvSpPr>
          <p:cNvPr id="11" name="diff-3">
            <a:extLst xmlns:a="http://schemas.openxmlformats.org/drawingml/2006/main">
              <a:ext uri="{FF2B5EF4-FFF2-40B4-BE49-F238E27FC236}">
                <a16:creationId xmlns:a16="http://schemas.microsoft.com/office/drawing/2014/main" id="{263F2C13-C845-4948-A5A6-189BDBB6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+ 方向支持 H1；A1/A2/A3 尚未区分。</a:t>
            </a:r>
          </a:p>
        </p:txBody>
      </p:sp>
      <p:sp>
        <p:nvSpPr>
          <p:cNvPr id="12" name="fix1-label">
            <a:extLst xmlns:a="http://schemas.openxmlformats.org/drawingml/2006/main">
              <a:ext uri="{FF2B5EF4-FFF2-40B4-BE49-F238E27FC236}">
                <a16:creationId xmlns:a16="http://schemas.microsoft.com/office/drawing/2014/main" id="{0D5DD683-DEA6-4ED9-8296-BF839E6C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847850"/>
            <a:ext cx="2505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证据断裂</a:t>
            </a:r>
          </a:p>
        </p:txBody>
      </p:sp>
      <p:sp>
        <p:nvSpPr>
          <p:cNvPr id="13" name="fix1-body">
            <a:extLst xmlns:a="http://schemas.openxmlformats.org/drawingml/2006/main">
              <a:ext uri="{FF2B5EF4-FFF2-40B4-BE49-F238E27FC236}">
                <a16:creationId xmlns:a16="http://schemas.microsoft.com/office/drawing/2014/main" id="{60F6D2DD-017F-4190-B8D5-99E6933D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352675"/>
            <a:ext cx="25050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补上记录位置</a:t>
            </a:r>
          </a:p>
        </p:txBody>
      </p:sp>
      <p:sp>
        <p:nvSpPr>
          <p:cNvPr id="14" name="fix2-label">
            <a:extLst xmlns:a="http://schemas.openxmlformats.org/drawingml/2006/main">
              <a:ext uri="{FF2B5EF4-FFF2-40B4-BE49-F238E27FC236}">
                <a16:creationId xmlns:a16="http://schemas.microsoft.com/office/drawing/2014/main" id="{4CE30A41-4380-4DC0-B40F-31F83116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495675"/>
            <a:ext cx="2505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结论越界</a:t>
            </a:r>
          </a:p>
        </p:txBody>
      </p:sp>
      <p:sp>
        <p:nvSpPr>
          <p:cNvPr id="15" name="fix2-body">
            <a:extLst xmlns:a="http://schemas.openxmlformats.org/drawingml/2006/main">
              <a:ext uri="{FF2B5EF4-FFF2-40B4-BE49-F238E27FC236}">
                <a16:creationId xmlns:a16="http://schemas.microsoft.com/office/drawing/2014/main" id="{23ED4EC4-2D07-453C-B814-643CE95B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000500"/>
            <a:ext cx="25050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降低强度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写明未决项</a:t>
            </a:r>
          </a:p>
        </p:txBody>
      </p:sp>
      <p:sp>
        <p:nvSpPr>
          <p:cNvPr id="16" name="do">
            <a:extLst xmlns:a="http://schemas.openxmlformats.org/drawingml/2006/main">
              <a:ext uri="{FF2B5EF4-FFF2-40B4-BE49-F238E27FC236}">
                <a16:creationId xmlns:a16="http://schemas.microsoft.com/office/drawing/2014/main" id="{8D583FF4-4AEA-4593-9F01-5F329F23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请对照自己的段落，修订一处断裂。</a:t>
            </a:r>
          </a:p>
        </p:txBody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212426DA-191C-4077-A99A-9DDA713E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来源：本课讲义；第 13 课评价报告；课程研究门规范 · 虚构数据不作为研究证据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把主张接回一条追踪记录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fiction">
            <a:extLst xmlns:a="http://schemas.openxmlformats.org/drawingml/2006/main">
              <a:ext uri="{FF2B5EF4-FFF2-40B4-BE49-F238E27FC236}">
                <a16:creationId xmlns:a16="http://schemas.microsoft.com/office/drawing/2014/main" id="{FA9A1319-D042-4C9B-8B52-206A648D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课程虚构教学记录 · C1</a:t>
            </a:r>
          </a:p>
        </p:txBody>
      </p:sp>
      <p:sp>
        <p:nvSpPr>
          <p:cNvPr id="7" name="trace0-key">
            <a:extLst xmlns:a="http://schemas.openxmlformats.org/drawingml/2006/main">
              <a:ext uri="{FF2B5EF4-FFF2-40B4-BE49-F238E27FC236}">
                <a16:creationId xmlns:a16="http://schemas.microsoft.com/office/drawing/2014/main" id="{91AB450A-13B1-47FD-8A88-FF775FFEF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8" name="trace0-value">
            <a:extLst xmlns:a="http://schemas.openxmlformats.org/drawingml/2006/main">
              <a:ext uri="{FF2B5EF4-FFF2-40B4-BE49-F238E27FC236}">
                <a16:creationId xmlns:a16="http://schemas.microsoft.com/office/drawing/2014/main" id="{BBC29FE0-D3EB-41EB-8678-47DC5C36F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466850"/>
            <a:ext cx="8705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本批论文中，阅读卡组遗漏率较低。</a:t>
            </a:r>
          </a:p>
        </p:txBody>
      </p:sp>
      <p:sp>
        <p:nvSpPr>
          <p:cNvPr id="9" name="trace0-rule">
            <a:extLst xmlns:a="http://schemas.openxmlformats.org/drawingml/2006/main">
              <a:ext uri="{FF2B5EF4-FFF2-40B4-BE49-F238E27FC236}">
                <a16:creationId xmlns:a16="http://schemas.microsoft.com/office/drawing/2014/main" id="{50C357FD-C32C-4C2D-B5C2-B5195B9B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0" name="trace1-key">
            <a:extLst xmlns:a="http://schemas.openxmlformats.org/drawingml/2006/main">
              <a:ext uri="{FF2B5EF4-FFF2-40B4-BE49-F238E27FC236}">
                <a16:creationId xmlns:a16="http://schemas.microsoft.com/office/drawing/2014/main" id="{88BA09FB-BEF0-4738-9A77-446299AF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4575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记录位置</a:t>
            </a:r>
          </a:p>
        </p:txBody>
      </p:sp>
      <p:sp>
        <p:nvSpPr>
          <p:cNvPr id="11" name="trace1-value">
            <a:extLst xmlns:a="http://schemas.openxmlformats.org/drawingml/2006/main">
              <a:ext uri="{FF2B5EF4-FFF2-40B4-BE49-F238E27FC236}">
                <a16:creationId xmlns:a16="http://schemas.microsoft.com/office/drawing/2014/main" id="{1D9D48FE-3E4F-44EB-8094-482955BE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14575"/>
            <a:ext cx="8705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第 13 课评价报告 §2：两条件汇总。</a:t>
            </a:r>
          </a:p>
        </p:txBody>
      </p:sp>
      <p:sp>
        <p:nvSpPr>
          <p:cNvPr id="12" name="trace1-rule">
            <a:extLst xmlns:a="http://schemas.openxmlformats.org/drawingml/2006/main">
              <a:ext uri="{FF2B5EF4-FFF2-40B4-BE49-F238E27FC236}">
                <a16:creationId xmlns:a16="http://schemas.microsoft.com/office/drawing/2014/main" id="{C056AE26-820F-487D-91F9-2D745B39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trace2-key">
            <a:extLst xmlns:a="http://schemas.openxmlformats.org/drawingml/2006/main">
              <a:ext uri="{FF2B5EF4-FFF2-40B4-BE49-F238E27FC236}">
                <a16:creationId xmlns:a16="http://schemas.microsoft.com/office/drawing/2014/main" id="{36D955DA-DEB5-412D-90CD-B32670FF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上游判断</a:t>
            </a:r>
          </a:p>
        </p:txBody>
      </p:sp>
      <p:sp>
        <p:nvSpPr>
          <p:cNvPr id="14" name="trace2-value">
            <a:extLst xmlns:a="http://schemas.openxmlformats.org/drawingml/2006/main">
              <a:ext uri="{FF2B5EF4-FFF2-40B4-BE49-F238E27FC236}">
                <a16:creationId xmlns:a16="http://schemas.microsoft.com/office/drawing/2014/main" id="{7E342F6C-8097-46E2-BC47-E148C484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62300"/>
            <a:ext cx="8705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人工基准限定条件与冻结指标。</a:t>
            </a:r>
          </a:p>
        </p:txBody>
      </p:sp>
      <p:sp>
        <p:nvSpPr>
          <p:cNvPr id="15" name="trace2-rule">
            <a:extLst xmlns:a="http://schemas.openxmlformats.org/drawingml/2006/main">
              <a:ext uri="{FF2B5EF4-FFF2-40B4-BE49-F238E27FC236}">
                <a16:creationId xmlns:a16="http://schemas.microsoft.com/office/drawing/2014/main" id="{C7C709E4-A755-4F51-837A-7AA33B5B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6" name="trace3-key">
            <a:extLst xmlns:a="http://schemas.openxmlformats.org/drawingml/2006/main">
              <a:ext uri="{FF2B5EF4-FFF2-40B4-BE49-F238E27FC236}">
                <a16:creationId xmlns:a16="http://schemas.microsoft.com/office/drawing/2014/main" id="{1CFA245E-5090-4A26-9CED-09C3E1C72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缺失／冲突</a:t>
            </a:r>
          </a:p>
        </p:txBody>
      </p:sp>
      <p:sp>
        <p:nvSpPr>
          <p:cNvPr id="17" name="trace3-value">
            <a:extLst xmlns:a="http://schemas.openxmlformats.org/drawingml/2006/main">
              <a:ext uri="{FF2B5EF4-FFF2-40B4-BE49-F238E27FC236}">
                <a16:creationId xmlns:a16="http://schemas.microsoft.com/office/drawing/2014/main" id="{198D8453-41A2-4440-B043-2D602C8F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10025"/>
            <a:ext cx="8705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A1 / A2 / A3 未充分区分。</a:t>
            </a:r>
          </a:p>
        </p:txBody>
      </p:sp>
      <p:sp>
        <p:nvSpPr>
          <p:cNvPr id="18" name="trace3-rule">
            <a:extLst xmlns:a="http://schemas.openxmlformats.org/drawingml/2006/main">
              <a:ext uri="{FF2B5EF4-FFF2-40B4-BE49-F238E27FC236}">
                <a16:creationId xmlns:a16="http://schemas.microsoft.com/office/drawing/2014/main" id="{BE6D77FA-4E7B-4501-816E-86ADACEF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9" name="trace4-key">
            <a:extLst xmlns:a="http://schemas.openxmlformats.org/drawingml/2006/main">
              <a:ext uri="{FF2B5EF4-FFF2-40B4-BE49-F238E27FC236}">
                <a16:creationId xmlns:a16="http://schemas.microsoft.com/office/drawing/2014/main" id="{0E68DAE6-0ED0-4BC9-9B23-A6FE4E6A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962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当前状态</a:t>
            </a:r>
          </a:p>
        </p:txBody>
      </p:sp>
      <p:sp>
        <p:nvSpPr>
          <p:cNvPr id="20" name="trace4-value">
            <a:extLst xmlns:a="http://schemas.openxmlformats.org/drawingml/2006/main">
              <a:ext uri="{FF2B5EF4-FFF2-40B4-BE49-F238E27FC236}">
                <a16:creationId xmlns:a16="http://schemas.microsoft.com/office/drawing/2014/main" id="{C6EE9956-2E85-4A2A-B9CC-6C9A9BA3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57750"/>
            <a:ext cx="8705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支持（待验证）</a:t>
            </a:r>
          </a:p>
        </p:txBody>
      </p:sp>
      <p:sp>
        <p:nvSpPr>
          <p:cNvPr id="21" name="trace4-rule">
            <a:extLst xmlns:a="http://schemas.openxmlformats.org/drawingml/2006/main">
              <a:ext uri="{FF2B5EF4-FFF2-40B4-BE49-F238E27FC236}">
                <a16:creationId xmlns:a16="http://schemas.microsoft.com/office/drawing/2014/main" id="{7CFA5BE7-A649-4916-92D4-E7D7E30A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48325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2" name="states">
            <a:extLst xmlns:a="http://schemas.openxmlformats.org/drawingml/2006/main">
              <a:ext uri="{FF2B5EF4-FFF2-40B4-BE49-F238E27FC236}">
                <a16:creationId xmlns:a16="http://schemas.microsoft.com/office/drawing/2014/main" id="{CAA94F07-FA8D-4CAD-8904-7570FDDF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状态三选一：支持／反驳／仍不能判断</a:t>
            </a:r>
          </a:p>
        </p:txBody>
      </p:sp>
      <p:sp>
        <p:nvSpPr>
          <p:cNvPr id="23" name="source">
            <a:extLst xmlns:a="http://schemas.openxmlformats.org/drawingml/2006/main">
              <a:ext uri="{FF2B5EF4-FFF2-40B4-BE49-F238E27FC236}">
                <a16:creationId xmlns:a16="http://schemas.microsoft.com/office/drawing/2014/main" id="{7745CA77-5411-4DB5-91DF-EF0FB0BC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来源：本课讲义；第 13 课评价报告；课程研究门规范 · 虚构数据不作为研究证据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从已有日志写出 AI 披露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fiction">
            <a:extLst xmlns:a="http://schemas.openxmlformats.org/drawingml/2006/main">
              <a:ext uri="{FF2B5EF4-FFF2-40B4-BE49-F238E27FC236}">
                <a16:creationId xmlns:a16="http://schemas.microsoft.com/office/drawing/2014/main" id="{D753D3F2-5236-4BD5-9B0B-06D46D08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课程既有虚构披露样例 · 非本次实际模型调用</a:t>
            </a:r>
          </a:p>
        </p:txBody>
      </p:sp>
      <p:sp>
        <p:nvSpPr>
          <p:cNvPr id="7" name="log-top">
            <a:extLst xmlns:a="http://schemas.openxmlformats.org/drawingml/2006/main">
              <a:ext uri="{FF2B5EF4-FFF2-40B4-BE49-F238E27FC236}">
                <a16:creationId xmlns:a16="http://schemas.microsoft.com/office/drawing/2014/main" id="{B74D556B-F1CA-4A0D-A750-5CC04125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9817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8" name="log-file">
            <a:extLst xmlns:a="http://schemas.openxmlformats.org/drawingml/2006/main">
              <a:ext uri="{FF2B5EF4-FFF2-40B4-BE49-F238E27FC236}">
                <a16:creationId xmlns:a16="http://schemas.microsoft.com/office/drawing/2014/main" id="{1129C25B-CD91-40ED-8E53-019422A2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5981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F4D78"/>
                </a:solidFill>
                <a:latin typeface="Consolas"/>
                <a:ea typeface="Consolas"/>
                <a:cs typeface="Consolas"/>
              </a:rPr>
              <a:t>ai-usage-log.md · 字段节选</a:t>
            </a:r>
          </a:p>
        </p:txBody>
      </p:sp>
      <p:sp>
        <p:nvSpPr>
          <p:cNvPr id="9" name="log-line0">
            <a:extLst xmlns:a="http://schemas.openxmlformats.org/drawingml/2006/main">
              <a:ext uri="{FF2B5EF4-FFF2-40B4-BE49-F238E27FC236}">
                <a16:creationId xmlns:a16="http://schemas.microsoft.com/office/drawing/2014/main" id="{DBD2EC6A-1DE2-4B7E-A561-457D8267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0275"/>
            <a:ext cx="5753100" cy="64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检索、阅读、写作</a:t>
            </a:r>
          </a:p>
        </p:txBody>
      </p:sp>
      <p:sp>
        <p:nvSpPr>
          <p:cNvPr id="10" name="log-line1">
            <a:extLst xmlns:a="http://schemas.openxmlformats.org/drawingml/2006/main">
              <a:ext uri="{FF2B5EF4-FFF2-40B4-BE49-F238E27FC236}">
                <a16:creationId xmlns:a16="http://schemas.microsoft.com/office/drawing/2014/main" id="{C3EE8800-04BA-413D-ADCF-55702072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0831"/>
            <a:ext cx="5753100" cy="64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Claude 4.5 · 2026-07-15</a:t>
            </a:r>
          </a:p>
        </p:txBody>
      </p:sp>
      <p:sp>
        <p:nvSpPr>
          <p:cNvPr id="11" name="log-line2">
            <a:extLst xmlns:a="http://schemas.openxmlformats.org/drawingml/2006/main">
              <a:ext uri="{FF2B5EF4-FFF2-40B4-BE49-F238E27FC236}">
                <a16:creationId xmlns:a16="http://schemas.microsoft.com/office/drawing/2014/main" id="{E3FB0367-FCE4-45E7-84A1-56B17922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1388"/>
            <a:ext cx="5753100" cy="64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原文核验 + 人工审核 + 偏差审计</a:t>
            </a:r>
          </a:p>
        </p:txBody>
      </p:sp>
      <p:sp>
        <p:nvSpPr>
          <p:cNvPr id="12" name="log-line3">
            <a:extLst xmlns:a="http://schemas.openxmlformats.org/drawingml/2006/main">
              <a:ext uri="{FF2B5EF4-FFF2-40B4-BE49-F238E27FC236}">
                <a16:creationId xmlns:a16="http://schemas.microsoft.com/office/drawing/2014/main" id="{7CF60F3B-6324-495F-9524-5152642F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1944"/>
            <a:ext cx="5753100" cy="6405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错误：把“降低”写成“消除”</a:t>
            </a:r>
          </a:p>
        </p:txBody>
      </p:sp>
      <p:sp>
        <p:nvSpPr>
          <p:cNvPr id="13" name="target">
            <a:extLst xmlns:a="http://schemas.openxmlformats.org/drawingml/2006/main">
              <a:ext uri="{FF2B5EF4-FFF2-40B4-BE49-F238E27FC236}">
                <a16:creationId xmlns:a16="http://schemas.microsoft.com/office/drawing/2014/main" id="{139E75C0-6EFF-4CBA-83F1-BEFD1EC4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533525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披露摘要</a:t>
            </a:r>
          </a:p>
        </p:txBody>
      </p:sp>
      <p:sp>
        <p:nvSpPr>
          <p:cNvPr id="14" name="disclosure">
            <a:extLst xmlns:a="http://schemas.openxmlformats.org/drawingml/2006/main">
              <a:ext uri="{FF2B5EF4-FFF2-40B4-BE49-F238E27FC236}">
                <a16:creationId xmlns:a16="http://schemas.microsoft.com/office/drawing/2014/main" id="{6A338330-3223-4CB6-839A-F5CDE0F7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276475"/>
            <a:ext cx="4048125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AI 用于扩词、阅读卡草稿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和摘要改写。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人工回到原文核验，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把“消除”纠正为“降低”。</a:t>
            </a:r>
          </a:p>
        </p:txBody>
      </p:sp>
      <p:sp>
        <p:nvSpPr>
          <p:cNvPr id="15" name="missing">
            <a:extLst xmlns:a="http://schemas.openxmlformats.org/drawingml/2006/main">
              <a:ext uri="{FF2B5EF4-FFF2-40B4-BE49-F238E27FC236}">
                <a16:creationId xmlns:a16="http://schemas.microsoft.com/office/drawing/2014/main" id="{6D8F7A6F-269E-46C2-BBE0-8C072FB2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记录缺失就注明缺口，不重建虚构日志。</a:t>
            </a:r>
          </a:p>
        </p:txBody>
      </p:sp>
      <p:sp>
        <p:nvSpPr>
          <p:cNvPr id="16" name="boundary">
            <a:extLst xmlns:a="http://schemas.openxmlformats.org/drawingml/2006/main">
              <a:ext uri="{FF2B5EF4-FFF2-40B4-BE49-F238E27FC236}">
                <a16:creationId xmlns:a16="http://schemas.microsoft.com/office/drawing/2014/main" id="{A8BEFD08-3845-42E0-9912-6D816156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AI 输出只作线索，不作证据。</a:t>
            </a:r>
          </a:p>
        </p:txBody>
      </p:sp>
      <p:sp>
        <p:nvSpPr>
          <p:cNvPr id="17" name="source">
            <a:extLst xmlns:a="http://schemas.openxmlformats.org/drawingml/2006/main">
              <a:ext uri="{FF2B5EF4-FFF2-40B4-BE49-F238E27FC236}">
                <a16:creationId xmlns:a16="http://schemas.microsoft.com/office/drawing/2014/main" id="{8351D334-F8D2-4385-839F-EEB64CD5F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来源：本课讲义；第 13 课评价报告；课程研究门规范 · 虚构数据不作为研究证据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补齐追踪与披露，再保存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fiction">
            <a:extLst xmlns:a="http://schemas.openxmlformats.org/drawingml/2006/main">
              <a:ext uri="{FF2B5EF4-FFF2-40B4-BE49-F238E27FC236}">
                <a16:creationId xmlns:a16="http://schemas.microsoft.com/office/drawing/2014/main" id="{BBEE64AB-7E63-4807-B58F-4C5872EF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完成样例为课程虚构教学记录</a:t>
            </a:r>
          </a:p>
        </p:txBody>
      </p:sp>
      <p:sp>
        <p:nvSpPr>
          <p:cNvPr id="7" name="do">
            <a:extLst xmlns:a="http://schemas.openxmlformats.org/drawingml/2006/main">
              <a:ext uri="{FF2B5EF4-FFF2-40B4-BE49-F238E27FC236}">
                <a16:creationId xmlns:a16="http://schemas.microsoft.com/office/drawing/2014/main" id="{70C4167B-BE88-43C9-A8EA-E3C0DE05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4762500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补齐追踪与披露，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然后保存文件。</a:t>
            </a:r>
          </a:p>
        </p:txBody>
      </p:sp>
      <p:sp>
        <p:nvSpPr>
          <p:cNvPr id="8" name="input">
            <a:extLst xmlns:a="http://schemas.openxmlformats.org/drawingml/2006/main">
              <a:ext uri="{FF2B5EF4-FFF2-40B4-BE49-F238E27FC236}">
                <a16:creationId xmlns:a16="http://schemas.microsoft.com/office/drawing/2014/main" id="{235B8F39-5F33-4F0C-9654-F91CFAE9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48577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打开 report.md、追踪记录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和 ai-usage-log.md。</a:t>
            </a:r>
          </a:p>
        </p:txBody>
      </p:sp>
      <p:sp>
        <p:nvSpPr>
          <p:cNvPr id="9" name="done">
            <a:extLst xmlns:a="http://schemas.openxmlformats.org/drawingml/2006/main">
              <a:ext uri="{FF2B5EF4-FFF2-40B4-BE49-F238E27FC236}">
                <a16:creationId xmlns:a16="http://schemas.microsoft.com/office/drawing/2014/main" id="{3C1A110B-0E4C-4895-969A-39992436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完成：同伴能沿主张反查一次。</a:t>
            </a:r>
          </a:p>
        </p:txBody>
      </p:sp>
      <p:sp>
        <p:nvSpPr>
          <p:cNvPr id="10" name="check0-key">
            <a:extLst xmlns:a="http://schemas.openxmlformats.org/drawingml/2006/main">
              <a:ext uri="{FF2B5EF4-FFF2-40B4-BE49-F238E27FC236}">
                <a16:creationId xmlns:a16="http://schemas.microsoft.com/office/drawing/2014/main" id="{D625A06B-504C-4867-9F0A-DEBE2D85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04950"/>
            <a:ext cx="8667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位置</a:t>
            </a:r>
          </a:p>
        </p:txBody>
      </p:sp>
      <p:sp>
        <p:nvSpPr>
          <p:cNvPr id="11" name="check0-value">
            <a:extLst xmlns:a="http://schemas.openxmlformats.org/drawingml/2006/main">
              <a:ext uri="{FF2B5EF4-FFF2-40B4-BE49-F238E27FC236}">
                <a16:creationId xmlns:a16="http://schemas.microsoft.com/office/drawing/2014/main" id="{FB083860-7476-4FF4-BEF6-2CB9428F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504950"/>
            <a:ext cx="4229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C1 → 评价报告 §2</a:t>
            </a:r>
          </a:p>
        </p:txBody>
      </p:sp>
      <p:sp>
        <p:nvSpPr>
          <p:cNvPr id="12" name="check0-rule">
            <a:extLst xmlns:a="http://schemas.openxmlformats.org/drawingml/2006/main">
              <a:ext uri="{FF2B5EF4-FFF2-40B4-BE49-F238E27FC236}">
                <a16:creationId xmlns:a16="http://schemas.microsoft.com/office/drawing/2014/main" id="{00BB5EF5-5AD7-48CC-BC2C-16D01D79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95525"/>
            <a:ext cx="5286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check1-key">
            <a:extLst xmlns:a="http://schemas.openxmlformats.org/drawingml/2006/main">
              <a:ext uri="{FF2B5EF4-FFF2-40B4-BE49-F238E27FC236}">
                <a16:creationId xmlns:a16="http://schemas.microsoft.com/office/drawing/2014/main" id="{CDDF8C15-FBF0-46FB-8743-C8C78375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43175"/>
            <a:ext cx="8667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强度</a:t>
            </a:r>
          </a:p>
        </p:txBody>
      </p:sp>
      <p:sp>
        <p:nvSpPr>
          <p:cNvPr id="14" name="check1-value">
            <a:extLst xmlns:a="http://schemas.openxmlformats.org/drawingml/2006/main">
              <a:ext uri="{FF2B5EF4-FFF2-40B4-BE49-F238E27FC236}">
                <a16:creationId xmlns:a16="http://schemas.microsoft.com/office/drawing/2014/main" id="{13C759C8-54D5-4D1F-B167-B833009E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543175"/>
            <a:ext cx="4229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支持（待验证）</a:t>
            </a:r>
          </a:p>
        </p:txBody>
      </p:sp>
      <p:sp>
        <p:nvSpPr>
          <p:cNvPr id="15" name="check1-rule">
            <a:extLst xmlns:a="http://schemas.openxmlformats.org/drawingml/2006/main">
              <a:ext uri="{FF2B5EF4-FFF2-40B4-BE49-F238E27FC236}">
                <a16:creationId xmlns:a16="http://schemas.microsoft.com/office/drawing/2014/main" id="{35001352-C324-4116-856C-B280E2FE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5286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6" name="check2-key">
            <a:extLst xmlns:a="http://schemas.openxmlformats.org/drawingml/2006/main">
              <a:ext uri="{FF2B5EF4-FFF2-40B4-BE49-F238E27FC236}">
                <a16:creationId xmlns:a16="http://schemas.microsoft.com/office/drawing/2014/main" id="{3E382926-F06F-4EE6-BDF7-95D2FC31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81400"/>
            <a:ext cx="8667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边界</a:t>
            </a:r>
          </a:p>
        </p:txBody>
      </p:sp>
      <p:sp>
        <p:nvSpPr>
          <p:cNvPr id="17" name="check2-value">
            <a:extLst xmlns:a="http://schemas.openxmlformats.org/drawingml/2006/main">
              <a:ext uri="{FF2B5EF4-FFF2-40B4-BE49-F238E27FC236}">
                <a16:creationId xmlns:a16="http://schemas.microsoft.com/office/drawing/2014/main" id="{8FCBD17D-7E06-4A5C-B9BC-B45532E7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581400"/>
            <a:ext cx="4229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A1/A2/A3 未区分</a:t>
            </a:r>
          </a:p>
        </p:txBody>
      </p:sp>
      <p:sp>
        <p:nvSpPr>
          <p:cNvPr id="18" name="check2-rule">
            <a:extLst xmlns:a="http://schemas.openxmlformats.org/drawingml/2006/main">
              <a:ext uri="{FF2B5EF4-FFF2-40B4-BE49-F238E27FC236}">
                <a16:creationId xmlns:a16="http://schemas.microsoft.com/office/drawing/2014/main" id="{F03ECBD5-8060-4441-94A6-D032BEC3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1975"/>
            <a:ext cx="5286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9" name="check3-key">
            <a:extLst xmlns:a="http://schemas.openxmlformats.org/drawingml/2006/main">
              <a:ext uri="{FF2B5EF4-FFF2-40B4-BE49-F238E27FC236}">
                <a16:creationId xmlns:a16="http://schemas.microsoft.com/office/drawing/2014/main" id="{174A6D2F-5D21-4908-A037-56B23F15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9625"/>
            <a:ext cx="8667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责任</a:t>
            </a:r>
          </a:p>
        </p:txBody>
      </p:sp>
      <p:sp>
        <p:nvSpPr>
          <p:cNvPr id="20" name="check3-value">
            <a:extLst xmlns:a="http://schemas.openxmlformats.org/drawingml/2006/main">
              <a:ext uri="{FF2B5EF4-FFF2-40B4-BE49-F238E27FC236}">
                <a16:creationId xmlns:a16="http://schemas.microsoft.com/office/drawing/2014/main" id="{6695DFE6-D87E-4822-9498-4137604C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619625"/>
            <a:ext cx="4229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人工纠正“消除”为“降低”</a:t>
            </a:r>
          </a:p>
        </p:txBody>
      </p:sp>
      <p:sp>
        <p:nvSpPr>
          <p:cNvPr id="21" name="check3-rule">
            <a:extLst xmlns:a="http://schemas.openxmlformats.org/drawingml/2006/main">
              <a:ext uri="{FF2B5EF4-FFF2-40B4-BE49-F238E27FC236}">
                <a16:creationId xmlns:a16="http://schemas.microsoft.com/office/drawing/2014/main" id="{2DDDA26B-1F2D-4A77-BFB4-AE59E1FA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10200"/>
            <a:ext cx="528637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22" name="source">
            <a:extLst xmlns:a="http://schemas.openxmlformats.org/drawingml/2006/main">
              <a:ext uri="{FF2B5EF4-FFF2-40B4-BE49-F238E27FC236}">
                <a16:creationId xmlns:a16="http://schemas.microsoft.com/office/drawing/2014/main" id="{EC4B13E8-4122-4635-83FD-DDCF3AEA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来源：本课讲义；第 13 课评价报告；课程研究门规范 · 虚构数据不作为研究证据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请从同伴的主张反向找证据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node0">
            <a:extLst xmlns:a="http://schemas.openxmlformats.org/drawingml/2006/main">
              <a:ext uri="{FF2B5EF4-FFF2-40B4-BE49-F238E27FC236}">
                <a16:creationId xmlns:a16="http://schemas.microsoft.com/office/drawing/2014/main" id="{ED06FAEA-A6EC-428B-94C5-95811F75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52575"/>
            <a:ext cx="323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主张</a:t>
            </a:r>
          </a:p>
        </p:txBody>
      </p:sp>
      <p:sp>
        <p:nvSpPr>
          <p:cNvPr id="7" name="arrow0">
            <a:extLst xmlns:a="http://schemas.openxmlformats.org/drawingml/2006/main">
              <a:ext uri="{FF2B5EF4-FFF2-40B4-BE49-F238E27FC236}">
                <a16:creationId xmlns:a16="http://schemas.microsoft.com/office/drawing/2014/main" id="{25EB0D02-40A3-402B-92CE-8E5608E8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52575"/>
            <a:ext cx="428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8" name="node1">
            <a:extLst xmlns:a="http://schemas.openxmlformats.org/drawingml/2006/main">
              <a:ext uri="{FF2B5EF4-FFF2-40B4-BE49-F238E27FC236}">
                <a16:creationId xmlns:a16="http://schemas.microsoft.com/office/drawing/2014/main" id="{2B8F7223-99C2-4080-95A6-568F3D9D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52575"/>
            <a:ext cx="323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证据／运行记录</a:t>
            </a:r>
          </a:p>
        </p:txBody>
      </p:sp>
      <p:sp>
        <p:nvSpPr>
          <p:cNvPr id="9" name="arrow1">
            <a:extLst xmlns:a="http://schemas.openxmlformats.org/drawingml/2006/main">
              <a:ext uri="{FF2B5EF4-FFF2-40B4-BE49-F238E27FC236}">
                <a16:creationId xmlns:a16="http://schemas.microsoft.com/office/drawing/2014/main" id="{2BBB41E2-40C0-4849-A67E-FF68F555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52575"/>
            <a:ext cx="428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" name="node2">
            <a:extLst xmlns:a="http://schemas.openxmlformats.org/drawingml/2006/main">
              <a:ext uri="{FF2B5EF4-FFF2-40B4-BE49-F238E27FC236}">
                <a16:creationId xmlns:a16="http://schemas.microsoft.com/office/drawing/2014/main" id="{C05EE511-5B5F-44F8-8BFA-73C2D76D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52575"/>
            <a:ext cx="323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上游判断</a:t>
            </a:r>
          </a:p>
        </p:txBody>
      </p:sp>
      <p:sp>
        <p:nvSpPr>
          <p:cNvPr id="11" name="q0">
            <a:extLst xmlns:a="http://schemas.openxmlformats.org/drawingml/2006/main">
              <a:ext uri="{FF2B5EF4-FFF2-40B4-BE49-F238E27FC236}">
                <a16:creationId xmlns:a16="http://schemas.microsoft.com/office/drawing/2014/main" id="{2020B0EC-ADFD-4EBF-B071-9F1D94BC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05100"/>
            <a:ext cx="329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能否找到？</a:t>
            </a:r>
          </a:p>
        </p:txBody>
      </p:sp>
      <p:sp>
        <p:nvSpPr>
          <p:cNvPr id="12" name="detail0">
            <a:extLst xmlns:a="http://schemas.openxmlformats.org/drawingml/2006/main">
              <a:ext uri="{FF2B5EF4-FFF2-40B4-BE49-F238E27FC236}">
                <a16:creationId xmlns:a16="http://schemas.microsoft.com/office/drawing/2014/main" id="{AF948290-54C0-4EFF-9B8E-2F9D922D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3295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从主张反查具体位置。</a:t>
            </a:r>
          </a:p>
        </p:txBody>
      </p:sp>
      <p:sp>
        <p:nvSpPr>
          <p:cNvPr id="13" name="q1">
            <a:extLst xmlns:a="http://schemas.openxmlformats.org/drawingml/2006/main">
              <a:ext uri="{FF2B5EF4-FFF2-40B4-BE49-F238E27FC236}">
                <a16:creationId xmlns:a16="http://schemas.microsoft.com/office/drawing/2014/main" id="{6E194977-D4A9-4BDC-B1E9-D32108AB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05100"/>
            <a:ext cx="329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有没有越界？</a:t>
            </a:r>
          </a:p>
        </p:txBody>
      </p:sp>
      <p:sp>
        <p:nvSpPr>
          <p:cNvPr id="14" name="detail1">
            <a:extLst xmlns:a="http://schemas.openxmlformats.org/drawingml/2006/main">
              <a:ext uri="{FF2B5EF4-FFF2-40B4-BE49-F238E27FC236}">
                <a16:creationId xmlns:a16="http://schemas.microsoft.com/office/drawing/2014/main" id="{8C24E3E7-F55C-4050-B52C-841671D2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86150"/>
            <a:ext cx="3295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待验证不能写成已证实。</a:t>
            </a:r>
          </a:p>
        </p:txBody>
      </p:sp>
      <p:sp>
        <p:nvSpPr>
          <p:cNvPr id="15" name="q2">
            <a:extLst xmlns:a="http://schemas.openxmlformats.org/drawingml/2006/main">
              <a:ext uri="{FF2B5EF4-FFF2-40B4-BE49-F238E27FC236}">
                <a16:creationId xmlns:a16="http://schemas.microsoft.com/office/drawing/2014/main" id="{1F858A2C-9EDF-4AA7-BD92-8CA1FB74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05100"/>
            <a:ext cx="329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是否遗漏？</a:t>
            </a:r>
          </a:p>
        </p:txBody>
      </p:sp>
      <p:sp>
        <p:nvSpPr>
          <p:cNvPr id="16" name="detail2">
            <a:extLst xmlns:a="http://schemas.openxmlformats.org/drawingml/2006/main">
              <a:ext uri="{FF2B5EF4-FFF2-40B4-BE49-F238E27FC236}">
                <a16:creationId xmlns:a16="http://schemas.microsoft.com/office/drawing/2014/main" id="{751F1D01-2830-4B73-9D63-D963AC62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86150"/>
            <a:ext cx="3295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失败、冲突与 AI 核验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仍然可见。</a:t>
            </a:r>
          </a:p>
        </p:txBody>
      </p:sp>
      <p:sp>
        <p:nvSpPr>
          <p:cNvPr id="17" name="responsibility">
            <a:extLst xmlns:a="http://schemas.openxmlformats.org/drawingml/2006/main">
              <a:ext uri="{FF2B5EF4-FFF2-40B4-BE49-F238E27FC236}">
                <a16:creationId xmlns:a16="http://schemas.microsoft.com/office/drawing/2014/main" id="{92DBAE49-B66F-4EEC-A858-46040168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8" name="response">
            <a:extLst xmlns:a="http://schemas.openxmlformats.org/drawingml/2006/main">
              <a:ext uri="{FF2B5EF4-FFF2-40B4-BE49-F238E27FC236}">
                <a16:creationId xmlns:a16="http://schemas.microsoft.com/office/drawing/2014/main" id="{D2322C8A-568D-418A-8C93-DA96D84E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858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作者记录处理决定与真实理由，不凑反馈类别。</a:t>
            </a:r>
          </a:p>
        </p:txBody>
      </p:sp>
      <p:sp>
        <p:nvSpPr>
          <p:cNvPr id="19" name="source">
            <a:extLst xmlns:a="http://schemas.openxmlformats.org/drawingml/2006/main">
              <a:ext uri="{FF2B5EF4-FFF2-40B4-BE49-F238E27FC236}">
                <a16:creationId xmlns:a16="http://schemas.microsoft.com/office/drawing/2014/main" id="{58747A60-65C0-43F3-8A5D-BA083912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来源：本课讲义；第 13 课评价报告；课程研究门规范 · 虚构数据不作为研究证据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chain">
            <a:extLst xmlns:a="http://schemas.openxmlformats.org/drawingml/2006/main">
              <a:ext uri="{FF2B5EF4-FFF2-40B4-BE49-F238E27FC236}">
                <a16:creationId xmlns:a16="http://schemas.microsoft.com/office/drawing/2014/main" id="{70ACB8FD-58C2-4257-A0D7-69339F99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结果 → 主张 → 证据 → 推理 → 边界</a:t>
            </a:r>
          </a:p>
        </p:txBody>
      </p:sp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997B9EA5-6390-444E-891E-0D64CD3E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08585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写作可以重组事实，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3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不能扩大证据支持范围。</a:t>
            </a:r>
          </a:p>
        </p:txBody>
      </p:sp>
      <p:sp>
        <p:nvSpPr>
          <p:cNvPr id="8" name="checkline">
            <a:extLst xmlns:a="http://schemas.openxmlformats.org/drawingml/2006/main">
              <a:ext uri="{FF2B5EF4-FFF2-40B4-BE49-F238E27FC236}">
                <a16:creationId xmlns:a16="http://schemas.microsoft.com/office/drawing/2014/main" id="{4F6BA725-6AB8-495B-90B1-4D6E6CC8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10858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9" name="reverse">
            <a:extLst xmlns:a="http://schemas.openxmlformats.org/drawingml/2006/main">
              <a:ext uri="{FF2B5EF4-FFF2-40B4-BE49-F238E27FC236}">
                <a16:creationId xmlns:a16="http://schemas.microsoft.com/office/drawing/2014/main" id="{097C044F-DE35-46F1-A5DE-D587321FD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反查：运行记录、上游判断与替代解释。</a:t>
            </a:r>
          </a:p>
        </p:txBody>
      </p:sp>
      <p:sp>
        <p:nvSpPr>
          <p:cNvPr id="10" name="source">
            <a:extLst xmlns:a="http://schemas.openxmlformats.org/drawingml/2006/main">
              <a:ext uri="{FF2B5EF4-FFF2-40B4-BE49-F238E27FC236}">
                <a16:creationId xmlns:a16="http://schemas.microsoft.com/office/drawing/2014/main" id="{DADB85D6-B0F4-4C57-ACD6-55E54095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来源：本课讲义；第 13 课评价报告；课程研究门规范 · 虚构数据不作为研究证据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把一个段落扩成报告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paragraph">
            <a:extLst xmlns:a="http://schemas.openxmlformats.org/drawingml/2006/main">
              <a:ext uri="{FF2B5EF4-FFF2-40B4-BE49-F238E27FC236}">
                <a16:creationId xmlns:a16="http://schemas.microsoft.com/office/drawing/2014/main" id="{106AA225-524F-4EA5-95EF-AD267FD7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39528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已有论证段</a:t>
            </a:r>
          </a:p>
        </p:txBody>
      </p:sp>
      <p:sp>
        <p:nvSpPr>
          <p:cNvPr id="7" name="paragraph-body">
            <a:extLst xmlns:a="http://schemas.openxmlformats.org/drawingml/2006/main">
              <a:ext uri="{FF2B5EF4-FFF2-40B4-BE49-F238E27FC236}">
                <a16:creationId xmlns:a16="http://schemas.microsoft.com/office/drawing/2014/main" id="{7236CC6A-859F-4A10-B4CA-A9AFBC51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3952875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主张／证据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推理／边界</a:t>
            </a:r>
          </a:p>
        </p:txBody>
      </p:sp>
      <p:sp>
        <p:nvSpPr>
          <p:cNvPr id="8" name="arrow">
            <a:extLst xmlns:a="http://schemas.openxmlformats.org/drawingml/2006/main">
              <a:ext uri="{FF2B5EF4-FFF2-40B4-BE49-F238E27FC236}">
                <a16:creationId xmlns:a16="http://schemas.microsoft.com/office/drawing/2014/main" id="{C7744E59-E603-43CE-AED4-60B02488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76525"/>
            <a:ext cx="6000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" name="report-top">
            <a:extLst xmlns:a="http://schemas.openxmlformats.org/drawingml/2006/main">
              <a:ext uri="{FF2B5EF4-FFF2-40B4-BE49-F238E27FC236}">
                <a16:creationId xmlns:a16="http://schemas.microsoft.com/office/drawing/2014/main" id="{AB5168EC-1787-434A-BCB3-8B28DBBF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257300"/>
            <a:ext cx="5334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0" name="report-file">
            <a:extLst xmlns:a="http://schemas.openxmlformats.org/drawingml/2006/main">
              <a:ext uri="{FF2B5EF4-FFF2-40B4-BE49-F238E27FC236}">
                <a16:creationId xmlns:a16="http://schemas.microsoft.com/office/drawing/2014/main" id="{38BE3F8C-1837-4C6C-9FA8-E9FE2B63C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409700"/>
            <a:ext cx="533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F4D78"/>
                </a:solidFill>
                <a:latin typeface="Consolas"/>
                <a:ea typeface="Consolas"/>
                <a:cs typeface="Consolas"/>
              </a:rPr>
              <a:t>report.md</a:t>
            </a:r>
          </a:p>
        </p:txBody>
      </p:sp>
      <p:sp>
        <p:nvSpPr>
          <p:cNvPr id="11" name="report-line0">
            <a:extLst xmlns:a="http://schemas.openxmlformats.org/drawingml/2006/main">
              <a:ext uri="{FF2B5EF4-FFF2-40B4-BE49-F238E27FC236}">
                <a16:creationId xmlns:a16="http://schemas.microsoft.com/office/drawing/2014/main" id="{C09C2756-D267-4368-B643-2E3EE46A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4310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问题：为什么问</a:t>
            </a:r>
          </a:p>
        </p:txBody>
      </p:sp>
      <p:sp>
        <p:nvSpPr>
          <p:cNvPr id="12" name="report-line1">
            <a:extLst xmlns:a="http://schemas.openxmlformats.org/drawingml/2006/main">
              <a:ext uri="{FF2B5EF4-FFF2-40B4-BE49-F238E27FC236}">
                <a16:creationId xmlns:a16="http://schemas.microsoft.com/office/drawing/2014/main" id="{7AA1C9FA-6B2D-414D-ACF2-EF4F5048B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57475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方法：如何得到结果</a:t>
            </a:r>
          </a:p>
        </p:txBody>
      </p:sp>
      <p:sp>
        <p:nvSpPr>
          <p:cNvPr id="13" name="report-line2">
            <a:extLst xmlns:a="http://schemas.openxmlformats.org/drawingml/2006/main">
              <a:ext uri="{FF2B5EF4-FFF2-40B4-BE49-F238E27FC236}">
                <a16:creationId xmlns:a16="http://schemas.microsoft.com/office/drawing/2014/main" id="{DBA67BA0-3680-4FD8-A4E0-EF645F89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71850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结果：当前证据支持什么</a:t>
            </a:r>
          </a:p>
        </p:txBody>
      </p:sp>
      <p:sp>
        <p:nvSpPr>
          <p:cNvPr id="14" name="report-line3">
            <a:extLst xmlns:a="http://schemas.openxmlformats.org/drawingml/2006/main">
              <a:ext uri="{FF2B5EF4-FFF2-40B4-BE49-F238E27FC236}">
                <a16:creationId xmlns:a16="http://schemas.microsoft.com/office/drawing/2014/main" id="{03800118-7CA7-4CEF-9DF7-9BFB2F16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086225"/>
            <a:ext cx="5105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讨论：边界与未决解释</a:t>
            </a:r>
          </a:p>
        </p:txBody>
      </p:sp>
      <p:sp>
        <p:nvSpPr>
          <p:cNvPr id="15" name="after">
            <a:extLst xmlns:a="http://schemas.openxmlformats.org/drawingml/2006/main">
              <a:ext uri="{FF2B5EF4-FFF2-40B4-BE49-F238E27FC236}">
                <a16:creationId xmlns:a16="http://schemas.microsoft.com/office/drawing/2014/main" id="{FBBF2380-6A3B-428A-9D78-337987F8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85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课后补全：可信贡献、引用与 AI 披露；保留失败和冲突。</a:t>
            </a:r>
          </a:p>
        </p:txBody>
      </p:sp>
      <p:sp>
        <p:nvSpPr>
          <p:cNvPr id="16" name="source">
            <a:extLst xmlns:a="http://schemas.openxmlformats.org/drawingml/2006/main">
              <a:ext uri="{FF2B5EF4-FFF2-40B4-BE49-F238E27FC236}">
                <a16:creationId xmlns:a16="http://schemas.microsoft.com/office/drawing/2014/main" id="{A465D204-B779-4AD0-957F-49C779EB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来源：本课讲义；第 13 课评价报告；课程研究门规范 · 虚构数据不作为研究证据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带着这份初稿进入真实评审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handoff-top">
            <a:extLst xmlns:a="http://schemas.openxmlformats.org/drawingml/2006/main">
              <a:ext uri="{FF2B5EF4-FFF2-40B4-BE49-F238E27FC236}">
                <a16:creationId xmlns:a16="http://schemas.microsoft.com/office/drawing/2014/main" id="{E70A8CC6-9A8D-498F-BB44-683FD446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735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7" name="handoff-file">
            <a:extLst xmlns:a="http://schemas.openxmlformats.org/drawingml/2006/main">
              <a:ext uri="{FF2B5EF4-FFF2-40B4-BE49-F238E27FC236}">
                <a16:creationId xmlns:a16="http://schemas.microsoft.com/office/drawing/2014/main" id="{2232B7F3-BF1E-4053-84FD-F295C2D7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33525"/>
            <a:ext cx="73533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F4D78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F4D78"/>
                </a:solidFill>
                <a:latin typeface="Consolas"/>
                <a:ea typeface="Consolas"/>
                <a:cs typeface="Consolas"/>
              </a:rPr>
              <a:t>第 15 课 · 真实同行评审</a:t>
            </a:r>
          </a:p>
        </p:txBody>
      </p:sp>
      <p:sp>
        <p:nvSpPr>
          <p:cNvPr id="8" name="handoff-line0">
            <a:extLst xmlns:a="http://schemas.openxmlformats.org/drawingml/2006/main">
              <a:ext uri="{FF2B5EF4-FFF2-40B4-BE49-F238E27FC236}">
                <a16:creationId xmlns:a16="http://schemas.microsoft.com/office/drawing/2014/main" id="{9C7E7C15-7CEB-4CD9-AAF4-E021B21C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6925"/>
            <a:ext cx="71247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report.md 初版</a:t>
            </a:r>
          </a:p>
        </p:txBody>
      </p:sp>
      <p:sp>
        <p:nvSpPr>
          <p:cNvPr id="9" name="handoff-line1">
            <a:extLst xmlns:a="http://schemas.openxmlformats.org/drawingml/2006/main">
              <a:ext uri="{FF2B5EF4-FFF2-40B4-BE49-F238E27FC236}">
                <a16:creationId xmlns:a16="http://schemas.microsoft.com/office/drawing/2014/main" id="{A43F9AB4-B08A-4988-9F3C-DAA9708C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71247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结论追踪记录</a:t>
            </a:r>
          </a:p>
        </p:txBody>
      </p:sp>
      <p:sp>
        <p:nvSpPr>
          <p:cNvPr id="10" name="handoff-line2">
            <a:extLst xmlns:a="http://schemas.openxmlformats.org/drawingml/2006/main">
              <a:ext uri="{FF2B5EF4-FFF2-40B4-BE49-F238E27FC236}">
                <a16:creationId xmlns:a16="http://schemas.microsoft.com/office/drawing/2014/main" id="{CB1A7594-ECD2-4453-B44D-9DD4CA70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24275"/>
            <a:ext cx="71247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AI 使用披露摘要</a:t>
            </a:r>
          </a:p>
        </p:txBody>
      </p:sp>
      <p:sp>
        <p:nvSpPr>
          <p:cNvPr id="11" name="handoff-line3">
            <a:extLst xmlns:a="http://schemas.openxmlformats.org/drawingml/2006/main">
              <a:ext uri="{FF2B5EF4-FFF2-40B4-BE49-F238E27FC236}">
                <a16:creationId xmlns:a16="http://schemas.microsoft.com/office/drawing/2014/main" id="{268C67F4-C2A5-4FC8-936B-CDB17468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71247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可定位的证据与运行记录</a:t>
            </a:r>
          </a:p>
        </p:txBody>
      </p:sp>
      <p:sp>
        <p:nvSpPr>
          <p:cNvPr id="12" name="action">
            <a:extLst xmlns:a="http://schemas.openxmlformats.org/drawingml/2006/main">
              <a:ext uri="{FF2B5EF4-FFF2-40B4-BE49-F238E27FC236}">
                <a16:creationId xmlns:a16="http://schemas.microsoft.com/office/drawing/2014/main" id="{187324D8-7B20-45DF-9BC3-112631A73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9051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请确认同伴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能够打开材料。</a:t>
            </a:r>
          </a:p>
        </p:txBody>
      </p:sp>
      <p:sp>
        <p:nvSpPr>
          <p:cNvPr id="13" name="object">
            <a:extLst xmlns:a="http://schemas.openxmlformats.org/drawingml/2006/main">
              <a:ext uri="{FF2B5EF4-FFF2-40B4-BE49-F238E27FC236}">
                <a16:creationId xmlns:a16="http://schemas.microsoft.com/office/drawing/2014/main" id="{007F6658-E4E4-491F-9667-F2A66830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19600"/>
            <a:ext cx="2905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评审对象：论证链</a:t>
            </a:r>
          </a:p>
        </p:txBody>
      </p:sp>
      <p:sp>
        <p:nvSpPr>
          <p:cNvPr id="14" name="source">
            <a:extLst xmlns:a="http://schemas.openxmlformats.org/drawingml/2006/main">
              <a:ext uri="{FF2B5EF4-FFF2-40B4-BE49-F238E27FC236}">
                <a16:creationId xmlns:a16="http://schemas.microsoft.com/office/drawing/2014/main" id="{4EC80649-12DD-4B7E-9DD3-E7D7F907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来源：本课讲义；第 13 课评价报告；课程研究门规范 · 虚构数据不作为研究证据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2026-09-12T11:40:45.5900000Z</dcterms:created>
  <dcterms:modified xsi:type="dcterms:W3CDTF">2026-09-12T11:40:45.5900000Z</dcterms:modified>
</coreProperties>
</file>