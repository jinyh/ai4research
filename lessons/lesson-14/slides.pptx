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4eb7f2b7684528" /><Relationship Type="http://schemas.openxmlformats.org/officeDocument/2006/relationships/extended-properties" Target="/docProps/app.xml" Id="Rbbe20a4ae8b345a4" /><Relationship Type="http://schemas.openxmlformats.org/officeDocument/2006/relationships/officeDocument" Target="/ppt/presentation.xml" Id="R850b1278ec4641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2ad7e88f0d4c46"/>
  </p:sldMasterIdLst>
  <p:notesMasterIdLst>
    <p:notesMasterId xmlns:r="http://schemas.openxmlformats.org/officeDocument/2006/relationships" r:id="R6346d6a751ae4f85"/>
  </p:notesMasterIdLst>
  <p:sldIdLst>
    <p:sldId xmlns:r="http://schemas.openxmlformats.org/officeDocument/2006/relationships" id="256" r:id="R2fed1355e7634ec7"/>
    <p:sldId xmlns:r="http://schemas.openxmlformats.org/officeDocument/2006/relationships" id="257" r:id="R827cac4e8b4d4a70"/>
    <p:sldId xmlns:r="http://schemas.openxmlformats.org/officeDocument/2006/relationships" id="258" r:id="Rd761225431c64bbd"/>
    <p:sldId xmlns:r="http://schemas.openxmlformats.org/officeDocument/2006/relationships" id="259" r:id="Rbf921e34a1564394"/>
    <p:sldId xmlns:r="http://schemas.openxmlformats.org/officeDocument/2006/relationships" id="260" r:id="R1fd98df9acee455c"/>
    <p:sldId xmlns:r="http://schemas.openxmlformats.org/officeDocument/2006/relationships" id="261" r:id="R5e38a6b45117481d"/>
    <p:sldId xmlns:r="http://schemas.openxmlformats.org/officeDocument/2006/relationships" id="262" r:id="Ra0a2dd18ebb94ca4"/>
    <p:sldId xmlns:r="http://schemas.openxmlformats.org/officeDocument/2006/relationships" id="263" r:id="R6b4300bf31fc43be"/>
    <p:sldId xmlns:r="http://schemas.openxmlformats.org/officeDocument/2006/relationships" id="264" r:id="R104c8b9535ee4272"/>
    <p:sldId xmlns:r="http://schemas.openxmlformats.org/officeDocument/2006/relationships" id="265" r:id="R8a0320da8e264e7e"/>
    <p:sldId xmlns:r="http://schemas.openxmlformats.org/officeDocument/2006/relationships" id="266" r:id="Re373cb148a2740fd"/>
    <p:sldId xmlns:r="http://schemas.openxmlformats.org/officeDocument/2006/relationships" id="267" r:id="Rf2c18180f9aa4883"/>
    <p:sldId xmlns:r="http://schemas.openxmlformats.org/officeDocument/2006/relationships" id="268" r:id="R32775b33076644ab"/>
    <p:sldId xmlns:r="http://schemas.openxmlformats.org/officeDocument/2006/relationships" id="269" r:id="Rf46bb3346e8543e1"/>
    <p:sldId xmlns:r="http://schemas.openxmlformats.org/officeDocument/2006/relationships" id="270" r:id="R30940005a7dc418f"/>
    <p:sldId xmlns:r="http://schemas.openxmlformats.org/officeDocument/2006/relationships" id="271" r:id="Rc0d41412928a4d8e"/>
    <p:sldId xmlns:r="http://schemas.openxmlformats.org/officeDocument/2006/relationships" id="272" r:id="R0c3263ec291b4fe4"/>
    <p:sldId xmlns:r="http://schemas.openxmlformats.org/officeDocument/2006/relationships" id="273" r:id="R1bde18719819407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d3fc6d9af64ba5" /><Relationship Type="http://schemas.openxmlformats.org/officeDocument/2006/relationships/slideMaster" Target="/ppt/slideMasters/slideMaster1.xml" Id="R572ad7e88f0d4c46" /><Relationship Type="http://schemas.openxmlformats.org/officeDocument/2006/relationships/notesMaster" Target="/ppt/notesMasters/notesMaster1.xml" Id="R6346d6a751ae4f85" /><Relationship Type="http://schemas.openxmlformats.org/officeDocument/2006/relationships/presProps" Target="/ppt/presProps.xml" Id="Rc8f36b5bd67947f0" /><Relationship Type="http://schemas.openxmlformats.org/officeDocument/2006/relationships/viewProps" Target="/ppt/viewProps.xml" Id="R2a5898802a654666" /><Relationship Type="http://schemas.openxmlformats.org/officeDocument/2006/relationships/tableStyles" Target="/ppt/tableStyles.xml" Id="Rdeafaffc83764b29" /><Relationship Type="http://schemas.openxmlformats.org/officeDocument/2006/relationships/slide" Target="/ppt/slides/slide1.xml" Id="R2fed1355e7634ec7" /><Relationship Type="http://schemas.openxmlformats.org/officeDocument/2006/relationships/slide" Target="/ppt/slides/slide2.xml" Id="R827cac4e8b4d4a70" /><Relationship Type="http://schemas.openxmlformats.org/officeDocument/2006/relationships/slide" Target="/ppt/slides/slide3.xml" Id="Rd761225431c64bbd" /><Relationship Type="http://schemas.openxmlformats.org/officeDocument/2006/relationships/slide" Target="/ppt/slides/slide4.xml" Id="Rbf921e34a1564394" /><Relationship Type="http://schemas.openxmlformats.org/officeDocument/2006/relationships/slide" Target="/ppt/slides/slide5.xml" Id="R1fd98df9acee455c" /><Relationship Type="http://schemas.openxmlformats.org/officeDocument/2006/relationships/slide" Target="/ppt/slides/slide6.xml" Id="R5e38a6b45117481d" /><Relationship Type="http://schemas.openxmlformats.org/officeDocument/2006/relationships/slide" Target="/ppt/slides/slide7.xml" Id="Ra0a2dd18ebb94ca4" /><Relationship Type="http://schemas.openxmlformats.org/officeDocument/2006/relationships/slide" Target="/ppt/slides/slide8.xml" Id="R6b4300bf31fc43be" /><Relationship Type="http://schemas.openxmlformats.org/officeDocument/2006/relationships/slide" Target="/ppt/slides/slide9.xml" Id="R104c8b9535ee4272" /><Relationship Type="http://schemas.openxmlformats.org/officeDocument/2006/relationships/slide" Target="/ppt/slides/slide10.xml" Id="R8a0320da8e264e7e" /><Relationship Type="http://schemas.openxmlformats.org/officeDocument/2006/relationships/slide" Target="/ppt/slides/slide11.xml" Id="Re373cb148a2740fd" /><Relationship Type="http://schemas.openxmlformats.org/officeDocument/2006/relationships/slide" Target="/ppt/slides/slide12.xml" Id="Rf2c18180f9aa4883" /><Relationship Type="http://schemas.openxmlformats.org/officeDocument/2006/relationships/slide" Target="/ppt/slides/slide13.xml" Id="R32775b33076644ab" /><Relationship Type="http://schemas.openxmlformats.org/officeDocument/2006/relationships/slide" Target="/ppt/slides/slide14.xml" Id="Rf46bb3346e8543e1" /><Relationship Type="http://schemas.openxmlformats.org/officeDocument/2006/relationships/slide" Target="/ppt/slides/slide15.xml" Id="R30940005a7dc418f" /><Relationship Type="http://schemas.openxmlformats.org/officeDocument/2006/relationships/slide" Target="/ppt/slides/slide16.xml" Id="Rc0d41412928a4d8e" /><Relationship Type="http://schemas.openxmlformats.org/officeDocument/2006/relationships/slide" Target="/ppt/slides/slide17.xml" Id="R0c3263ec291b4fe4" /><Relationship Type="http://schemas.openxmlformats.org/officeDocument/2006/relationships/slide" Target="/ppt/slides/slide18.xml" Id="R1bde1871981940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13a6fd247d43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119f0b19324e40" /><Relationship Type="http://schemas.openxmlformats.org/officeDocument/2006/relationships/notesMaster" Target="/ppt/notesMasters/notesMaster1.xml" Id="Ra26004ab14d14f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8f21a1e8e242cb" /><Relationship Type="http://schemas.openxmlformats.org/officeDocument/2006/relationships/notesMaster" Target="/ppt/notesMasters/notesMaster1.xml" Id="Rb78d639afe7545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58345550d6465d" /><Relationship Type="http://schemas.openxmlformats.org/officeDocument/2006/relationships/notesMaster" Target="/ppt/notesMasters/notesMaster1.xml" Id="R27df1edf36aa45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321fa0b6c14a41" /><Relationship Type="http://schemas.openxmlformats.org/officeDocument/2006/relationships/notesMaster" Target="/ppt/notesMasters/notesMaster1.xml" Id="R25b7fb0c9f424f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c0190d92a6469a" /><Relationship Type="http://schemas.openxmlformats.org/officeDocument/2006/relationships/notesMaster" Target="/ppt/notesMasters/notesMaster1.xml" Id="Re5ab712eac3c4f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772b31b57247d0" /><Relationship Type="http://schemas.openxmlformats.org/officeDocument/2006/relationships/notesMaster" Target="/ppt/notesMasters/notesMaster1.xml" Id="Rca32607e6b76474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24fb00a64449f8" /><Relationship Type="http://schemas.openxmlformats.org/officeDocument/2006/relationships/notesMaster" Target="/ppt/notesMasters/notesMaster1.xml" Id="R2b7f9bdda8074a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c028ddd0c94be5" /><Relationship Type="http://schemas.openxmlformats.org/officeDocument/2006/relationships/notesMaster" Target="/ppt/notesMasters/notesMaster1.xml" Id="R05fc517916d241b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34c52709cb4893" /><Relationship Type="http://schemas.openxmlformats.org/officeDocument/2006/relationships/notesMaster" Target="/ppt/notesMasters/notesMaster1.xml" Id="Rb4ee9fa15ef4444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9139a742f95451d" /><Relationship Type="http://schemas.openxmlformats.org/officeDocument/2006/relationships/notesMaster" Target="/ppt/notesMasters/notesMaster1.xml" Id="Rad97e7239177409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86d29bd36ce44bc" /><Relationship Type="http://schemas.openxmlformats.org/officeDocument/2006/relationships/notesMaster" Target="/ppt/notesMasters/notesMaster1.xml" Id="Rb0d49fe0f919447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73cd173fe184d13" /><Relationship Type="http://schemas.openxmlformats.org/officeDocument/2006/relationships/notesMaster" Target="/ppt/notesMasters/notesMaster1.xml" Id="Rfe3e3d8e27b0400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cc6b810308140c9" /><Relationship Type="http://schemas.openxmlformats.org/officeDocument/2006/relationships/notesMaster" Target="/ppt/notesMasters/notesMaster1.xml" Id="R9ae8d1699ba44a0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3c5b57bad1e411c" /><Relationship Type="http://schemas.openxmlformats.org/officeDocument/2006/relationships/notesMaster" Target="/ppt/notesMasters/notesMaster1.xml" Id="Rbb0adfdd02df4f3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146abbd2d954935" /><Relationship Type="http://schemas.openxmlformats.org/officeDocument/2006/relationships/notesMaster" Target="/ppt/notesMasters/notesMaster1.xml" Id="R8e3a09f8699542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d72fa19bc4a4d8d" /><Relationship Type="http://schemas.openxmlformats.org/officeDocument/2006/relationships/notesMaster" Target="/ppt/notesMasters/notesMaster1.xml" Id="R9b443eb5aa184cc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48b2d89b64a4a8f" /><Relationship Type="http://schemas.openxmlformats.org/officeDocument/2006/relationships/notesMaster" Target="/ppt/notesMasters/notesMaster1.xml" Id="R372ec151ac28438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a69ff0b411e4a84" /><Relationship Type="http://schemas.openxmlformats.org/officeDocument/2006/relationships/notesMaster" Target="/ppt/notesMasters/notesMaster1.xml" Id="R72cb1ed8abb643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本讲聚焦“论文式表达与回写”。封面只保留正式课名，课堂问题从下一页展开。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/Users/bright/Projects/courses/graduate/lessons/lesson-14/slides.md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快问：你的验证门材料里，哪一段最像给检查者看的内部材料？只听回答，不评价。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明确边界：本课不追求论文终稿，只要求跑通一条可复盘链路并留下四类可检查产出。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让学生用自己的一个结论写四行。如果写不出证据 ID，说明仍停留在主张层。画面中的案例数字是虚构教学示例，只演示追踪动作。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让学生对照五行映射，标出自己的论文各段缺哪个回写来源。Whitesides 的教学建议用于说明先组织 outline、图表与数据，而非把内部表格直接粘贴成论文。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https://doi.org/10.1002/adma.200400767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课程不要求逐句套公式，只要求检查结果段是否给读者建立信息预期。示例句用于教学说明，不是经验数据。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https://www.americanscientist.org/article/the-science-of-scientific-writing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让学生先写 3–5 条贡献，每条标状态并绑定证据。Peyton Jones 的材料是写作教学案例，不作为研究结论证据。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/Users/bright/Projects/courses/graduate/references/library/research-method/how to write/How to write a great research paper.pdf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回写不是抄数字。逐行检查证据项、实验 ID 与上游研究判断。C3 缺直接证据，必须保持“仍不能判断”；案例为虚构教学示例。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右侧 2 篇图表论文与 C2 是课程虚构教学案例，非真实实验。失败和冲突证据不得选择性删除，也不能事后改评价口径。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case and counts.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本页是课程虚构教学工件，exp-007 非真实运行 ID。它作为可批注的报告→论文对象，要求学生逐句核对结果、根因与边界。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report-to-paper trace.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/Users/bright/Projects/courses/graduate/lessons/lesson-13/evaluation-report-template.md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若没有发现明显错误，记录检查过的风险点与核验依据；不虚构错误，也不写“AI 输出全部正确”。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检查论文中的每条引用：证据角色是什么？是否呈现反例？AI 推荐的文献是否逐项回正式来源核验？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重点演示第 4 步：把“降低”写成“消除”、把“限定条件遗漏率”写成“引用幻觉”、把“初步证据”写成“研究证明”，都属于证据断裂。案例数值、ID 与错误数量均为虚构教学示例。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 25 分钟。预演目的不是全部通过，而是发现缺口并标注后续课次。十项逐字对应 assignments.md Checkpoint 4。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每人 3–5 分钟：作者 45 秒说明贡献、追踪表与披露段，同伴按条件 6–10 逐项检查。重点检查 stable 状态、失败记录、伦理与 AI 使用披露、工件状态一致性，以及第 16 课展示、复现与复盘待办。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回收本讲核心概念及其关系。本页不新增任务；请学生用边界句检查自己的项目工件。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/Users/bright/Projects/courses/graduate/lessons/lesson-14/slides.md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回扣目标：初版已经形成可继续检查的起点，不等于终稿或正式提交。第 15 课在本课产出上做同行评审与修改。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精读卡继续保存在个人项目 notes/，不逐周正式提交。本课产出直接带入第 15 课同行评审。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>- https://doi.org/10.1002/adma.200400767</a:t>
            </a:r>
          </a:p>
          <a:p xmlns:a="http://schemas.openxmlformats.org/drawingml/2006/main">
            <a:r>
              <a:t>- https://www.americanscientist.org/article/the-science-of-scientific-writing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fd14fe98de4115" /><Relationship Type="http://schemas.openxmlformats.org/officeDocument/2006/relationships/image" Target="/ppt/media/image.png" Id="R802ff53b7a9e4172" /><Relationship Type="http://schemas.openxmlformats.org/officeDocument/2006/relationships/image" Target="/ppt/media/image2.png" Id="R5d40b526bd5b4a0c" /><Relationship Type="http://schemas.openxmlformats.org/officeDocument/2006/relationships/image" Target="/ppt/media/image3.png" Id="R8e46443cf5624366" /><Relationship Type="http://schemas.openxmlformats.org/officeDocument/2006/relationships/image" Target="/ppt/media/image4.png" Id="R4b1a1bc6a3ad4d8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b772843340496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4dc8794b1e4f84" /><Relationship Type="http://schemas.openxmlformats.org/officeDocument/2006/relationships/image" Target="/ppt/media/image2.png" Id="Re198639871d445eb" /><Relationship Type="http://schemas.openxmlformats.org/officeDocument/2006/relationships/image" Target="/ppt/media/image5.png" Id="R624c2de503b348a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695f17947a4515" /><Relationship Type="http://schemas.openxmlformats.org/officeDocument/2006/relationships/image" Target="/ppt/media/image.png" Id="R80f53b8d78564522" /><Relationship Type="http://schemas.openxmlformats.org/officeDocument/2006/relationships/image" Target="/ppt/media/image3.png" Id="R47b56d867268474d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2ff53b7a9e4172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40b526bd5b4a0c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e46443cf5624366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1a1bc6a3ad4d8a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98639871d445eb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4c2de503b348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f53b8d78564522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b56d867268474d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7d297dec2b4455" /><Relationship Type="http://schemas.openxmlformats.org/officeDocument/2006/relationships/slideLayout" Target="/ppt/slideLayouts/slideLayout1.xml" Id="R376714900bae4a1d" /><Relationship Type="http://schemas.openxmlformats.org/officeDocument/2006/relationships/slideLayout" Target="/ppt/slideLayouts/slideLayout2.xml" Id="Rc5e22cc204574a8c" /><Relationship Type="http://schemas.openxmlformats.org/officeDocument/2006/relationships/slideLayout" Target="/ppt/slideLayouts/slideLayout3.xml" Id="R59419309d3e04e65" /><Relationship Type="http://schemas.openxmlformats.org/officeDocument/2006/relationships/slideLayout" Target="/ppt/slideLayouts/slideLayout4.xml" Id="R6e791f04fa2b473c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6714900bae4a1d"/>
    <p:sldLayoutId xmlns:r="http://schemas.openxmlformats.org/officeDocument/2006/relationships" id="2147483650" r:id="Rc5e22cc204574a8c"/>
    <p:sldLayoutId xmlns:r="http://schemas.openxmlformats.org/officeDocument/2006/relationships" id="2147483651" r:id="R59419309d3e04e65"/>
    <p:sldLayoutId xmlns:r="http://schemas.openxmlformats.org/officeDocument/2006/relationships" id="2147483652" r:id="R6e791f04fa2b473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28d14457a466f" /><Relationship Type="http://schemas.openxmlformats.org/officeDocument/2006/relationships/notesSlide" Target="/ppt/notesSlides/notesSlide1.xml" Id="Rf0cf9c74ef714b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716b1d48b9744fb" /><Relationship Type="http://schemas.openxmlformats.org/officeDocument/2006/relationships/notesSlide" Target="/ppt/notesSlides/notesSlide2.xml" Id="R12f68a22cc854c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7e942e8f5444b47" /><Relationship Type="http://schemas.openxmlformats.org/officeDocument/2006/relationships/notesSlide" Target="/ppt/notesSlides/notesSlide3.xml" Id="R4601b5dd8c7f4e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dddf9102ad3481d" /><Relationship Type="http://schemas.openxmlformats.org/officeDocument/2006/relationships/notesSlide" Target="/ppt/notesSlides/notesSlide4.xml" Id="R713ca7c27f7949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763c5d56b004f7f" /><Relationship Type="http://schemas.openxmlformats.org/officeDocument/2006/relationships/notesSlide" Target="/ppt/notesSlides/notesSlide5.xml" Id="R722a66aaccaf43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0fbb8a6ecd44bb6" /><Relationship Type="http://schemas.openxmlformats.org/officeDocument/2006/relationships/notesSlide" Target="/ppt/notesSlides/notesSlide6.xml" Id="Reeec17addff747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4bcc65ac5a04d79" /><Relationship Type="http://schemas.openxmlformats.org/officeDocument/2006/relationships/notesSlide" Target="/ppt/notesSlides/notesSlide7.xml" Id="Rc6a542c142db49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47b88389298439f" /><Relationship Type="http://schemas.openxmlformats.org/officeDocument/2006/relationships/notesSlide" Target="/ppt/notesSlides/notesSlide8.xml" Id="R8cfc8e9df1d8498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46b83005bf3403f" /><Relationship Type="http://schemas.openxmlformats.org/officeDocument/2006/relationships/notesSlide" Target="/ppt/notesSlides/notesSlide9.xml" Id="R40384350dc1546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dccb468fa4747c6" /><Relationship Type="http://schemas.openxmlformats.org/officeDocument/2006/relationships/notesSlide" Target="/ppt/notesSlides/notesSlide10.xml" Id="Rc7b6dd04130c4c1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095448c55474c0b" /><Relationship Type="http://schemas.openxmlformats.org/officeDocument/2006/relationships/notesSlide" Target="/ppt/notesSlides/notesSlide11.xml" Id="Rcd61b2b403094df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bb8402ba4874474" /><Relationship Type="http://schemas.openxmlformats.org/officeDocument/2006/relationships/notesSlide" Target="/ppt/notesSlides/notesSlide12.xml" Id="R22c04693995d477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d2bc53691704669" /><Relationship Type="http://schemas.openxmlformats.org/officeDocument/2006/relationships/notesSlide" Target="/ppt/notesSlides/notesSlide13.xml" Id="R32c781668ded430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c40590778847f2" /><Relationship Type="http://schemas.openxmlformats.org/officeDocument/2006/relationships/notesSlide" Target="/ppt/notesSlides/notesSlide14.xml" Id="R12643e41f43e47d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4071cde37aa469c" /><Relationship Type="http://schemas.openxmlformats.org/officeDocument/2006/relationships/notesSlide" Target="/ppt/notesSlides/notesSlide15.xml" Id="R419d68e1cd254bc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0351895859b4823" /><Relationship Type="http://schemas.openxmlformats.org/officeDocument/2006/relationships/notesSlide" Target="/ppt/notesSlides/notesSlide16.xml" Id="R4e00cf77d6a6467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7ccac113bd448f4" /><Relationship Type="http://schemas.openxmlformats.org/officeDocument/2006/relationships/notesSlide" Target="/ppt/notesSlides/notesSlide17.xml" Id="Rf3a5907bfdb640f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e9b8550b0f84f2c" /><Relationship Type="http://schemas.openxmlformats.org/officeDocument/2006/relationships/notesSlide" Target="/ppt/notesSlides/notesSlide18.xml" Id="R2c1e3d4ef70045d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第14讲 论文式表达与回写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13 课之后，论文还缺什么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left-head">
            <a:extLst xmlns:a="http://schemas.openxmlformats.org/drawingml/2006/main">
              <a:ext uri="{FF2B5EF4-FFF2-40B4-BE49-F238E27FC236}">
                <a16:creationId xmlns:a16="http://schemas.microsoft.com/office/drawing/2014/main" id="{09F443BD-68E6-422B-B9CD-0A77E81A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0125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13 课已经有</a:t>
            </a:r>
          </a:p>
        </p:txBody>
      </p:sp>
      <p:sp>
        <p:nvSpPr>
          <p:cNvPr id="7" name="left-0">
            <a:extLst xmlns:a="http://schemas.openxmlformats.org/drawingml/2006/main">
              <a:ext uri="{FF2B5EF4-FFF2-40B4-BE49-F238E27FC236}">
                <a16:creationId xmlns:a16="http://schemas.microsoft.com/office/drawing/2014/main" id="{045F7A94-1F10-4896-AABE-429FF5BA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评价报告与实验结果</a:t>
            </a:r>
          </a:p>
        </p:txBody>
      </p:sp>
      <p:sp>
        <p:nvSpPr>
          <p:cNvPr id="8" name="left-1">
            <a:extLst xmlns:a="http://schemas.openxmlformats.org/drawingml/2006/main">
              <a:ext uri="{FF2B5EF4-FFF2-40B4-BE49-F238E27FC236}">
                <a16:creationId xmlns:a16="http://schemas.microsoft.com/office/drawing/2014/main" id="{4CA61F8A-DB04-446C-B7F9-99C13AF4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证据充分性与有效性威胁</a:t>
            </a:r>
          </a:p>
        </p:txBody>
      </p:sp>
      <p:sp>
        <p:nvSpPr>
          <p:cNvPr id="9" name="left-2">
            <a:extLst xmlns:a="http://schemas.openxmlformats.org/drawingml/2006/main">
              <a:ext uri="{FF2B5EF4-FFF2-40B4-BE49-F238E27FC236}">
                <a16:creationId xmlns:a16="http://schemas.microsoft.com/office/drawing/2014/main" id="{C9C29780-E93E-4D5F-925A-9C036222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8135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失败审计与人工审核</a:t>
            </a:r>
          </a:p>
        </p:txBody>
      </p:sp>
      <p:sp>
        <p:nvSpPr>
          <p:cNvPr id="10" name="left-3">
            <a:extLst xmlns:a="http://schemas.openxmlformats.org/drawingml/2006/main">
              <a:ext uri="{FF2B5EF4-FFF2-40B4-BE49-F238E27FC236}">
                <a16:creationId xmlns:a16="http://schemas.microsoft.com/office/drawing/2014/main" id="{55AA45AE-B477-41C4-8C61-62496D4C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6240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第 1–13 课 AI 使用记录</a:t>
            </a:r>
          </a:p>
        </p:txBody>
      </p:sp>
      <p:sp>
        <p:nvSpPr>
          <p:cNvPr id="11" name="neq">
            <a:extLst xmlns:a="http://schemas.openxmlformats.org/drawingml/2006/main">
              <a:ext uri="{FF2B5EF4-FFF2-40B4-BE49-F238E27FC236}">
                <a16:creationId xmlns:a16="http://schemas.microsoft.com/office/drawing/2014/main" id="{6525A981-7764-42F7-8373-102D1A5A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428875"/>
            <a:ext cx="990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C8161E"/>
                </a:solidFill>
              </a:defRPr>
            </a:pPr>
            <a:r>
              <a:rPr sz="36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</p:txBody>
      </p:sp>
      <p:sp>
        <p:nvSpPr>
          <p:cNvPr id="12" name="right-head">
            <a:extLst xmlns:a="http://schemas.openxmlformats.org/drawingml/2006/main">
              <a:ext uri="{FF2B5EF4-FFF2-40B4-BE49-F238E27FC236}">
                <a16:creationId xmlns:a16="http://schemas.microsoft.com/office/drawing/2014/main" id="{54A9D91B-8D24-45B7-BAAF-A2CFB181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000125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面向同行的论文还缺</a:t>
            </a:r>
          </a:p>
        </p:txBody>
      </p:sp>
      <p:sp>
        <p:nvSpPr>
          <p:cNvPr id="13" name="right-0">
            <a:extLst xmlns:a="http://schemas.openxmlformats.org/drawingml/2006/main">
              <a:ext uri="{FF2B5EF4-FFF2-40B4-BE49-F238E27FC236}">
                <a16:creationId xmlns:a16="http://schemas.microsoft.com/office/drawing/2014/main" id="{9EFF9BD3-5F43-48D4-87AF-D52CF26C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1925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IMRaD 可追溯叙事</a:t>
            </a:r>
          </a:p>
        </p:txBody>
      </p:sp>
      <p:sp>
        <p:nvSpPr>
          <p:cNvPr id="14" name="right-1">
            <a:extLst xmlns:a="http://schemas.openxmlformats.org/drawingml/2006/main">
              <a:ext uri="{FF2B5EF4-FFF2-40B4-BE49-F238E27FC236}">
                <a16:creationId xmlns:a16="http://schemas.microsoft.com/office/drawing/2014/main" id="{13BB6E25-EFEF-49EF-9D2B-7DB4D4CE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030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结论追踪表</a:t>
            </a:r>
          </a:p>
        </p:txBody>
      </p:sp>
      <p:sp>
        <p:nvSpPr>
          <p:cNvPr id="15" name="right-2">
            <a:extLst xmlns:a="http://schemas.openxmlformats.org/drawingml/2006/main">
              <a:ext uri="{FF2B5EF4-FFF2-40B4-BE49-F238E27FC236}">
                <a16:creationId xmlns:a16="http://schemas.microsoft.com/office/drawing/2014/main" id="{102B7A87-068B-4912-B65C-4143087C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18135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七字段 AI 使用披露段</a:t>
            </a:r>
          </a:p>
        </p:txBody>
      </p:sp>
      <p:sp>
        <p:nvSpPr>
          <p:cNvPr id="16" name="right-3">
            <a:extLst xmlns:a="http://schemas.openxmlformats.org/drawingml/2006/main">
              <a:ext uri="{FF2B5EF4-FFF2-40B4-BE49-F238E27FC236}">
                <a16:creationId xmlns:a16="http://schemas.microsoft.com/office/drawing/2014/main" id="{D9FD0370-04A4-4D5B-A351-35FC4A84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96240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Checkpoint 4 预演</a:t>
            </a:r>
          </a:p>
        </p:txBody>
      </p:sp>
      <p:sp>
        <p:nvSpPr>
          <p:cNvPr id="17" name="out">
            <a:extLst xmlns:a="http://schemas.openxmlformats.org/drawingml/2006/main">
              <a:ext uri="{FF2B5EF4-FFF2-40B4-BE49-F238E27FC236}">
                <a16:creationId xmlns:a16="http://schemas.microsoft.com/office/drawing/2014/main" id="{32349A9C-1AD6-4BF2-BD12-77DF7A10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8305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本课动作：把内部材料回写成论文式短文初版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ln-0">
            <a:extLst xmlns:a="http://schemas.openxmlformats.org/drawingml/2006/main">
              <a:ext uri="{FF2B5EF4-FFF2-40B4-BE49-F238E27FC236}">
                <a16:creationId xmlns:a16="http://schemas.microsoft.com/office/drawing/2014/main" id="{93DF5BD7-E533-4886-9C18-EE9E0AB9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19300" y="17526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n-0">
            <a:extLst xmlns:a="http://schemas.openxmlformats.org/drawingml/2006/main">
              <a:ext uri="{FF2B5EF4-FFF2-40B4-BE49-F238E27FC236}">
                <a16:creationId xmlns:a16="http://schemas.microsoft.com/office/drawing/2014/main" id="{43689930-F69A-4A61-85F4-2DACC86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859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step-0">
            <a:extLst xmlns:a="http://schemas.openxmlformats.org/drawingml/2006/main">
              <a:ext uri="{FF2B5EF4-FFF2-40B4-BE49-F238E27FC236}">
                <a16:creationId xmlns:a16="http://schemas.microsoft.com/office/drawing/2014/main" id="{36CBD818-F066-47C5-83F2-B48E4175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46685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论证单元</a:t>
            </a:r>
          </a:p>
        </p:txBody>
      </p:sp>
      <p:sp>
        <p:nvSpPr>
          <p:cNvPr id="9" name="ln-1">
            <a:extLst xmlns:a="http://schemas.openxmlformats.org/drawingml/2006/main">
              <a:ext uri="{FF2B5EF4-FFF2-40B4-BE49-F238E27FC236}">
                <a16:creationId xmlns:a16="http://schemas.microsoft.com/office/drawing/2014/main" id="{D5EA0EAB-57B7-4148-9315-370B5F43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17526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n-1">
            <a:extLst xmlns:a="http://schemas.openxmlformats.org/drawingml/2006/main">
              <a:ext uri="{FF2B5EF4-FFF2-40B4-BE49-F238E27FC236}">
                <a16:creationId xmlns:a16="http://schemas.microsoft.com/office/drawing/2014/main" id="{697982EC-1F01-4982-B511-C8701CE7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4859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step-1">
            <a:extLst xmlns:a="http://schemas.openxmlformats.org/drawingml/2006/main">
              <a:ext uri="{FF2B5EF4-FFF2-40B4-BE49-F238E27FC236}">
                <a16:creationId xmlns:a16="http://schemas.microsoft.com/office/drawing/2014/main" id="{A158C71C-35B6-4A3C-B451-6A72BC1E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46685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IMRaD 回写</a:t>
            </a:r>
          </a:p>
        </p:txBody>
      </p:sp>
      <p:sp>
        <p:nvSpPr>
          <p:cNvPr id="12" name="ln-2">
            <a:extLst xmlns:a="http://schemas.openxmlformats.org/drawingml/2006/main">
              <a:ext uri="{FF2B5EF4-FFF2-40B4-BE49-F238E27FC236}">
                <a16:creationId xmlns:a16="http://schemas.microsoft.com/office/drawing/2014/main" id="{4D06B7CE-F8F3-47AF-9CF4-8C4BC385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0300" y="17526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n-2">
            <a:extLst xmlns:a="http://schemas.openxmlformats.org/drawingml/2006/main">
              <a:ext uri="{FF2B5EF4-FFF2-40B4-BE49-F238E27FC236}">
                <a16:creationId xmlns:a16="http://schemas.microsoft.com/office/drawing/2014/main" id="{F4D0377E-FA9B-4800-A1E4-8EAC6734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4859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step-2">
            <a:extLst xmlns:a="http://schemas.openxmlformats.org/drawingml/2006/main">
              <a:ext uri="{FF2B5EF4-FFF2-40B4-BE49-F238E27FC236}">
                <a16:creationId xmlns:a16="http://schemas.microsoft.com/office/drawing/2014/main" id="{265582E8-0838-41B0-86C4-0F1A5C7E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46685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结论追踪</a:t>
            </a:r>
          </a:p>
        </p:txBody>
      </p:sp>
      <p:sp>
        <p:nvSpPr>
          <p:cNvPr id="15" name="ln-3">
            <a:extLst xmlns:a="http://schemas.openxmlformats.org/drawingml/2006/main">
              <a:ext uri="{FF2B5EF4-FFF2-40B4-BE49-F238E27FC236}">
                <a16:creationId xmlns:a16="http://schemas.microsoft.com/office/drawing/2014/main" id="{BD3DB139-83DF-4EA9-8D57-26F0678B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17526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n-3">
            <a:extLst xmlns:a="http://schemas.openxmlformats.org/drawingml/2006/main">
              <a:ext uri="{FF2B5EF4-FFF2-40B4-BE49-F238E27FC236}">
                <a16:creationId xmlns:a16="http://schemas.microsoft.com/office/drawing/2014/main" id="{411E1637-CD30-4DDB-9D76-A94E0CA03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4859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step-3">
            <a:extLst xmlns:a="http://schemas.openxmlformats.org/drawingml/2006/main">
              <a:ext uri="{FF2B5EF4-FFF2-40B4-BE49-F238E27FC236}">
                <a16:creationId xmlns:a16="http://schemas.microsoft.com/office/drawing/2014/main" id="{C63F20EE-1366-47D7-AE31-40A0E455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46685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披露</a:t>
            </a:r>
          </a:p>
        </p:txBody>
      </p:sp>
      <p:sp>
        <p:nvSpPr>
          <p:cNvPr id="18" name="n-4">
            <a:extLst xmlns:a="http://schemas.openxmlformats.org/drawingml/2006/main">
              <a:ext uri="{FF2B5EF4-FFF2-40B4-BE49-F238E27FC236}">
                <a16:creationId xmlns:a16="http://schemas.microsoft.com/office/drawing/2014/main" id="{B140DCFB-829B-4726-9EBC-18477C89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4859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step-4">
            <a:extLst xmlns:a="http://schemas.openxmlformats.org/drawingml/2006/main">
              <a:ext uri="{FF2B5EF4-FFF2-40B4-BE49-F238E27FC236}">
                <a16:creationId xmlns:a16="http://schemas.microsoft.com/office/drawing/2014/main" id="{BE23BC0E-C6E7-42BD-B5B5-9C209564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46685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门预演</a:t>
            </a:r>
          </a:p>
        </p:txBody>
      </p:sp>
      <p:sp>
        <p:nvSpPr>
          <p:cNvPr id="20" name="out-title">
            <a:extLst xmlns:a="http://schemas.openxmlformats.org/drawingml/2006/main">
              <a:ext uri="{FF2B5EF4-FFF2-40B4-BE49-F238E27FC236}">
                <a16:creationId xmlns:a16="http://schemas.microsoft.com/office/drawing/2014/main" id="{13B3873E-A41E-4BCA-B305-794381C4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课堂可检查产出</a:t>
            </a:r>
          </a:p>
        </p:txBody>
      </p:sp>
      <p:sp>
        <p:nvSpPr>
          <p:cNvPr id="21" name="oh-0">
            <a:extLst xmlns:a="http://schemas.openxmlformats.org/drawingml/2006/main">
              <a:ext uri="{FF2B5EF4-FFF2-40B4-BE49-F238E27FC236}">
                <a16:creationId xmlns:a16="http://schemas.microsoft.com/office/drawing/2014/main" id="{56393D57-22AA-4B12-97F3-BCAC32EF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IMRaD 骨架</a:t>
            </a:r>
          </a:p>
        </p:txBody>
      </p:sp>
      <p:sp>
        <p:nvSpPr>
          <p:cNvPr id="22" name="od-0">
            <a:extLst xmlns:a="http://schemas.openxmlformats.org/drawingml/2006/main">
              <a:ext uri="{FF2B5EF4-FFF2-40B4-BE49-F238E27FC236}">
                <a16:creationId xmlns:a16="http://schemas.microsoft.com/office/drawing/2014/main" id="{860FA27A-FB3A-4319-AC8F-E32D3B3E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7190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每段有回写来源</a:t>
            </a:r>
          </a:p>
        </p:txBody>
      </p:sp>
      <p:sp>
        <p:nvSpPr>
          <p:cNvPr id="23" name="oh-1">
            <a:extLst xmlns:a="http://schemas.openxmlformats.org/drawingml/2006/main">
              <a:ext uri="{FF2B5EF4-FFF2-40B4-BE49-F238E27FC236}">
                <a16:creationId xmlns:a16="http://schemas.microsoft.com/office/drawing/2014/main" id="{237ED0D7-1B54-4C84-8825-EB8FD25E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76600"/>
            <a:ext cx="266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贡献列表</a:t>
            </a:r>
          </a:p>
        </p:txBody>
      </p:sp>
      <p:sp>
        <p:nvSpPr>
          <p:cNvPr id="24" name="od-1">
            <a:extLst xmlns:a="http://schemas.openxmlformats.org/drawingml/2006/main">
              <a:ext uri="{FF2B5EF4-FFF2-40B4-BE49-F238E27FC236}">
                <a16:creationId xmlns:a16="http://schemas.microsoft.com/office/drawing/2014/main" id="{1D430D40-D006-4F68-B24D-DA2B726D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77190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3–5 条；含状态</a:t>
            </a:r>
          </a:p>
        </p:txBody>
      </p:sp>
      <p:sp>
        <p:nvSpPr>
          <p:cNvPr id="25" name="oh-2">
            <a:extLst xmlns:a="http://schemas.openxmlformats.org/drawingml/2006/main">
              <a:ext uri="{FF2B5EF4-FFF2-40B4-BE49-F238E27FC236}">
                <a16:creationId xmlns:a16="http://schemas.microsoft.com/office/drawing/2014/main" id="{42E29B28-67C9-47EA-8B9B-C04EC091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76600"/>
            <a:ext cx="266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结论追踪表</a:t>
            </a:r>
          </a:p>
        </p:txBody>
      </p:sp>
      <p:sp>
        <p:nvSpPr>
          <p:cNvPr id="26" name="od-2">
            <a:extLst xmlns:a="http://schemas.openxmlformats.org/drawingml/2006/main">
              <a:ext uri="{FF2B5EF4-FFF2-40B4-BE49-F238E27FC236}">
                <a16:creationId xmlns:a16="http://schemas.microsoft.com/office/drawing/2014/main" id="{BD70AFAC-AFB9-4BBA-B445-A04C7589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7190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 3 行；三字段</a:t>
            </a:r>
          </a:p>
        </p:txBody>
      </p:sp>
      <p:sp>
        <p:nvSpPr>
          <p:cNvPr id="27" name="oh-3">
            <a:extLst xmlns:a="http://schemas.openxmlformats.org/drawingml/2006/main">
              <a:ext uri="{FF2B5EF4-FFF2-40B4-BE49-F238E27FC236}">
                <a16:creationId xmlns:a16="http://schemas.microsoft.com/office/drawing/2014/main" id="{6021FF60-5B9B-436D-B723-503E3820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76600"/>
            <a:ext cx="266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使用披露</a:t>
            </a:r>
          </a:p>
        </p:txBody>
      </p:sp>
      <p:sp>
        <p:nvSpPr>
          <p:cNvPr id="28" name="od-3">
            <a:extLst xmlns:a="http://schemas.openxmlformats.org/drawingml/2006/main">
              <a:ext uri="{FF2B5EF4-FFF2-40B4-BE49-F238E27FC236}">
                <a16:creationId xmlns:a16="http://schemas.microsoft.com/office/drawing/2014/main" id="{3279A343-522B-4AE3-8453-66FC792A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77190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七字段；含失败</a:t>
            </a:r>
          </a:p>
        </p:txBody>
      </p:sp>
      <p:sp>
        <p:nvSpPr>
          <p:cNvPr id="29" name="bottom">
            <a:extLst xmlns:a="http://schemas.openxmlformats.org/drawingml/2006/main">
              <a:ext uri="{FF2B5EF4-FFF2-40B4-BE49-F238E27FC236}">
                <a16:creationId xmlns:a16="http://schemas.microsoft.com/office/drawing/2014/main" id="{34C8C8CC-B5D7-41B7-8DFB-B2EF133C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067300"/>
            <a:ext cx="784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本课非提交门｜初版留作第 15 课同行评审输入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IMRaD 不是填表，是论证组织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teaching-label">
            <a:extLst xmlns:a="http://schemas.openxmlformats.org/drawingml/2006/main">
              <a:ext uri="{FF2B5EF4-FFF2-40B4-BE49-F238E27FC236}">
                <a16:creationId xmlns:a16="http://schemas.microsoft.com/office/drawing/2014/main" id="{3AA26163-14DB-4902-BB9D-53533656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00100"/>
            <a:ext cx="39433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虚构教学示例｜非真实实验</a:t>
            </a:r>
          </a:p>
        </p:txBody>
      </p:sp>
      <p:sp>
        <p:nvSpPr>
          <p:cNvPr id="7" name="arrow-0">
            <a:extLst xmlns:a="http://schemas.openxmlformats.org/drawingml/2006/main">
              <a:ext uri="{FF2B5EF4-FFF2-40B4-BE49-F238E27FC236}">
                <a16:creationId xmlns:a16="http://schemas.microsoft.com/office/drawing/2014/main" id="{1D4EE972-3971-4B0F-A7DD-5661EAE86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76550" y="25336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num-0">
            <a:extLst xmlns:a="http://schemas.openxmlformats.org/drawingml/2006/main">
              <a:ext uri="{FF2B5EF4-FFF2-40B4-BE49-F238E27FC236}">
                <a16:creationId xmlns:a16="http://schemas.microsoft.com/office/drawing/2014/main" id="{77378979-6D8C-4A29-A2F6-A8F2B870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head-0">
            <a:extLst xmlns:a="http://schemas.openxmlformats.org/drawingml/2006/main">
              <a:ext uri="{FF2B5EF4-FFF2-40B4-BE49-F238E27FC236}">
                <a16:creationId xmlns:a16="http://schemas.microsoft.com/office/drawing/2014/main" id="{7D94B3C1-4264-4F65-931A-4A2361A2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2400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主张</a:t>
            </a:r>
          </a:p>
        </p:txBody>
      </p:sp>
      <p:sp>
        <p:nvSpPr>
          <p:cNvPr id="10" name="body-0">
            <a:extLst xmlns:a="http://schemas.openxmlformats.org/drawingml/2006/main">
              <a:ext uri="{FF2B5EF4-FFF2-40B4-BE49-F238E27FC236}">
                <a16:creationId xmlns:a16="http://schemas.microsoft.com/office/drawing/2014/main" id="{878E4524-75A7-4E57-96DC-56D65769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52650"/>
            <a:ext cx="24003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阅读卡降低遗漏率</a:t>
            </a:r>
          </a:p>
        </p:txBody>
      </p:sp>
      <p:sp>
        <p:nvSpPr>
          <p:cNvPr id="11" name="arrow-1">
            <a:extLst xmlns:a="http://schemas.openxmlformats.org/drawingml/2006/main">
              <a:ext uri="{FF2B5EF4-FFF2-40B4-BE49-F238E27FC236}">
                <a16:creationId xmlns:a16="http://schemas.microsoft.com/office/drawing/2014/main" id="{A93713F3-CFAF-481A-A0D5-C71B10FD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53100" y="25336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num-1">
            <a:extLst xmlns:a="http://schemas.openxmlformats.org/drawingml/2006/main">
              <a:ext uri="{FF2B5EF4-FFF2-40B4-BE49-F238E27FC236}">
                <a16:creationId xmlns:a16="http://schemas.microsoft.com/office/drawing/2014/main" id="{6B49F1C7-B8BE-45B7-BA60-47ACC8FC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5430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head-1">
            <a:extLst xmlns:a="http://schemas.openxmlformats.org/drawingml/2006/main">
              <a:ext uri="{FF2B5EF4-FFF2-40B4-BE49-F238E27FC236}">
                <a16:creationId xmlns:a16="http://schemas.microsoft.com/office/drawing/2014/main" id="{37AB5037-0BA9-45A5-9827-00DA3888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52400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F638A"/>
                </a:solidFill>
              </a:defRPr>
            </a:pPr>
            <a:r>
              <a:rPr sz="17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14" name="body-1">
            <a:extLst xmlns:a="http://schemas.openxmlformats.org/drawingml/2006/main">
              <a:ext uri="{FF2B5EF4-FFF2-40B4-BE49-F238E27FC236}">
                <a16:creationId xmlns:a16="http://schemas.microsoft.com/office/drawing/2014/main" id="{ECD1C7E4-EEE0-4508-B57F-453D7942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52650"/>
            <a:ext cx="24003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exp-001…010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0.18 vs 0.31</a:t>
            </a:r>
          </a:p>
        </p:txBody>
      </p:sp>
      <p:sp>
        <p:nvSpPr>
          <p:cNvPr id="15" name="arrow-2">
            <a:extLst xmlns:a="http://schemas.openxmlformats.org/drawingml/2006/main">
              <a:ext uri="{FF2B5EF4-FFF2-40B4-BE49-F238E27FC236}">
                <a16:creationId xmlns:a16="http://schemas.microsoft.com/office/drawing/2014/main" id="{30DD9AB0-392F-4CD2-BCE0-7EA16397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29650" y="25336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num-2">
            <a:extLst xmlns:a="http://schemas.openxmlformats.org/drawingml/2006/main">
              <a:ext uri="{FF2B5EF4-FFF2-40B4-BE49-F238E27FC236}">
                <a16:creationId xmlns:a16="http://schemas.microsoft.com/office/drawing/2014/main" id="{5D7704A6-1442-4D53-BEBE-AF6B3183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5430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head-2">
            <a:extLst xmlns:a="http://schemas.openxmlformats.org/drawingml/2006/main">
              <a:ext uri="{FF2B5EF4-FFF2-40B4-BE49-F238E27FC236}">
                <a16:creationId xmlns:a16="http://schemas.microsoft.com/office/drawing/2014/main" id="{ED2D2B1A-E56D-487F-A9F5-189D0170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52400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推理</a:t>
            </a:r>
          </a:p>
        </p:txBody>
      </p:sp>
      <p:sp>
        <p:nvSpPr>
          <p:cNvPr id="18" name="body-2">
            <a:extLst xmlns:a="http://schemas.openxmlformats.org/drawingml/2006/main">
              <a:ext uri="{FF2B5EF4-FFF2-40B4-BE49-F238E27FC236}">
                <a16:creationId xmlns:a16="http://schemas.microsoft.com/office/drawing/2014/main" id="{FCCA96A4-9837-43AE-AE7C-14391C10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52650"/>
            <a:ext cx="24003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原文位置标注暴露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无来源主张</a:t>
            </a:r>
          </a:p>
        </p:txBody>
      </p:sp>
      <p:sp>
        <p:nvSpPr>
          <p:cNvPr id="19" name="num-3">
            <a:extLst xmlns:a="http://schemas.openxmlformats.org/drawingml/2006/main">
              <a:ext uri="{FF2B5EF4-FFF2-40B4-BE49-F238E27FC236}">
                <a16:creationId xmlns:a16="http://schemas.microsoft.com/office/drawing/2014/main" id="{5ED212D0-E969-4BBF-B306-2BD44DE6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5430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0" name="head-3">
            <a:extLst xmlns:a="http://schemas.openxmlformats.org/drawingml/2006/main">
              <a:ext uri="{FF2B5EF4-FFF2-40B4-BE49-F238E27FC236}">
                <a16:creationId xmlns:a16="http://schemas.microsoft.com/office/drawing/2014/main" id="{4B4D4A4F-1564-4A8E-BF21-38C98D1C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52400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21" name="body-3">
            <a:extLst xmlns:a="http://schemas.openxmlformats.org/drawingml/2006/main">
              <a:ext uri="{FF2B5EF4-FFF2-40B4-BE49-F238E27FC236}">
                <a16:creationId xmlns:a16="http://schemas.microsoft.com/office/drawing/2014/main" id="{5EA04E69-7DCC-41AF-AE2E-5F872484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52650"/>
            <a:ext cx="24003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n=20；CS 单一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A2 未排除；2 篇反例</a:t>
            </a:r>
          </a:p>
        </p:txBody>
      </p:sp>
      <p:sp>
        <p:nvSpPr>
          <p:cNvPr id="22" name="claim">
            <a:extLst xmlns:a="http://schemas.openxmlformats.org/drawingml/2006/main">
              <a:ext uri="{FF2B5EF4-FFF2-40B4-BE49-F238E27FC236}">
                <a16:creationId xmlns:a16="http://schemas.microsoft.com/office/drawing/2014/main" id="{299741F3-55AB-4B27-9089-F671F82D7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48100"/>
            <a:ext cx="9791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只写“方法有效”不合格：四行缺一项，论证就无法复核。</a:t>
            </a:r>
          </a:p>
        </p:txBody>
      </p:sp>
      <p:sp>
        <p:nvSpPr>
          <p:cNvPr id="23" name="source">
            <a:extLst xmlns:a="http://schemas.openxmlformats.org/drawingml/2006/main">
              <a:ext uri="{FF2B5EF4-FFF2-40B4-BE49-F238E27FC236}">
                <a16:creationId xmlns:a16="http://schemas.microsoft.com/office/drawing/2014/main" id="{47EC305C-6BC1-4B82-9210-AFFFE1C6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196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论证组织参考：Booth et al., The Craft of Research, 5th ed., Ch. 5 &amp; 7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IMRaD 各段的回写来源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imrad-h0">
            <a:extLst xmlns:a="http://schemas.openxmlformats.org/drawingml/2006/main">
              <a:ext uri="{FF2B5EF4-FFF2-40B4-BE49-F238E27FC236}">
                <a16:creationId xmlns:a16="http://schemas.microsoft.com/office/drawing/2014/main" id="{E2640AC5-FBE3-458F-B380-41DD404B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049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论文段</a:t>
            </a:r>
          </a:p>
        </p:txBody>
      </p:sp>
      <p:sp>
        <p:nvSpPr>
          <p:cNvPr id="7" name="imrad-h1">
            <a:extLst xmlns:a="http://schemas.openxmlformats.org/drawingml/2006/main">
              <a:ext uri="{FF2B5EF4-FFF2-40B4-BE49-F238E27FC236}">
                <a16:creationId xmlns:a16="http://schemas.microsoft.com/office/drawing/2014/main" id="{8CF00AFF-E92F-4D72-8340-E1115D4E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104900"/>
            <a:ext cx="409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回写来源</a:t>
            </a:r>
          </a:p>
        </p:txBody>
      </p:sp>
      <p:sp>
        <p:nvSpPr>
          <p:cNvPr id="8" name="imrad-h2">
            <a:extLst xmlns:a="http://schemas.openxmlformats.org/drawingml/2006/main">
              <a:ext uri="{FF2B5EF4-FFF2-40B4-BE49-F238E27FC236}">
                <a16:creationId xmlns:a16="http://schemas.microsoft.com/office/drawing/2014/main" id="{B6C5CFF6-9354-400E-9F51-DA9029FB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104900"/>
            <a:ext cx="561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</a:t>
            </a:r>
          </a:p>
        </p:txBody>
      </p:sp>
      <p:sp>
        <p:nvSpPr>
          <p:cNvPr id="9" name="imrad-r0c0">
            <a:extLst xmlns:a="http://schemas.openxmlformats.org/drawingml/2006/main">
              <a:ext uri="{FF2B5EF4-FFF2-40B4-BE49-F238E27FC236}">
                <a16:creationId xmlns:a16="http://schemas.microsoft.com/office/drawing/2014/main" id="{BF68B48D-1443-4495-83FC-032BF20F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04950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引言</a:t>
            </a:r>
          </a:p>
        </p:txBody>
      </p:sp>
      <p:sp>
        <p:nvSpPr>
          <p:cNvPr id="10" name="imrad-r0c1">
            <a:extLst xmlns:a="http://schemas.openxmlformats.org/drawingml/2006/main">
              <a:ext uri="{FF2B5EF4-FFF2-40B4-BE49-F238E27FC236}">
                <a16:creationId xmlns:a16="http://schemas.microsoft.com/office/drawing/2014/main" id="{C8FF562F-B8A3-479B-BA88-2A0C819F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5049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problem-definition / evidence-map</a:t>
            </a:r>
          </a:p>
        </p:txBody>
      </p:sp>
      <p:sp>
        <p:nvSpPr>
          <p:cNvPr id="11" name="imrad-r0c2">
            <a:extLst xmlns:a="http://schemas.openxmlformats.org/drawingml/2006/main">
              <a:ext uri="{FF2B5EF4-FFF2-40B4-BE49-F238E27FC236}">
                <a16:creationId xmlns:a16="http://schemas.microsoft.com/office/drawing/2014/main" id="{31C2B84A-C30F-41FB-A716-C58FF810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504950"/>
            <a:ext cx="561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为什么重要？非例？可证伪命题？</a:t>
            </a:r>
          </a:p>
        </p:txBody>
      </p:sp>
      <p:sp>
        <p:nvSpPr>
          <p:cNvPr id="12" name="imrad-r1c0">
            <a:extLst xmlns:a="http://schemas.openxmlformats.org/drawingml/2006/main">
              <a:ext uri="{FF2B5EF4-FFF2-40B4-BE49-F238E27FC236}">
                <a16:creationId xmlns:a16="http://schemas.microsoft.com/office/drawing/2014/main" id="{BF0B0388-DCD4-4B39-9DDF-3A06399E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71700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13" name="imrad-r1c1">
            <a:extLst xmlns:a="http://schemas.openxmlformats.org/drawingml/2006/main">
              <a:ext uri="{FF2B5EF4-FFF2-40B4-BE49-F238E27FC236}">
                <a16:creationId xmlns:a16="http://schemas.microsoft.com/office/drawing/2014/main" id="{75923699-C608-4AB2-8D7C-69FD1FAF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17170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experiment-spec / workflow / ethics</a:t>
            </a:r>
          </a:p>
        </p:txBody>
      </p:sp>
      <p:sp>
        <p:nvSpPr>
          <p:cNvPr id="14" name="imrad-r1c2">
            <a:extLst xmlns:a="http://schemas.openxmlformats.org/drawingml/2006/main">
              <a:ext uri="{FF2B5EF4-FFF2-40B4-BE49-F238E27FC236}">
                <a16:creationId xmlns:a16="http://schemas.microsoft.com/office/drawing/2014/main" id="{FCEFBC0E-3079-45C2-BC61-25758936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71700"/>
            <a:ext cx="561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baseline？变量？复现？权限边界？</a:t>
            </a:r>
          </a:p>
        </p:txBody>
      </p:sp>
      <p:sp>
        <p:nvSpPr>
          <p:cNvPr id="15" name="imrad-r2c0">
            <a:extLst xmlns:a="http://schemas.openxmlformats.org/drawingml/2006/main">
              <a:ext uri="{FF2B5EF4-FFF2-40B4-BE49-F238E27FC236}">
                <a16:creationId xmlns:a16="http://schemas.microsoft.com/office/drawing/2014/main" id="{24069112-E271-4513-B204-C995C259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38450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16" name="imrad-r2c1">
            <a:extLst xmlns:a="http://schemas.openxmlformats.org/drawingml/2006/main">
              <a:ext uri="{FF2B5EF4-FFF2-40B4-BE49-F238E27FC236}">
                <a16:creationId xmlns:a16="http://schemas.microsoft.com/office/drawing/2014/main" id="{B23D1164-1844-4B0E-827A-4F9FABF8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8384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evaluation-report / experiments</a:t>
            </a:r>
          </a:p>
        </p:txBody>
      </p:sp>
      <p:sp>
        <p:nvSpPr>
          <p:cNvPr id="17" name="imrad-r2c2">
            <a:extLst xmlns:a="http://schemas.openxmlformats.org/drawingml/2006/main">
              <a:ext uri="{FF2B5EF4-FFF2-40B4-BE49-F238E27FC236}">
                <a16:creationId xmlns:a16="http://schemas.microsoft.com/office/drawing/2014/main" id="{88B14605-02C8-4744-97B6-2ADE79B4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61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支持、反驳还是未知？负向结果？</a:t>
            </a:r>
          </a:p>
        </p:txBody>
      </p:sp>
      <p:sp>
        <p:nvSpPr>
          <p:cNvPr id="18" name="imrad-r3c0">
            <a:extLst xmlns:a="http://schemas.openxmlformats.org/drawingml/2006/main">
              <a:ext uri="{FF2B5EF4-FFF2-40B4-BE49-F238E27FC236}">
                <a16:creationId xmlns:a16="http://schemas.microsoft.com/office/drawing/2014/main" id="{D46C435D-12A9-4596-B736-ECF72D97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05200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讨论</a:t>
            </a:r>
          </a:p>
        </p:txBody>
      </p:sp>
      <p:sp>
        <p:nvSpPr>
          <p:cNvPr id="19" name="imrad-r3c1">
            <a:extLst xmlns:a="http://schemas.openxmlformats.org/drawingml/2006/main">
              <a:ext uri="{FF2B5EF4-FFF2-40B4-BE49-F238E27FC236}">
                <a16:creationId xmlns:a16="http://schemas.microsoft.com/office/drawing/2014/main" id="{2D0D567B-171D-4FB3-B489-0B0CC47F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50520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有效性威胁 / 证据充分性</a:t>
            </a:r>
          </a:p>
        </p:txBody>
      </p:sp>
      <p:sp>
        <p:nvSpPr>
          <p:cNvPr id="20" name="imrad-r3c2">
            <a:extLst xmlns:a="http://schemas.openxmlformats.org/drawingml/2006/main">
              <a:ext uri="{FF2B5EF4-FFF2-40B4-BE49-F238E27FC236}">
                <a16:creationId xmlns:a16="http://schemas.microsoft.com/office/drawing/2014/main" id="{FDA69E1B-4234-45B2-AF17-11C319AE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505200"/>
            <a:ext cx="561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边界？冲突？缺失证据？</a:t>
            </a:r>
          </a:p>
        </p:txBody>
      </p:sp>
      <p:sp>
        <p:nvSpPr>
          <p:cNvPr id="21" name="imrad-r4c0">
            <a:extLst xmlns:a="http://schemas.openxmlformats.org/drawingml/2006/main">
              <a:ext uri="{FF2B5EF4-FFF2-40B4-BE49-F238E27FC236}">
                <a16:creationId xmlns:a16="http://schemas.microsoft.com/office/drawing/2014/main" id="{A07BC46D-52CC-4C56-9A05-437551B8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71950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披露</a:t>
            </a:r>
          </a:p>
        </p:txBody>
      </p:sp>
      <p:sp>
        <p:nvSpPr>
          <p:cNvPr id="22" name="imrad-r4c1">
            <a:extLst xmlns:a="http://schemas.openxmlformats.org/drawingml/2006/main">
              <a:ext uri="{FF2B5EF4-FFF2-40B4-BE49-F238E27FC236}">
                <a16:creationId xmlns:a16="http://schemas.microsoft.com/office/drawing/2014/main" id="{1DBF7FC7-DE5B-41F0-9937-8E9E3E79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1719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ai-usage-log</a:t>
            </a:r>
          </a:p>
        </p:txBody>
      </p:sp>
      <p:sp>
        <p:nvSpPr>
          <p:cNvPr id="23" name="imrad-r4c2">
            <a:extLst xmlns:a="http://schemas.openxmlformats.org/drawingml/2006/main">
              <a:ext uri="{FF2B5EF4-FFF2-40B4-BE49-F238E27FC236}">
                <a16:creationId xmlns:a16="http://schemas.microsoft.com/office/drawing/2014/main" id="{7D55B9F2-079A-4B29-9518-EF7A6F44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171950"/>
            <a:ext cx="561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环节？模型？核验？失败？</a:t>
            </a:r>
          </a:p>
        </p:txBody>
      </p:sp>
      <p:sp>
        <p:nvSpPr>
          <p:cNvPr id="24" name="bottom">
            <a:extLst xmlns:a="http://schemas.openxmlformats.org/drawingml/2006/main">
              <a:ext uri="{FF2B5EF4-FFF2-40B4-BE49-F238E27FC236}">
                <a16:creationId xmlns:a16="http://schemas.microsoft.com/office/drawing/2014/main" id="{ECDA5F62-9810-4DE5-9127-7A1F30BA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72050"/>
            <a:ext cx="96774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不要把评价报告表格直接贴进论文；要改写为同行能复核的叙事。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主题位与重音位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9227234A-6D2C-4530-B912-12AA4C6A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066800"/>
            <a:ext cx="914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已知信息放句首（主题位）｜新信息放句末（重音位）</a:t>
            </a:r>
          </a:p>
        </p:txBody>
      </p:sp>
      <p:sp>
        <p:nvSpPr>
          <p:cNvPr id="7" name="bad-h">
            <a:extLst xmlns:a="http://schemas.openxmlformats.org/drawingml/2006/main">
              <a:ext uri="{FF2B5EF4-FFF2-40B4-BE49-F238E27FC236}">
                <a16:creationId xmlns:a16="http://schemas.microsoft.com/office/drawing/2014/main" id="{770F0D94-E4A8-4CEE-B855-0116CBDF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读者无法预期</a:t>
            </a:r>
          </a:p>
        </p:txBody>
      </p:sp>
      <p:sp>
        <p:nvSpPr>
          <p:cNvPr id="8" name="bad">
            <a:extLst xmlns:a="http://schemas.openxmlformats.org/drawingml/2006/main">
              <a:ext uri="{FF2B5EF4-FFF2-40B4-BE49-F238E27FC236}">
                <a16:creationId xmlns:a16="http://schemas.microsoft.com/office/drawing/2014/main" id="{8C32D7A9-CA16-4D65-A7F1-D4CBFA2F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结构化阅读卡降低了遗漏率。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我们此前比较了两种阅读流程。</a:t>
            </a:r>
          </a:p>
        </p:txBody>
      </p:sp>
      <p:sp>
        <p:nvSpPr>
          <p:cNvPr id="9" name="good-h">
            <a:extLst xmlns:a="http://schemas.openxmlformats.org/drawingml/2006/main">
              <a:ext uri="{FF2B5EF4-FFF2-40B4-BE49-F238E27FC236}">
                <a16:creationId xmlns:a16="http://schemas.microsoft.com/office/drawing/2014/main" id="{3A784906-1FE3-4AD6-BE1A-406E74F8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1930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信息顺序形成接力</a:t>
            </a:r>
          </a:p>
        </p:txBody>
      </p:sp>
      <p:sp>
        <p:nvSpPr>
          <p:cNvPr id="10" name="good">
            <a:extLst xmlns:a="http://schemas.openxmlformats.org/drawingml/2006/main">
              <a:ext uri="{FF2B5EF4-FFF2-40B4-BE49-F238E27FC236}">
                <a16:creationId xmlns:a16="http://schemas.microsoft.com/office/drawing/2014/main" id="{11E8DFDB-9D81-46AF-AC2A-EFE64CA2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7650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我们比较了两种阅读流程。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其中，结构化阅读卡降低了遗漏率。</a:t>
            </a:r>
          </a:p>
        </p:txBody>
      </p:sp>
      <p:sp>
        <p:nvSpPr>
          <p:cNvPr id="11" name="flow">
            <a:extLst xmlns:a="http://schemas.openxmlformats.org/drawingml/2006/main">
              <a:ext uri="{FF2B5EF4-FFF2-40B4-BE49-F238E27FC236}">
                <a16:creationId xmlns:a16="http://schemas.microsoft.com/office/drawing/2014/main" id="{146D84BD-5669-4E07-913B-7417CDC3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0" y="422910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known">
            <a:extLst xmlns:a="http://schemas.openxmlformats.org/drawingml/2006/main">
              <a:ext uri="{FF2B5EF4-FFF2-40B4-BE49-F238E27FC236}">
                <a16:creationId xmlns:a16="http://schemas.microsoft.com/office/drawing/2014/main" id="{A927D17A-5E2B-4530-9C82-02E12173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1714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旧信息</a:t>
            </a:r>
          </a:p>
        </p:txBody>
      </p:sp>
      <p:sp>
        <p:nvSpPr>
          <p:cNvPr id="13" name="new">
            <a:extLst xmlns:a="http://schemas.openxmlformats.org/drawingml/2006/main">
              <a:ext uri="{FF2B5EF4-FFF2-40B4-BE49-F238E27FC236}">
                <a16:creationId xmlns:a16="http://schemas.microsoft.com/office/drawing/2014/main" id="{7DE31E31-2F02-42A2-9AEE-FAE3DA21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57650"/>
            <a:ext cx="1714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新信息</a:t>
            </a:r>
          </a:p>
        </p:txBody>
      </p:sp>
      <p:sp>
        <p:nvSpPr>
          <p:cNvPr id="14" name="bottom">
            <a:extLst xmlns:a="http://schemas.openxmlformats.org/drawingml/2006/main">
              <a:ext uri="{FF2B5EF4-FFF2-40B4-BE49-F238E27FC236}">
                <a16:creationId xmlns:a16="http://schemas.microsoft.com/office/drawing/2014/main" id="{A279DA8A-92C6-4244-B90C-DE1B4B93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76800"/>
            <a:ext cx="8724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检查结果段第一句：它是突然出现的新信息，还是承接上文？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贡献列表先行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teaching-label">
            <a:extLst xmlns:a="http://schemas.openxmlformats.org/drawingml/2006/main">
              <a:ext uri="{FF2B5EF4-FFF2-40B4-BE49-F238E27FC236}">
                <a16:creationId xmlns:a16="http://schemas.microsoft.com/office/drawing/2014/main" id="{8AD4824C-2639-48BD-8F33-0D5DC7EF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00100"/>
            <a:ext cx="39433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虚构教学示例｜非真实实验</a:t>
            </a:r>
          </a:p>
        </p:txBody>
      </p:sp>
      <p:sp>
        <p:nvSpPr>
          <p:cNvPr id="7" name="id-0">
            <a:extLst xmlns:a="http://schemas.openxmlformats.org/drawingml/2006/main">
              <a:ext uri="{FF2B5EF4-FFF2-40B4-BE49-F238E27FC236}">
                <a16:creationId xmlns:a16="http://schemas.microsoft.com/office/drawing/2014/main" id="{E75F8F48-9F52-4A77-8F00-1F5F4520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723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8" name="state-0">
            <a:extLst xmlns:a="http://schemas.openxmlformats.org/drawingml/2006/main">
              <a:ext uri="{FF2B5EF4-FFF2-40B4-BE49-F238E27FC236}">
                <a16:creationId xmlns:a16="http://schemas.microsoft.com/office/drawing/2014/main" id="{74BCA276-D009-4356-AA3D-D8063A70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476375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F638A"/>
                </a:solidFill>
              </a:defRPr>
            </a:pPr>
            <a:r>
              <a:rPr sz="14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支持（待验证）</a:t>
            </a:r>
          </a:p>
        </p:txBody>
      </p:sp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6B53D05A-0937-4634-A3D9-D10C40E1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381125"/>
            <a:ext cx="77533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20 篇论文：遗漏率 0.31 → 0.18；方向支持 H1</a:t>
            </a:r>
          </a:p>
        </p:txBody>
      </p:sp>
      <p:sp>
        <p:nvSpPr>
          <p:cNvPr id="10" name="id-1">
            <a:extLst xmlns:a="http://schemas.openxmlformats.org/drawingml/2006/main">
              <a:ext uri="{FF2B5EF4-FFF2-40B4-BE49-F238E27FC236}">
                <a16:creationId xmlns:a16="http://schemas.microsoft.com/office/drawing/2014/main" id="{38FBEDCA-5235-4897-AD47-235AB899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723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C2</a:t>
            </a:r>
          </a:p>
        </p:txBody>
      </p:sp>
      <p:sp>
        <p:nvSpPr>
          <p:cNvPr id="11" name="state-1">
            <a:extLst xmlns:a="http://schemas.openxmlformats.org/drawingml/2006/main">
              <a:ext uri="{FF2B5EF4-FFF2-40B4-BE49-F238E27FC236}">
                <a16:creationId xmlns:a16="http://schemas.microsoft.com/office/drawing/2014/main" id="{EE4E3507-371E-472A-8D2C-38AAE943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19375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反例（边界）</a:t>
            </a:r>
          </a:p>
        </p:txBody>
      </p:sp>
      <p:sp>
        <p:nvSpPr>
          <p:cNvPr id="12" name="text-1">
            <a:extLst xmlns:a="http://schemas.openxmlformats.org/drawingml/2006/main">
              <a:ext uri="{FF2B5EF4-FFF2-40B4-BE49-F238E27FC236}">
                <a16:creationId xmlns:a16="http://schemas.microsoft.com/office/drawing/2014/main" id="{2EBA8F23-B9B2-4D11-9D05-C672A834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524125"/>
            <a:ext cx="77533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 篇图表为主论文更差：暴露“不适用范围”缺口</a:t>
            </a:r>
          </a:p>
        </p:txBody>
      </p:sp>
      <p:sp>
        <p:nvSpPr>
          <p:cNvPr id="13" name="id-2">
            <a:extLst xmlns:a="http://schemas.openxmlformats.org/drawingml/2006/main">
              <a:ext uri="{FF2B5EF4-FFF2-40B4-BE49-F238E27FC236}">
                <a16:creationId xmlns:a16="http://schemas.microsoft.com/office/drawing/2014/main" id="{70105EE0-22FB-4DFF-B680-85BCD095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62375"/>
            <a:ext cx="723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C3</a:t>
            </a:r>
          </a:p>
        </p:txBody>
      </p:sp>
      <p:sp>
        <p:nvSpPr>
          <p:cNvPr id="14" name="state-2">
            <a:extLst xmlns:a="http://schemas.openxmlformats.org/drawingml/2006/main">
              <a:ext uri="{FF2B5EF4-FFF2-40B4-BE49-F238E27FC236}">
                <a16:creationId xmlns:a16="http://schemas.microsoft.com/office/drawing/2014/main" id="{C20CEF64-13FF-4392-9444-D1962D9B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62375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仍不能判断</a:t>
            </a:r>
          </a:p>
        </p:txBody>
      </p:sp>
      <p:sp>
        <p:nvSpPr>
          <p:cNvPr id="15" name="text-2">
            <a:extLst xmlns:a="http://schemas.openxmlformats.org/drawingml/2006/main">
              <a:ext uri="{FF2B5EF4-FFF2-40B4-BE49-F238E27FC236}">
                <a16:creationId xmlns:a16="http://schemas.microsoft.com/office/drawing/2014/main" id="{1CBBB4AA-63F4-4AE3-8E18-ED1EC0B5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667125"/>
            <a:ext cx="77533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A2 时间投入未排除：不标 stable</a:t>
            </a:r>
          </a:p>
        </p:txBody>
      </p:sp>
      <p:sp>
        <p:nvSpPr>
          <p:cNvPr id="16" name="bottom">
            <a:extLst xmlns:a="http://schemas.openxmlformats.org/drawingml/2006/main">
              <a:ext uri="{FF2B5EF4-FFF2-40B4-BE49-F238E27FC236}">
                <a16:creationId xmlns:a16="http://schemas.microsoft.com/office/drawing/2014/main" id="{5C860FDF-51A7-4A4C-8F5A-3F66E196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53000"/>
            <a:ext cx="8686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反例与未知也是贡献：它们让边界和证据缺口可见。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回写不是润色，是反向追踪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teaching-label">
            <a:extLst xmlns:a="http://schemas.openxmlformats.org/drawingml/2006/main">
              <a:ext uri="{FF2B5EF4-FFF2-40B4-BE49-F238E27FC236}">
                <a16:creationId xmlns:a16="http://schemas.microsoft.com/office/drawing/2014/main" id="{0A7448C3-627B-48B0-9010-CF185CC5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00100"/>
            <a:ext cx="39433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虚构教学示例｜非真实实验</a:t>
            </a:r>
          </a:p>
        </p:txBody>
      </p:sp>
      <p:sp>
        <p:nvSpPr>
          <p:cNvPr id="7" name="trace-h0">
            <a:extLst xmlns:a="http://schemas.openxmlformats.org/drawingml/2006/main">
              <a:ext uri="{FF2B5EF4-FFF2-40B4-BE49-F238E27FC236}">
                <a16:creationId xmlns:a16="http://schemas.microsoft.com/office/drawing/2014/main" id="{1C971EC0-CD2C-480B-8CEB-5BFC175F4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5730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8" name="trace-h1">
            <a:extLst xmlns:a="http://schemas.openxmlformats.org/drawingml/2006/main">
              <a:ext uri="{FF2B5EF4-FFF2-40B4-BE49-F238E27FC236}">
                <a16:creationId xmlns:a16="http://schemas.microsoft.com/office/drawing/2014/main" id="{D8899945-B216-497F-973B-9E784A95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2573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证据项</a:t>
            </a:r>
          </a:p>
        </p:txBody>
      </p:sp>
      <p:sp>
        <p:nvSpPr>
          <p:cNvPr id="9" name="trace-h2">
            <a:extLst xmlns:a="http://schemas.openxmlformats.org/drawingml/2006/main">
              <a:ext uri="{FF2B5EF4-FFF2-40B4-BE49-F238E27FC236}">
                <a16:creationId xmlns:a16="http://schemas.microsoft.com/office/drawing/2014/main" id="{EBA70216-CDB0-4008-9713-A163C310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2573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 ID</a:t>
            </a:r>
          </a:p>
        </p:txBody>
      </p:sp>
      <p:sp>
        <p:nvSpPr>
          <p:cNvPr id="10" name="trace-h3">
            <a:extLst xmlns:a="http://schemas.openxmlformats.org/drawingml/2006/main">
              <a:ext uri="{FF2B5EF4-FFF2-40B4-BE49-F238E27FC236}">
                <a16:creationId xmlns:a16="http://schemas.microsoft.com/office/drawing/2014/main" id="{A1738BA9-BC5D-43BC-818C-51CC70BBE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2573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上游判断</a:t>
            </a:r>
          </a:p>
        </p:txBody>
      </p:sp>
      <p:sp>
        <p:nvSpPr>
          <p:cNvPr id="11" name="trace-h4">
            <a:extLst xmlns:a="http://schemas.openxmlformats.org/drawingml/2006/main">
              <a:ext uri="{FF2B5EF4-FFF2-40B4-BE49-F238E27FC236}">
                <a16:creationId xmlns:a16="http://schemas.microsoft.com/office/drawing/2014/main" id="{CEB26613-E490-4D38-B93C-398BA5CF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25730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缺失/冲突</a:t>
            </a:r>
          </a:p>
        </p:txBody>
      </p:sp>
      <p:sp>
        <p:nvSpPr>
          <p:cNvPr id="12" name="trace-h5">
            <a:extLst xmlns:a="http://schemas.openxmlformats.org/drawingml/2006/main">
              <a:ext uri="{FF2B5EF4-FFF2-40B4-BE49-F238E27FC236}">
                <a16:creationId xmlns:a16="http://schemas.microsoft.com/office/drawing/2014/main" id="{2C657B56-3E02-4919-A111-FBB619D6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2573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状态</a:t>
            </a:r>
          </a:p>
        </p:txBody>
      </p:sp>
      <p:sp>
        <p:nvSpPr>
          <p:cNvPr id="13" name="trace-r0c0">
            <a:extLst xmlns:a="http://schemas.openxmlformats.org/drawingml/2006/main">
              <a:ext uri="{FF2B5EF4-FFF2-40B4-BE49-F238E27FC236}">
                <a16:creationId xmlns:a16="http://schemas.microsoft.com/office/drawing/2014/main" id="{AF21E651-FE7D-49F5-9B6D-C9FACF4C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7810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14" name="trace-r0c1">
            <a:extLst xmlns:a="http://schemas.openxmlformats.org/drawingml/2006/main">
              <a:ext uri="{FF2B5EF4-FFF2-40B4-BE49-F238E27FC236}">
                <a16:creationId xmlns:a16="http://schemas.microsoft.com/office/drawing/2014/main" id="{C9BD4281-C9E1-4B42-9A40-211DD534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57350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E3 评价结果</a:t>
            </a:r>
          </a:p>
        </p:txBody>
      </p:sp>
      <p:sp>
        <p:nvSpPr>
          <p:cNvPr id="15" name="trace-r0c2">
            <a:extLst xmlns:a="http://schemas.openxmlformats.org/drawingml/2006/main">
              <a:ext uri="{FF2B5EF4-FFF2-40B4-BE49-F238E27FC236}">
                <a16:creationId xmlns:a16="http://schemas.microsoft.com/office/drawing/2014/main" id="{0F2EB05C-A016-48C3-82A5-D4265A39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657350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exp-001…010</a:t>
            </a:r>
          </a:p>
        </p:txBody>
      </p:sp>
      <p:sp>
        <p:nvSpPr>
          <p:cNvPr id="16" name="trace-r0c3">
            <a:extLst xmlns:a="http://schemas.openxmlformats.org/drawingml/2006/main">
              <a:ext uri="{FF2B5EF4-FFF2-40B4-BE49-F238E27FC236}">
                <a16:creationId xmlns:a16="http://schemas.microsoft.com/office/drawing/2014/main" id="{A8279339-493E-4DB5-825E-3FBB61B6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65735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J1 选遗漏率</a:t>
            </a:r>
          </a:p>
        </p:txBody>
      </p:sp>
      <p:sp>
        <p:nvSpPr>
          <p:cNvPr id="17" name="trace-r0c4">
            <a:extLst xmlns:a="http://schemas.openxmlformats.org/drawingml/2006/main">
              <a:ext uri="{FF2B5EF4-FFF2-40B4-BE49-F238E27FC236}">
                <a16:creationId xmlns:a16="http://schemas.microsoft.com/office/drawing/2014/main" id="{706D17B8-5A68-4D7D-AD04-D0ADD933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657350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A2 未排除</a:t>
            </a:r>
          </a:p>
        </p:txBody>
      </p:sp>
      <p:sp>
        <p:nvSpPr>
          <p:cNvPr id="18" name="trace-r0c5">
            <a:extLst xmlns:a="http://schemas.openxmlformats.org/drawingml/2006/main">
              <a:ext uri="{FF2B5EF4-FFF2-40B4-BE49-F238E27FC236}">
                <a16:creationId xmlns:a16="http://schemas.microsoft.com/office/drawing/2014/main" id="{F7FAA275-3FF9-4BB5-B929-81B2D524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57350"/>
            <a:ext cx="247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支持（待验证）</a:t>
            </a:r>
          </a:p>
        </p:txBody>
      </p:sp>
      <p:sp>
        <p:nvSpPr>
          <p:cNvPr id="19" name="trace-r1c0">
            <a:extLst xmlns:a="http://schemas.openxmlformats.org/drawingml/2006/main">
              <a:ext uri="{FF2B5EF4-FFF2-40B4-BE49-F238E27FC236}">
                <a16:creationId xmlns:a16="http://schemas.microsoft.com/office/drawing/2014/main" id="{7BA11E71-13BC-4413-BF03-7E6D1E98D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0"/>
            <a:ext cx="7810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20" name="trace-r1c1">
            <a:extLst xmlns:a="http://schemas.openxmlformats.org/drawingml/2006/main">
              <a:ext uri="{FF2B5EF4-FFF2-40B4-BE49-F238E27FC236}">
                <a16:creationId xmlns:a16="http://schemas.microsoft.com/office/drawing/2014/main" id="{26D13157-B4B3-41F4-9607-34A0F8D2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76500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失败日志</a:t>
            </a:r>
          </a:p>
        </p:txBody>
      </p:sp>
      <p:sp>
        <p:nvSpPr>
          <p:cNvPr id="21" name="trace-r1c2">
            <a:extLst xmlns:a="http://schemas.openxmlformats.org/drawingml/2006/main">
              <a:ext uri="{FF2B5EF4-FFF2-40B4-BE49-F238E27FC236}">
                <a16:creationId xmlns:a16="http://schemas.microsoft.com/office/drawing/2014/main" id="{5BEB6135-55DA-4C10-9873-4515169F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476500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exp-007</a:t>
            </a:r>
          </a:p>
        </p:txBody>
      </p:sp>
      <p:sp>
        <p:nvSpPr>
          <p:cNvPr id="22" name="trace-r1c3">
            <a:extLst xmlns:a="http://schemas.openxmlformats.org/drawingml/2006/main">
              <a:ext uri="{FF2B5EF4-FFF2-40B4-BE49-F238E27FC236}">
                <a16:creationId xmlns:a16="http://schemas.microsoft.com/office/drawing/2014/main" id="{DCCDDB10-FAD7-48CD-B666-ADBD3E73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J2 写不适用范围</a:t>
            </a:r>
          </a:p>
        </p:txBody>
      </p:sp>
      <p:sp>
        <p:nvSpPr>
          <p:cNvPr id="23" name="trace-r1c4">
            <a:extLst xmlns:a="http://schemas.openxmlformats.org/drawingml/2006/main">
              <a:ext uri="{FF2B5EF4-FFF2-40B4-BE49-F238E27FC236}">
                <a16:creationId xmlns:a16="http://schemas.microsoft.com/office/drawing/2014/main" id="{AD69C550-39FB-48A2-BCAE-2E53F795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76500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4" name="trace-r1c5">
            <a:extLst xmlns:a="http://schemas.openxmlformats.org/drawingml/2006/main">
              <a:ext uri="{FF2B5EF4-FFF2-40B4-BE49-F238E27FC236}">
                <a16:creationId xmlns:a16="http://schemas.microsoft.com/office/drawing/2014/main" id="{09EC6740-0D28-4000-9C3D-BFB7D009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76500"/>
            <a:ext cx="247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反例（边界）</a:t>
            </a:r>
          </a:p>
        </p:txBody>
      </p:sp>
      <p:sp>
        <p:nvSpPr>
          <p:cNvPr id="25" name="trace-r2c0">
            <a:extLst xmlns:a="http://schemas.openxmlformats.org/drawingml/2006/main">
              <a:ext uri="{FF2B5EF4-FFF2-40B4-BE49-F238E27FC236}">
                <a16:creationId xmlns:a16="http://schemas.microsoft.com/office/drawing/2014/main" id="{550F647B-B2E6-4D21-8D6C-4EEA116A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810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26" name="trace-r2c1">
            <a:extLst xmlns:a="http://schemas.openxmlformats.org/drawingml/2006/main">
              <a:ext uri="{FF2B5EF4-FFF2-40B4-BE49-F238E27FC236}">
                <a16:creationId xmlns:a16="http://schemas.microsoft.com/office/drawing/2014/main" id="{59300615-12FF-49F9-B50F-42260F491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95650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无直接证据</a:t>
            </a:r>
          </a:p>
        </p:txBody>
      </p:sp>
      <p:sp>
        <p:nvSpPr>
          <p:cNvPr id="27" name="trace-r2c2">
            <a:extLst xmlns:a="http://schemas.openxmlformats.org/drawingml/2006/main">
              <a:ext uri="{FF2B5EF4-FFF2-40B4-BE49-F238E27FC236}">
                <a16:creationId xmlns:a16="http://schemas.microsoft.com/office/drawing/2014/main" id="{F226DF35-E862-4859-9663-34A868D3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95650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8" name="trace-r2c3">
            <a:extLst xmlns:a="http://schemas.openxmlformats.org/drawingml/2006/main">
              <a:ext uri="{FF2B5EF4-FFF2-40B4-BE49-F238E27FC236}">
                <a16:creationId xmlns:a16="http://schemas.microsoft.com/office/drawing/2014/main" id="{976B9826-C3B1-4708-BC87-318DFE53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9565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A2 替代假设</a:t>
            </a:r>
          </a:p>
        </p:txBody>
      </p:sp>
      <p:sp>
        <p:nvSpPr>
          <p:cNvPr id="29" name="trace-r2c4">
            <a:extLst xmlns:a="http://schemas.openxmlformats.org/drawingml/2006/main">
              <a:ext uri="{FF2B5EF4-FFF2-40B4-BE49-F238E27FC236}">
                <a16:creationId xmlns:a16="http://schemas.microsoft.com/office/drawing/2014/main" id="{5FA72D1F-815D-4FB3-A3FD-1CD3FC7F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95650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时间控制未跑</a:t>
            </a:r>
          </a:p>
        </p:txBody>
      </p:sp>
      <p:sp>
        <p:nvSpPr>
          <p:cNvPr id="30" name="trace-r2c5">
            <a:extLst xmlns:a="http://schemas.openxmlformats.org/drawingml/2006/main">
              <a:ext uri="{FF2B5EF4-FFF2-40B4-BE49-F238E27FC236}">
                <a16:creationId xmlns:a16="http://schemas.microsoft.com/office/drawing/2014/main" id="{9B4CC901-D999-47B0-A21C-8DAB5500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95650"/>
            <a:ext cx="247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仍不能判断</a:t>
            </a:r>
          </a:p>
        </p:txBody>
      </p:sp>
      <p:sp>
        <p:nvSpPr>
          <p:cNvPr id="31" name="rule">
            <a:extLst xmlns:a="http://schemas.openxmlformats.org/drawingml/2006/main">
              <a:ext uri="{FF2B5EF4-FFF2-40B4-BE49-F238E27FC236}">
                <a16:creationId xmlns:a16="http://schemas.microsoft.com/office/drawing/2014/main" id="{39D4112E-E0F3-40E8-8537-18E17946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14850"/>
            <a:ext cx="10287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关键结论：≥1 项直接证据 + 1 个上游研究判断｜stable：原则上 ≥2 项独立证据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不选择性删除失败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teaching-label">
            <a:extLst xmlns:a="http://schemas.openxmlformats.org/drawingml/2006/main">
              <a:ext uri="{FF2B5EF4-FFF2-40B4-BE49-F238E27FC236}">
                <a16:creationId xmlns:a16="http://schemas.microsoft.com/office/drawing/2014/main" id="{0A88CAEB-826E-49C2-9EBE-C8734177B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00100"/>
            <a:ext cx="39433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虚构教学示例｜非真实实验</a:t>
            </a:r>
          </a:p>
        </p:txBody>
      </p:sp>
      <p:sp>
        <p:nvSpPr>
          <p:cNvPr id="7" name="redline">
            <a:extLst xmlns:a="http://schemas.openxmlformats.org/drawingml/2006/main">
              <a:ext uri="{FF2B5EF4-FFF2-40B4-BE49-F238E27FC236}">
                <a16:creationId xmlns:a16="http://schemas.microsoft.com/office/drawing/2014/main" id="{93DB1BA3-8EFB-4368-8D5E-66B3DDD8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47750"/>
            <a:ext cx="22479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学术规范红线</a:t>
            </a:r>
          </a:p>
        </p:txBody>
      </p:sp>
      <p:sp>
        <p:nvSpPr>
          <p:cNvPr id="8" name="i-0">
            <a:extLst xmlns:a="http://schemas.openxmlformats.org/drawingml/2006/main">
              <a:ext uri="{FF2B5EF4-FFF2-40B4-BE49-F238E27FC236}">
                <a16:creationId xmlns:a16="http://schemas.microsoft.com/office/drawing/2014/main" id="{DCF06595-BF00-4C25-B1BE-C1095259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h-0">
            <a:extLst xmlns:a="http://schemas.openxmlformats.org/drawingml/2006/main">
              <a:ext uri="{FF2B5EF4-FFF2-40B4-BE49-F238E27FC236}">
                <a16:creationId xmlns:a16="http://schemas.microsoft.com/office/drawing/2014/main" id="{3096EF05-EB11-4374-822D-BC5B848F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33550"/>
            <a:ext cx="171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负向结果</a:t>
            </a:r>
          </a:p>
        </p:txBody>
      </p:sp>
      <p:sp>
        <p:nvSpPr>
          <p:cNvPr id="10" name="d-0">
            <a:extLst xmlns:a="http://schemas.openxmlformats.org/drawingml/2006/main">
              <a:ext uri="{FF2B5EF4-FFF2-40B4-BE49-F238E27FC236}">
                <a16:creationId xmlns:a16="http://schemas.microsoft.com/office/drawing/2014/main" id="{C9355D2D-B792-4BAF-B180-9675056B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733550"/>
            <a:ext cx="3905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写进结果段或讨论段</a:t>
            </a:r>
          </a:p>
        </p:txBody>
      </p:sp>
      <p:sp>
        <p:nvSpPr>
          <p:cNvPr id="11" name="i-1">
            <a:extLst xmlns:a="http://schemas.openxmlformats.org/drawingml/2006/main">
              <a:ext uri="{FF2B5EF4-FFF2-40B4-BE49-F238E27FC236}">
                <a16:creationId xmlns:a16="http://schemas.microsoft.com/office/drawing/2014/main" id="{2F1AF589-8DCB-445E-8E1B-EC4825689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h-1">
            <a:extLst xmlns:a="http://schemas.openxmlformats.org/drawingml/2006/main">
              <a:ext uri="{FF2B5EF4-FFF2-40B4-BE49-F238E27FC236}">
                <a16:creationId xmlns:a16="http://schemas.microsoft.com/office/drawing/2014/main" id="{9D84F686-92C4-4D9D-9D57-93C3311A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76500"/>
            <a:ext cx="171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失败根因</a:t>
            </a:r>
          </a:p>
        </p:txBody>
      </p:sp>
      <p:sp>
        <p:nvSpPr>
          <p:cNvPr id="13" name="d-1">
            <a:extLst xmlns:a="http://schemas.openxmlformats.org/drawingml/2006/main">
              <a:ext uri="{FF2B5EF4-FFF2-40B4-BE49-F238E27FC236}">
                <a16:creationId xmlns:a16="http://schemas.microsoft.com/office/drawing/2014/main" id="{154C8CBB-1DB3-47FC-89C7-B9A50606B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76500"/>
            <a:ext cx="3905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写进讨论段 §局限</a:t>
            </a:r>
          </a:p>
        </p:txBody>
      </p:sp>
      <p:sp>
        <p:nvSpPr>
          <p:cNvPr id="14" name="i-2">
            <a:extLst xmlns:a="http://schemas.openxmlformats.org/drawingml/2006/main">
              <a:ext uri="{FF2B5EF4-FFF2-40B4-BE49-F238E27FC236}">
                <a16:creationId xmlns:a16="http://schemas.microsoft.com/office/drawing/2014/main" id="{1FA3B4D3-FEDB-473E-A1BB-8EBBB181B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h-2">
            <a:extLst xmlns:a="http://schemas.openxmlformats.org/drawingml/2006/main">
              <a:ext uri="{FF2B5EF4-FFF2-40B4-BE49-F238E27FC236}">
                <a16:creationId xmlns:a16="http://schemas.microsoft.com/office/drawing/2014/main" id="{F45B8A59-0EC3-49DD-85CE-70CAAC0C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19450"/>
            <a:ext cx="171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冲突证据</a:t>
            </a:r>
          </a:p>
        </p:txBody>
      </p:sp>
      <p:sp>
        <p:nvSpPr>
          <p:cNvPr id="16" name="d-2">
            <a:extLst xmlns:a="http://schemas.openxmlformats.org/drawingml/2006/main">
              <a:ext uri="{FF2B5EF4-FFF2-40B4-BE49-F238E27FC236}">
                <a16:creationId xmlns:a16="http://schemas.microsoft.com/office/drawing/2014/main" id="{24D54B46-5BE4-4797-A077-EB2ABCA1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19450"/>
            <a:ext cx="3905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必须呈现并说明取舍</a:t>
            </a:r>
          </a:p>
        </p:txBody>
      </p:sp>
      <p:sp>
        <p:nvSpPr>
          <p:cNvPr id="17" name="i-3">
            <a:extLst xmlns:a="http://schemas.openxmlformats.org/drawingml/2006/main">
              <a:ext uri="{FF2B5EF4-FFF2-40B4-BE49-F238E27FC236}">
                <a16:creationId xmlns:a16="http://schemas.microsoft.com/office/drawing/2014/main" id="{59C2FF54-32D1-4572-8F37-4466EC3B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9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h-3">
            <a:extLst xmlns:a="http://schemas.openxmlformats.org/drawingml/2006/main">
              <a:ext uri="{FF2B5EF4-FFF2-40B4-BE49-F238E27FC236}">
                <a16:creationId xmlns:a16="http://schemas.microsoft.com/office/drawing/2014/main" id="{EC19A0FF-9474-4B5D-8437-C7A7DE43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62400"/>
            <a:ext cx="171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stable 状态</a:t>
            </a:r>
          </a:p>
        </p:txBody>
      </p:sp>
      <p:sp>
        <p:nvSpPr>
          <p:cNvPr id="19" name="d-3">
            <a:extLst xmlns:a="http://schemas.openxmlformats.org/drawingml/2006/main">
              <a:ext uri="{FF2B5EF4-FFF2-40B4-BE49-F238E27FC236}">
                <a16:creationId xmlns:a16="http://schemas.microsoft.com/office/drawing/2014/main" id="{9884DAA7-9233-4DDC-8885-53840239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3905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单一证据不得标稳定</a:t>
            </a:r>
          </a:p>
        </p:txBody>
      </p:sp>
      <p:sp>
        <p:nvSpPr>
          <p:cNvPr id="20" name="case-h">
            <a:extLst xmlns:a="http://schemas.openxmlformats.org/drawingml/2006/main">
              <a:ext uri="{FF2B5EF4-FFF2-40B4-BE49-F238E27FC236}">
                <a16:creationId xmlns:a16="http://schemas.microsoft.com/office/drawing/2014/main" id="{EBA4AF53-59FA-459C-888E-B90BC7DA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447800"/>
            <a:ext cx="388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C2 反例必须留在论文里</a:t>
            </a:r>
          </a:p>
        </p:txBody>
      </p:sp>
      <p:sp>
        <p:nvSpPr>
          <p:cNvPr id="21" name="case">
            <a:extLst xmlns:a="http://schemas.openxmlformats.org/drawingml/2006/main">
              <a:ext uri="{FF2B5EF4-FFF2-40B4-BE49-F238E27FC236}">
                <a16:creationId xmlns:a16="http://schemas.microsoft.com/office/drawing/2014/main" id="{2ECAD5A1-52F4-40BC-8C18-0ABE532C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000250"/>
            <a:ext cx="38862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 篇图表为主论文表现更差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它不是“项目失败”，而是工作流边界：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任务契约没有覆盖图表为主论文。</a:t>
            </a:r>
          </a:p>
        </p:txBody>
      </p:sp>
      <p:sp>
        <p:nvSpPr>
          <p:cNvPr id="22" name="bottom">
            <a:extLst xmlns:a="http://schemas.openxmlformats.org/drawingml/2006/main">
              <a:ext uri="{FF2B5EF4-FFF2-40B4-BE49-F238E27FC236}">
                <a16:creationId xmlns:a16="http://schemas.microsoft.com/office/drawing/2014/main" id="{89B59F04-AEE9-4047-889A-3ACB9898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95800"/>
            <a:ext cx="428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隐藏失败会同时破坏可信度与边界判断。</a:t>
            </a:r>
          </a:p>
        </p:txBody>
      </p:sp>
      <p:sp>
        <p:nvSpPr>
          <p:cNvPr id="23" name="p09-teaching-label-front">
            <a:extLst xmlns:a="http://schemas.openxmlformats.org/drawingml/2006/main">
              <a:ext uri="{FF2B5EF4-FFF2-40B4-BE49-F238E27FC236}">
                <a16:creationId xmlns:a16="http://schemas.microsoft.com/office/drawing/2014/main" id="{C8CBDEDB-87FC-4E9E-A1E4-65CDA110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00100"/>
            <a:ext cx="39433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虚构教学示例｜非真实实验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从验证门材料到论文段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teaching-label">
            <a:extLst xmlns:a="http://schemas.openxmlformats.org/drawingml/2006/main">
              <a:ext uri="{FF2B5EF4-FFF2-40B4-BE49-F238E27FC236}">
                <a16:creationId xmlns:a16="http://schemas.microsoft.com/office/drawing/2014/main" id="{C3C5E143-709C-4E64-9D68-FBB872FED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00100"/>
            <a:ext cx="39433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虚构教学示例｜非真实实验</a:t>
            </a:r>
          </a:p>
        </p:txBody>
      </p:sp>
      <p:sp>
        <p:nvSpPr>
          <p:cNvPr id="7" name="src-h">
            <a:extLst xmlns:a="http://schemas.openxmlformats.org/drawingml/2006/main">
              <a:ext uri="{FF2B5EF4-FFF2-40B4-BE49-F238E27FC236}">
                <a16:creationId xmlns:a16="http://schemas.microsoft.com/office/drawing/2014/main" id="{C8FBD596-53E8-4FF7-BD79-23DAC1F0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9540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evaluation-report.md｜上游记录</a:t>
            </a:r>
          </a:p>
        </p:txBody>
      </p:sp>
      <p:sp>
        <p:nvSpPr>
          <p:cNvPr id="8" name="src">
            <a:extLst xmlns:a="http://schemas.openxmlformats.org/drawingml/2006/main">
              <a:ext uri="{FF2B5EF4-FFF2-40B4-BE49-F238E27FC236}">
                <a16:creationId xmlns:a16="http://schemas.microsoft.com/office/drawing/2014/main" id="{C2387A29-5F2A-455E-A25B-4C6EB54F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48577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exp-007：图表子集遗漏率上升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根因：任务契约未覆盖图表为主论文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状态：负向结果，保留</a:t>
            </a:r>
          </a:p>
        </p:txBody>
      </p:sp>
      <p:sp>
        <p:nvSpPr>
          <p:cNvPr id="9" name="arrow">
            <a:extLst xmlns:a="http://schemas.openxmlformats.org/drawingml/2006/main">
              <a:ext uri="{FF2B5EF4-FFF2-40B4-BE49-F238E27FC236}">
                <a16:creationId xmlns:a16="http://schemas.microsoft.com/office/drawing/2014/main" id="{1FF47E5B-2C3A-4460-AC22-D1A41119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76500"/>
            <a:ext cx="800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8161E"/>
                </a:solidFill>
              </a:defRPr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paper-h">
            <a:extLst xmlns:a="http://schemas.openxmlformats.org/drawingml/2006/main">
              <a:ext uri="{FF2B5EF4-FFF2-40B4-BE49-F238E27FC236}">
                <a16:creationId xmlns:a16="http://schemas.microsoft.com/office/drawing/2014/main" id="{3B1E96E6-60DE-4580-8BE7-E39B8F3C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295400"/>
            <a:ext cx="4991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论文讨论段｜批注对象</a:t>
            </a:r>
          </a:p>
        </p:txBody>
      </p:sp>
      <p:sp>
        <p:nvSpPr>
          <p:cNvPr id="11" name="paper">
            <a:extLst xmlns:a="http://schemas.openxmlformats.org/drawingml/2006/main">
              <a:ext uri="{FF2B5EF4-FFF2-40B4-BE49-F238E27FC236}">
                <a16:creationId xmlns:a16="http://schemas.microsoft.com/office/drawing/2014/main" id="{B63EE616-5654-4A76-BA44-E850516A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809750"/>
            <a:ext cx="49911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19050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[结果] 图表子集未改善。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[根因] 当前契约只覆盖文本论证。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[边界] 因此不外推到图表为主论文。</a:t>
            </a:r>
          </a:p>
        </p:txBody>
      </p:sp>
      <p:sp>
        <p:nvSpPr>
          <p:cNvPr id="12" name="bottom">
            <a:extLst xmlns:a="http://schemas.openxmlformats.org/drawingml/2006/main">
              <a:ext uri="{FF2B5EF4-FFF2-40B4-BE49-F238E27FC236}">
                <a16:creationId xmlns:a16="http://schemas.microsoft.com/office/drawing/2014/main" id="{35CFA939-884E-4910-A7FE-8D5A94C2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52950"/>
            <a:ext cx="94107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批注检查｜结果→根因→边界，三步都能回到上游工件。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使用披露七字段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f-0">
            <a:extLst xmlns:a="http://schemas.openxmlformats.org/drawingml/2006/main">
              <a:ext uri="{FF2B5EF4-FFF2-40B4-BE49-F238E27FC236}">
                <a16:creationId xmlns:a16="http://schemas.microsoft.com/office/drawing/2014/main" id="{F7DE62F4-B44B-4A99-912D-4657D9ED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fh-0">
            <a:extLst xmlns:a="http://schemas.openxmlformats.org/drawingml/2006/main">
              <a:ext uri="{FF2B5EF4-FFF2-40B4-BE49-F238E27FC236}">
                <a16:creationId xmlns:a16="http://schemas.microsoft.com/office/drawing/2014/main" id="{E6EDA6D4-0F16-461A-A767-5DB142B8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8107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环节</a:t>
            </a:r>
          </a:p>
        </p:txBody>
      </p:sp>
      <p:sp>
        <p:nvSpPr>
          <p:cNvPr id="8" name="fd-0">
            <a:extLst xmlns:a="http://schemas.openxmlformats.org/drawingml/2006/main">
              <a:ext uri="{FF2B5EF4-FFF2-40B4-BE49-F238E27FC236}">
                <a16:creationId xmlns:a16="http://schemas.microsoft.com/office/drawing/2014/main" id="{A6940C15-FF25-48FF-B74B-56CE7523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981075"/>
            <a:ext cx="838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检索 / 阅读 / 代码 / 实验 / 写作 / 审稿模拟</a:t>
            </a:r>
          </a:p>
        </p:txBody>
      </p:sp>
      <p:sp>
        <p:nvSpPr>
          <p:cNvPr id="9" name="f-1">
            <a:extLst xmlns:a="http://schemas.openxmlformats.org/drawingml/2006/main">
              <a:ext uri="{FF2B5EF4-FFF2-40B4-BE49-F238E27FC236}">
                <a16:creationId xmlns:a16="http://schemas.microsoft.com/office/drawing/2014/main" id="{2E75D888-306A-4050-9B38-5535D9F8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fh-1">
            <a:extLst xmlns:a="http://schemas.openxmlformats.org/drawingml/2006/main">
              <a:ext uri="{FF2B5EF4-FFF2-40B4-BE49-F238E27FC236}">
                <a16:creationId xmlns:a16="http://schemas.microsoft.com/office/drawing/2014/main" id="{D4A24445-836E-427E-B773-63EA4EAF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7162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用途</a:t>
            </a:r>
          </a:p>
        </p:txBody>
      </p:sp>
      <p:sp>
        <p:nvSpPr>
          <p:cNvPr id="11" name="fd-1">
            <a:extLst xmlns:a="http://schemas.openxmlformats.org/drawingml/2006/main">
              <a:ext uri="{FF2B5EF4-FFF2-40B4-BE49-F238E27FC236}">
                <a16:creationId xmlns:a16="http://schemas.microsoft.com/office/drawing/2014/main" id="{4A7CC5C7-63BD-4D56-9E0B-E0CEEE1C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71625"/>
            <a:ext cx="838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具体科研动作，不写“辅助研究”</a:t>
            </a:r>
          </a:p>
        </p:txBody>
      </p:sp>
      <p:sp>
        <p:nvSpPr>
          <p:cNvPr id="12" name="f-2">
            <a:extLst xmlns:a="http://schemas.openxmlformats.org/drawingml/2006/main">
              <a:ext uri="{FF2B5EF4-FFF2-40B4-BE49-F238E27FC236}">
                <a16:creationId xmlns:a16="http://schemas.microsoft.com/office/drawing/2014/main" id="{BE0E20D7-6855-46EF-890D-791A87CE8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098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fh-2">
            <a:extLst xmlns:a="http://schemas.openxmlformats.org/drawingml/2006/main">
              <a:ext uri="{FF2B5EF4-FFF2-40B4-BE49-F238E27FC236}">
                <a16:creationId xmlns:a16="http://schemas.microsoft.com/office/drawing/2014/main" id="{380B0DE7-0FCD-4A2C-AAB5-4B58749A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6217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模型/版本</a:t>
            </a:r>
          </a:p>
        </p:txBody>
      </p:sp>
      <p:sp>
        <p:nvSpPr>
          <p:cNvPr id="14" name="fd-2">
            <a:extLst xmlns:a="http://schemas.openxmlformats.org/drawingml/2006/main">
              <a:ext uri="{FF2B5EF4-FFF2-40B4-BE49-F238E27FC236}">
                <a16:creationId xmlns:a16="http://schemas.microsoft.com/office/drawing/2014/main" id="{3654C8A9-6526-4271-94F5-E4696E5B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162175"/>
            <a:ext cx="838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提供方、模型名、版本、调用日期</a:t>
            </a:r>
          </a:p>
        </p:txBody>
      </p:sp>
      <p:sp>
        <p:nvSpPr>
          <p:cNvPr id="15" name="f-3">
            <a:extLst xmlns:a="http://schemas.openxmlformats.org/drawingml/2006/main">
              <a:ext uri="{FF2B5EF4-FFF2-40B4-BE49-F238E27FC236}">
                <a16:creationId xmlns:a16="http://schemas.microsoft.com/office/drawing/2014/main" id="{4D0B53F0-52B4-42AD-BF82-B3E04B37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fh-3">
            <a:extLst xmlns:a="http://schemas.openxmlformats.org/drawingml/2006/main">
              <a:ext uri="{FF2B5EF4-FFF2-40B4-BE49-F238E27FC236}">
                <a16:creationId xmlns:a16="http://schemas.microsoft.com/office/drawing/2014/main" id="{932ECAF8-1416-4BAF-A20E-E8109DEC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5272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提示词摘要</a:t>
            </a:r>
          </a:p>
        </p:txBody>
      </p:sp>
      <p:sp>
        <p:nvSpPr>
          <p:cNvPr id="17" name="fd-3">
            <a:extLst xmlns:a="http://schemas.openxmlformats.org/drawingml/2006/main">
              <a:ext uri="{FF2B5EF4-FFF2-40B4-BE49-F238E27FC236}">
                <a16:creationId xmlns:a16="http://schemas.microsoft.com/office/drawing/2014/main" id="{873784A6-CD98-4B5B-9779-535C7246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752725"/>
            <a:ext cx="838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 / 输出 / 权限 / 不适用范围</a:t>
            </a:r>
          </a:p>
        </p:txBody>
      </p:sp>
      <p:sp>
        <p:nvSpPr>
          <p:cNvPr id="18" name="f-4">
            <a:extLst xmlns:a="http://schemas.openxmlformats.org/drawingml/2006/main">
              <a:ext uri="{FF2B5EF4-FFF2-40B4-BE49-F238E27FC236}">
                <a16:creationId xmlns:a16="http://schemas.microsoft.com/office/drawing/2014/main" id="{6714C281-0080-4A42-9F97-CD8E584D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909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fh-4">
            <a:extLst xmlns:a="http://schemas.openxmlformats.org/drawingml/2006/main">
              <a:ext uri="{FF2B5EF4-FFF2-40B4-BE49-F238E27FC236}">
                <a16:creationId xmlns:a16="http://schemas.microsoft.com/office/drawing/2014/main" id="{0B816DE2-568F-4DD9-A9C0-6A85FFBE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4327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核验方式</a:t>
            </a:r>
          </a:p>
        </p:txBody>
      </p:sp>
      <p:sp>
        <p:nvSpPr>
          <p:cNvPr id="20" name="fd-4">
            <a:extLst xmlns:a="http://schemas.openxmlformats.org/drawingml/2006/main">
              <a:ext uri="{FF2B5EF4-FFF2-40B4-BE49-F238E27FC236}">
                <a16:creationId xmlns:a16="http://schemas.microsoft.com/office/drawing/2014/main" id="{3F88FBB6-7F82-441F-897E-6A23D570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43275"/>
            <a:ext cx="838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原文核验 / 复现 / 人工审核 / 偏差审计</a:t>
            </a:r>
          </a:p>
        </p:txBody>
      </p:sp>
      <p:sp>
        <p:nvSpPr>
          <p:cNvPr id="21" name="f-5">
            <a:extLst xmlns:a="http://schemas.openxmlformats.org/drawingml/2006/main">
              <a:ext uri="{FF2B5EF4-FFF2-40B4-BE49-F238E27FC236}">
                <a16:creationId xmlns:a16="http://schemas.microsoft.com/office/drawing/2014/main" id="{39820AED-00A1-494B-A619-DD379AC4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2" name="fh-5">
            <a:extLst xmlns:a="http://schemas.openxmlformats.org/drawingml/2006/main">
              <a:ext uri="{FF2B5EF4-FFF2-40B4-BE49-F238E27FC236}">
                <a16:creationId xmlns:a16="http://schemas.microsoft.com/office/drawing/2014/main" id="{C992ECDE-D39B-4188-8343-0208DD2C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3382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输出用途</a:t>
            </a:r>
          </a:p>
        </p:txBody>
      </p:sp>
      <p:sp>
        <p:nvSpPr>
          <p:cNvPr id="23" name="fd-5">
            <a:extLst xmlns:a="http://schemas.openxmlformats.org/drawingml/2006/main">
              <a:ext uri="{FF2B5EF4-FFF2-40B4-BE49-F238E27FC236}">
                <a16:creationId xmlns:a16="http://schemas.microsoft.com/office/drawing/2014/main" id="{78FFAE82-21FF-43FA-9321-0DD53EEE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933825"/>
            <a:ext cx="838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直接引用 / 修改后引用 / 仅作线索 / 拒绝</a:t>
            </a:r>
          </a:p>
        </p:txBody>
      </p:sp>
      <p:sp>
        <p:nvSpPr>
          <p:cNvPr id="24" name="f-6">
            <a:extLst xmlns:a="http://schemas.openxmlformats.org/drawingml/2006/main">
              <a:ext uri="{FF2B5EF4-FFF2-40B4-BE49-F238E27FC236}">
                <a16:creationId xmlns:a16="http://schemas.microsoft.com/office/drawing/2014/main" id="{ECEC817F-D540-4889-8A05-A2F3F51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5" name="fh-6">
            <a:extLst xmlns:a="http://schemas.openxmlformats.org/drawingml/2006/main">
              <a:ext uri="{FF2B5EF4-FFF2-40B4-BE49-F238E27FC236}">
                <a16:creationId xmlns:a16="http://schemas.microsoft.com/office/drawing/2014/main" id="{7B81692A-5C78-46C3-8834-FDE6130F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2437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失败或偏差</a:t>
            </a:r>
          </a:p>
        </p:txBody>
      </p:sp>
      <p:sp>
        <p:nvSpPr>
          <p:cNvPr id="26" name="fd-6">
            <a:extLst xmlns:a="http://schemas.openxmlformats.org/drawingml/2006/main">
              <a:ext uri="{FF2B5EF4-FFF2-40B4-BE49-F238E27FC236}">
                <a16:creationId xmlns:a16="http://schemas.microsoft.com/office/drawing/2014/main" id="{83B91813-1F61-412D-A8EF-4CF73840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24375"/>
            <a:ext cx="838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至少一处错误，或已检查风险与依据</a:t>
            </a:r>
          </a:p>
        </p:txBody>
      </p:sp>
      <p:sp>
        <p:nvSpPr>
          <p:cNvPr id="27" name="bottom">
            <a:extLst xmlns:a="http://schemas.openxmlformats.org/drawingml/2006/main">
              <a:ext uri="{FF2B5EF4-FFF2-40B4-BE49-F238E27FC236}">
                <a16:creationId xmlns:a16="http://schemas.microsoft.com/office/drawing/2014/main" id="{68AA8308-2E00-4888-B21D-C063F484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219700"/>
            <a:ext cx="830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“本研究使用了 AI 工具”只是一句声明，不能支持复核。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署名、引用证据角色与 AI 输出线索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h-0">
            <a:extLst xmlns:a="http://schemas.openxmlformats.org/drawingml/2006/main">
              <a:ext uri="{FF2B5EF4-FFF2-40B4-BE49-F238E27FC236}">
                <a16:creationId xmlns:a16="http://schemas.microsoft.com/office/drawing/2014/main" id="{A7CB17EA-20C8-4274-9DD9-A6411CE3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3638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署名与贡献</a:t>
            </a:r>
          </a:p>
        </p:txBody>
      </p:sp>
      <p:sp>
        <p:nvSpPr>
          <p:cNvPr id="7" name="n-0-0">
            <a:extLst xmlns:a="http://schemas.openxmlformats.org/drawingml/2006/main">
              <a:ext uri="{FF2B5EF4-FFF2-40B4-BE49-F238E27FC236}">
                <a16:creationId xmlns:a16="http://schemas.microsoft.com/office/drawing/2014/main" id="{0083ADF6-3EE3-49A6-B569-9EA53FDE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t-0-0">
            <a:extLst xmlns:a="http://schemas.openxmlformats.org/drawingml/2006/main">
              <a:ext uri="{FF2B5EF4-FFF2-40B4-BE49-F238E27FC236}">
                <a16:creationId xmlns:a16="http://schemas.microsoft.com/office/drawing/2014/main" id="{F66B4E6D-204C-47E2-ABF1-1209BE20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526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学生：作者</a:t>
            </a:r>
          </a:p>
        </p:txBody>
      </p:sp>
      <p:sp>
        <p:nvSpPr>
          <p:cNvPr id="9" name="n-0-1">
            <a:extLst xmlns:a="http://schemas.openxmlformats.org/drawingml/2006/main">
              <a:ext uri="{FF2B5EF4-FFF2-40B4-BE49-F238E27FC236}">
                <a16:creationId xmlns:a16="http://schemas.microsoft.com/office/drawing/2014/main" id="{B6058B7B-1C4E-4765-8BEE-06BA28CC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t-0-1">
            <a:extLst xmlns:a="http://schemas.openxmlformats.org/drawingml/2006/main">
              <a:ext uri="{FF2B5EF4-FFF2-40B4-BE49-F238E27FC236}">
                <a16:creationId xmlns:a16="http://schemas.microsoft.com/office/drawing/2014/main" id="{4819C438-167C-49DF-8878-24EA10F3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9555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导师/同伴反馈：致谢</a:t>
            </a:r>
          </a:p>
        </p:txBody>
      </p:sp>
      <p:sp>
        <p:nvSpPr>
          <p:cNvPr id="11" name="n-0-2">
            <a:extLst xmlns:a="http://schemas.openxmlformats.org/drawingml/2006/main">
              <a:ext uri="{FF2B5EF4-FFF2-40B4-BE49-F238E27FC236}">
                <a16:creationId xmlns:a16="http://schemas.microsoft.com/office/drawing/2014/main" id="{9AE230FB-135B-43FB-9BB3-BF88B3F1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t-0-2">
            <a:extLst xmlns:a="http://schemas.openxmlformats.org/drawingml/2006/main">
              <a:ext uri="{FF2B5EF4-FFF2-40B4-BE49-F238E27FC236}">
                <a16:creationId xmlns:a16="http://schemas.microsoft.com/office/drawing/2014/main" id="{51B68B58-6C4D-46AC-8982-0A74F46CD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385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工具：披露，不列作者</a:t>
            </a:r>
          </a:p>
        </p:txBody>
      </p:sp>
      <p:sp>
        <p:nvSpPr>
          <p:cNvPr id="13" name="n-0-3">
            <a:extLst xmlns:a="http://schemas.openxmlformats.org/drawingml/2006/main">
              <a:ext uri="{FF2B5EF4-FFF2-40B4-BE49-F238E27FC236}">
                <a16:creationId xmlns:a16="http://schemas.microsoft.com/office/drawing/2014/main" id="{D10CD667-C249-43D3-AE12-1BECD5A7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t-0-3">
            <a:extLst xmlns:a="http://schemas.openxmlformats.org/drawingml/2006/main">
              <a:ext uri="{FF2B5EF4-FFF2-40B4-BE49-F238E27FC236}">
                <a16:creationId xmlns:a16="http://schemas.microsoft.com/office/drawing/2014/main" id="{9FD3A819-ADAF-4894-A1CE-9CED6054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8145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代码/数据：写来源与许可</a:t>
            </a:r>
          </a:p>
        </p:txBody>
      </p:sp>
      <p:sp>
        <p:nvSpPr>
          <p:cNvPr id="15" name="h-1">
            <a:extLst xmlns:a="http://schemas.openxmlformats.org/drawingml/2006/main">
              <a:ext uri="{FF2B5EF4-FFF2-40B4-BE49-F238E27FC236}">
                <a16:creationId xmlns:a16="http://schemas.microsoft.com/office/drawing/2014/main" id="{940927F3-9A19-4A52-929C-78C4CEF4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104900"/>
            <a:ext cx="3638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引用证据角色</a:t>
            </a:r>
          </a:p>
        </p:txBody>
      </p:sp>
      <p:sp>
        <p:nvSpPr>
          <p:cNvPr id="16" name="n-1-0">
            <a:extLst xmlns:a="http://schemas.openxmlformats.org/drawingml/2006/main">
              <a:ext uri="{FF2B5EF4-FFF2-40B4-BE49-F238E27FC236}">
                <a16:creationId xmlns:a16="http://schemas.microsoft.com/office/drawing/2014/main" id="{8DE09D29-1EC5-48B9-A39F-D07DED49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288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t-1-0">
            <a:extLst xmlns:a="http://schemas.openxmlformats.org/drawingml/2006/main">
              <a:ext uri="{FF2B5EF4-FFF2-40B4-BE49-F238E27FC236}">
                <a16:creationId xmlns:a16="http://schemas.microsoft.com/office/drawing/2014/main" id="{0FB9BDCF-2874-4012-9E50-56984F68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7526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直接证据</a:t>
            </a:r>
          </a:p>
        </p:txBody>
      </p:sp>
      <p:sp>
        <p:nvSpPr>
          <p:cNvPr id="18" name="n-1-1">
            <a:extLst xmlns:a="http://schemas.openxmlformats.org/drawingml/2006/main">
              <a:ext uri="{FF2B5EF4-FFF2-40B4-BE49-F238E27FC236}">
                <a16:creationId xmlns:a16="http://schemas.microsoft.com/office/drawing/2014/main" id="{7A257CEA-2B3C-4B54-9DA5-6D9F90D9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t-1-1">
            <a:extLst xmlns:a="http://schemas.openxmlformats.org/drawingml/2006/main">
              <a:ext uri="{FF2B5EF4-FFF2-40B4-BE49-F238E27FC236}">
                <a16:creationId xmlns:a16="http://schemas.microsoft.com/office/drawing/2014/main" id="{100E33B5-9284-4E0A-8C5E-E234F367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49555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补充证据</a:t>
            </a:r>
          </a:p>
        </p:txBody>
      </p:sp>
      <p:sp>
        <p:nvSpPr>
          <p:cNvPr id="20" name="n-1-2">
            <a:extLst xmlns:a="http://schemas.openxmlformats.org/drawingml/2006/main">
              <a:ext uri="{FF2B5EF4-FFF2-40B4-BE49-F238E27FC236}">
                <a16:creationId xmlns:a16="http://schemas.microsoft.com/office/drawing/2014/main" id="{D1521D5A-2F1A-45EB-A8C8-87BC9199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147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t-1-2">
            <a:extLst xmlns:a="http://schemas.openxmlformats.org/drawingml/2006/main">
              <a:ext uri="{FF2B5EF4-FFF2-40B4-BE49-F238E27FC236}">
                <a16:creationId xmlns:a16="http://schemas.microsoft.com/office/drawing/2014/main" id="{AB26031E-E810-4BF4-89D8-4622F74C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2385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反例或冲突</a:t>
            </a:r>
          </a:p>
        </p:txBody>
      </p:sp>
      <p:sp>
        <p:nvSpPr>
          <p:cNvPr id="22" name="n-1-3">
            <a:extLst xmlns:a="http://schemas.openxmlformats.org/drawingml/2006/main">
              <a:ext uri="{FF2B5EF4-FFF2-40B4-BE49-F238E27FC236}">
                <a16:creationId xmlns:a16="http://schemas.microsoft.com/office/drawing/2014/main" id="{8D145B8E-81AB-4405-92A9-11543D8B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576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t-1-3">
            <a:extLst xmlns:a="http://schemas.openxmlformats.org/drawingml/2006/main">
              <a:ext uri="{FF2B5EF4-FFF2-40B4-BE49-F238E27FC236}">
                <a16:creationId xmlns:a16="http://schemas.microsoft.com/office/drawing/2014/main" id="{2B5DCCFD-8B4C-44A6-90B3-A5EB8B5D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98145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方法参考</a:t>
            </a:r>
          </a:p>
        </p:txBody>
      </p:sp>
      <p:sp>
        <p:nvSpPr>
          <p:cNvPr id="24" name="h-2">
            <a:extLst xmlns:a="http://schemas.openxmlformats.org/drawingml/2006/main">
              <a:ext uri="{FF2B5EF4-FFF2-40B4-BE49-F238E27FC236}">
                <a16:creationId xmlns:a16="http://schemas.microsoft.com/office/drawing/2014/main" id="{71565A1C-B2E2-4811-91B0-92CD3ACA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104900"/>
            <a:ext cx="3638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输出只作线索</a:t>
            </a:r>
          </a:p>
        </p:txBody>
      </p:sp>
      <p:sp>
        <p:nvSpPr>
          <p:cNvPr id="25" name="n-2-0">
            <a:extLst xmlns:a="http://schemas.openxmlformats.org/drawingml/2006/main">
              <a:ext uri="{FF2B5EF4-FFF2-40B4-BE49-F238E27FC236}">
                <a16:creationId xmlns:a16="http://schemas.microsoft.com/office/drawing/2014/main" id="{DBD655B9-E9B0-4049-8CE7-1D1164C0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288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6" name="t-2-0">
            <a:extLst xmlns:a="http://schemas.openxmlformats.org/drawingml/2006/main">
              <a:ext uri="{FF2B5EF4-FFF2-40B4-BE49-F238E27FC236}">
                <a16:creationId xmlns:a16="http://schemas.microsoft.com/office/drawing/2014/main" id="{166B311F-9036-4CBF-B1FE-3999AB70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526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题名/DOI 回正式来源核验</a:t>
            </a:r>
          </a:p>
        </p:txBody>
      </p:sp>
      <p:sp>
        <p:nvSpPr>
          <p:cNvPr id="27" name="n-2-1">
            <a:extLst xmlns:a="http://schemas.openxmlformats.org/drawingml/2006/main">
              <a:ext uri="{FF2B5EF4-FFF2-40B4-BE49-F238E27FC236}">
                <a16:creationId xmlns:a16="http://schemas.microsoft.com/office/drawing/2014/main" id="{A1063B20-A4D2-4C74-88A7-954DBB1A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5717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8" name="t-2-1">
            <a:extLst xmlns:a="http://schemas.openxmlformats.org/drawingml/2006/main">
              <a:ext uri="{FF2B5EF4-FFF2-40B4-BE49-F238E27FC236}">
                <a16:creationId xmlns:a16="http://schemas.microsoft.com/office/drawing/2014/main" id="{31772859-4E7B-43BA-8A8F-EB6EDA9F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9555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限定词不得被改强</a:t>
            </a:r>
          </a:p>
        </p:txBody>
      </p:sp>
      <p:sp>
        <p:nvSpPr>
          <p:cNvPr id="29" name="n-2-2">
            <a:extLst xmlns:a="http://schemas.openxmlformats.org/drawingml/2006/main">
              <a:ext uri="{FF2B5EF4-FFF2-40B4-BE49-F238E27FC236}">
                <a16:creationId xmlns:a16="http://schemas.microsoft.com/office/drawing/2014/main" id="{AD4EDD7A-3097-4DB1-81C7-195F97F2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147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0" name="t-2-2">
            <a:extLst xmlns:a="http://schemas.openxmlformats.org/drawingml/2006/main">
              <a:ext uri="{FF2B5EF4-FFF2-40B4-BE49-F238E27FC236}">
                <a16:creationId xmlns:a16="http://schemas.microsoft.com/office/drawing/2014/main" id="{DF25B0D0-9B97-48E1-A0EC-18A8D1D2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不能写“AI 总结认为”</a:t>
            </a:r>
          </a:p>
        </p:txBody>
      </p:sp>
      <p:sp>
        <p:nvSpPr>
          <p:cNvPr id="31" name="n-2-3">
            <a:extLst xmlns:a="http://schemas.openxmlformats.org/drawingml/2006/main">
              <a:ext uri="{FF2B5EF4-FFF2-40B4-BE49-F238E27FC236}">
                <a16:creationId xmlns:a16="http://schemas.microsoft.com/office/drawing/2014/main" id="{1302ACF0-3618-4DDF-8ED9-D94F23D2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576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2" name="t-2-3">
            <a:extLst xmlns:a="http://schemas.openxmlformats.org/drawingml/2006/main">
              <a:ext uri="{FF2B5EF4-FFF2-40B4-BE49-F238E27FC236}">
                <a16:creationId xmlns:a16="http://schemas.microsoft.com/office/drawing/2014/main" id="{403E309D-74DA-4E5F-B18E-B67FCA15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8145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核验前不进入论文</a:t>
            </a:r>
          </a:p>
        </p:txBody>
      </p:sp>
      <p:sp>
        <p:nvSpPr>
          <p:cNvPr id="33" name="bottom">
            <a:extLst xmlns:a="http://schemas.openxmlformats.org/drawingml/2006/main">
              <a:ext uri="{FF2B5EF4-FFF2-40B4-BE49-F238E27FC236}">
                <a16:creationId xmlns:a16="http://schemas.microsoft.com/office/drawing/2014/main" id="{8230E622-DFEF-4C22-834F-7C95C35C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引用不是越多越好：每条都要说明它在论证中扮演什么角色。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贯穿案例：从验证门材料到论文式短文初版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teaching-label">
            <a:extLst xmlns:a="http://schemas.openxmlformats.org/drawingml/2006/main">
              <a:ext uri="{FF2B5EF4-FFF2-40B4-BE49-F238E27FC236}">
                <a16:creationId xmlns:a16="http://schemas.microsoft.com/office/drawing/2014/main" id="{7A96FD03-E8A9-4468-A5C9-CBB16CEA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00100"/>
            <a:ext cx="39433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虚构教学示例｜非真实实验</a:t>
            </a:r>
          </a:p>
        </p:txBody>
      </p:sp>
      <p:sp>
        <p:nvSpPr>
          <p:cNvPr id="7" name="num-0">
            <a:extLst xmlns:a="http://schemas.openxmlformats.org/drawingml/2006/main">
              <a:ext uri="{FF2B5EF4-FFF2-40B4-BE49-F238E27FC236}">
                <a16:creationId xmlns:a16="http://schemas.microsoft.com/office/drawing/2014/main" id="{CEC627C1-CBD2-4270-A8B3-9AB389B3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28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h-0">
            <a:extLst xmlns:a="http://schemas.openxmlformats.org/drawingml/2006/main">
              <a:ext uri="{FF2B5EF4-FFF2-40B4-BE49-F238E27FC236}">
                <a16:creationId xmlns:a16="http://schemas.microsoft.com/office/drawing/2014/main" id="{7573F6DF-D682-4E48-8565-DA4C44C3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381125"/>
            <a:ext cx="2152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贡献列表</a:t>
            </a:r>
          </a:p>
        </p:txBody>
      </p:sp>
      <p:sp>
        <p:nvSpPr>
          <p:cNvPr id="9" name="d-0">
            <a:extLst xmlns:a="http://schemas.openxmlformats.org/drawingml/2006/main">
              <a:ext uri="{FF2B5EF4-FFF2-40B4-BE49-F238E27FC236}">
                <a16:creationId xmlns:a16="http://schemas.microsoft.com/office/drawing/2014/main" id="{0F03AD06-E89E-4F18-A8E6-89CEAF269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019300"/>
            <a:ext cx="2647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C1/C2/C3</a:t>
            </a:r>
          </a:p>
        </p:txBody>
      </p:sp>
      <p:sp>
        <p:nvSpPr>
          <p:cNvPr id="10" name="line-0">
            <a:extLst xmlns:a="http://schemas.openxmlformats.org/drawingml/2006/main">
              <a:ext uri="{FF2B5EF4-FFF2-40B4-BE49-F238E27FC236}">
                <a16:creationId xmlns:a16="http://schemas.microsoft.com/office/drawing/2014/main" id="{82D02B40-B6DC-4A6B-9A08-60532219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24200" y="2043113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num-1">
            <a:extLst xmlns:a="http://schemas.openxmlformats.org/drawingml/2006/main">
              <a:ext uri="{FF2B5EF4-FFF2-40B4-BE49-F238E27FC236}">
                <a16:creationId xmlns:a16="http://schemas.microsoft.com/office/drawing/2014/main" id="{4DB16336-D112-47C0-B9E1-418E026B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28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h-1">
            <a:extLst xmlns:a="http://schemas.openxmlformats.org/drawingml/2006/main">
              <a:ext uri="{FF2B5EF4-FFF2-40B4-BE49-F238E27FC236}">
                <a16:creationId xmlns:a16="http://schemas.microsoft.com/office/drawing/2014/main" id="{D7F84C07-A46F-4521-BE64-5DA4C20A1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381125"/>
            <a:ext cx="2152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IMRaD 回写</a:t>
            </a:r>
          </a:p>
        </p:txBody>
      </p:sp>
      <p:sp>
        <p:nvSpPr>
          <p:cNvPr id="13" name="d-1">
            <a:extLst xmlns:a="http://schemas.openxmlformats.org/drawingml/2006/main">
              <a:ext uri="{FF2B5EF4-FFF2-40B4-BE49-F238E27FC236}">
                <a16:creationId xmlns:a16="http://schemas.microsoft.com/office/drawing/2014/main" id="{4F69E3E2-11AD-4616-A2E2-CC022217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19300"/>
            <a:ext cx="2647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四段都有来源</a:t>
            </a:r>
          </a:p>
        </p:txBody>
      </p:sp>
      <p:sp>
        <p:nvSpPr>
          <p:cNvPr id="14" name="line-1">
            <a:extLst xmlns:a="http://schemas.openxmlformats.org/drawingml/2006/main">
              <a:ext uri="{FF2B5EF4-FFF2-40B4-BE49-F238E27FC236}">
                <a16:creationId xmlns:a16="http://schemas.microsoft.com/office/drawing/2014/main" id="{1ED8D620-930F-4B59-9E92-66BB9A4F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43600" y="2043113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num-2">
            <a:extLst xmlns:a="http://schemas.openxmlformats.org/drawingml/2006/main">
              <a:ext uri="{FF2B5EF4-FFF2-40B4-BE49-F238E27FC236}">
                <a16:creationId xmlns:a16="http://schemas.microsoft.com/office/drawing/2014/main" id="{A42E6239-F952-4525-9440-01B23992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428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h-2">
            <a:extLst xmlns:a="http://schemas.openxmlformats.org/drawingml/2006/main">
              <a:ext uri="{FF2B5EF4-FFF2-40B4-BE49-F238E27FC236}">
                <a16:creationId xmlns:a16="http://schemas.microsoft.com/office/drawing/2014/main" id="{2A10092B-FEAE-4667-A228-AE2EB2EE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381125"/>
            <a:ext cx="2152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结论追踪表</a:t>
            </a:r>
          </a:p>
        </p:txBody>
      </p:sp>
      <p:sp>
        <p:nvSpPr>
          <p:cNvPr id="17" name="d-2">
            <a:extLst xmlns:a="http://schemas.openxmlformats.org/drawingml/2006/main">
              <a:ext uri="{FF2B5EF4-FFF2-40B4-BE49-F238E27FC236}">
                <a16:creationId xmlns:a16="http://schemas.microsoft.com/office/drawing/2014/main" id="{5028F7BD-D4A7-4DCC-8CE3-A093B2A0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19300"/>
            <a:ext cx="2647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三字段齐全</a:t>
            </a:r>
          </a:p>
        </p:txBody>
      </p:sp>
      <p:sp>
        <p:nvSpPr>
          <p:cNvPr id="18" name="line-2">
            <a:extLst xmlns:a="http://schemas.openxmlformats.org/drawingml/2006/main">
              <a:ext uri="{FF2B5EF4-FFF2-40B4-BE49-F238E27FC236}">
                <a16:creationId xmlns:a16="http://schemas.microsoft.com/office/drawing/2014/main" id="{04D2D2B1-612F-4BC4-8A9D-E8D0CCBA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0" y="2043113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num-3">
            <a:extLst xmlns:a="http://schemas.openxmlformats.org/drawingml/2006/main">
              <a:ext uri="{FF2B5EF4-FFF2-40B4-BE49-F238E27FC236}">
                <a16:creationId xmlns:a16="http://schemas.microsoft.com/office/drawing/2014/main" id="{7CA9646F-D3AC-4913-B7A6-55ADA18E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428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0" name="h-3">
            <a:extLst xmlns:a="http://schemas.openxmlformats.org/drawingml/2006/main">
              <a:ext uri="{FF2B5EF4-FFF2-40B4-BE49-F238E27FC236}">
                <a16:creationId xmlns:a16="http://schemas.microsoft.com/office/drawing/2014/main" id="{1C581680-6DBB-4D79-860D-A5EA666BD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381125"/>
            <a:ext cx="2152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审计 AI 文本</a:t>
            </a:r>
          </a:p>
        </p:txBody>
      </p:sp>
      <p:sp>
        <p:nvSpPr>
          <p:cNvPr id="21" name="d-3">
            <a:extLst xmlns:a="http://schemas.openxmlformats.org/drawingml/2006/main">
              <a:ext uri="{FF2B5EF4-FFF2-40B4-BE49-F238E27FC236}">
                <a16:creationId xmlns:a16="http://schemas.microsoft.com/office/drawing/2014/main" id="{FAC2E468-CF11-423D-A207-18A30B010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19300"/>
            <a:ext cx="2647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消除→降低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证明→初步证据</a:t>
            </a:r>
          </a:p>
        </p:txBody>
      </p:sp>
      <p:sp>
        <p:nvSpPr>
          <p:cNvPr id="22" name="num-4">
            <a:extLst xmlns:a="http://schemas.openxmlformats.org/drawingml/2006/main">
              <a:ext uri="{FF2B5EF4-FFF2-40B4-BE49-F238E27FC236}">
                <a16:creationId xmlns:a16="http://schemas.microsoft.com/office/drawing/2014/main" id="{3D66538B-9BA4-4B24-8B38-03DB4EC0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3" name="h-4">
            <a:extLst xmlns:a="http://schemas.openxmlformats.org/drawingml/2006/main">
              <a:ext uri="{FF2B5EF4-FFF2-40B4-BE49-F238E27FC236}">
                <a16:creationId xmlns:a16="http://schemas.microsoft.com/office/drawing/2014/main" id="{78F0F995-E754-4DCB-8FED-968FEE23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24225"/>
            <a:ext cx="3028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七字段披露</a:t>
            </a:r>
          </a:p>
        </p:txBody>
      </p:sp>
      <p:sp>
        <p:nvSpPr>
          <p:cNvPr id="24" name="d-4">
            <a:extLst xmlns:a="http://schemas.openxmlformats.org/drawingml/2006/main">
              <a:ext uri="{FF2B5EF4-FFF2-40B4-BE49-F238E27FC236}">
                <a16:creationId xmlns:a16="http://schemas.microsoft.com/office/drawing/2014/main" id="{BCDE5537-49AD-4092-B508-1B0B27E1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3524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含失败或偏差</a:t>
            </a:r>
          </a:p>
        </p:txBody>
      </p:sp>
      <p:sp>
        <p:nvSpPr>
          <p:cNvPr id="25" name="line-4">
            <a:extLst xmlns:a="http://schemas.openxmlformats.org/drawingml/2006/main">
              <a:ext uri="{FF2B5EF4-FFF2-40B4-BE49-F238E27FC236}">
                <a16:creationId xmlns:a16="http://schemas.microsoft.com/office/drawing/2014/main" id="{D2ABAE10-488D-427D-B445-082E84206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91000" y="398621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num-5">
            <a:extLst xmlns:a="http://schemas.openxmlformats.org/drawingml/2006/main">
              <a:ext uri="{FF2B5EF4-FFF2-40B4-BE49-F238E27FC236}">
                <a16:creationId xmlns:a16="http://schemas.microsoft.com/office/drawing/2014/main" id="{4D89965D-86CB-441B-8587-4D59DB74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718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7" name="h-5">
            <a:extLst xmlns:a="http://schemas.openxmlformats.org/drawingml/2006/main">
              <a:ext uri="{FF2B5EF4-FFF2-40B4-BE49-F238E27FC236}">
                <a16:creationId xmlns:a16="http://schemas.microsoft.com/office/drawing/2014/main" id="{4B2CE903-4675-4861-9231-DB84F724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24225"/>
            <a:ext cx="3028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stable 检查</a:t>
            </a:r>
          </a:p>
        </p:txBody>
      </p:sp>
      <p:sp>
        <p:nvSpPr>
          <p:cNvPr id="28" name="d-5">
            <a:extLst xmlns:a="http://schemas.openxmlformats.org/drawingml/2006/main">
              <a:ext uri="{FF2B5EF4-FFF2-40B4-BE49-F238E27FC236}">
                <a16:creationId xmlns:a16="http://schemas.microsoft.com/office/drawing/2014/main" id="{B7B7A0D8-E9DE-4CC4-A7A4-42061B39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62400"/>
            <a:ext cx="3524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不足两证据则降级</a:t>
            </a:r>
          </a:p>
        </p:txBody>
      </p:sp>
      <p:sp>
        <p:nvSpPr>
          <p:cNvPr id="29" name="line-5">
            <a:extLst xmlns:a="http://schemas.openxmlformats.org/drawingml/2006/main">
              <a:ext uri="{FF2B5EF4-FFF2-40B4-BE49-F238E27FC236}">
                <a16:creationId xmlns:a16="http://schemas.microsoft.com/office/drawing/2014/main" id="{5C6EF02F-1E4F-4305-9B19-48E80B2E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81950" y="398621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num-6">
            <a:extLst xmlns:a="http://schemas.openxmlformats.org/drawingml/2006/main">
              <a:ext uri="{FF2B5EF4-FFF2-40B4-BE49-F238E27FC236}">
                <a16:creationId xmlns:a16="http://schemas.microsoft.com/office/drawing/2014/main" id="{CE9A0465-9038-4ADF-9612-EB613A4C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718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1" name="h-6">
            <a:extLst xmlns:a="http://schemas.openxmlformats.org/drawingml/2006/main">
              <a:ext uri="{FF2B5EF4-FFF2-40B4-BE49-F238E27FC236}">
                <a16:creationId xmlns:a16="http://schemas.microsoft.com/office/drawing/2014/main" id="{70F9AF3E-F3FD-4CBB-B53C-97BA16FA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24225"/>
            <a:ext cx="3028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门条件预演</a:t>
            </a:r>
          </a:p>
        </p:txBody>
      </p:sp>
      <p:sp>
        <p:nvSpPr>
          <p:cNvPr id="32" name="d-6">
            <a:extLst xmlns:a="http://schemas.openxmlformats.org/drawingml/2006/main">
              <a:ext uri="{FF2B5EF4-FFF2-40B4-BE49-F238E27FC236}">
                <a16:creationId xmlns:a16="http://schemas.microsoft.com/office/drawing/2014/main" id="{90FD5AF4-5278-452D-B79B-433998D1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62400"/>
            <a:ext cx="3524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十项逐行标注</a:t>
            </a:r>
          </a:p>
        </p:txBody>
      </p:sp>
      <p:sp>
        <p:nvSpPr>
          <p:cNvPr id="33" name="bottom">
            <a:extLst xmlns:a="http://schemas.openxmlformats.org/drawingml/2006/main">
              <a:ext uri="{FF2B5EF4-FFF2-40B4-BE49-F238E27FC236}">
                <a16:creationId xmlns:a16="http://schemas.microsoft.com/office/drawing/2014/main" id="{1BB59CF9-15C6-43BE-B872-BB2B6E3A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979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实践目标：跑通一次链路并留下初版，不要求 25 分钟内完成论文终稿。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实践停留页：论证门条件 1–5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time">
            <a:extLst xmlns:a="http://schemas.openxmlformats.org/drawingml/2006/main">
              <a:ext uri="{FF2B5EF4-FFF2-40B4-BE49-F238E27FC236}">
                <a16:creationId xmlns:a16="http://schemas.microsoft.com/office/drawing/2014/main" id="{D82BEE8B-DDCF-406B-A3DE-ACBC6BF9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33147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35:00–60:00｜个人实践</a:t>
            </a:r>
          </a:p>
        </p:txBody>
      </p:sp>
      <p:sp>
        <p:nvSpPr>
          <p:cNvPr id="7" name="instruction">
            <a:extLst xmlns:a="http://schemas.openxmlformats.org/drawingml/2006/main">
              <a:ext uri="{FF2B5EF4-FFF2-40B4-BE49-F238E27FC236}">
                <a16:creationId xmlns:a16="http://schemas.microsoft.com/office/drawing/2014/main" id="{B817ABFC-A14F-43B2-BC12-18633940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914400"/>
            <a:ext cx="733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逐项：已满足 / 待补全 / 留给哪一课</a:t>
            </a:r>
          </a:p>
        </p:txBody>
      </p:sp>
      <p:sp>
        <p:nvSpPr>
          <p:cNvPr id="8" name="n-0">
            <a:extLst xmlns:a="http://schemas.openxmlformats.org/drawingml/2006/main">
              <a:ext uri="{FF2B5EF4-FFF2-40B4-BE49-F238E27FC236}">
                <a16:creationId xmlns:a16="http://schemas.microsoft.com/office/drawing/2014/main" id="{2CC1BBEB-31E7-48AD-91EA-D4CC23C5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c-0">
            <a:extLst xmlns:a="http://schemas.openxmlformats.org/drawingml/2006/main">
              <a:ext uri="{FF2B5EF4-FFF2-40B4-BE49-F238E27FC236}">
                <a16:creationId xmlns:a16="http://schemas.microsoft.com/office/drawing/2014/main" id="{1C5182C5-638D-4640-A09F-0B973467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0020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短文完整｜问题—局限</a:t>
            </a:r>
          </a:p>
        </p:txBody>
      </p:sp>
      <p:sp>
        <p:nvSpPr>
          <p:cNvPr id="10" name="n-1">
            <a:extLst xmlns:a="http://schemas.openxmlformats.org/drawingml/2006/main">
              <a:ext uri="{FF2B5EF4-FFF2-40B4-BE49-F238E27FC236}">
                <a16:creationId xmlns:a16="http://schemas.microsoft.com/office/drawing/2014/main" id="{F175C46C-27EE-4EE8-8E15-3B0A6BD4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c-1">
            <a:extLst xmlns:a="http://schemas.openxmlformats.org/drawingml/2006/main">
              <a:ext uri="{FF2B5EF4-FFF2-40B4-BE49-F238E27FC236}">
                <a16:creationId xmlns:a16="http://schemas.microsoft.com/office/drawing/2014/main" id="{D30C4693-DD75-47AE-99AE-4F721097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6695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表图可追溯｜证据 / 实验 ID</a:t>
            </a:r>
          </a:p>
        </p:txBody>
      </p:sp>
      <p:sp>
        <p:nvSpPr>
          <p:cNvPr id="12" name="n-2">
            <a:extLst xmlns:a="http://schemas.openxmlformats.org/drawingml/2006/main">
              <a:ext uri="{FF2B5EF4-FFF2-40B4-BE49-F238E27FC236}">
                <a16:creationId xmlns:a16="http://schemas.microsoft.com/office/drawing/2014/main" id="{1EB542BA-AFDF-46DA-8169-6646001F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c-2">
            <a:extLst xmlns:a="http://schemas.openxmlformats.org/drawingml/2006/main">
              <a:ext uri="{FF2B5EF4-FFF2-40B4-BE49-F238E27FC236}">
                <a16:creationId xmlns:a16="http://schemas.microsoft.com/office/drawing/2014/main" id="{12CE630D-A620-4D23-8F98-48B8B2B5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3370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讨论具体有效性威胁</a:t>
            </a:r>
          </a:p>
        </p:txBody>
      </p:sp>
      <p:sp>
        <p:nvSpPr>
          <p:cNvPr id="14" name="n-3">
            <a:extLst xmlns:a="http://schemas.openxmlformats.org/drawingml/2006/main">
              <a:ext uri="{FF2B5EF4-FFF2-40B4-BE49-F238E27FC236}">
                <a16:creationId xmlns:a16="http://schemas.microsoft.com/office/drawing/2014/main" id="{EF8352ED-5455-4C58-A738-9A411FA9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c-3">
            <a:extLst xmlns:a="http://schemas.openxmlformats.org/drawingml/2006/main">
              <a:ext uri="{FF2B5EF4-FFF2-40B4-BE49-F238E27FC236}">
                <a16:creationId xmlns:a16="http://schemas.microsoft.com/office/drawing/2014/main" id="{80CFE36E-61A5-4895-97F5-63E4C69D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0045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15 课评审处理记录</a:t>
            </a:r>
          </a:p>
        </p:txBody>
      </p:sp>
      <p:sp>
        <p:nvSpPr>
          <p:cNvPr id="16" name="n-4">
            <a:extLst xmlns:a="http://schemas.openxmlformats.org/drawingml/2006/main">
              <a:ext uri="{FF2B5EF4-FFF2-40B4-BE49-F238E27FC236}">
                <a16:creationId xmlns:a16="http://schemas.microsoft.com/office/drawing/2014/main" id="{EC7C44C3-7A12-423E-8B57-5A00BF83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" name="c-4">
            <a:extLst xmlns:a="http://schemas.openxmlformats.org/drawingml/2006/main">
              <a:ext uri="{FF2B5EF4-FFF2-40B4-BE49-F238E27FC236}">
                <a16:creationId xmlns:a16="http://schemas.microsoft.com/office/drawing/2014/main" id="{F83F27EF-7D1D-405A-BD9C-A956704B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6720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关键结论｜直接证据 + 上游判断</a:t>
            </a:r>
          </a:p>
        </p:txBody>
      </p:sp>
      <p:sp>
        <p:nvSpPr>
          <p:cNvPr id="18" name="handoff">
            <a:extLst xmlns:a="http://schemas.openxmlformats.org/drawingml/2006/main">
              <a:ext uri="{FF2B5EF4-FFF2-40B4-BE49-F238E27FC236}">
                <a16:creationId xmlns:a16="http://schemas.microsoft.com/office/drawing/2014/main" id="{CA9C0376-C59E-4F6E-8C48-2FCC95A0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67300"/>
            <a:ext cx="10210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条件 4 留给第 15 课｜本页先找缺口，不要假装全部通过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论证门条件 6–10 与同伴互查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n-0">
            <a:extLst xmlns:a="http://schemas.openxmlformats.org/drawingml/2006/main">
              <a:ext uri="{FF2B5EF4-FFF2-40B4-BE49-F238E27FC236}">
                <a16:creationId xmlns:a16="http://schemas.microsoft.com/office/drawing/2014/main" id="{E0D824C7-87C1-4E9F-9C41-934C98F18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47750"/>
            <a:ext cx="5334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q-0">
            <a:extLst xmlns:a="http://schemas.openxmlformats.org/drawingml/2006/main">
              <a:ext uri="{FF2B5EF4-FFF2-40B4-BE49-F238E27FC236}">
                <a16:creationId xmlns:a16="http://schemas.microsoft.com/office/drawing/2014/main" id="{D14454E4-AD0B-4726-A91B-EFD0B179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99060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stable 独立证据，否则降级</a:t>
            </a:r>
          </a:p>
        </p:txBody>
      </p:sp>
      <p:sp>
        <p:nvSpPr>
          <p:cNvPr id="8" name="n-1">
            <a:extLst xmlns:a="http://schemas.openxmlformats.org/drawingml/2006/main">
              <a:ext uri="{FF2B5EF4-FFF2-40B4-BE49-F238E27FC236}">
                <a16:creationId xmlns:a16="http://schemas.microsoft.com/office/drawing/2014/main" id="{54817E84-408C-449B-BE30-07781580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5334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9" name="q-1">
            <a:extLst xmlns:a="http://schemas.openxmlformats.org/drawingml/2006/main">
              <a:ext uri="{FF2B5EF4-FFF2-40B4-BE49-F238E27FC236}">
                <a16:creationId xmlns:a16="http://schemas.microsoft.com/office/drawing/2014/main" id="{F61F389F-DFBE-4045-9266-E18697EC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1925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Workflow 运行 / 权限 / 评价 / 失败</a:t>
            </a:r>
          </a:p>
        </p:txBody>
      </p:sp>
      <p:sp>
        <p:nvSpPr>
          <p:cNvPr id="10" name="n-2">
            <a:extLst xmlns:a="http://schemas.openxmlformats.org/drawingml/2006/main">
              <a:ext uri="{FF2B5EF4-FFF2-40B4-BE49-F238E27FC236}">
                <a16:creationId xmlns:a16="http://schemas.microsoft.com/office/drawing/2014/main" id="{CA99A24A-D47E-45CD-975F-793C9C4D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5334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1" name="q-2">
            <a:extLst xmlns:a="http://schemas.openxmlformats.org/drawingml/2006/main">
              <a:ext uri="{FF2B5EF4-FFF2-40B4-BE49-F238E27FC236}">
                <a16:creationId xmlns:a16="http://schemas.microsoft.com/office/drawing/2014/main" id="{0E62E102-9DEE-4F45-8CED-08D71DDE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4790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 / 许可 / 贡献 / AI 披露</a:t>
            </a:r>
          </a:p>
        </p:txBody>
      </p:sp>
      <p:sp>
        <p:nvSpPr>
          <p:cNvPr id="12" name="n-3">
            <a:extLst xmlns:a="http://schemas.openxmlformats.org/drawingml/2006/main">
              <a:ext uri="{FF2B5EF4-FFF2-40B4-BE49-F238E27FC236}">
                <a16:creationId xmlns:a16="http://schemas.microsoft.com/office/drawing/2014/main" id="{86291D39-8CA1-46DC-AD13-CF67B5B9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5334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3" name="q-3">
            <a:extLst xmlns:a="http://schemas.openxmlformats.org/drawingml/2006/main">
              <a:ext uri="{FF2B5EF4-FFF2-40B4-BE49-F238E27FC236}">
                <a16:creationId xmlns:a16="http://schemas.microsoft.com/office/drawing/2014/main" id="{20CAA3C3-586A-4589-BDF2-74C00C76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87655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工件状态与门检查一致</a:t>
            </a:r>
          </a:p>
        </p:txBody>
      </p:sp>
      <p:sp>
        <p:nvSpPr>
          <p:cNvPr id="14" name="n-4">
            <a:extLst xmlns:a="http://schemas.openxmlformats.org/drawingml/2006/main">
              <a:ext uri="{FF2B5EF4-FFF2-40B4-BE49-F238E27FC236}">
                <a16:creationId xmlns:a16="http://schemas.microsoft.com/office/drawing/2014/main" id="{0D987F22-FB80-42AE-A91B-5B250BEA9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62350"/>
            <a:ext cx="5334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5" name="q-4">
            <a:extLst xmlns:a="http://schemas.openxmlformats.org/drawingml/2006/main">
              <a:ext uri="{FF2B5EF4-FFF2-40B4-BE49-F238E27FC236}">
                <a16:creationId xmlns:a16="http://schemas.microsoft.com/office/drawing/2014/main" id="{C16B1467-B1CB-42B2-A033-4D22F835D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0520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展示 / 复现抽查 / 课程复盘</a:t>
            </a:r>
          </a:p>
        </p:txBody>
      </p:sp>
      <p:sp>
        <p:nvSpPr>
          <p:cNvPr id="16" name="author">
            <a:extLst xmlns:a="http://schemas.openxmlformats.org/drawingml/2006/main">
              <a:ext uri="{FF2B5EF4-FFF2-40B4-BE49-F238E27FC236}">
                <a16:creationId xmlns:a16="http://schemas.microsoft.com/office/drawing/2014/main" id="{1E122F27-E5EF-4CDB-8EF1-B01E2BEB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428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同伴只选 1 项追问；作者记录</a:t>
            </a:r>
          </a:p>
        </p:txBody>
      </p:sp>
      <p:sp>
        <p:nvSpPr>
          <p:cNvPr id="17" name="state-0">
            <a:extLst xmlns:a="http://schemas.openxmlformats.org/drawingml/2006/main">
              <a:ext uri="{FF2B5EF4-FFF2-40B4-BE49-F238E27FC236}">
                <a16:creationId xmlns:a16="http://schemas.microsoft.com/office/drawing/2014/main" id="{C2254928-2B22-40B3-A311-6AEB1FA1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24350"/>
            <a:ext cx="1866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18" name="state-1">
            <a:extLst xmlns:a="http://schemas.openxmlformats.org/drawingml/2006/main">
              <a:ext uri="{FF2B5EF4-FFF2-40B4-BE49-F238E27FC236}">
                <a16:creationId xmlns:a16="http://schemas.microsoft.com/office/drawing/2014/main" id="{03A61F72-251D-4541-8853-ACEFA912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24350"/>
            <a:ext cx="1866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暂不采纳</a:t>
            </a:r>
          </a:p>
        </p:txBody>
      </p:sp>
      <p:sp>
        <p:nvSpPr>
          <p:cNvPr id="19" name="state-2">
            <a:extLst xmlns:a="http://schemas.openxmlformats.org/drawingml/2006/main">
              <a:ext uri="{FF2B5EF4-FFF2-40B4-BE49-F238E27FC236}">
                <a16:creationId xmlns:a16="http://schemas.microsoft.com/office/drawing/2014/main" id="{32E41F74-2416-456A-8669-085BF102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324350"/>
            <a:ext cx="1866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A86C12"/>
                </a:solidFill>
              </a:defRPr>
            </a:pPr>
            <a:r>
              <a:rPr sz="18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20" name="bottom">
            <a:extLst xmlns:a="http://schemas.openxmlformats.org/drawingml/2006/main">
              <a:ext uri="{FF2B5EF4-FFF2-40B4-BE49-F238E27FC236}">
                <a16:creationId xmlns:a16="http://schemas.microsoft.com/office/drawing/2014/main" id="{32D6F04B-CA44-47CD-89B7-D800ABD2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162550"/>
            <a:ext cx="8458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同伴只提问题，不替作者修改；反馈不形成共同提交。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summary-14-number-0">
            <a:extLst xmlns:a="http://schemas.openxmlformats.org/drawingml/2006/main">
              <a:ext uri="{FF2B5EF4-FFF2-40B4-BE49-F238E27FC236}">
                <a16:creationId xmlns:a16="http://schemas.microsoft.com/office/drawing/2014/main" id="{89EAA353-FEFA-4ED5-8206-32A70F18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summary-14-heading-0">
            <a:extLst xmlns:a="http://schemas.openxmlformats.org/drawingml/2006/main">
              <a:ext uri="{FF2B5EF4-FFF2-40B4-BE49-F238E27FC236}">
                <a16:creationId xmlns:a16="http://schemas.microsoft.com/office/drawing/2014/main" id="{A54E7EAD-ED00-4AA1-8631-431CB83B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IMRaD 组织</a:t>
            </a:r>
          </a:p>
        </p:txBody>
      </p:sp>
      <p:sp>
        <p:nvSpPr>
          <p:cNvPr id="8" name="summary-14-detail-0">
            <a:extLst xmlns:a="http://schemas.openxmlformats.org/drawingml/2006/main">
              <a:ext uri="{FF2B5EF4-FFF2-40B4-BE49-F238E27FC236}">
                <a16:creationId xmlns:a16="http://schemas.microsoft.com/office/drawing/2014/main" id="{6A70BB05-46C7-474E-8E81-C1970FB6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用研究问题、方法、结果与讨论组织论证，而不是堆材料</a:t>
            </a:r>
          </a:p>
        </p:txBody>
      </p:sp>
      <p:sp>
        <p:nvSpPr>
          <p:cNvPr id="9" name="summary-14-number-1">
            <a:extLst xmlns:a="http://schemas.openxmlformats.org/drawingml/2006/main">
              <a:ext uri="{FF2B5EF4-FFF2-40B4-BE49-F238E27FC236}">
                <a16:creationId xmlns:a16="http://schemas.microsoft.com/office/drawing/2014/main" id="{B8099C73-1AB9-4793-AE64-C6D0FBD2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summary-14-heading-1">
            <a:extLst xmlns:a="http://schemas.openxmlformats.org/drawingml/2006/main">
              <a:ext uri="{FF2B5EF4-FFF2-40B4-BE49-F238E27FC236}">
                <a16:creationId xmlns:a16="http://schemas.microsoft.com/office/drawing/2014/main" id="{503509C4-4655-4A53-9BC2-95D84464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结论追踪</a:t>
            </a:r>
          </a:p>
        </p:txBody>
      </p:sp>
      <p:sp>
        <p:nvSpPr>
          <p:cNvPr id="11" name="summary-14-detail-1">
            <a:extLst xmlns:a="http://schemas.openxmlformats.org/drawingml/2006/main">
              <a:ext uri="{FF2B5EF4-FFF2-40B4-BE49-F238E27FC236}">
                <a16:creationId xmlns:a16="http://schemas.microsoft.com/office/drawing/2014/main" id="{693A1D0F-3F29-4964-B256-7B4E8E0C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每个重要主张回到证据、实验 ID 与适用边界</a:t>
            </a:r>
          </a:p>
        </p:txBody>
      </p:sp>
      <p:sp>
        <p:nvSpPr>
          <p:cNvPr id="12" name="summary-14-number-2">
            <a:extLst xmlns:a="http://schemas.openxmlformats.org/drawingml/2006/main">
              <a:ext uri="{FF2B5EF4-FFF2-40B4-BE49-F238E27FC236}">
                <a16:creationId xmlns:a16="http://schemas.microsoft.com/office/drawing/2014/main" id="{D118E2CF-99EB-4F9D-8749-0C3FB4AB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summary-14-heading-2">
            <a:extLst xmlns:a="http://schemas.openxmlformats.org/drawingml/2006/main">
              <a:ext uri="{FF2B5EF4-FFF2-40B4-BE49-F238E27FC236}">
                <a16:creationId xmlns:a16="http://schemas.microsoft.com/office/drawing/2014/main" id="{6053353E-6210-442C-B6ED-BB42B49F9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使用披露</a:t>
            </a:r>
          </a:p>
        </p:txBody>
      </p:sp>
      <p:sp>
        <p:nvSpPr>
          <p:cNvPr id="14" name="summary-14-detail-2">
            <a:extLst xmlns:a="http://schemas.openxmlformats.org/drawingml/2006/main">
              <a:ext uri="{FF2B5EF4-FFF2-40B4-BE49-F238E27FC236}">
                <a16:creationId xmlns:a16="http://schemas.microsoft.com/office/drawing/2014/main" id="{2277E07A-7F32-4681-889D-163F07DA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说明用途、Context、生成内容、人工核验与最终责任</a:t>
            </a:r>
          </a:p>
        </p:txBody>
      </p:sp>
      <p:sp>
        <p:nvSpPr>
          <p:cNvPr id="15" name="summary-14-number-3">
            <a:extLst xmlns:a="http://schemas.openxmlformats.org/drawingml/2006/main">
              <a:ext uri="{FF2B5EF4-FFF2-40B4-BE49-F238E27FC236}">
                <a16:creationId xmlns:a16="http://schemas.microsoft.com/office/drawing/2014/main" id="{36819BF2-F080-499A-AEFA-14AFFB49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summary-14-heading-3">
            <a:extLst xmlns:a="http://schemas.openxmlformats.org/drawingml/2006/main">
              <a:ext uri="{FF2B5EF4-FFF2-40B4-BE49-F238E27FC236}">
                <a16:creationId xmlns:a16="http://schemas.microsoft.com/office/drawing/2014/main" id="{B9583761-5CA2-416B-9AD0-0D77A735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论证门预演</a:t>
            </a:r>
          </a:p>
        </p:txBody>
      </p:sp>
      <p:sp>
        <p:nvSpPr>
          <p:cNvPr id="17" name="summary-14-detail-3">
            <a:extLst xmlns:a="http://schemas.openxmlformats.org/drawingml/2006/main">
              <a:ext uri="{FF2B5EF4-FFF2-40B4-BE49-F238E27FC236}">
                <a16:creationId xmlns:a16="http://schemas.microsoft.com/office/drawing/2014/main" id="{7496AA20-1802-425F-8C89-0375588E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提前检查主张强度、失败披露、威胁有效性与材料完整性</a:t>
            </a:r>
          </a:p>
        </p:txBody>
      </p:sp>
      <p:sp>
        <p:nvSpPr>
          <p:cNvPr id="18" name="summary-14-boundary">
            <a:extLst xmlns:a="http://schemas.openxmlformats.org/drawingml/2006/main">
              <a:ext uri="{FF2B5EF4-FFF2-40B4-BE49-F238E27FC236}">
                <a16:creationId xmlns:a16="http://schemas.microsoft.com/office/drawing/2014/main" id="{49C003D7-D34D-4799-8678-517A6593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9867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关键边界：论文式表达可以重组事实，但不能扩大证据支持范围，也不能把 AI 文本当作来源。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论证门预演与第 15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arr-0">
            <a:extLst xmlns:a="http://schemas.openxmlformats.org/drawingml/2006/main">
              <a:ext uri="{FF2B5EF4-FFF2-40B4-BE49-F238E27FC236}">
                <a16:creationId xmlns:a16="http://schemas.microsoft.com/office/drawing/2014/main" id="{9D536436-3B39-4D32-8468-0B6E0AC9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67150" y="20002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h-0">
            <a:extLst xmlns:a="http://schemas.openxmlformats.org/drawingml/2006/main">
              <a:ext uri="{FF2B5EF4-FFF2-40B4-BE49-F238E27FC236}">
                <a16:creationId xmlns:a16="http://schemas.microsoft.com/office/drawing/2014/main" id="{141CB865-BFFC-4C89-BD32-DFC6A16F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57300"/>
            <a:ext cx="3276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</a:t>
            </a:r>
          </a:p>
        </p:txBody>
      </p:sp>
      <p:sp>
        <p:nvSpPr>
          <p:cNvPr id="8" name="d-0">
            <a:extLst xmlns:a="http://schemas.openxmlformats.org/drawingml/2006/main">
              <a:ext uri="{FF2B5EF4-FFF2-40B4-BE49-F238E27FC236}">
                <a16:creationId xmlns:a16="http://schemas.microsoft.com/office/drawing/2014/main" id="{B42A075A-6992-4F97-A56B-1F6DE09C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71650"/>
            <a:ext cx="32766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论文式短文初版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+ 结论追踪表 + AI 披露</a:t>
            </a:r>
          </a:p>
        </p:txBody>
      </p:sp>
      <p:sp>
        <p:nvSpPr>
          <p:cNvPr id="9" name="arr-1">
            <a:extLst xmlns:a="http://schemas.openxmlformats.org/drawingml/2006/main">
              <a:ext uri="{FF2B5EF4-FFF2-40B4-BE49-F238E27FC236}">
                <a16:creationId xmlns:a16="http://schemas.microsoft.com/office/drawing/2014/main" id="{3FB4CA30-4AF7-4019-A5A5-8D72C0C3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0" y="20002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-1">
            <a:extLst xmlns:a="http://schemas.openxmlformats.org/drawingml/2006/main">
              <a:ext uri="{FF2B5EF4-FFF2-40B4-BE49-F238E27FC236}">
                <a16:creationId xmlns:a16="http://schemas.microsoft.com/office/drawing/2014/main" id="{9D964898-0ED9-4AB4-8BDF-09CBE8C6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257300"/>
            <a:ext cx="3276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15 课</a:t>
            </a:r>
          </a:p>
        </p:txBody>
      </p:sp>
      <p:sp>
        <p:nvSpPr>
          <p:cNvPr id="11" name="d-1">
            <a:extLst xmlns:a="http://schemas.openxmlformats.org/drawingml/2006/main">
              <a:ext uri="{FF2B5EF4-FFF2-40B4-BE49-F238E27FC236}">
                <a16:creationId xmlns:a16="http://schemas.microsoft.com/office/drawing/2014/main" id="{67D55EF5-F8EC-4801-B32B-05413A39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71650"/>
            <a:ext cx="32766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同行评审 + 论证门预检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记录采纳/拒绝/理由</a:t>
            </a:r>
          </a:p>
        </p:txBody>
      </p:sp>
      <p:sp>
        <p:nvSpPr>
          <p:cNvPr id="12" name="h-2">
            <a:extLst xmlns:a="http://schemas.openxmlformats.org/drawingml/2006/main">
              <a:ext uri="{FF2B5EF4-FFF2-40B4-BE49-F238E27FC236}">
                <a16:creationId xmlns:a16="http://schemas.microsoft.com/office/drawing/2014/main" id="{84B8675B-B03D-423E-BD06-D0838976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257300"/>
            <a:ext cx="3276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16 课</a:t>
            </a:r>
          </a:p>
        </p:txBody>
      </p:sp>
      <p:sp>
        <p:nvSpPr>
          <p:cNvPr id="13" name="d-2">
            <a:extLst xmlns:a="http://schemas.openxmlformats.org/drawingml/2006/main">
              <a:ext uri="{FF2B5EF4-FFF2-40B4-BE49-F238E27FC236}">
                <a16:creationId xmlns:a16="http://schemas.microsoft.com/office/drawing/2014/main" id="{B3918B03-2A74-4DE9-A43B-EEFBA6E7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71650"/>
            <a:ext cx="32766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补齐状态、展示与复盘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合并提交论证门</a:t>
            </a:r>
          </a:p>
        </p:txBody>
      </p:sp>
      <p:sp>
        <p:nvSpPr>
          <p:cNvPr id="14" name="exit-h">
            <a:extLst xmlns:a="http://schemas.openxmlformats.org/drawingml/2006/main">
              <a:ext uri="{FF2B5EF4-FFF2-40B4-BE49-F238E27FC236}">
                <a16:creationId xmlns:a16="http://schemas.microsoft.com/office/drawing/2014/main" id="{4AFF952A-C9DD-4E9E-B949-6F424411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95650"/>
            <a:ext cx="10325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退出卡｜留下可用于第 15 课调整的六个判断</a:t>
            </a:r>
          </a:p>
        </p:txBody>
      </p:sp>
      <p:sp>
        <p:nvSpPr>
          <p:cNvPr id="15" name="e-0">
            <a:extLst xmlns:a="http://schemas.openxmlformats.org/drawingml/2006/main">
              <a:ext uri="{FF2B5EF4-FFF2-40B4-BE49-F238E27FC236}">
                <a16:creationId xmlns:a16="http://schemas.microsoft.com/office/drawing/2014/main" id="{8B30E685-704A-43DC-9B5E-60408386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3524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最清楚的一点</a:t>
            </a:r>
          </a:p>
        </p:txBody>
      </p:sp>
      <p:sp>
        <p:nvSpPr>
          <p:cNvPr id="16" name="e-1">
            <a:extLst xmlns:a="http://schemas.openxmlformats.org/drawingml/2006/main">
              <a:ext uri="{FF2B5EF4-FFF2-40B4-BE49-F238E27FC236}">
                <a16:creationId xmlns:a16="http://schemas.microsoft.com/office/drawing/2014/main" id="{FFEA7080-7736-438E-A04A-E6A98580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43350"/>
            <a:ext cx="3524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仍困惑的一点</a:t>
            </a:r>
          </a:p>
        </p:txBody>
      </p:sp>
      <p:sp>
        <p:nvSpPr>
          <p:cNvPr id="17" name="e-2">
            <a:extLst xmlns:a="http://schemas.openxmlformats.org/drawingml/2006/main">
              <a:ext uri="{FF2B5EF4-FFF2-40B4-BE49-F238E27FC236}">
                <a16:creationId xmlns:a16="http://schemas.microsoft.com/office/drawing/2014/main" id="{1C20C441-9F67-48B4-88BA-16E85BDF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43350"/>
            <a:ext cx="3524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追踪表三字段齐全？</a:t>
            </a:r>
          </a:p>
        </p:txBody>
      </p:sp>
      <p:sp>
        <p:nvSpPr>
          <p:cNvPr id="18" name="e-3">
            <a:extLst xmlns:a="http://schemas.openxmlformats.org/drawingml/2006/main">
              <a:ext uri="{FF2B5EF4-FFF2-40B4-BE49-F238E27FC236}">
                <a16:creationId xmlns:a16="http://schemas.microsoft.com/office/drawing/2014/main" id="{80058654-7119-43A0-B51A-1B1ABDC6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3524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负向结果已写回？</a:t>
            </a:r>
          </a:p>
        </p:txBody>
      </p:sp>
      <p:sp>
        <p:nvSpPr>
          <p:cNvPr id="19" name="e-4">
            <a:extLst xmlns:a="http://schemas.openxmlformats.org/drawingml/2006/main">
              <a:ext uri="{FF2B5EF4-FFF2-40B4-BE49-F238E27FC236}">
                <a16:creationId xmlns:a16="http://schemas.microsoft.com/office/drawing/2014/main" id="{97DAD56A-C3F3-47CA-9766-1954CBA6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10100"/>
            <a:ext cx="3524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披露失败字段具体？</a:t>
            </a:r>
          </a:p>
        </p:txBody>
      </p:sp>
      <p:sp>
        <p:nvSpPr>
          <p:cNvPr id="20" name="e-5">
            <a:extLst xmlns:a="http://schemas.openxmlformats.org/drawingml/2006/main">
              <a:ext uri="{FF2B5EF4-FFF2-40B4-BE49-F238E27FC236}">
                <a16:creationId xmlns:a16="http://schemas.microsoft.com/office/drawing/2014/main" id="{DBC646DE-BB98-43FB-9658-671FAE67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10100"/>
            <a:ext cx="3524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最可能不通过哪一项？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课后引导阅读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tag-0">
            <a:extLst xmlns:a="http://schemas.openxmlformats.org/drawingml/2006/main">
              <a:ext uri="{FF2B5EF4-FFF2-40B4-BE49-F238E27FC236}">
                <a16:creationId xmlns:a16="http://schemas.microsoft.com/office/drawing/2014/main" id="{42C8ACC5-AE1D-4288-8A41-2C0516B0C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核心｜约 35 分钟</a:t>
            </a:r>
          </a:p>
        </p:txBody>
      </p:sp>
      <p:sp>
        <p:nvSpPr>
          <p:cNvPr id="7" name="h-0">
            <a:extLst xmlns:a="http://schemas.openxmlformats.org/drawingml/2006/main">
              <a:ext uri="{FF2B5EF4-FFF2-40B4-BE49-F238E27FC236}">
                <a16:creationId xmlns:a16="http://schemas.microsoft.com/office/drawing/2014/main" id="{97153672-678E-4314-85F7-80EE289E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10490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Booth et al. Ch. 5 &amp; 7</a:t>
            </a:r>
          </a:p>
        </p:txBody>
      </p:sp>
      <p:sp>
        <p:nvSpPr>
          <p:cNvPr id="8" name="d-0">
            <a:extLst xmlns:a="http://schemas.openxmlformats.org/drawingml/2006/main">
              <a:ext uri="{FF2B5EF4-FFF2-40B4-BE49-F238E27FC236}">
                <a16:creationId xmlns:a16="http://schemas.microsoft.com/office/drawing/2014/main" id="{BA071DED-D309-485A-AAE0-0CCE0C08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104900"/>
            <a:ext cx="41338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claim / reason / evidence / warrant / objection</a:t>
            </a:r>
          </a:p>
        </p:txBody>
      </p:sp>
      <p:sp>
        <p:nvSpPr>
          <p:cNvPr id="9" name="tag-1">
            <a:extLst xmlns:a="http://schemas.openxmlformats.org/drawingml/2006/main">
              <a:ext uri="{FF2B5EF4-FFF2-40B4-BE49-F238E27FC236}">
                <a16:creationId xmlns:a16="http://schemas.microsoft.com/office/drawing/2014/main" id="{ECE6AE6A-7737-493C-A6F3-5AD10F97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任选｜约 15 分钟</a:t>
            </a:r>
          </a:p>
        </p:txBody>
      </p:sp>
      <p:sp>
        <p:nvSpPr>
          <p:cNvPr id="10" name="h-1">
            <a:extLst xmlns:a="http://schemas.openxmlformats.org/drawingml/2006/main">
              <a:ext uri="{FF2B5EF4-FFF2-40B4-BE49-F238E27FC236}">
                <a16:creationId xmlns:a16="http://schemas.microsoft.com/office/drawing/2014/main" id="{AABAD58A-9372-499B-8B73-C18896ED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3360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Whitesides, Writing a Paper</a:t>
            </a:r>
          </a:p>
        </p:txBody>
      </p:sp>
      <p:sp>
        <p:nvSpPr>
          <p:cNvPr id="11" name="d-1">
            <a:extLst xmlns:a="http://schemas.openxmlformats.org/drawingml/2006/main">
              <a:ext uri="{FF2B5EF4-FFF2-40B4-BE49-F238E27FC236}">
                <a16:creationId xmlns:a16="http://schemas.microsoft.com/office/drawing/2014/main" id="{22F4BD3C-BF9C-4A1C-8939-7E92D34E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133600"/>
            <a:ext cx="41338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outline 与数据组织驱动写作</a:t>
            </a:r>
          </a:p>
        </p:txBody>
      </p:sp>
      <p:sp>
        <p:nvSpPr>
          <p:cNvPr id="12" name="tag-2">
            <a:extLst xmlns:a="http://schemas.openxmlformats.org/drawingml/2006/main">
              <a:ext uri="{FF2B5EF4-FFF2-40B4-BE49-F238E27FC236}">
                <a16:creationId xmlns:a16="http://schemas.microsoft.com/office/drawing/2014/main" id="{D07EB9E6-27F6-4809-81DC-23C07F60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任选｜约 25 分钟</a:t>
            </a:r>
          </a:p>
        </p:txBody>
      </p:sp>
      <p:sp>
        <p:nvSpPr>
          <p:cNvPr id="13" name="h-2">
            <a:extLst xmlns:a="http://schemas.openxmlformats.org/drawingml/2006/main">
              <a:ext uri="{FF2B5EF4-FFF2-40B4-BE49-F238E27FC236}">
                <a16:creationId xmlns:a16="http://schemas.microsoft.com/office/drawing/2014/main" id="{36E32D5F-7BA2-4E11-AA10-D4BCC9FE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Gopen &amp; Swan, Scientific Writing</a:t>
            </a:r>
          </a:p>
        </p:txBody>
      </p:sp>
      <p:sp>
        <p:nvSpPr>
          <p:cNvPr id="14" name="d-2">
            <a:extLst xmlns:a="http://schemas.openxmlformats.org/drawingml/2006/main">
              <a:ext uri="{FF2B5EF4-FFF2-40B4-BE49-F238E27FC236}">
                <a16:creationId xmlns:a16="http://schemas.microsoft.com/office/drawing/2014/main" id="{3B6BC9D9-76CD-4FE3-8C77-06F7D261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62300"/>
            <a:ext cx="41338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主题位、重音位与读者预期</a:t>
            </a:r>
          </a:p>
        </p:txBody>
      </p:sp>
      <p:sp>
        <p:nvSpPr>
          <p:cNvPr id="15" name="process">
            <a:extLst xmlns:a="http://schemas.openxmlformats.org/drawingml/2006/main">
              <a:ext uri="{FF2B5EF4-FFF2-40B4-BE49-F238E27FC236}">
                <a16:creationId xmlns:a16="http://schemas.microsoft.com/office/drawing/2014/main" id="{41E5BB0B-A16B-49A1-995F-0F4B532B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95800"/>
            <a:ext cx="99441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导航 → 原文核验 → AI 质疑 → 偏差审计 → 人工定稿</a:t>
            </a:r>
          </a:p>
        </p:txBody>
      </p:sp>
      <p:sp>
        <p:nvSpPr>
          <p:cNvPr id="16" name="close">
            <a:extLst xmlns:a="http://schemas.openxmlformats.org/drawingml/2006/main">
              <a:ext uri="{FF2B5EF4-FFF2-40B4-BE49-F238E27FC236}">
                <a16:creationId xmlns:a16="http://schemas.microsoft.com/office/drawing/2014/main" id="{A6F6FC05-56FB-40D4-A115-5AC07F8D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43500"/>
            <a:ext cx="10172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带到第 15 课：report.md 初版｜结论追踪表｜AI 使用披露段｜反馈处理表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2026-08-20T15:41:17.0760000Z</dcterms:created>
  <dcterms:modified xsi:type="dcterms:W3CDTF">2026-08-20T15:41:17.0760000Z</dcterms:modified>
</coreProperties>
</file>