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f23f755be34eaa" /><Relationship Type="http://schemas.openxmlformats.org/officeDocument/2006/relationships/extended-properties" Target="/docProps/app.xml" Id="R3b0f826e7ff840b9" /><Relationship Type="http://schemas.openxmlformats.org/officeDocument/2006/relationships/officeDocument" Target="/ppt/presentation.xml" Id="R7a23dc4a5a9c40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7922d83b0430d"/>
  </p:sldMasterIdLst>
  <p:notesMasterIdLst>
    <p:notesMasterId xmlns:r="http://schemas.openxmlformats.org/officeDocument/2006/relationships" r:id="Rcef8c6fea7534ce0"/>
  </p:notesMasterIdLst>
  <p:sldIdLst>
    <p:sldId xmlns:r="http://schemas.openxmlformats.org/officeDocument/2006/relationships" id="256" r:id="Rbd8157d749a34bd8"/>
    <p:sldId xmlns:r="http://schemas.openxmlformats.org/officeDocument/2006/relationships" id="257" r:id="Rfbe70a642e2e4301"/>
    <p:sldId xmlns:r="http://schemas.openxmlformats.org/officeDocument/2006/relationships" id="258" r:id="R890ee1e723154797"/>
    <p:sldId xmlns:r="http://schemas.openxmlformats.org/officeDocument/2006/relationships" id="259" r:id="R2ccce51ac59c4698"/>
    <p:sldId xmlns:r="http://schemas.openxmlformats.org/officeDocument/2006/relationships" id="260" r:id="Rb01fafdd03c942e7"/>
    <p:sldId xmlns:r="http://schemas.openxmlformats.org/officeDocument/2006/relationships" id="261" r:id="R3260acda89c74e9c"/>
    <p:sldId xmlns:r="http://schemas.openxmlformats.org/officeDocument/2006/relationships" id="262" r:id="Re8e753574b3d4595"/>
    <p:sldId xmlns:r="http://schemas.openxmlformats.org/officeDocument/2006/relationships" id="263" r:id="R862759d97a0b42f7"/>
    <p:sldId xmlns:r="http://schemas.openxmlformats.org/officeDocument/2006/relationships" id="264" r:id="Rf3eb5e1c14f64955"/>
    <p:sldId xmlns:r="http://schemas.openxmlformats.org/officeDocument/2006/relationships" id="265" r:id="R292aabe3d7734bca"/>
    <p:sldId xmlns:r="http://schemas.openxmlformats.org/officeDocument/2006/relationships" id="266" r:id="R96652f9c7822479d"/>
    <p:sldId xmlns:r="http://schemas.openxmlformats.org/officeDocument/2006/relationships" id="267" r:id="R3f844e466c6b47e8"/>
    <p:sldId xmlns:r="http://schemas.openxmlformats.org/officeDocument/2006/relationships" id="268" r:id="R4a6804368c1e4525"/>
    <p:sldId xmlns:r="http://schemas.openxmlformats.org/officeDocument/2006/relationships" id="269" r:id="R6386b1292d424583"/>
    <p:sldId xmlns:r="http://schemas.openxmlformats.org/officeDocument/2006/relationships" id="270" r:id="R691c80720f6544f7"/>
    <p:sldId xmlns:r="http://schemas.openxmlformats.org/officeDocument/2006/relationships" id="271" r:id="R9a75ed38ed76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56cf5d0c247a7" /><Relationship Type="http://schemas.openxmlformats.org/officeDocument/2006/relationships/slideMaster" Target="/ppt/slideMasters/slideMaster1.xml" Id="R9ea7922d83b0430d" /><Relationship Type="http://schemas.openxmlformats.org/officeDocument/2006/relationships/notesMaster" Target="/ppt/notesMasters/notesMaster1.xml" Id="Rcef8c6fea7534ce0" /><Relationship Type="http://schemas.openxmlformats.org/officeDocument/2006/relationships/presProps" Target="/ppt/presProps.xml" Id="Raad7bd56dc234dbf" /><Relationship Type="http://schemas.openxmlformats.org/officeDocument/2006/relationships/viewProps" Target="/ppt/viewProps.xml" Id="Rf2f928f062ea4ce1" /><Relationship Type="http://schemas.openxmlformats.org/officeDocument/2006/relationships/tableStyles" Target="/ppt/tableStyles.xml" Id="R56f76ca02be74c7b" /><Relationship Type="http://schemas.openxmlformats.org/officeDocument/2006/relationships/slide" Target="/ppt/slides/slide1.xml" Id="Rbd8157d749a34bd8" /><Relationship Type="http://schemas.openxmlformats.org/officeDocument/2006/relationships/slide" Target="/ppt/slides/slide2.xml" Id="Rfbe70a642e2e4301" /><Relationship Type="http://schemas.openxmlformats.org/officeDocument/2006/relationships/slide" Target="/ppt/slides/slide3.xml" Id="R890ee1e723154797" /><Relationship Type="http://schemas.openxmlformats.org/officeDocument/2006/relationships/slide" Target="/ppt/slides/slide4.xml" Id="R2ccce51ac59c4698" /><Relationship Type="http://schemas.openxmlformats.org/officeDocument/2006/relationships/slide" Target="/ppt/slides/slide5.xml" Id="Rb01fafdd03c942e7" /><Relationship Type="http://schemas.openxmlformats.org/officeDocument/2006/relationships/slide" Target="/ppt/slides/slide6.xml" Id="R3260acda89c74e9c" /><Relationship Type="http://schemas.openxmlformats.org/officeDocument/2006/relationships/slide" Target="/ppt/slides/slide7.xml" Id="Re8e753574b3d4595" /><Relationship Type="http://schemas.openxmlformats.org/officeDocument/2006/relationships/slide" Target="/ppt/slides/slide8.xml" Id="R862759d97a0b42f7" /><Relationship Type="http://schemas.openxmlformats.org/officeDocument/2006/relationships/slide" Target="/ppt/slides/slide9.xml" Id="Rf3eb5e1c14f64955" /><Relationship Type="http://schemas.openxmlformats.org/officeDocument/2006/relationships/slide" Target="/ppt/slides/slide10.xml" Id="R292aabe3d7734bca" /><Relationship Type="http://schemas.openxmlformats.org/officeDocument/2006/relationships/slide" Target="/ppt/slides/slide11.xml" Id="R96652f9c7822479d" /><Relationship Type="http://schemas.openxmlformats.org/officeDocument/2006/relationships/slide" Target="/ppt/slides/slide12.xml" Id="R3f844e466c6b47e8" /><Relationship Type="http://schemas.openxmlformats.org/officeDocument/2006/relationships/slide" Target="/ppt/slides/slide13.xml" Id="R4a6804368c1e4525" /><Relationship Type="http://schemas.openxmlformats.org/officeDocument/2006/relationships/slide" Target="/ppt/slides/slide14.xml" Id="R6386b1292d424583" /><Relationship Type="http://schemas.openxmlformats.org/officeDocument/2006/relationships/slide" Target="/ppt/slides/slide15.xml" Id="R691c80720f6544f7" /><Relationship Type="http://schemas.openxmlformats.org/officeDocument/2006/relationships/slide" Target="/ppt/slides/slide16.xml" Id="R9a75ed38ed76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63f588deff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7868943004be1" /><Relationship Type="http://schemas.openxmlformats.org/officeDocument/2006/relationships/notesMaster" Target="/ppt/notesMasters/notesMaster1.xml" Id="R1d46f9c2a2f94b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62bfb079c4577" /><Relationship Type="http://schemas.openxmlformats.org/officeDocument/2006/relationships/notesMaster" Target="/ppt/notesMasters/notesMaster1.xml" Id="Reb7fb675e1814a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53be18da0429a" /><Relationship Type="http://schemas.openxmlformats.org/officeDocument/2006/relationships/notesMaster" Target="/ppt/notesMasters/notesMaster1.xml" Id="R944ec560f92b47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46283d3dc4f87" /><Relationship Type="http://schemas.openxmlformats.org/officeDocument/2006/relationships/notesMaster" Target="/ppt/notesMasters/notesMaster1.xml" Id="Re47b26703b9042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c712f99fd44bb7" /><Relationship Type="http://schemas.openxmlformats.org/officeDocument/2006/relationships/notesMaster" Target="/ppt/notesMasters/notesMaster1.xml" Id="R42c6d8c24d0148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6b5682ce9d4189" /><Relationship Type="http://schemas.openxmlformats.org/officeDocument/2006/relationships/notesMaster" Target="/ppt/notesMasters/notesMaster1.xml" Id="R20f31001d238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2b948a0f644020" /><Relationship Type="http://schemas.openxmlformats.org/officeDocument/2006/relationships/notesMaster" Target="/ppt/notesMasters/notesMaster1.xml" Id="Rb94e45c851ef4e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6c22e7cdaf4503" /><Relationship Type="http://schemas.openxmlformats.org/officeDocument/2006/relationships/notesMaster" Target="/ppt/notesMasters/notesMaster1.xml" Id="Rec956f8fbcff42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28cc425f5b47f2" /><Relationship Type="http://schemas.openxmlformats.org/officeDocument/2006/relationships/notesMaster" Target="/ppt/notesMasters/notesMaster1.xml" Id="R51aa1c1d632245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9d11066bda4b3d" /><Relationship Type="http://schemas.openxmlformats.org/officeDocument/2006/relationships/notesMaster" Target="/ppt/notesMasters/notesMaster1.xml" Id="R71da502813a54e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f086d485a14a3f" /><Relationship Type="http://schemas.openxmlformats.org/officeDocument/2006/relationships/notesMaster" Target="/ppt/notesMasters/notesMaster1.xml" Id="Rdfb77a02e89f48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0192fea954b32" /><Relationship Type="http://schemas.openxmlformats.org/officeDocument/2006/relationships/notesMaster" Target="/ppt/notesMasters/notesMaster1.xml" Id="R9aee0017664241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f2f136a4004527" /><Relationship Type="http://schemas.openxmlformats.org/officeDocument/2006/relationships/notesMaster" Target="/ppt/notesMasters/notesMaster1.xml" Id="R2a62e22575304c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15605a04a342de" /><Relationship Type="http://schemas.openxmlformats.org/officeDocument/2006/relationships/notesMaster" Target="/ppt/notesMasters/notesMaster1.xml" Id="R78a9cb22ec5248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a1a63a99bf43d9" /><Relationship Type="http://schemas.openxmlformats.org/officeDocument/2006/relationships/notesMaster" Target="/ppt/notesMasters/notesMaster1.xml" Id="Rc79a0794fd9c40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50c581f18f427d" /><Relationship Type="http://schemas.openxmlformats.org/officeDocument/2006/relationships/notesMaster" Target="/ppt/notesMasters/notesMaster1.xml" Id="R249ae93a7b4f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第14讲 论文式表达与回写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从一个结果留下三个工件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结果表述与证据强度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把描述扩为显著性、科研质量和机制因果，均缺证据；B 丢弃可复查的有限观察；C 范围合适但仍应补记录位置和上游选择。本人若研究校验器，应报告实际输入处理变化，而不沿用阅读卡效果措辞。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论证段的四个部件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方法段交代数字如何产生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完整方法段不能把回放写成实时模型实验，也不能声称已完成双人盲评。所写每项方法应在文件或记录中找到对应。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删掉一项没有实际发生的方法描述。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总遗漏率较低，机制仍未区分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图表使用真实可复算的分子分母。差值表示12.5个百分点，不是证明机制，更不是全体文本都改善。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请学生指出一个可写进结果段的句子和一个不能写的句子。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讨论中分别回答这些问题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避免把四个编号并排叫“互斥假设”。先让学生说每个问题需要测什么，再决定是否追加实验或收窄主张。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为最影响本人结论的一项未决问题写补证路径。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第一段作决定并查证据；中点处理共性卡点；第二段实际回写并验证。A 把描述扩为显著性、科研质量和机制因果，均缺证据；B 丢弃可复查的有限观察；C 范围合适但仍应补记录位置和上游选择。本人若研究校验器，应报告实际输入处理变化，而不沿用阅读卡效果措辞。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用本人真实比较写一个论证段，附一条结论追踪和实际 AI 披露；把已积累的问题、方法、评价、局限直接组织成短报告初稿。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修复这两处论证断裂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请学生先指出从证据跳到结论的哪一步没有依据，再展示修订。不要把“待验证”加在强结论后就当修复完成；主句本身要降到证据允许的范围。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修订自己段落里一个越界词，如证明、所有或必然。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追踪条目指向真实对象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沿记录倒着点开，不能只填一个看似真实的exp编号。教师包路径见讲义；个人项目使用自己的实际记录。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同伴从段落选一个数字，完成一次反查。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披露只写真实发生的使用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不要为了填满披露模板虚构模型或版本。教师包的构造 provenance 不等于学生自己的AI使用日志。把执行记录与写作辅助记录分开。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从已有日志抽取一项真实用途和人工核验动作。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补齐追踪与披露，再保存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请从同伴的主张反向找证据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把一个段落扩成报告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用已有材料填入短报告骨架、修一个证据缺口；不另做实验或长篇背景综述。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47a3dfed746d6" /><Relationship Type="http://schemas.openxmlformats.org/officeDocument/2006/relationships/image" Target="/ppt/media/image.png" Id="R2324476d56794e36" /><Relationship Type="http://schemas.openxmlformats.org/officeDocument/2006/relationships/image" Target="/ppt/media/image2.png" Id="R23b5e0f57b5642b2" /><Relationship Type="http://schemas.openxmlformats.org/officeDocument/2006/relationships/image" Target="/ppt/media/image3.png" Id="Re531241b14b844d8" /><Relationship Type="http://schemas.openxmlformats.org/officeDocument/2006/relationships/image" Target="/ppt/media/image4.png" Id="R46e031bb515c4c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92cbf5d3a48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daee646af41ef" /><Relationship Type="http://schemas.openxmlformats.org/officeDocument/2006/relationships/image" Target="/ppt/media/image2.png" Id="Rf2e2a486c9724472" /><Relationship Type="http://schemas.openxmlformats.org/officeDocument/2006/relationships/image" Target="/ppt/media/image5.png" Id="R76c26b1b461045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ef1e4ce8b4fd6" /><Relationship Type="http://schemas.openxmlformats.org/officeDocument/2006/relationships/image" Target="/ppt/media/image.png" Id="Rc7a87c24308048c1" /><Relationship Type="http://schemas.openxmlformats.org/officeDocument/2006/relationships/image" Target="/ppt/media/image3.png" Id="Rb9bcc3e64a70420b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4476d56794e36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b5e0f57b5642b2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31241b14b844d8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031bb515c4c56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e2a486c9724472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26b1b4610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87c24308048c1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bcc3e64a70420b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5d33331d334189" /><Relationship Type="http://schemas.openxmlformats.org/officeDocument/2006/relationships/slideLayout" Target="/ppt/slideLayouts/slideLayout1.xml" Id="R0ad717544d504489" /><Relationship Type="http://schemas.openxmlformats.org/officeDocument/2006/relationships/slideLayout" Target="/ppt/slideLayouts/slideLayout2.xml" Id="R2c847c23848e4dc6" /><Relationship Type="http://schemas.openxmlformats.org/officeDocument/2006/relationships/slideLayout" Target="/ppt/slideLayouts/slideLayout3.xml" Id="R6e249d7953424f1c" /><Relationship Type="http://schemas.openxmlformats.org/officeDocument/2006/relationships/slideLayout" Target="/ppt/slideLayouts/slideLayout4.xml" Id="R2465bba1cc7c4ff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717544d504489"/>
    <p:sldLayoutId xmlns:r="http://schemas.openxmlformats.org/officeDocument/2006/relationships" id="2147483650" r:id="R2c847c23848e4dc6"/>
    <p:sldLayoutId xmlns:r="http://schemas.openxmlformats.org/officeDocument/2006/relationships" id="2147483651" r:id="R6e249d7953424f1c"/>
    <p:sldLayoutId xmlns:r="http://schemas.openxmlformats.org/officeDocument/2006/relationships" id="2147483652" r:id="R2465bba1cc7c4ff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52805988b4fbd" /><Relationship Type="http://schemas.openxmlformats.org/officeDocument/2006/relationships/notesSlide" Target="/ppt/notesSlides/notesSlide1.xml" Id="Rbffd12838a4346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bd70da92a24083" /><Relationship Type="http://schemas.openxmlformats.org/officeDocument/2006/relationships/notesSlide" Target="/ppt/notesSlides/notesSlide2.xml" Id="Rae0d31a1585149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49e33050bd480c" /><Relationship Type="http://schemas.openxmlformats.org/officeDocument/2006/relationships/notesSlide" Target="/ppt/notesSlides/notesSlide3.xml" Id="R7d356fc695e241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b865913cde43b8" /><Relationship Type="http://schemas.openxmlformats.org/officeDocument/2006/relationships/notesSlide" Target="/ppt/notesSlides/notesSlide4.xml" Id="Re57036e6f41f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3fd9a8d97043ef" /><Relationship Type="http://schemas.openxmlformats.org/officeDocument/2006/relationships/notesSlide" Target="/ppt/notesSlides/notesSlide5.xml" Id="R9952c83e155a45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89491b016b4c82" /><Relationship Type="http://schemas.openxmlformats.org/officeDocument/2006/relationships/chart" Target="/ppt/slides/charts/chart1.xml" Id="R103363f69d2c48a1" /><Relationship Type="http://schemas.openxmlformats.org/officeDocument/2006/relationships/notesSlide" Target="/ppt/notesSlides/notesSlide6.xml" Id="Rb785647af06543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ec9a0aff624950" /><Relationship Type="http://schemas.openxmlformats.org/officeDocument/2006/relationships/notesSlide" Target="/ppt/notesSlides/notesSlide7.xml" Id="Rb972e381554246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3d63a6d77c47b3" /><Relationship Type="http://schemas.openxmlformats.org/officeDocument/2006/relationships/notesSlide" Target="/ppt/notesSlides/notesSlide8.xml" Id="Rb6bf06b8959848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6a732bbabf40d9" /><Relationship Type="http://schemas.openxmlformats.org/officeDocument/2006/relationships/notesSlide" Target="/ppt/notesSlides/notesSlide9.xml" Id="R9a32d4c99a2948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df074e144e4591" /><Relationship Type="http://schemas.openxmlformats.org/officeDocument/2006/relationships/notesSlide" Target="/ppt/notesSlides/notesSlide10.xml" Id="Rf50afcd154e645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d5358095c54d9d" /><Relationship Type="http://schemas.openxmlformats.org/officeDocument/2006/relationships/notesSlide" Target="/ppt/notesSlides/notesSlide11.xml" Id="R6d5d14fe77d747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089e5dd72148b9" /><Relationship Type="http://schemas.openxmlformats.org/officeDocument/2006/relationships/notesSlide" Target="/ppt/notesSlides/notesSlide12.xml" Id="R7985ebc1a2e24a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a35e4e7d084e89" /><Relationship Type="http://schemas.openxmlformats.org/officeDocument/2006/relationships/notesSlide" Target="/ppt/notesSlides/notesSlide13.xml" Id="R0ed4d5d29aa44d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9c0fa7471b4237" /><Relationship Type="http://schemas.openxmlformats.org/officeDocument/2006/relationships/notesSlide" Target="/ppt/notesSlides/notesSlide14.xml" Id="Rba048907d3554d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af373b9b6d46c8" /><Relationship Type="http://schemas.openxmlformats.org/officeDocument/2006/relationships/notesSlide" Target="/ppt/notesSlides/notesSlide15.xml" Id="Rca2c1e5d5fa047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3122b00c3f49dc" /><Relationship Type="http://schemas.openxmlformats.org/officeDocument/2006/relationships/notesSlide" Target="/ppt/notesSlides/notesSlide16.xml" Id="R28d2c3b726134c6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限定条件遗漏率</c:v>
          </c:tx>
          <c:spPr>
            <a:solidFill xmlns:a="http://schemas.openxmlformats.org/drawingml/2006/main">
              <a:srgbClr val="1F4D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F4D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AA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阅读卡</c:v>
                </c:pt>
                <c:pt idx="1">
                  <c:v>自由摘要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0.375</c:v>
                </c:pt>
                <c:pt idx="1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00">
                  <a:solidFill>
                    <a:srgbClr val="2733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2D0560-6FFE-455A-9F8D-D07A7F85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第14讲 论文式表达与回写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从一个结果留下三个工件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report-top">
            <a:extLst xmlns:a="http://schemas.openxmlformats.org/drawingml/2006/main">
              <a:ext uri="{FF2B5EF4-FFF2-40B4-BE49-F238E27FC236}">
                <a16:creationId xmlns:a16="http://schemas.microsoft.com/office/drawing/2014/main" id="{67E3587C-021F-45BF-BB97-5D79DA4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715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7" name="report-file">
            <a:extLst xmlns:a="http://schemas.openxmlformats.org/drawingml/2006/main">
              <a:ext uri="{FF2B5EF4-FFF2-40B4-BE49-F238E27FC236}">
                <a16:creationId xmlns:a16="http://schemas.microsoft.com/office/drawing/2014/main" id="{FEB59C4C-9CEF-4F47-9977-D7D4015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report.md</a:t>
            </a:r>
          </a:p>
        </p:txBody>
      </p:sp>
      <p:sp>
        <p:nvSpPr>
          <p:cNvPr id="8" name="report-line0">
            <a:extLst xmlns:a="http://schemas.openxmlformats.org/drawingml/2006/main">
              <a:ext uri="{FF2B5EF4-FFF2-40B4-BE49-F238E27FC236}">
                <a16:creationId xmlns:a16="http://schemas.microsoft.com/office/drawing/2014/main" id="{924CF35B-06A2-4ED1-9F91-D5FD1AC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## 论证段</a:t>
            </a:r>
          </a:p>
        </p:txBody>
      </p:sp>
      <p:sp>
        <p:nvSpPr>
          <p:cNvPr id="9" name="report-line1">
            <a:extLst xmlns:a="http://schemas.openxmlformats.org/drawingml/2006/main">
              <a:ext uri="{FF2B5EF4-FFF2-40B4-BE49-F238E27FC236}">
                <a16:creationId xmlns:a16="http://schemas.microsoft.com/office/drawing/2014/main" id="{B887D09B-2403-4555-B0C8-BE96F490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9394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 → 证据 → 推理 → 边界</a:t>
            </a:r>
          </a:p>
        </p:txBody>
      </p:sp>
      <p:sp>
        <p:nvSpPr>
          <p:cNvPr id="10" name="report-line2">
            <a:extLst xmlns:a="http://schemas.openxmlformats.org/drawingml/2006/main">
              <a:ext uri="{FF2B5EF4-FFF2-40B4-BE49-F238E27FC236}">
                <a16:creationId xmlns:a16="http://schemas.microsoft.com/office/drawing/2014/main" id="{5A70BD20-7123-42E5-869C-EDC2FE2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5688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## 结论追踪记录</a:t>
            </a:r>
          </a:p>
        </p:txBody>
      </p:sp>
      <p:sp>
        <p:nvSpPr>
          <p:cNvPr id="11" name="report-line3">
            <a:extLst xmlns:a="http://schemas.openxmlformats.org/drawingml/2006/main">
              <a:ext uri="{FF2B5EF4-FFF2-40B4-BE49-F238E27FC236}">
                <a16:creationId xmlns:a16="http://schemas.microsoft.com/office/drawing/2014/main" id="{DACD5A96-BF55-46ED-BAE3-1848B8E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1981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## AI 使用披露摘要</a:t>
            </a:r>
          </a:p>
        </p:txBody>
      </p:sp>
      <p:sp>
        <p:nvSpPr>
          <p:cNvPr id="12" name="class-label">
            <a:extLst xmlns:a="http://schemas.openxmlformats.org/drawingml/2006/main">
              <a:ext uri="{FF2B5EF4-FFF2-40B4-BE49-F238E27FC236}">
                <a16:creationId xmlns:a16="http://schemas.microsoft.com/office/drawing/2014/main" id="{47860A32-91EA-423B-BC04-46785FB7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620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</a:t>
            </a:r>
          </a:p>
        </p:txBody>
      </p:sp>
      <p:sp>
        <p:nvSpPr>
          <p:cNvPr id="13" name="class-body">
            <a:extLst xmlns:a="http://schemas.openxmlformats.org/drawingml/2006/main">
              <a:ext uri="{FF2B5EF4-FFF2-40B4-BE49-F238E27FC236}">
                <a16:creationId xmlns:a16="http://schemas.microsoft.com/office/drawing/2014/main" id="{6C757949-B10A-4C8A-B870-16F853DC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完成三个最小工件</a:t>
            </a:r>
          </a:p>
        </p:txBody>
      </p:sp>
      <p:sp>
        <p:nvSpPr>
          <p:cNvPr id="1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44FC1272-6917-4E44-BD4A-48B228DD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课后</a:t>
            </a:r>
          </a:p>
        </p:txBody>
      </p:sp>
      <p:sp>
        <p:nvSpPr>
          <p:cNvPr id="15" name="after-body">
            <a:extLst xmlns:a="http://schemas.openxmlformats.org/drawingml/2006/main">
              <a:ext uri="{FF2B5EF4-FFF2-40B4-BE49-F238E27FC236}">
                <a16:creationId xmlns:a16="http://schemas.microsoft.com/office/drawing/2014/main" id="{898F9270-D3C6-4D9E-99C5-FDE1985D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补全 report.md</a:t>
            </a:r>
          </a:p>
        </p:txBody>
      </p:sp>
      <p:sp>
        <p:nvSpPr>
          <p:cNvPr id="16" name="gate">
            <a:extLst xmlns:a="http://schemas.openxmlformats.org/drawingml/2006/main">
              <a:ext uri="{FF2B5EF4-FFF2-40B4-BE49-F238E27FC236}">
                <a16:creationId xmlns:a16="http://schemas.microsoft.com/office/drawing/2014/main" id="{B07F4A41-8F3B-4D86-A2B2-49F7DBDA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768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第 16 课才检查论证门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F68CF746-96AD-40A3-9281-9E9FEFB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A208AFB0-27AA-43FF-83AE-2F852B1C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结果表述与证据强度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604E6168-CEE4-445A-8B57-92EA604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公开构造输出：3/8 vs 4/8；T03 反向；无机制区分实验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98E9A1BD-EB51-4F9A-BE0D-E68D159B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A｜显著提高科研质量，机制已证实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B｜样本小，没有任何可报告结果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C｜此输出集遗漏率差 -0.125；保留负例与范围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946FFCFF-E538-4837-A942-6BA877EB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修订一句并接上本人记录 ID、上游判断和未决项。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CCE7BB96-60CD-4991-AE20-3B03A3F6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6809A5A6-8AC4-4E0F-8E67-6E6C7D7E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论证段的四个部件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content-123">
            <a:extLst xmlns:a="http://schemas.openxmlformats.org/drawingml/2006/main">
              <a:ext uri="{FF2B5EF4-FFF2-40B4-BE49-F238E27FC236}">
                <a16:creationId xmlns:a16="http://schemas.microsoft.com/office/drawing/2014/main" id="{7258EDC0-5101-4390-AE6F-3C0DEC2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</p:txBody>
      </p:sp>
      <p:sp>
        <p:nvSpPr>
          <p:cNvPr id="7" name="content-124">
            <a:extLst xmlns:a="http://schemas.openxmlformats.org/drawingml/2006/main">
              <a:ext uri="{FF2B5EF4-FFF2-40B4-BE49-F238E27FC236}">
                <a16:creationId xmlns:a16="http://schemas.microsoft.com/office/drawing/2014/main" id="{B806CB32-BA6B-4731-824F-0C44334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本构造包中，阅读卡组总遗漏率较低。</a:t>
            </a:r>
          </a:p>
        </p:txBody>
      </p:sp>
      <p:sp>
        <p:nvSpPr>
          <p:cNvPr id="8" name="rule-125">
            <a:extLst xmlns:a="http://schemas.openxmlformats.org/drawingml/2006/main">
              <a:ext uri="{FF2B5EF4-FFF2-40B4-BE49-F238E27FC236}">
                <a16:creationId xmlns:a16="http://schemas.microsoft.com/office/drawing/2014/main" id="{51200684-82B7-4E56-AA99-2C682C7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126">
            <a:extLst xmlns:a="http://schemas.openxmlformats.org/drawingml/2006/main">
              <a:ext uri="{FF2B5EF4-FFF2-40B4-BE49-F238E27FC236}">
                <a16:creationId xmlns:a16="http://schemas.microsoft.com/office/drawing/2014/main" id="{E45BBBD2-09A5-4D49-B2AF-C122B6D0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0" name="content-127">
            <a:extLst xmlns:a="http://schemas.openxmlformats.org/drawingml/2006/main">
              <a:ext uri="{FF2B5EF4-FFF2-40B4-BE49-F238E27FC236}">
                <a16:creationId xmlns:a16="http://schemas.microsoft.com/office/drawing/2014/main" id="{6C50E59E-A221-4339-B639-5F62692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3/8 与 4/8，可反查逐项标注。</a:t>
            </a:r>
          </a:p>
        </p:txBody>
      </p:sp>
      <p:sp>
        <p:nvSpPr>
          <p:cNvPr id="11" name="rule-128">
            <a:extLst xmlns:a="http://schemas.openxmlformats.org/drawingml/2006/main">
              <a:ext uri="{FF2B5EF4-FFF2-40B4-BE49-F238E27FC236}">
                <a16:creationId xmlns:a16="http://schemas.microsoft.com/office/drawing/2014/main" id="{CC4ED6F5-F7E6-4E50-AF2E-96DA6B8E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129">
            <a:extLst xmlns:a="http://schemas.openxmlformats.org/drawingml/2006/main">
              <a:ext uri="{FF2B5EF4-FFF2-40B4-BE49-F238E27FC236}">
                <a16:creationId xmlns:a16="http://schemas.microsoft.com/office/drawing/2014/main" id="{4CE78AED-C147-4729-955D-81EB3DB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推理</a:t>
            </a:r>
          </a:p>
        </p:txBody>
      </p:sp>
      <p:sp>
        <p:nvSpPr>
          <p:cNvPr id="13" name="content-130">
            <a:extLst xmlns:a="http://schemas.openxmlformats.org/drawingml/2006/main">
              <a:ext uri="{FF2B5EF4-FFF2-40B4-BE49-F238E27FC236}">
                <a16:creationId xmlns:a16="http://schemas.microsoft.com/office/drawing/2014/main" id="{BD0E7D93-68CE-4C03-A096-A01829E1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汇总方向与 Q1 预测一致。</a:t>
            </a:r>
          </a:p>
        </p:txBody>
      </p:sp>
      <p:sp>
        <p:nvSpPr>
          <p:cNvPr id="14" name="rule-131">
            <a:extLst xmlns:a="http://schemas.openxmlformats.org/drawingml/2006/main">
              <a:ext uri="{FF2B5EF4-FFF2-40B4-BE49-F238E27FC236}">
                <a16:creationId xmlns:a16="http://schemas.microsoft.com/office/drawing/2014/main" id="{D3039CDE-59AA-4E3F-A1FF-67595E27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content-132">
            <a:extLst xmlns:a="http://schemas.openxmlformats.org/drawingml/2006/main">
              <a:ext uri="{FF2B5EF4-FFF2-40B4-BE49-F238E27FC236}">
                <a16:creationId xmlns:a16="http://schemas.microsoft.com/office/drawing/2014/main" id="{45812E74-06E7-4A17-A143-6CFC8CEE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6" name="content-133">
            <a:extLst xmlns:a="http://schemas.openxmlformats.org/drawingml/2006/main">
              <a:ext uri="{FF2B5EF4-FFF2-40B4-BE49-F238E27FC236}">
                <a16:creationId xmlns:a16="http://schemas.microsoft.com/office/drawing/2014/main" id="{975D81EA-2A82-4FCD-8C56-45EB8DF8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H1/A2 未区分，其他质量未测，保留 T03 负例。</a:t>
            </a:r>
          </a:p>
        </p:txBody>
      </p:sp>
      <p:sp>
        <p:nvSpPr>
          <p:cNvPr id="17" name="rule-134">
            <a:extLst xmlns:a="http://schemas.openxmlformats.org/drawingml/2006/main">
              <a:ext uri="{FF2B5EF4-FFF2-40B4-BE49-F238E27FC236}">
                <a16:creationId xmlns:a16="http://schemas.microsoft.com/office/drawing/2014/main" id="{0F8B9E79-B15C-4CCF-B2E4-A7ED373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方法段交代数字如何产生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ontent-135">
            <a:extLst xmlns:a="http://schemas.openxmlformats.org/drawingml/2006/main">
              <a:ext uri="{FF2B5EF4-FFF2-40B4-BE49-F238E27FC236}">
                <a16:creationId xmlns:a16="http://schemas.microsoft.com/office/drawing/2014/main" id="{E5B0E682-BB7D-48AF-8963-D9472316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材料：3 份教学构造源文本。</a:t>
            </a:r>
          </a:p>
        </p:txBody>
      </p:sp>
      <p:sp>
        <p:nvSpPr>
          <p:cNvPr id="7" name="content-136">
            <a:extLst xmlns:a="http://schemas.openxmlformats.org/drawingml/2006/main">
              <a:ext uri="{FF2B5EF4-FFF2-40B4-BE49-F238E27FC236}">
                <a16:creationId xmlns:a16="http://schemas.microsoft.com/office/drawing/2014/main" id="{A34463A6-A00E-49FF-A203-045EE36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输出：每份两种预置输出，共 6 份。</a:t>
            </a:r>
          </a:p>
        </p:txBody>
      </p:sp>
      <p:sp>
        <p:nvSpPr>
          <p:cNvPr id="8" name="content-137">
            <a:extLst xmlns:a="http://schemas.openxmlformats.org/drawingml/2006/main">
              <a:ext uri="{FF2B5EF4-FFF2-40B4-BE49-F238E27FC236}">
                <a16:creationId xmlns:a16="http://schemas.microsoft.com/office/drawing/2014/main" id="{8B3BFD42-A18B-4DDB-AF1D-2FC31C38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标注：8 项基准条件，对应 16 条核验记录。</a:t>
            </a:r>
          </a:p>
        </p:txBody>
      </p:sp>
      <p:sp>
        <p:nvSpPr>
          <p:cNvPr id="9" name="content-138">
            <a:extLst xmlns:a="http://schemas.openxmlformats.org/drawingml/2006/main">
              <a:ext uri="{FF2B5EF4-FFF2-40B4-BE49-F238E27FC236}">
                <a16:creationId xmlns:a16="http://schemas.microsoft.com/office/drawing/2014/main" id="{0C3FDB56-D477-440F-BB37-5997CAC0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汇总：分别累计缺失数，分母均为 8。</a:t>
            </a:r>
          </a:p>
        </p:txBody>
      </p:sp>
      <p:sp>
        <p:nvSpPr>
          <p:cNvPr id="10" name="content-139">
            <a:extLst xmlns:a="http://schemas.openxmlformats.org/drawingml/2006/main">
              <a:ext uri="{FF2B5EF4-FFF2-40B4-BE49-F238E27FC236}">
                <a16:creationId xmlns:a16="http://schemas.microsoft.com/office/drawing/2014/main" id="{1CE8FA0B-4D16-4E40-9EC9-8AC185A9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无模型调用、无随机重复。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总遗漏率较低，机制仍未区分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6096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363f69d2c48a1"/>
          </a:graphicData>
        </a:graphic>
      </p:graphicFrame>
      <p:sp>
        <p:nvSpPr>
          <p:cNvPr id="7" name="content-140">
            <a:extLst xmlns:a="http://schemas.openxmlformats.org/drawingml/2006/main">
              <a:ext uri="{FF2B5EF4-FFF2-40B4-BE49-F238E27FC236}">
                <a16:creationId xmlns:a16="http://schemas.microsoft.com/office/drawing/2014/main" id="{AEC17B9E-D442-421C-BEC4-C2263F4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教学构造数据：8 项应保留条件；固定输出回放</a:t>
            </a:r>
          </a:p>
        </p:txBody>
      </p:sp>
      <p:sp>
        <p:nvSpPr>
          <p:cNvPr id="8" name="content-141">
            <a:extLst xmlns:a="http://schemas.openxmlformats.org/drawingml/2006/main">
              <a:ext uri="{FF2B5EF4-FFF2-40B4-BE49-F238E27FC236}">
                <a16:creationId xmlns:a16="http://schemas.microsoft.com/office/drawing/2014/main" id="{3AC56A64-3966-49A2-BDC7-0B16E36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601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限定条件遗漏率（越低越好）</a:t>
            </a:r>
          </a:p>
        </p:txBody>
      </p:sp>
      <p:sp>
        <p:nvSpPr>
          <p:cNvPr id="9" name="content-142">
            <a:extLst xmlns:a="http://schemas.openxmlformats.org/drawingml/2006/main">
              <a:ext uri="{FF2B5EF4-FFF2-40B4-BE49-F238E27FC236}">
                <a16:creationId xmlns:a16="http://schemas.microsoft.com/office/drawing/2014/main" id="{F6D57CA5-67F7-4420-A8A1-ACC2974F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000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阅读卡 3/8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自由摘要 4/8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差值 −0.125</a:t>
            </a:r>
          </a:p>
        </p:txBody>
      </p:sp>
      <p:sp>
        <p:nvSpPr>
          <p:cNvPr id="10" name="content-143">
            <a:extLst xmlns:a="http://schemas.openxmlformats.org/drawingml/2006/main">
              <a:ext uri="{FF2B5EF4-FFF2-40B4-BE49-F238E27FC236}">
                <a16:creationId xmlns:a16="http://schemas.microsoft.com/office/drawing/2014/main" id="{A03E3285-D413-4C52-8737-F4384569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T02 无改善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T03 阅读卡更差</a:t>
            </a:r>
          </a:p>
        </p:txBody>
      </p:sp>
      <p:sp>
        <p:nvSpPr>
          <p:cNvPr id="11" name="content-144">
            <a:extLst xmlns:a="http://schemas.openxmlformats.org/drawingml/2006/main">
              <a:ext uri="{FF2B5EF4-FFF2-40B4-BE49-F238E27FC236}">
                <a16:creationId xmlns:a16="http://schemas.microsoft.com/office/drawing/2014/main" id="{5F7A8D24-8ECA-4864-BFBE-1C20FEF9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无随机重复，不画误差线，不作显著性判断。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讨论中分别回答这些问题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content-145">
            <a:extLst xmlns:a="http://schemas.openxmlformats.org/drawingml/2006/main">
              <a:ext uri="{FF2B5EF4-FFF2-40B4-BE49-F238E27FC236}">
                <a16:creationId xmlns:a16="http://schemas.microsoft.com/office/drawing/2014/main" id="{8DDA6354-ACC6-4F76-8D3F-F48086AE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H1/A2：是否区分生成机制和评分提示？尚未。</a:t>
            </a:r>
          </a:p>
        </p:txBody>
      </p:sp>
      <p:sp>
        <p:nvSpPr>
          <p:cNvPr id="7" name="content-146">
            <a:extLst xmlns:a="http://schemas.openxmlformats.org/drawingml/2006/main">
              <a:ext uri="{FF2B5EF4-FFF2-40B4-BE49-F238E27FC236}">
                <a16:creationId xmlns:a16="http://schemas.microsoft.com/office/drawing/2014/main" id="{155BE4C3-DACA-4BC5-B96C-49B3849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A1：是否评估其他质量代价？尚未。</a:t>
            </a:r>
          </a:p>
        </p:txBody>
      </p:sp>
      <p:sp>
        <p:nvSpPr>
          <p:cNvPr id="8" name="content-147">
            <a:extLst xmlns:a="http://schemas.openxmlformats.org/drawingml/2006/main">
              <a:ext uri="{FF2B5EF4-FFF2-40B4-BE49-F238E27FC236}">
                <a16:creationId xmlns:a16="http://schemas.microsoft.com/office/drawing/2014/main" id="{05541734-CAC4-46B2-8A02-62D812CE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A3：是否支持外推所有材料？不支持；保留T03。</a:t>
            </a:r>
          </a:p>
        </p:txBody>
      </p:sp>
      <p:sp>
        <p:nvSpPr>
          <p:cNvPr id="9" name="content-148">
            <a:extLst xmlns:a="http://schemas.openxmlformats.org/drawingml/2006/main">
              <a:ext uri="{FF2B5EF4-FFF2-40B4-BE49-F238E27FC236}">
                <a16:creationId xmlns:a16="http://schemas.microsoft.com/office/drawing/2014/main" id="{1C7ADFCE-E3BD-429A-B19F-153307D0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每个未决项对应下一项证据需求。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688B4D01-2A96-4ADE-96AD-EBDC009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1BA45594-C309-4D05-85B6-64B9456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用本人真实比较写一个论证段，附一条结论追踪和实际 AI 披露；把已积累的问题、方法、评价、局限直接组织成短报告初稿。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B3921167-96A6-45FF-BF9D-EE28364C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同伴从句子找到记录 ID 和评价定义；检查“显著”“证明”“消除”等词是否有证据。报告长度服务论证，不新建平行文档。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8897D7F3-3730-4F0B-B591-3B24EB53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保存：report.md 或主文档中的论证段、完整骨架与追踪条目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F62DCF7E-E904-4A86-BEE8-A22A69F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1D4070CA-879F-4014-A426-3797146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修复这两处论证断裂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content-161">
            <a:extLst xmlns:a="http://schemas.openxmlformats.org/drawingml/2006/main">
              <a:ext uri="{FF2B5EF4-FFF2-40B4-BE49-F238E27FC236}">
                <a16:creationId xmlns:a16="http://schemas.microsoft.com/office/drawing/2014/main" id="{F1BC8343-9FCD-4165-A1C5-6C41AAD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错误一</a:t>
            </a:r>
          </a:p>
        </p:txBody>
      </p:sp>
      <p:sp>
        <p:nvSpPr>
          <p:cNvPr id="7" name="content-162">
            <a:extLst xmlns:a="http://schemas.openxmlformats.org/drawingml/2006/main">
              <a:ext uri="{FF2B5EF4-FFF2-40B4-BE49-F238E27FC236}">
                <a16:creationId xmlns:a16="http://schemas.microsoft.com/office/drawing/2014/main" id="{8FC32636-DBB8-4556-BB8D-047CE539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“总分较好，所以H1成立。”</a:t>
            </a:r>
          </a:p>
        </p:txBody>
      </p:sp>
      <p:sp>
        <p:nvSpPr>
          <p:cNvPr id="8" name="rule-163">
            <a:extLst xmlns:a="http://schemas.openxmlformats.org/drawingml/2006/main">
              <a:ext uri="{FF2B5EF4-FFF2-40B4-BE49-F238E27FC236}">
                <a16:creationId xmlns:a16="http://schemas.microsoft.com/office/drawing/2014/main" id="{AFABF5A5-00DF-4781-A79A-24C1F9B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164">
            <a:extLst xmlns:a="http://schemas.openxmlformats.org/drawingml/2006/main">
              <a:ext uri="{FF2B5EF4-FFF2-40B4-BE49-F238E27FC236}">
                <a16:creationId xmlns:a16="http://schemas.microsoft.com/office/drawing/2014/main" id="{F1F054E6-4131-4AFE-B33F-4ECE4826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修订</a:t>
            </a:r>
          </a:p>
        </p:txBody>
      </p:sp>
      <p:sp>
        <p:nvSpPr>
          <p:cNvPr id="10" name="content-165">
            <a:extLst xmlns:a="http://schemas.openxmlformats.org/drawingml/2006/main">
              <a:ext uri="{FF2B5EF4-FFF2-40B4-BE49-F238E27FC236}">
                <a16:creationId xmlns:a16="http://schemas.microsoft.com/office/drawing/2014/main" id="{0A675055-0D8E-4BD1-BC91-ECE37741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结果与Q1方向一致，机制尚未区分。</a:t>
            </a:r>
          </a:p>
        </p:txBody>
      </p:sp>
      <p:sp>
        <p:nvSpPr>
          <p:cNvPr id="11" name="rule-166">
            <a:extLst xmlns:a="http://schemas.openxmlformats.org/drawingml/2006/main">
              <a:ext uri="{FF2B5EF4-FFF2-40B4-BE49-F238E27FC236}">
                <a16:creationId xmlns:a16="http://schemas.microsoft.com/office/drawing/2014/main" id="{3331AD37-1607-40C0-A6A5-EE0F8C7F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167">
            <a:extLst xmlns:a="http://schemas.openxmlformats.org/drawingml/2006/main">
              <a:ext uri="{FF2B5EF4-FFF2-40B4-BE49-F238E27FC236}">
                <a16:creationId xmlns:a16="http://schemas.microsoft.com/office/drawing/2014/main" id="{0443EEA2-6F9C-47DC-9420-CD10D71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错误二</a:t>
            </a:r>
          </a:p>
        </p:txBody>
      </p:sp>
      <p:sp>
        <p:nvSpPr>
          <p:cNvPr id="13" name="content-168">
            <a:extLst xmlns:a="http://schemas.openxmlformats.org/drawingml/2006/main">
              <a:ext uri="{FF2B5EF4-FFF2-40B4-BE49-F238E27FC236}">
                <a16:creationId xmlns:a16="http://schemas.microsoft.com/office/drawing/2014/main" id="{4D1AC176-2D3E-45AA-BA99-2BF27801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“因此适用于所有文本。”</a:t>
            </a:r>
          </a:p>
        </p:txBody>
      </p:sp>
      <p:sp>
        <p:nvSpPr>
          <p:cNvPr id="14" name="rule-169">
            <a:extLst xmlns:a="http://schemas.openxmlformats.org/drawingml/2006/main">
              <a:ext uri="{FF2B5EF4-FFF2-40B4-BE49-F238E27FC236}">
                <a16:creationId xmlns:a16="http://schemas.microsoft.com/office/drawing/2014/main" id="{2FDF0FCE-21EF-4883-BF44-072D9D0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content-170">
            <a:extLst xmlns:a="http://schemas.openxmlformats.org/drawingml/2006/main">
              <a:ext uri="{FF2B5EF4-FFF2-40B4-BE49-F238E27FC236}">
                <a16:creationId xmlns:a16="http://schemas.microsoft.com/office/drawing/2014/main" id="{C0472861-DA9F-42F3-893B-0B0CF152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修订</a:t>
            </a:r>
          </a:p>
        </p:txBody>
      </p:sp>
      <p:sp>
        <p:nvSpPr>
          <p:cNvPr id="16" name="content-171">
            <a:extLst xmlns:a="http://schemas.openxmlformats.org/drawingml/2006/main">
              <a:ext uri="{FF2B5EF4-FFF2-40B4-BE49-F238E27FC236}">
                <a16:creationId xmlns:a16="http://schemas.microsoft.com/office/drawing/2014/main" id="{22222FF4-8E18-4ADE-9BEB-378D117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本构造包范围内汇总较好，但T03为负例。</a:t>
            </a:r>
          </a:p>
        </p:txBody>
      </p:sp>
      <p:sp>
        <p:nvSpPr>
          <p:cNvPr id="17" name="rule-172">
            <a:extLst xmlns:a="http://schemas.openxmlformats.org/drawingml/2006/main">
              <a:ext uri="{FF2B5EF4-FFF2-40B4-BE49-F238E27FC236}">
                <a16:creationId xmlns:a16="http://schemas.microsoft.com/office/drawing/2014/main" id="{9ED9D901-038B-4ED5-9763-26FA58F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追踪条目指向真实对象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173">
            <a:extLst xmlns:a="http://schemas.openxmlformats.org/drawingml/2006/main">
              <a:ext uri="{FF2B5EF4-FFF2-40B4-BE49-F238E27FC236}">
                <a16:creationId xmlns:a16="http://schemas.microsoft.com/office/drawing/2014/main" id="{BC589B23-7F33-4BE7-A95E-9CF968EC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主张：本构造包的汇总比较。</a:t>
            </a:r>
          </a:p>
        </p:txBody>
      </p:sp>
      <p:sp>
        <p:nvSpPr>
          <p:cNvPr id="7" name="content-174">
            <a:extLst xmlns:a="http://schemas.openxmlformats.org/drawingml/2006/main">
              <a:ext uri="{FF2B5EF4-FFF2-40B4-BE49-F238E27FC236}">
                <a16:creationId xmlns:a16="http://schemas.microsoft.com/office/drawing/2014/main" id="{F5E8E986-F925-41E0-B64F-120E5039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证据：evaluation.json → annotations.json。</a:t>
            </a:r>
          </a:p>
        </p:txBody>
      </p:sp>
      <p:sp>
        <p:nvSpPr>
          <p:cNvPr id="8" name="content-175">
            <a:extLst xmlns:a="http://schemas.openxmlformats.org/drawingml/2006/main">
              <a:ext uri="{FF2B5EF4-FFF2-40B4-BE49-F238E27FC236}">
                <a16:creationId xmlns:a16="http://schemas.microsoft.com/office/drawing/2014/main" id="{F30ECE07-8D5D-4E9E-A4AD-457C177D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原始材料：T01–T03 的源文本与输出原句。</a:t>
            </a:r>
          </a:p>
        </p:txBody>
      </p:sp>
      <p:sp>
        <p:nvSpPr>
          <p:cNvPr id="9" name="content-176">
            <a:extLst xmlns:a="http://schemas.openxmlformats.org/drawingml/2006/main">
              <a:ext uri="{FF2B5EF4-FFF2-40B4-BE49-F238E27FC236}">
                <a16:creationId xmlns:a16="http://schemas.microsoft.com/office/drawing/2014/main" id="{553582F6-3D43-483A-9C1D-9EF03D9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判断：Q1方向一致；H1/A2未决。</a:t>
            </a:r>
          </a:p>
        </p:txBody>
      </p:sp>
      <p:sp>
        <p:nvSpPr>
          <p:cNvPr id="10" name="content-177">
            <a:extLst xmlns:a="http://schemas.openxmlformats.org/drawingml/2006/main">
              <a:ext uri="{FF2B5EF4-FFF2-40B4-BE49-F238E27FC236}">
                <a16:creationId xmlns:a16="http://schemas.microsoft.com/office/drawing/2014/main" id="{29E29D68-175D-4A23-8BEC-6069CABE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反例与缺口：T03；其他质量未测。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披露只写真实发生的使用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178">
            <a:extLst xmlns:a="http://schemas.openxmlformats.org/drawingml/2006/main">
              <a:ext uri="{FF2B5EF4-FFF2-40B4-BE49-F238E27FC236}">
                <a16:creationId xmlns:a16="http://schemas.microsoft.com/office/drawing/2014/main" id="{7A846E86-84DB-4A7E-8963-CCA1D56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本示范回放预置输出，没有课堂模型调用。</a:t>
            </a:r>
          </a:p>
        </p:txBody>
      </p:sp>
      <p:sp>
        <p:nvSpPr>
          <p:cNvPr id="7" name="content-179">
            <a:extLst xmlns:a="http://schemas.openxmlformats.org/drawingml/2006/main">
              <a:ext uri="{FF2B5EF4-FFF2-40B4-BE49-F238E27FC236}">
                <a16:creationId xmlns:a16="http://schemas.microsoft.com/office/drawing/2014/main" id="{B7C112F9-DFF5-4839-8E4D-CD5A1819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若使用AI辅助写作：另记工具、版本/日期、用途与提示要点。</a:t>
            </a:r>
          </a:p>
        </p:txBody>
      </p:sp>
      <p:sp>
        <p:nvSpPr>
          <p:cNvPr id="8" name="content-180">
            <a:extLst xmlns:a="http://schemas.openxmlformats.org/drawingml/2006/main">
              <a:ext uri="{FF2B5EF4-FFF2-40B4-BE49-F238E27FC236}">
                <a16:creationId xmlns:a16="http://schemas.microsoft.com/office/drawing/2014/main" id="{7638D9D2-A734-4451-8914-57452D8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人工核验：数据、原句、范围、失败与引用。</a:t>
            </a:r>
          </a:p>
        </p:txBody>
      </p:sp>
      <p:sp>
        <p:nvSpPr>
          <p:cNvPr id="9" name="content-181">
            <a:extLst xmlns:a="http://schemas.openxmlformats.org/drawingml/2006/main">
              <a:ext uri="{FF2B5EF4-FFF2-40B4-BE49-F238E27FC236}">
                <a16:creationId xmlns:a16="http://schemas.microsoft.com/office/drawing/2014/main" id="{094F5EE4-915D-43A1-9902-6632CD37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输出用途：哪些候选实际进入报告。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补齐追踪与披露，再保存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rocess-182">
            <a:extLst xmlns:a="http://schemas.openxmlformats.org/drawingml/2006/main">
              <a:ext uri="{FF2B5EF4-FFF2-40B4-BE49-F238E27FC236}">
                <a16:creationId xmlns:a16="http://schemas.microsoft.com/office/drawing/2014/main" id="{4B359949-4321-4496-B8EB-05B249A1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507456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ontent-183">
            <a:extLst xmlns:a="http://schemas.openxmlformats.org/drawingml/2006/main">
              <a:ext uri="{FF2B5EF4-FFF2-40B4-BE49-F238E27FC236}">
                <a16:creationId xmlns:a16="http://schemas.microsoft.com/office/drawing/2014/main" id="{7AA28963-B9EC-48DA-BC45-975DC5E4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5975"/>
            <a:ext cx="2297906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追踪：C1</a:t>
            </a:r>
          </a:p>
        </p:txBody>
      </p:sp>
      <p:sp>
        <p:nvSpPr>
          <p:cNvPr id="8" name="content-184">
            <a:extLst xmlns:a="http://schemas.openxmlformats.org/drawingml/2006/main">
              <a:ext uri="{FF2B5EF4-FFF2-40B4-BE49-F238E27FC236}">
                <a16:creationId xmlns:a16="http://schemas.microsoft.com/office/drawing/2014/main" id="{80614E06-BB98-4766-9226-D0183069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56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ocess-185">
            <a:extLst xmlns:a="http://schemas.openxmlformats.org/drawingml/2006/main">
              <a:ext uri="{FF2B5EF4-FFF2-40B4-BE49-F238E27FC236}">
                <a16:creationId xmlns:a16="http://schemas.microsoft.com/office/drawing/2014/main" id="{34386523-9C13-4815-B6D9-D95A1E7E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81" y="2000250"/>
            <a:ext cx="2507456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ontent-186">
            <a:extLst xmlns:a="http://schemas.openxmlformats.org/drawingml/2006/main">
              <a:ext uri="{FF2B5EF4-FFF2-40B4-BE49-F238E27FC236}">
                <a16:creationId xmlns:a16="http://schemas.microsoft.com/office/drawing/2014/main" id="{0767000F-75A3-427D-B229-D8A3E7E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156" y="2085975"/>
            <a:ext cx="2297906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评价报告</a:t>
            </a:r>
          </a:p>
        </p:txBody>
      </p:sp>
      <p:sp>
        <p:nvSpPr>
          <p:cNvPr id="11" name="content-187">
            <a:extLst xmlns:a="http://schemas.openxmlformats.org/drawingml/2006/main">
              <a:ext uri="{FF2B5EF4-FFF2-40B4-BE49-F238E27FC236}">
                <a16:creationId xmlns:a16="http://schemas.microsoft.com/office/drawing/2014/main" id="{A5DD8612-2360-456F-A513-80209B1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ocess-188">
            <a:extLst xmlns:a="http://schemas.openxmlformats.org/drawingml/2006/main">
              <a:ext uri="{FF2B5EF4-FFF2-40B4-BE49-F238E27FC236}">
                <a16:creationId xmlns:a16="http://schemas.microsoft.com/office/drawing/2014/main" id="{7CA44F1F-E91F-4AE8-B49A-C33AC9FD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2000250"/>
            <a:ext cx="2507456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ontent-189">
            <a:extLst xmlns:a="http://schemas.openxmlformats.org/drawingml/2006/main">
              <a:ext uri="{FF2B5EF4-FFF2-40B4-BE49-F238E27FC236}">
                <a16:creationId xmlns:a16="http://schemas.microsoft.com/office/drawing/2014/main" id="{9C9C2071-F7F5-4E26-BEC5-3C4A6C56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085975"/>
            <a:ext cx="2297906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逐项标注</a:t>
            </a:r>
          </a:p>
        </p:txBody>
      </p:sp>
      <p:sp>
        <p:nvSpPr>
          <p:cNvPr id="14" name="content-190">
            <a:extLst xmlns:a="http://schemas.openxmlformats.org/drawingml/2006/main">
              <a:ext uri="{FF2B5EF4-FFF2-40B4-BE49-F238E27FC236}">
                <a16:creationId xmlns:a16="http://schemas.microsoft.com/office/drawing/2014/main" id="{DF04AC25-CB31-4C11-B854-3D7C17D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619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process-191">
            <a:extLst xmlns:a="http://schemas.openxmlformats.org/drawingml/2006/main">
              <a:ext uri="{FF2B5EF4-FFF2-40B4-BE49-F238E27FC236}">
                <a16:creationId xmlns:a16="http://schemas.microsoft.com/office/drawing/2014/main" id="{E5208136-F588-49CF-A171-6DD3B06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44" y="2000250"/>
            <a:ext cx="2507456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content-192">
            <a:extLst xmlns:a="http://schemas.openxmlformats.org/drawingml/2006/main">
              <a:ext uri="{FF2B5EF4-FFF2-40B4-BE49-F238E27FC236}">
                <a16:creationId xmlns:a16="http://schemas.microsoft.com/office/drawing/2014/main" id="{A597F105-5C1F-4EB9-8803-626BFD74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2085975"/>
            <a:ext cx="2297906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源文本与输出。</a:t>
            </a:r>
          </a:p>
        </p:txBody>
      </p:sp>
      <p:sp>
        <p:nvSpPr>
          <p:cNvPr id="17" name="content-193">
            <a:extLst xmlns:a="http://schemas.openxmlformats.org/drawingml/2006/main">
              <a:ext uri="{FF2B5EF4-FFF2-40B4-BE49-F238E27FC236}">
                <a16:creationId xmlns:a16="http://schemas.microsoft.com/office/drawing/2014/main" id="{C7990DF9-C2EC-4138-B682-46F7743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打开 report.md、结论追踪记录与 ai-usage-log.md。</a:t>
            </a:r>
          </a:p>
        </p:txBody>
      </p:sp>
      <p:sp>
        <p:nvSpPr>
          <p:cNvPr id="18" name="content-194">
            <a:extLst xmlns:a="http://schemas.openxmlformats.org/drawingml/2006/main">
              <a:ext uri="{FF2B5EF4-FFF2-40B4-BE49-F238E27FC236}">
                <a16:creationId xmlns:a16="http://schemas.microsoft.com/office/drawing/2014/main" id="{35454902-E1A0-406A-B393-9BC371DD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524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强度：Q1 包内方向一致；H1/A2 未决，T03 负向。</a:t>
            </a:r>
          </a:p>
        </p:txBody>
      </p:sp>
      <p:sp>
        <p:nvSpPr>
          <p:cNvPr id="19" name="content-195">
            <a:extLst xmlns:a="http://schemas.openxmlformats.org/drawingml/2006/main">
              <a:ext uri="{FF2B5EF4-FFF2-40B4-BE49-F238E27FC236}">
                <a16:creationId xmlns:a16="http://schemas.microsoft.com/office/drawing/2014/main" id="{B0B05616-3360-4C4C-AE17-7D9307E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436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披露：固定输出回放；其他 AI 辅助使用另据实记录。</a:t>
            </a:r>
          </a:p>
        </p:txBody>
      </p:sp>
      <p:sp>
        <p:nvSpPr>
          <p:cNvPr id="20" name="content-196">
            <a:extLst xmlns:a="http://schemas.openxmlformats.org/drawingml/2006/main">
              <a:ext uri="{FF2B5EF4-FFF2-40B4-BE49-F238E27FC236}">
                <a16:creationId xmlns:a16="http://schemas.microsoft.com/office/drawing/2014/main" id="{A1B20BB8-FC93-4148-8C03-1424010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348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完成标志：同伴能沿主张反查一次。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请从同伴的主张反向找证据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node0">
            <a:extLst xmlns:a="http://schemas.openxmlformats.org/drawingml/2006/main">
              <a:ext uri="{FF2B5EF4-FFF2-40B4-BE49-F238E27FC236}">
                <a16:creationId xmlns:a16="http://schemas.microsoft.com/office/drawing/2014/main" id="{ED06FAEA-A6EC-428B-94C5-95811F7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23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</p:txBody>
      </p:sp>
      <p:sp>
        <p:nvSpPr>
          <p:cNvPr id="7" name="arrow0">
            <a:extLst xmlns:a="http://schemas.openxmlformats.org/drawingml/2006/main">
              <a:ext uri="{FF2B5EF4-FFF2-40B4-BE49-F238E27FC236}">
                <a16:creationId xmlns:a16="http://schemas.microsoft.com/office/drawing/2014/main" id="{25EB0D02-40A3-402B-92CE-8E5608E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52575"/>
            <a:ext cx="42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node1">
            <a:extLst xmlns:a="http://schemas.openxmlformats.org/drawingml/2006/main">
              <a:ext uri="{FF2B5EF4-FFF2-40B4-BE49-F238E27FC236}">
                <a16:creationId xmlns:a16="http://schemas.microsoft.com/office/drawing/2014/main" id="{2B8F7223-99C2-4080-95A6-568F3D9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52575"/>
            <a:ext cx="323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证据／运行记录</a:t>
            </a:r>
          </a:p>
        </p:txBody>
      </p:sp>
      <p:sp>
        <p:nvSpPr>
          <p:cNvPr id="9" name="arrow1">
            <a:extLst xmlns:a="http://schemas.openxmlformats.org/drawingml/2006/main">
              <a:ext uri="{FF2B5EF4-FFF2-40B4-BE49-F238E27FC236}">
                <a16:creationId xmlns:a16="http://schemas.microsoft.com/office/drawing/2014/main" id="{2BBB41E2-40C0-4849-A67E-FF68F55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52575"/>
            <a:ext cx="42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node2">
            <a:extLst xmlns:a="http://schemas.openxmlformats.org/drawingml/2006/main">
              <a:ext uri="{FF2B5EF4-FFF2-40B4-BE49-F238E27FC236}">
                <a16:creationId xmlns:a16="http://schemas.microsoft.com/office/drawing/2014/main" id="{C05EE511-5B5F-44F8-8BFA-73C2D76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2575"/>
            <a:ext cx="323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上游判断</a:t>
            </a:r>
          </a:p>
        </p:txBody>
      </p:sp>
      <p:sp>
        <p:nvSpPr>
          <p:cNvPr id="11" name="q0">
            <a:extLst xmlns:a="http://schemas.openxmlformats.org/drawingml/2006/main">
              <a:ext uri="{FF2B5EF4-FFF2-40B4-BE49-F238E27FC236}">
                <a16:creationId xmlns:a16="http://schemas.microsoft.com/office/drawing/2014/main" id="{2020B0EC-ADFD-4EBF-B071-9F1D94B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能否找到？</a:t>
            </a:r>
          </a:p>
        </p:txBody>
      </p:sp>
      <p:sp>
        <p:nvSpPr>
          <p:cNvPr id="12" name="detail0">
            <a:extLst xmlns:a="http://schemas.openxmlformats.org/drawingml/2006/main">
              <a:ext uri="{FF2B5EF4-FFF2-40B4-BE49-F238E27FC236}">
                <a16:creationId xmlns:a16="http://schemas.microsoft.com/office/drawing/2014/main" id="{AF948290-54C0-4EFF-9B8E-2F9D922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29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从主张反查具体位置。</a:t>
            </a:r>
          </a:p>
        </p:txBody>
      </p:sp>
      <p:sp>
        <p:nvSpPr>
          <p:cNvPr id="13" name="q1">
            <a:extLst xmlns:a="http://schemas.openxmlformats.org/drawingml/2006/main">
              <a:ext uri="{FF2B5EF4-FFF2-40B4-BE49-F238E27FC236}">
                <a16:creationId xmlns:a16="http://schemas.microsoft.com/office/drawing/2014/main" id="{6E194977-D4A9-4BDC-B1E9-D32108AB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有没有越界？</a:t>
            </a:r>
          </a:p>
        </p:txBody>
      </p:sp>
      <p:sp>
        <p:nvSpPr>
          <p:cNvPr id="14" name="detail1">
            <a:extLst xmlns:a="http://schemas.openxmlformats.org/drawingml/2006/main">
              <a:ext uri="{FF2B5EF4-FFF2-40B4-BE49-F238E27FC236}">
                <a16:creationId xmlns:a16="http://schemas.microsoft.com/office/drawing/2014/main" id="{8C24E3E7-F55C-4050-B52C-841671D2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329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待验证不能写成已证实。</a:t>
            </a:r>
          </a:p>
        </p:txBody>
      </p:sp>
      <p:sp>
        <p:nvSpPr>
          <p:cNvPr id="15" name="q2">
            <a:extLst xmlns:a="http://schemas.openxmlformats.org/drawingml/2006/main">
              <a:ext uri="{FF2B5EF4-FFF2-40B4-BE49-F238E27FC236}">
                <a16:creationId xmlns:a16="http://schemas.microsoft.com/office/drawing/2014/main" id="{1F858A2C-9EDF-4AA7-BD92-8CA1FB74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是否遗漏？</a:t>
            </a:r>
          </a:p>
        </p:txBody>
      </p:sp>
      <p:sp>
        <p:nvSpPr>
          <p:cNvPr id="16" name="detail2">
            <a:extLst xmlns:a="http://schemas.openxmlformats.org/drawingml/2006/main">
              <a:ext uri="{FF2B5EF4-FFF2-40B4-BE49-F238E27FC236}">
                <a16:creationId xmlns:a16="http://schemas.microsoft.com/office/drawing/2014/main" id="{751F1D01-2830-4B73-9D63-D963AC6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29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失败、冲突与 AI 核验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仍然可见。</a:t>
            </a:r>
          </a:p>
        </p:txBody>
      </p:sp>
      <p:sp>
        <p:nvSpPr>
          <p:cNvPr id="17" name="responsibility">
            <a:extLst xmlns:a="http://schemas.openxmlformats.org/drawingml/2006/main">
              <a:ext uri="{FF2B5EF4-FFF2-40B4-BE49-F238E27FC236}">
                <a16:creationId xmlns:a16="http://schemas.microsoft.com/office/drawing/2014/main" id="{92DBAE49-B66F-4EEC-A858-4604016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response">
            <a:extLst xmlns:a="http://schemas.openxmlformats.org/drawingml/2006/main">
              <a:ext uri="{FF2B5EF4-FFF2-40B4-BE49-F238E27FC236}">
                <a16:creationId xmlns:a16="http://schemas.microsoft.com/office/drawing/2014/main" id="{D2322C8A-568D-418A-8C93-DA96D84E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作者记录处理决定与真实理由，不凑反馈类别。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58747A60-65C0-43F3-8A5D-BA08391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chain">
            <a:extLst xmlns:a="http://schemas.openxmlformats.org/drawingml/2006/main">
              <a:ext uri="{FF2B5EF4-FFF2-40B4-BE49-F238E27FC236}">
                <a16:creationId xmlns:a16="http://schemas.microsoft.com/office/drawing/2014/main" id="{70ACB8FD-58C2-4257-A0D7-69339F9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 → 主张 → 证据 → 推理 → 边界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997B9EA5-6390-444E-891E-0D64CD3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858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写作可以重组事实，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不能扩大证据支持范围。</a:t>
            </a:r>
          </a:p>
        </p:txBody>
      </p:sp>
      <p:sp>
        <p:nvSpPr>
          <p:cNvPr id="8" name="checkline">
            <a:extLst xmlns:a="http://schemas.openxmlformats.org/drawingml/2006/main">
              <a:ext uri="{FF2B5EF4-FFF2-40B4-BE49-F238E27FC236}">
                <a16:creationId xmlns:a16="http://schemas.microsoft.com/office/drawing/2014/main" id="{4F6BA725-6AB8-495B-90B1-4D6E6CC8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reverse">
            <a:extLst xmlns:a="http://schemas.openxmlformats.org/drawingml/2006/main">
              <a:ext uri="{FF2B5EF4-FFF2-40B4-BE49-F238E27FC236}">
                <a16:creationId xmlns:a16="http://schemas.microsoft.com/office/drawing/2014/main" id="{097C044F-DE35-46F1-A5DE-D587321F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反查：运行记录、上游判断与替代解释。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DADB85D6-B0F4-4C57-ACD6-55E54095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把一个段落扩成报告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aragraph">
            <a:extLst xmlns:a="http://schemas.openxmlformats.org/drawingml/2006/main">
              <a:ext uri="{FF2B5EF4-FFF2-40B4-BE49-F238E27FC236}">
                <a16:creationId xmlns:a16="http://schemas.microsoft.com/office/drawing/2014/main" id="{106AA225-524F-4EA5-95EF-AD267FD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952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已有论证段</a:t>
            </a:r>
          </a:p>
        </p:txBody>
      </p:sp>
      <p:sp>
        <p:nvSpPr>
          <p:cNvPr id="7" name="paragraph-body">
            <a:extLst xmlns:a="http://schemas.openxmlformats.org/drawingml/2006/main">
              <a:ext uri="{FF2B5EF4-FFF2-40B4-BE49-F238E27FC236}">
                <a16:creationId xmlns:a16="http://schemas.microsoft.com/office/drawing/2014/main" id="{7236CC6A-859F-4A10-B4CA-A9AFBC5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9528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主张／证据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推理／边界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C7744E59-E603-43CE-AED4-60B0248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76525"/>
            <a:ext cx="6000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report-top">
            <a:extLst xmlns:a="http://schemas.openxmlformats.org/drawingml/2006/main">
              <a:ext uri="{FF2B5EF4-FFF2-40B4-BE49-F238E27FC236}">
                <a16:creationId xmlns:a16="http://schemas.microsoft.com/office/drawing/2014/main" id="{AB5168EC-1787-434A-BCB3-8B28DBBF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2573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0" name="report-file">
            <a:extLst xmlns:a="http://schemas.openxmlformats.org/drawingml/2006/main">
              <a:ext uri="{FF2B5EF4-FFF2-40B4-BE49-F238E27FC236}">
                <a16:creationId xmlns:a16="http://schemas.microsoft.com/office/drawing/2014/main" id="{38BE3F8C-1837-4C6C-9FA8-E9FE2B63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097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report.md</a:t>
            </a:r>
          </a:p>
        </p:txBody>
      </p:sp>
      <p:sp>
        <p:nvSpPr>
          <p:cNvPr id="11" name="report-line0">
            <a:extLst xmlns:a="http://schemas.openxmlformats.org/drawingml/2006/main">
              <a:ext uri="{FF2B5EF4-FFF2-40B4-BE49-F238E27FC236}">
                <a16:creationId xmlns:a16="http://schemas.microsoft.com/office/drawing/2014/main" id="{C09C2756-D267-4368-B643-2E3EE46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431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问题：为什么问</a:t>
            </a:r>
          </a:p>
        </p:txBody>
      </p:sp>
      <p:sp>
        <p:nvSpPr>
          <p:cNvPr id="12" name="report-line1">
            <a:extLst xmlns:a="http://schemas.openxmlformats.org/drawingml/2006/main">
              <a:ext uri="{FF2B5EF4-FFF2-40B4-BE49-F238E27FC236}">
                <a16:creationId xmlns:a16="http://schemas.microsoft.com/office/drawing/2014/main" id="{7AA1C9FA-6B2D-414D-ACF2-EF4F504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57475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方法：如何得到结果</a:t>
            </a:r>
          </a:p>
        </p:txBody>
      </p:sp>
      <p:sp>
        <p:nvSpPr>
          <p:cNvPr id="13" name="report-line2">
            <a:extLst xmlns:a="http://schemas.openxmlformats.org/drawingml/2006/main">
              <a:ext uri="{FF2B5EF4-FFF2-40B4-BE49-F238E27FC236}">
                <a16:creationId xmlns:a16="http://schemas.microsoft.com/office/drawing/2014/main" id="{DBA67BA0-3680-4FD8-A4E0-EF645F8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结果：当前证据支持什么</a:t>
            </a:r>
          </a:p>
        </p:txBody>
      </p:sp>
      <p:sp>
        <p:nvSpPr>
          <p:cNvPr id="14" name="report-line3">
            <a:extLst xmlns:a="http://schemas.openxmlformats.org/drawingml/2006/main">
              <a:ext uri="{FF2B5EF4-FFF2-40B4-BE49-F238E27FC236}">
                <a16:creationId xmlns:a16="http://schemas.microsoft.com/office/drawing/2014/main" id="{03800118-7CA7-4CEF-9DF7-9BFB2F16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86225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讨论：边界与未决解释</a:t>
            </a:r>
          </a:p>
        </p:txBody>
      </p:sp>
      <p:sp>
        <p:nvSpPr>
          <p:cNvPr id="15" name="after">
            <a:extLst xmlns:a="http://schemas.openxmlformats.org/drawingml/2006/main">
              <a:ext uri="{FF2B5EF4-FFF2-40B4-BE49-F238E27FC236}">
                <a16:creationId xmlns:a16="http://schemas.microsoft.com/office/drawing/2014/main" id="{FBBF2380-6A3B-428A-9D78-337987F8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课后补全：可信贡献、引用与 AI 披露；保留失败和冲突。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A465D204-B779-4AD0-957F-49C779E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253A42C1-5028-4BC3-BDB6-CB966B8D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59A75EA8-F3FA-46C6-8666-29A8FC78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L15 以这份实际初稿进行同行评审。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7D5690B2-2B66-446A-BF52-B365BEF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回写已有项目：report.md 或主文档中的论证段、完整骨架与追踪条目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B92F6F7E-8E4C-4727-9E30-74AA8B58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A80CBEAD-7DCB-4F72-8365-E2D38D95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A9367BEF-711C-4C9C-96B8-55C774F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2026-09-16T01:34:18.3380000Z</dcterms:created>
  <dcterms:modified xsi:type="dcterms:W3CDTF">2026-09-16T01:34:18.3380000Z</dcterms:modified>
</coreProperties>
</file>