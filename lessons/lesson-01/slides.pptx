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b40e276e974935" /><Relationship Type="http://schemas.openxmlformats.org/officeDocument/2006/relationships/extended-properties" Target="/docProps/app.xml" Id="R8c5be3d895c242d2" /><Relationship Type="http://schemas.openxmlformats.org/officeDocument/2006/relationships/officeDocument" Target="/ppt/presentation.xml" Id="Rf29db1dbdb044b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46181aca5c46d7"/>
  </p:sldMasterIdLst>
  <p:notesMasterIdLst>
    <p:notesMasterId xmlns:r="http://schemas.openxmlformats.org/officeDocument/2006/relationships" r:id="Rb5671178f28648b5"/>
  </p:notesMasterIdLst>
  <p:sldIdLst>
    <p:sldId xmlns:r="http://schemas.openxmlformats.org/officeDocument/2006/relationships" id="256" r:id="R8f50affb85624bf5"/>
    <p:sldId xmlns:r="http://schemas.openxmlformats.org/officeDocument/2006/relationships" id="257" r:id="Rfe663876a9184b2c"/>
    <p:sldId xmlns:r="http://schemas.openxmlformats.org/officeDocument/2006/relationships" id="258" r:id="Rb8604e0365244f23"/>
    <p:sldId xmlns:r="http://schemas.openxmlformats.org/officeDocument/2006/relationships" id="259" r:id="Ra3b5a98fea4a49aa"/>
    <p:sldId xmlns:r="http://schemas.openxmlformats.org/officeDocument/2006/relationships" id="260" r:id="R50a1c30b82244861"/>
    <p:sldId xmlns:r="http://schemas.openxmlformats.org/officeDocument/2006/relationships" id="261" r:id="R3635350355ce47b1"/>
    <p:sldId xmlns:r="http://schemas.openxmlformats.org/officeDocument/2006/relationships" id="262" r:id="Rdb569f007fab4086"/>
    <p:sldId xmlns:r="http://schemas.openxmlformats.org/officeDocument/2006/relationships" id="263" r:id="R8255e00ecfc24607"/>
    <p:sldId xmlns:r="http://schemas.openxmlformats.org/officeDocument/2006/relationships" id="264" r:id="R9c519658208d4237"/>
    <p:sldId xmlns:r="http://schemas.openxmlformats.org/officeDocument/2006/relationships" id="265" r:id="Rcd203fa7b2e14ef2"/>
    <p:sldId xmlns:r="http://schemas.openxmlformats.org/officeDocument/2006/relationships" id="266" r:id="R9720bb5f2b55483d"/>
    <p:sldId xmlns:r="http://schemas.openxmlformats.org/officeDocument/2006/relationships" id="267" r:id="Ra2d3e61119584002"/>
    <p:sldId xmlns:r="http://schemas.openxmlformats.org/officeDocument/2006/relationships" id="268" r:id="R1f764fb6594c48f0"/>
    <p:sldId xmlns:r="http://schemas.openxmlformats.org/officeDocument/2006/relationships" id="269" r:id="R72eee7e79d074fcc"/>
    <p:sldId xmlns:r="http://schemas.openxmlformats.org/officeDocument/2006/relationships" id="270" r:id="Raf17a91a22dd4c1d"/>
    <p:sldId xmlns:r="http://schemas.openxmlformats.org/officeDocument/2006/relationships" id="271" r:id="Rd185798cd1b446fd"/>
    <p:sldId xmlns:r="http://schemas.openxmlformats.org/officeDocument/2006/relationships" id="272" r:id="Ra36da67344214cc1"/>
    <p:sldId xmlns:r="http://schemas.openxmlformats.org/officeDocument/2006/relationships" id="273" r:id="R9dbe79e10f4f4e9d"/>
    <p:sldId xmlns:r="http://schemas.openxmlformats.org/officeDocument/2006/relationships" id="274" r:id="R8bac0017deb549c3"/>
    <p:sldId xmlns:r="http://schemas.openxmlformats.org/officeDocument/2006/relationships" id="275" r:id="R58805ea3a9204898"/>
    <p:sldId xmlns:r="http://schemas.openxmlformats.org/officeDocument/2006/relationships" id="276" r:id="R0ef23be196884e00"/>
    <p:sldId xmlns:r="http://schemas.openxmlformats.org/officeDocument/2006/relationships" id="277" r:id="Rf526884db42748e9"/>
    <p:sldId xmlns:r="http://schemas.openxmlformats.org/officeDocument/2006/relationships" id="278" r:id="Raf49c85ea0e44fbb"/>
    <p:sldId xmlns:r="http://schemas.openxmlformats.org/officeDocument/2006/relationships" id="279" r:id="R12fed92e964540ef"/>
    <p:sldId xmlns:r="http://schemas.openxmlformats.org/officeDocument/2006/relationships" id="280" r:id="R2fa05bc9d2704eca"/>
    <p:sldId xmlns:r="http://schemas.openxmlformats.org/officeDocument/2006/relationships" id="281" r:id="R471e9b17e57c4366"/>
    <p:sldId xmlns:r="http://schemas.openxmlformats.org/officeDocument/2006/relationships" id="282" r:id="R6f96acc5c288496c"/>
    <p:sldId xmlns:r="http://schemas.openxmlformats.org/officeDocument/2006/relationships" id="283" r:id="R4c0c2340427b44b1"/>
    <p:sldId xmlns:r="http://schemas.openxmlformats.org/officeDocument/2006/relationships" id="284" r:id="R716f2c63aa9a45db"/>
    <p:sldId xmlns:r="http://schemas.openxmlformats.org/officeDocument/2006/relationships" id="285" r:id="R0305c975c7794305"/>
    <p:sldId xmlns:r="http://schemas.openxmlformats.org/officeDocument/2006/relationships" id="286" r:id="R8a32c415e96940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63c298b6b845c7" /><Relationship Type="http://schemas.openxmlformats.org/officeDocument/2006/relationships/slideMaster" Target="/ppt/slideMasters/slideMaster1.xml" Id="Ra646181aca5c46d7" /><Relationship Type="http://schemas.openxmlformats.org/officeDocument/2006/relationships/notesMaster" Target="/ppt/notesMasters/notesMaster1.xml" Id="Rb5671178f28648b5" /><Relationship Type="http://schemas.openxmlformats.org/officeDocument/2006/relationships/presProps" Target="/ppt/presProps.xml" Id="R6741c7e398cc49c9" /><Relationship Type="http://schemas.openxmlformats.org/officeDocument/2006/relationships/viewProps" Target="/ppt/viewProps.xml" Id="Ra8c3401fd00245a5" /><Relationship Type="http://schemas.openxmlformats.org/officeDocument/2006/relationships/tableStyles" Target="/ppt/tableStyles.xml" Id="R8b10f53aadaa4d8b" /><Relationship Type="http://schemas.openxmlformats.org/officeDocument/2006/relationships/slide" Target="/ppt/slides/slide1.xml" Id="R8f50affb85624bf5" /><Relationship Type="http://schemas.openxmlformats.org/officeDocument/2006/relationships/slide" Target="/ppt/slides/slide2.xml" Id="Rfe663876a9184b2c" /><Relationship Type="http://schemas.openxmlformats.org/officeDocument/2006/relationships/slide" Target="/ppt/slides/slide3.xml" Id="Rb8604e0365244f23" /><Relationship Type="http://schemas.openxmlformats.org/officeDocument/2006/relationships/slide" Target="/ppt/slides/slide4.xml" Id="Ra3b5a98fea4a49aa" /><Relationship Type="http://schemas.openxmlformats.org/officeDocument/2006/relationships/slide" Target="/ppt/slides/slide5.xml" Id="R50a1c30b82244861" /><Relationship Type="http://schemas.openxmlformats.org/officeDocument/2006/relationships/slide" Target="/ppt/slides/slide6.xml" Id="R3635350355ce47b1" /><Relationship Type="http://schemas.openxmlformats.org/officeDocument/2006/relationships/slide" Target="/ppt/slides/slide7.xml" Id="Rdb569f007fab4086" /><Relationship Type="http://schemas.openxmlformats.org/officeDocument/2006/relationships/slide" Target="/ppt/slides/slide8.xml" Id="R8255e00ecfc24607" /><Relationship Type="http://schemas.openxmlformats.org/officeDocument/2006/relationships/slide" Target="/ppt/slides/slide9.xml" Id="R9c519658208d4237" /><Relationship Type="http://schemas.openxmlformats.org/officeDocument/2006/relationships/slide" Target="/ppt/slides/slide10.xml" Id="Rcd203fa7b2e14ef2" /><Relationship Type="http://schemas.openxmlformats.org/officeDocument/2006/relationships/slide" Target="/ppt/slides/slide11.xml" Id="R9720bb5f2b55483d" /><Relationship Type="http://schemas.openxmlformats.org/officeDocument/2006/relationships/slide" Target="/ppt/slides/slide12.xml" Id="Ra2d3e61119584002" /><Relationship Type="http://schemas.openxmlformats.org/officeDocument/2006/relationships/slide" Target="/ppt/slides/slide13.xml" Id="R1f764fb6594c48f0" /><Relationship Type="http://schemas.openxmlformats.org/officeDocument/2006/relationships/slide" Target="/ppt/slides/slide14.xml" Id="R72eee7e79d074fcc" /><Relationship Type="http://schemas.openxmlformats.org/officeDocument/2006/relationships/slide" Target="/ppt/slides/slide15.xml" Id="Raf17a91a22dd4c1d" /><Relationship Type="http://schemas.openxmlformats.org/officeDocument/2006/relationships/slide" Target="/ppt/slides/slide16.xml" Id="Rd185798cd1b446fd" /><Relationship Type="http://schemas.openxmlformats.org/officeDocument/2006/relationships/slide" Target="/ppt/slides/slide17.xml" Id="Ra36da67344214cc1" /><Relationship Type="http://schemas.openxmlformats.org/officeDocument/2006/relationships/slide" Target="/ppt/slides/slide18.xml" Id="R9dbe79e10f4f4e9d" /><Relationship Type="http://schemas.openxmlformats.org/officeDocument/2006/relationships/slide" Target="/ppt/slides/slide19.xml" Id="R8bac0017deb549c3" /><Relationship Type="http://schemas.openxmlformats.org/officeDocument/2006/relationships/slide" Target="/ppt/slides/slide20.xml" Id="R58805ea3a9204898" /><Relationship Type="http://schemas.openxmlformats.org/officeDocument/2006/relationships/slide" Target="/ppt/slides/slide21.xml" Id="R0ef23be196884e00" /><Relationship Type="http://schemas.openxmlformats.org/officeDocument/2006/relationships/slide" Target="/ppt/slides/slide22.xml" Id="Rf526884db42748e9" /><Relationship Type="http://schemas.openxmlformats.org/officeDocument/2006/relationships/slide" Target="/ppt/slides/slide23.xml" Id="Raf49c85ea0e44fbb" /><Relationship Type="http://schemas.openxmlformats.org/officeDocument/2006/relationships/slide" Target="/ppt/slides/slide24.xml" Id="R12fed92e964540ef" /><Relationship Type="http://schemas.openxmlformats.org/officeDocument/2006/relationships/slide" Target="/ppt/slides/slide25.xml" Id="R2fa05bc9d2704eca" /><Relationship Type="http://schemas.openxmlformats.org/officeDocument/2006/relationships/slide" Target="/ppt/slides/slide26.xml" Id="R471e9b17e57c4366" /><Relationship Type="http://schemas.openxmlformats.org/officeDocument/2006/relationships/slide" Target="/ppt/slides/slide27.xml" Id="R6f96acc5c288496c" /><Relationship Type="http://schemas.openxmlformats.org/officeDocument/2006/relationships/slide" Target="/ppt/slides/slide28.xml" Id="R4c0c2340427b44b1" /><Relationship Type="http://schemas.openxmlformats.org/officeDocument/2006/relationships/slide" Target="/ppt/slides/slide29.xml" Id="R716f2c63aa9a45db" /><Relationship Type="http://schemas.openxmlformats.org/officeDocument/2006/relationships/slide" Target="/ppt/slides/slide30.xml" Id="R0305c975c7794305" /><Relationship Type="http://schemas.openxmlformats.org/officeDocument/2006/relationships/slide" Target="/ppt/slides/slide31.xml" Id="R8a32c415e96940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1eb75f0e274e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60841af8d2463f" /><Relationship Type="http://schemas.openxmlformats.org/officeDocument/2006/relationships/notesMaster" Target="/ppt/notesMasters/notesMaster1.xml" Id="R7f4901cdd0614a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0a5996f68a410b" /><Relationship Type="http://schemas.openxmlformats.org/officeDocument/2006/relationships/notesMaster" Target="/ppt/notesMasters/notesMaster1.xml" Id="R003568e0618445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33fce2b17949f5" /><Relationship Type="http://schemas.openxmlformats.org/officeDocument/2006/relationships/notesMaster" Target="/ppt/notesMasters/notesMaster1.xml" Id="Rb65778b2211146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98ecf10c224e4a" /><Relationship Type="http://schemas.openxmlformats.org/officeDocument/2006/relationships/notesMaster" Target="/ppt/notesMasters/notesMaster1.xml" Id="R1c1910dadc5341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d57cf2436b4017" /><Relationship Type="http://schemas.openxmlformats.org/officeDocument/2006/relationships/notesMaster" Target="/ppt/notesMasters/notesMaster1.xml" Id="Raea02f603ede49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f2f63c56b94529" /><Relationship Type="http://schemas.openxmlformats.org/officeDocument/2006/relationships/notesMaster" Target="/ppt/notesMasters/notesMaster1.xml" Id="Rfd0f303b26ff49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5f8269d10e4bef" /><Relationship Type="http://schemas.openxmlformats.org/officeDocument/2006/relationships/notesMaster" Target="/ppt/notesMasters/notesMaster1.xml" Id="Rd8f0f9ae5dcd4d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c0472de34444d5" /><Relationship Type="http://schemas.openxmlformats.org/officeDocument/2006/relationships/notesMaster" Target="/ppt/notesMasters/notesMaster1.xml" Id="Rf45bea6fb74446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4f860b5d4f4411" /><Relationship Type="http://schemas.openxmlformats.org/officeDocument/2006/relationships/notesMaster" Target="/ppt/notesMasters/notesMaster1.xml" Id="R69afc838ff2947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f2137abc9934754" /><Relationship Type="http://schemas.openxmlformats.org/officeDocument/2006/relationships/notesMaster" Target="/ppt/notesMasters/notesMaster1.xml" Id="R006e3797279046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6bf612e315403a" /><Relationship Type="http://schemas.openxmlformats.org/officeDocument/2006/relationships/notesMaster" Target="/ppt/notesMasters/notesMaster1.xml" Id="R50868c5dc78046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b9a80760a44ab7" /><Relationship Type="http://schemas.openxmlformats.org/officeDocument/2006/relationships/notesMaster" Target="/ppt/notesMasters/notesMaster1.xml" Id="Reb564d22ede0420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e60a8d3e5af423b" /><Relationship Type="http://schemas.openxmlformats.org/officeDocument/2006/relationships/notesMaster" Target="/ppt/notesMasters/notesMaster1.xml" Id="R36076ca03f4047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f99e676b1d4505" /><Relationship Type="http://schemas.openxmlformats.org/officeDocument/2006/relationships/notesMaster" Target="/ppt/notesMasters/notesMaster1.xml" Id="R40264742836c4b2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e63d97c0594e28" /><Relationship Type="http://schemas.openxmlformats.org/officeDocument/2006/relationships/notesMaster" Target="/ppt/notesMasters/notesMaster1.xml" Id="R83657aecd2fa4e0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265daa865aa4a41" /><Relationship Type="http://schemas.openxmlformats.org/officeDocument/2006/relationships/notesMaster" Target="/ppt/notesMasters/notesMaster1.xml" Id="Rce11536f157b4c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8c03a4232a14c62" /><Relationship Type="http://schemas.openxmlformats.org/officeDocument/2006/relationships/notesMaster" Target="/ppt/notesMasters/notesMaster1.xml" Id="Rdcc2b8e246224eb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d8e77b4a4ae4257" /><Relationship Type="http://schemas.openxmlformats.org/officeDocument/2006/relationships/notesMaster" Target="/ppt/notesMasters/notesMaster1.xml" Id="R436ad5f92ff9497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762f6ce28534dda" /><Relationship Type="http://schemas.openxmlformats.org/officeDocument/2006/relationships/notesMaster" Target="/ppt/notesMasters/notesMaster1.xml" Id="R93b23b19820044a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c521787ab09453c" /><Relationship Type="http://schemas.openxmlformats.org/officeDocument/2006/relationships/notesMaster" Target="/ppt/notesMasters/notesMaster1.xml" Id="Rab38e5aae3b4438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5171bf43aaf423d" /><Relationship Type="http://schemas.openxmlformats.org/officeDocument/2006/relationships/notesMaster" Target="/ppt/notesMasters/notesMaster1.xml" Id="R2d144de6dbb54a8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08819353fe14723" /><Relationship Type="http://schemas.openxmlformats.org/officeDocument/2006/relationships/notesMaster" Target="/ppt/notesMasters/notesMaster1.xml" Id="Rd5ef55f0af4c49a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1433b824fcd4ee0" /><Relationship Type="http://schemas.openxmlformats.org/officeDocument/2006/relationships/notesMaster" Target="/ppt/notesMasters/notesMaster1.xml" Id="Rc3f8241bb5ac4b7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977d3667e7848f5" /><Relationship Type="http://schemas.openxmlformats.org/officeDocument/2006/relationships/notesMaster" Target="/ppt/notesMasters/notesMaster1.xml" Id="Rad7389f124cf437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e9df7c9259a494a" /><Relationship Type="http://schemas.openxmlformats.org/officeDocument/2006/relationships/notesMaster" Target="/ppt/notesMasters/notesMaster1.xml" Id="R845a4feb56724a7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34f253ca7a744fa" /><Relationship Type="http://schemas.openxmlformats.org/officeDocument/2006/relationships/notesMaster" Target="/ppt/notesMasters/notesMaster1.xml" Id="R1a374a996450487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1fb666940dd40aa" /><Relationship Type="http://schemas.openxmlformats.org/officeDocument/2006/relationships/notesMaster" Target="/ppt/notesMasters/notesMaster1.xml" Id="R294d2160b494480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bfe758083ac4ff5" /><Relationship Type="http://schemas.openxmlformats.org/officeDocument/2006/relationships/notesMaster" Target="/ppt/notesMasters/notesMaster1.xml" Id="Ra29428b8264b440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77c403e8bf440af" /><Relationship Type="http://schemas.openxmlformats.org/officeDocument/2006/relationships/notesMaster" Target="/ppt/notesMasters/notesMaster1.xml" Id="Re9e3ff6d21ea4bc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b58b0332ae34cb3" /><Relationship Type="http://schemas.openxmlformats.org/officeDocument/2006/relationships/notesMaster" Target="/ppt/notesMasters/notesMaster1.xml" Id="R2832f0bef6754c5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fc8e09901a74b55" /><Relationship Type="http://schemas.openxmlformats.org/officeDocument/2006/relationships/notesMaster" Target="/ppt/notesMasters/notesMaster1.xml" Id="R01ddddfdc49547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页面：P01 AI 辅助科研导论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AI 辅助科研导论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封面只承担识别，不提前给答案。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进入课堂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页面：P02 讲师与学生的研究分工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共同把研究判断做得可检查；讲师提供；研究方法与操作支架 / Agent 实践中的失败案例 / 对证据和边界的反馈；学生带来；自己的研究问题 / 当前无法确定的判断 / 愿意接受检查的工件；方法与反馈；问题与判断；带着真实问题来，带着修改理由离开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用真实经历快速说明：本课讨论研究方法，不做工具推销。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识别可向教师追问的研究问题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本课板书、诊断与串词：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**板书主线**：一句话 → 可支持的范围 → 还缺的证据。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**诊断问题**：P03 的“减少”与“所有论文”各缺什么证据？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**预期回答**：需要同口径比较和外推依据；一段AI文字本身不能证明。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**常见误答后的追问**：若答“有引用就能用”，让其指出引用究竟测了什么。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**过渡串词**：“接下来用真实文献看看，不同设计究竟能回答哪一个问题。”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**当堂最小产出**：一处经审核的修改、diff、日志和链路位置。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页面：P03 这句话能写进论文结论吗？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场景：你正在写一项论文阅读方法研究的结论。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“结构化阅读卡可以**减少**摘要遗漏，因此适合**所有**论文阅读任务。”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课堂构造材料；当前没有提供原文或实验记录。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圈出需要检查的词：效果——与谁比、量什么？范围——哪些论文、哪些任务？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阅读卡就是按字段记录问题、方法、结果、局限和原文位置。请学生先圈“减少”或“所有”，说出需要看的依据。回答“加引用”时追问引用是否真的比较了两种读法、是否覆盖这里的范围；回答“AI 都不可信”时将注意力引回具体主张与核查动作。板书“AI 建议→待检验主张”，分出效果和范围两支。收束：“一句话已经需要检查效果和范围。把规模放大到整篇 AI 生成论文，我们继续用这两类问题看研究质量。”本页为开场主演，P05/P06 简短概览，完整讨论留作阅读。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圈出一处待检验推断，说出一项需要查看的材料。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./handout.md §一·2；课堂构造判断题，无实证主张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页面：P04 完整论文出现了，研究质量如何？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The AI Scientist；Lu et al. · Nature 651 (2026) · Figure 1a；构思   /   实验   /   成文与评审；1/3；超过 workshop / 平均接收阈值；6.33；其中一篇的评审均分；0/3；团队内部复核： / 达到主会标准的投稿；研究团队人工筛选三篇投稿；评审后按预设协议撤回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先让学生读 1/3、6.33 和 0/3，再解释人工筛选、workshop 与主会标准；不把一次通过外推为稳定自治。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先判断哪一个数字最改变自己的看法，再指出仍由人决定的一处环节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https://www.nature.com/articles/s41586-026-10265-5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https://www.nature.com/articles/s41586-026-10265-5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页面：P05 AI 科研的治理与生态争论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治理；Nature 社论 · 2026.03.25；机构、资助方与出版方需要 / 回应科研自动化带来的治理问题。；人的作用；Nature 社论 · 2026.05.19；问题框定、实验、指导与检查 / 仍需要研究者参与。；研究生态；Nature 观点 · 2026.06.22；激励原创探索，还是只奖励速度？ / 研究方向趋同值得警惕。；这些评论提出问题，实证研究提供检验。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三篇评论分别承担治理、人类判断和激励风险角色，不能当实验结果使用。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选择一个自己最担心的系统性风险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https://www.nature.com/articles/d41586-026-00934-w；https://www.nature.com/articles/d41586-026-01551-3；https://www.nature.com/articles/d41586-026-01954-2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https://www.nature.com/articles/d41586-026-00934-w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https://www.nature.com/articles/d41586-026-01551-3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https://www.nature.com/articles/d41586-026-01954-2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页面：P06 AI 使用与科学探索范围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Hao et al. · Nature (2026) · Figure 3b；知识范围的差异；红：AI 论文 / 蓝：非 AI 论文；在该研究的知识空间中， / AI 论文的覆盖范围更集中。；约 4,130 万篇论文，六个学科 / 观察性关联，不能直接推为因果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突出观察性研究边界：相关而非自动因果；但它把发表动机变成可讨论对象。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读图判断红蓝分布差异意味着什么、不能意味着什么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https://www.nature.com/articles/s41586-025-09922-y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https://www.nature.com/articles/s41586-025-09922-y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页面：P07 AI 科研需要回答的五个问题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01；问题；仍由人定义？；02；证据；仍可核验？；03；行动；仍受约束？；04；结论；仍有边界？；05；责任；仍由人承担？；哪一项最难保证？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问题页只提问；下一页保持同一位置给回应。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选出最难保证的一项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页面：P08 五个问题对应的控制点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讲义位置：§一、§二、§三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01；问题；问题定义；02；证据；来源核验；03；行动；权限确认；04；结论；研究门与边界；05；责任；diff 与日志 / 使用披露；把一个控制点接到你的个人项目。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保持节点位置，让学生看见问题被什么机制接住。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将一个控制点与自己的项目连接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页面：P09 期末个人项目的四类工件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围绕同一个研究问题，保存四类证据；问题与证据；为什么值得做，依据在哪里？；判断与实验；什么结果会改变当前判断？；工作流与评价；Agent 如何执行，怎样评价？；论证与披露；结论如何追溯，哪些责任由人承担？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避免展示完整目录树；只强调四类贯穿工件。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判断自己的项目目前最缺哪类工件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/Users/bright/Projects/courses/graduate/course/assessment.md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页面：P10 个人项目与两层反馈关系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个人研究项目；作者作出决定并承担责任；临时结对；固定同伴组；第 1、2 课交换一次判断理由 / 各自修改、各自保留证据；3–4 人，第 6 课前确定 / 可轮换互查对象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第一、二课只做临时结对；固定同伴组在第六课前建立。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确认今天只需找临时互查对象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页面：P11 评分看什么，怎样算达标？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讲义位置：§三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文献与问题定位 25%；实验设计与可复现性 30%；原型与 Agent Workflow 实践 25%；表达、伦理与复盘 20%。评分依据：问题与来源、协议与结果、工作流评价、论证与披露。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解释四级表现锚点提高透明度，但不保证发表。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用一个维度判断“达标”需要什么证据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/Users/bright/Projects/courses/graduate/course/assessment.md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页面：P12 研究任务、执行环境与模型后端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研究任务与边界；问题、输入材料、可执行动作、停止条件；执行环境；OpenCode / Claude Code / Codex；模型后端；DeepSeek / Qwen / 其他合规模型；今天从公开或课堂构造材料开始。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OpenCode、Claude Code、Codex 属执行环境；DeepSeek、Qwen 等是可连接的模型后端。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指出今天真正被评分的是哪一层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/Users/bright/Projects/courses/graduate/lessons/lesson-01/handout.md；https://opencode.ai/docs/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https://opencode.ai/docs/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页面：P13 报告与可检查的研究过程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讲义位置：§一·3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课堂构造案例；一份阅读卡报告；“阅读卡降低了遗漏， / 建议全面采用。”；定义、对照和反例尚未展示；检查它怎样支持这个判断；问题；“遗漏”怎样定义？；证据；依据能否定位？；实验；与什么基线比较？；边界；在哪些条件下成立？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用一条看似完整的报告与一条可追溯判断链对比。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指出报告还缺哪种检查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页面：P14 八阶段定位图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01；问题定义；02；第一性原理；03；机制假设；04；外部输入；05；证据整理；06；研究判断；07；原型验证；08；回写表达；先定位当前动作，再确定需要回到哪里。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逐一读名称没有价值；只示范如何定位和回退。八个阶段的详细字段在后续课次分别学习，本课不逐项展开。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指出当前项目最可能位于哪一阶段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页面：P15 阶段 1–4：问题、条件、机制与来源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讲义位置：§二·1–4、§六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课堂构造案例：阅读卡与限定条件遗漏；问题定义；第一性原理；机制假设；外部输入；01；阅读卡能否减少 / 计算机论文摘要中 / 限定条件的遗漏？；02；比较同一组论文 / 采用同一套标注 / 先定义“遗漏”；03；分开任务、设置、 / 结果和局限，是否 / 能减少过度概括？；04；检索公开论文 / 记录原文位置 / 标记候选证据；每次转化，都要说清新增了什么依据。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沿同一阅读卡案例讲连续转化；外部来源先进入待核验区。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沿箭头说出每次转化新增了什么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/Users/bright/Projects/courses/graduate/lessons/lesson-01/handout.md；/Users/bright/Projects/courses/graduate/lessons/lesson-01/assets/README.md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页面：P16 阶段 5–8：证据、判断、实验与结论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讲义位置：§二·5–8、§六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同一阅读卡案例：工件填写示意；证据地图；判断记录；实验规格；受限结论；支持与冲突并列 / 标明原文与局限；记录采纳或拒绝 / 写明判断理由；明确基线、指标 / 以及停止条件；区分计划与结果 / 写清适用范围；结论；证据；反向审计：结果如何形成，判断依据是什么？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四类工件用具体片段说明，原生图层连接证据、判断、实验与结论；示例不冒充已运行结果。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从受限结论沿红线反向追到一项证据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/Users/bright/Projects/courses/graduate/lessons/lesson-01/handout.md；/Users/bright/Projects/courses/graduate/lessons/lesson-01/assets/README.md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页面：P17 四个研究门与回退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讲义位置：§三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问题门；判断门；验证门；论证门；第 6 课；第 9 课；第 13 课；第 16 课；值得做，且可完成；方案能改变判断；结果与工作流 / 经过评价；结论能够追溯；未通过；回到相关阶段补证据；同一个人项目逐次推进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门检查同一项目的成熟度；从一种具体失败说明回退到哪个研究阶段。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指出一种失败会被哪道门拦截、应回退到哪里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/Users/bright/Projects/courses/graduate/course/assessment.md；/Users/bright/Projects/courses/graduate/lessons/lesson-01/assets/README.md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页面：P18 从结论反查研究过程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讲义位置：§三、§五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这句话凭什么成立？；原始来源；研究判断；实验结果；结论；原文在哪里？；为什么采纳？；实际观察了什么？；具体写了什么？；找到一个断点，说明下一步该补什么。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先建立反向追踪，再把门看成对追踪链的抽查。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从结论倒推缺失环节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页面：P19 教师演示：一次建议如何变成修改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教师演示 · 学生观察并预测权限；收窄阅读卡研究问题；只读建议；研究者审核；有限写回；diff 与日志；先提出三条建议；采纳、修改或拒绝；只改获批段落；核对实际变化；第一轮应该开放哪些权限？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学生只预测下一步、审查建议和判断结果；不教授菜单操作。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预测第一轮应该给什么权限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页面：P20 第一轮：只读建议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教师演示 · 任务契约；第一轮；TASK    收窄研究问题中的一个概念；READ    AGENTS.md；problem-definition.md；WRITE   none；NETWORK off；STOP    三条建议后等待确认；预期输出；三条建议 / 每条说明理由 / 等待研究者审核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展示任务契约的可读范围和非目标。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指出一项不必要权限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页面：P21 研究者审核建议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先审核建议，再决定是否写入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用四问审核三条候选建议：问题、证据、范围、可证伪性。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投票选择采纳、修改或拒绝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页面：P22 第二轮：按获批范围写回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教师演示 · 任务契约；第二轮；FILE    problem-definition.md；EDIT    只改“研究问题”段落；KEEP    其他工件和已有研究判断；NETWORK off；AFTER   展示实际 diff，等待核对；本轮授权增量；一份文件 / 一个段落 / 一次获批修改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确认目标文件、目标段落和不做事项。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检查授权是否比第一轮扩大得过多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页面：P23 用 diff 和日志核对实际变化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教师演示 · 课堂构造的修改；problem-definition.md；−  阅读卡能消除摘要遗漏。；+  在公开计算机论文阅读任务中，检验阅读卡 /     是否降低限定条件遗漏率。；采纳理由；限定研究对象，把承诺改成可检验的问题。；人工核验；核对研究问题段的 diff，其他文件没有变化。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强调实际文件变化优先于完成报告。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指出一条日志必须补什么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页面：P24 失败后的恢复与记录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讲义位置：§五·4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同一演示的失败分支；如果 Agent 改了未获批的段落；停止继续写入；保留失败记录；收窄任务重试；重新核对 diff；防止错误扩大；记录输入、错误 / 与实际改动范围；恢复已知版本 / 重申目标段落；再次检查结果 / 与其他文件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展示越权或失败后五步恢复。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选择第一步应该停止还是重试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页面：P25 一个可留下证据的小问题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讲义位置：§七、§八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从你当前的一个不确定性开始；兴趣；我正在关注什么研究问题？；不确定性；哪个概念、范围或判断尚不清楚？；最小动作；今天只修改问题定义中的一处。；备用题：阅读卡能否减少摘要中的限定条件遗漏？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优先使用真实兴趣；没有题目时借用公开、低风险小问题。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写出一个当前不确定性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页面：P26 练习一：最小变更与 diff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讲义位置：§八、classroom-pack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修改问题定义中的一处；problem-definition.md；1；只读审查，提出建议；2；选择一条，写明理由；3；按获批范围写回；4；查看实际 diff；课堂构造完成示例；修改前；阅读卡能消除摘要遗漏。；修改后；检验阅读卡是否降低 / 公开计算机论文摘要中的 / 限定条件遗漏率。；完成标志：一处人工认可的修改，以及对应 diff。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教师巡视任务范围、权限和写回结果；超时保底是一处修改和 diff。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独立完成只读—审核—有限写回—diff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页面：P27 练习二：使用记录与阶段定位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讲义位置：§八、classroom-pack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 diff 反推：AI 建议了什么、你为何采纳或拒绝、这次动作位于八阶段哪里？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中点点评后补记录与定位，不要求填满八阶段。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写一条 AI 使用记录和一个阶段位置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页面：P28 临时结对与作者决定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交换问题定义、diff 与使用记录；作者解释修改；同伴指出一个缺口；作者记录决定；为什么作这处修改？；哪条理由还无法核对？；采纳、修改或拒绝 / 并留下具体理由；今天临时互查；第 6 课前确定 3–4 人固定同伴组。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两人交换工件，互查能否复原建议—判断—修改。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临时结对互查并由作者记录是否采纳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页面：P29 本讲知识点总结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讲义位置：全讲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回到“阅读卡减少遗漏”这条主张；评估效果与范围 → 定位证据缺口 → 修改项目文件 → 检查 diff 与日志；研究者对主张、改动和采用决定负责。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用一条闭环而不是四张总结卡。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口头复述一遍闭环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页面：P30 离场前，核对四项完成证据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讲义位置：§七、§八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01；一处人工认可的修改；02；与这处修改对应的 diff；03；一条说明理由与核验的使用记录；04；一个当前不确定性及其阶段位置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只检查当堂最低闭环：一处人工确认的修改、对应 diff、一条使用记录和一个链路位置；不在此检查问题门完整条件。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完成个人退出检查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页面：P31 课后完善与下一课准备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讲义位置：§十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屏显核对：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继续完善；明确问题范围与非例 / 保留今天的 diff 和使用记录；阅读与追问；关注问题如何形成 / 哪些研究判断仍需由人承担；准备第 2 课；给当前动作补材料、权限与披露边界；正式提交在第 6、9、13、16 课，平时持续改进同一项目。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课后只沿用当堂工件完善初步问题，直接服务第二课的边界补写；第 6 课问题门才检查累计完整条件。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记录下一步动作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来源与边界：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/Users/bright/Projects/courses/graduate/lessons/lesson-01/handout.md；/Users/bright/Projects/courses/graduate/course/syllabus.md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本课 handout.md 与 slides.md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c8bc20cc3743df" /><Relationship Type="http://schemas.openxmlformats.org/officeDocument/2006/relationships/image" Target="/ppt/media/image.png" Id="R36eaa251f4b14b59" /><Relationship Type="http://schemas.openxmlformats.org/officeDocument/2006/relationships/image" Target="/ppt/media/image2.png" Id="R9dff0383e8ab462c" /><Relationship Type="http://schemas.openxmlformats.org/officeDocument/2006/relationships/image" Target="/ppt/media/image3.png" Id="Rbef643b88ded4d36" /><Relationship Type="http://schemas.openxmlformats.org/officeDocument/2006/relationships/image" Target="/ppt/media/image4.png" Id="R0bc4279e3f524da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e474e56c1b4f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7c5f17289642d5" /><Relationship Type="http://schemas.openxmlformats.org/officeDocument/2006/relationships/image" Target="/ppt/media/image2.png" Id="R4f014e1671eb4923" /><Relationship Type="http://schemas.openxmlformats.org/officeDocument/2006/relationships/image" Target="/ppt/media/image5.png" Id="R81f7aebdad664e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b2fa3c81544a02" /><Relationship Type="http://schemas.openxmlformats.org/officeDocument/2006/relationships/image" Target="/ppt/media/image.png" Id="Rf9fba46c41974387" /><Relationship Type="http://schemas.openxmlformats.org/officeDocument/2006/relationships/image" Target="/ppt/media/image3.png" Id="Rf38545fd251c4440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eaa251f4b14b59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ff0383e8ab462c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f643b88ded4d3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c4279e3f524da8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014e1671eb4923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7aebdad66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ba46c41974387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8545fd251c4440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04f537a9694704" /><Relationship Type="http://schemas.openxmlformats.org/officeDocument/2006/relationships/slideLayout" Target="/ppt/slideLayouts/slideLayout1.xml" Id="R26685257372840ab" /><Relationship Type="http://schemas.openxmlformats.org/officeDocument/2006/relationships/slideLayout" Target="/ppt/slideLayouts/slideLayout2.xml" Id="Rac0e3625d2f9451c" /><Relationship Type="http://schemas.openxmlformats.org/officeDocument/2006/relationships/slideLayout" Target="/ppt/slideLayouts/slideLayout3.xml" Id="R6e98ca28b3e6435c" /><Relationship Type="http://schemas.openxmlformats.org/officeDocument/2006/relationships/slideLayout" Target="/ppt/slideLayouts/slideLayout4.xml" Id="Rc7ec58af491b4ea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685257372840ab"/>
    <p:sldLayoutId xmlns:r="http://schemas.openxmlformats.org/officeDocument/2006/relationships" id="2147483650" r:id="Rac0e3625d2f9451c"/>
    <p:sldLayoutId xmlns:r="http://schemas.openxmlformats.org/officeDocument/2006/relationships" id="2147483651" r:id="R6e98ca28b3e6435c"/>
    <p:sldLayoutId xmlns:r="http://schemas.openxmlformats.org/officeDocument/2006/relationships" id="2147483652" r:id="Rc7ec58af491b4ea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9166b53534344" /><Relationship Type="http://schemas.openxmlformats.org/officeDocument/2006/relationships/notesSlide" Target="/ppt/notesSlides/notesSlide1.xml" Id="R40682685e6524d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d77cb7bab14d6e" /><Relationship Type="http://schemas.openxmlformats.org/officeDocument/2006/relationships/notesSlide" Target="/ppt/notesSlides/notesSlide2.xml" Id="Rc68dbc050f9b43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69553a768c44ff" /><Relationship Type="http://schemas.openxmlformats.org/officeDocument/2006/relationships/notesSlide" Target="/ppt/notesSlides/notesSlide3.xml" Id="R90e59a74f3cf40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970063f2e14f5f" /><Relationship Type="http://schemas.openxmlformats.org/officeDocument/2006/relationships/image" Target="/ppt/media/image6.png" Id="Ra758ed79bae34a0a" /><Relationship Type="http://schemas.openxmlformats.org/officeDocument/2006/relationships/notesSlide" Target="/ppt/notesSlides/notesSlide4.xml" Id="R48b8a9cd29d449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59e5562e6864f0f" /><Relationship Type="http://schemas.openxmlformats.org/officeDocument/2006/relationships/notesSlide" Target="/ppt/notesSlides/notesSlide5.xml" Id="R1c2c5348294b46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427e126d9d417d" /><Relationship Type="http://schemas.openxmlformats.org/officeDocument/2006/relationships/image" Target="/ppt/media/image7.png" Id="R393917eca4754cc1" /><Relationship Type="http://schemas.openxmlformats.org/officeDocument/2006/relationships/notesSlide" Target="/ppt/notesSlides/notesSlide6.xml" Id="R4f124763cba847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bf2e68efd946ba" /><Relationship Type="http://schemas.openxmlformats.org/officeDocument/2006/relationships/notesSlide" Target="/ppt/notesSlides/notesSlide7.xml" Id="R55db23141d4f47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62617a5b5a4a87" /><Relationship Type="http://schemas.openxmlformats.org/officeDocument/2006/relationships/notesSlide" Target="/ppt/notesSlides/notesSlide8.xml" Id="Rc029a57c311742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cb54e27e79f4f74" /><Relationship Type="http://schemas.openxmlformats.org/officeDocument/2006/relationships/notesSlide" Target="/ppt/notesSlides/notesSlide9.xml" Id="R3a4aafae51ae4c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cf0b62950934e65" /><Relationship Type="http://schemas.openxmlformats.org/officeDocument/2006/relationships/notesSlide" Target="/ppt/notesSlides/notesSlide10.xml" Id="R0468e26bfeca43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b74458f5d1e4a74" /><Relationship Type="http://schemas.openxmlformats.org/officeDocument/2006/relationships/chart" Target="/ppt/slides/charts/chart1.xml" Id="R7048cd98899a4e7e" /><Relationship Type="http://schemas.openxmlformats.org/officeDocument/2006/relationships/notesSlide" Target="/ppt/notesSlides/notesSlide11.xml" Id="Ree1f7c7c02cb40d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ed69a949b9c4e56" /><Relationship Type="http://schemas.openxmlformats.org/officeDocument/2006/relationships/notesSlide" Target="/ppt/notesSlides/notesSlide12.xml" Id="Rfa8f6ab8bd81441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82fc55b3d54b48" /><Relationship Type="http://schemas.openxmlformats.org/officeDocument/2006/relationships/notesSlide" Target="/ppt/notesSlides/notesSlide13.xml" Id="R41463aa2ff79498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fcc68fa8ca4e58" /><Relationship Type="http://schemas.openxmlformats.org/officeDocument/2006/relationships/notesSlide" Target="/ppt/notesSlides/notesSlide14.xml" Id="Ra2a80b6ba03648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531beb45254755" /><Relationship Type="http://schemas.openxmlformats.org/officeDocument/2006/relationships/notesSlide" Target="/ppt/notesSlides/notesSlide15.xml" Id="R47072ea4970a44f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fd4936c3d944d27" /><Relationship Type="http://schemas.openxmlformats.org/officeDocument/2006/relationships/notesSlide" Target="/ppt/notesSlides/notesSlide16.xml" Id="R4cea73dd62a04f1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7f7eafb3307495f" /><Relationship Type="http://schemas.openxmlformats.org/officeDocument/2006/relationships/notesSlide" Target="/ppt/notesSlides/notesSlide17.xml" Id="R4c1046e468cf47a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3f2408edde74b91" /><Relationship Type="http://schemas.openxmlformats.org/officeDocument/2006/relationships/notesSlide" Target="/ppt/notesSlides/notesSlide18.xml" Id="R86ba503ef2ab412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9a62021c3f0419a" /><Relationship Type="http://schemas.openxmlformats.org/officeDocument/2006/relationships/notesSlide" Target="/ppt/notesSlides/notesSlide19.xml" Id="R5ab6d8406fd5407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bcc88bdb5f048b5" /><Relationship Type="http://schemas.openxmlformats.org/officeDocument/2006/relationships/notesSlide" Target="/ppt/notesSlides/notesSlide20.xml" Id="R74bf65e8a469459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d8b3693c34442aa" /><Relationship Type="http://schemas.openxmlformats.org/officeDocument/2006/relationships/notesSlide" Target="/ppt/notesSlides/notesSlide21.xml" Id="R77dd1ebd3a5e495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75b24aec30b4ce3" /><Relationship Type="http://schemas.openxmlformats.org/officeDocument/2006/relationships/notesSlide" Target="/ppt/notesSlides/notesSlide22.xml" Id="R3ef315dfbff14a0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9b2e95cb15e4de8" /><Relationship Type="http://schemas.openxmlformats.org/officeDocument/2006/relationships/notesSlide" Target="/ppt/notesSlides/notesSlide23.xml" Id="Rf3463fc4c537420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4ed2dc278e145da" /><Relationship Type="http://schemas.openxmlformats.org/officeDocument/2006/relationships/notesSlide" Target="/ppt/notesSlides/notesSlide24.xml" Id="R2669fc7fa6324f4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33de374df954f8c" /><Relationship Type="http://schemas.openxmlformats.org/officeDocument/2006/relationships/notesSlide" Target="/ppt/notesSlides/notesSlide25.xml" Id="R105f7c33724242d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dbbff7ddd0477d" /><Relationship Type="http://schemas.openxmlformats.org/officeDocument/2006/relationships/notesSlide" Target="/ppt/notesSlides/notesSlide26.xml" Id="R3b73a25c14274a9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ff45baae1794d86" /><Relationship Type="http://schemas.openxmlformats.org/officeDocument/2006/relationships/notesSlide" Target="/ppt/notesSlides/notesSlide27.xml" Id="Re8a5e1cdcfc545d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284f68169fe42c0" /><Relationship Type="http://schemas.openxmlformats.org/officeDocument/2006/relationships/notesSlide" Target="/ppt/notesSlides/notesSlide28.xml" Id="Rf08d805d6a88437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5beb5574d3444c" /><Relationship Type="http://schemas.openxmlformats.org/officeDocument/2006/relationships/notesSlide" Target="/ppt/notesSlides/notesSlide29.xml" Id="Rfb9cc7ebfaf4408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95ca02084e6430d" /><Relationship Type="http://schemas.openxmlformats.org/officeDocument/2006/relationships/notesSlide" Target="/ppt/notesSlides/notesSlide30.xml" Id="R1a045bc8b4634a6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c095520bf447b9" /><Relationship Type="http://schemas.openxmlformats.org/officeDocument/2006/relationships/notesSlide" Target="/ppt/notesSlides/notesSlide31.xml" Id="Red11dfcbff194ac6" /></Relationships>
</file>

<file path=ppt/slides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../../embeddings/chart-data-snapshot-001.xlsx" 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评分权重</c:v>
          </c:tx>
          <c:spPr>
            <a:solidFill xmlns:a="http://schemas.openxmlformats.org/drawingml/2006/main">
              <a:srgbClr val="1F4D78"/>
            </a:solidFill>
          </c:spPr>
          <c:dPt>
            <c:idx val="2"/>
            <c:invertIfNegative val="0"/>
            <c:spPr>
              <a:solidFill xmlns:a="http://schemas.openxmlformats.org/drawingml/2006/main">
                <a:srgbClr val="1F4D78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527C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27CA0"/>
              </a:solidFill>
            </c:spPr>
          </c:dPt>
          <c:dPt>
            <c:idx val="0"/>
            <c:invertIfNegative val="0"/>
            <c:spPr>
              <a:solidFill xmlns:a="http://schemas.openxmlformats.org/drawingml/2006/main">
                <a:srgbClr val="809BB1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表达、伦理与复盘</c:v>
                </c:pt>
                <c:pt idx="1">
                  <c:v>原型与 Agent Workflow 实践</c:v>
                </c:pt>
                <c:pt idx="2">
                  <c:v>实验设计与可复现性</c:v>
                </c:pt>
                <c:pt idx="3">
                  <c:v>文献与问题定位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</c:v>
                </c:pt>
                <c:pt idx="1">
                  <c:v>0.25</c:v>
                </c:pt>
                <c:pt idx="2">
                  <c:v>0.3</c:v>
                </c:pt>
                <c:pt idx="3">
                  <c:v>0.25</c:v>
                </c:pt>
              </c:numCache>
            </c:numRef>
          </c:val>
        </c:ser>
        <c:dLbls>
          <c:numFmt formatCode="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400" b="1">
                  <a:solidFill>
                    <a:srgbClr val="1F4D78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576C01-EB9B-4156-9FF8-2A846B32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第1讲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1C6FE2-1DD7-45B7-A3FC-33150FFB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92354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36576" tIns="36576" rIns="36576" bIns="36576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AI 辅助科研导论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BE0D8D-B349-4930-A9C8-CC3104A4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讲师与学生的研究分工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B26436-8EC1-4076-A7D2-A720B4FD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607D47C2-47AB-4FDD-9420-C51FF56D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共同把研究判断做得可检查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00406142-687E-4DA7-81BD-E1BCB810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4048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讲师提供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0816514C-27DF-47D9-93A4-A47ABB48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2005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研究方法与操作支架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Agent 实践中的失败案例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对证据和边界的反馈</a:t>
            </a:r>
          </a:p>
        </p:txBody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9B436E41-9080-45E3-A9D0-7376DB94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85975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学生带来</a:t>
            </a:r>
          </a:p>
        </p:txBody>
      </p:sp>
      <p:sp>
        <p:nvSpPr>
          <p:cNvPr id="8" name="body-5">
            <a:extLst xmlns:a="http://schemas.openxmlformats.org/drawingml/2006/main">
              <a:ext uri="{FF2B5EF4-FFF2-40B4-BE49-F238E27FC236}">
                <a16:creationId xmlns:a16="http://schemas.microsoft.com/office/drawing/2014/main" id="{CB442121-E7EB-4560-B177-9CC1D6AF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0350"/>
            <a:ext cx="40386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自己的研究问题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当前无法确定的判断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愿意接受检查的工件</a:t>
            </a:r>
          </a:p>
        </p:txBody>
      </p:sp>
      <p:sp>
        <p:nvSpPr>
          <p:cNvPr id="9" name="node-6">
            <a:extLst xmlns:a="http://schemas.openxmlformats.org/drawingml/2006/main">
              <a:ext uri="{FF2B5EF4-FFF2-40B4-BE49-F238E27FC236}">
                <a16:creationId xmlns:a16="http://schemas.microsoft.com/office/drawing/2014/main" id="{ABB51B64-1A97-4654-9D75-74DEBECC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672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方法与反馈</a:t>
            </a:r>
          </a:p>
        </p:txBody>
      </p:sp>
      <p:sp>
        <p:nvSpPr>
          <p:cNvPr id="10" name="node-7">
            <a:extLst xmlns:a="http://schemas.openxmlformats.org/drawingml/2006/main">
              <a:ext uri="{FF2B5EF4-FFF2-40B4-BE49-F238E27FC236}">
                <a16:creationId xmlns:a16="http://schemas.microsoft.com/office/drawing/2014/main" id="{BD0B0487-865A-4E72-B989-7D22EDDA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672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问题与判断</a:t>
            </a:r>
          </a:p>
        </p:txBody>
      </p:sp>
      <p:cxnSp>
        <p:nvCxnSpPr>
          <p:cNvPr id="34" name="edge-8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476625" y="5176838"/>
            <a:ext cx="52482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5" name="edge-9"/>
          <p:cNvCxnSpPr>
            <a:stCxn xmlns:a="http://schemas.openxmlformats.org/drawingml/2006/main" id="10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3476625" y="5176838"/>
            <a:ext cx="52482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10">
            <a:extLst xmlns:a="http://schemas.openxmlformats.org/drawingml/2006/main">
              <a:ext uri="{FF2B5EF4-FFF2-40B4-BE49-F238E27FC236}">
                <a16:creationId xmlns:a16="http://schemas.microsoft.com/office/drawing/2014/main" id="{97D64BE6-A576-453D-9402-80C90178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400550"/>
            <a:ext cx="4905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带着真实问题来，带着修改理由离开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ntent-title">
            <a:extLst xmlns:a="http://schemas.openxmlformats.org/drawingml/2006/main">
              <a:ext uri="{FF2B5EF4-FFF2-40B4-BE49-F238E27FC236}">
                <a16:creationId xmlns:a16="http://schemas.microsoft.com/office/drawing/2014/main" id="{69DCCD35-2EE4-4EBE-846F-7DE76BCB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857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这句话能写进论文结论吗？</a:t>
            </a:r>
          </a:p>
        </p:txBody>
      </p:sp>
      <p:sp>
        <p:nvSpPr>
          <p:cNvPr id="2" name="content-1">
            <a:extLst xmlns:a="http://schemas.openxmlformats.org/drawingml/2006/main">
              <a:ext uri="{FF2B5EF4-FFF2-40B4-BE49-F238E27FC236}">
                <a16:creationId xmlns:a16="http://schemas.microsoft.com/office/drawing/2014/main" id="{CA355C9A-6D3E-494A-9208-4B21B480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场景：你正在写一项论文阅读方法研究的结论</a:t>
            </a:r>
          </a:p>
        </p:txBody>
      </p:sp>
      <p:sp>
        <p:nvSpPr>
          <p:cNvPr id="3" name="content-2">
            <a:extLst xmlns:a="http://schemas.openxmlformats.org/drawingml/2006/main">
              <a:ext uri="{FF2B5EF4-FFF2-40B4-BE49-F238E27FC236}">
                <a16:creationId xmlns:a16="http://schemas.microsoft.com/office/drawing/2014/main" id="{A7BF4CB6-AC8B-49A3-A918-E3D53D10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“结构化阅读卡可以减少摘要遗漏，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因此适合所有论文阅读任务。”</a:t>
            </a:r>
          </a:p>
        </p:txBody>
      </p:sp>
      <p:sp>
        <p:nvSpPr>
          <p:cNvPr id="4" name="rule-3">
            <a:extLst xmlns:a="http://schemas.openxmlformats.org/drawingml/2006/main">
              <a:ext uri="{FF2B5EF4-FFF2-40B4-BE49-F238E27FC236}">
                <a16:creationId xmlns:a16="http://schemas.microsoft.com/office/drawing/2014/main" id="{4A0D28F5-F500-4A0F-A473-D78F5102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5" name="content-4">
            <a:extLst xmlns:a="http://schemas.openxmlformats.org/drawingml/2006/main">
              <a:ext uri="{FF2B5EF4-FFF2-40B4-BE49-F238E27FC236}">
                <a16:creationId xmlns:a16="http://schemas.microsoft.com/office/drawing/2014/main" id="{39B026C8-0992-460F-B363-2F1E74F9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5191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效果：与谁比，量什么？</a:t>
            </a:r>
          </a:p>
        </p:txBody>
      </p:sp>
      <p:sp>
        <p:nvSpPr>
          <p:cNvPr id="6" name="content-5">
            <a:extLst xmlns:a="http://schemas.openxmlformats.org/drawingml/2006/main">
              <a:ext uri="{FF2B5EF4-FFF2-40B4-BE49-F238E27FC236}">
                <a16:creationId xmlns:a16="http://schemas.microsoft.com/office/drawing/2014/main" id="{F801C87D-C5FF-4F4A-8CA0-7CBB78F3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219575"/>
            <a:ext cx="5286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范围：哪些论文，哪些任务？</a:t>
            </a:r>
          </a:p>
        </p:txBody>
      </p:sp>
      <p:sp>
        <p:nvSpPr>
          <p:cNvPr id="7" name="content-6">
            <a:extLst xmlns:a="http://schemas.openxmlformats.org/drawingml/2006/main">
              <a:ext uri="{FF2B5EF4-FFF2-40B4-BE49-F238E27FC236}">
                <a16:creationId xmlns:a16="http://schemas.microsoft.com/office/drawing/2014/main" id="{692CF516-BF7A-42C0-A995-DC94B222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53075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课堂构造材料；当前没有提供原文或实验记录。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1A5FC8-1C33-4E88-81A6-760F4FEF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完整论文出现了，研究质量如何？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E50056-CD19-46FC-9B0B-42BEC17D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paper-name">
            <a:extLst xmlns:a="http://schemas.openxmlformats.org/drawingml/2006/main">
              <a:ext uri="{FF2B5EF4-FFF2-40B4-BE49-F238E27FC236}">
                <a16:creationId xmlns:a16="http://schemas.microsoft.com/office/drawing/2014/main" id="{C6C4AB97-41D8-4301-9BBC-DEC1943F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6000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The AI Scientist</a:t>
            </a:r>
          </a:p>
        </p:txBody>
      </p:sp>
      <p:sp>
        <p:nvSpPr>
          <p:cNvPr id="5" name="paper-identity">
            <a:extLst xmlns:a="http://schemas.openxmlformats.org/drawingml/2006/main">
              <a:ext uri="{FF2B5EF4-FFF2-40B4-BE49-F238E27FC236}">
                <a16:creationId xmlns:a16="http://schemas.microsoft.com/office/drawing/2014/main" id="{307B63C6-6B6F-409E-A3EE-C99418CF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6238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Lu et al. · Nature 651 (2026) · Figure 1a</a:t>
            </a:r>
          </a:p>
        </p:txBody>
      </p:sp>
      <p:sp>
        <p:nvSpPr>
          <p:cNvPr id="6" name="evidence-rule">
            <a:extLst xmlns:a="http://schemas.openxmlformats.org/drawingml/2006/main">
              <a:ext uri="{FF2B5EF4-FFF2-40B4-BE49-F238E27FC236}">
                <a16:creationId xmlns:a16="http://schemas.microsoft.com/office/drawing/2014/main" id="{4C754E4C-F2B0-44B0-801F-A437FA44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8ed79bae34a0a"/>
          <a:stretch xmlns:a="http://schemas.openxmlformats.org/drawingml/2006/main"/>
        </p:blipFill>
        <p:spPr>
          <a:xfrm xmlns:a="http://schemas.openxmlformats.org/drawingml/2006/main">
            <a:off x="1242154" y="2114550"/>
            <a:ext cx="4126043" cy="3495675"/>
          </a:xfrm>
          <a:prstGeom xmlns:a="http://schemas.openxmlformats.org/drawingml/2006/main" prst="rect">
            <a:avLst/>
          </a:prstGeom>
        </p:spPr>
      </p:pic>
      <p:sp>
        <p:nvSpPr>
          <p:cNvPr id="8" name="figure-reading">
            <a:extLst xmlns:a="http://schemas.openxmlformats.org/drawingml/2006/main">
              <a:ext uri="{FF2B5EF4-FFF2-40B4-BE49-F238E27FC236}">
                <a16:creationId xmlns:a16="http://schemas.microsoft.com/office/drawing/2014/main" id="{6B6C9C32-8A0F-4867-AF75-B07DDAC0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695950"/>
            <a:ext cx="571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构思   /   实验   /   成文与评审</a:t>
            </a:r>
          </a:p>
        </p:txBody>
      </p:sp>
      <p:sp>
        <p:nvSpPr>
          <p:cNvPr id="9" name="metric-0">
            <a:extLst xmlns:a="http://schemas.openxmlformats.org/drawingml/2006/main">
              <a:ext uri="{FF2B5EF4-FFF2-40B4-BE49-F238E27FC236}">
                <a16:creationId xmlns:a16="http://schemas.microsoft.com/office/drawing/2014/main" id="{A568C01F-E3FB-45AB-9102-13D3464B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33600"/>
            <a:ext cx="1762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1/3</a:t>
            </a:r>
          </a:p>
        </p:txBody>
      </p:sp>
      <p:sp>
        <p:nvSpPr>
          <p:cNvPr id="10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8D8D0D39-0775-4CA2-8FCC-E4C0607C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143125"/>
            <a:ext cx="27146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超过 workshop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平均接收阈值</a:t>
            </a:r>
          </a:p>
        </p:txBody>
      </p:sp>
      <p:sp>
        <p:nvSpPr>
          <p:cNvPr id="11" name="metric-separator-0">
            <a:extLst xmlns:a="http://schemas.openxmlformats.org/drawingml/2006/main">
              <a:ext uri="{FF2B5EF4-FFF2-40B4-BE49-F238E27FC236}">
                <a16:creationId xmlns:a16="http://schemas.microsoft.com/office/drawing/2014/main" id="{42061E86-53BC-482F-BD09-D1931BA0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52750"/>
            <a:ext cx="462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metric-1">
            <a:extLst xmlns:a="http://schemas.openxmlformats.org/drawingml/2006/main">
              <a:ext uri="{FF2B5EF4-FFF2-40B4-BE49-F238E27FC236}">
                <a16:creationId xmlns:a16="http://schemas.microsoft.com/office/drawing/2014/main" id="{0ABDA48B-0035-4B85-83E5-475E67E3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1762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3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FDEB5DA3-C3FF-4261-900E-49C527AA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114675"/>
            <a:ext cx="27146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其中一篇的评审均分</a:t>
            </a:r>
          </a:p>
        </p:txBody>
      </p:sp>
      <p:sp>
        <p:nvSpPr>
          <p:cNvPr id="14" name="metric-separator-1">
            <a:extLst xmlns:a="http://schemas.openxmlformats.org/drawingml/2006/main">
              <a:ext uri="{FF2B5EF4-FFF2-40B4-BE49-F238E27FC236}">
                <a16:creationId xmlns:a16="http://schemas.microsoft.com/office/drawing/2014/main" id="{37ACB116-32EF-4DD4-84F7-28C6EF38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462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metric-2">
            <a:extLst xmlns:a="http://schemas.openxmlformats.org/drawingml/2006/main">
              <a:ext uri="{FF2B5EF4-FFF2-40B4-BE49-F238E27FC236}">
                <a16:creationId xmlns:a16="http://schemas.microsoft.com/office/drawing/2014/main" id="{BF8C73D9-CFED-4298-88C9-15E50F7A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76700"/>
            <a:ext cx="1762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8161E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0/3</a:t>
            </a:r>
          </a:p>
        </p:txBody>
      </p:sp>
      <p:sp>
        <p:nvSpPr>
          <p:cNvPr id="16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E2EC6A94-E972-4583-AA07-22DF5A75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4086225"/>
            <a:ext cx="27146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团队内部复核：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达到主会标准的投稿</a:t>
            </a:r>
          </a:p>
        </p:txBody>
      </p:sp>
      <p:sp>
        <p:nvSpPr>
          <p:cNvPr id="17" name="sampling-context">
            <a:extLst xmlns:a="http://schemas.openxmlformats.org/drawingml/2006/main">
              <a:ext uri="{FF2B5EF4-FFF2-40B4-BE49-F238E27FC236}">
                <a16:creationId xmlns:a16="http://schemas.microsoft.com/office/drawing/2014/main" id="{A407AF4D-157F-415C-BD16-1674287F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1339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研究团队人工筛选三篇投稿</a:t>
            </a:r>
          </a:p>
        </p:txBody>
      </p:sp>
      <p:sp>
        <p:nvSpPr>
          <p:cNvPr id="18" name="withdrawal-context">
            <a:extLst xmlns:a="http://schemas.openxmlformats.org/drawingml/2006/main">
              <a:ext uri="{FF2B5EF4-FFF2-40B4-BE49-F238E27FC236}">
                <a16:creationId xmlns:a16="http://schemas.microsoft.com/office/drawing/2014/main" id="{96F3F8ED-4883-4392-A494-E01026E6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5054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评审后按预设协议撤回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1AF42A-0DE3-41C4-97E6-F5EE5C1B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科研的治理与生态争论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22DBA0-CB42-40E6-8B7F-E8493958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body-28">
            <a:extLst xmlns:a="http://schemas.openxmlformats.org/drawingml/2006/main">
              <a:ext uri="{FF2B5EF4-FFF2-40B4-BE49-F238E27FC236}">
                <a16:creationId xmlns:a16="http://schemas.microsoft.com/office/drawing/2014/main" id="{A04A98B8-DC2D-464F-AD9D-72517FA7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23907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治理</a:t>
            </a:r>
          </a:p>
        </p:txBody>
      </p:sp>
      <p:sp>
        <p:nvSpPr>
          <p:cNvPr id="5" name="body-29">
            <a:extLst xmlns:a="http://schemas.openxmlformats.org/drawingml/2006/main">
              <a:ext uri="{FF2B5EF4-FFF2-40B4-BE49-F238E27FC236}">
                <a16:creationId xmlns:a16="http://schemas.microsoft.com/office/drawing/2014/main" id="{D9A098D4-74C6-4A9A-B387-0377EFB8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190625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社论 · 2026.03.25</a:t>
            </a:r>
          </a:p>
        </p:txBody>
      </p:sp>
      <p:sp>
        <p:nvSpPr>
          <p:cNvPr id="6" name="body-30">
            <a:extLst xmlns:a="http://schemas.openxmlformats.org/drawingml/2006/main">
              <a:ext uri="{FF2B5EF4-FFF2-40B4-BE49-F238E27FC236}">
                <a16:creationId xmlns:a16="http://schemas.microsoft.com/office/drawing/2014/main" id="{BAB4E07B-CA52-4B2D-922C-74C6E002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28775"/>
            <a:ext cx="82581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机构、资助方与出版方需要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回应科研自动化带来的治理问题。</a:t>
            </a:r>
          </a:p>
        </p:txBody>
      </p:sp>
      <p:sp>
        <p:nvSpPr>
          <p:cNvPr id="7" name="rule-31">
            <a:extLst xmlns:a="http://schemas.openxmlformats.org/drawingml/2006/main">
              <a:ext uri="{FF2B5EF4-FFF2-40B4-BE49-F238E27FC236}">
                <a16:creationId xmlns:a16="http://schemas.microsoft.com/office/drawing/2014/main" id="{E0A727E5-9DA5-4841-96A7-2BABE0AF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32">
            <a:extLst xmlns:a="http://schemas.openxmlformats.org/drawingml/2006/main">
              <a:ext uri="{FF2B5EF4-FFF2-40B4-BE49-F238E27FC236}">
                <a16:creationId xmlns:a16="http://schemas.microsoft.com/office/drawing/2014/main" id="{C7E5A001-3D49-4E44-8AD4-C0112F81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23907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人的作用</a:t>
            </a:r>
          </a:p>
        </p:txBody>
      </p:sp>
      <p:sp>
        <p:nvSpPr>
          <p:cNvPr id="9" name="body-33">
            <a:extLst xmlns:a="http://schemas.openxmlformats.org/drawingml/2006/main">
              <a:ext uri="{FF2B5EF4-FFF2-40B4-BE49-F238E27FC236}">
                <a16:creationId xmlns:a16="http://schemas.microsoft.com/office/drawing/2014/main" id="{F2FBAD29-5B6E-4567-AA50-08261476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57475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社论 · 2026.05.19</a:t>
            </a:r>
          </a:p>
        </p:txBody>
      </p:sp>
      <p:sp>
        <p:nvSpPr>
          <p:cNvPr id="10" name="body-34">
            <a:extLst xmlns:a="http://schemas.openxmlformats.org/drawingml/2006/main">
              <a:ext uri="{FF2B5EF4-FFF2-40B4-BE49-F238E27FC236}">
                <a16:creationId xmlns:a16="http://schemas.microsoft.com/office/drawing/2014/main" id="{07059818-221B-46FA-985D-E303BD1A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95625"/>
            <a:ext cx="82581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问题框定、实验、指导与检查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仍需要研究者参与。</a:t>
            </a:r>
          </a:p>
        </p:txBody>
      </p:sp>
      <p:sp>
        <p:nvSpPr>
          <p:cNvPr id="11" name="rule-35">
            <a:extLst xmlns:a="http://schemas.openxmlformats.org/drawingml/2006/main">
              <a:ext uri="{FF2B5EF4-FFF2-40B4-BE49-F238E27FC236}">
                <a16:creationId xmlns:a16="http://schemas.microsoft.com/office/drawing/2014/main" id="{65AE6A7C-49E2-4B2D-A857-8AAF8FDB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36">
            <a:extLst xmlns:a="http://schemas.openxmlformats.org/drawingml/2006/main">
              <a:ext uri="{FF2B5EF4-FFF2-40B4-BE49-F238E27FC236}">
                <a16:creationId xmlns:a16="http://schemas.microsoft.com/office/drawing/2014/main" id="{5BF1E4D4-6763-471A-B8AA-16308654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23907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研究生态</a:t>
            </a:r>
          </a:p>
        </p:txBody>
      </p:sp>
      <p:sp>
        <p:nvSpPr>
          <p:cNvPr id="13" name="body-37">
            <a:extLst xmlns:a="http://schemas.openxmlformats.org/drawingml/2006/main">
              <a:ext uri="{FF2B5EF4-FFF2-40B4-BE49-F238E27FC236}">
                <a16:creationId xmlns:a16="http://schemas.microsoft.com/office/drawing/2014/main" id="{B98D492B-BE17-4A33-B0BE-D2289A48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24325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观点 · 2026.06.22</a:t>
            </a:r>
          </a:p>
        </p:txBody>
      </p:sp>
      <p:sp>
        <p:nvSpPr>
          <p:cNvPr id="14" name="body-38">
            <a:extLst xmlns:a="http://schemas.openxmlformats.org/drawingml/2006/main">
              <a:ext uri="{FF2B5EF4-FFF2-40B4-BE49-F238E27FC236}">
                <a16:creationId xmlns:a16="http://schemas.microsoft.com/office/drawing/2014/main" id="{E4F2E99E-9626-4008-AF8F-6FE3AB9F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62475"/>
            <a:ext cx="82581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激励原创探索，还是只奖励速度？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研究方向趋同值得警惕。</a:t>
            </a:r>
          </a:p>
        </p:txBody>
      </p:sp>
      <p:sp>
        <p:nvSpPr>
          <p:cNvPr id="15" name="body-39">
            <a:extLst xmlns:a="http://schemas.openxmlformats.org/drawingml/2006/main">
              <a:ext uri="{FF2B5EF4-FFF2-40B4-BE49-F238E27FC236}">
                <a16:creationId xmlns:a16="http://schemas.microsoft.com/office/drawing/2014/main" id="{37C083D3-D8D7-47C2-A7CC-5ACBA1F1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这些评论提出问题，实证研究提供检验。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F6F610-F5A2-40A9-9B23-24286590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使用与科学探索范围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473A40-D43D-44D4-BBBF-348948CC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body-40">
            <a:extLst xmlns:a="http://schemas.openxmlformats.org/drawingml/2006/main">
              <a:ext uri="{FF2B5EF4-FFF2-40B4-BE49-F238E27FC236}">
                <a16:creationId xmlns:a16="http://schemas.microsoft.com/office/drawing/2014/main" id="{9AC7BA2E-C503-4D34-A7A1-4600AF28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F4D78"/>
                </a:solidFill>
                <a:latin typeface="Arial"/>
                <a:ea typeface="Arial"/>
                <a:cs typeface="Arial"/>
              </a:rPr>
              <a:t>Hao et al. · Nature (2026) · Figure 3b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917eca4754cc1"/>
          <a:srcRect xmlns:a="http://schemas.openxmlformats.org/drawingml/2006/main" l="0" t="20000" r="47000" b="13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5850" y="1543050"/>
            <a:ext cx="4991100" cy="4591050"/>
          </a:xfrm>
          <a:prstGeom xmlns:a="http://schemas.openxmlformats.org/drawingml/2006/main" prst="rect">
            <a:avLst/>
          </a:prstGeom>
        </p:spPr>
      </p:pic>
      <p:sp>
        <p:nvSpPr>
          <p:cNvPr id="6" name="body-41">
            <a:extLst xmlns:a="http://schemas.openxmlformats.org/drawingml/2006/main">
              <a:ext uri="{FF2B5EF4-FFF2-40B4-BE49-F238E27FC236}">
                <a16:creationId xmlns:a16="http://schemas.microsoft.com/office/drawing/2014/main" id="{F9D1678E-B71A-4C5E-9DA5-DA715F08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676400"/>
            <a:ext cx="4352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知识范围的差异</a:t>
            </a:r>
          </a:p>
        </p:txBody>
      </p:sp>
      <p:sp>
        <p:nvSpPr>
          <p:cNvPr id="7" name="body-42">
            <a:extLst xmlns:a="http://schemas.openxmlformats.org/drawingml/2006/main">
              <a:ext uri="{FF2B5EF4-FFF2-40B4-BE49-F238E27FC236}">
                <a16:creationId xmlns:a16="http://schemas.microsoft.com/office/drawing/2014/main" id="{EEB6806C-62CD-4731-809D-7B3A9998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419350"/>
            <a:ext cx="43529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红：AI 论文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蓝：非 AI 论文</a:t>
            </a:r>
          </a:p>
        </p:txBody>
      </p:sp>
      <p:sp>
        <p:nvSpPr>
          <p:cNvPr id="8" name="body-43">
            <a:extLst xmlns:a="http://schemas.openxmlformats.org/drawingml/2006/main">
              <a:ext uri="{FF2B5EF4-FFF2-40B4-BE49-F238E27FC236}">
                <a16:creationId xmlns:a16="http://schemas.microsoft.com/office/drawing/2014/main" id="{41349E69-8174-4C6B-8BAC-A0CD6409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724275"/>
            <a:ext cx="435292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在该研究的知识空间中，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AI 论文的覆盖范围更集中。</a:t>
            </a:r>
          </a:p>
        </p:txBody>
      </p:sp>
      <p:sp>
        <p:nvSpPr>
          <p:cNvPr id="9" name="rule-44">
            <a:extLst xmlns:a="http://schemas.openxmlformats.org/drawingml/2006/main">
              <a:ext uri="{FF2B5EF4-FFF2-40B4-BE49-F238E27FC236}">
                <a16:creationId xmlns:a16="http://schemas.microsoft.com/office/drawing/2014/main" id="{C30AC5C7-D8A3-4BAD-AB8F-EC430C4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962525"/>
            <a:ext cx="435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45">
            <a:extLst xmlns:a="http://schemas.openxmlformats.org/drawingml/2006/main">
              <a:ext uri="{FF2B5EF4-FFF2-40B4-BE49-F238E27FC236}">
                <a16:creationId xmlns:a16="http://schemas.microsoft.com/office/drawing/2014/main" id="{8392D23B-BEC8-48DA-B687-B5074AA1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5314950"/>
            <a:ext cx="43529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约 4,130 万篇论文，六个学科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观察性关联，不能直接推为因果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7EE5AE-AFFD-4C98-9507-FDF44256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科研需要回答的五个问题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0F29DE-7D1C-442F-BC07-C7F2C4F4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body-46">
            <a:extLst xmlns:a="http://schemas.openxmlformats.org/drawingml/2006/main">
              <a:ext uri="{FF2B5EF4-FFF2-40B4-BE49-F238E27FC236}">
                <a16:creationId xmlns:a16="http://schemas.microsoft.com/office/drawing/2014/main" id="{D710D5D1-08A6-41C1-960B-8E82061E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rule-47">
            <a:extLst xmlns:a="http://schemas.openxmlformats.org/drawingml/2006/main">
              <a:ext uri="{FF2B5EF4-FFF2-40B4-BE49-F238E27FC236}">
                <a16:creationId xmlns:a16="http://schemas.microsoft.com/office/drawing/2014/main" id="{940FB2B5-1DB7-4E75-9205-D18BDE72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6" name="body-48">
            <a:extLst xmlns:a="http://schemas.openxmlformats.org/drawingml/2006/main">
              <a:ext uri="{FF2B5EF4-FFF2-40B4-BE49-F238E27FC236}">
                <a16:creationId xmlns:a16="http://schemas.microsoft.com/office/drawing/2014/main" id="{0AC07B71-5DD8-4D2F-B3D6-E2CAED13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7" name="body-49">
            <a:extLst xmlns:a="http://schemas.openxmlformats.org/drawingml/2006/main">
              <a:ext uri="{FF2B5EF4-FFF2-40B4-BE49-F238E27FC236}">
                <a16:creationId xmlns:a16="http://schemas.microsoft.com/office/drawing/2014/main" id="{002FCF37-9E76-4ACB-9108-6B12DEAC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仍由人定义？</a:t>
            </a:r>
          </a:p>
        </p:txBody>
      </p:sp>
      <p:sp>
        <p:nvSpPr>
          <p:cNvPr id="8" name="body-50">
            <a:extLst xmlns:a="http://schemas.openxmlformats.org/drawingml/2006/main">
              <a:ext uri="{FF2B5EF4-FFF2-40B4-BE49-F238E27FC236}">
                <a16:creationId xmlns:a16="http://schemas.microsoft.com/office/drawing/2014/main" id="{82238F72-04B4-4DE4-AB15-025083A7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rule-51">
            <a:extLst xmlns:a="http://schemas.openxmlformats.org/drawingml/2006/main">
              <a:ext uri="{FF2B5EF4-FFF2-40B4-BE49-F238E27FC236}">
                <a16:creationId xmlns:a16="http://schemas.microsoft.com/office/drawing/2014/main" id="{A34AAEC5-87BE-420C-8EF1-93C6416C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0" name="body-52">
            <a:extLst xmlns:a="http://schemas.openxmlformats.org/drawingml/2006/main">
              <a:ext uri="{FF2B5EF4-FFF2-40B4-BE49-F238E27FC236}">
                <a16:creationId xmlns:a16="http://schemas.microsoft.com/office/drawing/2014/main" id="{D0EB2EE4-9648-41C6-BE46-CB7FCF77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1" name="body-53">
            <a:extLst xmlns:a="http://schemas.openxmlformats.org/drawingml/2006/main">
              <a:ext uri="{FF2B5EF4-FFF2-40B4-BE49-F238E27FC236}">
                <a16:creationId xmlns:a16="http://schemas.microsoft.com/office/drawing/2014/main" id="{4F149282-2756-4267-A577-DDE9831D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仍可核验？</a:t>
            </a:r>
          </a:p>
        </p:txBody>
      </p:sp>
      <p:sp>
        <p:nvSpPr>
          <p:cNvPr id="12" name="body-54">
            <a:extLst xmlns:a="http://schemas.openxmlformats.org/drawingml/2006/main">
              <a:ext uri="{FF2B5EF4-FFF2-40B4-BE49-F238E27FC236}">
                <a16:creationId xmlns:a16="http://schemas.microsoft.com/office/drawing/2014/main" id="{D0CE3872-4D7B-466E-B6A7-19ABFA5D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rule-55">
            <a:extLst xmlns:a="http://schemas.openxmlformats.org/drawingml/2006/main">
              <a:ext uri="{FF2B5EF4-FFF2-40B4-BE49-F238E27FC236}">
                <a16:creationId xmlns:a16="http://schemas.microsoft.com/office/drawing/2014/main" id="{384F5296-03F9-4E94-A727-014E3F26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4" name="body-56">
            <a:extLst xmlns:a="http://schemas.openxmlformats.org/drawingml/2006/main">
              <a:ext uri="{FF2B5EF4-FFF2-40B4-BE49-F238E27FC236}">
                <a16:creationId xmlns:a16="http://schemas.microsoft.com/office/drawing/2014/main" id="{6C327AFA-D72D-4BE0-8853-867EBB0B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行动</a:t>
            </a:r>
          </a:p>
        </p:txBody>
      </p:sp>
      <p:sp>
        <p:nvSpPr>
          <p:cNvPr id="15" name="body-57">
            <a:extLst xmlns:a="http://schemas.openxmlformats.org/drawingml/2006/main">
              <a:ext uri="{FF2B5EF4-FFF2-40B4-BE49-F238E27FC236}">
                <a16:creationId xmlns:a16="http://schemas.microsoft.com/office/drawing/2014/main" id="{4BB29D29-B012-4D25-9FED-349B1B7F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仍受约束？</a:t>
            </a:r>
          </a:p>
        </p:txBody>
      </p:sp>
      <p:sp>
        <p:nvSpPr>
          <p:cNvPr id="16" name="body-58">
            <a:extLst xmlns:a="http://schemas.openxmlformats.org/drawingml/2006/main">
              <a:ext uri="{FF2B5EF4-FFF2-40B4-BE49-F238E27FC236}">
                <a16:creationId xmlns:a16="http://schemas.microsoft.com/office/drawing/2014/main" id="{660C270C-5437-48CE-A98A-B00B78C8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rule-59">
            <a:extLst xmlns:a="http://schemas.openxmlformats.org/drawingml/2006/main">
              <a:ext uri="{FF2B5EF4-FFF2-40B4-BE49-F238E27FC236}">
                <a16:creationId xmlns:a16="http://schemas.microsoft.com/office/drawing/2014/main" id="{0A357A10-1B7A-4C67-8AF5-8F8692A0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8" name="body-60">
            <a:extLst xmlns:a="http://schemas.openxmlformats.org/drawingml/2006/main">
              <a:ext uri="{FF2B5EF4-FFF2-40B4-BE49-F238E27FC236}">
                <a16:creationId xmlns:a16="http://schemas.microsoft.com/office/drawing/2014/main" id="{DD0768FF-5C8B-470E-B315-FA1E7DDF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9" name="body-61">
            <a:extLst xmlns:a="http://schemas.openxmlformats.org/drawingml/2006/main">
              <a:ext uri="{FF2B5EF4-FFF2-40B4-BE49-F238E27FC236}">
                <a16:creationId xmlns:a16="http://schemas.microsoft.com/office/drawing/2014/main" id="{016FFEEF-ECA6-48E8-9638-6F882D1F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仍有边界？</a:t>
            </a:r>
          </a:p>
        </p:txBody>
      </p:sp>
      <p:sp>
        <p:nvSpPr>
          <p:cNvPr id="20" name="body-62">
            <a:extLst xmlns:a="http://schemas.openxmlformats.org/drawingml/2006/main">
              <a:ext uri="{FF2B5EF4-FFF2-40B4-BE49-F238E27FC236}">
                <a16:creationId xmlns:a16="http://schemas.microsoft.com/office/drawing/2014/main" id="{F43E744F-B969-4B4D-B15F-2D5BD0E3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rule-63">
            <a:extLst xmlns:a="http://schemas.openxmlformats.org/drawingml/2006/main">
              <a:ext uri="{FF2B5EF4-FFF2-40B4-BE49-F238E27FC236}">
                <a16:creationId xmlns:a16="http://schemas.microsoft.com/office/drawing/2014/main" id="{96DB59C3-D729-4487-AB73-3E23DDB8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22" name="body-64">
            <a:extLst xmlns:a="http://schemas.openxmlformats.org/drawingml/2006/main">
              <a:ext uri="{FF2B5EF4-FFF2-40B4-BE49-F238E27FC236}">
                <a16:creationId xmlns:a16="http://schemas.microsoft.com/office/drawing/2014/main" id="{84946AE0-3BCF-43DF-A732-E251A7F0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23" name="body-65">
            <a:extLst xmlns:a="http://schemas.openxmlformats.org/drawingml/2006/main">
              <a:ext uri="{FF2B5EF4-FFF2-40B4-BE49-F238E27FC236}">
                <a16:creationId xmlns:a16="http://schemas.microsoft.com/office/drawing/2014/main" id="{B4FE7FAC-55F1-47A5-A365-6DE95747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仍由人承担？</a:t>
            </a:r>
          </a:p>
        </p:txBody>
      </p:sp>
      <p:sp>
        <p:nvSpPr>
          <p:cNvPr id="24" name="body-66">
            <a:extLst xmlns:a="http://schemas.openxmlformats.org/drawingml/2006/main">
              <a:ext uri="{FF2B5EF4-FFF2-40B4-BE49-F238E27FC236}">
                <a16:creationId xmlns:a16="http://schemas.microsoft.com/office/drawing/2014/main" id="{3930B77F-75A2-44BE-97CE-2CCC576C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哪一项最难保证？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8CFAB9-A9D8-4361-A6F2-D32053CD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五个问题对应的控制点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A53D9F-824B-4E88-B184-78BE85AA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body-67">
            <a:extLst xmlns:a="http://schemas.openxmlformats.org/drawingml/2006/main">
              <a:ext uri="{FF2B5EF4-FFF2-40B4-BE49-F238E27FC236}">
                <a16:creationId xmlns:a16="http://schemas.microsoft.com/office/drawing/2014/main" id="{B600AACE-BBEF-4104-905A-3E6D2C21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rule-68">
            <a:extLst xmlns:a="http://schemas.openxmlformats.org/drawingml/2006/main">
              <a:ext uri="{FF2B5EF4-FFF2-40B4-BE49-F238E27FC236}">
                <a16:creationId xmlns:a16="http://schemas.microsoft.com/office/drawing/2014/main" id="{679B5946-BD6D-4E7E-8606-913506A9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6" name="body-69">
            <a:extLst xmlns:a="http://schemas.openxmlformats.org/drawingml/2006/main">
              <a:ext uri="{FF2B5EF4-FFF2-40B4-BE49-F238E27FC236}">
                <a16:creationId xmlns:a16="http://schemas.microsoft.com/office/drawing/2014/main" id="{F38F7822-A30B-425D-B137-0CB0677A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7" name="body-70">
            <a:extLst xmlns:a="http://schemas.openxmlformats.org/drawingml/2006/main">
              <a:ext uri="{FF2B5EF4-FFF2-40B4-BE49-F238E27FC236}">
                <a16:creationId xmlns:a16="http://schemas.microsoft.com/office/drawing/2014/main" id="{464E5B72-AD7C-4ECB-8C75-42DC0BDD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8" name="body-71">
            <a:extLst xmlns:a="http://schemas.openxmlformats.org/drawingml/2006/main">
              <a:ext uri="{FF2B5EF4-FFF2-40B4-BE49-F238E27FC236}">
                <a16:creationId xmlns:a16="http://schemas.microsoft.com/office/drawing/2014/main" id="{3C2F9036-398C-4F17-92B4-E1AF6268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rule-72">
            <a:extLst xmlns:a="http://schemas.openxmlformats.org/drawingml/2006/main">
              <a:ext uri="{FF2B5EF4-FFF2-40B4-BE49-F238E27FC236}">
                <a16:creationId xmlns:a16="http://schemas.microsoft.com/office/drawing/2014/main" id="{77AA5583-560B-4539-AC1A-0F60D8B1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0" name="body-73">
            <a:extLst xmlns:a="http://schemas.openxmlformats.org/drawingml/2006/main">
              <a:ext uri="{FF2B5EF4-FFF2-40B4-BE49-F238E27FC236}">
                <a16:creationId xmlns:a16="http://schemas.microsoft.com/office/drawing/2014/main" id="{797860A7-901A-4351-AE56-DB227C5E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1" name="body-74">
            <a:extLst xmlns:a="http://schemas.openxmlformats.org/drawingml/2006/main">
              <a:ext uri="{FF2B5EF4-FFF2-40B4-BE49-F238E27FC236}">
                <a16:creationId xmlns:a16="http://schemas.microsoft.com/office/drawing/2014/main" id="{AFD2CA87-F23B-490B-B749-D1390911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来源核验</a:t>
            </a:r>
          </a:p>
        </p:txBody>
      </p:sp>
      <p:sp>
        <p:nvSpPr>
          <p:cNvPr id="12" name="body-75">
            <a:extLst xmlns:a="http://schemas.openxmlformats.org/drawingml/2006/main">
              <a:ext uri="{FF2B5EF4-FFF2-40B4-BE49-F238E27FC236}">
                <a16:creationId xmlns:a16="http://schemas.microsoft.com/office/drawing/2014/main" id="{623DCED5-DCA8-41A3-B788-2051FE2D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rule-76">
            <a:extLst xmlns:a="http://schemas.openxmlformats.org/drawingml/2006/main">
              <a:ext uri="{FF2B5EF4-FFF2-40B4-BE49-F238E27FC236}">
                <a16:creationId xmlns:a16="http://schemas.microsoft.com/office/drawing/2014/main" id="{971A984A-1920-40CD-BA6B-E7A6ED88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4" name="body-77">
            <a:extLst xmlns:a="http://schemas.openxmlformats.org/drawingml/2006/main">
              <a:ext uri="{FF2B5EF4-FFF2-40B4-BE49-F238E27FC236}">
                <a16:creationId xmlns:a16="http://schemas.microsoft.com/office/drawing/2014/main" id="{AC97E469-EB8F-4162-BF83-C4D93533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行动</a:t>
            </a:r>
          </a:p>
        </p:txBody>
      </p:sp>
      <p:sp>
        <p:nvSpPr>
          <p:cNvPr id="15" name="body-78">
            <a:extLst xmlns:a="http://schemas.openxmlformats.org/drawingml/2006/main">
              <a:ext uri="{FF2B5EF4-FFF2-40B4-BE49-F238E27FC236}">
                <a16:creationId xmlns:a16="http://schemas.microsoft.com/office/drawing/2014/main" id="{EA59FEF6-B49A-4EEE-9547-568CD17F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权限确认</a:t>
            </a:r>
          </a:p>
        </p:txBody>
      </p:sp>
      <p:sp>
        <p:nvSpPr>
          <p:cNvPr id="16" name="body-79">
            <a:extLst xmlns:a="http://schemas.openxmlformats.org/drawingml/2006/main">
              <a:ext uri="{FF2B5EF4-FFF2-40B4-BE49-F238E27FC236}">
                <a16:creationId xmlns:a16="http://schemas.microsoft.com/office/drawing/2014/main" id="{6BD61A3A-338A-4748-911A-3FA71C1A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rule-80">
            <a:extLst xmlns:a="http://schemas.openxmlformats.org/drawingml/2006/main">
              <a:ext uri="{FF2B5EF4-FFF2-40B4-BE49-F238E27FC236}">
                <a16:creationId xmlns:a16="http://schemas.microsoft.com/office/drawing/2014/main" id="{8EFA7C28-497E-4A6D-89E4-D96B743C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8" name="body-81">
            <a:extLst xmlns:a="http://schemas.openxmlformats.org/drawingml/2006/main">
              <a:ext uri="{FF2B5EF4-FFF2-40B4-BE49-F238E27FC236}">
                <a16:creationId xmlns:a16="http://schemas.microsoft.com/office/drawing/2014/main" id="{A4738105-2024-49ED-B1A1-2AEDF1F0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9" name="body-82">
            <a:extLst xmlns:a="http://schemas.openxmlformats.org/drawingml/2006/main">
              <a:ext uri="{FF2B5EF4-FFF2-40B4-BE49-F238E27FC236}">
                <a16:creationId xmlns:a16="http://schemas.microsoft.com/office/drawing/2014/main" id="{F6E5D044-21AA-4C9C-BEA0-AE230145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研究门与边界</a:t>
            </a:r>
          </a:p>
        </p:txBody>
      </p:sp>
      <p:sp>
        <p:nvSpPr>
          <p:cNvPr id="20" name="body-83">
            <a:extLst xmlns:a="http://schemas.openxmlformats.org/drawingml/2006/main">
              <a:ext uri="{FF2B5EF4-FFF2-40B4-BE49-F238E27FC236}">
                <a16:creationId xmlns:a16="http://schemas.microsoft.com/office/drawing/2014/main" id="{86D58108-DA8E-41C9-BDE0-77E6F46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rule-84">
            <a:extLst xmlns:a="http://schemas.openxmlformats.org/drawingml/2006/main">
              <a:ext uri="{FF2B5EF4-FFF2-40B4-BE49-F238E27FC236}">
                <a16:creationId xmlns:a16="http://schemas.microsoft.com/office/drawing/2014/main" id="{C6106FF3-096D-4CD9-B0E3-B7E9959F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22" name="body-85">
            <a:extLst xmlns:a="http://schemas.openxmlformats.org/drawingml/2006/main">
              <a:ext uri="{FF2B5EF4-FFF2-40B4-BE49-F238E27FC236}">
                <a16:creationId xmlns:a16="http://schemas.microsoft.com/office/drawing/2014/main" id="{674DF3DB-FED6-4C25-92A1-3C1D3EA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23" name="body-86">
            <a:extLst xmlns:a="http://schemas.openxmlformats.org/drawingml/2006/main">
              <a:ext uri="{FF2B5EF4-FFF2-40B4-BE49-F238E27FC236}">
                <a16:creationId xmlns:a16="http://schemas.microsoft.com/office/drawing/2014/main" id="{07E8CCFC-A201-4777-B840-B29DA6E8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diff 与日志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使用披露</a:t>
            </a:r>
          </a:p>
        </p:txBody>
      </p:sp>
      <p:sp>
        <p:nvSpPr>
          <p:cNvPr id="24" name="body-87">
            <a:extLst xmlns:a="http://schemas.openxmlformats.org/drawingml/2006/main">
              <a:ext uri="{FF2B5EF4-FFF2-40B4-BE49-F238E27FC236}">
                <a16:creationId xmlns:a16="http://schemas.microsoft.com/office/drawing/2014/main" id="{448614C5-46DE-4E8E-92FE-48F61E0D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把一个控制点接到你的个人项目。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1D2C54-7AF2-41C7-A250-7DF98D0A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期末个人项目的四类工件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364233C-1915-429D-9F88-A677DB6A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body-88">
            <a:extLst xmlns:a="http://schemas.openxmlformats.org/drawingml/2006/main">
              <a:ext uri="{FF2B5EF4-FFF2-40B4-BE49-F238E27FC236}">
                <a16:creationId xmlns:a16="http://schemas.microsoft.com/office/drawing/2014/main" id="{87F651F0-B066-4925-803F-145BCA63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围绕同一个研究问题，保存四类证据</a:t>
            </a:r>
          </a:p>
        </p:txBody>
      </p:sp>
      <p:sp>
        <p:nvSpPr>
          <p:cNvPr id="5" name="body-89">
            <a:extLst xmlns:a="http://schemas.openxmlformats.org/drawingml/2006/main">
              <a:ext uri="{FF2B5EF4-FFF2-40B4-BE49-F238E27FC236}">
                <a16:creationId xmlns:a16="http://schemas.microsoft.com/office/drawing/2014/main" id="{2CE04823-C6A0-4427-8599-E766C2C5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问题与证据</a:t>
            </a:r>
          </a:p>
        </p:txBody>
      </p:sp>
      <p:sp>
        <p:nvSpPr>
          <p:cNvPr id="6" name="body-90">
            <a:extLst xmlns:a="http://schemas.openxmlformats.org/drawingml/2006/main">
              <a:ext uri="{FF2B5EF4-FFF2-40B4-BE49-F238E27FC236}">
                <a16:creationId xmlns:a16="http://schemas.microsoft.com/office/drawing/2014/main" id="{B9D38CE9-DBD7-407E-A62E-65083453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038350"/>
            <a:ext cx="7905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为什么值得做，依据在哪里？</a:t>
            </a:r>
          </a:p>
        </p:txBody>
      </p:sp>
      <p:sp>
        <p:nvSpPr>
          <p:cNvPr id="7" name="rule-91">
            <a:extLst xmlns:a="http://schemas.openxmlformats.org/drawingml/2006/main">
              <a:ext uri="{FF2B5EF4-FFF2-40B4-BE49-F238E27FC236}">
                <a16:creationId xmlns:a16="http://schemas.microsoft.com/office/drawing/2014/main" id="{9B966EB7-8328-458E-A823-BF6CCFE1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92">
            <a:extLst xmlns:a="http://schemas.openxmlformats.org/drawingml/2006/main">
              <a:ext uri="{FF2B5EF4-FFF2-40B4-BE49-F238E27FC236}">
                <a16:creationId xmlns:a16="http://schemas.microsoft.com/office/drawing/2014/main" id="{E63A79EF-35F7-401E-AC74-AD26CBF7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判断与实验</a:t>
            </a:r>
          </a:p>
        </p:txBody>
      </p:sp>
      <p:sp>
        <p:nvSpPr>
          <p:cNvPr id="9" name="body-93">
            <a:extLst xmlns:a="http://schemas.openxmlformats.org/drawingml/2006/main">
              <a:ext uri="{FF2B5EF4-FFF2-40B4-BE49-F238E27FC236}">
                <a16:creationId xmlns:a16="http://schemas.microsoft.com/office/drawing/2014/main" id="{D45DF88B-7DA6-4D76-89DC-B1E68B64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76550"/>
            <a:ext cx="7905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什么结果会改变当前判断？</a:t>
            </a:r>
          </a:p>
        </p:txBody>
      </p:sp>
      <p:sp>
        <p:nvSpPr>
          <p:cNvPr id="10" name="rule-94">
            <a:extLst xmlns:a="http://schemas.openxmlformats.org/drawingml/2006/main">
              <a:ext uri="{FF2B5EF4-FFF2-40B4-BE49-F238E27FC236}">
                <a16:creationId xmlns:a16="http://schemas.microsoft.com/office/drawing/2014/main" id="{ECE999E9-706E-4D8C-9846-33AD8ACB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95">
            <a:extLst xmlns:a="http://schemas.openxmlformats.org/drawingml/2006/main">
              <a:ext uri="{FF2B5EF4-FFF2-40B4-BE49-F238E27FC236}">
                <a16:creationId xmlns:a16="http://schemas.microsoft.com/office/drawing/2014/main" id="{CC69C31F-ED4B-4C9B-B833-98F668E4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工作流与评价</a:t>
            </a:r>
          </a:p>
        </p:txBody>
      </p:sp>
      <p:sp>
        <p:nvSpPr>
          <p:cNvPr id="12" name="body-96">
            <a:extLst xmlns:a="http://schemas.openxmlformats.org/drawingml/2006/main">
              <a:ext uri="{FF2B5EF4-FFF2-40B4-BE49-F238E27FC236}">
                <a16:creationId xmlns:a16="http://schemas.microsoft.com/office/drawing/2014/main" id="{45FCA947-F36C-4B8D-8B5E-34DCF051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14750"/>
            <a:ext cx="7905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Agent 如何执行，怎样评价？</a:t>
            </a:r>
          </a:p>
        </p:txBody>
      </p:sp>
      <p:sp>
        <p:nvSpPr>
          <p:cNvPr id="13" name="rule-97">
            <a:extLst xmlns:a="http://schemas.openxmlformats.org/drawingml/2006/main">
              <a:ext uri="{FF2B5EF4-FFF2-40B4-BE49-F238E27FC236}">
                <a16:creationId xmlns:a16="http://schemas.microsoft.com/office/drawing/2014/main" id="{91225996-D14F-4C4B-9E0F-ABA97977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98">
            <a:extLst xmlns:a="http://schemas.openxmlformats.org/drawingml/2006/main">
              <a:ext uri="{FF2B5EF4-FFF2-40B4-BE49-F238E27FC236}">
                <a16:creationId xmlns:a16="http://schemas.microsoft.com/office/drawing/2014/main" id="{20AD5765-F67F-4615-8FFF-E76F5363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论证与披露</a:t>
            </a:r>
          </a:p>
        </p:txBody>
      </p:sp>
      <p:sp>
        <p:nvSpPr>
          <p:cNvPr id="15" name="body-99">
            <a:extLst xmlns:a="http://schemas.openxmlformats.org/drawingml/2006/main">
              <a:ext uri="{FF2B5EF4-FFF2-40B4-BE49-F238E27FC236}">
                <a16:creationId xmlns:a16="http://schemas.microsoft.com/office/drawing/2014/main" id="{5271EA30-2EF8-402E-8AF8-6FE13C1A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552950"/>
            <a:ext cx="7905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结论如何追溯，哪些责任由人承担？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A0BE75-29FE-4730-A0CD-52C57C63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个人项目与两层反馈关系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7F159A-D759-4237-BACC-B93BBCC2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node-100">
            <a:extLst xmlns:a="http://schemas.openxmlformats.org/drawingml/2006/main">
              <a:ext uri="{FF2B5EF4-FFF2-40B4-BE49-F238E27FC236}">
                <a16:creationId xmlns:a16="http://schemas.microsoft.com/office/drawing/2014/main" id="{168AD56D-4AE7-479A-BD0B-B8892302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276350"/>
            <a:ext cx="36195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个人研究项目</a:t>
            </a:r>
          </a:p>
        </p:txBody>
      </p:sp>
      <p:sp>
        <p:nvSpPr>
          <p:cNvPr id="5" name="body-101">
            <a:extLst xmlns:a="http://schemas.openxmlformats.org/drawingml/2006/main">
              <a:ext uri="{FF2B5EF4-FFF2-40B4-BE49-F238E27FC236}">
                <a16:creationId xmlns:a16="http://schemas.microsoft.com/office/drawing/2014/main" id="{C32932A8-8C00-4C84-A304-2359D0E2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28850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作者作出决定并承担责任</a:t>
            </a:r>
          </a:p>
        </p:txBody>
      </p:sp>
      <p:sp>
        <p:nvSpPr>
          <p:cNvPr id="6" name="node-102">
            <a:extLst xmlns:a="http://schemas.openxmlformats.org/drawingml/2006/main">
              <a:ext uri="{FF2B5EF4-FFF2-40B4-BE49-F238E27FC236}">
                <a16:creationId xmlns:a16="http://schemas.microsoft.com/office/drawing/2014/main" id="{C01224A5-EFB8-426B-9C4F-371A4CF1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62325"/>
            <a:ext cx="365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临时结对</a:t>
            </a:r>
          </a:p>
        </p:txBody>
      </p:sp>
      <p:sp>
        <p:nvSpPr>
          <p:cNvPr id="7" name="node-103">
            <a:extLst xmlns:a="http://schemas.openxmlformats.org/drawingml/2006/main">
              <a:ext uri="{FF2B5EF4-FFF2-40B4-BE49-F238E27FC236}">
                <a16:creationId xmlns:a16="http://schemas.microsoft.com/office/drawing/2014/main" id="{EF78051E-24CF-4445-9297-C0B18E86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362325"/>
            <a:ext cx="365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固定同伴组</a:t>
            </a:r>
          </a:p>
        </p:txBody>
      </p:sp>
      <p:cxnSp>
        <p:nvCxnSpPr>
          <p:cNvPr id="26" name="edge-104"/>
          <p:cNvCxnSpPr>
            <a:stCxn xmlns:a="http://schemas.openxmlformats.org/drawingml/2006/main" id="6" idx="0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2781300" y="1681163"/>
            <a:ext cx="1504950" cy="16811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7" name="edge-105"/>
          <p:cNvCxnSpPr>
            <a:stCxn xmlns:a="http://schemas.openxmlformats.org/drawingml/2006/main" id="7" idx="0"/>
            <a:endCxn xmlns:a="http://schemas.openxmlformats.org/drawingml/2006/main" id="4" idx="3"/>
          </p:cNvCxnSpPr>
          <p:nvPr/>
        </p:nvCxnSpPr>
        <p:spPr>
          <a:xfrm xmlns:a="http://schemas.openxmlformats.org/drawingml/2006/main" flipH="1" flipV="1">
            <a:off x="7905750" y="1681163"/>
            <a:ext cx="1495425" cy="16811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106">
            <a:extLst xmlns:a="http://schemas.openxmlformats.org/drawingml/2006/main">
              <a:ext uri="{FF2B5EF4-FFF2-40B4-BE49-F238E27FC236}">
                <a16:creationId xmlns:a16="http://schemas.microsoft.com/office/drawing/2014/main" id="{67099335-A9F3-48F2-8BD1-D762776A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42195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第 1、2 课交换一次判断理由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各自修改、各自保留证据</a:t>
            </a:r>
          </a:p>
        </p:txBody>
      </p:sp>
      <p:sp>
        <p:nvSpPr>
          <p:cNvPr id="11" name="body-107">
            <a:extLst xmlns:a="http://schemas.openxmlformats.org/drawingml/2006/main">
              <a:ext uri="{FF2B5EF4-FFF2-40B4-BE49-F238E27FC236}">
                <a16:creationId xmlns:a16="http://schemas.microsoft.com/office/drawing/2014/main" id="{8B1B83B5-C210-4EB2-8CE3-CA9FFA9C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343400"/>
            <a:ext cx="40100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3–4 人，第 6 课前确定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可轮换互查对象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B52F96-BA5A-488E-9048-9EA98DFB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评分看什么，怎样算达标？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F7364B-14C5-420D-A546-09B09B0B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score-subject">
            <a:extLst xmlns:a="http://schemas.openxmlformats.org/drawingml/2006/main">
              <a:ext uri="{FF2B5EF4-FFF2-40B4-BE49-F238E27FC236}">
                <a16:creationId xmlns:a16="http://schemas.microsoft.com/office/drawing/2014/main" id="{A1CC014C-D05D-4DF1-9BD9-764BB9FA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763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个人项目与 Agent Workflow 的评分构成</a:t>
            </a:r>
          </a:p>
        </p:txBody>
      </p:sp>
      <p:sp>
        <p:nvSpPr>
          <p:cNvPr id="5" name="score-rule">
            <a:extLst xmlns:a="http://schemas.openxmlformats.org/drawingml/2006/main">
              <a:ext uri="{FF2B5EF4-FFF2-40B4-BE49-F238E27FC236}">
                <a16:creationId xmlns:a16="http://schemas.microsoft.com/office/drawing/2014/main" id="{1F77E756-3177-494E-9C86-6B8CB3E2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52450" y="2505075"/>
          <a:ext xmlns:a="http://schemas.openxmlformats.org/drawingml/2006/main" cx="7753350" cy="2895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48cd98899a4e7e"/>
          </a:graphicData>
        </a:graphic>
      </p:graphicFrame>
      <p:sp>
        <p:nvSpPr>
          <p:cNvPr id="7" name="score-evidence-title">
            <a:extLst xmlns:a="http://schemas.openxmlformats.org/drawingml/2006/main">
              <a:ext uri="{FF2B5EF4-FFF2-40B4-BE49-F238E27FC236}">
                <a16:creationId xmlns:a16="http://schemas.microsoft.com/office/drawing/2014/main" id="{FCDC82FC-0FC6-403E-8921-67C1884B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00025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评分证据</a:t>
            </a:r>
          </a:p>
        </p:txBody>
      </p:sp>
      <p:sp>
        <p:nvSpPr>
          <p:cNvPr id="8" name="score-dimension-title">
            <a:extLst xmlns:a="http://schemas.openxmlformats.org/drawingml/2006/main">
              <a:ext uri="{FF2B5EF4-FFF2-40B4-BE49-F238E27FC236}">
                <a16:creationId xmlns:a16="http://schemas.microsoft.com/office/drawing/2014/main" id="{A5A5D826-2924-465A-B0BF-ED455362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71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评分维度与权重</a:t>
            </a:r>
          </a:p>
        </p:txBody>
      </p:sp>
      <p:sp>
        <p:nvSpPr>
          <p:cNvPr id="9" name="evidence-0">
            <a:extLst xmlns:a="http://schemas.openxmlformats.org/drawingml/2006/main">
              <a:ext uri="{FF2B5EF4-FFF2-40B4-BE49-F238E27FC236}">
                <a16:creationId xmlns:a16="http://schemas.microsoft.com/office/drawing/2014/main" id="{27C4F8C6-E1A7-4707-AF86-720159CC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686050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问题与来源</a:t>
            </a:r>
          </a:p>
        </p:txBody>
      </p:sp>
      <p:sp>
        <p:nvSpPr>
          <p:cNvPr id="10" name="evidence-1">
            <a:extLst xmlns:a="http://schemas.openxmlformats.org/drawingml/2006/main">
              <a:ext uri="{FF2B5EF4-FFF2-40B4-BE49-F238E27FC236}">
                <a16:creationId xmlns:a16="http://schemas.microsoft.com/office/drawing/2014/main" id="{CD7C39A3-59BB-4CB4-A45F-E75C3508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32422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协议与结果</a:t>
            </a:r>
          </a:p>
        </p:txBody>
      </p:sp>
      <p:sp>
        <p:nvSpPr>
          <p:cNvPr id="11" name="evidence-2">
            <a:extLst xmlns:a="http://schemas.openxmlformats.org/drawingml/2006/main">
              <a:ext uri="{FF2B5EF4-FFF2-40B4-BE49-F238E27FC236}">
                <a16:creationId xmlns:a16="http://schemas.microsoft.com/office/drawing/2014/main" id="{5747D3B4-A867-425C-8420-66C3A073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962400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工作流评价</a:t>
            </a:r>
          </a:p>
        </p:txBody>
      </p:sp>
      <p:sp>
        <p:nvSpPr>
          <p:cNvPr id="12" name="evidence-3">
            <a:extLst xmlns:a="http://schemas.openxmlformats.org/drawingml/2006/main">
              <a:ext uri="{FF2B5EF4-FFF2-40B4-BE49-F238E27FC236}">
                <a16:creationId xmlns:a16="http://schemas.microsoft.com/office/drawing/2014/main" id="{BE19722E-345E-4787-80CE-F74C0387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60057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论证与披露</a:t>
            </a:r>
          </a:p>
        </p:txBody>
      </p:sp>
      <p:sp>
        <p:nvSpPr>
          <p:cNvPr id="13" name="score-anchor">
            <a:extLst xmlns:a="http://schemas.openxmlformats.org/drawingml/2006/main">
              <a:ext uri="{FF2B5EF4-FFF2-40B4-BE49-F238E27FC236}">
                <a16:creationId xmlns:a16="http://schemas.microsoft.com/office/drawing/2014/main" id="{35CCE1DF-112E-4844-AC47-1F18141C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2619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四级表现锚点</a:t>
            </a:r>
          </a:p>
        </p:txBody>
      </p:sp>
      <p:sp>
        <p:nvSpPr>
          <p:cNvPr id="14" name="score-levels">
            <a:extLst xmlns:a="http://schemas.openxmlformats.org/drawingml/2006/main">
              <a:ext uri="{FF2B5EF4-FFF2-40B4-BE49-F238E27FC236}">
                <a16:creationId xmlns:a16="http://schemas.microsoft.com/office/drawing/2014/main" id="{F53A3140-2C37-4127-A2F8-27BF5FDE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00700"/>
            <a:ext cx="8248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卓越   /   达标   /   待改   /   不达标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8F8F92-B339-4783-A1F4-965A2DDC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研究任务、执行环境与模型后端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4E634FB-EF66-4FFA-91A8-839BF6F1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body-108">
            <a:extLst xmlns:a="http://schemas.openxmlformats.org/drawingml/2006/main">
              <a:ext uri="{FF2B5EF4-FFF2-40B4-BE49-F238E27FC236}">
                <a16:creationId xmlns:a16="http://schemas.microsoft.com/office/drawing/2014/main" id="{11F4C777-17BE-4D54-A7D1-347FC7F6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590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研究任务与边界</a:t>
            </a:r>
          </a:p>
        </p:txBody>
      </p:sp>
      <p:sp>
        <p:nvSpPr>
          <p:cNvPr id="5" name="body-109">
            <a:extLst xmlns:a="http://schemas.openxmlformats.org/drawingml/2006/main">
              <a:ext uri="{FF2B5EF4-FFF2-40B4-BE49-F238E27FC236}">
                <a16:creationId xmlns:a16="http://schemas.microsoft.com/office/drawing/2014/main" id="{E74EEA9C-86D3-4B0E-A5A4-71B063DF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381125"/>
            <a:ext cx="72866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问题、输入材料、可执行动作、停止条件</a:t>
            </a:r>
          </a:p>
        </p:txBody>
      </p:sp>
      <p:sp>
        <p:nvSpPr>
          <p:cNvPr id="6" name="rule-110">
            <a:extLst xmlns:a="http://schemas.openxmlformats.org/drawingml/2006/main">
              <a:ext uri="{FF2B5EF4-FFF2-40B4-BE49-F238E27FC236}">
                <a16:creationId xmlns:a16="http://schemas.microsoft.com/office/drawing/2014/main" id="{DB755943-6911-48F0-A3FD-395E8B1B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111">
            <a:extLst xmlns:a="http://schemas.openxmlformats.org/drawingml/2006/main">
              <a:ext uri="{FF2B5EF4-FFF2-40B4-BE49-F238E27FC236}">
                <a16:creationId xmlns:a16="http://schemas.microsoft.com/office/drawing/2014/main" id="{827738B0-9318-4CCA-9927-6527804B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3590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执行环境</a:t>
            </a:r>
          </a:p>
        </p:txBody>
      </p:sp>
      <p:sp>
        <p:nvSpPr>
          <p:cNvPr id="8" name="body-112">
            <a:extLst xmlns:a="http://schemas.openxmlformats.org/drawingml/2006/main">
              <a:ext uri="{FF2B5EF4-FFF2-40B4-BE49-F238E27FC236}">
                <a16:creationId xmlns:a16="http://schemas.microsoft.com/office/drawing/2014/main" id="{8D40337A-A0ED-4510-AAEE-61FA220A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762250"/>
            <a:ext cx="72866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OpenCode / Claude Code / Codex</a:t>
            </a:r>
          </a:p>
        </p:txBody>
      </p:sp>
      <p:sp>
        <p:nvSpPr>
          <p:cNvPr id="9" name="rule-113">
            <a:extLst xmlns:a="http://schemas.openxmlformats.org/drawingml/2006/main">
              <a:ext uri="{FF2B5EF4-FFF2-40B4-BE49-F238E27FC236}">
                <a16:creationId xmlns:a16="http://schemas.microsoft.com/office/drawing/2014/main" id="{77A3C26C-8596-4015-8E0C-FEE2822B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114">
            <a:extLst xmlns:a="http://schemas.openxmlformats.org/drawingml/2006/main">
              <a:ext uri="{FF2B5EF4-FFF2-40B4-BE49-F238E27FC236}">
                <a16:creationId xmlns:a16="http://schemas.microsoft.com/office/drawing/2014/main" id="{4A44E485-6095-4073-B163-3B76C5A6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590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模型后端</a:t>
            </a:r>
          </a:p>
        </p:txBody>
      </p:sp>
      <p:sp>
        <p:nvSpPr>
          <p:cNvPr id="11" name="body-115">
            <a:extLst xmlns:a="http://schemas.openxmlformats.org/drawingml/2006/main">
              <a:ext uri="{FF2B5EF4-FFF2-40B4-BE49-F238E27FC236}">
                <a16:creationId xmlns:a16="http://schemas.microsoft.com/office/drawing/2014/main" id="{5448DB4F-80B9-472C-B0E4-52731349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143375"/>
            <a:ext cx="72866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DeepSeek / Qwen / 其他合规模型</a:t>
            </a:r>
          </a:p>
        </p:txBody>
      </p:sp>
      <p:sp>
        <p:nvSpPr>
          <p:cNvPr id="12" name="rule-116">
            <a:extLst xmlns:a="http://schemas.openxmlformats.org/drawingml/2006/main">
              <a:ext uri="{FF2B5EF4-FFF2-40B4-BE49-F238E27FC236}">
                <a16:creationId xmlns:a16="http://schemas.microsoft.com/office/drawing/2014/main" id="{CB9D4056-C5D4-4421-9ACD-EAF00B81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3" name="body-117">
            <a:extLst xmlns:a="http://schemas.openxmlformats.org/drawingml/2006/main">
              <a:ext uri="{FF2B5EF4-FFF2-40B4-BE49-F238E27FC236}">
                <a16:creationId xmlns:a16="http://schemas.microsoft.com/office/drawing/2014/main" id="{FFF3572F-85D6-4AC5-80A0-28C21477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今天从公开或课堂构造材料开始。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DE71A2-36A9-487C-8DFD-83122D94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报告与可检查的研究过程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DA1A63-5CB1-4AB2-A400-9BE398E3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body-118">
            <a:extLst xmlns:a="http://schemas.openxmlformats.org/drawingml/2006/main">
              <a:ext uri="{FF2B5EF4-FFF2-40B4-BE49-F238E27FC236}">
                <a16:creationId xmlns:a16="http://schemas.microsoft.com/office/drawing/2014/main" id="{B5587876-4F5B-4B0C-B759-64EABC88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body-119">
            <a:extLst xmlns:a="http://schemas.openxmlformats.org/drawingml/2006/main">
              <a:ext uri="{FF2B5EF4-FFF2-40B4-BE49-F238E27FC236}">
                <a16:creationId xmlns:a16="http://schemas.microsoft.com/office/drawing/2014/main" id="{82EC6FF0-24A5-4B54-AF85-4AD9A41F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39147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一份阅读卡报告</a:t>
            </a:r>
          </a:p>
        </p:txBody>
      </p:sp>
      <p:sp>
        <p:nvSpPr>
          <p:cNvPr id="6" name="body-120">
            <a:extLst xmlns:a="http://schemas.openxmlformats.org/drawingml/2006/main">
              <a:ext uri="{FF2B5EF4-FFF2-40B4-BE49-F238E27FC236}">
                <a16:creationId xmlns:a16="http://schemas.microsoft.com/office/drawing/2014/main" id="{5BD4B0E9-7AA5-4665-BD98-ACDAAAB5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1529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“阅读卡降低了遗漏，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建议全面采用。”</a:t>
            </a:r>
          </a:p>
        </p:txBody>
      </p:sp>
      <p:sp>
        <p:nvSpPr>
          <p:cNvPr id="7" name="body-121">
            <a:extLst xmlns:a="http://schemas.openxmlformats.org/drawingml/2006/main">
              <a:ext uri="{FF2B5EF4-FFF2-40B4-BE49-F238E27FC236}">
                <a16:creationId xmlns:a16="http://schemas.microsoft.com/office/drawing/2014/main" id="{059F2645-A2AB-4DC6-A68D-89A2CCCE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41624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定义、对照和反例尚未展示</a:t>
            </a:r>
          </a:p>
        </p:txBody>
      </p:sp>
      <p:sp>
        <p:nvSpPr>
          <p:cNvPr id="8" name="body-122">
            <a:extLst xmlns:a="http://schemas.openxmlformats.org/drawingml/2006/main">
              <a:ext uri="{FF2B5EF4-FFF2-40B4-BE49-F238E27FC236}">
                <a16:creationId xmlns:a16="http://schemas.microsoft.com/office/drawing/2014/main" id="{950A8E90-E850-4A26-A3F1-545968CF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38300"/>
            <a:ext cx="59150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检查它怎样支持这个判断</a:t>
            </a:r>
          </a:p>
        </p:txBody>
      </p:sp>
      <p:sp>
        <p:nvSpPr>
          <p:cNvPr id="9" name="body-123">
            <a:extLst xmlns:a="http://schemas.openxmlformats.org/drawingml/2006/main">
              <a:ext uri="{FF2B5EF4-FFF2-40B4-BE49-F238E27FC236}">
                <a16:creationId xmlns:a16="http://schemas.microsoft.com/office/drawing/2014/main" id="{C7DCE58B-0968-45FB-98AD-03D0FBA8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4288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0" name="body-124">
            <a:extLst xmlns:a="http://schemas.openxmlformats.org/drawingml/2006/main">
              <a:ext uri="{FF2B5EF4-FFF2-40B4-BE49-F238E27FC236}">
                <a16:creationId xmlns:a16="http://schemas.microsoft.com/office/drawing/2014/main" id="{B0FBD16C-46EC-48D4-8F03-014DABD3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428875"/>
            <a:ext cx="46767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“遗漏”怎样定义？</a:t>
            </a:r>
          </a:p>
        </p:txBody>
      </p:sp>
      <p:sp>
        <p:nvSpPr>
          <p:cNvPr id="11" name="rule-125">
            <a:extLst xmlns:a="http://schemas.openxmlformats.org/drawingml/2006/main">
              <a:ext uri="{FF2B5EF4-FFF2-40B4-BE49-F238E27FC236}">
                <a16:creationId xmlns:a16="http://schemas.microsoft.com/office/drawing/2014/main" id="{FBB426E5-22FD-49F4-AB30-47592A77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133725"/>
            <a:ext cx="5915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126">
            <a:extLst xmlns:a="http://schemas.openxmlformats.org/drawingml/2006/main">
              <a:ext uri="{FF2B5EF4-FFF2-40B4-BE49-F238E27FC236}">
                <a16:creationId xmlns:a16="http://schemas.microsoft.com/office/drawing/2014/main" id="{CA9C5C5C-2B42-4B0A-A468-CC98AE80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2480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3" name="body-127">
            <a:extLst xmlns:a="http://schemas.openxmlformats.org/drawingml/2006/main">
              <a:ext uri="{FF2B5EF4-FFF2-40B4-BE49-F238E27FC236}">
                <a16:creationId xmlns:a16="http://schemas.microsoft.com/office/drawing/2014/main" id="{A7D40305-D24C-46F3-A068-A13D2950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248025"/>
            <a:ext cx="46767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依据能否定位？</a:t>
            </a:r>
          </a:p>
        </p:txBody>
      </p:sp>
      <p:sp>
        <p:nvSpPr>
          <p:cNvPr id="14" name="rule-128">
            <a:extLst xmlns:a="http://schemas.openxmlformats.org/drawingml/2006/main">
              <a:ext uri="{FF2B5EF4-FFF2-40B4-BE49-F238E27FC236}">
                <a16:creationId xmlns:a16="http://schemas.microsoft.com/office/drawing/2014/main" id="{34D9BBE4-D356-4C21-B192-D9C934DE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952875"/>
            <a:ext cx="5915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body-129">
            <a:extLst xmlns:a="http://schemas.openxmlformats.org/drawingml/2006/main">
              <a:ext uri="{FF2B5EF4-FFF2-40B4-BE49-F238E27FC236}">
                <a16:creationId xmlns:a16="http://schemas.microsoft.com/office/drawing/2014/main" id="{986600AC-ED3F-4C7B-954D-5CB11FAF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0671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</a:t>
            </a:r>
          </a:p>
        </p:txBody>
      </p:sp>
      <p:sp>
        <p:nvSpPr>
          <p:cNvPr id="16" name="body-130">
            <a:extLst xmlns:a="http://schemas.openxmlformats.org/drawingml/2006/main">
              <a:ext uri="{FF2B5EF4-FFF2-40B4-BE49-F238E27FC236}">
                <a16:creationId xmlns:a16="http://schemas.microsoft.com/office/drawing/2014/main" id="{85CA2546-3EDC-40E5-B87C-F5575D29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067175"/>
            <a:ext cx="46767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与什么基线比较？</a:t>
            </a:r>
          </a:p>
        </p:txBody>
      </p:sp>
      <p:sp>
        <p:nvSpPr>
          <p:cNvPr id="17" name="rule-131">
            <a:extLst xmlns:a="http://schemas.openxmlformats.org/drawingml/2006/main">
              <a:ext uri="{FF2B5EF4-FFF2-40B4-BE49-F238E27FC236}">
                <a16:creationId xmlns:a16="http://schemas.microsoft.com/office/drawing/2014/main" id="{422282CB-6293-45D9-893B-1684DC7E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772025"/>
            <a:ext cx="5915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8" name="body-132">
            <a:extLst xmlns:a="http://schemas.openxmlformats.org/drawingml/2006/main">
              <a:ext uri="{FF2B5EF4-FFF2-40B4-BE49-F238E27FC236}">
                <a16:creationId xmlns:a16="http://schemas.microsoft.com/office/drawing/2014/main" id="{5B703411-9391-4817-B9C1-C3B1C7B4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8863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19" name="body-133">
            <a:extLst xmlns:a="http://schemas.openxmlformats.org/drawingml/2006/main">
              <a:ext uri="{FF2B5EF4-FFF2-40B4-BE49-F238E27FC236}">
                <a16:creationId xmlns:a16="http://schemas.microsoft.com/office/drawing/2014/main" id="{33658FEA-6770-418A-AD7A-0B3AEEC2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86325"/>
            <a:ext cx="46767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在哪些条件下成立？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27FAE38-91FF-45E6-94EB-AD782515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八阶段定位图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F51BB8-67B9-4E60-9399-DA793076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body-134">
            <a:extLst xmlns:a="http://schemas.openxmlformats.org/drawingml/2006/main">
              <a:ext uri="{FF2B5EF4-FFF2-40B4-BE49-F238E27FC236}">
                <a16:creationId xmlns:a16="http://schemas.microsoft.com/office/drawing/2014/main" id="{9C1DDCD1-2AC7-48DF-8A41-5094FF26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node-135">
            <a:extLst xmlns:a="http://schemas.openxmlformats.org/drawingml/2006/main">
              <a:ext uri="{FF2B5EF4-FFF2-40B4-BE49-F238E27FC236}">
                <a16:creationId xmlns:a16="http://schemas.microsoft.com/office/drawing/2014/main" id="{4F8E3EBB-7FA2-4453-8C48-4E768ED1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286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6" name="body-136">
            <a:extLst xmlns:a="http://schemas.openxmlformats.org/drawingml/2006/main">
              <a:ext uri="{FF2B5EF4-FFF2-40B4-BE49-F238E27FC236}">
                <a16:creationId xmlns:a16="http://schemas.microsoft.com/office/drawing/2014/main" id="{130758D8-5F9B-4BEB-87D3-32565803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51447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node-137">
            <a:extLst xmlns:a="http://schemas.openxmlformats.org/drawingml/2006/main">
              <a:ext uri="{FF2B5EF4-FFF2-40B4-BE49-F238E27FC236}">
                <a16:creationId xmlns:a16="http://schemas.microsoft.com/office/drawing/2014/main" id="{1EBE9859-5B2A-4F38-8450-0BFC921A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95500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</a:t>
            </a:r>
          </a:p>
        </p:txBody>
      </p:sp>
      <p:sp>
        <p:nvSpPr>
          <p:cNvPr id="8" name="body-138">
            <a:extLst xmlns:a="http://schemas.openxmlformats.org/drawingml/2006/main">
              <a:ext uri="{FF2B5EF4-FFF2-40B4-BE49-F238E27FC236}">
                <a16:creationId xmlns:a16="http://schemas.microsoft.com/office/drawing/2014/main" id="{67ADF756-A18F-481B-AB17-5C5400A5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1447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node-139">
            <a:extLst xmlns:a="http://schemas.openxmlformats.org/drawingml/2006/main">
              <a:ext uri="{FF2B5EF4-FFF2-40B4-BE49-F238E27FC236}">
                <a16:creationId xmlns:a16="http://schemas.microsoft.com/office/drawing/2014/main" id="{0F866345-A06A-45D0-A4C8-3AB2AE60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95500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0" name="body-140">
            <a:extLst xmlns:a="http://schemas.openxmlformats.org/drawingml/2006/main">
              <a:ext uri="{FF2B5EF4-FFF2-40B4-BE49-F238E27FC236}">
                <a16:creationId xmlns:a16="http://schemas.microsoft.com/office/drawing/2014/main" id="{63B91D97-31D7-4D93-95B8-076BFBE5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1447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node-141">
            <a:extLst xmlns:a="http://schemas.openxmlformats.org/drawingml/2006/main">
              <a:ext uri="{FF2B5EF4-FFF2-40B4-BE49-F238E27FC236}">
                <a16:creationId xmlns:a16="http://schemas.microsoft.com/office/drawing/2014/main" id="{365A942F-962A-4E3A-B5E0-371A5C5E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95500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</a:t>
            </a:r>
          </a:p>
        </p:txBody>
      </p:sp>
      <p:sp>
        <p:nvSpPr>
          <p:cNvPr id="12" name="body-142">
            <a:extLst xmlns:a="http://schemas.openxmlformats.org/drawingml/2006/main">
              <a:ext uri="{FF2B5EF4-FFF2-40B4-BE49-F238E27FC236}">
                <a16:creationId xmlns:a16="http://schemas.microsoft.com/office/drawing/2014/main" id="{52CBD88E-1561-45B5-A1DC-A50CC202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81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node-143">
            <a:extLst xmlns:a="http://schemas.openxmlformats.org/drawingml/2006/main">
              <a:ext uri="{FF2B5EF4-FFF2-40B4-BE49-F238E27FC236}">
                <a16:creationId xmlns:a16="http://schemas.microsoft.com/office/drawing/2014/main" id="{56179AD8-AF58-4E5F-979A-8E51162F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6242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证据整理</a:t>
            </a:r>
          </a:p>
        </p:txBody>
      </p:sp>
      <p:sp>
        <p:nvSpPr>
          <p:cNvPr id="14" name="body-144">
            <a:extLst xmlns:a="http://schemas.openxmlformats.org/drawingml/2006/main">
              <a:ext uri="{FF2B5EF4-FFF2-40B4-BE49-F238E27FC236}">
                <a16:creationId xmlns:a16="http://schemas.microsoft.com/office/drawing/2014/main" id="{761A3A1A-D885-4DFF-94E4-68EAC0B5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81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5" name="node-145">
            <a:extLst xmlns:a="http://schemas.openxmlformats.org/drawingml/2006/main">
              <a:ext uri="{FF2B5EF4-FFF2-40B4-BE49-F238E27FC236}">
                <a16:creationId xmlns:a16="http://schemas.microsoft.com/office/drawing/2014/main" id="{A674332F-BC2E-48A4-8256-A944809C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6242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16" name="body-146">
            <a:extLst xmlns:a="http://schemas.openxmlformats.org/drawingml/2006/main">
              <a:ext uri="{FF2B5EF4-FFF2-40B4-BE49-F238E27FC236}">
                <a16:creationId xmlns:a16="http://schemas.microsoft.com/office/drawing/2014/main" id="{6E87B970-A6C7-44FF-994A-172B9D2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7" name="node-147">
            <a:extLst xmlns:a="http://schemas.openxmlformats.org/drawingml/2006/main">
              <a:ext uri="{FF2B5EF4-FFF2-40B4-BE49-F238E27FC236}">
                <a16:creationId xmlns:a16="http://schemas.microsoft.com/office/drawing/2014/main" id="{E99297EA-24D7-4154-9BEC-DDE7DAEF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6242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原型验证</a:t>
            </a:r>
          </a:p>
        </p:txBody>
      </p:sp>
      <p:sp>
        <p:nvSpPr>
          <p:cNvPr id="18" name="body-148">
            <a:extLst xmlns:a="http://schemas.openxmlformats.org/drawingml/2006/main">
              <a:ext uri="{FF2B5EF4-FFF2-40B4-BE49-F238E27FC236}">
                <a16:creationId xmlns:a16="http://schemas.microsoft.com/office/drawing/2014/main" id="{5D803427-3E22-4EA6-8D14-0664FFA8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9" name="node-149">
            <a:extLst xmlns:a="http://schemas.openxmlformats.org/drawingml/2006/main">
              <a:ext uri="{FF2B5EF4-FFF2-40B4-BE49-F238E27FC236}">
                <a16:creationId xmlns:a16="http://schemas.microsoft.com/office/drawing/2014/main" id="{E2411941-93F2-45C4-B422-7963FDE1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回写表达</a:t>
            </a:r>
          </a:p>
        </p:txBody>
      </p:sp>
      <p:cxnSp>
        <p:nvCxnSpPr>
          <p:cNvPr id="71" name="edge-150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95600" y="2462213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72" name="edge-151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772150" y="2462213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73" name="edge-152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648700" y="2462213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74" name="edge-153"/>
          <p:cNvCxnSpPr>
            <a:stCxn xmlns:a="http://schemas.openxmlformats.org/drawingml/2006/main" id="11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10382250" y="2828925"/>
            <a:ext cx="0" cy="1333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75" name="edge-154"/>
          <p:cNvCxnSpPr>
            <a:stCxn xmlns:a="http://schemas.openxmlformats.org/drawingml/2006/main" id="13" idx="1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H="1">
            <a:off x="8648700" y="452913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76" name="edge-155"/>
          <p:cNvCxnSpPr>
            <a:stCxn xmlns:a="http://schemas.openxmlformats.org/drawingml/2006/main" id="15" idx="1"/>
            <a:endCxn xmlns:a="http://schemas.openxmlformats.org/drawingml/2006/main" id="17" idx="3"/>
          </p:cNvCxnSpPr>
          <p:nvPr/>
        </p:nvCxnSpPr>
        <p:spPr>
          <a:xfrm xmlns:a="http://schemas.openxmlformats.org/drawingml/2006/main" flipH="1">
            <a:off x="5772150" y="452913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77" name="edge-156"/>
          <p:cNvCxnSpPr>
            <a:stCxn xmlns:a="http://schemas.openxmlformats.org/drawingml/2006/main" id="17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2895600" y="452913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27" name="body-157">
            <a:extLst xmlns:a="http://schemas.openxmlformats.org/drawingml/2006/main">
              <a:ext uri="{FF2B5EF4-FFF2-40B4-BE49-F238E27FC236}">
                <a16:creationId xmlns:a16="http://schemas.microsoft.com/office/drawing/2014/main" id="{15615CCC-ECAA-45F2-8833-4BCE5446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先定位当前动作，再确定需要回到哪里。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EB11E34-26CE-44F0-B28F-0F09D82D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1–4：问题、条件、机制与来源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4ACF26-6AA2-44C1-83DF-B1E2A5F2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body-158">
            <a:extLst xmlns:a="http://schemas.openxmlformats.org/drawingml/2006/main">
              <a:ext uri="{FF2B5EF4-FFF2-40B4-BE49-F238E27FC236}">
                <a16:creationId xmlns:a16="http://schemas.microsoft.com/office/drawing/2014/main" id="{28AD14CD-0107-4437-84DB-43A9585F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课堂构造案例：阅读卡与限定条件遗漏</a:t>
            </a:r>
          </a:p>
        </p:txBody>
      </p:sp>
      <p:sp>
        <p:nvSpPr>
          <p:cNvPr id="5" name="node-159">
            <a:extLst xmlns:a="http://schemas.openxmlformats.org/drawingml/2006/main">
              <a:ext uri="{FF2B5EF4-FFF2-40B4-BE49-F238E27FC236}">
                <a16:creationId xmlns:a16="http://schemas.microsoft.com/office/drawing/2014/main" id="{08A59E8A-E3B5-4A8B-A3C5-3B1D1605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145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6" name="node-160">
            <a:extLst xmlns:a="http://schemas.openxmlformats.org/drawingml/2006/main">
              <a:ext uri="{FF2B5EF4-FFF2-40B4-BE49-F238E27FC236}">
                <a16:creationId xmlns:a16="http://schemas.microsoft.com/office/drawing/2014/main" id="{64635C02-EE07-40D3-9840-7FA1BBD9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145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</a:t>
            </a:r>
          </a:p>
        </p:txBody>
      </p:sp>
      <p:sp>
        <p:nvSpPr>
          <p:cNvPr id="7" name="node-161">
            <a:extLst xmlns:a="http://schemas.openxmlformats.org/drawingml/2006/main">
              <a:ext uri="{FF2B5EF4-FFF2-40B4-BE49-F238E27FC236}">
                <a16:creationId xmlns:a16="http://schemas.microsoft.com/office/drawing/2014/main" id="{034111A4-C573-4374-B902-9F148263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145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8" name="node-162">
            <a:extLst xmlns:a="http://schemas.openxmlformats.org/drawingml/2006/main">
              <a:ext uri="{FF2B5EF4-FFF2-40B4-BE49-F238E27FC236}">
                <a16:creationId xmlns:a16="http://schemas.microsoft.com/office/drawing/2014/main" id="{893ED0CA-C7C9-45C7-A778-AA651768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145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</a:t>
            </a:r>
          </a:p>
        </p:txBody>
      </p:sp>
      <p:cxnSp>
        <p:nvCxnSpPr>
          <p:cNvPr id="38" name="edge-163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26765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9" name="edge-164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26765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0" name="edge-165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26765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166">
            <a:extLst xmlns:a="http://schemas.openxmlformats.org/drawingml/2006/main">
              <a:ext uri="{FF2B5EF4-FFF2-40B4-BE49-F238E27FC236}">
                <a16:creationId xmlns:a16="http://schemas.microsoft.com/office/drawing/2014/main" id="{E792F47C-CE49-4E17-98FB-097965C2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324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body-167">
            <a:extLst xmlns:a="http://schemas.openxmlformats.org/drawingml/2006/main">
              <a:ext uri="{FF2B5EF4-FFF2-40B4-BE49-F238E27FC236}">
                <a16:creationId xmlns:a16="http://schemas.microsoft.com/office/drawing/2014/main" id="{C867CCD6-ECB0-49B2-841B-6539720C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241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阅读卡能否减少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计算机论文摘要中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限定条件的遗漏？</a:t>
            </a:r>
          </a:p>
        </p:txBody>
      </p:sp>
      <p:sp>
        <p:nvSpPr>
          <p:cNvPr id="14" name="body-168">
            <a:extLst xmlns:a="http://schemas.openxmlformats.org/drawingml/2006/main">
              <a:ext uri="{FF2B5EF4-FFF2-40B4-BE49-F238E27FC236}">
                <a16:creationId xmlns:a16="http://schemas.microsoft.com/office/drawing/2014/main" id="{76BC62FB-73A6-4937-9796-D5BB4373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66875"/>
            <a:ext cx="2324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body-169">
            <a:extLst xmlns:a="http://schemas.openxmlformats.org/drawingml/2006/main">
              <a:ext uri="{FF2B5EF4-FFF2-40B4-BE49-F238E27FC236}">
                <a16:creationId xmlns:a16="http://schemas.microsoft.com/office/drawing/2014/main" id="{DDC63D98-0439-4363-99A4-6CE31E7D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67100"/>
            <a:ext cx="23241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比较同一组论文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采用同一套标注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先定义“遗漏”</a:t>
            </a:r>
          </a:p>
        </p:txBody>
      </p:sp>
      <p:sp>
        <p:nvSpPr>
          <p:cNvPr id="16" name="body-170">
            <a:extLst xmlns:a="http://schemas.openxmlformats.org/drawingml/2006/main">
              <a:ext uri="{FF2B5EF4-FFF2-40B4-BE49-F238E27FC236}">
                <a16:creationId xmlns:a16="http://schemas.microsoft.com/office/drawing/2014/main" id="{9AF42979-F88E-4A3B-BCD2-69A89145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66875"/>
            <a:ext cx="2324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body-171">
            <a:extLst xmlns:a="http://schemas.openxmlformats.org/drawingml/2006/main">
              <a:ext uri="{FF2B5EF4-FFF2-40B4-BE49-F238E27FC236}">
                <a16:creationId xmlns:a16="http://schemas.microsoft.com/office/drawing/2014/main" id="{A14F662B-9DC3-4416-BD08-AA351CFA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67100"/>
            <a:ext cx="23241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分开任务、设置、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结果和局限，是否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能减少过度概括？</a:t>
            </a:r>
          </a:p>
        </p:txBody>
      </p:sp>
      <p:sp>
        <p:nvSpPr>
          <p:cNvPr id="18" name="body-172">
            <a:extLst xmlns:a="http://schemas.openxmlformats.org/drawingml/2006/main">
              <a:ext uri="{FF2B5EF4-FFF2-40B4-BE49-F238E27FC236}">
                <a16:creationId xmlns:a16="http://schemas.microsoft.com/office/drawing/2014/main" id="{ADB7768F-C792-4F9F-9A99-242EA461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66875"/>
            <a:ext cx="2324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body-173">
            <a:extLst xmlns:a="http://schemas.openxmlformats.org/drawingml/2006/main">
              <a:ext uri="{FF2B5EF4-FFF2-40B4-BE49-F238E27FC236}">
                <a16:creationId xmlns:a16="http://schemas.microsoft.com/office/drawing/2014/main" id="{0054ED93-92D8-46C6-BF07-C0339108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23241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检索公开论文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记录原文位置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标记候选证据</a:t>
            </a:r>
          </a:p>
        </p:txBody>
      </p:sp>
      <p:sp>
        <p:nvSpPr>
          <p:cNvPr id="20" name="body-174">
            <a:extLst xmlns:a="http://schemas.openxmlformats.org/drawingml/2006/main">
              <a:ext uri="{FF2B5EF4-FFF2-40B4-BE49-F238E27FC236}">
                <a16:creationId xmlns:a16="http://schemas.microsoft.com/office/drawing/2014/main" id="{658C40C8-4FD2-4C62-82CC-299ABFC8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每次转化，都要说清新增了什么依据。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D33EDB-B3C1-4BEB-BF69-5AFF5289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5–8：证据、判断、实验与结论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B60FE0-C9F3-402B-9146-C4F6943C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body-175">
            <a:extLst xmlns:a="http://schemas.openxmlformats.org/drawingml/2006/main">
              <a:ext uri="{FF2B5EF4-FFF2-40B4-BE49-F238E27FC236}">
                <a16:creationId xmlns:a16="http://schemas.microsoft.com/office/drawing/2014/main" id="{A7CDA3B9-548B-449A-B35E-55EBB911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同一阅读卡案例：工件填写示意</a:t>
            </a:r>
          </a:p>
        </p:txBody>
      </p:sp>
      <p:sp>
        <p:nvSpPr>
          <p:cNvPr id="5" name="node-176">
            <a:extLst xmlns:a="http://schemas.openxmlformats.org/drawingml/2006/main">
              <a:ext uri="{FF2B5EF4-FFF2-40B4-BE49-F238E27FC236}">
                <a16:creationId xmlns:a16="http://schemas.microsoft.com/office/drawing/2014/main" id="{2AEE9D03-A75B-48E1-8603-88FFA62D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证据地图</a:t>
            </a:r>
          </a:p>
        </p:txBody>
      </p:sp>
      <p:sp>
        <p:nvSpPr>
          <p:cNvPr id="6" name="node-177">
            <a:extLst xmlns:a="http://schemas.openxmlformats.org/drawingml/2006/main">
              <a:ext uri="{FF2B5EF4-FFF2-40B4-BE49-F238E27FC236}">
                <a16:creationId xmlns:a16="http://schemas.microsoft.com/office/drawing/2014/main" id="{5A41DC46-0F7C-43FF-9752-383DCEA1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526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判断记录</a:t>
            </a:r>
          </a:p>
        </p:txBody>
      </p:sp>
      <p:sp>
        <p:nvSpPr>
          <p:cNvPr id="7" name="node-178">
            <a:extLst xmlns:a="http://schemas.openxmlformats.org/drawingml/2006/main">
              <a:ext uri="{FF2B5EF4-FFF2-40B4-BE49-F238E27FC236}">
                <a16:creationId xmlns:a16="http://schemas.microsoft.com/office/drawing/2014/main" id="{18FC6B27-BCD4-4A2E-AF37-F585312A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526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8" name="node-179">
            <a:extLst xmlns:a="http://schemas.openxmlformats.org/drawingml/2006/main">
              <a:ext uri="{FF2B5EF4-FFF2-40B4-BE49-F238E27FC236}">
                <a16:creationId xmlns:a16="http://schemas.microsoft.com/office/drawing/2014/main" id="{5EE388AB-93A4-4441-865E-A11D151C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526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受限结论</a:t>
            </a:r>
          </a:p>
        </p:txBody>
      </p:sp>
      <p:cxnSp>
        <p:nvCxnSpPr>
          <p:cNvPr id="44" name="edge-180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2514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5" name="edge-181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2514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6" name="edge-182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2514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183">
            <a:extLst xmlns:a="http://schemas.openxmlformats.org/drawingml/2006/main">
              <a:ext uri="{FF2B5EF4-FFF2-40B4-BE49-F238E27FC236}">
                <a16:creationId xmlns:a16="http://schemas.microsoft.com/office/drawing/2014/main" id="{D9471943-DEE1-4AF5-857B-F5308BC7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2324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支持与冲突并列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标明原文与局限</a:t>
            </a:r>
          </a:p>
        </p:txBody>
      </p:sp>
      <p:sp>
        <p:nvSpPr>
          <p:cNvPr id="13" name="body-184">
            <a:extLst xmlns:a="http://schemas.openxmlformats.org/drawingml/2006/main">
              <a:ext uri="{FF2B5EF4-FFF2-40B4-BE49-F238E27FC236}">
                <a16:creationId xmlns:a16="http://schemas.microsoft.com/office/drawing/2014/main" id="{3E59FA4E-F3E4-452E-AF90-8703D764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24225"/>
            <a:ext cx="2324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记录采纳或拒绝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写明判断理由</a:t>
            </a:r>
          </a:p>
        </p:txBody>
      </p:sp>
      <p:sp>
        <p:nvSpPr>
          <p:cNvPr id="14" name="body-185">
            <a:extLst xmlns:a="http://schemas.openxmlformats.org/drawingml/2006/main">
              <a:ext uri="{FF2B5EF4-FFF2-40B4-BE49-F238E27FC236}">
                <a16:creationId xmlns:a16="http://schemas.microsoft.com/office/drawing/2014/main" id="{1E6913EE-4904-4FA1-9A94-212954A2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24225"/>
            <a:ext cx="2324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明确基线、指标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以及停止条件</a:t>
            </a:r>
          </a:p>
        </p:txBody>
      </p:sp>
      <p:sp>
        <p:nvSpPr>
          <p:cNvPr id="15" name="body-186">
            <a:extLst xmlns:a="http://schemas.openxmlformats.org/drawingml/2006/main">
              <a:ext uri="{FF2B5EF4-FFF2-40B4-BE49-F238E27FC236}">
                <a16:creationId xmlns:a16="http://schemas.microsoft.com/office/drawing/2014/main" id="{2DCE0A2F-2EA5-4970-83CA-25866D74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24225"/>
            <a:ext cx="2324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区分计划与结果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写清适用范围</a:t>
            </a:r>
          </a:p>
        </p:txBody>
      </p:sp>
      <p:sp>
        <p:nvSpPr>
          <p:cNvPr id="16" name="node-187">
            <a:extLst xmlns:a="http://schemas.openxmlformats.org/drawingml/2006/main">
              <a:ext uri="{FF2B5EF4-FFF2-40B4-BE49-F238E27FC236}">
                <a16:creationId xmlns:a16="http://schemas.microsoft.com/office/drawing/2014/main" id="{14417D42-4785-41BF-ACE6-F98733DB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24425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7" name="node-188">
            <a:extLst xmlns:a="http://schemas.openxmlformats.org/drawingml/2006/main">
              <a:ext uri="{FF2B5EF4-FFF2-40B4-BE49-F238E27FC236}">
                <a16:creationId xmlns:a16="http://schemas.microsoft.com/office/drawing/2014/main" id="{F97F0663-D94E-4E68-B933-0C634CD7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24425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cxnSp>
        <p:nvCxnSpPr>
          <p:cNvPr id="53" name="edge-189"/>
          <p:cNvCxnSpPr>
            <a:stCxn xmlns:a="http://schemas.openxmlformats.org/drawingml/2006/main" id="16" idx="1"/>
            <a:endCxn xmlns:a="http://schemas.openxmlformats.org/drawingml/2006/main" id="17" idx="3"/>
          </p:cNvCxnSpPr>
          <p:nvPr/>
        </p:nvCxnSpPr>
        <p:spPr>
          <a:xfrm xmlns:a="http://schemas.openxmlformats.org/drawingml/2006/main" flipH="1">
            <a:off x="2571750" y="5200650"/>
            <a:ext cx="6962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9" name="body-190">
            <a:extLst xmlns:a="http://schemas.openxmlformats.org/drawingml/2006/main">
              <a:ext uri="{FF2B5EF4-FFF2-40B4-BE49-F238E27FC236}">
                <a16:creationId xmlns:a16="http://schemas.microsoft.com/office/drawing/2014/main" id="{3B1B60EC-CE7E-421E-98DE-1329DF7E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410075"/>
            <a:ext cx="57435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反向审计：结果如何形成，判断依据是什么？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E38FB5-F1FD-4534-8794-6D178ED5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四个研究门与回退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16F66B-8100-4939-B45B-91512A99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node-191">
            <a:extLst xmlns:a="http://schemas.openxmlformats.org/drawingml/2006/main">
              <a:ext uri="{FF2B5EF4-FFF2-40B4-BE49-F238E27FC236}">
                <a16:creationId xmlns:a16="http://schemas.microsoft.com/office/drawing/2014/main" id="{3FA1C6C2-2987-4854-BAF6-EB17F96B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</a:t>
            </a:r>
          </a:p>
        </p:txBody>
      </p:sp>
      <p:sp>
        <p:nvSpPr>
          <p:cNvPr id="5" name="node-192">
            <a:extLst xmlns:a="http://schemas.openxmlformats.org/drawingml/2006/main">
              <a:ext uri="{FF2B5EF4-FFF2-40B4-BE49-F238E27FC236}">
                <a16:creationId xmlns:a16="http://schemas.microsoft.com/office/drawing/2014/main" id="{547A1BB1-780F-4752-A927-D0F34A6B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002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</a:t>
            </a:r>
          </a:p>
        </p:txBody>
      </p:sp>
      <p:sp>
        <p:nvSpPr>
          <p:cNvPr id="6" name="node-193">
            <a:extLst xmlns:a="http://schemas.openxmlformats.org/drawingml/2006/main">
              <a:ext uri="{FF2B5EF4-FFF2-40B4-BE49-F238E27FC236}">
                <a16:creationId xmlns:a16="http://schemas.microsoft.com/office/drawing/2014/main" id="{CCAD185E-429E-40BC-9252-2CA5D2BF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002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7" name="node-194">
            <a:extLst xmlns:a="http://schemas.openxmlformats.org/drawingml/2006/main">
              <a:ext uri="{FF2B5EF4-FFF2-40B4-BE49-F238E27FC236}">
                <a16:creationId xmlns:a16="http://schemas.microsoft.com/office/drawing/2014/main" id="{2A75330F-E9E0-4E4B-95E8-65445A5B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002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论证门</a:t>
            </a:r>
          </a:p>
        </p:txBody>
      </p:sp>
      <p:cxnSp>
        <p:nvCxnSpPr>
          <p:cNvPr id="49" name="edge-195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33700" y="25622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0" name="edge-196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810250" y="25622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1" name="edge-197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686800" y="25622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1" name="body-198">
            <a:extLst xmlns:a="http://schemas.openxmlformats.org/drawingml/2006/main">
              <a:ext uri="{FF2B5EF4-FFF2-40B4-BE49-F238E27FC236}">
                <a16:creationId xmlns:a16="http://schemas.microsoft.com/office/drawing/2014/main" id="{1333D61F-249C-422F-BAE8-5E420E57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6 课</a:t>
            </a:r>
          </a:p>
        </p:txBody>
      </p:sp>
      <p:sp>
        <p:nvSpPr>
          <p:cNvPr id="12" name="body-199">
            <a:extLst xmlns:a="http://schemas.openxmlformats.org/drawingml/2006/main">
              <a:ext uri="{FF2B5EF4-FFF2-40B4-BE49-F238E27FC236}">
                <a16:creationId xmlns:a16="http://schemas.microsoft.com/office/drawing/2014/main" id="{31348FBE-358A-404B-A836-EF39CE97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5335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</a:t>
            </a:r>
          </a:p>
        </p:txBody>
      </p:sp>
      <p:sp>
        <p:nvSpPr>
          <p:cNvPr id="13" name="body-200">
            <a:extLst xmlns:a="http://schemas.openxmlformats.org/drawingml/2006/main">
              <a:ext uri="{FF2B5EF4-FFF2-40B4-BE49-F238E27FC236}">
                <a16:creationId xmlns:a16="http://schemas.microsoft.com/office/drawing/2014/main" id="{23E45CCF-D733-4D2B-844B-BD7DA7E2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335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13 课</a:t>
            </a:r>
          </a:p>
        </p:txBody>
      </p:sp>
      <p:sp>
        <p:nvSpPr>
          <p:cNvPr id="14" name="body-201">
            <a:extLst xmlns:a="http://schemas.openxmlformats.org/drawingml/2006/main">
              <a:ext uri="{FF2B5EF4-FFF2-40B4-BE49-F238E27FC236}">
                <a16:creationId xmlns:a16="http://schemas.microsoft.com/office/drawing/2014/main" id="{2B0147D3-DEC2-408B-A45C-CE7CAA74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335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16 课</a:t>
            </a:r>
          </a:p>
        </p:txBody>
      </p:sp>
      <p:sp>
        <p:nvSpPr>
          <p:cNvPr id="15" name="body-202">
            <a:extLst xmlns:a="http://schemas.openxmlformats.org/drawingml/2006/main">
              <a:ext uri="{FF2B5EF4-FFF2-40B4-BE49-F238E27FC236}">
                <a16:creationId xmlns:a16="http://schemas.microsoft.com/office/drawing/2014/main" id="{F4FE98D9-5F3B-48DB-8722-2E914CF5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2324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值得做，且可完成</a:t>
            </a:r>
          </a:p>
        </p:txBody>
      </p:sp>
      <p:sp>
        <p:nvSpPr>
          <p:cNvPr id="16" name="body-203">
            <a:extLst xmlns:a="http://schemas.openxmlformats.org/drawingml/2006/main">
              <a:ext uri="{FF2B5EF4-FFF2-40B4-BE49-F238E27FC236}">
                <a16:creationId xmlns:a16="http://schemas.microsoft.com/office/drawing/2014/main" id="{471C3079-FE46-4113-A625-3F7E4B45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43275"/>
            <a:ext cx="2324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方案能改变判断</a:t>
            </a:r>
          </a:p>
        </p:txBody>
      </p:sp>
      <p:sp>
        <p:nvSpPr>
          <p:cNvPr id="17" name="body-204">
            <a:extLst xmlns:a="http://schemas.openxmlformats.org/drawingml/2006/main">
              <a:ext uri="{FF2B5EF4-FFF2-40B4-BE49-F238E27FC236}">
                <a16:creationId xmlns:a16="http://schemas.microsoft.com/office/drawing/2014/main" id="{1F70AAFC-4EF7-414C-91CC-0AD125FE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43275"/>
            <a:ext cx="2324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结果与工作流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经过评价</a:t>
            </a:r>
          </a:p>
        </p:txBody>
      </p:sp>
      <p:sp>
        <p:nvSpPr>
          <p:cNvPr id="18" name="body-205">
            <a:extLst xmlns:a="http://schemas.openxmlformats.org/drawingml/2006/main">
              <a:ext uri="{FF2B5EF4-FFF2-40B4-BE49-F238E27FC236}">
                <a16:creationId xmlns:a16="http://schemas.microsoft.com/office/drawing/2014/main" id="{4AACA089-6C2A-41D9-9996-845CFDFE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43275"/>
            <a:ext cx="2324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结论能够追溯</a:t>
            </a:r>
          </a:p>
        </p:txBody>
      </p:sp>
      <p:sp>
        <p:nvSpPr>
          <p:cNvPr id="19" name="node-206">
            <a:extLst xmlns:a="http://schemas.openxmlformats.org/drawingml/2006/main">
              <a:ext uri="{FF2B5EF4-FFF2-40B4-BE49-F238E27FC236}">
                <a16:creationId xmlns:a16="http://schemas.microsoft.com/office/drawing/2014/main" id="{B82D19C5-FB77-4436-8470-343092A4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886325"/>
            <a:ext cx="24003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未通过</a:t>
            </a:r>
          </a:p>
        </p:txBody>
      </p:sp>
      <p:sp>
        <p:nvSpPr>
          <p:cNvPr id="20" name="node-207">
            <a:extLst xmlns:a="http://schemas.openxmlformats.org/drawingml/2006/main">
              <a:ext uri="{FF2B5EF4-FFF2-40B4-BE49-F238E27FC236}">
                <a16:creationId xmlns:a16="http://schemas.microsoft.com/office/drawing/2014/main" id="{AB43E68C-02D2-439C-833E-6D9ACAD3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38671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回到相关阶段补证据</a:t>
            </a:r>
          </a:p>
        </p:txBody>
      </p:sp>
      <p:cxnSp>
        <p:nvCxnSpPr>
          <p:cNvPr id="62" name="edge-208"/>
          <p:cNvCxnSpPr>
            <a:stCxn xmlns:a="http://schemas.openxmlformats.org/drawingml/2006/main" id="19" idx="1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4686300" y="5186363"/>
            <a:ext cx="42195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22" name="body-209">
            <a:extLst xmlns:a="http://schemas.openxmlformats.org/drawingml/2006/main">
              <a:ext uri="{FF2B5EF4-FFF2-40B4-BE49-F238E27FC236}">
                <a16:creationId xmlns:a16="http://schemas.microsoft.com/office/drawing/2014/main" id="{558C4E5C-D224-4DF8-A5CF-083C3882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410075"/>
            <a:ext cx="3676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同一个人项目逐次推进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6936BF-BA09-49B8-B71A-1A9E561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从结论反查研究过程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B6AF32-899B-44B2-AB29-AF9DF6AF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ody-210">
            <a:extLst xmlns:a="http://schemas.openxmlformats.org/drawingml/2006/main">
              <a:ext uri="{FF2B5EF4-FFF2-40B4-BE49-F238E27FC236}">
                <a16:creationId xmlns:a16="http://schemas.microsoft.com/office/drawing/2014/main" id="{52849660-53D6-45E6-A028-023E35E7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这句话凭什么成立？</a:t>
            </a:r>
          </a:p>
        </p:txBody>
      </p:sp>
      <p:sp>
        <p:nvSpPr>
          <p:cNvPr id="5" name="node-211">
            <a:extLst xmlns:a="http://schemas.openxmlformats.org/drawingml/2006/main">
              <a:ext uri="{FF2B5EF4-FFF2-40B4-BE49-F238E27FC236}">
                <a16:creationId xmlns:a16="http://schemas.microsoft.com/office/drawing/2014/main" id="{CECFF691-D1DB-4D93-82E1-CF4FE4F3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原始来源</a:t>
            </a:r>
          </a:p>
        </p:txBody>
      </p:sp>
      <p:sp>
        <p:nvSpPr>
          <p:cNvPr id="6" name="node-212">
            <a:extLst xmlns:a="http://schemas.openxmlformats.org/drawingml/2006/main">
              <a:ext uri="{FF2B5EF4-FFF2-40B4-BE49-F238E27FC236}">
                <a16:creationId xmlns:a16="http://schemas.microsoft.com/office/drawing/2014/main" id="{B19F2657-D608-42A4-9A2A-F4FA3DE2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527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7" name="node-213">
            <a:extLst xmlns:a="http://schemas.openxmlformats.org/drawingml/2006/main">
              <a:ext uri="{FF2B5EF4-FFF2-40B4-BE49-F238E27FC236}">
                <a16:creationId xmlns:a16="http://schemas.microsoft.com/office/drawing/2014/main" id="{3AC2C8A4-E1A5-4E37-800B-E12A785D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实验结果</a:t>
            </a:r>
          </a:p>
        </p:txBody>
      </p:sp>
      <p:sp>
        <p:nvSpPr>
          <p:cNvPr id="8" name="node-214">
            <a:extLst xmlns:a="http://schemas.openxmlformats.org/drawingml/2006/main">
              <a:ext uri="{FF2B5EF4-FFF2-40B4-BE49-F238E27FC236}">
                <a16:creationId xmlns:a16="http://schemas.microsoft.com/office/drawing/2014/main" id="{787114EC-E94E-4CF6-A29E-E51AC38B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527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cxnSp>
        <p:nvCxnSpPr>
          <p:cNvPr id="34" name="edge-218"/>
          <p:cNvCxnSpPr>
            <a:stCxn xmlns:a="http://schemas.openxmlformats.org/drawingml/2006/main" id="8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8686800" y="33147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cxnSp>
        <p:nvCxnSpPr>
          <p:cNvPr id="35" name="edge-219"/>
          <p:cNvCxnSpPr>
            <a:stCxn xmlns:a="http://schemas.openxmlformats.org/drawingml/2006/main" id="7" idx="1"/>
            <a:endCxn xmlns:a="http://schemas.openxmlformats.org/drawingml/2006/main" id="6" idx="3"/>
          </p:cNvCxnSpPr>
          <p:nvPr/>
        </p:nvCxnSpPr>
        <p:spPr>
          <a:xfrm xmlns:a="http://schemas.openxmlformats.org/drawingml/2006/main" flipH="1">
            <a:off x="5810250" y="33147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cxnSp>
        <p:nvCxnSpPr>
          <p:cNvPr id="36" name="edge-220"/>
          <p:cNvCxnSpPr>
            <a:stCxn xmlns:a="http://schemas.openxmlformats.org/drawingml/2006/main" id="6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>
            <a:off x="2933700" y="33147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2" name="body-221">
            <a:extLst xmlns:a="http://schemas.openxmlformats.org/drawingml/2006/main">
              <a:ext uri="{FF2B5EF4-FFF2-40B4-BE49-F238E27FC236}">
                <a16:creationId xmlns:a16="http://schemas.microsoft.com/office/drawing/2014/main" id="{E6913EE6-92C8-413A-826B-9D473EC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原文在哪里？</a:t>
            </a:r>
          </a:p>
        </p:txBody>
      </p:sp>
      <p:sp>
        <p:nvSpPr>
          <p:cNvPr id="13" name="body-222">
            <a:extLst xmlns:a="http://schemas.openxmlformats.org/drawingml/2006/main">
              <a:ext uri="{FF2B5EF4-FFF2-40B4-BE49-F238E27FC236}">
                <a16:creationId xmlns:a16="http://schemas.microsoft.com/office/drawing/2014/main" id="{C046DB87-3EAA-41F7-89E1-5BEC9C7F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为什么采纳？</a:t>
            </a:r>
          </a:p>
        </p:txBody>
      </p:sp>
      <p:sp>
        <p:nvSpPr>
          <p:cNvPr id="14" name="body-223">
            <a:extLst xmlns:a="http://schemas.openxmlformats.org/drawingml/2006/main">
              <a:ext uri="{FF2B5EF4-FFF2-40B4-BE49-F238E27FC236}">
                <a16:creationId xmlns:a16="http://schemas.microsoft.com/office/drawing/2014/main" id="{AEFFE62E-D6C7-4FE9-9ED7-F281E514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实际观察了什么？</a:t>
            </a:r>
          </a:p>
        </p:txBody>
      </p:sp>
      <p:sp>
        <p:nvSpPr>
          <p:cNvPr id="15" name="body-224">
            <a:extLst xmlns:a="http://schemas.openxmlformats.org/drawingml/2006/main">
              <a:ext uri="{FF2B5EF4-FFF2-40B4-BE49-F238E27FC236}">
                <a16:creationId xmlns:a16="http://schemas.microsoft.com/office/drawing/2014/main" id="{D0313EF0-7D13-46EF-8FA2-692E7E1A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具体写了什么？</a:t>
            </a:r>
          </a:p>
        </p:txBody>
      </p:sp>
      <p:sp>
        <p:nvSpPr>
          <p:cNvPr id="16" name="body-225">
            <a:extLst xmlns:a="http://schemas.openxmlformats.org/drawingml/2006/main">
              <a:ext uri="{FF2B5EF4-FFF2-40B4-BE49-F238E27FC236}">
                <a16:creationId xmlns:a16="http://schemas.microsoft.com/office/drawing/2014/main" id="{4D3FD0F1-2AB3-4C49-9C2C-14A3D407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找到一个断点，说明下一步该补什么。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67790E-3062-40DD-B17D-55D38A3B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教师演示：一次建议如何变成修改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EDDD424-FD53-405A-90A1-2D122DCA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body-226">
            <a:extLst xmlns:a="http://schemas.openxmlformats.org/drawingml/2006/main">
              <a:ext uri="{FF2B5EF4-FFF2-40B4-BE49-F238E27FC236}">
                <a16:creationId xmlns:a16="http://schemas.microsoft.com/office/drawing/2014/main" id="{E78E6F35-2378-4B4E-8669-906FEAE0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学生观察并预测权限</a:t>
            </a:r>
          </a:p>
        </p:txBody>
      </p:sp>
      <p:sp>
        <p:nvSpPr>
          <p:cNvPr id="5" name="body-227">
            <a:extLst xmlns:a="http://schemas.openxmlformats.org/drawingml/2006/main">
              <a:ext uri="{FF2B5EF4-FFF2-40B4-BE49-F238E27FC236}">
                <a16:creationId xmlns:a16="http://schemas.microsoft.com/office/drawing/2014/main" id="{936CBC2B-FEF4-4054-8EBB-85CF7EC7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收窄阅读卡研究问题</a:t>
            </a:r>
          </a:p>
        </p:txBody>
      </p:sp>
      <p:sp>
        <p:nvSpPr>
          <p:cNvPr id="6" name="node-228">
            <a:extLst xmlns:a="http://schemas.openxmlformats.org/drawingml/2006/main">
              <a:ext uri="{FF2B5EF4-FFF2-40B4-BE49-F238E27FC236}">
                <a16:creationId xmlns:a16="http://schemas.microsoft.com/office/drawing/2014/main" id="{822CCF8B-1BC0-4989-A9D3-6AE89071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只读建议</a:t>
            </a:r>
          </a:p>
        </p:txBody>
      </p:sp>
      <p:sp>
        <p:nvSpPr>
          <p:cNvPr id="7" name="node-229">
            <a:extLst xmlns:a="http://schemas.openxmlformats.org/drawingml/2006/main">
              <a:ext uri="{FF2B5EF4-FFF2-40B4-BE49-F238E27FC236}">
                <a16:creationId xmlns:a16="http://schemas.microsoft.com/office/drawing/2014/main" id="{BDE9667A-FE21-4DED-9196-A4728110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718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研究者审核</a:t>
            </a:r>
          </a:p>
        </p:txBody>
      </p:sp>
      <p:sp>
        <p:nvSpPr>
          <p:cNvPr id="8" name="node-230">
            <a:extLst xmlns:a="http://schemas.openxmlformats.org/drawingml/2006/main">
              <a:ext uri="{FF2B5EF4-FFF2-40B4-BE49-F238E27FC236}">
                <a16:creationId xmlns:a16="http://schemas.microsoft.com/office/drawing/2014/main" id="{41123764-5767-455A-8862-7189048B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有限写回</a:t>
            </a:r>
          </a:p>
        </p:txBody>
      </p:sp>
      <p:sp>
        <p:nvSpPr>
          <p:cNvPr id="9" name="node-231">
            <a:extLst xmlns:a="http://schemas.openxmlformats.org/drawingml/2006/main">
              <a:ext uri="{FF2B5EF4-FFF2-40B4-BE49-F238E27FC236}">
                <a16:creationId xmlns:a16="http://schemas.microsoft.com/office/drawing/2014/main" id="{0A2F2C30-F996-4C67-BEBA-B7406929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718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与日志</a:t>
            </a:r>
          </a:p>
        </p:txBody>
      </p:sp>
      <p:cxnSp>
        <p:nvCxnSpPr>
          <p:cNvPr id="37" name="edge-232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933700" y="333375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8" name="edge-233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10250" y="333375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9" name="edge-234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686800" y="333375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235">
            <a:extLst xmlns:a="http://schemas.openxmlformats.org/drawingml/2006/main">
              <a:ext uri="{FF2B5EF4-FFF2-40B4-BE49-F238E27FC236}">
                <a16:creationId xmlns:a16="http://schemas.microsoft.com/office/drawing/2014/main" id="{12E06AF6-F8B8-4D10-AB8E-9FD8CBC3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先提出三条建议</a:t>
            </a:r>
          </a:p>
        </p:txBody>
      </p:sp>
      <p:sp>
        <p:nvSpPr>
          <p:cNvPr id="14" name="body-236">
            <a:extLst xmlns:a="http://schemas.openxmlformats.org/drawingml/2006/main">
              <a:ext uri="{FF2B5EF4-FFF2-40B4-BE49-F238E27FC236}">
                <a16:creationId xmlns:a16="http://schemas.microsoft.com/office/drawing/2014/main" id="{3F82A5B6-B035-4EB1-AD6B-AB631F1D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采纳、修改或拒绝</a:t>
            </a:r>
          </a:p>
        </p:txBody>
      </p:sp>
      <p:sp>
        <p:nvSpPr>
          <p:cNvPr id="15" name="body-237">
            <a:extLst xmlns:a="http://schemas.openxmlformats.org/drawingml/2006/main">
              <a:ext uri="{FF2B5EF4-FFF2-40B4-BE49-F238E27FC236}">
                <a16:creationId xmlns:a16="http://schemas.microsoft.com/office/drawing/2014/main" id="{A6F997DB-0FF8-470D-B92B-D5B2C8C3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只改获批段落</a:t>
            </a:r>
          </a:p>
        </p:txBody>
      </p:sp>
      <p:sp>
        <p:nvSpPr>
          <p:cNvPr id="16" name="body-238">
            <a:extLst xmlns:a="http://schemas.openxmlformats.org/drawingml/2006/main">
              <a:ext uri="{FF2B5EF4-FFF2-40B4-BE49-F238E27FC236}">
                <a16:creationId xmlns:a16="http://schemas.microsoft.com/office/drawing/2014/main" id="{01D167BC-BC9A-477E-8F32-728A18C1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核对实际变化</a:t>
            </a:r>
          </a:p>
        </p:txBody>
      </p:sp>
      <p:sp>
        <p:nvSpPr>
          <p:cNvPr id="17" name="body-239">
            <a:extLst xmlns:a="http://schemas.openxmlformats.org/drawingml/2006/main">
              <a:ext uri="{FF2B5EF4-FFF2-40B4-BE49-F238E27FC236}">
                <a16:creationId xmlns:a16="http://schemas.microsoft.com/office/drawing/2014/main" id="{71005499-5A4E-4DF8-86B0-97447528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第一轮应该开放哪些权限？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22D7C5-E0FF-4C1A-958D-C52C94F5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第一轮：只读建议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A6AC6E2-2E3F-40F5-8D23-45CFE24D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body-240">
            <a:extLst xmlns:a="http://schemas.openxmlformats.org/drawingml/2006/main">
              <a:ext uri="{FF2B5EF4-FFF2-40B4-BE49-F238E27FC236}">
                <a16:creationId xmlns:a16="http://schemas.microsoft.com/office/drawing/2014/main" id="{12A78048-8C9A-4760-B241-91D082DF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任务契约</a:t>
            </a:r>
          </a:p>
        </p:txBody>
      </p:sp>
      <p:sp>
        <p:nvSpPr>
          <p:cNvPr id="5" name="body-241">
            <a:extLst xmlns:a="http://schemas.openxmlformats.org/drawingml/2006/main">
              <a:ext uri="{FF2B5EF4-FFF2-40B4-BE49-F238E27FC236}">
                <a16:creationId xmlns:a16="http://schemas.microsoft.com/office/drawing/2014/main" id="{4232DC38-3306-4A9F-A2F8-B9C55C04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735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</a:t>
            </a:r>
          </a:p>
        </p:txBody>
      </p:sp>
      <p:sp>
        <p:nvSpPr>
          <p:cNvPr id="6" name="rule-242">
            <a:extLst xmlns:a="http://schemas.openxmlformats.org/drawingml/2006/main">
              <a:ext uri="{FF2B5EF4-FFF2-40B4-BE49-F238E27FC236}">
                <a16:creationId xmlns:a16="http://schemas.microsoft.com/office/drawing/2014/main" id="{C20D8892-704A-43EE-B30F-5DD2906B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243">
            <a:extLst xmlns:a="http://schemas.openxmlformats.org/drawingml/2006/main">
              <a:ext uri="{FF2B5EF4-FFF2-40B4-BE49-F238E27FC236}">
                <a16:creationId xmlns:a16="http://schemas.microsoft.com/office/drawing/2014/main" id="{06095717-A00B-4BCF-A565-84707F2B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TASK    收窄研究问题中的一个概念</a:t>
            </a:r>
          </a:p>
        </p:txBody>
      </p:sp>
      <p:sp>
        <p:nvSpPr>
          <p:cNvPr id="8" name="body-244">
            <a:extLst xmlns:a="http://schemas.openxmlformats.org/drawingml/2006/main">
              <a:ext uri="{FF2B5EF4-FFF2-40B4-BE49-F238E27FC236}">
                <a16:creationId xmlns:a16="http://schemas.microsoft.com/office/drawing/2014/main" id="{9F361086-A037-459D-ADED-99BFE908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AGENTS.md</a:t>
            </a:r>
          </a:p>
        </p:txBody>
      </p:sp>
      <p:sp>
        <p:nvSpPr>
          <p:cNvPr id="9" name="body-245">
            <a:extLst xmlns:a="http://schemas.openxmlformats.org/drawingml/2006/main">
              <a:ext uri="{FF2B5EF4-FFF2-40B4-BE49-F238E27FC236}">
                <a16:creationId xmlns:a16="http://schemas.microsoft.com/office/drawing/2014/main" id="{0F63294E-0D09-478A-A5ED-E010876A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problem-definition.md</a:t>
            </a:r>
          </a:p>
        </p:txBody>
      </p:sp>
      <p:sp>
        <p:nvSpPr>
          <p:cNvPr id="10" name="body-246">
            <a:extLst xmlns:a="http://schemas.openxmlformats.org/drawingml/2006/main">
              <a:ext uri="{FF2B5EF4-FFF2-40B4-BE49-F238E27FC236}">
                <a16:creationId xmlns:a16="http://schemas.microsoft.com/office/drawing/2014/main" id="{C36184E4-73A2-4C8F-882A-4F4DBCE5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none</a:t>
            </a:r>
          </a:p>
        </p:txBody>
      </p:sp>
      <p:sp>
        <p:nvSpPr>
          <p:cNvPr id="11" name="body-247">
            <a:extLst xmlns:a="http://schemas.openxmlformats.org/drawingml/2006/main">
              <a:ext uri="{FF2B5EF4-FFF2-40B4-BE49-F238E27FC236}">
                <a16:creationId xmlns:a16="http://schemas.microsoft.com/office/drawing/2014/main" id="{EA27241B-425A-4223-A7C8-3EF079D6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2" name="body-248">
            <a:extLst xmlns:a="http://schemas.openxmlformats.org/drawingml/2006/main">
              <a:ext uri="{FF2B5EF4-FFF2-40B4-BE49-F238E27FC236}">
                <a16:creationId xmlns:a16="http://schemas.microsoft.com/office/drawing/2014/main" id="{380E5D78-5ADF-4ADA-B654-FDFE8484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STOP    三条建议后等待确认</a:t>
            </a:r>
          </a:p>
        </p:txBody>
      </p:sp>
      <p:sp>
        <p:nvSpPr>
          <p:cNvPr id="13" name="body-249">
            <a:extLst xmlns:a="http://schemas.openxmlformats.org/drawingml/2006/main">
              <a:ext uri="{FF2B5EF4-FFF2-40B4-BE49-F238E27FC236}">
                <a16:creationId xmlns:a16="http://schemas.microsoft.com/office/drawing/2014/main" id="{85675486-BAA6-4324-8CE5-CDFF5C45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0288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预期输出</a:t>
            </a:r>
          </a:p>
        </p:txBody>
      </p:sp>
      <p:sp>
        <p:nvSpPr>
          <p:cNvPr id="14" name="body-250">
            <a:extLst xmlns:a="http://schemas.openxmlformats.org/drawingml/2006/main">
              <a:ext uri="{FF2B5EF4-FFF2-40B4-BE49-F238E27FC236}">
                <a16:creationId xmlns:a16="http://schemas.microsoft.com/office/drawing/2014/main" id="{C87DF701-C875-43A3-A551-7AECF440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771775"/>
            <a:ext cx="285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三条建议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每条说明理由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等待研究者审核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706B95-11FA-4A92-85AA-0FC9BA3F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研究者审核建议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B33D2-7657-4122-A7AB-EA10C183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body-251">
            <a:extLst xmlns:a="http://schemas.openxmlformats.org/drawingml/2006/main">
              <a:ext uri="{FF2B5EF4-FFF2-40B4-BE49-F238E27FC236}">
                <a16:creationId xmlns:a16="http://schemas.microsoft.com/office/drawing/2014/main" id="{38F94C64-0637-4814-AC1B-45A714DE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课堂构造的审核记录</a:t>
            </a:r>
          </a:p>
        </p:txBody>
      </p:sp>
      <p:graphicFrame>
        <p:nvGraphicFramePr>
          <p:cNvPr id="11" name="native-table-252"/>
          <p:cNvGraphicFramePr/>
          <p:nvPr/>
        </p:nvGraphicFramePr>
        <p:xfrm>
          <a:off xmlns:a="http://schemas.openxmlformats.org/drawingml/2006/main" x="609600" y="1838325"/>
          <a:ext xmlns:a="http://schemas.openxmlformats.org/drawingml/2006/main" cx="10972800" cy="3343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5048250"/>
                <a:gridCol w="2209800"/>
              </a:tblGrid>
              <a:tr h="60007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Agent 建议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研究者的核对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收窄到公开计算机论文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对象明确，现有材料可支持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课程内能够完成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追加敏感数据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材料尚未授权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超出当前研究范围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把预期收益写成结论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尚无实验记录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改成可检验的问题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改写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253">
            <a:extLst xmlns:a="http://schemas.openxmlformats.org/drawingml/2006/main">
              <a:ext uri="{FF2B5EF4-FFF2-40B4-BE49-F238E27FC236}">
                <a16:creationId xmlns:a16="http://schemas.microsoft.com/office/drawing/2014/main" id="{E00EFECC-DA26-4BC0-A55F-5611400B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写回之前，先留下研究者的判断理由。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EE3F8E1-41AB-4F06-ACFA-740760C4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第二轮：按获批范围写回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962016-D2B7-4D3E-9CF2-C081C2AD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body-254">
            <a:extLst xmlns:a="http://schemas.openxmlformats.org/drawingml/2006/main">
              <a:ext uri="{FF2B5EF4-FFF2-40B4-BE49-F238E27FC236}">
                <a16:creationId xmlns:a16="http://schemas.microsoft.com/office/drawing/2014/main" id="{68E6AA7F-1629-4CBE-BAD8-BF7EA86E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任务契约</a:t>
            </a:r>
          </a:p>
        </p:txBody>
      </p:sp>
      <p:sp>
        <p:nvSpPr>
          <p:cNvPr id="5" name="body-255">
            <a:extLst xmlns:a="http://schemas.openxmlformats.org/drawingml/2006/main">
              <a:ext uri="{FF2B5EF4-FFF2-40B4-BE49-F238E27FC236}">
                <a16:creationId xmlns:a16="http://schemas.microsoft.com/office/drawing/2014/main" id="{F5AC2FE0-1DA9-480F-A79C-FABF5427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735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第二轮</a:t>
            </a:r>
          </a:p>
        </p:txBody>
      </p:sp>
      <p:sp>
        <p:nvSpPr>
          <p:cNvPr id="6" name="rule-256">
            <a:extLst xmlns:a="http://schemas.openxmlformats.org/drawingml/2006/main">
              <a:ext uri="{FF2B5EF4-FFF2-40B4-BE49-F238E27FC236}">
                <a16:creationId xmlns:a16="http://schemas.microsoft.com/office/drawing/2014/main" id="{633381C0-961C-403A-9FA6-D2565A1A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257">
            <a:extLst xmlns:a="http://schemas.openxmlformats.org/drawingml/2006/main">
              <a:ext uri="{FF2B5EF4-FFF2-40B4-BE49-F238E27FC236}">
                <a16:creationId xmlns:a16="http://schemas.microsoft.com/office/drawing/2014/main" id="{3CA705C4-3E0F-4F88-9A6A-F91235C8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FILE    problem-definition.md</a:t>
            </a:r>
          </a:p>
        </p:txBody>
      </p:sp>
      <p:sp>
        <p:nvSpPr>
          <p:cNvPr id="8" name="body-258">
            <a:extLst xmlns:a="http://schemas.openxmlformats.org/drawingml/2006/main">
              <a:ext uri="{FF2B5EF4-FFF2-40B4-BE49-F238E27FC236}">
                <a16:creationId xmlns:a16="http://schemas.microsoft.com/office/drawing/2014/main" id="{A00F78B7-FFD9-4C8C-A381-E0E5EEF2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EDIT    只改“研究问题”段落</a:t>
            </a:r>
          </a:p>
        </p:txBody>
      </p:sp>
      <p:sp>
        <p:nvSpPr>
          <p:cNvPr id="9" name="body-259">
            <a:extLst xmlns:a="http://schemas.openxmlformats.org/drawingml/2006/main">
              <a:ext uri="{FF2B5EF4-FFF2-40B4-BE49-F238E27FC236}">
                <a16:creationId xmlns:a16="http://schemas.microsoft.com/office/drawing/2014/main" id="{43B4F476-83C7-4BFC-AB8B-FAF47C41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KEEP    其他工件和已有研究判断</a:t>
            </a:r>
          </a:p>
        </p:txBody>
      </p:sp>
      <p:sp>
        <p:nvSpPr>
          <p:cNvPr id="10" name="body-260">
            <a:extLst xmlns:a="http://schemas.openxmlformats.org/drawingml/2006/main">
              <a:ext uri="{FF2B5EF4-FFF2-40B4-BE49-F238E27FC236}">
                <a16:creationId xmlns:a16="http://schemas.microsoft.com/office/drawing/2014/main" id="{5C98944C-08B9-4C11-AD07-53E156BE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1" name="body-261">
            <a:extLst xmlns:a="http://schemas.openxmlformats.org/drawingml/2006/main">
              <a:ext uri="{FF2B5EF4-FFF2-40B4-BE49-F238E27FC236}">
                <a16:creationId xmlns:a16="http://schemas.microsoft.com/office/drawing/2014/main" id="{F06D5CD6-C05B-414C-80B1-B3884DE0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AFTER   展示实际 diff，等待核对</a:t>
            </a:r>
          </a:p>
        </p:txBody>
      </p:sp>
      <p:sp>
        <p:nvSpPr>
          <p:cNvPr id="12" name="body-262">
            <a:extLst xmlns:a="http://schemas.openxmlformats.org/drawingml/2006/main">
              <a:ext uri="{FF2B5EF4-FFF2-40B4-BE49-F238E27FC236}">
                <a16:creationId xmlns:a16="http://schemas.microsoft.com/office/drawing/2014/main" id="{0E23377C-72C1-4DD1-A9CF-0BC0609D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028825"/>
            <a:ext cx="28860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本轮授权增量</a:t>
            </a:r>
          </a:p>
        </p:txBody>
      </p:sp>
      <p:sp>
        <p:nvSpPr>
          <p:cNvPr id="13" name="body-263">
            <a:extLst xmlns:a="http://schemas.openxmlformats.org/drawingml/2006/main">
              <a:ext uri="{FF2B5EF4-FFF2-40B4-BE49-F238E27FC236}">
                <a16:creationId xmlns:a16="http://schemas.microsoft.com/office/drawing/2014/main" id="{582A44D4-E425-45EC-AFED-D6C2C092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771775"/>
            <a:ext cx="28860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一份文件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一个段落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一次获批修改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441EA80-7647-4C45-80DC-5ACB1CB6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和日志核对实际变化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92989BE-76EE-48C2-BAB9-F0F6F3C0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body-264">
            <a:extLst xmlns:a="http://schemas.openxmlformats.org/drawingml/2006/main">
              <a:ext uri="{FF2B5EF4-FFF2-40B4-BE49-F238E27FC236}">
                <a16:creationId xmlns:a16="http://schemas.microsoft.com/office/drawing/2014/main" id="{8BBFB7BA-3A0A-4CCC-B42C-B5464E6E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课堂构造的修改</a:t>
            </a:r>
          </a:p>
        </p:txBody>
      </p:sp>
      <p:sp>
        <p:nvSpPr>
          <p:cNvPr id="5" name="body-265">
            <a:extLst xmlns:a="http://schemas.openxmlformats.org/drawingml/2006/main">
              <a:ext uri="{FF2B5EF4-FFF2-40B4-BE49-F238E27FC236}">
                <a16:creationId xmlns:a16="http://schemas.microsoft.com/office/drawing/2014/main" id="{A149901B-AA18-4709-A842-37A7856A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6584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6" name="rule-266">
            <a:extLst xmlns:a="http://schemas.openxmlformats.org/drawingml/2006/main">
              <a:ext uri="{FF2B5EF4-FFF2-40B4-BE49-F238E27FC236}">
                <a16:creationId xmlns:a16="http://schemas.microsoft.com/office/drawing/2014/main" id="{8B3CBCB6-4FED-45F9-8191-98015A39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267">
            <a:extLst xmlns:a="http://schemas.openxmlformats.org/drawingml/2006/main">
              <a:ext uri="{FF2B5EF4-FFF2-40B4-BE49-F238E27FC236}">
                <a16:creationId xmlns:a16="http://schemas.microsoft.com/office/drawing/2014/main" id="{BA7EEB34-C579-4D1C-A733-BDFA5DF3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−  阅读卡能消除摘要遗漏。</a:t>
            </a:r>
          </a:p>
        </p:txBody>
      </p:sp>
      <p:sp>
        <p:nvSpPr>
          <p:cNvPr id="8" name="body-268">
            <a:extLst xmlns:a="http://schemas.openxmlformats.org/drawingml/2006/main">
              <a:ext uri="{FF2B5EF4-FFF2-40B4-BE49-F238E27FC236}">
                <a16:creationId xmlns:a16="http://schemas.microsoft.com/office/drawing/2014/main" id="{6FC86BA4-A636-40FF-8F25-8C9E4AD5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09728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+  在公开计算机论文阅读任务中，检验阅读卡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    是否降低限定条件遗漏率。</a:t>
            </a:r>
          </a:p>
        </p:txBody>
      </p:sp>
      <p:sp>
        <p:nvSpPr>
          <p:cNvPr id="9" name="body-269">
            <a:extLst xmlns:a="http://schemas.openxmlformats.org/drawingml/2006/main">
              <a:ext uri="{FF2B5EF4-FFF2-40B4-BE49-F238E27FC236}">
                <a16:creationId xmlns:a16="http://schemas.microsoft.com/office/drawing/2014/main" id="{BF029EB3-CECE-470A-BB33-45AF6135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采纳理由</a:t>
            </a:r>
          </a:p>
        </p:txBody>
      </p:sp>
      <p:sp>
        <p:nvSpPr>
          <p:cNvPr id="10" name="body-270">
            <a:extLst xmlns:a="http://schemas.openxmlformats.org/drawingml/2006/main">
              <a:ext uri="{FF2B5EF4-FFF2-40B4-BE49-F238E27FC236}">
                <a16:creationId xmlns:a16="http://schemas.microsoft.com/office/drawing/2014/main" id="{92D5B96A-2F16-46D7-BF49-B12DC34F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514850"/>
            <a:ext cx="86391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限定研究对象，把承诺改成可检验的问题。</a:t>
            </a:r>
          </a:p>
        </p:txBody>
      </p:sp>
      <p:sp>
        <p:nvSpPr>
          <p:cNvPr id="11" name="rule-271">
            <a:extLst xmlns:a="http://schemas.openxmlformats.org/drawingml/2006/main">
              <a:ext uri="{FF2B5EF4-FFF2-40B4-BE49-F238E27FC236}">
                <a16:creationId xmlns:a16="http://schemas.microsoft.com/office/drawing/2014/main" id="{15949C44-E159-4A25-956C-F25ABE84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272">
            <a:extLst xmlns:a="http://schemas.openxmlformats.org/drawingml/2006/main">
              <a:ext uri="{FF2B5EF4-FFF2-40B4-BE49-F238E27FC236}">
                <a16:creationId xmlns:a16="http://schemas.microsoft.com/office/drawing/2014/main" id="{D00ED0B8-768A-4A91-9BB6-C7F9D98C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人工核验</a:t>
            </a:r>
          </a:p>
        </p:txBody>
      </p:sp>
      <p:sp>
        <p:nvSpPr>
          <p:cNvPr id="13" name="body-273">
            <a:extLst xmlns:a="http://schemas.openxmlformats.org/drawingml/2006/main">
              <a:ext uri="{FF2B5EF4-FFF2-40B4-BE49-F238E27FC236}">
                <a16:creationId xmlns:a16="http://schemas.microsoft.com/office/drawing/2014/main" id="{7BC1A2A5-2C22-4F45-8F80-63C7EBE4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5238750"/>
            <a:ext cx="86391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核对研究问题段的 diff，其他文件没有变化。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BF05B8-E3AF-4D8D-8D89-B4021F42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失败后的恢复与记录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C8FEE4E-1A91-4844-9EAC-112CFA5E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body-274">
            <a:extLst xmlns:a="http://schemas.openxmlformats.org/drawingml/2006/main">
              <a:ext uri="{FF2B5EF4-FFF2-40B4-BE49-F238E27FC236}">
                <a16:creationId xmlns:a16="http://schemas.microsoft.com/office/drawing/2014/main" id="{F359C56F-701E-473A-8E7C-A8F05C91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同一演示的失败分支</a:t>
            </a:r>
          </a:p>
        </p:txBody>
      </p:sp>
      <p:sp>
        <p:nvSpPr>
          <p:cNvPr id="5" name="body-275">
            <a:extLst xmlns:a="http://schemas.openxmlformats.org/drawingml/2006/main">
              <a:ext uri="{FF2B5EF4-FFF2-40B4-BE49-F238E27FC236}">
                <a16:creationId xmlns:a16="http://schemas.microsoft.com/office/drawing/2014/main" id="{4EBDAB17-49F5-4A91-B35D-9559F285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如果 Agent 改了未获批的段落</a:t>
            </a:r>
          </a:p>
        </p:txBody>
      </p:sp>
      <p:sp>
        <p:nvSpPr>
          <p:cNvPr id="6" name="node-276">
            <a:extLst xmlns:a="http://schemas.openxmlformats.org/drawingml/2006/main">
              <a:ext uri="{FF2B5EF4-FFF2-40B4-BE49-F238E27FC236}">
                <a16:creationId xmlns:a16="http://schemas.microsoft.com/office/drawing/2014/main" id="{C0876068-F80A-4C38-B614-67D13C3C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停止继续写入</a:t>
            </a:r>
          </a:p>
        </p:txBody>
      </p:sp>
      <p:sp>
        <p:nvSpPr>
          <p:cNvPr id="7" name="node-277">
            <a:extLst xmlns:a="http://schemas.openxmlformats.org/drawingml/2006/main">
              <a:ext uri="{FF2B5EF4-FFF2-40B4-BE49-F238E27FC236}">
                <a16:creationId xmlns:a16="http://schemas.microsoft.com/office/drawing/2014/main" id="{463CB262-7908-4F0C-87F5-532A113F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098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保留失败记录</a:t>
            </a:r>
          </a:p>
        </p:txBody>
      </p:sp>
      <p:sp>
        <p:nvSpPr>
          <p:cNvPr id="8" name="node-278">
            <a:extLst xmlns:a="http://schemas.openxmlformats.org/drawingml/2006/main">
              <a:ext uri="{FF2B5EF4-FFF2-40B4-BE49-F238E27FC236}">
                <a16:creationId xmlns:a16="http://schemas.microsoft.com/office/drawing/2014/main" id="{07C3B852-C9AB-43C9-8D44-6280D1F7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收窄任务重试</a:t>
            </a:r>
          </a:p>
        </p:txBody>
      </p:sp>
      <p:sp>
        <p:nvSpPr>
          <p:cNvPr id="9" name="node-279">
            <a:extLst xmlns:a="http://schemas.openxmlformats.org/drawingml/2006/main">
              <a:ext uri="{FF2B5EF4-FFF2-40B4-BE49-F238E27FC236}">
                <a16:creationId xmlns:a16="http://schemas.microsoft.com/office/drawing/2014/main" id="{B0307644-CB90-4DA6-BD5B-3E8AEF7F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098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重新核对 diff</a:t>
            </a:r>
          </a:p>
        </p:txBody>
      </p:sp>
      <p:cxnSp>
        <p:nvCxnSpPr>
          <p:cNvPr id="36" name="edge-280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933700" y="31718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7" name="edge-281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10250" y="31718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8" name="edge-282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686800" y="31718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283">
            <a:extLst xmlns:a="http://schemas.openxmlformats.org/drawingml/2006/main">
              <a:ext uri="{FF2B5EF4-FFF2-40B4-BE49-F238E27FC236}">
                <a16:creationId xmlns:a16="http://schemas.microsoft.com/office/drawing/2014/main" id="{F1620370-BC65-47B0-A0C6-DC43A50A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防止错误扩大</a:t>
            </a:r>
          </a:p>
        </p:txBody>
      </p:sp>
      <p:sp>
        <p:nvSpPr>
          <p:cNvPr id="14" name="body-284">
            <a:extLst xmlns:a="http://schemas.openxmlformats.org/drawingml/2006/main">
              <a:ext uri="{FF2B5EF4-FFF2-40B4-BE49-F238E27FC236}">
                <a16:creationId xmlns:a16="http://schemas.microsoft.com/office/drawing/2014/main" id="{45E98A94-9B2E-4204-BDF3-05C9BCFA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71925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记录输入、错误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与实际改动范围</a:t>
            </a:r>
          </a:p>
        </p:txBody>
      </p:sp>
      <p:sp>
        <p:nvSpPr>
          <p:cNvPr id="15" name="body-285">
            <a:extLst xmlns:a="http://schemas.openxmlformats.org/drawingml/2006/main">
              <a:ext uri="{FF2B5EF4-FFF2-40B4-BE49-F238E27FC236}">
                <a16:creationId xmlns:a16="http://schemas.microsoft.com/office/drawing/2014/main" id="{1987590D-3C2D-4B54-9BB9-1855E0C6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71925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恢复已知版本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重申目标段落</a:t>
            </a:r>
          </a:p>
        </p:txBody>
      </p:sp>
      <p:sp>
        <p:nvSpPr>
          <p:cNvPr id="16" name="body-286">
            <a:extLst xmlns:a="http://schemas.openxmlformats.org/drawingml/2006/main">
              <a:ext uri="{FF2B5EF4-FFF2-40B4-BE49-F238E27FC236}">
                <a16:creationId xmlns:a16="http://schemas.microsoft.com/office/drawing/2014/main" id="{1A72C00C-B7B1-450A-99E7-3A4EA366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71925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再次检查结果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与其他文件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9AEBA67-92F5-42E9-9AE5-AC1DD45F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一个可留下证据的小问题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CC05A2-8957-48A4-B138-9986B7D4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body-287">
            <a:extLst xmlns:a="http://schemas.openxmlformats.org/drawingml/2006/main">
              <a:ext uri="{FF2B5EF4-FFF2-40B4-BE49-F238E27FC236}">
                <a16:creationId xmlns:a16="http://schemas.microsoft.com/office/drawing/2014/main" id="{520CDB34-CC05-40D8-A857-919972A8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从你当前的一个不确定性开始</a:t>
            </a:r>
          </a:p>
        </p:txBody>
      </p:sp>
      <p:sp>
        <p:nvSpPr>
          <p:cNvPr id="5" name="body-288">
            <a:extLst xmlns:a="http://schemas.openxmlformats.org/drawingml/2006/main">
              <a:ext uri="{FF2B5EF4-FFF2-40B4-BE49-F238E27FC236}">
                <a16:creationId xmlns:a16="http://schemas.microsoft.com/office/drawing/2014/main" id="{67FE360B-FDD2-4A7E-ABA2-38DC88A5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兴趣</a:t>
            </a:r>
          </a:p>
        </p:txBody>
      </p:sp>
      <p:sp>
        <p:nvSpPr>
          <p:cNvPr id="6" name="body-289">
            <a:extLst xmlns:a="http://schemas.openxmlformats.org/drawingml/2006/main">
              <a:ext uri="{FF2B5EF4-FFF2-40B4-BE49-F238E27FC236}">
                <a16:creationId xmlns:a16="http://schemas.microsoft.com/office/drawing/2014/main" id="{C575D66F-1BC5-4EF7-851F-FEBA477E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162175"/>
            <a:ext cx="8258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我正在关注什么研究问题？</a:t>
            </a:r>
          </a:p>
        </p:txBody>
      </p:sp>
      <p:sp>
        <p:nvSpPr>
          <p:cNvPr id="7" name="rule-290">
            <a:extLst xmlns:a="http://schemas.openxmlformats.org/drawingml/2006/main">
              <a:ext uri="{FF2B5EF4-FFF2-40B4-BE49-F238E27FC236}">
                <a16:creationId xmlns:a16="http://schemas.microsoft.com/office/drawing/2014/main" id="{DBACDA9B-9B3E-4D22-B0B3-1D3E3776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291">
            <a:extLst xmlns:a="http://schemas.openxmlformats.org/drawingml/2006/main">
              <a:ext uri="{FF2B5EF4-FFF2-40B4-BE49-F238E27FC236}">
                <a16:creationId xmlns:a16="http://schemas.microsoft.com/office/drawing/2014/main" id="{FE5E5B96-1391-4C25-9D88-45A63E78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不确定性</a:t>
            </a:r>
          </a:p>
        </p:txBody>
      </p:sp>
      <p:sp>
        <p:nvSpPr>
          <p:cNvPr id="9" name="body-292">
            <a:extLst xmlns:a="http://schemas.openxmlformats.org/drawingml/2006/main">
              <a:ext uri="{FF2B5EF4-FFF2-40B4-BE49-F238E27FC236}">
                <a16:creationId xmlns:a16="http://schemas.microsoft.com/office/drawing/2014/main" id="{743F62F0-223C-4086-A401-7D4A4AA0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143250"/>
            <a:ext cx="8258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哪个概念、范围或判断尚不清楚？</a:t>
            </a:r>
          </a:p>
        </p:txBody>
      </p:sp>
      <p:sp>
        <p:nvSpPr>
          <p:cNvPr id="10" name="rule-293">
            <a:extLst xmlns:a="http://schemas.openxmlformats.org/drawingml/2006/main">
              <a:ext uri="{FF2B5EF4-FFF2-40B4-BE49-F238E27FC236}">
                <a16:creationId xmlns:a16="http://schemas.microsoft.com/office/drawing/2014/main" id="{D0D6A51A-FCE2-4F80-894F-3AE15911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294">
            <a:extLst xmlns:a="http://schemas.openxmlformats.org/drawingml/2006/main">
              <a:ext uri="{FF2B5EF4-FFF2-40B4-BE49-F238E27FC236}">
                <a16:creationId xmlns:a16="http://schemas.microsoft.com/office/drawing/2014/main" id="{D80F82E3-1445-4BFF-BCCA-30E89760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最小动作</a:t>
            </a:r>
          </a:p>
        </p:txBody>
      </p:sp>
      <p:sp>
        <p:nvSpPr>
          <p:cNvPr id="12" name="body-295">
            <a:extLst xmlns:a="http://schemas.openxmlformats.org/drawingml/2006/main">
              <a:ext uri="{FF2B5EF4-FFF2-40B4-BE49-F238E27FC236}">
                <a16:creationId xmlns:a16="http://schemas.microsoft.com/office/drawing/2014/main" id="{DF7A4CCD-7527-4F65-82BF-A69224D8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124325"/>
            <a:ext cx="8258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今天只修改问题定义中的一处。</a:t>
            </a:r>
          </a:p>
        </p:txBody>
      </p:sp>
      <p:sp>
        <p:nvSpPr>
          <p:cNvPr id="13" name="body-296">
            <a:extLst xmlns:a="http://schemas.openxmlformats.org/drawingml/2006/main">
              <a:ext uri="{FF2B5EF4-FFF2-40B4-BE49-F238E27FC236}">
                <a16:creationId xmlns:a16="http://schemas.microsoft.com/office/drawing/2014/main" id="{8EC0A137-D2AD-4CB0-88BB-83FD5675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备用题：阅读卡能否减少摘要中的限定条件遗漏？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20C75B-15CD-456D-BF64-CAF062D9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练习一：最小变更与 diff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E86DF5-04A7-41B3-A739-3CBDECC0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body-297">
            <a:extLst xmlns:a="http://schemas.openxmlformats.org/drawingml/2006/main">
              <a:ext uri="{FF2B5EF4-FFF2-40B4-BE49-F238E27FC236}">
                <a16:creationId xmlns:a16="http://schemas.microsoft.com/office/drawing/2014/main" id="{6C8BC57D-D858-4766-8918-699DD847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509587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修改问题定义中的一处</a:t>
            </a:r>
          </a:p>
        </p:txBody>
      </p:sp>
      <p:sp>
        <p:nvSpPr>
          <p:cNvPr id="5" name="body-298">
            <a:extLst xmlns:a="http://schemas.openxmlformats.org/drawingml/2006/main">
              <a:ext uri="{FF2B5EF4-FFF2-40B4-BE49-F238E27FC236}">
                <a16:creationId xmlns:a16="http://schemas.microsoft.com/office/drawing/2014/main" id="{6B17B288-84F6-44EF-879A-32C162B7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524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6" name="body-299">
            <a:extLst xmlns:a="http://schemas.openxmlformats.org/drawingml/2006/main">
              <a:ext uri="{FF2B5EF4-FFF2-40B4-BE49-F238E27FC236}">
                <a16:creationId xmlns:a16="http://schemas.microsoft.com/office/drawing/2014/main" id="{1B0B1D43-8BDD-4279-A5D6-64EA81FC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09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body-300">
            <a:extLst xmlns:a="http://schemas.openxmlformats.org/drawingml/2006/main">
              <a:ext uri="{FF2B5EF4-FFF2-40B4-BE49-F238E27FC236}">
                <a16:creationId xmlns:a16="http://schemas.microsoft.com/office/drawing/2014/main" id="{EE8187CB-0654-490B-96BD-A9FE38D0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524125"/>
            <a:ext cx="3924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只读审查，提出建议</a:t>
            </a:r>
          </a:p>
        </p:txBody>
      </p:sp>
      <p:sp>
        <p:nvSpPr>
          <p:cNvPr id="8" name="rule-301">
            <a:extLst xmlns:a="http://schemas.openxmlformats.org/drawingml/2006/main">
              <a:ext uri="{FF2B5EF4-FFF2-40B4-BE49-F238E27FC236}">
                <a16:creationId xmlns:a16="http://schemas.microsoft.com/office/drawing/2014/main" id="{5D2C2E38-B3E9-48A7-B3C6-95BC8D78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4524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9" name="body-302">
            <a:extLst xmlns:a="http://schemas.openxmlformats.org/drawingml/2006/main">
              <a:ext uri="{FF2B5EF4-FFF2-40B4-BE49-F238E27FC236}">
                <a16:creationId xmlns:a16="http://schemas.microsoft.com/office/drawing/2014/main" id="{5963B709-E32C-4D45-95D3-50962CE6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409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body-303">
            <a:extLst xmlns:a="http://schemas.openxmlformats.org/drawingml/2006/main">
              <a:ext uri="{FF2B5EF4-FFF2-40B4-BE49-F238E27FC236}">
                <a16:creationId xmlns:a16="http://schemas.microsoft.com/office/drawing/2014/main" id="{B86B62D8-DBB5-4265-A7A9-6DA5A194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248025"/>
            <a:ext cx="3924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选择一条，写明理由</a:t>
            </a:r>
          </a:p>
        </p:txBody>
      </p:sp>
      <p:sp>
        <p:nvSpPr>
          <p:cNvPr id="11" name="rule-304">
            <a:extLst xmlns:a="http://schemas.openxmlformats.org/drawingml/2006/main">
              <a:ext uri="{FF2B5EF4-FFF2-40B4-BE49-F238E27FC236}">
                <a16:creationId xmlns:a16="http://schemas.microsoft.com/office/drawing/2014/main" id="{7EEB19AF-A1FB-47C6-AA30-BEEBF84F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524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305">
            <a:extLst xmlns:a="http://schemas.openxmlformats.org/drawingml/2006/main">
              <a:ext uri="{FF2B5EF4-FFF2-40B4-BE49-F238E27FC236}">
                <a16:creationId xmlns:a16="http://schemas.microsoft.com/office/drawing/2014/main" id="{6D777278-6C80-4417-B23D-332567E3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09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body-306">
            <a:extLst xmlns:a="http://schemas.openxmlformats.org/drawingml/2006/main">
              <a:ext uri="{FF2B5EF4-FFF2-40B4-BE49-F238E27FC236}">
                <a16:creationId xmlns:a16="http://schemas.microsoft.com/office/drawing/2014/main" id="{ADD523E7-FBE5-4357-BA3A-8F8B9BB2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971925"/>
            <a:ext cx="3924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按获批范围写回</a:t>
            </a:r>
          </a:p>
        </p:txBody>
      </p:sp>
      <p:sp>
        <p:nvSpPr>
          <p:cNvPr id="14" name="rule-307">
            <a:extLst xmlns:a="http://schemas.openxmlformats.org/drawingml/2006/main">
              <a:ext uri="{FF2B5EF4-FFF2-40B4-BE49-F238E27FC236}">
                <a16:creationId xmlns:a16="http://schemas.microsoft.com/office/drawing/2014/main" id="{5A0335F2-FBF6-4A2E-9EAD-32F0F7A4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4524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body-308">
            <a:extLst xmlns:a="http://schemas.openxmlformats.org/drawingml/2006/main">
              <a:ext uri="{FF2B5EF4-FFF2-40B4-BE49-F238E27FC236}">
                <a16:creationId xmlns:a16="http://schemas.microsoft.com/office/drawing/2014/main" id="{12F2FA3A-DF8C-4D73-957D-3411B97B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409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body-309">
            <a:extLst xmlns:a="http://schemas.openxmlformats.org/drawingml/2006/main">
              <a:ext uri="{FF2B5EF4-FFF2-40B4-BE49-F238E27FC236}">
                <a16:creationId xmlns:a16="http://schemas.microsoft.com/office/drawing/2014/main" id="{174194FF-6818-4966-8998-8D90F219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695825"/>
            <a:ext cx="3924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查看实际 diff</a:t>
            </a:r>
          </a:p>
        </p:txBody>
      </p:sp>
      <p:sp>
        <p:nvSpPr>
          <p:cNvPr id="17" name="body-310">
            <a:extLst xmlns:a="http://schemas.openxmlformats.org/drawingml/2006/main">
              <a:ext uri="{FF2B5EF4-FFF2-40B4-BE49-F238E27FC236}">
                <a16:creationId xmlns:a16="http://schemas.microsoft.com/office/drawing/2014/main" id="{CD1EAA0C-DD3A-4F47-8D4E-6A3BE19B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028700"/>
            <a:ext cx="561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课堂构造完成示例</a:t>
            </a:r>
          </a:p>
        </p:txBody>
      </p:sp>
      <p:sp>
        <p:nvSpPr>
          <p:cNvPr id="18" name="rule-311">
            <a:extLst xmlns:a="http://schemas.openxmlformats.org/drawingml/2006/main">
              <a:ext uri="{FF2B5EF4-FFF2-40B4-BE49-F238E27FC236}">
                <a16:creationId xmlns:a16="http://schemas.microsoft.com/office/drawing/2014/main" id="{D4E0EBDC-9625-4553-B355-E584208E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71625"/>
            <a:ext cx="561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9" name="body-312">
            <a:extLst xmlns:a="http://schemas.openxmlformats.org/drawingml/2006/main">
              <a:ext uri="{FF2B5EF4-FFF2-40B4-BE49-F238E27FC236}">
                <a16:creationId xmlns:a16="http://schemas.microsoft.com/office/drawing/2014/main" id="{B7AFDFFF-A982-4767-9B2B-3BABB448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43100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修改前</a:t>
            </a:r>
          </a:p>
        </p:txBody>
      </p:sp>
      <p:sp>
        <p:nvSpPr>
          <p:cNvPr id="20" name="body-313">
            <a:extLst xmlns:a="http://schemas.openxmlformats.org/drawingml/2006/main">
              <a:ext uri="{FF2B5EF4-FFF2-40B4-BE49-F238E27FC236}">
                <a16:creationId xmlns:a16="http://schemas.microsoft.com/office/drawing/2014/main" id="{08F779CF-7F7B-4BD0-BE2E-A8F4DE17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9825"/>
            <a:ext cx="5619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阅读卡能消除摘要遗漏。</a:t>
            </a:r>
          </a:p>
        </p:txBody>
      </p:sp>
      <p:sp>
        <p:nvSpPr>
          <p:cNvPr id="21" name="body-314">
            <a:extLst xmlns:a="http://schemas.openxmlformats.org/drawingml/2006/main">
              <a:ext uri="{FF2B5EF4-FFF2-40B4-BE49-F238E27FC236}">
                <a16:creationId xmlns:a16="http://schemas.microsoft.com/office/drawing/2014/main" id="{2250920F-7166-44AE-B83A-54F24CA0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1947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修改后</a:t>
            </a:r>
          </a:p>
        </p:txBody>
      </p:sp>
      <p:sp>
        <p:nvSpPr>
          <p:cNvPr id="22" name="body-315">
            <a:extLst xmlns:a="http://schemas.openxmlformats.org/drawingml/2006/main">
              <a:ext uri="{FF2B5EF4-FFF2-40B4-BE49-F238E27FC236}">
                <a16:creationId xmlns:a16="http://schemas.microsoft.com/office/drawing/2014/main" id="{4EC5A798-E3EB-4DF0-8CE2-964DDB92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86200"/>
            <a:ext cx="5619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检验阅读卡是否降低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公开计算机论文摘要中的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限定条件遗漏率。</a:t>
            </a:r>
          </a:p>
        </p:txBody>
      </p:sp>
      <p:sp>
        <p:nvSpPr>
          <p:cNvPr id="23" name="body-316">
            <a:extLst xmlns:a="http://schemas.openxmlformats.org/drawingml/2006/main">
              <a:ext uri="{FF2B5EF4-FFF2-40B4-BE49-F238E27FC236}">
                <a16:creationId xmlns:a16="http://schemas.microsoft.com/office/drawing/2014/main" id="{ACEB9D1E-5438-4D2B-919E-04F5BB7D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完成标志：一处人工认可的修改，以及对应 diff。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5E4F40-E15A-4145-BE75-37F12AB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练习二：使用记录与阶段定位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53CA39-D316-4047-B5C4-32874626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body-317">
            <a:extLst xmlns:a="http://schemas.openxmlformats.org/drawingml/2006/main">
              <a:ext uri="{FF2B5EF4-FFF2-40B4-BE49-F238E27FC236}">
                <a16:creationId xmlns:a16="http://schemas.microsoft.com/office/drawing/2014/main" id="{0177C90A-BA6D-4A85-AE02-35A6D5F9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给刚才的修改补一条可追溯记录</a:t>
            </a:r>
          </a:p>
        </p:txBody>
      </p:sp>
      <p:graphicFrame>
        <p:nvGraphicFramePr>
          <p:cNvPr id="11" name="native-table-318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0325"/>
                <a:gridCol w="8372475"/>
              </a:tblGrid>
              <a:tr h="52387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课堂构造填写示例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建议与输入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给定当前问题段，建议收窄研究对象。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采纳决定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采纳收窄建议，保留“是否有效”的不确定性。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核验方法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核对目标段 diff，确认未修改其他文件。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阶段与下一步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 1：问题定义。先明确“遗漏”的判定标准。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319">
            <a:extLst xmlns:a="http://schemas.openxmlformats.org/drawingml/2006/main">
              <a:ext uri="{FF2B5EF4-FFF2-40B4-BE49-F238E27FC236}">
                <a16:creationId xmlns:a16="http://schemas.microsoft.com/office/drawing/2014/main" id="{BE10101D-5844-4AC2-843D-7DB29774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无模型时记录“未执行”，写明人工审查与修改。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F092265-2721-44E3-8192-46F0DA29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临时结对与作者决定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D6DED02-35EC-4859-8ECD-BCF1FCE4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" name="body-320">
            <a:extLst xmlns:a="http://schemas.openxmlformats.org/drawingml/2006/main">
              <a:ext uri="{FF2B5EF4-FFF2-40B4-BE49-F238E27FC236}">
                <a16:creationId xmlns:a16="http://schemas.microsoft.com/office/drawing/2014/main" id="{93D046B2-E607-4552-9377-943820FA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交换问题定义、diff 与使用记录</a:t>
            </a:r>
          </a:p>
        </p:txBody>
      </p:sp>
      <p:sp>
        <p:nvSpPr>
          <p:cNvPr id="5" name="node-321">
            <a:extLst xmlns:a="http://schemas.openxmlformats.org/drawingml/2006/main">
              <a:ext uri="{FF2B5EF4-FFF2-40B4-BE49-F238E27FC236}">
                <a16:creationId xmlns:a16="http://schemas.microsoft.com/office/drawing/2014/main" id="{6B5DAA06-B2C4-44C2-B988-C3AC824B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181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作者解释修改</a:t>
            </a:r>
          </a:p>
        </p:txBody>
      </p:sp>
      <p:sp>
        <p:nvSpPr>
          <p:cNvPr id="6" name="node-322">
            <a:extLst xmlns:a="http://schemas.openxmlformats.org/drawingml/2006/main">
              <a:ext uri="{FF2B5EF4-FFF2-40B4-BE49-F238E27FC236}">
                <a16:creationId xmlns:a16="http://schemas.microsoft.com/office/drawing/2014/main" id="{9960ED89-2807-4766-9B5A-C2EE49F3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43200"/>
            <a:ext cx="3181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同伴指出一个缺口</a:t>
            </a:r>
          </a:p>
        </p:txBody>
      </p:sp>
      <p:sp>
        <p:nvSpPr>
          <p:cNvPr id="7" name="node-323">
            <a:extLst xmlns:a="http://schemas.openxmlformats.org/drawingml/2006/main">
              <a:ext uri="{FF2B5EF4-FFF2-40B4-BE49-F238E27FC236}">
                <a16:creationId xmlns:a16="http://schemas.microsoft.com/office/drawing/2014/main" id="{A5B7B88A-21EE-4AF9-A971-4474D521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3181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作者记录决定</a:t>
            </a:r>
          </a:p>
        </p:txBody>
      </p:sp>
      <p:cxnSp>
        <p:nvCxnSpPr>
          <p:cNvPr id="28" name="edge-324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90950" y="310515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9" name="edge-325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86675" y="310515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326">
            <a:extLst xmlns:a="http://schemas.openxmlformats.org/drawingml/2006/main">
              <a:ext uri="{FF2B5EF4-FFF2-40B4-BE49-F238E27FC236}">
                <a16:creationId xmlns:a16="http://schemas.microsoft.com/office/drawing/2014/main" id="{1D27D7E2-024B-4EAB-890F-95BA8DDF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31813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为什么作这处修改？</a:t>
            </a:r>
          </a:p>
        </p:txBody>
      </p:sp>
      <p:sp>
        <p:nvSpPr>
          <p:cNvPr id="11" name="body-327">
            <a:extLst xmlns:a="http://schemas.openxmlformats.org/drawingml/2006/main">
              <a:ext uri="{FF2B5EF4-FFF2-40B4-BE49-F238E27FC236}">
                <a16:creationId xmlns:a16="http://schemas.microsoft.com/office/drawing/2014/main" id="{B114A9B5-8E97-4948-A996-6778653E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31813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哪条理由还无法核对？</a:t>
            </a:r>
          </a:p>
        </p:txBody>
      </p:sp>
      <p:sp>
        <p:nvSpPr>
          <p:cNvPr id="12" name="body-328">
            <a:extLst xmlns:a="http://schemas.openxmlformats.org/drawingml/2006/main">
              <a:ext uri="{FF2B5EF4-FFF2-40B4-BE49-F238E27FC236}">
                <a16:creationId xmlns:a16="http://schemas.microsoft.com/office/drawing/2014/main" id="{014B60B2-A609-43D5-8690-B8A7EC22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905250"/>
            <a:ext cx="31813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采纳、修改或拒绝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并留下具体理由</a:t>
            </a:r>
          </a:p>
        </p:txBody>
      </p:sp>
      <p:sp>
        <p:nvSpPr>
          <p:cNvPr id="13" name="body-329">
            <a:extLst xmlns:a="http://schemas.openxmlformats.org/drawingml/2006/main">
              <a:ext uri="{FF2B5EF4-FFF2-40B4-BE49-F238E27FC236}">
                <a16:creationId xmlns:a16="http://schemas.microsoft.com/office/drawing/2014/main" id="{C826334B-4335-4E5D-9630-8A2D0A13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今天临时互查；第 6 课前确定 3–4 人固定同伴组。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ntent-title">
            <a:extLst xmlns:a="http://schemas.openxmlformats.org/drawingml/2006/main">
              <a:ext uri="{FF2B5EF4-FFF2-40B4-BE49-F238E27FC236}">
                <a16:creationId xmlns:a16="http://schemas.microsoft.com/office/drawing/2014/main" id="{CC811FAB-1FF1-4ADD-9259-D9F2CEF8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857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2" name="content-7">
            <a:extLst xmlns:a="http://schemas.openxmlformats.org/drawingml/2006/main">
              <a:ext uri="{FF2B5EF4-FFF2-40B4-BE49-F238E27FC236}">
                <a16:creationId xmlns:a16="http://schemas.microsoft.com/office/drawing/2014/main" id="{7E6E03BE-76E0-418E-BF9F-5B91C7D3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回到“阅读卡减少遗漏”这条主张</a:t>
            </a:r>
          </a:p>
        </p:txBody>
      </p:sp>
      <p:sp>
        <p:nvSpPr>
          <p:cNvPr id="3" name="process-8">
            <a:extLst xmlns:a="http://schemas.openxmlformats.org/drawingml/2006/main">
              <a:ext uri="{FF2B5EF4-FFF2-40B4-BE49-F238E27FC236}">
                <a16:creationId xmlns:a16="http://schemas.microsoft.com/office/drawing/2014/main" id="{D44ECD33-10DC-46FA-80BE-0E043D03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2507456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4" name="content-9">
            <a:extLst xmlns:a="http://schemas.openxmlformats.org/drawingml/2006/main">
              <a:ext uri="{FF2B5EF4-FFF2-40B4-BE49-F238E27FC236}">
                <a16:creationId xmlns:a16="http://schemas.microsoft.com/office/drawing/2014/main" id="{5E10FFB0-5A3E-4490-BE4F-7E4DC3AF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76550"/>
            <a:ext cx="2297906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评估效果与范围</a:t>
            </a:r>
          </a:p>
        </p:txBody>
      </p:sp>
      <p:sp>
        <p:nvSpPr>
          <p:cNvPr id="5" name="content-10">
            <a:extLst xmlns:a="http://schemas.openxmlformats.org/drawingml/2006/main">
              <a:ext uri="{FF2B5EF4-FFF2-40B4-BE49-F238E27FC236}">
                <a16:creationId xmlns:a16="http://schemas.microsoft.com/office/drawing/2014/main" id="{4A5D0891-87E8-4FAE-98DA-DDD36B95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56" y="2990850"/>
            <a:ext cx="3143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6" name="process-11">
            <a:extLst xmlns:a="http://schemas.openxmlformats.org/drawingml/2006/main">
              <a:ext uri="{FF2B5EF4-FFF2-40B4-BE49-F238E27FC236}">
                <a16:creationId xmlns:a16="http://schemas.microsoft.com/office/drawing/2014/main" id="{DDCDA62F-9062-4883-9698-9FDC5741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381" y="2790825"/>
            <a:ext cx="2507456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7" name="content-12">
            <a:extLst xmlns:a="http://schemas.openxmlformats.org/drawingml/2006/main">
              <a:ext uri="{FF2B5EF4-FFF2-40B4-BE49-F238E27FC236}">
                <a16:creationId xmlns:a16="http://schemas.microsoft.com/office/drawing/2014/main" id="{FAF589FB-E5C0-4AA6-8DED-7070AF90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156" y="2876550"/>
            <a:ext cx="2297906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定位证据缺口</a:t>
            </a:r>
          </a:p>
        </p:txBody>
      </p:sp>
      <p:sp>
        <p:nvSpPr>
          <p:cNvPr id="8" name="content-13">
            <a:extLst xmlns:a="http://schemas.openxmlformats.org/drawingml/2006/main">
              <a:ext uri="{FF2B5EF4-FFF2-40B4-BE49-F238E27FC236}">
                <a16:creationId xmlns:a16="http://schemas.microsoft.com/office/drawing/2014/main" id="{D569A777-8DCF-4C0F-AB0F-B0021039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990850"/>
            <a:ext cx="3143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process-14">
            <a:extLst xmlns:a="http://schemas.openxmlformats.org/drawingml/2006/main">
              <a:ext uri="{FF2B5EF4-FFF2-40B4-BE49-F238E27FC236}">
                <a16:creationId xmlns:a16="http://schemas.microsoft.com/office/drawing/2014/main" id="{7286B3E5-C459-4846-BA06-4D917561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2790825"/>
            <a:ext cx="2507456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content-15">
            <a:extLst xmlns:a="http://schemas.openxmlformats.org/drawingml/2006/main">
              <a:ext uri="{FF2B5EF4-FFF2-40B4-BE49-F238E27FC236}">
                <a16:creationId xmlns:a16="http://schemas.microsoft.com/office/drawing/2014/main" id="{5CA3DE69-9C1D-4FF0-9791-6386F2A7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876550"/>
            <a:ext cx="2297906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修改项目文件</a:t>
            </a:r>
          </a:p>
        </p:txBody>
      </p:sp>
      <p:sp>
        <p:nvSpPr>
          <p:cNvPr id="11" name="content-16">
            <a:extLst xmlns:a="http://schemas.openxmlformats.org/drawingml/2006/main">
              <a:ext uri="{FF2B5EF4-FFF2-40B4-BE49-F238E27FC236}">
                <a16:creationId xmlns:a16="http://schemas.microsoft.com/office/drawing/2014/main" id="{6BBBD74F-7CA6-432D-8F0F-54379F70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0619" y="2990850"/>
            <a:ext cx="3143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process-17">
            <a:extLst xmlns:a="http://schemas.openxmlformats.org/drawingml/2006/main">
              <a:ext uri="{FF2B5EF4-FFF2-40B4-BE49-F238E27FC236}">
                <a16:creationId xmlns:a16="http://schemas.microsoft.com/office/drawing/2014/main" id="{549C8AB5-8620-4735-97A8-2D71E13B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4944" y="2790825"/>
            <a:ext cx="2507456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content-18">
            <a:extLst xmlns:a="http://schemas.openxmlformats.org/drawingml/2006/main">
              <a:ext uri="{FF2B5EF4-FFF2-40B4-BE49-F238E27FC236}">
                <a16:creationId xmlns:a16="http://schemas.microsoft.com/office/drawing/2014/main" id="{7E7952B8-2051-4EAA-B555-F6041BBC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2876550"/>
            <a:ext cx="2297906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 diff 与日志</a:t>
            </a:r>
          </a:p>
        </p:txBody>
      </p:sp>
      <p:sp>
        <p:nvSpPr>
          <p:cNvPr id="14" name="content-19">
            <a:extLst xmlns:a="http://schemas.openxmlformats.org/drawingml/2006/main">
              <a:ext uri="{FF2B5EF4-FFF2-40B4-BE49-F238E27FC236}">
                <a16:creationId xmlns:a16="http://schemas.microsoft.com/office/drawing/2014/main" id="{B98FB946-B02E-4ABD-8BCF-1EDC8580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研究者对主张、改动和采用决定负责。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AA3CCB6-FC14-4FB5-8A62-F0F1486B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离场前，核对四项完成证据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19C3383-3EE8-4756-8769-F1AB5397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4" name="body-342">
            <a:extLst xmlns:a="http://schemas.openxmlformats.org/drawingml/2006/main">
              <a:ext uri="{FF2B5EF4-FFF2-40B4-BE49-F238E27FC236}">
                <a16:creationId xmlns:a16="http://schemas.microsoft.com/office/drawing/2014/main" id="{F1729CF5-4389-4046-8F33-E52AFDFB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10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body-343">
            <a:extLst xmlns:a="http://schemas.openxmlformats.org/drawingml/2006/main">
              <a:ext uri="{FF2B5EF4-FFF2-40B4-BE49-F238E27FC236}">
                <a16:creationId xmlns:a16="http://schemas.microsoft.com/office/drawing/2014/main" id="{5835CFEA-87E1-4797-B513-58D8F2B9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33525"/>
            <a:ext cx="9372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一处人工认可的修改</a:t>
            </a:r>
          </a:p>
        </p:txBody>
      </p:sp>
      <p:sp>
        <p:nvSpPr>
          <p:cNvPr id="6" name="rule-344">
            <a:extLst xmlns:a="http://schemas.openxmlformats.org/drawingml/2006/main">
              <a:ext uri="{FF2B5EF4-FFF2-40B4-BE49-F238E27FC236}">
                <a16:creationId xmlns:a16="http://schemas.microsoft.com/office/drawing/2014/main" id="{E086FC09-70B3-49DA-87E7-40E0A254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345">
            <a:extLst xmlns:a="http://schemas.openxmlformats.org/drawingml/2006/main">
              <a:ext uri="{FF2B5EF4-FFF2-40B4-BE49-F238E27FC236}">
                <a16:creationId xmlns:a16="http://schemas.microsoft.com/office/drawing/2014/main" id="{727E0D83-C42E-4A21-9217-023685A3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10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body-346">
            <a:extLst xmlns:a="http://schemas.openxmlformats.org/drawingml/2006/main">
              <a:ext uri="{FF2B5EF4-FFF2-40B4-BE49-F238E27FC236}">
                <a16:creationId xmlns:a16="http://schemas.microsoft.com/office/drawing/2014/main" id="{01CD03B5-FB7E-4EDF-86E3-891A1086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600325"/>
            <a:ext cx="9372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与这处修改对应的 diff</a:t>
            </a:r>
          </a:p>
        </p:txBody>
      </p:sp>
      <p:sp>
        <p:nvSpPr>
          <p:cNvPr id="9" name="rule-347">
            <a:extLst xmlns:a="http://schemas.openxmlformats.org/drawingml/2006/main">
              <a:ext uri="{FF2B5EF4-FFF2-40B4-BE49-F238E27FC236}">
                <a16:creationId xmlns:a16="http://schemas.microsoft.com/office/drawing/2014/main" id="{7A9E185F-F392-4D1D-9DBA-FC8D62F1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348">
            <a:extLst xmlns:a="http://schemas.openxmlformats.org/drawingml/2006/main">
              <a:ext uri="{FF2B5EF4-FFF2-40B4-BE49-F238E27FC236}">
                <a16:creationId xmlns:a16="http://schemas.microsoft.com/office/drawing/2014/main" id="{DB916A8E-2A83-4002-843E-52D4E503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10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body-349">
            <a:extLst xmlns:a="http://schemas.openxmlformats.org/drawingml/2006/main">
              <a:ext uri="{FF2B5EF4-FFF2-40B4-BE49-F238E27FC236}">
                <a16:creationId xmlns:a16="http://schemas.microsoft.com/office/drawing/2014/main" id="{25715E95-C7AC-4EA6-A4FE-2A066EA6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67125"/>
            <a:ext cx="9372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一条说明理由与核验的使用记录</a:t>
            </a:r>
          </a:p>
        </p:txBody>
      </p:sp>
      <p:sp>
        <p:nvSpPr>
          <p:cNvPr id="12" name="rule-350">
            <a:extLst xmlns:a="http://schemas.openxmlformats.org/drawingml/2006/main">
              <a:ext uri="{FF2B5EF4-FFF2-40B4-BE49-F238E27FC236}">
                <a16:creationId xmlns:a16="http://schemas.microsoft.com/office/drawing/2014/main" id="{3EAC3D14-F23D-4647-BBC2-92AF2CBE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3" name="body-351">
            <a:extLst xmlns:a="http://schemas.openxmlformats.org/drawingml/2006/main">
              <a:ext uri="{FF2B5EF4-FFF2-40B4-BE49-F238E27FC236}">
                <a16:creationId xmlns:a16="http://schemas.microsoft.com/office/drawing/2014/main" id="{942FA01F-B68C-4347-94EF-F0BC85C4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10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body-352">
            <a:extLst xmlns:a="http://schemas.openxmlformats.org/drawingml/2006/main">
              <a:ext uri="{FF2B5EF4-FFF2-40B4-BE49-F238E27FC236}">
                <a16:creationId xmlns:a16="http://schemas.microsoft.com/office/drawing/2014/main" id="{AE99A5CE-83ED-40A8-9C25-AF02D554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733925"/>
            <a:ext cx="9372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一个当前不确定性及其阶段位置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11D47F4-173F-4872-927B-4DCB6C2C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课后完善与下一课准备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A3EFDA-6CF1-4479-9701-6009F7DC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4" name="body-353">
            <a:extLst xmlns:a="http://schemas.openxmlformats.org/drawingml/2006/main">
              <a:ext uri="{FF2B5EF4-FFF2-40B4-BE49-F238E27FC236}">
                <a16:creationId xmlns:a16="http://schemas.microsoft.com/office/drawing/2014/main" id="{F918E62A-D88C-4821-9AA6-4C72FD5D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2638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继续完善</a:t>
            </a:r>
          </a:p>
        </p:txBody>
      </p:sp>
      <p:sp>
        <p:nvSpPr>
          <p:cNvPr id="5" name="body-354">
            <a:extLst xmlns:a="http://schemas.openxmlformats.org/drawingml/2006/main">
              <a:ext uri="{FF2B5EF4-FFF2-40B4-BE49-F238E27FC236}">
                <a16:creationId xmlns:a16="http://schemas.microsoft.com/office/drawing/2014/main" id="{EEAB9D8E-96DA-449A-9CED-150316DB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609725"/>
            <a:ext cx="8143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明确问题范围与非例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保留今天的 diff 和使用记录</a:t>
            </a:r>
          </a:p>
        </p:txBody>
      </p:sp>
      <p:sp>
        <p:nvSpPr>
          <p:cNvPr id="6" name="rule-355">
            <a:extLst xmlns:a="http://schemas.openxmlformats.org/drawingml/2006/main">
              <a:ext uri="{FF2B5EF4-FFF2-40B4-BE49-F238E27FC236}">
                <a16:creationId xmlns:a16="http://schemas.microsoft.com/office/drawing/2014/main" id="{EF81EE67-F36C-4A23-A802-8F35B7D2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356">
            <a:extLst xmlns:a="http://schemas.openxmlformats.org/drawingml/2006/main">
              <a:ext uri="{FF2B5EF4-FFF2-40B4-BE49-F238E27FC236}">
                <a16:creationId xmlns:a16="http://schemas.microsoft.com/office/drawing/2014/main" id="{1E052DC2-2847-475F-A7FA-6AD8D5B4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638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阅读与追问</a:t>
            </a:r>
          </a:p>
        </p:txBody>
      </p:sp>
      <p:sp>
        <p:nvSpPr>
          <p:cNvPr id="8" name="body-357">
            <a:extLst xmlns:a="http://schemas.openxmlformats.org/drawingml/2006/main">
              <a:ext uri="{FF2B5EF4-FFF2-40B4-BE49-F238E27FC236}">
                <a16:creationId xmlns:a16="http://schemas.microsoft.com/office/drawing/2014/main" id="{8BF18E3E-8C3F-4369-80C5-4D95CA18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933700"/>
            <a:ext cx="8143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关注问题如何形成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哪些研究判断仍需由人承担</a:t>
            </a:r>
          </a:p>
        </p:txBody>
      </p:sp>
      <p:sp>
        <p:nvSpPr>
          <p:cNvPr id="9" name="rule-358">
            <a:extLst xmlns:a="http://schemas.openxmlformats.org/drawingml/2006/main">
              <a:ext uri="{FF2B5EF4-FFF2-40B4-BE49-F238E27FC236}">
                <a16:creationId xmlns:a16="http://schemas.microsoft.com/office/drawing/2014/main" id="{91C6B636-CE1B-42E4-BB0B-30D9EAE2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359">
            <a:extLst xmlns:a="http://schemas.openxmlformats.org/drawingml/2006/main">
              <a:ext uri="{FF2B5EF4-FFF2-40B4-BE49-F238E27FC236}">
                <a16:creationId xmlns:a16="http://schemas.microsoft.com/office/drawing/2014/main" id="{79556D20-7877-4911-AEC6-0628706A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2638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准备第 2 课</a:t>
            </a:r>
          </a:p>
        </p:txBody>
      </p:sp>
      <p:sp>
        <p:nvSpPr>
          <p:cNvPr id="11" name="body-360">
            <a:extLst xmlns:a="http://schemas.openxmlformats.org/drawingml/2006/main">
              <a:ext uri="{FF2B5EF4-FFF2-40B4-BE49-F238E27FC236}">
                <a16:creationId xmlns:a16="http://schemas.microsoft.com/office/drawing/2014/main" id="{79FEF8BA-FE0D-4EDE-A567-FE2B9514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57675"/>
            <a:ext cx="8143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给当前动作补材料、权限与披露边界</a:t>
            </a:r>
          </a:p>
        </p:txBody>
      </p:sp>
      <p:sp>
        <p:nvSpPr>
          <p:cNvPr id="12" name="body-361">
            <a:extLst xmlns:a="http://schemas.openxmlformats.org/drawingml/2006/main">
              <a:ext uri="{FF2B5EF4-FFF2-40B4-BE49-F238E27FC236}">
                <a16:creationId xmlns:a16="http://schemas.microsoft.com/office/drawing/2014/main" id="{802B20F5-7BAD-48CD-A740-049B1FF5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正式提交在第 6、9、13、16 课，平时持续改进同一项目。</a:t>
            </a:r>
          </a:p>
        </p:txBody>
      </p:sp>
    </p:spTree>
    <p:extLst>
      <p:ext uri="{BB962C8B-B14F-4D97-AF65-F5344CB8AC3E}">
        <p14:creationId xmlns:p14="http://schemas.microsoft.com/office/powerpoint/2010/main" val="2114239164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2026-09-16T01:34:05.7910000Z</dcterms:created>
  <dcterms:modified xsi:type="dcterms:W3CDTF">2026-09-16T01:34:05.7910000Z</dcterms:modified>
</coreProperties>
</file>