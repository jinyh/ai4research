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29"/>
  </p:normalViewPr>
  <p:slideViewPr>
    <p:cSldViewPr snapToGrid="0">
      <p:cViewPr varScale="1">
        <p:scale>
          <a:sx n="105" d="100"/>
          <a:sy n="105" d="100"/>
        </p:scale>
        <p:origin x="216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本讲聚焦“AI 辅助科研导论、OpenCode 工作平台与八阶段研究链路”。封面只保留正式课名，课堂问题从下一页展开。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- /Users/bright/Projects/courses/graduate/lessons/lesson-01/slides.md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授课前复核现任职务和单位名称；本页不使用未核验的讲师照片。</a:t>
            </a:r>
          </a:p>
          <a:p>
            <a:endParaRPr/>
          </a:p>
          <a:p>
            <a:r>
              <a:t>[Sources]</a:t>
            </a:r>
          </a:p>
          <a:p>
            <a:r>
              <a:t>- Personal profile supplied in lessons/lesson-01/slides.md; verify before teaching.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举手投票；追问一位选择‘证据’或‘结论’的学生具体做了什么核验。</a:t>
            </a:r>
          </a:p>
          <a:p>
            <a:endParaRPr/>
          </a:p>
          <a:p>
            <a:r>
              <a:t>[Sources]</a:t>
            </a:r>
          </a:p>
          <a:p>
            <a:r>
              <a:t>- Classroom diagnostic; no identifiable personal data collected.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先按原图读系统结构，再读取 1/3 与 6.33。请学生指出最容易被媒体标题省略的限定：人工筛选、特定机器学习计算实验、workshop 首轮评审，以及 3 篇均未达到 ICLR 主会标准。</a:t>
            </a:r>
          </a:p>
          <a:p>
            <a:endParaRPr/>
          </a:p>
          <a:p>
            <a:r>
              <a:t>[Sources]</a:t>
            </a:r>
          </a:p>
          <a:p>
            <a:r>
              <a:t>- https://doi.org/10.1038/s41586-026-10265-5</a:t>
            </a:r>
          </a:p>
          <a:p>
            <a:r>
              <a:t>- Visual: Lu et al. (2026), Figure 1a, CC BY 4.0.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P04 已经用 AI Scientist 说明单个系统能产出完整 ML 研究稿件。本页改用 Wang 等人 2023 年综述建立科学发现全流程框架，再看 2026 年 Co-Scientist 与 Robin 如何把其中部分环节连接成具体任务里的多步工作流。第一列不是一套实际系统；任何具体能力声明都要回到综述引用的原始研究。两套系统仍把目标设定、湿实验执行、证据核验和结论责任留给研究者。</a:t>
            </a:r>
          </a:p>
          <a:p>
            <a:endParaRPr/>
          </a:p>
          <a:p>
            <a:r>
              <a:t>[Sources]</a:t>
            </a:r>
          </a:p>
          <a:p>
            <a:r>
              <a:t>- https://doi.org/10.1038/s41586-023-06221-2</a:t>
            </a:r>
          </a:p>
          <a:p>
            <a:r>
              <a:t>- https://doi.org/10.1038/s41586-026-10644-y</a:t>
            </a:r>
          </a:p>
          <a:p>
            <a:r>
              <a:t>- https://doi.org/10.1038/s41586-026-10652-y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先分别读取个人层面和集体层面的四个结果，再追问为什么个人效率与科学整体进步可能分离。论文还报告 AI 论文家族层面的 knowledge extent 扩大 3.46%，因此不能把本页讲成所有层面都收缩。</a:t>
            </a:r>
          </a:p>
          <a:p>
            <a:endParaRPr/>
          </a:p>
          <a:p>
            <a:r>
              <a:t>[Sources]</a:t>
            </a:r>
          </a:p>
          <a:p>
            <a:r>
              <a:t>- https://doi.org/10.1038/s41586-025-09922-y</a:t>
            </a:r>
          </a:p>
          <a:p>
            <a:r>
              <a:t>- Visual: editable faithful redraw of the four reported key results; no full copyrighted figure is embedded.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把前六页收束为课程任务：定义问题、核验证据、约束行动、限定结论、承担责任。请学生指出自己最容易跳过哪一道门。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- /Users/bright/Projects/courses/graduate/lessons/lesson-01/slides.md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工程过程可检查，不等于研究主张已成立；方法质量与工作流质量必须同时检查。</a:t>
            </a:r>
          </a:p>
          <a:p>
            <a:endParaRPr/>
          </a:p>
          <a:p>
            <a:r>
              <a:t>[Sources]</a:t>
            </a:r>
          </a:p>
          <a:p>
            <a:r>
              <a:t>- Fictional teaching scenario created for this lesson.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明确课程评价对象：研究闭环的质量，而不是使用了多少 AI 工具。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- /Users/bright/Projects/courses/graduate/course/assessment.md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把五类能力落到同一个研究仓库：问题、证据与判断、原型验证、Agent Workflow、论文式报告。文件名来自课程最终提交物清单；同一类可以包含多个相互追溯的文件。状态表示成熟度，不要求所有工件机械进入 stable。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/Users/bright/Projects/courses/graduate/course/assessment.md</a:t>
            </a:r>
          </a:p>
          <a:p>
            <a:r>
              <a:t>- /Users/bright/Projects/courses/graduate/course/project-template.md</a:t>
            </a:r>
          </a:p>
          <a:p>
            <a:r>
              <a:t>- /Users/bright/Projects/courses/graduate/course/syllabus.md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让学生在退出卡报告影响后续上机的环境问题。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正式项目个人完成；同伴组只提供形成性反馈，不共同提交。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/Users/bright/Projects/courses/graduate/course/assignments.md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用没有公平 baseline 和失败记录的 Agent 实验追问：它主要在实验设计与可复现性上失分。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/Users/bright/Projects/courses/graduate/course/assessment.md</a:t>
            </a:r>
          </a:p>
          <a:p>
            <a:r>
              <a:t>- /Users/bright/Projects/courses/graduate/course/assignments.md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纠正‘每周都要正式交一份作业’的旧口径。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/Users/bright/Projects/courses/graduate/course/assignments.md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安装和后端配置应课前完成；无法使用者采用备用环境或纸面模板。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- https://opencode.ai/docs/ — verify current commands before teaching.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四条底线从第一天起适用，后续第 2 课再系统展开权限和披露。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/Users/bright/Projects/courses/graduate/course/ethics-and-compliance-template.md</a:t>
            </a:r>
          </a:p>
          <a:p>
            <a:r>
              <a:t>- /Users/bright/Projects/courses/graduate/course/starter-template.md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请学生选择最先核验的一项。这是一条明确标注的虚构线索，不得当作真实研究结论。</a:t>
            </a:r>
          </a:p>
          <a:p>
            <a:endParaRPr/>
          </a:p>
          <a:p>
            <a:r>
              <a:t>[Sources]</a:t>
            </a:r>
          </a:p>
          <a:p>
            <a:r>
              <a:t>- Fictional, unverified AI-generated claim created for classroom diagnosis.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让学生判断 P17 的句子最多处于哪个阶段：外部输入候选，尚未成为证据整理结果。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把贯穿案例从宽泛主题收敛成可检验问题。先定义边界，再从主张反推必要条件；外部输入只扩展候选，机制链仍须保留反证可能。虚线语义表示这不是已成立的因果结论。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/Users/bright/Projects/courses/graduate/lessons/lesson-01/slides.md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证据地图要保留支持、反驳、冲突和空白。研究判断记录采用、放弃、边界与待验证项；原型验证明确 baseline、变量、指标、预算、停止条件和失败。结论必须能反向查回这些上游工件。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/Users/bright/Projects/courses/graduate/course/starter-template.md</a:t>
            </a:r>
          </a:p>
          <a:p>
            <a:r>
              <a:t>- /Users/bright/Projects/courses/graduate/lessons/lesson-01/slides.md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八阶段不是瀑布流程。回退原因和受影响判断必须进入记录。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/Users/bright/Projects/courses/graduate/lessons/lesson-01/handout.md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用‘问题很好但 baseline 不公平’追问：应在判断门暴露，并回到实验规格与研究判断。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/Users/bright/Projects/courses/graduate/course/assessment.md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让学生重新判断 P17 的句子：仍是待核验线索。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- /Users/bright/Projects/courses/graduate/course/starter-template.md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现场确认终端没有显示密钥。若模型或网络不可用，切换到固定截图或纸面任务。</a:t>
            </a:r>
          </a:p>
          <a:p>
            <a:endParaRPr/>
          </a:p>
          <a:p>
            <a:r>
              <a:t>[Sources]</a:t>
            </a:r>
          </a:p>
          <a:p>
            <a:r>
              <a:t>- Fictional demonstration artifacts created for this lesson.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运行前请学生预测仍有哪些歧义；运行后保留原始输出，不为了演示成功静默重跑。</a:t>
            </a:r>
          </a:p>
          <a:p>
            <a:endParaRPr/>
          </a:p>
          <a:p>
            <a:r>
              <a:t>[Sources]</a:t>
            </a:r>
          </a:p>
          <a:p>
            <a:r>
              <a:t>- Prompt authored for this course; adapt invocation syntax to the verified OpenCode version without changing the contract.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这是离线备用的虚构 Agent 输出，不是事实证据。A 是范围收敛候选，B 仍需定义指标，C 将未经来源支持的候选写成已证实事实，必须拒绝或回到证据核验。课堂可以投票，但最终采用、修改或拒绝由研究者决定。</a:t>
            </a:r>
          </a:p>
          <a:p>
            <a:endParaRPr/>
          </a:p>
          <a:p>
            <a:r>
              <a:t>[Sources]</a:t>
            </a:r>
          </a:p>
          <a:p>
            <a:r>
              <a:t>- Fictional teaching Agent output created for classroom review; not evidence.</a:t>
            </a:r>
          </a:p>
          <a:p>
            <a:r>
              <a:t>- /Users/bright/Projects/courses/graduate/lessons/lesson-01/slides.md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运行前让学生指出两个目标文件；运行后先检查实际修改文件列表，再看改写文案。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/Users/bright/Projects/courses/graduate/course/starter-template.md</a:t>
            </a:r>
          </a:p>
          <a:p>
            <a:r>
              <a:t>- Fictional demonstration task contract.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邀请学生指出仍未定义的词；现场补充‘待核验／待定义’，不要求模型把题目润色成论文标题。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/Users/bright/Projects/courses/graduate/course/starter-template.md</a:t>
            </a:r>
          </a:p>
          <a:p>
            <a:r>
              <a:t>- Fictional diff and usage-log entries created for this lesson.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请学生先用六项审计问题定位风险，再把原请求改写为限定目录、文件、权限和确认点的新任务契约。强调失败之后不是删痕重跑，而是停止、记录、收窄、重试并核验。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/Users/bright/Projects/courses/graduate/course/ethics-and-compliance-template.md</a:t>
            </a:r>
          </a:p>
          <a:p>
            <a:r>
              <a:t>- Fictional unsafe request created for classroom analysis.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请学生在 30 秒内选择真实兴趣或题池编号。备用问题只是练习起点，不预设结论。</a:t>
            </a:r>
          </a:p>
          <a:p>
            <a:endParaRPr/>
          </a:p>
          <a:p>
            <a:r>
              <a:t>[Sources]</a:t>
            </a:r>
          </a:p>
          <a:p>
            <a:r>
              <a:t>- Backup micro-problems are course-authored practice starters.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实践说明后，本页停留覆盖个人实践全程（两段：第一段约 15 分钟，教师中点共性卡点点评约 5 分钟，第二段约 10 分钟）。教师巡视只处理共同卡点，不逐台安装。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/Users/bright/Projects/courses/graduate/course/starter-template.md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两人互查（约 10 分钟）；奇数人数组成三人组并缩短每人说明时间。</a:t>
            </a:r>
          </a:p>
          <a:p>
            <a:endParaRPr/>
          </a:p>
          <a:p>
            <a:r>
              <a:t>[Sources]</a:t>
            </a:r>
          </a:p>
          <a:p>
            <a:r>
              <a:t>- Formative peer feedback; not separately graded and not a group submission.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回收本讲核心概念及其关系。本页不新增任务；请学生用边界句检查自己的项目工件。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- /Users/bright/Projects/courses/graduate/lessons/lesson-01/handout.md</a:t>
            </a:r>
          </a:p>
          <a:p>
            <a:r>
              <a:t>- /Users/bright/Projects/courses/graduate/lessons/lesson-01/slides.md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学生提交退出卡或保存在个人项目中。收集共性环境问题，用于第 2 课前统一处理。</a:t>
            </a:r>
          </a:p>
          <a:p>
            <a:endParaRPr/>
          </a:p>
          <a:p>
            <a:r>
              <a:t>[Sources]</a:t>
            </a:r>
          </a:p>
          <a:p>
            <a:r>
              <a:t>- https://mitpress.mit.edu/9780262537537/the-sciences-of-the-artificial/</a:t>
            </a:r>
          </a:p>
          <a:p>
            <a:r>
              <a:t>- https://doi.org/10.1038/s41586-023-06221-2</a:t>
            </a:r>
          </a:p>
          <a:p>
            <a:r>
              <a:t>- /Users/bright/Projects/courses/graduate/course/reading-list.md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7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>
            <a:fillRect/>
          </a:stretch>
        </p:blipFill>
        <p:spPr>
          <a:xfrm>
            <a:off x="-50417" y="2900149"/>
            <a:ext cx="12292835" cy="3957851"/>
          </a:xfrm>
          <a:prstGeom prst="rect">
            <a:avLst/>
          </a:prstGeom>
        </p:spPr>
      </p:pic>
      <p:sp>
        <p:nvSpPr>
          <p:cNvPr id="22" name="标题 1">
            <a:extLst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9561" y="2016174"/>
            <a:ext cx="10052879" cy="10608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r>
              <a:t>单击此处编辑标题样式</a:t>
            </a:r>
          </a:p>
        </p:txBody>
      </p:sp>
      <p:sp>
        <p:nvSpPr>
          <p:cNvPr id="26" name="内容占位符 25">
            <a:extLst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644345" y="5196924"/>
            <a:ext cx="2903311" cy="45402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4034910" y="4407403"/>
            <a:ext cx="4122181" cy="5984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noChangeAspect="1"/>
          </p:cNvPicPr>
          <p:nvPr/>
        </p:nvPicPr>
        <p:blipFill rotWithShape="1">
          <a:blip r:embed="rId3"/>
          <a:srcRect l="74359" r="1346"/>
          <a:stretch/>
        </p:blipFill>
        <p:spPr>
          <a:xfrm>
            <a:off x="8870172" y="274183"/>
            <a:ext cx="3002280" cy="411617"/>
          </a:xfrm>
          <a:prstGeom prst="rect">
            <a:avLst/>
          </a:prstGeom>
        </p:spPr>
      </p:pic>
      <p:pic>
        <p:nvPicPr>
          <p:cNvPr id="51" name="图片 17"/>
          <p:cNvPicPr>
            <a:picLocks noChangeAspect="1"/>
          </p:cNvPicPr>
          <p:nvPr/>
        </p:nvPicPr>
        <p:blipFill rotWithShape="1">
          <a:blip r:embed="rId4">
            <a:alphaModFix amt="35000"/>
          </a:blip>
          <a:srcRect t="9831" b="36385"/>
          <a:stretch/>
        </p:blipFill>
        <p:spPr>
          <a:xfrm>
            <a:off x="3352562" y="6244170"/>
            <a:ext cx="5486876" cy="406590"/>
          </a:xfrm>
          <a:prstGeom prst="rect">
            <a:avLst/>
          </a:prstGeom>
        </p:spPr>
      </p:pic>
      <p:sp>
        <p:nvSpPr>
          <p:cNvPr id="37" name="椭圆 36">
            <a:extLst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noGrp="1"/>
          </p:cNvSpPr>
          <p:nvPr/>
        </p:nvSpPr>
        <p:spPr>
          <a:xfrm>
            <a:off x="6051000" y="6430138"/>
            <a:ext cx="90000" cy="900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9" name="直接连接符 38">
            <a:extLst>
              <a:ext uri="{FF2B5EF4-FFF2-40B4-BE49-F238E27FC236}">
                <a16:creationId xmlns:a16="http://schemas.microsoft.com/office/drawing/2014/main" id="{D8986E70-AA20-4B48-8392-1E625C907004}"/>
              </a:ext>
            </a:extLst>
          </p:cNvPr>
          <p:cNvSpPr>
            <a:spLocks noGrp="1"/>
          </p:cNvSpPr>
          <p:nvPr/>
        </p:nvSpPr>
        <p:spPr>
          <a:xfrm>
            <a:off x="2328587" y="6487838"/>
            <a:ext cx="900000" cy="0"/>
          </a:xfrm>
          <a:prstGeom prst="line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41" name="直接连接符 40">
            <a:extLst>
              <a:ext uri="{FF2B5EF4-FFF2-40B4-BE49-F238E27FC236}">
                <a16:creationId xmlns:a16="http://schemas.microsoft.com/office/drawing/2014/main" id="{E6E69411-B05C-4E95-9FEF-89AAD194B943}"/>
              </a:ext>
            </a:extLst>
          </p:cNvPr>
          <p:cNvSpPr>
            <a:spLocks noGrp="1"/>
          </p:cNvSpPr>
          <p:nvPr/>
        </p:nvSpPr>
        <p:spPr>
          <a:xfrm>
            <a:off x="8983387" y="6487838"/>
            <a:ext cx="900000" cy="0"/>
          </a:xfrm>
          <a:prstGeom prst="line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9C41B9F3-F9D4-4EDD-84BE-E44BAA51E2DF}"/>
              </a:ext>
            </a:extLst>
          </p:cNvPr>
          <p:cNvSpPr>
            <a:spLocks noGrp="1"/>
          </p:cNvSpPr>
          <p:nvPr/>
        </p:nvSpPr>
        <p:spPr>
          <a:xfrm>
            <a:off x="2046000" y="1712549"/>
            <a:ext cx="8100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07D9406B-EC01-450C-8B26-61842E9F6645}"/>
              </a:ext>
            </a:extLst>
          </p:cNvPr>
          <p:cNvSpPr>
            <a:spLocks noGrp="1"/>
          </p:cNvSpPr>
          <p:nvPr/>
        </p:nvSpPr>
        <p:spPr>
          <a:xfrm>
            <a:off x="2046000" y="3428810"/>
            <a:ext cx="8100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pic>
        <p:nvPicPr>
          <p:cNvPr id="57" name="图片 3"/>
          <p:cNvPicPr>
            <a:picLocks noChangeAspect="1"/>
          </p:cNvPicPr>
          <p:nvPr/>
        </p:nvPicPr>
        <p:blipFill>
          <a:blip r:embed="rId5"/>
          <a:srcRect r="54251"/>
          <a:stretch/>
        </p:blipFill>
        <p:spPr>
          <a:xfrm>
            <a:off x="332010" y="251357"/>
            <a:ext cx="1934780" cy="4825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noGrp="1"/>
          </p:cNvSpPr>
          <p:nvPr/>
        </p:nvSpPr>
        <p:spPr>
          <a:xfrm>
            <a:off x="304801" y="2455636"/>
            <a:ext cx="2960913" cy="143872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noGrp="1"/>
          </p:cNvSpPr>
          <p:nvPr/>
        </p:nvSpPr>
        <p:spPr>
          <a:xfrm rot="16200000">
            <a:off x="1736542" y="2389144"/>
            <a:ext cx="97430" cy="296091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noGrp="1"/>
          </p:cNvSpPr>
          <p:nvPr/>
        </p:nvSpPr>
        <p:spPr>
          <a:xfrm flipV="1">
            <a:off x="3478991" y="0"/>
            <a:ext cx="90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noChangeAspect="1"/>
          </p:cNvPicPr>
          <p:nvPr/>
        </p:nvPicPr>
        <p:blipFill rotWithShape="1">
          <a:blip r:embed="rId2"/>
          <a:srcRect r="1346"/>
          <a:stretch/>
        </p:blipFill>
        <p:spPr>
          <a:xfrm>
            <a:off x="516" y="6041797"/>
            <a:ext cx="12166903" cy="411617"/>
          </a:xfrm>
          <a:prstGeom prst="rect">
            <a:avLst/>
          </a:prstGeom>
        </p:spPr>
      </p:pic>
      <p:sp>
        <p:nvSpPr>
          <p:cNvPr id="9" name="文本占位符 31">
            <a:extLst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319056" y="6438900"/>
            <a:ext cx="4151344" cy="4191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sp>
        <p:nvSpPr>
          <p:cNvPr id="10" name="文本占位符 31">
            <a:extLst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788940" y="6438900"/>
            <a:ext cx="4151344" cy="4191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sp>
        <p:nvSpPr>
          <p:cNvPr id="19" name="平行四边形 18">
            <a:extLst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noGrp="1"/>
          </p:cNvSpPr>
          <p:nvPr/>
        </p:nvSpPr>
        <p:spPr>
          <a:xfrm>
            <a:off x="0" y="1"/>
            <a:ext cx="12191483" cy="685800"/>
          </a:xfrm>
          <a:prstGeom prst="parallelogram">
            <a:avLst>
              <a:gd name="adj" fmla="val 4305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56" y="73482"/>
            <a:ext cx="538838" cy="538838"/>
          </a:xfrm>
          <a:prstGeom prst="rect">
            <a:avLst/>
          </a:prstGeom>
        </p:spPr>
      </p:pic>
      <p:sp>
        <p:nvSpPr>
          <p:cNvPr id="21" name="文本占位符 31">
            <a:extLst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75351" y="43657"/>
            <a:ext cx="7081677" cy="598488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图片 16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>
            <a:fillRect/>
          </a:stretch>
        </p:blipFill>
        <p:spPr>
          <a:xfrm>
            <a:off x="-50417" y="2900149"/>
            <a:ext cx="12292835" cy="3957851"/>
          </a:xfrm>
          <a:prstGeom prst="rect">
            <a:avLst/>
          </a:prstGeom>
        </p:spPr>
      </p:pic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F67471EE-CBFD-4BA6-A818-9AE9DE512DAE}"/>
              </a:ext>
            </a:extLst>
          </p:cNvPr>
          <p:cNvSpPr>
            <a:spLocks noGrp="1"/>
          </p:cNvSpPr>
          <p:nvPr/>
        </p:nvSpPr>
        <p:spPr>
          <a:xfrm>
            <a:off x="304800" y="3429000"/>
            <a:ext cx="21975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1843F813-85B6-4A0C-BF78-B82267820B7E}"/>
              </a:ext>
            </a:extLst>
          </p:cNvPr>
          <p:cNvSpPr>
            <a:spLocks noGrp="1"/>
          </p:cNvSpPr>
          <p:nvPr/>
        </p:nvSpPr>
        <p:spPr>
          <a:xfrm>
            <a:off x="9689690" y="3429000"/>
            <a:ext cx="21975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20" name="文本占位符 31">
            <a:extLst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2555162" y="3129756"/>
            <a:ext cx="7081677" cy="5984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noChangeAspect="1"/>
          </p:cNvPicPr>
          <p:nvPr/>
        </p:nvPicPr>
        <p:blipFill rotWithShape="1">
          <a:blip r:embed="rId3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t="9831" b="36385"/>
          <a:stretch/>
        </p:blipFill>
        <p:spPr>
          <a:xfrm>
            <a:off x="3352562" y="6146610"/>
            <a:ext cx="5486876" cy="40659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0849970" y="6515101"/>
            <a:ext cx="1037230" cy="3429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val="F26B43"/>
          </p15:clr>
        </p15:guide>
        <p15:guide id="2" pos="7488">
          <p15:clr>
            <a:srgbClr val="F26B43"/>
          </p15:clr>
        </p15:guide>
        <p15:guide id="3" orient="horz" pos="432">
          <p15:clr>
            <a:srgbClr val="F26B43"/>
          </p15:clr>
        </p15:guide>
        <p15:guide id="4" orient="horz" pos="472">
          <p15:clr>
            <a:srgbClr val="F26B43"/>
          </p15:clr>
        </p15:guide>
        <p15:guide id="5" orient="horz" pos="4104">
          <p15:clr>
            <a:srgbClr val="F26B43"/>
          </p15:clr>
        </p15:guide>
        <p15:guide id="6" orient="horz" pos="405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1">
            <a:extLst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noGrp="1"/>
          </p:cNvSpPr>
          <p:nvPr/>
        </p:nvSpPr>
        <p:spPr>
          <a:xfrm>
            <a:off x="1143000" y="2286505"/>
            <a:ext cx="9906000" cy="532390"/>
          </a:xfrm>
          <a:prstGeom prst="rect">
            <a:avLst/>
          </a:prstGeom>
        </p:spPr>
        <p:txBody>
          <a:bodyPr lIns="76200" tIns="38100" rIns="76200" bIns="38100" anchor="ctr">
            <a:spAutoFit/>
          </a:bodyPr>
          <a:lstStyle/>
          <a:p>
            <a:pPr algn="ctr">
              <a:lnSpc>
                <a:spcPct val="112000"/>
              </a:lnSpc>
              <a:buNone/>
            </a:pPr>
            <a:r>
              <a:rPr sz="2850" b="1" dirty="0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第1讲 AI </a:t>
            </a:r>
            <a:r>
              <a:rPr sz="2850" b="1" dirty="0" err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辅助科研导论</a:t>
            </a:r>
            <a:endParaRPr sz="2850" b="1" dirty="0">
              <a:solidFill>
                <a:srgbClr val="C8161E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讲师介绍：AI 辅助科研的实践者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2598689-54C9-18A7-3A19-ED76AA08988F}" type="slidenum">
              <a:rPr/>
              <a:t>2</a:t>
            </a:fld>
            <a:endParaRPr/>
          </a:p>
        </p:txBody>
      </p:sp>
      <p:sp>
        <p:nvSpPr>
          <p:cNvPr id="8" name="p02-name">
            <a:extLst>
              <a:ext uri="{FF2B5EF4-FFF2-40B4-BE49-F238E27FC236}">
                <a16:creationId xmlns:a16="http://schemas.microsoft.com/office/drawing/2014/main" id="{6298E8C6-6858-40D1-831B-CF6245FC5892}"/>
              </a:ext>
            </a:extLst>
          </p:cNvPr>
          <p:cNvSpPr>
            <a:spLocks noGrp="1"/>
          </p:cNvSpPr>
          <p:nvPr/>
        </p:nvSpPr>
        <p:spPr>
          <a:xfrm>
            <a:off x="3714750" y="1390650"/>
            <a:ext cx="6191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2700" b="1">
                <a:solidFill>
                  <a:srgbClr val="18354E"/>
                </a:solidFill>
              </a:defRPr>
            </a:pPr>
            <a:r>
              <a:rPr sz="27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金耀辉 教授</a:t>
            </a:r>
          </a:p>
        </p:txBody>
      </p:sp>
      <p:sp>
        <p:nvSpPr>
          <p:cNvPr id="9" name="p02-org">
            <a:extLst>
              <a:ext uri="{FF2B5EF4-FFF2-40B4-BE49-F238E27FC236}">
                <a16:creationId xmlns:a16="http://schemas.microsoft.com/office/drawing/2014/main" id="{357F738C-2F37-4C99-B613-8EFEDCEFEC4F}"/>
              </a:ext>
            </a:extLst>
          </p:cNvPr>
          <p:cNvSpPr>
            <a:spLocks noGrp="1"/>
          </p:cNvSpPr>
          <p:nvPr/>
        </p:nvSpPr>
        <p:spPr>
          <a:xfrm>
            <a:off x="3714750" y="2019300"/>
            <a:ext cx="7143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0">
                <a:solidFill>
                  <a:srgbClr val="667684"/>
                </a:solidFill>
              </a:defRPr>
            </a:pPr>
            <a:r>
              <a:rPr sz="172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上海交通大学 计算机学院 / 人工智能研究院</a:t>
            </a:r>
          </a:p>
        </p:txBody>
      </p:sp>
      <p:sp>
        <p:nvSpPr>
          <p:cNvPr id="10" name="p02-rule">
            <a:extLst>
              <a:ext uri="{FF2B5EF4-FFF2-40B4-BE49-F238E27FC236}">
                <a16:creationId xmlns:a16="http://schemas.microsoft.com/office/drawing/2014/main" id="{ED90678D-4149-4540-AD3A-7157169F40C7}"/>
              </a:ext>
            </a:extLst>
          </p:cNvPr>
          <p:cNvSpPr>
            <a:spLocks noGrp="1"/>
          </p:cNvSpPr>
          <p:nvPr/>
        </p:nvSpPr>
        <p:spPr>
          <a:xfrm>
            <a:off x="3714750" y="2628900"/>
            <a:ext cx="6477000" cy="3810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1" name="p02-roles">
            <a:extLst>
              <a:ext uri="{FF2B5EF4-FFF2-40B4-BE49-F238E27FC236}">
                <a16:creationId xmlns:a16="http://schemas.microsoft.com/office/drawing/2014/main" id="{B67D60B5-2DAD-4A3F-8A2C-1E7FF7314389}"/>
              </a:ext>
            </a:extLst>
          </p:cNvPr>
          <p:cNvSpPr>
            <a:spLocks noGrp="1"/>
          </p:cNvSpPr>
          <p:nvPr/>
        </p:nvSpPr>
        <p:spPr>
          <a:xfrm>
            <a:off x="3714750" y="2933700"/>
            <a:ext cx="7239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t"/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总工程师，人工智能研究院</a:t>
            </a:r>
          </a:p>
          <a:p>
            <a:pPr algn="l">
              <a:lnSpc>
                <a:spcPct val="130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副院长，智慧司法研究院</a:t>
            </a:r>
          </a:p>
          <a:p>
            <a:pPr algn="l">
              <a:lnSpc>
                <a:spcPct val="130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研究方向：智能体应用增强｜时空数据挖掘｜自然语言理解</a:t>
            </a:r>
          </a:p>
        </p:txBody>
      </p:sp>
      <p:sp>
        <p:nvSpPr>
          <p:cNvPr id="12" name="p02-contact">
            <a:extLst>
              <a:ext uri="{FF2B5EF4-FFF2-40B4-BE49-F238E27FC236}">
                <a16:creationId xmlns:a16="http://schemas.microsoft.com/office/drawing/2014/main" id="{25D1F228-51F4-4DD1-A724-8E7937F8FAEE}"/>
              </a:ext>
            </a:extLst>
          </p:cNvPr>
          <p:cNvSpPr>
            <a:spLocks noGrp="1"/>
          </p:cNvSpPr>
          <p:nvPr/>
        </p:nvSpPr>
        <p:spPr>
          <a:xfrm>
            <a:off x="3714750" y="4686300"/>
            <a:ext cx="676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0">
                <a:solidFill>
                  <a:srgbClr val="C8161E"/>
                </a:solidFill>
              </a:defRPr>
            </a:pPr>
            <a:r>
              <a:rPr sz="1500" b="0" dirty="0" err="1">
                <a:latin typeface="Arial"/>
                <a:ea typeface="Arial"/>
                <a:cs typeface="Arial"/>
              </a:rPr>
              <a:t>jinyh@sjtu.edu.cn</a:t>
            </a:r>
            <a:r>
              <a:rPr sz="1500" b="0" dirty="0">
                <a:latin typeface="Arial"/>
                <a:ea typeface="Arial"/>
                <a:cs typeface="Arial"/>
              </a:rPr>
              <a:t>   ·   </a:t>
            </a:r>
            <a:r>
              <a:rPr sz="1500" b="0" dirty="0" err="1">
                <a:latin typeface="Arial"/>
                <a:ea typeface="Arial"/>
                <a:cs typeface="Arial"/>
              </a:rPr>
              <a:t>软件学院</a:t>
            </a:r>
            <a:r>
              <a:rPr sz="1500" b="0" dirty="0">
                <a:latin typeface="Arial"/>
                <a:ea typeface="Arial"/>
                <a:cs typeface="Arial"/>
              </a:rPr>
              <a:t> 517</a:t>
            </a:r>
          </a:p>
        </p:txBody>
      </p:sp>
      <p:pic>
        <p:nvPicPr>
          <p:cNvPr id="21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096" y="1499615"/>
            <a:ext cx="2140840" cy="2747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你最近一次把 AI 输出当成了什么？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202359C0-8A7A-196E-DD58-8E6569619F09}" type="slidenum">
              <a:rPr/>
              <a:t>3</a:t>
            </a:fld>
            <a:endParaRPr/>
          </a:p>
        </p:txBody>
      </p:sp>
      <p:sp>
        <p:nvSpPr>
          <p:cNvPr id="6" name="p03-prompt">
            <a:extLst>
              <a:ext uri="{FF2B5EF4-FFF2-40B4-BE49-F238E27FC236}">
                <a16:creationId xmlns:a16="http://schemas.microsoft.com/office/drawing/2014/main" id="{60F31EBE-CE46-47C2-9A85-E3696C0BA835}"/>
              </a:ext>
            </a:extLst>
          </p:cNvPr>
          <p:cNvSpPr>
            <a:spLocks noGrp="1"/>
          </p:cNvSpPr>
          <p:nvPr/>
        </p:nvSpPr>
        <p:spPr>
          <a:xfrm>
            <a:off x="952500" y="1200150"/>
            <a:ext cx="9525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最近一次科研相关的 AI 输出，你把它当成：</a:t>
            </a:r>
          </a:p>
        </p:txBody>
      </p:sp>
      <p:sp>
        <p:nvSpPr>
          <p:cNvPr id="7" name="p03-n-0">
            <a:extLst>
              <a:ext uri="{FF2B5EF4-FFF2-40B4-BE49-F238E27FC236}">
                <a16:creationId xmlns:a16="http://schemas.microsoft.com/office/drawing/2014/main" id="{C2BE8557-956C-4E44-95F5-B4E8AC2C6568}"/>
              </a:ext>
            </a:extLst>
          </p:cNvPr>
          <p:cNvSpPr>
            <a:spLocks noGrp="1"/>
          </p:cNvSpPr>
          <p:nvPr/>
        </p:nvSpPr>
        <p:spPr>
          <a:xfrm>
            <a:off x="800100" y="2324100"/>
            <a:ext cx="5905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150" b="1">
                <a:solidFill>
                  <a:srgbClr val="667684"/>
                </a:solidFill>
              </a:defRPr>
            </a:pPr>
            <a:r>
              <a:rPr sz="31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03-label-0">
            <a:extLst>
              <a:ext uri="{FF2B5EF4-FFF2-40B4-BE49-F238E27FC236}">
                <a16:creationId xmlns:a16="http://schemas.microsoft.com/office/drawing/2014/main" id="{164E6C65-9CCA-48FE-BE1A-5996B158F507}"/>
              </a:ext>
            </a:extLst>
          </p:cNvPr>
          <p:cNvSpPr>
            <a:spLocks noGrp="1"/>
          </p:cNvSpPr>
          <p:nvPr/>
        </p:nvSpPr>
        <p:spPr>
          <a:xfrm>
            <a:off x="1390650" y="2209800"/>
            <a:ext cx="1809750" cy="9144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667684"/>
                </a:solidFill>
              </a:defRPr>
            </a:pPr>
            <a:r>
              <a:rPr sz="28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线索</a:t>
            </a:r>
          </a:p>
        </p:txBody>
      </p:sp>
      <p:sp>
        <p:nvSpPr>
          <p:cNvPr id="9" name="p03-n-1">
            <a:extLst>
              <a:ext uri="{FF2B5EF4-FFF2-40B4-BE49-F238E27FC236}">
                <a16:creationId xmlns:a16="http://schemas.microsoft.com/office/drawing/2014/main" id="{79D3C682-624A-4150-836E-BEE30776C793}"/>
              </a:ext>
            </a:extLst>
          </p:cNvPr>
          <p:cNvSpPr>
            <a:spLocks noGrp="1"/>
          </p:cNvSpPr>
          <p:nvPr/>
        </p:nvSpPr>
        <p:spPr>
          <a:xfrm>
            <a:off x="3600450" y="2324100"/>
            <a:ext cx="5905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150" b="1">
                <a:solidFill>
                  <a:srgbClr val="2F638A"/>
                </a:solidFill>
              </a:defRPr>
            </a:pPr>
            <a:r>
              <a:rPr sz="315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03-label-1">
            <a:extLst>
              <a:ext uri="{FF2B5EF4-FFF2-40B4-BE49-F238E27FC236}">
                <a16:creationId xmlns:a16="http://schemas.microsoft.com/office/drawing/2014/main" id="{486B59A8-8F0B-4B1B-ADCE-C10B646D1061}"/>
              </a:ext>
            </a:extLst>
          </p:cNvPr>
          <p:cNvSpPr>
            <a:spLocks noGrp="1"/>
          </p:cNvSpPr>
          <p:nvPr/>
        </p:nvSpPr>
        <p:spPr>
          <a:xfrm>
            <a:off x="4191000" y="2209800"/>
            <a:ext cx="1809750" cy="914400"/>
          </a:xfrm>
          <a:prstGeom prst="rect">
            <a:avLst/>
          </a:prstGeom>
          <a:solidFill>
            <a:srgbClr val="E8F0F6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2F638A"/>
                </a:solidFill>
              </a:defRPr>
            </a:pPr>
            <a:r>
              <a:rPr sz="28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草稿</a:t>
            </a:r>
          </a:p>
        </p:txBody>
      </p:sp>
      <p:sp>
        <p:nvSpPr>
          <p:cNvPr id="11" name="p03-n-2">
            <a:extLst>
              <a:ext uri="{FF2B5EF4-FFF2-40B4-BE49-F238E27FC236}">
                <a16:creationId xmlns:a16="http://schemas.microsoft.com/office/drawing/2014/main" id="{46CE93A4-47C2-4D66-879F-E11B20DC3077}"/>
              </a:ext>
            </a:extLst>
          </p:cNvPr>
          <p:cNvSpPr>
            <a:spLocks noGrp="1"/>
          </p:cNvSpPr>
          <p:nvPr/>
        </p:nvSpPr>
        <p:spPr>
          <a:xfrm>
            <a:off x="6400800" y="2324100"/>
            <a:ext cx="5905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150" b="1">
                <a:solidFill>
                  <a:srgbClr val="A86C12"/>
                </a:solidFill>
              </a:defRPr>
            </a:pPr>
            <a:r>
              <a:rPr sz="31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03-label-2">
            <a:extLst>
              <a:ext uri="{FF2B5EF4-FFF2-40B4-BE49-F238E27FC236}">
                <a16:creationId xmlns:a16="http://schemas.microsoft.com/office/drawing/2014/main" id="{950EF175-72A6-4712-ABAF-09FCA9BA9199}"/>
              </a:ext>
            </a:extLst>
          </p:cNvPr>
          <p:cNvSpPr>
            <a:spLocks noGrp="1"/>
          </p:cNvSpPr>
          <p:nvPr/>
        </p:nvSpPr>
        <p:spPr>
          <a:xfrm>
            <a:off x="6991350" y="2209800"/>
            <a:ext cx="1809750" cy="914400"/>
          </a:xfrm>
          <a:prstGeom prst="rect">
            <a:avLst/>
          </a:prstGeom>
          <a:solidFill>
            <a:srgbClr val="FAF0D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A86C12"/>
                </a:solidFill>
              </a:defRPr>
            </a:pPr>
            <a:r>
              <a:rPr sz="28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13" name="p03-n-3">
            <a:extLst>
              <a:ext uri="{FF2B5EF4-FFF2-40B4-BE49-F238E27FC236}">
                <a16:creationId xmlns:a16="http://schemas.microsoft.com/office/drawing/2014/main" id="{DEFF34A9-25F3-40C4-A650-E49FA80D57B1}"/>
              </a:ext>
            </a:extLst>
          </p:cNvPr>
          <p:cNvSpPr>
            <a:spLocks noGrp="1"/>
          </p:cNvSpPr>
          <p:nvPr/>
        </p:nvSpPr>
        <p:spPr>
          <a:xfrm>
            <a:off x="9201150" y="2324100"/>
            <a:ext cx="5905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150" b="1">
                <a:solidFill>
                  <a:srgbClr val="C8161E"/>
                </a:solidFill>
              </a:defRPr>
            </a:pPr>
            <a:r>
              <a:rPr sz="31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03-label-3">
            <a:extLst>
              <a:ext uri="{FF2B5EF4-FFF2-40B4-BE49-F238E27FC236}">
                <a16:creationId xmlns:a16="http://schemas.microsoft.com/office/drawing/2014/main" id="{E561ACCC-A3A7-431B-ADEB-A3B1986C21A5}"/>
              </a:ext>
            </a:extLst>
          </p:cNvPr>
          <p:cNvSpPr>
            <a:spLocks noGrp="1"/>
          </p:cNvSpPr>
          <p:nvPr/>
        </p:nvSpPr>
        <p:spPr>
          <a:xfrm>
            <a:off x="9791700" y="2209800"/>
            <a:ext cx="1809750" cy="91440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5" name="p03-action">
            <a:extLst>
              <a:ext uri="{FF2B5EF4-FFF2-40B4-BE49-F238E27FC236}">
                <a16:creationId xmlns:a16="http://schemas.microsoft.com/office/drawing/2014/main" id="{192E67E0-E625-49C8-A3BE-99CE4D8B7103}"/>
              </a:ext>
            </a:extLst>
          </p:cNvPr>
          <p:cNvSpPr>
            <a:spLocks noGrp="1"/>
          </p:cNvSpPr>
          <p:nvPr/>
        </p:nvSpPr>
        <p:spPr>
          <a:xfrm>
            <a:off x="3333750" y="4057650"/>
            <a:ext cx="552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0">
                <a:solidFill>
                  <a:srgbClr val="667684"/>
                </a:solidFill>
              </a:defRPr>
            </a:pPr>
            <a:r>
              <a:rPr sz="18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举手选择，不显示预设正确答案</a:t>
            </a:r>
          </a:p>
        </p:txBody>
      </p:sp>
      <p:sp>
        <p:nvSpPr>
          <p:cNvPr id="16" name="p03-question">
            <a:extLst>
              <a:ext uri="{FF2B5EF4-FFF2-40B4-BE49-F238E27FC236}">
                <a16:creationId xmlns:a16="http://schemas.microsoft.com/office/drawing/2014/main" id="{239ABD2D-C704-4792-8880-2307268D4108}"/>
              </a:ext>
            </a:extLst>
          </p:cNvPr>
          <p:cNvSpPr>
            <a:spLocks noGrp="1"/>
          </p:cNvSpPr>
          <p:nvPr/>
        </p:nvSpPr>
        <p:spPr>
          <a:xfrm>
            <a:off x="2038350" y="4762500"/>
            <a:ext cx="81153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升级为证据或结论之前，你做过什么核验？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Scientist 已串联 ML 研究的构思、实验、写作与评审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FD6AB9A-5F9E-5F59-51AB-3C8734130965}" type="slidenum">
              <a:rPr/>
              <a:t>4</a:t>
            </a:fld>
            <a:endParaRPr/>
          </a:p>
        </p:txBody>
      </p:sp>
      <p:sp>
        <p:nvSpPr>
          <p:cNvPr id="6" name="p04-paper">
            <a:extLst>
              <a:ext uri="{FF2B5EF4-FFF2-40B4-BE49-F238E27FC236}">
                <a16:creationId xmlns:a16="http://schemas.microsoft.com/office/drawing/2014/main" id="{AF1590F1-D2AE-456E-836C-5BBEEE762947}"/>
              </a:ext>
            </a:extLst>
          </p:cNvPr>
          <p:cNvSpPr>
            <a:spLocks noGrp="1"/>
          </p:cNvSpPr>
          <p:nvPr/>
        </p:nvSpPr>
        <p:spPr>
          <a:xfrm>
            <a:off x="628650" y="91440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THE AI SCIENTIST · NATURE 651 · 2026</a:t>
            </a:r>
          </a:p>
        </p:txBody>
      </p:sp>
      <p:sp>
        <p:nvSpPr>
          <p:cNvPr id="7" name="p04-figure-frame">
            <a:extLst>
              <a:ext uri="{FF2B5EF4-FFF2-40B4-BE49-F238E27FC236}">
                <a16:creationId xmlns:a16="http://schemas.microsoft.com/office/drawing/2014/main" id="{CBDB5982-FD36-48B7-8719-63FE688DC190}"/>
              </a:ext>
            </a:extLst>
          </p:cNvPr>
          <p:cNvSpPr>
            <a:spLocks noGrp="1"/>
          </p:cNvSpPr>
          <p:nvPr/>
        </p:nvSpPr>
        <p:spPr>
          <a:xfrm>
            <a:off x="552450" y="1257300"/>
            <a:ext cx="59626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DE2"/>
            </a:solidFill>
            <a:prstDash val="solid"/>
          </a:ln>
        </p:spPr>
      </p:sp>
      <p:pic>
        <p:nvPicPr>
          <p:cNvPr id="26" name="p04-figure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285250" y="1333500"/>
            <a:ext cx="4497049" cy="3810000"/>
          </a:xfrm>
          <a:prstGeom prst="rect">
            <a:avLst/>
          </a:prstGeom>
        </p:spPr>
      </p:pic>
      <p:sp>
        <p:nvSpPr>
          <p:cNvPr id="9" name="p04-source">
            <a:extLst>
              <a:ext uri="{FF2B5EF4-FFF2-40B4-BE49-F238E27FC236}">
                <a16:creationId xmlns:a16="http://schemas.microsoft.com/office/drawing/2014/main" id="{2BFC7977-2BAA-47D5-9359-E7657421E05F}"/>
              </a:ext>
            </a:extLst>
          </p:cNvPr>
          <p:cNvSpPr>
            <a:spLocks noGrp="1"/>
          </p:cNvSpPr>
          <p:nvPr/>
        </p:nvSpPr>
        <p:spPr>
          <a:xfrm>
            <a:off x="628650" y="5238750"/>
            <a:ext cx="581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900" b="0">
                <a:solidFill>
                  <a:srgbClr val="667684"/>
                </a:solidFill>
              </a:defRPr>
            </a:pPr>
            <a:r>
              <a:rPr sz="900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Lu et al. · Nature 651 · 2026 · Fig.1a · CC BY 4.0</a:t>
            </a:r>
          </a:p>
        </p:txBody>
      </p:sp>
      <p:sp>
        <p:nvSpPr>
          <p:cNvPr id="10" name="p04-divider">
            <a:extLst>
              <a:ext uri="{FF2B5EF4-FFF2-40B4-BE49-F238E27FC236}">
                <a16:creationId xmlns:a16="http://schemas.microsoft.com/office/drawing/2014/main" id="{1AEAA9F5-C5A1-41AD-8245-44DA5CBF0662}"/>
              </a:ext>
            </a:extLst>
          </p:cNvPr>
          <p:cNvSpPr>
            <a:spLocks noGrp="1"/>
          </p:cNvSpPr>
          <p:nvPr/>
        </p:nvSpPr>
        <p:spPr>
          <a:xfrm rot="5400000">
            <a:off x="4610100" y="3076575"/>
            <a:ext cx="41910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1" name="p04-guide">
            <a:extLst>
              <a:ext uri="{FF2B5EF4-FFF2-40B4-BE49-F238E27FC236}">
                <a16:creationId xmlns:a16="http://schemas.microsoft.com/office/drawing/2014/main" id="{E9FEDDC8-69EB-4D87-8F77-10B24840974C}"/>
              </a:ext>
            </a:extLst>
          </p:cNvPr>
          <p:cNvSpPr>
            <a:spLocks noGrp="1"/>
          </p:cNvSpPr>
          <p:nvPr/>
        </p:nvSpPr>
        <p:spPr>
          <a:xfrm>
            <a:off x="6934200" y="914400"/>
            <a:ext cx="4476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构思 → 实验树搜索 → 写作 → 自动评审</a:t>
            </a:r>
          </a:p>
        </p:txBody>
      </p:sp>
      <p:sp>
        <p:nvSpPr>
          <p:cNvPr id="12" name="p04-one-of-three">
            <a:extLst>
              <a:ext uri="{FF2B5EF4-FFF2-40B4-BE49-F238E27FC236}">
                <a16:creationId xmlns:a16="http://schemas.microsoft.com/office/drawing/2014/main" id="{96A6F8F0-113D-4EE1-A5CB-E7EB8BA0CEEC}"/>
              </a:ext>
            </a:extLst>
          </p:cNvPr>
          <p:cNvSpPr>
            <a:spLocks noGrp="1"/>
          </p:cNvSpPr>
          <p:nvPr/>
        </p:nvSpPr>
        <p:spPr>
          <a:xfrm>
            <a:off x="6896100" y="1352550"/>
            <a:ext cx="16002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1 / 3</a:t>
            </a:r>
          </a:p>
        </p:txBody>
      </p:sp>
      <p:sp>
        <p:nvSpPr>
          <p:cNvPr id="13" name="p04-one-of-three-label">
            <a:extLst>
              <a:ext uri="{FF2B5EF4-FFF2-40B4-BE49-F238E27FC236}">
                <a16:creationId xmlns:a16="http://schemas.microsoft.com/office/drawing/2014/main" id="{AB54B47E-E475-4F02-94FD-04A053FF7BA4}"/>
              </a:ext>
            </a:extLst>
          </p:cNvPr>
          <p:cNvSpPr>
            <a:spLocks noGrp="1"/>
          </p:cNvSpPr>
          <p:nvPr/>
        </p:nvSpPr>
        <p:spPr>
          <a:xfrm>
            <a:off x="8572500" y="1390650"/>
            <a:ext cx="27813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lnSpc>
                <a:spcPct val="13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稿件超过 workshop</a:t>
            </a:r>
          </a:p>
          <a:p>
            <a:pPr algn="l">
              <a:lnSpc>
                <a:spcPct val="13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平均接受阈值</a:t>
            </a:r>
          </a:p>
        </p:txBody>
      </p:sp>
      <p:sp>
        <p:nvSpPr>
          <p:cNvPr id="14" name="p04-metric-rule">
            <a:extLst>
              <a:ext uri="{FF2B5EF4-FFF2-40B4-BE49-F238E27FC236}">
                <a16:creationId xmlns:a16="http://schemas.microsoft.com/office/drawing/2014/main" id="{96648E96-799F-4EA2-A179-C43B00E41C3A}"/>
              </a:ext>
            </a:extLst>
          </p:cNvPr>
          <p:cNvSpPr>
            <a:spLocks noGrp="1"/>
          </p:cNvSpPr>
          <p:nvPr/>
        </p:nvSpPr>
        <p:spPr>
          <a:xfrm>
            <a:off x="6934200" y="2090738"/>
            <a:ext cx="4343400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5" name="p04-score">
            <a:extLst>
              <a:ext uri="{FF2B5EF4-FFF2-40B4-BE49-F238E27FC236}">
                <a16:creationId xmlns:a16="http://schemas.microsoft.com/office/drawing/2014/main" id="{A7F737C2-37B7-47F9-999E-40D09D03872A}"/>
              </a:ext>
            </a:extLst>
          </p:cNvPr>
          <p:cNvSpPr>
            <a:spLocks noGrp="1"/>
          </p:cNvSpPr>
          <p:nvPr/>
        </p:nvSpPr>
        <p:spPr>
          <a:xfrm>
            <a:off x="6896100" y="2247900"/>
            <a:ext cx="16002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3300" b="1">
                <a:solidFill>
                  <a:srgbClr val="18354E"/>
                </a:solidFill>
              </a:defRPr>
            </a:pPr>
            <a:r>
              <a:rPr sz="33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6.33</a:t>
            </a:r>
          </a:p>
        </p:txBody>
      </p:sp>
      <p:sp>
        <p:nvSpPr>
          <p:cNvPr id="16" name="p04-score-label">
            <a:extLst>
              <a:ext uri="{FF2B5EF4-FFF2-40B4-BE49-F238E27FC236}">
                <a16:creationId xmlns:a16="http://schemas.microsoft.com/office/drawing/2014/main" id="{252AB82B-3A4F-480D-B9F8-C65FE9C8FB43}"/>
              </a:ext>
            </a:extLst>
          </p:cNvPr>
          <p:cNvSpPr>
            <a:spLocks noGrp="1"/>
          </p:cNvSpPr>
          <p:nvPr/>
        </p:nvSpPr>
        <p:spPr>
          <a:xfrm>
            <a:off x="8572500" y="2286000"/>
            <a:ext cx="27813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lnSpc>
                <a:spcPct val="13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该稿件平均评审分</a:t>
            </a:r>
          </a:p>
          <a:p>
            <a:pPr algn="l">
              <a:lnSpc>
                <a:spcPct val="13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（6 / 7 / 6）</a:t>
            </a:r>
          </a:p>
        </p:txBody>
      </p:sp>
      <p:sp>
        <p:nvSpPr>
          <p:cNvPr id="17" name="p04-boundary-line">
            <a:extLst>
              <a:ext uri="{FF2B5EF4-FFF2-40B4-BE49-F238E27FC236}">
                <a16:creationId xmlns:a16="http://schemas.microsoft.com/office/drawing/2014/main" id="{CD69FC45-F8BD-4C1A-9541-2972C7D2858E}"/>
              </a:ext>
            </a:extLst>
          </p:cNvPr>
          <p:cNvSpPr>
            <a:spLocks noGrp="1"/>
          </p:cNvSpPr>
          <p:nvPr/>
        </p:nvSpPr>
        <p:spPr>
          <a:xfrm>
            <a:off x="6934200" y="3124200"/>
            <a:ext cx="38100" cy="16573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8" name="p04-boundary-title">
            <a:extLst>
              <a:ext uri="{FF2B5EF4-FFF2-40B4-BE49-F238E27FC236}">
                <a16:creationId xmlns:a16="http://schemas.microsoft.com/office/drawing/2014/main" id="{9B2204E0-92EC-4FB4-B60B-5C8E6083479F}"/>
              </a:ext>
            </a:extLst>
          </p:cNvPr>
          <p:cNvSpPr>
            <a:spLocks noGrp="1"/>
          </p:cNvSpPr>
          <p:nvPr/>
        </p:nvSpPr>
        <p:spPr>
          <a:xfrm>
            <a:off x="7143750" y="304800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证据边界</a:t>
            </a:r>
          </a:p>
        </p:txBody>
      </p:sp>
      <p:sp>
        <p:nvSpPr>
          <p:cNvPr id="19" name="p04-boundary">
            <a:extLst>
              <a:ext uri="{FF2B5EF4-FFF2-40B4-BE49-F238E27FC236}">
                <a16:creationId xmlns:a16="http://schemas.microsoft.com/office/drawing/2014/main" id="{4F4C93BC-75EF-4F22-BA85-643629EEE607}"/>
              </a:ext>
            </a:extLst>
          </p:cNvPr>
          <p:cNvSpPr>
            <a:spLocks noGrp="1"/>
          </p:cNvSpPr>
          <p:nvPr/>
        </p:nvSpPr>
        <p:spPr>
          <a:xfrm>
            <a:off x="7105650" y="3390900"/>
            <a:ext cx="43243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t"/>
          <a:lstStyle/>
          <a:p>
            <a:pPr algn="l">
              <a:lnSpc>
                <a:spcPct val="130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· 输出经人工筛选后提交</a:t>
            </a:r>
          </a:p>
          <a:p>
            <a:pPr algn="l">
              <a:lnSpc>
                <a:spcPct val="130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· workshop 首轮评审；论文报告接受率 70%</a:t>
            </a:r>
          </a:p>
          <a:p>
            <a:pPr algn="l">
              <a:lnSpc>
                <a:spcPct val="130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· 3 篇均未达 ICLR 主会标准</a:t>
            </a:r>
          </a:p>
          <a:p>
            <a:pPr algn="l">
              <a:lnSpc>
                <a:spcPct val="130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· 仅限 ML 计算实验</a:t>
            </a:r>
          </a:p>
        </p:txBody>
      </p:sp>
      <p:sp>
        <p:nvSpPr>
          <p:cNvPr id="20" name="p04-claim">
            <a:extLst>
              <a:ext uri="{FF2B5EF4-FFF2-40B4-BE49-F238E27FC236}">
                <a16:creationId xmlns:a16="http://schemas.microsoft.com/office/drawing/2014/main" id="{F1D7F98B-76E0-41C7-A85C-D2F176C73F85}"/>
              </a:ext>
            </a:extLst>
          </p:cNvPr>
          <p:cNvSpPr>
            <a:spLocks noGrp="1"/>
          </p:cNvSpPr>
          <p:nvPr/>
        </p:nvSpPr>
        <p:spPr>
          <a:xfrm>
            <a:off x="6858000" y="5010150"/>
            <a:ext cx="457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完整产物 ≠ 科研成立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从研究环节到多步系统，人工仍在关键位置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E5B3003-2C54-13C6-9832-7637201064DE}" type="slidenum">
              <a:rPr/>
              <a:t>5</a:t>
            </a:fld>
            <a:endParaRPr/>
          </a:p>
        </p:txBody>
      </p:sp>
      <p:sp>
        <p:nvSpPr>
          <p:cNvPr id="6" name="p05-context">
            <a:extLst>
              <a:ext uri="{FF2B5EF4-FFF2-40B4-BE49-F238E27FC236}">
                <a16:creationId xmlns:a16="http://schemas.microsoft.com/office/drawing/2014/main" id="{B036E222-71C1-4431-B4A4-ED372A6E4320}"/>
              </a:ext>
            </a:extLst>
          </p:cNvPr>
          <p:cNvSpPr>
            <a:spLocks noGrp="1"/>
          </p:cNvSpPr>
          <p:nvPr/>
        </p:nvSpPr>
        <p:spPr>
          <a:xfrm>
            <a:off x="628650" y="895350"/>
            <a:ext cx="10934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2023 综述给出全流程框架；2026 两套系统把部分环节连接为多步工作流</a:t>
            </a:r>
          </a:p>
        </p:txBody>
      </p:sp>
      <p:sp>
        <p:nvSpPr>
          <p:cNvPr id="7" name="p05-table-bg">
            <a:extLst>
              <a:ext uri="{FF2B5EF4-FFF2-40B4-BE49-F238E27FC236}">
                <a16:creationId xmlns:a16="http://schemas.microsoft.com/office/drawing/2014/main" id="{42DC4F08-2983-4A92-9B37-93A551C00F1F}"/>
              </a:ext>
            </a:extLst>
          </p:cNvPr>
          <p:cNvSpPr>
            <a:spLocks noGrp="1"/>
          </p:cNvSpPr>
          <p:nvPr/>
        </p:nvSpPr>
        <p:spPr>
          <a:xfrm>
            <a:off x="552450" y="1276350"/>
            <a:ext cx="11077575" cy="3886200"/>
          </a:xfrm>
          <a:prstGeom prst="rect">
            <a:avLst/>
          </a:prstGeom>
          <a:noFill/>
          <a:ln w="9525">
            <a:solidFill>
              <a:srgbClr val="D6DDE2"/>
            </a:solidFill>
            <a:prstDash val="solid"/>
          </a:ln>
        </p:spPr>
      </p:sp>
      <p:sp>
        <p:nvSpPr>
          <p:cNvPr id="8" name="p05-row-line-1">
            <a:extLst>
              <a:ext uri="{FF2B5EF4-FFF2-40B4-BE49-F238E27FC236}">
                <a16:creationId xmlns:a16="http://schemas.microsoft.com/office/drawing/2014/main" id="{E161F6BC-16D6-4ED4-9BFC-C520BE8EFB45}"/>
              </a:ext>
            </a:extLst>
          </p:cNvPr>
          <p:cNvSpPr>
            <a:spLocks noGrp="1"/>
          </p:cNvSpPr>
          <p:nvPr/>
        </p:nvSpPr>
        <p:spPr>
          <a:xfrm>
            <a:off x="552450" y="1957388"/>
            <a:ext cx="11077575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9" name="p05-row-line-2">
            <a:extLst>
              <a:ext uri="{FF2B5EF4-FFF2-40B4-BE49-F238E27FC236}">
                <a16:creationId xmlns:a16="http://schemas.microsoft.com/office/drawing/2014/main" id="{E1B48AC4-16B2-4C42-B71B-3CB2272730D4}"/>
              </a:ext>
            </a:extLst>
          </p:cNvPr>
          <p:cNvSpPr>
            <a:spLocks noGrp="1"/>
          </p:cNvSpPr>
          <p:nvPr/>
        </p:nvSpPr>
        <p:spPr>
          <a:xfrm>
            <a:off x="552450" y="2490788"/>
            <a:ext cx="11077575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0" name="p05-row-line-3">
            <a:extLst>
              <a:ext uri="{FF2B5EF4-FFF2-40B4-BE49-F238E27FC236}">
                <a16:creationId xmlns:a16="http://schemas.microsoft.com/office/drawing/2014/main" id="{C4D78BD6-1AF4-48E9-AFFD-C2178203904E}"/>
              </a:ext>
            </a:extLst>
          </p:cNvPr>
          <p:cNvSpPr>
            <a:spLocks noGrp="1"/>
          </p:cNvSpPr>
          <p:nvPr/>
        </p:nvSpPr>
        <p:spPr>
          <a:xfrm>
            <a:off x="552450" y="3481388"/>
            <a:ext cx="11077575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1" name="p05-row-line-4">
            <a:extLst>
              <a:ext uri="{FF2B5EF4-FFF2-40B4-BE49-F238E27FC236}">
                <a16:creationId xmlns:a16="http://schemas.microsoft.com/office/drawing/2014/main" id="{E416BB18-96E5-4CC7-8221-EC5A87129823}"/>
              </a:ext>
            </a:extLst>
          </p:cNvPr>
          <p:cNvSpPr>
            <a:spLocks noGrp="1"/>
          </p:cNvSpPr>
          <p:nvPr/>
        </p:nvSpPr>
        <p:spPr>
          <a:xfrm>
            <a:off x="552450" y="4262438"/>
            <a:ext cx="11077575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2" name="p05-col-line-0">
            <a:extLst>
              <a:ext uri="{FF2B5EF4-FFF2-40B4-BE49-F238E27FC236}">
                <a16:creationId xmlns:a16="http://schemas.microsoft.com/office/drawing/2014/main" id="{C7861E35-7ACD-4176-89B7-A12D2EE0E591}"/>
              </a:ext>
            </a:extLst>
          </p:cNvPr>
          <p:cNvSpPr>
            <a:spLocks noGrp="1"/>
          </p:cNvSpPr>
          <p:nvPr/>
        </p:nvSpPr>
        <p:spPr>
          <a:xfrm rot="5400000">
            <a:off x="-285750" y="3214688"/>
            <a:ext cx="3886200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3" name="p05-col-line-1">
            <a:extLst>
              <a:ext uri="{FF2B5EF4-FFF2-40B4-BE49-F238E27FC236}">
                <a16:creationId xmlns:a16="http://schemas.microsoft.com/office/drawing/2014/main" id="{A19F6202-D68A-473F-A255-C6B21DB55619}"/>
              </a:ext>
            </a:extLst>
          </p:cNvPr>
          <p:cNvSpPr>
            <a:spLocks noGrp="1"/>
          </p:cNvSpPr>
          <p:nvPr/>
        </p:nvSpPr>
        <p:spPr>
          <a:xfrm rot="5400000">
            <a:off x="3038475" y="3214688"/>
            <a:ext cx="3886200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4" name="p05-col-line-2">
            <a:extLst>
              <a:ext uri="{FF2B5EF4-FFF2-40B4-BE49-F238E27FC236}">
                <a16:creationId xmlns:a16="http://schemas.microsoft.com/office/drawing/2014/main" id="{7F7A24B3-3BF9-43A4-B8AF-0205822CFA2E}"/>
              </a:ext>
            </a:extLst>
          </p:cNvPr>
          <p:cNvSpPr>
            <a:spLocks noGrp="1"/>
          </p:cNvSpPr>
          <p:nvPr/>
        </p:nvSpPr>
        <p:spPr>
          <a:xfrm rot="5400000">
            <a:off x="6362700" y="3214688"/>
            <a:ext cx="3886200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5" name="p05-col-line-3">
            <a:extLst>
              <a:ext uri="{FF2B5EF4-FFF2-40B4-BE49-F238E27FC236}">
                <a16:creationId xmlns:a16="http://schemas.microsoft.com/office/drawing/2014/main" id="{3CD52F41-A098-4752-B10B-0047A78C03AC}"/>
              </a:ext>
            </a:extLst>
          </p:cNvPr>
          <p:cNvSpPr>
            <a:spLocks noGrp="1"/>
          </p:cNvSpPr>
          <p:nvPr/>
        </p:nvSpPr>
        <p:spPr>
          <a:xfrm rot="5400000">
            <a:off x="9686925" y="3214688"/>
            <a:ext cx="3886200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6" name="p05-row-label-0">
            <a:extLst>
              <a:ext uri="{FF2B5EF4-FFF2-40B4-BE49-F238E27FC236}">
                <a16:creationId xmlns:a16="http://schemas.microsoft.com/office/drawing/2014/main" id="{631A9F3F-C2EB-41A0-8880-74E1D3D33817}"/>
              </a:ext>
            </a:extLst>
          </p:cNvPr>
          <p:cNvSpPr>
            <a:spLocks noGrp="1"/>
          </p:cNvSpPr>
          <p:nvPr/>
        </p:nvSpPr>
        <p:spPr>
          <a:xfrm>
            <a:off x="628650" y="1962150"/>
            <a:ext cx="95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研究场景</a:t>
            </a:r>
          </a:p>
        </p:txBody>
      </p:sp>
      <p:sp>
        <p:nvSpPr>
          <p:cNvPr id="17" name="p05-row-label-1">
            <a:extLst>
              <a:ext uri="{FF2B5EF4-FFF2-40B4-BE49-F238E27FC236}">
                <a16:creationId xmlns:a16="http://schemas.microsoft.com/office/drawing/2014/main" id="{27031854-779A-4589-8D4F-15FB9850DBF4}"/>
              </a:ext>
            </a:extLst>
          </p:cNvPr>
          <p:cNvSpPr>
            <a:spLocks noGrp="1"/>
          </p:cNvSpPr>
          <p:nvPr/>
        </p:nvSpPr>
        <p:spPr>
          <a:xfrm>
            <a:off x="628650" y="2495550"/>
            <a:ext cx="9525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连接动作</a:t>
            </a:r>
          </a:p>
        </p:txBody>
      </p:sp>
      <p:sp>
        <p:nvSpPr>
          <p:cNvPr id="18" name="p05-row-label-2">
            <a:extLst>
              <a:ext uri="{FF2B5EF4-FFF2-40B4-BE49-F238E27FC236}">
                <a16:creationId xmlns:a16="http://schemas.microsoft.com/office/drawing/2014/main" id="{5F6E4629-4F3B-4EBA-9C63-4349B3D40C7B}"/>
              </a:ext>
            </a:extLst>
          </p:cNvPr>
          <p:cNvSpPr>
            <a:spLocks noGrp="1"/>
          </p:cNvSpPr>
          <p:nvPr/>
        </p:nvSpPr>
        <p:spPr>
          <a:xfrm>
            <a:off x="628650" y="3486150"/>
            <a:ext cx="952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人工位置</a:t>
            </a:r>
          </a:p>
        </p:txBody>
      </p:sp>
      <p:sp>
        <p:nvSpPr>
          <p:cNvPr id="19" name="p05-row-label-3">
            <a:extLst>
              <a:ext uri="{FF2B5EF4-FFF2-40B4-BE49-F238E27FC236}">
                <a16:creationId xmlns:a16="http://schemas.microsoft.com/office/drawing/2014/main" id="{FB0BF625-C84C-4EA1-B429-5AA67FA6058D}"/>
              </a:ext>
            </a:extLst>
          </p:cNvPr>
          <p:cNvSpPr>
            <a:spLocks noGrp="1"/>
          </p:cNvSpPr>
          <p:nvPr/>
        </p:nvSpPr>
        <p:spPr>
          <a:xfrm>
            <a:off x="628650" y="4267200"/>
            <a:ext cx="9525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证据边界</a:t>
            </a:r>
          </a:p>
        </p:txBody>
      </p:sp>
      <p:sp>
        <p:nvSpPr>
          <p:cNvPr id="20" name="p05-header-accent-0">
            <a:extLst>
              <a:ext uri="{FF2B5EF4-FFF2-40B4-BE49-F238E27FC236}">
                <a16:creationId xmlns:a16="http://schemas.microsoft.com/office/drawing/2014/main" id="{B3822CE5-340A-4C0A-925F-E7FDBB6D0DA9}"/>
              </a:ext>
            </a:extLst>
          </p:cNvPr>
          <p:cNvSpPr>
            <a:spLocks noGrp="1"/>
          </p:cNvSpPr>
          <p:nvPr/>
        </p:nvSpPr>
        <p:spPr>
          <a:xfrm>
            <a:off x="1657350" y="1276350"/>
            <a:ext cx="3324225" cy="3810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21" name="p05-system-0">
            <a:extLst>
              <a:ext uri="{FF2B5EF4-FFF2-40B4-BE49-F238E27FC236}">
                <a16:creationId xmlns:a16="http://schemas.microsoft.com/office/drawing/2014/main" id="{92816229-C0F1-4C10-9C2E-AA8C51CF3D86}"/>
              </a:ext>
            </a:extLst>
          </p:cNvPr>
          <p:cNvSpPr>
            <a:spLocks noGrp="1"/>
          </p:cNvSpPr>
          <p:nvPr/>
        </p:nvSpPr>
        <p:spPr>
          <a:xfrm>
            <a:off x="1733550" y="1352550"/>
            <a:ext cx="3171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2023 综述</a:t>
            </a:r>
          </a:p>
        </p:txBody>
      </p:sp>
      <p:sp>
        <p:nvSpPr>
          <p:cNvPr id="22" name="p05-paper-0">
            <a:extLst>
              <a:ext uri="{FF2B5EF4-FFF2-40B4-BE49-F238E27FC236}">
                <a16:creationId xmlns:a16="http://schemas.microsoft.com/office/drawing/2014/main" id="{BF29CAB3-4D21-414B-A84B-581533A99448}"/>
              </a:ext>
            </a:extLst>
          </p:cNvPr>
          <p:cNvSpPr>
            <a:spLocks noGrp="1"/>
          </p:cNvSpPr>
          <p:nvPr/>
        </p:nvSpPr>
        <p:spPr>
          <a:xfrm>
            <a:off x="1733550" y="1676400"/>
            <a:ext cx="31718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975" b="0">
                <a:solidFill>
                  <a:srgbClr val="667684"/>
                </a:solidFill>
              </a:defRPr>
            </a:pPr>
            <a:r>
              <a:rPr sz="975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Wang et al. · Nature 620 · 2023</a:t>
            </a:r>
          </a:p>
        </p:txBody>
      </p:sp>
      <p:sp>
        <p:nvSpPr>
          <p:cNvPr id="23" name="p05-value-0-0">
            <a:extLst>
              <a:ext uri="{FF2B5EF4-FFF2-40B4-BE49-F238E27FC236}">
                <a16:creationId xmlns:a16="http://schemas.microsoft.com/office/drawing/2014/main" id="{7AACA765-9350-4A48-B19D-275663F7A56E}"/>
              </a:ext>
            </a:extLst>
          </p:cNvPr>
          <p:cNvSpPr>
            <a:spLocks noGrp="1"/>
          </p:cNvSpPr>
          <p:nvPr/>
        </p:nvSpPr>
        <p:spPr>
          <a:xfrm>
            <a:off x="1771650" y="1981200"/>
            <a:ext cx="3095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科学发现全流程</a:t>
            </a:r>
          </a:p>
        </p:txBody>
      </p:sp>
      <p:sp>
        <p:nvSpPr>
          <p:cNvPr id="24" name="p05-value-0-1">
            <a:extLst>
              <a:ext uri="{FF2B5EF4-FFF2-40B4-BE49-F238E27FC236}">
                <a16:creationId xmlns:a16="http://schemas.microsoft.com/office/drawing/2014/main" id="{029F3106-B931-41A3-BD38-059821FD025D}"/>
              </a:ext>
            </a:extLst>
          </p:cNvPr>
          <p:cNvSpPr>
            <a:spLocks noGrp="1"/>
          </p:cNvSpPr>
          <p:nvPr/>
        </p:nvSpPr>
        <p:spPr>
          <a:xfrm>
            <a:off x="1771650" y="2514600"/>
            <a:ext cx="3095625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 → 表示 → 假设 →</a:t>
            </a:r>
          </a:p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 / 模拟 → 解释</a:t>
            </a:r>
          </a:p>
        </p:txBody>
      </p:sp>
      <p:sp>
        <p:nvSpPr>
          <p:cNvPr id="25" name="p05-value-0-2">
            <a:extLst>
              <a:ext uri="{FF2B5EF4-FFF2-40B4-BE49-F238E27FC236}">
                <a16:creationId xmlns:a16="http://schemas.microsoft.com/office/drawing/2014/main" id="{C5C13765-12E5-4786-AE66-691DB953A97A}"/>
              </a:ext>
            </a:extLst>
          </p:cNvPr>
          <p:cNvSpPr>
            <a:spLocks noGrp="1"/>
          </p:cNvSpPr>
          <p:nvPr/>
        </p:nvSpPr>
        <p:spPr>
          <a:xfrm>
            <a:off x="1771650" y="3505200"/>
            <a:ext cx="30956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全程监督；判断与解释</a:t>
            </a:r>
          </a:p>
        </p:txBody>
      </p:sp>
      <p:sp>
        <p:nvSpPr>
          <p:cNvPr id="26" name="p05-value-0-3">
            <a:extLst>
              <a:ext uri="{FF2B5EF4-FFF2-40B4-BE49-F238E27FC236}">
                <a16:creationId xmlns:a16="http://schemas.microsoft.com/office/drawing/2014/main" id="{DF587927-CD85-482A-AA18-83C11D0AF922}"/>
              </a:ext>
            </a:extLst>
          </p:cNvPr>
          <p:cNvSpPr>
            <a:spLocks noGrp="1"/>
          </p:cNvSpPr>
          <p:nvPr/>
        </p:nvSpPr>
        <p:spPr>
          <a:xfrm>
            <a:off x="1771650" y="4286250"/>
            <a:ext cx="309562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综述性框架；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具体能力须回原始研究</a:t>
            </a:r>
          </a:p>
        </p:txBody>
      </p:sp>
      <p:sp>
        <p:nvSpPr>
          <p:cNvPr id="27" name="p05-header-accent-1">
            <a:extLst>
              <a:ext uri="{FF2B5EF4-FFF2-40B4-BE49-F238E27FC236}">
                <a16:creationId xmlns:a16="http://schemas.microsoft.com/office/drawing/2014/main" id="{6D1B0EB2-AD51-4ADB-82C6-487704D42774}"/>
              </a:ext>
            </a:extLst>
          </p:cNvPr>
          <p:cNvSpPr>
            <a:spLocks noGrp="1"/>
          </p:cNvSpPr>
          <p:nvPr/>
        </p:nvSpPr>
        <p:spPr>
          <a:xfrm>
            <a:off x="4981575" y="1276350"/>
            <a:ext cx="3324225" cy="38100"/>
          </a:xfrm>
          <a:prstGeom prst="rect">
            <a:avLst/>
          </a:prstGeom>
          <a:solidFill>
            <a:srgbClr val="2F638A"/>
          </a:solidFill>
          <a:ln w="0">
            <a:noFill/>
            <a:prstDash val="solid"/>
          </a:ln>
        </p:spPr>
      </p:sp>
      <p:sp>
        <p:nvSpPr>
          <p:cNvPr id="28" name="p05-system-1">
            <a:extLst>
              <a:ext uri="{FF2B5EF4-FFF2-40B4-BE49-F238E27FC236}">
                <a16:creationId xmlns:a16="http://schemas.microsoft.com/office/drawing/2014/main" id="{80F281AA-BCEB-469D-BBBB-CF4F13362929}"/>
              </a:ext>
            </a:extLst>
          </p:cNvPr>
          <p:cNvSpPr>
            <a:spLocks noGrp="1"/>
          </p:cNvSpPr>
          <p:nvPr/>
        </p:nvSpPr>
        <p:spPr>
          <a:xfrm>
            <a:off x="5057775" y="1352550"/>
            <a:ext cx="3171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2F638A"/>
                </a:solidFill>
              </a:defRPr>
            </a:pPr>
            <a:r>
              <a:rPr sz="180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Co-Scientist</a:t>
            </a:r>
          </a:p>
        </p:txBody>
      </p:sp>
      <p:sp>
        <p:nvSpPr>
          <p:cNvPr id="29" name="p05-paper-1">
            <a:extLst>
              <a:ext uri="{FF2B5EF4-FFF2-40B4-BE49-F238E27FC236}">
                <a16:creationId xmlns:a16="http://schemas.microsoft.com/office/drawing/2014/main" id="{2DCC7AB3-32F1-4E69-95A4-2D602CB9F02E}"/>
              </a:ext>
            </a:extLst>
          </p:cNvPr>
          <p:cNvSpPr>
            <a:spLocks noGrp="1"/>
          </p:cNvSpPr>
          <p:nvPr/>
        </p:nvSpPr>
        <p:spPr>
          <a:xfrm>
            <a:off x="5057775" y="1676400"/>
            <a:ext cx="31718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975" b="0">
                <a:solidFill>
                  <a:srgbClr val="667684"/>
                </a:solidFill>
              </a:defRPr>
            </a:pPr>
            <a:r>
              <a:rPr sz="975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Gottweis et al. · Nature 655 · 2026</a:t>
            </a:r>
          </a:p>
        </p:txBody>
      </p:sp>
      <p:sp>
        <p:nvSpPr>
          <p:cNvPr id="30" name="p05-value-1-0">
            <a:extLst>
              <a:ext uri="{FF2B5EF4-FFF2-40B4-BE49-F238E27FC236}">
                <a16:creationId xmlns:a16="http://schemas.microsoft.com/office/drawing/2014/main" id="{CB6E0F3C-820D-4D81-9B5A-D9BC77284058}"/>
              </a:ext>
            </a:extLst>
          </p:cNvPr>
          <p:cNvSpPr>
            <a:spLocks noGrp="1"/>
          </p:cNvSpPr>
          <p:nvPr/>
        </p:nvSpPr>
        <p:spPr>
          <a:xfrm>
            <a:off x="5095875" y="1981200"/>
            <a:ext cx="3095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三类生物医学任务</a:t>
            </a:r>
          </a:p>
        </p:txBody>
      </p:sp>
      <p:sp>
        <p:nvSpPr>
          <p:cNvPr id="31" name="p05-value-1-1">
            <a:extLst>
              <a:ext uri="{FF2B5EF4-FFF2-40B4-BE49-F238E27FC236}">
                <a16:creationId xmlns:a16="http://schemas.microsoft.com/office/drawing/2014/main" id="{607734F4-E638-42AB-B4FA-0BA20CFA611C}"/>
              </a:ext>
            </a:extLst>
          </p:cNvPr>
          <p:cNvSpPr>
            <a:spLocks noGrp="1"/>
          </p:cNvSpPr>
          <p:nvPr/>
        </p:nvSpPr>
        <p:spPr>
          <a:xfrm>
            <a:off x="5095875" y="2514600"/>
            <a:ext cx="3095625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 → 辩论 / 进化 →</a:t>
            </a:r>
          </a:p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方案 → 体外验证</a:t>
            </a:r>
          </a:p>
        </p:txBody>
      </p:sp>
      <p:sp>
        <p:nvSpPr>
          <p:cNvPr id="32" name="p05-value-1-2">
            <a:extLst>
              <a:ext uri="{FF2B5EF4-FFF2-40B4-BE49-F238E27FC236}">
                <a16:creationId xmlns:a16="http://schemas.microsoft.com/office/drawing/2014/main" id="{2F51CBB4-F9DC-48E8-8BF7-98DA201AA0C5}"/>
              </a:ext>
            </a:extLst>
          </p:cNvPr>
          <p:cNvSpPr>
            <a:spLocks noGrp="1"/>
          </p:cNvSpPr>
          <p:nvPr/>
        </p:nvSpPr>
        <p:spPr>
          <a:xfrm>
            <a:off x="5095875" y="3505200"/>
            <a:ext cx="30956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提供目标；执行并核验实验</a:t>
            </a:r>
          </a:p>
        </p:txBody>
      </p:sp>
      <p:sp>
        <p:nvSpPr>
          <p:cNvPr id="33" name="p05-value-1-3">
            <a:extLst>
              <a:ext uri="{FF2B5EF4-FFF2-40B4-BE49-F238E27FC236}">
                <a16:creationId xmlns:a16="http://schemas.microsoft.com/office/drawing/2014/main" id="{0A568EFE-0355-47C3-8B65-99C8342C3591}"/>
              </a:ext>
            </a:extLst>
          </p:cNvPr>
          <p:cNvSpPr>
            <a:spLocks noGrp="1"/>
          </p:cNvSpPr>
          <p:nvPr/>
        </p:nvSpPr>
        <p:spPr>
          <a:xfrm>
            <a:off x="5095875" y="4286250"/>
            <a:ext cx="309562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初步体外验证；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非通用自主科学家</a:t>
            </a:r>
          </a:p>
        </p:txBody>
      </p:sp>
      <p:sp>
        <p:nvSpPr>
          <p:cNvPr id="34" name="p05-header-accent-2">
            <a:extLst>
              <a:ext uri="{FF2B5EF4-FFF2-40B4-BE49-F238E27FC236}">
                <a16:creationId xmlns:a16="http://schemas.microsoft.com/office/drawing/2014/main" id="{6A2F250A-B7E2-4E1B-AAD2-287C8727A517}"/>
              </a:ext>
            </a:extLst>
          </p:cNvPr>
          <p:cNvSpPr>
            <a:spLocks noGrp="1"/>
          </p:cNvSpPr>
          <p:nvPr/>
        </p:nvSpPr>
        <p:spPr>
          <a:xfrm>
            <a:off x="8305800" y="1276350"/>
            <a:ext cx="3324225" cy="38100"/>
          </a:xfrm>
          <a:prstGeom prst="rect">
            <a:avLst/>
          </a:prstGeom>
          <a:solidFill>
            <a:srgbClr val="28745A"/>
          </a:solidFill>
          <a:ln w="0">
            <a:noFill/>
            <a:prstDash val="solid"/>
          </a:ln>
        </p:spPr>
      </p:sp>
      <p:sp>
        <p:nvSpPr>
          <p:cNvPr id="35" name="p05-system-2">
            <a:extLst>
              <a:ext uri="{FF2B5EF4-FFF2-40B4-BE49-F238E27FC236}">
                <a16:creationId xmlns:a16="http://schemas.microsoft.com/office/drawing/2014/main" id="{4F8E8702-3A29-4DA2-A126-0C9B36267504}"/>
              </a:ext>
            </a:extLst>
          </p:cNvPr>
          <p:cNvSpPr>
            <a:spLocks noGrp="1"/>
          </p:cNvSpPr>
          <p:nvPr/>
        </p:nvSpPr>
        <p:spPr>
          <a:xfrm>
            <a:off x="8382000" y="1352550"/>
            <a:ext cx="3171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Robin</a:t>
            </a:r>
          </a:p>
        </p:txBody>
      </p:sp>
      <p:sp>
        <p:nvSpPr>
          <p:cNvPr id="36" name="p05-paper-2">
            <a:extLst>
              <a:ext uri="{FF2B5EF4-FFF2-40B4-BE49-F238E27FC236}">
                <a16:creationId xmlns:a16="http://schemas.microsoft.com/office/drawing/2014/main" id="{9CCA656E-A608-46B1-AAD2-04DACCF3C2AA}"/>
              </a:ext>
            </a:extLst>
          </p:cNvPr>
          <p:cNvSpPr>
            <a:spLocks noGrp="1"/>
          </p:cNvSpPr>
          <p:nvPr/>
        </p:nvSpPr>
        <p:spPr>
          <a:xfrm>
            <a:off x="8382000" y="1676400"/>
            <a:ext cx="31718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975" b="0">
                <a:solidFill>
                  <a:srgbClr val="667684"/>
                </a:solidFill>
              </a:defRPr>
            </a:pPr>
            <a:r>
              <a:rPr sz="975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Ghareeb et al. · Nature 655 · 2026</a:t>
            </a:r>
          </a:p>
        </p:txBody>
      </p:sp>
      <p:sp>
        <p:nvSpPr>
          <p:cNvPr id="37" name="p05-value-2-0">
            <a:extLst>
              <a:ext uri="{FF2B5EF4-FFF2-40B4-BE49-F238E27FC236}">
                <a16:creationId xmlns:a16="http://schemas.microsoft.com/office/drawing/2014/main" id="{EBC04CBE-004D-4575-86A8-00E160BDEFC2}"/>
              </a:ext>
            </a:extLst>
          </p:cNvPr>
          <p:cNvSpPr>
            <a:spLocks noGrp="1"/>
          </p:cNvSpPr>
          <p:nvPr/>
        </p:nvSpPr>
        <p:spPr>
          <a:xfrm>
            <a:off x="8420100" y="1981200"/>
            <a:ext cx="3095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dAMD RPE 体外模型</a:t>
            </a:r>
          </a:p>
        </p:txBody>
      </p:sp>
      <p:sp>
        <p:nvSpPr>
          <p:cNvPr id="38" name="p05-value-2-1">
            <a:extLst>
              <a:ext uri="{FF2B5EF4-FFF2-40B4-BE49-F238E27FC236}">
                <a16:creationId xmlns:a16="http://schemas.microsoft.com/office/drawing/2014/main" id="{15DE789C-6273-4531-81BE-A38561543126}"/>
              </a:ext>
            </a:extLst>
          </p:cNvPr>
          <p:cNvSpPr>
            <a:spLocks noGrp="1"/>
          </p:cNvSpPr>
          <p:nvPr/>
        </p:nvSpPr>
        <p:spPr>
          <a:xfrm>
            <a:off x="8420100" y="2514600"/>
            <a:ext cx="3095625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 → 假设 → 实验建议 →</a:t>
            </a:r>
          </a:p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分析 → 更新</a:t>
            </a:r>
          </a:p>
        </p:txBody>
      </p:sp>
      <p:sp>
        <p:nvSpPr>
          <p:cNvPr id="39" name="p05-value-2-2">
            <a:extLst>
              <a:ext uri="{FF2B5EF4-FFF2-40B4-BE49-F238E27FC236}">
                <a16:creationId xmlns:a16="http://schemas.microsoft.com/office/drawing/2014/main" id="{525A29F7-1ADD-4A99-883E-39FC8942BDFB}"/>
              </a:ext>
            </a:extLst>
          </p:cNvPr>
          <p:cNvSpPr>
            <a:spLocks noGrp="1"/>
          </p:cNvSpPr>
          <p:nvPr/>
        </p:nvSpPr>
        <p:spPr>
          <a:xfrm>
            <a:off x="8420100" y="3505200"/>
            <a:ext cx="30956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设计并执行实验</a:t>
            </a:r>
          </a:p>
        </p:txBody>
      </p:sp>
      <p:sp>
        <p:nvSpPr>
          <p:cNvPr id="40" name="p05-value-2-3">
            <a:extLst>
              <a:ext uri="{FF2B5EF4-FFF2-40B4-BE49-F238E27FC236}">
                <a16:creationId xmlns:a16="http://schemas.microsoft.com/office/drawing/2014/main" id="{77C7978B-7206-4378-81D5-10CB78C24964}"/>
              </a:ext>
            </a:extLst>
          </p:cNvPr>
          <p:cNvSpPr>
            <a:spLocks noGrp="1"/>
          </p:cNvSpPr>
          <p:nvPr/>
        </p:nvSpPr>
        <p:spPr>
          <a:xfrm>
            <a:off x="8420100" y="4286250"/>
            <a:ext cx="309562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semi-autonomous；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无体内 / 临床验证</a:t>
            </a:r>
          </a:p>
        </p:txBody>
      </p:sp>
      <p:sp>
        <p:nvSpPr>
          <p:cNvPr id="41" name="p05-conclusion">
            <a:extLst>
              <a:ext uri="{FF2B5EF4-FFF2-40B4-BE49-F238E27FC236}">
                <a16:creationId xmlns:a16="http://schemas.microsoft.com/office/drawing/2014/main" id="{0EFF7340-1099-401B-A52B-F1826AA94576}"/>
              </a:ext>
            </a:extLst>
          </p:cNvPr>
          <p:cNvSpPr>
            <a:spLocks noGrp="1"/>
          </p:cNvSpPr>
          <p:nvPr/>
        </p:nvSpPr>
        <p:spPr>
          <a:xfrm>
            <a:off x="1143000" y="5286375"/>
            <a:ext cx="9906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从全流程框架到多步系统，人工判断与实验核验始终不可省略。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个人产出扩大，不等于科学整体探索范围扩大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C630A04-5A25-9E0C-9436-126091DB86B3}" type="slidenum">
              <a:rPr/>
              <a:t>6</a:t>
            </a:fld>
            <a:endParaRPr/>
          </a:p>
        </p:txBody>
      </p:sp>
      <p:sp>
        <p:nvSpPr>
          <p:cNvPr id="6" name="p06-paper">
            <a:extLst>
              <a:ext uri="{FF2B5EF4-FFF2-40B4-BE49-F238E27FC236}">
                <a16:creationId xmlns:a16="http://schemas.microsoft.com/office/drawing/2014/main" id="{8FD3FC39-DA17-4DFE-BF2D-E0B637299C5C}"/>
              </a:ext>
            </a:extLst>
          </p:cNvPr>
          <p:cNvSpPr>
            <a:spLocks noGrp="1"/>
          </p:cNvSpPr>
          <p:nvPr/>
        </p:nvSpPr>
        <p:spPr>
          <a:xfrm>
            <a:off x="628650" y="895350"/>
            <a:ext cx="10934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00" b="1">
                <a:solidFill>
                  <a:srgbClr val="667684"/>
                </a:solidFill>
              </a:defRPr>
            </a:pPr>
            <a:r>
              <a:rPr sz="1200" b="1" dirty="0">
                <a:solidFill>
                  <a:srgbClr val="667684"/>
                </a:solidFill>
                <a:latin typeface="Arial"/>
                <a:ea typeface="Arial"/>
                <a:cs typeface="Arial"/>
              </a:rPr>
              <a:t>HAO </a:t>
            </a:r>
            <a:r>
              <a:rPr lang="en-TW" sz="1200" b="1" dirty="0">
                <a:solidFill>
                  <a:srgbClr val="667684"/>
                </a:solidFill>
                <a:latin typeface="Arial"/>
                <a:ea typeface="Arial"/>
                <a:cs typeface="Arial"/>
              </a:rPr>
              <a:t>et</a:t>
            </a:r>
            <a:r>
              <a:rPr sz="1200" b="1" dirty="0">
                <a:solidFill>
                  <a:srgbClr val="667684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200" b="1" dirty="0">
                <a:solidFill>
                  <a:srgbClr val="667684"/>
                </a:solidFill>
                <a:latin typeface="Arial"/>
                <a:ea typeface="Arial"/>
                <a:cs typeface="Arial"/>
              </a:rPr>
              <a:t>al</a:t>
            </a:r>
            <a:r>
              <a:rPr sz="1200" b="1" dirty="0">
                <a:solidFill>
                  <a:srgbClr val="667684"/>
                </a:solidFill>
                <a:latin typeface="Arial"/>
                <a:ea typeface="Arial"/>
                <a:cs typeface="Arial"/>
              </a:rPr>
              <a:t>. · NATURE 649 · 2026</a:t>
            </a:r>
          </a:p>
        </p:txBody>
      </p:sp>
      <p:sp>
        <p:nvSpPr>
          <p:cNvPr id="7" name="p06-divider">
            <a:extLst>
              <a:ext uri="{FF2B5EF4-FFF2-40B4-BE49-F238E27FC236}">
                <a16:creationId xmlns:a16="http://schemas.microsoft.com/office/drawing/2014/main" id="{33FD6509-F3B7-476A-A03E-2B7C1F2B761E}"/>
              </a:ext>
            </a:extLst>
          </p:cNvPr>
          <p:cNvSpPr>
            <a:spLocks noGrp="1"/>
          </p:cNvSpPr>
          <p:nvPr/>
        </p:nvSpPr>
        <p:spPr>
          <a:xfrm rot="5400000">
            <a:off x="4657725" y="2686050"/>
            <a:ext cx="287655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8" name="p06-personal-title">
            <a:extLst>
              <a:ext uri="{FF2B5EF4-FFF2-40B4-BE49-F238E27FC236}">
                <a16:creationId xmlns:a16="http://schemas.microsoft.com/office/drawing/2014/main" id="{9A9D7C7D-544E-4D48-B8BC-D15175C9D90F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495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个人层面｜产出与影响</a:t>
            </a:r>
          </a:p>
        </p:txBody>
      </p:sp>
      <p:sp>
        <p:nvSpPr>
          <p:cNvPr id="9" name="p06-collective-title">
            <a:extLst>
              <a:ext uri="{FF2B5EF4-FFF2-40B4-BE49-F238E27FC236}">
                <a16:creationId xmlns:a16="http://schemas.microsoft.com/office/drawing/2014/main" id="{84A2445E-D05C-4268-8C3A-0B09E5896A44}"/>
              </a:ext>
            </a:extLst>
          </p:cNvPr>
          <p:cNvSpPr>
            <a:spLocks noGrp="1"/>
          </p:cNvSpPr>
          <p:nvPr/>
        </p:nvSpPr>
        <p:spPr>
          <a:xfrm>
            <a:off x="6553200" y="1257300"/>
            <a:ext cx="495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集体层面｜范围与后续参与</a:t>
            </a:r>
          </a:p>
        </p:txBody>
      </p:sp>
      <p:sp>
        <p:nvSpPr>
          <p:cNvPr id="10" name="p06-personal-value-0">
            <a:extLst>
              <a:ext uri="{FF2B5EF4-FFF2-40B4-BE49-F238E27FC236}">
                <a16:creationId xmlns:a16="http://schemas.microsoft.com/office/drawing/2014/main" id="{42BF527A-C9D1-4AA3-8749-9D522F64B343}"/>
              </a:ext>
            </a:extLst>
          </p:cNvPr>
          <p:cNvSpPr>
            <a:spLocks noGrp="1"/>
          </p:cNvSpPr>
          <p:nvPr/>
        </p:nvSpPr>
        <p:spPr>
          <a:xfrm>
            <a:off x="723900" y="1809750"/>
            <a:ext cx="15049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450" b="1">
                <a:solidFill>
                  <a:srgbClr val="28745A"/>
                </a:solidFill>
              </a:defRPr>
            </a:pPr>
            <a:r>
              <a:rPr sz="34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3.02×</a:t>
            </a:r>
          </a:p>
        </p:txBody>
      </p:sp>
      <p:sp>
        <p:nvSpPr>
          <p:cNvPr id="11" name="p06-personal-label-0">
            <a:extLst>
              <a:ext uri="{FF2B5EF4-FFF2-40B4-BE49-F238E27FC236}">
                <a16:creationId xmlns:a16="http://schemas.microsoft.com/office/drawing/2014/main" id="{6901803B-05F9-4458-88AB-CF7F39389543}"/>
              </a:ext>
            </a:extLst>
          </p:cNvPr>
          <p:cNvSpPr>
            <a:spLocks noGrp="1"/>
          </p:cNvSpPr>
          <p:nvPr/>
        </p:nvSpPr>
        <p:spPr>
          <a:xfrm>
            <a:off x="2286000" y="182880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采用者年均论文数</a:t>
            </a:r>
          </a:p>
        </p:txBody>
      </p:sp>
      <p:sp>
        <p:nvSpPr>
          <p:cNvPr id="12" name="p06-personal-basis-0">
            <a:extLst>
              <a:ext uri="{FF2B5EF4-FFF2-40B4-BE49-F238E27FC236}">
                <a16:creationId xmlns:a16="http://schemas.microsoft.com/office/drawing/2014/main" id="{DFEE1FE5-E178-460B-BBAD-1B9171D1EA85}"/>
              </a:ext>
            </a:extLst>
          </p:cNvPr>
          <p:cNvSpPr>
            <a:spLocks noGrp="1"/>
          </p:cNvSpPr>
          <p:nvPr/>
        </p:nvSpPr>
        <p:spPr>
          <a:xfrm>
            <a:off x="2286000" y="2152650"/>
            <a:ext cx="3181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相对未采用者</a:t>
            </a:r>
          </a:p>
        </p:txBody>
      </p:sp>
      <p:sp>
        <p:nvSpPr>
          <p:cNvPr id="13" name="p06-personal-base-0">
            <a:extLst>
              <a:ext uri="{FF2B5EF4-FFF2-40B4-BE49-F238E27FC236}">
                <a16:creationId xmlns:a16="http://schemas.microsoft.com/office/drawing/2014/main" id="{C512BE71-D1FF-4C1F-AAC3-C170956495F9}"/>
              </a:ext>
            </a:extLst>
          </p:cNvPr>
          <p:cNvSpPr>
            <a:spLocks noGrp="1"/>
          </p:cNvSpPr>
          <p:nvPr/>
        </p:nvSpPr>
        <p:spPr>
          <a:xfrm>
            <a:off x="2305050" y="2476500"/>
            <a:ext cx="647700" cy="762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4" name="p06-personal-bar-0">
            <a:extLst>
              <a:ext uri="{FF2B5EF4-FFF2-40B4-BE49-F238E27FC236}">
                <a16:creationId xmlns:a16="http://schemas.microsoft.com/office/drawing/2014/main" id="{0517D427-C8C2-4FA8-894A-5C74CA6422B3}"/>
              </a:ext>
            </a:extLst>
          </p:cNvPr>
          <p:cNvSpPr>
            <a:spLocks noGrp="1"/>
          </p:cNvSpPr>
          <p:nvPr/>
        </p:nvSpPr>
        <p:spPr>
          <a:xfrm>
            <a:off x="2305050" y="2609850"/>
            <a:ext cx="1952625" cy="95250"/>
          </a:xfrm>
          <a:prstGeom prst="rect">
            <a:avLst/>
          </a:prstGeom>
          <a:solidFill>
            <a:srgbClr val="28745A"/>
          </a:solidFill>
          <a:ln w="0">
            <a:noFill/>
            <a:prstDash val="solid"/>
          </a:ln>
        </p:spPr>
      </p:sp>
      <p:sp>
        <p:nvSpPr>
          <p:cNvPr id="15" name="p06-personal-value-1">
            <a:extLst>
              <a:ext uri="{FF2B5EF4-FFF2-40B4-BE49-F238E27FC236}">
                <a16:creationId xmlns:a16="http://schemas.microsoft.com/office/drawing/2014/main" id="{A10F3D28-3D5B-488E-847A-26D813F7C7BC}"/>
              </a:ext>
            </a:extLst>
          </p:cNvPr>
          <p:cNvSpPr>
            <a:spLocks noGrp="1"/>
          </p:cNvSpPr>
          <p:nvPr/>
        </p:nvSpPr>
        <p:spPr>
          <a:xfrm>
            <a:off x="723900" y="3009900"/>
            <a:ext cx="15049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450" b="1">
                <a:solidFill>
                  <a:srgbClr val="28745A"/>
                </a:solidFill>
              </a:defRPr>
            </a:pPr>
            <a:r>
              <a:rPr sz="34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4.84×</a:t>
            </a:r>
          </a:p>
        </p:txBody>
      </p:sp>
      <p:sp>
        <p:nvSpPr>
          <p:cNvPr id="16" name="p06-personal-label-1">
            <a:extLst>
              <a:ext uri="{FF2B5EF4-FFF2-40B4-BE49-F238E27FC236}">
                <a16:creationId xmlns:a16="http://schemas.microsoft.com/office/drawing/2014/main" id="{92802FA7-4354-48D0-B03A-646ECBA1C6CE}"/>
              </a:ext>
            </a:extLst>
          </p:cNvPr>
          <p:cNvSpPr>
            <a:spLocks noGrp="1"/>
          </p:cNvSpPr>
          <p:nvPr/>
        </p:nvSpPr>
        <p:spPr>
          <a:xfrm>
            <a:off x="2286000" y="302895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采用者年均引用数</a:t>
            </a:r>
          </a:p>
        </p:txBody>
      </p:sp>
      <p:sp>
        <p:nvSpPr>
          <p:cNvPr id="17" name="p06-personal-basis-1">
            <a:extLst>
              <a:ext uri="{FF2B5EF4-FFF2-40B4-BE49-F238E27FC236}">
                <a16:creationId xmlns:a16="http://schemas.microsoft.com/office/drawing/2014/main" id="{C727B434-E885-4CEE-9EBF-D394CE2F7333}"/>
              </a:ext>
            </a:extLst>
          </p:cNvPr>
          <p:cNvSpPr>
            <a:spLocks noGrp="1"/>
          </p:cNvSpPr>
          <p:nvPr/>
        </p:nvSpPr>
        <p:spPr>
          <a:xfrm>
            <a:off x="2286000" y="3352800"/>
            <a:ext cx="3181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相对未采用者</a:t>
            </a:r>
          </a:p>
        </p:txBody>
      </p:sp>
      <p:sp>
        <p:nvSpPr>
          <p:cNvPr id="18" name="p06-personal-base-1">
            <a:extLst>
              <a:ext uri="{FF2B5EF4-FFF2-40B4-BE49-F238E27FC236}">
                <a16:creationId xmlns:a16="http://schemas.microsoft.com/office/drawing/2014/main" id="{9F009C2B-E140-48C1-B5E7-BF235D6869E6}"/>
              </a:ext>
            </a:extLst>
          </p:cNvPr>
          <p:cNvSpPr>
            <a:spLocks noGrp="1"/>
          </p:cNvSpPr>
          <p:nvPr/>
        </p:nvSpPr>
        <p:spPr>
          <a:xfrm>
            <a:off x="2305050" y="3676650"/>
            <a:ext cx="647700" cy="762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9" name="p06-personal-bar-1">
            <a:extLst>
              <a:ext uri="{FF2B5EF4-FFF2-40B4-BE49-F238E27FC236}">
                <a16:creationId xmlns:a16="http://schemas.microsoft.com/office/drawing/2014/main" id="{ADB74A38-307D-4581-AA18-419E3CD355FC}"/>
              </a:ext>
            </a:extLst>
          </p:cNvPr>
          <p:cNvSpPr>
            <a:spLocks noGrp="1"/>
          </p:cNvSpPr>
          <p:nvPr/>
        </p:nvSpPr>
        <p:spPr>
          <a:xfrm>
            <a:off x="2305050" y="3810000"/>
            <a:ext cx="3133725" cy="95250"/>
          </a:xfrm>
          <a:prstGeom prst="rect">
            <a:avLst/>
          </a:prstGeom>
          <a:solidFill>
            <a:srgbClr val="28745A"/>
          </a:solidFill>
          <a:ln w="0">
            <a:noFill/>
            <a:prstDash val="solid"/>
          </a:ln>
        </p:spPr>
      </p:sp>
      <p:sp>
        <p:nvSpPr>
          <p:cNvPr id="20" name="p06-collective-value-0">
            <a:extLst>
              <a:ext uri="{FF2B5EF4-FFF2-40B4-BE49-F238E27FC236}">
                <a16:creationId xmlns:a16="http://schemas.microsoft.com/office/drawing/2014/main" id="{5FA9259D-C6DB-4EFB-9ABA-DFB4DE31902A}"/>
              </a:ext>
            </a:extLst>
          </p:cNvPr>
          <p:cNvSpPr>
            <a:spLocks noGrp="1"/>
          </p:cNvSpPr>
          <p:nvPr/>
        </p:nvSpPr>
        <p:spPr>
          <a:xfrm>
            <a:off x="6572250" y="1809750"/>
            <a:ext cx="1809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−4.63%</a:t>
            </a:r>
          </a:p>
        </p:txBody>
      </p:sp>
      <p:sp>
        <p:nvSpPr>
          <p:cNvPr id="21" name="p06-collective-label-0">
            <a:extLst>
              <a:ext uri="{FF2B5EF4-FFF2-40B4-BE49-F238E27FC236}">
                <a16:creationId xmlns:a16="http://schemas.microsoft.com/office/drawing/2014/main" id="{5CCBFDD0-DFBE-4351-B224-F1C9AB7CE110}"/>
              </a:ext>
            </a:extLst>
          </p:cNvPr>
          <p:cNvSpPr>
            <a:spLocks noGrp="1"/>
          </p:cNvSpPr>
          <p:nvPr/>
        </p:nvSpPr>
        <p:spPr>
          <a:xfrm>
            <a:off x="8420100" y="18288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collective knowledge extent</a:t>
            </a:r>
          </a:p>
        </p:txBody>
      </p:sp>
      <p:sp>
        <p:nvSpPr>
          <p:cNvPr id="22" name="p06-collective-note-0">
            <a:extLst>
              <a:ext uri="{FF2B5EF4-FFF2-40B4-BE49-F238E27FC236}">
                <a16:creationId xmlns:a16="http://schemas.microsoft.com/office/drawing/2014/main" id="{D686A0BA-0179-44B7-9AC7-FA6219DD7987}"/>
              </a:ext>
            </a:extLst>
          </p:cNvPr>
          <p:cNvSpPr>
            <a:spLocks noGrp="1"/>
          </p:cNvSpPr>
          <p:nvPr/>
        </p:nvSpPr>
        <p:spPr>
          <a:xfrm>
            <a:off x="8420100" y="2152650"/>
            <a:ext cx="304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整体研究主题范围</a:t>
            </a:r>
          </a:p>
        </p:txBody>
      </p:sp>
      <p:sp>
        <p:nvSpPr>
          <p:cNvPr id="23" name="p06-down-line-0">
            <a:extLst>
              <a:ext uri="{FF2B5EF4-FFF2-40B4-BE49-F238E27FC236}">
                <a16:creationId xmlns:a16="http://schemas.microsoft.com/office/drawing/2014/main" id="{74241D5A-C7A4-41A5-9020-CF73959C08F7}"/>
              </a:ext>
            </a:extLst>
          </p:cNvPr>
          <p:cNvSpPr>
            <a:spLocks noGrp="1"/>
          </p:cNvSpPr>
          <p:nvPr/>
        </p:nvSpPr>
        <p:spPr>
          <a:xfrm>
            <a:off x="8534400" y="2533650"/>
            <a:ext cx="2457450" cy="952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24" name="p06-down-end-0">
            <a:extLst>
              <a:ext uri="{FF2B5EF4-FFF2-40B4-BE49-F238E27FC236}">
                <a16:creationId xmlns:a16="http://schemas.microsoft.com/office/drawing/2014/main" id="{512BF655-1C26-46AC-B258-14467485E045}"/>
              </a:ext>
            </a:extLst>
          </p:cNvPr>
          <p:cNvSpPr>
            <a:spLocks noGrp="1"/>
          </p:cNvSpPr>
          <p:nvPr/>
        </p:nvSpPr>
        <p:spPr>
          <a:xfrm>
            <a:off x="10877550" y="2533650"/>
            <a:ext cx="114300" cy="952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25" name="p06-collective-value-1">
            <a:extLst>
              <a:ext uri="{FF2B5EF4-FFF2-40B4-BE49-F238E27FC236}">
                <a16:creationId xmlns:a16="http://schemas.microsoft.com/office/drawing/2014/main" id="{A309FCE1-95A3-48EF-B3EA-FA6455A24791}"/>
              </a:ext>
            </a:extLst>
          </p:cNvPr>
          <p:cNvSpPr>
            <a:spLocks noGrp="1"/>
          </p:cNvSpPr>
          <p:nvPr/>
        </p:nvSpPr>
        <p:spPr>
          <a:xfrm>
            <a:off x="6572250" y="3009900"/>
            <a:ext cx="1809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−22%</a:t>
            </a:r>
          </a:p>
        </p:txBody>
      </p:sp>
      <p:sp>
        <p:nvSpPr>
          <p:cNvPr id="26" name="p06-collective-label-1">
            <a:extLst>
              <a:ext uri="{FF2B5EF4-FFF2-40B4-BE49-F238E27FC236}">
                <a16:creationId xmlns:a16="http://schemas.microsoft.com/office/drawing/2014/main" id="{F246F2EE-AFDB-4541-B97D-91A9B0EA3F27}"/>
              </a:ext>
            </a:extLst>
          </p:cNvPr>
          <p:cNvSpPr>
            <a:spLocks noGrp="1"/>
          </p:cNvSpPr>
          <p:nvPr/>
        </p:nvSpPr>
        <p:spPr>
          <a:xfrm>
            <a:off x="8420100" y="30289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科学家之间的后续参与</a:t>
            </a:r>
          </a:p>
        </p:txBody>
      </p:sp>
      <p:sp>
        <p:nvSpPr>
          <p:cNvPr id="27" name="p06-collective-note-1">
            <a:extLst>
              <a:ext uri="{FF2B5EF4-FFF2-40B4-BE49-F238E27FC236}">
                <a16:creationId xmlns:a16="http://schemas.microsoft.com/office/drawing/2014/main" id="{E3C34F65-CE27-44F2-937F-AE43FFB411DD}"/>
              </a:ext>
            </a:extLst>
          </p:cNvPr>
          <p:cNvSpPr>
            <a:spLocks noGrp="1"/>
          </p:cNvSpPr>
          <p:nvPr/>
        </p:nvSpPr>
        <p:spPr>
          <a:xfrm>
            <a:off x="8420100" y="3352800"/>
            <a:ext cx="304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进入该主题的后续研究者</a:t>
            </a:r>
          </a:p>
        </p:txBody>
      </p:sp>
      <p:sp>
        <p:nvSpPr>
          <p:cNvPr id="28" name="p06-down-line-1">
            <a:extLst>
              <a:ext uri="{FF2B5EF4-FFF2-40B4-BE49-F238E27FC236}">
                <a16:creationId xmlns:a16="http://schemas.microsoft.com/office/drawing/2014/main" id="{A4B0E0CD-9F75-4D1F-871F-8F01D1777D1B}"/>
              </a:ext>
            </a:extLst>
          </p:cNvPr>
          <p:cNvSpPr>
            <a:spLocks noGrp="1"/>
          </p:cNvSpPr>
          <p:nvPr/>
        </p:nvSpPr>
        <p:spPr>
          <a:xfrm>
            <a:off x="8534400" y="3733800"/>
            <a:ext cx="2457450" cy="952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29" name="p06-down-end-1">
            <a:extLst>
              <a:ext uri="{FF2B5EF4-FFF2-40B4-BE49-F238E27FC236}">
                <a16:creationId xmlns:a16="http://schemas.microsoft.com/office/drawing/2014/main" id="{79DF6342-5753-479A-8271-0453765359A5}"/>
              </a:ext>
            </a:extLst>
          </p:cNvPr>
          <p:cNvSpPr>
            <a:spLocks noGrp="1"/>
          </p:cNvSpPr>
          <p:nvPr/>
        </p:nvSpPr>
        <p:spPr>
          <a:xfrm>
            <a:off x="10448925" y="3733800"/>
            <a:ext cx="542925" cy="952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30" name="p06-conclusion">
            <a:extLst>
              <a:ext uri="{FF2B5EF4-FFF2-40B4-BE49-F238E27FC236}">
                <a16:creationId xmlns:a16="http://schemas.microsoft.com/office/drawing/2014/main" id="{7316AFED-160E-46D3-812C-873F85E83C81}"/>
              </a:ext>
            </a:extLst>
          </p:cNvPr>
          <p:cNvSpPr>
            <a:spLocks noGrp="1"/>
          </p:cNvSpPr>
          <p:nvPr/>
        </p:nvSpPr>
        <p:spPr>
          <a:xfrm>
            <a:off x="1714500" y="4248150"/>
            <a:ext cx="876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个人产出与影响扩大  ≠  科学整体探索范围扩大</a:t>
            </a:r>
          </a:p>
        </p:txBody>
      </p:sp>
      <p:sp>
        <p:nvSpPr>
          <p:cNvPr id="31" name="p06-method">
            <a:extLst>
              <a:ext uri="{FF2B5EF4-FFF2-40B4-BE49-F238E27FC236}">
                <a16:creationId xmlns:a16="http://schemas.microsoft.com/office/drawing/2014/main" id="{935D904D-96D4-4F78-9A74-53DFD4EF232E}"/>
              </a:ext>
            </a:extLst>
          </p:cNvPr>
          <p:cNvSpPr>
            <a:spLocks noGrp="1"/>
          </p:cNvSpPr>
          <p:nvPr/>
        </p:nvSpPr>
        <p:spPr>
          <a:xfrm>
            <a:off x="1619250" y="4762500"/>
            <a:ext cx="8953500" cy="6286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样本：约 4130 万篇自然科学论文 · 六学科</a:t>
            </a:r>
          </a:p>
          <a:p>
            <a:pPr algn="ctr">
              <a:lnSpc>
                <a:spcPct val="12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识别：标题 / 摘要模型识别 AI 使用；结果依赖论文指标定义</a:t>
            </a:r>
          </a:p>
        </p:txBody>
      </p:sp>
      <p:sp>
        <p:nvSpPr>
          <p:cNvPr id="32" name="p06-warning">
            <a:extLst>
              <a:ext uri="{FF2B5EF4-FFF2-40B4-BE49-F238E27FC236}">
                <a16:creationId xmlns:a16="http://schemas.microsoft.com/office/drawing/2014/main" id="{889E3828-7D63-4BF9-A731-F34A84C8B14B}"/>
              </a:ext>
            </a:extLst>
          </p:cNvPr>
          <p:cNvSpPr>
            <a:spLocks noGrp="1"/>
          </p:cNvSpPr>
          <p:nvPr/>
        </p:nvSpPr>
        <p:spPr>
          <a:xfrm>
            <a:off x="3714750" y="5486400"/>
            <a:ext cx="4762500" cy="3238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观察性关联，相关不等于因果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本课程解决的是“如何控制研究质量”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D3D7D1C8-AE23-AA48-DF65-C742588DBE47}" type="slidenum">
              <a:t>7</a:t>
            </a:fld>
            <a:endParaRPr/>
          </a:p>
        </p:txBody>
      </p:sp>
      <p:sp>
        <p:nvSpPr>
          <p:cNvPr id="6" name="p07-thesis">
            <a:extLst>
              <a:ext uri="{FF2B5EF4-FFF2-40B4-BE49-F238E27FC236}">
                <a16:creationId xmlns:a16="http://schemas.microsoft.com/office/drawing/2014/main" id="{4922C6B5-20CC-4D63-9117-8BE6DE0008D1}"/>
              </a:ext>
            </a:extLst>
          </p:cNvPr>
          <p:cNvSpPr>
            <a:spLocks noGrp="1"/>
          </p:cNvSpPr>
          <p:nvPr/>
        </p:nvSpPr>
        <p:spPr>
          <a:xfrm>
            <a:off x="876300" y="1028700"/>
            <a:ext cx="10439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可以扩展候选；研究者必须让关键动作可核验、可约束、可追溯。</a:t>
            </a:r>
          </a:p>
        </p:txBody>
      </p:sp>
      <p:sp>
        <p:nvSpPr>
          <p:cNvPr id="7" name="p07-chain-line">
            <a:extLst>
              <a:ext uri="{FF2B5EF4-FFF2-40B4-BE49-F238E27FC236}">
                <a16:creationId xmlns:a16="http://schemas.microsoft.com/office/drawing/2014/main" id="{72BEFB88-3FF6-4A2D-BBE1-8787FC1BED43}"/>
              </a:ext>
            </a:extLst>
          </p:cNvPr>
          <p:cNvSpPr>
            <a:spLocks noGrp="1"/>
          </p:cNvSpPr>
          <p:nvPr/>
        </p:nvSpPr>
        <p:spPr>
          <a:xfrm>
            <a:off x="1066800" y="2933700"/>
            <a:ext cx="1003935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8" name="p07-arrow-0">
            <a:extLst>
              <a:ext uri="{FF2B5EF4-FFF2-40B4-BE49-F238E27FC236}">
                <a16:creationId xmlns:a16="http://schemas.microsoft.com/office/drawing/2014/main" id="{45A46516-B46F-427E-867A-6D2121FECE3E}"/>
              </a:ext>
            </a:extLst>
          </p:cNvPr>
          <p:cNvSpPr>
            <a:spLocks noGrp="1"/>
          </p:cNvSpPr>
          <p:nvPr/>
        </p:nvSpPr>
        <p:spPr>
          <a:xfrm>
            <a:off x="2343150" y="2110359"/>
            <a:ext cx="552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07-arrow-1">
            <a:extLst>
              <a:ext uri="{FF2B5EF4-FFF2-40B4-BE49-F238E27FC236}">
                <a16:creationId xmlns:a16="http://schemas.microsoft.com/office/drawing/2014/main" id="{EB49EFF3-4A9C-482F-B821-51287E5CAD36}"/>
              </a:ext>
            </a:extLst>
          </p:cNvPr>
          <p:cNvSpPr>
            <a:spLocks noGrp="1"/>
          </p:cNvSpPr>
          <p:nvPr/>
        </p:nvSpPr>
        <p:spPr>
          <a:xfrm>
            <a:off x="4552950" y="2110359"/>
            <a:ext cx="552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07-arrow-2">
            <a:extLst>
              <a:ext uri="{FF2B5EF4-FFF2-40B4-BE49-F238E27FC236}">
                <a16:creationId xmlns:a16="http://schemas.microsoft.com/office/drawing/2014/main" id="{89F49B15-85C2-40DB-B6A5-1E994189D091}"/>
              </a:ext>
            </a:extLst>
          </p:cNvPr>
          <p:cNvSpPr>
            <a:spLocks noGrp="1"/>
          </p:cNvSpPr>
          <p:nvPr/>
        </p:nvSpPr>
        <p:spPr>
          <a:xfrm>
            <a:off x="6762750" y="2110359"/>
            <a:ext cx="552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07-arrow-3">
            <a:extLst>
              <a:ext uri="{FF2B5EF4-FFF2-40B4-BE49-F238E27FC236}">
                <a16:creationId xmlns:a16="http://schemas.microsoft.com/office/drawing/2014/main" id="{749239CC-9536-4950-8A70-3A1A54996AEE}"/>
              </a:ext>
            </a:extLst>
          </p:cNvPr>
          <p:cNvSpPr>
            <a:spLocks noGrp="1"/>
          </p:cNvSpPr>
          <p:nvPr/>
        </p:nvSpPr>
        <p:spPr>
          <a:xfrm>
            <a:off x="8972550" y="2110359"/>
            <a:ext cx="552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p07-number-0">
            <a:extLst>
              <a:ext uri="{FF2B5EF4-FFF2-40B4-BE49-F238E27FC236}">
                <a16:creationId xmlns:a16="http://schemas.microsoft.com/office/drawing/2014/main" id="{7B464CF8-517B-493D-8201-F06B38965C3A}"/>
              </a:ext>
            </a:extLst>
          </p:cNvPr>
          <p:cNvSpPr>
            <a:spLocks noGrp="1"/>
          </p:cNvSpPr>
          <p:nvPr/>
        </p:nvSpPr>
        <p:spPr>
          <a:xfrm>
            <a:off x="685800" y="18478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p07-label-0">
            <a:extLst>
              <a:ext uri="{FF2B5EF4-FFF2-40B4-BE49-F238E27FC236}">
                <a16:creationId xmlns:a16="http://schemas.microsoft.com/office/drawing/2014/main" id="{92F72E81-0771-4B7A-BFCB-A4ECB5DE2AC2}"/>
              </a:ext>
            </a:extLst>
          </p:cNvPr>
          <p:cNvSpPr>
            <a:spLocks noGrp="1"/>
          </p:cNvSpPr>
          <p:nvPr/>
        </p:nvSpPr>
        <p:spPr>
          <a:xfrm>
            <a:off x="685800" y="217170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定义问题</a:t>
            </a:r>
          </a:p>
        </p:txBody>
      </p:sp>
      <p:sp>
        <p:nvSpPr>
          <p:cNvPr id="14" name="p07-gate-0">
            <a:extLst>
              <a:ext uri="{FF2B5EF4-FFF2-40B4-BE49-F238E27FC236}">
                <a16:creationId xmlns:a16="http://schemas.microsoft.com/office/drawing/2014/main" id="{EB8392C0-E1DD-448F-99DF-F751ACED3C19}"/>
              </a:ext>
            </a:extLst>
          </p:cNvPr>
          <p:cNvSpPr>
            <a:spLocks noGrp="1"/>
          </p:cNvSpPr>
          <p:nvPr/>
        </p:nvSpPr>
        <p:spPr>
          <a:xfrm>
            <a:off x="1495425" y="2647950"/>
            <a:ext cx="95250" cy="64770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5" name="p07-node-0">
            <a:extLst>
              <a:ext uri="{FF2B5EF4-FFF2-40B4-BE49-F238E27FC236}">
                <a16:creationId xmlns:a16="http://schemas.microsoft.com/office/drawing/2014/main" id="{63D8D493-2E4C-488A-BDB0-48B955345C55}"/>
              </a:ext>
            </a:extLst>
          </p:cNvPr>
          <p:cNvSpPr>
            <a:spLocks noGrp="1"/>
          </p:cNvSpPr>
          <p:nvPr/>
        </p:nvSpPr>
        <p:spPr>
          <a:xfrm>
            <a:off x="1390650" y="2838450"/>
            <a:ext cx="304800" cy="304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354E"/>
            </a:solidFill>
            <a:prstDash val="solid"/>
          </a:ln>
        </p:spPr>
      </p:sp>
      <p:sp>
        <p:nvSpPr>
          <p:cNvPr id="16" name="p07-question-0">
            <a:extLst>
              <a:ext uri="{FF2B5EF4-FFF2-40B4-BE49-F238E27FC236}">
                <a16:creationId xmlns:a16="http://schemas.microsoft.com/office/drawing/2014/main" id="{BABEA4D0-E8C6-4285-B592-4EB96BADBD31}"/>
              </a:ext>
            </a:extLst>
          </p:cNvPr>
          <p:cNvSpPr>
            <a:spLocks noGrp="1"/>
          </p:cNvSpPr>
          <p:nvPr/>
        </p:nvSpPr>
        <p:spPr>
          <a:xfrm>
            <a:off x="685800" y="3524250"/>
            <a:ext cx="1714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目标与成功条件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由谁决定？</a:t>
            </a:r>
          </a:p>
        </p:txBody>
      </p:sp>
      <p:sp>
        <p:nvSpPr>
          <p:cNvPr id="17" name="p07-number-1">
            <a:extLst>
              <a:ext uri="{FF2B5EF4-FFF2-40B4-BE49-F238E27FC236}">
                <a16:creationId xmlns:a16="http://schemas.microsoft.com/office/drawing/2014/main" id="{559175D9-137E-4828-8011-FB5026D36E59}"/>
              </a:ext>
            </a:extLst>
          </p:cNvPr>
          <p:cNvSpPr>
            <a:spLocks noGrp="1"/>
          </p:cNvSpPr>
          <p:nvPr/>
        </p:nvSpPr>
        <p:spPr>
          <a:xfrm>
            <a:off x="2895600" y="18478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8" name="p07-label-1">
            <a:extLst>
              <a:ext uri="{FF2B5EF4-FFF2-40B4-BE49-F238E27FC236}">
                <a16:creationId xmlns:a16="http://schemas.microsoft.com/office/drawing/2014/main" id="{AF5DF353-B0FA-45BF-9DC5-90E03B5FC2FF}"/>
              </a:ext>
            </a:extLst>
          </p:cNvPr>
          <p:cNvSpPr>
            <a:spLocks noGrp="1"/>
          </p:cNvSpPr>
          <p:nvPr/>
        </p:nvSpPr>
        <p:spPr>
          <a:xfrm>
            <a:off x="2895600" y="217170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核验证据</a:t>
            </a:r>
          </a:p>
        </p:txBody>
      </p:sp>
      <p:sp>
        <p:nvSpPr>
          <p:cNvPr id="19" name="p07-gate-1">
            <a:extLst>
              <a:ext uri="{FF2B5EF4-FFF2-40B4-BE49-F238E27FC236}">
                <a16:creationId xmlns:a16="http://schemas.microsoft.com/office/drawing/2014/main" id="{C346705F-6265-4AD9-83FA-9F5D6BE409CD}"/>
              </a:ext>
            </a:extLst>
          </p:cNvPr>
          <p:cNvSpPr>
            <a:spLocks noGrp="1"/>
          </p:cNvSpPr>
          <p:nvPr/>
        </p:nvSpPr>
        <p:spPr>
          <a:xfrm>
            <a:off x="3705225" y="2647950"/>
            <a:ext cx="95250" cy="64770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20" name="p07-node-1">
            <a:extLst>
              <a:ext uri="{FF2B5EF4-FFF2-40B4-BE49-F238E27FC236}">
                <a16:creationId xmlns:a16="http://schemas.microsoft.com/office/drawing/2014/main" id="{72FF9AA5-ABFA-4329-B9F1-E3443A44CA4A}"/>
              </a:ext>
            </a:extLst>
          </p:cNvPr>
          <p:cNvSpPr>
            <a:spLocks noGrp="1"/>
          </p:cNvSpPr>
          <p:nvPr/>
        </p:nvSpPr>
        <p:spPr>
          <a:xfrm>
            <a:off x="3600450" y="2838450"/>
            <a:ext cx="304800" cy="304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354E"/>
            </a:solidFill>
            <a:prstDash val="solid"/>
          </a:ln>
        </p:spPr>
      </p:sp>
      <p:sp>
        <p:nvSpPr>
          <p:cNvPr id="21" name="p07-question-1">
            <a:extLst>
              <a:ext uri="{FF2B5EF4-FFF2-40B4-BE49-F238E27FC236}">
                <a16:creationId xmlns:a16="http://schemas.microsoft.com/office/drawing/2014/main" id="{7D87312E-E250-4C12-89F3-5975A20F7F28}"/>
              </a:ext>
            </a:extLst>
          </p:cNvPr>
          <p:cNvSpPr>
            <a:spLocks noGrp="1"/>
          </p:cNvSpPr>
          <p:nvPr/>
        </p:nvSpPr>
        <p:spPr>
          <a:xfrm>
            <a:off x="2895600" y="3524250"/>
            <a:ext cx="1714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来源、数字与限定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能否追溯？</a:t>
            </a:r>
          </a:p>
        </p:txBody>
      </p:sp>
      <p:sp>
        <p:nvSpPr>
          <p:cNvPr id="22" name="p07-number-2">
            <a:extLst>
              <a:ext uri="{FF2B5EF4-FFF2-40B4-BE49-F238E27FC236}">
                <a16:creationId xmlns:a16="http://schemas.microsoft.com/office/drawing/2014/main" id="{C390B70B-5635-4B35-B6C9-4B60606DDAF6}"/>
              </a:ext>
            </a:extLst>
          </p:cNvPr>
          <p:cNvSpPr>
            <a:spLocks noGrp="1"/>
          </p:cNvSpPr>
          <p:nvPr/>
        </p:nvSpPr>
        <p:spPr>
          <a:xfrm>
            <a:off x="5105400" y="18478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3" name="p07-label-2">
            <a:extLst>
              <a:ext uri="{FF2B5EF4-FFF2-40B4-BE49-F238E27FC236}">
                <a16:creationId xmlns:a16="http://schemas.microsoft.com/office/drawing/2014/main" id="{1332D494-13F7-4FE0-BF2D-B9310E2CCA9E}"/>
              </a:ext>
            </a:extLst>
          </p:cNvPr>
          <p:cNvSpPr>
            <a:spLocks noGrp="1"/>
          </p:cNvSpPr>
          <p:nvPr/>
        </p:nvSpPr>
        <p:spPr>
          <a:xfrm>
            <a:off x="5105400" y="217170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约束行动</a:t>
            </a:r>
          </a:p>
        </p:txBody>
      </p:sp>
      <p:sp>
        <p:nvSpPr>
          <p:cNvPr id="24" name="p07-gate-2">
            <a:extLst>
              <a:ext uri="{FF2B5EF4-FFF2-40B4-BE49-F238E27FC236}">
                <a16:creationId xmlns:a16="http://schemas.microsoft.com/office/drawing/2014/main" id="{FCBA63A7-6573-4530-B3E0-6FEF2C712A5D}"/>
              </a:ext>
            </a:extLst>
          </p:cNvPr>
          <p:cNvSpPr>
            <a:spLocks noGrp="1"/>
          </p:cNvSpPr>
          <p:nvPr/>
        </p:nvSpPr>
        <p:spPr>
          <a:xfrm>
            <a:off x="5915025" y="2647950"/>
            <a:ext cx="95250" cy="64770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25" name="p07-node-2">
            <a:extLst>
              <a:ext uri="{FF2B5EF4-FFF2-40B4-BE49-F238E27FC236}">
                <a16:creationId xmlns:a16="http://schemas.microsoft.com/office/drawing/2014/main" id="{44ABA49A-A4AE-40EE-9182-D4FB0CC8E72C}"/>
              </a:ext>
            </a:extLst>
          </p:cNvPr>
          <p:cNvSpPr>
            <a:spLocks noGrp="1"/>
          </p:cNvSpPr>
          <p:nvPr/>
        </p:nvSpPr>
        <p:spPr>
          <a:xfrm>
            <a:off x="5810250" y="2838450"/>
            <a:ext cx="304800" cy="304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354E"/>
            </a:solidFill>
            <a:prstDash val="solid"/>
          </a:ln>
        </p:spPr>
      </p:sp>
      <p:sp>
        <p:nvSpPr>
          <p:cNvPr id="26" name="p07-question-2">
            <a:extLst>
              <a:ext uri="{FF2B5EF4-FFF2-40B4-BE49-F238E27FC236}">
                <a16:creationId xmlns:a16="http://schemas.microsoft.com/office/drawing/2014/main" id="{15F4A535-A649-48C2-9AED-70AFD20B1502}"/>
              </a:ext>
            </a:extLst>
          </p:cNvPr>
          <p:cNvSpPr>
            <a:spLocks noGrp="1"/>
          </p:cNvSpPr>
          <p:nvPr/>
        </p:nvSpPr>
        <p:spPr>
          <a:xfrm>
            <a:off x="5105400" y="3524250"/>
            <a:ext cx="1714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范围、权限与写入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是否明确？</a:t>
            </a:r>
          </a:p>
        </p:txBody>
      </p:sp>
      <p:sp>
        <p:nvSpPr>
          <p:cNvPr id="27" name="p07-number-3">
            <a:extLst>
              <a:ext uri="{FF2B5EF4-FFF2-40B4-BE49-F238E27FC236}">
                <a16:creationId xmlns:a16="http://schemas.microsoft.com/office/drawing/2014/main" id="{A1666887-0FAF-411E-B22A-5A9E35E99695}"/>
              </a:ext>
            </a:extLst>
          </p:cNvPr>
          <p:cNvSpPr>
            <a:spLocks noGrp="1"/>
          </p:cNvSpPr>
          <p:nvPr/>
        </p:nvSpPr>
        <p:spPr>
          <a:xfrm>
            <a:off x="7315200" y="18478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8" name="p07-label-3">
            <a:extLst>
              <a:ext uri="{FF2B5EF4-FFF2-40B4-BE49-F238E27FC236}">
                <a16:creationId xmlns:a16="http://schemas.microsoft.com/office/drawing/2014/main" id="{B9ADEF31-57F7-40BE-9D8A-C6E14AC41149}"/>
              </a:ext>
            </a:extLst>
          </p:cNvPr>
          <p:cNvSpPr>
            <a:spLocks noGrp="1"/>
          </p:cNvSpPr>
          <p:nvPr/>
        </p:nvSpPr>
        <p:spPr>
          <a:xfrm>
            <a:off x="7315200" y="217170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限定结论</a:t>
            </a:r>
          </a:p>
        </p:txBody>
      </p:sp>
      <p:sp>
        <p:nvSpPr>
          <p:cNvPr id="29" name="p07-gate-3">
            <a:extLst>
              <a:ext uri="{FF2B5EF4-FFF2-40B4-BE49-F238E27FC236}">
                <a16:creationId xmlns:a16="http://schemas.microsoft.com/office/drawing/2014/main" id="{729147DD-489F-4B90-8C13-03DC63419202}"/>
              </a:ext>
            </a:extLst>
          </p:cNvPr>
          <p:cNvSpPr>
            <a:spLocks noGrp="1"/>
          </p:cNvSpPr>
          <p:nvPr/>
        </p:nvSpPr>
        <p:spPr>
          <a:xfrm>
            <a:off x="8124825" y="2647950"/>
            <a:ext cx="95250" cy="64770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30" name="p07-node-3">
            <a:extLst>
              <a:ext uri="{FF2B5EF4-FFF2-40B4-BE49-F238E27FC236}">
                <a16:creationId xmlns:a16="http://schemas.microsoft.com/office/drawing/2014/main" id="{BDA54D71-39E7-4508-97B3-67CB2E87004A}"/>
              </a:ext>
            </a:extLst>
          </p:cNvPr>
          <p:cNvSpPr>
            <a:spLocks noGrp="1"/>
          </p:cNvSpPr>
          <p:nvPr/>
        </p:nvSpPr>
        <p:spPr>
          <a:xfrm>
            <a:off x="8020050" y="2838450"/>
            <a:ext cx="304800" cy="304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354E"/>
            </a:solidFill>
            <a:prstDash val="solid"/>
          </a:ln>
        </p:spPr>
      </p:sp>
      <p:sp>
        <p:nvSpPr>
          <p:cNvPr id="31" name="p07-question-3">
            <a:extLst>
              <a:ext uri="{FF2B5EF4-FFF2-40B4-BE49-F238E27FC236}">
                <a16:creationId xmlns:a16="http://schemas.microsoft.com/office/drawing/2014/main" id="{4802F4D7-F35C-477F-B276-D741947C709F}"/>
              </a:ext>
            </a:extLst>
          </p:cNvPr>
          <p:cNvSpPr>
            <a:spLocks noGrp="1"/>
          </p:cNvSpPr>
          <p:nvPr/>
        </p:nvSpPr>
        <p:spPr>
          <a:xfrm>
            <a:off x="7315200" y="3524250"/>
            <a:ext cx="1714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适用范围与不确定性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是否保留？</a:t>
            </a:r>
          </a:p>
        </p:txBody>
      </p:sp>
      <p:sp>
        <p:nvSpPr>
          <p:cNvPr id="32" name="p07-number-4">
            <a:extLst>
              <a:ext uri="{FF2B5EF4-FFF2-40B4-BE49-F238E27FC236}">
                <a16:creationId xmlns:a16="http://schemas.microsoft.com/office/drawing/2014/main" id="{C552ECEE-44FA-423C-88D6-BE17D3BD3CA8}"/>
              </a:ext>
            </a:extLst>
          </p:cNvPr>
          <p:cNvSpPr>
            <a:spLocks noGrp="1"/>
          </p:cNvSpPr>
          <p:nvPr/>
        </p:nvSpPr>
        <p:spPr>
          <a:xfrm>
            <a:off x="9525000" y="18478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3" name="p07-label-4">
            <a:extLst>
              <a:ext uri="{FF2B5EF4-FFF2-40B4-BE49-F238E27FC236}">
                <a16:creationId xmlns:a16="http://schemas.microsoft.com/office/drawing/2014/main" id="{06AD9FE2-37E0-44DA-97C2-4CCD0D6C97EE}"/>
              </a:ext>
            </a:extLst>
          </p:cNvPr>
          <p:cNvSpPr>
            <a:spLocks noGrp="1"/>
          </p:cNvSpPr>
          <p:nvPr/>
        </p:nvSpPr>
        <p:spPr>
          <a:xfrm>
            <a:off x="9525000" y="217170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承担责任</a:t>
            </a:r>
          </a:p>
        </p:txBody>
      </p:sp>
      <p:sp>
        <p:nvSpPr>
          <p:cNvPr id="34" name="p07-gate-4">
            <a:extLst>
              <a:ext uri="{FF2B5EF4-FFF2-40B4-BE49-F238E27FC236}">
                <a16:creationId xmlns:a16="http://schemas.microsoft.com/office/drawing/2014/main" id="{2EC8ACE8-50A2-4277-8A65-0448A7542EB4}"/>
              </a:ext>
            </a:extLst>
          </p:cNvPr>
          <p:cNvSpPr>
            <a:spLocks noGrp="1"/>
          </p:cNvSpPr>
          <p:nvPr/>
        </p:nvSpPr>
        <p:spPr>
          <a:xfrm>
            <a:off x="10334625" y="2647950"/>
            <a:ext cx="95250" cy="64770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35" name="p07-node-4">
            <a:extLst>
              <a:ext uri="{FF2B5EF4-FFF2-40B4-BE49-F238E27FC236}">
                <a16:creationId xmlns:a16="http://schemas.microsoft.com/office/drawing/2014/main" id="{21F9D002-9171-42FB-81E6-DE95B8A7BBE1}"/>
              </a:ext>
            </a:extLst>
          </p:cNvPr>
          <p:cNvSpPr>
            <a:spLocks noGrp="1"/>
          </p:cNvSpPr>
          <p:nvPr/>
        </p:nvSpPr>
        <p:spPr>
          <a:xfrm>
            <a:off x="10229850" y="2838450"/>
            <a:ext cx="304800" cy="304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C8161E"/>
            </a:solidFill>
            <a:prstDash val="solid"/>
          </a:ln>
        </p:spPr>
      </p:sp>
      <p:sp>
        <p:nvSpPr>
          <p:cNvPr id="36" name="p07-question-4">
            <a:extLst>
              <a:ext uri="{FF2B5EF4-FFF2-40B4-BE49-F238E27FC236}">
                <a16:creationId xmlns:a16="http://schemas.microsoft.com/office/drawing/2014/main" id="{6536DACE-20DD-4D48-A541-FF9025A49574}"/>
              </a:ext>
            </a:extLst>
          </p:cNvPr>
          <p:cNvSpPr>
            <a:spLocks noGrp="1"/>
          </p:cNvSpPr>
          <p:nvPr/>
        </p:nvSpPr>
        <p:spPr>
          <a:xfrm>
            <a:off x="9525000" y="3524250"/>
            <a:ext cx="1714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最终判断与后果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由谁负责？</a:t>
            </a:r>
          </a:p>
        </p:txBody>
      </p:sp>
      <p:sp>
        <p:nvSpPr>
          <p:cNvPr id="37" name="p07-outcomes">
            <a:extLst>
              <a:ext uri="{FF2B5EF4-FFF2-40B4-BE49-F238E27FC236}">
                <a16:creationId xmlns:a16="http://schemas.microsoft.com/office/drawing/2014/main" id="{B7D70446-4768-43BF-92FF-CDA29B646F6A}"/>
              </a:ext>
            </a:extLst>
          </p:cNvPr>
          <p:cNvSpPr>
            <a:spLocks noGrp="1"/>
          </p:cNvSpPr>
          <p:nvPr/>
        </p:nvSpPr>
        <p:spPr>
          <a:xfrm>
            <a:off x="2381250" y="4762500"/>
            <a:ext cx="7429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可核验　｜　可约束　｜　可追溯</a:t>
            </a:r>
          </a:p>
        </p:txBody>
      </p:sp>
      <p:sp>
        <p:nvSpPr>
          <p:cNvPr id="38" name="p07-close">
            <a:extLst>
              <a:ext uri="{FF2B5EF4-FFF2-40B4-BE49-F238E27FC236}">
                <a16:creationId xmlns:a16="http://schemas.microsoft.com/office/drawing/2014/main" id="{E3A4C9BD-15FD-4453-9CDF-7CA506658A30}"/>
              </a:ext>
            </a:extLst>
          </p:cNvPr>
          <p:cNvSpPr>
            <a:spLocks noGrp="1"/>
          </p:cNvSpPr>
          <p:nvPr/>
        </p:nvSpPr>
        <p:spPr>
          <a:xfrm>
            <a:off x="2857500" y="5334000"/>
            <a:ext cx="647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0">
                <a:solidFill>
                  <a:srgbClr val="667684"/>
                </a:solidFill>
              </a:defRPr>
            </a:pPr>
            <a:r>
              <a:rPr sz="15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课程重点不是交出更多动作，而是控制研究质量。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研究判断与工程工作流必须放在一起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A58DA2A-B818-18A9-29C1-B697728D5BCE}" type="slidenum">
              <a:t>8</a:t>
            </a:fld>
            <a:endParaRPr/>
          </a:p>
        </p:txBody>
      </p:sp>
      <p:sp>
        <p:nvSpPr>
          <p:cNvPr id="6" name="p08-fiction">
            <a:extLst>
              <a:ext uri="{FF2B5EF4-FFF2-40B4-BE49-F238E27FC236}">
                <a16:creationId xmlns:a16="http://schemas.microsoft.com/office/drawing/2014/main" id="{2ABB6718-9E59-4BE6-AFDA-FDBFEF3C3904}"/>
              </a:ext>
            </a:extLst>
          </p:cNvPr>
          <p:cNvSpPr>
            <a:spLocks noGrp="1"/>
          </p:cNvSpPr>
          <p:nvPr/>
        </p:nvSpPr>
        <p:spPr>
          <a:xfrm>
            <a:off x="800100" y="1009650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虚构教学情境｜一份研究提交</a:t>
            </a:r>
          </a:p>
        </p:txBody>
      </p:sp>
      <p:sp>
        <p:nvSpPr>
          <p:cNvPr id="7" name="p08-method-title">
            <a:extLst>
              <a:ext uri="{FF2B5EF4-FFF2-40B4-BE49-F238E27FC236}">
                <a16:creationId xmlns:a16="http://schemas.microsoft.com/office/drawing/2014/main" id="{1A0AFBC8-89F3-4DD1-9812-02283C3FE58E}"/>
              </a:ext>
            </a:extLst>
          </p:cNvPr>
          <p:cNvSpPr>
            <a:spLocks noGrp="1"/>
          </p:cNvSpPr>
          <p:nvPr/>
        </p:nvSpPr>
        <p:spPr>
          <a:xfrm>
            <a:off x="857250" y="1600200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方法侧</a:t>
            </a:r>
          </a:p>
        </p:txBody>
      </p:sp>
      <p:sp>
        <p:nvSpPr>
          <p:cNvPr id="8" name="p08-method">
            <a:extLst>
              <a:ext uri="{FF2B5EF4-FFF2-40B4-BE49-F238E27FC236}">
                <a16:creationId xmlns:a16="http://schemas.microsoft.com/office/drawing/2014/main" id="{8CCF32A9-8328-48C0-BF95-181FF7E5D57D}"/>
              </a:ext>
            </a:extLst>
          </p:cNvPr>
          <p:cNvSpPr>
            <a:spLocks noGrp="1"/>
          </p:cNvSpPr>
          <p:nvPr/>
        </p:nvSpPr>
        <p:spPr>
          <a:xfrm>
            <a:off x="857250" y="2171700"/>
            <a:ext cx="4095750" cy="12763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75" b="1">
                <a:solidFill>
                  <a:srgbClr val="A50F17"/>
                </a:solidFill>
              </a:defRPr>
            </a:pPr>
            <a:r>
              <a:rPr sz="2175" b="1">
                <a:solidFill>
                  <a:srgbClr val="A50F17"/>
                </a:solidFill>
                <a:latin typeface="Arial"/>
                <a:ea typeface="Arial"/>
                <a:cs typeface="Arial"/>
              </a:rPr>
              <a:t>evidence missing</a:t>
            </a:r>
          </a:p>
          <a:p>
            <a:pPr algn="ctr">
              <a:buNone/>
              <a:defRPr sz="2175" b="1">
                <a:solidFill>
                  <a:srgbClr val="A50F17"/>
                </a:solidFill>
              </a:defRPr>
            </a:pPr>
            <a:r>
              <a:rPr sz="2175" b="1">
                <a:solidFill>
                  <a:srgbClr val="A50F17"/>
                </a:solidFill>
                <a:latin typeface="Arial"/>
                <a:ea typeface="Arial"/>
                <a:cs typeface="Arial"/>
              </a:rPr>
              <a:t>baseline unclear</a:t>
            </a:r>
          </a:p>
        </p:txBody>
      </p:sp>
      <p:sp>
        <p:nvSpPr>
          <p:cNvPr id="9" name="p08-fail">
            <a:extLst>
              <a:ext uri="{FF2B5EF4-FFF2-40B4-BE49-F238E27FC236}">
                <a16:creationId xmlns:a16="http://schemas.microsoft.com/office/drawing/2014/main" id="{AC903CBB-9FC7-49DE-BE84-2A05A1BDC213}"/>
              </a:ext>
            </a:extLst>
          </p:cNvPr>
          <p:cNvSpPr>
            <a:spLocks noGrp="1"/>
          </p:cNvSpPr>
          <p:nvPr/>
        </p:nvSpPr>
        <p:spPr>
          <a:xfrm>
            <a:off x="1809750" y="3714750"/>
            <a:ext cx="2190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判定失败</a:t>
            </a:r>
          </a:p>
        </p:txBody>
      </p:sp>
      <p:sp>
        <p:nvSpPr>
          <p:cNvPr id="10" name="p08-ne">
            <a:extLst>
              <a:ext uri="{FF2B5EF4-FFF2-40B4-BE49-F238E27FC236}">
                <a16:creationId xmlns:a16="http://schemas.microsoft.com/office/drawing/2014/main" id="{1F09E78A-772E-4F00-87CB-5FF6D26D80AC}"/>
              </a:ext>
            </a:extLst>
          </p:cNvPr>
          <p:cNvSpPr>
            <a:spLocks noGrp="1"/>
          </p:cNvSpPr>
          <p:nvPr/>
        </p:nvSpPr>
        <p:spPr>
          <a:xfrm>
            <a:off x="5391150" y="2190750"/>
            <a:ext cx="14097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5700" b="1">
                <a:solidFill>
                  <a:srgbClr val="18354E"/>
                </a:solidFill>
              </a:defRPr>
            </a:pPr>
            <a:r>
              <a:rPr sz="57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≠</a:t>
            </a:r>
          </a:p>
        </p:txBody>
      </p:sp>
      <p:sp>
        <p:nvSpPr>
          <p:cNvPr id="11" name="p08-flow-title">
            <a:extLst>
              <a:ext uri="{FF2B5EF4-FFF2-40B4-BE49-F238E27FC236}">
                <a16:creationId xmlns:a16="http://schemas.microsoft.com/office/drawing/2014/main" id="{A72A3629-0F59-488C-91D6-B8A8D2FAC455}"/>
              </a:ext>
            </a:extLst>
          </p:cNvPr>
          <p:cNvSpPr>
            <a:spLocks noGrp="1"/>
          </p:cNvSpPr>
          <p:nvPr/>
        </p:nvSpPr>
        <p:spPr>
          <a:xfrm>
            <a:off x="7239000" y="1600200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28745A"/>
                </a:solidFill>
              </a:defRPr>
            </a:pPr>
            <a:r>
              <a:rPr sz="21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工作流侧</a:t>
            </a:r>
          </a:p>
        </p:txBody>
      </p:sp>
      <p:sp>
        <p:nvSpPr>
          <p:cNvPr id="12" name="p08-flow">
            <a:extLst>
              <a:ext uri="{FF2B5EF4-FFF2-40B4-BE49-F238E27FC236}">
                <a16:creationId xmlns:a16="http://schemas.microsoft.com/office/drawing/2014/main" id="{F359BE55-C15B-424C-A565-F1AAF04152AC}"/>
              </a:ext>
            </a:extLst>
          </p:cNvPr>
          <p:cNvSpPr>
            <a:spLocks noGrp="1"/>
          </p:cNvSpPr>
          <p:nvPr/>
        </p:nvSpPr>
        <p:spPr>
          <a:xfrm>
            <a:off x="7239000" y="2171700"/>
            <a:ext cx="4095750" cy="1809750"/>
          </a:xfrm>
          <a:prstGeom prst="rect">
            <a:avLst/>
          </a:prstGeom>
          <a:solidFill>
            <a:srgbClr val="E7F2E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Context ✓</a:t>
            </a:r>
          </a:p>
          <a:p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Permission ✓</a:t>
            </a:r>
          </a:p>
          <a:p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Diff ✓</a:t>
            </a:r>
          </a:p>
          <a:p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Log ✓</a:t>
            </a:r>
          </a:p>
        </p:txBody>
      </p:sp>
      <p:sp>
        <p:nvSpPr>
          <p:cNvPr id="13" name="p08-bottom">
            <a:extLst>
              <a:ext uri="{FF2B5EF4-FFF2-40B4-BE49-F238E27FC236}">
                <a16:creationId xmlns:a16="http://schemas.microsoft.com/office/drawing/2014/main" id="{2B002D81-B1FB-4638-B901-7141A40AB645}"/>
              </a:ext>
            </a:extLst>
          </p:cNvPr>
          <p:cNvSpPr>
            <a:spLocks noGrp="1"/>
          </p:cNvSpPr>
          <p:nvPr/>
        </p:nvSpPr>
        <p:spPr>
          <a:xfrm>
            <a:off x="3429000" y="4819650"/>
            <a:ext cx="5334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700" b="1">
                <a:solidFill>
                  <a:srgbClr val="C8161E"/>
                </a:solidFill>
              </a:defRPr>
            </a:pPr>
            <a:r>
              <a:rPr sz="27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可检查 ≠ 已成立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这是一门 AI 增强的研究方法课：评价闭环质量而非工具数量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388657AE-30A1-5A7A-6A7F-315D84436430}" type="slidenum">
              <a:t>9</a:t>
            </a:fld>
            <a:endParaRPr/>
          </a:p>
        </p:txBody>
      </p:sp>
      <p:sp>
        <p:nvSpPr>
          <p:cNvPr id="6" name="p09-a-0">
            <a:extLst>
              <a:ext uri="{FF2B5EF4-FFF2-40B4-BE49-F238E27FC236}">
                <a16:creationId xmlns:a16="http://schemas.microsoft.com/office/drawing/2014/main" id="{8F66CBB3-2554-4A05-B028-0B3A45CF19BA}"/>
              </a:ext>
            </a:extLst>
          </p:cNvPr>
          <p:cNvSpPr>
            <a:spLocks noGrp="1"/>
          </p:cNvSpPr>
          <p:nvPr/>
        </p:nvSpPr>
        <p:spPr>
          <a:xfrm>
            <a:off x="3105150" y="2543175"/>
            <a:ext cx="533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09-0">
            <a:extLst>
              <a:ext uri="{FF2B5EF4-FFF2-40B4-BE49-F238E27FC236}">
                <a16:creationId xmlns:a16="http://schemas.microsoft.com/office/drawing/2014/main" id="{6AEA3D0E-4680-4146-9240-E505536FD918}"/>
              </a:ext>
            </a:extLst>
          </p:cNvPr>
          <p:cNvSpPr>
            <a:spLocks noGrp="1"/>
          </p:cNvSpPr>
          <p:nvPr/>
        </p:nvSpPr>
        <p:spPr>
          <a:xfrm>
            <a:off x="857250" y="2095500"/>
            <a:ext cx="2305050" cy="12001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真实问题</a:t>
            </a:r>
          </a:p>
        </p:txBody>
      </p:sp>
      <p:sp>
        <p:nvSpPr>
          <p:cNvPr id="8" name="p09-a-1">
            <a:extLst>
              <a:ext uri="{FF2B5EF4-FFF2-40B4-BE49-F238E27FC236}">
                <a16:creationId xmlns:a16="http://schemas.microsoft.com/office/drawing/2014/main" id="{3A75D48A-F258-4709-8373-573EB71083A0}"/>
              </a:ext>
            </a:extLst>
          </p:cNvPr>
          <p:cNvSpPr>
            <a:spLocks noGrp="1"/>
          </p:cNvSpPr>
          <p:nvPr/>
        </p:nvSpPr>
        <p:spPr>
          <a:xfrm>
            <a:off x="5886450" y="2543175"/>
            <a:ext cx="533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09-1">
            <a:extLst>
              <a:ext uri="{FF2B5EF4-FFF2-40B4-BE49-F238E27FC236}">
                <a16:creationId xmlns:a16="http://schemas.microsoft.com/office/drawing/2014/main" id="{4082A4FB-9913-45D1-93AB-849BBE1058A3}"/>
              </a:ext>
            </a:extLst>
          </p:cNvPr>
          <p:cNvSpPr>
            <a:spLocks noGrp="1"/>
          </p:cNvSpPr>
          <p:nvPr/>
        </p:nvSpPr>
        <p:spPr>
          <a:xfrm>
            <a:off x="3638550" y="2095500"/>
            <a:ext cx="2305050" cy="12001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可核验证据</a:t>
            </a:r>
          </a:p>
        </p:txBody>
      </p:sp>
      <p:sp>
        <p:nvSpPr>
          <p:cNvPr id="10" name="p09-a-2">
            <a:extLst>
              <a:ext uri="{FF2B5EF4-FFF2-40B4-BE49-F238E27FC236}">
                <a16:creationId xmlns:a16="http://schemas.microsoft.com/office/drawing/2014/main" id="{2FB36ECC-3F95-432C-8EE7-85F9870411A5}"/>
              </a:ext>
            </a:extLst>
          </p:cNvPr>
          <p:cNvSpPr>
            <a:spLocks noGrp="1"/>
          </p:cNvSpPr>
          <p:nvPr/>
        </p:nvSpPr>
        <p:spPr>
          <a:xfrm>
            <a:off x="8667750" y="2543175"/>
            <a:ext cx="533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09-2">
            <a:extLst>
              <a:ext uri="{FF2B5EF4-FFF2-40B4-BE49-F238E27FC236}">
                <a16:creationId xmlns:a16="http://schemas.microsoft.com/office/drawing/2014/main" id="{560ABA96-E9D5-44B5-AE20-31B28A897E5C}"/>
              </a:ext>
            </a:extLst>
          </p:cNvPr>
          <p:cNvSpPr>
            <a:spLocks noGrp="1"/>
          </p:cNvSpPr>
          <p:nvPr/>
        </p:nvSpPr>
        <p:spPr>
          <a:xfrm>
            <a:off x="6419850" y="2095500"/>
            <a:ext cx="2305050" cy="12001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可复现实验</a:t>
            </a:r>
          </a:p>
        </p:txBody>
      </p:sp>
      <p:sp>
        <p:nvSpPr>
          <p:cNvPr id="12" name="p09-3">
            <a:extLst>
              <a:ext uri="{FF2B5EF4-FFF2-40B4-BE49-F238E27FC236}">
                <a16:creationId xmlns:a16="http://schemas.microsoft.com/office/drawing/2014/main" id="{9982828A-0A84-4DF6-A7D8-839D466AFDBC}"/>
              </a:ext>
            </a:extLst>
          </p:cNvPr>
          <p:cNvSpPr>
            <a:spLocks noGrp="1"/>
          </p:cNvSpPr>
          <p:nvPr/>
        </p:nvSpPr>
        <p:spPr>
          <a:xfrm>
            <a:off x="9201150" y="2095500"/>
            <a:ext cx="2305050" cy="12001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可追溯论证</a:t>
            </a:r>
          </a:p>
        </p:txBody>
      </p:sp>
      <p:sp>
        <p:nvSpPr>
          <p:cNvPr id="13" name="p09-ai">
            <a:extLst>
              <a:ext uri="{FF2B5EF4-FFF2-40B4-BE49-F238E27FC236}">
                <a16:creationId xmlns:a16="http://schemas.microsoft.com/office/drawing/2014/main" id="{1C5A7362-7AD5-472E-9A4D-C907AB2676D2}"/>
              </a:ext>
            </a:extLst>
          </p:cNvPr>
          <p:cNvSpPr>
            <a:spLocks noGrp="1"/>
          </p:cNvSpPr>
          <p:nvPr/>
        </p:nvSpPr>
        <p:spPr>
          <a:xfrm>
            <a:off x="1143000" y="3886200"/>
            <a:ext cx="438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00" b="1">
                <a:solidFill>
                  <a:srgbClr val="2F638A"/>
                </a:solidFill>
              </a:defRPr>
            </a:pPr>
            <a:r>
              <a:rPr sz="180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AI 与 Agent 可以进入每个环节</a:t>
            </a:r>
          </a:p>
        </p:txBody>
      </p:sp>
      <p:sp>
        <p:nvSpPr>
          <p:cNvPr id="14" name="p09-human">
            <a:extLst>
              <a:ext uri="{FF2B5EF4-FFF2-40B4-BE49-F238E27FC236}">
                <a16:creationId xmlns:a16="http://schemas.microsoft.com/office/drawing/2014/main" id="{66E33A9B-7E7F-4512-851D-9AC6ED31CD06}"/>
              </a:ext>
            </a:extLst>
          </p:cNvPr>
          <p:cNvSpPr>
            <a:spLocks noGrp="1"/>
          </p:cNvSpPr>
          <p:nvPr/>
        </p:nvSpPr>
        <p:spPr>
          <a:xfrm>
            <a:off x="6667500" y="3886200"/>
            <a:ext cx="438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但不能取代研究判断</a:t>
            </a:r>
          </a:p>
        </p:txBody>
      </p:sp>
      <p:sp>
        <p:nvSpPr>
          <p:cNvPr id="15" name="p09-rule">
            <a:extLst>
              <a:ext uri="{FF2B5EF4-FFF2-40B4-BE49-F238E27FC236}">
                <a16:creationId xmlns:a16="http://schemas.microsoft.com/office/drawing/2014/main" id="{A868B444-45C5-486E-A10D-1F9D49C346EB}"/>
              </a:ext>
            </a:extLst>
          </p:cNvPr>
          <p:cNvSpPr>
            <a:spLocks noGrp="1"/>
          </p:cNvSpPr>
          <p:nvPr/>
        </p:nvSpPr>
        <p:spPr>
          <a:xfrm>
            <a:off x="1143000" y="4562475"/>
            <a:ext cx="99060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6" name="p09-conclusion">
            <a:extLst>
              <a:ext uri="{FF2B5EF4-FFF2-40B4-BE49-F238E27FC236}">
                <a16:creationId xmlns:a16="http://schemas.microsoft.com/office/drawing/2014/main" id="{ED5C48EF-D547-4E7F-B34B-E64A246EC519}"/>
              </a:ext>
            </a:extLst>
          </p:cNvPr>
          <p:cNvSpPr>
            <a:spLocks noGrp="1"/>
          </p:cNvSpPr>
          <p:nvPr/>
        </p:nvSpPr>
        <p:spPr>
          <a:xfrm>
            <a:off x="2381250" y="4857750"/>
            <a:ext cx="7429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263746"/>
                </a:solidFill>
              </a:defRPr>
            </a:pPr>
            <a:r>
              <a:rPr sz="22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评价的是研究闭环质量，不是工具数量。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16 周后，你应拥有一个可继续发展的研究雏形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DB7BEEEC-A170-5376-2B6E-CB54687B0CB1}" type="slidenum">
              <a:t>10</a:t>
            </a:fld>
            <a:endParaRPr/>
          </a:p>
        </p:txBody>
      </p:sp>
      <p:sp>
        <p:nvSpPr>
          <p:cNvPr id="6" name="p10-repo-surface">
            <a:extLst>
              <a:ext uri="{FF2B5EF4-FFF2-40B4-BE49-F238E27FC236}">
                <a16:creationId xmlns:a16="http://schemas.microsoft.com/office/drawing/2014/main" id="{8F9BED9F-49AD-4161-A375-F100A7BABAA2}"/>
              </a:ext>
            </a:extLst>
          </p:cNvPr>
          <p:cNvSpPr>
            <a:spLocks noGrp="1"/>
          </p:cNvSpPr>
          <p:nvPr/>
        </p:nvSpPr>
        <p:spPr>
          <a:xfrm>
            <a:off x="685800" y="895350"/>
            <a:ext cx="10820400" cy="3790950"/>
          </a:xfrm>
          <a:prstGeom prst="rect">
            <a:avLst/>
          </a:prstGeom>
          <a:noFill/>
          <a:ln w="9525">
            <a:solidFill>
              <a:srgbClr val="D6DDE2"/>
            </a:solidFill>
            <a:prstDash val="solid"/>
          </a:ln>
        </p:spPr>
      </p:sp>
      <p:sp>
        <p:nvSpPr>
          <p:cNvPr id="7" name="p10-trunk">
            <a:extLst>
              <a:ext uri="{FF2B5EF4-FFF2-40B4-BE49-F238E27FC236}">
                <a16:creationId xmlns:a16="http://schemas.microsoft.com/office/drawing/2014/main" id="{DD2B5520-172B-43AA-BD4E-DC0D0BE35B0E}"/>
              </a:ext>
            </a:extLst>
          </p:cNvPr>
          <p:cNvSpPr>
            <a:spLocks noGrp="1"/>
          </p:cNvSpPr>
          <p:nvPr/>
        </p:nvSpPr>
        <p:spPr>
          <a:xfrm rot="5400000">
            <a:off x="-228600" y="2824163"/>
            <a:ext cx="259080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8" name="p10-branch-0">
            <a:extLst>
              <a:ext uri="{FF2B5EF4-FFF2-40B4-BE49-F238E27FC236}">
                <a16:creationId xmlns:a16="http://schemas.microsoft.com/office/drawing/2014/main" id="{7C099FFC-48E8-4266-ACAC-5E27B80B2393}"/>
              </a:ext>
            </a:extLst>
          </p:cNvPr>
          <p:cNvSpPr>
            <a:spLocks noGrp="1"/>
          </p:cNvSpPr>
          <p:nvPr/>
        </p:nvSpPr>
        <p:spPr>
          <a:xfrm>
            <a:off x="1066800" y="1719263"/>
            <a:ext cx="64770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9" name="p10-branch-1">
            <a:extLst>
              <a:ext uri="{FF2B5EF4-FFF2-40B4-BE49-F238E27FC236}">
                <a16:creationId xmlns:a16="http://schemas.microsoft.com/office/drawing/2014/main" id="{92B6E31B-7635-44B6-9015-334B2DA1F6DA}"/>
              </a:ext>
            </a:extLst>
          </p:cNvPr>
          <p:cNvSpPr>
            <a:spLocks noGrp="1"/>
          </p:cNvSpPr>
          <p:nvPr/>
        </p:nvSpPr>
        <p:spPr>
          <a:xfrm>
            <a:off x="1066800" y="2262188"/>
            <a:ext cx="64770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0" name="p10-branch-2">
            <a:extLst>
              <a:ext uri="{FF2B5EF4-FFF2-40B4-BE49-F238E27FC236}">
                <a16:creationId xmlns:a16="http://schemas.microsoft.com/office/drawing/2014/main" id="{0C3B673D-BE6B-4C93-90BE-6BF826A4E20F}"/>
              </a:ext>
            </a:extLst>
          </p:cNvPr>
          <p:cNvSpPr>
            <a:spLocks noGrp="1"/>
          </p:cNvSpPr>
          <p:nvPr/>
        </p:nvSpPr>
        <p:spPr>
          <a:xfrm>
            <a:off x="1066800" y="2805113"/>
            <a:ext cx="64770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1" name="p10-branch-3">
            <a:extLst>
              <a:ext uri="{FF2B5EF4-FFF2-40B4-BE49-F238E27FC236}">
                <a16:creationId xmlns:a16="http://schemas.microsoft.com/office/drawing/2014/main" id="{4702E1BA-156C-4812-AEAE-2A5158EBC321}"/>
              </a:ext>
            </a:extLst>
          </p:cNvPr>
          <p:cNvSpPr>
            <a:spLocks noGrp="1"/>
          </p:cNvSpPr>
          <p:nvPr/>
        </p:nvSpPr>
        <p:spPr>
          <a:xfrm>
            <a:off x="1066800" y="3348038"/>
            <a:ext cx="64770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2" name="p10-branch-4">
            <a:extLst>
              <a:ext uri="{FF2B5EF4-FFF2-40B4-BE49-F238E27FC236}">
                <a16:creationId xmlns:a16="http://schemas.microsoft.com/office/drawing/2014/main" id="{41D406D4-B416-475C-A477-0A09208760A3}"/>
              </a:ext>
            </a:extLst>
          </p:cNvPr>
          <p:cNvSpPr>
            <a:spLocks noGrp="1"/>
          </p:cNvSpPr>
          <p:nvPr/>
        </p:nvSpPr>
        <p:spPr>
          <a:xfrm>
            <a:off x="1066800" y="3890963"/>
            <a:ext cx="64770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3" name="p10-root">
            <a:extLst>
              <a:ext uri="{FF2B5EF4-FFF2-40B4-BE49-F238E27FC236}">
                <a16:creationId xmlns:a16="http://schemas.microsoft.com/office/drawing/2014/main" id="{377025C1-AC3D-4B92-893C-5D76A6E4E35D}"/>
              </a:ext>
            </a:extLst>
          </p:cNvPr>
          <p:cNvSpPr>
            <a:spLocks noGrp="1"/>
          </p:cNvSpPr>
          <p:nvPr/>
        </p:nvSpPr>
        <p:spPr>
          <a:xfrm>
            <a:off x="876300" y="990600"/>
            <a:ext cx="4762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Consolas"/>
                <a:ea typeface="Consolas"/>
                <a:cs typeface="Consolas"/>
              </a:rPr>
              <a:t>research-project/</a:t>
            </a:r>
          </a:p>
        </p:txBody>
      </p:sp>
      <p:sp>
        <p:nvSpPr>
          <p:cNvPr id="14" name="p10-count">
            <a:extLst>
              <a:ext uri="{FF2B5EF4-FFF2-40B4-BE49-F238E27FC236}">
                <a16:creationId xmlns:a16="http://schemas.microsoft.com/office/drawing/2014/main" id="{882A462E-904C-4665-BDF0-FEA5B55121C0}"/>
              </a:ext>
            </a:extLst>
          </p:cNvPr>
          <p:cNvSpPr>
            <a:spLocks noGrp="1"/>
          </p:cNvSpPr>
          <p:nvPr/>
        </p:nvSpPr>
        <p:spPr>
          <a:xfrm>
            <a:off x="6838950" y="1009650"/>
            <a:ext cx="4305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5 类核心工件 · 同一项目持续生长</a:t>
            </a:r>
          </a:p>
        </p:txBody>
      </p:sp>
      <p:sp>
        <p:nvSpPr>
          <p:cNvPr id="15" name="p10-number-0">
            <a:extLst>
              <a:ext uri="{FF2B5EF4-FFF2-40B4-BE49-F238E27FC236}">
                <a16:creationId xmlns:a16="http://schemas.microsoft.com/office/drawing/2014/main" id="{570D8828-4D03-4292-BC31-CD8B0710FB44}"/>
              </a:ext>
            </a:extLst>
          </p:cNvPr>
          <p:cNvSpPr>
            <a:spLocks noGrp="1"/>
          </p:cNvSpPr>
          <p:nvPr/>
        </p:nvSpPr>
        <p:spPr>
          <a:xfrm>
            <a:off x="1752600" y="1562100"/>
            <a:ext cx="495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6" name="p10-label-0">
            <a:extLst>
              <a:ext uri="{FF2B5EF4-FFF2-40B4-BE49-F238E27FC236}">
                <a16:creationId xmlns:a16="http://schemas.microsoft.com/office/drawing/2014/main" id="{7B6C9A02-B5DD-4CC5-8CC6-1237F96299A9}"/>
              </a:ext>
            </a:extLst>
          </p:cNvPr>
          <p:cNvSpPr>
            <a:spLocks noGrp="1"/>
          </p:cNvSpPr>
          <p:nvPr/>
        </p:nvSpPr>
        <p:spPr>
          <a:xfrm>
            <a:off x="2343150" y="156210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问题定义</a:t>
            </a:r>
          </a:p>
        </p:txBody>
      </p:sp>
      <p:sp>
        <p:nvSpPr>
          <p:cNvPr id="17" name="p10-files-0">
            <a:extLst>
              <a:ext uri="{FF2B5EF4-FFF2-40B4-BE49-F238E27FC236}">
                <a16:creationId xmlns:a16="http://schemas.microsoft.com/office/drawing/2014/main" id="{6AD6D989-6F3B-4DB7-A002-5E10986C11EA}"/>
              </a:ext>
            </a:extLst>
          </p:cNvPr>
          <p:cNvSpPr>
            <a:spLocks noGrp="1"/>
          </p:cNvSpPr>
          <p:nvPr/>
        </p:nvSpPr>
        <p:spPr>
          <a:xfrm>
            <a:off x="4552950" y="1562100"/>
            <a:ext cx="647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problem-definition.md</a:t>
            </a:r>
          </a:p>
        </p:txBody>
      </p:sp>
      <p:sp>
        <p:nvSpPr>
          <p:cNvPr id="18" name="p10-number-1">
            <a:extLst>
              <a:ext uri="{FF2B5EF4-FFF2-40B4-BE49-F238E27FC236}">
                <a16:creationId xmlns:a16="http://schemas.microsoft.com/office/drawing/2014/main" id="{6C2DC128-28CB-411E-935D-4A1D34FE8203}"/>
              </a:ext>
            </a:extLst>
          </p:cNvPr>
          <p:cNvSpPr>
            <a:spLocks noGrp="1"/>
          </p:cNvSpPr>
          <p:nvPr/>
        </p:nvSpPr>
        <p:spPr>
          <a:xfrm>
            <a:off x="1752600" y="2105025"/>
            <a:ext cx="495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9" name="p10-label-1">
            <a:extLst>
              <a:ext uri="{FF2B5EF4-FFF2-40B4-BE49-F238E27FC236}">
                <a16:creationId xmlns:a16="http://schemas.microsoft.com/office/drawing/2014/main" id="{11054002-74BC-462D-A08F-EE1F65F678BA}"/>
              </a:ext>
            </a:extLst>
          </p:cNvPr>
          <p:cNvSpPr>
            <a:spLocks noGrp="1"/>
          </p:cNvSpPr>
          <p:nvPr/>
        </p:nvSpPr>
        <p:spPr>
          <a:xfrm>
            <a:off x="2343150" y="2105025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证据与判断</a:t>
            </a:r>
          </a:p>
        </p:txBody>
      </p:sp>
      <p:sp>
        <p:nvSpPr>
          <p:cNvPr id="20" name="p10-files-1">
            <a:extLst>
              <a:ext uri="{FF2B5EF4-FFF2-40B4-BE49-F238E27FC236}">
                <a16:creationId xmlns:a16="http://schemas.microsoft.com/office/drawing/2014/main" id="{E181B116-F187-439F-BD34-E221391E4021}"/>
              </a:ext>
            </a:extLst>
          </p:cNvPr>
          <p:cNvSpPr>
            <a:spLocks noGrp="1"/>
          </p:cNvSpPr>
          <p:nvPr/>
        </p:nvSpPr>
        <p:spPr>
          <a:xfrm>
            <a:off x="4552950" y="2105025"/>
            <a:ext cx="647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evidence-map.md  +  hypothesis-and-judgment.md</a:t>
            </a:r>
          </a:p>
        </p:txBody>
      </p:sp>
      <p:sp>
        <p:nvSpPr>
          <p:cNvPr id="21" name="p10-number-2">
            <a:extLst>
              <a:ext uri="{FF2B5EF4-FFF2-40B4-BE49-F238E27FC236}">
                <a16:creationId xmlns:a16="http://schemas.microsoft.com/office/drawing/2014/main" id="{7D2BAB50-B2A9-4C9E-B076-03B1DDC4A6F3}"/>
              </a:ext>
            </a:extLst>
          </p:cNvPr>
          <p:cNvSpPr>
            <a:spLocks noGrp="1"/>
          </p:cNvSpPr>
          <p:nvPr/>
        </p:nvSpPr>
        <p:spPr>
          <a:xfrm>
            <a:off x="1752600" y="2647950"/>
            <a:ext cx="495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2" name="p10-label-2">
            <a:extLst>
              <a:ext uri="{FF2B5EF4-FFF2-40B4-BE49-F238E27FC236}">
                <a16:creationId xmlns:a16="http://schemas.microsoft.com/office/drawing/2014/main" id="{CA05EAA5-4A41-451F-8D20-228364D59FAE}"/>
              </a:ext>
            </a:extLst>
          </p:cNvPr>
          <p:cNvSpPr>
            <a:spLocks noGrp="1"/>
          </p:cNvSpPr>
          <p:nvPr/>
        </p:nvSpPr>
        <p:spPr>
          <a:xfrm>
            <a:off x="2343150" y="26479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原型验证</a:t>
            </a:r>
          </a:p>
        </p:txBody>
      </p:sp>
      <p:sp>
        <p:nvSpPr>
          <p:cNvPr id="23" name="p10-files-2">
            <a:extLst>
              <a:ext uri="{FF2B5EF4-FFF2-40B4-BE49-F238E27FC236}">
                <a16:creationId xmlns:a16="http://schemas.microsoft.com/office/drawing/2014/main" id="{583B8F44-87CC-4D22-9AC4-57DCC138F513}"/>
              </a:ext>
            </a:extLst>
          </p:cNvPr>
          <p:cNvSpPr>
            <a:spLocks noGrp="1"/>
          </p:cNvSpPr>
          <p:nvPr/>
        </p:nvSpPr>
        <p:spPr>
          <a:xfrm>
            <a:off x="4552950" y="2647950"/>
            <a:ext cx="647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experiment-spec.md  +  evaluation-report.md</a:t>
            </a:r>
          </a:p>
        </p:txBody>
      </p:sp>
      <p:sp>
        <p:nvSpPr>
          <p:cNvPr id="24" name="p10-number-3">
            <a:extLst>
              <a:ext uri="{FF2B5EF4-FFF2-40B4-BE49-F238E27FC236}">
                <a16:creationId xmlns:a16="http://schemas.microsoft.com/office/drawing/2014/main" id="{E160642D-1DFD-4A8E-978F-22469AC3D86D}"/>
              </a:ext>
            </a:extLst>
          </p:cNvPr>
          <p:cNvSpPr>
            <a:spLocks noGrp="1"/>
          </p:cNvSpPr>
          <p:nvPr/>
        </p:nvSpPr>
        <p:spPr>
          <a:xfrm>
            <a:off x="1752600" y="3190875"/>
            <a:ext cx="495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5" name="p10-label-3">
            <a:extLst>
              <a:ext uri="{FF2B5EF4-FFF2-40B4-BE49-F238E27FC236}">
                <a16:creationId xmlns:a16="http://schemas.microsoft.com/office/drawing/2014/main" id="{B8A1699B-5F4A-4FBE-AEA1-B3726E6DE18B}"/>
              </a:ext>
            </a:extLst>
          </p:cNvPr>
          <p:cNvSpPr>
            <a:spLocks noGrp="1"/>
          </p:cNvSpPr>
          <p:nvPr/>
        </p:nvSpPr>
        <p:spPr>
          <a:xfrm>
            <a:off x="2343150" y="3190875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Agent Workflow</a:t>
            </a:r>
          </a:p>
        </p:txBody>
      </p:sp>
      <p:sp>
        <p:nvSpPr>
          <p:cNvPr id="26" name="p10-files-3">
            <a:extLst>
              <a:ext uri="{FF2B5EF4-FFF2-40B4-BE49-F238E27FC236}">
                <a16:creationId xmlns:a16="http://schemas.microsoft.com/office/drawing/2014/main" id="{D869534D-03E8-4DED-A3B0-E48E21E7DAF4}"/>
              </a:ext>
            </a:extLst>
          </p:cNvPr>
          <p:cNvSpPr>
            <a:spLocks noGrp="1"/>
          </p:cNvSpPr>
          <p:nvPr/>
        </p:nvSpPr>
        <p:spPr>
          <a:xfrm>
            <a:off x="4552950" y="3190875"/>
            <a:ext cx="647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agent-workflow.md</a:t>
            </a:r>
          </a:p>
        </p:txBody>
      </p:sp>
      <p:sp>
        <p:nvSpPr>
          <p:cNvPr id="27" name="p10-number-4">
            <a:extLst>
              <a:ext uri="{FF2B5EF4-FFF2-40B4-BE49-F238E27FC236}">
                <a16:creationId xmlns:a16="http://schemas.microsoft.com/office/drawing/2014/main" id="{688A3E8A-36DF-4E8D-964E-DEDACF4A951B}"/>
              </a:ext>
            </a:extLst>
          </p:cNvPr>
          <p:cNvSpPr>
            <a:spLocks noGrp="1"/>
          </p:cNvSpPr>
          <p:nvPr/>
        </p:nvSpPr>
        <p:spPr>
          <a:xfrm>
            <a:off x="1752600" y="3733800"/>
            <a:ext cx="495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8" name="p10-label-4">
            <a:extLst>
              <a:ext uri="{FF2B5EF4-FFF2-40B4-BE49-F238E27FC236}">
                <a16:creationId xmlns:a16="http://schemas.microsoft.com/office/drawing/2014/main" id="{85E4DA44-A377-4D73-87E0-C47EAD9A9449}"/>
              </a:ext>
            </a:extLst>
          </p:cNvPr>
          <p:cNvSpPr>
            <a:spLocks noGrp="1"/>
          </p:cNvSpPr>
          <p:nvPr/>
        </p:nvSpPr>
        <p:spPr>
          <a:xfrm>
            <a:off x="2343150" y="373380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论文式报告</a:t>
            </a:r>
          </a:p>
        </p:txBody>
      </p:sp>
      <p:sp>
        <p:nvSpPr>
          <p:cNvPr id="29" name="p10-files-4">
            <a:extLst>
              <a:ext uri="{FF2B5EF4-FFF2-40B4-BE49-F238E27FC236}">
                <a16:creationId xmlns:a16="http://schemas.microsoft.com/office/drawing/2014/main" id="{0B6A9399-CFD3-4DA0-9D00-3D4FC7DCC432}"/>
              </a:ext>
            </a:extLst>
          </p:cNvPr>
          <p:cNvSpPr>
            <a:spLocks noGrp="1"/>
          </p:cNvSpPr>
          <p:nvPr/>
        </p:nvSpPr>
        <p:spPr>
          <a:xfrm>
            <a:off x="4552950" y="3733800"/>
            <a:ext cx="647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report.md</a:t>
            </a:r>
          </a:p>
        </p:txBody>
      </p:sp>
      <p:sp>
        <p:nvSpPr>
          <p:cNvPr id="30" name="p10-state">
            <a:extLst>
              <a:ext uri="{FF2B5EF4-FFF2-40B4-BE49-F238E27FC236}">
                <a16:creationId xmlns:a16="http://schemas.microsoft.com/office/drawing/2014/main" id="{D3DAF55B-514B-4CC8-B8BB-A2AF49EE6E84}"/>
              </a:ext>
            </a:extLst>
          </p:cNvPr>
          <p:cNvSpPr>
            <a:spLocks noGrp="1"/>
          </p:cNvSpPr>
          <p:nvPr/>
        </p:nvSpPr>
        <p:spPr>
          <a:xfrm>
            <a:off x="2381250" y="4248150"/>
            <a:ext cx="7429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draft   →   review   →   approved   →   stable</a:t>
            </a:r>
          </a:p>
        </p:txBody>
      </p:sp>
      <p:sp>
        <p:nvSpPr>
          <p:cNvPr id="31" name="p10-course-label">
            <a:extLst>
              <a:ext uri="{FF2B5EF4-FFF2-40B4-BE49-F238E27FC236}">
                <a16:creationId xmlns:a16="http://schemas.microsoft.com/office/drawing/2014/main" id="{B960F6B9-E82B-4454-8D35-A65733326E6C}"/>
              </a:ext>
            </a:extLst>
          </p:cNvPr>
          <p:cNvSpPr>
            <a:spLocks noGrp="1"/>
          </p:cNvSpPr>
          <p:nvPr/>
        </p:nvSpPr>
        <p:spPr>
          <a:xfrm>
            <a:off x="723900" y="49149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16 周课程路径</a:t>
            </a:r>
          </a:p>
        </p:txBody>
      </p:sp>
      <p:sp>
        <p:nvSpPr>
          <p:cNvPr id="32" name="p10-course-line">
            <a:extLst>
              <a:ext uri="{FF2B5EF4-FFF2-40B4-BE49-F238E27FC236}">
                <a16:creationId xmlns:a16="http://schemas.microsoft.com/office/drawing/2014/main" id="{247EE5AB-BC50-404F-8E3D-A21DCBD2F134}"/>
              </a:ext>
            </a:extLst>
          </p:cNvPr>
          <p:cNvSpPr>
            <a:spLocks noGrp="1"/>
          </p:cNvSpPr>
          <p:nvPr/>
        </p:nvSpPr>
        <p:spPr>
          <a:xfrm>
            <a:off x="2114550" y="5262563"/>
            <a:ext cx="8972550" cy="2857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33" name="p10-stage-node-0">
            <a:extLst>
              <a:ext uri="{FF2B5EF4-FFF2-40B4-BE49-F238E27FC236}">
                <a16:creationId xmlns:a16="http://schemas.microsoft.com/office/drawing/2014/main" id="{F0D0E823-68B7-4062-89D4-317A23C35E30}"/>
              </a:ext>
            </a:extLst>
          </p:cNvPr>
          <p:cNvSpPr>
            <a:spLocks noGrp="1"/>
          </p:cNvSpPr>
          <p:nvPr/>
        </p:nvSpPr>
        <p:spPr>
          <a:xfrm>
            <a:off x="1885950" y="5181600"/>
            <a:ext cx="190500" cy="190500"/>
          </a:xfrm>
          <a:prstGeom prst="ellipse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34" name="p10-stage-0">
            <a:extLst>
              <a:ext uri="{FF2B5EF4-FFF2-40B4-BE49-F238E27FC236}">
                <a16:creationId xmlns:a16="http://schemas.microsoft.com/office/drawing/2014/main" id="{62C59131-85DA-4A7E-89FE-895861912CBF}"/>
              </a:ext>
            </a:extLst>
          </p:cNvPr>
          <p:cNvSpPr>
            <a:spLocks noGrp="1"/>
          </p:cNvSpPr>
          <p:nvPr/>
        </p:nvSpPr>
        <p:spPr>
          <a:xfrm>
            <a:off x="1295400" y="5429250"/>
            <a:ext cx="1371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框架与规范</a:t>
            </a:r>
          </a:p>
        </p:txBody>
      </p:sp>
      <p:sp>
        <p:nvSpPr>
          <p:cNvPr id="35" name="p10-stage-node-1">
            <a:extLst>
              <a:ext uri="{FF2B5EF4-FFF2-40B4-BE49-F238E27FC236}">
                <a16:creationId xmlns:a16="http://schemas.microsoft.com/office/drawing/2014/main" id="{87947C29-6532-40DC-8EC1-002E297D73EE}"/>
              </a:ext>
            </a:extLst>
          </p:cNvPr>
          <p:cNvSpPr>
            <a:spLocks noGrp="1"/>
          </p:cNvSpPr>
          <p:nvPr/>
        </p:nvSpPr>
        <p:spPr>
          <a:xfrm>
            <a:off x="3981450" y="5181600"/>
            <a:ext cx="190500" cy="190500"/>
          </a:xfrm>
          <a:prstGeom prst="ellipse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36" name="p10-stage-1">
            <a:extLst>
              <a:ext uri="{FF2B5EF4-FFF2-40B4-BE49-F238E27FC236}">
                <a16:creationId xmlns:a16="http://schemas.microsoft.com/office/drawing/2014/main" id="{6348971C-D428-434F-B918-FAFC173E63A9}"/>
              </a:ext>
            </a:extLst>
          </p:cNvPr>
          <p:cNvSpPr>
            <a:spLocks noGrp="1"/>
          </p:cNvSpPr>
          <p:nvPr/>
        </p:nvSpPr>
        <p:spPr>
          <a:xfrm>
            <a:off x="3390900" y="5429250"/>
            <a:ext cx="1371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文献与问题</a:t>
            </a:r>
          </a:p>
        </p:txBody>
      </p:sp>
      <p:sp>
        <p:nvSpPr>
          <p:cNvPr id="37" name="p10-stage-node-2">
            <a:extLst>
              <a:ext uri="{FF2B5EF4-FFF2-40B4-BE49-F238E27FC236}">
                <a16:creationId xmlns:a16="http://schemas.microsoft.com/office/drawing/2014/main" id="{0621A55E-6A23-4FF8-9AB6-B46A30DB1E25}"/>
              </a:ext>
            </a:extLst>
          </p:cNvPr>
          <p:cNvSpPr>
            <a:spLocks noGrp="1"/>
          </p:cNvSpPr>
          <p:nvPr/>
        </p:nvSpPr>
        <p:spPr>
          <a:xfrm>
            <a:off x="6076950" y="5181600"/>
            <a:ext cx="190500" cy="190500"/>
          </a:xfrm>
          <a:prstGeom prst="ellipse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38" name="p10-stage-2">
            <a:extLst>
              <a:ext uri="{FF2B5EF4-FFF2-40B4-BE49-F238E27FC236}">
                <a16:creationId xmlns:a16="http://schemas.microsoft.com/office/drawing/2014/main" id="{E77DEA01-59F5-4346-BB9F-EDCDCF4381FB}"/>
              </a:ext>
            </a:extLst>
          </p:cNvPr>
          <p:cNvSpPr>
            <a:spLocks noGrp="1"/>
          </p:cNvSpPr>
          <p:nvPr/>
        </p:nvSpPr>
        <p:spPr>
          <a:xfrm>
            <a:off x="5486400" y="5429250"/>
            <a:ext cx="1371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假设与 baseline</a:t>
            </a:r>
          </a:p>
        </p:txBody>
      </p:sp>
      <p:sp>
        <p:nvSpPr>
          <p:cNvPr id="39" name="p10-stage-node-3">
            <a:extLst>
              <a:ext uri="{FF2B5EF4-FFF2-40B4-BE49-F238E27FC236}">
                <a16:creationId xmlns:a16="http://schemas.microsoft.com/office/drawing/2014/main" id="{392E847A-B078-4C2A-8F53-81948B010356}"/>
              </a:ext>
            </a:extLst>
          </p:cNvPr>
          <p:cNvSpPr>
            <a:spLocks noGrp="1"/>
          </p:cNvSpPr>
          <p:nvPr/>
        </p:nvSpPr>
        <p:spPr>
          <a:xfrm>
            <a:off x="8172450" y="5181600"/>
            <a:ext cx="190500" cy="190500"/>
          </a:xfrm>
          <a:prstGeom prst="ellipse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40" name="p10-stage-3">
            <a:extLst>
              <a:ext uri="{FF2B5EF4-FFF2-40B4-BE49-F238E27FC236}">
                <a16:creationId xmlns:a16="http://schemas.microsoft.com/office/drawing/2014/main" id="{32364954-4CE1-4243-A5E6-0B2829B90320}"/>
              </a:ext>
            </a:extLst>
          </p:cNvPr>
          <p:cNvSpPr>
            <a:spLocks noGrp="1"/>
          </p:cNvSpPr>
          <p:nvPr/>
        </p:nvSpPr>
        <p:spPr>
          <a:xfrm>
            <a:off x="7581900" y="5429250"/>
            <a:ext cx="1371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原型与工作流</a:t>
            </a:r>
          </a:p>
        </p:txBody>
      </p:sp>
      <p:sp>
        <p:nvSpPr>
          <p:cNvPr id="41" name="p10-stage-node-4">
            <a:extLst>
              <a:ext uri="{FF2B5EF4-FFF2-40B4-BE49-F238E27FC236}">
                <a16:creationId xmlns:a16="http://schemas.microsoft.com/office/drawing/2014/main" id="{BE2F8AF3-DCAA-4AB3-80EF-B62935F7F975}"/>
              </a:ext>
            </a:extLst>
          </p:cNvPr>
          <p:cNvSpPr>
            <a:spLocks noGrp="1"/>
          </p:cNvSpPr>
          <p:nvPr/>
        </p:nvSpPr>
        <p:spPr>
          <a:xfrm>
            <a:off x="10267950" y="5181600"/>
            <a:ext cx="190500" cy="190500"/>
          </a:xfrm>
          <a:prstGeom prst="ellipse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42" name="p10-stage-4">
            <a:extLst>
              <a:ext uri="{FF2B5EF4-FFF2-40B4-BE49-F238E27FC236}">
                <a16:creationId xmlns:a16="http://schemas.microsoft.com/office/drawing/2014/main" id="{9255612F-9550-483D-BDE6-EA9B462132F2}"/>
              </a:ext>
            </a:extLst>
          </p:cNvPr>
          <p:cNvSpPr>
            <a:spLocks noGrp="1"/>
          </p:cNvSpPr>
          <p:nvPr/>
        </p:nvSpPr>
        <p:spPr>
          <a:xfrm>
            <a:off x="9677400" y="5429250"/>
            <a:ext cx="1371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表达与复盘</a:t>
            </a:r>
          </a:p>
        </p:txBody>
      </p:sp>
      <p:sp>
        <p:nvSpPr>
          <p:cNvPr id="43" name="p10-gate-0">
            <a:extLst>
              <a:ext uri="{FF2B5EF4-FFF2-40B4-BE49-F238E27FC236}">
                <a16:creationId xmlns:a16="http://schemas.microsoft.com/office/drawing/2014/main" id="{BDB5920C-E914-45FC-ADDC-168519055C6C}"/>
              </a:ext>
            </a:extLst>
          </p:cNvPr>
          <p:cNvSpPr>
            <a:spLocks noGrp="1"/>
          </p:cNvSpPr>
          <p:nvPr/>
        </p:nvSpPr>
        <p:spPr>
          <a:xfrm>
            <a:off x="2800350" y="4953000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G1 · 6</a:t>
            </a:r>
          </a:p>
        </p:txBody>
      </p:sp>
      <p:sp>
        <p:nvSpPr>
          <p:cNvPr id="44" name="p10-gate-1">
            <a:extLst>
              <a:ext uri="{FF2B5EF4-FFF2-40B4-BE49-F238E27FC236}">
                <a16:creationId xmlns:a16="http://schemas.microsoft.com/office/drawing/2014/main" id="{A03A0FA0-79F3-47F5-890E-DA6F27862BC2}"/>
              </a:ext>
            </a:extLst>
          </p:cNvPr>
          <p:cNvSpPr>
            <a:spLocks noGrp="1"/>
          </p:cNvSpPr>
          <p:nvPr/>
        </p:nvSpPr>
        <p:spPr>
          <a:xfrm>
            <a:off x="4895850" y="4953000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G2 · 9</a:t>
            </a:r>
          </a:p>
        </p:txBody>
      </p:sp>
      <p:sp>
        <p:nvSpPr>
          <p:cNvPr id="45" name="p10-gate-2">
            <a:extLst>
              <a:ext uri="{FF2B5EF4-FFF2-40B4-BE49-F238E27FC236}">
                <a16:creationId xmlns:a16="http://schemas.microsoft.com/office/drawing/2014/main" id="{476A495D-5F96-463C-95EC-777FF599CA65}"/>
              </a:ext>
            </a:extLst>
          </p:cNvPr>
          <p:cNvSpPr>
            <a:spLocks noGrp="1"/>
          </p:cNvSpPr>
          <p:nvPr/>
        </p:nvSpPr>
        <p:spPr>
          <a:xfrm>
            <a:off x="6991350" y="4953000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G3 · 13</a:t>
            </a:r>
          </a:p>
        </p:txBody>
      </p:sp>
      <p:sp>
        <p:nvSpPr>
          <p:cNvPr id="46" name="p10-gate-3">
            <a:extLst>
              <a:ext uri="{FF2B5EF4-FFF2-40B4-BE49-F238E27FC236}">
                <a16:creationId xmlns:a16="http://schemas.microsoft.com/office/drawing/2014/main" id="{3CBBAAA9-EFCD-425C-89E6-6E356ACD4911}"/>
              </a:ext>
            </a:extLst>
          </p:cNvPr>
          <p:cNvSpPr>
            <a:spLocks noGrp="1"/>
          </p:cNvSpPr>
          <p:nvPr/>
        </p:nvSpPr>
        <p:spPr>
          <a:xfrm>
            <a:off x="9086850" y="4953000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G4 · 16</a:t>
            </a:r>
          </a:p>
        </p:txBody>
      </p:sp>
      <p:sp>
        <p:nvSpPr>
          <p:cNvPr id="47" name="p10-bottom">
            <a:extLst>
              <a:ext uri="{FF2B5EF4-FFF2-40B4-BE49-F238E27FC236}">
                <a16:creationId xmlns:a16="http://schemas.microsoft.com/office/drawing/2014/main" id="{463F8F6A-7527-4D84-A1A7-27E850569FF1}"/>
              </a:ext>
            </a:extLst>
          </p:cNvPr>
          <p:cNvSpPr>
            <a:spLocks noGrp="1"/>
          </p:cNvSpPr>
          <p:nvPr/>
        </p:nvSpPr>
        <p:spPr>
          <a:xfrm>
            <a:off x="2571750" y="5829300"/>
            <a:ext cx="7048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所有课堂练习回写同一个项目，不是五份孤立作业。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课程要求你具备基本工程与论文阅读能力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30394428-F1DC-E5F6-DB0C-7DE31F3D8A23}" type="slidenum">
              <a:t>11</a:t>
            </a:fld>
            <a:endParaRPr/>
          </a:p>
        </p:txBody>
      </p:sp>
      <p:sp>
        <p:nvSpPr>
          <p:cNvPr id="6" name="p11-audience">
            <a:extLst>
              <a:ext uri="{FF2B5EF4-FFF2-40B4-BE49-F238E27FC236}">
                <a16:creationId xmlns:a16="http://schemas.microsoft.com/office/drawing/2014/main" id="{D696425B-F6EE-4805-A9CB-4D02ED3EF754}"/>
              </a:ext>
            </a:extLst>
          </p:cNvPr>
          <p:cNvSpPr>
            <a:spLocks noGrp="1"/>
          </p:cNvSpPr>
          <p:nvPr/>
        </p:nvSpPr>
        <p:spPr>
          <a:xfrm>
            <a:off x="895350" y="1333500"/>
            <a:ext cx="2381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适用对象</a:t>
            </a:r>
          </a:p>
        </p:txBody>
      </p:sp>
      <p:sp>
        <p:nvSpPr>
          <p:cNvPr id="7" name="p11-audience-body">
            <a:extLst>
              <a:ext uri="{FF2B5EF4-FFF2-40B4-BE49-F238E27FC236}">
                <a16:creationId xmlns:a16="http://schemas.microsoft.com/office/drawing/2014/main" id="{B73E73A7-6568-45A2-B482-64DE4AA55A98}"/>
              </a:ext>
            </a:extLst>
          </p:cNvPr>
          <p:cNvSpPr>
            <a:spLocks noGrp="1"/>
          </p:cNvSpPr>
          <p:nvPr/>
        </p:nvSpPr>
        <p:spPr>
          <a:xfrm>
            <a:off x="895350" y="1943100"/>
            <a:ext cx="40957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t"/>
          <a:lstStyle/>
          <a:p>
            <a:pPr algn="l">
              <a:buNone/>
              <a:defRPr sz="2250" b="1">
                <a:solidFill>
                  <a:srgbClr val="18354E"/>
                </a:solidFill>
              </a:defRPr>
            </a:pPr>
            <a:r>
              <a:rPr sz="22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CS / AI 及相关方向</a:t>
            </a:r>
          </a:p>
          <a:p>
            <a:pPr algn="l">
              <a:buNone/>
              <a:defRPr sz="2250" b="1">
                <a:solidFill>
                  <a:srgbClr val="18354E"/>
                </a:solidFill>
              </a:defRPr>
            </a:pPr>
            <a:r>
              <a:rPr sz="22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硕士生、博士生</a:t>
            </a:r>
          </a:p>
        </p:txBody>
      </p:sp>
      <p:sp>
        <p:nvSpPr>
          <p:cNvPr id="8" name="p11-v">
            <a:extLst>
              <a:ext uri="{FF2B5EF4-FFF2-40B4-BE49-F238E27FC236}">
                <a16:creationId xmlns:a16="http://schemas.microsoft.com/office/drawing/2014/main" id="{E0EFB119-4911-459B-9D7B-5604F3CD15B7}"/>
              </a:ext>
            </a:extLst>
          </p:cNvPr>
          <p:cNvSpPr>
            <a:spLocks noGrp="1"/>
          </p:cNvSpPr>
          <p:nvPr/>
        </p:nvSpPr>
        <p:spPr>
          <a:xfrm rot="5400000">
            <a:off x="3676650" y="3114675"/>
            <a:ext cx="38862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9" name="p11-pre">
            <a:extLst>
              <a:ext uri="{FF2B5EF4-FFF2-40B4-BE49-F238E27FC236}">
                <a16:creationId xmlns:a16="http://schemas.microsoft.com/office/drawing/2014/main" id="{C82277EE-B14E-4759-90A8-E77F64B9A9EC}"/>
              </a:ext>
            </a:extLst>
          </p:cNvPr>
          <p:cNvSpPr>
            <a:spLocks noGrp="1"/>
          </p:cNvSpPr>
          <p:nvPr/>
        </p:nvSpPr>
        <p:spPr>
          <a:xfrm>
            <a:off x="6286500" y="1333500"/>
            <a:ext cx="2381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先修要求</a:t>
            </a:r>
          </a:p>
        </p:txBody>
      </p:sp>
      <p:sp>
        <p:nvSpPr>
          <p:cNvPr id="10" name="p11-0">
            <a:extLst>
              <a:ext uri="{FF2B5EF4-FFF2-40B4-BE49-F238E27FC236}">
                <a16:creationId xmlns:a16="http://schemas.microsoft.com/office/drawing/2014/main" id="{6C7BC717-C591-49C4-998C-12BFA71FF4DC}"/>
              </a:ext>
            </a:extLst>
          </p:cNvPr>
          <p:cNvSpPr>
            <a:spLocks noGrp="1"/>
          </p:cNvSpPr>
          <p:nvPr/>
        </p:nvSpPr>
        <p:spPr>
          <a:xfrm>
            <a:off x="6381750" y="2038350"/>
            <a:ext cx="2095500" cy="5905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Python</a:t>
            </a:r>
          </a:p>
        </p:txBody>
      </p:sp>
      <p:sp>
        <p:nvSpPr>
          <p:cNvPr id="11" name="p11-1">
            <a:extLst>
              <a:ext uri="{FF2B5EF4-FFF2-40B4-BE49-F238E27FC236}">
                <a16:creationId xmlns:a16="http://schemas.microsoft.com/office/drawing/2014/main" id="{8BF77B0C-B97C-45D1-8B97-E2B2BDF2CD38}"/>
              </a:ext>
            </a:extLst>
          </p:cNvPr>
          <p:cNvSpPr>
            <a:spLocks noGrp="1"/>
          </p:cNvSpPr>
          <p:nvPr/>
        </p:nvSpPr>
        <p:spPr>
          <a:xfrm>
            <a:off x="8763000" y="2038350"/>
            <a:ext cx="2095500" cy="5905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机器学习基础</a:t>
            </a:r>
          </a:p>
        </p:txBody>
      </p:sp>
      <p:sp>
        <p:nvSpPr>
          <p:cNvPr id="12" name="p11-2">
            <a:extLst>
              <a:ext uri="{FF2B5EF4-FFF2-40B4-BE49-F238E27FC236}">
                <a16:creationId xmlns:a16="http://schemas.microsoft.com/office/drawing/2014/main" id="{BE0B918E-E70B-43AD-893F-9BDB92FEE0CD}"/>
              </a:ext>
            </a:extLst>
          </p:cNvPr>
          <p:cNvSpPr>
            <a:spLocks noGrp="1"/>
          </p:cNvSpPr>
          <p:nvPr/>
        </p:nvSpPr>
        <p:spPr>
          <a:xfrm>
            <a:off x="6381750" y="2914650"/>
            <a:ext cx="2095500" cy="5905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Git</a:t>
            </a:r>
          </a:p>
        </p:txBody>
      </p:sp>
      <p:sp>
        <p:nvSpPr>
          <p:cNvPr id="13" name="p11-3">
            <a:extLst>
              <a:ext uri="{FF2B5EF4-FFF2-40B4-BE49-F238E27FC236}">
                <a16:creationId xmlns:a16="http://schemas.microsoft.com/office/drawing/2014/main" id="{D1879D3C-031E-42C8-A6B1-1BD9B054A4F8}"/>
              </a:ext>
            </a:extLst>
          </p:cNvPr>
          <p:cNvSpPr>
            <a:spLocks noGrp="1"/>
          </p:cNvSpPr>
          <p:nvPr/>
        </p:nvSpPr>
        <p:spPr>
          <a:xfrm>
            <a:off x="8763000" y="2914650"/>
            <a:ext cx="2095500" cy="5905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命令行</a:t>
            </a:r>
          </a:p>
        </p:txBody>
      </p:sp>
      <p:sp>
        <p:nvSpPr>
          <p:cNvPr id="14" name="p11-4">
            <a:extLst>
              <a:ext uri="{FF2B5EF4-FFF2-40B4-BE49-F238E27FC236}">
                <a16:creationId xmlns:a16="http://schemas.microsoft.com/office/drawing/2014/main" id="{686E5558-552A-4C05-8939-5D20B8E8A192}"/>
              </a:ext>
            </a:extLst>
          </p:cNvPr>
          <p:cNvSpPr>
            <a:spLocks noGrp="1"/>
          </p:cNvSpPr>
          <p:nvPr/>
        </p:nvSpPr>
        <p:spPr>
          <a:xfrm>
            <a:off x="6381750" y="3790950"/>
            <a:ext cx="2095500" cy="5905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英文论文阅读</a:t>
            </a:r>
          </a:p>
        </p:txBody>
      </p:sp>
      <p:sp>
        <p:nvSpPr>
          <p:cNvPr id="15" name="p11-risk">
            <a:extLst>
              <a:ext uri="{FF2B5EF4-FFF2-40B4-BE49-F238E27FC236}">
                <a16:creationId xmlns:a16="http://schemas.microsoft.com/office/drawing/2014/main" id="{F80BB3AD-2BD4-46EC-97FE-368030D39656}"/>
              </a:ext>
            </a:extLst>
          </p:cNvPr>
          <p:cNvSpPr>
            <a:spLocks noGrp="1"/>
          </p:cNvSpPr>
          <p:nvPr/>
        </p:nvSpPr>
        <p:spPr>
          <a:xfrm>
            <a:off x="2476500" y="5219700"/>
            <a:ext cx="723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0">
                <a:solidFill>
                  <a:srgbClr val="667684"/>
                </a:solidFill>
              </a:defRPr>
            </a:pPr>
            <a:r>
              <a:rPr sz="15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环境问题请在退出卡报告；课堂不逐台安装。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正式项目个人完成，同伴组只提供反馈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DB16885-0D3F-A391-B669-3211DB3B26E8}" type="slidenum">
              <a:t>12</a:t>
            </a:fld>
            <a:endParaRPr/>
          </a:p>
        </p:txBody>
      </p:sp>
      <p:sp>
        <p:nvSpPr>
          <p:cNvPr id="6" name="p12-one">
            <a:extLst>
              <a:ext uri="{FF2B5EF4-FFF2-40B4-BE49-F238E27FC236}">
                <a16:creationId xmlns:a16="http://schemas.microsoft.com/office/drawing/2014/main" id="{B3E56D75-2F0F-4A50-8E9C-E10B9A606EF7}"/>
              </a:ext>
            </a:extLst>
          </p:cNvPr>
          <p:cNvSpPr>
            <a:spLocks noGrp="1"/>
          </p:cNvSpPr>
          <p:nvPr/>
        </p:nvSpPr>
        <p:spPr>
          <a:xfrm>
            <a:off x="914400" y="1181100"/>
            <a:ext cx="4572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每人一个项目</a:t>
            </a:r>
          </a:p>
        </p:txBody>
      </p:sp>
      <p:sp>
        <p:nvSpPr>
          <p:cNvPr id="7" name="p12-one-items">
            <a:extLst>
              <a:ext uri="{FF2B5EF4-FFF2-40B4-BE49-F238E27FC236}">
                <a16:creationId xmlns:a16="http://schemas.microsoft.com/office/drawing/2014/main" id="{C4F3DB37-D36D-48DE-B4A5-35797B1E2C0E}"/>
              </a:ext>
            </a:extLst>
          </p:cNvPr>
          <p:cNvSpPr>
            <a:spLocks noGrp="1"/>
          </p:cNvSpPr>
          <p:nvPr/>
        </p:nvSpPr>
        <p:spPr>
          <a:xfrm>
            <a:off x="1200150" y="2000250"/>
            <a:ext cx="4000500" cy="23812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独立问题</a:t>
            </a:r>
          </a:p>
          <a:p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独立证据与判断</a:t>
            </a:r>
          </a:p>
          <a:p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 Agent Workflow</a:t>
            </a:r>
          </a:p>
          <a:p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独立提交与答辩</a:t>
            </a:r>
          </a:p>
        </p:txBody>
      </p:sp>
      <p:sp>
        <p:nvSpPr>
          <p:cNvPr id="8" name="p12-arrow">
            <a:extLst>
              <a:ext uri="{FF2B5EF4-FFF2-40B4-BE49-F238E27FC236}">
                <a16:creationId xmlns:a16="http://schemas.microsoft.com/office/drawing/2014/main" id="{521A02C7-9BD3-44E5-8570-9F728A035DC1}"/>
              </a:ext>
            </a:extLst>
          </p:cNvPr>
          <p:cNvSpPr>
            <a:spLocks noGrp="1"/>
          </p:cNvSpPr>
          <p:nvPr/>
        </p:nvSpPr>
        <p:spPr>
          <a:xfrm>
            <a:off x="4895850" y="2800350"/>
            <a:ext cx="24003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667684"/>
                </a:solidFill>
              </a:defRPr>
            </a:pPr>
            <a:r>
              <a:rPr sz="16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← 反馈，不代写 →</a:t>
            </a:r>
          </a:p>
        </p:txBody>
      </p:sp>
      <p:sp>
        <p:nvSpPr>
          <p:cNvPr id="9" name="p12-peer">
            <a:extLst>
              <a:ext uri="{FF2B5EF4-FFF2-40B4-BE49-F238E27FC236}">
                <a16:creationId xmlns:a16="http://schemas.microsoft.com/office/drawing/2014/main" id="{BE8E740B-4D2A-4E44-BB21-8D192D1F1AE2}"/>
              </a:ext>
            </a:extLst>
          </p:cNvPr>
          <p:cNvSpPr>
            <a:spLocks noGrp="1"/>
          </p:cNvSpPr>
          <p:nvPr/>
        </p:nvSpPr>
        <p:spPr>
          <a:xfrm>
            <a:off x="7086600" y="1181100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18354E"/>
                </a:solidFill>
              </a:defRPr>
            </a:pPr>
            <a:r>
              <a:rPr sz="25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3–4 人固定同伴组</a:t>
            </a:r>
          </a:p>
        </p:txBody>
      </p:sp>
      <p:sp>
        <p:nvSpPr>
          <p:cNvPr id="10" name="p12-peer-items">
            <a:extLst>
              <a:ext uri="{FF2B5EF4-FFF2-40B4-BE49-F238E27FC236}">
                <a16:creationId xmlns:a16="http://schemas.microsoft.com/office/drawing/2014/main" id="{21BBCAEB-152F-40D7-A77E-973482160A79}"/>
              </a:ext>
            </a:extLst>
          </p:cNvPr>
          <p:cNvSpPr>
            <a:spLocks noGrp="1"/>
          </p:cNvSpPr>
          <p:nvPr/>
        </p:nvSpPr>
        <p:spPr>
          <a:xfrm>
            <a:off x="7429500" y="2000250"/>
            <a:ext cx="3581400" cy="2381250"/>
          </a:xfrm>
          <a:prstGeom prst="rect">
            <a:avLst/>
          </a:prstGeom>
          <a:solidFill>
            <a:srgbClr val="E8F0F6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分享</a:t>
            </a:r>
          </a:p>
          <a:p>
            <a:pPr algn="ctr">
              <a:lnSpc>
                <a:spcPct val="130000"/>
              </a:lnSpc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互查</a:t>
            </a:r>
          </a:p>
          <a:p>
            <a:pPr algn="ctr">
              <a:lnSpc>
                <a:spcPct val="130000"/>
              </a:lnSpc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同行评审</a:t>
            </a:r>
          </a:p>
        </p:txBody>
      </p:sp>
      <p:sp>
        <p:nvSpPr>
          <p:cNvPr id="11" name="p12-bottom">
            <a:extLst>
              <a:ext uri="{FF2B5EF4-FFF2-40B4-BE49-F238E27FC236}">
                <a16:creationId xmlns:a16="http://schemas.microsoft.com/office/drawing/2014/main" id="{EDB03DEC-B40F-4DE0-A2CC-B515E66AD140}"/>
              </a:ext>
            </a:extLst>
          </p:cNvPr>
          <p:cNvSpPr>
            <a:spLocks noGrp="1"/>
          </p:cNvSpPr>
          <p:nvPr/>
        </p:nvSpPr>
        <p:spPr>
          <a:xfrm>
            <a:off x="3333750" y="4953000"/>
            <a:ext cx="552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作者保留最终判断与提交责任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评分看四种能力，不看 AI 使用量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2DD23107-4986-8758-3A93-3D74F35908CC}" type="slidenum">
              <a:t>13</a:t>
            </a:fld>
            <a:endParaRPr/>
          </a:p>
        </p:txBody>
      </p:sp>
      <p:sp>
        <p:nvSpPr>
          <p:cNvPr id="6" name="p13-p-0">
            <a:extLst>
              <a:ext uri="{FF2B5EF4-FFF2-40B4-BE49-F238E27FC236}">
                <a16:creationId xmlns:a16="http://schemas.microsoft.com/office/drawing/2014/main" id="{6075E997-BBC3-4F5C-A217-19AE0BABB8E2}"/>
              </a:ext>
            </a:extLst>
          </p:cNvPr>
          <p:cNvSpPr>
            <a:spLocks noGrp="1"/>
          </p:cNvSpPr>
          <p:nvPr/>
        </p:nvSpPr>
        <p:spPr>
          <a:xfrm>
            <a:off x="742950" y="1200150"/>
            <a:ext cx="1066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2550" b="1">
                <a:solidFill>
                  <a:srgbClr val="2F638A"/>
                </a:solidFill>
              </a:defRPr>
            </a:pPr>
            <a:r>
              <a:rPr sz="255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25%</a:t>
            </a:r>
          </a:p>
        </p:txBody>
      </p:sp>
      <p:sp>
        <p:nvSpPr>
          <p:cNvPr id="7" name="p13-bg-0">
            <a:extLst>
              <a:ext uri="{FF2B5EF4-FFF2-40B4-BE49-F238E27FC236}">
                <a16:creationId xmlns:a16="http://schemas.microsoft.com/office/drawing/2014/main" id="{2AEE69B5-0E61-4C2E-9172-6D123096F11A}"/>
              </a:ext>
            </a:extLst>
          </p:cNvPr>
          <p:cNvSpPr>
            <a:spLocks noGrp="1"/>
          </p:cNvSpPr>
          <p:nvPr/>
        </p:nvSpPr>
        <p:spPr>
          <a:xfrm>
            <a:off x="2114550" y="1295400"/>
            <a:ext cx="6572250" cy="3619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</p:sp>
      <p:sp>
        <p:nvSpPr>
          <p:cNvPr id="8" name="p13-bar-0">
            <a:extLst>
              <a:ext uri="{FF2B5EF4-FFF2-40B4-BE49-F238E27FC236}">
                <a16:creationId xmlns:a16="http://schemas.microsoft.com/office/drawing/2014/main" id="{F3AB9DAC-4193-45C6-A2EC-FC76B9500A46}"/>
              </a:ext>
            </a:extLst>
          </p:cNvPr>
          <p:cNvSpPr>
            <a:spLocks noGrp="1"/>
          </p:cNvSpPr>
          <p:nvPr/>
        </p:nvSpPr>
        <p:spPr>
          <a:xfrm>
            <a:off x="2114550" y="1295400"/>
            <a:ext cx="5476875" cy="361950"/>
          </a:xfrm>
          <a:prstGeom prst="rect">
            <a:avLst/>
          </a:prstGeom>
          <a:solidFill>
            <a:srgbClr val="2F638A"/>
          </a:solidFill>
          <a:ln w="0">
            <a:noFill/>
            <a:prstDash val="solid"/>
          </a:ln>
        </p:spPr>
      </p:sp>
      <p:sp>
        <p:nvSpPr>
          <p:cNvPr id="9" name="p13-l-0">
            <a:extLst>
              <a:ext uri="{FF2B5EF4-FFF2-40B4-BE49-F238E27FC236}">
                <a16:creationId xmlns:a16="http://schemas.microsoft.com/office/drawing/2014/main" id="{2FEBED9A-9075-4C1F-8EAE-904D752BC72A}"/>
              </a:ext>
            </a:extLst>
          </p:cNvPr>
          <p:cNvSpPr>
            <a:spLocks noGrp="1"/>
          </p:cNvSpPr>
          <p:nvPr/>
        </p:nvSpPr>
        <p:spPr>
          <a:xfrm>
            <a:off x="8915400" y="12001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文献与问题定位</a:t>
            </a:r>
          </a:p>
        </p:txBody>
      </p:sp>
      <p:sp>
        <p:nvSpPr>
          <p:cNvPr id="10" name="p13-p-1">
            <a:extLst>
              <a:ext uri="{FF2B5EF4-FFF2-40B4-BE49-F238E27FC236}">
                <a16:creationId xmlns:a16="http://schemas.microsoft.com/office/drawing/2014/main" id="{7184E9BA-A8CD-4EC7-B8D3-4E59AE594039}"/>
              </a:ext>
            </a:extLst>
          </p:cNvPr>
          <p:cNvSpPr>
            <a:spLocks noGrp="1"/>
          </p:cNvSpPr>
          <p:nvPr/>
        </p:nvSpPr>
        <p:spPr>
          <a:xfrm>
            <a:off x="742950" y="2038350"/>
            <a:ext cx="1066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30%</a:t>
            </a:r>
          </a:p>
        </p:txBody>
      </p:sp>
      <p:sp>
        <p:nvSpPr>
          <p:cNvPr id="11" name="p13-bg-1">
            <a:extLst>
              <a:ext uri="{FF2B5EF4-FFF2-40B4-BE49-F238E27FC236}">
                <a16:creationId xmlns:a16="http://schemas.microsoft.com/office/drawing/2014/main" id="{594F060F-9159-4D46-AB17-2CBF4D201238}"/>
              </a:ext>
            </a:extLst>
          </p:cNvPr>
          <p:cNvSpPr>
            <a:spLocks noGrp="1"/>
          </p:cNvSpPr>
          <p:nvPr/>
        </p:nvSpPr>
        <p:spPr>
          <a:xfrm>
            <a:off x="2114550" y="2133600"/>
            <a:ext cx="6572250" cy="3619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</p:sp>
      <p:sp>
        <p:nvSpPr>
          <p:cNvPr id="12" name="p13-bar-1">
            <a:extLst>
              <a:ext uri="{FF2B5EF4-FFF2-40B4-BE49-F238E27FC236}">
                <a16:creationId xmlns:a16="http://schemas.microsoft.com/office/drawing/2014/main" id="{367D2445-1811-4D94-8EA7-3B9A6B924E1D}"/>
              </a:ext>
            </a:extLst>
          </p:cNvPr>
          <p:cNvSpPr>
            <a:spLocks noGrp="1"/>
          </p:cNvSpPr>
          <p:nvPr/>
        </p:nvSpPr>
        <p:spPr>
          <a:xfrm>
            <a:off x="2114550" y="2133600"/>
            <a:ext cx="6572250" cy="3619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3" name="p13-l-1">
            <a:extLst>
              <a:ext uri="{FF2B5EF4-FFF2-40B4-BE49-F238E27FC236}">
                <a16:creationId xmlns:a16="http://schemas.microsoft.com/office/drawing/2014/main" id="{D888B66E-4FBD-4127-9A84-B949D968AC35}"/>
              </a:ext>
            </a:extLst>
          </p:cNvPr>
          <p:cNvSpPr>
            <a:spLocks noGrp="1"/>
          </p:cNvSpPr>
          <p:nvPr/>
        </p:nvSpPr>
        <p:spPr>
          <a:xfrm>
            <a:off x="8915400" y="20383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实验设计与可复现性</a:t>
            </a:r>
          </a:p>
        </p:txBody>
      </p:sp>
      <p:sp>
        <p:nvSpPr>
          <p:cNvPr id="14" name="p13-p-2">
            <a:extLst>
              <a:ext uri="{FF2B5EF4-FFF2-40B4-BE49-F238E27FC236}">
                <a16:creationId xmlns:a16="http://schemas.microsoft.com/office/drawing/2014/main" id="{B66EC657-A130-4FFA-9396-336AAC6028B4}"/>
              </a:ext>
            </a:extLst>
          </p:cNvPr>
          <p:cNvSpPr>
            <a:spLocks noGrp="1"/>
          </p:cNvSpPr>
          <p:nvPr/>
        </p:nvSpPr>
        <p:spPr>
          <a:xfrm>
            <a:off x="742950" y="2876550"/>
            <a:ext cx="1066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2550" b="1">
                <a:solidFill>
                  <a:srgbClr val="28745A"/>
                </a:solidFill>
              </a:defRPr>
            </a:pPr>
            <a:r>
              <a:rPr sz="25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25%</a:t>
            </a:r>
          </a:p>
        </p:txBody>
      </p:sp>
      <p:sp>
        <p:nvSpPr>
          <p:cNvPr id="15" name="p13-bg-2">
            <a:extLst>
              <a:ext uri="{FF2B5EF4-FFF2-40B4-BE49-F238E27FC236}">
                <a16:creationId xmlns:a16="http://schemas.microsoft.com/office/drawing/2014/main" id="{150DAF40-6E97-4257-AF28-97E78CDCA5C4}"/>
              </a:ext>
            </a:extLst>
          </p:cNvPr>
          <p:cNvSpPr>
            <a:spLocks noGrp="1"/>
          </p:cNvSpPr>
          <p:nvPr/>
        </p:nvSpPr>
        <p:spPr>
          <a:xfrm>
            <a:off x="2114550" y="2971800"/>
            <a:ext cx="6572250" cy="3619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</p:sp>
      <p:sp>
        <p:nvSpPr>
          <p:cNvPr id="16" name="p13-bar-2">
            <a:extLst>
              <a:ext uri="{FF2B5EF4-FFF2-40B4-BE49-F238E27FC236}">
                <a16:creationId xmlns:a16="http://schemas.microsoft.com/office/drawing/2014/main" id="{7A84829C-1DBE-4E5E-AA91-D2A367C4450E}"/>
              </a:ext>
            </a:extLst>
          </p:cNvPr>
          <p:cNvSpPr>
            <a:spLocks noGrp="1"/>
          </p:cNvSpPr>
          <p:nvPr/>
        </p:nvSpPr>
        <p:spPr>
          <a:xfrm>
            <a:off x="2114550" y="2971800"/>
            <a:ext cx="5476875" cy="361950"/>
          </a:xfrm>
          <a:prstGeom prst="rect">
            <a:avLst/>
          </a:prstGeom>
          <a:solidFill>
            <a:srgbClr val="28745A"/>
          </a:solidFill>
          <a:ln w="0">
            <a:noFill/>
            <a:prstDash val="solid"/>
          </a:ln>
        </p:spPr>
      </p:sp>
      <p:sp>
        <p:nvSpPr>
          <p:cNvPr id="17" name="p13-l-2">
            <a:extLst>
              <a:ext uri="{FF2B5EF4-FFF2-40B4-BE49-F238E27FC236}">
                <a16:creationId xmlns:a16="http://schemas.microsoft.com/office/drawing/2014/main" id="{F1804757-D0C9-4287-8E0C-51398CC68E8E}"/>
              </a:ext>
            </a:extLst>
          </p:cNvPr>
          <p:cNvSpPr>
            <a:spLocks noGrp="1"/>
          </p:cNvSpPr>
          <p:nvPr/>
        </p:nvSpPr>
        <p:spPr>
          <a:xfrm>
            <a:off x="8915400" y="28765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原型与 Agent Workflow 实践</a:t>
            </a:r>
          </a:p>
        </p:txBody>
      </p:sp>
      <p:sp>
        <p:nvSpPr>
          <p:cNvPr id="18" name="p13-p-3">
            <a:extLst>
              <a:ext uri="{FF2B5EF4-FFF2-40B4-BE49-F238E27FC236}">
                <a16:creationId xmlns:a16="http://schemas.microsoft.com/office/drawing/2014/main" id="{1D0CE5FD-500D-47C4-A317-157B063C97C6}"/>
              </a:ext>
            </a:extLst>
          </p:cNvPr>
          <p:cNvSpPr>
            <a:spLocks noGrp="1"/>
          </p:cNvSpPr>
          <p:nvPr/>
        </p:nvSpPr>
        <p:spPr>
          <a:xfrm>
            <a:off x="742950" y="3714750"/>
            <a:ext cx="1066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2550" b="1">
                <a:solidFill>
                  <a:srgbClr val="A86C12"/>
                </a:solidFill>
              </a:defRPr>
            </a:pPr>
            <a:r>
              <a:rPr sz="25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20%</a:t>
            </a:r>
          </a:p>
        </p:txBody>
      </p:sp>
      <p:sp>
        <p:nvSpPr>
          <p:cNvPr id="19" name="p13-bg-3">
            <a:extLst>
              <a:ext uri="{FF2B5EF4-FFF2-40B4-BE49-F238E27FC236}">
                <a16:creationId xmlns:a16="http://schemas.microsoft.com/office/drawing/2014/main" id="{EE935210-5CF7-4F73-9480-90BE866349BF}"/>
              </a:ext>
            </a:extLst>
          </p:cNvPr>
          <p:cNvSpPr>
            <a:spLocks noGrp="1"/>
          </p:cNvSpPr>
          <p:nvPr/>
        </p:nvSpPr>
        <p:spPr>
          <a:xfrm>
            <a:off x="2114550" y="3810000"/>
            <a:ext cx="6572250" cy="3619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</p:sp>
      <p:sp>
        <p:nvSpPr>
          <p:cNvPr id="20" name="p13-bar-3">
            <a:extLst>
              <a:ext uri="{FF2B5EF4-FFF2-40B4-BE49-F238E27FC236}">
                <a16:creationId xmlns:a16="http://schemas.microsoft.com/office/drawing/2014/main" id="{39FB7271-CBA4-47DE-8DB4-E753CCA580F8}"/>
              </a:ext>
            </a:extLst>
          </p:cNvPr>
          <p:cNvSpPr>
            <a:spLocks noGrp="1"/>
          </p:cNvSpPr>
          <p:nvPr/>
        </p:nvSpPr>
        <p:spPr>
          <a:xfrm>
            <a:off x="2114550" y="3810000"/>
            <a:ext cx="4381500" cy="361950"/>
          </a:xfrm>
          <a:prstGeom prst="rect">
            <a:avLst/>
          </a:prstGeom>
          <a:solidFill>
            <a:srgbClr val="A86C12"/>
          </a:solidFill>
          <a:ln w="0">
            <a:noFill/>
            <a:prstDash val="solid"/>
          </a:ln>
        </p:spPr>
      </p:sp>
      <p:sp>
        <p:nvSpPr>
          <p:cNvPr id="21" name="p13-l-3">
            <a:extLst>
              <a:ext uri="{FF2B5EF4-FFF2-40B4-BE49-F238E27FC236}">
                <a16:creationId xmlns:a16="http://schemas.microsoft.com/office/drawing/2014/main" id="{E40FBA7D-0097-4690-9D52-41AB077EB067}"/>
              </a:ext>
            </a:extLst>
          </p:cNvPr>
          <p:cNvSpPr>
            <a:spLocks noGrp="1"/>
          </p:cNvSpPr>
          <p:nvPr/>
        </p:nvSpPr>
        <p:spPr>
          <a:xfrm>
            <a:off x="8915400" y="37147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表达、伦理与复盘</a:t>
            </a:r>
          </a:p>
        </p:txBody>
      </p:sp>
      <p:sp>
        <p:nvSpPr>
          <p:cNvPr id="22" name="p13-rule">
            <a:extLst>
              <a:ext uri="{FF2B5EF4-FFF2-40B4-BE49-F238E27FC236}">
                <a16:creationId xmlns:a16="http://schemas.microsoft.com/office/drawing/2014/main" id="{CCDC8518-7313-475C-918B-175BC666BF21}"/>
              </a:ext>
            </a:extLst>
          </p:cNvPr>
          <p:cNvSpPr>
            <a:spLocks noGrp="1"/>
          </p:cNvSpPr>
          <p:nvPr/>
        </p:nvSpPr>
        <p:spPr>
          <a:xfrm>
            <a:off x="1524000" y="4705350"/>
            <a:ext cx="9144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不按 AI 使用多少评分，只评价核验与研究质量。</a:t>
            </a:r>
          </a:p>
        </p:txBody>
      </p:sp>
      <p:sp>
        <p:nvSpPr>
          <p:cNvPr id="23" name="p13-gates">
            <a:extLst>
              <a:ext uri="{FF2B5EF4-FFF2-40B4-BE49-F238E27FC236}">
                <a16:creationId xmlns:a16="http://schemas.microsoft.com/office/drawing/2014/main" id="{CA91A806-F936-42F9-A979-950F3CB49CF5}"/>
              </a:ext>
            </a:extLst>
          </p:cNvPr>
          <p:cNvSpPr>
            <a:spLocks noGrp="1"/>
          </p:cNvSpPr>
          <p:nvPr/>
        </p:nvSpPr>
        <p:spPr>
          <a:xfrm>
            <a:off x="1200150" y="5295900"/>
            <a:ext cx="9791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W6 问题门   ·   W9 判断门   ·   W13 验证门   ·   W16 论证门 + 最终项目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所有记录进入同一个项目，不另设周作业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327921A4-25C4-3DB4-06B1-32693CEE2241}" type="slidenum">
              <a:t>14</a:t>
            </a:fld>
            <a:endParaRPr/>
          </a:p>
        </p:txBody>
      </p:sp>
      <p:sp>
        <p:nvSpPr>
          <p:cNvPr id="6" name="p14-ne">
            <a:extLst>
              <a:ext uri="{FF2B5EF4-FFF2-40B4-BE49-F238E27FC236}">
                <a16:creationId xmlns:a16="http://schemas.microsoft.com/office/drawing/2014/main" id="{B37679E9-290B-4441-967C-00D153025331}"/>
              </a:ext>
            </a:extLst>
          </p:cNvPr>
          <p:cNvSpPr>
            <a:spLocks noGrp="1"/>
          </p:cNvSpPr>
          <p:nvPr/>
        </p:nvSpPr>
        <p:spPr>
          <a:xfrm>
            <a:off x="2266950" y="1295400"/>
            <a:ext cx="76581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课堂练习  ≠  每周正式作业</a:t>
            </a:r>
          </a:p>
        </p:txBody>
      </p:sp>
      <p:sp>
        <p:nvSpPr>
          <p:cNvPr id="7" name="p14-dot-0">
            <a:extLst>
              <a:ext uri="{FF2B5EF4-FFF2-40B4-BE49-F238E27FC236}">
                <a16:creationId xmlns:a16="http://schemas.microsoft.com/office/drawing/2014/main" id="{A7F73008-4B25-4841-A126-68819928CB69}"/>
              </a:ext>
            </a:extLst>
          </p:cNvPr>
          <p:cNvSpPr>
            <a:spLocks noGrp="1"/>
          </p:cNvSpPr>
          <p:nvPr/>
        </p:nvSpPr>
        <p:spPr>
          <a:xfrm>
            <a:off x="1885950" y="2552700"/>
            <a:ext cx="228600" cy="228600"/>
          </a:xfrm>
          <a:prstGeom prst="ellipse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8" name="p14-item-0">
            <a:extLst>
              <a:ext uri="{FF2B5EF4-FFF2-40B4-BE49-F238E27FC236}">
                <a16:creationId xmlns:a16="http://schemas.microsoft.com/office/drawing/2014/main" id="{1C71D161-9F9D-4F43-9A91-BEA60ED5DBC1}"/>
              </a:ext>
            </a:extLst>
          </p:cNvPr>
          <p:cNvSpPr>
            <a:spLocks noGrp="1"/>
          </p:cNvSpPr>
          <p:nvPr/>
        </p:nvSpPr>
        <p:spPr>
          <a:xfrm>
            <a:off x="2343150" y="2457450"/>
            <a:ext cx="790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练习持续回写个人项目</a:t>
            </a:r>
          </a:p>
        </p:txBody>
      </p:sp>
      <p:sp>
        <p:nvSpPr>
          <p:cNvPr id="9" name="p14-dot-1">
            <a:extLst>
              <a:ext uri="{FF2B5EF4-FFF2-40B4-BE49-F238E27FC236}">
                <a16:creationId xmlns:a16="http://schemas.microsoft.com/office/drawing/2014/main" id="{78EBD965-0B52-4615-A993-A30A5F72DC2C}"/>
              </a:ext>
            </a:extLst>
          </p:cNvPr>
          <p:cNvSpPr>
            <a:spLocks noGrp="1"/>
          </p:cNvSpPr>
          <p:nvPr/>
        </p:nvSpPr>
        <p:spPr>
          <a:xfrm>
            <a:off x="1885950" y="3219450"/>
            <a:ext cx="228600" cy="228600"/>
          </a:xfrm>
          <a:prstGeom prst="ellipse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0" name="p14-item-1">
            <a:extLst>
              <a:ext uri="{FF2B5EF4-FFF2-40B4-BE49-F238E27FC236}">
                <a16:creationId xmlns:a16="http://schemas.microsoft.com/office/drawing/2014/main" id="{48E40C4A-BE2B-442B-B365-04AE5BEDAD38}"/>
              </a:ext>
            </a:extLst>
          </p:cNvPr>
          <p:cNvSpPr>
            <a:spLocks noGrp="1"/>
          </p:cNvSpPr>
          <p:nvPr/>
        </p:nvSpPr>
        <p:spPr>
          <a:xfrm>
            <a:off x="2343150" y="3124200"/>
            <a:ext cx="790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核心阅读不逐周提交</a:t>
            </a:r>
          </a:p>
        </p:txBody>
      </p:sp>
      <p:sp>
        <p:nvSpPr>
          <p:cNvPr id="11" name="p14-dot-2">
            <a:extLst>
              <a:ext uri="{FF2B5EF4-FFF2-40B4-BE49-F238E27FC236}">
                <a16:creationId xmlns:a16="http://schemas.microsoft.com/office/drawing/2014/main" id="{3CDCD904-D3D3-4A4E-813A-5A16DE118D9F}"/>
              </a:ext>
            </a:extLst>
          </p:cNvPr>
          <p:cNvSpPr>
            <a:spLocks noGrp="1"/>
          </p:cNvSpPr>
          <p:nvPr/>
        </p:nvSpPr>
        <p:spPr>
          <a:xfrm>
            <a:off x="1885950" y="3886200"/>
            <a:ext cx="228600" cy="228600"/>
          </a:xfrm>
          <a:prstGeom prst="ellipse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2" name="p14-item-2">
            <a:extLst>
              <a:ext uri="{FF2B5EF4-FFF2-40B4-BE49-F238E27FC236}">
                <a16:creationId xmlns:a16="http://schemas.microsoft.com/office/drawing/2014/main" id="{8D42F467-CA5C-4128-BE1F-F942C9B53FCC}"/>
              </a:ext>
            </a:extLst>
          </p:cNvPr>
          <p:cNvSpPr>
            <a:spLocks noGrp="1"/>
          </p:cNvSpPr>
          <p:nvPr/>
        </p:nvSpPr>
        <p:spPr>
          <a:xfrm>
            <a:off x="2343150" y="3790950"/>
            <a:ext cx="790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四个研究门统一检查成熟度</a:t>
            </a:r>
          </a:p>
        </p:txBody>
      </p:sp>
      <p:sp>
        <p:nvSpPr>
          <p:cNvPr id="13" name="p14-dot-3">
            <a:extLst>
              <a:ext uri="{FF2B5EF4-FFF2-40B4-BE49-F238E27FC236}">
                <a16:creationId xmlns:a16="http://schemas.microsoft.com/office/drawing/2014/main" id="{349A5FF6-8A98-46D9-AEFB-C3CF639E2139}"/>
              </a:ext>
            </a:extLst>
          </p:cNvPr>
          <p:cNvSpPr>
            <a:spLocks noGrp="1"/>
          </p:cNvSpPr>
          <p:nvPr/>
        </p:nvSpPr>
        <p:spPr>
          <a:xfrm>
            <a:off x="1885950" y="4552950"/>
            <a:ext cx="228600" cy="228600"/>
          </a:xfrm>
          <a:prstGeom prst="ellipse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4" name="p14-item-3">
            <a:extLst>
              <a:ext uri="{FF2B5EF4-FFF2-40B4-BE49-F238E27FC236}">
                <a16:creationId xmlns:a16="http://schemas.microsoft.com/office/drawing/2014/main" id="{686FBF4F-CF3E-4866-A4C2-38CA4223B3D3}"/>
              </a:ext>
            </a:extLst>
          </p:cNvPr>
          <p:cNvSpPr>
            <a:spLocks noGrp="1"/>
          </p:cNvSpPr>
          <p:nvPr/>
        </p:nvSpPr>
        <p:spPr>
          <a:xfrm>
            <a:off x="2343150" y="4457700"/>
            <a:ext cx="790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首课课后阅读不单独计分</a:t>
            </a:r>
          </a:p>
        </p:txBody>
      </p:sp>
      <p:sp>
        <p:nvSpPr>
          <p:cNvPr id="15" name="p14-bottom">
            <a:extLst>
              <a:ext uri="{FF2B5EF4-FFF2-40B4-BE49-F238E27FC236}">
                <a16:creationId xmlns:a16="http://schemas.microsoft.com/office/drawing/2014/main" id="{91C44D01-6C7F-4247-A7A4-4527D2FF16B5}"/>
              </a:ext>
            </a:extLst>
          </p:cNvPr>
          <p:cNvSpPr>
            <a:spLocks noGrp="1"/>
          </p:cNvSpPr>
          <p:nvPr/>
        </p:nvSpPr>
        <p:spPr>
          <a:xfrm>
            <a:off x="3238500" y="5219700"/>
            <a:ext cx="571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记录集中，成熟度分阶段检查。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OpenCode 是课堂工作平台，不是课程终点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A83FA91-883A-0168-8075-96CEB9DCA3C2}" type="slidenum">
              <a:t>15</a:t>
            </a:fld>
            <a:endParaRPr/>
          </a:p>
        </p:txBody>
      </p:sp>
      <p:sp>
        <p:nvSpPr>
          <p:cNvPr id="6" name="p15-platform">
            <a:extLst>
              <a:ext uri="{FF2B5EF4-FFF2-40B4-BE49-F238E27FC236}">
                <a16:creationId xmlns:a16="http://schemas.microsoft.com/office/drawing/2014/main" id="{FB671F04-7329-4F70-A5ED-5F65287EE7B5}"/>
              </a:ext>
            </a:extLst>
          </p:cNvPr>
          <p:cNvSpPr>
            <a:spLocks noGrp="1"/>
          </p:cNvSpPr>
          <p:nvPr/>
        </p:nvSpPr>
        <p:spPr>
          <a:xfrm>
            <a:off x="704850" y="1200150"/>
            <a:ext cx="3238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3450" b="1">
                <a:solidFill>
                  <a:srgbClr val="C8161E"/>
                </a:solidFill>
              </a:defRPr>
            </a:pPr>
            <a:r>
              <a:rPr sz="34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OpenCode</a:t>
            </a:r>
          </a:p>
        </p:txBody>
      </p:sp>
      <p:sp>
        <p:nvSpPr>
          <p:cNvPr id="7" name="p15-role">
            <a:extLst>
              <a:ext uri="{FF2B5EF4-FFF2-40B4-BE49-F238E27FC236}">
                <a16:creationId xmlns:a16="http://schemas.microsoft.com/office/drawing/2014/main" id="{21D4465A-3B45-434D-A73D-8999A819BD32}"/>
              </a:ext>
            </a:extLst>
          </p:cNvPr>
          <p:cNvSpPr>
            <a:spLocks noGrp="1"/>
          </p:cNvSpPr>
          <p:nvPr/>
        </p:nvSpPr>
        <p:spPr>
          <a:xfrm>
            <a:off x="742950" y="2000250"/>
            <a:ext cx="3143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课堂工作平台</a:t>
            </a:r>
          </a:p>
        </p:txBody>
      </p:sp>
      <p:sp>
        <p:nvSpPr>
          <p:cNvPr id="8" name="p15-not">
            <a:extLst>
              <a:ext uri="{FF2B5EF4-FFF2-40B4-BE49-F238E27FC236}">
                <a16:creationId xmlns:a16="http://schemas.microsoft.com/office/drawing/2014/main" id="{636DAA7F-A735-4050-B972-B0323476CA4A}"/>
              </a:ext>
            </a:extLst>
          </p:cNvPr>
          <p:cNvSpPr>
            <a:spLocks noGrp="1"/>
          </p:cNvSpPr>
          <p:nvPr/>
        </p:nvSpPr>
        <p:spPr>
          <a:xfrm>
            <a:off x="742950" y="2628900"/>
            <a:ext cx="3143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0">
                <a:solidFill>
                  <a:srgbClr val="667684"/>
                </a:solidFill>
              </a:defRPr>
            </a:pPr>
            <a:r>
              <a:rPr sz="187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不是课程终点</a:t>
            </a:r>
          </a:p>
        </p:txBody>
      </p:sp>
      <p:sp>
        <p:nvSpPr>
          <p:cNvPr id="9" name="p15-divider">
            <a:extLst>
              <a:ext uri="{FF2B5EF4-FFF2-40B4-BE49-F238E27FC236}">
                <a16:creationId xmlns:a16="http://schemas.microsoft.com/office/drawing/2014/main" id="{FA7EBF20-4547-44FB-9A1C-9DF26AC1E568}"/>
              </a:ext>
            </a:extLst>
          </p:cNvPr>
          <p:cNvSpPr>
            <a:spLocks noGrp="1"/>
          </p:cNvSpPr>
          <p:nvPr/>
        </p:nvSpPr>
        <p:spPr>
          <a:xfrm rot="5400000">
            <a:off x="2314575" y="3181350"/>
            <a:ext cx="409575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0" name="p15-0">
            <a:extLst>
              <a:ext uri="{FF2B5EF4-FFF2-40B4-BE49-F238E27FC236}">
                <a16:creationId xmlns:a16="http://schemas.microsoft.com/office/drawing/2014/main" id="{16FFD385-766A-4EA4-A9EA-CC0959ABD616}"/>
              </a:ext>
            </a:extLst>
          </p:cNvPr>
          <p:cNvSpPr>
            <a:spLocks noGrp="1"/>
          </p:cNvSpPr>
          <p:nvPr/>
        </p:nvSpPr>
        <p:spPr>
          <a:xfrm>
            <a:off x="4857750" y="1333500"/>
            <a:ext cx="299085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任务如何表达</a:t>
            </a:r>
          </a:p>
        </p:txBody>
      </p:sp>
      <p:sp>
        <p:nvSpPr>
          <p:cNvPr id="11" name="p15-1">
            <a:extLst>
              <a:ext uri="{FF2B5EF4-FFF2-40B4-BE49-F238E27FC236}">
                <a16:creationId xmlns:a16="http://schemas.microsoft.com/office/drawing/2014/main" id="{5EED5263-6E98-4F2A-B639-5D9D2B3DB39A}"/>
              </a:ext>
            </a:extLst>
          </p:cNvPr>
          <p:cNvSpPr>
            <a:spLocks noGrp="1"/>
          </p:cNvSpPr>
          <p:nvPr/>
        </p:nvSpPr>
        <p:spPr>
          <a:xfrm>
            <a:off x="8210550" y="1333500"/>
            <a:ext cx="299085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Context 如何提供</a:t>
            </a:r>
          </a:p>
        </p:txBody>
      </p:sp>
      <p:sp>
        <p:nvSpPr>
          <p:cNvPr id="12" name="p15-2">
            <a:extLst>
              <a:ext uri="{FF2B5EF4-FFF2-40B4-BE49-F238E27FC236}">
                <a16:creationId xmlns:a16="http://schemas.microsoft.com/office/drawing/2014/main" id="{83D7739A-92A4-40CC-8323-691BEF30325B}"/>
              </a:ext>
            </a:extLst>
          </p:cNvPr>
          <p:cNvSpPr>
            <a:spLocks noGrp="1"/>
          </p:cNvSpPr>
          <p:nvPr/>
        </p:nvSpPr>
        <p:spPr>
          <a:xfrm>
            <a:off x="4857750" y="2533650"/>
            <a:ext cx="2990850" cy="7810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工具和权限如何约束</a:t>
            </a:r>
          </a:p>
        </p:txBody>
      </p:sp>
      <p:sp>
        <p:nvSpPr>
          <p:cNvPr id="13" name="p15-3">
            <a:extLst>
              <a:ext uri="{FF2B5EF4-FFF2-40B4-BE49-F238E27FC236}">
                <a16:creationId xmlns:a16="http://schemas.microsoft.com/office/drawing/2014/main" id="{7274E296-7CA1-4E4D-93D7-E698120E0735}"/>
              </a:ext>
            </a:extLst>
          </p:cNvPr>
          <p:cNvSpPr>
            <a:spLocks noGrp="1"/>
          </p:cNvSpPr>
          <p:nvPr/>
        </p:nvSpPr>
        <p:spPr>
          <a:xfrm>
            <a:off x="8210550" y="2533650"/>
            <a:ext cx="299085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文件如何变化</a:t>
            </a:r>
          </a:p>
        </p:txBody>
      </p:sp>
      <p:sp>
        <p:nvSpPr>
          <p:cNvPr id="14" name="p15-4">
            <a:extLst>
              <a:ext uri="{FF2B5EF4-FFF2-40B4-BE49-F238E27FC236}">
                <a16:creationId xmlns:a16="http://schemas.microsoft.com/office/drawing/2014/main" id="{867FA37D-6570-40FC-9344-86E713C257D3}"/>
              </a:ext>
            </a:extLst>
          </p:cNvPr>
          <p:cNvSpPr>
            <a:spLocks noGrp="1"/>
          </p:cNvSpPr>
          <p:nvPr/>
        </p:nvSpPr>
        <p:spPr>
          <a:xfrm>
            <a:off x="4857750" y="3733800"/>
            <a:ext cx="2990850" cy="7810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人在哪里审核</a:t>
            </a:r>
          </a:p>
        </p:txBody>
      </p:sp>
      <p:sp>
        <p:nvSpPr>
          <p:cNvPr id="15" name="p15-5">
            <a:extLst>
              <a:ext uri="{FF2B5EF4-FFF2-40B4-BE49-F238E27FC236}">
                <a16:creationId xmlns:a16="http://schemas.microsoft.com/office/drawing/2014/main" id="{197F6BCA-DDF0-420C-BBC6-8F02C0A90347}"/>
              </a:ext>
            </a:extLst>
          </p:cNvPr>
          <p:cNvSpPr>
            <a:spLocks noGrp="1"/>
          </p:cNvSpPr>
          <p:nvPr/>
        </p:nvSpPr>
        <p:spPr>
          <a:xfrm>
            <a:off x="8210550" y="3733800"/>
            <a:ext cx="299085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过程如何留下记录</a:t>
            </a:r>
          </a:p>
        </p:txBody>
      </p:sp>
      <p:sp>
        <p:nvSpPr>
          <p:cNvPr id="16" name="p15-fallback">
            <a:extLst>
              <a:ext uri="{FF2B5EF4-FFF2-40B4-BE49-F238E27FC236}">
                <a16:creationId xmlns:a16="http://schemas.microsoft.com/office/drawing/2014/main" id="{24AA675C-D60B-41BE-8367-37CD62463283}"/>
              </a:ext>
            </a:extLst>
          </p:cNvPr>
          <p:cNvSpPr>
            <a:spLocks noGrp="1"/>
          </p:cNvSpPr>
          <p:nvPr/>
        </p:nvSpPr>
        <p:spPr>
          <a:xfrm>
            <a:off x="4953000" y="5048250"/>
            <a:ext cx="619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模型不可用：备用环境 / 截图 / 纸面任务契约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从第一天起，效率不能突破四条底线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DC9C7607-4BA3-B4DC-A00F-2E67A9FCFF7E}" type="slidenum">
              <a:t>16</a:t>
            </a:fld>
            <a:endParaRPr/>
          </a:p>
        </p:txBody>
      </p:sp>
      <p:sp>
        <p:nvSpPr>
          <p:cNvPr id="6" name="p16-n-0">
            <a:extLst>
              <a:ext uri="{FF2B5EF4-FFF2-40B4-BE49-F238E27FC236}">
                <a16:creationId xmlns:a16="http://schemas.microsoft.com/office/drawing/2014/main" id="{AED65C34-26AF-4A70-B7B2-D1934ADB8A0E}"/>
              </a:ext>
            </a:extLst>
          </p:cNvPr>
          <p:cNvSpPr>
            <a:spLocks noGrp="1"/>
          </p:cNvSpPr>
          <p:nvPr/>
        </p:nvSpPr>
        <p:spPr>
          <a:xfrm>
            <a:off x="876300" y="1200150"/>
            <a:ext cx="8382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p16-v-0">
            <a:extLst>
              <a:ext uri="{FF2B5EF4-FFF2-40B4-BE49-F238E27FC236}">
                <a16:creationId xmlns:a16="http://schemas.microsoft.com/office/drawing/2014/main" id="{93559F74-133E-49AA-88D1-68F08F0D2DF3}"/>
              </a:ext>
            </a:extLst>
          </p:cNvPr>
          <p:cNvSpPr>
            <a:spLocks noGrp="1"/>
          </p:cNvSpPr>
          <p:nvPr/>
        </p:nvSpPr>
        <p:spPr>
          <a:xfrm>
            <a:off x="2000250" y="1200150"/>
            <a:ext cx="171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不上传</a:t>
            </a:r>
          </a:p>
        </p:txBody>
      </p:sp>
      <p:sp>
        <p:nvSpPr>
          <p:cNvPr id="8" name="p16-line-0">
            <a:extLst>
              <a:ext uri="{FF2B5EF4-FFF2-40B4-BE49-F238E27FC236}">
                <a16:creationId xmlns:a16="http://schemas.microsoft.com/office/drawing/2014/main" id="{AF3FCA3C-5D99-4462-AF8C-F193F14291B6}"/>
              </a:ext>
            </a:extLst>
          </p:cNvPr>
          <p:cNvSpPr>
            <a:spLocks noGrp="1"/>
          </p:cNvSpPr>
          <p:nvPr/>
        </p:nvSpPr>
        <p:spPr>
          <a:xfrm>
            <a:off x="3905250" y="1533525"/>
            <a:ext cx="8763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9" name="p16-d-0">
            <a:extLst>
              <a:ext uri="{FF2B5EF4-FFF2-40B4-BE49-F238E27FC236}">
                <a16:creationId xmlns:a16="http://schemas.microsoft.com/office/drawing/2014/main" id="{95ADA616-AD2F-47F7-9CFD-35E623732716}"/>
              </a:ext>
            </a:extLst>
          </p:cNvPr>
          <p:cNvSpPr>
            <a:spLocks noGrp="1"/>
          </p:cNvSpPr>
          <p:nvPr/>
        </p:nvSpPr>
        <p:spPr>
          <a:xfrm>
            <a:off x="5048250" y="1200150"/>
            <a:ext cx="5905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未公开或敏感材料</a:t>
            </a:r>
          </a:p>
        </p:txBody>
      </p:sp>
      <p:sp>
        <p:nvSpPr>
          <p:cNvPr id="10" name="p16-n-1">
            <a:extLst>
              <a:ext uri="{FF2B5EF4-FFF2-40B4-BE49-F238E27FC236}">
                <a16:creationId xmlns:a16="http://schemas.microsoft.com/office/drawing/2014/main" id="{EC6F3B2F-7CBA-490D-B72C-F0115DA3B4F9}"/>
              </a:ext>
            </a:extLst>
          </p:cNvPr>
          <p:cNvSpPr>
            <a:spLocks noGrp="1"/>
          </p:cNvSpPr>
          <p:nvPr/>
        </p:nvSpPr>
        <p:spPr>
          <a:xfrm>
            <a:off x="876300" y="2228850"/>
            <a:ext cx="8382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p16-v-1">
            <a:extLst>
              <a:ext uri="{FF2B5EF4-FFF2-40B4-BE49-F238E27FC236}">
                <a16:creationId xmlns:a16="http://schemas.microsoft.com/office/drawing/2014/main" id="{D0077257-F562-40C1-A70C-3FB122ED4FB7}"/>
              </a:ext>
            </a:extLst>
          </p:cNvPr>
          <p:cNvSpPr>
            <a:spLocks noGrp="1"/>
          </p:cNvSpPr>
          <p:nvPr/>
        </p:nvSpPr>
        <p:spPr>
          <a:xfrm>
            <a:off x="2000250" y="2228850"/>
            <a:ext cx="171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不采信</a:t>
            </a:r>
          </a:p>
        </p:txBody>
      </p:sp>
      <p:sp>
        <p:nvSpPr>
          <p:cNvPr id="12" name="p16-line-1">
            <a:extLst>
              <a:ext uri="{FF2B5EF4-FFF2-40B4-BE49-F238E27FC236}">
                <a16:creationId xmlns:a16="http://schemas.microsoft.com/office/drawing/2014/main" id="{CBB5A61A-9F2D-4771-8435-F47155C8E37A}"/>
              </a:ext>
            </a:extLst>
          </p:cNvPr>
          <p:cNvSpPr>
            <a:spLocks noGrp="1"/>
          </p:cNvSpPr>
          <p:nvPr/>
        </p:nvSpPr>
        <p:spPr>
          <a:xfrm>
            <a:off x="3905250" y="2562225"/>
            <a:ext cx="8763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3" name="p16-d-1">
            <a:extLst>
              <a:ext uri="{FF2B5EF4-FFF2-40B4-BE49-F238E27FC236}">
                <a16:creationId xmlns:a16="http://schemas.microsoft.com/office/drawing/2014/main" id="{57F1A4F6-3D24-4211-B86B-705DFEE04900}"/>
              </a:ext>
            </a:extLst>
          </p:cNvPr>
          <p:cNvSpPr>
            <a:spLocks noGrp="1"/>
          </p:cNvSpPr>
          <p:nvPr/>
        </p:nvSpPr>
        <p:spPr>
          <a:xfrm>
            <a:off x="5048250" y="2228850"/>
            <a:ext cx="5905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生成引文作为真实来源</a:t>
            </a:r>
          </a:p>
        </p:txBody>
      </p:sp>
      <p:sp>
        <p:nvSpPr>
          <p:cNvPr id="14" name="p16-n-2">
            <a:extLst>
              <a:ext uri="{FF2B5EF4-FFF2-40B4-BE49-F238E27FC236}">
                <a16:creationId xmlns:a16="http://schemas.microsoft.com/office/drawing/2014/main" id="{20692084-FDE2-4318-BEDA-934DBD224324}"/>
              </a:ext>
            </a:extLst>
          </p:cNvPr>
          <p:cNvSpPr>
            <a:spLocks noGrp="1"/>
          </p:cNvSpPr>
          <p:nvPr/>
        </p:nvSpPr>
        <p:spPr>
          <a:xfrm>
            <a:off x="876300" y="3257550"/>
            <a:ext cx="8382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p16-v-2">
            <a:extLst>
              <a:ext uri="{FF2B5EF4-FFF2-40B4-BE49-F238E27FC236}">
                <a16:creationId xmlns:a16="http://schemas.microsoft.com/office/drawing/2014/main" id="{B42E2A25-3834-4B8C-AB74-4C21B1FACE1C}"/>
              </a:ext>
            </a:extLst>
          </p:cNvPr>
          <p:cNvSpPr>
            <a:spLocks noGrp="1"/>
          </p:cNvSpPr>
          <p:nvPr/>
        </p:nvSpPr>
        <p:spPr>
          <a:xfrm>
            <a:off x="2000250" y="3257550"/>
            <a:ext cx="171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不放权</a:t>
            </a:r>
          </a:p>
        </p:txBody>
      </p:sp>
      <p:sp>
        <p:nvSpPr>
          <p:cNvPr id="16" name="p16-line-2">
            <a:extLst>
              <a:ext uri="{FF2B5EF4-FFF2-40B4-BE49-F238E27FC236}">
                <a16:creationId xmlns:a16="http://schemas.microsoft.com/office/drawing/2014/main" id="{287CA8E5-C5D9-46FE-914E-6F111B9AA0D2}"/>
              </a:ext>
            </a:extLst>
          </p:cNvPr>
          <p:cNvSpPr>
            <a:spLocks noGrp="1"/>
          </p:cNvSpPr>
          <p:nvPr/>
        </p:nvSpPr>
        <p:spPr>
          <a:xfrm>
            <a:off x="3905250" y="3590925"/>
            <a:ext cx="8763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7" name="p16-d-2">
            <a:extLst>
              <a:ext uri="{FF2B5EF4-FFF2-40B4-BE49-F238E27FC236}">
                <a16:creationId xmlns:a16="http://schemas.microsoft.com/office/drawing/2014/main" id="{41F03B46-2EF0-4C02-9828-BCFC2151D720}"/>
              </a:ext>
            </a:extLst>
          </p:cNvPr>
          <p:cNvSpPr>
            <a:spLocks noGrp="1"/>
          </p:cNvSpPr>
          <p:nvPr/>
        </p:nvSpPr>
        <p:spPr>
          <a:xfrm>
            <a:off x="5048250" y="3257550"/>
            <a:ext cx="5905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Agent 自行扩大权限</a:t>
            </a:r>
          </a:p>
        </p:txBody>
      </p:sp>
      <p:sp>
        <p:nvSpPr>
          <p:cNvPr id="18" name="p16-n-3">
            <a:extLst>
              <a:ext uri="{FF2B5EF4-FFF2-40B4-BE49-F238E27FC236}">
                <a16:creationId xmlns:a16="http://schemas.microsoft.com/office/drawing/2014/main" id="{DAC8F1B8-0C67-45AF-91A6-1954B3FD8D76}"/>
              </a:ext>
            </a:extLst>
          </p:cNvPr>
          <p:cNvSpPr>
            <a:spLocks noGrp="1"/>
          </p:cNvSpPr>
          <p:nvPr/>
        </p:nvSpPr>
        <p:spPr>
          <a:xfrm>
            <a:off x="876300" y="4286250"/>
            <a:ext cx="8382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p16-v-3">
            <a:extLst>
              <a:ext uri="{FF2B5EF4-FFF2-40B4-BE49-F238E27FC236}">
                <a16:creationId xmlns:a16="http://schemas.microsoft.com/office/drawing/2014/main" id="{3FDD8752-5404-456A-B1BA-C567F1140841}"/>
              </a:ext>
            </a:extLst>
          </p:cNvPr>
          <p:cNvSpPr>
            <a:spLocks noGrp="1"/>
          </p:cNvSpPr>
          <p:nvPr/>
        </p:nvSpPr>
        <p:spPr>
          <a:xfrm>
            <a:off x="2000250" y="4286250"/>
            <a:ext cx="171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不隐藏</a:t>
            </a:r>
          </a:p>
        </p:txBody>
      </p:sp>
      <p:sp>
        <p:nvSpPr>
          <p:cNvPr id="20" name="p16-line-3">
            <a:extLst>
              <a:ext uri="{FF2B5EF4-FFF2-40B4-BE49-F238E27FC236}">
                <a16:creationId xmlns:a16="http://schemas.microsoft.com/office/drawing/2014/main" id="{EA506D4D-1AC6-4243-AEA9-70AF392075E7}"/>
              </a:ext>
            </a:extLst>
          </p:cNvPr>
          <p:cNvSpPr>
            <a:spLocks noGrp="1"/>
          </p:cNvSpPr>
          <p:nvPr/>
        </p:nvSpPr>
        <p:spPr>
          <a:xfrm>
            <a:off x="3905250" y="4619625"/>
            <a:ext cx="8763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21" name="p16-d-3">
            <a:extLst>
              <a:ext uri="{FF2B5EF4-FFF2-40B4-BE49-F238E27FC236}">
                <a16:creationId xmlns:a16="http://schemas.microsoft.com/office/drawing/2014/main" id="{E48E5547-DBC8-4E52-858B-588479B0FFA1}"/>
              </a:ext>
            </a:extLst>
          </p:cNvPr>
          <p:cNvSpPr>
            <a:spLocks noGrp="1"/>
          </p:cNvSpPr>
          <p:nvPr/>
        </p:nvSpPr>
        <p:spPr>
          <a:xfrm>
            <a:off x="5048250" y="4286250"/>
            <a:ext cx="5905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失败、人工修改或 AI 参与</a:t>
            </a:r>
          </a:p>
        </p:txBody>
      </p:sp>
      <p:sp>
        <p:nvSpPr>
          <p:cNvPr id="22" name="p16-bottom">
            <a:extLst>
              <a:ext uri="{FF2B5EF4-FFF2-40B4-BE49-F238E27FC236}">
                <a16:creationId xmlns:a16="http://schemas.microsoft.com/office/drawing/2014/main" id="{FA48D356-C3E7-4342-8AA4-633A99438D13}"/>
              </a:ext>
            </a:extLst>
          </p:cNvPr>
          <p:cNvSpPr>
            <a:spLocks noGrp="1"/>
          </p:cNvSpPr>
          <p:nvPr/>
        </p:nvSpPr>
        <p:spPr>
          <a:xfrm>
            <a:off x="4000500" y="5372100"/>
            <a:ext cx="4191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效率不能突破责任边界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报告是产物，研究是可检查的过程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90F7333B-44AC-F7E9-D49D-FE92F45E0477}" type="slidenum">
              <a:t>17</a:t>
            </a:fld>
            <a:endParaRPr/>
          </a:p>
        </p:txBody>
      </p:sp>
      <p:sp>
        <p:nvSpPr>
          <p:cNvPr id="6" name="p17-report">
            <a:extLst>
              <a:ext uri="{FF2B5EF4-FFF2-40B4-BE49-F238E27FC236}">
                <a16:creationId xmlns:a16="http://schemas.microsoft.com/office/drawing/2014/main" id="{8BD7978C-3612-400D-9878-0CBD7916A8CF}"/>
              </a:ext>
            </a:extLst>
          </p:cNvPr>
          <p:cNvSpPr>
            <a:spLocks noGrp="1"/>
          </p:cNvSpPr>
          <p:nvPr/>
        </p:nvSpPr>
        <p:spPr>
          <a:xfrm>
            <a:off x="742950" y="11049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325" b="1">
                <a:solidFill>
                  <a:srgbClr val="18354E"/>
                </a:solidFill>
              </a:defRPr>
            </a:pPr>
            <a:r>
              <a:rPr sz="23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报告看起来完整</a:t>
            </a:r>
          </a:p>
        </p:txBody>
      </p:sp>
      <p:sp>
        <p:nvSpPr>
          <p:cNvPr id="7" name="p17-not">
            <a:extLst>
              <a:ext uri="{FF2B5EF4-FFF2-40B4-BE49-F238E27FC236}">
                <a16:creationId xmlns:a16="http://schemas.microsoft.com/office/drawing/2014/main" id="{159E3D46-1ECB-4FD0-9563-BF178A607381}"/>
              </a:ext>
            </a:extLst>
          </p:cNvPr>
          <p:cNvSpPr>
            <a:spLocks noGrp="1"/>
          </p:cNvSpPr>
          <p:nvPr/>
        </p:nvSpPr>
        <p:spPr>
          <a:xfrm>
            <a:off x="5048250" y="1143000"/>
            <a:ext cx="1619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不等于</a:t>
            </a:r>
          </a:p>
        </p:txBody>
      </p:sp>
      <p:sp>
        <p:nvSpPr>
          <p:cNvPr id="8" name="p17-process">
            <a:extLst>
              <a:ext uri="{FF2B5EF4-FFF2-40B4-BE49-F238E27FC236}">
                <a16:creationId xmlns:a16="http://schemas.microsoft.com/office/drawing/2014/main" id="{17A3029E-086D-48A3-89C1-43C58F4550B9}"/>
              </a:ext>
            </a:extLst>
          </p:cNvPr>
          <p:cNvSpPr>
            <a:spLocks noGrp="1"/>
          </p:cNvSpPr>
          <p:nvPr/>
        </p:nvSpPr>
        <p:spPr>
          <a:xfrm>
            <a:off x="6953250" y="1104900"/>
            <a:ext cx="4286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研究过程可以检查</a:t>
            </a:r>
          </a:p>
        </p:txBody>
      </p:sp>
      <p:sp>
        <p:nvSpPr>
          <p:cNvPr id="9" name="p17-criteria">
            <a:extLst>
              <a:ext uri="{FF2B5EF4-FFF2-40B4-BE49-F238E27FC236}">
                <a16:creationId xmlns:a16="http://schemas.microsoft.com/office/drawing/2014/main" id="{BAC2F392-BFF3-42DA-91EC-03F0CE16C10E}"/>
              </a:ext>
            </a:extLst>
          </p:cNvPr>
          <p:cNvSpPr>
            <a:spLocks noGrp="1"/>
          </p:cNvSpPr>
          <p:nvPr/>
        </p:nvSpPr>
        <p:spPr>
          <a:xfrm>
            <a:off x="1143000" y="1847850"/>
            <a:ext cx="9906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0">
                <a:solidFill>
                  <a:srgbClr val="667684"/>
                </a:solidFill>
              </a:defRPr>
            </a:pPr>
            <a:r>
              <a:rPr sz="157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问题重要｜证据成立｜实验公平｜失败完整｜结论有边界</a:t>
            </a:r>
          </a:p>
        </p:txBody>
      </p:sp>
      <p:sp>
        <p:nvSpPr>
          <p:cNvPr id="10" name="p17-quote">
            <a:extLst>
              <a:ext uri="{FF2B5EF4-FFF2-40B4-BE49-F238E27FC236}">
                <a16:creationId xmlns:a16="http://schemas.microsoft.com/office/drawing/2014/main" id="{71EA7D60-6DBF-4CA3-8A55-906E482E2918}"/>
              </a:ext>
            </a:extLst>
          </p:cNvPr>
          <p:cNvSpPr>
            <a:spLocks noGrp="1"/>
          </p:cNvSpPr>
          <p:nvPr/>
        </p:nvSpPr>
        <p:spPr>
          <a:xfrm>
            <a:off x="1028700" y="2667000"/>
            <a:ext cx="10134600" cy="952500"/>
          </a:xfrm>
          <a:prstGeom prst="rect">
            <a:avLst/>
          </a:prstGeom>
          <a:solidFill>
            <a:srgbClr val="FAF0D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“已有研究证明，结构化提示可以消除 AI 论文摘要中的引用幻觉。”</a:t>
            </a:r>
          </a:p>
        </p:txBody>
      </p:sp>
      <p:sp>
        <p:nvSpPr>
          <p:cNvPr id="11" name="p17-status">
            <a:extLst>
              <a:ext uri="{FF2B5EF4-FFF2-40B4-BE49-F238E27FC236}">
                <a16:creationId xmlns:a16="http://schemas.microsoft.com/office/drawing/2014/main" id="{1DC14B33-BE4E-4FE7-B3BB-7E984F390419}"/>
              </a:ext>
            </a:extLst>
          </p:cNvPr>
          <p:cNvSpPr>
            <a:spLocks noGrp="1"/>
          </p:cNvSpPr>
          <p:nvPr/>
        </p:nvSpPr>
        <p:spPr>
          <a:xfrm>
            <a:off x="3695700" y="3752850"/>
            <a:ext cx="48006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状态：未经核验的 AI 生成线索</a:t>
            </a:r>
          </a:p>
        </p:txBody>
      </p:sp>
      <p:sp>
        <p:nvSpPr>
          <p:cNvPr id="12" name="p17-questions">
            <a:extLst>
              <a:ext uri="{FF2B5EF4-FFF2-40B4-BE49-F238E27FC236}">
                <a16:creationId xmlns:a16="http://schemas.microsoft.com/office/drawing/2014/main" id="{63447720-2E30-4E52-8841-3A2546D30611}"/>
              </a:ext>
            </a:extLst>
          </p:cNvPr>
          <p:cNvSpPr>
            <a:spLocks noGrp="1"/>
          </p:cNvSpPr>
          <p:nvPr/>
        </p:nvSpPr>
        <p:spPr>
          <a:xfrm>
            <a:off x="1257300" y="4591050"/>
            <a:ext cx="9677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论文？ 任务？ 指标？ 对照？ ‘降低’还是‘消除’？ 适用范围？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八阶段让我们知道当前在修改什么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1C6C81E-38B9-7560-621D-5A151A79DF9B}" type="slidenum">
              <a:t>18</a:t>
            </a:fld>
            <a:endParaRPr/>
          </a:p>
        </p:txBody>
      </p:sp>
      <p:sp>
        <p:nvSpPr>
          <p:cNvPr id="6" name="p18-arrow-0">
            <a:extLst>
              <a:ext uri="{FF2B5EF4-FFF2-40B4-BE49-F238E27FC236}">
                <a16:creationId xmlns:a16="http://schemas.microsoft.com/office/drawing/2014/main" id="{21FF1567-C286-4E86-BB5C-333BF9CE7CD8}"/>
              </a:ext>
            </a:extLst>
          </p:cNvPr>
          <p:cNvSpPr>
            <a:spLocks noGrp="1"/>
          </p:cNvSpPr>
          <p:nvPr/>
        </p:nvSpPr>
        <p:spPr>
          <a:xfrm>
            <a:off x="1754981" y="230505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18-num-0">
            <a:extLst>
              <a:ext uri="{FF2B5EF4-FFF2-40B4-BE49-F238E27FC236}">
                <a16:creationId xmlns:a16="http://schemas.microsoft.com/office/drawing/2014/main" id="{0273F5DF-AB62-4F27-A14B-96200A69CB0B}"/>
              </a:ext>
            </a:extLst>
          </p:cNvPr>
          <p:cNvSpPr>
            <a:spLocks noGrp="1"/>
          </p:cNvSpPr>
          <p:nvPr/>
        </p:nvSpPr>
        <p:spPr>
          <a:xfrm>
            <a:off x="609600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p18-text-0">
            <a:extLst>
              <a:ext uri="{FF2B5EF4-FFF2-40B4-BE49-F238E27FC236}">
                <a16:creationId xmlns:a16="http://schemas.microsoft.com/office/drawing/2014/main" id="{8F282510-5F49-46B4-9B79-4555CA2A3D56}"/>
              </a:ext>
            </a:extLst>
          </p:cNvPr>
          <p:cNvSpPr>
            <a:spLocks noGrp="1"/>
          </p:cNvSpPr>
          <p:nvPr/>
        </p:nvSpPr>
        <p:spPr>
          <a:xfrm>
            <a:off x="609600" y="2381250"/>
            <a:ext cx="1221581" cy="60960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问题定义</a:t>
            </a:r>
          </a:p>
        </p:txBody>
      </p:sp>
      <p:sp>
        <p:nvSpPr>
          <p:cNvPr id="9" name="p18-arrow-1">
            <a:extLst>
              <a:ext uri="{FF2B5EF4-FFF2-40B4-BE49-F238E27FC236}">
                <a16:creationId xmlns:a16="http://schemas.microsoft.com/office/drawing/2014/main" id="{C3DF27B7-710B-418D-A7A6-0C6EF8A3F04E}"/>
              </a:ext>
            </a:extLst>
          </p:cNvPr>
          <p:cNvSpPr>
            <a:spLocks noGrp="1"/>
          </p:cNvSpPr>
          <p:nvPr/>
        </p:nvSpPr>
        <p:spPr>
          <a:xfrm>
            <a:off x="3148013" y="230505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18-num-1">
            <a:extLst>
              <a:ext uri="{FF2B5EF4-FFF2-40B4-BE49-F238E27FC236}">
                <a16:creationId xmlns:a16="http://schemas.microsoft.com/office/drawing/2014/main" id="{DC002838-DB11-4FD6-BA2E-D4C1EE818303}"/>
              </a:ext>
            </a:extLst>
          </p:cNvPr>
          <p:cNvSpPr>
            <a:spLocks noGrp="1"/>
          </p:cNvSpPr>
          <p:nvPr/>
        </p:nvSpPr>
        <p:spPr>
          <a:xfrm>
            <a:off x="2002631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p18-text-1">
            <a:extLst>
              <a:ext uri="{FF2B5EF4-FFF2-40B4-BE49-F238E27FC236}">
                <a16:creationId xmlns:a16="http://schemas.microsoft.com/office/drawing/2014/main" id="{0083CBC0-428D-46F1-A1ED-956F7681236C}"/>
              </a:ext>
            </a:extLst>
          </p:cNvPr>
          <p:cNvSpPr>
            <a:spLocks noGrp="1"/>
          </p:cNvSpPr>
          <p:nvPr/>
        </p:nvSpPr>
        <p:spPr>
          <a:xfrm>
            <a:off x="2002631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第一性原理</a:t>
            </a:r>
          </a:p>
        </p:txBody>
      </p:sp>
      <p:sp>
        <p:nvSpPr>
          <p:cNvPr id="12" name="p18-arrow-2">
            <a:extLst>
              <a:ext uri="{FF2B5EF4-FFF2-40B4-BE49-F238E27FC236}">
                <a16:creationId xmlns:a16="http://schemas.microsoft.com/office/drawing/2014/main" id="{D0857636-9AB9-4F75-9FB8-D5B4DEC8B18B}"/>
              </a:ext>
            </a:extLst>
          </p:cNvPr>
          <p:cNvSpPr>
            <a:spLocks noGrp="1"/>
          </p:cNvSpPr>
          <p:nvPr/>
        </p:nvSpPr>
        <p:spPr>
          <a:xfrm>
            <a:off x="4541044" y="230505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18-num-2">
            <a:extLst>
              <a:ext uri="{FF2B5EF4-FFF2-40B4-BE49-F238E27FC236}">
                <a16:creationId xmlns:a16="http://schemas.microsoft.com/office/drawing/2014/main" id="{63E03AA9-C853-4C61-A3C2-8D7A80B96339}"/>
              </a:ext>
            </a:extLst>
          </p:cNvPr>
          <p:cNvSpPr>
            <a:spLocks noGrp="1"/>
          </p:cNvSpPr>
          <p:nvPr/>
        </p:nvSpPr>
        <p:spPr>
          <a:xfrm>
            <a:off x="3395663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p18-text-2">
            <a:extLst>
              <a:ext uri="{FF2B5EF4-FFF2-40B4-BE49-F238E27FC236}">
                <a16:creationId xmlns:a16="http://schemas.microsoft.com/office/drawing/2014/main" id="{35E5F266-E363-4FCF-B501-42D422A66149}"/>
              </a:ext>
            </a:extLst>
          </p:cNvPr>
          <p:cNvSpPr>
            <a:spLocks noGrp="1"/>
          </p:cNvSpPr>
          <p:nvPr/>
        </p:nvSpPr>
        <p:spPr>
          <a:xfrm>
            <a:off x="3395663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机制假设</a:t>
            </a:r>
          </a:p>
        </p:txBody>
      </p:sp>
      <p:sp>
        <p:nvSpPr>
          <p:cNvPr id="15" name="p18-arrow-3">
            <a:extLst>
              <a:ext uri="{FF2B5EF4-FFF2-40B4-BE49-F238E27FC236}">
                <a16:creationId xmlns:a16="http://schemas.microsoft.com/office/drawing/2014/main" id="{4F59DE15-2922-47A8-9D92-90E574366FA5}"/>
              </a:ext>
            </a:extLst>
          </p:cNvPr>
          <p:cNvSpPr>
            <a:spLocks noGrp="1"/>
          </p:cNvSpPr>
          <p:nvPr/>
        </p:nvSpPr>
        <p:spPr>
          <a:xfrm>
            <a:off x="5934075" y="230505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p18-num-3">
            <a:extLst>
              <a:ext uri="{FF2B5EF4-FFF2-40B4-BE49-F238E27FC236}">
                <a16:creationId xmlns:a16="http://schemas.microsoft.com/office/drawing/2014/main" id="{012AB298-00AA-4464-BF32-2AA231D378CF}"/>
              </a:ext>
            </a:extLst>
          </p:cNvPr>
          <p:cNvSpPr>
            <a:spLocks noGrp="1"/>
          </p:cNvSpPr>
          <p:nvPr/>
        </p:nvSpPr>
        <p:spPr>
          <a:xfrm>
            <a:off x="4788694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p18-text-3">
            <a:extLst>
              <a:ext uri="{FF2B5EF4-FFF2-40B4-BE49-F238E27FC236}">
                <a16:creationId xmlns:a16="http://schemas.microsoft.com/office/drawing/2014/main" id="{C8C41DA9-FEED-4F9A-8A0F-4266D1D9AF48}"/>
              </a:ext>
            </a:extLst>
          </p:cNvPr>
          <p:cNvSpPr>
            <a:spLocks noGrp="1"/>
          </p:cNvSpPr>
          <p:nvPr/>
        </p:nvSpPr>
        <p:spPr>
          <a:xfrm>
            <a:off x="4788694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外部输入</a:t>
            </a:r>
          </a:p>
        </p:txBody>
      </p:sp>
      <p:sp>
        <p:nvSpPr>
          <p:cNvPr id="18" name="p18-arrow-4">
            <a:extLst>
              <a:ext uri="{FF2B5EF4-FFF2-40B4-BE49-F238E27FC236}">
                <a16:creationId xmlns:a16="http://schemas.microsoft.com/office/drawing/2014/main" id="{B3A0D194-1EE1-429F-83EB-FF49355E5C4F}"/>
              </a:ext>
            </a:extLst>
          </p:cNvPr>
          <p:cNvSpPr>
            <a:spLocks noGrp="1"/>
          </p:cNvSpPr>
          <p:nvPr/>
        </p:nvSpPr>
        <p:spPr>
          <a:xfrm>
            <a:off x="7327106" y="230505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p18-num-4">
            <a:extLst>
              <a:ext uri="{FF2B5EF4-FFF2-40B4-BE49-F238E27FC236}">
                <a16:creationId xmlns:a16="http://schemas.microsoft.com/office/drawing/2014/main" id="{99785DDD-CA03-457B-A9B1-57821ED1C691}"/>
              </a:ext>
            </a:extLst>
          </p:cNvPr>
          <p:cNvSpPr>
            <a:spLocks noGrp="1"/>
          </p:cNvSpPr>
          <p:nvPr/>
        </p:nvSpPr>
        <p:spPr>
          <a:xfrm>
            <a:off x="6181725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p18-text-4">
            <a:extLst>
              <a:ext uri="{FF2B5EF4-FFF2-40B4-BE49-F238E27FC236}">
                <a16:creationId xmlns:a16="http://schemas.microsoft.com/office/drawing/2014/main" id="{649AFB57-112E-484C-B88D-D38D48879F55}"/>
              </a:ext>
            </a:extLst>
          </p:cNvPr>
          <p:cNvSpPr>
            <a:spLocks noGrp="1"/>
          </p:cNvSpPr>
          <p:nvPr/>
        </p:nvSpPr>
        <p:spPr>
          <a:xfrm>
            <a:off x="6181725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证据整理</a:t>
            </a:r>
          </a:p>
        </p:txBody>
      </p:sp>
      <p:sp>
        <p:nvSpPr>
          <p:cNvPr id="21" name="p18-arrow-5">
            <a:extLst>
              <a:ext uri="{FF2B5EF4-FFF2-40B4-BE49-F238E27FC236}">
                <a16:creationId xmlns:a16="http://schemas.microsoft.com/office/drawing/2014/main" id="{30E67585-E7BE-4148-895B-F9F25F3FB6B6}"/>
              </a:ext>
            </a:extLst>
          </p:cNvPr>
          <p:cNvSpPr>
            <a:spLocks noGrp="1"/>
          </p:cNvSpPr>
          <p:nvPr/>
        </p:nvSpPr>
        <p:spPr>
          <a:xfrm>
            <a:off x="8720138" y="230505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2" name="p18-num-5">
            <a:extLst>
              <a:ext uri="{FF2B5EF4-FFF2-40B4-BE49-F238E27FC236}">
                <a16:creationId xmlns:a16="http://schemas.microsoft.com/office/drawing/2014/main" id="{4479CB0F-BA19-4D7C-9547-628BD3FCBC17}"/>
              </a:ext>
            </a:extLst>
          </p:cNvPr>
          <p:cNvSpPr>
            <a:spLocks noGrp="1"/>
          </p:cNvSpPr>
          <p:nvPr/>
        </p:nvSpPr>
        <p:spPr>
          <a:xfrm>
            <a:off x="7574756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3" name="p18-text-5">
            <a:extLst>
              <a:ext uri="{FF2B5EF4-FFF2-40B4-BE49-F238E27FC236}">
                <a16:creationId xmlns:a16="http://schemas.microsoft.com/office/drawing/2014/main" id="{E541342D-B8D1-491C-ACC5-039D002FFFA8}"/>
              </a:ext>
            </a:extLst>
          </p:cNvPr>
          <p:cNvSpPr>
            <a:spLocks noGrp="1"/>
          </p:cNvSpPr>
          <p:nvPr/>
        </p:nvSpPr>
        <p:spPr>
          <a:xfrm>
            <a:off x="7574756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研究判断</a:t>
            </a:r>
          </a:p>
        </p:txBody>
      </p:sp>
      <p:sp>
        <p:nvSpPr>
          <p:cNvPr id="24" name="p18-arrow-6">
            <a:extLst>
              <a:ext uri="{FF2B5EF4-FFF2-40B4-BE49-F238E27FC236}">
                <a16:creationId xmlns:a16="http://schemas.microsoft.com/office/drawing/2014/main" id="{C7AA9D21-804A-4D15-B957-C86E397AADB8}"/>
              </a:ext>
            </a:extLst>
          </p:cNvPr>
          <p:cNvSpPr>
            <a:spLocks noGrp="1"/>
          </p:cNvSpPr>
          <p:nvPr/>
        </p:nvSpPr>
        <p:spPr>
          <a:xfrm>
            <a:off x="10113169" y="230505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p18-num-6">
            <a:extLst>
              <a:ext uri="{FF2B5EF4-FFF2-40B4-BE49-F238E27FC236}">
                <a16:creationId xmlns:a16="http://schemas.microsoft.com/office/drawing/2014/main" id="{66119B78-5E71-4830-BF0C-D4B167CA8DC9}"/>
              </a:ext>
            </a:extLst>
          </p:cNvPr>
          <p:cNvSpPr>
            <a:spLocks noGrp="1"/>
          </p:cNvSpPr>
          <p:nvPr/>
        </p:nvSpPr>
        <p:spPr>
          <a:xfrm>
            <a:off x="8967788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6" name="p18-text-6">
            <a:extLst>
              <a:ext uri="{FF2B5EF4-FFF2-40B4-BE49-F238E27FC236}">
                <a16:creationId xmlns:a16="http://schemas.microsoft.com/office/drawing/2014/main" id="{8CFCB89C-531B-40D2-BADD-27B28487B602}"/>
              </a:ext>
            </a:extLst>
          </p:cNvPr>
          <p:cNvSpPr>
            <a:spLocks noGrp="1"/>
          </p:cNvSpPr>
          <p:nvPr/>
        </p:nvSpPr>
        <p:spPr>
          <a:xfrm>
            <a:off x="8967788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原型验证</a:t>
            </a:r>
          </a:p>
        </p:txBody>
      </p:sp>
      <p:sp>
        <p:nvSpPr>
          <p:cNvPr id="27" name="p18-num-7">
            <a:extLst>
              <a:ext uri="{FF2B5EF4-FFF2-40B4-BE49-F238E27FC236}">
                <a16:creationId xmlns:a16="http://schemas.microsoft.com/office/drawing/2014/main" id="{DEACB177-158D-46DD-B081-6300AF549E2E}"/>
              </a:ext>
            </a:extLst>
          </p:cNvPr>
          <p:cNvSpPr>
            <a:spLocks noGrp="1"/>
          </p:cNvSpPr>
          <p:nvPr/>
        </p:nvSpPr>
        <p:spPr>
          <a:xfrm>
            <a:off x="10360819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8" name="p18-text-7">
            <a:extLst>
              <a:ext uri="{FF2B5EF4-FFF2-40B4-BE49-F238E27FC236}">
                <a16:creationId xmlns:a16="http://schemas.microsoft.com/office/drawing/2014/main" id="{26492077-A462-475D-A625-081876C40C66}"/>
              </a:ext>
            </a:extLst>
          </p:cNvPr>
          <p:cNvSpPr>
            <a:spLocks noGrp="1"/>
          </p:cNvSpPr>
          <p:nvPr/>
        </p:nvSpPr>
        <p:spPr>
          <a:xfrm>
            <a:off x="10360819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回写表达</a:t>
            </a:r>
          </a:p>
        </p:txBody>
      </p:sp>
      <p:sp>
        <p:nvSpPr>
          <p:cNvPr id="29" name="p18-return">
            <a:extLst>
              <a:ext uri="{FF2B5EF4-FFF2-40B4-BE49-F238E27FC236}">
                <a16:creationId xmlns:a16="http://schemas.microsoft.com/office/drawing/2014/main" id="{CF7839F4-025E-443C-B670-AED599D22149}"/>
              </a:ext>
            </a:extLst>
          </p:cNvPr>
          <p:cNvSpPr>
            <a:spLocks noGrp="1"/>
          </p:cNvSpPr>
          <p:nvPr/>
        </p:nvSpPr>
        <p:spPr>
          <a:xfrm rot="10800000">
            <a:off x="1771650" y="3643313"/>
            <a:ext cx="887730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30" name="p18-return-arrow">
            <a:extLst>
              <a:ext uri="{FF2B5EF4-FFF2-40B4-BE49-F238E27FC236}">
                <a16:creationId xmlns:a16="http://schemas.microsoft.com/office/drawing/2014/main" id="{EE9DDE31-93DE-43C1-AD90-156FE746246D}"/>
              </a:ext>
            </a:extLst>
          </p:cNvPr>
          <p:cNvSpPr>
            <a:spLocks noGrp="1"/>
          </p:cNvSpPr>
          <p:nvPr/>
        </p:nvSpPr>
        <p:spPr>
          <a:xfrm>
            <a:off x="1352550" y="3429000"/>
            <a:ext cx="5905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700" b="1">
                <a:solidFill>
                  <a:srgbClr val="C8161E"/>
                </a:solidFill>
              </a:defRPr>
            </a:pPr>
            <a:r>
              <a:rPr sz="27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31" name="p18-return-label">
            <a:extLst>
              <a:ext uri="{FF2B5EF4-FFF2-40B4-BE49-F238E27FC236}">
                <a16:creationId xmlns:a16="http://schemas.microsoft.com/office/drawing/2014/main" id="{92BD64B6-1136-4349-9E0F-1461E404E1BC}"/>
              </a:ext>
            </a:extLst>
          </p:cNvPr>
          <p:cNvSpPr>
            <a:spLocks noGrp="1"/>
          </p:cNvSpPr>
          <p:nvPr/>
        </p:nvSpPr>
        <p:spPr>
          <a:xfrm>
            <a:off x="3467100" y="3829050"/>
            <a:ext cx="533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失败或新证据出现时，可以带着原因回到上游</a:t>
            </a:r>
          </a:p>
        </p:txBody>
      </p:sp>
      <p:sp>
        <p:nvSpPr>
          <p:cNvPr id="32" name="p18-bottom">
            <a:extLst>
              <a:ext uri="{FF2B5EF4-FFF2-40B4-BE49-F238E27FC236}">
                <a16:creationId xmlns:a16="http://schemas.microsoft.com/office/drawing/2014/main" id="{D49C5EDE-E33F-4C84-8BFE-47B142211BE4}"/>
              </a:ext>
            </a:extLst>
          </p:cNvPr>
          <p:cNvSpPr>
            <a:spLocks noGrp="1"/>
          </p:cNvSpPr>
          <p:nvPr/>
        </p:nvSpPr>
        <p:spPr>
          <a:xfrm>
            <a:off x="2476500" y="4762500"/>
            <a:ext cx="72390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无论回退还是迭代，都知道当前在改什么。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 1-4：问题定义、第一性原理分析、机制假设与外部输入摄取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CCF91274-D221-1BB4-3BF9-836E3AD31EBE}" type="slidenum">
              <a:t>19</a:t>
            </a:fld>
            <a:endParaRPr/>
          </a:p>
        </p:txBody>
      </p:sp>
      <p:sp>
        <p:nvSpPr>
          <p:cNvPr id="6" name="p19-flow-1">
            <a:extLst>
              <a:ext uri="{FF2B5EF4-FFF2-40B4-BE49-F238E27FC236}">
                <a16:creationId xmlns:a16="http://schemas.microsoft.com/office/drawing/2014/main" id="{5F3E60A2-8BED-4D4E-940E-1F17B7A7BD56}"/>
              </a:ext>
            </a:extLst>
          </p:cNvPr>
          <p:cNvSpPr>
            <a:spLocks noGrp="1"/>
          </p:cNvSpPr>
          <p:nvPr/>
        </p:nvSpPr>
        <p:spPr>
          <a:xfrm>
            <a:off x="3314700" y="2933700"/>
            <a:ext cx="68580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7" name="p19-flow-2">
            <a:extLst>
              <a:ext uri="{FF2B5EF4-FFF2-40B4-BE49-F238E27FC236}">
                <a16:creationId xmlns:a16="http://schemas.microsoft.com/office/drawing/2014/main" id="{1FAC6450-3FFE-4137-951D-B7AC8548C816}"/>
              </a:ext>
            </a:extLst>
          </p:cNvPr>
          <p:cNvSpPr>
            <a:spLocks noGrp="1"/>
          </p:cNvSpPr>
          <p:nvPr/>
        </p:nvSpPr>
        <p:spPr>
          <a:xfrm>
            <a:off x="6553200" y="2933700"/>
            <a:ext cx="68580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8" name="p19-input-feed">
            <a:extLst>
              <a:ext uri="{FF2B5EF4-FFF2-40B4-BE49-F238E27FC236}">
                <a16:creationId xmlns:a16="http://schemas.microsoft.com/office/drawing/2014/main" id="{03572EDA-A1FC-4410-A663-B9E8B8A2E65A}"/>
              </a:ext>
            </a:extLst>
          </p:cNvPr>
          <p:cNvSpPr>
            <a:spLocks noGrp="1"/>
          </p:cNvSpPr>
          <p:nvPr/>
        </p:nvSpPr>
        <p:spPr>
          <a:xfrm rot="5400000">
            <a:off x="5800725" y="1804988"/>
            <a:ext cx="590550" cy="28575"/>
          </a:xfrm>
          <a:prstGeom prst="rect">
            <a:avLst/>
          </a:prstGeom>
          <a:solidFill>
            <a:srgbClr val="2F638A"/>
          </a:solidFill>
          <a:ln w="0">
            <a:noFill/>
            <a:prstDash val="solid"/>
          </a:ln>
        </p:spPr>
      </p:sp>
      <p:sp>
        <p:nvSpPr>
          <p:cNvPr id="9" name="p19-arrow-1">
            <a:extLst>
              <a:ext uri="{FF2B5EF4-FFF2-40B4-BE49-F238E27FC236}">
                <a16:creationId xmlns:a16="http://schemas.microsoft.com/office/drawing/2014/main" id="{B48ACB69-215A-41B9-B2B7-54BE9DF0FA65}"/>
              </a:ext>
            </a:extLst>
          </p:cNvPr>
          <p:cNvSpPr>
            <a:spLocks noGrp="1"/>
          </p:cNvSpPr>
          <p:nvPr/>
        </p:nvSpPr>
        <p:spPr>
          <a:xfrm>
            <a:off x="3467100" y="2686050"/>
            <a:ext cx="495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40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19-arrow-2">
            <a:extLst>
              <a:ext uri="{FF2B5EF4-FFF2-40B4-BE49-F238E27FC236}">
                <a16:creationId xmlns:a16="http://schemas.microsoft.com/office/drawing/2014/main" id="{BA8D15C6-80D4-4375-8F45-42C68A09AE30}"/>
              </a:ext>
            </a:extLst>
          </p:cNvPr>
          <p:cNvSpPr>
            <a:spLocks noGrp="1"/>
          </p:cNvSpPr>
          <p:nvPr/>
        </p:nvSpPr>
        <p:spPr>
          <a:xfrm>
            <a:off x="6705600" y="2686050"/>
            <a:ext cx="495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40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19-input-arrow">
            <a:extLst>
              <a:ext uri="{FF2B5EF4-FFF2-40B4-BE49-F238E27FC236}">
                <a16:creationId xmlns:a16="http://schemas.microsoft.com/office/drawing/2014/main" id="{2FE35239-4E33-43ED-ACA6-70C8F0743085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457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2F638A"/>
                </a:solidFill>
              </a:defRPr>
            </a:pPr>
            <a:r>
              <a:rPr sz="210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2" name="p19-input-label">
            <a:extLst>
              <a:ext uri="{FF2B5EF4-FFF2-40B4-BE49-F238E27FC236}">
                <a16:creationId xmlns:a16="http://schemas.microsoft.com/office/drawing/2014/main" id="{4B76AC33-7564-4CC7-B9EC-59A3054208CC}"/>
              </a:ext>
            </a:extLst>
          </p:cNvPr>
          <p:cNvSpPr>
            <a:spLocks noGrp="1"/>
          </p:cNvSpPr>
          <p:nvPr/>
        </p:nvSpPr>
        <p:spPr>
          <a:xfrm>
            <a:off x="685800" y="914400"/>
            <a:ext cx="219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1">
                <a:solidFill>
                  <a:srgbClr val="2F638A"/>
                </a:solidFill>
              </a:defRPr>
            </a:pPr>
            <a:r>
              <a:rPr sz="14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04  外部输入摄取</a:t>
            </a:r>
          </a:p>
        </p:txBody>
      </p:sp>
      <p:sp>
        <p:nvSpPr>
          <p:cNvPr id="13" name="p19-inputs">
            <a:extLst>
              <a:ext uri="{FF2B5EF4-FFF2-40B4-BE49-F238E27FC236}">
                <a16:creationId xmlns:a16="http://schemas.microsoft.com/office/drawing/2014/main" id="{A897963E-A1A0-4136-82EE-31C9EF9A308F}"/>
              </a:ext>
            </a:extLst>
          </p:cNvPr>
          <p:cNvSpPr>
            <a:spLocks noGrp="1"/>
          </p:cNvSpPr>
          <p:nvPr/>
        </p:nvSpPr>
        <p:spPr>
          <a:xfrm>
            <a:off x="2895600" y="895350"/>
            <a:ext cx="8096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论文　｜　代码　｜　数据　｜　规范　｜　观察</a:t>
            </a:r>
          </a:p>
        </p:txBody>
      </p:sp>
      <p:sp>
        <p:nvSpPr>
          <p:cNvPr id="14" name="p19-input-role">
            <a:extLst>
              <a:ext uri="{FF2B5EF4-FFF2-40B4-BE49-F238E27FC236}">
                <a16:creationId xmlns:a16="http://schemas.microsoft.com/office/drawing/2014/main" id="{16FCC264-F78E-4F00-B7DD-17FD3050A890}"/>
              </a:ext>
            </a:extLst>
          </p:cNvPr>
          <p:cNvSpPr>
            <a:spLocks noGrp="1"/>
          </p:cNvSpPr>
          <p:nvPr/>
        </p:nvSpPr>
        <p:spPr>
          <a:xfrm>
            <a:off x="4248150" y="12573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667684"/>
                </a:solidFill>
              </a:defRPr>
            </a:pPr>
            <a:r>
              <a:rPr sz="127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输入扩展候选，不替代研究判断</a:t>
            </a:r>
          </a:p>
        </p:txBody>
      </p:sp>
      <p:sp>
        <p:nvSpPr>
          <p:cNvPr id="15" name="p19-problem-bg">
            <a:extLst>
              <a:ext uri="{FF2B5EF4-FFF2-40B4-BE49-F238E27FC236}">
                <a16:creationId xmlns:a16="http://schemas.microsoft.com/office/drawing/2014/main" id="{11ABD9CF-96D4-4015-9F3B-11179403EE17}"/>
              </a:ext>
            </a:extLst>
          </p:cNvPr>
          <p:cNvSpPr>
            <a:spLocks noGrp="1"/>
          </p:cNvSpPr>
          <p:nvPr/>
        </p:nvSpPr>
        <p:spPr>
          <a:xfrm>
            <a:off x="609600" y="2133600"/>
            <a:ext cx="2705100" cy="2038350"/>
          </a:xfrm>
          <a:prstGeom prst="rect">
            <a:avLst/>
          </a:prstGeom>
          <a:noFill/>
          <a:ln w="9525">
            <a:solidFill>
              <a:srgbClr val="D6DDE2"/>
            </a:solidFill>
            <a:prstDash val="solid"/>
          </a:ln>
        </p:spPr>
      </p:sp>
      <p:sp>
        <p:nvSpPr>
          <p:cNvPr id="16" name="p19-problem-no">
            <a:extLst>
              <a:ext uri="{FF2B5EF4-FFF2-40B4-BE49-F238E27FC236}">
                <a16:creationId xmlns:a16="http://schemas.microsoft.com/office/drawing/2014/main" id="{AA6A6F17-469B-4256-B1CB-0A148FA351B0}"/>
              </a:ext>
            </a:extLst>
          </p:cNvPr>
          <p:cNvSpPr>
            <a:spLocks noGrp="1"/>
          </p:cNvSpPr>
          <p:nvPr/>
        </p:nvSpPr>
        <p:spPr>
          <a:xfrm>
            <a:off x="781050" y="2286000"/>
            <a:ext cx="457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7" name="p19-problem-title">
            <a:extLst>
              <a:ext uri="{FF2B5EF4-FFF2-40B4-BE49-F238E27FC236}">
                <a16:creationId xmlns:a16="http://schemas.microsoft.com/office/drawing/2014/main" id="{E27D2457-2DBA-4B5D-BFFD-AEFE617036F7}"/>
              </a:ext>
            </a:extLst>
          </p:cNvPr>
          <p:cNvSpPr>
            <a:spLocks noGrp="1"/>
          </p:cNvSpPr>
          <p:nvPr/>
        </p:nvSpPr>
        <p:spPr>
          <a:xfrm>
            <a:off x="1257300" y="222885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问题定义</a:t>
            </a:r>
          </a:p>
        </p:txBody>
      </p:sp>
      <p:sp>
        <p:nvSpPr>
          <p:cNvPr id="18" name="p19-problem-body">
            <a:extLst>
              <a:ext uri="{FF2B5EF4-FFF2-40B4-BE49-F238E27FC236}">
                <a16:creationId xmlns:a16="http://schemas.microsoft.com/office/drawing/2014/main" id="{0E291A96-D99F-4F1F-9EF4-7655B391C955}"/>
              </a:ext>
            </a:extLst>
          </p:cNvPr>
          <p:cNvSpPr>
            <a:spLocks noGrp="1"/>
          </p:cNvSpPr>
          <p:nvPr/>
        </p:nvSpPr>
        <p:spPr>
          <a:xfrm>
            <a:off x="800100" y="2724150"/>
            <a:ext cx="2324100" cy="12001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研究什么？</a:t>
            </a:r>
          </a:p>
          <a:p>
            <a:pPr algn="ctr">
              <a:lnSpc>
                <a:spcPct val="13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不研究什么？</a:t>
            </a:r>
          </a:p>
          <a:p>
            <a:pPr algn="ctr">
              <a:lnSpc>
                <a:spcPct val="13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什么结果会改变判断？</a:t>
            </a:r>
          </a:p>
        </p:txBody>
      </p:sp>
      <p:sp>
        <p:nvSpPr>
          <p:cNvPr id="19" name="p19-first-bg">
            <a:extLst>
              <a:ext uri="{FF2B5EF4-FFF2-40B4-BE49-F238E27FC236}">
                <a16:creationId xmlns:a16="http://schemas.microsoft.com/office/drawing/2014/main" id="{AE98F212-8B3A-42E6-BDEE-895B340EEADB}"/>
              </a:ext>
            </a:extLst>
          </p:cNvPr>
          <p:cNvSpPr>
            <a:spLocks noGrp="1"/>
          </p:cNvSpPr>
          <p:nvPr/>
        </p:nvSpPr>
        <p:spPr>
          <a:xfrm>
            <a:off x="4000500" y="2133600"/>
            <a:ext cx="2552700" cy="2038350"/>
          </a:xfrm>
          <a:prstGeom prst="rect">
            <a:avLst/>
          </a:prstGeom>
          <a:noFill/>
          <a:ln w="9525">
            <a:solidFill>
              <a:srgbClr val="2F638A"/>
            </a:solidFill>
            <a:prstDash val="solid"/>
          </a:ln>
        </p:spPr>
      </p:sp>
      <p:sp>
        <p:nvSpPr>
          <p:cNvPr id="20" name="p19-first-no">
            <a:extLst>
              <a:ext uri="{FF2B5EF4-FFF2-40B4-BE49-F238E27FC236}">
                <a16:creationId xmlns:a16="http://schemas.microsoft.com/office/drawing/2014/main" id="{47F7B22A-3DAC-42E6-94C1-3FB8175DC3EE}"/>
              </a:ext>
            </a:extLst>
          </p:cNvPr>
          <p:cNvSpPr>
            <a:spLocks noGrp="1"/>
          </p:cNvSpPr>
          <p:nvPr/>
        </p:nvSpPr>
        <p:spPr>
          <a:xfrm>
            <a:off x="4171950" y="2286000"/>
            <a:ext cx="457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1" name="p19-first-title">
            <a:extLst>
              <a:ext uri="{FF2B5EF4-FFF2-40B4-BE49-F238E27FC236}">
                <a16:creationId xmlns:a16="http://schemas.microsoft.com/office/drawing/2014/main" id="{73DF7E1A-C59F-4DF5-A5C9-70335F45DBC4}"/>
              </a:ext>
            </a:extLst>
          </p:cNvPr>
          <p:cNvSpPr>
            <a:spLocks noGrp="1"/>
          </p:cNvSpPr>
          <p:nvPr/>
        </p:nvSpPr>
        <p:spPr>
          <a:xfrm>
            <a:off x="4648200" y="2228850"/>
            <a:ext cx="1752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第一性原理分析</a:t>
            </a:r>
          </a:p>
        </p:txBody>
      </p:sp>
      <p:sp>
        <p:nvSpPr>
          <p:cNvPr id="22" name="p19-first-question">
            <a:extLst>
              <a:ext uri="{FF2B5EF4-FFF2-40B4-BE49-F238E27FC236}">
                <a16:creationId xmlns:a16="http://schemas.microsoft.com/office/drawing/2014/main" id="{D4EC7312-C547-4911-A3DC-77597C660820}"/>
              </a:ext>
            </a:extLst>
          </p:cNvPr>
          <p:cNvSpPr>
            <a:spLocks noGrp="1"/>
          </p:cNvSpPr>
          <p:nvPr/>
        </p:nvSpPr>
        <p:spPr>
          <a:xfrm>
            <a:off x="4267200" y="2857500"/>
            <a:ext cx="20193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若主张成立，</a:t>
            </a:r>
          </a:p>
          <a:p>
            <a:pPr algn="ctr">
              <a:lnSpc>
                <a:spcPct val="13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哪些必要条件必须满足？</a:t>
            </a:r>
          </a:p>
        </p:txBody>
      </p:sp>
      <p:sp>
        <p:nvSpPr>
          <p:cNvPr id="23" name="p19-first-rule">
            <a:extLst>
              <a:ext uri="{FF2B5EF4-FFF2-40B4-BE49-F238E27FC236}">
                <a16:creationId xmlns:a16="http://schemas.microsoft.com/office/drawing/2014/main" id="{6B739354-554D-4709-BB9D-AF87616B41F8}"/>
              </a:ext>
            </a:extLst>
          </p:cNvPr>
          <p:cNvSpPr>
            <a:spLocks noGrp="1"/>
          </p:cNvSpPr>
          <p:nvPr/>
        </p:nvSpPr>
        <p:spPr>
          <a:xfrm>
            <a:off x="4305300" y="3695700"/>
            <a:ext cx="1943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F638A"/>
                </a:solidFill>
              </a:defRPr>
            </a:pPr>
            <a:r>
              <a:rPr sz="1275" b="0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先反推条件，再寻找材料</a:t>
            </a:r>
          </a:p>
        </p:txBody>
      </p:sp>
      <p:sp>
        <p:nvSpPr>
          <p:cNvPr id="24" name="p19-mechanism-bg">
            <a:extLst>
              <a:ext uri="{FF2B5EF4-FFF2-40B4-BE49-F238E27FC236}">
                <a16:creationId xmlns:a16="http://schemas.microsoft.com/office/drawing/2014/main" id="{810DC1DA-F957-40CB-BE6E-16D9C4023ABA}"/>
              </a:ext>
            </a:extLst>
          </p:cNvPr>
          <p:cNvSpPr>
            <a:spLocks noGrp="1"/>
          </p:cNvSpPr>
          <p:nvPr/>
        </p:nvSpPr>
        <p:spPr>
          <a:xfrm>
            <a:off x="7239000" y="1981200"/>
            <a:ext cx="4324350" cy="2343150"/>
          </a:xfrm>
          <a:prstGeom prst="rect">
            <a:avLst/>
          </a:prstGeom>
          <a:noFill/>
          <a:ln w="19050">
            <a:solidFill>
              <a:srgbClr val="C8161E"/>
            </a:solidFill>
            <a:prstDash val="solid"/>
          </a:ln>
        </p:spPr>
      </p:sp>
      <p:sp>
        <p:nvSpPr>
          <p:cNvPr id="25" name="p19-mechanism-no">
            <a:extLst>
              <a:ext uri="{FF2B5EF4-FFF2-40B4-BE49-F238E27FC236}">
                <a16:creationId xmlns:a16="http://schemas.microsoft.com/office/drawing/2014/main" id="{137875D6-8987-4A3A-B9A3-F539568DF175}"/>
              </a:ext>
            </a:extLst>
          </p:cNvPr>
          <p:cNvSpPr>
            <a:spLocks noGrp="1"/>
          </p:cNvSpPr>
          <p:nvPr/>
        </p:nvSpPr>
        <p:spPr>
          <a:xfrm>
            <a:off x="7429500" y="2133600"/>
            <a:ext cx="457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6" name="p19-mechanism-title">
            <a:extLst>
              <a:ext uri="{FF2B5EF4-FFF2-40B4-BE49-F238E27FC236}">
                <a16:creationId xmlns:a16="http://schemas.microsoft.com/office/drawing/2014/main" id="{DCF0AF8B-80D3-4CBE-B2F0-409505740E87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机制假设｜待验证</a:t>
            </a:r>
          </a:p>
        </p:txBody>
      </p:sp>
      <p:sp>
        <p:nvSpPr>
          <p:cNvPr id="27" name="p19-mechanism-chain">
            <a:extLst>
              <a:ext uri="{FF2B5EF4-FFF2-40B4-BE49-F238E27FC236}">
                <a16:creationId xmlns:a16="http://schemas.microsoft.com/office/drawing/2014/main" id="{E5C7D44C-F7A5-43A7-A8DF-305F97B3EA60}"/>
              </a:ext>
            </a:extLst>
          </p:cNvPr>
          <p:cNvSpPr>
            <a:spLocks noGrp="1"/>
          </p:cNvSpPr>
          <p:nvPr/>
        </p:nvSpPr>
        <p:spPr>
          <a:xfrm>
            <a:off x="7467600" y="2724150"/>
            <a:ext cx="3867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阅读卡   ···→   原文定位   ···→   限定遗漏 ↓ ?</a:t>
            </a:r>
          </a:p>
        </p:txBody>
      </p:sp>
      <p:sp>
        <p:nvSpPr>
          <p:cNvPr id="28" name="p19-mechanism-boundary">
            <a:extLst>
              <a:ext uri="{FF2B5EF4-FFF2-40B4-BE49-F238E27FC236}">
                <a16:creationId xmlns:a16="http://schemas.microsoft.com/office/drawing/2014/main" id="{941F51F1-4B32-4A6B-97FA-507A7DE843D9}"/>
              </a:ext>
            </a:extLst>
          </p:cNvPr>
          <p:cNvSpPr>
            <a:spLocks noGrp="1"/>
          </p:cNvSpPr>
          <p:nvPr/>
        </p:nvSpPr>
        <p:spPr>
          <a:xfrm>
            <a:off x="7581900" y="3371850"/>
            <a:ext cx="36385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虚线语义：只是可检验候选</a:t>
            </a:r>
          </a:p>
          <a:p>
            <a:pPr algn="ctr">
              <a:lnSpc>
                <a:spcPct val="13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时间投入、任务差异等都可能反驳它</a:t>
            </a:r>
          </a:p>
        </p:txBody>
      </p:sp>
      <p:sp>
        <p:nvSpPr>
          <p:cNvPr id="29" name="p19-bottom">
            <a:extLst>
              <a:ext uri="{FF2B5EF4-FFF2-40B4-BE49-F238E27FC236}">
                <a16:creationId xmlns:a16="http://schemas.microsoft.com/office/drawing/2014/main" id="{56409D14-DDE3-45CC-9D6C-118D54FA1836}"/>
              </a:ext>
            </a:extLst>
          </p:cNvPr>
          <p:cNvSpPr>
            <a:spLocks noGrp="1"/>
          </p:cNvSpPr>
          <p:nvPr/>
        </p:nvSpPr>
        <p:spPr>
          <a:xfrm>
            <a:off x="2190750" y="4762500"/>
            <a:ext cx="781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可以生成候选，不能宣布机制成立。</a:t>
            </a:r>
          </a:p>
        </p:txBody>
      </p:sp>
      <p:sp>
        <p:nvSpPr>
          <p:cNvPr id="30" name="p19-next">
            <a:extLst>
              <a:ext uri="{FF2B5EF4-FFF2-40B4-BE49-F238E27FC236}">
                <a16:creationId xmlns:a16="http://schemas.microsoft.com/office/drawing/2014/main" id="{2700915B-B311-4696-93CC-960EFA8A4F9A}"/>
              </a:ext>
            </a:extLst>
          </p:cNvPr>
          <p:cNvSpPr>
            <a:spLocks noGrp="1"/>
          </p:cNvSpPr>
          <p:nvPr/>
        </p:nvSpPr>
        <p:spPr>
          <a:xfrm>
            <a:off x="3143250" y="5391150"/>
            <a:ext cx="590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425" b="0">
                <a:solidFill>
                  <a:srgbClr val="667684"/>
                </a:solidFill>
              </a:defRPr>
            </a:pPr>
            <a:r>
              <a:rPr sz="142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下一步：用证据、判断和验证去挑战这条机制链。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 5-8：证据整理、研究判断、原型验证与回写表达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44E025A-983C-6D44-79C6-4612AACD43FC}" type="slidenum">
              <a:t>20</a:t>
            </a:fld>
            <a:endParaRPr/>
          </a:p>
        </p:txBody>
      </p:sp>
      <p:sp>
        <p:nvSpPr>
          <p:cNvPr id="6" name="p20-forward-1">
            <a:extLst>
              <a:ext uri="{FF2B5EF4-FFF2-40B4-BE49-F238E27FC236}">
                <a16:creationId xmlns:a16="http://schemas.microsoft.com/office/drawing/2014/main" id="{D10F43A3-5BE1-4708-B839-6AD225A4FFC6}"/>
              </a:ext>
            </a:extLst>
          </p:cNvPr>
          <p:cNvSpPr>
            <a:spLocks noGrp="1"/>
          </p:cNvSpPr>
          <p:nvPr/>
        </p:nvSpPr>
        <p:spPr>
          <a:xfrm>
            <a:off x="4095750" y="2533650"/>
            <a:ext cx="59055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7" name="p20-forward-2">
            <a:extLst>
              <a:ext uri="{FF2B5EF4-FFF2-40B4-BE49-F238E27FC236}">
                <a16:creationId xmlns:a16="http://schemas.microsoft.com/office/drawing/2014/main" id="{B9AB93F6-4316-4D8D-8FFA-D5F9C045223F}"/>
              </a:ext>
            </a:extLst>
          </p:cNvPr>
          <p:cNvSpPr>
            <a:spLocks noGrp="1"/>
          </p:cNvSpPr>
          <p:nvPr/>
        </p:nvSpPr>
        <p:spPr>
          <a:xfrm rot="5400000">
            <a:off x="5953125" y="3324225"/>
            <a:ext cx="40005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8" name="p20-forward-3">
            <a:extLst>
              <a:ext uri="{FF2B5EF4-FFF2-40B4-BE49-F238E27FC236}">
                <a16:creationId xmlns:a16="http://schemas.microsoft.com/office/drawing/2014/main" id="{7D96B890-D31C-4511-B5A6-A16684E21947}"/>
              </a:ext>
            </a:extLst>
          </p:cNvPr>
          <p:cNvSpPr>
            <a:spLocks noGrp="1"/>
          </p:cNvSpPr>
          <p:nvPr/>
        </p:nvSpPr>
        <p:spPr>
          <a:xfrm>
            <a:off x="7562850" y="4114800"/>
            <a:ext cx="59055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9" name="p20-return">
            <a:extLst>
              <a:ext uri="{FF2B5EF4-FFF2-40B4-BE49-F238E27FC236}">
                <a16:creationId xmlns:a16="http://schemas.microsoft.com/office/drawing/2014/main" id="{89EA2384-79F3-450A-A2DB-894ADA0F0B6E}"/>
              </a:ext>
            </a:extLst>
          </p:cNvPr>
          <p:cNvSpPr>
            <a:spLocks noGrp="1"/>
          </p:cNvSpPr>
          <p:nvPr/>
        </p:nvSpPr>
        <p:spPr>
          <a:xfrm rot="10800000">
            <a:off x="2343150" y="5281613"/>
            <a:ext cx="784860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0" name="p20-arrow-1">
            <a:extLst>
              <a:ext uri="{FF2B5EF4-FFF2-40B4-BE49-F238E27FC236}">
                <a16:creationId xmlns:a16="http://schemas.microsoft.com/office/drawing/2014/main" id="{5E07FED5-A287-47AB-A240-4316BDF8FCAE}"/>
              </a:ext>
            </a:extLst>
          </p:cNvPr>
          <p:cNvSpPr>
            <a:spLocks noGrp="1"/>
          </p:cNvSpPr>
          <p:nvPr/>
        </p:nvSpPr>
        <p:spPr>
          <a:xfrm>
            <a:off x="4229100" y="2286000"/>
            <a:ext cx="457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20-arrow-2">
            <a:extLst>
              <a:ext uri="{FF2B5EF4-FFF2-40B4-BE49-F238E27FC236}">
                <a16:creationId xmlns:a16="http://schemas.microsoft.com/office/drawing/2014/main" id="{0E30BAE1-E29B-4C3D-AE5C-B41B79C5E0AA}"/>
              </a:ext>
            </a:extLst>
          </p:cNvPr>
          <p:cNvSpPr>
            <a:spLocks noGrp="1"/>
          </p:cNvSpPr>
          <p:nvPr/>
        </p:nvSpPr>
        <p:spPr>
          <a:xfrm>
            <a:off x="5924550" y="3105150"/>
            <a:ext cx="457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2" name="p20-arrow-3">
            <a:extLst>
              <a:ext uri="{FF2B5EF4-FFF2-40B4-BE49-F238E27FC236}">
                <a16:creationId xmlns:a16="http://schemas.microsoft.com/office/drawing/2014/main" id="{0515E8E7-61FF-47DF-9A55-B0ED1EE86142}"/>
              </a:ext>
            </a:extLst>
          </p:cNvPr>
          <p:cNvSpPr>
            <a:spLocks noGrp="1"/>
          </p:cNvSpPr>
          <p:nvPr/>
        </p:nvSpPr>
        <p:spPr>
          <a:xfrm>
            <a:off x="7696200" y="3867150"/>
            <a:ext cx="457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20-return-arrow">
            <a:extLst>
              <a:ext uri="{FF2B5EF4-FFF2-40B4-BE49-F238E27FC236}">
                <a16:creationId xmlns:a16="http://schemas.microsoft.com/office/drawing/2014/main" id="{5B3BE101-0CC4-4EBA-AD75-B87E61B58FE4}"/>
              </a:ext>
            </a:extLst>
          </p:cNvPr>
          <p:cNvSpPr>
            <a:spLocks noGrp="1"/>
          </p:cNvSpPr>
          <p:nvPr/>
        </p:nvSpPr>
        <p:spPr>
          <a:xfrm>
            <a:off x="2152650" y="5029200"/>
            <a:ext cx="457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14" name="p20-evidence-no">
            <a:extLst>
              <a:ext uri="{FF2B5EF4-FFF2-40B4-BE49-F238E27FC236}">
                <a16:creationId xmlns:a16="http://schemas.microsoft.com/office/drawing/2014/main" id="{A12742A1-2C18-43A5-9F74-0C5ACBA48EF5}"/>
              </a:ext>
            </a:extLst>
          </p:cNvPr>
          <p:cNvSpPr>
            <a:spLocks noGrp="1"/>
          </p:cNvSpPr>
          <p:nvPr/>
        </p:nvSpPr>
        <p:spPr>
          <a:xfrm>
            <a:off x="704850" y="895350"/>
            <a:ext cx="285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05  证据整理</a:t>
            </a:r>
          </a:p>
        </p:txBody>
      </p:sp>
      <p:sp>
        <p:nvSpPr>
          <p:cNvPr id="15" name="p20-map-bg">
            <a:extLst>
              <a:ext uri="{FF2B5EF4-FFF2-40B4-BE49-F238E27FC236}">
                <a16:creationId xmlns:a16="http://schemas.microsoft.com/office/drawing/2014/main" id="{06B76B60-6A58-401E-BEF2-E97CDB0E1C4E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3409950" cy="2743200"/>
          </a:xfrm>
          <a:prstGeom prst="rect">
            <a:avLst/>
          </a:prstGeom>
          <a:noFill/>
          <a:ln w="19050">
            <a:solidFill>
              <a:srgbClr val="18354E"/>
            </a:solidFill>
            <a:prstDash val="solid"/>
          </a:ln>
        </p:spPr>
      </p:sp>
      <p:sp>
        <p:nvSpPr>
          <p:cNvPr id="16" name="p20-map-v">
            <a:extLst>
              <a:ext uri="{FF2B5EF4-FFF2-40B4-BE49-F238E27FC236}">
                <a16:creationId xmlns:a16="http://schemas.microsoft.com/office/drawing/2014/main" id="{4CB4FA63-407A-4BA6-9131-F4A1974DA644}"/>
              </a:ext>
            </a:extLst>
          </p:cNvPr>
          <p:cNvSpPr>
            <a:spLocks noGrp="1"/>
          </p:cNvSpPr>
          <p:nvPr/>
        </p:nvSpPr>
        <p:spPr>
          <a:xfrm rot="5400000">
            <a:off x="1019175" y="2714625"/>
            <a:ext cx="27432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7" name="p20-map-h">
            <a:extLst>
              <a:ext uri="{FF2B5EF4-FFF2-40B4-BE49-F238E27FC236}">
                <a16:creationId xmlns:a16="http://schemas.microsoft.com/office/drawing/2014/main" id="{D6497E66-E710-426C-B5BC-7181567B980E}"/>
              </a:ext>
            </a:extLst>
          </p:cNvPr>
          <p:cNvSpPr>
            <a:spLocks noGrp="1"/>
          </p:cNvSpPr>
          <p:nvPr/>
        </p:nvSpPr>
        <p:spPr>
          <a:xfrm>
            <a:off x="685800" y="2714625"/>
            <a:ext cx="340995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8" name="p20-q-fill-0">
            <a:extLst>
              <a:ext uri="{FF2B5EF4-FFF2-40B4-BE49-F238E27FC236}">
                <a16:creationId xmlns:a16="http://schemas.microsoft.com/office/drawing/2014/main" id="{9A359463-5F28-479C-8E72-222B540052DC}"/>
              </a:ext>
            </a:extLst>
          </p:cNvPr>
          <p:cNvSpPr>
            <a:spLocks noGrp="1"/>
          </p:cNvSpPr>
          <p:nvPr/>
        </p:nvSpPr>
        <p:spPr>
          <a:xfrm>
            <a:off x="800100" y="1504950"/>
            <a:ext cx="1466850" cy="1066800"/>
          </a:xfrm>
          <a:prstGeom prst="rect">
            <a:avLst/>
          </a:prstGeom>
          <a:solidFill>
            <a:srgbClr val="E7F2ED"/>
          </a:solidFill>
          <a:ln w="0">
            <a:noFill/>
            <a:prstDash val="solid"/>
          </a:ln>
        </p:spPr>
      </p:sp>
      <p:sp>
        <p:nvSpPr>
          <p:cNvPr id="19" name="p20-q-label-0">
            <a:extLst>
              <a:ext uri="{FF2B5EF4-FFF2-40B4-BE49-F238E27FC236}">
                <a16:creationId xmlns:a16="http://schemas.microsoft.com/office/drawing/2014/main" id="{0850F1A5-AB9F-43FA-9ED2-BCAD025DAFE6}"/>
              </a:ext>
            </a:extLst>
          </p:cNvPr>
          <p:cNvSpPr>
            <a:spLocks noGrp="1"/>
          </p:cNvSpPr>
          <p:nvPr/>
        </p:nvSpPr>
        <p:spPr>
          <a:xfrm>
            <a:off x="895350" y="1581150"/>
            <a:ext cx="1276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支持</a:t>
            </a:r>
          </a:p>
        </p:txBody>
      </p:sp>
      <p:sp>
        <p:nvSpPr>
          <p:cNvPr id="20" name="p20-q-question-0">
            <a:extLst>
              <a:ext uri="{FF2B5EF4-FFF2-40B4-BE49-F238E27FC236}">
                <a16:creationId xmlns:a16="http://schemas.microsoft.com/office/drawing/2014/main" id="{D8CC9A93-BF4B-47B1-93AA-85EEA3DE3EDC}"/>
              </a:ext>
            </a:extLst>
          </p:cNvPr>
          <p:cNvSpPr>
            <a:spLocks noGrp="1"/>
          </p:cNvSpPr>
          <p:nvPr/>
        </p:nvSpPr>
        <p:spPr>
          <a:xfrm>
            <a:off x="876300" y="1981200"/>
            <a:ext cx="1314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哪些来源支持？</a:t>
            </a:r>
          </a:p>
        </p:txBody>
      </p:sp>
      <p:sp>
        <p:nvSpPr>
          <p:cNvPr id="21" name="p20-q-fill-1">
            <a:extLst>
              <a:ext uri="{FF2B5EF4-FFF2-40B4-BE49-F238E27FC236}">
                <a16:creationId xmlns:a16="http://schemas.microsoft.com/office/drawing/2014/main" id="{1D37D488-62E2-4BB3-ABC8-BAB9C015F3E5}"/>
              </a:ext>
            </a:extLst>
          </p:cNvPr>
          <p:cNvSpPr>
            <a:spLocks noGrp="1"/>
          </p:cNvSpPr>
          <p:nvPr/>
        </p:nvSpPr>
        <p:spPr>
          <a:xfrm>
            <a:off x="2514600" y="1504950"/>
            <a:ext cx="1466850" cy="106680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</p:sp>
      <p:sp>
        <p:nvSpPr>
          <p:cNvPr id="22" name="p20-q-label-1">
            <a:extLst>
              <a:ext uri="{FF2B5EF4-FFF2-40B4-BE49-F238E27FC236}">
                <a16:creationId xmlns:a16="http://schemas.microsoft.com/office/drawing/2014/main" id="{9BFC0B79-1731-4884-A720-272E98300878}"/>
              </a:ext>
            </a:extLst>
          </p:cNvPr>
          <p:cNvSpPr>
            <a:spLocks noGrp="1"/>
          </p:cNvSpPr>
          <p:nvPr/>
        </p:nvSpPr>
        <p:spPr>
          <a:xfrm>
            <a:off x="2609850" y="1581150"/>
            <a:ext cx="1276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反驳</a:t>
            </a:r>
          </a:p>
        </p:txBody>
      </p:sp>
      <p:sp>
        <p:nvSpPr>
          <p:cNvPr id="23" name="p20-q-question-1">
            <a:extLst>
              <a:ext uri="{FF2B5EF4-FFF2-40B4-BE49-F238E27FC236}">
                <a16:creationId xmlns:a16="http://schemas.microsoft.com/office/drawing/2014/main" id="{81A63228-B196-43A8-8B96-932B58DFAC1F}"/>
              </a:ext>
            </a:extLst>
          </p:cNvPr>
          <p:cNvSpPr>
            <a:spLocks noGrp="1"/>
          </p:cNvSpPr>
          <p:nvPr/>
        </p:nvSpPr>
        <p:spPr>
          <a:xfrm>
            <a:off x="2590800" y="1981200"/>
            <a:ext cx="1314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什么证据推翻？</a:t>
            </a:r>
          </a:p>
        </p:txBody>
      </p:sp>
      <p:sp>
        <p:nvSpPr>
          <p:cNvPr id="24" name="p20-q-fill-2">
            <a:extLst>
              <a:ext uri="{FF2B5EF4-FFF2-40B4-BE49-F238E27FC236}">
                <a16:creationId xmlns:a16="http://schemas.microsoft.com/office/drawing/2014/main" id="{3B27CC62-9D7E-4AC8-A79F-57D40B9E6F08}"/>
              </a:ext>
            </a:extLst>
          </p:cNvPr>
          <p:cNvSpPr>
            <a:spLocks noGrp="1"/>
          </p:cNvSpPr>
          <p:nvPr/>
        </p:nvSpPr>
        <p:spPr>
          <a:xfrm>
            <a:off x="800100" y="2876550"/>
            <a:ext cx="1466850" cy="1066800"/>
          </a:xfrm>
          <a:prstGeom prst="rect">
            <a:avLst/>
          </a:prstGeom>
          <a:solidFill>
            <a:srgbClr val="FAF0DD"/>
          </a:solidFill>
          <a:ln w="0">
            <a:noFill/>
            <a:prstDash val="solid"/>
          </a:ln>
        </p:spPr>
      </p:sp>
      <p:sp>
        <p:nvSpPr>
          <p:cNvPr id="25" name="p20-q-label-2">
            <a:extLst>
              <a:ext uri="{FF2B5EF4-FFF2-40B4-BE49-F238E27FC236}">
                <a16:creationId xmlns:a16="http://schemas.microsoft.com/office/drawing/2014/main" id="{57911A94-F670-46B7-99B3-E489D8B8DC2B}"/>
              </a:ext>
            </a:extLst>
          </p:cNvPr>
          <p:cNvSpPr>
            <a:spLocks noGrp="1"/>
          </p:cNvSpPr>
          <p:nvPr/>
        </p:nvSpPr>
        <p:spPr>
          <a:xfrm>
            <a:off x="895350" y="2952750"/>
            <a:ext cx="1276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冲突</a:t>
            </a:r>
          </a:p>
        </p:txBody>
      </p:sp>
      <p:sp>
        <p:nvSpPr>
          <p:cNvPr id="26" name="p20-q-question-2">
            <a:extLst>
              <a:ext uri="{FF2B5EF4-FFF2-40B4-BE49-F238E27FC236}">
                <a16:creationId xmlns:a16="http://schemas.microsoft.com/office/drawing/2014/main" id="{913C9135-E09E-4BDA-AA12-7323464388D2}"/>
              </a:ext>
            </a:extLst>
          </p:cNvPr>
          <p:cNvSpPr>
            <a:spLocks noGrp="1"/>
          </p:cNvSpPr>
          <p:nvPr/>
        </p:nvSpPr>
        <p:spPr>
          <a:xfrm>
            <a:off x="876300" y="3352800"/>
            <a:ext cx="1314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结论为何不一致？</a:t>
            </a:r>
          </a:p>
        </p:txBody>
      </p:sp>
      <p:sp>
        <p:nvSpPr>
          <p:cNvPr id="27" name="p20-q-fill-3">
            <a:extLst>
              <a:ext uri="{FF2B5EF4-FFF2-40B4-BE49-F238E27FC236}">
                <a16:creationId xmlns:a16="http://schemas.microsoft.com/office/drawing/2014/main" id="{3D617D5A-CBD2-40AB-9D2F-57E7F7E568D2}"/>
              </a:ext>
            </a:extLst>
          </p:cNvPr>
          <p:cNvSpPr>
            <a:spLocks noGrp="1"/>
          </p:cNvSpPr>
          <p:nvPr/>
        </p:nvSpPr>
        <p:spPr>
          <a:xfrm>
            <a:off x="2514600" y="2876550"/>
            <a:ext cx="1466850" cy="1066800"/>
          </a:xfrm>
          <a:prstGeom prst="rect">
            <a:avLst/>
          </a:prstGeom>
          <a:solidFill>
            <a:srgbClr val="E8F0F6"/>
          </a:solidFill>
          <a:ln w="0">
            <a:noFill/>
            <a:prstDash val="solid"/>
          </a:ln>
        </p:spPr>
      </p:sp>
      <p:sp>
        <p:nvSpPr>
          <p:cNvPr id="28" name="p20-q-label-3">
            <a:extLst>
              <a:ext uri="{FF2B5EF4-FFF2-40B4-BE49-F238E27FC236}">
                <a16:creationId xmlns:a16="http://schemas.microsoft.com/office/drawing/2014/main" id="{9576B488-5A15-4F32-A37A-B2A90E01CE3F}"/>
              </a:ext>
            </a:extLst>
          </p:cNvPr>
          <p:cNvSpPr>
            <a:spLocks noGrp="1"/>
          </p:cNvSpPr>
          <p:nvPr/>
        </p:nvSpPr>
        <p:spPr>
          <a:xfrm>
            <a:off x="2609850" y="2952750"/>
            <a:ext cx="1276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空白</a:t>
            </a:r>
          </a:p>
        </p:txBody>
      </p:sp>
      <p:sp>
        <p:nvSpPr>
          <p:cNvPr id="29" name="p20-q-question-3">
            <a:extLst>
              <a:ext uri="{FF2B5EF4-FFF2-40B4-BE49-F238E27FC236}">
                <a16:creationId xmlns:a16="http://schemas.microsoft.com/office/drawing/2014/main" id="{9EEB6E79-2C25-493B-A280-21A92C5375BF}"/>
              </a:ext>
            </a:extLst>
          </p:cNvPr>
          <p:cNvSpPr>
            <a:spLocks noGrp="1"/>
          </p:cNvSpPr>
          <p:nvPr/>
        </p:nvSpPr>
        <p:spPr>
          <a:xfrm>
            <a:off x="2590800" y="3352800"/>
            <a:ext cx="1314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还缺什么材料？</a:t>
            </a:r>
          </a:p>
        </p:txBody>
      </p:sp>
      <p:sp>
        <p:nvSpPr>
          <p:cNvPr id="30" name="p20-decision-no">
            <a:extLst>
              <a:ext uri="{FF2B5EF4-FFF2-40B4-BE49-F238E27FC236}">
                <a16:creationId xmlns:a16="http://schemas.microsoft.com/office/drawing/2014/main" id="{442B474A-5E2A-4C88-B6E0-DCD23ACBDA19}"/>
              </a:ext>
            </a:extLst>
          </p:cNvPr>
          <p:cNvSpPr>
            <a:spLocks noGrp="1"/>
          </p:cNvSpPr>
          <p:nvPr/>
        </p:nvSpPr>
        <p:spPr>
          <a:xfrm>
            <a:off x="4800600" y="895350"/>
            <a:ext cx="2724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06  研究判断</a:t>
            </a:r>
          </a:p>
        </p:txBody>
      </p:sp>
      <p:sp>
        <p:nvSpPr>
          <p:cNvPr id="31" name="p20-decision-paper">
            <a:extLst>
              <a:ext uri="{FF2B5EF4-FFF2-40B4-BE49-F238E27FC236}">
                <a16:creationId xmlns:a16="http://schemas.microsoft.com/office/drawing/2014/main" id="{E4814C6B-04F6-4991-8B27-B68E03E85128}"/>
              </a:ext>
            </a:extLst>
          </p:cNvPr>
          <p:cNvSpPr>
            <a:spLocks noGrp="1"/>
          </p:cNvSpPr>
          <p:nvPr/>
        </p:nvSpPr>
        <p:spPr>
          <a:xfrm>
            <a:off x="4800600" y="1352550"/>
            <a:ext cx="2762250" cy="1752600"/>
          </a:xfrm>
          <a:prstGeom prst="rect">
            <a:avLst/>
          </a:prstGeom>
          <a:noFill/>
          <a:ln w="9525">
            <a:solidFill>
              <a:srgbClr val="D6DDE2"/>
            </a:solidFill>
            <a:prstDash val="solid"/>
          </a:ln>
        </p:spPr>
      </p:sp>
      <p:sp>
        <p:nvSpPr>
          <p:cNvPr id="32" name="p20-decision-bar">
            <a:extLst>
              <a:ext uri="{FF2B5EF4-FFF2-40B4-BE49-F238E27FC236}">
                <a16:creationId xmlns:a16="http://schemas.microsoft.com/office/drawing/2014/main" id="{5BC59A76-558B-4181-82D2-BC76A55E6842}"/>
              </a:ext>
            </a:extLst>
          </p:cNvPr>
          <p:cNvSpPr>
            <a:spLocks noGrp="1"/>
          </p:cNvSpPr>
          <p:nvPr/>
        </p:nvSpPr>
        <p:spPr>
          <a:xfrm>
            <a:off x="4800600" y="1352550"/>
            <a:ext cx="76200" cy="175260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33" name="p20-decision-lines">
            <a:extLst>
              <a:ext uri="{FF2B5EF4-FFF2-40B4-BE49-F238E27FC236}">
                <a16:creationId xmlns:a16="http://schemas.microsoft.com/office/drawing/2014/main" id="{36F0DF0B-DA23-478C-8021-E0AD87D09B88}"/>
              </a:ext>
            </a:extLst>
          </p:cNvPr>
          <p:cNvSpPr>
            <a:spLocks noGrp="1"/>
          </p:cNvSpPr>
          <p:nvPr/>
        </p:nvSpPr>
        <p:spPr>
          <a:xfrm>
            <a:off x="5010150" y="1504950"/>
            <a:ext cx="23431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lnSpc>
                <a:spcPct val="13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采用：为什么？</a:t>
            </a:r>
          </a:p>
          <a:p>
            <a:pPr algn="l">
              <a:lnSpc>
                <a:spcPct val="13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放弃：牺牲什么？</a:t>
            </a:r>
          </a:p>
          <a:p>
            <a:pPr algn="l">
              <a:lnSpc>
                <a:spcPct val="13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边界：适用于哪里？</a:t>
            </a:r>
          </a:p>
          <a:p>
            <a:pPr algn="l">
              <a:lnSpc>
                <a:spcPct val="13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待验证：下一步检查什么？</a:t>
            </a:r>
          </a:p>
        </p:txBody>
      </p:sp>
      <p:sp>
        <p:nvSpPr>
          <p:cNvPr id="34" name="p20-experiment-no">
            <a:extLst>
              <a:ext uri="{FF2B5EF4-FFF2-40B4-BE49-F238E27FC236}">
                <a16:creationId xmlns:a16="http://schemas.microsoft.com/office/drawing/2014/main" id="{99FBED7D-0BF1-468A-B2F8-B27299253119}"/>
              </a:ext>
            </a:extLst>
          </p:cNvPr>
          <p:cNvSpPr>
            <a:spLocks noGrp="1"/>
          </p:cNvSpPr>
          <p:nvPr/>
        </p:nvSpPr>
        <p:spPr>
          <a:xfrm>
            <a:off x="4800600" y="3371850"/>
            <a:ext cx="2724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07  原型验证</a:t>
            </a:r>
          </a:p>
        </p:txBody>
      </p:sp>
      <p:sp>
        <p:nvSpPr>
          <p:cNvPr id="35" name="p20-experiment-bg">
            <a:extLst>
              <a:ext uri="{FF2B5EF4-FFF2-40B4-BE49-F238E27FC236}">
                <a16:creationId xmlns:a16="http://schemas.microsoft.com/office/drawing/2014/main" id="{0ACE00FA-813C-4394-BD56-09196F2D1F6F}"/>
              </a:ext>
            </a:extLst>
          </p:cNvPr>
          <p:cNvSpPr>
            <a:spLocks noGrp="1"/>
          </p:cNvSpPr>
          <p:nvPr/>
        </p:nvSpPr>
        <p:spPr>
          <a:xfrm>
            <a:off x="4800600" y="3790950"/>
            <a:ext cx="2762250" cy="990600"/>
          </a:xfrm>
          <a:prstGeom prst="rect">
            <a:avLst/>
          </a:prstGeom>
          <a:noFill/>
          <a:ln w="9525">
            <a:solidFill>
              <a:srgbClr val="2F638A"/>
            </a:solidFill>
            <a:prstDash val="solid"/>
          </a:ln>
        </p:spPr>
      </p:sp>
      <p:sp>
        <p:nvSpPr>
          <p:cNvPr id="36" name="p20-baseline">
            <a:extLst>
              <a:ext uri="{FF2B5EF4-FFF2-40B4-BE49-F238E27FC236}">
                <a16:creationId xmlns:a16="http://schemas.microsoft.com/office/drawing/2014/main" id="{C286CD8B-A43D-4ED4-B0AB-697F01580C24}"/>
              </a:ext>
            </a:extLst>
          </p:cNvPr>
          <p:cNvSpPr>
            <a:spLocks noGrp="1"/>
          </p:cNvSpPr>
          <p:nvPr/>
        </p:nvSpPr>
        <p:spPr>
          <a:xfrm>
            <a:off x="4953000" y="3905250"/>
            <a:ext cx="914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667684"/>
                </a:solidFill>
              </a:defRPr>
            </a:pPr>
            <a:r>
              <a:rPr sz="12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baseline</a:t>
            </a:r>
          </a:p>
        </p:txBody>
      </p:sp>
      <p:sp>
        <p:nvSpPr>
          <p:cNvPr id="37" name="p20-baseline-bar">
            <a:extLst>
              <a:ext uri="{FF2B5EF4-FFF2-40B4-BE49-F238E27FC236}">
                <a16:creationId xmlns:a16="http://schemas.microsoft.com/office/drawing/2014/main" id="{6206C22F-8E74-482A-9B5F-5F6A5658B756}"/>
              </a:ext>
            </a:extLst>
          </p:cNvPr>
          <p:cNvSpPr>
            <a:spLocks noGrp="1"/>
          </p:cNvSpPr>
          <p:nvPr/>
        </p:nvSpPr>
        <p:spPr>
          <a:xfrm>
            <a:off x="5905500" y="3990975"/>
            <a:ext cx="704850" cy="95250"/>
          </a:xfrm>
          <a:prstGeom prst="rect">
            <a:avLst/>
          </a:prstGeom>
          <a:solidFill>
            <a:srgbClr val="667684"/>
          </a:solidFill>
          <a:ln w="0">
            <a:noFill/>
            <a:prstDash val="solid"/>
          </a:ln>
        </p:spPr>
      </p:sp>
      <p:sp>
        <p:nvSpPr>
          <p:cNvPr id="38" name="p20-prototype">
            <a:extLst>
              <a:ext uri="{FF2B5EF4-FFF2-40B4-BE49-F238E27FC236}">
                <a16:creationId xmlns:a16="http://schemas.microsoft.com/office/drawing/2014/main" id="{927802C3-244F-48BD-AF8C-8BC4011A467F}"/>
              </a:ext>
            </a:extLst>
          </p:cNvPr>
          <p:cNvSpPr>
            <a:spLocks noGrp="1"/>
          </p:cNvSpPr>
          <p:nvPr/>
        </p:nvSpPr>
        <p:spPr>
          <a:xfrm>
            <a:off x="4953000" y="4210050"/>
            <a:ext cx="914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2F638A"/>
                </a:solidFill>
              </a:defRPr>
            </a:pPr>
            <a:r>
              <a:rPr sz="1275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prototype</a:t>
            </a:r>
          </a:p>
        </p:txBody>
      </p:sp>
      <p:sp>
        <p:nvSpPr>
          <p:cNvPr id="39" name="p20-prototype-bar">
            <a:extLst>
              <a:ext uri="{FF2B5EF4-FFF2-40B4-BE49-F238E27FC236}">
                <a16:creationId xmlns:a16="http://schemas.microsoft.com/office/drawing/2014/main" id="{0EC3166F-4772-4995-8777-5971B4FAF45B}"/>
              </a:ext>
            </a:extLst>
          </p:cNvPr>
          <p:cNvSpPr>
            <a:spLocks noGrp="1"/>
          </p:cNvSpPr>
          <p:nvPr/>
        </p:nvSpPr>
        <p:spPr>
          <a:xfrm>
            <a:off x="5905500" y="4295775"/>
            <a:ext cx="1200150" cy="95250"/>
          </a:xfrm>
          <a:prstGeom prst="rect">
            <a:avLst/>
          </a:prstGeom>
          <a:solidFill>
            <a:srgbClr val="2F638A"/>
          </a:solidFill>
          <a:ln w="0">
            <a:noFill/>
            <a:prstDash val="solid"/>
          </a:ln>
        </p:spPr>
      </p:sp>
      <p:sp>
        <p:nvSpPr>
          <p:cNvPr id="40" name="p20-experiment-meta">
            <a:extLst>
              <a:ext uri="{FF2B5EF4-FFF2-40B4-BE49-F238E27FC236}">
                <a16:creationId xmlns:a16="http://schemas.microsoft.com/office/drawing/2014/main" id="{56ECBDD8-8E09-4306-BBC5-2A31ED0B8FAE}"/>
              </a:ext>
            </a:extLst>
          </p:cNvPr>
          <p:cNvSpPr>
            <a:spLocks noGrp="1"/>
          </p:cNvSpPr>
          <p:nvPr/>
        </p:nvSpPr>
        <p:spPr>
          <a:xfrm>
            <a:off x="4953000" y="4419600"/>
            <a:ext cx="2438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5000"/>
              </a:lnSpc>
              <a:buNone/>
              <a:defRPr sz="1200" b="0">
                <a:solidFill>
                  <a:srgbClr val="263746"/>
                </a:solidFill>
              </a:defRPr>
            </a:pPr>
            <a:r>
              <a:rPr sz="12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变量｜指标｜预算</a:t>
            </a:r>
          </a:p>
          <a:p>
            <a:pPr algn="ctr">
              <a:lnSpc>
                <a:spcPct val="115000"/>
              </a:lnSpc>
              <a:buNone/>
              <a:defRPr sz="1200" b="0">
                <a:solidFill>
                  <a:srgbClr val="263746"/>
                </a:solidFill>
              </a:defRPr>
            </a:pPr>
            <a:r>
              <a:rPr sz="12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停止条件｜失败</a:t>
            </a:r>
          </a:p>
        </p:txBody>
      </p:sp>
      <p:sp>
        <p:nvSpPr>
          <p:cNvPr id="41" name="p20-writeback-no">
            <a:extLst>
              <a:ext uri="{FF2B5EF4-FFF2-40B4-BE49-F238E27FC236}">
                <a16:creationId xmlns:a16="http://schemas.microsoft.com/office/drawing/2014/main" id="{885D8455-1B11-4E41-B9F3-4FE68D08DEBB}"/>
              </a:ext>
            </a:extLst>
          </p:cNvPr>
          <p:cNvSpPr>
            <a:spLocks noGrp="1"/>
          </p:cNvSpPr>
          <p:nvPr/>
        </p:nvSpPr>
        <p:spPr>
          <a:xfrm>
            <a:off x="8248650" y="895350"/>
            <a:ext cx="3086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08  回写与表达</a:t>
            </a:r>
          </a:p>
        </p:txBody>
      </p:sp>
      <p:sp>
        <p:nvSpPr>
          <p:cNvPr id="42" name="p20-conclusion">
            <a:extLst>
              <a:ext uri="{FF2B5EF4-FFF2-40B4-BE49-F238E27FC236}">
                <a16:creationId xmlns:a16="http://schemas.microsoft.com/office/drawing/2014/main" id="{67F4A464-ACA5-4A40-93DB-BF6D87F79FD1}"/>
              </a:ext>
            </a:extLst>
          </p:cNvPr>
          <p:cNvSpPr>
            <a:spLocks noGrp="1"/>
          </p:cNvSpPr>
          <p:nvPr/>
        </p:nvSpPr>
        <p:spPr>
          <a:xfrm>
            <a:off x="8362950" y="15621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475" b="1">
                <a:solidFill>
                  <a:srgbClr val="C8161E"/>
                </a:solidFill>
              </a:defRPr>
            </a:pPr>
            <a:r>
              <a:rPr sz="24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43" name="p20-conclusion-copy">
            <a:extLst>
              <a:ext uri="{FF2B5EF4-FFF2-40B4-BE49-F238E27FC236}">
                <a16:creationId xmlns:a16="http://schemas.microsoft.com/office/drawing/2014/main" id="{B4FB3AB4-68BC-4998-AEF3-427A772B006C}"/>
              </a:ext>
            </a:extLst>
          </p:cNvPr>
          <p:cNvSpPr>
            <a:spLocks noGrp="1"/>
          </p:cNvSpPr>
          <p:nvPr/>
        </p:nvSpPr>
        <p:spPr>
          <a:xfrm>
            <a:off x="8362950" y="2209800"/>
            <a:ext cx="2857500" cy="10477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5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必须回到</a:t>
            </a:r>
          </a:p>
          <a:p>
            <a:pPr algn="ctr">
              <a:lnSpc>
                <a:spcPct val="135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证据、实验和上游决定</a:t>
            </a:r>
          </a:p>
        </p:txBody>
      </p:sp>
      <p:sp>
        <p:nvSpPr>
          <p:cNvPr id="44" name="p20-conclusion-boundary">
            <a:extLst>
              <a:ext uri="{FF2B5EF4-FFF2-40B4-BE49-F238E27FC236}">
                <a16:creationId xmlns:a16="http://schemas.microsoft.com/office/drawing/2014/main" id="{E5F33C2E-A00A-4A9B-BA2D-E9CACFBF52D1}"/>
              </a:ext>
            </a:extLst>
          </p:cNvPr>
          <p:cNvSpPr>
            <a:spLocks noGrp="1"/>
          </p:cNvSpPr>
          <p:nvPr/>
        </p:nvSpPr>
        <p:spPr>
          <a:xfrm>
            <a:off x="8458200" y="3467100"/>
            <a:ext cx="2667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正面或负面结果都要回写；</a:t>
            </a:r>
          </a:p>
          <a:p>
            <a:pPr algn="ctr">
              <a:lnSpc>
                <a:spcPct val="13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不能只展示最好看的结果。</a:t>
            </a:r>
          </a:p>
        </p:txBody>
      </p:sp>
      <p:sp>
        <p:nvSpPr>
          <p:cNvPr id="45" name="p20-return-label">
            <a:extLst>
              <a:ext uri="{FF2B5EF4-FFF2-40B4-BE49-F238E27FC236}">
                <a16:creationId xmlns:a16="http://schemas.microsoft.com/office/drawing/2014/main" id="{4F29E7A9-7F9F-42AF-BB44-4256BD16D9AD}"/>
              </a:ext>
            </a:extLst>
          </p:cNvPr>
          <p:cNvSpPr>
            <a:spLocks noGrp="1"/>
          </p:cNvSpPr>
          <p:nvPr/>
        </p:nvSpPr>
        <p:spPr>
          <a:xfrm>
            <a:off x="2990850" y="4857750"/>
            <a:ext cx="685800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反向核验：这个结论由哪些证据、决定和实验支持？</a:t>
            </a:r>
          </a:p>
        </p:txBody>
      </p:sp>
      <p:sp>
        <p:nvSpPr>
          <p:cNvPr id="46" name="p20-bottom">
            <a:extLst>
              <a:ext uri="{FF2B5EF4-FFF2-40B4-BE49-F238E27FC236}">
                <a16:creationId xmlns:a16="http://schemas.microsoft.com/office/drawing/2014/main" id="{64DC54CC-680D-49C7-963C-FC8E40B43B85}"/>
              </a:ext>
            </a:extLst>
          </p:cNvPr>
          <p:cNvSpPr>
            <a:spLocks noGrp="1"/>
          </p:cNvSpPr>
          <p:nvPr/>
        </p:nvSpPr>
        <p:spPr>
          <a:xfrm>
            <a:off x="2038350" y="5581650"/>
            <a:ext cx="811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证据不会自动生成判断；判断必须保留边界和待验证项。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八阶段不是瀑布流程，而是带记录的回退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F6DF2BE2-2DFA-1C03-677D-BDC2260D6D92}" type="slidenum">
              <a:t>21</a:t>
            </a:fld>
            <a:endParaRPr/>
          </a:p>
        </p:txBody>
      </p:sp>
      <p:sp>
        <p:nvSpPr>
          <p:cNvPr id="6" name="p21-arrow-0">
            <a:extLst>
              <a:ext uri="{FF2B5EF4-FFF2-40B4-BE49-F238E27FC236}">
                <a16:creationId xmlns:a16="http://schemas.microsoft.com/office/drawing/2014/main" id="{6D8C6CCE-D9DF-47FE-AEDC-5E002B4DE3BC}"/>
              </a:ext>
            </a:extLst>
          </p:cNvPr>
          <p:cNvSpPr>
            <a:spLocks noGrp="1"/>
          </p:cNvSpPr>
          <p:nvPr/>
        </p:nvSpPr>
        <p:spPr>
          <a:xfrm>
            <a:off x="1754981" y="137160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21-num-0">
            <a:extLst>
              <a:ext uri="{FF2B5EF4-FFF2-40B4-BE49-F238E27FC236}">
                <a16:creationId xmlns:a16="http://schemas.microsoft.com/office/drawing/2014/main" id="{E6B208BD-8706-4D1A-B13F-676FC1D837F6}"/>
              </a:ext>
            </a:extLst>
          </p:cNvPr>
          <p:cNvSpPr>
            <a:spLocks noGrp="1"/>
          </p:cNvSpPr>
          <p:nvPr/>
        </p:nvSpPr>
        <p:spPr>
          <a:xfrm>
            <a:off x="609600" y="108585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p21-text-0">
            <a:extLst>
              <a:ext uri="{FF2B5EF4-FFF2-40B4-BE49-F238E27FC236}">
                <a16:creationId xmlns:a16="http://schemas.microsoft.com/office/drawing/2014/main" id="{FB7E3B6F-1EFB-47C3-AD45-F59C513BE195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问题</a:t>
            </a:r>
          </a:p>
        </p:txBody>
      </p:sp>
      <p:sp>
        <p:nvSpPr>
          <p:cNvPr id="9" name="p21-arrow-1">
            <a:extLst>
              <a:ext uri="{FF2B5EF4-FFF2-40B4-BE49-F238E27FC236}">
                <a16:creationId xmlns:a16="http://schemas.microsoft.com/office/drawing/2014/main" id="{62F84F10-0B4C-4CEE-BDA3-A8A6630F82D4}"/>
              </a:ext>
            </a:extLst>
          </p:cNvPr>
          <p:cNvSpPr>
            <a:spLocks noGrp="1"/>
          </p:cNvSpPr>
          <p:nvPr/>
        </p:nvSpPr>
        <p:spPr>
          <a:xfrm>
            <a:off x="3148013" y="137160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21-num-1">
            <a:extLst>
              <a:ext uri="{FF2B5EF4-FFF2-40B4-BE49-F238E27FC236}">
                <a16:creationId xmlns:a16="http://schemas.microsoft.com/office/drawing/2014/main" id="{298BB0F8-FF60-44A2-A80A-E6412DA6941F}"/>
              </a:ext>
            </a:extLst>
          </p:cNvPr>
          <p:cNvSpPr>
            <a:spLocks noGrp="1"/>
          </p:cNvSpPr>
          <p:nvPr/>
        </p:nvSpPr>
        <p:spPr>
          <a:xfrm>
            <a:off x="2002631" y="108585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p21-text-1">
            <a:extLst>
              <a:ext uri="{FF2B5EF4-FFF2-40B4-BE49-F238E27FC236}">
                <a16:creationId xmlns:a16="http://schemas.microsoft.com/office/drawing/2014/main" id="{895F1B3E-407A-4B97-B07D-423D02D17395}"/>
              </a:ext>
            </a:extLst>
          </p:cNvPr>
          <p:cNvSpPr>
            <a:spLocks noGrp="1"/>
          </p:cNvSpPr>
          <p:nvPr/>
        </p:nvSpPr>
        <p:spPr>
          <a:xfrm>
            <a:off x="2002631" y="144780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原理</a:t>
            </a:r>
          </a:p>
        </p:txBody>
      </p:sp>
      <p:sp>
        <p:nvSpPr>
          <p:cNvPr id="12" name="p21-arrow-2">
            <a:extLst>
              <a:ext uri="{FF2B5EF4-FFF2-40B4-BE49-F238E27FC236}">
                <a16:creationId xmlns:a16="http://schemas.microsoft.com/office/drawing/2014/main" id="{C53E89AB-1641-453E-9152-4603DCC17CE8}"/>
              </a:ext>
            </a:extLst>
          </p:cNvPr>
          <p:cNvSpPr>
            <a:spLocks noGrp="1"/>
          </p:cNvSpPr>
          <p:nvPr/>
        </p:nvSpPr>
        <p:spPr>
          <a:xfrm>
            <a:off x="4541044" y="137160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21-num-2">
            <a:extLst>
              <a:ext uri="{FF2B5EF4-FFF2-40B4-BE49-F238E27FC236}">
                <a16:creationId xmlns:a16="http://schemas.microsoft.com/office/drawing/2014/main" id="{52CB9361-8E64-4348-95C3-3E61C263F457}"/>
              </a:ext>
            </a:extLst>
          </p:cNvPr>
          <p:cNvSpPr>
            <a:spLocks noGrp="1"/>
          </p:cNvSpPr>
          <p:nvPr/>
        </p:nvSpPr>
        <p:spPr>
          <a:xfrm>
            <a:off x="3395663" y="108585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p21-text-2">
            <a:extLst>
              <a:ext uri="{FF2B5EF4-FFF2-40B4-BE49-F238E27FC236}">
                <a16:creationId xmlns:a16="http://schemas.microsoft.com/office/drawing/2014/main" id="{D55D6CA8-A380-42E4-AA6C-51B05378F81A}"/>
              </a:ext>
            </a:extLst>
          </p:cNvPr>
          <p:cNvSpPr>
            <a:spLocks noGrp="1"/>
          </p:cNvSpPr>
          <p:nvPr/>
        </p:nvSpPr>
        <p:spPr>
          <a:xfrm>
            <a:off x="3395663" y="144780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</a:t>
            </a:r>
          </a:p>
        </p:txBody>
      </p:sp>
      <p:sp>
        <p:nvSpPr>
          <p:cNvPr id="15" name="p21-arrow-3">
            <a:extLst>
              <a:ext uri="{FF2B5EF4-FFF2-40B4-BE49-F238E27FC236}">
                <a16:creationId xmlns:a16="http://schemas.microsoft.com/office/drawing/2014/main" id="{75693399-128B-403E-B091-216DD95BD9DA}"/>
              </a:ext>
            </a:extLst>
          </p:cNvPr>
          <p:cNvSpPr>
            <a:spLocks noGrp="1"/>
          </p:cNvSpPr>
          <p:nvPr/>
        </p:nvSpPr>
        <p:spPr>
          <a:xfrm>
            <a:off x="5934075" y="137160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p21-num-3">
            <a:extLst>
              <a:ext uri="{FF2B5EF4-FFF2-40B4-BE49-F238E27FC236}">
                <a16:creationId xmlns:a16="http://schemas.microsoft.com/office/drawing/2014/main" id="{BB428802-B04E-4CF2-BA47-34B1DBD7B5BD}"/>
              </a:ext>
            </a:extLst>
          </p:cNvPr>
          <p:cNvSpPr>
            <a:spLocks noGrp="1"/>
          </p:cNvSpPr>
          <p:nvPr/>
        </p:nvSpPr>
        <p:spPr>
          <a:xfrm>
            <a:off x="4788694" y="108585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p21-text-3">
            <a:extLst>
              <a:ext uri="{FF2B5EF4-FFF2-40B4-BE49-F238E27FC236}">
                <a16:creationId xmlns:a16="http://schemas.microsoft.com/office/drawing/2014/main" id="{F9110273-97D6-40BF-8F64-3ACBE8F4EA12}"/>
              </a:ext>
            </a:extLst>
          </p:cNvPr>
          <p:cNvSpPr>
            <a:spLocks noGrp="1"/>
          </p:cNvSpPr>
          <p:nvPr/>
        </p:nvSpPr>
        <p:spPr>
          <a:xfrm>
            <a:off x="4788694" y="144780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8" name="p21-arrow-4">
            <a:extLst>
              <a:ext uri="{FF2B5EF4-FFF2-40B4-BE49-F238E27FC236}">
                <a16:creationId xmlns:a16="http://schemas.microsoft.com/office/drawing/2014/main" id="{3502F6A5-1274-4ED1-978C-EAA5B479F5E3}"/>
              </a:ext>
            </a:extLst>
          </p:cNvPr>
          <p:cNvSpPr>
            <a:spLocks noGrp="1"/>
          </p:cNvSpPr>
          <p:nvPr/>
        </p:nvSpPr>
        <p:spPr>
          <a:xfrm>
            <a:off x="7327106" y="137160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p21-num-4">
            <a:extLst>
              <a:ext uri="{FF2B5EF4-FFF2-40B4-BE49-F238E27FC236}">
                <a16:creationId xmlns:a16="http://schemas.microsoft.com/office/drawing/2014/main" id="{267715B3-6C8D-42E2-9436-091C6911E73C}"/>
              </a:ext>
            </a:extLst>
          </p:cNvPr>
          <p:cNvSpPr>
            <a:spLocks noGrp="1"/>
          </p:cNvSpPr>
          <p:nvPr/>
        </p:nvSpPr>
        <p:spPr>
          <a:xfrm>
            <a:off x="6181725" y="108585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p21-text-4">
            <a:extLst>
              <a:ext uri="{FF2B5EF4-FFF2-40B4-BE49-F238E27FC236}">
                <a16:creationId xmlns:a16="http://schemas.microsoft.com/office/drawing/2014/main" id="{AE07E93A-8F8E-4BE1-9ABF-7CF44D0C4285}"/>
              </a:ext>
            </a:extLst>
          </p:cNvPr>
          <p:cNvSpPr>
            <a:spLocks noGrp="1"/>
          </p:cNvSpPr>
          <p:nvPr/>
        </p:nvSpPr>
        <p:spPr>
          <a:xfrm>
            <a:off x="6181725" y="144780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21" name="p21-arrow-5">
            <a:extLst>
              <a:ext uri="{FF2B5EF4-FFF2-40B4-BE49-F238E27FC236}">
                <a16:creationId xmlns:a16="http://schemas.microsoft.com/office/drawing/2014/main" id="{0FACE9AE-CD49-4985-AC19-77F7B9BE15AF}"/>
              </a:ext>
            </a:extLst>
          </p:cNvPr>
          <p:cNvSpPr>
            <a:spLocks noGrp="1"/>
          </p:cNvSpPr>
          <p:nvPr/>
        </p:nvSpPr>
        <p:spPr>
          <a:xfrm>
            <a:off x="8720138" y="137160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2" name="p21-num-5">
            <a:extLst>
              <a:ext uri="{FF2B5EF4-FFF2-40B4-BE49-F238E27FC236}">
                <a16:creationId xmlns:a16="http://schemas.microsoft.com/office/drawing/2014/main" id="{4E44A96B-8365-4D7F-A6B6-68CB4DD593C0}"/>
              </a:ext>
            </a:extLst>
          </p:cNvPr>
          <p:cNvSpPr>
            <a:spLocks noGrp="1"/>
          </p:cNvSpPr>
          <p:nvPr/>
        </p:nvSpPr>
        <p:spPr>
          <a:xfrm>
            <a:off x="7574756" y="108585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3" name="p21-text-5">
            <a:extLst>
              <a:ext uri="{FF2B5EF4-FFF2-40B4-BE49-F238E27FC236}">
                <a16:creationId xmlns:a16="http://schemas.microsoft.com/office/drawing/2014/main" id="{A47CE8F2-843D-44ED-B074-A8AFFB25B81A}"/>
              </a:ext>
            </a:extLst>
          </p:cNvPr>
          <p:cNvSpPr>
            <a:spLocks noGrp="1"/>
          </p:cNvSpPr>
          <p:nvPr/>
        </p:nvSpPr>
        <p:spPr>
          <a:xfrm>
            <a:off x="7574756" y="144780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24" name="p21-arrow-6">
            <a:extLst>
              <a:ext uri="{FF2B5EF4-FFF2-40B4-BE49-F238E27FC236}">
                <a16:creationId xmlns:a16="http://schemas.microsoft.com/office/drawing/2014/main" id="{6CD067A1-5426-475D-BA61-9B5AFCF45218}"/>
              </a:ext>
            </a:extLst>
          </p:cNvPr>
          <p:cNvSpPr>
            <a:spLocks noGrp="1"/>
          </p:cNvSpPr>
          <p:nvPr/>
        </p:nvSpPr>
        <p:spPr>
          <a:xfrm>
            <a:off x="10113169" y="137160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p21-num-6">
            <a:extLst>
              <a:ext uri="{FF2B5EF4-FFF2-40B4-BE49-F238E27FC236}">
                <a16:creationId xmlns:a16="http://schemas.microsoft.com/office/drawing/2014/main" id="{CB5ED395-D710-4BEA-BAFE-F4725CF968AF}"/>
              </a:ext>
            </a:extLst>
          </p:cNvPr>
          <p:cNvSpPr>
            <a:spLocks noGrp="1"/>
          </p:cNvSpPr>
          <p:nvPr/>
        </p:nvSpPr>
        <p:spPr>
          <a:xfrm>
            <a:off x="8967788" y="108585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6" name="p21-text-6">
            <a:extLst>
              <a:ext uri="{FF2B5EF4-FFF2-40B4-BE49-F238E27FC236}">
                <a16:creationId xmlns:a16="http://schemas.microsoft.com/office/drawing/2014/main" id="{B5F1157C-BBC4-4FBF-BB7F-DA6980AEE399}"/>
              </a:ext>
            </a:extLst>
          </p:cNvPr>
          <p:cNvSpPr>
            <a:spLocks noGrp="1"/>
          </p:cNvSpPr>
          <p:nvPr/>
        </p:nvSpPr>
        <p:spPr>
          <a:xfrm>
            <a:off x="8967788" y="144780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27" name="p21-num-7">
            <a:extLst>
              <a:ext uri="{FF2B5EF4-FFF2-40B4-BE49-F238E27FC236}">
                <a16:creationId xmlns:a16="http://schemas.microsoft.com/office/drawing/2014/main" id="{498A668D-710A-426B-9053-A9BF7F15D131}"/>
              </a:ext>
            </a:extLst>
          </p:cNvPr>
          <p:cNvSpPr>
            <a:spLocks noGrp="1"/>
          </p:cNvSpPr>
          <p:nvPr/>
        </p:nvSpPr>
        <p:spPr>
          <a:xfrm>
            <a:off x="10360819" y="108585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8" name="p21-text-7">
            <a:extLst>
              <a:ext uri="{FF2B5EF4-FFF2-40B4-BE49-F238E27FC236}">
                <a16:creationId xmlns:a16="http://schemas.microsoft.com/office/drawing/2014/main" id="{30535371-B996-4EFB-BEE0-4EECFFE8F79C}"/>
              </a:ext>
            </a:extLst>
          </p:cNvPr>
          <p:cNvSpPr>
            <a:spLocks noGrp="1"/>
          </p:cNvSpPr>
          <p:nvPr/>
        </p:nvSpPr>
        <p:spPr>
          <a:xfrm>
            <a:off x="10360819" y="144780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表达</a:t>
            </a:r>
          </a:p>
        </p:txBody>
      </p:sp>
      <p:sp>
        <p:nvSpPr>
          <p:cNvPr id="29" name="p21-c-0">
            <a:extLst>
              <a:ext uri="{FF2B5EF4-FFF2-40B4-BE49-F238E27FC236}">
                <a16:creationId xmlns:a16="http://schemas.microsoft.com/office/drawing/2014/main" id="{F2889906-4F0C-4AE3-80EC-E1A3AEDFE900}"/>
              </a:ext>
            </a:extLst>
          </p:cNvPr>
          <p:cNvSpPr>
            <a:spLocks noGrp="1"/>
          </p:cNvSpPr>
          <p:nvPr/>
        </p:nvSpPr>
        <p:spPr>
          <a:xfrm>
            <a:off x="1143000" y="2133600"/>
            <a:ext cx="3619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阅读发现定义错误</a:t>
            </a:r>
          </a:p>
        </p:txBody>
      </p:sp>
      <p:sp>
        <p:nvSpPr>
          <p:cNvPr id="30" name="p21-l-0">
            <a:extLst>
              <a:ext uri="{FF2B5EF4-FFF2-40B4-BE49-F238E27FC236}">
                <a16:creationId xmlns:a16="http://schemas.microsoft.com/office/drawing/2014/main" id="{03661E86-29BB-4E0C-AB1D-3798456A2BEA}"/>
              </a:ext>
            </a:extLst>
          </p:cNvPr>
          <p:cNvSpPr>
            <a:spLocks noGrp="1"/>
          </p:cNvSpPr>
          <p:nvPr/>
        </p:nvSpPr>
        <p:spPr>
          <a:xfrm>
            <a:off x="4914900" y="2362200"/>
            <a:ext cx="1428750" cy="3810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31" name="p21-arrow-0">
            <a:extLst>
              <a:ext uri="{FF2B5EF4-FFF2-40B4-BE49-F238E27FC236}">
                <a16:creationId xmlns:a16="http://schemas.microsoft.com/office/drawing/2014/main" id="{9CE6B05E-AF0F-4986-8EA1-476EBBADBB47}"/>
              </a:ext>
            </a:extLst>
          </p:cNvPr>
          <p:cNvSpPr>
            <a:spLocks noGrp="1"/>
          </p:cNvSpPr>
          <p:nvPr/>
        </p:nvSpPr>
        <p:spPr>
          <a:xfrm>
            <a:off x="6153150" y="2181225"/>
            <a:ext cx="685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32" name="p21-a-0">
            <a:extLst>
              <a:ext uri="{FF2B5EF4-FFF2-40B4-BE49-F238E27FC236}">
                <a16:creationId xmlns:a16="http://schemas.microsoft.com/office/drawing/2014/main" id="{56FA9F5B-FB06-4481-B630-3E1DDE771E54}"/>
              </a:ext>
            </a:extLst>
          </p:cNvPr>
          <p:cNvSpPr>
            <a:spLocks noGrp="1"/>
          </p:cNvSpPr>
          <p:nvPr/>
        </p:nvSpPr>
        <p:spPr>
          <a:xfrm>
            <a:off x="6896100" y="2133600"/>
            <a:ext cx="3714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回到问题</a:t>
            </a:r>
          </a:p>
        </p:txBody>
      </p:sp>
      <p:sp>
        <p:nvSpPr>
          <p:cNvPr id="33" name="p21-c-1">
            <a:extLst>
              <a:ext uri="{FF2B5EF4-FFF2-40B4-BE49-F238E27FC236}">
                <a16:creationId xmlns:a16="http://schemas.microsoft.com/office/drawing/2014/main" id="{EFD1E014-DAB2-4DC8-B248-3F0B91E4C5F5}"/>
              </a:ext>
            </a:extLst>
          </p:cNvPr>
          <p:cNvSpPr>
            <a:spLocks noGrp="1"/>
          </p:cNvSpPr>
          <p:nvPr/>
        </p:nvSpPr>
        <p:spPr>
          <a:xfrm>
            <a:off x="1143000" y="2895600"/>
            <a:ext cx="3619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实验推翻机制</a:t>
            </a:r>
          </a:p>
        </p:txBody>
      </p:sp>
      <p:sp>
        <p:nvSpPr>
          <p:cNvPr id="34" name="p21-l-1">
            <a:extLst>
              <a:ext uri="{FF2B5EF4-FFF2-40B4-BE49-F238E27FC236}">
                <a16:creationId xmlns:a16="http://schemas.microsoft.com/office/drawing/2014/main" id="{FA2CED15-98F4-48FB-A9E6-A0FE6FAECAFA}"/>
              </a:ext>
            </a:extLst>
          </p:cNvPr>
          <p:cNvSpPr>
            <a:spLocks noGrp="1"/>
          </p:cNvSpPr>
          <p:nvPr/>
        </p:nvSpPr>
        <p:spPr>
          <a:xfrm>
            <a:off x="4914900" y="3124200"/>
            <a:ext cx="1428750" cy="3810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35" name="p21-arrow-1">
            <a:extLst>
              <a:ext uri="{FF2B5EF4-FFF2-40B4-BE49-F238E27FC236}">
                <a16:creationId xmlns:a16="http://schemas.microsoft.com/office/drawing/2014/main" id="{12650FCB-2E5A-4FA0-A7EE-8AE3C809583A}"/>
              </a:ext>
            </a:extLst>
          </p:cNvPr>
          <p:cNvSpPr>
            <a:spLocks noGrp="1"/>
          </p:cNvSpPr>
          <p:nvPr/>
        </p:nvSpPr>
        <p:spPr>
          <a:xfrm>
            <a:off x="6153150" y="2943225"/>
            <a:ext cx="685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18354E"/>
                </a:solidFill>
              </a:defRPr>
            </a:pPr>
            <a:r>
              <a:rPr sz="22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36" name="p21-a-1">
            <a:extLst>
              <a:ext uri="{FF2B5EF4-FFF2-40B4-BE49-F238E27FC236}">
                <a16:creationId xmlns:a16="http://schemas.microsoft.com/office/drawing/2014/main" id="{01BF0A69-8116-440C-850E-FFD119EEC987}"/>
              </a:ext>
            </a:extLst>
          </p:cNvPr>
          <p:cNvSpPr>
            <a:spLocks noGrp="1"/>
          </p:cNvSpPr>
          <p:nvPr/>
        </p:nvSpPr>
        <p:spPr>
          <a:xfrm>
            <a:off x="6896100" y="2895600"/>
            <a:ext cx="3714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回到假设</a:t>
            </a:r>
          </a:p>
        </p:txBody>
      </p:sp>
      <p:sp>
        <p:nvSpPr>
          <p:cNvPr id="37" name="p21-c-2">
            <a:extLst>
              <a:ext uri="{FF2B5EF4-FFF2-40B4-BE49-F238E27FC236}">
                <a16:creationId xmlns:a16="http://schemas.microsoft.com/office/drawing/2014/main" id="{9A0643D2-3F91-41A8-BDBE-7722E2B50D3F}"/>
              </a:ext>
            </a:extLst>
          </p:cNvPr>
          <p:cNvSpPr>
            <a:spLocks noGrp="1"/>
          </p:cNvSpPr>
          <p:nvPr/>
        </p:nvSpPr>
        <p:spPr>
          <a:xfrm>
            <a:off x="1143000" y="3657600"/>
            <a:ext cx="3619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写作暴露证据断裂</a:t>
            </a:r>
          </a:p>
        </p:txBody>
      </p:sp>
      <p:sp>
        <p:nvSpPr>
          <p:cNvPr id="38" name="p21-l-2">
            <a:extLst>
              <a:ext uri="{FF2B5EF4-FFF2-40B4-BE49-F238E27FC236}">
                <a16:creationId xmlns:a16="http://schemas.microsoft.com/office/drawing/2014/main" id="{82B1CD99-5CDD-4D3F-9EA5-794C7CA5BA81}"/>
              </a:ext>
            </a:extLst>
          </p:cNvPr>
          <p:cNvSpPr>
            <a:spLocks noGrp="1"/>
          </p:cNvSpPr>
          <p:nvPr/>
        </p:nvSpPr>
        <p:spPr>
          <a:xfrm>
            <a:off x="4914900" y="3886200"/>
            <a:ext cx="1428750" cy="38100"/>
          </a:xfrm>
          <a:prstGeom prst="rect">
            <a:avLst/>
          </a:prstGeom>
          <a:solidFill>
            <a:srgbClr val="A86C12"/>
          </a:solidFill>
          <a:ln w="0">
            <a:noFill/>
            <a:prstDash val="solid"/>
          </a:ln>
        </p:spPr>
      </p:sp>
      <p:sp>
        <p:nvSpPr>
          <p:cNvPr id="39" name="p21-arrow-2">
            <a:extLst>
              <a:ext uri="{FF2B5EF4-FFF2-40B4-BE49-F238E27FC236}">
                <a16:creationId xmlns:a16="http://schemas.microsoft.com/office/drawing/2014/main" id="{23E2B42A-400C-457E-8640-F7D6848B4496}"/>
              </a:ext>
            </a:extLst>
          </p:cNvPr>
          <p:cNvSpPr>
            <a:spLocks noGrp="1"/>
          </p:cNvSpPr>
          <p:nvPr/>
        </p:nvSpPr>
        <p:spPr>
          <a:xfrm>
            <a:off x="6153150" y="3705225"/>
            <a:ext cx="685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A86C12"/>
                </a:solidFill>
              </a:defRPr>
            </a:pPr>
            <a:r>
              <a:rPr sz="22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40" name="p21-a-2">
            <a:extLst>
              <a:ext uri="{FF2B5EF4-FFF2-40B4-BE49-F238E27FC236}">
                <a16:creationId xmlns:a16="http://schemas.microsoft.com/office/drawing/2014/main" id="{310AB729-9FA1-4703-B044-939AD5713E04}"/>
              </a:ext>
            </a:extLst>
          </p:cNvPr>
          <p:cNvSpPr>
            <a:spLocks noGrp="1"/>
          </p:cNvSpPr>
          <p:nvPr/>
        </p:nvSpPr>
        <p:spPr>
          <a:xfrm>
            <a:off x="6896100" y="3657600"/>
            <a:ext cx="3714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回到取证</a:t>
            </a:r>
          </a:p>
        </p:txBody>
      </p:sp>
      <p:sp>
        <p:nvSpPr>
          <p:cNvPr id="41" name="p21-c-3">
            <a:extLst>
              <a:ext uri="{FF2B5EF4-FFF2-40B4-BE49-F238E27FC236}">
                <a16:creationId xmlns:a16="http://schemas.microsoft.com/office/drawing/2014/main" id="{A6806BD8-06AA-4861-9764-C0CDCF0BB939}"/>
              </a:ext>
            </a:extLst>
          </p:cNvPr>
          <p:cNvSpPr>
            <a:spLocks noGrp="1"/>
          </p:cNvSpPr>
          <p:nvPr/>
        </p:nvSpPr>
        <p:spPr>
          <a:xfrm>
            <a:off x="1143000" y="4419600"/>
            <a:ext cx="3619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Agent 越权</a:t>
            </a:r>
          </a:p>
        </p:txBody>
      </p:sp>
      <p:sp>
        <p:nvSpPr>
          <p:cNvPr id="42" name="p21-l-3">
            <a:extLst>
              <a:ext uri="{FF2B5EF4-FFF2-40B4-BE49-F238E27FC236}">
                <a16:creationId xmlns:a16="http://schemas.microsoft.com/office/drawing/2014/main" id="{39857EE9-1EAB-4060-9719-71F1FF63391A}"/>
              </a:ext>
            </a:extLst>
          </p:cNvPr>
          <p:cNvSpPr>
            <a:spLocks noGrp="1"/>
          </p:cNvSpPr>
          <p:nvPr/>
        </p:nvSpPr>
        <p:spPr>
          <a:xfrm>
            <a:off x="4914900" y="4648200"/>
            <a:ext cx="1428750" cy="38100"/>
          </a:xfrm>
          <a:prstGeom prst="rect">
            <a:avLst/>
          </a:prstGeom>
          <a:solidFill>
            <a:srgbClr val="28745A"/>
          </a:solidFill>
          <a:ln w="0">
            <a:noFill/>
            <a:prstDash val="solid"/>
          </a:ln>
        </p:spPr>
      </p:sp>
      <p:sp>
        <p:nvSpPr>
          <p:cNvPr id="43" name="p21-arrow-3">
            <a:extLst>
              <a:ext uri="{FF2B5EF4-FFF2-40B4-BE49-F238E27FC236}">
                <a16:creationId xmlns:a16="http://schemas.microsoft.com/office/drawing/2014/main" id="{C03BAB91-FD4B-4AA1-8327-24B3B06BAE16}"/>
              </a:ext>
            </a:extLst>
          </p:cNvPr>
          <p:cNvSpPr>
            <a:spLocks noGrp="1"/>
          </p:cNvSpPr>
          <p:nvPr/>
        </p:nvSpPr>
        <p:spPr>
          <a:xfrm>
            <a:off x="6153150" y="4467225"/>
            <a:ext cx="685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28745A"/>
                </a:solidFill>
              </a:defRPr>
            </a:pPr>
            <a:r>
              <a:rPr sz="22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44" name="p21-a-3">
            <a:extLst>
              <a:ext uri="{FF2B5EF4-FFF2-40B4-BE49-F238E27FC236}">
                <a16:creationId xmlns:a16="http://schemas.microsoft.com/office/drawing/2014/main" id="{1F5FD870-E5DE-4EDB-B51D-11FAE84B1521}"/>
              </a:ext>
            </a:extLst>
          </p:cNvPr>
          <p:cNvSpPr>
            <a:spLocks noGrp="1"/>
          </p:cNvSpPr>
          <p:nvPr/>
        </p:nvSpPr>
        <p:spPr>
          <a:xfrm>
            <a:off x="6896100" y="4419600"/>
            <a:ext cx="3714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回到任务与权限</a:t>
            </a:r>
          </a:p>
        </p:txBody>
      </p:sp>
      <p:sp>
        <p:nvSpPr>
          <p:cNvPr id="45" name="p21-bottom">
            <a:extLst>
              <a:ext uri="{FF2B5EF4-FFF2-40B4-BE49-F238E27FC236}">
                <a16:creationId xmlns:a16="http://schemas.microsoft.com/office/drawing/2014/main" id="{FC1029FA-F6E7-49DB-BBF2-7E72937F4A88}"/>
              </a:ext>
            </a:extLst>
          </p:cNvPr>
          <p:cNvSpPr>
            <a:spLocks noGrp="1"/>
          </p:cNvSpPr>
          <p:nvPr/>
        </p:nvSpPr>
        <p:spPr>
          <a:xfrm>
            <a:off x="3143250" y="5257800"/>
            <a:ext cx="590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可以回退，但要知道为什么回退。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四个研究门阻止错误继续累积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0BB18BA8-60F4-C50D-CD9B-1BB87D3E8506}" type="slidenum">
              <a:t>22</a:t>
            </a:fld>
            <a:endParaRPr/>
          </a:p>
        </p:txBody>
      </p:sp>
      <p:sp>
        <p:nvSpPr>
          <p:cNvPr id="6" name="p22-path">
            <a:extLst>
              <a:ext uri="{FF2B5EF4-FFF2-40B4-BE49-F238E27FC236}">
                <a16:creationId xmlns:a16="http://schemas.microsoft.com/office/drawing/2014/main" id="{9F2DBD4E-E176-4D8F-B7B8-F2EE1818240B}"/>
              </a:ext>
            </a:extLst>
          </p:cNvPr>
          <p:cNvSpPr>
            <a:spLocks noGrp="1"/>
          </p:cNvSpPr>
          <p:nvPr/>
        </p:nvSpPr>
        <p:spPr>
          <a:xfrm>
            <a:off x="1143000" y="3138488"/>
            <a:ext cx="9715500" cy="4762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7" name="p22-gate-0">
            <a:extLst>
              <a:ext uri="{FF2B5EF4-FFF2-40B4-BE49-F238E27FC236}">
                <a16:creationId xmlns:a16="http://schemas.microsoft.com/office/drawing/2014/main" id="{3D33517F-6B77-4B14-88FE-4053C1F29CFD}"/>
              </a:ext>
            </a:extLst>
          </p:cNvPr>
          <p:cNvSpPr>
            <a:spLocks noGrp="1"/>
          </p:cNvSpPr>
          <p:nvPr/>
        </p:nvSpPr>
        <p:spPr>
          <a:xfrm>
            <a:off x="1447800" y="1828800"/>
            <a:ext cx="323850" cy="272415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8" name="p22-week-0">
            <a:extLst>
              <a:ext uri="{FF2B5EF4-FFF2-40B4-BE49-F238E27FC236}">
                <a16:creationId xmlns:a16="http://schemas.microsoft.com/office/drawing/2014/main" id="{04C23EEC-6622-467C-80A5-55CB0F6A587E}"/>
              </a:ext>
            </a:extLst>
          </p:cNvPr>
          <p:cNvSpPr>
            <a:spLocks noGrp="1"/>
          </p:cNvSpPr>
          <p:nvPr/>
        </p:nvSpPr>
        <p:spPr>
          <a:xfrm>
            <a:off x="1009650" y="1200150"/>
            <a:ext cx="1200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W6</a:t>
            </a:r>
          </a:p>
        </p:txBody>
      </p:sp>
      <p:sp>
        <p:nvSpPr>
          <p:cNvPr id="9" name="p22-title-0">
            <a:extLst>
              <a:ext uri="{FF2B5EF4-FFF2-40B4-BE49-F238E27FC236}">
                <a16:creationId xmlns:a16="http://schemas.microsoft.com/office/drawing/2014/main" id="{AEF2F35E-5257-435E-BB26-A23EBE7B66FC}"/>
              </a:ext>
            </a:extLst>
          </p:cNvPr>
          <p:cNvSpPr>
            <a:spLocks noGrp="1"/>
          </p:cNvSpPr>
          <p:nvPr/>
        </p:nvSpPr>
        <p:spPr>
          <a:xfrm>
            <a:off x="742950" y="4667250"/>
            <a:ext cx="1733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问题门</a:t>
            </a:r>
          </a:p>
        </p:txBody>
      </p:sp>
      <p:sp>
        <p:nvSpPr>
          <p:cNvPr id="10" name="p22-body-0">
            <a:extLst>
              <a:ext uri="{FF2B5EF4-FFF2-40B4-BE49-F238E27FC236}">
                <a16:creationId xmlns:a16="http://schemas.microsoft.com/office/drawing/2014/main" id="{9662DEC0-086F-4DA0-AB25-58F9D4FCAA12}"/>
              </a:ext>
            </a:extLst>
          </p:cNvPr>
          <p:cNvSpPr>
            <a:spLocks noGrp="1"/>
          </p:cNvSpPr>
          <p:nvPr/>
        </p:nvSpPr>
        <p:spPr>
          <a:xfrm>
            <a:off x="609600" y="2038350"/>
            <a:ext cx="2000250" cy="990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值得问</a:t>
            </a:r>
          </a:p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问得清</a:t>
            </a:r>
          </a:p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做得完</a:t>
            </a:r>
          </a:p>
        </p:txBody>
      </p:sp>
      <p:sp>
        <p:nvSpPr>
          <p:cNvPr id="11" name="p22-gate-1">
            <a:extLst>
              <a:ext uri="{FF2B5EF4-FFF2-40B4-BE49-F238E27FC236}">
                <a16:creationId xmlns:a16="http://schemas.microsoft.com/office/drawing/2014/main" id="{97CBE42D-52AE-4404-8DBD-BD5E01B17078}"/>
              </a:ext>
            </a:extLst>
          </p:cNvPr>
          <p:cNvSpPr>
            <a:spLocks noGrp="1"/>
          </p:cNvSpPr>
          <p:nvPr/>
        </p:nvSpPr>
        <p:spPr>
          <a:xfrm>
            <a:off x="4171950" y="1828800"/>
            <a:ext cx="323850" cy="272415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2" name="p22-week-1">
            <a:extLst>
              <a:ext uri="{FF2B5EF4-FFF2-40B4-BE49-F238E27FC236}">
                <a16:creationId xmlns:a16="http://schemas.microsoft.com/office/drawing/2014/main" id="{F8E1050A-C108-42BD-92CD-0D82C835FCCF}"/>
              </a:ext>
            </a:extLst>
          </p:cNvPr>
          <p:cNvSpPr>
            <a:spLocks noGrp="1"/>
          </p:cNvSpPr>
          <p:nvPr/>
        </p:nvSpPr>
        <p:spPr>
          <a:xfrm>
            <a:off x="3733800" y="1200150"/>
            <a:ext cx="1200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W9</a:t>
            </a:r>
          </a:p>
        </p:txBody>
      </p:sp>
      <p:sp>
        <p:nvSpPr>
          <p:cNvPr id="13" name="p22-title-1">
            <a:extLst>
              <a:ext uri="{FF2B5EF4-FFF2-40B4-BE49-F238E27FC236}">
                <a16:creationId xmlns:a16="http://schemas.microsoft.com/office/drawing/2014/main" id="{E1876FB4-86AC-4E6C-A1CD-AF7AD5F5578A}"/>
              </a:ext>
            </a:extLst>
          </p:cNvPr>
          <p:cNvSpPr>
            <a:spLocks noGrp="1"/>
          </p:cNvSpPr>
          <p:nvPr/>
        </p:nvSpPr>
        <p:spPr>
          <a:xfrm>
            <a:off x="3467100" y="4667250"/>
            <a:ext cx="1733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判断门</a:t>
            </a:r>
          </a:p>
        </p:txBody>
      </p:sp>
      <p:sp>
        <p:nvSpPr>
          <p:cNvPr id="14" name="p22-body-1">
            <a:extLst>
              <a:ext uri="{FF2B5EF4-FFF2-40B4-BE49-F238E27FC236}">
                <a16:creationId xmlns:a16="http://schemas.microsoft.com/office/drawing/2014/main" id="{EBD34B8E-CA38-44D5-9E63-A7FC49C23199}"/>
              </a:ext>
            </a:extLst>
          </p:cNvPr>
          <p:cNvSpPr>
            <a:spLocks noGrp="1"/>
          </p:cNvSpPr>
          <p:nvPr/>
        </p:nvSpPr>
        <p:spPr>
          <a:xfrm>
            <a:off x="3333750" y="2038350"/>
            <a:ext cx="2000250" cy="990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判断有依据</a:t>
            </a:r>
          </a:p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实验可检验</a:t>
            </a:r>
          </a:p>
        </p:txBody>
      </p:sp>
      <p:sp>
        <p:nvSpPr>
          <p:cNvPr id="15" name="p22-gate-2">
            <a:extLst>
              <a:ext uri="{FF2B5EF4-FFF2-40B4-BE49-F238E27FC236}">
                <a16:creationId xmlns:a16="http://schemas.microsoft.com/office/drawing/2014/main" id="{3AC41DE4-5213-4BBF-8D7F-2996173E62E1}"/>
              </a:ext>
            </a:extLst>
          </p:cNvPr>
          <p:cNvSpPr>
            <a:spLocks noGrp="1"/>
          </p:cNvSpPr>
          <p:nvPr/>
        </p:nvSpPr>
        <p:spPr>
          <a:xfrm>
            <a:off x="6896100" y="1828800"/>
            <a:ext cx="323850" cy="272415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6" name="p22-week-2">
            <a:extLst>
              <a:ext uri="{FF2B5EF4-FFF2-40B4-BE49-F238E27FC236}">
                <a16:creationId xmlns:a16="http://schemas.microsoft.com/office/drawing/2014/main" id="{BBBCDECC-FC9E-4FD2-A3A3-C0C16416D798}"/>
              </a:ext>
            </a:extLst>
          </p:cNvPr>
          <p:cNvSpPr>
            <a:spLocks noGrp="1"/>
          </p:cNvSpPr>
          <p:nvPr/>
        </p:nvSpPr>
        <p:spPr>
          <a:xfrm>
            <a:off x="6457950" y="1200150"/>
            <a:ext cx="1200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W13</a:t>
            </a:r>
          </a:p>
        </p:txBody>
      </p:sp>
      <p:sp>
        <p:nvSpPr>
          <p:cNvPr id="17" name="p22-title-2">
            <a:extLst>
              <a:ext uri="{FF2B5EF4-FFF2-40B4-BE49-F238E27FC236}">
                <a16:creationId xmlns:a16="http://schemas.microsoft.com/office/drawing/2014/main" id="{A6460836-A405-4C10-9D0C-3A9BBFE2FCDD}"/>
              </a:ext>
            </a:extLst>
          </p:cNvPr>
          <p:cNvSpPr>
            <a:spLocks noGrp="1"/>
          </p:cNvSpPr>
          <p:nvPr/>
        </p:nvSpPr>
        <p:spPr>
          <a:xfrm>
            <a:off x="6191250" y="4667250"/>
            <a:ext cx="1733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验证门</a:t>
            </a:r>
          </a:p>
        </p:txBody>
      </p:sp>
      <p:sp>
        <p:nvSpPr>
          <p:cNvPr id="18" name="p22-body-2">
            <a:extLst>
              <a:ext uri="{FF2B5EF4-FFF2-40B4-BE49-F238E27FC236}">
                <a16:creationId xmlns:a16="http://schemas.microsoft.com/office/drawing/2014/main" id="{A6EE04D9-776A-41D2-BE8C-CA0F105FA433}"/>
              </a:ext>
            </a:extLst>
          </p:cNvPr>
          <p:cNvSpPr>
            <a:spLocks noGrp="1"/>
          </p:cNvSpPr>
          <p:nvPr/>
        </p:nvSpPr>
        <p:spPr>
          <a:xfrm>
            <a:off x="6057900" y="2038350"/>
            <a:ext cx="2000250" cy="990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结果可复核</a:t>
            </a:r>
          </a:p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工作流经评价</a:t>
            </a:r>
          </a:p>
        </p:txBody>
      </p:sp>
      <p:sp>
        <p:nvSpPr>
          <p:cNvPr id="19" name="p22-gate-3">
            <a:extLst>
              <a:ext uri="{FF2B5EF4-FFF2-40B4-BE49-F238E27FC236}">
                <a16:creationId xmlns:a16="http://schemas.microsoft.com/office/drawing/2014/main" id="{A089F835-AD9E-4B77-B80C-DD664BCF197B}"/>
              </a:ext>
            </a:extLst>
          </p:cNvPr>
          <p:cNvSpPr>
            <a:spLocks noGrp="1"/>
          </p:cNvSpPr>
          <p:nvPr/>
        </p:nvSpPr>
        <p:spPr>
          <a:xfrm>
            <a:off x="9620250" y="1828800"/>
            <a:ext cx="323850" cy="27241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20" name="p22-week-3">
            <a:extLst>
              <a:ext uri="{FF2B5EF4-FFF2-40B4-BE49-F238E27FC236}">
                <a16:creationId xmlns:a16="http://schemas.microsoft.com/office/drawing/2014/main" id="{D0C36051-7E83-4CBA-8253-ABBFC32BCAAD}"/>
              </a:ext>
            </a:extLst>
          </p:cNvPr>
          <p:cNvSpPr>
            <a:spLocks noGrp="1"/>
          </p:cNvSpPr>
          <p:nvPr/>
        </p:nvSpPr>
        <p:spPr>
          <a:xfrm>
            <a:off x="9182100" y="1200150"/>
            <a:ext cx="1200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W16</a:t>
            </a:r>
          </a:p>
        </p:txBody>
      </p:sp>
      <p:sp>
        <p:nvSpPr>
          <p:cNvPr id="21" name="p22-title-3">
            <a:extLst>
              <a:ext uri="{FF2B5EF4-FFF2-40B4-BE49-F238E27FC236}">
                <a16:creationId xmlns:a16="http://schemas.microsoft.com/office/drawing/2014/main" id="{8E9D239C-840C-4D37-9D8E-DCCA9C248F32}"/>
              </a:ext>
            </a:extLst>
          </p:cNvPr>
          <p:cNvSpPr>
            <a:spLocks noGrp="1"/>
          </p:cNvSpPr>
          <p:nvPr/>
        </p:nvSpPr>
        <p:spPr>
          <a:xfrm>
            <a:off x="8915400" y="4667250"/>
            <a:ext cx="1733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论证门</a:t>
            </a:r>
          </a:p>
        </p:txBody>
      </p:sp>
      <p:sp>
        <p:nvSpPr>
          <p:cNvPr id="22" name="p22-body-3">
            <a:extLst>
              <a:ext uri="{FF2B5EF4-FFF2-40B4-BE49-F238E27FC236}">
                <a16:creationId xmlns:a16="http://schemas.microsoft.com/office/drawing/2014/main" id="{8475317A-E61E-4809-B42B-F8496156279A}"/>
              </a:ext>
            </a:extLst>
          </p:cNvPr>
          <p:cNvSpPr>
            <a:spLocks noGrp="1"/>
          </p:cNvSpPr>
          <p:nvPr/>
        </p:nvSpPr>
        <p:spPr>
          <a:xfrm>
            <a:off x="8782050" y="2038350"/>
            <a:ext cx="2000250" cy="990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主张、证据</a:t>
            </a:r>
          </a:p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边界、披露完整</a:t>
            </a:r>
          </a:p>
        </p:txBody>
      </p:sp>
      <p:sp>
        <p:nvSpPr>
          <p:cNvPr id="23" name="p22-bottom">
            <a:extLst>
              <a:ext uri="{FF2B5EF4-FFF2-40B4-BE49-F238E27FC236}">
                <a16:creationId xmlns:a16="http://schemas.microsoft.com/office/drawing/2014/main" id="{D8D1ED72-7B28-4441-B3EB-26EF4E588F21}"/>
              </a:ext>
            </a:extLst>
          </p:cNvPr>
          <p:cNvSpPr>
            <a:spLocks noGrp="1"/>
          </p:cNvSpPr>
          <p:nvPr/>
        </p:nvSpPr>
        <p:spPr>
          <a:xfrm>
            <a:off x="2571750" y="5353050"/>
            <a:ext cx="704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错误进入下一阶段前，先补证据或退回修改。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追溯与核验：结论可反向检查，AI 输出不跳过核验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A4E99CEF-AF55-BA3C-ADF8-4E52E186DD8F}" type="slidenum">
              <a:t>23</a:t>
            </a:fld>
            <a:endParaRPr/>
          </a:p>
        </p:txBody>
      </p:sp>
      <p:sp>
        <p:nvSpPr>
          <p:cNvPr id="6" name="p23-a-0">
            <a:extLst>
              <a:ext uri="{FF2B5EF4-FFF2-40B4-BE49-F238E27FC236}">
                <a16:creationId xmlns:a16="http://schemas.microsoft.com/office/drawing/2014/main" id="{269E8C81-6454-4C3F-BCC5-6387BA3906ED}"/>
              </a:ext>
            </a:extLst>
          </p:cNvPr>
          <p:cNvSpPr>
            <a:spLocks noGrp="1"/>
          </p:cNvSpPr>
          <p:nvPr/>
        </p:nvSpPr>
        <p:spPr>
          <a:xfrm>
            <a:off x="2228850" y="2047875"/>
            <a:ext cx="438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23-c-0">
            <a:extLst>
              <a:ext uri="{FF2B5EF4-FFF2-40B4-BE49-F238E27FC236}">
                <a16:creationId xmlns:a16="http://schemas.microsoft.com/office/drawing/2014/main" id="{F76AB7D9-BC9A-42C0-B189-2DFF1DB1A760}"/>
              </a:ext>
            </a:extLst>
          </p:cNvPr>
          <p:cNvSpPr>
            <a:spLocks noGrp="1"/>
          </p:cNvSpPr>
          <p:nvPr/>
        </p:nvSpPr>
        <p:spPr>
          <a:xfrm>
            <a:off x="723900" y="1847850"/>
            <a:ext cx="156210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来源</a:t>
            </a:r>
          </a:p>
        </p:txBody>
      </p:sp>
      <p:sp>
        <p:nvSpPr>
          <p:cNvPr id="8" name="p23-a-1">
            <a:extLst>
              <a:ext uri="{FF2B5EF4-FFF2-40B4-BE49-F238E27FC236}">
                <a16:creationId xmlns:a16="http://schemas.microsoft.com/office/drawing/2014/main" id="{AFD50FBB-C4A0-427D-A03D-6BD83E89C367}"/>
              </a:ext>
            </a:extLst>
          </p:cNvPr>
          <p:cNvSpPr>
            <a:spLocks noGrp="1"/>
          </p:cNvSpPr>
          <p:nvPr/>
        </p:nvSpPr>
        <p:spPr>
          <a:xfrm>
            <a:off x="4095750" y="2047875"/>
            <a:ext cx="438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23-c-1">
            <a:extLst>
              <a:ext uri="{FF2B5EF4-FFF2-40B4-BE49-F238E27FC236}">
                <a16:creationId xmlns:a16="http://schemas.microsoft.com/office/drawing/2014/main" id="{F17B4239-362C-418C-8DE2-0DE7DF364B7B}"/>
              </a:ext>
            </a:extLst>
          </p:cNvPr>
          <p:cNvSpPr>
            <a:spLocks noGrp="1"/>
          </p:cNvSpPr>
          <p:nvPr/>
        </p:nvSpPr>
        <p:spPr>
          <a:xfrm>
            <a:off x="2590800" y="1847850"/>
            <a:ext cx="156210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主张</a:t>
            </a:r>
          </a:p>
        </p:txBody>
      </p:sp>
      <p:sp>
        <p:nvSpPr>
          <p:cNvPr id="10" name="p23-a-2">
            <a:extLst>
              <a:ext uri="{FF2B5EF4-FFF2-40B4-BE49-F238E27FC236}">
                <a16:creationId xmlns:a16="http://schemas.microsoft.com/office/drawing/2014/main" id="{5C0A3F0B-3E12-4CB8-83D4-59195A63557E}"/>
              </a:ext>
            </a:extLst>
          </p:cNvPr>
          <p:cNvSpPr>
            <a:spLocks noGrp="1"/>
          </p:cNvSpPr>
          <p:nvPr/>
        </p:nvSpPr>
        <p:spPr>
          <a:xfrm>
            <a:off x="5962650" y="2047875"/>
            <a:ext cx="438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23-c-2">
            <a:extLst>
              <a:ext uri="{FF2B5EF4-FFF2-40B4-BE49-F238E27FC236}">
                <a16:creationId xmlns:a16="http://schemas.microsoft.com/office/drawing/2014/main" id="{1267619B-582C-4B79-A7F7-A5A63E366B04}"/>
              </a:ext>
            </a:extLst>
          </p:cNvPr>
          <p:cNvSpPr>
            <a:spLocks noGrp="1"/>
          </p:cNvSpPr>
          <p:nvPr/>
        </p:nvSpPr>
        <p:spPr>
          <a:xfrm>
            <a:off x="4457700" y="1847850"/>
            <a:ext cx="156210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研究判断</a:t>
            </a:r>
          </a:p>
        </p:txBody>
      </p:sp>
      <p:sp>
        <p:nvSpPr>
          <p:cNvPr id="12" name="p23-a-3">
            <a:extLst>
              <a:ext uri="{FF2B5EF4-FFF2-40B4-BE49-F238E27FC236}">
                <a16:creationId xmlns:a16="http://schemas.microsoft.com/office/drawing/2014/main" id="{381CDDB9-E9C9-4BF1-B173-34E7DE4F6FD9}"/>
              </a:ext>
            </a:extLst>
          </p:cNvPr>
          <p:cNvSpPr>
            <a:spLocks noGrp="1"/>
          </p:cNvSpPr>
          <p:nvPr/>
        </p:nvSpPr>
        <p:spPr>
          <a:xfrm>
            <a:off x="7829550" y="2047875"/>
            <a:ext cx="438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23-c-3">
            <a:extLst>
              <a:ext uri="{FF2B5EF4-FFF2-40B4-BE49-F238E27FC236}">
                <a16:creationId xmlns:a16="http://schemas.microsoft.com/office/drawing/2014/main" id="{529156E6-313F-4268-8B59-5EF71386C027}"/>
              </a:ext>
            </a:extLst>
          </p:cNvPr>
          <p:cNvSpPr>
            <a:spLocks noGrp="1"/>
          </p:cNvSpPr>
          <p:nvPr/>
        </p:nvSpPr>
        <p:spPr>
          <a:xfrm>
            <a:off x="6324600" y="1847850"/>
            <a:ext cx="156210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行动／实验</a:t>
            </a:r>
          </a:p>
        </p:txBody>
      </p:sp>
      <p:sp>
        <p:nvSpPr>
          <p:cNvPr id="14" name="p23-a-4">
            <a:extLst>
              <a:ext uri="{FF2B5EF4-FFF2-40B4-BE49-F238E27FC236}">
                <a16:creationId xmlns:a16="http://schemas.microsoft.com/office/drawing/2014/main" id="{ABD21360-8D0F-4181-8337-B0BDAAF33067}"/>
              </a:ext>
            </a:extLst>
          </p:cNvPr>
          <p:cNvSpPr>
            <a:spLocks noGrp="1"/>
          </p:cNvSpPr>
          <p:nvPr/>
        </p:nvSpPr>
        <p:spPr>
          <a:xfrm>
            <a:off x="9696450" y="2047875"/>
            <a:ext cx="438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p23-c-4">
            <a:extLst>
              <a:ext uri="{FF2B5EF4-FFF2-40B4-BE49-F238E27FC236}">
                <a16:creationId xmlns:a16="http://schemas.microsoft.com/office/drawing/2014/main" id="{5901825C-E261-4CF7-8319-170586641653}"/>
              </a:ext>
            </a:extLst>
          </p:cNvPr>
          <p:cNvSpPr>
            <a:spLocks noGrp="1"/>
          </p:cNvSpPr>
          <p:nvPr/>
        </p:nvSpPr>
        <p:spPr>
          <a:xfrm>
            <a:off x="8191500" y="1847850"/>
            <a:ext cx="156210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16" name="p23-c-5">
            <a:extLst>
              <a:ext uri="{FF2B5EF4-FFF2-40B4-BE49-F238E27FC236}">
                <a16:creationId xmlns:a16="http://schemas.microsoft.com/office/drawing/2014/main" id="{021368EC-CAD4-4E7D-A7D6-B0EA006C84C8}"/>
              </a:ext>
            </a:extLst>
          </p:cNvPr>
          <p:cNvSpPr>
            <a:spLocks noGrp="1"/>
          </p:cNvSpPr>
          <p:nvPr/>
        </p:nvSpPr>
        <p:spPr>
          <a:xfrm>
            <a:off x="10058400" y="1847850"/>
            <a:ext cx="1562100" cy="7810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7" name="p23-forward">
            <a:extLst>
              <a:ext uri="{FF2B5EF4-FFF2-40B4-BE49-F238E27FC236}">
                <a16:creationId xmlns:a16="http://schemas.microsoft.com/office/drawing/2014/main" id="{778EB7C5-A1B9-4C70-95DB-29239A7E1D8A}"/>
              </a:ext>
            </a:extLst>
          </p:cNvPr>
          <p:cNvSpPr>
            <a:spLocks noGrp="1"/>
          </p:cNvSpPr>
          <p:nvPr/>
        </p:nvSpPr>
        <p:spPr>
          <a:xfrm>
            <a:off x="781050" y="123825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研究推进 →</a:t>
            </a:r>
          </a:p>
        </p:txBody>
      </p:sp>
      <p:sp>
        <p:nvSpPr>
          <p:cNvPr id="18" name="p23-back">
            <a:extLst>
              <a:ext uri="{FF2B5EF4-FFF2-40B4-BE49-F238E27FC236}">
                <a16:creationId xmlns:a16="http://schemas.microsoft.com/office/drawing/2014/main" id="{8B9EA05D-8F47-46E5-B677-FAD1B611783B}"/>
              </a:ext>
            </a:extLst>
          </p:cNvPr>
          <p:cNvSpPr>
            <a:spLocks noGrp="1"/>
          </p:cNvSpPr>
          <p:nvPr/>
        </p:nvSpPr>
        <p:spPr>
          <a:xfrm rot="10800000">
            <a:off x="1219200" y="3124200"/>
            <a:ext cx="9715500" cy="3810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9" name="p23-back-label">
            <a:extLst>
              <a:ext uri="{FF2B5EF4-FFF2-40B4-BE49-F238E27FC236}">
                <a16:creationId xmlns:a16="http://schemas.microsoft.com/office/drawing/2014/main" id="{1F815060-A951-4A34-8B75-BA291DEA953A}"/>
              </a:ext>
            </a:extLst>
          </p:cNvPr>
          <p:cNvSpPr>
            <a:spLocks noGrp="1"/>
          </p:cNvSpPr>
          <p:nvPr/>
        </p:nvSpPr>
        <p:spPr>
          <a:xfrm>
            <a:off x="2343150" y="3257550"/>
            <a:ext cx="7810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← 反向审查：来自哪里？谁在什么条件下作出什么决定？</a:t>
            </a:r>
          </a:p>
        </p:txBody>
      </p:sp>
      <p:sp>
        <p:nvSpPr>
          <p:cNvPr id="20" name="p23-ai">
            <a:extLst>
              <a:ext uri="{FF2B5EF4-FFF2-40B4-BE49-F238E27FC236}">
                <a16:creationId xmlns:a16="http://schemas.microsoft.com/office/drawing/2014/main" id="{327D5CC8-FF84-42B0-9892-06B297B123FB}"/>
              </a:ext>
            </a:extLst>
          </p:cNvPr>
          <p:cNvSpPr>
            <a:spLocks noGrp="1"/>
          </p:cNvSpPr>
          <p:nvPr/>
        </p:nvSpPr>
        <p:spPr>
          <a:xfrm>
            <a:off x="1085850" y="4267200"/>
            <a:ext cx="2457450" cy="685800"/>
          </a:xfrm>
          <a:prstGeom prst="rect">
            <a:avLst/>
          </a:prstGeom>
          <a:solidFill>
            <a:srgbClr val="E8F0F6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2F638A"/>
                </a:solidFill>
              </a:defRPr>
            </a:pPr>
            <a:r>
              <a:rPr sz="18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AI 输出候选</a:t>
            </a:r>
          </a:p>
        </p:txBody>
      </p:sp>
      <p:sp>
        <p:nvSpPr>
          <p:cNvPr id="21" name="p23-gate">
            <a:extLst>
              <a:ext uri="{FF2B5EF4-FFF2-40B4-BE49-F238E27FC236}">
                <a16:creationId xmlns:a16="http://schemas.microsoft.com/office/drawing/2014/main" id="{80BD6F7A-B42A-47C2-BBCE-C6886BA1332C}"/>
              </a:ext>
            </a:extLst>
          </p:cNvPr>
          <p:cNvSpPr>
            <a:spLocks noGrp="1"/>
          </p:cNvSpPr>
          <p:nvPr/>
        </p:nvSpPr>
        <p:spPr>
          <a:xfrm>
            <a:off x="4476750" y="4171950"/>
            <a:ext cx="2000250" cy="87630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人工核验</a:t>
            </a:r>
          </a:p>
        </p:txBody>
      </p:sp>
      <p:sp>
        <p:nvSpPr>
          <p:cNvPr id="22" name="p23-arrow1">
            <a:extLst>
              <a:ext uri="{FF2B5EF4-FFF2-40B4-BE49-F238E27FC236}">
                <a16:creationId xmlns:a16="http://schemas.microsoft.com/office/drawing/2014/main" id="{6ADD2672-5A6A-4B87-89B9-277329E10298}"/>
              </a:ext>
            </a:extLst>
          </p:cNvPr>
          <p:cNvSpPr>
            <a:spLocks noGrp="1"/>
          </p:cNvSpPr>
          <p:nvPr/>
        </p:nvSpPr>
        <p:spPr>
          <a:xfrm>
            <a:off x="3619500" y="4362450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667684"/>
                </a:solidFill>
              </a:defRPr>
            </a:pPr>
            <a:r>
              <a:rPr sz="25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p23-arrow2">
            <a:extLst>
              <a:ext uri="{FF2B5EF4-FFF2-40B4-BE49-F238E27FC236}">
                <a16:creationId xmlns:a16="http://schemas.microsoft.com/office/drawing/2014/main" id="{D999BC70-901E-48B9-9F6E-5F8DF982E96E}"/>
              </a:ext>
            </a:extLst>
          </p:cNvPr>
          <p:cNvSpPr>
            <a:spLocks noGrp="1"/>
          </p:cNvSpPr>
          <p:nvPr/>
        </p:nvSpPr>
        <p:spPr>
          <a:xfrm>
            <a:off x="6591300" y="4362450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667684"/>
                </a:solidFill>
              </a:defRPr>
            </a:pPr>
            <a:r>
              <a:rPr sz="25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p23-evidence">
            <a:extLst>
              <a:ext uri="{FF2B5EF4-FFF2-40B4-BE49-F238E27FC236}">
                <a16:creationId xmlns:a16="http://schemas.microsoft.com/office/drawing/2014/main" id="{3CB69983-BDF0-41AE-A333-6E408C306283}"/>
              </a:ext>
            </a:extLst>
          </p:cNvPr>
          <p:cNvSpPr>
            <a:spLocks noGrp="1"/>
          </p:cNvSpPr>
          <p:nvPr/>
        </p:nvSpPr>
        <p:spPr>
          <a:xfrm>
            <a:off x="7486650" y="4267200"/>
            <a:ext cx="2952750" cy="685800"/>
          </a:xfrm>
          <a:prstGeom prst="rect">
            <a:avLst/>
          </a:prstGeom>
          <a:solidFill>
            <a:srgbClr val="E7F2E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28745A"/>
                </a:solidFill>
              </a:defRPr>
            </a:pPr>
            <a:r>
              <a:rPr sz="18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证据 / 结论</a:t>
            </a:r>
          </a:p>
        </p:txBody>
      </p:sp>
      <p:sp>
        <p:nvSpPr>
          <p:cNvPr id="25" name="p23-bottom">
            <a:extLst>
              <a:ext uri="{FF2B5EF4-FFF2-40B4-BE49-F238E27FC236}">
                <a16:creationId xmlns:a16="http://schemas.microsoft.com/office/drawing/2014/main" id="{22725264-6735-4FE4-BE48-7F3C3C67E7E9}"/>
              </a:ext>
            </a:extLst>
          </p:cNvPr>
          <p:cNvSpPr>
            <a:spLocks noGrp="1"/>
          </p:cNvSpPr>
          <p:nvPr/>
        </p:nvSpPr>
        <p:spPr>
          <a:xfrm>
            <a:off x="4000500" y="5295900"/>
            <a:ext cx="419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输出不跳过核验。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演示目标：把 AI 建议变成可检查的项目变化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A59AF09-D197-0193-A7DE-FAAF0B691058}" type="slidenum">
              <a:t>24</a:t>
            </a:fld>
            <a:endParaRPr/>
          </a:p>
        </p:txBody>
      </p:sp>
      <p:sp>
        <p:nvSpPr>
          <p:cNvPr id="6" name="p24-task">
            <a:extLst>
              <a:ext uri="{FF2B5EF4-FFF2-40B4-BE49-F238E27FC236}">
                <a16:creationId xmlns:a16="http://schemas.microsoft.com/office/drawing/2014/main" id="{017359E1-8A12-4ACE-B0ED-CABA73A02503}"/>
              </a:ext>
            </a:extLst>
          </p:cNvPr>
          <p:cNvSpPr>
            <a:spLocks noGrp="1"/>
          </p:cNvSpPr>
          <p:nvPr/>
        </p:nvSpPr>
        <p:spPr>
          <a:xfrm>
            <a:off x="781050" y="1066800"/>
            <a:ext cx="2286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演示任务</a:t>
            </a:r>
          </a:p>
        </p:txBody>
      </p:sp>
      <p:sp>
        <p:nvSpPr>
          <p:cNvPr id="7" name="p24-main">
            <a:extLst>
              <a:ext uri="{FF2B5EF4-FFF2-40B4-BE49-F238E27FC236}">
                <a16:creationId xmlns:a16="http://schemas.microsoft.com/office/drawing/2014/main" id="{E79A9E7D-A164-4081-BDFC-98A6BB90EEDE}"/>
              </a:ext>
            </a:extLst>
          </p:cNvPr>
          <p:cNvSpPr>
            <a:spLocks noGrp="1"/>
          </p:cNvSpPr>
          <p:nvPr/>
        </p:nvSpPr>
        <p:spPr>
          <a:xfrm>
            <a:off x="781050" y="1562100"/>
            <a:ext cx="5334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收敛一个初步研究问题</a:t>
            </a:r>
          </a:p>
        </p:txBody>
      </p:sp>
      <p:sp>
        <p:nvSpPr>
          <p:cNvPr id="8" name="p24-tree">
            <a:extLst>
              <a:ext uri="{FF2B5EF4-FFF2-40B4-BE49-F238E27FC236}">
                <a16:creationId xmlns:a16="http://schemas.microsoft.com/office/drawing/2014/main" id="{7E79C003-09C3-48F2-9404-4E1CC7C7656D}"/>
              </a:ext>
            </a:extLst>
          </p:cNvPr>
          <p:cNvSpPr>
            <a:spLocks noGrp="1"/>
          </p:cNvSpPr>
          <p:nvPr/>
        </p:nvSpPr>
        <p:spPr>
          <a:xfrm>
            <a:off x="876300" y="2724150"/>
            <a:ext cx="4857750" cy="22479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t"/>
          <a:lstStyle/>
          <a:p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demo-project/</a:t>
            </a:r>
          </a:p>
          <a:p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AGENTS.md</a:t>
            </a:r>
          </a:p>
          <a:p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problem-definition.md</a:t>
            </a:r>
          </a:p>
          <a:p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ai-usage-log.md</a:t>
            </a:r>
          </a:p>
          <a:p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└── notes/</a:t>
            </a:r>
          </a:p>
        </p:txBody>
      </p:sp>
      <p:sp>
        <p:nvSpPr>
          <p:cNvPr id="9" name="p24-n-0">
            <a:extLst>
              <a:ext uri="{FF2B5EF4-FFF2-40B4-BE49-F238E27FC236}">
                <a16:creationId xmlns:a16="http://schemas.microsoft.com/office/drawing/2014/main" id="{F1585757-2232-4E51-AE5B-0636F7C5607C}"/>
              </a:ext>
            </a:extLst>
          </p:cNvPr>
          <p:cNvSpPr>
            <a:spLocks noGrp="1"/>
          </p:cNvSpPr>
          <p:nvPr/>
        </p:nvSpPr>
        <p:spPr>
          <a:xfrm>
            <a:off x="6819900" y="1123950"/>
            <a:ext cx="533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p24-c-0">
            <a:extLst>
              <a:ext uri="{FF2B5EF4-FFF2-40B4-BE49-F238E27FC236}">
                <a16:creationId xmlns:a16="http://schemas.microsoft.com/office/drawing/2014/main" id="{E733AD60-723A-4BFA-BC1B-015A6A4F72FB}"/>
              </a:ext>
            </a:extLst>
          </p:cNvPr>
          <p:cNvSpPr>
            <a:spLocks noGrp="1"/>
          </p:cNvSpPr>
          <p:nvPr/>
        </p:nvSpPr>
        <p:spPr>
          <a:xfrm>
            <a:off x="7486650" y="1123950"/>
            <a:ext cx="3276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公开虚构内容</a:t>
            </a:r>
          </a:p>
        </p:txBody>
      </p:sp>
      <p:sp>
        <p:nvSpPr>
          <p:cNvPr id="11" name="p24-n-1">
            <a:extLst>
              <a:ext uri="{FF2B5EF4-FFF2-40B4-BE49-F238E27FC236}">
                <a16:creationId xmlns:a16="http://schemas.microsoft.com/office/drawing/2014/main" id="{A6D6C780-EC0E-4C17-8011-A0292BC13247}"/>
              </a:ext>
            </a:extLst>
          </p:cNvPr>
          <p:cNvSpPr>
            <a:spLocks noGrp="1"/>
          </p:cNvSpPr>
          <p:nvPr/>
        </p:nvSpPr>
        <p:spPr>
          <a:xfrm>
            <a:off x="6819900" y="1809750"/>
            <a:ext cx="533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p24-c-1">
            <a:extLst>
              <a:ext uri="{FF2B5EF4-FFF2-40B4-BE49-F238E27FC236}">
                <a16:creationId xmlns:a16="http://schemas.microsoft.com/office/drawing/2014/main" id="{58BD2F78-EFB3-494F-A9F3-169374A614DF}"/>
              </a:ext>
            </a:extLst>
          </p:cNvPr>
          <p:cNvSpPr>
            <a:spLocks noGrp="1"/>
          </p:cNvSpPr>
          <p:nvPr/>
        </p:nvSpPr>
        <p:spPr>
          <a:xfrm>
            <a:off x="7486650" y="1809750"/>
            <a:ext cx="3276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限定项目目录</a:t>
            </a:r>
          </a:p>
        </p:txBody>
      </p:sp>
      <p:sp>
        <p:nvSpPr>
          <p:cNvPr id="13" name="p24-n-2">
            <a:extLst>
              <a:ext uri="{FF2B5EF4-FFF2-40B4-BE49-F238E27FC236}">
                <a16:creationId xmlns:a16="http://schemas.microsoft.com/office/drawing/2014/main" id="{B0470972-90EF-40BC-A221-08533CCA5B82}"/>
              </a:ext>
            </a:extLst>
          </p:cNvPr>
          <p:cNvSpPr>
            <a:spLocks noGrp="1"/>
          </p:cNvSpPr>
          <p:nvPr/>
        </p:nvSpPr>
        <p:spPr>
          <a:xfrm>
            <a:off x="6819900" y="2495550"/>
            <a:ext cx="533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p24-c-2">
            <a:extLst>
              <a:ext uri="{FF2B5EF4-FFF2-40B4-BE49-F238E27FC236}">
                <a16:creationId xmlns:a16="http://schemas.microsoft.com/office/drawing/2014/main" id="{B55BC099-6814-41B2-99A9-B20F14A5BF5F}"/>
              </a:ext>
            </a:extLst>
          </p:cNvPr>
          <p:cNvSpPr>
            <a:spLocks noGrp="1"/>
          </p:cNvSpPr>
          <p:nvPr/>
        </p:nvSpPr>
        <p:spPr>
          <a:xfrm>
            <a:off x="7486650" y="2495550"/>
            <a:ext cx="3276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先只读</a:t>
            </a:r>
          </a:p>
        </p:txBody>
      </p:sp>
      <p:sp>
        <p:nvSpPr>
          <p:cNvPr id="15" name="p24-n-3">
            <a:extLst>
              <a:ext uri="{FF2B5EF4-FFF2-40B4-BE49-F238E27FC236}">
                <a16:creationId xmlns:a16="http://schemas.microsoft.com/office/drawing/2014/main" id="{031FE64E-1F13-4CB5-A9DB-EF90F8A7C510}"/>
              </a:ext>
            </a:extLst>
          </p:cNvPr>
          <p:cNvSpPr>
            <a:spLocks noGrp="1"/>
          </p:cNvSpPr>
          <p:nvPr/>
        </p:nvSpPr>
        <p:spPr>
          <a:xfrm>
            <a:off x="6819900" y="3181350"/>
            <a:ext cx="533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p24-c-3">
            <a:extLst>
              <a:ext uri="{FF2B5EF4-FFF2-40B4-BE49-F238E27FC236}">
                <a16:creationId xmlns:a16="http://schemas.microsoft.com/office/drawing/2014/main" id="{A2A2AFB2-AC40-4377-B05F-185EFF5276F3}"/>
              </a:ext>
            </a:extLst>
          </p:cNvPr>
          <p:cNvSpPr>
            <a:spLocks noGrp="1"/>
          </p:cNvSpPr>
          <p:nvPr/>
        </p:nvSpPr>
        <p:spPr>
          <a:xfrm>
            <a:off x="7486650" y="3181350"/>
            <a:ext cx="3276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后写回</a:t>
            </a:r>
          </a:p>
        </p:txBody>
      </p:sp>
      <p:sp>
        <p:nvSpPr>
          <p:cNvPr id="17" name="p24-n-4">
            <a:extLst>
              <a:ext uri="{FF2B5EF4-FFF2-40B4-BE49-F238E27FC236}">
                <a16:creationId xmlns:a16="http://schemas.microsoft.com/office/drawing/2014/main" id="{C8698089-7BC6-4AD7-9D1B-1C81FA6D08D9}"/>
              </a:ext>
            </a:extLst>
          </p:cNvPr>
          <p:cNvSpPr>
            <a:spLocks noGrp="1"/>
          </p:cNvSpPr>
          <p:nvPr/>
        </p:nvSpPr>
        <p:spPr>
          <a:xfrm>
            <a:off x="6819900" y="3867150"/>
            <a:ext cx="533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8" name="p24-c-4">
            <a:extLst>
              <a:ext uri="{FF2B5EF4-FFF2-40B4-BE49-F238E27FC236}">
                <a16:creationId xmlns:a16="http://schemas.microsoft.com/office/drawing/2014/main" id="{64D71210-2749-4DBB-B243-49C681A8B948}"/>
              </a:ext>
            </a:extLst>
          </p:cNvPr>
          <p:cNvSpPr>
            <a:spLocks noGrp="1"/>
          </p:cNvSpPr>
          <p:nvPr/>
        </p:nvSpPr>
        <p:spPr>
          <a:xfrm>
            <a:off x="7486650" y="3867150"/>
            <a:ext cx="3276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 diff</a:t>
            </a:r>
          </a:p>
        </p:txBody>
      </p:sp>
      <p:sp>
        <p:nvSpPr>
          <p:cNvPr id="19" name="p24-n-5">
            <a:extLst>
              <a:ext uri="{FF2B5EF4-FFF2-40B4-BE49-F238E27FC236}">
                <a16:creationId xmlns:a16="http://schemas.microsoft.com/office/drawing/2014/main" id="{9BC49D41-E1A9-48A4-A5F1-6183F28E644A}"/>
              </a:ext>
            </a:extLst>
          </p:cNvPr>
          <p:cNvSpPr>
            <a:spLocks noGrp="1"/>
          </p:cNvSpPr>
          <p:nvPr/>
        </p:nvSpPr>
        <p:spPr>
          <a:xfrm>
            <a:off x="6819900" y="4552950"/>
            <a:ext cx="533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0" name="p24-c-5">
            <a:extLst>
              <a:ext uri="{FF2B5EF4-FFF2-40B4-BE49-F238E27FC236}">
                <a16:creationId xmlns:a16="http://schemas.microsoft.com/office/drawing/2014/main" id="{DFE9EAE0-CFA6-466B-BC9A-B70CA396A1BC}"/>
              </a:ext>
            </a:extLst>
          </p:cNvPr>
          <p:cNvSpPr>
            <a:spLocks noGrp="1"/>
          </p:cNvSpPr>
          <p:nvPr/>
        </p:nvSpPr>
        <p:spPr>
          <a:xfrm>
            <a:off x="7486650" y="4552950"/>
            <a:ext cx="3276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记录 AI 使用</a:t>
            </a:r>
          </a:p>
        </p:txBody>
      </p:sp>
      <p:sp>
        <p:nvSpPr>
          <p:cNvPr id="21" name="p24-fallback">
            <a:extLst>
              <a:ext uri="{FF2B5EF4-FFF2-40B4-BE49-F238E27FC236}">
                <a16:creationId xmlns:a16="http://schemas.microsoft.com/office/drawing/2014/main" id="{443FF42A-5B83-47E2-973C-F9E7F0642538}"/>
              </a:ext>
            </a:extLst>
          </p:cNvPr>
          <p:cNvSpPr>
            <a:spLocks noGrp="1"/>
          </p:cNvSpPr>
          <p:nvPr/>
        </p:nvSpPr>
        <p:spPr>
          <a:xfrm>
            <a:off x="2286000" y="5314950"/>
            <a:ext cx="7620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425" b="0">
                <a:solidFill>
                  <a:srgbClr val="667684"/>
                </a:solidFill>
              </a:defRPr>
            </a:pPr>
            <a:r>
              <a:rPr sz="142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模型 / 网络不可用 → 使用固定截图或纸面契约继续判断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第一轮只允许分析，不允许写入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F3AE1AE4-D79E-94D6-E825-3FC6C21A77D2}" type="slidenum">
              <a:t>25</a:t>
            </a:fld>
            <a:endParaRPr/>
          </a:p>
        </p:txBody>
      </p:sp>
      <p:sp>
        <p:nvSpPr>
          <p:cNvPr id="6" name="p25-contract">
            <a:extLst>
              <a:ext uri="{FF2B5EF4-FFF2-40B4-BE49-F238E27FC236}">
                <a16:creationId xmlns:a16="http://schemas.microsoft.com/office/drawing/2014/main" id="{900B1A9B-95DA-4DF3-9F24-603E985B8BE5}"/>
              </a:ext>
            </a:extLst>
          </p:cNvPr>
          <p:cNvSpPr>
            <a:spLocks noGrp="1"/>
          </p:cNvSpPr>
          <p:nvPr/>
        </p:nvSpPr>
        <p:spPr>
          <a:xfrm>
            <a:off x="762000" y="102870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READ-ONLY TASK CONTRACT</a:t>
            </a:r>
          </a:p>
        </p:txBody>
      </p:sp>
      <p:sp>
        <p:nvSpPr>
          <p:cNvPr id="7" name="p25-code">
            <a:extLst>
              <a:ext uri="{FF2B5EF4-FFF2-40B4-BE49-F238E27FC236}">
                <a16:creationId xmlns:a16="http://schemas.microsoft.com/office/drawing/2014/main" id="{E931B038-6649-470E-8E7D-4EA81E7523D9}"/>
              </a:ext>
            </a:extLst>
          </p:cNvPr>
          <p:cNvSpPr>
            <a:spLocks noGrp="1"/>
          </p:cNvSpPr>
          <p:nvPr/>
        </p:nvSpPr>
        <p:spPr>
          <a:xfrm>
            <a:off x="666750" y="1447800"/>
            <a:ext cx="7239000" cy="3848100"/>
          </a:xfrm>
          <a:prstGeom prst="rect">
            <a:avLst/>
          </a:prstGeom>
          <a:solidFill>
            <a:srgbClr val="F5F6F7"/>
          </a:solidFill>
          <a:ln w="9525">
            <a:solidFill>
              <a:srgbClr val="D6DDE2"/>
            </a:solidFill>
            <a:prstDash val="solid"/>
          </a:ln>
        </p:spPr>
        <p:txBody>
          <a:bodyPr lIns="190500" tIns="152400" rIns="190500" bIns="152400" anchor="t"/>
          <a:lstStyle/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读取 AGENTS.md 和 problem-definition.md。</a:t>
            </a:r>
          </a:p>
          <a:p>
            <a:endParaRPr sz="1500" b="0">
              <a:solidFill>
                <a:srgbClr val="263746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目标：提出三个范围收敛建议。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每条包含：修改范围｜依据｜可能损失｜待确认问题。</a:t>
            </a:r>
          </a:p>
          <a:p>
            <a:endParaRPr sz="1500" b="0">
              <a:solidFill>
                <a:srgbClr val="263746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限制：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不修改任何文件；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不访问项目以外目录；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不联网；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不把建议写成已证实事实。</a:t>
            </a:r>
          </a:p>
        </p:txBody>
      </p:sp>
      <p:sp>
        <p:nvSpPr>
          <p:cNvPr id="8" name="p25-read">
            <a:extLst>
              <a:ext uri="{FF2B5EF4-FFF2-40B4-BE49-F238E27FC236}">
                <a16:creationId xmlns:a16="http://schemas.microsoft.com/office/drawing/2014/main" id="{B22E938B-C4C0-498A-B43C-3C1584DEC8E3}"/>
              </a:ext>
            </a:extLst>
          </p:cNvPr>
          <p:cNvSpPr>
            <a:spLocks noGrp="1"/>
          </p:cNvSpPr>
          <p:nvPr/>
        </p:nvSpPr>
        <p:spPr>
          <a:xfrm>
            <a:off x="8610600" y="1581150"/>
            <a:ext cx="209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允许</a:t>
            </a:r>
          </a:p>
        </p:txBody>
      </p:sp>
      <p:sp>
        <p:nvSpPr>
          <p:cNvPr id="9" name="p25-read2">
            <a:extLst>
              <a:ext uri="{FF2B5EF4-FFF2-40B4-BE49-F238E27FC236}">
                <a16:creationId xmlns:a16="http://schemas.microsoft.com/office/drawing/2014/main" id="{1245766F-2F37-46E7-9217-B7B62368274E}"/>
              </a:ext>
            </a:extLst>
          </p:cNvPr>
          <p:cNvSpPr>
            <a:spLocks noGrp="1"/>
          </p:cNvSpPr>
          <p:nvPr/>
        </p:nvSpPr>
        <p:spPr>
          <a:xfrm>
            <a:off x="8420100" y="2133600"/>
            <a:ext cx="2476500" cy="1066800"/>
          </a:xfrm>
          <a:prstGeom prst="rect">
            <a:avLst/>
          </a:prstGeom>
          <a:solidFill>
            <a:srgbClr val="E7F2E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读取指定文件</a:t>
            </a:r>
          </a:p>
          <a:p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生成候选建议</a:t>
            </a:r>
          </a:p>
        </p:txBody>
      </p:sp>
      <p:sp>
        <p:nvSpPr>
          <p:cNvPr id="10" name="p25-stop">
            <a:extLst>
              <a:ext uri="{FF2B5EF4-FFF2-40B4-BE49-F238E27FC236}">
                <a16:creationId xmlns:a16="http://schemas.microsoft.com/office/drawing/2014/main" id="{8E461F86-F8BF-4250-8DF5-64530E9BD4AE}"/>
              </a:ext>
            </a:extLst>
          </p:cNvPr>
          <p:cNvSpPr>
            <a:spLocks noGrp="1"/>
          </p:cNvSpPr>
          <p:nvPr/>
        </p:nvSpPr>
        <p:spPr>
          <a:xfrm>
            <a:off x="8610600" y="3524250"/>
            <a:ext cx="209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禁止</a:t>
            </a:r>
          </a:p>
        </p:txBody>
      </p:sp>
      <p:sp>
        <p:nvSpPr>
          <p:cNvPr id="11" name="p25-stop2">
            <a:extLst>
              <a:ext uri="{FF2B5EF4-FFF2-40B4-BE49-F238E27FC236}">
                <a16:creationId xmlns:a16="http://schemas.microsoft.com/office/drawing/2014/main" id="{59EA1217-5B3A-4B9B-9742-F57743D11DFF}"/>
              </a:ext>
            </a:extLst>
          </p:cNvPr>
          <p:cNvSpPr>
            <a:spLocks noGrp="1"/>
          </p:cNvSpPr>
          <p:nvPr/>
        </p:nvSpPr>
        <p:spPr>
          <a:xfrm>
            <a:off x="8420100" y="4076700"/>
            <a:ext cx="2476500" cy="106680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写入｜越界｜联网</a:t>
            </a:r>
          </a:p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把候选升级为事实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先检查建议是否值得采用，再决定是否写入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AB55966-FA28-BC73-EA9E-53DF014DF033}" type="slidenum">
              <a:t>26</a:t>
            </a:fld>
            <a:endParaRPr/>
          </a:p>
        </p:txBody>
      </p:sp>
      <p:sp>
        <p:nvSpPr>
          <p:cNvPr id="6" name="p26-divider">
            <a:extLst>
              <a:ext uri="{FF2B5EF4-FFF2-40B4-BE49-F238E27FC236}">
                <a16:creationId xmlns:a16="http://schemas.microsoft.com/office/drawing/2014/main" id="{E599A6F2-6B5E-47F0-BB7D-0C26AC445D1E}"/>
              </a:ext>
            </a:extLst>
          </p:cNvPr>
          <p:cNvSpPr>
            <a:spLocks noGrp="1"/>
          </p:cNvSpPr>
          <p:nvPr/>
        </p:nvSpPr>
        <p:spPr>
          <a:xfrm rot="5400000">
            <a:off x="5953125" y="3009900"/>
            <a:ext cx="356235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7" name="p26-feed-0">
            <a:extLst>
              <a:ext uri="{FF2B5EF4-FFF2-40B4-BE49-F238E27FC236}">
                <a16:creationId xmlns:a16="http://schemas.microsoft.com/office/drawing/2014/main" id="{6C5F5F27-2B83-4044-A968-68004CBFFDAB}"/>
              </a:ext>
            </a:extLst>
          </p:cNvPr>
          <p:cNvSpPr>
            <a:spLocks noGrp="1"/>
          </p:cNvSpPr>
          <p:nvPr/>
        </p:nvSpPr>
        <p:spPr>
          <a:xfrm>
            <a:off x="7124700" y="1966913"/>
            <a:ext cx="609600" cy="28575"/>
          </a:xfrm>
          <a:prstGeom prst="rect">
            <a:avLst/>
          </a:prstGeom>
          <a:solidFill>
            <a:srgbClr val="28745A"/>
          </a:solidFill>
          <a:ln w="0">
            <a:noFill/>
            <a:prstDash val="solid"/>
          </a:ln>
        </p:spPr>
      </p:sp>
      <p:sp>
        <p:nvSpPr>
          <p:cNvPr id="8" name="p26-feed-1">
            <a:extLst>
              <a:ext uri="{FF2B5EF4-FFF2-40B4-BE49-F238E27FC236}">
                <a16:creationId xmlns:a16="http://schemas.microsoft.com/office/drawing/2014/main" id="{51143AEE-5A77-4DE6-BE4E-948CFB1B682C}"/>
              </a:ext>
            </a:extLst>
          </p:cNvPr>
          <p:cNvSpPr>
            <a:spLocks noGrp="1"/>
          </p:cNvSpPr>
          <p:nvPr/>
        </p:nvSpPr>
        <p:spPr>
          <a:xfrm>
            <a:off x="7124700" y="3014663"/>
            <a:ext cx="609600" cy="28575"/>
          </a:xfrm>
          <a:prstGeom prst="rect">
            <a:avLst/>
          </a:prstGeom>
          <a:solidFill>
            <a:srgbClr val="A86C12"/>
          </a:solidFill>
          <a:ln w="0">
            <a:noFill/>
            <a:prstDash val="solid"/>
          </a:ln>
        </p:spPr>
      </p:sp>
      <p:sp>
        <p:nvSpPr>
          <p:cNvPr id="9" name="p26-feed-2">
            <a:extLst>
              <a:ext uri="{FF2B5EF4-FFF2-40B4-BE49-F238E27FC236}">
                <a16:creationId xmlns:a16="http://schemas.microsoft.com/office/drawing/2014/main" id="{F5069609-BB2E-40AD-BF55-A688FA5F0FCC}"/>
              </a:ext>
            </a:extLst>
          </p:cNvPr>
          <p:cNvSpPr>
            <a:spLocks noGrp="1"/>
          </p:cNvSpPr>
          <p:nvPr/>
        </p:nvSpPr>
        <p:spPr>
          <a:xfrm>
            <a:off x="7124700" y="4062413"/>
            <a:ext cx="60960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0" name="p26-review-rail">
            <a:extLst>
              <a:ext uri="{FF2B5EF4-FFF2-40B4-BE49-F238E27FC236}">
                <a16:creationId xmlns:a16="http://schemas.microsoft.com/office/drawing/2014/main" id="{67C0D8DB-F207-4929-A7A4-B3BB42DDC172}"/>
              </a:ext>
            </a:extLst>
          </p:cNvPr>
          <p:cNvSpPr>
            <a:spLocks noGrp="1"/>
          </p:cNvSpPr>
          <p:nvPr/>
        </p:nvSpPr>
        <p:spPr>
          <a:xfrm rot="5400000">
            <a:off x="6591300" y="2995613"/>
            <a:ext cx="304800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1" name="p26-fiction">
            <a:extLst>
              <a:ext uri="{FF2B5EF4-FFF2-40B4-BE49-F238E27FC236}">
                <a16:creationId xmlns:a16="http://schemas.microsoft.com/office/drawing/2014/main" id="{D4EDF621-4138-4B98-862F-71A989F9F3AA}"/>
              </a:ext>
            </a:extLst>
          </p:cNvPr>
          <p:cNvSpPr>
            <a:spLocks noGrp="1"/>
          </p:cNvSpPr>
          <p:nvPr/>
        </p:nvSpPr>
        <p:spPr>
          <a:xfrm>
            <a:off x="685800" y="895350"/>
            <a:ext cx="3714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 Agent 输出｜课堂固定示例</a:t>
            </a:r>
          </a:p>
        </p:txBody>
      </p:sp>
      <p:sp>
        <p:nvSpPr>
          <p:cNvPr id="12" name="p26-left-title">
            <a:extLst>
              <a:ext uri="{FF2B5EF4-FFF2-40B4-BE49-F238E27FC236}">
                <a16:creationId xmlns:a16="http://schemas.microsoft.com/office/drawing/2014/main" id="{F9C2EC35-3B6F-46BB-963A-240CE97E0D16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三个候选建议</a:t>
            </a:r>
          </a:p>
        </p:txBody>
      </p:sp>
      <p:sp>
        <p:nvSpPr>
          <p:cNvPr id="13" name="p26-right-title">
            <a:extLst>
              <a:ext uri="{FF2B5EF4-FFF2-40B4-BE49-F238E27FC236}">
                <a16:creationId xmlns:a16="http://schemas.microsoft.com/office/drawing/2014/main" id="{2151EC5C-7220-44F8-A95F-06E93B200E23}"/>
              </a:ext>
            </a:extLst>
          </p:cNvPr>
          <p:cNvSpPr>
            <a:spLocks noGrp="1"/>
          </p:cNvSpPr>
          <p:nvPr/>
        </p:nvSpPr>
        <p:spPr>
          <a:xfrm>
            <a:off x="8001000" y="990600"/>
            <a:ext cx="3333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研究者审核四问</a:t>
            </a:r>
          </a:p>
        </p:txBody>
      </p:sp>
      <p:sp>
        <p:nvSpPr>
          <p:cNvPr id="14" name="p26-rule-0">
            <a:extLst>
              <a:ext uri="{FF2B5EF4-FFF2-40B4-BE49-F238E27FC236}">
                <a16:creationId xmlns:a16="http://schemas.microsoft.com/office/drawing/2014/main" id="{61408935-3434-4ECC-B31D-340312E5CEAD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76200" cy="781050"/>
          </a:xfrm>
          <a:prstGeom prst="rect">
            <a:avLst/>
          </a:prstGeom>
          <a:solidFill>
            <a:srgbClr val="28745A"/>
          </a:solidFill>
          <a:ln w="0">
            <a:noFill/>
            <a:prstDash val="solid"/>
          </a:ln>
        </p:spPr>
      </p:sp>
      <p:sp>
        <p:nvSpPr>
          <p:cNvPr id="15" name="p26-letter-0">
            <a:extLst>
              <a:ext uri="{FF2B5EF4-FFF2-40B4-BE49-F238E27FC236}">
                <a16:creationId xmlns:a16="http://schemas.microsoft.com/office/drawing/2014/main" id="{B69ED8C8-C0D9-438E-9DF9-FEB5AAFF6AA3}"/>
              </a:ext>
            </a:extLst>
          </p:cNvPr>
          <p:cNvSpPr>
            <a:spLocks noGrp="1"/>
          </p:cNvSpPr>
          <p:nvPr/>
        </p:nvSpPr>
        <p:spPr>
          <a:xfrm>
            <a:off x="895350" y="1714500"/>
            <a:ext cx="457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6" name="p26-suggestion-0">
            <a:extLst>
              <a:ext uri="{FF2B5EF4-FFF2-40B4-BE49-F238E27FC236}">
                <a16:creationId xmlns:a16="http://schemas.microsoft.com/office/drawing/2014/main" id="{3692011A-85B9-48E6-B3B8-DF1A2B61F354}"/>
              </a:ext>
            </a:extLst>
          </p:cNvPr>
          <p:cNvSpPr>
            <a:spLocks noGrp="1"/>
          </p:cNvSpPr>
          <p:nvPr/>
        </p:nvSpPr>
        <p:spPr>
          <a:xfrm>
            <a:off x="1447800" y="1676400"/>
            <a:ext cx="5600700" cy="438150"/>
          </a:xfrm>
          <a:prstGeom prst="rect">
            <a:avLst/>
          </a:prstGeom>
          <a:solidFill>
            <a:srgbClr val="E7F2E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将问题限定为：需要逐条核验引用的 CS 论文阅读任务</a:t>
            </a:r>
          </a:p>
        </p:txBody>
      </p:sp>
      <p:sp>
        <p:nvSpPr>
          <p:cNvPr id="17" name="p26-status-0">
            <a:extLst>
              <a:ext uri="{FF2B5EF4-FFF2-40B4-BE49-F238E27FC236}">
                <a16:creationId xmlns:a16="http://schemas.microsoft.com/office/drawing/2014/main" id="{E42A5BF8-2AD8-4429-93A0-9A9CB71A5461}"/>
              </a:ext>
            </a:extLst>
          </p:cNvPr>
          <p:cNvSpPr>
            <a:spLocks noGrp="1"/>
          </p:cNvSpPr>
          <p:nvPr/>
        </p:nvSpPr>
        <p:spPr>
          <a:xfrm>
            <a:off x="1447800" y="2152650"/>
            <a:ext cx="560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28745A"/>
                </a:solidFill>
              </a:defRPr>
            </a:pPr>
            <a:r>
              <a:rPr sz="12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合理候选｜可以继续比较</a:t>
            </a:r>
          </a:p>
        </p:txBody>
      </p:sp>
      <p:sp>
        <p:nvSpPr>
          <p:cNvPr id="18" name="p26-rule-1">
            <a:extLst>
              <a:ext uri="{FF2B5EF4-FFF2-40B4-BE49-F238E27FC236}">
                <a16:creationId xmlns:a16="http://schemas.microsoft.com/office/drawing/2014/main" id="{A2C3811C-DA22-4F1E-B86F-D5A49FE47314}"/>
              </a:ext>
            </a:extLst>
          </p:cNvPr>
          <p:cNvSpPr>
            <a:spLocks noGrp="1"/>
          </p:cNvSpPr>
          <p:nvPr/>
        </p:nvSpPr>
        <p:spPr>
          <a:xfrm>
            <a:off x="685800" y="2724150"/>
            <a:ext cx="76200" cy="781050"/>
          </a:xfrm>
          <a:prstGeom prst="rect">
            <a:avLst/>
          </a:prstGeom>
          <a:solidFill>
            <a:srgbClr val="A86C12"/>
          </a:solidFill>
          <a:ln w="0">
            <a:noFill/>
            <a:prstDash val="solid"/>
          </a:ln>
        </p:spPr>
      </p:sp>
      <p:sp>
        <p:nvSpPr>
          <p:cNvPr id="19" name="p26-letter-1">
            <a:extLst>
              <a:ext uri="{FF2B5EF4-FFF2-40B4-BE49-F238E27FC236}">
                <a16:creationId xmlns:a16="http://schemas.microsoft.com/office/drawing/2014/main" id="{B03AAF8A-3324-4C44-8578-82163D4B55E4}"/>
              </a:ext>
            </a:extLst>
          </p:cNvPr>
          <p:cNvSpPr>
            <a:spLocks noGrp="1"/>
          </p:cNvSpPr>
          <p:nvPr/>
        </p:nvSpPr>
        <p:spPr>
          <a:xfrm>
            <a:off x="895350" y="2762250"/>
            <a:ext cx="457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0" name="p26-suggestion-1">
            <a:extLst>
              <a:ext uri="{FF2B5EF4-FFF2-40B4-BE49-F238E27FC236}">
                <a16:creationId xmlns:a16="http://schemas.microsoft.com/office/drawing/2014/main" id="{E75E685D-42CA-453B-B618-FCD6B396B919}"/>
              </a:ext>
            </a:extLst>
          </p:cNvPr>
          <p:cNvSpPr>
            <a:spLocks noGrp="1"/>
          </p:cNvSpPr>
          <p:nvPr/>
        </p:nvSpPr>
        <p:spPr>
          <a:xfrm>
            <a:off x="1447800" y="2724150"/>
            <a:ext cx="5600700" cy="438150"/>
          </a:xfrm>
          <a:prstGeom prst="rect">
            <a:avLst/>
          </a:prstGeom>
          <a:solidFill>
            <a:srgbClr val="FAF0D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把“限定条件遗漏率”设为主要指标</a:t>
            </a:r>
          </a:p>
        </p:txBody>
      </p:sp>
      <p:sp>
        <p:nvSpPr>
          <p:cNvPr id="21" name="p26-status-1">
            <a:extLst>
              <a:ext uri="{FF2B5EF4-FFF2-40B4-BE49-F238E27FC236}">
                <a16:creationId xmlns:a16="http://schemas.microsoft.com/office/drawing/2014/main" id="{B1F12518-ABA5-4087-B1A3-64B9BE548304}"/>
              </a:ext>
            </a:extLst>
          </p:cNvPr>
          <p:cNvSpPr>
            <a:spLocks noGrp="1"/>
          </p:cNvSpPr>
          <p:nvPr/>
        </p:nvSpPr>
        <p:spPr>
          <a:xfrm>
            <a:off x="1447800" y="3200400"/>
            <a:ext cx="560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A86C12"/>
                </a:solidFill>
              </a:defRPr>
            </a:pPr>
            <a:r>
              <a:rPr sz="12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待核验｜先定义标注规则</a:t>
            </a:r>
          </a:p>
        </p:txBody>
      </p:sp>
      <p:sp>
        <p:nvSpPr>
          <p:cNvPr id="22" name="p26-rule-2">
            <a:extLst>
              <a:ext uri="{FF2B5EF4-FFF2-40B4-BE49-F238E27FC236}">
                <a16:creationId xmlns:a16="http://schemas.microsoft.com/office/drawing/2014/main" id="{5E6BF7C9-9AD5-488C-92D0-EE7DCA346577}"/>
              </a:ext>
            </a:extLst>
          </p:cNvPr>
          <p:cNvSpPr>
            <a:spLocks noGrp="1"/>
          </p:cNvSpPr>
          <p:nvPr/>
        </p:nvSpPr>
        <p:spPr>
          <a:xfrm>
            <a:off x="685800" y="3771900"/>
            <a:ext cx="76200" cy="7810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23" name="p26-letter-2">
            <a:extLst>
              <a:ext uri="{FF2B5EF4-FFF2-40B4-BE49-F238E27FC236}">
                <a16:creationId xmlns:a16="http://schemas.microsoft.com/office/drawing/2014/main" id="{DA50932D-D80D-42D3-B459-7C8792796224}"/>
              </a:ext>
            </a:extLst>
          </p:cNvPr>
          <p:cNvSpPr>
            <a:spLocks noGrp="1"/>
          </p:cNvSpPr>
          <p:nvPr/>
        </p:nvSpPr>
        <p:spPr>
          <a:xfrm>
            <a:off x="895350" y="3810000"/>
            <a:ext cx="457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4" name="p26-suggestion-2">
            <a:extLst>
              <a:ext uri="{FF2B5EF4-FFF2-40B4-BE49-F238E27FC236}">
                <a16:creationId xmlns:a16="http://schemas.microsoft.com/office/drawing/2014/main" id="{B657233F-D398-47B6-B3DC-89CA8EBDE80D}"/>
              </a:ext>
            </a:extLst>
          </p:cNvPr>
          <p:cNvSpPr>
            <a:spLocks noGrp="1"/>
          </p:cNvSpPr>
          <p:nvPr/>
        </p:nvSpPr>
        <p:spPr>
          <a:xfrm>
            <a:off x="1447800" y="3771900"/>
            <a:ext cx="5600700" cy="4381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“已有研究证明阅读卡必然减少遗漏”</a:t>
            </a:r>
          </a:p>
        </p:txBody>
      </p:sp>
      <p:sp>
        <p:nvSpPr>
          <p:cNvPr id="25" name="p26-status-2">
            <a:extLst>
              <a:ext uri="{FF2B5EF4-FFF2-40B4-BE49-F238E27FC236}">
                <a16:creationId xmlns:a16="http://schemas.microsoft.com/office/drawing/2014/main" id="{D1884961-F6ED-4670-8FB0-47CFBEC4B034}"/>
              </a:ext>
            </a:extLst>
          </p:cNvPr>
          <p:cNvSpPr>
            <a:spLocks noGrp="1"/>
          </p:cNvSpPr>
          <p:nvPr/>
        </p:nvSpPr>
        <p:spPr>
          <a:xfrm>
            <a:off x="1447800" y="4248150"/>
            <a:ext cx="560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高风险｜模型自行补充事实</a:t>
            </a:r>
          </a:p>
        </p:txBody>
      </p:sp>
      <p:sp>
        <p:nvSpPr>
          <p:cNvPr id="26" name="p26-check-node-0">
            <a:extLst>
              <a:ext uri="{FF2B5EF4-FFF2-40B4-BE49-F238E27FC236}">
                <a16:creationId xmlns:a16="http://schemas.microsoft.com/office/drawing/2014/main" id="{C4612ED4-AADA-4C3B-9F24-B8C996E08337}"/>
              </a:ext>
            </a:extLst>
          </p:cNvPr>
          <p:cNvSpPr>
            <a:spLocks noGrp="1"/>
          </p:cNvSpPr>
          <p:nvPr/>
        </p:nvSpPr>
        <p:spPr>
          <a:xfrm>
            <a:off x="7962900" y="139065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8354E"/>
            </a:solidFill>
            <a:prstDash val="solid"/>
          </a:ln>
        </p:spPr>
      </p:sp>
      <p:sp>
        <p:nvSpPr>
          <p:cNvPr id="27" name="p26-check-no-0">
            <a:extLst>
              <a:ext uri="{FF2B5EF4-FFF2-40B4-BE49-F238E27FC236}">
                <a16:creationId xmlns:a16="http://schemas.microsoft.com/office/drawing/2014/main" id="{0F32862F-111C-436C-8D1E-88C0F8A96AA9}"/>
              </a:ext>
            </a:extLst>
          </p:cNvPr>
          <p:cNvSpPr>
            <a:spLocks noGrp="1"/>
          </p:cNvSpPr>
          <p:nvPr/>
        </p:nvSpPr>
        <p:spPr>
          <a:xfrm>
            <a:off x="8324850" y="138112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1">
                <a:solidFill>
                  <a:srgbClr val="18354E"/>
                </a:solidFill>
              </a:defRPr>
            </a:pPr>
            <a:r>
              <a:rPr sz="12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8" name="p26-check-q-0">
            <a:extLst>
              <a:ext uri="{FF2B5EF4-FFF2-40B4-BE49-F238E27FC236}">
                <a16:creationId xmlns:a16="http://schemas.microsoft.com/office/drawing/2014/main" id="{B429EFEC-6156-4DB7-8BA5-5DB4F730E57C}"/>
              </a:ext>
            </a:extLst>
          </p:cNvPr>
          <p:cNvSpPr>
            <a:spLocks noGrp="1"/>
          </p:cNvSpPr>
          <p:nvPr/>
        </p:nvSpPr>
        <p:spPr>
          <a:xfrm>
            <a:off x="8858250" y="1333500"/>
            <a:ext cx="2514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真的缩小了范围？</a:t>
            </a:r>
          </a:p>
        </p:txBody>
      </p:sp>
      <p:sp>
        <p:nvSpPr>
          <p:cNvPr id="29" name="p26-check-node-1">
            <a:extLst>
              <a:ext uri="{FF2B5EF4-FFF2-40B4-BE49-F238E27FC236}">
                <a16:creationId xmlns:a16="http://schemas.microsoft.com/office/drawing/2014/main" id="{A66C19D6-A27E-4B98-A7FF-138C232EB5B2}"/>
              </a:ext>
            </a:extLst>
          </p:cNvPr>
          <p:cNvSpPr>
            <a:spLocks noGrp="1"/>
          </p:cNvSpPr>
          <p:nvPr/>
        </p:nvSpPr>
        <p:spPr>
          <a:xfrm>
            <a:off x="7962900" y="224790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8354E"/>
            </a:solidFill>
            <a:prstDash val="solid"/>
          </a:ln>
        </p:spPr>
      </p:sp>
      <p:sp>
        <p:nvSpPr>
          <p:cNvPr id="30" name="p26-check-no-1">
            <a:extLst>
              <a:ext uri="{FF2B5EF4-FFF2-40B4-BE49-F238E27FC236}">
                <a16:creationId xmlns:a16="http://schemas.microsoft.com/office/drawing/2014/main" id="{896A91FC-85B0-42AC-B282-B11670E278E5}"/>
              </a:ext>
            </a:extLst>
          </p:cNvPr>
          <p:cNvSpPr>
            <a:spLocks noGrp="1"/>
          </p:cNvSpPr>
          <p:nvPr/>
        </p:nvSpPr>
        <p:spPr>
          <a:xfrm>
            <a:off x="8324850" y="223837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1">
                <a:solidFill>
                  <a:srgbClr val="18354E"/>
                </a:solidFill>
              </a:defRPr>
            </a:pPr>
            <a:r>
              <a:rPr sz="12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1" name="p26-check-q-1">
            <a:extLst>
              <a:ext uri="{FF2B5EF4-FFF2-40B4-BE49-F238E27FC236}">
                <a16:creationId xmlns:a16="http://schemas.microsoft.com/office/drawing/2014/main" id="{BD36F27B-1B81-4046-9ADB-8BEE7C960078}"/>
              </a:ext>
            </a:extLst>
          </p:cNvPr>
          <p:cNvSpPr>
            <a:spLocks noGrp="1"/>
          </p:cNvSpPr>
          <p:nvPr/>
        </p:nvSpPr>
        <p:spPr>
          <a:xfrm>
            <a:off x="8858250" y="2190750"/>
            <a:ext cx="2514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依据来自 Context？</a:t>
            </a:r>
          </a:p>
        </p:txBody>
      </p:sp>
      <p:sp>
        <p:nvSpPr>
          <p:cNvPr id="32" name="p26-check-node-2">
            <a:extLst>
              <a:ext uri="{FF2B5EF4-FFF2-40B4-BE49-F238E27FC236}">
                <a16:creationId xmlns:a16="http://schemas.microsoft.com/office/drawing/2014/main" id="{CBD456FE-4FEC-453B-AF20-4EC25EC6B6A3}"/>
              </a:ext>
            </a:extLst>
          </p:cNvPr>
          <p:cNvSpPr>
            <a:spLocks noGrp="1"/>
          </p:cNvSpPr>
          <p:nvPr/>
        </p:nvSpPr>
        <p:spPr>
          <a:xfrm>
            <a:off x="7962900" y="310515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8354E"/>
            </a:solidFill>
            <a:prstDash val="solid"/>
          </a:ln>
        </p:spPr>
      </p:sp>
      <p:sp>
        <p:nvSpPr>
          <p:cNvPr id="33" name="p26-check-no-2">
            <a:extLst>
              <a:ext uri="{FF2B5EF4-FFF2-40B4-BE49-F238E27FC236}">
                <a16:creationId xmlns:a16="http://schemas.microsoft.com/office/drawing/2014/main" id="{D16662C2-CD8E-443D-BAC1-39551794879A}"/>
              </a:ext>
            </a:extLst>
          </p:cNvPr>
          <p:cNvSpPr>
            <a:spLocks noGrp="1"/>
          </p:cNvSpPr>
          <p:nvPr/>
        </p:nvSpPr>
        <p:spPr>
          <a:xfrm>
            <a:off x="8324850" y="309562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1">
                <a:solidFill>
                  <a:srgbClr val="18354E"/>
                </a:solidFill>
              </a:defRPr>
            </a:pPr>
            <a:r>
              <a:rPr sz="12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4" name="p26-check-q-2">
            <a:extLst>
              <a:ext uri="{FF2B5EF4-FFF2-40B4-BE49-F238E27FC236}">
                <a16:creationId xmlns:a16="http://schemas.microsoft.com/office/drawing/2014/main" id="{857F7F39-17FD-4496-B807-BDFAB2F3BCBF}"/>
              </a:ext>
            </a:extLst>
          </p:cNvPr>
          <p:cNvSpPr>
            <a:spLocks noGrp="1"/>
          </p:cNvSpPr>
          <p:nvPr/>
        </p:nvSpPr>
        <p:spPr>
          <a:xfrm>
            <a:off x="8858250" y="3048000"/>
            <a:ext cx="2514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牺牲了什么？</a:t>
            </a:r>
          </a:p>
        </p:txBody>
      </p:sp>
      <p:sp>
        <p:nvSpPr>
          <p:cNvPr id="35" name="p26-check-node-3">
            <a:extLst>
              <a:ext uri="{FF2B5EF4-FFF2-40B4-BE49-F238E27FC236}">
                <a16:creationId xmlns:a16="http://schemas.microsoft.com/office/drawing/2014/main" id="{9B080D5A-953E-40DC-81C4-DDF74D6A7483}"/>
              </a:ext>
            </a:extLst>
          </p:cNvPr>
          <p:cNvSpPr>
            <a:spLocks noGrp="1"/>
          </p:cNvSpPr>
          <p:nvPr/>
        </p:nvSpPr>
        <p:spPr>
          <a:xfrm>
            <a:off x="7962900" y="396240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C8161E"/>
            </a:solidFill>
            <a:prstDash val="solid"/>
          </a:ln>
        </p:spPr>
      </p:sp>
      <p:sp>
        <p:nvSpPr>
          <p:cNvPr id="36" name="p26-check-no-3">
            <a:extLst>
              <a:ext uri="{FF2B5EF4-FFF2-40B4-BE49-F238E27FC236}">
                <a16:creationId xmlns:a16="http://schemas.microsoft.com/office/drawing/2014/main" id="{61E2EA48-D26C-4042-9D22-6869D0DC3070}"/>
              </a:ext>
            </a:extLst>
          </p:cNvPr>
          <p:cNvSpPr>
            <a:spLocks noGrp="1"/>
          </p:cNvSpPr>
          <p:nvPr/>
        </p:nvSpPr>
        <p:spPr>
          <a:xfrm>
            <a:off x="8324850" y="395287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7" name="p26-check-q-3">
            <a:extLst>
              <a:ext uri="{FF2B5EF4-FFF2-40B4-BE49-F238E27FC236}">
                <a16:creationId xmlns:a16="http://schemas.microsoft.com/office/drawing/2014/main" id="{0B0D9431-F8C9-4A45-9F62-65F44BDC70D7}"/>
              </a:ext>
            </a:extLst>
          </p:cNvPr>
          <p:cNvSpPr>
            <a:spLocks noGrp="1"/>
          </p:cNvSpPr>
          <p:nvPr/>
        </p:nvSpPr>
        <p:spPr>
          <a:xfrm>
            <a:off x="8858250" y="3905250"/>
            <a:ext cx="2514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哪些判断仍需确认？</a:t>
            </a:r>
          </a:p>
        </p:txBody>
      </p:sp>
      <p:sp>
        <p:nvSpPr>
          <p:cNvPr id="38" name="p26-decision">
            <a:extLst>
              <a:ext uri="{FF2B5EF4-FFF2-40B4-BE49-F238E27FC236}">
                <a16:creationId xmlns:a16="http://schemas.microsoft.com/office/drawing/2014/main" id="{9B3997B6-1981-4ADD-AE86-6C1BE3CE11AD}"/>
              </a:ext>
            </a:extLst>
          </p:cNvPr>
          <p:cNvSpPr>
            <a:spLocks noGrp="1"/>
          </p:cNvSpPr>
          <p:nvPr/>
        </p:nvSpPr>
        <p:spPr>
          <a:xfrm>
            <a:off x="1809750" y="50101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研究者决定：采纳　｜　修改　｜　拒绝　｜　待核验</a:t>
            </a:r>
          </a:p>
        </p:txBody>
      </p:sp>
      <p:sp>
        <p:nvSpPr>
          <p:cNvPr id="39" name="p26-bottom">
            <a:extLst>
              <a:ext uri="{FF2B5EF4-FFF2-40B4-BE49-F238E27FC236}">
                <a16:creationId xmlns:a16="http://schemas.microsoft.com/office/drawing/2014/main" id="{B3672CBF-BB9D-427F-944B-D36F28216EF6}"/>
              </a:ext>
            </a:extLst>
          </p:cNvPr>
          <p:cNvSpPr>
            <a:spLocks noGrp="1"/>
          </p:cNvSpPr>
          <p:nvPr/>
        </p:nvSpPr>
        <p:spPr>
          <a:xfrm>
            <a:off x="3524250" y="5581650"/>
            <a:ext cx="514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0">
                <a:solidFill>
                  <a:srgbClr val="667684"/>
                </a:solidFill>
              </a:defRPr>
            </a:pPr>
            <a:r>
              <a:rPr sz="15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建议先过审核，才可能进入写回。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人工确认后，只授权目标文件写回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02F15020-66A7-620A-7B7A-C05C4312DEAE}" type="slidenum">
              <a:t>27</a:t>
            </a:fld>
            <a:endParaRPr/>
          </a:p>
        </p:txBody>
      </p:sp>
      <p:sp>
        <p:nvSpPr>
          <p:cNvPr id="6" name="p27-contract">
            <a:extLst>
              <a:ext uri="{FF2B5EF4-FFF2-40B4-BE49-F238E27FC236}">
                <a16:creationId xmlns:a16="http://schemas.microsoft.com/office/drawing/2014/main" id="{E3297CFE-F571-46A7-8241-BBAECB06BF72}"/>
              </a:ext>
            </a:extLst>
          </p:cNvPr>
          <p:cNvSpPr>
            <a:spLocks noGrp="1"/>
          </p:cNvSpPr>
          <p:nvPr/>
        </p:nvSpPr>
        <p:spPr>
          <a:xfrm>
            <a:off x="762000" y="102870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BOUNDED WRITEBACK</a:t>
            </a:r>
          </a:p>
        </p:txBody>
      </p:sp>
      <p:sp>
        <p:nvSpPr>
          <p:cNvPr id="7" name="p27-code">
            <a:extLst>
              <a:ext uri="{FF2B5EF4-FFF2-40B4-BE49-F238E27FC236}">
                <a16:creationId xmlns:a16="http://schemas.microsoft.com/office/drawing/2014/main" id="{5B654E95-BC02-491A-87E6-AAA4841E9579}"/>
              </a:ext>
            </a:extLst>
          </p:cNvPr>
          <p:cNvSpPr>
            <a:spLocks noGrp="1"/>
          </p:cNvSpPr>
          <p:nvPr/>
        </p:nvSpPr>
        <p:spPr>
          <a:xfrm>
            <a:off x="666750" y="1447800"/>
            <a:ext cx="7372350" cy="3848100"/>
          </a:xfrm>
          <a:prstGeom prst="rect">
            <a:avLst/>
          </a:prstGeom>
          <a:solidFill>
            <a:srgbClr val="F5F6F7"/>
          </a:solidFill>
          <a:ln w="9525">
            <a:solidFill>
              <a:srgbClr val="D6DDE2"/>
            </a:solidFill>
            <a:prstDash val="solid"/>
          </a:ln>
        </p:spPr>
        <p:txBody>
          <a:bodyPr lIns="190500" tIns="152400" rIns="190500" bIns="152400" anchor="t"/>
          <a:lstStyle/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根据我确认的第 2 条建议：</a:t>
            </a:r>
          </a:p>
          <a:p>
            <a:endParaRPr sz="1500" b="0">
              <a:solidFill>
                <a:srgbClr val="263746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1. 只修改 problem-definition.md 的‘当前问题’段；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2. 原表述保留到‘修改记录’；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3. 在 ai-usage-log.md 增加本次交互摘要；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4. 不修改其他文件，不访问网络。</a:t>
            </a:r>
          </a:p>
          <a:p>
            <a:endParaRPr sz="1500" b="0">
              <a:solidFill>
                <a:srgbClr val="263746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完成后给出：修改摘要｜实际修改文件｜仍需人工核验内容。</a:t>
            </a:r>
          </a:p>
        </p:txBody>
      </p:sp>
      <p:sp>
        <p:nvSpPr>
          <p:cNvPr id="8" name="p27-target">
            <a:extLst>
              <a:ext uri="{FF2B5EF4-FFF2-40B4-BE49-F238E27FC236}">
                <a16:creationId xmlns:a16="http://schemas.microsoft.com/office/drawing/2014/main" id="{B6A0C27C-A560-4CFB-9DA0-10FC4718756B}"/>
              </a:ext>
            </a:extLst>
          </p:cNvPr>
          <p:cNvSpPr>
            <a:spLocks noGrp="1"/>
          </p:cNvSpPr>
          <p:nvPr/>
        </p:nvSpPr>
        <p:spPr>
          <a:xfrm>
            <a:off x="8763000" y="1524000"/>
            <a:ext cx="2095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授权目标</a:t>
            </a:r>
          </a:p>
        </p:txBody>
      </p:sp>
      <p:sp>
        <p:nvSpPr>
          <p:cNvPr id="9" name="p27-files">
            <a:extLst>
              <a:ext uri="{FF2B5EF4-FFF2-40B4-BE49-F238E27FC236}">
                <a16:creationId xmlns:a16="http://schemas.microsoft.com/office/drawing/2014/main" id="{CC33B20A-9733-4B56-84D8-EBD964715A4D}"/>
              </a:ext>
            </a:extLst>
          </p:cNvPr>
          <p:cNvSpPr>
            <a:spLocks noGrp="1"/>
          </p:cNvSpPr>
          <p:nvPr/>
        </p:nvSpPr>
        <p:spPr>
          <a:xfrm>
            <a:off x="8324850" y="2076450"/>
            <a:ext cx="2971800" cy="1104900"/>
          </a:xfrm>
          <a:prstGeom prst="rect">
            <a:avLst/>
          </a:prstGeom>
          <a:solidFill>
            <a:srgbClr val="E7F2E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Consolas"/>
                <a:ea typeface="Consolas"/>
                <a:cs typeface="Consolas"/>
              </a:rPr>
              <a:t>problem-definition.md</a:t>
            </a:r>
          </a:p>
          <a:p>
            <a:pPr algn="ctr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Consolas"/>
                <a:ea typeface="Consolas"/>
                <a:cs typeface="Consolas"/>
              </a:rPr>
              <a:t>ai-usage-log.md</a:t>
            </a:r>
          </a:p>
        </p:txBody>
      </p:sp>
      <p:sp>
        <p:nvSpPr>
          <p:cNvPr id="10" name="p27-no">
            <a:extLst>
              <a:ext uri="{FF2B5EF4-FFF2-40B4-BE49-F238E27FC236}">
                <a16:creationId xmlns:a16="http://schemas.microsoft.com/office/drawing/2014/main" id="{4CB9AC52-2835-4E00-857D-78C59D20187A}"/>
              </a:ext>
            </a:extLst>
          </p:cNvPr>
          <p:cNvSpPr>
            <a:spLocks noGrp="1"/>
          </p:cNvSpPr>
          <p:nvPr/>
        </p:nvSpPr>
        <p:spPr>
          <a:xfrm>
            <a:off x="8763000" y="3562350"/>
            <a:ext cx="2095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未授权</a:t>
            </a:r>
          </a:p>
        </p:txBody>
      </p:sp>
      <p:sp>
        <p:nvSpPr>
          <p:cNvPr id="11" name="p27-no2">
            <a:extLst>
              <a:ext uri="{FF2B5EF4-FFF2-40B4-BE49-F238E27FC236}">
                <a16:creationId xmlns:a16="http://schemas.microsoft.com/office/drawing/2014/main" id="{F4593E86-5DE5-4B8B-854E-3039582DB753}"/>
              </a:ext>
            </a:extLst>
          </p:cNvPr>
          <p:cNvSpPr>
            <a:spLocks noGrp="1"/>
          </p:cNvSpPr>
          <p:nvPr/>
        </p:nvSpPr>
        <p:spPr>
          <a:xfrm>
            <a:off x="8324850" y="4114800"/>
            <a:ext cx="2971800" cy="102870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其他文件｜网络</a:t>
            </a:r>
          </a:p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项目外目录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“完成”之后还要检查 diff 和使用记录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68AD4375-9F50-F53A-6F9F-DD8473067C05}" type="slidenum">
              <a:t>28</a:t>
            </a:fld>
            <a:endParaRPr/>
          </a:p>
        </p:txBody>
      </p:sp>
      <p:sp>
        <p:nvSpPr>
          <p:cNvPr id="6" name="p28-fiction">
            <a:extLst>
              <a:ext uri="{FF2B5EF4-FFF2-40B4-BE49-F238E27FC236}">
                <a16:creationId xmlns:a16="http://schemas.microsoft.com/office/drawing/2014/main" id="{13B06698-C956-4C03-B927-C1AFBE97DCEA}"/>
              </a:ext>
            </a:extLst>
          </p:cNvPr>
          <p:cNvSpPr>
            <a:spLocks noGrp="1"/>
          </p:cNvSpPr>
          <p:nvPr/>
        </p:nvSpPr>
        <p:spPr>
          <a:xfrm>
            <a:off x="704850" y="99060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0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虚构教学工件</a:t>
            </a:r>
          </a:p>
        </p:txBody>
      </p:sp>
      <p:sp>
        <p:nvSpPr>
          <p:cNvPr id="7" name="p28-diff-title">
            <a:extLst>
              <a:ext uri="{FF2B5EF4-FFF2-40B4-BE49-F238E27FC236}">
                <a16:creationId xmlns:a16="http://schemas.microsoft.com/office/drawing/2014/main" id="{6DD3BD4A-A299-44CB-ADCD-E7D348517872}"/>
              </a:ext>
            </a:extLst>
          </p:cNvPr>
          <p:cNvSpPr>
            <a:spLocks noGrp="1"/>
          </p:cNvSpPr>
          <p:nvPr/>
        </p:nvSpPr>
        <p:spPr>
          <a:xfrm>
            <a:off x="666750" y="1371600"/>
            <a:ext cx="5429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git diff — problem-definition.md</a:t>
            </a:r>
          </a:p>
        </p:txBody>
      </p:sp>
      <p:sp>
        <p:nvSpPr>
          <p:cNvPr id="8" name="p28-diff">
            <a:extLst>
              <a:ext uri="{FF2B5EF4-FFF2-40B4-BE49-F238E27FC236}">
                <a16:creationId xmlns:a16="http://schemas.microsoft.com/office/drawing/2014/main" id="{C5CA8198-2C0B-4BFD-BED9-E74DF334A1FE}"/>
              </a:ext>
            </a:extLst>
          </p:cNvPr>
          <p:cNvSpPr>
            <a:spLocks noGrp="1"/>
          </p:cNvSpPr>
          <p:nvPr/>
        </p:nvSpPr>
        <p:spPr>
          <a:xfrm>
            <a:off x="628650" y="1790700"/>
            <a:ext cx="5676900" cy="2266950"/>
          </a:xfrm>
          <a:prstGeom prst="rect">
            <a:avLst/>
          </a:prstGeom>
          <a:solidFill>
            <a:srgbClr val="F5F6F7"/>
          </a:solidFill>
          <a:ln w="9525">
            <a:solidFill>
              <a:srgbClr val="D6DDE2"/>
            </a:solidFill>
            <a:prstDash val="solid"/>
          </a:ln>
        </p:spPr>
        <p:txBody>
          <a:bodyPr lIns="171450" tIns="152400" rIns="171450" bIns="152400" anchor="t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研究 AI 如何帮助读论文。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+ 在 6 篇公开 AI4Research 论文中，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+ 比较结构化阅读卡与自由笔记对关键限定遗漏率的影响。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+ 待定义：‘关键限定’的标注规则。</a:t>
            </a:r>
          </a:p>
        </p:txBody>
      </p:sp>
      <p:sp>
        <p:nvSpPr>
          <p:cNvPr id="9" name="p28-log-title">
            <a:extLst>
              <a:ext uri="{FF2B5EF4-FFF2-40B4-BE49-F238E27FC236}">
                <a16:creationId xmlns:a16="http://schemas.microsoft.com/office/drawing/2014/main" id="{3D3B9357-BCF7-49C4-9B51-DD3BBF9CE648}"/>
              </a:ext>
            </a:extLst>
          </p:cNvPr>
          <p:cNvSpPr>
            <a:spLocks noGrp="1"/>
          </p:cNvSpPr>
          <p:nvPr/>
        </p:nvSpPr>
        <p:spPr>
          <a:xfrm>
            <a:off x="6838950" y="1371600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ai-usage-log.md</a:t>
            </a:r>
          </a:p>
        </p:txBody>
      </p:sp>
      <p:sp>
        <p:nvSpPr>
          <p:cNvPr id="10" name="p28-log">
            <a:extLst>
              <a:ext uri="{FF2B5EF4-FFF2-40B4-BE49-F238E27FC236}">
                <a16:creationId xmlns:a16="http://schemas.microsoft.com/office/drawing/2014/main" id="{25BDEF46-4380-4551-A780-086DF91ADCA1}"/>
              </a:ext>
            </a:extLst>
          </p:cNvPr>
          <p:cNvSpPr>
            <a:spLocks noGrp="1"/>
          </p:cNvSpPr>
          <p:nvPr/>
        </p:nvSpPr>
        <p:spPr>
          <a:xfrm>
            <a:off x="6800850" y="1790700"/>
            <a:ext cx="4781550" cy="2266950"/>
          </a:xfrm>
          <a:prstGeom prst="rect">
            <a:avLst/>
          </a:prstGeom>
          <a:solidFill>
            <a:srgbClr val="F5F6F7"/>
          </a:solidFill>
          <a:ln w="9525">
            <a:solidFill>
              <a:srgbClr val="D6DDE2"/>
            </a:solidFill>
            <a:prstDash val="solid"/>
          </a:ln>
        </p:spPr>
        <p:txBody>
          <a:bodyPr lIns="171450" tIns="152400" rIns="171450" bIns="152400" anchor="t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2026-08-07｜范围收敛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输入：当前问题、项目约束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建议：3 条；采纳第 2 条并人工改写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写入：problem-definition.md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核验：diff 已检查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待办：定义遗漏率与标注协议</a:t>
            </a:r>
          </a:p>
        </p:txBody>
      </p:sp>
      <p:sp>
        <p:nvSpPr>
          <p:cNvPr id="11" name="p28-rule">
            <a:extLst>
              <a:ext uri="{FF2B5EF4-FFF2-40B4-BE49-F238E27FC236}">
                <a16:creationId xmlns:a16="http://schemas.microsoft.com/office/drawing/2014/main" id="{A8176E2F-5DCE-4CA2-A86B-E27813C9C1A5}"/>
              </a:ext>
            </a:extLst>
          </p:cNvPr>
          <p:cNvSpPr>
            <a:spLocks noGrp="1"/>
          </p:cNvSpPr>
          <p:nvPr/>
        </p:nvSpPr>
        <p:spPr>
          <a:xfrm>
            <a:off x="2381250" y="4533900"/>
            <a:ext cx="7429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以实际文件变化为准，不只看 Agent 自述。</a:t>
            </a:r>
          </a:p>
        </p:txBody>
      </p:sp>
      <p:sp>
        <p:nvSpPr>
          <p:cNvPr id="12" name="p28-check">
            <a:extLst>
              <a:ext uri="{FF2B5EF4-FFF2-40B4-BE49-F238E27FC236}">
                <a16:creationId xmlns:a16="http://schemas.microsoft.com/office/drawing/2014/main" id="{AB6AA0F6-EBED-422A-B6C4-BD6DAA411C9A}"/>
              </a:ext>
            </a:extLst>
          </p:cNvPr>
          <p:cNvSpPr>
            <a:spLocks noGrp="1"/>
          </p:cNvSpPr>
          <p:nvPr/>
        </p:nvSpPr>
        <p:spPr>
          <a:xfrm>
            <a:off x="1809750" y="5219700"/>
            <a:ext cx="857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425" b="0">
                <a:solidFill>
                  <a:srgbClr val="667684"/>
                </a:solidFill>
              </a:defRPr>
            </a:pPr>
            <a:r>
              <a:rPr sz="142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检查：改了哪些文件？保留了哪些边界？日志能否复原人工判断？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失败不是重跑到成功，而是工作流评价材料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1680313-6E64-04FF-399A-57B7CADE95A9}" type="slidenum">
              <a:t>29</a:t>
            </a:fld>
            <a:endParaRPr/>
          </a:p>
        </p:txBody>
      </p:sp>
      <p:sp>
        <p:nvSpPr>
          <p:cNvPr id="6" name="p29-request-label">
            <a:extLst>
              <a:ext uri="{FF2B5EF4-FFF2-40B4-BE49-F238E27FC236}">
                <a16:creationId xmlns:a16="http://schemas.microsoft.com/office/drawing/2014/main" id="{5C2C2179-E8E8-4698-9357-5399896A3CBB}"/>
              </a:ext>
            </a:extLst>
          </p:cNvPr>
          <p:cNvSpPr>
            <a:spLocks noGrp="1"/>
          </p:cNvSpPr>
          <p:nvPr/>
        </p:nvSpPr>
        <p:spPr>
          <a:xfrm>
            <a:off x="704850" y="952500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虚构越权请求</a:t>
            </a:r>
          </a:p>
        </p:txBody>
      </p:sp>
      <p:sp>
        <p:nvSpPr>
          <p:cNvPr id="7" name="p29-request">
            <a:extLst>
              <a:ext uri="{FF2B5EF4-FFF2-40B4-BE49-F238E27FC236}">
                <a16:creationId xmlns:a16="http://schemas.microsoft.com/office/drawing/2014/main" id="{3C6618F8-A72C-40E3-9FCF-D12AB151F013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782300" cy="64770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“扫描整台电脑，找到我以前所有相关论文和数据，自动整理到项目中。”</a:t>
            </a:r>
          </a:p>
        </p:txBody>
      </p:sp>
      <p:sp>
        <p:nvSpPr>
          <p:cNvPr id="8" name="p29-audit-title">
            <a:extLst>
              <a:ext uri="{FF2B5EF4-FFF2-40B4-BE49-F238E27FC236}">
                <a16:creationId xmlns:a16="http://schemas.microsoft.com/office/drawing/2014/main" id="{F26AE231-0275-4CE5-9877-BD41BF6295F0}"/>
              </a:ext>
            </a:extLst>
          </p:cNvPr>
          <p:cNvSpPr>
            <a:spLocks noGrp="1"/>
          </p:cNvSpPr>
          <p:nvPr/>
        </p:nvSpPr>
        <p:spPr>
          <a:xfrm>
            <a:off x="704850" y="2114550"/>
            <a:ext cx="190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先定位风险</a:t>
            </a:r>
          </a:p>
        </p:txBody>
      </p:sp>
      <p:sp>
        <p:nvSpPr>
          <p:cNvPr id="9" name="p29-audit-0">
            <a:extLst>
              <a:ext uri="{FF2B5EF4-FFF2-40B4-BE49-F238E27FC236}">
                <a16:creationId xmlns:a16="http://schemas.microsoft.com/office/drawing/2014/main" id="{07F63025-9BC0-4C36-8FB8-B515FD202158}"/>
              </a:ext>
            </a:extLst>
          </p:cNvPr>
          <p:cNvSpPr>
            <a:spLocks noGrp="1"/>
          </p:cNvSpPr>
          <p:nvPr/>
        </p:nvSpPr>
        <p:spPr>
          <a:xfrm>
            <a:off x="2247900" y="2076450"/>
            <a:ext cx="135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范围</a:t>
            </a:r>
          </a:p>
        </p:txBody>
      </p:sp>
      <p:sp>
        <p:nvSpPr>
          <p:cNvPr id="10" name="p29-audit-line-0">
            <a:extLst>
              <a:ext uri="{FF2B5EF4-FFF2-40B4-BE49-F238E27FC236}">
                <a16:creationId xmlns:a16="http://schemas.microsoft.com/office/drawing/2014/main" id="{804D84FF-9ABA-483D-8880-EE47ABEE4F0A}"/>
              </a:ext>
            </a:extLst>
          </p:cNvPr>
          <p:cNvSpPr>
            <a:spLocks noGrp="1"/>
          </p:cNvSpPr>
          <p:nvPr/>
        </p:nvSpPr>
        <p:spPr>
          <a:xfrm>
            <a:off x="2438400" y="2481263"/>
            <a:ext cx="97155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1" name="p29-audit-1">
            <a:extLst>
              <a:ext uri="{FF2B5EF4-FFF2-40B4-BE49-F238E27FC236}">
                <a16:creationId xmlns:a16="http://schemas.microsoft.com/office/drawing/2014/main" id="{BEB48155-B836-4BDC-B597-14A40690A84A}"/>
              </a:ext>
            </a:extLst>
          </p:cNvPr>
          <p:cNvSpPr>
            <a:spLocks noGrp="1"/>
          </p:cNvSpPr>
          <p:nvPr/>
        </p:nvSpPr>
        <p:spPr>
          <a:xfrm>
            <a:off x="3810000" y="2076450"/>
            <a:ext cx="135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隐私</a:t>
            </a:r>
          </a:p>
        </p:txBody>
      </p:sp>
      <p:sp>
        <p:nvSpPr>
          <p:cNvPr id="12" name="p29-audit-line-1">
            <a:extLst>
              <a:ext uri="{FF2B5EF4-FFF2-40B4-BE49-F238E27FC236}">
                <a16:creationId xmlns:a16="http://schemas.microsoft.com/office/drawing/2014/main" id="{9FE5DF41-29D0-4CB4-8FBF-E3986D9A4D0C}"/>
              </a:ext>
            </a:extLst>
          </p:cNvPr>
          <p:cNvSpPr>
            <a:spLocks noGrp="1"/>
          </p:cNvSpPr>
          <p:nvPr/>
        </p:nvSpPr>
        <p:spPr>
          <a:xfrm>
            <a:off x="4000500" y="2481263"/>
            <a:ext cx="97155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3" name="p29-audit-2">
            <a:extLst>
              <a:ext uri="{FF2B5EF4-FFF2-40B4-BE49-F238E27FC236}">
                <a16:creationId xmlns:a16="http://schemas.microsoft.com/office/drawing/2014/main" id="{70AF54DD-EA97-47FC-BD01-A1ED4A29AF30}"/>
              </a:ext>
            </a:extLst>
          </p:cNvPr>
          <p:cNvSpPr>
            <a:spLocks noGrp="1"/>
          </p:cNvSpPr>
          <p:nvPr/>
        </p:nvSpPr>
        <p:spPr>
          <a:xfrm>
            <a:off x="5372100" y="2076450"/>
            <a:ext cx="135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14" name="p29-audit-line-2">
            <a:extLst>
              <a:ext uri="{FF2B5EF4-FFF2-40B4-BE49-F238E27FC236}">
                <a16:creationId xmlns:a16="http://schemas.microsoft.com/office/drawing/2014/main" id="{92EDC901-2161-478A-9716-A81DE5E27A64}"/>
              </a:ext>
            </a:extLst>
          </p:cNvPr>
          <p:cNvSpPr>
            <a:spLocks noGrp="1"/>
          </p:cNvSpPr>
          <p:nvPr/>
        </p:nvSpPr>
        <p:spPr>
          <a:xfrm>
            <a:off x="5562600" y="2481263"/>
            <a:ext cx="97155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5" name="p29-audit-3">
            <a:extLst>
              <a:ext uri="{FF2B5EF4-FFF2-40B4-BE49-F238E27FC236}">
                <a16:creationId xmlns:a16="http://schemas.microsoft.com/office/drawing/2014/main" id="{E8571EFA-E37C-49A0-8A14-F17D6FDD85F4}"/>
              </a:ext>
            </a:extLst>
          </p:cNvPr>
          <p:cNvSpPr>
            <a:spLocks noGrp="1"/>
          </p:cNvSpPr>
          <p:nvPr/>
        </p:nvSpPr>
        <p:spPr>
          <a:xfrm>
            <a:off x="6934200" y="2076450"/>
            <a:ext cx="135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凭据</a:t>
            </a:r>
          </a:p>
        </p:txBody>
      </p:sp>
      <p:sp>
        <p:nvSpPr>
          <p:cNvPr id="16" name="p29-audit-line-3">
            <a:extLst>
              <a:ext uri="{FF2B5EF4-FFF2-40B4-BE49-F238E27FC236}">
                <a16:creationId xmlns:a16="http://schemas.microsoft.com/office/drawing/2014/main" id="{C36FE48D-7956-4406-9FBA-A4112021038D}"/>
              </a:ext>
            </a:extLst>
          </p:cNvPr>
          <p:cNvSpPr>
            <a:spLocks noGrp="1"/>
          </p:cNvSpPr>
          <p:nvPr/>
        </p:nvSpPr>
        <p:spPr>
          <a:xfrm>
            <a:off x="7124700" y="2481263"/>
            <a:ext cx="97155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7" name="p29-audit-4">
            <a:extLst>
              <a:ext uri="{FF2B5EF4-FFF2-40B4-BE49-F238E27FC236}">
                <a16:creationId xmlns:a16="http://schemas.microsoft.com/office/drawing/2014/main" id="{C8BF35A2-9F5E-47BE-9DC8-B4DE56472F95}"/>
              </a:ext>
            </a:extLst>
          </p:cNvPr>
          <p:cNvSpPr>
            <a:spLocks noGrp="1"/>
          </p:cNvSpPr>
          <p:nvPr/>
        </p:nvSpPr>
        <p:spPr>
          <a:xfrm>
            <a:off x="8496300" y="2076450"/>
            <a:ext cx="135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可逆性</a:t>
            </a:r>
          </a:p>
        </p:txBody>
      </p:sp>
      <p:sp>
        <p:nvSpPr>
          <p:cNvPr id="18" name="p29-audit-line-4">
            <a:extLst>
              <a:ext uri="{FF2B5EF4-FFF2-40B4-BE49-F238E27FC236}">
                <a16:creationId xmlns:a16="http://schemas.microsoft.com/office/drawing/2014/main" id="{60A174A2-55DC-4874-A298-FAE042EAA183}"/>
              </a:ext>
            </a:extLst>
          </p:cNvPr>
          <p:cNvSpPr>
            <a:spLocks noGrp="1"/>
          </p:cNvSpPr>
          <p:nvPr/>
        </p:nvSpPr>
        <p:spPr>
          <a:xfrm>
            <a:off x="8686800" y="2481263"/>
            <a:ext cx="97155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9" name="p29-audit-5">
            <a:extLst>
              <a:ext uri="{FF2B5EF4-FFF2-40B4-BE49-F238E27FC236}">
                <a16:creationId xmlns:a16="http://schemas.microsoft.com/office/drawing/2014/main" id="{A13B4752-AE3F-45CF-9EB3-6C9626AA4F0F}"/>
              </a:ext>
            </a:extLst>
          </p:cNvPr>
          <p:cNvSpPr>
            <a:spLocks noGrp="1"/>
          </p:cNvSpPr>
          <p:nvPr/>
        </p:nvSpPr>
        <p:spPr>
          <a:xfrm>
            <a:off x="10058400" y="2076450"/>
            <a:ext cx="135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恢复方式</a:t>
            </a:r>
          </a:p>
        </p:txBody>
      </p:sp>
      <p:sp>
        <p:nvSpPr>
          <p:cNvPr id="20" name="p29-audit-line-5">
            <a:extLst>
              <a:ext uri="{FF2B5EF4-FFF2-40B4-BE49-F238E27FC236}">
                <a16:creationId xmlns:a16="http://schemas.microsoft.com/office/drawing/2014/main" id="{49F9626F-0D42-44C2-A7CF-2A6E52321792}"/>
              </a:ext>
            </a:extLst>
          </p:cNvPr>
          <p:cNvSpPr>
            <a:spLocks noGrp="1"/>
          </p:cNvSpPr>
          <p:nvPr/>
        </p:nvSpPr>
        <p:spPr>
          <a:xfrm>
            <a:off x="10248900" y="2481263"/>
            <a:ext cx="97155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21" name="p29-recovery-line">
            <a:extLst>
              <a:ext uri="{FF2B5EF4-FFF2-40B4-BE49-F238E27FC236}">
                <a16:creationId xmlns:a16="http://schemas.microsoft.com/office/drawing/2014/main" id="{F5902D61-61E2-4E2C-9469-6D8D9BED8F1A}"/>
              </a:ext>
            </a:extLst>
          </p:cNvPr>
          <p:cNvSpPr>
            <a:spLocks noGrp="1"/>
          </p:cNvSpPr>
          <p:nvPr/>
        </p:nvSpPr>
        <p:spPr>
          <a:xfrm>
            <a:off x="1123950" y="3543300"/>
            <a:ext cx="990600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22" name="p29-recovery-arrow-0">
            <a:extLst>
              <a:ext uri="{FF2B5EF4-FFF2-40B4-BE49-F238E27FC236}">
                <a16:creationId xmlns:a16="http://schemas.microsoft.com/office/drawing/2014/main" id="{37700A91-6033-44C0-BBB7-3A89A5C70691}"/>
              </a:ext>
            </a:extLst>
          </p:cNvPr>
          <p:cNvSpPr>
            <a:spLocks noGrp="1"/>
          </p:cNvSpPr>
          <p:nvPr/>
        </p:nvSpPr>
        <p:spPr>
          <a:xfrm>
            <a:off x="2305050" y="3295650"/>
            <a:ext cx="571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p29-recovery-arrow-1">
            <a:extLst>
              <a:ext uri="{FF2B5EF4-FFF2-40B4-BE49-F238E27FC236}">
                <a16:creationId xmlns:a16="http://schemas.microsoft.com/office/drawing/2014/main" id="{95F8CBB6-BD17-4BA9-8C5A-4A7631C9C141}"/>
              </a:ext>
            </a:extLst>
          </p:cNvPr>
          <p:cNvSpPr>
            <a:spLocks noGrp="1"/>
          </p:cNvSpPr>
          <p:nvPr/>
        </p:nvSpPr>
        <p:spPr>
          <a:xfrm>
            <a:off x="4533900" y="3295650"/>
            <a:ext cx="571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p29-recovery-arrow-2">
            <a:extLst>
              <a:ext uri="{FF2B5EF4-FFF2-40B4-BE49-F238E27FC236}">
                <a16:creationId xmlns:a16="http://schemas.microsoft.com/office/drawing/2014/main" id="{7F4AC1F9-1E39-4A98-9C94-5343988D1394}"/>
              </a:ext>
            </a:extLst>
          </p:cNvPr>
          <p:cNvSpPr>
            <a:spLocks noGrp="1"/>
          </p:cNvSpPr>
          <p:nvPr/>
        </p:nvSpPr>
        <p:spPr>
          <a:xfrm>
            <a:off x="6762750" y="3295650"/>
            <a:ext cx="571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p29-recovery-arrow-3">
            <a:extLst>
              <a:ext uri="{FF2B5EF4-FFF2-40B4-BE49-F238E27FC236}">
                <a16:creationId xmlns:a16="http://schemas.microsoft.com/office/drawing/2014/main" id="{E8E32DF1-2298-4C09-BBF5-8DAB91FF69E5}"/>
              </a:ext>
            </a:extLst>
          </p:cNvPr>
          <p:cNvSpPr>
            <a:spLocks noGrp="1"/>
          </p:cNvSpPr>
          <p:nvPr/>
        </p:nvSpPr>
        <p:spPr>
          <a:xfrm>
            <a:off x="8991600" y="3295650"/>
            <a:ext cx="571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6" name="p29-step-number-0">
            <a:extLst>
              <a:ext uri="{FF2B5EF4-FFF2-40B4-BE49-F238E27FC236}">
                <a16:creationId xmlns:a16="http://schemas.microsoft.com/office/drawing/2014/main" id="{AB887558-0DCB-45FF-92AC-C5F6851AD2B8}"/>
              </a:ext>
            </a:extLst>
          </p:cNvPr>
          <p:cNvSpPr>
            <a:spLocks noGrp="1"/>
          </p:cNvSpPr>
          <p:nvPr/>
        </p:nvSpPr>
        <p:spPr>
          <a:xfrm>
            <a:off x="647700" y="29146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7" name="p29-step-node-0">
            <a:extLst>
              <a:ext uri="{FF2B5EF4-FFF2-40B4-BE49-F238E27FC236}">
                <a16:creationId xmlns:a16="http://schemas.microsoft.com/office/drawing/2014/main" id="{40F0B74F-BC4C-45E3-85D5-485B72CD8456}"/>
              </a:ext>
            </a:extLst>
          </p:cNvPr>
          <p:cNvSpPr>
            <a:spLocks noGrp="1"/>
          </p:cNvSpPr>
          <p:nvPr/>
        </p:nvSpPr>
        <p:spPr>
          <a:xfrm>
            <a:off x="1333500" y="3371850"/>
            <a:ext cx="381000" cy="3810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C8161E"/>
            </a:solidFill>
            <a:prstDash val="solid"/>
          </a:ln>
        </p:spPr>
      </p:sp>
      <p:sp>
        <p:nvSpPr>
          <p:cNvPr id="28" name="p29-step-label-0">
            <a:extLst>
              <a:ext uri="{FF2B5EF4-FFF2-40B4-BE49-F238E27FC236}">
                <a16:creationId xmlns:a16="http://schemas.microsoft.com/office/drawing/2014/main" id="{D2218B66-3FB0-4097-BF23-3939D4B3982C}"/>
              </a:ext>
            </a:extLst>
          </p:cNvPr>
          <p:cNvSpPr>
            <a:spLocks noGrp="1"/>
          </p:cNvSpPr>
          <p:nvPr/>
        </p:nvSpPr>
        <p:spPr>
          <a:xfrm>
            <a:off x="647700" y="3886200"/>
            <a:ext cx="1676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停止</a:t>
            </a:r>
          </a:p>
        </p:txBody>
      </p:sp>
      <p:sp>
        <p:nvSpPr>
          <p:cNvPr id="29" name="p29-step-detail-0">
            <a:extLst>
              <a:ext uri="{FF2B5EF4-FFF2-40B4-BE49-F238E27FC236}">
                <a16:creationId xmlns:a16="http://schemas.microsoft.com/office/drawing/2014/main" id="{DF42996A-02FD-4AF9-B42F-C2AB3E62CCA6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1752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不继续执行</a:t>
            </a:r>
          </a:p>
        </p:txBody>
      </p:sp>
      <p:sp>
        <p:nvSpPr>
          <p:cNvPr id="30" name="p29-step-number-1">
            <a:extLst>
              <a:ext uri="{FF2B5EF4-FFF2-40B4-BE49-F238E27FC236}">
                <a16:creationId xmlns:a16="http://schemas.microsoft.com/office/drawing/2014/main" id="{C3A7753D-D817-4CF7-8C48-D25113466133}"/>
              </a:ext>
            </a:extLst>
          </p:cNvPr>
          <p:cNvSpPr>
            <a:spLocks noGrp="1"/>
          </p:cNvSpPr>
          <p:nvPr/>
        </p:nvSpPr>
        <p:spPr>
          <a:xfrm>
            <a:off x="2876550" y="29146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1" name="p29-step-node-1">
            <a:extLst>
              <a:ext uri="{FF2B5EF4-FFF2-40B4-BE49-F238E27FC236}">
                <a16:creationId xmlns:a16="http://schemas.microsoft.com/office/drawing/2014/main" id="{8FE1E664-7132-41EF-88FC-41DA649EF6D4}"/>
              </a:ext>
            </a:extLst>
          </p:cNvPr>
          <p:cNvSpPr>
            <a:spLocks noGrp="1"/>
          </p:cNvSpPr>
          <p:nvPr/>
        </p:nvSpPr>
        <p:spPr>
          <a:xfrm>
            <a:off x="3562350" y="3371850"/>
            <a:ext cx="381000" cy="3810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18354E"/>
            </a:solidFill>
            <a:prstDash val="solid"/>
          </a:ln>
        </p:spPr>
      </p:sp>
      <p:sp>
        <p:nvSpPr>
          <p:cNvPr id="32" name="p29-step-label-1">
            <a:extLst>
              <a:ext uri="{FF2B5EF4-FFF2-40B4-BE49-F238E27FC236}">
                <a16:creationId xmlns:a16="http://schemas.microsoft.com/office/drawing/2014/main" id="{2217FEF2-3F7E-4CC4-B4F3-2AEB72CFFE45}"/>
              </a:ext>
            </a:extLst>
          </p:cNvPr>
          <p:cNvSpPr>
            <a:spLocks noGrp="1"/>
          </p:cNvSpPr>
          <p:nvPr/>
        </p:nvSpPr>
        <p:spPr>
          <a:xfrm>
            <a:off x="2876550" y="3886200"/>
            <a:ext cx="1676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记录</a:t>
            </a:r>
          </a:p>
        </p:txBody>
      </p:sp>
      <p:sp>
        <p:nvSpPr>
          <p:cNvPr id="33" name="p29-step-detail-1">
            <a:extLst>
              <a:ext uri="{FF2B5EF4-FFF2-40B4-BE49-F238E27FC236}">
                <a16:creationId xmlns:a16="http://schemas.microsoft.com/office/drawing/2014/main" id="{955638A7-3FBD-4978-B0EF-CD72B15FC270}"/>
              </a:ext>
            </a:extLst>
          </p:cNvPr>
          <p:cNvSpPr>
            <a:spLocks noGrp="1"/>
          </p:cNvSpPr>
          <p:nvPr/>
        </p:nvSpPr>
        <p:spPr>
          <a:xfrm>
            <a:off x="2838450" y="4324350"/>
            <a:ext cx="1752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保留请求与失败原因</a:t>
            </a:r>
          </a:p>
        </p:txBody>
      </p:sp>
      <p:sp>
        <p:nvSpPr>
          <p:cNvPr id="34" name="p29-step-number-2">
            <a:extLst>
              <a:ext uri="{FF2B5EF4-FFF2-40B4-BE49-F238E27FC236}">
                <a16:creationId xmlns:a16="http://schemas.microsoft.com/office/drawing/2014/main" id="{E8CDD36F-B8DB-4C5B-9A0E-C5B56EE27072}"/>
              </a:ext>
            </a:extLst>
          </p:cNvPr>
          <p:cNvSpPr>
            <a:spLocks noGrp="1"/>
          </p:cNvSpPr>
          <p:nvPr/>
        </p:nvSpPr>
        <p:spPr>
          <a:xfrm>
            <a:off x="5105400" y="29146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5" name="p29-step-node-2">
            <a:extLst>
              <a:ext uri="{FF2B5EF4-FFF2-40B4-BE49-F238E27FC236}">
                <a16:creationId xmlns:a16="http://schemas.microsoft.com/office/drawing/2014/main" id="{2283DA1B-A3C0-4C7E-9617-2E59550681FD}"/>
              </a:ext>
            </a:extLst>
          </p:cNvPr>
          <p:cNvSpPr>
            <a:spLocks noGrp="1"/>
          </p:cNvSpPr>
          <p:nvPr/>
        </p:nvSpPr>
        <p:spPr>
          <a:xfrm>
            <a:off x="5791200" y="3371850"/>
            <a:ext cx="381000" cy="3810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18354E"/>
            </a:solidFill>
            <a:prstDash val="solid"/>
          </a:ln>
        </p:spPr>
      </p:sp>
      <p:sp>
        <p:nvSpPr>
          <p:cNvPr id="36" name="p29-step-label-2">
            <a:extLst>
              <a:ext uri="{FF2B5EF4-FFF2-40B4-BE49-F238E27FC236}">
                <a16:creationId xmlns:a16="http://schemas.microsoft.com/office/drawing/2014/main" id="{51B67B71-E223-4EFE-91AB-66F13DD0DB91}"/>
              </a:ext>
            </a:extLst>
          </p:cNvPr>
          <p:cNvSpPr>
            <a:spLocks noGrp="1"/>
          </p:cNvSpPr>
          <p:nvPr/>
        </p:nvSpPr>
        <p:spPr>
          <a:xfrm>
            <a:off x="5105400" y="3886200"/>
            <a:ext cx="1676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收窄</a:t>
            </a:r>
          </a:p>
        </p:txBody>
      </p:sp>
      <p:sp>
        <p:nvSpPr>
          <p:cNvPr id="37" name="p29-step-detail-2">
            <a:extLst>
              <a:ext uri="{FF2B5EF4-FFF2-40B4-BE49-F238E27FC236}">
                <a16:creationId xmlns:a16="http://schemas.microsoft.com/office/drawing/2014/main" id="{1AAD5DD5-EF6D-4578-A2C4-A26341890D44}"/>
              </a:ext>
            </a:extLst>
          </p:cNvPr>
          <p:cNvSpPr>
            <a:spLocks noGrp="1"/>
          </p:cNvSpPr>
          <p:nvPr/>
        </p:nvSpPr>
        <p:spPr>
          <a:xfrm>
            <a:off x="5067300" y="4324350"/>
            <a:ext cx="1752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限定目录、文件与权限</a:t>
            </a:r>
          </a:p>
        </p:txBody>
      </p:sp>
      <p:sp>
        <p:nvSpPr>
          <p:cNvPr id="38" name="p29-step-number-3">
            <a:extLst>
              <a:ext uri="{FF2B5EF4-FFF2-40B4-BE49-F238E27FC236}">
                <a16:creationId xmlns:a16="http://schemas.microsoft.com/office/drawing/2014/main" id="{C033AD6A-B692-46F0-945B-368C74F1FFB8}"/>
              </a:ext>
            </a:extLst>
          </p:cNvPr>
          <p:cNvSpPr>
            <a:spLocks noGrp="1"/>
          </p:cNvSpPr>
          <p:nvPr/>
        </p:nvSpPr>
        <p:spPr>
          <a:xfrm>
            <a:off x="7334250" y="29146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9" name="p29-step-node-3">
            <a:extLst>
              <a:ext uri="{FF2B5EF4-FFF2-40B4-BE49-F238E27FC236}">
                <a16:creationId xmlns:a16="http://schemas.microsoft.com/office/drawing/2014/main" id="{6B8EC80D-42C0-494D-95A9-19E15B8BFD8D}"/>
              </a:ext>
            </a:extLst>
          </p:cNvPr>
          <p:cNvSpPr>
            <a:spLocks noGrp="1"/>
          </p:cNvSpPr>
          <p:nvPr/>
        </p:nvSpPr>
        <p:spPr>
          <a:xfrm>
            <a:off x="8020050" y="3371850"/>
            <a:ext cx="381000" cy="3810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18354E"/>
            </a:solidFill>
            <a:prstDash val="solid"/>
          </a:ln>
        </p:spPr>
      </p:sp>
      <p:sp>
        <p:nvSpPr>
          <p:cNvPr id="40" name="p29-step-label-3">
            <a:extLst>
              <a:ext uri="{FF2B5EF4-FFF2-40B4-BE49-F238E27FC236}">
                <a16:creationId xmlns:a16="http://schemas.microsoft.com/office/drawing/2014/main" id="{009F029A-1123-477F-B04C-B1E69BAC718A}"/>
              </a:ext>
            </a:extLst>
          </p:cNvPr>
          <p:cNvSpPr>
            <a:spLocks noGrp="1"/>
          </p:cNvSpPr>
          <p:nvPr/>
        </p:nvSpPr>
        <p:spPr>
          <a:xfrm>
            <a:off x="7334250" y="3886200"/>
            <a:ext cx="1676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重试</a:t>
            </a:r>
          </a:p>
        </p:txBody>
      </p:sp>
      <p:sp>
        <p:nvSpPr>
          <p:cNvPr id="41" name="p29-step-detail-3">
            <a:extLst>
              <a:ext uri="{FF2B5EF4-FFF2-40B4-BE49-F238E27FC236}">
                <a16:creationId xmlns:a16="http://schemas.microsoft.com/office/drawing/2014/main" id="{52F2020C-E5A4-4F11-8579-DDF3E460B807}"/>
              </a:ext>
            </a:extLst>
          </p:cNvPr>
          <p:cNvSpPr>
            <a:spLocks noGrp="1"/>
          </p:cNvSpPr>
          <p:nvPr/>
        </p:nvSpPr>
        <p:spPr>
          <a:xfrm>
            <a:off x="7296150" y="4324350"/>
            <a:ext cx="1752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按新任务契约执行</a:t>
            </a:r>
          </a:p>
        </p:txBody>
      </p:sp>
      <p:sp>
        <p:nvSpPr>
          <p:cNvPr id="42" name="p29-step-number-4">
            <a:extLst>
              <a:ext uri="{FF2B5EF4-FFF2-40B4-BE49-F238E27FC236}">
                <a16:creationId xmlns:a16="http://schemas.microsoft.com/office/drawing/2014/main" id="{A20310E1-DCAE-4464-9A27-E5CB58127A3F}"/>
              </a:ext>
            </a:extLst>
          </p:cNvPr>
          <p:cNvSpPr>
            <a:spLocks noGrp="1"/>
          </p:cNvSpPr>
          <p:nvPr/>
        </p:nvSpPr>
        <p:spPr>
          <a:xfrm>
            <a:off x="9563100" y="29146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3" name="p29-step-node-4">
            <a:extLst>
              <a:ext uri="{FF2B5EF4-FFF2-40B4-BE49-F238E27FC236}">
                <a16:creationId xmlns:a16="http://schemas.microsoft.com/office/drawing/2014/main" id="{8E1D0A5F-12A9-4913-8AF7-C2B88E187EBA}"/>
              </a:ext>
            </a:extLst>
          </p:cNvPr>
          <p:cNvSpPr>
            <a:spLocks noGrp="1"/>
          </p:cNvSpPr>
          <p:nvPr/>
        </p:nvSpPr>
        <p:spPr>
          <a:xfrm>
            <a:off x="10248900" y="3371850"/>
            <a:ext cx="381000" cy="3810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28745A"/>
            </a:solidFill>
            <a:prstDash val="solid"/>
          </a:ln>
        </p:spPr>
      </p:sp>
      <p:sp>
        <p:nvSpPr>
          <p:cNvPr id="44" name="p29-step-label-4">
            <a:extLst>
              <a:ext uri="{FF2B5EF4-FFF2-40B4-BE49-F238E27FC236}">
                <a16:creationId xmlns:a16="http://schemas.microsoft.com/office/drawing/2014/main" id="{D660C2DF-0ADE-46FC-8063-06C39C7FF958}"/>
              </a:ext>
            </a:extLst>
          </p:cNvPr>
          <p:cNvSpPr>
            <a:spLocks noGrp="1"/>
          </p:cNvSpPr>
          <p:nvPr/>
        </p:nvSpPr>
        <p:spPr>
          <a:xfrm>
            <a:off x="9563100" y="3886200"/>
            <a:ext cx="1676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核验</a:t>
            </a:r>
          </a:p>
        </p:txBody>
      </p:sp>
      <p:sp>
        <p:nvSpPr>
          <p:cNvPr id="45" name="p29-step-detail-4">
            <a:extLst>
              <a:ext uri="{FF2B5EF4-FFF2-40B4-BE49-F238E27FC236}">
                <a16:creationId xmlns:a16="http://schemas.microsoft.com/office/drawing/2014/main" id="{E925D9AC-41FA-44AF-AD7D-36523450983A}"/>
              </a:ext>
            </a:extLst>
          </p:cNvPr>
          <p:cNvSpPr>
            <a:spLocks noGrp="1"/>
          </p:cNvSpPr>
          <p:nvPr/>
        </p:nvSpPr>
        <p:spPr>
          <a:xfrm>
            <a:off x="9525000" y="4324350"/>
            <a:ext cx="1752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 diff / log</a:t>
            </a:r>
          </a:p>
        </p:txBody>
      </p:sp>
      <p:sp>
        <p:nvSpPr>
          <p:cNvPr id="46" name="p29-bottom">
            <a:extLst>
              <a:ext uri="{FF2B5EF4-FFF2-40B4-BE49-F238E27FC236}">
                <a16:creationId xmlns:a16="http://schemas.microsoft.com/office/drawing/2014/main" id="{49EAADE3-692E-4C2A-9C11-3F82AF9FC59B}"/>
              </a:ext>
            </a:extLst>
          </p:cNvPr>
          <p:cNvSpPr>
            <a:spLocks noGrp="1"/>
          </p:cNvSpPr>
          <p:nvPr/>
        </p:nvSpPr>
        <p:spPr>
          <a:xfrm>
            <a:off x="2190750" y="5257800"/>
            <a:ext cx="7810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失败记录用于评价工作流；恢复从收窄任务契约开始。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优先使用真实兴趣，没有题目时先借一个小问题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FEBBBCE-9E16-527A-0EE3-E5839422D847}" type="slidenum">
              <a:t>30</a:t>
            </a:fld>
            <a:endParaRPr/>
          </a:p>
        </p:txBody>
      </p:sp>
      <p:sp>
        <p:nvSpPr>
          <p:cNvPr id="6" name="p30-start">
            <a:extLst>
              <a:ext uri="{FF2B5EF4-FFF2-40B4-BE49-F238E27FC236}">
                <a16:creationId xmlns:a16="http://schemas.microsoft.com/office/drawing/2014/main" id="{27BD1278-451B-47B4-845E-0EA078F599D0}"/>
              </a:ext>
            </a:extLst>
          </p:cNvPr>
          <p:cNvSpPr>
            <a:spLocks noGrp="1"/>
          </p:cNvSpPr>
          <p:nvPr/>
        </p:nvSpPr>
        <p:spPr>
          <a:xfrm>
            <a:off x="2476500" y="1143000"/>
            <a:ext cx="7239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今天只需要一个可修改的起点</a:t>
            </a:r>
          </a:p>
        </p:txBody>
      </p:sp>
      <p:sp>
        <p:nvSpPr>
          <p:cNvPr id="7" name="p30-n-0">
            <a:extLst>
              <a:ext uri="{FF2B5EF4-FFF2-40B4-BE49-F238E27FC236}">
                <a16:creationId xmlns:a16="http://schemas.microsoft.com/office/drawing/2014/main" id="{27B5D983-6F08-40AA-9970-55C54A5B2B92}"/>
              </a:ext>
            </a:extLst>
          </p:cNvPr>
          <p:cNvSpPr>
            <a:spLocks noGrp="1"/>
          </p:cNvSpPr>
          <p:nvPr/>
        </p:nvSpPr>
        <p:spPr>
          <a:xfrm>
            <a:off x="1524000" y="2209800"/>
            <a:ext cx="85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625" b="1">
                <a:solidFill>
                  <a:srgbClr val="C8161E"/>
                </a:solidFill>
              </a:defRPr>
            </a:pPr>
            <a:r>
              <a:rPr sz="262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p30-l-0">
            <a:extLst>
              <a:ext uri="{FF2B5EF4-FFF2-40B4-BE49-F238E27FC236}">
                <a16:creationId xmlns:a16="http://schemas.microsoft.com/office/drawing/2014/main" id="{96A9F120-A45F-48F8-903B-A7E5DC537B45}"/>
              </a:ext>
            </a:extLst>
          </p:cNvPr>
          <p:cNvSpPr>
            <a:spLocks noGrp="1"/>
          </p:cNvSpPr>
          <p:nvPr/>
        </p:nvSpPr>
        <p:spPr>
          <a:xfrm>
            <a:off x="2762250" y="2209800"/>
            <a:ext cx="6191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950" b="1">
                <a:solidFill>
                  <a:srgbClr val="263746"/>
                </a:solidFill>
              </a:defRPr>
            </a:pPr>
            <a:r>
              <a:rPr sz="19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本人真实研究兴趣</a:t>
            </a:r>
          </a:p>
        </p:txBody>
      </p:sp>
      <p:sp>
        <p:nvSpPr>
          <p:cNvPr id="9" name="p30-t-0">
            <a:extLst>
              <a:ext uri="{FF2B5EF4-FFF2-40B4-BE49-F238E27FC236}">
                <a16:creationId xmlns:a16="http://schemas.microsoft.com/office/drawing/2014/main" id="{912E1B2F-2955-4207-9180-63AB340E3EA9}"/>
              </a:ext>
            </a:extLst>
          </p:cNvPr>
          <p:cNvSpPr>
            <a:spLocks noGrp="1"/>
          </p:cNvSpPr>
          <p:nvPr/>
        </p:nvSpPr>
        <p:spPr>
          <a:xfrm>
            <a:off x="9505950" y="2286000"/>
            <a:ext cx="1143000" cy="5143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优先</a:t>
            </a:r>
          </a:p>
        </p:txBody>
      </p:sp>
      <p:sp>
        <p:nvSpPr>
          <p:cNvPr id="10" name="p30-n-1">
            <a:extLst>
              <a:ext uri="{FF2B5EF4-FFF2-40B4-BE49-F238E27FC236}">
                <a16:creationId xmlns:a16="http://schemas.microsoft.com/office/drawing/2014/main" id="{14F787E1-715A-473E-BD52-7B1C1AE6F16F}"/>
              </a:ext>
            </a:extLst>
          </p:cNvPr>
          <p:cNvSpPr>
            <a:spLocks noGrp="1"/>
          </p:cNvSpPr>
          <p:nvPr/>
        </p:nvSpPr>
        <p:spPr>
          <a:xfrm>
            <a:off x="1524000" y="3238500"/>
            <a:ext cx="85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p30-l-1">
            <a:extLst>
              <a:ext uri="{FF2B5EF4-FFF2-40B4-BE49-F238E27FC236}">
                <a16:creationId xmlns:a16="http://schemas.microsoft.com/office/drawing/2014/main" id="{719AF847-2282-4A83-85CF-8D581FC0F477}"/>
              </a:ext>
            </a:extLst>
          </p:cNvPr>
          <p:cNvSpPr>
            <a:spLocks noGrp="1"/>
          </p:cNvSpPr>
          <p:nvPr/>
        </p:nvSpPr>
        <p:spPr>
          <a:xfrm>
            <a:off x="2762250" y="3238500"/>
            <a:ext cx="6191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950" b="1">
                <a:solidFill>
                  <a:srgbClr val="263746"/>
                </a:solidFill>
              </a:defRPr>
            </a:pPr>
            <a:r>
              <a:rPr sz="19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导师组公开、可缩小的问题</a:t>
            </a:r>
          </a:p>
        </p:txBody>
      </p:sp>
      <p:sp>
        <p:nvSpPr>
          <p:cNvPr id="12" name="p30-t-1">
            <a:extLst>
              <a:ext uri="{FF2B5EF4-FFF2-40B4-BE49-F238E27FC236}">
                <a16:creationId xmlns:a16="http://schemas.microsoft.com/office/drawing/2014/main" id="{771B4651-598D-4935-A500-09A0AD2E4517}"/>
              </a:ext>
            </a:extLst>
          </p:cNvPr>
          <p:cNvSpPr>
            <a:spLocks noGrp="1"/>
          </p:cNvSpPr>
          <p:nvPr/>
        </p:nvSpPr>
        <p:spPr>
          <a:xfrm>
            <a:off x="9505950" y="3314700"/>
            <a:ext cx="1143000" cy="5143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可用</a:t>
            </a:r>
          </a:p>
        </p:txBody>
      </p:sp>
      <p:sp>
        <p:nvSpPr>
          <p:cNvPr id="13" name="p30-n-2">
            <a:extLst>
              <a:ext uri="{FF2B5EF4-FFF2-40B4-BE49-F238E27FC236}">
                <a16:creationId xmlns:a16="http://schemas.microsoft.com/office/drawing/2014/main" id="{85ED402C-CEC5-4101-B691-67E334749626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85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p30-l-2">
            <a:extLst>
              <a:ext uri="{FF2B5EF4-FFF2-40B4-BE49-F238E27FC236}">
                <a16:creationId xmlns:a16="http://schemas.microsoft.com/office/drawing/2014/main" id="{CD6BC5D3-28F7-49EB-A365-24532BAB2577}"/>
              </a:ext>
            </a:extLst>
          </p:cNvPr>
          <p:cNvSpPr>
            <a:spLocks noGrp="1"/>
          </p:cNvSpPr>
          <p:nvPr/>
        </p:nvSpPr>
        <p:spPr>
          <a:xfrm>
            <a:off x="2762250" y="4267200"/>
            <a:ext cx="6191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950" b="1">
                <a:solidFill>
                  <a:srgbClr val="263746"/>
                </a:solidFill>
              </a:defRPr>
            </a:pPr>
            <a:r>
              <a:rPr sz="19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课程备用微型问题</a:t>
            </a:r>
          </a:p>
        </p:txBody>
      </p:sp>
      <p:sp>
        <p:nvSpPr>
          <p:cNvPr id="15" name="p30-t-2">
            <a:extLst>
              <a:ext uri="{FF2B5EF4-FFF2-40B4-BE49-F238E27FC236}">
                <a16:creationId xmlns:a16="http://schemas.microsoft.com/office/drawing/2014/main" id="{111EA490-FD30-4B29-8D0B-1B6A39A6BB14}"/>
              </a:ext>
            </a:extLst>
          </p:cNvPr>
          <p:cNvSpPr>
            <a:spLocks noGrp="1"/>
          </p:cNvSpPr>
          <p:nvPr/>
        </p:nvSpPr>
        <p:spPr>
          <a:xfrm>
            <a:off x="9505950" y="4343400"/>
            <a:ext cx="1143000" cy="5143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兜底</a:t>
            </a:r>
          </a:p>
        </p:txBody>
      </p:sp>
      <p:sp>
        <p:nvSpPr>
          <p:cNvPr id="16" name="p30-action">
            <a:extLst>
              <a:ext uri="{FF2B5EF4-FFF2-40B4-BE49-F238E27FC236}">
                <a16:creationId xmlns:a16="http://schemas.microsoft.com/office/drawing/2014/main" id="{DBB693C9-4921-4A2A-9EE0-D02D9ED81641}"/>
              </a:ext>
            </a:extLst>
          </p:cNvPr>
          <p:cNvSpPr>
            <a:spLocks noGrp="1"/>
          </p:cNvSpPr>
          <p:nvPr/>
        </p:nvSpPr>
        <p:spPr>
          <a:xfrm>
            <a:off x="2476500" y="5276850"/>
            <a:ext cx="7239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0">
                <a:solidFill>
                  <a:srgbClr val="667684"/>
                </a:solidFill>
              </a:defRPr>
            </a:pPr>
            <a:r>
              <a:rPr sz="15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30 秒内选择；仍无法选择者默认使用备用题 1。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个人实践：完成一次“只读—审核—写回—记录”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D172A7C5-A0CC-7B36-F236-345181E6AD72}" type="slidenum">
              <a:t>31</a:t>
            </a:fld>
            <a:endParaRPr/>
          </a:p>
        </p:txBody>
      </p:sp>
      <p:sp>
        <p:nvSpPr>
          <p:cNvPr id="6" name="p31-time">
            <a:extLst>
              <a:ext uri="{FF2B5EF4-FFF2-40B4-BE49-F238E27FC236}">
                <a16:creationId xmlns:a16="http://schemas.microsoft.com/office/drawing/2014/main" id="{25E7B3A8-9FBE-42FE-8DA3-E2DDCBC17302}"/>
              </a:ext>
            </a:extLst>
          </p:cNvPr>
          <p:cNvSpPr>
            <a:spLocks noGrp="1"/>
          </p:cNvSpPr>
          <p:nvPr/>
        </p:nvSpPr>
        <p:spPr>
          <a:xfrm>
            <a:off x="8686800" y="89535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两段：1-5 交互 · 6-7 记录</a:t>
            </a:r>
          </a:p>
        </p:txBody>
      </p:sp>
      <p:sp>
        <p:nvSpPr>
          <p:cNvPr id="7" name="p31-tree-title">
            <a:extLst>
              <a:ext uri="{FF2B5EF4-FFF2-40B4-BE49-F238E27FC236}">
                <a16:creationId xmlns:a16="http://schemas.microsoft.com/office/drawing/2014/main" id="{6584F408-3557-4BD0-8965-0F1FBE74BF6A}"/>
              </a:ext>
            </a:extLst>
          </p:cNvPr>
          <p:cNvSpPr>
            <a:spLocks noGrp="1"/>
          </p:cNvSpPr>
          <p:nvPr/>
        </p:nvSpPr>
        <p:spPr>
          <a:xfrm>
            <a:off x="685800" y="11049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最小工作区</a:t>
            </a:r>
          </a:p>
        </p:txBody>
      </p:sp>
      <p:sp>
        <p:nvSpPr>
          <p:cNvPr id="8" name="p31-tree">
            <a:extLst>
              <a:ext uri="{FF2B5EF4-FFF2-40B4-BE49-F238E27FC236}">
                <a16:creationId xmlns:a16="http://schemas.microsoft.com/office/drawing/2014/main" id="{061BDC75-3011-4074-8A7E-A8AEEEE4BD07}"/>
              </a:ext>
            </a:extLst>
          </p:cNvPr>
          <p:cNvSpPr>
            <a:spLocks noGrp="1"/>
          </p:cNvSpPr>
          <p:nvPr/>
        </p:nvSpPr>
        <p:spPr>
          <a:xfrm>
            <a:off x="666750" y="1619250"/>
            <a:ext cx="3714750" cy="23622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t"/>
          <a:lstStyle/>
          <a:p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project/</a:t>
            </a:r>
          </a:p>
          <a:p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AGENTS.md</a:t>
            </a:r>
          </a:p>
          <a:p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problem-definition.md</a:t>
            </a:r>
          </a:p>
          <a:p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ai-usage-log.md</a:t>
            </a:r>
          </a:p>
          <a:p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└── notes/</a:t>
            </a:r>
          </a:p>
          <a:p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    └── stage-map.md</a:t>
            </a:r>
          </a:p>
        </p:txBody>
      </p:sp>
      <p:sp>
        <p:nvSpPr>
          <p:cNvPr id="9" name="p31-fallback">
            <a:extLst>
              <a:ext uri="{FF2B5EF4-FFF2-40B4-BE49-F238E27FC236}">
                <a16:creationId xmlns:a16="http://schemas.microsoft.com/office/drawing/2014/main" id="{987CB35A-7F83-4944-92B0-BEBFAB51F586}"/>
              </a:ext>
            </a:extLst>
          </p:cNvPr>
          <p:cNvSpPr>
            <a:spLocks noGrp="1"/>
          </p:cNvSpPr>
          <p:nvPr/>
        </p:nvSpPr>
        <p:spPr>
          <a:xfrm>
            <a:off x="704850" y="4267200"/>
            <a:ext cx="3638550" cy="1047750"/>
          </a:xfrm>
          <a:prstGeom prst="rect">
            <a:avLst/>
          </a:prstGeom>
          <a:solidFill>
            <a:srgbClr val="FAF0D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模型不可用：用 Markdown / 纸面写任务契约、预期 diff 和使用记录。</a:t>
            </a:r>
          </a:p>
        </p:txBody>
      </p:sp>
      <p:sp>
        <p:nvSpPr>
          <p:cNvPr id="10" name="p31-n-0">
            <a:extLst>
              <a:ext uri="{FF2B5EF4-FFF2-40B4-BE49-F238E27FC236}">
                <a16:creationId xmlns:a16="http://schemas.microsoft.com/office/drawing/2014/main" id="{9B519C76-EC02-493C-BD91-6DBEF6FA4063}"/>
              </a:ext>
            </a:extLst>
          </p:cNvPr>
          <p:cNvSpPr>
            <a:spLocks noGrp="1"/>
          </p:cNvSpPr>
          <p:nvPr/>
        </p:nvSpPr>
        <p:spPr>
          <a:xfrm>
            <a:off x="5010150" y="112395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p31-task-0">
            <a:extLst>
              <a:ext uri="{FF2B5EF4-FFF2-40B4-BE49-F238E27FC236}">
                <a16:creationId xmlns:a16="http://schemas.microsoft.com/office/drawing/2014/main" id="{E915F353-4E1E-4B8E-9058-B9790967537A}"/>
              </a:ext>
            </a:extLst>
          </p:cNvPr>
          <p:cNvSpPr>
            <a:spLocks noGrp="1"/>
          </p:cNvSpPr>
          <p:nvPr/>
        </p:nvSpPr>
        <p:spPr>
          <a:xfrm>
            <a:off x="5581650" y="112395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写初步问题 + 主要不确定性</a:t>
            </a:r>
          </a:p>
        </p:txBody>
      </p:sp>
      <p:sp>
        <p:nvSpPr>
          <p:cNvPr id="12" name="p31-n-1">
            <a:extLst>
              <a:ext uri="{FF2B5EF4-FFF2-40B4-BE49-F238E27FC236}">
                <a16:creationId xmlns:a16="http://schemas.microsoft.com/office/drawing/2014/main" id="{C8B3EA99-68F6-4D3F-B9E6-4C784CE7205F}"/>
              </a:ext>
            </a:extLst>
          </p:cNvPr>
          <p:cNvSpPr>
            <a:spLocks noGrp="1"/>
          </p:cNvSpPr>
          <p:nvPr/>
        </p:nvSpPr>
        <p:spPr>
          <a:xfrm>
            <a:off x="5010150" y="171450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p31-task-1">
            <a:extLst>
              <a:ext uri="{FF2B5EF4-FFF2-40B4-BE49-F238E27FC236}">
                <a16:creationId xmlns:a16="http://schemas.microsoft.com/office/drawing/2014/main" id="{C55B71A9-F27C-47EB-BE3B-D1AEA42CDBCD}"/>
              </a:ext>
            </a:extLst>
          </p:cNvPr>
          <p:cNvSpPr>
            <a:spLocks noGrp="1"/>
          </p:cNvSpPr>
          <p:nvPr/>
        </p:nvSpPr>
        <p:spPr>
          <a:xfrm>
            <a:off x="5581650" y="171450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Agent 只提出 3 条收敛建议</a:t>
            </a:r>
          </a:p>
        </p:txBody>
      </p:sp>
      <p:sp>
        <p:nvSpPr>
          <p:cNvPr id="14" name="p31-n-2">
            <a:extLst>
              <a:ext uri="{FF2B5EF4-FFF2-40B4-BE49-F238E27FC236}">
                <a16:creationId xmlns:a16="http://schemas.microsoft.com/office/drawing/2014/main" id="{A1DA0803-DAF9-464C-85E0-831C5260B537}"/>
              </a:ext>
            </a:extLst>
          </p:cNvPr>
          <p:cNvSpPr>
            <a:spLocks noGrp="1"/>
          </p:cNvSpPr>
          <p:nvPr/>
        </p:nvSpPr>
        <p:spPr>
          <a:xfrm>
            <a:off x="5010150" y="230505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p31-task-2">
            <a:extLst>
              <a:ext uri="{FF2B5EF4-FFF2-40B4-BE49-F238E27FC236}">
                <a16:creationId xmlns:a16="http://schemas.microsoft.com/office/drawing/2014/main" id="{18354ABA-07B2-42D1-B906-625ED1FAF31E}"/>
              </a:ext>
            </a:extLst>
          </p:cNvPr>
          <p:cNvSpPr>
            <a:spLocks noGrp="1"/>
          </p:cNvSpPr>
          <p:nvPr/>
        </p:nvSpPr>
        <p:spPr>
          <a:xfrm>
            <a:off x="5581650" y="230505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人工选择或全部拒绝</a:t>
            </a:r>
          </a:p>
        </p:txBody>
      </p:sp>
      <p:sp>
        <p:nvSpPr>
          <p:cNvPr id="16" name="p31-n-3">
            <a:extLst>
              <a:ext uri="{FF2B5EF4-FFF2-40B4-BE49-F238E27FC236}">
                <a16:creationId xmlns:a16="http://schemas.microsoft.com/office/drawing/2014/main" id="{D97ABBA5-56FF-42B7-A556-BDFFE5AA3915}"/>
              </a:ext>
            </a:extLst>
          </p:cNvPr>
          <p:cNvSpPr>
            <a:spLocks noGrp="1"/>
          </p:cNvSpPr>
          <p:nvPr/>
        </p:nvSpPr>
        <p:spPr>
          <a:xfrm>
            <a:off x="5010150" y="289560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p31-task-3">
            <a:extLst>
              <a:ext uri="{FF2B5EF4-FFF2-40B4-BE49-F238E27FC236}">
                <a16:creationId xmlns:a16="http://schemas.microsoft.com/office/drawing/2014/main" id="{ACEA9E02-020A-4451-9C1A-7B910DD7D9DB}"/>
              </a:ext>
            </a:extLst>
          </p:cNvPr>
          <p:cNvSpPr>
            <a:spLocks noGrp="1"/>
          </p:cNvSpPr>
          <p:nvPr/>
        </p:nvSpPr>
        <p:spPr>
          <a:xfrm>
            <a:off x="5581650" y="289560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只写回目标段落</a:t>
            </a:r>
          </a:p>
        </p:txBody>
      </p:sp>
      <p:sp>
        <p:nvSpPr>
          <p:cNvPr id="18" name="p31-n-4">
            <a:extLst>
              <a:ext uri="{FF2B5EF4-FFF2-40B4-BE49-F238E27FC236}">
                <a16:creationId xmlns:a16="http://schemas.microsoft.com/office/drawing/2014/main" id="{2E2CC86E-60FB-4984-A470-7DB01C41AD26}"/>
              </a:ext>
            </a:extLst>
          </p:cNvPr>
          <p:cNvSpPr>
            <a:spLocks noGrp="1"/>
          </p:cNvSpPr>
          <p:nvPr/>
        </p:nvSpPr>
        <p:spPr>
          <a:xfrm>
            <a:off x="5010150" y="348615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p31-task-4">
            <a:extLst>
              <a:ext uri="{FF2B5EF4-FFF2-40B4-BE49-F238E27FC236}">
                <a16:creationId xmlns:a16="http://schemas.microsoft.com/office/drawing/2014/main" id="{107C8630-6CC7-427C-A82D-939311E91A25}"/>
              </a:ext>
            </a:extLst>
          </p:cNvPr>
          <p:cNvSpPr>
            <a:spLocks noGrp="1"/>
          </p:cNvSpPr>
          <p:nvPr/>
        </p:nvSpPr>
        <p:spPr>
          <a:xfrm>
            <a:off x="5581650" y="348615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 diff</a:t>
            </a:r>
          </a:p>
        </p:txBody>
      </p:sp>
      <p:sp>
        <p:nvSpPr>
          <p:cNvPr id="20" name="p31-n-5">
            <a:extLst>
              <a:ext uri="{FF2B5EF4-FFF2-40B4-BE49-F238E27FC236}">
                <a16:creationId xmlns:a16="http://schemas.microsoft.com/office/drawing/2014/main" id="{B5D61D4B-2FC5-41BB-80DF-1B0245E8242C}"/>
              </a:ext>
            </a:extLst>
          </p:cNvPr>
          <p:cNvSpPr>
            <a:spLocks noGrp="1"/>
          </p:cNvSpPr>
          <p:nvPr/>
        </p:nvSpPr>
        <p:spPr>
          <a:xfrm>
            <a:off x="5010150" y="407670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p31-task-5">
            <a:extLst>
              <a:ext uri="{FF2B5EF4-FFF2-40B4-BE49-F238E27FC236}">
                <a16:creationId xmlns:a16="http://schemas.microsoft.com/office/drawing/2014/main" id="{3BFE30D0-8644-4CDF-9E12-A7EFF44B92F5}"/>
              </a:ext>
            </a:extLst>
          </p:cNvPr>
          <p:cNvSpPr>
            <a:spLocks noGrp="1"/>
          </p:cNvSpPr>
          <p:nvPr/>
        </p:nvSpPr>
        <p:spPr>
          <a:xfrm>
            <a:off x="5581650" y="407670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写第 1 条 AI 使用记录</a:t>
            </a:r>
          </a:p>
        </p:txBody>
      </p:sp>
      <p:sp>
        <p:nvSpPr>
          <p:cNvPr id="22" name="p31-n-6">
            <a:extLst>
              <a:ext uri="{FF2B5EF4-FFF2-40B4-BE49-F238E27FC236}">
                <a16:creationId xmlns:a16="http://schemas.microsoft.com/office/drawing/2014/main" id="{2236E1B0-01AE-45CE-BE55-49D87FE98112}"/>
              </a:ext>
            </a:extLst>
          </p:cNvPr>
          <p:cNvSpPr>
            <a:spLocks noGrp="1"/>
          </p:cNvSpPr>
          <p:nvPr/>
        </p:nvSpPr>
        <p:spPr>
          <a:xfrm>
            <a:off x="5010150" y="466725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3" name="p31-task-6">
            <a:extLst>
              <a:ext uri="{FF2B5EF4-FFF2-40B4-BE49-F238E27FC236}">
                <a16:creationId xmlns:a16="http://schemas.microsoft.com/office/drawing/2014/main" id="{A1AB14CC-D7C0-4BEA-87C9-D8E194122F5D}"/>
              </a:ext>
            </a:extLst>
          </p:cNvPr>
          <p:cNvSpPr>
            <a:spLocks noGrp="1"/>
          </p:cNvSpPr>
          <p:nvPr/>
        </p:nvSpPr>
        <p:spPr>
          <a:xfrm>
            <a:off x="5581650" y="466725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保存当前八阶段位置草图</a:t>
            </a:r>
          </a:p>
        </p:txBody>
      </p:sp>
      <p:sp>
        <p:nvSpPr>
          <p:cNvPr id="24" name="p31-done">
            <a:extLst>
              <a:ext uri="{FF2B5EF4-FFF2-40B4-BE49-F238E27FC236}">
                <a16:creationId xmlns:a16="http://schemas.microsoft.com/office/drawing/2014/main" id="{C1CB7955-1FF2-474E-8C1A-799A42E4FE5D}"/>
              </a:ext>
            </a:extLst>
          </p:cNvPr>
          <p:cNvSpPr>
            <a:spLocks noGrp="1"/>
          </p:cNvSpPr>
          <p:nvPr/>
        </p:nvSpPr>
        <p:spPr>
          <a:xfrm>
            <a:off x="4762500" y="5276850"/>
            <a:ext cx="657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完成条件：能复原‘建议 → 人工判断 → 文件变化 → 使用记录’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同伴反馈只提出问题，不替代作者决定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66C3428B-053E-6B4E-39FF-75B44F3F33F6}" type="slidenum">
              <a:t>32</a:t>
            </a:fld>
            <a:endParaRPr/>
          </a:p>
        </p:txBody>
      </p:sp>
      <p:sp>
        <p:nvSpPr>
          <p:cNvPr id="6" name="p32-mode">
            <a:extLst>
              <a:ext uri="{FF2B5EF4-FFF2-40B4-BE49-F238E27FC236}">
                <a16:creationId xmlns:a16="http://schemas.microsoft.com/office/drawing/2014/main" id="{C5454AFB-AE75-46CE-B2A4-7D080B356D87}"/>
              </a:ext>
            </a:extLst>
          </p:cNvPr>
          <p:cNvSpPr>
            <a:spLocks noGrp="1"/>
          </p:cNvSpPr>
          <p:nvPr/>
        </p:nvSpPr>
        <p:spPr>
          <a:xfrm>
            <a:off x="723900" y="1066800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两人互查</a:t>
            </a:r>
          </a:p>
        </p:txBody>
      </p:sp>
      <p:sp>
        <p:nvSpPr>
          <p:cNvPr id="7" name="p32-n-0">
            <a:extLst>
              <a:ext uri="{FF2B5EF4-FFF2-40B4-BE49-F238E27FC236}">
                <a16:creationId xmlns:a16="http://schemas.microsoft.com/office/drawing/2014/main" id="{F4B92DE4-B8C9-46F3-954E-C8EFB6A17187}"/>
              </a:ext>
            </a:extLst>
          </p:cNvPr>
          <p:cNvSpPr>
            <a:spLocks noGrp="1"/>
          </p:cNvSpPr>
          <p:nvPr/>
        </p:nvSpPr>
        <p:spPr>
          <a:xfrm>
            <a:off x="895350" y="1695450"/>
            <a:ext cx="85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Q1</a:t>
            </a:r>
          </a:p>
        </p:txBody>
      </p:sp>
      <p:sp>
        <p:nvSpPr>
          <p:cNvPr id="8" name="p32-q-0">
            <a:extLst>
              <a:ext uri="{FF2B5EF4-FFF2-40B4-BE49-F238E27FC236}">
                <a16:creationId xmlns:a16="http://schemas.microsoft.com/office/drawing/2014/main" id="{C2D6550B-2A33-4478-9981-5663DA1070D0}"/>
              </a:ext>
            </a:extLst>
          </p:cNvPr>
          <p:cNvSpPr>
            <a:spLocks noGrp="1"/>
          </p:cNvSpPr>
          <p:nvPr/>
        </p:nvSpPr>
        <p:spPr>
          <a:xfrm>
            <a:off x="2000250" y="1695450"/>
            <a:ext cx="7048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这个问题能在 16 次课内形成最小闭环吗？</a:t>
            </a:r>
          </a:p>
        </p:txBody>
      </p:sp>
      <p:sp>
        <p:nvSpPr>
          <p:cNvPr id="9" name="p32-n-1">
            <a:extLst>
              <a:ext uri="{FF2B5EF4-FFF2-40B4-BE49-F238E27FC236}">
                <a16:creationId xmlns:a16="http://schemas.microsoft.com/office/drawing/2014/main" id="{F562C435-1815-4699-AA5E-3248480C7D5D}"/>
              </a:ext>
            </a:extLst>
          </p:cNvPr>
          <p:cNvSpPr>
            <a:spLocks noGrp="1"/>
          </p:cNvSpPr>
          <p:nvPr/>
        </p:nvSpPr>
        <p:spPr>
          <a:xfrm>
            <a:off x="895350" y="2762250"/>
            <a:ext cx="85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Q2</a:t>
            </a:r>
          </a:p>
        </p:txBody>
      </p:sp>
      <p:sp>
        <p:nvSpPr>
          <p:cNvPr id="10" name="p32-q-1">
            <a:extLst>
              <a:ext uri="{FF2B5EF4-FFF2-40B4-BE49-F238E27FC236}">
                <a16:creationId xmlns:a16="http://schemas.microsoft.com/office/drawing/2014/main" id="{F63552A1-A233-4193-89E2-56D81B95773A}"/>
              </a:ext>
            </a:extLst>
          </p:cNvPr>
          <p:cNvSpPr>
            <a:spLocks noGrp="1"/>
          </p:cNvSpPr>
          <p:nvPr/>
        </p:nvSpPr>
        <p:spPr>
          <a:xfrm>
            <a:off x="2000250" y="2762250"/>
            <a:ext cx="7048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哪个词、范围或比较条件最模糊？</a:t>
            </a:r>
          </a:p>
        </p:txBody>
      </p:sp>
      <p:sp>
        <p:nvSpPr>
          <p:cNvPr id="11" name="p32-n-2">
            <a:extLst>
              <a:ext uri="{FF2B5EF4-FFF2-40B4-BE49-F238E27FC236}">
                <a16:creationId xmlns:a16="http://schemas.microsoft.com/office/drawing/2014/main" id="{73A5A1CA-78B8-4CC6-88E6-91A4683CBEAC}"/>
              </a:ext>
            </a:extLst>
          </p:cNvPr>
          <p:cNvSpPr>
            <a:spLocks noGrp="1"/>
          </p:cNvSpPr>
          <p:nvPr/>
        </p:nvSpPr>
        <p:spPr>
          <a:xfrm>
            <a:off x="895350" y="3829050"/>
            <a:ext cx="85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Q3</a:t>
            </a:r>
          </a:p>
        </p:txBody>
      </p:sp>
      <p:sp>
        <p:nvSpPr>
          <p:cNvPr id="12" name="p32-q-2">
            <a:extLst>
              <a:ext uri="{FF2B5EF4-FFF2-40B4-BE49-F238E27FC236}">
                <a16:creationId xmlns:a16="http://schemas.microsoft.com/office/drawing/2014/main" id="{33B7FB23-2D61-4362-8C4E-2526CE1D2AB4}"/>
              </a:ext>
            </a:extLst>
          </p:cNvPr>
          <p:cNvSpPr>
            <a:spLocks noGrp="1"/>
          </p:cNvSpPr>
          <p:nvPr/>
        </p:nvSpPr>
        <p:spPr>
          <a:xfrm>
            <a:off x="2000250" y="3829050"/>
            <a:ext cx="7048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下一项最值得核验的外部输入是什么？</a:t>
            </a:r>
          </a:p>
        </p:txBody>
      </p:sp>
      <p:sp>
        <p:nvSpPr>
          <p:cNvPr id="13" name="p32-v">
            <a:extLst>
              <a:ext uri="{FF2B5EF4-FFF2-40B4-BE49-F238E27FC236}">
                <a16:creationId xmlns:a16="http://schemas.microsoft.com/office/drawing/2014/main" id="{B0FA912A-8DBE-4575-BD9A-9A54EC9E0D87}"/>
              </a:ext>
            </a:extLst>
          </p:cNvPr>
          <p:cNvSpPr>
            <a:spLocks noGrp="1"/>
          </p:cNvSpPr>
          <p:nvPr/>
        </p:nvSpPr>
        <p:spPr>
          <a:xfrm rot="5400000">
            <a:off x="7610475" y="3238500"/>
            <a:ext cx="363855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4" name="p32-author">
            <a:extLst>
              <a:ext uri="{FF2B5EF4-FFF2-40B4-BE49-F238E27FC236}">
                <a16:creationId xmlns:a16="http://schemas.microsoft.com/office/drawing/2014/main" id="{ED8CA724-10CC-4F81-966D-5D3125500879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作者记录</a:t>
            </a:r>
          </a:p>
        </p:txBody>
      </p:sp>
      <p:sp>
        <p:nvSpPr>
          <p:cNvPr id="15" name="p32-a-0">
            <a:extLst>
              <a:ext uri="{FF2B5EF4-FFF2-40B4-BE49-F238E27FC236}">
                <a16:creationId xmlns:a16="http://schemas.microsoft.com/office/drawing/2014/main" id="{E55F58DA-D4C7-4D19-8A3F-ECE425AB9E3D}"/>
              </a:ext>
            </a:extLst>
          </p:cNvPr>
          <p:cNvSpPr>
            <a:spLocks noGrp="1"/>
          </p:cNvSpPr>
          <p:nvPr/>
        </p:nvSpPr>
        <p:spPr>
          <a:xfrm>
            <a:off x="9658350" y="2324100"/>
            <a:ext cx="1847850" cy="5905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16" name="p32-a-1">
            <a:extLst>
              <a:ext uri="{FF2B5EF4-FFF2-40B4-BE49-F238E27FC236}">
                <a16:creationId xmlns:a16="http://schemas.microsoft.com/office/drawing/2014/main" id="{2B2F31D4-2932-42A7-9BC9-A682AB6AD447}"/>
              </a:ext>
            </a:extLst>
          </p:cNvPr>
          <p:cNvSpPr>
            <a:spLocks noGrp="1"/>
          </p:cNvSpPr>
          <p:nvPr/>
        </p:nvSpPr>
        <p:spPr>
          <a:xfrm>
            <a:off x="9658350" y="3181350"/>
            <a:ext cx="1847850" cy="5905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暂不采纳</a:t>
            </a:r>
          </a:p>
        </p:txBody>
      </p:sp>
      <p:sp>
        <p:nvSpPr>
          <p:cNvPr id="17" name="p32-a-2">
            <a:extLst>
              <a:ext uri="{FF2B5EF4-FFF2-40B4-BE49-F238E27FC236}">
                <a16:creationId xmlns:a16="http://schemas.microsoft.com/office/drawing/2014/main" id="{3784DD5F-BACA-4ECC-8B24-99B9084B5157}"/>
              </a:ext>
            </a:extLst>
          </p:cNvPr>
          <p:cNvSpPr>
            <a:spLocks noGrp="1"/>
          </p:cNvSpPr>
          <p:nvPr/>
        </p:nvSpPr>
        <p:spPr>
          <a:xfrm>
            <a:off x="9658350" y="4038600"/>
            <a:ext cx="1847850" cy="5905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待核验</a:t>
            </a:r>
          </a:p>
        </p:txBody>
      </p:sp>
      <p:sp>
        <p:nvSpPr>
          <p:cNvPr id="18" name="p32-bottom">
            <a:extLst>
              <a:ext uri="{FF2B5EF4-FFF2-40B4-BE49-F238E27FC236}">
                <a16:creationId xmlns:a16="http://schemas.microsoft.com/office/drawing/2014/main" id="{C39A74D1-77F6-428E-957C-4AAED9CBC777}"/>
              </a:ext>
            </a:extLst>
          </p:cNvPr>
          <p:cNvSpPr>
            <a:spLocks noGrp="1"/>
          </p:cNvSpPr>
          <p:nvPr/>
        </p:nvSpPr>
        <p:spPr>
          <a:xfrm>
            <a:off x="3143250" y="5219700"/>
            <a:ext cx="5905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同伴提出问题；作者保留决定。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38100" rIns="76200" bIns="38100" anchor="ctr"/>
          <a:lstStyle/>
          <a:p>
            <a:pPr algn="l">
              <a:lnSpc>
                <a:spcPct val="112000"/>
              </a:lnSpc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9F9B2FD-F323-2D0A-D581-D6E61055F9A8}" type="slidenum">
              <a:t>33</a:t>
            </a:fld>
            <a:endParaRPr/>
          </a:p>
        </p:txBody>
      </p:sp>
      <p:sp>
        <p:nvSpPr>
          <p:cNvPr id="6" name="summary-01-number-0">
            <a:extLst>
              <a:ext uri="{FF2B5EF4-FFF2-40B4-BE49-F238E27FC236}">
                <a16:creationId xmlns:a16="http://schemas.microsoft.com/office/drawing/2014/main" id="{525D29E8-3680-45BA-B290-AA2D73A8A574}"/>
              </a:ext>
            </a:extLst>
          </p:cNvPr>
          <p:cNvSpPr>
            <a:spLocks noGrp="1"/>
          </p:cNvSpPr>
          <p:nvPr/>
        </p:nvSpPr>
        <p:spPr>
          <a:xfrm>
            <a:off x="457200" y="1219200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18354E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summary-01-heading-0">
            <a:extLst>
              <a:ext uri="{FF2B5EF4-FFF2-40B4-BE49-F238E27FC236}">
                <a16:creationId xmlns:a16="http://schemas.microsoft.com/office/drawing/2014/main" id="{BCFE7489-46CD-48D7-B17D-8E73F5D6F2CB}"/>
              </a:ext>
            </a:extLst>
          </p:cNvPr>
          <p:cNvSpPr>
            <a:spLocks noGrp="1"/>
          </p:cNvSpPr>
          <p:nvPr/>
        </p:nvSpPr>
        <p:spPr>
          <a:xfrm>
            <a:off x="1028700" y="1162050"/>
            <a:ext cx="2152650" cy="590550"/>
          </a:xfrm>
          <a:prstGeom prst="roundRect">
            <a:avLst>
              <a:gd name="adj" fmla="val 12903"/>
            </a:avLst>
          </a:prstGeom>
          <a:solidFill>
            <a:srgbClr val="E8F0F6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2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研究责任</a:t>
            </a:r>
          </a:p>
        </p:txBody>
      </p:sp>
      <p:sp>
        <p:nvSpPr>
          <p:cNvPr id="8" name="summary-01-detail-0">
            <a:extLst>
              <a:ext uri="{FF2B5EF4-FFF2-40B4-BE49-F238E27FC236}">
                <a16:creationId xmlns:a16="http://schemas.microsoft.com/office/drawing/2014/main" id="{9B3F09F9-6B50-422A-9116-B331D7A12172}"/>
              </a:ext>
            </a:extLst>
          </p:cNvPr>
          <p:cNvSpPr>
            <a:spLocks noGrp="1"/>
          </p:cNvSpPr>
          <p:nvPr/>
        </p:nvSpPr>
        <p:spPr>
          <a:xfrm>
            <a:off x="457200" y="2095500"/>
            <a:ext cx="27241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6DDE2"/>
            </a:solidFill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提供候选与执行支持，研究者保留问题、证据与结论责任</a:t>
            </a:r>
          </a:p>
        </p:txBody>
      </p:sp>
      <p:sp>
        <p:nvSpPr>
          <p:cNvPr id="9" name="summary-01-number-1">
            <a:extLst>
              <a:ext uri="{FF2B5EF4-FFF2-40B4-BE49-F238E27FC236}">
                <a16:creationId xmlns:a16="http://schemas.microsoft.com/office/drawing/2014/main" id="{2B4E1484-18F2-4CE6-BED7-D10CCF2351D7}"/>
              </a:ext>
            </a:extLst>
          </p:cNvPr>
          <p:cNvSpPr>
            <a:spLocks noGrp="1"/>
          </p:cNvSpPr>
          <p:nvPr/>
        </p:nvSpPr>
        <p:spPr>
          <a:xfrm>
            <a:off x="3371850" y="1219200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28745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summary-01-heading-1">
            <a:extLst>
              <a:ext uri="{FF2B5EF4-FFF2-40B4-BE49-F238E27FC236}">
                <a16:creationId xmlns:a16="http://schemas.microsoft.com/office/drawing/2014/main" id="{C3E1F08D-CEE8-4BD4-866A-A81C9D396E93}"/>
              </a:ext>
            </a:extLst>
          </p:cNvPr>
          <p:cNvSpPr>
            <a:spLocks noGrp="1"/>
          </p:cNvSpPr>
          <p:nvPr/>
        </p:nvSpPr>
        <p:spPr>
          <a:xfrm>
            <a:off x="3943350" y="1162050"/>
            <a:ext cx="2152650" cy="590550"/>
          </a:xfrm>
          <a:prstGeom prst="roundRect">
            <a:avLst>
              <a:gd name="adj" fmla="val 12903"/>
            </a:avLst>
          </a:prstGeom>
          <a:solidFill>
            <a:srgbClr val="E7F2E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2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可审计闭环</a:t>
            </a:r>
          </a:p>
        </p:txBody>
      </p:sp>
      <p:sp>
        <p:nvSpPr>
          <p:cNvPr id="11" name="summary-01-detail-1">
            <a:extLst>
              <a:ext uri="{FF2B5EF4-FFF2-40B4-BE49-F238E27FC236}">
                <a16:creationId xmlns:a16="http://schemas.microsoft.com/office/drawing/2014/main" id="{E6C9867F-A573-402C-A672-1D085886F661}"/>
              </a:ext>
            </a:extLst>
          </p:cNvPr>
          <p:cNvSpPr>
            <a:spLocks noGrp="1"/>
          </p:cNvSpPr>
          <p:nvPr/>
        </p:nvSpPr>
        <p:spPr>
          <a:xfrm>
            <a:off x="3371850" y="2095500"/>
            <a:ext cx="27241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6DDE2"/>
            </a:solidFill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输入、动作、输出、核验与判断都写入可检查工件</a:t>
            </a:r>
          </a:p>
        </p:txBody>
      </p:sp>
      <p:sp>
        <p:nvSpPr>
          <p:cNvPr id="12" name="summary-01-number-2">
            <a:extLst>
              <a:ext uri="{FF2B5EF4-FFF2-40B4-BE49-F238E27FC236}">
                <a16:creationId xmlns:a16="http://schemas.microsoft.com/office/drawing/2014/main" id="{F37A5AA6-D2A9-4AC0-8C73-87650DA0D307}"/>
              </a:ext>
            </a:extLst>
          </p:cNvPr>
          <p:cNvSpPr>
            <a:spLocks noGrp="1"/>
          </p:cNvSpPr>
          <p:nvPr/>
        </p:nvSpPr>
        <p:spPr>
          <a:xfrm>
            <a:off x="6286500" y="1219200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C8161E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summary-01-heading-2">
            <a:extLst>
              <a:ext uri="{FF2B5EF4-FFF2-40B4-BE49-F238E27FC236}">
                <a16:creationId xmlns:a16="http://schemas.microsoft.com/office/drawing/2014/main" id="{299618CA-B18A-4CAA-8F63-95EB27813DAB}"/>
              </a:ext>
            </a:extLst>
          </p:cNvPr>
          <p:cNvSpPr>
            <a:spLocks noGrp="1"/>
          </p:cNvSpPr>
          <p:nvPr/>
        </p:nvSpPr>
        <p:spPr>
          <a:xfrm>
            <a:off x="6858000" y="1162050"/>
            <a:ext cx="2152650" cy="590550"/>
          </a:xfrm>
          <a:prstGeom prst="roundRect">
            <a:avLst>
              <a:gd name="adj" fmla="val 12903"/>
            </a:avLst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2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八阶段链路</a:t>
            </a:r>
          </a:p>
        </p:txBody>
      </p:sp>
      <p:sp>
        <p:nvSpPr>
          <p:cNvPr id="14" name="summary-01-detail-2">
            <a:extLst>
              <a:ext uri="{FF2B5EF4-FFF2-40B4-BE49-F238E27FC236}">
                <a16:creationId xmlns:a16="http://schemas.microsoft.com/office/drawing/2014/main" id="{44FD8CA4-37F2-4190-862E-E1B4EFD2C4B8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27241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6DDE2"/>
            </a:solidFill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从问题到回写逐步推进，上一阶段工件成为下一阶段输入</a:t>
            </a:r>
          </a:p>
        </p:txBody>
      </p:sp>
      <p:sp>
        <p:nvSpPr>
          <p:cNvPr id="15" name="summary-01-number-3">
            <a:extLst>
              <a:ext uri="{FF2B5EF4-FFF2-40B4-BE49-F238E27FC236}">
                <a16:creationId xmlns:a16="http://schemas.microsoft.com/office/drawing/2014/main" id="{08DD6A82-89D4-4B6F-93E0-6AE8436F1D1D}"/>
              </a:ext>
            </a:extLst>
          </p:cNvPr>
          <p:cNvSpPr>
            <a:spLocks noGrp="1"/>
          </p:cNvSpPr>
          <p:nvPr/>
        </p:nvSpPr>
        <p:spPr>
          <a:xfrm>
            <a:off x="9201150" y="1219200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A86C12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summary-01-heading-3">
            <a:extLst>
              <a:ext uri="{FF2B5EF4-FFF2-40B4-BE49-F238E27FC236}">
                <a16:creationId xmlns:a16="http://schemas.microsoft.com/office/drawing/2014/main" id="{A03380B0-A9A5-49D2-B460-29474F2E2E82}"/>
              </a:ext>
            </a:extLst>
          </p:cNvPr>
          <p:cNvSpPr>
            <a:spLocks noGrp="1"/>
          </p:cNvSpPr>
          <p:nvPr/>
        </p:nvSpPr>
        <p:spPr>
          <a:xfrm>
            <a:off x="9772650" y="1162050"/>
            <a:ext cx="2152650" cy="590550"/>
          </a:xfrm>
          <a:prstGeom prst="roundRect">
            <a:avLst>
              <a:gd name="adj" fmla="val 12903"/>
            </a:avLst>
          </a:prstGeom>
          <a:solidFill>
            <a:srgbClr val="FAF0D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2000"/>
              </a:lnSpc>
              <a:buNone/>
              <a:defRPr sz="1725" b="1">
                <a:solidFill>
                  <a:srgbClr val="A86C12"/>
                </a:solidFill>
              </a:defRPr>
            </a:pPr>
            <a:r>
              <a:rPr sz="17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四个研究门</a:t>
            </a:r>
          </a:p>
        </p:txBody>
      </p:sp>
      <p:sp>
        <p:nvSpPr>
          <p:cNvPr id="17" name="summary-01-detail-3">
            <a:extLst>
              <a:ext uri="{FF2B5EF4-FFF2-40B4-BE49-F238E27FC236}">
                <a16:creationId xmlns:a16="http://schemas.microsoft.com/office/drawing/2014/main" id="{F532ACEC-3AA1-43D4-A99B-B32058EA2C2B}"/>
              </a:ext>
            </a:extLst>
          </p:cNvPr>
          <p:cNvSpPr>
            <a:spLocks noGrp="1"/>
          </p:cNvSpPr>
          <p:nvPr/>
        </p:nvSpPr>
        <p:spPr>
          <a:xfrm>
            <a:off x="9201150" y="2095500"/>
            <a:ext cx="27241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6DDE2"/>
            </a:solidFill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问题门、判断门、验证门、论证门控制正式提交与回退</a:t>
            </a:r>
          </a:p>
        </p:txBody>
      </p:sp>
      <p:sp>
        <p:nvSpPr>
          <p:cNvPr id="18" name="summary-01-boundary">
            <a:extLst>
              <a:ext uri="{FF2B5EF4-FFF2-40B4-BE49-F238E27FC236}">
                <a16:creationId xmlns:a16="http://schemas.microsoft.com/office/drawing/2014/main" id="{57174AB9-50DB-47D4-84E5-E7DA3B30C87E}"/>
              </a:ext>
            </a:extLst>
          </p:cNvPr>
          <p:cNvSpPr>
            <a:spLocks noGrp="1"/>
          </p:cNvSpPr>
          <p:nvPr/>
        </p:nvSpPr>
        <p:spPr>
          <a:xfrm>
            <a:off x="1162050" y="4400550"/>
            <a:ext cx="9867900" cy="876300"/>
          </a:xfrm>
          <a:prstGeom prst="roundRect">
            <a:avLst>
              <a:gd name="adj" fmla="val 8696"/>
            </a:avLst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4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关键边界：效率提升不能替代研究判断；未经核验的 AI 输出不能直接进入正式证据链。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首课不求完整，只求留下一个可检查的起点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D6C2EC43-E3B9-C9B0-67FF-5447EB7F3925}" type="slidenum">
              <a:t>34</a:t>
            </a:fld>
            <a:endParaRPr/>
          </a:p>
        </p:txBody>
      </p:sp>
      <p:sp>
        <p:nvSpPr>
          <p:cNvPr id="6" name="p33-thesis">
            <a:extLst>
              <a:ext uri="{FF2B5EF4-FFF2-40B4-BE49-F238E27FC236}">
                <a16:creationId xmlns:a16="http://schemas.microsoft.com/office/drawing/2014/main" id="{17535BF9-F3E9-4CF1-B695-DD9BC22CE78F}"/>
              </a:ext>
            </a:extLst>
          </p:cNvPr>
          <p:cNvSpPr>
            <a:spLocks noGrp="1"/>
          </p:cNvSpPr>
          <p:nvPr/>
        </p:nvSpPr>
        <p:spPr>
          <a:xfrm>
            <a:off x="838200" y="1104900"/>
            <a:ext cx="6191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3000" b="1">
                <a:solidFill>
                  <a:srgbClr val="C8161E"/>
                </a:solidFill>
              </a:defRPr>
            </a:pPr>
            <a:r>
              <a:rPr sz="30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一个可检查的起点</a:t>
            </a:r>
          </a:p>
        </p:txBody>
      </p:sp>
      <p:sp>
        <p:nvSpPr>
          <p:cNvPr id="7" name="p33-loop">
            <a:extLst>
              <a:ext uri="{FF2B5EF4-FFF2-40B4-BE49-F238E27FC236}">
                <a16:creationId xmlns:a16="http://schemas.microsoft.com/office/drawing/2014/main" id="{29D5FDFA-236F-4051-8D85-DAD0EEC65ED3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7715250" cy="8001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建议  →  人工判断  →  有限修改  →  diff / log</a:t>
            </a:r>
          </a:p>
        </p:txBody>
      </p:sp>
      <p:sp>
        <p:nvSpPr>
          <p:cNvPr id="8" name="p33-exit">
            <a:extLst>
              <a:ext uri="{FF2B5EF4-FFF2-40B4-BE49-F238E27FC236}">
                <a16:creationId xmlns:a16="http://schemas.microsoft.com/office/drawing/2014/main" id="{72EA4A9B-4D53-4E77-B5DA-6DAD35314745}"/>
              </a:ext>
            </a:extLst>
          </p:cNvPr>
          <p:cNvSpPr>
            <a:spLocks noGrp="1"/>
          </p:cNvSpPr>
          <p:nvPr/>
        </p:nvSpPr>
        <p:spPr>
          <a:xfrm>
            <a:off x="895350" y="333375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退出卡</a:t>
            </a:r>
          </a:p>
        </p:txBody>
      </p:sp>
      <p:sp>
        <p:nvSpPr>
          <p:cNvPr id="9" name="p33-exit-items">
            <a:extLst>
              <a:ext uri="{FF2B5EF4-FFF2-40B4-BE49-F238E27FC236}">
                <a16:creationId xmlns:a16="http://schemas.microsoft.com/office/drawing/2014/main" id="{D8A27626-A42B-4C05-9863-ADA9FA9B42B5}"/>
              </a:ext>
            </a:extLst>
          </p:cNvPr>
          <p:cNvSpPr>
            <a:spLocks noGrp="1"/>
          </p:cNvSpPr>
          <p:nvPr/>
        </p:nvSpPr>
        <p:spPr>
          <a:xfrm>
            <a:off x="857250" y="3829050"/>
            <a:ext cx="7810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t"/>
          <a:lstStyle/>
          <a:p>
            <a:pPr algn="l">
              <a:lnSpc>
                <a:spcPct val="130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最清楚的一点｜仍困惑的一点｜环境是否可用</a:t>
            </a:r>
          </a:p>
          <a:p>
            <a:pPr algn="l">
              <a:lnSpc>
                <a:spcPct val="130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当前问题与最大不确定性｜下一课的权限或伦理风险</a:t>
            </a:r>
          </a:p>
        </p:txBody>
      </p:sp>
      <p:sp>
        <p:nvSpPr>
          <p:cNvPr id="10" name="p33-next-line">
            <a:extLst>
              <a:ext uri="{FF2B5EF4-FFF2-40B4-BE49-F238E27FC236}">
                <a16:creationId xmlns:a16="http://schemas.microsoft.com/office/drawing/2014/main" id="{F439D281-098F-4089-A315-D85756812504}"/>
              </a:ext>
            </a:extLst>
          </p:cNvPr>
          <p:cNvSpPr>
            <a:spLocks noGrp="1"/>
          </p:cNvSpPr>
          <p:nvPr/>
        </p:nvSpPr>
        <p:spPr>
          <a:xfrm>
            <a:off x="9220200" y="1257300"/>
            <a:ext cx="38100" cy="36766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1" name="p33-next-label">
            <a:extLst>
              <a:ext uri="{FF2B5EF4-FFF2-40B4-BE49-F238E27FC236}">
                <a16:creationId xmlns:a16="http://schemas.microsoft.com/office/drawing/2014/main" id="{FB45F621-DEDA-4D62-9B1B-03757A54C175}"/>
              </a:ext>
            </a:extLst>
          </p:cNvPr>
          <p:cNvSpPr>
            <a:spLocks noGrp="1"/>
          </p:cNvSpPr>
          <p:nvPr/>
        </p:nvSpPr>
        <p:spPr>
          <a:xfrm>
            <a:off x="9620250" y="1314450"/>
            <a:ext cx="1619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NEXT</a:t>
            </a:r>
          </a:p>
        </p:txBody>
      </p:sp>
      <p:sp>
        <p:nvSpPr>
          <p:cNvPr id="12" name="p33-next">
            <a:extLst>
              <a:ext uri="{FF2B5EF4-FFF2-40B4-BE49-F238E27FC236}">
                <a16:creationId xmlns:a16="http://schemas.microsoft.com/office/drawing/2014/main" id="{5DF177F8-278B-432A-B217-6A9FCA3B04B6}"/>
              </a:ext>
            </a:extLst>
          </p:cNvPr>
          <p:cNvSpPr>
            <a:spLocks noGrp="1"/>
          </p:cNvSpPr>
          <p:nvPr/>
        </p:nvSpPr>
        <p:spPr>
          <a:xfrm>
            <a:off x="9544050" y="2000250"/>
            <a:ext cx="1809750" cy="2190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2 课</a:t>
            </a:r>
          </a:p>
          <a:p>
            <a:endParaRPr sz="1875" b="1">
              <a:solidFill>
                <a:srgbClr val="18354E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任务契约</a:t>
            </a:r>
          </a:p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权限边界</a:t>
            </a:r>
          </a:p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使用披露</a:t>
            </a:r>
          </a:p>
        </p:txBody>
      </p:sp>
      <p:sp>
        <p:nvSpPr>
          <p:cNvPr id="13" name="p33-reading">
            <a:extLst>
              <a:ext uri="{FF2B5EF4-FFF2-40B4-BE49-F238E27FC236}">
                <a16:creationId xmlns:a16="http://schemas.microsoft.com/office/drawing/2014/main" id="{B165F277-7D14-473D-B33C-1C5DB29B6692}"/>
              </a:ext>
            </a:extLst>
          </p:cNvPr>
          <p:cNvSpPr>
            <a:spLocks noGrp="1"/>
          </p:cNvSpPr>
          <p:nvPr/>
        </p:nvSpPr>
        <p:spPr>
          <a:xfrm>
            <a:off x="876300" y="5257800"/>
            <a:ext cx="781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课后：Simon Ch.5（核心）｜Wang et al. 2023（任选）｜不单独提交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2965</Words>
  <Application>Microsoft Macintosh PowerPoint</Application>
  <DocSecurity>0</DocSecurity>
  <PresentationFormat>Widescreen</PresentationFormat>
  <Paragraphs>828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Microsoft YaHei</vt:lpstr>
      <vt:lpstr>Arial</vt:lpstr>
      <vt:lpstr>Consolas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Yaohui</cp:lastModifiedBy>
  <cp:revision>2</cp:revision>
  <dcterms:created xsi:type="dcterms:W3CDTF">2026-08-20T15:39:18Z</dcterms:created>
  <dcterms:modified xsi:type="dcterms:W3CDTF">2026-08-22T15:16:32Z</dcterms:modified>
</cp:coreProperties>
</file>