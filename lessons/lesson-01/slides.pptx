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27"/>
    <p:restoredTop sz="94729"/>
  </p:normalViewPr>
  <p:slideViewPr>
    <p:cSldViewPr snapToGrid="0">
      <p:cViewPr varScale="1">
        <p:scale>
          <a:sx n="78" d="100"/>
          <a:sy n="78" d="100"/>
        </p:scale>
        <p:origin x="200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页面任务：识别课程与课次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讲义映射：导读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教师讲述：封面只承担识别，不提前给答案。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学生动作：进入课堂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建议时间：开场段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页面任务：建立授课者可信度与课堂关系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讲义映射：导读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教师讲述：用真实经历快速说明：本课讨论研究方法，不做工具推销。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学生动作：识别可向教师追问的研究问题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建议时间：开场段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页面任务：用证据身份诊断形成钩子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教师讲述：强调选项不是使用频率，而是当前可承担的研究角色。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学生动作：个人选择一个状态，并说出升级一档还缺什么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建议时间：开场段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页面任务：用真实论文事实形成能力—质量冲突钩子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教师讲述：先让学生读 1/3、6.33 和 0/3，再解释人工筛选、workshop 与主会标准；不把一次通过外推为稳定自治。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学生动作：先判断哪一个数字最改变自己的看法，再指出仍由人决定的一处环节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建议时间：开场段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https://www.nature.com/articles/s41586-026-10265-5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页面任务：引入近月 Nature 对 AI for Research 的新判断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教师讲述：三篇评论分别承担治理、人类判断和激励风险角色，不能当实验结果使用。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学生动作：选择一个自己最担心的系统性风险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建议时间：开场段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https://www.nature.com/articles/d41586-026-00934-w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https://www.nature.com/articles/d41586-026-01551-3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https://www.nature.com/articles/d41586-026-01954-2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页面任务：解释保留 Hao 研究的意义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教师讲述：突出观察性研究边界：相关而非自动因果；但它把发表动机变成可讨论对象。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学生动作：读图判断红蓝分布差异意味着什么、不能意味着什么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建议时间：开场段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https://www.nature.com/articles/s41586-025-09922-y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页面任务：把前沿证据转成课程问题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教师讲述：问题页只提问；下一页保持同一位置给回应。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学生动作：选出最难保证的一项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建议时间：课程契约段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页面任务：给出与上一页一一对应的课程方法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讲义映射：§一、§二、§三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教师讲述：保持节点位置，让学生看见问题被什么机制接住。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学生动作：将一个控制点与自己的项目连接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建议时间：课程契约段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页面任务：说明期末项目的真实形态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讲义映射：§七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教师讲述：避免展示完整目录树；只强调四类贯穿工件。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学生动作：判断自己的项目目前最缺哪类工件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建议时间：课程契约段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/Users/bright/Projects/courses/graduate/course/assessment.md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页面任务：消除临时结对与固定组冲突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讲义映射：§七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教师讲述：第一、二课只做临时结对；固定同伴组在第六课前建立。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学生动作：确认今天只需找临时互查对象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建议时间：课程契约段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页面任务：公开可操作的评分锚点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讲义映射：§三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教师讲述：解释四级表现锚点提高透明度，但不保证发表。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学生动作：用一个维度判断“达标”需要什么证据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建议时间：课程契约段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/Users/bright/Projects/courses/graduate/course/assessment.md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页面任务：避免把平台或模型当课程目标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讲义映射：§四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教师讲述：OpenCode、Claude Code、Codex 属执行环境；DeepSeek、Qwen 等是可连接的模型后端。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学生动作：指出今天真正被评分的是哪一层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建议时间：课程契约段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https://opencode.ai/docs/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页面任务：区分信息生成与研究闭环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讲义映射：§一·3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教师讲述：用一条看似完整的报告与一条可追溯判断链对比。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学生动作：指出报告还缺哪种检查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建议时间：研究链路段</a:t>
            </a:r>
          </a:p>
          <a:p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页面任务：给出全课地图而不要求背诵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讲义映射：§二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教师讲述：逐一读名称没有价值；只示范如何定位和回退。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学生动作：指出当前项目最可能位于哪一阶段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建议时间：研究链路段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页面任务：用四栏科技线稿表现前半链路的连续转化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讲义映射：§二·1–4、§六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教师讲述：Image Gen 只提供无文字阶段图形；01–04、步骤名、解释、箭头和候选证据边界由可编辑图层承担。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学生动作：沿箭头说出每次转化新增了什么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建议时间：研究链路段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/Users/bright/Projects/courses/graduate/lessons/lesson-01/assets/README.md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页面任务：用科技工件生态图强化后半链路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讲义映射：§二·5–8、§六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教师讲述：Image Gen 只提供科技空间隐喻；四类工件名称、含义和红色反向审计由可编辑图层承担。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学生动作：从受限结论沿红线反向追到一项证据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建议时间：研究链路段</a:t>
            </a:r>
          </a:p>
          <a:p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/Users/bright/Projects/courses/graduate/lessons/lesson-01/assets/README.md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页面任务：用四道科技检查门表现拦截与回退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讲义映射：§三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教师讲述：门检查同一项目的成熟度，不制造四套文档；生成图不承担门名或规则事实。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学生动作：指出一种失败会被哪道门拦截、应回退到哪里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建议时间：研究链路段</a:t>
            </a:r>
          </a:p>
          <a:p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/Users/bright/Projects/courses/graduate/course/assessment.md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/Users/bright/Projects/courses/graduate/lessons/lesson-01/assets/README.md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页面任务：协调研究门与 P19 的关系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讲义映射：§三、§五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教师讲述：先建立反向追踪，再把门看成对追踪链的抽查。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学生动作：从结论倒推缺失环节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建议时间：研究链路段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页面任务：明确演示而非全班跟做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教师讲述：学生只预测下一步、审查建议和判断结果；不教授菜单操作。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学生动作：预测第一轮应该给什么权限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建议时间：教师演示段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页面任务：示范最小权限起点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教师讲述：展示任务契约的可读范围和非目标。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学生动作：指出一项不必要权限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建议时间：教师演示段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页面任务：把研究判断置于写入之前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教师讲述：用四问审核三条候选建议：问题、证据、范围、可证伪性。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学生动作：投票选择采纳、修改或拒绝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建议时间：教师演示段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页面任务：示范受控写入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教师讲述：确认目标文件、目标段落和不做事项。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学生动作：检查授权是否比第一轮扩大得过多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建议时间：教师演示段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页面任务：示范验证 Agent 自述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教师讲述：强调实际文件变化优先于完成报告。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学生动作：指出一条日志必须补什么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建议时间：教师演示段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页面任务：保留失败恢复页并接回同一演示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讲义映射：§五·4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教师讲述：展示越权或失败后五步恢复。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学生动作：选择第一步应该停止还是重试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建议时间：教师演示段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页面任务：为学生实践设定可完成范围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讲义映射：§七、§八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教师讲述：优先使用真实兴趣；没有题目时借用公开、低风险小问题。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学生动作：写出一个当前不确定性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建议时间：练习准备段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页面任务：学生实践第一段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讲义映射：§八、classroom-pack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教师讲述：教师巡视任务范围、权限和写回结果；超时保底是一处修改和 diff。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学生动作：独立完成只读—审核—有限写回—diff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建议时间：个人实践第一段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页面任务：学生实践第二段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讲义映射：§八、classroom-pack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教师讲述：中点点评后补记录与定位，不要求填满八阶段。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学生动作：写一条 AI 使用记录和一个阶段位置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建议时间：个人实践第二段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页面任务：低成本互查最小闭环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教师讲述：两人交换工件，互查能否复原建议—判断—修改。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学生动作：临时结对互查并由作者记录是否采纳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建议时间：互查段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页面任务：回收知识而不混入作业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讲义映射：全讲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教师讲述：用一条闭环而不是四张总结卡。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学生动作：口头复述一遍闭环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建议时间：收束段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页面任务：设置课堂完成线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讲义映射：§七、§八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教师讲述：不把课后任务塞进同一页。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学生动作：完成个人退出检查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建议时间：收束段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页面任务：突出课后形成性推进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讲义映射：§十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教师讲述：核心动作服务第二课，不用小字弱化。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学生动作：记录下一步动作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建议时间：收束段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/Users/bright/Projects/courses/graduate/lessons/lesson-01/handout.md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7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r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noChangeAspect="1"/>
          </p:cNvPicPr>
          <p:nvPr/>
        </p:nvPicPr>
        <p:blipFill rotWithShape="1">
          <a:blip r:embed="rId3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pic>
        <p:nvPicPr>
          <p:cNvPr id="51" name="图片 17"/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t="9831" b="36385"/>
          <a:stretch/>
        </p:blipFill>
        <p:spPr>
          <a:xfrm>
            <a:off x="3352562" y="6244170"/>
            <a:ext cx="5486876" cy="406590"/>
          </a:xfrm>
          <a:prstGeom prst="rect">
            <a:avLst/>
          </a:prstGeom>
        </p:spPr>
      </p:pic>
      <p:sp>
        <p:nvSpPr>
          <p:cNvPr id="37" name="椭圆 36">
            <a:extLst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noGrp="1"/>
          </p:cNvSpPr>
          <p:nvPr/>
        </p:nvSpPr>
        <p:spPr>
          <a:xfrm>
            <a:off x="6051000" y="6430138"/>
            <a:ext cx="90000" cy="9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noGrp="1"/>
          </p:cNvSpPr>
          <p:nvPr/>
        </p:nvSpPr>
        <p:spPr>
          <a:xfrm>
            <a:off x="23285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noGrp="1"/>
          </p:cNvSpPr>
          <p:nvPr/>
        </p:nvSpPr>
        <p:spPr>
          <a:xfrm>
            <a:off x="89833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57" name="图片 3"/>
          <p:cNvPicPr>
            <a:picLocks noChangeAspect="1"/>
          </p:cNvPicPr>
          <p:nvPr/>
        </p:nvPicPr>
        <p:blipFill>
          <a:blip r:embed="rId5"/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noGrp="1"/>
          </p:cNvSpPr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noGrp="1"/>
          </p:cNvSpPr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noGrp="1"/>
          </p:cNvSpPr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noChangeAspect="1"/>
          </p:cNvPicPr>
          <p:nvPr/>
        </p:nvPicPr>
        <p:blipFill rotWithShape="1">
          <a:blip r:embed="rId2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16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noGrp="1"/>
          </p:cNvSpPr>
          <p:nvPr/>
        </p:nv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noGrp="1"/>
          </p:cNvSpPr>
          <p:nvPr/>
        </p:nv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noChangeAspect="1"/>
          </p:cNvPicPr>
          <p:nvPr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9968" y="2139696"/>
            <a:ext cx="813816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第1讲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2624328"/>
            <a:ext cx="9235440" cy="6583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AI 辅助科研导论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讲师的角色：一起把研究判断做得可检查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DDEAF5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我能提供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研究方法与 AI/Agent 实践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真实失败与边界案例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FFF4E5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你要带来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自己的问题与判断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愿意暴露一个不确定性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我们共同检查的是判断链，而不是谁用了更多工具。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这段 AI 输出现在是什么？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9848" y="4544568"/>
            <a:ext cx="2331720" cy="1143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5F6B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9576" y="4654296"/>
            <a:ext cx="2112263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线索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5056632"/>
            <a:ext cx="2112263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尚未回源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48456" y="3922776"/>
            <a:ext cx="2331720" cy="1143000"/>
          </a:xfrm>
          <a:prstGeom prst="roundRect">
            <a:avLst/>
          </a:prstGeom>
          <a:solidFill>
            <a:srgbClr val="DDEAF5"/>
          </a:solidFill>
          <a:ln w="1778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58183" y="4032504"/>
            <a:ext cx="2112263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草稿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8183" y="4434840"/>
            <a:ext cx="2112263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可供修改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3300984"/>
            <a:ext cx="2331720" cy="1143000"/>
          </a:xfrm>
          <a:prstGeom prst="roundRect">
            <a:avLst/>
          </a:prstGeom>
          <a:solidFill>
            <a:srgbClr val="FFF4E5"/>
          </a:solidFill>
          <a:ln w="1778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3410712"/>
            <a:ext cx="2112263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候选证据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813048"/>
            <a:ext cx="2112263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已定位待核验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05672" y="2679192"/>
            <a:ext cx="2331720" cy="1143000"/>
          </a:xfrm>
          <a:prstGeom prst="roundRect">
            <a:avLst/>
          </a:prstGeom>
          <a:solidFill>
            <a:srgbClr val="E3F1EA"/>
          </a:solidFill>
          <a:ln w="17780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399" y="2788920"/>
            <a:ext cx="2112263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可提交结论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399" y="3191256"/>
            <a:ext cx="2112263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证据与边界成立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1252728"/>
            <a:ext cx="9381744" cy="8686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一段结构完整、带引用的 AI 回答，能否直接进入论文？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5705856"/>
            <a:ext cx="8833104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生成候选；研究者决定是否升级证据身份，并承担责任。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Nature 2026：完整论文出现了，高水平研究呢？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207008"/>
            <a:ext cx="47548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1344168"/>
            <a:ext cx="4586990" cy="3886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97296" y="1225296"/>
            <a:ext cx="1737360" cy="384048"/>
          </a:xfrm>
          <a:prstGeom prst="roundRect">
            <a:avLst/>
          </a:prstGeom>
          <a:solidFill>
            <a:srgbClr val="DDEAF5"/>
          </a:solidFill>
          <a:ln>
            <a:solidFill>
              <a:srgbClr val="DDE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97296" y="1225296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NATURE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7296" y="1828800"/>
            <a:ext cx="16002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1865376"/>
            <a:ext cx="35204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超过 workshop 平均接受阈值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7296" y="2788920"/>
            <a:ext cx="16002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ED7D31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4928" y="2825496"/>
            <a:ext cx="35204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该稿件平均评审分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3749039"/>
            <a:ext cx="16002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 /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3785615"/>
            <a:ext cx="35204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达到 ICLR 主会标准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7296" y="4773168"/>
            <a:ext cx="51663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完整产物已经出现；
稳定的高水平研究质量仍未成立。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新争论已经从“能不能做”转向“如何治理”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35608"/>
            <a:ext cx="3310128" cy="3401568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728216"/>
            <a:ext cx="290779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441448"/>
            <a:ext cx="2907792" cy="1993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机构、资助方与出版方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需要透明与护栏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435608"/>
            <a:ext cx="3310128" cy="3401568"/>
          </a:xfrm>
          <a:prstGeom prst="roundRect">
            <a:avLst/>
          </a:prstGeom>
          <a:solidFill>
            <a:srgbClr val="FFF4E5"/>
          </a:solidFill>
          <a:ln w="1524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35423" y="1728216"/>
            <a:ext cx="290779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人类判断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3" y="2441448"/>
            <a:ext cx="2907792" cy="1993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问题框定、实验与指导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效率不等于洞见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435608"/>
            <a:ext cx="3310128" cy="3401568"/>
          </a:xfrm>
          <a:prstGeom prst="roundRect">
            <a:avLst/>
          </a:prstGeom>
          <a:solidFill>
            <a:srgbClr val="E3F1EA"/>
          </a:solidFill>
          <a:ln w="15240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728216"/>
            <a:ext cx="290779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研究生态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441448"/>
            <a:ext cx="2907792" cy="1993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速度与激励可能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放大方向趋同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5093208"/>
            <a:ext cx="9381744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课程要训练的不只是个人提速，还包括对研究质量和生态后果的判断。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个人产出扩大，不等于科学整体探索范围扩大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225296"/>
            <a:ext cx="66294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rcRect t="10683" b="10683"/>
          <a:stretch>
            <a:fillRect/>
          </a:stretch>
        </p:blipFill>
        <p:spPr>
          <a:xfrm>
            <a:off x="841247" y="1435608"/>
            <a:ext cx="626364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26096" y="1618488"/>
            <a:ext cx="3639312" cy="3401568"/>
          </a:xfrm>
          <a:prstGeom prst="roundRect">
            <a:avLst/>
          </a:prstGeom>
          <a:solidFill>
            <a:srgbClr val="DDEAF5"/>
          </a:solidFill>
          <a:ln w="1651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00416" y="1892808"/>
            <a:ext cx="309067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同时看两层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0416" y="2624328"/>
            <a:ext cx="3090672" cy="2011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个体：产出与影响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集体：知识覆盖范围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边界：观察性关联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当 AI 参与科研，这五件事还能保证吗？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仍由人定义？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639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6755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01386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386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150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150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仍可核验？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7558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7674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223052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305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1340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仍受约束？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477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593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3224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32243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0531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仍有边界？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9396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49512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4143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41433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9721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仍由人承担？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如果无法回答，速度越快，错误累积越快。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课程用五个控制点回应这五个问题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639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6755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01386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386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150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150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来源与核验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7558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7674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223052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305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1340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权限与确认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477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593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3224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32243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0531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研究门与边界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9396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49512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4143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41433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9721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diff、日志与披露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评价闭环质量，而不是工具数量。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 周后，你应拥有一个可继续发展的研究雏形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判断与实验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如何改变判断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工作流与评价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如何受控执行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如何被复核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所有练习持续回写同一个个人项目；没有每周正式作业。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项目个人完成；反馈关系分两层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DDEAF5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临时结对｜第 1–2 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低成本交换理由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不组队、不共同提交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FFF4E5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固定同伴组｜第 6 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3–4 人长期互查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组内可轮换两人反馈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反馈者提出问题；作者决定是否采纳，并独立承担项目责任。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评分看四种能力，不看 AI 使用量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08176"/>
            <a:ext cx="233172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文献与问题定位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3145536" y="1444752"/>
            <a:ext cx="6400800" cy="329184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145536" y="1444752"/>
            <a:ext cx="5334000" cy="329184"/>
          </a:xfrm>
          <a:prstGeom prst="rect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10928" y="1389888"/>
            <a:ext cx="6583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5536" y="1810512"/>
            <a:ext cx="749807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问题—证据关系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86000"/>
            <a:ext cx="233172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实验与可复现性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5536" y="2322576"/>
            <a:ext cx="6400800" cy="329184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45536" y="2322576"/>
            <a:ext cx="6400800" cy="329184"/>
          </a:xfrm>
          <a:prstGeom prst="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10928" y="2267712"/>
            <a:ext cx="6583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5536" y="2688336"/>
            <a:ext cx="749807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协议—结果关系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163824"/>
            <a:ext cx="233172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原型与 Agent Workflow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45536" y="3200400"/>
            <a:ext cx="6400800" cy="329184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45536" y="3200400"/>
            <a:ext cx="5334000" cy="329184"/>
          </a:xfrm>
          <a:prstGeom prst="rect">
            <a:avLst/>
          </a:prstGeom>
          <a:solidFill>
            <a:srgbClr val="2E7D5B"/>
          </a:solidFill>
          <a:ln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10928" y="3145536"/>
            <a:ext cx="6583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9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3566160"/>
            <a:ext cx="749807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任务—权限—评价关系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41648"/>
            <a:ext cx="233172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表达、伦理与复盘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45536" y="4078224"/>
            <a:ext cx="6400800" cy="329184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45536" y="4078224"/>
            <a:ext cx="4267200" cy="329184"/>
          </a:xfrm>
          <a:prstGeom prst="rect">
            <a:avLst/>
          </a:prstGeom>
          <a:solidFill>
            <a:srgbClr val="C8161E"/>
          </a:solidFill>
          <a:ln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10928" y="4023360"/>
            <a:ext cx="6583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4443984"/>
            <a:ext cx="749807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结论—来源—责任关系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093208"/>
            <a:ext cx="9198863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卓越 / 达标 / 待改 / 不达标均以可观察工件判断；课程不承诺论文发表。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先区分任务、执行环境与模型后端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35608"/>
            <a:ext cx="3310128" cy="3401568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728216"/>
            <a:ext cx="290779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研究任务与边界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441448"/>
            <a:ext cx="2907792" cy="1993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问题、输入、输出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权限与人工确认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435608"/>
            <a:ext cx="3310128" cy="3401568"/>
          </a:xfrm>
          <a:prstGeom prst="roundRect">
            <a:avLst/>
          </a:prstGeom>
          <a:solidFill>
            <a:srgbClr val="FFF4E5"/>
          </a:solidFill>
          <a:ln w="1524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35423" y="1728216"/>
            <a:ext cx="290779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执行环境 /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3" y="2441448"/>
            <a:ext cx="2907792" cy="1993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OpenCode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Claude Code / Codex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435608"/>
            <a:ext cx="3310128" cy="3401568"/>
          </a:xfrm>
          <a:prstGeom prst="roundRect">
            <a:avLst/>
          </a:prstGeom>
          <a:solidFill>
            <a:srgbClr val="E3F1EA"/>
          </a:solidFill>
          <a:ln w="15240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728216"/>
            <a:ext cx="290779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模型后端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441448"/>
            <a:ext cx="2907792" cy="1993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DeepSeek / Qwen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其他合规模型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5093208"/>
            <a:ext cx="9381744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课堂材料只用公开或虚构内容；不扩大权限、不外发受限材料。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报告是产物；研究是可检查的过程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225296"/>
            <a:ext cx="5138928" cy="388620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435608"/>
            <a:ext cx="1572768" cy="384048"/>
          </a:xfrm>
          <a:prstGeom prst="roundRect">
            <a:avLst/>
          </a:prstGeom>
          <a:solidFill>
            <a:srgbClr val="FFF4E5"/>
          </a:solidFill>
          <a:ln>
            <a:solidFill>
              <a:srgbClr val="FFF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35608"/>
            <a:ext cx="1572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漂亮报告</a:t>
            </a:r>
          </a:p>
        </p:txBody>
      </p:sp>
      <p:pic>
        <p:nvPicPr>
          <p:cNvPr id="7" name="Picture 6" descr="l1-p1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98" y="1892808"/>
            <a:ext cx="1481267" cy="1938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8407" y="3931920"/>
            <a:ext cx="449884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结构完整、引用很多</a:t>
            </a:r>
          </a:p>
          <a:p>
            <a:pPr algn="ctr">
              <a:lnSpc>
                <a:spcPct val="115000"/>
              </a:lnSpc>
            </a:pPr>
            <a:r>
              <a:rPr sz="18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但定义、对照与反例不清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1225296"/>
            <a:ext cx="5138928" cy="388620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19088" y="1435608"/>
            <a:ext cx="1572768" cy="384048"/>
          </a:xfrm>
          <a:prstGeom prst="roundRect">
            <a:avLst/>
          </a:prstGeom>
          <a:solidFill>
            <a:srgbClr val="DDEAF5"/>
          </a:solidFill>
          <a:ln>
            <a:solidFill>
              <a:srgbClr val="DDE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35608"/>
            <a:ext cx="1572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研究闭环</a:t>
            </a:r>
          </a:p>
        </p:txBody>
      </p:sp>
      <p:pic>
        <p:nvPicPr>
          <p:cNvPr id="12" name="Picture 11" descr="l1-p13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196" y="1892808"/>
            <a:ext cx="2176646" cy="1938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83095" y="3931920"/>
            <a:ext cx="449884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问题可检验</a:t>
            </a:r>
          </a:p>
          <a:p>
            <a:pPr algn="ctr">
              <a:lnSpc>
                <a:spcPct val="115000"/>
              </a:lnSpc>
            </a:pPr>
            <a:r>
              <a:rPr sz="18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证据—判断—实验—边界可追溯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43016" y="2761488"/>
            <a:ext cx="457200" cy="0"/>
          </a:xfrm>
          <a:prstGeom prst="line">
            <a:avLst/>
          </a:prstGeom>
          <a:ln w="27940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09928" y="5248656"/>
            <a:ext cx="87416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完整外观不能替代可被反驳、复现和审计的过程。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八阶段只用来定位：现在在改什么？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Oval 3"/>
          <p:cNvSpPr/>
          <p:nvPr/>
        </p:nvSpPr>
        <p:spPr>
          <a:xfrm>
            <a:off x="822959" y="1527048"/>
            <a:ext cx="475488" cy="47548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5270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39" y="150876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7" name="Oval 6"/>
          <p:cNvSpPr/>
          <p:nvPr/>
        </p:nvSpPr>
        <p:spPr>
          <a:xfrm>
            <a:off x="3474720" y="1527048"/>
            <a:ext cx="475488" cy="47548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15270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50876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10" name="Oval 9"/>
          <p:cNvSpPr/>
          <p:nvPr/>
        </p:nvSpPr>
        <p:spPr>
          <a:xfrm>
            <a:off x="6126479" y="1527048"/>
            <a:ext cx="475488" cy="475488"/>
          </a:xfrm>
          <a:prstGeom prst="ellipse">
            <a:avLst/>
          </a:prstGeom>
          <a:solidFill>
            <a:srgbClr val="ED7D31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79" y="15270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150876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3" name="Oval 12"/>
          <p:cNvSpPr/>
          <p:nvPr/>
        </p:nvSpPr>
        <p:spPr>
          <a:xfrm>
            <a:off x="8778240" y="1527048"/>
            <a:ext cx="475488" cy="475488"/>
          </a:xfrm>
          <a:prstGeom prst="ellipse">
            <a:avLst/>
          </a:prstGeom>
          <a:solidFill>
            <a:srgbClr val="ED7D31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0" y="15270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19" y="150876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sp>
        <p:nvSpPr>
          <p:cNvPr id="16" name="Oval 15"/>
          <p:cNvSpPr/>
          <p:nvPr/>
        </p:nvSpPr>
        <p:spPr>
          <a:xfrm>
            <a:off x="822959" y="3035808"/>
            <a:ext cx="475488" cy="475488"/>
          </a:xfrm>
          <a:prstGeom prst="ellipse">
            <a:avLst/>
          </a:prstGeom>
          <a:solidFill>
            <a:srgbClr val="2E7D5B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303580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301752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证据整理</a:t>
            </a:r>
          </a:p>
        </p:txBody>
      </p:sp>
      <p:sp>
        <p:nvSpPr>
          <p:cNvPr id="19" name="Oval 18"/>
          <p:cNvSpPr/>
          <p:nvPr/>
        </p:nvSpPr>
        <p:spPr>
          <a:xfrm>
            <a:off x="3474720" y="3035808"/>
            <a:ext cx="475488" cy="475488"/>
          </a:xfrm>
          <a:prstGeom prst="ellipse">
            <a:avLst/>
          </a:prstGeom>
          <a:solidFill>
            <a:srgbClr val="2E7D5B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03580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01752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22" name="Oval 21"/>
          <p:cNvSpPr/>
          <p:nvPr/>
        </p:nvSpPr>
        <p:spPr>
          <a:xfrm>
            <a:off x="6126479" y="3035808"/>
            <a:ext cx="475488" cy="475488"/>
          </a:xfrm>
          <a:prstGeom prst="ellipse">
            <a:avLst/>
          </a:prstGeom>
          <a:solidFill>
            <a:srgbClr val="C8161E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79" y="303580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59" y="301752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原型验证</a:t>
            </a:r>
          </a:p>
        </p:txBody>
      </p:sp>
      <p:sp>
        <p:nvSpPr>
          <p:cNvPr id="25" name="Oval 24"/>
          <p:cNvSpPr/>
          <p:nvPr/>
        </p:nvSpPr>
        <p:spPr>
          <a:xfrm>
            <a:off x="8778240" y="3035808"/>
            <a:ext cx="475488" cy="475488"/>
          </a:xfrm>
          <a:prstGeom prst="ellipse">
            <a:avLst/>
          </a:prstGeom>
          <a:solidFill>
            <a:srgbClr val="C8161E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0" y="303580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19" y="3017520"/>
            <a:ext cx="1783080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回写表达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4818888"/>
            <a:ext cx="8650224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可以回退；但要知道为什么回退、改了什么、留下什么工件。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1–4：从问题走到可被挑战的机制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4" name="Picture 3" descr="p15-fron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223538"/>
            <a:ext cx="2368296" cy="2198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" y="3639312"/>
            <a:ext cx="22951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96849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370832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什么现象
值得解释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91256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328416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p15-front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6082" y="1188720"/>
            <a:ext cx="2317010" cy="2267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57016" y="3639312"/>
            <a:ext cx="22951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396849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必要条件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4370832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主张成立
必须满足什么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p15-front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308" y="1188720"/>
            <a:ext cx="1929247" cy="2267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9360" y="3639312"/>
            <a:ext cx="22951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6849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70832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什么结果
能推翻它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95944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833104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p15-front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128" y="1381178"/>
            <a:ext cx="2368296" cy="188279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61704" y="3639312"/>
            <a:ext cx="22951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96849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4370832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只进入
候选证据区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102352"/>
            <a:ext cx="10332720" cy="0"/>
          </a:xfrm>
          <a:prstGeom prst="line">
            <a:avLst/>
          </a:prstGeom>
          <a:ln w="28575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572768" y="5212080"/>
            <a:ext cx="901598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外部材料只进候选证据区；不能越过核验直接宣布机制成立。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5–8：把候选机制变成可追溯工件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4" name="Picture 3" descr="p16-artifact-v3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469" y="1188720"/>
            <a:ext cx="1887549" cy="226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 · 支持
反驳 · 限定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91256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328416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p16-artifact-v3-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483" y="1188720"/>
            <a:ext cx="1940208" cy="2267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57016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采纳 · 拒绝
理由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p16-artifact-v3-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8435" y="1188720"/>
            <a:ext cx="1656992" cy="2267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9360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变量 · 对照
停止条件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95944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833104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p16-artifact-v3-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12512" y="1188720"/>
            <a:ext cx="1593527" cy="22677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61704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受限结论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范围 · 边界
可追溯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14400" y="5102352"/>
            <a:ext cx="10332720" cy="0"/>
          </a:xfrm>
          <a:prstGeom prst="line">
            <a:avLst/>
          </a:prstGeom>
          <a:ln w="28575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27248" y="5212080"/>
            <a:ext cx="5907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反向审计：结论 → 实验 → 判断 → 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四个研究门阻止错误继续累积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4" name="Picture 3" descr="p17-gate-v3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1374209"/>
            <a:ext cx="2368296" cy="18967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L6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值得且可做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91256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328416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p17-gate-v3-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0440" y="1347869"/>
            <a:ext cx="2368296" cy="19494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57016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L9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方案能改变判断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p17-gate-v3-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2784" y="1401010"/>
            <a:ext cx="2368296" cy="1843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9360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L13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结果与工作流
经评价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95944" y="2267712"/>
            <a:ext cx="27432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833104" y="1261872"/>
            <a:ext cx="0" cy="3383280"/>
          </a:xfrm>
          <a:prstGeom prst="line">
            <a:avLst/>
          </a:prstGeom>
          <a:ln w="10160">
            <a:solidFill>
              <a:srgbClr val="D4DAE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p17-gate-v3-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25128" y="1367363"/>
            <a:ext cx="2368296" cy="19104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61704" y="363931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L16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968496"/>
            <a:ext cx="22951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4370832"/>
            <a:ext cx="2295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结论可追溯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14400" y="5102352"/>
            <a:ext cx="10332720" cy="0"/>
          </a:xfrm>
          <a:prstGeom prst="line">
            <a:avLst/>
          </a:prstGeom>
          <a:ln w="28575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898648" y="5212080"/>
            <a:ext cx="63642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同一项目，四次抽查；错误在门前被拦截并回退。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追踪链回答“发生了什么”；研究门决定“能否继续”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写了什么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观察到什么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为何采纳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证据来源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依据在哪里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任何一段断裂，都不能靠“Agent 已完成”越过研究门。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教师演示：把一次 AI 建议变成可检查的变化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024128"/>
            <a:ext cx="1508760" cy="384048"/>
          </a:xfrm>
          <a:prstGeom prst="roundRect">
            <a:avLst/>
          </a:prstGeom>
          <a:solidFill>
            <a:srgbClr val="DDEAF5"/>
          </a:solidFill>
          <a:ln>
            <a:solidFill>
              <a:srgbClr val="DDE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024128"/>
            <a:ext cx="1508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TEACHER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1938528"/>
            <a:ext cx="10204704" cy="1417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1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只读建议 → 人工审核 → 有限写回 → diff / log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84448" y="3511296"/>
            <a:ext cx="4992624" cy="0"/>
          </a:xfrm>
          <a:prstGeom prst="line">
            <a:avLst/>
          </a:prstGeom>
          <a:ln w="38100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029967" y="3785616"/>
            <a:ext cx="8101583" cy="9601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演示对象使用公开或虚构材料；平台故障时使用同一 trace 的截图回放。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第一轮只读：先看建议，不允许写入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" y="1344168"/>
            <a:ext cx="6720840" cy="406908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19" y="1600200"/>
            <a:ext cx="6144768" cy="3520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TASK  收敛问题定义中的一个概念
READ  AGENTS.md, problem-definition.md
WRITE none
NETWORK off
STOP  提出三条建议后等待确认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82128" y="1709928"/>
            <a:ext cx="3337560" cy="3246120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984248"/>
            <a:ext cx="2825496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先把建议当候选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688336"/>
            <a:ext cx="2825496" cy="1920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不把分析写成事实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不读取项目外材料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不默认联网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先审核建议，再决定是否写入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196596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1463040"/>
            <a:ext cx="181965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2624328" y="1435608"/>
            <a:ext cx="201168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97480" y="1463040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6008" y="1435608"/>
            <a:ext cx="201168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09160" y="1463040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47688" y="1435608"/>
            <a:ext cx="201168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40" y="1463040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9368" y="1435608"/>
            <a:ext cx="20574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32520" y="1463040"/>
            <a:ext cx="1911095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093976"/>
            <a:ext cx="196596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19" y="2121408"/>
            <a:ext cx="181965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收窄任务域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24328" y="2093976"/>
            <a:ext cx="20116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7480" y="2121408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更可检验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6008" y="2093976"/>
            <a:ext cx="20116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60" y="2121408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现有材料支持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47688" y="2093976"/>
            <a:ext cx="20116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121408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课程可完成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9368" y="2093976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32520" y="2121408"/>
            <a:ext cx="1911095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2752344"/>
            <a:ext cx="196596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19" y="2779775"/>
            <a:ext cx="181965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增加敏感数据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24328" y="2752344"/>
            <a:ext cx="201168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97480" y="2779775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偏离问题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6008" y="2752344"/>
            <a:ext cx="201168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9160" y="2779775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无授权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47688" y="2752344"/>
            <a:ext cx="201168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20840" y="2779775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扩大风险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59368" y="2752344"/>
            <a:ext cx="205740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32520" y="2779775"/>
            <a:ext cx="1911095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拒绝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410712"/>
            <a:ext cx="196596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19" y="3438144"/>
            <a:ext cx="181965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把建议写成结论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24328" y="3410712"/>
            <a:ext cx="20116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97480" y="3438144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不可证伪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6008" y="3410712"/>
            <a:ext cx="20116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709160" y="3438144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未核验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47688" y="3410712"/>
            <a:ext cx="20116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20840" y="3438144"/>
            <a:ext cx="18653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越过研究链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59368" y="3410712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32520" y="3438144"/>
            <a:ext cx="1911095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人工确认后，只授权目标文件写回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" y="1344168"/>
            <a:ext cx="6720840" cy="406908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19" y="1600200"/>
            <a:ext cx="6144768" cy="3520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APPROVED CHANGE
FILE  problem-definition.md
EDIT  仅修改“研究问题”段
DO NOT
  - 新建结论
  - 修改其他工件
  - 访问网络
AFTER  列出实际修改并等待检查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82128" y="1709928"/>
            <a:ext cx="3337560" cy="3246120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984248"/>
            <a:ext cx="2825496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批准的是一次变化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688336"/>
            <a:ext cx="2825496" cy="1920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不是永久开放写权限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不是批准所有建议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不是批准研究结论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“完成”之后，检查实际 diff 和使用记录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" y="1344168"/>
            <a:ext cx="6720840" cy="406908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19" y="1600200"/>
            <a:ext cx="6144768" cy="3520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git diff -- problem-definition.md
+ 收窄任务到公开数据上的引用核验
- 自动证明结构化提示消除幻觉
+ 检验结构化提示是否降低错配率
ai-usage-log.md
用途 / Context / 采用与拒绝 / 人工核验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82128" y="1709928"/>
            <a:ext cx="3337560" cy="3246120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984248"/>
            <a:ext cx="2825496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688336"/>
            <a:ext cx="2825496" cy="1920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diff：实际改了什么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log：为何这样决定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二者缺一不可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失败不是“重跑到成功”，而是评价材料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不继续扩大影响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639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6755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01386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386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150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150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保留失败与实际状态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7558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7674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223052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305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收窄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1340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减少输入、权限或目标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477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593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3224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32243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0531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在新契约内运行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9396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49512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4143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41433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2807208"/>
            <a:ext cx="167883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9721" y="3355848"/>
            <a:ext cx="1678838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检查 diff、日志与外部状态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失败若改变了研究判断，就应回写；不能只保留成功截图。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选择一个小到能留下证据的问题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DDEAF5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自己的研究兴趣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只取一个可在课程周期内检验的局部问题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先写不确定性，不追求最终题目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FFF4E5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备用小问题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结构化核验是否降低引用错配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只用公开材料与虚构样例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本课目标不是形成完整方案，而是留下一个可检查的起点。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练习一：完成一次最小变更并检查 diff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115568"/>
            <a:ext cx="1371600" cy="384048"/>
          </a:xfrm>
          <a:prstGeom prst="roundRect">
            <a:avLst/>
          </a:prstGeom>
          <a:solidFill>
            <a:srgbClr val="FFF4E5"/>
          </a:solidFill>
          <a:ln>
            <a:solidFill>
              <a:srgbClr val="FFF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YOUR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682496"/>
            <a:ext cx="10113263" cy="11430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让 AI 只针对一个不确定性提出建议；你决定是否改写 problem-definition.md 的一处。</a:t>
            </a:r>
          </a:p>
        </p:txBody>
      </p:sp>
      <p:sp>
        <p:nvSpPr>
          <p:cNvPr id="7" name="Oval 6"/>
          <p:cNvSpPr/>
          <p:nvPr/>
        </p:nvSpPr>
        <p:spPr>
          <a:xfrm>
            <a:off x="2075688" y="3191256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75688" y="319125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7" y="3154680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第一轮不写文件；先看候选建议</a:t>
            </a:r>
          </a:p>
        </p:txBody>
      </p:sp>
      <p:sp>
        <p:nvSpPr>
          <p:cNvPr id="10" name="Oval 9"/>
          <p:cNvSpPr/>
          <p:nvPr/>
        </p:nvSpPr>
        <p:spPr>
          <a:xfrm>
            <a:off x="2075688" y="3849624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75688" y="3849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7" y="3813048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只授权一个目标文件和一处修改</a:t>
            </a:r>
          </a:p>
        </p:txBody>
      </p:sp>
      <p:sp>
        <p:nvSpPr>
          <p:cNvPr id="13" name="Oval 12"/>
          <p:cNvSpPr/>
          <p:nvPr/>
        </p:nvSpPr>
        <p:spPr>
          <a:xfrm>
            <a:off x="2075688" y="4507992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75688" y="450799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7" y="4471416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运行 git diff，检查实际变化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练习二：补日志，并标出研究链位置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115568"/>
            <a:ext cx="1371600" cy="384048"/>
          </a:xfrm>
          <a:prstGeom prst="roundRect">
            <a:avLst/>
          </a:prstGeom>
          <a:solidFill>
            <a:srgbClr val="FFF4E5"/>
          </a:solidFill>
          <a:ln>
            <a:solidFill>
              <a:srgbClr val="FFF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YOUR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682496"/>
            <a:ext cx="10113263" cy="11430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 diff 反推：AI 建议了什么、你为何采纳或拒绝、这次动作位于八阶段哪里？</a:t>
            </a:r>
          </a:p>
        </p:txBody>
      </p:sp>
      <p:sp>
        <p:nvSpPr>
          <p:cNvPr id="7" name="Oval 6"/>
          <p:cNvSpPr/>
          <p:nvPr/>
        </p:nvSpPr>
        <p:spPr>
          <a:xfrm>
            <a:off x="2075688" y="3191256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75688" y="319125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7" y="3154680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日志写明 Context、输出用途和人工核验</a:t>
            </a:r>
          </a:p>
        </p:txBody>
      </p:sp>
      <p:sp>
        <p:nvSpPr>
          <p:cNvPr id="10" name="Oval 9"/>
          <p:cNvSpPr/>
          <p:nvPr/>
        </p:nvSpPr>
        <p:spPr>
          <a:xfrm>
            <a:off x="2075688" y="3849624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75688" y="3849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7" y="3813048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链路草图只标当前不确定位置</a:t>
            </a:r>
          </a:p>
        </p:txBody>
      </p:sp>
      <p:sp>
        <p:nvSpPr>
          <p:cNvPr id="13" name="Oval 12"/>
          <p:cNvSpPr/>
          <p:nvPr/>
        </p:nvSpPr>
        <p:spPr>
          <a:xfrm>
            <a:off x="2075688" y="4507992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75688" y="450799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7" y="4471416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若未调用模型，如实写“人工判断”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临时结对：只提问题，不替作者决定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DDEAF5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指出一处证据或边界缺口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不直接改对方文件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FFF4E5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决定采纳、修改或拒绝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记录理由并独立提交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固定同伴组在第 6 课前建立；今天的结对不构成小组。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先判断证据身份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定位正在修改什么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人类判断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决定是否写回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可审计记录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diff、日志、边界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可以参与科研；研究责任仍由人承担。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离场前，只检查三件事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115568"/>
            <a:ext cx="1371600" cy="384048"/>
          </a:xfrm>
          <a:prstGeom prst="roundRect">
            <a:avLst/>
          </a:prstGeom>
          <a:solidFill>
            <a:srgbClr val="FFF4E5"/>
          </a:solidFill>
          <a:ln>
            <a:solidFill>
              <a:srgbClr val="FFF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YOUR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682496"/>
            <a:ext cx="10113263" cy="11430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你的项目是否已经留下一个别人可以检查的起点？</a:t>
            </a:r>
          </a:p>
        </p:txBody>
      </p:sp>
      <p:sp>
        <p:nvSpPr>
          <p:cNvPr id="7" name="Oval 6"/>
          <p:cNvSpPr/>
          <p:nvPr/>
        </p:nvSpPr>
        <p:spPr>
          <a:xfrm>
            <a:off x="2075688" y="3191256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75688" y="319125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7" y="3154680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一处经人工确认的修改与对应 diff</a:t>
            </a:r>
          </a:p>
        </p:txBody>
      </p:sp>
      <p:sp>
        <p:nvSpPr>
          <p:cNvPr id="10" name="Oval 9"/>
          <p:cNvSpPr/>
          <p:nvPr/>
        </p:nvSpPr>
        <p:spPr>
          <a:xfrm>
            <a:off x="2075688" y="3849624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75688" y="3849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7" y="3813048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一条 AI 使用记录</a:t>
            </a:r>
          </a:p>
        </p:txBody>
      </p:sp>
      <p:sp>
        <p:nvSpPr>
          <p:cNvPr id="13" name="Oval 12"/>
          <p:cNvSpPr/>
          <p:nvPr/>
        </p:nvSpPr>
        <p:spPr>
          <a:xfrm>
            <a:off x="2075688" y="4507992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75688" y="450799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7" y="4471416"/>
            <a:ext cx="7598663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一个明确写出的当前不确定性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课后：完善起点，不新增正式提交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补范围与非例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diff 与日志不删除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阅读核心材料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问题形成与人类判断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带入第 2 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风险、权限与披露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正式提交仍只在第 6、9、13、16 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2358</Words>
  <Application>Microsoft Macintosh PowerPoint</Application>
  <DocSecurity>0</DocSecurity>
  <PresentationFormat>Widescreen</PresentationFormat>
  <Paragraphs>657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微软雅黑</vt:lpstr>
      <vt:lpstr>Arial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Yaohui</cp:lastModifiedBy>
  <cp:revision>9</cp:revision>
  <dcterms:created xsi:type="dcterms:W3CDTF">2026-08-20T15:39:18Z</dcterms:created>
  <dcterms:modified xsi:type="dcterms:W3CDTF">2026-08-27T08:59:44Z</dcterms:modified>
</cp:coreProperties>
</file>