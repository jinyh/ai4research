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87" r:id="rId2"/>
    <p:sldId id="292" r:id="rId3"/>
    <p:sldId id="256" r:id="rId4"/>
    <p:sldId id="257" r:id="rId5"/>
    <p:sldId id="288" r:id="rId6"/>
    <p:sldId id="289" r:id="rId7"/>
    <p:sldId id="258" r:id="rId8"/>
    <p:sldId id="259" r:id="rId9"/>
    <p:sldId id="260" r:id="rId10"/>
    <p:sldId id="261" r:id="rId11"/>
    <p:sldId id="262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90" r:id="rId20"/>
    <p:sldId id="271" r:id="rId21"/>
    <p:sldId id="29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0"/>
    <p:restoredTop sz="94787"/>
  </p:normalViewPr>
  <p:slideViewPr>
    <p:cSldViewPr snapToGrid="0">
      <p:cViewPr varScale="1">
        <p:scale>
          <a:sx n="81" d="100"/>
          <a:sy n="81" d="100"/>
        </p:scale>
        <p:origin x="20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评分权重</c:v>
          </c:tx>
          <c:spPr>
            <a:solidFill>
              <a:srgbClr val="1F4D7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809BB1"/>
              </a:solidFill>
            </c:spPr>
            <c:extLst>
              <c:ext xmlns:c16="http://schemas.microsoft.com/office/drawing/2014/chart" uri="{C3380CC4-5D6E-409C-BE32-E72D297353CC}">
                <c16:uniqueId val="{00000007-F1A0-E84B-A0EC-254A5AB90B9D}"/>
              </c:ext>
            </c:extLst>
          </c:dPt>
          <c:dPt>
            <c:idx val="1"/>
            <c:invertIfNegative val="0"/>
            <c:bubble3D val="0"/>
            <c:spPr>
              <a:solidFill>
                <a:srgbClr val="527CA0"/>
              </a:solidFill>
            </c:spPr>
            <c:extLst>
              <c:ext xmlns:c16="http://schemas.microsoft.com/office/drawing/2014/chart" uri="{C3380CC4-5D6E-409C-BE32-E72D297353CC}">
                <c16:uniqueId val="{00000005-F1A0-E84B-A0EC-254A5AB90B9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1A0-E84B-A0EC-254A5AB90B9D}"/>
              </c:ext>
            </c:extLst>
          </c:dPt>
          <c:dPt>
            <c:idx val="3"/>
            <c:invertIfNegative val="0"/>
            <c:bubble3D val="0"/>
            <c:spPr>
              <a:solidFill>
                <a:srgbClr val="527CA0"/>
              </a:solidFill>
            </c:spPr>
            <c:extLst>
              <c:ext xmlns:c16="http://schemas.microsoft.com/office/drawing/2014/chart" uri="{C3380CC4-5D6E-409C-BE32-E72D297353CC}">
                <c16:uniqueId val="{00000003-F1A0-E84B-A0EC-254A5AB90B9D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400" b="1">
                    <a:solidFill>
                      <a:srgbClr val="1F4D78"/>
                    </a:solidFill>
                    <a:latin typeface="Arial"/>
                    <a:ea typeface="Arial"/>
                    <a:cs typeface="Arial"/>
                  </a:defRPr>
                </a:pPr>
                <a:endParaRPr lang="en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表达、伦理与复盘</c:v>
                </c:pt>
                <c:pt idx="1">
                  <c:v>原型与 Agent Workflow 实践</c:v>
                </c:pt>
                <c:pt idx="2">
                  <c:v>实验设计与可复现性</c:v>
                </c:pt>
                <c:pt idx="3">
                  <c:v>文献与问题定位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</c:v>
                </c:pt>
                <c:pt idx="1">
                  <c:v>0.25</c:v>
                </c:pt>
                <c:pt idx="2">
                  <c:v>0.3</c:v>
                </c:pt>
                <c:pt idx="3">
                  <c:v>0.25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1A0-E84B-A0EC-254A5AB90B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200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endParaRPr lang="en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5"/>
          <c:min val="0"/>
        </c:scaling>
        <c:delete val="0"/>
        <c:axPos val="b"/>
        <c:numFmt formatCode="0%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 sz="200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endParaRPr lang="en-TW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e44317c6a81340b7"/><Relationship Type="http://schemas.openxmlformats.org/officeDocument/2006/relationships/notesMaster" Target="/ppt/notesMasters/notesMaster1.xml" Id="Rdaafa119ef404c85"/></Relationships>
</file>

<file path=ppt/notesSlides/_rels/notesSlide36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d40a185d6d744585"/><Relationship Type="http://schemas.openxmlformats.org/officeDocument/2006/relationships/notesMaster" Target="/ppt/notesMasters/notesMaster1.xml" Id="R8254c0dfe3f04dc1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页面：P03 AI 辅助科研导论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页面：P04 讲师与学生的研究分工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页面：P05 AI 可以参与哪些科研动作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页面：P06 结构化阅读卡与限定条件遗漏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页面：P07 两项问题收敛建议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>先独立作答，再同伴比较；以下依据只在校准时揭示。</a:t>
            </a:r>
          </a:p>
          <a:p>
            <a:r>
              <a:t/>
            </a:r>
          </a:p>
          <a:p>
            <a:r>
              <a:t>A 可以训练输出比较，但这些构造输出不足以证明模型效果；B 更适合作为无需额度的默认微型工程问题。允许选 A 并把结论限定到公开输出审计，同时为后续实质实现定义一个独立动作。理由必须联系资源和可检验证据；不能仅因 B 能写代码而选 B。</a:t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先独立写决定和证据，后同伴比较；校准后再回写。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./handout.md §一·2；课堂构造判断题，无实证主张</a:t>
            </a:r>
          </a:p>
          <a:p>
            <a:r>
              <a:t/>
            </a:r>
          </a:p>
          <a:p>
            <a:r>
              <a:t>本课 handout.md、judgment-task.md；../../course/judgment-path.md。教学构造仅用于方法判断；本人结果以实际记录为准。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页面：P08 完整论文出现了，研究质量如何？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  <a:endParaRPr/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页面：P09 AI 科研的治理与生态争论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  <a:endParaRPr/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  <a:endParaRPr/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页面：P10 AI 科研：个人影响与集体探索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  <a:endParaRPr/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页面：P11 AI 辅助科研中的研究者判断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页面：P12 期末个人项目的四类工件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页面：P13 个人项目与两层反馈关系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页面：P14 评分看什么，怎样算达标？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页面：P15 研究任务、执行环境与模型后端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  <a:endParaRPr/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页面：P16 报告与可检查的研究过程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页面：P17 八阶段定位图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页面：P18 阶段 1–2：问题定义与必要条件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页面：P19 阶段 3–4：机制假设与外部输入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页面：P20 阶段 5–6：证据整理与研究判断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页面：P21 阶段 7–8：原型验证与回写表达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页面：P22 四个研究门与回退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页面：P23 同一主张，先补哪一个缺口？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页面：P24 现场演示：一次建议如何变成修改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页面：P25 第一轮：只读建议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页面：P26 研究者审核建议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页面：P27 第二轮：按获批范围写回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页面：P28 用 diff 和日志核对实际变化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页面：P29 失败后的恢复与记录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页面：P30 一个可留下证据的小问题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页面：P31 本人项目：决定、核验与回写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>第一段作决定并查证据；中点处理共性卡点；第二段实际回写并验证。A 可以训练输出比较，但这些构造输出不足以证明模型效果；B 更适合作为无需额度的默认微型工程问题。允许选 A 并把结论限定到公开输出审计，同时为后续实质实现定义一个独立动作。理由必须联系资源和可检验证据；不能仅因 B 能写代码而选 B。</a:t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从 A/B 中选一项或修订一项；在 problem-definition.md 写出研究对象、牺牲的范围、所需证据和待查条件。只改“当前问题”段，人工核准后保存实际 diff。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handout.md、judgment-task.md；../../course/judgment-path.md。教学构造仅用于方法判断；本人结果以实际记录为准。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页面：P32 练习二：使用记录与阶段定位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页面：P33 临时结对与作者决定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页面：P34 本讲知识点总结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页面：P35 离场前，核对四项完成证据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/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依据本页方法检查本人项目；按需参考。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页面：P36 保留本课决定，准备下一课输入</a:t>
            </a:r>
          </a:p>
          <a:p>
            <a:r>
              <a:t/>
            </a:r>
          </a:p>
          <a:p>
            <a:r>
              <a:t>讲述与校准：</a:t>
            </a:r>
          </a:p>
          <a:p>
            <a:r>
              <a:t>补清一项取舍及待查条件；打开项目文件，检查下一课要审查的动作。 每课课外最多60分钟；详见讲义。</a:t>
            </a:r>
          </a:p>
          <a:p>
            <a:r>
              <a:t/>
            </a:r>
          </a:p>
          <a:p>
            <a:r>
              <a:t>学生动作：</a:t>
            </a:r>
          </a:p>
          <a:p>
            <a:r>
              <a:t>定位实际工件与下一项动作；按既定预算收口。</a:t>
            </a:r>
          </a:p>
          <a:p>
            <a:r>
              <a:t/>
            </a:r>
          </a:p>
          <a:p>
            <a:r>
              <a:t>课堂安排：按本稿下方 90 分钟教学路由安排；此页不另占独立时段。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本课 handout.md、judgment-task.md；../../course/judgment-path.md。教学构造仅用于方法判断；本人结果以实际记录为准。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智能科研方法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课程资源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课程主页与代码仓库入口，按需展示。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打开课程入口。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课程内部入口。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r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noChangeAspect="1"/>
          </p:cNvPicPr>
          <p:nvPr/>
        </p:nvPicPr>
        <p:blipFill rotWithShape="1">
          <a:blip r:embed="rId3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pic>
        <p:nvPicPr>
          <p:cNvPr id="51" name="图片 17"/>
          <p:cNvPicPr>
            <a:picLocks noChangeAspect="1"/>
          </p:cNvPicPr>
          <p:nvPr/>
        </p:nvPicPr>
        <p:blipFill rotWithShape="1">
          <a:blip r:embed="rId4">
            <a:alphaModFix amt="35000"/>
          </a:blip>
          <a:srcRect t="9831" b="36385"/>
          <a:stretch/>
        </p:blipFill>
        <p:spPr>
          <a:xfrm>
            <a:off x="3352562" y="6244170"/>
            <a:ext cx="5486876" cy="406590"/>
          </a:xfrm>
          <a:prstGeom prst="rect">
            <a:avLst/>
          </a:prstGeom>
        </p:spPr>
      </p:pic>
      <p:sp>
        <p:nvSpPr>
          <p:cNvPr id="37" name="椭圆 36">
            <a:extLst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noGrp="1"/>
          </p:cNvSpPr>
          <p:nvPr/>
        </p:nvSpPr>
        <p:spPr>
          <a:xfrm>
            <a:off x="6051000" y="6430138"/>
            <a:ext cx="90000" cy="9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D8986E70-AA20-4B48-8392-1E625C907004}"/>
              </a:ext>
            </a:extLst>
          </p:cNvPr>
          <p:cNvSpPr>
            <a:spLocks noGrp="1"/>
          </p:cNvSpPr>
          <p:nvPr/>
        </p:nvSpPr>
        <p:spPr>
          <a:xfrm>
            <a:off x="2328587" y="6487838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E6E69411-B05C-4E95-9FEF-89AAD194B943}"/>
              </a:ext>
            </a:extLst>
          </p:cNvPr>
          <p:cNvSpPr>
            <a:spLocks noGrp="1"/>
          </p:cNvSpPr>
          <p:nvPr/>
        </p:nvSpPr>
        <p:spPr>
          <a:xfrm>
            <a:off x="8983387" y="6487838"/>
            <a:ext cx="900000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9C41B9F3-F9D4-4EDD-84BE-E44BAA51E2DF}"/>
              </a:ext>
            </a:extLst>
          </p:cNvPr>
          <p:cNvSpPr>
            <a:spLocks noGrp="1"/>
          </p:cNvSpPr>
          <p:nvPr/>
        </p:nv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07D9406B-EC01-450C-8B26-61842E9F6645}"/>
              </a:ext>
            </a:extLst>
          </p:cNvPr>
          <p:cNvSpPr>
            <a:spLocks noGrp="1"/>
          </p:cNvSpPr>
          <p:nvPr/>
        </p:nv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7" name="图片 3"/>
          <p:cNvPicPr>
            <a:picLocks noChangeAspect="1"/>
          </p:cNvPicPr>
          <p:nvPr/>
        </p:nvPicPr>
        <p:blipFill>
          <a:blip r:embed="rId5"/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noGrp="1"/>
          </p:cNvSpPr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noGrp="1"/>
          </p:cNvSpPr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noGrp="1"/>
          </p:cNvSpPr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noChangeAspect="1"/>
          </p:cNvPicPr>
          <p:nvPr/>
        </p:nvPicPr>
        <p:blipFill rotWithShape="1">
          <a:blip r:embed="rId2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1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F67471EE-CBFD-4BA6-A818-9AE9DE512DAE}"/>
              </a:ext>
            </a:extLst>
          </p:cNvPr>
          <p:cNvSpPr>
            <a:spLocks noGrp="1"/>
          </p:cNvSpPr>
          <p:nvPr/>
        </p:nv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1843F813-85B6-4A0C-BF78-B82267820B7E}"/>
              </a:ext>
            </a:extLst>
          </p:cNvPr>
          <p:cNvSpPr>
            <a:spLocks noGrp="1"/>
          </p:cNvSpPr>
          <p:nvPr/>
        </p:nv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noChangeAspect="1"/>
          </p:cNvPicPr>
          <p:nvPr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hyperlink" Target="https://github.com/jinyh/ai4research" TargetMode="External"/><Relationship Id="rId2" Type="http://schemas.openxmlformats.org/officeDocument/2006/relationships/hyperlink" Target="https://jinyh.github.io/ai4research/&#12289;" TargetMode="External"/><Relationship Id="rId1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C33D1-F795-2B48-8B6F-3B74189BA9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noProof="1"/>
              <a:t>2026.</a:t>
            </a:r>
            <a:r>
              <a:rPr lang="en-US" altLang="zh-CN" noProof="1"/>
              <a:t>9.</a:t>
            </a:r>
            <a:endParaRPr lang="zh-CN" noProof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9449E-BE24-3B99-62E8-EDE829994C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noProof="1"/>
              <a:t>主讲： 金耀辉</a:t>
            </a:r>
            <a:r>
              <a:rPr lang="zh-CN" altLang="en-US" noProof="1"/>
              <a:t> 教授</a:t>
            </a:r>
            <a:endParaRPr lang="zh-CN" noProof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5A75C7-65B7-5D90-65F9-B5E2DF88BFC3}"/>
              </a:ext>
            </a:extLst>
          </p:cNvPr>
          <p:cNvSpPr/>
          <p:nvPr/>
        </p:nvSpPr>
        <p:spPr>
          <a:xfrm>
            <a:off x="1584000" y="1818000"/>
            <a:ext cx="9036000" cy="1322765"/>
          </a:xfrm>
          <a:prstGeom prst="rect">
            <a:avLst/>
          </a:prstGeom>
          <a:solidFill>
            <a:srgbClr val="C6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53D58-FBE4-81EF-27E9-E7D74F3DD5C3}"/>
              </a:ext>
            </a:extLst>
          </p:cNvPr>
          <p:cNvSpPr txBox="1"/>
          <p:nvPr/>
        </p:nvSpPr>
        <p:spPr>
          <a:xfrm>
            <a:off x="1854000" y="1998000"/>
            <a:ext cx="8496000" cy="413999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3600" b="1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智能科研方法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D4E43-615D-2E9A-786D-A4ABBED268CF}"/>
              </a:ext>
            </a:extLst>
          </p:cNvPr>
          <p:cNvSpPr txBox="1"/>
          <p:nvPr/>
        </p:nvSpPr>
        <p:spPr>
          <a:xfrm>
            <a:off x="1848000" y="2603032"/>
            <a:ext cx="8496000" cy="259200"/>
          </a:xfrm>
          <a:prstGeom prst="rect">
            <a:avLst/>
          </a:prstGeom>
          <a:noFill/>
        </p:spPr>
        <p:txBody>
          <a:bodyPr wrap="none" lIns="28800" tIns="28800" rIns="28800" bIns="2880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lang="zh-CN" sz="2000" b="0" noProof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for Research: Methods and Practice</a:t>
            </a:r>
          </a:p>
        </p:txBody>
      </p:sp>
    </p:spTree>
    <p:extLst>
      <p:ext uri="{BB962C8B-B14F-4D97-AF65-F5344CB8AC3E}">
        <p14:creationId xmlns:p14="http://schemas.microsoft.com/office/powerpoint/2010/main" val="983862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F4EA3B-FAF3-E903-E5A8-E35A91FA2E35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E330F-3371-FCA6-7AB7-03E353546F3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30CD2-0E4A-F50A-633D-CED68906BEA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TW" dirty="0"/>
              <a:t>课程资源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F508C-A70A-8A61-FDBD-68E193AA3FB6}"/>
              </a:ext>
            </a:extLst>
          </p:cNvPr>
          <p:cNvSpPr txBox="1"/>
          <p:nvPr/>
        </p:nvSpPr>
        <p:spPr>
          <a:xfrm>
            <a:off x="1608083" y="2222938"/>
            <a:ext cx="6619120" cy="11344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TW" sz="2400" dirty="0"/>
              <a:t>课程主页</a:t>
            </a:r>
            <a:r>
              <a:rPr lang="zh-CN" altLang="en-US" sz="2400" dirty="0"/>
              <a:t>：</a:t>
            </a:r>
            <a:r>
              <a:rPr lang="en-US" altLang="zh-CN" sz="2400" dirty="0">
                <a:hlinkClick r:id="rId2"/>
              </a:rPr>
              <a:t>https://jinyh.github.io/ai4research/</a:t>
            </a:r>
            <a:endParaRPr lang="en-TW" altLang="zh-CN" sz="2400" dirty="0"/>
          </a:p>
          <a:p>
            <a:pPr>
              <a:lnSpc>
                <a:spcPct val="150000"/>
              </a:lnSpc>
            </a:pPr>
            <a:r>
              <a:rPr lang="zh-CN" altLang="en-TW" sz="2400" dirty="0"/>
              <a:t>代码</a:t>
            </a:r>
            <a:r>
              <a:rPr lang="zh-CN" altLang="en-US" sz="2400" dirty="0"/>
              <a:t>链接：</a:t>
            </a:r>
            <a:r>
              <a:rPr lang="en-US" altLang="zh-CN" sz="2400" dirty="0">
                <a:hlinkClick r:id="rId3"/>
              </a:rPr>
              <a:t>https://github.com/jinyh/ai4research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0020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76C01-EB9B-4156-9FF8-2A846B32ED37}"/>
              </a:ext>
            </a:extLst>
          </p:cNvPr>
          <p:cNvSpPr>
            <a:spLocks noGrp="1"/>
          </p:cNvSpPr>
          <p:nvPr/>
        </p:nvSpPr>
        <p:spPr>
          <a:xfrm>
            <a:off x="2029968" y="2139696"/>
            <a:ext cx="813816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2500" b="0">
                <a:solidFill>
                  <a:srgbClr val="5F6B76"/>
                </a:solidFill>
                <a:latin typeface="微软雅黑"/>
                <a:ea typeface="微软雅黑"/>
                <a:cs typeface="微软雅黑"/>
              </a:rPr>
              <a:t>第1讲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C6FE2-1DD7-45B7-A3FC-33150FFB7054}"/>
              </a:ext>
            </a:extLst>
          </p:cNvPr>
          <p:cNvSpPr>
            <a:spLocks noGrp="1"/>
          </p:cNvSpPr>
          <p:nvPr/>
        </p:nvSpPr>
        <p:spPr>
          <a:xfrm>
            <a:off x="1481328" y="2624328"/>
            <a:ext cx="9235440" cy="658368"/>
          </a:xfrm>
          <a:prstGeom prst="rect">
            <a:avLst/>
          </a:prstGeom>
          <a:noFill/>
        </p:spPr>
        <p:txBody>
          <a:bodyPr lIns="36576" tIns="36576" rIns="36576" bIns="36576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AI 辅助科研导论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E0D8D-B349-4930-A9C8-CC3104A4A586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讲师与学生的研究分工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B26436-8EC1-4076-A7D2-A720B4FDADA1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body-1">
            <a:extLst>
              <a:ext uri="{FF2B5EF4-FFF2-40B4-BE49-F238E27FC236}">
                <a16:creationId xmlns:a16="http://schemas.microsoft.com/office/drawing/2014/main" id="{607D47C2-47AB-4FDD-9420-C51FF56D4E85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共同把研究判断做得可检查</a:t>
            </a:r>
          </a:p>
        </p:txBody>
      </p:sp>
      <p:sp>
        <p:nvSpPr>
          <p:cNvPr id="5" name="body-2">
            <a:extLst>
              <a:ext uri="{FF2B5EF4-FFF2-40B4-BE49-F238E27FC236}">
                <a16:creationId xmlns:a16="http://schemas.microsoft.com/office/drawing/2014/main" id="{00406142-687E-4DA7-81BD-E1BCB810B716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4048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讲师提供</a:t>
            </a:r>
          </a:p>
        </p:txBody>
      </p:sp>
      <p:sp>
        <p:nvSpPr>
          <p:cNvPr id="6" name="body-3">
            <a:extLst>
              <a:ext uri="{FF2B5EF4-FFF2-40B4-BE49-F238E27FC236}">
                <a16:creationId xmlns:a16="http://schemas.microsoft.com/office/drawing/2014/main" id="{0816514C-27DF-47D9-93A4-A47ABB48C8CB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4200525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研究方法与操作支架</a:t>
            </a:r>
          </a:p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Agent 实践中的失败案例</a:t>
            </a:r>
          </a:p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对证据和边界的反馈</a:t>
            </a:r>
          </a:p>
        </p:txBody>
      </p:sp>
      <p:sp>
        <p:nvSpPr>
          <p:cNvPr id="7" name="body-4">
            <a:extLst>
              <a:ext uri="{FF2B5EF4-FFF2-40B4-BE49-F238E27FC236}">
                <a16:creationId xmlns:a16="http://schemas.microsoft.com/office/drawing/2014/main" id="{9B436E41-9080-45E3-A9D0-7376DB944D40}"/>
              </a:ext>
            </a:extLst>
          </p:cNvPr>
          <p:cNvSpPr>
            <a:spLocks noGrp="1"/>
          </p:cNvSpPr>
          <p:nvPr/>
        </p:nvSpPr>
        <p:spPr>
          <a:xfrm>
            <a:off x="7543800" y="2085975"/>
            <a:ext cx="4038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学生带来</a:t>
            </a:r>
          </a:p>
        </p:txBody>
      </p:sp>
      <p:sp>
        <p:nvSpPr>
          <p:cNvPr id="8" name="body-5">
            <a:extLst>
              <a:ext uri="{FF2B5EF4-FFF2-40B4-BE49-F238E27FC236}">
                <a16:creationId xmlns:a16="http://schemas.microsoft.com/office/drawing/2014/main" id="{CB442121-E7EB-4560-B177-9CC1D6AF323A}"/>
              </a:ext>
            </a:extLst>
          </p:cNvPr>
          <p:cNvSpPr>
            <a:spLocks noGrp="1"/>
          </p:cNvSpPr>
          <p:nvPr/>
        </p:nvSpPr>
        <p:spPr>
          <a:xfrm>
            <a:off x="7543800" y="2800350"/>
            <a:ext cx="4038600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自己的研究问题</a:t>
            </a:r>
          </a:p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当前无法确定的判断</a:t>
            </a:r>
          </a:p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愿意接受检查的工件</a:t>
            </a:r>
          </a:p>
        </p:txBody>
      </p:sp>
      <p:sp>
        <p:nvSpPr>
          <p:cNvPr id="9" name="node-6">
            <a:extLst>
              <a:ext uri="{FF2B5EF4-FFF2-40B4-BE49-F238E27FC236}">
                <a16:creationId xmlns:a16="http://schemas.microsoft.com/office/drawing/2014/main" id="{ABB51B64-1A97-4654-9D75-74DEBECC2351}"/>
              </a:ext>
            </a:extLst>
          </p:cNvPr>
          <p:cNvSpPr>
            <a:spLocks noGrp="1"/>
          </p:cNvSpPr>
          <p:nvPr/>
        </p:nvSpPr>
        <p:spPr>
          <a:xfrm>
            <a:off x="619125" y="4867275"/>
            <a:ext cx="2857500" cy="619125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方法与反馈</a:t>
            </a:r>
          </a:p>
        </p:txBody>
      </p:sp>
      <p:sp>
        <p:nvSpPr>
          <p:cNvPr id="10" name="node-7">
            <a:extLst>
              <a:ext uri="{FF2B5EF4-FFF2-40B4-BE49-F238E27FC236}">
                <a16:creationId xmlns:a16="http://schemas.microsoft.com/office/drawing/2014/main" id="{BD0B0487-865A-4E72-B989-7D22EDDABB54}"/>
              </a:ext>
            </a:extLst>
          </p:cNvPr>
          <p:cNvSpPr>
            <a:spLocks noGrp="1"/>
          </p:cNvSpPr>
          <p:nvPr/>
        </p:nvSpPr>
        <p:spPr>
          <a:xfrm>
            <a:off x="8724900" y="4867275"/>
            <a:ext cx="2857500" cy="619125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问题与判断</a:t>
            </a:r>
          </a:p>
        </p:txBody>
      </p:sp>
      <p:cxnSp>
        <p:nvCxnSpPr>
          <p:cNvPr id="34" name="edge-8"/>
          <p:cNvCxnSpPr>
            <a:stCxn id="9" idx="3"/>
            <a:endCxn id="10" idx="1"/>
          </p:cNvCxnSpPr>
          <p:nvPr/>
        </p:nvCxnSpPr>
        <p:spPr>
          <a:xfrm>
            <a:off x="3476625" y="5176838"/>
            <a:ext cx="5248275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35" name="edge-9"/>
          <p:cNvCxnSpPr>
            <a:stCxn id="10" idx="1"/>
            <a:endCxn id="9" idx="3"/>
          </p:cNvCxnSpPr>
          <p:nvPr/>
        </p:nvCxnSpPr>
        <p:spPr>
          <a:xfrm flipH="1">
            <a:off x="3476625" y="5176838"/>
            <a:ext cx="5248275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3" name="body-10">
            <a:extLst>
              <a:ext uri="{FF2B5EF4-FFF2-40B4-BE49-F238E27FC236}">
                <a16:creationId xmlns:a16="http://schemas.microsoft.com/office/drawing/2014/main" id="{97D64BE6-A576-453D-9402-80C901787151}"/>
              </a:ext>
            </a:extLst>
          </p:cNvPr>
          <p:cNvSpPr>
            <a:spLocks noGrp="1"/>
          </p:cNvSpPr>
          <p:nvPr/>
        </p:nvSpPr>
        <p:spPr>
          <a:xfrm>
            <a:off x="3705225" y="4400550"/>
            <a:ext cx="490537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带着真实问题来，带着修改理由离开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E0D8D-B349-4930-A9C8-CC3104A4A586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可以参与哪些科研动作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B26436-8EC1-4076-A7D2-A720B4FDADA1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action-label-0">
            <a:extLst>
              <a:ext uri="{FF2B5EF4-FFF2-40B4-BE49-F238E27FC236}">
                <a16:creationId xmlns:a16="http://schemas.microsoft.com/office/drawing/2014/main" id="{BD19678F-42BB-4C56-8E52-3B8EAB8D609A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文献检索</a:t>
            </a:r>
          </a:p>
        </p:txBody>
      </p:sp>
      <p:sp>
        <p:nvSpPr>
          <p:cNvPr id="5" name="action-help-0">
            <a:extLst>
              <a:ext uri="{FF2B5EF4-FFF2-40B4-BE49-F238E27FC236}">
                <a16:creationId xmlns:a16="http://schemas.microsoft.com/office/drawing/2014/main" id="{9151B6B7-2A90-4ADE-A89E-213438763E73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扩展关键词、生成检索式</a:t>
            </a:r>
          </a:p>
        </p:txBody>
      </p:sp>
      <p:sp>
        <p:nvSpPr>
          <p:cNvPr id="6" name="action-label-1">
            <a:extLst>
              <a:ext uri="{FF2B5EF4-FFF2-40B4-BE49-F238E27FC236}">
                <a16:creationId xmlns:a16="http://schemas.microsoft.com/office/drawing/2014/main" id="{51907B47-07B8-48D3-A315-A49AFF26F128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论文阅读</a:t>
            </a:r>
          </a:p>
        </p:txBody>
      </p:sp>
      <p:sp>
        <p:nvSpPr>
          <p:cNvPr id="7" name="action-help-1">
            <a:extLst>
              <a:ext uri="{FF2B5EF4-FFF2-40B4-BE49-F238E27FC236}">
                <a16:creationId xmlns:a16="http://schemas.microsoft.com/office/drawing/2014/main" id="{7A517C2F-25DA-47F8-A0D1-8BB24BFD02A6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解释术语、提取方法与结果</a:t>
            </a:r>
          </a:p>
        </p:txBody>
      </p:sp>
      <p:sp>
        <p:nvSpPr>
          <p:cNvPr id="8" name="action-label-2">
            <a:extLst>
              <a:ext uri="{FF2B5EF4-FFF2-40B4-BE49-F238E27FC236}">
                <a16:creationId xmlns:a16="http://schemas.microsoft.com/office/drawing/2014/main" id="{EB1ECA38-6854-4FF1-8765-60159F0825E4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问题形成</a:t>
            </a:r>
          </a:p>
        </p:txBody>
      </p:sp>
      <p:sp>
        <p:nvSpPr>
          <p:cNvPr id="9" name="action-help-2">
            <a:extLst>
              <a:ext uri="{FF2B5EF4-FFF2-40B4-BE49-F238E27FC236}">
                <a16:creationId xmlns:a16="http://schemas.microsoft.com/office/drawing/2014/main" id="{637019BA-829F-4463-B1A0-0469849A37C9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提出候选问题与反例</a:t>
            </a:r>
          </a:p>
        </p:txBody>
      </p:sp>
      <p:sp>
        <p:nvSpPr>
          <p:cNvPr id="10" name="action-label-3">
            <a:extLst>
              <a:ext uri="{FF2B5EF4-FFF2-40B4-BE49-F238E27FC236}">
                <a16:creationId xmlns:a16="http://schemas.microsoft.com/office/drawing/2014/main" id="{66E4A081-C19D-40D0-B7AA-AFA40111667C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代码与调试</a:t>
            </a:r>
          </a:p>
        </p:txBody>
      </p:sp>
      <p:sp>
        <p:nvSpPr>
          <p:cNvPr id="11" name="action-help-3">
            <a:extLst>
              <a:ext uri="{FF2B5EF4-FFF2-40B4-BE49-F238E27FC236}">
                <a16:creationId xmlns:a16="http://schemas.microsoft.com/office/drawing/2014/main" id="{1BE56260-37D3-45DE-8556-81102E942B0B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生成脚本、定位错误</a:t>
            </a:r>
          </a:p>
        </p:txBody>
      </p:sp>
      <p:sp>
        <p:nvSpPr>
          <p:cNvPr id="12" name="action-label-4">
            <a:extLst>
              <a:ext uri="{FF2B5EF4-FFF2-40B4-BE49-F238E27FC236}">
                <a16:creationId xmlns:a16="http://schemas.microsoft.com/office/drawing/2014/main" id="{97841C9B-6FA0-4160-9574-71CA5F725E43}"/>
              </a:ext>
            </a:extLst>
          </p:cNvPr>
          <p:cNvSpPr>
            <a:spLocks noGrp="1"/>
          </p:cNvSpPr>
          <p:nvPr/>
        </p:nvSpPr>
        <p:spPr>
          <a:xfrm>
            <a:off x="6286500" y="13906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实验迭代</a:t>
            </a:r>
          </a:p>
        </p:txBody>
      </p:sp>
      <p:sp>
        <p:nvSpPr>
          <p:cNvPr id="13" name="action-help-4">
            <a:extLst>
              <a:ext uri="{FF2B5EF4-FFF2-40B4-BE49-F238E27FC236}">
                <a16:creationId xmlns:a16="http://schemas.microsoft.com/office/drawing/2014/main" id="{305F4E6E-E5C5-4CBA-9206-156556FC7C1E}"/>
              </a:ext>
            </a:extLst>
          </p:cNvPr>
          <p:cNvSpPr>
            <a:spLocks noGrp="1"/>
          </p:cNvSpPr>
          <p:nvPr/>
        </p:nvSpPr>
        <p:spPr>
          <a:xfrm>
            <a:off x="6286500" y="18192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生成配置、汇总运行结果</a:t>
            </a:r>
          </a:p>
        </p:txBody>
      </p:sp>
      <p:sp>
        <p:nvSpPr>
          <p:cNvPr id="14" name="action-label-5">
            <a:extLst>
              <a:ext uri="{FF2B5EF4-FFF2-40B4-BE49-F238E27FC236}">
                <a16:creationId xmlns:a16="http://schemas.microsoft.com/office/drawing/2014/main" id="{18D3749D-727E-468B-8762-B9653609D349}"/>
              </a:ext>
            </a:extLst>
          </p:cNvPr>
          <p:cNvSpPr>
            <a:spLocks noGrp="1"/>
          </p:cNvSpPr>
          <p:nvPr/>
        </p:nvSpPr>
        <p:spPr>
          <a:xfrm>
            <a:off x="6286500" y="24193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结果分析</a:t>
            </a:r>
          </a:p>
        </p:txBody>
      </p:sp>
      <p:sp>
        <p:nvSpPr>
          <p:cNvPr id="15" name="action-help-5">
            <a:extLst>
              <a:ext uri="{FF2B5EF4-FFF2-40B4-BE49-F238E27FC236}">
                <a16:creationId xmlns:a16="http://schemas.microsoft.com/office/drawing/2014/main" id="{584B60AE-9124-4C62-A042-A38EF153E3E8}"/>
              </a:ext>
            </a:extLst>
          </p:cNvPr>
          <p:cNvSpPr>
            <a:spLocks noGrp="1"/>
          </p:cNvSpPr>
          <p:nvPr/>
        </p:nvSpPr>
        <p:spPr>
          <a:xfrm>
            <a:off x="6286500" y="28479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整理表格、发现异常</a:t>
            </a:r>
          </a:p>
        </p:txBody>
      </p:sp>
      <p:sp>
        <p:nvSpPr>
          <p:cNvPr id="16" name="action-label-6">
            <a:extLst>
              <a:ext uri="{FF2B5EF4-FFF2-40B4-BE49-F238E27FC236}">
                <a16:creationId xmlns:a16="http://schemas.microsoft.com/office/drawing/2014/main" id="{A30C6D62-74AE-401C-A912-5667472356C1}"/>
              </a:ext>
            </a:extLst>
          </p:cNvPr>
          <p:cNvSpPr>
            <a:spLocks noGrp="1"/>
          </p:cNvSpPr>
          <p:nvPr/>
        </p:nvSpPr>
        <p:spPr>
          <a:xfrm>
            <a:off x="6286500" y="34480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论文写作</a:t>
            </a:r>
          </a:p>
        </p:txBody>
      </p:sp>
      <p:sp>
        <p:nvSpPr>
          <p:cNvPr id="17" name="action-help-6">
            <a:extLst>
              <a:ext uri="{FF2B5EF4-FFF2-40B4-BE49-F238E27FC236}">
                <a16:creationId xmlns:a16="http://schemas.microsoft.com/office/drawing/2014/main" id="{3A64FBC4-2557-41B0-B89C-F53D9C8B74C1}"/>
              </a:ext>
            </a:extLst>
          </p:cNvPr>
          <p:cNvSpPr>
            <a:spLocks noGrp="1"/>
          </p:cNvSpPr>
          <p:nvPr/>
        </p:nvSpPr>
        <p:spPr>
          <a:xfrm>
            <a:off x="6286500" y="38766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组织结构、检查一致性</a:t>
            </a:r>
          </a:p>
        </p:txBody>
      </p:sp>
      <p:sp>
        <p:nvSpPr>
          <p:cNvPr id="18" name="action-label-7">
            <a:extLst>
              <a:ext uri="{FF2B5EF4-FFF2-40B4-BE49-F238E27FC236}">
                <a16:creationId xmlns:a16="http://schemas.microsoft.com/office/drawing/2014/main" id="{3D90078C-E105-4F9C-B876-F99B3D9C0484}"/>
              </a:ext>
            </a:extLst>
          </p:cNvPr>
          <p:cNvSpPr>
            <a:spLocks noGrp="1"/>
          </p:cNvSpPr>
          <p:nvPr/>
        </p:nvSpPr>
        <p:spPr>
          <a:xfrm>
            <a:off x="6286500" y="44767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审稿模拟</a:t>
            </a:r>
          </a:p>
        </p:txBody>
      </p:sp>
      <p:sp>
        <p:nvSpPr>
          <p:cNvPr id="19" name="action-help-7">
            <a:extLst>
              <a:ext uri="{FF2B5EF4-FFF2-40B4-BE49-F238E27FC236}">
                <a16:creationId xmlns:a16="http://schemas.microsoft.com/office/drawing/2014/main" id="{6EEF86E0-559D-41B2-A3A2-5900BA8CD662}"/>
              </a:ext>
            </a:extLst>
          </p:cNvPr>
          <p:cNvSpPr>
            <a:spLocks noGrp="1"/>
          </p:cNvSpPr>
          <p:nvPr/>
        </p:nvSpPr>
        <p:spPr>
          <a:xfrm>
            <a:off x="6286500" y="4905375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依据评价标准提出检查意见</a:t>
            </a:r>
          </a:p>
        </p:txBody>
      </p:sp>
      <p:sp>
        <p:nvSpPr>
          <p:cNvPr id="20" name="transition">
            <a:extLst>
              <a:ext uri="{FF2B5EF4-FFF2-40B4-BE49-F238E27FC236}">
                <a16:creationId xmlns:a16="http://schemas.microsoft.com/office/drawing/2014/main" id="{DFECEB68-A7B1-456A-A257-3801F22FE62B}"/>
              </a:ext>
            </a:extLst>
          </p:cNvPr>
          <p:cNvSpPr>
            <a:spLocks noGrp="1"/>
          </p:cNvSpPr>
          <p:nvPr/>
        </p:nvSpPr>
        <p:spPr>
          <a:xfrm>
            <a:off x="609600" y="589597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今天先看一个论文阅读中的问题。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-title">
            <a:extLst>
              <a:ext uri="{FF2B5EF4-FFF2-40B4-BE49-F238E27FC236}">
                <a16:creationId xmlns:a16="http://schemas.microsoft.com/office/drawing/2014/main" id="{69DCCD35-2EE4-4EBE-846F-7DE76BCBE064}"/>
              </a:ext>
            </a:extLst>
          </p:cNvPr>
          <p:cNvSpPr>
            <a:spLocks noGrp="1"/>
          </p:cNvSpPr>
          <p:nvPr/>
        </p:nvSpPr>
        <p:spPr>
          <a:xfrm>
            <a:off x="1028700" y="857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结构化阅读卡与限定条件遗漏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0832E343-5999-4139-A508-F056841306B2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lnSpc>
                <a:spcPct val="115000"/>
              </a:lnSpc>
              <a:buNone/>
              <a:defRPr sz="12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definition">
            <a:extLst>
              <a:ext uri="{FF2B5EF4-FFF2-40B4-BE49-F238E27FC236}">
                <a16:creationId xmlns:a16="http://schemas.microsoft.com/office/drawing/2014/main" id="{E0AEA3EF-CD51-4926-A378-99F5471B33A7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阅读卡：按固定字段记录论文内容，并保留原文位置。</a:t>
            </a:r>
          </a:p>
        </p:txBody>
      </p:sp>
      <p:sp>
        <p:nvSpPr>
          <p:cNvPr id="11" name="source-label">
            <a:extLst>
              <a:ext uri="{FF2B5EF4-FFF2-40B4-BE49-F238E27FC236}">
                <a16:creationId xmlns:a16="http://schemas.microsoft.com/office/drawing/2014/main" id="{EE05A330-B938-40F3-B95C-2AF7ED729B82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课堂构造片段 A</a:t>
            </a:r>
          </a:p>
        </p:txBody>
      </p:sp>
      <p:sp>
        <p:nvSpPr>
          <p:cNvPr id="12" name="source-text">
            <a:extLst>
              <a:ext uri="{FF2B5EF4-FFF2-40B4-BE49-F238E27FC236}">
                <a16:creationId xmlns:a16="http://schemas.microsoft.com/office/drawing/2014/main" id="{C41A0A50-239B-4164-9ACD-FB5A87CFD30B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“在小样本条件下，方法 A 优于 B。”</a:t>
            </a:r>
          </a:p>
        </p:txBody>
      </p:sp>
      <p:sp>
        <p:nvSpPr>
          <p:cNvPr id="13" name="summary-label">
            <a:extLst>
              <a:ext uri="{FF2B5EF4-FFF2-40B4-BE49-F238E27FC236}">
                <a16:creationId xmlns:a16="http://schemas.microsoft.com/office/drawing/2014/main" id="{48E804CB-0116-4C0E-B073-F448E61AAE1A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一条遗漏条件的摘要</a:t>
            </a:r>
          </a:p>
        </p:txBody>
      </p:sp>
      <p:sp>
        <p:nvSpPr>
          <p:cNvPr id="14" name="summary">
            <a:extLst>
              <a:ext uri="{FF2B5EF4-FFF2-40B4-BE49-F238E27FC236}">
                <a16:creationId xmlns:a16="http://schemas.microsoft.com/office/drawing/2014/main" id="{61AD329A-CE19-42C2-8F9E-772C2DC3865A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50482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7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“方法 A 优于 B。”</a:t>
            </a:r>
          </a:p>
        </p:txBody>
      </p:sp>
      <p:sp>
        <p:nvSpPr>
          <p:cNvPr id="15" name="card-label">
            <a:extLst>
              <a:ext uri="{FF2B5EF4-FFF2-40B4-BE49-F238E27FC236}">
                <a16:creationId xmlns:a16="http://schemas.microsoft.com/office/drawing/2014/main" id="{35D8152B-0EBE-4932-B613-23C1A4C855E5}"/>
              </a:ext>
            </a:extLst>
          </p:cNvPr>
          <p:cNvSpPr>
            <a:spLocks noGrp="1"/>
          </p:cNvSpPr>
          <p:nvPr/>
        </p:nvSpPr>
        <p:spPr>
          <a:xfrm>
            <a:off x="6286500" y="2952750"/>
            <a:ext cx="5143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阅读卡摘录</a:t>
            </a:r>
          </a:p>
        </p:txBody>
      </p:sp>
      <p:sp>
        <p:nvSpPr>
          <p:cNvPr id="16" name="field-0">
            <a:extLst>
              <a:ext uri="{FF2B5EF4-FFF2-40B4-BE49-F238E27FC236}">
                <a16:creationId xmlns:a16="http://schemas.microsoft.com/office/drawing/2014/main" id="{2B608D15-6B77-4295-BB23-42322574E9C4}"/>
              </a:ext>
            </a:extLst>
          </p:cNvPr>
          <p:cNvSpPr>
            <a:spLocks noGrp="1"/>
          </p:cNvSpPr>
          <p:nvPr/>
        </p:nvSpPr>
        <p:spPr>
          <a:xfrm>
            <a:off x="6286500" y="3562350"/>
            <a:ext cx="1409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主要结果</a:t>
            </a:r>
          </a:p>
        </p:txBody>
      </p:sp>
      <p:sp>
        <p:nvSpPr>
          <p:cNvPr id="17" name="value-0">
            <a:extLst>
              <a:ext uri="{FF2B5EF4-FFF2-40B4-BE49-F238E27FC236}">
                <a16:creationId xmlns:a16="http://schemas.microsoft.com/office/drawing/2014/main" id="{4F1B9E0E-7F5F-46B2-97B6-F7B601903E28}"/>
              </a:ext>
            </a:extLst>
          </p:cNvPr>
          <p:cNvSpPr>
            <a:spLocks noGrp="1"/>
          </p:cNvSpPr>
          <p:nvPr/>
        </p:nvSpPr>
        <p:spPr>
          <a:xfrm>
            <a:off x="7839075" y="356235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方法 A 优于 B</a:t>
            </a:r>
          </a:p>
        </p:txBody>
      </p:sp>
      <p:sp>
        <p:nvSpPr>
          <p:cNvPr id="18" name="field-1">
            <a:extLst>
              <a:ext uri="{FF2B5EF4-FFF2-40B4-BE49-F238E27FC236}">
                <a16:creationId xmlns:a16="http://schemas.microsoft.com/office/drawing/2014/main" id="{15CD7D0C-574F-4AEA-954A-B1F93294988E}"/>
              </a:ext>
            </a:extLst>
          </p:cNvPr>
          <p:cNvSpPr>
            <a:spLocks noGrp="1"/>
          </p:cNvSpPr>
          <p:nvPr/>
        </p:nvSpPr>
        <p:spPr>
          <a:xfrm>
            <a:off x="6286500" y="4067175"/>
            <a:ext cx="1409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成立条件</a:t>
            </a:r>
          </a:p>
        </p:txBody>
      </p:sp>
      <p:sp>
        <p:nvSpPr>
          <p:cNvPr id="19" name="value-1">
            <a:extLst>
              <a:ext uri="{FF2B5EF4-FFF2-40B4-BE49-F238E27FC236}">
                <a16:creationId xmlns:a16="http://schemas.microsoft.com/office/drawing/2014/main" id="{0173B7AF-42E8-444B-8AAD-151267277D57}"/>
              </a:ext>
            </a:extLst>
          </p:cNvPr>
          <p:cNvSpPr>
            <a:spLocks noGrp="1"/>
          </p:cNvSpPr>
          <p:nvPr/>
        </p:nvSpPr>
        <p:spPr>
          <a:xfrm>
            <a:off x="7839075" y="4067175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小样本条件下</a:t>
            </a:r>
          </a:p>
        </p:txBody>
      </p:sp>
      <p:sp>
        <p:nvSpPr>
          <p:cNvPr id="20" name="field-2">
            <a:extLst>
              <a:ext uri="{FF2B5EF4-FFF2-40B4-BE49-F238E27FC236}">
                <a16:creationId xmlns:a16="http://schemas.microsoft.com/office/drawing/2014/main" id="{14A3252A-FD03-4D2F-BBC0-475A4168DD6B}"/>
              </a:ext>
            </a:extLst>
          </p:cNvPr>
          <p:cNvSpPr>
            <a:spLocks noGrp="1"/>
          </p:cNvSpPr>
          <p:nvPr/>
        </p:nvSpPr>
        <p:spPr>
          <a:xfrm>
            <a:off x="6286500" y="4572000"/>
            <a:ext cx="1409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原文位置</a:t>
            </a:r>
          </a:p>
        </p:txBody>
      </p:sp>
      <p:sp>
        <p:nvSpPr>
          <p:cNvPr id="21" name="value-2">
            <a:extLst>
              <a:ext uri="{FF2B5EF4-FFF2-40B4-BE49-F238E27FC236}">
                <a16:creationId xmlns:a16="http://schemas.microsoft.com/office/drawing/2014/main" id="{48911242-3803-4FEA-B57B-855B40EA9AC1}"/>
              </a:ext>
            </a:extLst>
          </p:cNvPr>
          <p:cNvSpPr>
            <a:spLocks noGrp="1"/>
          </p:cNvSpPr>
          <p:nvPr/>
        </p:nvSpPr>
        <p:spPr>
          <a:xfrm>
            <a:off x="7839075" y="457200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构造片段 A</a:t>
            </a:r>
          </a:p>
        </p:txBody>
      </p:sp>
      <p:sp>
        <p:nvSpPr>
          <p:cNvPr id="22" name="omission">
            <a:extLst>
              <a:ext uri="{FF2B5EF4-FFF2-40B4-BE49-F238E27FC236}">
                <a16:creationId xmlns:a16="http://schemas.microsoft.com/office/drawing/2014/main" id="{581A6200-BE4B-4C3E-83E5-50BB6E2299FD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这里遗漏的是结论成立的条件。</a:t>
            </a:r>
          </a:p>
        </p:txBody>
      </p:sp>
      <p:sp>
        <p:nvSpPr>
          <p:cNvPr id="23" name="next-question">
            <a:extLst>
              <a:ext uri="{FF2B5EF4-FFF2-40B4-BE49-F238E27FC236}">
                <a16:creationId xmlns:a16="http://schemas.microsoft.com/office/drawing/2014/main" id="{A37FE615-33AB-4441-8E06-89488200BCCC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按字段提取是否更少遗漏？需要比较验证。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" name="judgment-title">
            <a:extLst>
              <a:ext uri="{FF2B5EF4-FFF2-40B4-BE49-F238E27FC236}">
                <a16:creationId xmlns:a16="http://schemas.microsoft.com/office/drawing/2014/main" id="{7797FDF8-E145-40B5-BA72-CBD246F5FEAD}"/>
              </a:ext>
            </a:extLst>
          </p:cNvPr>
          <p:cNvSpPr>
            <a:spLocks noGrp="1"/>
          </p:cNvSpPr>
          <p:nvPr/>
        </p:nvSpPr>
        <p:spPr>
          <a:xfrm>
            <a:off x="1028700" y="76200"/>
            <a:ext cx="106870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两项问题收敛建议</a:t>
            </a:r>
          </a:p>
        </p:txBody>
      </p:sp>
      <p:sp>
        <p:nvSpPr>
          <p:cNvPr id="2" name="judgment-body-0">
            <a:extLst>
              <a:ext uri="{FF2B5EF4-FFF2-40B4-BE49-F238E27FC236}">
                <a16:creationId xmlns:a16="http://schemas.microsoft.com/office/drawing/2014/main" id="{6D638B06-B84C-4B89-BDC1-EB12938079CD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资源：3 段文本与保存输出；Python；无新模型额度</a:t>
            </a:r>
          </a:p>
        </p:txBody>
      </p:sp>
      <p:sp>
        <p:nvSpPr>
          <p:cNvPr id="3" name="judgment-body-1">
            <a:extLst>
              <a:ext uri="{FF2B5EF4-FFF2-40B4-BE49-F238E27FC236}">
                <a16:creationId xmlns:a16="http://schemas.microsoft.com/office/drawing/2014/main" id="{6B87272F-E9F8-4F05-BB8F-4DF3A58FE246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08585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A｜比较保存输出的限定条件遗漏</a:t>
            </a:r>
          </a:p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B｜检查坏记录是否进入评价队列</a:t>
            </a:r>
          </a:p>
        </p:txBody>
      </p:sp>
      <p:sp>
        <p:nvSpPr>
          <p:cNvPr id="4" name="judgment-body-2">
            <a:extLst>
              <a:ext uri="{FF2B5EF4-FFF2-40B4-BE49-F238E27FC236}">
                <a16:creationId xmlns:a16="http://schemas.microsoft.com/office/drawing/2014/main" id="{5C40423C-3AF3-4668-96AE-C28490E51915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10858500" cy="1409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选择或修订一项：改变了什么？牺牲了什么？还缺什么证据？</a:t>
            </a:r>
          </a:p>
        </p:txBody>
      </p:sp>
      <p:sp>
        <p:nvSpPr>
          <p:cNvPr id="5" name="judgment-source">
            <a:extLst>
              <a:ext uri="{FF2B5EF4-FFF2-40B4-BE49-F238E27FC236}">
                <a16:creationId xmlns:a16="http://schemas.microsoft.com/office/drawing/2014/main" id="{AA645142-DC5D-4446-A487-CE94A97A07CA}"/>
              </a:ext>
            </a:extLst>
          </p:cNvPr>
          <p:cNvSpPr>
            <a:spLocks noGrp="1"/>
          </p:cNvSpPr>
          <p:nvPr/>
        </p:nvSpPr>
        <p:spPr>
          <a:xfrm>
            <a:off x="666750" y="6276975"/>
            <a:ext cx="10572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>
              <a:ext uri="{FF2B5EF4-FFF2-40B4-BE49-F238E27FC236}">
                <a16:creationId xmlns:a16="http://schemas.microsoft.com/office/drawing/2014/main" id="{5543646F-762A-4542-907F-867B2C565127}"/>
              </a:ext>
            </a:extLst>
          </p:cNvPr>
          <p:cNvSpPr>
            <a:spLocks noGrp="1"/>
          </p:cNvSpPr>
          <p:nvPr/>
        </p:nvSpPr>
        <p:spPr>
          <a:xfrm>
            <a:off x="11715750" y="6562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A5FC8-1C33-4E88-81A6-760F4FEFD776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完整论文出现了，研究质量如何？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50056-CD19-46FC-9B0B-42BEC17D9034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paper-name">
            <a:extLst>
              <a:ext uri="{FF2B5EF4-FFF2-40B4-BE49-F238E27FC236}">
                <a16:creationId xmlns:a16="http://schemas.microsoft.com/office/drawing/2014/main" id="{C6C4AB97-41D8-4301-9BBC-DEC1943F7170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600075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The AI Scientist</a:t>
            </a:r>
          </a:p>
        </p:txBody>
      </p:sp>
      <p:sp>
        <p:nvSpPr>
          <p:cNvPr id="5" name="paper-identity">
            <a:extLst>
              <a:ext uri="{FF2B5EF4-FFF2-40B4-BE49-F238E27FC236}">
                <a16:creationId xmlns:a16="http://schemas.microsoft.com/office/drawing/2014/main" id="{307B63C6-6B6F-409E-A3EE-C99418CFD73B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6238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Lu et al. · Nature 651 (2026) · Figure 1a</a:t>
            </a:r>
          </a:p>
        </p:txBody>
      </p:sp>
      <p:sp>
        <p:nvSpPr>
          <p:cNvPr id="6" name="evidence-rule">
            <a:extLst>
              <a:ext uri="{FF2B5EF4-FFF2-40B4-BE49-F238E27FC236}">
                <a16:creationId xmlns:a16="http://schemas.microsoft.com/office/drawing/2014/main" id="{4C754E4C-F2B0-44B0-801F-A437FA44EF5F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10972800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2154" y="2114550"/>
            <a:ext cx="4126043" cy="3495675"/>
          </a:xfrm>
          <a:prstGeom prst="rect">
            <a:avLst/>
          </a:prstGeom>
        </p:spPr>
      </p:pic>
      <p:sp>
        <p:nvSpPr>
          <p:cNvPr id="8" name="figure-reading">
            <a:extLst>
              <a:ext uri="{FF2B5EF4-FFF2-40B4-BE49-F238E27FC236}">
                <a16:creationId xmlns:a16="http://schemas.microsoft.com/office/drawing/2014/main" id="{6B6C9C32-8A0F-4867-AF75-B07DDAC0263C}"/>
              </a:ext>
            </a:extLst>
          </p:cNvPr>
          <p:cNvSpPr>
            <a:spLocks noGrp="1"/>
          </p:cNvSpPr>
          <p:nvPr/>
        </p:nvSpPr>
        <p:spPr>
          <a:xfrm>
            <a:off x="752475" y="5695950"/>
            <a:ext cx="5715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构思   /   实验   /   成文与评审</a:t>
            </a:r>
          </a:p>
        </p:txBody>
      </p:sp>
      <p:sp>
        <p:nvSpPr>
          <p:cNvPr id="9" name="metric-0">
            <a:extLst>
              <a:ext uri="{FF2B5EF4-FFF2-40B4-BE49-F238E27FC236}">
                <a16:creationId xmlns:a16="http://schemas.microsoft.com/office/drawing/2014/main" id="{A568C01F-E3FB-45AB-9102-13D3464B78EE}"/>
              </a:ext>
            </a:extLst>
          </p:cNvPr>
          <p:cNvSpPr>
            <a:spLocks noGrp="1"/>
          </p:cNvSpPr>
          <p:nvPr/>
        </p:nvSpPr>
        <p:spPr>
          <a:xfrm>
            <a:off x="6934200" y="2133600"/>
            <a:ext cx="176212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2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1/3</a:t>
            </a:r>
          </a:p>
        </p:txBody>
      </p:sp>
      <p:sp>
        <p:nvSpPr>
          <p:cNvPr id="10" name="metric-label-0">
            <a:extLst>
              <a:ext uri="{FF2B5EF4-FFF2-40B4-BE49-F238E27FC236}">
                <a16:creationId xmlns:a16="http://schemas.microsoft.com/office/drawing/2014/main" id="{8D8D0D39-0775-4CA2-8FCC-E4C0607C362C}"/>
              </a:ext>
            </a:extLst>
          </p:cNvPr>
          <p:cNvSpPr>
            <a:spLocks noGrp="1"/>
          </p:cNvSpPr>
          <p:nvPr/>
        </p:nvSpPr>
        <p:spPr>
          <a:xfrm>
            <a:off x="8886825" y="2143125"/>
            <a:ext cx="2714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超过 workshop</a:t>
            </a:r>
          </a:p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平均接收阈值</a:t>
            </a:r>
          </a:p>
        </p:txBody>
      </p:sp>
      <p:sp>
        <p:nvSpPr>
          <p:cNvPr id="11" name="metric-separator-0">
            <a:extLst>
              <a:ext uri="{FF2B5EF4-FFF2-40B4-BE49-F238E27FC236}">
                <a16:creationId xmlns:a16="http://schemas.microsoft.com/office/drawing/2014/main" id="{42061E86-53BC-482F-BD09-D1931BA04AB1}"/>
              </a:ext>
            </a:extLst>
          </p:cNvPr>
          <p:cNvSpPr>
            <a:spLocks noGrp="1"/>
          </p:cNvSpPr>
          <p:nvPr/>
        </p:nvSpPr>
        <p:spPr>
          <a:xfrm>
            <a:off x="6934200" y="2952750"/>
            <a:ext cx="462915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2" name="metric-1">
            <a:extLst>
              <a:ext uri="{FF2B5EF4-FFF2-40B4-BE49-F238E27FC236}">
                <a16:creationId xmlns:a16="http://schemas.microsoft.com/office/drawing/2014/main" id="{0ABDA48B-0035-4B85-83E5-475E67E3FB38}"/>
              </a:ext>
            </a:extLst>
          </p:cNvPr>
          <p:cNvSpPr>
            <a:spLocks noGrp="1"/>
          </p:cNvSpPr>
          <p:nvPr/>
        </p:nvSpPr>
        <p:spPr>
          <a:xfrm>
            <a:off x="6934200" y="3105150"/>
            <a:ext cx="176212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2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6.33</a:t>
            </a:r>
          </a:p>
        </p:txBody>
      </p:sp>
      <p:sp>
        <p:nvSpPr>
          <p:cNvPr id="13" name="metric-label-1">
            <a:extLst>
              <a:ext uri="{FF2B5EF4-FFF2-40B4-BE49-F238E27FC236}">
                <a16:creationId xmlns:a16="http://schemas.microsoft.com/office/drawing/2014/main" id="{FDEB5DA3-C3FF-4261-900E-49C527AAB076}"/>
              </a:ext>
            </a:extLst>
          </p:cNvPr>
          <p:cNvSpPr>
            <a:spLocks noGrp="1"/>
          </p:cNvSpPr>
          <p:nvPr/>
        </p:nvSpPr>
        <p:spPr>
          <a:xfrm>
            <a:off x="8886825" y="3114675"/>
            <a:ext cx="2714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其中一篇的评审均分</a:t>
            </a:r>
          </a:p>
        </p:txBody>
      </p:sp>
      <p:sp>
        <p:nvSpPr>
          <p:cNvPr id="14" name="metric-separator-1">
            <a:extLst>
              <a:ext uri="{FF2B5EF4-FFF2-40B4-BE49-F238E27FC236}">
                <a16:creationId xmlns:a16="http://schemas.microsoft.com/office/drawing/2014/main" id="{37ACB116-32EF-4DD4-84F7-28C6EF38A74E}"/>
              </a:ext>
            </a:extLst>
          </p:cNvPr>
          <p:cNvSpPr>
            <a:spLocks noGrp="1"/>
          </p:cNvSpPr>
          <p:nvPr/>
        </p:nvSpPr>
        <p:spPr>
          <a:xfrm>
            <a:off x="6934200" y="3924300"/>
            <a:ext cx="462915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5" name="metric-2">
            <a:extLst>
              <a:ext uri="{FF2B5EF4-FFF2-40B4-BE49-F238E27FC236}">
                <a16:creationId xmlns:a16="http://schemas.microsoft.com/office/drawing/2014/main" id="{BF8C73D9-CFED-4298-88C9-15E50F7ACAF9}"/>
              </a:ext>
            </a:extLst>
          </p:cNvPr>
          <p:cNvSpPr>
            <a:spLocks noGrp="1"/>
          </p:cNvSpPr>
          <p:nvPr/>
        </p:nvSpPr>
        <p:spPr>
          <a:xfrm>
            <a:off x="6934200" y="4076700"/>
            <a:ext cx="176212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200" b="1">
                <a:solidFill>
                  <a:srgbClr val="C8161E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0/3</a:t>
            </a:r>
          </a:p>
        </p:txBody>
      </p:sp>
      <p:sp>
        <p:nvSpPr>
          <p:cNvPr id="16" name="metric-label-2">
            <a:extLst>
              <a:ext uri="{FF2B5EF4-FFF2-40B4-BE49-F238E27FC236}">
                <a16:creationId xmlns:a16="http://schemas.microsoft.com/office/drawing/2014/main" id="{E2EC6A94-E972-4583-AA07-22DF5A75904E}"/>
              </a:ext>
            </a:extLst>
          </p:cNvPr>
          <p:cNvSpPr>
            <a:spLocks noGrp="1"/>
          </p:cNvSpPr>
          <p:nvPr/>
        </p:nvSpPr>
        <p:spPr>
          <a:xfrm>
            <a:off x="8886825" y="4086225"/>
            <a:ext cx="271462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团队内部复核：</a:t>
            </a:r>
          </a:p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达到主会标准的投稿</a:t>
            </a:r>
          </a:p>
        </p:txBody>
      </p:sp>
      <p:sp>
        <p:nvSpPr>
          <p:cNvPr id="17" name="sampling-context">
            <a:extLst>
              <a:ext uri="{FF2B5EF4-FFF2-40B4-BE49-F238E27FC236}">
                <a16:creationId xmlns:a16="http://schemas.microsoft.com/office/drawing/2014/main" id="{A407AF4D-157F-415C-BD16-1674287F6463}"/>
              </a:ext>
            </a:extLst>
          </p:cNvPr>
          <p:cNvSpPr>
            <a:spLocks noGrp="1"/>
          </p:cNvSpPr>
          <p:nvPr/>
        </p:nvSpPr>
        <p:spPr>
          <a:xfrm>
            <a:off x="6934200" y="5133975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研究团队人工筛选三篇投稿</a:t>
            </a:r>
          </a:p>
        </p:txBody>
      </p:sp>
      <p:sp>
        <p:nvSpPr>
          <p:cNvPr id="18" name="withdrawal-context">
            <a:extLst>
              <a:ext uri="{FF2B5EF4-FFF2-40B4-BE49-F238E27FC236}">
                <a16:creationId xmlns:a16="http://schemas.microsoft.com/office/drawing/2014/main" id="{96F3F8ED-4883-4392-A494-E01026E63A3D}"/>
              </a:ext>
            </a:extLst>
          </p:cNvPr>
          <p:cNvSpPr>
            <a:spLocks noGrp="1"/>
          </p:cNvSpPr>
          <p:nvPr/>
        </p:nvSpPr>
        <p:spPr>
          <a:xfrm>
            <a:off x="6934200" y="5505450"/>
            <a:ext cx="4667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评审后按预设协议撤回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1AF42A-0DE3-41C4-97E6-F5EE5C1BC902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科研的治理与生态争论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2DBA0-CB42-40E6-8B7F-E8493958B0CB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body-28">
            <a:extLst>
              <a:ext uri="{FF2B5EF4-FFF2-40B4-BE49-F238E27FC236}">
                <a16:creationId xmlns:a16="http://schemas.microsoft.com/office/drawing/2014/main" id="{A04A98B8-DC2D-464F-AD9D-72517FA73C2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239077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治理</a:t>
            </a:r>
          </a:p>
        </p:txBody>
      </p:sp>
      <p:sp>
        <p:nvSpPr>
          <p:cNvPr id="5" name="body-29">
            <a:extLst>
              <a:ext uri="{FF2B5EF4-FFF2-40B4-BE49-F238E27FC236}">
                <a16:creationId xmlns:a16="http://schemas.microsoft.com/office/drawing/2014/main" id="{D9A098D4-74C6-4A9A-B387-0377EFB8C1BE}"/>
              </a:ext>
            </a:extLst>
          </p:cNvPr>
          <p:cNvSpPr>
            <a:spLocks noGrp="1"/>
          </p:cNvSpPr>
          <p:nvPr/>
        </p:nvSpPr>
        <p:spPr>
          <a:xfrm>
            <a:off x="3333750" y="1190625"/>
            <a:ext cx="8248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Nature 社论 · 2026.03.25</a:t>
            </a:r>
          </a:p>
        </p:txBody>
      </p:sp>
      <p:sp>
        <p:nvSpPr>
          <p:cNvPr id="6" name="body-30">
            <a:extLst>
              <a:ext uri="{FF2B5EF4-FFF2-40B4-BE49-F238E27FC236}">
                <a16:creationId xmlns:a16="http://schemas.microsoft.com/office/drawing/2014/main" id="{BAB4E07B-CA52-4B2D-922C-74C6E00224D0}"/>
              </a:ext>
            </a:extLst>
          </p:cNvPr>
          <p:cNvSpPr>
            <a:spLocks noGrp="1"/>
          </p:cNvSpPr>
          <p:nvPr/>
        </p:nvSpPr>
        <p:spPr>
          <a:xfrm>
            <a:off x="3333750" y="1628775"/>
            <a:ext cx="82581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机构、资助方与出版方需要</a:t>
            </a:r>
          </a:p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回应科研自动化带来的治理问题。</a:t>
            </a:r>
          </a:p>
        </p:txBody>
      </p:sp>
      <p:sp>
        <p:nvSpPr>
          <p:cNvPr id="7" name="rule-31">
            <a:extLst>
              <a:ext uri="{FF2B5EF4-FFF2-40B4-BE49-F238E27FC236}">
                <a16:creationId xmlns:a16="http://schemas.microsoft.com/office/drawing/2014/main" id="{E0A727E5-9DA5-4841-96A7-2BABE0AF2E2F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8" name="body-32">
            <a:extLst>
              <a:ext uri="{FF2B5EF4-FFF2-40B4-BE49-F238E27FC236}">
                <a16:creationId xmlns:a16="http://schemas.microsoft.com/office/drawing/2014/main" id="{C7E5A001-3D49-4E44-8AD4-C0112F81DD0E}"/>
              </a:ext>
            </a:extLst>
          </p:cNvPr>
          <p:cNvSpPr>
            <a:spLocks noGrp="1"/>
          </p:cNvSpPr>
          <p:nvPr/>
        </p:nvSpPr>
        <p:spPr>
          <a:xfrm>
            <a:off x="609600" y="2657475"/>
            <a:ext cx="239077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人的作用</a:t>
            </a:r>
          </a:p>
        </p:txBody>
      </p:sp>
      <p:sp>
        <p:nvSpPr>
          <p:cNvPr id="9" name="body-33">
            <a:extLst>
              <a:ext uri="{FF2B5EF4-FFF2-40B4-BE49-F238E27FC236}">
                <a16:creationId xmlns:a16="http://schemas.microsoft.com/office/drawing/2014/main" id="{F2FBAD29-5B6E-4567-AA50-08261476D7DD}"/>
              </a:ext>
            </a:extLst>
          </p:cNvPr>
          <p:cNvSpPr>
            <a:spLocks noGrp="1"/>
          </p:cNvSpPr>
          <p:nvPr/>
        </p:nvSpPr>
        <p:spPr>
          <a:xfrm>
            <a:off x="3333750" y="2657475"/>
            <a:ext cx="8248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Nature 社论 · 2026.05.19</a:t>
            </a:r>
          </a:p>
        </p:txBody>
      </p:sp>
      <p:sp>
        <p:nvSpPr>
          <p:cNvPr id="10" name="body-34">
            <a:extLst>
              <a:ext uri="{FF2B5EF4-FFF2-40B4-BE49-F238E27FC236}">
                <a16:creationId xmlns:a16="http://schemas.microsoft.com/office/drawing/2014/main" id="{07059818-221B-46FA-985D-E303BD1A5FB0}"/>
              </a:ext>
            </a:extLst>
          </p:cNvPr>
          <p:cNvSpPr>
            <a:spLocks noGrp="1"/>
          </p:cNvSpPr>
          <p:nvPr/>
        </p:nvSpPr>
        <p:spPr>
          <a:xfrm>
            <a:off x="3333750" y="3095625"/>
            <a:ext cx="82581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问题框定、实验、指导与检查</a:t>
            </a:r>
          </a:p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仍需要研究者参与。</a:t>
            </a:r>
          </a:p>
        </p:txBody>
      </p:sp>
      <p:sp>
        <p:nvSpPr>
          <p:cNvPr id="11" name="rule-35">
            <a:extLst>
              <a:ext uri="{FF2B5EF4-FFF2-40B4-BE49-F238E27FC236}">
                <a16:creationId xmlns:a16="http://schemas.microsoft.com/office/drawing/2014/main" id="{65AE6A7C-49E2-4B2D-A857-8AAF8FDB2728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2" name="body-36">
            <a:extLst>
              <a:ext uri="{FF2B5EF4-FFF2-40B4-BE49-F238E27FC236}">
                <a16:creationId xmlns:a16="http://schemas.microsoft.com/office/drawing/2014/main" id="{5BF1E4D4-6763-471A-B8AA-16308654A188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239077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研究生态</a:t>
            </a:r>
          </a:p>
        </p:txBody>
      </p:sp>
      <p:sp>
        <p:nvSpPr>
          <p:cNvPr id="13" name="body-37">
            <a:extLst>
              <a:ext uri="{FF2B5EF4-FFF2-40B4-BE49-F238E27FC236}">
                <a16:creationId xmlns:a16="http://schemas.microsoft.com/office/drawing/2014/main" id="{B98D492B-BE17-4A33-B0BE-D2289A482C4B}"/>
              </a:ext>
            </a:extLst>
          </p:cNvPr>
          <p:cNvSpPr>
            <a:spLocks noGrp="1"/>
          </p:cNvSpPr>
          <p:nvPr/>
        </p:nvSpPr>
        <p:spPr>
          <a:xfrm>
            <a:off x="3333750" y="4124325"/>
            <a:ext cx="82486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Nature 观点 · 2026.06.22</a:t>
            </a:r>
          </a:p>
        </p:txBody>
      </p:sp>
      <p:sp>
        <p:nvSpPr>
          <p:cNvPr id="14" name="body-38">
            <a:extLst>
              <a:ext uri="{FF2B5EF4-FFF2-40B4-BE49-F238E27FC236}">
                <a16:creationId xmlns:a16="http://schemas.microsoft.com/office/drawing/2014/main" id="{E4F2E99E-9626-4008-AF8F-6FE3AB9F7776}"/>
              </a:ext>
            </a:extLst>
          </p:cNvPr>
          <p:cNvSpPr>
            <a:spLocks noGrp="1"/>
          </p:cNvSpPr>
          <p:nvPr/>
        </p:nvSpPr>
        <p:spPr>
          <a:xfrm>
            <a:off x="3333750" y="4562475"/>
            <a:ext cx="825817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激励原创探索，还是只奖励速度？</a:t>
            </a:r>
          </a:p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研究方向趋同值得警惕。</a:t>
            </a:r>
          </a:p>
        </p:txBody>
      </p:sp>
      <p:sp>
        <p:nvSpPr>
          <p:cNvPr id="15" name="body-39">
            <a:extLst>
              <a:ext uri="{FF2B5EF4-FFF2-40B4-BE49-F238E27FC236}">
                <a16:creationId xmlns:a16="http://schemas.microsoft.com/office/drawing/2014/main" id="{37C083D3-D8D7-47C2-A7CC-5ACBA1F1A3EB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这些评论提出问题，实证研究提供检验。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F6F610-F5A2-40A9-9B23-24286590CA71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科研：个人影响与集体探索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473A40-D43D-44D4-BBBF-348948CCD7DA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2" name="hao-source">
            <a:extLst>
              <a:ext uri="{FF2B5EF4-FFF2-40B4-BE49-F238E27FC236}">
                <a16:creationId xmlns:a16="http://schemas.microsoft.com/office/drawing/2014/main" id="{5942D3EB-5345-4D91-B567-A1FEE37C175E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8108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Hao et al. · Nature 649 (2026) · Figure 3b</a:t>
            </a:r>
          </a:p>
        </p:txBody>
      </p:sp>
      <p:sp>
        <p:nvSpPr>
          <p:cNvPr id="13" name="hao-person">
            <a:extLst>
              <a:ext uri="{FF2B5EF4-FFF2-40B4-BE49-F238E27FC236}">
                <a16:creationId xmlns:a16="http://schemas.microsoft.com/office/drawing/2014/main" id="{B377379A-C40D-4915-B7B6-00CF90E7506D}"/>
              </a:ext>
            </a:extLst>
          </p:cNvPr>
          <p:cNvSpPr>
            <a:spLocks noGrp="1"/>
          </p:cNvSpPr>
          <p:nvPr/>
        </p:nvSpPr>
        <p:spPr>
          <a:xfrm>
            <a:off x="6324600" y="1590675"/>
            <a:ext cx="52197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个人产出与影响</a:t>
            </a:r>
          </a:p>
        </p:txBody>
      </p:sp>
      <p:sp>
        <p:nvSpPr>
          <p:cNvPr id="14" name="hao-papers-number">
            <a:extLst>
              <a:ext uri="{FF2B5EF4-FFF2-40B4-BE49-F238E27FC236}">
                <a16:creationId xmlns:a16="http://schemas.microsoft.com/office/drawing/2014/main" id="{D1BA9ABB-5061-4B73-9B01-2B46E57CBCEC}"/>
              </a:ext>
            </a:extLst>
          </p:cNvPr>
          <p:cNvSpPr>
            <a:spLocks noGrp="1"/>
          </p:cNvSpPr>
          <p:nvPr/>
        </p:nvSpPr>
        <p:spPr>
          <a:xfrm>
            <a:off x="6324600" y="2143125"/>
            <a:ext cx="22383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3.02 倍</a:t>
            </a:r>
          </a:p>
        </p:txBody>
      </p:sp>
      <p:sp>
        <p:nvSpPr>
          <p:cNvPr id="15" name="hao-cites-number">
            <a:extLst>
              <a:ext uri="{FF2B5EF4-FFF2-40B4-BE49-F238E27FC236}">
                <a16:creationId xmlns:a16="http://schemas.microsoft.com/office/drawing/2014/main" id="{A665733C-2261-457E-9F63-230081119976}"/>
              </a:ext>
            </a:extLst>
          </p:cNvPr>
          <p:cNvSpPr>
            <a:spLocks noGrp="1"/>
          </p:cNvSpPr>
          <p:nvPr/>
        </p:nvSpPr>
        <p:spPr>
          <a:xfrm>
            <a:off x="9115425" y="2143125"/>
            <a:ext cx="2428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3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4.84 倍</a:t>
            </a:r>
          </a:p>
        </p:txBody>
      </p:sp>
      <p:sp>
        <p:nvSpPr>
          <p:cNvPr id="16" name="hao-papers-label">
            <a:extLst>
              <a:ext uri="{FF2B5EF4-FFF2-40B4-BE49-F238E27FC236}">
                <a16:creationId xmlns:a16="http://schemas.microsoft.com/office/drawing/2014/main" id="{8275D904-0384-43FF-BB36-8A657B408584}"/>
              </a:ext>
            </a:extLst>
          </p:cNvPr>
          <p:cNvSpPr>
            <a:spLocks noGrp="1"/>
          </p:cNvSpPr>
          <p:nvPr/>
        </p:nvSpPr>
        <p:spPr>
          <a:xfrm>
            <a:off x="6324600" y="2838450"/>
            <a:ext cx="25050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研究者年均论文数</a:t>
            </a:r>
          </a:p>
        </p:txBody>
      </p:sp>
      <p:sp>
        <p:nvSpPr>
          <p:cNvPr id="17" name="hao-cites-label">
            <a:extLst>
              <a:ext uri="{FF2B5EF4-FFF2-40B4-BE49-F238E27FC236}">
                <a16:creationId xmlns:a16="http://schemas.microsoft.com/office/drawing/2014/main" id="{31F532CD-E43F-4D67-9092-9799B4D81D4E}"/>
              </a:ext>
            </a:extLst>
          </p:cNvPr>
          <p:cNvSpPr>
            <a:spLocks noGrp="1"/>
          </p:cNvSpPr>
          <p:nvPr/>
        </p:nvSpPr>
        <p:spPr>
          <a:xfrm>
            <a:off x="9115425" y="2838450"/>
            <a:ext cx="2438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19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研究者被引量</a:t>
            </a:r>
          </a:p>
        </p:txBody>
      </p:sp>
      <p:sp>
        <p:nvSpPr>
          <p:cNvPr id="18" name="hao-comparator">
            <a:extLst>
              <a:ext uri="{FF2B5EF4-FFF2-40B4-BE49-F238E27FC236}">
                <a16:creationId xmlns:a16="http://schemas.microsoft.com/office/drawing/2014/main" id="{1CB637DD-26FF-4794-8E82-2FB67EA94842}"/>
              </a:ext>
            </a:extLst>
          </p:cNvPr>
          <p:cNvSpPr>
            <a:spLocks noGrp="1"/>
          </p:cNvSpPr>
          <p:nvPr/>
        </p:nvSpPr>
        <p:spPr>
          <a:xfrm>
            <a:off x="6324600" y="3295650"/>
            <a:ext cx="52197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19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相对未采用 AI 的研究者</a:t>
            </a:r>
          </a:p>
        </p:txBody>
      </p:sp>
      <p:sp>
        <p:nvSpPr>
          <p:cNvPr id="19" name="hao-collective">
            <a:extLst>
              <a:ext uri="{FF2B5EF4-FFF2-40B4-BE49-F238E27FC236}">
                <a16:creationId xmlns:a16="http://schemas.microsoft.com/office/drawing/2014/main" id="{B24D8650-1D2B-4661-B4D6-A5CD58E5F541}"/>
              </a:ext>
            </a:extLst>
          </p:cNvPr>
          <p:cNvSpPr>
            <a:spLocks noGrp="1"/>
          </p:cNvSpPr>
          <p:nvPr/>
        </p:nvSpPr>
        <p:spPr>
          <a:xfrm>
            <a:off x="6324600" y="3876675"/>
            <a:ext cx="52197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集体探索范围</a:t>
            </a:r>
          </a:p>
        </p:txBody>
      </p:sp>
      <p:sp>
        <p:nvSpPr>
          <p:cNvPr id="20" name="hao-extent">
            <a:extLst>
              <a:ext uri="{FF2B5EF4-FFF2-40B4-BE49-F238E27FC236}">
                <a16:creationId xmlns:a16="http://schemas.microsoft.com/office/drawing/2014/main" id="{89527F27-CA3E-4A60-94CC-BBBD3CBAAE34}"/>
              </a:ext>
            </a:extLst>
          </p:cNvPr>
          <p:cNvSpPr>
            <a:spLocks noGrp="1"/>
          </p:cNvSpPr>
          <p:nvPr/>
        </p:nvSpPr>
        <p:spPr>
          <a:xfrm>
            <a:off x="6324600" y="4410075"/>
            <a:ext cx="52197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论文在该知识空间中更集中</a:t>
            </a:r>
          </a:p>
        </p:txBody>
      </p:sp>
      <p:sp>
        <p:nvSpPr>
          <p:cNvPr id="21" name="hao-legend">
            <a:extLst>
              <a:ext uri="{FF2B5EF4-FFF2-40B4-BE49-F238E27FC236}">
                <a16:creationId xmlns:a16="http://schemas.microsoft.com/office/drawing/2014/main" id="{F5CD524D-5FCD-4E5D-98EF-588F3C1C4259}"/>
              </a:ext>
            </a:extLst>
          </p:cNvPr>
          <p:cNvSpPr>
            <a:spLocks noGrp="1"/>
          </p:cNvSpPr>
          <p:nvPr/>
        </p:nvSpPr>
        <p:spPr>
          <a:xfrm>
            <a:off x="6324600" y="4886325"/>
            <a:ext cx="5219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红：AI 论文　蓝：非 AI 论文</a:t>
            </a:r>
          </a:p>
        </p:txBody>
      </p:sp>
      <p:sp>
        <p:nvSpPr>
          <p:cNvPr id="22" name="hao-result">
            <a:extLst>
              <a:ext uri="{FF2B5EF4-FFF2-40B4-BE49-F238E27FC236}">
                <a16:creationId xmlns:a16="http://schemas.microsoft.com/office/drawing/2014/main" id="{B9F84EA1-8DC9-4579-B727-DC439F3ED902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34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个人影响扩大，集体探索更集中</a:t>
            </a:r>
          </a:p>
        </p:txBody>
      </p:sp>
      <p:sp>
        <p:nvSpPr>
          <p:cNvPr id="23" name="hao-boundary">
            <a:extLst>
              <a:ext uri="{FF2B5EF4-FFF2-40B4-BE49-F238E27FC236}">
                <a16:creationId xmlns:a16="http://schemas.microsoft.com/office/drawing/2014/main" id="{B074C645-AE12-4D5F-B0EF-86E514FE9912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0477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18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约 4,130 万篇论文，六个自然科学学科；观察性关联，非因果结论</a:t>
            </a:r>
          </a:p>
        </p:txBody>
      </p:sp>
      <p:pic>
        <p:nvPicPr>
          <p:cNvPr id="24" name="Picture 14"/>
          <p:cNvPicPr>
            <a:picLocks noChangeAspect="1"/>
          </p:cNvPicPr>
          <p:nvPr/>
        </p:nvPicPr>
        <p:blipFill>
          <a:blip r:embed="rId3"/>
          <a:srcRect t="20000" r="47000" b="13500"/>
          <a:stretch>
            <a:fillRect/>
          </a:stretch>
        </p:blipFill>
        <p:spPr>
          <a:xfrm>
            <a:off x="952500" y="1533525"/>
            <a:ext cx="4429125" cy="407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EE5AE-AFFD-4C98-9507-FDF442560787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辅助科研中的研究者判断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0F29DE-7D1C-442F-BC07-C7F2C4F40C3A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object-0">
            <a:extLst>
              <a:ext uri="{FF2B5EF4-FFF2-40B4-BE49-F238E27FC236}">
                <a16:creationId xmlns:a16="http://schemas.microsoft.com/office/drawing/2014/main" id="{956C7D70-D86C-4489-8D9E-F389A651C356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5" name="judgment-0">
            <a:extLst>
              <a:ext uri="{FF2B5EF4-FFF2-40B4-BE49-F238E27FC236}">
                <a16:creationId xmlns:a16="http://schemas.microsoft.com/office/drawing/2014/main" id="{3CECF662-BB12-4431-8BF7-8164C0A93565}"/>
              </a:ext>
            </a:extLst>
          </p:cNvPr>
          <p:cNvSpPr>
            <a:spLocks noGrp="1"/>
          </p:cNvSpPr>
          <p:nvPr/>
        </p:nvSpPr>
        <p:spPr>
          <a:xfrm>
            <a:off x="3133725" y="1304925"/>
            <a:ext cx="83724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值得研究、新在哪里？范围与非例是什么？</a:t>
            </a:r>
          </a:p>
        </p:txBody>
      </p:sp>
      <p:sp>
        <p:nvSpPr>
          <p:cNvPr id="6" name="object-1">
            <a:extLst>
              <a:ext uri="{FF2B5EF4-FFF2-40B4-BE49-F238E27FC236}">
                <a16:creationId xmlns:a16="http://schemas.microsoft.com/office/drawing/2014/main" id="{FB9DDAFC-234C-4A87-AF1A-92F101FB0F07}"/>
              </a:ext>
            </a:extLst>
          </p:cNvPr>
          <p:cNvSpPr>
            <a:spLocks noGrp="1"/>
          </p:cNvSpPr>
          <p:nvPr/>
        </p:nvSpPr>
        <p:spPr>
          <a:xfrm>
            <a:off x="609600" y="205740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7" name="judgment-1">
            <a:extLst>
              <a:ext uri="{FF2B5EF4-FFF2-40B4-BE49-F238E27FC236}">
                <a16:creationId xmlns:a16="http://schemas.microsoft.com/office/drawing/2014/main" id="{356CC54E-200E-4464-973D-477CD28BC938}"/>
              </a:ext>
            </a:extLst>
          </p:cNvPr>
          <p:cNvSpPr>
            <a:spLocks noGrp="1"/>
          </p:cNvSpPr>
          <p:nvPr/>
        </p:nvSpPr>
        <p:spPr>
          <a:xfrm>
            <a:off x="3133725" y="2057400"/>
            <a:ext cx="83724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材料支持哪条主张，原文能否核对？</a:t>
            </a:r>
          </a:p>
        </p:txBody>
      </p:sp>
      <p:sp>
        <p:nvSpPr>
          <p:cNvPr id="8" name="object-2">
            <a:extLst>
              <a:ext uri="{FF2B5EF4-FFF2-40B4-BE49-F238E27FC236}">
                <a16:creationId xmlns:a16="http://schemas.microsoft.com/office/drawing/2014/main" id="{17D53388-6BEF-4A5F-8FB8-3174C787D608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假设与实验</a:t>
            </a:r>
          </a:p>
        </p:txBody>
      </p:sp>
      <p:sp>
        <p:nvSpPr>
          <p:cNvPr id="9" name="judgment-2">
            <a:extLst>
              <a:ext uri="{FF2B5EF4-FFF2-40B4-BE49-F238E27FC236}">
                <a16:creationId xmlns:a16="http://schemas.microsoft.com/office/drawing/2014/main" id="{EA8BC3BB-F351-49AD-90CB-D0495CF34FAC}"/>
              </a:ext>
            </a:extLst>
          </p:cNvPr>
          <p:cNvSpPr>
            <a:spLocks noGrp="1"/>
          </p:cNvSpPr>
          <p:nvPr/>
        </p:nvSpPr>
        <p:spPr>
          <a:xfrm>
            <a:off x="3133725" y="2809875"/>
            <a:ext cx="83724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假设符合约束、可以推翻吗？</a:t>
            </a:r>
          </a:p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基线、数据、指标和对照公平吗？</a:t>
            </a:r>
          </a:p>
        </p:txBody>
      </p:sp>
      <p:sp>
        <p:nvSpPr>
          <p:cNvPr id="10" name="object-3">
            <a:extLst>
              <a:ext uri="{FF2B5EF4-FFF2-40B4-BE49-F238E27FC236}">
                <a16:creationId xmlns:a16="http://schemas.microsoft.com/office/drawing/2014/main" id="{56CA62A0-2744-452D-9895-FC3C722586F2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11" name="judgment-3">
            <a:extLst>
              <a:ext uri="{FF2B5EF4-FFF2-40B4-BE49-F238E27FC236}">
                <a16:creationId xmlns:a16="http://schemas.microsoft.com/office/drawing/2014/main" id="{C5D57A40-A06D-4FE9-9737-CAB5955A27E5}"/>
              </a:ext>
            </a:extLst>
          </p:cNvPr>
          <p:cNvSpPr>
            <a:spLocks noGrp="1"/>
          </p:cNvSpPr>
          <p:nvPr/>
        </p:nvSpPr>
        <p:spPr>
          <a:xfrm>
            <a:off x="3133725" y="3838575"/>
            <a:ext cx="83724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观察足以支持结论及其适用范围吗？</a:t>
            </a:r>
          </a:p>
        </p:txBody>
      </p:sp>
      <p:sp>
        <p:nvSpPr>
          <p:cNvPr id="12" name="object-4">
            <a:extLst>
              <a:ext uri="{FF2B5EF4-FFF2-40B4-BE49-F238E27FC236}">
                <a16:creationId xmlns:a16="http://schemas.microsoft.com/office/drawing/2014/main" id="{B3249B05-6007-457A-9B61-1DB2AD7A49C7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2190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执行责任</a:t>
            </a:r>
          </a:p>
        </p:txBody>
      </p:sp>
      <p:sp>
        <p:nvSpPr>
          <p:cNvPr id="13" name="judgment-4">
            <a:extLst>
              <a:ext uri="{FF2B5EF4-FFF2-40B4-BE49-F238E27FC236}">
                <a16:creationId xmlns:a16="http://schemas.microsoft.com/office/drawing/2014/main" id="{DC3B746B-30D5-4CDF-90FE-49F8D11E449F}"/>
              </a:ext>
            </a:extLst>
          </p:cNvPr>
          <p:cNvSpPr>
            <a:spLocks noGrp="1"/>
          </p:cNvSpPr>
          <p:nvPr/>
        </p:nvSpPr>
        <p:spPr>
          <a:xfrm>
            <a:off x="3133725" y="4591050"/>
            <a:ext cx="837247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是否越权、泄露数据或改变评价标准？</a:t>
            </a:r>
          </a:p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失败是否保留，AI 参与是否如实披露？</a:t>
            </a:r>
          </a:p>
        </p:txBody>
      </p:sp>
      <p:sp>
        <p:nvSpPr>
          <p:cNvPr id="14" name="responsibility">
            <a:extLst>
              <a:ext uri="{FF2B5EF4-FFF2-40B4-BE49-F238E27FC236}">
                <a16:creationId xmlns:a16="http://schemas.microsoft.com/office/drawing/2014/main" id="{ED44042A-AD94-4B43-AFD2-F4B8C660001F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可以提供建议；研究者作出取舍并解释理由。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1D2C54-7AF2-41C7-A250-7DF98D0AF266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期末个人项目的四类工件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64233C-1915-429D-9F88-A677DB6A2511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body-88">
            <a:extLst>
              <a:ext uri="{FF2B5EF4-FFF2-40B4-BE49-F238E27FC236}">
                <a16:creationId xmlns:a16="http://schemas.microsoft.com/office/drawing/2014/main" id="{87F651F0-B066-4925-803F-145BCA630AF9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围绕同一个研究问题，保存四类证据</a:t>
            </a:r>
          </a:p>
        </p:txBody>
      </p:sp>
      <p:sp>
        <p:nvSpPr>
          <p:cNvPr id="5" name="body-89">
            <a:extLst>
              <a:ext uri="{FF2B5EF4-FFF2-40B4-BE49-F238E27FC236}">
                <a16:creationId xmlns:a16="http://schemas.microsoft.com/office/drawing/2014/main" id="{2CE04823-C6A0-4427-8599-E766C2C58BF0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问题与证据</a:t>
            </a:r>
          </a:p>
        </p:txBody>
      </p:sp>
      <p:sp>
        <p:nvSpPr>
          <p:cNvPr id="6" name="body-90">
            <a:extLst>
              <a:ext uri="{FF2B5EF4-FFF2-40B4-BE49-F238E27FC236}">
                <a16:creationId xmlns:a16="http://schemas.microsoft.com/office/drawing/2014/main" id="{B9D38CE9-DBD7-407E-A62E-65083453F115}"/>
              </a:ext>
            </a:extLst>
          </p:cNvPr>
          <p:cNvSpPr>
            <a:spLocks noGrp="1"/>
          </p:cNvSpPr>
          <p:nvPr/>
        </p:nvSpPr>
        <p:spPr>
          <a:xfrm>
            <a:off x="3676650" y="2038350"/>
            <a:ext cx="79057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为什么值得做，依据在哪里？</a:t>
            </a:r>
          </a:p>
        </p:txBody>
      </p:sp>
      <p:sp>
        <p:nvSpPr>
          <p:cNvPr id="7" name="rule-91">
            <a:extLst>
              <a:ext uri="{FF2B5EF4-FFF2-40B4-BE49-F238E27FC236}">
                <a16:creationId xmlns:a16="http://schemas.microsoft.com/office/drawing/2014/main" id="{9B966EB7-8328-458E-A823-BF6CCFE1CF69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8" name="body-92">
            <a:extLst>
              <a:ext uri="{FF2B5EF4-FFF2-40B4-BE49-F238E27FC236}">
                <a16:creationId xmlns:a16="http://schemas.microsoft.com/office/drawing/2014/main" id="{E63A79EF-35F7-401E-AC74-AD26CBF7B3B5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判断与实验</a:t>
            </a:r>
          </a:p>
        </p:txBody>
      </p:sp>
      <p:sp>
        <p:nvSpPr>
          <p:cNvPr id="9" name="body-93">
            <a:extLst>
              <a:ext uri="{FF2B5EF4-FFF2-40B4-BE49-F238E27FC236}">
                <a16:creationId xmlns:a16="http://schemas.microsoft.com/office/drawing/2014/main" id="{D45DF88B-7DA6-4D76-89DC-B1E68B64A776}"/>
              </a:ext>
            </a:extLst>
          </p:cNvPr>
          <p:cNvSpPr>
            <a:spLocks noGrp="1"/>
          </p:cNvSpPr>
          <p:nvPr/>
        </p:nvSpPr>
        <p:spPr>
          <a:xfrm>
            <a:off x="3676650" y="2876550"/>
            <a:ext cx="79057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什么结果会改变当前判断？</a:t>
            </a:r>
          </a:p>
        </p:txBody>
      </p:sp>
      <p:sp>
        <p:nvSpPr>
          <p:cNvPr id="10" name="rule-94">
            <a:extLst>
              <a:ext uri="{FF2B5EF4-FFF2-40B4-BE49-F238E27FC236}">
                <a16:creationId xmlns:a16="http://schemas.microsoft.com/office/drawing/2014/main" id="{ECE999E9-706E-4D8C-9846-33AD8ACB92D2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1" name="body-95">
            <a:extLst>
              <a:ext uri="{FF2B5EF4-FFF2-40B4-BE49-F238E27FC236}">
                <a16:creationId xmlns:a16="http://schemas.microsoft.com/office/drawing/2014/main" id="{CC69C31F-ED4B-4C9B-B833-98F668E44F95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工作流与评价</a:t>
            </a:r>
          </a:p>
        </p:txBody>
      </p:sp>
      <p:sp>
        <p:nvSpPr>
          <p:cNvPr id="12" name="body-96">
            <a:extLst>
              <a:ext uri="{FF2B5EF4-FFF2-40B4-BE49-F238E27FC236}">
                <a16:creationId xmlns:a16="http://schemas.microsoft.com/office/drawing/2014/main" id="{45FCA947-F36C-4B8D-8B5E-34DCF0518430}"/>
              </a:ext>
            </a:extLst>
          </p:cNvPr>
          <p:cNvSpPr>
            <a:spLocks noGrp="1"/>
          </p:cNvSpPr>
          <p:nvPr/>
        </p:nvSpPr>
        <p:spPr>
          <a:xfrm>
            <a:off x="3676650" y="3714750"/>
            <a:ext cx="79057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Agent 如何执行，怎样评价？</a:t>
            </a:r>
          </a:p>
        </p:txBody>
      </p:sp>
      <p:sp>
        <p:nvSpPr>
          <p:cNvPr id="13" name="rule-97">
            <a:extLst>
              <a:ext uri="{FF2B5EF4-FFF2-40B4-BE49-F238E27FC236}">
                <a16:creationId xmlns:a16="http://schemas.microsoft.com/office/drawing/2014/main" id="{91225996-D14F-4C4B-9E0F-ABA979773B47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4" name="body-98">
            <a:extLst>
              <a:ext uri="{FF2B5EF4-FFF2-40B4-BE49-F238E27FC236}">
                <a16:creationId xmlns:a16="http://schemas.microsoft.com/office/drawing/2014/main" id="{20AD5765-F67F-4615-8FFF-E76F53638F47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2876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论证与披露</a:t>
            </a:r>
          </a:p>
        </p:txBody>
      </p:sp>
      <p:sp>
        <p:nvSpPr>
          <p:cNvPr id="15" name="body-99">
            <a:extLst>
              <a:ext uri="{FF2B5EF4-FFF2-40B4-BE49-F238E27FC236}">
                <a16:creationId xmlns:a16="http://schemas.microsoft.com/office/drawing/2014/main" id="{5271EA30-2EF8-402E-8AF8-6FE13C1AE5D9}"/>
              </a:ext>
            </a:extLst>
          </p:cNvPr>
          <p:cNvSpPr>
            <a:spLocks noGrp="1"/>
          </p:cNvSpPr>
          <p:nvPr/>
        </p:nvSpPr>
        <p:spPr>
          <a:xfrm>
            <a:off x="3676650" y="4552950"/>
            <a:ext cx="7905750" cy="752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结论如何追溯，哪些责任由人承担？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A0BE75-29FE-4730-A0CD-52C57C63FB3E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个人项目与两层反馈关系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F159A-D759-4237-BACC-B93BBCC2B8CC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node-100">
            <a:extLst>
              <a:ext uri="{FF2B5EF4-FFF2-40B4-BE49-F238E27FC236}">
                <a16:creationId xmlns:a16="http://schemas.microsoft.com/office/drawing/2014/main" id="{168AD56D-4AE7-479A-BD0B-B8892302CB3E}"/>
              </a:ext>
            </a:extLst>
          </p:cNvPr>
          <p:cNvSpPr>
            <a:spLocks noGrp="1"/>
          </p:cNvSpPr>
          <p:nvPr/>
        </p:nvSpPr>
        <p:spPr>
          <a:xfrm>
            <a:off x="4286250" y="1276350"/>
            <a:ext cx="3619500" cy="809625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个人研究项目</a:t>
            </a:r>
          </a:p>
        </p:txBody>
      </p:sp>
      <p:sp>
        <p:nvSpPr>
          <p:cNvPr id="5" name="body-101">
            <a:extLst>
              <a:ext uri="{FF2B5EF4-FFF2-40B4-BE49-F238E27FC236}">
                <a16:creationId xmlns:a16="http://schemas.microsoft.com/office/drawing/2014/main" id="{C32932A8-8C00-4C84-A304-2359D0E24CB8}"/>
              </a:ext>
            </a:extLst>
          </p:cNvPr>
          <p:cNvSpPr>
            <a:spLocks noGrp="1"/>
          </p:cNvSpPr>
          <p:nvPr/>
        </p:nvSpPr>
        <p:spPr>
          <a:xfrm>
            <a:off x="3848100" y="2228850"/>
            <a:ext cx="4495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作者作出决定并承担责任</a:t>
            </a:r>
          </a:p>
        </p:txBody>
      </p:sp>
      <p:sp>
        <p:nvSpPr>
          <p:cNvPr id="6" name="node-102">
            <a:extLst>
              <a:ext uri="{FF2B5EF4-FFF2-40B4-BE49-F238E27FC236}">
                <a16:creationId xmlns:a16="http://schemas.microsoft.com/office/drawing/2014/main" id="{C01224A5-EFB8-426B-9C4F-371A4CF1A17E}"/>
              </a:ext>
            </a:extLst>
          </p:cNvPr>
          <p:cNvSpPr>
            <a:spLocks noGrp="1"/>
          </p:cNvSpPr>
          <p:nvPr/>
        </p:nvSpPr>
        <p:spPr>
          <a:xfrm>
            <a:off x="952500" y="3362325"/>
            <a:ext cx="3657600" cy="685800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临时结对</a:t>
            </a:r>
          </a:p>
        </p:txBody>
      </p:sp>
      <p:sp>
        <p:nvSpPr>
          <p:cNvPr id="7" name="node-103">
            <a:extLst>
              <a:ext uri="{FF2B5EF4-FFF2-40B4-BE49-F238E27FC236}">
                <a16:creationId xmlns:a16="http://schemas.microsoft.com/office/drawing/2014/main" id="{EF78051E-24CF-4445-9297-C0B18E864EDF}"/>
              </a:ext>
            </a:extLst>
          </p:cNvPr>
          <p:cNvSpPr>
            <a:spLocks noGrp="1"/>
          </p:cNvSpPr>
          <p:nvPr/>
        </p:nvSpPr>
        <p:spPr>
          <a:xfrm>
            <a:off x="7572375" y="3362325"/>
            <a:ext cx="3657600" cy="685800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固定同伴组</a:t>
            </a:r>
          </a:p>
        </p:txBody>
      </p:sp>
      <p:cxnSp>
        <p:nvCxnSpPr>
          <p:cNvPr id="26" name="edge-104"/>
          <p:cNvCxnSpPr>
            <a:stCxn id="6" idx="0"/>
            <a:endCxn id="4" idx="1"/>
          </p:cNvCxnSpPr>
          <p:nvPr/>
        </p:nvCxnSpPr>
        <p:spPr>
          <a:xfrm flipV="1">
            <a:off x="2781300" y="1681163"/>
            <a:ext cx="1504950" cy="1681163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27" name="edge-105"/>
          <p:cNvCxnSpPr>
            <a:stCxn id="7" idx="0"/>
            <a:endCxn id="4" idx="3"/>
          </p:cNvCxnSpPr>
          <p:nvPr/>
        </p:nvCxnSpPr>
        <p:spPr>
          <a:xfrm flipH="1" flipV="1">
            <a:off x="7905750" y="1681163"/>
            <a:ext cx="1495425" cy="1681163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0" name="body-106">
            <a:extLst>
              <a:ext uri="{FF2B5EF4-FFF2-40B4-BE49-F238E27FC236}">
                <a16:creationId xmlns:a16="http://schemas.microsoft.com/office/drawing/2014/main" id="{67099335-A9F3-48F2-8BD1-D762776A4D51}"/>
              </a:ext>
            </a:extLst>
          </p:cNvPr>
          <p:cNvSpPr>
            <a:spLocks noGrp="1"/>
          </p:cNvSpPr>
          <p:nvPr/>
        </p:nvSpPr>
        <p:spPr>
          <a:xfrm>
            <a:off x="952500" y="4343400"/>
            <a:ext cx="421957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第 1、2 课交换一次判断理由</a:t>
            </a:r>
          </a:p>
          <a:p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各自修改、各自保留证据</a:t>
            </a:r>
          </a:p>
        </p:txBody>
      </p:sp>
      <p:sp>
        <p:nvSpPr>
          <p:cNvPr id="11" name="body-107">
            <a:extLst>
              <a:ext uri="{FF2B5EF4-FFF2-40B4-BE49-F238E27FC236}">
                <a16:creationId xmlns:a16="http://schemas.microsoft.com/office/drawing/2014/main" id="{8B1B83B5-C210-4EB2-8CE3-CA9FFA9CD635}"/>
              </a:ext>
            </a:extLst>
          </p:cNvPr>
          <p:cNvSpPr>
            <a:spLocks noGrp="1"/>
          </p:cNvSpPr>
          <p:nvPr/>
        </p:nvSpPr>
        <p:spPr>
          <a:xfrm>
            <a:off x="7572375" y="4343400"/>
            <a:ext cx="40100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3–4 人，第 6 课前确定</a:t>
            </a:r>
          </a:p>
          <a:p>
            <a:pPr algn="l">
              <a:lnSpc>
                <a:spcPct val="13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可轮换互查对象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B52F96-BA5A-488E-9048-9EA98DFB064D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评分看什么，怎样算达标？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7364B-14C5-420D-A546-09B09B0B7A93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score-subject">
            <a:extLst>
              <a:ext uri="{FF2B5EF4-FFF2-40B4-BE49-F238E27FC236}">
                <a16:creationId xmlns:a16="http://schemas.microsoft.com/office/drawing/2014/main" id="{A1CC014C-D05D-4DF1-9BD9-764BB9FA433D}"/>
              </a:ext>
            </a:extLst>
          </p:cNvPr>
          <p:cNvSpPr>
            <a:spLocks noGrp="1"/>
          </p:cNvSpPr>
          <p:nvPr/>
        </p:nvSpPr>
        <p:spPr>
          <a:xfrm>
            <a:off x="609600" y="1038225"/>
            <a:ext cx="107632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个人项目与 Agent Workflow 的评分构成</a:t>
            </a:r>
          </a:p>
        </p:txBody>
      </p:sp>
      <p:sp>
        <p:nvSpPr>
          <p:cNvPr id="5" name="score-rule">
            <a:extLst>
              <a:ext uri="{FF2B5EF4-FFF2-40B4-BE49-F238E27FC236}">
                <a16:creationId xmlns:a16="http://schemas.microsoft.com/office/drawing/2014/main" id="{1F77E756-3177-494E-9C86-6B8CB3E2A3B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72800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graphicFrame>
        <p:nvGraphicFramePr>
          <p:cNvPr id="20" name="Chart"/>
          <p:cNvGraphicFramePr/>
          <p:nvPr/>
        </p:nvGraphicFramePr>
        <p:xfrm>
          <a:off x="552450" y="2505075"/>
          <a:ext cx="775335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core-evidence-title">
            <a:extLst>
              <a:ext uri="{FF2B5EF4-FFF2-40B4-BE49-F238E27FC236}">
                <a16:creationId xmlns:a16="http://schemas.microsoft.com/office/drawing/2014/main" id="{FCDC82FC-0FC6-403E-8921-67C1884B2C17}"/>
              </a:ext>
            </a:extLst>
          </p:cNvPr>
          <p:cNvSpPr>
            <a:spLocks noGrp="1"/>
          </p:cNvSpPr>
          <p:nvPr/>
        </p:nvSpPr>
        <p:spPr>
          <a:xfrm>
            <a:off x="8867775" y="2000250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评分证据</a:t>
            </a:r>
          </a:p>
        </p:txBody>
      </p:sp>
      <p:sp>
        <p:nvSpPr>
          <p:cNvPr id="8" name="score-dimension-title">
            <a:extLst>
              <a:ext uri="{FF2B5EF4-FFF2-40B4-BE49-F238E27FC236}">
                <a16:creationId xmlns:a16="http://schemas.microsoft.com/office/drawing/2014/main" id="{A5A5D826-2924-465A-B0BF-ED455362E0C3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7715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评分维度与权重</a:t>
            </a:r>
          </a:p>
        </p:txBody>
      </p:sp>
      <p:sp>
        <p:nvSpPr>
          <p:cNvPr id="9" name="evidence-0">
            <a:extLst>
              <a:ext uri="{FF2B5EF4-FFF2-40B4-BE49-F238E27FC236}">
                <a16:creationId xmlns:a16="http://schemas.microsoft.com/office/drawing/2014/main" id="{27C4F8C6-E1A7-4707-AF86-720159CC6B12}"/>
              </a:ext>
            </a:extLst>
          </p:cNvPr>
          <p:cNvSpPr>
            <a:spLocks noGrp="1"/>
          </p:cNvSpPr>
          <p:nvPr/>
        </p:nvSpPr>
        <p:spPr>
          <a:xfrm>
            <a:off x="8867775" y="2686050"/>
            <a:ext cx="2705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问题与来源</a:t>
            </a:r>
          </a:p>
        </p:txBody>
      </p:sp>
      <p:sp>
        <p:nvSpPr>
          <p:cNvPr id="10" name="evidence-1">
            <a:extLst>
              <a:ext uri="{FF2B5EF4-FFF2-40B4-BE49-F238E27FC236}">
                <a16:creationId xmlns:a16="http://schemas.microsoft.com/office/drawing/2014/main" id="{CD7C39A3-59BB-4CB4-A45F-E75C3508EC30}"/>
              </a:ext>
            </a:extLst>
          </p:cNvPr>
          <p:cNvSpPr>
            <a:spLocks noGrp="1"/>
          </p:cNvSpPr>
          <p:nvPr/>
        </p:nvSpPr>
        <p:spPr>
          <a:xfrm>
            <a:off x="8867775" y="3324225"/>
            <a:ext cx="2705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协议与结果</a:t>
            </a:r>
          </a:p>
        </p:txBody>
      </p:sp>
      <p:sp>
        <p:nvSpPr>
          <p:cNvPr id="11" name="evidence-2">
            <a:extLst>
              <a:ext uri="{FF2B5EF4-FFF2-40B4-BE49-F238E27FC236}">
                <a16:creationId xmlns:a16="http://schemas.microsoft.com/office/drawing/2014/main" id="{5747D3B4-A867-425C-8420-66C3A0734AE5}"/>
              </a:ext>
            </a:extLst>
          </p:cNvPr>
          <p:cNvSpPr>
            <a:spLocks noGrp="1"/>
          </p:cNvSpPr>
          <p:nvPr/>
        </p:nvSpPr>
        <p:spPr>
          <a:xfrm>
            <a:off x="8867775" y="3962400"/>
            <a:ext cx="2705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工作流评价</a:t>
            </a:r>
          </a:p>
        </p:txBody>
      </p:sp>
      <p:sp>
        <p:nvSpPr>
          <p:cNvPr id="12" name="evidence-3">
            <a:extLst>
              <a:ext uri="{FF2B5EF4-FFF2-40B4-BE49-F238E27FC236}">
                <a16:creationId xmlns:a16="http://schemas.microsoft.com/office/drawing/2014/main" id="{BE19722E-345E-4787-80CE-F74C0387C381}"/>
              </a:ext>
            </a:extLst>
          </p:cNvPr>
          <p:cNvSpPr>
            <a:spLocks noGrp="1"/>
          </p:cNvSpPr>
          <p:nvPr/>
        </p:nvSpPr>
        <p:spPr>
          <a:xfrm>
            <a:off x="8867775" y="4600575"/>
            <a:ext cx="2705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论证与披露</a:t>
            </a:r>
          </a:p>
        </p:txBody>
      </p:sp>
      <p:sp>
        <p:nvSpPr>
          <p:cNvPr id="13" name="score-anchor">
            <a:extLst>
              <a:ext uri="{FF2B5EF4-FFF2-40B4-BE49-F238E27FC236}">
                <a16:creationId xmlns:a16="http://schemas.microsoft.com/office/drawing/2014/main" id="{35CCE1DF-112E-4844-AC47-1F18141C7D6F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26193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四级表现锚点</a:t>
            </a:r>
          </a:p>
        </p:txBody>
      </p:sp>
      <p:sp>
        <p:nvSpPr>
          <p:cNvPr id="14" name="score-levels">
            <a:extLst>
              <a:ext uri="{FF2B5EF4-FFF2-40B4-BE49-F238E27FC236}">
                <a16:creationId xmlns:a16="http://schemas.microsoft.com/office/drawing/2014/main" id="{F53A3140-2C37-4127-A2F8-27BF5FDE7CE8}"/>
              </a:ext>
            </a:extLst>
          </p:cNvPr>
          <p:cNvSpPr>
            <a:spLocks noGrp="1"/>
          </p:cNvSpPr>
          <p:nvPr/>
        </p:nvSpPr>
        <p:spPr>
          <a:xfrm>
            <a:off x="3352800" y="5600700"/>
            <a:ext cx="82486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卓越   /   达标   /   待改   /   不达标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F8F92-B339-4783-A1F4-965A2DDCE002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研究任务、执行环境与模型后端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634FB-EF66-4FFA-91A8-839BF6F1D8AA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body-108">
            <a:extLst>
              <a:ext uri="{FF2B5EF4-FFF2-40B4-BE49-F238E27FC236}">
                <a16:creationId xmlns:a16="http://schemas.microsoft.com/office/drawing/2014/main" id="{11F4C777-17BE-4D54-A7D1-347FC7F6F15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359092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研究任务与边界</a:t>
            </a:r>
          </a:p>
        </p:txBody>
      </p:sp>
      <p:sp>
        <p:nvSpPr>
          <p:cNvPr id="5" name="body-109">
            <a:extLst>
              <a:ext uri="{FF2B5EF4-FFF2-40B4-BE49-F238E27FC236}">
                <a16:creationId xmlns:a16="http://schemas.microsoft.com/office/drawing/2014/main" id="{E74EEA9C-86D3-4B0E-A5A4-71B063DF4FF2}"/>
              </a:ext>
            </a:extLst>
          </p:cNvPr>
          <p:cNvSpPr>
            <a:spLocks noGrp="1"/>
          </p:cNvSpPr>
          <p:nvPr/>
        </p:nvSpPr>
        <p:spPr>
          <a:xfrm>
            <a:off x="4295775" y="1381125"/>
            <a:ext cx="72866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问题、输入材料、可执行动作、停止条件</a:t>
            </a:r>
          </a:p>
        </p:txBody>
      </p:sp>
      <p:sp>
        <p:nvSpPr>
          <p:cNvPr id="6" name="rule-110">
            <a:extLst>
              <a:ext uri="{FF2B5EF4-FFF2-40B4-BE49-F238E27FC236}">
                <a16:creationId xmlns:a16="http://schemas.microsoft.com/office/drawing/2014/main" id="{DB755943-6911-48F0-A3FD-395E8B1BC35D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7" name="body-111">
            <a:extLst>
              <a:ext uri="{FF2B5EF4-FFF2-40B4-BE49-F238E27FC236}">
                <a16:creationId xmlns:a16="http://schemas.microsoft.com/office/drawing/2014/main" id="{827738B0-9318-4CCA-9927-6527804B7C27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359092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执行环境</a:t>
            </a:r>
          </a:p>
        </p:txBody>
      </p:sp>
      <p:sp>
        <p:nvSpPr>
          <p:cNvPr id="8" name="body-112">
            <a:extLst>
              <a:ext uri="{FF2B5EF4-FFF2-40B4-BE49-F238E27FC236}">
                <a16:creationId xmlns:a16="http://schemas.microsoft.com/office/drawing/2014/main" id="{8D40337A-A0ED-4510-AAEE-61FA220ADE6E}"/>
              </a:ext>
            </a:extLst>
          </p:cNvPr>
          <p:cNvSpPr>
            <a:spLocks noGrp="1"/>
          </p:cNvSpPr>
          <p:nvPr/>
        </p:nvSpPr>
        <p:spPr>
          <a:xfrm>
            <a:off x="4295775" y="2762250"/>
            <a:ext cx="72866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主平台：Pi Agent</a:t>
            </a:r>
          </a:p>
          <a:p>
            <a:pPr algn="l">
              <a:lnSpc>
                <a:spcPct val="12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备选：OpenCode 等</a:t>
            </a:r>
          </a:p>
        </p:txBody>
      </p:sp>
      <p:sp>
        <p:nvSpPr>
          <p:cNvPr id="9" name="rule-113">
            <a:extLst>
              <a:ext uri="{FF2B5EF4-FFF2-40B4-BE49-F238E27FC236}">
                <a16:creationId xmlns:a16="http://schemas.microsoft.com/office/drawing/2014/main" id="{77A3C26C-8596-4015-8E0C-FEE2822BEE74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0" name="body-114">
            <a:extLst>
              <a:ext uri="{FF2B5EF4-FFF2-40B4-BE49-F238E27FC236}">
                <a16:creationId xmlns:a16="http://schemas.microsoft.com/office/drawing/2014/main" id="{4A44E485-6095-4073-B163-3B76C5A6B3A7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359092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模型后端</a:t>
            </a:r>
          </a:p>
        </p:txBody>
      </p:sp>
      <p:sp>
        <p:nvSpPr>
          <p:cNvPr id="11" name="body-115">
            <a:extLst>
              <a:ext uri="{FF2B5EF4-FFF2-40B4-BE49-F238E27FC236}">
                <a16:creationId xmlns:a16="http://schemas.microsoft.com/office/drawing/2014/main" id="{5448DB4F-80B9-472C-B0E4-52731349A7E7}"/>
              </a:ext>
            </a:extLst>
          </p:cNvPr>
          <p:cNvSpPr>
            <a:spLocks noGrp="1"/>
          </p:cNvSpPr>
          <p:nvPr/>
        </p:nvSpPr>
        <p:spPr>
          <a:xfrm>
            <a:off x="4295775" y="4143375"/>
            <a:ext cx="72866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DeepSeek / Qwen / 其他合规模型</a:t>
            </a:r>
          </a:p>
        </p:txBody>
      </p:sp>
      <p:sp>
        <p:nvSpPr>
          <p:cNvPr id="12" name="rule-116">
            <a:extLst>
              <a:ext uri="{FF2B5EF4-FFF2-40B4-BE49-F238E27FC236}">
                <a16:creationId xmlns:a16="http://schemas.microsoft.com/office/drawing/2014/main" id="{CB9D4056-C5D4-4421-9ACD-EAF00B81F37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3" name="body-117">
            <a:extLst>
              <a:ext uri="{FF2B5EF4-FFF2-40B4-BE49-F238E27FC236}">
                <a16:creationId xmlns:a16="http://schemas.microsoft.com/office/drawing/2014/main" id="{FFF3572F-85D6-4AC5-80A0-28C21477E98E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今天从公开或课堂构造材料开始。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DE71A2-36A9-487C-8DFD-83122D9410C8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报告与可检查的研究过程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A1A63-5CB1-4AB2-A400-9BE398E3306A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body-118">
            <a:extLst>
              <a:ext uri="{FF2B5EF4-FFF2-40B4-BE49-F238E27FC236}">
                <a16:creationId xmlns:a16="http://schemas.microsoft.com/office/drawing/2014/main" id="{B5587876-4F5B-4B0C-B759-64EABC88A213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课堂构造案例</a:t>
            </a:r>
          </a:p>
        </p:txBody>
      </p:sp>
      <p:sp>
        <p:nvSpPr>
          <p:cNvPr id="5" name="body-119">
            <a:extLst>
              <a:ext uri="{FF2B5EF4-FFF2-40B4-BE49-F238E27FC236}">
                <a16:creationId xmlns:a16="http://schemas.microsoft.com/office/drawing/2014/main" id="{82EC6FF0-24A5-4B54-AF85-4AD9A41F25DD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391477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一份阅读卡报告</a:t>
            </a:r>
          </a:p>
        </p:txBody>
      </p:sp>
      <p:sp>
        <p:nvSpPr>
          <p:cNvPr id="6" name="body-120">
            <a:extLst>
              <a:ext uri="{FF2B5EF4-FFF2-40B4-BE49-F238E27FC236}">
                <a16:creationId xmlns:a16="http://schemas.microsoft.com/office/drawing/2014/main" id="{5BD4B0E9-7AA5-4665-BD98-ACDAAAB5D33E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41529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9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“阅读卡降低了遗漏，</a:t>
            </a:r>
          </a:p>
          <a:p>
            <a:pPr algn="l">
              <a:lnSpc>
                <a:spcPct val="130000"/>
              </a:lnSpc>
              <a:buNone/>
              <a:defRPr sz="29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9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建议全面采用。”</a:t>
            </a:r>
          </a:p>
        </p:txBody>
      </p:sp>
      <p:sp>
        <p:nvSpPr>
          <p:cNvPr id="7" name="body-121">
            <a:extLst>
              <a:ext uri="{FF2B5EF4-FFF2-40B4-BE49-F238E27FC236}">
                <a16:creationId xmlns:a16="http://schemas.microsoft.com/office/drawing/2014/main" id="{059F2645-A2AB-4DC6-A68D-89A2CCCEB806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41624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667580"/>
                </a:solidFill>
                <a:latin typeface="微软雅黑"/>
                <a:ea typeface="微软雅黑"/>
                <a:cs typeface="微软雅黑"/>
              </a:rPr>
              <a:t>定义、对照和反例尚未展示</a:t>
            </a:r>
          </a:p>
        </p:txBody>
      </p:sp>
      <p:sp>
        <p:nvSpPr>
          <p:cNvPr id="8" name="body-122">
            <a:extLst>
              <a:ext uri="{FF2B5EF4-FFF2-40B4-BE49-F238E27FC236}">
                <a16:creationId xmlns:a16="http://schemas.microsoft.com/office/drawing/2014/main" id="{950A8E90-E850-4A26-A3F1-545968CF462D}"/>
              </a:ext>
            </a:extLst>
          </p:cNvPr>
          <p:cNvSpPr>
            <a:spLocks noGrp="1"/>
          </p:cNvSpPr>
          <p:nvPr/>
        </p:nvSpPr>
        <p:spPr>
          <a:xfrm>
            <a:off x="5667375" y="1638300"/>
            <a:ext cx="591502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检查它怎样支持这个判断</a:t>
            </a:r>
          </a:p>
        </p:txBody>
      </p:sp>
      <p:sp>
        <p:nvSpPr>
          <p:cNvPr id="9" name="body-123">
            <a:extLst>
              <a:ext uri="{FF2B5EF4-FFF2-40B4-BE49-F238E27FC236}">
                <a16:creationId xmlns:a16="http://schemas.microsoft.com/office/drawing/2014/main" id="{C7DCE58B-0968-45FB-98AD-03D0FBA83ED4}"/>
              </a:ext>
            </a:extLst>
          </p:cNvPr>
          <p:cNvSpPr>
            <a:spLocks noGrp="1"/>
          </p:cNvSpPr>
          <p:nvPr/>
        </p:nvSpPr>
        <p:spPr>
          <a:xfrm>
            <a:off x="5667375" y="24288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</p:txBody>
      </p:sp>
      <p:sp>
        <p:nvSpPr>
          <p:cNvPr id="10" name="body-124">
            <a:extLst>
              <a:ext uri="{FF2B5EF4-FFF2-40B4-BE49-F238E27FC236}">
                <a16:creationId xmlns:a16="http://schemas.microsoft.com/office/drawing/2014/main" id="{B0FBD16C-46EC-48D4-8F03-014DABD370B2}"/>
              </a:ext>
            </a:extLst>
          </p:cNvPr>
          <p:cNvSpPr>
            <a:spLocks noGrp="1"/>
          </p:cNvSpPr>
          <p:nvPr/>
        </p:nvSpPr>
        <p:spPr>
          <a:xfrm>
            <a:off x="6905625" y="2428875"/>
            <a:ext cx="4676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“遗漏”怎样定义？</a:t>
            </a:r>
          </a:p>
        </p:txBody>
      </p:sp>
      <p:sp>
        <p:nvSpPr>
          <p:cNvPr id="11" name="rule-125">
            <a:extLst>
              <a:ext uri="{FF2B5EF4-FFF2-40B4-BE49-F238E27FC236}">
                <a16:creationId xmlns:a16="http://schemas.microsoft.com/office/drawing/2014/main" id="{FBB426E5-22FD-49F4-AB30-47592A771957}"/>
              </a:ext>
            </a:extLst>
          </p:cNvPr>
          <p:cNvSpPr>
            <a:spLocks noGrp="1"/>
          </p:cNvSpPr>
          <p:nvPr/>
        </p:nvSpPr>
        <p:spPr>
          <a:xfrm>
            <a:off x="5667375" y="3133725"/>
            <a:ext cx="5915025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2" name="body-126">
            <a:extLst>
              <a:ext uri="{FF2B5EF4-FFF2-40B4-BE49-F238E27FC236}">
                <a16:creationId xmlns:a16="http://schemas.microsoft.com/office/drawing/2014/main" id="{CA9C5C5C-2B42-4B0A-A468-CC98AE80A7B0}"/>
              </a:ext>
            </a:extLst>
          </p:cNvPr>
          <p:cNvSpPr>
            <a:spLocks noGrp="1"/>
          </p:cNvSpPr>
          <p:nvPr/>
        </p:nvSpPr>
        <p:spPr>
          <a:xfrm>
            <a:off x="5667375" y="324802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3" name="body-127">
            <a:extLst>
              <a:ext uri="{FF2B5EF4-FFF2-40B4-BE49-F238E27FC236}">
                <a16:creationId xmlns:a16="http://schemas.microsoft.com/office/drawing/2014/main" id="{A7D40305-D24C-46F3-A068-A13D29501DDF}"/>
              </a:ext>
            </a:extLst>
          </p:cNvPr>
          <p:cNvSpPr>
            <a:spLocks noGrp="1"/>
          </p:cNvSpPr>
          <p:nvPr/>
        </p:nvSpPr>
        <p:spPr>
          <a:xfrm>
            <a:off x="6905625" y="3248025"/>
            <a:ext cx="4676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依据能否定位？</a:t>
            </a:r>
          </a:p>
        </p:txBody>
      </p:sp>
      <p:sp>
        <p:nvSpPr>
          <p:cNvPr id="14" name="rule-128">
            <a:extLst>
              <a:ext uri="{FF2B5EF4-FFF2-40B4-BE49-F238E27FC236}">
                <a16:creationId xmlns:a16="http://schemas.microsoft.com/office/drawing/2014/main" id="{34D9BBE4-D356-4C21-B192-D9C934DE55D8}"/>
              </a:ext>
            </a:extLst>
          </p:cNvPr>
          <p:cNvSpPr>
            <a:spLocks noGrp="1"/>
          </p:cNvSpPr>
          <p:nvPr/>
        </p:nvSpPr>
        <p:spPr>
          <a:xfrm>
            <a:off x="5667375" y="3952875"/>
            <a:ext cx="5915025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5" name="body-129">
            <a:extLst>
              <a:ext uri="{FF2B5EF4-FFF2-40B4-BE49-F238E27FC236}">
                <a16:creationId xmlns:a16="http://schemas.microsoft.com/office/drawing/2014/main" id="{986600AC-ED3F-4C7B-954D-5CB11FAFCB63}"/>
              </a:ext>
            </a:extLst>
          </p:cNvPr>
          <p:cNvSpPr>
            <a:spLocks noGrp="1"/>
          </p:cNvSpPr>
          <p:nvPr/>
        </p:nvSpPr>
        <p:spPr>
          <a:xfrm>
            <a:off x="5667375" y="40671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实验</a:t>
            </a:r>
          </a:p>
        </p:txBody>
      </p:sp>
      <p:sp>
        <p:nvSpPr>
          <p:cNvPr id="16" name="body-130">
            <a:extLst>
              <a:ext uri="{FF2B5EF4-FFF2-40B4-BE49-F238E27FC236}">
                <a16:creationId xmlns:a16="http://schemas.microsoft.com/office/drawing/2014/main" id="{85CA2546-3EDC-40E5-B87C-F5575D29889D}"/>
              </a:ext>
            </a:extLst>
          </p:cNvPr>
          <p:cNvSpPr>
            <a:spLocks noGrp="1"/>
          </p:cNvSpPr>
          <p:nvPr/>
        </p:nvSpPr>
        <p:spPr>
          <a:xfrm>
            <a:off x="6905625" y="4067175"/>
            <a:ext cx="4676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与什么基线比较？</a:t>
            </a:r>
          </a:p>
        </p:txBody>
      </p:sp>
      <p:sp>
        <p:nvSpPr>
          <p:cNvPr id="17" name="rule-131">
            <a:extLst>
              <a:ext uri="{FF2B5EF4-FFF2-40B4-BE49-F238E27FC236}">
                <a16:creationId xmlns:a16="http://schemas.microsoft.com/office/drawing/2014/main" id="{422282CB-6293-45D9-893B-1684DC7E822A}"/>
              </a:ext>
            </a:extLst>
          </p:cNvPr>
          <p:cNvSpPr>
            <a:spLocks noGrp="1"/>
          </p:cNvSpPr>
          <p:nvPr/>
        </p:nvSpPr>
        <p:spPr>
          <a:xfrm>
            <a:off x="5667375" y="4772025"/>
            <a:ext cx="5915025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8" name="body-132">
            <a:extLst>
              <a:ext uri="{FF2B5EF4-FFF2-40B4-BE49-F238E27FC236}">
                <a16:creationId xmlns:a16="http://schemas.microsoft.com/office/drawing/2014/main" id="{5B703411-9391-4817-B9C1-C3B1C7B45D62}"/>
              </a:ext>
            </a:extLst>
          </p:cNvPr>
          <p:cNvSpPr>
            <a:spLocks noGrp="1"/>
          </p:cNvSpPr>
          <p:nvPr/>
        </p:nvSpPr>
        <p:spPr>
          <a:xfrm>
            <a:off x="5667375" y="488632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9" name="body-133">
            <a:extLst>
              <a:ext uri="{FF2B5EF4-FFF2-40B4-BE49-F238E27FC236}">
                <a16:creationId xmlns:a16="http://schemas.microsoft.com/office/drawing/2014/main" id="{33658FEA-6770-418A-AD7A-0B3AEEC29D72}"/>
              </a:ext>
            </a:extLst>
          </p:cNvPr>
          <p:cNvSpPr>
            <a:spLocks noGrp="1"/>
          </p:cNvSpPr>
          <p:nvPr/>
        </p:nvSpPr>
        <p:spPr>
          <a:xfrm>
            <a:off x="6905625" y="4886325"/>
            <a:ext cx="4676775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在哪些条件下成立？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7FAE38-91FF-45E6-94EB-AD7825154D07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八阶段定位图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51BB8-67B9-4E60-9399-DA793076FA09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body-134">
            <a:extLst>
              <a:ext uri="{FF2B5EF4-FFF2-40B4-BE49-F238E27FC236}">
                <a16:creationId xmlns:a16="http://schemas.microsoft.com/office/drawing/2014/main" id="{9C1DDCD1-2AC7-48DF-8A41-5094FF26EAA4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node-135">
            <a:extLst>
              <a:ext uri="{FF2B5EF4-FFF2-40B4-BE49-F238E27FC236}">
                <a16:creationId xmlns:a16="http://schemas.microsoft.com/office/drawing/2014/main" id="{4F8E3EBB-7FA2-4453-8C48-4E768ED1220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286000" cy="733425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问题定义</a:t>
            </a:r>
          </a:p>
        </p:txBody>
      </p:sp>
      <p:sp>
        <p:nvSpPr>
          <p:cNvPr id="6" name="body-136">
            <a:extLst>
              <a:ext uri="{FF2B5EF4-FFF2-40B4-BE49-F238E27FC236}">
                <a16:creationId xmlns:a16="http://schemas.microsoft.com/office/drawing/2014/main" id="{130758D8-5F9B-4BEB-87D3-325658030E2C}"/>
              </a:ext>
            </a:extLst>
          </p:cNvPr>
          <p:cNvSpPr>
            <a:spLocks noGrp="1"/>
          </p:cNvSpPr>
          <p:nvPr/>
        </p:nvSpPr>
        <p:spPr>
          <a:xfrm>
            <a:off x="3486150" y="1514475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node-137">
            <a:extLst>
              <a:ext uri="{FF2B5EF4-FFF2-40B4-BE49-F238E27FC236}">
                <a16:creationId xmlns:a16="http://schemas.microsoft.com/office/drawing/2014/main" id="{1EBE9859-5B2A-4F38-8450-0BFC921A055F}"/>
              </a:ext>
            </a:extLst>
          </p:cNvPr>
          <p:cNvSpPr>
            <a:spLocks noGrp="1"/>
          </p:cNvSpPr>
          <p:nvPr/>
        </p:nvSpPr>
        <p:spPr>
          <a:xfrm>
            <a:off x="3486150" y="2095500"/>
            <a:ext cx="2286000" cy="733425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第一性原理分析</a:t>
            </a:r>
          </a:p>
        </p:txBody>
      </p:sp>
      <p:sp>
        <p:nvSpPr>
          <p:cNvPr id="8" name="body-138">
            <a:extLst>
              <a:ext uri="{FF2B5EF4-FFF2-40B4-BE49-F238E27FC236}">
                <a16:creationId xmlns:a16="http://schemas.microsoft.com/office/drawing/2014/main" id="{67ADF756-A18F-481B-AB17-5C5400A5BCC9}"/>
              </a:ext>
            </a:extLst>
          </p:cNvPr>
          <p:cNvSpPr>
            <a:spLocks noGrp="1"/>
          </p:cNvSpPr>
          <p:nvPr/>
        </p:nvSpPr>
        <p:spPr>
          <a:xfrm>
            <a:off x="6362700" y="1514475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node-139">
            <a:extLst>
              <a:ext uri="{FF2B5EF4-FFF2-40B4-BE49-F238E27FC236}">
                <a16:creationId xmlns:a16="http://schemas.microsoft.com/office/drawing/2014/main" id="{0F866345-A06A-45D0-A4C8-3AB2AE60D0CF}"/>
              </a:ext>
            </a:extLst>
          </p:cNvPr>
          <p:cNvSpPr>
            <a:spLocks noGrp="1"/>
          </p:cNvSpPr>
          <p:nvPr/>
        </p:nvSpPr>
        <p:spPr>
          <a:xfrm>
            <a:off x="6362700" y="2095500"/>
            <a:ext cx="2286000" cy="733425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机制假设</a:t>
            </a:r>
          </a:p>
        </p:txBody>
      </p:sp>
      <p:sp>
        <p:nvSpPr>
          <p:cNvPr id="10" name="body-140">
            <a:extLst>
              <a:ext uri="{FF2B5EF4-FFF2-40B4-BE49-F238E27FC236}">
                <a16:creationId xmlns:a16="http://schemas.microsoft.com/office/drawing/2014/main" id="{63B91D97-31D7-4D93-95B8-076BFBE594B4}"/>
              </a:ext>
            </a:extLst>
          </p:cNvPr>
          <p:cNvSpPr>
            <a:spLocks noGrp="1"/>
          </p:cNvSpPr>
          <p:nvPr/>
        </p:nvSpPr>
        <p:spPr>
          <a:xfrm>
            <a:off x="9239250" y="1514475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node-141">
            <a:extLst>
              <a:ext uri="{FF2B5EF4-FFF2-40B4-BE49-F238E27FC236}">
                <a16:creationId xmlns:a16="http://schemas.microsoft.com/office/drawing/2014/main" id="{365A942F-962A-4E3A-B5E0-371A5C5E6086}"/>
              </a:ext>
            </a:extLst>
          </p:cNvPr>
          <p:cNvSpPr>
            <a:spLocks noGrp="1"/>
          </p:cNvSpPr>
          <p:nvPr/>
        </p:nvSpPr>
        <p:spPr>
          <a:xfrm>
            <a:off x="9239250" y="2095500"/>
            <a:ext cx="2286000" cy="733425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外部输入摄取</a:t>
            </a:r>
          </a:p>
        </p:txBody>
      </p:sp>
      <p:sp>
        <p:nvSpPr>
          <p:cNvPr id="12" name="body-142">
            <a:extLst>
              <a:ext uri="{FF2B5EF4-FFF2-40B4-BE49-F238E27FC236}">
                <a16:creationId xmlns:a16="http://schemas.microsoft.com/office/drawing/2014/main" id="{52CBD88E-1561-45B5-A1DC-A50CC20240F5}"/>
              </a:ext>
            </a:extLst>
          </p:cNvPr>
          <p:cNvSpPr>
            <a:spLocks noGrp="1"/>
          </p:cNvSpPr>
          <p:nvPr/>
        </p:nvSpPr>
        <p:spPr>
          <a:xfrm>
            <a:off x="9239250" y="3581400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node-143">
            <a:extLst>
              <a:ext uri="{FF2B5EF4-FFF2-40B4-BE49-F238E27FC236}">
                <a16:creationId xmlns:a16="http://schemas.microsoft.com/office/drawing/2014/main" id="{56179AD8-AF58-4E5F-979A-8E51162F8419}"/>
              </a:ext>
            </a:extLst>
          </p:cNvPr>
          <p:cNvSpPr>
            <a:spLocks noGrp="1"/>
          </p:cNvSpPr>
          <p:nvPr/>
        </p:nvSpPr>
        <p:spPr>
          <a:xfrm>
            <a:off x="9239250" y="4162425"/>
            <a:ext cx="2286000" cy="733425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证据整理</a:t>
            </a:r>
          </a:p>
        </p:txBody>
      </p:sp>
      <p:sp>
        <p:nvSpPr>
          <p:cNvPr id="14" name="body-144">
            <a:extLst>
              <a:ext uri="{FF2B5EF4-FFF2-40B4-BE49-F238E27FC236}">
                <a16:creationId xmlns:a16="http://schemas.microsoft.com/office/drawing/2014/main" id="{761A3A1A-D885-4DFF-94E4-68EAC0B50C2A}"/>
              </a:ext>
            </a:extLst>
          </p:cNvPr>
          <p:cNvSpPr>
            <a:spLocks noGrp="1"/>
          </p:cNvSpPr>
          <p:nvPr/>
        </p:nvSpPr>
        <p:spPr>
          <a:xfrm>
            <a:off x="6362700" y="3581400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5" name="node-145">
            <a:extLst>
              <a:ext uri="{FF2B5EF4-FFF2-40B4-BE49-F238E27FC236}">
                <a16:creationId xmlns:a16="http://schemas.microsoft.com/office/drawing/2014/main" id="{A674332F-BC2E-48A4-8256-A944809C9515}"/>
              </a:ext>
            </a:extLst>
          </p:cNvPr>
          <p:cNvSpPr>
            <a:spLocks noGrp="1"/>
          </p:cNvSpPr>
          <p:nvPr/>
        </p:nvSpPr>
        <p:spPr>
          <a:xfrm>
            <a:off x="6362700" y="4162425"/>
            <a:ext cx="2286000" cy="733425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研究判断</a:t>
            </a:r>
          </a:p>
        </p:txBody>
      </p:sp>
      <p:sp>
        <p:nvSpPr>
          <p:cNvPr id="16" name="body-146">
            <a:extLst>
              <a:ext uri="{FF2B5EF4-FFF2-40B4-BE49-F238E27FC236}">
                <a16:creationId xmlns:a16="http://schemas.microsoft.com/office/drawing/2014/main" id="{6E87B970-A6C7-44FF-994A-172B9D26B5E3}"/>
              </a:ext>
            </a:extLst>
          </p:cNvPr>
          <p:cNvSpPr>
            <a:spLocks noGrp="1"/>
          </p:cNvSpPr>
          <p:nvPr/>
        </p:nvSpPr>
        <p:spPr>
          <a:xfrm>
            <a:off x="3486150" y="3581400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7" name="node-147">
            <a:extLst>
              <a:ext uri="{FF2B5EF4-FFF2-40B4-BE49-F238E27FC236}">
                <a16:creationId xmlns:a16="http://schemas.microsoft.com/office/drawing/2014/main" id="{E99297EA-24D7-4154-9BEC-DDE7DAEF2DA1}"/>
              </a:ext>
            </a:extLst>
          </p:cNvPr>
          <p:cNvSpPr>
            <a:spLocks noGrp="1"/>
          </p:cNvSpPr>
          <p:nvPr/>
        </p:nvSpPr>
        <p:spPr>
          <a:xfrm>
            <a:off x="3486150" y="4162425"/>
            <a:ext cx="2286000" cy="733425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原型验证</a:t>
            </a:r>
          </a:p>
        </p:txBody>
      </p:sp>
      <p:sp>
        <p:nvSpPr>
          <p:cNvPr id="18" name="body-148">
            <a:extLst>
              <a:ext uri="{FF2B5EF4-FFF2-40B4-BE49-F238E27FC236}">
                <a16:creationId xmlns:a16="http://schemas.microsoft.com/office/drawing/2014/main" id="{5D803427-3E22-4EA6-8D14-0664FFA82064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66758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6675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9" name="node-149">
            <a:extLst>
              <a:ext uri="{FF2B5EF4-FFF2-40B4-BE49-F238E27FC236}">
                <a16:creationId xmlns:a16="http://schemas.microsoft.com/office/drawing/2014/main" id="{E2411941-93F2-45C4-B422-7963FDE1CFF9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2286000" cy="733425"/>
          </a:xfrm>
          <a:prstGeom prst="rect">
            <a:avLst/>
          </a:prstGeom>
          <a:noFill/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回写与表达</a:t>
            </a:r>
          </a:p>
        </p:txBody>
      </p:sp>
      <p:cxnSp>
        <p:nvCxnSpPr>
          <p:cNvPr id="96" name="edge-150"/>
          <p:cNvCxnSpPr>
            <a:stCxn id="5" idx="3"/>
            <a:endCxn id="7" idx="1"/>
          </p:cNvCxnSpPr>
          <p:nvPr/>
        </p:nvCxnSpPr>
        <p:spPr>
          <a:xfrm>
            <a:off x="2895600" y="2462213"/>
            <a:ext cx="5905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97" name="edge-151"/>
          <p:cNvCxnSpPr>
            <a:stCxn id="7" idx="3"/>
            <a:endCxn id="9" idx="1"/>
          </p:cNvCxnSpPr>
          <p:nvPr/>
        </p:nvCxnSpPr>
        <p:spPr>
          <a:xfrm>
            <a:off x="5772150" y="2462213"/>
            <a:ext cx="5905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98" name="edge-152"/>
          <p:cNvCxnSpPr>
            <a:stCxn id="9" idx="3"/>
            <a:endCxn id="11" idx="1"/>
          </p:cNvCxnSpPr>
          <p:nvPr/>
        </p:nvCxnSpPr>
        <p:spPr>
          <a:xfrm>
            <a:off x="8648700" y="2462213"/>
            <a:ext cx="5905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99" name="edge-153"/>
          <p:cNvCxnSpPr>
            <a:stCxn id="11" idx="2"/>
            <a:endCxn id="13" idx="0"/>
          </p:cNvCxnSpPr>
          <p:nvPr/>
        </p:nvCxnSpPr>
        <p:spPr>
          <a:xfrm>
            <a:off x="10382250" y="2828925"/>
            <a:ext cx="0" cy="133350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100" name="edge-154"/>
          <p:cNvCxnSpPr>
            <a:stCxn id="13" idx="1"/>
            <a:endCxn id="15" idx="3"/>
          </p:cNvCxnSpPr>
          <p:nvPr/>
        </p:nvCxnSpPr>
        <p:spPr>
          <a:xfrm flipH="1">
            <a:off x="8648700" y="4529138"/>
            <a:ext cx="5905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101" name="edge-155"/>
          <p:cNvCxnSpPr>
            <a:stCxn id="15" idx="1"/>
            <a:endCxn id="17" idx="3"/>
          </p:cNvCxnSpPr>
          <p:nvPr/>
        </p:nvCxnSpPr>
        <p:spPr>
          <a:xfrm flipH="1">
            <a:off x="5772150" y="4529138"/>
            <a:ext cx="5905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102" name="edge-156"/>
          <p:cNvCxnSpPr>
            <a:stCxn id="17" idx="1"/>
            <a:endCxn id="19" idx="3"/>
          </p:cNvCxnSpPr>
          <p:nvPr/>
        </p:nvCxnSpPr>
        <p:spPr>
          <a:xfrm flipH="1">
            <a:off x="2895600" y="4529138"/>
            <a:ext cx="5905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27" name="body-157">
            <a:extLst>
              <a:ext uri="{FF2B5EF4-FFF2-40B4-BE49-F238E27FC236}">
                <a16:creationId xmlns:a16="http://schemas.microsoft.com/office/drawing/2014/main" id="{15615CCC-ECAA-45F2-8833-4BCE54466C43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先定位当前动作，再确定需要回到哪里。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7FAE38-91FF-45E6-94EB-AD7825154D07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1–2：问题定义与必要条件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51BB8-67B9-4E60-9399-DA793076FA09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case">
            <a:extLst>
              <a:ext uri="{FF2B5EF4-FFF2-40B4-BE49-F238E27FC236}">
                <a16:creationId xmlns:a16="http://schemas.microsoft.com/office/drawing/2014/main" id="{2B491470-D08F-4BE8-AD41-1C3E5605C7AE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19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同一阅读卡案例｜先问清问题，再确定怎样比较</a:t>
            </a:r>
          </a:p>
        </p:txBody>
      </p:sp>
      <p:sp>
        <p:nvSpPr>
          <p:cNvPr id="5" name="stage-0">
            <a:extLst>
              <a:ext uri="{FF2B5EF4-FFF2-40B4-BE49-F238E27FC236}">
                <a16:creationId xmlns:a16="http://schemas.microsoft.com/office/drawing/2014/main" id="{C43FFF76-4C24-451C-8F57-2E774F6D148C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01  问题定义</a:t>
            </a:r>
          </a:p>
        </p:txBody>
      </p:sp>
      <p:sp>
        <p:nvSpPr>
          <p:cNvPr id="6" name="definition-0">
            <a:extLst>
              <a:ext uri="{FF2B5EF4-FFF2-40B4-BE49-F238E27FC236}">
                <a16:creationId xmlns:a16="http://schemas.microsoft.com/office/drawing/2014/main" id="{D15FFD76-9172-42F0-B2FA-F41927A3EFDD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2197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明确研究对象、比较关系与范围。</a:t>
            </a:r>
          </a:p>
        </p:txBody>
      </p:sp>
      <p:sp>
        <p:nvSpPr>
          <p:cNvPr id="7" name="example-0">
            <a:extLst>
              <a:ext uri="{FF2B5EF4-FFF2-40B4-BE49-F238E27FC236}">
                <a16:creationId xmlns:a16="http://schemas.microsoft.com/office/drawing/2014/main" id="{2DA42661-466C-4A93-985C-1BC7BBECCF51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521970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同组公开计算机论文中，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阅读卡与自由摘要相比，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限定条件遗漏是否更少？</a:t>
            </a:r>
          </a:p>
        </p:txBody>
      </p:sp>
      <p:sp>
        <p:nvSpPr>
          <p:cNvPr id="8" name="artifact-0">
            <a:extLst>
              <a:ext uri="{FF2B5EF4-FFF2-40B4-BE49-F238E27FC236}">
                <a16:creationId xmlns:a16="http://schemas.microsoft.com/office/drawing/2014/main" id="{1C900DC9-B27C-49C0-BB9B-A58B30F0EAC0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52197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1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产物：可检验问题与范围</a:t>
            </a:r>
          </a:p>
        </p:txBody>
      </p:sp>
      <p:sp>
        <p:nvSpPr>
          <p:cNvPr id="9" name="stage-1">
            <a:extLst>
              <a:ext uri="{FF2B5EF4-FFF2-40B4-BE49-F238E27FC236}">
                <a16:creationId xmlns:a16="http://schemas.microsoft.com/office/drawing/2014/main" id="{4CFE9874-4CCC-461D-B7BA-63CBE7BEA910}"/>
              </a:ext>
            </a:extLst>
          </p:cNvPr>
          <p:cNvSpPr>
            <a:spLocks noGrp="1"/>
          </p:cNvSpPr>
          <p:nvPr/>
        </p:nvSpPr>
        <p:spPr>
          <a:xfrm>
            <a:off x="6286500" y="172402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02  第一性原理分析</a:t>
            </a:r>
          </a:p>
        </p:txBody>
      </p:sp>
      <p:sp>
        <p:nvSpPr>
          <p:cNvPr id="10" name="definition-1">
            <a:extLst>
              <a:ext uri="{FF2B5EF4-FFF2-40B4-BE49-F238E27FC236}">
                <a16:creationId xmlns:a16="http://schemas.microsoft.com/office/drawing/2014/main" id="{A69BE8E1-94DD-4175-ADF2-D81035DB3D9A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52197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从任务的基本要求推导必要条件。</a:t>
            </a:r>
          </a:p>
        </p:txBody>
      </p:sp>
      <p:sp>
        <p:nvSpPr>
          <p:cNvPr id="11" name="example-1">
            <a:extLst>
              <a:ext uri="{FF2B5EF4-FFF2-40B4-BE49-F238E27FC236}">
                <a16:creationId xmlns:a16="http://schemas.microsoft.com/office/drawing/2014/main" id="{9B0192C9-39E7-40F4-93CA-6939F35C0C28}"/>
              </a:ext>
            </a:extLst>
          </p:cNvPr>
          <p:cNvSpPr>
            <a:spLocks noGrp="1"/>
          </p:cNvSpPr>
          <p:nvPr/>
        </p:nvSpPr>
        <p:spPr>
          <a:xfrm>
            <a:off x="6286500" y="3333750"/>
            <a:ext cx="521970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准确转述要保留限定条件：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原文可定位，遗漏可判定；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论文、模型与输出预算可比较。</a:t>
            </a:r>
          </a:p>
        </p:txBody>
      </p:sp>
      <p:sp>
        <p:nvSpPr>
          <p:cNvPr id="12" name="artifact-1">
            <a:extLst>
              <a:ext uri="{FF2B5EF4-FFF2-40B4-BE49-F238E27FC236}">
                <a16:creationId xmlns:a16="http://schemas.microsoft.com/office/drawing/2014/main" id="{39316489-493D-4D07-B6EE-D1744BC1D82C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52197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1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产物：必要条件与约束清单</a:t>
            </a:r>
          </a:p>
        </p:txBody>
      </p:sp>
      <p:sp>
        <p:nvSpPr>
          <p:cNvPr id="13" name="transition">
            <a:extLst>
              <a:ext uri="{FF2B5EF4-FFF2-40B4-BE49-F238E27FC236}">
                <a16:creationId xmlns:a16="http://schemas.microsoft.com/office/drawing/2014/main" id="{447A2836-3C7B-4C87-84C3-85D9EA348EBA}"/>
              </a:ext>
            </a:extLst>
          </p:cNvPr>
          <p:cNvSpPr>
            <a:spLocks noGrp="1"/>
          </p:cNvSpPr>
          <p:nvPr/>
        </p:nvSpPr>
        <p:spPr>
          <a:xfrm>
            <a:off x="609600" y="58959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必要条件说明怎样检验；有效性仍需观察。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B11E34-26CE-44F0-B28F-0F09D82DDCED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3–4：机制假设与外部输入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ACF26-6AA2-44C1-83DF-B1E2A5F2749E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case">
            <a:extLst>
              <a:ext uri="{FF2B5EF4-FFF2-40B4-BE49-F238E27FC236}">
                <a16:creationId xmlns:a16="http://schemas.microsoft.com/office/drawing/2014/main" id="{7194A8D1-08D1-46BE-AC5D-3881A6A99E1E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19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同一阅读卡案例｜解释为什么可能有效，寻找检查依据</a:t>
            </a:r>
          </a:p>
        </p:txBody>
      </p:sp>
      <p:sp>
        <p:nvSpPr>
          <p:cNvPr id="5" name="stage-0">
            <a:extLst>
              <a:ext uri="{FF2B5EF4-FFF2-40B4-BE49-F238E27FC236}">
                <a16:creationId xmlns:a16="http://schemas.microsoft.com/office/drawing/2014/main" id="{906BAB96-9AA8-43B2-9D8B-E2FF216B291E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03  机制假设</a:t>
            </a:r>
          </a:p>
        </p:txBody>
      </p:sp>
      <p:sp>
        <p:nvSpPr>
          <p:cNvPr id="6" name="definition-0">
            <a:extLst>
              <a:ext uri="{FF2B5EF4-FFF2-40B4-BE49-F238E27FC236}">
                <a16:creationId xmlns:a16="http://schemas.microsoft.com/office/drawing/2014/main" id="{290CBBAB-7240-40A6-9BC2-445B32A909D9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2197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提出结果可能发生的中间过程。</a:t>
            </a:r>
          </a:p>
        </p:txBody>
      </p:sp>
      <p:sp>
        <p:nvSpPr>
          <p:cNvPr id="7" name="example-0">
            <a:extLst>
              <a:ext uri="{FF2B5EF4-FFF2-40B4-BE49-F238E27FC236}">
                <a16:creationId xmlns:a16="http://schemas.microsoft.com/office/drawing/2014/main" id="{B00EBE41-EEC9-448E-83B5-BFC876CD8A93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521970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显式提取限定条件，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可能使生成内容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保留更多条件。</a:t>
            </a:r>
          </a:p>
        </p:txBody>
      </p:sp>
      <p:sp>
        <p:nvSpPr>
          <p:cNvPr id="8" name="artifact-0">
            <a:extLst>
              <a:ext uri="{FF2B5EF4-FFF2-40B4-BE49-F238E27FC236}">
                <a16:creationId xmlns:a16="http://schemas.microsoft.com/office/drawing/2014/main" id="{9D26DBE3-071D-4D41-B3ED-194D3A8C1340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52197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1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产物：候选机制与待检验预测</a:t>
            </a:r>
          </a:p>
        </p:txBody>
      </p:sp>
      <p:sp>
        <p:nvSpPr>
          <p:cNvPr id="9" name="stage-1">
            <a:extLst>
              <a:ext uri="{FF2B5EF4-FFF2-40B4-BE49-F238E27FC236}">
                <a16:creationId xmlns:a16="http://schemas.microsoft.com/office/drawing/2014/main" id="{49A66D10-AA72-449D-99AF-4A03673DD3AD}"/>
              </a:ext>
            </a:extLst>
          </p:cNvPr>
          <p:cNvSpPr>
            <a:spLocks noGrp="1"/>
          </p:cNvSpPr>
          <p:nvPr/>
        </p:nvSpPr>
        <p:spPr>
          <a:xfrm>
            <a:off x="6286500" y="172402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04  外部输入摄取</a:t>
            </a:r>
          </a:p>
        </p:txBody>
      </p:sp>
      <p:sp>
        <p:nvSpPr>
          <p:cNvPr id="10" name="definition-1">
            <a:extLst>
              <a:ext uri="{FF2B5EF4-FFF2-40B4-BE49-F238E27FC236}">
                <a16:creationId xmlns:a16="http://schemas.microsoft.com/office/drawing/2014/main" id="{574CC97E-B19F-4661-A980-A7BE30FCE57F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52197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寻找、记录并核验相关外部材料。</a:t>
            </a:r>
          </a:p>
        </p:txBody>
      </p:sp>
      <p:sp>
        <p:nvSpPr>
          <p:cNvPr id="11" name="example-1">
            <a:extLst>
              <a:ext uri="{FF2B5EF4-FFF2-40B4-BE49-F238E27FC236}">
                <a16:creationId xmlns:a16="http://schemas.microsoft.com/office/drawing/2014/main" id="{BF5ADDC0-FD8A-4607-9D5C-C1254DB09E87}"/>
              </a:ext>
            </a:extLst>
          </p:cNvPr>
          <p:cNvSpPr>
            <a:spLocks noGrp="1"/>
          </p:cNvSpPr>
          <p:nvPr/>
        </p:nvSpPr>
        <p:spPr>
          <a:xfrm>
            <a:off x="6286500" y="3333750"/>
            <a:ext cx="521970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论文原文定位条件；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已有阅读方法提供比较依据；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错误样例暴露可能的失效情形。</a:t>
            </a:r>
          </a:p>
        </p:txBody>
      </p:sp>
      <p:sp>
        <p:nvSpPr>
          <p:cNvPr id="12" name="artifact-1">
            <a:extLst>
              <a:ext uri="{FF2B5EF4-FFF2-40B4-BE49-F238E27FC236}">
                <a16:creationId xmlns:a16="http://schemas.microsoft.com/office/drawing/2014/main" id="{66DAB8EC-08D9-4927-BBBE-E61FCD557AC6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52197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1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产物：带出处与核验状态的材料</a:t>
            </a:r>
          </a:p>
        </p:txBody>
      </p:sp>
      <p:sp>
        <p:nvSpPr>
          <p:cNvPr id="13" name="transition">
            <a:extLst>
              <a:ext uri="{FF2B5EF4-FFF2-40B4-BE49-F238E27FC236}">
                <a16:creationId xmlns:a16="http://schemas.microsoft.com/office/drawing/2014/main" id="{118DD2F0-3A41-4F61-BADA-1C0B661486B9}"/>
              </a:ext>
            </a:extLst>
          </p:cNvPr>
          <p:cNvSpPr>
            <a:spLocks noGrp="1"/>
          </p:cNvSpPr>
          <p:nvPr/>
        </p:nvSpPr>
        <p:spPr>
          <a:xfrm>
            <a:off x="609600" y="58959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新材料可能改变问题或候选机制。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D33EDB-B3C1-4BEB-BF69-5AFF52899292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5–6：证据整理与研究判断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60FE0-C9F3-402B-9146-C4F6943C410E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case">
            <a:extLst>
              <a:ext uri="{FF2B5EF4-FFF2-40B4-BE49-F238E27FC236}">
                <a16:creationId xmlns:a16="http://schemas.microsoft.com/office/drawing/2014/main" id="{B708C965-E0CE-4BEF-BAE1-37771F29D649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19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同一阅读卡案例｜后续研究计划，尚未执行效果实验</a:t>
            </a:r>
          </a:p>
        </p:txBody>
      </p:sp>
      <p:sp>
        <p:nvSpPr>
          <p:cNvPr id="5" name="stage-0">
            <a:extLst>
              <a:ext uri="{FF2B5EF4-FFF2-40B4-BE49-F238E27FC236}">
                <a16:creationId xmlns:a16="http://schemas.microsoft.com/office/drawing/2014/main" id="{F4377543-131C-46D1-B4DB-C6374AB516E0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05  证据整理</a:t>
            </a:r>
          </a:p>
        </p:txBody>
      </p:sp>
      <p:sp>
        <p:nvSpPr>
          <p:cNvPr id="6" name="definition-0">
            <a:extLst>
              <a:ext uri="{FF2B5EF4-FFF2-40B4-BE49-F238E27FC236}">
                <a16:creationId xmlns:a16="http://schemas.microsoft.com/office/drawing/2014/main" id="{76A34761-2025-4A32-8004-B8982C1E516F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2197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把材料与主张、假设和缺口对应。</a:t>
            </a:r>
          </a:p>
        </p:txBody>
      </p:sp>
      <p:sp>
        <p:nvSpPr>
          <p:cNvPr id="7" name="example-0">
            <a:extLst>
              <a:ext uri="{FF2B5EF4-FFF2-40B4-BE49-F238E27FC236}">
                <a16:creationId xmlns:a16="http://schemas.microsoft.com/office/drawing/2014/main" id="{062F7A3B-C6F5-4FCB-8814-6ECE5E23154A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521970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原文与生成片段对照，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定位条件是否遗漏；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记录支持、冲突和未决项。</a:t>
            </a:r>
          </a:p>
        </p:txBody>
      </p:sp>
      <p:sp>
        <p:nvSpPr>
          <p:cNvPr id="8" name="artifact-0">
            <a:extLst>
              <a:ext uri="{FF2B5EF4-FFF2-40B4-BE49-F238E27FC236}">
                <a16:creationId xmlns:a16="http://schemas.microsoft.com/office/drawing/2014/main" id="{6C4BC053-37E3-4FB0-A66C-4923B2A202F4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52197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1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产物：主张与证据的对应记录</a:t>
            </a:r>
          </a:p>
        </p:txBody>
      </p:sp>
      <p:sp>
        <p:nvSpPr>
          <p:cNvPr id="9" name="stage-1">
            <a:extLst>
              <a:ext uri="{FF2B5EF4-FFF2-40B4-BE49-F238E27FC236}">
                <a16:creationId xmlns:a16="http://schemas.microsoft.com/office/drawing/2014/main" id="{835BA99D-4B09-4790-98B1-2602DAB2038C}"/>
              </a:ext>
            </a:extLst>
          </p:cNvPr>
          <p:cNvSpPr>
            <a:spLocks noGrp="1"/>
          </p:cNvSpPr>
          <p:nvPr/>
        </p:nvSpPr>
        <p:spPr>
          <a:xfrm>
            <a:off x="6286500" y="172402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06  研究判断</a:t>
            </a:r>
          </a:p>
        </p:txBody>
      </p:sp>
      <p:sp>
        <p:nvSpPr>
          <p:cNvPr id="10" name="definition-1">
            <a:extLst>
              <a:ext uri="{FF2B5EF4-FFF2-40B4-BE49-F238E27FC236}">
                <a16:creationId xmlns:a16="http://schemas.microsoft.com/office/drawing/2014/main" id="{7EB83614-3E3F-4C3A-8CA1-3F92F6C62773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52197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从证据到行动作出有理由的取舍。</a:t>
            </a:r>
          </a:p>
        </p:txBody>
      </p:sp>
      <p:sp>
        <p:nvSpPr>
          <p:cNvPr id="11" name="example-1">
            <a:extLst>
              <a:ext uri="{FF2B5EF4-FFF2-40B4-BE49-F238E27FC236}">
                <a16:creationId xmlns:a16="http://schemas.microsoft.com/office/drawing/2014/main" id="{D951A2BD-A63F-416B-BECC-0E94EE9DEFAA}"/>
              </a:ext>
            </a:extLst>
          </p:cNvPr>
          <p:cNvSpPr>
            <a:spLocks noGrp="1"/>
          </p:cNvSpPr>
          <p:nvPr/>
        </p:nvSpPr>
        <p:spPr>
          <a:xfrm>
            <a:off x="6286500" y="3333750"/>
            <a:ext cx="521970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采用限定条件遗漏率，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因其对应研究问题；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以同论文、同模型的自由摘要作对照；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人工标注一致性仍待检验。</a:t>
            </a:r>
          </a:p>
        </p:txBody>
      </p:sp>
      <p:sp>
        <p:nvSpPr>
          <p:cNvPr id="12" name="artifact-1">
            <a:extLst>
              <a:ext uri="{FF2B5EF4-FFF2-40B4-BE49-F238E27FC236}">
                <a16:creationId xmlns:a16="http://schemas.microsoft.com/office/drawing/2014/main" id="{41D4F3D2-6CE3-4705-8F20-FE17C15AC8C4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52197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1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产物：判断记录与对照方案</a:t>
            </a:r>
          </a:p>
        </p:txBody>
      </p:sp>
      <p:sp>
        <p:nvSpPr>
          <p:cNvPr id="13" name="transition">
            <a:extLst>
              <a:ext uri="{FF2B5EF4-FFF2-40B4-BE49-F238E27FC236}">
                <a16:creationId xmlns:a16="http://schemas.microsoft.com/office/drawing/2014/main" id="{8F54F0BA-915F-49B4-AD66-0BEDEDAC2B6A}"/>
              </a:ext>
            </a:extLst>
          </p:cNvPr>
          <p:cNvSpPr>
            <a:spLocks noGrp="1"/>
          </p:cNvSpPr>
          <p:nvPr/>
        </p:nvSpPr>
        <p:spPr>
          <a:xfrm>
            <a:off x="609600" y="58959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判断贯穿全程；本阶段集中形成有依据的方案。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6936BF-BA09-49B8-B71A-1A9E561F7E40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7–8：原型验证与回写表达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6AF32-899B-44B2-AB29-AF9DF6AF6326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case">
            <a:extLst>
              <a:ext uri="{FF2B5EF4-FFF2-40B4-BE49-F238E27FC236}">
                <a16:creationId xmlns:a16="http://schemas.microsoft.com/office/drawing/2014/main" id="{CF25B296-23D1-4BFE-A402-252AFFE26805}"/>
              </a:ext>
            </a:extLst>
          </p:cNvPr>
          <p:cNvSpPr>
            <a:spLocks noGrp="1"/>
          </p:cNvSpPr>
          <p:nvPr/>
        </p:nvSpPr>
        <p:spPr>
          <a:xfrm>
            <a:off x="609600" y="10096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19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同一阅读卡案例｜后续研究计划，尚未执行效果实验</a:t>
            </a:r>
          </a:p>
        </p:txBody>
      </p:sp>
      <p:sp>
        <p:nvSpPr>
          <p:cNvPr id="5" name="stage-0">
            <a:extLst>
              <a:ext uri="{FF2B5EF4-FFF2-40B4-BE49-F238E27FC236}">
                <a16:creationId xmlns:a16="http://schemas.microsoft.com/office/drawing/2014/main" id="{DA72FB6A-A171-4541-B480-DBC76F209D31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07  原型验证</a:t>
            </a:r>
          </a:p>
        </p:txBody>
      </p:sp>
      <p:sp>
        <p:nvSpPr>
          <p:cNvPr id="6" name="definition-0">
            <a:extLst>
              <a:ext uri="{FF2B5EF4-FFF2-40B4-BE49-F238E27FC236}">
                <a16:creationId xmlns:a16="http://schemas.microsoft.com/office/drawing/2014/main" id="{64B5B80F-8AAF-4D20-B413-4CBAFE976DF5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2197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执行能够改变研究判断的最小检验。</a:t>
            </a:r>
          </a:p>
        </p:txBody>
      </p:sp>
      <p:sp>
        <p:nvSpPr>
          <p:cNvPr id="7" name="example-0">
            <a:extLst>
              <a:ext uri="{FF2B5EF4-FFF2-40B4-BE49-F238E27FC236}">
                <a16:creationId xmlns:a16="http://schemas.microsoft.com/office/drawing/2014/main" id="{52434FF4-53B9-4CA1-BB8C-1A8EB1ADDE6A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521970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按同一规格运行两种流程；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人工核验遗漏，比较结果；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保留配置、失败与成本。</a:t>
            </a:r>
          </a:p>
        </p:txBody>
      </p:sp>
      <p:sp>
        <p:nvSpPr>
          <p:cNvPr id="8" name="artifact-0">
            <a:extLst>
              <a:ext uri="{FF2B5EF4-FFF2-40B4-BE49-F238E27FC236}">
                <a16:creationId xmlns:a16="http://schemas.microsoft.com/office/drawing/2014/main" id="{C1B505D5-8078-4FF0-B9C1-B1B0E8EF199F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52197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1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产物：运行、标注与评价记录</a:t>
            </a:r>
          </a:p>
        </p:txBody>
      </p:sp>
      <p:sp>
        <p:nvSpPr>
          <p:cNvPr id="9" name="stage-1">
            <a:extLst>
              <a:ext uri="{FF2B5EF4-FFF2-40B4-BE49-F238E27FC236}">
                <a16:creationId xmlns:a16="http://schemas.microsoft.com/office/drawing/2014/main" id="{C6ADA4F6-EF1B-4916-A95E-4DEE002CB832}"/>
              </a:ext>
            </a:extLst>
          </p:cNvPr>
          <p:cNvSpPr>
            <a:spLocks noGrp="1"/>
          </p:cNvSpPr>
          <p:nvPr/>
        </p:nvSpPr>
        <p:spPr>
          <a:xfrm>
            <a:off x="6286500" y="1724025"/>
            <a:ext cx="52197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08  回写与表达</a:t>
            </a:r>
          </a:p>
        </p:txBody>
      </p:sp>
      <p:sp>
        <p:nvSpPr>
          <p:cNvPr id="10" name="definition-1">
            <a:extLst>
              <a:ext uri="{FF2B5EF4-FFF2-40B4-BE49-F238E27FC236}">
                <a16:creationId xmlns:a16="http://schemas.microsoft.com/office/drawing/2014/main" id="{5D16E3D3-7280-44C2-B197-C6DB4A6BE847}"/>
              </a:ext>
            </a:extLst>
          </p:cNvPr>
          <p:cNvSpPr>
            <a:spLocks noGrp="1"/>
          </p:cNvSpPr>
          <p:nvPr/>
        </p:nvSpPr>
        <p:spPr>
          <a:xfrm>
            <a:off x="6286500" y="2333625"/>
            <a:ext cx="52197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依据观察更新判断，并写出论证范围。</a:t>
            </a:r>
          </a:p>
        </p:txBody>
      </p:sp>
      <p:sp>
        <p:nvSpPr>
          <p:cNvPr id="11" name="example-1">
            <a:extLst>
              <a:ext uri="{FF2B5EF4-FFF2-40B4-BE49-F238E27FC236}">
                <a16:creationId xmlns:a16="http://schemas.microsoft.com/office/drawing/2014/main" id="{73EF5B71-7BE1-4940-B91A-C3DF93E93215}"/>
              </a:ext>
            </a:extLst>
          </p:cNvPr>
          <p:cNvSpPr>
            <a:spLocks noGrp="1"/>
          </p:cNvSpPr>
          <p:nvPr/>
        </p:nvSpPr>
        <p:spPr>
          <a:xfrm>
            <a:off x="6286500" y="3333750"/>
            <a:ext cx="5219700" cy="17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若未观察到遗漏减少，应记录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“本次结果不支持预期效果”；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追溯样本、证据与取舍，</a:t>
            </a:r>
          </a:p>
          <a:p>
            <a:pPr>
              <a:lnSpc>
                <a:spcPct val="118000"/>
              </a:lnSpc>
              <a:buNone/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保留未决问题。</a:t>
            </a:r>
          </a:p>
        </p:txBody>
      </p:sp>
      <p:sp>
        <p:nvSpPr>
          <p:cNvPr id="12" name="artifact-1">
            <a:extLst>
              <a:ext uri="{FF2B5EF4-FFF2-40B4-BE49-F238E27FC236}">
                <a16:creationId xmlns:a16="http://schemas.microsoft.com/office/drawing/2014/main" id="{7475246C-AFD8-48D4-BFE5-D591B44EEE19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52197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1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产物：更新的判断与受限结论</a:t>
            </a:r>
          </a:p>
        </p:txBody>
      </p:sp>
      <p:sp>
        <p:nvSpPr>
          <p:cNvPr id="13" name="transition">
            <a:extLst>
              <a:ext uri="{FF2B5EF4-FFF2-40B4-BE49-F238E27FC236}">
                <a16:creationId xmlns:a16="http://schemas.microsoft.com/office/drawing/2014/main" id="{1EC8A5F0-828F-44E1-A644-C4F08DA9EADE}"/>
              </a:ext>
            </a:extLst>
          </p:cNvPr>
          <p:cNvSpPr>
            <a:spLocks noGrp="1"/>
          </p:cNvSpPr>
          <p:nvPr/>
        </p:nvSpPr>
        <p:spPr>
          <a:xfrm>
            <a:off x="609600" y="58959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3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验证发现问题时，回到相关阶段修订。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E38FB5-F1FD-4534-8794-6D178ED5BA8B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四个研究门与回退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6F66B-8100-4939-B45B-91512A99F162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node-191">
            <a:extLst>
              <a:ext uri="{FF2B5EF4-FFF2-40B4-BE49-F238E27FC236}">
                <a16:creationId xmlns:a16="http://schemas.microsoft.com/office/drawing/2014/main" id="{3FA1C6C2-2987-4854-BAF6-EB17F96BE555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问题门</a:t>
            </a:r>
          </a:p>
        </p:txBody>
      </p:sp>
      <p:sp>
        <p:nvSpPr>
          <p:cNvPr id="5" name="node-192">
            <a:extLst>
              <a:ext uri="{FF2B5EF4-FFF2-40B4-BE49-F238E27FC236}">
                <a16:creationId xmlns:a16="http://schemas.microsoft.com/office/drawing/2014/main" id="{547A1BB1-780F-4752-A927-D0F34A6B7712}"/>
              </a:ext>
            </a:extLst>
          </p:cNvPr>
          <p:cNvSpPr>
            <a:spLocks noGrp="1"/>
          </p:cNvSpPr>
          <p:nvPr/>
        </p:nvSpPr>
        <p:spPr>
          <a:xfrm>
            <a:off x="3486150" y="22002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判断门</a:t>
            </a:r>
          </a:p>
        </p:txBody>
      </p:sp>
      <p:sp>
        <p:nvSpPr>
          <p:cNvPr id="6" name="node-193">
            <a:extLst>
              <a:ext uri="{FF2B5EF4-FFF2-40B4-BE49-F238E27FC236}">
                <a16:creationId xmlns:a16="http://schemas.microsoft.com/office/drawing/2014/main" id="{CCAD185E-429E-40BC-9252-2CA5D2BFB9BE}"/>
              </a:ext>
            </a:extLst>
          </p:cNvPr>
          <p:cNvSpPr>
            <a:spLocks noGrp="1"/>
          </p:cNvSpPr>
          <p:nvPr/>
        </p:nvSpPr>
        <p:spPr>
          <a:xfrm>
            <a:off x="6362700" y="22002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验证门</a:t>
            </a:r>
          </a:p>
        </p:txBody>
      </p:sp>
      <p:sp>
        <p:nvSpPr>
          <p:cNvPr id="7" name="node-194">
            <a:extLst>
              <a:ext uri="{FF2B5EF4-FFF2-40B4-BE49-F238E27FC236}">
                <a16:creationId xmlns:a16="http://schemas.microsoft.com/office/drawing/2014/main" id="{2A75330F-E9E0-4E4B-95E8-65445A5BBBAE}"/>
              </a:ext>
            </a:extLst>
          </p:cNvPr>
          <p:cNvSpPr>
            <a:spLocks noGrp="1"/>
          </p:cNvSpPr>
          <p:nvPr/>
        </p:nvSpPr>
        <p:spPr>
          <a:xfrm>
            <a:off x="9239250" y="22002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论证门</a:t>
            </a:r>
          </a:p>
        </p:txBody>
      </p:sp>
      <p:cxnSp>
        <p:nvCxnSpPr>
          <p:cNvPr id="49" name="edge-195"/>
          <p:cNvCxnSpPr>
            <a:stCxn id="4" idx="3"/>
            <a:endCxn id="5" idx="1"/>
          </p:cNvCxnSpPr>
          <p:nvPr/>
        </p:nvCxnSpPr>
        <p:spPr>
          <a:xfrm>
            <a:off x="2933700" y="256222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50" name="edge-196"/>
          <p:cNvCxnSpPr>
            <a:stCxn id="5" idx="3"/>
            <a:endCxn id="6" idx="1"/>
          </p:cNvCxnSpPr>
          <p:nvPr/>
        </p:nvCxnSpPr>
        <p:spPr>
          <a:xfrm>
            <a:off x="5810250" y="256222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51" name="edge-197"/>
          <p:cNvCxnSpPr>
            <a:stCxn id="6" idx="3"/>
            <a:endCxn id="7" idx="1"/>
          </p:cNvCxnSpPr>
          <p:nvPr/>
        </p:nvCxnSpPr>
        <p:spPr>
          <a:xfrm>
            <a:off x="8686800" y="256222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1" name="body-198">
            <a:extLst>
              <a:ext uri="{FF2B5EF4-FFF2-40B4-BE49-F238E27FC236}">
                <a16:creationId xmlns:a16="http://schemas.microsoft.com/office/drawing/2014/main" id="{1333D61F-249C-422F-BAE8-5E420E57A558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6 课</a:t>
            </a:r>
          </a:p>
        </p:txBody>
      </p:sp>
      <p:sp>
        <p:nvSpPr>
          <p:cNvPr id="12" name="body-199">
            <a:extLst>
              <a:ext uri="{FF2B5EF4-FFF2-40B4-BE49-F238E27FC236}">
                <a16:creationId xmlns:a16="http://schemas.microsoft.com/office/drawing/2014/main" id="{31348FBE-358A-404B-A836-EF39CE9723DF}"/>
              </a:ext>
            </a:extLst>
          </p:cNvPr>
          <p:cNvSpPr>
            <a:spLocks noGrp="1"/>
          </p:cNvSpPr>
          <p:nvPr/>
        </p:nvSpPr>
        <p:spPr>
          <a:xfrm>
            <a:off x="3486150" y="15335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9 课</a:t>
            </a:r>
          </a:p>
        </p:txBody>
      </p:sp>
      <p:sp>
        <p:nvSpPr>
          <p:cNvPr id="13" name="body-200">
            <a:extLst>
              <a:ext uri="{FF2B5EF4-FFF2-40B4-BE49-F238E27FC236}">
                <a16:creationId xmlns:a16="http://schemas.microsoft.com/office/drawing/2014/main" id="{23E45CCF-D733-4D2B-844B-BD7DA7E2374E}"/>
              </a:ext>
            </a:extLst>
          </p:cNvPr>
          <p:cNvSpPr>
            <a:spLocks noGrp="1"/>
          </p:cNvSpPr>
          <p:nvPr/>
        </p:nvSpPr>
        <p:spPr>
          <a:xfrm>
            <a:off x="6362700" y="15335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13 课</a:t>
            </a:r>
          </a:p>
        </p:txBody>
      </p:sp>
      <p:sp>
        <p:nvSpPr>
          <p:cNvPr id="14" name="body-201">
            <a:extLst>
              <a:ext uri="{FF2B5EF4-FFF2-40B4-BE49-F238E27FC236}">
                <a16:creationId xmlns:a16="http://schemas.microsoft.com/office/drawing/2014/main" id="{2B0147D3-DEC2-408B-A45C-CE7CAA74D771}"/>
              </a:ext>
            </a:extLst>
          </p:cNvPr>
          <p:cNvSpPr>
            <a:spLocks noGrp="1"/>
          </p:cNvSpPr>
          <p:nvPr/>
        </p:nvSpPr>
        <p:spPr>
          <a:xfrm>
            <a:off x="9239250" y="1533525"/>
            <a:ext cx="23241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16 课</a:t>
            </a:r>
          </a:p>
        </p:txBody>
      </p:sp>
      <p:sp>
        <p:nvSpPr>
          <p:cNvPr id="15" name="body-202">
            <a:extLst>
              <a:ext uri="{FF2B5EF4-FFF2-40B4-BE49-F238E27FC236}">
                <a16:creationId xmlns:a16="http://schemas.microsoft.com/office/drawing/2014/main" id="{F4FE98D9-5F3B-48DB-8722-2E914CF5BB89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23241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值得做，且可完成</a:t>
            </a:r>
          </a:p>
        </p:txBody>
      </p:sp>
      <p:sp>
        <p:nvSpPr>
          <p:cNvPr id="16" name="body-203">
            <a:extLst>
              <a:ext uri="{FF2B5EF4-FFF2-40B4-BE49-F238E27FC236}">
                <a16:creationId xmlns:a16="http://schemas.microsoft.com/office/drawing/2014/main" id="{471C3079-FE46-4113-A625-3F7E4B45EDC8}"/>
              </a:ext>
            </a:extLst>
          </p:cNvPr>
          <p:cNvSpPr>
            <a:spLocks noGrp="1"/>
          </p:cNvSpPr>
          <p:nvPr/>
        </p:nvSpPr>
        <p:spPr>
          <a:xfrm>
            <a:off x="3486150" y="3343275"/>
            <a:ext cx="23241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方案能改变判断</a:t>
            </a:r>
          </a:p>
        </p:txBody>
      </p:sp>
      <p:sp>
        <p:nvSpPr>
          <p:cNvPr id="17" name="body-204">
            <a:extLst>
              <a:ext uri="{FF2B5EF4-FFF2-40B4-BE49-F238E27FC236}">
                <a16:creationId xmlns:a16="http://schemas.microsoft.com/office/drawing/2014/main" id="{1F70AAFC-4EF7-414C-91CC-0AD125FE6D17}"/>
              </a:ext>
            </a:extLst>
          </p:cNvPr>
          <p:cNvSpPr>
            <a:spLocks noGrp="1"/>
          </p:cNvSpPr>
          <p:nvPr/>
        </p:nvSpPr>
        <p:spPr>
          <a:xfrm>
            <a:off x="6362700" y="3343275"/>
            <a:ext cx="23241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结果与工作流</a:t>
            </a:r>
          </a:p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经过评价</a:t>
            </a:r>
          </a:p>
        </p:txBody>
      </p:sp>
      <p:sp>
        <p:nvSpPr>
          <p:cNvPr id="18" name="body-205">
            <a:extLst>
              <a:ext uri="{FF2B5EF4-FFF2-40B4-BE49-F238E27FC236}">
                <a16:creationId xmlns:a16="http://schemas.microsoft.com/office/drawing/2014/main" id="{4AACA089-6C2A-41D9-9996-845CFDFE6FE6}"/>
              </a:ext>
            </a:extLst>
          </p:cNvPr>
          <p:cNvSpPr>
            <a:spLocks noGrp="1"/>
          </p:cNvSpPr>
          <p:nvPr/>
        </p:nvSpPr>
        <p:spPr>
          <a:xfrm>
            <a:off x="9239250" y="3343275"/>
            <a:ext cx="23241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结论能够追溯</a:t>
            </a:r>
          </a:p>
        </p:txBody>
      </p:sp>
      <p:sp>
        <p:nvSpPr>
          <p:cNvPr id="19" name="node-206">
            <a:extLst>
              <a:ext uri="{FF2B5EF4-FFF2-40B4-BE49-F238E27FC236}">
                <a16:creationId xmlns:a16="http://schemas.microsoft.com/office/drawing/2014/main" id="{B82D19C5-FB77-4436-8470-343092A476A6}"/>
              </a:ext>
            </a:extLst>
          </p:cNvPr>
          <p:cNvSpPr>
            <a:spLocks noGrp="1"/>
          </p:cNvSpPr>
          <p:nvPr/>
        </p:nvSpPr>
        <p:spPr>
          <a:xfrm>
            <a:off x="8905875" y="4886325"/>
            <a:ext cx="2400300" cy="600075"/>
          </a:xfrm>
          <a:prstGeom prst="rect">
            <a:avLst/>
          </a:prstGeom>
          <a:noFill/>
          <a:ln w="14288">
            <a:solidFill>
              <a:srgbClr val="C8161E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未通过</a:t>
            </a:r>
          </a:p>
        </p:txBody>
      </p:sp>
      <p:sp>
        <p:nvSpPr>
          <p:cNvPr id="20" name="node-207">
            <a:extLst>
              <a:ext uri="{FF2B5EF4-FFF2-40B4-BE49-F238E27FC236}">
                <a16:creationId xmlns:a16="http://schemas.microsoft.com/office/drawing/2014/main" id="{AB43E68C-02D2-439C-833E-6D9ACAD3AFCB}"/>
              </a:ext>
            </a:extLst>
          </p:cNvPr>
          <p:cNvSpPr>
            <a:spLocks noGrp="1"/>
          </p:cNvSpPr>
          <p:nvPr/>
        </p:nvSpPr>
        <p:spPr>
          <a:xfrm>
            <a:off x="819150" y="4886325"/>
            <a:ext cx="3867150" cy="600075"/>
          </a:xfrm>
          <a:prstGeom prst="rect">
            <a:avLst/>
          </a:prstGeom>
          <a:noFill/>
          <a:ln w="14288">
            <a:solidFill>
              <a:srgbClr val="C8161E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回到相关阶段补证据</a:t>
            </a:r>
          </a:p>
        </p:txBody>
      </p:sp>
      <p:cxnSp>
        <p:nvCxnSpPr>
          <p:cNvPr id="62" name="edge-208"/>
          <p:cNvCxnSpPr>
            <a:stCxn id="19" idx="1"/>
            <a:endCxn id="20" idx="3"/>
          </p:cNvCxnSpPr>
          <p:nvPr/>
        </p:nvCxnSpPr>
        <p:spPr>
          <a:xfrm flipH="1">
            <a:off x="4686300" y="5186363"/>
            <a:ext cx="4219575" cy="0"/>
          </a:xfrm>
          <a:prstGeom prst="straightConnector1">
            <a:avLst/>
          </a:prstGeom>
          <a:ln w="19050">
            <a:solidFill>
              <a:srgbClr val="C8161E"/>
            </a:solidFill>
            <a:prstDash val="solid"/>
            <a:tailEnd type="triangle" w="sm" len="sm"/>
          </a:ln>
        </p:spPr>
      </p:cxnSp>
      <p:sp>
        <p:nvSpPr>
          <p:cNvPr id="22" name="body-209">
            <a:extLst>
              <a:ext uri="{FF2B5EF4-FFF2-40B4-BE49-F238E27FC236}">
                <a16:creationId xmlns:a16="http://schemas.microsoft.com/office/drawing/2014/main" id="{558C4E5C-D224-4DF8-A5CF-083C3882D8AE}"/>
              </a:ext>
            </a:extLst>
          </p:cNvPr>
          <p:cNvSpPr>
            <a:spLocks noGrp="1"/>
          </p:cNvSpPr>
          <p:nvPr/>
        </p:nvSpPr>
        <p:spPr>
          <a:xfrm>
            <a:off x="4924425" y="4410075"/>
            <a:ext cx="36766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同一个人项目逐次推进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6936BF-BA09-49B8-B71A-1A9E561F7E40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同一主张，先补哪一个缺口？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6AF32-899B-44B2-AB29-AF9DF6AF6326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claim">
            <a:extLst>
              <a:ext uri="{FF2B5EF4-FFF2-40B4-BE49-F238E27FC236}">
                <a16:creationId xmlns:a16="http://schemas.microsoft.com/office/drawing/2014/main" id="{B5990442-E5E6-4D41-97F5-64F9F5C5737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3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“阅读卡能消除摘要遗漏。”</a:t>
            </a:r>
          </a:p>
        </p:txBody>
      </p:sp>
      <p:sp>
        <p:nvSpPr>
          <p:cNvPr id="5" name="gap-0">
            <a:extLst>
              <a:ext uri="{FF2B5EF4-FFF2-40B4-BE49-F238E27FC236}">
                <a16:creationId xmlns:a16="http://schemas.microsoft.com/office/drawing/2014/main" id="{CC8C76A5-AB21-4EBF-A799-CFE68F06A2F2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33623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对象不清</a:t>
            </a:r>
          </a:p>
        </p:txBody>
      </p:sp>
      <p:sp>
        <p:nvSpPr>
          <p:cNvPr id="6" name="gap-question-0">
            <a:extLst>
              <a:ext uri="{FF2B5EF4-FFF2-40B4-BE49-F238E27FC236}">
                <a16:creationId xmlns:a16="http://schemas.microsoft.com/office/drawing/2014/main" id="{C23AA25A-1EFD-4950-9337-D75DBA971FCD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33623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哪些论文、与什么比？</a:t>
            </a:r>
          </a:p>
        </p:txBody>
      </p:sp>
      <p:sp>
        <p:nvSpPr>
          <p:cNvPr id="7" name="gap-1">
            <a:extLst>
              <a:ext uri="{FF2B5EF4-FFF2-40B4-BE49-F238E27FC236}">
                <a16:creationId xmlns:a16="http://schemas.microsoft.com/office/drawing/2014/main" id="{86E2EB42-724C-4B0C-B3C9-437CC4DB4251}"/>
              </a:ext>
            </a:extLst>
          </p:cNvPr>
          <p:cNvSpPr>
            <a:spLocks noGrp="1"/>
          </p:cNvSpPr>
          <p:nvPr/>
        </p:nvSpPr>
        <p:spPr>
          <a:xfrm>
            <a:off x="4438650" y="3114675"/>
            <a:ext cx="33623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定义未明</a:t>
            </a:r>
          </a:p>
        </p:txBody>
      </p:sp>
      <p:sp>
        <p:nvSpPr>
          <p:cNvPr id="8" name="gap-question-1">
            <a:extLst>
              <a:ext uri="{FF2B5EF4-FFF2-40B4-BE49-F238E27FC236}">
                <a16:creationId xmlns:a16="http://schemas.microsoft.com/office/drawing/2014/main" id="{FC1830A8-781B-48CE-A65F-EA8B855829AD}"/>
              </a:ext>
            </a:extLst>
          </p:cNvPr>
          <p:cNvSpPr>
            <a:spLocks noGrp="1"/>
          </p:cNvSpPr>
          <p:nvPr/>
        </p:nvSpPr>
        <p:spPr>
          <a:xfrm>
            <a:off x="4438650" y="3867150"/>
            <a:ext cx="33623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“遗漏”怎样判定？</a:t>
            </a:r>
          </a:p>
        </p:txBody>
      </p:sp>
      <p:sp>
        <p:nvSpPr>
          <p:cNvPr id="9" name="gap-2">
            <a:extLst>
              <a:ext uri="{FF2B5EF4-FFF2-40B4-BE49-F238E27FC236}">
                <a16:creationId xmlns:a16="http://schemas.microsoft.com/office/drawing/2014/main" id="{7BBFB7F6-8CF3-4A8F-BB30-9F835C9BC9B3}"/>
              </a:ext>
            </a:extLst>
          </p:cNvPr>
          <p:cNvSpPr>
            <a:spLocks noGrp="1"/>
          </p:cNvSpPr>
          <p:nvPr/>
        </p:nvSpPr>
        <p:spPr>
          <a:xfrm>
            <a:off x="8267700" y="3114675"/>
            <a:ext cx="33623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效果待验</a:t>
            </a:r>
          </a:p>
        </p:txBody>
      </p:sp>
      <p:sp>
        <p:nvSpPr>
          <p:cNvPr id="10" name="gap-question-2">
            <a:extLst>
              <a:ext uri="{FF2B5EF4-FFF2-40B4-BE49-F238E27FC236}">
                <a16:creationId xmlns:a16="http://schemas.microsoft.com/office/drawing/2014/main" id="{FD6BF9BA-E9FC-4790-8FBB-DCA410B1C84C}"/>
              </a:ext>
            </a:extLst>
          </p:cNvPr>
          <p:cNvSpPr>
            <a:spLocks noGrp="1"/>
          </p:cNvSpPr>
          <p:nvPr/>
        </p:nvSpPr>
        <p:spPr>
          <a:xfrm>
            <a:off x="8267700" y="3867150"/>
            <a:ext cx="33623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实际对照结果在哪里？</a:t>
            </a:r>
          </a:p>
        </p:txBody>
      </p:sp>
      <p:sp>
        <p:nvSpPr>
          <p:cNvPr id="11" name="current-step">
            <a:extLst>
              <a:ext uri="{FF2B5EF4-FFF2-40B4-BE49-F238E27FC236}">
                <a16:creationId xmlns:a16="http://schemas.microsoft.com/office/drawing/2014/main" id="{DF787EAA-8AC4-451B-BA88-0499B90BAA24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5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今天先回到阶段 1：把主张改成可检验问题。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67790E-3062-40DD-B17D-55D38A3B6C58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现场演示：一次建议如何变成修改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DDD424-FD53-405A-90A1-2D122DCA7C61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body-226">
            <a:extLst>
              <a:ext uri="{FF2B5EF4-FFF2-40B4-BE49-F238E27FC236}">
                <a16:creationId xmlns:a16="http://schemas.microsoft.com/office/drawing/2014/main" id="{E78E6F35-2378-4B4E-8669-906FEAE09BE4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助教操作；教师主持判断；学生观察</a:t>
            </a:r>
          </a:p>
        </p:txBody>
      </p:sp>
      <p:sp>
        <p:nvSpPr>
          <p:cNvPr id="5" name="body-227">
            <a:extLst>
              <a:ext uri="{FF2B5EF4-FFF2-40B4-BE49-F238E27FC236}">
                <a16:creationId xmlns:a16="http://schemas.microsoft.com/office/drawing/2014/main" id="{936CBC2B-FEF4-4054-8EBB-85CF7EC70C4D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阶段 1：收窄同一个阅读卡问题</a:t>
            </a:r>
          </a:p>
        </p:txBody>
      </p:sp>
      <p:sp>
        <p:nvSpPr>
          <p:cNvPr id="6" name="node-228">
            <a:extLst>
              <a:ext uri="{FF2B5EF4-FFF2-40B4-BE49-F238E27FC236}">
                <a16:creationId xmlns:a16="http://schemas.microsoft.com/office/drawing/2014/main" id="{822CCF8B-1BC0-4989-A9D3-6AE8907189B8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只读建议</a:t>
            </a:r>
          </a:p>
        </p:txBody>
      </p:sp>
      <p:sp>
        <p:nvSpPr>
          <p:cNvPr id="7" name="node-229">
            <a:extLst>
              <a:ext uri="{FF2B5EF4-FFF2-40B4-BE49-F238E27FC236}">
                <a16:creationId xmlns:a16="http://schemas.microsoft.com/office/drawing/2014/main" id="{BDE9667A-FE21-4DED-9196-A4728110A108}"/>
              </a:ext>
            </a:extLst>
          </p:cNvPr>
          <p:cNvSpPr>
            <a:spLocks noGrp="1"/>
          </p:cNvSpPr>
          <p:nvPr/>
        </p:nvSpPr>
        <p:spPr>
          <a:xfrm>
            <a:off x="3486150" y="2971800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研究者审核</a:t>
            </a:r>
          </a:p>
        </p:txBody>
      </p:sp>
      <p:sp>
        <p:nvSpPr>
          <p:cNvPr id="8" name="node-230">
            <a:extLst>
              <a:ext uri="{FF2B5EF4-FFF2-40B4-BE49-F238E27FC236}">
                <a16:creationId xmlns:a16="http://schemas.microsoft.com/office/drawing/2014/main" id="{41123764-5767-455A-8862-7189048B3DC4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有限写回</a:t>
            </a:r>
          </a:p>
        </p:txBody>
      </p:sp>
      <p:sp>
        <p:nvSpPr>
          <p:cNvPr id="9" name="node-231">
            <a:extLst>
              <a:ext uri="{FF2B5EF4-FFF2-40B4-BE49-F238E27FC236}">
                <a16:creationId xmlns:a16="http://schemas.microsoft.com/office/drawing/2014/main" id="{0A2F2C30-F996-4C67-BEBA-B74069296EAE}"/>
              </a:ext>
            </a:extLst>
          </p:cNvPr>
          <p:cNvSpPr>
            <a:spLocks noGrp="1"/>
          </p:cNvSpPr>
          <p:nvPr/>
        </p:nvSpPr>
        <p:spPr>
          <a:xfrm>
            <a:off x="9239250" y="2971800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diff 与日志</a:t>
            </a:r>
          </a:p>
        </p:txBody>
      </p:sp>
      <p:cxnSp>
        <p:nvCxnSpPr>
          <p:cNvPr id="48" name="edge-232"/>
          <p:cNvCxnSpPr>
            <a:stCxn id="6" idx="3"/>
            <a:endCxn id="7" idx="1"/>
          </p:cNvCxnSpPr>
          <p:nvPr/>
        </p:nvCxnSpPr>
        <p:spPr>
          <a:xfrm>
            <a:off x="2933700" y="3333750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49" name="edge-233"/>
          <p:cNvCxnSpPr>
            <a:stCxn id="7" idx="3"/>
            <a:endCxn id="8" idx="1"/>
          </p:cNvCxnSpPr>
          <p:nvPr/>
        </p:nvCxnSpPr>
        <p:spPr>
          <a:xfrm>
            <a:off x="5810250" y="3333750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50" name="edge-234"/>
          <p:cNvCxnSpPr>
            <a:stCxn id="8" idx="3"/>
            <a:endCxn id="9" idx="1"/>
          </p:cNvCxnSpPr>
          <p:nvPr/>
        </p:nvCxnSpPr>
        <p:spPr>
          <a:xfrm>
            <a:off x="8686800" y="3333750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3" name="body-235">
            <a:extLst>
              <a:ext uri="{FF2B5EF4-FFF2-40B4-BE49-F238E27FC236}">
                <a16:creationId xmlns:a16="http://schemas.microsoft.com/office/drawing/2014/main" id="{12E06AF6-F8B8-4D10-AB8E-9FD8CBC332C5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23241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先提出三条建议</a:t>
            </a:r>
          </a:p>
        </p:txBody>
      </p:sp>
      <p:sp>
        <p:nvSpPr>
          <p:cNvPr id="14" name="body-236">
            <a:extLst>
              <a:ext uri="{FF2B5EF4-FFF2-40B4-BE49-F238E27FC236}">
                <a16:creationId xmlns:a16="http://schemas.microsoft.com/office/drawing/2014/main" id="{3F82A5B6-B035-4EB1-AD6B-AB631F1D36C5}"/>
              </a:ext>
            </a:extLst>
          </p:cNvPr>
          <p:cNvSpPr>
            <a:spLocks noGrp="1"/>
          </p:cNvSpPr>
          <p:nvPr/>
        </p:nvSpPr>
        <p:spPr>
          <a:xfrm>
            <a:off x="3486150" y="4114800"/>
            <a:ext cx="23241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采纳、修改或拒绝</a:t>
            </a:r>
          </a:p>
        </p:txBody>
      </p:sp>
      <p:sp>
        <p:nvSpPr>
          <p:cNvPr id="15" name="body-237">
            <a:extLst>
              <a:ext uri="{FF2B5EF4-FFF2-40B4-BE49-F238E27FC236}">
                <a16:creationId xmlns:a16="http://schemas.microsoft.com/office/drawing/2014/main" id="{A6F997DB-0FF8-470D-B92B-D5B2C8C3B086}"/>
              </a:ext>
            </a:extLst>
          </p:cNvPr>
          <p:cNvSpPr>
            <a:spLocks noGrp="1"/>
          </p:cNvSpPr>
          <p:nvPr/>
        </p:nvSpPr>
        <p:spPr>
          <a:xfrm>
            <a:off x="6362700" y="4114800"/>
            <a:ext cx="23241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只改“当前问题”段</a:t>
            </a:r>
          </a:p>
        </p:txBody>
      </p:sp>
      <p:sp>
        <p:nvSpPr>
          <p:cNvPr id="16" name="body-238">
            <a:extLst>
              <a:ext uri="{FF2B5EF4-FFF2-40B4-BE49-F238E27FC236}">
                <a16:creationId xmlns:a16="http://schemas.microsoft.com/office/drawing/2014/main" id="{01D167BC-BC9A-477E-8F32-728A18C1B514}"/>
              </a:ext>
            </a:extLst>
          </p:cNvPr>
          <p:cNvSpPr>
            <a:spLocks noGrp="1"/>
          </p:cNvSpPr>
          <p:nvPr/>
        </p:nvSpPr>
        <p:spPr>
          <a:xfrm>
            <a:off x="9239250" y="4114800"/>
            <a:ext cx="23241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人工核对后补记录</a:t>
            </a:r>
          </a:p>
        </p:txBody>
      </p:sp>
      <p:sp>
        <p:nvSpPr>
          <p:cNvPr id="17" name="body-239">
            <a:extLst>
              <a:ext uri="{FF2B5EF4-FFF2-40B4-BE49-F238E27FC236}">
                <a16:creationId xmlns:a16="http://schemas.microsoft.com/office/drawing/2014/main" id="{71005499-5A4E-4DF8-86B0-974475287675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第一轮应该开放哪些权限？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22D7C5-E0FF-4C1A-958D-C52C94F52157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第一轮：只读建议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AC6E2-2E3F-40F5-8D23-45CFE24DBD61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body-240">
            <a:extLst>
              <a:ext uri="{FF2B5EF4-FFF2-40B4-BE49-F238E27FC236}">
                <a16:creationId xmlns:a16="http://schemas.microsoft.com/office/drawing/2014/main" id="{12A78048-8C9A-4760-B241-91D082DFC135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现场演示 · 任务契约</a:t>
            </a:r>
          </a:p>
        </p:txBody>
      </p:sp>
      <p:sp>
        <p:nvSpPr>
          <p:cNvPr id="5" name="body-241">
            <a:extLst>
              <a:ext uri="{FF2B5EF4-FFF2-40B4-BE49-F238E27FC236}">
                <a16:creationId xmlns:a16="http://schemas.microsoft.com/office/drawing/2014/main" id="{4232DC38-3306-4A9F-A2F8-B9C55C048F32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73533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第一轮</a:t>
            </a:r>
          </a:p>
        </p:txBody>
      </p:sp>
      <p:sp>
        <p:nvSpPr>
          <p:cNvPr id="6" name="rule-242">
            <a:extLst>
              <a:ext uri="{FF2B5EF4-FFF2-40B4-BE49-F238E27FC236}">
                <a16:creationId xmlns:a16="http://schemas.microsoft.com/office/drawing/2014/main" id="{C20D8892-704A-43EE-B30F-5DD2906B5A14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7353300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sp>
        <p:nvSpPr>
          <p:cNvPr id="7" name="body-243">
            <a:extLst>
              <a:ext uri="{FF2B5EF4-FFF2-40B4-BE49-F238E27FC236}">
                <a16:creationId xmlns:a16="http://schemas.microsoft.com/office/drawing/2014/main" id="{06095717-A00B-4BCF-A565-84707F2B51F6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TASK    收窄研究问题中的一个概念</a:t>
            </a:r>
          </a:p>
        </p:txBody>
      </p:sp>
      <p:sp>
        <p:nvSpPr>
          <p:cNvPr id="8" name="body-244">
            <a:extLst>
              <a:ext uri="{FF2B5EF4-FFF2-40B4-BE49-F238E27FC236}">
                <a16:creationId xmlns:a16="http://schemas.microsoft.com/office/drawing/2014/main" id="{9F361086-A037-459D-ADED-99BFE9082236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READ    AGENTS.md</a:t>
            </a:r>
          </a:p>
        </p:txBody>
      </p:sp>
      <p:sp>
        <p:nvSpPr>
          <p:cNvPr id="9" name="body-245">
            <a:extLst>
              <a:ext uri="{FF2B5EF4-FFF2-40B4-BE49-F238E27FC236}">
                <a16:creationId xmlns:a16="http://schemas.microsoft.com/office/drawing/2014/main" id="{0F63294E-0D09-478A-A5ED-E010876ABA42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        problem-definition.md</a:t>
            </a:r>
          </a:p>
        </p:txBody>
      </p:sp>
      <p:sp>
        <p:nvSpPr>
          <p:cNvPr id="10" name="body-246">
            <a:extLst>
              <a:ext uri="{FF2B5EF4-FFF2-40B4-BE49-F238E27FC236}">
                <a16:creationId xmlns:a16="http://schemas.microsoft.com/office/drawing/2014/main" id="{C36184E4-73A2-4C8F-882A-4F4DBCE5A55F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WRITE   none</a:t>
            </a:r>
          </a:p>
        </p:txBody>
      </p:sp>
      <p:sp>
        <p:nvSpPr>
          <p:cNvPr id="11" name="body-247">
            <a:extLst>
              <a:ext uri="{FF2B5EF4-FFF2-40B4-BE49-F238E27FC236}">
                <a16:creationId xmlns:a16="http://schemas.microsoft.com/office/drawing/2014/main" id="{EA27241B-425A-4223-A7C8-3EF079D6768B}"/>
              </a:ext>
            </a:extLst>
          </p:cNvPr>
          <p:cNvSpPr>
            <a:spLocks noGrp="1"/>
          </p:cNvSpPr>
          <p:nvPr/>
        </p:nvSpPr>
        <p:spPr>
          <a:xfrm>
            <a:off x="742950" y="40767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NETWORK off</a:t>
            </a:r>
          </a:p>
        </p:txBody>
      </p:sp>
      <p:sp>
        <p:nvSpPr>
          <p:cNvPr id="12" name="body-248">
            <a:extLst>
              <a:ext uri="{FF2B5EF4-FFF2-40B4-BE49-F238E27FC236}">
                <a16:creationId xmlns:a16="http://schemas.microsoft.com/office/drawing/2014/main" id="{380E5D78-5ADF-4ADA-B654-FDFE8484DA3C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STOP    三条建议后等待确认</a:t>
            </a:r>
          </a:p>
        </p:txBody>
      </p:sp>
      <p:sp>
        <p:nvSpPr>
          <p:cNvPr id="13" name="body-249">
            <a:extLst>
              <a:ext uri="{FF2B5EF4-FFF2-40B4-BE49-F238E27FC236}">
                <a16:creationId xmlns:a16="http://schemas.microsoft.com/office/drawing/2014/main" id="{85675486-BAA6-4324-8CE5-CDFF5C45C8DE}"/>
              </a:ext>
            </a:extLst>
          </p:cNvPr>
          <p:cNvSpPr>
            <a:spLocks noGrp="1"/>
          </p:cNvSpPr>
          <p:nvPr/>
        </p:nvSpPr>
        <p:spPr>
          <a:xfrm>
            <a:off x="8696325" y="202882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预期输出</a:t>
            </a:r>
          </a:p>
        </p:txBody>
      </p:sp>
      <p:sp>
        <p:nvSpPr>
          <p:cNvPr id="14" name="body-250">
            <a:extLst>
              <a:ext uri="{FF2B5EF4-FFF2-40B4-BE49-F238E27FC236}">
                <a16:creationId xmlns:a16="http://schemas.microsoft.com/office/drawing/2014/main" id="{C87DF701-C875-43A3-A551-7AECF4403F9A}"/>
              </a:ext>
            </a:extLst>
          </p:cNvPr>
          <p:cNvSpPr>
            <a:spLocks noGrp="1"/>
          </p:cNvSpPr>
          <p:nvPr/>
        </p:nvSpPr>
        <p:spPr>
          <a:xfrm>
            <a:off x="8696325" y="2771775"/>
            <a:ext cx="28575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三条建议</a:t>
            </a:r>
          </a:p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每条说明理由</a:t>
            </a:r>
          </a:p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等待研究者审核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706B95-11FA-4A92-85AA-0FC9BA3FA270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研究者审核建议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B33D2-7657-4122-A7AB-EA10C1836781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body-251">
            <a:extLst>
              <a:ext uri="{FF2B5EF4-FFF2-40B4-BE49-F238E27FC236}">
                <a16:creationId xmlns:a16="http://schemas.microsoft.com/office/drawing/2014/main" id="{38F94C64-0637-4814-AC1B-45A714DE17C8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现场演示 · 课堂构造的审核记录</a:t>
            </a:r>
          </a:p>
        </p:txBody>
      </p:sp>
      <p:sp>
        <p:nvSpPr>
          <p:cNvPr id="6" name="body-253">
            <a:extLst>
              <a:ext uri="{FF2B5EF4-FFF2-40B4-BE49-F238E27FC236}">
                <a16:creationId xmlns:a16="http://schemas.microsoft.com/office/drawing/2014/main" id="{E00EFECC-DA26-4BC0-A55F-5611400B7586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写回之前，先留下研究者的判断理由。</a:t>
            </a:r>
          </a:p>
        </p:txBody>
      </p:sp>
      <p:graphicFrame>
        <p:nvGraphicFramePr>
          <p:cNvPr id="7" name="native-table-252"/>
          <p:cNvGraphicFramePr/>
          <p:nvPr/>
        </p:nvGraphicFramePr>
        <p:xfrm>
          <a:off x="609600" y="1838325"/>
          <a:ext cx="10972800" cy="3343275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 建议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研究者的核对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决定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收窄到公开计算机论文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对象明确，现有材料可支持</a:t>
                      </a:r>
                    </a:p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课程内能够完成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采纳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追加敏感数据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材料尚未授权</a:t>
                      </a:r>
                    </a:p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超出当前研究范围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把预期收益写成结论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尚无实验记录</a:t>
                      </a:r>
                    </a:p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改成可检验的问题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改写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E3F8E1-41AB-4F06-ACFA-740760C460E6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第二轮：按获批范围写回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62016-D2B7-4D3E-9CF2-C081C2AD67E9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body-254">
            <a:extLst>
              <a:ext uri="{FF2B5EF4-FFF2-40B4-BE49-F238E27FC236}">
                <a16:creationId xmlns:a16="http://schemas.microsoft.com/office/drawing/2014/main" id="{68E6AA7F-1629-4CBE-BAD8-BF7EA86E37DD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现场演示 · 任务契约</a:t>
            </a:r>
          </a:p>
        </p:txBody>
      </p:sp>
      <p:sp>
        <p:nvSpPr>
          <p:cNvPr id="5" name="body-255">
            <a:extLst>
              <a:ext uri="{FF2B5EF4-FFF2-40B4-BE49-F238E27FC236}">
                <a16:creationId xmlns:a16="http://schemas.microsoft.com/office/drawing/2014/main" id="{F5AC2FE0-1DA9-480F-A79C-FABF542705EC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73533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第二轮</a:t>
            </a:r>
          </a:p>
        </p:txBody>
      </p:sp>
      <p:sp>
        <p:nvSpPr>
          <p:cNvPr id="6" name="rule-256">
            <a:extLst>
              <a:ext uri="{FF2B5EF4-FFF2-40B4-BE49-F238E27FC236}">
                <a16:creationId xmlns:a16="http://schemas.microsoft.com/office/drawing/2014/main" id="{633381C0-961C-403A-9FA6-D2565A1A4917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7353300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sp>
        <p:nvSpPr>
          <p:cNvPr id="7" name="body-257">
            <a:extLst>
              <a:ext uri="{FF2B5EF4-FFF2-40B4-BE49-F238E27FC236}">
                <a16:creationId xmlns:a16="http://schemas.microsoft.com/office/drawing/2014/main" id="{3CA705C4-3E0F-4F88-9A6A-F91235C8D704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FILE    problem-definition.md</a:t>
            </a:r>
          </a:p>
        </p:txBody>
      </p:sp>
      <p:sp>
        <p:nvSpPr>
          <p:cNvPr id="8" name="body-258">
            <a:extLst>
              <a:ext uri="{FF2B5EF4-FFF2-40B4-BE49-F238E27FC236}">
                <a16:creationId xmlns:a16="http://schemas.microsoft.com/office/drawing/2014/main" id="{A00F78B7-FFD9-4C8C-A381-E0E5EEF2D20C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EDIT    只改“当前问题”段落</a:t>
            </a:r>
          </a:p>
        </p:txBody>
      </p:sp>
      <p:sp>
        <p:nvSpPr>
          <p:cNvPr id="9" name="body-259">
            <a:extLst>
              <a:ext uri="{FF2B5EF4-FFF2-40B4-BE49-F238E27FC236}">
                <a16:creationId xmlns:a16="http://schemas.microsoft.com/office/drawing/2014/main" id="{43B4F476-83C7-4BFC-AB8B-FAF47C41BAAB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KEEP    其他工件和已有研究判断</a:t>
            </a:r>
          </a:p>
        </p:txBody>
      </p:sp>
      <p:sp>
        <p:nvSpPr>
          <p:cNvPr id="10" name="body-260">
            <a:extLst>
              <a:ext uri="{FF2B5EF4-FFF2-40B4-BE49-F238E27FC236}">
                <a16:creationId xmlns:a16="http://schemas.microsoft.com/office/drawing/2014/main" id="{5C98944C-08B9-4C11-AD07-53E156BE162E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NETWORK off</a:t>
            </a:r>
          </a:p>
        </p:txBody>
      </p:sp>
      <p:sp>
        <p:nvSpPr>
          <p:cNvPr id="11" name="body-261">
            <a:extLst>
              <a:ext uri="{FF2B5EF4-FFF2-40B4-BE49-F238E27FC236}">
                <a16:creationId xmlns:a16="http://schemas.microsoft.com/office/drawing/2014/main" id="{F06D5CD6-C05B-414C-80B1-B3884DE0ECF9}"/>
              </a:ext>
            </a:extLst>
          </p:cNvPr>
          <p:cNvSpPr>
            <a:spLocks noGrp="1"/>
          </p:cNvSpPr>
          <p:nvPr/>
        </p:nvSpPr>
        <p:spPr>
          <a:xfrm>
            <a:off x="742950" y="4076700"/>
            <a:ext cx="70866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AFTER   展示实际 diff，等待核对</a:t>
            </a:r>
          </a:p>
        </p:txBody>
      </p:sp>
      <p:sp>
        <p:nvSpPr>
          <p:cNvPr id="12" name="body-262">
            <a:extLst>
              <a:ext uri="{FF2B5EF4-FFF2-40B4-BE49-F238E27FC236}">
                <a16:creationId xmlns:a16="http://schemas.microsoft.com/office/drawing/2014/main" id="{0E23377C-72C1-4DD1-A9CF-0BC0609D2220}"/>
              </a:ext>
            </a:extLst>
          </p:cNvPr>
          <p:cNvSpPr>
            <a:spLocks noGrp="1"/>
          </p:cNvSpPr>
          <p:nvPr/>
        </p:nvSpPr>
        <p:spPr>
          <a:xfrm>
            <a:off x="8696325" y="2028825"/>
            <a:ext cx="28860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本轮授权增量</a:t>
            </a:r>
          </a:p>
        </p:txBody>
      </p:sp>
      <p:sp>
        <p:nvSpPr>
          <p:cNvPr id="13" name="body-263">
            <a:extLst>
              <a:ext uri="{FF2B5EF4-FFF2-40B4-BE49-F238E27FC236}">
                <a16:creationId xmlns:a16="http://schemas.microsoft.com/office/drawing/2014/main" id="{582A44D4-E425-45EC-AFED-D6C2C0923494}"/>
              </a:ext>
            </a:extLst>
          </p:cNvPr>
          <p:cNvSpPr>
            <a:spLocks noGrp="1"/>
          </p:cNvSpPr>
          <p:nvPr/>
        </p:nvSpPr>
        <p:spPr>
          <a:xfrm>
            <a:off x="8696325" y="2771775"/>
            <a:ext cx="2886075" cy="160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一份文件</a:t>
            </a:r>
          </a:p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一个段落</a:t>
            </a:r>
          </a:p>
          <a:p>
            <a:pPr algn="l">
              <a:lnSpc>
                <a:spcPct val="13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一次获批修改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41EA80-7647-4C45-80DC-5ACB1CB66C14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 diff 和日志核对实际变化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2989BE-76EE-48C2-BAB9-F0F6F3C05D76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body-264">
            <a:extLst>
              <a:ext uri="{FF2B5EF4-FFF2-40B4-BE49-F238E27FC236}">
                <a16:creationId xmlns:a16="http://schemas.microsoft.com/office/drawing/2014/main" id="{8BBFB7BA-3A0A-4CCC-B42C-B5464E6E3C5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现场演示 · 课堂构造的修改示例</a:t>
            </a:r>
          </a:p>
        </p:txBody>
      </p:sp>
      <p:sp>
        <p:nvSpPr>
          <p:cNvPr id="5" name="body-265">
            <a:extLst>
              <a:ext uri="{FF2B5EF4-FFF2-40B4-BE49-F238E27FC236}">
                <a16:creationId xmlns:a16="http://schemas.microsoft.com/office/drawing/2014/main" id="{A149901B-AA18-4709-A842-37A7856A9299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106584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problem-definition.md</a:t>
            </a:r>
          </a:p>
        </p:txBody>
      </p:sp>
      <p:sp>
        <p:nvSpPr>
          <p:cNvPr id="6" name="rule-266">
            <a:extLst>
              <a:ext uri="{FF2B5EF4-FFF2-40B4-BE49-F238E27FC236}">
                <a16:creationId xmlns:a16="http://schemas.microsoft.com/office/drawing/2014/main" id="{8B3CBCB6-4FED-45F9-8191-98015A39E839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0972800" cy="0"/>
          </a:xfrm>
          <a:prstGeom prst="line">
            <a:avLst/>
          </a:prstGeom>
          <a:noFill/>
          <a:ln w="12383">
            <a:solidFill>
              <a:srgbClr val="1F4D78"/>
            </a:solidFill>
          </a:ln>
        </p:spPr>
      </p:sp>
      <p:sp>
        <p:nvSpPr>
          <p:cNvPr id="7" name="body-267">
            <a:extLst>
              <a:ext uri="{FF2B5EF4-FFF2-40B4-BE49-F238E27FC236}">
                <a16:creationId xmlns:a16="http://schemas.microsoft.com/office/drawing/2014/main" id="{BA7EEB34-C579-4D1C-A733-BDFA5DF39B65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− 阅读卡能消除摘要遗漏。</a:t>
            </a:r>
          </a:p>
        </p:txBody>
      </p:sp>
      <p:sp>
        <p:nvSpPr>
          <p:cNvPr id="8" name="body-268">
            <a:extLst>
              <a:ext uri="{FF2B5EF4-FFF2-40B4-BE49-F238E27FC236}">
                <a16:creationId xmlns:a16="http://schemas.microsoft.com/office/drawing/2014/main" id="{6FC86BA4-A636-40FF-8F25-8C9E4AD53F96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09728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5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+ 对同一组公开计算机论文，结构化阅读卡与自由摘要相比，</a:t>
            </a:r>
          </a:p>
          <a:p>
            <a:pPr algn="l">
              <a:lnSpc>
                <a:spcPct val="118000"/>
              </a:lnSpc>
              <a:buNone/>
              <a:defRPr sz="25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  是否降低生成内容的限定条件遗漏率？</a:t>
            </a:r>
          </a:p>
        </p:txBody>
      </p:sp>
      <p:sp>
        <p:nvSpPr>
          <p:cNvPr id="9" name="body-269">
            <a:extLst>
              <a:ext uri="{FF2B5EF4-FFF2-40B4-BE49-F238E27FC236}">
                <a16:creationId xmlns:a16="http://schemas.microsoft.com/office/drawing/2014/main" id="{BF029EB3-CECE-470A-BB33-45AF61350430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2143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采纳理由</a:t>
            </a:r>
          </a:p>
        </p:txBody>
      </p:sp>
      <p:sp>
        <p:nvSpPr>
          <p:cNvPr id="10" name="body-270">
            <a:extLst>
              <a:ext uri="{FF2B5EF4-FFF2-40B4-BE49-F238E27FC236}">
                <a16:creationId xmlns:a16="http://schemas.microsoft.com/office/drawing/2014/main" id="{92D5B96A-2F16-46D7-BF49-B12DC34FC660}"/>
              </a:ext>
            </a:extLst>
          </p:cNvPr>
          <p:cNvSpPr>
            <a:spLocks noGrp="1"/>
          </p:cNvSpPr>
          <p:nvPr/>
        </p:nvSpPr>
        <p:spPr>
          <a:xfrm>
            <a:off x="2943225" y="4514850"/>
            <a:ext cx="86391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明确对象与对照，把承诺改成问题。</a:t>
            </a:r>
          </a:p>
        </p:txBody>
      </p:sp>
      <p:sp>
        <p:nvSpPr>
          <p:cNvPr id="11" name="rule-271">
            <a:extLst>
              <a:ext uri="{FF2B5EF4-FFF2-40B4-BE49-F238E27FC236}">
                <a16:creationId xmlns:a16="http://schemas.microsoft.com/office/drawing/2014/main" id="{15949C44-E159-4A25-956C-F25ABE84EE46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2" name="body-272">
            <a:extLst>
              <a:ext uri="{FF2B5EF4-FFF2-40B4-BE49-F238E27FC236}">
                <a16:creationId xmlns:a16="http://schemas.microsoft.com/office/drawing/2014/main" id="{D00ED0B8-768A-4A91-9BB6-C7F9D98CD207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2143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人工核验</a:t>
            </a:r>
          </a:p>
        </p:txBody>
      </p:sp>
      <p:sp>
        <p:nvSpPr>
          <p:cNvPr id="13" name="body-273">
            <a:extLst>
              <a:ext uri="{FF2B5EF4-FFF2-40B4-BE49-F238E27FC236}">
                <a16:creationId xmlns:a16="http://schemas.microsoft.com/office/drawing/2014/main" id="{7BC1A2A5-2C22-4F45-8F80-63C7EBE4826A}"/>
              </a:ext>
            </a:extLst>
          </p:cNvPr>
          <p:cNvSpPr>
            <a:spLocks noGrp="1"/>
          </p:cNvSpPr>
          <p:nvPr/>
        </p:nvSpPr>
        <p:spPr>
          <a:xfrm>
            <a:off x="2943225" y="5238750"/>
            <a:ext cx="86391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先查“当前问题”段的 diff，</a:t>
            </a:r>
          </a:p>
          <a:p>
            <a:pPr algn="l">
              <a:lnSpc>
                <a:spcPct val="118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再由人补修改记录和日志。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BF05B8-E3AF-4D8D-8D89-B4021F4222AB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失败后的恢复与记录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8FEE4E-1A91-4844-9EAC-112CFA5ED604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body-274">
            <a:extLst>
              <a:ext uri="{FF2B5EF4-FFF2-40B4-BE49-F238E27FC236}">
                <a16:creationId xmlns:a16="http://schemas.microsoft.com/office/drawing/2014/main" id="{F359C56F-701E-473A-8E7C-A8F05C9185C6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同一演示的失败分支</a:t>
            </a:r>
          </a:p>
        </p:txBody>
      </p:sp>
      <p:sp>
        <p:nvSpPr>
          <p:cNvPr id="5" name="body-275">
            <a:extLst>
              <a:ext uri="{FF2B5EF4-FFF2-40B4-BE49-F238E27FC236}">
                <a16:creationId xmlns:a16="http://schemas.microsoft.com/office/drawing/2014/main" id="{4EBDAB17-49F5-4A91-B35D-9559F2858C8B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如果 Agent 改了未获批的段落</a:t>
            </a:r>
          </a:p>
        </p:txBody>
      </p:sp>
      <p:sp>
        <p:nvSpPr>
          <p:cNvPr id="6" name="node-276">
            <a:extLst>
              <a:ext uri="{FF2B5EF4-FFF2-40B4-BE49-F238E27FC236}">
                <a16:creationId xmlns:a16="http://schemas.microsoft.com/office/drawing/2014/main" id="{C0876068-F80A-4C38-B614-67D13C3C94BA}"/>
              </a:ext>
            </a:extLst>
          </p:cNvPr>
          <p:cNvSpPr>
            <a:spLocks noGrp="1"/>
          </p:cNvSpPr>
          <p:nvPr/>
        </p:nvSpPr>
        <p:spPr>
          <a:xfrm>
            <a:off x="609600" y="28098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停止继续写入</a:t>
            </a:r>
          </a:p>
        </p:txBody>
      </p:sp>
      <p:sp>
        <p:nvSpPr>
          <p:cNvPr id="7" name="node-277">
            <a:extLst>
              <a:ext uri="{FF2B5EF4-FFF2-40B4-BE49-F238E27FC236}">
                <a16:creationId xmlns:a16="http://schemas.microsoft.com/office/drawing/2014/main" id="{463CB262-7908-4F0C-87F5-532A113F7194}"/>
              </a:ext>
            </a:extLst>
          </p:cNvPr>
          <p:cNvSpPr>
            <a:spLocks noGrp="1"/>
          </p:cNvSpPr>
          <p:nvPr/>
        </p:nvSpPr>
        <p:spPr>
          <a:xfrm>
            <a:off x="3486150" y="28098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保留失败记录</a:t>
            </a:r>
          </a:p>
        </p:txBody>
      </p:sp>
      <p:sp>
        <p:nvSpPr>
          <p:cNvPr id="8" name="node-278">
            <a:extLst>
              <a:ext uri="{FF2B5EF4-FFF2-40B4-BE49-F238E27FC236}">
                <a16:creationId xmlns:a16="http://schemas.microsoft.com/office/drawing/2014/main" id="{07C3B852-C9AB-43C9-8D44-6280D1F76028}"/>
              </a:ext>
            </a:extLst>
          </p:cNvPr>
          <p:cNvSpPr>
            <a:spLocks noGrp="1"/>
          </p:cNvSpPr>
          <p:nvPr/>
        </p:nvSpPr>
        <p:spPr>
          <a:xfrm>
            <a:off x="6362700" y="28098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收窄任务重试</a:t>
            </a:r>
          </a:p>
        </p:txBody>
      </p:sp>
      <p:sp>
        <p:nvSpPr>
          <p:cNvPr id="9" name="node-279">
            <a:extLst>
              <a:ext uri="{FF2B5EF4-FFF2-40B4-BE49-F238E27FC236}">
                <a16:creationId xmlns:a16="http://schemas.microsoft.com/office/drawing/2014/main" id="{B0307644-CB90-4DA6-BD5B-3E8AEF7F6FC5}"/>
              </a:ext>
            </a:extLst>
          </p:cNvPr>
          <p:cNvSpPr>
            <a:spLocks noGrp="1"/>
          </p:cNvSpPr>
          <p:nvPr/>
        </p:nvSpPr>
        <p:spPr>
          <a:xfrm>
            <a:off x="9239250" y="2809875"/>
            <a:ext cx="232410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重新核对 diff</a:t>
            </a:r>
          </a:p>
        </p:txBody>
      </p:sp>
      <p:cxnSp>
        <p:nvCxnSpPr>
          <p:cNvPr id="48" name="edge-280"/>
          <p:cNvCxnSpPr>
            <a:stCxn id="6" idx="3"/>
            <a:endCxn id="7" idx="1"/>
          </p:cNvCxnSpPr>
          <p:nvPr/>
        </p:nvCxnSpPr>
        <p:spPr>
          <a:xfrm>
            <a:off x="2933700" y="317182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49" name="edge-281"/>
          <p:cNvCxnSpPr>
            <a:stCxn id="7" idx="3"/>
            <a:endCxn id="8" idx="1"/>
          </p:cNvCxnSpPr>
          <p:nvPr/>
        </p:nvCxnSpPr>
        <p:spPr>
          <a:xfrm>
            <a:off x="5810250" y="317182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50" name="edge-282"/>
          <p:cNvCxnSpPr>
            <a:stCxn id="8" idx="3"/>
            <a:endCxn id="9" idx="1"/>
          </p:cNvCxnSpPr>
          <p:nvPr/>
        </p:nvCxnSpPr>
        <p:spPr>
          <a:xfrm>
            <a:off x="8686800" y="3171825"/>
            <a:ext cx="552450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3" name="body-283">
            <a:extLst>
              <a:ext uri="{FF2B5EF4-FFF2-40B4-BE49-F238E27FC236}">
                <a16:creationId xmlns:a16="http://schemas.microsoft.com/office/drawing/2014/main" id="{F1620370-BC65-47B0-A0C6-DC43A50A304B}"/>
              </a:ext>
            </a:extLst>
          </p:cNvPr>
          <p:cNvSpPr>
            <a:spLocks noGrp="1"/>
          </p:cNvSpPr>
          <p:nvPr/>
        </p:nvSpPr>
        <p:spPr>
          <a:xfrm>
            <a:off x="609600" y="3971925"/>
            <a:ext cx="23241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防止错误扩大</a:t>
            </a:r>
          </a:p>
        </p:txBody>
      </p:sp>
      <p:sp>
        <p:nvSpPr>
          <p:cNvPr id="14" name="body-284">
            <a:extLst>
              <a:ext uri="{FF2B5EF4-FFF2-40B4-BE49-F238E27FC236}">
                <a16:creationId xmlns:a16="http://schemas.microsoft.com/office/drawing/2014/main" id="{45E98A94-9B2E-4204-BDF3-05C9BCFA4962}"/>
              </a:ext>
            </a:extLst>
          </p:cNvPr>
          <p:cNvSpPr>
            <a:spLocks noGrp="1"/>
          </p:cNvSpPr>
          <p:nvPr/>
        </p:nvSpPr>
        <p:spPr>
          <a:xfrm>
            <a:off x="3486150" y="3971925"/>
            <a:ext cx="23241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记录输入、错误</a:t>
            </a:r>
          </a:p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与实际改动范围</a:t>
            </a:r>
          </a:p>
        </p:txBody>
      </p:sp>
      <p:sp>
        <p:nvSpPr>
          <p:cNvPr id="15" name="body-285">
            <a:extLst>
              <a:ext uri="{FF2B5EF4-FFF2-40B4-BE49-F238E27FC236}">
                <a16:creationId xmlns:a16="http://schemas.microsoft.com/office/drawing/2014/main" id="{1987590D-3C2D-4B54-9BB9-1855E0C63578}"/>
              </a:ext>
            </a:extLst>
          </p:cNvPr>
          <p:cNvSpPr>
            <a:spLocks noGrp="1"/>
          </p:cNvSpPr>
          <p:nvPr/>
        </p:nvSpPr>
        <p:spPr>
          <a:xfrm>
            <a:off x="6362700" y="3971925"/>
            <a:ext cx="23241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恢复已知版本</a:t>
            </a:r>
          </a:p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重申目标段落</a:t>
            </a:r>
          </a:p>
        </p:txBody>
      </p:sp>
      <p:sp>
        <p:nvSpPr>
          <p:cNvPr id="16" name="body-286">
            <a:extLst>
              <a:ext uri="{FF2B5EF4-FFF2-40B4-BE49-F238E27FC236}">
                <a16:creationId xmlns:a16="http://schemas.microsoft.com/office/drawing/2014/main" id="{1A72C00C-B7B1-450A-99E7-3A4EA3661955}"/>
              </a:ext>
            </a:extLst>
          </p:cNvPr>
          <p:cNvSpPr>
            <a:spLocks noGrp="1"/>
          </p:cNvSpPr>
          <p:nvPr/>
        </p:nvSpPr>
        <p:spPr>
          <a:xfrm>
            <a:off x="9239250" y="3971925"/>
            <a:ext cx="232410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再次检查结果</a:t>
            </a:r>
          </a:p>
          <a:p>
            <a:pPr algn="l">
              <a:lnSpc>
                <a:spcPct val="130000"/>
              </a:lnSpc>
              <a:buNone/>
              <a:def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与其他文件</a:t>
            </a:r>
          </a:p>
        </p:txBody>
      </p:sp>
      <p:sp>
        <p:nvSpPr>
          <p:cNvPr id="39" name="back-to-map">
            <a:extLst>
              <a:ext uri="{FF2B5EF4-FFF2-40B4-BE49-F238E27FC236}">
                <a16:creationId xmlns:a16="http://schemas.microsoft.com/office/drawing/2014/main" id="{D57F011D-A953-4337-A394-859378EA7E3F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/>
          <a:p>
            <a:pPr>
              <a:lnSpc>
                <a:spcPct val="118000"/>
              </a:lnSpc>
              <a:buNone/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本次完成阶段 1；下一步定义遗漏，准备比较材料。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EBA67-92F5-42E9-9AE5-AC1DD45F4518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一个可留下证据的小问题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CC05A2-8957-48A4-B138-9986B7D4C58D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body-287">
            <a:extLst>
              <a:ext uri="{FF2B5EF4-FFF2-40B4-BE49-F238E27FC236}">
                <a16:creationId xmlns:a16="http://schemas.microsoft.com/office/drawing/2014/main" id="{520CDB34-CC05-40D8-A857-919972A86B63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从你当前的一个不确定性开始</a:t>
            </a:r>
          </a:p>
        </p:txBody>
      </p:sp>
      <p:sp>
        <p:nvSpPr>
          <p:cNvPr id="5" name="body-288">
            <a:extLst>
              <a:ext uri="{FF2B5EF4-FFF2-40B4-BE49-F238E27FC236}">
                <a16:creationId xmlns:a16="http://schemas.microsoft.com/office/drawing/2014/main" id="{67FE360B-FDD2-4A7E-ABA2-38DC88A53307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2524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兴趣</a:t>
            </a:r>
          </a:p>
        </p:txBody>
      </p:sp>
      <p:sp>
        <p:nvSpPr>
          <p:cNvPr id="6" name="body-289">
            <a:extLst>
              <a:ext uri="{FF2B5EF4-FFF2-40B4-BE49-F238E27FC236}">
                <a16:creationId xmlns:a16="http://schemas.microsoft.com/office/drawing/2014/main" id="{C575D66F-1BC5-4EF7-851F-FEBA477E4007}"/>
              </a:ext>
            </a:extLst>
          </p:cNvPr>
          <p:cNvSpPr>
            <a:spLocks noGrp="1"/>
          </p:cNvSpPr>
          <p:nvPr/>
        </p:nvSpPr>
        <p:spPr>
          <a:xfrm>
            <a:off x="3324225" y="2162175"/>
            <a:ext cx="82581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我正在关注什么研究问题？</a:t>
            </a:r>
          </a:p>
        </p:txBody>
      </p:sp>
      <p:sp>
        <p:nvSpPr>
          <p:cNvPr id="7" name="rule-290">
            <a:extLst>
              <a:ext uri="{FF2B5EF4-FFF2-40B4-BE49-F238E27FC236}">
                <a16:creationId xmlns:a16="http://schemas.microsoft.com/office/drawing/2014/main" id="{DBACDA9B-9B3E-4D22-B0B3-1D3E377630DB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8" name="body-291">
            <a:extLst>
              <a:ext uri="{FF2B5EF4-FFF2-40B4-BE49-F238E27FC236}">
                <a16:creationId xmlns:a16="http://schemas.microsoft.com/office/drawing/2014/main" id="{FE5E5B96-1391-4C25-9D88-45A63E788AE1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2524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不确定性</a:t>
            </a:r>
          </a:p>
        </p:txBody>
      </p:sp>
      <p:sp>
        <p:nvSpPr>
          <p:cNvPr id="9" name="body-292">
            <a:extLst>
              <a:ext uri="{FF2B5EF4-FFF2-40B4-BE49-F238E27FC236}">
                <a16:creationId xmlns:a16="http://schemas.microsoft.com/office/drawing/2014/main" id="{743F62F0-223C-4086-A401-7D4A4AA0E386}"/>
              </a:ext>
            </a:extLst>
          </p:cNvPr>
          <p:cNvSpPr>
            <a:spLocks noGrp="1"/>
          </p:cNvSpPr>
          <p:nvPr/>
        </p:nvSpPr>
        <p:spPr>
          <a:xfrm>
            <a:off x="3324225" y="3143250"/>
            <a:ext cx="82581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哪个概念、范围或判断尚不清楚？</a:t>
            </a:r>
          </a:p>
        </p:txBody>
      </p:sp>
      <p:sp>
        <p:nvSpPr>
          <p:cNvPr id="10" name="rule-293">
            <a:extLst>
              <a:ext uri="{FF2B5EF4-FFF2-40B4-BE49-F238E27FC236}">
                <a16:creationId xmlns:a16="http://schemas.microsoft.com/office/drawing/2014/main" id="{D0D6A51A-FCE2-4F80-894F-3AE1591107F3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1" name="body-294">
            <a:extLst>
              <a:ext uri="{FF2B5EF4-FFF2-40B4-BE49-F238E27FC236}">
                <a16:creationId xmlns:a16="http://schemas.microsoft.com/office/drawing/2014/main" id="{D80F82E3-1445-4BFF-BCCA-30E8976004EC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2524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最小动作</a:t>
            </a:r>
          </a:p>
        </p:txBody>
      </p:sp>
      <p:sp>
        <p:nvSpPr>
          <p:cNvPr id="12" name="body-295">
            <a:extLst>
              <a:ext uri="{FF2B5EF4-FFF2-40B4-BE49-F238E27FC236}">
                <a16:creationId xmlns:a16="http://schemas.microsoft.com/office/drawing/2014/main" id="{DF7A4CCD-7527-4F65-82BF-A69224D80A19}"/>
              </a:ext>
            </a:extLst>
          </p:cNvPr>
          <p:cNvSpPr>
            <a:spLocks noGrp="1"/>
          </p:cNvSpPr>
          <p:nvPr/>
        </p:nvSpPr>
        <p:spPr>
          <a:xfrm>
            <a:off x="3324225" y="4124325"/>
            <a:ext cx="82581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今天只修改问题定义中的一处。</a:t>
            </a:r>
          </a:p>
        </p:txBody>
      </p:sp>
      <p:sp>
        <p:nvSpPr>
          <p:cNvPr id="13" name="body-296">
            <a:extLst>
              <a:ext uri="{FF2B5EF4-FFF2-40B4-BE49-F238E27FC236}">
                <a16:creationId xmlns:a16="http://schemas.microsoft.com/office/drawing/2014/main" id="{8EC0A137-D2AD-4CB0-88BB-83FD56755570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备用题：阅读卡相对自由摘要，能否减少限定条件遗漏？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" name="judgment-title">
            <a:extLst>
              <a:ext uri="{FF2B5EF4-FFF2-40B4-BE49-F238E27FC236}">
                <a16:creationId xmlns:a16="http://schemas.microsoft.com/office/drawing/2014/main" id="{4E9E8410-948C-4FA6-BBAD-E053D0710E60}"/>
              </a:ext>
            </a:extLst>
          </p:cNvPr>
          <p:cNvSpPr>
            <a:spLocks noGrp="1"/>
          </p:cNvSpPr>
          <p:nvPr/>
        </p:nvSpPr>
        <p:spPr>
          <a:xfrm>
            <a:off x="1028700" y="76200"/>
            <a:ext cx="106870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>
              <a:ext uri="{FF2B5EF4-FFF2-40B4-BE49-F238E27FC236}">
                <a16:creationId xmlns:a16="http://schemas.microsoft.com/office/drawing/2014/main" id="{4B178FF8-31CA-40A8-A5DC-2DE87C376665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从 A/B 中选一项或修订一项；在 problem-definition.md 写出研究对象、牺牲的范围、所需证据和待查条件。只改“当前问题”段，人工核准后保存实际 diff。</a:t>
            </a:r>
          </a:p>
        </p:txBody>
      </p:sp>
      <p:sp>
        <p:nvSpPr>
          <p:cNvPr id="3" name="judgment-body-1">
            <a:extLst>
              <a:ext uri="{FF2B5EF4-FFF2-40B4-BE49-F238E27FC236}">
                <a16:creationId xmlns:a16="http://schemas.microsoft.com/office/drawing/2014/main" id="{301021BF-E551-46AD-93C7-B6022BA47D1F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108585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同伴依据 diff 找到范围变化；检查使用记录是否区分 AI 建议和作者决定。没有模型时用人工建议完成，记录实际情况。</a:t>
            </a:r>
          </a:p>
        </p:txBody>
      </p:sp>
      <p:sp>
        <p:nvSpPr>
          <p:cNvPr id="4" name="judgment-body-2">
            <a:extLst>
              <a:ext uri="{FF2B5EF4-FFF2-40B4-BE49-F238E27FC236}">
                <a16:creationId xmlns:a16="http://schemas.microsoft.com/office/drawing/2014/main" id="{E9E4BDA2-3D86-467B-8221-5F713D84374A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10858500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保存：problem-definition.md 的修订段＋同一条 AI 使用/人工操作记录及 diff</a:t>
            </a:r>
          </a:p>
        </p:txBody>
      </p:sp>
      <p:sp>
        <p:nvSpPr>
          <p:cNvPr id="5" name="judgment-source">
            <a:extLst>
              <a:ext uri="{FF2B5EF4-FFF2-40B4-BE49-F238E27FC236}">
                <a16:creationId xmlns:a16="http://schemas.microsoft.com/office/drawing/2014/main" id="{A6F14180-A40C-4035-A0AF-04AF4726D2BF}"/>
              </a:ext>
            </a:extLst>
          </p:cNvPr>
          <p:cNvSpPr>
            <a:spLocks noGrp="1"/>
          </p:cNvSpPr>
          <p:nvPr/>
        </p:nvSpPr>
        <p:spPr>
          <a:xfrm>
            <a:off x="666750" y="6276975"/>
            <a:ext cx="10572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>
              <a:ext uri="{FF2B5EF4-FFF2-40B4-BE49-F238E27FC236}">
                <a16:creationId xmlns:a16="http://schemas.microsoft.com/office/drawing/2014/main" id="{09860F0C-6891-473D-A005-03114860BCEC}"/>
              </a:ext>
            </a:extLst>
          </p:cNvPr>
          <p:cNvSpPr>
            <a:spLocks noGrp="1"/>
          </p:cNvSpPr>
          <p:nvPr/>
        </p:nvSpPr>
        <p:spPr>
          <a:xfrm>
            <a:off x="11715750" y="6562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5E4F40-E15A-4145-BE75-37F12ABC485F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练习二：使用记录与阶段定位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3CA39-D316-4047-B5C4-328746260511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body-317">
            <a:extLst>
              <a:ext uri="{FF2B5EF4-FFF2-40B4-BE49-F238E27FC236}">
                <a16:creationId xmlns:a16="http://schemas.microsoft.com/office/drawing/2014/main" id="{0177C90A-BA6D-4A85-AE02-35A6D5F91F16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给刚才的修改补一条可追溯记录</a:t>
            </a:r>
          </a:p>
        </p:txBody>
      </p:sp>
      <p:graphicFrame>
        <p:nvGraphicFramePr>
          <p:cNvPr id="11" name="native-table-318"/>
          <p:cNvGraphicFramePr/>
          <p:nvPr/>
        </p:nvGraphicFramePr>
        <p:xfrm>
          <a:off x="609600" y="2057400"/>
          <a:ext cx="10972800" cy="3190875"/>
        </p:xfrm>
        <a:graphic>
          <a:graphicData uri="http://schemas.openxmlformats.org/drawingml/2006/table">
            <a:tbl>
              <a:tblPr/>
              <a:tblGrid>
                <a:gridCol w="260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记录项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课堂构造填写示例</a:t>
                      </a:r>
                    </a:p>
                  </a:txBody>
                  <a:tcPr marL="123825" marR="104775" marT="104775" marB="76200" anchor="ctr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建议与输入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给定当前问题段，建议收窄研究对象。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采纳决定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采纳收窄建议，保留“是否有效”的不确定性。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核验方法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核对目标段 diff，确认未修改其他文件。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阶段与下一步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6344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 1：问题定义。先明确“遗漏”的判定标准。</a:t>
                      </a:r>
                    </a:p>
                  </a:txBody>
                  <a:tcPr marL="123825" marR="104775" marT="104775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dy-319">
            <a:extLst>
              <a:ext uri="{FF2B5EF4-FFF2-40B4-BE49-F238E27FC236}">
                <a16:creationId xmlns:a16="http://schemas.microsoft.com/office/drawing/2014/main" id="{BE10101D-5844-4AC2-843D-7DB297749BD9}"/>
              </a:ext>
            </a:extLst>
          </p:cNvPr>
          <p:cNvSpPr>
            <a:spLocks noGrp="1"/>
          </p:cNvSpPr>
          <p:nvPr/>
        </p:nvSpPr>
        <p:spPr>
          <a:xfrm>
            <a:off x="609600" y="570547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无模型时记录“未执行”，写明人工审查与修改。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092265-2721-44E3-8192-46F0DA2943ED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临时结对与作者决定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DED02-35EC-4859-8ECD-BCF1FCE4FB68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4" name="body-320">
            <a:extLst>
              <a:ext uri="{FF2B5EF4-FFF2-40B4-BE49-F238E27FC236}">
                <a16:creationId xmlns:a16="http://schemas.microsoft.com/office/drawing/2014/main" id="{93D046B2-E607-4552-9377-943820FA071B}"/>
              </a:ext>
            </a:extLst>
          </p:cNvPr>
          <p:cNvSpPr>
            <a:spLocks noGrp="1"/>
          </p:cNvSpPr>
          <p:nvPr/>
        </p:nvSpPr>
        <p:spPr>
          <a:xfrm>
            <a:off x="609600" y="10572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交换问题定义、diff 与使用记录</a:t>
            </a:r>
          </a:p>
        </p:txBody>
      </p:sp>
      <p:sp>
        <p:nvSpPr>
          <p:cNvPr id="5" name="node-321">
            <a:extLst>
              <a:ext uri="{FF2B5EF4-FFF2-40B4-BE49-F238E27FC236}">
                <a16:creationId xmlns:a16="http://schemas.microsoft.com/office/drawing/2014/main" id="{6B5DAA06-B2C4-44C2-B988-C3AC824BF3D7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318135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作者解释修改</a:t>
            </a:r>
          </a:p>
        </p:txBody>
      </p:sp>
      <p:sp>
        <p:nvSpPr>
          <p:cNvPr id="6" name="node-322">
            <a:extLst>
              <a:ext uri="{FF2B5EF4-FFF2-40B4-BE49-F238E27FC236}">
                <a16:creationId xmlns:a16="http://schemas.microsoft.com/office/drawing/2014/main" id="{9960ED89-2807-4766-9B5A-C2EE49F32418}"/>
              </a:ext>
            </a:extLst>
          </p:cNvPr>
          <p:cNvSpPr>
            <a:spLocks noGrp="1"/>
          </p:cNvSpPr>
          <p:nvPr/>
        </p:nvSpPr>
        <p:spPr>
          <a:xfrm>
            <a:off x="4505325" y="2743200"/>
            <a:ext cx="318135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同伴指出一个缺口</a:t>
            </a:r>
          </a:p>
        </p:txBody>
      </p:sp>
      <p:sp>
        <p:nvSpPr>
          <p:cNvPr id="7" name="node-323">
            <a:extLst>
              <a:ext uri="{FF2B5EF4-FFF2-40B4-BE49-F238E27FC236}">
                <a16:creationId xmlns:a16="http://schemas.microsoft.com/office/drawing/2014/main" id="{A5B7B88A-21EE-4AF9-A971-4474D5219E77}"/>
              </a:ext>
            </a:extLst>
          </p:cNvPr>
          <p:cNvSpPr>
            <a:spLocks noGrp="1"/>
          </p:cNvSpPr>
          <p:nvPr/>
        </p:nvSpPr>
        <p:spPr>
          <a:xfrm>
            <a:off x="8401050" y="2743200"/>
            <a:ext cx="3181350" cy="723900"/>
          </a:xfrm>
          <a:prstGeom prst="rect">
            <a:avLst/>
          </a:prstGeom>
          <a:solidFill>
            <a:srgbClr val="EEF3F7"/>
          </a:solidFill>
          <a:ln w="14288">
            <a:solidFill>
              <a:srgbClr val="1F4D78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作者记录决定</a:t>
            </a:r>
          </a:p>
        </p:txBody>
      </p:sp>
      <p:cxnSp>
        <p:nvCxnSpPr>
          <p:cNvPr id="28" name="edge-324"/>
          <p:cNvCxnSpPr>
            <a:stCxn id="5" idx="3"/>
            <a:endCxn id="6" idx="1"/>
          </p:cNvCxnSpPr>
          <p:nvPr/>
        </p:nvCxnSpPr>
        <p:spPr>
          <a:xfrm>
            <a:off x="3790950" y="3105150"/>
            <a:ext cx="714375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cxnSp>
        <p:nvCxnSpPr>
          <p:cNvPr id="29" name="edge-325"/>
          <p:cNvCxnSpPr>
            <a:stCxn id="6" idx="3"/>
            <a:endCxn id="7" idx="1"/>
          </p:cNvCxnSpPr>
          <p:nvPr/>
        </p:nvCxnSpPr>
        <p:spPr>
          <a:xfrm>
            <a:off x="7686675" y="3105150"/>
            <a:ext cx="714375" cy="0"/>
          </a:xfrm>
          <a:prstGeom prst="straightConnector1">
            <a:avLst/>
          </a:prstGeom>
          <a:ln w="19050">
            <a:solidFill>
              <a:srgbClr val="1F4D78"/>
            </a:solidFill>
            <a:prstDash val="solid"/>
            <a:tailEnd type="triangle" w="sm" len="sm"/>
          </a:ln>
        </p:spPr>
      </p:cxnSp>
      <p:sp>
        <p:nvSpPr>
          <p:cNvPr id="10" name="body-326">
            <a:extLst>
              <a:ext uri="{FF2B5EF4-FFF2-40B4-BE49-F238E27FC236}">
                <a16:creationId xmlns:a16="http://schemas.microsoft.com/office/drawing/2014/main" id="{1D27D7E2-024B-4EAB-890F-95BA8DDF616F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31813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为什么作这处修改？</a:t>
            </a:r>
          </a:p>
        </p:txBody>
      </p:sp>
      <p:sp>
        <p:nvSpPr>
          <p:cNvPr id="11" name="body-327">
            <a:extLst>
              <a:ext uri="{FF2B5EF4-FFF2-40B4-BE49-F238E27FC236}">
                <a16:creationId xmlns:a16="http://schemas.microsoft.com/office/drawing/2014/main" id="{B114A9B5-8E97-4948-A996-6778653E7C24}"/>
              </a:ext>
            </a:extLst>
          </p:cNvPr>
          <p:cNvSpPr>
            <a:spLocks noGrp="1"/>
          </p:cNvSpPr>
          <p:nvPr/>
        </p:nvSpPr>
        <p:spPr>
          <a:xfrm>
            <a:off x="4505325" y="3905250"/>
            <a:ext cx="31813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哪条理由还无法核对？</a:t>
            </a:r>
          </a:p>
        </p:txBody>
      </p:sp>
      <p:sp>
        <p:nvSpPr>
          <p:cNvPr id="12" name="body-328">
            <a:extLst>
              <a:ext uri="{FF2B5EF4-FFF2-40B4-BE49-F238E27FC236}">
                <a16:creationId xmlns:a16="http://schemas.microsoft.com/office/drawing/2014/main" id="{014B60B2-A609-43D5-8690-B8A7EC229623}"/>
              </a:ext>
            </a:extLst>
          </p:cNvPr>
          <p:cNvSpPr>
            <a:spLocks noGrp="1"/>
          </p:cNvSpPr>
          <p:nvPr/>
        </p:nvSpPr>
        <p:spPr>
          <a:xfrm>
            <a:off x="8401050" y="3905250"/>
            <a:ext cx="31813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采纳、修改或拒绝</a:t>
            </a:r>
          </a:p>
          <a:p>
            <a:pPr algn="l">
              <a:lnSpc>
                <a:spcPct val="125000"/>
              </a:lnSpc>
              <a:buNone/>
              <a:def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并留下具体理由</a:t>
            </a:r>
          </a:p>
        </p:txBody>
      </p:sp>
      <p:sp>
        <p:nvSpPr>
          <p:cNvPr id="13" name="body-329">
            <a:extLst>
              <a:ext uri="{FF2B5EF4-FFF2-40B4-BE49-F238E27FC236}">
                <a16:creationId xmlns:a16="http://schemas.microsoft.com/office/drawing/2014/main" id="{C826334B-4335-4E5D-9630-8A2D0A13EEC8}"/>
              </a:ext>
            </a:extLst>
          </p:cNvPr>
          <p:cNvSpPr>
            <a:spLocks noGrp="1"/>
          </p:cNvSpPr>
          <p:nvPr/>
        </p:nvSpPr>
        <p:spPr>
          <a:xfrm>
            <a:off x="609600" y="5705475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今天临时互查；第 6 课前确定 3–4 人固定同伴组。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-title">
            <a:extLst>
              <a:ext uri="{FF2B5EF4-FFF2-40B4-BE49-F238E27FC236}">
                <a16:creationId xmlns:a16="http://schemas.microsoft.com/office/drawing/2014/main" id="{CC811FAB-1FF1-4ADD-9259-D9F2CEF8CA09}"/>
              </a:ext>
            </a:extLst>
          </p:cNvPr>
          <p:cNvSpPr>
            <a:spLocks noGrp="1"/>
          </p:cNvSpPr>
          <p:nvPr/>
        </p:nvSpPr>
        <p:spPr>
          <a:xfrm>
            <a:off x="1028700" y="857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2" name="content-7">
            <a:extLst>
              <a:ext uri="{FF2B5EF4-FFF2-40B4-BE49-F238E27FC236}">
                <a16:creationId xmlns:a16="http://schemas.microsoft.com/office/drawing/2014/main" id="{7E6E03BE-76E0-418E-BF9F-5B91C7D3AAEC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回到“阅读卡减少遗漏”这条主张</a:t>
            </a:r>
          </a:p>
        </p:txBody>
      </p:sp>
      <p:sp>
        <p:nvSpPr>
          <p:cNvPr id="3" name="process-8">
            <a:extLst>
              <a:ext uri="{FF2B5EF4-FFF2-40B4-BE49-F238E27FC236}">
                <a16:creationId xmlns:a16="http://schemas.microsoft.com/office/drawing/2014/main" id="{D44ECD33-10DC-46FA-80BE-0E043D039544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2507456" cy="857250"/>
          </a:xfrm>
          <a:prstGeom prst="rect">
            <a:avLst/>
          </a:prstGeom>
          <a:solidFill>
            <a:srgbClr val="EDF5F0"/>
          </a:solidFill>
          <a:ln w="0">
            <a:noFill/>
          </a:ln>
        </p:spPr>
      </p:sp>
      <p:sp>
        <p:nvSpPr>
          <p:cNvPr id="4" name="content-9">
            <a:extLst>
              <a:ext uri="{FF2B5EF4-FFF2-40B4-BE49-F238E27FC236}">
                <a16:creationId xmlns:a16="http://schemas.microsoft.com/office/drawing/2014/main" id="{5E10FFB0-5A3E-4490-BE4F-7E4DC3AF31B1}"/>
              </a:ext>
            </a:extLst>
          </p:cNvPr>
          <p:cNvSpPr>
            <a:spLocks noGrp="1"/>
          </p:cNvSpPr>
          <p:nvPr/>
        </p:nvSpPr>
        <p:spPr>
          <a:xfrm>
            <a:off x="714375" y="2876550"/>
            <a:ext cx="2297906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评估效果与范围</a:t>
            </a:r>
          </a:p>
        </p:txBody>
      </p:sp>
      <p:sp>
        <p:nvSpPr>
          <p:cNvPr id="5" name="content-10">
            <a:extLst>
              <a:ext uri="{FF2B5EF4-FFF2-40B4-BE49-F238E27FC236}">
                <a16:creationId xmlns:a16="http://schemas.microsoft.com/office/drawing/2014/main" id="{4A5D0891-87E8-4FAE-98DA-DDD36B9564FE}"/>
              </a:ext>
            </a:extLst>
          </p:cNvPr>
          <p:cNvSpPr>
            <a:spLocks noGrp="1"/>
          </p:cNvSpPr>
          <p:nvPr/>
        </p:nvSpPr>
        <p:spPr>
          <a:xfrm>
            <a:off x="3117056" y="2990850"/>
            <a:ext cx="314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" name="process-11">
            <a:extLst>
              <a:ext uri="{FF2B5EF4-FFF2-40B4-BE49-F238E27FC236}">
                <a16:creationId xmlns:a16="http://schemas.microsoft.com/office/drawing/2014/main" id="{DDCDA62F-9062-4883-9698-9FDC5741127B}"/>
              </a:ext>
            </a:extLst>
          </p:cNvPr>
          <p:cNvSpPr>
            <a:spLocks noGrp="1"/>
          </p:cNvSpPr>
          <p:nvPr/>
        </p:nvSpPr>
        <p:spPr>
          <a:xfrm>
            <a:off x="3431381" y="2790825"/>
            <a:ext cx="2507456" cy="857250"/>
          </a:xfrm>
          <a:prstGeom prst="rect">
            <a:avLst/>
          </a:prstGeom>
          <a:solidFill>
            <a:srgbClr val="F4F6F8"/>
          </a:solidFill>
          <a:ln w="0">
            <a:noFill/>
          </a:ln>
        </p:spPr>
      </p:sp>
      <p:sp>
        <p:nvSpPr>
          <p:cNvPr id="7" name="content-12">
            <a:extLst>
              <a:ext uri="{FF2B5EF4-FFF2-40B4-BE49-F238E27FC236}">
                <a16:creationId xmlns:a16="http://schemas.microsoft.com/office/drawing/2014/main" id="{FAF589FB-E5C0-4AA6-8DED-7070AF90334A}"/>
              </a:ext>
            </a:extLst>
          </p:cNvPr>
          <p:cNvSpPr>
            <a:spLocks noGrp="1"/>
          </p:cNvSpPr>
          <p:nvPr/>
        </p:nvSpPr>
        <p:spPr>
          <a:xfrm>
            <a:off x="3536156" y="2876550"/>
            <a:ext cx="2297906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定位证据缺口</a:t>
            </a:r>
          </a:p>
        </p:txBody>
      </p:sp>
      <p:sp>
        <p:nvSpPr>
          <p:cNvPr id="8" name="content-13">
            <a:extLst>
              <a:ext uri="{FF2B5EF4-FFF2-40B4-BE49-F238E27FC236}">
                <a16:creationId xmlns:a16="http://schemas.microsoft.com/office/drawing/2014/main" id="{D569A777-8DCF-4C0F-AB0F-B002103959A9}"/>
              </a:ext>
            </a:extLst>
          </p:cNvPr>
          <p:cNvSpPr>
            <a:spLocks noGrp="1"/>
          </p:cNvSpPr>
          <p:nvPr/>
        </p:nvSpPr>
        <p:spPr>
          <a:xfrm>
            <a:off x="5938838" y="2990850"/>
            <a:ext cx="314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process-14">
            <a:extLst>
              <a:ext uri="{FF2B5EF4-FFF2-40B4-BE49-F238E27FC236}">
                <a16:creationId xmlns:a16="http://schemas.microsoft.com/office/drawing/2014/main" id="{7286B3E5-C459-4846-BA06-4D91756117EE}"/>
              </a:ext>
            </a:extLst>
          </p:cNvPr>
          <p:cNvSpPr>
            <a:spLocks noGrp="1"/>
          </p:cNvSpPr>
          <p:nvPr/>
        </p:nvSpPr>
        <p:spPr>
          <a:xfrm>
            <a:off x="6253163" y="2790825"/>
            <a:ext cx="2507456" cy="857250"/>
          </a:xfrm>
          <a:prstGeom prst="rect">
            <a:avLst/>
          </a:prstGeom>
          <a:solidFill>
            <a:srgbClr val="F4F6F8"/>
          </a:solidFill>
          <a:ln w="0">
            <a:noFill/>
          </a:ln>
        </p:spPr>
      </p:sp>
      <p:sp>
        <p:nvSpPr>
          <p:cNvPr id="10" name="content-15">
            <a:extLst>
              <a:ext uri="{FF2B5EF4-FFF2-40B4-BE49-F238E27FC236}">
                <a16:creationId xmlns:a16="http://schemas.microsoft.com/office/drawing/2014/main" id="{5CA3DE69-9C1D-4FF0-9791-6386F2A78775}"/>
              </a:ext>
            </a:extLst>
          </p:cNvPr>
          <p:cNvSpPr>
            <a:spLocks noGrp="1"/>
          </p:cNvSpPr>
          <p:nvPr/>
        </p:nvSpPr>
        <p:spPr>
          <a:xfrm>
            <a:off x="6357938" y="2876550"/>
            <a:ext cx="2297906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修改项目文件</a:t>
            </a:r>
          </a:p>
        </p:txBody>
      </p:sp>
      <p:sp>
        <p:nvSpPr>
          <p:cNvPr id="11" name="content-16">
            <a:extLst>
              <a:ext uri="{FF2B5EF4-FFF2-40B4-BE49-F238E27FC236}">
                <a16:creationId xmlns:a16="http://schemas.microsoft.com/office/drawing/2014/main" id="{6BBBD74F-7CA6-432D-8F0F-54379F70B0DB}"/>
              </a:ext>
            </a:extLst>
          </p:cNvPr>
          <p:cNvSpPr>
            <a:spLocks noGrp="1"/>
          </p:cNvSpPr>
          <p:nvPr/>
        </p:nvSpPr>
        <p:spPr>
          <a:xfrm>
            <a:off x="8760619" y="2990850"/>
            <a:ext cx="3143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process-17">
            <a:extLst>
              <a:ext uri="{FF2B5EF4-FFF2-40B4-BE49-F238E27FC236}">
                <a16:creationId xmlns:a16="http://schemas.microsoft.com/office/drawing/2014/main" id="{549C8AB5-8620-4735-97A8-2D71E13BD25E}"/>
              </a:ext>
            </a:extLst>
          </p:cNvPr>
          <p:cNvSpPr>
            <a:spLocks noGrp="1"/>
          </p:cNvSpPr>
          <p:nvPr/>
        </p:nvSpPr>
        <p:spPr>
          <a:xfrm>
            <a:off x="9074944" y="2790825"/>
            <a:ext cx="2507456" cy="857250"/>
          </a:xfrm>
          <a:prstGeom prst="rect">
            <a:avLst/>
          </a:prstGeom>
          <a:solidFill>
            <a:srgbClr val="F4F6F8"/>
          </a:solidFill>
          <a:ln w="0">
            <a:noFill/>
          </a:ln>
        </p:spPr>
      </p:sp>
      <p:sp>
        <p:nvSpPr>
          <p:cNvPr id="13" name="content-18">
            <a:extLst>
              <a:ext uri="{FF2B5EF4-FFF2-40B4-BE49-F238E27FC236}">
                <a16:creationId xmlns:a16="http://schemas.microsoft.com/office/drawing/2014/main" id="{7E7952B8-2051-4EAA-B555-F6041BBC25BE}"/>
              </a:ext>
            </a:extLst>
          </p:cNvPr>
          <p:cNvSpPr>
            <a:spLocks noGrp="1"/>
          </p:cNvSpPr>
          <p:nvPr/>
        </p:nvSpPr>
        <p:spPr>
          <a:xfrm>
            <a:off x="9179719" y="2876550"/>
            <a:ext cx="2297906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检查 diff 与日志</a:t>
            </a:r>
          </a:p>
        </p:txBody>
      </p:sp>
      <p:sp>
        <p:nvSpPr>
          <p:cNvPr id="14" name="content-19">
            <a:extLst>
              <a:ext uri="{FF2B5EF4-FFF2-40B4-BE49-F238E27FC236}">
                <a16:creationId xmlns:a16="http://schemas.microsoft.com/office/drawing/2014/main" id="{B98FB946-B02E-4ABD-8BCF-1EDC85805246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研究者对主张、改动和采用决定负责。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70A5297B-8617-4C8F-8D5C-A670AB5EFB38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/>
          <a:p>
            <a:pPr algn="r">
              <a:lnSpc>
                <a:spcPct val="115000"/>
              </a:lnSpc>
              <a:buNone/>
              <a:defRPr sz="120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A3CCB6-FC14-4FB5-8A62-F0F1486BDA8C}"/>
              </a:ext>
            </a:extLst>
          </p:cNvPr>
          <p:cNvSpPr>
            <a:spLocks noGrp="1"/>
          </p:cNvSpPr>
          <p:nvPr/>
        </p:nvSpPr>
        <p:spPr>
          <a:xfrm>
            <a:off x="1028700" y="57150"/>
            <a:ext cx="10629900" cy="5715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离场前，核对四项完成证据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C3383-3EE8-4756-8769-F1AB5397BC24}"/>
              </a:ext>
            </a:extLst>
          </p:cNvPr>
          <p:cNvSpPr>
            <a:spLocks noGrp="1"/>
          </p:cNvSpPr>
          <p:nvPr/>
        </p:nvSpPr>
        <p:spPr>
          <a:xfrm>
            <a:off x="10899648" y="6473952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buNone/>
            </a:pPr>
            <a:r>
              <a:rPr sz="120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4" name="body-342">
            <a:extLst>
              <a:ext uri="{FF2B5EF4-FFF2-40B4-BE49-F238E27FC236}">
                <a16:creationId xmlns:a16="http://schemas.microsoft.com/office/drawing/2014/main" id="{F1729CF5-4389-4046-8F33-E52AFDFBEE39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1104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34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body-343">
            <a:extLst>
              <a:ext uri="{FF2B5EF4-FFF2-40B4-BE49-F238E27FC236}">
                <a16:creationId xmlns:a16="http://schemas.microsoft.com/office/drawing/2014/main" id="{5835CFEA-87E1-4797-B513-58D8F2B9D0AD}"/>
              </a:ext>
            </a:extLst>
          </p:cNvPr>
          <p:cNvSpPr>
            <a:spLocks noGrp="1"/>
          </p:cNvSpPr>
          <p:nvPr/>
        </p:nvSpPr>
        <p:spPr>
          <a:xfrm>
            <a:off x="2209800" y="1533525"/>
            <a:ext cx="93726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一处人工认可的修改</a:t>
            </a:r>
          </a:p>
        </p:txBody>
      </p:sp>
      <p:sp>
        <p:nvSpPr>
          <p:cNvPr id="6" name="rule-344">
            <a:extLst>
              <a:ext uri="{FF2B5EF4-FFF2-40B4-BE49-F238E27FC236}">
                <a16:creationId xmlns:a16="http://schemas.microsoft.com/office/drawing/2014/main" id="{E086FC09-70B3-49DA-87E7-40E0A254BDE5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7" name="body-345">
            <a:extLst>
              <a:ext uri="{FF2B5EF4-FFF2-40B4-BE49-F238E27FC236}">
                <a16:creationId xmlns:a16="http://schemas.microsoft.com/office/drawing/2014/main" id="{727E0D83-C42E-4A21-9217-023685A3C02B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1104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34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body-346">
            <a:extLst>
              <a:ext uri="{FF2B5EF4-FFF2-40B4-BE49-F238E27FC236}">
                <a16:creationId xmlns:a16="http://schemas.microsoft.com/office/drawing/2014/main" id="{01CD03B5-FB7E-4EDF-86E3-891A1086EF6C}"/>
              </a:ext>
            </a:extLst>
          </p:cNvPr>
          <p:cNvSpPr>
            <a:spLocks noGrp="1"/>
          </p:cNvSpPr>
          <p:nvPr/>
        </p:nvSpPr>
        <p:spPr>
          <a:xfrm>
            <a:off x="2209800" y="2600325"/>
            <a:ext cx="93726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与这处修改对应的 diff</a:t>
            </a:r>
          </a:p>
        </p:txBody>
      </p:sp>
      <p:sp>
        <p:nvSpPr>
          <p:cNvPr id="9" name="rule-347">
            <a:extLst>
              <a:ext uri="{FF2B5EF4-FFF2-40B4-BE49-F238E27FC236}">
                <a16:creationId xmlns:a16="http://schemas.microsoft.com/office/drawing/2014/main" id="{7A9E185F-F392-4D1D-9DBA-FC8D62F114AA}"/>
              </a:ext>
            </a:extLst>
          </p:cNvPr>
          <p:cNvSpPr>
            <a:spLocks noGrp="1"/>
          </p:cNvSpPr>
          <p:nvPr/>
        </p:nvSpPr>
        <p:spPr>
          <a:xfrm>
            <a:off x="609600" y="3400425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0" name="body-348">
            <a:extLst>
              <a:ext uri="{FF2B5EF4-FFF2-40B4-BE49-F238E27FC236}">
                <a16:creationId xmlns:a16="http://schemas.microsoft.com/office/drawing/2014/main" id="{DB916A8E-2A83-4002-843E-52D4E503F24D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1104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34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body-349">
            <a:extLst>
              <a:ext uri="{FF2B5EF4-FFF2-40B4-BE49-F238E27FC236}">
                <a16:creationId xmlns:a16="http://schemas.microsoft.com/office/drawing/2014/main" id="{25715E95-C7AC-4EA6-A4FE-2A066EA663B6}"/>
              </a:ext>
            </a:extLst>
          </p:cNvPr>
          <p:cNvSpPr>
            <a:spLocks noGrp="1"/>
          </p:cNvSpPr>
          <p:nvPr/>
        </p:nvSpPr>
        <p:spPr>
          <a:xfrm>
            <a:off x="2209800" y="3667125"/>
            <a:ext cx="93726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一条说明理由与核验的使用记录</a:t>
            </a:r>
          </a:p>
        </p:txBody>
      </p:sp>
      <p:sp>
        <p:nvSpPr>
          <p:cNvPr id="12" name="rule-350">
            <a:extLst>
              <a:ext uri="{FF2B5EF4-FFF2-40B4-BE49-F238E27FC236}">
                <a16:creationId xmlns:a16="http://schemas.microsoft.com/office/drawing/2014/main" id="{3EAC3D14-F23D-4647-BBC2-92AF2CBE9C0D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10972800" cy="0"/>
          </a:xfrm>
          <a:prstGeom prst="line">
            <a:avLst/>
          </a:prstGeom>
          <a:noFill/>
          <a:ln w="12383">
            <a:solidFill>
              <a:srgbClr val="CAD3DC"/>
            </a:solidFill>
          </a:ln>
        </p:spPr>
      </p:sp>
      <p:sp>
        <p:nvSpPr>
          <p:cNvPr id="13" name="body-351">
            <a:extLst>
              <a:ext uri="{FF2B5EF4-FFF2-40B4-BE49-F238E27FC236}">
                <a16:creationId xmlns:a16="http://schemas.microsoft.com/office/drawing/2014/main" id="{942FA01F-B68C-4347-94EF-F0BC85C41F44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1104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34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body-352">
            <a:extLst>
              <a:ext uri="{FF2B5EF4-FFF2-40B4-BE49-F238E27FC236}">
                <a16:creationId xmlns:a16="http://schemas.microsoft.com/office/drawing/2014/main" id="{AE99A5CE-83ED-40A8-9C25-AF02D554D961}"/>
              </a:ext>
            </a:extLst>
          </p:cNvPr>
          <p:cNvSpPr>
            <a:spLocks noGrp="1"/>
          </p:cNvSpPr>
          <p:nvPr/>
        </p:nvSpPr>
        <p:spPr>
          <a:xfrm>
            <a:off x="2209800" y="4733925"/>
            <a:ext cx="93726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  <a:defRPr sz="27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263442"/>
                </a:solidFill>
                <a:latin typeface="微软雅黑"/>
                <a:ea typeface="微软雅黑"/>
                <a:cs typeface="微软雅黑"/>
              </a:rPr>
              <a:t>一个当前不确定性及其阶段位置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" name="judgment-title">
            <a:extLst>
              <a:ext uri="{FF2B5EF4-FFF2-40B4-BE49-F238E27FC236}">
                <a16:creationId xmlns:a16="http://schemas.microsoft.com/office/drawing/2014/main" id="{F0F9DF82-1C61-4BD5-A939-EF6C652D46D7}"/>
              </a:ext>
            </a:extLst>
          </p:cNvPr>
          <p:cNvSpPr>
            <a:spLocks noGrp="1"/>
          </p:cNvSpPr>
          <p:nvPr/>
        </p:nvSpPr>
        <p:spPr>
          <a:xfrm>
            <a:off x="1028700" y="76200"/>
            <a:ext cx="106870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>
              <a:ext uri="{FF2B5EF4-FFF2-40B4-BE49-F238E27FC236}">
                <a16:creationId xmlns:a16="http://schemas.microsoft.com/office/drawing/2014/main" id="{CC586273-CE00-4C01-936C-B9D3C64AD714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L2 以这次修改的读写动作设权限。</a:t>
            </a:r>
          </a:p>
        </p:txBody>
      </p:sp>
      <p:sp>
        <p:nvSpPr>
          <p:cNvPr id="3" name="judgment-body-1">
            <a:extLst>
              <a:ext uri="{FF2B5EF4-FFF2-40B4-BE49-F238E27FC236}">
                <a16:creationId xmlns:a16="http://schemas.microsoft.com/office/drawing/2014/main" id="{9423C7E9-BFC5-4E21-9800-7FBB534E4C4F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08585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回写已有项目：problem-definition.md 的修订段＋同一条 AI 使用/人工操作记录及 diff</a:t>
            </a:r>
          </a:p>
        </p:txBody>
      </p:sp>
      <p:sp>
        <p:nvSpPr>
          <p:cNvPr id="4" name="judgment-body-2">
            <a:extLst>
              <a:ext uri="{FF2B5EF4-FFF2-40B4-BE49-F238E27FC236}">
                <a16:creationId xmlns:a16="http://schemas.microsoft.com/office/drawing/2014/main" id="{7CEFFD55-997D-4640-8129-F8359CC11F0A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10858500" cy="1409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只读指定段落，补课堂留下的真实缺口。安装与排障计入课外总预算。</a:t>
            </a:r>
          </a:p>
        </p:txBody>
      </p:sp>
      <p:sp>
        <p:nvSpPr>
          <p:cNvPr id="5" name="judgment-source">
            <a:extLst>
              <a:ext uri="{FF2B5EF4-FFF2-40B4-BE49-F238E27FC236}">
                <a16:creationId xmlns:a16="http://schemas.microsoft.com/office/drawing/2014/main" id="{F208664E-F930-4D86-9777-4A51EF310D7F}"/>
              </a:ext>
            </a:extLst>
          </p:cNvPr>
          <p:cNvSpPr>
            <a:spLocks noGrp="1"/>
          </p:cNvSpPr>
          <p:nvPr/>
        </p:nvSpPr>
        <p:spPr>
          <a:xfrm>
            <a:off x="666750" y="6276975"/>
            <a:ext cx="10572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>
              <a:ext uri="{FF2B5EF4-FFF2-40B4-BE49-F238E27FC236}">
                <a16:creationId xmlns:a16="http://schemas.microsoft.com/office/drawing/2014/main" id="{9031D20B-908D-41D2-8039-5CB9CA688027}"/>
              </a:ext>
            </a:extLst>
          </p:cNvPr>
          <p:cNvSpPr>
            <a:spLocks noGrp="1"/>
          </p:cNvSpPr>
          <p:nvPr/>
        </p:nvSpPr>
        <p:spPr>
          <a:xfrm>
            <a:off x="11715750" y="6562725"/>
            <a:ext cx="2381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1423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5467</Words>
  <Application>Microsoft Macintosh PowerPoint</Application>
  <DocSecurity>0</DocSecurity>
  <PresentationFormat>Widescreen</PresentationFormat>
  <Paragraphs>761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Microsoft YaHei</vt:lpstr>
      <vt:lpstr>Microsoft YaHei</vt:lpstr>
      <vt:lpstr>Arial</vt:lpstr>
      <vt:lpstr>Consolas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Yaohui</cp:lastModifiedBy>
  <cp:revision>2</cp:revision>
  <dcterms:created xsi:type="dcterms:W3CDTF">2026-09-16T01:34:05Z</dcterms:created>
  <dcterms:modified xsi:type="dcterms:W3CDTF">2026-09-24T01:57:41Z</dcterms:modified>
</cp:coreProperties>
</file>