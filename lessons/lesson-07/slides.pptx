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66308920ec24243" /><Relationship Type="http://schemas.openxmlformats.org/officeDocument/2006/relationships/extended-properties" Target="/docProps/app.xml" Id="R566fd70d43bc423f" /><Relationship Type="http://schemas.openxmlformats.org/officeDocument/2006/relationships/officeDocument" Target="/ppt/presentation.xml" Id="R97ee8b6415f046b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c46f51f68e34c12"/>
  </p:sldMasterIdLst>
  <p:notesMasterIdLst>
    <p:notesMasterId xmlns:r="http://schemas.openxmlformats.org/officeDocument/2006/relationships" r:id="R9695b00706354251"/>
  </p:notesMasterIdLst>
  <p:sldIdLst>
    <p:sldId xmlns:r="http://schemas.openxmlformats.org/officeDocument/2006/relationships" id="256" r:id="Rad7b9bc4ba6d44e0"/>
    <p:sldId xmlns:r="http://schemas.openxmlformats.org/officeDocument/2006/relationships" id="257" r:id="Ra025baa54d394886"/>
    <p:sldId xmlns:r="http://schemas.openxmlformats.org/officeDocument/2006/relationships" id="258" r:id="R91c3f24dd7cc4566"/>
    <p:sldId xmlns:r="http://schemas.openxmlformats.org/officeDocument/2006/relationships" id="259" r:id="Rc62fe00c230345c3"/>
    <p:sldId xmlns:r="http://schemas.openxmlformats.org/officeDocument/2006/relationships" id="260" r:id="R084751d91c0e40d1"/>
    <p:sldId xmlns:r="http://schemas.openxmlformats.org/officeDocument/2006/relationships" id="261" r:id="R40ba119f79cb4b7d"/>
    <p:sldId xmlns:r="http://schemas.openxmlformats.org/officeDocument/2006/relationships" id="262" r:id="Rc2955bbd03f54c7a"/>
    <p:sldId xmlns:r="http://schemas.openxmlformats.org/officeDocument/2006/relationships" id="263" r:id="Rc149b81312e74bb7"/>
    <p:sldId xmlns:r="http://schemas.openxmlformats.org/officeDocument/2006/relationships" id="264" r:id="R388ac2424cde49c7"/>
    <p:sldId xmlns:r="http://schemas.openxmlformats.org/officeDocument/2006/relationships" id="265" r:id="R9a28bb417be1456c"/>
    <p:sldId xmlns:r="http://schemas.openxmlformats.org/officeDocument/2006/relationships" id="266" r:id="Ra5588a71dcf6478a"/>
    <p:sldId xmlns:r="http://schemas.openxmlformats.org/officeDocument/2006/relationships" id="267" r:id="R1d5d0d147fe74927"/>
    <p:sldId xmlns:r="http://schemas.openxmlformats.org/officeDocument/2006/relationships" id="268" r:id="R579150b870114fd0"/>
    <p:sldId xmlns:r="http://schemas.openxmlformats.org/officeDocument/2006/relationships" id="269" r:id="R3112e587224042a5"/>
    <p:sldId xmlns:r="http://schemas.openxmlformats.org/officeDocument/2006/relationships" id="270" r:id="R7d31546a4a73437b"/>
    <p:sldId xmlns:r="http://schemas.openxmlformats.org/officeDocument/2006/relationships" id="271" r:id="R5d9a8979eb7747d1"/>
    <p:sldId xmlns:r="http://schemas.openxmlformats.org/officeDocument/2006/relationships" id="272" r:id="Rdf9a94e8cacc4ad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925b67a16d944a2" /><Relationship Type="http://schemas.openxmlformats.org/officeDocument/2006/relationships/slideMaster" Target="/ppt/slideMasters/slideMaster1.xml" Id="R7c46f51f68e34c12" /><Relationship Type="http://schemas.openxmlformats.org/officeDocument/2006/relationships/notesMaster" Target="/ppt/notesMasters/notesMaster1.xml" Id="R9695b00706354251" /><Relationship Type="http://schemas.openxmlformats.org/officeDocument/2006/relationships/presProps" Target="/ppt/presProps.xml" Id="R7b73802e8951416f" /><Relationship Type="http://schemas.openxmlformats.org/officeDocument/2006/relationships/viewProps" Target="/ppt/viewProps.xml" Id="R45aa129495f24679" /><Relationship Type="http://schemas.openxmlformats.org/officeDocument/2006/relationships/tableStyles" Target="/ppt/tableStyles.xml" Id="R25d0a63c2ca04bee" /><Relationship Type="http://schemas.openxmlformats.org/officeDocument/2006/relationships/slide" Target="/ppt/slides/slide1.xml" Id="Rad7b9bc4ba6d44e0" /><Relationship Type="http://schemas.openxmlformats.org/officeDocument/2006/relationships/slide" Target="/ppt/slides/slide2.xml" Id="Ra025baa54d394886" /><Relationship Type="http://schemas.openxmlformats.org/officeDocument/2006/relationships/slide" Target="/ppt/slides/slide3.xml" Id="R91c3f24dd7cc4566" /><Relationship Type="http://schemas.openxmlformats.org/officeDocument/2006/relationships/slide" Target="/ppt/slides/slide4.xml" Id="Rc62fe00c230345c3" /><Relationship Type="http://schemas.openxmlformats.org/officeDocument/2006/relationships/slide" Target="/ppt/slides/slide5.xml" Id="R084751d91c0e40d1" /><Relationship Type="http://schemas.openxmlformats.org/officeDocument/2006/relationships/slide" Target="/ppt/slides/slide6.xml" Id="R40ba119f79cb4b7d" /><Relationship Type="http://schemas.openxmlformats.org/officeDocument/2006/relationships/slide" Target="/ppt/slides/slide7.xml" Id="Rc2955bbd03f54c7a" /><Relationship Type="http://schemas.openxmlformats.org/officeDocument/2006/relationships/slide" Target="/ppt/slides/slide8.xml" Id="Rc149b81312e74bb7" /><Relationship Type="http://schemas.openxmlformats.org/officeDocument/2006/relationships/slide" Target="/ppt/slides/slide9.xml" Id="R388ac2424cde49c7" /><Relationship Type="http://schemas.openxmlformats.org/officeDocument/2006/relationships/slide" Target="/ppt/slides/slide10.xml" Id="R9a28bb417be1456c" /><Relationship Type="http://schemas.openxmlformats.org/officeDocument/2006/relationships/slide" Target="/ppt/slides/slide11.xml" Id="Ra5588a71dcf6478a" /><Relationship Type="http://schemas.openxmlformats.org/officeDocument/2006/relationships/slide" Target="/ppt/slides/slide12.xml" Id="R1d5d0d147fe74927" /><Relationship Type="http://schemas.openxmlformats.org/officeDocument/2006/relationships/slide" Target="/ppt/slides/slide13.xml" Id="R579150b870114fd0" /><Relationship Type="http://schemas.openxmlformats.org/officeDocument/2006/relationships/slide" Target="/ppt/slides/slide14.xml" Id="R3112e587224042a5" /><Relationship Type="http://schemas.openxmlformats.org/officeDocument/2006/relationships/slide" Target="/ppt/slides/slide15.xml" Id="R7d31546a4a73437b" /><Relationship Type="http://schemas.openxmlformats.org/officeDocument/2006/relationships/slide" Target="/ppt/slides/slide16.xml" Id="R5d9a8979eb7747d1" /><Relationship Type="http://schemas.openxmlformats.org/officeDocument/2006/relationships/slide" Target="/ppt/slides/slide17.xml" Id="Rdf9a94e8cacc4ad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898cb03311948e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f06d611e6b74640" /><Relationship Type="http://schemas.openxmlformats.org/officeDocument/2006/relationships/notesMaster" Target="/ppt/notesMasters/notesMaster1.xml" Id="R09deacbf6d61434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7a5359ca95a4eae" /><Relationship Type="http://schemas.openxmlformats.org/officeDocument/2006/relationships/notesMaster" Target="/ppt/notesMasters/notesMaster1.xml" Id="Rf543d1721d7d45d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fc75773724e46d7" /><Relationship Type="http://schemas.openxmlformats.org/officeDocument/2006/relationships/notesMaster" Target="/ppt/notesMasters/notesMaster1.xml" Id="R09baf2045dd047a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637065ee5e24c93" /><Relationship Type="http://schemas.openxmlformats.org/officeDocument/2006/relationships/notesMaster" Target="/ppt/notesMasters/notesMaster1.xml" Id="R62d570b884a0424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ce812805dc94579" /><Relationship Type="http://schemas.openxmlformats.org/officeDocument/2006/relationships/notesMaster" Target="/ppt/notesMasters/notesMaster1.xml" Id="R20698407e9764a1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61d0cf3665e4b81" /><Relationship Type="http://schemas.openxmlformats.org/officeDocument/2006/relationships/notesMaster" Target="/ppt/notesMasters/notesMaster1.xml" Id="Rdbcb1ab21c73473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432084c1a904624" /><Relationship Type="http://schemas.openxmlformats.org/officeDocument/2006/relationships/notesMaster" Target="/ppt/notesMasters/notesMaster1.xml" Id="R417e3b03ceb5487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77cea436b204b83" /><Relationship Type="http://schemas.openxmlformats.org/officeDocument/2006/relationships/notesMaster" Target="/ppt/notesMasters/notesMaster1.xml" Id="R92800a96850d4b2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78481e484b84cef" /><Relationship Type="http://schemas.openxmlformats.org/officeDocument/2006/relationships/notesMaster" Target="/ppt/notesMasters/notesMaster1.xml" Id="R7319b2927683469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77127c0712542ce" /><Relationship Type="http://schemas.openxmlformats.org/officeDocument/2006/relationships/notesMaster" Target="/ppt/notesMasters/notesMaster1.xml" Id="R4c643d0e225f43f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d1b685cb4114be4" /><Relationship Type="http://schemas.openxmlformats.org/officeDocument/2006/relationships/notesMaster" Target="/ppt/notesMasters/notesMaster1.xml" Id="Rfff773eb47ca4b4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babb73a2d5845ca" /><Relationship Type="http://schemas.openxmlformats.org/officeDocument/2006/relationships/notesMaster" Target="/ppt/notesMasters/notesMaster1.xml" Id="R367ed6ccea394fa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eecbb4a7bbb48cb" /><Relationship Type="http://schemas.openxmlformats.org/officeDocument/2006/relationships/notesMaster" Target="/ppt/notesMasters/notesMaster1.xml" Id="Rf3d2b81a74b94c7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90d6c0bedc7419a" /><Relationship Type="http://schemas.openxmlformats.org/officeDocument/2006/relationships/notesMaster" Target="/ppt/notesMasters/notesMaster1.xml" Id="Rc62b19f6f3664e9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b12b8c127ba4f94" /><Relationship Type="http://schemas.openxmlformats.org/officeDocument/2006/relationships/notesMaster" Target="/ppt/notesMasters/notesMaster1.xml" Id="Rec02244ca27f4fb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a1ebf1c4f144950" /><Relationship Type="http://schemas.openxmlformats.org/officeDocument/2006/relationships/notesMaster" Target="/ppt/notesMasters/notesMaster1.xml" Id="Rb6a233f8bb3a442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1e00300ef544857" /><Relationship Type="http://schemas.openxmlformats.org/officeDocument/2006/relationships/notesMaster" Target="/ppt/notesMasters/notesMaster1.xml" Id="R7858b278f7f2484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问题门确认问题值得问、问得清、做得完，但没有证明机制成立。本课把问题门输出转成可区分、可停止的实验规格，并当场记录研究判断。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- /Users/bright/Projects/courses/graduate/lessons/lesson-07/slides.md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快问学生自己的可证伪命题背后隐含了什么机制，只听回答，不展开评价。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/Users/bright/Projects/courses/graduate/lessons/lesson-06/handout.md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明确课堂最低闭环与课间补全边界：今天先跑通一主一替代，第 8 课分享前再补第二个替代。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/Users/bright/Projects/courses/graduate/lessons/lesson-07/teaching-plan.md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请学生判断自己此前写的假设更接近结果预测还是机制假设，并用自己的命题填四要素。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- /Users/bright/Projects/courses/graduate/lessons/lesson-01/handout.md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引用 Platt 的强推理：竞争解释必须导向不同的可观察结果。让学生先写一个替代假设，再写什么结果支持它。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Platt, J. R. (1964). Strong Inference. Science 146(3642):347-353. DOI: 10.1126/science.146.3642.347</a:t>
            </a:r>
          </a:p>
          <a:p xmlns:a="http://schemas.openxmlformats.org/drawingml/2006/main">
            <a:r>
              <a:t>- /Users/bright/Projects/courses/graduate/course/reading-list.md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让学生指出自己第 6 课材料中的事实、假设与判断，并选择一个最需要当场记录的取舍。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- /Users/bright/Projects/courses/graduate/lessons/lesson-05/handout.md</a:t>
            </a:r>
          </a:p>
          <a:p xmlns:a="http://schemas.openxmlformats.org/drawingml/2006/main">
            <a:r>
              <a:t>- /Users/bright/Projects/courses/graduate/lessons/lesson-01/handout.md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比较的目的不是宣布哪个方案永远更好，而是明确当前取舍如何依赖区分力、公平性和可执行性。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逐行问：哪个结果支持当前行，哪个结果支持另一行。第 8 课同伴会追问实验能否改变判断。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Platt, J. R. (1964). Strong Inference. Science 146(3642):347-353.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让学生列自己的控制变量并写停止条件。强调没有预先停止规则，就可能跑到出现显著结果为止。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Box, G. E. P., Hunter, J. S., &amp; Hunter, W. G. (2005). Statistics for Experimenters, 2nd ed., Chapter 1 and Section 3.4.</a:t>
            </a:r>
          </a:p>
          <a:p xmlns:a="http://schemas.openxmlformats.org/drawingml/2006/main">
            <a:r>
              <a:t>- NIST/SEMATECH e-Handbook of Statistical Methods: Experimental Design.</a:t>
            </a:r>
          </a:p>
          <a:p xmlns:a="http://schemas.openxmlformats.org/drawingml/2006/main">
            <a:r>
              <a:t>- /Users/bright/Projects/courses/graduate/course/reading-list.md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可以生成候选，但最终机制判断由学生负责。要求每人至少淘汰一个候选并记录理由。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- /Users/bright/Projects/courses/graduate/lessons/lesson-03/handout.md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演示前四步。案例为课程虚构样例，只演示推理工件，不声称阅读卡已经造成任何真实效应。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- Platt, J. R. (1964). Strong Inference.</a:t>
            </a:r>
          </a:p>
          <a:p xmlns:a="http://schemas.openxmlformats.org/drawingml/2006/main">
            <a:r>
              <a:t>- Teaching artifact; fictional example, not empirical evidence.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演示后五步。Omission Rate Paradox 与 Smith 2023 明确是故意设置的不存在文献，用于练习来源核验。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- Teaching artifact; the cited fake paper is intentionally nonexistent.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用本页收束演示，不逐条扩讲十个错误；请学生抓住共同根因：实验结果必须能够改变研究判断。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- /Users/bright/Projects/courses/graduate/lessons/lesson-07/teaching-plan.md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48-50 分钟说明任务，50 分钟后停留本页。巡视只处理共同卡点；网络失败时切换预录样例，不逐台排障。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/Users/bright/Projects/courses/graduate/lessons/lesson-07/teaching-plan.md</a:t>
            </a:r>
          </a:p>
          <a:p xmlns:a="http://schemas.openxmlformats.org/drawingml/2006/main">
            <a:r>
              <a:t>- /Users/bright/Projects/courses/graduate/course/starter-template.md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本页严格对齐 assignments.md 的五个权威反馈维度。同伴只提问题，作者记录采纳、拒绝或暂缓及理由。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/Users/bright/Projects/courses/graduate/lessons/lesson-07/teaching-plan.md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回收主机制、替代机制、可区分实验与研究判断记录的关系。本页不新增任务。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- /Users/bright/Projects/courses/graduate/lessons/lesson-07/slides.md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收束到开场问题：下一步实验是否真的会改变判断。本课不新增作业，工件进入第 8 课分享和第 9 课判断门。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- /Users/bright/Projects/courses/graduate/lessons/lesson-07/teaching-plan.md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8a085467ec4a15" /><Relationship Type="http://schemas.openxmlformats.org/officeDocument/2006/relationships/image" Target="/ppt/media/image.png" Id="R06e6371f3f3847a8" /><Relationship Type="http://schemas.openxmlformats.org/officeDocument/2006/relationships/image" Target="/ppt/media/image2.png" Id="R9afdfa328a054e34" /><Relationship Type="http://schemas.openxmlformats.org/officeDocument/2006/relationships/image" Target="/ppt/media/image3.png" Id="R69815df3d2564350" /><Relationship Type="http://schemas.openxmlformats.org/officeDocument/2006/relationships/image" Target="/ppt/media/image4.png" Id="Rf5d7df017ea448c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02d48bc3ae4e5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e5c78f5bc04b31" /><Relationship Type="http://schemas.openxmlformats.org/officeDocument/2006/relationships/image" Target="/ppt/media/image2.png" Id="Re759c330c3b24d5f" /><Relationship Type="http://schemas.openxmlformats.org/officeDocument/2006/relationships/image" Target="/ppt/media/image5.png" Id="R3d4dab4370aa446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87e1349a794df3" /><Relationship Type="http://schemas.openxmlformats.org/officeDocument/2006/relationships/image" Target="/ppt/media/image.png" Id="Re0b1df4301de4c23" /><Relationship Type="http://schemas.openxmlformats.org/officeDocument/2006/relationships/image" Target="/ppt/media/image3.png" Id="Re1ae060a2a764031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e6371f3f3847a8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afdfa328a054e34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9815df3d2564350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d7df017ea448c7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759c330c3b24d5f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4dab4370aa44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b1df4301de4c23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1ae060a2a764031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bc3eedc6cba4fcf" /><Relationship Type="http://schemas.openxmlformats.org/officeDocument/2006/relationships/slideLayout" Target="/ppt/slideLayouts/slideLayout1.xml" Id="Rc6698795020f4221" /><Relationship Type="http://schemas.openxmlformats.org/officeDocument/2006/relationships/slideLayout" Target="/ppt/slideLayouts/slideLayout2.xml" Id="R8a03c556a97a4231" /><Relationship Type="http://schemas.openxmlformats.org/officeDocument/2006/relationships/slideLayout" Target="/ppt/slideLayouts/slideLayout3.xml" Id="R2e7485e5e2d84ed9" /><Relationship Type="http://schemas.openxmlformats.org/officeDocument/2006/relationships/slideLayout" Target="/ppt/slideLayouts/slideLayout4.xml" Id="Rdf76429a30fc41d6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6698795020f4221"/>
    <p:sldLayoutId xmlns:r="http://schemas.openxmlformats.org/officeDocument/2006/relationships" id="2147483650" r:id="R8a03c556a97a4231"/>
    <p:sldLayoutId xmlns:r="http://schemas.openxmlformats.org/officeDocument/2006/relationships" id="2147483651" r:id="R2e7485e5e2d84ed9"/>
    <p:sldLayoutId xmlns:r="http://schemas.openxmlformats.org/officeDocument/2006/relationships" id="2147483652" r:id="Rdf76429a30fc41d6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3e21884e584d99" /><Relationship Type="http://schemas.openxmlformats.org/officeDocument/2006/relationships/notesSlide" Target="/ppt/notesSlides/notesSlide1.xml" Id="Re1437ce0c18e47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a242e9fd6434e71" /><Relationship Type="http://schemas.openxmlformats.org/officeDocument/2006/relationships/notesSlide" Target="/ppt/notesSlides/notesSlide2.xml" Id="R82b6a18e219541b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059c4fe658a41fc" /><Relationship Type="http://schemas.openxmlformats.org/officeDocument/2006/relationships/notesSlide" Target="/ppt/notesSlides/notesSlide3.xml" Id="R079cfa53fc8e4c1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bf5209bbd4042f5" /><Relationship Type="http://schemas.openxmlformats.org/officeDocument/2006/relationships/notesSlide" Target="/ppt/notesSlides/notesSlide4.xml" Id="R48e2b6f5fc8d4f0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111ab5f0c9a4e62" /><Relationship Type="http://schemas.openxmlformats.org/officeDocument/2006/relationships/notesSlide" Target="/ppt/notesSlides/notesSlide5.xml" Id="Rac8f18e0e6c9467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abc1b258fa44fe6" /><Relationship Type="http://schemas.openxmlformats.org/officeDocument/2006/relationships/notesSlide" Target="/ppt/notesSlides/notesSlide6.xml" Id="R203082f33053491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b5b78e9dab0458c" /><Relationship Type="http://schemas.openxmlformats.org/officeDocument/2006/relationships/notesSlide" Target="/ppt/notesSlides/notesSlide7.xml" Id="R4385e169c05e4c8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be8f4d956db4f92" /><Relationship Type="http://schemas.openxmlformats.org/officeDocument/2006/relationships/notesSlide" Target="/ppt/notesSlides/notesSlide8.xml" Id="Rc6befa597b724ba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8d5861d30e046d8" /><Relationship Type="http://schemas.openxmlformats.org/officeDocument/2006/relationships/notesSlide" Target="/ppt/notesSlides/notesSlide9.xml" Id="R5f294753c66e4b5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08162e75b7a4d9e" /><Relationship Type="http://schemas.openxmlformats.org/officeDocument/2006/relationships/notesSlide" Target="/ppt/notesSlides/notesSlide10.xml" Id="R090f903aa54c482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c7fc28057db4d9a" /><Relationship Type="http://schemas.openxmlformats.org/officeDocument/2006/relationships/notesSlide" Target="/ppt/notesSlides/notesSlide11.xml" Id="R4e1453bffc3c46a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7ac1bc2e7e6443b" /><Relationship Type="http://schemas.openxmlformats.org/officeDocument/2006/relationships/notesSlide" Target="/ppt/notesSlides/notesSlide12.xml" Id="Rc7c715490f2a4f3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49b7a6c4594428b" /><Relationship Type="http://schemas.openxmlformats.org/officeDocument/2006/relationships/notesSlide" Target="/ppt/notesSlides/notesSlide13.xml" Id="R3a118c25be4f4e3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cc67cb8df8b49ae" /><Relationship Type="http://schemas.openxmlformats.org/officeDocument/2006/relationships/notesSlide" Target="/ppt/notesSlides/notesSlide14.xml" Id="R12c37b83ab184d6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97d5a11c1c94d38" /><Relationship Type="http://schemas.openxmlformats.org/officeDocument/2006/relationships/notesSlide" Target="/ppt/notesSlides/notesSlide15.xml" Id="R3100ed2cbac2499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1a3db06d7b64151" /><Relationship Type="http://schemas.openxmlformats.org/officeDocument/2006/relationships/notesSlide" Target="/ppt/notesSlides/notesSlide16.xml" Id="Ra263f44ff8664ae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09880df507145fb" /><Relationship Type="http://schemas.openxmlformats.org/officeDocument/2006/relationships/notesSlide" Target="/ppt/notesSlides/notesSlide17.xml" Id="Rab8b08e9f275487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59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31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第7讲 机制假设、研究判断与实验设计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6 课之后，问题门还没有证明机制成立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p02-left-title">
            <a:extLst xmlns:a="http://schemas.openxmlformats.org/drawingml/2006/main">
              <a:ext uri="{FF2B5EF4-FFF2-40B4-BE49-F238E27FC236}">
                <a16:creationId xmlns:a16="http://schemas.microsoft.com/office/drawing/2014/main" id="{F01BCB36-6508-41AB-A2B6-AE678E4C1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第 6 课已建立</a:t>
            </a:r>
          </a:p>
        </p:txBody>
      </p:sp>
      <p:sp>
        <p:nvSpPr>
          <p:cNvPr id="7" name="p02-left-0">
            <a:extLst xmlns:a="http://schemas.openxmlformats.org/drawingml/2006/main">
              <a:ext uri="{FF2B5EF4-FFF2-40B4-BE49-F238E27FC236}">
                <a16:creationId xmlns:a16="http://schemas.microsoft.com/office/drawing/2014/main" id="{16C2D173-A5DD-4317-9FBC-1B64CB7B9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可证伪命题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含范围与非例</a:t>
            </a:r>
          </a:p>
        </p:txBody>
      </p:sp>
      <p:sp>
        <p:nvSpPr>
          <p:cNvPr id="8" name="p02-left-1">
            <a:extLst xmlns:a="http://schemas.openxmlformats.org/drawingml/2006/main">
              <a:ext uri="{FF2B5EF4-FFF2-40B4-BE49-F238E27FC236}">
                <a16:creationId xmlns:a16="http://schemas.microsoft.com/office/drawing/2014/main" id="{657A910E-C0CB-4B1D-811A-B306EEA2B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432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第一性原理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必要条件清单</a:t>
            </a:r>
          </a:p>
        </p:txBody>
      </p:sp>
      <p:sp>
        <p:nvSpPr>
          <p:cNvPr id="9" name="p02-left-2">
            <a:extLst xmlns:a="http://schemas.openxmlformats.org/drawingml/2006/main">
              <a:ext uri="{FF2B5EF4-FFF2-40B4-BE49-F238E27FC236}">
                <a16:creationId xmlns:a16="http://schemas.microsoft.com/office/drawing/2014/main" id="{27BE5453-0505-4911-ADF2-E9D15658C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100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证据地图初版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研究空白候选</a:t>
            </a:r>
          </a:p>
        </p:txBody>
      </p:sp>
      <p:sp>
        <p:nvSpPr>
          <p:cNvPr id="10" name="p02-separator">
            <a:extLst xmlns:a="http://schemas.openxmlformats.org/drawingml/2006/main">
              <a:ext uri="{FF2B5EF4-FFF2-40B4-BE49-F238E27FC236}">
                <a16:creationId xmlns:a16="http://schemas.microsoft.com/office/drawing/2014/main" id="{70BDD4DE-59AC-44F9-A93C-65D058A98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191000" y="2962275"/>
            <a:ext cx="3714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02-not-equal">
            <a:extLst xmlns:a="http://schemas.openxmlformats.org/drawingml/2006/main">
              <a:ext uri="{FF2B5EF4-FFF2-40B4-BE49-F238E27FC236}">
                <a16:creationId xmlns:a16="http://schemas.microsoft.com/office/drawing/2014/main" id="{B71AB29E-63E9-4CD1-9063-100CADC2D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476500"/>
            <a:ext cx="8953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C8161E"/>
                </a:solidFill>
              </a:defRPr>
            </a:pPr>
            <a:r>
              <a:rPr sz="33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≠</a:t>
            </a:r>
          </a:p>
        </p:txBody>
      </p:sp>
      <p:sp>
        <p:nvSpPr>
          <p:cNvPr id="12" name="p02-right-title">
            <a:extLst xmlns:a="http://schemas.openxmlformats.org/drawingml/2006/main">
              <a:ext uri="{FF2B5EF4-FFF2-40B4-BE49-F238E27FC236}">
                <a16:creationId xmlns:a16="http://schemas.microsoft.com/office/drawing/2014/main" id="{9508E22C-7F36-48A9-BC56-D6CB802FF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9906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仍未回答</a:t>
            </a:r>
          </a:p>
        </p:txBody>
      </p:sp>
      <p:sp>
        <p:nvSpPr>
          <p:cNvPr id="13" name="p02-right-0">
            <a:extLst xmlns:a="http://schemas.openxmlformats.org/drawingml/2006/main">
              <a:ext uri="{FF2B5EF4-FFF2-40B4-BE49-F238E27FC236}">
                <a16:creationId xmlns:a16="http://schemas.microsoft.com/office/drawing/2014/main" id="{B068E343-F37F-403D-9E04-A624979DC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764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为什么会发生？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机制假设</a:t>
            </a:r>
          </a:p>
        </p:txBody>
      </p:sp>
      <p:sp>
        <p:nvSpPr>
          <p:cNvPr id="14" name="p02-right-1">
            <a:extLst xmlns:a="http://schemas.openxmlformats.org/drawingml/2006/main">
              <a:ext uri="{FF2B5EF4-FFF2-40B4-BE49-F238E27FC236}">
                <a16:creationId xmlns:a16="http://schemas.microsoft.com/office/drawing/2014/main" id="{5133F2C0-6D1D-476E-9E83-F74C12F08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432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还有什么解释？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替代假设</a:t>
            </a:r>
          </a:p>
        </p:txBody>
      </p:sp>
      <p:sp>
        <p:nvSpPr>
          <p:cNvPr id="15" name="p02-right-2">
            <a:extLst xmlns:a="http://schemas.openxmlformats.org/drawingml/2006/main">
              <a:ext uri="{FF2B5EF4-FFF2-40B4-BE49-F238E27FC236}">
                <a16:creationId xmlns:a16="http://schemas.microsoft.com/office/drawing/2014/main" id="{88E3A877-23A8-490E-AA3F-87E331697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10000"/>
            <a:ext cx="3810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?  什么结果能区分？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区分实验</a:t>
            </a:r>
          </a:p>
        </p:txBody>
      </p:sp>
      <p:sp>
        <p:nvSpPr>
          <p:cNvPr id="16" name="p02-bottom">
            <a:extLst xmlns:a="http://schemas.openxmlformats.org/drawingml/2006/main">
              <a:ext uri="{FF2B5EF4-FFF2-40B4-BE49-F238E27FC236}">
                <a16:creationId xmlns:a16="http://schemas.microsoft.com/office/drawing/2014/main" id="{4A11204F-0E01-431C-9065-0AC8461B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219700"/>
            <a:ext cx="571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问题成立 ≠ 假设成立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本课先跑通一条可复盘的机制—判断—规格链路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p03-b-0">
            <a:extLst xmlns:a="http://schemas.openxmlformats.org/drawingml/2006/main">
              <a:ext uri="{FF2B5EF4-FFF2-40B4-BE49-F238E27FC236}">
                <a16:creationId xmlns:a16="http://schemas.microsoft.com/office/drawing/2014/main" id="{2B2C54E6-1C5D-44C7-9E11-A582399CD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239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03-g-0">
            <a:extLst xmlns:a="http://schemas.openxmlformats.org/drawingml/2006/main">
              <a:ext uri="{FF2B5EF4-FFF2-40B4-BE49-F238E27FC236}">
                <a16:creationId xmlns:a16="http://schemas.microsoft.com/office/drawing/2014/main" id="{8544FA33-5E1E-48AD-8AF4-C45F9CE3A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0668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写出含中间过程的因果假设</a:t>
            </a:r>
          </a:p>
        </p:txBody>
      </p:sp>
      <p:sp>
        <p:nvSpPr>
          <p:cNvPr id="8" name="p03-b-1">
            <a:extLst xmlns:a="http://schemas.openxmlformats.org/drawingml/2006/main">
              <a:ext uri="{FF2B5EF4-FFF2-40B4-BE49-F238E27FC236}">
                <a16:creationId xmlns:a16="http://schemas.microsoft.com/office/drawing/2014/main" id="{276433AE-3D13-420C-A269-4BB6A8F77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11239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p03-g-1">
            <a:extLst xmlns:a="http://schemas.openxmlformats.org/drawingml/2006/main">
              <a:ext uri="{FF2B5EF4-FFF2-40B4-BE49-F238E27FC236}">
                <a16:creationId xmlns:a16="http://schemas.microsoft.com/office/drawing/2014/main" id="{526B9080-892B-4207-853D-E7A427198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0668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给出反证点与 1 个可区分替代</a:t>
            </a:r>
          </a:p>
        </p:txBody>
      </p:sp>
      <p:sp>
        <p:nvSpPr>
          <p:cNvPr id="10" name="p03-b-2">
            <a:extLst xmlns:a="http://schemas.openxmlformats.org/drawingml/2006/main">
              <a:ext uri="{FF2B5EF4-FFF2-40B4-BE49-F238E27FC236}">
                <a16:creationId xmlns:a16="http://schemas.microsoft.com/office/drawing/2014/main" id="{FEAB5108-3AF5-404A-BF5F-813E2628C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764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p03-g-2">
            <a:extLst xmlns:a="http://schemas.openxmlformats.org/drawingml/2006/main">
              <a:ext uri="{FF2B5EF4-FFF2-40B4-BE49-F238E27FC236}">
                <a16:creationId xmlns:a16="http://schemas.microsoft.com/office/drawing/2014/main" id="{75158791-2DA7-4307-94BA-5011E94CB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193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区分事实、假设、判断、待验证</a:t>
            </a:r>
          </a:p>
        </p:txBody>
      </p:sp>
      <p:sp>
        <p:nvSpPr>
          <p:cNvPr id="12" name="p03-b-3">
            <a:extLst xmlns:a="http://schemas.openxmlformats.org/drawingml/2006/main">
              <a:ext uri="{FF2B5EF4-FFF2-40B4-BE49-F238E27FC236}">
                <a16:creationId xmlns:a16="http://schemas.microsoft.com/office/drawing/2014/main" id="{BAEAC8F3-BCF8-4160-BEB7-4F2E62579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20764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p03-g-3">
            <a:extLst xmlns:a="http://schemas.openxmlformats.org/drawingml/2006/main">
              <a:ext uri="{FF2B5EF4-FFF2-40B4-BE49-F238E27FC236}">
                <a16:creationId xmlns:a16="http://schemas.microsoft.com/office/drawing/2014/main" id="{0CE42816-E40D-467B-AB46-E6E48E839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0193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完成一条六字段研究判断</a:t>
            </a:r>
          </a:p>
        </p:txBody>
      </p:sp>
      <p:sp>
        <p:nvSpPr>
          <p:cNvPr id="14" name="p03-b-4">
            <a:extLst xmlns:a="http://schemas.openxmlformats.org/drawingml/2006/main">
              <a:ext uri="{FF2B5EF4-FFF2-40B4-BE49-F238E27FC236}">
                <a16:creationId xmlns:a16="http://schemas.microsoft.com/office/drawing/2014/main" id="{4C5DA87C-1731-4117-8C3F-E4B2B3EF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289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5" name="p03-g-4">
            <a:extLst xmlns:a="http://schemas.openxmlformats.org/drawingml/2006/main">
              <a:ext uri="{FF2B5EF4-FFF2-40B4-BE49-F238E27FC236}">
                <a16:creationId xmlns:a16="http://schemas.microsoft.com/office/drawing/2014/main" id="{EEB4EC11-3425-4E4B-B094-1FF18CDF5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建立假设—指标—实验映射</a:t>
            </a:r>
          </a:p>
        </p:txBody>
      </p:sp>
      <p:sp>
        <p:nvSpPr>
          <p:cNvPr id="16" name="p03-b-5">
            <a:extLst xmlns:a="http://schemas.openxmlformats.org/drawingml/2006/main">
              <a:ext uri="{FF2B5EF4-FFF2-40B4-BE49-F238E27FC236}">
                <a16:creationId xmlns:a16="http://schemas.microsoft.com/office/drawing/2014/main" id="{5F7BD22E-6C89-45F7-83B2-A13431D79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30289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7" name="p03-g-5">
            <a:extLst xmlns:a="http://schemas.openxmlformats.org/drawingml/2006/main">
              <a:ext uri="{FF2B5EF4-FFF2-40B4-BE49-F238E27FC236}">
                <a16:creationId xmlns:a16="http://schemas.microsoft.com/office/drawing/2014/main" id="{BF288710-4F09-40A2-8CB5-A64D17FA4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71800"/>
            <a:ext cx="2724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核验 AI 候选，不把线索当证据</a:t>
            </a:r>
          </a:p>
        </p:txBody>
      </p:sp>
      <p:sp>
        <p:nvSpPr>
          <p:cNvPr id="18" name="p03-separator">
            <a:extLst xmlns:a="http://schemas.openxmlformats.org/drawingml/2006/main">
              <a:ext uri="{FF2B5EF4-FFF2-40B4-BE49-F238E27FC236}">
                <a16:creationId xmlns:a16="http://schemas.microsoft.com/office/drawing/2014/main" id="{94FB244E-35C2-42CE-88A1-2B7AED2D7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34075" y="2762250"/>
            <a:ext cx="3448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03-output-title">
            <a:extLst xmlns:a="http://schemas.openxmlformats.org/drawingml/2006/main">
              <a:ext uri="{FF2B5EF4-FFF2-40B4-BE49-F238E27FC236}">
                <a16:creationId xmlns:a16="http://schemas.microsoft.com/office/drawing/2014/main" id="{2A705491-1C83-4948-9119-3358EBC0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066800"/>
            <a:ext cx="2990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课堂产出</a:t>
            </a:r>
          </a:p>
        </p:txBody>
      </p:sp>
      <p:sp>
        <p:nvSpPr>
          <p:cNvPr id="20" name="p03-output">
            <a:extLst xmlns:a="http://schemas.openxmlformats.org/drawingml/2006/main">
              <a:ext uri="{FF2B5EF4-FFF2-40B4-BE49-F238E27FC236}">
                <a16:creationId xmlns:a16="http://schemas.microsoft.com/office/drawing/2014/main" id="{5341C651-C177-43A9-8133-BF8F9C95E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752600"/>
            <a:ext cx="32766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5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机制假设列表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研究判断记录初版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实验规格草图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一条 AI 使用记录</a:t>
            </a:r>
          </a:p>
        </p:txBody>
      </p:sp>
      <p:sp>
        <p:nvSpPr>
          <p:cNvPr id="21" name="p03-minimum">
            <a:extLst xmlns:a="http://schemas.openxmlformats.org/drawingml/2006/main">
              <a:ext uri="{FF2B5EF4-FFF2-40B4-BE49-F238E27FC236}">
                <a16:creationId xmlns:a16="http://schemas.microsoft.com/office/drawing/2014/main" id="{5EC75691-45FE-4A2F-B28F-10FA40EE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248150"/>
            <a:ext cx="32766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课堂：1 主 + 1 替代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 8 课前：补到 2 个替代</a:t>
            </a:r>
          </a:p>
        </p:txBody>
      </p:sp>
      <p:sp>
        <p:nvSpPr>
          <p:cNvPr id="22" name="p03-bottom">
            <a:extLst xmlns:a="http://schemas.openxmlformats.org/drawingml/2006/main">
              <a:ext uri="{FF2B5EF4-FFF2-40B4-BE49-F238E27FC236}">
                <a16:creationId xmlns:a16="http://schemas.microsoft.com/office/drawing/2014/main" id="{061D0803-43CD-43DC-8DC9-1FD4F3C40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314950"/>
            <a:ext cx="8839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本课不正式提交；产出直接进入第 8 课分享与第 9 课判断门。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结果预测说会发生什么，机制假设解释为什么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p04-prediction">
            <a:extLst xmlns:a="http://schemas.openxmlformats.org/drawingml/2006/main">
              <a:ext uri="{FF2B5EF4-FFF2-40B4-BE49-F238E27FC236}">
                <a16:creationId xmlns:a16="http://schemas.microsoft.com/office/drawing/2014/main" id="{4421CB9D-1279-419D-80C2-739EE82AD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35242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结果预测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阅读卡会降低遗漏率</a:t>
            </a:r>
          </a:p>
        </p:txBody>
      </p:sp>
      <p:sp>
        <p:nvSpPr>
          <p:cNvPr id="7" name="p04-vs">
            <a:extLst xmlns:a="http://schemas.openxmlformats.org/drawingml/2006/main">
              <a:ext uri="{FF2B5EF4-FFF2-40B4-BE49-F238E27FC236}">
                <a16:creationId xmlns:a16="http://schemas.microsoft.com/office/drawing/2014/main" id="{5092210E-1BFE-4006-BC50-73D4D4C5F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31445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只说会发生什么</a:t>
            </a:r>
          </a:p>
        </p:txBody>
      </p:sp>
      <p:sp>
        <p:nvSpPr>
          <p:cNvPr id="8" name="p04-mechanism">
            <a:extLst xmlns:a="http://schemas.openxmlformats.org/drawingml/2006/main">
              <a:ext uri="{FF2B5EF4-FFF2-40B4-BE49-F238E27FC236}">
                <a16:creationId xmlns:a16="http://schemas.microsoft.com/office/drawing/2014/main" id="{638C932E-97EE-4607-A40F-6937CA9F0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066800"/>
            <a:ext cx="45148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机制假设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解释中间过程，并允许被推翻</a:t>
            </a:r>
          </a:p>
        </p:txBody>
      </p:sp>
      <p:sp>
        <p:nvSpPr>
          <p:cNvPr id="9" name="p04-chain-1">
            <a:extLst xmlns:a="http://schemas.openxmlformats.org/drawingml/2006/main">
              <a:ext uri="{FF2B5EF4-FFF2-40B4-BE49-F238E27FC236}">
                <a16:creationId xmlns:a16="http://schemas.microsoft.com/office/drawing/2014/main" id="{C8C2D29F-BEC7-4ADE-8012-C66D2B32B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95550" y="2867025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04-chain-2">
            <a:extLst xmlns:a="http://schemas.openxmlformats.org/drawingml/2006/main">
              <a:ext uri="{FF2B5EF4-FFF2-40B4-BE49-F238E27FC236}">
                <a16:creationId xmlns:a16="http://schemas.microsoft.com/office/drawing/2014/main" id="{4F3C2FCA-8B0B-4F1E-B766-28C12CB22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86450" y="2867025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04-chain-node-0">
            <a:extLst xmlns:a="http://schemas.openxmlformats.org/drawingml/2006/main">
              <a:ext uri="{FF2B5EF4-FFF2-40B4-BE49-F238E27FC236}">
                <a16:creationId xmlns:a16="http://schemas.microsoft.com/office/drawing/2014/main" id="{915BF666-4475-45B1-910E-ECEBDB747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57450"/>
            <a:ext cx="2857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字段约束</a:t>
            </a:r>
          </a:p>
        </p:txBody>
      </p:sp>
      <p:sp>
        <p:nvSpPr>
          <p:cNvPr id="12" name="p04-chain-node-1">
            <a:extLst xmlns:a="http://schemas.openxmlformats.org/drawingml/2006/main">
              <a:ext uri="{FF2B5EF4-FFF2-40B4-BE49-F238E27FC236}">
                <a16:creationId xmlns:a16="http://schemas.microsoft.com/office/drawing/2014/main" id="{ED04A867-A8A2-4A0E-8C76-BE8AE890B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457450"/>
            <a:ext cx="2857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生成时强制标注</a:t>
            </a:r>
          </a:p>
        </p:txBody>
      </p:sp>
      <p:sp>
        <p:nvSpPr>
          <p:cNvPr id="13" name="p04-chain-node-2">
            <a:extLst xmlns:a="http://schemas.openxmlformats.org/drawingml/2006/main">
              <a:ext uri="{FF2B5EF4-FFF2-40B4-BE49-F238E27FC236}">
                <a16:creationId xmlns:a16="http://schemas.microsoft.com/office/drawing/2014/main" id="{C6C4ABDE-C6A4-4759-AE57-58DE031A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457450"/>
            <a:ext cx="2857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错读更易暴露</a:t>
            </a:r>
          </a:p>
        </p:txBody>
      </p:sp>
      <p:sp>
        <p:nvSpPr>
          <p:cNvPr id="14" name="p04-e-label-0">
            <a:extLst xmlns:a="http://schemas.openxmlformats.org/drawingml/2006/main">
              <a:ext uri="{FF2B5EF4-FFF2-40B4-BE49-F238E27FC236}">
                <a16:creationId xmlns:a16="http://schemas.microsoft.com/office/drawing/2014/main" id="{1B8BF499-0560-45EE-B42B-6D0DFAD9A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67150"/>
            <a:ext cx="11239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自变量</a:t>
            </a:r>
          </a:p>
        </p:txBody>
      </p:sp>
      <p:sp>
        <p:nvSpPr>
          <p:cNvPr id="15" name="p04-e-detail-0">
            <a:extLst xmlns:a="http://schemas.openxmlformats.org/drawingml/2006/main">
              <a:ext uri="{FF2B5EF4-FFF2-40B4-BE49-F238E27FC236}">
                <a16:creationId xmlns:a16="http://schemas.microsoft.com/office/drawing/2014/main" id="{185783D9-3D0B-4B10-9445-E9D43404E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867150"/>
            <a:ext cx="1371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操作什么</a:t>
            </a:r>
          </a:p>
        </p:txBody>
      </p:sp>
      <p:sp>
        <p:nvSpPr>
          <p:cNvPr id="16" name="p04-e-label-1">
            <a:extLst xmlns:a="http://schemas.openxmlformats.org/drawingml/2006/main">
              <a:ext uri="{FF2B5EF4-FFF2-40B4-BE49-F238E27FC236}">
                <a16:creationId xmlns:a16="http://schemas.microsoft.com/office/drawing/2014/main" id="{9327BDEE-EF42-43BA-AF38-0521A1461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867150"/>
            <a:ext cx="11239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因变量</a:t>
            </a:r>
          </a:p>
        </p:txBody>
      </p:sp>
      <p:sp>
        <p:nvSpPr>
          <p:cNvPr id="17" name="p04-e-detail-1">
            <a:extLst xmlns:a="http://schemas.openxmlformats.org/drawingml/2006/main">
              <a:ext uri="{FF2B5EF4-FFF2-40B4-BE49-F238E27FC236}">
                <a16:creationId xmlns:a16="http://schemas.microsoft.com/office/drawing/2014/main" id="{3DF0CB63-9393-403A-BA8A-ECE44EFCE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67150"/>
            <a:ext cx="1371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观察什么</a:t>
            </a:r>
          </a:p>
        </p:txBody>
      </p:sp>
      <p:sp>
        <p:nvSpPr>
          <p:cNvPr id="18" name="p04-e-label-2">
            <a:extLst xmlns:a="http://schemas.openxmlformats.org/drawingml/2006/main">
              <a:ext uri="{FF2B5EF4-FFF2-40B4-BE49-F238E27FC236}">
                <a16:creationId xmlns:a16="http://schemas.microsoft.com/office/drawing/2014/main" id="{C20EAD3C-55DB-439A-B7C6-40E0CB84C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867150"/>
            <a:ext cx="11239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机制路径</a:t>
            </a:r>
          </a:p>
        </p:txBody>
      </p:sp>
      <p:sp>
        <p:nvSpPr>
          <p:cNvPr id="19" name="p04-e-detail-2">
            <a:extLst xmlns:a="http://schemas.openxmlformats.org/drawingml/2006/main">
              <a:ext uri="{FF2B5EF4-FFF2-40B4-BE49-F238E27FC236}">
                <a16:creationId xmlns:a16="http://schemas.microsoft.com/office/drawing/2014/main" id="{982344F9-CBFF-4C42-AC23-04643497A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867150"/>
            <a:ext cx="1371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如何导致</a:t>
            </a:r>
          </a:p>
        </p:txBody>
      </p:sp>
      <p:sp>
        <p:nvSpPr>
          <p:cNvPr id="20" name="p04-e-label-3">
            <a:extLst xmlns:a="http://schemas.openxmlformats.org/drawingml/2006/main">
              <a:ext uri="{FF2B5EF4-FFF2-40B4-BE49-F238E27FC236}">
                <a16:creationId xmlns:a16="http://schemas.microsoft.com/office/drawing/2014/main" id="{36771B13-DF26-485B-A559-DF7645AB6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67150"/>
            <a:ext cx="11239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反证点</a:t>
            </a:r>
          </a:p>
        </p:txBody>
      </p:sp>
      <p:sp>
        <p:nvSpPr>
          <p:cNvPr id="21" name="p04-e-detail-3">
            <a:extLst xmlns:a="http://schemas.openxmlformats.org/drawingml/2006/main">
              <a:ext uri="{FF2B5EF4-FFF2-40B4-BE49-F238E27FC236}">
                <a16:creationId xmlns:a16="http://schemas.microsoft.com/office/drawing/2014/main" id="{9FB24594-5DEA-4CA3-8BCD-387B6D72F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867150"/>
            <a:ext cx="1371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何时不成立</a:t>
            </a:r>
          </a:p>
        </p:txBody>
      </p:sp>
      <p:sp>
        <p:nvSpPr>
          <p:cNvPr id="22" name="p04-errors">
            <a:extLst xmlns:a="http://schemas.openxmlformats.org/drawingml/2006/main">
              <a:ext uri="{FF2B5EF4-FFF2-40B4-BE49-F238E27FC236}">
                <a16:creationId xmlns:a16="http://schemas.microsoft.com/office/drawing/2014/main" id="{BCAF08E7-2521-42D9-B9E0-B42696D25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57750"/>
            <a:ext cx="952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非例：‘方法 X 会更好’只是预测｜‘模型理解了原文’不可观察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替代假设必须对同一结果给出可区分解释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p05-line-left">
            <a:extLst xmlns:a="http://schemas.openxmlformats.org/drawingml/2006/main">
              <a:ext uri="{FF2B5EF4-FFF2-40B4-BE49-F238E27FC236}">
                <a16:creationId xmlns:a16="http://schemas.microsoft.com/office/drawing/2014/main" id="{A967A197-B1E6-466C-9D2A-003CFCC0E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121404">
            <a:off x="2633046" y="2652713"/>
            <a:ext cx="349690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05-line-mid">
            <a:extLst xmlns:a="http://schemas.openxmlformats.org/drawingml/2006/main">
              <a:ext uri="{FF2B5EF4-FFF2-40B4-BE49-F238E27FC236}">
                <a16:creationId xmlns:a16="http://schemas.microsoft.com/office/drawing/2014/main" id="{C3B35104-8B39-4099-B78D-9F7020B8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753100" y="2652713"/>
            <a:ext cx="685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05-line-right">
            <a:extLst xmlns:a="http://schemas.openxmlformats.org/drawingml/2006/main">
              <a:ext uri="{FF2B5EF4-FFF2-40B4-BE49-F238E27FC236}">
                <a16:creationId xmlns:a16="http://schemas.microsoft.com/office/drawing/2014/main" id="{8FB71920-34F3-41F8-B299-31F50758E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78596">
            <a:off x="6062046" y="2652713"/>
            <a:ext cx="3496908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05-main">
            <a:extLst xmlns:a="http://schemas.openxmlformats.org/drawingml/2006/main">
              <a:ext uri="{FF2B5EF4-FFF2-40B4-BE49-F238E27FC236}">
                <a16:creationId xmlns:a16="http://schemas.microsoft.com/office/drawing/2014/main" id="{7F30557D-F84D-4ABF-9634-09289DCF3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066800"/>
            <a:ext cx="5486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主假设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字段约束 → 强制标注 → 错读更易暴露</a:t>
            </a:r>
          </a:p>
        </p:txBody>
      </p:sp>
      <p:sp>
        <p:nvSpPr>
          <p:cNvPr id="10" name="p05-alt-0">
            <a:extLst xmlns:a="http://schemas.openxmlformats.org/drawingml/2006/main">
              <a:ext uri="{FF2B5EF4-FFF2-40B4-BE49-F238E27FC236}">
                <a16:creationId xmlns:a16="http://schemas.microsoft.com/office/drawing/2014/main" id="{B72971EB-AFAD-49E4-86C6-911FA2AD2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352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A86C12"/>
                </a:solidFill>
              </a:defRPr>
            </a:pPr>
            <a:r>
              <a:rPr sz="15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A1 任务转移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A86C12"/>
                </a:solidFill>
              </a:defRPr>
            </a:pPr>
            <a:r>
              <a:rPr sz="15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总错读率不变</a:t>
            </a:r>
          </a:p>
        </p:txBody>
      </p:sp>
      <p:sp>
        <p:nvSpPr>
          <p:cNvPr id="11" name="p05-alt-1">
            <a:extLst xmlns:a="http://schemas.openxmlformats.org/drawingml/2006/main">
              <a:ext uri="{FF2B5EF4-FFF2-40B4-BE49-F238E27FC236}">
                <a16:creationId xmlns:a16="http://schemas.microsoft.com/office/drawing/2014/main" id="{2C83B35A-FA75-4435-A906-5C1FB9013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09900"/>
            <a:ext cx="3352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A2 标注假象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换标注者后差异消失</a:t>
            </a:r>
          </a:p>
        </p:txBody>
      </p:sp>
      <p:sp>
        <p:nvSpPr>
          <p:cNvPr id="12" name="p05-alt-2">
            <a:extLst xmlns:a="http://schemas.openxmlformats.org/drawingml/2006/main">
              <a:ext uri="{FF2B5EF4-FFF2-40B4-BE49-F238E27FC236}">
                <a16:creationId xmlns:a16="http://schemas.microsoft.com/office/drawing/2014/main" id="{1A6C4AD4-D98D-43CF-9962-CF348B111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09900"/>
            <a:ext cx="33528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2F638A"/>
                </a:solidFill>
              </a:defRPr>
            </a:pPr>
            <a:r>
              <a:rPr sz="157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A3 选择效应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2F638A"/>
                </a:solidFill>
              </a:defRPr>
            </a:pPr>
            <a:r>
              <a:rPr sz="157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分层后效应集中</a:t>
            </a:r>
          </a:p>
        </p:txBody>
      </p:sp>
      <p:sp>
        <p:nvSpPr>
          <p:cNvPr id="13" name="p05-definition">
            <a:extLst xmlns:a="http://schemas.openxmlformats.org/drawingml/2006/main">
              <a:ext uri="{FF2B5EF4-FFF2-40B4-BE49-F238E27FC236}">
                <a16:creationId xmlns:a16="http://schemas.microsoft.com/office/drawing/2014/main" id="{352F30F5-00B6-4B24-90E2-0957CE85E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229100"/>
            <a:ext cx="8839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替代假设不是另一个题目，而是对同一结果的不同解释。</a:t>
            </a:r>
          </a:p>
        </p:txBody>
      </p:sp>
      <p:sp>
        <p:nvSpPr>
          <p:cNvPr id="14" name="p05-eliminate">
            <a:extLst xmlns:a="http://schemas.openxmlformats.org/drawingml/2006/main">
              <a:ext uri="{FF2B5EF4-FFF2-40B4-BE49-F238E27FC236}">
                <a16:creationId xmlns:a16="http://schemas.microsoft.com/office/drawing/2014/main" id="{B6F4DCAE-D416-43CB-95EF-C2FA39D68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106299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淘汰理由：违背基本约束｜不可观察｜与主证据冲突｜周期内不可验证｜与其他假设不可区分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事实、假设、研究判断与待验证项必须分开落盘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p06-label-0">
            <a:extLst xmlns:a="http://schemas.openxmlformats.org/drawingml/2006/main">
              <a:ext uri="{FF2B5EF4-FFF2-40B4-BE49-F238E27FC236}">
                <a16:creationId xmlns:a16="http://schemas.microsoft.com/office/drawing/2014/main" id="{AA449146-61C4-42B3-9CE7-317CFE0C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28700"/>
            <a:ext cx="10668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事实</a:t>
            </a:r>
          </a:p>
        </p:txBody>
      </p:sp>
      <p:sp>
        <p:nvSpPr>
          <p:cNvPr id="7" name="p06-type-0">
            <a:extLst xmlns:a="http://schemas.openxmlformats.org/drawingml/2006/main">
              <a:ext uri="{FF2B5EF4-FFF2-40B4-BE49-F238E27FC236}">
                <a16:creationId xmlns:a16="http://schemas.microsoft.com/office/drawing/2014/main" id="{E5287E12-4F03-4196-B687-07B21AA49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26289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已被来源支持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→ 阅读卡 / 证据地图</a:t>
            </a:r>
          </a:p>
        </p:txBody>
      </p:sp>
      <p:sp>
        <p:nvSpPr>
          <p:cNvPr id="8" name="p06-label-1">
            <a:extLst xmlns:a="http://schemas.openxmlformats.org/drawingml/2006/main">
              <a:ext uri="{FF2B5EF4-FFF2-40B4-BE49-F238E27FC236}">
                <a16:creationId xmlns:a16="http://schemas.microsoft.com/office/drawing/2014/main" id="{8F4AC14F-F49D-4E65-96A4-1FA756B5A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028700"/>
            <a:ext cx="10668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假设</a:t>
            </a:r>
          </a:p>
        </p:txBody>
      </p:sp>
      <p:sp>
        <p:nvSpPr>
          <p:cNvPr id="9" name="p06-type-1">
            <a:extLst xmlns:a="http://schemas.openxmlformats.org/drawingml/2006/main">
              <a:ext uri="{FF2B5EF4-FFF2-40B4-BE49-F238E27FC236}">
                <a16:creationId xmlns:a16="http://schemas.microsoft.com/office/drawing/2014/main" id="{85DC6236-9D4D-41F0-8482-3D3905CE0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524000"/>
            <a:ext cx="26289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F638A"/>
                </a:solidFill>
              </a:defRPr>
            </a:pPr>
            <a:r>
              <a:rPr sz="13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可被实验检验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F638A"/>
                </a:solidFill>
              </a:defRPr>
            </a:pPr>
            <a:r>
              <a:rPr sz="13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→ 机制假设列表</a:t>
            </a:r>
          </a:p>
        </p:txBody>
      </p:sp>
      <p:sp>
        <p:nvSpPr>
          <p:cNvPr id="10" name="p06-label-2">
            <a:extLst xmlns:a="http://schemas.openxmlformats.org/drawingml/2006/main">
              <a:ext uri="{FF2B5EF4-FFF2-40B4-BE49-F238E27FC236}">
                <a16:creationId xmlns:a16="http://schemas.microsoft.com/office/drawing/2014/main" id="{88353CF2-FA3D-40A7-A832-17EBE2020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028700"/>
            <a:ext cx="10668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研究判断</a:t>
            </a:r>
          </a:p>
        </p:txBody>
      </p:sp>
      <p:sp>
        <p:nvSpPr>
          <p:cNvPr id="11" name="p06-type-2">
            <a:extLst xmlns:a="http://schemas.openxmlformats.org/drawingml/2006/main">
              <a:ext uri="{FF2B5EF4-FFF2-40B4-BE49-F238E27FC236}">
                <a16:creationId xmlns:a16="http://schemas.microsoft.com/office/drawing/2014/main" id="{3341308B-FFCE-4361-BF73-1E0FC4C6B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524000"/>
            <a:ext cx="26289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从证据到行动的取舍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 判断记录</a:t>
            </a:r>
          </a:p>
        </p:txBody>
      </p:sp>
      <p:sp>
        <p:nvSpPr>
          <p:cNvPr id="12" name="p06-label-3">
            <a:extLst xmlns:a="http://schemas.openxmlformats.org/drawingml/2006/main">
              <a:ext uri="{FF2B5EF4-FFF2-40B4-BE49-F238E27FC236}">
                <a16:creationId xmlns:a16="http://schemas.microsoft.com/office/drawing/2014/main" id="{33D5D608-7782-4A9C-8559-804CB646B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028700"/>
            <a:ext cx="10668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待验证项</a:t>
            </a:r>
          </a:p>
        </p:txBody>
      </p:sp>
      <p:sp>
        <p:nvSpPr>
          <p:cNvPr id="13" name="p06-type-3">
            <a:extLst xmlns:a="http://schemas.openxmlformats.org/drawingml/2006/main">
              <a:ext uri="{FF2B5EF4-FFF2-40B4-BE49-F238E27FC236}">
                <a16:creationId xmlns:a16="http://schemas.microsoft.com/office/drawing/2014/main" id="{4FEAE699-4ED3-4489-A722-EC637F40F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524000"/>
            <a:ext cx="26289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A86C12"/>
                </a:solidFill>
              </a:defRPr>
            </a:pPr>
            <a:r>
              <a:rPr sz="13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需补证据或实验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A86C12"/>
                </a:solidFill>
              </a:defRPr>
            </a:pPr>
            <a:r>
              <a:rPr sz="13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→ 判断记录待验证字段</a:t>
            </a:r>
          </a:p>
        </p:txBody>
      </p:sp>
      <p:sp>
        <p:nvSpPr>
          <p:cNvPr id="14" name="p06-record-title">
            <a:extLst xmlns:a="http://schemas.openxmlformats.org/drawingml/2006/main">
              <a:ext uri="{FF2B5EF4-FFF2-40B4-BE49-F238E27FC236}">
                <a16:creationId xmlns:a16="http://schemas.microsoft.com/office/drawing/2014/main" id="{CF0230F6-23E2-4C79-91DC-E28F03F6D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90800"/>
            <a:ext cx="609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研究判断记录：当场写，不课后补</a:t>
            </a:r>
          </a:p>
        </p:txBody>
      </p:sp>
      <p:sp>
        <p:nvSpPr>
          <p:cNvPr id="15" name="p06-field-label-0">
            <a:extLst xmlns:a="http://schemas.openxmlformats.org/drawingml/2006/main">
              <a:ext uri="{FF2B5EF4-FFF2-40B4-BE49-F238E27FC236}">
                <a16:creationId xmlns:a16="http://schemas.microsoft.com/office/drawing/2014/main" id="{B47B7DEE-06C6-4029-80F6-ADD91AF4A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5755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判断内容</a:t>
            </a:r>
          </a:p>
        </p:txBody>
      </p:sp>
      <p:sp>
        <p:nvSpPr>
          <p:cNvPr id="16" name="p06-field-detail-0">
            <a:extLst xmlns:a="http://schemas.openxmlformats.org/drawingml/2006/main">
              <a:ext uri="{FF2B5EF4-FFF2-40B4-BE49-F238E27FC236}">
                <a16:creationId xmlns:a16="http://schemas.microsoft.com/office/drawing/2014/main" id="{4C204850-4A61-41CB-A505-58AA6A2D9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25755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选择什么</a:t>
            </a:r>
          </a:p>
        </p:txBody>
      </p:sp>
      <p:sp>
        <p:nvSpPr>
          <p:cNvPr id="17" name="p06-field-label-1">
            <a:extLst xmlns:a="http://schemas.openxmlformats.org/drawingml/2006/main">
              <a:ext uri="{FF2B5EF4-FFF2-40B4-BE49-F238E27FC236}">
                <a16:creationId xmlns:a16="http://schemas.microsoft.com/office/drawing/2014/main" id="{04C8D8AC-F3FA-4D2C-BE96-509D5D59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25755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取舍理由</a:t>
            </a:r>
          </a:p>
        </p:txBody>
      </p:sp>
      <p:sp>
        <p:nvSpPr>
          <p:cNvPr id="18" name="p06-field-detail-1">
            <a:extLst xmlns:a="http://schemas.openxmlformats.org/drawingml/2006/main">
              <a:ext uri="{FF2B5EF4-FFF2-40B4-BE49-F238E27FC236}">
                <a16:creationId xmlns:a16="http://schemas.microsoft.com/office/drawing/2014/main" id="{A99D71EC-53EC-4911-9201-B2B157D6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5755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为什么</a:t>
            </a:r>
          </a:p>
        </p:txBody>
      </p:sp>
      <p:sp>
        <p:nvSpPr>
          <p:cNvPr id="19" name="p06-field-label-2">
            <a:extLst xmlns:a="http://schemas.openxmlformats.org/drawingml/2006/main">
              <a:ext uri="{FF2B5EF4-FFF2-40B4-BE49-F238E27FC236}">
                <a16:creationId xmlns:a16="http://schemas.microsoft.com/office/drawing/2014/main" id="{AEE17FCC-9C28-4A40-85FD-20912E2E5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5755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适用边界</a:t>
            </a:r>
          </a:p>
        </p:txBody>
      </p:sp>
      <p:sp>
        <p:nvSpPr>
          <p:cNvPr id="20" name="p06-field-detail-2">
            <a:extLst xmlns:a="http://schemas.openxmlformats.org/drawingml/2006/main">
              <a:ext uri="{FF2B5EF4-FFF2-40B4-BE49-F238E27FC236}">
                <a16:creationId xmlns:a16="http://schemas.microsoft.com/office/drawing/2014/main" id="{A7C0E4D7-49A6-4CCD-8E11-5885C6768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25755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何时成立</a:t>
            </a:r>
          </a:p>
        </p:txBody>
      </p:sp>
      <p:sp>
        <p:nvSpPr>
          <p:cNvPr id="21" name="p06-field-label-3">
            <a:extLst xmlns:a="http://schemas.openxmlformats.org/drawingml/2006/main">
              <a:ext uri="{FF2B5EF4-FFF2-40B4-BE49-F238E27FC236}">
                <a16:creationId xmlns:a16="http://schemas.microsoft.com/office/drawing/2014/main" id="{BDAFE85B-F958-4748-B341-DE1914CCC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依据</a:t>
            </a:r>
          </a:p>
        </p:txBody>
      </p:sp>
      <p:sp>
        <p:nvSpPr>
          <p:cNvPr id="22" name="p06-field-detail-3">
            <a:extLst xmlns:a="http://schemas.openxmlformats.org/drawingml/2006/main">
              <a:ext uri="{FF2B5EF4-FFF2-40B4-BE49-F238E27FC236}">
                <a16:creationId xmlns:a16="http://schemas.microsoft.com/office/drawing/2014/main" id="{DCB3CFE4-496D-4A6C-880C-2B670B7D1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15290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 / 机制</a:t>
            </a:r>
          </a:p>
        </p:txBody>
      </p:sp>
      <p:sp>
        <p:nvSpPr>
          <p:cNvPr id="23" name="p06-field-label-4">
            <a:extLst xmlns:a="http://schemas.openxmlformats.org/drawingml/2006/main">
              <a:ext uri="{FF2B5EF4-FFF2-40B4-BE49-F238E27FC236}">
                <a16:creationId xmlns:a16="http://schemas.microsoft.com/office/drawing/2014/main" id="{FBD937DA-F075-4A9F-AE8E-6FF5C149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15290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待验证状态</a:t>
            </a:r>
          </a:p>
        </p:txBody>
      </p:sp>
      <p:sp>
        <p:nvSpPr>
          <p:cNvPr id="24" name="p06-field-detail-4">
            <a:extLst xmlns:a="http://schemas.openxmlformats.org/drawingml/2006/main">
              <a:ext uri="{FF2B5EF4-FFF2-40B4-BE49-F238E27FC236}">
                <a16:creationId xmlns:a16="http://schemas.microsoft.com/office/drawing/2014/main" id="{E1E547B4-27EC-4EC4-9B32-0F0B3D6F3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15290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还缺什么</a:t>
            </a:r>
          </a:p>
        </p:txBody>
      </p:sp>
      <p:sp>
        <p:nvSpPr>
          <p:cNvPr id="25" name="p06-field-label-5">
            <a:extLst xmlns:a="http://schemas.openxmlformats.org/drawingml/2006/main">
              <a:ext uri="{FF2B5EF4-FFF2-40B4-BE49-F238E27FC236}">
                <a16:creationId xmlns:a16="http://schemas.microsoft.com/office/drawing/2014/main" id="{06A16F18-DBBD-4E45-96DA-7F7C9269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152900"/>
            <a:ext cx="13525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影响工件</a:t>
            </a:r>
          </a:p>
        </p:txBody>
      </p:sp>
      <p:sp>
        <p:nvSpPr>
          <p:cNvPr id="26" name="p06-field-detail-5">
            <a:extLst xmlns:a="http://schemas.openxmlformats.org/drawingml/2006/main">
              <a:ext uri="{FF2B5EF4-FFF2-40B4-BE49-F238E27FC236}">
                <a16:creationId xmlns:a16="http://schemas.microsoft.com/office/drawing/2014/main" id="{8241C734-5CB2-419C-9C87-B64504CE3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15290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会改哪里</a:t>
            </a:r>
          </a:p>
        </p:txBody>
      </p:sp>
      <p:sp>
        <p:nvSpPr>
          <p:cNvPr id="27" name="p06-bottom">
            <a:extLst xmlns:a="http://schemas.openxmlformats.org/drawingml/2006/main">
              <a:ext uri="{FF2B5EF4-FFF2-40B4-BE49-F238E27FC236}">
                <a16:creationId xmlns:a16="http://schemas.microsoft.com/office/drawing/2014/main" id="{F8F4D1E3-5400-4B9C-88F5-DD203C153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219700"/>
            <a:ext cx="792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‘事实’不等于绝对正确，只表示当前有可核验来源支持。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方案取舍要记录比较依据，而不是只写最后选择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07-a">
            <a:extLst xmlns:a="http://schemas.openxmlformats.org/drawingml/2006/main">
              <a:ext uri="{FF2B5EF4-FFF2-40B4-BE49-F238E27FC236}">
                <a16:creationId xmlns:a16="http://schemas.microsoft.com/office/drawing/2014/main" id="{D2475B76-9E6A-4567-9901-5D9F3E150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66800"/>
            <a:ext cx="40195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方案甲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同批论文、同模型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阅读卡 vs 自由摘要</a:t>
            </a:r>
          </a:p>
        </p:txBody>
      </p:sp>
      <p:sp>
        <p:nvSpPr>
          <p:cNvPr id="7" name="p07-b">
            <a:extLst xmlns:a="http://schemas.openxmlformats.org/drawingml/2006/main">
              <a:ext uri="{FF2B5EF4-FFF2-40B4-BE49-F238E27FC236}">
                <a16:creationId xmlns:a16="http://schemas.microsoft.com/office/drawing/2014/main" id="{6DCF54C0-6FC2-4C97-90DE-48938A747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066800"/>
            <a:ext cx="40195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方案乙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两批不同论文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阅读卡 vs 自由摘要</a:t>
            </a:r>
          </a:p>
        </p:txBody>
      </p:sp>
      <p:sp>
        <p:nvSpPr>
          <p:cNvPr id="8" name="p07-a-risk">
            <a:extLst xmlns:a="http://schemas.openxmlformats.org/drawingml/2006/main">
              <a:ext uri="{FF2B5EF4-FFF2-40B4-BE49-F238E27FC236}">
                <a16:creationId xmlns:a16="http://schemas.microsoft.com/office/drawing/2014/main" id="{F9E8432A-937E-4495-8EE6-5CEDC5126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36385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控制论文与模型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风险：任务记忆污染</a:t>
            </a:r>
          </a:p>
        </p:txBody>
      </p:sp>
      <p:sp>
        <p:nvSpPr>
          <p:cNvPr id="9" name="p07-b-risk">
            <a:extLst xmlns:a="http://schemas.openxmlformats.org/drawingml/2006/main">
              <a:ext uri="{FF2B5EF4-FFF2-40B4-BE49-F238E27FC236}">
                <a16:creationId xmlns:a16="http://schemas.microsoft.com/office/drawing/2014/main" id="{CD9B0246-8125-4AEE-8008-E3527D3C5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552700"/>
            <a:ext cx="36385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避免任务记忆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风险：论文难度差异</a:t>
            </a:r>
          </a:p>
        </p:txBody>
      </p:sp>
      <p:sp>
        <p:nvSpPr>
          <p:cNvPr id="10" name="p07-compare-title">
            <a:extLst xmlns:a="http://schemas.openxmlformats.org/drawingml/2006/main">
              <a:ext uri="{FF2B5EF4-FFF2-40B4-BE49-F238E27FC236}">
                <a16:creationId xmlns:a16="http://schemas.microsoft.com/office/drawing/2014/main" id="{274C4650-A991-4D0D-9743-726365FF6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066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比较依据</a:t>
            </a:r>
          </a:p>
        </p:txBody>
      </p:sp>
      <p:sp>
        <p:nvSpPr>
          <p:cNvPr id="11" name="p07-dim-0">
            <a:extLst xmlns:a="http://schemas.openxmlformats.org/drawingml/2006/main">
              <a:ext uri="{FF2B5EF4-FFF2-40B4-BE49-F238E27FC236}">
                <a16:creationId xmlns:a16="http://schemas.microsoft.com/office/drawing/2014/main" id="{7AC38484-E8BD-4EBA-9424-F2B049428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65735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能否区分假设</a:t>
            </a:r>
          </a:p>
        </p:txBody>
      </p:sp>
      <p:sp>
        <p:nvSpPr>
          <p:cNvPr id="12" name="p07-dim-1">
            <a:extLst xmlns:a="http://schemas.openxmlformats.org/drawingml/2006/main">
              <a:ext uri="{FF2B5EF4-FFF2-40B4-BE49-F238E27FC236}">
                <a16:creationId xmlns:a16="http://schemas.microsoft.com/office/drawing/2014/main" id="{5B767EDE-EA33-475F-8555-4818E0194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2410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baseline 是否公平</a:t>
            </a:r>
          </a:p>
        </p:txBody>
      </p:sp>
      <p:sp>
        <p:nvSpPr>
          <p:cNvPr id="13" name="p07-dim-2">
            <a:extLst xmlns:a="http://schemas.openxmlformats.org/drawingml/2006/main">
              <a:ext uri="{FF2B5EF4-FFF2-40B4-BE49-F238E27FC236}">
                <a16:creationId xmlns:a16="http://schemas.microsoft.com/office/drawing/2014/main" id="{51CDF446-8948-4561-BB3C-3FEFB5D5B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99085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周期内可执行</a:t>
            </a:r>
          </a:p>
        </p:txBody>
      </p:sp>
      <p:sp>
        <p:nvSpPr>
          <p:cNvPr id="14" name="p07-dim-3">
            <a:extLst xmlns:a="http://schemas.openxmlformats.org/drawingml/2006/main">
              <a:ext uri="{FF2B5EF4-FFF2-40B4-BE49-F238E27FC236}">
                <a16:creationId xmlns:a16="http://schemas.microsoft.com/office/drawing/2014/main" id="{543D2465-EE32-4CE3-B86C-295530D28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65760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失败后留工件</a:t>
            </a:r>
          </a:p>
        </p:txBody>
      </p:sp>
      <p:sp>
        <p:nvSpPr>
          <p:cNvPr id="15" name="p07-dim-4">
            <a:extLst xmlns:a="http://schemas.openxmlformats.org/drawingml/2006/main">
              <a:ext uri="{FF2B5EF4-FFF2-40B4-BE49-F238E27FC236}">
                <a16:creationId xmlns:a16="http://schemas.microsoft.com/office/drawing/2014/main" id="{29931DD7-5D1D-4BE6-9DCB-F0F9E73EA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324350"/>
            <a:ext cx="2438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权限与标准不漂移</a:t>
            </a:r>
          </a:p>
        </p:txBody>
      </p:sp>
      <p:sp>
        <p:nvSpPr>
          <p:cNvPr id="16" name="p07-decision">
            <a:extLst xmlns:a="http://schemas.openxmlformats.org/drawingml/2006/main">
              <a:ext uri="{FF2B5EF4-FFF2-40B4-BE49-F238E27FC236}">
                <a16:creationId xmlns:a16="http://schemas.microsoft.com/office/drawing/2014/main" id="{59CDD56B-C70A-4911-AFE1-775B773C5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19700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记录：保留哪一个、为什么、边界是什么、另一个何时再跑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实验结果必须能够区分至少两种解释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p08-h-0">
            <a:extLst xmlns:a="http://schemas.openxmlformats.org/drawingml/2006/main">
              <a:ext uri="{FF2B5EF4-FFF2-40B4-BE49-F238E27FC236}">
                <a16:creationId xmlns:a16="http://schemas.microsoft.com/office/drawing/2014/main" id="{268C8B0F-FB7D-47BF-AC49-7853BB0D6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43000"/>
            <a:ext cx="1562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假设</a:t>
            </a:r>
          </a:p>
        </p:txBody>
      </p:sp>
      <p:sp>
        <p:nvSpPr>
          <p:cNvPr id="7" name="p08-h-1">
            <a:extLst xmlns:a="http://schemas.openxmlformats.org/drawingml/2006/main">
              <a:ext uri="{FF2B5EF4-FFF2-40B4-BE49-F238E27FC236}">
                <a16:creationId xmlns:a16="http://schemas.microsoft.com/office/drawing/2014/main" id="{C1856E1E-ECEB-4A53-8158-AF5C9F6C8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143000"/>
            <a:ext cx="2000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指标</a:t>
            </a:r>
          </a:p>
        </p:txBody>
      </p:sp>
      <p:sp>
        <p:nvSpPr>
          <p:cNvPr id="8" name="p08-h-2">
            <a:extLst xmlns:a="http://schemas.openxmlformats.org/drawingml/2006/main">
              <a:ext uri="{FF2B5EF4-FFF2-40B4-BE49-F238E27FC236}">
                <a16:creationId xmlns:a16="http://schemas.microsoft.com/office/drawing/2014/main" id="{C967AC15-9FE0-4D60-B714-DAF58EF5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143000"/>
            <a:ext cx="2857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</a:t>
            </a:r>
          </a:p>
        </p:txBody>
      </p:sp>
      <p:sp>
        <p:nvSpPr>
          <p:cNvPr id="9" name="p08-h-3">
            <a:extLst xmlns:a="http://schemas.openxmlformats.org/drawingml/2006/main">
              <a:ext uri="{FF2B5EF4-FFF2-40B4-BE49-F238E27FC236}">
                <a16:creationId xmlns:a16="http://schemas.microsoft.com/office/drawing/2014/main" id="{F9C01936-83EE-4A39-8852-D634A300A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1430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支持它的结果</a:t>
            </a:r>
          </a:p>
        </p:txBody>
      </p:sp>
      <p:sp>
        <p:nvSpPr>
          <p:cNvPr id="10" name="p08-h-4">
            <a:extLst xmlns:a="http://schemas.openxmlformats.org/drawingml/2006/main">
              <a:ext uri="{FF2B5EF4-FFF2-40B4-BE49-F238E27FC236}">
                <a16:creationId xmlns:a16="http://schemas.microsoft.com/office/drawing/2014/main" id="{3C082D98-6761-4D5D-AB44-D22C8A1E9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1430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削弱 / 反驳</a:t>
            </a:r>
          </a:p>
        </p:txBody>
      </p:sp>
      <p:sp>
        <p:nvSpPr>
          <p:cNvPr id="11" name="p08-r0-0">
            <a:extLst xmlns:a="http://schemas.openxmlformats.org/drawingml/2006/main">
              <a:ext uri="{FF2B5EF4-FFF2-40B4-BE49-F238E27FC236}">
                <a16:creationId xmlns:a16="http://schemas.microsoft.com/office/drawing/2014/main" id="{A25C9AB0-2C7F-4D72-94C3-92165768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19250"/>
            <a:ext cx="15621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主假设</a:t>
            </a:r>
          </a:p>
        </p:txBody>
      </p:sp>
      <p:sp>
        <p:nvSpPr>
          <p:cNvPr id="12" name="p08-r0-1">
            <a:extLst xmlns:a="http://schemas.openxmlformats.org/drawingml/2006/main">
              <a:ext uri="{FF2B5EF4-FFF2-40B4-BE49-F238E27FC236}">
                <a16:creationId xmlns:a16="http://schemas.microsoft.com/office/drawing/2014/main" id="{B487F76A-59EB-4581-BDF2-2A4688C7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6192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限定条件遗漏率</a:t>
            </a:r>
          </a:p>
        </p:txBody>
      </p:sp>
      <p:sp>
        <p:nvSpPr>
          <p:cNvPr id="13" name="p08-r0-2">
            <a:extLst xmlns:a="http://schemas.openxmlformats.org/drawingml/2006/main">
              <a:ext uri="{FF2B5EF4-FFF2-40B4-BE49-F238E27FC236}">
                <a16:creationId xmlns:a16="http://schemas.microsoft.com/office/drawing/2014/main" id="{4E0505AC-1C25-4629-AD11-AE13E87B7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61925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同模型同论文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阅读卡 vs 自由摘要</a:t>
            </a:r>
          </a:p>
        </p:txBody>
      </p:sp>
      <p:sp>
        <p:nvSpPr>
          <p:cNvPr id="14" name="p08-r0-3">
            <a:extLst xmlns:a="http://schemas.openxmlformats.org/drawingml/2006/main">
              <a:ext uri="{FF2B5EF4-FFF2-40B4-BE49-F238E27FC236}">
                <a16:creationId xmlns:a16="http://schemas.microsoft.com/office/drawing/2014/main" id="{31FB6D23-EA03-4E27-8C2B-A0984342A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192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阅读卡组更低</a:t>
            </a:r>
          </a:p>
        </p:txBody>
      </p:sp>
      <p:sp>
        <p:nvSpPr>
          <p:cNvPr id="15" name="p08-r0-4">
            <a:extLst xmlns:a="http://schemas.openxmlformats.org/drawingml/2006/main">
              <a:ext uri="{FF2B5EF4-FFF2-40B4-BE49-F238E27FC236}">
                <a16:creationId xmlns:a16="http://schemas.microsoft.com/office/drawing/2014/main" id="{933C6489-1330-4288-9D72-3C10D1EDF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6192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两组无差异</a:t>
            </a:r>
          </a:p>
        </p:txBody>
      </p:sp>
      <p:sp>
        <p:nvSpPr>
          <p:cNvPr id="16" name="p08-r1-0">
            <a:extLst xmlns:a="http://schemas.openxmlformats.org/drawingml/2006/main">
              <a:ext uri="{FF2B5EF4-FFF2-40B4-BE49-F238E27FC236}">
                <a16:creationId xmlns:a16="http://schemas.microsoft.com/office/drawing/2014/main" id="{69B37EA7-825A-4237-9D85-85520F109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09850"/>
            <a:ext cx="15621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A1 任务转移</a:t>
            </a:r>
          </a:p>
        </p:txBody>
      </p:sp>
      <p:sp>
        <p:nvSpPr>
          <p:cNvPr id="17" name="p08-r1-1">
            <a:extLst xmlns:a="http://schemas.openxmlformats.org/drawingml/2006/main">
              <a:ext uri="{FF2B5EF4-FFF2-40B4-BE49-F238E27FC236}">
                <a16:creationId xmlns:a16="http://schemas.microsoft.com/office/drawing/2014/main" id="{D1DF04D3-D299-4C45-8D20-4A4BDB464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6098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总错读率</a:t>
            </a:r>
          </a:p>
        </p:txBody>
      </p:sp>
      <p:sp>
        <p:nvSpPr>
          <p:cNvPr id="18" name="p08-r1-2">
            <a:extLst xmlns:a="http://schemas.openxmlformats.org/drawingml/2006/main">
              <a:ext uri="{FF2B5EF4-FFF2-40B4-BE49-F238E27FC236}">
                <a16:creationId xmlns:a16="http://schemas.microsoft.com/office/drawing/2014/main" id="{583C3215-C3D4-4D85-A393-DD49C144C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60985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同上，分字段统计</a:t>
            </a:r>
          </a:p>
        </p:txBody>
      </p:sp>
      <p:sp>
        <p:nvSpPr>
          <p:cNvPr id="19" name="p08-r1-3">
            <a:extLst xmlns:a="http://schemas.openxmlformats.org/drawingml/2006/main">
              <a:ext uri="{FF2B5EF4-FFF2-40B4-BE49-F238E27FC236}">
                <a16:creationId xmlns:a16="http://schemas.microsoft.com/office/drawing/2014/main" id="{49B9BF41-544E-4310-8149-25EEFA9B7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098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总错读率不变</a:t>
            </a:r>
          </a:p>
        </p:txBody>
      </p:sp>
      <p:sp>
        <p:nvSpPr>
          <p:cNvPr id="20" name="p08-r1-4">
            <a:extLst xmlns:a="http://schemas.openxmlformats.org/drawingml/2006/main">
              <a:ext uri="{FF2B5EF4-FFF2-40B4-BE49-F238E27FC236}">
                <a16:creationId xmlns:a16="http://schemas.microsoft.com/office/drawing/2014/main" id="{1DF094B6-C802-44E9-B5ED-CB8A1CBE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098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总错读率也下降</a:t>
            </a:r>
          </a:p>
        </p:txBody>
      </p:sp>
      <p:sp>
        <p:nvSpPr>
          <p:cNvPr id="21" name="p08-r2-0">
            <a:extLst xmlns:a="http://schemas.openxmlformats.org/drawingml/2006/main">
              <a:ext uri="{FF2B5EF4-FFF2-40B4-BE49-F238E27FC236}">
                <a16:creationId xmlns:a16="http://schemas.microsoft.com/office/drawing/2014/main" id="{AE7D4FD7-4F70-4702-8DBF-4F295249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00450"/>
            <a:ext cx="15621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A2 标注假象</a:t>
            </a:r>
          </a:p>
        </p:txBody>
      </p:sp>
      <p:sp>
        <p:nvSpPr>
          <p:cNvPr id="22" name="p08-r2-1">
            <a:extLst xmlns:a="http://schemas.openxmlformats.org/drawingml/2006/main">
              <a:ext uri="{FF2B5EF4-FFF2-40B4-BE49-F238E27FC236}">
                <a16:creationId xmlns:a16="http://schemas.microsoft.com/office/drawing/2014/main" id="{691CD62C-9B74-4924-A394-C63C864D8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6004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换标注者后差异</a:t>
            </a:r>
          </a:p>
        </p:txBody>
      </p:sp>
      <p:sp>
        <p:nvSpPr>
          <p:cNvPr id="23" name="p08-r2-2">
            <a:extLst xmlns:a="http://schemas.openxmlformats.org/drawingml/2006/main">
              <a:ext uri="{FF2B5EF4-FFF2-40B4-BE49-F238E27FC236}">
                <a16:creationId xmlns:a16="http://schemas.microsoft.com/office/drawing/2014/main" id="{60983269-0670-4159-96F2-B505807AE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60045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第三方无提示复标</a:t>
            </a:r>
          </a:p>
        </p:txBody>
      </p:sp>
      <p:sp>
        <p:nvSpPr>
          <p:cNvPr id="24" name="p08-r2-3">
            <a:extLst xmlns:a="http://schemas.openxmlformats.org/drawingml/2006/main">
              <a:ext uri="{FF2B5EF4-FFF2-40B4-BE49-F238E27FC236}">
                <a16:creationId xmlns:a16="http://schemas.microsoft.com/office/drawing/2014/main" id="{B0A178A1-3DBF-44B6-9808-F1F6E4D7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004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差异消失</a:t>
            </a:r>
          </a:p>
        </p:txBody>
      </p:sp>
      <p:sp>
        <p:nvSpPr>
          <p:cNvPr id="25" name="p08-r2-4">
            <a:extLst xmlns:a="http://schemas.openxmlformats.org/drawingml/2006/main">
              <a:ext uri="{FF2B5EF4-FFF2-40B4-BE49-F238E27FC236}">
                <a16:creationId xmlns:a16="http://schemas.microsoft.com/office/drawing/2014/main" id="{18444ADB-EFCC-4111-9AF9-7C4658F97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6004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差异保持</a:t>
            </a:r>
          </a:p>
        </p:txBody>
      </p:sp>
      <p:sp>
        <p:nvSpPr>
          <p:cNvPr id="26" name="p08-bottom">
            <a:extLst xmlns:a="http://schemas.openxmlformats.org/drawingml/2006/main">
              <a:ext uri="{FF2B5EF4-FFF2-40B4-BE49-F238E27FC236}">
                <a16:creationId xmlns:a16="http://schemas.microsoft.com/office/drawing/2014/main" id="{8349F77C-4D00-41EE-8226-3D8B09977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95850"/>
            <a:ext cx="9791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无法区分主假设与替代假设的实验，只能算“未反驳”，不能算“支持”。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公平 baseline 与停止条件共同决定实验可解释性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p09-var-title">
            <a:extLst xmlns:a="http://schemas.openxmlformats.org/drawingml/2006/main">
              <a:ext uri="{FF2B5EF4-FFF2-40B4-BE49-F238E27FC236}">
                <a16:creationId xmlns:a16="http://schemas.microsoft.com/office/drawing/2014/main" id="{655AD825-A152-4688-8256-D56368850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09650"/>
            <a:ext cx="462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变量与公平 baseline</a:t>
            </a:r>
          </a:p>
        </p:txBody>
      </p:sp>
      <p:sp>
        <p:nvSpPr>
          <p:cNvPr id="7" name="p09-vars-h-0">
            <a:extLst xmlns:a="http://schemas.openxmlformats.org/drawingml/2006/main">
              <a:ext uri="{FF2B5EF4-FFF2-40B4-BE49-F238E27FC236}">
                <a16:creationId xmlns:a16="http://schemas.microsoft.com/office/drawing/2014/main" id="{E9EABEC6-10E6-4381-88EE-C7D76513C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62100"/>
            <a:ext cx="152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变量</a:t>
            </a:r>
          </a:p>
        </p:txBody>
      </p:sp>
      <p:sp>
        <p:nvSpPr>
          <p:cNvPr id="8" name="p09-vars-h-1">
            <a:extLst xmlns:a="http://schemas.openxmlformats.org/drawingml/2006/main">
              <a:ext uri="{FF2B5EF4-FFF2-40B4-BE49-F238E27FC236}">
                <a16:creationId xmlns:a16="http://schemas.microsoft.com/office/drawing/2014/main" id="{6FF7FA77-9EFF-4898-80F2-6261917AD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562100"/>
            <a:ext cx="3219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贯穿案例</a:t>
            </a:r>
          </a:p>
        </p:txBody>
      </p:sp>
      <p:sp>
        <p:nvSpPr>
          <p:cNvPr id="9" name="p09-vars-r0-0">
            <a:extLst xmlns:a="http://schemas.openxmlformats.org/drawingml/2006/main">
              <a:ext uri="{FF2B5EF4-FFF2-40B4-BE49-F238E27FC236}">
                <a16:creationId xmlns:a16="http://schemas.microsoft.com/office/drawing/2014/main" id="{FE01DBEB-28CE-4138-BA0B-E458DD9A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自变量</a:t>
            </a:r>
          </a:p>
        </p:txBody>
      </p:sp>
      <p:sp>
        <p:nvSpPr>
          <p:cNvPr id="10" name="p09-vars-r0-1">
            <a:extLst xmlns:a="http://schemas.openxmlformats.org/drawingml/2006/main">
              <a:ext uri="{FF2B5EF4-FFF2-40B4-BE49-F238E27FC236}">
                <a16:creationId xmlns:a16="http://schemas.microsoft.com/office/drawing/2014/main" id="{9D3F0583-FD99-4E17-99C7-D18E8AFA8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000250"/>
            <a:ext cx="3219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是否使用阅读卡</a:t>
            </a:r>
          </a:p>
        </p:txBody>
      </p:sp>
      <p:sp>
        <p:nvSpPr>
          <p:cNvPr id="11" name="p09-vars-r1-0">
            <a:extLst xmlns:a="http://schemas.openxmlformats.org/drawingml/2006/main">
              <a:ext uri="{FF2B5EF4-FFF2-40B4-BE49-F238E27FC236}">
                <a16:creationId xmlns:a16="http://schemas.microsoft.com/office/drawing/2014/main" id="{F6F911C7-FA28-4576-987B-AA2C908C3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9080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因变量</a:t>
            </a:r>
          </a:p>
        </p:txBody>
      </p:sp>
      <p:sp>
        <p:nvSpPr>
          <p:cNvPr id="12" name="p09-vars-r1-1">
            <a:extLst xmlns:a="http://schemas.openxmlformats.org/drawingml/2006/main">
              <a:ext uri="{FF2B5EF4-FFF2-40B4-BE49-F238E27FC236}">
                <a16:creationId xmlns:a16="http://schemas.microsoft.com/office/drawing/2014/main" id="{A0BCBE55-2541-4B2A-91BF-C170A9FBA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590800"/>
            <a:ext cx="3219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限定条件遗漏率</a:t>
            </a:r>
          </a:p>
        </p:txBody>
      </p:sp>
      <p:sp>
        <p:nvSpPr>
          <p:cNvPr id="13" name="p09-vars-r2-0">
            <a:extLst xmlns:a="http://schemas.openxmlformats.org/drawingml/2006/main">
              <a:ext uri="{FF2B5EF4-FFF2-40B4-BE49-F238E27FC236}">
                <a16:creationId xmlns:a16="http://schemas.microsoft.com/office/drawing/2014/main" id="{176CC678-C70C-4C46-AD0F-ACAE60845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8135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控制变量</a:t>
            </a:r>
          </a:p>
        </p:txBody>
      </p:sp>
      <p:sp>
        <p:nvSpPr>
          <p:cNvPr id="14" name="p09-vars-r2-1">
            <a:extLst xmlns:a="http://schemas.openxmlformats.org/drawingml/2006/main">
              <a:ext uri="{FF2B5EF4-FFF2-40B4-BE49-F238E27FC236}">
                <a16:creationId xmlns:a16="http://schemas.microsoft.com/office/drawing/2014/main" id="{601046B1-A834-4DB7-AF97-B2BE97BC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181350"/>
            <a:ext cx="3219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模型、参数、论文集、长度</a:t>
            </a:r>
          </a:p>
        </p:txBody>
      </p:sp>
      <p:sp>
        <p:nvSpPr>
          <p:cNvPr id="15" name="p09-vars-r3-0">
            <a:extLst xmlns:a="http://schemas.openxmlformats.org/drawingml/2006/main">
              <a:ext uri="{FF2B5EF4-FFF2-40B4-BE49-F238E27FC236}">
                <a16:creationId xmlns:a16="http://schemas.microsoft.com/office/drawing/2014/main" id="{23C1D350-F91D-43FA-9F31-5B2E20CB1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71900"/>
            <a:ext cx="1524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混杂变量</a:t>
            </a:r>
          </a:p>
        </p:txBody>
      </p:sp>
      <p:sp>
        <p:nvSpPr>
          <p:cNvPr id="16" name="p09-vars-r3-1">
            <a:extLst xmlns:a="http://schemas.openxmlformats.org/drawingml/2006/main">
              <a:ext uri="{FF2B5EF4-FFF2-40B4-BE49-F238E27FC236}">
                <a16:creationId xmlns:a16="http://schemas.microsoft.com/office/drawing/2014/main" id="{EB7B30A8-CC1F-45E9-A02D-BA2465ED8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771900"/>
            <a:ext cx="3219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论文结构、标注者、任务记忆</a:t>
            </a:r>
          </a:p>
        </p:txBody>
      </p:sp>
      <p:sp>
        <p:nvSpPr>
          <p:cNvPr id="17" name="p09-spec-title">
            <a:extLst xmlns:a="http://schemas.openxmlformats.org/drawingml/2006/main">
              <a:ext uri="{FF2B5EF4-FFF2-40B4-BE49-F238E27FC236}">
                <a16:creationId xmlns:a16="http://schemas.microsoft.com/office/drawing/2014/main" id="{595C843C-3935-4A27-A388-9814A6333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00965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实验规格八项</a:t>
            </a:r>
          </a:p>
        </p:txBody>
      </p:sp>
      <p:sp>
        <p:nvSpPr>
          <p:cNvPr id="18" name="p09-n-0">
            <a:extLst xmlns:a="http://schemas.openxmlformats.org/drawingml/2006/main">
              <a:ext uri="{FF2B5EF4-FFF2-40B4-BE49-F238E27FC236}">
                <a16:creationId xmlns:a16="http://schemas.microsoft.com/office/drawing/2014/main" id="{C8CB542E-2931-4144-AE3B-A85A189E8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5811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9" name="p09-s-0">
            <a:extLst xmlns:a="http://schemas.openxmlformats.org/drawingml/2006/main">
              <a:ext uri="{FF2B5EF4-FFF2-40B4-BE49-F238E27FC236}">
                <a16:creationId xmlns:a16="http://schemas.microsoft.com/office/drawing/2014/main" id="{8C8340C3-C9FB-4F8E-AA6B-79E2ECD5A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5811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假设对应</a:t>
            </a:r>
          </a:p>
        </p:txBody>
      </p:sp>
      <p:sp>
        <p:nvSpPr>
          <p:cNvPr id="20" name="p09-n-1">
            <a:extLst xmlns:a="http://schemas.openxmlformats.org/drawingml/2006/main">
              <a:ext uri="{FF2B5EF4-FFF2-40B4-BE49-F238E27FC236}">
                <a16:creationId xmlns:a16="http://schemas.microsoft.com/office/drawing/2014/main" id="{38F422F3-F058-4126-BA6B-0118D83E7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811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1" name="p09-s-1">
            <a:extLst xmlns:a="http://schemas.openxmlformats.org/drawingml/2006/main">
              <a:ext uri="{FF2B5EF4-FFF2-40B4-BE49-F238E27FC236}">
                <a16:creationId xmlns:a16="http://schemas.microsoft.com/office/drawing/2014/main" id="{F2C09563-B5E8-4789-95AC-9B9FD289F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5811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样本与数据</a:t>
            </a:r>
          </a:p>
        </p:txBody>
      </p:sp>
      <p:sp>
        <p:nvSpPr>
          <p:cNvPr id="22" name="p09-n-2">
            <a:extLst xmlns:a="http://schemas.openxmlformats.org/drawingml/2006/main">
              <a:ext uri="{FF2B5EF4-FFF2-40B4-BE49-F238E27FC236}">
                <a16:creationId xmlns:a16="http://schemas.microsoft.com/office/drawing/2014/main" id="{043052A0-D240-4F23-9167-6ED247E27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2669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p09-s-2">
            <a:extLst xmlns:a="http://schemas.openxmlformats.org/drawingml/2006/main">
              <a:ext uri="{FF2B5EF4-FFF2-40B4-BE49-F238E27FC236}">
                <a16:creationId xmlns:a16="http://schemas.microsoft.com/office/drawing/2014/main" id="{55EDD49F-8572-4549-BA1C-08F50A9DA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2669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步骤与审核</a:t>
            </a:r>
          </a:p>
        </p:txBody>
      </p:sp>
      <p:sp>
        <p:nvSpPr>
          <p:cNvPr id="24" name="p09-n-3">
            <a:extLst xmlns:a="http://schemas.openxmlformats.org/drawingml/2006/main">
              <a:ext uri="{FF2B5EF4-FFF2-40B4-BE49-F238E27FC236}">
                <a16:creationId xmlns:a16="http://schemas.microsoft.com/office/drawing/2014/main" id="{1B2BD2E2-075D-419A-BC85-E6B31E654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669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5" name="p09-s-3">
            <a:extLst xmlns:a="http://schemas.openxmlformats.org/drawingml/2006/main">
              <a:ext uri="{FF2B5EF4-FFF2-40B4-BE49-F238E27FC236}">
                <a16:creationId xmlns:a16="http://schemas.microsoft.com/office/drawing/2014/main" id="{DE79B89F-EC1A-4004-B271-C09D6211D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2669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度量定义</a:t>
            </a:r>
          </a:p>
        </p:txBody>
      </p:sp>
      <p:sp>
        <p:nvSpPr>
          <p:cNvPr id="26" name="p09-n-4">
            <a:extLst xmlns:a="http://schemas.openxmlformats.org/drawingml/2006/main">
              <a:ext uri="{FF2B5EF4-FFF2-40B4-BE49-F238E27FC236}">
                <a16:creationId xmlns:a16="http://schemas.microsoft.com/office/drawing/2014/main" id="{CF6B62E2-3C9E-4D3B-937D-02BD8B43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527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p09-s-4">
            <a:extLst xmlns:a="http://schemas.openxmlformats.org/drawingml/2006/main">
              <a:ext uri="{FF2B5EF4-FFF2-40B4-BE49-F238E27FC236}">
                <a16:creationId xmlns:a16="http://schemas.microsoft.com/office/drawing/2014/main" id="{E219728F-D592-45E1-B294-F85DDDC38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527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对照公平性</a:t>
            </a:r>
          </a:p>
        </p:txBody>
      </p:sp>
      <p:sp>
        <p:nvSpPr>
          <p:cNvPr id="28" name="p09-n-5">
            <a:extLst xmlns:a="http://schemas.openxmlformats.org/drawingml/2006/main">
              <a:ext uri="{FF2B5EF4-FFF2-40B4-BE49-F238E27FC236}">
                <a16:creationId xmlns:a16="http://schemas.microsoft.com/office/drawing/2014/main" id="{BBA934F1-4643-4D45-86F9-8D483BD5C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527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9" name="p09-s-5">
            <a:extLst xmlns:a="http://schemas.openxmlformats.org/drawingml/2006/main">
              <a:ext uri="{FF2B5EF4-FFF2-40B4-BE49-F238E27FC236}">
                <a16:creationId xmlns:a16="http://schemas.microsoft.com/office/drawing/2014/main" id="{B21B8ED9-DC8D-4916-A8A0-CCF4DF2E8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527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随机化与重复</a:t>
            </a:r>
          </a:p>
        </p:txBody>
      </p:sp>
      <p:sp>
        <p:nvSpPr>
          <p:cNvPr id="30" name="p09-n-6">
            <a:extLst xmlns:a="http://schemas.openxmlformats.org/drawingml/2006/main">
              <a:ext uri="{FF2B5EF4-FFF2-40B4-BE49-F238E27FC236}">
                <a16:creationId xmlns:a16="http://schemas.microsoft.com/office/drawing/2014/main" id="{940C4B2A-7925-4448-90F4-990211A35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6385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1" name="p09-s-6">
            <a:extLst xmlns:a="http://schemas.openxmlformats.org/drawingml/2006/main">
              <a:ext uri="{FF2B5EF4-FFF2-40B4-BE49-F238E27FC236}">
                <a16:creationId xmlns:a16="http://schemas.microsoft.com/office/drawing/2014/main" id="{CBBED620-E07C-4BBB-A654-568F8562A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6385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停止条件</a:t>
            </a:r>
          </a:p>
        </p:txBody>
      </p:sp>
      <p:sp>
        <p:nvSpPr>
          <p:cNvPr id="32" name="p09-n-7">
            <a:extLst xmlns:a="http://schemas.openxmlformats.org/drawingml/2006/main">
              <a:ext uri="{FF2B5EF4-FFF2-40B4-BE49-F238E27FC236}">
                <a16:creationId xmlns:a16="http://schemas.microsoft.com/office/drawing/2014/main" id="{73409022-5160-4C40-B339-0AD09245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385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33" name="p09-s-7">
            <a:extLst xmlns:a="http://schemas.openxmlformats.org/drawingml/2006/main">
              <a:ext uri="{FF2B5EF4-FFF2-40B4-BE49-F238E27FC236}">
                <a16:creationId xmlns:a16="http://schemas.microsoft.com/office/drawing/2014/main" id="{FC0AD37F-58D7-4585-860A-BDE988B71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638550"/>
            <a:ext cx="2038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失败预案</a:t>
            </a:r>
          </a:p>
        </p:txBody>
      </p:sp>
      <p:sp>
        <p:nvSpPr>
          <p:cNvPr id="34" name="p09-bottom">
            <a:extLst xmlns:a="http://schemas.openxmlformats.org/drawingml/2006/main">
              <a:ext uri="{FF2B5EF4-FFF2-40B4-BE49-F238E27FC236}">
                <a16:creationId xmlns:a16="http://schemas.microsoft.com/office/drawing/2014/main" id="{EABF43F7-8AAB-4E70-A935-6B3C0DFF0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57750"/>
            <a:ext cx="10363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公平 baseline：控制变量一致｜停止条件：预先写明次数、提前停规则和预算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候选在核验前只能留在探索线索区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10-check-title">
            <a:extLst xmlns:a="http://schemas.openxmlformats.org/drawingml/2006/main">
              <a:ext uri="{FF2B5EF4-FFF2-40B4-BE49-F238E27FC236}">
                <a16:creationId xmlns:a16="http://schemas.microsoft.com/office/drawing/2014/main" id="{2D79ECF3-E4FA-4412-9252-59B2CB9CE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六项核验</a:t>
            </a:r>
          </a:p>
        </p:txBody>
      </p:sp>
      <p:sp>
        <p:nvSpPr>
          <p:cNvPr id="7" name="p10-n-0">
            <a:extLst xmlns:a="http://schemas.openxmlformats.org/drawingml/2006/main">
              <a:ext uri="{FF2B5EF4-FFF2-40B4-BE49-F238E27FC236}">
                <a16:creationId xmlns:a16="http://schemas.microsoft.com/office/drawing/2014/main" id="{5511B9E7-46E9-4208-BBD9-42B501033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811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10-c-0">
            <a:extLst xmlns:a="http://schemas.openxmlformats.org/drawingml/2006/main">
              <a:ext uri="{FF2B5EF4-FFF2-40B4-BE49-F238E27FC236}">
                <a16:creationId xmlns:a16="http://schemas.microsoft.com/office/drawing/2014/main" id="{270128FA-14C0-4317-9F68-C2E852F67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8115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含中间过程，不是预测换说法</a:t>
            </a:r>
          </a:p>
        </p:txBody>
      </p:sp>
      <p:sp>
        <p:nvSpPr>
          <p:cNvPr id="9" name="p10-n-1">
            <a:extLst xmlns:a="http://schemas.openxmlformats.org/drawingml/2006/main">
              <a:ext uri="{FF2B5EF4-FFF2-40B4-BE49-F238E27FC236}">
                <a16:creationId xmlns:a16="http://schemas.microsoft.com/office/drawing/2014/main" id="{521CA435-6475-4D89-A0A9-332018F6D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717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10-c-1">
            <a:extLst xmlns:a="http://schemas.openxmlformats.org/drawingml/2006/main">
              <a:ext uri="{FF2B5EF4-FFF2-40B4-BE49-F238E27FC236}">
                <a16:creationId xmlns:a16="http://schemas.microsoft.com/office/drawing/2014/main" id="{5364D616-68F1-4EDE-B222-CC2976CD4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17170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存在可推翻它的观察</a:t>
            </a:r>
          </a:p>
        </p:txBody>
      </p:sp>
      <p:sp>
        <p:nvSpPr>
          <p:cNvPr id="11" name="p10-n-2">
            <a:extLst xmlns:a="http://schemas.openxmlformats.org/drawingml/2006/main">
              <a:ext uri="{FF2B5EF4-FFF2-40B4-BE49-F238E27FC236}">
                <a16:creationId xmlns:a16="http://schemas.microsoft.com/office/drawing/2014/main" id="{47AF826F-1D9F-48AA-A6A3-8B3570FB2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622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10-c-2">
            <a:extLst xmlns:a="http://schemas.openxmlformats.org/drawingml/2006/main">
              <a:ext uri="{FF2B5EF4-FFF2-40B4-BE49-F238E27FC236}">
                <a16:creationId xmlns:a16="http://schemas.microsoft.com/office/drawing/2014/main" id="{824C5A59-8AC1-40F6-87D0-A66A3761B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6225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替代假设与主假设可区分</a:t>
            </a:r>
          </a:p>
        </p:txBody>
      </p:sp>
      <p:sp>
        <p:nvSpPr>
          <p:cNvPr id="13" name="p10-n-3">
            <a:extLst xmlns:a="http://schemas.openxmlformats.org/drawingml/2006/main">
              <a:ext uri="{FF2B5EF4-FFF2-40B4-BE49-F238E27FC236}">
                <a16:creationId xmlns:a16="http://schemas.microsoft.com/office/drawing/2014/main" id="{A2017534-FD27-4ECB-9A08-023C71826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528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p10-c-3">
            <a:extLst xmlns:a="http://schemas.openxmlformats.org/drawingml/2006/main">
              <a:ext uri="{FF2B5EF4-FFF2-40B4-BE49-F238E27FC236}">
                <a16:creationId xmlns:a16="http://schemas.microsoft.com/office/drawing/2014/main" id="{0AF8F9C3-DC6C-4332-89EA-4AB2B37B3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5280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引文、常数、设置回到来源</a:t>
            </a:r>
          </a:p>
        </p:txBody>
      </p:sp>
      <p:sp>
        <p:nvSpPr>
          <p:cNvPr id="15" name="p10-n-4">
            <a:extLst xmlns:a="http://schemas.openxmlformats.org/drawingml/2006/main">
              <a:ext uri="{FF2B5EF4-FFF2-40B4-BE49-F238E27FC236}">
                <a16:creationId xmlns:a16="http://schemas.microsoft.com/office/drawing/2014/main" id="{AC9CAB0D-B727-4E44-9D08-9A539FC2E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433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6" name="p10-c-4">
            <a:extLst xmlns:a="http://schemas.openxmlformats.org/drawingml/2006/main">
              <a:ext uri="{FF2B5EF4-FFF2-40B4-BE49-F238E27FC236}">
                <a16:creationId xmlns:a16="http://schemas.microsoft.com/office/drawing/2014/main" id="{E633915D-44D6-440B-BF01-711C4ACFD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94335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没有暗改评价标准或 baseline</a:t>
            </a:r>
          </a:p>
        </p:txBody>
      </p:sp>
      <p:sp>
        <p:nvSpPr>
          <p:cNvPr id="17" name="p10-n-5">
            <a:extLst xmlns:a="http://schemas.openxmlformats.org/drawingml/2006/main">
              <a:ext uri="{FF2B5EF4-FFF2-40B4-BE49-F238E27FC236}">
                <a16:creationId xmlns:a16="http://schemas.microsoft.com/office/drawing/2014/main" id="{90BB824F-9392-4C1C-B973-A90EC92BC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339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8" name="p10-c-5">
            <a:extLst xmlns:a="http://schemas.openxmlformats.org/drawingml/2006/main">
              <a:ext uri="{FF2B5EF4-FFF2-40B4-BE49-F238E27FC236}">
                <a16:creationId xmlns:a16="http://schemas.microsoft.com/office/drawing/2014/main" id="{6D1A96FB-E4D0-40AB-801F-689892A00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33900"/>
            <a:ext cx="4629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停止条件不会跑到显著为止</a:t>
            </a:r>
          </a:p>
        </p:txBody>
      </p:sp>
      <p:sp>
        <p:nvSpPr>
          <p:cNvPr id="19" name="p10-flow-1">
            <a:extLst xmlns:a="http://schemas.openxmlformats.org/drawingml/2006/main">
              <a:ext uri="{FF2B5EF4-FFF2-40B4-BE49-F238E27FC236}">
                <a16:creationId xmlns:a16="http://schemas.microsoft.com/office/drawing/2014/main" id="{56355645-B0FD-498B-BD66-890BD678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48450" y="2309813"/>
            <a:ext cx="952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6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10-flow-2">
            <a:extLst xmlns:a="http://schemas.openxmlformats.org/drawingml/2006/main">
              <a:ext uri="{FF2B5EF4-FFF2-40B4-BE49-F238E27FC236}">
                <a16:creationId xmlns:a16="http://schemas.microsoft.com/office/drawing/2014/main" id="{0D470172-05D8-42E0-AD6F-4FE9B94A3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8553450" y="1928813"/>
            <a:ext cx="76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10-flow-3">
            <a:extLst xmlns:a="http://schemas.openxmlformats.org/drawingml/2006/main">
              <a:ext uri="{FF2B5EF4-FFF2-40B4-BE49-F238E27FC236}">
                <a16:creationId xmlns:a16="http://schemas.microsoft.com/office/drawing/2014/main" id="{E7D1D5F6-8AF1-4AF2-B058-48DB736D6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486775" y="2757488"/>
            <a:ext cx="895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10-ai">
            <a:extLst xmlns:a="http://schemas.openxmlformats.org/drawingml/2006/main">
              <a:ext uri="{FF2B5EF4-FFF2-40B4-BE49-F238E27FC236}">
                <a16:creationId xmlns:a16="http://schemas.microsoft.com/office/drawing/2014/main" id="{BD0BC814-A23F-4581-969F-7B5DB0ED5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24050"/>
            <a:ext cx="14097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AI 候选</a:t>
            </a:r>
          </a:p>
        </p:txBody>
      </p:sp>
      <p:sp>
        <p:nvSpPr>
          <p:cNvPr id="23" name="p10-audit">
            <a:extLst xmlns:a="http://schemas.openxmlformats.org/drawingml/2006/main">
              <a:ext uri="{FF2B5EF4-FFF2-40B4-BE49-F238E27FC236}">
                <a16:creationId xmlns:a16="http://schemas.microsoft.com/office/drawing/2014/main" id="{FE63C4B8-114F-4299-B31A-EAD9A6D5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924050"/>
            <a:ext cx="17907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人工核验</a:t>
            </a:r>
          </a:p>
        </p:txBody>
      </p:sp>
      <p:sp>
        <p:nvSpPr>
          <p:cNvPr id="24" name="p10-main">
            <a:extLst xmlns:a="http://schemas.openxmlformats.org/drawingml/2006/main">
              <a:ext uri="{FF2B5EF4-FFF2-40B4-BE49-F238E27FC236}">
                <a16:creationId xmlns:a16="http://schemas.microsoft.com/office/drawing/2014/main" id="{DEE3B860-AC3D-4F9D-A7D5-3763EC85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066800"/>
            <a:ext cx="18859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进入主格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有过程 + 可证伪 + 可追溯</a:t>
            </a:r>
          </a:p>
        </p:txBody>
      </p:sp>
      <p:sp>
        <p:nvSpPr>
          <p:cNvPr id="25" name="p10-clue">
            <a:extLst xmlns:a="http://schemas.openxmlformats.org/drawingml/2006/main">
              <a:ext uri="{FF2B5EF4-FFF2-40B4-BE49-F238E27FC236}">
                <a16:creationId xmlns:a16="http://schemas.microsoft.com/office/drawing/2014/main" id="{B3BB2044-E79B-468D-9D8E-C9304F043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028950"/>
            <a:ext cx="18859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探索线索区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待补证据或重写</a:t>
            </a:r>
          </a:p>
        </p:txBody>
      </p:sp>
      <p:sp>
        <p:nvSpPr>
          <p:cNvPr id="26" name="p10-record">
            <a:extLst xmlns:a="http://schemas.openxmlformats.org/drawingml/2006/main">
              <a:ext uri="{FF2B5EF4-FFF2-40B4-BE49-F238E27FC236}">
                <a16:creationId xmlns:a16="http://schemas.microsoft.com/office/drawing/2014/main" id="{9F73D98B-5515-46A1-B1E8-0D8A162EF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572000"/>
            <a:ext cx="48768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至少记录：用途｜Context｜输出用途｜人工核验｜发现的问题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演示上半程：从问题门输出到可区分的反证点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p11-real-method">
            <a:extLst xmlns:a="http://schemas.openxmlformats.org/drawingml/2006/main">
              <a:ext uri="{FF2B5EF4-FFF2-40B4-BE49-F238E27FC236}">
                <a16:creationId xmlns:a16="http://schemas.microsoft.com/office/drawing/2014/main" id="{D14E89E5-B032-47B5-81E6-8DB8730BA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7048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真实公开方法对象｜Platt 1964：多重假设 → 关键实验 → 排除 → 循环</a:t>
            </a:r>
          </a:p>
        </p:txBody>
      </p:sp>
      <p:sp>
        <p:nvSpPr>
          <p:cNvPr id="7" name="p11-watermark">
            <a:extLst xmlns:a="http://schemas.openxmlformats.org/drawingml/2006/main">
              <a:ext uri="{FF2B5EF4-FFF2-40B4-BE49-F238E27FC236}">
                <a16:creationId xmlns:a16="http://schemas.microsoft.com/office/drawing/2014/main" id="{CCEA316D-9BF3-49AE-B721-BF0CF0837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876300"/>
            <a:ext cx="3067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虚构教学样例｜非真实实验结果</a:t>
            </a:r>
          </a:p>
        </p:txBody>
      </p:sp>
      <p:sp>
        <p:nvSpPr>
          <p:cNvPr id="8" name="p11-line-0">
            <a:extLst xmlns:a="http://schemas.openxmlformats.org/drawingml/2006/main">
              <a:ext uri="{FF2B5EF4-FFF2-40B4-BE49-F238E27FC236}">
                <a16:creationId xmlns:a16="http://schemas.microsoft.com/office/drawing/2014/main" id="{A60A8397-4D2F-4BEA-A020-084E02F3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67000" y="2171700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1-line-1">
            <a:extLst xmlns:a="http://schemas.openxmlformats.org/drawingml/2006/main">
              <a:ext uri="{FF2B5EF4-FFF2-40B4-BE49-F238E27FC236}">
                <a16:creationId xmlns:a16="http://schemas.microsoft.com/office/drawing/2014/main" id="{6DB8E4CC-1AB5-434E-94F2-99865C626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0" y="2171700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1-line-2">
            <a:extLst xmlns:a="http://schemas.openxmlformats.org/drawingml/2006/main">
              <a:ext uri="{FF2B5EF4-FFF2-40B4-BE49-F238E27FC236}">
                <a16:creationId xmlns:a16="http://schemas.microsoft.com/office/drawing/2014/main" id="{7AD0D330-89C9-4926-8F95-DE14109B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01000" y="2171700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1-number-0">
            <a:extLst xmlns:a="http://schemas.openxmlformats.org/drawingml/2006/main">
              <a:ext uri="{FF2B5EF4-FFF2-40B4-BE49-F238E27FC236}">
                <a16:creationId xmlns:a16="http://schemas.microsoft.com/office/drawing/2014/main" id="{B7162B37-D267-43EA-83DD-0B46286F6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p11-step-0">
            <a:extLst xmlns:a="http://schemas.openxmlformats.org/drawingml/2006/main">
              <a:ext uri="{FF2B5EF4-FFF2-40B4-BE49-F238E27FC236}">
                <a16:creationId xmlns:a16="http://schemas.microsoft.com/office/drawing/2014/main" id="{958DF2AE-CDD7-42B6-88FA-CDC78B83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24050"/>
            <a:ext cx="2571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问题门输出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20 篇 CS 论文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阅读卡 vs 自由摘要</a:t>
            </a:r>
          </a:p>
        </p:txBody>
      </p:sp>
      <p:sp>
        <p:nvSpPr>
          <p:cNvPr id="13" name="p11-number-1">
            <a:extLst xmlns:a="http://schemas.openxmlformats.org/drawingml/2006/main">
              <a:ext uri="{FF2B5EF4-FFF2-40B4-BE49-F238E27FC236}">
                <a16:creationId xmlns:a16="http://schemas.microsoft.com/office/drawing/2014/main" id="{E649AB7F-85A3-4CC2-A7C1-836E83281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3335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p11-step-1">
            <a:extLst xmlns:a="http://schemas.openxmlformats.org/drawingml/2006/main">
              <a:ext uri="{FF2B5EF4-FFF2-40B4-BE49-F238E27FC236}">
                <a16:creationId xmlns:a16="http://schemas.microsoft.com/office/drawing/2014/main" id="{F168C7DA-9636-4968-974C-6AB808A75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924050"/>
            <a:ext cx="2571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主机制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字段约束 → 强制标注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 错读更易暴露</a:t>
            </a:r>
          </a:p>
        </p:txBody>
      </p:sp>
      <p:sp>
        <p:nvSpPr>
          <p:cNvPr id="15" name="p11-number-2">
            <a:extLst xmlns:a="http://schemas.openxmlformats.org/drawingml/2006/main">
              <a:ext uri="{FF2B5EF4-FFF2-40B4-BE49-F238E27FC236}">
                <a16:creationId xmlns:a16="http://schemas.microsoft.com/office/drawing/2014/main" id="{727462FA-B70F-4336-A1FD-ADA8CC29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3335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p11-step-2">
            <a:extLst xmlns:a="http://schemas.openxmlformats.org/drawingml/2006/main">
              <a:ext uri="{FF2B5EF4-FFF2-40B4-BE49-F238E27FC236}">
                <a16:creationId xmlns:a16="http://schemas.microsoft.com/office/drawing/2014/main" id="{32458310-4C45-45E4-A578-0DE2B4C67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24050"/>
            <a:ext cx="2571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替代解释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A1 任务转移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A2 标注假象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A3 选择效应</a:t>
            </a:r>
          </a:p>
        </p:txBody>
      </p:sp>
      <p:sp>
        <p:nvSpPr>
          <p:cNvPr id="17" name="p11-number-3">
            <a:extLst xmlns:a="http://schemas.openxmlformats.org/drawingml/2006/main">
              <a:ext uri="{FF2B5EF4-FFF2-40B4-BE49-F238E27FC236}">
                <a16:creationId xmlns:a16="http://schemas.microsoft.com/office/drawing/2014/main" id="{2E2CF2B5-C1E4-4607-8700-21A03C003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3335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8" name="p11-step-3">
            <a:extLst xmlns:a="http://schemas.openxmlformats.org/drawingml/2006/main">
              <a:ext uri="{FF2B5EF4-FFF2-40B4-BE49-F238E27FC236}">
                <a16:creationId xmlns:a16="http://schemas.microsoft.com/office/drawing/2014/main" id="{B52B12C2-0AB9-4AB8-82F6-9C59EF80B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24050"/>
            <a:ext cx="25717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反证点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每条假设预先写出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会推翻它的观察</a:t>
            </a:r>
          </a:p>
        </p:txBody>
      </p:sp>
      <p:sp>
        <p:nvSpPr>
          <p:cNvPr id="19" name="p11-predictions-title">
            <a:extLst xmlns:a="http://schemas.openxmlformats.org/drawingml/2006/main">
              <a:ext uri="{FF2B5EF4-FFF2-40B4-BE49-F238E27FC236}">
                <a16:creationId xmlns:a16="http://schemas.microsoft.com/office/drawing/2014/main" id="{A74867A3-B86B-4233-9D50-FA8B5FAEC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147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三个替代必须预测不同结果</a:t>
            </a:r>
          </a:p>
        </p:txBody>
      </p:sp>
      <p:sp>
        <p:nvSpPr>
          <p:cNvPr id="20" name="p11-pred-0">
            <a:extLst xmlns:a="http://schemas.openxmlformats.org/drawingml/2006/main">
              <a:ext uri="{FF2B5EF4-FFF2-40B4-BE49-F238E27FC236}">
                <a16:creationId xmlns:a16="http://schemas.microsoft.com/office/drawing/2014/main" id="{A0DF403E-C3C2-4A6C-84D3-842987E01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3524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A1：总错读率不变</a:t>
            </a:r>
          </a:p>
        </p:txBody>
      </p:sp>
      <p:sp>
        <p:nvSpPr>
          <p:cNvPr id="21" name="p11-pred-1">
            <a:extLst xmlns:a="http://schemas.openxmlformats.org/drawingml/2006/main">
              <a:ext uri="{FF2B5EF4-FFF2-40B4-BE49-F238E27FC236}">
                <a16:creationId xmlns:a16="http://schemas.microsoft.com/office/drawing/2014/main" id="{AB0E9FEA-CA67-4440-8173-32E619913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81500"/>
            <a:ext cx="3524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A2：换标注者后差异消失</a:t>
            </a:r>
          </a:p>
        </p:txBody>
      </p:sp>
      <p:sp>
        <p:nvSpPr>
          <p:cNvPr id="22" name="p11-pred-2">
            <a:extLst xmlns:a="http://schemas.openxmlformats.org/drawingml/2006/main">
              <a:ext uri="{FF2B5EF4-FFF2-40B4-BE49-F238E27FC236}">
                <a16:creationId xmlns:a16="http://schemas.microsoft.com/office/drawing/2014/main" id="{2D914A26-4AD0-4B63-9C4C-422726B71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381500"/>
            <a:ext cx="3524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A3：分层后效应集中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演示下半程：判断、映射与 AI 候选核验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p12-watermark">
            <a:extLst xmlns:a="http://schemas.openxmlformats.org/drawingml/2006/main">
              <a:ext uri="{FF2B5EF4-FFF2-40B4-BE49-F238E27FC236}">
                <a16:creationId xmlns:a16="http://schemas.microsoft.com/office/drawing/2014/main" id="{F4332F7F-5DB7-4B2B-81A1-595B68747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87630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虚构教学样例｜不存在文献仅用于核验练习</a:t>
            </a:r>
          </a:p>
        </p:txBody>
      </p:sp>
      <p:sp>
        <p:nvSpPr>
          <p:cNvPr id="7" name="p12-line-0">
            <a:extLst xmlns:a="http://schemas.openxmlformats.org/drawingml/2006/main">
              <a:ext uri="{FF2B5EF4-FFF2-40B4-BE49-F238E27FC236}">
                <a16:creationId xmlns:a16="http://schemas.microsoft.com/office/drawing/2014/main" id="{5CD60A4D-7E10-4D2D-A02B-3061DF619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6690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2-line-1">
            <a:extLst xmlns:a="http://schemas.openxmlformats.org/drawingml/2006/main">
              <a:ext uri="{FF2B5EF4-FFF2-40B4-BE49-F238E27FC236}">
                <a16:creationId xmlns:a16="http://schemas.microsoft.com/office/drawing/2014/main" id="{E6E3A93F-1330-48BE-8826-00616C260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3385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2-line-2">
            <a:extLst xmlns:a="http://schemas.openxmlformats.org/drawingml/2006/main">
              <a:ext uri="{FF2B5EF4-FFF2-40B4-BE49-F238E27FC236}">
                <a16:creationId xmlns:a16="http://schemas.microsoft.com/office/drawing/2014/main" id="{D62A8078-E41A-46CF-8C46-140D6DCD5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0080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2-line-3">
            <a:extLst xmlns:a="http://schemas.openxmlformats.org/drawingml/2006/main">
              <a:ext uri="{FF2B5EF4-FFF2-40B4-BE49-F238E27FC236}">
                <a16:creationId xmlns:a16="http://schemas.microsoft.com/office/drawing/2014/main" id="{DEAAFB4F-6C4B-4CAA-9EF9-522D5577A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67750" y="1585913"/>
            <a:ext cx="87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2-number-0">
            <a:extLst xmlns:a="http://schemas.openxmlformats.org/drawingml/2006/main">
              <a:ext uri="{FF2B5EF4-FFF2-40B4-BE49-F238E27FC236}">
                <a16:creationId xmlns:a16="http://schemas.microsoft.com/office/drawing/2014/main" id="{B3EC952B-8A10-4A50-9DE9-58C8FC993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2" name="p12-step-0">
            <a:extLst xmlns:a="http://schemas.openxmlformats.org/drawingml/2006/main">
              <a:ext uri="{FF2B5EF4-FFF2-40B4-BE49-F238E27FC236}">
                <a16:creationId xmlns:a16="http://schemas.microsoft.com/office/drawing/2014/main" id="{C74C6B72-DA66-44C8-9B54-58FF4F798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六字段判断</a:t>
            </a:r>
          </a:p>
        </p:txBody>
      </p:sp>
      <p:sp>
        <p:nvSpPr>
          <p:cNvPr id="13" name="p12-number-1">
            <a:extLst xmlns:a="http://schemas.openxmlformats.org/drawingml/2006/main">
              <a:ext uri="{FF2B5EF4-FFF2-40B4-BE49-F238E27FC236}">
                <a16:creationId xmlns:a16="http://schemas.microsoft.com/office/drawing/2014/main" id="{B13E46C2-A847-4812-999E-8102F229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4" name="p12-step-1">
            <a:extLst xmlns:a="http://schemas.openxmlformats.org/drawingml/2006/main">
              <a:ext uri="{FF2B5EF4-FFF2-40B4-BE49-F238E27FC236}">
                <a16:creationId xmlns:a16="http://schemas.microsoft.com/office/drawing/2014/main" id="{5C6D5FDF-C624-4FF7-BDE3-44C25A99F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三行映射</a:t>
            </a:r>
          </a:p>
        </p:txBody>
      </p:sp>
      <p:sp>
        <p:nvSpPr>
          <p:cNvPr id="15" name="p12-number-2">
            <a:extLst xmlns:a="http://schemas.openxmlformats.org/drawingml/2006/main">
              <a:ext uri="{FF2B5EF4-FFF2-40B4-BE49-F238E27FC236}">
                <a16:creationId xmlns:a16="http://schemas.microsoft.com/office/drawing/2014/main" id="{897F0CA6-3850-4114-8FCF-E073FBA16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6" name="p12-step-2">
            <a:extLst xmlns:a="http://schemas.openxmlformats.org/drawingml/2006/main">
              <a:ext uri="{FF2B5EF4-FFF2-40B4-BE49-F238E27FC236}">
                <a16:creationId xmlns:a16="http://schemas.microsoft.com/office/drawing/2014/main" id="{430EEEC6-F2FE-4A81-A951-25C0546C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实验规格骨架</a:t>
            </a:r>
          </a:p>
        </p:txBody>
      </p:sp>
      <p:sp>
        <p:nvSpPr>
          <p:cNvPr id="17" name="p12-number-3">
            <a:extLst xmlns:a="http://schemas.openxmlformats.org/drawingml/2006/main">
              <a:ext uri="{FF2B5EF4-FFF2-40B4-BE49-F238E27FC236}">
                <a16:creationId xmlns:a16="http://schemas.microsoft.com/office/drawing/2014/main" id="{F268325D-C587-4AF9-AC93-CD662EC08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8" name="p12-step-3">
            <a:extLst xmlns:a="http://schemas.openxmlformats.org/drawingml/2006/main">
              <a:ext uri="{FF2B5EF4-FFF2-40B4-BE49-F238E27FC236}">
                <a16:creationId xmlns:a16="http://schemas.microsoft.com/office/drawing/2014/main" id="{4D36A58A-8EDD-411F-8DCD-4442C3840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候选核验</a:t>
            </a:r>
          </a:p>
        </p:txBody>
      </p:sp>
      <p:sp>
        <p:nvSpPr>
          <p:cNvPr id="19" name="p12-number-4">
            <a:extLst xmlns:a="http://schemas.openxmlformats.org/drawingml/2006/main">
              <a:ext uri="{FF2B5EF4-FFF2-40B4-BE49-F238E27FC236}">
                <a16:creationId xmlns:a16="http://schemas.microsoft.com/office/drawing/2014/main" id="{6213D672-0D90-42F7-B7E3-1162E55C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352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0" name="p12-step-4">
            <a:extLst xmlns:a="http://schemas.openxmlformats.org/drawingml/2006/main">
              <a:ext uri="{FF2B5EF4-FFF2-40B4-BE49-F238E27FC236}">
                <a16:creationId xmlns:a16="http://schemas.microsoft.com/office/drawing/2014/main" id="{8A19A7A9-693C-49A6-BD76-73B5DED5C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352550"/>
            <a:ext cx="1657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使用记录</a:t>
            </a:r>
          </a:p>
        </p:txBody>
      </p:sp>
      <p:sp>
        <p:nvSpPr>
          <p:cNvPr id="21" name="p12-audit-h-0">
            <a:extLst xmlns:a="http://schemas.openxmlformats.org/drawingml/2006/main">
              <a:ext uri="{FF2B5EF4-FFF2-40B4-BE49-F238E27FC236}">
                <a16:creationId xmlns:a16="http://schemas.microsoft.com/office/drawing/2014/main" id="{5494FFDF-F584-45CF-8CA1-67797A987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24100"/>
            <a:ext cx="3905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候选</a:t>
            </a:r>
          </a:p>
        </p:txBody>
      </p:sp>
      <p:sp>
        <p:nvSpPr>
          <p:cNvPr id="22" name="p12-audit-h-1">
            <a:extLst xmlns:a="http://schemas.openxmlformats.org/drawingml/2006/main">
              <a:ext uri="{FF2B5EF4-FFF2-40B4-BE49-F238E27FC236}">
                <a16:creationId xmlns:a16="http://schemas.microsoft.com/office/drawing/2014/main" id="{125EF463-E42C-46AC-B416-AD2500FB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32410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核验结果</a:t>
            </a:r>
          </a:p>
        </p:txBody>
      </p:sp>
      <p:sp>
        <p:nvSpPr>
          <p:cNvPr id="23" name="p12-audit-h-2">
            <a:extLst xmlns:a="http://schemas.openxmlformats.org/drawingml/2006/main">
              <a:ext uri="{FF2B5EF4-FFF2-40B4-BE49-F238E27FC236}">
                <a16:creationId xmlns:a16="http://schemas.microsoft.com/office/drawing/2014/main" id="{9C8CE1E4-1374-4DF2-A7F8-A1BA858EF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324100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去向</a:t>
            </a:r>
          </a:p>
        </p:txBody>
      </p:sp>
      <p:sp>
        <p:nvSpPr>
          <p:cNvPr id="24" name="p12-audit-r0-0">
            <a:extLst xmlns:a="http://schemas.openxmlformats.org/drawingml/2006/main">
              <a:ext uri="{FF2B5EF4-FFF2-40B4-BE49-F238E27FC236}">
                <a16:creationId xmlns:a16="http://schemas.microsoft.com/office/drawing/2014/main" id="{006D0357-9371-4C78-A9B7-663975F2C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‘阅读卡会降低遗漏率’</a:t>
            </a:r>
          </a:p>
        </p:txBody>
      </p:sp>
      <p:sp>
        <p:nvSpPr>
          <p:cNvPr id="25" name="p12-audit-r0-1">
            <a:extLst xmlns:a="http://schemas.openxmlformats.org/drawingml/2006/main">
              <a:ext uri="{FF2B5EF4-FFF2-40B4-BE49-F238E27FC236}">
                <a16:creationId xmlns:a16="http://schemas.microsoft.com/office/drawing/2014/main" id="{B7942704-6EA5-4DEB-A95F-121FBCD7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81300"/>
            <a:ext cx="4857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只是预测，没有中间过程</a:t>
            </a:r>
          </a:p>
        </p:txBody>
      </p:sp>
      <p:sp>
        <p:nvSpPr>
          <p:cNvPr id="26" name="p12-audit-r0-2">
            <a:extLst xmlns:a="http://schemas.openxmlformats.org/drawingml/2006/main">
              <a:ext uri="{FF2B5EF4-FFF2-40B4-BE49-F238E27FC236}">
                <a16:creationId xmlns:a16="http://schemas.microsoft.com/office/drawing/2014/main" id="{59268119-48E3-49E9-A382-40A567422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781300"/>
            <a:ext cx="200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淘汰</a:t>
            </a:r>
          </a:p>
        </p:txBody>
      </p:sp>
      <p:sp>
        <p:nvSpPr>
          <p:cNvPr id="27" name="p12-audit-r1-0">
            <a:extLst xmlns:a="http://schemas.openxmlformats.org/drawingml/2006/main">
              <a:ext uri="{FF2B5EF4-FFF2-40B4-BE49-F238E27FC236}">
                <a16:creationId xmlns:a16="http://schemas.microsoft.com/office/drawing/2014/main" id="{095ED41B-C0A5-4D92-A2B6-A1C117880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05200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‘Omission Rate Paradox, Smith 2023’</a:t>
            </a:r>
          </a:p>
        </p:txBody>
      </p:sp>
      <p:sp>
        <p:nvSpPr>
          <p:cNvPr id="28" name="p12-audit-r1-1">
            <a:extLst xmlns:a="http://schemas.openxmlformats.org/drawingml/2006/main">
              <a:ext uri="{FF2B5EF4-FFF2-40B4-BE49-F238E27FC236}">
                <a16:creationId xmlns:a16="http://schemas.microsoft.com/office/drawing/2014/main" id="{DF906BB0-57C5-4822-AADD-23694E96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505200"/>
            <a:ext cx="4857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文献不存在，来源不可追溯</a:t>
            </a:r>
          </a:p>
        </p:txBody>
      </p:sp>
      <p:sp>
        <p:nvSpPr>
          <p:cNvPr id="29" name="p12-audit-r1-2">
            <a:extLst xmlns:a="http://schemas.openxmlformats.org/drawingml/2006/main">
              <a:ext uri="{FF2B5EF4-FFF2-40B4-BE49-F238E27FC236}">
                <a16:creationId xmlns:a16="http://schemas.microsoft.com/office/drawing/2014/main" id="{8061A23E-34D8-45BF-9E9F-B9FFE493D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505200"/>
            <a:ext cx="200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淘汰</a:t>
            </a:r>
          </a:p>
        </p:txBody>
      </p:sp>
      <p:sp>
        <p:nvSpPr>
          <p:cNvPr id="30" name="p12-audit-r2-0">
            <a:extLst xmlns:a="http://schemas.openxmlformats.org/drawingml/2006/main">
              <a:ext uri="{FF2B5EF4-FFF2-40B4-BE49-F238E27FC236}">
                <a16:creationId xmlns:a16="http://schemas.microsoft.com/office/drawing/2014/main" id="{72F1816E-956C-4264-9283-EA634BAC6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29100"/>
            <a:ext cx="3905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字段约束迫使显式标注</a:t>
            </a:r>
          </a:p>
        </p:txBody>
      </p:sp>
      <p:sp>
        <p:nvSpPr>
          <p:cNvPr id="31" name="p12-audit-r2-1">
            <a:extLst xmlns:a="http://schemas.openxmlformats.org/drawingml/2006/main">
              <a:ext uri="{FF2B5EF4-FFF2-40B4-BE49-F238E27FC236}">
                <a16:creationId xmlns:a16="http://schemas.microsoft.com/office/drawing/2014/main" id="{B149ADBF-50F7-4220-8E59-8DB946AB1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229100"/>
            <a:ext cx="4857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有中间过程，可证伪；回核证据地图</a:t>
            </a:r>
          </a:p>
        </p:txBody>
      </p:sp>
      <p:sp>
        <p:nvSpPr>
          <p:cNvPr id="32" name="p12-audit-r2-2">
            <a:extLst xmlns:a="http://schemas.openxmlformats.org/drawingml/2006/main">
              <a:ext uri="{FF2B5EF4-FFF2-40B4-BE49-F238E27FC236}">
                <a16:creationId xmlns:a16="http://schemas.microsoft.com/office/drawing/2014/main" id="{B7931345-4E53-4064-A083-6E09CBA29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229100"/>
            <a:ext cx="200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33" name="p12-bottom">
            <a:extLst xmlns:a="http://schemas.openxmlformats.org/drawingml/2006/main">
              <a:ext uri="{FF2B5EF4-FFF2-40B4-BE49-F238E27FC236}">
                <a16:creationId xmlns:a16="http://schemas.microsoft.com/office/drawing/2014/main" id="{7AC68A83-1A55-4A97-A8C8-5986208BE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10150"/>
            <a:ext cx="685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研究判断当场写；AI 候选核验前只算探索线索。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十类常见错误都指向同一个问题：实验不能改判断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p13-errors-title">
            <a:extLst xmlns:a="http://schemas.openxmlformats.org/drawingml/2006/main">
              <a:ext uri="{FF2B5EF4-FFF2-40B4-BE49-F238E27FC236}">
                <a16:creationId xmlns:a16="http://schemas.microsoft.com/office/drawing/2014/main" id="{F93DFFFE-085E-468C-8B99-76FFBF49B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十类错误</a:t>
            </a:r>
          </a:p>
        </p:txBody>
      </p:sp>
      <p:sp>
        <p:nvSpPr>
          <p:cNvPr id="7" name="p13-x-0">
            <a:extLst xmlns:a="http://schemas.openxmlformats.org/drawingml/2006/main">
              <a:ext uri="{FF2B5EF4-FFF2-40B4-BE49-F238E27FC236}">
                <a16:creationId xmlns:a16="http://schemas.microsoft.com/office/drawing/2014/main" id="{B362704E-B518-4A27-BEC6-48D3F649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8" name="p13-error-0">
            <a:extLst xmlns:a="http://schemas.openxmlformats.org/drawingml/2006/main">
              <a:ext uri="{FF2B5EF4-FFF2-40B4-BE49-F238E27FC236}">
                <a16:creationId xmlns:a16="http://schemas.microsoft.com/office/drawing/2014/main" id="{F1F662D5-826C-490D-BB1B-35E8E1E15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562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结果预测当机制</a:t>
            </a:r>
          </a:p>
        </p:txBody>
      </p:sp>
      <p:sp>
        <p:nvSpPr>
          <p:cNvPr id="9" name="p13-x-1">
            <a:extLst xmlns:a="http://schemas.openxmlformats.org/drawingml/2006/main">
              <a:ext uri="{FF2B5EF4-FFF2-40B4-BE49-F238E27FC236}">
                <a16:creationId xmlns:a16="http://schemas.microsoft.com/office/drawing/2014/main" id="{391E2DDA-F5D0-4184-AF8A-560F86626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562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0" name="p13-error-1">
            <a:extLst xmlns:a="http://schemas.openxmlformats.org/drawingml/2006/main">
              <a:ext uri="{FF2B5EF4-FFF2-40B4-BE49-F238E27FC236}">
                <a16:creationId xmlns:a16="http://schemas.microsoft.com/office/drawing/2014/main" id="{B9A4B802-B399-4CEB-840B-403D289C2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562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黑箱归因</a:t>
            </a:r>
          </a:p>
        </p:txBody>
      </p:sp>
      <p:sp>
        <p:nvSpPr>
          <p:cNvPr id="11" name="p13-x-2">
            <a:extLst xmlns:a="http://schemas.openxmlformats.org/drawingml/2006/main">
              <a:ext uri="{FF2B5EF4-FFF2-40B4-BE49-F238E27FC236}">
                <a16:creationId xmlns:a16="http://schemas.microsoft.com/office/drawing/2014/main" id="{F6A51ADA-F96D-439E-B40E-3AD77F7B0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288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2" name="p13-error-2">
            <a:extLst xmlns:a="http://schemas.openxmlformats.org/drawingml/2006/main">
              <a:ext uri="{FF2B5EF4-FFF2-40B4-BE49-F238E27FC236}">
                <a16:creationId xmlns:a16="http://schemas.microsoft.com/office/drawing/2014/main" id="{7A379D65-A950-4A79-A3E9-17312134C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288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无反证点</a:t>
            </a:r>
          </a:p>
        </p:txBody>
      </p:sp>
      <p:sp>
        <p:nvSpPr>
          <p:cNvPr id="13" name="p13-x-3">
            <a:extLst xmlns:a="http://schemas.openxmlformats.org/drawingml/2006/main">
              <a:ext uri="{FF2B5EF4-FFF2-40B4-BE49-F238E27FC236}">
                <a16:creationId xmlns:a16="http://schemas.microsoft.com/office/drawing/2014/main" id="{A2C538C7-5BF0-4009-A7CA-090EE781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288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4" name="p13-error-3">
            <a:extLst xmlns:a="http://schemas.openxmlformats.org/drawingml/2006/main">
              <a:ext uri="{FF2B5EF4-FFF2-40B4-BE49-F238E27FC236}">
                <a16:creationId xmlns:a16="http://schemas.microsoft.com/office/drawing/2014/main" id="{8B607853-3D10-42BF-95EC-0A0B9991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288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替代不可区分</a:t>
            </a:r>
          </a:p>
        </p:txBody>
      </p:sp>
      <p:sp>
        <p:nvSpPr>
          <p:cNvPr id="15" name="p13-x-4">
            <a:extLst xmlns:a="http://schemas.openxmlformats.org/drawingml/2006/main">
              <a:ext uri="{FF2B5EF4-FFF2-40B4-BE49-F238E27FC236}">
                <a16:creationId xmlns:a16="http://schemas.microsoft.com/office/drawing/2014/main" id="{71F1C089-7741-4FDD-8CB0-BE8AB2FE7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6" name="p13-error-4">
            <a:extLst xmlns:a="http://schemas.openxmlformats.org/drawingml/2006/main">
              <a:ext uri="{FF2B5EF4-FFF2-40B4-BE49-F238E27FC236}">
                <a16:creationId xmlns:a16="http://schemas.microsoft.com/office/drawing/2014/main" id="{1E53D314-7F57-4806-A06F-F96989470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956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事后改判断</a:t>
            </a:r>
          </a:p>
        </p:txBody>
      </p:sp>
      <p:sp>
        <p:nvSpPr>
          <p:cNvPr id="17" name="p13-x-5">
            <a:extLst xmlns:a="http://schemas.openxmlformats.org/drawingml/2006/main">
              <a:ext uri="{FF2B5EF4-FFF2-40B4-BE49-F238E27FC236}">
                <a16:creationId xmlns:a16="http://schemas.microsoft.com/office/drawing/2014/main" id="{0F3078CA-8C22-4861-B42B-4CD161A3B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8956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8" name="p13-error-5">
            <a:extLst xmlns:a="http://schemas.openxmlformats.org/drawingml/2006/main">
              <a:ext uri="{FF2B5EF4-FFF2-40B4-BE49-F238E27FC236}">
                <a16:creationId xmlns:a16="http://schemas.microsoft.com/office/drawing/2014/main" id="{3F320225-84BE-4828-97D8-2D108D77E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956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baseline 不公平</a:t>
            </a:r>
          </a:p>
        </p:txBody>
      </p:sp>
      <p:sp>
        <p:nvSpPr>
          <p:cNvPr id="19" name="p13-x-6">
            <a:extLst xmlns:a="http://schemas.openxmlformats.org/drawingml/2006/main">
              <a:ext uri="{FF2B5EF4-FFF2-40B4-BE49-F238E27FC236}">
                <a16:creationId xmlns:a16="http://schemas.microsoft.com/office/drawing/2014/main" id="{F3F4300D-8950-4DCB-978E-529411099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623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20" name="p13-error-6">
            <a:extLst xmlns:a="http://schemas.openxmlformats.org/drawingml/2006/main">
              <a:ext uri="{FF2B5EF4-FFF2-40B4-BE49-F238E27FC236}">
                <a16:creationId xmlns:a16="http://schemas.microsoft.com/office/drawing/2014/main" id="{AF3538CA-2C8E-402E-99A8-C5E0392F2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623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无停止条件</a:t>
            </a:r>
          </a:p>
        </p:txBody>
      </p:sp>
      <p:sp>
        <p:nvSpPr>
          <p:cNvPr id="21" name="p13-x-7">
            <a:extLst xmlns:a="http://schemas.openxmlformats.org/drawingml/2006/main">
              <a:ext uri="{FF2B5EF4-FFF2-40B4-BE49-F238E27FC236}">
                <a16:creationId xmlns:a16="http://schemas.microsoft.com/office/drawing/2014/main" id="{BA95B8F0-E6F8-41FA-9059-3CD040E51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5623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22" name="p13-error-7">
            <a:extLst xmlns:a="http://schemas.openxmlformats.org/drawingml/2006/main">
              <a:ext uri="{FF2B5EF4-FFF2-40B4-BE49-F238E27FC236}">
                <a16:creationId xmlns:a16="http://schemas.microsoft.com/office/drawing/2014/main" id="{C43F425A-2FE7-456C-9DF4-31018140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候选直接进主格</a:t>
            </a:r>
          </a:p>
        </p:txBody>
      </p:sp>
      <p:sp>
        <p:nvSpPr>
          <p:cNvPr id="23" name="p13-x-8">
            <a:extLst xmlns:a="http://schemas.openxmlformats.org/drawingml/2006/main">
              <a:ext uri="{FF2B5EF4-FFF2-40B4-BE49-F238E27FC236}">
                <a16:creationId xmlns:a16="http://schemas.microsoft.com/office/drawing/2014/main" id="{0F846B4E-C54C-4FD1-B935-F99E7787A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29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24" name="p13-error-8">
            <a:extLst xmlns:a="http://schemas.openxmlformats.org/drawingml/2006/main">
              <a:ext uri="{FF2B5EF4-FFF2-40B4-BE49-F238E27FC236}">
                <a16:creationId xmlns:a16="http://schemas.microsoft.com/office/drawing/2014/main" id="{CF623240-8DA4-465A-9BFA-8A87CBE80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29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混淆事实与假设</a:t>
            </a:r>
          </a:p>
        </p:txBody>
      </p:sp>
      <p:sp>
        <p:nvSpPr>
          <p:cNvPr id="25" name="p13-x-9">
            <a:extLst xmlns:a="http://schemas.openxmlformats.org/drawingml/2006/main">
              <a:ext uri="{FF2B5EF4-FFF2-40B4-BE49-F238E27FC236}">
                <a16:creationId xmlns:a16="http://schemas.microsoft.com/office/drawing/2014/main" id="{2005104D-A004-48A0-A7D6-3A43AE39C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29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26" name="p13-error-9">
            <a:extLst xmlns:a="http://schemas.openxmlformats.org/drawingml/2006/main">
              <a:ext uri="{FF2B5EF4-FFF2-40B4-BE49-F238E27FC236}">
                <a16:creationId xmlns:a16="http://schemas.microsoft.com/office/drawing/2014/main" id="{676B5616-40B7-4D75-BA86-341F3146E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29100"/>
            <a:ext cx="2647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实验不能改变判断</a:t>
            </a:r>
          </a:p>
        </p:txBody>
      </p:sp>
      <p:sp>
        <p:nvSpPr>
          <p:cNvPr id="27" name="p13-separator">
            <a:extLst xmlns:a="http://schemas.openxmlformats.org/drawingml/2006/main">
              <a:ext uri="{FF2B5EF4-FFF2-40B4-BE49-F238E27FC236}">
                <a16:creationId xmlns:a16="http://schemas.microsoft.com/office/drawing/2014/main" id="{EAF562C6-31D0-436C-9074-7170143EE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38775" y="2990850"/>
            <a:ext cx="390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p13-questions-title">
            <a:extLst xmlns:a="http://schemas.openxmlformats.org/drawingml/2006/main">
              <a:ext uri="{FF2B5EF4-FFF2-40B4-BE49-F238E27FC236}">
                <a16:creationId xmlns:a16="http://schemas.microsoft.com/office/drawing/2014/main" id="{01D5633D-A15A-4983-85B6-73DD45C81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990600"/>
            <a:ext cx="3638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五个判断点</a:t>
            </a:r>
          </a:p>
        </p:txBody>
      </p:sp>
      <p:sp>
        <p:nvSpPr>
          <p:cNvPr id="29" name="p13-qn-0">
            <a:extLst xmlns:a="http://schemas.openxmlformats.org/drawingml/2006/main">
              <a:ext uri="{FF2B5EF4-FFF2-40B4-BE49-F238E27FC236}">
                <a16:creationId xmlns:a16="http://schemas.microsoft.com/office/drawing/2014/main" id="{D2296514-CEF6-45D1-A23A-C649E277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62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0" name="p13-q-0">
            <a:extLst xmlns:a="http://schemas.openxmlformats.org/drawingml/2006/main">
              <a:ext uri="{FF2B5EF4-FFF2-40B4-BE49-F238E27FC236}">
                <a16:creationId xmlns:a16="http://schemas.microsoft.com/office/drawing/2014/main" id="{645C0CE3-ED95-4821-A9A5-0D4E89637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56210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预测与机制差在哪？</a:t>
            </a:r>
          </a:p>
        </p:txBody>
      </p:sp>
      <p:sp>
        <p:nvSpPr>
          <p:cNvPr id="31" name="p13-qn-1">
            <a:extLst xmlns:a="http://schemas.openxmlformats.org/drawingml/2006/main">
              <a:ext uri="{FF2B5EF4-FFF2-40B4-BE49-F238E27FC236}">
                <a16:creationId xmlns:a16="http://schemas.microsoft.com/office/drawing/2014/main" id="{51D78517-147C-47EB-9833-3B1B44307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2288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2" name="p13-q-1">
            <a:extLst xmlns:a="http://schemas.openxmlformats.org/drawingml/2006/main">
              <a:ext uri="{FF2B5EF4-FFF2-40B4-BE49-F238E27FC236}">
                <a16:creationId xmlns:a16="http://schemas.microsoft.com/office/drawing/2014/main" id="{BD58525E-3470-4E5B-B5F0-7D3A96F0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22885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替代假设为何不是另一个题目？</a:t>
            </a:r>
          </a:p>
        </p:txBody>
      </p:sp>
      <p:sp>
        <p:nvSpPr>
          <p:cNvPr id="33" name="p13-qn-2">
            <a:extLst xmlns:a="http://schemas.openxmlformats.org/drawingml/2006/main">
              <a:ext uri="{FF2B5EF4-FFF2-40B4-BE49-F238E27FC236}">
                <a16:creationId xmlns:a16="http://schemas.microsoft.com/office/drawing/2014/main" id="{25490159-D944-4CCD-BCB4-231A4F226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956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4" name="p13-q-2">
            <a:extLst xmlns:a="http://schemas.openxmlformats.org/drawingml/2006/main">
              <a:ext uri="{FF2B5EF4-FFF2-40B4-BE49-F238E27FC236}">
                <a16:creationId xmlns:a16="http://schemas.microsoft.com/office/drawing/2014/main" id="{D5805528-65BE-4081-8322-2EAA86C97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9560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判断为何必须当场写？</a:t>
            </a:r>
          </a:p>
        </p:txBody>
      </p:sp>
      <p:sp>
        <p:nvSpPr>
          <p:cNvPr id="35" name="p13-qn-3">
            <a:extLst xmlns:a="http://schemas.openxmlformats.org/drawingml/2006/main">
              <a:ext uri="{FF2B5EF4-FFF2-40B4-BE49-F238E27FC236}">
                <a16:creationId xmlns:a16="http://schemas.microsoft.com/office/drawing/2014/main" id="{30909F43-6036-4A3C-A28A-445A3F024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5623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6" name="p13-q-3">
            <a:extLst xmlns:a="http://schemas.openxmlformats.org/drawingml/2006/main">
              <a:ext uri="{FF2B5EF4-FFF2-40B4-BE49-F238E27FC236}">
                <a16:creationId xmlns:a16="http://schemas.microsoft.com/office/drawing/2014/main" id="{B5B5D3F4-4B8C-417D-B92C-E58C194A3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6235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无法区分时能说支持吗？</a:t>
            </a:r>
          </a:p>
        </p:txBody>
      </p:sp>
      <p:sp>
        <p:nvSpPr>
          <p:cNvPr id="37" name="p13-qn-4">
            <a:extLst xmlns:a="http://schemas.openxmlformats.org/drawingml/2006/main">
              <a:ext uri="{FF2B5EF4-FFF2-40B4-BE49-F238E27FC236}">
                <a16:creationId xmlns:a16="http://schemas.microsoft.com/office/drawing/2014/main" id="{A440626E-D5F9-4E4F-931D-342B489F3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291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8" name="p13-q-4">
            <a:extLst xmlns:a="http://schemas.openxmlformats.org/drawingml/2006/main">
              <a:ext uri="{FF2B5EF4-FFF2-40B4-BE49-F238E27FC236}">
                <a16:creationId xmlns:a16="http://schemas.microsoft.com/office/drawing/2014/main" id="{FB15CF79-B95C-433A-B8D0-D8D7CDC63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229100"/>
            <a:ext cx="304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候选何时才能进主格？</a:t>
            </a:r>
          </a:p>
        </p:txBody>
      </p:sp>
      <p:sp>
        <p:nvSpPr>
          <p:cNvPr id="39" name="p13-bottom">
            <a:extLst xmlns:a="http://schemas.openxmlformats.org/drawingml/2006/main">
              <a:ext uri="{FF2B5EF4-FFF2-40B4-BE49-F238E27FC236}">
                <a16:creationId xmlns:a16="http://schemas.microsoft.com/office/drawing/2014/main" id="{C203E126-FAA3-4A55-A3F3-B96B692DF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197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共同根因：无论得到什么结果，原判断都不会改变。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个人实践：25 分钟完成最小机制—判断—规格闭环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p14-time">
            <a:extLst xmlns:a="http://schemas.openxmlformats.org/drawingml/2006/main">
              <a:ext uri="{FF2B5EF4-FFF2-40B4-BE49-F238E27FC236}">
                <a16:creationId xmlns:a16="http://schemas.microsoft.com/office/drawing/2014/main" id="{18D8F6FE-C397-4BDB-B150-162F042A8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8763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50:00–75:00｜停留本页</a:t>
            </a:r>
          </a:p>
        </p:txBody>
      </p:sp>
      <p:sp>
        <p:nvSpPr>
          <p:cNvPr id="7" name="p14-line-0">
            <a:extLst xmlns:a="http://schemas.openxmlformats.org/drawingml/2006/main">
              <a:ext uri="{FF2B5EF4-FFF2-40B4-BE49-F238E27FC236}">
                <a16:creationId xmlns:a16="http://schemas.microsoft.com/office/drawing/2014/main" id="{6F251EAB-2956-4C9C-99E0-7303685BD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1900238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4-line-1">
            <a:extLst xmlns:a="http://schemas.openxmlformats.org/drawingml/2006/main">
              <a:ext uri="{FF2B5EF4-FFF2-40B4-BE49-F238E27FC236}">
                <a16:creationId xmlns:a16="http://schemas.microsoft.com/office/drawing/2014/main" id="{173D05D2-A3F0-43EE-83D2-E8D7448ED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2538413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4-line-2">
            <a:extLst xmlns:a="http://schemas.openxmlformats.org/drawingml/2006/main">
              <a:ext uri="{FF2B5EF4-FFF2-40B4-BE49-F238E27FC236}">
                <a16:creationId xmlns:a16="http://schemas.microsoft.com/office/drawing/2014/main" id="{B4C48394-ED8B-4B90-9937-C520A84C7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3176588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4-line-3">
            <a:extLst xmlns:a="http://schemas.openxmlformats.org/drawingml/2006/main">
              <a:ext uri="{FF2B5EF4-FFF2-40B4-BE49-F238E27FC236}">
                <a16:creationId xmlns:a16="http://schemas.microsoft.com/office/drawing/2014/main" id="{94B158E5-9D0B-47DB-9860-F02E626A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3814763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4-line-4">
            <a:extLst xmlns:a="http://schemas.openxmlformats.org/drawingml/2006/main">
              <a:ext uri="{FF2B5EF4-FFF2-40B4-BE49-F238E27FC236}">
                <a16:creationId xmlns:a16="http://schemas.microsoft.com/office/drawing/2014/main" id="{9701713B-7DED-402D-BD7C-C5BE8EC91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28675" y="4452938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14-n-0">
            <a:extLst xmlns:a="http://schemas.openxmlformats.org/drawingml/2006/main">
              <a:ext uri="{FF2B5EF4-FFF2-40B4-BE49-F238E27FC236}">
                <a16:creationId xmlns:a16="http://schemas.microsoft.com/office/drawing/2014/main" id="{D511675E-482D-4E39-B884-52C601888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0970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p14-task-0">
            <a:extLst xmlns:a="http://schemas.openxmlformats.org/drawingml/2006/main">
              <a:ext uri="{FF2B5EF4-FFF2-40B4-BE49-F238E27FC236}">
                <a16:creationId xmlns:a16="http://schemas.microsoft.com/office/drawing/2014/main" id="{1A8A54E8-DE0E-459A-9D5D-63C702BB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40970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写主机制：必须含中间过程</a:t>
            </a:r>
          </a:p>
        </p:txBody>
      </p:sp>
      <p:sp>
        <p:nvSpPr>
          <p:cNvPr id="14" name="p14-n-1">
            <a:extLst xmlns:a="http://schemas.openxmlformats.org/drawingml/2006/main">
              <a:ext uri="{FF2B5EF4-FFF2-40B4-BE49-F238E27FC236}">
                <a16:creationId xmlns:a16="http://schemas.microsoft.com/office/drawing/2014/main" id="{A1540655-E05F-422A-B0A8-67B4EA38E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5" name="p14-task-1">
            <a:extLst xmlns:a="http://schemas.openxmlformats.org/drawingml/2006/main">
              <a:ext uri="{FF2B5EF4-FFF2-40B4-BE49-F238E27FC236}">
                <a16:creationId xmlns:a16="http://schemas.microsoft.com/office/drawing/2014/main" id="{373F643F-698D-412C-B652-A0E46A37B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47875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 1 个可区分替代 + 反证点</a:t>
            </a:r>
          </a:p>
        </p:txBody>
      </p:sp>
      <p:sp>
        <p:nvSpPr>
          <p:cNvPr id="16" name="p14-n-2">
            <a:extLst xmlns:a="http://schemas.openxmlformats.org/drawingml/2006/main">
              <a:ext uri="{FF2B5EF4-FFF2-40B4-BE49-F238E27FC236}">
                <a16:creationId xmlns:a16="http://schemas.microsoft.com/office/drawing/2014/main" id="{C803FC5A-E676-4C00-A829-C29316ACE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p14-task-2">
            <a:extLst xmlns:a="http://schemas.openxmlformats.org/drawingml/2006/main">
              <a:ext uri="{FF2B5EF4-FFF2-40B4-BE49-F238E27FC236}">
                <a16:creationId xmlns:a16="http://schemas.microsoft.com/office/drawing/2014/main" id="{8C6CB712-F0C4-4CBD-B159-118E64CAE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8605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写一条六字段研究判断</a:t>
            </a:r>
          </a:p>
        </p:txBody>
      </p:sp>
      <p:sp>
        <p:nvSpPr>
          <p:cNvPr id="18" name="p14-n-3">
            <a:extLst xmlns:a="http://schemas.openxmlformats.org/drawingml/2006/main">
              <a:ext uri="{FF2B5EF4-FFF2-40B4-BE49-F238E27FC236}">
                <a16:creationId xmlns:a16="http://schemas.microsoft.com/office/drawing/2014/main" id="{B96DF411-A16C-4CB9-B1A3-069A9621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24225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p14-task-3">
            <a:extLst xmlns:a="http://schemas.openxmlformats.org/drawingml/2006/main">
              <a:ext uri="{FF2B5EF4-FFF2-40B4-BE49-F238E27FC236}">
                <a16:creationId xmlns:a16="http://schemas.microsoft.com/office/drawing/2014/main" id="{C2023CB4-E1D1-4289-B8DF-3ABC8E3E2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24225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建 2 行假设—指标—实验映射</a:t>
            </a:r>
          </a:p>
        </p:txBody>
      </p:sp>
      <p:sp>
        <p:nvSpPr>
          <p:cNvPr id="20" name="p14-n-4">
            <a:extLst xmlns:a="http://schemas.openxmlformats.org/drawingml/2006/main">
              <a:ext uri="{FF2B5EF4-FFF2-40B4-BE49-F238E27FC236}">
                <a16:creationId xmlns:a16="http://schemas.microsoft.com/office/drawing/2014/main" id="{D9A52266-6342-4AFF-A681-34BD7BAC4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6240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1" name="p14-task-4">
            <a:extLst xmlns:a="http://schemas.openxmlformats.org/drawingml/2006/main">
              <a:ext uri="{FF2B5EF4-FFF2-40B4-BE49-F238E27FC236}">
                <a16:creationId xmlns:a16="http://schemas.microsoft.com/office/drawing/2014/main" id="{1BF2D13E-9045-4B6B-91F7-AF40B460F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962400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补变量、baseline、停止与失败预案</a:t>
            </a:r>
          </a:p>
        </p:txBody>
      </p:sp>
      <p:sp>
        <p:nvSpPr>
          <p:cNvPr id="22" name="p14-n-5">
            <a:extLst xmlns:a="http://schemas.openxmlformats.org/drawingml/2006/main">
              <a:ext uri="{FF2B5EF4-FFF2-40B4-BE49-F238E27FC236}">
                <a16:creationId xmlns:a16="http://schemas.microsoft.com/office/drawing/2014/main" id="{01341A55-472C-4B2A-A8D2-BD4C3E726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00575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3" name="p14-task-5">
            <a:extLst xmlns:a="http://schemas.openxmlformats.org/drawingml/2006/main">
              <a:ext uri="{FF2B5EF4-FFF2-40B4-BE49-F238E27FC236}">
                <a16:creationId xmlns:a16="http://schemas.microsoft.com/office/drawing/2014/main" id="{ABA9CA70-CEEE-42E5-BF58-D5A0E5F18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00575"/>
            <a:ext cx="590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让 AI 生成 3 个候选；至少淘汰 1 个</a:t>
            </a:r>
          </a:p>
        </p:txBody>
      </p:sp>
      <p:sp>
        <p:nvSpPr>
          <p:cNvPr id="24" name="p14-min-title">
            <a:extLst xmlns:a="http://schemas.openxmlformats.org/drawingml/2006/main">
              <a:ext uri="{FF2B5EF4-FFF2-40B4-BE49-F238E27FC236}">
                <a16:creationId xmlns:a16="http://schemas.microsoft.com/office/drawing/2014/main" id="{8060E083-FD70-44AF-9458-6EA54CDBC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390650"/>
            <a:ext cx="3371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可检查的最小产出</a:t>
            </a:r>
          </a:p>
        </p:txBody>
      </p:sp>
      <p:sp>
        <p:nvSpPr>
          <p:cNvPr id="25" name="p14-min">
            <a:extLst xmlns:a="http://schemas.openxmlformats.org/drawingml/2006/main">
              <a:ext uri="{FF2B5EF4-FFF2-40B4-BE49-F238E27FC236}">
                <a16:creationId xmlns:a16="http://schemas.microsoft.com/office/drawing/2014/main" id="{3694D6BD-B92E-4552-B3D7-ECED0D654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38350"/>
            <a:ext cx="3676650" cy="2495550"/>
          </a:xfrm>
          <a:prstGeom xmlns:a="http://schemas.openxmlformats.org/drawingml/2006/main" prst="roundRect">
            <a:avLst>
              <a:gd name="adj" fmla="val 305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1 主 + 1 可区分替代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每条均有反证点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1 条六字段判断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2 行映射表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实验规格骨架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1 条 AI 使用记录</a:t>
            </a:r>
          </a:p>
        </p:txBody>
      </p:sp>
      <p:sp>
        <p:nvSpPr>
          <p:cNvPr id="26" name="p14-fallback">
            <a:extLst xmlns:a="http://schemas.openxmlformats.org/drawingml/2006/main">
              <a:ext uri="{FF2B5EF4-FFF2-40B4-BE49-F238E27FC236}">
                <a16:creationId xmlns:a16="http://schemas.microsoft.com/office/drawing/2014/main" id="{D3D749C7-72A4-4D2C-9A47-DF84587D6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762500"/>
            <a:ext cx="39814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无网络：使用预录 AI 候选样例，在 Markdown 或纸面完成同一闭环。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同伴互查五项：只提问题，不替作者决定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p15-label-0">
            <a:extLst xmlns:a="http://schemas.openxmlformats.org/drawingml/2006/main">
              <a:ext uri="{FF2B5EF4-FFF2-40B4-BE49-F238E27FC236}">
                <a16:creationId xmlns:a16="http://schemas.microsoft.com/office/drawing/2014/main" id="{FBC5C33A-B537-47B5-80A3-0DEF4EFD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143000"/>
            <a:ext cx="2000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问题重要性</a:t>
            </a:r>
          </a:p>
        </p:txBody>
      </p:sp>
      <p:sp>
        <p:nvSpPr>
          <p:cNvPr id="7" name="p15-question-0">
            <a:extLst xmlns:a="http://schemas.openxmlformats.org/drawingml/2006/main">
              <a:ext uri="{FF2B5EF4-FFF2-40B4-BE49-F238E27FC236}">
                <a16:creationId xmlns:a16="http://schemas.microsoft.com/office/drawing/2014/main" id="{A93FA185-222C-494C-B3BA-AB3BD1B1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143000"/>
            <a:ext cx="8058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值得投入本课程周期吗？</a:t>
            </a:r>
          </a:p>
        </p:txBody>
      </p:sp>
      <p:sp>
        <p:nvSpPr>
          <p:cNvPr id="8" name="p15-label-1">
            <a:extLst xmlns:a="http://schemas.openxmlformats.org/drawingml/2006/main">
              <a:ext uri="{FF2B5EF4-FFF2-40B4-BE49-F238E27FC236}">
                <a16:creationId xmlns:a16="http://schemas.microsoft.com/office/drawing/2014/main" id="{CC6F7CAF-2CA2-4A7A-A966-163BC43BE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24050"/>
            <a:ext cx="2000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证据充分性</a:t>
            </a:r>
          </a:p>
        </p:txBody>
      </p:sp>
      <p:sp>
        <p:nvSpPr>
          <p:cNvPr id="9" name="p15-question-1">
            <a:extLst xmlns:a="http://schemas.openxmlformats.org/drawingml/2006/main">
              <a:ext uri="{FF2B5EF4-FFF2-40B4-BE49-F238E27FC236}">
                <a16:creationId xmlns:a16="http://schemas.microsoft.com/office/drawing/2014/main" id="{F1D958A3-5735-4BAF-B49D-BF8E3CF06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924050"/>
            <a:ext cx="8058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判断依据绑定证据地图或第一性原理吗？</a:t>
            </a:r>
          </a:p>
        </p:txBody>
      </p:sp>
      <p:sp>
        <p:nvSpPr>
          <p:cNvPr id="10" name="p15-label-2">
            <a:extLst xmlns:a="http://schemas.openxmlformats.org/drawingml/2006/main">
              <a:ext uri="{FF2B5EF4-FFF2-40B4-BE49-F238E27FC236}">
                <a16:creationId xmlns:a16="http://schemas.microsoft.com/office/drawing/2014/main" id="{46F50318-0C02-4622-8731-5F1D9529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05100"/>
            <a:ext cx="2000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可检验性</a:t>
            </a:r>
          </a:p>
        </p:txBody>
      </p:sp>
      <p:sp>
        <p:nvSpPr>
          <p:cNvPr id="11" name="p15-question-2">
            <a:extLst xmlns:a="http://schemas.openxmlformats.org/drawingml/2006/main">
              <a:ext uri="{FF2B5EF4-FFF2-40B4-BE49-F238E27FC236}">
                <a16:creationId xmlns:a16="http://schemas.microsoft.com/office/drawing/2014/main" id="{080C7553-8199-4488-952F-C018F55AE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05100"/>
            <a:ext cx="8058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主假设与替代假设能被实验区分吗？</a:t>
            </a:r>
          </a:p>
        </p:txBody>
      </p:sp>
      <p:sp>
        <p:nvSpPr>
          <p:cNvPr id="12" name="p15-label-3">
            <a:extLst xmlns:a="http://schemas.openxmlformats.org/drawingml/2006/main">
              <a:ext uri="{FF2B5EF4-FFF2-40B4-BE49-F238E27FC236}">
                <a16:creationId xmlns:a16="http://schemas.microsoft.com/office/drawing/2014/main" id="{BF1310C9-F400-4F89-9E39-22BDB8852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86150"/>
            <a:ext cx="2000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周期可行性</a:t>
            </a:r>
          </a:p>
        </p:txBody>
      </p:sp>
      <p:sp>
        <p:nvSpPr>
          <p:cNvPr id="13" name="p15-question-3">
            <a:extLst xmlns:a="http://schemas.openxmlformats.org/drawingml/2006/main">
              <a:ext uri="{FF2B5EF4-FFF2-40B4-BE49-F238E27FC236}">
                <a16:creationId xmlns:a16="http://schemas.microsoft.com/office/drawing/2014/main" id="{E17EBB93-3C26-4930-9674-1F4490C85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486150"/>
            <a:ext cx="8058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最小实验能在课程周期内完成吗？</a:t>
            </a:r>
          </a:p>
        </p:txBody>
      </p:sp>
      <p:sp>
        <p:nvSpPr>
          <p:cNvPr id="14" name="p15-label-4">
            <a:extLst xmlns:a="http://schemas.openxmlformats.org/drawingml/2006/main">
              <a:ext uri="{FF2B5EF4-FFF2-40B4-BE49-F238E27FC236}">
                <a16:creationId xmlns:a16="http://schemas.microsoft.com/office/drawing/2014/main" id="{769C9FE2-3840-4A6C-9713-9291C4BE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2000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判断改变</a:t>
            </a:r>
          </a:p>
        </p:txBody>
      </p:sp>
      <p:sp>
        <p:nvSpPr>
          <p:cNvPr id="15" name="p15-question-4">
            <a:extLst xmlns:a="http://schemas.openxmlformats.org/drawingml/2006/main">
              <a:ext uri="{FF2B5EF4-FFF2-40B4-BE49-F238E27FC236}">
                <a16:creationId xmlns:a16="http://schemas.microsoft.com/office/drawing/2014/main" id="{8B13CD74-2D40-44A7-AA43-0AB5DACAD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267200"/>
            <a:ext cx="8058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下一步什么结果会改变当前研究判断？</a:t>
            </a:r>
          </a:p>
        </p:txBody>
      </p:sp>
      <p:sp>
        <p:nvSpPr>
          <p:cNvPr id="16" name="p15-format">
            <a:extLst xmlns:a="http://schemas.openxmlformats.org/drawingml/2006/main">
              <a:ext uri="{FF2B5EF4-FFF2-40B4-BE49-F238E27FC236}">
                <a16:creationId xmlns:a16="http://schemas.microsoft.com/office/drawing/2014/main" id="{28D2D8BF-0A50-41DF-977F-768BAA850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162550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每人 2 分钟陈述 + 2 分钟反馈｜反馈写入研究判断记录</a:t>
            </a:r>
          </a:p>
        </p:txBody>
      </p:sp>
      <p:sp>
        <p:nvSpPr>
          <p:cNvPr id="17" name="p15-bottom">
            <a:extLst xmlns:a="http://schemas.openxmlformats.org/drawingml/2006/main">
              <a:ext uri="{FF2B5EF4-FFF2-40B4-BE49-F238E27FC236}">
                <a16:creationId xmlns:a16="http://schemas.microsoft.com/office/drawing/2014/main" id="{5CB9E6EA-9C4E-47D8-9087-5839D343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562600"/>
            <a:ext cx="628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只提问题，不替作者决定，不形成共同提交。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p16-n0">
            <a:extLst xmlns:a="http://schemas.openxmlformats.org/drawingml/2006/main">
              <a:ext uri="{FF2B5EF4-FFF2-40B4-BE49-F238E27FC236}">
                <a16:creationId xmlns:a16="http://schemas.microsoft.com/office/drawing/2014/main" id="{F58F8834-45F5-4A43-AA64-E7056857B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382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16-h0">
            <a:extLst xmlns:a="http://schemas.openxmlformats.org/drawingml/2006/main">
              <a:ext uri="{FF2B5EF4-FFF2-40B4-BE49-F238E27FC236}">
                <a16:creationId xmlns:a16="http://schemas.microsoft.com/office/drawing/2014/main" id="{1662829E-DFF2-453E-BEAB-EB1DA2837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181100"/>
            <a:ext cx="27622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主机制 + 替代机制</a:t>
            </a:r>
          </a:p>
        </p:txBody>
      </p:sp>
      <p:sp>
        <p:nvSpPr>
          <p:cNvPr id="8" name="p16-d0">
            <a:extLst xmlns:a="http://schemas.openxmlformats.org/drawingml/2006/main">
              <a:ext uri="{FF2B5EF4-FFF2-40B4-BE49-F238E27FC236}">
                <a16:creationId xmlns:a16="http://schemas.microsoft.com/office/drawing/2014/main" id="{6E8D191F-8EA2-46D6-AFAC-568A542E4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338137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对同一结果给出可区分解释</a:t>
            </a:r>
          </a:p>
        </p:txBody>
      </p:sp>
      <p:sp>
        <p:nvSpPr>
          <p:cNvPr id="9" name="p16-n1">
            <a:extLst xmlns:a="http://schemas.openxmlformats.org/drawingml/2006/main">
              <a:ext uri="{FF2B5EF4-FFF2-40B4-BE49-F238E27FC236}">
                <a16:creationId xmlns:a16="http://schemas.microsoft.com/office/drawing/2014/main" id="{840CFE6F-B3E9-4F5A-B42B-8D2BD94F1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2382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16-h1">
            <a:extLst xmlns:a="http://schemas.openxmlformats.org/drawingml/2006/main">
              <a:ext uri="{FF2B5EF4-FFF2-40B4-BE49-F238E27FC236}">
                <a16:creationId xmlns:a16="http://schemas.microsoft.com/office/drawing/2014/main" id="{4BD8CD55-9C9E-45A6-8F42-F737362D4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181100"/>
            <a:ext cx="27622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可区分实验</a:t>
            </a:r>
          </a:p>
        </p:txBody>
      </p:sp>
      <p:sp>
        <p:nvSpPr>
          <p:cNvPr id="11" name="p16-d1">
            <a:extLst xmlns:a="http://schemas.openxmlformats.org/drawingml/2006/main">
              <a:ext uri="{FF2B5EF4-FFF2-40B4-BE49-F238E27FC236}">
                <a16:creationId xmlns:a16="http://schemas.microsoft.com/office/drawing/2014/main" id="{91AD9E5D-5A82-4DA5-8D83-93658C2AA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43125"/>
            <a:ext cx="338137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结果必须能够支持、削弱或淘汰解释</a:t>
            </a:r>
          </a:p>
        </p:txBody>
      </p:sp>
      <p:sp>
        <p:nvSpPr>
          <p:cNvPr id="12" name="p16-n2">
            <a:extLst xmlns:a="http://schemas.openxmlformats.org/drawingml/2006/main">
              <a:ext uri="{FF2B5EF4-FFF2-40B4-BE49-F238E27FC236}">
                <a16:creationId xmlns:a16="http://schemas.microsoft.com/office/drawing/2014/main" id="{620FB665-F487-4D1F-9024-43FC7CDCC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2382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p16-h2">
            <a:extLst xmlns:a="http://schemas.openxmlformats.org/drawingml/2006/main">
              <a:ext uri="{FF2B5EF4-FFF2-40B4-BE49-F238E27FC236}">
                <a16:creationId xmlns:a16="http://schemas.microsoft.com/office/drawing/2014/main" id="{76B21D55-FCFC-43AF-AE27-D594D81B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1181100"/>
            <a:ext cx="27622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研究判断记录</a:t>
            </a:r>
          </a:p>
        </p:txBody>
      </p:sp>
      <p:sp>
        <p:nvSpPr>
          <p:cNvPr id="14" name="p16-d2">
            <a:extLst xmlns:a="http://schemas.openxmlformats.org/drawingml/2006/main">
              <a:ext uri="{FF2B5EF4-FFF2-40B4-BE49-F238E27FC236}">
                <a16:creationId xmlns:a16="http://schemas.microsoft.com/office/drawing/2014/main" id="{0A04B980-1B9F-49EB-8662-56DB81C02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43125"/>
            <a:ext cx="338137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写清依据、取舍、反证点与下一步</a:t>
            </a:r>
          </a:p>
        </p:txBody>
      </p:sp>
      <p:sp>
        <p:nvSpPr>
          <p:cNvPr id="15" name="p16-boundary">
            <a:extLst xmlns:a="http://schemas.openxmlformats.org/drawingml/2006/main">
              <a:ext uri="{FF2B5EF4-FFF2-40B4-BE49-F238E27FC236}">
                <a16:creationId xmlns:a16="http://schemas.microsoft.com/office/drawing/2014/main" id="{6116FE3D-50CD-4DDF-89E7-C8847B3B6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286250"/>
            <a:ext cx="9334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关键边界：如果实验结果不会改变任何研究判断，这个实验就还没有完成可区分性设计。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退出卡：你的下一步实验真的会改变判断吗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p16-exit-title">
            <a:extLst xmlns:a="http://schemas.openxmlformats.org/drawingml/2006/main">
              <a:ext uri="{FF2B5EF4-FFF2-40B4-BE49-F238E27FC236}">
                <a16:creationId xmlns:a16="http://schemas.microsoft.com/office/drawing/2014/main" id="{0A281231-CF78-4A8A-80BB-47F585890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退出卡</a:t>
            </a:r>
          </a:p>
        </p:txBody>
      </p:sp>
      <p:sp>
        <p:nvSpPr>
          <p:cNvPr id="7" name="p16-n-0">
            <a:extLst xmlns:a="http://schemas.openxmlformats.org/drawingml/2006/main">
              <a:ext uri="{FF2B5EF4-FFF2-40B4-BE49-F238E27FC236}">
                <a16:creationId xmlns:a16="http://schemas.microsoft.com/office/drawing/2014/main" id="{1561D56A-F9B6-4B26-91AB-0F5CB8AC7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16-q-0">
            <a:extLst xmlns:a="http://schemas.openxmlformats.org/drawingml/2006/main">
              <a:ext uri="{FF2B5EF4-FFF2-40B4-BE49-F238E27FC236}">
                <a16:creationId xmlns:a16="http://schemas.microsoft.com/office/drawing/2014/main" id="{9E47CECB-F992-454A-B652-2C7F757AC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581150"/>
            <a:ext cx="504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你的主机制假设是什么？</a:t>
            </a:r>
          </a:p>
        </p:txBody>
      </p:sp>
      <p:sp>
        <p:nvSpPr>
          <p:cNvPr id="9" name="p16-n-1">
            <a:extLst xmlns:a="http://schemas.openxmlformats.org/drawingml/2006/main">
              <a:ext uri="{FF2B5EF4-FFF2-40B4-BE49-F238E27FC236}">
                <a16:creationId xmlns:a16="http://schemas.microsoft.com/office/drawing/2014/main" id="{FCD8896A-6762-47C5-B8A4-E5B77E22A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479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16-q-1">
            <a:extLst xmlns:a="http://schemas.openxmlformats.org/drawingml/2006/main">
              <a:ext uri="{FF2B5EF4-FFF2-40B4-BE49-F238E27FC236}">
                <a16:creationId xmlns:a16="http://schemas.microsoft.com/office/drawing/2014/main" id="{C642DC7B-715E-4DE7-A464-1F9E97E93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47900"/>
            <a:ext cx="504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什么结果支持主假设？什么结果支持替代？</a:t>
            </a:r>
          </a:p>
        </p:txBody>
      </p:sp>
      <p:sp>
        <p:nvSpPr>
          <p:cNvPr id="11" name="p16-n-2">
            <a:extLst xmlns:a="http://schemas.openxmlformats.org/drawingml/2006/main">
              <a:ext uri="{FF2B5EF4-FFF2-40B4-BE49-F238E27FC236}">
                <a16:creationId xmlns:a16="http://schemas.microsoft.com/office/drawing/2014/main" id="{F5D8917B-7339-45FC-8922-B0276936D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16-q-2">
            <a:extLst xmlns:a="http://schemas.openxmlformats.org/drawingml/2006/main">
              <a:ext uri="{FF2B5EF4-FFF2-40B4-BE49-F238E27FC236}">
                <a16:creationId xmlns:a16="http://schemas.microsoft.com/office/drawing/2014/main" id="{1955F679-05E0-4815-812B-1E54695DF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14650"/>
            <a:ext cx="504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研究判断最难写的字段是什么？</a:t>
            </a:r>
          </a:p>
        </p:txBody>
      </p:sp>
      <p:sp>
        <p:nvSpPr>
          <p:cNvPr id="13" name="p16-n-3">
            <a:extLst xmlns:a="http://schemas.openxmlformats.org/drawingml/2006/main">
              <a:ext uri="{FF2B5EF4-FFF2-40B4-BE49-F238E27FC236}">
                <a16:creationId xmlns:a16="http://schemas.microsoft.com/office/drawing/2014/main" id="{4FD7858C-D3FE-494E-A30E-9C0256DC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p16-q-3">
            <a:extLst xmlns:a="http://schemas.openxmlformats.org/drawingml/2006/main">
              <a:ext uri="{FF2B5EF4-FFF2-40B4-BE49-F238E27FC236}">
                <a16:creationId xmlns:a16="http://schemas.microsoft.com/office/drawing/2014/main" id="{AA27B7AB-6951-4244-957C-105CD9AA6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581400"/>
            <a:ext cx="504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实验若不能改变判断，缺了什么？</a:t>
            </a:r>
          </a:p>
        </p:txBody>
      </p:sp>
      <p:sp>
        <p:nvSpPr>
          <p:cNvPr id="15" name="p16-n-4">
            <a:extLst xmlns:a="http://schemas.openxmlformats.org/drawingml/2006/main">
              <a:ext uri="{FF2B5EF4-FFF2-40B4-BE49-F238E27FC236}">
                <a16:creationId xmlns:a16="http://schemas.microsoft.com/office/drawing/2014/main" id="{A8E1DE54-CA49-46BD-98A2-00F44AD52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48150"/>
            <a:ext cx="4191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6" name="p16-q-4">
            <a:extLst xmlns:a="http://schemas.openxmlformats.org/drawingml/2006/main">
              <a:ext uri="{FF2B5EF4-FFF2-40B4-BE49-F238E27FC236}">
                <a16:creationId xmlns:a16="http://schemas.microsoft.com/office/drawing/2014/main" id="{1399A434-5B61-482F-8D4B-BE46D5C99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248150"/>
            <a:ext cx="504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今天最不确定的一点是什么？</a:t>
            </a:r>
          </a:p>
        </p:txBody>
      </p:sp>
      <p:sp>
        <p:nvSpPr>
          <p:cNvPr id="17" name="p16-next-title">
            <a:extLst xmlns:a="http://schemas.openxmlformats.org/drawingml/2006/main">
              <a:ext uri="{FF2B5EF4-FFF2-40B4-BE49-F238E27FC236}">
                <a16:creationId xmlns:a16="http://schemas.microsoft.com/office/drawing/2014/main" id="{825813DC-2554-4B31-80B3-A88D4F04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990600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工件去向</a:t>
            </a:r>
          </a:p>
        </p:txBody>
      </p:sp>
      <p:sp>
        <p:nvSpPr>
          <p:cNvPr id="18" name="p16-line-1">
            <a:extLst xmlns:a="http://schemas.openxmlformats.org/drawingml/2006/main">
              <a:ext uri="{FF2B5EF4-FFF2-40B4-BE49-F238E27FC236}">
                <a16:creationId xmlns:a16="http://schemas.microsoft.com/office/drawing/2014/main" id="{DCE8B8AF-715C-48B3-B0EF-60CA8D6A5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001125" y="2619375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p16-line-2">
            <a:extLst xmlns:a="http://schemas.openxmlformats.org/drawingml/2006/main">
              <a:ext uri="{FF2B5EF4-FFF2-40B4-BE49-F238E27FC236}">
                <a16:creationId xmlns:a16="http://schemas.microsoft.com/office/drawing/2014/main" id="{8431B3EB-8A23-4200-9535-B987F7F7E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001125" y="3990975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16-now">
            <a:extLst xmlns:a="http://schemas.openxmlformats.org/drawingml/2006/main">
              <a:ext uri="{FF2B5EF4-FFF2-40B4-BE49-F238E27FC236}">
                <a16:creationId xmlns:a16="http://schemas.microsoft.com/office/drawing/2014/main" id="{99B16ACC-18AB-4084-AE79-B3B89EE77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524000"/>
            <a:ext cx="3810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本课工件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1 主 + 1 替代 + 判断 + 规格</a:t>
            </a:r>
          </a:p>
        </p:txBody>
      </p:sp>
      <p:sp>
        <p:nvSpPr>
          <p:cNvPr id="21" name="p16-week8">
            <a:extLst xmlns:a="http://schemas.openxmlformats.org/drawingml/2006/main">
              <a:ext uri="{FF2B5EF4-FFF2-40B4-BE49-F238E27FC236}">
                <a16:creationId xmlns:a16="http://schemas.microsoft.com/office/drawing/2014/main" id="{E8C5C694-C6B6-476B-BBDA-F68AF91C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990850"/>
            <a:ext cx="3810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 8 课方案分享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补到 2 个替代｜3 分钟陈述</a:t>
            </a:r>
          </a:p>
        </p:txBody>
      </p:sp>
      <p:sp>
        <p:nvSpPr>
          <p:cNvPr id="22" name="p16-week9">
            <a:extLst xmlns:a="http://schemas.openxmlformats.org/drawingml/2006/main">
              <a:ext uri="{FF2B5EF4-FFF2-40B4-BE49-F238E27FC236}">
                <a16:creationId xmlns:a16="http://schemas.microsoft.com/office/drawing/2014/main" id="{0FA64BFD-0E00-43E9-A415-F8D9868C2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457700"/>
            <a:ext cx="3810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第 9 课判断门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至少 2 条判断 + 完整实验规格</a:t>
            </a:r>
          </a:p>
        </p:txBody>
      </p:sp>
      <p:sp>
        <p:nvSpPr>
          <p:cNvPr id="23" name="p16-bottom">
            <a:extLst xmlns:a="http://schemas.openxmlformats.org/drawingml/2006/main">
              <a:ext uri="{FF2B5EF4-FFF2-40B4-BE49-F238E27FC236}">
                <a16:creationId xmlns:a16="http://schemas.microsoft.com/office/drawing/2014/main" id="{BBF69C6E-B9E7-4ECF-B2FF-4917E6FEC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467350"/>
            <a:ext cx="449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不新增正式提交；持续回写个人项目。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2026-08-20T15:13:58.4080000Z</dcterms:created>
  <dcterms:modified xsi:type="dcterms:W3CDTF">2026-08-20T15:13:58.4080000Z</dcterms:modified>
</coreProperties>
</file>