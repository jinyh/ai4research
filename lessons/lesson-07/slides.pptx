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e13c802a0d044aa" /><Relationship Type="http://schemas.openxmlformats.org/officeDocument/2006/relationships/extended-properties" Target="/docProps/app.xml" Id="Rbee63fae90ec4477" /><Relationship Type="http://schemas.openxmlformats.org/officeDocument/2006/relationships/officeDocument" Target="/ppt/presentation.xml" Id="Rdc87239dba8e418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b45572f4ad7498a"/>
  </p:sldMasterIdLst>
  <p:notesMasterIdLst>
    <p:notesMasterId xmlns:r="http://schemas.openxmlformats.org/officeDocument/2006/relationships" r:id="R194413a1ba48425f"/>
  </p:notesMasterIdLst>
  <p:sldIdLst>
    <p:sldId xmlns:r="http://schemas.openxmlformats.org/officeDocument/2006/relationships" id="256" r:id="Ra3bd292f3b6141c5"/>
    <p:sldId xmlns:r="http://schemas.openxmlformats.org/officeDocument/2006/relationships" id="257" r:id="R87f6e4c7b17d4234"/>
    <p:sldId xmlns:r="http://schemas.openxmlformats.org/officeDocument/2006/relationships" id="258" r:id="R9c4763b8d89449eb"/>
    <p:sldId xmlns:r="http://schemas.openxmlformats.org/officeDocument/2006/relationships" id="259" r:id="R434701a510c24e55"/>
    <p:sldId xmlns:r="http://schemas.openxmlformats.org/officeDocument/2006/relationships" id="260" r:id="R1d15dde4177e4a7f"/>
    <p:sldId xmlns:r="http://schemas.openxmlformats.org/officeDocument/2006/relationships" id="261" r:id="R9121684dd47a4af2"/>
    <p:sldId xmlns:r="http://schemas.openxmlformats.org/officeDocument/2006/relationships" id="262" r:id="Rac71f32ee26248b8"/>
    <p:sldId xmlns:r="http://schemas.openxmlformats.org/officeDocument/2006/relationships" id="263" r:id="R3785790f05c744ce"/>
    <p:sldId xmlns:r="http://schemas.openxmlformats.org/officeDocument/2006/relationships" id="264" r:id="Rb7f3831a9786499c"/>
    <p:sldId xmlns:r="http://schemas.openxmlformats.org/officeDocument/2006/relationships" id="265" r:id="R7b4b103b80984373"/>
    <p:sldId xmlns:r="http://schemas.openxmlformats.org/officeDocument/2006/relationships" id="266" r:id="R4914698e9c5b45a4"/>
    <p:sldId xmlns:r="http://schemas.openxmlformats.org/officeDocument/2006/relationships" id="267" r:id="R3a3c283e100b4711"/>
    <p:sldId xmlns:r="http://schemas.openxmlformats.org/officeDocument/2006/relationships" id="268" r:id="R6288170007074642"/>
    <p:sldId xmlns:r="http://schemas.openxmlformats.org/officeDocument/2006/relationships" id="269" r:id="Rb8c582d5334d4041"/>
    <p:sldId xmlns:r="http://schemas.openxmlformats.org/officeDocument/2006/relationships" id="270" r:id="R695d4da3fe074be9"/>
    <p:sldId xmlns:r="http://schemas.openxmlformats.org/officeDocument/2006/relationships" id="271" r:id="Rda88dfc9a1c34fd9"/>
    <p:sldId xmlns:r="http://schemas.openxmlformats.org/officeDocument/2006/relationships" id="272" r:id="Ra2f97b9cb688458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浅色样式 3 - 强调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70858707ded457a" /><Relationship Type="http://schemas.openxmlformats.org/officeDocument/2006/relationships/slideMaster" Target="/ppt/slideMasters/slideMaster1.xml" Id="R1b45572f4ad7498a" /><Relationship Type="http://schemas.openxmlformats.org/officeDocument/2006/relationships/notesMaster" Target="/ppt/notesMasters/notesMaster1.xml" Id="R194413a1ba48425f" /><Relationship Type="http://schemas.openxmlformats.org/officeDocument/2006/relationships/presProps" Target="/ppt/presProps.xml" Id="R9ab555efac8f4894" /><Relationship Type="http://schemas.openxmlformats.org/officeDocument/2006/relationships/viewProps" Target="/ppt/viewProps.xml" Id="Rce7860daf7184119" /><Relationship Type="http://schemas.openxmlformats.org/officeDocument/2006/relationships/tableStyles" Target="/ppt/tableStyles.xml" Id="Rb5785be9cc444b4e" /><Relationship Type="http://schemas.openxmlformats.org/officeDocument/2006/relationships/slide" Target="/ppt/slides/slide1.xml" Id="Ra3bd292f3b6141c5" /><Relationship Type="http://schemas.openxmlformats.org/officeDocument/2006/relationships/slide" Target="/ppt/slides/slide2.xml" Id="R87f6e4c7b17d4234" /><Relationship Type="http://schemas.openxmlformats.org/officeDocument/2006/relationships/slide" Target="/ppt/slides/slide3.xml" Id="R9c4763b8d89449eb" /><Relationship Type="http://schemas.openxmlformats.org/officeDocument/2006/relationships/slide" Target="/ppt/slides/slide4.xml" Id="R434701a510c24e55" /><Relationship Type="http://schemas.openxmlformats.org/officeDocument/2006/relationships/slide" Target="/ppt/slides/slide5.xml" Id="R1d15dde4177e4a7f" /><Relationship Type="http://schemas.openxmlformats.org/officeDocument/2006/relationships/slide" Target="/ppt/slides/slide6.xml" Id="R9121684dd47a4af2" /><Relationship Type="http://schemas.openxmlformats.org/officeDocument/2006/relationships/slide" Target="/ppt/slides/slide7.xml" Id="Rac71f32ee26248b8" /><Relationship Type="http://schemas.openxmlformats.org/officeDocument/2006/relationships/slide" Target="/ppt/slides/slide8.xml" Id="R3785790f05c744ce" /><Relationship Type="http://schemas.openxmlformats.org/officeDocument/2006/relationships/slide" Target="/ppt/slides/slide9.xml" Id="Rb7f3831a9786499c" /><Relationship Type="http://schemas.openxmlformats.org/officeDocument/2006/relationships/slide" Target="/ppt/slides/slide10.xml" Id="R7b4b103b80984373" /><Relationship Type="http://schemas.openxmlformats.org/officeDocument/2006/relationships/slide" Target="/ppt/slides/slide11.xml" Id="R4914698e9c5b45a4" /><Relationship Type="http://schemas.openxmlformats.org/officeDocument/2006/relationships/slide" Target="/ppt/slides/slide12.xml" Id="R3a3c283e100b4711" /><Relationship Type="http://schemas.openxmlformats.org/officeDocument/2006/relationships/slide" Target="/ppt/slides/slide13.xml" Id="R6288170007074642" /><Relationship Type="http://schemas.openxmlformats.org/officeDocument/2006/relationships/slide" Target="/ppt/slides/slide14.xml" Id="Rb8c582d5334d4041" /><Relationship Type="http://schemas.openxmlformats.org/officeDocument/2006/relationships/slide" Target="/ppt/slides/slide15.xml" Id="R695d4da3fe074be9" /><Relationship Type="http://schemas.openxmlformats.org/officeDocument/2006/relationships/slide" Target="/ppt/slides/slide16.xml" Id="Rda88dfc9a1c34fd9" /><Relationship Type="http://schemas.openxmlformats.org/officeDocument/2006/relationships/slide" Target="/ppt/slides/slide17.xml" Id="Ra2f97b9cb688458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87fc0121c2f4d5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1a828b8bd8f4741" /><Relationship Type="http://schemas.openxmlformats.org/officeDocument/2006/relationships/notesMaster" Target="/ppt/notesMasters/notesMaster1.xml" Id="R0947a8a89f634ec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28f5fbd07454cc7" /><Relationship Type="http://schemas.openxmlformats.org/officeDocument/2006/relationships/notesMaster" Target="/ppt/notesMasters/notesMaster1.xml" Id="R070bef9f71af41f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261fd175d024ea4" /><Relationship Type="http://schemas.openxmlformats.org/officeDocument/2006/relationships/notesMaster" Target="/ppt/notesMasters/notesMaster1.xml" Id="R641b40369a484ac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b06cc94db2b423a" /><Relationship Type="http://schemas.openxmlformats.org/officeDocument/2006/relationships/notesMaster" Target="/ppt/notesMasters/notesMaster1.xml" Id="Ref3857c52417442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cf618f757f74265" /><Relationship Type="http://schemas.openxmlformats.org/officeDocument/2006/relationships/notesMaster" Target="/ppt/notesMasters/notesMaster1.xml" Id="Rf606c4cc60544b8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571e1dd9554477b" /><Relationship Type="http://schemas.openxmlformats.org/officeDocument/2006/relationships/notesMaster" Target="/ppt/notesMasters/notesMaster1.xml" Id="Rffe43dfa5924445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767f34860984663" /><Relationship Type="http://schemas.openxmlformats.org/officeDocument/2006/relationships/notesMaster" Target="/ppt/notesMasters/notesMaster1.xml" Id="R9f00934a4487466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d4c27c4ff5746ab" /><Relationship Type="http://schemas.openxmlformats.org/officeDocument/2006/relationships/notesMaster" Target="/ppt/notesMasters/notesMaster1.xml" Id="R1b304613ea4f47d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1cf24876e984bd8" /><Relationship Type="http://schemas.openxmlformats.org/officeDocument/2006/relationships/notesMaster" Target="/ppt/notesMasters/notesMaster1.xml" Id="Ra1d617575d5c4af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e008f99e98749d4" /><Relationship Type="http://schemas.openxmlformats.org/officeDocument/2006/relationships/notesMaster" Target="/ppt/notesMasters/notesMaster1.xml" Id="R0df0e45a1878418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5a38e3b83564906" /><Relationship Type="http://schemas.openxmlformats.org/officeDocument/2006/relationships/notesMaster" Target="/ppt/notesMasters/notesMaster1.xml" Id="R82fb45356661408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a80643161b44756" /><Relationship Type="http://schemas.openxmlformats.org/officeDocument/2006/relationships/notesMaster" Target="/ppt/notesMasters/notesMaster1.xml" Id="R57369eba23074db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bcfa34de4fb4968" /><Relationship Type="http://schemas.openxmlformats.org/officeDocument/2006/relationships/notesMaster" Target="/ppt/notesMasters/notesMaster1.xml" Id="R47f894c9bb464267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a30a4e409a84d5d" /><Relationship Type="http://schemas.openxmlformats.org/officeDocument/2006/relationships/notesMaster" Target="/ppt/notesMasters/notesMaster1.xml" Id="R2c2f2a3b08a44f3b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e5a447a342a64783" /><Relationship Type="http://schemas.openxmlformats.org/officeDocument/2006/relationships/notesMaster" Target="/ppt/notesMasters/notesMaster1.xml" Id="R9099114a89004948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511a18c70de04268" /><Relationship Type="http://schemas.openxmlformats.org/officeDocument/2006/relationships/notesMaster" Target="/ppt/notesMasters/notesMaster1.xml" Id="R8b19acf378394820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806faa46de9940aa" /><Relationship Type="http://schemas.openxmlformats.org/officeDocument/2006/relationships/notesMaster" Target="/ppt/notesMasters/notesMaster1.xml" Id="Rd843133142ba414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开场放下问题门的成果。问题门确认"问题问得清、做得了"，但没确认"假设成立"。本课把可证伪命题配上一个能被实验支持、削弱或推翻的机制，并当场记录设计取舍，避免事后反向改写"最初为什么这样设计"。</a:t>
            </a:r>
          </a:p>
          <a:p xmlns:a="http://schemas.openxmlformats.org/drawingml/2006/main">
            <a:r>
              <a:t>屏显母稿细节备查：</a:t>
            </a:r>
          </a:p>
          <a:p xmlns:a="http://schemas.openxmlformats.org/drawingml/2006/main">
            <a:r>
              <a:t>第7讲 机制假设、研究判断与实验设计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/Users/bright/Projects/courses/graduate/lessons/lesson-07/slides.md</a:t>
            </a:r>
          </a:p>
          <a:p xmlns:a="http://schemas.openxmlformats.org/drawingml/2006/main">
            <a:r>
              <a:t>- /Users/bright/Projects/courses/graduate/lessons/lesson-07/handout.md</a:t>
            </a:r>
          </a:p>
          <a:p xmlns:a="http://schemas.openxmlformats.org/drawingml/2006/main">
            <a:r>
              <a:t>- 课程定位以 [syllabus.md](../../course/syllabus.md) 与 [备课规划.md](../备课规划.md) 第 7 课段为准。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回扣第 6 课：问题门确认了问题值得问、问得清、做得完，但没有回答"为什么预期结果会发生"。本课进入阶段三+六，处理"机制、替代解释和设计取舍"。</a:t>
            </a:r>
          </a:p>
          <a:p xmlns:a="http://schemas.openxmlformats.org/drawingml/2006/main">
            <a:r>
              <a:t>屏显母稿细节备查：</a:t>
            </a:r>
          </a:p>
          <a:p xmlns:a="http://schemas.openxmlformats.org/drawingml/2006/main">
            <a:r>
              <a:t>第 6 课已建立：</a:t>
            </a:r>
          </a:p>
          <a:p xmlns:a="http://schemas.openxmlformats.org/drawingml/2006/main">
            <a:r>
              <a:t>- 可证伪命题（含范围、非例）</a:t>
            </a:r>
          </a:p>
          <a:p xmlns:a="http://schemas.openxmlformats.org/drawingml/2006/main">
            <a:r>
              <a:t>- 第一性原理必要条件清单</a:t>
            </a:r>
          </a:p>
          <a:p xmlns:a="http://schemas.openxmlformats.org/drawingml/2006/main">
            <a:r>
              <a:t>- 证据地图初版与研究空白候选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仍未回答：</a:t>
            </a:r>
          </a:p>
          <a:p xmlns:a="http://schemas.openxmlformats.org/drawingml/2006/main">
            <a:r>
              <a:t>- 为什么预期结果会发生？（机制假设）</a:t>
            </a:r>
          </a:p>
          <a:p xmlns:a="http://schemas.openxmlformats.org/drawingml/2006/main">
            <a:r>
              <a:t>- 哪些替代解释也能产生同一结果？（替代假设）</a:t>
            </a:r>
          </a:p>
          <a:p xmlns:a="http://schemas.openxmlformats.org/drawingml/2006/main">
            <a:r>
              <a:t>- 实验在什么结果下支持主假设、什么结果下支持替代假设？（区分实验）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问题成立 ≠ 假设成立。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/Users/bright/Projects/courses/graduate/lessons/lesson-07/slides.md</a:t>
            </a:r>
          </a:p>
          <a:p xmlns:a="http://schemas.openxmlformats.org/drawingml/2006/main">
            <a:r>
              <a:t>- /Users/bright/Projects/courses/graduate/lessons/lesson-07/handout.md</a:t>
            </a:r>
          </a:p>
          <a:p xmlns:a="http://schemas.openxmlformats.org/drawingml/2006/main">
            <a:r>
              <a:t>- 回扣第 6 课讲义与 [assignments.md](../../course/assignments.md) 问题门条件。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明确边界：课堂不追求候选数量或完整规格。课后可补全未完成表达，但不把删掉的工程规格变成第 7 课必做作业。</a:t>
            </a:r>
          </a:p>
          <a:p xmlns:a="http://schemas.openxmlformats.org/drawingml/2006/main">
            <a:r>
              <a:t>屏显母稿细节备查：</a:t>
            </a:r>
          </a:p>
          <a:p xmlns:a="http://schemas.openxmlformats.org/drawingml/2006/main">
            <a:r>
              <a:t>完成本课后，你能：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写出含中间过程的主机制假设；</a:t>
            </a:r>
          </a:p>
          <a:p xmlns:a="http://schemas.openxmlformats.org/drawingml/2006/main">
            <a:r>
              <a:t>2. 写出 1 个对同一结果给出不同解释的可区分替代；</a:t>
            </a:r>
          </a:p>
          <a:p xmlns:a="http://schemas.openxmlformats.org/drawingml/2006/main">
            <a:r>
              <a:t>3. 写出 1 条带依据和边界的研究判断；</a:t>
            </a:r>
          </a:p>
          <a:p xmlns:a="http://schemas.openxmlformats.org/drawingml/2006/main">
            <a:r>
              <a:t>4. 画出“支持／反驳／仍不能判断”映射草图。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课堂最低产出：1 主机制 + 1 个可区分替代 + 1 条研究判断 + 1 张映射草图。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课后只补全课堂未完成的表达；完整工程规格在第 9 课完成。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/Users/bright/Projects/courses/graduate/lessons/lesson-07/slides.md</a:t>
            </a:r>
          </a:p>
          <a:p xmlns:a="http://schemas.openxmlformats.org/drawingml/2006/main">
            <a:r>
              <a:t>- /Users/bright/Projects/courses/graduate/lessons/lesson-07/handout.md</a:t>
            </a:r>
          </a:p>
          <a:p xmlns:a="http://schemas.openxmlformats.org/drawingml/2006/main">
            <a:r>
              <a:t>- [备课规划.md](../备课规划.md) 第 7 课目标段；[assignments.md](../../course/assignments.md) 第 9 课判断门条件与第 8 课方案分享要求。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区分两类表述。结果预测回答"是什么"，机制假设回答"为什么"。一个好的机制假设要指出中间过程、可观察现象、可被推翻，并能与替代解释区分。"模型理解了原文"不可观察，且无法与"记住了模式"区分——不算机制假设。四要素不是格式要求，是可验证的最低条件。缺反证点的假设任何结果都能解释，不算可证伪。</a:t>
            </a:r>
          </a:p>
          <a:p xmlns:a="http://schemas.openxmlformats.org/drawingml/2006/main">
            <a:r>
              <a:t>屏显母稿细节备查：</a:t>
            </a:r>
          </a:p>
          <a:p xmlns:a="http://schemas.openxmlformats.org/drawingml/2006/main">
            <a:r>
              <a:t>可证伪命题（第 6 课）：</a:t>
            </a:r>
          </a:p>
          <a:p xmlns:a="http://schemas.openxmlformats.org/drawingml/2006/main">
            <a:r>
              <a:t>&gt; 在同一批20篇CS论文中，结构化阅读卡相对自由摘要降低限定条件遗漏率。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结果预测：阅读卡降低遗漏率。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机制路径：字段约束 → 生成时标注原文限定条件 → 核验更易发现错读。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反证点：中间过程不变，或不随干预变化。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要素 | 内容 |</a:t>
            </a:r>
          </a:p>
          <a:p xmlns:a="http://schemas.openxmlformats.org/drawingml/2006/main">
            <a:r>
              <a:t>| --- | --- |</a:t>
            </a:r>
          </a:p>
          <a:p xmlns:a="http://schemas.openxmlformats.org/drawingml/2006/main">
            <a:r>
              <a:t>| 自变量（干预） | 你将操作什么 |</a:t>
            </a:r>
          </a:p>
          <a:p xmlns:a="http://schemas.openxmlformats.org/drawingml/2006/main">
            <a:r>
              <a:t>| 因变量（结果） | 你将观察什么 |</a:t>
            </a:r>
          </a:p>
          <a:p xmlns:a="http://schemas.openxmlformats.org/drawingml/2006/main">
            <a:r>
              <a:t>| 机制路径 | 干预如何导致结果 |</a:t>
            </a:r>
          </a:p>
          <a:p xmlns:a="http://schemas.openxmlformats.org/drawingml/2006/main">
            <a:r>
              <a:t>| 反证点 | 什么观察使假设不成立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常见错误：把“会更好”或“模型理解原文”当机制。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只写"会降低"不算机制假设——没有说"为什么"。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/Users/bright/Projects/courses/graduate/lessons/lesson-07/slides.md</a:t>
            </a:r>
          </a:p>
          <a:p xmlns:a="http://schemas.openxmlformats.org/drawingml/2006/main">
            <a:r>
              <a:t>- /Users/bright/Projects/courses/graduate/lessons/lesson-07/handout.md</a:t>
            </a:r>
          </a:p>
          <a:p xmlns:a="http://schemas.openxmlformats.org/drawingml/2006/main">
            <a:r>
              <a:t>- 讲义 §二·1-2；第 1 课 §2.3 机制假设最小定义；[AGENTS.md](../../AGENTS.md) 证据标准。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引用 Platt 的强推理：为主假设设计竞争解释和关键实验。替代假设必须可区分——如果实验无法在主假设和替代假设之间产生不同结果，这个实验不能"支持"主假设，只能"不反驳"它。A1/A2/A3 各自预测不同的可观察结果，这就是区分实验的逻辑。AI 给出的候选机制可能看起来合理，但如果不经过反证点和替代假设的区分检验，就只能算探索线索。候选越多不代表研究越好——淘汰理由比候选数量更重要。</a:t>
            </a:r>
          </a:p>
          <a:p xmlns:a="http://schemas.openxmlformats.org/drawingml/2006/main">
            <a:r>
              <a:t>屏显母稿细节备查：</a:t>
            </a:r>
          </a:p>
          <a:p xmlns:a="http://schemas.openxmlformats.org/drawingml/2006/main">
            <a:r>
              <a:t>主假设：字段约束 → 生成时强制标注 → 错读更易暴露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替代假设（同一结果的不同解释）：</a:t>
            </a:r>
          </a:p>
          <a:p xmlns:a="http://schemas.openxmlformats.org/drawingml/2006/main">
            <a:r>
              <a:t>- A1 任务转移：总错读率不变，只是从"限定条件"字段转到"作者主张"字段</a:t>
            </a:r>
          </a:p>
          <a:p xmlns:a="http://schemas.openxmlformats.org/drawingml/2006/main">
            <a:r>
              <a:t>- A2 标注提示效应：评估者看到字段提示，导致评价尺度不等价</a:t>
            </a:r>
          </a:p>
          <a:p xmlns:a="http://schemas.openxmlformats.org/drawingml/2006/main">
            <a:r>
              <a:t>- A3 文档结构效应：差异只出现在特定论文结构，不能普遍外推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多候选假设淘汰理由：</a:t>
            </a:r>
          </a:p>
          <a:p xmlns:a="http://schemas.openxmlformats.org/drawingml/2006/main">
            <a:r>
              <a:t>- 与第一性原理约束冲突</a:t>
            </a:r>
          </a:p>
          <a:p xmlns:a="http://schemas.openxmlformats.org/drawingml/2006/main">
            <a:r>
              <a:t>- 不可观察或不可测量</a:t>
            </a:r>
          </a:p>
          <a:p xmlns:a="http://schemas.openxmlformats.org/drawingml/2006/main">
            <a:r>
              <a:t>- 与证据地图主证据冲突且无法解释</a:t>
            </a:r>
          </a:p>
          <a:p xmlns:a="http://schemas.openxmlformats.org/drawingml/2006/main">
            <a:r>
              <a:t>- 课程周期内无法构造区分性实验</a:t>
            </a:r>
          </a:p>
          <a:p xmlns:a="http://schemas.openxmlformats.org/drawingml/2006/main">
            <a:r>
              <a:t>- 与替代假设不可区分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替代假设不是"另一个题目"，是对同一结果的不同解释。实验必须能产生不同结果来区分。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Agent 建议只能生成候选项，最终机制判断由学生负责。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/Users/bright/Projects/courses/graduate/lessons/lesson-07/slides.md</a:t>
            </a:r>
          </a:p>
          <a:p xmlns:a="http://schemas.openxmlformats.org/drawingml/2006/main">
            <a:r>
              <a:t>- /Users/bright/Projects/courses/graduate/lessons/lesson-07/handout.md</a:t>
            </a:r>
          </a:p>
          <a:p xmlns:a="http://schemas.openxmlformats.org/drawingml/2006/main">
            <a:r>
              <a:t>- 讲义 §二·3-4；Platt, "Strong Inference." *Science* 146(3642): 347–353 (1964)，本课只读替代假设、关键实验与结果区分力部分（[reading-list.md](../../course/reading-list.md) 第 7 课）；[AGENTS.md](../../AGENTS.md) 证据标准（AI 输出不构成证据）。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这四类常被混在一起，导致事后无法复盘。证据地图里的 verified 条目在此意义上是事实；review 和 pending 是待验证项。把假设写成结论、把研究判断写成事实，都是常见错误。研究判断记录能防止一种常见现象：实验完成后，研究者根据结果反向改写"最初为什么这样设计"。保留当时的理由，才能诚实分析哪些判断正确、哪些需要修正。本课要求至少写一条完整六字段记录。</a:t>
            </a:r>
          </a:p>
          <a:p xmlns:a="http://schemas.openxmlformats.org/drawingml/2006/main">
            <a:r>
              <a:t>屏显母稿细节备查：</a:t>
            </a:r>
          </a:p>
          <a:p xmlns:a="http://schemas.openxmlformats.org/drawingml/2006/main">
            <a:r>
              <a:t>| 类别 | 定义 | 在哪个工件 |</a:t>
            </a:r>
          </a:p>
          <a:p xmlns:a="http://schemas.openxmlformats.org/drawingml/2006/main">
            <a:r>
              <a:t>| --- | --- | --- |</a:t>
            </a:r>
          </a:p>
          <a:p xmlns:a="http://schemas.openxmlformats.org/drawingml/2006/main">
            <a:r>
              <a:t>| 事实 | 已被可核验来源支持、不在本课争议范围 | 证据地图主格 / 阅读卡 |</a:t>
            </a:r>
          </a:p>
          <a:p xmlns:a="http://schemas.openxmlformats.org/drawingml/2006/main">
            <a:r>
              <a:t>| 假设 | 当前未被直接证据支持、但可被实验检验 | 机制假设列表 |</a:t>
            </a:r>
          </a:p>
          <a:p xmlns:a="http://schemas.openxmlformats.org/drawingml/2006/main">
            <a:r>
              <a:t>| 研究判断 | 从证据和约束到行动的有理由取舍 | 研究判断记录 |</a:t>
            </a:r>
          </a:p>
          <a:p xmlns:a="http://schemas.openxmlformats.org/drawingml/2006/main">
            <a:r>
              <a:t>| 待验证项 | 需补证据或补实验才能升级 | 研究判断记录"待验证"字段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研究判断记录六字段（贯穿案例）：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字段 | 贯穿案例 |</a:t>
            </a:r>
          </a:p>
          <a:p xmlns:a="http://schemas.openxmlformats.org/drawingml/2006/main">
            <a:r>
              <a:t>| --- | --- |</a:t>
            </a:r>
          </a:p>
          <a:p xmlns:a="http://schemas.openxmlformats.org/drawingml/2006/main">
            <a:r>
              <a:t>| 判断内容 | 主要评价指标采用"限定条件遗漏率"，不用通用语言质量评分 |</a:t>
            </a:r>
          </a:p>
          <a:p xmlns:a="http://schemas.openxmlformats.org/drawingml/2006/main">
            <a:r>
              <a:t>| 取舍理由 | 研究可追溯性而非语言流畅度；通用评分无法区分"漏标"与"措辞差" |</a:t>
            </a:r>
          </a:p>
          <a:p xmlns:a="http://schemas.openxmlformats.org/drawingml/2006/main">
            <a:r>
              <a:t>| 适用边界 | 带引用的计算机论文摘要任务；外推需重验 |</a:t>
            </a:r>
          </a:p>
          <a:p xmlns:a="http://schemas.openxmlformats.org/drawingml/2006/main">
            <a:r>
              <a:t>| 依据 | 证据地图 E1 + 第一性原理"主张必须能定位原文" |</a:t>
            </a:r>
          </a:p>
          <a:p xmlns:a="http://schemas.openxmlformats.org/drawingml/2006/main">
            <a:r>
              <a:t>| 待验证状态 | 标注者间一致性未测；rubric 在 20 篇样本稳定性待跑 |</a:t>
            </a:r>
          </a:p>
          <a:p xmlns:a="http://schemas.openxmlformats.org/drawingml/2006/main">
            <a:r>
              <a:t>| 影响工件 | 实验规格的因变量定义、标注协议、停止条件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"事实"不等于"绝对正确"，只意味着"当前不再争议"。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当场写，不课后补。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/Users/bright/Projects/courses/graduate/lessons/lesson-07/slides.md</a:t>
            </a:r>
          </a:p>
          <a:p xmlns:a="http://schemas.openxmlformats.org/drawingml/2006/main">
            <a:r>
              <a:t>- /Users/bright/Projects/courses/graduate/lessons/lesson-07/handout.md</a:t>
            </a:r>
          </a:p>
          <a:p xmlns:a="http://schemas.openxmlformats.org/drawingml/2006/main">
            <a:r>
              <a:t>- 讲义 §三·1-2；第 5 课证据地图核验状态；第 1 课 §2.6 研究判断格式。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本课核心活动之一：比较两种实验方案并说明取舍。比较维度不是看哪个"更好"，而是看哪个更能区分假设、baseline 更公平、更可执行、失败后留得下东西。</a:t>
            </a:r>
          </a:p>
          <a:p xmlns:a="http://schemas.openxmlformats.org/drawingml/2006/main">
            <a:r>
              <a:t>屏显母稿细节备查：</a:t>
            </a:r>
          </a:p>
          <a:p xmlns:a="http://schemas.openxmlformats.org/drawingml/2006/main">
            <a:r>
              <a:t>方案甲：同批论文、同模型、阅读卡 vs 自由摘要</a:t>
            </a:r>
          </a:p>
          <a:p xmlns:a="http://schemas.openxmlformats.org/drawingml/2006/main">
            <a:r>
              <a:t>方案乙：两批不同论文、阅读卡 vs 自由摘要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比较维度：</a:t>
            </a:r>
          </a:p>
          <a:p xmlns:a="http://schemas.openxmlformats.org/drawingml/2006/main">
            <a:r>
              <a:t>- 能否区分主假设与替代假设</a:t>
            </a:r>
          </a:p>
          <a:p xmlns:a="http://schemas.openxmlformats.org/drawingml/2006/main">
            <a:r>
              <a:t>- baseline 是否公平</a:t>
            </a:r>
          </a:p>
          <a:p xmlns:a="http://schemas.openxmlformats.org/drawingml/2006/main">
            <a:r>
              <a:t>- 课程周期内是否可执行</a:t>
            </a:r>
          </a:p>
          <a:p xmlns:a="http://schemas.openxmlformats.org/drawingml/2006/main">
            <a:r>
              <a:t>- 失败后是否留得下可分析工件</a:t>
            </a:r>
          </a:p>
          <a:p xmlns:a="http://schemas.openxmlformats.org/drawingml/2006/main">
            <a:r>
              <a:t>- 是否越权、是否改变评价标准、是否保留失败记录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研究判断记录取舍：甲控制论文与模型但可能任务记忆污染；乙避免记忆污染但引入论文难度差异。取舍后保留一个，另一个进"如时间允许再跑"。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/Users/bright/Projects/courses/graduate/lessons/lesson-07/slides.md</a:t>
            </a:r>
          </a:p>
          <a:p xmlns:a="http://schemas.openxmlformats.org/drawingml/2006/main">
            <a:r>
              <a:t>- /Users/bright/Projects/courses/graduate/lessons/lesson-07/handout.md</a:t>
            </a:r>
          </a:p>
          <a:p xmlns:a="http://schemas.openxmlformats.org/drawingml/2006/main">
            <a:r>
              <a:t>- 讲义 §三·3；[assignments.md](../../course/assignments.md) 第 9 课判断门条件。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P08｜这条观察，支持了什么？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屏显内容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课程虚构教学案例。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具体观察：限定条件遗漏下降；其他错误上升，总错读未改善。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判断变化：H1 方向支持；A1 支持；A2/A3 仍不能判断。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假设 | 支持 | 反驳 | 仍不能判断 |</a:t>
            </a:r>
          </a:p>
          <a:p xmlns:a="http://schemas.openxmlformats.org/drawingml/2006/main">
            <a:r>
              <a:t>| --- | --- | --- | --- |</a:t>
            </a:r>
          </a:p>
          <a:p xmlns:a="http://schemas.openxmlformats.org/drawingml/2006/main">
            <a:r>
              <a:t>| H1 字段约束 | 方向吻合，且替代已排除 | 等价评价下稳定反向 | 差异不确定或替代未排除 |</a:t>
            </a:r>
          </a:p>
          <a:p xmlns:a="http://schemas.openxmlformats.org/drawingml/2006/main">
            <a:r>
              <a:t>| A1 任务转移 | 其他错读上升，总错读未改善 | 遗漏与总错读同时下降 | 缺少其他错读记录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方向支持不等于机制已证实；仅有“不显著”仍不能判断。完整 H1/A1/A2/A3 映射见讲义 §四·1。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视觉结构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上半页先放大具体观察，再显示判断如何变化；下半页只呈现课堂“1 主+1 替代”的两行三态映射。A2/A3 在判断行醒目标为仍不能判断；完整四行矩阵保留在讲义，不压成屏显窄表。结论边界紧邻结果。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教师讲述备注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先让学生解释具体观察，再回到 H1/A1 的三态映射。方向支持只表示观察方向吻合，不能替代排除竞争解释；完整四行映射在讲义 §四·1。第 8 课同伴会追问的核心：你的实验能改变研究判断吗？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互动／操作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让学生指出：你的实验在什么结果下支持主假设？什么结果下支持替代假设？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建议时间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 分钟。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来源与事实边界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 §四·1；Platt 强推理关键实验。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lessons/lesson-07/handout.md §四·1</a:t>
            </a:r>
          </a:p>
          <a:p xmlns:a="http://schemas.openxmlformats.org/drawingml/2006/main">
            <a:r>
              <a:t>- Platt, J. R. (1964). Strong Inference. Science 146(3642), 347–353.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这页只说明三课边界，不提前讲八要素。第 7 课的映射草图会作为第 8 课质询对象，再作为第 9 课工程规格的输入。</a:t>
            </a:r>
          </a:p>
          <a:p xmlns:a="http://schemas.openxmlformats.org/drawingml/2006/main">
            <a:r>
              <a:t>屏显母稿细节备查：</a:t>
            </a:r>
          </a:p>
          <a:p xmlns:a="http://schemas.openxmlformats.org/drawingml/2006/main">
            <a:r>
              <a:t>本课只留一张边界卡：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现在：主机制、一个替代解释、研究判断、结果映射草图；</a:t>
            </a:r>
          </a:p>
          <a:p xmlns:a="http://schemas.openxmlformats.org/drawingml/2006/main">
            <a:r>
              <a:t>- 第 8 课：用同伴质询检查边界、证据与可区分性；</a:t>
            </a:r>
          </a:p>
          <a:p xmlns:a="http://schemas.openxmlformats.org/drawingml/2006/main">
            <a:r>
              <a:t>- 第 9 课：公平 baseline、同一批论文配对、运行记录、人工基准标注、停止条件与失败预案。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本课不要求填八要素，也不把删减内容转为课后必做。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/Users/bright/Projects/courses/graduate/lessons/lesson-07/slides.md</a:t>
            </a:r>
          </a:p>
          <a:p xmlns:a="http://schemas.openxmlformats.org/drawingml/2006/main">
            <a:r>
              <a:t>- /Users/bright/Projects/courses/graduate/lessons/lesson-07/handout.md</a:t>
            </a:r>
          </a:p>
          <a:p xmlns:a="http://schemas.openxmlformats.org/drawingml/2006/main">
            <a:r>
              <a:t>- 讲义 §四·2-4；Box et al. *Statistics for Experimenters* §3.4；NIST/SEMATECH e-Handbook Experimental Design（[reading-list.md](../../course/reading-list.md) 第 7 课）；第 1 课 §2.7 原型验证实验规格要素。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AI 可以生成候选机制、提示替代假设、草拟实验规格，但所有产出只能作为草稿或线索。本课要求至少记录一条 AI 使用记录：工具、用途、Context、输出用途、人工核验方式、问题。核验清单在课堂逐条讲。</a:t>
            </a:r>
          </a:p>
          <a:p xmlns:a="http://schemas.openxmlformats.org/drawingml/2006/main">
            <a:r>
              <a:t>屏显母稿细节备查：</a:t>
            </a:r>
          </a:p>
          <a:p xmlns:a="http://schemas.openxmlformats.org/drawingml/2006/main">
            <a:r>
              <a:t>对 AI 给出的候选假设、替代假设或实验规格草稿，至少检查：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候选是否含中间过程，还是结果预测换说法</a:t>
            </a:r>
          </a:p>
          <a:p xmlns:a="http://schemas.openxmlformats.org/drawingml/2006/main">
            <a:r>
              <a:t>2. 候选是否可证伪——是否存在能推翻它的观察</a:t>
            </a:r>
          </a:p>
          <a:p xmlns:a="http://schemas.openxmlformats.org/drawingml/2006/main">
            <a:r>
              <a:t>3. 替代假设是否真的与主假设可区分</a:t>
            </a:r>
          </a:p>
          <a:p xmlns:a="http://schemas.openxmlformats.org/drawingml/2006/main">
            <a:r>
              <a:t>4. 引文、常数、设置是否回到可核验来源</a:t>
            </a:r>
          </a:p>
          <a:p xmlns:a="http://schemas.openxmlformats.org/drawingml/2006/main">
            <a:r>
              <a:t>5. 实验规格是否暗中改变评价标准或引入不公平 baseline</a:t>
            </a:r>
          </a:p>
          <a:p xmlns:a="http://schemas.openxmlformats.org/drawingml/2006/main">
            <a:r>
              <a:t>6. 停止条件是否会导致"跑到显著为止"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未完成这些步骤前，AI 产出只能留在探索线索区，不能进入假设列表主格。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/Users/bright/Projects/courses/graduate/lessons/lesson-07/slides.md</a:t>
            </a:r>
          </a:p>
          <a:p xmlns:a="http://schemas.openxmlformats.org/drawingml/2006/main">
            <a:r>
              <a:t>- /Users/bright/Projects/courses/graduate/lessons/lesson-07/handout.md</a:t>
            </a:r>
          </a:p>
          <a:p xmlns:a="http://schemas.openxmlformats.org/drawingml/2006/main">
            <a:r>
              <a:t>- 讲义 §五；第 3 课来源审计；[AGENTS.md](../../AGENTS.md) 证据标准。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演示分两页。本页先以 Platt 1964 的公开方法流程建立真实证据锚点，再跑虚构课程案例前四步；二者不能混写成真实实验结果。重点：替代假设不是"另一个题目"，是对同一结果的不同解释。每个替代假设必须预测不同的可观察结果。</a:t>
            </a:r>
          </a:p>
          <a:p xmlns:a="http://schemas.openxmlformats.org/drawingml/2006/main">
            <a:r>
              <a:t>屏显母稿细节备查：</a:t>
            </a:r>
          </a:p>
          <a:p xmlns:a="http://schemas.openxmlformats.org/drawingml/2006/main">
            <a:r>
              <a:t>真实公开方法对象：Platt 1964 的强推理流程——多重假设 → 关键实验 → 排除 → 循环。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演示项目：结构化阅读卡与 AI 摘要限定条件遗漏率（虚构样例）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第一步：展示第 6 课问题门输出（可证伪命题 + 第一性原理 + 证据地图 E1-E3）</a:t>
            </a:r>
          </a:p>
          <a:p xmlns:a="http://schemas.openxmlformats.org/drawingml/2006/main">
            <a:r>
              <a:t>第二步：写出主机制假设（字段约束 → 生成时强制标注 → 错读更易暴露）</a:t>
            </a:r>
          </a:p>
          <a:p xmlns:a="http://schemas.openxmlformats.org/drawingml/2006/main">
            <a:r>
              <a:t>第三步：写出 1 个可区分替代（示范选 A1 任务转移）</a:t>
            </a:r>
          </a:p>
          <a:p xmlns:a="http://schemas.openxmlformats.org/drawingml/2006/main">
            <a:r>
              <a:t>第四步：分别写出 H1 与 A1 的反证点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主假设与替代假设必须能产生不同结果——否则实验无法区分。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/Users/bright/Projects/courses/graduate/lessons/lesson-07/slides.md</a:t>
            </a:r>
          </a:p>
          <a:p xmlns:a="http://schemas.openxmlformats.org/drawingml/2006/main">
            <a:r>
              <a:t>- /Users/bright/Projects/courses/graduate/lessons/lesson-07/handout.md</a:t>
            </a:r>
          </a:p>
          <a:p xmlns:a="http://schemas.openxmlformats.org/drawingml/2006/main">
            <a:r>
              <a:t>- 讲义 §七 贯穿案例第一至四步；Platt, J. R. (1964), “Strong Inference”；下方课程案例为虚构教学工件、非实证结果；失败不重跑到成功。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本页只跑研究判断、两行结果映射和 AI 候选核验。完整实验工程规格不在本课演示。</a:t>
            </a:r>
          </a:p>
          <a:p xmlns:a="http://schemas.openxmlformats.org/drawingml/2006/main">
            <a:r>
              <a:t>屏显母稿细节备查：</a:t>
            </a:r>
          </a:p>
          <a:p xmlns:a="http://schemas.openxmlformats.org/drawingml/2006/main">
            <a:r>
              <a:t>第五步：写一条完整研究判断（六字段，当场写）</a:t>
            </a:r>
          </a:p>
          <a:p xmlns:a="http://schemas.openxmlformats.org/drawingml/2006/main">
            <a:r>
              <a:t>第六步：为 H1 与 A1 建立“支持／反驳／仍不能判断”映射草图</a:t>
            </a:r>
          </a:p>
          <a:p xmlns:a="http://schemas.openxmlformats.org/drawingml/2006/main">
            <a:r>
              <a:t>第七步：展示 AI 候选机制样例，逐条执行核验清单</a:t>
            </a:r>
          </a:p>
          <a:p xmlns:a="http://schemas.openxmlformats.org/drawingml/2006/main">
            <a:r>
              <a:t>  - 候选 1 只是结果预测换说法——淘汰</a:t>
            </a:r>
          </a:p>
          <a:p xmlns:a="http://schemas.openxmlformats.org/drawingml/2006/main">
            <a:r>
              <a:t>  - 候选 2 引用"Omission Rate Paradox, Smith 2023"——淘汰（文献不存在）</a:t>
            </a:r>
          </a:p>
          <a:p xmlns:a="http://schemas.openxmlformats.org/drawingml/2006/main">
            <a:r>
              <a:t>  - 候选 3 有中间过程且可证伪——保留并回核证据地图</a:t>
            </a:r>
          </a:p>
          <a:p xmlns:a="http://schemas.openxmlformats.org/drawingml/2006/main">
            <a:r>
              <a:t>第八步：记录一条 AI 使用记录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AI 给出的候选机制在核验前只能算探索线索。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/Users/bright/Projects/courses/graduate/lessons/lesson-07/slides.md</a:t>
            </a:r>
          </a:p>
          <a:p xmlns:a="http://schemas.openxmlformats.org/drawingml/2006/main">
            <a:r>
              <a:t>- /Users/bright/Projects/courses/graduate/lessons/lesson-07/handout.md</a:t>
            </a:r>
          </a:p>
          <a:p xmlns:a="http://schemas.openxmlformats.org/drawingml/2006/main">
            <a:r>
              <a:t>- 讲义 §七 第五至九步与 §五·2 核验清单；[AGENTS.md](../../AGENTS.md) AI 输出不构成证据。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把演示中的判断点与常见错误对应。每个错误都对应贯穿案例中的一个步骤。重点强调第 10 条：实验如果不能改变研究判断，就不算验证——这是第 8 课同伴会追问的核心。</a:t>
            </a:r>
          </a:p>
          <a:p xmlns:a="http://schemas.openxmlformats.org/drawingml/2006/main">
            <a:r>
              <a:t>屏显母稿细节备查：</a:t>
            </a:r>
          </a:p>
          <a:p xmlns:a="http://schemas.openxmlformats.org/drawingml/2006/main">
            <a:r>
              <a:t>常见错误：</a:t>
            </a:r>
          </a:p>
          <a:p xmlns:a="http://schemas.openxmlformats.org/drawingml/2006/main">
            <a:r>
              <a:t>1. 结果预测当机制假设</a:t>
            </a:r>
          </a:p>
          <a:p xmlns:a="http://schemas.openxmlformats.org/drawingml/2006/main">
            <a:r>
              <a:t>2. 黑箱归因（"模型理解了原文"）</a:t>
            </a:r>
          </a:p>
          <a:p xmlns:a="http://schemas.openxmlformats.org/drawingml/2006/main">
            <a:r>
              <a:t>3. 无反证点</a:t>
            </a:r>
          </a:p>
          <a:p xmlns:a="http://schemas.openxmlformats.org/drawingml/2006/main">
            <a:r>
              <a:t>4. 替代假设不可区分</a:t>
            </a:r>
          </a:p>
          <a:p xmlns:a="http://schemas.openxmlformats.org/drawingml/2006/main">
            <a:r>
              <a:t>5. 事后改判断</a:t>
            </a:r>
          </a:p>
          <a:p xmlns:a="http://schemas.openxmlformats.org/drawingml/2006/main">
            <a:r>
              <a:t>6. baseline 不公平</a:t>
            </a:r>
          </a:p>
          <a:p xmlns:a="http://schemas.openxmlformats.org/drawingml/2006/main">
            <a:r>
              <a:t>7. 无停止条件</a:t>
            </a:r>
          </a:p>
          <a:p xmlns:a="http://schemas.openxmlformats.org/drawingml/2006/main">
            <a:r>
              <a:t>8. AI 候选直接进列表</a:t>
            </a:r>
          </a:p>
          <a:p xmlns:a="http://schemas.openxmlformats.org/drawingml/2006/main">
            <a:r>
              <a:t>9. 混淆事实与假设</a:t>
            </a:r>
          </a:p>
          <a:p xmlns:a="http://schemas.openxmlformats.org/drawingml/2006/main">
            <a:r>
              <a:t>10. 实验不能改变判断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演示判断点：</a:t>
            </a:r>
          </a:p>
          <a:p xmlns:a="http://schemas.openxmlformats.org/drawingml/2006/main">
            <a:r>
              <a:t>- 结果预测和机制假设差在哪？</a:t>
            </a:r>
          </a:p>
          <a:p xmlns:a="http://schemas.openxmlformats.org/drawingml/2006/main">
            <a:r>
              <a:t>- 替代假设为什么不能只是"另一个题目"？</a:t>
            </a:r>
          </a:p>
          <a:p xmlns:a="http://schemas.openxmlformats.org/drawingml/2006/main">
            <a:r>
              <a:t>- 研究判断为什么要当场写？</a:t>
            </a:r>
          </a:p>
          <a:p xmlns:a="http://schemas.openxmlformats.org/drawingml/2006/main">
            <a:r>
              <a:t>- 实验无法区分主假设与替代假设时，能"支持"主假设吗？</a:t>
            </a:r>
          </a:p>
          <a:p xmlns:a="http://schemas.openxmlformats.org/drawingml/2006/main">
            <a:r>
              <a:t>- AI 候选在什么步骤前只能算探索线索？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/Users/bright/Projects/courses/graduate/lessons/lesson-07/slides.md</a:t>
            </a:r>
          </a:p>
          <a:p xmlns:a="http://schemas.openxmlformats.org/drawingml/2006/main">
            <a:r>
              <a:t>- /Users/bright/Projects/courses/graduate/lessons/lesson-07/handout.md</a:t>
            </a:r>
          </a:p>
          <a:p xmlns:a="http://schemas.openxmlformats.org/drawingml/2006/main">
            <a:r>
              <a:t>- 讲义 §六 常见错误；演示判断点。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个人实践分两段：先写主机制与替代解释，教师中点抽取共同卡点点评，再完成研究判断与映射草图。</a:t>
            </a:r>
          </a:p>
          <a:p xmlns:a="http://schemas.openxmlformats.org/drawingml/2006/main">
            <a:r>
              <a:t>屏显母稿细节备查：</a:t>
            </a:r>
          </a:p>
          <a:p xmlns:a="http://schemas.openxmlformats.org/drawingml/2006/main">
            <a:r>
              <a:t>1. 用你第 6 课的可证伪命题写出主机制假设（含中间过程）</a:t>
            </a:r>
          </a:p>
          <a:p xmlns:a="http://schemas.openxmlformats.org/drawingml/2006/main">
            <a:r>
              <a:t>2. 写出 1 个可区分替代假设</a:t>
            </a:r>
          </a:p>
          <a:p xmlns:a="http://schemas.openxmlformats.org/drawingml/2006/main">
            <a:r>
              <a:t>3. 写一条完整研究判断（六字段）</a:t>
            </a:r>
          </a:p>
          <a:p xmlns:a="http://schemas.openxmlformats.org/drawingml/2006/main">
            <a:r>
              <a:t>4. 为 H1 与该替代各写支持、反驳与仍不能判断条件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课堂最低产出：1 主机制 + 1 个可区分替代 + 1 条研究判断 + 1 张映射草图。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课后：只补全当堂未完成的表达；完整规格留到第 9 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不要求填满，只要求跑通一次可复盘链路。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/Users/bright/Projects/courses/graduate/lessons/lesson-07/slides.md</a:t>
            </a:r>
          </a:p>
          <a:p xmlns:a="http://schemas.openxmlformats.org/drawingml/2006/main">
            <a:r>
              <a:t>- /Users/bright/Projects/courses/graduate/lessons/lesson-07/handout.md</a:t>
            </a:r>
          </a:p>
          <a:p xmlns:a="http://schemas.openxmlformats.org/drawingml/2006/main">
            <a:r>
              <a:t>- 讲义 §八 练习 1-8；[starter-template.md](../../course/starter-template.md)。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本课同伴互查按第 8 课方案分享的五个权威维度预演。作者根据真实反馈选择采纳、澄清、补证、暂缓或保留异议，并记录理由与回写位置；不要求出现“拒绝”。</a:t>
            </a:r>
          </a:p>
          <a:p xmlns:a="http://schemas.openxmlformats.org/drawingml/2006/main">
            <a:r>
              <a:t>屏显母稿细节备查：</a:t>
            </a:r>
          </a:p>
          <a:p xmlns:a="http://schemas.openxmlformats.org/drawingml/2006/main">
            <a:r>
              <a:t>2-3 人互查，按第 8 课 rubric 预演：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问题重要性：值得投入本课程周期吗？</a:t>
            </a:r>
          </a:p>
          <a:p xmlns:a="http://schemas.openxmlformats.org/drawingml/2006/main">
            <a:r>
              <a:t>2. 证据充分性：判断依据是否绑定证据地图或第一性原理？</a:t>
            </a:r>
          </a:p>
          <a:p xmlns:a="http://schemas.openxmlformats.org/drawingml/2006/main">
            <a:r>
              <a:t>3. 可检验性：主假设与替代假设能被实验区分吗？</a:t>
            </a:r>
          </a:p>
          <a:p xmlns:a="http://schemas.openxmlformats.org/drawingml/2006/main">
            <a:r>
              <a:t>4. 周期可行性：实验能在课程周期内完成吗？</a:t>
            </a:r>
          </a:p>
          <a:p xmlns:a="http://schemas.openxmlformats.org/drawingml/2006/main">
            <a:r>
              <a:t>5. 判断改变：下一步实验的什么结果会改变当前研究判断？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只提问题，不替作者决定，不形成共同提交。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/Users/bright/Projects/courses/graduate/lessons/lesson-07/slides.md</a:t>
            </a:r>
          </a:p>
          <a:p xmlns:a="http://schemas.openxmlformats.org/drawingml/2006/main">
            <a:r>
              <a:t>- /Users/bright/Projects/courses/graduate/lessons/lesson-07/handout.md</a:t>
            </a:r>
          </a:p>
          <a:p xmlns:a="http://schemas.openxmlformats.org/drawingml/2006/main">
            <a:r>
              <a:t>- 讲义 §三·3；[assignments.md](../../course/assignments.md) 第 8 课方案分享 rubric。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回收机制、实验和判断三者关系，不引入新任务。</a:t>
            </a:r>
          </a:p>
          <a:p xmlns:a="http://schemas.openxmlformats.org/drawingml/2006/main">
            <a:r>
              <a:t>屏显母稿细节备查：</a:t>
            </a:r>
          </a:p>
          <a:p xmlns:a="http://schemas.openxmlformats.org/drawingml/2006/main">
            <a:r>
              <a:t>主机制与替代机制 → 可区分实验 → 研究判断记录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对同一结果提出至少一种可区分替代解释；</a:t>
            </a:r>
          </a:p>
          <a:p xmlns:a="http://schemas.openxmlformats.org/drawingml/2006/main">
            <a:r>
              <a:t>- 结果先记为支持、反驳或仍不能判断；</a:t>
            </a:r>
          </a:p>
          <a:p xmlns:a="http://schemas.openxmlformats.org/drawingml/2006/main">
            <a:r>
              <a:t>- 判断记录写清依据、取舍、反证点与下一步。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如果实验结果不会改变任何研究判断，这个实验就还没有完成可区分性设计。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/Users/bright/Projects/courses/graduate/lessons/lesson-07/slides.md</a:t>
            </a:r>
          </a:p>
          <a:p xmlns:a="http://schemas.openxmlformats.org/drawingml/2006/main">
            <a:r>
              <a:t>- /Users/bright/Projects/courses/graduate/lessons/lesson-07/handout.md</a:t>
            </a:r>
          </a:p>
          <a:p xmlns:a="http://schemas.openxmlformats.org/drawingml/2006/main">
            <a:r>
              <a:t>- 讲义 §二-§六。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不新增课后正式作业。本课产出（机制假设列表、研究判断、实验规格草图）是第 8 课 3 分钟陈述的直接输入。第 8 课 rubric 使用 assignments.md 的五个权威反馈维度。</a:t>
            </a:r>
          </a:p>
          <a:p xmlns:a="http://schemas.openxmlformats.org/drawingml/2006/main">
            <a:r>
              <a:t>屏显母稿细节备查：</a:t>
            </a:r>
          </a:p>
          <a:p xmlns:a="http://schemas.openxmlformats.org/drawingml/2006/main">
            <a:r>
              <a:t>退出卡（请写下）：</a:t>
            </a:r>
          </a:p>
          <a:p xmlns:a="http://schemas.openxmlformats.org/drawingml/2006/main">
            <a:r>
              <a:t>- 你的主机制假设是什么？</a:t>
            </a:r>
          </a:p>
          <a:p xmlns:a="http://schemas.openxmlformats.org/drawingml/2006/main">
            <a:r>
              <a:t>- 你的实验在什么结果下支持主假设？什么结果下支持替代假设？</a:t>
            </a:r>
          </a:p>
          <a:p xmlns:a="http://schemas.openxmlformats.org/drawingml/2006/main">
            <a:r>
              <a:t>- 你的研究判断当场写了吗？最难写的字段是哪个？</a:t>
            </a:r>
          </a:p>
          <a:p xmlns:a="http://schemas.openxmlformats.org/drawingml/2006/main">
            <a:r>
              <a:t>- 你的实验能改变研究判断吗？如果不能，缺了什么？</a:t>
            </a:r>
          </a:p>
          <a:p xmlns:a="http://schemas.openxmlformats.org/drawingml/2006/main">
            <a:r>
              <a:t>- 你今天最不确定的一点是什么？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第 8 课预告：学生研究方案分享与设计诊所</a:t>
            </a:r>
          </a:p>
          <a:p xmlns:a="http://schemas.openxmlformats.org/drawingml/2006/main">
            <a:r>
              <a:t>- 按限时五段陈述问题、证据、机制、最小验证与最大风险</a:t>
            </a:r>
          </a:p>
          <a:p xmlns:a="http://schemas.openxmlformats.org/drawingml/2006/main">
            <a:r>
              <a:t>- 同伴按重要性、证据充分性、可检验性、周期可行性和判断改变给反馈</a:t>
            </a:r>
          </a:p>
          <a:p xmlns:a="http://schemas.openxmlformats.org/drawingml/2006/main">
            <a:r>
              <a:t>- 不新增正式提交；本课产出是方案分享直接输入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第 8 课不评价题目是否时髦；反馈聚焦重要性、证据、可检验性、周期可行性和判断改变。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/Users/bright/Projects/courses/graduate/lessons/lesson-07/slides.md</a:t>
            </a:r>
          </a:p>
          <a:p xmlns:a="http://schemas.openxmlformats.org/drawingml/2006/main">
            <a:r>
              <a:t>- /Users/bright/Projects/courses/graduate/lessons/lesson-07/handout.md</a:t>
            </a:r>
          </a:p>
          <a:p xmlns:a="http://schemas.openxmlformats.org/drawingml/2006/main">
            <a:r>
              <a:t>- 讲义 §学习目标；[assignments.md](../../course/assignments.md) 第 8 课方案分享要求与第 9 课判断门条件。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1623ac5f63541ae" /><Relationship Type="http://schemas.openxmlformats.org/officeDocument/2006/relationships/image" Target="/ppt/media/image.png" Id="R1e18b14940c64889" /><Relationship Type="http://schemas.openxmlformats.org/officeDocument/2006/relationships/image" Target="/ppt/media/image2.png" Id="Rbde5f46eeff746fb" /><Relationship Type="http://schemas.openxmlformats.org/officeDocument/2006/relationships/image" Target="/ppt/media/image3.png" Id="Re6400d85349d4025" /><Relationship Type="http://schemas.openxmlformats.org/officeDocument/2006/relationships/image" Target="/ppt/media/image4.png" Id="R585f7dbf0426499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bb612bc787541d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f7eca6695de4251" /><Relationship Type="http://schemas.openxmlformats.org/officeDocument/2006/relationships/image" Target="/ppt/media/image2.png" Id="Rb8d22a92e9fe4ee1" /><Relationship Type="http://schemas.openxmlformats.org/officeDocument/2006/relationships/image" Target="/ppt/media/image5.png" Id="Reb7cef3f1c764d2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801201d6a624a8c" /><Relationship Type="http://schemas.openxmlformats.org/officeDocument/2006/relationships/image" Target="/ppt/media/image.png" Id="R6e6ef779046c4bac" /><Relationship Type="http://schemas.openxmlformats.org/officeDocument/2006/relationships/image" Target="/ppt/media/image3.png" Id="R0292fba27486433f" /></Relationships>
</file>

<file path=ppt/slideLayouts/slideLayout1.xml><?xml version="1.0" encoding="utf-8"?>
<p:sldLayout xmlns:p="http://schemas.openxmlformats.org/presentationml/2006/main" preserve="1" userDrawn="1">
  <p:cSld name="封面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6" name="图片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18b14940c64889">
            <a:duotone>
              <a:prstClr val="black"/>
              <a:schemeClr val="accent1">
                <a:tint val="45000"/>
                <a:satMod val="400000"/>
              </a:schemeClr>
            </a:duotone>
            <a:alphaModFix amt="5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22" name="标题 1">
            <a:extLst xmlns:a="http://schemas.openxmlformats.org/drawingml/2006/main">
              <a:ext uri="{FF2B5EF4-FFF2-40B4-BE49-F238E27FC236}">
                <a16:creationId xmlns:a16="http://schemas.microsoft.com/office/drawing/2014/main" id="{9AF74CDA-19DD-45C1-88FF-2379736830CB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069561" y="2016174"/>
            <a:ext cx="10052879" cy="106085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lvl1pPr algn="ctr">
              <a:buNone/>
              <a:defRPr sz="54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r>
              <a:t>单击此处编辑标题样式</a:t>
            </a:r>
          </a:p>
        </p:txBody>
      </p:sp>
      <p:sp>
        <p:nvSpPr>
          <p:cNvPr id="26" name="内容占位符 25">
            <a:extLst xmlns:a="http://schemas.openxmlformats.org/drawingml/2006/main">
              <a:ext uri="{FF2B5EF4-FFF2-40B4-BE49-F238E27FC236}">
                <a16:creationId xmlns:a16="http://schemas.microsoft.com/office/drawing/2014/main" id="{981273AB-3D30-4A7E-951D-B80D3185213B}"/>
              </a:ext>
            </a:extLst>
          </p:cNvPr>
          <p:cNvSpPr>
            <a:spLocks xmlns:a="http://schemas.openxmlformats.org/drawingml/2006/main" noGrp="1"/>
          </p:cNvSpPr>
          <p:nvPr>
            <p:ph idx="10" hasCustomPrompt="1"/>
          </p:nvPr>
        </p:nvSpPr>
        <p:spPr>
          <a:xfrm xmlns:a="http://schemas.openxmlformats.org/drawingml/2006/main">
            <a:off x="4644345" y="5196924"/>
            <a:ext cx="2903311" cy="454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240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fld id="{DE506FFD-8B27-444A-964F-E64D0BB3DAF0}" type="datetime2">
              <a:t>2019年1月28日</a:t>
            </a:fld>
            <a:endParaRPr/>
          </a:p>
        </p:txBody>
      </p:sp>
      <p:sp>
        <p:nvSpPr>
          <p:cNvPr id="32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F905EEBF-8ACE-4D30-A4F5-C5796F8343A2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4034910" y="4407403"/>
            <a:ext cx="4122181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32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50" name="图片 3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de5f46eeff746fb"/>
          <a:srcRect xmlns:a="http://schemas.openxmlformats.org/drawingml/2006/main" l="74359" t="0" r="1346" b="0"/>
          <a:stretch xmlns:a="http://schemas.openxmlformats.org/drawingml/2006/main"/>
        </p:blipFill>
        <p:spPr>
          <a:xfrm xmlns:a="http://schemas.openxmlformats.org/drawingml/2006/main">
            <a:off x="8870172" y="274183"/>
            <a:ext cx="3002280" cy="411617"/>
          </a:xfrm>
          <a:prstGeom xmlns:a="http://schemas.openxmlformats.org/drawingml/2006/main" prst="rect">
            <a:avLst/>
          </a:prstGeom>
        </p:spPr>
      </p:pic>
      <p:pic>
        <p:nvPicPr>
          <p:cNvPr id="51" name="图片 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6400d85349d4025">
            <a:alphaModFix amt="35000"/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 rot="0" flipH="0" flipV="0">
            <a:off x="3352562" y="6244170"/>
            <a:ext cx="5486876" cy="406590"/>
          </a:xfrm>
          <a:prstGeom xmlns:a="http://schemas.openxmlformats.org/drawingml/2006/main" prst="rect">
            <a:avLst/>
          </a:prstGeom>
        </p:spPr>
      </p:pic>
      <p:sp>
        <p:nvSpPr>
          <p:cNvPr id="37" name="椭圆 36">
            <a:extLst xmlns:a="http://schemas.openxmlformats.org/drawingml/2006/main">
              <a:ext uri="{FF2B5EF4-FFF2-40B4-BE49-F238E27FC236}">
                <a16:creationId xmlns:a16="http://schemas.microsoft.com/office/drawing/2014/main" id="{53D809C0-A4EF-44AF-AECA-4A85E4BA2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51000" y="6430138"/>
            <a:ext cx="90000" cy="90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6">
              <a:lumMod val="60000"/>
              <a:lumOff val="4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9" name="直接连接符 38">
            <a:extLst xmlns:a="http://schemas.openxmlformats.org/drawingml/2006/main">
              <a:ext uri="{FF2B5EF4-FFF2-40B4-BE49-F238E27FC236}">
                <a16:creationId xmlns:a16="http://schemas.microsoft.com/office/drawing/2014/main" id="{31F7CAE3-0209-4DA4-9A92-731CC272B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285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1" name="直接连接符 40">
            <a:extLst xmlns:a="http://schemas.openxmlformats.org/drawingml/2006/main">
              <a:ext uri="{FF2B5EF4-FFF2-40B4-BE49-F238E27FC236}">
                <a16:creationId xmlns:a16="http://schemas.microsoft.com/office/drawing/2014/main" id="{B3FF25BF-0A81-4E7C-A868-79A201F0D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9833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2" name="直接连接符 11">
            <a:extLst xmlns:a="http://schemas.openxmlformats.org/drawingml/2006/main">
              <a:ext uri="{FF2B5EF4-FFF2-40B4-BE49-F238E27FC236}">
                <a16:creationId xmlns:a16="http://schemas.microsoft.com/office/drawing/2014/main" id="{84931B68-BEBE-4F6A-A7A3-EB2B855A6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1712549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26218CD3-8CA7-49E2-A133-F31724416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3428810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pic>
        <p:nvPicPr>
          <p:cNvPr id="57" name="图片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5f7dbf04264994"/>
          <a:srcRect xmlns:a="http://schemas.openxmlformats.org/drawingml/2006/main" l="0" t="0" r="54251" b="0"/>
          <a:stretch xmlns:a="http://schemas.openxmlformats.org/drawingml/2006/main"/>
        </p:blipFill>
        <p:spPr>
          <a:xfrm xmlns:a="http://schemas.openxmlformats.org/drawingml/2006/main">
            <a:off x="332010" y="251357"/>
            <a:ext cx="1934780" cy="482598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2.xml><?xml version="1.0" encoding="utf-8"?>
<p:sldLayout xmlns:p="http://schemas.openxmlformats.org/presentationml/2006/main" preserve="1" userDrawn="1">
  <p:cSld name="目录-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CD1F02EB-A5F5-4A25-8E13-33D76C399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1" y="2455636"/>
            <a:ext cx="2960913" cy="143872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DBDFDE5-938B-46BA-BF04-52626678C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200000">
            <a:off x="1736542" y="2389144"/>
            <a:ext cx="97430" cy="2960914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DE1AFFB6-310A-466D-BAD1-F84A11C9C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478991" y="0"/>
            <a:ext cx="90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userDrawn="1">
  <p:cSld name="1_仅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灯片编号占位符 2">
            <a:extLst xmlns:a="http://schemas.openxmlformats.org/drawingml/2006/main">
              <a:ext uri="{FF2B5EF4-FFF2-40B4-BE49-F238E27FC236}">
                <a16:creationId xmlns:a16="http://schemas.microsoft.com/office/drawing/2014/main" id="{C1D5E491-4859-47A4-8F29-DAACA1914DBE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C53781C-E1F6-4315-A39D-61273F2E0596}" type="slidenum">
              <a:t>‹#›</a:t>
            </a:fld>
            <a:endParaRPr/>
          </a:p>
        </p:txBody>
      </p:sp>
      <p:pic>
        <p:nvPicPr>
          <p:cNvPr id="25" name="图片 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8d22a92e9fe4ee1"/>
          <a:srcRect xmlns:a="http://schemas.openxmlformats.org/drawingml/2006/main" l="0" t="0" r="1346" b="0"/>
          <a:stretch xmlns:a="http://schemas.openxmlformats.org/drawingml/2006/main"/>
        </p:blipFill>
        <p:spPr>
          <a:xfrm xmlns:a="http://schemas.openxmlformats.org/drawingml/2006/main">
            <a:off x="516" y="6041797"/>
            <a:ext cx="12166903" cy="411617"/>
          </a:xfrm>
          <a:prstGeom xmlns:a="http://schemas.openxmlformats.org/drawingml/2006/main" prst="rect">
            <a:avLst/>
          </a:prstGeom>
        </p:spPr>
      </p:pic>
      <p:sp>
        <p:nvSpPr>
          <p:cNvPr id="9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56FC8349-67FC-4E3B-B988-7A27FDAE9D24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319056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85368C87-925C-44AC-B001-5C4EE6F00645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4788940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9" name="平行四边形 18">
            <a:extLst xmlns:a="http://schemas.openxmlformats.org/drawingml/2006/main">
              <a:ext uri="{FF2B5EF4-FFF2-40B4-BE49-F238E27FC236}">
                <a16:creationId xmlns:a16="http://schemas.microsoft.com/office/drawing/2014/main" id="{9AE407FD-1006-4AC4-B10B-CB7686E66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"/>
            <a:ext cx="12191483" cy="685800"/>
          </a:xfrm>
          <a:prstGeom xmlns:a="http://schemas.openxmlformats.org/drawingml/2006/main" prst="parallelogram">
            <a:avLst>
              <a:gd name="adj" fmla="val 4305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29" name="图片 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7cef3f1c764d2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19056" y="73482"/>
            <a:ext cx="538838" cy="538838"/>
          </a:xfrm>
          <a:prstGeom xmlns:a="http://schemas.openxmlformats.org/drawingml/2006/main" prst="rect">
            <a:avLst/>
          </a:prstGeom>
        </p:spPr>
      </p:pic>
      <p:sp>
        <p:nvSpPr>
          <p:cNvPr id="21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C2D49473-9331-4572-8AFC-3A905D765CF9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75351" y="43657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3200" b="1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封底">
    <p:bg>
      <p:bgPr>
        <a:solidFill xmlns:a="http://schemas.openxmlformats.org/drawingml/2006/main">
          <a:schemeClr val="accen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图片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6ef779046c4bac">
            <a:duotone>
              <a:prstClr val="black"/>
              <a:schemeClr val="accent1">
                <a:tint val="45000"/>
                <a:satMod val="400000"/>
              </a:schemeClr>
            </a:duotone>
            <a:alphaModFix amt="20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0F60F5A8-3022-49D5-A1B7-18CDA62C7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4" name="直接连接符 13">
            <a:extLst xmlns:a="http://schemas.openxmlformats.org/drawingml/2006/main">
              <a:ext uri="{FF2B5EF4-FFF2-40B4-BE49-F238E27FC236}">
                <a16:creationId xmlns:a16="http://schemas.microsoft.com/office/drawing/2014/main" id="{2989B7D2-D2DE-4D77-870B-585E51853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969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4EB0A957-E3E4-47EE-9713-82509E17FD51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2555162" y="3129756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6000" b="1" spc="60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27" name="图片 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292fba27486433f">
            <a:alphaModFix amt="20000"/>
            <a:duotone>
              <a:schemeClr val="accent4">
                <a:shade val="45000"/>
                <a:satMod val="135000"/>
              </a:schemeClr>
              <a:prstClr val="white"/>
            </a:duotone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>
            <a:off x="3352562" y="6146610"/>
            <a:ext cx="5486876" cy="406590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f6d5a8b6de04acb" /><Relationship Type="http://schemas.openxmlformats.org/officeDocument/2006/relationships/slideLayout" Target="/ppt/slideLayouts/slideLayout1.xml" Id="R3d3b2307aac544ca" /><Relationship Type="http://schemas.openxmlformats.org/officeDocument/2006/relationships/slideLayout" Target="/ppt/slideLayouts/slideLayout2.xml" Id="R6c581949bdde4c69" /><Relationship Type="http://schemas.openxmlformats.org/officeDocument/2006/relationships/slideLayout" Target="/ppt/slideLayouts/slideLayout3.xml" Id="R02892ac8e7384abc" /><Relationship Type="http://schemas.openxmlformats.org/officeDocument/2006/relationships/slideLayout" Target="/ppt/slideLayouts/slideLayout4.xml" Id="Re52f2be0925c45da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DF26411B-55E1-4CE5-B9CA-4734B17AE0E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0849970" y="6515101"/>
            <a:ext cx="103723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48644C6-89F0-466C-949F-E70AD72679A8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d3b2307aac544ca"/>
    <p:sldLayoutId xmlns:r="http://schemas.openxmlformats.org/officeDocument/2006/relationships" id="2147483650" r:id="R6c581949bdde4c69"/>
    <p:sldLayoutId xmlns:r="http://schemas.openxmlformats.org/officeDocument/2006/relationships" id="2147483651" r:id="R02892ac8e7384abc"/>
    <p:sldLayoutId xmlns:r="http://schemas.openxmlformats.org/officeDocument/2006/relationships" id="2147483652" r:id="Re52f2be0925c45da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pos="192">
          <p15:clr>
            <a:srgbClr xmlns:a="http://schemas.openxmlformats.org/drawingml/2006/main" val="F26B43"/>
          </p15:clr>
        </p15:guide>
        <p15:guide id="2" pos="7488">
          <p15:clr>
            <a:srgbClr xmlns:a="http://schemas.openxmlformats.org/drawingml/2006/main" val="F26B43"/>
          </p15:clr>
        </p15:guide>
        <p15:guide id="3" orient="horz" pos="432">
          <p15:clr>
            <a:srgbClr xmlns:a="http://schemas.openxmlformats.org/drawingml/2006/main" val="F26B43"/>
          </p15:clr>
        </p15:guide>
        <p15:guide id="4" orient="horz" pos="472">
          <p15:clr>
            <a:srgbClr xmlns:a="http://schemas.openxmlformats.org/drawingml/2006/main" val="F26B43"/>
          </p15:clr>
        </p15:guide>
        <p15:guide id="5" orient="horz" pos="4104">
          <p15:clr>
            <a:srgbClr xmlns:a="http://schemas.openxmlformats.org/drawingml/2006/main" val="F26B43"/>
          </p15:clr>
        </p15:guide>
        <p15:guide id="6" orient="horz" pos="4056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6a8a881dc545fe" /><Relationship Type="http://schemas.openxmlformats.org/officeDocument/2006/relationships/notesSlide" Target="/ppt/notesSlides/notesSlide1.xml" Id="Rcc72fd3875324ce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fd7e055b0604e82" /><Relationship Type="http://schemas.openxmlformats.org/officeDocument/2006/relationships/notesSlide" Target="/ppt/notesSlides/notesSlide2.xml" Id="R45ce1e0a3c034e1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2d7ac6855b94245" /><Relationship Type="http://schemas.openxmlformats.org/officeDocument/2006/relationships/notesSlide" Target="/ppt/notesSlides/notesSlide3.xml" Id="Ra57d56ed0c7d46d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09fc2d28be9489d" /><Relationship Type="http://schemas.openxmlformats.org/officeDocument/2006/relationships/notesSlide" Target="/ppt/notesSlides/notesSlide4.xml" Id="Rc729c3fad12546d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6a79ed196464a23" /><Relationship Type="http://schemas.openxmlformats.org/officeDocument/2006/relationships/notesSlide" Target="/ppt/notesSlides/notesSlide5.xml" Id="R0cbf234bb85f428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07b5072599fe4ac7" /><Relationship Type="http://schemas.openxmlformats.org/officeDocument/2006/relationships/notesSlide" Target="/ppt/notesSlides/notesSlide6.xml" Id="R5ede67c167a140b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a1392396c6245e9" /><Relationship Type="http://schemas.openxmlformats.org/officeDocument/2006/relationships/notesSlide" Target="/ppt/notesSlides/notesSlide7.xml" Id="R5cc4bb3abe81468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8ceb18fcdf014a7a" /><Relationship Type="http://schemas.openxmlformats.org/officeDocument/2006/relationships/notesSlide" Target="/ppt/notesSlides/notesSlide8.xml" Id="Rbe98704625ff4ec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430959541374f94" /><Relationship Type="http://schemas.openxmlformats.org/officeDocument/2006/relationships/notesSlide" Target="/ppt/notesSlides/notesSlide9.xml" Id="R1f90d270681143c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f9df110fdd443bd" /><Relationship Type="http://schemas.openxmlformats.org/officeDocument/2006/relationships/notesSlide" Target="/ppt/notesSlides/notesSlide10.xml" Id="R3eb4c10ec5d9427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c7b88ed2de1492a" /><Relationship Type="http://schemas.openxmlformats.org/officeDocument/2006/relationships/notesSlide" Target="/ppt/notesSlides/notesSlide11.xml" Id="R4521e9bd5ae9436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6739cdf2dd6a4446" /><Relationship Type="http://schemas.openxmlformats.org/officeDocument/2006/relationships/notesSlide" Target="/ppt/notesSlides/notesSlide12.xml" Id="Raef1ca324db8444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3edf0ffe8dd403b" /><Relationship Type="http://schemas.openxmlformats.org/officeDocument/2006/relationships/notesSlide" Target="/ppt/notesSlides/notesSlide13.xml" Id="Rc2d2482624d64c0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62ece605535d4488" /><Relationship Type="http://schemas.openxmlformats.org/officeDocument/2006/relationships/notesSlide" Target="/ppt/notesSlides/notesSlide14.xml" Id="R95b900f0a0dc4980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0720c222d8d46c5" /><Relationship Type="http://schemas.openxmlformats.org/officeDocument/2006/relationships/notesSlide" Target="/ppt/notesSlides/notesSlide15.xml" Id="R4ff10150706845cd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dfa8ed873ef4948" /><Relationship Type="http://schemas.openxmlformats.org/officeDocument/2006/relationships/notesSlide" Target="/ppt/notesSlides/notesSlide16.xml" Id="R45a2213bac854182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1b61ff5b8e741d4" /><Relationship Type="http://schemas.openxmlformats.org/officeDocument/2006/relationships/notesSlide" Target="/ppt/notesSlides/notesSlide17.xml" Id="Rc4dc3765a7934dad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40355762-950C-4D40-AC3B-9679948C7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90700"/>
            <a:ext cx="9906000" cy="1647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3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3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第7讲  机制假设、研究判断与实验设计</a:t>
            </a:r>
          </a:p>
        </p:txBody>
      </p:sp>
    </p:spTree>
    <p:extLst>
      <p:ext uri="{BB962C8B-B14F-4D97-AF65-F5344CB8AC3E}">
        <p14:creationId xmlns:p14="http://schemas.microsoft.com/office/powerpoint/2010/main" val="345004539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 6 课之后，问题门还没有证明机制成立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  <a:endParaRPr/>
          </a:p>
        </p:txBody>
      </p:sp>
      <p:sp>
        <p:nvSpPr>
          <p:cNvPr id="6" name="left-title">
            <a:extLst xmlns:a="http://schemas.openxmlformats.org/drawingml/2006/main">
              <a:ext uri="{FF2B5EF4-FFF2-40B4-BE49-F238E27FC236}">
                <a16:creationId xmlns:a16="http://schemas.microsoft.com/office/drawing/2014/main" id="{8D73C84C-586A-4A11-B415-9832EFEF1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第 6 课已有</a:t>
            </a:r>
          </a:p>
        </p:txBody>
      </p:sp>
      <p:sp>
        <p:nvSpPr>
          <p:cNvPr id="7" name="right-title">
            <a:extLst xmlns:a="http://schemas.openxmlformats.org/drawingml/2006/main">
              <a:ext uri="{FF2B5EF4-FFF2-40B4-BE49-F238E27FC236}">
                <a16:creationId xmlns:a16="http://schemas.microsoft.com/office/drawing/2014/main" id="{EC39808B-6BD3-4465-8480-B7550FB94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3144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仍需回答</a:t>
            </a:r>
          </a:p>
        </p:txBody>
      </p:sp>
      <p:sp>
        <p:nvSpPr>
          <p:cNvPr id="8" name="split-top">
            <a:extLst xmlns:a="http://schemas.openxmlformats.org/drawingml/2006/main">
              <a:ext uri="{FF2B5EF4-FFF2-40B4-BE49-F238E27FC236}">
                <a16:creationId xmlns:a16="http://schemas.microsoft.com/office/drawing/2014/main" id="{DCC482BF-F101-44BB-826E-76D736DB7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858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9" name="left-lines-0">
            <a:extLst xmlns:a="http://schemas.openxmlformats.org/drawingml/2006/main">
              <a:ext uri="{FF2B5EF4-FFF2-40B4-BE49-F238E27FC236}">
                <a16:creationId xmlns:a16="http://schemas.microsoft.com/office/drawing/2014/main" id="{889E33E5-9357-49E3-9C64-9516A76C0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66900"/>
            <a:ext cx="4953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•  可证伪命题：范围与非例</a:t>
            </a:r>
          </a:p>
        </p:txBody>
      </p:sp>
      <p:sp>
        <p:nvSpPr>
          <p:cNvPr id="10" name="left-lines-1">
            <a:extLst xmlns:a="http://schemas.openxmlformats.org/drawingml/2006/main">
              <a:ext uri="{FF2B5EF4-FFF2-40B4-BE49-F238E27FC236}">
                <a16:creationId xmlns:a16="http://schemas.microsoft.com/office/drawing/2014/main" id="{CD4FD461-079E-4698-9583-86E7CC9F1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4953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•  第一性原理必要条件</a:t>
            </a:r>
          </a:p>
        </p:txBody>
      </p:sp>
      <p:sp>
        <p:nvSpPr>
          <p:cNvPr id="11" name="left-lines-2">
            <a:extLst xmlns:a="http://schemas.openxmlformats.org/drawingml/2006/main">
              <a:ext uri="{FF2B5EF4-FFF2-40B4-BE49-F238E27FC236}">
                <a16:creationId xmlns:a16="http://schemas.microsoft.com/office/drawing/2014/main" id="{A29F9180-36F0-4A3E-B60F-5A606ACDE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0"/>
            <a:ext cx="4953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•  证据地图与研究空白</a:t>
            </a:r>
          </a:p>
        </p:txBody>
      </p:sp>
      <p:sp>
        <p:nvSpPr>
          <p:cNvPr id="12" name="right-lines-0">
            <a:extLst xmlns:a="http://schemas.openxmlformats.org/drawingml/2006/main">
              <a:ext uri="{FF2B5EF4-FFF2-40B4-BE49-F238E27FC236}">
                <a16:creationId xmlns:a16="http://schemas.microsoft.com/office/drawing/2014/main" id="{70768002-8F6E-44C6-B4A3-D2E9F26AF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866900"/>
            <a:ext cx="4953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•  为什么会发生：机制</a:t>
            </a:r>
          </a:p>
        </p:txBody>
      </p:sp>
      <p:sp>
        <p:nvSpPr>
          <p:cNvPr id="13" name="right-lines-1">
            <a:extLst xmlns:a="http://schemas.openxmlformats.org/drawingml/2006/main">
              <a:ext uri="{FF2B5EF4-FFF2-40B4-BE49-F238E27FC236}">
                <a16:creationId xmlns:a16="http://schemas.microsoft.com/office/drawing/2014/main" id="{BB0EF12F-5B13-43E1-B9CD-6C7CA547F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362200"/>
            <a:ext cx="4953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•  什么也能解释：替代</a:t>
            </a:r>
          </a:p>
        </p:txBody>
      </p:sp>
      <p:sp>
        <p:nvSpPr>
          <p:cNvPr id="14" name="right-lines-2">
            <a:extLst xmlns:a="http://schemas.openxmlformats.org/drawingml/2006/main">
              <a:ext uri="{FF2B5EF4-FFF2-40B4-BE49-F238E27FC236}">
                <a16:creationId xmlns:a16="http://schemas.microsoft.com/office/drawing/2014/main" id="{7EA9B37F-260B-4D9B-9FF1-793761E79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857500"/>
            <a:ext cx="4953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•  什么结果区分两者：实验</a:t>
            </a:r>
          </a:p>
        </p:txBody>
      </p:sp>
      <p:sp>
        <p:nvSpPr>
          <p:cNvPr id="15" name="gap">
            <a:extLst xmlns:a="http://schemas.openxmlformats.org/drawingml/2006/main">
              <a:ext uri="{FF2B5EF4-FFF2-40B4-BE49-F238E27FC236}">
                <a16:creationId xmlns:a16="http://schemas.microsoft.com/office/drawing/2014/main" id="{3C461E80-E774-4328-9222-D2CE04F08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95300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6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6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问题成立  ≠  机制成立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本课只完成机制—判断—映射的最小闭环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  <a:endParaRPr/>
          </a:p>
        </p:txBody>
      </p:sp>
      <p:sp>
        <p:nvSpPr>
          <p:cNvPr id="6" name="route-0-bg">
            <a:extLst xmlns:a="http://schemas.openxmlformats.org/drawingml/2006/main">
              <a:ext uri="{FF2B5EF4-FFF2-40B4-BE49-F238E27FC236}">
                <a16:creationId xmlns:a16="http://schemas.microsoft.com/office/drawing/2014/main" id="{2BE853D1-3B8C-49C2-BCE0-B2B317A5D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248602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5F0"/>
          </a:solidFill>
          <a:ln xmlns:a="http://schemas.openxmlformats.org/drawingml/2006/main" w="0">
            <a:noFill/>
          </a:ln>
        </p:spPr>
      </p:sp>
      <p:sp>
        <p:nvSpPr>
          <p:cNvPr id="7" name="route-0">
            <a:extLst xmlns:a="http://schemas.openxmlformats.org/drawingml/2006/main">
              <a:ext uri="{FF2B5EF4-FFF2-40B4-BE49-F238E27FC236}">
                <a16:creationId xmlns:a16="http://schemas.microsoft.com/office/drawing/2014/main" id="{43C57AAC-C0BC-49B4-B1E9-65CF4D10A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09750"/>
            <a:ext cx="21812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主机制</a:t>
            </a:r>
          </a:p>
        </p:txBody>
      </p:sp>
      <p:sp>
        <p:nvSpPr>
          <p:cNvPr id="8" name="route-a0">
            <a:extLst xmlns:a="http://schemas.openxmlformats.org/drawingml/2006/main">
              <a:ext uri="{FF2B5EF4-FFF2-40B4-BE49-F238E27FC236}">
                <a16:creationId xmlns:a16="http://schemas.microsoft.com/office/drawing/2014/main" id="{2C2793E9-2657-45A7-98FD-7DD811F67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2009775"/>
            <a:ext cx="304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9" name="route-1-bg">
            <a:extLst xmlns:a="http://schemas.openxmlformats.org/drawingml/2006/main">
              <a:ext uri="{FF2B5EF4-FFF2-40B4-BE49-F238E27FC236}">
                <a16:creationId xmlns:a16="http://schemas.microsoft.com/office/drawing/2014/main" id="{575D85F4-8A1D-4999-B011-85D373B1D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1714500"/>
            <a:ext cx="248602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0" name="route-1">
            <a:extLst xmlns:a="http://schemas.openxmlformats.org/drawingml/2006/main">
              <a:ext uri="{FF2B5EF4-FFF2-40B4-BE49-F238E27FC236}">
                <a16:creationId xmlns:a16="http://schemas.microsoft.com/office/drawing/2014/main" id="{B23B4CA4-D0F5-409D-9997-4E2E0B9E4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1809750"/>
            <a:ext cx="21812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可区分替代</a:t>
            </a:r>
          </a:p>
        </p:txBody>
      </p:sp>
      <p:sp>
        <p:nvSpPr>
          <p:cNvPr id="11" name="route-a1">
            <a:extLst xmlns:a="http://schemas.openxmlformats.org/drawingml/2006/main">
              <a:ext uri="{FF2B5EF4-FFF2-40B4-BE49-F238E27FC236}">
                <a16:creationId xmlns:a16="http://schemas.microsoft.com/office/drawing/2014/main" id="{4FB5F4A9-90C2-4D81-B2E8-8A28B892F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009775"/>
            <a:ext cx="304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2" name="route-2-bg">
            <a:extLst xmlns:a="http://schemas.openxmlformats.org/drawingml/2006/main">
              <a:ext uri="{FF2B5EF4-FFF2-40B4-BE49-F238E27FC236}">
                <a16:creationId xmlns:a16="http://schemas.microsoft.com/office/drawing/2014/main" id="{D37E2A65-DEB3-4DAA-8C8E-0D89643B9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14500"/>
            <a:ext cx="248602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3" name="route-2">
            <a:extLst xmlns:a="http://schemas.openxmlformats.org/drawingml/2006/main">
              <a:ext uri="{FF2B5EF4-FFF2-40B4-BE49-F238E27FC236}">
                <a16:creationId xmlns:a16="http://schemas.microsoft.com/office/drawing/2014/main" id="{0CF81CCC-433E-4862-939A-7DADB57A0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809750"/>
            <a:ext cx="21812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研究判断</a:t>
            </a:r>
          </a:p>
        </p:txBody>
      </p:sp>
      <p:sp>
        <p:nvSpPr>
          <p:cNvPr id="14" name="route-a2">
            <a:extLst xmlns:a="http://schemas.openxmlformats.org/drawingml/2006/main">
              <a:ext uri="{FF2B5EF4-FFF2-40B4-BE49-F238E27FC236}">
                <a16:creationId xmlns:a16="http://schemas.microsoft.com/office/drawing/2014/main" id="{D2B8D7FA-949B-4DE0-92B5-07F0DAB0E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7275" y="2009775"/>
            <a:ext cx="304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5" name="route-3-bg">
            <a:extLst xmlns:a="http://schemas.openxmlformats.org/drawingml/2006/main">
              <a:ext uri="{FF2B5EF4-FFF2-40B4-BE49-F238E27FC236}">
                <a16:creationId xmlns:a16="http://schemas.microsoft.com/office/drawing/2014/main" id="{53E8D1E4-FE54-40DF-AB8A-8065150B6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1714500"/>
            <a:ext cx="248602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6" name="route-3">
            <a:extLst xmlns:a="http://schemas.openxmlformats.org/drawingml/2006/main">
              <a:ext uri="{FF2B5EF4-FFF2-40B4-BE49-F238E27FC236}">
                <a16:creationId xmlns:a16="http://schemas.microsoft.com/office/drawing/2014/main" id="{821AFE16-46AA-4DED-BECE-636010883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475" y="1809750"/>
            <a:ext cx="21812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结果映射</a:t>
            </a:r>
          </a:p>
        </p:txBody>
      </p:sp>
      <p:sp>
        <p:nvSpPr>
          <p:cNvPr id="17" name="minimum">
            <a:extLst xmlns:a="http://schemas.openxmlformats.org/drawingml/2006/main">
              <a:ext uri="{FF2B5EF4-FFF2-40B4-BE49-F238E27FC236}">
                <a16:creationId xmlns:a16="http://schemas.microsoft.com/office/drawing/2014/main" id="{D5BD952A-E0DD-4406-9C9A-465BC3219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352800"/>
            <a:ext cx="10058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课堂最低闭环：1 个主机制  +  1 个替代  +  1 条判断  +  1 张映射</a:t>
            </a:r>
          </a:p>
        </p:txBody>
      </p:sp>
      <p:sp>
        <p:nvSpPr>
          <p:cNvPr id="18" name="handoff">
            <a:extLst xmlns:a="http://schemas.openxmlformats.org/drawingml/2006/main">
              <a:ext uri="{FF2B5EF4-FFF2-40B4-BE49-F238E27FC236}">
                <a16:creationId xmlns:a16="http://schemas.microsoft.com/office/drawing/2014/main" id="{6D314633-12AA-4A83-A57E-879006585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4514850"/>
            <a:ext cx="8420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这些对象直接进入第 8 课方案分享；完整工程规格留到第 9 课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结果预测说会发生什么，机制假设解释为什么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  <a:endParaRPr/>
          </a:p>
        </p:txBody>
      </p:sp>
      <p:sp>
        <p:nvSpPr>
          <p:cNvPr id="6" name="fiction">
            <a:extLst xmlns:a="http://schemas.openxmlformats.org/drawingml/2006/main">
              <a:ext uri="{FF2B5EF4-FFF2-40B4-BE49-F238E27FC236}">
                <a16:creationId xmlns:a16="http://schemas.microsoft.com/office/drawing/2014/main" id="{B52D01E4-58CC-4F47-B4F0-F5847D65B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85825"/>
            <a:ext cx="105727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课程虚构教学案例</a:t>
            </a:r>
          </a:p>
        </p:txBody>
      </p:sp>
      <p:sp>
        <p:nvSpPr>
          <p:cNvPr id="7" name="claim">
            <a:extLst xmlns:a="http://schemas.openxmlformats.org/drawingml/2006/main">
              <a:ext uri="{FF2B5EF4-FFF2-40B4-BE49-F238E27FC236}">
                <a16:creationId xmlns:a16="http://schemas.microsoft.com/office/drawing/2014/main" id="{B24F243D-95A4-4A3E-9231-4C5AB138D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85875"/>
            <a:ext cx="685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同一批 20 篇 CS 论文：阅读卡组的限定条件遗漏率更低</a:t>
            </a:r>
          </a:p>
        </p:txBody>
      </p:sp>
      <p:sp>
        <p:nvSpPr>
          <p:cNvPr id="8" name="prediction-l">
            <a:extLst xmlns:a="http://schemas.openxmlformats.org/drawingml/2006/main">
              <a:ext uri="{FF2B5EF4-FFF2-40B4-BE49-F238E27FC236}">
                <a16:creationId xmlns:a16="http://schemas.microsoft.com/office/drawing/2014/main" id="{1F9D21A9-1A88-4EF0-A831-7F50810AC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结果预测</a:t>
            </a:r>
          </a:p>
        </p:txBody>
      </p:sp>
      <p:sp>
        <p:nvSpPr>
          <p:cNvPr id="9" name="prediction">
            <a:extLst xmlns:a="http://schemas.openxmlformats.org/drawingml/2006/main">
              <a:ext uri="{FF2B5EF4-FFF2-40B4-BE49-F238E27FC236}">
                <a16:creationId xmlns:a16="http://schemas.microsoft.com/office/drawing/2014/main" id="{D8806323-1FC4-4483-B441-51178499E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27146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阅读卡降低遗漏率</a:t>
            </a:r>
          </a:p>
        </p:txBody>
      </p:sp>
      <p:sp>
        <p:nvSpPr>
          <p:cNvPr id="10" name="mechanism-l">
            <a:extLst xmlns:a="http://schemas.openxmlformats.org/drawingml/2006/main">
              <a:ext uri="{FF2B5EF4-FFF2-40B4-BE49-F238E27FC236}">
                <a16:creationId xmlns:a16="http://schemas.microsoft.com/office/drawing/2014/main" id="{4D2B8536-B353-4DE9-A9E5-CE8796C0D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1717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机制假设</a:t>
            </a:r>
          </a:p>
        </p:txBody>
      </p:sp>
      <p:sp>
        <p:nvSpPr>
          <p:cNvPr id="11" name="mechanism-0-bg">
            <a:extLst xmlns:a="http://schemas.openxmlformats.org/drawingml/2006/main">
              <a:ext uri="{FF2B5EF4-FFF2-40B4-BE49-F238E27FC236}">
                <a16:creationId xmlns:a16="http://schemas.microsoft.com/office/drawing/2014/main" id="{6401F768-56C0-46F6-ABBF-039A588EC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514600"/>
            <a:ext cx="24066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5F0"/>
          </a:solidFill>
          <a:ln xmlns:a="http://schemas.openxmlformats.org/drawingml/2006/main" w="0">
            <a:noFill/>
          </a:ln>
        </p:spPr>
      </p:sp>
      <p:sp>
        <p:nvSpPr>
          <p:cNvPr id="12" name="mechanism-0">
            <a:extLst xmlns:a="http://schemas.openxmlformats.org/drawingml/2006/main">
              <a:ext uri="{FF2B5EF4-FFF2-40B4-BE49-F238E27FC236}">
                <a16:creationId xmlns:a16="http://schemas.microsoft.com/office/drawing/2014/main" id="{D9F602B3-2296-436E-BBBA-6AEFC8157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609850"/>
            <a:ext cx="2101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字段约束</a:t>
            </a:r>
          </a:p>
        </p:txBody>
      </p:sp>
      <p:sp>
        <p:nvSpPr>
          <p:cNvPr id="13" name="mechanism-a0">
            <a:extLst xmlns:a="http://schemas.openxmlformats.org/drawingml/2006/main">
              <a:ext uri="{FF2B5EF4-FFF2-40B4-BE49-F238E27FC236}">
                <a16:creationId xmlns:a16="http://schemas.microsoft.com/office/drawing/2014/main" id="{57B11A29-24FB-4F7F-AA86-87CE304EC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1400" y="2809875"/>
            <a:ext cx="2667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4" name="mechanism-1-bg">
            <a:extLst xmlns:a="http://schemas.openxmlformats.org/drawingml/2006/main">
              <a:ext uri="{FF2B5EF4-FFF2-40B4-BE49-F238E27FC236}">
                <a16:creationId xmlns:a16="http://schemas.microsoft.com/office/drawing/2014/main" id="{C304EC9F-1565-476F-9DC3-081CDF145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8100" y="2514600"/>
            <a:ext cx="24066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5" name="mechanism-1">
            <a:extLst xmlns:a="http://schemas.openxmlformats.org/drawingml/2006/main">
              <a:ext uri="{FF2B5EF4-FFF2-40B4-BE49-F238E27FC236}">
                <a16:creationId xmlns:a16="http://schemas.microsoft.com/office/drawing/2014/main" id="{B69B3D50-6398-457B-B367-B1E3B5D19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0500" y="2609850"/>
            <a:ext cx="2101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标注原文限定</a:t>
            </a:r>
          </a:p>
        </p:txBody>
      </p:sp>
      <p:sp>
        <p:nvSpPr>
          <p:cNvPr id="16" name="mechanism-a1">
            <a:extLst xmlns:a="http://schemas.openxmlformats.org/drawingml/2006/main">
              <a:ext uri="{FF2B5EF4-FFF2-40B4-BE49-F238E27FC236}">
                <a16:creationId xmlns:a16="http://schemas.microsoft.com/office/drawing/2014/main" id="{BDF6A8C3-65E8-41F1-8F21-D8B80CB3D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4750" y="2809875"/>
            <a:ext cx="2667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7" name="mechanism-2-bg">
            <a:extLst xmlns:a="http://schemas.openxmlformats.org/drawingml/2006/main">
              <a:ext uri="{FF2B5EF4-FFF2-40B4-BE49-F238E27FC236}">
                <a16:creationId xmlns:a16="http://schemas.microsoft.com/office/drawing/2014/main" id="{6D0DD55E-387D-46E5-80A2-5A93F8269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1450" y="2514600"/>
            <a:ext cx="24066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8" name="mechanism-2">
            <a:extLst xmlns:a="http://schemas.openxmlformats.org/drawingml/2006/main">
              <a:ext uri="{FF2B5EF4-FFF2-40B4-BE49-F238E27FC236}">
                <a16:creationId xmlns:a16="http://schemas.microsoft.com/office/drawing/2014/main" id="{B7BF3CD1-92B0-435E-8AB5-8CB847CD4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3850" y="2609850"/>
            <a:ext cx="2101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错读更易暴露</a:t>
            </a:r>
          </a:p>
        </p:txBody>
      </p:sp>
      <p:sp>
        <p:nvSpPr>
          <p:cNvPr id="19" name="counter-l">
            <a:extLst xmlns:a="http://schemas.openxmlformats.org/drawingml/2006/main">
              <a:ext uri="{FF2B5EF4-FFF2-40B4-BE49-F238E27FC236}">
                <a16:creationId xmlns:a16="http://schemas.microsoft.com/office/drawing/2014/main" id="{53DD7FE0-597B-4FED-8CDA-332CD14AC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62375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反证点</a:t>
            </a:r>
          </a:p>
        </p:txBody>
      </p:sp>
      <p:sp>
        <p:nvSpPr>
          <p:cNvPr id="20" name="counter">
            <a:extLst xmlns:a="http://schemas.openxmlformats.org/drawingml/2006/main">
              <a:ext uri="{FF2B5EF4-FFF2-40B4-BE49-F238E27FC236}">
                <a16:creationId xmlns:a16="http://schemas.microsoft.com/office/drawing/2014/main" id="{70DC72FB-262E-4000-BE1E-228F38EFC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14800"/>
            <a:ext cx="581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中间过程不变，或不随干预变化</a:t>
            </a:r>
          </a:p>
        </p:txBody>
      </p:sp>
      <p:sp>
        <p:nvSpPr>
          <p:cNvPr id="21" name="not-mechanism">
            <a:extLst xmlns:a="http://schemas.openxmlformats.org/drawingml/2006/main">
              <a:ext uri="{FF2B5EF4-FFF2-40B4-BE49-F238E27FC236}">
                <a16:creationId xmlns:a16="http://schemas.microsoft.com/office/drawing/2014/main" id="{F1FA89AB-4E8F-46AF-92B1-90AD215BE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848100"/>
            <a:ext cx="46291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“会降低”只写了结果，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2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没有解释为什么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替代假设必须对同一结果给出可区分解释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E5B3003-2C54-13C6-9832-7637201064DE}" type="slidenum">
              <a:t>5</a:t>
            </a:fld>
            <a:endParaRPr/>
          </a:p>
        </p:txBody>
      </p:sp>
      <p:sp>
        <p:nvSpPr>
          <p:cNvPr id="6" name="fiction">
            <a:extLst xmlns:a="http://schemas.openxmlformats.org/drawingml/2006/main">
              <a:ext uri="{FF2B5EF4-FFF2-40B4-BE49-F238E27FC236}">
                <a16:creationId xmlns:a16="http://schemas.microsoft.com/office/drawing/2014/main" id="{BFF62DC7-9B12-4CEA-80AC-1BB3F1782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85825"/>
            <a:ext cx="105727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课程虚构教学案例</a:t>
            </a:r>
          </a:p>
        </p:txBody>
      </p:sp>
      <p:sp>
        <p:nvSpPr>
          <p:cNvPr id="7" name="hypotheses-shade0">
            <a:extLst xmlns:a="http://schemas.openxmlformats.org/drawingml/2006/main">
              <a:ext uri="{FF2B5EF4-FFF2-40B4-BE49-F238E27FC236}">
                <a16:creationId xmlns:a16="http://schemas.microsoft.com/office/drawing/2014/main" id="{DC2A5ED9-34F8-4D92-B3BD-D22B68698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858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8" name="hypotheses-l0">
            <a:extLst xmlns:a="http://schemas.openxmlformats.org/drawingml/2006/main">
              <a:ext uri="{FF2B5EF4-FFF2-40B4-BE49-F238E27FC236}">
                <a16:creationId xmlns:a16="http://schemas.microsoft.com/office/drawing/2014/main" id="{02C57C21-0B3D-40C5-B823-7F4E76033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04950"/>
            <a:ext cx="228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H1  字段约束</a:t>
            </a:r>
          </a:p>
        </p:txBody>
      </p:sp>
      <p:sp>
        <p:nvSpPr>
          <p:cNvPr id="9" name="hypotheses-v0">
            <a:extLst xmlns:a="http://schemas.openxmlformats.org/drawingml/2006/main">
              <a:ext uri="{FF2B5EF4-FFF2-40B4-BE49-F238E27FC236}">
                <a16:creationId xmlns:a16="http://schemas.microsoft.com/office/drawing/2014/main" id="{FBA63D2F-2E78-4506-AA51-87AAE7608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1504950"/>
            <a:ext cx="8286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标注可追溯，错读更易暴露</a:t>
            </a:r>
          </a:p>
        </p:txBody>
      </p:sp>
      <p:sp>
        <p:nvSpPr>
          <p:cNvPr id="10" name="hypotheses-r0">
            <a:extLst xmlns:a="http://schemas.openxmlformats.org/drawingml/2006/main">
              <a:ext uri="{FF2B5EF4-FFF2-40B4-BE49-F238E27FC236}">
                <a16:creationId xmlns:a16="http://schemas.microsoft.com/office/drawing/2014/main" id="{82A384F7-A16C-4E34-B429-38BDB38DC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6950"/>
            <a:ext cx="10858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1" name="hypotheses-l1">
            <a:extLst xmlns:a="http://schemas.openxmlformats.org/drawingml/2006/main">
              <a:ext uri="{FF2B5EF4-FFF2-40B4-BE49-F238E27FC236}">
                <a16:creationId xmlns:a16="http://schemas.microsoft.com/office/drawing/2014/main" id="{E1CEADA2-BA2C-484E-926A-EFA765E34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43150"/>
            <a:ext cx="228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A1  任务转移</a:t>
            </a:r>
          </a:p>
        </p:txBody>
      </p:sp>
      <p:sp>
        <p:nvSpPr>
          <p:cNvPr id="12" name="hypotheses-v1">
            <a:extLst xmlns:a="http://schemas.openxmlformats.org/drawingml/2006/main">
              <a:ext uri="{FF2B5EF4-FFF2-40B4-BE49-F238E27FC236}">
                <a16:creationId xmlns:a16="http://schemas.microsoft.com/office/drawing/2014/main" id="{C1D7EFD9-B5C9-4382-B052-97B7451F4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343150"/>
            <a:ext cx="8286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遗漏下降，但其他错读上升</a:t>
            </a:r>
          </a:p>
        </p:txBody>
      </p:sp>
      <p:sp>
        <p:nvSpPr>
          <p:cNvPr id="13" name="hypotheses-r1">
            <a:extLst xmlns:a="http://schemas.openxmlformats.org/drawingml/2006/main">
              <a:ext uri="{FF2B5EF4-FFF2-40B4-BE49-F238E27FC236}">
                <a16:creationId xmlns:a16="http://schemas.microsoft.com/office/drawing/2014/main" id="{653B83A5-21EF-4ABB-BD82-409745121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05150"/>
            <a:ext cx="10858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4" name="hypotheses-shade2">
            <a:extLst xmlns:a="http://schemas.openxmlformats.org/drawingml/2006/main">
              <a:ext uri="{FF2B5EF4-FFF2-40B4-BE49-F238E27FC236}">
                <a16:creationId xmlns:a16="http://schemas.microsoft.com/office/drawing/2014/main" id="{D7B1A2DE-CA14-4AC5-B875-B7D71DA5D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05150"/>
            <a:ext cx="10858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5" name="hypotheses-l2">
            <a:extLst xmlns:a="http://schemas.openxmlformats.org/drawingml/2006/main">
              <a:ext uri="{FF2B5EF4-FFF2-40B4-BE49-F238E27FC236}">
                <a16:creationId xmlns:a16="http://schemas.microsoft.com/office/drawing/2014/main" id="{0F85C4B9-18C5-404A-BAED-FCCC1AC20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81350"/>
            <a:ext cx="228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1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A2  标注提示</a:t>
            </a:r>
          </a:p>
        </p:txBody>
      </p:sp>
      <p:sp>
        <p:nvSpPr>
          <p:cNvPr id="16" name="hypotheses-v2">
            <a:extLst xmlns:a="http://schemas.openxmlformats.org/drawingml/2006/main">
              <a:ext uri="{FF2B5EF4-FFF2-40B4-BE49-F238E27FC236}">
                <a16:creationId xmlns:a16="http://schemas.microsoft.com/office/drawing/2014/main" id="{447B77EE-5515-4AA9-BF57-15753C958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3181350"/>
            <a:ext cx="8286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去掉提示后差异缩小或消失</a:t>
            </a:r>
          </a:p>
        </p:txBody>
      </p:sp>
      <p:sp>
        <p:nvSpPr>
          <p:cNvPr id="17" name="hypotheses-r2">
            <a:extLst xmlns:a="http://schemas.openxmlformats.org/drawingml/2006/main">
              <a:ext uri="{FF2B5EF4-FFF2-40B4-BE49-F238E27FC236}">
                <a16:creationId xmlns:a16="http://schemas.microsoft.com/office/drawing/2014/main" id="{C31BAB58-22E6-421C-BBCC-CDD2334EF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43350"/>
            <a:ext cx="10858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8" name="hypotheses-l3">
            <a:extLst xmlns:a="http://schemas.openxmlformats.org/drawingml/2006/main">
              <a:ext uri="{FF2B5EF4-FFF2-40B4-BE49-F238E27FC236}">
                <a16:creationId xmlns:a16="http://schemas.microsoft.com/office/drawing/2014/main" id="{15FE94B7-A4C4-4037-A151-5EAB5799D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19550"/>
            <a:ext cx="228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1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A3  文档结构</a:t>
            </a:r>
          </a:p>
        </p:txBody>
      </p:sp>
      <p:sp>
        <p:nvSpPr>
          <p:cNvPr id="19" name="hypotheses-v3">
            <a:extLst xmlns:a="http://schemas.openxmlformats.org/drawingml/2006/main">
              <a:ext uri="{FF2B5EF4-FFF2-40B4-BE49-F238E27FC236}">
                <a16:creationId xmlns:a16="http://schemas.microsoft.com/office/drawing/2014/main" id="{68FE7BD8-358C-4A84-B7F8-8BB97080F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4019550"/>
            <a:ext cx="8286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效应集中在特定论文结构</a:t>
            </a:r>
          </a:p>
        </p:txBody>
      </p:sp>
      <p:sp>
        <p:nvSpPr>
          <p:cNvPr id="20" name="rule">
            <a:extLst xmlns:a="http://schemas.openxmlformats.org/drawingml/2006/main">
              <a:ext uri="{FF2B5EF4-FFF2-40B4-BE49-F238E27FC236}">
                <a16:creationId xmlns:a16="http://schemas.microsoft.com/office/drawing/2014/main" id="{88B2C7BB-7921-40F6-8297-E992DADA1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095875"/>
            <a:ext cx="9791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保留标准：同一结果的不同解释，而且实验能产生不同观察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事实、假设、研究判断与待验证项必须分开落盘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  <a:endParaRPr/>
          </a:p>
        </p:txBody>
      </p:sp>
      <p:sp>
        <p:nvSpPr>
          <p:cNvPr id="6" name="record-title">
            <a:extLst xmlns:a="http://schemas.openxmlformats.org/drawingml/2006/main">
              <a:ext uri="{FF2B5EF4-FFF2-40B4-BE49-F238E27FC236}">
                <a16:creationId xmlns:a16="http://schemas.microsoft.com/office/drawing/2014/main" id="{BED286C3-0B3B-470D-B265-D434E2512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477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研究判断记录 · 贯穿案例</a:t>
            </a:r>
          </a:p>
        </p:txBody>
      </p:sp>
      <p:sp>
        <p:nvSpPr>
          <p:cNvPr id="7" name="record-shade0">
            <a:extLst xmlns:a="http://schemas.openxmlformats.org/drawingml/2006/main">
              <a:ext uri="{FF2B5EF4-FFF2-40B4-BE49-F238E27FC236}">
                <a16:creationId xmlns:a16="http://schemas.microsoft.com/office/drawing/2014/main" id="{54A560EB-9798-46BE-B81F-3503599BC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162050"/>
            <a:ext cx="73723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8" name="record-l0">
            <a:extLst xmlns:a="http://schemas.openxmlformats.org/drawingml/2006/main">
              <a:ext uri="{FF2B5EF4-FFF2-40B4-BE49-F238E27FC236}">
                <a16:creationId xmlns:a16="http://schemas.microsoft.com/office/drawing/2014/main" id="{2A926102-6AF0-4963-AB2A-5838017D0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238250"/>
            <a:ext cx="1238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判断</a:t>
            </a:r>
          </a:p>
        </p:txBody>
      </p:sp>
      <p:sp>
        <p:nvSpPr>
          <p:cNvPr id="9" name="record-v0">
            <a:extLst xmlns:a="http://schemas.openxmlformats.org/drawingml/2006/main">
              <a:ext uri="{FF2B5EF4-FFF2-40B4-BE49-F238E27FC236}">
                <a16:creationId xmlns:a16="http://schemas.microsoft.com/office/drawing/2014/main" id="{3BF1AE85-8C05-4E95-AE7E-3D62B5ADF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1238250"/>
            <a:ext cx="5848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限定条件遗漏率作为主指标</a:t>
            </a:r>
          </a:p>
        </p:txBody>
      </p:sp>
      <p:sp>
        <p:nvSpPr>
          <p:cNvPr id="10" name="record-r0">
            <a:extLst xmlns:a="http://schemas.openxmlformats.org/drawingml/2006/main">
              <a:ext uri="{FF2B5EF4-FFF2-40B4-BE49-F238E27FC236}">
                <a16:creationId xmlns:a16="http://schemas.microsoft.com/office/drawing/2014/main" id="{9956A0C1-02DB-4708-A1CD-84CF86E69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847850"/>
            <a:ext cx="73723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1" name="record-l1">
            <a:extLst xmlns:a="http://schemas.openxmlformats.org/drawingml/2006/main">
              <a:ext uri="{FF2B5EF4-FFF2-40B4-BE49-F238E27FC236}">
                <a16:creationId xmlns:a16="http://schemas.microsoft.com/office/drawing/2014/main" id="{245830EE-2B80-4923-BF5A-20A0BE203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924050"/>
            <a:ext cx="1238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理由</a:t>
            </a:r>
          </a:p>
        </p:txBody>
      </p:sp>
      <p:sp>
        <p:nvSpPr>
          <p:cNvPr id="12" name="record-v1">
            <a:extLst xmlns:a="http://schemas.openxmlformats.org/drawingml/2006/main">
              <a:ext uri="{FF2B5EF4-FFF2-40B4-BE49-F238E27FC236}">
                <a16:creationId xmlns:a16="http://schemas.microsoft.com/office/drawing/2014/main" id="{B01F5B85-2CBD-4DC1-8FC9-C238B6EF4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1924050"/>
            <a:ext cx="5848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它对应可追溯性，不把流畅度当机制证据</a:t>
            </a:r>
          </a:p>
        </p:txBody>
      </p:sp>
      <p:sp>
        <p:nvSpPr>
          <p:cNvPr id="13" name="record-r1">
            <a:extLst xmlns:a="http://schemas.openxmlformats.org/drawingml/2006/main">
              <a:ext uri="{FF2B5EF4-FFF2-40B4-BE49-F238E27FC236}">
                <a16:creationId xmlns:a16="http://schemas.microsoft.com/office/drawing/2014/main" id="{ACF43631-924B-4225-A1AF-FC9EC4FD2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533650"/>
            <a:ext cx="73723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4" name="record-shade2">
            <a:extLst xmlns:a="http://schemas.openxmlformats.org/drawingml/2006/main">
              <a:ext uri="{FF2B5EF4-FFF2-40B4-BE49-F238E27FC236}">
                <a16:creationId xmlns:a16="http://schemas.microsoft.com/office/drawing/2014/main" id="{96DBA236-C2E6-491C-9EFA-63A59B6D3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533650"/>
            <a:ext cx="73723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5" name="record-l2">
            <a:extLst xmlns:a="http://schemas.openxmlformats.org/drawingml/2006/main">
              <a:ext uri="{FF2B5EF4-FFF2-40B4-BE49-F238E27FC236}">
                <a16:creationId xmlns:a16="http://schemas.microsoft.com/office/drawing/2014/main" id="{CC9E612C-57A4-4543-8D55-8F0AD864A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609850"/>
            <a:ext cx="1238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边界</a:t>
            </a:r>
          </a:p>
        </p:txBody>
      </p:sp>
      <p:sp>
        <p:nvSpPr>
          <p:cNvPr id="16" name="record-v2">
            <a:extLst xmlns:a="http://schemas.openxmlformats.org/drawingml/2006/main">
              <a:ext uri="{FF2B5EF4-FFF2-40B4-BE49-F238E27FC236}">
                <a16:creationId xmlns:a16="http://schemas.microsoft.com/office/drawing/2014/main" id="{89D40575-9C34-45B8-A163-4B6336F0F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609850"/>
            <a:ext cx="5848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带引用的 CS 论文摘要；外推需重验</a:t>
            </a:r>
          </a:p>
        </p:txBody>
      </p:sp>
      <p:sp>
        <p:nvSpPr>
          <p:cNvPr id="17" name="record-r2">
            <a:extLst xmlns:a="http://schemas.openxmlformats.org/drawingml/2006/main">
              <a:ext uri="{FF2B5EF4-FFF2-40B4-BE49-F238E27FC236}">
                <a16:creationId xmlns:a16="http://schemas.microsoft.com/office/drawing/2014/main" id="{2BDF1DAB-4EBD-46BB-8B6C-DCBF3AA76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219450"/>
            <a:ext cx="73723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8" name="record-l3">
            <a:extLst xmlns:a="http://schemas.openxmlformats.org/drawingml/2006/main">
              <a:ext uri="{FF2B5EF4-FFF2-40B4-BE49-F238E27FC236}">
                <a16:creationId xmlns:a16="http://schemas.microsoft.com/office/drawing/2014/main" id="{74EB3C61-CCAA-46A6-A0C7-AC36BD178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295650"/>
            <a:ext cx="1238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依据</a:t>
            </a:r>
          </a:p>
        </p:txBody>
      </p:sp>
      <p:sp>
        <p:nvSpPr>
          <p:cNvPr id="19" name="record-v3">
            <a:extLst xmlns:a="http://schemas.openxmlformats.org/drawingml/2006/main">
              <a:ext uri="{FF2B5EF4-FFF2-40B4-BE49-F238E27FC236}">
                <a16:creationId xmlns:a16="http://schemas.microsoft.com/office/drawing/2014/main" id="{CCF2955D-EBBE-4DF7-851E-00A64F84E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295650"/>
            <a:ext cx="5848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证据地图 E1 + 可定位原文原则</a:t>
            </a:r>
          </a:p>
        </p:txBody>
      </p:sp>
      <p:sp>
        <p:nvSpPr>
          <p:cNvPr id="20" name="record-r3">
            <a:extLst xmlns:a="http://schemas.openxmlformats.org/drawingml/2006/main">
              <a:ext uri="{FF2B5EF4-FFF2-40B4-BE49-F238E27FC236}">
                <a16:creationId xmlns:a16="http://schemas.microsoft.com/office/drawing/2014/main" id="{799D5DD1-06BA-4D8F-9867-DEE35DB44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905250"/>
            <a:ext cx="73723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21" name="record-shade4">
            <a:extLst xmlns:a="http://schemas.openxmlformats.org/drawingml/2006/main">
              <a:ext uri="{FF2B5EF4-FFF2-40B4-BE49-F238E27FC236}">
                <a16:creationId xmlns:a16="http://schemas.microsoft.com/office/drawing/2014/main" id="{D9A9126D-08A9-4CFA-A5EB-BE2CE4B71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905250"/>
            <a:ext cx="73723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22" name="record-l4">
            <a:extLst xmlns:a="http://schemas.openxmlformats.org/drawingml/2006/main">
              <a:ext uri="{FF2B5EF4-FFF2-40B4-BE49-F238E27FC236}">
                <a16:creationId xmlns:a16="http://schemas.microsoft.com/office/drawing/2014/main" id="{679421BE-93C2-42E6-9177-97E71CADD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981450"/>
            <a:ext cx="1238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待验证</a:t>
            </a:r>
          </a:p>
        </p:txBody>
      </p:sp>
      <p:sp>
        <p:nvSpPr>
          <p:cNvPr id="23" name="record-v4">
            <a:extLst xmlns:a="http://schemas.openxmlformats.org/drawingml/2006/main">
              <a:ext uri="{FF2B5EF4-FFF2-40B4-BE49-F238E27FC236}">
                <a16:creationId xmlns:a16="http://schemas.microsoft.com/office/drawing/2014/main" id="{7E7035F7-150E-4BDC-9BEC-0641E6704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981450"/>
            <a:ext cx="5848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标注一致性与 20 篇稳定性</a:t>
            </a:r>
          </a:p>
        </p:txBody>
      </p:sp>
      <p:sp>
        <p:nvSpPr>
          <p:cNvPr id="24" name="record-r4">
            <a:extLst xmlns:a="http://schemas.openxmlformats.org/drawingml/2006/main">
              <a:ext uri="{FF2B5EF4-FFF2-40B4-BE49-F238E27FC236}">
                <a16:creationId xmlns:a16="http://schemas.microsoft.com/office/drawing/2014/main" id="{2C234F8E-1C5C-4B2B-8BB5-F156F3D72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591050"/>
            <a:ext cx="73723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25" name="record-l5">
            <a:extLst xmlns:a="http://schemas.openxmlformats.org/drawingml/2006/main">
              <a:ext uri="{FF2B5EF4-FFF2-40B4-BE49-F238E27FC236}">
                <a16:creationId xmlns:a16="http://schemas.microsoft.com/office/drawing/2014/main" id="{5CDCC05A-5483-4C75-B29F-D125969CC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667250"/>
            <a:ext cx="1238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影响</a:t>
            </a:r>
          </a:p>
        </p:txBody>
      </p:sp>
      <p:sp>
        <p:nvSpPr>
          <p:cNvPr id="26" name="record-v5">
            <a:extLst xmlns:a="http://schemas.openxmlformats.org/drawingml/2006/main">
              <a:ext uri="{FF2B5EF4-FFF2-40B4-BE49-F238E27FC236}">
                <a16:creationId xmlns:a16="http://schemas.microsoft.com/office/drawing/2014/main" id="{438B1EF9-EAEA-4E7B-9C66-E11FE58D8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667250"/>
            <a:ext cx="5848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因变量、标注协议、停止条件</a:t>
            </a:r>
          </a:p>
        </p:txBody>
      </p:sp>
      <p:sp>
        <p:nvSpPr>
          <p:cNvPr id="27" name="types">
            <a:extLst xmlns:a="http://schemas.openxmlformats.org/drawingml/2006/main">
              <a:ext uri="{FF2B5EF4-FFF2-40B4-BE49-F238E27FC236}">
                <a16:creationId xmlns:a16="http://schemas.microsoft.com/office/drawing/2014/main" id="{EE2FC2CC-106F-491C-8D39-94D9A3FA3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2286000" cy="2971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事实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假设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研究判断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待验证项</a:t>
            </a:r>
          </a:p>
        </p:txBody>
      </p:sp>
      <p:sp>
        <p:nvSpPr>
          <p:cNvPr id="28" name="where">
            <a:extLst xmlns:a="http://schemas.openxmlformats.org/drawingml/2006/main">
              <a:ext uri="{FF2B5EF4-FFF2-40B4-BE49-F238E27FC236}">
                <a16:creationId xmlns:a16="http://schemas.microsoft.com/office/drawing/2014/main" id="{724DDBA2-052C-4FAB-864F-D4615FB5A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600200"/>
            <a:ext cx="1476375" cy="2971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18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证据地图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18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阅读卡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18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机制假设列表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18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判断记录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18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待验证字段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方案取舍要记录比较依据，而不是只写最后选择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  <a:endParaRPr/>
          </a:p>
        </p:txBody>
      </p:sp>
      <p:sp>
        <p:nvSpPr>
          <p:cNvPr id="6" name="compare-shade0">
            <a:extLst xmlns:a="http://schemas.openxmlformats.org/drawingml/2006/main">
              <a:ext uri="{FF2B5EF4-FFF2-40B4-BE49-F238E27FC236}">
                <a16:creationId xmlns:a16="http://schemas.microsoft.com/office/drawing/2014/main" id="{46467D9E-ADDF-4C08-9BCC-9008DDCE3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08585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7" name="compare-l0">
            <a:extLst xmlns:a="http://schemas.openxmlformats.org/drawingml/2006/main">
              <a:ext uri="{FF2B5EF4-FFF2-40B4-BE49-F238E27FC236}">
                <a16:creationId xmlns:a16="http://schemas.microsoft.com/office/drawing/2014/main" id="{0B4BFC9C-CDB1-4B83-B39C-B11EFF658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00200"/>
            <a:ext cx="1238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论文</a:t>
            </a:r>
          </a:p>
        </p:txBody>
      </p:sp>
      <p:sp>
        <p:nvSpPr>
          <p:cNvPr id="8" name="compare-v0">
            <a:extLst xmlns:a="http://schemas.openxmlformats.org/drawingml/2006/main">
              <a:ext uri="{FF2B5EF4-FFF2-40B4-BE49-F238E27FC236}">
                <a16:creationId xmlns:a16="http://schemas.microsoft.com/office/drawing/2014/main" id="{3CBF8D42-21BF-4332-8429-48CD636EE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1600200"/>
            <a:ext cx="9334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同一批 20 篇        │        两批不同论文</a:t>
            </a:r>
          </a:p>
        </p:txBody>
      </p:sp>
      <p:sp>
        <p:nvSpPr>
          <p:cNvPr id="9" name="compare-r0">
            <a:extLst xmlns:a="http://schemas.openxmlformats.org/drawingml/2006/main">
              <a:ext uri="{FF2B5EF4-FFF2-40B4-BE49-F238E27FC236}">
                <a16:creationId xmlns:a16="http://schemas.microsoft.com/office/drawing/2014/main" id="{EA89D4A7-6A55-456D-B612-C88C3856A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10858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0" name="compare-l1">
            <a:extLst xmlns:a="http://schemas.openxmlformats.org/drawingml/2006/main">
              <a:ext uri="{FF2B5EF4-FFF2-40B4-BE49-F238E27FC236}">
                <a16:creationId xmlns:a16="http://schemas.microsoft.com/office/drawing/2014/main" id="{86CB4DE0-6300-4EB9-A705-41BD3C3BE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62200"/>
            <a:ext cx="1238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优势</a:t>
            </a:r>
          </a:p>
        </p:txBody>
      </p:sp>
      <p:sp>
        <p:nvSpPr>
          <p:cNvPr id="11" name="compare-v1">
            <a:extLst xmlns:a="http://schemas.openxmlformats.org/drawingml/2006/main">
              <a:ext uri="{FF2B5EF4-FFF2-40B4-BE49-F238E27FC236}">
                <a16:creationId xmlns:a16="http://schemas.microsoft.com/office/drawing/2014/main" id="{C3F55740-379F-4B08-A161-B5CF27AFC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2362200"/>
            <a:ext cx="9334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控制论文与模型        │        减少任务记忆污染</a:t>
            </a:r>
          </a:p>
        </p:txBody>
      </p:sp>
      <p:sp>
        <p:nvSpPr>
          <p:cNvPr id="12" name="compare-r1">
            <a:extLst xmlns:a="http://schemas.openxmlformats.org/drawingml/2006/main">
              <a:ext uri="{FF2B5EF4-FFF2-40B4-BE49-F238E27FC236}">
                <a16:creationId xmlns:a16="http://schemas.microsoft.com/office/drawing/2014/main" id="{52026477-8E84-4A8D-9A81-28F9DF499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858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3" name="compare-shade2">
            <a:extLst xmlns:a="http://schemas.openxmlformats.org/drawingml/2006/main">
              <a:ext uri="{FF2B5EF4-FFF2-40B4-BE49-F238E27FC236}">
                <a16:creationId xmlns:a16="http://schemas.microsoft.com/office/drawing/2014/main" id="{249FEC2D-F2ED-4CDC-A74C-B55E74187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8585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4" name="compare-l2">
            <a:extLst xmlns:a="http://schemas.openxmlformats.org/drawingml/2006/main">
              <a:ext uri="{FF2B5EF4-FFF2-40B4-BE49-F238E27FC236}">
                <a16:creationId xmlns:a16="http://schemas.microsoft.com/office/drawing/2014/main" id="{DC48DC6B-84AB-4F52-AA84-EAD29C56A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24200"/>
            <a:ext cx="1238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代价</a:t>
            </a:r>
          </a:p>
        </p:txBody>
      </p:sp>
      <p:sp>
        <p:nvSpPr>
          <p:cNvPr id="15" name="compare-v2">
            <a:extLst xmlns:a="http://schemas.openxmlformats.org/drawingml/2006/main">
              <a:ext uri="{FF2B5EF4-FFF2-40B4-BE49-F238E27FC236}">
                <a16:creationId xmlns:a16="http://schemas.microsoft.com/office/drawing/2014/main" id="{855879B9-7041-4E82-8622-6C4EB4A79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124200"/>
            <a:ext cx="9334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可能有记忆污染        │        引入论文难度差异</a:t>
            </a:r>
          </a:p>
        </p:txBody>
      </p:sp>
      <p:sp>
        <p:nvSpPr>
          <p:cNvPr id="16" name="compare-r2">
            <a:extLst xmlns:a="http://schemas.openxmlformats.org/drawingml/2006/main">
              <a:ext uri="{FF2B5EF4-FFF2-40B4-BE49-F238E27FC236}">
                <a16:creationId xmlns:a16="http://schemas.microsoft.com/office/drawing/2014/main" id="{B5FF020C-F5FC-4DE5-B62F-DAB998F4D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0"/>
            <a:ext cx="10858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7" name="compare-l3">
            <a:extLst xmlns:a="http://schemas.openxmlformats.org/drawingml/2006/main">
              <a:ext uri="{FF2B5EF4-FFF2-40B4-BE49-F238E27FC236}">
                <a16:creationId xmlns:a16="http://schemas.microsoft.com/office/drawing/2014/main" id="{D786F312-D38D-4EBF-875C-FE7D8C7C8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886200"/>
            <a:ext cx="1238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判断</a:t>
            </a:r>
          </a:p>
        </p:txBody>
      </p:sp>
      <p:sp>
        <p:nvSpPr>
          <p:cNvPr id="18" name="compare-v3">
            <a:extLst xmlns:a="http://schemas.openxmlformats.org/drawingml/2006/main">
              <a:ext uri="{FF2B5EF4-FFF2-40B4-BE49-F238E27FC236}">
                <a16:creationId xmlns:a16="http://schemas.microsoft.com/office/drawing/2014/main" id="{9CF7B9B6-3779-4AD6-B00F-63D4F8B53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886200"/>
            <a:ext cx="9334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课程主实验保留        │        时间允许再跑</a:t>
            </a:r>
          </a:p>
        </p:txBody>
      </p:sp>
      <p:sp>
        <p:nvSpPr>
          <p:cNvPr id="19" name="headers">
            <a:extLst xmlns:a="http://schemas.openxmlformats.org/drawingml/2006/main">
              <a:ext uri="{FF2B5EF4-FFF2-40B4-BE49-F238E27FC236}">
                <a16:creationId xmlns:a16="http://schemas.microsoft.com/office/drawing/2014/main" id="{3C3BD25A-D7A9-45FB-B919-F683CC85C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1095375"/>
            <a:ext cx="809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方案甲                                       方案乙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这条观察，支持了什么？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  <a:endParaRPr/>
          </a:p>
        </p:txBody>
      </p:sp>
      <p:sp>
        <p:nvSpPr>
          <p:cNvPr id="6" name="fiction">
            <a:extLst xmlns:a="http://schemas.openxmlformats.org/drawingml/2006/main">
              <a:ext uri="{FF2B5EF4-FFF2-40B4-BE49-F238E27FC236}">
                <a16:creationId xmlns:a16="http://schemas.microsoft.com/office/drawing/2014/main" id="{990CC0A6-6887-4933-9F06-314A2E12D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85825"/>
            <a:ext cx="105727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课程虚构教学案例</a:t>
            </a:r>
          </a:p>
        </p:txBody>
      </p:sp>
      <p:sp>
        <p:nvSpPr>
          <p:cNvPr id="7" name="observation">
            <a:extLst xmlns:a="http://schemas.openxmlformats.org/drawingml/2006/main">
              <a:ext uri="{FF2B5EF4-FFF2-40B4-BE49-F238E27FC236}">
                <a16:creationId xmlns:a16="http://schemas.microsoft.com/office/drawing/2014/main" id="{78A017E7-5DCA-4014-9405-078010034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1085850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限定条件遗漏 ↓；其他错误 ↑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2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总错读没有改善。</a:t>
            </a:r>
          </a:p>
        </p:txBody>
      </p:sp>
      <p:sp>
        <p:nvSpPr>
          <p:cNvPr id="8" name="judgment">
            <a:extLst xmlns:a="http://schemas.openxmlformats.org/drawingml/2006/main">
              <a:ext uri="{FF2B5EF4-FFF2-40B4-BE49-F238E27FC236}">
                <a16:creationId xmlns:a16="http://schemas.microsoft.com/office/drawing/2014/main" id="{2A19EA2D-BFF4-48E2-A274-A8A604543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10858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H1 方向支持；A1 支持；A2/A3 仍不能判断</a:t>
            </a:r>
          </a:p>
        </p:txBody>
      </p:sp>
      <p:sp>
        <p:nvSpPr>
          <p:cNvPr id="9" name="split">
            <a:extLst xmlns:a="http://schemas.openxmlformats.org/drawingml/2006/main">
              <a:ext uri="{FF2B5EF4-FFF2-40B4-BE49-F238E27FC236}">
                <a16:creationId xmlns:a16="http://schemas.microsoft.com/office/drawing/2014/main" id="{9E513922-4D4E-4AEA-AE2A-DA113604C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10858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0" name="header-0">
            <a:extLst xmlns:a="http://schemas.openxmlformats.org/drawingml/2006/main">
              <a:ext uri="{FF2B5EF4-FFF2-40B4-BE49-F238E27FC236}">
                <a16:creationId xmlns:a16="http://schemas.microsoft.com/office/drawing/2014/main" id="{B6EAEC67-AD85-4F1E-BFB9-16F1546F0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76625"/>
            <a:ext cx="1885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假设</a:t>
            </a:r>
          </a:p>
        </p:txBody>
      </p:sp>
      <p:sp>
        <p:nvSpPr>
          <p:cNvPr id="11" name="header-1">
            <a:extLst xmlns:a="http://schemas.openxmlformats.org/drawingml/2006/main">
              <a:ext uri="{FF2B5EF4-FFF2-40B4-BE49-F238E27FC236}">
                <a16:creationId xmlns:a16="http://schemas.microsoft.com/office/drawing/2014/main" id="{86579F5F-FBFA-4AFC-B90A-537D4F2E0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476625"/>
            <a:ext cx="27527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支持</a:t>
            </a:r>
          </a:p>
        </p:txBody>
      </p:sp>
      <p:sp>
        <p:nvSpPr>
          <p:cNvPr id="12" name="header-2">
            <a:extLst xmlns:a="http://schemas.openxmlformats.org/drawingml/2006/main">
              <a:ext uri="{FF2B5EF4-FFF2-40B4-BE49-F238E27FC236}">
                <a16:creationId xmlns:a16="http://schemas.microsoft.com/office/drawing/2014/main" id="{A1CC53CE-7096-4DF8-A92B-0AFD96D21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9275" y="3476625"/>
            <a:ext cx="27527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反驳</a:t>
            </a:r>
          </a:p>
        </p:txBody>
      </p:sp>
      <p:sp>
        <p:nvSpPr>
          <p:cNvPr id="13" name="header-3">
            <a:extLst xmlns:a="http://schemas.openxmlformats.org/drawingml/2006/main">
              <a:ext uri="{FF2B5EF4-FFF2-40B4-BE49-F238E27FC236}">
                <a16:creationId xmlns:a16="http://schemas.microsoft.com/office/drawing/2014/main" id="{BEFAB1F6-20D7-4C24-A4E2-9EDCE07B3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476625"/>
            <a:ext cx="2895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1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仍不能判断</a:t>
            </a:r>
          </a:p>
        </p:txBody>
      </p:sp>
      <p:sp>
        <p:nvSpPr>
          <p:cNvPr id="14" name="cell-0-0">
            <a:extLst xmlns:a="http://schemas.openxmlformats.org/drawingml/2006/main">
              <a:ext uri="{FF2B5EF4-FFF2-40B4-BE49-F238E27FC236}">
                <a16:creationId xmlns:a16="http://schemas.microsoft.com/office/drawing/2014/main" id="{6127359E-A6A9-4596-BD56-BCEF28A7B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9550"/>
            <a:ext cx="18859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H1 字段约束</a:t>
            </a:r>
          </a:p>
        </p:txBody>
      </p:sp>
      <p:sp>
        <p:nvSpPr>
          <p:cNvPr id="15" name="cell-0-1">
            <a:extLst xmlns:a="http://schemas.openxmlformats.org/drawingml/2006/main">
              <a:ext uri="{FF2B5EF4-FFF2-40B4-BE49-F238E27FC236}">
                <a16:creationId xmlns:a16="http://schemas.microsoft.com/office/drawing/2014/main" id="{0C07749E-FC71-45F0-89BF-0AA1F2E72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019550"/>
            <a:ext cx="27527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方向吻合，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且替代已排除</a:t>
            </a:r>
          </a:p>
        </p:txBody>
      </p:sp>
      <p:sp>
        <p:nvSpPr>
          <p:cNvPr id="16" name="cell-0-2">
            <a:extLst xmlns:a="http://schemas.openxmlformats.org/drawingml/2006/main">
              <a:ext uri="{FF2B5EF4-FFF2-40B4-BE49-F238E27FC236}">
                <a16:creationId xmlns:a16="http://schemas.microsoft.com/office/drawing/2014/main" id="{DA30C0CE-290C-409D-913B-5471635A2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9275" y="4019550"/>
            <a:ext cx="27527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等价评价下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稳定反向</a:t>
            </a:r>
          </a:p>
        </p:txBody>
      </p:sp>
      <p:sp>
        <p:nvSpPr>
          <p:cNvPr id="17" name="cell-0-3">
            <a:extLst xmlns:a="http://schemas.openxmlformats.org/drawingml/2006/main">
              <a:ext uri="{FF2B5EF4-FFF2-40B4-BE49-F238E27FC236}">
                <a16:creationId xmlns:a16="http://schemas.microsoft.com/office/drawing/2014/main" id="{9C972D1F-032F-4795-9704-789724A0E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019550"/>
            <a:ext cx="2895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差异不确定，或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替代未排除</a:t>
            </a:r>
          </a:p>
        </p:txBody>
      </p:sp>
      <p:sp>
        <p:nvSpPr>
          <p:cNvPr id="18" name="row-sep">
            <a:extLst xmlns:a="http://schemas.openxmlformats.org/drawingml/2006/main">
              <a:ext uri="{FF2B5EF4-FFF2-40B4-BE49-F238E27FC236}">
                <a16:creationId xmlns:a16="http://schemas.microsoft.com/office/drawing/2014/main" id="{2AEAB31E-AD15-4B92-9B1B-C7F9A00C1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43450"/>
            <a:ext cx="10858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9" name="cell-1-0">
            <a:extLst xmlns:a="http://schemas.openxmlformats.org/drawingml/2006/main">
              <a:ext uri="{FF2B5EF4-FFF2-40B4-BE49-F238E27FC236}">
                <a16:creationId xmlns:a16="http://schemas.microsoft.com/office/drawing/2014/main" id="{DB2CEAD2-76DA-48C2-812D-334F1C80D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38700"/>
            <a:ext cx="18859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A1 任务转移</a:t>
            </a:r>
          </a:p>
        </p:txBody>
      </p:sp>
      <p:sp>
        <p:nvSpPr>
          <p:cNvPr id="20" name="cell-1-1">
            <a:extLst xmlns:a="http://schemas.openxmlformats.org/drawingml/2006/main">
              <a:ext uri="{FF2B5EF4-FFF2-40B4-BE49-F238E27FC236}">
                <a16:creationId xmlns:a16="http://schemas.microsoft.com/office/drawing/2014/main" id="{D34BE8D9-C913-4E49-83A4-E30A5BB7F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838700"/>
            <a:ext cx="27527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其他错读上升，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总错读未改善</a:t>
            </a:r>
          </a:p>
        </p:txBody>
      </p:sp>
      <p:sp>
        <p:nvSpPr>
          <p:cNvPr id="21" name="cell-1-2">
            <a:extLst xmlns:a="http://schemas.openxmlformats.org/drawingml/2006/main">
              <a:ext uri="{FF2B5EF4-FFF2-40B4-BE49-F238E27FC236}">
                <a16:creationId xmlns:a16="http://schemas.microsoft.com/office/drawing/2014/main" id="{6971A9E6-906B-4880-A194-739112901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9275" y="4838700"/>
            <a:ext cx="27527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遗漏与总错读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同时下降</a:t>
            </a:r>
          </a:p>
        </p:txBody>
      </p:sp>
      <p:sp>
        <p:nvSpPr>
          <p:cNvPr id="22" name="cell-1-3">
            <a:extLst xmlns:a="http://schemas.openxmlformats.org/drawingml/2006/main">
              <a:ext uri="{FF2B5EF4-FFF2-40B4-BE49-F238E27FC236}">
                <a16:creationId xmlns:a16="http://schemas.microsoft.com/office/drawing/2014/main" id="{7CAC2474-E357-4353-A79F-6C74484CF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838700"/>
            <a:ext cx="2895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缺少其他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错读记录</a:t>
            </a:r>
          </a:p>
        </p:txBody>
      </p:sp>
      <p:sp>
        <p:nvSpPr>
          <p:cNvPr id="23" name="boundary">
            <a:extLst xmlns:a="http://schemas.openxmlformats.org/drawingml/2006/main">
              <a:ext uri="{FF2B5EF4-FFF2-40B4-BE49-F238E27FC236}">
                <a16:creationId xmlns:a16="http://schemas.microsoft.com/office/drawing/2014/main" id="{EDDD3D77-6046-4471-8EC1-867C9864D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43575"/>
            <a:ext cx="1085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方向支持 ≠ 机制已证实；仅有“不显著”仍不能判断。</a:t>
            </a:r>
          </a:p>
        </p:txBody>
      </p:sp>
      <p:sp>
        <p:nvSpPr>
          <p:cNvPr id="24" name="source">
            <a:extLst xmlns:a="http://schemas.openxmlformats.org/drawingml/2006/main">
              <a:ext uri="{FF2B5EF4-FFF2-40B4-BE49-F238E27FC236}">
                <a16:creationId xmlns:a16="http://schemas.microsoft.com/office/drawing/2014/main" id="{01E1EB11-3890-4B2E-858D-E83587036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来源：本课讲义 §四·1；Platt (1964), Strong Inference · 完整 H1/A1/A2/A3 映射见讲义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完整工程规格集中到第 9 课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  <a:endParaRPr/>
          </a:p>
        </p:txBody>
      </p:sp>
      <p:sp>
        <p:nvSpPr>
          <p:cNvPr id="6" name="l7">
            <a:extLst xmlns:a="http://schemas.openxmlformats.org/drawingml/2006/main">
              <a:ext uri="{FF2B5EF4-FFF2-40B4-BE49-F238E27FC236}">
                <a16:creationId xmlns:a16="http://schemas.microsoft.com/office/drawing/2014/main" id="{B8B5ADD0-25E2-4BFF-BABD-0651C0EC1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19250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第 7 课</a:t>
            </a:r>
          </a:p>
        </p:txBody>
      </p:sp>
      <p:sp>
        <p:nvSpPr>
          <p:cNvPr id="7" name="b7-bg">
            <a:extLst xmlns:a="http://schemas.openxmlformats.org/drawingml/2006/main">
              <a:ext uri="{FF2B5EF4-FFF2-40B4-BE49-F238E27FC236}">
                <a16:creationId xmlns:a16="http://schemas.microsoft.com/office/drawing/2014/main" id="{3507F333-6F4A-4968-A795-3502D28C8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95500"/>
            <a:ext cx="2857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5F0"/>
          </a:solidFill>
          <a:ln xmlns:a="http://schemas.openxmlformats.org/drawingml/2006/main" w="0">
            <a:noFill/>
          </a:ln>
        </p:spPr>
      </p:sp>
      <p:sp>
        <p:nvSpPr>
          <p:cNvPr id="8" name="b7">
            <a:extLst xmlns:a="http://schemas.openxmlformats.org/drawingml/2006/main">
              <a:ext uri="{FF2B5EF4-FFF2-40B4-BE49-F238E27FC236}">
                <a16:creationId xmlns:a16="http://schemas.microsoft.com/office/drawing/2014/main" id="{F736789B-E1F1-4AAE-818D-CAFD453D1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190750"/>
            <a:ext cx="25527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机制 + 替代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判断 + 映射</a:t>
            </a:r>
          </a:p>
        </p:txBody>
      </p:sp>
      <p:sp>
        <p:nvSpPr>
          <p:cNvPr id="9" name="a78">
            <a:extLst xmlns:a="http://schemas.openxmlformats.org/drawingml/2006/main">
              <a:ext uri="{FF2B5EF4-FFF2-40B4-BE49-F238E27FC236}">
                <a16:creationId xmlns:a16="http://schemas.microsoft.com/office/drawing/2014/main" id="{92C8950D-7051-400D-90AA-BD982709A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2571750"/>
            <a:ext cx="571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0" name="l8">
            <a:extLst xmlns:a="http://schemas.openxmlformats.org/drawingml/2006/main">
              <a:ext uri="{FF2B5EF4-FFF2-40B4-BE49-F238E27FC236}">
                <a16:creationId xmlns:a16="http://schemas.microsoft.com/office/drawing/2014/main" id="{9FFF5C4E-CE12-4785-A6B4-523B740F7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619250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第 8 课</a:t>
            </a:r>
          </a:p>
        </p:txBody>
      </p:sp>
      <p:sp>
        <p:nvSpPr>
          <p:cNvPr id="11" name="b8-bg">
            <a:extLst xmlns:a="http://schemas.openxmlformats.org/drawingml/2006/main">
              <a:ext uri="{FF2B5EF4-FFF2-40B4-BE49-F238E27FC236}">
                <a16:creationId xmlns:a16="http://schemas.microsoft.com/office/drawing/2014/main" id="{502DD20E-FC57-477E-AA8D-AF95207A2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095500"/>
            <a:ext cx="2857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2" name="b8">
            <a:extLst xmlns:a="http://schemas.openxmlformats.org/drawingml/2006/main">
              <a:ext uri="{FF2B5EF4-FFF2-40B4-BE49-F238E27FC236}">
                <a16:creationId xmlns:a16="http://schemas.microsoft.com/office/drawing/2014/main" id="{A6651363-6040-406F-B8EF-CE6402B72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2190750"/>
            <a:ext cx="25527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同伴质询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修正边界</a:t>
            </a:r>
          </a:p>
        </p:txBody>
      </p:sp>
      <p:sp>
        <p:nvSpPr>
          <p:cNvPr id="13" name="a89">
            <a:extLst xmlns:a="http://schemas.openxmlformats.org/drawingml/2006/main">
              <a:ext uri="{FF2B5EF4-FFF2-40B4-BE49-F238E27FC236}">
                <a16:creationId xmlns:a16="http://schemas.microsoft.com/office/drawing/2014/main" id="{249E8D92-604C-4EA8-AE5D-B807A68A0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571750"/>
            <a:ext cx="571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4" name="l9">
            <a:extLst xmlns:a="http://schemas.openxmlformats.org/drawingml/2006/main">
              <a:ext uri="{FF2B5EF4-FFF2-40B4-BE49-F238E27FC236}">
                <a16:creationId xmlns:a16="http://schemas.microsoft.com/office/drawing/2014/main" id="{69CE2A16-3452-4C0E-9EC7-5E8473ACC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619250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第 9 课</a:t>
            </a:r>
          </a:p>
        </p:txBody>
      </p:sp>
      <p:sp>
        <p:nvSpPr>
          <p:cNvPr id="15" name="b9-bg">
            <a:extLst xmlns:a="http://schemas.openxmlformats.org/drawingml/2006/main">
              <a:ext uri="{FF2B5EF4-FFF2-40B4-BE49-F238E27FC236}">
                <a16:creationId xmlns:a16="http://schemas.microsoft.com/office/drawing/2014/main" id="{B1B3652D-0914-41CA-B69E-941E1553B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095500"/>
            <a:ext cx="2857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6" name="b9">
            <a:extLst xmlns:a="http://schemas.openxmlformats.org/drawingml/2006/main">
              <a:ext uri="{FF2B5EF4-FFF2-40B4-BE49-F238E27FC236}">
                <a16:creationId xmlns:a16="http://schemas.microsoft.com/office/drawing/2014/main" id="{5930802B-9C4C-4151-B252-11DA580CE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190750"/>
            <a:ext cx="25527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公平 baseline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完整工程规格</a:t>
            </a:r>
          </a:p>
        </p:txBody>
      </p:sp>
      <p:sp>
        <p:nvSpPr>
          <p:cNvPr id="17" name="boundary">
            <a:extLst xmlns:a="http://schemas.openxmlformats.org/drawingml/2006/main">
              <a:ext uri="{FF2B5EF4-FFF2-40B4-BE49-F238E27FC236}">
                <a16:creationId xmlns:a16="http://schemas.microsoft.com/office/drawing/2014/main" id="{70E07AF4-1305-471A-A067-2022B6CF6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4476750"/>
            <a:ext cx="8667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本课不要求填满工程字段，也不把删减内容转成课后必做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AI 候选在核验前只能留在探索线索区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7BEEEC-A170-5376-2B6E-CB54687B0CB1}" type="slidenum">
              <a:t>10</a:t>
            </a:fld>
            <a:endParaRPr/>
          </a:p>
        </p:txBody>
      </p:sp>
      <p:sp>
        <p:nvSpPr>
          <p:cNvPr id="6" name="candidate-bg">
            <a:extLst xmlns:a="http://schemas.openxmlformats.org/drawingml/2006/main">
              <a:ext uri="{FF2B5EF4-FFF2-40B4-BE49-F238E27FC236}">
                <a16:creationId xmlns:a16="http://schemas.microsoft.com/office/drawing/2014/main" id="{2C84929E-2ED3-410F-9A7A-16899EACC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33625"/>
            <a:ext cx="18097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7" name="candidate">
            <a:extLst xmlns:a="http://schemas.openxmlformats.org/drawingml/2006/main">
              <a:ext uri="{FF2B5EF4-FFF2-40B4-BE49-F238E27FC236}">
                <a16:creationId xmlns:a16="http://schemas.microsoft.com/office/drawing/2014/main" id="{93359EC3-BE83-40D3-A665-32BA72A79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28875"/>
            <a:ext cx="15049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AI 候选</a:t>
            </a:r>
          </a:p>
        </p:txBody>
      </p:sp>
      <p:sp>
        <p:nvSpPr>
          <p:cNvPr id="8" name="a1">
            <a:extLst xmlns:a="http://schemas.openxmlformats.org/drawingml/2006/main">
              <a:ext uri="{FF2B5EF4-FFF2-40B4-BE49-F238E27FC236}">
                <a16:creationId xmlns:a16="http://schemas.microsoft.com/office/drawing/2014/main" id="{0F8C8214-0915-44BE-95F3-9BCC4216F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590800"/>
            <a:ext cx="457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9" name="ck0">
            <a:extLst xmlns:a="http://schemas.openxmlformats.org/drawingml/2006/main">
              <a:ext uri="{FF2B5EF4-FFF2-40B4-BE49-F238E27FC236}">
                <a16:creationId xmlns:a16="http://schemas.microsoft.com/office/drawing/2014/main" id="{B8B60044-A1ED-400D-B5C6-B82595099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1428750"/>
            <a:ext cx="2095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○ 中间过程</a:t>
            </a:r>
          </a:p>
        </p:txBody>
      </p:sp>
      <p:sp>
        <p:nvSpPr>
          <p:cNvPr id="10" name="ck1">
            <a:extLst xmlns:a="http://schemas.openxmlformats.org/drawingml/2006/main">
              <a:ext uri="{FF2B5EF4-FFF2-40B4-BE49-F238E27FC236}">
                <a16:creationId xmlns:a16="http://schemas.microsoft.com/office/drawing/2014/main" id="{B9B13835-98BC-4E1E-8AF3-901BCC106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1428750"/>
            <a:ext cx="2095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○ 可证伪</a:t>
            </a:r>
          </a:p>
        </p:txBody>
      </p:sp>
      <p:sp>
        <p:nvSpPr>
          <p:cNvPr id="11" name="ck2">
            <a:extLst xmlns:a="http://schemas.openxmlformats.org/drawingml/2006/main">
              <a:ext uri="{FF2B5EF4-FFF2-40B4-BE49-F238E27FC236}">
                <a16:creationId xmlns:a16="http://schemas.microsoft.com/office/drawing/2014/main" id="{9A2F7CD9-0595-4763-8A94-D991C0939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305050"/>
            <a:ext cx="2095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○ 可区分</a:t>
            </a:r>
          </a:p>
        </p:txBody>
      </p:sp>
      <p:sp>
        <p:nvSpPr>
          <p:cNvPr id="12" name="ck3">
            <a:extLst xmlns:a="http://schemas.openxmlformats.org/drawingml/2006/main">
              <a:ext uri="{FF2B5EF4-FFF2-40B4-BE49-F238E27FC236}">
                <a16:creationId xmlns:a16="http://schemas.microsoft.com/office/drawing/2014/main" id="{6303C4D8-4B79-43F0-9C7F-F08755076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2305050"/>
            <a:ext cx="2095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○ 来源可核</a:t>
            </a:r>
          </a:p>
        </p:txBody>
      </p:sp>
      <p:sp>
        <p:nvSpPr>
          <p:cNvPr id="13" name="ck4">
            <a:extLst xmlns:a="http://schemas.openxmlformats.org/drawingml/2006/main">
              <a:ext uri="{FF2B5EF4-FFF2-40B4-BE49-F238E27FC236}">
                <a16:creationId xmlns:a16="http://schemas.microsoft.com/office/drawing/2014/main" id="{868E8918-B9AA-42F6-B918-A0B76E077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181350"/>
            <a:ext cx="2095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○ baseline 公平</a:t>
            </a:r>
          </a:p>
        </p:txBody>
      </p:sp>
      <p:sp>
        <p:nvSpPr>
          <p:cNvPr id="14" name="ck5">
            <a:extLst xmlns:a="http://schemas.openxmlformats.org/drawingml/2006/main">
              <a:ext uri="{FF2B5EF4-FFF2-40B4-BE49-F238E27FC236}">
                <a16:creationId xmlns:a16="http://schemas.microsoft.com/office/drawing/2014/main" id="{6D638B9F-2ACD-412C-98C2-393110AE9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3181350"/>
            <a:ext cx="2095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○ 停止规则</a:t>
            </a:r>
          </a:p>
        </p:txBody>
      </p:sp>
      <p:sp>
        <p:nvSpPr>
          <p:cNvPr id="15" name="a2">
            <a:extLst xmlns:a="http://schemas.openxmlformats.org/drawingml/2006/main">
              <a:ext uri="{FF2B5EF4-FFF2-40B4-BE49-F238E27FC236}">
                <a16:creationId xmlns:a16="http://schemas.microsoft.com/office/drawing/2014/main" id="{18D9D838-CDFA-43CD-8E52-F36496C80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590800"/>
            <a:ext cx="457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6" name="keep-bg">
            <a:extLst xmlns:a="http://schemas.openxmlformats.org/drawingml/2006/main">
              <a:ext uri="{FF2B5EF4-FFF2-40B4-BE49-F238E27FC236}">
                <a16:creationId xmlns:a16="http://schemas.microsoft.com/office/drawing/2014/main" id="{25B72867-C053-4AAA-9D24-CB70833A8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695450"/>
            <a:ext cx="2667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5F0"/>
          </a:solidFill>
          <a:ln xmlns:a="http://schemas.openxmlformats.org/drawingml/2006/main" w="0">
            <a:noFill/>
          </a:ln>
        </p:spPr>
      </p:sp>
      <p:sp>
        <p:nvSpPr>
          <p:cNvPr id="17" name="keep">
            <a:extLst xmlns:a="http://schemas.openxmlformats.org/drawingml/2006/main">
              <a:ext uri="{FF2B5EF4-FFF2-40B4-BE49-F238E27FC236}">
                <a16:creationId xmlns:a16="http://schemas.microsoft.com/office/drawing/2014/main" id="{63A0C189-AF1B-48AD-B404-5216B20F9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6775" y="1790700"/>
            <a:ext cx="2362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3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进入主格</a:t>
            </a:r>
          </a:p>
        </p:txBody>
      </p:sp>
      <p:sp>
        <p:nvSpPr>
          <p:cNvPr id="18" name="hold-bg">
            <a:extLst xmlns:a="http://schemas.openxmlformats.org/drawingml/2006/main">
              <a:ext uri="{FF2B5EF4-FFF2-40B4-BE49-F238E27FC236}">
                <a16:creationId xmlns:a16="http://schemas.microsoft.com/office/drawing/2014/main" id="{ADF1A30F-B5C1-46E1-91D3-63D95E330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162300"/>
            <a:ext cx="2667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0">
            <a:noFill/>
          </a:ln>
        </p:spPr>
      </p:sp>
      <p:sp>
        <p:nvSpPr>
          <p:cNvPr id="19" name="hold">
            <a:extLst xmlns:a="http://schemas.openxmlformats.org/drawingml/2006/main">
              <a:ext uri="{FF2B5EF4-FFF2-40B4-BE49-F238E27FC236}">
                <a16:creationId xmlns:a16="http://schemas.microsoft.com/office/drawing/2014/main" id="{42F0756B-656A-49E0-8829-C3EE95C23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6775" y="3257550"/>
            <a:ext cx="2362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300" b="1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1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探索线索区</a:t>
            </a:r>
          </a:p>
        </p:txBody>
      </p:sp>
      <p:sp>
        <p:nvSpPr>
          <p:cNvPr id="20" name="owner">
            <a:extLst xmlns:a="http://schemas.openxmlformats.org/drawingml/2006/main">
              <a:ext uri="{FF2B5EF4-FFF2-40B4-BE49-F238E27FC236}">
                <a16:creationId xmlns:a16="http://schemas.microsoft.com/office/drawing/2014/main" id="{1BB52A93-ADA2-4900-8238-FF17F0746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95300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最终机制判断由学生负责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演示上半程：从问题门输出到可区分的反证点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0394428-F1DC-E5F6-DB0C-7DE31F3D8A23}" type="slidenum">
              <a:t>11</a:t>
            </a:fld>
            <a:endParaRPr/>
          </a:p>
        </p:txBody>
      </p:sp>
      <p:sp>
        <p:nvSpPr>
          <p:cNvPr id="6" name="fiction">
            <a:extLst xmlns:a="http://schemas.openxmlformats.org/drawingml/2006/main">
              <a:ext uri="{FF2B5EF4-FFF2-40B4-BE49-F238E27FC236}">
                <a16:creationId xmlns:a16="http://schemas.microsoft.com/office/drawing/2014/main" id="{6961FA35-EF9E-4017-AC6F-4F1D08750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85825"/>
            <a:ext cx="105727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虚构教学样例｜非真实实验结果</a:t>
            </a:r>
          </a:p>
        </p:txBody>
      </p:sp>
      <p:sp>
        <p:nvSpPr>
          <p:cNvPr id="7" name="platt">
            <a:extLst xmlns:a="http://schemas.openxmlformats.org/drawingml/2006/main">
              <a:ext uri="{FF2B5EF4-FFF2-40B4-BE49-F238E27FC236}">
                <a16:creationId xmlns:a16="http://schemas.microsoft.com/office/drawing/2014/main" id="{A5DD71FB-1AB9-4B13-A1AC-8C54AE888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Platt 1964：多重假设  →  关键实验  →  排除  →  循环</a:t>
            </a:r>
          </a:p>
        </p:txBody>
      </p:sp>
      <p:sp>
        <p:nvSpPr>
          <p:cNvPr id="8" name="demo-0-bg">
            <a:extLst xmlns:a="http://schemas.openxmlformats.org/drawingml/2006/main">
              <a:ext uri="{FF2B5EF4-FFF2-40B4-BE49-F238E27FC236}">
                <a16:creationId xmlns:a16="http://schemas.microsoft.com/office/drawing/2014/main" id="{D7492A54-13F7-4298-8013-34E5A6A7D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9800"/>
            <a:ext cx="2486025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5F0"/>
          </a:solidFill>
          <a:ln xmlns:a="http://schemas.openxmlformats.org/drawingml/2006/main" w="0">
            <a:noFill/>
          </a:ln>
        </p:spPr>
      </p:sp>
      <p:sp>
        <p:nvSpPr>
          <p:cNvPr id="9" name="demo-0">
            <a:extLst xmlns:a="http://schemas.openxmlformats.org/drawingml/2006/main">
              <a:ext uri="{FF2B5EF4-FFF2-40B4-BE49-F238E27FC236}">
                <a16:creationId xmlns:a16="http://schemas.microsoft.com/office/drawing/2014/main" id="{63B11175-5D9D-4945-877A-CA48C7041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05050"/>
            <a:ext cx="21812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问题门输出</a:t>
            </a:r>
          </a:p>
        </p:txBody>
      </p:sp>
      <p:sp>
        <p:nvSpPr>
          <p:cNvPr id="10" name="demo-a0">
            <a:extLst xmlns:a="http://schemas.openxmlformats.org/drawingml/2006/main">
              <a:ext uri="{FF2B5EF4-FFF2-40B4-BE49-F238E27FC236}">
                <a16:creationId xmlns:a16="http://schemas.microsoft.com/office/drawing/2014/main" id="{D5821B58-EA13-4819-B4CA-85BC431E1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2505075"/>
            <a:ext cx="304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1" name="demo-1-bg">
            <a:extLst xmlns:a="http://schemas.openxmlformats.org/drawingml/2006/main">
              <a:ext uri="{FF2B5EF4-FFF2-40B4-BE49-F238E27FC236}">
                <a16:creationId xmlns:a16="http://schemas.microsoft.com/office/drawing/2014/main" id="{D12D3C23-8B0B-4D17-A50A-97AD080B9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2209800"/>
            <a:ext cx="2486025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2" name="demo-1">
            <a:extLst xmlns:a="http://schemas.openxmlformats.org/drawingml/2006/main">
              <a:ext uri="{FF2B5EF4-FFF2-40B4-BE49-F238E27FC236}">
                <a16:creationId xmlns:a16="http://schemas.microsoft.com/office/drawing/2014/main" id="{56160370-6618-474E-BCB7-7A19F57E2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2305050"/>
            <a:ext cx="21812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H1 字段约束</a:t>
            </a:r>
          </a:p>
        </p:txBody>
      </p:sp>
      <p:sp>
        <p:nvSpPr>
          <p:cNvPr id="13" name="demo-a1">
            <a:extLst xmlns:a="http://schemas.openxmlformats.org/drawingml/2006/main">
              <a:ext uri="{FF2B5EF4-FFF2-40B4-BE49-F238E27FC236}">
                <a16:creationId xmlns:a16="http://schemas.microsoft.com/office/drawing/2014/main" id="{2DCCA481-5BFE-4D01-8607-0DF2F947A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505075"/>
            <a:ext cx="304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4" name="demo-2-bg">
            <a:extLst xmlns:a="http://schemas.openxmlformats.org/drawingml/2006/main">
              <a:ext uri="{FF2B5EF4-FFF2-40B4-BE49-F238E27FC236}">
                <a16:creationId xmlns:a16="http://schemas.microsoft.com/office/drawing/2014/main" id="{2BD5EE90-2586-41AE-B0D0-8E4006B17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09800"/>
            <a:ext cx="2486025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5" name="demo-2">
            <a:extLst xmlns:a="http://schemas.openxmlformats.org/drawingml/2006/main">
              <a:ext uri="{FF2B5EF4-FFF2-40B4-BE49-F238E27FC236}">
                <a16:creationId xmlns:a16="http://schemas.microsoft.com/office/drawing/2014/main" id="{364932DB-F466-4AD8-8959-B99A33E2A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305050"/>
            <a:ext cx="21812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A1 任务转移</a:t>
            </a:r>
          </a:p>
        </p:txBody>
      </p:sp>
      <p:sp>
        <p:nvSpPr>
          <p:cNvPr id="16" name="demo-a2">
            <a:extLst xmlns:a="http://schemas.openxmlformats.org/drawingml/2006/main">
              <a:ext uri="{FF2B5EF4-FFF2-40B4-BE49-F238E27FC236}">
                <a16:creationId xmlns:a16="http://schemas.microsoft.com/office/drawing/2014/main" id="{21800CCE-D34C-4463-9048-06DBE36B3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7275" y="2505075"/>
            <a:ext cx="304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7" name="demo-3-bg">
            <a:extLst xmlns:a="http://schemas.openxmlformats.org/drawingml/2006/main">
              <a:ext uri="{FF2B5EF4-FFF2-40B4-BE49-F238E27FC236}">
                <a16:creationId xmlns:a16="http://schemas.microsoft.com/office/drawing/2014/main" id="{E8299EA1-1ABF-4EDA-B36E-C788F8C71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2209800"/>
            <a:ext cx="2486025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8" name="demo-3">
            <a:extLst xmlns:a="http://schemas.openxmlformats.org/drawingml/2006/main">
              <a:ext uri="{FF2B5EF4-FFF2-40B4-BE49-F238E27FC236}">
                <a16:creationId xmlns:a16="http://schemas.microsoft.com/office/drawing/2014/main" id="{DE2ABC57-86E8-439D-AEB2-82E77CCB6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475" y="2305050"/>
            <a:ext cx="21812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分别写反证点</a:t>
            </a:r>
          </a:p>
        </p:txBody>
      </p:sp>
      <p:sp>
        <p:nvSpPr>
          <p:cNvPr id="19" name="branch">
            <a:extLst xmlns:a="http://schemas.openxmlformats.org/drawingml/2006/main">
              <a:ext uri="{FF2B5EF4-FFF2-40B4-BE49-F238E27FC236}">
                <a16:creationId xmlns:a16="http://schemas.microsoft.com/office/drawing/2014/main" id="{BF10945E-F451-4085-B3E5-63BA2B385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286250"/>
            <a:ext cx="781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H1 与 A1 必须预测不同观察，实验才具有区分力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演示下半程：判断、映射与 AI 候选核验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DB16885-0D3F-A391-B669-3211DB3B26E8}" type="slidenum">
              <a:t>12</a:t>
            </a:fld>
            <a:endParaRPr/>
          </a:p>
        </p:txBody>
      </p:sp>
      <p:sp>
        <p:nvSpPr>
          <p:cNvPr id="6" name="fiction">
            <a:extLst xmlns:a="http://schemas.openxmlformats.org/drawingml/2006/main">
              <a:ext uri="{FF2B5EF4-FFF2-40B4-BE49-F238E27FC236}">
                <a16:creationId xmlns:a16="http://schemas.microsoft.com/office/drawing/2014/main" id="{8EA40ECC-E014-4581-93F8-CAFC14896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85825"/>
            <a:ext cx="105727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虚构教学样例｜非真实实验结果</a:t>
            </a:r>
          </a:p>
        </p:txBody>
      </p:sp>
      <p:sp>
        <p:nvSpPr>
          <p:cNvPr id="7" name="demo2-0-bg">
            <a:extLst xmlns:a="http://schemas.openxmlformats.org/drawingml/2006/main">
              <a:ext uri="{FF2B5EF4-FFF2-40B4-BE49-F238E27FC236}">
                <a16:creationId xmlns:a16="http://schemas.microsoft.com/office/drawing/2014/main" id="{45E260E4-9054-4513-B1D4-951F4AC99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2486025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5F0"/>
          </a:solidFill>
          <a:ln xmlns:a="http://schemas.openxmlformats.org/drawingml/2006/main" w="0">
            <a:noFill/>
          </a:ln>
        </p:spPr>
      </p:sp>
      <p:sp>
        <p:nvSpPr>
          <p:cNvPr id="8" name="demo2-0">
            <a:extLst xmlns:a="http://schemas.openxmlformats.org/drawingml/2006/main">
              <a:ext uri="{FF2B5EF4-FFF2-40B4-BE49-F238E27FC236}">
                <a16:creationId xmlns:a16="http://schemas.microsoft.com/office/drawing/2014/main" id="{B0B4813B-BB36-4F3D-848B-7E761A862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05000"/>
            <a:ext cx="21812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六字段判断</a:t>
            </a:r>
          </a:p>
        </p:txBody>
      </p:sp>
      <p:sp>
        <p:nvSpPr>
          <p:cNvPr id="9" name="demo2-a0">
            <a:extLst xmlns:a="http://schemas.openxmlformats.org/drawingml/2006/main">
              <a:ext uri="{FF2B5EF4-FFF2-40B4-BE49-F238E27FC236}">
                <a16:creationId xmlns:a16="http://schemas.microsoft.com/office/drawing/2014/main" id="{129EC2B4-2F1A-4C22-956A-639696576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2105025"/>
            <a:ext cx="304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0" name="demo2-1-bg">
            <a:extLst xmlns:a="http://schemas.openxmlformats.org/drawingml/2006/main">
              <a:ext uri="{FF2B5EF4-FFF2-40B4-BE49-F238E27FC236}">
                <a16:creationId xmlns:a16="http://schemas.microsoft.com/office/drawing/2014/main" id="{D97C890D-3AE4-49F9-9A74-FC3C37619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1809750"/>
            <a:ext cx="2486025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1" name="demo2-1">
            <a:extLst xmlns:a="http://schemas.openxmlformats.org/drawingml/2006/main">
              <a:ext uri="{FF2B5EF4-FFF2-40B4-BE49-F238E27FC236}">
                <a16:creationId xmlns:a16="http://schemas.microsoft.com/office/drawing/2014/main" id="{8F276FF7-746E-476E-8F52-DC5645710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1905000"/>
            <a:ext cx="21812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三态映射</a:t>
            </a:r>
          </a:p>
        </p:txBody>
      </p:sp>
      <p:sp>
        <p:nvSpPr>
          <p:cNvPr id="12" name="demo2-a1">
            <a:extLst xmlns:a="http://schemas.openxmlformats.org/drawingml/2006/main">
              <a:ext uri="{FF2B5EF4-FFF2-40B4-BE49-F238E27FC236}">
                <a16:creationId xmlns:a16="http://schemas.microsoft.com/office/drawing/2014/main" id="{CEA4D203-7114-4112-BB4A-F670008CC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105025"/>
            <a:ext cx="304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3" name="demo2-2-bg">
            <a:extLst xmlns:a="http://schemas.openxmlformats.org/drawingml/2006/main">
              <a:ext uri="{FF2B5EF4-FFF2-40B4-BE49-F238E27FC236}">
                <a16:creationId xmlns:a16="http://schemas.microsoft.com/office/drawing/2014/main" id="{492D35EE-751F-40C5-88EA-A486B6FC7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809750"/>
            <a:ext cx="2486025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4" name="demo2-2">
            <a:extLst xmlns:a="http://schemas.openxmlformats.org/drawingml/2006/main">
              <a:ext uri="{FF2B5EF4-FFF2-40B4-BE49-F238E27FC236}">
                <a16:creationId xmlns:a16="http://schemas.microsoft.com/office/drawing/2014/main" id="{94FEF1AE-29FF-4367-88BC-98E3CC451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905000"/>
            <a:ext cx="21812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核验 AI 候选</a:t>
            </a:r>
          </a:p>
        </p:txBody>
      </p:sp>
      <p:sp>
        <p:nvSpPr>
          <p:cNvPr id="15" name="demo2-a2">
            <a:extLst xmlns:a="http://schemas.openxmlformats.org/drawingml/2006/main">
              <a:ext uri="{FF2B5EF4-FFF2-40B4-BE49-F238E27FC236}">
                <a16:creationId xmlns:a16="http://schemas.microsoft.com/office/drawing/2014/main" id="{14BB844C-77F1-4BC7-AC65-6B9C5D97F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7275" y="2105025"/>
            <a:ext cx="304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6" name="demo2-3-bg">
            <a:extLst xmlns:a="http://schemas.openxmlformats.org/drawingml/2006/main">
              <a:ext uri="{FF2B5EF4-FFF2-40B4-BE49-F238E27FC236}">
                <a16:creationId xmlns:a16="http://schemas.microsoft.com/office/drawing/2014/main" id="{4EFC5F35-3A92-4F9B-A47A-6FB50DC57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1809750"/>
            <a:ext cx="2486025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7" name="demo2-3">
            <a:extLst xmlns:a="http://schemas.openxmlformats.org/drawingml/2006/main">
              <a:ext uri="{FF2B5EF4-FFF2-40B4-BE49-F238E27FC236}">
                <a16:creationId xmlns:a16="http://schemas.microsoft.com/office/drawing/2014/main" id="{72DB65DC-288D-4D4D-A512-B2F8F45FA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475" y="1905000"/>
            <a:ext cx="21812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记录 AI 使用</a:t>
            </a:r>
          </a:p>
        </p:txBody>
      </p:sp>
      <p:sp>
        <p:nvSpPr>
          <p:cNvPr id="18" name="c1">
            <a:extLst xmlns:a="http://schemas.openxmlformats.org/drawingml/2006/main">
              <a:ext uri="{FF2B5EF4-FFF2-40B4-BE49-F238E27FC236}">
                <a16:creationId xmlns:a16="http://schemas.microsoft.com/office/drawing/2014/main" id="{ECBE2062-7D5B-4CCC-995E-6DBE8A6FB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71875"/>
            <a:ext cx="3238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淘汰：只改写结果预测</a:t>
            </a:r>
          </a:p>
        </p:txBody>
      </p:sp>
      <p:sp>
        <p:nvSpPr>
          <p:cNvPr id="19" name="c2">
            <a:extLst xmlns:a="http://schemas.openxmlformats.org/drawingml/2006/main">
              <a:ext uri="{FF2B5EF4-FFF2-40B4-BE49-F238E27FC236}">
                <a16:creationId xmlns:a16="http://schemas.microsoft.com/office/drawing/2014/main" id="{0806D327-AACD-4ACF-925F-6D012690F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571875"/>
            <a:ext cx="3238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淘汰：不存在的引文</a:t>
            </a:r>
          </a:p>
        </p:txBody>
      </p:sp>
      <p:sp>
        <p:nvSpPr>
          <p:cNvPr id="20" name="c3">
            <a:extLst xmlns:a="http://schemas.openxmlformats.org/drawingml/2006/main">
              <a:ext uri="{FF2B5EF4-FFF2-40B4-BE49-F238E27FC236}">
                <a16:creationId xmlns:a16="http://schemas.microsoft.com/office/drawing/2014/main" id="{C43E2DBC-AB1A-4D49-8502-EFFF4F754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571875"/>
            <a:ext cx="323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保留：有中间过程且可证伪</a:t>
            </a:r>
          </a:p>
        </p:txBody>
      </p:sp>
      <p:sp>
        <p:nvSpPr>
          <p:cNvPr id="21" name="boundary">
            <a:extLst xmlns:a="http://schemas.openxmlformats.org/drawingml/2006/main">
              <a:ext uri="{FF2B5EF4-FFF2-40B4-BE49-F238E27FC236}">
                <a16:creationId xmlns:a16="http://schemas.microsoft.com/office/drawing/2014/main" id="{DCDE7EBF-7B05-4167-AB5B-603520272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762500"/>
            <a:ext cx="552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AI 候选在核验前仍属于探索线索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十类常见错误都指向同一个问题：实验不能改判断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DD23107-4986-8758-3A93-3D74F35908CC}" type="slidenum">
              <a:t>13</a:t>
            </a:fld>
            <a:endParaRPr/>
          </a:p>
        </p:txBody>
      </p:sp>
      <p:sp>
        <p:nvSpPr>
          <p:cNvPr id="6" name="e1-bg">
            <a:extLst xmlns:a="http://schemas.openxmlformats.org/drawingml/2006/main">
              <a:ext uri="{FF2B5EF4-FFF2-40B4-BE49-F238E27FC236}">
                <a16:creationId xmlns:a16="http://schemas.microsoft.com/office/drawing/2014/main" id="{1E375AFA-8583-4FAF-B785-576D0BC39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30480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7" name="e1">
            <a:extLst xmlns:a="http://schemas.openxmlformats.org/drawingml/2006/main">
              <a:ext uri="{FF2B5EF4-FFF2-40B4-BE49-F238E27FC236}">
                <a16:creationId xmlns:a16="http://schemas.microsoft.com/office/drawing/2014/main" id="{7B1E721C-8F26-4821-B7A2-CCC714301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27432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机制错误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结果预测冒充机制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黑箱归因／无反证点</a:t>
            </a:r>
          </a:p>
        </p:txBody>
      </p:sp>
      <p:sp>
        <p:nvSpPr>
          <p:cNvPr id="8" name="e2-bg">
            <a:extLst xmlns:a="http://schemas.openxmlformats.org/drawingml/2006/main">
              <a:ext uri="{FF2B5EF4-FFF2-40B4-BE49-F238E27FC236}">
                <a16:creationId xmlns:a16="http://schemas.microsoft.com/office/drawing/2014/main" id="{B5F734EE-701F-4ED1-8DC4-F872A995F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619250"/>
            <a:ext cx="30480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9" name="e2">
            <a:extLst xmlns:a="http://schemas.openxmlformats.org/drawingml/2006/main">
              <a:ext uri="{FF2B5EF4-FFF2-40B4-BE49-F238E27FC236}">
                <a16:creationId xmlns:a16="http://schemas.microsoft.com/office/drawing/2014/main" id="{CCBD79E1-4F43-46AF-B373-8FE175E54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1714500"/>
            <a:ext cx="27432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实验错误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替代不可区分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baseline 不公平／无停止条件</a:t>
            </a:r>
          </a:p>
        </p:txBody>
      </p:sp>
      <p:sp>
        <p:nvSpPr>
          <p:cNvPr id="10" name="e3-bg">
            <a:extLst xmlns:a="http://schemas.openxmlformats.org/drawingml/2006/main">
              <a:ext uri="{FF2B5EF4-FFF2-40B4-BE49-F238E27FC236}">
                <a16:creationId xmlns:a16="http://schemas.microsoft.com/office/drawing/2014/main" id="{81F43DCB-F500-45F8-B453-9C53B74F2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619250"/>
            <a:ext cx="30480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1" name="e3">
            <a:extLst xmlns:a="http://schemas.openxmlformats.org/drawingml/2006/main">
              <a:ext uri="{FF2B5EF4-FFF2-40B4-BE49-F238E27FC236}">
                <a16:creationId xmlns:a16="http://schemas.microsoft.com/office/drawing/2014/main" id="{3E315BD6-08AF-4F26-AA2F-63DA4F9F5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714500"/>
            <a:ext cx="27432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记录错误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事后改判断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AI 候选直接进主格</a:t>
            </a:r>
          </a:p>
        </p:txBody>
      </p:sp>
      <p:sp>
        <p:nvSpPr>
          <p:cNvPr id="12" name="ee1">
            <a:extLst xmlns:a="http://schemas.openxmlformats.org/drawingml/2006/main">
              <a:ext uri="{FF2B5EF4-FFF2-40B4-BE49-F238E27FC236}">
                <a16:creationId xmlns:a16="http://schemas.microsoft.com/office/drawing/2014/main" id="{95805246-16CD-46B6-A8A9-A0FFF3D76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381250"/>
            <a:ext cx="66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3" name="ee2">
            <a:extLst xmlns:a="http://schemas.openxmlformats.org/drawingml/2006/main">
              <a:ext uri="{FF2B5EF4-FFF2-40B4-BE49-F238E27FC236}">
                <a16:creationId xmlns:a16="http://schemas.microsoft.com/office/drawing/2014/main" id="{4432E0B1-64D8-44FD-A480-603E24231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381250"/>
            <a:ext cx="552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4" name="failure">
            <a:extLst xmlns:a="http://schemas.openxmlformats.org/drawingml/2006/main">
              <a:ext uri="{FF2B5EF4-FFF2-40B4-BE49-F238E27FC236}">
                <a16:creationId xmlns:a16="http://schemas.microsoft.com/office/drawing/2014/main" id="{998EC32F-7979-47D1-B386-1C841216D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572000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6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6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共同后果：实验结果不能改变研究判断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个人实践：完成机制—判断—映射最小闭环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27921A4-25C4-3DB4-06B1-32693CEE2241}" type="slidenum">
              <a:t>14</a:t>
            </a:fld>
            <a:endParaRPr/>
          </a:p>
        </p:txBody>
      </p:sp>
      <p:sp>
        <p:nvSpPr>
          <p:cNvPr id="6" name="practice-0-bg">
            <a:extLst xmlns:a="http://schemas.openxmlformats.org/drawingml/2006/main">
              <a:ext uri="{FF2B5EF4-FFF2-40B4-BE49-F238E27FC236}">
                <a16:creationId xmlns:a16="http://schemas.microsoft.com/office/drawing/2014/main" id="{7ADF74E8-166D-4A42-895F-21D14D0F7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66875"/>
            <a:ext cx="248602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5F0"/>
          </a:solidFill>
          <a:ln xmlns:a="http://schemas.openxmlformats.org/drawingml/2006/main" w="0">
            <a:noFill/>
          </a:ln>
        </p:spPr>
      </p:sp>
      <p:sp>
        <p:nvSpPr>
          <p:cNvPr id="7" name="practice-0">
            <a:extLst xmlns:a="http://schemas.openxmlformats.org/drawingml/2006/main">
              <a:ext uri="{FF2B5EF4-FFF2-40B4-BE49-F238E27FC236}">
                <a16:creationId xmlns:a16="http://schemas.microsoft.com/office/drawing/2014/main" id="{54412B5E-64FE-47B9-91FA-2399065EF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62125"/>
            <a:ext cx="21812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写主机制</a:t>
            </a:r>
          </a:p>
        </p:txBody>
      </p:sp>
      <p:sp>
        <p:nvSpPr>
          <p:cNvPr id="8" name="practice-a0">
            <a:extLst xmlns:a="http://schemas.openxmlformats.org/drawingml/2006/main">
              <a:ext uri="{FF2B5EF4-FFF2-40B4-BE49-F238E27FC236}">
                <a16:creationId xmlns:a16="http://schemas.microsoft.com/office/drawing/2014/main" id="{D27E6FD1-C6AB-427A-A27A-CA87FC99C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1962150"/>
            <a:ext cx="304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9" name="practice-1-bg">
            <a:extLst xmlns:a="http://schemas.openxmlformats.org/drawingml/2006/main">
              <a:ext uri="{FF2B5EF4-FFF2-40B4-BE49-F238E27FC236}">
                <a16:creationId xmlns:a16="http://schemas.microsoft.com/office/drawing/2014/main" id="{A1F1578B-E6E6-4481-B72E-98D77E31D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1666875"/>
            <a:ext cx="248602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0" name="practice-1">
            <a:extLst xmlns:a="http://schemas.openxmlformats.org/drawingml/2006/main">
              <a:ext uri="{FF2B5EF4-FFF2-40B4-BE49-F238E27FC236}">
                <a16:creationId xmlns:a16="http://schemas.microsoft.com/office/drawing/2014/main" id="{D1AA49A6-AE08-4A0A-B546-4E840678E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1762125"/>
            <a:ext cx="21812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写一个替代</a:t>
            </a:r>
          </a:p>
        </p:txBody>
      </p:sp>
      <p:sp>
        <p:nvSpPr>
          <p:cNvPr id="11" name="practice-a1">
            <a:extLst xmlns:a="http://schemas.openxmlformats.org/drawingml/2006/main">
              <a:ext uri="{FF2B5EF4-FFF2-40B4-BE49-F238E27FC236}">
                <a16:creationId xmlns:a16="http://schemas.microsoft.com/office/drawing/2014/main" id="{BF2036D1-8843-4D34-847F-EFA117DE6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1962150"/>
            <a:ext cx="304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2" name="practice-2-bg">
            <a:extLst xmlns:a="http://schemas.openxmlformats.org/drawingml/2006/main">
              <a:ext uri="{FF2B5EF4-FFF2-40B4-BE49-F238E27FC236}">
                <a16:creationId xmlns:a16="http://schemas.microsoft.com/office/drawing/2014/main" id="{3C1B6DE4-3615-446E-AF11-697046827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66875"/>
            <a:ext cx="248602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3" name="practice-2">
            <a:extLst xmlns:a="http://schemas.openxmlformats.org/drawingml/2006/main">
              <a:ext uri="{FF2B5EF4-FFF2-40B4-BE49-F238E27FC236}">
                <a16:creationId xmlns:a16="http://schemas.microsoft.com/office/drawing/2014/main" id="{C42F7289-7C5D-4919-BDC9-C435B03C6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762125"/>
            <a:ext cx="21812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写六字段判断</a:t>
            </a:r>
          </a:p>
        </p:txBody>
      </p:sp>
      <p:sp>
        <p:nvSpPr>
          <p:cNvPr id="14" name="practice-a2">
            <a:extLst xmlns:a="http://schemas.openxmlformats.org/drawingml/2006/main">
              <a:ext uri="{FF2B5EF4-FFF2-40B4-BE49-F238E27FC236}">
                <a16:creationId xmlns:a16="http://schemas.microsoft.com/office/drawing/2014/main" id="{7665297A-091F-427D-9F0C-AEF698815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7275" y="1962150"/>
            <a:ext cx="304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5" name="practice-3-bg">
            <a:extLst xmlns:a="http://schemas.openxmlformats.org/drawingml/2006/main">
              <a:ext uri="{FF2B5EF4-FFF2-40B4-BE49-F238E27FC236}">
                <a16:creationId xmlns:a16="http://schemas.microsoft.com/office/drawing/2014/main" id="{556D16C1-BC34-411A-BF4A-5BB59B2B0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1666875"/>
            <a:ext cx="248602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6" name="practice-3">
            <a:extLst xmlns:a="http://schemas.openxmlformats.org/drawingml/2006/main">
              <a:ext uri="{FF2B5EF4-FFF2-40B4-BE49-F238E27FC236}">
                <a16:creationId xmlns:a16="http://schemas.microsoft.com/office/drawing/2014/main" id="{C6D5EB0D-E5B5-4878-BA44-F1375CE66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475" y="1762125"/>
            <a:ext cx="21812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画三态映射</a:t>
            </a:r>
          </a:p>
        </p:txBody>
      </p:sp>
      <p:sp>
        <p:nvSpPr>
          <p:cNvPr id="17" name="done-bg">
            <a:extLst xmlns:a="http://schemas.openxmlformats.org/drawingml/2006/main">
              <a:ext uri="{FF2B5EF4-FFF2-40B4-BE49-F238E27FC236}">
                <a16:creationId xmlns:a16="http://schemas.microsoft.com/office/drawing/2014/main" id="{033202E3-1856-4524-A280-C0861FC64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429000"/>
            <a:ext cx="9144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5F0"/>
          </a:solidFill>
          <a:ln xmlns:a="http://schemas.openxmlformats.org/drawingml/2006/main" w="0">
            <a:noFill/>
          </a:ln>
        </p:spPr>
      </p:sp>
      <p:sp>
        <p:nvSpPr>
          <p:cNvPr id="18" name="done">
            <a:extLst xmlns:a="http://schemas.openxmlformats.org/drawingml/2006/main">
              <a:ext uri="{FF2B5EF4-FFF2-40B4-BE49-F238E27FC236}">
                <a16:creationId xmlns:a16="http://schemas.microsoft.com/office/drawing/2014/main" id="{2D80ADB3-1767-465A-9995-90340A6AB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524250"/>
            <a:ext cx="88392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3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完成标志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3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四个对象落在个人项目中，可以被同伴逐项检查</a:t>
            </a:r>
          </a:p>
        </p:txBody>
      </p:sp>
      <p:sp>
        <p:nvSpPr>
          <p:cNvPr id="19" name="after">
            <a:extLst xmlns:a="http://schemas.openxmlformats.org/drawingml/2006/main">
              <a:ext uri="{FF2B5EF4-FFF2-40B4-BE49-F238E27FC236}">
                <a16:creationId xmlns:a16="http://schemas.microsoft.com/office/drawing/2014/main" id="{FD65FFFA-F10B-4765-91F0-F9C3B0279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953000"/>
            <a:ext cx="742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课后只补当堂未完成的表达；完整规格留到第 9 课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同伴互查五项：只提问题，不替作者决定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A83FA91-883A-0168-8075-96CEB9DCA3C2}" type="slidenum">
              <a:t>15</a:t>
            </a:fld>
            <a:endParaRPr/>
          </a:p>
        </p:txBody>
      </p:sp>
      <p:sp>
        <p:nvSpPr>
          <p:cNvPr id="6" name="record-bg">
            <a:extLst xmlns:a="http://schemas.openxmlformats.org/drawingml/2006/main">
              <a:ext uri="{FF2B5EF4-FFF2-40B4-BE49-F238E27FC236}">
                <a16:creationId xmlns:a16="http://schemas.microsoft.com/office/drawing/2014/main" id="{257B4558-999B-4F90-B3BB-1FFD19E43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000250"/>
            <a:ext cx="4000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7" name="record">
            <a:extLst xmlns:a="http://schemas.openxmlformats.org/drawingml/2006/main">
              <a:ext uri="{FF2B5EF4-FFF2-40B4-BE49-F238E27FC236}">
                <a16:creationId xmlns:a16="http://schemas.microsoft.com/office/drawing/2014/main" id="{66DFF913-2979-47F1-8290-AC550658B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095500"/>
            <a:ext cx="36957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3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同伴互查记录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3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对象：你的 H1 / 替代 / 判断 / 映射</a:t>
            </a:r>
          </a:p>
        </p:txBody>
      </p:sp>
      <p:sp>
        <p:nvSpPr>
          <p:cNvPr id="8" name="q0">
            <a:extLst xmlns:a="http://schemas.openxmlformats.org/drawingml/2006/main">
              <a:ext uri="{FF2B5EF4-FFF2-40B4-BE49-F238E27FC236}">
                <a16:creationId xmlns:a16="http://schemas.microsoft.com/office/drawing/2014/main" id="{E44AB2F8-DD6F-499A-B9AF-A88F46107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81125"/>
            <a:ext cx="285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重要吗？</a:t>
            </a:r>
          </a:p>
        </p:txBody>
      </p:sp>
      <p:sp>
        <p:nvSpPr>
          <p:cNvPr id="9" name="q1">
            <a:extLst xmlns:a="http://schemas.openxmlformats.org/drawingml/2006/main">
              <a:ext uri="{FF2B5EF4-FFF2-40B4-BE49-F238E27FC236}">
                <a16:creationId xmlns:a16="http://schemas.microsoft.com/office/drawing/2014/main" id="{B5DD3F65-9B20-4CD3-8793-4437CAF70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10000"/>
            <a:ext cx="285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依据够吗？</a:t>
            </a:r>
          </a:p>
        </p:txBody>
      </p:sp>
      <p:sp>
        <p:nvSpPr>
          <p:cNvPr id="10" name="q2">
            <a:extLst xmlns:a="http://schemas.openxmlformats.org/drawingml/2006/main">
              <a:ext uri="{FF2B5EF4-FFF2-40B4-BE49-F238E27FC236}">
                <a16:creationId xmlns:a16="http://schemas.microsoft.com/office/drawing/2014/main" id="{985B9B96-3FFE-47D4-9DF1-8FFF118B8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286250"/>
            <a:ext cx="285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可区分吗？</a:t>
            </a:r>
          </a:p>
        </p:txBody>
      </p:sp>
      <p:sp>
        <p:nvSpPr>
          <p:cNvPr id="11" name="q3">
            <a:extLst xmlns:a="http://schemas.openxmlformats.org/drawingml/2006/main">
              <a:ext uri="{FF2B5EF4-FFF2-40B4-BE49-F238E27FC236}">
                <a16:creationId xmlns:a16="http://schemas.microsoft.com/office/drawing/2014/main" id="{0D2959FE-364F-42BB-813A-D85C28489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0"/>
            <a:ext cx="285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周期可行吗？</a:t>
            </a:r>
          </a:p>
        </p:txBody>
      </p:sp>
      <p:sp>
        <p:nvSpPr>
          <p:cNvPr id="12" name="q4">
            <a:extLst xmlns:a="http://schemas.openxmlformats.org/drawingml/2006/main">
              <a:ext uri="{FF2B5EF4-FFF2-40B4-BE49-F238E27FC236}">
                <a16:creationId xmlns:a16="http://schemas.microsoft.com/office/drawing/2014/main" id="{12FBDB3E-0AA2-4711-9BA6-51835E4DE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381125"/>
            <a:ext cx="285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什么结果会改判断？</a:t>
            </a:r>
          </a:p>
        </p:txBody>
      </p:sp>
      <p:sp>
        <p:nvSpPr>
          <p:cNvPr id="13" name="owner">
            <a:extLst xmlns:a="http://schemas.openxmlformats.org/drawingml/2006/main">
              <a:ext uri="{FF2B5EF4-FFF2-40B4-BE49-F238E27FC236}">
                <a16:creationId xmlns:a16="http://schemas.microsoft.com/office/drawing/2014/main" id="{A2CF406A-AD5E-4E1D-AF4F-BC1559DCD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143500"/>
            <a:ext cx="552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同伴只提问题；作者保留决定权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本讲知识点总结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C9C7607-4BA3-B4DC-A00F-2E67A9FCFF7E}" type="slidenum">
              <a:t>16</a:t>
            </a:fld>
            <a:endParaRPr/>
          </a:p>
        </p:txBody>
      </p:sp>
      <p:sp>
        <p:nvSpPr>
          <p:cNvPr id="6" name="summary-0-bg">
            <a:extLst xmlns:a="http://schemas.openxmlformats.org/drawingml/2006/main">
              <a:ext uri="{FF2B5EF4-FFF2-40B4-BE49-F238E27FC236}">
                <a16:creationId xmlns:a16="http://schemas.microsoft.com/office/drawing/2014/main" id="{CA90A0E2-C322-49FC-A2C0-85C5185DC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248602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5F0"/>
          </a:solidFill>
          <a:ln xmlns:a="http://schemas.openxmlformats.org/drawingml/2006/main" w="0">
            <a:noFill/>
          </a:ln>
        </p:spPr>
      </p:sp>
      <p:sp>
        <p:nvSpPr>
          <p:cNvPr id="7" name="summary-0">
            <a:extLst xmlns:a="http://schemas.openxmlformats.org/drawingml/2006/main">
              <a:ext uri="{FF2B5EF4-FFF2-40B4-BE49-F238E27FC236}">
                <a16:creationId xmlns:a16="http://schemas.microsoft.com/office/drawing/2014/main" id="{7BF74639-98A2-4E2F-AA7C-6F9A89744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21812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主机制与替代</a:t>
            </a:r>
          </a:p>
        </p:txBody>
      </p:sp>
      <p:sp>
        <p:nvSpPr>
          <p:cNvPr id="8" name="summary-a0">
            <a:extLst xmlns:a="http://schemas.openxmlformats.org/drawingml/2006/main">
              <a:ext uri="{FF2B5EF4-FFF2-40B4-BE49-F238E27FC236}">
                <a16:creationId xmlns:a16="http://schemas.microsoft.com/office/drawing/2014/main" id="{622CC003-86D2-4B87-9FE9-010BB44DE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2295525"/>
            <a:ext cx="304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9" name="summary-1-bg">
            <a:extLst xmlns:a="http://schemas.openxmlformats.org/drawingml/2006/main">
              <a:ext uri="{FF2B5EF4-FFF2-40B4-BE49-F238E27FC236}">
                <a16:creationId xmlns:a16="http://schemas.microsoft.com/office/drawing/2014/main" id="{433E5C48-08C3-4B11-BA72-E940CFBF6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2000250"/>
            <a:ext cx="248602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0" name="summary-1">
            <a:extLst xmlns:a="http://schemas.openxmlformats.org/drawingml/2006/main">
              <a:ext uri="{FF2B5EF4-FFF2-40B4-BE49-F238E27FC236}">
                <a16:creationId xmlns:a16="http://schemas.microsoft.com/office/drawing/2014/main" id="{E94A8F66-BBA6-4055-AC8C-C4583E2B8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2095500"/>
            <a:ext cx="21812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可区分实验</a:t>
            </a:r>
          </a:p>
        </p:txBody>
      </p:sp>
      <p:sp>
        <p:nvSpPr>
          <p:cNvPr id="11" name="summary-a1">
            <a:extLst xmlns:a="http://schemas.openxmlformats.org/drawingml/2006/main">
              <a:ext uri="{FF2B5EF4-FFF2-40B4-BE49-F238E27FC236}">
                <a16:creationId xmlns:a16="http://schemas.microsoft.com/office/drawing/2014/main" id="{9C3D3024-6A4C-4314-B910-E2974339E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295525"/>
            <a:ext cx="304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2" name="summary-2-bg">
            <a:extLst xmlns:a="http://schemas.openxmlformats.org/drawingml/2006/main">
              <a:ext uri="{FF2B5EF4-FFF2-40B4-BE49-F238E27FC236}">
                <a16:creationId xmlns:a16="http://schemas.microsoft.com/office/drawing/2014/main" id="{ED16087B-19C7-4B45-B52B-4B1EF58D2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00250"/>
            <a:ext cx="248602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3" name="summary-2">
            <a:extLst xmlns:a="http://schemas.openxmlformats.org/drawingml/2006/main">
              <a:ext uri="{FF2B5EF4-FFF2-40B4-BE49-F238E27FC236}">
                <a16:creationId xmlns:a16="http://schemas.microsoft.com/office/drawing/2014/main" id="{D1A3624D-62F2-45E4-9734-57F6DEF2E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095500"/>
            <a:ext cx="21812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三态结果</a:t>
            </a:r>
          </a:p>
        </p:txBody>
      </p:sp>
      <p:sp>
        <p:nvSpPr>
          <p:cNvPr id="14" name="summary-a2">
            <a:extLst xmlns:a="http://schemas.openxmlformats.org/drawingml/2006/main">
              <a:ext uri="{FF2B5EF4-FFF2-40B4-BE49-F238E27FC236}">
                <a16:creationId xmlns:a16="http://schemas.microsoft.com/office/drawing/2014/main" id="{C504E782-1645-475B-B1DC-7D55322E2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7275" y="2295525"/>
            <a:ext cx="304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5" name="summary-3-bg">
            <a:extLst xmlns:a="http://schemas.openxmlformats.org/drawingml/2006/main">
              <a:ext uri="{FF2B5EF4-FFF2-40B4-BE49-F238E27FC236}">
                <a16:creationId xmlns:a16="http://schemas.microsoft.com/office/drawing/2014/main" id="{981BCAB6-9F73-4286-99E9-A17748DFA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2000250"/>
            <a:ext cx="248602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6" name="summary-3">
            <a:extLst xmlns:a="http://schemas.openxmlformats.org/drawingml/2006/main">
              <a:ext uri="{FF2B5EF4-FFF2-40B4-BE49-F238E27FC236}">
                <a16:creationId xmlns:a16="http://schemas.microsoft.com/office/drawing/2014/main" id="{75A32EAE-456E-4314-B838-6375000C7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475" y="2095500"/>
            <a:ext cx="21812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研究判断记录</a:t>
            </a:r>
          </a:p>
        </p:txBody>
      </p:sp>
      <p:sp>
        <p:nvSpPr>
          <p:cNvPr id="17" name="boundary">
            <a:extLst xmlns:a="http://schemas.openxmlformats.org/drawingml/2006/main">
              <a:ext uri="{FF2B5EF4-FFF2-40B4-BE49-F238E27FC236}">
                <a16:creationId xmlns:a16="http://schemas.microsoft.com/office/drawing/2014/main" id="{AC96E9B9-3FE5-4FE9-B408-31029FDB8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000500"/>
            <a:ext cx="8953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结果不会改变任何判断时，实验还没有完成可区分性设计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退出卡：你的下一步实验真的会改变判断吗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0F7333B-44AC-F7E9-D49D-FE92F45E0477}" type="slidenum">
              <a:t>17</a:t>
            </a:fld>
            <a:endParaRPr/>
          </a:p>
        </p:txBody>
      </p:sp>
      <p:sp>
        <p:nvSpPr>
          <p:cNvPr id="6" name="question">
            <a:extLst xmlns:a="http://schemas.openxmlformats.org/drawingml/2006/main">
              <a:ext uri="{FF2B5EF4-FFF2-40B4-BE49-F238E27FC236}">
                <a16:creationId xmlns:a16="http://schemas.microsoft.com/office/drawing/2014/main" id="{1FEA0366-4312-43FA-9A08-FD2EBDBAB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285875"/>
            <a:ext cx="1047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3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你的下一步实验，真的会改变研究判断吗？</a:t>
            </a:r>
          </a:p>
        </p:txBody>
      </p:sp>
      <p:sp>
        <p:nvSpPr>
          <p:cNvPr id="7" name="exit-n0">
            <a:extLst xmlns:a="http://schemas.openxmlformats.org/drawingml/2006/main">
              <a:ext uri="{FF2B5EF4-FFF2-40B4-BE49-F238E27FC236}">
                <a16:creationId xmlns:a16="http://schemas.microsoft.com/office/drawing/2014/main" id="{66B4D37E-D151-437F-BFD0-E69A689D7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76500"/>
            <a:ext cx="476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exit-t0">
            <a:extLst xmlns:a="http://schemas.openxmlformats.org/drawingml/2006/main">
              <a:ext uri="{FF2B5EF4-FFF2-40B4-BE49-F238E27FC236}">
                <a16:creationId xmlns:a16="http://schemas.microsoft.com/office/drawing/2014/main" id="{AEB3F3E9-CB16-4C28-A41D-4B572C251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2476500"/>
            <a:ext cx="63055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主机制写清中间过程</a:t>
            </a:r>
          </a:p>
        </p:txBody>
      </p:sp>
      <p:sp>
        <p:nvSpPr>
          <p:cNvPr id="9" name="exit-r0">
            <a:extLst xmlns:a="http://schemas.openxmlformats.org/drawingml/2006/main">
              <a:ext uri="{FF2B5EF4-FFF2-40B4-BE49-F238E27FC236}">
                <a16:creationId xmlns:a16="http://schemas.microsoft.com/office/drawing/2014/main" id="{D6595022-D91A-4BC8-AEA3-6B08AA871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009900"/>
            <a:ext cx="6858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0" name="exit-n1">
            <a:extLst xmlns:a="http://schemas.openxmlformats.org/drawingml/2006/main">
              <a:ext uri="{FF2B5EF4-FFF2-40B4-BE49-F238E27FC236}">
                <a16:creationId xmlns:a16="http://schemas.microsoft.com/office/drawing/2014/main" id="{E5C57353-FFD9-48C9-B5E1-6F4FEBF07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067050"/>
            <a:ext cx="476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exit-t1">
            <a:extLst xmlns:a="http://schemas.openxmlformats.org/drawingml/2006/main">
              <a:ext uri="{FF2B5EF4-FFF2-40B4-BE49-F238E27FC236}">
                <a16:creationId xmlns:a16="http://schemas.microsoft.com/office/drawing/2014/main" id="{96BB99BC-4BF9-45DD-819E-DEFBAE69D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067050"/>
            <a:ext cx="63055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H1 与替代有不同结果</a:t>
            </a:r>
          </a:p>
        </p:txBody>
      </p:sp>
      <p:sp>
        <p:nvSpPr>
          <p:cNvPr id="12" name="exit-r1">
            <a:extLst xmlns:a="http://schemas.openxmlformats.org/drawingml/2006/main">
              <a:ext uri="{FF2B5EF4-FFF2-40B4-BE49-F238E27FC236}">
                <a16:creationId xmlns:a16="http://schemas.microsoft.com/office/drawing/2014/main" id="{EFE59E98-760F-4BF4-AA1C-68CD546C0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00450"/>
            <a:ext cx="6858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3" name="exit-n2">
            <a:extLst xmlns:a="http://schemas.openxmlformats.org/drawingml/2006/main">
              <a:ext uri="{FF2B5EF4-FFF2-40B4-BE49-F238E27FC236}">
                <a16:creationId xmlns:a16="http://schemas.microsoft.com/office/drawing/2014/main" id="{ECBFDE2F-A845-41AF-A7AB-069DB5526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57600"/>
            <a:ext cx="476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exit-t2">
            <a:extLst xmlns:a="http://schemas.openxmlformats.org/drawingml/2006/main">
              <a:ext uri="{FF2B5EF4-FFF2-40B4-BE49-F238E27FC236}">
                <a16:creationId xmlns:a16="http://schemas.microsoft.com/office/drawing/2014/main" id="{A68B4F33-36FA-46BD-B957-054F1CA23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657600"/>
            <a:ext cx="63055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判断已当场落盘</a:t>
            </a:r>
          </a:p>
        </p:txBody>
      </p:sp>
      <p:sp>
        <p:nvSpPr>
          <p:cNvPr id="15" name="exit-r2">
            <a:extLst xmlns:a="http://schemas.openxmlformats.org/drawingml/2006/main">
              <a:ext uri="{FF2B5EF4-FFF2-40B4-BE49-F238E27FC236}">
                <a16:creationId xmlns:a16="http://schemas.microsoft.com/office/drawing/2014/main" id="{E569BEF2-6B14-457C-86AE-CA0D0CC91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191000"/>
            <a:ext cx="6858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6" name="exit-n3">
            <a:extLst xmlns:a="http://schemas.openxmlformats.org/drawingml/2006/main">
              <a:ext uri="{FF2B5EF4-FFF2-40B4-BE49-F238E27FC236}">
                <a16:creationId xmlns:a16="http://schemas.microsoft.com/office/drawing/2014/main" id="{D93A9375-D17F-4856-B7E1-6015A2EB6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248150"/>
            <a:ext cx="476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exit-t3">
            <a:extLst xmlns:a="http://schemas.openxmlformats.org/drawingml/2006/main">
              <a:ext uri="{FF2B5EF4-FFF2-40B4-BE49-F238E27FC236}">
                <a16:creationId xmlns:a16="http://schemas.microsoft.com/office/drawing/2014/main" id="{C714F7CC-13F2-4932-ACC4-2C6D2586C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248150"/>
            <a:ext cx="63055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当前最大未决项</a:t>
            </a:r>
          </a:p>
        </p:txBody>
      </p:sp>
      <p:sp>
        <p:nvSpPr>
          <p:cNvPr id="18" name="exit-r3">
            <a:extLst xmlns:a="http://schemas.openxmlformats.org/drawingml/2006/main">
              <a:ext uri="{FF2B5EF4-FFF2-40B4-BE49-F238E27FC236}">
                <a16:creationId xmlns:a16="http://schemas.microsoft.com/office/drawing/2014/main" id="{C6E67A47-1557-40E6-9E3F-97B9B000F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781550"/>
            <a:ext cx="6858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9" name="next-bg">
            <a:extLst xmlns:a="http://schemas.openxmlformats.org/drawingml/2006/main">
              <a:ext uri="{FF2B5EF4-FFF2-40B4-BE49-F238E27FC236}">
                <a16:creationId xmlns:a16="http://schemas.microsoft.com/office/drawing/2014/main" id="{3CAB562A-B422-441D-9943-452FB3F0B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667000"/>
            <a:ext cx="31432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20" name="next">
            <a:extLst xmlns:a="http://schemas.openxmlformats.org/drawingml/2006/main">
              <a:ext uri="{FF2B5EF4-FFF2-40B4-BE49-F238E27FC236}">
                <a16:creationId xmlns:a16="http://schemas.microsoft.com/office/drawing/2014/main" id="{8A1F1CEF-9CC2-4A8A-8533-BFA107A56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762250"/>
            <a:ext cx="28384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第 8 课输入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问题 · 证据 · 机制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最小验证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最大风险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theme/theme1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2026-09-12T11:52:38.4310000Z</dcterms:created>
  <dcterms:modified xsi:type="dcterms:W3CDTF">2026-09-12T11:52:38.4310000Z</dcterms:modified>
</coreProperties>
</file>