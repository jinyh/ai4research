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ee4be4ecf4ec4" /><Relationship Type="http://schemas.openxmlformats.org/officeDocument/2006/relationships/extended-properties" Target="/docProps/app.xml" Id="Rdc1c632a0c9b46b2" /><Relationship Type="http://schemas.openxmlformats.org/officeDocument/2006/relationships/officeDocument" Target="/ppt/presentation.xml" Id="R40891a9a0bd9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ff578d0bd4acf"/>
  </p:sldMasterIdLst>
  <p:notesMasterIdLst>
    <p:notesMasterId xmlns:r="http://schemas.openxmlformats.org/officeDocument/2006/relationships" r:id="R3a4bbdfed9254f26"/>
  </p:notesMasterIdLst>
  <p:sldIdLst>
    <p:sldId xmlns:r="http://schemas.openxmlformats.org/officeDocument/2006/relationships" id="256" r:id="R4f475200072c4ee1"/>
    <p:sldId xmlns:r="http://schemas.openxmlformats.org/officeDocument/2006/relationships" id="257" r:id="R50535c8c7c9047e1"/>
    <p:sldId xmlns:r="http://schemas.openxmlformats.org/officeDocument/2006/relationships" id="258" r:id="R0b1a9f0c156444bd"/>
    <p:sldId xmlns:r="http://schemas.openxmlformats.org/officeDocument/2006/relationships" id="259" r:id="R048749e9297e4c4c"/>
    <p:sldId xmlns:r="http://schemas.openxmlformats.org/officeDocument/2006/relationships" id="260" r:id="Rff8b34166f76433f"/>
    <p:sldId xmlns:r="http://schemas.openxmlformats.org/officeDocument/2006/relationships" id="261" r:id="Ra9c383495f914d49"/>
    <p:sldId xmlns:r="http://schemas.openxmlformats.org/officeDocument/2006/relationships" id="262" r:id="R789b1a78f32e4ca3"/>
    <p:sldId xmlns:r="http://schemas.openxmlformats.org/officeDocument/2006/relationships" id="263" r:id="R1912be4dd7ba4c21"/>
    <p:sldId xmlns:r="http://schemas.openxmlformats.org/officeDocument/2006/relationships" id="264" r:id="Rcbf239187062483a"/>
    <p:sldId xmlns:r="http://schemas.openxmlformats.org/officeDocument/2006/relationships" id="265" r:id="Rbbafa56b22b44859"/>
    <p:sldId xmlns:r="http://schemas.openxmlformats.org/officeDocument/2006/relationships" id="266" r:id="R0447876147e84d89"/>
    <p:sldId xmlns:r="http://schemas.openxmlformats.org/officeDocument/2006/relationships" id="267" r:id="R3dee4c5a353a4e13"/>
    <p:sldId xmlns:r="http://schemas.openxmlformats.org/officeDocument/2006/relationships" id="268" r:id="R1ecee7045853453e"/>
    <p:sldId xmlns:r="http://schemas.openxmlformats.org/officeDocument/2006/relationships" id="269" r:id="Rbfbe9163b8f543bf"/>
    <p:sldId xmlns:r="http://schemas.openxmlformats.org/officeDocument/2006/relationships" id="270" r:id="R9b2af710ee6e412f"/>
    <p:sldId xmlns:r="http://schemas.openxmlformats.org/officeDocument/2006/relationships" id="271" r:id="R3c49443243ee4912"/>
    <p:sldId xmlns:r="http://schemas.openxmlformats.org/officeDocument/2006/relationships" id="272" r:id="Rd4b876259e5a4b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c03b6c56e74186" /><Relationship Type="http://schemas.openxmlformats.org/officeDocument/2006/relationships/slideMaster" Target="/ppt/slideMasters/slideMaster1.xml" Id="R001ff578d0bd4acf" /><Relationship Type="http://schemas.openxmlformats.org/officeDocument/2006/relationships/notesMaster" Target="/ppt/notesMasters/notesMaster1.xml" Id="R3a4bbdfed9254f26" /><Relationship Type="http://schemas.openxmlformats.org/officeDocument/2006/relationships/presProps" Target="/ppt/presProps.xml" Id="R3cad367c6ad04bd5" /><Relationship Type="http://schemas.openxmlformats.org/officeDocument/2006/relationships/viewProps" Target="/ppt/viewProps.xml" Id="R912f6df270c642a8" /><Relationship Type="http://schemas.openxmlformats.org/officeDocument/2006/relationships/tableStyles" Target="/ppt/tableStyles.xml" Id="R6d31a80204e04721" /><Relationship Type="http://schemas.openxmlformats.org/officeDocument/2006/relationships/slide" Target="/ppt/slides/slide1.xml" Id="R4f475200072c4ee1" /><Relationship Type="http://schemas.openxmlformats.org/officeDocument/2006/relationships/slide" Target="/ppt/slides/slide2.xml" Id="R50535c8c7c9047e1" /><Relationship Type="http://schemas.openxmlformats.org/officeDocument/2006/relationships/slide" Target="/ppt/slides/slide3.xml" Id="R0b1a9f0c156444bd" /><Relationship Type="http://schemas.openxmlformats.org/officeDocument/2006/relationships/slide" Target="/ppt/slides/slide4.xml" Id="R048749e9297e4c4c" /><Relationship Type="http://schemas.openxmlformats.org/officeDocument/2006/relationships/slide" Target="/ppt/slides/slide5.xml" Id="Rff8b34166f76433f" /><Relationship Type="http://schemas.openxmlformats.org/officeDocument/2006/relationships/slide" Target="/ppt/slides/slide6.xml" Id="Ra9c383495f914d49" /><Relationship Type="http://schemas.openxmlformats.org/officeDocument/2006/relationships/slide" Target="/ppt/slides/slide7.xml" Id="R789b1a78f32e4ca3" /><Relationship Type="http://schemas.openxmlformats.org/officeDocument/2006/relationships/slide" Target="/ppt/slides/slide8.xml" Id="R1912be4dd7ba4c21" /><Relationship Type="http://schemas.openxmlformats.org/officeDocument/2006/relationships/slide" Target="/ppt/slides/slide9.xml" Id="Rcbf239187062483a" /><Relationship Type="http://schemas.openxmlformats.org/officeDocument/2006/relationships/slide" Target="/ppt/slides/slide10.xml" Id="Rbbafa56b22b44859" /><Relationship Type="http://schemas.openxmlformats.org/officeDocument/2006/relationships/slide" Target="/ppt/slides/slide11.xml" Id="R0447876147e84d89" /><Relationship Type="http://schemas.openxmlformats.org/officeDocument/2006/relationships/slide" Target="/ppt/slides/slide12.xml" Id="R3dee4c5a353a4e13" /><Relationship Type="http://schemas.openxmlformats.org/officeDocument/2006/relationships/slide" Target="/ppt/slides/slide13.xml" Id="R1ecee7045853453e" /><Relationship Type="http://schemas.openxmlformats.org/officeDocument/2006/relationships/slide" Target="/ppt/slides/slide14.xml" Id="Rbfbe9163b8f543bf" /><Relationship Type="http://schemas.openxmlformats.org/officeDocument/2006/relationships/slide" Target="/ppt/slides/slide15.xml" Id="R9b2af710ee6e412f" /><Relationship Type="http://schemas.openxmlformats.org/officeDocument/2006/relationships/slide" Target="/ppt/slides/slide16.xml" Id="R3c49443243ee4912" /><Relationship Type="http://schemas.openxmlformats.org/officeDocument/2006/relationships/slide" Target="/ppt/slides/slide17.xml" Id="Rd4b876259e5a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63d68ffc3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5496ab22814254" /><Relationship Type="http://schemas.openxmlformats.org/officeDocument/2006/relationships/notesMaster" Target="/ppt/notesMasters/notesMaster1.xml" Id="R902579eab69f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3f691c5a34787" /><Relationship Type="http://schemas.openxmlformats.org/officeDocument/2006/relationships/notesMaster" Target="/ppt/notesMasters/notesMaster1.xml" Id="Rc7e6e8601595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06fb0bb3049b4" /><Relationship Type="http://schemas.openxmlformats.org/officeDocument/2006/relationships/notesMaster" Target="/ppt/notesMasters/notesMaster1.xml" Id="R994fd04f221a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2258b4d7440ff" /><Relationship Type="http://schemas.openxmlformats.org/officeDocument/2006/relationships/notesMaster" Target="/ppt/notesMasters/notesMaster1.xml" Id="Rc729fff060ed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3fa8ac9c44114" /><Relationship Type="http://schemas.openxmlformats.org/officeDocument/2006/relationships/notesMaster" Target="/ppt/notesMasters/notesMaster1.xml" Id="Rc8ac07d6acb4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29dfe5b434012" /><Relationship Type="http://schemas.openxmlformats.org/officeDocument/2006/relationships/notesMaster" Target="/ppt/notesMasters/notesMaster1.xml" Id="Rbaae611aedfa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5afc34def491c" /><Relationship Type="http://schemas.openxmlformats.org/officeDocument/2006/relationships/notesMaster" Target="/ppt/notesMasters/notesMaster1.xml" Id="R74d7e6451a9545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956a5f95c04f84" /><Relationship Type="http://schemas.openxmlformats.org/officeDocument/2006/relationships/notesMaster" Target="/ppt/notesMasters/notesMaster1.xml" Id="R257081a5f63c47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cc724ce814f92" /><Relationship Type="http://schemas.openxmlformats.org/officeDocument/2006/relationships/notesMaster" Target="/ppt/notesMasters/notesMaster1.xml" Id="Rb314fabbb6d846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04a7d271240a2" /><Relationship Type="http://schemas.openxmlformats.org/officeDocument/2006/relationships/notesMaster" Target="/ppt/notesMasters/notesMaster1.xml" Id="R623f4d13077e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c655a895104f9d" /><Relationship Type="http://schemas.openxmlformats.org/officeDocument/2006/relationships/notesMaster" Target="/ppt/notesMasters/notesMaster1.xml" Id="R1e7c0f54184241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bf28581af24e0d" /><Relationship Type="http://schemas.openxmlformats.org/officeDocument/2006/relationships/notesMaster" Target="/ppt/notesMasters/notesMaster1.xml" Id="Re0a84337c3524f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18586283cd4185" /><Relationship Type="http://schemas.openxmlformats.org/officeDocument/2006/relationships/notesMaster" Target="/ppt/notesMasters/notesMaster1.xml" Id="R725ef8ae2d8c43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bd3abb11e24b8f" /><Relationship Type="http://schemas.openxmlformats.org/officeDocument/2006/relationships/notesMaster" Target="/ppt/notesMasters/notesMaster1.xml" Id="R00648208db574f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505696a1664f09" /><Relationship Type="http://schemas.openxmlformats.org/officeDocument/2006/relationships/notesMaster" Target="/ppt/notesMasters/notesMaster1.xml" Id="R745edc951bf5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6b939daffe44ad" /><Relationship Type="http://schemas.openxmlformats.org/officeDocument/2006/relationships/notesMaster" Target="/ppt/notesMasters/notesMaster1.xml" Id="Rbc5d77b180a241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ad959d53024aff" /><Relationship Type="http://schemas.openxmlformats.org/officeDocument/2006/relationships/notesMaster" Target="/ppt/notesMasters/notesMaster1.xml" Id="R8823cf331adc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第7讲 机制假设、研究判断与实验设计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第7讲 机制假设、研究判断与实验设计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开场放下问题门的成果。问题门确认"问题问得清、做得了"，但没确认"假设成立"。本课把可证伪命题配上一个能被实验支持、削弱或推翻的机制，并当场记录设计取舍，避免事后反向改写"最初为什么这样设计"。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课程定位以 [syllabus.md](../../course/syllabus.md) 与 [备课规划.md](../备课规划.md) 第 7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6 课之后，问题门还没有证明机制成立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 6 课已建立：</a:t>
            </a:r>
          </a:p>
          <a:p xmlns:a="http://schemas.openxmlformats.org/drawingml/2006/main">
            <a:r>
              <a:t>- 可证伪命题（含范围、非例）</a:t>
            </a:r>
          </a:p>
          <a:p xmlns:a="http://schemas.openxmlformats.org/drawingml/2006/main">
            <a:r>
              <a:t>- 第一性原理必要条件清单</a:t>
            </a:r>
          </a:p>
          <a:p xmlns:a="http://schemas.openxmlformats.org/drawingml/2006/main">
            <a:r>
              <a:t>- 证据地图初版与研究空白候选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仍未回答：</a:t>
            </a:r>
          </a:p>
          <a:p xmlns:a="http://schemas.openxmlformats.org/drawingml/2006/main">
            <a:r>
              <a:t>- 为什么预期结果会发生？（机制假设）</a:t>
            </a:r>
          </a:p>
          <a:p xmlns:a="http://schemas.openxmlformats.org/drawingml/2006/main">
            <a:r>
              <a:t>- 哪些替代解释也能产生同一结果？（替代假设）</a:t>
            </a:r>
          </a:p>
          <a:p xmlns:a="http://schemas.openxmlformats.org/drawingml/2006/main">
            <a:r>
              <a:t>- 实验在什么结果下支持主假设、什么结果下支持替代假设？（区分实验）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问题成立 ≠ 假设成立。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回扣第 6 课：问题门确认了问题值得问、问得清、做得完，但没有回答"为什么预期结果会发生"。本课进入阶段三+六，处理"机制、替代解释和设计取舍"。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6 课问题门的可证伪命题是什么？它背后隐含的机制是什么？只听回答，不评价。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本课板书、诊断与串词：</a:t>
            </a:r>
          </a:p>
          <a:p xmlns:a="http://schemas.openxmlformats.org/drawingml/2006/main">
            <a:r>
              <a:t>本节替换同类口头提示，不增加既有时段。开场诊断嵌入现有开场/回顾，后续再沿原实践时段操作。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**板书主线**：Q1结果｜H1机制↔A2测量；A1质量；A3范围。</a:t>
            </a:r>
          </a:p>
          <a:p xmlns:a="http://schemas.openxmlformats.org/drawingml/2006/main">
            <a:r>
              <a:t>- **诊断问题**：带字段输出得分高，已经证明生成机制了吗？</a:t>
            </a:r>
          </a:p>
          <a:p xmlns:a="http://schemas.openxmlformats.org/drawingml/2006/main">
            <a:r>
              <a:t>- **预期回答**：没有；须区分输出保留与评分提示，并补过程/对照。</a:t>
            </a:r>
          </a:p>
          <a:p xmlns:a="http://schemas.openxmlformats.org/drawingml/2006/main">
            <a:r>
              <a:t>- **常见误答后的追问**：若把质量代价当互斥机制，举“两者同时发生”的反例。</a:t>
            </a:r>
          </a:p>
          <a:p xmlns:a="http://schemas.openxmlformats.org/drawingml/2006/main">
            <a:r>
              <a:t>- **过渡串词**：“把尚未区分的观察带给同伴，比展示确定答案更有用。”</a:t>
            </a:r>
          </a:p>
          <a:p xmlns:a="http://schemas.openxmlformats.org/drawingml/2006/main">
            <a:r>
              <a:t>- **当堂最小产出**：主假设与一个替代的映射、反证点和一条判断。</a:t>
            </a:r>
          </a:p>
          <a:p xmlns:a="http://schemas.openxmlformats.org/drawingml/2006/main">
            <a:r>
              <a:t>- **退出记录**：写“已完成的动作、本人项目仍缺的证据/工件、下次补齐位置”。使用教师包时标明课堂方法练习，不能据此宣称本人研究门通过；正式提交课次仍为第 6、9、13、16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回扣第 6 课讲义与 [assignments.md](../../course/assignments.md) 问题门条件。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本课只完成机制—判断—映射的最小闭环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完成本课后，你能：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写出含中间过程的主机制假设；</a:t>
            </a:r>
          </a:p>
          <a:p xmlns:a="http://schemas.openxmlformats.org/drawingml/2006/main">
            <a:r>
              <a:t>2. 写出 1 个对同一结果给出不同解释的可区分替代；</a:t>
            </a:r>
          </a:p>
          <a:p xmlns:a="http://schemas.openxmlformats.org/drawingml/2006/main">
            <a:r>
              <a:t>3. 写出 1 条带依据和边界的研究判断；</a:t>
            </a:r>
          </a:p>
          <a:p xmlns:a="http://schemas.openxmlformats.org/drawingml/2006/main">
            <a:r>
              <a:t>4. 画出“支持／反驳／仍不能判断”映射草图。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课堂最低产出：1 主机制 + 1 个可区分替代 + 1 条研究判断 + 1 张映射草图。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课后只补全课堂未完成的表达；完整工程规格在第 9 课完成。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明确边界：课堂不追求候选数量或完整规格。课后可补全未完成表达，但不把删掉的工程规格变成第 7 课必做作业。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[备课规划.md](../备课规划.md) 第 7 课目标段；[assignments.md](../../course/assignments.md) 第 9 课判断门条件与第 8 课方案分享要求。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结果预测和机制解释分开写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Q1：阅读卡组遗漏更少。</a:t>
            </a:r>
          </a:p>
          <a:p xmlns:a="http://schemas.openxmlformats.org/drawingml/2006/main">
            <a:r>
              <a:t>H1：生成时显式列出限定条件，促进输出保留这些条件。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看到差异，回答了多少？</a:t>
            </a:r>
          </a:p>
          <a:p xmlns:a="http://schemas.openxmlformats.org/drawingml/2006/main">
            <a:r>
              <a:t>结果可能与 Q1 一致，原因仍需区分。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H1必须有中间过程；“阅读卡更好”只是换词复述结果。请学生指出两句话各自需要什么证据。H1需要过程观察或能区分原因的对照，不能直接由两个总分成立。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把一条“更好”改为结果命题，再单独写机制候选。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主练一组可区分的解释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H1｜生成时显式列条件，输出确实保留更多。</a:t>
            </a:r>
          </a:p>
          <a:p xmlns:a="http://schemas.openxmlformats.org/drawingml/2006/main">
            <a:r>
              <a:t>A2｜评分者看见字段后，更容易给出保留分。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另列检查：</a:t>
            </a:r>
          </a:p>
          <a:p xmlns:a="http://schemas.openxmlformats.org/drawingml/2006/main">
            <a:r>
              <a:t>A1｜其他质量错误是否增加？</a:t>
            </a:r>
          </a:p>
          <a:p xmlns:a="http://schemas.openxmlformats.org/drawingml/2006/main">
            <a:r>
              <a:t>A3｜效果是否依赖材料结构？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本页只练H1/A2。A1可以与Q1同时成立，A3限定外推范围，两者不能冒充与H1互斥的机制。学生自己的项目仍应产生实质替代解释，不能机械照抄这些编号。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提出一种让评分者看不到输出来源、又不丢失待评内容的评价安排。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四种记录回答四个不同问题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来源核验：这份材料是否确实存在？</a:t>
            </a:r>
          </a:p>
          <a:p xmlns:a="http://schemas.openxmlformats.org/drawingml/2006/main">
            <a:r>
              <a:t>证据角色：它直接测量什么？</a:t>
            </a:r>
          </a:p>
          <a:p xmlns:a="http://schemas.openxmlformats.org/drawingml/2006/main">
            <a:r>
              <a:t>主张方向：支持、反驳，还是仍不能判断？</a:t>
            </a:r>
          </a:p>
          <a:p xmlns:a="http://schemas.openxmlformats.org/drawingml/2006/main">
            <a:r>
              <a:t>工件成熟度：draft / review / approved / stable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来源真实 ≠ 某个机制已成立。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逐行问“这份论文有DOI，所以H1成立”错在哪一步。身份核验只能解决来源真实性；结论强度还要看设计、结果与边界。成熟度描述工件，不是引用许可证。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给当前假设记录补一条来源位置和一项尚未回答的问题。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方案取舍要记录比较依据，而不是只写最后选择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比较 | 方案甲：同批材料 | 方案乙：两批材料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可比性 | 控制材料差异 | 混入材料难度差异 |</a:t>
            </a:r>
          </a:p>
          <a:p xmlns:a="http://schemas.openxmlformats.org/drawingml/2006/main">
            <a:r>
              <a:t>| 执行条件 | 两种方法使用独立上下文 | 仍需统一模型与协议 |</a:t>
            </a:r>
          </a:p>
          <a:p xmlns:a="http://schemas.openxmlformats.org/drawingml/2006/main">
            <a:r>
              <a:t>| 当前决定 | 保留配对比较 | 有范围研究目的再设计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同批材料本身不会造成记忆污染；共享上下文才需检查。</a:t>
            </a:r>
          </a:p>
          <a:p xmlns:a="http://schemas.openxmlformats.org/drawingml/2006/main">
            <a:r>
              <a:t>结果比较仍不能单独区分 H1 与 A2。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本课核心活动之一：比较两种实验方案并说明取舍。比较维度不是看哪个"更好"，而是看哪个更能区分假设、baseline 更公平、更可执行、失败后留得下东西。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让学生说出：你的方案甲和乙差在哪？哪个 baseline 更公平？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§三·3；[assignments.md](../../course/assignments.md) 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同一个观察，能区分两种解释吗？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观察：带字段的阅读卡输出得分高于自由摘要。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H1：输出保留得更多？</a:t>
            </a:r>
          </a:p>
          <a:p xmlns:a="http://schemas.openxmlformats.org/drawingml/2006/main">
            <a:r>
              <a:t>A2：评分者更容易给分？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追加观察：隐去条件标签、使用同一标注规则后，差异是否仍在？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先让学生独立选择“已经证明H1”或“尚不能区分”，再解释理由。盲化评分能检查A2的一部分，但不能独自证明H1的完整因果链；还要检查输出中的条件与生成过程。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写出已有观察和追加观察各排除了什么、没排除什么。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完整工程规格集中到第 9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本课只留一张边界卡：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现在：主机制、一个替代解释、研究判断、结果映射草图；</a:t>
            </a:r>
          </a:p>
          <a:p xmlns:a="http://schemas.openxmlformats.org/drawingml/2006/main">
            <a:r>
              <a:t>- 第 8 课：用同伴质询检查边界、证据与可区分性；</a:t>
            </a:r>
          </a:p>
          <a:p xmlns:a="http://schemas.openxmlformats.org/drawingml/2006/main">
            <a:r>
              <a:t>- 第 9 课：公平 baseline、同一批论文配对、运行记录、人工基准标注、停止条件与失败预案。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本课不要求填八要素，也不把删减内容转为课后必做。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这页只说明三课边界，不提前讲八要素。第 7 课的映射草图会作为第 8 课质询对象，再作为第 9 课工程规格的输入。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让学生指出：自己当前映射草图中哪一项要到第 9 课才能工程化。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§四·2-4；Box et al. *Statistics for Experimenters* §3.4；NIST/SEMATECH e-Handbook Experimental Design（[reading-list.md](../../course/reading-list.md) 第 7 课）；第 1 课 §2.7 原型验证实验规格要素。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AI 候选在核验前只能留在探索线索区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对 AI 给出的候选假设、替代假设或实验规格草稿，至少检查：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候选是否含中间过程，还是结果预测换说法</a:t>
            </a:r>
          </a:p>
          <a:p xmlns:a="http://schemas.openxmlformats.org/drawingml/2006/main">
            <a:r>
              <a:t>2. 候选是否可证伪——是否存在能推翻它的观察</a:t>
            </a:r>
          </a:p>
          <a:p xmlns:a="http://schemas.openxmlformats.org/drawingml/2006/main">
            <a:r>
              <a:t>3. 替代假设是否真的与主假设可区分</a:t>
            </a:r>
          </a:p>
          <a:p xmlns:a="http://schemas.openxmlformats.org/drawingml/2006/main">
            <a:r>
              <a:t>4. 引文、常数、设置是否回到可核验来源</a:t>
            </a:r>
          </a:p>
          <a:p xmlns:a="http://schemas.openxmlformats.org/drawingml/2006/main">
            <a:r>
              <a:t>5. 实验规格是否暗中改变评价标准或引入不公平 baseline</a:t>
            </a:r>
          </a:p>
          <a:p xmlns:a="http://schemas.openxmlformats.org/drawingml/2006/main">
            <a:r>
              <a:t>6. 停止条件是否会导致"跑到显著为止"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未完成这些步骤前，AI 产出只能留在探索线索区，不能进入假设列表主格。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AI 可以生成候选机制、提示替代假设、草拟实验规格，但所有产出只能作为草稿或线索。本课要求至少记录一条 AI 使用记录：工具、用途、Context、输出用途、人工核验方式、问题。核验清单在课堂逐条讲。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让学生预判：AI 给你的候选最可能在哪一条上不通过？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§五；第 3 课来源审计；[AGENTS.md](../../AGENTS.md)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把假设变成区分观察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对象 | 要看的材料 | 当前能否判断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Q1 | 同口径输出与遗漏率 | 结果方向 |</a:t>
            </a:r>
          </a:p>
          <a:p xmlns:a="http://schemas.openxmlformats.org/drawingml/2006/main">
            <a:r>
              <a:t>| H1 | 条件保留与生成过程/对照 | 机制待检验 |</a:t>
            </a:r>
          </a:p>
          <a:p xmlns:a="http://schemas.openxmlformats.org/drawingml/2006/main">
            <a:r>
              <a:t>| A2 | 隐去组别后的标注比较 | 测量解释待检验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从问题到观察，再到能做出的判断，按这个顺序填表。不要先填“支持”再找一个指标装进去。完整实验规格留到第9课。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学生给本人主假设和一个替代各填一行，保留不能区分的格子。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研究判断记录一次有理由的取舍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§二、从问题到机制假设；四、从假设到区分观察的映射草图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当前决定：先检查输出是否保留限定条件。</a:t>
            </a:r>
          </a:p>
          <a:p xmlns:a="http://schemas.openxmlformats.org/drawingml/2006/main">
            <a:r>
              <a:t>依据：这是 Q1 的直接结果对象。</a:t>
            </a:r>
          </a:p>
          <a:p xmlns:a="http://schemas.openxmlformats.org/drawingml/2006/main">
            <a:r>
              <a:t>暂缓：H1 与 A2 的区分尚需过程与评价对照。</a:t>
            </a:r>
          </a:p>
          <a:p xmlns:a="http://schemas.openxmlformats.org/drawingml/2006/main">
            <a:r>
              <a:t>边界：A1 质量代价、A3 材料范围另查。</a:t>
            </a:r>
          </a:p>
          <a:p xmlns:a="http://schemas.openxmlformats.org/drawingml/2006/main">
            <a:r>
              <a:t>下一步：把区分观察带到第 8 课质询。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说明研究判断是“现在为什么这样推进”，不是提前确认机制。让学生把“我觉得有效”改为有依据、有未决项的研究动作。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保存一条判断记录，注明依据、范围和下一项观察。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十类常见错误都指向同一个问题：实验不能改判断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常见错误：</a:t>
            </a:r>
          </a:p>
          <a:p xmlns:a="http://schemas.openxmlformats.org/drawingml/2006/main">
            <a:r>
              <a:t>1. 结果预测当机制假设</a:t>
            </a:r>
          </a:p>
          <a:p xmlns:a="http://schemas.openxmlformats.org/drawingml/2006/main">
            <a:r>
              <a:t>2. 黑箱归因（"模型理解了原文"）</a:t>
            </a:r>
          </a:p>
          <a:p xmlns:a="http://schemas.openxmlformats.org/drawingml/2006/main">
            <a:r>
              <a:t>3. 无反证点</a:t>
            </a:r>
          </a:p>
          <a:p xmlns:a="http://schemas.openxmlformats.org/drawingml/2006/main">
            <a:r>
              <a:t>4. 替代假设不可区分</a:t>
            </a:r>
          </a:p>
          <a:p xmlns:a="http://schemas.openxmlformats.org/drawingml/2006/main">
            <a:r>
              <a:t>5. 事后改判断</a:t>
            </a:r>
          </a:p>
          <a:p xmlns:a="http://schemas.openxmlformats.org/drawingml/2006/main">
            <a:r>
              <a:t>6. baseline 不公平</a:t>
            </a:r>
          </a:p>
          <a:p xmlns:a="http://schemas.openxmlformats.org/drawingml/2006/main">
            <a:r>
              <a:t>7. 无停止条件</a:t>
            </a:r>
          </a:p>
          <a:p xmlns:a="http://schemas.openxmlformats.org/drawingml/2006/main">
            <a:r>
              <a:t>8. AI 候选直接进列表</a:t>
            </a:r>
          </a:p>
          <a:p xmlns:a="http://schemas.openxmlformats.org/drawingml/2006/main">
            <a:r>
              <a:t>9. 混淆事实与假设</a:t>
            </a:r>
          </a:p>
          <a:p xmlns:a="http://schemas.openxmlformats.org/drawingml/2006/main">
            <a:r>
              <a:t>10. 实验不能改变判断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演示判断点：</a:t>
            </a:r>
          </a:p>
          <a:p xmlns:a="http://schemas.openxmlformats.org/drawingml/2006/main">
            <a:r>
              <a:t>- 结果预测和机制假设差在哪？</a:t>
            </a:r>
          </a:p>
          <a:p xmlns:a="http://schemas.openxmlformats.org/drawingml/2006/main">
            <a:r>
              <a:t>- 替代假设为什么不能只是"另一个题目"？</a:t>
            </a:r>
          </a:p>
          <a:p xmlns:a="http://schemas.openxmlformats.org/drawingml/2006/main">
            <a:r>
              <a:t>- 研究判断为什么要当场写？</a:t>
            </a:r>
          </a:p>
          <a:p xmlns:a="http://schemas.openxmlformats.org/drawingml/2006/main">
            <a:r>
              <a:t>- 实验无法区分主假设与替代假设时，能"支持"主假设吗？</a:t>
            </a:r>
          </a:p>
          <a:p xmlns:a="http://schemas.openxmlformats.org/drawingml/2006/main">
            <a:r>
              <a:t>- AI 候选在什么步骤前只能算探索线索？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把演示中的判断点与常见错误对应。每个错误都对应贯穿案例中的一个步骤。重点强调第 10 条：实验如果不能改变研究判断，就不算验证——这是第 8 课同伴会追问的核心。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无。直接进入实践说明。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§六 常见错误；演示判断点。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个人实践：完成机制—判断—映射最小闭环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1. 用你第 6 课的可证伪命题写出主机制假设（含中间过程）</a:t>
            </a:r>
          </a:p>
          <a:p xmlns:a="http://schemas.openxmlformats.org/drawingml/2006/main">
            <a:r>
              <a:t>2. 写出 1 个可区分替代假设</a:t>
            </a:r>
          </a:p>
          <a:p xmlns:a="http://schemas.openxmlformats.org/drawingml/2006/main">
            <a:r>
              <a:t>3. 写一条完整研究判断（六字段）</a:t>
            </a:r>
          </a:p>
          <a:p xmlns:a="http://schemas.openxmlformats.org/drawingml/2006/main">
            <a:r>
              <a:t>4. 为 H1 与该替代各写支持、反驳与仍不能判断条件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课堂最低产出：1 主机制 + 1 个可区分替代 + 1 条研究判断 + 1 张映射草图。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课后：只补全当堂未完成的表达；完整规格留到第 9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不要求填满，只要求跑通一次可复盘链路。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个人实践分两段：先写主机制与替代解释，教师中点抽取共同卡点点评，再完成研究判断与映射草图。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个人实践。教师巡视。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§八 练习 1-8；[starter-template.md](../../course/starter-template.md)。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同伴互查五项：只提问题，不替作者决定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2-3 人互查，按第 8 课 rubric 预演：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问题重要性：值得投入本课程周期吗？</a:t>
            </a:r>
          </a:p>
          <a:p xmlns:a="http://schemas.openxmlformats.org/drawingml/2006/main">
            <a:r>
              <a:t>2. 证据充分性：判断依据是否绑定证据地图或第一性原理？</a:t>
            </a:r>
          </a:p>
          <a:p xmlns:a="http://schemas.openxmlformats.org/drawingml/2006/main">
            <a:r>
              <a:t>3. 可检验性：主假设与替代假设能被实验区分吗？</a:t>
            </a:r>
          </a:p>
          <a:p xmlns:a="http://schemas.openxmlformats.org/drawingml/2006/main">
            <a:r>
              <a:t>4. 周期可行性：实验能在课程周期内完成吗？</a:t>
            </a:r>
          </a:p>
          <a:p xmlns:a="http://schemas.openxmlformats.org/drawingml/2006/main">
            <a:r>
              <a:t>5. 判断改变：下一步实验的什么结果会改变当前研究判断？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只提问题，不替作者决定，不形成共同提交。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本课同伴互查按第 8 课方案分享的五个权威维度预演。作者根据真实反馈选择采纳、澄清、补证、暂缓或保留异议，并记录理由与回写位置；不要求出现“拒绝”。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2-3 人互查。每人 2 分钟说主假设与替代假设，2 分钟反馈。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§三·3；[assignments.md](../../course/assignments.md) 第 8 课方案分享 rubric。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主机制与替代机制 → 可区分实验 → 研究判断记录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对同一结果提出至少一种可区分替代解释；</a:t>
            </a:r>
          </a:p>
          <a:p xmlns:a="http://schemas.openxmlformats.org/drawingml/2006/main">
            <a:r>
              <a:t>- 结果先记为支持、反驳或仍不能判断；</a:t>
            </a:r>
          </a:p>
          <a:p xmlns:a="http://schemas.openxmlformats.org/drawingml/2006/main">
            <a:r>
              <a:t>- 判断记录写清依据、取舍、反证点与下一步。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如果实验结果不会改变任何研究判断，这个实验就还没有完成可区分性设计。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回收机制、实验和判断三者关系，不引入新任务。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学生指出自己的实验最可能区分哪两种解释。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§二-§六。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退出卡：你的下一步实验真的会改变判断吗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退出卡（请写下）：</a:t>
            </a:r>
          </a:p>
          <a:p xmlns:a="http://schemas.openxmlformats.org/drawingml/2006/main">
            <a:r>
              <a:t>- 你的主机制假设是什么？</a:t>
            </a:r>
          </a:p>
          <a:p xmlns:a="http://schemas.openxmlformats.org/drawingml/2006/main">
            <a:r>
              <a:t>- 你的实验在什么结果下支持主假设？什么结果下支持替代假设？</a:t>
            </a:r>
          </a:p>
          <a:p xmlns:a="http://schemas.openxmlformats.org/drawingml/2006/main">
            <a:r>
              <a:t>- 你的研究判断当场写了吗？最难写的字段是哪个？</a:t>
            </a:r>
          </a:p>
          <a:p xmlns:a="http://schemas.openxmlformats.org/drawingml/2006/main">
            <a:r>
              <a:t>- 你的实验能改变研究判断吗？如果不能，缺了什么？</a:t>
            </a:r>
          </a:p>
          <a:p xmlns:a="http://schemas.openxmlformats.org/drawingml/2006/main">
            <a:r>
              <a:t>- 你今天最不确定的一点是什么？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8 课预告：学生研究方案分享与设计诊所</a:t>
            </a:r>
          </a:p>
          <a:p xmlns:a="http://schemas.openxmlformats.org/drawingml/2006/main">
            <a:r>
              <a:t>- 按限时五段陈述问题、证据、机制、最小验证与最大风险</a:t>
            </a:r>
          </a:p>
          <a:p xmlns:a="http://schemas.openxmlformats.org/drawingml/2006/main">
            <a:r>
              <a:t>- 同伴按重要性、证据充分性、可检验性、周期可行性和判断改变给反馈</a:t>
            </a:r>
          </a:p>
          <a:p xmlns:a="http://schemas.openxmlformats.org/drawingml/2006/main">
            <a:r>
              <a:t>- 不新增正式提交；本课产出是方案分享直接输入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第 8 课不评价题目是否时髦；反馈聚焦重要性、证据、可检验性、周期可行性和判断改变。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不新增课后正式作业。本课产出（机制假设列表、研究判断、实验规格草图）是第 8 课 3 分钟陈述的直接输入。第 8 课 rubric 使用 assignments.md 的五个权威反馈维度。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个人填写退出卡。下课。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§学习目标；[assignments.md](../../course/assignments.md) 第 8 课方案分享要求与第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77c0cebdc405d" /><Relationship Type="http://schemas.openxmlformats.org/officeDocument/2006/relationships/image" Target="/ppt/media/image.png" Id="R16b3ee2df1fb48a6" /><Relationship Type="http://schemas.openxmlformats.org/officeDocument/2006/relationships/image" Target="/ppt/media/image2.png" Id="R2069ba790da64683" /><Relationship Type="http://schemas.openxmlformats.org/officeDocument/2006/relationships/image" Target="/ppt/media/image3.png" Id="Rd873013a5e284b4a" /><Relationship Type="http://schemas.openxmlformats.org/officeDocument/2006/relationships/image" Target="/ppt/media/image4.png" Id="R8f68ff893dc743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80fa0075b48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66c5c4d864e5c" /><Relationship Type="http://schemas.openxmlformats.org/officeDocument/2006/relationships/image" Target="/ppt/media/image2.png" Id="R3a54d8635319417c" /><Relationship Type="http://schemas.openxmlformats.org/officeDocument/2006/relationships/image" Target="/ppt/media/image5.png" Id="Rf9e234b0b3314c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0b82ba6394213" /><Relationship Type="http://schemas.openxmlformats.org/officeDocument/2006/relationships/image" Target="/ppt/media/image.png" Id="R0b9add53ea9d4d32" /><Relationship Type="http://schemas.openxmlformats.org/officeDocument/2006/relationships/image" Target="/ppt/media/image3.png" Id="Ra713ff1dfdea41e2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3ee2df1fb48a6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9ba790da6468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73013a5e284b4a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8ff893dc743bb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54d8635319417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234b0b331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add53ea9d4d3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13ff1dfdea41e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81957f55247f4" /><Relationship Type="http://schemas.openxmlformats.org/officeDocument/2006/relationships/slideLayout" Target="/ppt/slideLayouts/slideLayout1.xml" Id="R2d02017463114e2a" /><Relationship Type="http://schemas.openxmlformats.org/officeDocument/2006/relationships/slideLayout" Target="/ppt/slideLayouts/slideLayout2.xml" Id="R8d3a7a7f9603412f" /><Relationship Type="http://schemas.openxmlformats.org/officeDocument/2006/relationships/slideLayout" Target="/ppt/slideLayouts/slideLayout3.xml" Id="Rf9b7970c2693462c" /><Relationship Type="http://schemas.openxmlformats.org/officeDocument/2006/relationships/slideLayout" Target="/ppt/slideLayouts/slideLayout4.xml" Id="R5ef10c8b07c5436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2017463114e2a"/>
    <p:sldLayoutId xmlns:r="http://schemas.openxmlformats.org/officeDocument/2006/relationships" id="2147483650" r:id="R8d3a7a7f9603412f"/>
    <p:sldLayoutId xmlns:r="http://schemas.openxmlformats.org/officeDocument/2006/relationships" id="2147483651" r:id="Rf9b7970c2693462c"/>
    <p:sldLayoutId xmlns:r="http://schemas.openxmlformats.org/officeDocument/2006/relationships" id="2147483652" r:id="R5ef10c8b07c5436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39dcd75d44e91" /><Relationship Type="http://schemas.openxmlformats.org/officeDocument/2006/relationships/notesSlide" Target="/ppt/notesSlides/notesSlide1.xml" Id="R1d80c1227633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6a25c7287e4de9" /><Relationship Type="http://schemas.openxmlformats.org/officeDocument/2006/relationships/notesSlide" Target="/ppt/notesSlides/notesSlide2.xml" Id="R9b9ad27b3972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47ab0bb6c84e09" /><Relationship Type="http://schemas.openxmlformats.org/officeDocument/2006/relationships/notesSlide" Target="/ppt/notesSlides/notesSlide3.xml" Id="R0f34711246f448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86d3d6c7df4b1d" /><Relationship Type="http://schemas.openxmlformats.org/officeDocument/2006/relationships/notesSlide" Target="/ppt/notesSlides/notesSlide4.xml" Id="R0edb384b727047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1eb86e00de4d05" /><Relationship Type="http://schemas.openxmlformats.org/officeDocument/2006/relationships/notesSlide" Target="/ppt/notesSlides/notesSlide5.xml" Id="R0835f7b9cad0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79b97357cd4b8f" /><Relationship Type="http://schemas.openxmlformats.org/officeDocument/2006/relationships/notesSlide" Target="/ppt/notesSlides/notesSlide6.xml" Id="Raf89a727b23b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47b8ff4752446a" /><Relationship Type="http://schemas.openxmlformats.org/officeDocument/2006/relationships/notesSlide" Target="/ppt/notesSlides/notesSlide7.xml" Id="R1fd14ce99aac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75b4434fdc4c3e" /><Relationship Type="http://schemas.openxmlformats.org/officeDocument/2006/relationships/notesSlide" Target="/ppt/notesSlides/notesSlide8.xml" Id="Re1468713e8ac4d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f491ec282d4791" /><Relationship Type="http://schemas.openxmlformats.org/officeDocument/2006/relationships/notesSlide" Target="/ppt/notesSlides/notesSlide9.xml" Id="R5c0329fa04c94d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07070ef2554fe5" /><Relationship Type="http://schemas.openxmlformats.org/officeDocument/2006/relationships/notesSlide" Target="/ppt/notesSlides/notesSlide10.xml" Id="R3bc4a74c543f44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0be0a118134f07" /><Relationship Type="http://schemas.openxmlformats.org/officeDocument/2006/relationships/notesSlide" Target="/ppt/notesSlides/notesSlide11.xml" Id="Rfc7e7d805bb54c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82a5b0ae214800" /><Relationship Type="http://schemas.openxmlformats.org/officeDocument/2006/relationships/notesSlide" Target="/ppt/notesSlides/notesSlide12.xml" Id="R95d2e79a817b49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c7bbb4f37f43da" /><Relationship Type="http://schemas.openxmlformats.org/officeDocument/2006/relationships/notesSlide" Target="/ppt/notesSlides/notesSlide13.xml" Id="R17056e53055840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0ba1eefdc14f9c" /><Relationship Type="http://schemas.openxmlformats.org/officeDocument/2006/relationships/notesSlide" Target="/ppt/notesSlides/notesSlide14.xml" Id="R220f88b9d1404a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c6e8dddba34c41" /><Relationship Type="http://schemas.openxmlformats.org/officeDocument/2006/relationships/notesSlide" Target="/ppt/notesSlides/notesSlide15.xml" Id="Rc764bea3505148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2f9898806c4171" /><Relationship Type="http://schemas.openxmlformats.org/officeDocument/2006/relationships/notesSlide" Target="/ppt/notesSlides/notesSlide16.xml" Id="Rf84676540d754e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fa457780b042b9" /><Relationship Type="http://schemas.openxmlformats.org/officeDocument/2006/relationships/notesSlide" Target="/ppt/notesSlides/notesSlide17.xml" Id="R41c76cc25ab840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355762-950C-4D40-AC3B-9679948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第7讲  机制假设、研究判断与实验设计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6 课之后，问题门还没有证明机制成立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8D73C84C-586A-4A11-B415-9832EFE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6 课已有</a:t>
            </a:r>
          </a:p>
        </p:txBody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C39808B-6BD3-4465-8480-B7550FB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1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仍需回答</a:t>
            </a:r>
          </a:p>
        </p:txBody>
      </p:sp>
      <p:sp>
        <p:nvSpPr>
          <p:cNvPr id="8" name="split-top">
            <a:extLst xmlns:a="http://schemas.openxmlformats.org/drawingml/2006/main">
              <a:ext uri="{FF2B5EF4-FFF2-40B4-BE49-F238E27FC236}">
                <a16:creationId xmlns:a16="http://schemas.microsoft.com/office/drawing/2014/main" id="{DCC482BF-F101-44BB-826E-76D736D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left-lines-0">
            <a:extLst xmlns:a="http://schemas.openxmlformats.org/drawingml/2006/main">
              <a:ext uri="{FF2B5EF4-FFF2-40B4-BE49-F238E27FC236}">
                <a16:creationId xmlns:a16="http://schemas.microsoft.com/office/drawing/2014/main" id="{889E33E5-9357-49E3-9C64-9516A76C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可证伪命题：范围与非例</a:t>
            </a:r>
          </a:p>
        </p:txBody>
      </p:sp>
      <p:sp>
        <p:nvSpPr>
          <p:cNvPr id="10" name="left-lines-1">
            <a:extLst xmlns:a="http://schemas.openxmlformats.org/drawingml/2006/main">
              <a:ext uri="{FF2B5EF4-FFF2-40B4-BE49-F238E27FC236}">
                <a16:creationId xmlns:a16="http://schemas.microsoft.com/office/drawing/2014/main" id="{CD4FD461-079E-4698-9583-86E7CC9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第一性原理必要条件</a:t>
            </a:r>
          </a:p>
        </p:txBody>
      </p:sp>
      <p:sp>
        <p:nvSpPr>
          <p:cNvPr id="11" name="left-lines-2">
            <a:extLst xmlns:a="http://schemas.openxmlformats.org/drawingml/2006/main">
              <a:ext uri="{FF2B5EF4-FFF2-40B4-BE49-F238E27FC236}">
                <a16:creationId xmlns:a16="http://schemas.microsoft.com/office/drawing/2014/main" id="{A29F9180-36F0-4A3E-B60F-5A606AC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证据地图与研究空白</a:t>
            </a:r>
          </a:p>
        </p:txBody>
      </p:sp>
      <p:sp>
        <p:nvSpPr>
          <p:cNvPr id="12" name="right-lines-0">
            <a:extLst xmlns:a="http://schemas.openxmlformats.org/drawingml/2006/main">
              <a:ext uri="{FF2B5EF4-FFF2-40B4-BE49-F238E27FC236}">
                <a16:creationId xmlns:a16="http://schemas.microsoft.com/office/drawing/2014/main" id="{70768002-8F6E-44C6-B4A3-D2E9F26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为什么会发生：机制</a:t>
            </a:r>
          </a:p>
        </p:txBody>
      </p:sp>
      <p:sp>
        <p:nvSpPr>
          <p:cNvPr id="13" name="right-lines-1">
            <a:extLst xmlns:a="http://schemas.openxmlformats.org/drawingml/2006/main">
              <a:ext uri="{FF2B5EF4-FFF2-40B4-BE49-F238E27FC236}">
                <a16:creationId xmlns:a16="http://schemas.microsoft.com/office/drawing/2014/main" id="{BB0EF12F-5B13-43E1-B9CD-6C7CA54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什么也能解释：替代</a:t>
            </a:r>
          </a:p>
        </p:txBody>
      </p:sp>
      <p:sp>
        <p:nvSpPr>
          <p:cNvPr id="14" name="right-lines-2">
            <a:extLst xmlns:a="http://schemas.openxmlformats.org/drawingml/2006/main">
              <a:ext uri="{FF2B5EF4-FFF2-40B4-BE49-F238E27FC236}">
                <a16:creationId xmlns:a16="http://schemas.microsoft.com/office/drawing/2014/main" id="{7EA9B37F-260B-4D9B-9FF1-793761E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什么结果区分两者：实验</a:t>
            </a:r>
          </a:p>
        </p:txBody>
      </p:sp>
      <p:sp>
        <p:nvSpPr>
          <p:cNvPr id="15" name="gap">
            <a:extLst xmlns:a="http://schemas.openxmlformats.org/drawingml/2006/main">
              <a:ext uri="{FF2B5EF4-FFF2-40B4-BE49-F238E27FC236}">
                <a16:creationId xmlns:a16="http://schemas.microsoft.com/office/drawing/2014/main" id="{3C461E80-E774-4328-9222-D2CE04F0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问题成立  ≠  机制成立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本课只完成机制—判断—映射的最小闭环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route-0-bg">
            <a:extLst xmlns:a="http://schemas.openxmlformats.org/drawingml/2006/main">
              <a:ext uri="{FF2B5EF4-FFF2-40B4-BE49-F238E27FC236}">
                <a16:creationId xmlns:a16="http://schemas.microsoft.com/office/drawing/2014/main" id="{2BE853D1-3B8C-49C2-BCE0-B2B317A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route-0">
            <a:extLst xmlns:a="http://schemas.openxmlformats.org/drawingml/2006/main">
              <a:ext uri="{FF2B5EF4-FFF2-40B4-BE49-F238E27FC236}">
                <a16:creationId xmlns:a16="http://schemas.microsoft.com/office/drawing/2014/main" id="{43C57AAC-C0BC-49B4-B1E9-65CF4D1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主机制</a:t>
            </a:r>
          </a:p>
        </p:txBody>
      </p:sp>
      <p:sp>
        <p:nvSpPr>
          <p:cNvPr id="8" name="route-a0">
            <a:extLst xmlns:a="http://schemas.openxmlformats.org/drawingml/2006/main">
              <a:ext uri="{FF2B5EF4-FFF2-40B4-BE49-F238E27FC236}">
                <a16:creationId xmlns:a16="http://schemas.microsoft.com/office/drawing/2014/main" id="{2C2793E9-2657-45A7-98FD-7DD811F6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977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oute-1-bg">
            <a:extLst xmlns:a="http://schemas.openxmlformats.org/drawingml/2006/main">
              <a:ext uri="{FF2B5EF4-FFF2-40B4-BE49-F238E27FC236}">
                <a16:creationId xmlns:a16="http://schemas.microsoft.com/office/drawing/2014/main" id="{575D85F4-8A1D-4999-B011-85D373B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route-1">
            <a:extLst xmlns:a="http://schemas.openxmlformats.org/drawingml/2006/main">
              <a:ext uri="{FF2B5EF4-FFF2-40B4-BE49-F238E27FC236}">
                <a16:creationId xmlns:a16="http://schemas.microsoft.com/office/drawing/2014/main" id="{B23B4CA4-D0F5-409D-9997-4E2E0B9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可区分替代</a:t>
            </a:r>
          </a:p>
        </p:txBody>
      </p:sp>
      <p:sp>
        <p:nvSpPr>
          <p:cNvPr id="11" name="route-a1">
            <a:extLst xmlns:a="http://schemas.openxmlformats.org/drawingml/2006/main">
              <a:ext uri="{FF2B5EF4-FFF2-40B4-BE49-F238E27FC236}">
                <a16:creationId xmlns:a16="http://schemas.microsoft.com/office/drawing/2014/main" id="{4FB5F4A9-90C2-4D81-B2E8-8A28B892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977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oute-2-bg">
            <a:extLst xmlns:a="http://schemas.openxmlformats.org/drawingml/2006/main">
              <a:ext uri="{FF2B5EF4-FFF2-40B4-BE49-F238E27FC236}">
                <a16:creationId xmlns:a16="http://schemas.microsoft.com/office/drawing/2014/main" id="{D37E2A65-DEB3-4DAA-8C8E-0D89643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route-2">
            <a:extLst xmlns:a="http://schemas.openxmlformats.org/drawingml/2006/main">
              <a:ext uri="{FF2B5EF4-FFF2-40B4-BE49-F238E27FC236}">
                <a16:creationId xmlns:a16="http://schemas.microsoft.com/office/drawing/2014/main" id="{0CF81CCC-433E-4862-939A-7DADB57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</a:t>
            </a:r>
          </a:p>
        </p:txBody>
      </p:sp>
      <p:sp>
        <p:nvSpPr>
          <p:cNvPr id="14" name="route-a2">
            <a:extLst xmlns:a="http://schemas.openxmlformats.org/drawingml/2006/main">
              <a:ext uri="{FF2B5EF4-FFF2-40B4-BE49-F238E27FC236}">
                <a16:creationId xmlns:a16="http://schemas.microsoft.com/office/drawing/2014/main" id="{D2B8D7FA-949B-4DE0-92B5-07F0DAB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0977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route-3-bg">
            <a:extLst xmlns:a="http://schemas.openxmlformats.org/drawingml/2006/main">
              <a:ext uri="{FF2B5EF4-FFF2-40B4-BE49-F238E27FC236}">
                <a16:creationId xmlns:a16="http://schemas.microsoft.com/office/drawing/2014/main" id="{53E8D1E4-FE54-40DF-AB8A-8065150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1450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route-3">
            <a:extLst xmlns:a="http://schemas.openxmlformats.org/drawingml/2006/main">
              <a:ext uri="{FF2B5EF4-FFF2-40B4-BE49-F238E27FC236}">
                <a16:creationId xmlns:a16="http://schemas.microsoft.com/office/drawing/2014/main" id="{821AFE16-46AA-4DED-BECE-6360108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0975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结果映射</a:t>
            </a:r>
          </a:p>
        </p:txBody>
      </p:sp>
      <p:sp>
        <p:nvSpPr>
          <p:cNvPr id="17" name="minimum">
            <a:extLst xmlns:a="http://schemas.openxmlformats.org/drawingml/2006/main">
              <a:ext uri="{FF2B5EF4-FFF2-40B4-BE49-F238E27FC236}">
                <a16:creationId xmlns:a16="http://schemas.microsoft.com/office/drawing/2014/main" id="{D5BD952A-E0DD-4406-9C9A-465BC32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课堂最低闭环：1 个主机制  +  1 个替代  +  1 条判断  +  1 张映射</a:t>
            </a:r>
          </a:p>
        </p:txBody>
      </p:sp>
      <p:sp>
        <p:nvSpPr>
          <p:cNvPr id="18" name="handoff">
            <a:extLst xmlns:a="http://schemas.openxmlformats.org/drawingml/2006/main">
              <a:ext uri="{FF2B5EF4-FFF2-40B4-BE49-F238E27FC236}">
                <a16:creationId xmlns:a16="http://schemas.microsoft.com/office/drawing/2014/main" id="{6D314633-12AA-4A83-A57E-87900658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14850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这些对象直接进入第 8 课方案分享；完整工程规格留到第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结果预测和机制解释分开写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1">
            <a:extLst xmlns:a="http://schemas.openxmlformats.org/drawingml/2006/main">
              <a:ext uri="{FF2B5EF4-FFF2-40B4-BE49-F238E27FC236}">
                <a16:creationId xmlns:a16="http://schemas.microsoft.com/office/drawing/2014/main" id="{5B9BDA0F-BD87-45A0-A2B0-37B662E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先分开结果命题与机制候选</a:t>
            </a:r>
          </a:p>
        </p:txBody>
      </p:sp>
      <p:sp>
        <p:nvSpPr>
          <p:cNvPr id="7" name="content-2">
            <a:extLst xmlns:a="http://schemas.openxmlformats.org/drawingml/2006/main">
              <a:ext uri="{FF2B5EF4-FFF2-40B4-BE49-F238E27FC236}">
                <a16:creationId xmlns:a16="http://schemas.microsoft.com/office/drawing/2014/main" id="{0D1113ED-93CE-475E-A600-9CD6470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Q1 结果命题：阅读卡组遗漏更少。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C5CAF3F0-7B8C-4620-8E04-3CBC68C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32923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9" name="content-4">
            <a:extLst xmlns:a="http://schemas.openxmlformats.org/drawingml/2006/main">
              <a:ext uri="{FF2B5EF4-FFF2-40B4-BE49-F238E27FC236}">
                <a16:creationId xmlns:a16="http://schemas.microsoft.com/office/drawing/2014/main" id="{9CAD9942-C0CD-4DA6-823D-42F0587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51196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H1：生成时显式列条件</a:t>
            </a:r>
          </a:p>
        </p:txBody>
      </p:sp>
      <p:sp>
        <p:nvSpPr>
          <p:cNvPr id="10" name="content-5">
            <a:extLst xmlns:a="http://schemas.openxmlformats.org/drawingml/2006/main">
              <a:ext uri="{FF2B5EF4-FFF2-40B4-BE49-F238E27FC236}">
                <a16:creationId xmlns:a16="http://schemas.microsoft.com/office/drawing/2014/main" id="{A1322961-5FC5-47F4-93EE-AEC3EC36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009900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process-6">
            <a:extLst xmlns:a="http://schemas.openxmlformats.org/drawingml/2006/main">
              <a:ext uri="{FF2B5EF4-FFF2-40B4-BE49-F238E27FC236}">
                <a16:creationId xmlns:a16="http://schemas.microsoft.com/office/drawing/2014/main" id="{B7184AE4-1357-4509-A977-19A80E0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2809875"/>
            <a:ext cx="532923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2" name="content-7">
            <a:extLst xmlns:a="http://schemas.openxmlformats.org/drawingml/2006/main">
              <a:ext uri="{FF2B5EF4-FFF2-40B4-BE49-F238E27FC236}">
                <a16:creationId xmlns:a16="http://schemas.microsoft.com/office/drawing/2014/main" id="{8828FB7C-A953-41E8-A04B-38B0081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895600"/>
            <a:ext cx="51196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输出保留更多条件</a:t>
            </a:r>
          </a:p>
        </p:txBody>
      </p:sp>
      <p:sp>
        <p:nvSpPr>
          <p:cNvPr id="13" name="content-8">
            <a:extLst xmlns:a="http://schemas.openxmlformats.org/drawingml/2006/main">
              <a:ext uri="{FF2B5EF4-FFF2-40B4-BE49-F238E27FC236}">
                <a16:creationId xmlns:a16="http://schemas.microsoft.com/office/drawing/2014/main" id="{B4308CB4-1E92-4056-8B29-AE4E9D0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看到差异，回答了多少？</a:t>
            </a:r>
          </a:p>
        </p:txBody>
      </p:sp>
      <p:sp>
        <p:nvSpPr>
          <p:cNvPr id="14" name="content-9">
            <a:extLst xmlns:a="http://schemas.openxmlformats.org/drawingml/2006/main">
              <a:ext uri="{FF2B5EF4-FFF2-40B4-BE49-F238E27FC236}">
                <a16:creationId xmlns:a16="http://schemas.microsoft.com/office/drawing/2014/main" id="{8F7B2199-4A58-4E65-B813-AB7EB71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结果可能与 Q1 一致，原因仍需区分。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主练一组可区分的解释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10">
            <a:extLst xmlns:a="http://schemas.openxmlformats.org/drawingml/2006/main">
              <a:ext uri="{FF2B5EF4-FFF2-40B4-BE49-F238E27FC236}">
                <a16:creationId xmlns:a16="http://schemas.microsoft.com/office/drawing/2014/main" id="{584AECAA-3169-4228-9C01-4376138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生成解释 H1</a:t>
            </a:r>
          </a:p>
        </p:txBody>
      </p:sp>
      <p:sp>
        <p:nvSpPr>
          <p:cNvPr id="7" name="rule-11">
            <a:extLst xmlns:a="http://schemas.openxmlformats.org/drawingml/2006/main">
              <a:ext uri="{FF2B5EF4-FFF2-40B4-BE49-F238E27FC236}">
                <a16:creationId xmlns:a16="http://schemas.microsoft.com/office/drawing/2014/main" id="{CA25B62C-AC99-433C-ADAC-40AF8B9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8" name="content-12">
            <a:extLst xmlns:a="http://schemas.openxmlformats.org/drawingml/2006/main">
              <a:ext uri="{FF2B5EF4-FFF2-40B4-BE49-F238E27FC236}">
                <a16:creationId xmlns:a16="http://schemas.microsoft.com/office/drawing/2014/main" id="{CFCA19BB-5CEB-498C-8024-61F2D03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生成时显式列条件，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输出确实保留更多。</a:t>
            </a:r>
          </a:p>
        </p:txBody>
      </p:sp>
      <p:sp>
        <p:nvSpPr>
          <p:cNvPr id="9" name="content-13">
            <a:extLst xmlns:a="http://schemas.openxmlformats.org/drawingml/2006/main">
              <a:ext uri="{FF2B5EF4-FFF2-40B4-BE49-F238E27FC236}">
                <a16:creationId xmlns:a16="http://schemas.microsoft.com/office/drawing/2014/main" id="{1A0DDDAB-5594-4670-8DCE-AE60C8A6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测量解释 A2</a:t>
            </a:r>
          </a:p>
        </p:txBody>
      </p:sp>
      <p:sp>
        <p:nvSpPr>
          <p:cNvPr id="10" name="rule-14">
            <a:extLst xmlns:a="http://schemas.openxmlformats.org/drawingml/2006/main">
              <a:ext uri="{FF2B5EF4-FFF2-40B4-BE49-F238E27FC236}">
                <a16:creationId xmlns:a16="http://schemas.microsoft.com/office/drawing/2014/main" id="{695A4B69-4827-45FB-BDA1-6D627BF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content-15">
            <a:extLst xmlns:a="http://schemas.openxmlformats.org/drawingml/2006/main">
              <a:ext uri="{FF2B5EF4-FFF2-40B4-BE49-F238E27FC236}">
                <a16:creationId xmlns:a16="http://schemas.microsoft.com/office/drawing/2014/main" id="{E384216D-893F-4CD8-A6D6-22299E3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032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评分者看见字段后，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更容易给出保留分。</a:t>
            </a:r>
          </a:p>
        </p:txBody>
      </p:sp>
      <p:sp>
        <p:nvSpPr>
          <p:cNvPr id="12" name="content-16">
            <a:extLst xmlns:a="http://schemas.openxmlformats.org/drawingml/2006/main">
              <a:ext uri="{FF2B5EF4-FFF2-40B4-BE49-F238E27FC236}">
                <a16:creationId xmlns:a16="http://schemas.microsoft.com/office/drawing/2014/main" id="{BAF02212-2F0B-4923-928F-3333FD0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另查 A1：其他质量错误？     A3：是否依赖材料结构？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四种记录回答四个不同问题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17">
            <a:extLst xmlns:a="http://schemas.openxmlformats.org/drawingml/2006/main">
              <a:ext uri="{FF2B5EF4-FFF2-40B4-BE49-F238E27FC236}">
                <a16:creationId xmlns:a16="http://schemas.microsoft.com/office/drawing/2014/main" id="{544FE867-F021-44EE-99C4-D4DAB25D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来源核验：这份材料是否确实存在？</a:t>
            </a:r>
          </a:p>
        </p:txBody>
      </p:sp>
      <p:sp>
        <p:nvSpPr>
          <p:cNvPr id="7" name="content-18">
            <a:extLst xmlns:a="http://schemas.openxmlformats.org/drawingml/2006/main">
              <a:ext uri="{FF2B5EF4-FFF2-40B4-BE49-F238E27FC236}">
                <a16:creationId xmlns:a16="http://schemas.microsoft.com/office/drawing/2014/main" id="{45EB2B3B-9368-495D-A658-35B91403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证据角色：它直接测量什么？</a:t>
            </a:r>
          </a:p>
        </p:txBody>
      </p:sp>
      <p:sp>
        <p:nvSpPr>
          <p:cNvPr id="8" name="content-19">
            <a:extLst xmlns:a="http://schemas.openxmlformats.org/drawingml/2006/main">
              <a:ext uri="{FF2B5EF4-FFF2-40B4-BE49-F238E27FC236}">
                <a16:creationId xmlns:a16="http://schemas.microsoft.com/office/drawing/2014/main" id="{22E1ECF0-1176-4397-AC23-5B76B2C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主张方向：支持、反驳，还是仍不能判断？</a:t>
            </a:r>
          </a:p>
        </p:txBody>
      </p:sp>
      <p:sp>
        <p:nvSpPr>
          <p:cNvPr id="9" name="content-20">
            <a:extLst xmlns:a="http://schemas.openxmlformats.org/drawingml/2006/main">
              <a:ext uri="{FF2B5EF4-FFF2-40B4-BE49-F238E27FC236}">
                <a16:creationId xmlns:a16="http://schemas.microsoft.com/office/drawing/2014/main" id="{8932A746-4D01-4F57-BD47-6CE64FC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工件成熟度：draft / review / approved / stable</a:t>
            </a:r>
          </a:p>
        </p:txBody>
      </p:sp>
      <p:sp>
        <p:nvSpPr>
          <p:cNvPr id="10" name="content-21">
            <a:extLst xmlns:a="http://schemas.openxmlformats.org/drawingml/2006/main">
              <a:ext uri="{FF2B5EF4-FFF2-40B4-BE49-F238E27FC236}">
                <a16:creationId xmlns:a16="http://schemas.microsoft.com/office/drawing/2014/main" id="{87E90F07-4DFC-44CB-9D18-74B4A65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来源真实 ≠ 某个机制已成立。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方案取舍要记录比较依据，而不是只写最后选择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graphicFrame>
        <p:nvGraphicFramePr>
          <p:cNvPr id="11" name="native-table-22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方案甲：同批材料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方案乙：两批材料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可比性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控制材料差异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混入材料难度差异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执行条件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两种方法使用独立上下文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仍需统一模型与协议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当前决定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保留配对比较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有范围研究目的再设计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23">
            <a:extLst xmlns:a="http://schemas.openxmlformats.org/drawingml/2006/main">
              <a:ext uri="{FF2B5EF4-FFF2-40B4-BE49-F238E27FC236}">
                <a16:creationId xmlns:a16="http://schemas.microsoft.com/office/drawing/2014/main" id="{8795063D-4BFB-4AC9-8E8A-28DDF45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同批材料本身不会造成记忆污染；共享上下文才需检查。</a:t>
            </a:r>
          </a:p>
        </p:txBody>
      </p:sp>
      <p:sp>
        <p:nvSpPr>
          <p:cNvPr id="8" name="content-24">
            <a:extLst xmlns:a="http://schemas.openxmlformats.org/drawingml/2006/main">
              <a:ext uri="{FF2B5EF4-FFF2-40B4-BE49-F238E27FC236}">
                <a16:creationId xmlns:a16="http://schemas.microsoft.com/office/drawing/2014/main" id="{B18E0134-0E65-4840-A00F-0299DC7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341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结果比较仍不能单独区分 H1 与 A2。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同一个观察，能区分两种解释吗？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5">
            <a:extLst xmlns:a="http://schemas.openxmlformats.org/drawingml/2006/main">
              <a:ext uri="{FF2B5EF4-FFF2-40B4-BE49-F238E27FC236}">
                <a16:creationId xmlns:a16="http://schemas.microsoft.com/office/drawing/2014/main" id="{517D4829-9397-4C51-B8C7-E9458FC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观察：带字段的阅读卡输出得分高于自由摘要</a:t>
            </a:r>
          </a:p>
        </p:txBody>
      </p:sp>
      <p:sp>
        <p:nvSpPr>
          <p:cNvPr id="7" name="content-26">
            <a:extLst xmlns:a="http://schemas.openxmlformats.org/drawingml/2006/main">
              <a:ext uri="{FF2B5EF4-FFF2-40B4-BE49-F238E27FC236}">
                <a16:creationId xmlns:a16="http://schemas.microsoft.com/office/drawing/2014/main" id="{5CF60A12-0D6A-4927-A155-E510F47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生成解释 H1</a:t>
            </a:r>
          </a:p>
        </p:txBody>
      </p:sp>
      <p:sp>
        <p:nvSpPr>
          <p:cNvPr id="8" name="rule-27">
            <a:extLst xmlns:a="http://schemas.openxmlformats.org/drawingml/2006/main">
              <a:ext uri="{FF2B5EF4-FFF2-40B4-BE49-F238E27FC236}">
                <a16:creationId xmlns:a16="http://schemas.microsoft.com/office/drawing/2014/main" id="{D3280082-7954-4A65-9574-61F052D9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28">
            <a:extLst xmlns:a="http://schemas.openxmlformats.org/drawingml/2006/main">
              <a:ext uri="{FF2B5EF4-FFF2-40B4-BE49-F238E27FC236}">
                <a16:creationId xmlns:a16="http://schemas.microsoft.com/office/drawing/2014/main" id="{CE955E37-17A8-425C-B358-9548DEA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输出保留得更多？</a:t>
            </a:r>
          </a:p>
        </p:txBody>
      </p:sp>
      <p:sp>
        <p:nvSpPr>
          <p:cNvPr id="10" name="content-29">
            <a:extLst xmlns:a="http://schemas.openxmlformats.org/drawingml/2006/main">
              <a:ext uri="{FF2B5EF4-FFF2-40B4-BE49-F238E27FC236}">
                <a16:creationId xmlns:a16="http://schemas.microsoft.com/office/drawing/2014/main" id="{7DB17846-0F61-4BBD-9835-9E750942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测量解释 A2</a:t>
            </a:r>
          </a:p>
        </p:txBody>
      </p:sp>
      <p:sp>
        <p:nvSpPr>
          <p:cNvPr id="11" name="rule-30">
            <a:extLst xmlns:a="http://schemas.openxmlformats.org/drawingml/2006/main">
              <a:ext uri="{FF2B5EF4-FFF2-40B4-BE49-F238E27FC236}">
                <a16:creationId xmlns:a16="http://schemas.microsoft.com/office/drawing/2014/main" id="{A3E18B51-6F76-4FE0-A216-11FDA27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31">
            <a:extLst xmlns:a="http://schemas.openxmlformats.org/drawingml/2006/main">
              <a:ext uri="{FF2B5EF4-FFF2-40B4-BE49-F238E27FC236}">
                <a16:creationId xmlns:a16="http://schemas.microsoft.com/office/drawing/2014/main" id="{D65B2454-3FFE-4DD8-A38C-25D5550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0325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评分者更容易给分？</a:t>
            </a:r>
          </a:p>
        </p:txBody>
      </p:sp>
      <p:sp>
        <p:nvSpPr>
          <p:cNvPr id="13" name="content-32">
            <a:extLst xmlns:a="http://schemas.openxmlformats.org/drawingml/2006/main">
              <a:ext uri="{FF2B5EF4-FFF2-40B4-BE49-F238E27FC236}">
                <a16:creationId xmlns:a16="http://schemas.microsoft.com/office/drawing/2014/main" id="{0ADFA36C-1D7B-4CDE-9F12-4AC153E7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追加观察：隐去条件标签、统一标注规则后，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差异是否仍在？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完整工程规格集中到第 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l7">
            <a:extLst xmlns:a="http://schemas.openxmlformats.org/drawingml/2006/main">
              <a:ext uri="{FF2B5EF4-FFF2-40B4-BE49-F238E27FC236}">
                <a16:creationId xmlns:a16="http://schemas.microsoft.com/office/drawing/2014/main" id="{B8B5ADD0-25E2-4BFF-BABD-0651C0E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7 课</a:t>
            </a:r>
          </a:p>
        </p:txBody>
      </p:sp>
      <p:sp>
        <p:nvSpPr>
          <p:cNvPr id="7" name="b7-bg">
            <a:extLst xmlns:a="http://schemas.openxmlformats.org/drawingml/2006/main">
              <a:ext uri="{FF2B5EF4-FFF2-40B4-BE49-F238E27FC236}">
                <a16:creationId xmlns:a16="http://schemas.microsoft.com/office/drawing/2014/main" id="{3507F333-6F4A-4968-A795-3502D28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8" name="b7">
            <a:extLst xmlns:a="http://schemas.openxmlformats.org/drawingml/2006/main">
              <a:ext uri="{FF2B5EF4-FFF2-40B4-BE49-F238E27FC236}">
                <a16:creationId xmlns:a16="http://schemas.microsoft.com/office/drawing/2014/main" id="{F736789B-E1F1-4AAE-818D-CAFD453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机制 + 替代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 + 映射</a:t>
            </a:r>
          </a:p>
        </p:txBody>
      </p:sp>
      <p:sp>
        <p:nvSpPr>
          <p:cNvPr id="9" name="a78">
            <a:extLst xmlns:a="http://schemas.openxmlformats.org/drawingml/2006/main">
              <a:ext uri="{FF2B5EF4-FFF2-40B4-BE49-F238E27FC236}">
                <a16:creationId xmlns:a16="http://schemas.microsoft.com/office/drawing/2014/main" id="{92C8950D-7051-400D-90AA-BD98270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l8">
            <a:extLst xmlns:a="http://schemas.openxmlformats.org/drawingml/2006/main">
              <a:ext uri="{FF2B5EF4-FFF2-40B4-BE49-F238E27FC236}">
                <a16:creationId xmlns:a16="http://schemas.microsoft.com/office/drawing/2014/main" id="{9FFF5C4E-CE12-4785-A6B4-523B740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8 课</a:t>
            </a:r>
          </a:p>
        </p:txBody>
      </p:sp>
      <p:sp>
        <p:nvSpPr>
          <p:cNvPr id="11" name="b8-bg">
            <a:extLst xmlns:a="http://schemas.openxmlformats.org/drawingml/2006/main">
              <a:ext uri="{FF2B5EF4-FFF2-40B4-BE49-F238E27FC236}">
                <a16:creationId xmlns:a16="http://schemas.microsoft.com/office/drawing/2014/main" id="{502DD20E-FC57-477E-AA8D-AF95207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2" name="b8">
            <a:extLst xmlns:a="http://schemas.openxmlformats.org/drawingml/2006/main">
              <a:ext uri="{FF2B5EF4-FFF2-40B4-BE49-F238E27FC236}">
                <a16:creationId xmlns:a16="http://schemas.microsoft.com/office/drawing/2014/main" id="{A6651363-6040-406F-B8EF-CE6402B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同伴质询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修正边界</a:t>
            </a:r>
          </a:p>
        </p:txBody>
      </p:sp>
      <p:sp>
        <p:nvSpPr>
          <p:cNvPr id="13" name="a89">
            <a:extLst xmlns:a="http://schemas.openxmlformats.org/drawingml/2006/main">
              <a:ext uri="{FF2B5EF4-FFF2-40B4-BE49-F238E27FC236}">
                <a16:creationId xmlns:a16="http://schemas.microsoft.com/office/drawing/2014/main" id="{249E8D92-604C-4EA8-AE5D-B807A68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l9">
            <a:extLst xmlns:a="http://schemas.openxmlformats.org/drawingml/2006/main">
              <a:ext uri="{FF2B5EF4-FFF2-40B4-BE49-F238E27FC236}">
                <a16:creationId xmlns:a16="http://schemas.microsoft.com/office/drawing/2014/main" id="{69CE2A16-3452-4C0E-9EC7-5E8473A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</a:t>
            </a:r>
          </a:p>
        </p:txBody>
      </p:sp>
      <p:sp>
        <p:nvSpPr>
          <p:cNvPr id="15" name="b9-bg">
            <a:extLst xmlns:a="http://schemas.openxmlformats.org/drawingml/2006/main">
              <a:ext uri="{FF2B5EF4-FFF2-40B4-BE49-F238E27FC236}">
                <a16:creationId xmlns:a16="http://schemas.microsoft.com/office/drawing/2014/main" id="{B1B3652D-0914-41CA-B69E-941E155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b9">
            <a:extLst xmlns:a="http://schemas.openxmlformats.org/drawingml/2006/main">
              <a:ext uri="{FF2B5EF4-FFF2-40B4-BE49-F238E27FC236}">
                <a16:creationId xmlns:a16="http://schemas.microsoft.com/office/drawing/2014/main" id="{5930802B-9C4C-4151-B252-11DA580C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552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 baseline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完整工程规格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0E07AF4-1305-471A-A067-2022B6CF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本课不要求填满工程字段，也不把删减内容转成课后必做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候选在核验前只能留在探索线索区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andidate-bg">
            <a:extLst xmlns:a="http://schemas.openxmlformats.org/drawingml/2006/main">
              <a:ext uri="{FF2B5EF4-FFF2-40B4-BE49-F238E27FC236}">
                <a16:creationId xmlns:a16="http://schemas.microsoft.com/office/drawing/2014/main" id="{2C84929E-2ED3-410F-9A7A-16899EA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candidate">
            <a:extLst xmlns:a="http://schemas.openxmlformats.org/drawingml/2006/main">
              <a:ext uri="{FF2B5EF4-FFF2-40B4-BE49-F238E27FC236}">
                <a16:creationId xmlns:a16="http://schemas.microsoft.com/office/drawing/2014/main" id="{93359EC3-BE83-40D3-A665-32BA72A7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候选</a:t>
            </a:r>
          </a:p>
        </p:txBody>
      </p:sp>
      <p:sp>
        <p:nvSpPr>
          <p:cNvPr id="8" name="a1">
            <a:extLst xmlns:a="http://schemas.openxmlformats.org/drawingml/2006/main">
              <a:ext uri="{FF2B5EF4-FFF2-40B4-BE49-F238E27FC236}">
                <a16:creationId xmlns:a16="http://schemas.microsoft.com/office/drawing/2014/main" id="{0F8C8214-0915-44BE-95F3-9BCC421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ck0">
            <a:extLst xmlns:a="http://schemas.openxmlformats.org/drawingml/2006/main">
              <a:ext uri="{FF2B5EF4-FFF2-40B4-BE49-F238E27FC236}">
                <a16:creationId xmlns:a16="http://schemas.microsoft.com/office/drawing/2014/main" id="{B8B60044-A1ED-400D-B5C6-B825950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中间过程</a:t>
            </a:r>
          </a:p>
        </p:txBody>
      </p:sp>
      <p:sp>
        <p:nvSpPr>
          <p:cNvPr id="10" name="ck1">
            <a:extLst xmlns:a="http://schemas.openxmlformats.org/drawingml/2006/main">
              <a:ext uri="{FF2B5EF4-FFF2-40B4-BE49-F238E27FC236}">
                <a16:creationId xmlns:a16="http://schemas.microsoft.com/office/drawing/2014/main" id="{B9B13835-98BC-4E1E-8AF3-901BCC1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28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可证伪</a:t>
            </a:r>
          </a:p>
        </p:txBody>
      </p:sp>
      <p:sp>
        <p:nvSpPr>
          <p:cNvPr id="11" name="ck2">
            <a:extLst xmlns:a="http://schemas.openxmlformats.org/drawingml/2006/main">
              <a:ext uri="{FF2B5EF4-FFF2-40B4-BE49-F238E27FC236}">
                <a16:creationId xmlns:a16="http://schemas.microsoft.com/office/drawing/2014/main" id="{9A2F7CD9-0595-4763-8A94-D991C09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可区分</a:t>
            </a:r>
          </a:p>
        </p:txBody>
      </p:sp>
      <p:sp>
        <p:nvSpPr>
          <p:cNvPr id="12" name="ck3">
            <a:extLst xmlns:a="http://schemas.openxmlformats.org/drawingml/2006/main">
              <a:ext uri="{FF2B5EF4-FFF2-40B4-BE49-F238E27FC236}">
                <a16:creationId xmlns:a16="http://schemas.microsoft.com/office/drawing/2014/main" id="{6303C4D8-4B79-43F0-9C7F-F087550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来源可核</a:t>
            </a:r>
          </a:p>
        </p:txBody>
      </p:sp>
      <p:sp>
        <p:nvSpPr>
          <p:cNvPr id="13" name="ck4">
            <a:extLst xmlns:a="http://schemas.openxmlformats.org/drawingml/2006/main">
              <a:ext uri="{FF2B5EF4-FFF2-40B4-BE49-F238E27FC236}">
                <a16:creationId xmlns:a16="http://schemas.microsoft.com/office/drawing/2014/main" id="{868E8918-B9AA-42F6-B918-A0B76E0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baseline 公平</a:t>
            </a:r>
          </a:p>
        </p:txBody>
      </p:sp>
      <p:sp>
        <p:nvSpPr>
          <p:cNvPr id="14" name="ck5">
            <a:extLst xmlns:a="http://schemas.openxmlformats.org/drawingml/2006/main">
              <a:ext uri="{FF2B5EF4-FFF2-40B4-BE49-F238E27FC236}">
                <a16:creationId xmlns:a16="http://schemas.microsoft.com/office/drawing/2014/main" id="{6D638B9F-2ACD-412C-98C2-393110A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81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○ 停止规则</a:t>
            </a:r>
          </a:p>
        </p:txBody>
      </p:sp>
      <p:sp>
        <p:nvSpPr>
          <p:cNvPr id="15" name="a2">
            <a:extLst xmlns:a="http://schemas.openxmlformats.org/drawingml/2006/main">
              <a:ext uri="{FF2B5EF4-FFF2-40B4-BE49-F238E27FC236}">
                <a16:creationId xmlns:a16="http://schemas.microsoft.com/office/drawing/2014/main" id="{18D9D838-CDFA-43CD-8E52-F36496C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keep-bg">
            <a:extLst xmlns:a="http://schemas.openxmlformats.org/drawingml/2006/main">
              <a:ext uri="{FF2B5EF4-FFF2-40B4-BE49-F238E27FC236}">
                <a16:creationId xmlns:a16="http://schemas.microsoft.com/office/drawing/2014/main" id="{25B72867-C053-4AAA-9D24-CB70833A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7" name="keep">
            <a:extLst xmlns:a="http://schemas.openxmlformats.org/drawingml/2006/main">
              <a:ext uri="{FF2B5EF4-FFF2-40B4-BE49-F238E27FC236}">
                <a16:creationId xmlns:a16="http://schemas.microsoft.com/office/drawing/2014/main" id="{63A0C189-AF1B-48AD-B404-5216B20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907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进入主格</a:t>
            </a:r>
          </a:p>
        </p:txBody>
      </p:sp>
      <p:sp>
        <p:nvSpPr>
          <p:cNvPr id="18" name="hold-bg">
            <a:extLst xmlns:a="http://schemas.openxmlformats.org/drawingml/2006/main">
              <a:ext uri="{FF2B5EF4-FFF2-40B4-BE49-F238E27FC236}">
                <a16:creationId xmlns:a16="http://schemas.microsoft.com/office/drawing/2014/main" id="{ADF1A30F-B5C1-46E1-91D3-63D95E3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9" name="hold">
            <a:extLst xmlns:a="http://schemas.openxmlformats.org/drawingml/2006/main">
              <a:ext uri="{FF2B5EF4-FFF2-40B4-BE49-F238E27FC236}">
                <a16:creationId xmlns:a16="http://schemas.microsoft.com/office/drawing/2014/main" id="{42F0756B-656A-49E0-8829-C3EE95C2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575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探索线索区</a:t>
            </a:r>
          </a:p>
        </p:txBody>
      </p:sp>
      <p:sp>
        <p:nvSpPr>
          <p:cNvPr id="20" name="owner">
            <a:extLst xmlns:a="http://schemas.openxmlformats.org/drawingml/2006/main">
              <a:ext uri="{FF2B5EF4-FFF2-40B4-BE49-F238E27FC236}">
                <a16:creationId xmlns:a16="http://schemas.microsoft.com/office/drawing/2014/main" id="{1BB52A93-ADA2-4900-8238-FF17F07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最终机制判断由学生负责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把假设变成区分观察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graphicFrame>
        <p:nvGraphicFramePr>
          <p:cNvPr id="9" name="native-table-33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要看的材料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当前能否判断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同口径输出与遗漏率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结果方向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条件保留与生成过程/对照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机制待检验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隐去组别后的标注比较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测量解释待检验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研究判断记录一次有理由的取舍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content-34">
            <a:extLst xmlns:a="http://schemas.openxmlformats.org/drawingml/2006/main">
              <a:ext uri="{FF2B5EF4-FFF2-40B4-BE49-F238E27FC236}">
                <a16:creationId xmlns:a16="http://schemas.microsoft.com/office/drawing/2014/main" id="{67AE8A40-8632-4A2E-BB28-05232A1A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当前决定：先检查输出是否保留限定条件。</a:t>
            </a:r>
          </a:p>
        </p:txBody>
      </p:sp>
      <p:sp>
        <p:nvSpPr>
          <p:cNvPr id="7" name="content-35">
            <a:extLst xmlns:a="http://schemas.openxmlformats.org/drawingml/2006/main">
              <a:ext uri="{FF2B5EF4-FFF2-40B4-BE49-F238E27FC236}">
                <a16:creationId xmlns:a16="http://schemas.microsoft.com/office/drawing/2014/main" id="{DEC4BF40-88AD-4EF6-93D3-81AF615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依据：这是 Q1 的直接结果对象。</a:t>
            </a:r>
          </a:p>
        </p:txBody>
      </p:sp>
      <p:sp>
        <p:nvSpPr>
          <p:cNvPr id="8" name="content-36">
            <a:extLst xmlns:a="http://schemas.openxmlformats.org/drawingml/2006/main">
              <a:ext uri="{FF2B5EF4-FFF2-40B4-BE49-F238E27FC236}">
                <a16:creationId xmlns:a16="http://schemas.microsoft.com/office/drawing/2014/main" id="{3EF5A7C1-FA35-4B52-9316-0011A17F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暂缓：H1 与 A2 的区分尚需过程与评价对照。</a:t>
            </a:r>
          </a:p>
        </p:txBody>
      </p:sp>
      <p:sp>
        <p:nvSpPr>
          <p:cNvPr id="9" name="content-37">
            <a:extLst xmlns:a="http://schemas.openxmlformats.org/drawingml/2006/main">
              <a:ext uri="{FF2B5EF4-FFF2-40B4-BE49-F238E27FC236}">
                <a16:creationId xmlns:a16="http://schemas.microsoft.com/office/drawing/2014/main" id="{2F4B1AF8-0605-45A2-8C23-2AB0E5D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边界：A1 质量代价、A3 材料范围另查。</a:t>
            </a:r>
          </a:p>
        </p:txBody>
      </p:sp>
      <p:sp>
        <p:nvSpPr>
          <p:cNvPr id="10" name="content-38">
            <a:extLst xmlns:a="http://schemas.openxmlformats.org/drawingml/2006/main">
              <a:ext uri="{FF2B5EF4-FFF2-40B4-BE49-F238E27FC236}">
                <a16:creationId xmlns:a16="http://schemas.microsoft.com/office/drawing/2014/main" id="{7CAD81DE-6EAD-4D2D-99F5-70FBBC2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下一步：把区分观察带到第 8 课质询。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十类常见错误都指向同一个问题：实验不能改判断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e1-bg">
            <a:extLst xmlns:a="http://schemas.openxmlformats.org/drawingml/2006/main">
              <a:ext uri="{FF2B5EF4-FFF2-40B4-BE49-F238E27FC236}">
                <a16:creationId xmlns:a16="http://schemas.microsoft.com/office/drawing/2014/main" id="{1E375AFA-8583-4FAF-B785-576D0BC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e1">
            <a:extLst xmlns:a="http://schemas.openxmlformats.org/drawingml/2006/main">
              <a:ext uri="{FF2B5EF4-FFF2-40B4-BE49-F238E27FC236}">
                <a16:creationId xmlns:a16="http://schemas.microsoft.com/office/drawing/2014/main" id="{7B1E721C-8F26-4821-B7A2-CCC7143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机制错误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结果预测冒充机制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黑箱归因／无反证点</a:t>
            </a:r>
          </a:p>
        </p:txBody>
      </p:sp>
      <p:sp>
        <p:nvSpPr>
          <p:cNvPr id="8" name="e2-bg">
            <a:extLst xmlns:a="http://schemas.openxmlformats.org/drawingml/2006/main">
              <a:ext uri="{FF2B5EF4-FFF2-40B4-BE49-F238E27FC236}">
                <a16:creationId xmlns:a16="http://schemas.microsoft.com/office/drawing/2014/main" id="{B5F734EE-701F-4ED1-8DC4-F872A99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e2">
            <a:extLst xmlns:a="http://schemas.openxmlformats.org/drawingml/2006/main">
              <a:ext uri="{FF2B5EF4-FFF2-40B4-BE49-F238E27FC236}">
                <a16:creationId xmlns:a16="http://schemas.microsoft.com/office/drawing/2014/main" id="{CCBD79E1-4F43-46AF-B373-8FE175E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实验错误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替代不可区分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 不公平／无停止条件</a:t>
            </a:r>
          </a:p>
        </p:txBody>
      </p:sp>
      <p:sp>
        <p:nvSpPr>
          <p:cNvPr id="10" name="e3-bg">
            <a:extLst xmlns:a="http://schemas.openxmlformats.org/drawingml/2006/main">
              <a:ext uri="{FF2B5EF4-FFF2-40B4-BE49-F238E27FC236}">
                <a16:creationId xmlns:a16="http://schemas.microsoft.com/office/drawing/2014/main" id="{81F43DCB-F500-45F8-B453-9C53B74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e3">
            <a:extLst xmlns:a="http://schemas.openxmlformats.org/drawingml/2006/main">
              <a:ext uri="{FF2B5EF4-FFF2-40B4-BE49-F238E27FC236}">
                <a16:creationId xmlns:a16="http://schemas.microsoft.com/office/drawing/2014/main" id="{3E315BD6-08AF-4F26-AA2F-63DA4F9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43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记录错误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事后改判断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候选直接进主格</a:t>
            </a:r>
          </a:p>
        </p:txBody>
      </p:sp>
      <p:sp>
        <p:nvSpPr>
          <p:cNvPr id="12" name="ee1">
            <a:extLst xmlns:a="http://schemas.openxmlformats.org/drawingml/2006/main">
              <a:ext uri="{FF2B5EF4-FFF2-40B4-BE49-F238E27FC236}">
                <a16:creationId xmlns:a16="http://schemas.microsoft.com/office/drawing/2014/main" id="{95805246-16CD-46B6-A8A9-A0FFF3D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ee2">
            <a:extLst xmlns:a="http://schemas.openxmlformats.org/drawingml/2006/main">
              <a:ext uri="{FF2B5EF4-FFF2-40B4-BE49-F238E27FC236}">
                <a16:creationId xmlns:a16="http://schemas.microsoft.com/office/drawing/2014/main" id="{4432E0B1-64D8-44FD-A480-603E2423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failure">
            <a:extLst xmlns:a="http://schemas.openxmlformats.org/drawingml/2006/main">
              <a:ext uri="{FF2B5EF4-FFF2-40B4-BE49-F238E27FC236}">
                <a16:creationId xmlns:a16="http://schemas.microsoft.com/office/drawing/2014/main" id="{998EC32F-7979-47D1-B386-1C84121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共同后果：实验结果不能改变研究判断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个人实践：完成机制—判断—映射最小闭环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ractice-0-bg">
            <a:extLst xmlns:a="http://schemas.openxmlformats.org/drawingml/2006/main">
              <a:ext uri="{FF2B5EF4-FFF2-40B4-BE49-F238E27FC236}">
                <a16:creationId xmlns:a16="http://schemas.microsoft.com/office/drawing/2014/main" id="{7ADF74E8-166D-4A42-895F-21D14D0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practice-0">
            <a:extLst xmlns:a="http://schemas.openxmlformats.org/drawingml/2006/main">
              <a:ext uri="{FF2B5EF4-FFF2-40B4-BE49-F238E27FC236}">
                <a16:creationId xmlns:a16="http://schemas.microsoft.com/office/drawing/2014/main" id="{54412B5E-64FE-47B9-91FA-2399065E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写主机制</a:t>
            </a:r>
          </a:p>
        </p:txBody>
      </p:sp>
      <p:sp>
        <p:nvSpPr>
          <p:cNvPr id="8" name="practice-a0">
            <a:extLst xmlns:a="http://schemas.openxmlformats.org/drawingml/2006/main">
              <a:ext uri="{FF2B5EF4-FFF2-40B4-BE49-F238E27FC236}">
                <a16:creationId xmlns:a16="http://schemas.microsoft.com/office/drawing/2014/main" id="{D27E6FD1-C6AB-427A-A27A-CA87FC9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actice-1-bg">
            <a:extLst xmlns:a="http://schemas.openxmlformats.org/drawingml/2006/main">
              <a:ext uri="{FF2B5EF4-FFF2-40B4-BE49-F238E27FC236}">
                <a16:creationId xmlns:a16="http://schemas.microsoft.com/office/drawing/2014/main" id="{A1F1578B-E6E6-4481-B72E-98D77E3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practice-1">
            <a:extLst xmlns:a="http://schemas.openxmlformats.org/drawingml/2006/main">
              <a:ext uri="{FF2B5EF4-FFF2-40B4-BE49-F238E27FC236}">
                <a16:creationId xmlns:a16="http://schemas.microsoft.com/office/drawing/2014/main" id="{D1AA49A6-AE08-4A0A-B546-4E840678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写一个替代</a:t>
            </a:r>
          </a:p>
        </p:txBody>
      </p:sp>
      <p:sp>
        <p:nvSpPr>
          <p:cNvPr id="11" name="practice-a1">
            <a:extLst xmlns:a="http://schemas.openxmlformats.org/drawingml/2006/main">
              <a:ext uri="{FF2B5EF4-FFF2-40B4-BE49-F238E27FC236}">
                <a16:creationId xmlns:a16="http://schemas.microsoft.com/office/drawing/2014/main" id="{BF2036D1-8843-4D34-847F-EFA117D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actice-2-bg">
            <a:extLst xmlns:a="http://schemas.openxmlformats.org/drawingml/2006/main">
              <a:ext uri="{FF2B5EF4-FFF2-40B4-BE49-F238E27FC236}">
                <a16:creationId xmlns:a16="http://schemas.microsoft.com/office/drawing/2014/main" id="{3C1B6DE4-3615-446E-AF11-69704682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practice-2">
            <a:extLst xmlns:a="http://schemas.openxmlformats.org/drawingml/2006/main">
              <a:ext uri="{FF2B5EF4-FFF2-40B4-BE49-F238E27FC236}">
                <a16:creationId xmlns:a16="http://schemas.microsoft.com/office/drawing/2014/main" id="{C42F7289-7C5D-4919-BDC9-C435B03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写六字段判断</a:t>
            </a:r>
          </a:p>
        </p:txBody>
      </p:sp>
      <p:sp>
        <p:nvSpPr>
          <p:cNvPr id="14" name="practice-a2">
            <a:extLst xmlns:a="http://schemas.openxmlformats.org/drawingml/2006/main">
              <a:ext uri="{FF2B5EF4-FFF2-40B4-BE49-F238E27FC236}">
                <a16:creationId xmlns:a16="http://schemas.microsoft.com/office/drawing/2014/main" id="{7665297A-091F-427D-9F0C-AEF69881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practice-3-bg">
            <a:extLst xmlns:a="http://schemas.openxmlformats.org/drawingml/2006/main">
              <a:ext uri="{FF2B5EF4-FFF2-40B4-BE49-F238E27FC236}">
                <a16:creationId xmlns:a16="http://schemas.microsoft.com/office/drawing/2014/main" id="{556D16C1-BC34-411A-BF4A-5BB59B2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practice-3">
            <a:extLst xmlns:a="http://schemas.openxmlformats.org/drawingml/2006/main">
              <a:ext uri="{FF2B5EF4-FFF2-40B4-BE49-F238E27FC236}">
                <a16:creationId xmlns:a16="http://schemas.microsoft.com/office/drawing/2014/main" id="{C6D5EB0D-E5B5-4878-BA44-F1375CE6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画三态映射</a:t>
            </a:r>
          </a:p>
        </p:txBody>
      </p:sp>
      <p:sp>
        <p:nvSpPr>
          <p:cNvPr id="17" name="done-bg">
            <a:extLst xmlns:a="http://schemas.openxmlformats.org/drawingml/2006/main">
              <a:ext uri="{FF2B5EF4-FFF2-40B4-BE49-F238E27FC236}">
                <a16:creationId xmlns:a16="http://schemas.microsoft.com/office/drawing/2014/main" id="{033202E3-1856-4524-A280-C0861FC6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8" name="done">
            <a:extLst xmlns:a="http://schemas.openxmlformats.org/drawingml/2006/main">
              <a:ext uri="{FF2B5EF4-FFF2-40B4-BE49-F238E27FC236}">
                <a16:creationId xmlns:a16="http://schemas.microsoft.com/office/drawing/2014/main" id="{2D80ADB3-1767-465A-9995-90340A6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883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完成标志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四个对象落在个人项目中，可以被同伴逐项检查</a:t>
            </a:r>
          </a:p>
        </p:txBody>
      </p:sp>
      <p:sp>
        <p:nvSpPr>
          <p:cNvPr id="19" name="after">
            <a:extLst xmlns:a="http://schemas.openxmlformats.org/drawingml/2006/main">
              <a:ext uri="{FF2B5EF4-FFF2-40B4-BE49-F238E27FC236}">
                <a16:creationId xmlns:a16="http://schemas.microsoft.com/office/drawing/2014/main" id="{FD65FFFA-F10B-4765-91F0-F9C3B027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课后只补当堂未完成的表达；完整规格留到第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同伴互查五项：只提问题，不替作者决定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record-bg">
            <a:extLst xmlns:a="http://schemas.openxmlformats.org/drawingml/2006/main">
              <a:ext uri="{FF2B5EF4-FFF2-40B4-BE49-F238E27FC236}">
                <a16:creationId xmlns:a16="http://schemas.microsoft.com/office/drawing/2014/main" id="{257B4558-999B-4F90-B3BB-1FFD19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record">
            <a:extLst xmlns:a="http://schemas.openxmlformats.org/drawingml/2006/main">
              <a:ext uri="{FF2B5EF4-FFF2-40B4-BE49-F238E27FC236}">
                <a16:creationId xmlns:a16="http://schemas.microsoft.com/office/drawing/2014/main" id="{66DFF913-2979-47F1-8290-AC55065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695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同伴互查记录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对象：你的 H1 / 替代 / 判断 / 映射</a:t>
            </a:r>
          </a:p>
        </p:txBody>
      </p:sp>
      <p:sp>
        <p:nvSpPr>
          <p:cNvPr id="8" name="q0">
            <a:extLst xmlns:a="http://schemas.openxmlformats.org/drawingml/2006/main">
              <a:ext uri="{FF2B5EF4-FFF2-40B4-BE49-F238E27FC236}">
                <a16:creationId xmlns:a16="http://schemas.microsoft.com/office/drawing/2014/main" id="{E44AB2F8-DD6F-499A-B9AF-A88F461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重要吗？</a:t>
            </a:r>
          </a:p>
        </p:txBody>
      </p:sp>
      <p:sp>
        <p:nvSpPr>
          <p:cNvPr id="9" name="q1">
            <a:extLst xmlns:a="http://schemas.openxmlformats.org/drawingml/2006/main">
              <a:ext uri="{FF2B5EF4-FFF2-40B4-BE49-F238E27FC236}">
                <a16:creationId xmlns:a16="http://schemas.microsoft.com/office/drawing/2014/main" id="{B5DD3F65-9B20-4CD3-8793-4437CAF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依据够吗？</a:t>
            </a:r>
          </a:p>
        </p:txBody>
      </p:sp>
      <p:sp>
        <p:nvSpPr>
          <p:cNvPr id="10" name="q2">
            <a:extLst xmlns:a="http://schemas.openxmlformats.org/drawingml/2006/main">
              <a:ext uri="{FF2B5EF4-FFF2-40B4-BE49-F238E27FC236}">
                <a16:creationId xmlns:a16="http://schemas.microsoft.com/office/drawing/2014/main" id="{985B9B96-3FFE-47D4-9DF1-8FFF118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86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可区分吗？</a:t>
            </a:r>
          </a:p>
        </p:txBody>
      </p:sp>
      <p:sp>
        <p:nvSpPr>
          <p:cNvPr id="11" name="q3">
            <a:extLst xmlns:a="http://schemas.openxmlformats.org/drawingml/2006/main">
              <a:ext uri="{FF2B5EF4-FFF2-40B4-BE49-F238E27FC236}">
                <a16:creationId xmlns:a16="http://schemas.microsoft.com/office/drawing/2014/main" id="{0D2959FE-364F-42BB-813A-D85C284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周期可行吗？</a:t>
            </a:r>
          </a:p>
        </p:txBody>
      </p:sp>
      <p:sp>
        <p:nvSpPr>
          <p:cNvPr id="12" name="q4">
            <a:extLst xmlns:a="http://schemas.openxmlformats.org/drawingml/2006/main">
              <a:ext uri="{FF2B5EF4-FFF2-40B4-BE49-F238E27FC236}">
                <a16:creationId xmlns:a16="http://schemas.microsoft.com/office/drawing/2014/main" id="{12FBDB3E-0AA2-4711-9BA6-51835E4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什么结果会改判断？</a:t>
            </a:r>
          </a:p>
        </p:txBody>
      </p:sp>
      <p:sp>
        <p:nvSpPr>
          <p:cNvPr id="13" name="owner">
            <a:extLst xmlns:a="http://schemas.openxmlformats.org/drawingml/2006/main">
              <a:ext uri="{FF2B5EF4-FFF2-40B4-BE49-F238E27FC236}">
                <a16:creationId xmlns:a16="http://schemas.microsoft.com/office/drawing/2014/main" id="{A2CF406A-AD5E-4E1D-AF4F-BC1559D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同伴只提问题；作者保留决定权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CA90A0E2-C322-49FC-A2C0-85C5185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7BF74639-98A2-4E2F-AA7C-6F9A897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主机制与替代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622CC003-86D2-4B87-9FE9-010BB44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433E5C48-08C3-4B11-BA72-E940CFB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E94A8F66-BBA6-4055-AC8C-C4583E2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可区分实验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9C3D3024-6A4C-4314-B910-E297433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ED16087B-19C7-4B45-B52B-4B1EF58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D1A3624D-62F2-45E4-9734-57F6DEF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三态结果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C504E782-1645-475B-B1DC-7D55322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981BCAB6-9F73-4286-99E9-A17748D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75A32EAE-456E-4314-B838-6375000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研究判断记录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C96E9B9-3FE5-4FE9-B408-31029FD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结果不会改变任何判断时，实验还没有完成可区分性设计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退出卡：你的下一步实验真的会改变判断吗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1FEA0366-4312-43FA-9A08-FD2EBDB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你的下一步实验，真的会改变研究判断吗？</a:t>
            </a:r>
          </a:p>
        </p:txBody>
      </p:sp>
      <p:sp>
        <p:nvSpPr>
          <p:cNvPr id="7" name="exit-n0">
            <a:extLst xmlns:a="http://schemas.openxmlformats.org/drawingml/2006/main">
              <a:ext uri="{FF2B5EF4-FFF2-40B4-BE49-F238E27FC236}">
                <a16:creationId xmlns:a16="http://schemas.microsoft.com/office/drawing/2014/main" id="{66B4D37E-D151-437F-BFD0-E69A689D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exit-t0">
            <a:extLst xmlns:a="http://schemas.openxmlformats.org/drawingml/2006/main">
              <a:ext uri="{FF2B5EF4-FFF2-40B4-BE49-F238E27FC236}">
                <a16:creationId xmlns:a16="http://schemas.microsoft.com/office/drawing/2014/main" id="{AEB3F3E9-CB16-4C28-A41D-4B572C25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6305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主机制写清中间过程</a:t>
            </a:r>
          </a:p>
        </p:txBody>
      </p:sp>
      <p:sp>
        <p:nvSpPr>
          <p:cNvPr id="9" name="exit-r0">
            <a:extLst xmlns:a="http://schemas.openxmlformats.org/drawingml/2006/main">
              <a:ext uri="{FF2B5EF4-FFF2-40B4-BE49-F238E27FC236}">
                <a16:creationId xmlns:a16="http://schemas.microsoft.com/office/drawing/2014/main" id="{D6595022-D91A-4BC8-AEA3-6B08AA8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exit-n1">
            <a:extLst xmlns:a="http://schemas.openxmlformats.org/drawingml/2006/main">
              <a:ext uri="{FF2B5EF4-FFF2-40B4-BE49-F238E27FC236}">
                <a16:creationId xmlns:a16="http://schemas.microsoft.com/office/drawing/2014/main" id="{E5C57353-FFD9-48C9-B5E1-6F4FEBF0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exit-t1">
            <a:extLst xmlns:a="http://schemas.openxmlformats.org/drawingml/2006/main">
              <a:ext uri="{FF2B5EF4-FFF2-40B4-BE49-F238E27FC236}">
                <a16:creationId xmlns:a16="http://schemas.microsoft.com/office/drawing/2014/main" id="{96BB99BC-4BF9-45DD-819E-DEFBAE69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6305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H1 与替代有不同结果</a:t>
            </a:r>
          </a:p>
        </p:txBody>
      </p:sp>
      <p:sp>
        <p:nvSpPr>
          <p:cNvPr id="12" name="exit-r1">
            <a:extLst xmlns:a="http://schemas.openxmlformats.org/drawingml/2006/main">
              <a:ext uri="{FF2B5EF4-FFF2-40B4-BE49-F238E27FC236}">
                <a16:creationId xmlns:a16="http://schemas.microsoft.com/office/drawing/2014/main" id="{EFE59E98-760F-4BF4-AA1C-68CD546C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exit-n2">
            <a:extLst xmlns:a="http://schemas.openxmlformats.org/drawingml/2006/main">
              <a:ext uri="{FF2B5EF4-FFF2-40B4-BE49-F238E27FC236}">
                <a16:creationId xmlns:a16="http://schemas.microsoft.com/office/drawing/2014/main" id="{ECBFDE2F-A845-41AF-A7AB-069DB552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exit-t2">
            <a:extLst xmlns:a="http://schemas.openxmlformats.org/drawingml/2006/main">
              <a:ext uri="{FF2B5EF4-FFF2-40B4-BE49-F238E27FC236}">
                <a16:creationId xmlns:a16="http://schemas.microsoft.com/office/drawing/2014/main" id="{A68B4F33-36FA-46BD-B957-054F1CA2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57600"/>
            <a:ext cx="6305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判断已当场落盘</a:t>
            </a:r>
          </a:p>
        </p:txBody>
      </p:sp>
      <p:sp>
        <p:nvSpPr>
          <p:cNvPr id="15" name="exit-r2">
            <a:extLst xmlns:a="http://schemas.openxmlformats.org/drawingml/2006/main">
              <a:ext uri="{FF2B5EF4-FFF2-40B4-BE49-F238E27FC236}">
                <a16:creationId xmlns:a16="http://schemas.microsoft.com/office/drawing/2014/main" id="{E569BEF2-6B14-457C-86AE-CA0D0CC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exit-n3">
            <a:extLst xmlns:a="http://schemas.openxmlformats.org/drawingml/2006/main">
              <a:ext uri="{FF2B5EF4-FFF2-40B4-BE49-F238E27FC236}">
                <a16:creationId xmlns:a16="http://schemas.microsoft.com/office/drawing/2014/main" id="{D93A9375-D17F-4856-B7E1-6015A2E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exit-t3">
            <a:extLst xmlns:a="http://schemas.openxmlformats.org/drawingml/2006/main">
              <a:ext uri="{FF2B5EF4-FFF2-40B4-BE49-F238E27FC236}">
                <a16:creationId xmlns:a16="http://schemas.microsoft.com/office/drawing/2014/main" id="{C714F7CC-13F2-4932-ACC4-2C6D258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6305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当前最大未决项</a:t>
            </a:r>
          </a:p>
        </p:txBody>
      </p:sp>
      <p:sp>
        <p:nvSpPr>
          <p:cNvPr id="18" name="exit-r3">
            <a:extLst xmlns:a="http://schemas.openxmlformats.org/drawingml/2006/main">
              <a:ext uri="{FF2B5EF4-FFF2-40B4-BE49-F238E27FC236}">
                <a16:creationId xmlns:a16="http://schemas.microsoft.com/office/drawing/2014/main" id="{C6E67A47-1557-40E6-9E3F-97B9B00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next-bg">
            <a:extLst xmlns:a="http://schemas.openxmlformats.org/drawingml/2006/main">
              <a:ext uri="{FF2B5EF4-FFF2-40B4-BE49-F238E27FC236}">
                <a16:creationId xmlns:a16="http://schemas.microsoft.com/office/drawing/2014/main" id="{3CAB562A-B422-441D-9943-452FB3F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8A1F1CEF-9CC2-4A8A-8533-BFA107A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838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8 课输入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 · 证据 · 机制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最小验证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最大风险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2026-09-15T17:12:25.7880000Z</dcterms:created>
  <dcterms:modified xsi:type="dcterms:W3CDTF">2026-09-15T17:12:25.7890000Z</dcterms:modified>
</coreProperties>
</file>