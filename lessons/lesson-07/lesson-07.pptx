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91ee4be4ecf4ec4" /><Relationship Type="http://schemas.openxmlformats.org/officeDocument/2006/relationships/extended-properties" Target="/docProps/app.xml" Id="Rdc1c632a0c9b46b2" /><Relationship Type="http://schemas.openxmlformats.org/officeDocument/2006/relationships/officeDocument" Target="/ppt/presentation.xml" Id="R40891a9a0bd9427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01ff578d0bd4acf"/>
  </p:sldMasterIdLst>
  <p:notesMasterIdLst>
    <p:notesMasterId xmlns:r="http://schemas.openxmlformats.org/officeDocument/2006/relationships" r:id="R3a4bbdfed9254f26"/>
  </p:notesMasterIdLst>
  <p:sldIdLst>
    <p:sldId xmlns:r="http://schemas.openxmlformats.org/officeDocument/2006/relationships" id="256" r:id="R4f475200072c4ee1"/>
    <p:sldId xmlns:r="http://schemas.openxmlformats.org/officeDocument/2006/relationships" id="257" r:id="R50535c8c7c9047e1"/>
    <p:sldId xmlns:r="http://schemas.openxmlformats.org/officeDocument/2006/relationships" id="258" r:id="R0b1a9f0c156444bd"/>
    <p:sldId xmlns:r="http://schemas.openxmlformats.org/officeDocument/2006/relationships" id="259" r:id="R048749e9297e4c4c"/>
    <p:sldId xmlns:r="http://schemas.openxmlformats.org/officeDocument/2006/relationships" id="260" r:id="Rff8b34166f76433f"/>
    <p:sldId xmlns:r="http://schemas.openxmlformats.org/officeDocument/2006/relationships" id="261" r:id="Ra9c383495f914d49"/>
    <p:sldId xmlns:r="http://schemas.openxmlformats.org/officeDocument/2006/relationships" id="262" r:id="R789b1a78f32e4ca3"/>
    <p:sldId xmlns:r="http://schemas.openxmlformats.org/officeDocument/2006/relationships" id="263" r:id="R1912be4dd7ba4c21"/>
    <p:sldId xmlns:r="http://schemas.openxmlformats.org/officeDocument/2006/relationships" id="264" r:id="Rcbf239187062483a"/>
    <p:sldId xmlns:r="http://schemas.openxmlformats.org/officeDocument/2006/relationships" id="265" r:id="Rbbafa56b22b44859"/>
    <p:sldId xmlns:r="http://schemas.openxmlformats.org/officeDocument/2006/relationships" id="266" r:id="R0447876147e84d89"/>
    <p:sldId xmlns:r="http://schemas.openxmlformats.org/officeDocument/2006/relationships" id="267" r:id="R3dee4c5a353a4e13"/>
    <p:sldId xmlns:r="http://schemas.openxmlformats.org/officeDocument/2006/relationships" id="268" r:id="R1ecee7045853453e"/>
    <p:sldId xmlns:r="http://schemas.openxmlformats.org/officeDocument/2006/relationships" id="269" r:id="Rbfbe9163b8f543bf"/>
    <p:sldId xmlns:r="http://schemas.openxmlformats.org/officeDocument/2006/relationships" id="270" r:id="R9b2af710ee6e412f"/>
    <p:sldId xmlns:r="http://schemas.openxmlformats.org/officeDocument/2006/relationships" id="271" r:id="R3c49443243ee4912"/>
    <p:sldId xmlns:r="http://schemas.openxmlformats.org/officeDocument/2006/relationships" id="272" r:id="Rd4b876259e5a4b19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69012ECD-51FC-41F1-AA8D-1B2483CD663E}" styleName="浅色样式 2 - 强调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6E25E649-3F16-4E02-A733-19D2CDBF48F0}" styleName="中度样式 3 - 强调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C89EF96-8CEA-46FF-86C4-4CE0E7609802}" styleName="浅色样式 3 - 强调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中度样式 2 - 强调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21E4AEA4-8DFA-4A89-87EB-49C32662AFE0}" styleName="中度样式 2 - 强调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p="http://schemas.openxmlformats.org/presentationml/2006/main">
  <p:slideViewPr>
    <p:cSldViewPr snapToGrid="0" showGuides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ec03b6c56e74186" /><Relationship Type="http://schemas.openxmlformats.org/officeDocument/2006/relationships/slideMaster" Target="/ppt/slideMasters/slideMaster1.xml" Id="R001ff578d0bd4acf" /><Relationship Type="http://schemas.openxmlformats.org/officeDocument/2006/relationships/notesMaster" Target="/ppt/notesMasters/notesMaster1.xml" Id="R3a4bbdfed9254f26" /><Relationship Type="http://schemas.openxmlformats.org/officeDocument/2006/relationships/presProps" Target="/ppt/presProps.xml" Id="R3cad367c6ad04bd5" /><Relationship Type="http://schemas.openxmlformats.org/officeDocument/2006/relationships/viewProps" Target="/ppt/viewProps.xml" Id="R912f6df270c642a8" /><Relationship Type="http://schemas.openxmlformats.org/officeDocument/2006/relationships/tableStyles" Target="/ppt/tableStyles.xml" Id="R6d31a80204e04721" /><Relationship Type="http://schemas.openxmlformats.org/officeDocument/2006/relationships/slide" Target="/ppt/slides/slide1.xml" Id="R4f475200072c4ee1" /><Relationship Type="http://schemas.openxmlformats.org/officeDocument/2006/relationships/slide" Target="/ppt/slides/slide2.xml" Id="R50535c8c7c9047e1" /><Relationship Type="http://schemas.openxmlformats.org/officeDocument/2006/relationships/slide" Target="/ppt/slides/slide3.xml" Id="R0b1a9f0c156444bd" /><Relationship Type="http://schemas.openxmlformats.org/officeDocument/2006/relationships/slide" Target="/ppt/slides/slide4.xml" Id="R048749e9297e4c4c" /><Relationship Type="http://schemas.openxmlformats.org/officeDocument/2006/relationships/slide" Target="/ppt/slides/slide5.xml" Id="Rff8b34166f76433f" /><Relationship Type="http://schemas.openxmlformats.org/officeDocument/2006/relationships/slide" Target="/ppt/slides/slide6.xml" Id="Ra9c383495f914d49" /><Relationship Type="http://schemas.openxmlformats.org/officeDocument/2006/relationships/slide" Target="/ppt/slides/slide7.xml" Id="R789b1a78f32e4ca3" /><Relationship Type="http://schemas.openxmlformats.org/officeDocument/2006/relationships/slide" Target="/ppt/slides/slide8.xml" Id="R1912be4dd7ba4c21" /><Relationship Type="http://schemas.openxmlformats.org/officeDocument/2006/relationships/slide" Target="/ppt/slides/slide9.xml" Id="Rcbf239187062483a" /><Relationship Type="http://schemas.openxmlformats.org/officeDocument/2006/relationships/slide" Target="/ppt/slides/slide10.xml" Id="Rbbafa56b22b44859" /><Relationship Type="http://schemas.openxmlformats.org/officeDocument/2006/relationships/slide" Target="/ppt/slides/slide11.xml" Id="R0447876147e84d89" /><Relationship Type="http://schemas.openxmlformats.org/officeDocument/2006/relationships/slide" Target="/ppt/slides/slide12.xml" Id="R3dee4c5a353a4e13" /><Relationship Type="http://schemas.openxmlformats.org/officeDocument/2006/relationships/slide" Target="/ppt/slides/slide13.xml" Id="R1ecee7045853453e" /><Relationship Type="http://schemas.openxmlformats.org/officeDocument/2006/relationships/slide" Target="/ppt/slides/slide14.xml" Id="Rbfbe9163b8f543bf" /><Relationship Type="http://schemas.openxmlformats.org/officeDocument/2006/relationships/slide" Target="/ppt/slides/slide15.xml" Id="R9b2af710ee6e412f" /><Relationship Type="http://schemas.openxmlformats.org/officeDocument/2006/relationships/slide" Target="/ppt/slides/slide16.xml" Id="R3c49443243ee4912" /><Relationship Type="http://schemas.openxmlformats.org/officeDocument/2006/relationships/slide" Target="/ppt/slides/slide17.xml" Id="Rd4b876259e5a4b1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4763d68ffc343e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主题​​">
  <a:themeElements>
    <a:clrScheme name="SJTU-2019">
      <a:dk1>
        <a:srgbClr val="000000"/>
      </a:dk1>
      <a:lt1>
        <a:srgbClr val="FFFFFF"/>
      </a:lt1>
      <a:dk2>
        <a:srgbClr val="1B1C21"/>
      </a:dk2>
      <a:lt2>
        <a:srgbClr val="DBDBDB"/>
      </a:lt2>
      <a:accent1>
        <a:srgbClr val="C8161E"/>
      </a:accent1>
      <a:accent2>
        <a:srgbClr val="44546A"/>
      </a:accent2>
      <a:accent3>
        <a:srgbClr val="1F4D78"/>
      </a:accent3>
      <a:accent4>
        <a:srgbClr val="ED7D31"/>
      </a:accent4>
      <a:accent5>
        <a:srgbClr val="FFC000"/>
      </a:accent5>
      <a:accent6>
        <a:srgbClr val="A5A5A5"/>
      </a:accent6>
      <a:hlink>
        <a:srgbClr val="196E7D"/>
      </a:hlink>
      <a:folHlink>
        <a:srgbClr val="BEBEBE"/>
      </a:folHlink>
    </a:clrScheme>
    <a:fontScheme name="外宣普适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SJTU-2019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35496ab22814254" /><Relationship Type="http://schemas.openxmlformats.org/officeDocument/2006/relationships/notesMaster" Target="/ppt/notesMasters/notesMaster1.xml" Id="R902579eab69f4a3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323f691c5a34787" /><Relationship Type="http://schemas.openxmlformats.org/officeDocument/2006/relationships/notesMaster" Target="/ppt/notesMasters/notesMaster1.xml" Id="Rc7e6e86015954d1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6906fb0bb3049b4" /><Relationship Type="http://schemas.openxmlformats.org/officeDocument/2006/relationships/notesMaster" Target="/ppt/notesMasters/notesMaster1.xml" Id="R994fd04f221a4ea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342258b4d7440ff" /><Relationship Type="http://schemas.openxmlformats.org/officeDocument/2006/relationships/notesMaster" Target="/ppt/notesMasters/notesMaster1.xml" Id="Rc729fff060ed40b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7f3fa8ac9c44114" /><Relationship Type="http://schemas.openxmlformats.org/officeDocument/2006/relationships/notesMaster" Target="/ppt/notesMasters/notesMaster1.xml" Id="Rc8ac07d6acb44a6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df29dfe5b434012" /><Relationship Type="http://schemas.openxmlformats.org/officeDocument/2006/relationships/notesMaster" Target="/ppt/notesMasters/notesMaster1.xml" Id="Rbaae611aedfa4b9d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d3e5afc34def491c" /><Relationship Type="http://schemas.openxmlformats.org/officeDocument/2006/relationships/notesMaster" Target="/ppt/notesMasters/notesMaster1.xml" Id="R74d7e6451a954591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63956a5f95c04f84" /><Relationship Type="http://schemas.openxmlformats.org/officeDocument/2006/relationships/notesMaster" Target="/ppt/notesMasters/notesMaster1.xml" Id="R257081a5f63c4733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676cc724ce814f92" /><Relationship Type="http://schemas.openxmlformats.org/officeDocument/2006/relationships/notesMaster" Target="/ppt/notesMasters/notesMaster1.xml" Id="Rb314fabbb6d84622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fcf04a7d271240a2" /><Relationship Type="http://schemas.openxmlformats.org/officeDocument/2006/relationships/notesMaster" Target="/ppt/notesMasters/notesMaster1.xml" Id="R623f4d13077e4a60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fbc655a895104f9d" /><Relationship Type="http://schemas.openxmlformats.org/officeDocument/2006/relationships/notesMaster" Target="/ppt/notesMasters/notesMaster1.xml" Id="R1e7c0f5418424171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94bf28581af24e0d" /><Relationship Type="http://schemas.openxmlformats.org/officeDocument/2006/relationships/notesMaster" Target="/ppt/notesMasters/notesMaster1.xml" Id="Re0a84337c3524f2f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aa18586283cd4185" /><Relationship Type="http://schemas.openxmlformats.org/officeDocument/2006/relationships/notesMaster" Target="/ppt/notesMasters/notesMaster1.xml" Id="R725ef8ae2d8c4384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30bd3abb11e24b8f" /><Relationship Type="http://schemas.openxmlformats.org/officeDocument/2006/relationships/notesMaster" Target="/ppt/notesMasters/notesMaster1.xml" Id="R00648208db574ff2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e0505696a1664f09" /><Relationship Type="http://schemas.openxmlformats.org/officeDocument/2006/relationships/notesMaster" Target="/ppt/notesMasters/notesMaster1.xml" Id="R745edc951bf54b88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c86b939daffe44ad" /><Relationship Type="http://schemas.openxmlformats.org/officeDocument/2006/relationships/notesMaster" Target="/ppt/notesMasters/notesMaster1.xml" Id="Rbc5d77b180a241a1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39ad959d53024aff" /><Relationship Type="http://schemas.openxmlformats.org/officeDocument/2006/relationships/notesMaster" Target="/ppt/notesMasters/notesMaster1.xml" Id="R8823cf331adc472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页面：P01 第7讲 机制假设、研究判断与实验设计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讲述与校准：</a:t>
            </a:r>
          </a:p>
          <a:p xmlns:a="http://schemas.openxmlformats.org/drawingml/2006/main">
            <a:r>
              <a:t>开场放下问题门的成果。问题门确认"问题问得清、做得了"，但没确认"假设成立"。本课把可证伪命题配上一个能被实验支持、削弱或推翻的机制，并当场记录设计取舍，避免事后反向改写"最初为什么这样设计"。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学生动作：</a:t>
            </a:r>
          </a:p>
          <a:p xmlns:a="http://schemas.openxmlformats.org/drawingml/2006/main">
            <a:r>
              <a:t>不展开课程行政信息，直接进入下一页回扣。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课堂安排：按本稿下方 90 分钟教学路由安排；此页不另占独立时段。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课程定位以 [syllabus.md](../../course/syllabus.md) 与 [备课规划.md](../备课规划.md) 第 7 课段为准。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本课 handout.md、judgment-task.md；../../course/judgment-path.md。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页面：P02 第 6 课之后，问题门还没有证明机制成立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讲述与校准：</a:t>
            </a:r>
          </a:p>
          <a:p xmlns:a="http://schemas.openxmlformats.org/drawingml/2006/main">
            <a:r>
              <a:t>回扣第 6 课：问题门确认了问题值得问、问得清、做得完，但没有回答"为什么预期结果会发生"。本课进入阶段三+六，处理"机制、替代解释和设计取舍"。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学生动作：</a:t>
            </a:r>
          </a:p>
          <a:p xmlns:a="http://schemas.openxmlformats.org/drawingml/2006/main">
            <a:r>
              <a:t>快问：你第 6 课问题门的可证伪命题是什么？它背后隐含的机制是什么？只听回答，不评价。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课堂安排：按本稿下方 90 分钟教学路由安排；此页不另占独立时段。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回扣第 6 课讲义与 [assignments.md](../../course/assignments.md) 问题门条件。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本课 handout.md、judgment-task.md；../../course/judgment-path.md。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页面：P03 哪项实验能区分解释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讲述与校准：</a:t>
            </a:r>
          </a:p>
          <a:p xmlns:a="http://schemas.openxmlformats.org/drawingml/2006/main">
            <a:r>
              <a:t>先独立作答，再同伴比较；以下依据只在校准时揭示。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Y 最直接检查测量解释；格式隐藏不能删掉语义内容。差异保留支持真实内容差异但不唯一证明生成机制；差异消失支持测量解释但也可能有评分噪声。X 主要检查稳定性，Z 同时改多个因素。本人若研究校验器，可用输入不变、仅改变校验规则来区分“真拦截”与“直接丢所有记录”。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学生动作：</a:t>
            </a:r>
          </a:p>
          <a:p xmlns:a="http://schemas.openxmlformats.org/drawingml/2006/main">
            <a:r>
              <a:t>先独立写决定和证据，后同伴比较；校准后再回写。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课堂安排：按本稿下方 90 分钟教学路由安排；此页不另占独立时段。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[备课规划.md](../备课规划.md) 第 7 课目标段；[assignments.md](../../course/assignments.md) 第 9 课判断门条件与第 8 课方案分享要求。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本课 handout.md、judgment-task.md；../../course/judgment-path.md。教学构造仅用于方法判断；本人结果以实际记录为准。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页面：P04 结果预测和机制解释分开写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讲述与校准：</a:t>
            </a:r>
          </a:p>
          <a:p xmlns:a="http://schemas.openxmlformats.org/drawingml/2006/main">
            <a:r>
              <a:t>H1必须有中间过程；“阅读卡更好”只是换词复述结果。请学生指出两句话各自需要什么证据。H1需要过程观察或能区分原因的对照，不能直接由两个总分成立。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学生动作：</a:t>
            </a:r>
          </a:p>
          <a:p xmlns:a="http://schemas.openxmlformats.org/drawingml/2006/main">
            <a:r>
              <a:t>把一条“更好”改为结果命题，再单独写机制候选。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课堂安排：按本稿下方 90 分钟教学路由安排；此页不另占独立时段。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./handout.md；课堂示例与构造数据见 ../../course/reading-card-case.md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本课 handout.md、judgment-task.md；../../course/judgment-path.md。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页面：P05 主练一组可区分的解释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讲述与校准：</a:t>
            </a:r>
          </a:p>
          <a:p xmlns:a="http://schemas.openxmlformats.org/drawingml/2006/main">
            <a:r>
              <a:t>本页只练H1/A2。A1可以与Q1同时成立，A3限定外推范围，两者不能冒充与H1互斥的机制。学生自己的项目仍应产生实质替代解释，不能机械照抄这些编号。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学生动作：</a:t>
            </a:r>
          </a:p>
          <a:p xmlns:a="http://schemas.openxmlformats.org/drawingml/2006/main">
            <a:r>
              <a:t>提出一种让评分者看不到输出来源、又不丢失待评内容的评价安排。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课堂安排：按本稿下方 90 分钟教学路由安排；此页不另占独立时段。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./handout.md；课堂示例与构造数据见 ../../course/reading-card-case.md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本课 handout.md、judgment-task.md；../../course/judgment-path.md。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页面：P06 四种记录回答四个不同问题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讲述与校准：</a:t>
            </a:r>
          </a:p>
          <a:p xmlns:a="http://schemas.openxmlformats.org/drawingml/2006/main">
            <a:r>
              <a:t>逐行问“这份论文有DOI，所以H1成立”错在哪一步。身份核验只能解决来源真实性；结论强度还要看设计、结果与边界。成熟度描述工件，不是引用许可证。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学生动作：</a:t>
            </a:r>
          </a:p>
          <a:p xmlns:a="http://schemas.openxmlformats.org/drawingml/2006/main">
            <a:r>
              <a:t>给当前假设记录补一条来源位置和一项尚未回答的问题。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课堂安排：按本稿下方 90 分钟教学路由安排；此页不另占独立时段。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./handout.md；课堂示例与构造数据见 ../../course/reading-card-case.md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本课 handout.md、judgment-task.md；../../course/judgment-path.md。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页面：P07 方案取舍要记录比较依据，而不是只写最后选择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讲述与校准：</a:t>
            </a:r>
          </a:p>
          <a:p xmlns:a="http://schemas.openxmlformats.org/drawingml/2006/main">
            <a:r>
              <a:t>本课核心活动之一：比较两种实验方案并说明取舍。比较维度不是看哪个"更好"，而是看哪个更能区分假设、baseline 更公平、更可执行、失败后留得下东西。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学生动作：</a:t>
            </a:r>
          </a:p>
          <a:p xmlns:a="http://schemas.openxmlformats.org/drawingml/2006/main">
            <a:r>
              <a:t>让学生说出：你的方案甲和乙差在哪？哪个 baseline 更公平？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课堂安排：按本稿下方 90 分钟教学路由安排；此页不另占独立时段。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讲义 §三·3；[assignments.md](../../course/assignments.md) 第 9 课判断门条件。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本课 handout.md、judgment-task.md；../../course/judgment-path.md。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页面：P08 同一个观察，能区分两种解释吗？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讲述与校准：</a:t>
            </a:r>
          </a:p>
          <a:p xmlns:a="http://schemas.openxmlformats.org/drawingml/2006/main">
            <a:r>
              <a:t>先让学生独立选择“已经证明H1”或“尚不能区分”，再解释理由。盲化评分能检查A2的一部分，但不能独自证明H1的完整因果链；还要检查输出中的条件与生成过程。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学生动作：</a:t>
            </a:r>
          </a:p>
          <a:p xmlns:a="http://schemas.openxmlformats.org/drawingml/2006/main">
            <a:r>
              <a:t>写出已有观察和追加观察各排除了什么、没排除什么。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课堂安排：按本稿下方 90 分钟教学路由安排；此页不另占独立时段。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./handout.md；课堂示例与构造数据见 ../../course/reading-card-case.md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本课 handout.md、judgment-task.md；../../course/judgment-path.md。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页面：P09 完整工程规格集中到第 9 课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讲述与校准：</a:t>
            </a:r>
          </a:p>
          <a:p xmlns:a="http://schemas.openxmlformats.org/drawingml/2006/main">
            <a:r>
              <a:t>这页只说明三课边界，不提前讲八要素。第 7 课的映射草图会作为第 8 课质询对象，再作为第 9 课工程规格的输入。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学生动作：</a:t>
            </a:r>
          </a:p>
          <a:p xmlns:a="http://schemas.openxmlformats.org/drawingml/2006/main">
            <a:r>
              <a:t>让学生指出：自己当前映射草图中哪一项要到第 9 课才能工程化。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课堂安排：按本稿下方 90 分钟教学路由安排；此页不另占独立时段。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讲义 §四·2-4；Box et al. *Statistics for Experimenters* §3.4；NIST/SEMATECH e-Handbook Experimental Design（[reading-list.md](../../course/reading-list.md) 第 7 课）；第 1 课 §2.7 原型验证实验规格要素。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本课 handout.md、judgment-task.md；../../course/judgment-path.md。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页面：P10 AI 候选在核验前只能留在探索线索区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讲述与校准：</a:t>
            </a:r>
          </a:p>
          <a:p xmlns:a="http://schemas.openxmlformats.org/drawingml/2006/main">
            <a:r>
              <a:t>AI 可以生成候选机制、提示替代假设、草拟实验规格，但所有产出只能作为草稿或线索。本课要求至少记录一条 AI 使用记录：工具、用途、Context、输出用途、人工核验方式、问题。核验清单在课堂逐条讲。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学生动作：</a:t>
            </a:r>
          </a:p>
          <a:p xmlns:a="http://schemas.openxmlformats.org/drawingml/2006/main">
            <a:r>
              <a:t>让学生预判：AI 给你的候选最可能在哪一条上不通过？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课堂安排：按本稿下方 90 分钟教学路由安排；此页不另占独立时段。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讲义 §五；第 3 课来源审计；[AGENTS.md](../../AGENTS.md) 证据标准。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本课 handout.md、judgment-task.md；../../course/judgment-path.md。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页面：P11 把假设变成区分观察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讲述与校准：</a:t>
            </a:r>
          </a:p>
          <a:p xmlns:a="http://schemas.openxmlformats.org/drawingml/2006/main">
            <a:r>
              <a:t>从问题到观察，再到能做出的判断，按这个顺序填表。不要先填“支持”再找一个指标装进去。完整实验规格留到第9课。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学生动作：</a:t>
            </a:r>
          </a:p>
          <a:p xmlns:a="http://schemas.openxmlformats.org/drawingml/2006/main">
            <a:r>
              <a:t>学生给本人主假设和一个替代各填一行，保留不能区分的格子。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课堂安排：按本稿下方 90 分钟教学路由安排；此页不另占独立时段。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./handout.md；课堂示例与构造数据见 ../../course/reading-card-case.md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本课 handout.md、judgment-task.md；../../course/judgment-path.md。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页面：P12 研究判断记录一次有理由的取舍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讲述与校准：</a:t>
            </a:r>
          </a:p>
          <a:p xmlns:a="http://schemas.openxmlformats.org/drawingml/2006/main">
            <a:r>
              <a:t>说明研究判断是“现在为什么这样推进”，不是提前确认机制。让学生把“我觉得有效”改为有依据、有未决项的研究动作。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学生动作：</a:t>
            </a:r>
          </a:p>
          <a:p xmlns:a="http://schemas.openxmlformats.org/drawingml/2006/main">
            <a:r>
              <a:t>保存一条判断记录，注明依据、范围和下一项观察。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课堂安排：按本稿下方 90 分钟教学路由安排；此页不另占独立时段。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./handout.md；课堂示例与构造数据见 ../../course/reading-card-case.md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本课 handout.md、judgment-task.md；../../course/judgment-path.md。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页面：P13 十类常见错误都指向同一个问题：实验不能改判断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讲述与校准：</a:t>
            </a:r>
          </a:p>
          <a:p xmlns:a="http://schemas.openxmlformats.org/drawingml/2006/main">
            <a:r>
              <a:t>把演示中的判断点与常见错误对应。每个错误都对应贯穿案例中的一个步骤。重点强调第 10 条：实验如果不能改变研究判断，就不算验证——这是第 8 课同伴会追问的核心。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学生动作：</a:t>
            </a:r>
          </a:p>
          <a:p xmlns:a="http://schemas.openxmlformats.org/drawingml/2006/main">
            <a:r>
              <a:t>无。直接进入实践说明。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课堂安排：按本稿下方 90 分钟教学路由安排；此页不另占独立时段。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讲义 §六 常见错误；演示判断点。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本课 handout.md、judgment-task.md；../../course/judgment-path.md。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页面：P14 本人项目：决定、核验与回写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讲述与校准：</a:t>
            </a:r>
          </a:p>
          <a:p xmlns:a="http://schemas.openxmlformats.org/drawingml/2006/main">
            <a:r>
              <a:t>第一段作决定并查证据；中点处理共性卡点；第二段实际回写并验证。Y 最直接检查测量解释；格式隐藏不能删掉语义内容。差异保留支持真实内容差异但不唯一证明生成机制；差异消失支持测量解释但也可能有评分噪声。X 主要检查稳定性，Z 同时改多个因素。本人若研究校验器，可用输入不变、仅改变校验规则来区分“真拦截”与“直接丢所有记录”。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学生动作：</a:t>
            </a:r>
          </a:p>
          <a:p xmlns:a="http://schemas.openxmlformats.org/drawingml/2006/main">
            <a:r>
              <a:t>为主假设和一个替代解释写结果预测，选最小验证并说明什么结果会改变决定。默认工程题同时测坏记录拦截和正常记录保留。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课堂安排：按本稿下方 90 分钟教学路由安排；此页不另占独立时段。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讲义 §八 练习 1-8；[starter-template.md](../../course/starter-template.md)。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本课 handout.md、judgment-task.md；../../course/judgment-path.md。教学构造仅用于方法判断；本人结果以实际记录为准。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页面：P15 同伴互查五项：只提问题，不替作者决定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讲述与校准：</a:t>
            </a:r>
          </a:p>
          <a:p xmlns:a="http://schemas.openxmlformats.org/drawingml/2006/main">
            <a:r>
              <a:t>本课同伴互查按第 8 课方案分享的五个权威维度预演。作者根据真实反馈选择采纳、澄清、补证、暂缓或保留异议，并记录理由与回写位置；不要求出现“拒绝”。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学生动作：</a:t>
            </a:r>
          </a:p>
          <a:p xmlns:a="http://schemas.openxmlformats.org/drawingml/2006/main">
            <a:r>
              <a:t>2-3 人互查。每人 2 分钟说主假设与替代假设，2 分钟反馈。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课堂安排：按本稿下方 90 分钟教学路由安排；此页不另占独立时段。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讲义 §三·3；[assignments.md](../../course/assignments.md) 第 8 课方案分享 rubric。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本课 handout.md、judgment-task.md；../../course/judgment-path.md。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页面：P16 本讲知识点总结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讲述与校准：</a:t>
            </a:r>
          </a:p>
          <a:p xmlns:a="http://schemas.openxmlformats.org/drawingml/2006/main">
            <a:r>
              <a:t>使用自定命题 ID，分别记录结果、主机制、可区分替代与采用判断。不机械凑三个假设；结果不显著可能精度不足，机制需区分性证据。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回收机制、实验和判断三者关系，不引入新任务。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学生动作：</a:t>
            </a:r>
          </a:p>
          <a:p xmlns:a="http://schemas.openxmlformats.org/drawingml/2006/main">
            <a:r>
              <a:t>学生指出自己的实验最可能区分哪两种解释。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课堂安排：按本稿下方 90 分钟教学路由安排；此页不另占独立时段。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讲义 §二-§六。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本课 handout.md、judgment-task.md；../../course/judgment-path.md。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页面：P17 保留本课决定，准备下一课输入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讲述与校准：</a:t>
            </a:r>
          </a:p>
          <a:p xmlns:a="http://schemas.openxmlformats.org/drawingml/2006/main">
            <a:r>
              <a:t>补清一项可区分预测，直接从现有工件整理诊所陈述。 每课课外最多60分钟；详见讲义。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学生动作：</a:t>
            </a:r>
          </a:p>
          <a:p xmlns:a="http://schemas.openxmlformats.org/drawingml/2006/main">
            <a:r>
              <a:t>定位实际工件与下一项动作；按既定预算收口。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课堂安排：按本稿下方 90 分钟教学路由安排；此页不另占独立时段。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讲义 §学习目标；[assignments.md](../../course/assignments.md) 第 8 课方案分享要求与第 9 课判断门条件。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本课 handout.md、judgment-task.md；../../course/judgment-path.md。教学构造仅用于方法判断；本人结果以实际记录为准。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6f77c0cebdc405d" /><Relationship Type="http://schemas.openxmlformats.org/officeDocument/2006/relationships/image" Target="/ppt/media/image.png" Id="R16b3ee2df1fb48a6" /><Relationship Type="http://schemas.openxmlformats.org/officeDocument/2006/relationships/image" Target="/ppt/media/image2.png" Id="R2069ba790da64683" /><Relationship Type="http://schemas.openxmlformats.org/officeDocument/2006/relationships/image" Target="/ppt/media/image3.png" Id="Rd873013a5e284b4a" /><Relationship Type="http://schemas.openxmlformats.org/officeDocument/2006/relationships/image" Target="/ppt/media/image4.png" Id="R8f68ff893dc743bb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e980fa0075b4853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0766c5c4d864e5c" /><Relationship Type="http://schemas.openxmlformats.org/officeDocument/2006/relationships/image" Target="/ppt/media/image2.png" Id="R3a54d8635319417c" /><Relationship Type="http://schemas.openxmlformats.org/officeDocument/2006/relationships/image" Target="/ppt/media/image5.png" Id="Rf9e234b0b3314cae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4c0b82ba6394213" /><Relationship Type="http://schemas.openxmlformats.org/officeDocument/2006/relationships/image" Target="/ppt/media/image.png" Id="R0b9add53ea9d4d32" /><Relationship Type="http://schemas.openxmlformats.org/officeDocument/2006/relationships/image" Target="/ppt/media/image3.png" Id="Ra713ff1dfdea41e2" /></Relationships>
</file>

<file path=ppt/slideLayouts/slideLayout1.xml><?xml version="1.0" encoding="utf-8"?>
<p:sldLayout xmlns:p="http://schemas.openxmlformats.org/presentationml/2006/main" preserve="1" userDrawn="1">
  <p:cSld name="封面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6" name="图片 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6b3ee2df1fb48a6">
            <a:duotone>
              <a:prstClr val="black"/>
              <a:schemeClr val="accent1">
                <a:tint val="45000"/>
                <a:satMod val="400000"/>
              </a:schemeClr>
            </a:duotone>
            <a:alphaModFix amt="5000"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50417" y="2900149"/>
            <a:ext cx="12292835" cy="3957851"/>
          </a:xfrm>
          <a:prstGeom xmlns:a="http://schemas.openxmlformats.org/drawingml/2006/main" prst="rect">
            <a:avLst/>
          </a:prstGeom>
        </p:spPr>
      </p:pic>
      <p:sp>
        <p:nvSpPr>
          <p:cNvPr id="22" name="标题 1">
            <a:extLst xmlns:a="http://schemas.openxmlformats.org/drawingml/2006/main">
              <a:ext uri="{FF2B5EF4-FFF2-40B4-BE49-F238E27FC236}">
                <a16:creationId xmlns:a16="http://schemas.microsoft.com/office/drawing/2014/main" id="{9AF74CDA-19DD-45C1-88FF-2379736830CB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1069561" y="2016174"/>
            <a:ext cx="10052879" cy="106085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lvl1pPr algn="ctr">
              <a:buNone/>
              <a:defRPr sz="5400" b="1">
                <a:solidFill>
                  <a:schemeClr val="accent1"/>
                </a:solidFill>
              </a:defRPr>
            </a:lvl1pPr>
          </a:lstStyle>
          <a:p xmlns:a="http://schemas.openxmlformats.org/drawingml/2006/main">
            <a:r>
              <a:t>单击此处编辑标题样式</a:t>
            </a:r>
          </a:p>
        </p:txBody>
      </p:sp>
      <p:sp>
        <p:nvSpPr>
          <p:cNvPr id="26" name="内容占位符 25">
            <a:extLst xmlns:a="http://schemas.openxmlformats.org/drawingml/2006/main">
              <a:ext uri="{FF2B5EF4-FFF2-40B4-BE49-F238E27FC236}">
                <a16:creationId xmlns:a16="http://schemas.microsoft.com/office/drawing/2014/main" id="{981273AB-3D30-4A7E-951D-B80D3185213B}"/>
              </a:ext>
            </a:extLst>
          </p:cNvPr>
          <p:cNvSpPr>
            <a:spLocks xmlns:a="http://schemas.openxmlformats.org/drawingml/2006/main" noGrp="1"/>
          </p:cNvSpPr>
          <p:nvPr>
            <p:ph idx="10" hasCustomPrompt="1"/>
          </p:nvPr>
        </p:nvSpPr>
        <p:spPr>
          <a:xfrm xmlns:a="http://schemas.openxmlformats.org/drawingml/2006/main">
            <a:off x="4644345" y="5196924"/>
            <a:ext cx="2903311" cy="4540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/>
          <a:lstStyle xmlns:a="http://schemas.openxmlformats.org/drawingml/2006/main">
            <a:lvl1pPr marL="0" indent="0" algn="ctr">
              <a:lnSpc>
                <a:spcPct val="100000"/>
              </a:lnSpc>
              <a:buNone/>
              <a:defRPr sz="2400">
                <a:solidFill>
                  <a:schemeClr val="accent2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fld id="{DE506FFD-8B27-444A-964F-E64D0BB3DAF0}" type="datetime2">
              <a:t>2019年1月28日</a:t>
            </a:fld>
            <a:endParaRPr/>
          </a:p>
        </p:txBody>
      </p:sp>
      <p:sp>
        <p:nvSpPr>
          <p:cNvPr id="32" name="文本占位符 31">
            <a:extLst xmlns:a="http://schemas.openxmlformats.org/drawingml/2006/main">
              <a:ext uri="{FF2B5EF4-FFF2-40B4-BE49-F238E27FC236}">
                <a16:creationId xmlns:a16="http://schemas.microsoft.com/office/drawing/2014/main" id="{F905EEBF-8ACE-4D30-A4F5-C5796F8343A2}"/>
              </a:ext>
            </a:extLst>
          </p:cNvPr>
          <p:cNvSpPr>
            <a:spLocks xmlns:a="http://schemas.openxmlformats.org/drawingml/2006/main" noGrp="1"/>
          </p:cNvSpPr>
          <p:nvPr>
            <p:ph type="body" idx="11"/>
          </p:nvPr>
        </p:nvSpPr>
        <p:spPr>
          <a:xfrm xmlns:a="http://schemas.openxmlformats.org/drawingml/2006/main">
            <a:off x="4034910" y="4407403"/>
            <a:ext cx="4122181" cy="59848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/>
          <a:lstStyle xmlns:a="http://schemas.openxmlformats.org/drawingml/2006/main">
            <a:lvl1pPr marL="0" indent="0" algn="ctr">
              <a:lnSpc>
                <a:spcPct val="100000"/>
              </a:lnSpc>
              <a:buNone/>
              <a:defRPr sz="3200" b="1">
                <a:solidFill>
                  <a:schemeClr val="accent2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endParaRPr/>
          </a:p>
        </p:txBody>
      </p:sp>
      <p:pic>
        <p:nvPicPr>
          <p:cNvPr id="50" name="图片 34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2069ba790da64683"/>
          <a:srcRect xmlns:a="http://schemas.openxmlformats.org/drawingml/2006/main" l="74359" t="0" r="1346" b="0"/>
          <a:stretch xmlns:a="http://schemas.openxmlformats.org/drawingml/2006/main"/>
        </p:blipFill>
        <p:spPr>
          <a:xfrm xmlns:a="http://schemas.openxmlformats.org/drawingml/2006/main">
            <a:off x="8870172" y="274183"/>
            <a:ext cx="3002280" cy="411617"/>
          </a:xfrm>
          <a:prstGeom xmlns:a="http://schemas.openxmlformats.org/drawingml/2006/main" prst="rect">
            <a:avLst/>
          </a:prstGeom>
        </p:spPr>
      </p:pic>
      <p:pic>
        <p:nvPicPr>
          <p:cNvPr id="51" name="图片 17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d873013a5e284b4a">
            <a:alphaModFix amt="35000"/>
          </a:blip>
          <a:srcRect xmlns:a="http://schemas.openxmlformats.org/drawingml/2006/main" l="0" t="9831" r="0" b="36385"/>
          <a:stretch xmlns:a="http://schemas.openxmlformats.org/drawingml/2006/main"/>
        </p:blipFill>
        <p:spPr>
          <a:xfrm xmlns:a="http://schemas.openxmlformats.org/drawingml/2006/main" rot="0" flipH="0" flipV="0">
            <a:off x="3352562" y="6244170"/>
            <a:ext cx="5486876" cy="406590"/>
          </a:xfrm>
          <a:prstGeom xmlns:a="http://schemas.openxmlformats.org/drawingml/2006/main" prst="rect">
            <a:avLst/>
          </a:prstGeom>
        </p:spPr>
      </p:pic>
      <p:sp>
        <p:nvSpPr>
          <p:cNvPr id="37" name="椭圆 36">
            <a:extLst xmlns:a="http://schemas.openxmlformats.org/drawingml/2006/main">
              <a:ext uri="{FF2B5EF4-FFF2-40B4-BE49-F238E27FC236}">
                <a16:creationId xmlns:a16="http://schemas.microsoft.com/office/drawing/2014/main" id="{53D809C0-A4EF-44AF-AECA-4A85E4BA2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051000" y="6430138"/>
            <a:ext cx="90000" cy="90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accent6">
              <a:lumMod val="60000"/>
              <a:lumOff val="4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9" name="直接连接符 38">
            <a:extLst xmlns:a="http://schemas.openxmlformats.org/drawingml/2006/main">
              <a:ext uri="{FF2B5EF4-FFF2-40B4-BE49-F238E27FC236}">
                <a16:creationId xmlns:a16="http://schemas.microsoft.com/office/drawing/2014/main" id="{31F7CAE3-0209-4DA4-9A92-731CC272B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328587" y="6487838"/>
            <a:ext cx="900000" cy="0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41" name="直接连接符 40">
            <a:extLst xmlns:a="http://schemas.openxmlformats.org/drawingml/2006/main">
              <a:ext uri="{FF2B5EF4-FFF2-40B4-BE49-F238E27FC236}">
                <a16:creationId xmlns:a16="http://schemas.microsoft.com/office/drawing/2014/main" id="{B3FF25BF-0A81-4E7C-A868-79A201F0D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983387" y="6487838"/>
            <a:ext cx="900000" cy="0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2" name="直接连接符 11">
            <a:extLst xmlns:a="http://schemas.openxmlformats.org/drawingml/2006/main">
              <a:ext uri="{FF2B5EF4-FFF2-40B4-BE49-F238E27FC236}">
                <a16:creationId xmlns:a16="http://schemas.microsoft.com/office/drawing/2014/main" id="{84931B68-BEBE-4F6A-A7A3-EB2B855A6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6000" y="1712549"/>
            <a:ext cx="8100000" cy="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accent6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3" name="直接连接符 12">
            <a:extLst xmlns:a="http://schemas.openxmlformats.org/drawingml/2006/main">
              <a:ext uri="{FF2B5EF4-FFF2-40B4-BE49-F238E27FC236}">
                <a16:creationId xmlns:a16="http://schemas.microsoft.com/office/drawing/2014/main" id="{26218CD3-8CA7-49E2-A133-F31724416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6000" y="3428810"/>
            <a:ext cx="8100000" cy="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accent6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pic>
        <p:nvPicPr>
          <p:cNvPr id="57" name="图片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f68ff893dc743bb"/>
          <a:srcRect xmlns:a="http://schemas.openxmlformats.org/drawingml/2006/main" l="0" t="0" r="54251" b="0"/>
          <a:stretch xmlns:a="http://schemas.openxmlformats.org/drawingml/2006/main"/>
        </p:blipFill>
        <p:spPr>
          <a:xfrm xmlns:a="http://schemas.openxmlformats.org/drawingml/2006/main">
            <a:off x="332010" y="251357"/>
            <a:ext cx="1934780" cy="482598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2.xml><?xml version="1.0" encoding="utf-8"?>
<p:sldLayout xmlns:p="http://schemas.openxmlformats.org/presentationml/2006/main" preserve="1" userDrawn="1">
  <p:cSld name="目录-1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CD1F02EB-A5F5-4A25-8E13-33D76C399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1" y="2455636"/>
            <a:ext cx="2960913" cy="1438728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  <a:effectLst xmlns:a="http://schemas.openxmlformats.org/drawingml/2006/main"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9DBDFDE5-938B-46BA-BF04-52626678C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6200000">
            <a:off x="1736542" y="2389144"/>
            <a:ext cx="97430" cy="2960914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2" name="矩形 21">
            <a:extLst xmlns:a="http://schemas.openxmlformats.org/drawingml/2006/main">
              <a:ext uri="{FF2B5EF4-FFF2-40B4-BE49-F238E27FC236}">
                <a16:creationId xmlns:a16="http://schemas.microsoft.com/office/drawing/2014/main" id="{DE1AFFB6-310A-466D-BAD1-F84A11C9C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3478991" y="0"/>
            <a:ext cx="90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6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</p:spTree>
  </p:cSld>
</p:sldLayout>
</file>

<file path=ppt/slideLayouts/slideLayout3.xml><?xml version="1.0" encoding="utf-8"?>
<p:sldLayout xmlns:p="http://schemas.openxmlformats.org/presentationml/2006/main" preserve="1" userDrawn="1">
  <p:cSld name="1_仅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灯片编号占位符 2">
            <a:extLst xmlns:a="http://schemas.openxmlformats.org/drawingml/2006/main">
              <a:ext uri="{FF2B5EF4-FFF2-40B4-BE49-F238E27FC236}">
                <a16:creationId xmlns:a16="http://schemas.microsoft.com/office/drawing/2014/main" id="{C1D5E491-4859-47A4-8F29-DAACA1914DBE}"/>
              </a:ext>
            </a:extLst>
          </p:cNvPr>
          <p:cNvSpPr>
            <a:spLocks xmlns:a="http://schemas.openxmlformats.org/drawingml/2006/main" noGrp="1"/>
          </p:cNvSpPr>
          <p:nvPr>
            <p:ph type="sldNum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C53781C-E1F6-4315-A39D-61273F2E0596}" type="slidenum">
              <a:t>‹#›</a:t>
            </a:fld>
            <a:endParaRPr/>
          </a:p>
        </p:txBody>
      </p:sp>
      <p:pic>
        <p:nvPicPr>
          <p:cNvPr id="25" name="图片 3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3a54d8635319417c"/>
          <a:srcRect xmlns:a="http://schemas.openxmlformats.org/drawingml/2006/main" l="0" t="0" r="1346" b="0"/>
          <a:stretch xmlns:a="http://schemas.openxmlformats.org/drawingml/2006/main"/>
        </p:blipFill>
        <p:spPr>
          <a:xfrm xmlns:a="http://schemas.openxmlformats.org/drawingml/2006/main">
            <a:off x="516" y="6041797"/>
            <a:ext cx="12166903" cy="411617"/>
          </a:xfrm>
          <a:prstGeom xmlns:a="http://schemas.openxmlformats.org/drawingml/2006/main" prst="rect">
            <a:avLst/>
          </a:prstGeom>
        </p:spPr>
      </p:pic>
      <p:sp>
        <p:nvSpPr>
          <p:cNvPr id="9" name="文本占位符 31">
            <a:extLst xmlns:a="http://schemas.openxmlformats.org/drawingml/2006/main">
              <a:ext uri="{FF2B5EF4-FFF2-40B4-BE49-F238E27FC236}">
                <a16:creationId xmlns:a16="http://schemas.microsoft.com/office/drawing/2014/main" id="{56FC8349-67FC-4E3B-B988-7A27FDAE9D24}"/>
              </a:ext>
            </a:extLst>
          </p:cNvPr>
          <p:cNvSpPr>
            <a:spLocks xmlns:a="http://schemas.openxmlformats.org/drawingml/2006/main" noGrp="1"/>
          </p:cNvSpPr>
          <p:nvPr>
            <p:ph type="body" idx="12"/>
          </p:nvPr>
        </p:nvSpPr>
        <p:spPr>
          <a:xfrm xmlns:a="http://schemas.openxmlformats.org/drawingml/2006/main">
            <a:off x="319056" y="6438900"/>
            <a:ext cx="4151344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>
            <a:lvl1pPr marL="0" indent="0" algn="l">
              <a:lnSpc>
                <a:spcPct val="100000"/>
              </a:lnSpc>
              <a:buNone/>
              <a:defRPr sz="20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 xmlns:a="http://schemas.openxmlformats.org/drawingml/2006/main">
            <a:pPr lvl="0">
              <a:buNone/>
            </a:pPr>
            <a:endParaRPr/>
          </a:p>
        </p:txBody>
      </p:sp>
      <p:sp>
        <p:nvSpPr>
          <p:cNvPr id="10" name="文本占位符 31">
            <a:extLst xmlns:a="http://schemas.openxmlformats.org/drawingml/2006/main">
              <a:ext uri="{FF2B5EF4-FFF2-40B4-BE49-F238E27FC236}">
                <a16:creationId xmlns:a16="http://schemas.microsoft.com/office/drawing/2014/main" id="{85368C87-925C-44AC-B001-5C4EE6F00645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4788940" y="6438900"/>
            <a:ext cx="4151344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>
            <a:lvl1pPr marL="0" indent="0" algn="l">
              <a:lnSpc>
                <a:spcPct val="100000"/>
              </a:lnSpc>
              <a:buNone/>
              <a:defRPr sz="20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 xmlns:a="http://schemas.openxmlformats.org/drawingml/2006/main">
            <a:pPr lvl="0">
              <a:buNone/>
            </a:pPr>
            <a:endParaRPr/>
          </a:p>
        </p:txBody>
      </p:sp>
      <p:sp>
        <p:nvSpPr>
          <p:cNvPr id="19" name="平行四边形 18">
            <a:extLst xmlns:a="http://schemas.openxmlformats.org/drawingml/2006/main">
              <a:ext uri="{FF2B5EF4-FFF2-40B4-BE49-F238E27FC236}">
                <a16:creationId xmlns:a16="http://schemas.microsoft.com/office/drawing/2014/main" id="{9AE407FD-1006-4AC4-B10B-CB7686E66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"/>
            <a:ext cx="12191483" cy="685800"/>
          </a:xfrm>
          <a:prstGeom xmlns:a="http://schemas.openxmlformats.org/drawingml/2006/main" prst="parallelogram">
            <a:avLst>
              <a:gd name="adj" fmla="val 43056"/>
            </a:avLst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pic>
        <p:nvPicPr>
          <p:cNvPr id="29" name="图片 1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9e234b0b3314ca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19056" y="73482"/>
            <a:ext cx="538838" cy="538838"/>
          </a:xfrm>
          <a:prstGeom xmlns:a="http://schemas.openxmlformats.org/drawingml/2006/main" prst="rect">
            <a:avLst/>
          </a:prstGeom>
        </p:spPr>
      </p:pic>
      <p:sp>
        <p:nvSpPr>
          <p:cNvPr id="21" name="文本占位符 31">
            <a:extLst xmlns:a="http://schemas.openxmlformats.org/drawingml/2006/main">
              <a:ext uri="{FF2B5EF4-FFF2-40B4-BE49-F238E27FC236}">
                <a16:creationId xmlns:a16="http://schemas.microsoft.com/office/drawing/2014/main" id="{C2D49473-9331-4572-8AFC-3A905D765CF9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>
          <a:xfrm xmlns:a="http://schemas.openxmlformats.org/drawingml/2006/main">
            <a:off x="1075351" y="43657"/>
            <a:ext cx="7081677" cy="59848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/>
          <a:lstStyle xmlns:a="http://schemas.openxmlformats.org/drawingml/2006/main">
            <a:lvl1pPr marL="0" indent="0" algn="l">
              <a:lnSpc>
                <a:spcPct val="100000"/>
              </a:lnSpc>
              <a:buNone/>
              <a:defRPr sz="3200" b="1">
                <a:solidFill>
                  <a:schemeClr val="bg1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endParaRPr/>
          </a:p>
        </p:txBody>
      </p:sp>
    </p:spTree>
  </p:cSld>
</p:sldLayout>
</file>

<file path=ppt/slideLayouts/slideLayout4.xml><?xml version="1.0" encoding="utf-8"?>
<p:sldLayout xmlns:p="http://schemas.openxmlformats.org/presentationml/2006/main" preserve="1" userDrawn="1">
  <p:cSld name="封底">
    <p:bg>
      <p:bgPr>
        <a:solidFill xmlns:a="http://schemas.openxmlformats.org/drawingml/2006/main">
          <a:schemeClr val="accent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3" name="图片 1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b9add53ea9d4d32">
            <a:duotone>
              <a:prstClr val="black"/>
              <a:schemeClr val="accent1">
                <a:tint val="45000"/>
                <a:satMod val="400000"/>
              </a:schemeClr>
            </a:duotone>
            <a:alphaModFix amt="20000"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50417" y="2900149"/>
            <a:ext cx="12292835" cy="3957851"/>
          </a:xfrm>
          <a:prstGeom xmlns:a="http://schemas.openxmlformats.org/drawingml/2006/main" prst="rect">
            <a:avLst/>
          </a:prstGeom>
        </p:spPr>
      </p:pic>
      <p:sp>
        <p:nvSpPr>
          <p:cNvPr id="13" name="直接连接符 12">
            <a:extLst xmlns:a="http://schemas.openxmlformats.org/drawingml/2006/main">
              <a:ext uri="{FF2B5EF4-FFF2-40B4-BE49-F238E27FC236}">
                <a16:creationId xmlns:a16="http://schemas.microsoft.com/office/drawing/2014/main" id="{0F60F5A8-3022-49D5-A1B7-18CDA62C7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3429000"/>
            <a:ext cx="2197510" cy="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4" name="直接连接符 13">
            <a:extLst xmlns:a="http://schemas.openxmlformats.org/drawingml/2006/main">
              <a:ext uri="{FF2B5EF4-FFF2-40B4-BE49-F238E27FC236}">
                <a16:creationId xmlns:a16="http://schemas.microsoft.com/office/drawing/2014/main" id="{2989B7D2-D2DE-4D77-870B-585E51853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89690" y="3429000"/>
            <a:ext cx="2197510" cy="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20" name="文本占位符 31">
            <a:extLst xmlns:a="http://schemas.openxmlformats.org/drawingml/2006/main">
              <a:ext uri="{FF2B5EF4-FFF2-40B4-BE49-F238E27FC236}">
                <a16:creationId xmlns:a16="http://schemas.microsoft.com/office/drawing/2014/main" id="{4EB0A957-E3E4-47EE-9713-82509E17FD51}"/>
              </a:ext>
            </a:extLst>
          </p:cNvPr>
          <p:cNvSpPr>
            <a:spLocks xmlns:a="http://schemas.openxmlformats.org/drawingml/2006/main" noGrp="1"/>
          </p:cNvSpPr>
          <p:nvPr>
            <p:ph type="body" idx="11"/>
          </p:nvPr>
        </p:nvSpPr>
        <p:spPr>
          <a:xfrm xmlns:a="http://schemas.openxmlformats.org/drawingml/2006/main">
            <a:off x="2555162" y="3129756"/>
            <a:ext cx="7081677" cy="59848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/>
          <a:lstStyle xmlns:a="http://schemas.openxmlformats.org/drawingml/2006/main">
            <a:lvl1pPr marL="0" indent="0" algn="ctr">
              <a:lnSpc>
                <a:spcPct val="100000"/>
              </a:lnSpc>
              <a:buNone/>
              <a:defRPr sz="6000" b="1" spc="600">
                <a:solidFill>
                  <a:schemeClr val="bg1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endParaRPr/>
          </a:p>
        </p:txBody>
      </p:sp>
      <p:pic>
        <p:nvPicPr>
          <p:cNvPr id="27" name="图片 6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a713ff1dfdea41e2">
            <a:alphaModFix amt="20000"/>
            <a:duotone>
              <a:schemeClr val="accent4">
                <a:shade val="45000"/>
                <a:satMod val="135000"/>
              </a:schemeClr>
              <a:prstClr val="white"/>
            </a:duotone>
          </a:blip>
          <a:srcRect xmlns:a="http://schemas.openxmlformats.org/drawingml/2006/main" l="0" t="9831" r="0" b="36385"/>
          <a:stretch xmlns:a="http://schemas.openxmlformats.org/drawingml/2006/main"/>
        </p:blipFill>
        <p:spPr>
          <a:xfrm xmlns:a="http://schemas.openxmlformats.org/drawingml/2006/main">
            <a:off x="3352562" y="6146610"/>
            <a:ext cx="5486876" cy="406590"/>
          </a:xfrm>
          <a:prstGeom xmlns:a="http://schemas.openxmlformats.org/drawingml/2006/main" prst="rect">
            <a:avLst/>
          </a:prstGeom>
        </p:spPr>
      </p:pic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3581957f55247f4" /><Relationship Type="http://schemas.openxmlformats.org/officeDocument/2006/relationships/slideLayout" Target="/ppt/slideLayouts/slideLayout1.xml" Id="R2d02017463114e2a" /><Relationship Type="http://schemas.openxmlformats.org/officeDocument/2006/relationships/slideLayout" Target="/ppt/slideLayouts/slideLayout2.xml" Id="R8d3a7a7f9603412f" /><Relationship Type="http://schemas.openxmlformats.org/officeDocument/2006/relationships/slideLayout" Target="/ppt/slideLayouts/slideLayout3.xml" Id="Rf9b7970c2693462c" /><Relationship Type="http://schemas.openxmlformats.org/officeDocument/2006/relationships/slideLayout" Target="/ppt/slideLayouts/slideLayout4.xml" Id="R5ef10c8b07c5436c" /></Relationships>
</file>

<file path=ppt/slideMasters/slideMaster1.xml><?xml version="1.0" encoding="utf-8"?>
<p:sldMaster xmlns:p="http://schemas.openxmlformats.org/presentationml/2006/main">
  <p:cSld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DF26411B-55E1-4CE5-B9CA-4734B17AE0EC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0849970" y="6515101"/>
            <a:ext cx="103723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548644C6-89F0-466C-949F-E70AD72679A8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d02017463114e2a"/>
    <p:sldLayoutId xmlns:r="http://schemas.openxmlformats.org/officeDocument/2006/relationships" id="2147483650" r:id="R8d3a7a7f9603412f"/>
    <p:sldLayoutId xmlns:r="http://schemas.openxmlformats.org/officeDocument/2006/relationships" id="2147483651" r:id="Rf9b7970c2693462c"/>
    <p:sldLayoutId xmlns:r="http://schemas.openxmlformats.org/officeDocument/2006/relationships" id="2147483652" r:id="R5ef10c8b07c5436c"/>
  </p:sldLayoutIdLst>
  <p:hf hdr="0" ftr="0" dt="0"/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  <p:extLst>
    <p:ext uri="{27BBF7A9-308A-43DC-89C8-2F10F3537804}">
      <p15:sldGuideLst xmlns:p15="http://schemas.microsoft.com/office/powerpoint/2012/main">
        <p15:guide id="1" pos="192">
          <p15:clr>
            <a:srgbClr xmlns:a="http://schemas.openxmlformats.org/drawingml/2006/main" val="F26B43"/>
          </p15:clr>
        </p15:guide>
        <p15:guide id="2" pos="7488">
          <p15:clr>
            <a:srgbClr xmlns:a="http://schemas.openxmlformats.org/drawingml/2006/main" val="F26B43"/>
          </p15:clr>
        </p15:guide>
        <p15:guide id="3" orient="horz" pos="432">
          <p15:clr>
            <a:srgbClr xmlns:a="http://schemas.openxmlformats.org/drawingml/2006/main" val="F26B43"/>
          </p15:clr>
        </p15:guide>
        <p15:guide id="4" orient="horz" pos="472">
          <p15:clr>
            <a:srgbClr xmlns:a="http://schemas.openxmlformats.org/drawingml/2006/main" val="F26B43"/>
          </p15:clr>
        </p15:guide>
        <p15:guide id="5" orient="horz" pos="4104">
          <p15:clr>
            <a:srgbClr xmlns:a="http://schemas.openxmlformats.org/drawingml/2006/main" val="F26B43"/>
          </p15:clr>
        </p15:guide>
        <p15:guide id="6" orient="horz" pos="4056">
          <p15:clr>
            <a:srgbClr xmlns:a="http://schemas.openxmlformats.org/drawingml/2006/main" val="F26B43"/>
          </p15:clr>
        </p15:guide>
      </p15:sldGuideLst>
    </p:ext>
  </p:extLst>
</p:sldMaster>
</file>

<file path=ppt/slideMasters/theme/theme2.xml><?xml version="1.0" encoding="utf-8"?>
<a:theme xmlns:a="http://schemas.openxmlformats.org/drawingml/2006/main" name="Office 主题​​">
  <a:themeElements>
    <a:clrScheme name="SJTU-2019">
      <a:dk1>
        <a:srgbClr val="000000"/>
      </a:dk1>
      <a:lt1>
        <a:srgbClr val="FFFFFF"/>
      </a:lt1>
      <a:dk2>
        <a:srgbClr val="1B1C21"/>
      </a:dk2>
      <a:lt2>
        <a:srgbClr val="DBDBDB"/>
      </a:lt2>
      <a:accent1>
        <a:srgbClr val="C8161E"/>
      </a:accent1>
      <a:accent2>
        <a:srgbClr val="44546A"/>
      </a:accent2>
      <a:accent3>
        <a:srgbClr val="1F4D78"/>
      </a:accent3>
      <a:accent4>
        <a:srgbClr val="ED7D31"/>
      </a:accent4>
      <a:accent5>
        <a:srgbClr val="FFC000"/>
      </a:accent5>
      <a:accent6>
        <a:srgbClr val="A5A5A5"/>
      </a:accent6>
      <a:hlink>
        <a:srgbClr val="196E7D"/>
      </a:hlink>
      <a:folHlink>
        <a:srgbClr val="BEBEBE"/>
      </a:folHlink>
    </a:clrScheme>
    <a:fontScheme name="外宣普适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SJTU-2019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6439dcd75d44e91" /><Relationship Type="http://schemas.openxmlformats.org/officeDocument/2006/relationships/notesSlide" Target="/ppt/notesSlides/notesSlide1.xml" Id="R1d80c122763348c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a66a25c7287e4de9" /><Relationship Type="http://schemas.openxmlformats.org/officeDocument/2006/relationships/notesSlide" Target="/ppt/notesSlides/notesSlide2.xml" Id="R9b9ad27b3972415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d547ab0bb6c84e09" /><Relationship Type="http://schemas.openxmlformats.org/officeDocument/2006/relationships/notesSlide" Target="/ppt/notesSlides/notesSlide3.xml" Id="R0f34711246f448e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7a86d3d6c7df4b1d" /><Relationship Type="http://schemas.openxmlformats.org/officeDocument/2006/relationships/notesSlide" Target="/ppt/notesSlides/notesSlide4.xml" Id="R0edb384b727047e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831eb86e00de4d05" /><Relationship Type="http://schemas.openxmlformats.org/officeDocument/2006/relationships/notesSlide" Target="/ppt/notesSlides/notesSlide5.xml" Id="R0835f7b9cad0431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0479b97357cd4b8f" /><Relationship Type="http://schemas.openxmlformats.org/officeDocument/2006/relationships/notesSlide" Target="/ppt/notesSlides/notesSlide6.xml" Id="Raf89a727b23b4524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7f47b8ff4752446a" /><Relationship Type="http://schemas.openxmlformats.org/officeDocument/2006/relationships/notesSlide" Target="/ppt/notesSlides/notesSlide7.xml" Id="R1fd14ce99aac4b98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e575b4434fdc4c3e" /><Relationship Type="http://schemas.openxmlformats.org/officeDocument/2006/relationships/notesSlide" Target="/ppt/notesSlides/notesSlide8.xml" Id="Re1468713e8ac4de4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6bf491ec282d4791" /><Relationship Type="http://schemas.openxmlformats.org/officeDocument/2006/relationships/notesSlide" Target="/ppt/notesSlides/notesSlide9.xml" Id="R5c0329fa04c94d25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f107070ef2554fe5" /><Relationship Type="http://schemas.openxmlformats.org/officeDocument/2006/relationships/notesSlide" Target="/ppt/notesSlides/notesSlide10.xml" Id="R3bc4a74c543f44cb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700be0a118134f07" /><Relationship Type="http://schemas.openxmlformats.org/officeDocument/2006/relationships/notesSlide" Target="/ppt/notesSlides/notesSlide11.xml" Id="Rfc7e7d805bb54ca5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5782a5b0ae214800" /><Relationship Type="http://schemas.openxmlformats.org/officeDocument/2006/relationships/notesSlide" Target="/ppt/notesSlides/notesSlide12.xml" Id="R95d2e79a817b4986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31c7bbb4f37f43da" /><Relationship Type="http://schemas.openxmlformats.org/officeDocument/2006/relationships/notesSlide" Target="/ppt/notesSlides/notesSlide13.xml" Id="R17056e5305584000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c70ba1eefdc14f9c" /><Relationship Type="http://schemas.openxmlformats.org/officeDocument/2006/relationships/notesSlide" Target="/ppt/notesSlides/notesSlide14.xml" Id="R220f88b9d1404ac4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89c6e8dddba34c41" /><Relationship Type="http://schemas.openxmlformats.org/officeDocument/2006/relationships/notesSlide" Target="/ppt/notesSlides/notesSlide15.xml" Id="Rc764bea350514878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3f2f9898806c4171" /><Relationship Type="http://schemas.openxmlformats.org/officeDocument/2006/relationships/notesSlide" Target="/ppt/notesSlides/notesSlide16.xml" Id="Rf84676540d754e17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d1fa457780b042b9" /><Relationship Type="http://schemas.openxmlformats.org/officeDocument/2006/relationships/notesSlide" Target="/ppt/notesSlides/notesSlide17.xml" Id="R41c76cc25ab84038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cover-title">
            <a:extLst xmlns:a="http://schemas.openxmlformats.org/drawingml/2006/main">
              <a:ext uri="{FF2B5EF4-FFF2-40B4-BE49-F238E27FC236}">
                <a16:creationId xmlns:a16="http://schemas.microsoft.com/office/drawing/2014/main" id="{40355762-950C-4D40-AC3B-9679948C7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790700"/>
            <a:ext cx="9906000" cy="1647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3200" b="1">
                <a:solidFill>
                  <a:srgbClr val="C8161E"/>
                </a:solidFill>
                <a:latin typeface="微软雅黑"/>
                <a:ea typeface="微软雅黑"/>
                <a:cs typeface="微软雅黑"/>
              </a:defRPr>
            </a:pPr>
            <a:r>
              <a:rPr sz="3200" b="1">
                <a:solidFill>
                  <a:srgbClr val="C8161E"/>
                </a:solidFill>
                <a:latin typeface="微软雅黑"/>
                <a:ea typeface="微软雅黑"/>
                <a:cs typeface="微软雅黑"/>
              </a:rPr>
              <a:t>第7讲  机制假设、研究判断与实验设计</a:t>
            </a:r>
          </a:p>
        </p:txBody>
      </p:sp>
    </p:spTree>
    <p:extLst>
      <p:ext uri="{BB962C8B-B14F-4D97-AF65-F5344CB8AC3E}">
        <p14:creationId xmlns:p14="http://schemas.microsoft.com/office/powerpoint/2010/main" val="3450045397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4D941B40-7A0A-534E-3563-CA11753C8E3F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>
          <a:xfrm xmlns:a="http://schemas.openxmlformats.org/drawingml/2006/main">
            <a:off x="1028700" y="57150"/>
            <a:ext cx="10668000" cy="571500"/>
          </a:xfr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</a:pPr>
            <a:r>
              <a: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第 6 课之后，问题门还没有证明机制成立</a:t>
            </a:r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EBA5909F-738E-F60C-BE8C-B3F1D94548E5}"/>
              </a:ext>
            </a:extLst>
          </p:cNvPr>
          <p:cNvSpPr>
            <a:spLocks xmlns:a="http://schemas.openxmlformats.org/drawingml/2006/main" noGrp="1"/>
          </p:cNvSpPr>
          <p:nvPr>
            <p:ph type="sldNum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2598689-54C9-18A7-3A19-ED76AA08988F}" type="slidenum">
              <a:t>2</a:t>
            </a:fld>
            <a:endParaRPr/>
          </a:p>
        </p:txBody>
      </p:sp>
      <p:sp>
        <p:nvSpPr>
          <p:cNvPr id="6" name="left-title">
            <a:extLst xmlns:a="http://schemas.openxmlformats.org/drawingml/2006/main">
              <a:ext uri="{FF2B5EF4-FFF2-40B4-BE49-F238E27FC236}">
                <a16:creationId xmlns:a16="http://schemas.microsoft.com/office/drawing/2014/main" id="{8D73C84C-586A-4A11-B415-9832EFEF1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1445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000" b="1">
                <a:solidFill>
                  <a:srgbClr val="2E7D5B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1">
                <a:solidFill>
                  <a:srgbClr val="2E7D5B"/>
                </a:solidFill>
                <a:latin typeface="微软雅黑"/>
                <a:ea typeface="微软雅黑"/>
                <a:cs typeface="微软雅黑"/>
              </a:rPr>
              <a:t>第 6 课已有</a:t>
            </a:r>
          </a:p>
        </p:txBody>
      </p:sp>
      <p:sp>
        <p:nvSpPr>
          <p:cNvPr id="7" name="right-title">
            <a:extLst xmlns:a="http://schemas.openxmlformats.org/drawingml/2006/main">
              <a:ext uri="{FF2B5EF4-FFF2-40B4-BE49-F238E27FC236}">
                <a16:creationId xmlns:a16="http://schemas.microsoft.com/office/drawing/2014/main" id="{EC39808B-6BD3-4465-8480-B7550FB94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31445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000" b="1">
                <a:solidFill>
                  <a:srgbClr val="A96510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1">
                <a:solidFill>
                  <a:srgbClr val="A96510"/>
                </a:solidFill>
                <a:latin typeface="微软雅黑"/>
                <a:ea typeface="微软雅黑"/>
                <a:cs typeface="微软雅黑"/>
              </a:rPr>
              <a:t>仍需回答</a:t>
            </a:r>
          </a:p>
        </p:txBody>
      </p:sp>
      <p:sp>
        <p:nvSpPr>
          <p:cNvPr id="8" name="split-top">
            <a:extLst xmlns:a="http://schemas.openxmlformats.org/drawingml/2006/main">
              <a:ext uri="{FF2B5EF4-FFF2-40B4-BE49-F238E27FC236}">
                <a16:creationId xmlns:a16="http://schemas.microsoft.com/office/drawing/2014/main" id="{DCC482BF-F101-44BB-826E-76D736DB7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76400"/>
            <a:ext cx="108585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D5DB"/>
          </a:solidFill>
          <a:ln xmlns:a="http://schemas.openxmlformats.org/drawingml/2006/main" w="0">
            <a:noFill/>
          </a:ln>
        </p:spPr>
      </p:sp>
      <p:sp>
        <p:nvSpPr>
          <p:cNvPr id="9" name="left-lines-0">
            <a:extLst xmlns:a="http://schemas.openxmlformats.org/drawingml/2006/main">
              <a:ext uri="{FF2B5EF4-FFF2-40B4-BE49-F238E27FC236}">
                <a16:creationId xmlns:a16="http://schemas.microsoft.com/office/drawing/2014/main" id="{889E33E5-9357-49E3-9C64-9516A76C0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66900"/>
            <a:ext cx="49530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2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rPr>
              <a:t>•  可证伪命题：范围与非例</a:t>
            </a:r>
          </a:p>
        </p:txBody>
      </p:sp>
      <p:sp>
        <p:nvSpPr>
          <p:cNvPr id="10" name="left-lines-1">
            <a:extLst xmlns:a="http://schemas.openxmlformats.org/drawingml/2006/main">
              <a:ext uri="{FF2B5EF4-FFF2-40B4-BE49-F238E27FC236}">
                <a16:creationId xmlns:a16="http://schemas.microsoft.com/office/drawing/2014/main" id="{CD4FD461-079E-4698-9583-86E7CC9F1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62200"/>
            <a:ext cx="49530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2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rPr>
              <a:t>•  第一性原理必要条件</a:t>
            </a:r>
          </a:p>
        </p:txBody>
      </p:sp>
      <p:sp>
        <p:nvSpPr>
          <p:cNvPr id="11" name="left-lines-2">
            <a:extLst xmlns:a="http://schemas.openxmlformats.org/drawingml/2006/main">
              <a:ext uri="{FF2B5EF4-FFF2-40B4-BE49-F238E27FC236}">
                <a16:creationId xmlns:a16="http://schemas.microsoft.com/office/drawing/2014/main" id="{A29F9180-36F0-4A3E-B60F-5A606ACDE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0"/>
            <a:ext cx="49530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2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rPr>
              <a:t>•  证据地图与研究空白</a:t>
            </a:r>
          </a:p>
        </p:txBody>
      </p:sp>
      <p:sp>
        <p:nvSpPr>
          <p:cNvPr id="12" name="right-lines-0">
            <a:extLst xmlns:a="http://schemas.openxmlformats.org/drawingml/2006/main">
              <a:ext uri="{FF2B5EF4-FFF2-40B4-BE49-F238E27FC236}">
                <a16:creationId xmlns:a16="http://schemas.microsoft.com/office/drawing/2014/main" id="{70768002-8F6E-44C6-B4A3-D2E9F26AF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866900"/>
            <a:ext cx="49530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2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rPr>
              <a:t>•  为什么会发生：机制</a:t>
            </a:r>
          </a:p>
        </p:txBody>
      </p:sp>
      <p:sp>
        <p:nvSpPr>
          <p:cNvPr id="13" name="right-lines-1">
            <a:extLst xmlns:a="http://schemas.openxmlformats.org/drawingml/2006/main">
              <a:ext uri="{FF2B5EF4-FFF2-40B4-BE49-F238E27FC236}">
                <a16:creationId xmlns:a16="http://schemas.microsoft.com/office/drawing/2014/main" id="{BB0EF12F-5B13-43E1-B9CD-6C7CA547F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362200"/>
            <a:ext cx="49530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2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rPr>
              <a:t>•  什么也能解释：替代</a:t>
            </a:r>
          </a:p>
        </p:txBody>
      </p:sp>
      <p:sp>
        <p:nvSpPr>
          <p:cNvPr id="14" name="right-lines-2">
            <a:extLst xmlns:a="http://schemas.openxmlformats.org/drawingml/2006/main">
              <a:ext uri="{FF2B5EF4-FFF2-40B4-BE49-F238E27FC236}">
                <a16:creationId xmlns:a16="http://schemas.microsoft.com/office/drawing/2014/main" id="{7EA9B37F-260B-4D9B-9FF1-793761E79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857500"/>
            <a:ext cx="49530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2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rPr>
              <a:t>•  什么结果区分两者：实验</a:t>
            </a:r>
          </a:p>
        </p:txBody>
      </p:sp>
      <p:sp>
        <p:nvSpPr>
          <p:cNvPr id="15" name="gap">
            <a:extLst xmlns:a="http://schemas.openxmlformats.org/drawingml/2006/main">
              <a:ext uri="{FF2B5EF4-FFF2-40B4-BE49-F238E27FC236}">
                <a16:creationId xmlns:a16="http://schemas.microsoft.com/office/drawing/2014/main" id="{3C461E80-E774-4328-9222-D2CE04F08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4953000"/>
            <a:ext cx="4953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2600" b="1">
                <a:solidFill>
                  <a:srgbClr val="C8161E"/>
                </a:solidFill>
                <a:latin typeface="微软雅黑"/>
                <a:ea typeface="微软雅黑"/>
                <a:cs typeface="微软雅黑"/>
              </a:defRPr>
            </a:pPr>
            <a:r>
              <a:rPr sz="2600" b="1">
                <a:solidFill>
                  <a:srgbClr val="C8161E"/>
                </a:solidFill>
                <a:latin typeface="微软雅黑"/>
                <a:ea typeface="微软雅黑"/>
                <a:cs typeface="微软雅黑"/>
              </a:rPr>
              <a:t>问题成立  ≠  机制成立</a:t>
            </a:r>
          </a:p>
        </p:txBody>
      </p:sp>
    </p:spTree>
    <p:extLst>
      <p:ext uri="{BB962C8B-B14F-4D97-AF65-F5344CB8AC3E}">
        <p14:creationId xmlns:p14="http://schemas.microsoft.com/office/powerpoint/2010/main" val="1443728403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judgment-title">
            <a:extLst xmlns:a="http://schemas.openxmlformats.org/drawingml/2006/main">
              <a:ext uri="{FF2B5EF4-FFF2-40B4-BE49-F238E27FC236}">
                <a16:creationId xmlns:a16="http://schemas.microsoft.com/office/drawing/2014/main" id="{F9512899-6C0F-495D-8DA8-6F728D4A0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76200"/>
            <a:ext cx="10687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哪项实验能区分解释</a:t>
            </a:r>
          </a:p>
        </p:txBody>
      </p:sp>
      <p:sp>
        <p:nvSpPr>
          <p:cNvPr id="2" name="judgment-body-0">
            <a:extLst xmlns:a="http://schemas.openxmlformats.org/drawingml/2006/main">
              <a:ext uri="{FF2B5EF4-FFF2-40B4-BE49-F238E27FC236}">
                <a16:creationId xmlns:a16="http://schemas.microsoft.com/office/drawing/2014/main" id="{3B49954C-23C0-4D85-BA03-545699364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66800"/>
            <a:ext cx="108585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4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defRPr sz="24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rPr>
              <a:t>观察：阅读卡遗漏较低；评分者看得到组别</a:t>
            </a:r>
          </a:p>
        </p:txBody>
      </p:sp>
      <p:sp>
        <p:nvSpPr>
          <p:cNvPr id="3" name="judgment-body-1">
            <a:extLst xmlns:a="http://schemas.openxmlformats.org/drawingml/2006/main">
              <a:ext uri="{FF2B5EF4-FFF2-40B4-BE49-F238E27FC236}">
                <a16:creationId xmlns:a16="http://schemas.microsoft.com/office/drawing/2014/main" id="{D618BD1E-5088-40AB-8675-78EFC224A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38375"/>
            <a:ext cx="10858500" cy="2076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4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defRPr sz="24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rPr>
              <a:t>X｜重复原评分</a:t>
            </a:r>
          </a:p>
          <a:p xmlns:a="http://schemas.openxmlformats.org/drawingml/2006/main">
            <a:pPr algn="l">
              <a:defRPr sz="24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rPr>
              <a:t>Y｜固定输出，隐藏组别和非语义格式后重评</a:t>
            </a:r>
          </a:p>
          <a:p xmlns:a="http://schemas.openxmlformats.org/drawingml/2006/main">
            <a:pPr algn="l">
              <a:defRPr sz="24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rPr>
              <a:t>Z｜同时换文本、模型和评分者</a:t>
            </a:r>
          </a:p>
        </p:txBody>
      </p:sp>
      <p:sp>
        <p:nvSpPr>
          <p:cNvPr id="4" name="judgment-body-2">
            <a:extLst xmlns:a="http://schemas.openxmlformats.org/drawingml/2006/main">
              <a:ext uri="{FF2B5EF4-FFF2-40B4-BE49-F238E27FC236}">
                <a16:creationId xmlns:a16="http://schemas.microsoft.com/office/drawing/2014/main" id="{42FADEB6-1572-4D9D-881E-C20CCC59D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495800"/>
            <a:ext cx="10858500" cy="14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给 H1 与 A2 分别写预测；哪个结果仍允许两者同时成立？</a:t>
            </a:r>
          </a:p>
        </p:txBody>
      </p:sp>
      <p:sp>
        <p:nvSpPr>
          <p:cNvPr id="5" name="judgment-source">
            <a:extLst xmlns:a="http://schemas.openxmlformats.org/drawingml/2006/main">
              <a:ext uri="{FF2B5EF4-FFF2-40B4-BE49-F238E27FC236}">
                <a16:creationId xmlns:a16="http://schemas.microsoft.com/office/drawing/2014/main" id="{ACAEC10F-CF46-4F5D-96A4-A74B06A77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276975"/>
            <a:ext cx="10572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100" b="0">
                <a:solidFill>
                  <a:srgbClr val="667684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defRPr sz="1100" b="0">
                <a:solidFill>
                  <a:srgbClr val="667684"/>
                </a:solidFill>
                <a:latin typeface="微软雅黑"/>
                <a:ea typeface="微软雅黑"/>
                <a:cs typeface="微软雅黑"/>
              </a:defRPr>
            </a:pPr>
            <a:r>
              <a:rPr sz="1100" b="0">
                <a:solidFill>
                  <a:srgbClr val="667684"/>
                </a:solidFill>
                <a:latin typeface="微软雅黑"/>
                <a:ea typeface="微软雅黑"/>
                <a:cs typeface="微软雅黑"/>
              </a:rPr>
              <a:t>来源：本课判断任务与讲义；构造材料及真实来源按材料包标识</a:t>
            </a:r>
          </a:p>
        </p:txBody>
      </p:sp>
      <p:sp>
        <p:nvSpPr>
          <p:cNvPr id="6" name="judgment-page">
            <a:extLst xmlns:a="http://schemas.openxmlformats.org/drawingml/2006/main">
              <a:ext uri="{FF2B5EF4-FFF2-40B4-BE49-F238E27FC236}">
                <a16:creationId xmlns:a16="http://schemas.microsoft.com/office/drawing/2014/main" id="{E66E0D51-1295-41BB-AF82-993866159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5750" y="6562725"/>
            <a:ext cx="2381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9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defRPr sz="9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pPr>
            <a:r>
              <a:rPr sz="9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1443728403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4D941B40-7A0A-534E-3563-CA11753C8E3F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>
          <a:xfrm xmlns:a="http://schemas.openxmlformats.org/drawingml/2006/main">
            <a:off x="1028700" y="57150"/>
            <a:ext cx="10668000" cy="571500"/>
          </a:xfr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</a:pPr>
            <a:r>
              <a: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结果预测和机制解释分开写</a:t>
            </a:r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EBA5909F-738E-F60C-BE8C-B3F1D94548E5}"/>
              </a:ext>
            </a:extLst>
          </p:cNvPr>
          <p:cNvSpPr>
            <a:spLocks xmlns:a="http://schemas.openxmlformats.org/drawingml/2006/main" noGrp="1"/>
          </p:cNvSpPr>
          <p:nvPr>
            <p:ph type="sldNum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FD6AB9A-5F9E-5F59-51AB-3C8734130965}" type="slidenum">
              <a:t>4</a:t>
            </a:fld>
            <a:endParaRPr/>
          </a:p>
        </p:txBody>
      </p:sp>
      <p:sp>
        <p:nvSpPr>
          <p:cNvPr id="6" name="content-1">
            <a:extLst xmlns:a="http://schemas.openxmlformats.org/drawingml/2006/main">
              <a:ext uri="{FF2B5EF4-FFF2-40B4-BE49-F238E27FC236}">
                <a16:creationId xmlns:a16="http://schemas.microsoft.com/office/drawing/2014/main" id="{5B9BDA0F-BD87-45A0-A2B0-37B662EDD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09650"/>
            <a:ext cx="10972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800" b="0">
                <a:solidFill>
                  <a:srgbClr val="A96510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0">
                <a:solidFill>
                  <a:srgbClr val="A96510"/>
                </a:solidFill>
                <a:latin typeface="微软雅黑"/>
                <a:ea typeface="微软雅黑"/>
                <a:cs typeface="微软雅黑"/>
              </a:rPr>
              <a:t>先分开结果命题与机制候选</a:t>
            </a:r>
          </a:p>
        </p:txBody>
      </p:sp>
      <p:sp>
        <p:nvSpPr>
          <p:cNvPr id="7" name="content-2">
            <a:extLst xmlns:a="http://schemas.openxmlformats.org/drawingml/2006/main">
              <a:ext uri="{FF2B5EF4-FFF2-40B4-BE49-F238E27FC236}">
                <a16:creationId xmlns:a16="http://schemas.microsoft.com/office/drawing/2014/main" id="{0D1113ED-93CE-475E-A600-9CD6470C8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90675"/>
            <a:ext cx="109728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8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8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Q1 结果命题：阅读卡组遗漏更少。</a:t>
            </a:r>
          </a:p>
        </p:txBody>
      </p:sp>
      <p:sp>
        <p:nvSpPr>
          <p:cNvPr id="8" name="process-3">
            <a:extLst xmlns:a="http://schemas.openxmlformats.org/drawingml/2006/main">
              <a:ext uri="{FF2B5EF4-FFF2-40B4-BE49-F238E27FC236}">
                <a16:creationId xmlns:a16="http://schemas.microsoft.com/office/drawing/2014/main" id="{C5CAF3F0-7B8C-4620-8E04-3CBC68C39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09875"/>
            <a:ext cx="5329238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5F0"/>
          </a:solidFill>
          <a:ln xmlns:a="http://schemas.openxmlformats.org/drawingml/2006/main" w="0">
            <a:noFill/>
          </a:ln>
        </p:spPr>
      </p:sp>
      <p:sp>
        <p:nvSpPr>
          <p:cNvPr id="9" name="content-4">
            <a:extLst xmlns:a="http://schemas.openxmlformats.org/drawingml/2006/main">
              <a:ext uri="{FF2B5EF4-FFF2-40B4-BE49-F238E27FC236}">
                <a16:creationId xmlns:a16="http://schemas.microsoft.com/office/drawing/2014/main" id="{9CAD9942-C0CD-4DA6-823D-42F0587DB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895600"/>
            <a:ext cx="5119688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23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3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H1：生成时显式列条件</a:t>
            </a:r>
          </a:p>
        </p:txBody>
      </p:sp>
      <p:sp>
        <p:nvSpPr>
          <p:cNvPr id="10" name="content-5">
            <a:extLst xmlns:a="http://schemas.openxmlformats.org/drawingml/2006/main">
              <a:ext uri="{FF2B5EF4-FFF2-40B4-BE49-F238E27FC236}">
                <a16:creationId xmlns:a16="http://schemas.microsoft.com/office/drawing/2014/main" id="{A1322961-5FC5-47F4-93EE-AEC3EC36A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38838" y="3009900"/>
            <a:ext cx="31432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25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5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11" name="process-6">
            <a:extLst xmlns:a="http://schemas.openxmlformats.org/drawingml/2006/main">
              <a:ext uri="{FF2B5EF4-FFF2-40B4-BE49-F238E27FC236}">
                <a16:creationId xmlns:a16="http://schemas.microsoft.com/office/drawing/2014/main" id="{B7184AE4-1357-4509-A977-19A80E0CE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3163" y="2809875"/>
            <a:ext cx="5329238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8"/>
          </a:solidFill>
          <a:ln xmlns:a="http://schemas.openxmlformats.org/drawingml/2006/main" w="0">
            <a:noFill/>
          </a:ln>
        </p:spPr>
      </p:sp>
      <p:sp>
        <p:nvSpPr>
          <p:cNvPr id="12" name="content-7">
            <a:extLst xmlns:a="http://schemas.openxmlformats.org/drawingml/2006/main">
              <a:ext uri="{FF2B5EF4-FFF2-40B4-BE49-F238E27FC236}">
                <a16:creationId xmlns:a16="http://schemas.microsoft.com/office/drawing/2014/main" id="{8828FB7C-A953-41E8-A04B-38B008163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7938" y="2895600"/>
            <a:ext cx="5119688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23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3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输出保留更多条件</a:t>
            </a:r>
          </a:p>
        </p:txBody>
      </p:sp>
      <p:sp>
        <p:nvSpPr>
          <p:cNvPr id="13" name="content-8">
            <a:extLst xmlns:a="http://schemas.openxmlformats.org/drawingml/2006/main">
              <a:ext uri="{FF2B5EF4-FFF2-40B4-BE49-F238E27FC236}">
                <a16:creationId xmlns:a16="http://schemas.microsoft.com/office/drawing/2014/main" id="{B4308CB4-1E92-4056-8B29-AE4E9D00B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57675"/>
            <a:ext cx="109728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9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9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看到差异，回答了多少？</a:t>
            </a:r>
          </a:p>
        </p:txBody>
      </p:sp>
      <p:sp>
        <p:nvSpPr>
          <p:cNvPr id="14" name="content-9">
            <a:extLst xmlns:a="http://schemas.openxmlformats.org/drawingml/2006/main">
              <a:ext uri="{FF2B5EF4-FFF2-40B4-BE49-F238E27FC236}">
                <a16:creationId xmlns:a16="http://schemas.microsoft.com/office/drawing/2014/main" id="{8F7B2199-4A58-4E65-B813-AB7EB7160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72075"/>
            <a:ext cx="109728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5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defRPr>
            </a:pPr>
            <a:r>
              <a:rPr sz="25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rPr>
              <a:t>结果可能与 Q1 一致，原因仍需区分。</a:t>
            </a:r>
          </a:p>
        </p:txBody>
      </p:sp>
    </p:spTree>
    <p:extLst>
      <p:ext uri="{BB962C8B-B14F-4D97-AF65-F5344CB8AC3E}">
        <p14:creationId xmlns:p14="http://schemas.microsoft.com/office/powerpoint/2010/main" val="1443728403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4D941B40-7A0A-534E-3563-CA11753C8E3F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>
          <a:xfrm xmlns:a="http://schemas.openxmlformats.org/drawingml/2006/main">
            <a:off x="1028700" y="57150"/>
            <a:ext cx="10668000" cy="571500"/>
          </a:xfr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</a:pPr>
            <a:r>
              <a: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主练一组可区分的解释</a:t>
            </a:r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EBA5909F-738E-F60C-BE8C-B3F1D94548E5}"/>
              </a:ext>
            </a:extLst>
          </p:cNvPr>
          <p:cNvSpPr>
            <a:spLocks xmlns:a="http://schemas.openxmlformats.org/drawingml/2006/main" noGrp="1"/>
          </p:cNvSpPr>
          <p:nvPr>
            <p:ph type="sldNum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E5B3003-2C54-13C6-9832-7637201064DE}" type="slidenum">
              <a:t>5</a:t>
            </a:fld>
            <a:endParaRPr/>
          </a:p>
        </p:txBody>
      </p:sp>
      <p:sp>
        <p:nvSpPr>
          <p:cNvPr id="6" name="content-10">
            <a:extLst xmlns:a="http://schemas.openxmlformats.org/drawingml/2006/main">
              <a:ext uri="{FF2B5EF4-FFF2-40B4-BE49-F238E27FC236}">
                <a16:creationId xmlns:a16="http://schemas.microsoft.com/office/drawing/2014/main" id="{584AECAA-3169-4228-9C01-43761381D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62125"/>
            <a:ext cx="5048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6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6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生成解释 H1</a:t>
            </a:r>
          </a:p>
        </p:txBody>
      </p:sp>
      <p:sp>
        <p:nvSpPr>
          <p:cNvPr id="7" name="rule-11">
            <a:extLst xmlns:a="http://schemas.openxmlformats.org/drawingml/2006/main">
              <a:ext uri="{FF2B5EF4-FFF2-40B4-BE49-F238E27FC236}">
                <a16:creationId xmlns:a16="http://schemas.microsoft.com/office/drawing/2014/main" id="{CA25B62C-AC99-433C-ADAC-40AF8B999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71725"/>
            <a:ext cx="50482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D5DB"/>
          </a:solidFill>
          <a:ln xmlns:a="http://schemas.openxmlformats.org/drawingml/2006/main" w="0">
            <a:noFill/>
          </a:ln>
        </p:spPr>
      </p:sp>
      <p:sp>
        <p:nvSpPr>
          <p:cNvPr id="8" name="content-12">
            <a:extLst xmlns:a="http://schemas.openxmlformats.org/drawingml/2006/main">
              <a:ext uri="{FF2B5EF4-FFF2-40B4-BE49-F238E27FC236}">
                <a16:creationId xmlns:a16="http://schemas.microsoft.com/office/drawing/2014/main" id="{CFCA19BB-5CEB-498C-8024-61F2D037D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00325"/>
            <a:ext cx="504825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5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defRPr>
            </a:pPr>
            <a:r>
              <a:rPr sz="25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rPr>
              <a:t>生成时显式列条件，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25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defRPr>
            </a:pPr>
            <a:r>
              <a:rPr sz="25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rPr>
              <a:t>输出确实保留更多。</a:t>
            </a:r>
          </a:p>
        </p:txBody>
      </p:sp>
      <p:sp>
        <p:nvSpPr>
          <p:cNvPr id="9" name="content-13">
            <a:extLst xmlns:a="http://schemas.openxmlformats.org/drawingml/2006/main">
              <a:ext uri="{FF2B5EF4-FFF2-40B4-BE49-F238E27FC236}">
                <a16:creationId xmlns:a16="http://schemas.microsoft.com/office/drawing/2014/main" id="{1A0DDDAB-5594-4670-8DCE-AE60C8A61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1762125"/>
            <a:ext cx="5048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600" b="1">
                <a:solidFill>
                  <a:srgbClr val="A96510"/>
                </a:solidFill>
                <a:latin typeface="微软雅黑"/>
                <a:ea typeface="微软雅黑"/>
                <a:cs typeface="微软雅黑"/>
              </a:defRPr>
            </a:pPr>
            <a:r>
              <a:rPr sz="2600" b="1">
                <a:solidFill>
                  <a:srgbClr val="A96510"/>
                </a:solidFill>
                <a:latin typeface="微软雅黑"/>
                <a:ea typeface="微软雅黑"/>
                <a:cs typeface="微软雅黑"/>
              </a:rPr>
              <a:t>测量解释 A2</a:t>
            </a:r>
          </a:p>
        </p:txBody>
      </p:sp>
      <p:sp>
        <p:nvSpPr>
          <p:cNvPr id="10" name="rule-14">
            <a:extLst xmlns:a="http://schemas.openxmlformats.org/drawingml/2006/main">
              <a:ext uri="{FF2B5EF4-FFF2-40B4-BE49-F238E27FC236}">
                <a16:creationId xmlns:a16="http://schemas.microsoft.com/office/drawing/2014/main" id="{695A4B69-4827-45FB-BDA1-6D627BF5C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71725"/>
            <a:ext cx="50482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D5DB"/>
          </a:solidFill>
          <a:ln xmlns:a="http://schemas.openxmlformats.org/drawingml/2006/main" w="0">
            <a:noFill/>
          </a:ln>
        </p:spPr>
      </p:sp>
      <p:sp>
        <p:nvSpPr>
          <p:cNvPr id="11" name="content-15">
            <a:extLst xmlns:a="http://schemas.openxmlformats.org/drawingml/2006/main">
              <a:ext uri="{FF2B5EF4-FFF2-40B4-BE49-F238E27FC236}">
                <a16:creationId xmlns:a16="http://schemas.microsoft.com/office/drawing/2014/main" id="{E384216D-893F-4CD8-A6D6-22299E346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600325"/>
            <a:ext cx="504825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5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defRPr>
            </a:pPr>
            <a:r>
              <a:rPr sz="25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rPr>
              <a:t>评分者看见字段后，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25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defRPr>
            </a:pPr>
            <a:r>
              <a:rPr sz="25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rPr>
              <a:t>更容易给出保留分。</a:t>
            </a:r>
          </a:p>
        </p:txBody>
      </p:sp>
      <p:sp>
        <p:nvSpPr>
          <p:cNvPr id="12" name="content-16">
            <a:extLst xmlns:a="http://schemas.openxmlformats.org/drawingml/2006/main">
              <a:ext uri="{FF2B5EF4-FFF2-40B4-BE49-F238E27FC236}">
                <a16:creationId xmlns:a16="http://schemas.microsoft.com/office/drawing/2014/main" id="{BAF02212-2F0B-4923-928F-3333FD00E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19700"/>
            <a:ext cx="109728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300" b="0">
                <a:solidFill>
                  <a:srgbClr val="66727D"/>
                </a:solidFill>
                <a:latin typeface="微软雅黑"/>
                <a:ea typeface="微软雅黑"/>
                <a:cs typeface="微软雅黑"/>
              </a:defRPr>
            </a:pPr>
            <a:r>
              <a:rPr sz="2300" b="0">
                <a:solidFill>
                  <a:srgbClr val="66727D"/>
                </a:solidFill>
                <a:latin typeface="微软雅黑"/>
                <a:ea typeface="微软雅黑"/>
                <a:cs typeface="微软雅黑"/>
              </a:rPr>
              <a:t>另查 A1：其他质量错误？     A3：是否依赖材料结构？</a:t>
            </a:r>
          </a:p>
        </p:txBody>
      </p:sp>
    </p:spTree>
    <p:extLst>
      <p:ext uri="{BB962C8B-B14F-4D97-AF65-F5344CB8AC3E}">
        <p14:creationId xmlns:p14="http://schemas.microsoft.com/office/powerpoint/2010/main" val="1443728403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4D941B40-7A0A-534E-3563-CA11753C8E3F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>
          <a:xfrm xmlns:a="http://schemas.openxmlformats.org/drawingml/2006/main">
            <a:off x="1028700" y="57150"/>
            <a:ext cx="10668000" cy="571500"/>
          </a:xfr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</a:pPr>
            <a:r>
              <a: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四种记录回答四个不同问题</a:t>
            </a:r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EBA5909F-738E-F60C-BE8C-B3F1D94548E5}"/>
              </a:ext>
            </a:extLst>
          </p:cNvPr>
          <p:cNvSpPr>
            <a:spLocks xmlns:a="http://schemas.openxmlformats.org/drawingml/2006/main" noGrp="1"/>
          </p:cNvSpPr>
          <p:nvPr>
            <p:ph type="sldNum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C630A04-5A25-9E0C-9436-126091DB86B3}" type="slidenum">
              <a:t>6</a:t>
            </a:fld>
            <a:endParaRPr/>
          </a:p>
        </p:txBody>
      </p:sp>
      <p:sp>
        <p:nvSpPr>
          <p:cNvPr id="6" name="content-17">
            <a:extLst xmlns:a="http://schemas.openxmlformats.org/drawingml/2006/main">
              <a:ext uri="{FF2B5EF4-FFF2-40B4-BE49-F238E27FC236}">
                <a16:creationId xmlns:a16="http://schemas.microsoft.com/office/drawing/2014/main" id="{544FE867-F021-44EE-99C4-D4DAB25DC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71625"/>
            <a:ext cx="10972800" cy="4324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4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rPr>
              <a:t>来源核验：这份材料是否确实存在？</a:t>
            </a:r>
          </a:p>
        </p:txBody>
      </p:sp>
      <p:sp>
        <p:nvSpPr>
          <p:cNvPr id="7" name="content-18">
            <a:extLst xmlns:a="http://schemas.openxmlformats.org/drawingml/2006/main">
              <a:ext uri="{FF2B5EF4-FFF2-40B4-BE49-F238E27FC236}">
                <a16:creationId xmlns:a16="http://schemas.microsoft.com/office/drawing/2014/main" id="{45EB2B3B-9368-495D-A658-35B91403A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61235"/>
            <a:ext cx="10972800" cy="4324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4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rPr>
              <a:t>证据角色：它直接测量什么？</a:t>
            </a:r>
          </a:p>
        </p:txBody>
      </p:sp>
      <p:sp>
        <p:nvSpPr>
          <p:cNvPr id="8" name="content-19">
            <a:extLst xmlns:a="http://schemas.openxmlformats.org/drawingml/2006/main">
              <a:ext uri="{FF2B5EF4-FFF2-40B4-BE49-F238E27FC236}">
                <a16:creationId xmlns:a16="http://schemas.microsoft.com/office/drawing/2014/main" id="{22E1ECF0-1176-4397-AC23-5B76B2C9F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50845"/>
            <a:ext cx="10972800" cy="4324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4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rPr>
              <a:t>主张方向：支持、反驳，还是仍不能判断？</a:t>
            </a:r>
          </a:p>
        </p:txBody>
      </p:sp>
      <p:sp>
        <p:nvSpPr>
          <p:cNvPr id="9" name="content-20">
            <a:extLst xmlns:a="http://schemas.openxmlformats.org/drawingml/2006/main">
              <a:ext uri="{FF2B5EF4-FFF2-40B4-BE49-F238E27FC236}">
                <a16:creationId xmlns:a16="http://schemas.microsoft.com/office/drawing/2014/main" id="{8932A746-4D01-4F57-BD47-6CE64FC86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40455"/>
            <a:ext cx="10972800" cy="4324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4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rPr>
              <a:t>工件成熟度：draft / review / approved / stable</a:t>
            </a:r>
          </a:p>
        </p:txBody>
      </p:sp>
      <p:sp>
        <p:nvSpPr>
          <p:cNvPr id="10" name="content-21">
            <a:extLst xmlns:a="http://schemas.openxmlformats.org/drawingml/2006/main">
              <a:ext uri="{FF2B5EF4-FFF2-40B4-BE49-F238E27FC236}">
                <a16:creationId xmlns:a16="http://schemas.microsoft.com/office/drawing/2014/main" id="{87E90F07-4DFC-44CB-9D18-74B4A654B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30065"/>
            <a:ext cx="10972800" cy="4324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4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来源真实 ≠ 某个机制已成立。</a:t>
            </a:r>
          </a:p>
        </p:txBody>
      </p:sp>
    </p:spTree>
    <p:extLst>
      <p:ext uri="{BB962C8B-B14F-4D97-AF65-F5344CB8AC3E}">
        <p14:creationId xmlns:p14="http://schemas.microsoft.com/office/powerpoint/2010/main" val="1443728403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4D941B40-7A0A-534E-3563-CA11753C8E3F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>
          <a:xfrm xmlns:a="http://schemas.openxmlformats.org/drawingml/2006/main">
            <a:off x="1028700" y="57150"/>
            <a:ext cx="10668000" cy="571500"/>
          </a:xfr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</a:pPr>
            <a:r>
              <a: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方案取舍要记录比较依据，而不是只写最后选择</a:t>
            </a:r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EBA5909F-738E-F60C-BE8C-B3F1D94548E5}"/>
              </a:ext>
            </a:extLst>
          </p:cNvPr>
          <p:cNvSpPr>
            <a:spLocks xmlns:a="http://schemas.openxmlformats.org/drawingml/2006/main" noGrp="1"/>
          </p:cNvSpPr>
          <p:nvPr>
            <p:ph type="sldNum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3D7D1C8-AE23-AA48-DF65-C742588DBE47}" type="slidenum">
              <a:t>7</a:t>
            </a:fld>
            <a:endParaRPr/>
          </a:p>
        </p:txBody>
      </p:sp>
      <p:graphicFrame>
        <p:nvGraphicFramePr>
          <p:cNvPr id="11" name="native-table-22"/>
          <p:cNvGraphicFramePr/>
          <p:nvPr/>
        </p:nvGraphicFramePr>
        <p:xfrm>
          <a:off xmlns:a="http://schemas.openxmlformats.org/drawingml/2006/main" x="609600" y="1476375"/>
          <a:ext xmlns:a="http://schemas.openxmlformats.org/drawingml/2006/main" cx="10972800" cy="21717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981200"/>
                <a:gridCol w="4495800"/>
                <a:gridCol w="4495800"/>
              </a:tblGrid>
              <a:tr h="542925"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1F4D7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比较</a:t>
                      </a:r>
                    </a:p>
                  </a:txBody>
                  <a:tcPr marL="123825" marR="123825" marT="85725" marB="85725" anchor="ctr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1F4D7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方案甲：同批材料</a:t>
                      </a:r>
                    </a:p>
                  </a:txBody>
                  <a:tcPr marL="123825" marR="123825" marT="85725" marB="85725" anchor="ctr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1F4D7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方案乙：两批材料</a:t>
                      </a:r>
                    </a:p>
                  </a:txBody>
                  <a:tcPr marL="123825" marR="123825" marT="85725" marB="85725" anchor="ctr">
                    <a:solidFill>
                      <a:srgbClr val="F4F6F8"/>
                    </a:solidFill>
                  </a:tcPr>
                </a:tc>
              </a:tr>
              <a:tr h="542925">
                <a:tc>
                  <a:txBody>
                    <a:bodyPr/>
                    <a:lstStyle/>
                    <a:p>
                      <a:r>
                        <a:rPr sz="2000">
                          <a:solidFill>
                            <a:srgbClr val="27333D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可比性</a:t>
                      </a:r>
                    </a:p>
                  </a:txBody>
                  <a:tcPr marL="123825" marR="123825" marT="85725" marB="8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>
                          <a:solidFill>
                            <a:srgbClr val="27333D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控制材料差异</a:t>
                      </a:r>
                    </a:p>
                  </a:txBody>
                  <a:tcPr marL="123825" marR="123825" marT="85725" marB="8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>
                          <a:solidFill>
                            <a:srgbClr val="27333D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混入材料难度差异</a:t>
                      </a:r>
                    </a:p>
                  </a:txBody>
                  <a:tcPr marL="123825" marR="123825" marT="85725" marB="85725" anchor="ctr">
                    <a:solidFill>
                      <a:srgbClr val="FFFFFF"/>
                    </a:solidFill>
                  </a:tcPr>
                </a:tc>
              </a:tr>
              <a:tr h="542925">
                <a:tc>
                  <a:txBody>
                    <a:bodyPr/>
                    <a:lstStyle/>
                    <a:p>
                      <a:r>
                        <a:rPr sz="2000">
                          <a:solidFill>
                            <a:srgbClr val="27333D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执行条件</a:t>
                      </a:r>
                    </a:p>
                  </a:txBody>
                  <a:tcPr marL="123825" marR="123825" marT="85725" marB="8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>
                          <a:solidFill>
                            <a:srgbClr val="27333D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两种方法使用独立上下文</a:t>
                      </a:r>
                    </a:p>
                  </a:txBody>
                  <a:tcPr marL="123825" marR="123825" marT="85725" marB="8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>
                          <a:solidFill>
                            <a:srgbClr val="27333D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仍需统一模型与协议</a:t>
                      </a:r>
                    </a:p>
                  </a:txBody>
                  <a:tcPr marL="123825" marR="123825" marT="85725" marB="85725" anchor="ctr">
                    <a:solidFill>
                      <a:srgbClr val="FFFFFF"/>
                    </a:solidFill>
                  </a:tcPr>
                </a:tc>
              </a:tr>
              <a:tr h="542925">
                <a:tc>
                  <a:txBody>
                    <a:bodyPr/>
                    <a:lstStyle/>
                    <a:p>
                      <a:r>
                        <a:rPr sz="2000">
                          <a:solidFill>
                            <a:srgbClr val="27333D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当前决定</a:t>
                      </a:r>
                    </a:p>
                  </a:txBody>
                  <a:tcPr marL="123825" marR="123825" marT="85725" marB="8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>
                          <a:solidFill>
                            <a:srgbClr val="27333D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保留配对比较</a:t>
                      </a:r>
                    </a:p>
                  </a:txBody>
                  <a:tcPr marL="123825" marR="123825" marT="85725" marB="8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>
                          <a:solidFill>
                            <a:srgbClr val="27333D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有范围研究目的再设计</a:t>
                      </a:r>
                    </a:p>
                  </a:txBody>
                  <a:tcPr marL="123825" marR="123825" marT="85725" marB="85725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content-23">
            <a:extLst xmlns:a="http://schemas.openxmlformats.org/drawingml/2006/main">
              <a:ext uri="{FF2B5EF4-FFF2-40B4-BE49-F238E27FC236}">
                <a16:creationId xmlns:a16="http://schemas.microsoft.com/office/drawing/2014/main" id="{8795063D-4BFB-4AC9-8E8A-28DDF45A7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33825"/>
            <a:ext cx="10972800" cy="3867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1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defRPr>
            </a:pPr>
            <a:r>
              <a:rPr sz="21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rPr>
              <a:t>同批材料本身不会造成记忆污染；共享上下文才需检查。</a:t>
            </a:r>
          </a:p>
        </p:txBody>
      </p:sp>
      <p:sp>
        <p:nvSpPr>
          <p:cNvPr id="8" name="content-24">
            <a:extLst xmlns:a="http://schemas.openxmlformats.org/drawingml/2006/main">
              <a:ext uri="{FF2B5EF4-FFF2-40B4-BE49-F238E27FC236}">
                <a16:creationId xmlns:a16="http://schemas.microsoft.com/office/drawing/2014/main" id="{B18E0134-0E65-4840-A00F-0299DC7C1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63415"/>
            <a:ext cx="10972800" cy="3867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1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defRPr>
            </a:pPr>
            <a:r>
              <a:rPr sz="21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rPr>
              <a:t>结果比较仍不能单独区分 H1 与 A2。</a:t>
            </a:r>
          </a:p>
        </p:txBody>
      </p:sp>
    </p:spTree>
    <p:extLst>
      <p:ext uri="{BB962C8B-B14F-4D97-AF65-F5344CB8AC3E}">
        <p14:creationId xmlns:p14="http://schemas.microsoft.com/office/powerpoint/2010/main" val="1443728403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4D941B40-7A0A-534E-3563-CA11753C8E3F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>
          <a:xfrm xmlns:a="http://schemas.openxmlformats.org/drawingml/2006/main">
            <a:off x="1028700" y="57150"/>
            <a:ext cx="10668000" cy="571500"/>
          </a:xfr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</a:pPr>
            <a:r>
              <a: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同一个观察，能区分两种解释吗？</a:t>
            </a:r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EBA5909F-738E-F60C-BE8C-B3F1D94548E5}"/>
              </a:ext>
            </a:extLst>
          </p:cNvPr>
          <p:cNvSpPr>
            <a:spLocks xmlns:a="http://schemas.openxmlformats.org/drawingml/2006/main" noGrp="1"/>
          </p:cNvSpPr>
          <p:nvPr>
            <p:ph type="sldNum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A58DA2A-B818-18A9-29C1-B697728D5BCE}" type="slidenum">
              <a:t>8</a:t>
            </a:fld>
            <a:endParaRPr/>
          </a:p>
        </p:txBody>
      </p:sp>
      <p:sp>
        <p:nvSpPr>
          <p:cNvPr id="6" name="content-25">
            <a:extLst xmlns:a="http://schemas.openxmlformats.org/drawingml/2006/main">
              <a:ext uri="{FF2B5EF4-FFF2-40B4-BE49-F238E27FC236}">
                <a16:creationId xmlns:a16="http://schemas.microsoft.com/office/drawing/2014/main" id="{517D4829-9397-4C51-B8C7-E9458FCBD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09650"/>
            <a:ext cx="10972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800" b="0">
                <a:solidFill>
                  <a:srgbClr val="A96510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0">
                <a:solidFill>
                  <a:srgbClr val="A96510"/>
                </a:solidFill>
                <a:latin typeface="微软雅黑"/>
                <a:ea typeface="微软雅黑"/>
                <a:cs typeface="微软雅黑"/>
              </a:rPr>
              <a:t>观察：带字段的阅读卡输出得分高于自由摘要</a:t>
            </a:r>
          </a:p>
        </p:txBody>
      </p:sp>
      <p:sp>
        <p:nvSpPr>
          <p:cNvPr id="7" name="content-26">
            <a:extLst xmlns:a="http://schemas.openxmlformats.org/drawingml/2006/main">
              <a:ext uri="{FF2B5EF4-FFF2-40B4-BE49-F238E27FC236}">
                <a16:creationId xmlns:a16="http://schemas.microsoft.com/office/drawing/2014/main" id="{5CF60A12-0D6A-4927-A155-E510F473F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62125"/>
            <a:ext cx="5048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6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6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生成解释 H1</a:t>
            </a:r>
          </a:p>
        </p:txBody>
      </p:sp>
      <p:sp>
        <p:nvSpPr>
          <p:cNvPr id="8" name="rule-27">
            <a:extLst xmlns:a="http://schemas.openxmlformats.org/drawingml/2006/main">
              <a:ext uri="{FF2B5EF4-FFF2-40B4-BE49-F238E27FC236}">
                <a16:creationId xmlns:a16="http://schemas.microsoft.com/office/drawing/2014/main" id="{D3280082-7954-4A65-9574-61F052D91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71725"/>
            <a:ext cx="50482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D5DB"/>
          </a:solidFill>
          <a:ln xmlns:a="http://schemas.openxmlformats.org/drawingml/2006/main" w="0">
            <a:noFill/>
          </a:ln>
        </p:spPr>
      </p:sp>
      <p:sp>
        <p:nvSpPr>
          <p:cNvPr id="9" name="content-28">
            <a:extLst xmlns:a="http://schemas.openxmlformats.org/drawingml/2006/main">
              <a:ext uri="{FF2B5EF4-FFF2-40B4-BE49-F238E27FC236}">
                <a16:creationId xmlns:a16="http://schemas.microsoft.com/office/drawing/2014/main" id="{CE955E37-17A8-425C-B358-9548DEAB7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00325"/>
            <a:ext cx="5048250" cy="1666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5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defRPr>
            </a:pPr>
            <a:r>
              <a:rPr sz="25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rPr>
              <a:t>输出保留得更多？</a:t>
            </a:r>
          </a:p>
        </p:txBody>
      </p:sp>
      <p:sp>
        <p:nvSpPr>
          <p:cNvPr id="10" name="content-29">
            <a:extLst xmlns:a="http://schemas.openxmlformats.org/drawingml/2006/main">
              <a:ext uri="{FF2B5EF4-FFF2-40B4-BE49-F238E27FC236}">
                <a16:creationId xmlns:a16="http://schemas.microsoft.com/office/drawing/2014/main" id="{7DB17846-0F61-4BBD-9835-9E750942A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1762125"/>
            <a:ext cx="5048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600" b="1">
                <a:solidFill>
                  <a:srgbClr val="A96510"/>
                </a:solidFill>
                <a:latin typeface="微软雅黑"/>
                <a:ea typeface="微软雅黑"/>
                <a:cs typeface="微软雅黑"/>
              </a:defRPr>
            </a:pPr>
            <a:r>
              <a:rPr sz="2600" b="1">
                <a:solidFill>
                  <a:srgbClr val="A96510"/>
                </a:solidFill>
                <a:latin typeface="微软雅黑"/>
                <a:ea typeface="微软雅黑"/>
                <a:cs typeface="微软雅黑"/>
              </a:rPr>
              <a:t>测量解释 A2</a:t>
            </a:r>
          </a:p>
        </p:txBody>
      </p:sp>
      <p:sp>
        <p:nvSpPr>
          <p:cNvPr id="11" name="rule-30">
            <a:extLst xmlns:a="http://schemas.openxmlformats.org/drawingml/2006/main">
              <a:ext uri="{FF2B5EF4-FFF2-40B4-BE49-F238E27FC236}">
                <a16:creationId xmlns:a16="http://schemas.microsoft.com/office/drawing/2014/main" id="{A3E18B51-6F76-4FE0-A216-11FDA279A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71725"/>
            <a:ext cx="50482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D5DB"/>
          </a:solidFill>
          <a:ln xmlns:a="http://schemas.openxmlformats.org/drawingml/2006/main" w="0">
            <a:noFill/>
          </a:ln>
        </p:spPr>
      </p:sp>
      <p:sp>
        <p:nvSpPr>
          <p:cNvPr id="12" name="content-31">
            <a:extLst xmlns:a="http://schemas.openxmlformats.org/drawingml/2006/main">
              <a:ext uri="{FF2B5EF4-FFF2-40B4-BE49-F238E27FC236}">
                <a16:creationId xmlns:a16="http://schemas.microsoft.com/office/drawing/2014/main" id="{D65B2454-3FFE-4DD8-A38C-25D555029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600325"/>
            <a:ext cx="5048250" cy="1666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5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defRPr>
            </a:pPr>
            <a:r>
              <a:rPr sz="25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rPr>
              <a:t>评分者更容易给分？</a:t>
            </a:r>
          </a:p>
        </p:txBody>
      </p:sp>
      <p:sp>
        <p:nvSpPr>
          <p:cNvPr id="13" name="content-32">
            <a:extLst xmlns:a="http://schemas.openxmlformats.org/drawingml/2006/main">
              <a:ext uri="{FF2B5EF4-FFF2-40B4-BE49-F238E27FC236}">
                <a16:creationId xmlns:a16="http://schemas.microsoft.com/office/drawing/2014/main" id="{0ADFA36C-1D7B-4CDE-9F12-4AC153E75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62475"/>
            <a:ext cx="10972800" cy="108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6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6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追加观察：隐去条件标签、统一标注规则后，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26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6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差异是否仍在？</a:t>
            </a:r>
          </a:p>
        </p:txBody>
      </p:sp>
    </p:spTree>
    <p:extLst>
      <p:ext uri="{BB962C8B-B14F-4D97-AF65-F5344CB8AC3E}">
        <p14:creationId xmlns:p14="http://schemas.microsoft.com/office/powerpoint/2010/main" val="1443728403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4D941B40-7A0A-534E-3563-CA11753C8E3F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>
          <a:xfrm xmlns:a="http://schemas.openxmlformats.org/drawingml/2006/main">
            <a:off x="1028700" y="57150"/>
            <a:ext cx="10668000" cy="571500"/>
          </a:xfr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</a:pPr>
            <a:r>
              <a: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完整工程规格集中到第 9 课</a:t>
            </a:r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EBA5909F-738E-F60C-BE8C-B3F1D94548E5}"/>
              </a:ext>
            </a:extLst>
          </p:cNvPr>
          <p:cNvSpPr>
            <a:spLocks xmlns:a="http://schemas.openxmlformats.org/drawingml/2006/main" noGrp="1"/>
          </p:cNvSpPr>
          <p:nvPr>
            <p:ph type="sldNum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88657AE-30A1-5A7A-6A7F-315D84436430}" type="slidenum">
              <a:t>9</a:t>
            </a:fld>
            <a:endParaRPr/>
          </a:p>
        </p:txBody>
      </p:sp>
      <p:sp>
        <p:nvSpPr>
          <p:cNvPr id="6" name="l7">
            <a:extLst xmlns:a="http://schemas.openxmlformats.org/drawingml/2006/main">
              <a:ext uri="{FF2B5EF4-FFF2-40B4-BE49-F238E27FC236}">
                <a16:creationId xmlns:a16="http://schemas.microsoft.com/office/drawing/2014/main" id="{B8B5ADD0-25E2-4BFF-BABD-0651C0EC1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619250"/>
            <a:ext cx="209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200" b="1">
                <a:solidFill>
                  <a:srgbClr val="2E7D5B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1">
                <a:solidFill>
                  <a:srgbClr val="2E7D5B"/>
                </a:solidFill>
                <a:latin typeface="微软雅黑"/>
                <a:ea typeface="微软雅黑"/>
                <a:cs typeface="微软雅黑"/>
              </a:rPr>
              <a:t>第 7 课</a:t>
            </a:r>
          </a:p>
        </p:txBody>
      </p:sp>
      <p:sp>
        <p:nvSpPr>
          <p:cNvPr id="7" name="b7-bg">
            <a:extLst xmlns:a="http://schemas.openxmlformats.org/drawingml/2006/main">
              <a:ext uri="{FF2B5EF4-FFF2-40B4-BE49-F238E27FC236}">
                <a16:creationId xmlns:a16="http://schemas.microsoft.com/office/drawing/2014/main" id="{3507F333-6F4A-4968-A795-3502D28C8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095500"/>
            <a:ext cx="28575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5F0"/>
          </a:solidFill>
          <a:ln xmlns:a="http://schemas.openxmlformats.org/drawingml/2006/main" w="0">
            <a:noFill/>
          </a:ln>
        </p:spPr>
      </p:sp>
      <p:sp>
        <p:nvSpPr>
          <p:cNvPr id="8" name="b7">
            <a:extLst xmlns:a="http://schemas.openxmlformats.org/drawingml/2006/main">
              <a:ext uri="{FF2B5EF4-FFF2-40B4-BE49-F238E27FC236}">
                <a16:creationId xmlns:a16="http://schemas.microsoft.com/office/drawing/2014/main" id="{F736789B-E1F1-4AAE-818D-CAFD453D1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190750"/>
            <a:ext cx="25527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24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机制 + 替代</a:t>
            </a:r>
          </a:p>
          <a:p xmlns:a="http://schemas.openxmlformats.org/drawingml/2006/main">
            <a:pPr algn="ctr">
              <a:lnSpc>
                <a:spcPct val="118000"/>
              </a:lnSpc>
              <a:buNone/>
              <a:defRPr sz="24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判断 + 映射</a:t>
            </a:r>
          </a:p>
        </p:txBody>
      </p:sp>
      <p:sp>
        <p:nvSpPr>
          <p:cNvPr id="9" name="a78">
            <a:extLst xmlns:a="http://schemas.openxmlformats.org/drawingml/2006/main">
              <a:ext uri="{FF2B5EF4-FFF2-40B4-BE49-F238E27FC236}">
                <a16:creationId xmlns:a16="http://schemas.microsoft.com/office/drawing/2014/main" id="{92C8950D-7051-400D-90AA-BD982709A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2571750"/>
            <a:ext cx="571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28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8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10" name="l8">
            <a:extLst xmlns:a="http://schemas.openxmlformats.org/drawingml/2006/main">
              <a:ext uri="{FF2B5EF4-FFF2-40B4-BE49-F238E27FC236}">
                <a16:creationId xmlns:a16="http://schemas.microsoft.com/office/drawing/2014/main" id="{9FFF5C4E-CE12-4785-A6B4-523B740F7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1619250"/>
            <a:ext cx="209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第 8 课</a:t>
            </a:r>
          </a:p>
        </p:txBody>
      </p:sp>
      <p:sp>
        <p:nvSpPr>
          <p:cNvPr id="11" name="b8-bg">
            <a:extLst xmlns:a="http://schemas.openxmlformats.org/drawingml/2006/main">
              <a:ext uri="{FF2B5EF4-FFF2-40B4-BE49-F238E27FC236}">
                <a16:creationId xmlns:a16="http://schemas.microsoft.com/office/drawing/2014/main" id="{502DD20E-FC57-477E-AA8D-AF95207A2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095500"/>
            <a:ext cx="28575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8"/>
          </a:solidFill>
          <a:ln xmlns:a="http://schemas.openxmlformats.org/drawingml/2006/main" w="0">
            <a:noFill/>
          </a:ln>
        </p:spPr>
      </p:sp>
      <p:sp>
        <p:nvSpPr>
          <p:cNvPr id="12" name="b8">
            <a:extLst xmlns:a="http://schemas.openxmlformats.org/drawingml/2006/main">
              <a:ext uri="{FF2B5EF4-FFF2-40B4-BE49-F238E27FC236}">
                <a16:creationId xmlns:a16="http://schemas.microsoft.com/office/drawing/2014/main" id="{A6651363-6040-406F-B8EF-CE6402B72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2190750"/>
            <a:ext cx="25527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24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同伴质询</a:t>
            </a:r>
          </a:p>
          <a:p xmlns:a="http://schemas.openxmlformats.org/drawingml/2006/main">
            <a:pPr algn="ctr">
              <a:lnSpc>
                <a:spcPct val="118000"/>
              </a:lnSpc>
              <a:buNone/>
              <a:defRPr sz="24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修正边界</a:t>
            </a:r>
          </a:p>
        </p:txBody>
      </p:sp>
      <p:sp>
        <p:nvSpPr>
          <p:cNvPr id="13" name="a89">
            <a:extLst xmlns:a="http://schemas.openxmlformats.org/drawingml/2006/main">
              <a:ext uri="{FF2B5EF4-FFF2-40B4-BE49-F238E27FC236}">
                <a16:creationId xmlns:a16="http://schemas.microsoft.com/office/drawing/2014/main" id="{249E8D92-604C-4EA8-AE5D-B807A68A0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571750"/>
            <a:ext cx="571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28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8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14" name="l9">
            <a:extLst xmlns:a="http://schemas.openxmlformats.org/drawingml/2006/main">
              <a:ext uri="{FF2B5EF4-FFF2-40B4-BE49-F238E27FC236}">
                <a16:creationId xmlns:a16="http://schemas.microsoft.com/office/drawing/2014/main" id="{69CE2A16-3452-4C0E-9EC7-5E8473ACC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619250"/>
            <a:ext cx="209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第 9 课</a:t>
            </a:r>
          </a:p>
        </p:txBody>
      </p:sp>
      <p:sp>
        <p:nvSpPr>
          <p:cNvPr id="15" name="b9-bg">
            <a:extLst xmlns:a="http://schemas.openxmlformats.org/drawingml/2006/main">
              <a:ext uri="{FF2B5EF4-FFF2-40B4-BE49-F238E27FC236}">
                <a16:creationId xmlns:a16="http://schemas.microsoft.com/office/drawing/2014/main" id="{B1B3652D-0914-41CA-B69E-941E1553B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095500"/>
            <a:ext cx="28575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8"/>
          </a:solidFill>
          <a:ln xmlns:a="http://schemas.openxmlformats.org/drawingml/2006/main" w="0">
            <a:noFill/>
          </a:ln>
        </p:spPr>
      </p:sp>
      <p:sp>
        <p:nvSpPr>
          <p:cNvPr id="16" name="b9">
            <a:extLst xmlns:a="http://schemas.openxmlformats.org/drawingml/2006/main">
              <a:ext uri="{FF2B5EF4-FFF2-40B4-BE49-F238E27FC236}">
                <a16:creationId xmlns:a16="http://schemas.microsoft.com/office/drawing/2014/main" id="{5930802B-9C4C-4151-B252-11DA580CE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2190750"/>
            <a:ext cx="25527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24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公平 baseline</a:t>
            </a:r>
          </a:p>
          <a:p xmlns:a="http://schemas.openxmlformats.org/drawingml/2006/main">
            <a:pPr algn="ctr">
              <a:lnSpc>
                <a:spcPct val="118000"/>
              </a:lnSpc>
              <a:buNone/>
              <a:defRPr sz="24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完整工程规格</a:t>
            </a:r>
          </a:p>
        </p:txBody>
      </p:sp>
      <p:sp>
        <p:nvSpPr>
          <p:cNvPr id="17" name="boundary">
            <a:extLst xmlns:a="http://schemas.openxmlformats.org/drawingml/2006/main">
              <a:ext uri="{FF2B5EF4-FFF2-40B4-BE49-F238E27FC236}">
                <a16:creationId xmlns:a16="http://schemas.microsoft.com/office/drawing/2014/main" id="{70E07AF4-1305-471A-A067-2022B6CF6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4476750"/>
            <a:ext cx="8667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2200" b="0">
                <a:solidFill>
                  <a:srgbClr val="C8161E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C8161E"/>
                </a:solidFill>
                <a:latin typeface="微软雅黑"/>
                <a:ea typeface="微软雅黑"/>
                <a:cs typeface="微软雅黑"/>
              </a:rPr>
              <a:t>本课不要求填满工程字段，也不把删减内容转成课后必做</a:t>
            </a:r>
          </a:p>
        </p:txBody>
      </p:sp>
    </p:spTree>
    <p:extLst>
      <p:ext uri="{BB962C8B-B14F-4D97-AF65-F5344CB8AC3E}">
        <p14:creationId xmlns:p14="http://schemas.microsoft.com/office/powerpoint/2010/main" val="1443728403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4D941B40-7A0A-534E-3563-CA11753C8E3F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>
          <a:xfrm xmlns:a="http://schemas.openxmlformats.org/drawingml/2006/main">
            <a:off x="1028700" y="57150"/>
            <a:ext cx="10668000" cy="571500"/>
          </a:xfr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</a:pPr>
            <a:r>
              <a: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AI 候选在核验前只能留在探索线索区</a:t>
            </a:r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EBA5909F-738E-F60C-BE8C-B3F1D94548E5}"/>
              </a:ext>
            </a:extLst>
          </p:cNvPr>
          <p:cNvSpPr>
            <a:spLocks xmlns:a="http://schemas.openxmlformats.org/drawingml/2006/main" noGrp="1"/>
          </p:cNvSpPr>
          <p:nvPr>
            <p:ph type="sldNum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B7BEEEC-A170-5376-2B6E-CB54687B0CB1}" type="slidenum">
              <a:t>10</a:t>
            </a:fld>
            <a:endParaRPr/>
          </a:p>
        </p:txBody>
      </p:sp>
      <p:sp>
        <p:nvSpPr>
          <p:cNvPr id="6" name="candidate-bg">
            <a:extLst xmlns:a="http://schemas.openxmlformats.org/drawingml/2006/main">
              <a:ext uri="{FF2B5EF4-FFF2-40B4-BE49-F238E27FC236}">
                <a16:creationId xmlns:a16="http://schemas.microsoft.com/office/drawing/2014/main" id="{2C84929E-2ED3-410F-9A7A-16899EACC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33625"/>
            <a:ext cx="18097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8"/>
          </a:solidFill>
          <a:ln xmlns:a="http://schemas.openxmlformats.org/drawingml/2006/main" w="0">
            <a:noFill/>
          </a:ln>
        </p:spPr>
      </p:sp>
      <p:sp>
        <p:nvSpPr>
          <p:cNvPr id="7" name="candidate">
            <a:extLst xmlns:a="http://schemas.openxmlformats.org/drawingml/2006/main">
              <a:ext uri="{FF2B5EF4-FFF2-40B4-BE49-F238E27FC236}">
                <a16:creationId xmlns:a16="http://schemas.microsoft.com/office/drawing/2014/main" id="{93359EC3-BE83-40D3-A665-32BA72A79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28875"/>
            <a:ext cx="15049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24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AI 候选</a:t>
            </a:r>
          </a:p>
        </p:txBody>
      </p:sp>
      <p:sp>
        <p:nvSpPr>
          <p:cNvPr id="8" name="a1">
            <a:extLst xmlns:a="http://schemas.openxmlformats.org/drawingml/2006/main">
              <a:ext uri="{FF2B5EF4-FFF2-40B4-BE49-F238E27FC236}">
                <a16:creationId xmlns:a16="http://schemas.microsoft.com/office/drawing/2014/main" id="{0F8C8214-0915-44BE-95F3-9BCC4216F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2590800"/>
            <a:ext cx="457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28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8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9" name="ck0">
            <a:extLst xmlns:a="http://schemas.openxmlformats.org/drawingml/2006/main">
              <a:ext uri="{FF2B5EF4-FFF2-40B4-BE49-F238E27FC236}">
                <a16:creationId xmlns:a16="http://schemas.microsoft.com/office/drawing/2014/main" id="{B8B60044-A1ED-400D-B5C6-B82595099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1428750"/>
            <a:ext cx="2095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2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rPr>
              <a:t>○ 中间过程</a:t>
            </a:r>
          </a:p>
        </p:txBody>
      </p:sp>
      <p:sp>
        <p:nvSpPr>
          <p:cNvPr id="10" name="ck1">
            <a:extLst xmlns:a="http://schemas.openxmlformats.org/drawingml/2006/main">
              <a:ext uri="{FF2B5EF4-FFF2-40B4-BE49-F238E27FC236}">
                <a16:creationId xmlns:a16="http://schemas.microsoft.com/office/drawing/2014/main" id="{B9B13835-98BC-4E1E-8AF3-901BCC106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1428750"/>
            <a:ext cx="2095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2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rPr>
              <a:t>○ 可证伪</a:t>
            </a:r>
          </a:p>
        </p:txBody>
      </p:sp>
      <p:sp>
        <p:nvSpPr>
          <p:cNvPr id="11" name="ck2">
            <a:extLst xmlns:a="http://schemas.openxmlformats.org/drawingml/2006/main">
              <a:ext uri="{FF2B5EF4-FFF2-40B4-BE49-F238E27FC236}">
                <a16:creationId xmlns:a16="http://schemas.microsoft.com/office/drawing/2014/main" id="{9A2F7CD9-0595-4763-8A94-D991C0939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305050"/>
            <a:ext cx="2095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2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rPr>
              <a:t>○ 可区分</a:t>
            </a:r>
          </a:p>
        </p:txBody>
      </p:sp>
      <p:sp>
        <p:nvSpPr>
          <p:cNvPr id="12" name="ck3">
            <a:extLst xmlns:a="http://schemas.openxmlformats.org/drawingml/2006/main">
              <a:ext uri="{FF2B5EF4-FFF2-40B4-BE49-F238E27FC236}">
                <a16:creationId xmlns:a16="http://schemas.microsoft.com/office/drawing/2014/main" id="{6303C4D8-4B79-43F0-9C7F-F08755076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2305050"/>
            <a:ext cx="2095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2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rPr>
              <a:t>○ 来源可核</a:t>
            </a:r>
          </a:p>
        </p:txBody>
      </p:sp>
      <p:sp>
        <p:nvSpPr>
          <p:cNvPr id="13" name="ck4">
            <a:extLst xmlns:a="http://schemas.openxmlformats.org/drawingml/2006/main">
              <a:ext uri="{FF2B5EF4-FFF2-40B4-BE49-F238E27FC236}">
                <a16:creationId xmlns:a16="http://schemas.microsoft.com/office/drawing/2014/main" id="{868E8918-B9AA-42F6-B918-A0B76E077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181350"/>
            <a:ext cx="2095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2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rPr>
              <a:t>○ baseline 公平</a:t>
            </a:r>
          </a:p>
        </p:txBody>
      </p:sp>
      <p:sp>
        <p:nvSpPr>
          <p:cNvPr id="14" name="ck5">
            <a:extLst xmlns:a="http://schemas.openxmlformats.org/drawingml/2006/main">
              <a:ext uri="{FF2B5EF4-FFF2-40B4-BE49-F238E27FC236}">
                <a16:creationId xmlns:a16="http://schemas.microsoft.com/office/drawing/2014/main" id="{6D638B9F-2ACD-412C-98C2-393110AE9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3181350"/>
            <a:ext cx="2095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2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rPr>
              <a:t>○ 停止规则</a:t>
            </a:r>
          </a:p>
        </p:txBody>
      </p:sp>
      <p:sp>
        <p:nvSpPr>
          <p:cNvPr id="15" name="a2">
            <a:extLst xmlns:a="http://schemas.openxmlformats.org/drawingml/2006/main">
              <a:ext uri="{FF2B5EF4-FFF2-40B4-BE49-F238E27FC236}">
                <a16:creationId xmlns:a16="http://schemas.microsoft.com/office/drawing/2014/main" id="{18D9D838-CDFA-43CD-8E52-F36496C80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590800"/>
            <a:ext cx="457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28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8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16" name="keep-bg">
            <a:extLst xmlns:a="http://schemas.openxmlformats.org/drawingml/2006/main">
              <a:ext uri="{FF2B5EF4-FFF2-40B4-BE49-F238E27FC236}">
                <a16:creationId xmlns:a16="http://schemas.microsoft.com/office/drawing/2014/main" id="{25B72867-C053-4AAA-9D24-CB70833A8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1695450"/>
            <a:ext cx="26670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5F0"/>
          </a:solidFill>
          <a:ln xmlns:a="http://schemas.openxmlformats.org/drawingml/2006/main" w="0">
            <a:noFill/>
          </a:ln>
        </p:spPr>
      </p:sp>
      <p:sp>
        <p:nvSpPr>
          <p:cNvPr id="17" name="keep">
            <a:extLst xmlns:a="http://schemas.openxmlformats.org/drawingml/2006/main">
              <a:ext uri="{FF2B5EF4-FFF2-40B4-BE49-F238E27FC236}">
                <a16:creationId xmlns:a16="http://schemas.microsoft.com/office/drawing/2014/main" id="{63A0C189-AF1B-48AD-B404-5216B20F9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86775" y="1790700"/>
            <a:ext cx="23622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2300" b="1">
                <a:solidFill>
                  <a:srgbClr val="2E7D5B"/>
                </a:solidFill>
                <a:latin typeface="微软雅黑"/>
                <a:ea typeface="微软雅黑"/>
                <a:cs typeface="微软雅黑"/>
              </a:defRPr>
            </a:pPr>
            <a:r>
              <a:rPr sz="2300" b="1">
                <a:solidFill>
                  <a:srgbClr val="2E7D5B"/>
                </a:solidFill>
                <a:latin typeface="微软雅黑"/>
                <a:ea typeface="微软雅黑"/>
                <a:cs typeface="微软雅黑"/>
              </a:rPr>
              <a:t>进入主格</a:t>
            </a:r>
          </a:p>
        </p:txBody>
      </p:sp>
      <p:sp>
        <p:nvSpPr>
          <p:cNvPr id="18" name="hold-bg">
            <a:extLst xmlns:a="http://schemas.openxmlformats.org/drawingml/2006/main">
              <a:ext uri="{FF2B5EF4-FFF2-40B4-BE49-F238E27FC236}">
                <a16:creationId xmlns:a16="http://schemas.microsoft.com/office/drawing/2014/main" id="{ADF1A30F-B5C1-46E1-91D3-63D95E330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3162300"/>
            <a:ext cx="26670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4E8"/>
          </a:solidFill>
          <a:ln xmlns:a="http://schemas.openxmlformats.org/drawingml/2006/main" w="0">
            <a:noFill/>
          </a:ln>
        </p:spPr>
      </p:sp>
      <p:sp>
        <p:nvSpPr>
          <p:cNvPr id="19" name="hold">
            <a:extLst xmlns:a="http://schemas.openxmlformats.org/drawingml/2006/main">
              <a:ext uri="{FF2B5EF4-FFF2-40B4-BE49-F238E27FC236}">
                <a16:creationId xmlns:a16="http://schemas.microsoft.com/office/drawing/2014/main" id="{42F0756B-656A-49E0-8829-C3EE95C23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86775" y="3257550"/>
            <a:ext cx="23622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2300" b="1">
                <a:solidFill>
                  <a:srgbClr val="A96510"/>
                </a:solidFill>
                <a:latin typeface="微软雅黑"/>
                <a:ea typeface="微软雅黑"/>
                <a:cs typeface="微软雅黑"/>
              </a:defRPr>
            </a:pPr>
            <a:r>
              <a:rPr sz="2300" b="1">
                <a:solidFill>
                  <a:srgbClr val="A96510"/>
                </a:solidFill>
                <a:latin typeface="微软雅黑"/>
                <a:ea typeface="微软雅黑"/>
                <a:cs typeface="微软雅黑"/>
              </a:rPr>
              <a:t>探索线索区</a:t>
            </a:r>
          </a:p>
        </p:txBody>
      </p:sp>
      <p:sp>
        <p:nvSpPr>
          <p:cNvPr id="20" name="owner">
            <a:extLst xmlns:a="http://schemas.openxmlformats.org/drawingml/2006/main">
              <a:ext uri="{FF2B5EF4-FFF2-40B4-BE49-F238E27FC236}">
                <a16:creationId xmlns:a16="http://schemas.microsoft.com/office/drawing/2014/main" id="{1BB52A93-ADA2-4900-8238-FF17F0746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495300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最终机制判断由学生负责</a:t>
            </a:r>
          </a:p>
        </p:txBody>
      </p:sp>
    </p:spTree>
    <p:extLst>
      <p:ext uri="{BB962C8B-B14F-4D97-AF65-F5344CB8AC3E}">
        <p14:creationId xmlns:p14="http://schemas.microsoft.com/office/powerpoint/2010/main" val="1443728403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4D941B40-7A0A-534E-3563-CA11753C8E3F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>
          <a:xfrm xmlns:a="http://schemas.openxmlformats.org/drawingml/2006/main">
            <a:off x="1028700" y="57150"/>
            <a:ext cx="10668000" cy="571500"/>
          </a:xfr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</a:pPr>
            <a:r>
              <a: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把假设变成区分观察</a:t>
            </a:r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EBA5909F-738E-F60C-BE8C-B3F1D94548E5}"/>
              </a:ext>
            </a:extLst>
          </p:cNvPr>
          <p:cNvSpPr>
            <a:spLocks xmlns:a="http://schemas.openxmlformats.org/drawingml/2006/main" noGrp="1"/>
          </p:cNvSpPr>
          <p:nvPr>
            <p:ph type="sldNum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0394428-F1DC-E5F6-DB0C-7DE31F3D8A23}" type="slidenum">
              <a:t>11</a:t>
            </a:fld>
            <a:endParaRPr/>
          </a:p>
        </p:txBody>
      </p:sp>
      <p:graphicFrame>
        <p:nvGraphicFramePr>
          <p:cNvPr id="9" name="native-table-33"/>
          <p:cNvGraphicFramePr/>
          <p:nvPr/>
        </p:nvGraphicFramePr>
        <p:xfrm>
          <a:off xmlns:a="http://schemas.openxmlformats.org/drawingml/2006/main" x="609600" y="1476375"/>
          <a:ext xmlns:a="http://schemas.openxmlformats.org/drawingml/2006/main" cx="10972800" cy="21717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981200"/>
                <a:gridCol w="4495800"/>
                <a:gridCol w="4495800"/>
              </a:tblGrid>
              <a:tr h="542925"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1F4D7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对象</a:t>
                      </a:r>
                    </a:p>
                  </a:txBody>
                  <a:tcPr marL="123825" marR="123825" marT="85725" marB="85725" anchor="ctr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1F4D7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要看的材料</a:t>
                      </a:r>
                    </a:p>
                  </a:txBody>
                  <a:tcPr marL="123825" marR="123825" marT="85725" marB="85725" anchor="ctr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1F4D7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当前能否判断</a:t>
                      </a:r>
                    </a:p>
                  </a:txBody>
                  <a:tcPr marL="123825" marR="123825" marT="85725" marB="85725" anchor="ctr">
                    <a:solidFill>
                      <a:srgbClr val="F4F6F8"/>
                    </a:solidFill>
                  </a:tcPr>
                </a:tc>
              </a:tr>
              <a:tr h="542925">
                <a:tc>
                  <a:txBody>
                    <a:bodyPr/>
                    <a:lstStyle/>
                    <a:p>
                      <a:r>
                        <a:rPr sz="2000">
                          <a:solidFill>
                            <a:srgbClr val="27333D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Q1</a:t>
                      </a:r>
                    </a:p>
                  </a:txBody>
                  <a:tcPr marL="123825" marR="123825" marT="85725" marB="8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>
                          <a:solidFill>
                            <a:srgbClr val="27333D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同口径输出与遗漏率</a:t>
                      </a:r>
                    </a:p>
                  </a:txBody>
                  <a:tcPr marL="123825" marR="123825" marT="85725" marB="8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>
                          <a:solidFill>
                            <a:srgbClr val="27333D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结果方向</a:t>
                      </a:r>
                    </a:p>
                  </a:txBody>
                  <a:tcPr marL="123825" marR="123825" marT="85725" marB="85725" anchor="ctr">
                    <a:solidFill>
                      <a:srgbClr val="FFFFFF"/>
                    </a:solidFill>
                  </a:tcPr>
                </a:tc>
              </a:tr>
              <a:tr h="542925">
                <a:tc>
                  <a:txBody>
                    <a:bodyPr/>
                    <a:lstStyle/>
                    <a:p>
                      <a:r>
                        <a:rPr sz="2000">
                          <a:solidFill>
                            <a:srgbClr val="27333D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H1</a:t>
                      </a:r>
                    </a:p>
                  </a:txBody>
                  <a:tcPr marL="123825" marR="123825" marT="85725" marB="8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>
                          <a:solidFill>
                            <a:srgbClr val="27333D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条件保留与生成过程/对照</a:t>
                      </a:r>
                    </a:p>
                  </a:txBody>
                  <a:tcPr marL="123825" marR="123825" marT="85725" marB="8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>
                          <a:solidFill>
                            <a:srgbClr val="27333D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机制待检验</a:t>
                      </a:r>
                    </a:p>
                  </a:txBody>
                  <a:tcPr marL="123825" marR="123825" marT="85725" marB="85725" anchor="ctr">
                    <a:solidFill>
                      <a:srgbClr val="FFFFFF"/>
                    </a:solidFill>
                  </a:tcPr>
                </a:tc>
              </a:tr>
              <a:tr h="542925">
                <a:tc>
                  <a:txBody>
                    <a:bodyPr/>
                    <a:lstStyle/>
                    <a:p>
                      <a:r>
                        <a:rPr sz="2000">
                          <a:solidFill>
                            <a:srgbClr val="27333D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A2</a:t>
                      </a:r>
                    </a:p>
                  </a:txBody>
                  <a:tcPr marL="123825" marR="123825" marT="85725" marB="8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>
                          <a:solidFill>
                            <a:srgbClr val="27333D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隐去组别后的标注比较</a:t>
                      </a:r>
                    </a:p>
                  </a:txBody>
                  <a:tcPr marL="123825" marR="123825" marT="85725" marB="8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>
                          <a:solidFill>
                            <a:srgbClr val="27333D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测量解释待检验</a:t>
                      </a:r>
                    </a:p>
                  </a:txBody>
                  <a:tcPr marL="123825" marR="123825" marT="85725" marB="85725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43728403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4D941B40-7A0A-534E-3563-CA11753C8E3F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>
          <a:xfrm xmlns:a="http://schemas.openxmlformats.org/drawingml/2006/main">
            <a:off x="1028700" y="57150"/>
            <a:ext cx="10668000" cy="571500"/>
          </a:xfr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</a:pPr>
            <a:r>
              <a: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研究判断记录一次有理由的取舍</a:t>
            </a:r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EBA5909F-738E-F60C-BE8C-B3F1D94548E5}"/>
              </a:ext>
            </a:extLst>
          </p:cNvPr>
          <p:cNvSpPr>
            <a:spLocks xmlns:a="http://schemas.openxmlformats.org/drawingml/2006/main" noGrp="1"/>
          </p:cNvSpPr>
          <p:nvPr>
            <p:ph type="sldNum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DB16885-0D3F-A391-B669-3211DB3B26E8}" type="slidenum">
              <a:t>12</a:t>
            </a:fld>
            <a:endParaRPr/>
          </a:p>
        </p:txBody>
      </p:sp>
      <p:sp>
        <p:nvSpPr>
          <p:cNvPr id="6" name="content-34">
            <a:extLst xmlns:a="http://schemas.openxmlformats.org/drawingml/2006/main">
              <a:ext uri="{FF2B5EF4-FFF2-40B4-BE49-F238E27FC236}">
                <a16:creationId xmlns:a16="http://schemas.microsoft.com/office/drawing/2014/main" id="{67AE8A40-8632-4A2E-BB28-05232A1AA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71625"/>
            <a:ext cx="10972800" cy="4324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4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rPr>
              <a:t>当前决定：先检查输出是否保留限定条件。</a:t>
            </a:r>
          </a:p>
        </p:txBody>
      </p:sp>
      <p:sp>
        <p:nvSpPr>
          <p:cNvPr id="7" name="content-35">
            <a:extLst xmlns:a="http://schemas.openxmlformats.org/drawingml/2006/main">
              <a:ext uri="{FF2B5EF4-FFF2-40B4-BE49-F238E27FC236}">
                <a16:creationId xmlns:a16="http://schemas.microsoft.com/office/drawing/2014/main" id="{DEC4BF40-88AD-4EF6-93D3-81AF61582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61235"/>
            <a:ext cx="10972800" cy="4324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4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rPr>
              <a:t>依据：这是 Q1 的直接结果对象。</a:t>
            </a:r>
          </a:p>
        </p:txBody>
      </p:sp>
      <p:sp>
        <p:nvSpPr>
          <p:cNvPr id="8" name="content-36">
            <a:extLst xmlns:a="http://schemas.openxmlformats.org/drawingml/2006/main">
              <a:ext uri="{FF2B5EF4-FFF2-40B4-BE49-F238E27FC236}">
                <a16:creationId xmlns:a16="http://schemas.microsoft.com/office/drawing/2014/main" id="{3EF5A7C1-FA35-4B52-9316-0011A17FB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50845"/>
            <a:ext cx="10972800" cy="4324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4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rPr>
              <a:t>暂缓：H1 与 A2 的区分尚需过程与评价对照。</a:t>
            </a:r>
          </a:p>
        </p:txBody>
      </p:sp>
      <p:sp>
        <p:nvSpPr>
          <p:cNvPr id="9" name="content-37">
            <a:extLst xmlns:a="http://schemas.openxmlformats.org/drawingml/2006/main">
              <a:ext uri="{FF2B5EF4-FFF2-40B4-BE49-F238E27FC236}">
                <a16:creationId xmlns:a16="http://schemas.microsoft.com/office/drawing/2014/main" id="{2F4B1AF8-0605-45A2-8C23-2AB0E5DDF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40455"/>
            <a:ext cx="10972800" cy="4324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4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rPr>
              <a:t>边界：A1 质量代价、A3 材料范围另查。</a:t>
            </a:r>
          </a:p>
        </p:txBody>
      </p:sp>
      <p:sp>
        <p:nvSpPr>
          <p:cNvPr id="10" name="content-38">
            <a:extLst xmlns:a="http://schemas.openxmlformats.org/drawingml/2006/main">
              <a:ext uri="{FF2B5EF4-FFF2-40B4-BE49-F238E27FC236}">
                <a16:creationId xmlns:a16="http://schemas.microsoft.com/office/drawing/2014/main" id="{7CAD81DE-6EAD-4D2D-99F5-70FBBC283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30065"/>
            <a:ext cx="10972800" cy="4324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4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下一步：把区分观察带到第 8 课质询。</a:t>
            </a:r>
          </a:p>
        </p:txBody>
      </p:sp>
    </p:spTree>
    <p:extLst>
      <p:ext uri="{BB962C8B-B14F-4D97-AF65-F5344CB8AC3E}">
        <p14:creationId xmlns:p14="http://schemas.microsoft.com/office/powerpoint/2010/main" val="1443728403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4D941B40-7A0A-534E-3563-CA11753C8E3F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>
          <a:xfrm xmlns:a="http://schemas.openxmlformats.org/drawingml/2006/main">
            <a:off x="1028700" y="57150"/>
            <a:ext cx="10668000" cy="571500"/>
          </a:xfr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</a:pPr>
            <a:r>
              <a: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十类常见错误都指向同一个问题：实验不能改判断</a:t>
            </a:r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EBA5909F-738E-F60C-BE8C-B3F1D94548E5}"/>
              </a:ext>
            </a:extLst>
          </p:cNvPr>
          <p:cNvSpPr>
            <a:spLocks xmlns:a="http://schemas.openxmlformats.org/drawingml/2006/main" noGrp="1"/>
          </p:cNvSpPr>
          <p:nvPr>
            <p:ph type="sldNum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2DD23107-4986-8758-3A93-3D74F35908CC}" type="slidenum">
              <a:t>13</a:t>
            </a:fld>
            <a:endParaRPr/>
          </a:p>
        </p:txBody>
      </p:sp>
      <p:sp>
        <p:nvSpPr>
          <p:cNvPr id="6" name="e1-bg">
            <a:extLst xmlns:a="http://schemas.openxmlformats.org/drawingml/2006/main">
              <a:ext uri="{FF2B5EF4-FFF2-40B4-BE49-F238E27FC236}">
                <a16:creationId xmlns:a16="http://schemas.microsoft.com/office/drawing/2014/main" id="{1E375AFA-8583-4FAF-B785-576D0BC39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304800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8"/>
          </a:solidFill>
          <a:ln xmlns:a="http://schemas.openxmlformats.org/drawingml/2006/main" w="0">
            <a:noFill/>
          </a:ln>
        </p:spPr>
      </p:sp>
      <p:sp>
        <p:nvSpPr>
          <p:cNvPr id="7" name="e1">
            <a:extLst xmlns:a="http://schemas.openxmlformats.org/drawingml/2006/main">
              <a:ext uri="{FF2B5EF4-FFF2-40B4-BE49-F238E27FC236}">
                <a16:creationId xmlns:a16="http://schemas.microsoft.com/office/drawing/2014/main" id="{7B1E721C-8F26-4821-B7A2-CCC714301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14500"/>
            <a:ext cx="27432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2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rPr>
              <a:t>机制错误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22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rPr>
              <a:t>结果预测冒充机制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22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rPr>
              <a:t>黑箱归因／无反证点</a:t>
            </a:r>
          </a:p>
        </p:txBody>
      </p:sp>
      <p:sp>
        <p:nvSpPr>
          <p:cNvPr id="8" name="e2-bg">
            <a:extLst xmlns:a="http://schemas.openxmlformats.org/drawingml/2006/main">
              <a:ext uri="{FF2B5EF4-FFF2-40B4-BE49-F238E27FC236}">
                <a16:creationId xmlns:a16="http://schemas.microsoft.com/office/drawing/2014/main" id="{B5F734EE-701F-4ED1-8DC4-F872A995F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1619250"/>
            <a:ext cx="304800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8"/>
          </a:solidFill>
          <a:ln xmlns:a="http://schemas.openxmlformats.org/drawingml/2006/main" w="0">
            <a:noFill/>
          </a:ln>
        </p:spPr>
      </p:sp>
      <p:sp>
        <p:nvSpPr>
          <p:cNvPr id="9" name="e2">
            <a:extLst xmlns:a="http://schemas.openxmlformats.org/drawingml/2006/main">
              <a:ext uri="{FF2B5EF4-FFF2-40B4-BE49-F238E27FC236}">
                <a16:creationId xmlns:a16="http://schemas.microsoft.com/office/drawing/2014/main" id="{CCBD79E1-4F43-46AF-B373-8FE175E54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1714500"/>
            <a:ext cx="27432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2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rPr>
              <a:t>实验错误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22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rPr>
              <a:t>替代不可区分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22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rPr>
              <a:t>baseline 不公平／无停止条件</a:t>
            </a:r>
          </a:p>
        </p:txBody>
      </p:sp>
      <p:sp>
        <p:nvSpPr>
          <p:cNvPr id="10" name="e3-bg">
            <a:extLst xmlns:a="http://schemas.openxmlformats.org/drawingml/2006/main">
              <a:ext uri="{FF2B5EF4-FFF2-40B4-BE49-F238E27FC236}">
                <a16:creationId xmlns:a16="http://schemas.microsoft.com/office/drawing/2014/main" id="{81F43DCB-F500-45F8-B453-9C53B74F2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1619250"/>
            <a:ext cx="304800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8"/>
          </a:solidFill>
          <a:ln xmlns:a="http://schemas.openxmlformats.org/drawingml/2006/main" w="0">
            <a:noFill/>
          </a:ln>
        </p:spPr>
      </p:sp>
      <p:sp>
        <p:nvSpPr>
          <p:cNvPr id="11" name="e3">
            <a:extLst xmlns:a="http://schemas.openxmlformats.org/drawingml/2006/main">
              <a:ext uri="{FF2B5EF4-FFF2-40B4-BE49-F238E27FC236}">
                <a16:creationId xmlns:a16="http://schemas.microsoft.com/office/drawing/2014/main" id="{3E315BD6-08AF-4F26-AA2F-63DA4F9F5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714500"/>
            <a:ext cx="27432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2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rPr>
              <a:t>记录错误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22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rPr>
              <a:t>事后改判断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22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rPr>
              <a:t>AI 候选直接进主格</a:t>
            </a:r>
          </a:p>
        </p:txBody>
      </p:sp>
      <p:sp>
        <p:nvSpPr>
          <p:cNvPr id="12" name="ee1">
            <a:extLst xmlns:a="http://schemas.openxmlformats.org/drawingml/2006/main">
              <a:ext uri="{FF2B5EF4-FFF2-40B4-BE49-F238E27FC236}">
                <a16:creationId xmlns:a16="http://schemas.microsoft.com/office/drawing/2014/main" id="{95805246-16CD-46B6-A8A9-A0FFF3D76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381250"/>
            <a:ext cx="666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28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8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13" name="ee2">
            <a:extLst xmlns:a="http://schemas.openxmlformats.org/drawingml/2006/main">
              <a:ext uri="{FF2B5EF4-FFF2-40B4-BE49-F238E27FC236}">
                <a16:creationId xmlns:a16="http://schemas.microsoft.com/office/drawing/2014/main" id="{4432E0B1-64D8-44FD-A480-603E24231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2381250"/>
            <a:ext cx="5524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28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8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14" name="failure">
            <a:extLst xmlns:a="http://schemas.openxmlformats.org/drawingml/2006/main">
              <a:ext uri="{FF2B5EF4-FFF2-40B4-BE49-F238E27FC236}">
                <a16:creationId xmlns:a16="http://schemas.microsoft.com/office/drawing/2014/main" id="{998EC32F-7979-47D1-B386-1C841216D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4572000"/>
            <a:ext cx="7620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2600" b="1">
                <a:solidFill>
                  <a:srgbClr val="C8161E"/>
                </a:solidFill>
                <a:latin typeface="微软雅黑"/>
                <a:ea typeface="微软雅黑"/>
                <a:cs typeface="微软雅黑"/>
              </a:defRPr>
            </a:pPr>
            <a:r>
              <a:rPr sz="2600" b="1">
                <a:solidFill>
                  <a:srgbClr val="C8161E"/>
                </a:solidFill>
                <a:latin typeface="微软雅黑"/>
                <a:ea typeface="微软雅黑"/>
                <a:cs typeface="微软雅黑"/>
              </a:rPr>
              <a:t>共同后果：实验结果不能改变研究判断</a:t>
            </a:r>
          </a:p>
        </p:txBody>
      </p:sp>
    </p:spTree>
    <p:extLst>
      <p:ext uri="{BB962C8B-B14F-4D97-AF65-F5344CB8AC3E}">
        <p14:creationId xmlns:p14="http://schemas.microsoft.com/office/powerpoint/2010/main" val="1443728403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judgment-title">
            <a:extLst xmlns:a="http://schemas.openxmlformats.org/drawingml/2006/main">
              <a:ext uri="{FF2B5EF4-FFF2-40B4-BE49-F238E27FC236}">
                <a16:creationId xmlns:a16="http://schemas.microsoft.com/office/drawing/2014/main" id="{DE4CABC3-C795-4BAE-BA64-5B112CC17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76200"/>
            <a:ext cx="10687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本人项目：决定、核验与回写</a:t>
            </a:r>
          </a:p>
        </p:txBody>
      </p:sp>
      <p:sp>
        <p:nvSpPr>
          <p:cNvPr id="2" name="judgment-body-0">
            <a:extLst xmlns:a="http://schemas.openxmlformats.org/drawingml/2006/main">
              <a:ext uri="{FF2B5EF4-FFF2-40B4-BE49-F238E27FC236}">
                <a16:creationId xmlns:a16="http://schemas.microsoft.com/office/drawing/2014/main" id="{D2A137A7-EA28-4FBC-9351-5C7BE6168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66800"/>
            <a:ext cx="1085850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4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defRPr sz="24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rPr>
              <a:t>为主假设和一个替代解释写结果预测，选最小验证并说明什么结果会改变决定。默认工程题同时测坏记录拦截和正常记录保留。</a:t>
            </a:r>
          </a:p>
        </p:txBody>
      </p:sp>
      <p:sp>
        <p:nvSpPr>
          <p:cNvPr id="3" name="judgment-body-1">
            <a:extLst xmlns:a="http://schemas.openxmlformats.org/drawingml/2006/main">
              <a:ext uri="{FF2B5EF4-FFF2-40B4-BE49-F238E27FC236}">
                <a16:creationId xmlns:a16="http://schemas.microsoft.com/office/drawing/2014/main" id="{C513B792-651A-4804-95A1-1C08F6842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24150"/>
            <a:ext cx="10858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4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defRPr sz="24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rPr>
              <a:t>同伴寻找两假设给出同样预测的结果；如所有预测相同，重写假设或验证，不补形容词。</a:t>
            </a:r>
          </a:p>
        </p:txBody>
      </p:sp>
      <p:sp>
        <p:nvSpPr>
          <p:cNvPr id="4" name="judgment-body-2">
            <a:extLst xmlns:a="http://schemas.openxmlformats.org/drawingml/2006/main">
              <a:ext uri="{FF2B5EF4-FFF2-40B4-BE49-F238E27FC236}">
                <a16:creationId xmlns:a16="http://schemas.microsoft.com/office/drawing/2014/main" id="{0BA37645-6D28-4E45-BF55-A4615B09F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457700"/>
            <a:ext cx="10858500" cy="1466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保存：hypothesis-and-design.md 的预测表和实验选择理由</a:t>
            </a:r>
          </a:p>
        </p:txBody>
      </p:sp>
      <p:sp>
        <p:nvSpPr>
          <p:cNvPr id="5" name="judgment-source">
            <a:extLst xmlns:a="http://schemas.openxmlformats.org/drawingml/2006/main">
              <a:ext uri="{FF2B5EF4-FFF2-40B4-BE49-F238E27FC236}">
                <a16:creationId xmlns:a16="http://schemas.microsoft.com/office/drawing/2014/main" id="{8844CCB4-85AA-4D26-9F57-26E75CCD8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276975"/>
            <a:ext cx="10572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100" b="0">
                <a:solidFill>
                  <a:srgbClr val="667684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defRPr sz="1100" b="0">
                <a:solidFill>
                  <a:srgbClr val="667684"/>
                </a:solidFill>
                <a:latin typeface="微软雅黑"/>
                <a:ea typeface="微软雅黑"/>
                <a:cs typeface="微软雅黑"/>
              </a:defRPr>
            </a:pPr>
            <a:r>
              <a:rPr sz="1100" b="0">
                <a:solidFill>
                  <a:srgbClr val="667684"/>
                </a:solidFill>
                <a:latin typeface="微软雅黑"/>
                <a:ea typeface="微软雅黑"/>
                <a:cs typeface="微软雅黑"/>
              </a:rPr>
              <a:t>来源：本课判断任务与讲义；构造材料及真实来源按材料包标识</a:t>
            </a:r>
          </a:p>
        </p:txBody>
      </p:sp>
      <p:sp>
        <p:nvSpPr>
          <p:cNvPr id="6" name="judgment-page">
            <a:extLst xmlns:a="http://schemas.openxmlformats.org/drawingml/2006/main">
              <a:ext uri="{FF2B5EF4-FFF2-40B4-BE49-F238E27FC236}">
                <a16:creationId xmlns:a16="http://schemas.microsoft.com/office/drawing/2014/main" id="{16106844-0501-48B0-87E9-AF55AB850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5750" y="6562725"/>
            <a:ext cx="2381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9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defRPr sz="9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pPr>
            <a:r>
              <a:rPr sz="9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1443728403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4D941B40-7A0A-534E-3563-CA11753C8E3F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>
          <a:xfrm xmlns:a="http://schemas.openxmlformats.org/drawingml/2006/main">
            <a:off x="1028700" y="57150"/>
            <a:ext cx="10668000" cy="571500"/>
          </a:xfr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</a:pPr>
            <a:r>
              <a: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同伴互查五项：只提问题，不替作者决定</a:t>
            </a:r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EBA5909F-738E-F60C-BE8C-B3F1D94548E5}"/>
              </a:ext>
            </a:extLst>
          </p:cNvPr>
          <p:cNvSpPr>
            <a:spLocks xmlns:a="http://schemas.openxmlformats.org/drawingml/2006/main" noGrp="1"/>
          </p:cNvSpPr>
          <p:nvPr>
            <p:ph type="sldNum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A83FA91-883A-0168-8075-96CEB9DCA3C2}" type="slidenum">
              <a:t>15</a:t>
            </a:fld>
            <a:endParaRPr/>
          </a:p>
        </p:txBody>
      </p:sp>
      <p:sp>
        <p:nvSpPr>
          <p:cNvPr id="6" name="record-bg">
            <a:extLst xmlns:a="http://schemas.openxmlformats.org/drawingml/2006/main">
              <a:ext uri="{FF2B5EF4-FFF2-40B4-BE49-F238E27FC236}">
                <a16:creationId xmlns:a16="http://schemas.microsoft.com/office/drawing/2014/main" id="{257B4558-999B-4F90-B3BB-1FFD19E43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000250"/>
            <a:ext cx="40005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8"/>
          </a:solidFill>
          <a:ln xmlns:a="http://schemas.openxmlformats.org/drawingml/2006/main" w="0">
            <a:noFill/>
          </a:ln>
        </p:spPr>
      </p:sp>
      <p:sp>
        <p:nvSpPr>
          <p:cNvPr id="7" name="record">
            <a:extLst xmlns:a="http://schemas.openxmlformats.org/drawingml/2006/main">
              <a:ext uri="{FF2B5EF4-FFF2-40B4-BE49-F238E27FC236}">
                <a16:creationId xmlns:a16="http://schemas.microsoft.com/office/drawing/2014/main" id="{66DFF913-2979-47F1-8290-AC550658B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2095500"/>
            <a:ext cx="36957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23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3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同伴互查记录</a:t>
            </a:r>
          </a:p>
          <a:p xmlns:a="http://schemas.openxmlformats.org/drawingml/2006/main">
            <a:pPr algn="ctr">
              <a:lnSpc>
                <a:spcPct val="118000"/>
              </a:lnSpc>
              <a:buNone/>
              <a:defRPr sz="23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3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对象：你的 H1 / 替代 / 判断 / 映射</a:t>
            </a:r>
          </a:p>
        </p:txBody>
      </p:sp>
      <p:sp>
        <p:nvSpPr>
          <p:cNvPr id="8" name="q0">
            <a:extLst xmlns:a="http://schemas.openxmlformats.org/drawingml/2006/main">
              <a:ext uri="{FF2B5EF4-FFF2-40B4-BE49-F238E27FC236}">
                <a16:creationId xmlns:a16="http://schemas.microsoft.com/office/drawing/2014/main" id="{E44AB2F8-DD6F-499A-B9AF-A88F46107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381125"/>
            <a:ext cx="2857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22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rPr>
              <a:t>重要吗？</a:t>
            </a:r>
          </a:p>
        </p:txBody>
      </p:sp>
      <p:sp>
        <p:nvSpPr>
          <p:cNvPr id="9" name="q1">
            <a:extLst xmlns:a="http://schemas.openxmlformats.org/drawingml/2006/main">
              <a:ext uri="{FF2B5EF4-FFF2-40B4-BE49-F238E27FC236}">
                <a16:creationId xmlns:a16="http://schemas.microsoft.com/office/drawing/2014/main" id="{B5DD3F65-9B20-4CD3-8793-4437CAF70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10000"/>
            <a:ext cx="2857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22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rPr>
              <a:t>依据够吗？</a:t>
            </a:r>
          </a:p>
        </p:txBody>
      </p:sp>
      <p:sp>
        <p:nvSpPr>
          <p:cNvPr id="10" name="q2">
            <a:extLst xmlns:a="http://schemas.openxmlformats.org/drawingml/2006/main">
              <a:ext uri="{FF2B5EF4-FFF2-40B4-BE49-F238E27FC236}">
                <a16:creationId xmlns:a16="http://schemas.microsoft.com/office/drawing/2014/main" id="{985B9B96-3FFE-47D4-9DF1-8FFF118B8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4286250"/>
            <a:ext cx="2857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22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rPr>
              <a:t>可区分吗？</a:t>
            </a:r>
          </a:p>
        </p:txBody>
      </p:sp>
      <p:sp>
        <p:nvSpPr>
          <p:cNvPr id="11" name="q3">
            <a:extLst xmlns:a="http://schemas.openxmlformats.org/drawingml/2006/main">
              <a:ext uri="{FF2B5EF4-FFF2-40B4-BE49-F238E27FC236}">
                <a16:creationId xmlns:a16="http://schemas.microsoft.com/office/drawing/2014/main" id="{0D2959FE-364F-42BB-813A-D85C28489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810000"/>
            <a:ext cx="2857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22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rPr>
              <a:t>周期可行吗？</a:t>
            </a:r>
          </a:p>
        </p:txBody>
      </p:sp>
      <p:sp>
        <p:nvSpPr>
          <p:cNvPr id="12" name="q4">
            <a:extLst xmlns:a="http://schemas.openxmlformats.org/drawingml/2006/main">
              <a:ext uri="{FF2B5EF4-FFF2-40B4-BE49-F238E27FC236}">
                <a16:creationId xmlns:a16="http://schemas.microsoft.com/office/drawing/2014/main" id="{12FBDB3E-0AA2-4711-9BA6-51835E4DE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1381125"/>
            <a:ext cx="2857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2200" b="1">
                <a:solidFill>
                  <a:srgbClr val="2E7D5B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1">
                <a:solidFill>
                  <a:srgbClr val="2E7D5B"/>
                </a:solidFill>
                <a:latin typeface="微软雅黑"/>
                <a:ea typeface="微软雅黑"/>
                <a:cs typeface="微软雅黑"/>
              </a:rPr>
              <a:t>什么结果会改判断？</a:t>
            </a:r>
          </a:p>
        </p:txBody>
      </p:sp>
      <p:sp>
        <p:nvSpPr>
          <p:cNvPr id="13" name="owner">
            <a:extLst xmlns:a="http://schemas.openxmlformats.org/drawingml/2006/main">
              <a:ext uri="{FF2B5EF4-FFF2-40B4-BE49-F238E27FC236}">
                <a16:creationId xmlns:a16="http://schemas.microsoft.com/office/drawing/2014/main" id="{A2CF406A-AD5E-4E1D-AF4F-BC1559DCD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5143500"/>
            <a:ext cx="552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同伴只提问题；作者保留决定权</a:t>
            </a:r>
          </a:p>
        </p:txBody>
      </p:sp>
    </p:spTree>
    <p:extLst>
      <p:ext uri="{BB962C8B-B14F-4D97-AF65-F5344CB8AC3E}">
        <p14:creationId xmlns:p14="http://schemas.microsoft.com/office/powerpoint/2010/main" val="1443728403"/>
      </p:ext>
    </p:extLst>
  </p:cSld>
</p:sld>
</file>

<file path=ppt/slides/slide1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4D941B40-7A0A-534E-3563-CA11753C8E3F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>
          <a:xfrm xmlns:a="http://schemas.openxmlformats.org/drawingml/2006/main">
            <a:off x="1028700" y="57150"/>
            <a:ext cx="10668000" cy="571500"/>
          </a:xfr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</a:pPr>
            <a:r>
              <a: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本讲知识点总结</a:t>
            </a:r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EBA5909F-738E-F60C-BE8C-B3F1D94548E5}"/>
              </a:ext>
            </a:extLst>
          </p:cNvPr>
          <p:cNvSpPr>
            <a:spLocks xmlns:a="http://schemas.openxmlformats.org/drawingml/2006/main" noGrp="1"/>
          </p:cNvSpPr>
          <p:nvPr>
            <p:ph type="sldNum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C9C7607-4BA3-B4DC-A00F-2E67A9FCFF7E}" type="slidenum">
              <a:t>16</a:t>
            </a:fld>
            <a:endParaRPr/>
          </a:p>
        </p:txBody>
      </p:sp>
      <p:sp>
        <p:nvSpPr>
          <p:cNvPr id="6" name="summary-0-bg">
            <a:extLst xmlns:a="http://schemas.openxmlformats.org/drawingml/2006/main">
              <a:ext uri="{FF2B5EF4-FFF2-40B4-BE49-F238E27FC236}">
                <a16:creationId xmlns:a16="http://schemas.microsoft.com/office/drawing/2014/main" id="{CA90A0E2-C322-49FC-A2C0-85C5185DC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00250"/>
            <a:ext cx="2486025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5F0"/>
          </a:solidFill>
          <a:ln xmlns:a="http://schemas.openxmlformats.org/drawingml/2006/main" w="0">
            <a:noFill/>
          </a:ln>
        </p:spPr>
      </p:sp>
      <p:sp>
        <p:nvSpPr>
          <p:cNvPr id="7" name="summary-0">
            <a:extLst xmlns:a="http://schemas.openxmlformats.org/drawingml/2006/main">
              <a:ext uri="{FF2B5EF4-FFF2-40B4-BE49-F238E27FC236}">
                <a16:creationId xmlns:a16="http://schemas.microsoft.com/office/drawing/2014/main" id="{7BF74639-98A2-4E2F-AA7C-6F9A89744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95500"/>
            <a:ext cx="218122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主机制与替代</a:t>
            </a:r>
          </a:p>
        </p:txBody>
      </p:sp>
      <p:sp>
        <p:nvSpPr>
          <p:cNvPr id="8" name="summary-a0">
            <a:extLst xmlns:a="http://schemas.openxmlformats.org/drawingml/2006/main">
              <a:ext uri="{FF2B5EF4-FFF2-40B4-BE49-F238E27FC236}">
                <a16:creationId xmlns:a16="http://schemas.microsoft.com/office/drawing/2014/main" id="{622CC003-86D2-4B87-9FE9-010BB44DE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2295525"/>
            <a:ext cx="3048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28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8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9" name="summary-1-bg">
            <a:extLst xmlns:a="http://schemas.openxmlformats.org/drawingml/2006/main">
              <a:ext uri="{FF2B5EF4-FFF2-40B4-BE49-F238E27FC236}">
                <a16:creationId xmlns:a16="http://schemas.microsoft.com/office/drawing/2014/main" id="{433E5C48-08C3-4B11-BA72-E940CFBF6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0425" y="2000250"/>
            <a:ext cx="2486025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8"/>
          </a:solidFill>
          <a:ln xmlns:a="http://schemas.openxmlformats.org/drawingml/2006/main" w="0">
            <a:noFill/>
          </a:ln>
        </p:spPr>
      </p:sp>
      <p:sp>
        <p:nvSpPr>
          <p:cNvPr id="10" name="summary-1">
            <a:extLst xmlns:a="http://schemas.openxmlformats.org/drawingml/2006/main">
              <a:ext uri="{FF2B5EF4-FFF2-40B4-BE49-F238E27FC236}">
                <a16:creationId xmlns:a16="http://schemas.microsoft.com/office/drawing/2014/main" id="{E94A8F66-BBA6-4055-AC8C-C4583E2B8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2825" y="2095500"/>
            <a:ext cx="218122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可区分实验</a:t>
            </a:r>
          </a:p>
        </p:txBody>
      </p:sp>
      <p:sp>
        <p:nvSpPr>
          <p:cNvPr id="11" name="summary-a1">
            <a:extLst xmlns:a="http://schemas.openxmlformats.org/drawingml/2006/main">
              <a:ext uri="{FF2B5EF4-FFF2-40B4-BE49-F238E27FC236}">
                <a16:creationId xmlns:a16="http://schemas.microsoft.com/office/drawing/2014/main" id="{9C3D3024-6A4C-4314-B910-E2974339E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2295525"/>
            <a:ext cx="3048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28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8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12" name="summary-2-bg">
            <a:extLst xmlns:a="http://schemas.openxmlformats.org/drawingml/2006/main">
              <a:ext uri="{FF2B5EF4-FFF2-40B4-BE49-F238E27FC236}">
                <a16:creationId xmlns:a16="http://schemas.microsoft.com/office/drawing/2014/main" id="{ED16087B-19C7-4B45-B52B-4B1EF58D2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000250"/>
            <a:ext cx="2486025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8"/>
          </a:solidFill>
          <a:ln xmlns:a="http://schemas.openxmlformats.org/drawingml/2006/main" w="0">
            <a:noFill/>
          </a:ln>
        </p:spPr>
      </p:sp>
      <p:sp>
        <p:nvSpPr>
          <p:cNvPr id="13" name="summary-2">
            <a:extLst xmlns:a="http://schemas.openxmlformats.org/drawingml/2006/main">
              <a:ext uri="{FF2B5EF4-FFF2-40B4-BE49-F238E27FC236}">
                <a16:creationId xmlns:a16="http://schemas.microsoft.com/office/drawing/2014/main" id="{D1A3624D-62F2-45E4-9734-57F6DEF2E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095500"/>
            <a:ext cx="218122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三态结果</a:t>
            </a:r>
          </a:p>
        </p:txBody>
      </p:sp>
      <p:sp>
        <p:nvSpPr>
          <p:cNvPr id="14" name="summary-a2">
            <a:extLst xmlns:a="http://schemas.openxmlformats.org/drawingml/2006/main">
              <a:ext uri="{FF2B5EF4-FFF2-40B4-BE49-F238E27FC236}">
                <a16:creationId xmlns:a16="http://schemas.microsoft.com/office/drawing/2014/main" id="{C504E782-1645-475B-B1DC-7D55322E2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77275" y="2295525"/>
            <a:ext cx="3048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28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8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15" name="summary-3-bg">
            <a:extLst xmlns:a="http://schemas.openxmlformats.org/drawingml/2006/main">
              <a:ext uri="{FF2B5EF4-FFF2-40B4-BE49-F238E27FC236}">
                <a16:creationId xmlns:a16="http://schemas.microsoft.com/office/drawing/2014/main" id="{981BCAB6-9F73-4286-99E9-A17748DFA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2000250"/>
            <a:ext cx="2486025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8"/>
          </a:solidFill>
          <a:ln xmlns:a="http://schemas.openxmlformats.org/drawingml/2006/main" w="0">
            <a:noFill/>
          </a:ln>
        </p:spPr>
      </p:sp>
      <p:sp>
        <p:nvSpPr>
          <p:cNvPr id="16" name="summary-3">
            <a:extLst xmlns:a="http://schemas.openxmlformats.org/drawingml/2006/main">
              <a:ext uri="{FF2B5EF4-FFF2-40B4-BE49-F238E27FC236}">
                <a16:creationId xmlns:a16="http://schemas.microsoft.com/office/drawing/2014/main" id="{75A32EAE-456E-4314-B838-6375000C7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34475" y="2095500"/>
            <a:ext cx="218122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研究判断记录</a:t>
            </a:r>
          </a:p>
        </p:txBody>
      </p:sp>
      <p:sp>
        <p:nvSpPr>
          <p:cNvPr id="17" name="boundary">
            <a:extLst xmlns:a="http://schemas.openxmlformats.org/drawingml/2006/main">
              <a:ext uri="{FF2B5EF4-FFF2-40B4-BE49-F238E27FC236}">
                <a16:creationId xmlns:a16="http://schemas.microsoft.com/office/drawing/2014/main" id="{AC96E9B9-3FE5-4FE9-B408-31029FDB8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000500"/>
            <a:ext cx="8953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2400" b="1">
                <a:solidFill>
                  <a:srgbClr val="C8161E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1">
                <a:solidFill>
                  <a:srgbClr val="C8161E"/>
                </a:solidFill>
                <a:latin typeface="微软雅黑"/>
                <a:ea typeface="微软雅黑"/>
                <a:cs typeface="微软雅黑"/>
              </a:rPr>
              <a:t>结果不会改变任何判断时，实验还没有完成可区分性设计</a:t>
            </a:r>
          </a:p>
        </p:txBody>
      </p:sp>
    </p:spTree>
    <p:extLst>
      <p:ext uri="{BB962C8B-B14F-4D97-AF65-F5344CB8AC3E}">
        <p14:creationId xmlns:p14="http://schemas.microsoft.com/office/powerpoint/2010/main" val="1443728403"/>
      </p:ext>
    </p:extLst>
  </p:cSld>
</p:sld>
</file>

<file path=ppt/slides/slide1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judgment-title">
            <a:extLst xmlns:a="http://schemas.openxmlformats.org/drawingml/2006/main">
              <a:ext uri="{FF2B5EF4-FFF2-40B4-BE49-F238E27FC236}">
                <a16:creationId xmlns:a16="http://schemas.microsoft.com/office/drawing/2014/main" id="{E64ABCF4-A8EF-432B-8CAC-6D0E36A5F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76200"/>
            <a:ext cx="10687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保留本课决定，准备下一课输入</a:t>
            </a:r>
          </a:p>
        </p:txBody>
      </p:sp>
      <p:sp>
        <p:nvSpPr>
          <p:cNvPr id="2" name="judgment-body-0">
            <a:extLst xmlns:a="http://schemas.openxmlformats.org/drawingml/2006/main">
              <a:ext uri="{FF2B5EF4-FFF2-40B4-BE49-F238E27FC236}">
                <a16:creationId xmlns:a16="http://schemas.microsoft.com/office/drawing/2014/main" id="{32F00D94-DC2B-49AE-B044-953EFB945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66800"/>
            <a:ext cx="108585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4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defRPr sz="24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rPr>
              <a:t>L8 以最薄弱的区分证据接受同伴质询。</a:t>
            </a:r>
          </a:p>
        </p:txBody>
      </p:sp>
      <p:sp>
        <p:nvSpPr>
          <p:cNvPr id="3" name="judgment-body-1">
            <a:extLst xmlns:a="http://schemas.openxmlformats.org/drawingml/2006/main">
              <a:ext uri="{FF2B5EF4-FFF2-40B4-BE49-F238E27FC236}">
                <a16:creationId xmlns:a16="http://schemas.microsoft.com/office/drawing/2014/main" id="{8D51576D-3E5C-4C5C-B7FE-4E7DB2232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38375"/>
            <a:ext cx="10858500" cy="2076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4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defRPr sz="24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rPr>
              <a:t>回写已有项目：hypothesis-and-design.md 的预测表和实验选择理由</a:t>
            </a:r>
          </a:p>
        </p:txBody>
      </p:sp>
      <p:sp>
        <p:nvSpPr>
          <p:cNvPr id="4" name="judgment-body-2">
            <a:extLst xmlns:a="http://schemas.openxmlformats.org/drawingml/2006/main">
              <a:ext uri="{FF2B5EF4-FFF2-40B4-BE49-F238E27FC236}">
                <a16:creationId xmlns:a16="http://schemas.microsoft.com/office/drawing/2014/main" id="{984D61D0-2668-4AE3-9F04-7E8D927CD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495800"/>
            <a:ext cx="10858500" cy="14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只读指定段落，补课堂留下的真实缺口。安装与排障计入课外总预算。</a:t>
            </a:r>
          </a:p>
        </p:txBody>
      </p:sp>
      <p:sp>
        <p:nvSpPr>
          <p:cNvPr id="5" name="judgment-source">
            <a:extLst xmlns:a="http://schemas.openxmlformats.org/drawingml/2006/main">
              <a:ext uri="{FF2B5EF4-FFF2-40B4-BE49-F238E27FC236}">
                <a16:creationId xmlns:a16="http://schemas.microsoft.com/office/drawing/2014/main" id="{9EE8363F-4B5B-41C8-8D61-839CDAC96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276975"/>
            <a:ext cx="10572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100" b="0">
                <a:solidFill>
                  <a:srgbClr val="667684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defRPr sz="1100" b="0">
                <a:solidFill>
                  <a:srgbClr val="667684"/>
                </a:solidFill>
                <a:latin typeface="微软雅黑"/>
                <a:ea typeface="微软雅黑"/>
                <a:cs typeface="微软雅黑"/>
              </a:defRPr>
            </a:pPr>
            <a:r>
              <a:rPr sz="1100" b="0">
                <a:solidFill>
                  <a:srgbClr val="667684"/>
                </a:solidFill>
                <a:latin typeface="微软雅黑"/>
                <a:ea typeface="微软雅黑"/>
                <a:cs typeface="微软雅黑"/>
              </a:rPr>
              <a:t>来源：本课判断任务与讲义；构造材料及真实来源按材料包标识</a:t>
            </a:r>
          </a:p>
        </p:txBody>
      </p:sp>
      <p:sp>
        <p:nvSpPr>
          <p:cNvPr id="6" name="judgment-page">
            <a:extLst xmlns:a="http://schemas.openxmlformats.org/drawingml/2006/main">
              <a:ext uri="{FF2B5EF4-FFF2-40B4-BE49-F238E27FC236}">
                <a16:creationId xmlns:a16="http://schemas.microsoft.com/office/drawing/2014/main" id="{FDB21575-D25C-4F3D-9636-9F90CEBF8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5750" y="6562725"/>
            <a:ext cx="2381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9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defRPr sz="9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pPr>
            <a:r>
              <a:rPr sz="9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rPr>
              <a:t>17</a:t>
            </a:r>
          </a:p>
        </p:txBody>
      </p:sp>
    </p:spTree>
    <p:extLst>
      <p:ext uri="{BB962C8B-B14F-4D97-AF65-F5344CB8AC3E}">
        <p14:creationId xmlns:p14="http://schemas.microsoft.com/office/powerpoint/2010/main" val="1443728403"/>
      </p:ext>
    </p:extLst>
  </p:cSld>
</p:sld>
</file>

<file path=ppt/theme/theme1.xml><?xml version="1.0" encoding="utf-8"?>
<a:theme xmlns:a="http://schemas.openxmlformats.org/drawingml/2006/main" name="Office 主题​​">
  <a:themeElements>
    <a:clrScheme name="SJTU-2019">
      <a:dk1>
        <a:srgbClr val="000000"/>
      </a:dk1>
      <a:lt1>
        <a:srgbClr val="FFFFFF"/>
      </a:lt1>
      <a:dk2>
        <a:srgbClr val="1B1C21"/>
      </a:dk2>
      <a:lt2>
        <a:srgbClr val="DBDBDB"/>
      </a:lt2>
      <a:accent1>
        <a:srgbClr val="C8161E"/>
      </a:accent1>
      <a:accent2>
        <a:srgbClr val="44546A"/>
      </a:accent2>
      <a:accent3>
        <a:srgbClr val="1F4D78"/>
      </a:accent3>
      <a:accent4>
        <a:srgbClr val="ED7D31"/>
      </a:accent4>
      <a:accent5>
        <a:srgbClr val="FFC000"/>
      </a:accent5>
      <a:accent6>
        <a:srgbClr val="A5A5A5"/>
      </a:accent6>
      <a:hlink>
        <a:srgbClr val="196E7D"/>
      </a:hlink>
      <a:folHlink>
        <a:srgbClr val="BEBEBE"/>
      </a:folHlink>
    </a:clrScheme>
    <a:fontScheme name="外宣普适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SJTU-2019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2026-09-15T17:12:25.7880000Z</dcterms:created>
  <dcterms:modified xsi:type="dcterms:W3CDTF">2026-09-15T17:12:25.7890000Z</dcterms:modified>
</coreProperties>
</file>