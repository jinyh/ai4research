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1324ae588a479d" /><Relationship Type="http://schemas.openxmlformats.org/officeDocument/2006/relationships/extended-properties" Target="/docProps/app.xml" Id="R013c9964c48c4e46" /><Relationship Type="http://schemas.openxmlformats.org/officeDocument/2006/relationships/officeDocument" Target="/ppt/presentation.xml" Id="R2692d10616544d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49c3127d2f4830"/>
  </p:sldMasterIdLst>
  <p:notesMasterIdLst>
    <p:notesMasterId xmlns:r="http://schemas.openxmlformats.org/officeDocument/2006/relationships" r:id="R525e93616e664524"/>
  </p:notesMasterIdLst>
  <p:sldIdLst>
    <p:sldId xmlns:r="http://schemas.openxmlformats.org/officeDocument/2006/relationships" id="256" r:id="R7b910465ff774852"/>
    <p:sldId xmlns:r="http://schemas.openxmlformats.org/officeDocument/2006/relationships" id="257" r:id="R2446d11d6d1e4571"/>
    <p:sldId xmlns:r="http://schemas.openxmlformats.org/officeDocument/2006/relationships" id="258" r:id="Rfeea534168fd4ef5"/>
    <p:sldId xmlns:r="http://schemas.openxmlformats.org/officeDocument/2006/relationships" id="259" r:id="Re307eeead2da4dca"/>
    <p:sldId xmlns:r="http://schemas.openxmlformats.org/officeDocument/2006/relationships" id="260" r:id="R18edd9eccaa247fd"/>
    <p:sldId xmlns:r="http://schemas.openxmlformats.org/officeDocument/2006/relationships" id="261" r:id="R0d517bdd883d4d2b"/>
    <p:sldId xmlns:r="http://schemas.openxmlformats.org/officeDocument/2006/relationships" id="262" r:id="R85b2463791864ff2"/>
    <p:sldId xmlns:r="http://schemas.openxmlformats.org/officeDocument/2006/relationships" id="263" r:id="R1e4c2abb495344b6"/>
    <p:sldId xmlns:r="http://schemas.openxmlformats.org/officeDocument/2006/relationships" id="264" r:id="R218b90ad26f14f06"/>
    <p:sldId xmlns:r="http://schemas.openxmlformats.org/officeDocument/2006/relationships" id="265" r:id="Rf5bae5821101407e"/>
    <p:sldId xmlns:r="http://schemas.openxmlformats.org/officeDocument/2006/relationships" id="266" r:id="Rb7f7eb759756410e"/>
    <p:sldId xmlns:r="http://schemas.openxmlformats.org/officeDocument/2006/relationships" id="267" r:id="Rf5ae2e378d574408"/>
    <p:sldId xmlns:r="http://schemas.openxmlformats.org/officeDocument/2006/relationships" id="268" r:id="R24fd418831594de4"/>
    <p:sldId xmlns:r="http://schemas.openxmlformats.org/officeDocument/2006/relationships" id="269" r:id="R253502f01c2f4ef6"/>
    <p:sldId xmlns:r="http://schemas.openxmlformats.org/officeDocument/2006/relationships" id="270" r:id="Rd74032e454ab472b"/>
    <p:sldId xmlns:r="http://schemas.openxmlformats.org/officeDocument/2006/relationships" id="271" r:id="R20678fd335e14993"/>
    <p:sldId xmlns:r="http://schemas.openxmlformats.org/officeDocument/2006/relationships" id="272" r:id="Rba7db850e6b84970"/>
    <p:sldId xmlns:r="http://schemas.openxmlformats.org/officeDocument/2006/relationships" id="273" r:id="R11dc44546dc14b90"/>
    <p:sldId xmlns:r="http://schemas.openxmlformats.org/officeDocument/2006/relationships" id="274" r:id="R94cb1f89347041b9"/>
    <p:sldId xmlns:r="http://schemas.openxmlformats.org/officeDocument/2006/relationships" id="275" r:id="Re5fab5a4308b4847"/>
    <p:sldId xmlns:r="http://schemas.openxmlformats.org/officeDocument/2006/relationships" id="276" r:id="Rf8e7117572884841"/>
    <p:sldId xmlns:r="http://schemas.openxmlformats.org/officeDocument/2006/relationships" id="277" r:id="R854b0b7cf10146c2"/>
    <p:sldId xmlns:r="http://schemas.openxmlformats.org/officeDocument/2006/relationships" id="278" r:id="Re8c037cb8bc442f9"/>
    <p:sldId xmlns:r="http://schemas.openxmlformats.org/officeDocument/2006/relationships" id="279" r:id="R9fe5a30c2ce544cc"/>
    <p:sldId xmlns:r="http://schemas.openxmlformats.org/officeDocument/2006/relationships" id="280" r:id="R87a3fae5a1bf4fb9"/>
    <p:sldId xmlns:r="http://schemas.openxmlformats.org/officeDocument/2006/relationships" id="281" r:id="R03f6c10caf324ac4"/>
    <p:sldId xmlns:r="http://schemas.openxmlformats.org/officeDocument/2006/relationships" id="282" r:id="R207201dc0ac44943"/>
    <p:sldId xmlns:r="http://schemas.openxmlformats.org/officeDocument/2006/relationships" id="283" r:id="Rcbdcf531ca6b4b2c"/>
    <p:sldId xmlns:r="http://schemas.openxmlformats.org/officeDocument/2006/relationships" id="284" r:id="R00fea9207d30492b"/>
    <p:sldId xmlns:r="http://schemas.openxmlformats.org/officeDocument/2006/relationships" id="285" r:id="Re0cef5e965a8436b"/>
    <p:sldId xmlns:r="http://schemas.openxmlformats.org/officeDocument/2006/relationships" id="286" r:id="R80f3f82486e245d0"/>
    <p:sldId xmlns:r="http://schemas.openxmlformats.org/officeDocument/2006/relationships" id="287" r:id="Rf828410741b446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f6842c0ab34266" /><Relationship Type="http://schemas.openxmlformats.org/officeDocument/2006/relationships/slideMaster" Target="/ppt/slideMasters/slideMaster1.xml" Id="R4349c3127d2f4830" /><Relationship Type="http://schemas.openxmlformats.org/officeDocument/2006/relationships/notesMaster" Target="/ppt/notesMasters/notesMaster1.xml" Id="R525e93616e664524" /><Relationship Type="http://schemas.openxmlformats.org/officeDocument/2006/relationships/presProps" Target="/ppt/presProps.xml" Id="R592379121fe84cdf" /><Relationship Type="http://schemas.openxmlformats.org/officeDocument/2006/relationships/viewProps" Target="/ppt/viewProps.xml" Id="R2e5f85ea23994936" /><Relationship Type="http://schemas.openxmlformats.org/officeDocument/2006/relationships/tableStyles" Target="/ppt/tableStyles.xml" Id="Rec441a5c80a84a95" /><Relationship Type="http://schemas.openxmlformats.org/officeDocument/2006/relationships/slide" Target="/ppt/slides/slide1.xml" Id="R7b910465ff774852" /><Relationship Type="http://schemas.openxmlformats.org/officeDocument/2006/relationships/slide" Target="/ppt/slides/slide2.xml" Id="R2446d11d6d1e4571" /><Relationship Type="http://schemas.openxmlformats.org/officeDocument/2006/relationships/slide" Target="/ppt/slides/slide3.xml" Id="Rfeea534168fd4ef5" /><Relationship Type="http://schemas.openxmlformats.org/officeDocument/2006/relationships/slide" Target="/ppt/slides/slide4.xml" Id="Re307eeead2da4dca" /><Relationship Type="http://schemas.openxmlformats.org/officeDocument/2006/relationships/slide" Target="/ppt/slides/slide5.xml" Id="R18edd9eccaa247fd" /><Relationship Type="http://schemas.openxmlformats.org/officeDocument/2006/relationships/slide" Target="/ppt/slides/slide6.xml" Id="R0d517bdd883d4d2b" /><Relationship Type="http://schemas.openxmlformats.org/officeDocument/2006/relationships/slide" Target="/ppt/slides/slide7.xml" Id="R85b2463791864ff2" /><Relationship Type="http://schemas.openxmlformats.org/officeDocument/2006/relationships/slide" Target="/ppt/slides/slide8.xml" Id="R1e4c2abb495344b6" /><Relationship Type="http://schemas.openxmlformats.org/officeDocument/2006/relationships/slide" Target="/ppt/slides/slide9.xml" Id="R218b90ad26f14f06" /><Relationship Type="http://schemas.openxmlformats.org/officeDocument/2006/relationships/slide" Target="/ppt/slides/slide10.xml" Id="Rf5bae5821101407e" /><Relationship Type="http://schemas.openxmlformats.org/officeDocument/2006/relationships/slide" Target="/ppt/slides/slide11.xml" Id="Rb7f7eb759756410e" /><Relationship Type="http://schemas.openxmlformats.org/officeDocument/2006/relationships/slide" Target="/ppt/slides/slide12.xml" Id="Rf5ae2e378d574408" /><Relationship Type="http://schemas.openxmlformats.org/officeDocument/2006/relationships/slide" Target="/ppt/slides/slide13.xml" Id="R24fd418831594de4" /><Relationship Type="http://schemas.openxmlformats.org/officeDocument/2006/relationships/slide" Target="/ppt/slides/slide14.xml" Id="R253502f01c2f4ef6" /><Relationship Type="http://schemas.openxmlformats.org/officeDocument/2006/relationships/slide" Target="/ppt/slides/slide15.xml" Id="Rd74032e454ab472b" /><Relationship Type="http://schemas.openxmlformats.org/officeDocument/2006/relationships/slide" Target="/ppt/slides/slide16.xml" Id="R20678fd335e14993" /><Relationship Type="http://schemas.openxmlformats.org/officeDocument/2006/relationships/slide" Target="/ppt/slides/slide17.xml" Id="Rba7db850e6b84970" /><Relationship Type="http://schemas.openxmlformats.org/officeDocument/2006/relationships/slide" Target="/ppt/slides/slide18.xml" Id="R11dc44546dc14b90" /><Relationship Type="http://schemas.openxmlformats.org/officeDocument/2006/relationships/slide" Target="/ppt/slides/slide19.xml" Id="R94cb1f89347041b9" /><Relationship Type="http://schemas.openxmlformats.org/officeDocument/2006/relationships/slide" Target="/ppt/slides/slide20.xml" Id="Re5fab5a4308b4847" /><Relationship Type="http://schemas.openxmlformats.org/officeDocument/2006/relationships/slide" Target="/ppt/slides/slide21.xml" Id="Rf8e7117572884841" /><Relationship Type="http://schemas.openxmlformats.org/officeDocument/2006/relationships/slide" Target="/ppt/slides/slide22.xml" Id="R854b0b7cf10146c2" /><Relationship Type="http://schemas.openxmlformats.org/officeDocument/2006/relationships/slide" Target="/ppt/slides/slide23.xml" Id="Re8c037cb8bc442f9" /><Relationship Type="http://schemas.openxmlformats.org/officeDocument/2006/relationships/slide" Target="/ppt/slides/slide24.xml" Id="R9fe5a30c2ce544cc" /><Relationship Type="http://schemas.openxmlformats.org/officeDocument/2006/relationships/slide" Target="/ppt/slides/slide25.xml" Id="R87a3fae5a1bf4fb9" /><Relationship Type="http://schemas.openxmlformats.org/officeDocument/2006/relationships/slide" Target="/ppt/slides/slide26.xml" Id="R03f6c10caf324ac4" /><Relationship Type="http://schemas.openxmlformats.org/officeDocument/2006/relationships/slide" Target="/ppt/slides/slide27.xml" Id="R207201dc0ac44943" /><Relationship Type="http://schemas.openxmlformats.org/officeDocument/2006/relationships/slide" Target="/ppt/slides/slide28.xml" Id="Rcbdcf531ca6b4b2c" /><Relationship Type="http://schemas.openxmlformats.org/officeDocument/2006/relationships/slide" Target="/ppt/slides/slide29.xml" Id="R00fea9207d30492b" /><Relationship Type="http://schemas.openxmlformats.org/officeDocument/2006/relationships/slide" Target="/ppt/slides/slide30.xml" Id="Re0cef5e965a8436b" /><Relationship Type="http://schemas.openxmlformats.org/officeDocument/2006/relationships/slide" Target="/ppt/slides/slide31.xml" Id="R80f3f82486e245d0" /><Relationship Type="http://schemas.openxmlformats.org/officeDocument/2006/relationships/slide" Target="/ppt/slides/slide32.xml" Id="Rf828410741b446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02d55a25ae4f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011ecbc1dd4867" /><Relationship Type="http://schemas.openxmlformats.org/officeDocument/2006/relationships/notesMaster" Target="/ppt/notesMasters/notesMaster1.xml" Id="Rd94ad71907894f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ce45d1556d49e5" /><Relationship Type="http://schemas.openxmlformats.org/officeDocument/2006/relationships/notesMaster" Target="/ppt/notesMasters/notesMaster1.xml" Id="Rf94334b1b9ef4d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a89efbffa949ad" /><Relationship Type="http://schemas.openxmlformats.org/officeDocument/2006/relationships/notesMaster" Target="/ppt/notesMasters/notesMaster1.xml" Id="R92e34429869e45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9c4f3a1dc54de6" /><Relationship Type="http://schemas.openxmlformats.org/officeDocument/2006/relationships/notesMaster" Target="/ppt/notesMasters/notesMaster1.xml" Id="Rc2c6545bcbd947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f9f544e15749c1" /><Relationship Type="http://schemas.openxmlformats.org/officeDocument/2006/relationships/notesMaster" Target="/ppt/notesMasters/notesMaster1.xml" Id="R6d6ddea1e51b45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f77faae3564e8e" /><Relationship Type="http://schemas.openxmlformats.org/officeDocument/2006/relationships/notesMaster" Target="/ppt/notesMasters/notesMaster1.xml" Id="R2a126dbceb3040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7f495455af45c7" /><Relationship Type="http://schemas.openxmlformats.org/officeDocument/2006/relationships/notesMaster" Target="/ppt/notesMasters/notesMaster1.xml" Id="R8b7f6d8c655344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e4239dcaf84443" /><Relationship Type="http://schemas.openxmlformats.org/officeDocument/2006/relationships/notesMaster" Target="/ppt/notesMasters/notesMaster1.xml" Id="Rf754455675ae4e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175eef1f7e4e41" /><Relationship Type="http://schemas.openxmlformats.org/officeDocument/2006/relationships/notesMaster" Target="/ppt/notesMasters/notesMaster1.xml" Id="R01144fd6ac3e49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a2238091b24246" /><Relationship Type="http://schemas.openxmlformats.org/officeDocument/2006/relationships/notesMaster" Target="/ppt/notesMasters/notesMaster1.xml" Id="Ree911970507243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679e38b3c14648" /><Relationship Type="http://schemas.openxmlformats.org/officeDocument/2006/relationships/notesMaster" Target="/ppt/notesMasters/notesMaster1.xml" Id="R1a9f40ecb1ce43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6ad3a68e484f1c" /><Relationship Type="http://schemas.openxmlformats.org/officeDocument/2006/relationships/notesMaster" Target="/ppt/notesMasters/notesMaster1.xml" Id="R0ef062a5b99e41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4733e31bc74676" /><Relationship Type="http://schemas.openxmlformats.org/officeDocument/2006/relationships/notesMaster" Target="/ppt/notesMasters/notesMaster1.xml" Id="R949bc492cb2244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5753c1689945b6" /><Relationship Type="http://schemas.openxmlformats.org/officeDocument/2006/relationships/notesMaster" Target="/ppt/notesMasters/notesMaster1.xml" Id="R06a8894c1c4342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09e3a20c874d88" /><Relationship Type="http://schemas.openxmlformats.org/officeDocument/2006/relationships/notesMaster" Target="/ppt/notesMasters/notesMaster1.xml" Id="R743245a5c3cf41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072b1ecd474e4b" /><Relationship Type="http://schemas.openxmlformats.org/officeDocument/2006/relationships/notesMaster" Target="/ppt/notesMasters/notesMaster1.xml" Id="Rcbf177c18eb64c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2a170de9164c40" /><Relationship Type="http://schemas.openxmlformats.org/officeDocument/2006/relationships/notesMaster" Target="/ppt/notesMasters/notesMaster1.xml" Id="Rb1cd680c68284c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0c878cf4c0487e" /><Relationship Type="http://schemas.openxmlformats.org/officeDocument/2006/relationships/notesMaster" Target="/ppt/notesMasters/notesMaster1.xml" Id="R2d02d19eb9ee44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ce0dbc1e304f37" /><Relationship Type="http://schemas.openxmlformats.org/officeDocument/2006/relationships/notesMaster" Target="/ppt/notesMasters/notesMaster1.xml" Id="R1c13c374214947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9d106ea0444708" /><Relationship Type="http://schemas.openxmlformats.org/officeDocument/2006/relationships/notesMaster" Target="/ppt/notesMasters/notesMaster1.xml" Id="Ra0630c6bb8714e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b249e4182b4220" /><Relationship Type="http://schemas.openxmlformats.org/officeDocument/2006/relationships/notesMaster" Target="/ppt/notesMasters/notesMaster1.xml" Id="R2da0c1b3f23944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7c1213ac4d4709" /><Relationship Type="http://schemas.openxmlformats.org/officeDocument/2006/relationships/notesMaster" Target="/ppt/notesMasters/notesMaster1.xml" Id="Rb18d88315b7143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0a42f39b1364521" /><Relationship Type="http://schemas.openxmlformats.org/officeDocument/2006/relationships/notesMaster" Target="/ppt/notesMasters/notesMaster1.xml" Id="R9853966cb01f49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cb5e6b7cde401f" /><Relationship Type="http://schemas.openxmlformats.org/officeDocument/2006/relationships/notesMaster" Target="/ppt/notesMasters/notesMaster1.xml" Id="R2dadb104c9b14d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d88acb9d364a0b" /><Relationship Type="http://schemas.openxmlformats.org/officeDocument/2006/relationships/notesMaster" Target="/ppt/notesMasters/notesMaster1.xml" Id="Rbf1965a15fb646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4ed828722374f50" /><Relationship Type="http://schemas.openxmlformats.org/officeDocument/2006/relationships/notesMaster" Target="/ppt/notesMasters/notesMaster1.xml" Id="R212b6d7ffa5549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b5d5c5a4e8e4ff4" /><Relationship Type="http://schemas.openxmlformats.org/officeDocument/2006/relationships/notesMaster" Target="/ppt/notesMasters/notesMaster1.xml" Id="Rad722b8589b94e5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58e5821aee84d90" /><Relationship Type="http://schemas.openxmlformats.org/officeDocument/2006/relationships/notesMaster" Target="/ppt/notesMasters/notesMaster1.xml" Id="R47798e9addbd4c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5f7709424d46af" /><Relationship Type="http://schemas.openxmlformats.org/officeDocument/2006/relationships/notesMaster" Target="/ppt/notesMasters/notesMaster1.xml" Id="R35502165a51a458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f04baf54f4546a8" /><Relationship Type="http://schemas.openxmlformats.org/officeDocument/2006/relationships/notesMaster" Target="/ppt/notesMasters/notesMaster1.xml" Id="Rbdbf5e8cf10d454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ca5e56a7304175" /><Relationship Type="http://schemas.openxmlformats.org/officeDocument/2006/relationships/notesMaster" Target="/ppt/notesMasters/notesMaster1.xml" Id="R280a4d1ae2f047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767e1b3367e4330" /><Relationship Type="http://schemas.openxmlformats.org/officeDocument/2006/relationships/notesMaster" Target="/ppt/notesMasters/notesMaster1.xml" Id="R460df3c487b34f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 多路文献发现与检索决策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讲述：今天围绕同一个 IOI 问题，组织 AI 检索，再检查它做了什么、还缺什么。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学生动作：打开个人项目与问题初稿。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§导读与学习目标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 IOI 示例与本人的证据缺口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讲述：IOI完整句来自L1 store-01，避免换示例对象；教师任务不改变学生的个人方向。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学生动作：写本人证据缺口，核对L2来源边界。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 §2；../lesson-01/assets/ioi-intro/observations.json。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P03 本课输入与唯一记录位置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讲述：本人未有种子可从公开起始池取给定来源并单列。阅读用本人种子片段，教师IOI节选课堂提供。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学生动作：检查自己的输入是否可直接用于检索。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§导读与学习目标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课程教学设计；本课judgment-task.md；ioi-retrieval-record.md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P04 把本人的研究缺口交给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讲述：IOI已填写示例保留在讲义；学生替换本人参数。首轮和追加至多各10条是示例预算，可缩小。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学生动作：提交本人的任务并保存实际请求。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课程教学设计；本课judgment-task.md；ioi-retrieval-record.md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P05 首轮搜索的实际返回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讲述：实际请求为双引号限定 indirect object identification 和 activation patching，并限定 site:arxiv.org。完整题名与链接在运行记录。学生先观察候选方向，核验状态尚未由身份或排序决定。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学生动作：核对首轮覆盖了哪些问题要素。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ioi-retrieval-record.md；2026-10-15 实际工具记录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P06 语义路线的任务表达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讲述：自然语言输入并不证明底层是语义检索。本次通用搜索排序机制未知。学生若有可用语义服务，核实语料、接口、版本与输出，再比较它的独有相关发现。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学生动作：为本人问题拟一个语义请求，标明实际能力是否已核实。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 引文路线的两个方向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讲述：原文参考文献可以直接启动后向扩展。前向扩展可借引文索引，但覆盖与更新可能不全。本次只核对局部关系，没有声称遍历整个网络。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学生动作：选择一个方向，说明它准备补什么缺口。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https://arxiv.org/html/2211.00593v1；https://arxiv.org/html/2311.17030v2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P08 Agent 如何安排下一步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讲述：Agent 编排不是与词法、语义并列的单一检索算法。自动化让执行更密集，也要求保存影响判断的决策和结果。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学生动作：指出哪一条返回会触发自己的下一步。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P09 一条运行记录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讲述：本次没有可比较计费数据。以后重做不保证排序相同，但请求和当时结果仍能被检查。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学生动作：检查一份记录能否回答“查了什么、看到了什么”。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ioi-retrieval-record.md；2026-10-15 实际工具记录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 共同诊断：返回与给定种子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讲述：先保留学生的个人初判。暂不揭示教师选路。此处不能从未出现推断不存在。学生可以使用 AI，但必须指出实际记录位置。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学生动作：在现有笔记写初判、依据和一个未决项。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ioi-retrieval-record.md；2026-10-15 实际工具记录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P11 个人决定：下一条路线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讲述：这题可以有不同合理动作。不把选择教师路线当作唯一正确答案。要求理由指向真实覆盖缺口或资源限制。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学生动作：完成三句判断，保留最初版本。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P12 不同路线的预期收益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讲述：教师按学生实际选择追问收益与成本。开放分享自愿，不分固定组。已经有明确种子时，引文路线便于追踪上游方法。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学生动作：比较一个不同选择，说明它在什么条件下更合适。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P13 检索收益怎样比较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讲述：公平比较需要相近资源、同一问题和可见输出。本课的两路记录是过程诊断，没有建立方法优劣的对照实验。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学生动作：选择一项最值得检查的收益指标。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P14 首轮遗漏意味着什么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讲述：种子是独立给定的一个检查点，不是完整召回率基准。改词、语义也可能合理。本次实际选择依赖可用种子与方法缺口。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学生动作：对照初判，说明是否保留以及理由。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ioi-retrieval-record.md；2026-10-15 实际工具记录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P15 后向引文中的新线索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讲述：学生从种子参考文献定位实际条目。公开来源原文提供关系，不由 Agent 凭记忆补引文。完整身份与任务要打开目标来源核验。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学生动作：定位引用关系并保存种子与方向。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https://arxiv.org/html/2211.00593v1；References 中 Geiger (2021) 条目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P16 访问失败后的恢复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讲述：题名恢复是同一引文分支的入口恢复，不按两份独立证据计数。其余四条恢复查询结果未筛选，不能算作新增相关。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学生动作：区分访问状态与文献核验状态。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ioi-retrieval-record.md；2026-10-15 实际工具记录；https://arxiv.org/abs/2106.02997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P17 两条路线补到了什么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讲述：我们完成了一次由结果触发的路线变化。还缺跨模板证据，可以据此收窄个人问题。专门语义端点与系统前向引文尚未执行。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学生动作：写下自己会继续查的一项缺口。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ioi-retrieval-record.md；2026-10-15 实际工具记录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P18 个人实践一：执行与首条审计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讲述：两段各15分钟，中点点评；无种子用公开起始池并标为给定输入。自愿选IOI，不要求选层或位置。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学生动作：保存本人实际请求、返回、调整依据及首条审计。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课程教学设计；本课judgment-task.md；ioi-retrieval-record.md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P19 根据首轮结果调整策略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讲述：需要精确控制时再讲 AND、OR、括号和字段。不同接口规则有别。本课通用搜索的 site 限定不能原样当作学术 API 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学生动作：给自己的调整绑定一条实际记录。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P20 第一条入口核验：IOI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讲述：让学生区分作者报告、课程解释与本人实验结果。这里的核验不等于原研究获得独立复现。首条审计可以是本人查到的其他相关来源。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学生动作：完成身份和一条主张的入口核验。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P21 三项判断分别记录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讲述：中点教师点评从巡查发现的共性问题出发。AI 可以建议这三项，学生回源确认。不要用已纳入替代 verified，也不要把高引用当作主证据。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学生动作：检查第一条审计是否混淆三个维度。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P22 干预效果与机制解释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讲述：原文摘要同时表述这两面。若学生写成全部 patching 无效，须收窄转述。这里不展开整套机制分析，带到第 4 课阅读具体实验。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学生动作：指出一句过强转述，并改写为原文支持的范围。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https://arxiv.org/html/2311.17030v2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P23 访问失败与主张错误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讲述：rejected 需要积极证据。核验带限定时使用完整 verified-with-caveat。对转述的拒绝不是宣布整篇论文错误。两条来源都通过也可达标。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学生动作：给自己的状态补一条直接依据。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P24 个人实践二：审计与候选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讲述：实际请求、原文位置和决定互相关联；pending留线索区，访问失败不自动rejected。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学生动作：完成两条审计及至少一条已核验候选。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课程教学设计；本课judgment-task.md；ioi-retrieval-record.md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P25 证据角色取决于研究问题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讲述：这些是教师示范的用途比较，学生对自己的拟用主张作决定。对比证据不一定否定整篇种子论文，而是限制某项推论。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学生动作：按本人拟用主张选择一个角色。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https://arxiv.org/html/2211.00593v1；https://arxiv.org/html/2311.17030v2；https://arxiv.org/abs/2106.02997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P26 十字段候选记录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讲述：屏显按两字段一行展示十字段关系，学生完整表仍是讲义十列格式。状态和正式纳入不能照抄教师建议。课程原有字段不增加额外表单。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学生动作：用候选编号反查对应筛选决定。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https://arxiv.org/html/2211.00593v1；字段演示，非已确认纳入记录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P27 停止决定的可检查依据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讲述：无新增可能是策略饱和、服务失败或来源偏窄。先区分原因。完整基准集和系统滚雪球随项目逐步完善，不在本课叠加作业。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学生动作：记录下一项最可能改变判断的证据。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P28 个人复核：反查一项决定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讲述：检查理解和实际执行，不把AI建议直接当本人决定。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学生动作：反查本人一条记录并说明处理。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课程教学设计；本课judgment-task.md；ioi-retrieval-record.md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P29 条件改变后，来源还支持什么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讲述：个人题可为非MI，不必换模型；不把教师效果结论强加到所有项目。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学生动作：选择本人一项条件变化并解释来源作用。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课程教学设计；本课judgment-task.md；ioi-retrieval-record.md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P30 把判断变化留在原项目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讲述：AI 参与任何一步都可以。学生要能解释关键选择。个人项目不以同伴一致、签名或讨论次数为通过条件。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学生动作：把本次决定写回现有记录，不另建操作日志作业。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P31 本课知识回收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讲述：回到开场问题：我们仍未得到本人干预跨模板有效的结论，但已明确该找哪些证据、怎样审计、为什么继续。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学生动作：口头或书面回收一项本课判断。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课程教学设计与个人项目要求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P32 带一条本人关键主张进入 L4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讲述：原课外预算内读本人种子摘要和问题定义；不叠加IOI必读。没有原文标待核，回放不算本人执行。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学生动作：确认本人L4精读入口及下一项决定。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课程教学设计；本课judgment-task.md；ioi-retrieval-record.md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2507182cf4618" /><Relationship Type="http://schemas.openxmlformats.org/officeDocument/2006/relationships/image" Target="/ppt/media/image.png" Id="R71b00a71ac45428d" /><Relationship Type="http://schemas.openxmlformats.org/officeDocument/2006/relationships/image" Target="/ppt/media/image2.png" Id="R42538821d33c46a8" /><Relationship Type="http://schemas.openxmlformats.org/officeDocument/2006/relationships/image" Target="/ppt/media/image3.png" Id="Rd9ca913e74004022" /><Relationship Type="http://schemas.openxmlformats.org/officeDocument/2006/relationships/image" Target="/ppt/media/image4.png" Id="Re2fd0074effa49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6c9e9ffe14c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fb41a2f134ba7" /><Relationship Type="http://schemas.openxmlformats.org/officeDocument/2006/relationships/image" Target="/ppt/media/image2.png" Id="Ra7259149fde84965" /><Relationship Type="http://schemas.openxmlformats.org/officeDocument/2006/relationships/image" Target="/ppt/media/image5.png" Id="Rb785b6edcf154d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515e7ff98402a" /><Relationship Type="http://schemas.openxmlformats.org/officeDocument/2006/relationships/image" Target="/ppt/media/image.png" Id="Rb4bb43157ef94d14" /><Relationship Type="http://schemas.openxmlformats.org/officeDocument/2006/relationships/image" Target="/ppt/media/image3.png" Id="Rf67807b3c9314005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>
            <a:extLst xmlns:a="http://schemas.openxmlformats.org/drawingml/2006/main">
              <a:ext uri="{FF2B5EF4-FFF2-40B4-BE49-F238E27FC236}">
                <a16:creationId xmlns:a16="http://schemas.microsoft.com/office/drawing/2014/main" id="{0862041B-512E-4BB8-966C-58704AB971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00a71ac45428d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>
            <a:extLst xmlns:a="http://schemas.openxmlformats.org/drawingml/2006/main">
              <a:ext uri="{FF2B5EF4-FFF2-40B4-BE49-F238E27FC236}">
                <a16:creationId xmlns:a16="http://schemas.microsoft.com/office/drawing/2014/main" id="{C988D12D-E49F-4FA3-82E5-0646900D0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538821d33c46a8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>
            <a:extLst xmlns:a="http://schemas.openxmlformats.org/drawingml/2006/main">
              <a:ext uri="{FF2B5EF4-FFF2-40B4-BE49-F238E27FC236}">
                <a16:creationId xmlns:a16="http://schemas.microsoft.com/office/drawing/2014/main" id="{26FAE577-E3E5-44F9-B731-95151F40FF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ca913e74004022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>
            <a:extLst xmlns:a="http://schemas.openxmlformats.org/drawingml/2006/main">
              <a:ext uri="{FF2B5EF4-FFF2-40B4-BE49-F238E27FC236}">
                <a16:creationId xmlns:a16="http://schemas.microsoft.com/office/drawing/2014/main" id="{1AA764CF-707C-4FF4-A046-BE6EF2CB7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d0074effa49b5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>
            <a:extLst xmlns:a="http://schemas.openxmlformats.org/drawingml/2006/main">
              <a:ext uri="{FF2B5EF4-FFF2-40B4-BE49-F238E27FC236}">
                <a16:creationId xmlns:a16="http://schemas.microsoft.com/office/drawing/2014/main" id="{81BFF958-CEF6-486B-99D9-A87CE80AC5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259149fde84965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>
            <a:extLst xmlns:a="http://schemas.openxmlformats.org/drawingml/2006/main">
              <a:ext uri="{FF2B5EF4-FFF2-40B4-BE49-F238E27FC236}">
                <a16:creationId xmlns:a16="http://schemas.microsoft.com/office/drawing/2014/main" id="{BE1F9516-7550-4D6C-95C7-F4D832AB3B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5b6edcf154d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>
            <a:extLst xmlns:a="http://schemas.openxmlformats.org/drawingml/2006/main">
              <a:ext uri="{FF2B5EF4-FFF2-40B4-BE49-F238E27FC236}">
                <a16:creationId xmlns:a16="http://schemas.microsoft.com/office/drawing/2014/main" id="{F3D58C58-16A1-4BE5-9612-3711F5739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b43157ef94d14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>
            <a:extLst xmlns:a="http://schemas.openxmlformats.org/drawingml/2006/main">
              <a:ext uri="{FF2B5EF4-FFF2-40B4-BE49-F238E27FC236}">
                <a16:creationId xmlns:a16="http://schemas.microsoft.com/office/drawing/2014/main" id="{43B6F8E3-59A4-4FA9-9338-DDDF9EED80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7807b3c9314005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7dc4ff8c3d417d" /><Relationship Type="http://schemas.openxmlformats.org/officeDocument/2006/relationships/slideLayout" Target="/ppt/slideLayouts/slideLayout1.xml" Id="R1bfdf6ba51e94f8b" /><Relationship Type="http://schemas.openxmlformats.org/officeDocument/2006/relationships/slideLayout" Target="/ppt/slideLayouts/slideLayout2.xml" Id="Rf6475c21638747c2" /><Relationship Type="http://schemas.openxmlformats.org/officeDocument/2006/relationships/slideLayout" Target="/ppt/slideLayouts/slideLayout3.xml" Id="R20f73d19e43b43ef" /><Relationship Type="http://schemas.openxmlformats.org/officeDocument/2006/relationships/slideLayout" Target="/ppt/slideLayouts/slideLayout4.xml" Id="R0f3699bd72684ee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fdf6ba51e94f8b"/>
    <p:sldLayoutId xmlns:r="http://schemas.openxmlformats.org/officeDocument/2006/relationships" id="2147483650" r:id="Rf6475c21638747c2"/>
    <p:sldLayoutId xmlns:r="http://schemas.openxmlformats.org/officeDocument/2006/relationships" id="2147483651" r:id="R20f73d19e43b43ef"/>
    <p:sldLayoutId xmlns:r="http://schemas.openxmlformats.org/officeDocument/2006/relationships" id="2147483652" r:id="R0f3699bd72684ee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e75042c6a43b2" /><Relationship Type="http://schemas.openxmlformats.org/officeDocument/2006/relationships/notesSlide" Target="/ppt/notesSlides/notesSlide1.xml" Id="R6daf6795b1b8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959800fd804719" /><Relationship Type="http://schemas.openxmlformats.org/officeDocument/2006/relationships/notesSlide" Target="/ppt/notesSlides/notesSlide2.xml" Id="Ra3ce0f8198a84b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151577cb5741fa" /><Relationship Type="http://schemas.openxmlformats.org/officeDocument/2006/relationships/notesSlide" Target="/ppt/notesSlides/notesSlide3.xml" Id="R9aef05fd421947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30ee5d1aae488c" /><Relationship Type="http://schemas.openxmlformats.org/officeDocument/2006/relationships/notesSlide" Target="/ppt/notesSlides/notesSlide4.xml" Id="Rc51e96952d0347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7c7c5d9bc745fa" /><Relationship Type="http://schemas.openxmlformats.org/officeDocument/2006/relationships/notesSlide" Target="/ppt/notesSlides/notesSlide5.xml" Id="R421386a6cd2e47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4facef7b2b4451" /><Relationship Type="http://schemas.openxmlformats.org/officeDocument/2006/relationships/notesSlide" Target="/ppt/notesSlides/notesSlide6.xml" Id="R884d23ba0dbb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29e580fcda42f0" /><Relationship Type="http://schemas.openxmlformats.org/officeDocument/2006/relationships/notesSlide" Target="/ppt/notesSlides/notesSlide7.xml" Id="R3a773d30ee28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7bb77661f94d7d" /><Relationship Type="http://schemas.openxmlformats.org/officeDocument/2006/relationships/notesSlide" Target="/ppt/notesSlides/notesSlide8.xml" Id="R65c5f85218224f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f63c2a75624cd0" /><Relationship Type="http://schemas.openxmlformats.org/officeDocument/2006/relationships/notesSlide" Target="/ppt/notesSlides/notesSlide9.xml" Id="R1b0d1cf0b6ba47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8863f3801540c8" /><Relationship Type="http://schemas.openxmlformats.org/officeDocument/2006/relationships/notesSlide" Target="/ppt/notesSlides/notesSlide10.xml" Id="Rc4d7fe882b9942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525c0942064d7d" /><Relationship Type="http://schemas.openxmlformats.org/officeDocument/2006/relationships/notesSlide" Target="/ppt/notesSlides/notesSlide11.xml" Id="R9c7b7250ac4545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1b998a62114a25" /><Relationship Type="http://schemas.openxmlformats.org/officeDocument/2006/relationships/notesSlide" Target="/ppt/notesSlides/notesSlide12.xml" Id="R1e20b849d2ff49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b09d0a6380475f" /><Relationship Type="http://schemas.openxmlformats.org/officeDocument/2006/relationships/notesSlide" Target="/ppt/notesSlides/notesSlide13.xml" Id="Ra7ff0f65424342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5c965d2d864bc6" /><Relationship Type="http://schemas.openxmlformats.org/officeDocument/2006/relationships/notesSlide" Target="/ppt/notesSlides/notesSlide14.xml" Id="Rd53769d8cd2940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55de28b50f4f6a" /><Relationship Type="http://schemas.openxmlformats.org/officeDocument/2006/relationships/notesSlide" Target="/ppt/notesSlides/notesSlide15.xml" Id="Rc0ccedbcda4244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66b9cffaf54375" /><Relationship Type="http://schemas.openxmlformats.org/officeDocument/2006/relationships/notesSlide" Target="/ppt/notesSlides/notesSlide16.xml" Id="Rf6acac42a2d04a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802aaa0b0c4771" /><Relationship Type="http://schemas.openxmlformats.org/officeDocument/2006/relationships/notesSlide" Target="/ppt/notesSlides/notesSlide17.xml" Id="R017d9f029f864f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d6197f5aad4f9d" /><Relationship Type="http://schemas.openxmlformats.org/officeDocument/2006/relationships/notesSlide" Target="/ppt/notesSlides/notesSlide18.xml" Id="R70b1640fffc440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e36ea2b1574fa7" /><Relationship Type="http://schemas.openxmlformats.org/officeDocument/2006/relationships/notesSlide" Target="/ppt/notesSlides/notesSlide19.xml" Id="R67c3c413f6b54c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30e66afaca49a1" /><Relationship Type="http://schemas.openxmlformats.org/officeDocument/2006/relationships/notesSlide" Target="/ppt/notesSlides/notesSlide20.xml" Id="Re98d04a85c6640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56a1eed1b049a2" /><Relationship Type="http://schemas.openxmlformats.org/officeDocument/2006/relationships/notesSlide" Target="/ppt/notesSlides/notesSlide21.xml" Id="R44a2384da1b243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b2227178014a62" /><Relationship Type="http://schemas.openxmlformats.org/officeDocument/2006/relationships/notesSlide" Target="/ppt/notesSlides/notesSlide22.xml" Id="R04c6e92f88634c8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bb171b85ea43d1" /><Relationship Type="http://schemas.openxmlformats.org/officeDocument/2006/relationships/notesSlide" Target="/ppt/notesSlides/notesSlide23.xml" Id="R4103f08b4cca46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4ff446f8ea4175" /><Relationship Type="http://schemas.openxmlformats.org/officeDocument/2006/relationships/notesSlide" Target="/ppt/notesSlides/notesSlide24.xml" Id="Rac35552d6ecd4e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6bc3e2c97445f1" /><Relationship Type="http://schemas.openxmlformats.org/officeDocument/2006/relationships/notesSlide" Target="/ppt/notesSlides/notesSlide25.xml" Id="Ra495859622e4487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57de9fd0674e4d" /><Relationship Type="http://schemas.openxmlformats.org/officeDocument/2006/relationships/notesSlide" Target="/ppt/notesSlides/notesSlide26.xml" Id="Rc3441ece2fe94e1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ce9b0673a74c86" /><Relationship Type="http://schemas.openxmlformats.org/officeDocument/2006/relationships/notesSlide" Target="/ppt/notesSlides/notesSlide27.xml" Id="R58474a69bdf9424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60d389c38a4efb" /><Relationship Type="http://schemas.openxmlformats.org/officeDocument/2006/relationships/notesSlide" Target="/ppt/notesSlides/notesSlide28.xml" Id="R7cdb251df464493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94297b454f4ed0" /><Relationship Type="http://schemas.openxmlformats.org/officeDocument/2006/relationships/notesSlide" Target="/ppt/notesSlides/notesSlide29.xml" Id="Rab831d0004c147f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fe69fb985a4034" /><Relationship Type="http://schemas.openxmlformats.org/officeDocument/2006/relationships/notesSlide" Target="/ppt/notesSlides/notesSlide30.xml" Id="R689a54a65905445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69985f9d434e60" /><Relationship Type="http://schemas.openxmlformats.org/officeDocument/2006/relationships/notesSlide" Target="/ppt/notesSlides/notesSlide31.xml" Id="R230c7e714fa546c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f7d604e64e442e" /><Relationship Type="http://schemas.openxmlformats.org/officeDocument/2006/relationships/notesSlide" Target="/ppt/notesSlides/notesSlide32.xml" Id="R004e7b76da9847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多路文献发现与检索决策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A1B8BED-FD40-45FA-9C6B-F19B1B58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IOI 示例与本人的证据缺口</a:t>
            </a:r>
          </a:p>
        </p:txBody>
      </p:sp>
      <p:sp>
        <p:nvSpPr>
          <p:cNvPr id="2" name="identity">
            <a:extLst xmlns:a="http://schemas.openxmlformats.org/drawingml/2006/main">
              <a:ext uri="{FF2B5EF4-FFF2-40B4-BE49-F238E27FC236}">
                <a16:creationId xmlns:a16="http://schemas.microsoft.com/office/drawing/2014/main" id="{7DCB278E-E662-4A84-905B-C7F88FA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教师示例｜GPT-2 small 干预能否迁移到新模板？</a:t>
            </a:r>
          </a:p>
        </p:txBody>
      </p:sp>
      <p:sp>
        <p:nvSpPr>
          <p:cNvPr id="3" name="ioi-0">
            <a:extLst xmlns:a="http://schemas.openxmlformats.org/drawingml/2006/main">
              <a:ext uri="{FF2B5EF4-FFF2-40B4-BE49-F238E27FC236}">
                <a16:creationId xmlns:a16="http://schemas.microsoft.com/office/drawing/2014/main" id="{13739811-26A5-4552-BD0E-1564BB84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自拟句｜John and Mary … John gave a bag to …</a:t>
            </a:r>
          </a:p>
        </p:txBody>
      </p:sp>
      <p:sp>
        <p:nvSpPr>
          <p:cNvPr id="4" name="ioi-1">
            <a:extLst xmlns:a="http://schemas.openxmlformats.org/drawingml/2006/main">
              <a:ext uri="{FF2B5EF4-FFF2-40B4-BE49-F238E27FC236}">
                <a16:creationId xmlns:a16="http://schemas.microsoft.com/office/drawing/2014/main" id="{D333A2E7-0040-44A9-99C2-A566849C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任务预期 Mary；实际记录见 L1，非本页新运行</a:t>
            </a:r>
          </a:p>
        </p:txBody>
      </p:sp>
      <p:sp>
        <p:nvSpPr>
          <p:cNvPr id="5" name="ioi-2">
            <a:extLst xmlns:a="http://schemas.openxmlformats.org/drawingml/2006/main">
              <a:ext uri="{FF2B5EF4-FFF2-40B4-BE49-F238E27FC236}">
                <a16:creationId xmlns:a16="http://schemas.microsoft.com/office/drawing/2014/main" id="{B43DEB05-ED1E-4EAC-B20F-DF8958B7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本人问题当前最缺定义、方法、比较还是反例？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5D65AAD-A70C-480A-9D43-8F0C11B9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BE0A1B1-95C2-4224-AE4C-B294CDCE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F1D87F1-749D-4DB0-B3B8-5A411C3C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本课输入与唯一记录位置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7516FD27-7255-48C0-BDBC-47523E0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2927500F-10B6-461C-8E3E-89BC51D3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L2本人问题、公开表述与来源／工具边界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B5CE1EBE-995C-4289-B5FA-DB201950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00103A2E-5AD6-4567-BF90-42C69BC5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本人检索、调整、来源核验与决定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61FD0F2B-2879-4D21-A3C9-BFC58002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6BD28A1A-6D34-4EE9-B1EF-3908DD38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notes/literature-search.md</a:t>
            </a:r>
          </a:p>
        </p:txBody>
      </p:sp>
      <p:sp>
        <p:nvSpPr>
          <p:cNvPr id="8" name="row-3">
            <a:extLst xmlns:a="http://schemas.openxmlformats.org/drawingml/2006/main">
              <a:ext uri="{FF2B5EF4-FFF2-40B4-BE49-F238E27FC236}">
                <a16:creationId xmlns:a16="http://schemas.microsoft.com/office/drawing/2014/main" id="{719A896A-4D8B-44AC-B5FB-268DA3F3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教师历史检索是方法示例，实际运行由本人记录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0C2FB4B7-82F1-457C-A141-27D957E0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C8CE73E-0266-4032-8E67-24D7B49E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把本人的研究缺口交给 Agent</a:t>
            </a:r>
          </a:p>
        </p:txBody>
      </p:sp>
      <p:sp>
        <p:nvSpPr>
          <p:cNvPr id="2" name="code-0">
            <a:extLst xmlns:a="http://schemas.openxmlformats.org/drawingml/2006/main">
              <a:ext uri="{FF2B5EF4-FFF2-40B4-BE49-F238E27FC236}">
                <a16:creationId xmlns:a16="http://schemas.microsoft.com/office/drawing/2014/main" id="{C32747B6-2EFD-4E4D-8DCD-76E43D9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问题与缺口｜本人问题；定义、方法、比较或反例</a:t>
            </a:r>
          </a:p>
        </p:txBody>
      </p:sp>
      <p:sp>
        <p:nvSpPr>
          <p:cNvPr id="3" name="code-1">
            <a:extLst xmlns:a="http://schemas.openxmlformats.org/drawingml/2006/main">
              <a:ext uri="{FF2B5EF4-FFF2-40B4-BE49-F238E27FC236}">
                <a16:creationId xmlns:a16="http://schemas.microsoft.com/office/drawing/2014/main" id="{F5ECAEBF-5C7C-4830-9711-6272AD72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边界｜沿用 L2 来源、工具、网络与结果位置</a:t>
            </a:r>
          </a:p>
        </p:txBody>
      </p:sp>
      <p:sp>
        <p:nvSpPr>
          <p:cNvPr id="4" name="code-2">
            <a:extLst xmlns:a="http://schemas.openxmlformats.org/drawingml/2006/main">
              <a:ext uri="{FF2B5EF4-FFF2-40B4-BE49-F238E27FC236}">
                <a16:creationId xmlns:a16="http://schemas.microsoft.com/office/drawing/2014/main" id="{2808D105-0B22-4E21-8499-C1DB9576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执行｜先读返回，再选择互补路线</a:t>
            </a:r>
          </a:p>
        </p:txBody>
      </p:sp>
      <p:sp>
        <p:nvSpPr>
          <p:cNvPr id="5" name="code-3">
            <a:extLst xmlns:a="http://schemas.openxmlformats.org/drawingml/2006/main">
              <a:ext uri="{FF2B5EF4-FFF2-40B4-BE49-F238E27FC236}">
                <a16:creationId xmlns:a16="http://schemas.microsoft.com/office/drawing/2014/main" id="{2F762339-6244-4DD3-84B1-30104DB1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预算｜先深核两条；给定种子单列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C1C3FA1-5871-479A-8C09-FF3A3CA2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EFCECB7-DFEE-4767-B895-EF8B5FB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首轮搜索的实际返回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1985129-F5F0-4826-8411-2B22065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2026-10-15，通用搜索，结果按工具显示顺序节选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DB5C6-43A1-4852-80E8-7826FD92AB02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00100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arXiv ID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题名识别短名（非完整题名）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2605.22462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From Correlation to Cause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2311.17030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An Interpretability Illusion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2608.03629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Cross-Layer Interaction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2508.21258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RelP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335A9D5E-8BD9-4B1F-83B0-F31A3EFF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4 条是本次可见返回数，搜索总数未知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B7573C4-3EA4-46A9-8687-5F34E79A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2026-10-15 实际检索记录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5C8F995-A193-4F1D-AC00-4C3C2E5B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9A0419F-C29C-4202-90B8-D8DE1A73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语义路线的任务表达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3403328-E73E-4FE4-9836-587BF07C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自然语言可以直接表达所需关系</a:t>
            </a:r>
          </a:p>
        </p:txBody>
      </p:sp>
      <p:sp>
        <p:nvSpPr>
          <p:cNvPr id="3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87326ED4-E84B-430D-9493-78F81927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词法输入</a:t>
            </a:r>
          </a:p>
        </p:txBody>
      </p:sp>
      <p:sp>
        <p:nvSpPr>
          <p:cNvPr id="4" name="comparison-body-0">
            <a:extLst xmlns:a="http://schemas.openxmlformats.org/drawingml/2006/main">
              <a:ext uri="{FF2B5EF4-FFF2-40B4-BE49-F238E27FC236}">
                <a16:creationId xmlns:a16="http://schemas.microsoft.com/office/drawing/2014/main" id="{D669CB2B-A01E-4642-AEBC-3A3CFB55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indirect object identification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activation patching</a:t>
            </a:r>
          </a:p>
        </p:txBody>
      </p:sp>
      <p:sp>
        <p:nvSpPr>
          <p:cNvPr id="5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338B65D6-2F83-476E-9DF0-72B43B83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语义问题</a:t>
            </a:r>
          </a:p>
        </p:txBody>
      </p:sp>
      <p:sp>
        <p:nvSpPr>
          <p:cNvPr id="6" name="comparison-body-1">
            <a:extLst xmlns:a="http://schemas.openxmlformats.org/drawingml/2006/main">
              <a:ext uri="{FF2B5EF4-FFF2-40B4-BE49-F238E27FC236}">
                <a16:creationId xmlns:a16="http://schemas.microsoft.com/office/drawing/2014/main" id="{F7541BD3-10DD-4104-9793-A68DEBA2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Which interventions recover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indirect-object predictions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across prompt templates?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0B2653FF-0360-4989-A634-3850E36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专门语义端点本次未运行，结果栏保持未执行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0C6438B-C515-4863-89A4-4D1EDB64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F48D4F2-B636-4369-80DF-3981D73E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引文路线的两个方向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FDC97E9-6D07-4C40-AA13-39511F10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从可核验种子追踪研究关系</a:t>
            </a:r>
          </a:p>
        </p:txBody>
      </p:sp>
      <p:sp>
        <p:nvSpPr>
          <p:cNvPr id="3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6A326662-D004-4E73-9C5E-A621CD2F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后向：种子引用谁</a:t>
            </a:r>
          </a:p>
        </p:txBody>
      </p:sp>
      <p:sp>
        <p:nvSpPr>
          <p:cNvPr id="4" name="comparison-body-0">
            <a:extLst xmlns:a="http://schemas.openxmlformats.org/drawingml/2006/main">
              <a:ext uri="{FF2B5EF4-FFF2-40B4-BE49-F238E27FC236}">
                <a16:creationId xmlns:a16="http://schemas.microsoft.com/office/drawing/2014/main" id="{D743AA06-F6C2-4942-9D43-0F246657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IOI 的 References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方法来源与早期研究</a:t>
            </a:r>
          </a:p>
        </p:txBody>
      </p:sp>
      <p:sp>
        <p:nvSpPr>
          <p:cNvPr id="5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42939DAB-DFF4-48E3-882A-D34E4FAD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前向：谁引用种子</a:t>
            </a:r>
          </a:p>
        </p:txBody>
      </p:sp>
      <p:sp>
        <p:nvSpPr>
          <p:cNvPr id="6" name="comparison-body-1">
            <a:extLst xmlns:a="http://schemas.openxmlformats.org/drawingml/2006/main">
              <a:ext uri="{FF2B5EF4-FFF2-40B4-BE49-F238E27FC236}">
                <a16:creationId xmlns:a16="http://schemas.microsoft.com/office/drawing/2014/main" id="{1B45FD1A-05FA-4D95-97D8-8F28BF7F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后续论文的参考文献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复现、扩展与解释争论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F474BB48-CF2F-49C3-9CCD-5F70A53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引文边提供发现路径，相关性仍需检查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1C116F05-A2BD-4C0A-AB2C-E1149562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arXiv:2211.00593v1；arXiv:2311.17030v2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003B461-1213-4259-8CC6-AAA5BC4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9635414-401F-4594-B98A-02A4B2D0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如何安排下一步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ECFDCAC-0199-4068-8F5A-9EDA82E8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工具动作由当前缺口和返回结果连接</a:t>
            </a:r>
          </a:p>
        </p:txBody>
      </p:sp>
      <p:sp>
        <p:nvSpPr>
          <p:cNvPr id="3" name="row-label-0">
            <a:extLst xmlns:a="http://schemas.openxmlformats.org/drawingml/2006/main">
              <a:ext uri="{FF2B5EF4-FFF2-40B4-BE49-F238E27FC236}">
                <a16:creationId xmlns:a16="http://schemas.microsoft.com/office/drawing/2014/main" id="{A4350768-F023-4D0C-9C28-B820FCF7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4" name="row-value-0">
            <a:extLst xmlns:a="http://schemas.openxmlformats.org/drawingml/2006/main">
              <a:ext uri="{FF2B5EF4-FFF2-40B4-BE49-F238E27FC236}">
                <a16:creationId xmlns:a16="http://schemas.microsoft.com/office/drawing/2014/main" id="{9B7DED27-237F-45E6-86BA-92A147EB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问题、种子、权限与预算</a:t>
            </a:r>
          </a:p>
        </p:txBody>
      </p:sp>
      <p:sp>
        <p:nvSpPr>
          <p:cNvPr id="5" name="row-label-1">
            <a:extLst xmlns:a="http://schemas.openxmlformats.org/drawingml/2006/main">
              <a:ext uri="{FF2B5EF4-FFF2-40B4-BE49-F238E27FC236}">
                <a16:creationId xmlns:a16="http://schemas.microsoft.com/office/drawing/2014/main" id="{821215F6-1BE3-435C-ABBA-B2E7A535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" name="row-value-1">
            <a:extLst xmlns:a="http://schemas.openxmlformats.org/drawingml/2006/main">
              <a:ext uri="{FF2B5EF4-FFF2-40B4-BE49-F238E27FC236}">
                <a16:creationId xmlns:a16="http://schemas.microsoft.com/office/drawing/2014/main" id="{34ECDA9E-9B4D-4811-8669-0AFE6EBB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98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调用实际搜索或引文入口，保存返回</a:t>
            </a:r>
          </a:p>
        </p:txBody>
      </p:sp>
      <p:sp>
        <p:nvSpPr>
          <p:cNvPr id="7" name="row-label-2">
            <a:extLst xmlns:a="http://schemas.openxmlformats.org/drawingml/2006/main">
              <a:ext uri="{FF2B5EF4-FFF2-40B4-BE49-F238E27FC236}">
                <a16:creationId xmlns:a16="http://schemas.microsoft.com/office/drawing/2014/main" id="{BB6635D7-6752-4862-876C-C55A9B4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8" name="row-value-2">
            <a:extLst xmlns:a="http://schemas.openxmlformats.org/drawingml/2006/main">
              <a:ext uri="{FF2B5EF4-FFF2-40B4-BE49-F238E27FC236}">
                <a16:creationId xmlns:a16="http://schemas.microsoft.com/office/drawing/2014/main" id="{B88C0551-CC5E-4671-902B-0B1359CC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671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检查遗漏、重复、偏题与访问失败</a:t>
            </a:r>
          </a:p>
        </p:txBody>
      </p:sp>
      <p:sp>
        <p:nvSpPr>
          <p:cNvPr id="9" name="row-label-3">
            <a:extLst xmlns:a="http://schemas.openxmlformats.org/drawingml/2006/main">
              <a:ext uri="{FF2B5EF4-FFF2-40B4-BE49-F238E27FC236}">
                <a16:creationId xmlns:a16="http://schemas.microsoft.com/office/drawing/2014/main" id="{8BE92380-7096-4FAC-8C10-F596BD04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10" name="row-value-3">
            <a:extLst xmlns:a="http://schemas.openxmlformats.org/drawingml/2006/main">
              <a:ext uri="{FF2B5EF4-FFF2-40B4-BE49-F238E27FC236}">
                <a16:creationId xmlns:a16="http://schemas.microsoft.com/office/drawing/2014/main" id="{B82C533B-18E0-4A56-BBAB-BE299245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243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改表达、换路线、回源核验或停止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7596DAE7-88F7-4AEA-87D8-C50670CF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同一 Agent 可以组合多种检索机制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1F0A10C1-1919-40F8-8FD3-B3E29797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11A2FFF-C7EF-41CA-8B39-949CB33F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一条运行记录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8ACF04F-C8AF-44B1-9921-B4579835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R1：本次真实请求与能力边界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1A130-CF05-474D-8CED-8D00A3EC01C2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00100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实际记录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web.run.search_query，Codex Agent 调用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请求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"indirect object identification"</a:t>
                      </a:r>
                    </a:p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"activation patching" site:arxiv.org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返回与能力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可见 4 条；引擎、索引、分数和总数未提供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2026-10-15；结果顺序、链接与原始响应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C99E5FC4-AB7E-4FCD-9292-32DC1676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记录实际能力，未提供字段写 N/A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F991BD97-31E3-4840-81D6-F99FA524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2026-10-15 实际检索记录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B34F6F1-EBA1-43FC-B8DC-520140E5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E8BEF60-4A9C-404D-A2F6-B00C4C7A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共同诊断：返回与给定种子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8AAE6DE-A024-4C5F-864F-BB0F072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先看输入 A，再写下个人初判</a:t>
            </a:r>
          </a:p>
        </p:txBody>
      </p:sp>
      <p:sp>
        <p:nvSpPr>
          <p:cNvPr id="3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08B6E3E9-A441-4ECA-8BAB-DA6ECDB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课程给定输入</a:t>
            </a:r>
          </a:p>
        </p:txBody>
      </p:sp>
      <p:sp>
        <p:nvSpPr>
          <p:cNvPr id="4" name="comparison-body-0">
            <a:extLst xmlns:a="http://schemas.openxmlformats.org/drawingml/2006/main">
              <a:ext uri="{FF2B5EF4-FFF2-40B4-BE49-F238E27FC236}">
                <a16:creationId xmlns:a16="http://schemas.microsoft.com/office/drawing/2014/main" id="{05FC5D3F-F7E5-4117-8DDF-47C724EB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IOI 原始研究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arXiv:2211.00593</a:t>
            </a:r>
          </a:p>
        </p:txBody>
      </p:sp>
      <p:sp>
        <p:nvSpPr>
          <p:cNvPr id="5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5EE09F90-FB30-4767-92F9-534BAC0F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首轮可见返回</a:t>
            </a:r>
          </a:p>
        </p:txBody>
      </p:sp>
      <p:sp>
        <p:nvSpPr>
          <p:cNvPr id="6" name="comparison-body-1">
            <a:extLst xmlns:a="http://schemas.openxmlformats.org/drawingml/2006/main">
              <a:ext uri="{FF2B5EF4-FFF2-40B4-BE49-F238E27FC236}">
                <a16:creationId xmlns:a16="http://schemas.microsoft.com/office/drawing/2014/main" id="{544A0FAD-724F-4E52-AB9B-8562914F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2605.22462 / 2311.17030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2608.03629 / 2508.21258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608B5050-FB62-43FA-9ACA-35D1510D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当前最需要补什么？依据是哪条记录？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9FC256A1-7745-4AAE-8C6A-5E3886D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2026-10-15 实际检索记录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F32200C3-329A-4058-A283-ED7135C7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5FF7DE3-AFB1-43C2-A4DD-29689B0A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个人决定：下一条路线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B24C348-B90A-4E92-B8A6-8063B89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换词、语义表达、引文扩展，还是停止？</a:t>
            </a:r>
          </a:p>
        </p:txBody>
      </p:sp>
      <p:sp>
        <p:nvSpPr>
          <p:cNvPr id="3" name="focus-0">
            <a:extLst xmlns:a="http://schemas.openxmlformats.org/drawingml/2006/main">
              <a:ext uri="{FF2B5EF4-FFF2-40B4-BE49-F238E27FC236}">
                <a16:creationId xmlns:a16="http://schemas.microsoft.com/office/drawing/2014/main" id="{BB4DF014-1DDC-4216-B105-1A09B433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我选择 ______，因为记录中 ______。</a:t>
            </a:r>
          </a:p>
        </p:txBody>
      </p:sp>
      <p:sp>
        <p:nvSpPr>
          <p:cNvPr id="4" name="focus-1">
            <a:extLst xmlns:a="http://schemas.openxmlformats.org/drawingml/2006/main">
              <a:ext uri="{FF2B5EF4-FFF2-40B4-BE49-F238E27FC236}">
                <a16:creationId xmlns:a16="http://schemas.microsoft.com/office/drawing/2014/main" id="{6619C700-4027-4E50-A802-D416A564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替代选择是 ______，代价或缺口是 ______。</a:t>
            </a:r>
          </a:p>
        </p:txBody>
      </p:sp>
      <p:sp>
        <p:nvSpPr>
          <p:cNvPr id="5" name="focus-2">
            <a:extLst xmlns:a="http://schemas.openxmlformats.org/drawingml/2006/main">
              <a:ext uri="{FF2B5EF4-FFF2-40B4-BE49-F238E27FC236}">
                <a16:creationId xmlns:a16="http://schemas.microsoft.com/office/drawing/2014/main" id="{B97F0055-E8A7-446B-936C-55844AF6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什么新结果会让我重新判断？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FA2D0EF4-3215-454D-8BB6-EEA90C93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先写个人理由，再比较其他意见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F390372-C551-4836-B5FD-DD5D53B8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72381D6-5833-4184-8171-51357138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不同路线的预期收益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9024205-161B-4D55-8C5F-BE0A3EEE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全班比较选择，检验依据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CCAED-4AB9-429C-A541-A55DE8E4E717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429125"/>
                <a:gridCol w="4238625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准备补什么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需要检查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改词或字段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不同术语或过窄限制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新增项是否相关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语义表达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同概念的不同表述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接口能力与语料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引文扩展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方法来源或后续争论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方向、关系与原文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暂时停止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预算或阶段任务已到界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未覆盖项及影响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A9ED4F8B-4E9C-4485-B2F6-1EA5BB79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意见可以不同，依据必须可定位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3B9EC2D-6ACF-46B8-B14D-EA298FEB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B900369-CCE7-43D8-99C4-DE98DD7A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检索收益怎样比较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6A6F52C-A723-4497-9E96-BCADBFFB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用研究缺口评价结果</a:t>
            </a:r>
          </a:p>
        </p:txBody>
      </p:sp>
      <p:sp>
        <p:nvSpPr>
          <p:cNvPr id="3" name="row-label-0">
            <a:extLst xmlns:a="http://schemas.openxmlformats.org/drawingml/2006/main">
              <a:ext uri="{FF2B5EF4-FFF2-40B4-BE49-F238E27FC236}">
                <a16:creationId xmlns:a16="http://schemas.microsoft.com/office/drawing/2014/main" id="{8777BFEA-B0CF-48A7-B24D-05BE4272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独有相关项</a:t>
            </a:r>
          </a:p>
        </p:txBody>
      </p:sp>
      <p:sp>
        <p:nvSpPr>
          <p:cNvPr id="4" name="row-value-0">
            <a:extLst xmlns:a="http://schemas.openxmlformats.org/drawingml/2006/main">
              <a:ext uri="{FF2B5EF4-FFF2-40B4-BE49-F238E27FC236}">
                <a16:creationId xmlns:a16="http://schemas.microsoft.com/office/drawing/2014/main" id="{DA44EA72-EA25-47D5-8516-C14AEF23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新增内容实际补上哪项问题要素？</a:t>
            </a:r>
          </a:p>
        </p:txBody>
      </p:sp>
      <p:sp>
        <p:nvSpPr>
          <p:cNvPr id="5" name="row-label-1">
            <a:extLst xmlns:a="http://schemas.openxmlformats.org/drawingml/2006/main">
              <a:ext uri="{FF2B5EF4-FFF2-40B4-BE49-F238E27FC236}">
                <a16:creationId xmlns:a16="http://schemas.microsoft.com/office/drawing/2014/main" id="{0AD45D07-DB99-4EA7-AA5D-3D99BBD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重复与来源</a:t>
            </a:r>
          </a:p>
        </p:txBody>
      </p:sp>
      <p:sp>
        <p:nvSpPr>
          <p:cNvPr id="6" name="row-value-1">
            <a:extLst xmlns:a="http://schemas.openxmlformats.org/drawingml/2006/main">
              <a:ext uri="{FF2B5EF4-FFF2-40B4-BE49-F238E27FC236}">
                <a16:creationId xmlns:a16="http://schemas.microsoft.com/office/drawing/2014/main" id="{47573498-F77A-4CF9-B9F5-DF08FCC4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98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去重后是否仍来自同一文献版本？</a:t>
            </a:r>
          </a:p>
        </p:txBody>
      </p:sp>
      <p:sp>
        <p:nvSpPr>
          <p:cNvPr id="7" name="row-label-2">
            <a:extLst xmlns:a="http://schemas.openxmlformats.org/drawingml/2006/main">
              <a:ext uri="{FF2B5EF4-FFF2-40B4-BE49-F238E27FC236}">
                <a16:creationId xmlns:a16="http://schemas.microsoft.com/office/drawing/2014/main" id="{FB0D0D34-FBAB-48DB-B4EC-8D2B8C29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核验成本</a:t>
            </a:r>
          </a:p>
        </p:txBody>
      </p:sp>
      <p:sp>
        <p:nvSpPr>
          <p:cNvPr id="8" name="row-value-2">
            <a:extLst xmlns:a="http://schemas.openxmlformats.org/drawingml/2006/main">
              <a:ext uri="{FF2B5EF4-FFF2-40B4-BE49-F238E27FC236}">
                <a16:creationId xmlns:a16="http://schemas.microsoft.com/office/drawing/2014/main" id="{44C1DEF6-5D82-42F1-842E-D86A5B6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671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能否取得原文并定位用途？</a:t>
            </a:r>
          </a:p>
        </p:txBody>
      </p:sp>
      <p:sp>
        <p:nvSpPr>
          <p:cNvPr id="9" name="row-label-3">
            <a:extLst xmlns:a="http://schemas.openxmlformats.org/drawingml/2006/main">
              <a:ext uri="{FF2B5EF4-FFF2-40B4-BE49-F238E27FC236}">
                <a16:creationId xmlns:a16="http://schemas.microsoft.com/office/drawing/2014/main" id="{FF735A2F-9DEE-4E5B-910D-44324FC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覆盖缺口</a:t>
            </a:r>
          </a:p>
        </p:txBody>
      </p:sp>
      <p:sp>
        <p:nvSpPr>
          <p:cNvPr id="10" name="row-value-3">
            <a:extLst xmlns:a="http://schemas.openxmlformats.org/drawingml/2006/main">
              <a:ext uri="{FF2B5EF4-FFF2-40B4-BE49-F238E27FC236}">
                <a16:creationId xmlns:a16="http://schemas.microsoft.com/office/drawing/2014/main" id="{A3B2052F-BE87-4E9E-BEAE-97F8B791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243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哪些模型、模板或解释仍未检查？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30685594-184E-408E-AD8B-619E0EB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返回更多，需要进一步判断新增内容的作用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5798AAB0-2C9A-4D17-A628-C854F1F6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3E503BD-ABD4-466C-9873-326C918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首轮遗漏意味着什么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5F4C909-D29E-4BD5-9997-B6A8672F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给定种子没有出现在这 4 条可见返回中</a:t>
            </a:r>
          </a:p>
        </p:txBody>
      </p:sp>
      <p:sp>
        <p:nvSpPr>
          <p:cNvPr id="3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0196CAF3-5A24-48D9-B773-E5D663EA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可以成立</a:t>
            </a:r>
          </a:p>
        </p:txBody>
      </p:sp>
      <p:sp>
        <p:nvSpPr>
          <p:cNvPr id="4" name="comparison-body-0">
            <a:extLst xmlns:a="http://schemas.openxmlformats.org/drawingml/2006/main">
              <a:ext uri="{FF2B5EF4-FFF2-40B4-BE49-F238E27FC236}">
                <a16:creationId xmlns:a16="http://schemas.microsoft.com/office/drawing/2014/main" id="{FAD5A570-1427-498E-9F60-BED4E1E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本次返回切片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没有覆盖已知种子</a:t>
            </a:r>
          </a:p>
        </p:txBody>
      </p:sp>
      <p:sp>
        <p:nvSpPr>
          <p:cNvPr id="5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B3243BB3-F1D4-4100-9E02-EE905E32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仍需调查</a:t>
            </a:r>
          </a:p>
        </p:txBody>
      </p:sp>
      <p:sp>
        <p:nvSpPr>
          <p:cNvPr id="6" name="comparison-body-1">
            <a:extLst xmlns:a="http://schemas.openxmlformats.org/drawingml/2006/main">
              <a:ext uri="{FF2B5EF4-FFF2-40B4-BE49-F238E27FC236}">
                <a16:creationId xmlns:a16="http://schemas.microsoft.com/office/drawing/2014/main" id="{BA2BE053-5607-491A-8826-E50156EC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词语、范围、排序或索引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哪一项造成遗漏？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1B6E3BC2-E4F4-4468-84CD-3AB48224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本次 Agent 追加后向引文，补方法来源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EB9C1086-5D30-40BA-9FFE-299102D5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2026-10-15 实际检索记录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6D3C5E7-E842-45B4-B9B3-605ED422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2EB8ECD-ECCD-4095-BE54-8AA63B98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后向引文中的新线索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510F97D-FABA-46D8-9FD1-5C41D520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IOI v1 的 References：Geiger 等（2021）</a:t>
            </a:r>
          </a:p>
        </p:txBody>
      </p:sp>
      <p:sp>
        <p:nvSpPr>
          <p:cNvPr id="3" name="artifact-0">
            <a:extLst xmlns:a="http://schemas.openxmlformats.org/drawingml/2006/main">
              <a:ext uri="{FF2B5EF4-FFF2-40B4-BE49-F238E27FC236}">
                <a16:creationId xmlns:a16="http://schemas.microsoft.com/office/drawing/2014/main" id="{B1EDAA1B-C991-43A9-BEE3-8FA98EBE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Causal Abstractions of Neural Networks</a:t>
            </a:r>
          </a:p>
        </p:txBody>
      </p:sp>
      <p:sp>
        <p:nvSpPr>
          <p:cNvPr id="4" name="artifact-1">
            <a:extLst xmlns:a="http://schemas.openxmlformats.org/drawingml/2006/main">
              <a:ext uri="{FF2B5EF4-FFF2-40B4-BE49-F238E27FC236}">
                <a16:creationId xmlns:a16="http://schemas.microsoft.com/office/drawing/2014/main" id="{DB1A6D6F-393D-4395-8F85-FB69871B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Atticus Geiger / Hanson Lu / Thomas Icard / Christopher Potts</a:t>
            </a:r>
          </a:p>
        </p:txBody>
      </p:sp>
      <p:sp>
        <p:nvSpPr>
          <p:cNvPr id="5" name="artifact-2">
            <a:extLst xmlns:a="http://schemas.openxmlformats.org/drawingml/2006/main">
              <a:ext uri="{FF2B5EF4-FFF2-40B4-BE49-F238E27FC236}">
                <a16:creationId xmlns:a16="http://schemas.microsoft.com/office/drawing/2014/main" id="{10D77D2A-04D4-4B7C-92EA-B6F37742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原文参考文献链接：OpenReview，RmuXDtjDhG</a:t>
            </a:r>
          </a:p>
        </p:txBody>
      </p:sp>
      <p:sp>
        <p:nvSpPr>
          <p:cNvPr id="6" name="artifact-3">
            <a:extLst xmlns:a="http://schemas.openxmlformats.org/drawingml/2006/main">
              <a:ext uri="{FF2B5EF4-FFF2-40B4-BE49-F238E27FC236}">
                <a16:creationId xmlns:a16="http://schemas.microsoft.com/office/drawing/2014/main" id="{7EB7C3AD-96B4-44CA-ADEE-FF814BC0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路径：IOI 种子 → References → Geiger 条目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21EE9C4B-A259-4BF3-8383-340C74B6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这是一条方法来源，尚待核对具体用途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DC402FCE-58A1-4A30-AFD0-9E24F6DC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7DE4FAC-C925-4711-9F50-D048D09B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E0A43B8-B800-40D0-9B80-3E659331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访问失败后的恢复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61646EE-BF03-43F6-81FF-9C8BF2C3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同一条 Geiger 线索的实际处理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40F35-8C80-4702-93C6-B15EF023F578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00100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本次可见结果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打开 OpenReview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返回浏览器验证页面，未取得正文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完整题名限定 arXiv 查询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可见 5 条，目标 2106.02997 位于首条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打开目标摘要页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作者与题名一致；任务含 MQNLI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当前用途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补因果抽象方法背景，IOI 迁移效果另查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26FDC138-11BA-4D0F-AAFA-82BB6631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访问受阻保留为运行记录，不能推出文献不存在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0714CABA-427F-4720-B3BA-27123D5C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2026-10-15 实际检索记录；arXiv:2106.02997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8B4C4B0-05A9-426F-B833-08F57B27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B46E553-6D28-4BA6-8062-D67EC5AF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两条路线补到了什么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F7DEECA-21DD-4298-9537-E80BE3E4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本次记录只覆盖首轮与一条选查的引文分支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8F234-FFF8-46CB-911B-6932A5406170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429125"/>
                <a:gridCol w="4238625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本次增量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尚未回答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 通用搜索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条可见结果，S2 提供风险入口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其余条目主张未核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给定种子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IOI 任务与方法入口，单列输入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本人干预的效果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R2 后向引文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 1 条 Geiger 方法线索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新模板上的迁移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停止判断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转入两条来源入口审计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后续扩展按预算安排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7094727A-471B-4658-9B6F-E86CBDA3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新增 1 条只指选查分支，不代表引文路线召回率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48EE5483-28B0-4E78-B2FC-E91E2D44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2026-10-15 实际检索记录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92A89FD-DB8E-412E-A335-CBD9BABB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FE29661-4201-49CF-A293-5C67A86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个人实践一：执行与首条审计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7B434461-8190-4B81-8D4F-478263E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围绕本人问题执行两条互补路线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ABE178F8-0609-4BFF-8172-3635343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沿用 L2 的来源、工具与网络边界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A7593F9E-7A54-4353-93E1-52053D48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依据首轮返回选择下一条路线，保存理由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C402D3A5-8438-4C35-9AA6-F117E7E4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定位第一条来源的一项拟用主张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C321DB7-D056-4551-9289-4B9FD08F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EC1F8B9C-084C-477B-895E-F567C722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根据首轮结果调整策略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C276D15-29A7-45F5-9AEE-04C18FFE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让下一步针对一项实际信号</a:t>
            </a:r>
          </a:p>
        </p:txBody>
      </p:sp>
      <p:sp>
        <p:nvSpPr>
          <p:cNvPr id="3" name="row-label-0">
            <a:extLst xmlns:a="http://schemas.openxmlformats.org/drawingml/2006/main">
              <a:ext uri="{FF2B5EF4-FFF2-40B4-BE49-F238E27FC236}">
                <a16:creationId xmlns:a16="http://schemas.microsoft.com/office/drawing/2014/main" id="{3D5D5592-CCFA-44F5-85CD-62F26501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种子缺失</a:t>
            </a:r>
          </a:p>
        </p:txBody>
      </p:sp>
      <p:sp>
        <p:nvSpPr>
          <p:cNvPr id="4" name="row-value-0">
            <a:extLst xmlns:a="http://schemas.openxmlformats.org/drawingml/2006/main">
              <a:ext uri="{FF2B5EF4-FFF2-40B4-BE49-F238E27FC236}">
                <a16:creationId xmlns:a16="http://schemas.microsoft.com/office/drawing/2014/main" id="{29E9789A-1FB7-46F9-BCBE-1D126E2B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检查词法限制，或从种子追加引文</a:t>
            </a:r>
          </a:p>
        </p:txBody>
      </p:sp>
      <p:sp>
        <p:nvSpPr>
          <p:cNvPr id="5" name="row-label-1">
            <a:extLst xmlns:a="http://schemas.openxmlformats.org/drawingml/2006/main">
              <a:ext uri="{FF2B5EF4-FFF2-40B4-BE49-F238E27FC236}">
                <a16:creationId xmlns:a16="http://schemas.microsoft.com/office/drawing/2014/main" id="{8D9935A6-9633-4BA3-A2AF-98AEB71A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表达分散</a:t>
            </a:r>
          </a:p>
        </p:txBody>
      </p:sp>
      <p:sp>
        <p:nvSpPr>
          <p:cNvPr id="6" name="row-value-1">
            <a:extLst xmlns:a="http://schemas.openxmlformats.org/drawingml/2006/main">
              <a:ext uri="{FF2B5EF4-FFF2-40B4-BE49-F238E27FC236}">
                <a16:creationId xmlns:a16="http://schemas.microsoft.com/office/drawing/2014/main" id="{7092E11D-ABDE-4EC0-B40B-19EEC70A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98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在已核实服务中换语义表达</a:t>
            </a:r>
          </a:p>
        </p:txBody>
      </p:sp>
      <p:sp>
        <p:nvSpPr>
          <p:cNvPr id="7" name="row-label-2">
            <a:extLst xmlns:a="http://schemas.openxmlformats.org/drawingml/2006/main">
              <a:ext uri="{FF2B5EF4-FFF2-40B4-BE49-F238E27FC236}">
                <a16:creationId xmlns:a16="http://schemas.microsoft.com/office/drawing/2014/main" id="{3D6B1BF4-8845-4023-8DBD-06EB6E88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结果偏题</a:t>
            </a:r>
          </a:p>
        </p:txBody>
      </p:sp>
      <p:sp>
        <p:nvSpPr>
          <p:cNvPr id="8" name="row-value-2">
            <a:extLst xmlns:a="http://schemas.openxmlformats.org/drawingml/2006/main">
              <a:ext uri="{FF2B5EF4-FFF2-40B4-BE49-F238E27FC236}">
                <a16:creationId xmlns:a16="http://schemas.microsoft.com/office/drawing/2014/main" id="{DFCF634E-1594-42CB-9113-05780DC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671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检查对象、字段或筛选条件</a:t>
            </a:r>
          </a:p>
        </p:txBody>
      </p:sp>
      <p:sp>
        <p:nvSpPr>
          <p:cNvPr id="9" name="row-label-3">
            <a:extLst xmlns:a="http://schemas.openxmlformats.org/drawingml/2006/main">
              <a:ext uri="{FF2B5EF4-FFF2-40B4-BE49-F238E27FC236}">
                <a16:creationId xmlns:a16="http://schemas.microsoft.com/office/drawing/2014/main" id="{7E368A9C-C7CD-4F6B-87C6-478EF45E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原文受阻</a:t>
            </a:r>
          </a:p>
        </p:txBody>
      </p:sp>
      <p:sp>
        <p:nvSpPr>
          <p:cNvPr id="10" name="row-value-3">
            <a:extLst xmlns:a="http://schemas.openxmlformats.org/drawingml/2006/main">
              <a:ext uri="{FF2B5EF4-FFF2-40B4-BE49-F238E27FC236}">
                <a16:creationId xmlns:a16="http://schemas.microsoft.com/office/drawing/2014/main" id="{2685C25A-D407-41AA-86A8-FE70242E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243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保留失败，换公开版本或暂缓核验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9ABB524B-073A-4C81-A0D0-614C20F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写明哪条结果促成哪项调整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D2E07F73-9724-466E-8B0D-348B5A5B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83B5753-A89D-4D18-8028-BD2A5CF2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第一条入口核验：IOI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E65FD77-8B0B-4E7C-A272-D42F39CA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S1：Wang 等，2022 预印本／ICLR 2023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378A9-ADD9-4FFB-A139-9E8933A6C1E9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00100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核验对象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证据位置与用途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身份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arXiv:2211.00593，核对题名、作者与版本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拟用主张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 GPT-2 small IOI 电路并检验解释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原文位置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 摘要与 §4 Experimental validation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允许范围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用于任务与验证设计，本人的新条件需另查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D3B953DD-70F6-454E-852F-0690B062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保存自己实际核对过的位置与转述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B76B8ECD-E063-4567-9E57-506847B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F642811-BA7D-4EE1-81F9-8AD31C2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E9CED32-E778-4854-B1DE-67F97BB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三项判断分别记录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D5410C2-5750-4F4B-AF3D-30BA5DF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角色、核验状态与筛选决定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5F9E5-F091-401A-92E2-7BA10433B4D3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429125"/>
                <a:gridCol w="4238625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回答的问题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预期角色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对当前问题有什么用？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主证据／补充／对比／线索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核验状态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身份与主张核到哪里？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pending／verified 等四态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筛选决定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本人怎样处理？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纳入／排除／仅留审计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D4697C7A-D8EF-4DE6-871B-63246568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真实存在的论文，也可能不适合当前用途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8F868F2-6177-4F1D-9F1E-88B3CE0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CD7B923-4DAA-4A35-B92A-86AEDBAE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干预效果与机制解释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5F18410-6E18-455D-AA9E-A3C3E0E4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S2：Makelov、Lange、Nanda，2311.17030v2</a:t>
            </a:r>
          </a:p>
        </p:txBody>
      </p:sp>
      <p:sp>
        <p:nvSpPr>
          <p:cNvPr id="3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206FA92B-6554-4A70-A6A2-F9BF9CEC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 §4</a:t>
            </a:r>
          </a:p>
        </p:txBody>
      </p:sp>
      <p:sp>
        <p:nvSpPr>
          <p:cNvPr id="4" name="comparison-body-0">
            <a:extLst xmlns:a="http://schemas.openxmlformats.org/drawingml/2006/main">
              <a:ext uri="{FF2B5EF4-FFF2-40B4-BE49-F238E27FC236}">
                <a16:creationId xmlns:a16="http://schemas.microsoft.com/office/drawing/2014/main" id="{FE32379C-3587-491A-ACE2-9CAA6792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分析子空间干预中的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解释幻觉</a:t>
            </a:r>
          </a:p>
        </p:txBody>
      </p:sp>
      <p:sp>
        <p:nvSpPr>
          <p:cNvPr id="5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39FC9DE9-051C-47C6-9EB4-A65E2773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 §5</a:t>
            </a:r>
          </a:p>
        </p:txBody>
      </p:sp>
      <p:sp>
        <p:nvSpPr>
          <p:cNvPr id="6" name="comparison-body-1">
            <a:extLst xmlns:a="http://schemas.openxmlformats.org/drawingml/2006/main">
              <a:ext uri="{FF2B5EF4-FFF2-40B4-BE49-F238E27FC236}">
                <a16:creationId xmlns:a16="http://schemas.microsoft.com/office/drawing/2014/main" id="{BFC624CA-AA60-4E4E-BCB9-EE2318F8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给出进一步验证的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成功情形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A0F7984A-2662-47F7-AAC3-C57BB954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拟用主张需要同时保留风险与成立条件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B32395D7-2810-4057-AC68-89ED0F9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arXiv:2311.17030v2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F794B26E-564C-437F-A5CA-4D278A1B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EE8FD05-8993-427A-A7C8-46923207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访问失败与主张错误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973ACC3-7645-4B68-B9F3-CC2096FD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状态跟随实际证据</a:t>
            </a:r>
          </a:p>
        </p:txBody>
      </p:sp>
      <p:sp>
        <p:nvSpPr>
          <p:cNvPr id="3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FFED83AF-4627-4AD1-B4B4-D8823261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原文访问受阻</a:t>
            </a:r>
          </a:p>
        </p:txBody>
      </p:sp>
      <p:sp>
        <p:nvSpPr>
          <p:cNvPr id="4" name="comparison-body-0">
            <a:extLst xmlns:a="http://schemas.openxmlformats.org/drawingml/2006/main">
              <a:ext uri="{FF2B5EF4-FFF2-40B4-BE49-F238E27FC236}">
                <a16:creationId xmlns:a16="http://schemas.microsoft.com/office/drawing/2014/main" id="{B8D7D1E4-C912-4F70-86A4-4B55D58A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记录失败与待查项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文献条目保持 pending</a:t>
            </a:r>
          </a:p>
        </p:txBody>
      </p:sp>
      <p:sp>
        <p:nvSpPr>
          <p:cNvPr id="5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DC9DFC39-40F5-474C-95C5-C18DB35C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原文反驳拟用主张</a:t>
            </a:r>
          </a:p>
        </p:txBody>
      </p:sp>
      <p:sp>
        <p:nvSpPr>
          <p:cNvPr id="6" name="comparison-body-1">
            <a:extLst xmlns:a="http://schemas.openxmlformats.org/drawingml/2006/main">
              <a:ext uri="{FF2B5EF4-FFF2-40B4-BE49-F238E27FC236}">
                <a16:creationId xmlns:a16="http://schemas.microsoft.com/office/drawing/2014/main" id="{DA4F60AB-B951-4D30-8490-87DABEFD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拒绝这条错误转述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保留审计并核对修正主张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63FD191C-7517-4266-8742-F38EB1EE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pending / verified / verified-with-caveat / rejected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FB2EEA2-0A36-48F9-A216-43BF1570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9726858-F6ED-4285-A4ED-33D70A0A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个人实践二：审计与候选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94C3ADDA-2D69-47D2-B48B-D4ED7D82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核对第二条真实来源的一项拟用主张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CE1706A9-3F7E-418F-8EA4-532D69B5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至少一条候选说明角色、纳入理由与允许主张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AE94C735-56CE-4CEC-B503-4DF2C9D1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比较路线增量，记录停止理由和未决项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09D061B5-1B28-4327-BDCF-CBA5E52F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两条均通过、无新增或保留判断按实记录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C2BBC1F-F4D3-4878-A7A1-DB6CEBCB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EA3EB98-3CD4-43BA-B401-FC44D368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证据角色取决于研究问题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7DE8645-33C3-46D9-B4A0-841F841A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同一来源在不同主张中的作用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29708-A62C-480F-B4BE-312CA1C6BBC3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429125"/>
                <a:gridCol w="4238625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可以支持的用途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仍需补证的用途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IOI 原文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任务与模型内机制研究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所有模型的同一机制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Subspace 论文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解释风险与验证条件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全部干预都无效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Geiger 论文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因果抽象方法背景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GPT-2 IOI 迁移效果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5672AF83-F2ED-4714-905D-AB20F7A8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角色可以调整，原文的范围要保留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B91C6707-4A3C-4787-96E4-D39921E6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arXiv:2211.00593v1；arXiv:2311.17030v2；arXiv:2106.02997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E14E436-B514-45A8-9A58-92B636E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1DB8431-E91A-435C-9C99-09BB47AA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十字段候选记录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FA6CA15-71A9-4E6A-BAA4-952346A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一条候选用编号连接发现、筛选与审计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304F3-6795-4EF7-9445-C1C106B219BA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00100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字段对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填写内容与来源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 / 题名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/ Interpretability in the Wild…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作者 / 年份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Wang 等 / 2022 预印本，ICLR 2023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稳定来源 / 用途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2211.00593 / IOI 任务与验证设计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 / 纳入理由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本人确认 / 与当前问题的关系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 / 允许主张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本人确认 / 原文位置与范围限定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7BFA42FB-5DF5-4B7D-BE67-A68DE8A6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此为字段演示，正式记录填写完整题名和作者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859B3909-93F6-42E8-863E-C3C5DBC0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78C983C-B9D2-49A9-A920-32404501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EF49F22-0772-4B83-88D8-4F5B41BE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停止决定的可检查依据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AB11AA2-5B83-4C3F-AB06-EBA258C2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本课停止时保留未解决的问题</a:t>
            </a:r>
          </a:p>
        </p:txBody>
      </p:sp>
      <p:sp>
        <p:nvSpPr>
          <p:cNvPr id="3" name="row-label-0">
            <a:extLst xmlns:a="http://schemas.openxmlformats.org/drawingml/2006/main">
              <a:ext uri="{FF2B5EF4-FFF2-40B4-BE49-F238E27FC236}">
                <a16:creationId xmlns:a16="http://schemas.microsoft.com/office/drawing/2014/main" id="{FFBEE631-8E56-4DC6-B4AE-FBBCBD4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当前获得</a:t>
            </a:r>
          </a:p>
        </p:txBody>
      </p:sp>
      <p:sp>
        <p:nvSpPr>
          <p:cNvPr id="4" name="row-value-0">
            <a:extLst xmlns:a="http://schemas.openxmlformats.org/drawingml/2006/main">
              <a:ext uri="{FF2B5EF4-FFF2-40B4-BE49-F238E27FC236}">
                <a16:creationId xmlns:a16="http://schemas.microsoft.com/office/drawing/2014/main" id="{735418F7-4EBF-4F38-A90A-C826C33C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两条路线、一次调整、两条入口审计</a:t>
            </a:r>
          </a:p>
        </p:txBody>
      </p:sp>
      <p:sp>
        <p:nvSpPr>
          <p:cNvPr id="5" name="row-label-1">
            <a:extLst xmlns:a="http://schemas.openxmlformats.org/drawingml/2006/main">
              <a:ext uri="{FF2B5EF4-FFF2-40B4-BE49-F238E27FC236}">
                <a16:creationId xmlns:a16="http://schemas.microsoft.com/office/drawing/2014/main" id="{44786E9F-4267-435B-B486-B87BBF5C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当前缺口</a:t>
            </a:r>
          </a:p>
        </p:txBody>
      </p:sp>
      <p:sp>
        <p:nvSpPr>
          <p:cNvPr id="6" name="row-value-1">
            <a:extLst xmlns:a="http://schemas.openxmlformats.org/drawingml/2006/main">
              <a:ext uri="{FF2B5EF4-FFF2-40B4-BE49-F238E27FC236}">
                <a16:creationId xmlns:a16="http://schemas.microsoft.com/office/drawing/2014/main" id="{B36333E2-834C-4B6E-B70E-1EC795EC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98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跨模板效果仍需进一步文献与实验</a:t>
            </a:r>
          </a:p>
        </p:txBody>
      </p:sp>
      <p:sp>
        <p:nvSpPr>
          <p:cNvPr id="7" name="row-label-2">
            <a:extLst xmlns:a="http://schemas.openxmlformats.org/drawingml/2006/main">
              <a:ext uri="{FF2B5EF4-FFF2-40B4-BE49-F238E27FC236}">
                <a16:creationId xmlns:a16="http://schemas.microsoft.com/office/drawing/2014/main" id="{EB2FA8F8-E6EF-486A-B08C-2187FF56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停止理由</a:t>
            </a:r>
          </a:p>
        </p:txBody>
      </p:sp>
      <p:sp>
        <p:nvSpPr>
          <p:cNvPr id="8" name="row-value-2">
            <a:extLst xmlns:a="http://schemas.openxmlformats.org/drawingml/2006/main">
              <a:ext uri="{FF2B5EF4-FFF2-40B4-BE49-F238E27FC236}">
                <a16:creationId xmlns:a16="http://schemas.microsoft.com/office/drawing/2014/main" id="{49534AFF-EF0B-48D4-889E-F1834F58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671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阶段任务与既定预算已到界</a:t>
            </a:r>
          </a:p>
        </p:txBody>
      </p:sp>
      <p:sp>
        <p:nvSpPr>
          <p:cNvPr id="9" name="row-label-3">
            <a:extLst xmlns:a="http://schemas.openxmlformats.org/drawingml/2006/main">
              <a:ext uri="{FF2B5EF4-FFF2-40B4-BE49-F238E27FC236}">
                <a16:creationId xmlns:a16="http://schemas.microsoft.com/office/drawing/2014/main" id="{A18B55D1-ABC0-409C-99D6-FE155BE7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10" name="row-value-3">
            <a:extLst xmlns:a="http://schemas.openxmlformats.org/drawingml/2006/main">
              <a:ext uri="{FF2B5EF4-FFF2-40B4-BE49-F238E27FC236}">
                <a16:creationId xmlns:a16="http://schemas.microsoft.com/office/drawing/2014/main" id="{8D02CB1B-24B7-428F-BB92-953E0ABA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243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第 4 课深读一条会改变设计的主张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9C9BE390-BEA3-48F2-937D-A3D9E644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实际填写本人的停止理由与未覆盖范围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923FEC80-D13C-45A4-B84A-64001E03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0CE73C3-3E5B-4627-8C44-2363F0BB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个人复核：反查一项决定</a:t>
            </a:r>
          </a:p>
        </p:txBody>
      </p:sp>
      <p:sp>
        <p:nvSpPr>
          <p:cNvPr id="2" name="row-0">
            <a:extLst xmlns:a="http://schemas.openxmlformats.org/drawingml/2006/main">
              <a:ext uri="{FF2B5EF4-FFF2-40B4-BE49-F238E27FC236}">
                <a16:creationId xmlns:a16="http://schemas.microsoft.com/office/drawing/2014/main" id="{9EB1BE14-DB36-4090-BDAC-8C9CEC59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从本人纳入决定找到拟用主张</a:t>
            </a:r>
          </a:p>
        </p:txBody>
      </p:sp>
      <p:sp>
        <p:nvSpPr>
          <p:cNvPr id="3" name="row-1">
            <a:extLst xmlns:a="http://schemas.openxmlformats.org/drawingml/2006/main">
              <a:ext uri="{FF2B5EF4-FFF2-40B4-BE49-F238E27FC236}">
                <a16:creationId xmlns:a16="http://schemas.microsoft.com/office/drawing/2014/main" id="{1A7CBE93-5122-46B4-A8BE-2084536C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回原文核对身份、位置与适用条件</a:t>
            </a:r>
          </a:p>
        </p:txBody>
      </p:sp>
      <p:sp>
        <p:nvSpPr>
          <p:cNvPr id="4" name="row-2">
            <a:extLst xmlns:a="http://schemas.openxmlformats.org/drawingml/2006/main">
              <a:ext uri="{FF2B5EF4-FFF2-40B4-BE49-F238E27FC236}">
                <a16:creationId xmlns:a16="http://schemas.microsoft.com/office/drawing/2014/main" id="{3ECF938E-0206-4B81-9857-AF4B2A5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反查发现路径、实际返回和筛选理由</a:t>
            </a:r>
          </a:p>
        </p:txBody>
      </p:sp>
      <p:sp>
        <p:nvSpPr>
          <p:cNvPr id="5" name="row-3">
            <a:extLst xmlns:a="http://schemas.openxmlformats.org/drawingml/2006/main">
              <a:ext uri="{FF2B5EF4-FFF2-40B4-BE49-F238E27FC236}">
                <a16:creationId xmlns:a16="http://schemas.microsoft.com/office/drawing/2014/main" id="{4D79F2B0-81C4-4ABA-9519-DCE7C7E9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指出会改变当前决定的一项新证据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C366D81-6113-42CA-9455-3D47297E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0B7DAA4-2979-4B2C-8544-6F44596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条件改变后，来源还支持什么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7FB898F6-47D5-4E75-AD97-B4B04D8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教师示例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8F1A44A5-CBDA-42EE-8EB5-34C4B41F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改模型，方法入口与效果外推分开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A240D3A3-08EE-44BC-AD00-DACFF933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本人项目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48CE9A6D-3F8A-4806-B119-DAB33CE2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改对象、数据、负载、前提或预算</a:t>
            </a:r>
          </a:p>
        </p:txBody>
      </p:sp>
      <p:sp>
        <p:nvSpPr>
          <p:cNvPr id="6" name="row-2">
            <a:extLst xmlns:a="http://schemas.openxmlformats.org/drawingml/2006/main">
              <a:ext uri="{FF2B5EF4-FFF2-40B4-BE49-F238E27FC236}">
                <a16:creationId xmlns:a16="http://schemas.microsoft.com/office/drawing/2014/main" id="{258DDB1E-4279-4705-AA1E-50D866FB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定位一条具体来源，重判用途和允许主张</a:t>
            </a:r>
          </a:p>
        </p:txBody>
      </p:sp>
      <p:sp>
        <p:nvSpPr>
          <p:cNvPr id="7" name="row-3">
            <a:extLst xmlns:a="http://schemas.openxmlformats.org/drawingml/2006/main">
              <a:ext uri="{FF2B5EF4-FFF2-40B4-BE49-F238E27FC236}">
                <a16:creationId xmlns:a16="http://schemas.microsoft.com/office/drawing/2014/main" id="{FED41F03-B55A-4EE1-B74F-98CA024E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下一轮补什么证据，为什么？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F5C60C2F-6C2A-4BBD-865F-FC86DC8C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85CEFB68-C820-455F-B8DA-08C87244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把判断变化留在原项目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98E52D8-EBE3-48ED-84B9-73ABB463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当前判断与处理决定可以被追溯</a:t>
            </a:r>
          </a:p>
        </p:txBody>
      </p:sp>
      <p:sp>
        <p:nvSpPr>
          <p:cNvPr id="3" name="row-label-0">
            <a:extLst xmlns:a="http://schemas.openxmlformats.org/drawingml/2006/main">
              <a:ext uri="{FF2B5EF4-FFF2-40B4-BE49-F238E27FC236}">
                <a16:creationId xmlns:a16="http://schemas.microsoft.com/office/drawing/2014/main" id="{D625ED44-AEE0-4A48-B1C9-CDA78415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当前判断</a:t>
            </a:r>
          </a:p>
        </p:txBody>
      </p:sp>
      <p:sp>
        <p:nvSpPr>
          <p:cNvPr id="4" name="row-value-0">
            <a:extLst xmlns:a="http://schemas.openxmlformats.org/drawingml/2006/main">
              <a:ext uri="{FF2B5EF4-FFF2-40B4-BE49-F238E27FC236}">
                <a16:creationId xmlns:a16="http://schemas.microsoft.com/office/drawing/2014/main" id="{BC031B30-F867-49CA-BD66-3B102412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我原来准备采用什么？</a:t>
            </a:r>
          </a:p>
        </p:txBody>
      </p:sp>
      <p:sp>
        <p:nvSpPr>
          <p:cNvPr id="5" name="row-label-1">
            <a:extLst xmlns:a="http://schemas.openxmlformats.org/drawingml/2006/main">
              <a:ext uri="{FF2B5EF4-FFF2-40B4-BE49-F238E27FC236}">
                <a16:creationId xmlns:a16="http://schemas.microsoft.com/office/drawing/2014/main" id="{EC4CC82D-11F7-4E6E-9FFD-DEEAA57E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依据</a:t>
            </a:r>
          </a:p>
        </p:txBody>
      </p:sp>
      <p:sp>
        <p:nvSpPr>
          <p:cNvPr id="6" name="row-value-1">
            <a:extLst xmlns:a="http://schemas.openxmlformats.org/drawingml/2006/main">
              <a:ext uri="{FF2B5EF4-FFF2-40B4-BE49-F238E27FC236}">
                <a16:creationId xmlns:a16="http://schemas.microsoft.com/office/drawing/2014/main" id="{DF6983E0-0596-4E19-A522-76E6D187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98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哪个返回、原文或条件支持它？</a:t>
            </a:r>
          </a:p>
        </p:txBody>
      </p:sp>
      <p:sp>
        <p:nvSpPr>
          <p:cNvPr id="7" name="row-label-2">
            <a:extLst xmlns:a="http://schemas.openxmlformats.org/drawingml/2006/main">
              <a:ext uri="{FF2B5EF4-FFF2-40B4-BE49-F238E27FC236}">
                <a16:creationId xmlns:a16="http://schemas.microsoft.com/office/drawing/2014/main" id="{8BE1DB86-127D-4D22-A382-7D81BC8C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反馈或新证据</a:t>
            </a:r>
          </a:p>
        </p:txBody>
      </p:sp>
      <p:sp>
        <p:nvSpPr>
          <p:cNvPr id="8" name="row-value-2">
            <a:extLst xmlns:a="http://schemas.openxmlformats.org/drawingml/2006/main">
              <a:ext uri="{FF2B5EF4-FFF2-40B4-BE49-F238E27FC236}">
                <a16:creationId xmlns:a16="http://schemas.microsoft.com/office/drawing/2014/main" id="{8543B97B-2861-4EC9-9B8C-833E7D97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671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又检查到什么，影响哪项推论？</a:t>
            </a:r>
          </a:p>
        </p:txBody>
      </p:sp>
      <p:sp>
        <p:nvSpPr>
          <p:cNvPr id="9" name="row-label-3">
            <a:extLst xmlns:a="http://schemas.openxmlformats.org/drawingml/2006/main">
              <a:ext uri="{FF2B5EF4-FFF2-40B4-BE49-F238E27FC236}">
                <a16:creationId xmlns:a16="http://schemas.microsoft.com/office/drawing/2014/main" id="{3B4BBDD9-ED7F-461D-8B8E-5322225E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最终处理</a:t>
            </a:r>
          </a:p>
        </p:txBody>
      </p:sp>
      <p:sp>
        <p:nvSpPr>
          <p:cNvPr id="10" name="row-value-3">
            <a:extLst xmlns:a="http://schemas.openxmlformats.org/drawingml/2006/main">
              <a:ext uri="{FF2B5EF4-FFF2-40B4-BE49-F238E27FC236}">
                <a16:creationId xmlns:a16="http://schemas.microsoft.com/office/drawing/2014/main" id="{D5BB4DD8-8A77-410A-B07B-8A64CF2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243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采纳、修改、保留或暂缓，并说明理由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8C819FFE-D971-4B08-9EF5-E65384F7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判断质量看依据与迁移，不看反对 AI 的次数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8B6CD7D-E148-405D-A04E-672DE43C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E758683-D52D-4799-B30E-A09E71DC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本课知识回收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213154F-3B74-4042-BBB2-42D5833A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问题与结果共同决定下一轮检索</a:t>
            </a:r>
          </a:p>
        </p:txBody>
      </p:sp>
      <p:sp>
        <p:nvSpPr>
          <p:cNvPr id="3" name="row-label-0">
            <a:extLst xmlns:a="http://schemas.openxmlformats.org/drawingml/2006/main">
              <a:ext uri="{FF2B5EF4-FFF2-40B4-BE49-F238E27FC236}">
                <a16:creationId xmlns:a16="http://schemas.microsoft.com/office/drawing/2014/main" id="{7C7B3A17-EE31-432A-8CE7-C8279A44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路线选择</a:t>
            </a:r>
          </a:p>
        </p:txBody>
      </p:sp>
      <p:sp>
        <p:nvSpPr>
          <p:cNvPr id="4" name="row-value-0">
            <a:extLst xmlns:a="http://schemas.openxmlformats.org/drawingml/2006/main">
              <a:ext uri="{FF2B5EF4-FFF2-40B4-BE49-F238E27FC236}">
                <a16:creationId xmlns:a16="http://schemas.microsoft.com/office/drawing/2014/main" id="{6B80AEA1-BF8B-4CEB-99CB-8ACB2A03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词法、语义与引文各补不同缺口</a:t>
            </a:r>
          </a:p>
        </p:txBody>
      </p:sp>
      <p:sp>
        <p:nvSpPr>
          <p:cNvPr id="5" name="row-label-1">
            <a:extLst xmlns:a="http://schemas.openxmlformats.org/drawingml/2006/main">
              <a:ext uri="{FF2B5EF4-FFF2-40B4-BE49-F238E27FC236}">
                <a16:creationId xmlns:a16="http://schemas.microsoft.com/office/drawing/2014/main" id="{03BF7CBD-1F3A-49D1-A43C-6C0FFFF9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Agent 执行</a:t>
            </a:r>
          </a:p>
        </p:txBody>
      </p:sp>
      <p:sp>
        <p:nvSpPr>
          <p:cNvPr id="6" name="row-value-1">
            <a:extLst xmlns:a="http://schemas.openxmlformats.org/drawingml/2006/main">
              <a:ext uri="{FF2B5EF4-FFF2-40B4-BE49-F238E27FC236}">
                <a16:creationId xmlns:a16="http://schemas.microsoft.com/office/drawing/2014/main" id="{821CED03-B470-455C-AB60-BE46E1BD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98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保留真实请求、返回与调整理由</a:t>
            </a:r>
          </a:p>
        </p:txBody>
      </p:sp>
      <p:sp>
        <p:nvSpPr>
          <p:cNvPr id="7" name="row-label-2">
            <a:extLst xmlns:a="http://schemas.openxmlformats.org/drawingml/2006/main">
              <a:ext uri="{FF2B5EF4-FFF2-40B4-BE49-F238E27FC236}">
                <a16:creationId xmlns:a16="http://schemas.microsoft.com/office/drawing/2014/main" id="{41C8CAB4-C269-4195-BA8D-BC2ABD34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来源进入</a:t>
            </a:r>
          </a:p>
        </p:txBody>
      </p:sp>
      <p:sp>
        <p:nvSpPr>
          <p:cNvPr id="8" name="row-value-2">
            <a:extLst xmlns:a="http://schemas.openxmlformats.org/drawingml/2006/main">
              <a:ext uri="{FF2B5EF4-FFF2-40B4-BE49-F238E27FC236}">
                <a16:creationId xmlns:a16="http://schemas.microsoft.com/office/drawing/2014/main" id="{7148433A-8CD8-4D4D-AC46-3EAEEDD7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6712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身份、拟用主张、角色与决定分别核对</a:t>
            </a:r>
          </a:p>
        </p:txBody>
      </p:sp>
      <p:sp>
        <p:nvSpPr>
          <p:cNvPr id="9" name="row-label-3">
            <a:extLst xmlns:a="http://schemas.openxmlformats.org/drawingml/2006/main">
              <a:ext uri="{FF2B5EF4-FFF2-40B4-BE49-F238E27FC236}">
                <a16:creationId xmlns:a16="http://schemas.microsoft.com/office/drawing/2014/main" id="{F87B5D6A-A54E-46EE-814F-A9D90756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暂时停止</a:t>
            </a:r>
          </a:p>
        </p:txBody>
      </p:sp>
      <p:sp>
        <p:nvSpPr>
          <p:cNvPr id="10" name="row-value-3">
            <a:extLst xmlns:a="http://schemas.openxmlformats.org/drawingml/2006/main">
              <a:ext uri="{FF2B5EF4-FFF2-40B4-BE49-F238E27FC236}">
                <a16:creationId xmlns:a16="http://schemas.microsoft.com/office/drawing/2014/main" id="{5BE8D128-5ED4-4970-98FD-C1DA71C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24375"/>
            <a:ext cx="814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写出预算、覆盖缺口与下一项证据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4478ED37-D9F4-4208-8544-DD7497F0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学生能够解释借助 AI 完成的关键判断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D8B0481-5130-4F2E-8EC7-C8C19271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7798429-C2AD-43F9-8276-2F7DA682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带一条本人关键主张进入 L4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2529B6F8-4274-4C16-9C5A-620547F6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保存实际路线、两条审计、候选与停止理由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C5E6330A-331E-4429-BEF4-AE8AAC3B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选择本人一篇来源及一条关键主张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AE1F6F15-CDB9-4401-92D1-A460A361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带来源身份、原文入口、允许转述与未决缺口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72C61284-2B41-4F46-928C-971505E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L4 再完成两处证据与第一张完整精读卡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74481F8-3E0E-46D3-A736-25EADE6B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2026-10-21T03:12:15.2910000Z</dcterms:created>
  <dcterms:modified xsi:type="dcterms:W3CDTF">2026-10-21T03:12:15.2910000Z</dcterms:modified>
</coreProperties>
</file>