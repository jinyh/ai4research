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  <Override PartName="/ppt/slides/slide21.xml" ContentType="application/vnd.openxmlformats-officedocument.presentationml.slide+xml"/>
  <Override PartName="/ppt/notesSlides/notesSlide21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eb7a8372655e44af" /><Relationship Type="http://schemas.openxmlformats.org/officeDocument/2006/relationships/extended-properties" Target="/docProps/app.xml" Id="R8a343bbe40b945c4" /><Relationship Type="http://schemas.openxmlformats.org/officeDocument/2006/relationships/officeDocument" Target="/ppt/presentation.xml" Id="R9528d03a12274e9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dbe0354d5d649cd"/>
  </p:sldMasterIdLst>
  <p:notesMasterIdLst>
    <p:notesMasterId xmlns:r="http://schemas.openxmlformats.org/officeDocument/2006/relationships" r:id="R19671e1af20244b0"/>
  </p:notesMasterIdLst>
  <p:sldIdLst>
    <p:sldId xmlns:r="http://schemas.openxmlformats.org/officeDocument/2006/relationships" id="256" r:id="Rfd4f437e7fd44323"/>
    <p:sldId xmlns:r="http://schemas.openxmlformats.org/officeDocument/2006/relationships" id="257" r:id="Rcaefba14ea15488f"/>
    <p:sldId xmlns:r="http://schemas.openxmlformats.org/officeDocument/2006/relationships" id="258" r:id="Rd9776020d0754a3a"/>
    <p:sldId xmlns:r="http://schemas.openxmlformats.org/officeDocument/2006/relationships" id="259" r:id="R0c0819f55314483d"/>
    <p:sldId xmlns:r="http://schemas.openxmlformats.org/officeDocument/2006/relationships" id="260" r:id="Rdc85c76c09654515"/>
    <p:sldId xmlns:r="http://schemas.openxmlformats.org/officeDocument/2006/relationships" id="261" r:id="Rf4027466449a4450"/>
    <p:sldId xmlns:r="http://schemas.openxmlformats.org/officeDocument/2006/relationships" id="262" r:id="Rff5dac17b5eb4a34"/>
    <p:sldId xmlns:r="http://schemas.openxmlformats.org/officeDocument/2006/relationships" id="263" r:id="R34f53a3331904e96"/>
    <p:sldId xmlns:r="http://schemas.openxmlformats.org/officeDocument/2006/relationships" id="264" r:id="Rd817d782c6804ea0"/>
    <p:sldId xmlns:r="http://schemas.openxmlformats.org/officeDocument/2006/relationships" id="265" r:id="R826bb19519494208"/>
    <p:sldId xmlns:r="http://schemas.openxmlformats.org/officeDocument/2006/relationships" id="266" r:id="Ra857ad8363e64774"/>
    <p:sldId xmlns:r="http://schemas.openxmlformats.org/officeDocument/2006/relationships" id="267" r:id="R30c3fe83b4304974"/>
    <p:sldId xmlns:r="http://schemas.openxmlformats.org/officeDocument/2006/relationships" id="268" r:id="R0e382aeddcf34f9a"/>
    <p:sldId xmlns:r="http://schemas.openxmlformats.org/officeDocument/2006/relationships" id="269" r:id="R5f2e95c587dd49c1"/>
    <p:sldId xmlns:r="http://schemas.openxmlformats.org/officeDocument/2006/relationships" id="270" r:id="Rb471545e5fd342c2"/>
    <p:sldId xmlns:r="http://schemas.openxmlformats.org/officeDocument/2006/relationships" id="271" r:id="R1fee208780c04341"/>
    <p:sldId xmlns:r="http://schemas.openxmlformats.org/officeDocument/2006/relationships" id="272" r:id="R5c615d84ecc24f50"/>
    <p:sldId xmlns:r="http://schemas.openxmlformats.org/officeDocument/2006/relationships" id="273" r:id="R77c6e498d0be47eb"/>
    <p:sldId xmlns:r="http://schemas.openxmlformats.org/officeDocument/2006/relationships" id="274" r:id="R2cebd35906f74926"/>
    <p:sldId xmlns:r="http://schemas.openxmlformats.org/officeDocument/2006/relationships" id="275" r:id="R2f903a34ff1f477b"/>
    <p:sldId xmlns:r="http://schemas.openxmlformats.org/officeDocument/2006/relationships" id="276" r:id="R155e4ae3398b420b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69012ECD-51FC-41F1-AA8D-1B2483CD663E}" styleName="浅色样式 2 - 强调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6E25E649-3F16-4E02-A733-19D2CDBF48F0}" styleName="中度样式 3 - 强调 1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C89EF96-8CEA-46FF-86C4-4CE0E7609802}" styleName="浅色样式 3 - 强调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F5AB1C69-6EDB-4FF4-983F-18BD219EF322}" styleName="中度样式 2 - 强调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1E4AEA4-8DFA-4A89-87EB-49C32662AFE0}" styleName="中度样式 2 - 强调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93296810-A885-4BE3-A3E7-6D5BEEA58F35}" styleName="Medium Style 2 - Accent 6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6">
              <a:tint val="20000"/>
            </a:schemeClr>
          </a:solidFill>
        </a:fill>
      </a:tcStyle>
    </a:wholeTbl>
    <a:band1H>
      <a:tcStyle>
        <a:tcBdr/>
        <a:fill>
          <a:solidFill>
            <a:schemeClr val="accent6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6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3B4B98B0-60AC-42C2-AFA5-B58CD77FA1E5}" styleName="Light Style 1 - Acc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p="http://schemas.openxmlformats.org/presentationml/2006/main">
  <p:slideViewPr>
    <p:cSldViewPr snapToGrid="0" showGuides="0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2008" cy="72008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4a8586d8956d40f0" /><Relationship Type="http://schemas.openxmlformats.org/officeDocument/2006/relationships/slideMaster" Target="/ppt/slideMasters/slideMaster1.xml" Id="R0dbe0354d5d649cd" /><Relationship Type="http://schemas.openxmlformats.org/officeDocument/2006/relationships/notesMaster" Target="/ppt/notesMasters/notesMaster1.xml" Id="R19671e1af20244b0" /><Relationship Type="http://schemas.openxmlformats.org/officeDocument/2006/relationships/presProps" Target="/ppt/presProps.xml" Id="R3414ff26b5124dd3" /><Relationship Type="http://schemas.openxmlformats.org/officeDocument/2006/relationships/viewProps" Target="/ppt/viewProps.xml" Id="R327772a6c25e47d4" /><Relationship Type="http://schemas.openxmlformats.org/officeDocument/2006/relationships/tableStyles" Target="/ppt/tableStyles.xml" Id="R8c80854b48334944" /><Relationship Type="http://schemas.openxmlformats.org/officeDocument/2006/relationships/slide" Target="/ppt/slides/slide1.xml" Id="Rfd4f437e7fd44323" /><Relationship Type="http://schemas.openxmlformats.org/officeDocument/2006/relationships/slide" Target="/ppt/slides/slide2.xml" Id="Rcaefba14ea15488f" /><Relationship Type="http://schemas.openxmlformats.org/officeDocument/2006/relationships/slide" Target="/ppt/slides/slide3.xml" Id="Rd9776020d0754a3a" /><Relationship Type="http://schemas.openxmlformats.org/officeDocument/2006/relationships/slide" Target="/ppt/slides/slide4.xml" Id="R0c0819f55314483d" /><Relationship Type="http://schemas.openxmlformats.org/officeDocument/2006/relationships/slide" Target="/ppt/slides/slide5.xml" Id="Rdc85c76c09654515" /><Relationship Type="http://schemas.openxmlformats.org/officeDocument/2006/relationships/slide" Target="/ppt/slides/slide6.xml" Id="Rf4027466449a4450" /><Relationship Type="http://schemas.openxmlformats.org/officeDocument/2006/relationships/slide" Target="/ppt/slides/slide7.xml" Id="Rff5dac17b5eb4a34" /><Relationship Type="http://schemas.openxmlformats.org/officeDocument/2006/relationships/slide" Target="/ppt/slides/slide8.xml" Id="R34f53a3331904e96" /><Relationship Type="http://schemas.openxmlformats.org/officeDocument/2006/relationships/slide" Target="/ppt/slides/slide9.xml" Id="Rd817d782c6804ea0" /><Relationship Type="http://schemas.openxmlformats.org/officeDocument/2006/relationships/slide" Target="/ppt/slides/slide10.xml" Id="R826bb19519494208" /><Relationship Type="http://schemas.openxmlformats.org/officeDocument/2006/relationships/slide" Target="/ppt/slides/slide11.xml" Id="Ra857ad8363e64774" /><Relationship Type="http://schemas.openxmlformats.org/officeDocument/2006/relationships/slide" Target="/ppt/slides/slide12.xml" Id="R30c3fe83b4304974" /><Relationship Type="http://schemas.openxmlformats.org/officeDocument/2006/relationships/slide" Target="/ppt/slides/slide13.xml" Id="R0e382aeddcf34f9a" /><Relationship Type="http://schemas.openxmlformats.org/officeDocument/2006/relationships/slide" Target="/ppt/slides/slide14.xml" Id="R5f2e95c587dd49c1" /><Relationship Type="http://schemas.openxmlformats.org/officeDocument/2006/relationships/slide" Target="/ppt/slides/slide15.xml" Id="Rb471545e5fd342c2" /><Relationship Type="http://schemas.openxmlformats.org/officeDocument/2006/relationships/slide" Target="/ppt/slides/slide16.xml" Id="R1fee208780c04341" /><Relationship Type="http://schemas.openxmlformats.org/officeDocument/2006/relationships/slide" Target="/ppt/slides/slide17.xml" Id="R5c615d84ecc24f50" /><Relationship Type="http://schemas.openxmlformats.org/officeDocument/2006/relationships/slide" Target="/ppt/slides/slide18.xml" Id="R77c6e498d0be47eb" /><Relationship Type="http://schemas.openxmlformats.org/officeDocument/2006/relationships/slide" Target="/ppt/slides/slide19.xml" Id="R2cebd35906f74926" /><Relationship Type="http://schemas.openxmlformats.org/officeDocument/2006/relationships/slide" Target="/ppt/slides/slide20.xml" Id="R2f903a34ff1f477b" /><Relationship Type="http://schemas.openxmlformats.org/officeDocument/2006/relationships/slide" Target="/ppt/slides/slide21.xml" Id="R155e4ae3398b420b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2e856a718544a34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912d28b6b02a410e" /><Relationship Type="http://schemas.openxmlformats.org/officeDocument/2006/relationships/notesMaster" Target="/ppt/notesMasters/notesMaster1.xml" Id="Rea7203a6c10e4e0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5843437acea4306" /><Relationship Type="http://schemas.openxmlformats.org/officeDocument/2006/relationships/notesMaster" Target="/ppt/notesMasters/notesMaster1.xml" Id="Rc2b86c20f9f946a9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c353c228de94fb1" /><Relationship Type="http://schemas.openxmlformats.org/officeDocument/2006/relationships/notesMaster" Target="/ppt/notesMasters/notesMaster1.xml" Id="R9588ae3fa3b94093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457a88e7d3f450b" /><Relationship Type="http://schemas.openxmlformats.org/officeDocument/2006/relationships/notesMaster" Target="/ppt/notesMasters/notesMaster1.xml" Id="Rb0cb1092edca4e7e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5e1042426210495a" /><Relationship Type="http://schemas.openxmlformats.org/officeDocument/2006/relationships/notesMaster" Target="/ppt/notesMasters/notesMaster1.xml" Id="R3027a1c3bdeb4a42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97bbf8654387487c" /><Relationship Type="http://schemas.openxmlformats.org/officeDocument/2006/relationships/notesMaster" Target="/ppt/notesMasters/notesMaster1.xml" Id="R9ce8c6a082a64e19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3ca46ac5d5854d61" /><Relationship Type="http://schemas.openxmlformats.org/officeDocument/2006/relationships/notesMaster" Target="/ppt/notesMasters/notesMaster1.xml" Id="R9525596ac9424b40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0d8fb47fecd4272" /><Relationship Type="http://schemas.openxmlformats.org/officeDocument/2006/relationships/notesMaster" Target="/ppt/notesMasters/notesMaster1.xml" Id="Rbb4922a39b414778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8e07f1584fdc4a67" /><Relationship Type="http://schemas.openxmlformats.org/officeDocument/2006/relationships/notesMaster" Target="/ppt/notesMasters/notesMaster1.xml" Id="R290b70a327604620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c3e61b57d4db4108" /><Relationship Type="http://schemas.openxmlformats.org/officeDocument/2006/relationships/notesMaster" Target="/ppt/notesMasters/notesMaster1.xml" Id="Rca5be7c7b9ff40ca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118980edb6eb41f3" /><Relationship Type="http://schemas.openxmlformats.org/officeDocument/2006/relationships/notesMaster" Target="/ppt/notesMasters/notesMaster1.xml" Id="R41e051a834644154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557134311242478c" /><Relationship Type="http://schemas.openxmlformats.org/officeDocument/2006/relationships/notesMaster" Target="/ppt/notesMasters/notesMaster1.xml" Id="R3009c2de3af14427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e537ad2bd7f429e" /><Relationship Type="http://schemas.openxmlformats.org/officeDocument/2006/relationships/notesMaster" Target="/ppt/notesMasters/notesMaster1.xml" Id="R172f9aa7cbc54c7f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89593e06ca154e25" /><Relationship Type="http://schemas.openxmlformats.org/officeDocument/2006/relationships/notesMaster" Target="/ppt/notesMasters/notesMaster1.xml" Id="R73ffcbef3baa4eaa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062d07a4dd4547ac" /><Relationship Type="http://schemas.openxmlformats.org/officeDocument/2006/relationships/notesMaster" Target="/ppt/notesMasters/notesMaster1.xml" Id="R4edce1bc34684403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7b85df43751244d9" /><Relationship Type="http://schemas.openxmlformats.org/officeDocument/2006/relationships/notesMaster" Target="/ppt/notesMasters/notesMaster1.xml" Id="Rbe33548189ee4db4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29e4ff6f356e4b49" /><Relationship Type="http://schemas.openxmlformats.org/officeDocument/2006/relationships/notesMaster" Target="/ppt/notesMasters/notesMaster1.xml" Id="Rec7abe62db8c4abe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8d77edb9145146f1" /><Relationship Type="http://schemas.openxmlformats.org/officeDocument/2006/relationships/notesMaster" Target="/ppt/notesMasters/notesMaster1.xml" Id="R9d7ecfb11d304267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9bcb608e975c4631" /><Relationship Type="http://schemas.openxmlformats.org/officeDocument/2006/relationships/notesMaster" Target="/ppt/notesMasters/notesMaster1.xml" Id="R8fff662aea004274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aa7c225724ae4011" /><Relationship Type="http://schemas.openxmlformats.org/officeDocument/2006/relationships/notesMaster" Target="/ppt/notesMasters/notesMaster1.xml" Id="Rf453b8b5073c475e" /></Relationships>
</file>

<file path=ppt/notesSlides/_rels/notesSlide21.xml.rels>&#65279;<?xml version="1.0" encoding="utf-8"?><Relationships xmlns="http://schemas.openxmlformats.org/package/2006/relationships"><Relationship Type="http://schemas.openxmlformats.org/officeDocument/2006/relationships/slide" Target="/ppt/slides/slide21.xml" Id="R73a058f0b93c4e09" /><Relationship Type="http://schemas.openxmlformats.org/officeDocument/2006/relationships/notesMaster" Target="/ppt/notesMasters/notesMaster1.xml" Id="R0223542db0a646dc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页面标题：第3讲 文献检索与证据角色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页面标题：第 2 课之后，研究材料为何仍不可信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页面标题：本课目标与课堂产出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页面标题：搜得多不等于证据充分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页面标题：外部输入不止论文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页面标题：先写问题，再搜材料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页面标题：检索式可被他人复盘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页面标题：纳入与排除条件检索前先写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页面标题：证据角色：主证据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页面标题：证据角色：补充证据与对比证据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页面标题：证据角色：探索线索（AI 输出归位）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页面标题：入口核验：身份 + 一条拟用主张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页面标题：演示：检索记录定位真实论文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页面标题：演示：DOI → 原文第 1 页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页面标题：演示：合格条目进入候选表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页面标题：真实失败演示：教师自己的幻觉引用审计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页面标题：个人实践：跑通一次可复盘检索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页面标题：实践停留页：模板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页面标题：同伴互查三问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页面标题：本讲知识点总结：检索是证据入口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页面标题：退出卡与第 4 课预告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本页仅使用课程内部规则与教学材料。</a:t>
            </a:r>
          </a:p>
          <a:p xmlns:a="http://schemas.openxmlformats.org/drawingml/2006/main">
            <a:r>
              <a:t>[/Sources]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432a542efe14157" /><Relationship Type="http://schemas.openxmlformats.org/officeDocument/2006/relationships/image" Target="/ppt/media/image.png" Id="R6050a5aad59f45d8" /><Relationship Type="http://schemas.openxmlformats.org/officeDocument/2006/relationships/image" Target="/ppt/media/image2.png" Id="R677e72c13fcf4616" /><Relationship Type="http://schemas.openxmlformats.org/officeDocument/2006/relationships/image" Target="/ppt/media/image3.png" Id="Rba20ca9495ba40f6" /><Relationship Type="http://schemas.openxmlformats.org/officeDocument/2006/relationships/image" Target="/ppt/media/image4.png" Id="Rb815cb1a35964d5f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2d8d9707f57470a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e6a88a2f64734276" /><Relationship Type="http://schemas.openxmlformats.org/officeDocument/2006/relationships/image" Target="/ppt/media/image2.png" Id="R15f177861b234111" /><Relationship Type="http://schemas.openxmlformats.org/officeDocument/2006/relationships/image" Target="/ppt/media/image5.png" Id="R36b27aa583de4892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2e55b15df0fb4174" /><Relationship Type="http://schemas.openxmlformats.org/officeDocument/2006/relationships/image" Target="/ppt/media/image.png" Id="Rb98dd582b7524007" /><Relationship Type="http://schemas.openxmlformats.org/officeDocument/2006/relationships/image" Target="/ppt/media/image3.png" Id="R69c444ca5e374668" /></Relationships>
</file>

<file path=ppt/slideLayouts/slideLayout1.xml><?xml version="1.0" encoding="utf-8"?>
<p:sldLayout xmlns:p="http://schemas.openxmlformats.org/presentationml/2006/main" preserve="1" userDrawn="1">
  <p:cSld name="封面"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46" name="图片 7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6050a5aad59f45d8">
            <a:duotone>
              <a:prstClr val="black"/>
              <a:schemeClr val="accent1">
                <a:tint val="45000"/>
                <a:satMod val="400000"/>
              </a:schemeClr>
            </a:duotone>
            <a:alphaModFix amt="5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22" name="标题 1">
            <a:extLst xmlns:a="http://schemas.openxmlformats.org/drawingml/2006/main">
              <a:ext uri="{FF2B5EF4-FFF2-40B4-BE49-F238E27FC236}">
                <a16:creationId xmlns:a16="http://schemas.microsoft.com/office/drawing/2014/main" id="{9AF74CDA-19DD-45C1-88FF-2379736830CB}"/>
              </a:ext>
            </a:extLst>
          </p:cNvPr>
          <p:cNvSpPr>
            <a:spLocks xmlns:a="http://schemas.openxmlformats.org/drawingml/2006/main" noGrp="1"/>
          </p:cNvSpPr>
          <p:nvPr>
            <p:ph type="title" idx="0" hasCustomPrompt="1"/>
          </p:nvPr>
        </p:nvSpPr>
        <p:spPr>
          <a:xfrm xmlns:a="http://schemas.openxmlformats.org/drawingml/2006/main">
            <a:off x="1069561" y="2016174"/>
            <a:ext cx="10052879" cy="106085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>
            <a:noAutofit/>
          </a:bodyPr>
          <a:lstStyle xmlns:a="http://schemas.openxmlformats.org/drawingml/2006/main">
            <a:lvl1pPr algn="ctr">
              <a:buNone/>
              <a:defRPr sz="5400" b="1">
                <a:solidFill>
                  <a:schemeClr val="accent1"/>
                </a:solidFill>
              </a:defRPr>
            </a:lvl1pPr>
          </a:lstStyle>
          <a:p xmlns:a="http://schemas.openxmlformats.org/drawingml/2006/main">
            <a:r>
              <a:t>单击此处编辑标题样式</a:t>
            </a:r>
          </a:p>
        </p:txBody>
      </p:sp>
      <p:sp>
        <p:nvSpPr>
          <p:cNvPr id="26" name="内容占位符 25">
            <a:extLst xmlns:a="http://schemas.openxmlformats.org/drawingml/2006/main">
              <a:ext uri="{FF2B5EF4-FFF2-40B4-BE49-F238E27FC236}">
                <a16:creationId xmlns:a16="http://schemas.microsoft.com/office/drawing/2014/main" id="{981273AB-3D30-4A7E-951D-B80D3185213B}"/>
              </a:ext>
            </a:extLst>
          </p:cNvPr>
          <p:cNvSpPr>
            <a:spLocks xmlns:a="http://schemas.openxmlformats.org/drawingml/2006/main" noGrp="1"/>
          </p:cNvSpPr>
          <p:nvPr>
            <p:ph idx="10" hasCustomPrompt="1"/>
          </p:nvPr>
        </p:nvSpPr>
        <p:spPr>
          <a:xfrm xmlns:a="http://schemas.openxmlformats.org/drawingml/2006/main">
            <a:off x="4644345" y="5196924"/>
            <a:ext cx="2903311" cy="4540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2400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fld id="{DE506FFD-8B27-444A-964F-E64D0BB3DAF0}" type="datetime2">
              <a:t>2019年1月28日</a:t>
            </a:fld>
            <a:endParaRPr/>
          </a:p>
        </p:txBody>
      </p:sp>
      <p:sp>
        <p:nvSpPr>
          <p:cNvPr id="32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F905EEBF-8ACE-4D30-A4F5-C5796F8343A2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4034910" y="4407403"/>
            <a:ext cx="4122181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3200" b="1">
                <a:solidFill>
                  <a:schemeClr val="accent2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50" name="图片 34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77e72c13fcf4616"/>
          <a:srcRect xmlns:a="http://schemas.openxmlformats.org/drawingml/2006/main" l="74359" t="0" r="1346" b="0"/>
          <a:stretch xmlns:a="http://schemas.openxmlformats.org/drawingml/2006/main"/>
        </p:blipFill>
        <p:spPr>
          <a:xfrm xmlns:a="http://schemas.openxmlformats.org/drawingml/2006/main">
            <a:off x="8870172" y="274183"/>
            <a:ext cx="3002280" cy="411617"/>
          </a:xfrm>
          <a:prstGeom xmlns:a="http://schemas.openxmlformats.org/drawingml/2006/main" prst="rect">
            <a:avLst/>
          </a:prstGeom>
        </p:spPr>
      </p:pic>
      <p:pic>
        <p:nvPicPr>
          <p:cNvPr id="51" name="图片 17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ba20ca9495ba40f6">
            <a:alphaModFix amt="35000"/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 rot="0" flipH="0" flipV="0">
            <a:off x="3352562" y="6244170"/>
            <a:ext cx="5486876" cy="406590"/>
          </a:xfrm>
          <a:prstGeom xmlns:a="http://schemas.openxmlformats.org/drawingml/2006/main" prst="rect">
            <a:avLst/>
          </a:prstGeom>
        </p:spPr>
      </p:pic>
      <p:sp>
        <p:nvSpPr>
          <p:cNvPr id="37" name="椭圆 36">
            <a:extLst xmlns:a="http://schemas.openxmlformats.org/drawingml/2006/main">
              <a:ext uri="{FF2B5EF4-FFF2-40B4-BE49-F238E27FC236}">
                <a16:creationId xmlns:a16="http://schemas.microsoft.com/office/drawing/2014/main" id="{53D809C0-A4EF-44AF-AECA-4A85E4BA2C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6051000" y="6430138"/>
            <a:ext cx="90000" cy="90000"/>
          </a:xfrm>
          <a:prstGeom xmlns:a="http://schemas.openxmlformats.org/drawingml/2006/main" prst="ellipse">
            <a:avLst/>
          </a:prstGeom>
          <a:solidFill xmlns:a="http://schemas.openxmlformats.org/drawingml/2006/main">
            <a:schemeClr val="accent6">
              <a:lumMod val="60000"/>
              <a:lumOff val="40000"/>
            </a:schemeClr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39" name="直接连接符 38">
            <a:extLst xmlns:a="http://schemas.openxmlformats.org/drawingml/2006/main">
              <a:ext uri="{FF2B5EF4-FFF2-40B4-BE49-F238E27FC236}">
                <a16:creationId xmlns:a16="http://schemas.microsoft.com/office/drawing/2014/main" id="{31F7CAE3-0209-4DA4-9A92-731CC272B6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23285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41" name="直接连接符 40">
            <a:extLst xmlns:a="http://schemas.openxmlformats.org/drawingml/2006/main">
              <a:ext uri="{FF2B5EF4-FFF2-40B4-BE49-F238E27FC236}">
                <a16:creationId xmlns:a16="http://schemas.microsoft.com/office/drawing/2014/main" id="{B3FF25BF-0A81-4E7C-A868-79A201F0D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0" flipH="0" flipV="0">
            <a:off x="8983387" y="6487838"/>
            <a:ext cx="900000" cy="0"/>
          </a:xfrm>
          <a:prstGeom xmlns:a="http://schemas.openxmlformats.org/drawingml/2006/main" prst="line">
            <a:avLst/>
          </a:prstGeom>
          <a:ln xmlns:a="http://schemas.openxmlformats.org/drawingml/2006/main" w="12700">
            <a:solidFill>
              <a:schemeClr val="accent6">
                <a:lumMod val="60000"/>
                <a:lumOff val="40000"/>
              </a:schemeClr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2" name="直接连接符 11">
            <a:extLst xmlns:a="http://schemas.openxmlformats.org/drawingml/2006/main">
              <a:ext uri="{FF2B5EF4-FFF2-40B4-BE49-F238E27FC236}">
                <a16:creationId xmlns:a16="http://schemas.microsoft.com/office/drawing/2014/main" id="{84931B68-BEBE-4F6A-A7A3-EB2B855A6B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1712549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26218CD3-8CA7-49E2-A133-F317244169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46000" y="3428810"/>
            <a:ext cx="810000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accent6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pic>
        <p:nvPicPr>
          <p:cNvPr id="57" name="图片 3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815cb1a35964d5f"/>
          <a:srcRect xmlns:a="http://schemas.openxmlformats.org/drawingml/2006/main" l="0" t="0" r="54251" b="0"/>
          <a:stretch xmlns:a="http://schemas.openxmlformats.org/drawingml/2006/main"/>
        </p:blipFill>
        <p:spPr>
          <a:xfrm xmlns:a="http://schemas.openxmlformats.org/drawingml/2006/main">
            <a:off x="332010" y="251357"/>
            <a:ext cx="1934780" cy="482598"/>
          </a:xfrm>
          <a:prstGeom xmlns:a="http://schemas.openxmlformats.org/drawingml/2006/main" prst="rect">
            <a:avLst/>
          </a:prstGeom>
        </p:spPr>
      </p:pic>
    </p:spTree>
  </p:cSld>
</p:sldLayout>
</file>

<file path=ppt/slideLayouts/slideLayout2.xml><?xml version="1.0" encoding="utf-8"?>
<p:sldLayout xmlns:p="http://schemas.openxmlformats.org/presentationml/2006/main" preserve="1" userDrawn="1">
  <p:cSld name="目录-1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0" name="矩形 9">
            <a:extLst xmlns:a="http://schemas.openxmlformats.org/drawingml/2006/main">
              <a:ext uri="{FF2B5EF4-FFF2-40B4-BE49-F238E27FC236}">
                <a16:creationId xmlns:a16="http://schemas.microsoft.com/office/drawing/2014/main" id="{CD1F02EB-A5F5-4A25-8E13-33D76C3997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1" y="2455636"/>
            <a:ext cx="2960913" cy="1438728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bg1"/>
          </a:solidFill>
          <a:ln xmlns:a="http://schemas.openxmlformats.org/drawingml/2006/main">
            <a:noFill/>
          </a:ln>
          <a:effectLst xmlns:a="http://schemas.openxmlformats.org/drawingml/2006/main">
            <a:outerShdw blurRad="50800" dist="38100" dir="2700000" algn="tl" rotWithShape="0">
              <a:prstClr val="black">
                <a:alpha val="40000"/>
              </a:prstClr>
            </a:outerShdw>
          </a:effectLst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矩形 8">
            <a:extLst xmlns:a="http://schemas.openxmlformats.org/drawingml/2006/main">
              <a:ext uri="{FF2B5EF4-FFF2-40B4-BE49-F238E27FC236}">
                <a16:creationId xmlns:a16="http://schemas.microsoft.com/office/drawing/2014/main" id="{9DBDFDE5-938B-46BA-BF04-52626678C6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rot="16200000">
            <a:off x="1736542" y="2389144"/>
            <a:ext cx="97430" cy="2960914"/>
          </a:xfrm>
          <a:prstGeom xmlns:a="http://schemas.openxmlformats.org/drawingml/2006/main" prst="rect">
            <a:avLst/>
          </a:prstGeom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矩形 21">
            <a:extLst xmlns:a="http://schemas.openxmlformats.org/drawingml/2006/main">
              <a:ext uri="{FF2B5EF4-FFF2-40B4-BE49-F238E27FC236}">
                <a16:creationId xmlns:a16="http://schemas.microsoft.com/office/drawing/2014/main" id="{DE1AFFB6-310A-466D-BAD1-F84A11C9C9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 flipV="1">
            <a:off x="3478991" y="0"/>
            <a:ext cx="90000" cy="6858000"/>
          </a:xfrm>
          <a:prstGeom xmlns:a="http://schemas.openxmlformats.org/drawingml/2006/main" prst="rect">
            <a:avLst/>
          </a:prstGeom>
          <a:solidFill xmlns:a="http://schemas.openxmlformats.org/drawingml/2006/main">
            <a:schemeClr val="accent6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preserve="1" userDrawn="1">
  <p:cSld name="1_仅标题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" name="灯片编号占位符 2">
            <a:extLst xmlns:a="http://schemas.openxmlformats.org/drawingml/2006/main">
              <a:ext uri="{FF2B5EF4-FFF2-40B4-BE49-F238E27FC236}">
                <a16:creationId xmlns:a16="http://schemas.microsoft.com/office/drawing/2014/main" id="{C1D5E491-4859-47A4-8F29-DAACA1914DBE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6C53781C-E1F6-4315-A39D-61273F2E0596}" type="slidenum">
              <a:t>‹#›</a:t>
            </a:fld>
            <a:endParaRPr/>
          </a:p>
        </p:txBody>
      </p:sp>
      <p:pic>
        <p:nvPicPr>
          <p:cNvPr id="25" name="图片 3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15f177861b234111"/>
          <a:srcRect xmlns:a="http://schemas.openxmlformats.org/drawingml/2006/main" l="0" t="0" r="1346" b="0"/>
          <a:stretch xmlns:a="http://schemas.openxmlformats.org/drawingml/2006/main"/>
        </p:blipFill>
        <p:spPr>
          <a:xfrm xmlns:a="http://schemas.openxmlformats.org/drawingml/2006/main">
            <a:off x="516" y="6041797"/>
            <a:ext cx="12166903" cy="411617"/>
          </a:xfrm>
          <a:prstGeom xmlns:a="http://schemas.openxmlformats.org/drawingml/2006/main" prst="rect">
            <a:avLst/>
          </a:prstGeom>
        </p:spPr>
      </p:pic>
      <p:sp>
        <p:nvSpPr>
          <p:cNvPr id="9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56FC8349-67FC-4E3B-B988-7A27FDAE9D24}"/>
              </a:ext>
            </a:extLst>
          </p:cNvPr>
          <p:cNvSpPr>
            <a:spLocks xmlns:a="http://schemas.openxmlformats.org/drawingml/2006/main" noGrp="1"/>
          </p:cNvSpPr>
          <p:nvPr>
            <p:ph type="body" idx="12"/>
          </p:nvPr>
        </p:nvSpPr>
        <p:spPr>
          <a:xfrm xmlns:a="http://schemas.openxmlformats.org/drawingml/2006/main">
            <a:off x="319056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85368C87-925C-44AC-B001-5C4EE6F00645}"/>
              </a:ext>
            </a:extLst>
          </p:cNvPr>
          <p:cNvSpPr>
            <a:spLocks xmlns:a="http://schemas.openxmlformats.org/drawingml/2006/main" noGrp="1"/>
          </p:cNvSpPr>
          <p:nvPr>
            <p:ph type="body" idx="13"/>
          </p:nvPr>
        </p:nvSpPr>
        <p:spPr>
          <a:xfrm xmlns:a="http://schemas.openxmlformats.org/drawingml/2006/main">
            <a:off x="4788940" y="6438900"/>
            <a:ext cx="4151344" cy="4191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2000" b="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sp>
        <p:nvSpPr>
          <p:cNvPr id="19" name="平行四边形 18">
            <a:extLst xmlns:a="http://schemas.openxmlformats.org/drawingml/2006/main">
              <a:ext uri="{FF2B5EF4-FFF2-40B4-BE49-F238E27FC236}">
                <a16:creationId xmlns:a16="http://schemas.microsoft.com/office/drawing/2014/main" id="{9AE407FD-1006-4AC4-B10B-CB7686E66A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1"/>
            <a:ext cx="12191483" cy="685800"/>
          </a:xfrm>
          <a:prstGeom xmlns:a="http://schemas.openxmlformats.org/drawingml/2006/main" prst="parallelogram">
            <a:avLst>
              <a:gd name="adj" fmla="val 43056"/>
            </a:avLst>
          </a:prstGeom>
          <a:solidFill xmlns:a="http://schemas.openxmlformats.org/drawingml/2006/main">
            <a:schemeClr val="accent1"/>
          </a:solidFill>
          <a:ln xmlns:a="http://schemas.openxmlformats.org/drawingml/2006/main">
            <a:noFill/>
          </a:ln>
        </p:spPr>
        <p:style>
          <a:lnRef xmlns:a="http://schemas.openxmlformats.org/drawingml/2006/main" idx="2">
            <a:schemeClr val="accent1">
              <a:shade val="50000"/>
            </a:schemeClr>
          </a:lnRef>
          <a:fillRef xmlns:a="http://schemas.openxmlformats.org/drawingml/2006/main" idx="1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pic>
        <p:nvPicPr>
          <p:cNvPr id="29" name="图片 19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36b27aa583de4892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319056" y="73482"/>
            <a:ext cx="538838" cy="538838"/>
          </a:xfrm>
          <a:prstGeom xmlns:a="http://schemas.openxmlformats.org/drawingml/2006/main" prst="rect">
            <a:avLst/>
          </a:prstGeom>
        </p:spPr>
      </p:pic>
      <p:sp>
        <p:nvSpPr>
          <p:cNvPr id="21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C2D49473-9331-4572-8AFC-3A905D765CF9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75351" y="43657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l">
              <a:lnSpc>
                <a:spcPct val="100000"/>
              </a:lnSpc>
              <a:buNone/>
              <a:defRPr sz="3200" b="1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preserve="1" userDrawn="1">
  <p:cSld name="封底">
    <p:bg>
      <p:bgPr>
        <a:solidFill xmlns:a="http://schemas.openxmlformats.org/drawingml/2006/main">
          <a:schemeClr val="accent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pic>
        <p:nvPicPr>
          <p:cNvPr id="23" name="图片 16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b98dd582b7524007">
            <a:duotone>
              <a:prstClr val="black"/>
              <a:schemeClr val="accent1">
                <a:tint val="45000"/>
                <a:satMod val="400000"/>
              </a:schemeClr>
            </a:duotone>
            <a:alphaModFix amt="20000"/>
          </a:blip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-50417" y="2900149"/>
            <a:ext cx="12292835" cy="3957851"/>
          </a:xfrm>
          <a:prstGeom xmlns:a="http://schemas.openxmlformats.org/drawingml/2006/main" prst="rect">
            <a:avLst/>
          </a:prstGeom>
        </p:spPr>
      </p:pic>
      <p:sp>
        <p:nvSpPr>
          <p:cNvPr id="13" name="直接连接符 12">
            <a:extLst xmlns:a="http://schemas.openxmlformats.org/drawingml/2006/main">
              <a:ext uri="{FF2B5EF4-FFF2-40B4-BE49-F238E27FC236}">
                <a16:creationId xmlns:a16="http://schemas.microsoft.com/office/drawing/2014/main" id="{0F60F5A8-3022-49D5-A1B7-18CDA62C7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0480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14" name="直接连接符 13">
            <a:extLst xmlns:a="http://schemas.openxmlformats.org/drawingml/2006/main">
              <a:ext uri="{FF2B5EF4-FFF2-40B4-BE49-F238E27FC236}">
                <a16:creationId xmlns:a16="http://schemas.microsoft.com/office/drawing/2014/main" id="{2989B7D2-D2DE-4D77-870B-585E518537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89690" y="3429000"/>
            <a:ext cx="2197510" cy="0"/>
          </a:xfrm>
          <a:prstGeom xmlns:a="http://schemas.openxmlformats.org/drawingml/2006/main" prst="line">
            <a:avLst/>
          </a:prstGeom>
          <a:ln xmlns:a="http://schemas.openxmlformats.org/drawingml/2006/main">
            <a:solidFill>
              <a:schemeClr val="bg1"/>
            </a:solidFill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>
            <a:schemeClr val="accent1"/>
          </a:effectRef>
          <a:fontRef xmlns:a="http://schemas.openxmlformats.org/drawingml/2006/main" idx="minor">
            <a:schemeClr val="tx1"/>
          </a:fontRef>
        </p:style>
      </p:sp>
      <p:sp>
        <p:nvSpPr>
          <p:cNvPr id="20" name="文本占位符 31">
            <a:extLst xmlns:a="http://schemas.openxmlformats.org/drawingml/2006/main">
              <a:ext uri="{FF2B5EF4-FFF2-40B4-BE49-F238E27FC236}">
                <a16:creationId xmlns:a16="http://schemas.microsoft.com/office/drawing/2014/main" id="{4EB0A957-E3E4-47EE-9713-82509E17FD51}"/>
              </a:ext>
            </a:extLst>
          </p:cNvPr>
          <p:cNvSpPr>
            <a:spLocks xmlns:a="http://schemas.openxmlformats.org/drawingml/2006/main" noGrp="1"/>
          </p:cNvSpPr>
          <p:nvPr>
            <p:ph type="body" idx="11"/>
          </p:nvPr>
        </p:nvSpPr>
        <p:spPr>
          <a:xfrm xmlns:a="http://schemas.openxmlformats.org/drawingml/2006/main">
            <a:off x="2555162" y="3129756"/>
            <a:ext cx="7081677" cy="598488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anchor="ctr"/>
          <a:lstStyle xmlns:a="http://schemas.openxmlformats.org/drawingml/2006/main">
            <a:lvl1pPr marL="0" indent="0" algn="ctr">
              <a:lnSpc>
                <a:spcPct val="100000"/>
              </a:lnSpc>
              <a:buNone/>
              <a:defRPr sz="6000" b="1" spc="600">
                <a:solidFill>
                  <a:schemeClr val="bg1"/>
                </a:solidFill>
              </a:defRPr>
            </a:lvl1pPr>
          </a:lstStyle>
          <a:p xmlns:a="http://schemas.openxmlformats.org/drawingml/2006/main">
            <a:pPr lvl="0">
              <a:buNone/>
            </a:pPr>
            <a:endParaRPr/>
          </a:p>
        </p:txBody>
      </p:sp>
      <p:pic>
        <p:nvPicPr>
          <p:cNvPr id="27" name="图片 6"/>
          <p:cNvPicPr>
            <a:picLocks xmlns:a="http://schemas.openxmlformats.org/drawingml/2006/main" noChangeAspect="1"/>
          </p:cNvPicPr>
          <p:nvPr/>
        </p:nvPicPr>
        <p:blipFill rotWithShape="1">
          <a:blip xmlns:r="http://schemas.openxmlformats.org/officeDocument/2006/relationships" xmlns:a="http://schemas.openxmlformats.org/drawingml/2006/main" r:embed="R69c444ca5e374668">
            <a:alphaModFix amt="20000"/>
            <a:duotone>
              <a:schemeClr val="accent4">
                <a:shade val="45000"/>
                <a:satMod val="135000"/>
              </a:schemeClr>
              <a:prstClr val="white"/>
            </a:duotone>
          </a:blip>
          <a:srcRect xmlns:a="http://schemas.openxmlformats.org/drawingml/2006/main" l="0" t="9831" r="0" b="36385"/>
          <a:stretch xmlns:a="http://schemas.openxmlformats.org/drawingml/2006/main"/>
        </p:blipFill>
        <p:spPr>
          <a:xfrm xmlns:a="http://schemas.openxmlformats.org/drawingml/2006/main">
            <a:off x="3352562" y="6146610"/>
            <a:ext cx="5486876" cy="406590"/>
          </a:xfrm>
          <a:prstGeom xmlns:a="http://schemas.openxmlformats.org/drawingml/2006/main" prst="rect">
            <a:avLst/>
          </a:prstGeom>
        </p:spPr>
      </p:pic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202eff5a5fb04b2f" /><Relationship Type="http://schemas.openxmlformats.org/officeDocument/2006/relationships/slideLayout" Target="/ppt/slideLayouts/slideLayout1.xml" Id="Rf624793f68154659" /><Relationship Type="http://schemas.openxmlformats.org/officeDocument/2006/relationships/slideLayout" Target="/ppt/slideLayouts/slideLayout2.xml" Id="Rc77601512ab644df" /><Relationship Type="http://schemas.openxmlformats.org/officeDocument/2006/relationships/slideLayout" Target="/ppt/slideLayouts/slideLayout3.xml" Id="Re08c862b630c4f39" /><Relationship Type="http://schemas.openxmlformats.org/officeDocument/2006/relationships/slideLayout" Target="/ppt/slideLayouts/slideLayout4.xml" Id="R86e21cd4c02c4989" /></Relationships>
</file>

<file path=ppt/slideMasters/slideMaster1.xml><?xml version="1.0" encoding="utf-8"?>
<p:sldMaster xmlns:p="http://schemas.openxmlformats.org/presentationml/2006/main">
  <p:cSld>
    <p:bg>
      <p:bgPr>
        <a:solidFill xmlns:a="http://schemas.openxmlformats.org/drawingml/2006/main">
          <a:schemeClr val="bg1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" name="灯片编号占位符 5">
            <a:extLst xmlns:a="http://schemas.openxmlformats.org/drawingml/2006/main">
              <a:ext uri="{FF2B5EF4-FFF2-40B4-BE49-F238E27FC236}">
                <a16:creationId xmlns:a16="http://schemas.microsoft.com/office/drawing/2014/main" id="{DF26411B-55E1-4CE5-B9CA-4734B17AE0EC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10849970" y="6515101"/>
            <a:ext cx="1037230" cy="3429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48644C6-89F0-466C-949F-E70AD72679A8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f624793f68154659"/>
    <p:sldLayoutId xmlns:r="http://schemas.openxmlformats.org/officeDocument/2006/relationships" id="2147483650" r:id="Rc77601512ab644df"/>
    <p:sldLayoutId xmlns:r="http://schemas.openxmlformats.org/officeDocument/2006/relationships" id="2147483651" r:id="Re08c862b630c4f39"/>
    <p:sldLayoutId xmlns:r="http://schemas.openxmlformats.org/officeDocument/2006/relationships" id="2147483652" r:id="R86e21cd4c02c4989"/>
  </p:sldLayoutIdLst>
  <p:hf hdr="0" ftr="0" dt="0"/>
  <p:txStyles>
    <p:titleStyle>
      <a:lvl1pPr xmlns:a="http://schemas.openxmlformats.org/drawingml/2006/main"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  <p:extLst>
    <p:ext uri="{27BBF7A9-308A-43DC-89C8-2F10F3537804}">
      <p15:sldGuideLst xmlns:p15="http://schemas.microsoft.com/office/powerpoint/2012/main">
        <p15:guide id="1" pos="192">
          <p15:clr>
            <a:srgbClr xmlns:a="http://schemas.openxmlformats.org/drawingml/2006/main" val="F26B43"/>
          </p15:clr>
        </p15:guide>
        <p15:guide id="2" pos="7488">
          <p15:clr>
            <a:srgbClr xmlns:a="http://schemas.openxmlformats.org/drawingml/2006/main" val="F26B43"/>
          </p15:clr>
        </p15:guide>
        <p15:guide id="3" orient="horz" pos="432">
          <p15:clr>
            <a:srgbClr xmlns:a="http://schemas.openxmlformats.org/drawingml/2006/main" val="F26B43"/>
          </p15:clr>
        </p15:guide>
        <p15:guide id="4" orient="horz" pos="472">
          <p15:clr>
            <a:srgbClr xmlns:a="http://schemas.openxmlformats.org/drawingml/2006/main" val="F26B43"/>
          </p15:clr>
        </p15:guide>
        <p15:guide id="5" orient="horz" pos="4104">
          <p15:clr>
            <a:srgbClr xmlns:a="http://schemas.openxmlformats.org/drawingml/2006/main" val="F26B43"/>
          </p15:clr>
        </p15:guide>
        <p15:guide id="6" orient="horz" pos="4056">
          <p15:clr>
            <a:srgbClr xmlns:a="http://schemas.openxmlformats.org/drawingml/2006/main" val="F26B43"/>
          </p15:clr>
        </p15:guide>
      </p15:sldGuideLst>
    </p:ext>
  </p:extLst>
</p:sldMaster>
</file>

<file path=ppt/slideMasters/theme/theme2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f32cf1fa3034d30" /><Relationship Type="http://schemas.openxmlformats.org/officeDocument/2006/relationships/notesSlide" Target="/ppt/notesSlides/notesSlide1.xml" Id="Rcab7f6d58ec74a0b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646b1f20c3449ad" /><Relationship Type="http://schemas.openxmlformats.org/officeDocument/2006/relationships/notesSlide" Target="/ppt/notesSlides/notesSlide2.xml" Id="Rd89846c2383c4e0f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34fbcd90f8d44064" /><Relationship Type="http://schemas.openxmlformats.org/officeDocument/2006/relationships/notesSlide" Target="/ppt/notesSlides/notesSlide3.xml" Id="R1294f98ada344002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68f0520ff874b66" /><Relationship Type="http://schemas.openxmlformats.org/officeDocument/2006/relationships/notesSlide" Target="/ppt/notesSlides/notesSlide4.xml" Id="R98c15d2099254e54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44f4d5a43d44807" /><Relationship Type="http://schemas.openxmlformats.org/officeDocument/2006/relationships/notesSlide" Target="/ppt/notesSlides/notesSlide5.xml" Id="R66fc00b6f9184213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1b38d5b9fdb044fd" /><Relationship Type="http://schemas.openxmlformats.org/officeDocument/2006/relationships/notesSlide" Target="/ppt/notesSlides/notesSlide6.xml" Id="Re631f9e3c84a46ca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e5421b95af14b3b" /><Relationship Type="http://schemas.openxmlformats.org/officeDocument/2006/relationships/notesSlide" Target="/ppt/notesSlides/notesSlide7.xml" Id="R3d1458e1ac004041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33784afff254464" /><Relationship Type="http://schemas.openxmlformats.org/officeDocument/2006/relationships/notesSlide" Target="/ppt/notesSlides/notesSlide8.xml" Id="R746fba13265f4ea3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d0d67a1bb1484d4d" /><Relationship Type="http://schemas.openxmlformats.org/officeDocument/2006/relationships/notesSlide" Target="/ppt/notesSlides/notesSlide9.xml" Id="Radc4caeacc6648e1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60ac020b38804d81" /><Relationship Type="http://schemas.openxmlformats.org/officeDocument/2006/relationships/notesSlide" Target="/ppt/notesSlides/notesSlide10.xml" Id="Rc169505777c1476d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5743ae5043e4ad9" /><Relationship Type="http://schemas.openxmlformats.org/officeDocument/2006/relationships/notesSlide" Target="/ppt/notesSlides/notesSlide11.xml" Id="R2eae48d64db54eb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d3e6d6c006e4203" /><Relationship Type="http://schemas.openxmlformats.org/officeDocument/2006/relationships/notesSlide" Target="/ppt/notesSlides/notesSlide12.xml" Id="Re7e1828f0d524b66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a974c7e783f54df8" /><Relationship Type="http://schemas.openxmlformats.org/officeDocument/2006/relationships/notesSlide" Target="/ppt/notesSlides/notesSlide13.xml" Id="R192125df26804f5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e14079267aa34086" /><Relationship Type="http://schemas.openxmlformats.org/officeDocument/2006/relationships/image" Target="/ppt/media/image6.png" Id="R176f0edba29a4bec" /><Relationship Type="http://schemas.openxmlformats.org/officeDocument/2006/relationships/notesSlide" Target="/ppt/notesSlides/notesSlide14.xml" Id="R8b8c82e38511488d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570639fc16aa41f9" /><Relationship Type="http://schemas.openxmlformats.org/officeDocument/2006/relationships/notesSlide" Target="/ppt/notesSlides/notesSlide15.xml" Id="Rc8ac85ea1a35408e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ef5fd3f2694b6b" /><Relationship Type="http://schemas.openxmlformats.org/officeDocument/2006/relationships/notesSlide" Target="/ppt/notesSlides/notesSlide16.xml" Id="Rd1dd4dacdd6945ff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bf3c8b188b04835" /><Relationship Type="http://schemas.openxmlformats.org/officeDocument/2006/relationships/notesSlide" Target="/ppt/notesSlides/notesSlide17.xml" Id="Rbc60cdad344244ab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cd4a2ca1029044dd" /><Relationship Type="http://schemas.openxmlformats.org/officeDocument/2006/relationships/notesSlide" Target="/ppt/notesSlides/notesSlide18.xml" Id="R25cd2366de544e47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43647764f02e4207" /><Relationship Type="http://schemas.openxmlformats.org/officeDocument/2006/relationships/notesSlide" Target="/ppt/notesSlides/notesSlide19.xml" Id="R2c8b336bfcb84f1e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7fb9e95206164d72" /><Relationship Type="http://schemas.openxmlformats.org/officeDocument/2006/relationships/notesSlide" Target="/ppt/notesSlides/notesSlide20.xml" Id="Re7e1ac6bdd3144bd" /></Relationships>
</file>

<file path=ppt/slides/_rels/slide21.xml.rels>&#65279;<?xml version="1.0" encoding="utf-8"?><Relationships xmlns="http://schemas.openxmlformats.org/package/2006/relationships"><Relationship Type="http://schemas.openxmlformats.org/officeDocument/2006/relationships/slideLayout" Target="/ppt/slideLayouts/slideLayout3.xml" Id="R01b5d9748f6e4843" /><Relationship Type="http://schemas.openxmlformats.org/officeDocument/2006/relationships/notesSlide" Target="/ppt/notesSlides/notesSlide21.xml" Id="R1940b983cdcb4e4c" /></Relationships>
</file>

<file path=ppt/slides/slide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矩形 11">
            <a:extLst xmlns:a="http://schemas.openxmlformats.org/drawingml/2006/main">
              <a:ext uri="{FF2B5EF4-FFF2-40B4-BE49-F238E27FC236}">
                <a16:creationId xmlns:a16="http://schemas.microsoft.com/office/drawing/2014/main" id="{27DE90CC-93E2-C662-C202-C5C6993D76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790700"/>
            <a:ext cx="9906000" cy="16478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50000"/>
              </a:lnSpc>
              <a:buNone/>
            </a:pPr>
            <a:r>
              <a:rPr sz="32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第3讲 文献检索与证据角色</a:t>
            </a:r>
            <a:endParaRPr sz="4000" b="1" kern="0" spc="20">
              <a:solidFill>
                <a:srgbClr val="C00000"/>
              </a:solidFill>
              <a:latin typeface="Arial"/>
              <a:ea typeface="Arial"/>
              <a:cs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3450045397"/>
      </p:ext>
    </p:extLst>
  </p:cSld>
</p:sld>
</file>

<file path=ppt/slides/slide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 2 课之后，研究材料为何仍不可信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2598689-54C9-18A7-3A19-ED76AA08988F}" type="slidenum">
              <a:t>2</a:t>
            </a:fld>
            <a:endParaRPr/>
          </a:p>
        </p:txBody>
      </p:sp>
      <p:sp>
        <p:nvSpPr>
          <p:cNvPr id="6" name="visual-2-0-p02-left-title">
            <a:extLst xmlns:a="http://schemas.openxmlformats.org/drawingml/2006/main">
              <a:ext uri="{FF2B5EF4-FFF2-40B4-BE49-F238E27FC236}">
                <a16:creationId xmlns:a16="http://schemas.microsoft.com/office/drawing/2014/main" id="{DF3EE9A4-B6EA-40C3-A48E-1E99CE08AC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0668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动作可审计</a:t>
            </a:r>
          </a:p>
        </p:txBody>
      </p:sp>
      <p:sp>
        <p:nvSpPr>
          <p:cNvPr id="7" name="visual-2-1-p02-l-0">
            <a:extLst xmlns:a="http://schemas.openxmlformats.org/drawingml/2006/main">
              <a:ext uri="{FF2B5EF4-FFF2-40B4-BE49-F238E27FC236}">
                <a16:creationId xmlns:a16="http://schemas.microsoft.com/office/drawing/2014/main" id="{DF43B53E-41F3-41F2-9A2C-112D61FA7F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18097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权限矩阵</a:t>
            </a:r>
          </a:p>
        </p:txBody>
      </p:sp>
      <p:sp>
        <p:nvSpPr>
          <p:cNvPr id="8" name="visual-2-2-p02-l-1">
            <a:extLst xmlns:a="http://schemas.openxmlformats.org/drawingml/2006/main">
              <a:ext uri="{FF2B5EF4-FFF2-40B4-BE49-F238E27FC236}">
                <a16:creationId xmlns:a16="http://schemas.microsoft.com/office/drawing/2014/main" id="{54E11FD7-6947-444E-98EF-13132B9C10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7241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AI 使用记录</a:t>
            </a:r>
          </a:p>
        </p:txBody>
      </p:sp>
      <p:sp>
        <p:nvSpPr>
          <p:cNvPr id="9" name="visual-2-3-p02-l-2">
            <a:extLst xmlns:a="http://schemas.openxmlformats.org/drawingml/2006/main">
              <a:ext uri="{FF2B5EF4-FFF2-40B4-BE49-F238E27FC236}">
                <a16:creationId xmlns:a16="http://schemas.microsoft.com/office/drawing/2014/main" id="{3F5A7A84-9AA7-4E21-90BD-F6A65400B5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6385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✓  伦理清单</a:t>
            </a:r>
          </a:p>
        </p:txBody>
      </p:sp>
      <p:sp>
        <p:nvSpPr>
          <p:cNvPr id="10" name="visual-2-4-p02-gap-label">
            <a:extLst xmlns:a="http://schemas.openxmlformats.org/drawingml/2006/main">
              <a:ext uri="{FF2B5EF4-FFF2-40B4-BE49-F238E27FC236}">
                <a16:creationId xmlns:a16="http://schemas.microsoft.com/office/drawing/2014/main" id="{D2549503-6C7B-44D5-8470-B08AFA33F9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238750" y="2590800"/>
            <a:ext cx="1714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仍未回答</a:t>
            </a:r>
          </a:p>
        </p:txBody>
      </p:sp>
      <p:sp>
        <p:nvSpPr>
          <p:cNvPr id="11" name="visual-2-5-p02-right-title">
            <a:extLst xmlns:a="http://schemas.openxmlformats.org/drawingml/2006/main">
              <a:ext uri="{FF2B5EF4-FFF2-40B4-BE49-F238E27FC236}">
                <a16:creationId xmlns:a16="http://schemas.microsoft.com/office/drawing/2014/main" id="{720B0E46-3006-40B7-96AB-38EE2BCAD6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1066800"/>
            <a:ext cx="4095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材料可信吗</a:t>
            </a:r>
          </a:p>
        </p:txBody>
      </p:sp>
      <p:sp>
        <p:nvSpPr>
          <p:cNvPr id="12" name="visual-2-6-p02-r-0">
            <a:extLst xmlns:a="http://schemas.openxmlformats.org/drawingml/2006/main">
              <a:ext uri="{FF2B5EF4-FFF2-40B4-BE49-F238E27FC236}">
                <a16:creationId xmlns:a16="http://schemas.microsoft.com/office/drawing/2014/main" id="{FBF624F1-7335-44C6-9062-3447FD06C6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18097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论文真实存在？</a:t>
            </a:r>
          </a:p>
        </p:txBody>
      </p:sp>
      <p:sp>
        <p:nvSpPr>
          <p:cNvPr id="13" name="visual-2-7-p02-r-1">
            <a:extLst xmlns:a="http://schemas.openxmlformats.org/drawingml/2006/main">
              <a:ext uri="{FF2B5EF4-FFF2-40B4-BE49-F238E27FC236}">
                <a16:creationId xmlns:a16="http://schemas.microsoft.com/office/drawing/2014/main" id="{76C78A8D-1BA9-4AD2-9609-518338FBBE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27241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?  题名 / 作者 / DOI 一致？</a:t>
            </a:r>
          </a:p>
        </p:txBody>
      </p:sp>
      <p:sp>
        <p:nvSpPr>
          <p:cNvPr id="14" name="visual-2-8-p02-r-2">
            <a:extLst xmlns:a="http://schemas.openxmlformats.org/drawingml/2006/main">
              <a:ext uri="{FF2B5EF4-FFF2-40B4-BE49-F238E27FC236}">
                <a16:creationId xmlns:a16="http://schemas.microsoft.com/office/drawing/2014/main" id="{68BC8DBF-577B-4ED3-8DD1-F8CE0A38EB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0" y="3638550"/>
            <a:ext cx="38862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?  任务和限定条件是什么？</a:t>
            </a:r>
          </a:p>
        </p:txBody>
      </p:sp>
      <p:sp>
        <p:nvSpPr>
          <p:cNvPr id="15" name="visual-2-9-p02-bottom">
            <a:extLst xmlns:a="http://schemas.openxmlformats.org/drawingml/2006/main">
              <a:ext uri="{FF2B5EF4-FFF2-40B4-BE49-F238E27FC236}">
                <a16:creationId xmlns:a16="http://schemas.microsoft.com/office/drawing/2014/main" id="{5E871397-98EE-49BF-8CCE-8655FA7F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4972050"/>
            <a:ext cx="857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权限和披露说明 AI 做过什么；来源核验决定材料能不能信。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本课目标与课堂产出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02359C0-8A7A-196E-DD58-8E6569619F09}" type="slidenum">
              <a:t>3</a:t>
            </a:fld>
            <a:endParaRPr/>
          </a:p>
        </p:txBody>
      </p:sp>
      <p:sp>
        <p:nvSpPr>
          <p:cNvPr id="6" name="visual-3-0-p03-n-0">
            <a:extLst xmlns:a="http://schemas.openxmlformats.org/drawingml/2006/main">
              <a:ext uri="{FF2B5EF4-FFF2-40B4-BE49-F238E27FC236}">
                <a16:creationId xmlns:a16="http://schemas.microsoft.com/office/drawing/2014/main" id="{D4B045C1-1BE3-48F4-A207-585B86319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11811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7" name="visual-3-1-p03-g-0">
            <a:extLst xmlns:a="http://schemas.openxmlformats.org/drawingml/2006/main">
              <a:ext uri="{FF2B5EF4-FFF2-40B4-BE49-F238E27FC236}">
                <a16:creationId xmlns:a16="http://schemas.microsoft.com/office/drawing/2014/main" id="{6142CA10-0DC7-4216-9BCE-72BDB71F4A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11811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生成关键词、检索式和筛选条件</a:t>
            </a:r>
          </a:p>
        </p:txBody>
      </p:sp>
      <p:sp>
        <p:nvSpPr>
          <p:cNvPr id="8" name="visual-3-2-p03-n-1">
            <a:extLst xmlns:a="http://schemas.openxmlformats.org/drawingml/2006/main">
              <a:ext uri="{FF2B5EF4-FFF2-40B4-BE49-F238E27FC236}">
                <a16:creationId xmlns:a16="http://schemas.microsoft.com/office/drawing/2014/main" id="{D104C2DB-9206-4F44-A344-36C819B38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0574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9" name="visual-3-3-p03-g-1">
            <a:extLst xmlns:a="http://schemas.openxmlformats.org/drawingml/2006/main">
              <a:ext uri="{FF2B5EF4-FFF2-40B4-BE49-F238E27FC236}">
                <a16:creationId xmlns:a16="http://schemas.microsoft.com/office/drawing/2014/main" id="{EBD70C55-0391-4417-9AE9-5FF3ADDD0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0574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区分四种证据角色</a:t>
            </a:r>
          </a:p>
        </p:txBody>
      </p:sp>
      <p:sp>
        <p:nvSpPr>
          <p:cNvPr id="10" name="visual-3-4-p03-n-2">
            <a:extLst xmlns:a="http://schemas.openxmlformats.org/drawingml/2006/main">
              <a:ext uri="{FF2B5EF4-FFF2-40B4-BE49-F238E27FC236}">
                <a16:creationId xmlns:a16="http://schemas.microsoft.com/office/drawing/2014/main" id="{C03A8056-29FE-4FED-BC8F-8497FC95A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9337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1" name="visual-3-5-p03-g-2">
            <a:extLst xmlns:a="http://schemas.openxmlformats.org/drawingml/2006/main">
              <a:ext uri="{FF2B5EF4-FFF2-40B4-BE49-F238E27FC236}">
                <a16:creationId xmlns:a16="http://schemas.microsoft.com/office/drawing/2014/main" id="{547EB78C-9E36-4861-AE22-F8667CE149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29337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执行回原文核验</a:t>
            </a:r>
          </a:p>
        </p:txBody>
      </p:sp>
      <p:sp>
        <p:nvSpPr>
          <p:cNvPr id="12" name="visual-3-6-p03-n-3">
            <a:extLst xmlns:a="http://schemas.openxmlformats.org/drawingml/2006/main">
              <a:ext uri="{FF2B5EF4-FFF2-40B4-BE49-F238E27FC236}">
                <a16:creationId xmlns:a16="http://schemas.microsoft.com/office/drawing/2014/main" id="{BE88EF37-8168-4632-BFA0-CC2390B0B3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6477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3" name="visual-3-7-p03-g-3">
            <a:extLst xmlns:a="http://schemas.openxmlformats.org/drawingml/2006/main">
              <a:ext uri="{FF2B5EF4-FFF2-40B4-BE49-F238E27FC236}">
                <a16:creationId xmlns:a16="http://schemas.microsoft.com/office/drawing/2014/main" id="{C2B38C16-FDD4-49B7-976B-FC1B06CE73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581150" y="3810000"/>
            <a:ext cx="56197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建立候选文献表第一版</a:t>
            </a:r>
          </a:p>
        </p:txBody>
      </p:sp>
      <p:sp>
        <p:nvSpPr>
          <p:cNvPr id="14" name="visual-3-8-p03-output">
            <a:extLst xmlns:a="http://schemas.openxmlformats.org/drawingml/2006/main">
              <a:ext uri="{FF2B5EF4-FFF2-40B4-BE49-F238E27FC236}">
                <a16:creationId xmlns:a16="http://schemas.microsoft.com/office/drawing/2014/main" id="{344283B9-EADA-4851-B6D5-8C8A5921FA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62900" y="1200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课堂产出</a:t>
            </a:r>
          </a:p>
        </p:txBody>
      </p:sp>
      <p:sp>
        <p:nvSpPr>
          <p:cNvPr id="15" name="visual-3-9-p03-output-body">
            <a:extLst xmlns:a="http://schemas.openxmlformats.org/drawingml/2006/main">
              <a:ext uri="{FF2B5EF4-FFF2-40B4-BE49-F238E27FC236}">
                <a16:creationId xmlns:a16="http://schemas.microsoft.com/office/drawing/2014/main" id="{5327467E-DA70-4A3C-9601-4DB21FAB90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1790700"/>
            <a:ext cx="3333750" cy="2857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条检索记录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 条来源审计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条 verified / caveat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+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 条 AI 使用记录</a:t>
            </a:r>
          </a:p>
        </p:txBody>
      </p:sp>
      <p:sp>
        <p:nvSpPr>
          <p:cNvPr id="16" name="visual-3-10-p03-bottom">
            <a:extLst xmlns:a="http://schemas.openxmlformats.org/drawingml/2006/main">
              <a:ext uri="{FF2B5EF4-FFF2-40B4-BE49-F238E27FC236}">
                <a16:creationId xmlns:a16="http://schemas.microsoft.com/office/drawing/2014/main" id="{936D0EF6-191E-473F-87A5-981713094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62250" y="50292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本课不正式提交，第 6 课问题门统一检查。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搜得多不等于证据充分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FD6AB9A-5F9E-5F59-51AB-3C8734130965}" type="slidenum">
              <a:t>4</a:t>
            </a:fld>
            <a:endParaRPr/>
          </a:p>
        </p:txBody>
      </p:sp>
      <p:sp>
        <p:nvSpPr>
          <p:cNvPr id="6" name="visual-4-0-p04-bad">
            <a:extLst xmlns:a="http://schemas.openxmlformats.org/drawingml/2006/main">
              <a:ext uri="{FF2B5EF4-FFF2-40B4-BE49-F238E27FC236}">
                <a16:creationId xmlns:a16="http://schemas.microsoft.com/office/drawing/2014/main" id="{FBC8D9B5-DFC7-4CA2-8404-43279D90FA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85900"/>
            <a:ext cx="4286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50 篇论文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全部标成“主证据”</a:t>
            </a:r>
          </a:p>
        </p:txBody>
      </p:sp>
      <p:sp>
        <p:nvSpPr>
          <p:cNvPr id="7" name="visual-4-1-p04-x">
            <a:extLst xmlns:a="http://schemas.openxmlformats.org/drawingml/2006/main">
              <a:ext uri="{FF2B5EF4-FFF2-40B4-BE49-F238E27FC236}">
                <a16:creationId xmlns:a16="http://schemas.microsoft.com/office/drawing/2014/main" id="{E82EB9C2-AFFB-4E72-8832-55A12DC7E4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91150" y="2114550"/>
            <a:ext cx="14097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≠</a:t>
            </a:r>
          </a:p>
        </p:txBody>
      </p:sp>
      <p:sp>
        <p:nvSpPr>
          <p:cNvPr id="8" name="visual-4-2-p04-good">
            <a:extLst xmlns:a="http://schemas.openxmlformats.org/drawingml/2006/main">
              <a:ext uri="{FF2B5EF4-FFF2-40B4-BE49-F238E27FC236}">
                <a16:creationId xmlns:a16="http://schemas.microsoft.com/office/drawing/2014/main" id="{5377B312-F0BB-45BD-89BF-13D71868BD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1485900"/>
            <a:ext cx="428625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证据充分</a:t>
            </a:r>
          </a:p>
        </p:txBody>
      </p:sp>
      <p:sp>
        <p:nvSpPr>
          <p:cNvPr id="9" name="visual-4-3-p04-errors">
            <a:extLst xmlns:a="http://schemas.openxmlformats.org/drawingml/2006/main">
              <a:ext uri="{FF2B5EF4-FFF2-40B4-BE49-F238E27FC236}">
                <a16:creationId xmlns:a16="http://schemas.microsoft.com/office/drawing/2014/main" id="{476617AB-B1C7-4232-9556-F90B143A74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905250"/>
            <a:ext cx="9334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直接复制 AI 引文　｜　悄悄排除反例　｜　不记录检索式</a:t>
            </a:r>
          </a:p>
        </p:txBody>
      </p:sp>
      <p:sp>
        <p:nvSpPr>
          <p:cNvPr id="10" name="visual-4-4-p04-bottom">
            <a:extLst xmlns:a="http://schemas.openxmlformats.org/drawingml/2006/main">
              <a:ext uri="{FF2B5EF4-FFF2-40B4-BE49-F238E27FC236}">
                <a16:creationId xmlns:a16="http://schemas.microsoft.com/office/drawing/2014/main" id="{690B0025-3694-41B3-A97B-FF59C6D686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010150"/>
            <a:ext cx="72390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充分性来自角色清晰与实质独立，不来自数量。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外部输入不止论文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E5B3003-2C54-13C6-9832-7637201064DE}" type="slidenum">
              <a:t>5</a:t>
            </a:fld>
            <a:endParaRPr/>
          </a:p>
        </p:txBody>
      </p:sp>
      <p:sp>
        <p:nvSpPr>
          <p:cNvPr id="6" name="visual-5-0-p05-h-0">
            <a:extLst xmlns:a="http://schemas.openxmlformats.org/drawingml/2006/main">
              <a:ext uri="{FF2B5EF4-FFF2-40B4-BE49-F238E27FC236}">
                <a16:creationId xmlns:a16="http://schemas.microsoft.com/office/drawing/2014/main" id="{1EF95297-F056-4DB5-BDE3-DF0A746054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009650"/>
            <a:ext cx="3143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类型</a:t>
            </a:r>
          </a:p>
        </p:txBody>
      </p:sp>
      <p:sp>
        <p:nvSpPr>
          <p:cNvPr id="7" name="visual-5-1-p05-h-1">
            <a:extLst xmlns:a="http://schemas.openxmlformats.org/drawingml/2006/main">
              <a:ext uri="{FF2B5EF4-FFF2-40B4-BE49-F238E27FC236}">
                <a16:creationId xmlns:a16="http://schemas.microsoft.com/office/drawing/2014/main" id="{75D7B6DE-6D0B-43FA-A224-4AC0931514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009650"/>
            <a:ext cx="4000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例子</a:t>
            </a:r>
          </a:p>
        </p:txBody>
      </p:sp>
      <p:sp>
        <p:nvSpPr>
          <p:cNvPr id="8" name="visual-5-2-p05-h-2">
            <a:extLst xmlns:a="http://schemas.openxmlformats.org/drawingml/2006/main">
              <a:ext uri="{FF2B5EF4-FFF2-40B4-BE49-F238E27FC236}">
                <a16:creationId xmlns:a16="http://schemas.microsoft.com/office/drawing/2014/main" id="{0730CD37-1DFA-4C5B-8E03-9FA5804C14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009650"/>
            <a:ext cx="4286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用途／核验重点</a:t>
            </a:r>
          </a:p>
        </p:txBody>
      </p:sp>
      <p:sp>
        <p:nvSpPr>
          <p:cNvPr id="9" name="visual-5-3-p05-r0-0">
            <a:extLst xmlns:a="http://schemas.openxmlformats.org/drawingml/2006/main">
              <a:ext uri="{FF2B5EF4-FFF2-40B4-BE49-F238E27FC236}">
                <a16:creationId xmlns:a16="http://schemas.microsoft.com/office/drawing/2014/main" id="{15853241-AB26-45E4-B149-EF05BC236C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14859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同行评议论文</a:t>
            </a:r>
          </a:p>
        </p:txBody>
      </p:sp>
      <p:sp>
        <p:nvSpPr>
          <p:cNvPr id="10" name="visual-5-4-p05-r0-1">
            <a:extLst xmlns:a="http://schemas.openxmlformats.org/drawingml/2006/main">
              <a:ext uri="{FF2B5EF4-FFF2-40B4-BE49-F238E27FC236}">
                <a16:creationId xmlns:a16="http://schemas.microsoft.com/office/drawing/2014/main" id="{610B9FBD-5F0D-4E66-B9C7-0CB1F58394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14859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期刊、会议</a:t>
            </a:r>
          </a:p>
        </p:txBody>
      </p:sp>
      <p:sp>
        <p:nvSpPr>
          <p:cNvPr id="11" name="visual-5-5-p05-r0-2">
            <a:extLst xmlns:a="http://schemas.openxmlformats.org/drawingml/2006/main">
              <a:ext uri="{FF2B5EF4-FFF2-40B4-BE49-F238E27FC236}">
                <a16:creationId xmlns:a16="http://schemas.microsoft.com/office/drawing/2014/main" id="{44ADD562-CE96-4D62-AC3B-05F5C51456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14859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任务、设置、主张、限定</a:t>
            </a:r>
          </a:p>
        </p:txBody>
      </p:sp>
      <p:sp>
        <p:nvSpPr>
          <p:cNvPr id="12" name="visual-5-6-p05-r1-0">
            <a:extLst xmlns:a="http://schemas.openxmlformats.org/drawingml/2006/main">
              <a:ext uri="{FF2B5EF4-FFF2-40B4-BE49-F238E27FC236}">
                <a16:creationId xmlns:a16="http://schemas.microsoft.com/office/drawing/2014/main" id="{9C532338-AFEF-4E9E-B791-5155A296ED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0383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经典书籍选章</a:t>
            </a:r>
          </a:p>
        </p:txBody>
      </p:sp>
      <p:sp>
        <p:nvSpPr>
          <p:cNvPr id="13" name="visual-5-7-p05-r1-1">
            <a:extLst xmlns:a="http://schemas.openxmlformats.org/drawingml/2006/main">
              <a:ext uri="{FF2B5EF4-FFF2-40B4-BE49-F238E27FC236}">
                <a16:creationId xmlns:a16="http://schemas.microsoft.com/office/drawing/2014/main" id="{3D8870ED-EE29-4A6A-AC86-799C569D5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0383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方法论、统计</a:t>
            </a:r>
          </a:p>
        </p:txBody>
      </p:sp>
      <p:sp>
        <p:nvSpPr>
          <p:cNvPr id="14" name="visual-5-8-p05-r1-2">
            <a:extLst xmlns:a="http://schemas.openxmlformats.org/drawingml/2006/main">
              <a:ext uri="{FF2B5EF4-FFF2-40B4-BE49-F238E27FC236}">
                <a16:creationId xmlns:a16="http://schemas.microsoft.com/office/drawing/2014/main" id="{E35354B3-65EC-4D03-BAFF-03D86A7281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0383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版本、章节、适用范围</a:t>
            </a:r>
          </a:p>
        </p:txBody>
      </p:sp>
      <p:sp>
        <p:nvSpPr>
          <p:cNvPr id="15" name="visual-5-9-p05-r2-0">
            <a:extLst xmlns:a="http://schemas.openxmlformats.org/drawingml/2006/main">
              <a:ext uri="{FF2B5EF4-FFF2-40B4-BE49-F238E27FC236}">
                <a16:creationId xmlns:a16="http://schemas.microsoft.com/office/drawing/2014/main" id="{E4A3F187-EC32-4EFE-A485-B6A2295B8E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25908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正式规范</a:t>
            </a:r>
          </a:p>
        </p:txBody>
      </p:sp>
      <p:sp>
        <p:nvSpPr>
          <p:cNvPr id="16" name="visual-5-10-p05-r2-1">
            <a:extLst xmlns:a="http://schemas.openxmlformats.org/drawingml/2006/main">
              <a:ext uri="{FF2B5EF4-FFF2-40B4-BE49-F238E27FC236}">
                <a16:creationId xmlns:a16="http://schemas.microsoft.com/office/drawing/2014/main" id="{BD51682A-A783-416D-B7AB-8E8A97D8A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25908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PRISMA、ACM Badging</a:t>
            </a:r>
          </a:p>
        </p:txBody>
      </p:sp>
      <p:sp>
        <p:nvSpPr>
          <p:cNvPr id="17" name="visual-5-11-p05-r2-2">
            <a:extLst xmlns:a="http://schemas.openxmlformats.org/drawingml/2006/main">
              <a:ext uri="{FF2B5EF4-FFF2-40B4-BE49-F238E27FC236}">
                <a16:creationId xmlns:a16="http://schemas.microsoft.com/office/drawing/2014/main" id="{9BD49B77-4E51-49AA-BCA2-5BCA82BB18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25908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发布机构、版本、对象</a:t>
            </a:r>
          </a:p>
        </p:txBody>
      </p:sp>
      <p:sp>
        <p:nvSpPr>
          <p:cNvPr id="18" name="visual-5-12-p05-r3-0">
            <a:extLst xmlns:a="http://schemas.openxmlformats.org/drawingml/2006/main">
              <a:ext uri="{FF2B5EF4-FFF2-40B4-BE49-F238E27FC236}">
                <a16:creationId xmlns:a16="http://schemas.microsoft.com/office/drawing/2014/main" id="{31CE9BF5-AB38-403E-B626-F599036496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1432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代码与数据集</a:t>
            </a:r>
          </a:p>
        </p:txBody>
      </p:sp>
      <p:sp>
        <p:nvSpPr>
          <p:cNvPr id="19" name="visual-5-13-p05-r3-1">
            <a:extLst xmlns:a="http://schemas.openxmlformats.org/drawingml/2006/main">
              <a:ext uri="{FF2B5EF4-FFF2-40B4-BE49-F238E27FC236}">
                <a16:creationId xmlns:a16="http://schemas.microsoft.com/office/drawing/2014/main" id="{5F757B97-B923-4896-9AA8-57DD6E4CA1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1432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GitHub、数据卡片</a:t>
            </a:r>
          </a:p>
        </p:txBody>
      </p:sp>
      <p:sp>
        <p:nvSpPr>
          <p:cNvPr id="20" name="visual-5-14-p05-r3-2">
            <a:extLst xmlns:a="http://schemas.openxmlformats.org/drawingml/2006/main">
              <a:ext uri="{FF2B5EF4-FFF2-40B4-BE49-F238E27FC236}">
                <a16:creationId xmlns:a16="http://schemas.microsoft.com/office/drawing/2014/main" id="{5452DA71-D561-476E-9348-63375FB10F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1432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身份、commit、许可、版本</a:t>
            </a:r>
          </a:p>
        </p:txBody>
      </p:sp>
      <p:sp>
        <p:nvSpPr>
          <p:cNvPr id="21" name="visual-5-15-p05-r4-0">
            <a:extLst xmlns:a="http://schemas.openxmlformats.org/drawingml/2006/main">
              <a:ext uri="{FF2B5EF4-FFF2-40B4-BE49-F238E27FC236}">
                <a16:creationId xmlns:a16="http://schemas.microsoft.com/office/drawing/2014/main" id="{51B7FE9D-C584-4C4F-A2A2-06654834D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36957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官方文档</a:t>
            </a:r>
          </a:p>
        </p:txBody>
      </p:sp>
      <p:sp>
        <p:nvSpPr>
          <p:cNvPr id="22" name="visual-5-16-p05-r4-1">
            <a:extLst xmlns:a="http://schemas.openxmlformats.org/drawingml/2006/main">
              <a:ext uri="{FF2B5EF4-FFF2-40B4-BE49-F238E27FC236}">
                <a16:creationId xmlns:a16="http://schemas.microsoft.com/office/drawing/2014/main" id="{E8B3B247-03E5-4638-9B2B-D0D0C870B1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36957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协议、API</a:t>
            </a:r>
          </a:p>
        </p:txBody>
      </p:sp>
      <p:sp>
        <p:nvSpPr>
          <p:cNvPr id="23" name="visual-5-17-p05-r4-2">
            <a:extLst xmlns:a="http://schemas.openxmlformats.org/drawingml/2006/main">
              <a:ext uri="{FF2B5EF4-FFF2-40B4-BE49-F238E27FC236}">
                <a16:creationId xmlns:a16="http://schemas.microsoft.com/office/drawing/2014/main" id="{0E438CF9-9E6B-4551-B280-9F05014190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36957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官方身份、版本、时效</a:t>
            </a:r>
          </a:p>
        </p:txBody>
      </p:sp>
      <p:sp>
        <p:nvSpPr>
          <p:cNvPr id="24" name="visual-5-18-p05-r5-0">
            <a:extLst xmlns:a="http://schemas.openxmlformats.org/drawingml/2006/main">
              <a:ext uri="{FF2B5EF4-FFF2-40B4-BE49-F238E27FC236}">
                <a16:creationId xmlns:a16="http://schemas.microsoft.com/office/drawing/2014/main" id="{5441C805-24BE-4020-B9BE-498913DEDB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24815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工程文章、issue</a:t>
            </a:r>
          </a:p>
        </p:txBody>
      </p:sp>
      <p:sp>
        <p:nvSpPr>
          <p:cNvPr id="25" name="visual-5-19-p05-r5-1">
            <a:extLst xmlns:a="http://schemas.openxmlformats.org/drawingml/2006/main">
              <a:ext uri="{FF2B5EF4-FFF2-40B4-BE49-F238E27FC236}">
                <a16:creationId xmlns:a16="http://schemas.microsoft.com/office/drawing/2014/main" id="{7EE4873C-A07B-4070-B31E-17CD6165DD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24815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厂商文、失败记录</a:t>
            </a:r>
          </a:p>
        </p:txBody>
      </p:sp>
      <p:sp>
        <p:nvSpPr>
          <p:cNvPr id="26" name="visual-5-20-p05-r5-2">
            <a:extLst xmlns:a="http://schemas.openxmlformats.org/drawingml/2006/main">
              <a:ext uri="{FF2B5EF4-FFF2-40B4-BE49-F238E27FC236}">
                <a16:creationId xmlns:a16="http://schemas.microsoft.com/office/drawing/2014/main" id="{C6A39151-E94C-4DEA-B5B6-529461F0A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24815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主体、上下文、可追溯性</a:t>
            </a:r>
          </a:p>
        </p:txBody>
      </p:sp>
      <p:sp>
        <p:nvSpPr>
          <p:cNvPr id="27" name="visual-5-21-p05-r6-0">
            <a:extLst xmlns:a="http://schemas.openxmlformats.org/drawingml/2006/main">
              <a:ext uri="{FF2B5EF4-FFF2-40B4-BE49-F238E27FC236}">
                <a16:creationId xmlns:a16="http://schemas.microsoft.com/office/drawing/2014/main" id="{C90D4500-D9D4-45C7-B873-5FA633F842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" y="4800600"/>
            <a:ext cx="3143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搜索结果</a:t>
            </a:r>
          </a:p>
        </p:txBody>
      </p:sp>
      <p:sp>
        <p:nvSpPr>
          <p:cNvPr id="28" name="visual-5-22-p05-r6-1">
            <a:extLst xmlns:a="http://schemas.openxmlformats.org/drawingml/2006/main">
              <a:ext uri="{FF2B5EF4-FFF2-40B4-BE49-F238E27FC236}">
                <a16:creationId xmlns:a16="http://schemas.microsoft.com/office/drawing/2014/main" id="{107BD832-A806-4FF0-8258-17C4A3282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24250" y="4800600"/>
            <a:ext cx="4000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模型候选列表</a:t>
            </a:r>
          </a:p>
        </p:txBody>
      </p:sp>
      <p:sp>
        <p:nvSpPr>
          <p:cNvPr id="29" name="visual-5-23-p05-r6-2">
            <a:extLst xmlns:a="http://schemas.openxmlformats.org/drawingml/2006/main">
              <a:ext uri="{FF2B5EF4-FFF2-40B4-BE49-F238E27FC236}">
                <a16:creationId xmlns:a16="http://schemas.microsoft.com/office/drawing/2014/main" id="{4A353386-B0E7-48B8-AEFB-29AD05112F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524750" y="4800600"/>
            <a:ext cx="428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仅作发现线索，回正式来源</a:t>
            </a:r>
          </a:p>
        </p:txBody>
      </p:sp>
      <p:sp>
        <p:nvSpPr>
          <p:cNvPr id="30" name="visual-5-24-p05-bottom">
            <a:extLst xmlns:a="http://schemas.openxmlformats.org/drawingml/2006/main">
              <a:ext uri="{FF2B5EF4-FFF2-40B4-BE49-F238E27FC236}">
                <a16:creationId xmlns:a16="http://schemas.microsoft.com/office/drawing/2014/main" id="{8598A6D7-8084-4335-9B17-C28F9ADCA5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429250"/>
            <a:ext cx="9906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来源类型不自动决定可信度或证据角色；角色要相对于当前问题或拟用主张判断。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先写问题初稿，再搜材料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C630A04-5A25-9E0C-9436-126091DB86B3}" type="slidenum">
              <a:t>6</a:t>
            </a:fld>
            <a:endParaRPr/>
          </a:p>
        </p:txBody>
      </p:sp>
      <p:sp>
        <p:nvSpPr>
          <p:cNvPr id="6" name="visual-6-0-p06-topic">
            <a:extLst xmlns:a="http://schemas.openxmlformats.org/drawingml/2006/main">
              <a:ext uri="{FF2B5EF4-FFF2-40B4-BE49-F238E27FC236}">
                <a16:creationId xmlns:a16="http://schemas.microsoft.com/office/drawing/2014/main" id="{89D03AB4-C103-4155-8C91-68DCAD3F45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" y="1695450"/>
            <a:ext cx="2571750" cy="1562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宽泛主题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辅助论文阅读</a:t>
            </a:r>
          </a:p>
        </p:txBody>
      </p:sp>
      <p:sp>
        <p:nvSpPr>
          <p:cNvPr id="7" name="visual-6-1-p06-a1">
            <a:extLst xmlns:a="http://schemas.openxmlformats.org/drawingml/2006/main">
              <a:ext uri="{FF2B5EF4-FFF2-40B4-BE49-F238E27FC236}">
                <a16:creationId xmlns:a16="http://schemas.microsoft.com/office/drawing/2014/main" id="{4897E90A-6A38-4DBD-970F-4807515D64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76600" y="22479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6-2-p06-question">
            <a:extLst xmlns:a="http://schemas.openxmlformats.org/drawingml/2006/main">
              <a:ext uri="{FF2B5EF4-FFF2-40B4-BE49-F238E27FC236}">
                <a16:creationId xmlns:a16="http://schemas.microsoft.com/office/drawing/2014/main" id="{E05FF497-00A4-4CF4-8E81-9D568A8BE0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86200" y="1314450"/>
            <a:ext cx="4762500" cy="2324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可检索的问题初稿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在逐条核验引用的计算机论文阅读任务中，结构化阅读卡是否降低 AI 摘要的限定条件遗漏率？</a:t>
            </a:r>
          </a:p>
        </p:txBody>
      </p:sp>
      <p:sp>
        <p:nvSpPr>
          <p:cNvPr id="9" name="visual-6-3-p06-a2">
            <a:extLst xmlns:a="http://schemas.openxmlformats.org/drawingml/2006/main">
              <a:ext uri="{FF2B5EF4-FFF2-40B4-BE49-F238E27FC236}">
                <a16:creationId xmlns:a16="http://schemas.microsoft.com/office/drawing/2014/main" id="{27F5A601-1CAF-4112-876E-E96FC26884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22479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6-4-p06-words">
            <a:extLst xmlns:a="http://schemas.openxmlformats.org/drawingml/2006/main">
              <a:ext uri="{FF2B5EF4-FFF2-40B4-BE49-F238E27FC236}">
                <a16:creationId xmlns:a16="http://schemas.microsoft.com/office/drawing/2014/main" id="{E22E155D-BA91-4424-8944-428C25ACF4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1485900"/>
            <a:ext cx="2324100" cy="1981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五个关键词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结构化阅读卡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摘要｜限定条件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遗漏率｜引用核验</a:t>
            </a:r>
          </a:p>
        </p:txBody>
      </p:sp>
      <p:sp>
        <p:nvSpPr>
          <p:cNvPr id="11" name="visual-6-5-p06-expand">
            <a:extLst xmlns:a="http://schemas.openxmlformats.org/drawingml/2006/main">
              <a:ext uri="{FF2B5EF4-FFF2-40B4-BE49-F238E27FC236}">
                <a16:creationId xmlns:a16="http://schemas.microsoft.com/office/drawing/2014/main" id="{25D6DCEC-0189-4357-9B0E-57665C440E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57350" y="4438650"/>
            <a:ext cx="88773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每个词再扩展：同义词　｜　上位词　｜　下位词　→　检索词网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检索式可被他人复盘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3D7D1C8-AE23-AA48-DF65-C742588DBE47}" type="slidenum">
              <a:t>7</a:t>
            </a:fld>
            <a:endParaRPr/>
          </a:p>
        </p:txBody>
      </p:sp>
      <p:sp>
        <p:nvSpPr>
          <p:cNvPr id="6" name="visual-7-0-p07-code">
            <a:extLst xmlns:a="http://schemas.openxmlformats.org/drawingml/2006/main">
              <a:ext uri="{FF2B5EF4-FFF2-40B4-BE49-F238E27FC236}">
                <a16:creationId xmlns:a16="http://schemas.microsoft.com/office/drawing/2014/main" id="{73406BC7-C593-48DA-9B63-2D51C2C61C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123950"/>
            <a:ext cx="10744200" cy="1790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("reading card" OR "reading template" OR "structured reading")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AND ("AI summary" OR "LLM summary" OR "AI-generated abstract")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AND ("limitation" OR "scope" OR "boundary")</a:t>
            </a:r>
          </a:p>
        </p:txBody>
      </p:sp>
      <p:sp>
        <p:nvSpPr>
          <p:cNvPr id="7" name="visual-7-1-p07-tag-0">
            <a:extLst xmlns:a="http://schemas.openxmlformats.org/drawingml/2006/main">
              <a:ext uri="{FF2B5EF4-FFF2-40B4-BE49-F238E27FC236}">
                <a16:creationId xmlns:a16="http://schemas.microsoft.com/office/drawing/2014/main" id="{22F9681C-76BD-47D5-9628-7334F6E8F7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布尔算子</a:t>
            </a:r>
          </a:p>
        </p:txBody>
      </p:sp>
      <p:sp>
        <p:nvSpPr>
          <p:cNvPr id="8" name="visual-7-2-p07-tag-1">
            <a:extLst xmlns:a="http://schemas.openxmlformats.org/drawingml/2006/main">
              <a:ext uri="{FF2B5EF4-FFF2-40B4-BE49-F238E27FC236}">
                <a16:creationId xmlns:a16="http://schemas.microsoft.com/office/drawing/2014/main" id="{96D45946-C694-4F00-AF69-51FB780A3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91465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字段限定</a:t>
            </a:r>
          </a:p>
        </p:txBody>
      </p:sp>
      <p:sp>
        <p:nvSpPr>
          <p:cNvPr id="9" name="visual-7-3-p07-tag-2">
            <a:extLst xmlns:a="http://schemas.openxmlformats.org/drawingml/2006/main">
              <a:ext uri="{FF2B5EF4-FFF2-40B4-BE49-F238E27FC236}">
                <a16:creationId xmlns:a16="http://schemas.microsoft.com/office/drawing/2014/main" id="{EFBE3D93-ACA7-449D-BB9E-367CEA368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0540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截断通配</a:t>
            </a:r>
          </a:p>
        </p:txBody>
      </p:sp>
      <p:sp>
        <p:nvSpPr>
          <p:cNvPr id="10" name="visual-7-4-p07-tag-3">
            <a:extLst xmlns:a="http://schemas.openxmlformats.org/drawingml/2006/main">
              <a:ext uri="{FF2B5EF4-FFF2-40B4-BE49-F238E27FC236}">
                <a16:creationId xmlns:a16="http://schemas.microsoft.com/office/drawing/2014/main" id="{7C12AE42-7B18-4CD8-9851-6C421558C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9615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短语</a:t>
            </a:r>
          </a:p>
        </p:txBody>
      </p:sp>
      <p:sp>
        <p:nvSpPr>
          <p:cNvPr id="11" name="visual-7-5-p07-tag-4">
            <a:extLst xmlns:a="http://schemas.openxmlformats.org/drawingml/2006/main">
              <a:ext uri="{FF2B5EF4-FFF2-40B4-BE49-F238E27FC236}">
                <a16:creationId xmlns:a16="http://schemas.microsoft.com/office/drawing/2014/main" id="{E4299AF7-3403-4B9C-B137-B757DAF2B0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3219450"/>
            <a:ext cx="1905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时间 / 类型</a:t>
            </a:r>
          </a:p>
        </p:txBody>
      </p:sp>
      <p:sp>
        <p:nvSpPr>
          <p:cNvPr id="12" name="visual-7-6-p07-record">
            <a:extLst xmlns:a="http://schemas.openxmlformats.org/drawingml/2006/main">
              <a:ext uri="{FF2B5EF4-FFF2-40B4-BE49-F238E27FC236}">
                <a16:creationId xmlns:a16="http://schemas.microsoft.com/office/drawing/2014/main" id="{55585895-9694-417B-872A-4F8560DFA3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4248150"/>
            <a:ext cx="1009650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检索记录：库｜检索式｜日期｜命中数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纳入 / 排除｜筛选数</a:t>
            </a:r>
          </a:p>
        </p:txBody>
      </p:sp>
      <p:sp>
        <p:nvSpPr>
          <p:cNvPr id="13" name="visual-7-7-p07-bottom">
            <a:extLst xmlns:a="http://schemas.openxmlformats.org/drawingml/2006/main">
              <a:ext uri="{FF2B5EF4-FFF2-40B4-BE49-F238E27FC236}">
                <a16:creationId xmlns:a16="http://schemas.microsoft.com/office/drawing/2014/main" id="{70BBF04A-6C47-4846-B7C7-6E191A92C5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05250" y="5238750"/>
            <a:ext cx="4381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别人能复盘，才算检索方法。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纳入与排除条件检索前先写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A58DA2A-B818-18A9-29C1-B697728D5BCE}" type="slidenum">
              <a:t>8</a:t>
            </a:fld>
            <a:endParaRPr/>
          </a:p>
        </p:txBody>
      </p:sp>
      <p:sp>
        <p:nvSpPr>
          <p:cNvPr id="6" name="visual-8-0-p08-a-0">
            <a:extLst xmlns:a="http://schemas.openxmlformats.org/drawingml/2006/main">
              <a:ext uri="{FF2B5EF4-FFF2-40B4-BE49-F238E27FC236}">
                <a16:creationId xmlns:a16="http://schemas.microsoft.com/office/drawing/2014/main" id="{67B2D611-737A-4BD0-8E26-487A0A5059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1049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时间范围</a:t>
            </a:r>
          </a:p>
        </p:txBody>
      </p:sp>
      <p:sp>
        <p:nvSpPr>
          <p:cNvPr id="7" name="visual-8-1-p08-arrow-0">
            <a:extLst xmlns:a="http://schemas.openxmlformats.org/drawingml/2006/main">
              <a:ext uri="{FF2B5EF4-FFF2-40B4-BE49-F238E27FC236}">
                <a16:creationId xmlns:a16="http://schemas.microsoft.com/office/drawing/2014/main" id="{DE93A08A-122C-41F8-A0FF-0748AF9810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1811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8-2-p08-b-0">
            <a:extLst xmlns:a="http://schemas.openxmlformats.org/drawingml/2006/main">
              <a:ext uri="{FF2B5EF4-FFF2-40B4-BE49-F238E27FC236}">
                <a16:creationId xmlns:a16="http://schemas.microsoft.com/office/drawing/2014/main" id="{E3150D35-A3E6-4ECE-BD91-87B528A14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1049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为何从某年开始？</a:t>
            </a:r>
          </a:p>
        </p:txBody>
      </p:sp>
      <p:sp>
        <p:nvSpPr>
          <p:cNvPr id="9" name="visual-8-3-p08-a-1">
            <a:extLst xmlns:a="http://schemas.openxmlformats.org/drawingml/2006/main">
              <a:ext uri="{FF2B5EF4-FFF2-40B4-BE49-F238E27FC236}">
                <a16:creationId xmlns:a16="http://schemas.microsoft.com/office/drawing/2014/main" id="{2DA68BF4-5F6B-47C8-A535-30EA9D6BCE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9050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文献类型</a:t>
            </a:r>
          </a:p>
        </p:txBody>
      </p:sp>
      <p:sp>
        <p:nvSpPr>
          <p:cNvPr id="10" name="visual-8-4-p08-arrow-1">
            <a:extLst xmlns:a="http://schemas.openxmlformats.org/drawingml/2006/main">
              <a:ext uri="{FF2B5EF4-FFF2-40B4-BE49-F238E27FC236}">
                <a16:creationId xmlns:a16="http://schemas.microsoft.com/office/drawing/2014/main" id="{D25BD843-3F9C-4BFA-9EAC-F250862613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9812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1" name="visual-8-5-p08-b-1">
            <a:extLst xmlns:a="http://schemas.openxmlformats.org/drawingml/2006/main">
              <a:ext uri="{FF2B5EF4-FFF2-40B4-BE49-F238E27FC236}">
                <a16:creationId xmlns:a16="http://schemas.microsoft.com/office/drawing/2014/main" id="{B4250504-BF39-4832-8C06-25A20B860A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19050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同行评议 / 预印本 / 综述</a:t>
            </a:r>
          </a:p>
        </p:txBody>
      </p:sp>
      <p:sp>
        <p:nvSpPr>
          <p:cNvPr id="12" name="visual-8-6-p08-a-2">
            <a:extLst xmlns:a="http://schemas.openxmlformats.org/drawingml/2006/main">
              <a:ext uri="{FF2B5EF4-FFF2-40B4-BE49-F238E27FC236}">
                <a16:creationId xmlns:a16="http://schemas.microsoft.com/office/drawing/2014/main" id="{802D079B-1B7F-4295-994C-1C968F9D26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7051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语言</a:t>
            </a:r>
          </a:p>
        </p:txBody>
      </p:sp>
      <p:sp>
        <p:nvSpPr>
          <p:cNvPr id="13" name="visual-8-7-p08-arrow-2">
            <a:extLst xmlns:a="http://schemas.openxmlformats.org/drawingml/2006/main">
              <a:ext uri="{FF2B5EF4-FFF2-40B4-BE49-F238E27FC236}">
                <a16:creationId xmlns:a16="http://schemas.microsoft.com/office/drawing/2014/main" id="{E75AEFE4-1D9F-4CBE-89DD-285FC430C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27813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4" name="visual-8-8-p08-b-2">
            <a:extLst xmlns:a="http://schemas.openxmlformats.org/drawingml/2006/main">
              <a:ext uri="{FF2B5EF4-FFF2-40B4-BE49-F238E27FC236}">
                <a16:creationId xmlns:a16="http://schemas.microsoft.com/office/drawing/2014/main" id="{8B01E8E6-429D-487C-B14A-15BCCC3AFB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27051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限制语言需说明偏倚</a:t>
            </a:r>
          </a:p>
        </p:txBody>
      </p:sp>
      <p:sp>
        <p:nvSpPr>
          <p:cNvPr id="15" name="visual-8-9-p08-a-3">
            <a:extLst xmlns:a="http://schemas.openxmlformats.org/drawingml/2006/main">
              <a:ext uri="{FF2B5EF4-FFF2-40B4-BE49-F238E27FC236}">
                <a16:creationId xmlns:a16="http://schemas.microsoft.com/office/drawing/2014/main" id="{7B35940A-6483-4784-A1F8-DFC15D381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5052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研究类型</a:t>
            </a:r>
          </a:p>
        </p:txBody>
      </p:sp>
      <p:sp>
        <p:nvSpPr>
          <p:cNvPr id="16" name="visual-8-10-p08-arrow-3">
            <a:extLst xmlns:a="http://schemas.openxmlformats.org/drawingml/2006/main">
              <a:ext uri="{FF2B5EF4-FFF2-40B4-BE49-F238E27FC236}">
                <a16:creationId xmlns:a16="http://schemas.microsoft.com/office/drawing/2014/main" id="{4287C952-D039-4118-9CAC-4D6FA119D2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35814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7" name="visual-8-11-p08-b-3">
            <a:extLst xmlns:a="http://schemas.openxmlformats.org/drawingml/2006/main">
              <a:ext uri="{FF2B5EF4-FFF2-40B4-BE49-F238E27FC236}">
                <a16:creationId xmlns:a16="http://schemas.microsoft.com/office/drawing/2014/main" id="{F194FA43-6524-4A02-9F6A-2939994426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35052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实证 / 方法 / 案例 / 综述</a:t>
            </a:r>
          </a:p>
        </p:txBody>
      </p:sp>
      <p:sp>
        <p:nvSpPr>
          <p:cNvPr id="18" name="visual-8-12-p08-a-4">
            <a:extLst xmlns:a="http://schemas.openxmlformats.org/drawingml/2006/main">
              <a:ext uri="{FF2B5EF4-FFF2-40B4-BE49-F238E27FC236}">
                <a16:creationId xmlns:a16="http://schemas.microsoft.com/office/drawing/2014/main" id="{8C003A72-C2A8-41DC-B667-01A095E9C8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305300"/>
            <a:ext cx="2476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相关性</a:t>
            </a:r>
          </a:p>
        </p:txBody>
      </p:sp>
      <p:sp>
        <p:nvSpPr>
          <p:cNvPr id="19" name="visual-8-13-p08-arrow-4">
            <a:extLst xmlns:a="http://schemas.openxmlformats.org/drawingml/2006/main">
              <a:ext uri="{FF2B5EF4-FFF2-40B4-BE49-F238E27FC236}">
                <a16:creationId xmlns:a16="http://schemas.microsoft.com/office/drawing/2014/main" id="{22B3C336-C39D-4A9B-A481-972BEAEF8A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4381500"/>
            <a:ext cx="4953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20" name="visual-8-14-p08-b-4">
            <a:extLst xmlns:a="http://schemas.openxmlformats.org/drawingml/2006/main">
              <a:ext uri="{FF2B5EF4-FFF2-40B4-BE49-F238E27FC236}">
                <a16:creationId xmlns:a16="http://schemas.microsoft.com/office/drawing/2014/main" id="{3BE6AE59-6417-4A27-A2F2-F8BD855288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29100" y="4305300"/>
            <a:ext cx="6667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对应当前问题或拟用主张</a:t>
            </a:r>
          </a:p>
        </p:txBody>
      </p:sp>
      <p:sp>
        <p:nvSpPr>
          <p:cNvPr id="21" name="visual-8-15-p08-bottom">
            <a:extLst xmlns:a="http://schemas.openxmlformats.org/drawingml/2006/main">
              <a:ext uri="{FF2B5EF4-FFF2-40B4-BE49-F238E27FC236}">
                <a16:creationId xmlns:a16="http://schemas.microsoft.com/office/drawing/2014/main" id="{8C8B71E6-3EE9-401F-97F1-7730BAF9BB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5257800"/>
            <a:ext cx="7620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检索前写第一版；检索中调整；排除时必须记录理由。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证据角色：主证据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88657AE-30A1-5A7A-6A7F-315D84436430}" type="slidenum">
              <a:t>9</a:t>
            </a:fld>
            <a:endParaRPr/>
          </a:p>
        </p:txBody>
      </p:sp>
      <p:sp>
        <p:nvSpPr>
          <p:cNvPr id="6" name="visual-9-0-p09-main">
            <a:extLst xmlns:a="http://schemas.openxmlformats.org/drawingml/2006/main">
              <a:ext uri="{FF2B5EF4-FFF2-40B4-BE49-F238E27FC236}">
                <a16:creationId xmlns:a16="http://schemas.microsoft.com/office/drawing/2014/main" id="{0EC2B4DE-0B03-4914-9BCF-559D9FC8C6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09750" y="1333500"/>
            <a:ext cx="8572500" cy="1009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主证据</a:t>
            </a:r>
          </a:p>
        </p:txBody>
      </p:sp>
      <p:sp>
        <p:nvSpPr>
          <p:cNvPr id="7" name="visual-9-1-p09-def">
            <a:extLst xmlns:a="http://schemas.openxmlformats.org/drawingml/2006/main">
              <a:ext uri="{FF2B5EF4-FFF2-40B4-BE49-F238E27FC236}">
                <a16:creationId xmlns:a16="http://schemas.microsoft.com/office/drawing/2014/main" id="{08BCD3B4-5F02-4422-9515-2D74492AC1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2571750"/>
            <a:ext cx="9334500" cy="1104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在可比条件下直接支持或反驳当前问题或拟用主张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角色先作预期标注，精读后可修正</a:t>
            </a:r>
          </a:p>
        </p:txBody>
      </p:sp>
      <p:sp>
        <p:nvSpPr>
          <p:cNvPr id="8" name="visual-9-2-p09-can">
            <a:extLst xmlns:a="http://schemas.openxmlformats.org/drawingml/2006/main">
              <a:ext uri="{FF2B5EF4-FFF2-40B4-BE49-F238E27FC236}">
                <a16:creationId xmlns:a16="http://schemas.microsoft.com/office/drawing/2014/main" id="{4DB91689-F4DF-4B04-AC9D-06EC2AB0E0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09575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能做：支撑核心主张</a:t>
            </a:r>
          </a:p>
        </p:txBody>
      </p:sp>
      <p:sp>
        <p:nvSpPr>
          <p:cNvPr id="9" name="visual-9-3-p09-cannot">
            <a:extLst xmlns:a="http://schemas.openxmlformats.org/drawingml/2006/main">
              <a:ext uri="{FF2B5EF4-FFF2-40B4-BE49-F238E27FC236}">
                <a16:creationId xmlns:a16="http://schemas.microsoft.com/office/drawing/2014/main" id="{CC782774-8CCD-45D2-80A8-C2A2FD0A26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4095750"/>
            <a:ext cx="409575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不能做：单独支撑外推</a:t>
            </a:r>
          </a:p>
        </p:txBody>
      </p:sp>
      <p:sp>
        <p:nvSpPr>
          <p:cNvPr id="10" name="visual-9-4-p09-bottom">
            <a:extLst xmlns:a="http://schemas.openxmlformats.org/drawingml/2006/main">
              <a:ext uri="{FF2B5EF4-FFF2-40B4-BE49-F238E27FC236}">
                <a16:creationId xmlns:a16="http://schemas.microsoft.com/office/drawing/2014/main" id="{56F083A1-A7E3-4478-8452-76E107AB29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33750" y="5219700"/>
            <a:ext cx="5524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每个角色都要写明参照的问题或拟用主张。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证据角色：补充证据与对比证据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B7BEEEC-A170-5376-2B6E-CB54687B0CB1}" type="slidenum">
              <a:t>10</a:t>
            </a:fld>
            <a:endParaRPr/>
          </a:p>
        </p:txBody>
      </p:sp>
      <p:sp>
        <p:nvSpPr>
          <p:cNvPr id="6" name="visual-10-0-p10-claim">
            <a:extLst xmlns:a="http://schemas.openxmlformats.org/drawingml/2006/main">
              <a:ext uri="{FF2B5EF4-FFF2-40B4-BE49-F238E27FC236}">
                <a16:creationId xmlns:a16="http://schemas.microsoft.com/office/drawing/2014/main" id="{EA3A4A65-EFA7-4F38-A7A3-6003096B9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2419350"/>
            <a:ext cx="32385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当前核心主张</a:t>
            </a:r>
          </a:p>
        </p:txBody>
      </p:sp>
      <p:sp>
        <p:nvSpPr>
          <p:cNvPr id="7" name="visual-10-1-p10-supp">
            <a:extLst xmlns:a="http://schemas.openxmlformats.org/drawingml/2006/main">
              <a:ext uri="{FF2B5EF4-FFF2-40B4-BE49-F238E27FC236}">
                <a16:creationId xmlns:a16="http://schemas.microsoft.com/office/drawing/2014/main" id="{731C50D1-D972-4711-B6F4-16D1097CDC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28750"/>
            <a:ext cx="3238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补充证据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不同来源 / 测量 / 路径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提供实质独立性</a:t>
            </a:r>
          </a:p>
        </p:txBody>
      </p:sp>
      <p:sp>
        <p:nvSpPr>
          <p:cNvPr id="8" name="visual-10-2-p10-contrast">
            <a:extLst xmlns:a="http://schemas.openxmlformats.org/drawingml/2006/main">
              <a:ext uri="{FF2B5EF4-FFF2-40B4-BE49-F238E27FC236}">
                <a16:creationId xmlns:a16="http://schemas.microsoft.com/office/drawing/2014/main" id="{ACD8990E-F8C0-45D1-94C8-07A2B833FB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86750" y="1428750"/>
            <a:ext cx="3238500" cy="2000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对比证据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替代解释 / 竞争假设 / 反例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暴露解释边界</a:t>
            </a:r>
          </a:p>
        </p:txBody>
      </p:sp>
      <p:sp>
        <p:nvSpPr>
          <p:cNvPr id="9" name="visual-10-3-p10-independent">
            <a:extLst xmlns:a="http://schemas.openxmlformats.org/drawingml/2006/main">
              <a:ext uri="{FF2B5EF4-FFF2-40B4-BE49-F238E27FC236}">
                <a16:creationId xmlns:a16="http://schemas.microsoft.com/office/drawing/2014/main" id="{801563C3-D954-47FB-9717-66450D4193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409575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独立 ≠ 两个不同网页</a:t>
            </a:r>
          </a:p>
        </p:txBody>
      </p:sp>
      <p:sp>
        <p:nvSpPr>
          <p:cNvPr id="10" name="visual-10-4-p10-conflict">
            <a:extLst xmlns:a="http://schemas.openxmlformats.org/drawingml/2006/main">
              <a:ext uri="{FF2B5EF4-FFF2-40B4-BE49-F238E27FC236}">
                <a16:creationId xmlns:a16="http://schemas.microsoft.com/office/drawing/2014/main" id="{DD00228E-4C8D-4B35-BAC1-E5E9DD305E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4095750"/>
            <a:ext cx="4286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冲突证据必须保留</a:t>
            </a:r>
          </a:p>
        </p:txBody>
      </p:sp>
      <p:sp>
        <p:nvSpPr>
          <p:cNvPr id="11" name="visual-10-5-p10-note">
            <a:extLst xmlns:a="http://schemas.openxmlformats.org/drawingml/2006/main">
              <a:ext uri="{FF2B5EF4-FFF2-40B4-BE49-F238E27FC236}">
                <a16:creationId xmlns:a16="http://schemas.microsoft.com/office/drawing/2014/main" id="{C77BFA4F-BC14-4BA8-8ADD-B06050AB16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52950" y="5219700"/>
            <a:ext cx="30861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概念示意，非实证结果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证据角色：探索线索（AI 输出归位）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0394428-F1DC-E5F6-DB0C-7DE31F3D8A23}" type="slidenum">
              <a:t>11</a:t>
            </a:fld>
            <a:endParaRPr/>
          </a:p>
        </p:txBody>
      </p:sp>
      <p:sp>
        <p:nvSpPr>
          <p:cNvPr id="6" name="visual-11-0-p11-input">
            <a:extLst xmlns:a="http://schemas.openxmlformats.org/drawingml/2006/main">
              <a:ext uri="{FF2B5EF4-FFF2-40B4-BE49-F238E27FC236}">
                <a16:creationId xmlns:a16="http://schemas.microsoft.com/office/drawing/2014/main" id="{D148C732-4E58-402B-9DE2-173FFE1A2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1524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AI 检索结果</a:t>
            </a:r>
          </a:p>
        </p:txBody>
      </p:sp>
      <p:sp>
        <p:nvSpPr>
          <p:cNvPr id="7" name="visual-11-1-p11-a1">
            <a:extLst xmlns:a="http://schemas.openxmlformats.org/drawingml/2006/main">
              <a:ext uri="{FF2B5EF4-FFF2-40B4-BE49-F238E27FC236}">
                <a16:creationId xmlns:a16="http://schemas.microsoft.com/office/drawing/2014/main" id="{34DE1600-85FC-49BD-9912-5C2C7771EC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67200" y="17907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11-2-p11-line">
            <a:extLst xmlns:a="http://schemas.openxmlformats.org/drawingml/2006/main">
              <a:ext uri="{FF2B5EF4-FFF2-40B4-BE49-F238E27FC236}">
                <a16:creationId xmlns:a16="http://schemas.microsoft.com/office/drawing/2014/main" id="{9A13C8E7-9E5A-4CA8-8D4E-1C3CA847F2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81600" y="1524000"/>
            <a:ext cx="28575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探索线索</a:t>
            </a:r>
          </a:p>
        </p:txBody>
      </p:sp>
      <p:sp>
        <p:nvSpPr>
          <p:cNvPr id="9" name="visual-11-3-p11-a2">
            <a:extLst xmlns:a="http://schemas.openxmlformats.org/drawingml/2006/main">
              <a:ext uri="{FF2B5EF4-FFF2-40B4-BE49-F238E27FC236}">
                <a16:creationId xmlns:a16="http://schemas.microsoft.com/office/drawing/2014/main" id="{85A0D931-06A1-4A18-AA9A-0BB16DCC40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1790700"/>
            <a:ext cx="6858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11-4-p11-source">
            <a:extLst xmlns:a="http://schemas.openxmlformats.org/drawingml/2006/main">
              <a:ext uri="{FF2B5EF4-FFF2-40B4-BE49-F238E27FC236}">
                <a16:creationId xmlns:a16="http://schemas.microsoft.com/office/drawing/2014/main" id="{DEC7AD1C-7644-4699-99B0-BD76DA35A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82100" y="1524000"/>
            <a:ext cx="2286000" cy="990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回原文核验</a:t>
            </a:r>
          </a:p>
        </p:txBody>
      </p:sp>
      <p:sp>
        <p:nvSpPr>
          <p:cNvPr id="11" name="visual-11-5-p11-fields">
            <a:extLst xmlns:a="http://schemas.openxmlformats.org/drawingml/2006/main">
              <a:ext uri="{FF2B5EF4-FFF2-40B4-BE49-F238E27FC236}">
                <a16:creationId xmlns:a16="http://schemas.microsoft.com/office/drawing/2014/main" id="{F21DEF12-DD9A-467C-8E9A-DF7B5DBEAD6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2952750"/>
            <a:ext cx="9715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即使已核验，也可能不能直接回答当前问题；AI 检索结果默认归为探索线索</a:t>
            </a:r>
          </a:p>
        </p:txBody>
      </p:sp>
      <p:sp>
        <p:nvSpPr>
          <p:cNvPr id="12" name="visual-11-6-p11-split">
            <a:extLst xmlns:a="http://schemas.openxmlformats.org/drawingml/2006/main">
              <a:ext uri="{FF2B5EF4-FFF2-40B4-BE49-F238E27FC236}">
                <a16:creationId xmlns:a16="http://schemas.microsoft.com/office/drawing/2014/main" id="{62006A9A-8937-4694-8DD3-7F639E4289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829050"/>
            <a:ext cx="57150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角色 ≠ 核验状态 ≠ 筛选决定</a:t>
            </a:r>
          </a:p>
        </p:txBody>
      </p:sp>
      <p:sp>
        <p:nvSpPr>
          <p:cNvPr id="13" name="visual-11-7-p11-bottom">
            <a:extLst xmlns:a="http://schemas.openxmlformats.org/drawingml/2006/main">
              <a:ext uri="{FF2B5EF4-FFF2-40B4-BE49-F238E27FC236}">
                <a16:creationId xmlns:a16="http://schemas.microsoft.com/office/drawing/2014/main" id="{84E661F7-8B4B-4353-8BDB-B21C9CB6A2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52700" y="4838700"/>
            <a:ext cx="70866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一篇真实且已核验的论文，对当前问题仍可能只是探索线索。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2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入口核验：身份 + 一条拟用主张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4DB16885-0D3F-A391-B669-3211DB3B26E8}" type="slidenum">
              <a:t>12</a:t>
            </a:fld>
            <a:endParaRPr/>
          </a:p>
        </p:txBody>
      </p:sp>
      <p:sp>
        <p:nvSpPr>
          <p:cNvPr id="6" name="visual-12-0-p12-id-title">
            <a:extLst xmlns:a="http://schemas.openxmlformats.org/drawingml/2006/main">
              <a:ext uri="{FF2B5EF4-FFF2-40B4-BE49-F238E27FC236}">
                <a16:creationId xmlns:a16="http://schemas.microsoft.com/office/drawing/2014/main" id="{A83E5AFE-59A4-4A26-A7EF-5EF3E15602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99060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身份层</a:t>
            </a:r>
          </a:p>
        </p:txBody>
      </p:sp>
      <p:sp>
        <p:nvSpPr>
          <p:cNvPr id="7" name="visual-12-1-p12-id-body">
            <a:extLst xmlns:a="http://schemas.openxmlformats.org/drawingml/2006/main">
              <a:ext uri="{FF2B5EF4-FFF2-40B4-BE49-F238E27FC236}">
                <a16:creationId xmlns:a16="http://schemas.microsoft.com/office/drawing/2014/main" id="{39691F6D-8D60-4EE8-AB71-AFC9B4911F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485900"/>
            <a:ext cx="6667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题名　｜　作者　｜　年份　｜　刊会　｜　DOI / 稳定标识</a:t>
            </a:r>
          </a:p>
        </p:txBody>
      </p:sp>
      <p:sp>
        <p:nvSpPr>
          <p:cNvPr id="8" name="visual-12-2-p12-claim-title">
            <a:extLst xmlns:a="http://schemas.openxmlformats.org/drawingml/2006/main">
              <a:ext uri="{FF2B5EF4-FFF2-40B4-BE49-F238E27FC236}">
                <a16:creationId xmlns:a16="http://schemas.microsoft.com/office/drawing/2014/main" id="{C1770AEA-ACCF-4DAE-8489-B38FFCD895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1524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拟用主张层</a:t>
            </a:r>
          </a:p>
        </p:txBody>
      </p:sp>
      <p:sp>
        <p:nvSpPr>
          <p:cNvPr id="9" name="visual-12-3-p12-c-0">
            <a:extLst xmlns:a="http://schemas.openxmlformats.org/drawingml/2006/main">
              <a:ext uri="{FF2B5EF4-FFF2-40B4-BE49-F238E27FC236}">
                <a16:creationId xmlns:a16="http://schemas.microsoft.com/office/drawing/2014/main" id="{711CDEB3-73FA-437C-946A-CE40DAD6B5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7051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1. 先写准备用它支持什么</a:t>
            </a:r>
          </a:p>
        </p:txBody>
      </p:sp>
      <p:sp>
        <p:nvSpPr>
          <p:cNvPr id="10" name="visual-12-4-p12-c-1">
            <a:extLst xmlns:a="http://schemas.openxmlformats.org/drawingml/2006/main">
              <a:ext uri="{FF2B5EF4-FFF2-40B4-BE49-F238E27FC236}">
                <a16:creationId xmlns:a16="http://schemas.microsoft.com/office/drawing/2014/main" id="{70D30F46-EC31-4934-84B3-37A335944C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21945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2. 回到至少一个原文位置</a:t>
            </a:r>
          </a:p>
        </p:txBody>
      </p:sp>
      <p:sp>
        <p:nvSpPr>
          <p:cNvPr id="11" name="visual-12-5-p12-c-2">
            <a:extLst xmlns:a="http://schemas.openxmlformats.org/drawingml/2006/main">
              <a:ext uri="{FF2B5EF4-FFF2-40B4-BE49-F238E27FC236}">
                <a16:creationId xmlns:a16="http://schemas.microsoft.com/office/drawing/2014/main" id="{D42D1476-4F1A-4E69-8003-05856A9EAB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33800"/>
            <a:ext cx="666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3. 核对任务、设置、措辞强度与必要限定</a:t>
            </a:r>
          </a:p>
        </p:txBody>
      </p:sp>
      <p:sp>
        <p:nvSpPr>
          <p:cNvPr id="12" name="visual-12-6-p12-pending">
            <a:extLst xmlns:a="http://schemas.openxmlformats.org/drawingml/2006/main">
              <a:ext uri="{FF2B5EF4-FFF2-40B4-BE49-F238E27FC236}">
                <a16:creationId xmlns:a16="http://schemas.microsoft.com/office/drawing/2014/main" id="{4E25520B-E8B7-47EB-B3F6-16D16441F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30530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只完成身份层 → pending｜默认探索线索</a:t>
            </a:r>
          </a:p>
        </p:txBody>
      </p:sp>
      <p:sp>
        <p:nvSpPr>
          <p:cNvPr id="13" name="visual-12-7-p12-handoff">
            <a:extLst xmlns:a="http://schemas.openxmlformats.org/drawingml/2006/main">
              <a:ext uri="{FF2B5EF4-FFF2-40B4-BE49-F238E27FC236}">
                <a16:creationId xmlns:a16="http://schemas.microsoft.com/office/drawing/2014/main" id="{06EC9A6C-2FA7-478C-AEC4-DA601013A1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895850"/>
            <a:ext cx="6667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第 4 课移交：多条主张、位置、指标、对照、样本、贡献与局限</a:t>
            </a:r>
          </a:p>
        </p:txBody>
      </p:sp>
      <p:sp>
        <p:nvSpPr>
          <p:cNvPr id="14" name="visual-12-8-p12-status-title">
            <a:extLst xmlns:a="http://schemas.openxmlformats.org/drawingml/2006/main">
              <a:ext uri="{FF2B5EF4-FFF2-40B4-BE49-F238E27FC236}">
                <a16:creationId xmlns:a16="http://schemas.microsoft.com/office/drawing/2014/main" id="{206966DC-6768-4747-A600-21FF28834C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009650"/>
            <a:ext cx="32385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四态与进入规则</a:t>
            </a:r>
          </a:p>
        </p:txBody>
      </p:sp>
      <p:sp>
        <p:nvSpPr>
          <p:cNvPr id="15" name="visual-12-9-p12-s-0">
            <a:extLst xmlns:a="http://schemas.openxmlformats.org/drawingml/2006/main">
              <a:ext uri="{FF2B5EF4-FFF2-40B4-BE49-F238E27FC236}">
                <a16:creationId xmlns:a16="http://schemas.microsoft.com/office/drawing/2014/main" id="{3C8926EF-D3FF-4638-AD5E-E4C801CD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16192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pending</a:t>
            </a:r>
          </a:p>
        </p:txBody>
      </p:sp>
      <p:sp>
        <p:nvSpPr>
          <p:cNvPr id="16" name="visual-12-10-p12-s-1">
            <a:extLst xmlns:a="http://schemas.openxmlformats.org/drawingml/2006/main">
              <a:ext uri="{FF2B5EF4-FFF2-40B4-BE49-F238E27FC236}">
                <a16:creationId xmlns:a16="http://schemas.microsoft.com/office/drawing/2014/main" id="{C7B8620A-6E0D-4BAB-8F73-D4C80E4AA7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431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verified</a:t>
            </a:r>
          </a:p>
        </p:txBody>
      </p:sp>
      <p:sp>
        <p:nvSpPr>
          <p:cNvPr id="17" name="visual-12-11-p12-s-2">
            <a:extLst xmlns:a="http://schemas.openxmlformats.org/drawingml/2006/main">
              <a:ext uri="{FF2B5EF4-FFF2-40B4-BE49-F238E27FC236}">
                <a16:creationId xmlns:a16="http://schemas.microsoft.com/office/drawing/2014/main" id="{ED803932-EC73-4ECD-BDD8-10D42EBB78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0670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verified-with-caveat</a:t>
            </a:r>
          </a:p>
        </p:txBody>
      </p:sp>
      <p:sp>
        <p:nvSpPr>
          <p:cNvPr id="18" name="visual-12-12-p12-s-3">
            <a:extLst xmlns:a="http://schemas.openxmlformats.org/drawingml/2006/main">
              <a:ext uri="{FF2B5EF4-FFF2-40B4-BE49-F238E27FC236}">
                <a16:creationId xmlns:a16="http://schemas.microsoft.com/office/drawing/2014/main" id="{40C3597C-3720-4643-AB41-F762161D1A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3790950"/>
            <a:ext cx="32385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19" name="visual-12-13-p12-bottom">
            <a:extLst xmlns:a="http://schemas.openxmlformats.org/drawingml/2006/main">
              <a:ext uri="{FF2B5EF4-FFF2-40B4-BE49-F238E27FC236}">
                <a16:creationId xmlns:a16="http://schemas.microsoft.com/office/drawing/2014/main" id="{548FE6A1-AD05-4D60-BA91-244F174223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0" y="4667250"/>
            <a:ext cx="4000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 仅线索区｜verified 可进主格｜caveat 保留限定且不能单独支撑 stable｜rejected 仅审计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3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演示：检索记录定位真实论文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2DD23107-4986-8758-3A93-3D74F35908CC}" type="slidenum">
              <a:t>13</a:t>
            </a:fld>
            <a:endParaRPr/>
          </a:p>
        </p:txBody>
      </p:sp>
      <p:sp>
        <p:nvSpPr>
          <p:cNvPr id="6" name="visual-13-0-p13-a-0">
            <a:extLst xmlns:a="http://schemas.openxmlformats.org/drawingml/2006/main">
              <a:ext uri="{FF2B5EF4-FFF2-40B4-BE49-F238E27FC236}">
                <a16:creationId xmlns:a16="http://schemas.microsoft.com/office/drawing/2014/main" id="{DD44F6C9-ECAA-49D7-BC64-65D3C3D85F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</a:t>
            </a:r>
          </a:p>
        </p:txBody>
      </p:sp>
      <p:sp>
        <p:nvSpPr>
          <p:cNvPr id="7" name="visual-13-1-p13-b-0">
            <a:extLst xmlns:a="http://schemas.openxmlformats.org/drawingml/2006/main">
              <a:ext uri="{FF2B5EF4-FFF2-40B4-BE49-F238E27FC236}">
                <a16:creationId xmlns:a16="http://schemas.microsoft.com/office/drawing/2014/main" id="{214A427B-FEAA-4C31-8835-5F95DB9A0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Crossref API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query.title=How to Read a Paper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&amp;query.author=Keshav&amp;rows=5</a:t>
            </a:r>
          </a:p>
        </p:txBody>
      </p:sp>
      <p:sp>
        <p:nvSpPr>
          <p:cNvPr id="8" name="visual-13-2-p13-arr-0">
            <a:extLst xmlns:a="http://schemas.openxmlformats.org/drawingml/2006/main">
              <a:ext uri="{FF2B5EF4-FFF2-40B4-BE49-F238E27FC236}">
                <a16:creationId xmlns:a16="http://schemas.microsoft.com/office/drawing/2014/main" id="{7A5E209C-4EE9-4681-A671-2287734258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5745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9" name="visual-13-3-p13-a-1">
            <a:extLst xmlns:a="http://schemas.openxmlformats.org/drawingml/2006/main">
              <a:ext uri="{FF2B5EF4-FFF2-40B4-BE49-F238E27FC236}">
                <a16:creationId xmlns:a16="http://schemas.microsoft.com/office/drawing/2014/main" id="{CABB280B-5AF4-46A3-89B5-2654908C7F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元数据</a:t>
            </a:r>
          </a:p>
        </p:txBody>
      </p:sp>
      <p:sp>
        <p:nvSpPr>
          <p:cNvPr id="10" name="visual-13-4-p13-b-1">
            <a:extLst xmlns:a="http://schemas.openxmlformats.org/drawingml/2006/main">
              <a:ext uri="{FF2B5EF4-FFF2-40B4-BE49-F238E27FC236}">
                <a16:creationId xmlns:a16="http://schemas.microsoft.com/office/drawing/2014/main" id="{7F3CAB39-8911-4498-B04B-5F559BE1EE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3845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How to Read a Paper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S. Keshav｜2007</a:t>
            </a:r>
          </a:p>
        </p:txBody>
      </p:sp>
      <p:sp>
        <p:nvSpPr>
          <p:cNvPr id="11" name="visual-13-5-p13-arr-1">
            <a:extLst xmlns:a="http://schemas.openxmlformats.org/drawingml/2006/main">
              <a:ext uri="{FF2B5EF4-FFF2-40B4-BE49-F238E27FC236}">
                <a16:creationId xmlns:a16="http://schemas.microsoft.com/office/drawing/2014/main" id="{11A49A0B-DB22-41C2-90C0-4AEBD1B13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13-6-p13-a-2">
            <a:extLst xmlns:a="http://schemas.openxmlformats.org/drawingml/2006/main">
              <a:ext uri="{FF2B5EF4-FFF2-40B4-BE49-F238E27FC236}">
                <a16:creationId xmlns:a16="http://schemas.microsoft.com/office/drawing/2014/main" id="{FAFB2291-1556-42C8-A35C-78C65943AD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DOI</a:t>
            </a:r>
          </a:p>
        </p:txBody>
      </p:sp>
      <p:sp>
        <p:nvSpPr>
          <p:cNvPr id="13" name="visual-13-7-p13-b-2">
            <a:extLst xmlns:a="http://schemas.openxmlformats.org/drawingml/2006/main">
              <a:ext uri="{FF2B5EF4-FFF2-40B4-BE49-F238E27FC236}">
                <a16:creationId xmlns:a16="http://schemas.microsoft.com/office/drawing/2014/main" id="{EB5507A5-CE1B-4FC5-A131-B910EE8C58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52650"/>
            <a:ext cx="1924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10.1145/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1273445.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1273458</a:t>
            </a:r>
          </a:p>
        </p:txBody>
      </p:sp>
      <p:sp>
        <p:nvSpPr>
          <p:cNvPr id="14" name="visual-13-8-p13-arr-2">
            <a:extLst xmlns:a="http://schemas.openxmlformats.org/drawingml/2006/main">
              <a:ext uri="{FF2B5EF4-FFF2-40B4-BE49-F238E27FC236}">
                <a16:creationId xmlns:a16="http://schemas.microsoft.com/office/drawing/2014/main" id="{930E2289-4ABB-4B99-AAE9-22BF1C56AB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6755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5" name="visual-13-9-p13-a-3">
            <a:extLst xmlns:a="http://schemas.openxmlformats.org/drawingml/2006/main">
              <a:ext uri="{FF2B5EF4-FFF2-40B4-BE49-F238E27FC236}">
                <a16:creationId xmlns:a16="http://schemas.microsoft.com/office/drawing/2014/main" id="{C8865890-6A83-4D0E-B4C7-9394A0C817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正式来源</a:t>
            </a:r>
          </a:p>
        </p:txBody>
      </p:sp>
      <p:sp>
        <p:nvSpPr>
          <p:cNvPr id="16" name="visual-13-10-p13-b-3">
            <a:extLst xmlns:a="http://schemas.openxmlformats.org/drawingml/2006/main">
              <a:ext uri="{FF2B5EF4-FFF2-40B4-BE49-F238E27FC236}">
                <a16:creationId xmlns:a16="http://schemas.microsoft.com/office/drawing/2014/main" id="{C5F5F785-25A0-4D1D-93B5-AC89DC3C34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ACM SIGCOMM CCR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37(3):83–84</a:t>
            </a:r>
          </a:p>
        </p:txBody>
      </p:sp>
      <p:sp>
        <p:nvSpPr>
          <p:cNvPr id="17" name="visual-13-11-p13-arr-3">
            <a:extLst xmlns:a="http://schemas.openxmlformats.org/drawingml/2006/main">
              <a:ext uri="{FF2B5EF4-FFF2-40B4-BE49-F238E27FC236}">
                <a16:creationId xmlns:a16="http://schemas.microsoft.com/office/drawing/2014/main" id="{FDCCDEB5-B05B-4EA2-A355-71DA3ECEFA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72600" y="2705100"/>
            <a:ext cx="381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8" name="visual-13-12-p13-a-4">
            <a:extLst xmlns:a="http://schemas.openxmlformats.org/drawingml/2006/main">
              <a:ext uri="{FF2B5EF4-FFF2-40B4-BE49-F238E27FC236}">
                <a16:creationId xmlns:a16="http://schemas.microsoft.com/office/drawing/2014/main" id="{11358010-C518-49AB-BCFD-887B9E2691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1466850"/>
            <a:ext cx="19240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原文入口</a:t>
            </a:r>
          </a:p>
        </p:txBody>
      </p:sp>
      <p:sp>
        <p:nvSpPr>
          <p:cNvPr id="19" name="visual-13-13-p13-b-4">
            <a:extLst xmlns:a="http://schemas.openxmlformats.org/drawingml/2006/main">
              <a:ext uri="{FF2B5EF4-FFF2-40B4-BE49-F238E27FC236}">
                <a16:creationId xmlns:a16="http://schemas.microsoft.com/office/drawing/2014/main" id="{3CA00DCD-A52F-482B-9A3A-FCE8A8C45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53600" y="2152650"/>
            <a:ext cx="1924050" cy="1676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作者公开 PDF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保留实际请求与原始返回</a:t>
            </a:r>
          </a:p>
        </p:txBody>
      </p:sp>
      <p:sp>
        <p:nvSpPr>
          <p:cNvPr id="20" name="visual-13-14-p13-predict">
            <a:extLst xmlns:a="http://schemas.openxmlformats.org/drawingml/2006/main">
              <a:ext uri="{FF2B5EF4-FFF2-40B4-BE49-F238E27FC236}">
                <a16:creationId xmlns:a16="http://schemas.microsoft.com/office/drawing/2014/main" id="{76B9CEAF-4433-4099-B792-94087FBC38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66850" y="4610100"/>
            <a:ext cx="9258300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真实 trace：查询记录 → 正式元数据 → DOI → 正式出版信息 → 原文；每一步保留可复查对象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4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演示：DOI → 原文第 1 页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327921A4-25C4-3DB4-06B1-32693CEE2241}" type="slidenum">
              <a:t>14</a:t>
            </a:fld>
            <a:endParaRPr/>
          </a:p>
        </p:txBody>
      </p:sp>
      <p:pic>
        <p:nvPicPr>
          <p:cNvPr id="43" name="p14-paper-page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76f0edba29a4bec"/>
          <a:stretch xmlns:a="http://schemas.openxmlformats.org/drawingml/2006/main"/>
        </p:blipFill>
        <p:spPr>
          <a:xfrm xmlns:a="http://schemas.openxmlformats.org/drawingml/2006/main">
            <a:off x="609600" y="1057275"/>
            <a:ext cx="3810000" cy="4648200"/>
          </a:xfrm>
          <a:prstGeom xmlns:a="http://schemas.openxmlformats.org/drawingml/2006/main" prst="rect">
            <a:avLst/>
          </a:prstGeom>
        </p:spPr>
      </p:pic>
      <p:sp>
        <p:nvSpPr>
          <p:cNvPr id="26" name="p14-locator">
            <a:extLst xmlns:a="http://schemas.openxmlformats.org/drawingml/2006/main">
              <a:ext uri="{FF2B5EF4-FFF2-40B4-BE49-F238E27FC236}">
                <a16:creationId xmlns:a16="http://schemas.microsoft.com/office/drawing/2014/main" id="{58F8E866-994D-47CC-AF0C-4534D6EE4C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895350"/>
            <a:ext cx="4095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真实原文对象 · Keshav 2007 · p.83</a:t>
            </a:r>
          </a:p>
        </p:txBody>
      </p:sp>
      <p:sp>
        <p:nvSpPr>
          <p:cNvPr id="27" name="p14-record">
            <a:extLst xmlns:a="http://schemas.openxmlformats.org/drawingml/2006/main">
              <a:ext uri="{FF2B5EF4-FFF2-40B4-BE49-F238E27FC236}">
                <a16:creationId xmlns:a16="http://schemas.microsoft.com/office/drawing/2014/main" id="{D483DDC1-1166-4D88-B538-324158CE23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171575"/>
            <a:ext cx="61912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来源记录 → DOI → 原文</a:t>
            </a:r>
          </a:p>
        </p:txBody>
      </p:sp>
      <p:sp>
        <p:nvSpPr>
          <p:cNvPr id="28" name="p14-top">
            <a:extLst xmlns:a="http://schemas.openxmlformats.org/drawingml/2006/main">
              <a:ext uri="{FF2B5EF4-FFF2-40B4-BE49-F238E27FC236}">
                <a16:creationId xmlns:a16="http://schemas.microsoft.com/office/drawing/2014/main" id="{93EC42E4-CAA0-4541-ABAD-734B25CC4E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1819275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D78"/>
          </a:solidFill>
          <a:ln xmlns:a="http://schemas.openxmlformats.org/drawingml/2006/main" w="0">
            <a:noFill/>
          </a:ln>
        </p:spPr>
      </p:sp>
      <p:sp>
        <p:nvSpPr>
          <p:cNvPr id="29" name="p14-label-0">
            <a:extLst xmlns:a="http://schemas.openxmlformats.org/drawingml/2006/main">
              <a:ext uri="{FF2B5EF4-FFF2-40B4-BE49-F238E27FC236}">
                <a16:creationId xmlns:a16="http://schemas.microsoft.com/office/drawing/2014/main" id="{B933CE87-9749-42C6-A2C3-4351096B58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114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身份</a:t>
            </a:r>
          </a:p>
        </p:txBody>
      </p:sp>
      <p:sp>
        <p:nvSpPr>
          <p:cNvPr id="30" name="p14-value-0">
            <a:extLst xmlns:a="http://schemas.openxmlformats.org/drawingml/2006/main">
              <a:ext uri="{FF2B5EF4-FFF2-40B4-BE49-F238E27FC236}">
                <a16:creationId xmlns:a16="http://schemas.microsoft.com/office/drawing/2014/main" id="{E3E4F1E1-372F-47EB-9EAD-109387F59D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114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题名、作者、年份与记录一致</a:t>
            </a:r>
          </a:p>
        </p:txBody>
      </p:sp>
      <p:sp>
        <p:nvSpPr>
          <p:cNvPr id="31" name="p14-sep-0">
            <a:extLst xmlns:a="http://schemas.openxmlformats.org/drawingml/2006/main">
              <a:ext uri="{FF2B5EF4-FFF2-40B4-BE49-F238E27FC236}">
                <a16:creationId xmlns:a16="http://schemas.microsoft.com/office/drawing/2014/main" id="{7FD98CD0-8333-4FF5-AB9D-5EB68721AD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7241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2" name="p14-label-1">
            <a:extLst xmlns:a="http://schemas.openxmlformats.org/drawingml/2006/main">
              <a:ext uri="{FF2B5EF4-FFF2-40B4-BE49-F238E27FC236}">
                <a16:creationId xmlns:a16="http://schemas.microsoft.com/office/drawing/2014/main" id="{2097167D-32A4-44E0-96EC-100B847B6A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2876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稳定标识</a:t>
            </a:r>
          </a:p>
        </p:txBody>
      </p:sp>
      <p:sp>
        <p:nvSpPr>
          <p:cNvPr id="33" name="p14-value-1">
            <a:extLst xmlns:a="http://schemas.openxmlformats.org/drawingml/2006/main">
              <a:ext uri="{FF2B5EF4-FFF2-40B4-BE49-F238E27FC236}">
                <a16:creationId xmlns:a16="http://schemas.microsoft.com/office/drawing/2014/main" id="{6BFB9B79-7DEA-4444-A542-DCCEC388E22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876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DOI 10.1145/1273445.1273458</a:t>
            </a:r>
          </a:p>
        </p:txBody>
      </p:sp>
      <p:sp>
        <p:nvSpPr>
          <p:cNvPr id="34" name="p14-sep-1">
            <a:extLst xmlns:a="http://schemas.openxmlformats.org/drawingml/2006/main">
              <a:ext uri="{FF2B5EF4-FFF2-40B4-BE49-F238E27FC236}">
                <a16:creationId xmlns:a16="http://schemas.microsoft.com/office/drawing/2014/main" id="{5449CA31-9E7A-4EC6-B921-4900BD6EA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4861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5" name="p14-label-2">
            <a:extLst xmlns:a="http://schemas.openxmlformats.org/drawingml/2006/main">
              <a:ext uri="{FF2B5EF4-FFF2-40B4-BE49-F238E27FC236}">
                <a16:creationId xmlns:a16="http://schemas.microsoft.com/office/drawing/2014/main" id="{5E685B66-2644-44AB-A684-C7C77F0F64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3638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原文位置</a:t>
            </a:r>
          </a:p>
        </p:txBody>
      </p:sp>
      <p:sp>
        <p:nvSpPr>
          <p:cNvPr id="36" name="p14-value-2">
            <a:extLst xmlns:a="http://schemas.openxmlformats.org/drawingml/2006/main">
              <a:ext uri="{FF2B5EF4-FFF2-40B4-BE49-F238E27FC236}">
                <a16:creationId xmlns:a16="http://schemas.microsoft.com/office/drawing/2014/main" id="{F8AF63B6-C9EA-4573-A31E-9AED5CA516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3638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p.83 摘要与 §2 可直接定位</a:t>
            </a:r>
          </a:p>
        </p:txBody>
      </p:sp>
      <p:sp>
        <p:nvSpPr>
          <p:cNvPr id="37" name="p14-sep-2">
            <a:extLst xmlns:a="http://schemas.openxmlformats.org/drawingml/2006/main">
              <a:ext uri="{FF2B5EF4-FFF2-40B4-BE49-F238E27FC236}">
                <a16:creationId xmlns:a16="http://schemas.microsoft.com/office/drawing/2014/main" id="{265AA0C1-329E-4768-80AF-54A27A5825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248150"/>
            <a:ext cx="6191250" cy="1428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DD5DB"/>
          </a:solidFill>
          <a:ln xmlns:a="http://schemas.openxmlformats.org/drawingml/2006/main" w="0">
            <a:noFill/>
          </a:ln>
        </p:spPr>
      </p:sp>
      <p:sp>
        <p:nvSpPr>
          <p:cNvPr id="38" name="p14-label-3">
            <a:extLst xmlns:a="http://schemas.openxmlformats.org/drawingml/2006/main">
              <a:ext uri="{FF2B5EF4-FFF2-40B4-BE49-F238E27FC236}">
                <a16:creationId xmlns:a16="http://schemas.microsoft.com/office/drawing/2014/main" id="{B0B6D9D1-86DE-4AB0-9B73-61509E26C0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4400550"/>
            <a:ext cx="12192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2E7D5B"/>
                </a:solidFill>
                <a:latin typeface="微软雅黑"/>
                <a:ea typeface="微软雅黑"/>
                <a:cs typeface="微软雅黑"/>
              </a:rPr>
              <a:t>入口状态</a:t>
            </a:r>
          </a:p>
        </p:txBody>
      </p:sp>
      <p:sp>
        <p:nvSpPr>
          <p:cNvPr id="39" name="p14-value-3">
            <a:extLst xmlns:a="http://schemas.openxmlformats.org/drawingml/2006/main">
              <a:ext uri="{FF2B5EF4-FFF2-40B4-BE49-F238E27FC236}">
                <a16:creationId xmlns:a16="http://schemas.microsoft.com/office/drawing/2014/main" id="{24598EAE-91CF-4BA6-BF8B-6195801755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400550"/>
            <a:ext cx="4762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verified：可进入下一步主张核验</a:t>
            </a:r>
          </a:p>
        </p:txBody>
      </p:sp>
      <p:sp>
        <p:nvSpPr>
          <p:cNvPr id="40" name="p14-task">
            <a:extLst xmlns:a="http://schemas.openxmlformats.org/drawingml/2006/main">
              <a:ext uri="{FF2B5EF4-FFF2-40B4-BE49-F238E27FC236}">
                <a16:creationId xmlns:a16="http://schemas.microsoft.com/office/drawing/2014/main" id="{0861114F-D524-412B-9F39-908FC60646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43500" y="5219700"/>
            <a:ext cx="619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下一步：原文位置能否支持拟用主张？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5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演示：合格条目进入候选表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EA83FA91-883A-0168-8075-96CEB9DCA3C2}" type="slidenum">
              <a:t>15</a:t>
            </a:fld>
            <a:endParaRPr/>
          </a:p>
        </p:txBody>
      </p:sp>
      <p:sp>
        <p:nvSpPr>
          <p:cNvPr id="6" name="visual-15-0-p15-entry-title">
            <a:extLst xmlns:a="http://schemas.openxmlformats.org/drawingml/2006/main">
              <a:ext uri="{FF2B5EF4-FFF2-40B4-BE49-F238E27FC236}">
                <a16:creationId xmlns:a16="http://schemas.microsoft.com/office/drawing/2014/main" id="{F6BA999C-B5D2-47D5-B968-9F026EECA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28700"/>
            <a:ext cx="1082040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真实候选条目｜Keshav (2007)</a:t>
            </a:r>
          </a:p>
        </p:txBody>
      </p:sp>
      <p:sp>
        <p:nvSpPr>
          <p:cNvPr id="7" name="visual-15-1-p15-h-0">
            <a:extLst xmlns:a="http://schemas.openxmlformats.org/drawingml/2006/main">
              <a:ext uri="{FF2B5EF4-FFF2-40B4-BE49-F238E27FC236}">
                <a16:creationId xmlns:a16="http://schemas.microsoft.com/office/drawing/2014/main" id="{71032C7F-8241-4461-8925-70B1A78E80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828800"/>
            <a:ext cx="2476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字段</a:t>
            </a:r>
          </a:p>
        </p:txBody>
      </p:sp>
      <p:sp>
        <p:nvSpPr>
          <p:cNvPr id="8" name="visual-15-2-p15-h-1">
            <a:extLst xmlns:a="http://schemas.openxmlformats.org/drawingml/2006/main">
              <a:ext uri="{FF2B5EF4-FFF2-40B4-BE49-F238E27FC236}">
                <a16:creationId xmlns:a16="http://schemas.microsoft.com/office/drawing/2014/main" id="{18490608-3ACB-420D-B6AC-BEC4397572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1828800"/>
            <a:ext cx="8191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核验后写入</a:t>
            </a:r>
          </a:p>
        </p:txBody>
      </p:sp>
      <p:sp>
        <p:nvSpPr>
          <p:cNvPr id="9" name="visual-15-3-p15-r0-0">
            <a:extLst xmlns:a="http://schemas.openxmlformats.org/drawingml/2006/main">
              <a:ext uri="{FF2B5EF4-FFF2-40B4-BE49-F238E27FC236}">
                <a16:creationId xmlns:a16="http://schemas.microsoft.com/office/drawing/2014/main" id="{2E73B06F-EAC9-4EDF-BC90-1F01E2FFD6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28600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正式来源</a:t>
            </a:r>
          </a:p>
        </p:txBody>
      </p:sp>
      <p:sp>
        <p:nvSpPr>
          <p:cNvPr id="10" name="visual-15-4-p15-r0-1">
            <a:extLst xmlns:a="http://schemas.openxmlformats.org/drawingml/2006/main">
              <a:ext uri="{FF2B5EF4-FFF2-40B4-BE49-F238E27FC236}">
                <a16:creationId xmlns:a16="http://schemas.microsoft.com/office/drawing/2014/main" id="{A911F676-0EF5-4B2B-8EAA-C5BB41D66B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28600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ACM SIGCOMM Computer Communication Review 37(3), pp.83–84｜DOI 10.1145/1273445.1273458</a:t>
            </a:r>
          </a:p>
        </p:txBody>
      </p:sp>
      <p:sp>
        <p:nvSpPr>
          <p:cNvPr id="11" name="visual-15-5-p15-r1-0">
            <a:extLst xmlns:a="http://schemas.openxmlformats.org/drawingml/2006/main">
              <a:ext uri="{FF2B5EF4-FFF2-40B4-BE49-F238E27FC236}">
                <a16:creationId xmlns:a16="http://schemas.microsoft.com/office/drawing/2014/main" id="{526CD9AB-48D3-425B-9D22-9E342A3A7D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9146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对应问题/拟用主张</a:t>
            </a:r>
          </a:p>
        </p:txBody>
      </p:sp>
      <p:sp>
        <p:nvSpPr>
          <p:cNvPr id="12" name="visual-15-6-p15-r1-1">
            <a:extLst xmlns:a="http://schemas.openxmlformats.org/drawingml/2006/main">
              <a:ext uri="{FF2B5EF4-FFF2-40B4-BE49-F238E27FC236}">
                <a16:creationId xmlns:a16="http://schemas.microsoft.com/office/drawing/2014/main" id="{AF3B3975-9594-4003-A880-AB5AB8FBF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291465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是否降低遗漏率？／用于定义 three-pass approach</a:t>
            </a:r>
          </a:p>
        </p:txBody>
      </p:sp>
      <p:sp>
        <p:nvSpPr>
          <p:cNvPr id="13" name="visual-15-7-p15-r2-0">
            <a:extLst xmlns:a="http://schemas.openxmlformats.org/drawingml/2006/main">
              <a:ext uri="{FF2B5EF4-FFF2-40B4-BE49-F238E27FC236}">
                <a16:creationId xmlns:a16="http://schemas.microsoft.com/office/drawing/2014/main" id="{DE057750-7748-46BA-B05E-310CE96BC5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4330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预期证据角色</a:t>
            </a:r>
          </a:p>
        </p:txBody>
      </p:sp>
      <p:sp>
        <p:nvSpPr>
          <p:cNvPr id="14" name="visual-15-8-p15-r2-1">
            <a:extLst xmlns:a="http://schemas.openxmlformats.org/drawingml/2006/main">
              <a:ext uri="{FF2B5EF4-FFF2-40B4-BE49-F238E27FC236}">
                <a16:creationId xmlns:a16="http://schemas.microsoft.com/office/drawing/2014/main" id="{AEDD6B47-0F6B-468E-894B-FA944EAF2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354330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探索线索；不是效果主证据</a:t>
            </a:r>
          </a:p>
        </p:txBody>
      </p:sp>
      <p:sp>
        <p:nvSpPr>
          <p:cNvPr id="15" name="visual-15-9-p15-r3-0">
            <a:extLst xmlns:a="http://schemas.openxmlformats.org/drawingml/2006/main">
              <a:ext uri="{FF2B5EF4-FFF2-40B4-BE49-F238E27FC236}">
                <a16:creationId xmlns:a16="http://schemas.microsoft.com/office/drawing/2014/main" id="{6F323AE5-94E6-425B-9F7E-D2083F5DB6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71950"/>
            <a:ext cx="2476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核验状态</a:t>
            </a:r>
          </a:p>
        </p:txBody>
      </p:sp>
      <p:sp>
        <p:nvSpPr>
          <p:cNvPr id="16" name="visual-15-10-p15-r3-1">
            <a:extLst xmlns:a="http://schemas.openxmlformats.org/drawingml/2006/main">
              <a:ext uri="{FF2B5EF4-FFF2-40B4-BE49-F238E27FC236}">
                <a16:creationId xmlns:a16="http://schemas.microsoft.com/office/drawing/2014/main" id="{9AC84F00-8434-483E-B8B2-196F7C9222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38500" y="4171950"/>
            <a:ext cx="81915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verified-with-caveat｜缺少受控效果实验，保留限定</a:t>
            </a:r>
          </a:p>
        </p:txBody>
      </p:sp>
      <p:sp>
        <p:nvSpPr>
          <p:cNvPr id="17" name="visual-15-11-p15-path">
            <a:extLst xmlns:a="http://schemas.openxmlformats.org/drawingml/2006/main">
              <a:ext uri="{FF2B5EF4-FFF2-40B4-BE49-F238E27FC236}">
                <a16:creationId xmlns:a16="http://schemas.microsoft.com/office/drawing/2014/main" id="{E95A214E-39AE-40E7-A017-2D1167D4E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14450" y="4972050"/>
            <a:ext cx="95631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角色与状态独立：已完成入口核验，但相对于当前效果问题仍是探索线索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6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真实失败演示：教师自己的幻觉引用审计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DC9C7607-4BA3-B4DC-A00F-2E67A9FCFF7E}" type="slidenum">
              <a:t>16</a:t>
            </a:fld>
            <a:endParaRPr/>
          </a:p>
        </p:txBody>
      </p:sp>
      <p:sp>
        <p:nvSpPr>
          <p:cNvPr id="6" name="visual-16-0-p16-boundary">
            <a:extLst xmlns:a="http://schemas.openxmlformats.org/drawingml/2006/main">
              <a:ext uri="{FF2B5EF4-FFF2-40B4-BE49-F238E27FC236}">
                <a16:creationId xmlns:a16="http://schemas.microsoft.com/office/drawing/2014/main" id="{8118BD48-1374-4DD9-873A-C4533C836C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857250"/>
            <a:ext cx="107442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A96510"/>
                </a:solidFill>
                <a:latin typeface="微软雅黑"/>
                <a:ea typeface="微软雅黑"/>
                <a:cs typeface="微软雅黑"/>
              </a:rPr>
              <a:t>案例边界：教师真实检索失败 trace（公开 arXiv 元数据，mi-search-trace-demo.md §6）；学生练习仍用讲义 §四·5 虚构案例</a:t>
            </a:r>
          </a:p>
        </p:txBody>
      </p:sp>
      <p:sp>
        <p:nvSpPr>
          <p:cNvPr id="7" name="visual-16-1-p16-intro">
            <a:extLst xmlns:a="http://schemas.openxmlformats.org/drawingml/2006/main">
              <a:ext uri="{FF2B5EF4-FFF2-40B4-BE49-F238E27FC236}">
                <a16:creationId xmlns:a16="http://schemas.microsoft.com/office/drawing/2014/main" id="{CABD6459-348A-4F99-9A07-44504B2BDA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352550"/>
            <a:ext cx="107442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教师 AI agent 凭记忆给出 11 个 MI 锚点 ID：抽查即错 6 个，其中 4 条彻底张冠李戴</a:t>
            </a:r>
          </a:p>
        </p:txBody>
      </p:sp>
      <p:sp>
        <p:nvSpPr>
          <p:cNvPr id="8" name="visual-16-2-p16-h-0">
            <a:extLst xmlns:a="http://schemas.openxmlformats.org/drawingml/2006/main">
              <a:ext uri="{FF2B5EF4-FFF2-40B4-BE49-F238E27FC236}">
                <a16:creationId xmlns:a16="http://schemas.microsoft.com/office/drawing/2014/main" id="{741DB216-0E64-426E-A02C-E1F1FE8D37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1790700"/>
            <a:ext cx="4572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记忆条目</a:t>
            </a:r>
          </a:p>
        </p:txBody>
      </p:sp>
      <p:sp>
        <p:nvSpPr>
          <p:cNvPr id="9" name="visual-16-3-p16-h-1">
            <a:extLst xmlns:a="http://schemas.openxmlformats.org/drawingml/2006/main">
              <a:ext uri="{FF2B5EF4-FFF2-40B4-BE49-F238E27FC236}">
                <a16:creationId xmlns:a16="http://schemas.microsoft.com/office/drawing/2014/main" id="{B98F438B-51C6-4B3D-92A4-58EDD584A11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790700"/>
            <a:ext cx="3810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实为</a:t>
            </a:r>
          </a:p>
        </p:txBody>
      </p:sp>
      <p:sp>
        <p:nvSpPr>
          <p:cNvPr id="10" name="visual-16-4-p16-h-2">
            <a:extLst xmlns:a="http://schemas.openxmlformats.org/drawingml/2006/main">
              <a:ext uri="{FF2B5EF4-FFF2-40B4-BE49-F238E27FC236}">
                <a16:creationId xmlns:a16="http://schemas.microsoft.com/office/drawing/2014/main" id="{4556DECD-2F10-4F7C-B903-2DCAFC5FF0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790700"/>
            <a:ext cx="228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处置</a:t>
            </a:r>
          </a:p>
        </p:txBody>
      </p:sp>
      <p:sp>
        <p:nvSpPr>
          <p:cNvPr id="11" name="visual-16-5-p16-r0-0">
            <a:extLst xmlns:a="http://schemas.openxmlformats.org/drawingml/2006/main">
              <a:ext uri="{FF2B5EF4-FFF2-40B4-BE49-F238E27FC236}">
                <a16:creationId xmlns:a16="http://schemas.microsoft.com/office/drawing/2014/main" id="{9EF99209-29C6-4499-9054-EC6E061FC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1907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2308.10939＝Attribution Patching</a:t>
            </a:r>
          </a:p>
        </p:txBody>
      </p:sp>
      <p:sp>
        <p:nvSpPr>
          <p:cNvPr id="12" name="visual-16-6-p16-r0-1">
            <a:extLst xmlns:a="http://schemas.openxmlformats.org/drawingml/2006/main">
              <a:ext uri="{FF2B5EF4-FFF2-40B4-BE49-F238E27FC236}">
                <a16:creationId xmlns:a16="http://schemas.microsoft.com/office/drawing/2014/main" id="{D4A42CCB-8703-47F8-9942-A98B420F30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1907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凝聚态物理论文</a:t>
            </a:r>
          </a:p>
        </p:txBody>
      </p:sp>
      <p:sp>
        <p:nvSpPr>
          <p:cNvPr id="13" name="visual-16-7-p16-r0-2">
            <a:extLst xmlns:a="http://schemas.openxmlformats.org/drawingml/2006/main">
              <a:ext uri="{FF2B5EF4-FFF2-40B4-BE49-F238E27FC236}">
                <a16:creationId xmlns:a16="http://schemas.microsoft.com/office/drawing/2014/main" id="{DEB09DA3-BCF8-49F4-B66E-C42772C5DC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1907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14" name="visual-16-8-p16-r1-0">
            <a:extLst xmlns:a="http://schemas.openxmlformats.org/drawingml/2006/main">
              <a:ext uri="{FF2B5EF4-FFF2-40B4-BE49-F238E27FC236}">
                <a16:creationId xmlns:a16="http://schemas.microsoft.com/office/drawing/2014/main" id="{BCDDAD1E-2661-4DD4-9870-823A05DDA0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26479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2203.13787＝Tuned Lens</a:t>
            </a:r>
          </a:p>
        </p:txBody>
      </p:sp>
      <p:sp>
        <p:nvSpPr>
          <p:cNvPr id="15" name="visual-16-9-p16-r1-1">
            <a:extLst xmlns:a="http://schemas.openxmlformats.org/drawingml/2006/main">
              <a:ext uri="{FF2B5EF4-FFF2-40B4-BE49-F238E27FC236}">
                <a16:creationId xmlns:a16="http://schemas.microsoft.com/office/drawing/2014/main" id="{36383EB7-CAF9-4B7B-9A5E-843AD0EF26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6479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混合序列预测论文</a:t>
            </a:r>
          </a:p>
        </p:txBody>
      </p:sp>
      <p:sp>
        <p:nvSpPr>
          <p:cNvPr id="16" name="visual-16-10-p16-r1-2">
            <a:extLst xmlns:a="http://schemas.openxmlformats.org/drawingml/2006/main">
              <a:ext uri="{FF2B5EF4-FFF2-40B4-BE49-F238E27FC236}">
                <a16:creationId xmlns:a16="http://schemas.microsoft.com/office/drawing/2014/main" id="{881C02CD-42B8-473A-9580-DDA73507A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26479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17" name="visual-16-11-p16-r2-0">
            <a:extLst xmlns:a="http://schemas.openxmlformats.org/drawingml/2006/main">
              <a:ext uri="{FF2B5EF4-FFF2-40B4-BE49-F238E27FC236}">
                <a16:creationId xmlns:a16="http://schemas.microsoft.com/office/drawing/2014/main" id="{E38427D0-96C5-4FDF-98FC-4F53855ECB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1051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2309.10655＝Emergent Linear Representations</a:t>
            </a:r>
          </a:p>
        </p:txBody>
      </p:sp>
      <p:sp>
        <p:nvSpPr>
          <p:cNvPr id="18" name="visual-16-12-p16-r2-1">
            <a:extLst xmlns:a="http://schemas.openxmlformats.org/drawingml/2006/main">
              <a:ext uri="{FF2B5EF4-FFF2-40B4-BE49-F238E27FC236}">
                <a16:creationId xmlns:a16="http://schemas.microsoft.com/office/drawing/2014/main" id="{A4A2B435-F9BE-493E-8781-60B88E0CEA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051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路径规划论文</a:t>
            </a:r>
          </a:p>
        </p:txBody>
      </p:sp>
      <p:sp>
        <p:nvSpPr>
          <p:cNvPr id="19" name="visual-16-13-p16-r2-2">
            <a:extLst xmlns:a="http://schemas.openxmlformats.org/drawingml/2006/main">
              <a:ext uri="{FF2B5EF4-FFF2-40B4-BE49-F238E27FC236}">
                <a16:creationId xmlns:a16="http://schemas.microsoft.com/office/drawing/2014/main" id="{9E976807-E208-4253-BEE8-FB0881DA00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20" name="visual-16-14-p16-r3-0">
            <a:extLst xmlns:a="http://schemas.openxmlformats.org/drawingml/2006/main">
              <a:ext uri="{FF2B5EF4-FFF2-40B4-BE49-F238E27FC236}">
                <a16:creationId xmlns:a16="http://schemas.microsoft.com/office/drawing/2014/main" id="{8732ACA9-31DC-460A-B227-97EAC4C20B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3562350"/>
            <a:ext cx="4572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2407.14400＝Gemma Scope</a:t>
            </a:r>
          </a:p>
        </p:txBody>
      </p:sp>
      <p:sp>
        <p:nvSpPr>
          <p:cNvPr id="21" name="visual-16-15-p16-r3-1">
            <a:extLst xmlns:a="http://schemas.openxmlformats.org/drawingml/2006/main">
              <a:ext uri="{FF2B5EF4-FFF2-40B4-BE49-F238E27FC236}">
                <a16:creationId xmlns:a16="http://schemas.microsoft.com/office/drawing/2014/main" id="{F0BD2842-0E6E-404B-A4EC-80660ECF60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562350"/>
            <a:ext cx="3810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O-RAN 网络预测论文</a:t>
            </a:r>
          </a:p>
        </p:txBody>
      </p:sp>
      <p:sp>
        <p:nvSpPr>
          <p:cNvPr id="22" name="visual-16-16-p16-r3-2">
            <a:extLst xmlns:a="http://schemas.openxmlformats.org/drawingml/2006/main">
              <a:ext uri="{FF2B5EF4-FFF2-40B4-BE49-F238E27FC236}">
                <a16:creationId xmlns:a16="http://schemas.microsoft.com/office/drawing/2014/main" id="{C9001072-328B-4DEF-A81F-6F84037992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562350"/>
            <a:ext cx="2286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rejected</a:t>
            </a:r>
          </a:p>
        </p:txBody>
      </p:sp>
      <p:sp>
        <p:nvSpPr>
          <p:cNvPr id="23" name="visual-16-17-p16-recover">
            <a:extLst xmlns:a="http://schemas.openxmlformats.org/drawingml/2006/main">
              <a:ext uri="{FF2B5EF4-FFF2-40B4-BE49-F238E27FC236}">
                <a16:creationId xmlns:a16="http://schemas.microsoft.com/office/drawing/2014/main" id="{F77F568A-5E2B-4894-AED2-F9708A416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2000" y="4114800"/>
            <a:ext cx="10668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恢复路径：ti: 题名检索恢复正确 ID（2310.10348 ／ 2303.08112 ／ 2309.00941 ／ 2408.05147）｜失败留档，不重跑到无痕</a:t>
            </a:r>
          </a:p>
        </p:txBody>
      </p:sp>
      <p:sp>
        <p:nvSpPr>
          <p:cNvPr id="24" name="visual-16-18-p16-q-0">
            <a:extLst xmlns:a="http://schemas.openxmlformats.org/drawingml/2006/main">
              <a:ext uri="{FF2B5EF4-FFF2-40B4-BE49-F238E27FC236}">
                <a16:creationId xmlns:a16="http://schemas.microsoft.com/office/drawing/2014/main" id="{FBA825E7-8ED1-4EC5-9B02-D5996A3739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7434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1. 为什么先写问题再搜？</a:t>
            </a:r>
          </a:p>
        </p:txBody>
      </p:sp>
      <p:sp>
        <p:nvSpPr>
          <p:cNvPr id="25" name="visual-16-19-p16-q-1">
            <a:extLst xmlns:a="http://schemas.openxmlformats.org/drawingml/2006/main">
              <a:ext uri="{FF2B5EF4-FFF2-40B4-BE49-F238E27FC236}">
                <a16:creationId xmlns:a16="http://schemas.microsoft.com/office/drawing/2014/main" id="{7B1A5232-AE13-48CD-BD6D-1AFE581E59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74345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2. 纳入 / 排除何时写？</a:t>
            </a:r>
          </a:p>
        </p:txBody>
      </p:sp>
      <p:sp>
        <p:nvSpPr>
          <p:cNvPr id="26" name="visual-16-20-p16-q-2">
            <a:extLst xmlns:a="http://schemas.openxmlformats.org/drawingml/2006/main">
              <a:ext uri="{FF2B5EF4-FFF2-40B4-BE49-F238E27FC236}">
                <a16:creationId xmlns:a16="http://schemas.microsoft.com/office/drawing/2014/main" id="{8DD1BC48-BD03-446B-821D-64CA3344EA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53340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3. 角色、状态、决定各答什么？</a:t>
            </a:r>
          </a:p>
        </p:txBody>
      </p:sp>
      <p:sp>
        <p:nvSpPr>
          <p:cNvPr id="27" name="visual-16-21-p16-q-3">
            <a:extLst xmlns:a="http://schemas.openxmlformats.org/drawingml/2006/main">
              <a:ext uri="{FF2B5EF4-FFF2-40B4-BE49-F238E27FC236}">
                <a16:creationId xmlns:a16="http://schemas.microsoft.com/office/drawing/2014/main" id="{E5D7526C-438F-41A1-85C9-D777894B24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5334000"/>
            <a:ext cx="49530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4. caveat 如何保留限定？</a:t>
            </a:r>
          </a:p>
        </p:txBody>
      </p:sp>
      <p:sp>
        <p:nvSpPr>
          <p:cNvPr id="28" name="p16-bottom">
            <a:extLst xmlns:a="http://schemas.openxmlformats.org/drawingml/2006/main">
              <a:ext uri="{FF2B5EF4-FFF2-40B4-BE49-F238E27FC236}">
                <a16:creationId xmlns:a16="http://schemas.microsoft.com/office/drawing/2014/main" id="{30D738BE-F1F3-4755-AD47-71D09DC996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095500" y="5810250"/>
            <a:ext cx="8001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/>
          <a:lstStyle xmlns:a="http://schemas.openxmlformats.org/drawingml/2006/main"/>
          <a:p xmlns:a="http://schemas.openxmlformats.org/drawingml/2006/main">
            <a:pPr algn="ctr">
              <a:lnSpc>
                <a:spcPct val="118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记忆与模型输出只能作线索；rejected 永不入候选表。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7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个人实践：跑通一次可复盘检索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90F7333B-44AC-F7E9-D49D-FE92F45E0477}" type="slidenum">
              <a:t>17</a:t>
            </a:fld>
            <a:endParaRPr/>
          </a:p>
        </p:txBody>
      </p:sp>
      <p:sp>
        <p:nvSpPr>
          <p:cNvPr id="6" name="visual-17-0-p17-time">
            <a:extLst xmlns:a="http://schemas.openxmlformats.org/drawingml/2006/main">
              <a:ext uri="{FF2B5EF4-FFF2-40B4-BE49-F238E27FC236}">
                <a16:creationId xmlns:a16="http://schemas.microsoft.com/office/drawing/2014/main" id="{A8D17F3E-5FE2-4BEA-B462-EBC20FC69D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8763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课堂任务｜按顺序完成最小闭环</a:t>
            </a:r>
          </a:p>
        </p:txBody>
      </p:sp>
      <p:sp>
        <p:nvSpPr>
          <p:cNvPr id="7" name="visual-17-1-p17-n-0">
            <a:extLst xmlns:a="http://schemas.openxmlformats.org/drawingml/2006/main">
              <a:ext uri="{FF2B5EF4-FFF2-40B4-BE49-F238E27FC236}">
                <a16:creationId xmlns:a16="http://schemas.microsoft.com/office/drawing/2014/main" id="{5547D7B6-273D-4A43-B14D-5E4D26232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11620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visual-17-2-p17-t-0">
            <a:extLst xmlns:a="http://schemas.openxmlformats.org/drawingml/2006/main">
              <a:ext uri="{FF2B5EF4-FFF2-40B4-BE49-F238E27FC236}">
                <a16:creationId xmlns:a16="http://schemas.microsoft.com/office/drawing/2014/main" id="{6C5F13A4-E269-42F6-B559-4074DA7A46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11620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写问题（或沿用贯穿案例）</a:t>
            </a:r>
          </a:p>
        </p:txBody>
      </p:sp>
      <p:sp>
        <p:nvSpPr>
          <p:cNvPr id="9" name="visual-17-3-p17-n-1">
            <a:extLst xmlns:a="http://schemas.openxmlformats.org/drawingml/2006/main">
              <a:ext uri="{FF2B5EF4-FFF2-40B4-BE49-F238E27FC236}">
                <a16:creationId xmlns:a16="http://schemas.microsoft.com/office/drawing/2014/main" id="{BF457B34-AAD5-4084-A507-212E76D017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574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0" name="visual-17-4-p17-t-1">
            <a:extLst xmlns:a="http://schemas.openxmlformats.org/drawingml/2006/main">
              <a:ext uri="{FF2B5EF4-FFF2-40B4-BE49-F238E27FC236}">
                <a16:creationId xmlns:a16="http://schemas.microsoft.com/office/drawing/2014/main" id="{F810C879-E61B-44D5-853E-E39C5FA734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05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抽 5 个关键词＋同义/上位词</a:t>
            </a:r>
          </a:p>
        </p:txBody>
      </p:sp>
      <p:sp>
        <p:nvSpPr>
          <p:cNvPr id="11" name="visual-17-5-p17-n-2">
            <a:extLst xmlns:a="http://schemas.openxmlformats.org/drawingml/2006/main">
              <a:ext uri="{FF2B5EF4-FFF2-40B4-BE49-F238E27FC236}">
                <a16:creationId xmlns:a16="http://schemas.microsoft.com/office/drawing/2014/main" id="{1D663D0C-B61D-4314-9297-E94B6CE2F3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9527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2" name="visual-17-6-p17-t-2">
            <a:extLst xmlns:a="http://schemas.openxmlformats.org/drawingml/2006/main">
              <a:ext uri="{FF2B5EF4-FFF2-40B4-BE49-F238E27FC236}">
                <a16:creationId xmlns:a16="http://schemas.microsoft.com/office/drawing/2014/main" id="{D33BBB45-6670-4D38-958C-5AA65CC532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2952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构造一条检索式</a:t>
            </a:r>
          </a:p>
        </p:txBody>
      </p:sp>
      <p:sp>
        <p:nvSpPr>
          <p:cNvPr id="13" name="visual-17-7-p17-n-3">
            <a:extLst xmlns:a="http://schemas.openxmlformats.org/drawingml/2006/main">
              <a:ext uri="{FF2B5EF4-FFF2-40B4-BE49-F238E27FC236}">
                <a16:creationId xmlns:a16="http://schemas.microsoft.com/office/drawing/2014/main" id="{4B005FA8-75CD-4188-8D98-60DF51C0AE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8481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4" name="visual-17-8-p17-t-3">
            <a:extLst xmlns:a="http://schemas.openxmlformats.org/drawingml/2006/main">
              <a:ext uri="{FF2B5EF4-FFF2-40B4-BE49-F238E27FC236}">
                <a16:creationId xmlns:a16="http://schemas.microsoft.com/office/drawing/2014/main" id="{5EC3A49D-BD1F-48A0-9083-A8E0A1E1E8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8481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让 AI 生成 3-5 条文献线索</a:t>
            </a:r>
          </a:p>
        </p:txBody>
      </p:sp>
      <p:sp>
        <p:nvSpPr>
          <p:cNvPr id="15" name="visual-17-9-p17-n-4">
            <a:extLst xmlns:a="http://schemas.openxmlformats.org/drawingml/2006/main">
              <a:ext uri="{FF2B5EF4-FFF2-40B4-BE49-F238E27FC236}">
                <a16:creationId xmlns:a16="http://schemas.microsoft.com/office/drawing/2014/main" id="{F173784B-E8D7-4056-B60B-694700DE615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11620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16" name="visual-17-10-p17-t-4">
            <a:extLst xmlns:a="http://schemas.openxmlformats.org/drawingml/2006/main">
              <a:ext uri="{FF2B5EF4-FFF2-40B4-BE49-F238E27FC236}">
                <a16:creationId xmlns:a16="http://schemas.microsoft.com/office/drawing/2014/main" id="{69433D66-FD7F-4747-BDFE-8C2FE846C0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11620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对至少 2 条执行入口核验</a:t>
            </a:r>
          </a:p>
        </p:txBody>
      </p:sp>
      <p:sp>
        <p:nvSpPr>
          <p:cNvPr id="17" name="visual-17-11-p17-n-5">
            <a:extLst xmlns:a="http://schemas.openxmlformats.org/drawingml/2006/main">
              <a:ext uri="{FF2B5EF4-FFF2-40B4-BE49-F238E27FC236}">
                <a16:creationId xmlns:a16="http://schemas.microsoft.com/office/drawing/2014/main" id="{A5DFB6A0-8D8D-427C-9F2B-3CF4BF33BA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0574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18" name="visual-17-12-p17-t-5">
            <a:extLst xmlns:a="http://schemas.openxmlformats.org/drawingml/2006/main">
              <a:ext uri="{FF2B5EF4-FFF2-40B4-BE49-F238E27FC236}">
                <a16:creationId xmlns:a16="http://schemas.microsoft.com/office/drawing/2014/main" id="{1529AFB4-1D2E-4841-97F6-9FD6387D6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0574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审计至少 2 条，留 pending/rejected</a:t>
            </a:r>
          </a:p>
        </p:txBody>
      </p:sp>
      <p:sp>
        <p:nvSpPr>
          <p:cNvPr id="19" name="visual-17-13-p17-n-6">
            <a:extLst xmlns:a="http://schemas.openxmlformats.org/drawingml/2006/main">
              <a:ext uri="{FF2B5EF4-FFF2-40B4-BE49-F238E27FC236}">
                <a16:creationId xmlns:a16="http://schemas.microsoft.com/office/drawing/2014/main" id="{D78F08E3-577C-4CD9-8712-795B8B4965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295275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  <p:sp>
        <p:nvSpPr>
          <p:cNvPr id="20" name="visual-17-14-p17-t-6">
            <a:extLst xmlns:a="http://schemas.openxmlformats.org/drawingml/2006/main">
              <a:ext uri="{FF2B5EF4-FFF2-40B4-BE49-F238E27FC236}">
                <a16:creationId xmlns:a16="http://schemas.microsoft.com/office/drawing/2014/main" id="{9A651C1B-2F00-4C62-B4DE-46670074D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295275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标证据角色</a:t>
            </a:r>
          </a:p>
        </p:txBody>
      </p:sp>
      <p:sp>
        <p:nvSpPr>
          <p:cNvPr id="21" name="visual-17-15-p17-n-7">
            <a:extLst xmlns:a="http://schemas.openxmlformats.org/drawingml/2006/main">
              <a:ext uri="{FF2B5EF4-FFF2-40B4-BE49-F238E27FC236}">
                <a16:creationId xmlns:a16="http://schemas.microsoft.com/office/drawing/2014/main" id="{55064B3D-EC6F-4585-B5D2-4F856E387D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38700" y="3848100"/>
            <a:ext cx="5524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1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  <p:sp>
        <p:nvSpPr>
          <p:cNvPr id="22" name="visual-17-16-p17-t-7">
            <a:extLst xmlns:a="http://schemas.openxmlformats.org/drawingml/2006/main">
              <a:ext uri="{FF2B5EF4-FFF2-40B4-BE49-F238E27FC236}">
                <a16:creationId xmlns:a16="http://schemas.microsoft.com/office/drawing/2014/main" id="{6516C641-4745-4EEA-A0D7-3274D24FA1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86400" y="3848100"/>
            <a:ext cx="3333750" cy="533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写 AI 使用记录</a:t>
            </a:r>
          </a:p>
        </p:txBody>
      </p:sp>
      <p:sp>
        <p:nvSpPr>
          <p:cNvPr id="23" name="visual-17-17-p17-choice">
            <a:extLst xmlns:a="http://schemas.openxmlformats.org/drawingml/2006/main">
              <a:ext uri="{FF2B5EF4-FFF2-40B4-BE49-F238E27FC236}">
                <a16:creationId xmlns:a16="http://schemas.microsoft.com/office/drawing/2014/main" id="{CFCBDC7C-3EE5-47CB-817C-1D723FB9CE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1390650"/>
            <a:ext cx="2381250" cy="2933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选题顺序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本人真实问题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导师组公开问题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↓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课程贯穿案例</a:t>
            </a:r>
          </a:p>
        </p:txBody>
      </p:sp>
      <p:sp>
        <p:nvSpPr>
          <p:cNvPr id="24" name="visual-17-18-p17-bottom">
            <a:extLst xmlns:a="http://schemas.openxmlformats.org/drawingml/2006/main">
              <a:ext uri="{FF2B5EF4-FFF2-40B4-BE49-F238E27FC236}">
                <a16:creationId xmlns:a16="http://schemas.microsoft.com/office/drawing/2014/main" id="{20ED88F5-7C43-4B42-857F-9B23008E4B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76400" y="5105400"/>
            <a:ext cx="8839200" cy="495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不得直接复刻演示题；验收看记录、状态、角色与核验理由。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8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实践停留页：模板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B1C6C81E-38B9-7560-621D-5A151A79DF9B}" type="slidenum">
              <a:t>18</a:t>
            </a:fld>
            <a:endParaRPr/>
          </a:p>
        </p:txBody>
      </p:sp>
      <p:sp>
        <p:nvSpPr>
          <p:cNvPr id="6" name="p18-left-label">
            <a:extLst xmlns:a="http://schemas.openxmlformats.org/drawingml/2006/main">
              <a:ext uri="{FF2B5EF4-FFF2-40B4-BE49-F238E27FC236}">
                <a16:creationId xmlns:a16="http://schemas.microsoft.com/office/drawing/2014/main" id="{D06BD27E-5BC6-429C-8401-0725EE4E9F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000125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检索记录</a:t>
            </a:r>
          </a:p>
        </p:txBody>
      </p:sp>
      <p:sp>
        <p:nvSpPr>
          <p:cNvPr id="7" name="p18-left">
            <a:extLst xmlns:a="http://schemas.openxmlformats.org/drawingml/2006/main">
              <a:ext uri="{FF2B5EF4-FFF2-40B4-BE49-F238E27FC236}">
                <a16:creationId xmlns:a16="http://schemas.microsoft.com/office/drawing/2014/main" id="{CCD242FA-565A-4956-9E8D-E945F63A10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533525"/>
            <a:ext cx="4762500" cy="2952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库：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检索式：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日期 / 时间范围：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命中数 / 筛选后：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纳入条件：</a:t>
            </a:r>
          </a:p>
          <a:p xmlns:a="http://schemas.openxmlformats.org/drawingml/2006/main">
            <a:pPr algn="l">
              <a:lnSpc>
                <a:spcPct val="125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排除条件：</a:t>
            </a:r>
          </a:p>
        </p:txBody>
      </p:sp>
      <p:sp>
        <p:nvSpPr>
          <p:cNvPr id="8" name="p18-mid">
            <a:extLst xmlns:a="http://schemas.openxmlformats.org/drawingml/2006/main">
              <a:ext uri="{FF2B5EF4-FFF2-40B4-BE49-F238E27FC236}">
                <a16:creationId xmlns:a16="http://schemas.microsoft.com/office/drawing/2014/main" id="{6621979D-1039-4990-9C3C-67D17652C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1047750"/>
            <a:ext cx="19050" cy="34290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C8161E"/>
          </a:solidFill>
          <a:ln xmlns:a="http://schemas.openxmlformats.org/drawingml/2006/main" w="0">
            <a:noFill/>
          </a:ln>
        </p:spPr>
      </p:sp>
      <p:sp>
        <p:nvSpPr>
          <p:cNvPr id="9" name="p18-right-label">
            <a:extLst xmlns:a="http://schemas.openxmlformats.org/drawingml/2006/main">
              <a:ext uri="{FF2B5EF4-FFF2-40B4-BE49-F238E27FC236}">
                <a16:creationId xmlns:a16="http://schemas.microsoft.com/office/drawing/2014/main" id="{F0B18338-DC10-4BE9-9FF3-17B9326A87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000125"/>
            <a:ext cx="5143500" cy="571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候选文献表 · 只放纳入且非 rejected</a:t>
            </a:r>
          </a:p>
        </p:txBody>
      </p:sp>
      <p:sp>
        <p:nvSpPr>
          <p:cNvPr id="10" name="p18-right">
            <a:extLst xmlns:a="http://schemas.openxmlformats.org/drawingml/2006/main">
              <a:ext uri="{FF2B5EF4-FFF2-40B4-BE49-F238E27FC236}">
                <a16:creationId xmlns:a16="http://schemas.microsoft.com/office/drawing/2014/main" id="{691801F4-A14C-45F5-8535-5285EFCC99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1724025"/>
            <a:ext cx="5143500" cy="2152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题名（核验后）｜作者｜年份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稳定来源｜对应问题 / 拟用主张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预期证据角色｜纳入理由</a:t>
            </a:r>
          </a:p>
          <a:p xmlns:a="http://schemas.openxmlformats.org/drawingml/2006/main">
            <a:pPr algn="l">
              <a:lnSpc>
                <a:spcPct val="122000"/>
              </a:lnSpc>
              <a:buNone/>
              <a:defRPr sz="2000" b="0">
                <a:solidFill>
                  <a:srgbClr val="27333D"/>
                </a:solidFill>
                <a:latin typeface="Consolas"/>
                <a:ea typeface="Consolas"/>
                <a:cs typeface="Consolas"/>
              </a:defRPr>
            </a:pPr>
            <a:r>
              <a:rPr sz="2000" b="0">
                <a:solidFill>
                  <a:srgbClr val="27333D"/>
                </a:solidFill>
                <a:latin typeface="Consolas"/>
                <a:ea typeface="Consolas"/>
                <a:cs typeface="Consolas"/>
              </a:rPr>
              <a:t>核验状态｜caveat / 允许主张</a:t>
            </a:r>
          </a:p>
        </p:txBody>
      </p:sp>
      <p:sp>
        <p:nvSpPr>
          <p:cNvPr id="11" name="p18-minimum">
            <a:extLst xmlns:a="http://schemas.openxmlformats.org/drawingml/2006/main">
              <a:ext uri="{FF2B5EF4-FFF2-40B4-BE49-F238E27FC236}">
                <a16:creationId xmlns:a16="http://schemas.microsoft.com/office/drawing/2014/main" id="{3B2F17F1-59F8-467C-8FC6-804E2D1827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695825"/>
            <a:ext cx="10668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C8161E"/>
                </a:solidFill>
                <a:latin typeface="微软雅黑"/>
                <a:ea typeface="微软雅黑"/>
                <a:cs typeface="微软雅黑"/>
              </a:rPr>
              <a:t>最低完成｜1 条检索记录 · 2 条来源审计 · 1 条已核验候选记录 · 1 条 AI 记录</a:t>
            </a:r>
          </a:p>
        </p:txBody>
      </p:sp>
      <p:sp>
        <p:nvSpPr>
          <p:cNvPr id="12" name="source">
            <a:extLst xmlns:a="http://schemas.openxmlformats.org/drawingml/2006/main">
              <a:ext uri="{FF2B5EF4-FFF2-40B4-BE49-F238E27FC236}">
                <a16:creationId xmlns:a16="http://schemas.microsoft.com/office/drawing/2014/main" id="{60A955B9-EE15-4AE1-A63C-D9D11C97FB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067425"/>
            <a:ext cx="10763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/>
          <a:lstStyle xmlns:a="http://schemas.openxmlformats.org/drawingml/2006/main"/>
          <a:p xmlns:a="http://schemas.openxmlformats.org/drawingml/2006/main">
            <a:pPr algn="l">
              <a:lnSpc>
                <a:spcPct val="118000"/>
              </a:lnSpc>
              <a:buNone/>
              <a:def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defRPr>
            </a:pPr>
            <a:r>
              <a:rPr sz="1100" b="0">
                <a:solidFill>
                  <a:srgbClr val="66727D"/>
                </a:solidFill>
                <a:latin typeface="微软雅黑"/>
                <a:ea typeface="微软雅黑"/>
                <a:cs typeface="微软雅黑"/>
              </a:rPr>
              <a:t>写入：notes/literature-search.md · 排除理由与 rejected 另留筛选/来源审计记录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19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同伴互查三问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CF91274-D221-1BB4-3BF9-836E3AD31EBE}" type="slidenum">
              <a:t>19</a:t>
            </a:fld>
            <a:endParaRPr/>
          </a:p>
        </p:txBody>
      </p:sp>
      <p:sp>
        <p:nvSpPr>
          <p:cNvPr id="6" name="visual-19-0-p19-mode">
            <a:extLst xmlns:a="http://schemas.openxmlformats.org/drawingml/2006/main">
              <a:ext uri="{FF2B5EF4-FFF2-40B4-BE49-F238E27FC236}">
                <a16:creationId xmlns:a16="http://schemas.microsoft.com/office/drawing/2014/main" id="{DF9F3606-BC1D-4F45-BE92-681E7046A3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1028700"/>
            <a:ext cx="3048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两人互查｜作者记录处理决定</a:t>
            </a:r>
          </a:p>
        </p:txBody>
      </p:sp>
      <p:sp>
        <p:nvSpPr>
          <p:cNvPr id="7" name="visual-19-1-p19-qn-0">
            <a:extLst xmlns:a="http://schemas.openxmlformats.org/drawingml/2006/main">
              <a:ext uri="{FF2B5EF4-FFF2-40B4-BE49-F238E27FC236}">
                <a16:creationId xmlns:a16="http://schemas.microsoft.com/office/drawing/2014/main" id="{6B2604ED-484E-444D-A3E1-E48064E4CC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16954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Q1</a:t>
            </a:r>
          </a:p>
        </p:txBody>
      </p:sp>
      <p:sp>
        <p:nvSpPr>
          <p:cNvPr id="8" name="visual-19-2-p19-q-0">
            <a:extLst xmlns:a="http://schemas.openxmlformats.org/drawingml/2006/main">
              <a:ext uri="{FF2B5EF4-FFF2-40B4-BE49-F238E27FC236}">
                <a16:creationId xmlns:a16="http://schemas.microsoft.com/office/drawing/2014/main" id="{337B293E-08BF-4A94-AE15-240064181D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1695450"/>
            <a:ext cx="619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检索可复盘吗？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库、式、日期、命中与筛选齐吗？</a:t>
            </a:r>
          </a:p>
        </p:txBody>
      </p:sp>
      <p:sp>
        <p:nvSpPr>
          <p:cNvPr id="9" name="visual-19-3-p19-qn-1">
            <a:extLst xmlns:a="http://schemas.openxmlformats.org/drawingml/2006/main">
              <a:ext uri="{FF2B5EF4-FFF2-40B4-BE49-F238E27FC236}">
                <a16:creationId xmlns:a16="http://schemas.microsoft.com/office/drawing/2014/main" id="{FC0842B5-426D-4508-9902-35A76980D3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8003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Q2</a:t>
            </a:r>
          </a:p>
        </p:txBody>
      </p:sp>
      <p:sp>
        <p:nvSpPr>
          <p:cNvPr id="10" name="visual-19-4-p19-q-1">
            <a:extLst xmlns:a="http://schemas.openxmlformats.org/drawingml/2006/main">
              <a:ext uri="{FF2B5EF4-FFF2-40B4-BE49-F238E27FC236}">
                <a16:creationId xmlns:a16="http://schemas.microsoft.com/office/drawing/2014/main" id="{5C6960C4-30D1-4A36-A760-BE9D8A3A3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2800350"/>
            <a:ext cx="619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预期角色有对应问题/拟用主张吗？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是否与状态、筛选决定分开？</a:t>
            </a:r>
          </a:p>
        </p:txBody>
      </p:sp>
      <p:sp>
        <p:nvSpPr>
          <p:cNvPr id="11" name="visual-19-5-p19-qn-2">
            <a:extLst xmlns:a="http://schemas.openxmlformats.org/drawingml/2006/main">
              <a:ext uri="{FF2B5EF4-FFF2-40B4-BE49-F238E27FC236}">
                <a16:creationId xmlns:a16="http://schemas.microsoft.com/office/drawing/2014/main" id="{63AF3260-0AD0-4D35-9AB8-81B34131DB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905250"/>
            <a:ext cx="857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Q3</a:t>
            </a:r>
          </a:p>
        </p:txBody>
      </p:sp>
      <p:sp>
        <p:nvSpPr>
          <p:cNvPr id="12" name="visual-19-6-p19-q-2">
            <a:extLst xmlns:a="http://schemas.openxmlformats.org/drawingml/2006/main">
              <a:ext uri="{FF2B5EF4-FFF2-40B4-BE49-F238E27FC236}">
                <a16:creationId xmlns:a16="http://schemas.microsoft.com/office/drawing/2014/main" id="{74A6EFDA-46C1-44CC-B576-A57D01B4A9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47850" y="3905250"/>
            <a:ext cx="61912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身份与一条拟用主张回原文了吗？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rejected / pending 理由成立吗？</a:t>
            </a:r>
          </a:p>
        </p:txBody>
      </p:sp>
      <p:sp>
        <p:nvSpPr>
          <p:cNvPr id="13" name="visual-19-7-p19-state">
            <a:extLst xmlns:a="http://schemas.openxmlformats.org/drawingml/2006/main">
              <a:ext uri="{FF2B5EF4-FFF2-40B4-BE49-F238E27FC236}">
                <a16:creationId xmlns:a16="http://schemas.microsoft.com/office/drawing/2014/main" id="{6EC30814-EBC7-41DE-BBEF-D01B8930CC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1771650"/>
            <a:ext cx="2476500" cy="2647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作者记录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采纳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暂不采纳</a:t>
            </a:r>
          </a:p>
          <a:p xmlns:a="http://schemas.openxmlformats.org/drawingml/2006/main">
            <a:pPr algn="l">
              <a:lnSpc>
                <a:spcPct val="105000"/>
              </a:lnSpc>
              <a:buNone/>
              <a:def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18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待核验</a:t>
            </a:r>
          </a:p>
        </p:txBody>
      </p:sp>
      <p:sp>
        <p:nvSpPr>
          <p:cNvPr id="14" name="visual-19-8-p19-bottom">
            <a:extLst xmlns:a="http://schemas.openxmlformats.org/drawingml/2006/main">
              <a:ext uri="{FF2B5EF4-FFF2-40B4-BE49-F238E27FC236}">
                <a16:creationId xmlns:a16="http://schemas.microsoft.com/office/drawing/2014/main" id="{0C52B05D-2EE7-4C84-BF23-9FA58F35EB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5219700"/>
            <a:ext cx="7048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同伴只提问题，不替作者决定，不形成共同提交。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0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本讲知识点总结：检索是证据入口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844E025A-983C-6D44-79C6-4612AACD43FC}" type="slidenum">
              <a:t>20</a:t>
            </a:fld>
            <a:endParaRPr/>
          </a:p>
        </p:txBody>
      </p:sp>
      <p:sp>
        <p:nvSpPr>
          <p:cNvPr id="6" name="visual-20-0-p20-chain-0">
            <a:extLst xmlns:a="http://schemas.openxmlformats.org/drawingml/2006/main">
              <a:ext uri="{FF2B5EF4-FFF2-40B4-BE49-F238E27FC236}">
                <a16:creationId xmlns:a16="http://schemas.microsoft.com/office/drawing/2014/main" id="{D7FBB432-3AFB-451F-BA0C-BB45F44C04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问题初稿</a:t>
            </a:r>
          </a:p>
        </p:txBody>
      </p:sp>
      <p:sp>
        <p:nvSpPr>
          <p:cNvPr id="7" name="visual-20-1-p20-arrow-0">
            <a:extLst xmlns:a="http://schemas.openxmlformats.org/drawingml/2006/main">
              <a:ext uri="{FF2B5EF4-FFF2-40B4-BE49-F238E27FC236}">
                <a16:creationId xmlns:a16="http://schemas.microsoft.com/office/drawing/2014/main" id="{8F81C4A0-B781-4F6E-8C5B-A733CE601E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051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8" name="visual-20-2-p20-chain-1">
            <a:extLst xmlns:a="http://schemas.openxmlformats.org/drawingml/2006/main">
              <a:ext uri="{FF2B5EF4-FFF2-40B4-BE49-F238E27FC236}">
                <a16:creationId xmlns:a16="http://schemas.microsoft.com/office/drawing/2014/main" id="{8F9BD0A4-E14D-4DD1-BBA8-88B5A423FA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关键词／检索式</a:t>
            </a:r>
          </a:p>
        </p:txBody>
      </p:sp>
      <p:sp>
        <p:nvSpPr>
          <p:cNvPr id="9" name="visual-20-3-p20-arrow-1">
            <a:extLst xmlns:a="http://schemas.openxmlformats.org/drawingml/2006/main">
              <a:ext uri="{FF2B5EF4-FFF2-40B4-BE49-F238E27FC236}">
                <a16:creationId xmlns:a16="http://schemas.microsoft.com/office/drawing/2014/main" id="{A67C1FFB-8E0B-4A57-8000-77AB4942A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626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0" name="visual-20-4-p20-chain-2">
            <a:extLst xmlns:a="http://schemas.openxmlformats.org/drawingml/2006/main">
              <a:ext uri="{FF2B5EF4-FFF2-40B4-BE49-F238E27FC236}">
                <a16:creationId xmlns:a16="http://schemas.microsoft.com/office/drawing/2014/main" id="{EF569530-87D1-4F4D-A63D-31CB667C4B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来源审计</a:t>
            </a:r>
          </a:p>
        </p:txBody>
      </p:sp>
      <p:sp>
        <p:nvSpPr>
          <p:cNvPr id="11" name="visual-20-5-p20-arrow-2">
            <a:extLst xmlns:a="http://schemas.openxmlformats.org/drawingml/2006/main">
              <a:ext uri="{FF2B5EF4-FFF2-40B4-BE49-F238E27FC236}">
                <a16:creationId xmlns:a16="http://schemas.microsoft.com/office/drawing/2014/main" id="{14FDB0AB-5573-4034-A76C-514FCE6C31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1162050"/>
            <a:ext cx="4191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→</a:t>
            </a:r>
          </a:p>
        </p:txBody>
      </p:sp>
      <p:sp>
        <p:nvSpPr>
          <p:cNvPr id="12" name="visual-20-6-p20-chain-3">
            <a:extLst xmlns:a="http://schemas.openxmlformats.org/drawingml/2006/main">
              <a:ext uri="{FF2B5EF4-FFF2-40B4-BE49-F238E27FC236}">
                <a16:creationId xmlns:a16="http://schemas.microsoft.com/office/drawing/2014/main" id="{59BA110B-424E-4CAA-A94D-78ED34BC8A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1066800"/>
            <a:ext cx="2381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候选文献表</a:t>
            </a:r>
          </a:p>
        </p:txBody>
      </p:sp>
      <p:sp>
        <p:nvSpPr>
          <p:cNvPr id="13" name="visual-20-7-p20-row-label-0">
            <a:extLst xmlns:a="http://schemas.openxmlformats.org/drawingml/2006/main">
              <a:ext uri="{FF2B5EF4-FFF2-40B4-BE49-F238E27FC236}">
                <a16:creationId xmlns:a16="http://schemas.microsoft.com/office/drawing/2014/main" id="{6D80DA47-3FF9-4FE6-AC82-A1C2AA9697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095500"/>
            <a:ext cx="110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角色</a:t>
            </a:r>
          </a:p>
        </p:txBody>
      </p:sp>
      <p:sp>
        <p:nvSpPr>
          <p:cNvPr id="14" name="visual-20-8-p20-row-basis-0">
            <a:extLst xmlns:a="http://schemas.openxmlformats.org/drawingml/2006/main">
              <a:ext uri="{FF2B5EF4-FFF2-40B4-BE49-F238E27FC236}">
                <a16:creationId xmlns:a16="http://schemas.microsoft.com/office/drawing/2014/main" id="{1491AA5D-DC9B-4CA1-87ED-439471C5BF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095500"/>
            <a:ext cx="2686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相对于问题或拟用主张</a:t>
            </a:r>
          </a:p>
        </p:txBody>
      </p:sp>
      <p:sp>
        <p:nvSpPr>
          <p:cNvPr id="15" name="visual-20-9-p20-row-content-0">
            <a:extLst xmlns:a="http://schemas.openxmlformats.org/drawingml/2006/main">
              <a:ext uri="{FF2B5EF4-FFF2-40B4-BE49-F238E27FC236}">
                <a16:creationId xmlns:a16="http://schemas.microsoft.com/office/drawing/2014/main" id="{9FE6C6CF-BDC9-45B2-9D26-9E73200955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095500"/>
            <a:ext cx="6705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主／补充／对比／探索线索</a:t>
            </a:r>
          </a:p>
        </p:txBody>
      </p:sp>
      <p:sp>
        <p:nvSpPr>
          <p:cNvPr id="16" name="visual-20-10-p20-row-label-1">
            <a:extLst xmlns:a="http://schemas.openxmlformats.org/drawingml/2006/main">
              <a:ext uri="{FF2B5EF4-FFF2-40B4-BE49-F238E27FC236}">
                <a16:creationId xmlns:a16="http://schemas.microsoft.com/office/drawing/2014/main" id="{24A2BB4F-5F7E-4AE9-B43F-C60A0FB9C8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2990850"/>
            <a:ext cx="110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状态</a:t>
            </a:r>
          </a:p>
        </p:txBody>
      </p:sp>
      <p:sp>
        <p:nvSpPr>
          <p:cNvPr id="17" name="visual-20-11-p20-row-basis-1">
            <a:extLst xmlns:a="http://schemas.openxmlformats.org/drawingml/2006/main">
              <a:ext uri="{FF2B5EF4-FFF2-40B4-BE49-F238E27FC236}">
                <a16:creationId xmlns:a16="http://schemas.microsoft.com/office/drawing/2014/main" id="{C45C41CC-06BC-4B70-A18C-6702A3532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2990850"/>
            <a:ext cx="2686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回原文裁定</a:t>
            </a:r>
          </a:p>
        </p:txBody>
      </p:sp>
      <p:sp>
        <p:nvSpPr>
          <p:cNvPr id="18" name="visual-20-12-p20-row-content-1">
            <a:extLst xmlns:a="http://schemas.openxmlformats.org/drawingml/2006/main">
              <a:ext uri="{FF2B5EF4-FFF2-40B4-BE49-F238E27FC236}">
                <a16:creationId xmlns:a16="http://schemas.microsoft.com/office/drawing/2014/main" id="{748D34FD-AAEC-4341-9BB8-C1BD0261D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2990850"/>
            <a:ext cx="6705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pending／verified／verified-with-caveat／rejected</a:t>
            </a:r>
          </a:p>
        </p:txBody>
      </p:sp>
      <p:sp>
        <p:nvSpPr>
          <p:cNvPr id="19" name="visual-20-13-p20-row-label-2">
            <a:extLst xmlns:a="http://schemas.openxmlformats.org/drawingml/2006/main">
              <a:ext uri="{FF2B5EF4-FFF2-40B4-BE49-F238E27FC236}">
                <a16:creationId xmlns:a16="http://schemas.microsoft.com/office/drawing/2014/main" id="{C155B482-36D1-465C-BB91-7AE0F787C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86200"/>
            <a:ext cx="11049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决定</a:t>
            </a:r>
          </a:p>
        </p:txBody>
      </p:sp>
      <p:sp>
        <p:nvSpPr>
          <p:cNvPr id="20" name="visual-20-14-p20-row-basis-2">
            <a:extLst xmlns:a="http://schemas.openxmlformats.org/drawingml/2006/main">
              <a:ext uri="{FF2B5EF4-FFF2-40B4-BE49-F238E27FC236}">
                <a16:creationId xmlns:a16="http://schemas.microsoft.com/office/drawing/2014/main" id="{C6FFD67A-4350-482F-9B45-72E0C998CC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62150" y="3886200"/>
            <a:ext cx="26860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人工记录</a:t>
            </a:r>
          </a:p>
        </p:txBody>
      </p:sp>
      <p:sp>
        <p:nvSpPr>
          <p:cNvPr id="21" name="visual-20-15-p20-row-content-2">
            <a:extLst xmlns:a="http://schemas.openxmlformats.org/drawingml/2006/main">
              <a:ext uri="{FF2B5EF4-FFF2-40B4-BE49-F238E27FC236}">
                <a16:creationId xmlns:a16="http://schemas.microsoft.com/office/drawing/2014/main" id="{B51A8734-B39E-4F8B-A4EB-07BA792781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62500" y="3886200"/>
            <a:ext cx="670560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4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纳入／排除及理由；冲突证据保留</a:t>
            </a:r>
          </a:p>
        </p:txBody>
      </p:sp>
      <p:sp>
        <p:nvSpPr>
          <p:cNvPr id="22" name="visual-20-16-p20-boundary">
            <a:extLst xmlns:a="http://schemas.openxmlformats.org/drawingml/2006/main">
              <a:ext uri="{FF2B5EF4-FFF2-40B4-BE49-F238E27FC236}">
                <a16:creationId xmlns:a16="http://schemas.microsoft.com/office/drawing/2014/main" id="{49884C67-CFED-41E2-8CF5-C83754C50E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" y="4857750"/>
            <a:ext cx="97917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AI 可以扩展、检索、整理和提出建议；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学生确认问题、主张、角色与纳入决定。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slides/slide21.xml><?xml version="1.0" encoding="utf-8"?>
<p:sld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4D941B40-7A0A-534E-3563-CA11753C8E3F}"/>
              </a:ext>
            </a:extLst>
          </p:cNvPr>
          <p:cNvSpPr>
            <a:spLocks xmlns:a="http://schemas.openxmlformats.org/drawingml/2006/main" noGrp="1"/>
          </p:cNvSpPr>
          <p:nvPr>
            <p:ph type="body" idx="14"/>
          </p:nvPr>
        </p:nvSpPr>
        <p:spPr>
          <a:xfrm xmlns:a="http://schemas.openxmlformats.org/drawingml/2006/main">
            <a:off x="1028700" y="28575"/>
            <a:ext cx="10668000" cy="628650"/>
          </a:xfrm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buNone/>
            </a:pPr>
            <a:r>
              <a:rPr sz="30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退出卡与第 4 课预告</a:t>
            </a:r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EBA5909F-738E-F60C-BE8C-B3F1D94548E5}"/>
              </a:ext>
            </a:extLst>
          </p:cNvPr>
          <p:cNvSpPr>
            <a:spLocks xmlns:a="http://schemas.openxmlformats.org/drawingml/2006/main" noGrp="1"/>
          </p:cNvSpPr>
          <p:nvPr>
            <p:ph type="sldNum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F6DF2BE2-2DFA-1C03-677D-BDC2260D6D92}" type="slidenum">
              <a:t>21</a:t>
            </a:fld>
            <a:endParaRPr/>
          </a:p>
        </p:txBody>
      </p:sp>
      <p:sp>
        <p:nvSpPr>
          <p:cNvPr id="6" name="visual-21-0-p21-exit-title">
            <a:extLst xmlns:a="http://schemas.openxmlformats.org/drawingml/2006/main">
              <a:ext uri="{FF2B5EF4-FFF2-40B4-BE49-F238E27FC236}">
                <a16:creationId xmlns:a16="http://schemas.microsoft.com/office/drawing/2014/main" id="{085A9173-2A7C-44C8-B7CC-49DA17607A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10668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退出卡</a:t>
            </a:r>
          </a:p>
        </p:txBody>
      </p:sp>
      <p:sp>
        <p:nvSpPr>
          <p:cNvPr id="7" name="visual-21-1-p21-i-0">
            <a:extLst xmlns:a="http://schemas.openxmlformats.org/drawingml/2006/main">
              <a:ext uri="{FF2B5EF4-FFF2-40B4-BE49-F238E27FC236}">
                <a16:creationId xmlns:a16="http://schemas.microsoft.com/office/drawing/2014/main" id="{300E1573-B329-45A8-9B78-F3F41C9616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1676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01  最清楚的一点</a:t>
            </a:r>
          </a:p>
        </p:txBody>
      </p:sp>
      <p:sp>
        <p:nvSpPr>
          <p:cNvPr id="8" name="visual-21-2-p21-i-1">
            <a:extLst xmlns:a="http://schemas.openxmlformats.org/drawingml/2006/main">
              <a:ext uri="{FF2B5EF4-FFF2-40B4-BE49-F238E27FC236}">
                <a16:creationId xmlns:a16="http://schemas.microsoft.com/office/drawing/2014/main" id="{9497F9D7-6B60-4BD2-A553-1A3C141CBC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23431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02  仍然困惑的一点</a:t>
            </a:r>
          </a:p>
        </p:txBody>
      </p:sp>
      <p:sp>
        <p:nvSpPr>
          <p:cNvPr id="9" name="visual-21-3-p21-i-2">
            <a:extLst xmlns:a="http://schemas.openxmlformats.org/drawingml/2006/main">
              <a:ext uri="{FF2B5EF4-FFF2-40B4-BE49-F238E27FC236}">
                <a16:creationId xmlns:a16="http://schemas.microsoft.com/office/drawing/2014/main" id="{D3652F5F-7DE2-48BA-929A-4F11790274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0099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03  检索是否可复盘</a:t>
            </a:r>
          </a:p>
        </p:txBody>
      </p:sp>
      <p:sp>
        <p:nvSpPr>
          <p:cNvPr id="10" name="visual-21-4-p21-i-3">
            <a:extLst xmlns:a="http://schemas.openxmlformats.org/drawingml/2006/main">
              <a:ext uri="{FF2B5EF4-FFF2-40B4-BE49-F238E27FC236}">
                <a16:creationId xmlns:a16="http://schemas.microsoft.com/office/drawing/2014/main" id="{80977670-1F0E-437C-9538-EA6C2B323F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367665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04  当前 verified 条数</a:t>
            </a:r>
          </a:p>
        </p:txBody>
      </p:sp>
      <p:sp>
        <p:nvSpPr>
          <p:cNvPr id="11" name="visual-21-5-p21-i-4">
            <a:extLst xmlns:a="http://schemas.openxmlformats.org/drawingml/2006/main">
              <a:ext uri="{FF2B5EF4-FFF2-40B4-BE49-F238E27FC236}">
                <a16:creationId xmlns:a16="http://schemas.microsoft.com/office/drawing/2014/main" id="{D09094DF-0A5B-42B7-8E9C-B83A30E25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2950" y="4343400"/>
            <a:ext cx="45720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05  第 4 课需补的案例</a:t>
            </a:r>
          </a:p>
        </p:txBody>
      </p:sp>
      <p:sp>
        <p:nvSpPr>
          <p:cNvPr id="12" name="visual-21-6-p21-path-title">
            <a:extLst xmlns:a="http://schemas.openxmlformats.org/drawingml/2006/main">
              <a:ext uri="{FF2B5EF4-FFF2-40B4-BE49-F238E27FC236}">
                <a16:creationId xmlns:a16="http://schemas.microsoft.com/office/drawing/2014/main" id="{7B351669-2C29-43C8-B139-2F469C82BC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1066800"/>
            <a:ext cx="44767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接下来</a:t>
            </a:r>
          </a:p>
        </p:txBody>
      </p:sp>
      <p:sp>
        <p:nvSpPr>
          <p:cNvPr id="13" name="visual-21-7-p21-p-0">
            <a:extLst xmlns:a="http://schemas.openxmlformats.org/drawingml/2006/main">
              <a:ext uri="{FF2B5EF4-FFF2-40B4-BE49-F238E27FC236}">
                <a16:creationId xmlns:a16="http://schemas.microsoft.com/office/drawing/2014/main" id="{3043C9F9-0C06-4C6E-B581-76E9D6A42D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1809750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候选文献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今天</a:t>
            </a:r>
          </a:p>
        </p:txBody>
      </p:sp>
      <p:sp>
        <p:nvSpPr>
          <p:cNvPr id="14" name="visual-21-8-p21-down-0">
            <a:extLst xmlns:a="http://schemas.openxmlformats.org/drawingml/2006/main">
              <a:ext uri="{FF2B5EF4-FFF2-40B4-BE49-F238E27FC236}">
                <a16:creationId xmlns:a16="http://schemas.microsoft.com/office/drawing/2014/main" id="{922662C1-4CF0-464E-9174-0B1CA73127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25717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5" name="visual-21-9-p21-p-1">
            <a:extLst xmlns:a="http://schemas.openxmlformats.org/drawingml/2006/main">
              <a:ext uri="{FF2B5EF4-FFF2-40B4-BE49-F238E27FC236}">
                <a16:creationId xmlns:a16="http://schemas.microsoft.com/office/drawing/2014/main" id="{F72DCF28-9D26-4ADD-A466-94A68FC29E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876550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4 课精读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下一步</a:t>
            </a:r>
          </a:p>
        </p:txBody>
      </p:sp>
      <p:sp>
        <p:nvSpPr>
          <p:cNvPr id="16" name="visual-21-10-p21-down-1">
            <a:extLst xmlns:a="http://schemas.openxmlformats.org/drawingml/2006/main">
              <a:ext uri="{FF2B5EF4-FFF2-40B4-BE49-F238E27FC236}">
                <a16:creationId xmlns:a16="http://schemas.microsoft.com/office/drawing/2014/main" id="{EE6E7A63-9A45-4534-8F54-E9060DABF0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15350" y="3638550"/>
            <a:ext cx="685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4000"/>
              </a:lnSpc>
              <a:buNone/>
              <a:def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200" b="1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↓</a:t>
            </a:r>
          </a:p>
        </p:txBody>
      </p:sp>
      <p:sp>
        <p:nvSpPr>
          <p:cNvPr id="17" name="visual-21-11-p21-p-2">
            <a:extLst xmlns:a="http://schemas.openxmlformats.org/drawingml/2006/main">
              <a:ext uri="{FF2B5EF4-FFF2-40B4-BE49-F238E27FC236}">
                <a16:creationId xmlns:a16="http://schemas.microsoft.com/office/drawing/2014/main" id="{CC836718-70DD-4A45-8AA5-F7816535411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3943350"/>
            <a:ext cx="38100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t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第 6 课问题门</a:t>
            </a:r>
          </a:p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统一检查</a:t>
            </a:r>
          </a:p>
        </p:txBody>
      </p:sp>
      <p:sp>
        <p:nvSpPr>
          <p:cNvPr id="18" name="visual-21-12-p21-reading">
            <a:extLst xmlns:a="http://schemas.openxmlformats.org/drawingml/2006/main">
              <a:ext uri="{FF2B5EF4-FFF2-40B4-BE49-F238E27FC236}">
                <a16:creationId xmlns:a16="http://schemas.microsoft.com/office/drawing/2014/main" id="{EA8C5FB9-8644-4107-9EA4-DEE7450FA6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91250" y="4810125"/>
            <a:ext cx="542925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核心阅读：Booth et al., Chapter 3</a:t>
            </a:r>
          </a:p>
          <a:p xmlns:a="http://schemas.openxmlformats.org/drawingml/2006/main">
            <a:pPr algn="ctr">
              <a:lnSpc>
                <a:spcPct val="112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27333D"/>
                </a:solidFill>
                <a:latin typeface="微软雅黑"/>
                <a:ea typeface="微软雅黑"/>
                <a:cs typeface="微软雅黑"/>
              </a:rPr>
              <a:t>（约 30 分钟）</a:t>
            </a:r>
          </a:p>
        </p:txBody>
      </p:sp>
      <p:sp>
        <p:nvSpPr>
          <p:cNvPr id="19" name="visual-21-13-p21-bottom">
            <a:extLst xmlns:a="http://schemas.openxmlformats.org/drawingml/2006/main">
              <a:ext uri="{FF2B5EF4-FFF2-40B4-BE49-F238E27FC236}">
                <a16:creationId xmlns:a16="http://schemas.microsoft.com/office/drawing/2014/main" id="{3BE0804E-08F4-4374-BEA9-6828B0BA58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86400"/>
            <a:ext cx="7239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4000"/>
              </a:lnSpc>
              <a:buNone/>
              <a:def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defRPr>
            </a:pPr>
            <a:r>
              <a:rPr sz="2000" b="0">
                <a:solidFill>
                  <a:srgbClr val="1F4D78"/>
                </a:solidFill>
                <a:latin typeface="微软雅黑"/>
                <a:ea typeface="微软雅黑"/>
                <a:cs typeface="微软雅黑"/>
              </a:rPr>
              <a:t>持续回写个人项目，不新增课后正式作业。</a:t>
            </a:r>
          </a:p>
        </p:txBody>
      </p:sp>
    </p:spTree>
    <p:extLst>
      <p:ext uri="{BB962C8B-B14F-4D97-AF65-F5344CB8AC3E}">
        <p14:creationId xmlns:p14="http://schemas.microsoft.com/office/powerpoint/2010/main" val="1443728403"/>
      </p:ext>
    </p:extLst>
  </p:cSld>
</p:sld>
</file>

<file path=ppt/theme/theme1.xml><?xml version="1.0" encoding="utf-8"?>
<a:theme xmlns:a="http://schemas.openxmlformats.org/drawingml/2006/main" name="Office 主题​​">
  <a:themeElements>
    <a:clrScheme name="SJTU-2019">
      <a:dk1>
        <a:srgbClr val="000000"/>
      </a:dk1>
      <a:lt1>
        <a:srgbClr val="FFFFFF"/>
      </a:lt1>
      <a:dk2>
        <a:srgbClr val="1B1C21"/>
      </a:dk2>
      <a:lt2>
        <a:srgbClr val="DBDBDB"/>
      </a:lt2>
      <a:accent1>
        <a:srgbClr val="C8161E"/>
      </a:accent1>
      <a:accent2>
        <a:srgbClr val="44546A"/>
      </a:accent2>
      <a:accent3>
        <a:srgbClr val="1F4D78"/>
      </a:accent3>
      <a:accent4>
        <a:srgbClr val="ED7D31"/>
      </a:accent4>
      <a:accent5>
        <a:srgbClr val="FFC000"/>
      </a:accent5>
      <a:accent6>
        <a:srgbClr val="A5A5A5"/>
      </a:accent6>
      <a:hlink>
        <a:srgbClr val="196E7D"/>
      </a:hlink>
      <a:folHlink>
        <a:srgbClr val="BEBEBE"/>
      </a:folHlink>
    </a:clrScheme>
    <a:fontScheme name="外宣普适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SJTU-2019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6350">
          <a:solidFill>
            <a:schemeClr val="phClr"/>
          </a:solidFill>
          <a:prstDash val="solid"/>
        </a:ln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2026-09-12T12:03:02.6580000Z</dcterms:created>
  <dcterms:modified xsi:type="dcterms:W3CDTF">2026-09-12T12:03:02.6580000Z</dcterms:modified>
</coreProperties>
</file>