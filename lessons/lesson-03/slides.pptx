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a9f0afa12846e7" /><Relationship Type="http://schemas.openxmlformats.org/officeDocument/2006/relationships/extended-properties" Target="/docProps/app.xml" Id="R59a969756f70433c" /><Relationship Type="http://schemas.openxmlformats.org/officeDocument/2006/relationships/officeDocument" Target="/ppt/presentation.xml" Id="Rdeef5c21cc58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6d5e4b60845dd"/>
  </p:sldMasterIdLst>
  <p:notesMasterIdLst>
    <p:notesMasterId xmlns:r="http://schemas.openxmlformats.org/officeDocument/2006/relationships" r:id="Re1da9e76cb654fd2"/>
  </p:notesMasterIdLst>
  <p:sldIdLst>
    <p:sldId xmlns:r="http://schemas.openxmlformats.org/officeDocument/2006/relationships" id="256" r:id="Rffcb86cc1d484d31"/>
    <p:sldId xmlns:r="http://schemas.openxmlformats.org/officeDocument/2006/relationships" id="257" r:id="R8edbcf1e1af94b39"/>
    <p:sldId xmlns:r="http://schemas.openxmlformats.org/officeDocument/2006/relationships" id="258" r:id="R47ac3c346ee84bb9"/>
    <p:sldId xmlns:r="http://schemas.openxmlformats.org/officeDocument/2006/relationships" id="259" r:id="R598a800a7075452c"/>
    <p:sldId xmlns:r="http://schemas.openxmlformats.org/officeDocument/2006/relationships" id="260" r:id="Rdb3cb112b75f4bcc"/>
    <p:sldId xmlns:r="http://schemas.openxmlformats.org/officeDocument/2006/relationships" id="261" r:id="R538ce59a13654321"/>
    <p:sldId xmlns:r="http://schemas.openxmlformats.org/officeDocument/2006/relationships" id="262" r:id="R3aad7d8841fa4506"/>
    <p:sldId xmlns:r="http://schemas.openxmlformats.org/officeDocument/2006/relationships" id="263" r:id="R1b5c38cca02c4984"/>
    <p:sldId xmlns:r="http://schemas.openxmlformats.org/officeDocument/2006/relationships" id="264" r:id="Rfa798eef3b6e4f98"/>
    <p:sldId xmlns:r="http://schemas.openxmlformats.org/officeDocument/2006/relationships" id="265" r:id="R1cb3723cd982459e"/>
    <p:sldId xmlns:r="http://schemas.openxmlformats.org/officeDocument/2006/relationships" id="266" r:id="Reafdd44243d047ca"/>
    <p:sldId xmlns:r="http://schemas.openxmlformats.org/officeDocument/2006/relationships" id="267" r:id="R6089dca0dcb648fa"/>
    <p:sldId xmlns:r="http://schemas.openxmlformats.org/officeDocument/2006/relationships" id="268" r:id="R3e94917428854622"/>
    <p:sldId xmlns:r="http://schemas.openxmlformats.org/officeDocument/2006/relationships" id="269" r:id="R6236e1cdb3b64c64"/>
    <p:sldId xmlns:r="http://schemas.openxmlformats.org/officeDocument/2006/relationships" id="270" r:id="Raa6643bc2fea4139"/>
    <p:sldId xmlns:r="http://schemas.openxmlformats.org/officeDocument/2006/relationships" id="271" r:id="R64a3a7e7265644ee"/>
    <p:sldId xmlns:r="http://schemas.openxmlformats.org/officeDocument/2006/relationships" id="272" r:id="Rd390abbf45164213"/>
    <p:sldId xmlns:r="http://schemas.openxmlformats.org/officeDocument/2006/relationships" id="273" r:id="R86b5b83877d941f2"/>
    <p:sldId xmlns:r="http://schemas.openxmlformats.org/officeDocument/2006/relationships" id="274" r:id="R0df8a5918eea4449"/>
    <p:sldId xmlns:r="http://schemas.openxmlformats.org/officeDocument/2006/relationships" id="275" r:id="R918fd2fef8ee406a"/>
    <p:sldId xmlns:r="http://schemas.openxmlformats.org/officeDocument/2006/relationships" id="276" r:id="Rd064d11e84fe47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351678fea34120" /><Relationship Type="http://schemas.openxmlformats.org/officeDocument/2006/relationships/slideMaster" Target="/ppt/slideMasters/slideMaster1.xml" Id="Rf996d5e4b60845dd" /><Relationship Type="http://schemas.openxmlformats.org/officeDocument/2006/relationships/notesMaster" Target="/ppt/notesMasters/notesMaster1.xml" Id="Re1da9e76cb654fd2" /><Relationship Type="http://schemas.openxmlformats.org/officeDocument/2006/relationships/presProps" Target="/ppt/presProps.xml" Id="R6ecbc3e597154965" /><Relationship Type="http://schemas.openxmlformats.org/officeDocument/2006/relationships/viewProps" Target="/ppt/viewProps.xml" Id="R5f210a71771647b7" /><Relationship Type="http://schemas.openxmlformats.org/officeDocument/2006/relationships/tableStyles" Target="/ppt/tableStyles.xml" Id="R75e7594dc43949ee" /><Relationship Type="http://schemas.openxmlformats.org/officeDocument/2006/relationships/slide" Target="/ppt/slides/slide1.xml" Id="Rffcb86cc1d484d31" /><Relationship Type="http://schemas.openxmlformats.org/officeDocument/2006/relationships/slide" Target="/ppt/slides/slide2.xml" Id="R8edbcf1e1af94b39" /><Relationship Type="http://schemas.openxmlformats.org/officeDocument/2006/relationships/slide" Target="/ppt/slides/slide3.xml" Id="R47ac3c346ee84bb9" /><Relationship Type="http://schemas.openxmlformats.org/officeDocument/2006/relationships/slide" Target="/ppt/slides/slide4.xml" Id="R598a800a7075452c" /><Relationship Type="http://schemas.openxmlformats.org/officeDocument/2006/relationships/slide" Target="/ppt/slides/slide5.xml" Id="Rdb3cb112b75f4bcc" /><Relationship Type="http://schemas.openxmlformats.org/officeDocument/2006/relationships/slide" Target="/ppt/slides/slide6.xml" Id="R538ce59a13654321" /><Relationship Type="http://schemas.openxmlformats.org/officeDocument/2006/relationships/slide" Target="/ppt/slides/slide7.xml" Id="R3aad7d8841fa4506" /><Relationship Type="http://schemas.openxmlformats.org/officeDocument/2006/relationships/slide" Target="/ppt/slides/slide8.xml" Id="R1b5c38cca02c4984" /><Relationship Type="http://schemas.openxmlformats.org/officeDocument/2006/relationships/slide" Target="/ppt/slides/slide9.xml" Id="Rfa798eef3b6e4f98" /><Relationship Type="http://schemas.openxmlformats.org/officeDocument/2006/relationships/slide" Target="/ppt/slides/slide10.xml" Id="R1cb3723cd982459e" /><Relationship Type="http://schemas.openxmlformats.org/officeDocument/2006/relationships/slide" Target="/ppt/slides/slide11.xml" Id="Reafdd44243d047ca" /><Relationship Type="http://schemas.openxmlformats.org/officeDocument/2006/relationships/slide" Target="/ppt/slides/slide12.xml" Id="R6089dca0dcb648fa" /><Relationship Type="http://schemas.openxmlformats.org/officeDocument/2006/relationships/slide" Target="/ppt/slides/slide13.xml" Id="R3e94917428854622" /><Relationship Type="http://schemas.openxmlformats.org/officeDocument/2006/relationships/slide" Target="/ppt/slides/slide14.xml" Id="R6236e1cdb3b64c64" /><Relationship Type="http://schemas.openxmlformats.org/officeDocument/2006/relationships/slide" Target="/ppt/slides/slide15.xml" Id="Raa6643bc2fea4139" /><Relationship Type="http://schemas.openxmlformats.org/officeDocument/2006/relationships/slide" Target="/ppt/slides/slide16.xml" Id="R64a3a7e7265644ee" /><Relationship Type="http://schemas.openxmlformats.org/officeDocument/2006/relationships/slide" Target="/ppt/slides/slide17.xml" Id="Rd390abbf45164213" /><Relationship Type="http://schemas.openxmlformats.org/officeDocument/2006/relationships/slide" Target="/ppt/slides/slide18.xml" Id="R86b5b83877d941f2" /><Relationship Type="http://schemas.openxmlformats.org/officeDocument/2006/relationships/slide" Target="/ppt/slides/slide19.xml" Id="R0df8a5918eea4449" /><Relationship Type="http://schemas.openxmlformats.org/officeDocument/2006/relationships/slide" Target="/ppt/slides/slide20.xml" Id="R918fd2fef8ee406a" /><Relationship Type="http://schemas.openxmlformats.org/officeDocument/2006/relationships/slide" Target="/ppt/slides/slide21.xml" Id="Rd064d11e84fe47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3cd6d45dfc48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5f435979204289" /><Relationship Type="http://schemas.openxmlformats.org/officeDocument/2006/relationships/notesMaster" Target="/ppt/notesMasters/notesMaster1.xml" Id="R7c343696eee142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c9dc6c755f42b8" /><Relationship Type="http://schemas.openxmlformats.org/officeDocument/2006/relationships/notesMaster" Target="/ppt/notesMasters/notesMaster1.xml" Id="Re60f663e9e2d4d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065b74f8a74475" /><Relationship Type="http://schemas.openxmlformats.org/officeDocument/2006/relationships/notesMaster" Target="/ppt/notesMasters/notesMaster1.xml" Id="Rce02bf7881584b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3675c754a24043" /><Relationship Type="http://schemas.openxmlformats.org/officeDocument/2006/relationships/notesMaster" Target="/ppt/notesMasters/notesMaster1.xml" Id="R1dea37a6f4ae46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332d3942f848ac" /><Relationship Type="http://schemas.openxmlformats.org/officeDocument/2006/relationships/notesMaster" Target="/ppt/notesMasters/notesMaster1.xml" Id="R438afdb652ef42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1e1ccb87ee470b" /><Relationship Type="http://schemas.openxmlformats.org/officeDocument/2006/relationships/notesMaster" Target="/ppt/notesMasters/notesMaster1.xml" Id="R6364f3c5171b40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78d012bbf54e0d" /><Relationship Type="http://schemas.openxmlformats.org/officeDocument/2006/relationships/notesMaster" Target="/ppt/notesMasters/notesMaster1.xml" Id="R2bf0d07c418948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ca7a0144764b56" /><Relationship Type="http://schemas.openxmlformats.org/officeDocument/2006/relationships/notesMaster" Target="/ppt/notesMasters/notesMaster1.xml" Id="R93f82ae566c044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8ad530b3844652" /><Relationship Type="http://schemas.openxmlformats.org/officeDocument/2006/relationships/notesMaster" Target="/ppt/notesMasters/notesMaster1.xml" Id="R32dbbf423fa743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f44606602042fe" /><Relationship Type="http://schemas.openxmlformats.org/officeDocument/2006/relationships/notesMaster" Target="/ppt/notesMasters/notesMaster1.xml" Id="Rd94c5a116fc942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9532a0607b4f62" /><Relationship Type="http://schemas.openxmlformats.org/officeDocument/2006/relationships/notesMaster" Target="/ppt/notesMasters/notesMaster1.xml" Id="Rc21e190cf49243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d513f561164fb2" /><Relationship Type="http://schemas.openxmlformats.org/officeDocument/2006/relationships/notesMaster" Target="/ppt/notesMasters/notesMaster1.xml" Id="R35db410f838a42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bb4932c78743e1" /><Relationship Type="http://schemas.openxmlformats.org/officeDocument/2006/relationships/notesMaster" Target="/ppt/notesMasters/notesMaster1.xml" Id="R8fea14b5e64347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35e963fa1347a2" /><Relationship Type="http://schemas.openxmlformats.org/officeDocument/2006/relationships/notesMaster" Target="/ppt/notesMasters/notesMaster1.xml" Id="R772946f87f3b4d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3ae7eb35d943e2" /><Relationship Type="http://schemas.openxmlformats.org/officeDocument/2006/relationships/notesMaster" Target="/ppt/notesMasters/notesMaster1.xml" Id="R2d212f4737184b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bcd0ab7db54b7c" /><Relationship Type="http://schemas.openxmlformats.org/officeDocument/2006/relationships/notesMaster" Target="/ppt/notesMasters/notesMaster1.xml" Id="R96614a7071eb4b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a3f77c56304cec" /><Relationship Type="http://schemas.openxmlformats.org/officeDocument/2006/relationships/notesMaster" Target="/ppt/notesMasters/notesMaster1.xml" Id="Rac094f00054a43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a3cf9b396445a6" /><Relationship Type="http://schemas.openxmlformats.org/officeDocument/2006/relationships/notesMaster" Target="/ppt/notesMasters/notesMaster1.xml" Id="R91486e37116941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76a585c10b4417" /><Relationship Type="http://schemas.openxmlformats.org/officeDocument/2006/relationships/notesMaster" Target="/ppt/notesMasters/notesMaster1.xml" Id="R33ae4dd9600f4a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2ad10febe14da6" /><Relationship Type="http://schemas.openxmlformats.org/officeDocument/2006/relationships/notesMaster" Target="/ppt/notesMasters/notesMaster1.xml" Id="Rc54b7457a0354fd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d51693040c4e7f" /><Relationship Type="http://schemas.openxmlformats.org/officeDocument/2006/relationships/notesMaster" Target="/ppt/notesMasters/notesMaster1.xml" Id="Rc06418cc91a1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第3讲 文献检索与证据角色判断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封面只完成课次与主题识别。进入 P02 后再提出方法问题：当 AI 已经能生成带引用的报告时，研究者怎样把检索过程变成可复盘的方法，并判断每条材料的证据角色。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课程定位以 [syllabus.md](../../course/syllabus.md) 与 [备课规划.md](../备课规划.md) 第 3 课段为准。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第 2 课之后，研究材料为何仍不可信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回扣第 2 课：受限交互让 AI 的动作可审计，但没有解决材料本身是否可信的问题。本课用可修改的问题初稿进入阶段四，处理“材料从哪来、可能支持什么”；八阶段是方法链，不是授课顺序。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快问：你最近一次把 AI 给出的引文直接搬进参考文献，是什么时候？只听回答，不评价。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回扣第 1-2 课讲义与 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两套查询漏掉了什么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先逐字执行给定语义：Q1 实际没有命中，因为 S5 只有 paper/card 而无 reading；保存记录本身有错。Q2 的 S2 也不命中，因为 title 中 reviews 满足第二组却不含 paper/reading；保存记录不能盲信。S1 缺 reading/card，需读/read 等同义词或独立题名检索。示例 read AND paper 在 title 中只命中 S1（S3 的 paper 仅在 keywords 中）；扩大 OR 可能纳入硬件。允许不同查询，但必须展示实际结果并说明精确率/覆盖的取舍。概念组不是独立查询分支；只有独立执行的查询才比较独有命中。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[备课规划.md](../备课规划.md) 第 3 课目标段；[assignments.md](../../course/assignments.md) 研究门条件。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搜得多不等于证据充分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来看几个常见错误。证据充分性来自角色清晰和独立性，不是数量。下面几页来看怎样从问题出发构造可复盘的检索过程。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请学生举手：你是否曾经把 AI 综述的引文直接复制进参考文献？只统计，不点名。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[AGENTS.md](../../AGENTS.md) 证据标准；[syllabus.md](../../course/syllabus.md) 教学原则。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外部输入不止论文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不要把所有材料混同。来源类型本身不决定可信度，但正式来源优先于转载和二手材料。AI 给出的题名、作者、DOI 必须回到正式来源核验，未核验前只能算探索线索。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让学生指出：你项目里目前哪类材料最多？哪类最缺？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§一 外部输入类型表；[reading-list.md](../../course/reading-list.md) 书目层级。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问题要素与独立查询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区分 OR 概念组与独立执行分支；角色用于盲点检查，不要求凑齐四类。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指出本人的概念组与一条独立查询。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贯穿案例来自第 1 课 handout；不预设结论。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检索式可被他人复盘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检索式不是"搜索框里打几个词"，而是可被他人复盘的查询串。检索记录是后续同伴互查和第 6 课问题门检查的依据。检索式应记录下来，使他人可以重现你怎样得到当前结果。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让学生用自己的关键词草拟一条检索式，并标记用到的布尔算子。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检索式为课程自编示例；可参照 Kitchenham &amp; Charters SLR guidelines 的 search strategy 部分（[reading-list.md](../../course/reading-list.md) 第 3 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纳入与排除条件检索前先写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纳入排除不是事后补写。检索前先写第一版，检索中根据结果调整。排除一项论文时记录理由，使后续复盘和同伴互查可以判断筛选是否公平。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请学生说出一条自己可能用到的排除条件，并说明理由。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Kitchenham &amp; Charters SLR guidelines 的 study selection 部分；PRISMA 2020 flow diagram 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证据角色：主证据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主证据直接对应当前问题或拟用主张。学生此时不必已有正式机制假设；先标预期角色，第 4-5 课精读和整理后可修正。一条材料可以同时承担多角色，但每个角色都要写明参照的主张。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§三 证据角色；[AGENTS.md](../../AGENTS.md)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证据角色：补充证据与对比证据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"独立"不简单等于两个不同网页。两篇互相转载的文章不是两项独立证据；同一代码路径运行两次也未必构成独立验证。独立性来自来源、测量、重复实验、对照、消融或分析路径的实质差异。冲突证据必须呈现，不能只保留支持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请学生举一个"看似独立其实不独立"的例子。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§三；[AGENTS.md](../../AGENTS.md) "稳定结论原则上需要两项相互独立的证据"。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证据角色：探索线索（AI 输出归位）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回扣第 1 课：AI 输出成为证据或结论前必须回到原文。本课再拆开三个字段：预期角色回答“可能做什么”，核验状态回答“核到哪里”，筛选决定回答“是否保留”。下一页讲入口核验。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让学生指出：你之前把 AI 给出的哪条引文当成了主证据？现在应该归到哪类？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 1 课 handout §2.4 外部输入摄取；[reading-list.md](../../course/reading-list.md) AI 辅助阅读协议。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入口核验：身份 + 一条拟用主张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本课不是只查 DOI，也不是把完整精读塞进一页。入口核验必须包含身份和一条拟用主张；多主张结构、指标和局限由第 4 课深化。DOI 缺失、网络超时或限流只产生失败记录和 `pending`，不能自动写成 `rejected`。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无。直接进入演示。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§四·2 入口核验与精读移交；AI 输出不构成证据（[AGENTS.md](../../AGENTS.md)）。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探索检索与题名核验分开记录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用 source-audit-demo 真实存档，不能把本地构造索引命中数当成学术库结果。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分别标记探索与身份定位。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Crossref 元数据：https://api.crossref.org/works/10.1145/1273445.1273458</a:t>
            </a:r>
          </a:p>
          <a:p xmlns:a="http://schemas.openxmlformats.org/drawingml/2006/main">
            <a:r>
              <a:t>- DOI：https://doi.org/10.1145/1273445.1273458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Keshav：身份与允许主张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原文§2支持方法结构；§4是经验描述。与P15状态保持一致，未查拟用主张时仍须pending。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指出允许主张、位置和限定。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Keshav, S. "How to Read a Paper." DOI: https://doi.org/10.1145/1273445.1273458</a:t>
            </a:r>
          </a:p>
          <a:p xmlns:a="http://schemas.openxmlformats.org/drawingml/2006/main">
            <a:r>
              <a:t>- 公开 PDF：https://cs.uwaterloo.ca/~Brecht/courses/856/readings/how-to-read/keshav-paper-reading.pdf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演示：合格条目进入候选表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Keshav 文章已被核验为真实来源，允许主张也能定位到原文；但它不直接回答“是否降低遗漏率”。因此状态是 `verified-with-caveat`，当前角色仍是探索线索。改变问题或拟用主张时，角色可以改变，状态不会因此自动改变。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无。进入下一页判断点。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§五 候选文献表；[starter-template.md](../../course/starter-template.md) 工件追踪。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真实 MI 错引：诊断与恢复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使用mi-search-trace-demo.md §6，逐一展示记录与原始来源；不把摘要复述成学生发生过的失败。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从原始记录指出一处身份冲突与恢复动作。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真实材料：[mi-search-trace-demo.md](./mi-search-trace-demo.md) §6（4 条真实 rejected 与恢复路径，公开 arXiv 元数据）；案例边界框见该文件开头。</a:t>
            </a:r>
          </a:p>
          <a:p xmlns:a="http://schemas.openxmlformats.org/drawingml/2006/main">
            <a:r>
              <a:t>- 状态规则见讲义 §四·3；学生练习用虚构表见讲义 §四·5（课堂构造，不得引用）。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第一段作决定并查证据；中点处理共性卡点；第二段实际回写并验证。先逐字执行给定语义：Q1 实际没有命中，因为 S5 只有 paper/card 而无 reading；保存记录本身有错。Q2 的 S2 也不命中，因为 title 中 reviews 满足第二组却不含 paper/reading；保存记录不能盲信。S1 缺 reading/card，需读/read 等同义词或独立题名检索。示例 read AND paper 在 title 中只命中 S1（S3 的 paper 仅在 keywords 中）；扩大 OR 可能纳入硬件。允许不同查询，但必须展示实际结果并说明精确率/覆盖的取舍。概念组不是独立查询分支；只有独立执行的查询才比较独有命中。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先修复保存结果，再在本地索引或可用学术库执行自己的修订查询，记录字段/语义/结果。对两条真实线索做身份与一条拟用主张审计；两条均核验通过也合格。同题允许独立定位与判断。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[starter-template.md](../../course/starter-template.md) 最小文件结构；第 1-2 课项目工件。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页面：P18 用证据解释检索变化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先逐字执行给定语义：Q1 实际没有命中，因为 S5 只有 paper/card 而无 reading；保存记录本身有错。Q2 的 S2 也不命中，因为 title 中 reviews 满足第二组却不含 paper/reading；保存记录不能盲信。S1 缺 reading/card，需读/read 等同义词或独立题名检索。示例 read AND paper 在 title 中只命中 S1（S3 的 paper 仅在 keywords 中）；扩大 OR 可能纳入硬件。允许不同查询，但必须展示实际结果并说明精确率/覆盖的取舍。概念组不是独立查询分支；只有独立执行的查询才比较独有命中。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同伴按查询逐字重放一个命中和一个漏检；候选条目有原文位置与纳入理由。离线用 S1/S2 存档审计，网络故障条目保持 pending。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§五 候选文献表；§二 检索记录字段。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页面：P19 同伴互查三问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每人约 3-5 分钟：一人用 45 秒说明问题、检索式和一条核验；同伴按三问反馈；作者记录处理决定。反馈不要求立即改写。反馈者不替代作者修改，不形成共同提交。人数为奇数时组成三人组，每人缩短说明时间。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两人互查，按三问留下反馈记录。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同伴反馈为形成性活动，不单独计分，不共同提交（[assignments.md](../../course/assignments.md)）。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页面：P20 本讲知识点总结：检索是证据入口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 3–6 课允许有预算上限的审计、环境检查、最小反例与试跑。观察写回问题，未知样本或失败含义保留待查；不新增正式提交。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 2.5 分钟复述一条主链和三个判断层次。强调“角色、状态、决定”不能合并：一篇文献可以身份已核验，但对当前主张仍只是探索线索；AI 可以提出四态和角色建议，最终确认与纳入理由由学生负责。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请学生对照自己的候选文献表，默检是否同时保留了角色、状态和决定三类字段；不现场新增正式提交。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本页为讲义 §二至§五的方法汇总，不引入新事实；</a:t>
            </a:r>
          </a:p>
          <a:p xmlns:a="http://schemas.openxmlformats.org/drawingml/2006/main">
            <a:r>
              <a:t>- AI 与人工边界以讲义 §二·5 和本课课堂产出要求为准。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页面：P21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按相同筛选条件从公开起始池扩展候选，保留排除理由；给 L4 选一条拟用主张。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Booth, W. C. et al. *The Craft of Research*, 5th ed. [出版社页面](https://press.uchicago.edu/ucp/books/book/chicago/C/bo215874008)。</a:t>
            </a:r>
          </a:p>
          <a:p xmlns:a="http://schemas.openxmlformats.org/drawingml/2006/main">
            <a:r>
              <a:t>- Kitchenham, B., &amp; Charters, S. EBSE-2007-01, 2007. [机构索引](https://ebse.webspace.durham.ac.uk/ebse-bibliography/guidelines-for-performing-systematic-literature-reviews-in-software-engineering/)。</a:t>
            </a:r>
          </a:p>
          <a:p xmlns:a="http://schemas.openxmlformats.org/drawingml/2006/main">
            <a:r>
              <a:t>- Page, M. J. et al. *BMJ* 372:n71 (2021). DOI: [10.1136/bmj.n71](https://www.bmj.com/content/372/bmj.n71)。</a:t>
            </a:r>
          </a:p>
          <a:p xmlns:a="http://schemas.openxmlformats.org/drawingml/2006/main">
            <a:r>
              <a:t>- 阅读规则见 [reading-list.md](../../course/reading-list.md)。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62fe7fbf84679" /><Relationship Type="http://schemas.openxmlformats.org/officeDocument/2006/relationships/image" Target="/ppt/media/image.png" Id="Rdf894d67c5ba4fa1" /><Relationship Type="http://schemas.openxmlformats.org/officeDocument/2006/relationships/image" Target="/ppt/media/image2.png" Id="Rc66a46bd16024195" /><Relationship Type="http://schemas.openxmlformats.org/officeDocument/2006/relationships/image" Target="/ppt/media/image3.png" Id="R80e4359a7b894da4" /><Relationship Type="http://schemas.openxmlformats.org/officeDocument/2006/relationships/image" Target="/ppt/media/image4.png" Id="R9aad6ccf377b4a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2787ceb0943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28c6ddf8c41b3" /><Relationship Type="http://schemas.openxmlformats.org/officeDocument/2006/relationships/image" Target="/ppt/media/image2.png" Id="R0d8f5dc11d4f4730" /><Relationship Type="http://schemas.openxmlformats.org/officeDocument/2006/relationships/image" Target="/ppt/media/image5.png" Id="Rf9fafd2ae04f46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682d68f3d4856" /><Relationship Type="http://schemas.openxmlformats.org/officeDocument/2006/relationships/image" Target="/ppt/media/image.png" Id="R674fce9027be48bc" /><Relationship Type="http://schemas.openxmlformats.org/officeDocument/2006/relationships/image" Target="/ppt/media/image3.png" Id="R3991314be7124573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94d67c5ba4fa1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6a46bd16024195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e4359a7b894da4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d6ccf377b4aa9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8f5dc11d4f4730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afd2ae04f46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fce9027be48bc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91314be712457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4e3d79d5bf4ada" /><Relationship Type="http://schemas.openxmlformats.org/officeDocument/2006/relationships/slideLayout" Target="/ppt/slideLayouts/slideLayout1.xml" Id="Ra7c510314cf845c5" /><Relationship Type="http://schemas.openxmlformats.org/officeDocument/2006/relationships/slideLayout" Target="/ppt/slideLayouts/slideLayout2.xml" Id="R629527c3c99d49c2" /><Relationship Type="http://schemas.openxmlformats.org/officeDocument/2006/relationships/slideLayout" Target="/ppt/slideLayouts/slideLayout3.xml" Id="R8f714e9235fb4d0d" /><Relationship Type="http://schemas.openxmlformats.org/officeDocument/2006/relationships/slideLayout" Target="/ppt/slideLayouts/slideLayout4.xml" Id="R1e831edb8d654ff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c510314cf845c5"/>
    <p:sldLayoutId xmlns:r="http://schemas.openxmlformats.org/officeDocument/2006/relationships" id="2147483650" r:id="R629527c3c99d49c2"/>
    <p:sldLayoutId xmlns:r="http://schemas.openxmlformats.org/officeDocument/2006/relationships" id="2147483651" r:id="R8f714e9235fb4d0d"/>
    <p:sldLayoutId xmlns:r="http://schemas.openxmlformats.org/officeDocument/2006/relationships" id="2147483652" r:id="R1e831edb8d654ff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e3fe3f5e74f06" /><Relationship Type="http://schemas.openxmlformats.org/officeDocument/2006/relationships/notesSlide" Target="/ppt/notesSlides/notesSlide1.xml" Id="R32014362b9c142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5e3ad8ba2b45fa" /><Relationship Type="http://schemas.openxmlformats.org/officeDocument/2006/relationships/notesSlide" Target="/ppt/notesSlides/notesSlide2.xml" Id="R69ed2c4cb4fa4c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e5c7224e3341be" /><Relationship Type="http://schemas.openxmlformats.org/officeDocument/2006/relationships/notesSlide" Target="/ppt/notesSlides/notesSlide3.xml" Id="R75aa9eee50144c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c7b4280286495c" /><Relationship Type="http://schemas.openxmlformats.org/officeDocument/2006/relationships/notesSlide" Target="/ppt/notesSlides/notesSlide4.xml" Id="R4392ecf93c7341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1ffcfe17894174" /><Relationship Type="http://schemas.openxmlformats.org/officeDocument/2006/relationships/notesSlide" Target="/ppt/notesSlides/notesSlide5.xml" Id="Ra7ffa3e9480746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72155bdfb54078" /><Relationship Type="http://schemas.openxmlformats.org/officeDocument/2006/relationships/notesSlide" Target="/ppt/notesSlides/notesSlide6.xml" Id="Rde2e370a220d4b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52d8ea93c34c7f" /><Relationship Type="http://schemas.openxmlformats.org/officeDocument/2006/relationships/notesSlide" Target="/ppt/notesSlides/notesSlide7.xml" Id="R1b15b5ef84774e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7050c8593047e3" /><Relationship Type="http://schemas.openxmlformats.org/officeDocument/2006/relationships/notesSlide" Target="/ppt/notesSlides/notesSlide8.xml" Id="R4c94379b18d94e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247f3027b44264" /><Relationship Type="http://schemas.openxmlformats.org/officeDocument/2006/relationships/notesSlide" Target="/ppt/notesSlides/notesSlide9.xml" Id="R3c240fab0b2e44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bdae8a124e4471" /><Relationship Type="http://schemas.openxmlformats.org/officeDocument/2006/relationships/notesSlide" Target="/ppt/notesSlides/notesSlide10.xml" Id="R125d2e682b9f43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7090733a7448d5" /><Relationship Type="http://schemas.openxmlformats.org/officeDocument/2006/relationships/notesSlide" Target="/ppt/notesSlides/notesSlide11.xml" Id="R5e09e916d01847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a687b2a0124a32" /><Relationship Type="http://schemas.openxmlformats.org/officeDocument/2006/relationships/notesSlide" Target="/ppt/notesSlides/notesSlide12.xml" Id="R26d36f6c1b9f40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2eb43eccb346ea" /><Relationship Type="http://schemas.openxmlformats.org/officeDocument/2006/relationships/notesSlide" Target="/ppt/notesSlides/notesSlide13.xml" Id="R9b59201c9dab4e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3163f87ae84283" /><Relationship Type="http://schemas.openxmlformats.org/officeDocument/2006/relationships/image" Target="/ppt/media/image6.png" Id="Rc0bb4d3c2c624073" /><Relationship Type="http://schemas.openxmlformats.org/officeDocument/2006/relationships/notesSlide" Target="/ppt/notesSlides/notesSlide14.xml" Id="R563be2a522264e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f354b4ca814425" /><Relationship Type="http://schemas.openxmlformats.org/officeDocument/2006/relationships/notesSlide" Target="/ppt/notesSlides/notesSlide15.xml" Id="R78e4fa5ee99d4d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f33ea7aa4544ba" /><Relationship Type="http://schemas.openxmlformats.org/officeDocument/2006/relationships/notesSlide" Target="/ppt/notesSlides/notesSlide16.xml" Id="R6a728563d1e643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594f1b436be4683" /><Relationship Type="http://schemas.openxmlformats.org/officeDocument/2006/relationships/notesSlide" Target="/ppt/notesSlides/notesSlide17.xml" Id="R9e4faea8a08c4e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b244ed9b474deb" /><Relationship Type="http://schemas.openxmlformats.org/officeDocument/2006/relationships/notesSlide" Target="/ppt/notesSlides/notesSlide18.xml" Id="R53a029df1cc543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15519f7ed24a50" /><Relationship Type="http://schemas.openxmlformats.org/officeDocument/2006/relationships/notesSlide" Target="/ppt/notesSlides/notesSlide19.xml" Id="R3183cce3409f48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9d610e7f194951" /><Relationship Type="http://schemas.openxmlformats.org/officeDocument/2006/relationships/notesSlide" Target="/ppt/notesSlides/notesSlide20.xml" Id="Rb7119c7ff3ce494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169912bda543c6" /><Relationship Type="http://schemas.openxmlformats.org/officeDocument/2006/relationships/notesSlide" Target="/ppt/notesSlides/notesSlide21.xml" Id="R63a885b2161a40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第3讲 文献检索与证据角色判断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课之后，研究材料为何仍不可信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visual-2-0-p02-left-title">
            <a:extLst xmlns:a="http://schemas.openxmlformats.org/drawingml/2006/main">
              <a:ext uri="{FF2B5EF4-FFF2-40B4-BE49-F238E27FC236}">
                <a16:creationId xmlns:a16="http://schemas.microsoft.com/office/drawing/2014/main" id="{DF3EE9A4-B6EA-40C3-A48E-1E99CE08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动作可审计</a:t>
            </a:r>
          </a:p>
        </p:txBody>
      </p:sp>
      <p:sp>
        <p:nvSpPr>
          <p:cNvPr id="7" name="visual-2-1-p02-l-0">
            <a:extLst xmlns:a="http://schemas.openxmlformats.org/drawingml/2006/main">
              <a:ext uri="{FF2B5EF4-FFF2-40B4-BE49-F238E27FC236}">
                <a16:creationId xmlns:a16="http://schemas.microsoft.com/office/drawing/2014/main" id="{DF43B53E-41F3-41F2-9A2C-112D61FA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88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✓  权限矩阵</a:t>
            </a:r>
          </a:p>
        </p:txBody>
      </p:sp>
      <p:sp>
        <p:nvSpPr>
          <p:cNvPr id="8" name="visual-2-2-p02-l-1">
            <a:extLst xmlns:a="http://schemas.openxmlformats.org/drawingml/2006/main">
              <a:ext uri="{FF2B5EF4-FFF2-40B4-BE49-F238E27FC236}">
                <a16:creationId xmlns:a16="http://schemas.microsoft.com/office/drawing/2014/main" id="{54E11FD7-6947-444E-98EF-13132B9C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88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✓  AI 使用记录</a:t>
            </a:r>
          </a:p>
        </p:txBody>
      </p:sp>
      <p:sp>
        <p:nvSpPr>
          <p:cNvPr id="9" name="visual-2-3-p02-l-2">
            <a:extLst xmlns:a="http://schemas.openxmlformats.org/drawingml/2006/main">
              <a:ext uri="{FF2B5EF4-FFF2-40B4-BE49-F238E27FC236}">
                <a16:creationId xmlns:a16="http://schemas.microsoft.com/office/drawing/2014/main" id="{3F5A7A84-9AA7-4E21-90BD-F6A65400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88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✓  伦理清单</a:t>
            </a:r>
          </a:p>
        </p:txBody>
      </p:sp>
      <p:sp>
        <p:nvSpPr>
          <p:cNvPr id="10" name="visual-2-4-p02-gap-label">
            <a:extLst xmlns:a="http://schemas.openxmlformats.org/drawingml/2006/main">
              <a:ext uri="{FF2B5EF4-FFF2-40B4-BE49-F238E27FC236}">
                <a16:creationId xmlns:a16="http://schemas.microsoft.com/office/drawing/2014/main" id="{D2549503-6C7B-44D5-8470-B08AFA33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仍未回答</a:t>
            </a:r>
          </a:p>
        </p:txBody>
      </p:sp>
      <p:sp>
        <p:nvSpPr>
          <p:cNvPr id="11" name="visual-2-5-p02-right-title">
            <a:extLst xmlns:a="http://schemas.openxmlformats.org/drawingml/2006/main">
              <a:ext uri="{FF2B5EF4-FFF2-40B4-BE49-F238E27FC236}">
                <a16:creationId xmlns:a16="http://schemas.microsoft.com/office/drawing/2014/main" id="{720B0E46-3006-40B7-96AB-38EE2BCA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6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材料可信吗</a:t>
            </a:r>
          </a:p>
        </p:txBody>
      </p:sp>
      <p:sp>
        <p:nvSpPr>
          <p:cNvPr id="12" name="visual-2-6-p02-r-0">
            <a:extLst xmlns:a="http://schemas.openxmlformats.org/drawingml/2006/main">
              <a:ext uri="{FF2B5EF4-FFF2-40B4-BE49-F238E27FC236}">
                <a16:creationId xmlns:a16="http://schemas.microsoft.com/office/drawing/2014/main" id="{FBF624F1-7335-44C6-9062-3447FD06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388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?  论文真实存在？</a:t>
            </a:r>
          </a:p>
        </p:txBody>
      </p:sp>
      <p:sp>
        <p:nvSpPr>
          <p:cNvPr id="13" name="visual-2-7-p02-r-1">
            <a:extLst xmlns:a="http://schemas.openxmlformats.org/drawingml/2006/main">
              <a:ext uri="{FF2B5EF4-FFF2-40B4-BE49-F238E27FC236}">
                <a16:creationId xmlns:a16="http://schemas.microsoft.com/office/drawing/2014/main" id="{76C78A8D-1BA9-4AD2-9609-518338FB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388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?  题名 / 作者 / DOI 一致？</a:t>
            </a:r>
          </a:p>
        </p:txBody>
      </p:sp>
      <p:sp>
        <p:nvSpPr>
          <p:cNvPr id="14" name="visual-2-8-p02-r-2">
            <a:extLst xmlns:a="http://schemas.openxmlformats.org/drawingml/2006/main">
              <a:ext uri="{FF2B5EF4-FFF2-40B4-BE49-F238E27FC236}">
                <a16:creationId xmlns:a16="http://schemas.microsoft.com/office/drawing/2014/main" id="{68BC8DBF-577B-4ED3-8DD1-F8CE0A38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38550"/>
            <a:ext cx="388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?  任务和限定条件是什么？</a:t>
            </a:r>
          </a:p>
        </p:txBody>
      </p:sp>
      <p:sp>
        <p:nvSpPr>
          <p:cNvPr id="15" name="visual-2-9-p02-bottom">
            <a:extLst xmlns:a="http://schemas.openxmlformats.org/drawingml/2006/main">
              <a:ext uri="{FF2B5EF4-FFF2-40B4-BE49-F238E27FC236}">
                <a16:creationId xmlns:a16="http://schemas.microsoft.com/office/drawing/2014/main" id="{5E871397-98EE-49BF-8CCE-8655FA7F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权限和披露说明 AI 做过什么；来源核验决定材料能不能信。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832E037A-A02B-4378-8AF5-6B6B957E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两套查询漏掉了什么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A8C7DEC4-32FE-4586-BE5D-3150DA71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独立种子 S1｜How to Read a Paper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C8BF68B4-8FFE-4DCD-B31E-DDF86A8F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Q1：paper AND reading AND card → 保存结果 S5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Q2：(paper OR reading) AND (card OR review) → S2/S3/S4/S5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ABA9BDF7-7639-4969-B875-2548FF27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核对任务包 title 字段：保存结果本身可靠吗？修改一条查询并执行。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7C561EEF-69F5-4AB1-8105-7C1BD864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32AAB043-808B-4D11-8C94-F7D8A764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搜得多不等于证据充分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visual-4-0-p04-bad">
            <a:extLst xmlns:a="http://schemas.openxmlformats.org/drawingml/2006/main">
              <a:ext uri="{FF2B5EF4-FFF2-40B4-BE49-F238E27FC236}">
                <a16:creationId xmlns:a16="http://schemas.microsoft.com/office/drawing/2014/main" id="{FBC8D9B5-DFC7-4CA2-8404-43279D90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28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50 篇论文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全部标成“主证据”</a:t>
            </a:r>
          </a:p>
        </p:txBody>
      </p:sp>
      <p:sp>
        <p:nvSpPr>
          <p:cNvPr id="7" name="visual-4-1-p04-x">
            <a:extLst xmlns:a="http://schemas.openxmlformats.org/drawingml/2006/main">
              <a:ext uri="{FF2B5EF4-FFF2-40B4-BE49-F238E27FC236}">
                <a16:creationId xmlns:a16="http://schemas.microsoft.com/office/drawing/2014/main" id="{E82EB9C2-AFFB-4E72-8832-55A12DC7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1455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≠</a:t>
            </a:r>
          </a:p>
        </p:txBody>
      </p:sp>
      <p:sp>
        <p:nvSpPr>
          <p:cNvPr id="8" name="visual-4-2-p04-good">
            <a:extLst xmlns:a="http://schemas.openxmlformats.org/drawingml/2006/main">
              <a:ext uri="{FF2B5EF4-FFF2-40B4-BE49-F238E27FC236}">
                <a16:creationId xmlns:a16="http://schemas.microsoft.com/office/drawing/2014/main" id="{5377B312-F0BB-45BD-89BF-13D71868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85900"/>
            <a:ext cx="428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证据充分</a:t>
            </a:r>
          </a:p>
        </p:txBody>
      </p:sp>
      <p:sp>
        <p:nvSpPr>
          <p:cNvPr id="9" name="visual-4-3-p04-errors">
            <a:extLst xmlns:a="http://schemas.openxmlformats.org/drawingml/2006/main">
              <a:ext uri="{FF2B5EF4-FFF2-40B4-BE49-F238E27FC236}">
                <a16:creationId xmlns:a16="http://schemas.microsoft.com/office/drawing/2014/main" id="{476617AB-B1C7-4232-9556-F90B143A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直接复制 AI 引文　｜　悄悄排除反例　｜　不记录检索式</a:t>
            </a:r>
          </a:p>
        </p:txBody>
      </p:sp>
      <p:sp>
        <p:nvSpPr>
          <p:cNvPr id="10" name="visual-4-4-p04-bottom">
            <a:extLst xmlns:a="http://schemas.openxmlformats.org/drawingml/2006/main">
              <a:ext uri="{FF2B5EF4-FFF2-40B4-BE49-F238E27FC236}">
                <a16:creationId xmlns:a16="http://schemas.microsoft.com/office/drawing/2014/main" id="{690B0025-3694-41B3-A97B-FF59C6D6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充分性来自角色清晰与实质独立，不来自数量。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外部输入不止论文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visual-5-0-p05-h-0">
            <a:extLst xmlns:a="http://schemas.openxmlformats.org/drawingml/2006/main">
              <a:ext uri="{FF2B5EF4-FFF2-40B4-BE49-F238E27FC236}">
                <a16:creationId xmlns:a16="http://schemas.microsoft.com/office/drawing/2014/main" id="{1EF95297-F056-4DB5-BDE3-DF0A7460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类型</a:t>
            </a:r>
          </a:p>
        </p:txBody>
      </p:sp>
      <p:sp>
        <p:nvSpPr>
          <p:cNvPr id="7" name="visual-5-1-p05-h-1">
            <a:extLst xmlns:a="http://schemas.openxmlformats.org/drawingml/2006/main">
              <a:ext uri="{FF2B5EF4-FFF2-40B4-BE49-F238E27FC236}">
                <a16:creationId xmlns:a16="http://schemas.microsoft.com/office/drawing/2014/main" id="{75D7B6DE-6D0B-43FA-A224-4AC09315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096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例子</a:t>
            </a:r>
          </a:p>
        </p:txBody>
      </p:sp>
      <p:sp>
        <p:nvSpPr>
          <p:cNvPr id="8" name="visual-5-2-p05-h-2">
            <a:extLst xmlns:a="http://schemas.openxmlformats.org/drawingml/2006/main">
              <a:ext uri="{FF2B5EF4-FFF2-40B4-BE49-F238E27FC236}">
                <a16:creationId xmlns:a16="http://schemas.microsoft.com/office/drawing/2014/main" id="{0730CD37-1DFA-4C5B-8E03-9FA5804C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096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用途／核验重点</a:t>
            </a:r>
          </a:p>
        </p:txBody>
      </p:sp>
      <p:sp>
        <p:nvSpPr>
          <p:cNvPr id="9" name="visual-5-3-p05-r0-0">
            <a:extLst xmlns:a="http://schemas.openxmlformats.org/drawingml/2006/main">
              <a:ext uri="{FF2B5EF4-FFF2-40B4-BE49-F238E27FC236}">
                <a16:creationId xmlns:a16="http://schemas.microsoft.com/office/drawing/2014/main" id="{15853241-AB26-45E4-B149-EF05BC23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同行评议论文</a:t>
            </a:r>
          </a:p>
        </p:txBody>
      </p:sp>
      <p:sp>
        <p:nvSpPr>
          <p:cNvPr id="10" name="visual-5-4-p05-r0-1">
            <a:extLst xmlns:a="http://schemas.openxmlformats.org/drawingml/2006/main">
              <a:ext uri="{FF2B5EF4-FFF2-40B4-BE49-F238E27FC236}">
                <a16:creationId xmlns:a16="http://schemas.microsoft.com/office/drawing/2014/main" id="{610B9FBD-5F0D-4E66-B9C7-0CB1F583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859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期刊、会议</a:t>
            </a:r>
          </a:p>
        </p:txBody>
      </p:sp>
      <p:sp>
        <p:nvSpPr>
          <p:cNvPr id="11" name="visual-5-5-p05-r0-2">
            <a:extLst xmlns:a="http://schemas.openxmlformats.org/drawingml/2006/main">
              <a:ext uri="{FF2B5EF4-FFF2-40B4-BE49-F238E27FC236}">
                <a16:creationId xmlns:a16="http://schemas.microsoft.com/office/drawing/2014/main" id="{44ADD562-CE96-4D62-AC3B-05F5C514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85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任务、设置、主张、限定</a:t>
            </a:r>
          </a:p>
        </p:txBody>
      </p:sp>
      <p:sp>
        <p:nvSpPr>
          <p:cNvPr id="12" name="visual-5-6-p05-r1-0">
            <a:extLst xmlns:a="http://schemas.openxmlformats.org/drawingml/2006/main">
              <a:ext uri="{FF2B5EF4-FFF2-40B4-BE49-F238E27FC236}">
                <a16:creationId xmlns:a16="http://schemas.microsoft.com/office/drawing/2014/main" id="{9C532338-AFEF-4E9E-B791-5155A296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经典书籍选章</a:t>
            </a:r>
          </a:p>
        </p:txBody>
      </p:sp>
      <p:sp>
        <p:nvSpPr>
          <p:cNvPr id="13" name="visual-5-7-p05-r1-1">
            <a:extLst xmlns:a="http://schemas.openxmlformats.org/drawingml/2006/main">
              <a:ext uri="{FF2B5EF4-FFF2-40B4-BE49-F238E27FC236}">
                <a16:creationId xmlns:a16="http://schemas.microsoft.com/office/drawing/2014/main" id="{3D8870ED-EE29-4A6A-AC86-799C569D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方法论、统计</a:t>
            </a:r>
          </a:p>
        </p:txBody>
      </p:sp>
      <p:sp>
        <p:nvSpPr>
          <p:cNvPr id="14" name="visual-5-8-p05-r1-2">
            <a:extLst xmlns:a="http://schemas.openxmlformats.org/drawingml/2006/main">
              <a:ext uri="{FF2B5EF4-FFF2-40B4-BE49-F238E27FC236}">
                <a16:creationId xmlns:a16="http://schemas.microsoft.com/office/drawing/2014/main" id="{E35354B3-65EC-4D03-BAFF-03D86A7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版本、章节、适用范围</a:t>
            </a:r>
          </a:p>
        </p:txBody>
      </p:sp>
      <p:sp>
        <p:nvSpPr>
          <p:cNvPr id="15" name="visual-5-9-p05-r2-0">
            <a:extLst xmlns:a="http://schemas.openxmlformats.org/drawingml/2006/main">
              <a:ext uri="{FF2B5EF4-FFF2-40B4-BE49-F238E27FC236}">
                <a16:creationId xmlns:a16="http://schemas.microsoft.com/office/drawing/2014/main" id="{E4A3F187-EC32-4EFE-A485-B6A2295B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90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正式规范</a:t>
            </a:r>
          </a:p>
        </p:txBody>
      </p:sp>
      <p:sp>
        <p:nvSpPr>
          <p:cNvPr id="16" name="visual-5-10-p05-r2-1">
            <a:extLst xmlns:a="http://schemas.openxmlformats.org/drawingml/2006/main">
              <a:ext uri="{FF2B5EF4-FFF2-40B4-BE49-F238E27FC236}">
                <a16:creationId xmlns:a16="http://schemas.microsoft.com/office/drawing/2014/main" id="{BD51682A-A783-416D-B7AB-8E8A97D8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PRISMA、ACM Badging</a:t>
            </a:r>
          </a:p>
        </p:txBody>
      </p:sp>
      <p:sp>
        <p:nvSpPr>
          <p:cNvPr id="17" name="visual-5-11-p05-r2-2">
            <a:extLst xmlns:a="http://schemas.openxmlformats.org/drawingml/2006/main">
              <a:ext uri="{FF2B5EF4-FFF2-40B4-BE49-F238E27FC236}">
                <a16:creationId xmlns:a16="http://schemas.microsoft.com/office/drawing/2014/main" id="{9BD49B77-4E51-49AA-BCA2-5BCA82BB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发布机构、版本、对象</a:t>
            </a:r>
          </a:p>
        </p:txBody>
      </p:sp>
      <p:sp>
        <p:nvSpPr>
          <p:cNvPr id="18" name="visual-5-12-p05-r3-0">
            <a:extLst xmlns:a="http://schemas.openxmlformats.org/drawingml/2006/main">
              <a:ext uri="{FF2B5EF4-FFF2-40B4-BE49-F238E27FC236}">
                <a16:creationId xmlns:a16="http://schemas.microsoft.com/office/drawing/2014/main" id="{31CE9BF5-AB38-403E-B626-F5990364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43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代码与数据集</a:t>
            </a:r>
          </a:p>
        </p:txBody>
      </p:sp>
      <p:sp>
        <p:nvSpPr>
          <p:cNvPr id="19" name="visual-5-13-p05-r3-1">
            <a:extLst xmlns:a="http://schemas.openxmlformats.org/drawingml/2006/main">
              <a:ext uri="{FF2B5EF4-FFF2-40B4-BE49-F238E27FC236}">
                <a16:creationId xmlns:a16="http://schemas.microsoft.com/office/drawing/2014/main" id="{5F757B97-B923-4896-9AA8-57DD6E4C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GitHub、数据卡片</a:t>
            </a:r>
          </a:p>
        </p:txBody>
      </p:sp>
      <p:sp>
        <p:nvSpPr>
          <p:cNvPr id="20" name="visual-5-14-p05-r3-2">
            <a:extLst xmlns:a="http://schemas.openxmlformats.org/drawingml/2006/main">
              <a:ext uri="{FF2B5EF4-FFF2-40B4-BE49-F238E27FC236}">
                <a16:creationId xmlns:a16="http://schemas.microsoft.com/office/drawing/2014/main" id="{5452DA71-D561-476E-9348-63375FB1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身份、commit、许可、版本</a:t>
            </a:r>
          </a:p>
        </p:txBody>
      </p:sp>
      <p:sp>
        <p:nvSpPr>
          <p:cNvPr id="21" name="visual-5-15-p05-r4-0">
            <a:extLst xmlns:a="http://schemas.openxmlformats.org/drawingml/2006/main">
              <a:ext uri="{FF2B5EF4-FFF2-40B4-BE49-F238E27FC236}">
                <a16:creationId xmlns:a16="http://schemas.microsoft.com/office/drawing/2014/main" id="{51B7FE9D-C584-4C4F-A2A2-06654834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95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官方文档</a:t>
            </a:r>
          </a:p>
        </p:txBody>
      </p:sp>
      <p:sp>
        <p:nvSpPr>
          <p:cNvPr id="22" name="visual-5-16-p05-r4-1">
            <a:extLst xmlns:a="http://schemas.openxmlformats.org/drawingml/2006/main">
              <a:ext uri="{FF2B5EF4-FFF2-40B4-BE49-F238E27FC236}">
                <a16:creationId xmlns:a16="http://schemas.microsoft.com/office/drawing/2014/main" id="{E8B3B247-03E5-4638-9B2B-D0D0C870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协议、API</a:t>
            </a:r>
          </a:p>
        </p:txBody>
      </p:sp>
      <p:sp>
        <p:nvSpPr>
          <p:cNvPr id="23" name="visual-5-17-p05-r4-2">
            <a:extLst xmlns:a="http://schemas.openxmlformats.org/drawingml/2006/main">
              <a:ext uri="{FF2B5EF4-FFF2-40B4-BE49-F238E27FC236}">
                <a16:creationId xmlns:a16="http://schemas.microsoft.com/office/drawing/2014/main" id="{0E438CF9-9E6B-4551-B280-9F050141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官方身份、版本、时效</a:t>
            </a:r>
          </a:p>
        </p:txBody>
      </p:sp>
      <p:sp>
        <p:nvSpPr>
          <p:cNvPr id="24" name="visual-5-18-p05-r5-0">
            <a:extLst xmlns:a="http://schemas.openxmlformats.org/drawingml/2006/main">
              <a:ext uri="{FF2B5EF4-FFF2-40B4-BE49-F238E27FC236}">
                <a16:creationId xmlns:a16="http://schemas.microsoft.com/office/drawing/2014/main" id="{5441C805-24BE-4020-B9BE-498913DE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481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工程文章、issue</a:t>
            </a:r>
          </a:p>
        </p:txBody>
      </p:sp>
      <p:sp>
        <p:nvSpPr>
          <p:cNvPr id="25" name="visual-5-19-p05-r5-1">
            <a:extLst xmlns:a="http://schemas.openxmlformats.org/drawingml/2006/main">
              <a:ext uri="{FF2B5EF4-FFF2-40B4-BE49-F238E27FC236}">
                <a16:creationId xmlns:a16="http://schemas.microsoft.com/office/drawing/2014/main" id="{7EE4873C-A07B-4070-B31E-17CD616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厂商文、失败记录</a:t>
            </a:r>
          </a:p>
        </p:txBody>
      </p:sp>
      <p:sp>
        <p:nvSpPr>
          <p:cNvPr id="26" name="visual-5-20-p05-r5-2">
            <a:extLst xmlns:a="http://schemas.openxmlformats.org/drawingml/2006/main">
              <a:ext uri="{FF2B5EF4-FFF2-40B4-BE49-F238E27FC236}">
                <a16:creationId xmlns:a16="http://schemas.microsoft.com/office/drawing/2014/main" id="{C6A39151-E94C-4DEA-B5B6-529461F0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主体、上下文、可追溯性</a:t>
            </a:r>
          </a:p>
        </p:txBody>
      </p:sp>
      <p:sp>
        <p:nvSpPr>
          <p:cNvPr id="27" name="visual-5-21-p05-r6-0">
            <a:extLst xmlns:a="http://schemas.openxmlformats.org/drawingml/2006/main">
              <a:ext uri="{FF2B5EF4-FFF2-40B4-BE49-F238E27FC236}">
                <a16:creationId xmlns:a16="http://schemas.microsoft.com/office/drawing/2014/main" id="{C90D4500-D9D4-45C7-B873-5FA633F8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00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搜索结果</a:t>
            </a:r>
          </a:p>
        </p:txBody>
      </p:sp>
      <p:sp>
        <p:nvSpPr>
          <p:cNvPr id="28" name="visual-5-22-p05-r6-1">
            <a:extLst xmlns:a="http://schemas.openxmlformats.org/drawingml/2006/main">
              <a:ext uri="{FF2B5EF4-FFF2-40B4-BE49-F238E27FC236}">
                <a16:creationId xmlns:a16="http://schemas.microsoft.com/office/drawing/2014/main" id="{107BD832-A806-4FF0-8258-17C4A328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模型候选列表</a:t>
            </a:r>
          </a:p>
        </p:txBody>
      </p:sp>
      <p:sp>
        <p:nvSpPr>
          <p:cNvPr id="29" name="visual-5-23-p05-r6-2">
            <a:extLst xmlns:a="http://schemas.openxmlformats.org/drawingml/2006/main">
              <a:ext uri="{FF2B5EF4-FFF2-40B4-BE49-F238E27FC236}">
                <a16:creationId xmlns:a16="http://schemas.microsoft.com/office/drawing/2014/main" id="{4A353386-B0E7-48B8-AEFB-29AD0511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仅作发现线索，回正式来源</a:t>
            </a:r>
          </a:p>
        </p:txBody>
      </p:sp>
      <p:sp>
        <p:nvSpPr>
          <p:cNvPr id="30" name="visual-5-24-p05-bottom">
            <a:extLst xmlns:a="http://schemas.openxmlformats.org/drawingml/2006/main">
              <a:ext uri="{FF2B5EF4-FFF2-40B4-BE49-F238E27FC236}">
                <a16:creationId xmlns:a16="http://schemas.microsoft.com/office/drawing/2014/main" id="{8598A6D7-8084-4335-9B17-C28F9ADC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来源类型不自动决定可信度或证据角色；角色要相对于当前问题或拟用主张判断。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1372CADF-E7CE-4247-89C7-7E47900E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问题要素与独立查询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C5BE13D9-E372-43EB-868D-1C2A92E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问题要素：对象、方法、比较、结果；每项先列同义词。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A9795096-5A4A-41E5-8731-FF3851DA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概念组：read OR reading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独立查询：read AND paper；另跑题名检索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4CAE4BB2-436C-4A2E-AA8E-ABC5FD96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只对独立执行的查询比较独有命中；空白角色或零命中先记录缺口。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6B6873BC-3B1B-4CFA-8C37-5A56E5B6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923A7995-7270-4A3A-B3A9-0A18EF51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检索式可被他人复盘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visual-7-0-p07-code">
            <a:extLst xmlns:a="http://schemas.openxmlformats.org/drawingml/2006/main">
              <a:ext uri="{FF2B5EF4-FFF2-40B4-BE49-F238E27FC236}">
                <a16:creationId xmlns:a16="http://schemas.microsoft.com/office/drawing/2014/main" id="{73406BC7-C593-48DA-9B63-2D51C2C6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10744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("reading card" OR "reading template" OR "structured reading")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AND ("AI summary" OR "LLM summary" OR "AI-generated abstract")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AND ("limitation" OR "scope" OR "boundary")</a:t>
            </a:r>
          </a:p>
        </p:txBody>
      </p:sp>
      <p:sp>
        <p:nvSpPr>
          <p:cNvPr id="7" name="visual-7-1-p07-tag-0">
            <a:extLst xmlns:a="http://schemas.openxmlformats.org/drawingml/2006/main">
              <a:ext uri="{FF2B5EF4-FFF2-40B4-BE49-F238E27FC236}">
                <a16:creationId xmlns:a16="http://schemas.microsoft.com/office/drawing/2014/main" id="{22F9681C-76BD-47D5-9628-7334F6E8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布尔算子</a:t>
            </a:r>
          </a:p>
        </p:txBody>
      </p:sp>
      <p:sp>
        <p:nvSpPr>
          <p:cNvPr id="8" name="visual-7-2-p07-tag-1">
            <a:extLst xmlns:a="http://schemas.openxmlformats.org/drawingml/2006/main">
              <a:ext uri="{FF2B5EF4-FFF2-40B4-BE49-F238E27FC236}">
                <a16:creationId xmlns:a16="http://schemas.microsoft.com/office/drawing/2014/main" id="{96D45946-C694-4F00-AF69-51FB780A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19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字段限定</a:t>
            </a:r>
          </a:p>
        </p:txBody>
      </p:sp>
      <p:sp>
        <p:nvSpPr>
          <p:cNvPr id="9" name="visual-7-3-p07-tag-2">
            <a:extLst xmlns:a="http://schemas.openxmlformats.org/drawingml/2006/main">
              <a:ext uri="{FF2B5EF4-FFF2-40B4-BE49-F238E27FC236}">
                <a16:creationId xmlns:a16="http://schemas.microsoft.com/office/drawing/2014/main" id="{EFBE3D93-ACA7-449D-BB9E-367CEA36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19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截断通配</a:t>
            </a:r>
          </a:p>
        </p:txBody>
      </p:sp>
      <p:sp>
        <p:nvSpPr>
          <p:cNvPr id="10" name="visual-7-4-p07-tag-3">
            <a:extLst xmlns:a="http://schemas.openxmlformats.org/drawingml/2006/main">
              <a:ext uri="{FF2B5EF4-FFF2-40B4-BE49-F238E27FC236}">
                <a16:creationId xmlns:a16="http://schemas.microsoft.com/office/drawing/2014/main" id="{7C12AE42-7B18-4CD8-9851-6C421558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19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短语</a:t>
            </a:r>
          </a:p>
        </p:txBody>
      </p:sp>
      <p:sp>
        <p:nvSpPr>
          <p:cNvPr id="11" name="visual-7-5-p07-tag-4">
            <a:extLst xmlns:a="http://schemas.openxmlformats.org/drawingml/2006/main">
              <a:ext uri="{FF2B5EF4-FFF2-40B4-BE49-F238E27FC236}">
                <a16:creationId xmlns:a16="http://schemas.microsoft.com/office/drawing/2014/main" id="{E4299AF7-3403-4B9C-B137-B757DAF2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9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时间 / 类型</a:t>
            </a:r>
          </a:p>
        </p:txBody>
      </p:sp>
      <p:sp>
        <p:nvSpPr>
          <p:cNvPr id="12" name="visual-7-6-p07-record">
            <a:extLst xmlns:a="http://schemas.openxmlformats.org/drawingml/2006/main">
              <a:ext uri="{FF2B5EF4-FFF2-40B4-BE49-F238E27FC236}">
                <a16:creationId xmlns:a16="http://schemas.microsoft.com/office/drawing/2014/main" id="{55585895-9694-417B-872A-4F8560DF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检索记录：库｜检索式｜日期｜命中数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纳入 / 排除｜筛选数</a:t>
            </a:r>
          </a:p>
        </p:txBody>
      </p:sp>
      <p:sp>
        <p:nvSpPr>
          <p:cNvPr id="13" name="visual-7-7-p07-bottom">
            <a:extLst xmlns:a="http://schemas.openxmlformats.org/drawingml/2006/main">
              <a:ext uri="{FF2B5EF4-FFF2-40B4-BE49-F238E27FC236}">
                <a16:creationId xmlns:a16="http://schemas.microsoft.com/office/drawing/2014/main" id="{70BBF04A-6C47-4846-B7C7-6E191A92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38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别人能复盘，才算检索方法。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纳入与排除条件检索前先写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visual-8-0-p08-a-0">
            <a:extLst xmlns:a="http://schemas.openxmlformats.org/drawingml/2006/main">
              <a:ext uri="{FF2B5EF4-FFF2-40B4-BE49-F238E27FC236}">
                <a16:creationId xmlns:a16="http://schemas.microsoft.com/office/drawing/2014/main" id="{67B2D611-737A-4BD0-8E26-487A0A50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时间范围</a:t>
            </a:r>
          </a:p>
        </p:txBody>
      </p:sp>
      <p:sp>
        <p:nvSpPr>
          <p:cNvPr id="7" name="visual-8-1-p08-arrow-0">
            <a:extLst xmlns:a="http://schemas.openxmlformats.org/drawingml/2006/main">
              <a:ext uri="{FF2B5EF4-FFF2-40B4-BE49-F238E27FC236}">
                <a16:creationId xmlns:a16="http://schemas.microsoft.com/office/drawing/2014/main" id="{DE93A08A-122C-41F8-A0FF-0748AF98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1811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visual-8-2-p08-b-0">
            <a:extLst xmlns:a="http://schemas.openxmlformats.org/drawingml/2006/main">
              <a:ext uri="{FF2B5EF4-FFF2-40B4-BE49-F238E27FC236}">
                <a16:creationId xmlns:a16="http://schemas.microsoft.com/office/drawing/2014/main" id="{E3150D35-A3E6-4ECE-BD91-87B528A1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104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为何从某年开始？</a:t>
            </a:r>
          </a:p>
        </p:txBody>
      </p:sp>
      <p:sp>
        <p:nvSpPr>
          <p:cNvPr id="9" name="visual-8-3-p08-a-1">
            <a:extLst xmlns:a="http://schemas.openxmlformats.org/drawingml/2006/main">
              <a:ext uri="{FF2B5EF4-FFF2-40B4-BE49-F238E27FC236}">
                <a16:creationId xmlns:a16="http://schemas.microsoft.com/office/drawing/2014/main" id="{2DA68BF4-5F6B-47C8-A535-30EA9D6B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文献类型</a:t>
            </a:r>
          </a:p>
        </p:txBody>
      </p:sp>
      <p:sp>
        <p:nvSpPr>
          <p:cNvPr id="10" name="visual-8-4-p08-arrow-1">
            <a:extLst xmlns:a="http://schemas.openxmlformats.org/drawingml/2006/main">
              <a:ext uri="{FF2B5EF4-FFF2-40B4-BE49-F238E27FC236}">
                <a16:creationId xmlns:a16="http://schemas.microsoft.com/office/drawing/2014/main" id="{D25BD843-3F9C-4BFA-9EAC-F2508626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812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visual-8-5-p08-b-1">
            <a:extLst xmlns:a="http://schemas.openxmlformats.org/drawingml/2006/main">
              <a:ext uri="{FF2B5EF4-FFF2-40B4-BE49-F238E27FC236}">
                <a16:creationId xmlns:a16="http://schemas.microsoft.com/office/drawing/2014/main" id="{B4250504-BF39-4832-8C06-25A20B86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050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同行评议 / 预印本 / 综述</a:t>
            </a:r>
          </a:p>
        </p:txBody>
      </p:sp>
      <p:sp>
        <p:nvSpPr>
          <p:cNvPr id="12" name="visual-8-6-p08-a-2">
            <a:extLst xmlns:a="http://schemas.openxmlformats.org/drawingml/2006/main">
              <a:ext uri="{FF2B5EF4-FFF2-40B4-BE49-F238E27FC236}">
                <a16:creationId xmlns:a16="http://schemas.microsoft.com/office/drawing/2014/main" id="{802D079B-1B7F-4295-994C-1C968F9D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语言</a:t>
            </a:r>
          </a:p>
        </p:txBody>
      </p:sp>
      <p:sp>
        <p:nvSpPr>
          <p:cNvPr id="13" name="visual-8-7-p08-arrow-2">
            <a:extLst xmlns:a="http://schemas.openxmlformats.org/drawingml/2006/main">
              <a:ext uri="{FF2B5EF4-FFF2-40B4-BE49-F238E27FC236}">
                <a16:creationId xmlns:a16="http://schemas.microsoft.com/office/drawing/2014/main" id="{E75AEFE4-1D9F-4CBE-89DD-285FC430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visual-8-8-p08-b-2">
            <a:extLst xmlns:a="http://schemas.openxmlformats.org/drawingml/2006/main">
              <a:ext uri="{FF2B5EF4-FFF2-40B4-BE49-F238E27FC236}">
                <a16:creationId xmlns:a16="http://schemas.microsoft.com/office/drawing/2014/main" id="{8B01E8E6-429D-487C-B14A-15BCCC3A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051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限制语言需说明偏倚</a:t>
            </a:r>
          </a:p>
        </p:txBody>
      </p:sp>
      <p:sp>
        <p:nvSpPr>
          <p:cNvPr id="15" name="visual-8-9-p08-a-3">
            <a:extLst xmlns:a="http://schemas.openxmlformats.org/drawingml/2006/main">
              <a:ext uri="{FF2B5EF4-FFF2-40B4-BE49-F238E27FC236}">
                <a16:creationId xmlns:a16="http://schemas.microsoft.com/office/drawing/2014/main" id="{7B35940A-6483-4784-A1F8-DFC15D38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研究类型</a:t>
            </a:r>
          </a:p>
        </p:txBody>
      </p:sp>
      <p:sp>
        <p:nvSpPr>
          <p:cNvPr id="16" name="visual-8-10-p08-arrow-3">
            <a:extLst xmlns:a="http://schemas.openxmlformats.org/drawingml/2006/main">
              <a:ext uri="{FF2B5EF4-FFF2-40B4-BE49-F238E27FC236}">
                <a16:creationId xmlns:a16="http://schemas.microsoft.com/office/drawing/2014/main" id="{4287C952-D039-4118-9CAC-4D6FA119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visual-8-11-p08-b-3">
            <a:extLst xmlns:a="http://schemas.openxmlformats.org/drawingml/2006/main">
              <a:ext uri="{FF2B5EF4-FFF2-40B4-BE49-F238E27FC236}">
                <a16:creationId xmlns:a16="http://schemas.microsoft.com/office/drawing/2014/main" id="{F194FA43-6524-4A02-9F6A-29399944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052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实证 / 方法 / 案例 / 综述</a:t>
            </a:r>
          </a:p>
        </p:txBody>
      </p:sp>
      <p:sp>
        <p:nvSpPr>
          <p:cNvPr id="18" name="visual-8-12-p08-a-4">
            <a:extLst xmlns:a="http://schemas.openxmlformats.org/drawingml/2006/main">
              <a:ext uri="{FF2B5EF4-FFF2-40B4-BE49-F238E27FC236}">
                <a16:creationId xmlns:a16="http://schemas.microsoft.com/office/drawing/2014/main" id="{8C003A72-C2A8-41DC-B667-01A095E9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相关性</a:t>
            </a:r>
          </a:p>
        </p:txBody>
      </p:sp>
      <p:sp>
        <p:nvSpPr>
          <p:cNvPr id="19" name="visual-8-13-p08-arrow-4">
            <a:extLst xmlns:a="http://schemas.openxmlformats.org/drawingml/2006/main">
              <a:ext uri="{FF2B5EF4-FFF2-40B4-BE49-F238E27FC236}">
                <a16:creationId xmlns:a16="http://schemas.microsoft.com/office/drawing/2014/main" id="{22B3C336-C39D-4A9B-A481-972BEAEF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815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visual-8-14-p08-b-4">
            <a:extLst xmlns:a="http://schemas.openxmlformats.org/drawingml/2006/main">
              <a:ext uri="{FF2B5EF4-FFF2-40B4-BE49-F238E27FC236}">
                <a16:creationId xmlns:a16="http://schemas.microsoft.com/office/drawing/2014/main" id="{3BE6AE59-6417-4A27-A2F2-F8BD8552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053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对应当前问题或拟用主张</a:t>
            </a:r>
          </a:p>
        </p:txBody>
      </p:sp>
      <p:sp>
        <p:nvSpPr>
          <p:cNvPr id="21" name="visual-8-15-p08-bottom">
            <a:extLst xmlns:a="http://schemas.openxmlformats.org/drawingml/2006/main">
              <a:ext uri="{FF2B5EF4-FFF2-40B4-BE49-F238E27FC236}">
                <a16:creationId xmlns:a16="http://schemas.microsoft.com/office/drawing/2014/main" id="{8C8B71E6-3EE9-401F-97F1-7730BAF9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578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检索前写第一版；检索中调整；排除时必须记录理由。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证据角色：主证据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visual-9-0-p09-main">
            <a:extLst xmlns:a="http://schemas.openxmlformats.org/drawingml/2006/main">
              <a:ext uri="{FF2B5EF4-FFF2-40B4-BE49-F238E27FC236}">
                <a16:creationId xmlns:a16="http://schemas.microsoft.com/office/drawing/2014/main" id="{0EC2B4DE-0B03-4914-9BCF-559D9FC8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33500"/>
            <a:ext cx="857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主证据</a:t>
            </a:r>
          </a:p>
        </p:txBody>
      </p:sp>
      <p:sp>
        <p:nvSpPr>
          <p:cNvPr id="7" name="visual-9-1-p09-def">
            <a:extLst xmlns:a="http://schemas.openxmlformats.org/drawingml/2006/main">
              <a:ext uri="{FF2B5EF4-FFF2-40B4-BE49-F238E27FC236}">
                <a16:creationId xmlns:a16="http://schemas.microsoft.com/office/drawing/2014/main" id="{08BCD3B4-5F02-4422-9515-2D74492A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933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在可比条件下直接支持或反驳当前问题或拟用主张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角色先作预期标注，精读后可修正</a:t>
            </a:r>
          </a:p>
        </p:txBody>
      </p:sp>
      <p:sp>
        <p:nvSpPr>
          <p:cNvPr id="8" name="visual-9-2-p09-can">
            <a:extLst xmlns:a="http://schemas.openxmlformats.org/drawingml/2006/main">
              <a:ext uri="{FF2B5EF4-FFF2-40B4-BE49-F238E27FC236}">
                <a16:creationId xmlns:a16="http://schemas.microsoft.com/office/drawing/2014/main" id="{4DB91689-F4DF-4B04-AC9D-06EC2AB0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能做：支撑核心主张</a:t>
            </a:r>
          </a:p>
        </p:txBody>
      </p:sp>
      <p:sp>
        <p:nvSpPr>
          <p:cNvPr id="9" name="visual-9-3-p09-cannot">
            <a:extLst xmlns:a="http://schemas.openxmlformats.org/drawingml/2006/main">
              <a:ext uri="{FF2B5EF4-FFF2-40B4-BE49-F238E27FC236}">
                <a16:creationId xmlns:a16="http://schemas.microsoft.com/office/drawing/2014/main" id="{CC782774-8CCD-45D2-80A8-C2A2FD0A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不能做：单独支撑外推</a:t>
            </a:r>
          </a:p>
        </p:txBody>
      </p:sp>
      <p:sp>
        <p:nvSpPr>
          <p:cNvPr id="10" name="visual-9-4-p09-bottom">
            <a:extLst xmlns:a="http://schemas.openxmlformats.org/drawingml/2006/main">
              <a:ext uri="{FF2B5EF4-FFF2-40B4-BE49-F238E27FC236}">
                <a16:creationId xmlns:a16="http://schemas.microsoft.com/office/drawing/2014/main" id="{56F083A1-A7E3-4478-8452-76E107AB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每个角色都要写明参照的问题或拟用主张。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证据角色：补充证据与对比证据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visual-10-0-p10-claim">
            <a:extLst xmlns:a="http://schemas.openxmlformats.org/drawingml/2006/main">
              <a:ext uri="{FF2B5EF4-FFF2-40B4-BE49-F238E27FC236}">
                <a16:creationId xmlns:a16="http://schemas.microsoft.com/office/drawing/2014/main" id="{EA3A4A65-EFA7-4F38-A7A3-6003096B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当前核心主张</a:t>
            </a:r>
          </a:p>
        </p:txBody>
      </p:sp>
      <p:sp>
        <p:nvSpPr>
          <p:cNvPr id="7" name="visual-10-1-p10-supp">
            <a:extLst xmlns:a="http://schemas.openxmlformats.org/drawingml/2006/main">
              <a:ext uri="{FF2B5EF4-FFF2-40B4-BE49-F238E27FC236}">
                <a16:creationId xmlns:a16="http://schemas.microsoft.com/office/drawing/2014/main" id="{731C50D1-D972-4711-B6F4-16D1097C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3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补充证据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不同来源 / 测量 / 路径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提供实质独立性</a:t>
            </a:r>
          </a:p>
        </p:txBody>
      </p:sp>
      <p:sp>
        <p:nvSpPr>
          <p:cNvPr id="8" name="visual-10-2-p10-contrast">
            <a:extLst xmlns:a="http://schemas.openxmlformats.org/drawingml/2006/main">
              <a:ext uri="{FF2B5EF4-FFF2-40B4-BE49-F238E27FC236}">
                <a16:creationId xmlns:a16="http://schemas.microsoft.com/office/drawing/2014/main" id="{ACD8990E-F8C0-45D1-94C8-07A2B833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23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对比证据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替代解释 / 竞争假设 / 反例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暴露解释边界</a:t>
            </a:r>
          </a:p>
        </p:txBody>
      </p:sp>
      <p:sp>
        <p:nvSpPr>
          <p:cNvPr id="9" name="visual-10-3-p10-independent">
            <a:extLst xmlns:a="http://schemas.openxmlformats.org/drawingml/2006/main">
              <a:ext uri="{FF2B5EF4-FFF2-40B4-BE49-F238E27FC236}">
                <a16:creationId xmlns:a16="http://schemas.microsoft.com/office/drawing/2014/main" id="{801563C3-D954-47FB-9717-66450D41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独立 ≠ 两个不同网页</a:t>
            </a:r>
          </a:p>
        </p:txBody>
      </p:sp>
      <p:sp>
        <p:nvSpPr>
          <p:cNvPr id="10" name="visual-10-4-p10-conflict">
            <a:extLst xmlns:a="http://schemas.openxmlformats.org/drawingml/2006/main">
              <a:ext uri="{FF2B5EF4-FFF2-40B4-BE49-F238E27FC236}">
                <a16:creationId xmlns:a16="http://schemas.microsoft.com/office/drawing/2014/main" id="{DD00228E-4C8D-4B35-BAC1-E5E9DD30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冲突证据必须保留</a:t>
            </a:r>
          </a:p>
        </p:txBody>
      </p:sp>
      <p:sp>
        <p:nvSpPr>
          <p:cNvPr id="11" name="visual-10-5-p10-note">
            <a:extLst xmlns:a="http://schemas.openxmlformats.org/drawingml/2006/main">
              <a:ext uri="{FF2B5EF4-FFF2-40B4-BE49-F238E27FC236}">
                <a16:creationId xmlns:a16="http://schemas.microsoft.com/office/drawing/2014/main" id="{C77BFA4F-BC14-4BA8-8ADD-B06050AB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概念示意，非实证结果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证据角色：探索线索（AI 输出归位）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visual-11-0-p11-input">
            <a:extLst xmlns:a="http://schemas.openxmlformats.org/drawingml/2006/main">
              <a:ext uri="{FF2B5EF4-FFF2-40B4-BE49-F238E27FC236}">
                <a16:creationId xmlns:a16="http://schemas.microsoft.com/office/drawing/2014/main" id="{D148C732-4E58-402B-9DE2-173FFE1A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检索结果</a:t>
            </a:r>
          </a:p>
        </p:txBody>
      </p:sp>
      <p:sp>
        <p:nvSpPr>
          <p:cNvPr id="7" name="visual-11-1-p11-a1">
            <a:extLst xmlns:a="http://schemas.openxmlformats.org/drawingml/2006/main">
              <a:ext uri="{FF2B5EF4-FFF2-40B4-BE49-F238E27FC236}">
                <a16:creationId xmlns:a16="http://schemas.microsoft.com/office/drawing/2014/main" id="{34DE1600-85FC-49BD-9912-5C2C7771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visual-11-2-p11-line">
            <a:extLst xmlns:a="http://schemas.openxmlformats.org/drawingml/2006/main">
              <a:ext uri="{FF2B5EF4-FFF2-40B4-BE49-F238E27FC236}">
                <a16:creationId xmlns:a16="http://schemas.microsoft.com/office/drawing/2014/main" id="{9A13C8E7-9E5A-4CA8-8D4E-1C3CA847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240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探索线索</a:t>
            </a:r>
          </a:p>
        </p:txBody>
      </p:sp>
      <p:sp>
        <p:nvSpPr>
          <p:cNvPr id="9" name="visual-11-3-p11-a2">
            <a:extLst xmlns:a="http://schemas.openxmlformats.org/drawingml/2006/main">
              <a:ext uri="{FF2B5EF4-FFF2-40B4-BE49-F238E27FC236}">
                <a16:creationId xmlns:a16="http://schemas.microsoft.com/office/drawing/2014/main" id="{85A0D931-06A1-4A18-AA9A-0BB16DCC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visual-11-4-p11-source">
            <a:extLst xmlns:a="http://schemas.openxmlformats.org/drawingml/2006/main">
              <a:ext uri="{FF2B5EF4-FFF2-40B4-BE49-F238E27FC236}">
                <a16:creationId xmlns:a16="http://schemas.microsoft.com/office/drawing/2014/main" id="{DEC7AD1C-7644-4699-99B0-BD76DA35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2400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回原文核验</a:t>
            </a:r>
          </a:p>
        </p:txBody>
      </p:sp>
      <p:sp>
        <p:nvSpPr>
          <p:cNvPr id="11" name="visual-11-5-p11-fields">
            <a:extLst xmlns:a="http://schemas.openxmlformats.org/drawingml/2006/main">
              <a:ext uri="{FF2B5EF4-FFF2-40B4-BE49-F238E27FC236}">
                <a16:creationId xmlns:a16="http://schemas.microsoft.com/office/drawing/2014/main" id="{F21DEF12-DD9A-467C-8E9A-DF7B5DBE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即使已核验，也可能不能直接回答当前问题；AI 检索结果默认归为探索线索</a:t>
            </a:r>
          </a:p>
        </p:txBody>
      </p:sp>
      <p:sp>
        <p:nvSpPr>
          <p:cNvPr id="12" name="visual-11-6-p11-split">
            <a:extLst xmlns:a="http://schemas.openxmlformats.org/drawingml/2006/main">
              <a:ext uri="{FF2B5EF4-FFF2-40B4-BE49-F238E27FC236}">
                <a16:creationId xmlns:a16="http://schemas.microsoft.com/office/drawing/2014/main" id="{62006A9A-8937-4694-8DD3-7F639E42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290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角色 ≠ 核验状态 ≠ 筛选决定</a:t>
            </a:r>
          </a:p>
        </p:txBody>
      </p:sp>
      <p:sp>
        <p:nvSpPr>
          <p:cNvPr id="13" name="visual-11-7-p11-bottom">
            <a:extLst xmlns:a="http://schemas.openxmlformats.org/drawingml/2006/main">
              <a:ext uri="{FF2B5EF4-FFF2-40B4-BE49-F238E27FC236}">
                <a16:creationId xmlns:a16="http://schemas.microsoft.com/office/drawing/2014/main" id="{84E661F7-8B4B-4353-8BDB-B21C9CB6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708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一篇真实且已核验的论文，对当前问题仍可能只是探索线索。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入口核验：身份 + 一条拟用主张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visual-12-0-p12-id-title">
            <a:extLst xmlns:a="http://schemas.openxmlformats.org/drawingml/2006/main">
              <a:ext uri="{FF2B5EF4-FFF2-40B4-BE49-F238E27FC236}">
                <a16:creationId xmlns:a16="http://schemas.microsoft.com/office/drawing/2014/main" id="{A83E5AFE-59A4-4A26-A7EF-5EF3E156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身份层</a:t>
            </a:r>
          </a:p>
        </p:txBody>
      </p:sp>
      <p:sp>
        <p:nvSpPr>
          <p:cNvPr id="7" name="visual-12-1-p12-id-body">
            <a:extLst xmlns:a="http://schemas.openxmlformats.org/drawingml/2006/main">
              <a:ext uri="{FF2B5EF4-FFF2-40B4-BE49-F238E27FC236}">
                <a16:creationId xmlns:a16="http://schemas.microsoft.com/office/drawing/2014/main" id="{39691F6D-8D60-4EE8-AB71-AFC9B491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题名　｜　作者　｜　年份　｜　刊会　｜　DOI / 稳定标识</a:t>
            </a:r>
          </a:p>
        </p:txBody>
      </p:sp>
      <p:sp>
        <p:nvSpPr>
          <p:cNvPr id="8" name="visual-12-2-p12-claim-title">
            <a:extLst xmlns:a="http://schemas.openxmlformats.org/drawingml/2006/main">
              <a:ext uri="{FF2B5EF4-FFF2-40B4-BE49-F238E27FC236}">
                <a16:creationId xmlns:a16="http://schemas.microsoft.com/office/drawing/2014/main" id="{C1770AEA-ACCF-4DAE-8489-B38FFCD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拟用主张层</a:t>
            </a:r>
          </a:p>
        </p:txBody>
      </p:sp>
      <p:sp>
        <p:nvSpPr>
          <p:cNvPr id="9" name="visual-12-3-p12-c-0">
            <a:extLst xmlns:a="http://schemas.openxmlformats.org/drawingml/2006/main">
              <a:ext uri="{FF2B5EF4-FFF2-40B4-BE49-F238E27FC236}">
                <a16:creationId xmlns:a16="http://schemas.microsoft.com/office/drawing/2014/main" id="{711CDEB3-73FA-437C-946A-CE40DAD6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1. 先写准备用它支持什么</a:t>
            </a:r>
          </a:p>
        </p:txBody>
      </p:sp>
      <p:sp>
        <p:nvSpPr>
          <p:cNvPr id="10" name="visual-12-4-p12-c-1">
            <a:extLst xmlns:a="http://schemas.openxmlformats.org/drawingml/2006/main">
              <a:ext uri="{FF2B5EF4-FFF2-40B4-BE49-F238E27FC236}">
                <a16:creationId xmlns:a16="http://schemas.microsoft.com/office/drawing/2014/main" id="{70D30F46-EC31-4934-84B3-37A33594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2. 回到至少一个原文位置</a:t>
            </a:r>
          </a:p>
        </p:txBody>
      </p:sp>
      <p:sp>
        <p:nvSpPr>
          <p:cNvPr id="11" name="visual-12-5-p12-c-2">
            <a:extLst xmlns:a="http://schemas.openxmlformats.org/drawingml/2006/main">
              <a:ext uri="{FF2B5EF4-FFF2-40B4-BE49-F238E27FC236}">
                <a16:creationId xmlns:a16="http://schemas.microsoft.com/office/drawing/2014/main" id="{D42D1476-4F1A-4E69-8003-05856A9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3. 核对任务、设置、措辞强度与必要限定</a:t>
            </a:r>
          </a:p>
        </p:txBody>
      </p:sp>
      <p:sp>
        <p:nvSpPr>
          <p:cNvPr id="12" name="visual-12-6-p12-pending">
            <a:extLst xmlns:a="http://schemas.openxmlformats.org/drawingml/2006/main">
              <a:ext uri="{FF2B5EF4-FFF2-40B4-BE49-F238E27FC236}">
                <a16:creationId xmlns:a16="http://schemas.microsoft.com/office/drawing/2014/main" id="{4E25520B-E8B7-47EB-B3F6-16D16441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只完成身份层 → pending｜默认探索线索</a:t>
            </a:r>
          </a:p>
        </p:txBody>
      </p:sp>
      <p:sp>
        <p:nvSpPr>
          <p:cNvPr id="13" name="visual-12-7-p12-handoff">
            <a:extLst xmlns:a="http://schemas.openxmlformats.org/drawingml/2006/main">
              <a:ext uri="{FF2B5EF4-FFF2-40B4-BE49-F238E27FC236}">
                <a16:creationId xmlns:a16="http://schemas.microsoft.com/office/drawing/2014/main" id="{06EC9A6C-2FA7-478C-AEC4-DA601013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 4 课移交：多条主张、位置、指标、对照、样本、贡献与局限</a:t>
            </a:r>
          </a:p>
        </p:txBody>
      </p:sp>
      <p:sp>
        <p:nvSpPr>
          <p:cNvPr id="14" name="visual-12-8-p12-status-title">
            <a:extLst xmlns:a="http://schemas.openxmlformats.org/drawingml/2006/main">
              <a:ext uri="{FF2B5EF4-FFF2-40B4-BE49-F238E27FC236}">
                <a16:creationId xmlns:a16="http://schemas.microsoft.com/office/drawing/2014/main" id="{206966DC-6768-4747-A600-21FF2883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096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四态与进入规则</a:t>
            </a:r>
          </a:p>
        </p:txBody>
      </p:sp>
      <p:sp>
        <p:nvSpPr>
          <p:cNvPr id="15" name="visual-12-9-p12-s-0">
            <a:extLst xmlns:a="http://schemas.openxmlformats.org/drawingml/2006/main">
              <a:ext uri="{FF2B5EF4-FFF2-40B4-BE49-F238E27FC236}">
                <a16:creationId xmlns:a16="http://schemas.microsoft.com/office/drawing/2014/main" id="{3C8926EF-D3FF-4638-AD5E-E4C801CD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pending</a:t>
            </a:r>
          </a:p>
        </p:txBody>
      </p:sp>
      <p:sp>
        <p:nvSpPr>
          <p:cNvPr id="16" name="visual-12-10-p12-s-1">
            <a:extLst xmlns:a="http://schemas.openxmlformats.org/drawingml/2006/main">
              <a:ext uri="{FF2B5EF4-FFF2-40B4-BE49-F238E27FC236}">
                <a16:creationId xmlns:a16="http://schemas.microsoft.com/office/drawing/2014/main" id="{C7B8620A-6E0D-4BAB-8F73-D4C80E4A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verified</a:t>
            </a:r>
          </a:p>
        </p:txBody>
      </p:sp>
      <p:sp>
        <p:nvSpPr>
          <p:cNvPr id="17" name="visual-12-11-p12-s-2">
            <a:extLst xmlns:a="http://schemas.openxmlformats.org/drawingml/2006/main">
              <a:ext uri="{FF2B5EF4-FFF2-40B4-BE49-F238E27FC236}">
                <a16:creationId xmlns:a16="http://schemas.microsoft.com/office/drawing/2014/main" id="{ED803932-EC73-4ECD-BDD8-10D42EBB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verified-with-caveat</a:t>
            </a:r>
          </a:p>
        </p:txBody>
      </p:sp>
      <p:sp>
        <p:nvSpPr>
          <p:cNvPr id="18" name="visual-12-12-p12-s-3">
            <a:extLst xmlns:a="http://schemas.openxmlformats.org/drawingml/2006/main">
              <a:ext uri="{FF2B5EF4-FFF2-40B4-BE49-F238E27FC236}">
                <a16:creationId xmlns:a16="http://schemas.microsoft.com/office/drawing/2014/main" id="{40C3597C-3720-4643-AB41-F762161D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rejected</a:t>
            </a:r>
          </a:p>
        </p:txBody>
      </p:sp>
      <p:sp>
        <p:nvSpPr>
          <p:cNvPr id="19" name="visual-12-13-p12-bottom">
            <a:extLst xmlns:a="http://schemas.openxmlformats.org/drawingml/2006/main">
              <a:ext uri="{FF2B5EF4-FFF2-40B4-BE49-F238E27FC236}">
                <a16:creationId xmlns:a16="http://schemas.microsoft.com/office/drawing/2014/main" id="{548FE6A1-AD05-4D60-BA91-244F1742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67250"/>
            <a:ext cx="400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pending 仅线索区｜verified 可进主格｜caveat 保留限定且不能单独支撑 stable｜rejected 仅审计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17F052DC-A69F-43C0-AF3A-C903D6CF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探索检索与题名核验分开记录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93F90E5A-4C62-4A24-9F3B-C9A78BA0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探索：从问题构造查询，记录库、字段、语义和结果。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AA9B064B-CFA8-49FC-BB12-13B79CF3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题名核验：How to Read a Paper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作者 S. Keshav；ACM SIGCOMM CCR 37(3)，83–84 (2007)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103C951D-3422-4F24-B597-EA1C7E06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DOI：10.1145/1273445.1273458</a:t>
            </a:r>
          </a:p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题名命中证明找到已知文献；检索覆盖仍需独立种子检查。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FD356BE2-EC8E-4F74-8EE6-9B998B54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2614C77C-E536-4315-B5C2-E4078680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0B8381F7-E5BE-4F61-97A2-C9EBB631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Keshav：身份与允许主张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C62A3D40-EC3E-472F-A4DA-94126E76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真实来源｜Keshav (2007)，How to Read a Paper，p.83 §2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D14894CE-B879-4A86-A3E0-A3DA4887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允许主张：文章提出三遍阅读法。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verified-with-caveat：身份与该主张已核。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A9EE628E-5571-4A89-98A4-39897FFC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用途：阅读流程的方法线索。</a:t>
            </a:r>
          </a:p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局限：不能据此证明阅读效率或遗漏率效果。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562A05EB-68DC-4D9A-A566-13D5A309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19F76461-1840-44D8-97F3-BEFCF0A8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演示：合格条目进入候选表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visual-15-0-p15-entry-title">
            <a:extLst xmlns:a="http://schemas.openxmlformats.org/drawingml/2006/main">
              <a:ext uri="{FF2B5EF4-FFF2-40B4-BE49-F238E27FC236}">
                <a16:creationId xmlns:a16="http://schemas.microsoft.com/office/drawing/2014/main" id="{F6BA999C-B5D2-47D5-B968-9F026EEC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真实候选条目｜Keshav (2007)</a:t>
            </a:r>
          </a:p>
        </p:txBody>
      </p:sp>
      <p:sp>
        <p:nvSpPr>
          <p:cNvPr id="7" name="visual-15-1-p15-h-0">
            <a:extLst xmlns:a="http://schemas.openxmlformats.org/drawingml/2006/main">
              <a:ext uri="{FF2B5EF4-FFF2-40B4-BE49-F238E27FC236}">
                <a16:creationId xmlns:a16="http://schemas.microsoft.com/office/drawing/2014/main" id="{71032C7F-8241-4461-8925-70B1A78E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字段</a:t>
            </a:r>
          </a:p>
        </p:txBody>
      </p:sp>
      <p:sp>
        <p:nvSpPr>
          <p:cNvPr id="8" name="visual-15-2-p15-h-1">
            <a:extLst xmlns:a="http://schemas.openxmlformats.org/drawingml/2006/main">
              <a:ext uri="{FF2B5EF4-FFF2-40B4-BE49-F238E27FC236}">
                <a16:creationId xmlns:a16="http://schemas.microsoft.com/office/drawing/2014/main" id="{18490608-3ACB-420D-B6AC-BEC43975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288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核验后写入</a:t>
            </a:r>
          </a:p>
        </p:txBody>
      </p:sp>
      <p:sp>
        <p:nvSpPr>
          <p:cNvPr id="9" name="visual-15-3-p15-r0-0">
            <a:extLst xmlns:a="http://schemas.openxmlformats.org/drawingml/2006/main">
              <a:ext uri="{FF2B5EF4-FFF2-40B4-BE49-F238E27FC236}">
                <a16:creationId xmlns:a16="http://schemas.microsoft.com/office/drawing/2014/main" id="{2E73B06F-EAC9-4EDF-BC90-1F01E2FF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正式来源</a:t>
            </a:r>
          </a:p>
        </p:txBody>
      </p:sp>
      <p:sp>
        <p:nvSpPr>
          <p:cNvPr id="10" name="visual-15-4-p15-r0-1">
            <a:extLst xmlns:a="http://schemas.openxmlformats.org/drawingml/2006/main">
              <a:ext uri="{FF2B5EF4-FFF2-40B4-BE49-F238E27FC236}">
                <a16:creationId xmlns:a16="http://schemas.microsoft.com/office/drawing/2014/main" id="{A911F676-0EF5-4B2B-8EAA-C5BB41D6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819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ACM SIGCOMM Computer Communication Review 37(3), pp.83–84｜DOI 10.1145/1273445.1273458</a:t>
            </a:r>
          </a:p>
        </p:txBody>
      </p:sp>
      <p:sp>
        <p:nvSpPr>
          <p:cNvPr id="11" name="visual-15-5-p15-r1-0">
            <a:extLst xmlns:a="http://schemas.openxmlformats.org/drawingml/2006/main">
              <a:ext uri="{FF2B5EF4-FFF2-40B4-BE49-F238E27FC236}">
                <a16:creationId xmlns:a16="http://schemas.microsoft.com/office/drawing/2014/main" id="{526CD9AB-48D3-425B-9D22-9E342A3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对应问题/拟用主张</a:t>
            </a:r>
          </a:p>
        </p:txBody>
      </p:sp>
      <p:sp>
        <p:nvSpPr>
          <p:cNvPr id="12" name="visual-15-6-p15-r1-1">
            <a:extLst xmlns:a="http://schemas.openxmlformats.org/drawingml/2006/main">
              <a:ext uri="{FF2B5EF4-FFF2-40B4-BE49-F238E27FC236}">
                <a16:creationId xmlns:a16="http://schemas.microsoft.com/office/drawing/2014/main" id="{AF3B3975-9594-4003-A880-AB5AB8FB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14650"/>
            <a:ext cx="819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是否降低遗漏率？／用于定义 three-pass approach</a:t>
            </a:r>
          </a:p>
        </p:txBody>
      </p:sp>
      <p:sp>
        <p:nvSpPr>
          <p:cNvPr id="13" name="visual-15-7-p15-r2-0">
            <a:extLst xmlns:a="http://schemas.openxmlformats.org/drawingml/2006/main">
              <a:ext uri="{FF2B5EF4-FFF2-40B4-BE49-F238E27FC236}">
                <a16:creationId xmlns:a16="http://schemas.microsoft.com/office/drawing/2014/main" id="{DE057750-7748-46BA-B05E-310CE96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预期证据角色</a:t>
            </a:r>
          </a:p>
        </p:txBody>
      </p:sp>
      <p:sp>
        <p:nvSpPr>
          <p:cNvPr id="14" name="visual-15-8-p15-r2-1">
            <a:extLst xmlns:a="http://schemas.openxmlformats.org/drawingml/2006/main">
              <a:ext uri="{FF2B5EF4-FFF2-40B4-BE49-F238E27FC236}">
                <a16:creationId xmlns:a16="http://schemas.microsoft.com/office/drawing/2014/main" id="{AEDD6B47-0F6B-468E-894B-FA944EAF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819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探索线索；不是效果主证据</a:t>
            </a:r>
          </a:p>
        </p:txBody>
      </p:sp>
      <p:sp>
        <p:nvSpPr>
          <p:cNvPr id="15" name="visual-15-9-p15-r3-0">
            <a:extLst xmlns:a="http://schemas.openxmlformats.org/drawingml/2006/main">
              <a:ext uri="{FF2B5EF4-FFF2-40B4-BE49-F238E27FC236}">
                <a16:creationId xmlns:a16="http://schemas.microsoft.com/office/drawing/2014/main" id="{6F323AE5-94E6-425B-9F7E-D2083F5D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核验状态</a:t>
            </a:r>
          </a:p>
        </p:txBody>
      </p:sp>
      <p:sp>
        <p:nvSpPr>
          <p:cNvPr id="16" name="visual-15-10-p15-r3-1">
            <a:extLst xmlns:a="http://schemas.openxmlformats.org/drawingml/2006/main">
              <a:ext uri="{FF2B5EF4-FFF2-40B4-BE49-F238E27FC236}">
                <a16:creationId xmlns:a16="http://schemas.microsoft.com/office/drawing/2014/main" id="{9AC84F00-8434-483E-B8B2-196F7C92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819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verified-with-caveat｜缺少受控效果实验，保留限定</a:t>
            </a:r>
          </a:p>
        </p:txBody>
      </p:sp>
      <p:sp>
        <p:nvSpPr>
          <p:cNvPr id="17" name="visual-15-11-p15-path">
            <a:extLst xmlns:a="http://schemas.openxmlformats.org/drawingml/2006/main">
              <a:ext uri="{FF2B5EF4-FFF2-40B4-BE49-F238E27FC236}">
                <a16:creationId xmlns:a16="http://schemas.microsoft.com/office/drawing/2014/main" id="{E95A214E-39AE-40E7-A017-2D1167D4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72050"/>
            <a:ext cx="956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角色与状态独立：已完成入口核验，但相对于当前效果问题仍是探索线索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A2CF4595-B235-4277-9C2D-D8EEAC57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 MI 错引：诊断与恢复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2CF90BAB-998C-40F6-A39C-5DF6DB32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教师真实检索 trace｜从已保存的四条 rejected 中选一条。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74EAB873-1398-4D51-9573-33CEE35D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对照记录：标识符解析到什么题名？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错误是身份拼接、任务不同，还是网络故障？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417BA158-7F8D-485E-B73C-95BFBDA3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身份错误：保留审计并重新定位来源。</a:t>
            </a:r>
          </a:p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网络故障：保持 pending；恢复前不提升核验状态。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4D345207-2C36-43A2-92F8-A4A87BA5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3043FA61-5CBD-42D4-B6D9-C38355A4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E770F9DF-7BF4-424F-8E68-6824EE8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CEB9DB07-E1FB-4936-A95D-602401A5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先修复保存结果，再在本地索引或可用学术库执行自己的修订查询，记录字段/语义/结果。对两条真实线索做身份与一条拟用主张审计；两条均核验通过也合格。同题允许独立定位与判断。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BC86D3C0-3343-41B1-B01F-3ED66989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同伴按查询逐字重放一个命中和一个漏检；候选条目有原文位置与纳入理由。离线用 S1/S2 存档审计，网络故障条目保持 pending。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CF3509A7-47BA-4190-86C5-CDCFFD9A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保存：notes/literature-search.md：一条可重放查询、两条据实审计、一条候选的角色与决定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0D0E8BBA-71C2-4AA0-8A94-C38E9D13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D16179B6-B1E4-4623-A8C3-EAB51501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8E02AEF1-7318-4A61-860B-C9AD71B4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用证据解释检索变化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DA48DBFD-B604-4E19-91E7-0CBEB10A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执行修订查询：字段、日期、语义、命中与排除理由。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AC4BBC0B-3248-4405-9AD5-C0080D95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两条来源审计据实记录状态；允许两条均通过。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同题也要独立定位与判断，不设失败配额。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EDB09B85-8045-4FCB-B089-7538B74A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候选主张：原文位置、允许用法、角色、纳入理由。</a:t>
            </a:r>
          </a:p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pending 留线索区；rejected 留审计。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F96105F4-FA50-4828-B448-391B213D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C499E906-6427-435F-871B-6B0D36DC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同伴互查三问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visual-19-0-p19-mode">
            <a:extLst xmlns:a="http://schemas.openxmlformats.org/drawingml/2006/main">
              <a:ext uri="{FF2B5EF4-FFF2-40B4-BE49-F238E27FC236}">
                <a16:creationId xmlns:a16="http://schemas.microsoft.com/office/drawing/2014/main" id="{DF9F3606-BC1D-4F45-BE92-681E7046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两人互查｜作者记录处理决定</a:t>
            </a:r>
          </a:p>
        </p:txBody>
      </p:sp>
      <p:sp>
        <p:nvSpPr>
          <p:cNvPr id="7" name="visual-19-1-p19-qn-0">
            <a:extLst xmlns:a="http://schemas.openxmlformats.org/drawingml/2006/main">
              <a:ext uri="{FF2B5EF4-FFF2-40B4-BE49-F238E27FC236}">
                <a16:creationId xmlns:a16="http://schemas.microsoft.com/office/drawing/2014/main" id="{6B2604ED-484E-444D-A3E1-E48064E4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Q1</a:t>
            </a:r>
          </a:p>
        </p:txBody>
      </p:sp>
      <p:sp>
        <p:nvSpPr>
          <p:cNvPr id="8" name="visual-19-2-p19-q-0">
            <a:extLst xmlns:a="http://schemas.openxmlformats.org/drawingml/2006/main">
              <a:ext uri="{FF2B5EF4-FFF2-40B4-BE49-F238E27FC236}">
                <a16:creationId xmlns:a16="http://schemas.microsoft.com/office/drawing/2014/main" id="{337B293E-08BF-4A94-AE15-24006418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954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检索可复盘吗？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库、式、日期、命中与筛选齐吗？</a:t>
            </a:r>
          </a:p>
        </p:txBody>
      </p:sp>
      <p:sp>
        <p:nvSpPr>
          <p:cNvPr id="9" name="visual-19-3-p19-qn-1">
            <a:extLst xmlns:a="http://schemas.openxmlformats.org/drawingml/2006/main">
              <a:ext uri="{FF2B5EF4-FFF2-40B4-BE49-F238E27FC236}">
                <a16:creationId xmlns:a16="http://schemas.microsoft.com/office/drawing/2014/main" id="{FC0842B5-426D-4508-9902-35A76980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Q2</a:t>
            </a:r>
          </a:p>
        </p:txBody>
      </p:sp>
      <p:sp>
        <p:nvSpPr>
          <p:cNvPr id="10" name="visual-19-4-p19-q-1">
            <a:extLst xmlns:a="http://schemas.openxmlformats.org/drawingml/2006/main">
              <a:ext uri="{FF2B5EF4-FFF2-40B4-BE49-F238E27FC236}">
                <a16:creationId xmlns:a16="http://schemas.microsoft.com/office/drawing/2014/main" id="{5C6960C4-30D1-4A36-A760-BE9D8A3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03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预期角色有对应问题/拟用主张吗？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是否与状态、筛选决定分开？</a:t>
            </a:r>
          </a:p>
        </p:txBody>
      </p:sp>
      <p:sp>
        <p:nvSpPr>
          <p:cNvPr id="11" name="visual-19-5-p19-qn-2">
            <a:extLst xmlns:a="http://schemas.openxmlformats.org/drawingml/2006/main">
              <a:ext uri="{FF2B5EF4-FFF2-40B4-BE49-F238E27FC236}">
                <a16:creationId xmlns:a16="http://schemas.microsoft.com/office/drawing/2014/main" id="{63AF3260-0AD0-4D35-9AB8-81B34131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Q3</a:t>
            </a:r>
          </a:p>
        </p:txBody>
      </p:sp>
      <p:sp>
        <p:nvSpPr>
          <p:cNvPr id="12" name="visual-19-6-p19-q-2">
            <a:extLst xmlns:a="http://schemas.openxmlformats.org/drawingml/2006/main">
              <a:ext uri="{FF2B5EF4-FFF2-40B4-BE49-F238E27FC236}">
                <a16:creationId xmlns:a16="http://schemas.microsoft.com/office/drawing/2014/main" id="{74A6EFDA-46C1-44CC-B576-A57D01B4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052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身份与一条拟用主张回原文了吗？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rejected / pending 理由成立吗？</a:t>
            </a:r>
          </a:p>
        </p:txBody>
      </p:sp>
      <p:sp>
        <p:nvSpPr>
          <p:cNvPr id="13" name="visual-19-7-p19-state">
            <a:extLst xmlns:a="http://schemas.openxmlformats.org/drawingml/2006/main">
              <a:ext uri="{FF2B5EF4-FFF2-40B4-BE49-F238E27FC236}">
                <a16:creationId xmlns:a16="http://schemas.microsoft.com/office/drawing/2014/main" id="{6EC30814-EBC7-41DE-BBEF-D01B8930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2476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作者记录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采纳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暂不采纳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待核验</a:t>
            </a:r>
          </a:p>
        </p:txBody>
      </p:sp>
      <p:sp>
        <p:nvSpPr>
          <p:cNvPr id="14" name="visual-19-8-p19-bottom">
            <a:extLst xmlns:a="http://schemas.openxmlformats.org/drawingml/2006/main">
              <a:ext uri="{FF2B5EF4-FFF2-40B4-BE49-F238E27FC236}">
                <a16:creationId xmlns:a16="http://schemas.microsoft.com/office/drawing/2014/main" id="{0C52B05D-2EE7-4C84-BF23-9FA58F35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同伴只提问题，不替作者决定，不形成共同提交。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本讲知识点总结：检索是证据入口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visual-20-0-p20-chain-0">
            <a:extLst xmlns:a="http://schemas.openxmlformats.org/drawingml/2006/main">
              <a:ext uri="{FF2B5EF4-FFF2-40B4-BE49-F238E27FC236}">
                <a16:creationId xmlns:a16="http://schemas.microsoft.com/office/drawing/2014/main" id="{D7FBB432-3AFB-451F-BA0C-BB45F44C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问题初稿</a:t>
            </a:r>
          </a:p>
        </p:txBody>
      </p:sp>
      <p:sp>
        <p:nvSpPr>
          <p:cNvPr id="7" name="visual-20-1-p20-arrow-0">
            <a:extLst xmlns:a="http://schemas.openxmlformats.org/drawingml/2006/main">
              <a:ext uri="{FF2B5EF4-FFF2-40B4-BE49-F238E27FC236}">
                <a16:creationId xmlns:a16="http://schemas.microsoft.com/office/drawing/2014/main" id="{8F81C4A0-B781-4F6E-8C5B-A733CE60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162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visual-20-2-p20-chain-1">
            <a:extLst xmlns:a="http://schemas.openxmlformats.org/drawingml/2006/main">
              <a:ext uri="{FF2B5EF4-FFF2-40B4-BE49-F238E27FC236}">
                <a16:creationId xmlns:a16="http://schemas.microsoft.com/office/drawing/2014/main" id="{8F9BD0A4-E14D-4DD1-BBA8-88B5A423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066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关键词／检索式</a:t>
            </a:r>
          </a:p>
        </p:txBody>
      </p:sp>
      <p:sp>
        <p:nvSpPr>
          <p:cNvPr id="9" name="visual-20-3-p20-arrow-1">
            <a:extLst xmlns:a="http://schemas.openxmlformats.org/drawingml/2006/main">
              <a:ext uri="{FF2B5EF4-FFF2-40B4-BE49-F238E27FC236}">
                <a16:creationId xmlns:a16="http://schemas.microsoft.com/office/drawing/2014/main" id="{A67C1FFB-8E0B-4A57-8000-77AB4942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162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visual-20-4-p20-chain-2">
            <a:extLst xmlns:a="http://schemas.openxmlformats.org/drawingml/2006/main">
              <a:ext uri="{FF2B5EF4-FFF2-40B4-BE49-F238E27FC236}">
                <a16:creationId xmlns:a16="http://schemas.microsoft.com/office/drawing/2014/main" id="{EF569530-87D1-4F4D-A63D-31CB667C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66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来源审计</a:t>
            </a:r>
          </a:p>
        </p:txBody>
      </p:sp>
      <p:sp>
        <p:nvSpPr>
          <p:cNvPr id="11" name="visual-20-5-p20-arrow-2">
            <a:extLst xmlns:a="http://schemas.openxmlformats.org/drawingml/2006/main">
              <a:ext uri="{FF2B5EF4-FFF2-40B4-BE49-F238E27FC236}">
                <a16:creationId xmlns:a16="http://schemas.microsoft.com/office/drawing/2014/main" id="{14FDB0AB-5573-4034-A76C-514FCE6C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162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visual-20-6-p20-chain-3">
            <a:extLst xmlns:a="http://schemas.openxmlformats.org/drawingml/2006/main">
              <a:ext uri="{FF2B5EF4-FFF2-40B4-BE49-F238E27FC236}">
                <a16:creationId xmlns:a16="http://schemas.microsoft.com/office/drawing/2014/main" id="{59BA110B-424E-4CAA-A94D-78ED34BC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066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候选文献表</a:t>
            </a:r>
          </a:p>
        </p:txBody>
      </p:sp>
      <p:sp>
        <p:nvSpPr>
          <p:cNvPr id="13" name="visual-20-7-p20-row-label-0">
            <a:extLst xmlns:a="http://schemas.openxmlformats.org/drawingml/2006/main">
              <a:ext uri="{FF2B5EF4-FFF2-40B4-BE49-F238E27FC236}">
                <a16:creationId xmlns:a16="http://schemas.microsoft.com/office/drawing/2014/main" id="{6D80DA47-3FF9-4FE6-AC82-A1C2AA96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10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角色</a:t>
            </a:r>
          </a:p>
        </p:txBody>
      </p:sp>
      <p:sp>
        <p:nvSpPr>
          <p:cNvPr id="14" name="visual-20-8-p20-row-basis-0">
            <a:extLst xmlns:a="http://schemas.openxmlformats.org/drawingml/2006/main">
              <a:ext uri="{FF2B5EF4-FFF2-40B4-BE49-F238E27FC236}">
                <a16:creationId xmlns:a16="http://schemas.microsoft.com/office/drawing/2014/main" id="{1491AA5D-DC9B-4CA1-87ED-439471C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955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相对于问题或拟用主张</a:t>
            </a:r>
          </a:p>
        </p:txBody>
      </p:sp>
      <p:sp>
        <p:nvSpPr>
          <p:cNvPr id="15" name="visual-20-9-p20-row-content-0">
            <a:extLst xmlns:a="http://schemas.openxmlformats.org/drawingml/2006/main">
              <a:ext uri="{FF2B5EF4-FFF2-40B4-BE49-F238E27FC236}">
                <a16:creationId xmlns:a16="http://schemas.microsoft.com/office/drawing/2014/main" id="{9FE6C6CF-BDC9-45B2-9D26-9E732009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70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主／补充／对比／探索线索</a:t>
            </a:r>
          </a:p>
        </p:txBody>
      </p:sp>
      <p:sp>
        <p:nvSpPr>
          <p:cNvPr id="16" name="visual-20-10-p20-row-label-1">
            <a:extLst xmlns:a="http://schemas.openxmlformats.org/drawingml/2006/main">
              <a:ext uri="{FF2B5EF4-FFF2-40B4-BE49-F238E27FC236}">
                <a16:creationId xmlns:a16="http://schemas.microsoft.com/office/drawing/2014/main" id="{24A2BB4F-5F7E-4AE9-B43F-C60A0FB9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10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17" name="visual-20-11-p20-row-basis-1">
            <a:extLst xmlns:a="http://schemas.openxmlformats.org/drawingml/2006/main">
              <a:ext uri="{FF2B5EF4-FFF2-40B4-BE49-F238E27FC236}">
                <a16:creationId xmlns:a16="http://schemas.microsoft.com/office/drawing/2014/main" id="{C45C41CC-06BC-4B70-A18C-6702A353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回原文裁定</a:t>
            </a:r>
          </a:p>
        </p:txBody>
      </p:sp>
      <p:sp>
        <p:nvSpPr>
          <p:cNvPr id="18" name="visual-20-12-p20-row-content-1">
            <a:extLst xmlns:a="http://schemas.openxmlformats.org/drawingml/2006/main">
              <a:ext uri="{FF2B5EF4-FFF2-40B4-BE49-F238E27FC236}">
                <a16:creationId xmlns:a16="http://schemas.microsoft.com/office/drawing/2014/main" id="{748D34FD-AAEC-4341-9BB8-C1BD0261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670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pending／verified／verified-with-caveat／rejected</a:t>
            </a:r>
          </a:p>
        </p:txBody>
      </p:sp>
      <p:sp>
        <p:nvSpPr>
          <p:cNvPr id="19" name="visual-20-13-p20-row-label-2">
            <a:extLst xmlns:a="http://schemas.openxmlformats.org/drawingml/2006/main">
              <a:ext uri="{FF2B5EF4-FFF2-40B4-BE49-F238E27FC236}">
                <a16:creationId xmlns:a16="http://schemas.microsoft.com/office/drawing/2014/main" id="{C155B482-36D1-465C-BB91-7AE0F787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10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决定</a:t>
            </a:r>
          </a:p>
        </p:txBody>
      </p:sp>
      <p:sp>
        <p:nvSpPr>
          <p:cNvPr id="20" name="visual-20-14-p20-row-basis-2">
            <a:extLst xmlns:a="http://schemas.openxmlformats.org/drawingml/2006/main">
              <a:ext uri="{FF2B5EF4-FFF2-40B4-BE49-F238E27FC236}">
                <a16:creationId xmlns:a16="http://schemas.microsoft.com/office/drawing/2014/main" id="{C6FFD67A-4350-482F-9B45-72E0C99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862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人工记录</a:t>
            </a:r>
          </a:p>
        </p:txBody>
      </p:sp>
      <p:sp>
        <p:nvSpPr>
          <p:cNvPr id="21" name="visual-20-15-p20-row-content-2">
            <a:extLst xmlns:a="http://schemas.openxmlformats.org/drawingml/2006/main">
              <a:ext uri="{FF2B5EF4-FFF2-40B4-BE49-F238E27FC236}">
                <a16:creationId xmlns:a16="http://schemas.microsoft.com/office/drawing/2014/main" id="{B51A8734-B39E-4F8B-A4EB-07BA7927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670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纳入／排除及理由；冲突证据保留</a:t>
            </a:r>
          </a:p>
        </p:txBody>
      </p:sp>
      <p:sp>
        <p:nvSpPr>
          <p:cNvPr id="22" name="visual-20-16-p20-boundary">
            <a:extLst xmlns:a="http://schemas.openxmlformats.org/drawingml/2006/main">
              <a:ext uri="{FF2B5EF4-FFF2-40B4-BE49-F238E27FC236}">
                <a16:creationId xmlns:a16="http://schemas.microsoft.com/office/drawing/2014/main" id="{49884C67-CFED-41E2-8CF5-C83754C5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979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可以扩展、检索、整理和提出建议；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学生确认问题、主张、角色与纳入决定。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F409684E-2452-41F8-A6A8-6155FA7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CDD0E499-B03B-4384-8C38-6B745281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L4 精读其中一条关键主张；候选起始池可继续扩展。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4951AB27-31C5-45E8-BDA6-21E0698F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回写已有项目：notes/literature-search.md：一条可重放查询、两条据实审计、一条候选的角色与决定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2895778B-BC30-43E0-9915-C237E861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E94A7473-2A5D-416D-B4C8-01727707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255D6B24-6882-41EB-BA1D-DA63D6B5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2026-09-16T01:26:58.4270000Z</dcterms:created>
  <dcterms:modified xsi:type="dcterms:W3CDTF">2026-09-16T01:26:58.4270000Z</dcterms:modified>
</coreProperties>
</file>