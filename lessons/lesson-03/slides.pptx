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f43b60d6814c79" /><Relationship Type="http://schemas.openxmlformats.org/officeDocument/2006/relationships/extended-properties" Target="/docProps/app.xml" Id="Rd6d8134959be4f10" /><Relationship Type="http://schemas.openxmlformats.org/officeDocument/2006/relationships/officeDocument" Target="/ppt/presentation.xml" Id="Rb8584518e09743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968e30f6a94598"/>
  </p:sldMasterIdLst>
  <p:notesMasterIdLst>
    <p:notesMasterId xmlns:r="http://schemas.openxmlformats.org/officeDocument/2006/relationships" r:id="Re9d0274cf8e549c4"/>
  </p:notesMasterIdLst>
  <p:sldIdLst>
    <p:sldId xmlns:r="http://schemas.openxmlformats.org/officeDocument/2006/relationships" id="256" r:id="R3a1f4be102894fea"/>
    <p:sldId xmlns:r="http://schemas.openxmlformats.org/officeDocument/2006/relationships" id="257" r:id="R5fab326182f248b1"/>
    <p:sldId xmlns:r="http://schemas.openxmlformats.org/officeDocument/2006/relationships" id="258" r:id="R0305ca52ceb448d5"/>
    <p:sldId xmlns:r="http://schemas.openxmlformats.org/officeDocument/2006/relationships" id="259" r:id="R9c412382ec534ee5"/>
    <p:sldId xmlns:r="http://schemas.openxmlformats.org/officeDocument/2006/relationships" id="260" r:id="Rab3a152624f945db"/>
    <p:sldId xmlns:r="http://schemas.openxmlformats.org/officeDocument/2006/relationships" id="261" r:id="R68b34fadd28143c6"/>
    <p:sldId xmlns:r="http://schemas.openxmlformats.org/officeDocument/2006/relationships" id="262" r:id="R1aff77acd3a04f7f"/>
    <p:sldId xmlns:r="http://schemas.openxmlformats.org/officeDocument/2006/relationships" id="263" r:id="R595c454640784efe"/>
    <p:sldId xmlns:r="http://schemas.openxmlformats.org/officeDocument/2006/relationships" id="264" r:id="R959184f0e76b47bf"/>
    <p:sldId xmlns:r="http://schemas.openxmlformats.org/officeDocument/2006/relationships" id="265" r:id="Rf40687537e004d32"/>
    <p:sldId xmlns:r="http://schemas.openxmlformats.org/officeDocument/2006/relationships" id="266" r:id="R06ccd38ab9b046f3"/>
    <p:sldId xmlns:r="http://schemas.openxmlformats.org/officeDocument/2006/relationships" id="267" r:id="R7064efece824465d"/>
    <p:sldId xmlns:r="http://schemas.openxmlformats.org/officeDocument/2006/relationships" id="268" r:id="R4080fee1f4c941a3"/>
    <p:sldId xmlns:r="http://schemas.openxmlformats.org/officeDocument/2006/relationships" id="269" r:id="R617883ef442442c1"/>
    <p:sldId xmlns:r="http://schemas.openxmlformats.org/officeDocument/2006/relationships" id="270" r:id="Rdaa57582f597478e"/>
    <p:sldId xmlns:r="http://schemas.openxmlformats.org/officeDocument/2006/relationships" id="271" r:id="Re195ec7980ac419d"/>
    <p:sldId xmlns:r="http://schemas.openxmlformats.org/officeDocument/2006/relationships" id="272" r:id="R3e81b5a7b0ef4cfa"/>
    <p:sldId xmlns:r="http://schemas.openxmlformats.org/officeDocument/2006/relationships" id="273" r:id="R09ca4994b8f34d0c"/>
    <p:sldId xmlns:r="http://schemas.openxmlformats.org/officeDocument/2006/relationships" id="274" r:id="R0fb2204ffdf54086"/>
    <p:sldId xmlns:r="http://schemas.openxmlformats.org/officeDocument/2006/relationships" id="275" r:id="Rbaecb8cb140c42bc"/>
    <p:sldId xmlns:r="http://schemas.openxmlformats.org/officeDocument/2006/relationships" id="276" r:id="R812e3d75e603425f"/>
    <p:sldId xmlns:r="http://schemas.openxmlformats.org/officeDocument/2006/relationships" id="277" r:id="Re6e28f1fe4ec46e2"/>
    <p:sldId xmlns:r="http://schemas.openxmlformats.org/officeDocument/2006/relationships" id="278" r:id="R1a4ec1ce7c28442a"/>
    <p:sldId xmlns:r="http://schemas.openxmlformats.org/officeDocument/2006/relationships" id="279" r:id="Rf64d0d34e78b4e6b"/>
    <p:sldId xmlns:r="http://schemas.openxmlformats.org/officeDocument/2006/relationships" id="280" r:id="Rcbea1eb4bcb743c9"/>
    <p:sldId xmlns:r="http://schemas.openxmlformats.org/officeDocument/2006/relationships" id="281" r:id="R3f4548410ca24fac"/>
    <p:sldId xmlns:r="http://schemas.openxmlformats.org/officeDocument/2006/relationships" id="282" r:id="R0e9f1d157b17445d"/>
    <p:sldId xmlns:r="http://schemas.openxmlformats.org/officeDocument/2006/relationships" id="283" r:id="R2c958b1aca064aeb"/>
    <p:sldId xmlns:r="http://schemas.openxmlformats.org/officeDocument/2006/relationships" id="284" r:id="R50252dc351ac4258"/>
    <p:sldId xmlns:r="http://schemas.openxmlformats.org/officeDocument/2006/relationships" id="285" r:id="Re03d7391d9934959"/>
    <p:sldId xmlns:r="http://schemas.openxmlformats.org/officeDocument/2006/relationships" id="286" r:id="R3868f3d987084df6"/>
    <p:sldId xmlns:r="http://schemas.openxmlformats.org/officeDocument/2006/relationships" id="287" r:id="R97191f31598d48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d22371522948da" /><Relationship Type="http://schemas.openxmlformats.org/officeDocument/2006/relationships/slideMaster" Target="/ppt/slideMasters/slideMaster1.xml" Id="R25968e30f6a94598" /><Relationship Type="http://schemas.openxmlformats.org/officeDocument/2006/relationships/notesMaster" Target="/ppt/notesMasters/notesMaster1.xml" Id="Re9d0274cf8e549c4" /><Relationship Type="http://schemas.openxmlformats.org/officeDocument/2006/relationships/presProps" Target="/ppt/presProps.xml" Id="Rd9840f867b7d4d4e" /><Relationship Type="http://schemas.openxmlformats.org/officeDocument/2006/relationships/viewProps" Target="/ppt/viewProps.xml" Id="R697e43e3729f4bbe" /><Relationship Type="http://schemas.openxmlformats.org/officeDocument/2006/relationships/tableStyles" Target="/ppt/tableStyles.xml" Id="Rcac1c7d07a3b480e" /><Relationship Type="http://schemas.openxmlformats.org/officeDocument/2006/relationships/slide" Target="/ppt/slides/slide1.xml" Id="R3a1f4be102894fea" /><Relationship Type="http://schemas.openxmlformats.org/officeDocument/2006/relationships/slide" Target="/ppt/slides/slide2.xml" Id="R5fab326182f248b1" /><Relationship Type="http://schemas.openxmlformats.org/officeDocument/2006/relationships/slide" Target="/ppt/slides/slide3.xml" Id="R0305ca52ceb448d5" /><Relationship Type="http://schemas.openxmlformats.org/officeDocument/2006/relationships/slide" Target="/ppt/slides/slide4.xml" Id="R9c412382ec534ee5" /><Relationship Type="http://schemas.openxmlformats.org/officeDocument/2006/relationships/slide" Target="/ppt/slides/slide5.xml" Id="Rab3a152624f945db" /><Relationship Type="http://schemas.openxmlformats.org/officeDocument/2006/relationships/slide" Target="/ppt/slides/slide6.xml" Id="R68b34fadd28143c6" /><Relationship Type="http://schemas.openxmlformats.org/officeDocument/2006/relationships/slide" Target="/ppt/slides/slide7.xml" Id="R1aff77acd3a04f7f" /><Relationship Type="http://schemas.openxmlformats.org/officeDocument/2006/relationships/slide" Target="/ppt/slides/slide8.xml" Id="R595c454640784efe" /><Relationship Type="http://schemas.openxmlformats.org/officeDocument/2006/relationships/slide" Target="/ppt/slides/slide9.xml" Id="R959184f0e76b47bf" /><Relationship Type="http://schemas.openxmlformats.org/officeDocument/2006/relationships/slide" Target="/ppt/slides/slide10.xml" Id="Rf40687537e004d32" /><Relationship Type="http://schemas.openxmlformats.org/officeDocument/2006/relationships/slide" Target="/ppt/slides/slide11.xml" Id="R06ccd38ab9b046f3" /><Relationship Type="http://schemas.openxmlformats.org/officeDocument/2006/relationships/slide" Target="/ppt/slides/slide12.xml" Id="R7064efece824465d" /><Relationship Type="http://schemas.openxmlformats.org/officeDocument/2006/relationships/slide" Target="/ppt/slides/slide13.xml" Id="R4080fee1f4c941a3" /><Relationship Type="http://schemas.openxmlformats.org/officeDocument/2006/relationships/slide" Target="/ppt/slides/slide14.xml" Id="R617883ef442442c1" /><Relationship Type="http://schemas.openxmlformats.org/officeDocument/2006/relationships/slide" Target="/ppt/slides/slide15.xml" Id="Rdaa57582f597478e" /><Relationship Type="http://schemas.openxmlformats.org/officeDocument/2006/relationships/slide" Target="/ppt/slides/slide16.xml" Id="Re195ec7980ac419d" /><Relationship Type="http://schemas.openxmlformats.org/officeDocument/2006/relationships/slide" Target="/ppt/slides/slide17.xml" Id="R3e81b5a7b0ef4cfa" /><Relationship Type="http://schemas.openxmlformats.org/officeDocument/2006/relationships/slide" Target="/ppt/slides/slide18.xml" Id="R09ca4994b8f34d0c" /><Relationship Type="http://schemas.openxmlformats.org/officeDocument/2006/relationships/slide" Target="/ppt/slides/slide19.xml" Id="R0fb2204ffdf54086" /><Relationship Type="http://schemas.openxmlformats.org/officeDocument/2006/relationships/slide" Target="/ppt/slides/slide20.xml" Id="Rbaecb8cb140c42bc" /><Relationship Type="http://schemas.openxmlformats.org/officeDocument/2006/relationships/slide" Target="/ppt/slides/slide21.xml" Id="R812e3d75e603425f" /><Relationship Type="http://schemas.openxmlformats.org/officeDocument/2006/relationships/slide" Target="/ppt/slides/slide22.xml" Id="Re6e28f1fe4ec46e2" /><Relationship Type="http://schemas.openxmlformats.org/officeDocument/2006/relationships/slide" Target="/ppt/slides/slide23.xml" Id="R1a4ec1ce7c28442a" /><Relationship Type="http://schemas.openxmlformats.org/officeDocument/2006/relationships/slide" Target="/ppt/slides/slide24.xml" Id="Rf64d0d34e78b4e6b" /><Relationship Type="http://schemas.openxmlformats.org/officeDocument/2006/relationships/slide" Target="/ppt/slides/slide25.xml" Id="Rcbea1eb4bcb743c9" /><Relationship Type="http://schemas.openxmlformats.org/officeDocument/2006/relationships/slide" Target="/ppt/slides/slide26.xml" Id="R3f4548410ca24fac" /><Relationship Type="http://schemas.openxmlformats.org/officeDocument/2006/relationships/slide" Target="/ppt/slides/slide27.xml" Id="R0e9f1d157b17445d" /><Relationship Type="http://schemas.openxmlformats.org/officeDocument/2006/relationships/slide" Target="/ppt/slides/slide28.xml" Id="R2c958b1aca064aeb" /><Relationship Type="http://schemas.openxmlformats.org/officeDocument/2006/relationships/slide" Target="/ppt/slides/slide29.xml" Id="R50252dc351ac4258" /><Relationship Type="http://schemas.openxmlformats.org/officeDocument/2006/relationships/slide" Target="/ppt/slides/slide30.xml" Id="Re03d7391d9934959" /><Relationship Type="http://schemas.openxmlformats.org/officeDocument/2006/relationships/slide" Target="/ppt/slides/slide31.xml" Id="R3868f3d987084df6" /><Relationship Type="http://schemas.openxmlformats.org/officeDocument/2006/relationships/slide" Target="/ppt/slides/slide32.xml" Id="R97191f31598d48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15aa06338e4f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23758b565f4bc3" /><Relationship Type="http://schemas.openxmlformats.org/officeDocument/2006/relationships/notesMaster" Target="/ppt/notesMasters/notesMaster1.xml" Id="R6802784a542f40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646bb5e1ca480b" /><Relationship Type="http://schemas.openxmlformats.org/officeDocument/2006/relationships/notesMaster" Target="/ppt/notesMasters/notesMaster1.xml" Id="Re3b780cb90694c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6b9ce122994338" /><Relationship Type="http://schemas.openxmlformats.org/officeDocument/2006/relationships/notesMaster" Target="/ppt/notesMasters/notesMaster1.xml" Id="R98d1153f6ea644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3bf812a1744dab" /><Relationship Type="http://schemas.openxmlformats.org/officeDocument/2006/relationships/notesMaster" Target="/ppt/notesMasters/notesMaster1.xml" Id="R7c5b9cec9c8449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4c5e6017a34fce" /><Relationship Type="http://schemas.openxmlformats.org/officeDocument/2006/relationships/notesMaster" Target="/ppt/notesMasters/notesMaster1.xml" Id="Ra7d02f33b3f540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2196cdc20c44a1" /><Relationship Type="http://schemas.openxmlformats.org/officeDocument/2006/relationships/notesMaster" Target="/ppt/notesMasters/notesMaster1.xml" Id="R956798f2912142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c9c9e19cd74b45" /><Relationship Type="http://schemas.openxmlformats.org/officeDocument/2006/relationships/notesMaster" Target="/ppt/notesMasters/notesMaster1.xml" Id="Rad621910dd4448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aa591c905b4fcf" /><Relationship Type="http://schemas.openxmlformats.org/officeDocument/2006/relationships/notesMaster" Target="/ppt/notesMasters/notesMaster1.xml" Id="R776fec7bc36a47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9e6db964fa46a0" /><Relationship Type="http://schemas.openxmlformats.org/officeDocument/2006/relationships/notesMaster" Target="/ppt/notesMasters/notesMaster1.xml" Id="Ra0e36062bd444e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7e4919a056442d" /><Relationship Type="http://schemas.openxmlformats.org/officeDocument/2006/relationships/notesMaster" Target="/ppt/notesMasters/notesMaster1.xml" Id="Rac7e00717df644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193e2ad21f43cc" /><Relationship Type="http://schemas.openxmlformats.org/officeDocument/2006/relationships/notesMaster" Target="/ppt/notesMasters/notesMaster1.xml" Id="R7546aa6fb9644a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86e4ea64f048cd" /><Relationship Type="http://schemas.openxmlformats.org/officeDocument/2006/relationships/notesMaster" Target="/ppt/notesMasters/notesMaster1.xml" Id="Rfbf68a7e1f664b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b6d35f10004b6a" /><Relationship Type="http://schemas.openxmlformats.org/officeDocument/2006/relationships/notesMaster" Target="/ppt/notesMasters/notesMaster1.xml" Id="R153bbd856772488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3f0c808a9d4058" /><Relationship Type="http://schemas.openxmlformats.org/officeDocument/2006/relationships/notesMaster" Target="/ppt/notesMasters/notesMaster1.xml" Id="R48755dfa5bdf40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87216e167e421f" /><Relationship Type="http://schemas.openxmlformats.org/officeDocument/2006/relationships/notesMaster" Target="/ppt/notesMasters/notesMaster1.xml" Id="Rde1d599388464d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74c0289d2c8466c" /><Relationship Type="http://schemas.openxmlformats.org/officeDocument/2006/relationships/notesMaster" Target="/ppt/notesMasters/notesMaster1.xml" Id="R1bc020f9f1bc47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749c7924794ee1" /><Relationship Type="http://schemas.openxmlformats.org/officeDocument/2006/relationships/notesMaster" Target="/ppt/notesMasters/notesMaster1.xml" Id="R178b842b1a4440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a438c600c6f4e61" /><Relationship Type="http://schemas.openxmlformats.org/officeDocument/2006/relationships/notesMaster" Target="/ppt/notesMasters/notesMaster1.xml" Id="R7d791de3f56248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adeff4c00e4383" /><Relationship Type="http://schemas.openxmlformats.org/officeDocument/2006/relationships/notesMaster" Target="/ppt/notesMasters/notesMaster1.xml" Id="R63d6f8ce795542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af50ee1e6d541e7" /><Relationship Type="http://schemas.openxmlformats.org/officeDocument/2006/relationships/notesMaster" Target="/ppt/notesMasters/notesMaster1.xml" Id="R68940e6a2e2c4ae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d3886804efa46b8" /><Relationship Type="http://schemas.openxmlformats.org/officeDocument/2006/relationships/notesMaster" Target="/ppt/notesMasters/notesMaster1.xml" Id="Rdb6a050ada8b481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26349d5dc5346e4" /><Relationship Type="http://schemas.openxmlformats.org/officeDocument/2006/relationships/notesMaster" Target="/ppt/notesMasters/notesMaster1.xml" Id="Rc20bcc36bb2345c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5fec3fd7da6430c" /><Relationship Type="http://schemas.openxmlformats.org/officeDocument/2006/relationships/notesMaster" Target="/ppt/notesMasters/notesMaster1.xml" Id="R1cd0bdd3ba6e432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7cde85585774e80" /><Relationship Type="http://schemas.openxmlformats.org/officeDocument/2006/relationships/notesMaster" Target="/ppt/notesMasters/notesMaster1.xml" Id="Rd33dc39f43244e3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96b7ddfc27143fa" /><Relationship Type="http://schemas.openxmlformats.org/officeDocument/2006/relationships/notesMaster" Target="/ppt/notesMasters/notesMaster1.xml" Id="R4476680db29d4db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b487e82dbc94799" /><Relationship Type="http://schemas.openxmlformats.org/officeDocument/2006/relationships/notesMaster" Target="/ppt/notesMasters/notesMaster1.xml" Id="R38daf443a582416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866590b17e34b36" /><Relationship Type="http://schemas.openxmlformats.org/officeDocument/2006/relationships/notesMaster" Target="/ppt/notesMasters/notesMaster1.xml" Id="Rac812f053abc4cc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d99e8365a9a498c" /><Relationship Type="http://schemas.openxmlformats.org/officeDocument/2006/relationships/notesMaster" Target="/ppt/notesMasters/notesMaster1.xml" Id="Rbd4785e13ac746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801a64b23ae4c58" /><Relationship Type="http://schemas.openxmlformats.org/officeDocument/2006/relationships/notesMaster" Target="/ppt/notesMasters/notesMaster1.xml" Id="R53be9b8ebbd447c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b68d601e8cb4f3a" /><Relationship Type="http://schemas.openxmlformats.org/officeDocument/2006/relationships/notesMaster" Target="/ppt/notesMasters/notesMaster1.xml" Id="Rd2e38459c93049a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600face72304768" /><Relationship Type="http://schemas.openxmlformats.org/officeDocument/2006/relationships/notesMaster" Target="/ppt/notesMasters/notesMaster1.xml" Id="Re51554b85b0d421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df54deac23443ae" /><Relationship Type="http://schemas.openxmlformats.org/officeDocument/2006/relationships/notesMaster" Target="/ppt/notesMasters/notesMaster1.xml" Id="R0609b3c8cd7947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P01 多路文献发现与检索决策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今天围绕同一个 IOI 问题，组织 AI 检索，再检查它做了什么、还缺什么。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学生动作：打开个人项目与问题初稿。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§导读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P02 IOI：我们需要找到什么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这句自拟例子帮助理解 IOI。我们暂时不猜哪一层有效，先找能指导设计和解释的文献。每人写一个缺口。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学生动作：写下一个当前最需要补足的证据问题。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https://arxiv.org/html/2211.00593v1；自拟教学句，非运行结果</a:t>
            </a:r>
          </a:p>
          <a:p xmlns:a="http://schemas.openxmlformats.org/drawingml/2006/main">
            <a:r>
              <a:t>讲义映射：handout.md §一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P03 本课产物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本课没有独立提交，记录留到第 6 课问题门。至少一条已核验候选。使用 AI 后仍要解释选择。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学生动作：定位记录文件，标出尚缺的字段。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P04 给 Agent 的研究任务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数量预算见讲义示例，可以缩小。这里的目标是获得能改变研究设计的信息。只给论文清单不足以复盘执行。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学生动作：检查自己的请求是否说明缺口、预算与输出。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P05 首轮搜索的实际返回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实际请求为双引号限定 indirect object identification 和 activation patching，并限定 site:arxiv.org。完整题名与链接在运行记录。学生先观察候选方向，核验状态尚未由身份或排序决定。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学生动作：核对首轮覆盖了哪些问题要素。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ioi-retrieval-record.md；2026-10-15 实际工具记录</a:t>
            </a:r>
          </a:p>
          <a:p xmlns:a="http://schemas.openxmlformats.org/drawingml/2006/main">
            <a:r>
              <a:t>讲义映射：handout.md §三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P06 语义路线的任务表达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自然语言输入并不证明底层是语义检索。本次通用搜索排序机制未知。学生若有可用语义服务，核实语料、接口、版本与输出，再比较它的独有相关发现。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学生动作：为本人问题拟一个语义请求，标明实际能力是否已核实。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P07 引文路线的两个方向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原文参考文献可以直接启动后向扩展。前向扩展可借引文索引，但覆盖与更新可能不全。本次只核对局部关系，没有声称遍历整个网络。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学生动作：选择一个方向，说明它准备补什么缺口。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https://arxiv.org/html/2211.00593v1；https://arxiv.org/html/2311.17030v2</a:t>
            </a:r>
          </a:p>
          <a:p xmlns:a="http://schemas.openxmlformats.org/drawingml/2006/main">
            <a:r>
              <a:t>讲义映射：handout.md §二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P08 Agent 如何安排下一步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Agent 编排不是与词法、语义并列的单一检索算法。自动化让执行更密集，也要求保存影响判断的决策和结果。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学生动作：指出哪一条返回会触发自己的下一步。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P09 一条运行记录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本次没有可比较计费数据。以后重做不保证排序相同，但请求和当时结果仍能被检查。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学生动作：检查一份记录能否回答“查了什么、看到了什么”。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ioi-retrieval-record.md；2026-10-15 实际工具记录</a:t>
            </a:r>
          </a:p>
          <a:p xmlns:a="http://schemas.openxmlformats.org/drawingml/2006/main">
            <a:r>
              <a:t>讲义映射：handout.md §三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P10 共同诊断：返回与给定种子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先保留学生的个人初判。暂不揭示教师选路。此处不能从未出现推断不存在。学生可以使用 AI，但必须指出实际记录位置。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学生动作：在现有笔记写初判、依据和一个未决项。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ioi-retrieval-record.md；2026-10-15 实际工具记录</a:t>
            </a:r>
          </a:p>
          <a:p xmlns:a="http://schemas.openxmlformats.org/drawingml/2006/main">
            <a:r>
              <a:t>讲义映射：handout.md §三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P11 个人决定：下一条路线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这题可以有不同合理动作。不把选择教师路线当作唯一正确答案。要求理由指向真实覆盖缺口或资源限制。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学生动作：完成三句判断，保留最初版本。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P12 不同路线的预期收益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教师按学生实际选择追问收益与成本。开放分享自愿，不分固定组。已经有明确种子时，引文路线便于追踪上游方法。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学生动作：比较一个不同选择，说明它在什么条件下更合适。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§二、三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P13 检索收益怎样比较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公平比较需要相近资源、同一问题和可见输出。本课的两路记录是过程诊断，没有建立方法优劣的对照实验。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学生动作：选择一项最值得检查的收益指标。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§六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P14 首轮遗漏意味着什么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种子是独立给定的一个检查点，不是完整召回率基准。改词、语义也可能合理。本次实际选择依赖可用种子与方法缺口。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学生动作：对照初判，说明是否保留以及理由。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ioi-retrieval-record.md；2026-10-15 实际工具记录</a:t>
            </a:r>
          </a:p>
          <a:p xmlns:a="http://schemas.openxmlformats.org/drawingml/2006/main">
            <a:r>
              <a:t>讲义映射：handout.md §三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P15 后向引文中的新线索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学生从种子参考文献定位实际条目。公开来源原文提供关系，不由 Agent 凭记忆补引文。完整身份与任务要打开目标来源核验。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学生动作：定位引用关系并保存种子与方向。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https://arxiv.org/html/2211.00593v1；References 中 Geiger (2021) 条目</a:t>
            </a:r>
          </a:p>
          <a:p xmlns:a="http://schemas.openxmlformats.org/drawingml/2006/main">
            <a:r>
              <a:t>讲义映射：handout.md §三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P16 访问失败后的恢复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题名恢复是同一引文分支的入口恢复，不按两份独立证据计数。其余四条恢复查询结果未筛选，不能算作新增相关。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学生动作：区分访问状态与文献核验状态。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ioi-retrieval-record.md；2026-10-15 实际工具记录；https://arxiv.org/abs/2106.02997</a:t>
            </a:r>
          </a:p>
          <a:p xmlns:a="http://schemas.openxmlformats.org/drawingml/2006/main">
            <a:r>
              <a:t>讲义映射：handout.md §三、五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P17 两条路线补到了什么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我们完成了一次由结果触发的路线变化。还缺跨模板证据，可以据此收窄个人问题。专门语义端点与系统前向引文尚未执行。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学生动作：写下自己会继续查的一项缺口。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ioi-retrieval-record.md；2026-10-15 实际工具记录</a:t>
            </a:r>
          </a:p>
          <a:p xmlns:a="http://schemas.openxmlformats.org/drawingml/2006/main">
            <a:r>
              <a:t>讲义映射：handout.md §三、六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P18 个人实践一：执行与首条审计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本段共 15 分钟，P18–P20 为停留参考页，不逐页追加讲授。教师检查实际执行与失败记录。没有问题分支者沿共同 IOI 主题独立选择一个层、位置或模板条件。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学生动作：执行检索并保存到 notes/literature-search.md。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P19 根据首轮结果调整策略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需要精确控制时再讲 AND、OR、括号和字段。不同接口规则有别。本课通用搜索的 site 限定不能原样当作学术 API 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学生动作：给自己的调整绑定一条实际记录。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建议时间：0 分钟，计入所在实践段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§三、七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P20 第一条入口核验：IOI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让学生区分作者报告、课程解释与本人实验结果。这里的核验不等于原研究获得独立复现。首条审计可以是本人查到的其他相关来源。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学生动作：完成身份和一条主张的入口核验。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建议时间：0 分钟，计入所在实践段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https://arxiv.org/html/2211.00593v1</a:t>
            </a:r>
          </a:p>
          <a:p xmlns:a="http://schemas.openxmlformats.org/drawingml/2006/main">
            <a:r>
              <a:t>讲义映射：handout.md §四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P21 三项判断分别记录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中点教师点评从巡查发现的共性问题出发。AI 可以建议这三项，学生回源确认。不要用已纳入替代 verified，也不要把高引用当作主证据。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学生动作：检查第一条审计是否混淆三个维度。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§五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P22 干预效果与机制解释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原文摘要同时表述这两面。若学生写成全部 patching 无效，须收窄转述。这里不展开整套机制分析，带到第 4 课阅读具体实验。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学生动作：指出一句过强转述，并改写为原文支持的范围。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https://arxiv.org/html/2311.17030v2</a:t>
            </a:r>
          </a:p>
          <a:p xmlns:a="http://schemas.openxmlformats.org/drawingml/2006/main">
            <a:r>
              <a:t>讲义映射：handout.md §四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P23 访问失败与主张错误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rejected 需要积极证据。核验带限定时使用完整 verified-with-caveat。对转述的拒绝不是宣布整篇论文错误。两条来源都通过也可达标。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学生动作：给自己的状态补一条直接依据。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§五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P24 个人实践二：审计与候选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本段共 15 分钟，P24–P27 作为操作参考。教师检查原文定位和实际回写。pending 留线索区，未执行的请求保留未完成。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学生动作：完善同一个 notes/literature-search.md。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建议时间：15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P25 证据角色取决于研究问题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这些是教师示范的用途比较，学生对自己的拟用主张作决定。对比证据不一定否定整篇种子论文，而是限制某项推论。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学生动作：按本人拟用主张选择一个角色。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建议时间：0 分钟，计入所在实践段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https://arxiv.org/html/2211.00593v1；https://arxiv.org/html/2311.17030v2；https://arxiv.org/abs/2106.02997</a:t>
            </a:r>
          </a:p>
          <a:p xmlns:a="http://schemas.openxmlformats.org/drawingml/2006/main">
            <a:r>
              <a:t>讲义映射：handout.md §五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P26 十字段候选记录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屏显按两字段一行展示十字段关系，学生完整表仍是讲义十列格式。状态和正式纳入不能照抄教师建议。课程原有字段不增加额外表单。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学生动作：用候选编号反查对应筛选决定。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建议时间：0 分钟，计入所在实践段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https://arxiv.org/html/2211.00593v1；字段演示，非已确认纳入记录</a:t>
            </a:r>
          </a:p>
          <a:p xmlns:a="http://schemas.openxmlformats.org/drawingml/2006/main">
            <a:r>
              <a:t>讲义映射：handout.md §七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P27 停止决定的可检查依据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无新增可能是策略饱和、服务失败或来源偏窄。先区分原因。完整基准集和系统滚雪球随项目逐步完善，不在本课叠加作业。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学生动作：记录下一项最可能改变判断的证据。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建议时间：0 分钟，计入所在实践段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§六、七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P28 个人复核：反查一项决定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独立复核不要求他人签名。教师可抽问，学生可以自愿分享。不要要求每人必须找出错误或修改结论。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学生动作：打开一条本人记录，完成反向核对。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建议时间：3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§八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P29 新条件：改用另一个模型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以共同 IOI 问题迁移到另一模型，观察学生是否能分开方法借鉴与效果外推。答案须指出具体来源和原文范围。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学生动作：独立写下一个角色变化及其依据。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建议时间：4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§八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P30 把判断变化留在原项目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参与任何一步都可以。学生要能解释关键选择。个人项目不以同伴一致、签名或讨论次数为通过条件。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学生动作：把本次决定写回现有记录，不另建操作日志作业。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建议时间：3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§七、八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P31 本课知识回收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回到开场问题：我们仍未得到本人干预跨模板有效的结论，但已明确该找哪些证据、怎样审计、为什么继续。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学生动作：口头或书面回收一项本课判断。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建议时间：2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§导读、二、六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P32 下课产物与第 4 课输入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课外总量最多 60 分钟：阅读 15、准备 10、补全 35，排障从同一预算扣除。线上或设备故障要明确欠缺的实际执行，不把回放冒充本人完成。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学生动作：标出已完成和待补项，选定下一课的原文入口。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建议时间：3 分钟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课程教学设计与个人项目要求</a:t>
            </a:r>
          </a:p>
          <a:p xmlns:a="http://schemas.openxmlformats.org/drawingml/2006/main">
            <a:r>
              <a:t>讲义映射：handout.md §七、九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de439df8d84f4c" /><Relationship Type="http://schemas.openxmlformats.org/officeDocument/2006/relationships/image" Target="/ppt/media/image.png" Id="R65e402ea33a94416" /><Relationship Type="http://schemas.openxmlformats.org/officeDocument/2006/relationships/image" Target="/ppt/media/image2.png" Id="R8aa1895a1bbb41f3" /><Relationship Type="http://schemas.openxmlformats.org/officeDocument/2006/relationships/image" Target="/ppt/media/image3.png" Id="R15e0ec1f5a58434e" /><Relationship Type="http://schemas.openxmlformats.org/officeDocument/2006/relationships/image" Target="/ppt/media/image4.png" Id="Rdd892c9cefe042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3426d6bcd649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47a226aa334a65" /><Relationship Type="http://schemas.openxmlformats.org/officeDocument/2006/relationships/image" Target="/ppt/media/image2.png" Id="R2091353d6c6e4bdb" /><Relationship Type="http://schemas.openxmlformats.org/officeDocument/2006/relationships/image" Target="/ppt/media/image5.png" Id="R3021d17332fc4b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adce8ba2d3488e" /><Relationship Type="http://schemas.openxmlformats.org/officeDocument/2006/relationships/image" Target="/ppt/media/image.png" Id="Rbe4bff7012f043ff" /><Relationship Type="http://schemas.openxmlformats.org/officeDocument/2006/relationships/image" Target="/ppt/media/image3.png" Id="Rbb229a4d1953400f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>
            <a:extLst xmlns:a="http://schemas.openxmlformats.org/drawingml/2006/main">
              <a:ext uri="{FF2B5EF4-FFF2-40B4-BE49-F238E27FC236}">
                <a16:creationId xmlns:a16="http://schemas.microsoft.com/office/drawing/2014/main" id="{16A4930F-BA9B-4431-92CA-4123CCC8E7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402ea33a94416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>
            <a:extLst xmlns:a="http://schemas.openxmlformats.org/drawingml/2006/main">
              <a:ext uri="{FF2B5EF4-FFF2-40B4-BE49-F238E27FC236}">
                <a16:creationId xmlns:a16="http://schemas.microsoft.com/office/drawing/2014/main" id="{95470E9A-2ADA-40F9-873A-A0EAAB641F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a1895a1bbb41f3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>
            <a:extLst xmlns:a="http://schemas.openxmlformats.org/drawingml/2006/main">
              <a:ext uri="{FF2B5EF4-FFF2-40B4-BE49-F238E27FC236}">
                <a16:creationId xmlns:a16="http://schemas.microsoft.com/office/drawing/2014/main" id="{A64276F9-1E5A-4CCE-90D0-1A5404245F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e0ec1f5a58434e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>
            <a:extLst xmlns:a="http://schemas.openxmlformats.org/drawingml/2006/main">
              <a:ext uri="{FF2B5EF4-FFF2-40B4-BE49-F238E27FC236}">
                <a16:creationId xmlns:a16="http://schemas.microsoft.com/office/drawing/2014/main" id="{72EE9BF8-6E62-4B40-A369-FB9D79CEA5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892c9cefe042c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>
            <a:extLst xmlns:a="http://schemas.openxmlformats.org/drawingml/2006/main">
              <a:ext uri="{FF2B5EF4-FFF2-40B4-BE49-F238E27FC236}">
                <a16:creationId xmlns:a16="http://schemas.microsoft.com/office/drawing/2014/main" id="{E4E06C7E-B183-42CE-984A-C5853FC8ED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91353d6c6e4bdb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>
            <a:extLst xmlns:a="http://schemas.openxmlformats.org/drawingml/2006/main">
              <a:ext uri="{FF2B5EF4-FFF2-40B4-BE49-F238E27FC236}">
                <a16:creationId xmlns:a16="http://schemas.microsoft.com/office/drawing/2014/main" id="{F13DC4D1-2E22-41F6-BB04-92B82F4476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1d17332fc4b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>
            <a:extLst xmlns:a="http://schemas.openxmlformats.org/drawingml/2006/main">
              <a:ext uri="{FF2B5EF4-FFF2-40B4-BE49-F238E27FC236}">
                <a16:creationId xmlns:a16="http://schemas.microsoft.com/office/drawing/2014/main" id="{2A673AC5-A865-43A6-BDA9-F24E270962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bff7012f043ff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>
            <a:extLst xmlns:a="http://schemas.openxmlformats.org/drawingml/2006/main">
              <a:ext uri="{FF2B5EF4-FFF2-40B4-BE49-F238E27FC236}">
                <a16:creationId xmlns:a16="http://schemas.microsoft.com/office/drawing/2014/main" id="{29E56F63-53DE-4669-ADA5-8EE73892E8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229a4d1953400f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c6674f60264d34" /><Relationship Type="http://schemas.openxmlformats.org/officeDocument/2006/relationships/slideLayout" Target="/ppt/slideLayouts/slideLayout1.xml" Id="R6c73353d80e943e0" /><Relationship Type="http://schemas.openxmlformats.org/officeDocument/2006/relationships/slideLayout" Target="/ppt/slideLayouts/slideLayout2.xml" Id="Ra5e871390b734eb9" /><Relationship Type="http://schemas.openxmlformats.org/officeDocument/2006/relationships/slideLayout" Target="/ppt/slideLayouts/slideLayout3.xml" Id="R9bd7bd4b1bd94cf3" /><Relationship Type="http://schemas.openxmlformats.org/officeDocument/2006/relationships/slideLayout" Target="/ppt/slideLayouts/slideLayout4.xml" Id="R55f2895e845d40e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73353d80e943e0"/>
    <p:sldLayoutId xmlns:r="http://schemas.openxmlformats.org/officeDocument/2006/relationships" id="2147483650" r:id="Ra5e871390b734eb9"/>
    <p:sldLayoutId xmlns:r="http://schemas.openxmlformats.org/officeDocument/2006/relationships" id="2147483651" r:id="R9bd7bd4b1bd94cf3"/>
    <p:sldLayoutId xmlns:r="http://schemas.openxmlformats.org/officeDocument/2006/relationships" id="2147483652" r:id="R55f2895e845d40e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e3e0cd94749b4" /><Relationship Type="http://schemas.openxmlformats.org/officeDocument/2006/relationships/notesSlide" Target="/ppt/notesSlides/notesSlide1.xml" Id="R847434b718734c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e0e1dd1b2bb4514" /><Relationship Type="http://schemas.openxmlformats.org/officeDocument/2006/relationships/notesSlide" Target="/ppt/notesSlides/notesSlide2.xml" Id="Rf6bc0c11df0e4e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475dc6388c4ba6" /><Relationship Type="http://schemas.openxmlformats.org/officeDocument/2006/relationships/notesSlide" Target="/ppt/notesSlides/notesSlide3.xml" Id="Rfdd7ae73798847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3451d83dffa4fb0" /><Relationship Type="http://schemas.openxmlformats.org/officeDocument/2006/relationships/notesSlide" Target="/ppt/notesSlides/notesSlide4.xml" Id="Rade76c6798474e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9f83adc2e94c4a" /><Relationship Type="http://schemas.openxmlformats.org/officeDocument/2006/relationships/notesSlide" Target="/ppt/notesSlides/notesSlide5.xml" Id="R50d396ea5fc848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62d58c7cca410a" /><Relationship Type="http://schemas.openxmlformats.org/officeDocument/2006/relationships/notesSlide" Target="/ppt/notesSlides/notesSlide6.xml" Id="Ref88da82ccd148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840688e86064bf2" /><Relationship Type="http://schemas.openxmlformats.org/officeDocument/2006/relationships/notesSlide" Target="/ppt/notesSlides/notesSlide7.xml" Id="R3fd6370019c44f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f1daf28fe3b413a" /><Relationship Type="http://schemas.openxmlformats.org/officeDocument/2006/relationships/notesSlide" Target="/ppt/notesSlides/notesSlide8.xml" Id="R522a7316179345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d1e1e1a9d7f4fbc" /><Relationship Type="http://schemas.openxmlformats.org/officeDocument/2006/relationships/notesSlide" Target="/ppt/notesSlides/notesSlide9.xml" Id="R3eb9db22445a43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debf9e988748d7" /><Relationship Type="http://schemas.openxmlformats.org/officeDocument/2006/relationships/notesSlide" Target="/ppt/notesSlides/notesSlide10.xml" Id="Rb3b428038e204c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62a374b1c44016" /><Relationship Type="http://schemas.openxmlformats.org/officeDocument/2006/relationships/notesSlide" Target="/ppt/notesSlides/notesSlide11.xml" Id="Rfb7c11cbf9fb48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9fd98796db4568" /><Relationship Type="http://schemas.openxmlformats.org/officeDocument/2006/relationships/notesSlide" Target="/ppt/notesSlides/notesSlide12.xml" Id="Rea4b4789fd5042e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bae17b399c049b8" /><Relationship Type="http://schemas.openxmlformats.org/officeDocument/2006/relationships/notesSlide" Target="/ppt/notesSlides/notesSlide13.xml" Id="R747a3bb06d4a4a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74d2019ba547e1" /><Relationship Type="http://schemas.openxmlformats.org/officeDocument/2006/relationships/notesSlide" Target="/ppt/notesSlides/notesSlide14.xml" Id="R899e2b1497d74d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93096886104aca" /><Relationship Type="http://schemas.openxmlformats.org/officeDocument/2006/relationships/notesSlide" Target="/ppt/notesSlides/notesSlide15.xml" Id="R8af649aeea1047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bb535627c834e0f" /><Relationship Type="http://schemas.openxmlformats.org/officeDocument/2006/relationships/notesSlide" Target="/ppt/notesSlides/notesSlide16.xml" Id="R1b31d8d80a2441b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22a4c78b94b4cbf" /><Relationship Type="http://schemas.openxmlformats.org/officeDocument/2006/relationships/notesSlide" Target="/ppt/notesSlides/notesSlide17.xml" Id="R134f81981ad2472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cd692106154538" /><Relationship Type="http://schemas.openxmlformats.org/officeDocument/2006/relationships/notesSlide" Target="/ppt/notesSlides/notesSlide18.xml" Id="Refda6e13c4a54d4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9d5c630acf4f6e" /><Relationship Type="http://schemas.openxmlformats.org/officeDocument/2006/relationships/notesSlide" Target="/ppt/notesSlides/notesSlide19.xml" Id="R971fd3979303439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c0a051f56540fa" /><Relationship Type="http://schemas.openxmlformats.org/officeDocument/2006/relationships/notesSlide" Target="/ppt/notesSlides/notesSlide20.xml" Id="Rebaded6205bd44a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90a4c43398426b" /><Relationship Type="http://schemas.openxmlformats.org/officeDocument/2006/relationships/notesSlide" Target="/ppt/notesSlides/notesSlide21.xml" Id="Rbcc741dccbc1412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4b6e63714940af" /><Relationship Type="http://schemas.openxmlformats.org/officeDocument/2006/relationships/notesSlide" Target="/ppt/notesSlides/notesSlide22.xml" Id="Rc4fe53d290c743b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1d577b17f540a2" /><Relationship Type="http://schemas.openxmlformats.org/officeDocument/2006/relationships/notesSlide" Target="/ppt/notesSlides/notesSlide23.xml" Id="R447d3024427f4ac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02760cf1324d0f" /><Relationship Type="http://schemas.openxmlformats.org/officeDocument/2006/relationships/notesSlide" Target="/ppt/notesSlides/notesSlide24.xml" Id="R778cea01ea04404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cc9146d16ce4756" /><Relationship Type="http://schemas.openxmlformats.org/officeDocument/2006/relationships/notesSlide" Target="/ppt/notesSlides/notesSlide25.xml" Id="R29a0fc59dfe544d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6a9df745484aa3" /><Relationship Type="http://schemas.openxmlformats.org/officeDocument/2006/relationships/notesSlide" Target="/ppt/notesSlides/notesSlide26.xml" Id="R648b53d135ed45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b5b431962e4fbb" /><Relationship Type="http://schemas.openxmlformats.org/officeDocument/2006/relationships/notesSlide" Target="/ppt/notesSlides/notesSlide27.xml" Id="R018ae1b8ccaa4ff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9b19822df64868" /><Relationship Type="http://schemas.openxmlformats.org/officeDocument/2006/relationships/notesSlide" Target="/ppt/notesSlides/notesSlide28.xml" Id="Rdd3e995548e748a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0f52860db94856" /><Relationship Type="http://schemas.openxmlformats.org/officeDocument/2006/relationships/notesSlide" Target="/ppt/notesSlides/notesSlide29.xml" Id="Rb92268fd6e8a4db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a6cc03cd0d4305" /><Relationship Type="http://schemas.openxmlformats.org/officeDocument/2006/relationships/notesSlide" Target="/ppt/notesSlides/notesSlide30.xml" Id="R49e07d676ad34f2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a137bfce1d5452b" /><Relationship Type="http://schemas.openxmlformats.org/officeDocument/2006/relationships/notesSlide" Target="/ppt/notesSlides/notesSlide31.xml" Id="R7411561270534ed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ae1593add548d2" /><Relationship Type="http://schemas.openxmlformats.org/officeDocument/2006/relationships/notesSlide" Target="/ppt/notesSlides/notesSlide32.xml" Id="R4eed29eead5140e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多路文献发现与检索决策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69FDA1B-1E82-41C5-8FA0-7D4423B1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IOI：我们需要找到什么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12D35307-E332-4EC1-A744-D0103072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GPT-2 small 的干预效果，能迁移到新模板吗？</a:t>
            </a:r>
          </a:p>
        </p:txBody>
      </p:sp>
      <p:sp>
        <p:nvSpPr>
          <p:cNvPr id="3" name="focus-0">
            <a:extLst xmlns:a="http://schemas.openxmlformats.org/drawingml/2006/main">
              <a:ext uri="{FF2B5EF4-FFF2-40B4-BE49-F238E27FC236}">
                <a16:creationId xmlns:a16="http://schemas.microsoft.com/office/drawing/2014/main" id="{098FB0FC-6DF3-494B-B0D5-B0F2337A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After Alice and Bob arrived,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Bob handed the book to …</a:t>
            </a:r>
          </a:p>
        </p:txBody>
      </p:sp>
      <p:sp>
        <p:nvSpPr>
          <p:cNvPr id="4" name="focus-1">
            <a:extLst xmlns:a="http://schemas.openxmlformats.org/drawingml/2006/main">
              <a:ext uri="{FF2B5EF4-FFF2-40B4-BE49-F238E27FC236}">
                <a16:creationId xmlns:a16="http://schemas.microsoft.com/office/drawing/2014/main" id="{C26CCFF7-7E64-460B-8E22-48E7269B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教学句：预期补词 Alice，未运行模型</a:t>
            </a:r>
          </a:p>
        </p:txBody>
      </p:sp>
      <p:sp>
        <p:nvSpPr>
          <p:cNvPr id="5" name="focus-2">
            <a:extLst xmlns:a="http://schemas.openxmlformats.org/drawingml/2006/main">
              <a:ext uri="{FF2B5EF4-FFF2-40B4-BE49-F238E27FC236}">
                <a16:creationId xmlns:a16="http://schemas.microsoft.com/office/drawing/2014/main" id="{CD3C1727-6A8F-455D-A46F-FDA96AD1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待查：任务设计、干预方法、评价与解释边界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28C48A18-B14C-44F5-B7FC-D8AAD30B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你的当前研究最缺哪一种文献？</a:t>
            </a:r>
          </a:p>
        </p:txBody>
      </p:sp>
      <p:sp>
        <p:nvSpPr>
          <p:cNvPr id="7" name="source">
            <a:extLst xmlns:a="http://schemas.openxmlformats.org/drawingml/2006/main">
              <a:ext uri="{FF2B5EF4-FFF2-40B4-BE49-F238E27FC236}">
                <a16:creationId xmlns:a16="http://schemas.microsoft.com/office/drawing/2014/main" id="{E92688E5-4657-4F7D-8F41-B1A39981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arXiv:2211.00593v1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DAAC2D1-92A9-4DA1-99C0-90305FC5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4AD0D21B-FF5B-4EFD-A1FD-2F0850D8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本课产物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E862E9A3-D7DA-47E0-8CE1-BFEFA4EF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同一个文件记录发现过程与个人处理决定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8531BBB0-0991-4954-9F96-BF3DB162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两条路线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4D1E5972-EB03-49DD-A5AB-226B737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实际请求、返回与一次策略调整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9022C168-6481-410A-AB52-210D4A11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两条审计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8478A513-41C8-4E38-90F1-A3717239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95625"/>
            <a:ext cx="8143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身份、一条拟用主张与原文位置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7D77C582-15B3-4060-A281-3C2F3621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候选与停止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9D360D4E-CEC8-4877-9686-B1EAADAE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238625"/>
            <a:ext cx="8143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角色、纳入理由、边界及下一项证据</a:t>
            </a:r>
          </a:p>
        </p:txBody>
      </p:sp>
      <p:sp>
        <p:nvSpPr>
          <p:cNvPr id="9" name="takeaway">
            <a:extLst xmlns:a="http://schemas.openxmlformats.org/drawingml/2006/main">
              <a:ext uri="{FF2B5EF4-FFF2-40B4-BE49-F238E27FC236}">
                <a16:creationId xmlns:a16="http://schemas.microsoft.com/office/drawing/2014/main" id="{D8D52967-1AA6-4A2B-9086-89A4114B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 notes/literature-search.md</a:t>
            </a:r>
          </a:p>
        </p:txBody>
      </p:sp>
      <p:sp>
        <p:nvSpPr>
          <p:cNvPr id="10" name="page">
            <a:extLst xmlns:a="http://schemas.openxmlformats.org/drawingml/2006/main">
              <a:ext uri="{FF2B5EF4-FFF2-40B4-BE49-F238E27FC236}">
                <a16:creationId xmlns:a16="http://schemas.microsoft.com/office/drawing/2014/main" id="{8BAB8AB9-7C41-4E4B-971E-A326841D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15CAE82F-3B07-4A05-B2DC-E647A0B2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给 Agent 的研究任务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097C5E5F-0B93-4F5E-8C4E-37BD0A76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公开问题、给定种子、资源边界与可检查输出</a:t>
            </a:r>
          </a:p>
        </p:txBody>
      </p:sp>
      <p:sp>
        <p:nvSpPr>
          <p:cNvPr id="3" name="artifact-0">
            <a:extLst xmlns:a="http://schemas.openxmlformats.org/drawingml/2006/main">
              <a:ext uri="{FF2B5EF4-FFF2-40B4-BE49-F238E27FC236}">
                <a16:creationId xmlns:a16="http://schemas.microsoft.com/office/drawing/2014/main" id="{0AA32DC9-C4E1-4A5D-97E2-5C5508FE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问题：IOI 干预的跨模板迁移与解释</a:t>
            </a:r>
          </a:p>
        </p:txBody>
      </p:sp>
      <p:sp>
        <p:nvSpPr>
          <p:cNvPr id="4" name="artifact-1">
            <a:extLst xmlns:a="http://schemas.openxmlformats.org/drawingml/2006/main">
              <a:ext uri="{FF2B5EF4-FFF2-40B4-BE49-F238E27FC236}">
                <a16:creationId xmlns:a16="http://schemas.microsoft.com/office/drawing/2014/main" id="{1BAF3B10-62B5-4FB7-ACB0-B541B862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种子：2211.00593，单列为给定输入</a:t>
            </a:r>
          </a:p>
        </p:txBody>
      </p:sp>
      <p:sp>
        <p:nvSpPr>
          <p:cNvPr id="5" name="artifact-2">
            <a:extLst xmlns:a="http://schemas.openxmlformats.org/drawingml/2006/main">
              <a:ext uri="{FF2B5EF4-FFF2-40B4-BE49-F238E27FC236}">
                <a16:creationId xmlns:a16="http://schemas.microsoft.com/office/drawing/2014/main" id="{8A7DB2B7-0FCE-457C-A7FD-D7C2FAEA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先查可用入口，读结果后选一条互补路线</a:t>
            </a:r>
          </a:p>
        </p:txBody>
      </p:sp>
      <p:sp>
        <p:nvSpPr>
          <p:cNvPr id="6" name="artifact-3">
            <a:extLst xmlns:a="http://schemas.openxmlformats.org/drawingml/2006/main">
              <a:ext uri="{FF2B5EF4-FFF2-40B4-BE49-F238E27FC236}">
                <a16:creationId xmlns:a16="http://schemas.microsoft.com/office/drawing/2014/main" id="{F4E9633C-4E3D-4109-B2EE-37685D9A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保存请求与返回，核对两条原文，到预算报告缺口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C8B058F4-4EA6-4D03-9D4A-4A5B47D6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Agent 可以提出和执行下一步，学生解释依据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285CBDD-01D5-414A-BCAE-A1602E62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1EFCECB7-DFEE-4767-B895-EF8B5FBC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首轮搜索的实际返回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01985129-F5F0-4826-8411-2B22065E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2026-10-15，通用搜索，结果按工具显示顺序节选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B366B-EB22-457C-A53A-901373C7BA78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arXiv ID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题名识别短名（非完整题名）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2605.22462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From Correlation to Cause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2311.17030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An Interpretability Illusion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2608.03629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Cross-Layer Interaction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2508.21258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RelP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335A9D5E-8BD9-4B1F-83B0-F31A3EFF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4 条是本次可见返回数，搜索总数未知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3B7573C4-3EA4-46A9-8687-5F34E79A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2026-10-15 实际检索记录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A5C8F995-A193-4F1D-AC00-4C3C2E5B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59A0419F-C29C-4202-90B8-D8DE1A73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语义路线的任务表达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23403328-E73E-4FE4-9836-587BF07C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自然语言可以直接表达所需关系</a:t>
            </a:r>
          </a:p>
        </p:txBody>
      </p:sp>
      <p:sp>
        <p:nvSpPr>
          <p:cNvPr id="3" name="comparison-label-0">
            <a:extLst xmlns:a="http://schemas.openxmlformats.org/drawingml/2006/main">
              <a:ext uri="{FF2B5EF4-FFF2-40B4-BE49-F238E27FC236}">
                <a16:creationId xmlns:a16="http://schemas.microsoft.com/office/drawing/2014/main" id="{87326ED4-E84B-430D-9493-78F81927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词法输入</a:t>
            </a:r>
          </a:p>
        </p:txBody>
      </p:sp>
      <p:sp>
        <p:nvSpPr>
          <p:cNvPr id="4" name="comparison-body-0">
            <a:extLst xmlns:a="http://schemas.openxmlformats.org/drawingml/2006/main">
              <a:ext uri="{FF2B5EF4-FFF2-40B4-BE49-F238E27FC236}">
                <a16:creationId xmlns:a16="http://schemas.microsoft.com/office/drawing/2014/main" id="{D669CB2B-A01E-4642-AEBC-3A3CFB55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indirect object identification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activation patching</a:t>
            </a:r>
          </a:p>
        </p:txBody>
      </p:sp>
      <p:sp>
        <p:nvSpPr>
          <p:cNvPr id="5" name="comparison-label-1">
            <a:extLst xmlns:a="http://schemas.openxmlformats.org/drawingml/2006/main">
              <a:ext uri="{FF2B5EF4-FFF2-40B4-BE49-F238E27FC236}">
                <a16:creationId xmlns:a16="http://schemas.microsoft.com/office/drawing/2014/main" id="{338B65D6-2F83-476E-9DF0-72B43B83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语义问题</a:t>
            </a:r>
          </a:p>
        </p:txBody>
      </p:sp>
      <p:sp>
        <p:nvSpPr>
          <p:cNvPr id="6" name="comparison-body-1">
            <a:extLst xmlns:a="http://schemas.openxmlformats.org/drawingml/2006/main">
              <a:ext uri="{FF2B5EF4-FFF2-40B4-BE49-F238E27FC236}">
                <a16:creationId xmlns:a16="http://schemas.microsoft.com/office/drawing/2014/main" id="{F7541BD3-10DD-4104-9793-A68DEBA2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Which interventions recover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indirect-object predictions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across prompt templates?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0B2653FF-0360-4989-A634-3850E36F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专门语义端点本次未运行，结果栏保持未执行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0C6438B-C515-4863-89A4-4D1EDB64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BF48D4F2-B636-4369-80DF-3981D73E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引文路线的两个方向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FFDC97E9-6D07-4C40-AA13-39511F10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从可核验种子追踪研究关系</a:t>
            </a:r>
          </a:p>
        </p:txBody>
      </p:sp>
      <p:sp>
        <p:nvSpPr>
          <p:cNvPr id="3" name="comparison-label-0">
            <a:extLst xmlns:a="http://schemas.openxmlformats.org/drawingml/2006/main">
              <a:ext uri="{FF2B5EF4-FFF2-40B4-BE49-F238E27FC236}">
                <a16:creationId xmlns:a16="http://schemas.microsoft.com/office/drawing/2014/main" id="{6A326662-D004-4E73-9C5E-A621CD2F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后向：种子引用谁</a:t>
            </a:r>
          </a:p>
        </p:txBody>
      </p:sp>
      <p:sp>
        <p:nvSpPr>
          <p:cNvPr id="4" name="comparison-body-0">
            <a:extLst xmlns:a="http://schemas.openxmlformats.org/drawingml/2006/main">
              <a:ext uri="{FF2B5EF4-FFF2-40B4-BE49-F238E27FC236}">
                <a16:creationId xmlns:a16="http://schemas.microsoft.com/office/drawing/2014/main" id="{D743AA06-F6C2-4942-9D43-0F246657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IOI 的 References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方法来源与早期研究</a:t>
            </a:r>
          </a:p>
        </p:txBody>
      </p:sp>
      <p:sp>
        <p:nvSpPr>
          <p:cNvPr id="5" name="comparison-label-1">
            <a:extLst xmlns:a="http://schemas.openxmlformats.org/drawingml/2006/main">
              <a:ext uri="{FF2B5EF4-FFF2-40B4-BE49-F238E27FC236}">
                <a16:creationId xmlns:a16="http://schemas.microsoft.com/office/drawing/2014/main" id="{42939DAB-DFF4-48E3-882A-D34E4FAD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前向：谁引用种子</a:t>
            </a:r>
          </a:p>
        </p:txBody>
      </p:sp>
      <p:sp>
        <p:nvSpPr>
          <p:cNvPr id="6" name="comparison-body-1">
            <a:extLst xmlns:a="http://schemas.openxmlformats.org/drawingml/2006/main">
              <a:ext uri="{FF2B5EF4-FFF2-40B4-BE49-F238E27FC236}">
                <a16:creationId xmlns:a16="http://schemas.microsoft.com/office/drawing/2014/main" id="{1B45FD1A-05FA-4D95-97D8-8F28BF7F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后续论文的参考文献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复现、扩展与解释争论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F474BB48-CF2F-49C3-9CCD-5F70A53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引文边提供发现路径，相关性仍需检查</a:t>
            </a:r>
          </a:p>
        </p:txBody>
      </p:sp>
      <p:sp>
        <p:nvSpPr>
          <p:cNvPr id="8" name="source">
            <a:extLst xmlns:a="http://schemas.openxmlformats.org/drawingml/2006/main">
              <a:ext uri="{FF2B5EF4-FFF2-40B4-BE49-F238E27FC236}">
                <a16:creationId xmlns:a16="http://schemas.microsoft.com/office/drawing/2014/main" id="{1C116F05-A2BD-4C0A-AB2C-E1149562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arXiv:2211.00593v1；arXiv:2311.17030v2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2003B461-1213-4259-8CC6-AAA5BC4D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B9635414-401F-4594-B98A-02A4B2D0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如何安排下一步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7ECFDCAC-0199-4068-8F5A-9EDA82E8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工具动作由当前缺口和返回结果连接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A4350768-F023-4D0C-9C28-B820FCF7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9B7DED27-237F-45E6-86BA-92A147EB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问题、种子、权限与预算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821215F6-1BE3-435C-ABBA-B2E7A535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34ECDA9E-9B4D-4811-8669-0AFE6EBB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98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调用实际搜索或引文入口，保存返回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BB6635D7-6752-4862-876C-C55A9B44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B88C0551-CC5E-4671-902B-0B1359CC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671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检查遗漏、重复、偏题与访问失败</a:t>
            </a:r>
          </a:p>
        </p:txBody>
      </p:sp>
      <p:sp>
        <p:nvSpPr>
          <p:cNvPr id="9" name="row-label-3">
            <a:extLst xmlns:a="http://schemas.openxmlformats.org/drawingml/2006/main">
              <a:ext uri="{FF2B5EF4-FFF2-40B4-BE49-F238E27FC236}">
                <a16:creationId xmlns:a16="http://schemas.microsoft.com/office/drawing/2014/main" id="{8BE92380-7096-4FAC-8C10-F596BD04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  <p:sp>
        <p:nvSpPr>
          <p:cNvPr id="10" name="row-value-3">
            <a:extLst xmlns:a="http://schemas.openxmlformats.org/drawingml/2006/main">
              <a:ext uri="{FF2B5EF4-FFF2-40B4-BE49-F238E27FC236}">
                <a16:creationId xmlns:a16="http://schemas.microsoft.com/office/drawing/2014/main" id="{B82C533B-18E0-4A56-BBAB-BE299245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243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改表达、换路线、回源核验或停止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7596DAE7-88F7-4AEA-87D8-C50670CF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 Agent 可以组合多种检索机制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F0A10C1-1919-40F8-8FD3-B3E2979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911A2FFF-C7EF-41CA-8B39-949CB33F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一条运行记录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38ACF04F-C8AF-44B1-9921-B4579835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R1：本次真实请求与能力边界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DC726-2856-4656-B75F-8F81AFCFA13C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实际记录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工具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web.run.search_query，Codex Agent 调用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请求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"indirect object identification"</a:t>
                      </a:r>
                    </a:p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"activation patching" site:arxiv.org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返回与能力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可见 4 条；引擎、索引、分数和总数未提供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2026-10-15；结果顺序、链接与原始响应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C99E5FC4-AB7E-4FCD-9292-32DC1676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记录实际能力，未提供字段写 N/A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F991BD97-31E3-4840-81D6-F99FA524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2026-10-15 实际检索记录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2B34F6F1-EBA1-43FC-B8DC-520140E5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CE8BEF60-4A9C-404D-A2F6-B00C4C7A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共同诊断：返回与给定种子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B8AAE6DE-A024-4C5F-864F-BB0F0721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先看输入 A，再写下个人初判</a:t>
            </a:r>
          </a:p>
        </p:txBody>
      </p:sp>
      <p:sp>
        <p:nvSpPr>
          <p:cNvPr id="3" name="comparison-label-0">
            <a:extLst xmlns:a="http://schemas.openxmlformats.org/drawingml/2006/main">
              <a:ext uri="{FF2B5EF4-FFF2-40B4-BE49-F238E27FC236}">
                <a16:creationId xmlns:a16="http://schemas.microsoft.com/office/drawing/2014/main" id="{08B6E3E9-A441-4ECA-8BAB-DA6ECDBC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课程给定输入</a:t>
            </a:r>
          </a:p>
        </p:txBody>
      </p:sp>
      <p:sp>
        <p:nvSpPr>
          <p:cNvPr id="4" name="comparison-body-0">
            <a:extLst xmlns:a="http://schemas.openxmlformats.org/drawingml/2006/main">
              <a:ext uri="{FF2B5EF4-FFF2-40B4-BE49-F238E27FC236}">
                <a16:creationId xmlns:a16="http://schemas.microsoft.com/office/drawing/2014/main" id="{05FC5D3F-F7E5-4117-8DDF-47C724EB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IOI 原始研究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arXiv:2211.00593</a:t>
            </a:r>
          </a:p>
        </p:txBody>
      </p:sp>
      <p:sp>
        <p:nvSpPr>
          <p:cNvPr id="5" name="comparison-label-1">
            <a:extLst xmlns:a="http://schemas.openxmlformats.org/drawingml/2006/main">
              <a:ext uri="{FF2B5EF4-FFF2-40B4-BE49-F238E27FC236}">
                <a16:creationId xmlns:a16="http://schemas.microsoft.com/office/drawing/2014/main" id="{5EE09F90-FB30-4767-92F9-534BAC0F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首轮可见返回</a:t>
            </a:r>
          </a:p>
        </p:txBody>
      </p:sp>
      <p:sp>
        <p:nvSpPr>
          <p:cNvPr id="6" name="comparison-body-1">
            <a:extLst xmlns:a="http://schemas.openxmlformats.org/drawingml/2006/main">
              <a:ext uri="{FF2B5EF4-FFF2-40B4-BE49-F238E27FC236}">
                <a16:creationId xmlns:a16="http://schemas.microsoft.com/office/drawing/2014/main" id="{544A0FAD-724F-4E52-AB9B-8562914F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2605.22462 / 2311.17030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2608.03629 / 2508.21258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608B5050-FB62-43FA-9ACA-35D1510D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当前最需要补什么？依据是哪条记录？</a:t>
            </a:r>
          </a:p>
        </p:txBody>
      </p:sp>
      <p:sp>
        <p:nvSpPr>
          <p:cNvPr id="8" name="source">
            <a:extLst xmlns:a="http://schemas.openxmlformats.org/drawingml/2006/main">
              <a:ext uri="{FF2B5EF4-FFF2-40B4-BE49-F238E27FC236}">
                <a16:creationId xmlns:a16="http://schemas.microsoft.com/office/drawing/2014/main" id="{9FC256A1-7745-4AAE-8C6A-5E3886D2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2026-10-15 实际检索记录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F32200C3-329A-4058-A283-ED7135C7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15FF7DE3-AFB1-43C2-A4DD-29689B0A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个人决定：下一条路线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CB24C348-B90A-4E92-B8A6-8063B89E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换词、语义表达、引文扩展，还是停止？</a:t>
            </a:r>
          </a:p>
        </p:txBody>
      </p:sp>
      <p:sp>
        <p:nvSpPr>
          <p:cNvPr id="3" name="focus-0">
            <a:extLst xmlns:a="http://schemas.openxmlformats.org/drawingml/2006/main">
              <a:ext uri="{FF2B5EF4-FFF2-40B4-BE49-F238E27FC236}">
                <a16:creationId xmlns:a16="http://schemas.microsoft.com/office/drawing/2014/main" id="{BB4DF014-1DDC-4216-B105-1A09B433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我选择 ______，因为记录中 ______。</a:t>
            </a:r>
          </a:p>
        </p:txBody>
      </p:sp>
      <p:sp>
        <p:nvSpPr>
          <p:cNvPr id="4" name="focus-1">
            <a:extLst xmlns:a="http://schemas.openxmlformats.org/drawingml/2006/main">
              <a:ext uri="{FF2B5EF4-FFF2-40B4-BE49-F238E27FC236}">
                <a16:creationId xmlns:a16="http://schemas.microsoft.com/office/drawing/2014/main" id="{6619C700-4027-4E50-A802-D416A564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替代选择是 ______，代价或缺口是 ______。</a:t>
            </a:r>
          </a:p>
        </p:txBody>
      </p:sp>
      <p:sp>
        <p:nvSpPr>
          <p:cNvPr id="5" name="focus-2">
            <a:extLst xmlns:a="http://schemas.openxmlformats.org/drawingml/2006/main">
              <a:ext uri="{FF2B5EF4-FFF2-40B4-BE49-F238E27FC236}">
                <a16:creationId xmlns:a16="http://schemas.microsoft.com/office/drawing/2014/main" id="{B97F0055-E8A7-446B-936C-55844AF6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什么新结果会让我重新判断？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FA2D0EF4-3215-454D-8BB6-EEA90C93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先写个人理由，再比较其他意见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F390372-C551-4836-B5FD-DD5D53B8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672381D6-5833-4184-8171-51357138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不同路线的预期收益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59024205-161B-4D55-8C5F-BE0A3EEE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全班比较选择，检验依据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8E831-45BE-44D1-A34E-D3C72AB91CEC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4429125"/>
                <a:gridCol w="4238625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选择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准备补什么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需要检查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改词或字段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不同术语或过窄限制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新增项是否相关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语义表达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同概念的不同表述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接口能力与语料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引文扩展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方法来源或后续争论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方向、关系与原文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暂时停止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预算或阶段任务已到界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未覆盖项及影响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A9ED4F8B-4E9C-4485-B2F6-1EA5BB79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意见可以不同，依据必须可定位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83B9EC2D-6ACF-46B8-B14D-EA298FEB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2B900369-CCE7-43D8-99C4-DE98DD7A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检索收益怎样比较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96A6F52C-A723-4497-9E96-BCADBFFB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用研究缺口评价结果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8777BFEA-B0CF-48A7-B24D-05BE4272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独有相关项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DA44EA72-EA25-47D5-8516-C14AEF23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新增内容实际补上哪项问题要素？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0AD45D07-DB99-4EA7-AA5D-3D99BBD0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重复与来源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47573498-F77A-4CF9-B9F5-DF08FCC4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98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去重后是否仍来自同一文献版本？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FB0D0D34-FBAB-48DB-B4EC-8D2B8C29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核验成本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44C1DEF6-5D82-42F1-842E-D86A5B6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671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能否取得原文并定位用途？</a:t>
            </a:r>
          </a:p>
        </p:txBody>
      </p:sp>
      <p:sp>
        <p:nvSpPr>
          <p:cNvPr id="9" name="row-label-3">
            <a:extLst xmlns:a="http://schemas.openxmlformats.org/drawingml/2006/main">
              <a:ext uri="{FF2B5EF4-FFF2-40B4-BE49-F238E27FC236}">
                <a16:creationId xmlns:a16="http://schemas.microsoft.com/office/drawing/2014/main" id="{FF735A2F-9DEE-4E5B-910D-44324FC3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覆盖缺口</a:t>
            </a:r>
          </a:p>
        </p:txBody>
      </p:sp>
      <p:sp>
        <p:nvSpPr>
          <p:cNvPr id="10" name="row-value-3">
            <a:extLst xmlns:a="http://schemas.openxmlformats.org/drawingml/2006/main">
              <a:ext uri="{FF2B5EF4-FFF2-40B4-BE49-F238E27FC236}">
                <a16:creationId xmlns:a16="http://schemas.microsoft.com/office/drawing/2014/main" id="{A3B2052F-BE87-4E9E-BEAE-97F8B791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243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哪些模型、模板或解释仍未检查？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30685594-184E-408E-AD8B-619E0EB8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返回更多，需要进一步判断新增内容的作用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5798AAB0-2C9A-4D17-A628-C854F1F6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93E503BD-ABD4-466C-9873-326C9184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首轮遗漏意味着什么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A5F4C909-D29E-4BD5-9997-B6A8672F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给定种子没有出现在这 4 条可见返回中</a:t>
            </a:r>
          </a:p>
        </p:txBody>
      </p:sp>
      <p:sp>
        <p:nvSpPr>
          <p:cNvPr id="3" name="comparison-label-0">
            <a:extLst xmlns:a="http://schemas.openxmlformats.org/drawingml/2006/main">
              <a:ext uri="{FF2B5EF4-FFF2-40B4-BE49-F238E27FC236}">
                <a16:creationId xmlns:a16="http://schemas.microsoft.com/office/drawing/2014/main" id="{0196CAF3-5A24-48D9-B773-E5D663EA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可以成立</a:t>
            </a:r>
          </a:p>
        </p:txBody>
      </p:sp>
      <p:sp>
        <p:nvSpPr>
          <p:cNvPr id="4" name="comparison-body-0">
            <a:extLst xmlns:a="http://schemas.openxmlformats.org/drawingml/2006/main">
              <a:ext uri="{FF2B5EF4-FFF2-40B4-BE49-F238E27FC236}">
                <a16:creationId xmlns:a16="http://schemas.microsoft.com/office/drawing/2014/main" id="{FAD5A570-1427-498E-9F60-BED4E1E6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本次返回切片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没有覆盖已知种子</a:t>
            </a:r>
          </a:p>
        </p:txBody>
      </p:sp>
      <p:sp>
        <p:nvSpPr>
          <p:cNvPr id="5" name="comparison-label-1">
            <a:extLst xmlns:a="http://schemas.openxmlformats.org/drawingml/2006/main">
              <a:ext uri="{FF2B5EF4-FFF2-40B4-BE49-F238E27FC236}">
                <a16:creationId xmlns:a16="http://schemas.microsoft.com/office/drawing/2014/main" id="{B3243BB3-F1D4-4100-9E02-EE905E32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仍需调查</a:t>
            </a:r>
          </a:p>
        </p:txBody>
      </p:sp>
      <p:sp>
        <p:nvSpPr>
          <p:cNvPr id="6" name="comparison-body-1">
            <a:extLst xmlns:a="http://schemas.openxmlformats.org/drawingml/2006/main">
              <a:ext uri="{FF2B5EF4-FFF2-40B4-BE49-F238E27FC236}">
                <a16:creationId xmlns:a16="http://schemas.microsoft.com/office/drawing/2014/main" id="{BA2BE053-5607-491A-8826-E50156EC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词语、范围、排序或索引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哪一项造成遗漏？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1B6E3BC2-E4F4-4468-84CD-3AB48224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本次 Agent 追加后向引文，补方法来源</a:t>
            </a:r>
          </a:p>
        </p:txBody>
      </p:sp>
      <p:sp>
        <p:nvSpPr>
          <p:cNvPr id="8" name="source">
            <a:extLst xmlns:a="http://schemas.openxmlformats.org/drawingml/2006/main">
              <a:ext uri="{FF2B5EF4-FFF2-40B4-BE49-F238E27FC236}">
                <a16:creationId xmlns:a16="http://schemas.microsoft.com/office/drawing/2014/main" id="{EB9C1086-5D30-40BA-9FFE-299102D5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2026-10-15 实际检索记录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76D3C5E7-E842-45B4-B9B3-605ED422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B2EB8ECD-ECCD-4095-BE54-8AA63B98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后向引文中的新线索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A510F97D-FABA-46D8-9FD1-5C41D520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IOI v1 的 References：Geiger 等（2021）</a:t>
            </a:r>
          </a:p>
        </p:txBody>
      </p:sp>
      <p:sp>
        <p:nvSpPr>
          <p:cNvPr id="3" name="artifact-0">
            <a:extLst xmlns:a="http://schemas.openxmlformats.org/drawingml/2006/main">
              <a:ext uri="{FF2B5EF4-FFF2-40B4-BE49-F238E27FC236}">
                <a16:creationId xmlns:a16="http://schemas.microsoft.com/office/drawing/2014/main" id="{B1EDAA1B-C991-43A9-BEE3-8FA98EBE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Causal Abstractions of Neural Networks</a:t>
            </a:r>
          </a:p>
        </p:txBody>
      </p:sp>
      <p:sp>
        <p:nvSpPr>
          <p:cNvPr id="4" name="artifact-1">
            <a:extLst xmlns:a="http://schemas.openxmlformats.org/drawingml/2006/main">
              <a:ext uri="{FF2B5EF4-FFF2-40B4-BE49-F238E27FC236}">
                <a16:creationId xmlns:a16="http://schemas.microsoft.com/office/drawing/2014/main" id="{DB1A6D6F-393D-4395-8F85-FB69871B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Atticus Geiger / Hanson Lu / Thomas Icard / Christopher Potts</a:t>
            </a:r>
          </a:p>
        </p:txBody>
      </p:sp>
      <p:sp>
        <p:nvSpPr>
          <p:cNvPr id="5" name="artifact-2">
            <a:extLst xmlns:a="http://schemas.openxmlformats.org/drawingml/2006/main">
              <a:ext uri="{FF2B5EF4-FFF2-40B4-BE49-F238E27FC236}">
                <a16:creationId xmlns:a16="http://schemas.microsoft.com/office/drawing/2014/main" id="{10D77D2A-04D4-4B7C-92EA-B6F37742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原文参考文献链接：OpenReview，RmuXDtjDhG</a:t>
            </a:r>
          </a:p>
        </p:txBody>
      </p:sp>
      <p:sp>
        <p:nvSpPr>
          <p:cNvPr id="6" name="artifact-3">
            <a:extLst xmlns:a="http://schemas.openxmlformats.org/drawingml/2006/main">
              <a:ext uri="{FF2B5EF4-FFF2-40B4-BE49-F238E27FC236}">
                <a16:creationId xmlns:a16="http://schemas.microsoft.com/office/drawing/2014/main" id="{7EB7C3AD-96B4-44CA-ADEE-FF814BC0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路径：IOI 种子 → References → Geiger 条目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21EE9C4B-A259-4BF3-8383-340C74B6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这是一条方法来源，尚待核对具体用途</a:t>
            </a:r>
          </a:p>
        </p:txBody>
      </p:sp>
      <p:sp>
        <p:nvSpPr>
          <p:cNvPr id="8" name="source">
            <a:extLst xmlns:a="http://schemas.openxmlformats.org/drawingml/2006/main">
              <a:ext uri="{FF2B5EF4-FFF2-40B4-BE49-F238E27FC236}">
                <a16:creationId xmlns:a16="http://schemas.microsoft.com/office/drawing/2014/main" id="{DC402FCE-58A1-4A30-AFD0-9E24F6DC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arXiv:2211.00593v1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27DE4FAC-C925-4711-9F50-D048D09B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6E0A43B8-B800-40D0-9B80-3E659331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访问失败后的恢复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861646EE-BF03-43F6-81FF-9C8BF2C3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同一条 Geiger 线索的实际处理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C7622-A355-45EB-A132-5D2E266A1FBB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本次可见结果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打开 OpenReview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返回浏览器验证页面，未取得正文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完整题名限定 arXiv 查询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可见 5 条，目标 2106.02997 位于首条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打开目标摘要页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作者与题名一致；任务含 MQNLI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当前用途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补因果抽象方法背景，IOI 迁移效果另查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26FDC138-11BA-4D0F-AAFA-82BB6631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访问受阻保留为运行记录，不能推出文献不存在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0714CABA-427F-4720-B3BA-27123D5C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2026-10-15 实际检索记录；arXiv:2106.02997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38B4C4B0-05A9-426F-B833-08F57B27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6B46E553-6D28-4BA6-8062-D67EC5AF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两条路线补到了什么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EF7DEECA-21DD-4298-9537-E80BE3E4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本次记录只覆盖首轮与一条选查的引文分支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93DDC-70CF-411F-A1C4-C11FD644088B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4429125"/>
                <a:gridCol w="4238625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来源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本次增量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尚未回答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R1 通用搜索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条可见结果，S2 提供风险入口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其余条目主张未核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给定种子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IOI 任务与方法入口，单列输入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本人干预的效果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R2 后向引文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 1 条 Geiger 方法线索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新模板上的迁移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停止判断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转入两条来源入口审计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后续扩展按预算安排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7094727A-471B-4658-9B6F-E86CBDA3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新增 1 条只指选查分支，不代表引文路线召回率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48EE5483-28B0-4E78-B2FC-E91E2D44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2026-10-15 实际检索记录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D92A89FD-DB8E-412E-A335-CBD9BABB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2A863E3E-15E3-4A01-8942-83770B66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个人实践一：执行与首条审计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0DF3B653-8FE6-4603-99A8-7DD54460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用本人问题执行两条互补路线</a:t>
            </a:r>
          </a:p>
        </p:txBody>
      </p:sp>
      <p:sp>
        <p:nvSpPr>
          <p:cNvPr id="3" name="focus-0">
            <a:extLst xmlns:a="http://schemas.openxmlformats.org/drawingml/2006/main">
              <a:ext uri="{FF2B5EF4-FFF2-40B4-BE49-F238E27FC236}">
                <a16:creationId xmlns:a16="http://schemas.microsoft.com/office/drawing/2014/main" id="{C71799E5-ACBA-45A1-BE43-807C1E3E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 Agent 问题、可用来源与预算</a:t>
            </a:r>
          </a:p>
        </p:txBody>
      </p:sp>
      <p:sp>
        <p:nvSpPr>
          <p:cNvPr id="4" name="focus-1">
            <a:extLst xmlns:a="http://schemas.openxmlformats.org/drawingml/2006/main">
              <a:ext uri="{FF2B5EF4-FFF2-40B4-BE49-F238E27FC236}">
                <a16:creationId xmlns:a16="http://schemas.microsoft.com/office/drawing/2014/main" id="{789613D0-A404-4006-B3CE-715360FF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保存首轮返回，依据缺口调整一次路线</a:t>
            </a:r>
          </a:p>
        </p:txBody>
      </p:sp>
      <p:sp>
        <p:nvSpPr>
          <p:cNvPr id="5" name="focus-2">
            <a:extLst xmlns:a="http://schemas.openxmlformats.org/drawingml/2006/main">
              <a:ext uri="{FF2B5EF4-FFF2-40B4-BE49-F238E27FC236}">
                <a16:creationId xmlns:a16="http://schemas.microsoft.com/office/drawing/2014/main" id="{04FF9EA6-AF0F-4486-9E05-33C35976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选择第一条真实来源，写拟用主张并定位原文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08B91B32-6B14-450C-8220-E43F9C16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完成标志：请求、返回、调整理由与第一条审计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42A5B488-DFF8-4F1C-8788-838E2B46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EC1F8B9C-084C-477B-895E-F567C722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根据首轮结果调整策略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CC276D15-29A7-45F5-9AEE-04C18FFE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让下一步针对一项实际信号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3D5D5592-CCFA-44F5-85CD-62F26501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种子缺失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29E9789A-1FB7-46F9-BCBE-1D126E2B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检查词法限制，或从种子追加引文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8D9935A6-9633-4BA3-A2AF-98AEB71A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表达分散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7092E11D-ABDE-4EC0-B40B-19EEC70A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98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在已核实服务中换语义表达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3D6B1BF4-8845-4023-8DBD-06EB6E88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结果偏题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DFCF634E-1594-42CB-9113-05780DC4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671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检查对象、字段或筛选条件</a:t>
            </a:r>
          </a:p>
        </p:txBody>
      </p:sp>
      <p:sp>
        <p:nvSpPr>
          <p:cNvPr id="9" name="row-label-3">
            <a:extLst xmlns:a="http://schemas.openxmlformats.org/drawingml/2006/main">
              <a:ext uri="{FF2B5EF4-FFF2-40B4-BE49-F238E27FC236}">
                <a16:creationId xmlns:a16="http://schemas.microsoft.com/office/drawing/2014/main" id="{7E368A9C-C7CD-4F6B-87C6-478EF45E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原文受阻</a:t>
            </a:r>
          </a:p>
        </p:txBody>
      </p:sp>
      <p:sp>
        <p:nvSpPr>
          <p:cNvPr id="10" name="row-value-3">
            <a:extLst xmlns:a="http://schemas.openxmlformats.org/drawingml/2006/main">
              <a:ext uri="{FF2B5EF4-FFF2-40B4-BE49-F238E27FC236}">
                <a16:creationId xmlns:a16="http://schemas.microsoft.com/office/drawing/2014/main" id="{2685C25A-D407-41AA-86A8-FE70242E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243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保留失败，换公开版本或暂缓核验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9ABB524B-073A-4C81-A0D0-614C20F5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写明哪条结果促成哪项调整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2E07F73-9724-466E-8B0D-348B5A5B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F83B5753-A89D-4D18-8028-BD2A5CF2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第一条入口核验：IOI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0E65FD77-8B0B-4E7C-A272-D42F39CA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S1：Wang 等，2022 预印本／ICLR 2023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B31431-3C61-431C-ABDC-535DBF5CD819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核验对象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证据位置与用途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arXiv:2211.00593，核对题名、作者与版本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拟用主张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 GPT-2 small IOI 电路并检验解释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原文位置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摘要与 §4 Experimental validation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允许范围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用于任务与验证设计，本人的新条件需另查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D3B953DD-70F6-454E-852F-0690B062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保存自己实际核对过的位置与转述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B76B8ECD-E063-4567-9E57-506847B0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arXiv:2211.00593v1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FF642811-BA7D-4EE1-81F9-8AD31C2E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CE9CED32-E778-4854-B1DE-67F97BB8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三项判断分别记录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8D5410C2-5750-4F4B-AF3D-30BA5DF6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角色、核验状态与筛选决定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4FB74-BECD-47E9-997A-56B8F1CB51F8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4429125"/>
                <a:gridCol w="4238625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回答的问题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例子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9461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预期角色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对当前问题有什么用？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主证据／补充／对比／线索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461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核验状态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身份与主张核到哪里？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pending／verified 等四态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9461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筛选决定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本人怎样处理？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纳入／排除／仅留审计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D4697C7A-D8EF-4DE6-871B-63246568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真实存在的论文，也可能不适合当前用途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38F868F2-6177-4F1D-9F1E-88B3CE04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FCD7B923-4DAA-4A35-B92A-86AEDBAE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干预效果与机制解释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F5F18410-6E18-455D-AA9E-A3C3E0E4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S2：Makelov、Lange、Nanda，2311.17030v2</a:t>
            </a:r>
          </a:p>
        </p:txBody>
      </p:sp>
      <p:sp>
        <p:nvSpPr>
          <p:cNvPr id="3" name="comparison-label-0">
            <a:extLst xmlns:a="http://schemas.openxmlformats.org/drawingml/2006/main">
              <a:ext uri="{FF2B5EF4-FFF2-40B4-BE49-F238E27FC236}">
                <a16:creationId xmlns:a16="http://schemas.microsoft.com/office/drawing/2014/main" id="{206FA92B-6554-4A70-A6A2-F9BF9CEC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 §4</a:t>
            </a:r>
          </a:p>
        </p:txBody>
      </p:sp>
      <p:sp>
        <p:nvSpPr>
          <p:cNvPr id="4" name="comparison-body-0">
            <a:extLst xmlns:a="http://schemas.openxmlformats.org/drawingml/2006/main">
              <a:ext uri="{FF2B5EF4-FFF2-40B4-BE49-F238E27FC236}">
                <a16:creationId xmlns:a16="http://schemas.microsoft.com/office/drawing/2014/main" id="{FE32379C-3587-491A-ACE2-9CAA6792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分析子空间干预中的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解释幻觉</a:t>
            </a:r>
          </a:p>
        </p:txBody>
      </p:sp>
      <p:sp>
        <p:nvSpPr>
          <p:cNvPr id="5" name="comparison-label-1">
            <a:extLst xmlns:a="http://schemas.openxmlformats.org/drawingml/2006/main">
              <a:ext uri="{FF2B5EF4-FFF2-40B4-BE49-F238E27FC236}">
                <a16:creationId xmlns:a16="http://schemas.microsoft.com/office/drawing/2014/main" id="{39FC9DE9-051C-47C6-9EB4-A65E2773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 §5</a:t>
            </a:r>
          </a:p>
        </p:txBody>
      </p:sp>
      <p:sp>
        <p:nvSpPr>
          <p:cNvPr id="6" name="comparison-body-1">
            <a:extLst xmlns:a="http://schemas.openxmlformats.org/drawingml/2006/main">
              <a:ext uri="{FF2B5EF4-FFF2-40B4-BE49-F238E27FC236}">
                <a16:creationId xmlns:a16="http://schemas.microsoft.com/office/drawing/2014/main" id="{BFC624CA-AA60-4E4E-BCB9-EE2318F8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给出进一步验证的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成功情形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A0F7984A-2662-47F7-AAC3-C57BB954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拟用主张需要同时保留风险与成立条件</a:t>
            </a:r>
          </a:p>
        </p:txBody>
      </p:sp>
      <p:sp>
        <p:nvSpPr>
          <p:cNvPr id="8" name="source">
            <a:extLst xmlns:a="http://schemas.openxmlformats.org/drawingml/2006/main">
              <a:ext uri="{FF2B5EF4-FFF2-40B4-BE49-F238E27FC236}">
                <a16:creationId xmlns:a16="http://schemas.microsoft.com/office/drawing/2014/main" id="{B32395D7-2810-4057-AC68-89ED0F98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arXiv:2311.17030v2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F794B26E-564C-437F-A5CA-4D278A1B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CEE8FD05-8993-427A-A7C8-46923207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访问失败与主张错误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8973ACC3-7645-4B68-B9F3-CC2096FD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状态跟随实际证据</a:t>
            </a:r>
          </a:p>
        </p:txBody>
      </p:sp>
      <p:sp>
        <p:nvSpPr>
          <p:cNvPr id="3" name="comparison-label-0">
            <a:extLst xmlns:a="http://schemas.openxmlformats.org/drawingml/2006/main">
              <a:ext uri="{FF2B5EF4-FFF2-40B4-BE49-F238E27FC236}">
                <a16:creationId xmlns:a16="http://schemas.microsoft.com/office/drawing/2014/main" id="{FFED83AF-4627-4AD1-B4B4-D8823261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原文访问受阻</a:t>
            </a:r>
          </a:p>
        </p:txBody>
      </p:sp>
      <p:sp>
        <p:nvSpPr>
          <p:cNvPr id="4" name="comparison-body-0">
            <a:extLst xmlns:a="http://schemas.openxmlformats.org/drawingml/2006/main">
              <a:ext uri="{FF2B5EF4-FFF2-40B4-BE49-F238E27FC236}">
                <a16:creationId xmlns:a16="http://schemas.microsoft.com/office/drawing/2014/main" id="{B8D7D1E4-C912-4F70-86A4-4B55D58A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记录失败与待查项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文献条目保持 pending</a:t>
            </a:r>
          </a:p>
        </p:txBody>
      </p:sp>
      <p:sp>
        <p:nvSpPr>
          <p:cNvPr id="5" name="comparison-label-1">
            <a:extLst xmlns:a="http://schemas.openxmlformats.org/drawingml/2006/main">
              <a:ext uri="{FF2B5EF4-FFF2-40B4-BE49-F238E27FC236}">
                <a16:creationId xmlns:a16="http://schemas.microsoft.com/office/drawing/2014/main" id="{DC9DFC39-40F5-474C-95C5-C18DB35C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原文反驳拟用主张</a:t>
            </a:r>
          </a:p>
        </p:txBody>
      </p:sp>
      <p:sp>
        <p:nvSpPr>
          <p:cNvPr id="6" name="comparison-body-1">
            <a:extLst xmlns:a="http://schemas.openxmlformats.org/drawingml/2006/main">
              <a:ext uri="{FF2B5EF4-FFF2-40B4-BE49-F238E27FC236}">
                <a16:creationId xmlns:a16="http://schemas.microsoft.com/office/drawing/2014/main" id="{DA4F60AB-B951-4D30-8490-87DABEFD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5143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拒绝这条错误转述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保留审计并核对修正主张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63FD191C-7517-4266-8742-F38EB1EE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 / verified / verified-with-caveat / rejected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FB2EEA2-0A36-48F9-A216-43BF1570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427AA169-E32C-4C95-BD56-E1EBE024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个人实践二：审计与候选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D0BEFF98-E42D-4A8B-8F8F-D89E98B7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补第二条真实来源，完成本人处理</a:t>
            </a:r>
          </a:p>
        </p:txBody>
      </p:sp>
      <p:sp>
        <p:nvSpPr>
          <p:cNvPr id="3" name="focus-0">
            <a:extLst xmlns:a="http://schemas.openxmlformats.org/drawingml/2006/main">
              <a:ext uri="{FF2B5EF4-FFF2-40B4-BE49-F238E27FC236}">
                <a16:creationId xmlns:a16="http://schemas.microsoft.com/office/drawing/2014/main" id="{6B933CF3-6DB3-45D3-865B-3F7F62B9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定位第二条来源的一项拟用主张</a:t>
            </a:r>
          </a:p>
        </p:txBody>
      </p:sp>
      <p:sp>
        <p:nvSpPr>
          <p:cNvPr id="4" name="focus-1">
            <a:extLst xmlns:a="http://schemas.openxmlformats.org/drawingml/2006/main">
              <a:ext uri="{FF2B5EF4-FFF2-40B4-BE49-F238E27FC236}">
                <a16:creationId xmlns:a16="http://schemas.microsoft.com/office/drawing/2014/main" id="{94311CE3-D9F2-4FD2-82FF-50593346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给至少一条已核验候选说明角色和纳入理由</a:t>
            </a:r>
          </a:p>
        </p:txBody>
      </p:sp>
      <p:sp>
        <p:nvSpPr>
          <p:cNvPr id="5" name="focus-2">
            <a:extLst xmlns:a="http://schemas.openxmlformats.org/drawingml/2006/main">
              <a:ext uri="{FF2B5EF4-FFF2-40B4-BE49-F238E27FC236}">
                <a16:creationId xmlns:a16="http://schemas.microsoft.com/office/drawing/2014/main" id="{6172A012-5CFC-4262-B4AB-C13A47D1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比较路线增量，记录停止理由与未决项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FF6384DB-BFC9-4FDC-9179-A99E769F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完成标志：两条审计、一条候选、可解释的决定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5F2CED37-65E4-4C88-B9A2-5C10C6EC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1EA3EB98-3CD4-43BA-B401-FC44D368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证据角色取决于研究问题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97DE8645-33C3-46D9-B4A0-841F841A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同一来源在不同主张中的作用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E2FC9-1264-4BEA-859D-5D057261B27F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4429125"/>
                <a:gridCol w="4238625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来源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可以支持的用途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仍需补证的用途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9461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IOI 原文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任务与模型内机制研究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所有模型的同一机制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461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Subspace 论文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解释风险与验证条件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全部干预都无效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9461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Geiger 论文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因果抽象方法背景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GPT-2 IOI 迁移效果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5672AF83-F2ED-4714-905D-AB20F7A8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角色可以调整，原文的范围要保留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B91C6707-4A3C-4787-96E4-D39921E6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arXiv:2211.00593v1；arXiv:2311.17030v2；arXiv:2106.02997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FE14E436-B514-45A8-9A58-92B636E8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21DB8431-E91A-435C-9C99-09BB47AA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十字段候选记录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9FA6CA15-71A9-4E6A-BAA4-952346AE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一条候选用编号连接发现、筛选与审计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53C9D-DB66-4CC4-B1BC-318E4135CE79}"/>
              </a:ext>
            </a:extLst>
          </p:cNvPr>
          <p:cNvGraphicFramePr/>
          <p:nvPr/>
        </p:nvGraphicFramePr>
        <p:xfrm>
          <a:off xmlns:a="http://schemas.openxmlformats.org/drawingml/2006/main" x="666750" y="1857375"/>
          <a:ext xmlns:a="http://schemas.openxmlformats.org/drawingml/2006/main" cx="10858500" cy="3333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字段对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填写内容与来源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56769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 / 题名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S1 / Interpretability in the Wild…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769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作者 / 年份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Wang 等 / 2022 预印本，ICLR 2023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56769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稳定来源 / 用途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2211.00593 / IOI 任务与验证设计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769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 / 纳入理由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本人确认 / 与当前问题的关系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56769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 / 允许主张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本人确认 / 原文位置与范围限定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7BFA42FB-5DF5-4B7D-BE67-A68DE8A6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此为字段演示，正式记录填写完整题名和作者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859B3909-93F6-42E8-863E-C3C5DBC0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72225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arXiv:2211.00593v1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278C983C-B9D2-49A9-A920-32404501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CEF49F22-0772-4B83-88D8-4F5B41BE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停止决定的可检查依据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2AB11AA2-5B83-4C3F-AB06-EBA258C2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本课停止时保留未解决的问题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FFBEE631-8E56-4DC6-B4AE-FBBCBD4C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当前获得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735418F7-4EBF-4F38-A90A-C826C33C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两条路线、一次调整、两条入口审计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44786E9F-4267-435B-B486-B87BBF5C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当前缺口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B36333E2-834C-4B6E-B70E-1EC795EC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98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跨模板效果仍需进一步文献与实验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EB2FA8F8-E6EF-486A-B08C-2187FF56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停止理由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49534AFF-EF0B-48D4-889E-F1834F58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671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阶段任务与既定预算已到界</a:t>
            </a:r>
          </a:p>
        </p:txBody>
      </p:sp>
      <p:sp>
        <p:nvSpPr>
          <p:cNvPr id="9" name="row-label-3">
            <a:extLst xmlns:a="http://schemas.openxmlformats.org/drawingml/2006/main">
              <a:ext uri="{FF2B5EF4-FFF2-40B4-BE49-F238E27FC236}">
                <a16:creationId xmlns:a16="http://schemas.microsoft.com/office/drawing/2014/main" id="{A18B55D1-ABC0-409C-99D6-FE155BE7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  <p:sp>
        <p:nvSpPr>
          <p:cNvPr id="10" name="row-value-3">
            <a:extLst xmlns:a="http://schemas.openxmlformats.org/drawingml/2006/main">
              <a:ext uri="{FF2B5EF4-FFF2-40B4-BE49-F238E27FC236}">
                <a16:creationId xmlns:a16="http://schemas.microsoft.com/office/drawing/2014/main" id="{8D02CB1B-24B7-428F-BB92-953E0ABA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243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第 4 课深读一条会改变设计的主张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9C9BE390-BEA3-48F2-937D-A3D9E644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实际填写本人的停止理由与未覆盖范围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23FEC80-D13C-45A4-B84A-64001E03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6379A469-3934-4D6E-BEAB-5E82C49C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个人复核：反查一项决定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0D391089-6BF7-42AF-A610-3FC6D2E5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从“为什么纳入”反查整条路径</a:t>
            </a:r>
          </a:p>
        </p:txBody>
      </p:sp>
      <p:sp>
        <p:nvSpPr>
          <p:cNvPr id="3" name="artifact-0">
            <a:extLst xmlns:a="http://schemas.openxmlformats.org/drawingml/2006/main">
              <a:ext uri="{FF2B5EF4-FFF2-40B4-BE49-F238E27FC236}">
                <a16:creationId xmlns:a16="http://schemas.microsoft.com/office/drawing/2014/main" id="{6EC5FB69-981E-4593-992D-1E192623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本人决定：这篇材料准备支持哪一句话？</a:t>
            </a:r>
          </a:p>
        </p:txBody>
      </p:sp>
      <p:sp>
        <p:nvSpPr>
          <p:cNvPr id="4" name="artifact-1">
            <a:extLst xmlns:a="http://schemas.openxmlformats.org/drawingml/2006/main">
              <a:ext uri="{FF2B5EF4-FFF2-40B4-BE49-F238E27FC236}">
                <a16:creationId xmlns:a16="http://schemas.microsoft.com/office/drawing/2014/main" id="{A66F71F1-3E13-4267-95EB-F9AC0D27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原文位置：哪一节、图或段落支持它？</a:t>
            </a:r>
          </a:p>
        </p:txBody>
      </p:sp>
      <p:sp>
        <p:nvSpPr>
          <p:cNvPr id="5" name="artifact-2">
            <a:extLst xmlns:a="http://schemas.openxmlformats.org/drawingml/2006/main">
              <a:ext uri="{FF2B5EF4-FFF2-40B4-BE49-F238E27FC236}">
                <a16:creationId xmlns:a16="http://schemas.microsoft.com/office/drawing/2014/main" id="{15E2FEDF-FF36-47EC-A119-B73D83D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发现路径：哪个请求或哪条引文带来它？</a:t>
            </a:r>
          </a:p>
        </p:txBody>
      </p:sp>
      <p:sp>
        <p:nvSpPr>
          <p:cNvPr id="6" name="artifact-3">
            <a:extLst xmlns:a="http://schemas.openxmlformats.org/drawingml/2006/main">
              <a:ext uri="{FF2B5EF4-FFF2-40B4-BE49-F238E27FC236}">
                <a16:creationId xmlns:a16="http://schemas.microsoft.com/office/drawing/2014/main" id="{1BE15A6D-A652-4FD8-B9BF-6A41BDF4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能力边界：哪些仍是待核验或未执行？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41F4D56B-8D14-4718-8343-E62EAFB1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发现断点就修正记录，有依据时保留原判断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B36A1FF-6C91-4011-A883-89829601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88519870-775F-4672-B62C-0C29FE37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新条件：改用另一个模型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7D915A33-0257-4EF3-BF35-0BFDE808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原候选文献的作用怎样变化？</a:t>
            </a:r>
          </a:p>
        </p:txBody>
      </p:sp>
      <p:sp>
        <p:nvSpPr>
          <p:cNvPr id="3" name="focus-0">
            <a:extLst xmlns:a="http://schemas.openxmlformats.org/drawingml/2006/main">
              <a:ext uri="{FF2B5EF4-FFF2-40B4-BE49-F238E27FC236}">
                <a16:creationId xmlns:a16="http://schemas.microsoft.com/office/drawing/2014/main" id="{5169B1AB-AE94-4917-AFD8-CCF39341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哪项方法依据仍然有用？</a:t>
            </a:r>
          </a:p>
        </p:txBody>
      </p:sp>
      <p:sp>
        <p:nvSpPr>
          <p:cNvPr id="4" name="focus-1">
            <a:extLst xmlns:a="http://schemas.openxmlformats.org/drawingml/2006/main">
              <a:ext uri="{FF2B5EF4-FFF2-40B4-BE49-F238E27FC236}">
                <a16:creationId xmlns:a16="http://schemas.microsoft.com/office/drawing/2014/main" id="{5A929AF5-4F70-463B-8F3F-B3815BAB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哪项效果结论需要重新验证？</a:t>
            </a:r>
          </a:p>
        </p:txBody>
      </p:sp>
      <p:sp>
        <p:nvSpPr>
          <p:cNvPr id="5" name="focus-2">
            <a:extLst xmlns:a="http://schemas.openxmlformats.org/drawingml/2006/main">
              <a:ext uri="{FF2B5EF4-FFF2-40B4-BE49-F238E27FC236}">
                <a16:creationId xmlns:a16="http://schemas.microsoft.com/office/drawing/2014/main" id="{88906A98-E244-4527-A1CE-F42CC101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下一轮先补哪条路线，为什么？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270143C7-B3D3-4607-909B-892FD6DB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引用可以保留，证据角色与允许主张需重判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6F87254D-CE23-4F18-9322-839710E9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85CEFB68-C820-455F-B8DA-08C87244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把判断变化留在原项目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598E52D8-EBE3-48ED-84B9-73ABB463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当前判断与处理决定可以被追溯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625ED44-AEE0-4A48-B1C9-CDA78415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当前判断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BC031B30-F867-49CA-BD66-3B102412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我原来准备采用什么？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EC4CC82D-11F7-4E6E-9FFD-DEEAA57E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依据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DF6983E0-0596-4E19-A522-76E6D187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98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哪个返回、原文或条件支持它？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8BE1DB86-127D-4D22-A382-7D81BC8C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反馈或新证据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8543B97B-2861-4EC9-9B8C-833E7D97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671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又检查到什么，影响哪项推论？</a:t>
            </a:r>
          </a:p>
        </p:txBody>
      </p:sp>
      <p:sp>
        <p:nvSpPr>
          <p:cNvPr id="9" name="row-label-3">
            <a:extLst xmlns:a="http://schemas.openxmlformats.org/drawingml/2006/main">
              <a:ext uri="{FF2B5EF4-FFF2-40B4-BE49-F238E27FC236}">
                <a16:creationId xmlns:a16="http://schemas.microsoft.com/office/drawing/2014/main" id="{3B4BBDD9-ED7F-461D-8B8E-5322225E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最终处理</a:t>
            </a:r>
          </a:p>
        </p:txBody>
      </p:sp>
      <p:sp>
        <p:nvSpPr>
          <p:cNvPr id="10" name="row-value-3">
            <a:extLst xmlns:a="http://schemas.openxmlformats.org/drawingml/2006/main">
              <a:ext uri="{FF2B5EF4-FFF2-40B4-BE49-F238E27FC236}">
                <a16:creationId xmlns:a16="http://schemas.microsoft.com/office/drawing/2014/main" id="{D5BB4DD8-8A77-410A-B07B-8A64CF28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243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采纳、修改、保留或暂缓，并说明理由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8C819FFE-D971-4B08-9EF5-E65384F7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判断质量看依据与迁移，不看反对 AI 的次数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8B6CD7D-E148-405D-A04E-672DE43C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FE758683-D52D-4799-B30E-A09E71DC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本课知识回收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3213154F-3B74-4042-BBB2-42D5833A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问题与结果共同决定下一轮检索</a:t>
            </a:r>
          </a:p>
        </p:txBody>
      </p:sp>
      <p:sp>
        <p:nvSpPr>
          <p:cNvPr id="3" name="row-label-0">
            <a:extLst xmlns:a="http://schemas.openxmlformats.org/drawingml/2006/main">
              <a:ext uri="{FF2B5EF4-FFF2-40B4-BE49-F238E27FC236}">
                <a16:creationId xmlns:a16="http://schemas.microsoft.com/office/drawing/2014/main" id="{7C7B3A17-EE31-432A-8CE7-C8279A44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路线选择</a:t>
            </a:r>
          </a:p>
        </p:txBody>
      </p:sp>
      <p:sp>
        <p:nvSpPr>
          <p:cNvPr id="4" name="row-value-0">
            <a:extLst xmlns:a="http://schemas.openxmlformats.org/drawingml/2006/main">
              <a:ext uri="{FF2B5EF4-FFF2-40B4-BE49-F238E27FC236}">
                <a16:creationId xmlns:a16="http://schemas.microsoft.com/office/drawing/2014/main" id="{6B80AEA1-BF8B-4CEB-99CB-8ACB2A03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词法、语义与引文各补不同缺口</a:t>
            </a:r>
          </a:p>
        </p:txBody>
      </p:sp>
      <p:sp>
        <p:nvSpPr>
          <p:cNvPr id="5" name="row-label-1">
            <a:extLst xmlns:a="http://schemas.openxmlformats.org/drawingml/2006/main">
              <a:ext uri="{FF2B5EF4-FFF2-40B4-BE49-F238E27FC236}">
                <a16:creationId xmlns:a16="http://schemas.microsoft.com/office/drawing/2014/main" id="{03BF7CBD-1F3A-49D1-A43C-6C0FFFF9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Agent 执行</a:t>
            </a:r>
          </a:p>
        </p:txBody>
      </p:sp>
      <p:sp>
        <p:nvSpPr>
          <p:cNvPr id="6" name="row-value-1">
            <a:extLst xmlns:a="http://schemas.openxmlformats.org/drawingml/2006/main">
              <a:ext uri="{FF2B5EF4-FFF2-40B4-BE49-F238E27FC236}">
                <a16:creationId xmlns:a16="http://schemas.microsoft.com/office/drawing/2014/main" id="{821CED03-B470-455C-AB60-BE46E1BD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098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保留真实请求、返回与调整理由</a:t>
            </a:r>
          </a:p>
        </p:txBody>
      </p:sp>
      <p:sp>
        <p:nvSpPr>
          <p:cNvPr id="7" name="row-label-2">
            <a:extLst xmlns:a="http://schemas.openxmlformats.org/drawingml/2006/main">
              <a:ext uri="{FF2B5EF4-FFF2-40B4-BE49-F238E27FC236}">
                <a16:creationId xmlns:a16="http://schemas.microsoft.com/office/drawing/2014/main" id="{41C8CAB4-C269-4195-BA8D-BC2ABD34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来源进入</a:t>
            </a:r>
          </a:p>
        </p:txBody>
      </p:sp>
      <p:sp>
        <p:nvSpPr>
          <p:cNvPr id="8" name="row-value-2">
            <a:extLst xmlns:a="http://schemas.openxmlformats.org/drawingml/2006/main">
              <a:ext uri="{FF2B5EF4-FFF2-40B4-BE49-F238E27FC236}">
                <a16:creationId xmlns:a16="http://schemas.microsoft.com/office/drawing/2014/main" id="{7148433A-8CD8-4D4D-AC46-3EAEEDD7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6712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身份、拟用主张、角色与决定分别核对</a:t>
            </a:r>
          </a:p>
        </p:txBody>
      </p:sp>
      <p:sp>
        <p:nvSpPr>
          <p:cNvPr id="9" name="row-label-3">
            <a:extLst xmlns:a="http://schemas.openxmlformats.org/drawingml/2006/main">
              <a:ext uri="{FF2B5EF4-FFF2-40B4-BE49-F238E27FC236}">
                <a16:creationId xmlns:a16="http://schemas.microsoft.com/office/drawing/2014/main" id="{F87B5D6A-A54E-46EE-814F-A9D90756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暂时停止</a:t>
            </a:r>
          </a:p>
        </p:txBody>
      </p:sp>
      <p:sp>
        <p:nvSpPr>
          <p:cNvPr id="10" name="row-value-3">
            <a:extLst xmlns:a="http://schemas.openxmlformats.org/drawingml/2006/main">
              <a:ext uri="{FF2B5EF4-FFF2-40B4-BE49-F238E27FC236}">
                <a16:creationId xmlns:a16="http://schemas.microsoft.com/office/drawing/2014/main" id="{5BE8D128-5ED4-4970-98FD-C1DA71C5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24375"/>
            <a:ext cx="8143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写出预算、覆盖缺口与下一项证据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4478ED37-D9F4-4208-8544-DD7497F0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学生能够解释借助 AI 完成的关键判断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D8B0481-5130-4F2E-8EC7-C8C19271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28EE8356-A4B2-417D-B75D-B6B4979B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下课产物与第 4 课输入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7374C46E-710D-429B-A2EE-9DC4580B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notes/literature-search.md</a:t>
            </a:r>
          </a:p>
        </p:txBody>
      </p:sp>
      <p:sp>
        <p:nvSpPr>
          <p:cNvPr id="3" name="focus-0">
            <a:extLst xmlns:a="http://schemas.openxmlformats.org/drawingml/2006/main">
              <a:ext uri="{FF2B5EF4-FFF2-40B4-BE49-F238E27FC236}">
                <a16:creationId xmlns:a16="http://schemas.microsoft.com/office/drawing/2014/main" id="{E06B0493-5BC8-4955-B476-4EC76570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两条互补路线、实际返回与一次策略调整</a:t>
            </a:r>
          </a:p>
        </p:txBody>
      </p:sp>
      <p:sp>
        <p:nvSpPr>
          <p:cNvPr id="4" name="focus-1">
            <a:extLst xmlns:a="http://schemas.openxmlformats.org/drawingml/2006/main">
              <a:ext uri="{FF2B5EF4-FFF2-40B4-BE49-F238E27FC236}">
                <a16:creationId xmlns:a16="http://schemas.microsoft.com/office/drawing/2014/main" id="{9587B4E8-A1EA-4851-90F3-7ACCE40B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两条入口审计、至少一条已核验候选与本人决定</a:t>
            </a:r>
          </a:p>
        </p:txBody>
      </p:sp>
      <p:sp>
        <p:nvSpPr>
          <p:cNvPr id="5" name="focus-2">
            <a:extLst xmlns:a="http://schemas.openxmlformats.org/drawingml/2006/main">
              <a:ext uri="{FF2B5EF4-FFF2-40B4-BE49-F238E27FC236}">
                <a16:creationId xmlns:a16="http://schemas.microsoft.com/office/drawing/2014/main" id="{E3CA86E0-CB8C-459E-BB06-9C9C083D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暂定停止理由、未决项与 AI 使用记录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B1F95A1E-65AA-4060-8BBE-B9733BCF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4 课深读一条关键主张，本课无独立正式提交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49650001-43EE-4724-9B87-FC8DAB5A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2026-10-15T02:01:01.6240000Z</dcterms:created>
  <dcterms:modified xsi:type="dcterms:W3CDTF">2026-10-15T02:01:01.6240000Z</dcterms:modified>
</coreProperties>
</file>