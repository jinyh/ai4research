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ca9f0afa12846e7" /><Relationship Type="http://schemas.openxmlformats.org/officeDocument/2006/relationships/extended-properties" Target="/docProps/app.xml" Id="R59a969756f70433c" /><Relationship Type="http://schemas.openxmlformats.org/officeDocument/2006/relationships/officeDocument" Target="/ppt/presentation.xml" Id="Rdeef5c21cc58446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96d5e4b60845dd"/>
  </p:sldMasterIdLst>
  <p:notesMasterIdLst>
    <p:notesMasterId xmlns:r="http://schemas.openxmlformats.org/officeDocument/2006/relationships" r:id="Re1da9e76cb654fd2"/>
  </p:notesMasterIdLst>
  <p:sldIdLst>
    <p:sldId xmlns:ns0="http://schemas.openxmlformats.org/officeDocument/2006/relationships" id="256" ns0:id="expSlide1"/>
    <p:sldId xmlns:ns1="http://schemas.openxmlformats.org/officeDocument/2006/relationships" id="257" ns1:id="expSlide2"/>
    <p:sldId xmlns:ns2="http://schemas.openxmlformats.org/officeDocument/2006/relationships" id="258" ns2:id="expSlide3"/>
    <p:sldId xmlns:ns3="http://schemas.openxmlformats.org/officeDocument/2006/relationships" id="259" ns3:id="expSlide4"/>
    <p:sldId xmlns:ns4="http://schemas.openxmlformats.org/officeDocument/2006/relationships" id="260" ns4:id="expSlide5"/>
    <p:sldId xmlns:ns5="http://schemas.openxmlformats.org/officeDocument/2006/relationships" id="261" ns5:id="expSlide6"/>
    <p:sldId xmlns:ns6="http://schemas.openxmlformats.org/officeDocument/2006/relationships" id="262" ns6:id="expSlide7"/>
    <p:sldId xmlns:ns7="http://schemas.openxmlformats.org/officeDocument/2006/relationships" id="263" ns7:id="expSlide8"/>
    <p:sldId xmlns:ns8="http://schemas.openxmlformats.org/officeDocument/2006/relationships" id="264" ns8:id="expSlide9"/>
    <p:sldId xmlns:ns9="http://schemas.openxmlformats.org/officeDocument/2006/relationships" id="265" ns9:id="expSlide10"/>
    <p:sldId xmlns:ns10="http://schemas.openxmlformats.org/officeDocument/2006/relationships" id="266" ns10:id="expSlide11"/>
    <p:sldId xmlns:ns11="http://schemas.openxmlformats.org/officeDocument/2006/relationships" id="267" ns11:id="expSlide12"/>
    <p:sldId xmlns:ns12="http://schemas.openxmlformats.org/officeDocument/2006/relationships" id="268" ns12:id="expSlide13"/>
    <p:sldId xmlns:ns13="http://schemas.openxmlformats.org/officeDocument/2006/relationships" id="269" ns13:id="expSlide14"/>
    <p:sldId xmlns:ns14="http://schemas.openxmlformats.org/officeDocument/2006/relationships" id="270" ns14:id="expSlide15"/>
    <p:sldId xmlns:ns15="http://schemas.openxmlformats.org/officeDocument/2006/relationships" id="271" ns15:id="expSlide16"/>
    <p:sldId xmlns:ns16="http://schemas.openxmlformats.org/officeDocument/2006/relationships" id="272" ns16:id="expSlide17"/>
    <p:sldId xmlns:ns17="http://schemas.openxmlformats.org/officeDocument/2006/relationships" id="273" ns17:id="expSlide18"/>
    <p:sldId xmlns:ns18="http://schemas.openxmlformats.org/officeDocument/2006/relationships" id="274" ns18:id="expSlide19"/>
    <p:sldId xmlns:ns19="http://schemas.openxmlformats.org/officeDocument/2006/relationships" id="275" ns19:id="expSlide20"/>
    <p:sldId xmlns:ns20="http://schemas.openxmlformats.org/officeDocument/2006/relationships" id="276" ns20:id="expSlide21"/>
    <p:sldId xmlns:ns21="http://schemas.openxmlformats.org/officeDocument/2006/relationships" id="277" ns21:id="expSlide22"/>
    <p:sldId xmlns:ns22="http://schemas.openxmlformats.org/officeDocument/2006/relationships" id="278" ns22:id="expSlide23"/>
    <p:sldId xmlns:ns23="http://schemas.openxmlformats.org/officeDocument/2006/relationships" id="279" ns23:id="expSlide24"/>
    <p:sldId xmlns:ns24="http://schemas.openxmlformats.org/officeDocument/2006/relationships" id="280" ns24:id="expSlide25"/>
    <p:sldId xmlns:ns25="http://schemas.openxmlformats.org/officeDocument/2006/relationships" id="281" ns25:id="expSlide26"/>
    <p:sldId xmlns:ns26="http://schemas.openxmlformats.org/officeDocument/2006/relationships" id="282" ns26:id="expSlide27"/>
    <p:sldId xmlns:ns27="http://schemas.openxmlformats.org/officeDocument/2006/relationships" id="283" ns27:id="expSlide28"/>
    <p:sldId xmlns:ns28="http://schemas.openxmlformats.org/officeDocument/2006/relationships" id="284" ns28:id="expSlide29"/>
    <p:sldId xmlns:ns29="http://schemas.openxmlformats.org/officeDocument/2006/relationships" id="285" ns29:id="expSlide30"/>
    <p:sldId xmlns:ns30="http://schemas.openxmlformats.org/officeDocument/2006/relationships" id="286" ns30:id="expSlide31"/>
    <p:sldId xmlns:ns31="http://schemas.openxmlformats.org/officeDocument/2006/relationships" id="287" ns31:id="expSlide3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Type="http://schemas.openxmlformats.org/officeDocument/2006/relationships/theme" Target="/ppt/theme/theme1.xml" Id="Rac351678fea34120"/><Relationship Type="http://schemas.openxmlformats.org/officeDocument/2006/relationships/slideMaster" Target="/ppt/slideMasters/slideMaster1.xml" Id="Rf996d5e4b60845dd"/><Relationship Type="http://schemas.openxmlformats.org/officeDocument/2006/relationships/notesMaster" Target="/ppt/notesMasters/notesMaster1.xml" Id="Re1da9e76cb654fd2"/><Relationship Type="http://schemas.openxmlformats.org/officeDocument/2006/relationships/presProps" Target="/ppt/presProps.xml" Id="R6ecbc3e597154965"/><Relationship Type="http://schemas.openxmlformats.org/officeDocument/2006/relationships/viewProps" Target="/ppt/viewProps.xml" Id="R5f210a71771647b7"/><Relationship Type="http://schemas.openxmlformats.org/officeDocument/2006/relationships/tableStyles" Target="/ppt/tableStyles.xml" Id="R75e7594dc43949ee"/><Relationship Id="expSlide1" Type="http://schemas.openxmlformats.org/officeDocument/2006/relationships/slide" Target="slides/slide1.xml"/><Relationship Id="expSlide2" Type="http://schemas.openxmlformats.org/officeDocument/2006/relationships/slide" Target="slides/slide2.xml"/><Relationship Id="expSlide3" Type="http://schemas.openxmlformats.org/officeDocument/2006/relationships/slide" Target="slides/slide3.xml"/><Relationship Id="expSlide4" Type="http://schemas.openxmlformats.org/officeDocument/2006/relationships/slide" Target="slides/slide4.xml"/><Relationship Id="expSlide5" Type="http://schemas.openxmlformats.org/officeDocument/2006/relationships/slide" Target="slides/slide5.xml"/><Relationship Id="expSlide6" Type="http://schemas.openxmlformats.org/officeDocument/2006/relationships/slide" Target="slides/slide6.xml"/><Relationship Id="expSlide7" Type="http://schemas.openxmlformats.org/officeDocument/2006/relationships/slide" Target="slides/slide7.xml"/><Relationship Id="expSlide8" Type="http://schemas.openxmlformats.org/officeDocument/2006/relationships/slide" Target="slides/slide8.xml"/><Relationship Id="expSlide9" Type="http://schemas.openxmlformats.org/officeDocument/2006/relationships/slide" Target="slides/slide9.xml"/><Relationship Id="expSlide10" Type="http://schemas.openxmlformats.org/officeDocument/2006/relationships/slide" Target="slides/slide10.xml"/><Relationship Id="expSlide11" Type="http://schemas.openxmlformats.org/officeDocument/2006/relationships/slide" Target="slides/slide11.xml"/><Relationship Id="expSlide12" Type="http://schemas.openxmlformats.org/officeDocument/2006/relationships/slide" Target="slides/slide12.xml"/><Relationship Id="expSlide13" Type="http://schemas.openxmlformats.org/officeDocument/2006/relationships/slide" Target="slides/slide13.xml"/><Relationship Id="expSlide14" Type="http://schemas.openxmlformats.org/officeDocument/2006/relationships/slide" Target="slides/slide14.xml"/><Relationship Id="expSlide15" Type="http://schemas.openxmlformats.org/officeDocument/2006/relationships/slide" Target="slides/slide15.xml"/><Relationship Id="expSlide16" Type="http://schemas.openxmlformats.org/officeDocument/2006/relationships/slide" Target="slides/slide16.xml"/><Relationship Id="expSlide17" Type="http://schemas.openxmlformats.org/officeDocument/2006/relationships/slide" Target="slides/slide17.xml"/><Relationship Id="expSlide18" Type="http://schemas.openxmlformats.org/officeDocument/2006/relationships/slide" Target="slides/slide18.xml"/><Relationship Id="expSlide19" Type="http://schemas.openxmlformats.org/officeDocument/2006/relationships/slide" Target="slides/slide19.xml"/><Relationship Id="expSlide20" Type="http://schemas.openxmlformats.org/officeDocument/2006/relationships/slide" Target="slides/slide20.xml"/><Relationship Id="expSlide21" Type="http://schemas.openxmlformats.org/officeDocument/2006/relationships/slide" Target="slides/slide21.xml"/><Relationship Id="expSlide22" Type="http://schemas.openxmlformats.org/officeDocument/2006/relationships/slide" Target="slides/slide22.xml"/><Relationship Id="expSlide23" Type="http://schemas.openxmlformats.org/officeDocument/2006/relationships/slide" Target="slides/slide23.xml"/><Relationship Id="expSlide24" Type="http://schemas.openxmlformats.org/officeDocument/2006/relationships/slide" Target="slides/slide24.xml"/><Relationship Id="expSlide25" Type="http://schemas.openxmlformats.org/officeDocument/2006/relationships/slide" Target="slides/slide25.xml"/><Relationship Id="expSlide26" Type="http://schemas.openxmlformats.org/officeDocument/2006/relationships/slide" Target="slides/slide26.xml"/><Relationship Id="expSlide27" Type="http://schemas.openxmlformats.org/officeDocument/2006/relationships/slide" Target="slides/slide27.xml"/><Relationship Id="expSlide28" Type="http://schemas.openxmlformats.org/officeDocument/2006/relationships/slide" Target="slides/slide28.xml"/><Relationship Id="expSlide29" Type="http://schemas.openxmlformats.org/officeDocument/2006/relationships/slide" Target="slides/slide29.xml"/><Relationship Id="expSlide30" Type="http://schemas.openxmlformats.org/officeDocument/2006/relationships/slide" Target="slides/slide30.xml"/><Relationship Id="expSlide31" Type="http://schemas.openxmlformats.org/officeDocument/2006/relationships/slide" Target="slides/slide31.xml"/><Relationship Id="expSlide32" Type="http://schemas.openxmlformats.org/officeDocument/2006/relationships/slide" Target="slides/slide32.xml"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83cd6d45dfc48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页面：P01 第3讲 文献检索与证据角色判断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直接进入本人的研究材料，不增加行政说明。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学生动作：打开本人研究问题初稿。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P01–P03“入口与交付”，该段合计 5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handout.md §导读；course/assignments.md 课堂推进与问题门</a:t>
            </a:r>
          </a:p>
          <a:p xmlns:a="http://schemas.openxmlformats.org/drawingml/2006/main">
            <a:r>
              <a:t>内容依据：handout.md §导读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页面：P02 从来源范围到可用证据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学生只需写一句话。来源可信、问题相关和证据作用分别判断，不把已授权使用等同于可信。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学生动作：写出本人拟用主张，允许随后修改。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P01–P03“入口与交付”，该段合计 5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handout.md §一、外部输入摄取在研究链路中的位置；course/assignments.md 课堂推进与问题门</a:t>
            </a:r>
          </a:p>
          <a:p xmlns:a="http://schemas.openxmlformats.org/drawingml/2006/main">
            <a:r>
              <a:t>内容依据：handout.md §一、外部输入摄取在研究链路中的位置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页面：P03 本课带走一条可复盘检索链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此页只展示交付结构，不提前给共同题答案。AI 使用情况沿用已有记录，没有 AI 时如实注明。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学生动作：定位已有笔记中的查询、审计和候选记录区域。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P01–P03“入口与交付”，该段合计 5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handout.md §九、共同诊断与本人迁移；course/assignments.md 课堂推进与问题门</a:t>
            </a:r>
          </a:p>
          <a:p xmlns:a="http://schemas.openxmlformats.org/drawingml/2006/main">
            <a:r>
              <a:t>内容依据：handout.md §九、共同诊断与本人迁移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页面：P04 研究问题的可检索要素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这是课程研究问题，尚无效果结论。查询不必同时塞入所有要素，过多 AND 会使探索过窄。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学生动作：圈出一个过宽词和一个可能被写成不同术语的概念。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P04–P09“方法与相邻示例”，该段合计 10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handout.md §二、从研究问题到检索式；course/assignments.md 课堂推进与问题门</a:t>
            </a:r>
          </a:p>
          <a:p xmlns:a="http://schemas.openxmlformats.org/drawingml/2006/main">
            <a:r>
              <a:t>内容依据：handout.md §二、从研究问题到检索式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页面：P05 同义词与独立查询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概念组中的 OR 与独立运行的查询分支分开。此处不使用共同题的 read / reading 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学生动作：为本人一个概念补两个候选表达，并标待确认项。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P04–P09“方法与相邻示例”，该段合计 10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handout.md §二、从研究问题到检索式；course/assignments.md 课堂推进与问题门</a:t>
            </a:r>
          </a:p>
          <a:p xmlns:a="http://schemas.openxmlformats.org/drawingml/2006/main">
            <a:r>
              <a:t>内容依据：handout.md §二、从研究问题到检索式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页面：P06 AND、OR 与括号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避免把扩大 OR 机械等同于更好。扩大范围可能增加误纳，需要检查相关性。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学生动作：用自己的词解释一个括号内的 OR 和括号外的 AND。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P04–P09“方法与相邻示例”，该段合计 10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handout.md §二、从研究问题到检索式；course/assignments.md 课堂推进与问题门</a:t>
            </a:r>
          </a:p>
          <a:p xmlns:a="http://schemas.openxmlformats.org/drawingml/2006/main">
            <a:r>
              <a:t>内容依据：handout.md §二、从研究问题到检索式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页面：P07 同一查询在不同字段中的含义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本例假定题名与关键词拼接后做子串匹配，仅解释字段效应。后面的本地包只支持单字段，不能直接使用 title + keywords。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学生动作：指出例子中的命中变化来自字段，而非新增论文。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P04–P09“方法与相邻示例”，该段合计 10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handout.md §二、从研究问题到检索式；course/assignments.md 课堂推进与问题门</a:t>
            </a:r>
          </a:p>
          <a:p xmlns:a="http://schemas.openxmlformats.org/drawingml/2006/main">
            <a:r>
              <a:t>内容依据：handout.md §二、从研究问题到检索式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页面：P08 筛选条件与反例保留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硬件、回收等只作为类别提示，此处不揭示共同题哪项命中。时间和语言限制需要理由，不能默默删掉反证。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学生动作：给自己的问题写一条纳入和一条排除条件。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P04–P09“方法与相邻示例”，该段合计 10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handout.md §二、从研究问题到检索式；course/assignments.md 课堂推进与问题门</a:t>
            </a:r>
          </a:p>
          <a:p xmlns:a="http://schemas.openxmlformats.org/drawingml/2006/main">
            <a:r>
              <a:t>内容依据：handout.md §二、从研究问题到检索式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页面：P09 可重放检索记录的样貌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这是独立的单条构造记录，不对应 S1–S5。若工具排序会变，保留当时导出的结果与日期。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学生动作：标出同伴重放时不可缺少的字段。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P04–P09“方法与相邻示例”，该段合计 10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handout.md §二、从研究问题到检索式；course/assignments.md 课堂推进与问题门</a:t>
            </a:r>
          </a:p>
          <a:p xmlns:a="http://schemas.openxmlformats.org/drawingml/2006/main">
            <a:r>
              <a:t>内容依据：handout.md §二、从研究问题到检索式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页面：P10 共同诊断的微型索引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S1 是上游方法书目提供的独立种子，不是从查询结果反向挑选。完整 keywords 在任务包，构造条目不得作为真实候选文献。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学生动作：独立逐字检查题名，暂不讨论答案。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P10–P11“独立共同诊断”，该段合计 10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judgment-task.md；assets/search-diagnosis/index.json</a:t>
            </a:r>
          </a:p>
          <a:p xmlns:a="http://schemas.openxmlformats.org/drawingml/2006/main">
            <a:r>
              <a:t>内容依据：handout.md §九、共同诊断与本人迁移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页面：P11 两套保存结果可靠吗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保持本页，学生先逐条代入语义。教师此时不告诉正确命中集合，允许发现输入记录本身错误。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学生动作：独立记录初判、题名依据和拟修改的词或字段。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P10–P11“独立共同诊断”，该段合计 10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judgment-task.md</a:t>
            </a:r>
          </a:p>
          <a:p xmlns:a="http://schemas.openxmlformats.org/drawingml/2006/main">
            <a:r>
              <a:t>内容依据：handout.md §九、共同诊断与本人迁移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页面：P12 同伴比较：分歧在哪个词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这里仍不揭示标准答案。只追问实际字段，不以题名印象判定布尔表达式。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学生动作：同伴各选一条记录，逐组解释命中或漏检。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P12–P13“同伴比较”，该段合计 10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judgment-task.md；judgment-teacher.md</a:t>
            </a:r>
          </a:p>
          <a:p xmlns:a="http://schemas.openxmlformats.org/drawingml/2006/main">
            <a:r>
              <a:t>内容依据：handout.md §九、共同诊断与本人迁移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页面：P13 修订查询的比较依据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学生可以作不同选择。没有独立执行的 OR 组不能写成不同分支的覆盖贡献。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学生动作：比较各自修订式，提出一项能区分两种方案的检查。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P12–P13“同伴比较”，该段合计 10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judgment-task.md；handout.md §六</a:t>
            </a:r>
          </a:p>
          <a:p xmlns:a="http://schemas.openxmlformats.org/drawingml/2006/main">
            <a:r>
              <a:t>内容依据：handout.md §六、检索质量自评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页面：P14 重放 Q1：保存记录出现误报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此页首次揭示答案。运行 search.py 三个 group 得到空集合；固定保存结果中的错误是教学诊断输入。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学生动作：对照自己的初判，写出一个改变判断的字段证据。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P14–P17“教师揭示校准”，该段合计 5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assets/search-diagnosis/search.py；judgment-teacher.md</a:t>
            </a:r>
          </a:p>
          <a:p xmlns:a="http://schemas.openxmlformats.org/drawingml/2006/main">
            <a:r>
              <a:t>内容依据：handout.md §九、共同诊断与本人迁移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页面：P15 重放 Q2：相关性与命中分开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子串 review 命中 Reviews，但 Q2 的第一组仍不满足。S3 也是构造条目，仅用于诊断，不进入真实候选表。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学生动作：解释一条逻辑命中但题意不符的记录。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P14–P17“教师揭示校准”，该段合计 5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assets/search-diagnosis/search.py；judgment-teacher.md</a:t>
            </a:r>
          </a:p>
          <a:p xmlns:a="http://schemas.openxmlformats.org/drawingml/2006/main">
            <a:r>
              <a:t>内容依据：handout.md §九、共同诊断与本人迁移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页面：P16 修订后的实际命中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本地包不能混用字段，两个字段各跑一次。read 已包含 reading 的子串，但显式写出两词帮助比较；不能宣称总体召回率提高。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学生动作：把自己执行的结果与示例比较，解释至少一项差异。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P14–P17“教师揭示校准”，该段合计 5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assets/search-diagnosis/search.py；index.json</a:t>
            </a:r>
          </a:p>
          <a:p xmlns:a="http://schemas.openxmlformats.org/drawingml/2006/main">
            <a:r>
              <a:t>内容依据：handout.md §六、检索质量自评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页面：P17 覆盖检查的证据与边界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延续讲义 §六的基准集与滚雪球方法。一个种子没有给出相关文献总体，不能计算全领域召回率。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学生动作：为本人检索写一个下一步覆盖检查。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P14–P17“教师揭示校准”，该段合计 5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handout.md §六、检索质量自评；course/assignments.md 课堂推进与问题门</a:t>
            </a:r>
          </a:p>
          <a:p xmlns:a="http://schemas.openxmlformats.org/drawingml/2006/main">
            <a:r>
              <a:t>内容依据：handout.md §六、检索质量自评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页面：P18 本人查询：执行并保存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本人实践第一段开始。P18–P20 合用15分钟，页面是操作参照，教师不逐页追加讲授。学生自行切换工件。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学生动作：实际执行一条查询并保存输出。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P18–P20“本人迁移一”，该段合计 15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handout.md §九、共同诊断与本人迁移；course/assignments.md 课堂推进与问题门</a:t>
            </a:r>
          </a:p>
          <a:p xmlns:a="http://schemas.openxmlformats.org/drawingml/2006/main">
            <a:r>
              <a:t>内容依据：handout.md §九、共同诊断与本人迁移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页面：P19 本人结果：解释改动的作用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此表是待填模板，不能抄成虚构运行记录。无改善或无新增也允许达标，关键是解释与执行证据。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学生动作：记录自己的一项结果变化；若无变化，写明已检查范围。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P18–P20“本人迁移一”，该段合计 15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handout.md §九、共同诊断与本人迁移；course/assignments.md 课堂推进与问题门</a:t>
            </a:r>
          </a:p>
          <a:p xmlns:a="http://schemas.openxmlformats.org/drawingml/2006/main">
            <a:r>
              <a:t>内容依据：handout.md §九、共同诊断与本人迁移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页面：P20 第一条来源的入口核验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以 Keshav §2 裁图作为定位参照。此图只支持方法结构，使用其设计阅读卡是个人判断。学生仍要核对自己的材料。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学生动作：完成第一条真实来源的身份与主张记录。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P18–P20“本人迁移一”，该段合计 15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source-audit-demo.md；Keshav 2007 p.83 §2</a:t>
            </a:r>
          </a:p>
          <a:p xmlns:a="http://schemas.openxmlformats.org/drawingml/2006/main">
            <a:r>
              <a:t>内容依据：handout.md §四、AI 检索结果的入口核验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页面：P21 MI 错引：标识符指向哪篇论文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中点校准第一步。历史 trace §6 的一条真实错误，2026-10-13 再核 arXiv 身份。不要把错误引用判成真实论文不存在。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学生动作：指出错误发生在“标识符存在”还是“身份对应”。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P21–P23“中点点评”，该段合计 5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mi-search-trace-demo.md §6；https://arxiv.org/abs/2308.10939</a:t>
            </a:r>
          </a:p>
          <a:p xmlns:a="http://schemas.openxmlformats.org/drawingml/2006/main">
            <a:r>
              <a:t>内容依据：handout.md §四、AI 检索结果的入口核验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页面：P22 身份错误、内容不符与网络故障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使用三个不同失败对象解释，提醒状态与筛选决定不相同。学生应根据自己的真实结果记录。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学生动作：检查自己是否把访问失败写成来源不存在。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P21–P23“中点点评”，该段合计 5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handout.md §四、AI 检索结果的入口核验；course/assignments.md 课堂推进与问题门</a:t>
            </a:r>
          </a:p>
          <a:p xmlns:a="http://schemas.openxmlformats.org/drawingml/2006/main">
            <a:r>
              <a:t>内容依据：handout.md §四、AI 检索结果的入口核验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页面：P23 错引恢复后的记录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这里只展示历史恢复路径并复核身份，不伪装成今日重新执行的题名检索。新来源不能仅凭身份正确自动成为主证据。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学生动作：把本人失败记录与恢复线索相互链接。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P21–P23“中点点评”，该段合计 5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mi-search-trace-demo.md §6；https://arxiv.org/abs/2310.10348</a:t>
            </a:r>
          </a:p>
          <a:p xmlns:a="http://schemas.openxmlformats.org/drawingml/2006/main">
            <a:r>
              <a:t>内容依据：handout.md §四、AI 检索结果的入口核验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页面：P24 第二条审计与候选池分区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本人实践第二段开始。两条通过也合格。断网可用 S1/S2 的现有真实来源存档；构造的 S3–S5 不进入候选池。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学生动作：完成第二条审计，核对两条来源各自的依据。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P24–P27“本人迁移二”，该段合计 15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handout.md §四、AI 检索结果的入口核验；course/assignments.md 课堂推进与问题门</a:t>
            </a:r>
          </a:p>
          <a:p xmlns:a="http://schemas.openxmlformats.org/drawingml/2006/main">
            <a:r>
              <a:t>内容依据：handout.md §四、AI 检索结果的入口核验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页面：P25 同一条目有角色、状态和决定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补充证据需有实质独立性，对比证据可能限制解释；同一研究转载两处不会成为两项独立证据。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学生动作：为自己的候选分别填三个维度及理由。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P24–P27“本人迁移二”，该段合计 15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source-audit-demo.md；handout.md §三</a:t>
            </a:r>
          </a:p>
          <a:p xmlns:a="http://schemas.openxmlformats.org/drawingml/2006/main">
            <a:r>
              <a:t>内容依据：handout.md §三、证据角色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页面：P26 一条可进入候选表的记录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这是可核验样例，不要求每个学生选同一篇。第6课候选池数量要求仍在第6课验收，不提前转成这节课任务。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学生动作：为本人一条候选写全身份、主张、位置与纳入理由。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P24–P27“本人迁移二”，该段合计 15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source-audit-demo.md；https://doi.org/10.1145/1273445.1273458</a:t>
            </a:r>
          </a:p>
          <a:p xmlns:a="http://schemas.openxmlformats.org/drawingml/2006/main">
            <a:r>
              <a:t>内容依据：handout.md §五、候选文献表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页面：P27 回写到同一份检索笔记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字段可以合并在主文档中，但必须可定位。本课不新增独立正式提交或文档数量硬门槛。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学生动作：保存本人记录并确认同伴能够打开原文或存档。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P24–P27“本人迁移二”，该段合计 15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handout.md §五、候选文献表；course/assignments.md 课堂推进与问题门</a:t>
            </a:r>
          </a:p>
          <a:p xmlns:a="http://schemas.openxmlformats.org/drawingml/2006/main">
            <a:r>
              <a:t>内容依据：handout.md §五、候选文献表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页面：P28 同伴重放一条查询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若在线结果变化，比较存档与当前结果并注明时间差，不能编造一致。离线执行同样需要真实输出。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学生动作：实际重放并记录一项核对结果。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P28–P30“同伴反查与修订”，该段合计 10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handout.md §九、共同诊断与本人迁移；course/assignments.md 课堂推进与问题门</a:t>
            </a:r>
          </a:p>
          <a:p xmlns:a="http://schemas.openxmlformats.org/drawingml/2006/main">
            <a:r>
              <a:t>内容依据：handout.md §九、共同诊断与本人迁移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页面：P29 候选条目的反向检查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互查不是要求找到错误。确认条目成立也应记依据，不设置失败配额。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学生动作：同伴挑一条候选，查原文后提出具体反馈。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P28–P30“同伴反查与修订”，该段合计 10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handout.md §九、共同诊断与本人迁移；course/assignments.md 课堂推进与问题门</a:t>
            </a:r>
          </a:p>
          <a:p xmlns:a="http://schemas.openxmlformats.org/drawingml/2006/main">
            <a:r>
              <a:t>内容依据：handout.md §九、共同诊断与本人迁移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页面：P30 作者修订与下一步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本页完成形成性评价闭环，不要求当场解决所有证据缺口；必须说明能改变决定的下一项证据。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学生动作：保存修订后的实际笔记，给同伴指出修改位置。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P28–P30“同伴反查与修订”，该段合计 10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handout.md §九、共同诊断与本人迁移；course/assignments.md 课堂推进与问题门</a:t>
            </a:r>
          </a:p>
          <a:p xmlns:a="http://schemas.openxmlformats.org/drawingml/2006/main">
            <a:r>
              <a:t>内容依据：handout.md §九、共同诊断与本人迁移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页面：P31 检索方法的四个判断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回收方法，不增加新术语。材料数量与证据充分性分开，解释清楚一条完整链优先。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学生动作：用自己的记录各指认一项证据。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P31–P32“总结与下次输入”，该段合计 5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handout.md §学习目标；course/assignments.md 课堂推进与问题门</a:t>
            </a:r>
          </a:p>
          <a:p xmlns:a="http://schemas.openxmlformats.org/drawingml/2006/main">
            <a:r>
              <a:t>内容依据：handout.md §学习目标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页面：P32 交付自查与第 4 课输入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课外指定阅读15分钟、准备10分钟、补全35分钟，总预算60分钟，排障计入。屏显只写交接动作，不写课堂计时。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学生动作：圈出第 4 课拟精读主张与至少一个待查问题。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课堂安排：本页属于 P31–P32“总结与下次输入”，该段合计 5 分钟，本页不重复累加。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handout.md §课外预算与下次输入；course/assignments.md 课堂推进与问题门</a:t>
            </a:r>
          </a:p>
          <a:p xmlns:a="http://schemas.openxmlformats.org/drawingml/2006/main">
            <a:r>
              <a:t>内容依据：handout.md §课外预算与下次输入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062fe7fbf84679" /><Relationship Type="http://schemas.openxmlformats.org/officeDocument/2006/relationships/image" Target="/ppt/media/image.png" Id="Rdf894d67c5ba4fa1" /><Relationship Type="http://schemas.openxmlformats.org/officeDocument/2006/relationships/image" Target="/ppt/media/image2.png" Id="Rc66a46bd16024195" /><Relationship Type="http://schemas.openxmlformats.org/officeDocument/2006/relationships/image" Target="/ppt/media/image3.png" Id="R80e4359a7b894da4" /><Relationship Type="http://schemas.openxmlformats.org/officeDocument/2006/relationships/image" Target="/ppt/media/image4.png" Id="R9aad6ccf377b4aa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62787ceb09432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328c6ddf8c41b3" /><Relationship Type="http://schemas.openxmlformats.org/officeDocument/2006/relationships/image" Target="/ppt/media/image2.png" Id="R0d8f5dc11d4f4730" /><Relationship Type="http://schemas.openxmlformats.org/officeDocument/2006/relationships/image" Target="/ppt/media/image5.png" Id="Rf9fafd2ae04f465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e682d68f3d4856" /><Relationship Type="http://schemas.openxmlformats.org/officeDocument/2006/relationships/image" Target="/ppt/media/image.png" Id="R674fce9027be48bc" /><Relationship Type="http://schemas.openxmlformats.org/officeDocument/2006/relationships/image" Target="/ppt/media/image3.png" Id="R3991314be7124573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894d67c5ba4fa1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66a46bd16024195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0e4359a7b894da4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ad6ccf377b4aa9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d8f5dc11d4f4730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fafd2ae04f465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4fce9027be48bc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991314be7124573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c4e3d79d5bf4ada" /><Relationship Type="http://schemas.openxmlformats.org/officeDocument/2006/relationships/slideLayout" Target="/ppt/slideLayouts/slideLayout1.xml" Id="Ra7c510314cf845c5" /><Relationship Type="http://schemas.openxmlformats.org/officeDocument/2006/relationships/slideLayout" Target="/ppt/slideLayouts/slideLayout2.xml" Id="R629527c3c99d49c2" /><Relationship Type="http://schemas.openxmlformats.org/officeDocument/2006/relationships/slideLayout" Target="/ppt/slideLayouts/slideLayout3.xml" Id="R8f714e9235fb4d0d" /><Relationship Type="http://schemas.openxmlformats.org/officeDocument/2006/relationships/slideLayout" Target="/ppt/slideLayouts/slideLayout4.xml" Id="R1e831edb8d654ff7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7c510314cf845c5"/>
    <p:sldLayoutId xmlns:r="http://schemas.openxmlformats.org/officeDocument/2006/relationships" id="2147483650" r:id="R629527c3c99d49c2"/>
    <p:sldLayoutId xmlns:r="http://schemas.openxmlformats.org/officeDocument/2006/relationships" id="2147483651" r:id="R8f714e9235fb4d0d"/>
    <p:sldLayoutId xmlns:r="http://schemas.openxmlformats.org/officeDocument/2006/relationships" id="2147483652" r:id="R1e831edb8d654ff7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49be3fe3f5e74f06"/><Relationship Id="expNotes1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10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11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1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1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1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1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1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17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18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19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Image2" Type="http://schemas.openxmlformats.org/officeDocument/2006/relationships/image" Target="../media/expansion-L3-image6.png"/><Relationship Id="expNotes20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21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2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2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2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25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26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27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28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29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30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31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3.xml" Id="R995e3ad8ba2b45fa"/><Relationship Id="expNotes32" Type="http://schemas.openxmlformats.org/officeDocument/2006/relationships/notesSlide" Target="../notesSlides/notesSlide32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7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第3讲 文献检索与证据角色判断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39C7FED3-95FD-4E8D-9490-CDC4A339C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从来源范围到可用证据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39B650F7-F069-410D-9790-1AB7E04D1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上课已确定哪些材料可以交给 AI，本课决定哪些材料值得进入研究。</a:t>
            </a:r>
          </a:p>
        </p:txBody>
      </p:sp>
      <p:sp>
        <p:nvSpPr>
          <p:cNvPr id="3" name="columns-label">
            <a:extLst xmlns:a="http://schemas.openxmlformats.org/drawingml/2006/main">
              <a:ext uri="{FF2B5EF4-FFF2-40B4-BE49-F238E27FC236}">
                <a16:creationId xmlns:a16="http://schemas.microsoft.com/office/drawing/2014/main" id="{58EEA0CF-8328-48AA-844F-53FD0D877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已有输入   /   本课要补的判断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75A52E71-2AE0-473F-A058-4D8C0D5B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个人问题初稿</a:t>
            </a:r>
          </a:p>
        </p:txBody>
      </p:sp>
      <p:sp>
        <p:nvSpPr>
          <p:cNvPr id="5" name="row-value-0">
            <a:extLst xmlns:a="http://schemas.openxmlformats.org/drawingml/2006/main">
              <a:ext uri="{FF2B5EF4-FFF2-40B4-BE49-F238E27FC236}">
                <a16:creationId xmlns:a16="http://schemas.microsoft.com/office/drawing/2014/main" id="{DFC3B276-EB95-4552-B941-DEC1C188B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1455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当前问题需要哪类外部依据？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24603762-B1DE-4CF9-A00A-EF3F737E3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来源范围与权限</a:t>
            </a:r>
          </a:p>
        </p:txBody>
      </p:sp>
      <p:sp>
        <p:nvSpPr>
          <p:cNvPr id="7" name="row-value-1">
            <a:extLst xmlns:a="http://schemas.openxmlformats.org/drawingml/2006/main">
              <a:ext uri="{FF2B5EF4-FFF2-40B4-BE49-F238E27FC236}">
                <a16:creationId xmlns:a16="http://schemas.microsoft.com/office/drawing/2014/main" id="{19EAD557-D75E-45C6-AA69-D6B7DBFD7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7180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查询覆盖了什么，又漏掉什么？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3C4E2AA3-B2D1-4712-B93E-562FF9304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使用记录</a:t>
            </a:r>
          </a:p>
        </p:txBody>
      </p:sp>
      <p:sp>
        <p:nvSpPr>
          <p:cNvPr id="9" name="row-value-2">
            <a:extLst xmlns:a="http://schemas.openxmlformats.org/drawingml/2006/main">
              <a:ext uri="{FF2B5EF4-FFF2-40B4-BE49-F238E27FC236}">
                <a16:creationId xmlns:a16="http://schemas.microsoft.com/office/drawing/2014/main" id="{3D611F05-D6E4-4280-8075-0529F404D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82905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身份与拟用主张能否回到原文？</a:t>
            </a:r>
          </a:p>
        </p:txBody>
      </p:sp>
      <p:sp>
        <p:nvSpPr>
          <p:cNvPr id="10" name="takeaway">
            <a:extLst xmlns:a="http://schemas.openxmlformats.org/drawingml/2006/main">
              <a:ext uri="{FF2B5EF4-FFF2-40B4-BE49-F238E27FC236}">
                <a16:creationId xmlns:a16="http://schemas.microsoft.com/office/drawing/2014/main" id="{C510659A-4F84-498F-A71C-F792A0085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先写一句：我准备找材料来支持或检验什么？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0DF07EC1-9A1C-472F-9306-52758797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8FD69AA7-885C-4CB6-9670-B7AC63317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本课带走一条可复盘检索链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55068727-4777-4DBB-930E-E25EE6CD0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查询改动解决了哪种漏检，又引入什么误纳？</a:t>
            </a:r>
          </a:p>
        </p:txBody>
      </p:sp>
      <p:sp>
        <p:nvSpPr>
          <p:cNvPr id="3" name="columns-label">
            <a:extLst xmlns:a="http://schemas.openxmlformats.org/drawingml/2006/main">
              <a:ext uri="{FF2B5EF4-FFF2-40B4-BE49-F238E27FC236}">
                <a16:creationId xmlns:a16="http://schemas.microsoft.com/office/drawing/2014/main" id="{D28FBB9B-12D2-4FB0-BC6A-9D5401B8B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记录位置   /   本课完成标志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DB32C6D5-0259-40B1-8120-2A620AC3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查询与筛选</a:t>
            </a:r>
          </a:p>
        </p:txBody>
      </p:sp>
      <p:sp>
        <p:nvSpPr>
          <p:cNvPr id="5" name="row-value-0">
            <a:extLst xmlns:a="http://schemas.openxmlformats.org/drawingml/2006/main">
              <a:ext uri="{FF2B5EF4-FFF2-40B4-BE49-F238E27FC236}">
                <a16:creationId xmlns:a16="http://schemas.microsoft.com/office/drawing/2014/main" id="{1954B863-1058-4BFC-AC7D-632778A06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1455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一条实际执行的查询，保留字段、语义、结果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E1373C9C-1C33-490D-AE85-D2E6E919F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两条来源审计</a:t>
            </a:r>
          </a:p>
        </p:txBody>
      </p:sp>
      <p:sp>
        <p:nvSpPr>
          <p:cNvPr id="7" name="row-value-1">
            <a:extLst xmlns:a="http://schemas.openxmlformats.org/drawingml/2006/main">
              <a:ext uri="{FF2B5EF4-FFF2-40B4-BE49-F238E27FC236}">
                <a16:creationId xmlns:a16="http://schemas.microsoft.com/office/drawing/2014/main" id="{00EF93FF-06EB-4996-AA89-8B76E60DE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7180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分别核对书目身份和一条拟用主张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DB2A0E0D-A3E0-47C3-BA95-7888B531D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一条候选决定</a:t>
            </a:r>
          </a:p>
        </p:txBody>
      </p:sp>
      <p:sp>
        <p:nvSpPr>
          <p:cNvPr id="9" name="row-value-2">
            <a:extLst xmlns:a="http://schemas.openxmlformats.org/drawingml/2006/main">
              <a:ext uri="{FF2B5EF4-FFF2-40B4-BE49-F238E27FC236}">
                <a16:creationId xmlns:a16="http://schemas.microsoft.com/office/drawing/2014/main" id="{6B0741EA-392D-45AA-A6AF-FD3C55F50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82905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原文位置、预期角色、状态与纳入理由</a:t>
            </a:r>
          </a:p>
        </p:txBody>
      </p:sp>
      <p:sp>
        <p:nvSpPr>
          <p:cNvPr id="10" name="takeaway">
            <a:extLst xmlns:a="http://schemas.openxmlformats.org/drawingml/2006/main">
              <a:ext uri="{FF2B5EF4-FFF2-40B4-BE49-F238E27FC236}">
                <a16:creationId xmlns:a16="http://schemas.microsoft.com/office/drawing/2014/main" id="{1565C210-26FB-496F-ABAB-695EE4DD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保存到 notes/literature-search.md；第 4 课精读其中一条主张。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76D0924D-DD2E-4707-8D9A-C22BC9462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06BCC286-F177-4014-B081-D64060C32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研究问题的可检索要素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4F090E4F-7A75-42F0-96B1-CE258415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贯穿问题：结构化阅读卡能否减少 AI 摘要遗漏关键限定？</a:t>
            </a:r>
          </a:p>
        </p:txBody>
      </p:sp>
      <p:sp>
        <p:nvSpPr>
          <p:cNvPr id="3" name="columns-label">
            <a:extLst xmlns:a="http://schemas.openxmlformats.org/drawingml/2006/main">
              <a:ext uri="{FF2B5EF4-FFF2-40B4-BE49-F238E27FC236}">
                <a16:creationId xmlns:a16="http://schemas.microsoft.com/office/drawing/2014/main" id="{88752072-F848-4EBA-87E4-B90A9F1A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要素   /   可观察的含义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5F886FB3-24CA-4224-BCCD-B23625D30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对象</a:t>
            </a:r>
          </a:p>
        </p:txBody>
      </p:sp>
      <p:sp>
        <p:nvSpPr>
          <p:cNvPr id="5" name="row-value-0">
            <a:extLst xmlns:a="http://schemas.openxmlformats.org/drawingml/2006/main">
              <a:ext uri="{FF2B5EF4-FFF2-40B4-BE49-F238E27FC236}">
                <a16:creationId xmlns:a16="http://schemas.microsoft.com/office/drawing/2014/main" id="{5BB36384-AD6E-4CD3-9B94-0D7B77EF6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14550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论文摘要中的任务、设置与适用范围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44048208-D051-4E91-87D4-097A61A89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9894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7" name="row-value-1">
            <a:extLst xmlns:a="http://schemas.openxmlformats.org/drawingml/2006/main">
              <a:ext uri="{FF2B5EF4-FFF2-40B4-BE49-F238E27FC236}">
                <a16:creationId xmlns:a16="http://schemas.microsoft.com/office/drawing/2014/main" id="{F71C7246-9F67-4107-A25E-95F7051B6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59894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结构化阅读卡或阅读模板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679E4E4B-41CB-41D6-945D-BD9D147A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5238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比较</a:t>
            </a:r>
          </a:p>
        </p:txBody>
      </p:sp>
      <p:sp>
        <p:nvSpPr>
          <p:cNvPr id="9" name="row-value-2">
            <a:extLst xmlns:a="http://schemas.openxmlformats.org/drawingml/2006/main">
              <a:ext uri="{FF2B5EF4-FFF2-40B4-BE49-F238E27FC236}">
                <a16:creationId xmlns:a16="http://schemas.microsoft.com/office/drawing/2014/main" id="{FFBE7EC0-DC6C-4323-87BD-6351CFC3D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805238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自由摘要或未使用模板的阅读</a:t>
            </a:r>
          </a:p>
        </p:txBody>
      </p:sp>
      <p:sp>
        <p:nvSpPr>
          <p:cNvPr id="10" name="row-label-3">
            <a:extLst xmlns:a="http://schemas.openxmlformats.org/drawingml/2006/main">
              <a:ext uri="{FF2B5EF4-FFF2-40B4-BE49-F238E27FC236}">
                <a16:creationId xmlns:a16="http://schemas.microsoft.com/office/drawing/2014/main" id="{BF34A055-A0E4-4231-8369-89DBD54C6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50581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结果</a:t>
            </a:r>
          </a:p>
        </p:txBody>
      </p:sp>
      <p:sp>
        <p:nvSpPr>
          <p:cNvPr id="11" name="row-value-3">
            <a:extLst xmlns:a="http://schemas.openxmlformats.org/drawingml/2006/main">
              <a:ext uri="{FF2B5EF4-FFF2-40B4-BE49-F238E27FC236}">
                <a16:creationId xmlns:a16="http://schemas.microsoft.com/office/drawing/2014/main" id="{93ED9128-286F-476D-9B89-585203E17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50581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关键限定的遗漏情况</a:t>
            </a:r>
          </a:p>
        </p:txBody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01957B6E-7837-453E-9D1F-DD7EE0D6C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先拆要素，再决定哪些要素需要进入查询。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EE56D9A6-00DC-4596-AD24-53E99E926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348AF723-322C-4567-863E-F05D282D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同义词与独立查询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C2D9BAA4-5780-492A-BC62-3A6F58C53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相邻方法例：用不同表达查找“摘要中的条件遗漏”。</a:t>
            </a:r>
          </a:p>
        </p:txBody>
      </p:sp>
      <p:sp>
        <p:nvSpPr>
          <p:cNvPr id="3" name="columns-label">
            <a:extLst xmlns:a="http://schemas.openxmlformats.org/drawingml/2006/main">
              <a:ext uri="{FF2B5EF4-FFF2-40B4-BE49-F238E27FC236}">
                <a16:creationId xmlns:a16="http://schemas.microsoft.com/office/drawing/2014/main" id="{BA06F863-98E6-4A57-B69C-365C0DF06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概念   /   候选表达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E2385F0C-7BE0-4485-84F2-0BFFA1D95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摘要</a:t>
            </a:r>
          </a:p>
        </p:txBody>
      </p:sp>
      <p:sp>
        <p:nvSpPr>
          <p:cNvPr id="5" name="row-value-0">
            <a:extLst xmlns:a="http://schemas.openxmlformats.org/drawingml/2006/main">
              <a:ext uri="{FF2B5EF4-FFF2-40B4-BE49-F238E27FC236}">
                <a16:creationId xmlns:a16="http://schemas.microsoft.com/office/drawing/2014/main" id="{610923E9-277B-4A3C-97B0-C9CD72A4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14550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summary / abstract / summarization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9A6AA171-9184-482F-914F-1EBBDAAA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9894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限定</a:t>
            </a:r>
          </a:p>
        </p:txBody>
      </p:sp>
      <p:sp>
        <p:nvSpPr>
          <p:cNvPr id="7" name="row-value-1">
            <a:extLst xmlns:a="http://schemas.openxmlformats.org/drawingml/2006/main">
              <a:ext uri="{FF2B5EF4-FFF2-40B4-BE49-F238E27FC236}">
                <a16:creationId xmlns:a16="http://schemas.microsoft.com/office/drawing/2014/main" id="{070726DD-CC02-431F-BCAE-EC700D33A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59894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limitation / scope / condition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7370870F-74FB-4A67-AD6E-DB8E3845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5238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遗漏</a:t>
            </a:r>
          </a:p>
        </p:txBody>
      </p:sp>
      <p:sp>
        <p:nvSpPr>
          <p:cNvPr id="9" name="row-value-2">
            <a:extLst xmlns:a="http://schemas.openxmlformats.org/drawingml/2006/main">
              <a:ext uri="{FF2B5EF4-FFF2-40B4-BE49-F238E27FC236}">
                <a16:creationId xmlns:a16="http://schemas.microsoft.com/office/drawing/2014/main" id="{B0833BAA-CB49-4500-8C41-A5260A5FD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805238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omission / missing / retention</a:t>
            </a:r>
          </a:p>
        </p:txBody>
      </p:sp>
      <p:sp>
        <p:nvSpPr>
          <p:cNvPr id="10" name="row-label-3">
            <a:extLst xmlns:a="http://schemas.openxmlformats.org/drawingml/2006/main">
              <a:ext uri="{FF2B5EF4-FFF2-40B4-BE49-F238E27FC236}">
                <a16:creationId xmlns:a16="http://schemas.microsoft.com/office/drawing/2014/main" id="{1CECE9ED-241B-4D41-AC2E-5F4877B8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50581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独立分支</a:t>
            </a:r>
          </a:p>
        </p:txBody>
      </p:sp>
      <p:sp>
        <p:nvSpPr>
          <p:cNvPr id="11" name="row-value-3">
            <a:extLst xmlns:a="http://schemas.openxmlformats.org/drawingml/2006/main">
              <a:ext uri="{FF2B5EF4-FFF2-40B4-BE49-F238E27FC236}">
                <a16:creationId xmlns:a16="http://schemas.microsoft.com/office/drawing/2014/main" id="{3D40A23C-3157-4A69-9D7A-F7B19A486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50581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分别查摘要质量、阅读方法，再比较新增相关项</a:t>
            </a:r>
          </a:p>
        </p:txBody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9C908A37-C0D0-4990-B0E9-2EDBC3CFA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同义词要回到真实题名或摘要确认用法。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FD3F065C-C036-4424-86F1-BCA6DBE99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9526FF1D-9CE5-4A65-8290-864C4FBDE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AND、OR 与括号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CBF7E76A-1407-4F17-A5BF-19977298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相邻构造示例，非真实学术库结果。</a:t>
            </a:r>
          </a:p>
        </p:txBody>
      </p:sp>
      <p:sp>
        <p:nvSpPr>
          <p:cNvPr id="3" name="columns-label">
            <a:extLst xmlns:a="http://schemas.openxmlformats.org/drawingml/2006/main">
              <a:ext uri="{FF2B5EF4-FFF2-40B4-BE49-F238E27FC236}">
                <a16:creationId xmlns:a16="http://schemas.microsoft.com/office/drawing/2014/main" id="{B0F22986-9A6A-4FF6-AFA9-E3F3C29D8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表达式   /   筛选含义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39227C8E-65DA-4D1E-87B5-CB2C027A9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summary AND limitation</a:t>
            </a:r>
          </a:p>
        </p:txBody>
      </p:sp>
      <p:sp>
        <p:nvSpPr>
          <p:cNvPr id="5" name="row-value-0">
            <a:extLst xmlns:a="http://schemas.openxmlformats.org/drawingml/2006/main">
              <a:ext uri="{FF2B5EF4-FFF2-40B4-BE49-F238E27FC236}">
                <a16:creationId xmlns:a16="http://schemas.microsoft.com/office/drawing/2014/main" id="{550E4147-62C0-4FFD-A1DD-2F5D2FF81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1455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两组条件都满足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BA8E1266-0329-48F4-90B0-2C23859F6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summary OR abstract</a:t>
            </a:r>
          </a:p>
        </p:txBody>
      </p:sp>
      <p:sp>
        <p:nvSpPr>
          <p:cNvPr id="7" name="row-value-1">
            <a:extLst xmlns:a="http://schemas.openxmlformats.org/drawingml/2006/main">
              <a:ext uri="{FF2B5EF4-FFF2-40B4-BE49-F238E27FC236}">
                <a16:creationId xmlns:a16="http://schemas.microsoft.com/office/drawing/2014/main" id="{A30BA271-1BAA-47CA-BEA9-C55D9C787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7180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满足任一表达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9521D543-37C0-47E7-9AEF-5158D88C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(summary OR abstract) AND limitation</a:t>
            </a:r>
          </a:p>
        </p:txBody>
      </p:sp>
      <p:sp>
        <p:nvSpPr>
          <p:cNvPr id="9" name="row-value-2">
            <a:extLst xmlns:a="http://schemas.openxmlformats.org/drawingml/2006/main">
              <a:ext uri="{FF2B5EF4-FFF2-40B4-BE49-F238E27FC236}">
                <a16:creationId xmlns:a16="http://schemas.microsoft.com/office/drawing/2014/main" id="{E28ACDAA-0C60-4B7C-A003-8AB4945F8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82905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先扩同义词，再约束概念交集</a:t>
            </a:r>
          </a:p>
        </p:txBody>
      </p:sp>
      <p:sp>
        <p:nvSpPr>
          <p:cNvPr id="10" name="takeaway">
            <a:extLst xmlns:a="http://schemas.openxmlformats.org/drawingml/2006/main">
              <a:ext uri="{FF2B5EF4-FFF2-40B4-BE49-F238E27FC236}">
                <a16:creationId xmlns:a16="http://schemas.microsoft.com/office/drawing/2014/main" id="{BC7128C3-EE05-41B9-95DF-AB0508F4E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AND 增加条件；OR 扩展表达。实际效果用命中记录检验。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AE7A6CBC-54DA-437C-913E-A906BE8DD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2ADA9432-B61A-431D-83EB-044BE76F1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同一查询在不同字段中的含义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21029027-F539-49D3-B522-20C19CEC9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相邻构造条目：title 为 Summary evaluation，keywords 为 limitation retention。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9CBAFF-D5F7-4E72-9A41-87C6AFA99FBD}"/>
              </a:ext>
            </a:extLst>
          </p:cNvPr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28956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381250"/>
                <a:gridCol w="5334000"/>
                <a:gridCol w="314325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查询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字段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summary AND limitation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title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不命中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summary AND limitation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title + keywords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命中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"summary evaluation"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支持短语语法的库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需核对该库的短语规则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akeaway">
            <a:extLst xmlns:a="http://schemas.openxmlformats.org/drawingml/2006/main">
              <a:ext uri="{FF2B5EF4-FFF2-40B4-BE49-F238E27FC236}">
                <a16:creationId xmlns:a16="http://schemas.microsoft.com/office/drawing/2014/main" id="{BA3CA082-80C7-4656-9557-AD93C9D2C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记录搜索字段与匹配语义；数据库之间的语法需要转换。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A386444C-9D1F-4B50-A735-3290003C8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067424DB-F0BA-48BD-ACEC-6616C5788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筛选条件与反例保留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A6062D61-6BC9-427C-9562-DC9338647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检索前写第一版，调整时留下理由。</a:t>
            </a:r>
          </a:p>
        </p:txBody>
      </p:sp>
      <p:sp>
        <p:nvSpPr>
          <p:cNvPr id="3" name="columns-label">
            <a:extLst xmlns:a="http://schemas.openxmlformats.org/drawingml/2006/main">
              <a:ext uri="{FF2B5EF4-FFF2-40B4-BE49-F238E27FC236}">
                <a16:creationId xmlns:a16="http://schemas.microsoft.com/office/drawing/2014/main" id="{4B57C2CF-20CF-443F-AEEE-820E557AD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条件   /   本课阅读卡问题的写法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30DA9D11-3229-494D-AD48-D7341492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相关性</a:t>
            </a:r>
          </a:p>
        </p:txBody>
      </p:sp>
      <p:sp>
        <p:nvSpPr>
          <p:cNvPr id="5" name="row-value-0">
            <a:extLst xmlns:a="http://schemas.openxmlformats.org/drawingml/2006/main">
              <a:ext uri="{FF2B5EF4-FFF2-40B4-BE49-F238E27FC236}">
                <a16:creationId xmlns:a16="http://schemas.microsoft.com/office/drawing/2014/main" id="{3B004BC6-40AB-4802-B088-00E412782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14550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涉及论文阅读、摘要或限定保留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280983E8-AE5A-4DBC-A812-1A8605C80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9894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证据类型</a:t>
            </a:r>
          </a:p>
        </p:txBody>
      </p:sp>
      <p:sp>
        <p:nvSpPr>
          <p:cNvPr id="7" name="row-value-1">
            <a:extLst xmlns:a="http://schemas.openxmlformats.org/drawingml/2006/main">
              <a:ext uri="{FF2B5EF4-FFF2-40B4-BE49-F238E27FC236}">
                <a16:creationId xmlns:a16="http://schemas.microsoft.com/office/drawing/2014/main" id="{5221C944-2CF8-4778-9638-BD5AEA59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59894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方法建议与效果研究分别标注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EA66AB4A-A1D9-49C7-93D1-A51D332D0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5238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排除理由</a:t>
            </a:r>
          </a:p>
        </p:txBody>
      </p:sp>
      <p:sp>
        <p:nvSpPr>
          <p:cNvPr id="9" name="row-value-2">
            <a:extLst xmlns:a="http://schemas.openxmlformats.org/drawingml/2006/main">
              <a:ext uri="{FF2B5EF4-FFF2-40B4-BE49-F238E27FC236}">
                <a16:creationId xmlns:a16="http://schemas.microsoft.com/office/drawing/2014/main" id="{65FBC2A1-AE10-4A3A-B3E3-D48B9B647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805238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硬件存储卡、材料回收等题意不符</a:t>
            </a:r>
          </a:p>
        </p:txBody>
      </p:sp>
      <p:sp>
        <p:nvSpPr>
          <p:cNvPr id="10" name="row-label-3">
            <a:extLst xmlns:a="http://schemas.openxmlformats.org/drawingml/2006/main">
              <a:ext uri="{FF2B5EF4-FFF2-40B4-BE49-F238E27FC236}">
                <a16:creationId xmlns:a16="http://schemas.microsoft.com/office/drawing/2014/main" id="{0F315EC1-6181-41AC-AEA9-1E1481569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50581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冲突结果</a:t>
            </a:r>
          </a:p>
        </p:txBody>
      </p:sp>
      <p:sp>
        <p:nvSpPr>
          <p:cNvPr id="11" name="row-value-3">
            <a:extLst xmlns:a="http://schemas.openxmlformats.org/drawingml/2006/main">
              <a:ext uri="{FF2B5EF4-FFF2-40B4-BE49-F238E27FC236}">
                <a16:creationId xmlns:a16="http://schemas.microsoft.com/office/drawing/2014/main" id="{DC0F43C3-4D44-499A-B783-CBB0B140E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50581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效果不佳也保留，按条件判断作用</a:t>
            </a:r>
          </a:p>
        </p:txBody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F5376052-3D63-4160-A6F3-3D7BA4B4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筛选依据是问题与方法匹配程度，结论方向另行记录。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59D85C6D-7B5F-412E-8C84-054636093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55AE50C1-6FCE-4558-BDBD-5E05C09F4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可重放检索记录的样貌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3AFC8A84-0338-451E-946F-F77563D10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相邻构造示例：下面是一份教学记录，不是现场学术库结果。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907F6A-5A51-4399-A466-1677039AD2C2}"/>
              </a:ext>
            </a:extLst>
          </p:cNvPr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4861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80010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字段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示例记录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库 / 字段 / 语义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教学索引 A；title；不区分大小写子串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日期 / 查询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2026-10-13；summary AND limitation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 / 筛选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 条命中 A1；相关性待读摘要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版本与改动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Q0 改为 Q1，增加 condition 同义词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保留材料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原查询、原始输出、筛选理由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akeaway">
            <a:extLst xmlns:a="http://schemas.openxmlformats.org/drawingml/2006/main">
              <a:ext uri="{FF2B5EF4-FFF2-40B4-BE49-F238E27FC236}">
                <a16:creationId xmlns:a16="http://schemas.microsoft.com/office/drawing/2014/main" id="{136E79D9-B314-4929-9DA9-76ACEDE1A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命中数、筛选数与最终纳入数分开记录。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E630A0AD-FF0F-4F20-86D2-39E63AFF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9685FD29-3CF2-4D42-B59E-9CC62F854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共同诊断的微型索引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42441E30-2DD8-4A12-A9AB-83F01832C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教学索引：S1/S2 为真实书目题名，S3–S5 为构造条目。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9380BA-F88D-473F-BFC0-091BCDC3ECBC}"/>
              </a:ext>
            </a:extLst>
          </p:cNvPr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4861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762000"/>
                <a:gridCol w="100965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ID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title 字段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S1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How to Read a Paper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S2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Guidelines for Performing Systematic Literature Reviews in Software Engineering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S3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Teaching record: structured reading cards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S4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Teaching record: reading memory cards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S5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Teaching record: paper card recycling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akeaway">
            <a:extLst xmlns:a="http://schemas.openxmlformats.org/drawingml/2006/main">
              <a:ext uri="{FF2B5EF4-FFF2-40B4-BE49-F238E27FC236}">
                <a16:creationId xmlns:a16="http://schemas.microsoft.com/office/drawing/2014/main" id="{3C797448-AB2D-422A-B8F8-8CFEC8E13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只搜 title，大小写不敏感、子串匹配；keywords 另见任务包。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96194C79-77DB-46D3-A348-9FB8411AA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830AC0AA-CAD5-47D6-8F07-4DA0A639A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两套保存结果可靠吗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6825ECA2-63DD-4A91-8F2F-3BD529969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保存记录是待审计输入，尚未确认正确。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8A7D57-CAF0-4E12-AAED-8B386368A142}"/>
              </a:ext>
            </a:extLst>
          </p:cNvPr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28956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8286750"/>
                <a:gridCol w="257175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查询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保存结果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Q1：paper AND reading AND card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S5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Q2：(paper OR reading) AND (card OR review)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S2、S3、S4、S5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独立种子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S1：How to Read a Paper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akeaway">
            <a:extLst xmlns:a="http://schemas.openxmlformats.org/drawingml/2006/main">
              <a:ext uri="{FF2B5EF4-FFF2-40B4-BE49-F238E27FC236}">
                <a16:creationId xmlns:a16="http://schemas.microsoft.com/office/drawing/2014/main" id="{BBF12FA2-ED4E-45F0-A1E6-80255A4D3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先验证保存结果，再写一条修订查询并执行。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AB934AD9-D5EC-40B8-8151-6D78970E0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A15CB46E-5E3A-4389-8F8F-BC52DA703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同伴比较：分歧在哪个词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68E42979-8ED8-4BCB-98AC-307E085E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把“我觉得相关”改成可复查的字段判断。</a:t>
            </a:r>
          </a:p>
        </p:txBody>
      </p:sp>
      <p:sp>
        <p:nvSpPr>
          <p:cNvPr id="3" name="columns-label">
            <a:extLst xmlns:a="http://schemas.openxmlformats.org/drawingml/2006/main">
              <a:ext uri="{FF2B5EF4-FFF2-40B4-BE49-F238E27FC236}">
                <a16:creationId xmlns:a16="http://schemas.microsoft.com/office/drawing/2014/main" id="{F722E702-694E-45F3-B4F1-5B75E357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比较对象   /   双方都要指出的依据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EE6D363D-098D-45D3-9F52-0CB51A988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一个声称的命中</a:t>
            </a:r>
          </a:p>
        </p:txBody>
      </p:sp>
      <p:sp>
        <p:nvSpPr>
          <p:cNvPr id="5" name="row-value-0">
            <a:extLst xmlns:a="http://schemas.openxmlformats.org/drawingml/2006/main">
              <a:ext uri="{FF2B5EF4-FFF2-40B4-BE49-F238E27FC236}">
                <a16:creationId xmlns:a16="http://schemas.microsoft.com/office/drawing/2014/main" id="{68A2B430-09FE-4B20-9766-896809CDC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1455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它满足了哪几个概念组？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48CFCE3F-B3CA-4392-AE26-C7FEA1A2E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一个漏检</a:t>
            </a:r>
          </a:p>
        </p:txBody>
      </p:sp>
      <p:sp>
        <p:nvSpPr>
          <p:cNvPr id="7" name="row-value-1">
            <a:extLst xmlns:a="http://schemas.openxmlformats.org/drawingml/2006/main">
              <a:ext uri="{FF2B5EF4-FFF2-40B4-BE49-F238E27FC236}">
                <a16:creationId xmlns:a16="http://schemas.microsoft.com/office/drawing/2014/main" id="{173919BA-3392-4EBB-933F-DA1969604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7180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缺的是表达、字段还是检索分支？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E5B9F9D7-00C1-4D08-A223-AFA3D2D38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独立种子 S1</a:t>
            </a:r>
          </a:p>
        </p:txBody>
      </p:sp>
      <p:sp>
        <p:nvSpPr>
          <p:cNvPr id="9" name="row-value-2">
            <a:extLst xmlns:a="http://schemas.openxmlformats.org/drawingml/2006/main">
              <a:ext uri="{FF2B5EF4-FFF2-40B4-BE49-F238E27FC236}">
                <a16:creationId xmlns:a16="http://schemas.microsoft.com/office/drawing/2014/main" id="{0821AE3C-C038-4297-B401-E79566657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82905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它为何应该纳入覆盖检查？</a:t>
            </a:r>
          </a:p>
        </p:txBody>
      </p:sp>
      <p:sp>
        <p:nvSpPr>
          <p:cNvPr id="10" name="takeaway">
            <a:extLst xmlns:a="http://schemas.openxmlformats.org/drawingml/2006/main">
              <a:ext uri="{FF2B5EF4-FFF2-40B4-BE49-F238E27FC236}">
                <a16:creationId xmlns:a16="http://schemas.microsoft.com/office/drawing/2014/main" id="{2E2F4769-1810-48A2-995D-C6A3ECA2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先记录分歧，保留双方初始答案。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A8314BD7-598C-4A0B-BD85-3DDB591BD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E6D56576-B09C-40F7-8DF8-EF8B07CB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修订查询的比较依据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22A011B9-B637-41ED-A814-E2FEF2C03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每次改动都应对应一个具体缺口。</a:t>
            </a:r>
          </a:p>
        </p:txBody>
      </p:sp>
      <p:sp>
        <p:nvSpPr>
          <p:cNvPr id="3" name="columns-label">
            <a:extLst xmlns:a="http://schemas.openxmlformats.org/drawingml/2006/main">
              <a:ext uri="{FF2B5EF4-FFF2-40B4-BE49-F238E27FC236}">
                <a16:creationId xmlns:a16="http://schemas.microsoft.com/office/drawing/2014/main" id="{F03CDA0F-D6E1-40BB-8557-4CD7269F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修改动作   /   核对的变化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F3EADCC0-C888-42C4-84A8-53211F8D6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增加表达</a:t>
            </a:r>
          </a:p>
        </p:txBody>
      </p:sp>
      <p:sp>
        <p:nvSpPr>
          <p:cNvPr id="5" name="row-value-0">
            <a:extLst xmlns:a="http://schemas.openxmlformats.org/drawingml/2006/main">
              <a:ext uri="{FF2B5EF4-FFF2-40B4-BE49-F238E27FC236}">
                <a16:creationId xmlns:a16="http://schemas.microsoft.com/office/drawing/2014/main" id="{5593C29C-1BD1-41BF-8D42-E426B993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1455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新增相关项和新增误纳项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4CA5B22F-E253-408D-9089-3F6AF7F4F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改变字段</a:t>
            </a:r>
          </a:p>
        </p:txBody>
      </p:sp>
      <p:sp>
        <p:nvSpPr>
          <p:cNvPr id="7" name="row-value-1">
            <a:extLst xmlns:a="http://schemas.openxmlformats.org/drawingml/2006/main">
              <a:ext uri="{FF2B5EF4-FFF2-40B4-BE49-F238E27FC236}">
                <a16:creationId xmlns:a16="http://schemas.microsoft.com/office/drawing/2014/main" id="{38B1AD1F-8EC4-49D3-B8D0-D6F67730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7180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原词是否仅出现在其他字段？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0D2BF353-E8CF-4640-8F82-B3EE1B18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另跑查询</a:t>
            </a:r>
          </a:p>
        </p:txBody>
      </p:sp>
      <p:sp>
        <p:nvSpPr>
          <p:cNvPr id="9" name="row-value-2">
            <a:extLst xmlns:a="http://schemas.openxmlformats.org/drawingml/2006/main">
              <a:ext uri="{FF2B5EF4-FFF2-40B4-BE49-F238E27FC236}">
                <a16:creationId xmlns:a16="http://schemas.microsoft.com/office/drawing/2014/main" id="{739632B1-AF32-49F6-A7CD-D55BEB720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82905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该分支带来哪些独有命中？</a:t>
            </a:r>
          </a:p>
        </p:txBody>
      </p:sp>
      <p:sp>
        <p:nvSpPr>
          <p:cNvPr id="10" name="takeaway">
            <a:extLst xmlns:a="http://schemas.openxmlformats.org/drawingml/2006/main">
              <a:ext uri="{FF2B5EF4-FFF2-40B4-BE49-F238E27FC236}">
                <a16:creationId xmlns:a16="http://schemas.microsoft.com/office/drawing/2014/main" id="{E767F844-7C9C-403D-89DA-DB3B97191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记录“改了什么、观察到什么、还漏什么”。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3418F51B-7A15-465C-B284-ECE7A2B1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01F7E7EB-F379-4667-A8A2-850E495CA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重放 Q1：保存记录出现误报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BB44CC99-9886-4AF0-802A-D569C697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实际执行：title；paper AND reading AND card。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583602-5202-4409-894F-67381AF669FC}"/>
              </a:ext>
            </a:extLst>
          </p:cNvPr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28956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381250"/>
                <a:gridCol w="5334000"/>
                <a:gridCol w="314325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条目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逐组核对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判定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S5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含 paper、card；缺 reading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不命中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其余条目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均未同时满足三个概念组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不命中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实际结果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[]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 条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akeaway">
            <a:extLst xmlns:a="http://schemas.openxmlformats.org/drawingml/2006/main">
              <a:ext uri="{FF2B5EF4-FFF2-40B4-BE49-F238E27FC236}">
                <a16:creationId xmlns:a16="http://schemas.microsoft.com/office/drawing/2014/main" id="{26CAFDF4-B110-4B7C-BD09-4C71BBE3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先修复保存记录，再讨论检索式是否合适。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3AB82D14-F057-4A69-BD46-84BF258C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46AB5126-B0C5-4B56-A368-AA83F0FF8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重放 Q2：相关性与命中分开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094A3460-52D1-46BF-8E1A-99C0A29C3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实际执行：(paper OR reading) AND (card OR review)。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A6A416-AD96-431B-BD57-475B7B5976DC}"/>
              </a:ext>
            </a:extLst>
          </p:cNvPr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4290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381250"/>
                <a:gridCol w="5334000"/>
                <a:gridCol w="314325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条目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语义核对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S2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有 reviews，缺 paper / reading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不命中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S3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reading + cards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命中，教学阅读记录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S4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reading + cards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命中，硬件语义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S5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paper + card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命中，材料回收语义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4" name="takeaway">
            <a:extLst xmlns:a="http://schemas.openxmlformats.org/drawingml/2006/main">
              <a:ext uri="{FF2B5EF4-FFF2-40B4-BE49-F238E27FC236}">
                <a16:creationId xmlns:a16="http://schemas.microsoft.com/office/drawing/2014/main" id="{09B2E025-1DD0-4BCC-9550-4E4189EDF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实际结果为 S3、S4、S5；命中还需相关性筛选。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95CE7AB1-6AAC-487D-AADD-847D9A08D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887A6916-0BD6-422E-B13A-5C5C951F0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修订后的实际命中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4AD19B02-38BD-459A-BB21-BD1CD1DB1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相同本地索引，分别执行以下查询。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8E6EF3-4229-499F-83D7-8B52B50A35F6}"/>
              </a:ext>
            </a:extLst>
          </p:cNvPr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28956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714500"/>
                <a:gridCol w="6572250"/>
                <a:gridCol w="257175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字段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查询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实际结果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title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read AND paper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S1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keywords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read AND paper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S3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81280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title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(read OR reading) AND (paper OR card)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S1、S3、S4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akeaway">
            <a:extLst xmlns:a="http://schemas.openxmlformats.org/drawingml/2006/main">
              <a:ext uri="{FF2B5EF4-FFF2-40B4-BE49-F238E27FC236}">
                <a16:creationId xmlns:a16="http://schemas.microsoft.com/office/drawing/2014/main" id="{1C491CDF-08DC-4813-B9A3-184A385C5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扩大表达找回 S1，也可能带入硬件条目 S4。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EECFB8CE-95BA-4A0D-84C0-F8506011E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3FCE3ABB-C3A5-4526-A51A-AF2B3AB6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覆盖检查的证据与边界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63FEAD07-61A0-400D-B4BF-6B97603A5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找到独立种子，只说明修复了已知的一处缺口。</a:t>
            </a:r>
          </a:p>
        </p:txBody>
      </p:sp>
      <p:sp>
        <p:nvSpPr>
          <p:cNvPr id="3" name="columns-label">
            <a:extLst xmlns:a="http://schemas.openxmlformats.org/drawingml/2006/main">
              <a:ext uri="{FF2B5EF4-FFF2-40B4-BE49-F238E27FC236}">
                <a16:creationId xmlns:a16="http://schemas.microsoft.com/office/drawing/2014/main" id="{44BEE2A5-955B-4670-96CF-5CCBB4076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能检查的事   /   仍需补的事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D1E4B961-5747-40F1-8368-C75A520D0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S1 是否被查询找回</a:t>
            </a:r>
          </a:p>
        </p:txBody>
      </p:sp>
      <p:sp>
        <p:nvSpPr>
          <p:cNvPr id="5" name="row-value-0">
            <a:extLst xmlns:a="http://schemas.openxmlformats.org/drawingml/2006/main">
              <a:ext uri="{FF2B5EF4-FFF2-40B4-BE49-F238E27FC236}">
                <a16:creationId xmlns:a16="http://schemas.microsoft.com/office/drawing/2014/main" id="{522486CB-30B4-45CA-8988-3C1E03062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1455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其他已知相关来源是否遗漏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0384030E-37C2-49C7-9582-D429B709E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分支独有的相关项</a:t>
            </a:r>
          </a:p>
        </p:txBody>
      </p:sp>
      <p:sp>
        <p:nvSpPr>
          <p:cNvPr id="7" name="row-value-1">
            <a:extLst xmlns:a="http://schemas.openxmlformats.org/drawingml/2006/main">
              <a:ext uri="{FF2B5EF4-FFF2-40B4-BE49-F238E27FC236}">
                <a16:creationId xmlns:a16="http://schemas.microsoft.com/office/drawing/2014/main" id="{EF55DC88-7371-44FF-9B00-B677B4F1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7180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综述与参考文献追踪的新来源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287FF3BD-EAFA-4213-9D4F-059A830D5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哪些误纳被筛掉</a:t>
            </a:r>
          </a:p>
        </p:txBody>
      </p:sp>
      <p:sp>
        <p:nvSpPr>
          <p:cNvPr id="9" name="row-value-2">
            <a:extLst xmlns:a="http://schemas.openxmlformats.org/drawingml/2006/main">
              <a:ext uri="{FF2B5EF4-FFF2-40B4-BE49-F238E27FC236}">
                <a16:creationId xmlns:a16="http://schemas.microsoft.com/office/drawing/2014/main" id="{C28E0337-FF87-4C3B-B017-886D979E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82905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排除条件是否删去了反例</a:t>
            </a:r>
          </a:p>
        </p:txBody>
      </p:sp>
      <p:sp>
        <p:nvSpPr>
          <p:cNvPr id="10" name="takeaway">
            <a:extLst xmlns:a="http://schemas.openxmlformats.org/drawingml/2006/main">
              <a:ext uri="{FF2B5EF4-FFF2-40B4-BE49-F238E27FC236}">
                <a16:creationId xmlns:a16="http://schemas.microsoft.com/office/drawing/2014/main" id="{BCFCB2E2-55E3-4E22-9A5B-D436C4AA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逐步扩候选池；此时尚不能声称检索完整。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806C8776-C95C-43AD-9084-EA7FA6F2E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CFF4A494-F3E3-4B36-8EFC-2CDEB196A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本人查询：执行并保存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9DE4F55E-1E10-4733-850B-4B7A63CA3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用自己的问题修订查询；同题也要独立选择与验证。</a:t>
            </a:r>
          </a:p>
        </p:txBody>
      </p:sp>
      <p:sp>
        <p:nvSpPr>
          <p:cNvPr id="3" name="columns-label">
            <a:extLst xmlns:a="http://schemas.openxmlformats.org/drawingml/2006/main">
              <a:ext uri="{FF2B5EF4-FFF2-40B4-BE49-F238E27FC236}">
                <a16:creationId xmlns:a16="http://schemas.microsoft.com/office/drawing/2014/main" id="{B32D3E78-FD28-4920-B957-7BDFEA406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操作   /   留下什么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23500F02-8A80-49DB-BEE9-73E0DB3BD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选库与字段</a:t>
            </a:r>
          </a:p>
        </p:txBody>
      </p:sp>
      <p:sp>
        <p:nvSpPr>
          <p:cNvPr id="5" name="row-value-0">
            <a:extLst xmlns:a="http://schemas.openxmlformats.org/drawingml/2006/main">
              <a:ext uri="{FF2B5EF4-FFF2-40B4-BE49-F238E27FC236}">
                <a16:creationId xmlns:a16="http://schemas.microsoft.com/office/drawing/2014/main" id="{C6DFE7CC-CE5D-402E-AB3C-41BEF9116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1455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库、日期、匹配语义与限制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71179148-AB06-4FA5-AD82-9637109A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执行修订式</a:t>
            </a:r>
          </a:p>
        </p:txBody>
      </p:sp>
      <p:sp>
        <p:nvSpPr>
          <p:cNvPr id="7" name="row-value-1">
            <a:extLst xmlns:a="http://schemas.openxmlformats.org/drawingml/2006/main">
              <a:ext uri="{FF2B5EF4-FFF2-40B4-BE49-F238E27FC236}">
                <a16:creationId xmlns:a16="http://schemas.microsoft.com/office/drawing/2014/main" id="{A86CA4AE-48B8-40BD-AA8F-237FB84FA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7180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完整查询和原始返回结果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6E16D89F-DD31-4CAB-8D70-F25AA120A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记录初筛</a:t>
            </a:r>
          </a:p>
        </p:txBody>
      </p:sp>
      <p:sp>
        <p:nvSpPr>
          <p:cNvPr id="9" name="row-value-2">
            <a:extLst xmlns:a="http://schemas.openxmlformats.org/drawingml/2006/main">
              <a:ext uri="{FF2B5EF4-FFF2-40B4-BE49-F238E27FC236}">
                <a16:creationId xmlns:a16="http://schemas.microsoft.com/office/drawing/2014/main" id="{A51D9B5E-3D84-499E-A963-9592E4C1F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82905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纳入 / 排除理由，未决项标明缺证</a:t>
            </a:r>
          </a:p>
        </p:txBody>
      </p:sp>
      <p:sp>
        <p:nvSpPr>
          <p:cNvPr id="10" name="takeaway">
            <a:extLst xmlns:a="http://schemas.openxmlformats.org/drawingml/2006/main">
              <a:ext uri="{FF2B5EF4-FFF2-40B4-BE49-F238E27FC236}">
                <a16:creationId xmlns:a16="http://schemas.microsoft.com/office/drawing/2014/main" id="{B5E1325B-508D-4BB3-98F3-CF133D073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断网时使用本地索引执行；另用存档核验真实来源。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07A6E2B9-5366-4DAE-A113-776CBD34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30C03381-B67A-483B-A376-7EB7DA1B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本人结果：解释改动的作用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75EF0376-C2FF-4C75-8FA2-D554692BC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用结果对照说明选择，命中增加或减少都可能合理。</a:t>
            </a:r>
          </a:p>
        </p:txBody>
      </p:sp>
      <p:sp>
        <p:nvSpPr>
          <p:cNvPr id="3" name="columns-label">
            <a:extLst xmlns:a="http://schemas.openxmlformats.org/drawingml/2006/main">
              <a:ext uri="{FF2B5EF4-FFF2-40B4-BE49-F238E27FC236}">
                <a16:creationId xmlns:a16="http://schemas.microsoft.com/office/drawing/2014/main" id="{BE6A404E-730F-4C7F-9CAE-E2D53297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查询版本   /   结果变化   /   我的解释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E664F832-B760-44BA-9730-E38307800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原查询</a:t>
            </a:r>
          </a:p>
        </p:txBody>
      </p:sp>
      <p:sp>
        <p:nvSpPr>
          <p:cNvPr id="5" name="row-value-0">
            <a:extLst xmlns:a="http://schemas.openxmlformats.org/drawingml/2006/main">
              <a:ext uri="{FF2B5EF4-FFF2-40B4-BE49-F238E27FC236}">
                <a16:creationId xmlns:a16="http://schemas.microsoft.com/office/drawing/2014/main" id="{D4E2FE07-910C-46DA-B3F9-83C3A822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1455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保留原始命中；原先漏了什么？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B0253ADC-AEEA-4421-9BAF-4097E244A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修订查询</a:t>
            </a:r>
          </a:p>
        </p:txBody>
      </p:sp>
      <p:sp>
        <p:nvSpPr>
          <p:cNvPr id="7" name="row-value-1">
            <a:extLst xmlns:a="http://schemas.openxmlformats.org/drawingml/2006/main">
              <a:ext uri="{FF2B5EF4-FFF2-40B4-BE49-F238E27FC236}">
                <a16:creationId xmlns:a16="http://schemas.microsoft.com/office/drawing/2014/main" id="{BA8C99F0-2F7C-4163-89B9-400FE212A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7180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新增 / 消失的条目；哪个词或字段造成？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813D4D9C-6775-496B-BBFC-41E9504E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人工筛选</a:t>
            </a:r>
          </a:p>
        </p:txBody>
      </p:sp>
      <p:sp>
        <p:nvSpPr>
          <p:cNvPr id="9" name="row-value-2">
            <a:extLst xmlns:a="http://schemas.openxmlformats.org/drawingml/2006/main">
              <a:ext uri="{FF2B5EF4-FFF2-40B4-BE49-F238E27FC236}">
                <a16:creationId xmlns:a16="http://schemas.microsoft.com/office/drawing/2014/main" id="{8CFE6FE5-6017-4EF3-8736-8E03F07A6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82905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相关 / 不相关 / 待查；依据是哪段内容？</a:t>
            </a:r>
          </a:p>
        </p:txBody>
      </p:sp>
      <p:sp>
        <p:nvSpPr>
          <p:cNvPr id="10" name="takeaway">
            <a:extLst xmlns:a="http://schemas.openxmlformats.org/drawingml/2006/main">
              <a:ext uri="{FF2B5EF4-FFF2-40B4-BE49-F238E27FC236}">
                <a16:creationId xmlns:a16="http://schemas.microsoft.com/office/drawing/2014/main" id="{ED1BE7F6-ADDB-4699-9F90-E1C5EB63E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一个命中与一个漏检都能被同伴逐字重放。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53C576FC-478F-4284-A67A-E83E2AEDA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B873E862-72C5-448B-807F-26CB78463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第一条来源的入口核验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61FE025A-AD58-47F9-909B-DD0E2C04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身份一致后，继续核对准备使用的那条主张。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19BFBA-B896-4682-A7DF-608617AF91B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expImage2"/>
          <a:stretch xmlns:a="http://schemas.openxmlformats.org/drawingml/2006/main"/>
        </p:blipFill>
        <p:spPr>
          <a:xfrm xmlns:a="http://schemas.openxmlformats.org/drawingml/2006/main">
            <a:off x="666750" y="2280047"/>
            <a:ext cx="6762750" cy="2536031"/>
          </a:xfrm>
          <a:prstGeom xmlns:a="http://schemas.openxmlformats.org/drawingml/2006/main" prst="rect">
            <a:avLst/>
          </a:prstGeom>
        </p:spPr>
      </p:pic>
      <p:sp>
        <p:nvSpPr>
          <p:cNvPr id="4" name="evidence-label-0">
            <a:extLst xmlns:a="http://schemas.openxmlformats.org/drawingml/2006/main">
              <a:ext uri="{FF2B5EF4-FFF2-40B4-BE49-F238E27FC236}">
                <a16:creationId xmlns:a16="http://schemas.microsoft.com/office/drawing/2014/main" id="{2E76FA09-EFFC-4010-AF57-5AF36A8F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38325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身份</a:t>
            </a:r>
          </a:p>
        </p:txBody>
      </p:sp>
      <p:sp>
        <p:nvSpPr>
          <p:cNvPr id="5" name="evidence-explanation-0">
            <a:extLst xmlns:a="http://schemas.openxmlformats.org/drawingml/2006/main">
              <a:ext uri="{FF2B5EF4-FFF2-40B4-BE49-F238E27FC236}">
                <a16:creationId xmlns:a16="http://schemas.microsoft.com/office/drawing/2014/main" id="{5D8FEFE5-147C-46A0-8914-DDFDB30B0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62175"/>
            <a:ext cx="3714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题名、作者、年份、正式来源与 DOI / 稳定标识</a:t>
            </a:r>
          </a:p>
        </p:txBody>
      </p:sp>
      <p:sp>
        <p:nvSpPr>
          <p:cNvPr id="6" name="evidence-label-1">
            <a:extLst xmlns:a="http://schemas.openxmlformats.org/drawingml/2006/main">
              <a:ext uri="{FF2B5EF4-FFF2-40B4-BE49-F238E27FC236}">
                <a16:creationId xmlns:a16="http://schemas.microsoft.com/office/drawing/2014/main" id="{0FCD7EF0-CCDB-41E6-A80F-E88D593C6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33675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拟用主张</a:t>
            </a:r>
          </a:p>
        </p:txBody>
      </p:sp>
      <p:sp>
        <p:nvSpPr>
          <p:cNvPr id="7" name="evidence-explanation-1">
            <a:extLst xmlns:a="http://schemas.openxmlformats.org/drawingml/2006/main">
              <a:ext uri="{FF2B5EF4-FFF2-40B4-BE49-F238E27FC236}">
                <a16:creationId xmlns:a16="http://schemas.microsoft.com/office/drawing/2014/main" id="{903A7A4F-A4DF-4063-A123-85069F70A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57525"/>
            <a:ext cx="3714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准备用这篇材料支持什么？</a:t>
            </a:r>
          </a:p>
        </p:txBody>
      </p:sp>
      <p:sp>
        <p:nvSpPr>
          <p:cNvPr id="8" name="evidence-label-2">
            <a:extLst xmlns:a="http://schemas.openxmlformats.org/drawingml/2006/main">
              <a:ext uri="{FF2B5EF4-FFF2-40B4-BE49-F238E27FC236}">
                <a16:creationId xmlns:a16="http://schemas.microsoft.com/office/drawing/2014/main" id="{9758172B-C79C-4B0C-B4B5-6CB237B48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629025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原文位置</a:t>
            </a:r>
          </a:p>
        </p:txBody>
      </p:sp>
      <p:sp>
        <p:nvSpPr>
          <p:cNvPr id="9" name="evidence-explanation-2">
            <a:extLst xmlns:a="http://schemas.openxmlformats.org/drawingml/2006/main">
              <a:ext uri="{FF2B5EF4-FFF2-40B4-BE49-F238E27FC236}">
                <a16:creationId xmlns:a16="http://schemas.microsoft.com/office/drawing/2014/main" id="{5A6BB4D2-76AB-48A1-8E4C-AEC8D1F5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952875"/>
            <a:ext cx="3714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章节、页码、图表及对应措辞</a:t>
            </a:r>
          </a:p>
        </p:txBody>
      </p:sp>
      <p:sp>
        <p:nvSpPr>
          <p:cNvPr id="10" name="evidence-label-3">
            <a:extLst xmlns:a="http://schemas.openxmlformats.org/drawingml/2006/main">
              <a:ext uri="{FF2B5EF4-FFF2-40B4-BE49-F238E27FC236}">
                <a16:creationId xmlns:a16="http://schemas.microsoft.com/office/drawing/2014/main" id="{BF5D619D-88A5-4F29-BAEC-A2C60F054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524375"/>
            <a:ext cx="371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审计结果</a:t>
            </a:r>
          </a:p>
        </p:txBody>
      </p:sp>
      <p:sp>
        <p:nvSpPr>
          <p:cNvPr id="11" name="evidence-explanation-3">
            <a:extLst xmlns:a="http://schemas.openxmlformats.org/drawingml/2006/main">
              <a:ext uri="{FF2B5EF4-FFF2-40B4-BE49-F238E27FC236}">
                <a16:creationId xmlns:a16="http://schemas.microsoft.com/office/drawing/2014/main" id="{79C24FAB-AAFE-4F09-B7F6-B604A28F2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848225"/>
            <a:ext cx="3714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核验状态、允许用法、仍缺的证据</a:t>
            </a:r>
          </a:p>
        </p:txBody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42FD5AEF-98AF-40D8-BD28-6BDB67FE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4 课围绕这条主张深入核验指标、对照和局限。</a:t>
            </a:r>
          </a:p>
        </p:txBody>
      </p:sp>
      <p:sp>
        <p:nvSpPr>
          <p:cNvPr id="13" name="source">
            <a:extLst xmlns:a="http://schemas.openxmlformats.org/drawingml/2006/main">
              <a:ext uri="{FF2B5EF4-FFF2-40B4-BE49-F238E27FC236}">
                <a16:creationId xmlns:a16="http://schemas.microsoft.com/office/drawing/2014/main" id="{E03D39E2-F357-4A09-878E-1AD963A0F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91275"/>
            <a:ext cx="10382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Keshav 2007 p.83 §2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BB3EF64F-CE86-4A4D-8D4D-F0ED96A49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4CF5DDCD-4ACE-4162-B8EF-FB5524BA3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MI 错引：标识符指向哪篇论文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27E95D00-4204-4843-8240-1FD8A4CCD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教师真实历史 trace，非本次学生运行。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DBB220-23D5-490B-BA61-7388D5E6F7C0}"/>
              </a:ext>
            </a:extLst>
          </p:cNvPr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21717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80010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记录中的对应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正式来源返回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2308.10939 = Attribution Patching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Superconductor-altermagnet memory functionality without stray fields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预期主题：解释性方法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实际主题：超导与交错磁体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4" name="takeaway">
            <a:extLst xmlns:a="http://schemas.openxmlformats.org/drawingml/2006/main">
              <a:ext uri="{FF2B5EF4-FFF2-40B4-BE49-F238E27FC236}">
                <a16:creationId xmlns:a16="http://schemas.microsoft.com/office/drawing/2014/main" id="{C154B358-D3A5-4439-8FE4-7B5156A76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标识符存在，仍可能与记忆题名不匹配。</a:t>
            </a:r>
          </a:p>
        </p:txBody>
      </p:sp>
      <p:sp>
        <p:nvSpPr>
          <p:cNvPr id="5" name="source">
            <a:extLst xmlns:a="http://schemas.openxmlformats.org/drawingml/2006/main">
              <a:ext uri="{FF2B5EF4-FFF2-40B4-BE49-F238E27FC236}">
                <a16:creationId xmlns:a16="http://schemas.microsoft.com/office/drawing/2014/main" id="{91FB37C4-B93E-444E-B54D-D75CE10D9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91275"/>
            <a:ext cx="10382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https://arxiv.org/abs/2308.10939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743E761C-6971-4E2E-9435-4B59EF90F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D94EAE6C-FB57-4E76-A0E0-1D141143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身份错误、内容不符与网络故障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59937584-A1ED-449A-B619-40E4B2FD3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先确定失败对象，再给状态和下一步。</a:t>
            </a:r>
          </a:p>
        </p:txBody>
      </p:sp>
      <p:sp>
        <p:nvSpPr>
          <p:cNvPr id="3" name="columns-label">
            <a:extLst xmlns:a="http://schemas.openxmlformats.org/drawingml/2006/main">
              <a:ext uri="{FF2B5EF4-FFF2-40B4-BE49-F238E27FC236}">
                <a16:creationId xmlns:a16="http://schemas.microsoft.com/office/drawing/2014/main" id="{6F1CC896-28C1-4899-9624-6E5CA200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观察   /   记录与动作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5C87004E-E369-400D-836F-947800E9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标识符返回另一题名</a:t>
            </a:r>
          </a:p>
        </p:txBody>
      </p:sp>
      <p:sp>
        <p:nvSpPr>
          <p:cNvPr id="5" name="row-value-0">
            <a:extLst xmlns:a="http://schemas.openxmlformats.org/drawingml/2006/main">
              <a:ext uri="{FF2B5EF4-FFF2-40B4-BE49-F238E27FC236}">
                <a16:creationId xmlns:a16="http://schemas.microsoft.com/office/drawing/2014/main" id="{D9856577-3E1B-4572-B2EF-F9866E8C7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14550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原对应 rejected，保留审计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1C745EA0-0FAE-4331-B256-756C7250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9894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身份正确，拟用主张不符</a:t>
            </a:r>
          </a:p>
        </p:txBody>
      </p:sp>
      <p:sp>
        <p:nvSpPr>
          <p:cNvPr id="7" name="row-value-1">
            <a:extLst xmlns:a="http://schemas.openxmlformats.org/drawingml/2006/main">
              <a:ext uri="{FF2B5EF4-FFF2-40B4-BE49-F238E27FC236}">
                <a16:creationId xmlns:a16="http://schemas.microsoft.com/office/drawing/2014/main" id="{71639BFD-36B9-4A0E-ADC3-749CBB4BD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59894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拒绝该用法；重新提出并核验收窄主张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DCEBE576-AB3F-4560-B2BF-EF2E05352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5238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超时或限流</a:t>
            </a:r>
          </a:p>
        </p:txBody>
      </p:sp>
      <p:sp>
        <p:nvSpPr>
          <p:cNvPr id="9" name="row-value-2">
            <a:extLst xmlns:a="http://schemas.openxmlformats.org/drawingml/2006/main">
              <a:ext uri="{FF2B5EF4-FFF2-40B4-BE49-F238E27FC236}">
                <a16:creationId xmlns:a16="http://schemas.microsoft.com/office/drawing/2014/main" id="{2E059DDD-D391-40BB-91C9-16E2D8D7A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805238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pending，记录未核项与恢复入口</a:t>
            </a:r>
          </a:p>
        </p:txBody>
      </p:sp>
      <p:sp>
        <p:nvSpPr>
          <p:cNvPr id="10" name="row-label-3">
            <a:extLst xmlns:a="http://schemas.openxmlformats.org/drawingml/2006/main">
              <a:ext uri="{FF2B5EF4-FFF2-40B4-BE49-F238E27FC236}">
                <a16:creationId xmlns:a16="http://schemas.microsoft.com/office/drawing/2014/main" id="{BE4E381C-875A-454C-8979-0570C67A1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50581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两条均核验通过</a:t>
            </a:r>
          </a:p>
        </p:txBody>
      </p:sp>
      <p:sp>
        <p:nvSpPr>
          <p:cNvPr id="11" name="row-value-3">
            <a:extLst xmlns:a="http://schemas.openxmlformats.org/drawingml/2006/main">
              <a:ext uri="{FF2B5EF4-FFF2-40B4-BE49-F238E27FC236}">
                <a16:creationId xmlns:a16="http://schemas.microsoft.com/office/drawing/2014/main" id="{0112CF1F-D1D6-45CC-9158-C2A1C3DCD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50581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照实记录，不要求制造失败</a:t>
            </a:r>
          </a:p>
        </p:txBody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DCC2358B-515F-4AD4-A359-B955699BF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rejected 针对错误来源对应或拟用主张，不抹掉原始记录。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576277C6-A528-445C-AE9B-B5A4C7990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E41E8C3B-FE70-4330-842E-FE03C28A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错引恢复后的记录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C313146D-01CC-4C88-BA48-3F41D0210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历史题名检索恢复到 arXiv:2310.10348。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64676FA-3DA8-4DAA-8264-65B939C4FC38}"/>
              </a:ext>
            </a:extLst>
          </p:cNvPr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4290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80010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字段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恢复记录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正确题名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Attribution Patching Outperforms Automated Circuit Discovery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作者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Aaquib Syed、Can Rager、Arthur Conmy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旧对应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2308.10939，保留 rejected 审计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新线索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身份已核；拟用主张未核时仍为 pending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</a:tbl>
          </a:graphicData>
        </a:graphic>
      </p:graphicFrame>
      <p:sp>
        <p:nvSpPr>
          <p:cNvPr id="4" name="takeaway">
            <a:extLst xmlns:a="http://schemas.openxmlformats.org/drawingml/2006/main">
              <a:ext uri="{FF2B5EF4-FFF2-40B4-BE49-F238E27FC236}">
                <a16:creationId xmlns:a16="http://schemas.microsoft.com/office/drawing/2014/main" id="{B5AD870E-8D28-485F-A2F6-8A216A4C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身份恢复后继续读原文，才能确定证据角色。</a:t>
            </a:r>
          </a:p>
        </p:txBody>
      </p:sp>
      <p:sp>
        <p:nvSpPr>
          <p:cNvPr id="5" name="source">
            <a:extLst xmlns:a="http://schemas.openxmlformats.org/drawingml/2006/main">
              <a:ext uri="{FF2B5EF4-FFF2-40B4-BE49-F238E27FC236}">
                <a16:creationId xmlns:a16="http://schemas.microsoft.com/office/drawing/2014/main" id="{E9FE60C2-15CC-4AED-BB6F-C1D58309C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91275"/>
            <a:ext cx="10382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https://arxiv.org/abs/2310.10348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EFADC6AE-3151-4886-A299-7B116C29A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D3400DC0-0377-46CD-909D-2F44E48F4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第二条审计与候选池分区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9AB9D2DB-ACEF-442C-BF56-8667CFC69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对第二条真实线索重复入口核验，补足不同状态的处理。</a:t>
            </a:r>
          </a:p>
        </p:txBody>
      </p:sp>
      <p:sp>
        <p:nvSpPr>
          <p:cNvPr id="3" name="columns-label">
            <a:extLst xmlns:a="http://schemas.openxmlformats.org/drawingml/2006/main">
              <a:ext uri="{FF2B5EF4-FFF2-40B4-BE49-F238E27FC236}">
                <a16:creationId xmlns:a16="http://schemas.microsoft.com/office/drawing/2014/main" id="{96B31194-4F81-42F0-80C5-7824AD0F1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状态   /   保留位置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E9895F37-9A77-4285-B458-CD754DCE8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pending</a:t>
            </a:r>
          </a:p>
        </p:txBody>
      </p:sp>
      <p:sp>
        <p:nvSpPr>
          <p:cNvPr id="5" name="row-value-0">
            <a:extLst xmlns:a="http://schemas.openxmlformats.org/drawingml/2006/main">
              <a:ext uri="{FF2B5EF4-FFF2-40B4-BE49-F238E27FC236}">
                <a16:creationId xmlns:a16="http://schemas.microsoft.com/office/drawing/2014/main" id="{F7F54B51-07C7-4439-A153-351F1815D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14550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候选表线索区，列出缺证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60412C3A-5502-4F0F-A7FF-A4B5BA0D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9894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verified</a:t>
            </a:r>
          </a:p>
        </p:txBody>
      </p:sp>
      <p:sp>
        <p:nvSpPr>
          <p:cNvPr id="7" name="row-value-1">
            <a:extLst xmlns:a="http://schemas.openxmlformats.org/drawingml/2006/main">
              <a:ext uri="{FF2B5EF4-FFF2-40B4-BE49-F238E27FC236}">
                <a16:creationId xmlns:a16="http://schemas.microsoft.com/office/drawing/2014/main" id="{078F4AF0-94F7-4F0F-9020-FAEA5EE3A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59894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可进入候选表与证据主格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6068BEC2-91DB-405A-A238-BF0276CDF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5238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verified-with-caveat</a:t>
            </a:r>
          </a:p>
        </p:txBody>
      </p:sp>
      <p:sp>
        <p:nvSpPr>
          <p:cNvPr id="9" name="row-value-2">
            <a:extLst xmlns:a="http://schemas.openxmlformats.org/drawingml/2006/main">
              <a:ext uri="{FF2B5EF4-FFF2-40B4-BE49-F238E27FC236}">
                <a16:creationId xmlns:a16="http://schemas.microsoft.com/office/drawing/2014/main" id="{53C360A5-1249-4005-A64D-A87335EE8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805238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随条目保留限定与原文位置</a:t>
            </a:r>
          </a:p>
        </p:txBody>
      </p:sp>
      <p:sp>
        <p:nvSpPr>
          <p:cNvPr id="10" name="row-label-3">
            <a:extLst xmlns:a="http://schemas.openxmlformats.org/drawingml/2006/main">
              <a:ext uri="{FF2B5EF4-FFF2-40B4-BE49-F238E27FC236}">
                <a16:creationId xmlns:a16="http://schemas.microsoft.com/office/drawing/2014/main" id="{2EF22213-28BD-4605-A1D7-5C2CDFD22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50581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rejected</a:t>
            </a:r>
          </a:p>
        </p:txBody>
      </p:sp>
      <p:sp>
        <p:nvSpPr>
          <p:cNvPr id="11" name="row-value-3">
            <a:extLst xmlns:a="http://schemas.openxmlformats.org/drawingml/2006/main">
              <a:ext uri="{FF2B5EF4-FFF2-40B4-BE49-F238E27FC236}">
                <a16:creationId xmlns:a16="http://schemas.microsoft.com/office/drawing/2014/main" id="{BCA1A7CD-ED82-4616-ABEE-97CEA1678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50581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只保留审计记录</a:t>
            </a:r>
          </a:p>
        </p:txBody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82AE23C4-439A-4F63-BDF7-CACE32F8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带限定条目可用；单条证据不足以独自支持 stable 结论。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DA467790-8C7A-428A-B78A-329BCCCA9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549CFB11-44BE-448E-A250-C7750604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同一条目有角色、状态和决定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3E9CA5B9-8E50-4F47-A368-D3744A092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以 Keshav 对“阅读卡降低遗漏率”这个问题的作用为例。</a:t>
            </a:r>
          </a:p>
        </p:txBody>
      </p:sp>
      <p:sp>
        <p:nvSpPr>
          <p:cNvPr id="3" name="columns-label">
            <a:extLst xmlns:a="http://schemas.openxmlformats.org/drawingml/2006/main">
              <a:ext uri="{FF2B5EF4-FFF2-40B4-BE49-F238E27FC236}">
                <a16:creationId xmlns:a16="http://schemas.microsoft.com/office/drawing/2014/main" id="{0553DA76-96BA-42BA-B507-5B6CA3723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维度   /   示例值   /   它回答什么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D1E2F40D-21AA-4D54-8242-172F42F5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角色</a:t>
            </a:r>
          </a:p>
        </p:txBody>
      </p:sp>
      <p:sp>
        <p:nvSpPr>
          <p:cNvPr id="5" name="row-value-0">
            <a:extLst xmlns:a="http://schemas.openxmlformats.org/drawingml/2006/main">
              <a:ext uri="{FF2B5EF4-FFF2-40B4-BE49-F238E27FC236}">
                <a16:creationId xmlns:a16="http://schemas.microsoft.com/office/drawing/2014/main" id="{5C7360F9-A862-4EDE-A09E-9F69CC8DF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1455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探索线索；帮助设计阅读方法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950ABF35-F549-4C3D-9B3C-EA4DFD20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核验状态</a:t>
            </a:r>
          </a:p>
        </p:txBody>
      </p:sp>
      <p:sp>
        <p:nvSpPr>
          <p:cNvPr id="7" name="row-value-1">
            <a:extLst xmlns:a="http://schemas.openxmlformats.org/drawingml/2006/main">
              <a:ext uri="{FF2B5EF4-FFF2-40B4-BE49-F238E27FC236}">
                <a16:creationId xmlns:a16="http://schemas.microsoft.com/office/drawing/2014/main" id="{BC71E277-9CC5-498C-999D-EA54A8E3C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7180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verified-with-caveat；三遍法与原文一致，效果未获实验支持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18C9C712-A508-43DA-B0E4-6DB9EB679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筛选决定</a:t>
            </a:r>
          </a:p>
        </p:txBody>
      </p:sp>
      <p:sp>
        <p:nvSpPr>
          <p:cNvPr id="9" name="row-value-2">
            <a:extLst xmlns:a="http://schemas.openxmlformats.org/drawingml/2006/main">
              <a:ext uri="{FF2B5EF4-FFF2-40B4-BE49-F238E27FC236}">
                <a16:creationId xmlns:a16="http://schemas.microsoft.com/office/drawing/2014/main" id="{DC2F21C3-105B-409E-B533-3C7A41467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82905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纳入方法线索区；保留它用于流程设计</a:t>
            </a:r>
          </a:p>
        </p:txBody>
      </p:sp>
      <p:sp>
        <p:nvSpPr>
          <p:cNvPr id="10" name="takeaway">
            <a:extLst xmlns:a="http://schemas.openxmlformats.org/drawingml/2006/main">
              <a:ext uri="{FF2B5EF4-FFF2-40B4-BE49-F238E27FC236}">
                <a16:creationId xmlns:a16="http://schemas.microsoft.com/office/drawing/2014/main" id="{3102CA31-53D0-470C-BB42-0C0BA1A10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 / 补充 / 对比 / 探索，均相对于当前问题判断。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59AACEF6-C2D4-43A6-B0DF-34C05A97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355C92D2-CCF5-44D4-81A1-D360F357E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一条可进入候选表的记录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654E1341-4545-4F3F-8C45-28B5B7220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真实书目与课程拟用主张分开填写。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1F6AE2-A41D-4BD7-AEA9-D470A3DA0D4C}"/>
              </a:ext>
            </a:extLst>
          </p:cNvPr>
          <p:cNvGraphicFramePr/>
          <p:nvPr/>
        </p:nvGraphicFramePr>
        <p:xfrm>
          <a:off xmlns:a="http://schemas.openxmlformats.org/drawingml/2006/main" x="666750" y="1809750"/>
          <a:ext xmlns:a="http://schemas.openxmlformats.org/drawingml/2006/main" cx="10858500" cy="34861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857500"/>
                <a:gridCol w="80010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字段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Keshav 示例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T w="6668">
                      <a:solidFill>
                        <a:srgbClr val="D8DFE5"/>
                      </a:solidFill>
                      <a:prstDash val="solid"/>
                    </a:lnT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1F4D78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身份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S. Keshav，2007，How to Read a Paper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来源与标识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ACM SIGCOMM CCR 37(3), 83–84；10.1145/1273445.1273458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拟用主张与位置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提出三遍阅读法；p.83 §2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角色 / 状态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探索线索；verified-with-caveat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3F5F7"/>
                    </a:solidFill>
                  </a:tcPr>
                </a:tc>
              </a:tr>
              <a:tr h="60579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决定 / 限定</a:t>
                      </a:r>
                    </a:p>
                  </a:txBody>
                  <a:tcPr marL="114300" marR="114300" marT="76200" marB="76200" anchor="ctr">
                    <a:lnL w="6668">
                      <a:solidFill>
                        <a:srgbClr val="D8DFE5"/>
                      </a:solidFill>
                      <a:prstDash val="solid"/>
                    </a:lnL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263746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纳入方法设计；效率与遗漏率效果待独立证据</a:t>
                      </a:r>
                    </a:p>
                  </a:txBody>
                  <a:tcPr marL="114300" marR="114300" marT="76200" marB="76200" anchor="ctr">
                    <a:lnR w="6668">
                      <a:solidFill>
                        <a:srgbClr val="D8DFE5"/>
                      </a:solidFill>
                      <a:prstDash val="solid"/>
                    </a:lnR>
                    <a:lnB w="6668">
                      <a:solidFill>
                        <a:srgbClr val="D8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akeaway">
            <a:extLst xmlns:a="http://schemas.openxmlformats.org/drawingml/2006/main">
              <a:ext uri="{FF2B5EF4-FFF2-40B4-BE49-F238E27FC236}">
                <a16:creationId xmlns:a16="http://schemas.microsoft.com/office/drawing/2014/main" id="{4357B3AC-5E0A-41A8-B607-5F93F039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进入候选表的依据必须可以反查到原文。</a:t>
            </a:r>
          </a:p>
        </p:txBody>
      </p:sp>
      <p:sp>
        <p:nvSpPr>
          <p:cNvPr id="5" name="source">
            <a:extLst xmlns:a="http://schemas.openxmlformats.org/drawingml/2006/main">
              <a:ext uri="{FF2B5EF4-FFF2-40B4-BE49-F238E27FC236}">
                <a16:creationId xmlns:a16="http://schemas.microsoft.com/office/drawing/2014/main" id="{F42E3A65-145F-4AEF-B930-F263FE9A5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91275"/>
            <a:ext cx="103822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https://doi.org/10.1145/1273445.1273458</a:t>
            </a:r>
          </a:p>
        </p:txBody>
      </p:sp>
      <p:sp>
        <p:nvSpPr>
          <p:cNvPr id="6" name="page">
            <a:extLst xmlns:a="http://schemas.openxmlformats.org/drawingml/2006/main">
              <a:ext uri="{FF2B5EF4-FFF2-40B4-BE49-F238E27FC236}">
                <a16:creationId xmlns:a16="http://schemas.microsoft.com/office/drawing/2014/main" id="{F3FEDEDD-E0EE-4054-B310-DB44B9860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C1457FA8-4028-4400-AC18-3FF5BCF43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回写到同一份检索笔记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60FCB634-A6AC-47D6-BFA5-E98BB1F67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notes/literature-search.md 中保留过程与决定。</a:t>
            </a:r>
          </a:p>
        </p:txBody>
      </p:sp>
      <p:sp>
        <p:nvSpPr>
          <p:cNvPr id="3" name="columns-label">
            <a:extLst xmlns:a="http://schemas.openxmlformats.org/drawingml/2006/main">
              <a:ext uri="{FF2B5EF4-FFF2-40B4-BE49-F238E27FC236}">
                <a16:creationId xmlns:a16="http://schemas.microsoft.com/office/drawing/2014/main" id="{682C514B-0432-4467-9E42-AB8E43A33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区块   /   完成内容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E41EFF26-8079-48CD-B3A6-C42941C5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2571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问题与查询</a:t>
            </a:r>
          </a:p>
        </p:txBody>
      </p:sp>
      <p:sp>
        <p:nvSpPr>
          <p:cNvPr id="5" name="row-value-0">
            <a:extLst xmlns:a="http://schemas.openxmlformats.org/drawingml/2006/main">
              <a:ext uri="{FF2B5EF4-FFF2-40B4-BE49-F238E27FC236}">
                <a16:creationId xmlns:a16="http://schemas.microsoft.com/office/drawing/2014/main" id="{ACBCC29E-FD6E-41E0-899C-36722DC6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14550"/>
            <a:ext cx="8048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当前问题、查询版本、字段、日期、原始输出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F0ED0427-68F8-4B9B-9A9E-14B6E04D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90825"/>
            <a:ext cx="2571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筛选记录</a:t>
            </a:r>
          </a:p>
        </p:txBody>
      </p:sp>
      <p:sp>
        <p:nvSpPr>
          <p:cNvPr id="7" name="row-value-1">
            <a:extLst xmlns:a="http://schemas.openxmlformats.org/drawingml/2006/main">
              <a:ext uri="{FF2B5EF4-FFF2-40B4-BE49-F238E27FC236}">
                <a16:creationId xmlns:a16="http://schemas.microsoft.com/office/drawing/2014/main" id="{1531B871-B343-468E-AAE2-58B56F470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790825"/>
            <a:ext cx="8048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相关性理由、纳入排除条件及调整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11B84DB4-48DA-4EF4-9A0E-2936CD0D4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67100"/>
            <a:ext cx="2571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来源审计</a:t>
            </a:r>
          </a:p>
        </p:txBody>
      </p:sp>
      <p:sp>
        <p:nvSpPr>
          <p:cNvPr id="9" name="row-value-2">
            <a:extLst xmlns:a="http://schemas.openxmlformats.org/drawingml/2006/main">
              <a:ext uri="{FF2B5EF4-FFF2-40B4-BE49-F238E27FC236}">
                <a16:creationId xmlns:a16="http://schemas.microsoft.com/office/drawing/2014/main" id="{27DD1AA2-0FBE-47FD-8661-69E5CC83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467100"/>
            <a:ext cx="8048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两条真实来源的身份、主张、位置与状态</a:t>
            </a:r>
          </a:p>
        </p:txBody>
      </p:sp>
      <p:sp>
        <p:nvSpPr>
          <p:cNvPr id="10" name="row-label-3">
            <a:extLst xmlns:a="http://schemas.openxmlformats.org/drawingml/2006/main">
              <a:ext uri="{FF2B5EF4-FFF2-40B4-BE49-F238E27FC236}">
                <a16:creationId xmlns:a16="http://schemas.microsoft.com/office/drawing/2014/main" id="{42CF778C-31C7-4E64-BD57-2A5A4CFE3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43375"/>
            <a:ext cx="2571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候选起始表</a:t>
            </a:r>
          </a:p>
        </p:txBody>
      </p:sp>
      <p:sp>
        <p:nvSpPr>
          <p:cNvPr id="11" name="row-value-3">
            <a:extLst xmlns:a="http://schemas.openxmlformats.org/drawingml/2006/main">
              <a:ext uri="{FF2B5EF4-FFF2-40B4-BE49-F238E27FC236}">
                <a16:creationId xmlns:a16="http://schemas.microsoft.com/office/drawing/2014/main" id="{74982B5C-71B0-4809-A562-B5984339C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143375"/>
            <a:ext cx="8048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至少一条可用候选及其角色、限定、决定</a:t>
            </a:r>
          </a:p>
        </p:txBody>
      </p:sp>
      <p:sp>
        <p:nvSpPr>
          <p:cNvPr id="12" name="row-label-4">
            <a:extLst xmlns:a="http://schemas.openxmlformats.org/drawingml/2006/main">
              <a:ext uri="{FF2B5EF4-FFF2-40B4-BE49-F238E27FC236}">
                <a16:creationId xmlns:a16="http://schemas.microsoft.com/office/drawing/2014/main" id="{D3DE1BB0-3D40-4A42-8979-FDE68308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2571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与移交</a:t>
            </a:r>
          </a:p>
        </p:txBody>
      </p:sp>
      <p:sp>
        <p:nvSpPr>
          <p:cNvPr id="13" name="row-value-4">
            <a:extLst xmlns:a="http://schemas.openxmlformats.org/drawingml/2006/main">
              <a:ext uri="{FF2B5EF4-FFF2-40B4-BE49-F238E27FC236}">
                <a16:creationId xmlns:a16="http://schemas.microsoft.com/office/drawing/2014/main" id="{24B0ED57-20C7-4A75-AF95-A17F6946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819650"/>
            <a:ext cx="8048625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AI 使用记录链接；第 4 课待深入核验项</a:t>
            </a:r>
          </a:p>
        </p:txBody>
      </p:sp>
      <p:sp>
        <p:nvSpPr>
          <p:cNvPr id="14" name="takeaway">
            <a:extLst xmlns:a="http://schemas.openxmlformats.org/drawingml/2006/main">
              <a:ext uri="{FF2B5EF4-FFF2-40B4-BE49-F238E27FC236}">
                <a16:creationId xmlns:a16="http://schemas.microsoft.com/office/drawing/2014/main" id="{A83F9CBF-30A6-4E6F-8B02-BD224D43B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保留原始查询和修订结果，避免只留下最后的清单。</a:t>
            </a:r>
          </a:p>
        </p:txBody>
      </p:sp>
      <p:sp>
        <p:nvSpPr>
          <p:cNvPr id="16" name="page">
            <a:extLst xmlns:a="http://schemas.openxmlformats.org/drawingml/2006/main">
              <a:ext uri="{FF2B5EF4-FFF2-40B4-BE49-F238E27FC236}">
                <a16:creationId xmlns:a16="http://schemas.microsoft.com/office/drawing/2014/main" id="{6B58EB43-2094-47F7-A449-1332BAEBE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DC580B4C-8E95-4CF2-9FC6-EC6BF8710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同伴重放一条查询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7485F7C7-31CD-49D9-87AD-D0311AC18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作者展示记录，同伴按原语义执行。</a:t>
            </a:r>
          </a:p>
        </p:txBody>
      </p:sp>
      <p:sp>
        <p:nvSpPr>
          <p:cNvPr id="3" name="columns-label">
            <a:extLst xmlns:a="http://schemas.openxmlformats.org/drawingml/2006/main">
              <a:ext uri="{FF2B5EF4-FFF2-40B4-BE49-F238E27FC236}">
                <a16:creationId xmlns:a16="http://schemas.microsoft.com/office/drawing/2014/main" id="{B63F3D99-F556-4690-A56B-570D47E8F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核对顺序   /   观察什么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DC556575-FB25-4C7C-9B9E-41273DFA9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库 / 字段 / 语法</a:t>
            </a:r>
          </a:p>
        </p:txBody>
      </p:sp>
      <p:sp>
        <p:nvSpPr>
          <p:cNvPr id="5" name="row-value-0">
            <a:extLst xmlns:a="http://schemas.openxmlformats.org/drawingml/2006/main">
              <a:ext uri="{FF2B5EF4-FFF2-40B4-BE49-F238E27FC236}">
                <a16:creationId xmlns:a16="http://schemas.microsoft.com/office/drawing/2014/main" id="{0D33FEE8-35EC-4B1C-84BF-A1CF944FC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14550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是否与记录一致？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6AA87CEA-5F59-475D-AB96-B5B77A74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9894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一个命中</a:t>
            </a:r>
          </a:p>
        </p:txBody>
      </p:sp>
      <p:sp>
        <p:nvSpPr>
          <p:cNvPr id="7" name="row-value-1">
            <a:extLst xmlns:a="http://schemas.openxmlformats.org/drawingml/2006/main">
              <a:ext uri="{FF2B5EF4-FFF2-40B4-BE49-F238E27FC236}">
                <a16:creationId xmlns:a16="http://schemas.microsoft.com/office/drawing/2014/main" id="{FE1753E9-9064-4D07-9B7B-B12BAFA7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59894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哪个字段满足各概念组？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5878B0F9-46C3-44F1-9DD9-6AB949F3A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5238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一个漏检</a:t>
            </a:r>
          </a:p>
        </p:txBody>
      </p:sp>
      <p:sp>
        <p:nvSpPr>
          <p:cNvPr id="9" name="row-value-2">
            <a:extLst xmlns:a="http://schemas.openxmlformats.org/drawingml/2006/main">
              <a:ext uri="{FF2B5EF4-FFF2-40B4-BE49-F238E27FC236}">
                <a16:creationId xmlns:a16="http://schemas.microsoft.com/office/drawing/2014/main" id="{ACE0E20F-AC7D-4FFD-9E92-C6D7895F2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805238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遗漏来自词、字段还是筛选？</a:t>
            </a:r>
          </a:p>
        </p:txBody>
      </p:sp>
      <p:sp>
        <p:nvSpPr>
          <p:cNvPr id="10" name="row-label-3">
            <a:extLst xmlns:a="http://schemas.openxmlformats.org/drawingml/2006/main">
              <a:ext uri="{FF2B5EF4-FFF2-40B4-BE49-F238E27FC236}">
                <a16:creationId xmlns:a16="http://schemas.microsoft.com/office/drawing/2014/main" id="{34A4F179-019B-4843-8B52-89A74FEF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50581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结果差异</a:t>
            </a:r>
          </a:p>
        </p:txBody>
      </p:sp>
      <p:sp>
        <p:nvSpPr>
          <p:cNvPr id="11" name="row-value-3">
            <a:extLst xmlns:a="http://schemas.openxmlformats.org/drawingml/2006/main">
              <a:ext uri="{FF2B5EF4-FFF2-40B4-BE49-F238E27FC236}">
                <a16:creationId xmlns:a16="http://schemas.microsoft.com/office/drawing/2014/main" id="{7EA507FD-B3BC-4A58-A134-7B04F41E2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50581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索引更新、语义差异或记录错误？</a:t>
            </a:r>
          </a:p>
        </p:txBody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3B1F1291-E14E-4683-9B61-C437BC646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同伴写证据和问题，作者保留最终决定。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B48D7053-EABA-454E-BC9F-BBD615978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F2720D2D-3A4A-4F8E-8F94-953947C72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候选条目的反向检查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C0E52D44-5030-4A29-96B1-065664609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从“我准备用它支持什么”回到原文。</a:t>
            </a:r>
          </a:p>
        </p:txBody>
      </p:sp>
      <p:sp>
        <p:nvSpPr>
          <p:cNvPr id="3" name="columns-label">
            <a:extLst xmlns:a="http://schemas.openxmlformats.org/drawingml/2006/main">
              <a:ext uri="{FF2B5EF4-FFF2-40B4-BE49-F238E27FC236}">
                <a16:creationId xmlns:a16="http://schemas.microsoft.com/office/drawing/2014/main" id="{B3927E41-F4DD-4A2E-9A85-5874568F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反查问题   /   合格证据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99DF220C-B62E-4C55-86BD-97F84CC71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这条主张在哪？</a:t>
            </a:r>
          </a:p>
        </p:txBody>
      </p:sp>
      <p:sp>
        <p:nvSpPr>
          <p:cNvPr id="5" name="row-value-0">
            <a:extLst xmlns:a="http://schemas.openxmlformats.org/drawingml/2006/main">
              <a:ext uri="{FF2B5EF4-FFF2-40B4-BE49-F238E27FC236}">
                <a16:creationId xmlns:a16="http://schemas.microsoft.com/office/drawing/2014/main" id="{9182F84B-4247-4E36-B5F2-7C67DD789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14550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可打开的页码、章节或图表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5921E0B7-D01A-440A-96E8-4BE82C5B5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9894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与本人问题匹配吗？</a:t>
            </a:r>
          </a:p>
        </p:txBody>
      </p:sp>
      <p:sp>
        <p:nvSpPr>
          <p:cNvPr id="7" name="row-value-1">
            <a:extLst xmlns:a="http://schemas.openxmlformats.org/drawingml/2006/main">
              <a:ext uri="{FF2B5EF4-FFF2-40B4-BE49-F238E27FC236}">
                <a16:creationId xmlns:a16="http://schemas.microsoft.com/office/drawing/2014/main" id="{AD34349F-8648-40A0-8B87-BC80AE918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59894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任务、设置与允许范围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63A2724F-068C-4FE4-84BC-370E68D9E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5238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角色为何成立？</a:t>
            </a:r>
          </a:p>
        </p:txBody>
      </p:sp>
      <p:sp>
        <p:nvSpPr>
          <p:cNvPr id="9" name="row-value-2">
            <a:extLst xmlns:a="http://schemas.openxmlformats.org/drawingml/2006/main">
              <a:ext uri="{FF2B5EF4-FFF2-40B4-BE49-F238E27FC236}">
                <a16:creationId xmlns:a16="http://schemas.microsoft.com/office/drawing/2014/main" id="{D63FBA4F-0A21-4954-B555-2E564038E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805238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相对问题的作用与理由</a:t>
            </a:r>
          </a:p>
        </p:txBody>
      </p:sp>
      <p:sp>
        <p:nvSpPr>
          <p:cNvPr id="10" name="row-label-3">
            <a:extLst xmlns:a="http://schemas.openxmlformats.org/drawingml/2006/main">
              <a:ext uri="{FF2B5EF4-FFF2-40B4-BE49-F238E27FC236}">
                <a16:creationId xmlns:a16="http://schemas.microsoft.com/office/drawing/2014/main" id="{8AAE2D8A-BE22-48D1-94BF-C2A6D8F7E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50581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状态与筛选一致吗？</a:t>
            </a:r>
          </a:p>
        </p:txBody>
      </p:sp>
      <p:sp>
        <p:nvSpPr>
          <p:cNvPr id="11" name="row-value-3">
            <a:extLst xmlns:a="http://schemas.openxmlformats.org/drawingml/2006/main">
              <a:ext uri="{FF2B5EF4-FFF2-40B4-BE49-F238E27FC236}">
                <a16:creationId xmlns:a16="http://schemas.microsoft.com/office/drawing/2014/main" id="{BCFA6C20-2FB8-4546-94F7-A0C1F3D8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50581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线索、主格与审计区分明确</a:t>
            </a:r>
          </a:p>
        </p:txBody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0FC1140D-9037-4BFF-80A3-2D49C9727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冲突证据保留，未核项说明下一步检查。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F3A2F035-103C-4B3A-A32C-CEF80654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17741814-6DA8-4D6F-901A-9D77FA915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作者修订与下一步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D4F2C091-8D3D-49BA-A5B6-C25B19B93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把反馈落实到实际记录，保留决定的理由。</a:t>
            </a:r>
          </a:p>
        </p:txBody>
      </p:sp>
      <p:sp>
        <p:nvSpPr>
          <p:cNvPr id="3" name="columns-label">
            <a:extLst xmlns:a="http://schemas.openxmlformats.org/drawingml/2006/main">
              <a:ext uri="{FF2B5EF4-FFF2-40B4-BE49-F238E27FC236}">
                <a16:creationId xmlns:a16="http://schemas.microsoft.com/office/drawing/2014/main" id="{14411D72-F042-433B-B69D-F60B6DED9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反馈情形   /   作者动作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4289CE59-E920-4434-8A08-8F46CB7A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查询不可重放</a:t>
            </a:r>
          </a:p>
        </p:txBody>
      </p:sp>
      <p:sp>
        <p:nvSpPr>
          <p:cNvPr id="5" name="row-value-0">
            <a:extLst xmlns:a="http://schemas.openxmlformats.org/drawingml/2006/main">
              <a:ext uri="{FF2B5EF4-FFF2-40B4-BE49-F238E27FC236}">
                <a16:creationId xmlns:a16="http://schemas.microsoft.com/office/drawing/2014/main" id="{FCB815AB-8A74-4F76-9DB6-41FD64A93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14550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补字段、语义或原始输出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36C8E1EE-E854-44D3-8EA2-A43FE8A05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9894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证据不足</a:t>
            </a:r>
          </a:p>
        </p:txBody>
      </p:sp>
      <p:sp>
        <p:nvSpPr>
          <p:cNvPr id="7" name="row-value-1">
            <a:extLst xmlns:a="http://schemas.openxmlformats.org/drawingml/2006/main">
              <a:ext uri="{FF2B5EF4-FFF2-40B4-BE49-F238E27FC236}">
                <a16:creationId xmlns:a16="http://schemas.microsoft.com/office/drawing/2014/main" id="{F45730CB-653C-489E-B513-7BAFEFC81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59894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收窄主张或标待核项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9E6FFA55-7710-4256-9EB9-E3067F0AD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5238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任务不匹配</a:t>
            </a:r>
          </a:p>
        </p:txBody>
      </p:sp>
      <p:sp>
        <p:nvSpPr>
          <p:cNvPr id="9" name="row-value-2">
            <a:extLst xmlns:a="http://schemas.openxmlformats.org/drawingml/2006/main">
              <a:ext uri="{FF2B5EF4-FFF2-40B4-BE49-F238E27FC236}">
                <a16:creationId xmlns:a16="http://schemas.microsoft.com/office/drawing/2014/main" id="{915B67CE-1D71-4FBA-9126-4A8540B63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805238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调整角色或排除并留理由</a:t>
            </a:r>
          </a:p>
        </p:txBody>
      </p:sp>
      <p:sp>
        <p:nvSpPr>
          <p:cNvPr id="10" name="row-label-3">
            <a:extLst xmlns:a="http://schemas.openxmlformats.org/drawingml/2006/main">
              <a:ext uri="{FF2B5EF4-FFF2-40B4-BE49-F238E27FC236}">
                <a16:creationId xmlns:a16="http://schemas.microsoft.com/office/drawing/2014/main" id="{06CC4A08-937B-4440-B32C-5BED04CFC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50581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核验一致</a:t>
            </a:r>
          </a:p>
        </p:txBody>
      </p:sp>
      <p:sp>
        <p:nvSpPr>
          <p:cNvPr id="11" name="row-value-3">
            <a:extLst xmlns:a="http://schemas.openxmlformats.org/drawingml/2006/main">
              <a:ext uri="{FF2B5EF4-FFF2-40B4-BE49-F238E27FC236}">
                <a16:creationId xmlns:a16="http://schemas.microsoft.com/office/drawing/2014/main" id="{C1A18BDC-1650-4309-BF7B-C633312A0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50581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保留判断并记录已查依据</a:t>
            </a:r>
          </a:p>
        </p:txBody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3D0DECB0-48D6-4C1E-9E09-12D30BF6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采纳、暂不采纳或待核验，都写出理由和回写位置。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B6FA22E9-871B-47A6-9C77-907BA8D17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8F82854A-9DE7-41B4-8143-CB0045C8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检索方法的四个判断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FE9948D3-B2EB-41FE-B52D-267517780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检索记录应让另一位研究者看懂材料如何被选中。</a:t>
            </a:r>
          </a:p>
        </p:txBody>
      </p:sp>
      <p:sp>
        <p:nvSpPr>
          <p:cNvPr id="3" name="columns-label">
            <a:extLst xmlns:a="http://schemas.openxmlformats.org/drawingml/2006/main">
              <a:ext uri="{FF2B5EF4-FFF2-40B4-BE49-F238E27FC236}">
                <a16:creationId xmlns:a16="http://schemas.microsoft.com/office/drawing/2014/main" id="{24B705AB-06A1-4D91-9779-60D8A2CA5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判断   /   对应证据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2E0047C4-35A7-43F8-A093-9548E820E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检索命中与遗漏</a:t>
            </a:r>
          </a:p>
        </p:txBody>
      </p:sp>
      <p:sp>
        <p:nvSpPr>
          <p:cNvPr id="5" name="row-value-0">
            <a:extLst xmlns:a="http://schemas.openxmlformats.org/drawingml/2006/main">
              <a:ext uri="{FF2B5EF4-FFF2-40B4-BE49-F238E27FC236}">
                <a16:creationId xmlns:a16="http://schemas.microsoft.com/office/drawing/2014/main" id="{C1588E28-2C69-46B8-AEE4-450093739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14550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查询版本与覆盖检查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AFCB7C0F-156A-49ED-B98E-26168ADCC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9894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来源与主张对应</a:t>
            </a:r>
          </a:p>
        </p:txBody>
      </p:sp>
      <p:sp>
        <p:nvSpPr>
          <p:cNvPr id="7" name="row-value-1">
            <a:extLst xmlns:a="http://schemas.openxmlformats.org/drawingml/2006/main">
              <a:ext uri="{FF2B5EF4-FFF2-40B4-BE49-F238E27FC236}">
                <a16:creationId xmlns:a16="http://schemas.microsoft.com/office/drawing/2014/main" id="{82D49677-4A07-4A16-9F9F-4F56C2DF9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59894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身份记录与原文位置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086489FF-5B21-4C6E-B910-75B0BD2E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05238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对问题的证据作用</a:t>
            </a:r>
          </a:p>
        </p:txBody>
      </p:sp>
      <p:sp>
        <p:nvSpPr>
          <p:cNvPr id="9" name="row-value-2">
            <a:extLst xmlns:a="http://schemas.openxmlformats.org/drawingml/2006/main">
              <a:ext uri="{FF2B5EF4-FFF2-40B4-BE49-F238E27FC236}">
                <a16:creationId xmlns:a16="http://schemas.microsoft.com/office/drawing/2014/main" id="{DEDAABBA-1FEF-45BE-AF2C-CF34E87F7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805238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证据角色及限定</a:t>
            </a:r>
          </a:p>
        </p:txBody>
      </p:sp>
      <p:sp>
        <p:nvSpPr>
          <p:cNvPr id="10" name="row-label-3">
            <a:extLst xmlns:a="http://schemas.openxmlformats.org/drawingml/2006/main">
              <a:ext uri="{FF2B5EF4-FFF2-40B4-BE49-F238E27FC236}">
                <a16:creationId xmlns:a16="http://schemas.microsoft.com/office/drawing/2014/main" id="{5090CC4C-8AF4-4F51-B5EA-7E6EC77CD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50581"/>
            <a:ext cx="2571750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为何纳入或排除？</a:t>
            </a:r>
          </a:p>
        </p:txBody>
      </p:sp>
      <p:sp>
        <p:nvSpPr>
          <p:cNvPr id="11" name="row-value-3">
            <a:extLst xmlns:a="http://schemas.openxmlformats.org/drawingml/2006/main">
              <a:ext uri="{FF2B5EF4-FFF2-40B4-BE49-F238E27FC236}">
                <a16:creationId xmlns:a16="http://schemas.microsoft.com/office/drawing/2014/main" id="{7E5CE522-A7DA-4691-89A0-B38B90D7A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50581"/>
            <a:ext cx="8048625" cy="7500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人工筛选理由与修订记录</a:t>
            </a:r>
          </a:p>
        </p:txBody>
      </p:sp>
      <p:sp>
        <p:nvSpPr>
          <p:cNvPr id="12" name="takeaway">
            <a:extLst xmlns:a="http://schemas.openxmlformats.org/drawingml/2006/main">
              <a:ext uri="{FF2B5EF4-FFF2-40B4-BE49-F238E27FC236}">
                <a16:creationId xmlns:a16="http://schemas.microsoft.com/office/drawing/2014/main" id="{2F78BDC1-7EBD-488D-8961-5C775A732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扩展与整理线索；研究者核验、选择并承担判断。</a:t>
            </a:r>
          </a:p>
        </p:txBody>
      </p:sp>
      <p:sp>
        <p:nvSpPr>
          <p:cNvPr id="14" name="page">
            <a:extLst xmlns:a="http://schemas.openxmlformats.org/drawingml/2006/main">
              <a:ext uri="{FF2B5EF4-FFF2-40B4-BE49-F238E27FC236}">
                <a16:creationId xmlns:a16="http://schemas.microsoft.com/office/drawing/2014/main" id="{73C86328-CCB6-4810-AEC3-28AED71ED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esson-title">
            <a:extLst xmlns:a="http://schemas.openxmlformats.org/drawingml/2006/main">
              <a:ext uri="{FF2B5EF4-FFF2-40B4-BE49-F238E27FC236}">
                <a16:creationId xmlns:a16="http://schemas.microsoft.com/office/drawing/2014/main" id="{D0377A2E-200E-4FBF-BAAB-68AEDDB14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6675"/>
            <a:ext cx="1059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交付自查与第 4 课输入</a:t>
            </a:r>
          </a:p>
        </p:txBody>
      </p:sp>
      <p:sp>
        <p:nvSpPr>
          <p:cNvPr id="2" name="lead">
            <a:extLst xmlns:a="http://schemas.openxmlformats.org/drawingml/2006/main">
              <a:ext uri="{FF2B5EF4-FFF2-40B4-BE49-F238E27FC236}">
                <a16:creationId xmlns:a16="http://schemas.microsoft.com/office/drawing/2014/main" id="{30715D67-25CA-41CF-9BA8-03CB51E3C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620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带着一条可用候选及其关键主张进入精读。</a:t>
            </a:r>
          </a:p>
        </p:txBody>
      </p:sp>
      <p:sp>
        <p:nvSpPr>
          <p:cNvPr id="3" name="columns-label">
            <a:extLst xmlns:a="http://schemas.openxmlformats.org/drawingml/2006/main">
              <a:ext uri="{FF2B5EF4-FFF2-40B4-BE49-F238E27FC236}">
                <a16:creationId xmlns:a16="http://schemas.microsoft.com/office/drawing/2014/main" id="{2C64BBF3-AE48-484F-B866-BF5D8975A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85925"/>
            <a:ext cx="1085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667684"/>
                </a:solidFill>
                <a:latin typeface="微软雅黑"/>
                <a:ea typeface="微软雅黑"/>
                <a:cs typeface="微软雅黑"/>
              </a:rPr>
              <a:t>本课自查   /   下一课接力</a:t>
            </a:r>
          </a:p>
        </p:txBody>
      </p:sp>
      <p:sp>
        <p:nvSpPr>
          <p:cNvPr id="4" name="row-label-0">
            <a:extLst xmlns:a="http://schemas.openxmlformats.org/drawingml/2006/main">
              <a:ext uri="{FF2B5EF4-FFF2-40B4-BE49-F238E27FC236}">
                <a16:creationId xmlns:a16="http://schemas.microsoft.com/office/drawing/2014/main" id="{7352AD47-7080-4525-BBBA-3BE965759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一条可重放查询</a:t>
            </a:r>
          </a:p>
        </p:txBody>
      </p:sp>
      <p:sp>
        <p:nvSpPr>
          <p:cNvPr id="5" name="row-value-0">
            <a:extLst xmlns:a="http://schemas.openxmlformats.org/drawingml/2006/main">
              <a:ext uri="{FF2B5EF4-FFF2-40B4-BE49-F238E27FC236}">
                <a16:creationId xmlns:a16="http://schemas.microsoft.com/office/drawing/2014/main" id="{C8222064-C207-4478-AB94-58B2DA939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1455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保留问题与查询背景</a:t>
            </a:r>
          </a:p>
        </p:txBody>
      </p:sp>
      <p:sp>
        <p:nvSpPr>
          <p:cNvPr id="6" name="row-label-1">
            <a:extLst xmlns:a="http://schemas.openxmlformats.org/drawingml/2006/main">
              <a:ext uri="{FF2B5EF4-FFF2-40B4-BE49-F238E27FC236}">
                <a16:creationId xmlns:a16="http://schemas.microsoft.com/office/drawing/2014/main" id="{358D0654-56F1-48E7-8EB4-74131F011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7180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两条真实来源审计</a:t>
            </a:r>
          </a:p>
        </p:txBody>
      </p:sp>
      <p:sp>
        <p:nvSpPr>
          <p:cNvPr id="7" name="row-value-1">
            <a:extLst xmlns:a="http://schemas.openxmlformats.org/drawingml/2006/main">
              <a:ext uri="{FF2B5EF4-FFF2-40B4-BE49-F238E27FC236}">
                <a16:creationId xmlns:a16="http://schemas.microsoft.com/office/drawing/2014/main" id="{D213FD11-FA38-45DA-BA2A-8FCD1B90E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97180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带原文或可核对存档</a:t>
            </a:r>
          </a:p>
        </p:txBody>
      </p:sp>
      <p:sp>
        <p:nvSpPr>
          <p:cNvPr id="8" name="row-label-2">
            <a:extLst xmlns:a="http://schemas.openxmlformats.org/drawingml/2006/main">
              <a:ext uri="{FF2B5EF4-FFF2-40B4-BE49-F238E27FC236}">
                <a16:creationId xmlns:a16="http://schemas.microsoft.com/office/drawing/2014/main" id="{51E6398B-20BB-4819-A8FE-8033878E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29050"/>
            <a:ext cx="2571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候选的角色与决定</a:t>
            </a:r>
          </a:p>
        </p:txBody>
      </p:sp>
      <p:sp>
        <p:nvSpPr>
          <p:cNvPr id="9" name="row-value-2">
            <a:extLst xmlns:a="http://schemas.openxmlformats.org/drawingml/2006/main">
              <a:ext uri="{FF2B5EF4-FFF2-40B4-BE49-F238E27FC236}">
                <a16:creationId xmlns:a16="http://schemas.microsoft.com/office/drawing/2014/main" id="{2B03B1F8-B618-495F-80A3-F41775BC9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829050"/>
            <a:ext cx="804862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63746"/>
                </a:solidFill>
                <a:latin typeface="微软雅黑"/>
                <a:ea typeface="微软雅黑"/>
                <a:cs typeface="微软雅黑"/>
              </a:rPr>
              <a:t>选定关键主张及尚缺的依据</a:t>
            </a:r>
          </a:p>
        </p:txBody>
      </p:sp>
      <p:sp>
        <p:nvSpPr>
          <p:cNvPr id="10" name="takeaway">
            <a:extLst xmlns:a="http://schemas.openxmlformats.org/drawingml/2006/main">
              <a:ext uri="{FF2B5EF4-FFF2-40B4-BE49-F238E27FC236}">
                <a16:creationId xmlns:a16="http://schemas.microsoft.com/office/drawing/2014/main" id="{E5E9144A-76E0-43BF-8D24-F97189A5F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591175"/>
            <a:ext cx="1085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本课不单独提交；第 6 课问题门统一检查累计材料。</a:t>
            </a:r>
          </a:p>
        </p:txBody>
      </p:sp>
      <p:sp>
        <p:nvSpPr>
          <p:cNvPr id="12" name="page">
            <a:extLst xmlns:a="http://schemas.openxmlformats.org/drawingml/2006/main">
              <a:ext uri="{FF2B5EF4-FFF2-40B4-BE49-F238E27FC236}">
                <a16:creationId xmlns:a16="http://schemas.microsoft.com/office/drawing/2014/main" id="{98E52BE6-7DE9-4339-8CEC-158E9286A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600825"/>
            <a:ext cx="285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A5A5A5"/>
                </a:solidFill>
                <a:latin typeface="微软雅黑"/>
                <a:ea typeface="微软雅黑"/>
                <a:cs typeface="微软雅黑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32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2026-09-16T01:26:58.4270000Z</dcterms:created>
  <dcterms:modified xsi:type="dcterms:W3CDTF">2026-09-16T01:26:58.4270000Z</dcterms:modified>
</coreProperties>
</file>