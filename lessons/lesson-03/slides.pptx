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9a521a87339488e" /><Relationship Type="http://schemas.openxmlformats.org/officeDocument/2006/relationships/extended-properties" Target="/docProps/app.xml" Id="R52a42e17ef8d491c" /><Relationship Type="http://schemas.openxmlformats.org/officeDocument/2006/relationships/officeDocument" Target="/ppt/presentation.xml" Id="R2e1ce1f006b34b9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f1214ba8a5d4aa9"/>
  </p:sldMasterIdLst>
  <p:notesMasterIdLst>
    <p:notesMasterId xmlns:r="http://schemas.openxmlformats.org/officeDocument/2006/relationships" r:id="Rfa6c2cf486644b90"/>
  </p:notesMasterIdLst>
  <p:sldIdLst>
    <p:sldId xmlns:r="http://schemas.openxmlformats.org/officeDocument/2006/relationships" id="256" r:id="R5c409d6ca2c34985"/>
    <p:sldId xmlns:r="http://schemas.openxmlformats.org/officeDocument/2006/relationships" id="257" r:id="R0da66a559dc34fa4"/>
    <p:sldId xmlns:r="http://schemas.openxmlformats.org/officeDocument/2006/relationships" id="258" r:id="R28fef564da054fa2"/>
    <p:sldId xmlns:r="http://schemas.openxmlformats.org/officeDocument/2006/relationships" id="259" r:id="Rfbc394a9cae94a5e"/>
    <p:sldId xmlns:r="http://schemas.openxmlformats.org/officeDocument/2006/relationships" id="260" r:id="R5b9e77ed1e1c42c1"/>
    <p:sldId xmlns:r="http://schemas.openxmlformats.org/officeDocument/2006/relationships" id="261" r:id="R8f33f0f095b04d1d"/>
    <p:sldId xmlns:r="http://schemas.openxmlformats.org/officeDocument/2006/relationships" id="262" r:id="R4750686cdfca4f16"/>
    <p:sldId xmlns:r="http://schemas.openxmlformats.org/officeDocument/2006/relationships" id="263" r:id="Rd35c67d2cb924bb5"/>
    <p:sldId xmlns:r="http://schemas.openxmlformats.org/officeDocument/2006/relationships" id="264" r:id="Rcf1e670c2c194b4c"/>
    <p:sldId xmlns:r="http://schemas.openxmlformats.org/officeDocument/2006/relationships" id="265" r:id="R450365622417430c"/>
    <p:sldId xmlns:r="http://schemas.openxmlformats.org/officeDocument/2006/relationships" id="266" r:id="R392e2b27fd8d4171"/>
    <p:sldId xmlns:r="http://schemas.openxmlformats.org/officeDocument/2006/relationships" id="267" r:id="Rf4b4cb313e034899"/>
    <p:sldId xmlns:r="http://schemas.openxmlformats.org/officeDocument/2006/relationships" id="268" r:id="R1d6439127b084dc4"/>
    <p:sldId xmlns:r="http://schemas.openxmlformats.org/officeDocument/2006/relationships" id="269" r:id="R99fb97e2ae2745c3"/>
    <p:sldId xmlns:r="http://schemas.openxmlformats.org/officeDocument/2006/relationships" id="270" r:id="R8ca1b7554ce24e91"/>
    <p:sldId xmlns:r="http://schemas.openxmlformats.org/officeDocument/2006/relationships" id="271" r:id="Raa964466fc454dce"/>
    <p:sldId xmlns:r="http://schemas.openxmlformats.org/officeDocument/2006/relationships" id="272" r:id="R8597b0ea6f544e99"/>
    <p:sldId xmlns:r="http://schemas.openxmlformats.org/officeDocument/2006/relationships" id="273" r:id="R4d7f860d6ad140c1"/>
    <p:sldId xmlns:r="http://schemas.openxmlformats.org/officeDocument/2006/relationships" id="274" r:id="R93649b378a1a4a59"/>
    <p:sldId xmlns:r="http://schemas.openxmlformats.org/officeDocument/2006/relationships" id="275" r:id="R051f35c7f506402a"/>
    <p:sldId xmlns:r="http://schemas.openxmlformats.org/officeDocument/2006/relationships" id="276" r:id="R3347daa0b3e844c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e6962abc25c4593" /><Relationship Type="http://schemas.openxmlformats.org/officeDocument/2006/relationships/slideMaster" Target="/ppt/slideMasters/slideMaster1.xml" Id="Rff1214ba8a5d4aa9" /><Relationship Type="http://schemas.openxmlformats.org/officeDocument/2006/relationships/notesMaster" Target="/ppt/notesMasters/notesMaster1.xml" Id="Rfa6c2cf486644b90" /><Relationship Type="http://schemas.openxmlformats.org/officeDocument/2006/relationships/presProps" Target="/ppt/presProps.xml" Id="R748d735823564c72" /><Relationship Type="http://schemas.openxmlformats.org/officeDocument/2006/relationships/viewProps" Target="/ppt/viewProps.xml" Id="R3493e2e5908c4c4c" /><Relationship Type="http://schemas.openxmlformats.org/officeDocument/2006/relationships/tableStyles" Target="/ppt/tableStyles.xml" Id="R43c768a4fca34faa" /><Relationship Type="http://schemas.openxmlformats.org/officeDocument/2006/relationships/slide" Target="/ppt/slides/slide1.xml" Id="R5c409d6ca2c34985" /><Relationship Type="http://schemas.openxmlformats.org/officeDocument/2006/relationships/slide" Target="/ppt/slides/slide2.xml" Id="R0da66a559dc34fa4" /><Relationship Type="http://schemas.openxmlformats.org/officeDocument/2006/relationships/slide" Target="/ppt/slides/slide3.xml" Id="R28fef564da054fa2" /><Relationship Type="http://schemas.openxmlformats.org/officeDocument/2006/relationships/slide" Target="/ppt/slides/slide4.xml" Id="Rfbc394a9cae94a5e" /><Relationship Type="http://schemas.openxmlformats.org/officeDocument/2006/relationships/slide" Target="/ppt/slides/slide5.xml" Id="R5b9e77ed1e1c42c1" /><Relationship Type="http://schemas.openxmlformats.org/officeDocument/2006/relationships/slide" Target="/ppt/slides/slide6.xml" Id="R8f33f0f095b04d1d" /><Relationship Type="http://schemas.openxmlformats.org/officeDocument/2006/relationships/slide" Target="/ppt/slides/slide7.xml" Id="R4750686cdfca4f16" /><Relationship Type="http://schemas.openxmlformats.org/officeDocument/2006/relationships/slide" Target="/ppt/slides/slide8.xml" Id="Rd35c67d2cb924bb5" /><Relationship Type="http://schemas.openxmlformats.org/officeDocument/2006/relationships/slide" Target="/ppt/slides/slide9.xml" Id="Rcf1e670c2c194b4c" /><Relationship Type="http://schemas.openxmlformats.org/officeDocument/2006/relationships/slide" Target="/ppt/slides/slide10.xml" Id="R450365622417430c" /><Relationship Type="http://schemas.openxmlformats.org/officeDocument/2006/relationships/slide" Target="/ppt/slides/slide11.xml" Id="R392e2b27fd8d4171" /><Relationship Type="http://schemas.openxmlformats.org/officeDocument/2006/relationships/slide" Target="/ppt/slides/slide12.xml" Id="Rf4b4cb313e034899" /><Relationship Type="http://schemas.openxmlformats.org/officeDocument/2006/relationships/slide" Target="/ppt/slides/slide13.xml" Id="R1d6439127b084dc4" /><Relationship Type="http://schemas.openxmlformats.org/officeDocument/2006/relationships/slide" Target="/ppt/slides/slide14.xml" Id="R99fb97e2ae2745c3" /><Relationship Type="http://schemas.openxmlformats.org/officeDocument/2006/relationships/slide" Target="/ppt/slides/slide15.xml" Id="R8ca1b7554ce24e91" /><Relationship Type="http://schemas.openxmlformats.org/officeDocument/2006/relationships/slide" Target="/ppt/slides/slide16.xml" Id="Raa964466fc454dce" /><Relationship Type="http://schemas.openxmlformats.org/officeDocument/2006/relationships/slide" Target="/ppt/slides/slide17.xml" Id="R8597b0ea6f544e99" /><Relationship Type="http://schemas.openxmlformats.org/officeDocument/2006/relationships/slide" Target="/ppt/slides/slide18.xml" Id="R4d7f860d6ad140c1" /><Relationship Type="http://schemas.openxmlformats.org/officeDocument/2006/relationships/slide" Target="/ppt/slides/slide19.xml" Id="R93649b378a1a4a59" /><Relationship Type="http://schemas.openxmlformats.org/officeDocument/2006/relationships/slide" Target="/ppt/slides/slide20.xml" Id="R051f35c7f506402a" /><Relationship Type="http://schemas.openxmlformats.org/officeDocument/2006/relationships/slide" Target="/ppt/slides/slide21.xml" Id="R3347daa0b3e844c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1a196c0294f4c1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bfd2963aebe4cac" /><Relationship Type="http://schemas.openxmlformats.org/officeDocument/2006/relationships/notesMaster" Target="/ppt/notesMasters/notesMaster1.xml" Id="R4335513631ca409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20ebd382fa24d5f" /><Relationship Type="http://schemas.openxmlformats.org/officeDocument/2006/relationships/notesMaster" Target="/ppt/notesMasters/notesMaster1.xml" Id="Re3c6d49985eb43e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1223d646e704ae3" /><Relationship Type="http://schemas.openxmlformats.org/officeDocument/2006/relationships/notesMaster" Target="/ppt/notesMasters/notesMaster1.xml" Id="Re494e54fe84f404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792289577524ba0" /><Relationship Type="http://schemas.openxmlformats.org/officeDocument/2006/relationships/notesMaster" Target="/ppt/notesMasters/notesMaster1.xml" Id="Rdb8d0cdb1e2f477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ebe9583c9304f8e" /><Relationship Type="http://schemas.openxmlformats.org/officeDocument/2006/relationships/notesMaster" Target="/ppt/notesMasters/notesMaster1.xml" Id="Ra11cb05a2226441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e7b708cc5114050" /><Relationship Type="http://schemas.openxmlformats.org/officeDocument/2006/relationships/notesMaster" Target="/ppt/notesMasters/notesMaster1.xml" Id="R7c3bfbc60ff84c8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216c3b5818d4a02" /><Relationship Type="http://schemas.openxmlformats.org/officeDocument/2006/relationships/notesMaster" Target="/ppt/notesMasters/notesMaster1.xml" Id="R15e97b72b10743b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3cac7e47cea4a11" /><Relationship Type="http://schemas.openxmlformats.org/officeDocument/2006/relationships/notesMaster" Target="/ppt/notesMasters/notesMaster1.xml" Id="R491fac1ca2044b5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617321c75bf4d28" /><Relationship Type="http://schemas.openxmlformats.org/officeDocument/2006/relationships/notesMaster" Target="/ppt/notesMasters/notesMaster1.xml" Id="R13ac3d1cbaec412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ebef18684744a35" /><Relationship Type="http://schemas.openxmlformats.org/officeDocument/2006/relationships/notesMaster" Target="/ppt/notesMasters/notesMaster1.xml" Id="Rdb0fdc9d862f473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97c89c23be34dc2" /><Relationship Type="http://schemas.openxmlformats.org/officeDocument/2006/relationships/notesMaster" Target="/ppt/notesMasters/notesMaster1.xml" Id="R7ff266843f86415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8f5a1a326f74dd2" /><Relationship Type="http://schemas.openxmlformats.org/officeDocument/2006/relationships/notesMaster" Target="/ppt/notesMasters/notesMaster1.xml" Id="R8dee13b08be84cf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ee45c8ec88343f6" /><Relationship Type="http://schemas.openxmlformats.org/officeDocument/2006/relationships/notesMaster" Target="/ppt/notesMasters/notesMaster1.xml" Id="R45cd925d31da443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b912debf30e49ec" /><Relationship Type="http://schemas.openxmlformats.org/officeDocument/2006/relationships/notesMaster" Target="/ppt/notesMasters/notesMaster1.xml" Id="Rc45e5089ec1249a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7bcffab960f4047" /><Relationship Type="http://schemas.openxmlformats.org/officeDocument/2006/relationships/notesMaster" Target="/ppt/notesMasters/notesMaster1.xml" Id="R0bde93b0d5704bf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75a4f35499e467c" /><Relationship Type="http://schemas.openxmlformats.org/officeDocument/2006/relationships/notesMaster" Target="/ppt/notesMasters/notesMaster1.xml" Id="R915a2bb804fe4d5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fb2a1a7b1ad479a" /><Relationship Type="http://schemas.openxmlformats.org/officeDocument/2006/relationships/notesMaster" Target="/ppt/notesMasters/notesMaster1.xml" Id="R52cdd6b6ef24448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6eda1fd0f944a29" /><Relationship Type="http://schemas.openxmlformats.org/officeDocument/2006/relationships/notesMaster" Target="/ppt/notesMasters/notesMaster1.xml" Id="R14efd44e3745477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80fc6c82c5e43a1" /><Relationship Type="http://schemas.openxmlformats.org/officeDocument/2006/relationships/notesMaster" Target="/ppt/notesMasters/notesMaster1.xml" Id="R3e8cbcbbe53a4cc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38d56c2b12c489d" /><Relationship Type="http://schemas.openxmlformats.org/officeDocument/2006/relationships/notesMaster" Target="/ppt/notesMasters/notesMaster1.xml" Id="R080c946120f6443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0db73aa92324654" /><Relationship Type="http://schemas.openxmlformats.org/officeDocument/2006/relationships/notesMaster" Target="/ppt/notesMasters/notesMaster1.xml" Id="R02b49260d7df4ed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封面只完成课次与主题识别。进入下一页后再提出方法问题：怎样把检索过程变成可复盘的方法，并判断每条材料的证据角色。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course/syllabus.md</a:t>
            </a:r>
          </a:p>
          <a:p xmlns:a="http://schemas.openxmlformats.org/drawingml/2006/main">
            <a:r>
              <a:t>- lessons/备课规划.md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回扣第 2 课：受限交互让 AI 的动作可审计，但没有解决材料本身是否可信的问题。本课用可修改的问题初稿进入阶段四，处理“材料从哪来、可能支持什么”；八阶段是方法链，不是授课顺序。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lessons/lesson-02/slides.md</a:t>
            </a:r>
          </a:p>
          <a:p xmlns:a="http://schemas.openxmlformats.org/drawingml/2006/main">
            <a:r>
              <a:t>- 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目标是流程跑通，不是在课堂里完成文献综述。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lessons/备课规划.md</a:t>
            </a:r>
          </a:p>
          <a:p xmlns:a="http://schemas.openxmlformats.org/drawingml/2006/main">
            <a:r>
              <a:t>- 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统计举手后立即转入方法；不要把羞耻感当教学目标。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lessons/lesson-03/handout.md</a:t>
            </a:r>
          </a:p>
          <a:p xmlns:a="http://schemas.openxmlformats.org/drawingml/2006/main">
            <a:r>
              <a:t>- 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让学生指出自己项目里哪类材料最多、哪类最缺；来源类型不是证据角色分级。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lessons/lesson-03/handout.md</a:t>
            </a:r>
          </a:p>
          <a:p xmlns:a="http://schemas.openxmlformats.org/drawingml/2006/main">
            <a:r>
              <a:t>- course/reading-list.md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问题只是驱动第一轮检索的初稿，第 6 课再系统定稿；检索结果可以回写问题和关键词。请学生从自己的问题抽三个词，并给一个同义词。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lessons/lesson-03/handout.md</a:t>
            </a:r>
          </a:p>
          <a:p xmlns:a="http://schemas.openxmlformats.org/drawingml/2006/main">
            <a:r>
              <a:t>- lessons/lesson-01/handout.md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学生用自己的关键词草拟一条检索式，并指出布尔算子。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Kitchenham &amp; Charters, EBSE-2007-01</a:t>
            </a:r>
          </a:p>
          <a:p xmlns:a="http://schemas.openxmlformats.org/drawingml/2006/main">
            <a:r>
              <a:t>- course/reading-list.md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请学生给一条自己的排除条件，并说明理由。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Kitchenham &amp; Charters, EBSE-2007-01</a:t>
            </a:r>
          </a:p>
          <a:p xmlns:a="http://schemas.openxmlformats.org/drawingml/2006/main">
            <a:r>
              <a:t>- https://www.prisma-statement.org/prisma-2020-statement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主证据直接对应当前问题或拟用主张；学生此时不必已有正式机制假设，先标预期角色，第 4-5 课精读和整理后可修正。一条材料可以同时承担多角色，但每个角色都要写明参照的主张。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lessons/lesson-03/handout.md</a:t>
            </a:r>
          </a:p>
          <a:p xmlns:a="http://schemas.openxmlformats.org/drawingml/2006/main">
            <a:r>
              <a:t>- 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独立性来自来源、测量、重复实验、对照、消融或分析路径的实质差异。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AGENTS.md</a:t>
            </a:r>
          </a:p>
          <a:p xmlns:a="http://schemas.openxmlformats.org/drawingml/2006/main">
            <a:r>
              <a:t>- lessons/lesson-03/handout.md</a:t>
            </a:r>
          </a:p>
          <a:p xmlns:a="http://schemas.openxmlformats.org/drawingml/2006/main">
            <a:r>
              <a:t>- Conceptual diagram; not empirical evidence.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回扣第 1 课：AI 输出成为证据或结论前必须回到原文。本课再拆开三个字段：预期角色回答“可能做什么”，核验状态回答“核到哪里”，筛选决定回答“是否保留”。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lessons/lesson-01/handout.md</a:t>
            </a:r>
          </a:p>
          <a:p xmlns:a="http://schemas.openxmlformats.org/drawingml/2006/main">
            <a:r>
              <a:t>- lessons/lesson-03/handout.md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本课不是只查 DOI，也不是把完整精读塞进一页：入口核验必须包含身份和一条拟用主张，多主张结构、指标和局限由第 4 课深化。DOI 缺失、网络超时或限流只产生失败记录和 pending，不能自动写成 rejected。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lessons/lesson-03/handout.md</a:t>
            </a:r>
          </a:p>
          <a:p xmlns:a="http://schemas.openxmlformats.org/drawingml/2006/main">
            <a:r>
              <a:t>- references/material-contracts.md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使用课程演示包中的真实 Crossref 响应。现场网络不可用时直接打开保存的 JSON 与 PDF，不切换到虚构截图。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lessons/lesson-03/source-audit-demo.md</a:t>
            </a:r>
          </a:p>
          <a:p xmlns:a="http://schemas.openxmlformats.org/drawingml/2006/main">
            <a:r>
              <a:t>- https://api.crossref.org/works/10.1145/1273445.1273458</a:t>
            </a:r>
          </a:p>
          <a:p xmlns:a="http://schemas.openxmlformats.org/drawingml/2006/main">
            <a:r>
              <a:t>- https://doi.org/10.1145/1273445.1273458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这是实际 PDF 第一页，不是重绘截图。让学生现场指出题名、作者、DOI 和摘要中的 three-pass approach，并确认原文没有课程构造的量化结果。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lessons/lesson-03/source-audit-demo.md</a:t>
            </a:r>
          </a:p>
          <a:p xmlns:a="http://schemas.openxmlformats.org/drawingml/2006/main">
            <a:r>
              <a:t>- https://cs.uwaterloo.ca/~Brecht/courses/856/readings/how-to-read/keshav-paper-reading.pdf</a:t>
            </a:r>
          </a:p>
          <a:p xmlns:a="http://schemas.openxmlformats.org/drawingml/2006/main">
            <a:r>
              <a:t>- https://doi.org/10.1145/1273445.1273458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展示真实条目如何从来源审计进入候选文献表：允许主张能定位到原文，但 Keshav 不直接回答“是否降低遗漏率”，状态 verified-with-caveat、角色仍是探索线索；改变问题或拟用主张时角色可变，状态不自动变。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lessons/lesson-03/source-audit-demo.md</a:t>
            </a:r>
          </a:p>
          <a:p xmlns:a="http://schemas.openxmlformats.org/drawingml/2006/main">
            <a:r>
              <a:t>- references/material-contracts.md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失败对象是教师自己的真实检索记录，不是构造样例：记忆与模型输出的 ID 必须逐条回正式来源核验，rejected 永不入候选表。结论不是“AI 不可用”，而是恢复路径留档后照样能找回正确文献。学生练习对象仍是讲义 §四·5 的虚构论文 A–E，避免练习变成演示复刻；该虚构表标注“不得引用”的纪律不变。请学生给出一条核验步骤，加入改写后的任务契约。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lessons/lesson-03/mi-search-trace-demo.md</a:t>
            </a:r>
          </a:p>
          <a:p xmlns:a="http://schemas.openxmlformats.org/drawingml/2006/main">
            <a:r>
              <a:t>- lessons/lesson-03/handout.md</a:t>
            </a:r>
          </a:p>
          <a:p xmlns:a="http://schemas.openxmlformats.org/drawingml/2006/main">
            <a:r>
              <a:t>- Real classroom trace on public arXiv metadata; student exercises use the fictional handout table (§四·5), which must not be cited.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没有真实课题者沿用贯穿案例，但必须改变问题表述或检索词集合。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course/starter-template.md</a:t>
            </a:r>
          </a:p>
          <a:p xmlns:a="http://schemas.openxmlformats.org/drawingml/2006/main">
            <a:r>
              <a:t>- lessons/lesson-03/teaching-plan.md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本页停留 27 分钟。教师只处理共同卡点；网络故障走 Markdown 备用路径。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lessons/lesson-03/handout.md</a:t>
            </a:r>
          </a:p>
          <a:p xmlns:a="http://schemas.openxmlformats.org/drawingml/2006/main">
            <a:r>
              <a:t>- course/starter-template.md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奇数人数用三人组，每人缩短说明时间；反馈只形成个人记录。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course/assignments.md</a:t>
            </a:r>
          </a:p>
          <a:p xmlns:a="http://schemas.openxmlformats.org/drawingml/2006/main">
            <a:r>
              <a:t>- lessons/lesson-03/teaching-plan.md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用一条主链和三个判断层次收束本讲。强调角色、状态、决定不能合并；AI 可以提出建议，学生负责最终确认、纳入理由和冲突证据保留。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lessons/lesson-03/handout.md</a:t>
            </a:r>
          </a:p>
          <a:p xmlns:a="http://schemas.openxmlformats.org/drawingml/2006/main">
            <a:r>
              <a:t>- lessons/lesson-03/slides.md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学生已有可复盘起点，不要求当堂完成综述；记录卡点后进入第 4 课精读与主张核验。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course/reading-list.md</a:t>
            </a:r>
          </a:p>
          <a:p xmlns:a="http://schemas.openxmlformats.org/drawingml/2006/main">
            <a:r>
              <a:t>- course/assignments.md</a:t>
            </a:r>
          </a:p>
          <a:p xmlns:a="http://schemas.openxmlformats.org/drawingml/2006/main">
            <a:r>
              <a:t>- course/syllabus.md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40d2fd7d164941" /><Relationship Type="http://schemas.openxmlformats.org/officeDocument/2006/relationships/image" Target="/ppt/media/image.png" Id="R665a1496abc049d0" /><Relationship Type="http://schemas.openxmlformats.org/officeDocument/2006/relationships/image" Target="/ppt/media/image2.png" Id="Rfcfdaedefac047ac" /><Relationship Type="http://schemas.openxmlformats.org/officeDocument/2006/relationships/image" Target="/ppt/media/image3.png" Id="R6fcd0b3d53264bb1" /><Relationship Type="http://schemas.openxmlformats.org/officeDocument/2006/relationships/image" Target="/ppt/media/image4.png" Id="R4e679b424a1247e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755e654a674dc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a30211728c4b20" /><Relationship Type="http://schemas.openxmlformats.org/officeDocument/2006/relationships/image" Target="/ppt/media/image2.png" Id="R0b28e30dbfbc4ea9" /><Relationship Type="http://schemas.openxmlformats.org/officeDocument/2006/relationships/image" Target="/ppt/media/image5.png" Id="R0de3dc864c3244e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3ce42bca2c40b5" /><Relationship Type="http://schemas.openxmlformats.org/officeDocument/2006/relationships/image" Target="/ppt/media/image.png" Id="R61d10c06529749ac" /><Relationship Type="http://schemas.openxmlformats.org/officeDocument/2006/relationships/image" Target="/ppt/media/image3.png" Id="R979bea7061ad4a5b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5a1496abc049d0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cfdaedefac047ac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fcd0b3d53264bb1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679b424a1247e7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b28e30dbfbc4ea9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e3dc864c3244e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d10c06529749ac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79bea7061ad4a5b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5adf74e12f342bb" /><Relationship Type="http://schemas.openxmlformats.org/officeDocument/2006/relationships/slideLayout" Target="/ppt/slideLayouts/slideLayout1.xml" Id="R989b44e456b449ad" /><Relationship Type="http://schemas.openxmlformats.org/officeDocument/2006/relationships/slideLayout" Target="/ppt/slideLayouts/slideLayout2.xml" Id="Rb1932fd579fc4297" /><Relationship Type="http://schemas.openxmlformats.org/officeDocument/2006/relationships/slideLayout" Target="/ppt/slideLayouts/slideLayout3.xml" Id="R655e06e363294da1" /><Relationship Type="http://schemas.openxmlformats.org/officeDocument/2006/relationships/slideLayout" Target="/ppt/slideLayouts/slideLayout4.xml" Id="R6f51be8300b2499b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89b44e456b449ad"/>
    <p:sldLayoutId xmlns:r="http://schemas.openxmlformats.org/officeDocument/2006/relationships" id="2147483650" r:id="Rb1932fd579fc4297"/>
    <p:sldLayoutId xmlns:r="http://schemas.openxmlformats.org/officeDocument/2006/relationships" id="2147483651" r:id="R655e06e363294da1"/>
    <p:sldLayoutId xmlns:r="http://schemas.openxmlformats.org/officeDocument/2006/relationships" id="2147483652" r:id="R6f51be8300b2499b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ba9cc06e7b434f" /><Relationship Type="http://schemas.openxmlformats.org/officeDocument/2006/relationships/notesSlide" Target="/ppt/notesSlides/notesSlide1.xml" Id="R5e34ae1519634f7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0bfeaddfeb64e22" /><Relationship Type="http://schemas.openxmlformats.org/officeDocument/2006/relationships/notesSlide" Target="/ppt/notesSlides/notesSlide2.xml" Id="Rdb618d1d8a2c47c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943bca88e7449b3" /><Relationship Type="http://schemas.openxmlformats.org/officeDocument/2006/relationships/notesSlide" Target="/ppt/notesSlides/notesSlide3.xml" Id="R03c3952f8d4548c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86610dc67464b60" /><Relationship Type="http://schemas.openxmlformats.org/officeDocument/2006/relationships/notesSlide" Target="/ppt/notesSlides/notesSlide4.xml" Id="R0edf167f2f9f4c2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02cd4e64d3a4157" /><Relationship Type="http://schemas.openxmlformats.org/officeDocument/2006/relationships/notesSlide" Target="/ppt/notesSlides/notesSlide5.xml" Id="R898b0d706a174da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45b2f9527634a97" /><Relationship Type="http://schemas.openxmlformats.org/officeDocument/2006/relationships/notesSlide" Target="/ppt/notesSlides/notesSlide6.xml" Id="Rb937c7c11988450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1c073cd5e954fad" /><Relationship Type="http://schemas.openxmlformats.org/officeDocument/2006/relationships/notesSlide" Target="/ppt/notesSlides/notesSlide7.xml" Id="R350df12003de47c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ff7c922092e41e3" /><Relationship Type="http://schemas.openxmlformats.org/officeDocument/2006/relationships/notesSlide" Target="/ppt/notesSlides/notesSlide8.xml" Id="R78b7e79a0e3a434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ad15c4134844f66" /><Relationship Type="http://schemas.openxmlformats.org/officeDocument/2006/relationships/notesSlide" Target="/ppt/notesSlides/notesSlide9.xml" Id="R038292a6247746e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6cd6adb157c4323" /><Relationship Type="http://schemas.openxmlformats.org/officeDocument/2006/relationships/notesSlide" Target="/ppt/notesSlides/notesSlide10.xml" Id="Rd17786b06504439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9085b08ce1a4187" /><Relationship Type="http://schemas.openxmlformats.org/officeDocument/2006/relationships/notesSlide" Target="/ppt/notesSlides/notesSlide11.xml" Id="Rb41885b766e346b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e9e52b086e54237" /><Relationship Type="http://schemas.openxmlformats.org/officeDocument/2006/relationships/notesSlide" Target="/ppt/notesSlides/notesSlide12.xml" Id="Rea767c20db7b4bb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ec6a70e05764ab1" /><Relationship Type="http://schemas.openxmlformats.org/officeDocument/2006/relationships/notesSlide" Target="/ppt/notesSlides/notesSlide13.xml" Id="R83bb4b2a11f440d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1b0d81425ed4aa2" /><Relationship Type="http://schemas.openxmlformats.org/officeDocument/2006/relationships/image" Target="/ppt/media/image6.png" Id="R7f41c21263ce45f5" /><Relationship Type="http://schemas.openxmlformats.org/officeDocument/2006/relationships/notesSlide" Target="/ppt/notesSlides/notesSlide14.xml" Id="R6f7395af624948a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52293ddc37c417e" /><Relationship Type="http://schemas.openxmlformats.org/officeDocument/2006/relationships/notesSlide" Target="/ppt/notesSlides/notesSlide15.xml" Id="R810ee02ddc5243c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66033ee80344117" /><Relationship Type="http://schemas.openxmlformats.org/officeDocument/2006/relationships/notesSlide" Target="/ppt/notesSlides/notesSlide16.xml" Id="R82634cc3de07435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baae89c8ef74988" /><Relationship Type="http://schemas.openxmlformats.org/officeDocument/2006/relationships/notesSlide" Target="/ppt/notesSlides/notesSlide17.xml" Id="Ra661883328444ab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b09c8a8a60a404f" /><Relationship Type="http://schemas.openxmlformats.org/officeDocument/2006/relationships/notesSlide" Target="/ppt/notesSlides/notesSlide18.xml" Id="R83d4d786d255455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acab4c7e0344911" /><Relationship Type="http://schemas.openxmlformats.org/officeDocument/2006/relationships/notesSlide" Target="/ppt/notesSlides/notesSlide19.xml" Id="Rff16950ddb424be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960172012fa46fa" /><Relationship Type="http://schemas.openxmlformats.org/officeDocument/2006/relationships/notesSlide" Target="/ppt/notesSlides/notesSlide20.xml" Id="R2b637331dd8f40a6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0e26d1cc2d644d5" /><Relationship Type="http://schemas.openxmlformats.org/officeDocument/2006/relationships/notesSlide" Target="/ppt/notesSlides/notesSlide21.xml" Id="R93f2839b4433435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6459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0000"/>
              </a:lnSpc>
              <a:buNone/>
            </a:pPr>
            <a:r>
              <a:rPr sz="33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第3讲 文献检索与证据角色</a:t>
            </a:r>
            <a:endParaRPr sz="4000" b="1" kern="0" spc="2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2 课之后，研究材料为何仍不可信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p02-left-title">
            <a:extLst xmlns:a="http://schemas.openxmlformats.org/drawingml/2006/main">
              <a:ext uri="{FF2B5EF4-FFF2-40B4-BE49-F238E27FC236}">
                <a16:creationId xmlns:a16="http://schemas.microsoft.com/office/drawing/2014/main" id="{B86F6C93-DA40-4FD1-8534-49EC24850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6680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8745A"/>
                </a:solidFill>
              </a:defRPr>
            </a:pPr>
            <a:r>
              <a:rPr sz="21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动作可审计</a:t>
            </a:r>
          </a:p>
        </p:txBody>
      </p:sp>
      <p:sp>
        <p:nvSpPr>
          <p:cNvPr id="7" name="p02-l-0">
            <a:extLst xmlns:a="http://schemas.openxmlformats.org/drawingml/2006/main">
              <a:ext uri="{FF2B5EF4-FFF2-40B4-BE49-F238E27FC236}">
                <a16:creationId xmlns:a16="http://schemas.microsoft.com/office/drawing/2014/main" id="{8B615ED7-B2DA-46AF-B304-060041640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3886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权限矩阵</a:t>
            </a:r>
          </a:p>
        </p:txBody>
      </p:sp>
      <p:sp>
        <p:nvSpPr>
          <p:cNvPr id="8" name="p02-l-1">
            <a:extLst xmlns:a="http://schemas.openxmlformats.org/drawingml/2006/main">
              <a:ext uri="{FF2B5EF4-FFF2-40B4-BE49-F238E27FC236}">
                <a16:creationId xmlns:a16="http://schemas.microsoft.com/office/drawing/2014/main" id="{141BC58A-79E3-4AD0-BD7D-684679AC1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3886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AI 使用记录</a:t>
            </a:r>
          </a:p>
        </p:txBody>
      </p:sp>
      <p:sp>
        <p:nvSpPr>
          <p:cNvPr id="9" name="p02-l-2">
            <a:extLst xmlns:a="http://schemas.openxmlformats.org/drawingml/2006/main">
              <a:ext uri="{FF2B5EF4-FFF2-40B4-BE49-F238E27FC236}">
                <a16:creationId xmlns:a16="http://schemas.microsoft.com/office/drawing/2014/main" id="{7B5F2DEA-ACAB-4790-B0A2-1ECAD64CE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38550"/>
            <a:ext cx="3886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伦理清单</a:t>
            </a:r>
          </a:p>
        </p:txBody>
      </p:sp>
      <p:sp>
        <p:nvSpPr>
          <p:cNvPr id="10" name="p02-gap">
            <a:extLst xmlns:a="http://schemas.openxmlformats.org/drawingml/2006/main">
              <a:ext uri="{FF2B5EF4-FFF2-40B4-BE49-F238E27FC236}">
                <a16:creationId xmlns:a16="http://schemas.microsoft.com/office/drawing/2014/main" id="{FE2797DF-CF49-4099-8C92-15778D6CD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333875" y="2905125"/>
            <a:ext cx="3524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02-gap-label">
            <a:extLst xmlns:a="http://schemas.openxmlformats.org/drawingml/2006/main">
              <a:ext uri="{FF2B5EF4-FFF2-40B4-BE49-F238E27FC236}">
                <a16:creationId xmlns:a16="http://schemas.microsoft.com/office/drawing/2014/main" id="{2E66A198-A840-463F-84A0-906D5ED83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59080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仍未回答</a:t>
            </a:r>
          </a:p>
        </p:txBody>
      </p:sp>
      <p:sp>
        <p:nvSpPr>
          <p:cNvPr id="12" name="p02-right-title">
            <a:extLst xmlns:a="http://schemas.openxmlformats.org/drawingml/2006/main">
              <a:ext uri="{FF2B5EF4-FFF2-40B4-BE49-F238E27FC236}">
                <a16:creationId xmlns:a16="http://schemas.microsoft.com/office/drawing/2014/main" id="{8EA6849E-C429-42B6-8D70-E2D38FD05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06680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材料可信吗</a:t>
            </a:r>
          </a:p>
        </p:txBody>
      </p:sp>
      <p:sp>
        <p:nvSpPr>
          <p:cNvPr id="13" name="p02-r-0">
            <a:extLst xmlns:a="http://schemas.openxmlformats.org/drawingml/2006/main">
              <a:ext uri="{FF2B5EF4-FFF2-40B4-BE49-F238E27FC236}">
                <a16:creationId xmlns:a16="http://schemas.microsoft.com/office/drawing/2014/main" id="{9C8E0DDB-32AF-4D0E-BB40-2D9BEF769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809750"/>
            <a:ext cx="3886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?  论文真实存在？</a:t>
            </a:r>
          </a:p>
        </p:txBody>
      </p:sp>
      <p:sp>
        <p:nvSpPr>
          <p:cNvPr id="14" name="p02-r-1">
            <a:extLst xmlns:a="http://schemas.openxmlformats.org/drawingml/2006/main">
              <a:ext uri="{FF2B5EF4-FFF2-40B4-BE49-F238E27FC236}">
                <a16:creationId xmlns:a16="http://schemas.microsoft.com/office/drawing/2014/main" id="{D234A2E7-B71A-41A4-8ED3-9CF1B063F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24150"/>
            <a:ext cx="3886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?  题名 / 作者 / DOI 一致？</a:t>
            </a:r>
          </a:p>
        </p:txBody>
      </p:sp>
      <p:sp>
        <p:nvSpPr>
          <p:cNvPr id="15" name="p02-r-2">
            <a:extLst xmlns:a="http://schemas.openxmlformats.org/drawingml/2006/main">
              <a:ext uri="{FF2B5EF4-FFF2-40B4-BE49-F238E27FC236}">
                <a16:creationId xmlns:a16="http://schemas.microsoft.com/office/drawing/2014/main" id="{4052334C-7025-4D90-B0F1-0AE304D2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638550"/>
            <a:ext cx="3886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?  任务和限定条件是什么？</a:t>
            </a:r>
          </a:p>
        </p:txBody>
      </p:sp>
      <p:sp>
        <p:nvSpPr>
          <p:cNvPr id="16" name="p02-bottom">
            <a:extLst xmlns:a="http://schemas.openxmlformats.org/drawingml/2006/main">
              <a:ext uri="{FF2B5EF4-FFF2-40B4-BE49-F238E27FC236}">
                <a16:creationId xmlns:a16="http://schemas.microsoft.com/office/drawing/2014/main" id="{6CD53776-F350-44C6-BA1B-424FE036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97205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权限和披露说明 AI 做过什么；来源核验决定材料能不能信。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本课目标与课堂产出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p03-n-0">
            <a:extLst xmlns:a="http://schemas.openxmlformats.org/drawingml/2006/main">
              <a:ext uri="{FF2B5EF4-FFF2-40B4-BE49-F238E27FC236}">
                <a16:creationId xmlns:a16="http://schemas.microsoft.com/office/drawing/2014/main" id="{B3B76BC3-939C-4485-8B23-D18C0D6AF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181100"/>
            <a:ext cx="647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p03-g-0">
            <a:extLst xmlns:a="http://schemas.openxmlformats.org/drawingml/2006/main">
              <a:ext uri="{FF2B5EF4-FFF2-40B4-BE49-F238E27FC236}">
                <a16:creationId xmlns:a16="http://schemas.microsoft.com/office/drawing/2014/main" id="{D0A09225-CF40-4ECD-9D0B-1EDB7CA19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1181100"/>
            <a:ext cx="561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生成关键词、检索式和筛选条件</a:t>
            </a:r>
          </a:p>
        </p:txBody>
      </p:sp>
      <p:sp>
        <p:nvSpPr>
          <p:cNvPr id="8" name="p03-n-1">
            <a:extLst xmlns:a="http://schemas.openxmlformats.org/drawingml/2006/main">
              <a:ext uri="{FF2B5EF4-FFF2-40B4-BE49-F238E27FC236}">
                <a16:creationId xmlns:a16="http://schemas.microsoft.com/office/drawing/2014/main" id="{5CD80A05-0CF3-4620-9145-E1F84909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57400"/>
            <a:ext cx="647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p03-g-1">
            <a:extLst xmlns:a="http://schemas.openxmlformats.org/drawingml/2006/main">
              <a:ext uri="{FF2B5EF4-FFF2-40B4-BE49-F238E27FC236}">
                <a16:creationId xmlns:a16="http://schemas.microsoft.com/office/drawing/2014/main" id="{6D8CAB38-6940-40E6-BDB4-57523EFC3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057400"/>
            <a:ext cx="561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区分四种证据角色</a:t>
            </a:r>
          </a:p>
        </p:txBody>
      </p:sp>
      <p:sp>
        <p:nvSpPr>
          <p:cNvPr id="10" name="p03-n-2">
            <a:extLst xmlns:a="http://schemas.openxmlformats.org/drawingml/2006/main">
              <a:ext uri="{FF2B5EF4-FFF2-40B4-BE49-F238E27FC236}">
                <a16:creationId xmlns:a16="http://schemas.microsoft.com/office/drawing/2014/main" id="{F07C9C26-E6ED-4B5A-9123-FE53EF4D9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33700"/>
            <a:ext cx="647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1" name="p03-g-2">
            <a:extLst xmlns:a="http://schemas.openxmlformats.org/drawingml/2006/main">
              <a:ext uri="{FF2B5EF4-FFF2-40B4-BE49-F238E27FC236}">
                <a16:creationId xmlns:a16="http://schemas.microsoft.com/office/drawing/2014/main" id="{BDA4BA0C-BCDC-462D-8ECD-E015CA3F6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33700"/>
            <a:ext cx="561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执行回原文核验</a:t>
            </a:r>
          </a:p>
        </p:txBody>
      </p:sp>
      <p:sp>
        <p:nvSpPr>
          <p:cNvPr id="12" name="p03-n-3">
            <a:extLst xmlns:a="http://schemas.openxmlformats.org/drawingml/2006/main">
              <a:ext uri="{FF2B5EF4-FFF2-40B4-BE49-F238E27FC236}">
                <a16:creationId xmlns:a16="http://schemas.microsoft.com/office/drawing/2014/main" id="{1FB22CF3-6D33-44D8-8719-1A6E4904C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10000"/>
            <a:ext cx="647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3" name="p03-g-3">
            <a:extLst xmlns:a="http://schemas.openxmlformats.org/drawingml/2006/main">
              <a:ext uri="{FF2B5EF4-FFF2-40B4-BE49-F238E27FC236}">
                <a16:creationId xmlns:a16="http://schemas.microsoft.com/office/drawing/2014/main" id="{B3180C43-9742-4A25-9818-95F42C525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810000"/>
            <a:ext cx="561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建立候选文献表第一版</a:t>
            </a:r>
          </a:p>
        </p:txBody>
      </p:sp>
      <p:sp>
        <p:nvSpPr>
          <p:cNvPr id="14" name="p03-output">
            <a:extLst xmlns:a="http://schemas.openxmlformats.org/drawingml/2006/main">
              <a:ext uri="{FF2B5EF4-FFF2-40B4-BE49-F238E27FC236}">
                <a16:creationId xmlns:a16="http://schemas.microsoft.com/office/drawing/2014/main" id="{CA49808D-4206-41F9-A2ED-5CD3B8019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2001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课堂产出</a:t>
            </a:r>
          </a:p>
        </p:txBody>
      </p:sp>
      <p:sp>
        <p:nvSpPr>
          <p:cNvPr id="15" name="p03-output-body">
            <a:extLst xmlns:a="http://schemas.openxmlformats.org/drawingml/2006/main">
              <a:ext uri="{FF2B5EF4-FFF2-40B4-BE49-F238E27FC236}">
                <a16:creationId xmlns:a16="http://schemas.microsoft.com/office/drawing/2014/main" id="{80C7CAF9-38A3-44FF-A81C-C3F5F28B7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790700"/>
            <a:ext cx="33337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1 条检索记录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+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2 条来源审计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+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1 条 verified / caveat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+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1 条 AI 使用记录</a:t>
            </a:r>
          </a:p>
        </p:txBody>
      </p:sp>
      <p:sp>
        <p:nvSpPr>
          <p:cNvPr id="16" name="p03-bottom">
            <a:extLst xmlns:a="http://schemas.openxmlformats.org/drawingml/2006/main">
              <a:ext uri="{FF2B5EF4-FFF2-40B4-BE49-F238E27FC236}">
                <a16:creationId xmlns:a16="http://schemas.microsoft.com/office/drawing/2014/main" id="{70FAFA27-133A-461A-9019-7130D2F68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029200"/>
            <a:ext cx="666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本课不正式提交，第 6 课问题门统一检查。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搜得多不等于证据充分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p04-bad">
            <a:extLst xmlns:a="http://schemas.openxmlformats.org/drawingml/2006/main">
              <a:ext uri="{FF2B5EF4-FFF2-40B4-BE49-F238E27FC236}">
                <a16:creationId xmlns:a16="http://schemas.microsoft.com/office/drawing/2014/main" id="{846A7662-80D0-4623-9916-4828437E3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85900"/>
            <a:ext cx="4286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400" b="1">
                <a:solidFill>
                  <a:srgbClr val="C8161E"/>
                </a:solidFill>
              </a:defRPr>
            </a:pPr>
            <a:r>
              <a:rPr sz="24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50 篇论文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2400" b="1">
                <a:solidFill>
                  <a:srgbClr val="C8161E"/>
                </a:solidFill>
              </a:defRPr>
            </a:pPr>
            <a:r>
              <a:rPr sz="24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全部标成“主证据”</a:t>
            </a:r>
          </a:p>
        </p:txBody>
      </p:sp>
      <p:sp>
        <p:nvSpPr>
          <p:cNvPr id="7" name="p04-x">
            <a:extLst xmlns:a="http://schemas.openxmlformats.org/drawingml/2006/main">
              <a:ext uri="{FF2B5EF4-FFF2-40B4-BE49-F238E27FC236}">
                <a16:creationId xmlns:a16="http://schemas.microsoft.com/office/drawing/2014/main" id="{385DB041-DAC8-40FE-8DFF-74F7F1A04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114550"/>
            <a:ext cx="1409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4200" b="1">
                <a:solidFill>
                  <a:srgbClr val="C8161E"/>
                </a:solidFill>
              </a:defRPr>
            </a:pPr>
            <a:r>
              <a:rPr sz="42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≠</a:t>
            </a:r>
          </a:p>
        </p:txBody>
      </p:sp>
      <p:sp>
        <p:nvSpPr>
          <p:cNvPr id="8" name="p04-good">
            <a:extLst xmlns:a="http://schemas.openxmlformats.org/drawingml/2006/main">
              <a:ext uri="{FF2B5EF4-FFF2-40B4-BE49-F238E27FC236}">
                <a16:creationId xmlns:a16="http://schemas.microsoft.com/office/drawing/2014/main" id="{9B3C2D66-6A69-421E-9665-0F287735D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485900"/>
            <a:ext cx="4286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8354E"/>
                </a:solidFill>
              </a:defRPr>
            </a:pPr>
            <a:r>
              <a:rPr sz="28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证据充分</a:t>
            </a:r>
          </a:p>
        </p:txBody>
      </p:sp>
      <p:sp>
        <p:nvSpPr>
          <p:cNvPr id="9" name="p04-errors">
            <a:extLst xmlns:a="http://schemas.openxmlformats.org/drawingml/2006/main">
              <a:ext uri="{FF2B5EF4-FFF2-40B4-BE49-F238E27FC236}">
                <a16:creationId xmlns:a16="http://schemas.microsoft.com/office/drawing/2014/main" id="{1D005447-AA9E-45F0-93F9-0B4D2319F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905250"/>
            <a:ext cx="9334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667684"/>
                </a:solidFill>
              </a:defRPr>
            </a:pPr>
            <a:r>
              <a:rPr sz="16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直接复制 AI 引文　｜　悄悄排除反例　｜　不记录检索式</a:t>
            </a:r>
          </a:p>
        </p:txBody>
      </p:sp>
      <p:sp>
        <p:nvSpPr>
          <p:cNvPr id="10" name="p04-bottom">
            <a:extLst xmlns:a="http://schemas.openxmlformats.org/drawingml/2006/main">
              <a:ext uri="{FF2B5EF4-FFF2-40B4-BE49-F238E27FC236}">
                <a16:creationId xmlns:a16="http://schemas.microsoft.com/office/drawing/2014/main" id="{A0102083-E100-4B25-A8B2-084346CC5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010150"/>
            <a:ext cx="723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充分性来自角色清晰与实质独立，不来自数量。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外部输入不止论文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p05-h-0">
            <a:extLst xmlns:a="http://schemas.openxmlformats.org/drawingml/2006/main">
              <a:ext uri="{FF2B5EF4-FFF2-40B4-BE49-F238E27FC236}">
                <a16:creationId xmlns:a16="http://schemas.microsoft.com/office/drawing/2014/main" id="{D7E30299-12F2-43F7-B064-037ACDAF0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9650"/>
            <a:ext cx="3143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类型</a:t>
            </a:r>
          </a:p>
        </p:txBody>
      </p:sp>
      <p:sp>
        <p:nvSpPr>
          <p:cNvPr id="7" name="p05-h-1">
            <a:extLst xmlns:a="http://schemas.openxmlformats.org/drawingml/2006/main">
              <a:ext uri="{FF2B5EF4-FFF2-40B4-BE49-F238E27FC236}">
                <a16:creationId xmlns:a16="http://schemas.microsoft.com/office/drawing/2014/main" id="{B9E96DC6-38DB-4FEF-BC19-F3E415884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009650"/>
            <a:ext cx="4000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例子</a:t>
            </a:r>
          </a:p>
        </p:txBody>
      </p:sp>
      <p:sp>
        <p:nvSpPr>
          <p:cNvPr id="8" name="p05-h-2">
            <a:extLst xmlns:a="http://schemas.openxmlformats.org/drawingml/2006/main">
              <a:ext uri="{FF2B5EF4-FFF2-40B4-BE49-F238E27FC236}">
                <a16:creationId xmlns:a16="http://schemas.microsoft.com/office/drawing/2014/main" id="{DA4AEAF7-9F7F-4824-A00E-603FE3DBF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009650"/>
            <a:ext cx="4286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用途／核验重点</a:t>
            </a:r>
          </a:p>
        </p:txBody>
      </p:sp>
      <p:sp>
        <p:nvSpPr>
          <p:cNvPr id="9" name="p05-r0-0">
            <a:extLst xmlns:a="http://schemas.openxmlformats.org/drawingml/2006/main">
              <a:ext uri="{FF2B5EF4-FFF2-40B4-BE49-F238E27FC236}">
                <a16:creationId xmlns:a16="http://schemas.microsoft.com/office/drawing/2014/main" id="{30AB98F4-962A-4AD9-87D3-D1A1B1740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85900"/>
            <a:ext cx="3143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同行评议论文</a:t>
            </a:r>
          </a:p>
        </p:txBody>
      </p:sp>
      <p:sp>
        <p:nvSpPr>
          <p:cNvPr id="10" name="p05-r0-1">
            <a:extLst xmlns:a="http://schemas.openxmlformats.org/drawingml/2006/main">
              <a:ext uri="{FF2B5EF4-FFF2-40B4-BE49-F238E27FC236}">
                <a16:creationId xmlns:a16="http://schemas.microsoft.com/office/drawing/2014/main" id="{E94524F8-837D-4018-A7B9-44AD87D8C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48590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期刊、会议</a:t>
            </a:r>
          </a:p>
        </p:txBody>
      </p:sp>
      <p:sp>
        <p:nvSpPr>
          <p:cNvPr id="11" name="p05-r0-2">
            <a:extLst xmlns:a="http://schemas.openxmlformats.org/drawingml/2006/main">
              <a:ext uri="{FF2B5EF4-FFF2-40B4-BE49-F238E27FC236}">
                <a16:creationId xmlns:a16="http://schemas.microsoft.com/office/drawing/2014/main" id="{3C959C32-8753-4232-8B71-68B501206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485900"/>
            <a:ext cx="4286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任务、设置、主张、限定</a:t>
            </a:r>
          </a:p>
        </p:txBody>
      </p:sp>
      <p:sp>
        <p:nvSpPr>
          <p:cNvPr id="12" name="p05-r1-0">
            <a:extLst xmlns:a="http://schemas.openxmlformats.org/drawingml/2006/main">
              <a:ext uri="{FF2B5EF4-FFF2-40B4-BE49-F238E27FC236}">
                <a16:creationId xmlns:a16="http://schemas.microsoft.com/office/drawing/2014/main" id="{D8C7E6F0-4A94-48FD-929F-F74D55A33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38350"/>
            <a:ext cx="3143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经典书籍选章</a:t>
            </a:r>
          </a:p>
        </p:txBody>
      </p:sp>
      <p:sp>
        <p:nvSpPr>
          <p:cNvPr id="13" name="p05-r1-1">
            <a:extLst xmlns:a="http://schemas.openxmlformats.org/drawingml/2006/main">
              <a:ext uri="{FF2B5EF4-FFF2-40B4-BE49-F238E27FC236}">
                <a16:creationId xmlns:a16="http://schemas.microsoft.com/office/drawing/2014/main" id="{04262571-BC87-46C6-A372-7E3A26511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03835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方法论、统计</a:t>
            </a:r>
          </a:p>
        </p:txBody>
      </p:sp>
      <p:sp>
        <p:nvSpPr>
          <p:cNvPr id="14" name="p05-r1-2">
            <a:extLst xmlns:a="http://schemas.openxmlformats.org/drawingml/2006/main">
              <a:ext uri="{FF2B5EF4-FFF2-40B4-BE49-F238E27FC236}">
                <a16:creationId xmlns:a16="http://schemas.microsoft.com/office/drawing/2014/main" id="{C1BA8620-B768-4E11-9424-A455F4C56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38350"/>
            <a:ext cx="4286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版本、章节、适用范围</a:t>
            </a:r>
          </a:p>
        </p:txBody>
      </p:sp>
      <p:sp>
        <p:nvSpPr>
          <p:cNvPr id="15" name="p05-r2-0">
            <a:extLst xmlns:a="http://schemas.openxmlformats.org/drawingml/2006/main">
              <a:ext uri="{FF2B5EF4-FFF2-40B4-BE49-F238E27FC236}">
                <a16:creationId xmlns:a16="http://schemas.microsoft.com/office/drawing/2014/main" id="{0A15CC61-10DC-4ACA-BA2D-E4E590599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590800"/>
            <a:ext cx="3143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正式规范</a:t>
            </a:r>
          </a:p>
        </p:txBody>
      </p:sp>
      <p:sp>
        <p:nvSpPr>
          <p:cNvPr id="16" name="p05-r2-1">
            <a:extLst xmlns:a="http://schemas.openxmlformats.org/drawingml/2006/main">
              <a:ext uri="{FF2B5EF4-FFF2-40B4-BE49-F238E27FC236}">
                <a16:creationId xmlns:a16="http://schemas.microsoft.com/office/drawing/2014/main" id="{66A976C9-10CD-48E1-AE5C-1587C7057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59080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PRISMA、ACM Badging</a:t>
            </a:r>
          </a:p>
        </p:txBody>
      </p:sp>
      <p:sp>
        <p:nvSpPr>
          <p:cNvPr id="17" name="p05-r2-2">
            <a:extLst xmlns:a="http://schemas.openxmlformats.org/drawingml/2006/main">
              <a:ext uri="{FF2B5EF4-FFF2-40B4-BE49-F238E27FC236}">
                <a16:creationId xmlns:a16="http://schemas.microsoft.com/office/drawing/2014/main" id="{1B6B7072-B32D-40BF-970C-4ED4C6E79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590800"/>
            <a:ext cx="4286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发布机构、版本、对象</a:t>
            </a:r>
          </a:p>
        </p:txBody>
      </p:sp>
      <p:sp>
        <p:nvSpPr>
          <p:cNvPr id="18" name="p05-r3-0">
            <a:extLst xmlns:a="http://schemas.openxmlformats.org/drawingml/2006/main">
              <a:ext uri="{FF2B5EF4-FFF2-40B4-BE49-F238E27FC236}">
                <a16:creationId xmlns:a16="http://schemas.microsoft.com/office/drawing/2014/main" id="{14F7A49F-7DB0-4954-A695-CC255EEC5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143250"/>
            <a:ext cx="3143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代码与数据集</a:t>
            </a:r>
          </a:p>
        </p:txBody>
      </p:sp>
      <p:sp>
        <p:nvSpPr>
          <p:cNvPr id="19" name="p05-r3-1">
            <a:extLst xmlns:a="http://schemas.openxmlformats.org/drawingml/2006/main">
              <a:ext uri="{FF2B5EF4-FFF2-40B4-BE49-F238E27FC236}">
                <a16:creationId xmlns:a16="http://schemas.microsoft.com/office/drawing/2014/main" id="{E8207018-C3EE-46D1-A88D-428115B02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14325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GitHub、数据卡片</a:t>
            </a:r>
          </a:p>
        </p:txBody>
      </p:sp>
      <p:sp>
        <p:nvSpPr>
          <p:cNvPr id="20" name="p05-r3-2">
            <a:extLst xmlns:a="http://schemas.openxmlformats.org/drawingml/2006/main">
              <a:ext uri="{FF2B5EF4-FFF2-40B4-BE49-F238E27FC236}">
                <a16:creationId xmlns:a16="http://schemas.microsoft.com/office/drawing/2014/main" id="{B6A91368-9907-48A6-9FAA-FBF209163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143250"/>
            <a:ext cx="4286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身份、commit、许可、版本</a:t>
            </a:r>
          </a:p>
        </p:txBody>
      </p:sp>
      <p:sp>
        <p:nvSpPr>
          <p:cNvPr id="21" name="p05-r4-0">
            <a:extLst xmlns:a="http://schemas.openxmlformats.org/drawingml/2006/main">
              <a:ext uri="{FF2B5EF4-FFF2-40B4-BE49-F238E27FC236}">
                <a16:creationId xmlns:a16="http://schemas.microsoft.com/office/drawing/2014/main" id="{8C079C17-97E4-457F-9F6E-5E535D4A4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695700"/>
            <a:ext cx="3143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官方文档</a:t>
            </a:r>
          </a:p>
        </p:txBody>
      </p:sp>
      <p:sp>
        <p:nvSpPr>
          <p:cNvPr id="22" name="p05-r4-1">
            <a:extLst xmlns:a="http://schemas.openxmlformats.org/drawingml/2006/main">
              <a:ext uri="{FF2B5EF4-FFF2-40B4-BE49-F238E27FC236}">
                <a16:creationId xmlns:a16="http://schemas.microsoft.com/office/drawing/2014/main" id="{63DF8574-CD86-435C-B1FE-7C29E58F6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69570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协议、API</a:t>
            </a:r>
          </a:p>
        </p:txBody>
      </p:sp>
      <p:sp>
        <p:nvSpPr>
          <p:cNvPr id="23" name="p05-r4-2">
            <a:extLst xmlns:a="http://schemas.openxmlformats.org/drawingml/2006/main">
              <a:ext uri="{FF2B5EF4-FFF2-40B4-BE49-F238E27FC236}">
                <a16:creationId xmlns:a16="http://schemas.microsoft.com/office/drawing/2014/main" id="{10C32474-D9BF-437F-A3FD-695C3C6F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695700"/>
            <a:ext cx="4286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官方身份、版本、时效</a:t>
            </a:r>
          </a:p>
        </p:txBody>
      </p:sp>
      <p:sp>
        <p:nvSpPr>
          <p:cNvPr id="24" name="p05-r5-0">
            <a:extLst xmlns:a="http://schemas.openxmlformats.org/drawingml/2006/main">
              <a:ext uri="{FF2B5EF4-FFF2-40B4-BE49-F238E27FC236}">
                <a16:creationId xmlns:a16="http://schemas.microsoft.com/office/drawing/2014/main" id="{C9DED33D-1CA5-42F2-9894-09FF8C8D1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248150"/>
            <a:ext cx="3143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工程文章、issue</a:t>
            </a:r>
          </a:p>
        </p:txBody>
      </p:sp>
      <p:sp>
        <p:nvSpPr>
          <p:cNvPr id="25" name="p05-r5-1">
            <a:extLst xmlns:a="http://schemas.openxmlformats.org/drawingml/2006/main">
              <a:ext uri="{FF2B5EF4-FFF2-40B4-BE49-F238E27FC236}">
                <a16:creationId xmlns:a16="http://schemas.microsoft.com/office/drawing/2014/main" id="{E1AE2DC5-2968-45D3-9639-AA1233D03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24815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厂商文、失败记录</a:t>
            </a:r>
          </a:p>
        </p:txBody>
      </p:sp>
      <p:sp>
        <p:nvSpPr>
          <p:cNvPr id="26" name="p05-r5-2">
            <a:extLst xmlns:a="http://schemas.openxmlformats.org/drawingml/2006/main">
              <a:ext uri="{FF2B5EF4-FFF2-40B4-BE49-F238E27FC236}">
                <a16:creationId xmlns:a16="http://schemas.microsoft.com/office/drawing/2014/main" id="{C838EAC5-87A6-4331-83D0-D0FB51245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248150"/>
            <a:ext cx="4286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主体、上下文、可追溯性</a:t>
            </a:r>
          </a:p>
        </p:txBody>
      </p:sp>
      <p:sp>
        <p:nvSpPr>
          <p:cNvPr id="27" name="p05-r6-0">
            <a:extLst xmlns:a="http://schemas.openxmlformats.org/drawingml/2006/main">
              <a:ext uri="{FF2B5EF4-FFF2-40B4-BE49-F238E27FC236}">
                <a16:creationId xmlns:a16="http://schemas.microsoft.com/office/drawing/2014/main" id="{8F01E1F1-F789-4B61-9397-109B43A3B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00600"/>
            <a:ext cx="3143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 搜索结果</a:t>
            </a:r>
          </a:p>
        </p:txBody>
      </p:sp>
      <p:sp>
        <p:nvSpPr>
          <p:cNvPr id="28" name="p05-r6-1">
            <a:extLst xmlns:a="http://schemas.openxmlformats.org/drawingml/2006/main">
              <a:ext uri="{FF2B5EF4-FFF2-40B4-BE49-F238E27FC236}">
                <a16:creationId xmlns:a16="http://schemas.microsoft.com/office/drawing/2014/main" id="{64FA3D1D-763F-4F9E-BDDB-3311350A2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0060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模型候选列表</a:t>
            </a:r>
          </a:p>
        </p:txBody>
      </p:sp>
      <p:sp>
        <p:nvSpPr>
          <p:cNvPr id="29" name="p05-r6-2">
            <a:extLst xmlns:a="http://schemas.openxmlformats.org/drawingml/2006/main">
              <a:ext uri="{FF2B5EF4-FFF2-40B4-BE49-F238E27FC236}">
                <a16:creationId xmlns:a16="http://schemas.microsoft.com/office/drawing/2014/main" id="{29B80489-3D86-4FC3-85D4-173090F92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00600"/>
            <a:ext cx="4286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仅作发现线索，回正式来源</a:t>
            </a:r>
          </a:p>
        </p:txBody>
      </p:sp>
      <p:sp>
        <p:nvSpPr>
          <p:cNvPr id="30" name="p05-bottom">
            <a:extLst xmlns:a="http://schemas.openxmlformats.org/drawingml/2006/main">
              <a:ext uri="{FF2B5EF4-FFF2-40B4-BE49-F238E27FC236}">
                <a16:creationId xmlns:a16="http://schemas.microsoft.com/office/drawing/2014/main" id="{EB759AB0-3D2F-4334-B52A-B074D6972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2925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来源类型不自动决定可信度或证据角色；角色要相对于当前问题或拟用主张判断。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先写问题初稿，再搜材料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p06-topic">
            <a:extLst xmlns:a="http://schemas.openxmlformats.org/drawingml/2006/main">
              <a:ext uri="{FF2B5EF4-FFF2-40B4-BE49-F238E27FC236}">
                <a16:creationId xmlns:a16="http://schemas.microsoft.com/office/drawing/2014/main" id="{A1ADCD63-19A3-4C1E-BD97-981395C5E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95450"/>
            <a:ext cx="25717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宽泛主题</a:t>
            </a:r>
          </a:p>
          <a:p xmlns:a="http://schemas.openxmlformats.org/drawingml/2006/main">
            <a:pPr algn="ctr"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AI 辅助论文阅读</a:t>
            </a:r>
          </a:p>
        </p:txBody>
      </p:sp>
      <p:sp>
        <p:nvSpPr>
          <p:cNvPr id="7" name="p06-a1">
            <a:extLst xmlns:a="http://schemas.openxmlformats.org/drawingml/2006/main">
              <a:ext uri="{FF2B5EF4-FFF2-40B4-BE49-F238E27FC236}">
                <a16:creationId xmlns:a16="http://schemas.microsoft.com/office/drawing/2014/main" id="{96780875-A8DF-42BF-BCB0-7F2AA90D0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24790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8" name="p06-question">
            <a:extLst xmlns:a="http://schemas.openxmlformats.org/drawingml/2006/main">
              <a:ext uri="{FF2B5EF4-FFF2-40B4-BE49-F238E27FC236}">
                <a16:creationId xmlns:a16="http://schemas.microsoft.com/office/drawing/2014/main" id="{FC640077-5586-48B1-811C-AB0478BDD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314450"/>
            <a:ext cx="476250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可检索的问题初稿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在逐条核验引用的计算机论文阅读任务中，结构化阅读卡是否降低 AI 摘要的限定条件遗漏率？</a:t>
            </a:r>
          </a:p>
        </p:txBody>
      </p:sp>
      <p:sp>
        <p:nvSpPr>
          <p:cNvPr id="9" name="p06-a2">
            <a:extLst xmlns:a="http://schemas.openxmlformats.org/drawingml/2006/main">
              <a:ext uri="{FF2B5EF4-FFF2-40B4-BE49-F238E27FC236}">
                <a16:creationId xmlns:a16="http://schemas.microsoft.com/office/drawing/2014/main" id="{E940276E-C6C9-4661-A2D1-9DE0F39F2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24790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p06-words">
            <a:extLst xmlns:a="http://schemas.openxmlformats.org/drawingml/2006/main">
              <a:ext uri="{FF2B5EF4-FFF2-40B4-BE49-F238E27FC236}">
                <a16:creationId xmlns:a16="http://schemas.microsoft.com/office/drawing/2014/main" id="{9A23AAF0-CDC5-4223-AE16-6B077BFB3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485900"/>
            <a:ext cx="2324100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五个关键词</a:t>
            </a:r>
          </a:p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结构化阅读卡</a:t>
            </a:r>
          </a:p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AI 摘要｜限定条件</a:t>
            </a:r>
          </a:p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遗漏率｜引用核验</a:t>
            </a:r>
          </a:p>
        </p:txBody>
      </p:sp>
      <p:sp>
        <p:nvSpPr>
          <p:cNvPr id="11" name="p06-expand">
            <a:extLst xmlns:a="http://schemas.openxmlformats.org/drawingml/2006/main">
              <a:ext uri="{FF2B5EF4-FFF2-40B4-BE49-F238E27FC236}">
                <a16:creationId xmlns:a16="http://schemas.microsoft.com/office/drawing/2014/main" id="{664B33AE-67DA-4B4C-8A91-3090EA0DA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438650"/>
            <a:ext cx="88773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8745A"/>
                </a:solidFill>
              </a:defRPr>
            </a:pPr>
            <a:r>
              <a:rPr sz="18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每个词再扩展：同义词　｜　上位词　｜　下位词　→　检索词网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检索式可被他人复盘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p07-code">
            <a:extLst xmlns:a="http://schemas.openxmlformats.org/drawingml/2006/main">
              <a:ext uri="{FF2B5EF4-FFF2-40B4-BE49-F238E27FC236}">
                <a16:creationId xmlns:a16="http://schemas.microsoft.com/office/drawing/2014/main" id="{71ABA5B9-AD66-4690-A7F5-271983F1C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23950"/>
            <a:ext cx="107442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228600" tIns="171450" rIns="228600" bIns="171450" anchor="ctr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("reading card" OR "reading template" OR "structured reading")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AND ("AI summary" OR "LLM summary" OR "AI-generated abstract")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AND ("limitation" OR "scope" OR "boundary")</a:t>
            </a:r>
          </a:p>
        </p:txBody>
      </p:sp>
      <p:sp>
        <p:nvSpPr>
          <p:cNvPr id="7" name="p07-tag-0">
            <a:extLst xmlns:a="http://schemas.openxmlformats.org/drawingml/2006/main">
              <a:ext uri="{FF2B5EF4-FFF2-40B4-BE49-F238E27FC236}">
                <a16:creationId xmlns:a16="http://schemas.microsoft.com/office/drawing/2014/main" id="{F3A7E550-EA6C-4795-87E1-FAC7D7F7A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19450"/>
            <a:ext cx="1905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布尔算子</a:t>
            </a:r>
          </a:p>
        </p:txBody>
      </p:sp>
      <p:sp>
        <p:nvSpPr>
          <p:cNvPr id="8" name="p07-tag-1">
            <a:extLst xmlns:a="http://schemas.openxmlformats.org/drawingml/2006/main">
              <a:ext uri="{FF2B5EF4-FFF2-40B4-BE49-F238E27FC236}">
                <a16:creationId xmlns:a16="http://schemas.microsoft.com/office/drawing/2014/main" id="{0C5E9218-DCAE-4C48-BFBC-86396D09F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219450"/>
            <a:ext cx="1905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字段限定</a:t>
            </a:r>
          </a:p>
        </p:txBody>
      </p:sp>
      <p:sp>
        <p:nvSpPr>
          <p:cNvPr id="9" name="p07-tag-2">
            <a:extLst xmlns:a="http://schemas.openxmlformats.org/drawingml/2006/main">
              <a:ext uri="{FF2B5EF4-FFF2-40B4-BE49-F238E27FC236}">
                <a16:creationId xmlns:a16="http://schemas.microsoft.com/office/drawing/2014/main" id="{7602B6D5-31AD-46FD-A8F9-D4C4C0857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219450"/>
            <a:ext cx="1905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截断通配</a:t>
            </a:r>
          </a:p>
        </p:txBody>
      </p:sp>
      <p:sp>
        <p:nvSpPr>
          <p:cNvPr id="10" name="p07-tag-3">
            <a:extLst xmlns:a="http://schemas.openxmlformats.org/drawingml/2006/main">
              <a:ext uri="{FF2B5EF4-FFF2-40B4-BE49-F238E27FC236}">
                <a16:creationId xmlns:a16="http://schemas.microsoft.com/office/drawing/2014/main" id="{57A5981F-132F-4254-944A-63A677BAA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219450"/>
            <a:ext cx="1905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短语</a:t>
            </a:r>
          </a:p>
        </p:txBody>
      </p:sp>
      <p:sp>
        <p:nvSpPr>
          <p:cNvPr id="11" name="p07-tag-4">
            <a:extLst xmlns:a="http://schemas.openxmlformats.org/drawingml/2006/main">
              <a:ext uri="{FF2B5EF4-FFF2-40B4-BE49-F238E27FC236}">
                <a16:creationId xmlns:a16="http://schemas.microsoft.com/office/drawing/2014/main" id="{5653CE68-8E60-4BBE-883D-739C8B307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219450"/>
            <a:ext cx="1905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时间 / 类型</a:t>
            </a:r>
          </a:p>
        </p:txBody>
      </p:sp>
      <p:sp>
        <p:nvSpPr>
          <p:cNvPr id="12" name="p07-record">
            <a:extLst xmlns:a="http://schemas.openxmlformats.org/drawingml/2006/main">
              <a:ext uri="{FF2B5EF4-FFF2-40B4-BE49-F238E27FC236}">
                <a16:creationId xmlns:a16="http://schemas.microsoft.com/office/drawing/2014/main" id="{DD6A6DFA-A6D0-4744-A5F2-EF4D4BE59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24350"/>
            <a:ext cx="10096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检索记录：库　｜　检索式　｜　日期　｜　命中数　｜　纳入排除　｜　筛选数</a:t>
            </a:r>
          </a:p>
        </p:txBody>
      </p:sp>
      <p:sp>
        <p:nvSpPr>
          <p:cNvPr id="13" name="p07-bottom">
            <a:extLst xmlns:a="http://schemas.openxmlformats.org/drawingml/2006/main">
              <a:ext uri="{FF2B5EF4-FFF2-40B4-BE49-F238E27FC236}">
                <a16:creationId xmlns:a16="http://schemas.microsoft.com/office/drawing/2014/main" id="{F6F4F06E-B594-44F5-8497-9DF0F2B9C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238750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别人能复盘，才算检索方法。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纳入与排除条件检索前先写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p08-a-0">
            <a:extLst xmlns:a="http://schemas.openxmlformats.org/drawingml/2006/main">
              <a:ext uri="{FF2B5EF4-FFF2-40B4-BE49-F238E27FC236}">
                <a16:creationId xmlns:a16="http://schemas.microsoft.com/office/drawing/2014/main" id="{ACA9528F-63F9-44BE-AE3E-17CB2D67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10490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时间范围</a:t>
            </a:r>
          </a:p>
        </p:txBody>
      </p:sp>
      <p:sp>
        <p:nvSpPr>
          <p:cNvPr id="7" name="p08-arrow-0">
            <a:extLst xmlns:a="http://schemas.openxmlformats.org/drawingml/2006/main">
              <a:ext uri="{FF2B5EF4-FFF2-40B4-BE49-F238E27FC236}">
                <a16:creationId xmlns:a16="http://schemas.microsoft.com/office/drawing/2014/main" id="{4B33EF8D-35CD-4C25-A489-49C92BCD0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18110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8" name="p08-b-0">
            <a:extLst xmlns:a="http://schemas.openxmlformats.org/drawingml/2006/main">
              <a:ext uri="{FF2B5EF4-FFF2-40B4-BE49-F238E27FC236}">
                <a16:creationId xmlns:a16="http://schemas.microsoft.com/office/drawing/2014/main" id="{A15BF739-FC90-428D-B77F-027086528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104900"/>
            <a:ext cx="666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为何从某年开始？</a:t>
            </a:r>
          </a:p>
        </p:txBody>
      </p:sp>
      <p:sp>
        <p:nvSpPr>
          <p:cNvPr id="9" name="p08-a-1">
            <a:extLst xmlns:a="http://schemas.openxmlformats.org/drawingml/2006/main">
              <a:ext uri="{FF2B5EF4-FFF2-40B4-BE49-F238E27FC236}">
                <a16:creationId xmlns:a16="http://schemas.microsoft.com/office/drawing/2014/main" id="{5454FAA6-A8FB-438C-B6D5-A562060CB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0500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文献类型</a:t>
            </a:r>
          </a:p>
        </p:txBody>
      </p:sp>
      <p:sp>
        <p:nvSpPr>
          <p:cNvPr id="10" name="p08-arrow-1">
            <a:extLst xmlns:a="http://schemas.openxmlformats.org/drawingml/2006/main">
              <a:ext uri="{FF2B5EF4-FFF2-40B4-BE49-F238E27FC236}">
                <a16:creationId xmlns:a16="http://schemas.microsoft.com/office/drawing/2014/main" id="{9C9CF989-BA89-4EE3-A353-A2B89FFCB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98120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p08-b-1">
            <a:extLst xmlns:a="http://schemas.openxmlformats.org/drawingml/2006/main">
              <a:ext uri="{FF2B5EF4-FFF2-40B4-BE49-F238E27FC236}">
                <a16:creationId xmlns:a16="http://schemas.microsoft.com/office/drawing/2014/main" id="{1BE8E42E-A647-42E5-B5FC-EA462D1F5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905000"/>
            <a:ext cx="666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同行评议 / 预印本 / 综述</a:t>
            </a:r>
          </a:p>
        </p:txBody>
      </p:sp>
      <p:sp>
        <p:nvSpPr>
          <p:cNvPr id="12" name="p08-a-2">
            <a:extLst xmlns:a="http://schemas.openxmlformats.org/drawingml/2006/main">
              <a:ext uri="{FF2B5EF4-FFF2-40B4-BE49-F238E27FC236}">
                <a16:creationId xmlns:a16="http://schemas.microsoft.com/office/drawing/2014/main" id="{D988B21F-590F-4E96-A7CA-6C7A80364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语言</a:t>
            </a:r>
          </a:p>
        </p:txBody>
      </p:sp>
      <p:sp>
        <p:nvSpPr>
          <p:cNvPr id="13" name="p08-arrow-2">
            <a:extLst xmlns:a="http://schemas.openxmlformats.org/drawingml/2006/main">
              <a:ext uri="{FF2B5EF4-FFF2-40B4-BE49-F238E27FC236}">
                <a16:creationId xmlns:a16="http://schemas.microsoft.com/office/drawing/2014/main" id="{F2A0EBA2-D38A-4978-A764-FBFD8FEA3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78130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p08-b-2">
            <a:extLst xmlns:a="http://schemas.openxmlformats.org/drawingml/2006/main">
              <a:ext uri="{FF2B5EF4-FFF2-40B4-BE49-F238E27FC236}">
                <a16:creationId xmlns:a16="http://schemas.microsoft.com/office/drawing/2014/main" id="{8943167E-47E4-407F-899C-872CE074C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705100"/>
            <a:ext cx="666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限制语言需说明偏倚</a:t>
            </a:r>
          </a:p>
        </p:txBody>
      </p:sp>
      <p:sp>
        <p:nvSpPr>
          <p:cNvPr id="15" name="p08-a-3">
            <a:extLst xmlns:a="http://schemas.openxmlformats.org/drawingml/2006/main">
              <a:ext uri="{FF2B5EF4-FFF2-40B4-BE49-F238E27FC236}">
                <a16:creationId xmlns:a16="http://schemas.microsoft.com/office/drawing/2014/main" id="{CFD0DF20-C5B0-4363-9384-E6C65B787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0520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研究类型</a:t>
            </a:r>
          </a:p>
        </p:txBody>
      </p:sp>
      <p:sp>
        <p:nvSpPr>
          <p:cNvPr id="16" name="p08-arrow-3">
            <a:extLst xmlns:a="http://schemas.openxmlformats.org/drawingml/2006/main">
              <a:ext uri="{FF2B5EF4-FFF2-40B4-BE49-F238E27FC236}">
                <a16:creationId xmlns:a16="http://schemas.microsoft.com/office/drawing/2014/main" id="{E9E1C422-4ED3-4E59-BB99-9EF424D20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8140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7" name="p08-b-3">
            <a:extLst xmlns:a="http://schemas.openxmlformats.org/drawingml/2006/main">
              <a:ext uri="{FF2B5EF4-FFF2-40B4-BE49-F238E27FC236}">
                <a16:creationId xmlns:a16="http://schemas.microsoft.com/office/drawing/2014/main" id="{3A07AAFA-F808-4D24-9B9A-9E29742EF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505200"/>
            <a:ext cx="666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实证 / 方法 / 案例 / 综述</a:t>
            </a:r>
          </a:p>
        </p:txBody>
      </p:sp>
      <p:sp>
        <p:nvSpPr>
          <p:cNvPr id="18" name="p08-a-4">
            <a:extLst xmlns:a="http://schemas.openxmlformats.org/drawingml/2006/main">
              <a:ext uri="{FF2B5EF4-FFF2-40B4-BE49-F238E27FC236}">
                <a16:creationId xmlns:a16="http://schemas.microsoft.com/office/drawing/2014/main" id="{99737C1A-CFEF-48CF-B53E-016ABE700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0530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相关性</a:t>
            </a:r>
          </a:p>
        </p:txBody>
      </p:sp>
      <p:sp>
        <p:nvSpPr>
          <p:cNvPr id="19" name="p08-arrow-4">
            <a:extLst xmlns:a="http://schemas.openxmlformats.org/drawingml/2006/main">
              <a:ext uri="{FF2B5EF4-FFF2-40B4-BE49-F238E27FC236}">
                <a16:creationId xmlns:a16="http://schemas.microsoft.com/office/drawing/2014/main" id="{15C11CE9-7477-49CC-8404-C281C4DA4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38150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0" name="p08-b-4">
            <a:extLst xmlns:a="http://schemas.openxmlformats.org/drawingml/2006/main">
              <a:ext uri="{FF2B5EF4-FFF2-40B4-BE49-F238E27FC236}">
                <a16:creationId xmlns:a16="http://schemas.microsoft.com/office/drawing/2014/main" id="{4D95846E-DABF-4848-85E6-D6A846C47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305300"/>
            <a:ext cx="666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对应当前问题或拟用主张</a:t>
            </a:r>
          </a:p>
        </p:txBody>
      </p:sp>
      <p:sp>
        <p:nvSpPr>
          <p:cNvPr id="21" name="p08-bottom">
            <a:extLst xmlns:a="http://schemas.openxmlformats.org/drawingml/2006/main">
              <a:ext uri="{FF2B5EF4-FFF2-40B4-BE49-F238E27FC236}">
                <a16:creationId xmlns:a16="http://schemas.microsoft.com/office/drawing/2014/main" id="{62B81B0E-1048-452F-9D29-2579ACFC8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257800"/>
            <a:ext cx="762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检索前写第一版；检索中调整；排除时必须记录理由。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证据角色：主证据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p09-main">
            <a:extLst xmlns:a="http://schemas.openxmlformats.org/drawingml/2006/main">
              <a:ext uri="{FF2B5EF4-FFF2-40B4-BE49-F238E27FC236}">
                <a16:creationId xmlns:a16="http://schemas.microsoft.com/office/drawing/2014/main" id="{BCD27B3E-C815-4D05-AC4D-583488101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333500"/>
            <a:ext cx="8572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C8161E"/>
                </a:solidFill>
              </a:defRPr>
            </a:pPr>
            <a:r>
              <a:rPr sz="31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主证据</a:t>
            </a:r>
          </a:p>
        </p:txBody>
      </p:sp>
      <p:sp>
        <p:nvSpPr>
          <p:cNvPr id="7" name="p09-def">
            <a:extLst xmlns:a="http://schemas.openxmlformats.org/drawingml/2006/main">
              <a:ext uri="{FF2B5EF4-FFF2-40B4-BE49-F238E27FC236}">
                <a16:creationId xmlns:a16="http://schemas.microsoft.com/office/drawing/2014/main" id="{5588EB12-1F53-4299-A3ED-C4B09F570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9334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在可比条件下直接支持或反驳当前问题或拟用主张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角色先作预期标注，精读后可修正</a:t>
            </a:r>
          </a:p>
        </p:txBody>
      </p:sp>
      <p:sp>
        <p:nvSpPr>
          <p:cNvPr id="8" name="p09-can">
            <a:extLst xmlns:a="http://schemas.openxmlformats.org/drawingml/2006/main">
              <a:ext uri="{FF2B5EF4-FFF2-40B4-BE49-F238E27FC236}">
                <a16:creationId xmlns:a16="http://schemas.microsoft.com/office/drawing/2014/main" id="{D26AE5FF-EC6B-44DD-9C0F-6E12473FF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95750"/>
            <a:ext cx="4095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8745A"/>
                </a:solidFill>
              </a:defRPr>
            </a:pPr>
            <a:r>
              <a:rPr sz="18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能做：支撑核心主张</a:t>
            </a:r>
          </a:p>
        </p:txBody>
      </p:sp>
      <p:sp>
        <p:nvSpPr>
          <p:cNvPr id="9" name="p09-cannot">
            <a:extLst xmlns:a="http://schemas.openxmlformats.org/drawingml/2006/main">
              <a:ext uri="{FF2B5EF4-FFF2-40B4-BE49-F238E27FC236}">
                <a16:creationId xmlns:a16="http://schemas.microsoft.com/office/drawing/2014/main" id="{999F4B60-1FA6-459C-8F2D-899F4C97A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95750"/>
            <a:ext cx="4095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不能做：单独支撑外推</a:t>
            </a:r>
          </a:p>
        </p:txBody>
      </p:sp>
      <p:sp>
        <p:nvSpPr>
          <p:cNvPr id="10" name="p09-bottom">
            <a:extLst xmlns:a="http://schemas.openxmlformats.org/drawingml/2006/main">
              <a:ext uri="{FF2B5EF4-FFF2-40B4-BE49-F238E27FC236}">
                <a16:creationId xmlns:a16="http://schemas.microsoft.com/office/drawing/2014/main" id="{872D49D7-F3D0-432E-91B8-E25367956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219700"/>
            <a:ext cx="552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667684"/>
                </a:solidFill>
              </a:defRPr>
            </a:pPr>
            <a:r>
              <a:rPr sz="16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每个角色都要写明参照的问题或拟用主张。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证据角色：补充证据与对比证据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p10-claim">
            <a:extLst xmlns:a="http://schemas.openxmlformats.org/drawingml/2006/main">
              <a:ext uri="{FF2B5EF4-FFF2-40B4-BE49-F238E27FC236}">
                <a16:creationId xmlns:a16="http://schemas.microsoft.com/office/drawing/2014/main" id="{611EDAEC-3625-494F-B05B-E9BBA748E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419350"/>
            <a:ext cx="3238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当前核心主张</a:t>
            </a:r>
          </a:p>
        </p:txBody>
      </p:sp>
      <p:sp>
        <p:nvSpPr>
          <p:cNvPr id="7" name="p10-supp">
            <a:extLst xmlns:a="http://schemas.openxmlformats.org/drawingml/2006/main">
              <a:ext uri="{FF2B5EF4-FFF2-40B4-BE49-F238E27FC236}">
                <a16:creationId xmlns:a16="http://schemas.microsoft.com/office/drawing/2014/main" id="{2E368FCA-9753-4C49-AF19-A82B04292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32385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800" b="1">
                <a:solidFill>
                  <a:srgbClr val="28745A"/>
                </a:solidFill>
              </a:defRPr>
            </a:pPr>
            <a:r>
              <a:rPr sz="18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补充证据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800" b="1">
                <a:solidFill>
                  <a:srgbClr val="28745A"/>
                </a:solidFill>
              </a:defRPr>
            </a:pPr>
            <a:r>
              <a:rPr sz="18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不同来源 / 测量 / 路径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800" b="1">
                <a:solidFill>
                  <a:srgbClr val="28745A"/>
                </a:solidFill>
              </a:defRPr>
            </a:pPr>
            <a:r>
              <a:rPr sz="18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提供实质独立性</a:t>
            </a:r>
          </a:p>
        </p:txBody>
      </p:sp>
      <p:sp>
        <p:nvSpPr>
          <p:cNvPr id="8" name="p10-contrast">
            <a:extLst xmlns:a="http://schemas.openxmlformats.org/drawingml/2006/main">
              <a:ext uri="{FF2B5EF4-FFF2-40B4-BE49-F238E27FC236}">
                <a16:creationId xmlns:a16="http://schemas.microsoft.com/office/drawing/2014/main" id="{9DE2CE5A-BB77-48EB-A4BF-092D26F27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428750"/>
            <a:ext cx="32385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对比证据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替代解释 / 竞争假设 / 反例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暴露解释边界</a:t>
            </a:r>
          </a:p>
        </p:txBody>
      </p:sp>
      <p:sp>
        <p:nvSpPr>
          <p:cNvPr id="9" name="p10-l1">
            <a:extLst xmlns:a="http://schemas.openxmlformats.org/drawingml/2006/main">
              <a:ext uri="{FF2B5EF4-FFF2-40B4-BE49-F238E27FC236}">
                <a16:creationId xmlns:a16="http://schemas.microsoft.com/office/drawing/2014/main" id="{1E1319F3-1217-4D57-B203-D6D3711CF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248571">
            <a:off x="3830935" y="2619375"/>
            <a:ext cx="72013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10-l2">
            <a:extLst xmlns:a="http://schemas.openxmlformats.org/drawingml/2006/main">
              <a:ext uri="{FF2B5EF4-FFF2-40B4-BE49-F238E27FC236}">
                <a16:creationId xmlns:a16="http://schemas.microsoft.com/office/drawing/2014/main" id="{91DC27C0-8F37-40CA-A311-FEC541B5C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2248571">
            <a:off x="7640935" y="2619375"/>
            <a:ext cx="72013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10-independent">
            <a:extLst xmlns:a="http://schemas.openxmlformats.org/drawingml/2006/main">
              <a:ext uri="{FF2B5EF4-FFF2-40B4-BE49-F238E27FC236}">
                <a16:creationId xmlns:a16="http://schemas.microsoft.com/office/drawing/2014/main" id="{BC78AE83-94C6-4FFB-B14A-A7CA0EFA5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95750"/>
            <a:ext cx="4286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独立 ≠ 两个不同网页</a:t>
            </a:r>
          </a:p>
        </p:txBody>
      </p:sp>
      <p:sp>
        <p:nvSpPr>
          <p:cNvPr id="12" name="p10-conflict">
            <a:extLst xmlns:a="http://schemas.openxmlformats.org/drawingml/2006/main">
              <a:ext uri="{FF2B5EF4-FFF2-40B4-BE49-F238E27FC236}">
                <a16:creationId xmlns:a16="http://schemas.microsoft.com/office/drawing/2014/main" id="{D0ACFA43-4035-47CC-A900-AD5D27DD5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095750"/>
            <a:ext cx="4286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冲突证据必须保留</a:t>
            </a:r>
          </a:p>
        </p:txBody>
      </p:sp>
      <p:sp>
        <p:nvSpPr>
          <p:cNvPr id="13" name="p10-note">
            <a:extLst xmlns:a="http://schemas.openxmlformats.org/drawingml/2006/main">
              <a:ext uri="{FF2B5EF4-FFF2-40B4-BE49-F238E27FC236}">
                <a16:creationId xmlns:a16="http://schemas.microsoft.com/office/drawing/2014/main" id="{3EC84649-BE2B-4F6B-ABEE-A65272727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219700"/>
            <a:ext cx="3086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概念示意，非实证结果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证据角色：探索线索（AI 输出归位）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p11-input">
            <a:extLst xmlns:a="http://schemas.openxmlformats.org/drawingml/2006/main">
              <a:ext uri="{FF2B5EF4-FFF2-40B4-BE49-F238E27FC236}">
                <a16:creationId xmlns:a16="http://schemas.microsoft.com/office/drawing/2014/main" id="{F2E35C8F-26B3-4971-9B97-CB22F4ABA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2400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C8161E"/>
                </a:solidFill>
              </a:defRPr>
            </a:pPr>
            <a:r>
              <a:rPr sz="23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AI 检索结果</a:t>
            </a:r>
          </a:p>
        </p:txBody>
      </p:sp>
      <p:sp>
        <p:nvSpPr>
          <p:cNvPr id="7" name="p11-a1">
            <a:extLst xmlns:a="http://schemas.openxmlformats.org/drawingml/2006/main">
              <a:ext uri="{FF2B5EF4-FFF2-40B4-BE49-F238E27FC236}">
                <a16:creationId xmlns:a16="http://schemas.microsoft.com/office/drawing/2014/main" id="{1BDD8E3F-EE29-4224-AE9B-7F5589CF9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790700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8" name="p11-line">
            <a:extLst xmlns:a="http://schemas.openxmlformats.org/drawingml/2006/main">
              <a:ext uri="{FF2B5EF4-FFF2-40B4-BE49-F238E27FC236}">
                <a16:creationId xmlns:a16="http://schemas.microsoft.com/office/drawing/2014/main" id="{7D78EB3C-6BA4-4EC8-BC42-CCB97812F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152400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A86C12"/>
                </a:solidFill>
              </a:defRPr>
            </a:pPr>
            <a:r>
              <a:rPr sz="23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探索线索</a:t>
            </a:r>
          </a:p>
        </p:txBody>
      </p:sp>
      <p:sp>
        <p:nvSpPr>
          <p:cNvPr id="9" name="p11-a2">
            <a:extLst xmlns:a="http://schemas.openxmlformats.org/drawingml/2006/main">
              <a:ext uri="{FF2B5EF4-FFF2-40B4-BE49-F238E27FC236}">
                <a16:creationId xmlns:a16="http://schemas.microsoft.com/office/drawing/2014/main" id="{69863635-A64A-4197-935E-4E54B1B27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790700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8745A"/>
                </a:solidFill>
              </a:defRPr>
            </a:pPr>
            <a:r>
              <a:rPr sz="2250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p11-source">
            <a:extLst xmlns:a="http://schemas.openxmlformats.org/drawingml/2006/main">
              <a:ext uri="{FF2B5EF4-FFF2-40B4-BE49-F238E27FC236}">
                <a16:creationId xmlns:a16="http://schemas.microsoft.com/office/drawing/2014/main" id="{7D1D6D0B-58CE-432B-9D6A-C8001DE97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1524000"/>
            <a:ext cx="2286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28745A"/>
                </a:solidFill>
              </a:defRPr>
            </a:pPr>
            <a:r>
              <a:rPr sz="21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回原文核验</a:t>
            </a:r>
          </a:p>
        </p:txBody>
      </p:sp>
      <p:sp>
        <p:nvSpPr>
          <p:cNvPr id="11" name="p11-fields">
            <a:extLst xmlns:a="http://schemas.openxmlformats.org/drawingml/2006/main">
              <a:ext uri="{FF2B5EF4-FFF2-40B4-BE49-F238E27FC236}">
                <a16:creationId xmlns:a16="http://schemas.microsoft.com/office/drawing/2014/main" id="{CD99604A-3FDD-4A5B-99B9-1E0A12982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52750"/>
            <a:ext cx="9715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即使已核验，也可能不能直接回答当前问题；AI 检索结果默认归为探索线索</a:t>
            </a:r>
          </a:p>
        </p:txBody>
      </p:sp>
      <p:sp>
        <p:nvSpPr>
          <p:cNvPr id="12" name="p11-split">
            <a:extLst xmlns:a="http://schemas.openxmlformats.org/drawingml/2006/main">
              <a:ext uri="{FF2B5EF4-FFF2-40B4-BE49-F238E27FC236}">
                <a16:creationId xmlns:a16="http://schemas.microsoft.com/office/drawing/2014/main" id="{7A30B4E3-D07B-452E-8E29-80E8DE916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829050"/>
            <a:ext cx="5715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角色 ≠ 核验状态 ≠ 筛选决定</a:t>
            </a:r>
          </a:p>
        </p:txBody>
      </p:sp>
      <p:sp>
        <p:nvSpPr>
          <p:cNvPr id="13" name="p11-bottom">
            <a:extLst xmlns:a="http://schemas.openxmlformats.org/drawingml/2006/main">
              <a:ext uri="{FF2B5EF4-FFF2-40B4-BE49-F238E27FC236}">
                <a16:creationId xmlns:a16="http://schemas.microsoft.com/office/drawing/2014/main" id="{C92C386F-D8C8-4DD6-9A6C-080A31988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838700"/>
            <a:ext cx="7086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一篇真实且已核验的论文，对当前问题仍可能只是探索线索。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入口核验：身份 + 一条拟用主张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p12-id-title">
            <a:extLst xmlns:a="http://schemas.openxmlformats.org/drawingml/2006/main">
              <a:ext uri="{FF2B5EF4-FFF2-40B4-BE49-F238E27FC236}">
                <a16:creationId xmlns:a16="http://schemas.microsoft.com/office/drawing/2014/main" id="{B38DE2C3-2B13-433C-8269-2B35C8B79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90600"/>
            <a:ext cx="152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身份层</a:t>
            </a:r>
          </a:p>
        </p:txBody>
      </p:sp>
      <p:sp>
        <p:nvSpPr>
          <p:cNvPr id="7" name="p12-id-body">
            <a:extLst xmlns:a="http://schemas.openxmlformats.org/drawingml/2006/main">
              <a:ext uri="{FF2B5EF4-FFF2-40B4-BE49-F238E27FC236}">
                <a16:creationId xmlns:a16="http://schemas.microsoft.com/office/drawing/2014/main" id="{A6979ED5-8AB9-450E-83EA-84B2EF413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85900"/>
            <a:ext cx="666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题名　｜　作者　｜　年份　｜　刊会　｜　DOI / 稳定标识</a:t>
            </a:r>
          </a:p>
        </p:txBody>
      </p:sp>
      <p:sp>
        <p:nvSpPr>
          <p:cNvPr id="8" name="p12-claim-title">
            <a:extLst xmlns:a="http://schemas.openxmlformats.org/drawingml/2006/main">
              <a:ext uri="{FF2B5EF4-FFF2-40B4-BE49-F238E27FC236}">
                <a16:creationId xmlns:a16="http://schemas.microsoft.com/office/drawing/2014/main" id="{586E694D-1AE9-4260-9574-76DA89DFA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09800"/>
            <a:ext cx="152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拟用主张层</a:t>
            </a:r>
          </a:p>
        </p:txBody>
      </p:sp>
      <p:sp>
        <p:nvSpPr>
          <p:cNvPr id="9" name="p12-c-0">
            <a:extLst xmlns:a="http://schemas.openxmlformats.org/drawingml/2006/main">
              <a:ext uri="{FF2B5EF4-FFF2-40B4-BE49-F238E27FC236}">
                <a16:creationId xmlns:a16="http://schemas.microsoft.com/office/drawing/2014/main" id="{0B76F9EE-30EB-43FF-AF63-48598110E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05100"/>
            <a:ext cx="6667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1. 先写准备用它支持什么</a:t>
            </a:r>
          </a:p>
        </p:txBody>
      </p:sp>
      <p:sp>
        <p:nvSpPr>
          <p:cNvPr id="10" name="p12-c-1">
            <a:extLst xmlns:a="http://schemas.openxmlformats.org/drawingml/2006/main">
              <a:ext uri="{FF2B5EF4-FFF2-40B4-BE49-F238E27FC236}">
                <a16:creationId xmlns:a16="http://schemas.microsoft.com/office/drawing/2014/main" id="{29CCE65A-6E83-41B1-97BC-C1B1919C1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19450"/>
            <a:ext cx="6667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2. 回到至少一个原文位置</a:t>
            </a:r>
          </a:p>
        </p:txBody>
      </p:sp>
      <p:sp>
        <p:nvSpPr>
          <p:cNvPr id="11" name="p12-c-2">
            <a:extLst xmlns:a="http://schemas.openxmlformats.org/drawingml/2006/main">
              <a:ext uri="{FF2B5EF4-FFF2-40B4-BE49-F238E27FC236}">
                <a16:creationId xmlns:a16="http://schemas.microsoft.com/office/drawing/2014/main" id="{CD3A18F7-5F71-4BC5-894A-B4B961CED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6667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3. 核对任务、设置、措辞强度与必要限定</a:t>
            </a:r>
          </a:p>
        </p:txBody>
      </p:sp>
      <p:sp>
        <p:nvSpPr>
          <p:cNvPr id="12" name="p12-pending">
            <a:extLst xmlns:a="http://schemas.openxmlformats.org/drawingml/2006/main">
              <a:ext uri="{FF2B5EF4-FFF2-40B4-BE49-F238E27FC236}">
                <a16:creationId xmlns:a16="http://schemas.microsoft.com/office/drawing/2014/main" id="{ADA0292B-E1BD-4FD0-8175-04475DCE7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6667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A86C12"/>
                </a:solidFill>
              </a:defRPr>
            </a:pPr>
            <a:r>
              <a:rPr sz="157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只完成身份层 → pending｜默认探索线索</a:t>
            </a:r>
          </a:p>
        </p:txBody>
      </p:sp>
      <p:sp>
        <p:nvSpPr>
          <p:cNvPr id="13" name="p12-handoff">
            <a:extLst xmlns:a="http://schemas.openxmlformats.org/drawingml/2006/main">
              <a:ext uri="{FF2B5EF4-FFF2-40B4-BE49-F238E27FC236}">
                <a16:creationId xmlns:a16="http://schemas.microsoft.com/office/drawing/2014/main" id="{D7CD51BE-01A7-4610-81A1-5F670CA18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95850"/>
            <a:ext cx="6667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第 4 课移交：多条主张、位置、指标、对照、样本、贡献与局限</a:t>
            </a:r>
          </a:p>
        </p:txBody>
      </p:sp>
      <p:sp>
        <p:nvSpPr>
          <p:cNvPr id="14" name="p12-status-title">
            <a:extLst xmlns:a="http://schemas.openxmlformats.org/drawingml/2006/main">
              <a:ext uri="{FF2B5EF4-FFF2-40B4-BE49-F238E27FC236}">
                <a16:creationId xmlns:a16="http://schemas.microsoft.com/office/drawing/2014/main" id="{5CC1E760-0A33-4133-8705-CBB3E732E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009650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四态与进入规则</a:t>
            </a:r>
          </a:p>
        </p:txBody>
      </p:sp>
      <p:sp>
        <p:nvSpPr>
          <p:cNvPr id="15" name="p12-s-0">
            <a:extLst xmlns:a="http://schemas.openxmlformats.org/drawingml/2006/main">
              <a:ext uri="{FF2B5EF4-FFF2-40B4-BE49-F238E27FC236}">
                <a16:creationId xmlns:a16="http://schemas.microsoft.com/office/drawing/2014/main" id="{9EB8737D-5840-4CAA-BFB6-AC77F8E51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19250"/>
            <a:ext cx="3238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A86C12"/>
                </a:solidFill>
              </a:defRPr>
            </a:pPr>
            <a:r>
              <a:rPr sz="150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16" name="p12-s-1">
            <a:extLst xmlns:a="http://schemas.openxmlformats.org/drawingml/2006/main">
              <a:ext uri="{FF2B5EF4-FFF2-40B4-BE49-F238E27FC236}">
                <a16:creationId xmlns:a16="http://schemas.microsoft.com/office/drawing/2014/main" id="{AA5FDE89-31A5-45BB-B0F7-8C0D498ED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43150"/>
            <a:ext cx="3238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verified</a:t>
            </a:r>
          </a:p>
        </p:txBody>
      </p:sp>
      <p:sp>
        <p:nvSpPr>
          <p:cNvPr id="17" name="p12-s-2">
            <a:extLst xmlns:a="http://schemas.openxmlformats.org/drawingml/2006/main">
              <a:ext uri="{FF2B5EF4-FFF2-40B4-BE49-F238E27FC236}">
                <a16:creationId xmlns:a16="http://schemas.microsoft.com/office/drawing/2014/main" id="{58498D12-5B34-4850-86DE-878B57CE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67050"/>
            <a:ext cx="3238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638A"/>
                </a:solidFill>
              </a:defRPr>
            </a:pPr>
            <a:r>
              <a:rPr sz="150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verified-with-caveat</a:t>
            </a:r>
          </a:p>
        </p:txBody>
      </p:sp>
      <p:sp>
        <p:nvSpPr>
          <p:cNvPr id="18" name="p12-s-3">
            <a:extLst xmlns:a="http://schemas.openxmlformats.org/drawingml/2006/main">
              <a:ext uri="{FF2B5EF4-FFF2-40B4-BE49-F238E27FC236}">
                <a16:creationId xmlns:a16="http://schemas.microsoft.com/office/drawing/2014/main" id="{23B06955-E7B1-4E8B-A932-6CD5F6ABB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90950"/>
            <a:ext cx="3238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rejected</a:t>
            </a:r>
          </a:p>
        </p:txBody>
      </p:sp>
      <p:sp>
        <p:nvSpPr>
          <p:cNvPr id="19" name="p12-bottom">
            <a:extLst xmlns:a="http://schemas.openxmlformats.org/drawingml/2006/main">
              <a:ext uri="{FF2B5EF4-FFF2-40B4-BE49-F238E27FC236}">
                <a16:creationId xmlns:a16="http://schemas.microsoft.com/office/drawing/2014/main" id="{7FE664DE-E4FB-4668-AC2C-2E17236F2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667250"/>
            <a:ext cx="4000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pending 仅线索区｜verified 可进主格｜caveat 保留限定且不能单独支撑 stable｜rejected 仅审计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演示：检索记录定位真实论文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p13-a-0">
            <a:extLst xmlns:a="http://schemas.openxmlformats.org/drawingml/2006/main">
              <a:ext uri="{FF2B5EF4-FFF2-40B4-BE49-F238E27FC236}">
                <a16:creationId xmlns:a16="http://schemas.microsoft.com/office/drawing/2014/main" id="{BEFB0892-C89D-438C-A0B3-CD9FC19C1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1924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检索</a:t>
            </a:r>
          </a:p>
        </p:txBody>
      </p:sp>
      <p:sp>
        <p:nvSpPr>
          <p:cNvPr id="7" name="p13-b-0">
            <a:extLst xmlns:a="http://schemas.openxmlformats.org/drawingml/2006/main">
              <a:ext uri="{FF2B5EF4-FFF2-40B4-BE49-F238E27FC236}">
                <a16:creationId xmlns:a16="http://schemas.microsoft.com/office/drawing/2014/main" id="{3F5E4991-7EDF-4C89-827F-F18E78A48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152650"/>
            <a:ext cx="192405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Crossref API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query.title=How to Read a Paper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&amp;query.author=Keshav&amp;rows=5</a:t>
            </a:r>
          </a:p>
        </p:txBody>
      </p:sp>
      <p:sp>
        <p:nvSpPr>
          <p:cNvPr id="8" name="p13-arr-0">
            <a:extLst xmlns:a="http://schemas.openxmlformats.org/drawingml/2006/main">
              <a:ext uri="{FF2B5EF4-FFF2-40B4-BE49-F238E27FC236}">
                <a16:creationId xmlns:a16="http://schemas.microsoft.com/office/drawing/2014/main" id="{53BCFAD0-DB78-4E5D-B6E0-0031B4793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705100"/>
            <a:ext cx="38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p13-a-1">
            <a:extLst xmlns:a="http://schemas.openxmlformats.org/drawingml/2006/main">
              <a:ext uri="{FF2B5EF4-FFF2-40B4-BE49-F238E27FC236}">
                <a16:creationId xmlns:a16="http://schemas.microsoft.com/office/drawing/2014/main" id="{AD8DBAA8-0987-4602-8C2E-73AD49B29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466850"/>
            <a:ext cx="1924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元数据</a:t>
            </a:r>
          </a:p>
        </p:txBody>
      </p:sp>
      <p:sp>
        <p:nvSpPr>
          <p:cNvPr id="10" name="p13-b-1">
            <a:extLst xmlns:a="http://schemas.openxmlformats.org/drawingml/2006/main">
              <a:ext uri="{FF2B5EF4-FFF2-40B4-BE49-F238E27FC236}">
                <a16:creationId xmlns:a16="http://schemas.microsoft.com/office/drawing/2014/main" id="{7B05C8A6-FB90-4BC8-AA2A-A169C8396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152650"/>
            <a:ext cx="192405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How to Read a Paper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S. Keshav｜2007</a:t>
            </a:r>
          </a:p>
        </p:txBody>
      </p:sp>
      <p:sp>
        <p:nvSpPr>
          <p:cNvPr id="11" name="p13-arr-1">
            <a:extLst xmlns:a="http://schemas.openxmlformats.org/drawingml/2006/main">
              <a:ext uri="{FF2B5EF4-FFF2-40B4-BE49-F238E27FC236}">
                <a16:creationId xmlns:a16="http://schemas.microsoft.com/office/drawing/2014/main" id="{1EBEB685-366D-4483-96FB-336391A3E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05100"/>
            <a:ext cx="38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2" name="p13-a-2">
            <a:extLst xmlns:a="http://schemas.openxmlformats.org/drawingml/2006/main">
              <a:ext uri="{FF2B5EF4-FFF2-40B4-BE49-F238E27FC236}">
                <a16:creationId xmlns:a16="http://schemas.microsoft.com/office/drawing/2014/main" id="{1052E0D3-15EC-44A8-9DC0-33B51F759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466850"/>
            <a:ext cx="1924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DOI</a:t>
            </a:r>
          </a:p>
        </p:txBody>
      </p:sp>
      <p:sp>
        <p:nvSpPr>
          <p:cNvPr id="13" name="p13-b-2">
            <a:extLst xmlns:a="http://schemas.openxmlformats.org/drawingml/2006/main">
              <a:ext uri="{FF2B5EF4-FFF2-40B4-BE49-F238E27FC236}">
                <a16:creationId xmlns:a16="http://schemas.microsoft.com/office/drawing/2014/main" id="{97078B77-7915-41EE-A3B3-8D155C0BE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152650"/>
            <a:ext cx="192405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10.1145/1273445.1273458</a:t>
            </a:r>
          </a:p>
        </p:txBody>
      </p:sp>
      <p:sp>
        <p:nvSpPr>
          <p:cNvPr id="14" name="p13-arr-2">
            <a:extLst xmlns:a="http://schemas.openxmlformats.org/drawingml/2006/main">
              <a:ext uri="{FF2B5EF4-FFF2-40B4-BE49-F238E27FC236}">
                <a16:creationId xmlns:a16="http://schemas.microsoft.com/office/drawing/2014/main" id="{30BF1216-423D-4635-9CC2-AFB18F38B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05100"/>
            <a:ext cx="38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p13-a-3">
            <a:extLst xmlns:a="http://schemas.openxmlformats.org/drawingml/2006/main">
              <a:ext uri="{FF2B5EF4-FFF2-40B4-BE49-F238E27FC236}">
                <a16:creationId xmlns:a16="http://schemas.microsoft.com/office/drawing/2014/main" id="{EE8078B9-00AE-4C59-B54E-8B806B5C8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466850"/>
            <a:ext cx="1924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正式来源</a:t>
            </a:r>
          </a:p>
        </p:txBody>
      </p:sp>
      <p:sp>
        <p:nvSpPr>
          <p:cNvPr id="16" name="p13-b-3">
            <a:extLst xmlns:a="http://schemas.openxmlformats.org/drawingml/2006/main">
              <a:ext uri="{FF2B5EF4-FFF2-40B4-BE49-F238E27FC236}">
                <a16:creationId xmlns:a16="http://schemas.microsoft.com/office/drawing/2014/main" id="{261C4BF3-B649-4278-B616-13939185E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152650"/>
            <a:ext cx="192405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ACM SIGCOMM CCR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37(3):83–84</a:t>
            </a:r>
          </a:p>
        </p:txBody>
      </p:sp>
      <p:sp>
        <p:nvSpPr>
          <p:cNvPr id="17" name="p13-arr-3">
            <a:extLst xmlns:a="http://schemas.openxmlformats.org/drawingml/2006/main">
              <a:ext uri="{FF2B5EF4-FFF2-40B4-BE49-F238E27FC236}">
                <a16:creationId xmlns:a16="http://schemas.microsoft.com/office/drawing/2014/main" id="{F8C6B29F-0285-4B8C-8A5E-FE5C5E951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705100"/>
            <a:ext cx="38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8" name="p13-a-4">
            <a:extLst xmlns:a="http://schemas.openxmlformats.org/drawingml/2006/main">
              <a:ext uri="{FF2B5EF4-FFF2-40B4-BE49-F238E27FC236}">
                <a16:creationId xmlns:a16="http://schemas.microsoft.com/office/drawing/2014/main" id="{3E6BC9E5-D524-40A6-9B5D-69E688EC7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1466850"/>
            <a:ext cx="1924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原文入口</a:t>
            </a:r>
          </a:p>
        </p:txBody>
      </p:sp>
      <p:sp>
        <p:nvSpPr>
          <p:cNvPr id="19" name="p13-b-4">
            <a:extLst xmlns:a="http://schemas.openxmlformats.org/drawingml/2006/main">
              <a:ext uri="{FF2B5EF4-FFF2-40B4-BE49-F238E27FC236}">
                <a16:creationId xmlns:a16="http://schemas.microsoft.com/office/drawing/2014/main" id="{2D0DF90C-EE98-481F-B83D-9BE7EB7D9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152650"/>
            <a:ext cx="192405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作者公开 PDF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保留实际请求与原始返回</a:t>
            </a:r>
          </a:p>
        </p:txBody>
      </p:sp>
      <p:sp>
        <p:nvSpPr>
          <p:cNvPr id="20" name="p13-predict">
            <a:extLst xmlns:a="http://schemas.openxmlformats.org/drawingml/2006/main">
              <a:ext uri="{FF2B5EF4-FFF2-40B4-BE49-F238E27FC236}">
                <a16:creationId xmlns:a16="http://schemas.microsoft.com/office/drawing/2014/main" id="{A263B387-E3FE-4A11-AF8B-B685FAE05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610100"/>
            <a:ext cx="92583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真实 trace：查询记录 → 正式元数据 → DOI → 正式出版信息 → 原文；每一步保留可复查对象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演示：DOI → 原文第 1 页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pic>
        <p:nvPicPr>
          <p:cNvPr id="27" name="p14-paper-pag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41c21263ce45f5"/>
          <a:stretch xmlns:a="http://schemas.openxmlformats.org/drawingml/2006/main"/>
        </p:blipFill>
        <p:spPr>
          <a:xfrm xmlns:a="http://schemas.openxmlformats.org/drawingml/2006/main">
            <a:off x="850323" y="952500"/>
            <a:ext cx="3385705" cy="4381500"/>
          </a:xfrm>
          <a:prstGeom xmlns:a="http://schemas.openxmlformats.org/drawingml/2006/main" prst="rect">
            <a:avLst/>
          </a:prstGeom>
        </p:spPr>
      </p:pic>
      <p:sp>
        <p:nvSpPr>
          <p:cNvPr id="7" name="p14-real">
            <a:extLst xmlns:a="http://schemas.openxmlformats.org/drawingml/2006/main">
              <a:ext uri="{FF2B5EF4-FFF2-40B4-BE49-F238E27FC236}">
                <a16:creationId xmlns:a16="http://schemas.microsoft.com/office/drawing/2014/main" id="{E202753C-9E54-41D4-8750-123C9C9B0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95350"/>
            <a:ext cx="200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8745A"/>
                </a:solidFill>
              </a:defRPr>
            </a:pPr>
            <a:r>
              <a:rPr sz="13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真实原文对象</a:t>
            </a:r>
          </a:p>
        </p:txBody>
      </p:sp>
      <p:sp>
        <p:nvSpPr>
          <p:cNvPr id="8" name="p14-meta">
            <a:extLst xmlns:a="http://schemas.openxmlformats.org/drawingml/2006/main">
              <a:ext uri="{FF2B5EF4-FFF2-40B4-BE49-F238E27FC236}">
                <a16:creationId xmlns:a16="http://schemas.microsoft.com/office/drawing/2014/main" id="{B6E8EE9E-C18D-413A-8FF7-F306FE87D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123950"/>
            <a:ext cx="6381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原文第 1 页可直接核验</a:t>
            </a:r>
          </a:p>
        </p:txBody>
      </p:sp>
      <p:sp>
        <p:nvSpPr>
          <p:cNvPr id="9" name="p14-h-0">
            <a:extLst xmlns:a="http://schemas.openxmlformats.org/drawingml/2006/main">
              <a:ext uri="{FF2B5EF4-FFF2-40B4-BE49-F238E27FC236}">
                <a16:creationId xmlns:a16="http://schemas.microsoft.com/office/drawing/2014/main" id="{07FA391D-493B-4C16-885B-A655584D6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905000"/>
            <a:ext cx="171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核验项</a:t>
            </a:r>
          </a:p>
        </p:txBody>
      </p:sp>
      <p:sp>
        <p:nvSpPr>
          <p:cNvPr id="10" name="p14-h-1">
            <a:extLst xmlns:a="http://schemas.openxmlformats.org/drawingml/2006/main">
              <a:ext uri="{FF2B5EF4-FFF2-40B4-BE49-F238E27FC236}">
                <a16:creationId xmlns:a16="http://schemas.microsoft.com/office/drawing/2014/main" id="{BB9B9981-9854-4073-B437-212F3CA13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05000"/>
            <a:ext cx="209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原文对象</a:t>
            </a:r>
          </a:p>
        </p:txBody>
      </p:sp>
      <p:sp>
        <p:nvSpPr>
          <p:cNvPr id="11" name="p14-h-2">
            <a:extLst xmlns:a="http://schemas.openxmlformats.org/drawingml/2006/main">
              <a:ext uri="{FF2B5EF4-FFF2-40B4-BE49-F238E27FC236}">
                <a16:creationId xmlns:a16="http://schemas.microsoft.com/office/drawing/2014/main" id="{4D723F50-506E-4ACE-BF27-6B0FEA2D3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905000"/>
            <a:ext cx="2571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12" name="p14-r0-0">
            <a:extLst xmlns:a="http://schemas.openxmlformats.org/drawingml/2006/main">
              <a:ext uri="{FF2B5EF4-FFF2-40B4-BE49-F238E27FC236}">
                <a16:creationId xmlns:a16="http://schemas.microsoft.com/office/drawing/2014/main" id="{D1D56B70-1D85-4DF2-8A5C-16F3922D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62200"/>
            <a:ext cx="1714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题名 / 作者</a:t>
            </a:r>
          </a:p>
        </p:txBody>
      </p:sp>
      <p:sp>
        <p:nvSpPr>
          <p:cNvPr id="13" name="p14-r0-1">
            <a:extLst xmlns:a="http://schemas.openxmlformats.org/drawingml/2006/main">
              <a:ext uri="{FF2B5EF4-FFF2-40B4-BE49-F238E27FC236}">
                <a16:creationId xmlns:a16="http://schemas.microsoft.com/office/drawing/2014/main" id="{DC1A31FD-A35A-4F79-B343-DC8AFB068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62200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p.83 页眉与正文</a:t>
            </a:r>
          </a:p>
        </p:txBody>
      </p:sp>
      <p:sp>
        <p:nvSpPr>
          <p:cNvPr id="14" name="p14-r0-2">
            <a:extLst xmlns:a="http://schemas.openxmlformats.org/drawingml/2006/main">
              <a:ext uri="{FF2B5EF4-FFF2-40B4-BE49-F238E27FC236}">
                <a16:creationId xmlns:a16="http://schemas.microsoft.com/office/drawing/2014/main" id="{321D324A-46EC-4BF3-8FAF-BA2EBBB1A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362200"/>
            <a:ext cx="2571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一致</a:t>
            </a:r>
          </a:p>
        </p:txBody>
      </p:sp>
      <p:sp>
        <p:nvSpPr>
          <p:cNvPr id="15" name="p14-r1-0">
            <a:extLst xmlns:a="http://schemas.openxmlformats.org/drawingml/2006/main">
              <a:ext uri="{FF2B5EF4-FFF2-40B4-BE49-F238E27FC236}">
                <a16:creationId xmlns:a16="http://schemas.microsoft.com/office/drawing/2014/main" id="{22906324-EB8D-41D5-B5DF-EF7DF00AB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09900"/>
            <a:ext cx="1714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DOI</a:t>
            </a:r>
          </a:p>
        </p:txBody>
      </p:sp>
      <p:sp>
        <p:nvSpPr>
          <p:cNvPr id="16" name="p14-r1-1">
            <a:extLst xmlns:a="http://schemas.openxmlformats.org/drawingml/2006/main">
              <a:ext uri="{FF2B5EF4-FFF2-40B4-BE49-F238E27FC236}">
                <a16:creationId xmlns:a16="http://schemas.microsoft.com/office/drawing/2014/main" id="{3150BD70-FB49-4191-804B-872536CD6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09900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p.83 左栏</a:t>
            </a:r>
          </a:p>
        </p:txBody>
      </p:sp>
      <p:sp>
        <p:nvSpPr>
          <p:cNvPr id="17" name="p14-r1-2">
            <a:extLst xmlns:a="http://schemas.openxmlformats.org/drawingml/2006/main">
              <a:ext uri="{FF2B5EF4-FFF2-40B4-BE49-F238E27FC236}">
                <a16:creationId xmlns:a16="http://schemas.microsoft.com/office/drawing/2014/main" id="{D930A69C-8F76-4242-AD46-FF7E74FDC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009900"/>
            <a:ext cx="2571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10.1145/1273445.1273458</a:t>
            </a:r>
          </a:p>
        </p:txBody>
      </p:sp>
      <p:sp>
        <p:nvSpPr>
          <p:cNvPr id="18" name="p14-r2-0">
            <a:extLst xmlns:a="http://schemas.openxmlformats.org/drawingml/2006/main">
              <a:ext uri="{FF2B5EF4-FFF2-40B4-BE49-F238E27FC236}">
                <a16:creationId xmlns:a16="http://schemas.microsoft.com/office/drawing/2014/main" id="{A750687E-EF99-460C-B6BD-6C4AAAEFD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657600"/>
            <a:ext cx="1714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方法主张</a:t>
            </a:r>
          </a:p>
        </p:txBody>
      </p:sp>
      <p:sp>
        <p:nvSpPr>
          <p:cNvPr id="19" name="p14-r2-1">
            <a:extLst xmlns:a="http://schemas.openxmlformats.org/drawingml/2006/main">
              <a:ext uri="{FF2B5EF4-FFF2-40B4-BE49-F238E27FC236}">
                <a16:creationId xmlns:a16="http://schemas.microsoft.com/office/drawing/2014/main" id="{948B12EA-0291-4299-8F10-BAFF9A20F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57600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摘要与 §2</a:t>
            </a:r>
          </a:p>
        </p:txBody>
      </p:sp>
      <p:sp>
        <p:nvSpPr>
          <p:cNvPr id="20" name="p14-r2-2">
            <a:extLst xmlns:a="http://schemas.openxmlformats.org/drawingml/2006/main">
              <a:ext uri="{FF2B5EF4-FFF2-40B4-BE49-F238E27FC236}">
                <a16:creationId xmlns:a16="http://schemas.microsoft.com/office/drawing/2014/main" id="{A311F91B-B757-4171-89FA-C1E5DD029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657600"/>
            <a:ext cx="2571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提出 three-pass approach</a:t>
            </a:r>
          </a:p>
        </p:txBody>
      </p:sp>
      <p:sp>
        <p:nvSpPr>
          <p:cNvPr id="21" name="p14-r3-0">
            <a:extLst xmlns:a="http://schemas.openxmlformats.org/drawingml/2006/main">
              <a:ext uri="{FF2B5EF4-FFF2-40B4-BE49-F238E27FC236}">
                <a16:creationId xmlns:a16="http://schemas.microsoft.com/office/drawing/2014/main" id="{0F22BA5C-25FF-4E5C-A0D7-C0ACAF4EF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305300"/>
            <a:ext cx="1714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量化边界</a:t>
            </a:r>
          </a:p>
        </p:txBody>
      </p:sp>
      <p:sp>
        <p:nvSpPr>
          <p:cNvPr id="22" name="p14-r3-1">
            <a:extLst xmlns:a="http://schemas.openxmlformats.org/drawingml/2006/main">
              <a:ext uri="{FF2B5EF4-FFF2-40B4-BE49-F238E27FC236}">
                <a16:creationId xmlns:a16="http://schemas.microsoft.com/office/drawing/2014/main" id="{1AECAD08-D8F2-4875-9448-A806A8826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05300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全文</a:t>
            </a:r>
          </a:p>
        </p:txBody>
      </p:sp>
      <p:sp>
        <p:nvSpPr>
          <p:cNvPr id="23" name="p14-r3-2">
            <a:extLst xmlns:a="http://schemas.openxmlformats.org/drawingml/2006/main">
              <a:ext uri="{FF2B5EF4-FFF2-40B4-BE49-F238E27FC236}">
                <a16:creationId xmlns:a16="http://schemas.microsoft.com/office/drawing/2014/main" id="{51A944E4-E5A1-462C-9947-9A7208069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305300"/>
            <a:ext cx="2571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没有受控实验或“降低 50%”结果</a:t>
            </a:r>
          </a:p>
        </p:txBody>
      </p:sp>
      <p:sp>
        <p:nvSpPr>
          <p:cNvPr id="24" name="p14-bottom">
            <a:extLst xmlns:a="http://schemas.openxmlformats.org/drawingml/2006/main">
              <a:ext uri="{FF2B5EF4-FFF2-40B4-BE49-F238E27FC236}">
                <a16:creationId xmlns:a16="http://schemas.microsoft.com/office/drawing/2014/main" id="{8FD88F84-F958-4D3C-9569-D5558224F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953000"/>
            <a:ext cx="6762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从 DOI 到原文后，只记录原文真正支持的主张；未出现的实验结果不能补写。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演示：合格条目进入候选表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p15-entry-title">
            <a:extLst xmlns:a="http://schemas.openxmlformats.org/drawingml/2006/main">
              <a:ext uri="{FF2B5EF4-FFF2-40B4-BE49-F238E27FC236}">
                <a16:creationId xmlns:a16="http://schemas.microsoft.com/office/drawing/2014/main" id="{B1328BC9-0474-4167-B382-96D907EF0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108204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354E"/>
                </a:solidFill>
              </a:defRPr>
            </a:pPr>
            <a:r>
              <a:rPr sz="21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真实候选条目｜Keshav (2007)</a:t>
            </a:r>
          </a:p>
        </p:txBody>
      </p:sp>
      <p:sp>
        <p:nvSpPr>
          <p:cNvPr id="7" name="p15-h-0">
            <a:extLst xmlns:a="http://schemas.openxmlformats.org/drawingml/2006/main">
              <a:ext uri="{FF2B5EF4-FFF2-40B4-BE49-F238E27FC236}">
                <a16:creationId xmlns:a16="http://schemas.microsoft.com/office/drawing/2014/main" id="{D0631A7D-6E44-404E-B299-62712B10A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28800"/>
            <a:ext cx="2476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字段</a:t>
            </a:r>
          </a:p>
        </p:txBody>
      </p:sp>
      <p:sp>
        <p:nvSpPr>
          <p:cNvPr id="8" name="p15-h-1">
            <a:extLst xmlns:a="http://schemas.openxmlformats.org/drawingml/2006/main">
              <a:ext uri="{FF2B5EF4-FFF2-40B4-BE49-F238E27FC236}">
                <a16:creationId xmlns:a16="http://schemas.microsoft.com/office/drawing/2014/main" id="{21C02EB1-7AD8-4A65-814A-68512E54A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828800"/>
            <a:ext cx="819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核验后写入</a:t>
            </a:r>
          </a:p>
        </p:txBody>
      </p:sp>
      <p:sp>
        <p:nvSpPr>
          <p:cNvPr id="9" name="p15-r0-0">
            <a:extLst xmlns:a="http://schemas.openxmlformats.org/drawingml/2006/main">
              <a:ext uri="{FF2B5EF4-FFF2-40B4-BE49-F238E27FC236}">
                <a16:creationId xmlns:a16="http://schemas.microsoft.com/office/drawing/2014/main" id="{B26B299C-5D8A-4282-A251-D74E5ABB6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86000"/>
            <a:ext cx="2476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正式来源</a:t>
            </a:r>
          </a:p>
        </p:txBody>
      </p:sp>
      <p:sp>
        <p:nvSpPr>
          <p:cNvPr id="10" name="p15-r0-1">
            <a:extLst xmlns:a="http://schemas.openxmlformats.org/drawingml/2006/main">
              <a:ext uri="{FF2B5EF4-FFF2-40B4-BE49-F238E27FC236}">
                <a16:creationId xmlns:a16="http://schemas.microsoft.com/office/drawing/2014/main" id="{B423D789-25C2-44EE-9668-CDEAD72C0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286000"/>
            <a:ext cx="8191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ACM SIGCOMM Computer Communication Review 37(3), pp.83–84｜DOI 10.1145/1273445.1273458</a:t>
            </a:r>
          </a:p>
        </p:txBody>
      </p:sp>
      <p:sp>
        <p:nvSpPr>
          <p:cNvPr id="11" name="p15-r1-0">
            <a:extLst xmlns:a="http://schemas.openxmlformats.org/drawingml/2006/main">
              <a:ext uri="{FF2B5EF4-FFF2-40B4-BE49-F238E27FC236}">
                <a16:creationId xmlns:a16="http://schemas.microsoft.com/office/drawing/2014/main" id="{FE445179-AE23-4276-8689-76D23E57A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14650"/>
            <a:ext cx="2476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对应问题/拟用主张</a:t>
            </a:r>
          </a:p>
        </p:txBody>
      </p:sp>
      <p:sp>
        <p:nvSpPr>
          <p:cNvPr id="12" name="p15-r1-1">
            <a:extLst xmlns:a="http://schemas.openxmlformats.org/drawingml/2006/main">
              <a:ext uri="{FF2B5EF4-FFF2-40B4-BE49-F238E27FC236}">
                <a16:creationId xmlns:a16="http://schemas.microsoft.com/office/drawing/2014/main" id="{B2AD23E3-0FF4-422A-8620-7CB103023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914650"/>
            <a:ext cx="8191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是否降低遗漏率？／用于定义 three-pass approach</a:t>
            </a:r>
          </a:p>
        </p:txBody>
      </p:sp>
      <p:sp>
        <p:nvSpPr>
          <p:cNvPr id="13" name="p15-r2-0">
            <a:extLst xmlns:a="http://schemas.openxmlformats.org/drawingml/2006/main">
              <a:ext uri="{FF2B5EF4-FFF2-40B4-BE49-F238E27FC236}">
                <a16:creationId xmlns:a16="http://schemas.microsoft.com/office/drawing/2014/main" id="{B71841EA-989A-4D0E-B41F-DFBC7CE4B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43300"/>
            <a:ext cx="2476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预期证据角色</a:t>
            </a:r>
          </a:p>
        </p:txBody>
      </p:sp>
      <p:sp>
        <p:nvSpPr>
          <p:cNvPr id="14" name="p15-r2-1">
            <a:extLst xmlns:a="http://schemas.openxmlformats.org/drawingml/2006/main">
              <a:ext uri="{FF2B5EF4-FFF2-40B4-BE49-F238E27FC236}">
                <a16:creationId xmlns:a16="http://schemas.microsoft.com/office/drawing/2014/main" id="{69547407-DE86-4111-87CE-40E6A5F3D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543300"/>
            <a:ext cx="8191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探索线索；不是效果主证据</a:t>
            </a:r>
          </a:p>
        </p:txBody>
      </p:sp>
      <p:sp>
        <p:nvSpPr>
          <p:cNvPr id="15" name="p15-r3-0">
            <a:extLst xmlns:a="http://schemas.openxmlformats.org/drawingml/2006/main">
              <a:ext uri="{FF2B5EF4-FFF2-40B4-BE49-F238E27FC236}">
                <a16:creationId xmlns:a16="http://schemas.microsoft.com/office/drawing/2014/main" id="{2D81098A-3353-42E8-8A11-484A3F059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71950"/>
            <a:ext cx="2476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核验状态</a:t>
            </a:r>
          </a:p>
        </p:txBody>
      </p:sp>
      <p:sp>
        <p:nvSpPr>
          <p:cNvPr id="16" name="p15-r3-1">
            <a:extLst xmlns:a="http://schemas.openxmlformats.org/drawingml/2006/main">
              <a:ext uri="{FF2B5EF4-FFF2-40B4-BE49-F238E27FC236}">
                <a16:creationId xmlns:a16="http://schemas.microsoft.com/office/drawing/2014/main" id="{11C02242-AF61-4A92-BC8D-A12EC759B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171950"/>
            <a:ext cx="8191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verified-with-caveat｜缺少受控效果实验，保留限定</a:t>
            </a:r>
          </a:p>
        </p:txBody>
      </p:sp>
      <p:sp>
        <p:nvSpPr>
          <p:cNvPr id="17" name="p15-path">
            <a:extLst xmlns:a="http://schemas.openxmlformats.org/drawingml/2006/main">
              <a:ext uri="{FF2B5EF4-FFF2-40B4-BE49-F238E27FC236}">
                <a16:creationId xmlns:a16="http://schemas.microsoft.com/office/drawing/2014/main" id="{2F44F946-33A9-4870-8E7A-9D7203538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972050"/>
            <a:ext cx="95631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角色与状态独立：已完成入口核验，但相对于当前效果问题仍是探索线索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真实失败演示：教师自己的幻觉引用审计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p16-boundary">
            <a:extLst xmlns:a="http://schemas.openxmlformats.org/drawingml/2006/main">
              <a:ext uri="{FF2B5EF4-FFF2-40B4-BE49-F238E27FC236}">
                <a16:creationId xmlns:a16="http://schemas.microsoft.com/office/drawing/2014/main" id="{0220CC15-94AC-4394-8BEA-97F274A2B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57250"/>
            <a:ext cx="10744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案例边界：教师真实检索失败 trace（公开 arXiv 元数据，mi-search-trace-demo.md §6）；学生练习仍用讲义 §四·5 虚构案例</a:t>
            </a:r>
          </a:p>
        </p:txBody>
      </p:sp>
      <p:sp>
        <p:nvSpPr>
          <p:cNvPr id="7" name="p16-intro">
            <a:extLst xmlns:a="http://schemas.openxmlformats.org/drawingml/2006/main">
              <a:ext uri="{FF2B5EF4-FFF2-40B4-BE49-F238E27FC236}">
                <a16:creationId xmlns:a16="http://schemas.microsoft.com/office/drawing/2014/main" id="{5421C0E1-1778-4AB9-A793-C2B7EB394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52550"/>
            <a:ext cx="10744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教师 AI agent 凭记忆给出 11 个 MI 锚点 ID：抽查即错 6 个，其中 4 条彻底张冠李戴</a:t>
            </a:r>
          </a:p>
        </p:txBody>
      </p:sp>
      <p:sp>
        <p:nvSpPr>
          <p:cNvPr id="8" name="p16-h-0">
            <a:extLst xmlns:a="http://schemas.openxmlformats.org/drawingml/2006/main">
              <a:ext uri="{FF2B5EF4-FFF2-40B4-BE49-F238E27FC236}">
                <a16:creationId xmlns:a16="http://schemas.microsoft.com/office/drawing/2014/main" id="{B7B35477-0E65-446B-B134-40DB15D12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90700"/>
            <a:ext cx="4572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记忆条目</a:t>
            </a:r>
          </a:p>
        </p:txBody>
      </p:sp>
      <p:sp>
        <p:nvSpPr>
          <p:cNvPr id="9" name="p16-h-1">
            <a:extLst xmlns:a="http://schemas.openxmlformats.org/drawingml/2006/main">
              <a:ext uri="{FF2B5EF4-FFF2-40B4-BE49-F238E27FC236}">
                <a16:creationId xmlns:a16="http://schemas.microsoft.com/office/drawing/2014/main" id="{AC4C51ED-C4B4-4218-9219-2BBABE937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790700"/>
            <a:ext cx="3810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实为</a:t>
            </a:r>
          </a:p>
        </p:txBody>
      </p:sp>
      <p:sp>
        <p:nvSpPr>
          <p:cNvPr id="10" name="p16-h-2">
            <a:extLst xmlns:a="http://schemas.openxmlformats.org/drawingml/2006/main">
              <a:ext uri="{FF2B5EF4-FFF2-40B4-BE49-F238E27FC236}">
                <a16:creationId xmlns:a16="http://schemas.microsoft.com/office/drawing/2014/main" id="{E24A347B-85F7-4E09-A6EB-61A4EF694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处置</a:t>
            </a:r>
          </a:p>
        </p:txBody>
      </p:sp>
      <p:sp>
        <p:nvSpPr>
          <p:cNvPr id="11" name="p16-r0-0">
            <a:extLst xmlns:a="http://schemas.openxmlformats.org/drawingml/2006/main">
              <a:ext uri="{FF2B5EF4-FFF2-40B4-BE49-F238E27FC236}">
                <a16:creationId xmlns:a16="http://schemas.microsoft.com/office/drawing/2014/main" id="{B7D9D2BE-863C-4A8C-BE8F-B09CD5C50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457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2308.10939＝Attribution Patching</a:t>
            </a:r>
          </a:p>
        </p:txBody>
      </p:sp>
      <p:sp>
        <p:nvSpPr>
          <p:cNvPr id="12" name="p16-r0-1">
            <a:extLst xmlns:a="http://schemas.openxmlformats.org/drawingml/2006/main">
              <a:ext uri="{FF2B5EF4-FFF2-40B4-BE49-F238E27FC236}">
                <a16:creationId xmlns:a16="http://schemas.microsoft.com/office/drawing/2014/main" id="{4B4D2A27-828B-4828-9C85-386FF9E1A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190750"/>
            <a:ext cx="3810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凝聚态物理论文</a:t>
            </a:r>
          </a:p>
        </p:txBody>
      </p:sp>
      <p:sp>
        <p:nvSpPr>
          <p:cNvPr id="13" name="p16-r0-2">
            <a:extLst xmlns:a="http://schemas.openxmlformats.org/drawingml/2006/main">
              <a:ext uri="{FF2B5EF4-FFF2-40B4-BE49-F238E27FC236}">
                <a16:creationId xmlns:a16="http://schemas.microsoft.com/office/drawing/2014/main" id="{7C656A1E-AAD2-471D-A2EE-A82E70B2C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1907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rejected</a:t>
            </a:r>
          </a:p>
        </p:txBody>
      </p:sp>
      <p:sp>
        <p:nvSpPr>
          <p:cNvPr id="14" name="p16-r1-0">
            <a:extLst xmlns:a="http://schemas.openxmlformats.org/drawingml/2006/main">
              <a:ext uri="{FF2B5EF4-FFF2-40B4-BE49-F238E27FC236}">
                <a16:creationId xmlns:a16="http://schemas.microsoft.com/office/drawing/2014/main" id="{D517EF15-5118-4605-A510-889777591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47950"/>
            <a:ext cx="457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2203.13787＝Tuned Lens</a:t>
            </a:r>
          </a:p>
        </p:txBody>
      </p:sp>
      <p:sp>
        <p:nvSpPr>
          <p:cNvPr id="15" name="p16-r1-1">
            <a:extLst xmlns:a="http://schemas.openxmlformats.org/drawingml/2006/main">
              <a:ext uri="{FF2B5EF4-FFF2-40B4-BE49-F238E27FC236}">
                <a16:creationId xmlns:a16="http://schemas.microsoft.com/office/drawing/2014/main" id="{233CD55C-CA4C-4198-AFD1-4E8007D8D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647950"/>
            <a:ext cx="3810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混合序列预测论文</a:t>
            </a:r>
          </a:p>
        </p:txBody>
      </p:sp>
      <p:sp>
        <p:nvSpPr>
          <p:cNvPr id="16" name="p16-r1-2">
            <a:extLst xmlns:a="http://schemas.openxmlformats.org/drawingml/2006/main">
              <a:ext uri="{FF2B5EF4-FFF2-40B4-BE49-F238E27FC236}">
                <a16:creationId xmlns:a16="http://schemas.microsoft.com/office/drawing/2014/main" id="{FCBA3548-C195-47C1-9037-F48863106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479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rejected</a:t>
            </a:r>
          </a:p>
        </p:txBody>
      </p:sp>
      <p:sp>
        <p:nvSpPr>
          <p:cNvPr id="17" name="p16-r2-0">
            <a:extLst xmlns:a="http://schemas.openxmlformats.org/drawingml/2006/main">
              <a:ext uri="{FF2B5EF4-FFF2-40B4-BE49-F238E27FC236}">
                <a16:creationId xmlns:a16="http://schemas.microsoft.com/office/drawing/2014/main" id="{2F4F00F9-80C2-4CFD-A180-B8192622F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05150"/>
            <a:ext cx="457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2309.10655＝Emergent Linear Representations</a:t>
            </a:r>
          </a:p>
        </p:txBody>
      </p:sp>
      <p:sp>
        <p:nvSpPr>
          <p:cNvPr id="18" name="p16-r2-1">
            <a:extLst xmlns:a="http://schemas.openxmlformats.org/drawingml/2006/main">
              <a:ext uri="{FF2B5EF4-FFF2-40B4-BE49-F238E27FC236}">
                <a16:creationId xmlns:a16="http://schemas.microsoft.com/office/drawing/2014/main" id="{77147C4B-C5E0-419C-AE27-A6F95262A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105150"/>
            <a:ext cx="3810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路径规划论文</a:t>
            </a:r>
          </a:p>
        </p:txBody>
      </p:sp>
      <p:sp>
        <p:nvSpPr>
          <p:cNvPr id="19" name="p16-r2-2">
            <a:extLst xmlns:a="http://schemas.openxmlformats.org/drawingml/2006/main">
              <a:ext uri="{FF2B5EF4-FFF2-40B4-BE49-F238E27FC236}">
                <a16:creationId xmlns:a16="http://schemas.microsoft.com/office/drawing/2014/main" id="{2B11A12A-7ADD-4E27-A828-AFCFD40BE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1051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rejected</a:t>
            </a:r>
          </a:p>
        </p:txBody>
      </p:sp>
      <p:sp>
        <p:nvSpPr>
          <p:cNvPr id="20" name="p16-r3-0">
            <a:extLst xmlns:a="http://schemas.openxmlformats.org/drawingml/2006/main">
              <a:ext uri="{FF2B5EF4-FFF2-40B4-BE49-F238E27FC236}">
                <a16:creationId xmlns:a16="http://schemas.microsoft.com/office/drawing/2014/main" id="{DAA439B7-30CA-4A30-8D1C-9FA1F31EC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62350"/>
            <a:ext cx="457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2407.14400＝Gemma Scope</a:t>
            </a:r>
          </a:p>
        </p:txBody>
      </p:sp>
      <p:sp>
        <p:nvSpPr>
          <p:cNvPr id="21" name="p16-r3-1">
            <a:extLst xmlns:a="http://schemas.openxmlformats.org/drawingml/2006/main">
              <a:ext uri="{FF2B5EF4-FFF2-40B4-BE49-F238E27FC236}">
                <a16:creationId xmlns:a16="http://schemas.microsoft.com/office/drawing/2014/main" id="{AEF245C1-6D50-42E1-A0C6-1E894DFF9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562350"/>
            <a:ext cx="3810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O-RAN 网络预测论文</a:t>
            </a:r>
          </a:p>
        </p:txBody>
      </p:sp>
      <p:sp>
        <p:nvSpPr>
          <p:cNvPr id="22" name="p16-r3-2">
            <a:extLst xmlns:a="http://schemas.openxmlformats.org/drawingml/2006/main">
              <a:ext uri="{FF2B5EF4-FFF2-40B4-BE49-F238E27FC236}">
                <a16:creationId xmlns:a16="http://schemas.microsoft.com/office/drawing/2014/main" id="{B31DEA40-F959-459F-AB5E-D2AC5724C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5623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rejected</a:t>
            </a:r>
          </a:p>
        </p:txBody>
      </p:sp>
      <p:sp>
        <p:nvSpPr>
          <p:cNvPr id="23" name="p16-recover">
            <a:extLst xmlns:a="http://schemas.openxmlformats.org/drawingml/2006/main">
              <a:ext uri="{FF2B5EF4-FFF2-40B4-BE49-F238E27FC236}">
                <a16:creationId xmlns:a16="http://schemas.microsoft.com/office/drawing/2014/main" id="{D5BFC5A6-5B1A-4888-A1A8-0A99E4F4A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14800"/>
            <a:ext cx="10668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8745A"/>
                </a:solidFill>
              </a:defRPr>
            </a:pPr>
            <a:r>
              <a:rPr sz="13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恢复路径：ti: 题名检索恢复正确 ID（2310.10348 ／ 2303.08112 ／ 2309.00941 ／ 2408.05147）｜失败留档，不重跑到无痕</a:t>
            </a:r>
          </a:p>
        </p:txBody>
      </p:sp>
      <p:sp>
        <p:nvSpPr>
          <p:cNvPr id="24" name="p16-q-0">
            <a:extLst xmlns:a="http://schemas.openxmlformats.org/drawingml/2006/main">
              <a:ext uri="{FF2B5EF4-FFF2-40B4-BE49-F238E27FC236}">
                <a16:creationId xmlns:a16="http://schemas.microsoft.com/office/drawing/2014/main" id="{F042FE58-C0C9-478E-BFE4-7D08CE0B4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43450"/>
            <a:ext cx="4953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1. 为什么先写问题再搜？</a:t>
            </a:r>
          </a:p>
        </p:txBody>
      </p:sp>
      <p:sp>
        <p:nvSpPr>
          <p:cNvPr id="25" name="p16-q-1">
            <a:extLst xmlns:a="http://schemas.openxmlformats.org/drawingml/2006/main">
              <a:ext uri="{FF2B5EF4-FFF2-40B4-BE49-F238E27FC236}">
                <a16:creationId xmlns:a16="http://schemas.microsoft.com/office/drawing/2014/main" id="{B56F940A-1C06-45AE-B9C6-599E28D2E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43450"/>
            <a:ext cx="4953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2. 纳入 / 排除何时写？</a:t>
            </a:r>
          </a:p>
        </p:txBody>
      </p:sp>
      <p:sp>
        <p:nvSpPr>
          <p:cNvPr id="26" name="p16-q-2">
            <a:extLst xmlns:a="http://schemas.openxmlformats.org/drawingml/2006/main">
              <a:ext uri="{FF2B5EF4-FFF2-40B4-BE49-F238E27FC236}">
                <a16:creationId xmlns:a16="http://schemas.microsoft.com/office/drawing/2014/main" id="{AAD49AA4-6B3B-45DE-9434-30462CB1C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34000"/>
            <a:ext cx="4953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3. 角色、状态、决定各答什么？</a:t>
            </a:r>
          </a:p>
        </p:txBody>
      </p:sp>
      <p:sp>
        <p:nvSpPr>
          <p:cNvPr id="27" name="p16-q-3">
            <a:extLst xmlns:a="http://schemas.openxmlformats.org/drawingml/2006/main">
              <a:ext uri="{FF2B5EF4-FFF2-40B4-BE49-F238E27FC236}">
                <a16:creationId xmlns:a16="http://schemas.microsoft.com/office/drawing/2014/main" id="{A4AE8258-3514-4F93-996F-0F5AE1DCC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334000"/>
            <a:ext cx="4953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4. caveat 如何保留限定？</a:t>
            </a:r>
          </a:p>
        </p:txBody>
      </p:sp>
      <p:sp>
        <p:nvSpPr>
          <p:cNvPr id="28" name="p16-bottom">
            <a:extLst xmlns:a="http://schemas.openxmlformats.org/drawingml/2006/main">
              <a:ext uri="{FF2B5EF4-FFF2-40B4-BE49-F238E27FC236}">
                <a16:creationId xmlns:a16="http://schemas.microsoft.com/office/drawing/2014/main" id="{1FA9CF6F-17B9-4CD8-A266-7B6177B0E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962650"/>
            <a:ext cx="628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记忆与模型输出只能作线索；rejected 永不入候选表。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个人实践：跑通一次可复盘检索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p17-time">
            <a:extLst xmlns:a="http://schemas.openxmlformats.org/drawingml/2006/main">
              <a:ext uri="{FF2B5EF4-FFF2-40B4-BE49-F238E27FC236}">
                <a16:creationId xmlns:a16="http://schemas.microsoft.com/office/drawing/2014/main" id="{BF30F210-C609-48BB-AB4A-74C6E7BBB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87630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43:00–48:00 任务说明</a:t>
            </a:r>
          </a:p>
        </p:txBody>
      </p:sp>
      <p:sp>
        <p:nvSpPr>
          <p:cNvPr id="7" name="p17-n-0">
            <a:extLst xmlns:a="http://schemas.openxmlformats.org/drawingml/2006/main">
              <a:ext uri="{FF2B5EF4-FFF2-40B4-BE49-F238E27FC236}">
                <a16:creationId xmlns:a16="http://schemas.microsoft.com/office/drawing/2014/main" id="{45C28544-AA01-4E50-BA94-DDF846475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62050"/>
            <a:ext cx="552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p17-t-0">
            <a:extLst xmlns:a="http://schemas.openxmlformats.org/drawingml/2006/main">
              <a:ext uri="{FF2B5EF4-FFF2-40B4-BE49-F238E27FC236}">
                <a16:creationId xmlns:a16="http://schemas.microsoft.com/office/drawing/2014/main" id="{16812AC3-F18D-4EBD-B58D-0484D1AE8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62050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写问题（或沿用贯穿案例）</a:t>
            </a:r>
          </a:p>
        </p:txBody>
      </p:sp>
      <p:sp>
        <p:nvSpPr>
          <p:cNvPr id="9" name="p17-n-1">
            <a:extLst xmlns:a="http://schemas.openxmlformats.org/drawingml/2006/main">
              <a:ext uri="{FF2B5EF4-FFF2-40B4-BE49-F238E27FC236}">
                <a16:creationId xmlns:a16="http://schemas.microsoft.com/office/drawing/2014/main" id="{7D9572D3-6939-42EB-8614-3291CAB1A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57400"/>
            <a:ext cx="552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p17-t-1">
            <a:extLst xmlns:a="http://schemas.openxmlformats.org/drawingml/2006/main">
              <a:ext uri="{FF2B5EF4-FFF2-40B4-BE49-F238E27FC236}">
                <a16:creationId xmlns:a16="http://schemas.microsoft.com/office/drawing/2014/main" id="{72CDBC5B-1932-4284-9ABC-65C43F254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057400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抽 5 个关键词＋同义/上位词</a:t>
            </a:r>
          </a:p>
        </p:txBody>
      </p:sp>
      <p:sp>
        <p:nvSpPr>
          <p:cNvPr id="11" name="p17-n-2">
            <a:extLst xmlns:a="http://schemas.openxmlformats.org/drawingml/2006/main">
              <a:ext uri="{FF2B5EF4-FFF2-40B4-BE49-F238E27FC236}">
                <a16:creationId xmlns:a16="http://schemas.microsoft.com/office/drawing/2014/main" id="{9B9B8B79-EEDA-4D16-A390-A2269AC7A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52750"/>
            <a:ext cx="552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p17-t-2">
            <a:extLst xmlns:a="http://schemas.openxmlformats.org/drawingml/2006/main">
              <a:ext uri="{FF2B5EF4-FFF2-40B4-BE49-F238E27FC236}">
                <a16:creationId xmlns:a16="http://schemas.microsoft.com/office/drawing/2014/main" id="{C2B66D7A-189A-426E-AB0C-D77102ED3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952750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构造一条检索式</a:t>
            </a:r>
          </a:p>
        </p:txBody>
      </p:sp>
      <p:sp>
        <p:nvSpPr>
          <p:cNvPr id="13" name="p17-n-3">
            <a:extLst xmlns:a="http://schemas.openxmlformats.org/drawingml/2006/main">
              <a:ext uri="{FF2B5EF4-FFF2-40B4-BE49-F238E27FC236}">
                <a16:creationId xmlns:a16="http://schemas.microsoft.com/office/drawing/2014/main" id="{AFD9E0BA-5BAA-4434-AD38-74585311A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48100"/>
            <a:ext cx="552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4" name="p17-t-3">
            <a:extLst xmlns:a="http://schemas.openxmlformats.org/drawingml/2006/main">
              <a:ext uri="{FF2B5EF4-FFF2-40B4-BE49-F238E27FC236}">
                <a16:creationId xmlns:a16="http://schemas.microsoft.com/office/drawing/2014/main" id="{1CA665E6-71B5-4293-A469-F8346653B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848100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让 AI 生成 3-5 条文献线索</a:t>
            </a:r>
          </a:p>
        </p:txBody>
      </p:sp>
      <p:sp>
        <p:nvSpPr>
          <p:cNvPr id="15" name="p17-n-4">
            <a:extLst xmlns:a="http://schemas.openxmlformats.org/drawingml/2006/main">
              <a:ext uri="{FF2B5EF4-FFF2-40B4-BE49-F238E27FC236}">
                <a16:creationId xmlns:a16="http://schemas.microsoft.com/office/drawing/2014/main" id="{64F53F29-3A1A-441F-89C8-DA612CAAB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162050"/>
            <a:ext cx="552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6" name="p17-t-4">
            <a:extLst xmlns:a="http://schemas.openxmlformats.org/drawingml/2006/main">
              <a:ext uri="{FF2B5EF4-FFF2-40B4-BE49-F238E27FC236}">
                <a16:creationId xmlns:a16="http://schemas.microsoft.com/office/drawing/2014/main" id="{E8BCD25A-249B-4D7C-A889-84C35EFC8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162050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对至少 2 条执行入口核验</a:t>
            </a:r>
          </a:p>
        </p:txBody>
      </p:sp>
      <p:sp>
        <p:nvSpPr>
          <p:cNvPr id="17" name="p17-n-5">
            <a:extLst xmlns:a="http://schemas.openxmlformats.org/drawingml/2006/main">
              <a:ext uri="{FF2B5EF4-FFF2-40B4-BE49-F238E27FC236}">
                <a16:creationId xmlns:a16="http://schemas.microsoft.com/office/drawing/2014/main" id="{4A5F5886-1DE3-42F6-AE73-A1A6C3472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057400"/>
            <a:ext cx="552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18" name="p17-t-5">
            <a:extLst xmlns:a="http://schemas.openxmlformats.org/drawingml/2006/main">
              <a:ext uri="{FF2B5EF4-FFF2-40B4-BE49-F238E27FC236}">
                <a16:creationId xmlns:a16="http://schemas.microsoft.com/office/drawing/2014/main" id="{577B9614-D6F9-4185-A9D3-A86E60791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057400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审计至少 2 条，留 pending/rejected</a:t>
            </a:r>
          </a:p>
        </p:txBody>
      </p:sp>
      <p:sp>
        <p:nvSpPr>
          <p:cNvPr id="19" name="p17-n-6">
            <a:extLst xmlns:a="http://schemas.openxmlformats.org/drawingml/2006/main">
              <a:ext uri="{FF2B5EF4-FFF2-40B4-BE49-F238E27FC236}">
                <a16:creationId xmlns:a16="http://schemas.microsoft.com/office/drawing/2014/main" id="{61ADA968-83E6-4C7B-AACF-ADD436D13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952750"/>
            <a:ext cx="552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20" name="p17-t-6">
            <a:extLst xmlns:a="http://schemas.openxmlformats.org/drawingml/2006/main">
              <a:ext uri="{FF2B5EF4-FFF2-40B4-BE49-F238E27FC236}">
                <a16:creationId xmlns:a16="http://schemas.microsoft.com/office/drawing/2014/main" id="{AE986987-E9CF-4C87-A2E1-CAD21AABF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952750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标证据角色</a:t>
            </a:r>
          </a:p>
        </p:txBody>
      </p:sp>
      <p:sp>
        <p:nvSpPr>
          <p:cNvPr id="21" name="p17-n-7">
            <a:extLst xmlns:a="http://schemas.openxmlformats.org/drawingml/2006/main">
              <a:ext uri="{FF2B5EF4-FFF2-40B4-BE49-F238E27FC236}">
                <a16:creationId xmlns:a16="http://schemas.microsoft.com/office/drawing/2014/main" id="{47212304-CDAE-4842-BACF-28BD62FDC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848100"/>
            <a:ext cx="552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22" name="p17-t-7">
            <a:extLst xmlns:a="http://schemas.openxmlformats.org/drawingml/2006/main">
              <a:ext uri="{FF2B5EF4-FFF2-40B4-BE49-F238E27FC236}">
                <a16:creationId xmlns:a16="http://schemas.microsoft.com/office/drawing/2014/main" id="{7F7588A2-4AD0-481B-A39D-AF4EE136C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848100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 AI 使用记录</a:t>
            </a:r>
          </a:p>
        </p:txBody>
      </p:sp>
      <p:sp>
        <p:nvSpPr>
          <p:cNvPr id="23" name="p17-choice">
            <a:extLst xmlns:a="http://schemas.openxmlformats.org/drawingml/2006/main">
              <a:ext uri="{FF2B5EF4-FFF2-40B4-BE49-F238E27FC236}">
                <a16:creationId xmlns:a16="http://schemas.microsoft.com/office/drawing/2014/main" id="{D5859FC7-EF3E-424E-BE26-66F921BE0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390650"/>
            <a:ext cx="2381250" cy="2933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选题顺序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本人真实问题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导师组公开问题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课程贯穿案例</a:t>
            </a:r>
          </a:p>
        </p:txBody>
      </p:sp>
      <p:sp>
        <p:nvSpPr>
          <p:cNvPr id="24" name="p17-bottom">
            <a:extLst xmlns:a="http://schemas.openxmlformats.org/drawingml/2006/main">
              <a:ext uri="{FF2B5EF4-FFF2-40B4-BE49-F238E27FC236}">
                <a16:creationId xmlns:a16="http://schemas.microsoft.com/office/drawing/2014/main" id="{318F6C64-9004-4579-AB07-33A63E324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105400"/>
            <a:ext cx="8839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不得直接复刻演示题；验收看记录、状态、角色与核验理由。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实践停留页：模板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1C6C81E-38B9-7560-621D-5A151A79DF9B}" type="slidenum">
              <a:t>18</a:t>
            </a:fld>
            <a:endParaRPr/>
          </a:p>
        </p:txBody>
      </p:sp>
      <p:sp>
        <p:nvSpPr>
          <p:cNvPr id="6" name="p18-time">
            <a:extLst xmlns:a="http://schemas.openxmlformats.org/drawingml/2006/main">
              <a:ext uri="{FF2B5EF4-FFF2-40B4-BE49-F238E27FC236}">
                <a16:creationId xmlns:a16="http://schemas.microsoft.com/office/drawing/2014/main" id="{7FB29177-1C3F-4145-9F39-A6243F0CC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87630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48:00–75:00 个人实践</a:t>
            </a:r>
          </a:p>
        </p:txBody>
      </p:sp>
      <p:sp>
        <p:nvSpPr>
          <p:cNvPr id="7" name="p18-left-title">
            <a:extLst xmlns:a="http://schemas.openxmlformats.org/drawingml/2006/main">
              <a:ext uri="{FF2B5EF4-FFF2-40B4-BE49-F238E27FC236}">
                <a16:creationId xmlns:a16="http://schemas.microsoft.com/office/drawing/2014/main" id="{B5AB10A1-08AA-4FD7-A4F4-155D6199A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检索记录</a:t>
            </a:r>
          </a:p>
        </p:txBody>
      </p:sp>
      <p:sp>
        <p:nvSpPr>
          <p:cNvPr id="8" name="p18-left">
            <a:extLst xmlns:a="http://schemas.openxmlformats.org/drawingml/2006/main">
              <a:ext uri="{FF2B5EF4-FFF2-40B4-BE49-F238E27FC236}">
                <a16:creationId xmlns:a16="http://schemas.microsoft.com/office/drawing/2014/main" id="{F9897267-FF9E-4FB4-9009-3867BD896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62100"/>
            <a:ext cx="4857750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190500" tIns="152400" rIns="190500" bIns="15240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库：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检索式：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日期：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时间范围：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命中数：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纳入条件：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排除条件：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筛选后：</a:t>
            </a:r>
          </a:p>
        </p:txBody>
      </p:sp>
      <p:sp>
        <p:nvSpPr>
          <p:cNvPr id="9" name="p18-right-title">
            <a:extLst xmlns:a="http://schemas.openxmlformats.org/drawingml/2006/main">
              <a:ext uri="{FF2B5EF4-FFF2-40B4-BE49-F238E27FC236}">
                <a16:creationId xmlns:a16="http://schemas.microsoft.com/office/drawing/2014/main" id="{E0D22040-A52A-41C2-BDF3-FC14D7ADD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066800"/>
            <a:ext cx="539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候选文献表（十字段，只放纳入且非 rejected 条目）</a:t>
            </a:r>
          </a:p>
        </p:txBody>
      </p:sp>
      <p:sp>
        <p:nvSpPr>
          <p:cNvPr id="10" name="p18-right">
            <a:extLst xmlns:a="http://schemas.openxmlformats.org/drawingml/2006/main">
              <a:ext uri="{FF2B5EF4-FFF2-40B4-BE49-F238E27FC236}">
                <a16:creationId xmlns:a16="http://schemas.microsoft.com/office/drawing/2014/main" id="{3D3E2A82-E90A-4BEA-8AD2-E5346A98C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62100"/>
            <a:ext cx="542925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190500" tIns="133350" rIns="190500" bIns="13335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| 编号 | 题名（核验后） | 作者 | 年份 |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| 稳定来源 | 对应问题/拟用主张 |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| 预期证据角色 | 纳入理由 |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| 核验状态 | caveat/允许主张 |</a:t>
            </a:r>
          </a:p>
        </p:txBody>
      </p:sp>
      <p:sp>
        <p:nvSpPr>
          <p:cNvPr id="11" name="p18-extra">
            <a:extLst xmlns:a="http://schemas.openxmlformats.org/drawingml/2006/main">
              <a:ext uri="{FF2B5EF4-FFF2-40B4-BE49-F238E27FC236}">
                <a16:creationId xmlns:a16="http://schemas.microsoft.com/office/drawing/2014/main" id="{3958DEF8-588B-4F7D-A2B1-53D91F7F2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352800"/>
            <a:ext cx="5429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另建：检索与筛选记录（含排除理由）｜来源审计记录（含 rejected）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统一写入：notes/literature-search.md</a:t>
            </a:r>
          </a:p>
        </p:txBody>
      </p:sp>
      <p:sp>
        <p:nvSpPr>
          <p:cNvPr id="12" name="p18-path">
            <a:extLst xmlns:a="http://schemas.openxmlformats.org/drawingml/2006/main">
              <a:ext uri="{FF2B5EF4-FFF2-40B4-BE49-F238E27FC236}">
                <a16:creationId xmlns:a16="http://schemas.microsoft.com/office/drawing/2014/main" id="{F0FD6C15-54AE-4B74-8CF3-046144B28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171950"/>
            <a:ext cx="5429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最低闭环：1 检索记录 + 2 来源审计</a:t>
            </a:r>
          </a:p>
          <a:p xmlns:a="http://schemas.openxmlformats.org/drawingml/2006/main">
            <a:pPr algn="ctr"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+ 1 条 verified/caveat + 1 条 AI 使用记录</a:t>
            </a:r>
          </a:p>
        </p:txBody>
      </p:sp>
      <p:sp>
        <p:nvSpPr>
          <p:cNvPr id="13" name="p18-bottom">
            <a:extLst xmlns:a="http://schemas.openxmlformats.org/drawingml/2006/main">
              <a:ext uri="{FF2B5EF4-FFF2-40B4-BE49-F238E27FC236}">
                <a16:creationId xmlns:a16="http://schemas.microsoft.com/office/drawing/2014/main" id="{6E90866F-7080-4730-A1CC-A71E187E5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162550"/>
            <a:ext cx="9067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断网备用：用 Markdown 完成检索式构造和来源审计，不逐台排障。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同伴互查三问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F91274-D221-1BB4-3BF9-836E3AD31EBE}" type="slidenum">
              <a:t>19</a:t>
            </a:fld>
            <a:endParaRPr/>
          </a:p>
        </p:txBody>
      </p:sp>
      <p:sp>
        <p:nvSpPr>
          <p:cNvPr id="6" name="p19-mode">
            <a:extLst xmlns:a="http://schemas.openxmlformats.org/drawingml/2006/main">
              <a:ext uri="{FF2B5EF4-FFF2-40B4-BE49-F238E27FC236}">
                <a16:creationId xmlns:a16="http://schemas.microsoft.com/office/drawing/2014/main" id="{E23DBB3F-55E9-4C92-9F1F-0BBC9D4EC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287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两人互查 · 10 分钟</a:t>
            </a:r>
          </a:p>
        </p:txBody>
      </p:sp>
      <p:sp>
        <p:nvSpPr>
          <p:cNvPr id="7" name="p19-qn-0">
            <a:extLst xmlns:a="http://schemas.openxmlformats.org/drawingml/2006/main">
              <a:ext uri="{FF2B5EF4-FFF2-40B4-BE49-F238E27FC236}">
                <a16:creationId xmlns:a16="http://schemas.microsoft.com/office/drawing/2014/main" id="{8F8A7F9B-DE30-43A3-97DC-EC64BA0BA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95450"/>
            <a:ext cx="857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Q1</a:t>
            </a:r>
          </a:p>
        </p:txBody>
      </p:sp>
      <p:sp>
        <p:nvSpPr>
          <p:cNvPr id="8" name="p19-q-0">
            <a:extLst xmlns:a="http://schemas.openxmlformats.org/drawingml/2006/main">
              <a:ext uri="{FF2B5EF4-FFF2-40B4-BE49-F238E27FC236}">
                <a16:creationId xmlns:a16="http://schemas.microsoft.com/office/drawing/2014/main" id="{98B3039F-0465-403F-AC09-953C751DD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1695450"/>
            <a:ext cx="6191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检索可复盘吗？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库、式、日期、命中与筛选齐吗？</a:t>
            </a:r>
          </a:p>
        </p:txBody>
      </p:sp>
      <p:sp>
        <p:nvSpPr>
          <p:cNvPr id="9" name="p19-qn-1">
            <a:extLst xmlns:a="http://schemas.openxmlformats.org/drawingml/2006/main">
              <a:ext uri="{FF2B5EF4-FFF2-40B4-BE49-F238E27FC236}">
                <a16:creationId xmlns:a16="http://schemas.microsoft.com/office/drawing/2014/main" id="{7425F305-79B1-4C32-B89D-FDB2EFCA1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00350"/>
            <a:ext cx="857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Q2</a:t>
            </a:r>
          </a:p>
        </p:txBody>
      </p:sp>
      <p:sp>
        <p:nvSpPr>
          <p:cNvPr id="10" name="p19-q-1">
            <a:extLst xmlns:a="http://schemas.openxmlformats.org/drawingml/2006/main">
              <a:ext uri="{FF2B5EF4-FFF2-40B4-BE49-F238E27FC236}">
                <a16:creationId xmlns:a16="http://schemas.microsoft.com/office/drawing/2014/main" id="{1251D06D-2D84-432C-94D5-1E3F8443B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800350"/>
            <a:ext cx="6191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预期角色有对应问题/拟用主张吗？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是否与状态、筛选决定分开？</a:t>
            </a:r>
          </a:p>
        </p:txBody>
      </p:sp>
      <p:sp>
        <p:nvSpPr>
          <p:cNvPr id="11" name="p19-qn-2">
            <a:extLst xmlns:a="http://schemas.openxmlformats.org/drawingml/2006/main">
              <a:ext uri="{FF2B5EF4-FFF2-40B4-BE49-F238E27FC236}">
                <a16:creationId xmlns:a16="http://schemas.microsoft.com/office/drawing/2014/main" id="{747B1D60-2EDA-4E9F-8242-DF8AF2F57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05250"/>
            <a:ext cx="857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Q3</a:t>
            </a:r>
          </a:p>
        </p:txBody>
      </p:sp>
      <p:sp>
        <p:nvSpPr>
          <p:cNvPr id="12" name="p19-q-2">
            <a:extLst xmlns:a="http://schemas.openxmlformats.org/drawingml/2006/main">
              <a:ext uri="{FF2B5EF4-FFF2-40B4-BE49-F238E27FC236}">
                <a16:creationId xmlns:a16="http://schemas.microsoft.com/office/drawing/2014/main" id="{AEC4FA15-8B39-4169-8E3F-14584072E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905250"/>
            <a:ext cx="6191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身份与一条拟用主张回原文了吗？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rejected / pending 理由成立吗？</a:t>
            </a:r>
          </a:p>
        </p:txBody>
      </p:sp>
      <p:sp>
        <p:nvSpPr>
          <p:cNvPr id="13" name="p19-state">
            <a:extLst xmlns:a="http://schemas.openxmlformats.org/drawingml/2006/main">
              <a:ext uri="{FF2B5EF4-FFF2-40B4-BE49-F238E27FC236}">
                <a16:creationId xmlns:a16="http://schemas.microsoft.com/office/drawing/2014/main" id="{F88448D1-E9A3-4CBA-A71E-640AA67A9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71650"/>
            <a:ext cx="24765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作者记录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采纳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暂不采纳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待核验</a:t>
            </a:r>
          </a:p>
        </p:txBody>
      </p:sp>
      <p:sp>
        <p:nvSpPr>
          <p:cNvPr id="14" name="p19-bottom">
            <a:extLst xmlns:a="http://schemas.openxmlformats.org/drawingml/2006/main">
              <a:ext uri="{FF2B5EF4-FFF2-40B4-BE49-F238E27FC236}">
                <a16:creationId xmlns:a16="http://schemas.microsoft.com/office/drawing/2014/main" id="{266891A0-9F96-4FF7-BDF5-6249C5C18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19700"/>
            <a:ext cx="704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同伴只提问题，不替作者决定，不形成共同提交。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本讲知识点总结：检索是证据入口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44E025A-983C-6D44-79C6-4612AACD43FC}" type="slidenum">
              <a:t>20</a:t>
            </a:fld>
            <a:endParaRPr/>
          </a:p>
        </p:txBody>
      </p:sp>
      <p:sp>
        <p:nvSpPr>
          <p:cNvPr id="6" name="p20-chain-0">
            <a:extLst xmlns:a="http://schemas.openxmlformats.org/drawingml/2006/main">
              <a:ext uri="{FF2B5EF4-FFF2-40B4-BE49-F238E27FC236}">
                <a16:creationId xmlns:a16="http://schemas.microsoft.com/office/drawing/2014/main" id="{AE19A307-408B-4572-B23B-AC343A5F9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66800"/>
            <a:ext cx="2381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问题初稿</a:t>
            </a:r>
          </a:p>
        </p:txBody>
      </p:sp>
      <p:sp>
        <p:nvSpPr>
          <p:cNvPr id="7" name="p20-arrow-0">
            <a:extLst xmlns:a="http://schemas.openxmlformats.org/drawingml/2006/main">
              <a:ext uri="{FF2B5EF4-FFF2-40B4-BE49-F238E27FC236}">
                <a16:creationId xmlns:a16="http://schemas.microsoft.com/office/drawing/2014/main" id="{2022807B-4C31-4D89-ABF1-B68A086F4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1620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8" name="p20-chain-1">
            <a:extLst xmlns:a="http://schemas.openxmlformats.org/drawingml/2006/main">
              <a:ext uri="{FF2B5EF4-FFF2-40B4-BE49-F238E27FC236}">
                <a16:creationId xmlns:a16="http://schemas.microsoft.com/office/drawing/2014/main" id="{1C010645-A05C-410C-8097-088F69537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066800"/>
            <a:ext cx="2381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关键词／检索式</a:t>
            </a:r>
          </a:p>
        </p:txBody>
      </p:sp>
      <p:sp>
        <p:nvSpPr>
          <p:cNvPr id="9" name="p20-arrow-1">
            <a:extLst xmlns:a="http://schemas.openxmlformats.org/drawingml/2006/main">
              <a:ext uri="{FF2B5EF4-FFF2-40B4-BE49-F238E27FC236}">
                <a16:creationId xmlns:a16="http://schemas.microsoft.com/office/drawing/2014/main" id="{BC16DCE3-BBDC-4653-B5E2-31AE6E979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1620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p20-chain-2">
            <a:extLst xmlns:a="http://schemas.openxmlformats.org/drawingml/2006/main">
              <a:ext uri="{FF2B5EF4-FFF2-40B4-BE49-F238E27FC236}">
                <a16:creationId xmlns:a16="http://schemas.microsoft.com/office/drawing/2014/main" id="{8E52326C-69CA-4D55-8A3B-90C4F1AF2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066800"/>
            <a:ext cx="2381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来源审计</a:t>
            </a:r>
          </a:p>
        </p:txBody>
      </p:sp>
      <p:sp>
        <p:nvSpPr>
          <p:cNvPr id="11" name="p20-arrow-2">
            <a:extLst xmlns:a="http://schemas.openxmlformats.org/drawingml/2006/main">
              <a:ext uri="{FF2B5EF4-FFF2-40B4-BE49-F238E27FC236}">
                <a16:creationId xmlns:a16="http://schemas.microsoft.com/office/drawing/2014/main" id="{49222B46-6AF1-4341-9740-9005C59A4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1620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2" name="p20-chain-3">
            <a:extLst xmlns:a="http://schemas.openxmlformats.org/drawingml/2006/main">
              <a:ext uri="{FF2B5EF4-FFF2-40B4-BE49-F238E27FC236}">
                <a16:creationId xmlns:a16="http://schemas.microsoft.com/office/drawing/2014/main" id="{463DA0BF-8986-4938-9DD8-5684B6EB3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066800"/>
            <a:ext cx="2381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候选文献表</a:t>
            </a:r>
          </a:p>
        </p:txBody>
      </p:sp>
      <p:sp>
        <p:nvSpPr>
          <p:cNvPr id="13" name="p20-row-label-0">
            <a:extLst xmlns:a="http://schemas.openxmlformats.org/drawingml/2006/main">
              <a:ext uri="{FF2B5EF4-FFF2-40B4-BE49-F238E27FC236}">
                <a16:creationId xmlns:a16="http://schemas.microsoft.com/office/drawing/2014/main" id="{82095874-B45D-4E0E-B01C-0E62910BA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11049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角色</a:t>
            </a:r>
          </a:p>
        </p:txBody>
      </p:sp>
      <p:sp>
        <p:nvSpPr>
          <p:cNvPr id="14" name="p20-row-basis-0">
            <a:extLst xmlns:a="http://schemas.openxmlformats.org/drawingml/2006/main">
              <a:ext uri="{FF2B5EF4-FFF2-40B4-BE49-F238E27FC236}">
                <a16:creationId xmlns:a16="http://schemas.microsoft.com/office/drawing/2014/main" id="{5E6CF279-098E-4550-93C3-E6386C7F3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095500"/>
            <a:ext cx="26860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7684"/>
                </a:solidFill>
              </a:defRPr>
            </a:pPr>
            <a:r>
              <a:rPr sz="150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相对于问题或拟用主张</a:t>
            </a:r>
          </a:p>
        </p:txBody>
      </p:sp>
      <p:sp>
        <p:nvSpPr>
          <p:cNvPr id="15" name="p20-row-content-0">
            <a:extLst xmlns:a="http://schemas.openxmlformats.org/drawingml/2006/main">
              <a:ext uri="{FF2B5EF4-FFF2-40B4-BE49-F238E27FC236}">
                <a16:creationId xmlns:a16="http://schemas.microsoft.com/office/drawing/2014/main" id="{97A1FE06-0442-4720-B027-F44E4E192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95500"/>
            <a:ext cx="6705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主／补充／对比／探索线索</a:t>
            </a:r>
          </a:p>
        </p:txBody>
      </p:sp>
      <p:sp>
        <p:nvSpPr>
          <p:cNvPr id="16" name="p20-row-label-1">
            <a:extLst xmlns:a="http://schemas.openxmlformats.org/drawingml/2006/main">
              <a:ext uri="{FF2B5EF4-FFF2-40B4-BE49-F238E27FC236}">
                <a16:creationId xmlns:a16="http://schemas.microsoft.com/office/drawing/2014/main" id="{EA954134-5B65-4EA5-8B3B-2E8580AC9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90850"/>
            <a:ext cx="11049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8745A"/>
                </a:solidFill>
              </a:defRPr>
            </a:pPr>
            <a:r>
              <a:rPr sz="18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状态</a:t>
            </a:r>
          </a:p>
        </p:txBody>
      </p:sp>
      <p:sp>
        <p:nvSpPr>
          <p:cNvPr id="17" name="p20-row-basis-1">
            <a:extLst xmlns:a="http://schemas.openxmlformats.org/drawingml/2006/main">
              <a:ext uri="{FF2B5EF4-FFF2-40B4-BE49-F238E27FC236}">
                <a16:creationId xmlns:a16="http://schemas.microsoft.com/office/drawing/2014/main" id="{1EA280A0-549E-48A2-B477-9DE3B7293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90850"/>
            <a:ext cx="26860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7684"/>
                </a:solidFill>
              </a:defRPr>
            </a:pPr>
            <a:r>
              <a:rPr sz="150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回原文裁定</a:t>
            </a:r>
          </a:p>
        </p:txBody>
      </p:sp>
      <p:sp>
        <p:nvSpPr>
          <p:cNvPr id="18" name="p20-row-content-1">
            <a:extLst xmlns:a="http://schemas.openxmlformats.org/drawingml/2006/main">
              <a:ext uri="{FF2B5EF4-FFF2-40B4-BE49-F238E27FC236}">
                <a16:creationId xmlns:a16="http://schemas.microsoft.com/office/drawing/2014/main" id="{B23CC6F0-F9BA-4477-AA5E-422FD0B05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90850"/>
            <a:ext cx="6705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pending／verified／verified-with-caveat／rejected</a:t>
            </a:r>
          </a:p>
        </p:txBody>
      </p:sp>
      <p:sp>
        <p:nvSpPr>
          <p:cNvPr id="19" name="p20-row-label-2">
            <a:extLst xmlns:a="http://schemas.openxmlformats.org/drawingml/2006/main">
              <a:ext uri="{FF2B5EF4-FFF2-40B4-BE49-F238E27FC236}">
                <a16:creationId xmlns:a16="http://schemas.microsoft.com/office/drawing/2014/main" id="{4DE34388-B32C-452B-9263-B9C4B397A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86200"/>
            <a:ext cx="11049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A86C12"/>
                </a:solidFill>
              </a:defRPr>
            </a:pPr>
            <a:r>
              <a:rPr sz="180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决定</a:t>
            </a:r>
          </a:p>
        </p:txBody>
      </p:sp>
      <p:sp>
        <p:nvSpPr>
          <p:cNvPr id="20" name="p20-row-basis-2">
            <a:extLst xmlns:a="http://schemas.openxmlformats.org/drawingml/2006/main">
              <a:ext uri="{FF2B5EF4-FFF2-40B4-BE49-F238E27FC236}">
                <a16:creationId xmlns:a16="http://schemas.microsoft.com/office/drawing/2014/main" id="{4BBA7023-5814-4886-BC2D-AEFD1941A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886200"/>
            <a:ext cx="26860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7684"/>
                </a:solidFill>
              </a:defRPr>
            </a:pPr>
            <a:r>
              <a:rPr sz="150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人工记录</a:t>
            </a:r>
          </a:p>
        </p:txBody>
      </p:sp>
      <p:sp>
        <p:nvSpPr>
          <p:cNvPr id="21" name="p20-row-content-2">
            <a:extLst xmlns:a="http://schemas.openxmlformats.org/drawingml/2006/main">
              <a:ext uri="{FF2B5EF4-FFF2-40B4-BE49-F238E27FC236}">
                <a16:creationId xmlns:a16="http://schemas.microsoft.com/office/drawing/2014/main" id="{3F13F11D-7B1A-400E-984D-E48F24F23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86200"/>
            <a:ext cx="6705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纳入／排除及理由；冲突证据保留</a:t>
            </a:r>
          </a:p>
        </p:txBody>
      </p:sp>
      <p:sp>
        <p:nvSpPr>
          <p:cNvPr id="22" name="p20-boundary">
            <a:extLst xmlns:a="http://schemas.openxmlformats.org/drawingml/2006/main">
              <a:ext uri="{FF2B5EF4-FFF2-40B4-BE49-F238E27FC236}">
                <a16:creationId xmlns:a16="http://schemas.microsoft.com/office/drawing/2014/main" id="{E1DB6FBD-4936-47CC-A081-E426CBD38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91100"/>
            <a:ext cx="97917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AI 可以扩展、检索、整理和提出建议；学生确认问题、主张、角色与纳入决定。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退出卡与第 4 课预告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DF2BE2-2DFA-1C03-677D-BDC2260D6D92}" type="slidenum">
              <a:t>21</a:t>
            </a:fld>
            <a:endParaRPr/>
          </a:p>
        </p:txBody>
      </p:sp>
      <p:sp>
        <p:nvSpPr>
          <p:cNvPr id="6" name="p21-exit-title">
            <a:extLst xmlns:a="http://schemas.openxmlformats.org/drawingml/2006/main">
              <a:ext uri="{FF2B5EF4-FFF2-40B4-BE49-F238E27FC236}">
                <a16:creationId xmlns:a16="http://schemas.microsoft.com/office/drawing/2014/main" id="{3E6F4D12-65F3-407F-BEA8-B4CDA3E5F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退出卡</a:t>
            </a:r>
          </a:p>
        </p:txBody>
      </p:sp>
      <p:sp>
        <p:nvSpPr>
          <p:cNvPr id="7" name="p21-i-0">
            <a:extLst xmlns:a="http://schemas.openxmlformats.org/drawingml/2006/main">
              <a:ext uri="{FF2B5EF4-FFF2-40B4-BE49-F238E27FC236}">
                <a16:creationId xmlns:a16="http://schemas.microsoft.com/office/drawing/2014/main" id="{569A6DB5-E5A2-4F53-BC7F-BF358D65A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76400"/>
            <a:ext cx="4572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01  最清楚的一点</a:t>
            </a:r>
          </a:p>
        </p:txBody>
      </p:sp>
      <p:sp>
        <p:nvSpPr>
          <p:cNvPr id="8" name="p21-i-1">
            <a:extLst xmlns:a="http://schemas.openxmlformats.org/drawingml/2006/main">
              <a:ext uri="{FF2B5EF4-FFF2-40B4-BE49-F238E27FC236}">
                <a16:creationId xmlns:a16="http://schemas.microsoft.com/office/drawing/2014/main" id="{4DEAFBD9-E8B6-44B6-924F-47A9EEA16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43150"/>
            <a:ext cx="4572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02  仍然困惑的一点</a:t>
            </a:r>
          </a:p>
        </p:txBody>
      </p:sp>
      <p:sp>
        <p:nvSpPr>
          <p:cNvPr id="9" name="p21-i-2">
            <a:extLst xmlns:a="http://schemas.openxmlformats.org/drawingml/2006/main">
              <a:ext uri="{FF2B5EF4-FFF2-40B4-BE49-F238E27FC236}">
                <a16:creationId xmlns:a16="http://schemas.microsoft.com/office/drawing/2014/main" id="{74B33F52-BBFE-4074-8799-A413A153B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4572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03  检索是否可复盘</a:t>
            </a:r>
          </a:p>
        </p:txBody>
      </p:sp>
      <p:sp>
        <p:nvSpPr>
          <p:cNvPr id="10" name="p21-i-3">
            <a:extLst xmlns:a="http://schemas.openxmlformats.org/drawingml/2006/main">
              <a:ext uri="{FF2B5EF4-FFF2-40B4-BE49-F238E27FC236}">
                <a16:creationId xmlns:a16="http://schemas.microsoft.com/office/drawing/2014/main" id="{B3901F59-3996-4917-BCAC-34892DC1A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76650"/>
            <a:ext cx="4572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04  当前 verified 条数</a:t>
            </a:r>
          </a:p>
        </p:txBody>
      </p:sp>
      <p:sp>
        <p:nvSpPr>
          <p:cNvPr id="11" name="p21-i-4">
            <a:extLst xmlns:a="http://schemas.openxmlformats.org/drawingml/2006/main">
              <a:ext uri="{FF2B5EF4-FFF2-40B4-BE49-F238E27FC236}">
                <a16:creationId xmlns:a16="http://schemas.microsoft.com/office/drawing/2014/main" id="{3F9B6E8F-207E-472F-ABAD-3D29525C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43400"/>
            <a:ext cx="4572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05  第 4 课需补的案例</a:t>
            </a:r>
          </a:p>
        </p:txBody>
      </p:sp>
      <p:sp>
        <p:nvSpPr>
          <p:cNvPr id="12" name="p21-path-title">
            <a:extLst xmlns:a="http://schemas.openxmlformats.org/drawingml/2006/main">
              <a:ext uri="{FF2B5EF4-FFF2-40B4-BE49-F238E27FC236}">
                <a16:creationId xmlns:a16="http://schemas.microsoft.com/office/drawing/2014/main" id="{B4740EFC-5694-4EE9-BC38-8DEA5FB94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066800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接下来</a:t>
            </a:r>
          </a:p>
        </p:txBody>
      </p:sp>
      <p:sp>
        <p:nvSpPr>
          <p:cNvPr id="13" name="p21-p-0">
            <a:extLst xmlns:a="http://schemas.openxmlformats.org/drawingml/2006/main">
              <a:ext uri="{FF2B5EF4-FFF2-40B4-BE49-F238E27FC236}">
                <a16:creationId xmlns:a16="http://schemas.microsoft.com/office/drawing/2014/main" id="{4D7D6240-3422-4351-8C9F-3EE3981EA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809750"/>
            <a:ext cx="3810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候选文献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今天</a:t>
            </a:r>
          </a:p>
        </p:txBody>
      </p:sp>
      <p:sp>
        <p:nvSpPr>
          <p:cNvPr id="14" name="p21-down-0">
            <a:extLst xmlns:a="http://schemas.openxmlformats.org/drawingml/2006/main">
              <a:ext uri="{FF2B5EF4-FFF2-40B4-BE49-F238E27FC236}">
                <a16:creationId xmlns:a16="http://schemas.microsoft.com/office/drawing/2014/main" id="{ABAB0C36-4DB7-434F-98B7-CCC630D32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57175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15" name="p21-p-1">
            <a:extLst xmlns:a="http://schemas.openxmlformats.org/drawingml/2006/main">
              <a:ext uri="{FF2B5EF4-FFF2-40B4-BE49-F238E27FC236}">
                <a16:creationId xmlns:a16="http://schemas.microsoft.com/office/drawing/2014/main" id="{2CF028EB-BC0A-4D35-9E03-3391BAF19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876550"/>
            <a:ext cx="3810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第 4 课精读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下一步</a:t>
            </a:r>
          </a:p>
        </p:txBody>
      </p:sp>
      <p:sp>
        <p:nvSpPr>
          <p:cNvPr id="16" name="p21-down-1">
            <a:extLst xmlns:a="http://schemas.openxmlformats.org/drawingml/2006/main">
              <a:ext uri="{FF2B5EF4-FFF2-40B4-BE49-F238E27FC236}">
                <a16:creationId xmlns:a16="http://schemas.microsoft.com/office/drawing/2014/main" id="{23C43463-D164-4DE3-A082-F9E36B6CE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63855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17" name="p21-p-2">
            <a:extLst xmlns:a="http://schemas.openxmlformats.org/drawingml/2006/main">
              <a:ext uri="{FF2B5EF4-FFF2-40B4-BE49-F238E27FC236}">
                <a16:creationId xmlns:a16="http://schemas.microsoft.com/office/drawing/2014/main" id="{474EBFFC-3908-4792-9A15-A9C57FF54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943350"/>
            <a:ext cx="3810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第 6 课问题门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统一检查</a:t>
            </a:r>
          </a:p>
        </p:txBody>
      </p:sp>
      <p:sp>
        <p:nvSpPr>
          <p:cNvPr id="18" name="p21-reading">
            <a:extLst xmlns:a="http://schemas.openxmlformats.org/drawingml/2006/main">
              <a:ext uri="{FF2B5EF4-FFF2-40B4-BE49-F238E27FC236}">
                <a16:creationId xmlns:a16="http://schemas.microsoft.com/office/drawing/2014/main" id="{8365E35F-EDB3-4E3C-8668-E90147D71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53000"/>
            <a:ext cx="5429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核心阅读：Booth et al., Chapter 3（约 30 分钟）</a:t>
            </a:r>
          </a:p>
        </p:txBody>
      </p:sp>
      <p:sp>
        <p:nvSpPr>
          <p:cNvPr id="19" name="p21-bottom">
            <a:extLst xmlns:a="http://schemas.openxmlformats.org/drawingml/2006/main">
              <a:ext uri="{FF2B5EF4-FFF2-40B4-BE49-F238E27FC236}">
                <a16:creationId xmlns:a16="http://schemas.microsoft.com/office/drawing/2014/main" id="{FEA4B2AD-F092-4A51-B254-7514E55EA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864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持续回写个人项目，不新增课后正式作业。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2026-08-20T11:28:27.6330000Z</dcterms:created>
  <dcterms:modified xsi:type="dcterms:W3CDTF">2026-08-20T11:28:27.6330000Z</dcterms:modified>
</coreProperties>
</file>