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ca9f0afa12846e7" /><Relationship Type="http://schemas.openxmlformats.org/officeDocument/2006/relationships/extended-properties" Target="/docProps/app.xml" Id="R59a969756f70433c" /><Relationship Type="http://schemas.openxmlformats.org/officeDocument/2006/relationships/officeDocument" Target="/ppt/presentation.xml" Id="Rdeef5c21cc58446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996d5e4b60845dd"/>
  </p:sldMasterIdLst>
  <p:notesMasterIdLst>
    <p:notesMasterId xmlns:r="http://schemas.openxmlformats.org/officeDocument/2006/relationships" r:id="Re1da9e76cb654fd2"/>
  </p:notesMasterIdLst>
  <p:sldIdLst>
    <p:sldId xmlns:r="http://schemas.openxmlformats.org/officeDocument/2006/relationships" id="256" r:id="Rffcb86cc1d484d31"/>
    <p:sldId xmlns:r="http://schemas.openxmlformats.org/officeDocument/2006/relationships" id="257" r:id="R8edbcf1e1af94b39"/>
    <p:sldId xmlns:r="http://schemas.openxmlformats.org/officeDocument/2006/relationships" id="258" r:id="R47ac3c346ee84bb9"/>
    <p:sldId xmlns:r="http://schemas.openxmlformats.org/officeDocument/2006/relationships" id="259" r:id="R598a800a7075452c"/>
    <p:sldId xmlns:r="http://schemas.openxmlformats.org/officeDocument/2006/relationships" id="260" r:id="Rdb3cb112b75f4bcc"/>
    <p:sldId xmlns:r="http://schemas.openxmlformats.org/officeDocument/2006/relationships" id="261" r:id="R538ce59a13654321"/>
    <p:sldId xmlns:r="http://schemas.openxmlformats.org/officeDocument/2006/relationships" id="262" r:id="R3aad7d8841fa4506"/>
    <p:sldId xmlns:r="http://schemas.openxmlformats.org/officeDocument/2006/relationships" id="263" r:id="R1b5c38cca02c4984"/>
    <p:sldId xmlns:r="http://schemas.openxmlformats.org/officeDocument/2006/relationships" id="264" r:id="Rfa798eef3b6e4f98"/>
    <p:sldId xmlns:r="http://schemas.openxmlformats.org/officeDocument/2006/relationships" id="265" r:id="R1cb3723cd982459e"/>
    <p:sldId xmlns:r="http://schemas.openxmlformats.org/officeDocument/2006/relationships" id="266" r:id="Reafdd44243d047ca"/>
    <p:sldId xmlns:r="http://schemas.openxmlformats.org/officeDocument/2006/relationships" id="267" r:id="R6089dca0dcb648fa"/>
    <p:sldId xmlns:r="http://schemas.openxmlformats.org/officeDocument/2006/relationships" id="268" r:id="R3e94917428854622"/>
    <p:sldId xmlns:r="http://schemas.openxmlformats.org/officeDocument/2006/relationships" id="269" r:id="R6236e1cdb3b64c64"/>
    <p:sldId xmlns:r="http://schemas.openxmlformats.org/officeDocument/2006/relationships" id="270" r:id="Raa6643bc2fea4139"/>
    <p:sldId xmlns:r="http://schemas.openxmlformats.org/officeDocument/2006/relationships" id="271" r:id="R64a3a7e7265644ee"/>
    <p:sldId xmlns:r="http://schemas.openxmlformats.org/officeDocument/2006/relationships" id="272" r:id="Rd390abbf45164213"/>
    <p:sldId xmlns:r="http://schemas.openxmlformats.org/officeDocument/2006/relationships" id="273" r:id="R86b5b83877d941f2"/>
    <p:sldId xmlns:r="http://schemas.openxmlformats.org/officeDocument/2006/relationships" id="274" r:id="R0df8a5918eea4449"/>
    <p:sldId xmlns:r="http://schemas.openxmlformats.org/officeDocument/2006/relationships" id="275" r:id="R918fd2fef8ee406a"/>
    <p:sldId xmlns:r="http://schemas.openxmlformats.org/officeDocument/2006/relationships" id="276" r:id="Rd064d11e84fe477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9012ECD-51FC-41F1-AA8D-1B2483CD663E}" styleName="浅色样式 2 - 强调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6E25E649-3F16-4E02-A733-19D2CDBF48F0}" styleName="中度样式 3 - 强调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浅色样式 3 - 强调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中度样式 2 - 强调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p="http://schemas.openxmlformats.org/presentationml/2006/main">
  <p:slideViewPr>
    <p:cSldViewPr snapToGrid="0" showGuides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c351678fea34120" /><Relationship Type="http://schemas.openxmlformats.org/officeDocument/2006/relationships/slideMaster" Target="/ppt/slideMasters/slideMaster1.xml" Id="Rf996d5e4b60845dd" /><Relationship Type="http://schemas.openxmlformats.org/officeDocument/2006/relationships/notesMaster" Target="/ppt/notesMasters/notesMaster1.xml" Id="Re1da9e76cb654fd2" /><Relationship Type="http://schemas.openxmlformats.org/officeDocument/2006/relationships/presProps" Target="/ppt/presProps.xml" Id="R6ecbc3e597154965" /><Relationship Type="http://schemas.openxmlformats.org/officeDocument/2006/relationships/viewProps" Target="/ppt/viewProps.xml" Id="R5f210a71771647b7" /><Relationship Type="http://schemas.openxmlformats.org/officeDocument/2006/relationships/tableStyles" Target="/ppt/tableStyles.xml" Id="R75e7594dc43949ee" /><Relationship Type="http://schemas.openxmlformats.org/officeDocument/2006/relationships/slide" Target="/ppt/slides/slide1.xml" Id="Rffcb86cc1d484d31" /><Relationship Type="http://schemas.openxmlformats.org/officeDocument/2006/relationships/slide" Target="/ppt/slides/slide2.xml" Id="R8edbcf1e1af94b39" /><Relationship Type="http://schemas.openxmlformats.org/officeDocument/2006/relationships/slide" Target="/ppt/slides/slide3.xml" Id="R47ac3c346ee84bb9" /><Relationship Type="http://schemas.openxmlformats.org/officeDocument/2006/relationships/slide" Target="/ppt/slides/slide4.xml" Id="R598a800a7075452c" /><Relationship Type="http://schemas.openxmlformats.org/officeDocument/2006/relationships/slide" Target="/ppt/slides/slide5.xml" Id="Rdb3cb112b75f4bcc" /><Relationship Type="http://schemas.openxmlformats.org/officeDocument/2006/relationships/slide" Target="/ppt/slides/slide6.xml" Id="R538ce59a13654321" /><Relationship Type="http://schemas.openxmlformats.org/officeDocument/2006/relationships/slide" Target="/ppt/slides/slide7.xml" Id="R3aad7d8841fa4506" /><Relationship Type="http://schemas.openxmlformats.org/officeDocument/2006/relationships/slide" Target="/ppt/slides/slide8.xml" Id="R1b5c38cca02c4984" /><Relationship Type="http://schemas.openxmlformats.org/officeDocument/2006/relationships/slide" Target="/ppt/slides/slide9.xml" Id="Rfa798eef3b6e4f98" /><Relationship Type="http://schemas.openxmlformats.org/officeDocument/2006/relationships/slide" Target="/ppt/slides/slide10.xml" Id="R1cb3723cd982459e" /><Relationship Type="http://schemas.openxmlformats.org/officeDocument/2006/relationships/slide" Target="/ppt/slides/slide11.xml" Id="Reafdd44243d047ca" /><Relationship Type="http://schemas.openxmlformats.org/officeDocument/2006/relationships/slide" Target="/ppt/slides/slide12.xml" Id="R6089dca0dcb648fa" /><Relationship Type="http://schemas.openxmlformats.org/officeDocument/2006/relationships/slide" Target="/ppt/slides/slide13.xml" Id="R3e94917428854622" /><Relationship Type="http://schemas.openxmlformats.org/officeDocument/2006/relationships/slide" Target="/ppt/slides/slide14.xml" Id="R6236e1cdb3b64c64" /><Relationship Type="http://schemas.openxmlformats.org/officeDocument/2006/relationships/slide" Target="/ppt/slides/slide15.xml" Id="Raa6643bc2fea4139" /><Relationship Type="http://schemas.openxmlformats.org/officeDocument/2006/relationships/slide" Target="/ppt/slides/slide16.xml" Id="R64a3a7e7265644ee" /><Relationship Type="http://schemas.openxmlformats.org/officeDocument/2006/relationships/slide" Target="/ppt/slides/slide17.xml" Id="Rd390abbf45164213" /><Relationship Type="http://schemas.openxmlformats.org/officeDocument/2006/relationships/slide" Target="/ppt/slides/slide18.xml" Id="R86b5b83877d941f2" /><Relationship Type="http://schemas.openxmlformats.org/officeDocument/2006/relationships/slide" Target="/ppt/slides/slide19.xml" Id="R0df8a5918eea4449" /><Relationship Type="http://schemas.openxmlformats.org/officeDocument/2006/relationships/slide" Target="/ppt/slides/slide20.xml" Id="R918fd2fef8ee406a" /><Relationship Type="http://schemas.openxmlformats.org/officeDocument/2006/relationships/slide" Target="/ppt/slides/slide21.xml" Id="Rd064d11e84fe477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83cd6d45dfc485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95f435979204289" /><Relationship Type="http://schemas.openxmlformats.org/officeDocument/2006/relationships/notesMaster" Target="/ppt/notesMasters/notesMaster1.xml" Id="R7c343696eee142b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fc9dc6c755f42b8" /><Relationship Type="http://schemas.openxmlformats.org/officeDocument/2006/relationships/notesMaster" Target="/ppt/notesMasters/notesMaster1.xml" Id="Re60f663e9e2d4d9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6065b74f8a74475" /><Relationship Type="http://schemas.openxmlformats.org/officeDocument/2006/relationships/notesMaster" Target="/ppt/notesMasters/notesMaster1.xml" Id="Rce02bf7881584be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a3675c754a24043" /><Relationship Type="http://schemas.openxmlformats.org/officeDocument/2006/relationships/notesMaster" Target="/ppt/notesMasters/notesMaster1.xml" Id="R1dea37a6f4ae462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e332d3942f848ac" /><Relationship Type="http://schemas.openxmlformats.org/officeDocument/2006/relationships/notesMaster" Target="/ppt/notesMasters/notesMaster1.xml" Id="R438afdb652ef42a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41e1ccb87ee470b" /><Relationship Type="http://schemas.openxmlformats.org/officeDocument/2006/relationships/notesMaster" Target="/ppt/notesMasters/notesMaster1.xml" Id="R6364f3c5171b408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c78d012bbf54e0d" /><Relationship Type="http://schemas.openxmlformats.org/officeDocument/2006/relationships/notesMaster" Target="/ppt/notesMasters/notesMaster1.xml" Id="R2bf0d07c4189487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8ca7a0144764b56" /><Relationship Type="http://schemas.openxmlformats.org/officeDocument/2006/relationships/notesMaster" Target="/ppt/notesMasters/notesMaster1.xml" Id="R93f82ae566c044d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88ad530b3844652" /><Relationship Type="http://schemas.openxmlformats.org/officeDocument/2006/relationships/notesMaster" Target="/ppt/notesMasters/notesMaster1.xml" Id="R32dbbf423fa7432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df44606602042fe" /><Relationship Type="http://schemas.openxmlformats.org/officeDocument/2006/relationships/notesMaster" Target="/ppt/notesMasters/notesMaster1.xml" Id="Rd94c5a116fc942b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e9532a0607b4f62" /><Relationship Type="http://schemas.openxmlformats.org/officeDocument/2006/relationships/notesMaster" Target="/ppt/notesMasters/notesMaster1.xml" Id="Rc21e190cf49243c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4d513f561164fb2" /><Relationship Type="http://schemas.openxmlformats.org/officeDocument/2006/relationships/notesMaster" Target="/ppt/notesMasters/notesMaster1.xml" Id="R35db410f838a4225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8bb4932c78743e1" /><Relationship Type="http://schemas.openxmlformats.org/officeDocument/2006/relationships/notesMaster" Target="/ppt/notesMasters/notesMaster1.xml" Id="R8fea14b5e64347dd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f835e963fa1347a2" /><Relationship Type="http://schemas.openxmlformats.org/officeDocument/2006/relationships/notesMaster" Target="/ppt/notesMasters/notesMaster1.xml" Id="R772946f87f3b4da7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e53ae7eb35d943e2" /><Relationship Type="http://schemas.openxmlformats.org/officeDocument/2006/relationships/notesMaster" Target="/ppt/notesMasters/notesMaster1.xml" Id="R2d212f4737184bab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16bcd0ab7db54b7c" /><Relationship Type="http://schemas.openxmlformats.org/officeDocument/2006/relationships/notesMaster" Target="/ppt/notesMasters/notesMaster1.xml" Id="R96614a7071eb4bae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56a3f77c56304cec" /><Relationship Type="http://schemas.openxmlformats.org/officeDocument/2006/relationships/notesMaster" Target="/ppt/notesMasters/notesMaster1.xml" Id="Rac094f00054a435e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77a3cf9b396445a6" /><Relationship Type="http://schemas.openxmlformats.org/officeDocument/2006/relationships/notesMaster" Target="/ppt/notesMasters/notesMaster1.xml" Id="R91486e37116941ad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3a76a585c10b4417" /><Relationship Type="http://schemas.openxmlformats.org/officeDocument/2006/relationships/notesMaster" Target="/ppt/notesMasters/notesMaster1.xml" Id="R33ae4dd9600f4ae0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7f2ad10febe14da6" /><Relationship Type="http://schemas.openxmlformats.org/officeDocument/2006/relationships/notesMaster" Target="/ppt/notesMasters/notesMaster1.xml" Id="Rc54b7457a0354fdd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e2d51693040c4e7f" /><Relationship Type="http://schemas.openxmlformats.org/officeDocument/2006/relationships/notesMaster" Target="/ppt/notesMasters/notesMaster1.xml" Id="Rc06418cc91a14f7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页面：P01 第3讲 文献检索与证据角色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第3讲 文献检索与证据角色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封面只完成课次与主题识别。进入 P02 后再提出方法问题：当 AI 已经能生成带引用的报告时，研究者怎样把检索过程变成可复盘的方法，并判断每条材料的证据角色。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不展开课程行政信息，直接进入下一页回扣。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课程定位以 [syllabus.md](../../course/syllabus.md) 与 [备课规划.md](../备课规划.md) 第 3 课段为准。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页面：P02 第 2 课之后，研究材料为何仍不可信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第 2 课建立了：</a:t>
            </a:r>
          </a:p>
          <a:p xmlns:a="http://schemas.openxmlformats.org/drawingml/2006/main">
            <a:r>
              <a:t>- 权限矩阵</a:t>
            </a:r>
          </a:p>
          <a:p xmlns:a="http://schemas.openxmlformats.org/drawingml/2006/main">
            <a:r>
              <a:t>- AI 使用记录</a:t>
            </a:r>
          </a:p>
          <a:p xmlns:a="http://schemas.openxmlformats.org/drawingml/2006/main">
            <a:r>
              <a:t>- 伦理清单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仍未解决：</a:t>
            </a:r>
          </a:p>
          <a:p xmlns:a="http://schemas.openxmlformats.org/drawingml/2006/main">
            <a:r>
              <a:t>- 论文是否真实存在？</a:t>
            </a:r>
          </a:p>
          <a:p xmlns:a="http://schemas.openxmlformats.org/drawingml/2006/main">
            <a:r>
              <a:t>- AI 给出的题名、作者、DOI 是否一致？</a:t>
            </a:r>
          </a:p>
          <a:p xmlns:a="http://schemas.openxmlformats.org/drawingml/2006/main">
            <a:r>
              <a:t>- 原文研究的任务和限定条件是什么？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权限和披露回答"AI 做过什么"，不回答"材料能不能信"。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回扣第 2 课：受限交互让 AI 的动作可审计，但没有解决材料本身是否可信的问题。本课用可修改的问题初稿进入阶段四，处理“材料从哪来、可能支持什么”；八阶段是方法链，不是授课顺序。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快问：你最近一次把 AI 给出的引文直接搬进参考文献，是什么时候？只听回答，不评价。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本课板书、诊断与串词：</a:t>
            </a:r>
          </a:p>
          <a:p xmlns:a="http://schemas.openxmlformats.org/drawingml/2006/main">
            <a:r>
              <a:t>本节替换同类口头提示，不增加既有时段。开场诊断嵌入现有开场/回顾，后续再沿原实践时段操作。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**板书主线**：问题 → 检索式 → 命中 → 核验 → 纳入理由。</a:t>
            </a:r>
          </a:p>
          <a:p xmlns:a="http://schemas.openxmlformats.org/drawingml/2006/main">
            <a:r>
              <a:t>- **诊断问题**：搜到记录，是否已经读到支持主张的原文？</a:t>
            </a:r>
          </a:p>
          <a:p xmlns:a="http://schemas.openxmlformats.org/drawingml/2006/main">
            <a:r>
              <a:t>- **预期回答**：没有；先核验来源，再查与问题相关的原文。</a:t>
            </a:r>
          </a:p>
          <a:p xmlns:a="http://schemas.openxmlformats.org/drawingml/2006/main">
            <a:r>
              <a:t>- **常见误答后的追问**：不强迫每人产生pending或rejected；按实际核验结果记录。</a:t>
            </a:r>
          </a:p>
          <a:p xmlns:a="http://schemas.openxmlformats.org/drawingml/2006/main">
            <a:r>
              <a:t>- **过渡串词**：“记录真实筛选决定后，下一课才有值得精读的对象。”</a:t>
            </a:r>
          </a:p>
          <a:p xmlns:a="http://schemas.openxmlformats.org/drawingml/2006/main">
            <a:r>
              <a:t>- **当堂最小产出**：一条可复盘检索和一个候选的实际核验状态。</a:t>
            </a:r>
          </a:p>
          <a:p xmlns:a="http://schemas.openxmlformats.org/drawingml/2006/main">
            <a:r>
              <a:t>- **退出记录**：写“已完成的动作、本人项目仍缺的证据/工件、下次补齐位置”。使用教师包时标明课堂方法练习，不能据此宣称本人研究门通过；正式提交课次仍为第 6、9、13、16 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回扣第 1-2 课讲义与 [AGENTS.md](../../AGENTS.md) 证据标准。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页面：P03 本课目标与课堂产出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完成本课后，你能：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从问题生成可复盘的关键词、检索式和纳入/排除条件；</a:t>
            </a:r>
          </a:p>
          <a:p xmlns:a="http://schemas.openxmlformats.org/drawingml/2006/main">
            <a:r>
              <a:t>2. 区分主证据、补充证据、对比证据与探索线索；</a:t>
            </a:r>
          </a:p>
          <a:p xmlns:a="http://schemas.openxmlformats.org/drawingml/2006/main">
            <a:r>
              <a:t>3. 对 AI 检索结果执行回原文核验；</a:t>
            </a:r>
          </a:p>
          <a:p xmlns:a="http://schemas.openxmlformats.org/drawingml/2006/main">
            <a:r>
              <a:t>4. 建立候选文献表第一版。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课堂产出：1 条检索记录 + 2 条审计 + 1 条已核验候选记录 + 证据角色初标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本课不正式提交，第 6 课问题门统一检查。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明确边界：本课目标是建立可复盘的检索过程，不是完成文献综述。27 分钟内只要求 1 条完整检索记录、2 条审计、1 条已核验候选记录和 1 条 AI 记录。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无。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[备课规划.md](../备课规划.md) 第 3 课目标段；[assignments.md](../../course/assignments.md) 研究门条件。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页面：P04 搜得多不等于证据充分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常见失败：</a:t>
            </a:r>
          </a:p>
          <a:p xmlns:a="http://schemas.openxmlformats.org/drawingml/2006/main">
            <a:r>
              <a:t>- 50 篇论文都标"主证据"</a:t>
            </a:r>
          </a:p>
          <a:p xmlns:a="http://schemas.openxmlformats.org/drawingml/2006/main">
            <a:r>
              <a:t>- AI 报告引文直接进参考文献</a:t>
            </a:r>
          </a:p>
          <a:p xmlns:a="http://schemas.openxmlformats.org/drawingml/2006/main">
            <a:r>
              <a:t>- 反例被悄悄排除</a:t>
            </a:r>
          </a:p>
          <a:p xmlns:a="http://schemas.openxmlformats.org/drawingml/2006/main">
            <a:r>
              <a:t>- 检索式不记录，无法复盘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数量不产生充分性；角色清晰和独立性才产生。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来看几个常见错误。证据充分性来自角色清晰和独立性，不是数量。下面几页来看怎样从问题出发构造可复盘的检索过程。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请学生举手：你是否曾经把 AI 综述的引文直接复制进参考文献？只统计，不点名。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[AGENTS.md](../../AGENTS.md) 证据标准；[syllabus.md](../../course/syllabus.md) 教学原则。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页面：P05 外部输入不止论文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| 类型 | 例子 | 用途／核验重点 |</a:t>
            </a:r>
          </a:p>
          <a:p xmlns:a="http://schemas.openxmlformats.org/drawingml/2006/main">
            <a:r>
              <a:t>| --- | --- | --- |</a:t>
            </a:r>
          </a:p>
          <a:p xmlns:a="http://schemas.openxmlformats.org/drawingml/2006/main">
            <a:r>
              <a:t>| 同行评议论文 | 期刊、会议 | 任务、设置、主张、限定 |</a:t>
            </a:r>
          </a:p>
          <a:p xmlns:a="http://schemas.openxmlformats.org/drawingml/2006/main">
            <a:r>
              <a:t>| 经典书籍选章 | 方法论、统计 | 版本、章节、适用范围 |</a:t>
            </a:r>
          </a:p>
          <a:p xmlns:a="http://schemas.openxmlformats.org/drawingml/2006/main">
            <a:r>
              <a:t>| 正式规范 | PRISMA、ACM Badging | 发布机构、版本、对象 |</a:t>
            </a:r>
          </a:p>
          <a:p xmlns:a="http://schemas.openxmlformats.org/drawingml/2006/main">
            <a:r>
              <a:t>| 代码与数据集 | GitHub、数据卡片 | 身份、commit、许可、版本 |</a:t>
            </a:r>
          </a:p>
          <a:p xmlns:a="http://schemas.openxmlformats.org/drawingml/2006/main">
            <a:r>
              <a:t>| 官方文档 | 协议、API | 官方身份、版本、时效 |</a:t>
            </a:r>
          </a:p>
          <a:p xmlns:a="http://schemas.openxmlformats.org/drawingml/2006/main">
            <a:r>
              <a:t>| 工程文章、issue | 厂商文、失败记录 | 主体、上下文、可追溯性 |</a:t>
            </a:r>
          </a:p>
          <a:p xmlns:a="http://schemas.openxmlformats.org/drawingml/2006/main">
            <a:r>
              <a:t>| AI 搜索结果 | 模型候选列表 | 仅作发现线索，回正式来源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来源类型不自动决定可信度或证据角色；角色要相对于当前问题或拟用主张判断。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不要把所有材料混同。来源类型本身不决定可信度，但正式来源优先于转载和二手材料。AI 给出的题名、作者、DOI 必须回到正式来源核验，未核验前只能算探索线索。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让学生指出：你项目里目前哪类材料最多？哪类最缺？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讲义 §一 外部输入类型表；[reading-list.md](../../course/reading-list.md) 书目层级。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页面：P06 先写问题，再搜材料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宽泛主题：AI 辅助论文阅读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可检索的问题初稿：</a:t>
            </a:r>
          </a:p>
          <a:p xmlns:a="http://schemas.openxmlformats.org/drawingml/2006/main">
            <a:r>
              <a:t>&gt; 在需要逐条核验引用的计算机论文阅读任务中，结构化阅读卡是否降低 AI 摘要的限定条件遗漏率？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抽词：结构化阅读卡｜AI 摘要｜限定条件｜遗漏率｜引用核验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每个词扩展同义、上位、下位 → 检索词网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最常见的错误是带着主题词直接搜。这里的问题只是驱动第一轮检索的初稿，第 6 课再系统定稿；检索结果可以回写问题和关键词。问题给出对象、干预、比较和指标，每个部分对应可检索词。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请学生用自己的问题抽 3 个关键词，并说出一个同义词。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贯穿案例来自第 1 课 handout；不预设结论。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页面：P07 检索式可被他人复盘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```text</a:t>
            </a:r>
          </a:p>
          <a:p xmlns:a="http://schemas.openxmlformats.org/drawingml/2006/main">
            <a:r>
              <a:t>("reading card" OR "reading template" OR "structured reading")</a:t>
            </a:r>
          </a:p>
          <a:p xmlns:a="http://schemas.openxmlformats.org/drawingml/2006/main">
            <a:r>
              <a:t>AND ("AI summary" OR "LLM summary" OR "AI-generated abstract")</a:t>
            </a:r>
          </a:p>
          <a:p xmlns:a="http://schemas.openxmlformats.org/drawingml/2006/main">
            <a:r>
              <a:t>AND ("limitation" OR "scope" OR "boundary")</a:t>
            </a:r>
          </a:p>
          <a:p xmlns:a="http://schemas.openxmlformats.org/drawingml/2006/main">
            <a:r>
              <a:t>```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元素：布尔算子｜字段限定｜截断通配｜短语｜时间类型限定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检索记录至少：库｜式｜日期｜命中数｜纳入排除｜筛选数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检索式不是"搜索框里打几个词"，而是可被他人复盘的查询串。检索记录是后续同伴互查和第 6 课问题门检查的依据。检索式应记录下来，使他人可以重现你怎样得到当前结果。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让学生用自己的关键词草拟一条检索式，并标记用到的布尔算子。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检索式为课程自编示例；可参照 Kitchenham &amp; Charters SLR guidelines 的 search strategy 部分（[reading-list.md](../../course/reading-list.md) 第 3 课）。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页面：P08 纳入与排除条件检索前先写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纳入/排除维度：</a:t>
            </a:r>
          </a:p>
          <a:p xmlns:a="http://schemas.openxmlformats.org/drawingml/2006/main">
            <a:r>
              <a:t>- 时间范围</a:t>
            </a:r>
          </a:p>
          <a:p xmlns:a="http://schemas.openxmlformats.org/drawingml/2006/main">
            <a:r>
              <a:t>- 文献类型（同行评议/预印本/综述）</a:t>
            </a:r>
          </a:p>
          <a:p xmlns:a="http://schemas.openxmlformats.org/drawingml/2006/main">
            <a:r>
              <a:t>- 语言（应说明理由，避免偏倚）</a:t>
            </a:r>
          </a:p>
          <a:p xmlns:a="http://schemas.openxmlformats.org/drawingml/2006/main">
            <a:r>
              <a:t>- 研究类型（实证/方法/案例/综述）</a:t>
            </a:r>
          </a:p>
          <a:p xmlns:a="http://schemas.openxmlformats.org/drawingml/2006/main">
            <a:r>
              <a:t>- 相关性（与当前问题或拟用主张的对应程度）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排除一项论文 → 记录理由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纳入排除不是事后补写。检索前先写第一版，检索中根据结果调整。排除一项论文时记录理由，使后续复盘和同伴互查可以判断筛选是否公平。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请学生说出一条自己可能用到的排除条件，并说明理由。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Kitchenham &amp; Charters SLR guidelines 的 study selection 部分；PRISMA 2020 flow diagram 逻辑。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页面：P09 证据角色：主证据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主证据</a:t>
            </a:r>
          </a:p>
          <a:p xmlns:a="http://schemas.openxmlformats.org/drawingml/2006/main">
            <a:r>
              <a:t>- 在可比条件下直接支持或反驳当前问题或拟用主张</a:t>
            </a:r>
          </a:p>
          <a:p xmlns:a="http://schemas.openxmlformats.org/drawingml/2006/main">
            <a:r>
              <a:t>- 角色先作预期标注，精读后可修正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能做：支撑核心主张</a:t>
            </a:r>
          </a:p>
          <a:p xmlns:a="http://schemas.openxmlformats.org/drawingml/2006/main">
            <a:r>
              <a:t>不能做：不能单独支撑外推到其他场景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一条材料至少标一个角色。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主证据直接对应当前问题或拟用主张。学生此时不必已有正式机制假设；先标预期角色，第 4-5 课精读和整理后可修正。一条材料可以同时承担多角色，但每个角色都要写明参照的主张。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无。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讲义 §三 证据角色；[AGENTS.md](../../AGENTS.md) 证据标准。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页面：P10 证据角色：补充证据与对比证据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补充证据</a:t>
            </a:r>
          </a:p>
          <a:p xmlns:a="http://schemas.openxmlformats.org/drawingml/2006/main">
            <a:r>
              <a:t>- 从不同来源、测量或路径补充支持同一主张</a:t>
            </a:r>
          </a:p>
          <a:p xmlns:a="http://schemas.openxmlformats.org/drawingml/2006/main">
            <a:r>
              <a:t>- 提供独立性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对比证据</a:t>
            </a:r>
          </a:p>
          <a:p xmlns:a="http://schemas.openxmlformats.org/drawingml/2006/main">
            <a:r>
              <a:t>- 提供替代解释、竞争假设或反例</a:t>
            </a:r>
          </a:p>
          <a:p xmlns:a="http://schemas.openxmlformats.org/drawingml/2006/main">
            <a:r>
              <a:t>- 暴露当前解释的边界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独立 ≠ 两个不同网页；冲突证据必须呈现。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"独立"不简单等于两个不同网页。两篇互相转载的文章不是两项独立证据；同一代码路径运行两次也未必构成独立验证。独立性来自来源、测量、重复实验、对照、消融或分析路径的实质差异。冲突证据必须呈现，不能只保留支持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请学生举一个"看似独立其实不独立"的例子。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讲义 §三；[AGENTS.md](../../AGENTS.md) "稳定结论原则上需要两项相互独立的证据"。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页面：P11 证据角色：探索线索（AI 输出归位）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探索线索</a:t>
            </a:r>
          </a:p>
          <a:p xmlns:a="http://schemas.openxmlformats.org/drawingml/2006/main">
            <a:r>
              <a:t>- 帮助发现关键词、问题或失败模式</a:t>
            </a:r>
          </a:p>
          <a:p xmlns:a="http://schemas.openxmlformats.org/drawingml/2006/main">
            <a:r>
              <a:t>- 即使已核验，也可能不能直接回答当前问题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AI 检索结果默认归此类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角色 ≠ 核验状态 ≠ 筛选决定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一篇真实且已核验的论文，对当前问题仍可能只是探索线索。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回扣第 1 课：AI 输出成为证据或结论前必须回到原文。本课再拆开三个字段：预期角色回答“可能做什么”，核验状态回答“核到哪里”，筛选决定回答“是否保留”。下一页讲入口核验。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让学生指出：你之前把 AI 给出的哪条引文当成了主证据？现在应该归到哪类？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第 1 课 handout §2.4 外部输入摄取；[reading-list.md](../../course/reading-list.md) AI 辅助阅读协议。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页面：P12 入口核验：身份 + 一条拟用主张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身份层：题名｜作者｜年份｜刊会｜DOI/稳定标识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拟用主张层：</a:t>
            </a:r>
          </a:p>
          <a:p xmlns:a="http://schemas.openxmlformats.org/drawingml/2006/main">
            <a:r>
              <a:t>1. 先写准备用它支持什么；</a:t>
            </a:r>
          </a:p>
          <a:p xmlns:a="http://schemas.openxmlformats.org/drawingml/2006/main">
            <a:r>
              <a:t>2. 回到至少一个原文位置；</a:t>
            </a:r>
          </a:p>
          <a:p xmlns:a="http://schemas.openxmlformats.org/drawingml/2006/main">
            <a:r>
              <a:t>3. 核对任务、设置、措辞强度与必要限定。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只完成身份层 → `pending`｜默认探索线索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第 4 课移交：多条主张、位置、指标、对照、样本、贡献与局限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本课不是只查 DOI，也不是把完整精读塞进一页。入口核验必须包含身份和一条拟用主张；多主张结构、指标和局限由第 4 课深化。DOI 缺失、网络超时或限流只产生失败记录和 `pending`，不能自动写成 `rejected`。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无。直接进入演示。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讲义 §四·2 入口核验与精读移交；AI 输出不构成证据（[AGENTS.md](../../AGENTS.md)）。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页面：P13 演示：检索记录定位真实论文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Crossref 请求参数：`query.title=How to Read a Paper&amp;query.author=Keshav&amp;rows=5`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Crossref 核对：</a:t>
            </a:r>
          </a:p>
          <a:p xmlns:a="http://schemas.openxmlformats.org/drawingml/2006/main">
            <a:r>
              <a:t>- 题名：*How to Read a Paper*</a:t>
            </a:r>
          </a:p>
          <a:p xmlns:a="http://schemas.openxmlformats.org/drawingml/2006/main">
            <a:r>
              <a:t>- 作者：S. Keshav</a:t>
            </a:r>
          </a:p>
          <a:p xmlns:a="http://schemas.openxmlformats.org/drawingml/2006/main">
            <a:r>
              <a:t>- 刊名：*ACM SIGCOMM Computer Communication Review*</a:t>
            </a:r>
          </a:p>
          <a:p xmlns:a="http://schemas.openxmlformats.org/drawingml/2006/main">
            <a:r>
              <a:t>- 页码：83–84</a:t>
            </a:r>
          </a:p>
          <a:p xmlns:a="http://schemas.openxmlformats.org/drawingml/2006/main">
            <a:r>
              <a:t>- DOI：`10.1145/1273445.1273458`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保留：实际请求｜来源｜日期｜原始返回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先核对身份，不急着摘要结论。Crossref 记录证明这个 DOI 对应哪篇文章，但还不证明它支持我们需要的主张。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让学生指出：当前已核验的是文献身份，还未核验的是什么？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- Crossref 元数据：https://api.crossref.org/works/10.1145/1273445.1273458</a:t>
            </a:r>
          </a:p>
          <a:p xmlns:a="http://schemas.openxmlformats.org/drawingml/2006/main">
            <a:r>
              <a:t>- DOI：https://doi.org/10.1145/1273445.1273458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页面：P14 演示：DOI → 原文第 1 页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真实原文对象：Keshav 2007 公开 PDF，第 1 页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核验三件事：</a:t>
            </a:r>
          </a:p>
          <a:p xmlns:a="http://schemas.openxmlformats.org/drawingml/2006/main">
            <a:r>
              <a:t>1. 题名、作者与 DOI 记录一致；</a:t>
            </a:r>
          </a:p>
          <a:p xmlns:a="http://schemas.openxmlformats.org/drawingml/2006/main">
            <a:r>
              <a:t>2. 文章提出三遍阅读法；</a:t>
            </a:r>
          </a:p>
          <a:p xmlns:a="http://schemas.openxmlformats.org/drawingml/2006/main">
            <a:r>
              <a:t>3. 原文未在本页报告“提高 50% 效率”之类对照实验结果。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允许主张：文章提出一种三遍阅读法。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这一页从元数据核验推进到原文主张核验。页面显示的 PDF 是真实来源，不是仿造界面。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让学生指出：如果 AI 声称“三遍法已证明提高 50% 效率”，下一步应定位什么证据？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- Keshav, S. "How to Read a Paper." DOI: https://doi.org/10.1145/1273445.1273458</a:t>
            </a:r>
          </a:p>
          <a:p xmlns:a="http://schemas.openxmlformats.org/drawingml/2006/main">
            <a:r>
              <a:t>- 公开 PDF：https://cs.uwaterloo.ca/~Brecht/courses/856/readings/how-to-read/keshav-paper-reading.pdf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页面：P15 演示：合格条目进入候选表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真实候选条目｜Keshav (2007)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字段 | 核验后写入 |</a:t>
            </a:r>
          </a:p>
          <a:p xmlns:a="http://schemas.openxmlformats.org/drawingml/2006/main">
            <a:r>
              <a:t>| --- | --- |</a:t>
            </a:r>
          </a:p>
          <a:p xmlns:a="http://schemas.openxmlformats.org/drawingml/2006/main">
            <a:r>
              <a:t>| 正式来源 | *ACM SIGCOMM Computer Communication Review* 37(3), pp.83–84；DOI `10.1145/1273445.1273458` |</a:t>
            </a:r>
          </a:p>
          <a:p xmlns:a="http://schemas.openxmlformats.org/drawingml/2006/main">
            <a:r>
              <a:t>| 对应问题/拟用主张 | 是否降低遗漏率？／用于定义 three-pass approach |</a:t>
            </a:r>
          </a:p>
          <a:p xmlns:a="http://schemas.openxmlformats.org/drawingml/2006/main">
            <a:r>
              <a:t>| 预期证据角色 | 探索线索；不是效果主证据 |</a:t>
            </a:r>
          </a:p>
          <a:p xmlns:a="http://schemas.openxmlformats.org/drawingml/2006/main">
            <a:r>
              <a:t>| 核验状态 | `verified-with-caveat`：缺少受控效果实验，保留限定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角色与状态独立：它已完成入口核验，但相对于当前效果问题仍是探索线索。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Keshav 文章已被核验为真实来源，允许主张也能定位到原文；但它不直接回答“是否降低遗漏率”。因此状态是 `verified-with-caveat`，当前角色仍是探索线索。改变问题或拟用主张时，角色可以改变，状态不会因此自动改变。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无。进入下一页判断点。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讲义 §五 候选文献表；[starter-template.md](../../course/starter-template.md) 工件追踪。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页面：P16 真实失败演示：教师自己的幻觉引用审计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案例边界框：本页为教师真实检索失败 trace（公开 arXiv 元数据，记录于 mi-search-trace-demo.md §6）；学生练习仍用讲义 §四·5 虚构案例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 AI agent 凭记忆给出 11 个 MI 锚点 ID——抽查即错 6 个，其中 4 条彻底张冠李戴：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记忆条目 | 实为 | 处置 |</a:t>
            </a:r>
          </a:p>
          <a:p xmlns:a="http://schemas.openxmlformats.org/drawingml/2006/main">
            <a:r>
              <a:t>| --- | --- | --- |</a:t>
            </a:r>
          </a:p>
          <a:p xmlns:a="http://schemas.openxmlformats.org/drawingml/2006/main">
            <a:r>
              <a:t>| 2308.10939＝Attribution Patching | 凝聚态物理论文 | `rejected` |</a:t>
            </a:r>
          </a:p>
          <a:p xmlns:a="http://schemas.openxmlformats.org/drawingml/2006/main">
            <a:r>
              <a:t>| 2203.13787＝Tuned Lens | 混合序列预测论文 | `rejected` |</a:t>
            </a:r>
          </a:p>
          <a:p xmlns:a="http://schemas.openxmlformats.org/drawingml/2006/main">
            <a:r>
              <a:t>| 2309.10655＝Emergent Linear Representations | 路径规划论文 | `rejected` |</a:t>
            </a:r>
          </a:p>
          <a:p xmlns:a="http://schemas.openxmlformats.org/drawingml/2006/main">
            <a:r>
              <a:t>| 2407.14400＝Gemma Scope | O-RAN 网络预测论文 | `rejected`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恢复路径：`ti:` 题名检索恢复正确 ID（2310.10348 / 2303.08112 / 2309.00941 / 2408.05147）；失败保留留档，不重跑到无痕。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四个判断点：</a:t>
            </a:r>
          </a:p>
          <a:p xmlns:a="http://schemas.openxmlformats.org/drawingml/2006/main">
            <a:r>
              <a:t>1. 为什么先写问题再搜材料？</a:t>
            </a:r>
          </a:p>
          <a:p xmlns:a="http://schemas.openxmlformats.org/drawingml/2006/main">
            <a:r>
              <a:t>2. 纳入/排除是检索前还是后写的？</a:t>
            </a:r>
          </a:p>
          <a:p xmlns:a="http://schemas.openxmlformats.org/drawingml/2006/main">
            <a:r>
              <a:t>3. 角色、状态和筛选决定分别回答什么？</a:t>
            </a:r>
          </a:p>
          <a:p xmlns:a="http://schemas.openxmlformats.org/drawingml/2006/main">
            <a:r>
              <a:t>4. `verified-with-caveat` 如何在候选表保留限定？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失败对象是教师自己的真实检索记录，不是构造样例：记忆与模型输出的 ID 必须逐条回正式来源核验，`rejected` 永不入候选表。结论不是"AI 不可用"，而是恢复路径留档后照样能找回正确文献。学生练习对象仍是讲义 §四·5 的虚构论文 A–E，避免练习变成演示复刻；该虚构表标注"不得引用"的纪律不变。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现场请学生给出一条核验步骤，教师把它加入改写后的任务契约。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- 真实材料：[mi-search-trace-demo.md](./mi-search-trace-demo.md) §6（4 条真实 rejected 与恢复路径，公开 arXiv 元数据）；案例边界框见该文件开头。</a:t>
            </a:r>
          </a:p>
          <a:p xmlns:a="http://schemas.openxmlformats.org/drawingml/2006/main">
            <a:r>
              <a:t>- 状态规则见讲义 §四·3；学生练习用虚构表见讲义 §四·5（课堂构造，不得引用）。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页面：P17 个人实践：跑通一次可复盘检索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本轮完成：</a:t>
            </a:r>
          </a:p>
          <a:p xmlns:a="http://schemas.openxmlformats.org/drawingml/2006/main">
            <a:r>
              <a:t>1. 写下你的研究问题（没有者沿用贯穿案例）</a:t>
            </a:r>
          </a:p>
          <a:p xmlns:a="http://schemas.openxmlformats.org/drawingml/2006/main">
            <a:r>
              <a:t>2. 抽 5 个关键词 + 同义/上位词</a:t>
            </a:r>
          </a:p>
          <a:p xmlns:a="http://schemas.openxmlformats.org/drawingml/2006/main">
            <a:r>
              <a:t>3. 构造一条检索式</a:t>
            </a:r>
          </a:p>
          <a:p xmlns:a="http://schemas.openxmlformats.org/drawingml/2006/main">
            <a:r>
              <a:t>4. 让 AI 围绕问题生成 3-5 条文献线索</a:t>
            </a:r>
          </a:p>
          <a:p xmlns:a="http://schemas.openxmlformats.org/drawingml/2006/main">
            <a:r>
              <a:t>5. 对至少 2 条执行入口核验</a:t>
            </a:r>
          </a:p>
          <a:p xmlns:a="http://schemas.openxmlformats.org/drawingml/2006/main">
            <a:r>
              <a:t>6. 审计至少 2 条，一条保留 pending/rejected</a:t>
            </a:r>
          </a:p>
          <a:p xmlns:a="http://schemas.openxmlformats.org/drawingml/2006/main">
            <a:r>
              <a:t>7. 标证据角色</a:t>
            </a:r>
          </a:p>
          <a:p xmlns:a="http://schemas.openxmlformats.org/drawingml/2006/main">
            <a:r>
              <a:t>8. 写一条 AI 使用记录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选择顺序：本人真实问题 → 导师组公开问题 → 课程贯穿案例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没有真实课题的学生不应掉队。沿用贯穿案例只用于启动方法练习。本课实践动作不得与教师演示同题，避免把个人实践变成演示的复刻——若用贯穿案例，请改换问题表述或检索词集合。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验收标准：</a:t>
            </a:r>
          </a:p>
          <a:p xmlns:a="http://schemas.openxmlformats.org/drawingml/2006/main">
            <a:r>
              <a:t>- 检索记录含库、式、日期、命中数、纳入排除；</a:t>
            </a:r>
          </a:p>
          <a:p xmlns:a="http://schemas.openxmlformats.org/drawingml/2006/main">
            <a:r>
              <a:t>- 来源审计至少 2 条，状态按实际核验结果记录，不凑出错误；</a:t>
            </a:r>
          </a:p>
          <a:p xmlns:a="http://schemas.openxmlformats.org/drawingml/2006/main">
            <a:r>
              <a:t>- 候选表至少 1 条 verified 或带完整限定的 verified-with-caveat，并标证据角色；</a:t>
            </a:r>
          </a:p>
          <a:p xmlns:a="http://schemas.openxmlformats.org/drawingml/2006/main">
            <a:r>
              <a:t>- AI 使用记录完整。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用本页说明任务并确认备用路径。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[starter-template.md](../../course/starter-template.md) 最小文件结构；第 1-2 课项目工件。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页面：P18 实践停留页：模板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检索记录模板：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```text</a:t>
            </a:r>
          </a:p>
          <a:p xmlns:a="http://schemas.openxmlformats.org/drawingml/2006/main">
            <a:r>
              <a:t>库：</a:t>
            </a:r>
          </a:p>
          <a:p xmlns:a="http://schemas.openxmlformats.org/drawingml/2006/main">
            <a:r>
              <a:t>检索式：</a:t>
            </a:r>
          </a:p>
          <a:p xmlns:a="http://schemas.openxmlformats.org/drawingml/2006/main">
            <a:r>
              <a:t>日期：</a:t>
            </a:r>
          </a:p>
          <a:p xmlns:a="http://schemas.openxmlformats.org/drawingml/2006/main">
            <a:r>
              <a:t>时间范围：</a:t>
            </a:r>
          </a:p>
          <a:p xmlns:a="http://schemas.openxmlformats.org/drawingml/2006/main">
            <a:r>
              <a:t>命中数：</a:t>
            </a:r>
          </a:p>
          <a:p xmlns:a="http://schemas.openxmlformats.org/drawingml/2006/main">
            <a:r>
              <a:t>纳入条件：</a:t>
            </a:r>
          </a:p>
          <a:p xmlns:a="http://schemas.openxmlformats.org/drawingml/2006/main">
            <a:r>
              <a:t>排除条件：</a:t>
            </a:r>
          </a:p>
          <a:p xmlns:a="http://schemas.openxmlformats.org/drawingml/2006/main">
            <a:r>
              <a:t>筛选后：</a:t>
            </a:r>
          </a:p>
          <a:p xmlns:a="http://schemas.openxmlformats.org/drawingml/2006/main">
            <a:r>
              <a:t>```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候选文献表模板（只放纳入且非 `rejected` 的条目）：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```text</a:t>
            </a:r>
          </a:p>
          <a:p xmlns:a="http://schemas.openxmlformats.org/drawingml/2006/main">
            <a:r>
              <a:t>| 编号 | 题名（核验后） | 作者 | 年份 | 稳定来源 | 对应问题/拟用主张 | 预期证据角色 | 纳入理由 | 核验状态 | caveat/允许主张 |</a:t>
            </a:r>
          </a:p>
          <a:p xmlns:a="http://schemas.openxmlformats.org/drawingml/2006/main">
            <a:r>
              <a:t>```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另建：检索与筛选记录（含排除理由）｜来源审计记录（含 rejected）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统一写入：notes/literature-search.md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最低完成：1 条检索记录｜2 条来源审计｜1 条已核验候选记录｜1 条 AI 记录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模板投屏停留。学生可照抄到个人项目。本课不正式提交；第 4-6 课继续回写，第 6 课问题门统一检查。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第一段完成检索式与两条审计后，教师用一个身份已核验但主张未核验的反例做共性点评；第二段再将一条合格记录写入候选表并补 AI 使用记录。库访问故障者使用 [source-audit-demo.md](./source-audit-demo.md) 完成 1 条真实核验，自有条目保持 `pending`。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讲义 §五 候选文献表；§二 检索记录字段。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页面：P19 同伴互查三问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两人互查三问：</a:t>
            </a:r>
          </a:p>
          <a:p xmlns:a="http://schemas.openxmlformats.org/drawingml/2006/main">
            <a:r>
              <a:t>1. 检索可复盘吗？库、式、日期、命中数、筛选标准齐全吗？</a:t>
            </a:r>
          </a:p>
          <a:p xmlns:a="http://schemas.openxmlformats.org/drawingml/2006/main">
            <a:r>
              <a:t>2. 预期角色有对应问题/拟用主张吗？是否与状态、筛选决定分开？</a:t>
            </a:r>
          </a:p>
          <a:p xmlns:a="http://schemas.openxmlformats.org/drawingml/2006/main">
            <a:r>
              <a:t>3. 身份与一条拟用主张回原文了吗？`rejected` 和 `pending` 理由成立吗？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作者记录：采纳／暂不采纳／待核验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同伴只提问题，不替作者决定。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每人约 3-5 分钟：一人用 45 秒说明问题、检索式和一条核验；同伴按三问反馈；作者记录处理决定。反馈不要求立即改写。反馈者不替代作者修改，不形成共同提交。人数为奇数时组成三人组，每人缩短说明时间。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两人互查，按三问留下反馈记录。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同伴反馈为形成性活动，不单独计分，不共同提交（[assignments.md](../../course/assignments.md)）。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页面：P20 本讲知识点总结：检索是证据入口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问题初稿 → 关键词／检索式 → 来源审计 → 候选文献表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角色｜相对于问题或拟用主张：主证据／补充证据／对比证据／探索线索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状态｜回原文裁定：`pending`／`verified`／`verified-with-caveat`／`rejected`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决定｜人工记录：纳入／排除及理由；冲突证据保留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AI 可以扩展、检索、整理和提出建议；学生确认问题、主张、角色与纳入决定。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用 2.5 分钟复述一条主链和三个判断层次。强调“角色、状态、决定”不能合并：一篇文献可以身份已核验，但对当前主张仍只是探索线索；AI 可以提出四态和角色建议，最终确认与纳入理由由学生负责。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请学生对照自己的候选文献表，默检是否同时保留了角色、状态和决定三类字段；不现场新增正式提交。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- 本页为讲义 §二至§五的方法汇总，不引入新事实；</a:t>
            </a:r>
          </a:p>
          <a:p xmlns:a="http://schemas.openxmlformats.org/drawingml/2006/main">
            <a:r>
              <a:t>- AI 与人工边界以讲义 §二·5 和本课课堂产出要求为准。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页面：P21 退出卡与第 4 课预告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退出卡：</a:t>
            </a:r>
          </a:p>
          <a:p xmlns:a="http://schemas.openxmlformats.org/drawingml/2006/main">
            <a:r>
              <a:t>- 今天最清楚的一点；</a:t>
            </a:r>
          </a:p>
          <a:p xmlns:a="http://schemas.openxmlformats.org/drawingml/2006/main">
            <a:r>
              <a:t>- 仍然困惑的一点；</a:t>
            </a:r>
          </a:p>
          <a:p xmlns:a="http://schemas.openxmlformats.org/drawingml/2006/main">
            <a:r>
              <a:t>- 检索过程是否可复盘；</a:t>
            </a:r>
          </a:p>
          <a:p xmlns:a="http://schemas.openxmlformats.org/drawingml/2006/main">
            <a:r>
              <a:t>- 候选文献表当前 verified 条数；</a:t>
            </a:r>
          </a:p>
          <a:p xmlns:a="http://schemas.openxmlformats.org/drawingml/2006/main">
            <a:r>
              <a:t>- 第 4 课需要补的精读案例。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第 4 课预告：AI 辅助论文精读与主张核验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不新增课后正式作业。持续回写到第 6 课问题门。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回扣本课目标：学生不需要在 90 分钟内完成文献综述，只要项目里有检索记录、候选文献表第一版、证据角色初标和一条 AI 使用记录，就已经形成可继续检查的起点。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课后引导阅读（采用 AI 导航→原文核验→AI 质疑→偏差审计→人工定稿流程）：</a:t>
            </a:r>
          </a:p>
          <a:p xmlns:a="http://schemas.openxmlformats.org/drawingml/2006/main">
            <a:r>
              <a:t>- Booth et al. *The Craft of Research*, 5th ed., Chapter 3，约 30 分钟，核心阅读；</a:t>
            </a:r>
          </a:p>
          <a:p xmlns:a="http://schemas.openxmlformats.org/drawingml/2006/main">
            <a:r>
              <a:t>- Kitchenham &amp; Charters SLR guidelines 选段，任选，约 25 分钟；</a:t>
            </a:r>
          </a:p>
          <a:p xmlns:a="http://schemas.openxmlformats.org/drawingml/2006/main">
            <a:r>
              <a:t>- PRISMA 2020 checklist 与 flow diagram，任选，约 15 分钟。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阅读卡持续保存在个人项目 `notes/`，不逐周正式提交。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学生提交退出卡或保存在个人项目。教师收集共性问题，用于第 4 课前调整。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- Booth, W. C. et al. *The Craft of Research*, 5th ed. [出版社页面](https://press.uchicago.edu/ucp/books/book/chicago/C/bo215874008)。</a:t>
            </a:r>
          </a:p>
          <a:p xmlns:a="http://schemas.openxmlformats.org/drawingml/2006/main">
            <a:r>
              <a:t>- Kitchenham, B., &amp; Charters, S. EBSE-2007-01, 2007. [机构索引](https://ebse.webspace.durham.ac.uk/ebse-bibliography/guidelines-for-performing-systematic-literature-reviews-in-software-engineering/)。</a:t>
            </a:r>
          </a:p>
          <a:p xmlns:a="http://schemas.openxmlformats.org/drawingml/2006/main">
            <a:r>
              <a:t>- Page, M. J. et al. *BMJ* 372:n71 (2021). DOI: [10.1136/bmj.n71](https://www.bmj.com/content/372/bmj.n71)。</a:t>
            </a:r>
          </a:p>
          <a:p xmlns:a="http://schemas.openxmlformats.org/drawingml/2006/main">
            <a:r>
              <a:t>- 阅读规则见 [reading-list.md](../../course/reading-list.md)。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f062fe7fbf84679" /><Relationship Type="http://schemas.openxmlformats.org/officeDocument/2006/relationships/image" Target="/ppt/media/image.png" Id="Rdf894d67c5ba4fa1" /><Relationship Type="http://schemas.openxmlformats.org/officeDocument/2006/relationships/image" Target="/ppt/media/image2.png" Id="Rc66a46bd16024195" /><Relationship Type="http://schemas.openxmlformats.org/officeDocument/2006/relationships/image" Target="/ppt/media/image3.png" Id="R80e4359a7b894da4" /><Relationship Type="http://schemas.openxmlformats.org/officeDocument/2006/relationships/image" Target="/ppt/media/image4.png" Id="R9aad6ccf377b4aa9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d62787ceb09432a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3328c6ddf8c41b3" /><Relationship Type="http://schemas.openxmlformats.org/officeDocument/2006/relationships/image" Target="/ppt/media/image2.png" Id="R0d8f5dc11d4f4730" /><Relationship Type="http://schemas.openxmlformats.org/officeDocument/2006/relationships/image" Target="/ppt/media/image5.png" Id="Rf9fafd2ae04f465c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3e682d68f3d4856" /><Relationship Type="http://schemas.openxmlformats.org/officeDocument/2006/relationships/image" Target="/ppt/media/image.png" Id="R674fce9027be48bc" /><Relationship Type="http://schemas.openxmlformats.org/officeDocument/2006/relationships/image" Target="/ppt/media/image3.png" Id="R3991314be7124573" /></Relationships>
</file>

<file path=ppt/slideLayouts/slideLayout1.xml><?xml version="1.0" encoding="utf-8"?>
<p:sldLayout xmlns:p="http://schemas.openxmlformats.org/presentationml/2006/main" preserve="1" userDrawn="1">
  <p:cSld name="封面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6" name="图片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894d67c5ba4fa1">
            <a:duotone>
              <a:prstClr val="black"/>
              <a:schemeClr val="accent1">
                <a:tint val="45000"/>
                <a:satMod val="400000"/>
              </a:schemeClr>
            </a:duotone>
            <a:alphaModFix amt="5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50417" y="2900149"/>
            <a:ext cx="12292835" cy="3957851"/>
          </a:xfrm>
          <a:prstGeom xmlns:a="http://schemas.openxmlformats.org/drawingml/2006/main" prst="rect">
            <a:avLst/>
          </a:prstGeom>
        </p:spPr>
      </p:pic>
      <p:sp>
        <p:nvSpPr>
          <p:cNvPr id="22" name="标题 1">
            <a:extLst xmlns:a="http://schemas.openxmlformats.org/drawingml/2006/main">
              <a:ext uri="{FF2B5EF4-FFF2-40B4-BE49-F238E27FC236}">
                <a16:creationId xmlns:a16="http://schemas.microsoft.com/office/drawing/2014/main" id="{9AF74CDA-19DD-45C1-88FF-2379736830CB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1069561" y="2016174"/>
            <a:ext cx="10052879" cy="106085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lvl1pPr algn="ctr">
              <a:buNone/>
              <a:defRPr sz="5400" b="1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r>
              <a:t>单击此处编辑标题样式</a:t>
            </a:r>
          </a:p>
        </p:txBody>
      </p:sp>
      <p:sp>
        <p:nvSpPr>
          <p:cNvPr id="26" name="内容占位符 25">
            <a:extLst xmlns:a="http://schemas.openxmlformats.org/drawingml/2006/main">
              <a:ext uri="{FF2B5EF4-FFF2-40B4-BE49-F238E27FC236}">
                <a16:creationId xmlns:a16="http://schemas.microsoft.com/office/drawing/2014/main" id="{981273AB-3D30-4A7E-951D-B80D3185213B}"/>
              </a:ext>
            </a:extLst>
          </p:cNvPr>
          <p:cNvSpPr>
            <a:spLocks xmlns:a="http://schemas.openxmlformats.org/drawingml/2006/main" noGrp="1"/>
          </p:cNvSpPr>
          <p:nvPr>
            <p:ph idx="10" hasCustomPrompt="1"/>
          </p:nvPr>
        </p:nvSpPr>
        <p:spPr>
          <a:xfrm xmlns:a="http://schemas.openxmlformats.org/drawingml/2006/main">
            <a:off x="4644345" y="5196924"/>
            <a:ext cx="2903311" cy="454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240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fld id="{DE506FFD-8B27-444A-964F-E64D0BB3DAF0}" type="datetime2">
              <a:t>2019年1月28日</a:t>
            </a:fld>
            <a:endParaRPr/>
          </a:p>
        </p:txBody>
      </p:sp>
      <p:sp>
        <p:nvSpPr>
          <p:cNvPr id="32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F905EEBF-8ACE-4D30-A4F5-C5796F8343A2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4034910" y="4407403"/>
            <a:ext cx="4122181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32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pic>
        <p:nvPicPr>
          <p:cNvPr id="50" name="图片 3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66a46bd16024195"/>
          <a:srcRect xmlns:a="http://schemas.openxmlformats.org/drawingml/2006/main" l="74359" t="0" r="1346" b="0"/>
          <a:stretch xmlns:a="http://schemas.openxmlformats.org/drawingml/2006/main"/>
        </p:blipFill>
        <p:spPr>
          <a:xfrm xmlns:a="http://schemas.openxmlformats.org/drawingml/2006/main">
            <a:off x="8870172" y="274183"/>
            <a:ext cx="3002280" cy="411617"/>
          </a:xfrm>
          <a:prstGeom xmlns:a="http://schemas.openxmlformats.org/drawingml/2006/main" prst="rect">
            <a:avLst/>
          </a:prstGeom>
        </p:spPr>
      </p:pic>
      <p:pic>
        <p:nvPicPr>
          <p:cNvPr id="51" name="图片 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0e4359a7b894da4">
            <a:alphaModFix amt="35000"/>
          </a:blip>
          <a:srcRect xmlns:a="http://schemas.openxmlformats.org/drawingml/2006/main" l="0" t="9831" r="0" b="36385"/>
          <a:stretch xmlns:a="http://schemas.openxmlformats.org/drawingml/2006/main"/>
        </p:blipFill>
        <p:spPr>
          <a:xfrm xmlns:a="http://schemas.openxmlformats.org/drawingml/2006/main" rot="0" flipH="0" flipV="0">
            <a:off x="3352562" y="6244170"/>
            <a:ext cx="5486876" cy="406590"/>
          </a:xfrm>
          <a:prstGeom xmlns:a="http://schemas.openxmlformats.org/drawingml/2006/main" prst="rect">
            <a:avLst/>
          </a:prstGeom>
        </p:spPr>
      </p:pic>
      <p:sp>
        <p:nvSpPr>
          <p:cNvPr id="37" name="椭圆 36">
            <a:extLst xmlns:a="http://schemas.openxmlformats.org/drawingml/2006/main">
              <a:ext uri="{FF2B5EF4-FFF2-40B4-BE49-F238E27FC236}">
                <a16:creationId xmlns:a16="http://schemas.microsoft.com/office/drawing/2014/main" id="{53D809C0-A4EF-44AF-AECA-4A85E4BA2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51000" y="6430138"/>
            <a:ext cx="90000" cy="90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6">
              <a:lumMod val="60000"/>
              <a:lumOff val="4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9" name="直接连接符 38">
            <a:extLst xmlns:a="http://schemas.openxmlformats.org/drawingml/2006/main">
              <a:ext uri="{FF2B5EF4-FFF2-40B4-BE49-F238E27FC236}">
                <a16:creationId xmlns:a16="http://schemas.microsoft.com/office/drawing/2014/main" id="{31F7CAE3-0209-4DA4-9A92-731CC272B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28587" y="6487838"/>
            <a:ext cx="9000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1" name="直接连接符 40">
            <a:extLst xmlns:a="http://schemas.openxmlformats.org/drawingml/2006/main">
              <a:ext uri="{FF2B5EF4-FFF2-40B4-BE49-F238E27FC236}">
                <a16:creationId xmlns:a16="http://schemas.microsoft.com/office/drawing/2014/main" id="{B3FF25BF-0A81-4E7C-A868-79A201F0D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983387" y="6487838"/>
            <a:ext cx="9000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2" name="直接连接符 11">
            <a:extLst xmlns:a="http://schemas.openxmlformats.org/drawingml/2006/main">
              <a:ext uri="{FF2B5EF4-FFF2-40B4-BE49-F238E27FC236}">
                <a16:creationId xmlns:a16="http://schemas.microsoft.com/office/drawing/2014/main" id="{84931B68-BEBE-4F6A-A7A3-EB2B855A6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6000" y="1712549"/>
            <a:ext cx="8100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26218CD3-8CA7-49E2-A133-F31724416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6000" y="3428810"/>
            <a:ext cx="8100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pic>
        <p:nvPicPr>
          <p:cNvPr id="57" name="图片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ad6ccf377b4aa9"/>
          <a:srcRect xmlns:a="http://schemas.openxmlformats.org/drawingml/2006/main" l="0" t="0" r="54251" b="0"/>
          <a:stretch xmlns:a="http://schemas.openxmlformats.org/drawingml/2006/main"/>
        </p:blipFill>
        <p:spPr>
          <a:xfrm xmlns:a="http://schemas.openxmlformats.org/drawingml/2006/main">
            <a:off x="332010" y="251357"/>
            <a:ext cx="1934780" cy="482598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2.xml><?xml version="1.0" encoding="utf-8"?>
<p:sldLayout xmlns:p="http://schemas.openxmlformats.org/presentationml/2006/main" preserve="1" userDrawn="1">
  <p:cSld name="目录-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CD1F02EB-A5F5-4A25-8E13-33D76C399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1" y="2455636"/>
            <a:ext cx="2960913" cy="143872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DBDFDE5-938B-46BA-BF04-52626678C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6200000">
            <a:off x="1736542" y="2389144"/>
            <a:ext cx="97430" cy="2960914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DE1AFFB6-310A-466D-BAD1-F84A11C9C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3478991" y="0"/>
            <a:ext cx="90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6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 userDrawn="1">
  <p:cSld name="1_仅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灯片编号占位符 2">
            <a:extLst xmlns:a="http://schemas.openxmlformats.org/drawingml/2006/main">
              <a:ext uri="{FF2B5EF4-FFF2-40B4-BE49-F238E27FC236}">
                <a16:creationId xmlns:a16="http://schemas.microsoft.com/office/drawing/2014/main" id="{C1D5E491-4859-47A4-8F29-DAACA1914DBE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C53781C-E1F6-4315-A39D-61273F2E0596}" type="slidenum">
              <a:t>‹#›</a:t>
            </a:fld>
            <a:endParaRPr/>
          </a:p>
        </p:txBody>
      </p:sp>
      <p:pic>
        <p:nvPicPr>
          <p:cNvPr id="25" name="图片 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d8f5dc11d4f4730"/>
          <a:srcRect xmlns:a="http://schemas.openxmlformats.org/drawingml/2006/main" l="0" t="0" r="1346" b="0"/>
          <a:stretch xmlns:a="http://schemas.openxmlformats.org/drawingml/2006/main"/>
        </p:blipFill>
        <p:spPr>
          <a:xfrm xmlns:a="http://schemas.openxmlformats.org/drawingml/2006/main">
            <a:off x="516" y="6041797"/>
            <a:ext cx="12166903" cy="411617"/>
          </a:xfrm>
          <a:prstGeom xmlns:a="http://schemas.openxmlformats.org/drawingml/2006/main" prst="rect">
            <a:avLst/>
          </a:prstGeom>
        </p:spPr>
      </p:pic>
      <p:sp>
        <p:nvSpPr>
          <p:cNvPr id="9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56FC8349-67FC-4E3B-B988-7A27FDAE9D24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319056" y="6438900"/>
            <a:ext cx="4151344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10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85368C87-925C-44AC-B001-5C4EE6F00645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4788940" y="6438900"/>
            <a:ext cx="4151344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19" name="平行四边形 18">
            <a:extLst xmlns:a="http://schemas.openxmlformats.org/drawingml/2006/main">
              <a:ext uri="{FF2B5EF4-FFF2-40B4-BE49-F238E27FC236}">
                <a16:creationId xmlns:a16="http://schemas.microsoft.com/office/drawing/2014/main" id="{9AE407FD-1006-4AC4-B10B-CB7686E66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"/>
            <a:ext cx="12191483" cy="685800"/>
          </a:xfrm>
          <a:prstGeom xmlns:a="http://schemas.openxmlformats.org/drawingml/2006/main" prst="parallelogram">
            <a:avLst>
              <a:gd name="adj" fmla="val 4305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pic>
        <p:nvPicPr>
          <p:cNvPr id="29" name="图片 1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fafd2ae04f465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19056" y="73482"/>
            <a:ext cx="538838" cy="538838"/>
          </a:xfrm>
          <a:prstGeom xmlns:a="http://schemas.openxmlformats.org/drawingml/2006/main" prst="rect">
            <a:avLst/>
          </a:prstGeom>
        </p:spPr>
      </p:pic>
      <p:sp>
        <p:nvSpPr>
          <p:cNvPr id="21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C2D49473-9331-4572-8AFC-3A905D765CF9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75351" y="43657"/>
            <a:ext cx="7081677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3200" b="1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 userDrawn="1">
  <p:cSld name="封底">
    <p:bg>
      <p:bgPr>
        <a:solidFill xmlns:a="http://schemas.openxmlformats.org/drawingml/2006/main">
          <a:schemeClr val="accen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图片 1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4fce9027be48bc">
            <a:duotone>
              <a:prstClr val="black"/>
              <a:schemeClr val="accent1">
                <a:tint val="45000"/>
                <a:satMod val="400000"/>
              </a:schemeClr>
            </a:duotone>
            <a:alphaModFix amt="20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50417" y="2900149"/>
            <a:ext cx="12292835" cy="3957851"/>
          </a:xfrm>
          <a:prstGeom xmlns:a="http://schemas.openxmlformats.org/drawingml/2006/main" prst="rect">
            <a:avLst/>
          </a:prstGeom>
        </p:spPr>
      </p:pic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0F60F5A8-3022-49D5-A1B7-18CDA62C7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3429000"/>
            <a:ext cx="219751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4" name="直接连接符 13">
            <a:extLst xmlns:a="http://schemas.openxmlformats.org/drawingml/2006/main">
              <a:ext uri="{FF2B5EF4-FFF2-40B4-BE49-F238E27FC236}">
                <a16:creationId xmlns:a16="http://schemas.microsoft.com/office/drawing/2014/main" id="{2989B7D2-D2DE-4D77-870B-585E51853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9690" y="3429000"/>
            <a:ext cx="219751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0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4EB0A957-E3E4-47EE-9713-82509E17FD51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2555162" y="3129756"/>
            <a:ext cx="7081677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6000" b="1" spc="60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pic>
        <p:nvPicPr>
          <p:cNvPr id="27" name="图片 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991314be7124573">
            <a:alphaModFix amt="20000"/>
            <a:duotone>
              <a:schemeClr val="accent4">
                <a:shade val="45000"/>
                <a:satMod val="135000"/>
              </a:schemeClr>
              <a:prstClr val="white"/>
            </a:duotone>
          </a:blip>
          <a:srcRect xmlns:a="http://schemas.openxmlformats.org/drawingml/2006/main" l="0" t="9831" r="0" b="36385"/>
          <a:stretch xmlns:a="http://schemas.openxmlformats.org/drawingml/2006/main"/>
        </p:blipFill>
        <p:spPr>
          <a:xfrm xmlns:a="http://schemas.openxmlformats.org/drawingml/2006/main">
            <a:off x="3352562" y="6146610"/>
            <a:ext cx="5486876" cy="406590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c4e3d79d5bf4ada" /><Relationship Type="http://schemas.openxmlformats.org/officeDocument/2006/relationships/slideLayout" Target="/ppt/slideLayouts/slideLayout1.xml" Id="Ra7c510314cf845c5" /><Relationship Type="http://schemas.openxmlformats.org/officeDocument/2006/relationships/slideLayout" Target="/ppt/slideLayouts/slideLayout2.xml" Id="R629527c3c99d49c2" /><Relationship Type="http://schemas.openxmlformats.org/officeDocument/2006/relationships/slideLayout" Target="/ppt/slideLayouts/slideLayout3.xml" Id="R8f714e9235fb4d0d" /><Relationship Type="http://schemas.openxmlformats.org/officeDocument/2006/relationships/slideLayout" Target="/ppt/slideLayouts/slideLayout4.xml" Id="R1e831edb8d654ff7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DF26411B-55E1-4CE5-B9CA-4734B17AE0E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0849970" y="6515101"/>
            <a:ext cx="103723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48644C6-89F0-466C-949F-E70AD72679A8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7c510314cf845c5"/>
    <p:sldLayoutId xmlns:r="http://schemas.openxmlformats.org/officeDocument/2006/relationships" id="2147483650" r:id="R629527c3c99d49c2"/>
    <p:sldLayoutId xmlns:r="http://schemas.openxmlformats.org/officeDocument/2006/relationships" id="2147483651" r:id="R8f714e9235fb4d0d"/>
    <p:sldLayoutId xmlns:r="http://schemas.openxmlformats.org/officeDocument/2006/relationships" id="2147483652" r:id="R1e831edb8d654ff7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" pos="192">
          <p15:clr>
            <a:srgbClr xmlns:a="http://schemas.openxmlformats.org/drawingml/2006/main" val="F26B43"/>
          </p15:clr>
        </p15:guide>
        <p15:guide id="2" pos="7488">
          <p15:clr>
            <a:srgbClr xmlns:a="http://schemas.openxmlformats.org/drawingml/2006/main" val="F26B43"/>
          </p15:clr>
        </p15:guide>
        <p15:guide id="3" orient="horz" pos="432">
          <p15:clr>
            <a:srgbClr xmlns:a="http://schemas.openxmlformats.org/drawingml/2006/main" val="F26B43"/>
          </p15:clr>
        </p15:guide>
        <p15:guide id="4" orient="horz" pos="472">
          <p15:clr>
            <a:srgbClr xmlns:a="http://schemas.openxmlformats.org/drawingml/2006/main" val="F26B43"/>
          </p15:clr>
        </p15:guide>
        <p15:guide id="5" orient="horz" pos="4104">
          <p15:clr>
            <a:srgbClr xmlns:a="http://schemas.openxmlformats.org/drawingml/2006/main" val="F26B43"/>
          </p15:clr>
        </p15:guide>
        <p15:guide id="6" orient="horz" pos="4056">
          <p15:clr>
            <a:srgbClr xmlns:a="http://schemas.openxmlformats.org/drawingml/2006/main" val="F26B43"/>
          </p15:clr>
        </p15:guide>
      </p15:sldGuideLst>
    </p:ext>
  </p:extLst>
</p:sldMaster>
</file>

<file path=ppt/slideMasters/theme/theme2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be3fe3f5e74f06" /><Relationship Type="http://schemas.openxmlformats.org/officeDocument/2006/relationships/notesSlide" Target="/ppt/notesSlides/notesSlide1.xml" Id="R32014362b9c1423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995e3ad8ba2b45fa" /><Relationship Type="http://schemas.openxmlformats.org/officeDocument/2006/relationships/notesSlide" Target="/ppt/notesSlides/notesSlide2.xml" Id="R69ed2c4cb4fa4cb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a9e5c7224e3341be" /><Relationship Type="http://schemas.openxmlformats.org/officeDocument/2006/relationships/notesSlide" Target="/ppt/notesSlides/notesSlide3.xml" Id="R75aa9eee50144cb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d8c7b4280286495c" /><Relationship Type="http://schemas.openxmlformats.org/officeDocument/2006/relationships/notesSlide" Target="/ppt/notesSlides/notesSlide4.xml" Id="R4392ecf93c7341e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911ffcfe17894174" /><Relationship Type="http://schemas.openxmlformats.org/officeDocument/2006/relationships/notesSlide" Target="/ppt/notesSlides/notesSlide5.xml" Id="Ra7ffa3e94807468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f572155bdfb54078" /><Relationship Type="http://schemas.openxmlformats.org/officeDocument/2006/relationships/notesSlide" Target="/ppt/notesSlides/notesSlide6.xml" Id="Rde2e370a220d4b1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fa52d8ea93c34c7f" /><Relationship Type="http://schemas.openxmlformats.org/officeDocument/2006/relationships/notesSlide" Target="/ppt/notesSlides/notesSlide7.xml" Id="R1b15b5ef84774e3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c67050c8593047e3" /><Relationship Type="http://schemas.openxmlformats.org/officeDocument/2006/relationships/notesSlide" Target="/ppt/notesSlides/notesSlide8.xml" Id="R4c94379b18d94e8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02247f3027b44264" /><Relationship Type="http://schemas.openxmlformats.org/officeDocument/2006/relationships/notesSlide" Target="/ppt/notesSlides/notesSlide9.xml" Id="R3c240fab0b2e448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b7bdae8a124e4471" /><Relationship Type="http://schemas.openxmlformats.org/officeDocument/2006/relationships/notesSlide" Target="/ppt/notesSlides/notesSlide10.xml" Id="R125d2e682b9f434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d17090733a7448d5" /><Relationship Type="http://schemas.openxmlformats.org/officeDocument/2006/relationships/notesSlide" Target="/ppt/notesSlides/notesSlide11.xml" Id="R5e09e916d018479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93a687b2a0124a32" /><Relationship Type="http://schemas.openxmlformats.org/officeDocument/2006/relationships/notesSlide" Target="/ppt/notesSlides/notesSlide12.xml" Id="R26d36f6c1b9f4000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e12eb43eccb346ea" /><Relationship Type="http://schemas.openxmlformats.org/officeDocument/2006/relationships/notesSlide" Target="/ppt/notesSlides/notesSlide13.xml" Id="R9b59201c9dab4e29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7b3163f87ae84283" /><Relationship Type="http://schemas.openxmlformats.org/officeDocument/2006/relationships/image" Target="/ppt/media/image6.png" Id="Rc0bb4d3c2c624073" /><Relationship Type="http://schemas.openxmlformats.org/officeDocument/2006/relationships/notesSlide" Target="/ppt/notesSlides/notesSlide14.xml" Id="R563be2a522264eed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1cf354b4ca814425" /><Relationship Type="http://schemas.openxmlformats.org/officeDocument/2006/relationships/notesSlide" Target="/ppt/notesSlides/notesSlide15.xml" Id="R78e4fa5ee99d4db5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c4f33ea7aa4544ba" /><Relationship Type="http://schemas.openxmlformats.org/officeDocument/2006/relationships/notesSlide" Target="/ppt/notesSlides/notesSlide16.xml" Id="R6a728563d1e643ca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0594f1b436be4683" /><Relationship Type="http://schemas.openxmlformats.org/officeDocument/2006/relationships/notesSlide" Target="/ppt/notesSlides/notesSlide17.xml" Id="R9e4faea8a08c4ecb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30b244ed9b474deb" /><Relationship Type="http://schemas.openxmlformats.org/officeDocument/2006/relationships/notesSlide" Target="/ppt/notesSlides/notesSlide18.xml" Id="R53a029df1cc5434f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c715519f7ed24a50" /><Relationship Type="http://schemas.openxmlformats.org/officeDocument/2006/relationships/notesSlide" Target="/ppt/notesSlides/notesSlide19.xml" Id="R3183cce3409f48d8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929d610e7f194951" /><Relationship Type="http://schemas.openxmlformats.org/officeDocument/2006/relationships/notesSlide" Target="/ppt/notesSlides/notesSlide20.xml" Id="Rb7119c7ff3ce4947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f8169912bda543c6" /><Relationship Type="http://schemas.openxmlformats.org/officeDocument/2006/relationships/notesSlide" Target="/ppt/notesSlides/notesSlide21.xml" Id="R63a885b2161a4080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1">
            <a:extLst xmlns:a="http://schemas.openxmlformats.org/drawingml/2006/main">
              <a:ext uri="{FF2B5EF4-FFF2-40B4-BE49-F238E27FC236}">
                <a16:creationId xmlns:a16="http://schemas.microsoft.com/office/drawing/2014/main" id="{27DE90CC-93E2-C662-C202-C5C6993D7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90700"/>
            <a:ext cx="9906000" cy="1647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50000"/>
              </a:lnSpc>
              <a:buNone/>
            </a:pPr>
            <a:r>
              <a:rPr sz="32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第3讲 文献检索与证据角色</a:t>
            </a:r>
            <a:endParaRPr sz="4000" b="1" kern="0" spc="20">
              <a:solidFill>
                <a:srgbClr val="C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5004539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第 2 课之后，研究材料为何仍不可信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  <a:endParaRPr/>
          </a:p>
        </p:txBody>
      </p:sp>
      <p:sp>
        <p:nvSpPr>
          <p:cNvPr id="6" name="visual-2-0-p02-left-title">
            <a:extLst xmlns:a="http://schemas.openxmlformats.org/drawingml/2006/main">
              <a:ext uri="{FF2B5EF4-FFF2-40B4-BE49-F238E27FC236}">
                <a16:creationId xmlns:a16="http://schemas.microsoft.com/office/drawing/2014/main" id="{DF3EE9A4-B6EA-40C3-A48E-1E99CE08A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066800"/>
            <a:ext cx="4095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动作可审计</a:t>
            </a:r>
          </a:p>
        </p:txBody>
      </p:sp>
      <p:sp>
        <p:nvSpPr>
          <p:cNvPr id="7" name="visual-2-1-p02-l-0">
            <a:extLst xmlns:a="http://schemas.openxmlformats.org/drawingml/2006/main">
              <a:ext uri="{FF2B5EF4-FFF2-40B4-BE49-F238E27FC236}">
                <a16:creationId xmlns:a16="http://schemas.microsoft.com/office/drawing/2014/main" id="{DF43B53E-41F3-41F2-9A2C-112D61FA7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09750"/>
            <a:ext cx="3886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✓  权限矩阵</a:t>
            </a:r>
          </a:p>
        </p:txBody>
      </p:sp>
      <p:sp>
        <p:nvSpPr>
          <p:cNvPr id="8" name="visual-2-2-p02-l-1">
            <a:extLst xmlns:a="http://schemas.openxmlformats.org/drawingml/2006/main">
              <a:ext uri="{FF2B5EF4-FFF2-40B4-BE49-F238E27FC236}">
                <a16:creationId xmlns:a16="http://schemas.microsoft.com/office/drawing/2014/main" id="{54E11FD7-6947-444E-98EF-13132B9C1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24150"/>
            <a:ext cx="3886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✓  AI 使用记录</a:t>
            </a:r>
          </a:p>
        </p:txBody>
      </p:sp>
      <p:sp>
        <p:nvSpPr>
          <p:cNvPr id="9" name="visual-2-3-p02-l-2">
            <a:extLst xmlns:a="http://schemas.openxmlformats.org/drawingml/2006/main">
              <a:ext uri="{FF2B5EF4-FFF2-40B4-BE49-F238E27FC236}">
                <a16:creationId xmlns:a16="http://schemas.microsoft.com/office/drawing/2014/main" id="{3F5A7A84-9AA7-4E21-90BD-F6A65400B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38550"/>
            <a:ext cx="3886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✓  伦理清单</a:t>
            </a:r>
          </a:p>
        </p:txBody>
      </p:sp>
      <p:sp>
        <p:nvSpPr>
          <p:cNvPr id="10" name="visual-2-4-p02-gap-label">
            <a:extLst xmlns:a="http://schemas.openxmlformats.org/drawingml/2006/main">
              <a:ext uri="{FF2B5EF4-FFF2-40B4-BE49-F238E27FC236}">
                <a16:creationId xmlns:a16="http://schemas.microsoft.com/office/drawing/2014/main" id="{D2549503-6C7B-44D5-8470-B08AFA33F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590800"/>
            <a:ext cx="171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仍未回答</a:t>
            </a:r>
          </a:p>
        </p:txBody>
      </p:sp>
      <p:sp>
        <p:nvSpPr>
          <p:cNvPr id="11" name="visual-2-5-p02-right-title">
            <a:extLst xmlns:a="http://schemas.openxmlformats.org/drawingml/2006/main">
              <a:ext uri="{FF2B5EF4-FFF2-40B4-BE49-F238E27FC236}">
                <a16:creationId xmlns:a16="http://schemas.microsoft.com/office/drawing/2014/main" id="{720B0E46-3006-40B7-96AB-38EE2BCAD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1066800"/>
            <a:ext cx="4095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材料可信吗</a:t>
            </a:r>
          </a:p>
        </p:txBody>
      </p:sp>
      <p:sp>
        <p:nvSpPr>
          <p:cNvPr id="12" name="visual-2-6-p02-r-0">
            <a:extLst xmlns:a="http://schemas.openxmlformats.org/drawingml/2006/main">
              <a:ext uri="{FF2B5EF4-FFF2-40B4-BE49-F238E27FC236}">
                <a16:creationId xmlns:a16="http://schemas.microsoft.com/office/drawing/2014/main" id="{FBF624F1-7335-44C6-9062-3447FD06C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809750"/>
            <a:ext cx="3886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?  论文真实存在？</a:t>
            </a:r>
          </a:p>
        </p:txBody>
      </p:sp>
      <p:sp>
        <p:nvSpPr>
          <p:cNvPr id="13" name="visual-2-7-p02-r-1">
            <a:extLst xmlns:a="http://schemas.openxmlformats.org/drawingml/2006/main">
              <a:ext uri="{FF2B5EF4-FFF2-40B4-BE49-F238E27FC236}">
                <a16:creationId xmlns:a16="http://schemas.microsoft.com/office/drawing/2014/main" id="{76C78A8D-1BA9-4AD2-9609-518338FBB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724150"/>
            <a:ext cx="3886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?  题名 / 作者 / DOI 一致？</a:t>
            </a:r>
          </a:p>
        </p:txBody>
      </p:sp>
      <p:sp>
        <p:nvSpPr>
          <p:cNvPr id="14" name="visual-2-8-p02-r-2">
            <a:extLst xmlns:a="http://schemas.openxmlformats.org/drawingml/2006/main">
              <a:ext uri="{FF2B5EF4-FFF2-40B4-BE49-F238E27FC236}">
                <a16:creationId xmlns:a16="http://schemas.microsoft.com/office/drawing/2014/main" id="{68BC8DBF-577B-4ED3-8DD1-F8CE0A38E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638550"/>
            <a:ext cx="3886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?  任务和限定条件是什么？</a:t>
            </a:r>
          </a:p>
        </p:txBody>
      </p:sp>
      <p:sp>
        <p:nvSpPr>
          <p:cNvPr id="15" name="visual-2-9-p02-bottom">
            <a:extLst xmlns:a="http://schemas.openxmlformats.org/drawingml/2006/main">
              <a:ext uri="{FF2B5EF4-FFF2-40B4-BE49-F238E27FC236}">
                <a16:creationId xmlns:a16="http://schemas.microsoft.com/office/drawing/2014/main" id="{5E871397-98EE-49BF-8CCE-8655FA7F1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972050"/>
            <a:ext cx="857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权限和披露说明 AI 做过什么；来源核验决定材料能不能信。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本课目标与课堂产出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  <a:endParaRPr/>
          </a:p>
        </p:txBody>
      </p:sp>
      <p:sp>
        <p:nvSpPr>
          <p:cNvPr id="6" name="visual-3-0-p03-n-0">
            <a:extLst xmlns:a="http://schemas.openxmlformats.org/drawingml/2006/main">
              <a:ext uri="{FF2B5EF4-FFF2-40B4-BE49-F238E27FC236}">
                <a16:creationId xmlns:a16="http://schemas.microsoft.com/office/drawing/2014/main" id="{D4B045C1-1BE3-48F4-A207-585B86319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181100"/>
            <a:ext cx="6477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visual-3-1-p03-g-0">
            <a:extLst xmlns:a="http://schemas.openxmlformats.org/drawingml/2006/main">
              <a:ext uri="{FF2B5EF4-FFF2-40B4-BE49-F238E27FC236}">
                <a16:creationId xmlns:a16="http://schemas.microsoft.com/office/drawing/2014/main" id="{6142CA10-0DC7-4216-9BCE-72BDB71F4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1181100"/>
            <a:ext cx="5619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生成关键词、检索式和筛选条件</a:t>
            </a:r>
          </a:p>
        </p:txBody>
      </p:sp>
      <p:sp>
        <p:nvSpPr>
          <p:cNvPr id="8" name="visual-3-2-p03-n-1">
            <a:extLst xmlns:a="http://schemas.openxmlformats.org/drawingml/2006/main">
              <a:ext uri="{FF2B5EF4-FFF2-40B4-BE49-F238E27FC236}">
                <a16:creationId xmlns:a16="http://schemas.microsoft.com/office/drawing/2014/main" id="{D104C2DB-9206-4F44-A344-36C819B38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57400"/>
            <a:ext cx="6477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9" name="visual-3-3-p03-g-1">
            <a:extLst xmlns:a="http://schemas.openxmlformats.org/drawingml/2006/main">
              <a:ext uri="{FF2B5EF4-FFF2-40B4-BE49-F238E27FC236}">
                <a16:creationId xmlns:a16="http://schemas.microsoft.com/office/drawing/2014/main" id="{EBD70C55-0391-4417-9AE9-5FF3ADDD0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057400"/>
            <a:ext cx="5619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区分四种证据角色</a:t>
            </a:r>
          </a:p>
        </p:txBody>
      </p:sp>
      <p:sp>
        <p:nvSpPr>
          <p:cNvPr id="10" name="visual-3-4-p03-n-2">
            <a:extLst xmlns:a="http://schemas.openxmlformats.org/drawingml/2006/main">
              <a:ext uri="{FF2B5EF4-FFF2-40B4-BE49-F238E27FC236}">
                <a16:creationId xmlns:a16="http://schemas.microsoft.com/office/drawing/2014/main" id="{C03A8056-29FE-4FED-BC8F-8497FC95A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33700"/>
            <a:ext cx="6477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11" name="visual-3-5-p03-g-2">
            <a:extLst xmlns:a="http://schemas.openxmlformats.org/drawingml/2006/main">
              <a:ext uri="{FF2B5EF4-FFF2-40B4-BE49-F238E27FC236}">
                <a16:creationId xmlns:a16="http://schemas.microsoft.com/office/drawing/2014/main" id="{547EB78C-9E36-4861-AE22-F8667CE14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933700"/>
            <a:ext cx="5619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执行回原文核验</a:t>
            </a:r>
          </a:p>
        </p:txBody>
      </p:sp>
      <p:sp>
        <p:nvSpPr>
          <p:cNvPr id="12" name="visual-3-6-p03-n-3">
            <a:extLst xmlns:a="http://schemas.openxmlformats.org/drawingml/2006/main">
              <a:ext uri="{FF2B5EF4-FFF2-40B4-BE49-F238E27FC236}">
                <a16:creationId xmlns:a16="http://schemas.microsoft.com/office/drawing/2014/main" id="{BE88EF37-8168-4632-BFA0-CC2390B0B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10000"/>
            <a:ext cx="6477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13" name="visual-3-7-p03-g-3">
            <a:extLst xmlns:a="http://schemas.openxmlformats.org/drawingml/2006/main">
              <a:ext uri="{FF2B5EF4-FFF2-40B4-BE49-F238E27FC236}">
                <a16:creationId xmlns:a16="http://schemas.microsoft.com/office/drawing/2014/main" id="{C2B38C16-FDD4-49B7-976B-FC1B06CE7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3810000"/>
            <a:ext cx="5619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建立候选文献表第一版</a:t>
            </a:r>
          </a:p>
        </p:txBody>
      </p:sp>
      <p:sp>
        <p:nvSpPr>
          <p:cNvPr id="14" name="visual-3-8-p03-output">
            <a:extLst xmlns:a="http://schemas.openxmlformats.org/drawingml/2006/main">
              <a:ext uri="{FF2B5EF4-FFF2-40B4-BE49-F238E27FC236}">
                <a16:creationId xmlns:a16="http://schemas.microsoft.com/office/drawing/2014/main" id="{344283B9-EADA-4851-B6D5-8C8A5921F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200150"/>
            <a:ext cx="3143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课堂产出</a:t>
            </a:r>
          </a:p>
        </p:txBody>
      </p:sp>
      <p:sp>
        <p:nvSpPr>
          <p:cNvPr id="15" name="visual-3-9-p03-output-body">
            <a:extLst xmlns:a="http://schemas.openxmlformats.org/drawingml/2006/main">
              <a:ext uri="{FF2B5EF4-FFF2-40B4-BE49-F238E27FC236}">
                <a16:creationId xmlns:a16="http://schemas.microsoft.com/office/drawing/2014/main" id="{5327467E-DA70-4A3C-9601-4DB21FAB9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1790700"/>
            <a:ext cx="33337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1 条检索记录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+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2 条来源审计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+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1 条 verified / caveat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+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1 条 AI 使用记录</a:t>
            </a:r>
          </a:p>
        </p:txBody>
      </p:sp>
      <p:sp>
        <p:nvSpPr>
          <p:cNvPr id="16" name="visual-3-10-p03-bottom">
            <a:extLst xmlns:a="http://schemas.openxmlformats.org/drawingml/2006/main">
              <a:ext uri="{FF2B5EF4-FFF2-40B4-BE49-F238E27FC236}">
                <a16:creationId xmlns:a16="http://schemas.microsoft.com/office/drawing/2014/main" id="{936D0EF6-191E-473F-87A5-981713094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5029200"/>
            <a:ext cx="666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本课不正式提交，第 6 课问题门统一检查。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搜得多不等于证据充分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  <a:endParaRPr/>
          </a:p>
        </p:txBody>
      </p:sp>
      <p:sp>
        <p:nvSpPr>
          <p:cNvPr id="6" name="visual-4-0-p04-bad">
            <a:extLst xmlns:a="http://schemas.openxmlformats.org/drawingml/2006/main">
              <a:ext uri="{FF2B5EF4-FFF2-40B4-BE49-F238E27FC236}">
                <a16:creationId xmlns:a16="http://schemas.microsoft.com/office/drawing/2014/main" id="{FBC8D9B5-DFC7-4CA2-8404-43279D90F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85900"/>
            <a:ext cx="42862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50 篇论文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全部标成“主证据”</a:t>
            </a:r>
          </a:p>
        </p:txBody>
      </p:sp>
      <p:sp>
        <p:nvSpPr>
          <p:cNvPr id="7" name="visual-4-1-p04-x">
            <a:extLst xmlns:a="http://schemas.openxmlformats.org/drawingml/2006/main">
              <a:ext uri="{FF2B5EF4-FFF2-40B4-BE49-F238E27FC236}">
                <a16:creationId xmlns:a16="http://schemas.microsoft.com/office/drawing/2014/main" id="{E82EB9C2-AFFB-4E72-8832-55A12DC7E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114550"/>
            <a:ext cx="14097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≠</a:t>
            </a:r>
          </a:p>
        </p:txBody>
      </p:sp>
      <p:sp>
        <p:nvSpPr>
          <p:cNvPr id="8" name="visual-4-2-p04-good">
            <a:extLst xmlns:a="http://schemas.openxmlformats.org/drawingml/2006/main">
              <a:ext uri="{FF2B5EF4-FFF2-40B4-BE49-F238E27FC236}">
                <a16:creationId xmlns:a16="http://schemas.microsoft.com/office/drawing/2014/main" id="{5377B312-F0BB-45BD-89BF-13D71868B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485900"/>
            <a:ext cx="42862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证据充分</a:t>
            </a:r>
          </a:p>
        </p:txBody>
      </p:sp>
      <p:sp>
        <p:nvSpPr>
          <p:cNvPr id="9" name="visual-4-3-p04-errors">
            <a:extLst xmlns:a="http://schemas.openxmlformats.org/drawingml/2006/main">
              <a:ext uri="{FF2B5EF4-FFF2-40B4-BE49-F238E27FC236}">
                <a16:creationId xmlns:a16="http://schemas.microsoft.com/office/drawing/2014/main" id="{476617AB-B1C7-4232-9556-F90B143A7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905250"/>
            <a:ext cx="9334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直接复制 AI 引文　｜　悄悄排除反例　｜　不记录检索式</a:t>
            </a:r>
          </a:p>
        </p:txBody>
      </p:sp>
      <p:sp>
        <p:nvSpPr>
          <p:cNvPr id="10" name="visual-4-4-p04-bottom">
            <a:extLst xmlns:a="http://schemas.openxmlformats.org/drawingml/2006/main">
              <a:ext uri="{FF2B5EF4-FFF2-40B4-BE49-F238E27FC236}">
                <a16:creationId xmlns:a16="http://schemas.microsoft.com/office/drawing/2014/main" id="{690B0025-3694-41B3-A97B-FF59C6D68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010150"/>
            <a:ext cx="7239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充分性来自角色清晰与实质独立，不来自数量。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外部输入不止论文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E5B3003-2C54-13C6-9832-7637201064DE}" type="slidenum">
              <a:t>5</a:t>
            </a:fld>
            <a:endParaRPr/>
          </a:p>
        </p:txBody>
      </p:sp>
      <p:sp>
        <p:nvSpPr>
          <p:cNvPr id="6" name="visual-5-0-p05-h-0">
            <a:extLst xmlns:a="http://schemas.openxmlformats.org/drawingml/2006/main">
              <a:ext uri="{FF2B5EF4-FFF2-40B4-BE49-F238E27FC236}">
                <a16:creationId xmlns:a16="http://schemas.microsoft.com/office/drawing/2014/main" id="{1EF95297-F056-4DB5-BDE3-DF0A74605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009650"/>
            <a:ext cx="3143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类型</a:t>
            </a:r>
          </a:p>
        </p:txBody>
      </p:sp>
      <p:sp>
        <p:nvSpPr>
          <p:cNvPr id="7" name="visual-5-1-p05-h-1">
            <a:extLst xmlns:a="http://schemas.openxmlformats.org/drawingml/2006/main">
              <a:ext uri="{FF2B5EF4-FFF2-40B4-BE49-F238E27FC236}">
                <a16:creationId xmlns:a16="http://schemas.microsoft.com/office/drawing/2014/main" id="{75D7B6DE-6D0B-43FA-A224-4AC093151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009650"/>
            <a:ext cx="4000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例子</a:t>
            </a:r>
          </a:p>
        </p:txBody>
      </p:sp>
      <p:sp>
        <p:nvSpPr>
          <p:cNvPr id="8" name="visual-5-2-p05-h-2">
            <a:extLst xmlns:a="http://schemas.openxmlformats.org/drawingml/2006/main">
              <a:ext uri="{FF2B5EF4-FFF2-40B4-BE49-F238E27FC236}">
                <a16:creationId xmlns:a16="http://schemas.microsoft.com/office/drawing/2014/main" id="{0730CD37-1DFA-4C5B-8E03-9FA5804C1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009650"/>
            <a:ext cx="4286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用途／核验重点</a:t>
            </a:r>
          </a:p>
        </p:txBody>
      </p:sp>
      <p:sp>
        <p:nvSpPr>
          <p:cNvPr id="9" name="visual-5-3-p05-r0-0">
            <a:extLst xmlns:a="http://schemas.openxmlformats.org/drawingml/2006/main">
              <a:ext uri="{FF2B5EF4-FFF2-40B4-BE49-F238E27FC236}">
                <a16:creationId xmlns:a16="http://schemas.microsoft.com/office/drawing/2014/main" id="{15853241-AB26-45E4-B149-EF05BC236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485900"/>
            <a:ext cx="3143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同行评议论文</a:t>
            </a:r>
          </a:p>
        </p:txBody>
      </p:sp>
      <p:sp>
        <p:nvSpPr>
          <p:cNvPr id="10" name="visual-5-4-p05-r0-1">
            <a:extLst xmlns:a="http://schemas.openxmlformats.org/drawingml/2006/main">
              <a:ext uri="{FF2B5EF4-FFF2-40B4-BE49-F238E27FC236}">
                <a16:creationId xmlns:a16="http://schemas.microsoft.com/office/drawing/2014/main" id="{610B9FBD-5F0D-4E66-B9C7-0CB1F5839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485900"/>
            <a:ext cx="4000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期刊、会议</a:t>
            </a:r>
          </a:p>
        </p:txBody>
      </p:sp>
      <p:sp>
        <p:nvSpPr>
          <p:cNvPr id="11" name="visual-5-5-p05-r0-2">
            <a:extLst xmlns:a="http://schemas.openxmlformats.org/drawingml/2006/main">
              <a:ext uri="{FF2B5EF4-FFF2-40B4-BE49-F238E27FC236}">
                <a16:creationId xmlns:a16="http://schemas.microsoft.com/office/drawing/2014/main" id="{44ADD562-CE96-4D62-AC3B-05F5C5145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485900"/>
            <a:ext cx="428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任务、设置、主张、限定</a:t>
            </a:r>
          </a:p>
        </p:txBody>
      </p:sp>
      <p:sp>
        <p:nvSpPr>
          <p:cNvPr id="12" name="visual-5-6-p05-r1-0">
            <a:extLst xmlns:a="http://schemas.openxmlformats.org/drawingml/2006/main">
              <a:ext uri="{FF2B5EF4-FFF2-40B4-BE49-F238E27FC236}">
                <a16:creationId xmlns:a16="http://schemas.microsoft.com/office/drawing/2014/main" id="{9C532338-AFEF-4E9E-B791-5155A296E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038350"/>
            <a:ext cx="3143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经典书籍选章</a:t>
            </a:r>
          </a:p>
        </p:txBody>
      </p:sp>
      <p:sp>
        <p:nvSpPr>
          <p:cNvPr id="13" name="visual-5-7-p05-r1-1">
            <a:extLst xmlns:a="http://schemas.openxmlformats.org/drawingml/2006/main">
              <a:ext uri="{FF2B5EF4-FFF2-40B4-BE49-F238E27FC236}">
                <a16:creationId xmlns:a16="http://schemas.microsoft.com/office/drawing/2014/main" id="{3D8870ED-EE29-4A6A-AC86-799C569D5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038350"/>
            <a:ext cx="4000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方法论、统计</a:t>
            </a:r>
          </a:p>
        </p:txBody>
      </p:sp>
      <p:sp>
        <p:nvSpPr>
          <p:cNvPr id="14" name="visual-5-8-p05-r1-2">
            <a:extLst xmlns:a="http://schemas.openxmlformats.org/drawingml/2006/main">
              <a:ext uri="{FF2B5EF4-FFF2-40B4-BE49-F238E27FC236}">
                <a16:creationId xmlns:a16="http://schemas.microsoft.com/office/drawing/2014/main" id="{E35354B3-65EC-4D03-BAFF-03D86A728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038350"/>
            <a:ext cx="428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版本、章节、适用范围</a:t>
            </a:r>
          </a:p>
        </p:txBody>
      </p:sp>
      <p:sp>
        <p:nvSpPr>
          <p:cNvPr id="15" name="visual-5-9-p05-r2-0">
            <a:extLst xmlns:a="http://schemas.openxmlformats.org/drawingml/2006/main">
              <a:ext uri="{FF2B5EF4-FFF2-40B4-BE49-F238E27FC236}">
                <a16:creationId xmlns:a16="http://schemas.microsoft.com/office/drawing/2014/main" id="{E4A3F187-EC32-4EFE-A485-B6A2295B8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590800"/>
            <a:ext cx="3143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正式规范</a:t>
            </a:r>
          </a:p>
        </p:txBody>
      </p:sp>
      <p:sp>
        <p:nvSpPr>
          <p:cNvPr id="16" name="visual-5-10-p05-r2-1">
            <a:extLst xmlns:a="http://schemas.openxmlformats.org/drawingml/2006/main">
              <a:ext uri="{FF2B5EF4-FFF2-40B4-BE49-F238E27FC236}">
                <a16:creationId xmlns:a16="http://schemas.microsoft.com/office/drawing/2014/main" id="{BD51682A-A783-416D-B7AB-8E8A97D8A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590800"/>
            <a:ext cx="4000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PRISMA、ACM Badging</a:t>
            </a:r>
          </a:p>
        </p:txBody>
      </p:sp>
      <p:sp>
        <p:nvSpPr>
          <p:cNvPr id="17" name="visual-5-11-p05-r2-2">
            <a:extLst xmlns:a="http://schemas.openxmlformats.org/drawingml/2006/main">
              <a:ext uri="{FF2B5EF4-FFF2-40B4-BE49-F238E27FC236}">
                <a16:creationId xmlns:a16="http://schemas.microsoft.com/office/drawing/2014/main" id="{9BD49B77-4E51-49AA-BCA2-5BCA82BB1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590800"/>
            <a:ext cx="428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发布机构、版本、对象</a:t>
            </a:r>
          </a:p>
        </p:txBody>
      </p:sp>
      <p:sp>
        <p:nvSpPr>
          <p:cNvPr id="18" name="visual-5-12-p05-r3-0">
            <a:extLst xmlns:a="http://schemas.openxmlformats.org/drawingml/2006/main">
              <a:ext uri="{FF2B5EF4-FFF2-40B4-BE49-F238E27FC236}">
                <a16:creationId xmlns:a16="http://schemas.microsoft.com/office/drawing/2014/main" id="{31CE9BF5-AB38-403E-B626-F59903649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143250"/>
            <a:ext cx="3143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代码与数据集</a:t>
            </a:r>
          </a:p>
        </p:txBody>
      </p:sp>
      <p:sp>
        <p:nvSpPr>
          <p:cNvPr id="19" name="visual-5-13-p05-r3-1">
            <a:extLst xmlns:a="http://schemas.openxmlformats.org/drawingml/2006/main">
              <a:ext uri="{FF2B5EF4-FFF2-40B4-BE49-F238E27FC236}">
                <a16:creationId xmlns:a16="http://schemas.microsoft.com/office/drawing/2014/main" id="{5F757B97-B923-4896-9AA8-57DD6E4CA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143250"/>
            <a:ext cx="4000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GitHub、数据卡片</a:t>
            </a:r>
          </a:p>
        </p:txBody>
      </p:sp>
      <p:sp>
        <p:nvSpPr>
          <p:cNvPr id="20" name="visual-5-14-p05-r3-2">
            <a:extLst xmlns:a="http://schemas.openxmlformats.org/drawingml/2006/main">
              <a:ext uri="{FF2B5EF4-FFF2-40B4-BE49-F238E27FC236}">
                <a16:creationId xmlns:a16="http://schemas.microsoft.com/office/drawing/2014/main" id="{5452DA71-D561-476E-9348-63375FB10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143250"/>
            <a:ext cx="428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身份、commit、许可、版本</a:t>
            </a:r>
          </a:p>
        </p:txBody>
      </p:sp>
      <p:sp>
        <p:nvSpPr>
          <p:cNvPr id="21" name="visual-5-15-p05-r4-0">
            <a:extLst xmlns:a="http://schemas.openxmlformats.org/drawingml/2006/main">
              <a:ext uri="{FF2B5EF4-FFF2-40B4-BE49-F238E27FC236}">
                <a16:creationId xmlns:a16="http://schemas.microsoft.com/office/drawing/2014/main" id="{51B7FE9D-C584-4C4F-A2A2-06654834D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695700"/>
            <a:ext cx="3143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官方文档</a:t>
            </a:r>
          </a:p>
        </p:txBody>
      </p:sp>
      <p:sp>
        <p:nvSpPr>
          <p:cNvPr id="22" name="visual-5-16-p05-r4-1">
            <a:extLst xmlns:a="http://schemas.openxmlformats.org/drawingml/2006/main">
              <a:ext uri="{FF2B5EF4-FFF2-40B4-BE49-F238E27FC236}">
                <a16:creationId xmlns:a16="http://schemas.microsoft.com/office/drawing/2014/main" id="{E8B3B247-03E5-4638-9B2B-D0D0C870B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695700"/>
            <a:ext cx="4000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协议、API</a:t>
            </a:r>
          </a:p>
        </p:txBody>
      </p:sp>
      <p:sp>
        <p:nvSpPr>
          <p:cNvPr id="23" name="visual-5-17-p05-r4-2">
            <a:extLst xmlns:a="http://schemas.openxmlformats.org/drawingml/2006/main">
              <a:ext uri="{FF2B5EF4-FFF2-40B4-BE49-F238E27FC236}">
                <a16:creationId xmlns:a16="http://schemas.microsoft.com/office/drawing/2014/main" id="{0E438CF9-9E6B-4551-B280-9F0501419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695700"/>
            <a:ext cx="428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官方身份、版本、时效</a:t>
            </a:r>
          </a:p>
        </p:txBody>
      </p:sp>
      <p:sp>
        <p:nvSpPr>
          <p:cNvPr id="24" name="visual-5-18-p05-r5-0">
            <a:extLst xmlns:a="http://schemas.openxmlformats.org/drawingml/2006/main">
              <a:ext uri="{FF2B5EF4-FFF2-40B4-BE49-F238E27FC236}">
                <a16:creationId xmlns:a16="http://schemas.microsoft.com/office/drawing/2014/main" id="{5441C805-24BE-4020-B9BE-498913DED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248150"/>
            <a:ext cx="3143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工程文章、issue</a:t>
            </a:r>
          </a:p>
        </p:txBody>
      </p:sp>
      <p:sp>
        <p:nvSpPr>
          <p:cNvPr id="25" name="visual-5-19-p05-r5-1">
            <a:extLst xmlns:a="http://schemas.openxmlformats.org/drawingml/2006/main">
              <a:ext uri="{FF2B5EF4-FFF2-40B4-BE49-F238E27FC236}">
                <a16:creationId xmlns:a16="http://schemas.microsoft.com/office/drawing/2014/main" id="{7EE4873C-A07B-4070-B31E-17CD6165D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248150"/>
            <a:ext cx="4000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厂商文、失败记录</a:t>
            </a:r>
          </a:p>
        </p:txBody>
      </p:sp>
      <p:sp>
        <p:nvSpPr>
          <p:cNvPr id="26" name="visual-5-20-p05-r5-2">
            <a:extLst xmlns:a="http://schemas.openxmlformats.org/drawingml/2006/main">
              <a:ext uri="{FF2B5EF4-FFF2-40B4-BE49-F238E27FC236}">
                <a16:creationId xmlns:a16="http://schemas.microsoft.com/office/drawing/2014/main" id="{C6A39151-E94C-4DEA-B5B6-529461F0A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248150"/>
            <a:ext cx="428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主体、上下文、可追溯性</a:t>
            </a:r>
          </a:p>
        </p:txBody>
      </p:sp>
      <p:sp>
        <p:nvSpPr>
          <p:cNvPr id="27" name="visual-5-21-p05-r6-0">
            <a:extLst xmlns:a="http://schemas.openxmlformats.org/drawingml/2006/main">
              <a:ext uri="{FF2B5EF4-FFF2-40B4-BE49-F238E27FC236}">
                <a16:creationId xmlns:a16="http://schemas.microsoft.com/office/drawing/2014/main" id="{C90D4500-D9D4-45C7-B873-5FA633F84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800600"/>
            <a:ext cx="3143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AI 搜索结果</a:t>
            </a:r>
          </a:p>
        </p:txBody>
      </p:sp>
      <p:sp>
        <p:nvSpPr>
          <p:cNvPr id="28" name="visual-5-22-p05-r6-1">
            <a:extLst xmlns:a="http://schemas.openxmlformats.org/drawingml/2006/main">
              <a:ext uri="{FF2B5EF4-FFF2-40B4-BE49-F238E27FC236}">
                <a16:creationId xmlns:a16="http://schemas.microsoft.com/office/drawing/2014/main" id="{107BD832-A806-4FF0-8258-17C4A3282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800600"/>
            <a:ext cx="4000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模型候选列表</a:t>
            </a:r>
          </a:p>
        </p:txBody>
      </p:sp>
      <p:sp>
        <p:nvSpPr>
          <p:cNvPr id="29" name="visual-5-23-p05-r6-2">
            <a:extLst xmlns:a="http://schemas.openxmlformats.org/drawingml/2006/main">
              <a:ext uri="{FF2B5EF4-FFF2-40B4-BE49-F238E27FC236}">
                <a16:creationId xmlns:a16="http://schemas.microsoft.com/office/drawing/2014/main" id="{4A353386-B0E7-48B8-AEFB-29AD05112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800600"/>
            <a:ext cx="428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仅作发现线索，回正式来源</a:t>
            </a:r>
          </a:p>
        </p:txBody>
      </p:sp>
      <p:sp>
        <p:nvSpPr>
          <p:cNvPr id="30" name="visual-5-24-p05-bottom">
            <a:extLst xmlns:a="http://schemas.openxmlformats.org/drawingml/2006/main">
              <a:ext uri="{FF2B5EF4-FFF2-40B4-BE49-F238E27FC236}">
                <a16:creationId xmlns:a16="http://schemas.microsoft.com/office/drawing/2014/main" id="{8598A6D7-8084-4335-9B17-C28F9ADCA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429250"/>
            <a:ext cx="990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来源类型不自动决定可信度或证据角色；角色要相对于当前问题或拟用主张判断。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先写问题初稿，再搜材料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  <a:endParaRPr/>
          </a:p>
        </p:txBody>
      </p:sp>
      <p:sp>
        <p:nvSpPr>
          <p:cNvPr id="6" name="visual-6-0-p06-topic">
            <a:extLst xmlns:a="http://schemas.openxmlformats.org/drawingml/2006/main">
              <a:ext uri="{FF2B5EF4-FFF2-40B4-BE49-F238E27FC236}">
                <a16:creationId xmlns:a16="http://schemas.microsoft.com/office/drawing/2014/main" id="{89D03AB4-C103-4155-8C91-68DCAD3F4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695450"/>
            <a:ext cx="257175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宽泛主题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AI 辅助论文阅读</a:t>
            </a:r>
          </a:p>
        </p:txBody>
      </p:sp>
      <p:sp>
        <p:nvSpPr>
          <p:cNvPr id="7" name="visual-6-1-p06-a1">
            <a:extLst xmlns:a="http://schemas.openxmlformats.org/drawingml/2006/main">
              <a:ext uri="{FF2B5EF4-FFF2-40B4-BE49-F238E27FC236}">
                <a16:creationId xmlns:a16="http://schemas.microsoft.com/office/drawing/2014/main" id="{4897E90A-6A38-4DBD-970F-4807515D6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247900"/>
            <a:ext cx="495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8" name="visual-6-2-p06-question">
            <a:extLst xmlns:a="http://schemas.openxmlformats.org/drawingml/2006/main">
              <a:ext uri="{FF2B5EF4-FFF2-40B4-BE49-F238E27FC236}">
                <a16:creationId xmlns:a16="http://schemas.microsoft.com/office/drawing/2014/main" id="{E05FF497-00A4-4CF4-8E81-9D568A8BE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1314450"/>
            <a:ext cx="4762500" cy="2324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可检索的问题初稿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在逐条核验引用的计算机论文阅读任务中，结构化阅读卡是否降低 AI 摘要的限定条件遗漏率？</a:t>
            </a:r>
          </a:p>
        </p:txBody>
      </p:sp>
      <p:sp>
        <p:nvSpPr>
          <p:cNvPr id="9" name="visual-6-3-p06-a2">
            <a:extLst xmlns:a="http://schemas.openxmlformats.org/drawingml/2006/main">
              <a:ext uri="{FF2B5EF4-FFF2-40B4-BE49-F238E27FC236}">
                <a16:creationId xmlns:a16="http://schemas.microsoft.com/office/drawing/2014/main" id="{27F5A601-1CAF-4112-876E-E96FC2688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247900"/>
            <a:ext cx="495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0" name="visual-6-4-p06-words">
            <a:extLst xmlns:a="http://schemas.openxmlformats.org/drawingml/2006/main">
              <a:ext uri="{FF2B5EF4-FFF2-40B4-BE49-F238E27FC236}">
                <a16:creationId xmlns:a16="http://schemas.microsoft.com/office/drawing/2014/main" id="{E22E155D-BA91-4424-8944-428C25ACF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1485900"/>
            <a:ext cx="2324100" cy="198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五个关键词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结构化阅读卡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AI 摘要｜限定条件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遗漏率｜引用核验</a:t>
            </a:r>
          </a:p>
        </p:txBody>
      </p:sp>
      <p:sp>
        <p:nvSpPr>
          <p:cNvPr id="11" name="visual-6-5-p06-expand">
            <a:extLst xmlns:a="http://schemas.openxmlformats.org/drawingml/2006/main">
              <a:ext uri="{FF2B5EF4-FFF2-40B4-BE49-F238E27FC236}">
                <a16:creationId xmlns:a16="http://schemas.microsoft.com/office/drawing/2014/main" id="{25D6DCEC-0189-4357-9B0E-57665C440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4438650"/>
            <a:ext cx="88773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每个词再扩展：同义词　｜　上位词　｜　下位词　→　检索词网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检索式可被他人复盘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  <a:endParaRPr/>
          </a:p>
        </p:txBody>
      </p:sp>
      <p:sp>
        <p:nvSpPr>
          <p:cNvPr id="6" name="visual-7-0-p07-code">
            <a:extLst xmlns:a="http://schemas.openxmlformats.org/drawingml/2006/main">
              <a:ext uri="{FF2B5EF4-FFF2-40B4-BE49-F238E27FC236}">
                <a16:creationId xmlns:a16="http://schemas.microsoft.com/office/drawing/2014/main" id="{73406BC7-C593-48DA-9B63-2D51C2C61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123950"/>
            <a:ext cx="107442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("reading card" OR "reading template" OR "structured reading")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AND ("AI summary" OR "LLM summary" OR "AI-generated abstract")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AND ("limitation" OR "scope" OR "boundary")</a:t>
            </a:r>
          </a:p>
        </p:txBody>
      </p:sp>
      <p:sp>
        <p:nvSpPr>
          <p:cNvPr id="7" name="visual-7-1-p07-tag-0">
            <a:extLst xmlns:a="http://schemas.openxmlformats.org/drawingml/2006/main">
              <a:ext uri="{FF2B5EF4-FFF2-40B4-BE49-F238E27FC236}">
                <a16:creationId xmlns:a16="http://schemas.microsoft.com/office/drawing/2014/main" id="{22F9681C-76BD-47D5-9628-7334F6E8F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19450"/>
            <a:ext cx="1905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布尔算子</a:t>
            </a:r>
          </a:p>
        </p:txBody>
      </p:sp>
      <p:sp>
        <p:nvSpPr>
          <p:cNvPr id="8" name="visual-7-2-p07-tag-1">
            <a:extLst xmlns:a="http://schemas.openxmlformats.org/drawingml/2006/main">
              <a:ext uri="{FF2B5EF4-FFF2-40B4-BE49-F238E27FC236}">
                <a16:creationId xmlns:a16="http://schemas.microsoft.com/office/drawing/2014/main" id="{96D45946-C694-4F00-AF69-51FB780A3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219450"/>
            <a:ext cx="1905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字段限定</a:t>
            </a:r>
          </a:p>
        </p:txBody>
      </p:sp>
      <p:sp>
        <p:nvSpPr>
          <p:cNvPr id="9" name="visual-7-3-p07-tag-2">
            <a:extLst xmlns:a="http://schemas.openxmlformats.org/drawingml/2006/main">
              <a:ext uri="{FF2B5EF4-FFF2-40B4-BE49-F238E27FC236}">
                <a16:creationId xmlns:a16="http://schemas.microsoft.com/office/drawing/2014/main" id="{EFBE3D93-ACA7-449D-BB9E-367CEA368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219450"/>
            <a:ext cx="1905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截断通配</a:t>
            </a:r>
          </a:p>
        </p:txBody>
      </p:sp>
      <p:sp>
        <p:nvSpPr>
          <p:cNvPr id="10" name="visual-7-4-p07-tag-3">
            <a:extLst xmlns:a="http://schemas.openxmlformats.org/drawingml/2006/main">
              <a:ext uri="{FF2B5EF4-FFF2-40B4-BE49-F238E27FC236}">
                <a16:creationId xmlns:a16="http://schemas.microsoft.com/office/drawing/2014/main" id="{7C12AE42-7B18-4CD8-9851-6C421558C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219450"/>
            <a:ext cx="1905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短语</a:t>
            </a:r>
          </a:p>
        </p:txBody>
      </p:sp>
      <p:sp>
        <p:nvSpPr>
          <p:cNvPr id="11" name="visual-7-5-p07-tag-4">
            <a:extLst xmlns:a="http://schemas.openxmlformats.org/drawingml/2006/main">
              <a:ext uri="{FF2B5EF4-FFF2-40B4-BE49-F238E27FC236}">
                <a16:creationId xmlns:a16="http://schemas.microsoft.com/office/drawing/2014/main" id="{E4299AF7-3403-4B9C-B137-B757DAF2B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3219450"/>
            <a:ext cx="1905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时间 / 类型</a:t>
            </a:r>
          </a:p>
        </p:txBody>
      </p:sp>
      <p:sp>
        <p:nvSpPr>
          <p:cNvPr id="12" name="visual-7-6-p07-record">
            <a:extLst xmlns:a="http://schemas.openxmlformats.org/drawingml/2006/main">
              <a:ext uri="{FF2B5EF4-FFF2-40B4-BE49-F238E27FC236}">
                <a16:creationId xmlns:a16="http://schemas.microsoft.com/office/drawing/2014/main" id="{55585895-9694-417B-872A-4F8560DFA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248150"/>
            <a:ext cx="1009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检索记录：库｜检索式｜日期｜命中数</a:t>
            </a:r>
          </a:p>
          <a:p xmlns:a="http://schemas.openxmlformats.org/drawingml/2006/main">
            <a:pPr algn="ctr">
              <a:lnSpc>
                <a:spcPct val="112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纳入 / 排除｜筛选数</a:t>
            </a:r>
          </a:p>
        </p:txBody>
      </p:sp>
      <p:sp>
        <p:nvSpPr>
          <p:cNvPr id="13" name="visual-7-7-p07-bottom">
            <a:extLst xmlns:a="http://schemas.openxmlformats.org/drawingml/2006/main">
              <a:ext uri="{FF2B5EF4-FFF2-40B4-BE49-F238E27FC236}">
                <a16:creationId xmlns:a16="http://schemas.microsoft.com/office/drawing/2014/main" id="{70BBF04A-6C47-4846-B7C7-6E191A92C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5238750"/>
            <a:ext cx="438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别人能复盘，才算检索方法。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纳入与排除条件检索前先写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  <a:endParaRPr/>
          </a:p>
        </p:txBody>
      </p:sp>
      <p:sp>
        <p:nvSpPr>
          <p:cNvPr id="6" name="visual-8-0-p08-a-0">
            <a:extLst xmlns:a="http://schemas.openxmlformats.org/drawingml/2006/main">
              <a:ext uri="{FF2B5EF4-FFF2-40B4-BE49-F238E27FC236}">
                <a16:creationId xmlns:a16="http://schemas.microsoft.com/office/drawing/2014/main" id="{67B2D611-737A-4BD0-8E26-487A0A505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104900"/>
            <a:ext cx="2476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时间范围</a:t>
            </a:r>
          </a:p>
        </p:txBody>
      </p:sp>
      <p:sp>
        <p:nvSpPr>
          <p:cNvPr id="7" name="visual-8-1-p08-arrow-0">
            <a:extLst xmlns:a="http://schemas.openxmlformats.org/drawingml/2006/main">
              <a:ext uri="{FF2B5EF4-FFF2-40B4-BE49-F238E27FC236}">
                <a16:creationId xmlns:a16="http://schemas.microsoft.com/office/drawing/2014/main" id="{DE93A08A-122C-41F8-A0FF-0748AF981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181100"/>
            <a:ext cx="495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8" name="visual-8-2-p08-b-0">
            <a:extLst xmlns:a="http://schemas.openxmlformats.org/drawingml/2006/main">
              <a:ext uri="{FF2B5EF4-FFF2-40B4-BE49-F238E27FC236}">
                <a16:creationId xmlns:a16="http://schemas.microsoft.com/office/drawing/2014/main" id="{E3150D35-A3E6-4ECE-BD91-87B528A14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1104900"/>
            <a:ext cx="666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为何从某年开始？</a:t>
            </a:r>
          </a:p>
        </p:txBody>
      </p:sp>
      <p:sp>
        <p:nvSpPr>
          <p:cNvPr id="9" name="visual-8-3-p08-a-1">
            <a:extLst xmlns:a="http://schemas.openxmlformats.org/drawingml/2006/main">
              <a:ext uri="{FF2B5EF4-FFF2-40B4-BE49-F238E27FC236}">
                <a16:creationId xmlns:a16="http://schemas.microsoft.com/office/drawing/2014/main" id="{2DA68BF4-5F6B-47C8-A535-30EA9D6BC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05000"/>
            <a:ext cx="2476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文献类型</a:t>
            </a:r>
          </a:p>
        </p:txBody>
      </p:sp>
      <p:sp>
        <p:nvSpPr>
          <p:cNvPr id="10" name="visual-8-4-p08-arrow-1">
            <a:extLst xmlns:a="http://schemas.openxmlformats.org/drawingml/2006/main">
              <a:ext uri="{FF2B5EF4-FFF2-40B4-BE49-F238E27FC236}">
                <a16:creationId xmlns:a16="http://schemas.microsoft.com/office/drawing/2014/main" id="{D25BD843-3F9C-4BFA-9EAC-F25086261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981200"/>
            <a:ext cx="495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1" name="visual-8-5-p08-b-1">
            <a:extLst xmlns:a="http://schemas.openxmlformats.org/drawingml/2006/main">
              <a:ext uri="{FF2B5EF4-FFF2-40B4-BE49-F238E27FC236}">
                <a16:creationId xmlns:a16="http://schemas.microsoft.com/office/drawing/2014/main" id="{B4250504-BF39-4832-8C06-25A20B860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1905000"/>
            <a:ext cx="666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同行评议 / 预印本 / 综述</a:t>
            </a:r>
          </a:p>
        </p:txBody>
      </p:sp>
      <p:sp>
        <p:nvSpPr>
          <p:cNvPr id="12" name="visual-8-6-p08-a-2">
            <a:extLst xmlns:a="http://schemas.openxmlformats.org/drawingml/2006/main">
              <a:ext uri="{FF2B5EF4-FFF2-40B4-BE49-F238E27FC236}">
                <a16:creationId xmlns:a16="http://schemas.microsoft.com/office/drawing/2014/main" id="{802D079B-1B7F-4295-994C-1C968F9D2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05100"/>
            <a:ext cx="2476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语言</a:t>
            </a:r>
          </a:p>
        </p:txBody>
      </p:sp>
      <p:sp>
        <p:nvSpPr>
          <p:cNvPr id="13" name="visual-8-7-p08-arrow-2">
            <a:extLst xmlns:a="http://schemas.openxmlformats.org/drawingml/2006/main">
              <a:ext uri="{FF2B5EF4-FFF2-40B4-BE49-F238E27FC236}">
                <a16:creationId xmlns:a16="http://schemas.microsoft.com/office/drawing/2014/main" id="{E75AEFE4-1D9F-4CBE-89DD-285FC430C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781300"/>
            <a:ext cx="495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4" name="visual-8-8-p08-b-2">
            <a:extLst xmlns:a="http://schemas.openxmlformats.org/drawingml/2006/main">
              <a:ext uri="{FF2B5EF4-FFF2-40B4-BE49-F238E27FC236}">
                <a16:creationId xmlns:a16="http://schemas.microsoft.com/office/drawing/2014/main" id="{8B01E8E6-429D-487C-B14A-15BCCC3AF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2705100"/>
            <a:ext cx="666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限制语言需说明偏倚</a:t>
            </a:r>
          </a:p>
        </p:txBody>
      </p:sp>
      <p:sp>
        <p:nvSpPr>
          <p:cNvPr id="15" name="visual-8-9-p08-a-3">
            <a:extLst xmlns:a="http://schemas.openxmlformats.org/drawingml/2006/main">
              <a:ext uri="{FF2B5EF4-FFF2-40B4-BE49-F238E27FC236}">
                <a16:creationId xmlns:a16="http://schemas.microsoft.com/office/drawing/2014/main" id="{7B35940A-6483-4784-A1F8-DFC15D381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05200"/>
            <a:ext cx="2476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研究类型</a:t>
            </a:r>
          </a:p>
        </p:txBody>
      </p:sp>
      <p:sp>
        <p:nvSpPr>
          <p:cNvPr id="16" name="visual-8-10-p08-arrow-3">
            <a:extLst xmlns:a="http://schemas.openxmlformats.org/drawingml/2006/main">
              <a:ext uri="{FF2B5EF4-FFF2-40B4-BE49-F238E27FC236}">
                <a16:creationId xmlns:a16="http://schemas.microsoft.com/office/drawing/2014/main" id="{4287C952-D039-4118-9CAC-4D6FA119D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581400"/>
            <a:ext cx="495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7" name="visual-8-11-p08-b-3">
            <a:extLst xmlns:a="http://schemas.openxmlformats.org/drawingml/2006/main">
              <a:ext uri="{FF2B5EF4-FFF2-40B4-BE49-F238E27FC236}">
                <a16:creationId xmlns:a16="http://schemas.microsoft.com/office/drawing/2014/main" id="{F194FA43-6524-4A02-9F6A-293999442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3505200"/>
            <a:ext cx="666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实证 / 方法 / 案例 / 综述</a:t>
            </a:r>
          </a:p>
        </p:txBody>
      </p:sp>
      <p:sp>
        <p:nvSpPr>
          <p:cNvPr id="18" name="visual-8-12-p08-a-4">
            <a:extLst xmlns:a="http://schemas.openxmlformats.org/drawingml/2006/main">
              <a:ext uri="{FF2B5EF4-FFF2-40B4-BE49-F238E27FC236}">
                <a16:creationId xmlns:a16="http://schemas.microsoft.com/office/drawing/2014/main" id="{8C003A72-C2A8-41DC-B667-01A095E9C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05300"/>
            <a:ext cx="2476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相关性</a:t>
            </a:r>
          </a:p>
        </p:txBody>
      </p:sp>
      <p:sp>
        <p:nvSpPr>
          <p:cNvPr id="19" name="visual-8-13-p08-arrow-4">
            <a:extLst xmlns:a="http://schemas.openxmlformats.org/drawingml/2006/main">
              <a:ext uri="{FF2B5EF4-FFF2-40B4-BE49-F238E27FC236}">
                <a16:creationId xmlns:a16="http://schemas.microsoft.com/office/drawing/2014/main" id="{22B3C336-C39D-4A9B-A481-972BEAEF8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381500"/>
            <a:ext cx="495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20" name="visual-8-14-p08-b-4">
            <a:extLst xmlns:a="http://schemas.openxmlformats.org/drawingml/2006/main">
              <a:ext uri="{FF2B5EF4-FFF2-40B4-BE49-F238E27FC236}">
                <a16:creationId xmlns:a16="http://schemas.microsoft.com/office/drawing/2014/main" id="{3BE6AE59-6417-4A27-A2F2-F8BD85528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4305300"/>
            <a:ext cx="666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对应当前问题或拟用主张</a:t>
            </a:r>
          </a:p>
        </p:txBody>
      </p:sp>
      <p:sp>
        <p:nvSpPr>
          <p:cNvPr id="21" name="visual-8-15-p08-bottom">
            <a:extLst xmlns:a="http://schemas.openxmlformats.org/drawingml/2006/main">
              <a:ext uri="{FF2B5EF4-FFF2-40B4-BE49-F238E27FC236}">
                <a16:creationId xmlns:a16="http://schemas.microsoft.com/office/drawing/2014/main" id="{8C8B71E6-3EE9-401F-97F1-7730BAF9B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5257800"/>
            <a:ext cx="7620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检索前写第一版；检索中调整；排除时必须记录理由。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证据角色：主证据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  <a:endParaRPr/>
          </a:p>
        </p:txBody>
      </p:sp>
      <p:sp>
        <p:nvSpPr>
          <p:cNvPr id="6" name="visual-9-0-p09-main">
            <a:extLst xmlns:a="http://schemas.openxmlformats.org/drawingml/2006/main">
              <a:ext uri="{FF2B5EF4-FFF2-40B4-BE49-F238E27FC236}">
                <a16:creationId xmlns:a16="http://schemas.microsoft.com/office/drawing/2014/main" id="{0EC2B4DE-0B03-4914-9BCF-559D9FC8C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1333500"/>
            <a:ext cx="85725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主证据</a:t>
            </a:r>
          </a:p>
        </p:txBody>
      </p:sp>
      <p:sp>
        <p:nvSpPr>
          <p:cNvPr id="7" name="visual-9-1-p09-def">
            <a:extLst xmlns:a="http://schemas.openxmlformats.org/drawingml/2006/main">
              <a:ext uri="{FF2B5EF4-FFF2-40B4-BE49-F238E27FC236}">
                <a16:creationId xmlns:a16="http://schemas.microsoft.com/office/drawing/2014/main" id="{08BCD3B4-5F02-4422-9515-2D74492AC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571750"/>
            <a:ext cx="9334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在可比条件下直接支持或反驳当前问题或拟用主张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角色先作预期标注，精读后可修正</a:t>
            </a:r>
          </a:p>
        </p:txBody>
      </p:sp>
      <p:sp>
        <p:nvSpPr>
          <p:cNvPr id="8" name="visual-9-2-p09-can">
            <a:extLst xmlns:a="http://schemas.openxmlformats.org/drawingml/2006/main">
              <a:ext uri="{FF2B5EF4-FFF2-40B4-BE49-F238E27FC236}">
                <a16:creationId xmlns:a16="http://schemas.microsoft.com/office/drawing/2014/main" id="{4DB91689-F4DF-4B04-AC9D-06EC2AB0E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095750"/>
            <a:ext cx="4095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能做：支撑核心主张</a:t>
            </a:r>
          </a:p>
        </p:txBody>
      </p:sp>
      <p:sp>
        <p:nvSpPr>
          <p:cNvPr id="9" name="visual-9-3-p09-cannot">
            <a:extLst xmlns:a="http://schemas.openxmlformats.org/drawingml/2006/main">
              <a:ext uri="{FF2B5EF4-FFF2-40B4-BE49-F238E27FC236}">
                <a16:creationId xmlns:a16="http://schemas.microsoft.com/office/drawing/2014/main" id="{CC782774-8CCD-45D2-80A8-C2A2FD0A2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095750"/>
            <a:ext cx="4095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不能做：单独支撑外推</a:t>
            </a:r>
          </a:p>
        </p:txBody>
      </p:sp>
      <p:sp>
        <p:nvSpPr>
          <p:cNvPr id="10" name="visual-9-4-p09-bottom">
            <a:extLst xmlns:a="http://schemas.openxmlformats.org/drawingml/2006/main">
              <a:ext uri="{FF2B5EF4-FFF2-40B4-BE49-F238E27FC236}">
                <a16:creationId xmlns:a16="http://schemas.microsoft.com/office/drawing/2014/main" id="{56F083A1-A7E3-4478-8452-76E107AB2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219700"/>
            <a:ext cx="5524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每个角色都要写明参照的问题或拟用主张。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证据角色：补充证据与对比证据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7BEEEC-A170-5376-2B6E-CB54687B0CB1}" type="slidenum">
              <a:t>10</a:t>
            </a:fld>
            <a:endParaRPr/>
          </a:p>
        </p:txBody>
      </p:sp>
      <p:sp>
        <p:nvSpPr>
          <p:cNvPr id="6" name="visual-10-0-p10-claim">
            <a:extLst xmlns:a="http://schemas.openxmlformats.org/drawingml/2006/main">
              <a:ext uri="{FF2B5EF4-FFF2-40B4-BE49-F238E27FC236}">
                <a16:creationId xmlns:a16="http://schemas.microsoft.com/office/drawing/2014/main" id="{EA3A4A65-EFA7-4F38-A7A3-6003096B9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419350"/>
            <a:ext cx="3238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当前核心主张</a:t>
            </a:r>
          </a:p>
        </p:txBody>
      </p:sp>
      <p:sp>
        <p:nvSpPr>
          <p:cNvPr id="7" name="visual-10-1-p10-supp">
            <a:extLst xmlns:a="http://schemas.openxmlformats.org/drawingml/2006/main">
              <a:ext uri="{FF2B5EF4-FFF2-40B4-BE49-F238E27FC236}">
                <a16:creationId xmlns:a16="http://schemas.microsoft.com/office/drawing/2014/main" id="{731C50D1-D972-4711-B6F4-16D1097CD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28750"/>
            <a:ext cx="32385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补充证据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不同来源 / 测量 / 路径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提供实质独立性</a:t>
            </a:r>
          </a:p>
        </p:txBody>
      </p:sp>
      <p:sp>
        <p:nvSpPr>
          <p:cNvPr id="8" name="visual-10-2-p10-contrast">
            <a:extLst xmlns:a="http://schemas.openxmlformats.org/drawingml/2006/main">
              <a:ext uri="{FF2B5EF4-FFF2-40B4-BE49-F238E27FC236}">
                <a16:creationId xmlns:a16="http://schemas.microsoft.com/office/drawing/2014/main" id="{ACD8990E-F8C0-45D1-94C8-07A2B833F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428750"/>
            <a:ext cx="32385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对比证据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替代解释 / 竞争假设 / 反例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暴露解释边界</a:t>
            </a:r>
          </a:p>
        </p:txBody>
      </p:sp>
      <p:sp>
        <p:nvSpPr>
          <p:cNvPr id="9" name="visual-10-3-p10-independent">
            <a:extLst xmlns:a="http://schemas.openxmlformats.org/drawingml/2006/main">
              <a:ext uri="{FF2B5EF4-FFF2-40B4-BE49-F238E27FC236}">
                <a16:creationId xmlns:a16="http://schemas.microsoft.com/office/drawing/2014/main" id="{801563C3-D954-47FB-9717-66450D419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095750"/>
            <a:ext cx="4286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独立 ≠ 两个不同网页</a:t>
            </a:r>
          </a:p>
        </p:txBody>
      </p:sp>
      <p:sp>
        <p:nvSpPr>
          <p:cNvPr id="10" name="visual-10-4-p10-conflict">
            <a:extLst xmlns:a="http://schemas.openxmlformats.org/drawingml/2006/main">
              <a:ext uri="{FF2B5EF4-FFF2-40B4-BE49-F238E27FC236}">
                <a16:creationId xmlns:a16="http://schemas.microsoft.com/office/drawing/2014/main" id="{DD00228E-4C8D-4B35-BAC1-E5E9DD305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095750"/>
            <a:ext cx="4286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冲突证据必须保留</a:t>
            </a:r>
          </a:p>
        </p:txBody>
      </p:sp>
      <p:sp>
        <p:nvSpPr>
          <p:cNvPr id="11" name="visual-10-5-p10-note">
            <a:extLst xmlns:a="http://schemas.openxmlformats.org/drawingml/2006/main">
              <a:ext uri="{FF2B5EF4-FFF2-40B4-BE49-F238E27FC236}">
                <a16:creationId xmlns:a16="http://schemas.microsoft.com/office/drawing/2014/main" id="{C77BFA4F-BC14-4BA8-8ADD-B06050AB1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5219700"/>
            <a:ext cx="3086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概念示意，非实证结果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证据角色：探索线索（AI 输出归位）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0394428-F1DC-E5F6-DB0C-7DE31F3D8A23}" type="slidenum">
              <a:t>11</a:t>
            </a:fld>
            <a:endParaRPr/>
          </a:p>
        </p:txBody>
      </p:sp>
      <p:sp>
        <p:nvSpPr>
          <p:cNvPr id="6" name="visual-11-0-p11-input">
            <a:extLst xmlns:a="http://schemas.openxmlformats.org/drawingml/2006/main">
              <a:ext uri="{FF2B5EF4-FFF2-40B4-BE49-F238E27FC236}">
                <a16:creationId xmlns:a16="http://schemas.microsoft.com/office/drawing/2014/main" id="{D148C732-4E58-402B-9DE2-173FFE1A2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524000"/>
            <a:ext cx="2857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AI 检索结果</a:t>
            </a:r>
          </a:p>
        </p:txBody>
      </p:sp>
      <p:sp>
        <p:nvSpPr>
          <p:cNvPr id="7" name="visual-11-1-p11-a1">
            <a:extLst xmlns:a="http://schemas.openxmlformats.org/drawingml/2006/main">
              <a:ext uri="{FF2B5EF4-FFF2-40B4-BE49-F238E27FC236}">
                <a16:creationId xmlns:a16="http://schemas.microsoft.com/office/drawing/2014/main" id="{34DE1600-85FC-49BD-9912-5C2C7771E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1790700"/>
            <a:ext cx="685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8" name="visual-11-2-p11-line">
            <a:extLst xmlns:a="http://schemas.openxmlformats.org/drawingml/2006/main">
              <a:ext uri="{FF2B5EF4-FFF2-40B4-BE49-F238E27FC236}">
                <a16:creationId xmlns:a16="http://schemas.microsoft.com/office/drawing/2014/main" id="{9A13C8E7-9E5A-4CA8-8D4E-1C3CA847F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1524000"/>
            <a:ext cx="2857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探索线索</a:t>
            </a:r>
          </a:p>
        </p:txBody>
      </p:sp>
      <p:sp>
        <p:nvSpPr>
          <p:cNvPr id="9" name="visual-11-3-p11-a2">
            <a:extLst xmlns:a="http://schemas.openxmlformats.org/drawingml/2006/main">
              <a:ext uri="{FF2B5EF4-FFF2-40B4-BE49-F238E27FC236}">
                <a16:creationId xmlns:a16="http://schemas.microsoft.com/office/drawing/2014/main" id="{85A0D931-06A1-4A18-AA9A-0BB16DCC4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790700"/>
            <a:ext cx="685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0" name="visual-11-4-p11-source">
            <a:extLst xmlns:a="http://schemas.openxmlformats.org/drawingml/2006/main">
              <a:ext uri="{FF2B5EF4-FFF2-40B4-BE49-F238E27FC236}">
                <a16:creationId xmlns:a16="http://schemas.microsoft.com/office/drawing/2014/main" id="{DEC7AD1C-7644-4699-99B0-BD76DA35A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1524000"/>
            <a:ext cx="2286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回原文核验</a:t>
            </a:r>
          </a:p>
        </p:txBody>
      </p:sp>
      <p:sp>
        <p:nvSpPr>
          <p:cNvPr id="11" name="visual-11-5-p11-fields">
            <a:extLst xmlns:a="http://schemas.openxmlformats.org/drawingml/2006/main">
              <a:ext uri="{FF2B5EF4-FFF2-40B4-BE49-F238E27FC236}">
                <a16:creationId xmlns:a16="http://schemas.microsoft.com/office/drawing/2014/main" id="{F21DEF12-DD9A-467C-8E9A-DF7B5DBEA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952750"/>
            <a:ext cx="9715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即使已核验，也可能不能直接回答当前问题；AI 检索结果默认归为探索线索</a:t>
            </a:r>
          </a:p>
        </p:txBody>
      </p:sp>
      <p:sp>
        <p:nvSpPr>
          <p:cNvPr id="12" name="visual-11-6-p11-split">
            <a:extLst xmlns:a="http://schemas.openxmlformats.org/drawingml/2006/main">
              <a:ext uri="{FF2B5EF4-FFF2-40B4-BE49-F238E27FC236}">
                <a16:creationId xmlns:a16="http://schemas.microsoft.com/office/drawing/2014/main" id="{62006A9A-8937-4694-8DD3-7F639E428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829050"/>
            <a:ext cx="571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角色 ≠ 核验状态 ≠ 筛选决定</a:t>
            </a:r>
          </a:p>
        </p:txBody>
      </p:sp>
      <p:sp>
        <p:nvSpPr>
          <p:cNvPr id="13" name="visual-11-7-p11-bottom">
            <a:extLst xmlns:a="http://schemas.openxmlformats.org/drawingml/2006/main">
              <a:ext uri="{FF2B5EF4-FFF2-40B4-BE49-F238E27FC236}">
                <a16:creationId xmlns:a16="http://schemas.microsoft.com/office/drawing/2014/main" id="{84E661F7-8B4B-4353-8BDB-B21C9CB6A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838700"/>
            <a:ext cx="70866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一篇真实且已核验的论文，对当前问题仍可能只是探索线索。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入口核验：身份 + 一条拟用主张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DB16885-0D3F-A391-B669-3211DB3B26E8}" type="slidenum">
              <a:t>12</a:t>
            </a:fld>
            <a:endParaRPr/>
          </a:p>
        </p:txBody>
      </p:sp>
      <p:sp>
        <p:nvSpPr>
          <p:cNvPr id="6" name="visual-12-0-p12-id-title">
            <a:extLst xmlns:a="http://schemas.openxmlformats.org/drawingml/2006/main">
              <a:ext uri="{FF2B5EF4-FFF2-40B4-BE49-F238E27FC236}">
                <a16:creationId xmlns:a16="http://schemas.microsoft.com/office/drawing/2014/main" id="{A83E5AFE-59A4-4A26-A7EF-5EF3E1560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90600"/>
            <a:ext cx="1524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身份层</a:t>
            </a:r>
          </a:p>
        </p:txBody>
      </p:sp>
      <p:sp>
        <p:nvSpPr>
          <p:cNvPr id="7" name="visual-12-1-p12-id-body">
            <a:extLst xmlns:a="http://schemas.openxmlformats.org/drawingml/2006/main">
              <a:ext uri="{FF2B5EF4-FFF2-40B4-BE49-F238E27FC236}">
                <a16:creationId xmlns:a16="http://schemas.microsoft.com/office/drawing/2014/main" id="{39691F6D-8D60-4EE8-AB71-AFC9B4911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85900"/>
            <a:ext cx="666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题名　｜　作者　｜　年份　｜　刊会　｜　DOI / 稳定标识</a:t>
            </a:r>
          </a:p>
        </p:txBody>
      </p:sp>
      <p:sp>
        <p:nvSpPr>
          <p:cNvPr id="8" name="visual-12-2-p12-claim-title">
            <a:extLst xmlns:a="http://schemas.openxmlformats.org/drawingml/2006/main">
              <a:ext uri="{FF2B5EF4-FFF2-40B4-BE49-F238E27FC236}">
                <a16:creationId xmlns:a16="http://schemas.microsoft.com/office/drawing/2014/main" id="{C1770AEA-ACCF-4DAE-8489-B38FFCD89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09800"/>
            <a:ext cx="1524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拟用主张层</a:t>
            </a:r>
          </a:p>
        </p:txBody>
      </p:sp>
      <p:sp>
        <p:nvSpPr>
          <p:cNvPr id="9" name="visual-12-3-p12-c-0">
            <a:extLst xmlns:a="http://schemas.openxmlformats.org/drawingml/2006/main">
              <a:ext uri="{FF2B5EF4-FFF2-40B4-BE49-F238E27FC236}">
                <a16:creationId xmlns:a16="http://schemas.microsoft.com/office/drawing/2014/main" id="{711CDEB3-73FA-437C-946A-CE40DAD6B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05100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1. 先写准备用它支持什么</a:t>
            </a:r>
          </a:p>
        </p:txBody>
      </p:sp>
      <p:sp>
        <p:nvSpPr>
          <p:cNvPr id="10" name="visual-12-4-p12-c-1">
            <a:extLst xmlns:a="http://schemas.openxmlformats.org/drawingml/2006/main">
              <a:ext uri="{FF2B5EF4-FFF2-40B4-BE49-F238E27FC236}">
                <a16:creationId xmlns:a16="http://schemas.microsoft.com/office/drawing/2014/main" id="{70D30F46-EC31-4934-84B3-37A335944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19450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2. 回到至少一个原文位置</a:t>
            </a:r>
          </a:p>
        </p:txBody>
      </p:sp>
      <p:sp>
        <p:nvSpPr>
          <p:cNvPr id="11" name="visual-12-5-p12-c-2">
            <a:extLst xmlns:a="http://schemas.openxmlformats.org/drawingml/2006/main">
              <a:ext uri="{FF2B5EF4-FFF2-40B4-BE49-F238E27FC236}">
                <a16:creationId xmlns:a16="http://schemas.microsoft.com/office/drawing/2014/main" id="{D42D1476-4F1A-4E69-8003-05856A9EA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33800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3. 核对任务、设置、措辞强度与必要限定</a:t>
            </a:r>
          </a:p>
        </p:txBody>
      </p:sp>
      <p:sp>
        <p:nvSpPr>
          <p:cNvPr id="12" name="visual-12-6-p12-pending">
            <a:extLst xmlns:a="http://schemas.openxmlformats.org/drawingml/2006/main">
              <a:ext uri="{FF2B5EF4-FFF2-40B4-BE49-F238E27FC236}">
                <a16:creationId xmlns:a16="http://schemas.microsoft.com/office/drawing/2014/main" id="{4E25520B-E8B7-47EB-B3F6-16D16441F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05300"/>
            <a:ext cx="666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只完成身份层 → pending｜默认探索线索</a:t>
            </a:r>
          </a:p>
        </p:txBody>
      </p:sp>
      <p:sp>
        <p:nvSpPr>
          <p:cNvPr id="13" name="visual-12-7-p12-handoff">
            <a:extLst xmlns:a="http://schemas.openxmlformats.org/drawingml/2006/main">
              <a:ext uri="{FF2B5EF4-FFF2-40B4-BE49-F238E27FC236}">
                <a16:creationId xmlns:a16="http://schemas.microsoft.com/office/drawing/2014/main" id="{06EC9A6C-2FA7-478C-AEC4-DA601013A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95850"/>
            <a:ext cx="666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第 4 课移交：多条主张、位置、指标、对照、样本、贡献与局限</a:t>
            </a:r>
          </a:p>
        </p:txBody>
      </p:sp>
      <p:sp>
        <p:nvSpPr>
          <p:cNvPr id="14" name="visual-12-8-p12-status-title">
            <a:extLst xmlns:a="http://schemas.openxmlformats.org/drawingml/2006/main">
              <a:ext uri="{FF2B5EF4-FFF2-40B4-BE49-F238E27FC236}">
                <a16:creationId xmlns:a16="http://schemas.microsoft.com/office/drawing/2014/main" id="{206966DC-6768-4747-A600-21FF28834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009650"/>
            <a:ext cx="323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四态与进入规则</a:t>
            </a:r>
          </a:p>
        </p:txBody>
      </p:sp>
      <p:sp>
        <p:nvSpPr>
          <p:cNvPr id="15" name="visual-12-9-p12-s-0">
            <a:extLst xmlns:a="http://schemas.openxmlformats.org/drawingml/2006/main">
              <a:ext uri="{FF2B5EF4-FFF2-40B4-BE49-F238E27FC236}">
                <a16:creationId xmlns:a16="http://schemas.microsoft.com/office/drawing/2014/main" id="{3C8926EF-D3FF-4638-AD5E-E4C801CDA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19250"/>
            <a:ext cx="3238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pending</a:t>
            </a:r>
          </a:p>
        </p:txBody>
      </p:sp>
      <p:sp>
        <p:nvSpPr>
          <p:cNvPr id="16" name="visual-12-10-p12-s-1">
            <a:extLst xmlns:a="http://schemas.openxmlformats.org/drawingml/2006/main">
              <a:ext uri="{FF2B5EF4-FFF2-40B4-BE49-F238E27FC236}">
                <a16:creationId xmlns:a16="http://schemas.microsoft.com/office/drawing/2014/main" id="{C7B8620A-6E0D-4BAB-8F73-D4C80E4AA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343150"/>
            <a:ext cx="3238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verified</a:t>
            </a:r>
          </a:p>
        </p:txBody>
      </p:sp>
      <p:sp>
        <p:nvSpPr>
          <p:cNvPr id="17" name="visual-12-11-p12-s-2">
            <a:extLst xmlns:a="http://schemas.openxmlformats.org/drawingml/2006/main">
              <a:ext uri="{FF2B5EF4-FFF2-40B4-BE49-F238E27FC236}">
                <a16:creationId xmlns:a16="http://schemas.microsoft.com/office/drawing/2014/main" id="{ED803932-EC73-4ECD-BDD8-10D42EBB7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067050"/>
            <a:ext cx="3238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verified-with-caveat</a:t>
            </a:r>
          </a:p>
        </p:txBody>
      </p:sp>
      <p:sp>
        <p:nvSpPr>
          <p:cNvPr id="18" name="visual-12-12-p12-s-3">
            <a:extLst xmlns:a="http://schemas.openxmlformats.org/drawingml/2006/main">
              <a:ext uri="{FF2B5EF4-FFF2-40B4-BE49-F238E27FC236}">
                <a16:creationId xmlns:a16="http://schemas.microsoft.com/office/drawing/2014/main" id="{40C3597C-3720-4643-AB41-F762161D1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790950"/>
            <a:ext cx="3238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rejected</a:t>
            </a:r>
          </a:p>
        </p:txBody>
      </p:sp>
      <p:sp>
        <p:nvSpPr>
          <p:cNvPr id="19" name="visual-12-13-p12-bottom">
            <a:extLst xmlns:a="http://schemas.openxmlformats.org/drawingml/2006/main">
              <a:ext uri="{FF2B5EF4-FFF2-40B4-BE49-F238E27FC236}">
                <a16:creationId xmlns:a16="http://schemas.microsoft.com/office/drawing/2014/main" id="{548FE6A1-AD05-4D60-BA91-244F17422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667250"/>
            <a:ext cx="40005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pending 仅线索区｜verified 可进主格｜caveat 保留限定且不能单独支撑 stable｜rejected 仅审计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演示：检索记录定位真实论文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DD23107-4986-8758-3A93-3D74F35908CC}" type="slidenum">
              <a:t>13</a:t>
            </a:fld>
            <a:endParaRPr/>
          </a:p>
        </p:txBody>
      </p:sp>
      <p:sp>
        <p:nvSpPr>
          <p:cNvPr id="6" name="visual-13-0-p13-a-0">
            <a:extLst xmlns:a="http://schemas.openxmlformats.org/drawingml/2006/main">
              <a:ext uri="{FF2B5EF4-FFF2-40B4-BE49-F238E27FC236}">
                <a16:creationId xmlns:a16="http://schemas.microsoft.com/office/drawing/2014/main" id="{DD44F6C9-ECAA-49D7-BC64-65D3C3D85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1924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检索</a:t>
            </a:r>
          </a:p>
        </p:txBody>
      </p:sp>
      <p:sp>
        <p:nvSpPr>
          <p:cNvPr id="7" name="visual-13-1-p13-b-0">
            <a:extLst xmlns:a="http://schemas.openxmlformats.org/drawingml/2006/main">
              <a:ext uri="{FF2B5EF4-FFF2-40B4-BE49-F238E27FC236}">
                <a16:creationId xmlns:a16="http://schemas.microsoft.com/office/drawing/2014/main" id="{214A427B-FEAA-4C31-8835-5F95DB9A0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152650"/>
            <a:ext cx="192405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Crossref API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query.title=How to Read a Paper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&amp;query.author=Keshav&amp;rows=5</a:t>
            </a:r>
          </a:p>
        </p:txBody>
      </p:sp>
      <p:sp>
        <p:nvSpPr>
          <p:cNvPr id="8" name="visual-13-2-p13-arr-0">
            <a:extLst xmlns:a="http://schemas.openxmlformats.org/drawingml/2006/main">
              <a:ext uri="{FF2B5EF4-FFF2-40B4-BE49-F238E27FC236}">
                <a16:creationId xmlns:a16="http://schemas.microsoft.com/office/drawing/2014/main" id="{7A5E209C-4EE9-4681-A671-228773425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2705100"/>
            <a:ext cx="381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9" name="visual-13-3-p13-a-1">
            <a:extLst xmlns:a="http://schemas.openxmlformats.org/drawingml/2006/main">
              <a:ext uri="{FF2B5EF4-FFF2-40B4-BE49-F238E27FC236}">
                <a16:creationId xmlns:a16="http://schemas.microsoft.com/office/drawing/2014/main" id="{CABB280B-5AF4-46A3-89B5-2654908C7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1466850"/>
            <a:ext cx="1924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元数据</a:t>
            </a:r>
          </a:p>
        </p:txBody>
      </p:sp>
      <p:sp>
        <p:nvSpPr>
          <p:cNvPr id="10" name="visual-13-4-p13-b-1">
            <a:extLst xmlns:a="http://schemas.openxmlformats.org/drawingml/2006/main">
              <a:ext uri="{FF2B5EF4-FFF2-40B4-BE49-F238E27FC236}">
                <a16:creationId xmlns:a16="http://schemas.microsoft.com/office/drawing/2014/main" id="{7F3CAB39-8911-4498-B04B-5F559BE1E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152650"/>
            <a:ext cx="192405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How to Read a Paper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S. Keshav｜2007</a:t>
            </a:r>
          </a:p>
        </p:txBody>
      </p:sp>
      <p:sp>
        <p:nvSpPr>
          <p:cNvPr id="11" name="visual-13-5-p13-arr-1">
            <a:extLst xmlns:a="http://schemas.openxmlformats.org/drawingml/2006/main">
              <a:ext uri="{FF2B5EF4-FFF2-40B4-BE49-F238E27FC236}">
                <a16:creationId xmlns:a16="http://schemas.microsoft.com/office/drawing/2014/main" id="{11A49A0B-DB22-41C2-90C0-4AEBD1B13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705100"/>
            <a:ext cx="381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2" name="visual-13-6-p13-a-2">
            <a:extLst xmlns:a="http://schemas.openxmlformats.org/drawingml/2006/main">
              <a:ext uri="{FF2B5EF4-FFF2-40B4-BE49-F238E27FC236}">
                <a16:creationId xmlns:a16="http://schemas.microsoft.com/office/drawing/2014/main" id="{FAFB2291-1556-42C8-A35C-78C65943A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466850"/>
            <a:ext cx="1924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DOI</a:t>
            </a:r>
          </a:p>
        </p:txBody>
      </p:sp>
      <p:sp>
        <p:nvSpPr>
          <p:cNvPr id="13" name="visual-13-7-p13-b-2">
            <a:extLst xmlns:a="http://schemas.openxmlformats.org/drawingml/2006/main">
              <a:ext uri="{FF2B5EF4-FFF2-40B4-BE49-F238E27FC236}">
                <a16:creationId xmlns:a16="http://schemas.microsoft.com/office/drawing/2014/main" id="{EB5507A5-CE1B-4FC5-A131-B910EE8C5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152650"/>
            <a:ext cx="1924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10.1145/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1273445.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1273458</a:t>
            </a:r>
          </a:p>
        </p:txBody>
      </p:sp>
      <p:sp>
        <p:nvSpPr>
          <p:cNvPr id="14" name="visual-13-8-p13-arr-2">
            <a:extLst xmlns:a="http://schemas.openxmlformats.org/drawingml/2006/main">
              <a:ext uri="{FF2B5EF4-FFF2-40B4-BE49-F238E27FC236}">
                <a16:creationId xmlns:a16="http://schemas.microsoft.com/office/drawing/2014/main" id="{930E2289-4ABB-4B99-AAE9-22BF1C56A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705100"/>
            <a:ext cx="381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5" name="visual-13-9-p13-a-3">
            <a:extLst xmlns:a="http://schemas.openxmlformats.org/drawingml/2006/main">
              <a:ext uri="{FF2B5EF4-FFF2-40B4-BE49-F238E27FC236}">
                <a16:creationId xmlns:a16="http://schemas.microsoft.com/office/drawing/2014/main" id="{C8865890-6A83-4D0E-B4C7-9394A0C81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466850"/>
            <a:ext cx="1924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正式来源</a:t>
            </a:r>
          </a:p>
        </p:txBody>
      </p:sp>
      <p:sp>
        <p:nvSpPr>
          <p:cNvPr id="16" name="visual-13-10-p13-b-3">
            <a:extLst xmlns:a="http://schemas.openxmlformats.org/drawingml/2006/main">
              <a:ext uri="{FF2B5EF4-FFF2-40B4-BE49-F238E27FC236}">
                <a16:creationId xmlns:a16="http://schemas.microsoft.com/office/drawing/2014/main" id="{C5F5F785-25A0-4D1D-93B5-AC89DC3C3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152650"/>
            <a:ext cx="192405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ACM SIGCOMM CCR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37(3):83–84</a:t>
            </a:r>
          </a:p>
        </p:txBody>
      </p:sp>
      <p:sp>
        <p:nvSpPr>
          <p:cNvPr id="17" name="visual-13-11-p13-arr-3">
            <a:extLst xmlns:a="http://schemas.openxmlformats.org/drawingml/2006/main">
              <a:ext uri="{FF2B5EF4-FFF2-40B4-BE49-F238E27FC236}">
                <a16:creationId xmlns:a16="http://schemas.microsoft.com/office/drawing/2014/main" id="{FDCCDEB5-B05B-4EA2-A355-71DA3ECEF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705100"/>
            <a:ext cx="381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8" name="visual-13-12-p13-a-4">
            <a:extLst xmlns:a="http://schemas.openxmlformats.org/drawingml/2006/main">
              <a:ext uri="{FF2B5EF4-FFF2-40B4-BE49-F238E27FC236}">
                <a16:creationId xmlns:a16="http://schemas.microsoft.com/office/drawing/2014/main" id="{11358010-C518-49AB-BCFD-887B9E269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1466850"/>
            <a:ext cx="1924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原文入口</a:t>
            </a:r>
          </a:p>
        </p:txBody>
      </p:sp>
      <p:sp>
        <p:nvSpPr>
          <p:cNvPr id="19" name="visual-13-13-p13-b-4">
            <a:extLst xmlns:a="http://schemas.openxmlformats.org/drawingml/2006/main">
              <a:ext uri="{FF2B5EF4-FFF2-40B4-BE49-F238E27FC236}">
                <a16:creationId xmlns:a16="http://schemas.microsoft.com/office/drawing/2014/main" id="{3CA00DCD-A52F-482B-9A3A-FCE8A8C45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2152650"/>
            <a:ext cx="192405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作者公开 PDF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保留实际请求与原始返回</a:t>
            </a:r>
          </a:p>
        </p:txBody>
      </p:sp>
      <p:sp>
        <p:nvSpPr>
          <p:cNvPr id="20" name="visual-13-14-p13-predict">
            <a:extLst xmlns:a="http://schemas.openxmlformats.org/drawingml/2006/main">
              <a:ext uri="{FF2B5EF4-FFF2-40B4-BE49-F238E27FC236}">
                <a16:creationId xmlns:a16="http://schemas.microsoft.com/office/drawing/2014/main" id="{76B9CEAF-4433-4099-B792-94087FBC3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610100"/>
            <a:ext cx="9258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真实 trace：查询记录 → 正式元数据 → DOI → 正式出版信息 → 原文；每一步保留可复查对象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演示：DOI → 原文第 1 页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27921A4-25C4-3DB4-06B1-32693CEE2241}" type="slidenum">
              <a:t>14</a:t>
            </a:fld>
            <a:endParaRPr/>
          </a:p>
        </p:txBody>
      </p:sp>
      <p:pic>
        <p:nvPicPr>
          <p:cNvPr id="44" name="p14-paper-page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bb4d3c2c624073"/>
          <a:stretch xmlns:a="http://schemas.openxmlformats.org/drawingml/2006/main"/>
        </p:blipFill>
        <p:spPr>
          <a:xfrm xmlns:a="http://schemas.openxmlformats.org/drawingml/2006/main">
            <a:off x="609600" y="1057275"/>
            <a:ext cx="3810000" cy="4648200"/>
          </a:xfrm>
          <a:prstGeom xmlns:a="http://schemas.openxmlformats.org/drawingml/2006/main" prst="rect">
            <a:avLst/>
          </a:prstGeom>
        </p:spPr>
      </p:pic>
      <p:sp>
        <p:nvSpPr>
          <p:cNvPr id="26" name="p14-locator">
            <a:extLst xmlns:a="http://schemas.openxmlformats.org/drawingml/2006/main">
              <a:ext uri="{FF2B5EF4-FFF2-40B4-BE49-F238E27FC236}">
                <a16:creationId xmlns:a16="http://schemas.microsoft.com/office/drawing/2014/main" id="{58F8E866-994D-47CC-AF0C-4534D6EE4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4095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真实原文对象 · Keshav 2007 · p.83</a:t>
            </a:r>
          </a:p>
        </p:txBody>
      </p:sp>
      <p:sp>
        <p:nvSpPr>
          <p:cNvPr id="27" name="p14-record">
            <a:extLst xmlns:a="http://schemas.openxmlformats.org/drawingml/2006/main">
              <a:ext uri="{FF2B5EF4-FFF2-40B4-BE49-F238E27FC236}">
                <a16:creationId xmlns:a16="http://schemas.microsoft.com/office/drawing/2014/main" id="{D483DDC1-1166-4D88-B538-324158CE2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171575"/>
            <a:ext cx="6191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来源记录 → DOI → 原文</a:t>
            </a:r>
          </a:p>
        </p:txBody>
      </p:sp>
      <p:sp>
        <p:nvSpPr>
          <p:cNvPr id="28" name="p14-top">
            <a:extLst xmlns:a="http://schemas.openxmlformats.org/drawingml/2006/main">
              <a:ext uri="{FF2B5EF4-FFF2-40B4-BE49-F238E27FC236}">
                <a16:creationId xmlns:a16="http://schemas.microsoft.com/office/drawing/2014/main" id="{93EC42E4-CAA0-4541-ABAD-734B25CC4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819275"/>
            <a:ext cx="6191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29" name="p14-label-0">
            <a:extLst xmlns:a="http://schemas.openxmlformats.org/drawingml/2006/main">
              <a:ext uri="{FF2B5EF4-FFF2-40B4-BE49-F238E27FC236}">
                <a16:creationId xmlns:a16="http://schemas.microsoft.com/office/drawing/2014/main" id="{B933CE87-9749-42C6-A2C3-4351096B5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114550"/>
            <a:ext cx="1219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身份</a:t>
            </a:r>
          </a:p>
        </p:txBody>
      </p:sp>
      <p:sp>
        <p:nvSpPr>
          <p:cNvPr id="30" name="p14-value-0">
            <a:extLst xmlns:a="http://schemas.openxmlformats.org/drawingml/2006/main">
              <a:ext uri="{FF2B5EF4-FFF2-40B4-BE49-F238E27FC236}">
                <a16:creationId xmlns:a16="http://schemas.microsoft.com/office/drawing/2014/main" id="{E3E4F1E1-372F-47EB-9EAD-109387F59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114550"/>
            <a:ext cx="4762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题名、作者、年份与记录一致</a:t>
            </a:r>
          </a:p>
        </p:txBody>
      </p:sp>
      <p:sp>
        <p:nvSpPr>
          <p:cNvPr id="31" name="p14-sep-0">
            <a:extLst xmlns:a="http://schemas.openxmlformats.org/drawingml/2006/main">
              <a:ext uri="{FF2B5EF4-FFF2-40B4-BE49-F238E27FC236}">
                <a16:creationId xmlns:a16="http://schemas.microsoft.com/office/drawing/2014/main" id="{7FD98CD0-8333-4FF5-AB9D-5EB68721A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724150"/>
            <a:ext cx="6191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32" name="p14-label-1">
            <a:extLst xmlns:a="http://schemas.openxmlformats.org/drawingml/2006/main">
              <a:ext uri="{FF2B5EF4-FFF2-40B4-BE49-F238E27FC236}">
                <a16:creationId xmlns:a16="http://schemas.microsoft.com/office/drawing/2014/main" id="{2097167D-32A4-44E0-96EC-100B847B6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876550"/>
            <a:ext cx="1219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稳定标识</a:t>
            </a:r>
          </a:p>
        </p:txBody>
      </p:sp>
      <p:sp>
        <p:nvSpPr>
          <p:cNvPr id="33" name="p14-value-1">
            <a:extLst xmlns:a="http://schemas.openxmlformats.org/drawingml/2006/main">
              <a:ext uri="{FF2B5EF4-FFF2-40B4-BE49-F238E27FC236}">
                <a16:creationId xmlns:a16="http://schemas.microsoft.com/office/drawing/2014/main" id="{6BFB9B79-7DEA-4444-A542-DCCEC388E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876550"/>
            <a:ext cx="4762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DOI 10.1145/1273445.1273458</a:t>
            </a:r>
          </a:p>
        </p:txBody>
      </p:sp>
      <p:sp>
        <p:nvSpPr>
          <p:cNvPr id="34" name="p14-sep-1">
            <a:extLst xmlns:a="http://schemas.openxmlformats.org/drawingml/2006/main">
              <a:ext uri="{FF2B5EF4-FFF2-40B4-BE49-F238E27FC236}">
                <a16:creationId xmlns:a16="http://schemas.microsoft.com/office/drawing/2014/main" id="{5449CA31-9E7A-4EC6-B921-4900BD6EA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486150"/>
            <a:ext cx="6191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35" name="p14-label-2">
            <a:extLst xmlns:a="http://schemas.openxmlformats.org/drawingml/2006/main">
              <a:ext uri="{FF2B5EF4-FFF2-40B4-BE49-F238E27FC236}">
                <a16:creationId xmlns:a16="http://schemas.microsoft.com/office/drawing/2014/main" id="{5E685B66-2644-44AB-A684-C7C77F0F6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638550"/>
            <a:ext cx="1219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原文位置</a:t>
            </a:r>
          </a:p>
        </p:txBody>
      </p:sp>
      <p:sp>
        <p:nvSpPr>
          <p:cNvPr id="36" name="p14-value-2">
            <a:extLst xmlns:a="http://schemas.openxmlformats.org/drawingml/2006/main">
              <a:ext uri="{FF2B5EF4-FFF2-40B4-BE49-F238E27FC236}">
                <a16:creationId xmlns:a16="http://schemas.microsoft.com/office/drawing/2014/main" id="{F8AF63B6-C9EA-4573-A31E-9AED5CA51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638550"/>
            <a:ext cx="4762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p.83 摘要与 §2 可直接定位</a:t>
            </a:r>
          </a:p>
        </p:txBody>
      </p:sp>
      <p:sp>
        <p:nvSpPr>
          <p:cNvPr id="37" name="p14-sep-2">
            <a:extLst xmlns:a="http://schemas.openxmlformats.org/drawingml/2006/main">
              <a:ext uri="{FF2B5EF4-FFF2-40B4-BE49-F238E27FC236}">
                <a16:creationId xmlns:a16="http://schemas.microsoft.com/office/drawing/2014/main" id="{265AA0C1-329E-4768-80AF-54A27A582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248150"/>
            <a:ext cx="6191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38" name="p14-label-3">
            <a:extLst xmlns:a="http://schemas.openxmlformats.org/drawingml/2006/main">
              <a:ext uri="{FF2B5EF4-FFF2-40B4-BE49-F238E27FC236}">
                <a16:creationId xmlns:a16="http://schemas.microsoft.com/office/drawing/2014/main" id="{B0B6D9D1-86DE-4AB0-9B73-61509E26C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400550"/>
            <a:ext cx="1219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入口状态</a:t>
            </a:r>
          </a:p>
        </p:txBody>
      </p:sp>
      <p:sp>
        <p:nvSpPr>
          <p:cNvPr id="39" name="p14-value-3">
            <a:extLst xmlns:a="http://schemas.openxmlformats.org/drawingml/2006/main">
              <a:ext uri="{FF2B5EF4-FFF2-40B4-BE49-F238E27FC236}">
                <a16:creationId xmlns:a16="http://schemas.microsoft.com/office/drawing/2014/main" id="{24598EAE-91CF-4BA6-BF8B-619580175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400550"/>
            <a:ext cx="4762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verified：可进入下一步主张核验</a:t>
            </a:r>
          </a:p>
        </p:txBody>
      </p:sp>
      <p:sp>
        <p:nvSpPr>
          <p:cNvPr id="40" name="p14-task">
            <a:extLst xmlns:a="http://schemas.openxmlformats.org/drawingml/2006/main">
              <a:ext uri="{FF2B5EF4-FFF2-40B4-BE49-F238E27FC236}">
                <a16:creationId xmlns:a16="http://schemas.microsoft.com/office/drawing/2014/main" id="{0861114F-D524-412B-9F39-908FC6064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5219700"/>
            <a:ext cx="619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下一步：原文位置能否支持拟用主张？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演示：合格条目进入候选表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A83FA91-883A-0168-8075-96CEB9DCA3C2}" type="slidenum">
              <a:t>15</a:t>
            </a:fld>
            <a:endParaRPr/>
          </a:p>
        </p:txBody>
      </p:sp>
      <p:sp>
        <p:nvSpPr>
          <p:cNvPr id="6" name="visual-15-0-p15-entry-title">
            <a:extLst xmlns:a="http://schemas.openxmlformats.org/drawingml/2006/main">
              <a:ext uri="{FF2B5EF4-FFF2-40B4-BE49-F238E27FC236}">
                <a16:creationId xmlns:a16="http://schemas.microsoft.com/office/drawing/2014/main" id="{F6BA999C-B5D2-47D5-B968-9F026EECA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28700"/>
            <a:ext cx="10820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真实候选条目｜Keshav (2007)</a:t>
            </a:r>
          </a:p>
        </p:txBody>
      </p:sp>
      <p:sp>
        <p:nvSpPr>
          <p:cNvPr id="7" name="visual-15-1-p15-h-0">
            <a:extLst xmlns:a="http://schemas.openxmlformats.org/drawingml/2006/main">
              <a:ext uri="{FF2B5EF4-FFF2-40B4-BE49-F238E27FC236}">
                <a16:creationId xmlns:a16="http://schemas.microsoft.com/office/drawing/2014/main" id="{71032C7F-8241-4461-8925-70B1A78E8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28800"/>
            <a:ext cx="2476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字段</a:t>
            </a:r>
          </a:p>
        </p:txBody>
      </p:sp>
      <p:sp>
        <p:nvSpPr>
          <p:cNvPr id="8" name="visual-15-2-p15-h-1">
            <a:extLst xmlns:a="http://schemas.openxmlformats.org/drawingml/2006/main">
              <a:ext uri="{FF2B5EF4-FFF2-40B4-BE49-F238E27FC236}">
                <a16:creationId xmlns:a16="http://schemas.microsoft.com/office/drawing/2014/main" id="{18490608-3ACB-420D-B6AC-BEC439757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828800"/>
            <a:ext cx="819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核验后写入</a:t>
            </a:r>
          </a:p>
        </p:txBody>
      </p:sp>
      <p:sp>
        <p:nvSpPr>
          <p:cNvPr id="9" name="visual-15-3-p15-r0-0">
            <a:extLst xmlns:a="http://schemas.openxmlformats.org/drawingml/2006/main">
              <a:ext uri="{FF2B5EF4-FFF2-40B4-BE49-F238E27FC236}">
                <a16:creationId xmlns:a16="http://schemas.microsoft.com/office/drawing/2014/main" id="{2E73B06F-EAC9-4EDF-BC90-1F01E2FFD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86000"/>
            <a:ext cx="2476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正式来源</a:t>
            </a:r>
          </a:p>
        </p:txBody>
      </p:sp>
      <p:sp>
        <p:nvSpPr>
          <p:cNvPr id="10" name="visual-15-4-p15-r0-1">
            <a:extLst xmlns:a="http://schemas.openxmlformats.org/drawingml/2006/main">
              <a:ext uri="{FF2B5EF4-FFF2-40B4-BE49-F238E27FC236}">
                <a16:creationId xmlns:a16="http://schemas.microsoft.com/office/drawing/2014/main" id="{A911F676-0EF5-4B2B-8EAA-C5BB41D66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286000"/>
            <a:ext cx="8191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ACM SIGCOMM Computer Communication Review 37(3), pp.83–84｜DOI 10.1145/1273445.1273458</a:t>
            </a:r>
          </a:p>
        </p:txBody>
      </p:sp>
      <p:sp>
        <p:nvSpPr>
          <p:cNvPr id="11" name="visual-15-5-p15-r1-0">
            <a:extLst xmlns:a="http://schemas.openxmlformats.org/drawingml/2006/main">
              <a:ext uri="{FF2B5EF4-FFF2-40B4-BE49-F238E27FC236}">
                <a16:creationId xmlns:a16="http://schemas.microsoft.com/office/drawing/2014/main" id="{526CD9AB-48D3-425B-9D22-9E342A3A7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14650"/>
            <a:ext cx="2476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对应问题/拟用主张</a:t>
            </a:r>
          </a:p>
        </p:txBody>
      </p:sp>
      <p:sp>
        <p:nvSpPr>
          <p:cNvPr id="12" name="visual-15-6-p15-r1-1">
            <a:extLst xmlns:a="http://schemas.openxmlformats.org/drawingml/2006/main">
              <a:ext uri="{FF2B5EF4-FFF2-40B4-BE49-F238E27FC236}">
                <a16:creationId xmlns:a16="http://schemas.microsoft.com/office/drawing/2014/main" id="{AF3B3975-9594-4003-A880-AB5AB8FBF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914650"/>
            <a:ext cx="8191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是否降低遗漏率？／用于定义 three-pass approach</a:t>
            </a:r>
          </a:p>
        </p:txBody>
      </p:sp>
      <p:sp>
        <p:nvSpPr>
          <p:cNvPr id="13" name="visual-15-7-p15-r2-0">
            <a:extLst xmlns:a="http://schemas.openxmlformats.org/drawingml/2006/main">
              <a:ext uri="{FF2B5EF4-FFF2-40B4-BE49-F238E27FC236}">
                <a16:creationId xmlns:a16="http://schemas.microsoft.com/office/drawing/2014/main" id="{DE057750-7748-46BA-B05E-310CE96BC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43300"/>
            <a:ext cx="2476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预期证据角色</a:t>
            </a:r>
          </a:p>
        </p:txBody>
      </p:sp>
      <p:sp>
        <p:nvSpPr>
          <p:cNvPr id="14" name="visual-15-8-p15-r2-1">
            <a:extLst xmlns:a="http://schemas.openxmlformats.org/drawingml/2006/main">
              <a:ext uri="{FF2B5EF4-FFF2-40B4-BE49-F238E27FC236}">
                <a16:creationId xmlns:a16="http://schemas.microsoft.com/office/drawing/2014/main" id="{AEDD6B47-0F6B-468E-894B-FA944EAF2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543300"/>
            <a:ext cx="8191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探索线索；不是效果主证据</a:t>
            </a:r>
          </a:p>
        </p:txBody>
      </p:sp>
      <p:sp>
        <p:nvSpPr>
          <p:cNvPr id="15" name="visual-15-9-p15-r3-0">
            <a:extLst xmlns:a="http://schemas.openxmlformats.org/drawingml/2006/main">
              <a:ext uri="{FF2B5EF4-FFF2-40B4-BE49-F238E27FC236}">
                <a16:creationId xmlns:a16="http://schemas.microsoft.com/office/drawing/2014/main" id="{6F323AE5-94E6-425B-9F7E-D2083F5DB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71950"/>
            <a:ext cx="2476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核验状态</a:t>
            </a:r>
          </a:p>
        </p:txBody>
      </p:sp>
      <p:sp>
        <p:nvSpPr>
          <p:cNvPr id="16" name="visual-15-10-p15-r3-1">
            <a:extLst xmlns:a="http://schemas.openxmlformats.org/drawingml/2006/main">
              <a:ext uri="{FF2B5EF4-FFF2-40B4-BE49-F238E27FC236}">
                <a16:creationId xmlns:a16="http://schemas.microsoft.com/office/drawing/2014/main" id="{9AC84F00-8434-483E-B8B2-196F7C922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171950"/>
            <a:ext cx="8191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verified-with-caveat｜缺少受控效果实验，保留限定</a:t>
            </a:r>
          </a:p>
        </p:txBody>
      </p:sp>
      <p:sp>
        <p:nvSpPr>
          <p:cNvPr id="17" name="visual-15-11-p15-path">
            <a:extLst xmlns:a="http://schemas.openxmlformats.org/drawingml/2006/main">
              <a:ext uri="{FF2B5EF4-FFF2-40B4-BE49-F238E27FC236}">
                <a16:creationId xmlns:a16="http://schemas.microsoft.com/office/drawing/2014/main" id="{E95A214E-39AE-40E7-A017-2D1167D4E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972050"/>
            <a:ext cx="95631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角色与状态独立：已完成入口核验，但相对于当前效果问题仍是探索线索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真实失败演示：教师自己的幻觉引用审计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C9C7607-4BA3-B4DC-A00F-2E67A9FCFF7E}" type="slidenum">
              <a:t>16</a:t>
            </a:fld>
            <a:endParaRPr/>
          </a:p>
        </p:txBody>
      </p:sp>
      <p:sp>
        <p:nvSpPr>
          <p:cNvPr id="6" name="visual-16-0-p16-boundary">
            <a:extLst xmlns:a="http://schemas.openxmlformats.org/drawingml/2006/main">
              <a:ext uri="{FF2B5EF4-FFF2-40B4-BE49-F238E27FC236}">
                <a16:creationId xmlns:a16="http://schemas.microsoft.com/office/drawing/2014/main" id="{8118BD48-1374-4DD9-873A-C4533C836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57250"/>
            <a:ext cx="10744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案例边界：教师真实检索失败 trace（公开 arXiv 元数据，mi-search-trace-demo.md §6）；学生练习仍用讲义 §四·5 虚构案例</a:t>
            </a:r>
          </a:p>
        </p:txBody>
      </p:sp>
      <p:sp>
        <p:nvSpPr>
          <p:cNvPr id="7" name="visual-16-1-p16-intro">
            <a:extLst xmlns:a="http://schemas.openxmlformats.org/drawingml/2006/main">
              <a:ext uri="{FF2B5EF4-FFF2-40B4-BE49-F238E27FC236}">
                <a16:creationId xmlns:a16="http://schemas.microsoft.com/office/drawing/2014/main" id="{CABD6459-348A-4F99-9A07-44504B2BD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52550"/>
            <a:ext cx="10744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教师 AI agent 凭记忆给出 11 个 MI 锚点 ID：抽查即错 6 个，其中 4 条彻底张冠李戴</a:t>
            </a:r>
          </a:p>
        </p:txBody>
      </p:sp>
      <p:sp>
        <p:nvSpPr>
          <p:cNvPr id="8" name="visual-16-2-p16-h-0">
            <a:extLst xmlns:a="http://schemas.openxmlformats.org/drawingml/2006/main">
              <a:ext uri="{FF2B5EF4-FFF2-40B4-BE49-F238E27FC236}">
                <a16:creationId xmlns:a16="http://schemas.microsoft.com/office/drawing/2014/main" id="{741DB216-0E64-426E-A02C-E1F1FE8D3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90700"/>
            <a:ext cx="4572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记忆条目</a:t>
            </a:r>
          </a:p>
        </p:txBody>
      </p:sp>
      <p:sp>
        <p:nvSpPr>
          <p:cNvPr id="9" name="visual-16-3-p16-h-1">
            <a:extLst xmlns:a="http://schemas.openxmlformats.org/drawingml/2006/main">
              <a:ext uri="{FF2B5EF4-FFF2-40B4-BE49-F238E27FC236}">
                <a16:creationId xmlns:a16="http://schemas.microsoft.com/office/drawing/2014/main" id="{B98F438B-51C6-4B3D-92A4-58EDD584A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1790700"/>
            <a:ext cx="3810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实为</a:t>
            </a:r>
          </a:p>
        </p:txBody>
      </p:sp>
      <p:sp>
        <p:nvSpPr>
          <p:cNvPr id="10" name="visual-16-4-p16-h-2">
            <a:extLst xmlns:a="http://schemas.openxmlformats.org/drawingml/2006/main">
              <a:ext uri="{FF2B5EF4-FFF2-40B4-BE49-F238E27FC236}">
                <a16:creationId xmlns:a16="http://schemas.microsoft.com/office/drawing/2014/main" id="{4556DECD-2F10-4F7C-B903-2DCAFC5FF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处置</a:t>
            </a:r>
          </a:p>
        </p:txBody>
      </p:sp>
      <p:sp>
        <p:nvSpPr>
          <p:cNvPr id="11" name="visual-16-5-p16-r0-0">
            <a:extLst xmlns:a="http://schemas.openxmlformats.org/drawingml/2006/main">
              <a:ext uri="{FF2B5EF4-FFF2-40B4-BE49-F238E27FC236}">
                <a16:creationId xmlns:a16="http://schemas.microsoft.com/office/drawing/2014/main" id="{9EF99209-29C6-4499-9054-EC6E061FC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90750"/>
            <a:ext cx="457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2308.10939＝Attribution Patching</a:t>
            </a:r>
          </a:p>
        </p:txBody>
      </p:sp>
      <p:sp>
        <p:nvSpPr>
          <p:cNvPr id="12" name="visual-16-6-p16-r0-1">
            <a:extLst xmlns:a="http://schemas.openxmlformats.org/drawingml/2006/main">
              <a:ext uri="{FF2B5EF4-FFF2-40B4-BE49-F238E27FC236}">
                <a16:creationId xmlns:a16="http://schemas.microsoft.com/office/drawing/2014/main" id="{D4A42CCB-8703-47F8-9942-A98B420F3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190750"/>
            <a:ext cx="381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凝聚态物理论文</a:t>
            </a:r>
          </a:p>
        </p:txBody>
      </p:sp>
      <p:sp>
        <p:nvSpPr>
          <p:cNvPr id="13" name="visual-16-7-p16-r0-2">
            <a:extLst xmlns:a="http://schemas.openxmlformats.org/drawingml/2006/main">
              <a:ext uri="{FF2B5EF4-FFF2-40B4-BE49-F238E27FC236}">
                <a16:creationId xmlns:a16="http://schemas.microsoft.com/office/drawing/2014/main" id="{DEB09DA3-BCF8-49F4-B66E-C42772C5D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19075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rejected</a:t>
            </a:r>
          </a:p>
        </p:txBody>
      </p:sp>
      <p:sp>
        <p:nvSpPr>
          <p:cNvPr id="14" name="visual-16-8-p16-r1-0">
            <a:extLst xmlns:a="http://schemas.openxmlformats.org/drawingml/2006/main">
              <a:ext uri="{FF2B5EF4-FFF2-40B4-BE49-F238E27FC236}">
                <a16:creationId xmlns:a16="http://schemas.microsoft.com/office/drawing/2014/main" id="{BCDDAD1E-2661-4DD4-9870-823A05DDA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47950"/>
            <a:ext cx="457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2203.13787＝Tuned Lens</a:t>
            </a:r>
          </a:p>
        </p:txBody>
      </p:sp>
      <p:sp>
        <p:nvSpPr>
          <p:cNvPr id="15" name="visual-16-9-p16-r1-1">
            <a:extLst xmlns:a="http://schemas.openxmlformats.org/drawingml/2006/main">
              <a:ext uri="{FF2B5EF4-FFF2-40B4-BE49-F238E27FC236}">
                <a16:creationId xmlns:a16="http://schemas.microsoft.com/office/drawing/2014/main" id="{36383EB7-CAF9-4B7B-9A5E-843AD0EF2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647950"/>
            <a:ext cx="381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混合序列预测论文</a:t>
            </a:r>
          </a:p>
        </p:txBody>
      </p:sp>
      <p:sp>
        <p:nvSpPr>
          <p:cNvPr id="16" name="visual-16-10-p16-r1-2">
            <a:extLst xmlns:a="http://schemas.openxmlformats.org/drawingml/2006/main">
              <a:ext uri="{FF2B5EF4-FFF2-40B4-BE49-F238E27FC236}">
                <a16:creationId xmlns:a16="http://schemas.microsoft.com/office/drawing/2014/main" id="{881C02CD-42B8-473A-9580-DDA73507A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64795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rejected</a:t>
            </a:r>
          </a:p>
        </p:txBody>
      </p:sp>
      <p:sp>
        <p:nvSpPr>
          <p:cNvPr id="17" name="visual-16-11-p16-r2-0">
            <a:extLst xmlns:a="http://schemas.openxmlformats.org/drawingml/2006/main">
              <a:ext uri="{FF2B5EF4-FFF2-40B4-BE49-F238E27FC236}">
                <a16:creationId xmlns:a16="http://schemas.microsoft.com/office/drawing/2014/main" id="{E38427D0-96C5-4FDF-98FC-4F53855EC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05150"/>
            <a:ext cx="457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2309.10655＝Emergent Linear Representations</a:t>
            </a:r>
          </a:p>
        </p:txBody>
      </p:sp>
      <p:sp>
        <p:nvSpPr>
          <p:cNvPr id="18" name="visual-16-12-p16-r2-1">
            <a:extLst xmlns:a="http://schemas.openxmlformats.org/drawingml/2006/main">
              <a:ext uri="{FF2B5EF4-FFF2-40B4-BE49-F238E27FC236}">
                <a16:creationId xmlns:a16="http://schemas.microsoft.com/office/drawing/2014/main" id="{A4A2B435-F9BE-493E-8781-60B88E0CE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105150"/>
            <a:ext cx="381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路径规划论文</a:t>
            </a:r>
          </a:p>
        </p:txBody>
      </p:sp>
      <p:sp>
        <p:nvSpPr>
          <p:cNvPr id="19" name="visual-16-13-p16-r2-2">
            <a:extLst xmlns:a="http://schemas.openxmlformats.org/drawingml/2006/main">
              <a:ext uri="{FF2B5EF4-FFF2-40B4-BE49-F238E27FC236}">
                <a16:creationId xmlns:a16="http://schemas.microsoft.com/office/drawing/2014/main" id="{9E976807-E208-4253-BEE8-FB0881DA0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10515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rejected</a:t>
            </a:r>
          </a:p>
        </p:txBody>
      </p:sp>
      <p:sp>
        <p:nvSpPr>
          <p:cNvPr id="20" name="visual-16-14-p16-r3-0">
            <a:extLst xmlns:a="http://schemas.openxmlformats.org/drawingml/2006/main">
              <a:ext uri="{FF2B5EF4-FFF2-40B4-BE49-F238E27FC236}">
                <a16:creationId xmlns:a16="http://schemas.microsoft.com/office/drawing/2014/main" id="{8732ACA9-31DC-460A-B227-97EAC4C20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62350"/>
            <a:ext cx="457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2407.14400＝Gemma Scope</a:t>
            </a:r>
          </a:p>
        </p:txBody>
      </p:sp>
      <p:sp>
        <p:nvSpPr>
          <p:cNvPr id="21" name="visual-16-15-p16-r3-1">
            <a:extLst xmlns:a="http://schemas.openxmlformats.org/drawingml/2006/main">
              <a:ext uri="{FF2B5EF4-FFF2-40B4-BE49-F238E27FC236}">
                <a16:creationId xmlns:a16="http://schemas.microsoft.com/office/drawing/2014/main" id="{F0BD2842-0E6E-404B-A4EC-80660ECF6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562350"/>
            <a:ext cx="381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O-RAN 网络预测论文</a:t>
            </a:r>
          </a:p>
        </p:txBody>
      </p:sp>
      <p:sp>
        <p:nvSpPr>
          <p:cNvPr id="22" name="visual-16-16-p16-r3-2">
            <a:extLst xmlns:a="http://schemas.openxmlformats.org/drawingml/2006/main">
              <a:ext uri="{FF2B5EF4-FFF2-40B4-BE49-F238E27FC236}">
                <a16:creationId xmlns:a16="http://schemas.microsoft.com/office/drawing/2014/main" id="{C9001072-328B-4DEF-A81F-6F8403799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56235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rejected</a:t>
            </a:r>
          </a:p>
        </p:txBody>
      </p:sp>
      <p:sp>
        <p:nvSpPr>
          <p:cNvPr id="23" name="visual-16-17-p16-recover">
            <a:extLst xmlns:a="http://schemas.openxmlformats.org/drawingml/2006/main">
              <a:ext uri="{FF2B5EF4-FFF2-40B4-BE49-F238E27FC236}">
                <a16:creationId xmlns:a16="http://schemas.microsoft.com/office/drawing/2014/main" id="{F77F568A-5E2B-4894-AED2-F9708A416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14800"/>
            <a:ext cx="1066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恢复路径：ti: 题名检索恢复正确 ID（2310.10348 ／ 2303.08112 ／ 2309.00941 ／ 2408.05147）｜失败留档，不重跑到无痕</a:t>
            </a:r>
          </a:p>
        </p:txBody>
      </p:sp>
      <p:sp>
        <p:nvSpPr>
          <p:cNvPr id="24" name="visual-16-18-p16-q-0">
            <a:extLst xmlns:a="http://schemas.openxmlformats.org/drawingml/2006/main">
              <a:ext uri="{FF2B5EF4-FFF2-40B4-BE49-F238E27FC236}">
                <a16:creationId xmlns:a16="http://schemas.microsoft.com/office/drawing/2014/main" id="{FBA825E7-8ED1-4EC5-9B02-D5996A373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743450"/>
            <a:ext cx="495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1. 为什么先写问题再搜？</a:t>
            </a:r>
          </a:p>
        </p:txBody>
      </p:sp>
      <p:sp>
        <p:nvSpPr>
          <p:cNvPr id="25" name="visual-16-19-p16-q-1">
            <a:extLst xmlns:a="http://schemas.openxmlformats.org/drawingml/2006/main">
              <a:ext uri="{FF2B5EF4-FFF2-40B4-BE49-F238E27FC236}">
                <a16:creationId xmlns:a16="http://schemas.microsoft.com/office/drawing/2014/main" id="{7B1A5232-AE13-48CD-BD6D-1AFE581E5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43450"/>
            <a:ext cx="495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2. 纳入 / 排除何时写？</a:t>
            </a:r>
          </a:p>
        </p:txBody>
      </p:sp>
      <p:sp>
        <p:nvSpPr>
          <p:cNvPr id="26" name="visual-16-20-p16-q-2">
            <a:extLst xmlns:a="http://schemas.openxmlformats.org/drawingml/2006/main">
              <a:ext uri="{FF2B5EF4-FFF2-40B4-BE49-F238E27FC236}">
                <a16:creationId xmlns:a16="http://schemas.microsoft.com/office/drawing/2014/main" id="{8DD1BC48-BD03-446B-821D-64CA3344E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334000"/>
            <a:ext cx="495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3. 角色、状态、决定各答什么？</a:t>
            </a:r>
          </a:p>
        </p:txBody>
      </p:sp>
      <p:sp>
        <p:nvSpPr>
          <p:cNvPr id="27" name="visual-16-21-p16-q-3">
            <a:extLst xmlns:a="http://schemas.openxmlformats.org/drawingml/2006/main">
              <a:ext uri="{FF2B5EF4-FFF2-40B4-BE49-F238E27FC236}">
                <a16:creationId xmlns:a16="http://schemas.microsoft.com/office/drawing/2014/main" id="{E5D7526C-438F-41A1-85C9-D777894B2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334000"/>
            <a:ext cx="495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4. caveat 如何保留限定？</a:t>
            </a:r>
          </a:p>
        </p:txBody>
      </p:sp>
      <p:sp>
        <p:nvSpPr>
          <p:cNvPr id="28" name="p16-bottom">
            <a:extLst xmlns:a="http://schemas.openxmlformats.org/drawingml/2006/main">
              <a:ext uri="{FF2B5EF4-FFF2-40B4-BE49-F238E27FC236}">
                <a16:creationId xmlns:a16="http://schemas.microsoft.com/office/drawing/2014/main" id="{30D738BE-F1F3-4755-AD47-71D09DC99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810250"/>
            <a:ext cx="8001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记忆与模型输出只能作线索；rejected 永不入候选表。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个人实践：跑通一次可复盘检索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0F7333B-44AC-F7E9-D49D-FE92F45E0477}" type="slidenum">
              <a:t>17</a:t>
            </a:fld>
            <a:endParaRPr/>
          </a:p>
        </p:txBody>
      </p:sp>
      <p:sp>
        <p:nvSpPr>
          <p:cNvPr id="6" name="visual-17-0-p17-time">
            <a:extLst xmlns:a="http://schemas.openxmlformats.org/drawingml/2006/main">
              <a:ext uri="{FF2B5EF4-FFF2-40B4-BE49-F238E27FC236}">
                <a16:creationId xmlns:a16="http://schemas.microsoft.com/office/drawing/2014/main" id="{A8D17F3E-5FE2-4BEA-B462-EBC20FC69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876300"/>
            <a:ext cx="2952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课堂任务｜按顺序完成最小闭环</a:t>
            </a:r>
          </a:p>
        </p:txBody>
      </p:sp>
      <p:sp>
        <p:nvSpPr>
          <p:cNvPr id="7" name="visual-17-1-p17-n-0">
            <a:extLst xmlns:a="http://schemas.openxmlformats.org/drawingml/2006/main">
              <a:ext uri="{FF2B5EF4-FFF2-40B4-BE49-F238E27FC236}">
                <a16:creationId xmlns:a16="http://schemas.microsoft.com/office/drawing/2014/main" id="{5547D7B6-273D-4A43-B14D-5E4D26232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162050"/>
            <a:ext cx="5524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visual-17-2-p17-t-0">
            <a:extLst xmlns:a="http://schemas.openxmlformats.org/drawingml/2006/main">
              <a:ext uri="{FF2B5EF4-FFF2-40B4-BE49-F238E27FC236}">
                <a16:creationId xmlns:a16="http://schemas.microsoft.com/office/drawing/2014/main" id="{6C5F13A4-E269-42F6-B559-4074DA7A4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162050"/>
            <a:ext cx="3333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写问题（或沿用贯穿案例）</a:t>
            </a:r>
          </a:p>
        </p:txBody>
      </p:sp>
      <p:sp>
        <p:nvSpPr>
          <p:cNvPr id="9" name="visual-17-3-p17-n-1">
            <a:extLst xmlns:a="http://schemas.openxmlformats.org/drawingml/2006/main">
              <a:ext uri="{FF2B5EF4-FFF2-40B4-BE49-F238E27FC236}">
                <a16:creationId xmlns:a16="http://schemas.microsoft.com/office/drawing/2014/main" id="{BF457B34-AAD5-4084-A507-212E76D01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57400"/>
            <a:ext cx="5524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visual-17-4-p17-t-1">
            <a:extLst xmlns:a="http://schemas.openxmlformats.org/drawingml/2006/main">
              <a:ext uri="{FF2B5EF4-FFF2-40B4-BE49-F238E27FC236}">
                <a16:creationId xmlns:a16="http://schemas.microsoft.com/office/drawing/2014/main" id="{F810C879-E61B-44D5-853E-E39C5FA73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057400"/>
            <a:ext cx="3333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抽 5 个关键词＋同义/上位词</a:t>
            </a:r>
          </a:p>
        </p:txBody>
      </p:sp>
      <p:sp>
        <p:nvSpPr>
          <p:cNvPr id="11" name="visual-17-5-p17-n-2">
            <a:extLst xmlns:a="http://schemas.openxmlformats.org/drawingml/2006/main">
              <a:ext uri="{FF2B5EF4-FFF2-40B4-BE49-F238E27FC236}">
                <a16:creationId xmlns:a16="http://schemas.microsoft.com/office/drawing/2014/main" id="{1D663D0C-B61D-4314-9297-E94B6CE2F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952750"/>
            <a:ext cx="5524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12" name="visual-17-6-p17-t-2">
            <a:extLst xmlns:a="http://schemas.openxmlformats.org/drawingml/2006/main">
              <a:ext uri="{FF2B5EF4-FFF2-40B4-BE49-F238E27FC236}">
                <a16:creationId xmlns:a16="http://schemas.microsoft.com/office/drawing/2014/main" id="{D33BBB45-6670-4D38-958C-5AA65CC53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952750"/>
            <a:ext cx="3333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构造一条检索式</a:t>
            </a:r>
          </a:p>
        </p:txBody>
      </p:sp>
      <p:sp>
        <p:nvSpPr>
          <p:cNvPr id="13" name="visual-17-7-p17-n-3">
            <a:extLst xmlns:a="http://schemas.openxmlformats.org/drawingml/2006/main">
              <a:ext uri="{FF2B5EF4-FFF2-40B4-BE49-F238E27FC236}">
                <a16:creationId xmlns:a16="http://schemas.microsoft.com/office/drawing/2014/main" id="{4B005FA8-75CD-4188-8D98-60DF51C0A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848100"/>
            <a:ext cx="5524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14" name="visual-17-8-p17-t-3">
            <a:extLst xmlns:a="http://schemas.openxmlformats.org/drawingml/2006/main">
              <a:ext uri="{FF2B5EF4-FFF2-40B4-BE49-F238E27FC236}">
                <a16:creationId xmlns:a16="http://schemas.microsoft.com/office/drawing/2014/main" id="{5EC3A49D-BD1F-48A0-9083-A8E0A1E1E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848100"/>
            <a:ext cx="3333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让 AI 生成 3-5 条文献线索</a:t>
            </a:r>
          </a:p>
        </p:txBody>
      </p:sp>
      <p:sp>
        <p:nvSpPr>
          <p:cNvPr id="15" name="visual-17-9-p17-n-4">
            <a:extLst xmlns:a="http://schemas.openxmlformats.org/drawingml/2006/main">
              <a:ext uri="{FF2B5EF4-FFF2-40B4-BE49-F238E27FC236}">
                <a16:creationId xmlns:a16="http://schemas.microsoft.com/office/drawing/2014/main" id="{F173784B-E8D7-4056-B60B-694700DE6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1162050"/>
            <a:ext cx="5524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  <p:sp>
        <p:nvSpPr>
          <p:cNvPr id="16" name="visual-17-10-p17-t-4">
            <a:extLst xmlns:a="http://schemas.openxmlformats.org/drawingml/2006/main">
              <a:ext uri="{FF2B5EF4-FFF2-40B4-BE49-F238E27FC236}">
                <a16:creationId xmlns:a16="http://schemas.microsoft.com/office/drawing/2014/main" id="{69433D66-FD7F-4747-BDFE-8C2FE846C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1162050"/>
            <a:ext cx="3333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对至少 2 条执行入口核验</a:t>
            </a:r>
          </a:p>
        </p:txBody>
      </p:sp>
      <p:sp>
        <p:nvSpPr>
          <p:cNvPr id="17" name="visual-17-11-p17-n-5">
            <a:extLst xmlns:a="http://schemas.openxmlformats.org/drawingml/2006/main">
              <a:ext uri="{FF2B5EF4-FFF2-40B4-BE49-F238E27FC236}">
                <a16:creationId xmlns:a16="http://schemas.microsoft.com/office/drawing/2014/main" id="{A5DFB6A0-8D8D-427C-9F2B-3CF4BF33B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057400"/>
            <a:ext cx="5524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  <p:sp>
        <p:nvSpPr>
          <p:cNvPr id="18" name="visual-17-12-p17-t-5">
            <a:extLst xmlns:a="http://schemas.openxmlformats.org/drawingml/2006/main">
              <a:ext uri="{FF2B5EF4-FFF2-40B4-BE49-F238E27FC236}">
                <a16:creationId xmlns:a16="http://schemas.microsoft.com/office/drawing/2014/main" id="{1529AFB4-1D2E-4841-97F6-9FD6387D6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057400"/>
            <a:ext cx="3333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审计至少 2 条，留 pending/rejected</a:t>
            </a:r>
          </a:p>
        </p:txBody>
      </p:sp>
      <p:sp>
        <p:nvSpPr>
          <p:cNvPr id="19" name="visual-17-13-p17-n-6">
            <a:extLst xmlns:a="http://schemas.openxmlformats.org/drawingml/2006/main">
              <a:ext uri="{FF2B5EF4-FFF2-40B4-BE49-F238E27FC236}">
                <a16:creationId xmlns:a16="http://schemas.microsoft.com/office/drawing/2014/main" id="{D78F08E3-577C-4CD9-8712-795B8B496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952750"/>
            <a:ext cx="5524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  <p:sp>
        <p:nvSpPr>
          <p:cNvPr id="20" name="visual-17-14-p17-t-6">
            <a:extLst xmlns:a="http://schemas.openxmlformats.org/drawingml/2006/main">
              <a:ext uri="{FF2B5EF4-FFF2-40B4-BE49-F238E27FC236}">
                <a16:creationId xmlns:a16="http://schemas.microsoft.com/office/drawing/2014/main" id="{9A651C1B-2F00-4C62-B4DE-46670074D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952750"/>
            <a:ext cx="3333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标证据角色</a:t>
            </a:r>
          </a:p>
        </p:txBody>
      </p:sp>
      <p:sp>
        <p:nvSpPr>
          <p:cNvPr id="21" name="visual-17-15-p17-n-7">
            <a:extLst xmlns:a="http://schemas.openxmlformats.org/drawingml/2006/main">
              <a:ext uri="{FF2B5EF4-FFF2-40B4-BE49-F238E27FC236}">
                <a16:creationId xmlns:a16="http://schemas.microsoft.com/office/drawing/2014/main" id="{55064B3D-EC6F-4585-B5D2-4F856E387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3848100"/>
            <a:ext cx="5524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  <p:sp>
        <p:nvSpPr>
          <p:cNvPr id="22" name="visual-17-16-p17-t-7">
            <a:extLst xmlns:a="http://schemas.openxmlformats.org/drawingml/2006/main">
              <a:ext uri="{FF2B5EF4-FFF2-40B4-BE49-F238E27FC236}">
                <a16:creationId xmlns:a16="http://schemas.microsoft.com/office/drawing/2014/main" id="{6516C641-4745-4EEA-A0D7-3274D24FA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3848100"/>
            <a:ext cx="3333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写 AI 使用记录</a:t>
            </a:r>
          </a:p>
        </p:txBody>
      </p:sp>
      <p:sp>
        <p:nvSpPr>
          <p:cNvPr id="23" name="visual-17-17-p17-choice">
            <a:extLst xmlns:a="http://schemas.openxmlformats.org/drawingml/2006/main">
              <a:ext uri="{FF2B5EF4-FFF2-40B4-BE49-F238E27FC236}">
                <a16:creationId xmlns:a16="http://schemas.microsoft.com/office/drawing/2014/main" id="{CFCBDC7C-3EE5-47CB-817C-1D723FB9C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1390650"/>
            <a:ext cx="2381250" cy="293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选题顺序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本人真实问题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↓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导师组公开问题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↓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课程贯穿案例</a:t>
            </a:r>
          </a:p>
        </p:txBody>
      </p:sp>
      <p:sp>
        <p:nvSpPr>
          <p:cNvPr id="24" name="visual-17-18-p17-bottom">
            <a:extLst xmlns:a="http://schemas.openxmlformats.org/drawingml/2006/main">
              <a:ext uri="{FF2B5EF4-FFF2-40B4-BE49-F238E27FC236}">
                <a16:creationId xmlns:a16="http://schemas.microsoft.com/office/drawing/2014/main" id="{20ED88F5-7C43-4B42-857F-9B23008E4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105400"/>
            <a:ext cx="88392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不得直接复刻演示题；验收看记录、状态、角色与核验理由。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实践停留页：模板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1C6C81E-38B9-7560-621D-5A151A79DF9B}" type="slidenum">
              <a:t>18</a:t>
            </a:fld>
            <a:endParaRPr/>
          </a:p>
        </p:txBody>
      </p:sp>
      <p:sp>
        <p:nvSpPr>
          <p:cNvPr id="6" name="p18-left-label">
            <a:extLst xmlns:a="http://schemas.openxmlformats.org/drawingml/2006/main">
              <a:ext uri="{FF2B5EF4-FFF2-40B4-BE49-F238E27FC236}">
                <a16:creationId xmlns:a16="http://schemas.microsoft.com/office/drawing/2014/main" id="{D06BD27E-5BC6-429C-8401-0725EE4E9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0125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检索记录</a:t>
            </a:r>
          </a:p>
        </p:txBody>
      </p:sp>
      <p:sp>
        <p:nvSpPr>
          <p:cNvPr id="7" name="p18-left">
            <a:extLst xmlns:a="http://schemas.openxmlformats.org/drawingml/2006/main">
              <a:ext uri="{FF2B5EF4-FFF2-40B4-BE49-F238E27FC236}">
                <a16:creationId xmlns:a16="http://schemas.microsoft.com/office/drawing/2014/main" id="{CCD242FA-565A-4956-9E8D-E945F63A1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33525"/>
            <a:ext cx="4762500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20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库：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20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检索式：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20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日期 / 时间范围：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20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命中数 / 筛选后：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20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纳入条件：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20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排除条件：</a:t>
            </a:r>
          </a:p>
        </p:txBody>
      </p:sp>
      <p:sp>
        <p:nvSpPr>
          <p:cNvPr id="8" name="p18-mid">
            <a:extLst xmlns:a="http://schemas.openxmlformats.org/drawingml/2006/main">
              <a:ext uri="{FF2B5EF4-FFF2-40B4-BE49-F238E27FC236}">
                <a16:creationId xmlns:a16="http://schemas.microsoft.com/office/drawing/2014/main" id="{6621979D-1039-4990-9C3C-67D17652C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047750"/>
            <a:ext cx="190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sp>
        <p:nvSpPr>
          <p:cNvPr id="9" name="p18-right-label">
            <a:extLst xmlns:a="http://schemas.openxmlformats.org/drawingml/2006/main">
              <a:ext uri="{FF2B5EF4-FFF2-40B4-BE49-F238E27FC236}">
                <a16:creationId xmlns:a16="http://schemas.microsoft.com/office/drawing/2014/main" id="{F0B18338-DC10-4BE9-9FF3-17B9326A8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000125"/>
            <a:ext cx="5143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候选文献表 · 只放纳入且非 rejected</a:t>
            </a:r>
          </a:p>
        </p:txBody>
      </p:sp>
      <p:sp>
        <p:nvSpPr>
          <p:cNvPr id="10" name="p18-right">
            <a:extLst xmlns:a="http://schemas.openxmlformats.org/drawingml/2006/main">
              <a:ext uri="{FF2B5EF4-FFF2-40B4-BE49-F238E27FC236}">
                <a16:creationId xmlns:a16="http://schemas.microsoft.com/office/drawing/2014/main" id="{691801F4-A14C-45F5-8535-5285EFCC9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24025"/>
            <a:ext cx="5143500" cy="2152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20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题名（核验后）｜作者｜年份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20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稳定来源｜对应问题 / 拟用主张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20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预期证据角色｜纳入理由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20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核验状态｜caveat / 允许主张</a:t>
            </a:r>
          </a:p>
        </p:txBody>
      </p:sp>
      <p:sp>
        <p:nvSpPr>
          <p:cNvPr id="11" name="p18-minimum">
            <a:extLst xmlns:a="http://schemas.openxmlformats.org/drawingml/2006/main">
              <a:ext uri="{FF2B5EF4-FFF2-40B4-BE49-F238E27FC236}">
                <a16:creationId xmlns:a16="http://schemas.microsoft.com/office/drawing/2014/main" id="{3B2F17F1-59F8-467C-8FC6-804E2D182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95825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最低完成｜1 条检索记录 · 2 条来源审计 · 1 条已核验候选记录 · 1 条 AI 记录</a:t>
            </a:r>
          </a:p>
        </p:txBody>
      </p:sp>
      <p:sp>
        <p:nvSpPr>
          <p:cNvPr id="12" name="source">
            <a:extLst xmlns:a="http://schemas.openxmlformats.org/drawingml/2006/main">
              <a:ext uri="{FF2B5EF4-FFF2-40B4-BE49-F238E27FC236}">
                <a16:creationId xmlns:a16="http://schemas.microsoft.com/office/drawing/2014/main" id="{60A955B9-EE15-4AE1-A63C-D9D11C97F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写入：notes/literature-search.md · 排除理由与 rejected 另留筛选/来源审计记录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同伴互查三问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F91274-D221-1BB4-3BF9-836E3AD31EBE}" type="slidenum">
              <a:t>19</a:t>
            </a:fld>
            <a:endParaRPr/>
          </a:p>
        </p:txBody>
      </p:sp>
      <p:sp>
        <p:nvSpPr>
          <p:cNvPr id="6" name="visual-19-0-p19-mode">
            <a:extLst xmlns:a="http://schemas.openxmlformats.org/drawingml/2006/main">
              <a:ext uri="{FF2B5EF4-FFF2-40B4-BE49-F238E27FC236}">
                <a16:creationId xmlns:a16="http://schemas.microsoft.com/office/drawing/2014/main" id="{DF9F3606-BC1D-4F45-BE92-681E7046A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028700"/>
            <a:ext cx="304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两人互查｜作者记录处理决定</a:t>
            </a:r>
          </a:p>
        </p:txBody>
      </p:sp>
      <p:sp>
        <p:nvSpPr>
          <p:cNvPr id="7" name="visual-19-1-p19-qn-0">
            <a:extLst xmlns:a="http://schemas.openxmlformats.org/drawingml/2006/main">
              <a:ext uri="{FF2B5EF4-FFF2-40B4-BE49-F238E27FC236}">
                <a16:creationId xmlns:a16="http://schemas.microsoft.com/office/drawing/2014/main" id="{6B2604ED-484E-444D-A3E1-E48064E4C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695450"/>
            <a:ext cx="857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Q1</a:t>
            </a:r>
          </a:p>
        </p:txBody>
      </p:sp>
      <p:sp>
        <p:nvSpPr>
          <p:cNvPr id="8" name="visual-19-2-p19-q-0">
            <a:extLst xmlns:a="http://schemas.openxmlformats.org/drawingml/2006/main">
              <a:ext uri="{FF2B5EF4-FFF2-40B4-BE49-F238E27FC236}">
                <a16:creationId xmlns:a16="http://schemas.microsoft.com/office/drawing/2014/main" id="{337B293E-08BF-4A94-AE15-240064181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1695450"/>
            <a:ext cx="6191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检索可复盘吗？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库、式、日期、命中与筛选齐吗？</a:t>
            </a:r>
          </a:p>
        </p:txBody>
      </p:sp>
      <p:sp>
        <p:nvSpPr>
          <p:cNvPr id="9" name="visual-19-3-p19-qn-1">
            <a:extLst xmlns:a="http://schemas.openxmlformats.org/drawingml/2006/main">
              <a:ext uri="{FF2B5EF4-FFF2-40B4-BE49-F238E27FC236}">
                <a16:creationId xmlns:a16="http://schemas.microsoft.com/office/drawing/2014/main" id="{FC0842B5-426D-4508-9902-35A76980D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00350"/>
            <a:ext cx="857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Q2</a:t>
            </a:r>
          </a:p>
        </p:txBody>
      </p:sp>
      <p:sp>
        <p:nvSpPr>
          <p:cNvPr id="10" name="visual-19-4-p19-q-1">
            <a:extLst xmlns:a="http://schemas.openxmlformats.org/drawingml/2006/main">
              <a:ext uri="{FF2B5EF4-FFF2-40B4-BE49-F238E27FC236}">
                <a16:creationId xmlns:a16="http://schemas.microsoft.com/office/drawing/2014/main" id="{5C6960C4-30D1-4A36-A760-BE9D8A3A3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2800350"/>
            <a:ext cx="6191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预期角色有对应问题/拟用主张吗？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是否与状态、筛选决定分开？</a:t>
            </a:r>
          </a:p>
        </p:txBody>
      </p:sp>
      <p:sp>
        <p:nvSpPr>
          <p:cNvPr id="11" name="visual-19-5-p19-qn-2">
            <a:extLst xmlns:a="http://schemas.openxmlformats.org/drawingml/2006/main">
              <a:ext uri="{FF2B5EF4-FFF2-40B4-BE49-F238E27FC236}">
                <a16:creationId xmlns:a16="http://schemas.microsoft.com/office/drawing/2014/main" id="{63AF3260-0AD0-4D35-9AB8-81B34131D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905250"/>
            <a:ext cx="857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Q3</a:t>
            </a:r>
          </a:p>
        </p:txBody>
      </p:sp>
      <p:sp>
        <p:nvSpPr>
          <p:cNvPr id="12" name="visual-19-6-p19-q-2">
            <a:extLst xmlns:a="http://schemas.openxmlformats.org/drawingml/2006/main">
              <a:ext uri="{FF2B5EF4-FFF2-40B4-BE49-F238E27FC236}">
                <a16:creationId xmlns:a16="http://schemas.microsoft.com/office/drawing/2014/main" id="{74A6EFDA-46C1-44CC-B576-A57D01B4A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3905250"/>
            <a:ext cx="6191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身份与一条拟用主张回原文了吗？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rejected / pending 理由成立吗？</a:t>
            </a:r>
          </a:p>
        </p:txBody>
      </p:sp>
      <p:sp>
        <p:nvSpPr>
          <p:cNvPr id="13" name="visual-19-7-p19-state">
            <a:extLst xmlns:a="http://schemas.openxmlformats.org/drawingml/2006/main">
              <a:ext uri="{FF2B5EF4-FFF2-40B4-BE49-F238E27FC236}">
                <a16:creationId xmlns:a16="http://schemas.microsoft.com/office/drawing/2014/main" id="{6EC30814-EBC7-41DE-BBEF-D01B8930C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771650"/>
            <a:ext cx="2476500" cy="2647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作者记录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采纳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暂不采纳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待核验</a:t>
            </a:r>
          </a:p>
        </p:txBody>
      </p:sp>
      <p:sp>
        <p:nvSpPr>
          <p:cNvPr id="14" name="visual-19-8-p19-bottom">
            <a:extLst xmlns:a="http://schemas.openxmlformats.org/drawingml/2006/main">
              <a:ext uri="{FF2B5EF4-FFF2-40B4-BE49-F238E27FC236}">
                <a16:creationId xmlns:a16="http://schemas.microsoft.com/office/drawing/2014/main" id="{0C52B05D-2EE7-4C84-BF23-9FA58F35E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219700"/>
            <a:ext cx="704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同伴只提问题，不替作者决定，不形成共同提交。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本讲知识点总结：检索是证据入口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44E025A-983C-6D44-79C6-4612AACD43FC}" type="slidenum">
              <a:t>20</a:t>
            </a:fld>
            <a:endParaRPr/>
          </a:p>
        </p:txBody>
      </p:sp>
      <p:sp>
        <p:nvSpPr>
          <p:cNvPr id="6" name="visual-20-0-p20-chain-0">
            <a:extLst xmlns:a="http://schemas.openxmlformats.org/drawingml/2006/main">
              <a:ext uri="{FF2B5EF4-FFF2-40B4-BE49-F238E27FC236}">
                <a16:creationId xmlns:a16="http://schemas.microsoft.com/office/drawing/2014/main" id="{D7FBB432-3AFB-451F-BA0C-BB45F44C0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66800"/>
            <a:ext cx="2381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问题初稿</a:t>
            </a:r>
          </a:p>
        </p:txBody>
      </p:sp>
      <p:sp>
        <p:nvSpPr>
          <p:cNvPr id="7" name="visual-20-1-p20-arrow-0">
            <a:extLst xmlns:a="http://schemas.openxmlformats.org/drawingml/2006/main">
              <a:ext uri="{FF2B5EF4-FFF2-40B4-BE49-F238E27FC236}">
                <a16:creationId xmlns:a16="http://schemas.microsoft.com/office/drawing/2014/main" id="{8F81C4A0-B781-4F6E-8C5B-A733CE601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1162050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8" name="visual-20-2-p20-chain-1">
            <a:extLst xmlns:a="http://schemas.openxmlformats.org/drawingml/2006/main">
              <a:ext uri="{FF2B5EF4-FFF2-40B4-BE49-F238E27FC236}">
                <a16:creationId xmlns:a16="http://schemas.microsoft.com/office/drawing/2014/main" id="{8F9BD0A4-E14D-4DD1-BBA8-88B5A423F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066800"/>
            <a:ext cx="2381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关键词／检索式</a:t>
            </a:r>
          </a:p>
        </p:txBody>
      </p:sp>
      <p:sp>
        <p:nvSpPr>
          <p:cNvPr id="9" name="visual-20-3-p20-arrow-1">
            <a:extLst xmlns:a="http://schemas.openxmlformats.org/drawingml/2006/main">
              <a:ext uri="{FF2B5EF4-FFF2-40B4-BE49-F238E27FC236}">
                <a16:creationId xmlns:a16="http://schemas.microsoft.com/office/drawing/2014/main" id="{A67C1FFB-8E0B-4A57-8000-77AB4942A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1162050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0" name="visual-20-4-p20-chain-2">
            <a:extLst xmlns:a="http://schemas.openxmlformats.org/drawingml/2006/main">
              <a:ext uri="{FF2B5EF4-FFF2-40B4-BE49-F238E27FC236}">
                <a16:creationId xmlns:a16="http://schemas.microsoft.com/office/drawing/2014/main" id="{EF569530-87D1-4F4D-A63D-31CB667C4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066800"/>
            <a:ext cx="2381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来源审计</a:t>
            </a:r>
          </a:p>
        </p:txBody>
      </p:sp>
      <p:sp>
        <p:nvSpPr>
          <p:cNvPr id="11" name="visual-20-5-p20-arrow-2">
            <a:extLst xmlns:a="http://schemas.openxmlformats.org/drawingml/2006/main">
              <a:ext uri="{FF2B5EF4-FFF2-40B4-BE49-F238E27FC236}">
                <a16:creationId xmlns:a16="http://schemas.microsoft.com/office/drawing/2014/main" id="{14FDB0AB-5573-4034-A76C-514FCE6C3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1162050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2" name="visual-20-6-p20-chain-3">
            <a:extLst xmlns:a="http://schemas.openxmlformats.org/drawingml/2006/main">
              <a:ext uri="{FF2B5EF4-FFF2-40B4-BE49-F238E27FC236}">
                <a16:creationId xmlns:a16="http://schemas.microsoft.com/office/drawing/2014/main" id="{59BA110B-424E-4CAA-A94D-78ED34BC8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1066800"/>
            <a:ext cx="2381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候选文献表</a:t>
            </a:r>
          </a:p>
        </p:txBody>
      </p:sp>
      <p:sp>
        <p:nvSpPr>
          <p:cNvPr id="13" name="visual-20-7-p20-row-label-0">
            <a:extLst xmlns:a="http://schemas.openxmlformats.org/drawingml/2006/main">
              <a:ext uri="{FF2B5EF4-FFF2-40B4-BE49-F238E27FC236}">
                <a16:creationId xmlns:a16="http://schemas.microsoft.com/office/drawing/2014/main" id="{6D80DA47-3FF9-4FE6-AC82-A1C2AA969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95500"/>
            <a:ext cx="1104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角色</a:t>
            </a:r>
          </a:p>
        </p:txBody>
      </p:sp>
      <p:sp>
        <p:nvSpPr>
          <p:cNvPr id="14" name="visual-20-8-p20-row-basis-0">
            <a:extLst xmlns:a="http://schemas.openxmlformats.org/drawingml/2006/main">
              <a:ext uri="{FF2B5EF4-FFF2-40B4-BE49-F238E27FC236}">
                <a16:creationId xmlns:a16="http://schemas.microsoft.com/office/drawing/2014/main" id="{1491AA5D-DC9B-4CA1-87ED-439471C5B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2095500"/>
            <a:ext cx="2686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相对于问题或拟用主张</a:t>
            </a:r>
          </a:p>
        </p:txBody>
      </p:sp>
      <p:sp>
        <p:nvSpPr>
          <p:cNvPr id="15" name="visual-20-9-p20-row-content-0">
            <a:extLst xmlns:a="http://schemas.openxmlformats.org/drawingml/2006/main">
              <a:ext uri="{FF2B5EF4-FFF2-40B4-BE49-F238E27FC236}">
                <a16:creationId xmlns:a16="http://schemas.microsoft.com/office/drawing/2014/main" id="{9FE6C6CF-BDC9-45B2-9D26-9E7320095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095500"/>
            <a:ext cx="6705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主／补充／对比／探索线索</a:t>
            </a:r>
          </a:p>
        </p:txBody>
      </p:sp>
      <p:sp>
        <p:nvSpPr>
          <p:cNvPr id="16" name="visual-20-10-p20-row-label-1">
            <a:extLst xmlns:a="http://schemas.openxmlformats.org/drawingml/2006/main">
              <a:ext uri="{FF2B5EF4-FFF2-40B4-BE49-F238E27FC236}">
                <a16:creationId xmlns:a16="http://schemas.microsoft.com/office/drawing/2014/main" id="{24A2BB4F-5F7E-4AE9-B43F-C60A0FB9C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90850"/>
            <a:ext cx="1104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状态</a:t>
            </a:r>
          </a:p>
        </p:txBody>
      </p:sp>
      <p:sp>
        <p:nvSpPr>
          <p:cNvPr id="17" name="visual-20-11-p20-row-basis-1">
            <a:extLst xmlns:a="http://schemas.openxmlformats.org/drawingml/2006/main">
              <a:ext uri="{FF2B5EF4-FFF2-40B4-BE49-F238E27FC236}">
                <a16:creationId xmlns:a16="http://schemas.microsoft.com/office/drawing/2014/main" id="{C45C41CC-06BC-4B70-A18C-6702A3532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2990850"/>
            <a:ext cx="2686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回原文裁定</a:t>
            </a:r>
          </a:p>
        </p:txBody>
      </p:sp>
      <p:sp>
        <p:nvSpPr>
          <p:cNvPr id="18" name="visual-20-12-p20-row-content-1">
            <a:extLst xmlns:a="http://schemas.openxmlformats.org/drawingml/2006/main">
              <a:ext uri="{FF2B5EF4-FFF2-40B4-BE49-F238E27FC236}">
                <a16:creationId xmlns:a16="http://schemas.microsoft.com/office/drawing/2014/main" id="{748D34FD-AAEC-4341-9BB8-C1BD0261D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990850"/>
            <a:ext cx="6705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pending／verified／verified-with-caveat／rejected</a:t>
            </a:r>
          </a:p>
        </p:txBody>
      </p:sp>
      <p:sp>
        <p:nvSpPr>
          <p:cNvPr id="19" name="visual-20-13-p20-row-label-2">
            <a:extLst xmlns:a="http://schemas.openxmlformats.org/drawingml/2006/main">
              <a:ext uri="{FF2B5EF4-FFF2-40B4-BE49-F238E27FC236}">
                <a16:creationId xmlns:a16="http://schemas.microsoft.com/office/drawing/2014/main" id="{C155B482-36D1-465C-BB91-7AE0F787C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86200"/>
            <a:ext cx="1104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决定</a:t>
            </a:r>
          </a:p>
        </p:txBody>
      </p:sp>
      <p:sp>
        <p:nvSpPr>
          <p:cNvPr id="20" name="visual-20-14-p20-row-basis-2">
            <a:extLst xmlns:a="http://schemas.openxmlformats.org/drawingml/2006/main">
              <a:ext uri="{FF2B5EF4-FFF2-40B4-BE49-F238E27FC236}">
                <a16:creationId xmlns:a16="http://schemas.microsoft.com/office/drawing/2014/main" id="{C6FFD67A-4350-482F-9B45-72E0C998C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3886200"/>
            <a:ext cx="2686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人工记录</a:t>
            </a:r>
          </a:p>
        </p:txBody>
      </p:sp>
      <p:sp>
        <p:nvSpPr>
          <p:cNvPr id="21" name="visual-20-15-p20-row-content-2">
            <a:extLst xmlns:a="http://schemas.openxmlformats.org/drawingml/2006/main">
              <a:ext uri="{FF2B5EF4-FFF2-40B4-BE49-F238E27FC236}">
                <a16:creationId xmlns:a16="http://schemas.microsoft.com/office/drawing/2014/main" id="{B51A8734-B39E-4F8B-A4EB-07BA79278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886200"/>
            <a:ext cx="6705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纳入／排除及理由；冲突证据保留</a:t>
            </a:r>
          </a:p>
        </p:txBody>
      </p:sp>
      <p:sp>
        <p:nvSpPr>
          <p:cNvPr id="22" name="visual-20-16-p20-boundary">
            <a:extLst xmlns:a="http://schemas.openxmlformats.org/drawingml/2006/main">
              <a:ext uri="{FF2B5EF4-FFF2-40B4-BE49-F238E27FC236}">
                <a16:creationId xmlns:a16="http://schemas.microsoft.com/office/drawing/2014/main" id="{49884C67-CFED-41E2-8CF5-C83754C50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857750"/>
            <a:ext cx="97917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AI 可以扩展、检索、整理和提出建议；</a:t>
            </a:r>
          </a:p>
          <a:p xmlns:a="http://schemas.openxmlformats.org/drawingml/2006/main">
            <a:pPr algn="ctr">
              <a:lnSpc>
                <a:spcPct val="112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学生确认问题、主张、角色与纳入决定。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退出卡与第 4 课预告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6DF2BE2-2DFA-1C03-677D-BDC2260D6D92}" type="slidenum">
              <a:t>21</a:t>
            </a:fld>
            <a:endParaRPr/>
          </a:p>
        </p:txBody>
      </p:sp>
      <p:sp>
        <p:nvSpPr>
          <p:cNvPr id="6" name="visual-21-0-p21-exit-title">
            <a:extLst xmlns:a="http://schemas.openxmlformats.org/drawingml/2006/main">
              <a:ext uri="{FF2B5EF4-FFF2-40B4-BE49-F238E27FC236}">
                <a16:creationId xmlns:a16="http://schemas.microsoft.com/office/drawing/2014/main" id="{085A9173-2A7C-44C8-B7CC-49DA17607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4476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退出卡</a:t>
            </a:r>
          </a:p>
        </p:txBody>
      </p:sp>
      <p:sp>
        <p:nvSpPr>
          <p:cNvPr id="7" name="visual-21-1-p21-i-0">
            <a:extLst xmlns:a="http://schemas.openxmlformats.org/drawingml/2006/main">
              <a:ext uri="{FF2B5EF4-FFF2-40B4-BE49-F238E27FC236}">
                <a16:creationId xmlns:a16="http://schemas.microsoft.com/office/drawing/2014/main" id="{300E1573-B329-45A8-9B78-F3F41C961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76400"/>
            <a:ext cx="457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01  最清楚的一点</a:t>
            </a:r>
          </a:p>
        </p:txBody>
      </p:sp>
      <p:sp>
        <p:nvSpPr>
          <p:cNvPr id="8" name="visual-21-2-p21-i-1">
            <a:extLst xmlns:a="http://schemas.openxmlformats.org/drawingml/2006/main">
              <a:ext uri="{FF2B5EF4-FFF2-40B4-BE49-F238E27FC236}">
                <a16:creationId xmlns:a16="http://schemas.microsoft.com/office/drawing/2014/main" id="{9497F9D7-6B60-4BD2-A553-1A3C141CB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43150"/>
            <a:ext cx="457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02  仍然困惑的一点</a:t>
            </a:r>
          </a:p>
        </p:txBody>
      </p:sp>
      <p:sp>
        <p:nvSpPr>
          <p:cNvPr id="9" name="visual-21-3-p21-i-2">
            <a:extLst xmlns:a="http://schemas.openxmlformats.org/drawingml/2006/main">
              <a:ext uri="{FF2B5EF4-FFF2-40B4-BE49-F238E27FC236}">
                <a16:creationId xmlns:a16="http://schemas.microsoft.com/office/drawing/2014/main" id="{D3652F5F-7DE2-48BA-929A-4F1179027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09900"/>
            <a:ext cx="457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03  检索是否可复盘</a:t>
            </a:r>
          </a:p>
        </p:txBody>
      </p:sp>
      <p:sp>
        <p:nvSpPr>
          <p:cNvPr id="10" name="visual-21-4-p21-i-3">
            <a:extLst xmlns:a="http://schemas.openxmlformats.org/drawingml/2006/main">
              <a:ext uri="{FF2B5EF4-FFF2-40B4-BE49-F238E27FC236}">
                <a16:creationId xmlns:a16="http://schemas.microsoft.com/office/drawing/2014/main" id="{80977670-1F0E-437C-9538-EA6C2B323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76650"/>
            <a:ext cx="457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04  当前 verified 条数</a:t>
            </a:r>
          </a:p>
        </p:txBody>
      </p:sp>
      <p:sp>
        <p:nvSpPr>
          <p:cNvPr id="11" name="visual-21-5-p21-i-4">
            <a:extLst xmlns:a="http://schemas.openxmlformats.org/drawingml/2006/main">
              <a:ext uri="{FF2B5EF4-FFF2-40B4-BE49-F238E27FC236}">
                <a16:creationId xmlns:a16="http://schemas.microsoft.com/office/drawing/2014/main" id="{D09094DF-0A5B-42B7-8E9C-B83A30E25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343400"/>
            <a:ext cx="457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05  第 4 课需补的案例</a:t>
            </a:r>
          </a:p>
        </p:txBody>
      </p:sp>
      <p:sp>
        <p:nvSpPr>
          <p:cNvPr id="12" name="visual-21-6-p21-path-title">
            <a:extLst xmlns:a="http://schemas.openxmlformats.org/drawingml/2006/main">
              <a:ext uri="{FF2B5EF4-FFF2-40B4-BE49-F238E27FC236}">
                <a16:creationId xmlns:a16="http://schemas.microsoft.com/office/drawing/2014/main" id="{7B351669-2C29-43C8-B139-2F469C82B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066800"/>
            <a:ext cx="4476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接下来</a:t>
            </a:r>
          </a:p>
        </p:txBody>
      </p:sp>
      <p:sp>
        <p:nvSpPr>
          <p:cNvPr id="13" name="visual-21-7-p21-p-0">
            <a:extLst xmlns:a="http://schemas.openxmlformats.org/drawingml/2006/main">
              <a:ext uri="{FF2B5EF4-FFF2-40B4-BE49-F238E27FC236}">
                <a16:creationId xmlns:a16="http://schemas.microsoft.com/office/drawing/2014/main" id="{3043C9F9-0C06-4C6E-B581-76E9D6A42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809750"/>
            <a:ext cx="381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候选文献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今天</a:t>
            </a:r>
          </a:p>
        </p:txBody>
      </p:sp>
      <p:sp>
        <p:nvSpPr>
          <p:cNvPr id="14" name="visual-21-8-p21-down-0">
            <a:extLst xmlns:a="http://schemas.openxmlformats.org/drawingml/2006/main">
              <a:ext uri="{FF2B5EF4-FFF2-40B4-BE49-F238E27FC236}">
                <a16:creationId xmlns:a16="http://schemas.microsoft.com/office/drawing/2014/main" id="{922662C1-4CF0-464E-9174-0B1CA7312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571750"/>
            <a:ext cx="685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↓</a:t>
            </a:r>
          </a:p>
        </p:txBody>
      </p:sp>
      <p:sp>
        <p:nvSpPr>
          <p:cNvPr id="15" name="visual-21-9-p21-p-1">
            <a:extLst xmlns:a="http://schemas.openxmlformats.org/drawingml/2006/main">
              <a:ext uri="{FF2B5EF4-FFF2-40B4-BE49-F238E27FC236}">
                <a16:creationId xmlns:a16="http://schemas.microsoft.com/office/drawing/2014/main" id="{F72DCF28-9D26-4ADD-A466-94A68FC29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876550"/>
            <a:ext cx="381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第 4 课精读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下一步</a:t>
            </a:r>
          </a:p>
        </p:txBody>
      </p:sp>
      <p:sp>
        <p:nvSpPr>
          <p:cNvPr id="16" name="visual-21-10-p21-down-1">
            <a:extLst xmlns:a="http://schemas.openxmlformats.org/drawingml/2006/main">
              <a:ext uri="{FF2B5EF4-FFF2-40B4-BE49-F238E27FC236}">
                <a16:creationId xmlns:a16="http://schemas.microsoft.com/office/drawing/2014/main" id="{EE6E7A63-9A45-4534-8F54-E9060DABF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638550"/>
            <a:ext cx="685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↓</a:t>
            </a:r>
          </a:p>
        </p:txBody>
      </p:sp>
      <p:sp>
        <p:nvSpPr>
          <p:cNvPr id="17" name="visual-21-11-p21-p-2">
            <a:extLst xmlns:a="http://schemas.openxmlformats.org/drawingml/2006/main">
              <a:ext uri="{FF2B5EF4-FFF2-40B4-BE49-F238E27FC236}">
                <a16:creationId xmlns:a16="http://schemas.microsoft.com/office/drawing/2014/main" id="{CC836718-70DD-4A45-8AA5-F78165354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943350"/>
            <a:ext cx="381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第 6 课问题门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统一检查</a:t>
            </a:r>
          </a:p>
        </p:txBody>
      </p:sp>
      <p:sp>
        <p:nvSpPr>
          <p:cNvPr id="18" name="visual-21-12-p21-reading">
            <a:extLst xmlns:a="http://schemas.openxmlformats.org/drawingml/2006/main">
              <a:ext uri="{FF2B5EF4-FFF2-40B4-BE49-F238E27FC236}">
                <a16:creationId xmlns:a16="http://schemas.microsoft.com/office/drawing/2014/main" id="{EA8C5FB9-8644-4107-9EA4-DEE7450FA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810125"/>
            <a:ext cx="5429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核心阅读：Booth et al., Chapter 3</a:t>
            </a:r>
          </a:p>
          <a:p xmlns:a="http://schemas.openxmlformats.org/drawingml/2006/main">
            <a:pPr algn="ctr">
              <a:lnSpc>
                <a:spcPct val="112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（约 30 分钟）</a:t>
            </a:r>
          </a:p>
        </p:txBody>
      </p:sp>
      <p:sp>
        <p:nvSpPr>
          <p:cNvPr id="19" name="visual-21-13-p21-bottom">
            <a:extLst xmlns:a="http://schemas.openxmlformats.org/drawingml/2006/main">
              <a:ext uri="{FF2B5EF4-FFF2-40B4-BE49-F238E27FC236}">
                <a16:creationId xmlns:a16="http://schemas.microsoft.com/office/drawing/2014/main" id="{3BE0804E-08F4-4374-BEA9-6828B0BA5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86400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持续回写个人项目，不新增课后正式作业。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theme/theme1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2026-09-16T01:26:58.4270000Z</dcterms:created>
  <dcterms:modified xsi:type="dcterms:W3CDTF">2026-09-16T01:26:58.4270000Z</dcterms:modified>
</coreProperties>
</file>