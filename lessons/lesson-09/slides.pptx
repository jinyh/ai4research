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977296a374441b" /><Relationship Type="http://schemas.openxmlformats.org/officeDocument/2006/relationships/extended-properties" Target="/docProps/app.xml" Id="Rd6ef34f8677244ae" /><Relationship Type="http://schemas.openxmlformats.org/officeDocument/2006/relationships/officeDocument" Target="/ppt/presentation.xml" Id="R21ba5279db2e4e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b8e71609f34800"/>
  </p:sldMasterIdLst>
  <p:notesMasterIdLst>
    <p:notesMasterId xmlns:r="http://schemas.openxmlformats.org/officeDocument/2006/relationships" r:id="R9660fdc4e5e541c0"/>
  </p:notesMasterIdLst>
  <p:sldIdLst>
    <p:sldId xmlns:r="http://schemas.openxmlformats.org/officeDocument/2006/relationships" id="256" r:id="R955fd1b51ce644e9"/>
    <p:sldId xmlns:r="http://schemas.openxmlformats.org/officeDocument/2006/relationships" id="257" r:id="Rb2ea9af33d7a4b49"/>
    <p:sldId xmlns:r="http://schemas.openxmlformats.org/officeDocument/2006/relationships" id="258" r:id="R09d3c549e91248ad"/>
    <p:sldId xmlns:r="http://schemas.openxmlformats.org/officeDocument/2006/relationships" id="259" r:id="R7d8ca49e4d844b8e"/>
    <p:sldId xmlns:r="http://schemas.openxmlformats.org/officeDocument/2006/relationships" id="260" r:id="R8e42e997cf344f5b"/>
    <p:sldId xmlns:r="http://schemas.openxmlformats.org/officeDocument/2006/relationships" id="261" r:id="R6284a85976a94584"/>
    <p:sldId xmlns:r="http://schemas.openxmlformats.org/officeDocument/2006/relationships" id="262" r:id="R3988441a34d84af9"/>
    <p:sldId xmlns:r="http://schemas.openxmlformats.org/officeDocument/2006/relationships" id="263" r:id="R664eda1750a540a4"/>
    <p:sldId xmlns:r="http://schemas.openxmlformats.org/officeDocument/2006/relationships" id="264" r:id="R1806aa37c7a14123"/>
    <p:sldId xmlns:r="http://schemas.openxmlformats.org/officeDocument/2006/relationships" id="265" r:id="Ra5ff041ee0654aaa"/>
    <p:sldId xmlns:r="http://schemas.openxmlformats.org/officeDocument/2006/relationships" id="266" r:id="R8fb5646a8add4558"/>
    <p:sldId xmlns:r="http://schemas.openxmlformats.org/officeDocument/2006/relationships" id="267" r:id="Ra10cd2a2d8744ea7"/>
    <p:sldId xmlns:r="http://schemas.openxmlformats.org/officeDocument/2006/relationships" id="268" r:id="R8edb94af42924c61"/>
    <p:sldId xmlns:r="http://schemas.openxmlformats.org/officeDocument/2006/relationships" id="269" r:id="R1759d7d0d2ea4993"/>
    <p:sldId xmlns:r="http://schemas.openxmlformats.org/officeDocument/2006/relationships" id="270" r:id="R5ef232b6fdff474e"/>
    <p:sldId xmlns:r="http://schemas.openxmlformats.org/officeDocument/2006/relationships" id="271" r:id="R73b47170c7fc468f"/>
    <p:sldId xmlns:r="http://schemas.openxmlformats.org/officeDocument/2006/relationships" id="272" r:id="R2827e6508016435c"/>
    <p:sldId xmlns:r="http://schemas.openxmlformats.org/officeDocument/2006/relationships" id="273" r:id="R97aaf4752f0543b4"/>
    <p:sldId xmlns:r="http://schemas.openxmlformats.org/officeDocument/2006/relationships" id="274" r:id="R9c0b9e1bd4ac4b36"/>
    <p:sldId xmlns:r="http://schemas.openxmlformats.org/officeDocument/2006/relationships" id="275" r:id="R198057ab7dfe495a"/>
    <p:sldId xmlns:r="http://schemas.openxmlformats.org/officeDocument/2006/relationships" id="276" r:id="Rddee7dd00df647a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f2bcc17b1a471a" /><Relationship Type="http://schemas.openxmlformats.org/officeDocument/2006/relationships/slideMaster" Target="/ppt/slideMasters/slideMaster1.xml" Id="R9fb8e71609f34800" /><Relationship Type="http://schemas.openxmlformats.org/officeDocument/2006/relationships/notesMaster" Target="/ppt/notesMasters/notesMaster1.xml" Id="R9660fdc4e5e541c0" /><Relationship Type="http://schemas.openxmlformats.org/officeDocument/2006/relationships/presProps" Target="/ppt/presProps.xml" Id="R6dfe0bd44e304a01" /><Relationship Type="http://schemas.openxmlformats.org/officeDocument/2006/relationships/viewProps" Target="/ppt/viewProps.xml" Id="R2b19b3d76db24f96" /><Relationship Type="http://schemas.openxmlformats.org/officeDocument/2006/relationships/tableStyles" Target="/ppt/tableStyles.xml" Id="Re2fab97cc5b94927" /><Relationship Type="http://schemas.openxmlformats.org/officeDocument/2006/relationships/slide" Target="/ppt/slides/slide1.xml" Id="R955fd1b51ce644e9" /><Relationship Type="http://schemas.openxmlformats.org/officeDocument/2006/relationships/slide" Target="/ppt/slides/slide2.xml" Id="Rb2ea9af33d7a4b49" /><Relationship Type="http://schemas.openxmlformats.org/officeDocument/2006/relationships/slide" Target="/ppt/slides/slide3.xml" Id="R09d3c549e91248ad" /><Relationship Type="http://schemas.openxmlformats.org/officeDocument/2006/relationships/slide" Target="/ppt/slides/slide4.xml" Id="R7d8ca49e4d844b8e" /><Relationship Type="http://schemas.openxmlformats.org/officeDocument/2006/relationships/slide" Target="/ppt/slides/slide5.xml" Id="R8e42e997cf344f5b" /><Relationship Type="http://schemas.openxmlformats.org/officeDocument/2006/relationships/slide" Target="/ppt/slides/slide6.xml" Id="R6284a85976a94584" /><Relationship Type="http://schemas.openxmlformats.org/officeDocument/2006/relationships/slide" Target="/ppt/slides/slide7.xml" Id="R3988441a34d84af9" /><Relationship Type="http://schemas.openxmlformats.org/officeDocument/2006/relationships/slide" Target="/ppt/slides/slide8.xml" Id="R664eda1750a540a4" /><Relationship Type="http://schemas.openxmlformats.org/officeDocument/2006/relationships/slide" Target="/ppt/slides/slide9.xml" Id="R1806aa37c7a14123" /><Relationship Type="http://schemas.openxmlformats.org/officeDocument/2006/relationships/slide" Target="/ppt/slides/slide10.xml" Id="Ra5ff041ee0654aaa" /><Relationship Type="http://schemas.openxmlformats.org/officeDocument/2006/relationships/slide" Target="/ppt/slides/slide11.xml" Id="R8fb5646a8add4558" /><Relationship Type="http://schemas.openxmlformats.org/officeDocument/2006/relationships/slide" Target="/ppt/slides/slide12.xml" Id="Ra10cd2a2d8744ea7" /><Relationship Type="http://schemas.openxmlformats.org/officeDocument/2006/relationships/slide" Target="/ppt/slides/slide13.xml" Id="R8edb94af42924c61" /><Relationship Type="http://schemas.openxmlformats.org/officeDocument/2006/relationships/slide" Target="/ppt/slides/slide14.xml" Id="R1759d7d0d2ea4993" /><Relationship Type="http://schemas.openxmlformats.org/officeDocument/2006/relationships/slide" Target="/ppt/slides/slide15.xml" Id="R5ef232b6fdff474e" /><Relationship Type="http://schemas.openxmlformats.org/officeDocument/2006/relationships/slide" Target="/ppt/slides/slide16.xml" Id="R73b47170c7fc468f" /><Relationship Type="http://schemas.openxmlformats.org/officeDocument/2006/relationships/slide" Target="/ppt/slides/slide17.xml" Id="R2827e6508016435c" /><Relationship Type="http://schemas.openxmlformats.org/officeDocument/2006/relationships/slide" Target="/ppt/slides/slide18.xml" Id="R97aaf4752f0543b4" /><Relationship Type="http://schemas.openxmlformats.org/officeDocument/2006/relationships/slide" Target="/ppt/slides/slide19.xml" Id="R9c0b9e1bd4ac4b36" /><Relationship Type="http://schemas.openxmlformats.org/officeDocument/2006/relationships/slide" Target="/ppt/slides/slide20.xml" Id="R198057ab7dfe495a" /><Relationship Type="http://schemas.openxmlformats.org/officeDocument/2006/relationships/slide" Target="/ppt/slides/slide21.xml" Id="Rddee7dd00df6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e4fb88cfcd43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b475ce67d34b74" /><Relationship Type="http://schemas.openxmlformats.org/officeDocument/2006/relationships/notesMaster" Target="/ppt/notesMasters/notesMaster1.xml" Id="R07ad5fd81d3145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da5eaa146c4967" /><Relationship Type="http://schemas.openxmlformats.org/officeDocument/2006/relationships/notesMaster" Target="/ppt/notesMasters/notesMaster1.xml" Id="R11ba6dbcab7243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457ab9f75d4dea" /><Relationship Type="http://schemas.openxmlformats.org/officeDocument/2006/relationships/notesMaster" Target="/ppt/notesMasters/notesMaster1.xml" Id="R93ff90f9197249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510f813bc94c2e" /><Relationship Type="http://schemas.openxmlformats.org/officeDocument/2006/relationships/notesMaster" Target="/ppt/notesMasters/notesMaster1.xml" Id="Re28f88f0b33148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492831045c44e8" /><Relationship Type="http://schemas.openxmlformats.org/officeDocument/2006/relationships/notesMaster" Target="/ppt/notesMasters/notesMaster1.xml" Id="Ra681ab91bc3940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41ed6636704d08" /><Relationship Type="http://schemas.openxmlformats.org/officeDocument/2006/relationships/notesMaster" Target="/ppt/notesMasters/notesMaster1.xml" Id="R2b20e4a11d4546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b93f3a90124461" /><Relationship Type="http://schemas.openxmlformats.org/officeDocument/2006/relationships/notesMaster" Target="/ppt/notesMasters/notesMaster1.xml" Id="Rf5520cc6f3d14f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fc2cce20654716" /><Relationship Type="http://schemas.openxmlformats.org/officeDocument/2006/relationships/notesMaster" Target="/ppt/notesMasters/notesMaster1.xml" Id="R532d545695e44d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0a9f6c29734972" /><Relationship Type="http://schemas.openxmlformats.org/officeDocument/2006/relationships/notesMaster" Target="/ppt/notesMasters/notesMaster1.xml" Id="R862f419ef4664a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9e162a35974157" /><Relationship Type="http://schemas.openxmlformats.org/officeDocument/2006/relationships/notesMaster" Target="/ppt/notesMasters/notesMaster1.xml" Id="R8d5fd0dd94794d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8212662d894ef8" /><Relationship Type="http://schemas.openxmlformats.org/officeDocument/2006/relationships/notesMaster" Target="/ppt/notesMasters/notesMaster1.xml" Id="R113e6860f3594c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57bed7ce594359" /><Relationship Type="http://schemas.openxmlformats.org/officeDocument/2006/relationships/notesMaster" Target="/ppt/notesMasters/notesMaster1.xml" Id="R03265d709f4b44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8e4977037c44569" /><Relationship Type="http://schemas.openxmlformats.org/officeDocument/2006/relationships/notesMaster" Target="/ppt/notesMasters/notesMaster1.xml" Id="R6d1235c1828f4a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01ef4bb90149ff" /><Relationship Type="http://schemas.openxmlformats.org/officeDocument/2006/relationships/notesMaster" Target="/ppt/notesMasters/notesMaster1.xml" Id="Rfaf535af429f4b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25d117584f443a" /><Relationship Type="http://schemas.openxmlformats.org/officeDocument/2006/relationships/notesMaster" Target="/ppt/notesMasters/notesMaster1.xml" Id="Rde6aa3ec24cc41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0063b3588594408" /><Relationship Type="http://schemas.openxmlformats.org/officeDocument/2006/relationships/notesMaster" Target="/ppt/notesMasters/notesMaster1.xml" Id="R8380311ddbb0410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5a4dd6f481942aa" /><Relationship Type="http://schemas.openxmlformats.org/officeDocument/2006/relationships/notesMaster" Target="/ppt/notesMasters/notesMaster1.xml" Id="Raec7e62e571448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88766b2196431f" /><Relationship Type="http://schemas.openxmlformats.org/officeDocument/2006/relationships/notesMaster" Target="/ppt/notesMasters/notesMaster1.xml" Id="Rbd0f4b5982ec4a5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fe77f5a42a4e8c" /><Relationship Type="http://schemas.openxmlformats.org/officeDocument/2006/relationships/notesMaster" Target="/ppt/notesMasters/notesMaster1.xml" Id="Rb37e4ca380af4d2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fee1a80f6c4290" /><Relationship Type="http://schemas.openxmlformats.org/officeDocument/2006/relationships/notesMaster" Target="/ppt/notesMasters/notesMaster1.xml" Id="Rae8e872cda3e44b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8d2b599b4484183" /><Relationship Type="http://schemas.openxmlformats.org/officeDocument/2006/relationships/notesMaster" Target="/ppt/notesMasters/notesMaster1.xml" Id="R0eeacc6736a247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开场放下实验规格草图。第 7 课已建立机制假设和实验规格草案，第 8 课拿到同伴反馈，但"能跑通"和"能复现"之间还有距离。本课把草图变成可复现的判断门材料，并完成第二次正式提交——判断门。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第9讲 Baseline、实验规格与可复现实验工程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课程定位以 [syllabus.md](../../course/syllabus.md) 与 [备课规划.md](../备课规划.md) 第 9 课段为准。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7-8 课：机制假设和实验规格草图让"问什么"和"怎么验证"可见，但没有回答"baseline 公不公平""能不能复现""同伴反馈怎么处理"。本课进入阶段六成案与阶段七起始，把草图变成判断门可检查材料。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 7-8 课已建立：</a:t>
            </a:r>
          </a:p>
          <a:p xmlns:a="http://schemas.openxmlformats.org/drawingml/2006/main">
            <a:r>
              <a:t>- 机制假设列表（主假设 + 替代假设 + 反证点）</a:t>
            </a:r>
          </a:p>
          <a:p xmlns:a="http://schemas.openxmlformats.org/drawingml/2006/main">
            <a:r>
              <a:t>- 研究判断记录 J1（六字段）</a:t>
            </a:r>
          </a:p>
          <a:p xmlns:a="http://schemas.openxmlformats.org/drawingml/2006/main">
            <a:r>
              <a:t>- 实验规格草图（变量清单草案）</a:t>
            </a:r>
          </a:p>
          <a:p xmlns:a="http://schemas.openxmlformats.org/drawingml/2006/main">
            <a:r>
              <a:t>- 第 8 课同伴反馈记录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仍未解决：</a:t>
            </a:r>
          </a:p>
          <a:p xmlns:a="http://schemas.openxmlformats.org/drawingml/2006/main">
            <a:r>
              <a:t>- baseline 选哪个？为什么公平？</a:t>
            </a:r>
          </a:p>
          <a:p xmlns:a="http://schemas.openxmlformats.org/drawingml/2006/main">
            <a:r>
              <a:t>- 七字段缺停止条件、随机化、失败预案</a:t>
            </a:r>
          </a:p>
          <a:p xmlns:a="http://schemas.openxmlformats.org/drawingml/2006/main">
            <a:r>
              <a:t>- 复现说明缺种子与环境</a:t>
            </a:r>
          </a:p>
          <a:p xmlns:a="http://schemas.openxmlformats.org/drawingml/2006/main">
            <a:r>
              <a:t>- 同伴反馈未逐条处理</a:t>
            </a:r>
          </a:p>
          <a:p xmlns:a="http://schemas.openxmlformats.org/drawingml/2006/main">
            <a:r>
              <a:t>- 第二条研究判断尚未写</a:t>
            </a:r>
          </a:p>
          <a:p xmlns:a="http://schemas.openxmlformats.org/drawingml/2006/main">
            <a:r>
              <a:t>- 已遇执行失败或已放弃备选尚未落档</a:t>
            </a:r>
          </a:p>
          <a:p xmlns:a="http://schemas.openxmlformats.org/drawingml/2006/main">
            <a:r>
              <a:t>- 仍在 starter-template，未迁移到 project-template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草图能跑≠能复现；判断门检查的是可复现。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回扣第 7 课讲义 §四与第 8 课方案分享记录；[AGENTS.md](../../AGENTS.md) 证据标准。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明确边界：本课目标是完成判断门材料初版，不要求课堂内全部自查通过。判断门条件以 [assignments.md](../../course/assignments.md) Checkpoint 2 为权威来源，本课自查清单与之一一对应。第 1-8 课产出已是项目一部分，本课只补全 baseline、实验规格完整字段、复现说明、第二条研究判断、同伴反馈处理和模板迁移。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选择一个可解释、公平且能在课程周期内运行的 baseline；</a:t>
            </a:r>
          </a:p>
          <a:p xmlns:a="http://schemas.openxmlformats.org/drawingml/2006/main">
            <a:r>
              <a:t>2. 把第 7 课实验规格草图补全为七字段完整规格；</a:t>
            </a:r>
          </a:p>
          <a:p xmlns:a="http://schemas.openxmlformats.org/drawingml/2006/main">
            <a:r>
              <a:t>3. 记录使实验可复现的最小集合（环境、配置、种子、数据、代码、结果）；</a:t>
            </a:r>
          </a:p>
          <a:p xmlns:a="http://schemas.openxmlformats.org/drawingml/2006/main">
            <a:r>
              <a:t>4. 处理机器学习实验的方差来源，避免把单次运行写成结论；</a:t>
            </a:r>
          </a:p>
          <a:p xmlns:a="http://schemas.openxmlformats.org/drawingml/2006/main">
            <a:r>
              <a:t>5. 把第 8 课同伴反馈按真实处理动作归档，记录理由与位置；</a:t>
            </a:r>
          </a:p>
          <a:p xmlns:a="http://schemas.openxmlformats.org/drawingml/2006/main">
            <a:r>
              <a:t>6. 按课后操作指引从 starter-template 迁移到 project-template，不丢失 AI 使用记录和伦理说明；</a:t>
            </a:r>
          </a:p>
          <a:p xmlns:a="http://schemas.openxmlformats.org/drawingml/2006/main">
            <a:r>
              <a:t>7. 对照判断门九项条件完成提交前自查。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课堂最低产出：一条公平 baseline 判断 + 一条可重运行记录。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课后提交判断门材料包，具体条件以 assignments.md 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[备课规划.md](../备课规划.md) 第 9 课目标段；[assignments.md](../../course/assignments.md) Checkpoint 2 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baseline 不是任意对比组。三类对应不同问题：朴素检验"机制是否必要"，强检验"是否在公平条件下更好"，消融检验"哪个模块是效应来源"。判断门只要求一个，但要写明为什么公平。贯穿案例选朴素 baseline——回答 H1"字段约束是否必要"；强 baseline 因第 8 课同伴反馈指出超出周期而暂不在范围。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baseline = 用来回答"方法效应是否真的来自假设机制"的公平参照。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类型 | 含义 | 贯穿案例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朴素 | 不使用目标机制的简单方法 | 自由摘要（不强制阅读卡结构） |</a:t>
            </a:r>
          </a:p>
          <a:p xmlns:a="http://schemas.openxmlformats.org/drawingml/2006/main">
            <a:r>
              <a:t>| 强 | 已公开、可比的现成方法 | 增强摘要（需外部 prompt 集，超出周期） |</a:t>
            </a:r>
          </a:p>
          <a:p xmlns:a="http://schemas.openxmlformats.org/drawingml/2006/main">
            <a:r>
              <a:t>| 消融 | 你的方法去掉某关键模块 | 阅读卡去"原文位置"字段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判断门只要求 ≥1 个 baseline，但必须说明为什么是公平对照。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来源：Pineau et al. "Improving Reproducibility in Machine Learning Research." JMLR 22(164), 2021. [JMLR](https://www.jmlr.org/papers/v22/20-303.html)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§二·1-2；Pineau et al. 2021（[reading-list.md](../../course/reading-list.md)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公平性的底线是控制变量真正一致和混杂变量被识别。Bouthillier 等人指出单次运行的差异往往大于方法间差异，所以"是否被认真运行"包括运行次数对等。baseline 失败被删除是隐性偏倚——必须记录。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baseline 公平，当且仅当：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数据 / 论文 / 任务实例是否同一批？</a:t>
            </a:r>
          </a:p>
          <a:p xmlns:a="http://schemas.openxmlformats.org/drawingml/2006/main">
            <a:r>
              <a:t>2. 模型、解码参数（温度、最大长度、top-p）、随机种子是否一致？</a:t>
            </a:r>
          </a:p>
          <a:p xmlns:a="http://schemas.openxmlformats.org/drawingml/2006/main">
            <a:r>
              <a:t>3. 评价协议是否一致（同一 rubric、同一批标注者、同一计算口径）？</a:t>
            </a:r>
          </a:p>
          <a:p xmlns:a="http://schemas.openxmlformats.org/drawingml/2006/main">
            <a:r>
              <a:t>4. baseline 是否被认真运行（运行次数、停止条件与实验组相同）？</a:t>
            </a:r>
          </a:p>
          <a:p xmlns:a="http://schemas.openxmlformats.org/drawingml/2006/main">
            <a:r>
              <a:t>5. baseline 的失败是否被记录而不是被删除？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来源：Bouthillier et al. "Accounting for Variance in Machine Learning Benchmarks." MLSys 3, 2021. [MLSys](https://proceedings.mlsys.org/paper_files/paper/2021/hash/0184b0cd3cfb185989f858a1d9f5c1eb-Abstract.html)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§二·3；Bouthillier et al. 2021（[reading-list.md](../../course/reading-list.md)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五个反例都是常见错误。重点强调"失败被删除"——这是学术规范红线（见 [assessment.md](../../course/assessment.md) 学术规范红线）。ACM Badging 的 documented/consistent/exercisable 三档是判断门的自查视角，更高档是验证门和论证门目标。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反例 | 不公平点 | 后果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数据不一致 | 实验组用 A 集，baseline 用 B 集 | 差异可能来自数据难度 |</a:t>
            </a:r>
          </a:p>
          <a:p xmlns:a="http://schemas.openxmlformats.org/drawingml/2006/main">
            <a:r>
              <a:t>| 超参不对等 | baseline 没调参，实验组做了搜索 | "调参 vs 不调参"差异 |</a:t>
            </a:r>
          </a:p>
          <a:p xmlns:a="http://schemas.openxmlformats.org/drawingml/2006/main">
            <a:r>
              <a:t>| 评价不一致 | 实验组盲评，baseline 非盲评 | 评价者偏倚 |</a:t>
            </a:r>
          </a:p>
          <a:p xmlns:a="http://schemas.openxmlformats.org/drawingml/2006/main">
            <a:r>
              <a:t>| 运行次数不对等 | 实验组 5 次取均值，baseline 1 次 | 噪声差异 |</a:t>
            </a:r>
          </a:p>
          <a:p xmlns:a="http://schemas.openxmlformats.org/drawingml/2006/main">
            <a:r>
              <a:t>| 失败被删除 | baseline 跑不通，只留实验组成功 | 隐性偏倚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ACM Badging 区分"代码可下载""工件可运行""结果得到独立验证"——判断门要求 baseline 可执行，结果可追溯。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§二·4；ACM Artifact Review and Badging v1.1（[reading-list.md](../../course/reading-list.md)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让学生先指出缺什么，再展示七项缺失。这是第 7 课实验规格草图的常见状态——能跑但不可复现。本课的核心动作就是把这种"能跑"变成"可复现"。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教学反例｜虚构实验记录：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"用 GPT-4 生成摘要，阅读卡组 vs 自由摘要组，阅读卡组遗漏率更低，所以方法有效。"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缺什么？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模型版本（GPT-4 哪个 snapshot？）</a:t>
            </a:r>
          </a:p>
          <a:p xmlns:a="http://schemas.openxmlformats.org/drawingml/2006/main">
            <a:r>
              <a:t>- 温度、max_tokens、prompt 模板</a:t>
            </a:r>
          </a:p>
          <a:p xmlns:a="http://schemas.openxmlformats.org/drawingml/2006/main">
            <a:r>
              <a:t>- 随机种子</a:t>
            </a:r>
          </a:p>
          <a:p xmlns:a="http://schemas.openxmlformats.org/drawingml/2006/main">
            <a:r>
              <a:t>- 数据来源（哪 20 篇？哪个快照？）</a:t>
            </a:r>
          </a:p>
          <a:p xmlns:a="http://schemas.openxmlformats.org/drawingml/2006/main">
            <a:r>
              <a:t>- 运行次数（跑了几次？）</a:t>
            </a:r>
          </a:p>
          <a:p xmlns:a="http://schemas.openxmlformats.org/drawingml/2006/main">
            <a:r>
              <a:t>- 评价协议（标注者是谁？rubric 版本？kappa？）</a:t>
            </a:r>
          </a:p>
          <a:p xmlns:a="http://schemas.openxmlformats.org/drawingml/2006/main">
            <a:r>
              <a:t>- baseline 是否公平（同模型同温度同数据？）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缺种子 = 不可复现；单次运行 = 把噪声写成结论。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§四·1；Wilson et al. 2017（[reading-list.md](../../course/reading-list.md)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七字段是判断门条件之五的展开。重点演示：度量标准不是"用什么指标"，而是"指标怎么算出来"——分子、分母、缺失值、标注者一致性。随机化与重复必须记录种子值。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判断门条件之五：实验规格完整，包括假设对应、变量、步骤、度量标准、对照和停止条件。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七字段表：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字段 | 贯穿案例样例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假设对应 | H1；A1／A2／A3 |</a:t>
            </a:r>
          </a:p>
          <a:p xmlns:a="http://schemas.openxmlformats.org/drawingml/2006/main">
            <a:r>
              <a:t>| 变量 | 自：条件；因：人工基准的限定条件遗漏率；控：模型／参数／版本／协议 |</a:t>
            </a:r>
          </a:p>
          <a:p xmlns:a="http://schemas.openxmlformats.org/drawingml/2006/main">
            <a:r>
              <a:t>| 步骤 | 同一 20 篇进入两条件；每条件 3 次；盲评 |</a:t>
            </a:r>
          </a:p>
          <a:p xmlns:a="http://schemas.openxmlformats.org/drawingml/2006/main">
            <a:r>
              <a:t>| 度量标准 | 遗漏的应保留限定条件数 ÷ 人工复核基准数 |</a:t>
            </a:r>
          </a:p>
          <a:p xmlns:a="http://schemas.openxmlformats.org/drawingml/2006/main">
            <a:r>
              <a:t>| 对照 | 自由摘要；同论文／模型／参数／长度／协议 |</a:t>
            </a:r>
          </a:p>
          <a:p xmlns:a="http://schemas.openxmlformats.org/drawingml/2006/main">
            <a:r>
              <a:t>| 随机化与重复 | 20×2×3=120；记录运行标识与种子 |</a:t>
            </a:r>
          </a:p>
          <a:p xmlns:a="http://schemas.openxmlformats.org/drawingml/2006/main">
            <a:r>
              <a:t>| 停止条件 | 完成 120 输出；协议错误或数据污染才暂停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来源：Wilson et al. "Good Enough Practices in Scientific Computing." PLOS Comp Biol 13(6), 2017. DOI [10.1371/journal.pcbi.1005510](https://journals.plos.org/ploscompbiol/article?id=10.1371/journal.pcbi.1005510)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§三·1；Wilson et al. 2017（[reading-list.md](../../course/reading-list.md)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停止条件容易被忽略，但它防止隐性 p-hacking。预先承诺在什么条件下停，提前停只在协议错误或数据污染时触发，不在结果不利时触发。失败预案对准当前最大风险，写出一条可执行、可保留记录的回退路径；三类情形只是教学示例库，不是通用硬门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**停止条件**：预先写明运行次数与停止规则，防止"跑到出现显著结果为止"。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贯穿案例：预定 20 篇×2 条件×3 次=120 次输出；只在协议错误或数据污染时暂停并保留记录。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**失败预案**（判断门条件之七：最大风险与失败预案）：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情形 | 回退路径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baseline 跑不通 | 缩小样本，回退到只用主假设行的最小验证 |</a:t>
            </a:r>
          </a:p>
          <a:p xmlns:a="http://schemas.openxmlformats.org/drawingml/2006/main">
            <a:r>
              <a:t>| 结果不支持 H1 | 记为反驳或仍不能判断，再检查 A1/A2/A3；不删除 |</a:t>
            </a:r>
          </a:p>
          <a:p xmlns:a="http://schemas.openxmlformats.org/drawingml/2006/main">
            <a:r>
              <a:t>| 数据不可用 | 换用公开替代数据，并在材料中说明限制 |</a:t>
            </a:r>
          </a:p>
          <a:p xmlns:a="http://schemas.openxmlformats.org/drawingml/2006/main">
            <a:r>
              <a:t>| kappa &lt; 0.7 | 增加标注者训练，修订 rubric，降级为弱结论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普通技术失败进入修复与复盘；编造、隐瞒、越权或伪造记录才是学术规范红线。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§三·2 与 §三·4；[assessment.md](../../course/assessment.md) 学术规范红线。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度量标准是判断门条件之二的直接来源。常见错误：只写"用遗漏率"，不写分子分母与缺失值处理。一致性指标若样本量不足无法计算，必须写明为什么，并标记为待验证项——不能直接省略。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度量不是"用什么指标"，而是"指标怎么算出来"。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一个度量至少写明：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**操作定义**：从原始数据到指标数字的公式或步骤</a:t>
            </a:r>
          </a:p>
          <a:p xmlns:a="http://schemas.openxmlformats.org/drawingml/2006/main">
            <a:r>
              <a:t>- **计算口径**：分母是什么、分子是什么、缺失值如何处理</a:t>
            </a:r>
          </a:p>
          <a:p xmlns:a="http://schemas.openxmlformats.org/drawingml/2006/main">
            <a:r>
              <a:t>- **标注协议**：标注者人数、训练、盲评与否、双标注如何解决分歧</a:t>
            </a:r>
          </a:p>
          <a:p xmlns:a="http://schemas.openxmlformats.org/drawingml/2006/main">
            <a:r>
              <a:t>- **一致性指标**：Cohen's kappa 或 Krippendorff's alpha；若未计算，写明为什么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贯穿案例：先由人工建立并复核每篇论文应保留的限定条件基准；限定条件遗漏率 = 输出中遗漏的基准条件数 / 该论文基准条件数。不使用“缺失字段数÷5”。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判断门条件之二：数据、材料、评价指标和使用限制说明。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§三·3；[assignments.md](../../course/assignments.md) Checkpoint 2 条件之二。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可复现不是“代码能跑”。六类共同形成追踪链；存在随机源时种子不可丢失，没有随机源时须写等价复现条件。现场打开课次工件，运行 `python3 assets/reproducibility-example/run.py --verify`，让学生看到规格、配置、输入、结果和日志可以互相核对。数据使用限制要在判断门材料中显式写出，包括是否上传外部 API。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可复现 = 另一位研究者在另一台机器上能重新跑出可比结果。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最小复现集合六类：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类别 | 贯穿案例样例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环境 | Python 3.10, anthropic SDK 0.34.0 |</a:t>
            </a:r>
          </a:p>
          <a:p xmlns:a="http://schemas.openxmlformats.org/drawingml/2006/main">
            <a:r>
              <a:t>| 配置 | model=claude-3-5-sonnet-20241022, temperature=0, max_tokens=1024, rubric v1.2 |</a:t>
            </a:r>
          </a:p>
          <a:p xmlns:a="http://schemas.openxmlformats.org/drawingml/2006/main">
            <a:r>
              <a:t>| 随机种子 | 每次运行的种子或等价重运行条件 |</a:t>
            </a:r>
          </a:p>
          <a:p xmlns:a="http://schemas.openxmlformats.org/drawingml/2006/main">
            <a:r>
              <a:t>| 数据 | 虚构教学规格：20 篇公开 CS 论文清单 `set-v1`；同一批论文进入两条件 |</a:t>
            </a:r>
          </a:p>
          <a:p xmlns:a="http://schemas.openxmlformats.org/drawingml/2006/main">
            <a:r>
              <a:t>| 代码 | github.com/.../project, commit abc123, `python src/run_baseline.py --config configs/exp01.yaml` |</a:t>
            </a:r>
          </a:p>
          <a:p xmlns:a="http://schemas.openxmlformats.org/drawingml/2006/main">
            <a:r>
              <a:t>| 结果 | `experiments/exp01/log.jsonl`, `experiments/exp01/results.csv`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真实可运行课次工件：`assets/reproducibility-example/experiment-spec.md` → `config.json` → `run.py` → `run-log.jsonl`。实际复算结果：4 条合成记录、2 条缺失、遗漏率 0.5；这是追踪链验证，不是实证研究结论。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来源：Sandve et al. "Ten Simple Rules for Reproducible Computational Research." PLOS Comp Biol 9(10), 2013. DOI [10.1371/journal.pcbi.1003285](https://journals.plos.org/ploscompbiol/article?id=10.1371/journal.pcbi.1003285)（第 11 课核心阅读，本课借用其追踪链概念）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§四·1；Sandve et al. 2013（[reading-list.md](../../course/reading-list.md) 第 11 课，本课借用）；课次本地可运行工件 `assets/reproducibility-example/`（合成数据，实际复算，非实证结果）。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Bouthillier 等人的核心发现：单次运行噪声可能改变方法比较。这意味着重复计划必须服务于要声称的结论：要谈方差或稳定性，就需要足以估计它们的重复；单次只能作为边界明确的初步观察。课程不设统一“至少 3 次”硬门。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机器学习实验的随机性来自多层面：数据划分、模型初始化、采样、解码。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Bouthillier et al. 2021：单次运行的差异往往大于方法间差异。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判断门要求的是可追溯，重复次数由主张决定：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记录所有随机种子的来源和值</a:t>
            </a:r>
          </a:p>
          <a:p xmlns:a="http://schemas.openxmlformats.org/drawingml/2006/main">
            <a:r>
              <a:t>- 声称方差或稳定性时，事先写明足以支撑该主张的重复计划与汇总方式</a:t>
            </a:r>
          </a:p>
          <a:p xmlns:a="http://schemas.openxmlformats.org/drawingml/2006/main">
            <a:r>
              <a:t>- 若只跑 1 次，写明边界，不把单次差异写成稳定结论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把单次运行的差异写成方法效应 = 隐性偏倚。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§四·2；Bouthillier et al. 2021（[reading-list.md](../../course/reading-list.md)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ACM Badging 是工件评审的工业标准。本课不要求通过 ACM 完整 badges，但用三档作自查视角：你的实验规格是否 documented？你的复现说明与代码是否 consistent？你的 baseline 是否 exercisable（不只是"在我机器上能跑"）？更高档留给验证门和论证门。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ACM Artifact Review and Badging v1.1 的三档最低标准，作为判断门自查视角：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档 | 含义 | 判断门对应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documented | 基本运行说明存在 | 实验规格 |</a:t>
            </a:r>
          </a:p>
          <a:p xmlns:a="http://schemas.openxmlformats.org/drawingml/2006/main">
            <a:r>
              <a:t>| consistent | 说明与代码实际行为一致 | 复现说明与代码一致 |</a:t>
            </a:r>
          </a:p>
          <a:p xmlns:a="http://schemas.openxmlformats.org/drawingml/2006/main">
            <a:r>
              <a:t>| exercisable | 工件能被独立运行 | baseline 可执行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更高档（complete、results validated、available）是验证门和论证门目标，本课不要求。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判断门：documented + consistent + exercisable；论证门：available + results validated。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§四·4；ACM Artifact Review and Badging v1.1（[reading-list.md](../../course/reading-list.md) 第 9 课）。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迁移不是重写——把 starter-template 中已稳定的字段搬到 project-template 对应位置。最常见错误：搬字段时漏掉了第 1-8 课的 AI 使用记录条目，或伦理说明没补数据使用限制。迁移验收判据：AI 使用记录条目数 ≥ 第 1-8 课总和。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判断门条件之九：从轻量脚手架迁移到完整项目模板，且没有丢失 AI 使用记录和伦理说明。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迁移对照表（部分）：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starter 字段 | project 位置 | 注意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§1 项目概览 | §1 项目信息 | 补 URL |</a:t>
            </a:r>
          </a:p>
          <a:p xmlns:a="http://schemas.openxmlformats.org/drawingml/2006/main">
            <a:r>
              <a:t>| §6 AI 使用记录 | ai-usage-log.md | 不丢失任何条目 |</a:t>
            </a:r>
          </a:p>
          <a:p xmlns:a="http://schemas.openxmlformats.org/drawingml/2006/main">
            <a:r>
              <a:t>| §8 伦理检查 | ethics-and-compliance.md | 补数据使用限制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新增字段：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§4.2 Baseline（类型 + 公平性）</a:t>
            </a:r>
          </a:p>
          <a:p xmlns:a="http://schemas.openxmlformats.org/drawingml/2006/main">
            <a:r>
              <a:t>- §4.6 实验规格（七字段）</a:t>
            </a:r>
          </a:p>
          <a:p xmlns:a="http://schemas.openxmlformats.org/drawingml/2006/main">
            <a:r>
              <a:t>- §5 研究判断记录（≥2 条六字段）</a:t>
            </a:r>
          </a:p>
          <a:p xmlns:a="http://schemas.openxmlformats.org/drawingml/2006/main">
            <a:r>
              <a:t>- §7 实验记录（≥1 行可追溯）</a:t>
            </a:r>
          </a:p>
          <a:p xmlns:a="http://schemas.openxmlformats.org/drawingml/2006/main">
            <a:r>
              <a:t>- 同伴反馈处理记录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迁移沿用现有字段位置，补齐新增项与数据使用限制。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§五；[starter-template.md](../../course/starter-template.md) 与 [project-template.md](../../course/project-template.md)。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快速说明 9 项门条件与 assignments.md 一一对应。第 8 项记录已经发生的执行失败或已经放弃的备选方案，不能由第 7 项前瞻失败预案替代；第 9 项为模板迁移。判断门检查当前项目版本，不重新制作材料。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9 项门条件（与 [assignments.md](../../course/assignments.md) Checkpoint 2 一致）：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# | 门条件 | 自查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1 | 可执行 baseline 或最小验证原型 | □ |</a:t>
            </a:r>
          </a:p>
          <a:p xmlns:a="http://schemas.openxmlformats.org/drawingml/2006/main">
            <a:r>
              <a:t>| 2 | 数据、材料、评价指标和使用限制说明 | □ |</a:t>
            </a:r>
          </a:p>
          <a:p xmlns:a="http://schemas.openxmlformats.org/drawingml/2006/main">
            <a:r>
              <a:t>| 3 | 环境、配置、随机种子或等价复现条件 | □ |</a:t>
            </a:r>
          </a:p>
          <a:p xmlns:a="http://schemas.openxmlformats.org/drawingml/2006/main">
            <a:r>
              <a:t>| 4 | ≥2 条研究判断（取舍理由、适用边界、依据、待验证状态） | □ |</a:t>
            </a:r>
          </a:p>
          <a:p xmlns:a="http://schemas.openxmlformats.org/drawingml/2006/main">
            <a:r>
              <a:t>| 5 | 实验规格完整（假设对应、变量、步骤、度量、对照、停止条件） | □ |</a:t>
            </a:r>
          </a:p>
          <a:p xmlns:a="http://schemas.openxmlformats.org/drawingml/2006/main">
            <a:r>
              <a:t>| 6 | 第 8 课同伴反馈处理记录 | □ |</a:t>
            </a:r>
          </a:p>
          <a:p xmlns:a="http://schemas.openxmlformats.org/drawingml/2006/main">
            <a:r>
              <a:t>| 7 | 当前最大风险和失败预案 | □ |</a:t>
            </a:r>
          </a:p>
          <a:p xmlns:a="http://schemas.openxmlformats.org/drawingml/2006/main">
            <a:r>
              <a:t>| 8 | 已遇执行失败或已放弃备选：发生条件、处理、回写 | □ |</a:t>
            </a:r>
          </a:p>
          <a:p xmlns:a="http://schemas.openxmlformats.org/drawingml/2006/main">
            <a:r>
              <a:t>| 9 | 迁移到完整项目模板，不丢失 AI 使用记录和伦理说明 | □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 1-8 课产出已是项目一部分，本课补全第 1-3、5、7、8 项，整理第 4、6、9 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[assignments.md](../../course/assignments.md) Checkpoint 2 判断门条件（权威来源）；[project-template.md](../../course/project-template.md) 字段模板。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演示如何把第 8 课同伴反馈变成判断门可检查的材料。重点是真实处理、理由和回写位置，不是覆盖机械分类。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**J2 第二条研究判断**：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字段 | 内容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判断内容 | 自由摘要作朴素 baseline |</a:t>
            </a:r>
          </a:p>
          <a:p xmlns:a="http://schemas.openxmlformats.org/drawingml/2006/main">
            <a:r>
              <a:t>| 取舍理由 | 强基线需外部 prompt 集，超出周期 |</a:t>
            </a:r>
          </a:p>
          <a:p xmlns:a="http://schemas.openxmlformats.org/drawingml/2006/main">
            <a:r>
              <a:t>| 适用边界 | 只比较字段约束 vs 无约束 |</a:t>
            </a:r>
          </a:p>
          <a:p xmlns:a="http://schemas.openxmlformats.org/drawingml/2006/main">
            <a:r>
              <a:t>| 依据 | 第 8 课反馈 + 可定位原文原则 |</a:t>
            </a:r>
          </a:p>
          <a:p xmlns:a="http://schemas.openxmlformats.org/drawingml/2006/main">
            <a:r>
              <a:t>| 待验证状态 | 强基线留作后续验证 |</a:t>
            </a:r>
          </a:p>
          <a:p xmlns:a="http://schemas.openxmlformats.org/drawingml/2006/main">
            <a:r>
              <a:t>| 影响工件 | 实验规格 §对照、§失败预案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**同伴反馈处理**：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"增加强 baseline" → 保留异议（J2 记录当前周期约束与后续条件）</a:t>
            </a:r>
          </a:p>
          <a:p xmlns:a="http://schemas.openxmlformats.org/drawingml/2006/main">
            <a:r>
              <a:t>- "报告方差" → 采纳（已写入实验规格 3 次运行与标准差）</a:t>
            </a:r>
          </a:p>
          <a:p xmlns:a="http://schemas.openxmlformats.org/drawingml/2006/main">
            <a:r>
              <a:t>- "样本量过小" → 暂缓（标记为待验证项，结论将标注"小样本下的初步证据"）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处理动作按真实反馈选择，记录理由与回写位置；不要求出现拒绝。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§七 贯穿案例第四至六步；第 8 课同伴反馈记录。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没有真实课题的学生沿用贯穿案例，但要求改换问题表述或子问题分解，避免与教师演示完全重复。验收标准：baseline 标明类型与公平性；七字段填满；复现说明齐到种子或等价条件；重复计划与主张强度相匹配；J2 六字段；同伴反馈逐条处理；已遇失败事实与前瞻预案分开；模板迁移 AI 使用记录不丢失；门条件自查逐项标注。教师巡视只处理共同卡点，不逐台排障。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课堂最低闭环：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选择 baseline，标明类型（朴素/强/消融）与公平性</a:t>
            </a:r>
          </a:p>
          <a:p xmlns:a="http://schemas.openxmlformats.org/drawingml/2006/main">
            <a:r>
              <a:t>2. 补足一条可重运行记录：输入版本、环境与配置、执行指令或等价步骤、输出路径、种子或等价条件、实际结果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课后补全：七字段规格、J2、反馈处理、已遇失败记录、九项自查与模板迁移。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选择顺序：本人真实项目 → 贯穿案例（自由摘要 vs 阅读卡摘要）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写入位置：`experiment-spec.md`、`hypothesis-and-judgment.md`、`peer-review.md`、`failure-log.md`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[project-template.md](../../course/project-template.md) 字段模板；第 7-8 课项目工件。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模板投屏停留。学生可照抄文件结构。本课产出 experiment-spec.md 更新版、J2、同伴反馈处理记录和一条已遇失败记录，并启动模板迁移。门条件自查在 9 项中标注已满足与待补全。课后完成自查和补全后提交判断门材料包。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迁移验收判据：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starter 中所有 `approved`/`stable` 字段在 project 中有对应位置</a:t>
            </a:r>
          </a:p>
          <a:p xmlns:a="http://schemas.openxmlformats.org/drawingml/2006/main">
            <a:r>
              <a:t>- AI 使用记录条目数 ≥ 第 1-8 课总和（不丢失）</a:t>
            </a:r>
          </a:p>
          <a:p xmlns:a="http://schemas.openxmlformats.org/drawingml/2006/main">
            <a:r>
              <a:t>- 伦理说明含数据使用限制一条</a:t>
            </a:r>
          </a:p>
          <a:p xmlns:a="http://schemas.openxmlformats.org/drawingml/2006/main">
            <a:r>
              <a:t>- 工件状态追踪表更新，判断门相关工件至 `review` 或 `approved`</a:t>
            </a:r>
          </a:p>
          <a:p xmlns:a="http://schemas.openxmlformats.org/drawingml/2006/main">
            <a:r>
              <a:t>- 实验记录 ≥1 行可追溯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判断门材料文件结构：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project/</a:t>
            </a:r>
          </a:p>
          <a:p xmlns:a="http://schemas.openxmlformats.org/drawingml/2006/main">
            <a:r>
              <a:t>├── README.md</a:t>
            </a:r>
          </a:p>
          <a:p xmlns:a="http://schemas.openxmlformats.org/drawingml/2006/main">
            <a:r>
              <a:t>├── problem-definition.md</a:t>
            </a:r>
          </a:p>
          <a:p xmlns:a="http://schemas.openxmlformats.org/drawingml/2006/main">
            <a:r>
              <a:t>├── hypothesis-and-judgment.md</a:t>
            </a:r>
          </a:p>
          <a:p xmlns:a="http://schemas.openxmlformats.org/drawingml/2006/main">
            <a:r>
              <a:t>├── experiment-spec.md</a:t>
            </a:r>
          </a:p>
          <a:p xmlns:a="http://schemas.openxmlformats.org/drawingml/2006/main">
            <a:r>
              <a:t>├── ai-usage-log.md</a:t>
            </a:r>
          </a:p>
          <a:p xmlns:a="http://schemas.openxmlformats.org/drawingml/2006/main">
            <a:r>
              <a:t>├── ethics-and-compliance.md</a:t>
            </a:r>
          </a:p>
          <a:p xmlns:a="http://schemas.openxmlformats.org/drawingml/2006/main">
            <a:r>
              <a:t>├── peer-review.md</a:t>
            </a:r>
          </a:p>
          <a:p xmlns:a="http://schemas.openxmlformats.org/drawingml/2006/main">
            <a:r>
              <a:t>├── failure-log.md</a:t>
            </a:r>
          </a:p>
          <a:p xmlns:a="http://schemas.openxmlformats.org/drawingml/2006/main">
            <a:r>
              <a:t>└── src/、experiments/、notes/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文件树下方三行宽注释：判断对应 H1/A1/A2/A3 + J1/J2；规格对应七字段 + 复现说明；日志对应工具／用途／核验／问题。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§五·4 与 §六·3；[project-template.md](../../course/project-template.md)；[assignments.md](../../course/assignments.md) Checkpoint 2。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每人约 3-5 分钟：一人用 45 秒说明 baseline 选择、实验规格七字段和同伴反馈处理；同伴按门条件逐项检查。反馈不要求立即改写。反馈者不替代作者修改，不形成共同提交。人数为奇数时组成三人组，每人缩短说明时间。重点检查第 1-3、5、7、8 项（本课产出），其他项只确认已存在。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2-3 人互查，按 9 项门条件逐项检查：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baseline 标明类型与公平性了吗？还是任意对比组？</a:t>
            </a:r>
          </a:p>
          <a:p xmlns:a="http://schemas.openxmlformats.org/drawingml/2006/main">
            <a:r>
              <a:t>2. 复现说明齐到种子了吗？还是只记了环境？</a:t>
            </a:r>
          </a:p>
          <a:p xmlns:a="http://schemas.openxmlformats.org/drawingml/2006/main">
            <a:r>
              <a:t>3. 种子或等价复现条件可追溯吗？重复计划能支撑你要声称的强度吗？</a:t>
            </a:r>
          </a:p>
          <a:p xmlns:a="http://schemas.openxmlformats.org/drawingml/2006/main">
            <a:r>
              <a:t>4. 停止条件预先写明了吗？还是"跑到显著为止"？</a:t>
            </a:r>
          </a:p>
          <a:p xmlns:a="http://schemas.openxmlformats.org/drawingml/2006/main">
            <a:r>
              <a:t>5. J2 六字段完整吗？适用边界写了吗？</a:t>
            </a:r>
          </a:p>
          <a:p xmlns:a="http://schemas.openxmlformats.org/drawingml/2006/main">
            <a:r>
              <a:t>6. 同伴反馈是否根据真实理由选择了处理动作，并记录回写位置？</a:t>
            </a:r>
          </a:p>
          <a:p xmlns:a="http://schemas.openxmlformats.org/drawingml/2006/main">
            <a:r>
              <a:t>7. 当前最大风险是否有一条直接对应、可执行且保留失败记录的预案？</a:t>
            </a:r>
          </a:p>
          <a:p xmlns:a="http://schemas.openxmlformats.org/drawingml/2006/main">
            <a:r>
              <a:t>8. 是否有一条已经发生的失败/放弃备选记录，而不只是未来预案？</a:t>
            </a:r>
          </a:p>
          <a:p xmlns:a="http://schemas.openxmlformats.org/drawingml/2006/main">
            <a:r>
              <a:t>9. 模板迁移丢失了 AI 使用记录或伦理说明吗？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作者按需选择：采纳／澄清／补证／保留异议／暂缓。不要求五类齐全，也不机械要求拒绝。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同伴互查只提问题；作者保留修改决定权。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同伴反馈为形成性活动，不单独计分，不共同提交（[assignments.md](../../course/assignments.md)）。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 baseline、公平性、实验规格、复现记录和判断门的关系。本页不替代下一页提交说明。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公平 baseline → 实验规格 → 复现记录 → 判断门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比较对象与预算必须可解释；</a:t>
            </a:r>
          </a:p>
          <a:p xmlns:a="http://schemas.openxmlformats.org/drawingml/2006/main">
            <a:r>
              <a:t>- 假设、变量、指标、对照与停止条件齐全；</a:t>
            </a:r>
          </a:p>
          <a:p xmlns:a="http://schemas.openxmlformats.org/drawingml/2006/main">
            <a:r>
              <a:t>- 环境、配置、随机种子与数据可追溯；</a:t>
            </a:r>
          </a:p>
          <a:p xmlns:a="http://schemas.openxmlformats.org/drawingml/2006/main">
            <a:r>
              <a:t>- 把规格、判断、反馈与风险绑定到当前版本。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能运行不等于公平、可复现或足以支持研究判断。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讲义 §二-§六；[assignments.md](../../course/assignments.md) Checkpoint 2。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回扣本课目标与课后补全边界。根因定位细项、阅读清单与精读卡保存要求不再投屏，由教师口头说明并引导学生回到讲义和 reading-list.md。核心阅读为 Wilson et al.；Pineau et al.、ACM Artifact Review and Badging v1.1 与 Bouthillier et al. 为任选。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**提交方式**：</a:t>
            </a:r>
          </a:p>
          <a:p xmlns:a="http://schemas.openxmlformats.org/drawingml/2006/main">
            <a:r>
              <a:t>提交指向当前个人项目版本的链接、tag 或压缩包。不重复制作与项目仓库分离的汇报文档。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**未通过时**：</a:t>
            </a:r>
          </a:p>
          <a:p xmlns:a="http://schemas.openxmlformats.org/drawingml/2006/main">
            <a:r>
              <a:t>回到对应工件修改，一周内重新检查。根因定位细项见教师备注和讲义。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**第 10 课输入**：</a:t>
            </a:r>
          </a:p>
          <a:p xmlns:a="http://schemas.openxmlformats.org/drawingml/2006/main">
            <a:r>
              <a:t>交付当前 baseline 判断与可重运行记录，标出“拟用 Agent 的步骤”和“必须人工确认的步骤”。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**退出卡**：</a:t>
            </a:r>
          </a:p>
          <a:p xmlns:a="http://schemas.openxmlformats.org/drawingml/2006/main">
            <a:r>
              <a:t>哪一项门条件最可能不通过？你的下一个最小动作是什么？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本课产出（experiment-spec 七字段 + 复现说明 + J2 + 同伴反馈处理 + 已遇失败记录）是第 10 课的直接输入。实验规格中"哪些步骤拟用 Agent、哪些步骤必须人工"将在第 10 课展开。课后提交判断门材料包。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- Wilson, G. et al. *PLOS Computational Biology* 13(6):e1005510 (2017). DOI: [10.1371/journal.pcbi.1005510](https://journals.plos.org/ploscompbiol/article?id=10.1371/journal.pcbi.1005510)。</a:t>
            </a:r>
          </a:p>
          <a:p xmlns:a="http://schemas.openxmlformats.org/drawingml/2006/main">
            <a:r>
              <a:t>- Pineau, J. et al. *JMLR* 22(164), 1–20 (2021). [JMLR 正式页面](https://www.jmlr.org/papers/v22/20-303.html)。</a:t>
            </a:r>
          </a:p>
          <a:p xmlns:a="http://schemas.openxmlformats.org/drawingml/2006/main">
            <a:r>
              <a:t>- ACM. *Artifact Review and Badging, Version 1.1* (2020). [官方页面](https://www.acm.org/publications/policies/artifact-review-and-badging-current)。</a:t>
            </a:r>
          </a:p>
          <a:p xmlns:a="http://schemas.openxmlformats.org/drawingml/2006/main">
            <a:r>
              <a:t>- Bouthillier, X. et al. *MLSys* 3 (2021). [MLSys 正式页面](https://proceedings.mlsys.org/paper_files/paper/2021/hash/0184b0cd3cfb185989f858a1d9f5c1eb-Abstract.html)。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>- 判断门条件见 [assignments.md](../../course/assignments.md) Checkpoint 2。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11c571d3c64c29" /><Relationship Type="http://schemas.openxmlformats.org/officeDocument/2006/relationships/image" Target="/ppt/media/image.png" Id="R0121cd2f9f2e493a" /><Relationship Type="http://schemas.openxmlformats.org/officeDocument/2006/relationships/image" Target="/ppt/media/image2.png" Id="R2027d82987984a44" /><Relationship Type="http://schemas.openxmlformats.org/officeDocument/2006/relationships/image" Target="/ppt/media/image3.png" Id="Rf00f149405af4e92" /><Relationship Type="http://schemas.openxmlformats.org/officeDocument/2006/relationships/image" Target="/ppt/media/image4.png" Id="R1ce481d5f40d46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3cd844c26541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c62ab87624312" /><Relationship Type="http://schemas.openxmlformats.org/officeDocument/2006/relationships/image" Target="/ppt/media/image2.png" Id="R1b3b29bc40904970" /><Relationship Type="http://schemas.openxmlformats.org/officeDocument/2006/relationships/image" Target="/ppt/media/image5.png" Id="R2c04bf352d044f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853d4c820481c" /><Relationship Type="http://schemas.openxmlformats.org/officeDocument/2006/relationships/image" Target="/ppt/media/image.png" Id="R9e1630fa57d841de" /><Relationship Type="http://schemas.openxmlformats.org/officeDocument/2006/relationships/image" Target="/ppt/media/image3.png" Id="Rd357184fceae4695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1cd2f9f2e493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27d82987984a44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0f149405af4e9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481d5f40d4653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3b29bc4090497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4bf352d044f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630fa57d841de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57184fceae4695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2d9dbc952c48bd" /><Relationship Type="http://schemas.openxmlformats.org/officeDocument/2006/relationships/slideLayout" Target="/ppt/slideLayouts/slideLayout1.xml" Id="R53b990221ae9431c" /><Relationship Type="http://schemas.openxmlformats.org/officeDocument/2006/relationships/slideLayout" Target="/ppt/slideLayouts/slideLayout2.xml" Id="R879ff8280c6149b0" /><Relationship Type="http://schemas.openxmlformats.org/officeDocument/2006/relationships/slideLayout" Target="/ppt/slideLayouts/slideLayout3.xml" Id="Re7a7ee1b785d4246" /><Relationship Type="http://schemas.openxmlformats.org/officeDocument/2006/relationships/slideLayout" Target="/ppt/slideLayouts/slideLayout4.xml" Id="R49f3111ce2a44f8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b990221ae9431c"/>
    <p:sldLayoutId xmlns:r="http://schemas.openxmlformats.org/officeDocument/2006/relationships" id="2147483650" r:id="R879ff8280c6149b0"/>
    <p:sldLayoutId xmlns:r="http://schemas.openxmlformats.org/officeDocument/2006/relationships" id="2147483651" r:id="Re7a7ee1b785d4246"/>
    <p:sldLayoutId xmlns:r="http://schemas.openxmlformats.org/officeDocument/2006/relationships" id="2147483652" r:id="R49f3111ce2a44f8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ce3b648ac40d7" /><Relationship Type="http://schemas.openxmlformats.org/officeDocument/2006/relationships/notesSlide" Target="/ppt/notesSlides/notesSlide1.xml" Id="R835733e637034a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84c55966f64dcf" /><Relationship Type="http://schemas.openxmlformats.org/officeDocument/2006/relationships/notesSlide" Target="/ppt/notesSlides/notesSlide2.xml" Id="R85c8d539145f4e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16a6abf3ea14704" /><Relationship Type="http://schemas.openxmlformats.org/officeDocument/2006/relationships/notesSlide" Target="/ppt/notesSlides/notesSlide3.xml" Id="Rdec77c223cc244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f9cdd6368d34460" /><Relationship Type="http://schemas.openxmlformats.org/officeDocument/2006/relationships/notesSlide" Target="/ppt/notesSlides/notesSlide4.xml" Id="Rc0dc6689d7374e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3ed58ee83a4b0c" /><Relationship Type="http://schemas.openxmlformats.org/officeDocument/2006/relationships/notesSlide" Target="/ppt/notesSlides/notesSlide5.xml" Id="R954ded0adec141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4673e204774274" /><Relationship Type="http://schemas.openxmlformats.org/officeDocument/2006/relationships/notesSlide" Target="/ppt/notesSlides/notesSlide6.xml" Id="R725e5687b8864a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3bfd85d87a4b9e" /><Relationship Type="http://schemas.openxmlformats.org/officeDocument/2006/relationships/notesSlide" Target="/ppt/notesSlides/notesSlide7.xml" Id="R290469f5c6c245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7cb15ed1064952" /><Relationship Type="http://schemas.openxmlformats.org/officeDocument/2006/relationships/notesSlide" Target="/ppt/notesSlides/notesSlide8.xml" Id="Rbd2523fefb9c41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5e737396a745f0" /><Relationship Type="http://schemas.openxmlformats.org/officeDocument/2006/relationships/notesSlide" Target="/ppt/notesSlides/notesSlide9.xml" Id="R87d182a970f048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484c18a22a49ba" /><Relationship Type="http://schemas.openxmlformats.org/officeDocument/2006/relationships/notesSlide" Target="/ppt/notesSlides/notesSlide10.xml" Id="Rd6087255fb314c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a5a570091b42c8" /><Relationship Type="http://schemas.openxmlformats.org/officeDocument/2006/relationships/notesSlide" Target="/ppt/notesSlides/notesSlide11.xml" Id="Rb0e544d91d424d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fe126c541d426f" /><Relationship Type="http://schemas.openxmlformats.org/officeDocument/2006/relationships/notesSlide" Target="/ppt/notesSlides/notesSlide12.xml" Id="Rf06f9b9c04364f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b639f6828442f1" /><Relationship Type="http://schemas.openxmlformats.org/officeDocument/2006/relationships/notesSlide" Target="/ppt/notesSlides/notesSlide13.xml" Id="R252814d45f4a44a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75c6afaf164d10" /><Relationship Type="http://schemas.openxmlformats.org/officeDocument/2006/relationships/notesSlide" Target="/ppt/notesSlides/notesSlide14.xml" Id="Re2cb0e1c5a7749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6d1d75943a4254" /><Relationship Type="http://schemas.openxmlformats.org/officeDocument/2006/relationships/notesSlide" Target="/ppt/notesSlides/notesSlide15.xml" Id="R932829ebf2444e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200213afac4ec5" /><Relationship Type="http://schemas.openxmlformats.org/officeDocument/2006/relationships/notesSlide" Target="/ppt/notesSlides/notesSlide16.xml" Id="Ra37472df3d9f4e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bea31d854a448e" /><Relationship Type="http://schemas.openxmlformats.org/officeDocument/2006/relationships/notesSlide" Target="/ppt/notesSlides/notesSlide17.xml" Id="R1ad058fba94a434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5a34da78664538" /><Relationship Type="http://schemas.openxmlformats.org/officeDocument/2006/relationships/notesSlide" Target="/ppt/notesSlides/notesSlide18.xml" Id="R527ec8e5449f4f7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fb031651284e26" /><Relationship Type="http://schemas.openxmlformats.org/officeDocument/2006/relationships/notesSlide" Target="/ppt/notesSlides/notesSlide19.xml" Id="R4a6635f67497425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13f91d9e994c35" /><Relationship Type="http://schemas.openxmlformats.org/officeDocument/2006/relationships/notesSlide" Target="/ppt/notesSlides/notesSlide20.xml" Id="Re1fc8b55fe7e4b3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0200b362ab4e74" /><Relationship Type="http://schemas.openxmlformats.org/officeDocument/2006/relationships/notesSlide" Target="/ppt/notesSlides/notesSlide21.xml" Id="R7e9b9fe6504249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6153E53-24B4-4875-A7E0-45C16E62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第9讲  Baseline、实验规格与可复现实验工程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7-8 课之后，草图离判断门还差七项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uilt">
            <a:extLst xmlns:a="http://schemas.openxmlformats.org/drawingml/2006/main">
              <a:ext uri="{FF2B5EF4-FFF2-40B4-BE49-F238E27FC236}">
                <a16:creationId xmlns:a16="http://schemas.microsoft.com/office/drawing/2014/main" id="{484FF47C-4DDA-4205-B95F-622859A7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已有 4 个对象</a:t>
            </a:r>
          </a:p>
        </p:txBody>
      </p:sp>
      <p:sp>
        <p:nvSpPr>
          <p:cNvPr id="7" name="built-l-0">
            <a:extLst xmlns:a="http://schemas.openxmlformats.org/drawingml/2006/main">
              <a:ext uri="{FF2B5EF4-FFF2-40B4-BE49-F238E27FC236}">
                <a16:creationId xmlns:a16="http://schemas.microsoft.com/office/drawing/2014/main" id="{929AE395-109B-45ED-B1DD-C51C0985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810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机制与替代列表</a:t>
            </a:r>
          </a:p>
        </p:txBody>
      </p:sp>
      <p:sp>
        <p:nvSpPr>
          <p:cNvPr id="8" name="built-l-1">
            <a:extLst xmlns:a="http://schemas.openxmlformats.org/drawingml/2006/main">
              <a:ext uri="{FF2B5EF4-FFF2-40B4-BE49-F238E27FC236}">
                <a16:creationId xmlns:a16="http://schemas.microsoft.com/office/drawing/2014/main" id="{2B5B82C6-DFEE-4A6D-AE49-90468683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3810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研究判断 J1</a:t>
            </a:r>
          </a:p>
        </p:txBody>
      </p:sp>
      <p:sp>
        <p:nvSpPr>
          <p:cNvPr id="9" name="built-l-2">
            <a:extLst xmlns:a="http://schemas.openxmlformats.org/drawingml/2006/main">
              <a:ext uri="{FF2B5EF4-FFF2-40B4-BE49-F238E27FC236}">
                <a16:creationId xmlns:a16="http://schemas.microsoft.com/office/drawing/2014/main" id="{CD7884CC-9967-42F5-BE1A-833C66C4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3810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变量清单草图</a:t>
            </a:r>
          </a:p>
        </p:txBody>
      </p:sp>
      <p:sp>
        <p:nvSpPr>
          <p:cNvPr id="10" name="built-l-3">
            <a:extLst xmlns:a="http://schemas.openxmlformats.org/drawingml/2006/main">
              <a:ext uri="{FF2B5EF4-FFF2-40B4-BE49-F238E27FC236}">
                <a16:creationId xmlns:a16="http://schemas.microsoft.com/office/drawing/2014/main" id="{79958574-20CB-44A0-83FE-E0597A13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810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同伴反馈记录</a:t>
            </a:r>
          </a:p>
        </p:txBody>
      </p:sp>
      <p:sp>
        <p:nvSpPr>
          <p:cNvPr id="11" name="gap-a">
            <a:extLst xmlns:a="http://schemas.openxmlformats.org/drawingml/2006/main">
              <a:ext uri="{FF2B5EF4-FFF2-40B4-BE49-F238E27FC236}">
                <a16:creationId xmlns:a16="http://schemas.microsoft.com/office/drawing/2014/main" id="{BF200CBF-DA9A-47C2-B327-A8B175AE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67000"/>
            <a:ext cx="609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target-bg">
            <a:extLst xmlns:a="http://schemas.openxmlformats.org/drawingml/2006/main">
              <a:ext uri="{FF2B5EF4-FFF2-40B4-BE49-F238E27FC236}">
                <a16:creationId xmlns:a16="http://schemas.microsoft.com/office/drawing/2014/main" id="{5C7EF94B-6C22-451C-8BF1-5706B5A7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8125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3" name="target">
            <a:extLst xmlns:a="http://schemas.openxmlformats.org/drawingml/2006/main">
              <a:ext uri="{FF2B5EF4-FFF2-40B4-BE49-F238E27FC236}">
                <a16:creationId xmlns:a16="http://schemas.microsoft.com/office/drawing/2014/main" id="{DF3F618F-3E94-4DD3-BC5B-82312C19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76500"/>
            <a:ext cx="22669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判断门材料初版</a:t>
            </a:r>
          </a:p>
        </p:txBody>
      </p:sp>
      <p:sp>
        <p:nvSpPr>
          <p:cNvPr id="14" name="gap-b">
            <a:extLst xmlns:a="http://schemas.openxmlformats.org/drawingml/2006/main">
              <a:ext uri="{FF2B5EF4-FFF2-40B4-BE49-F238E27FC236}">
                <a16:creationId xmlns:a16="http://schemas.microsoft.com/office/drawing/2014/main" id="{6695D138-DBAB-45A5-8626-86EC30E7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09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missing">
            <a:extLst xmlns:a="http://schemas.openxmlformats.org/drawingml/2006/main">
              <a:ext uri="{FF2B5EF4-FFF2-40B4-BE49-F238E27FC236}">
                <a16:creationId xmlns:a16="http://schemas.microsoft.com/office/drawing/2014/main" id="{DF4C4C33-9C74-4BAD-925B-66ABC418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0953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还差 7 项</a:t>
            </a:r>
          </a:p>
        </p:txBody>
      </p:sp>
      <p:sp>
        <p:nvSpPr>
          <p:cNvPr id="16" name="missing-l-0">
            <a:extLst xmlns:a="http://schemas.openxmlformats.org/drawingml/2006/main">
              <a:ext uri="{FF2B5EF4-FFF2-40B4-BE49-F238E27FC236}">
                <a16:creationId xmlns:a16="http://schemas.microsoft.com/office/drawing/2014/main" id="{90AB0F4F-4C6F-470B-A189-BF68EAF7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7637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公平 baseline</a:t>
            </a:r>
          </a:p>
        </p:txBody>
      </p:sp>
      <p:sp>
        <p:nvSpPr>
          <p:cNvPr id="17" name="missing-l-1">
            <a:extLst xmlns:a="http://schemas.openxmlformats.org/drawingml/2006/main">
              <a:ext uri="{FF2B5EF4-FFF2-40B4-BE49-F238E27FC236}">
                <a16:creationId xmlns:a16="http://schemas.microsoft.com/office/drawing/2014/main" id="{5CA97700-52A6-4D6C-A92E-38332869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9072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停止／随机／失败预案</a:t>
            </a:r>
          </a:p>
        </p:txBody>
      </p:sp>
      <p:sp>
        <p:nvSpPr>
          <p:cNvPr id="18" name="missing-l-2">
            <a:extLst xmlns:a="http://schemas.openxmlformats.org/drawingml/2006/main">
              <a:ext uri="{FF2B5EF4-FFF2-40B4-BE49-F238E27FC236}">
                <a16:creationId xmlns:a16="http://schemas.microsoft.com/office/drawing/2014/main" id="{414A74AE-7EF0-4DC0-A13F-ACAF052A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种子与环境</a:t>
            </a:r>
          </a:p>
        </p:txBody>
      </p:sp>
      <p:sp>
        <p:nvSpPr>
          <p:cNvPr id="19" name="missing-l-3">
            <a:extLst xmlns:a="http://schemas.openxmlformats.org/drawingml/2006/main">
              <a:ext uri="{FF2B5EF4-FFF2-40B4-BE49-F238E27FC236}">
                <a16:creationId xmlns:a16="http://schemas.microsoft.com/office/drawing/2014/main" id="{94E849EF-A126-464F-BCED-7ACE9287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1942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反馈逐条处理</a:t>
            </a:r>
          </a:p>
        </p:txBody>
      </p:sp>
      <p:sp>
        <p:nvSpPr>
          <p:cNvPr id="20" name="missing-l-4">
            <a:extLst xmlns:a="http://schemas.openxmlformats.org/drawingml/2006/main">
              <a:ext uri="{FF2B5EF4-FFF2-40B4-BE49-F238E27FC236}">
                <a16:creationId xmlns:a16="http://schemas.microsoft.com/office/drawing/2014/main" id="{FCB4BA63-59D4-4C85-BE36-7A9C31D3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3377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第二条判断</a:t>
            </a:r>
          </a:p>
        </p:txBody>
      </p:sp>
      <p:sp>
        <p:nvSpPr>
          <p:cNvPr id="21" name="missing-l-5">
            <a:extLst xmlns:a="http://schemas.openxmlformats.org/drawingml/2006/main">
              <a:ext uri="{FF2B5EF4-FFF2-40B4-BE49-F238E27FC236}">
                <a16:creationId xmlns:a16="http://schemas.microsoft.com/office/drawing/2014/main" id="{11ACF88F-98DA-487A-AFC1-05AA4F52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4812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已遇失败记录</a:t>
            </a:r>
          </a:p>
        </p:txBody>
      </p:sp>
      <p:sp>
        <p:nvSpPr>
          <p:cNvPr id="22" name="missing-l-6">
            <a:extLst xmlns:a="http://schemas.openxmlformats.org/drawingml/2006/main">
              <a:ext uri="{FF2B5EF4-FFF2-40B4-BE49-F238E27FC236}">
                <a16:creationId xmlns:a16="http://schemas.microsoft.com/office/drawing/2014/main" id="{B5ADE526-9611-41DD-BB2A-E98862D9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62475"/>
            <a:ext cx="2952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完整模板迁移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本课产出是可复现的判断门材料初版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artifact1-bg">
            <a:extLst xmlns:a="http://schemas.openxmlformats.org/drawingml/2006/main">
              <a:ext uri="{FF2B5EF4-FFF2-40B4-BE49-F238E27FC236}">
                <a16:creationId xmlns:a16="http://schemas.microsoft.com/office/drawing/2014/main" id="{02AB48E0-2F37-47CF-89A7-87A0DA6F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714500"/>
            <a:ext cx="4095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artifact1">
            <a:extLst xmlns:a="http://schemas.openxmlformats.org/drawingml/2006/main">
              <a:ext uri="{FF2B5EF4-FFF2-40B4-BE49-F238E27FC236}">
                <a16:creationId xmlns:a16="http://schemas.microsoft.com/office/drawing/2014/main" id="{6B8494F4-F1DF-41FF-9AD5-B00A0772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1809750"/>
            <a:ext cx="3790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课堂最低产出 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一条公平 baseline 判断</a:t>
            </a:r>
          </a:p>
        </p:txBody>
      </p:sp>
      <p:sp>
        <p:nvSpPr>
          <p:cNvPr id="8" name="artifact2-bg">
            <a:extLst xmlns:a="http://schemas.openxmlformats.org/drawingml/2006/main">
              <a:ext uri="{FF2B5EF4-FFF2-40B4-BE49-F238E27FC236}">
                <a16:creationId xmlns:a16="http://schemas.microsoft.com/office/drawing/2014/main" id="{ABF783D5-9926-40A4-9C39-B329778E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14500"/>
            <a:ext cx="4095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9" name="artifact2">
            <a:extLst xmlns:a="http://schemas.openxmlformats.org/drawingml/2006/main">
              <a:ext uri="{FF2B5EF4-FFF2-40B4-BE49-F238E27FC236}">
                <a16:creationId xmlns:a16="http://schemas.microsoft.com/office/drawing/2014/main" id="{0304CA44-59F1-4958-8908-281BFAA3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809750"/>
            <a:ext cx="3790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课堂最低产出 2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一条可重运行记录</a:t>
            </a:r>
          </a:p>
        </p:txBody>
      </p:sp>
      <p:sp>
        <p:nvSpPr>
          <p:cNvPr id="10" name="home">
            <a:extLst xmlns:a="http://schemas.openxmlformats.org/drawingml/2006/main">
              <a:ext uri="{FF2B5EF4-FFF2-40B4-BE49-F238E27FC236}">
                <a16:creationId xmlns:a16="http://schemas.microsoft.com/office/drawing/2014/main" id="{DB1541FF-48C5-4CDE-8FEA-A417FB52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57625"/>
            <a:ext cx="933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课后补全七字段规格、J2、反馈处理、失败记录、九项自查与模板迁移</a:t>
            </a:r>
          </a:p>
        </p:txBody>
      </p:sp>
      <p:sp>
        <p:nvSpPr>
          <p:cNvPr id="11" name="submit">
            <a:extLst xmlns:a="http://schemas.openxmlformats.org/drawingml/2006/main">
              <a:ext uri="{FF2B5EF4-FFF2-40B4-BE49-F238E27FC236}">
                <a16:creationId xmlns:a16="http://schemas.microsoft.com/office/drawing/2014/main" id="{203A3256-9B5A-47BE-9E1C-3381401D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正式提交条件以 assignments.md 为准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baseline 是检验机制效应的公平参照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axis">
            <a:extLst xmlns:a="http://schemas.openxmlformats.org/drawingml/2006/main">
              <a:ext uri="{FF2B5EF4-FFF2-40B4-BE49-F238E27FC236}">
                <a16:creationId xmlns:a16="http://schemas.microsoft.com/office/drawing/2014/main" id="{C3956744-271E-41C6-A9AD-88EECFE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“目标机制是否带来效应？”需要一条公平参照轴</a:t>
            </a:r>
          </a:p>
        </p:txBody>
      </p:sp>
      <p:sp>
        <p:nvSpPr>
          <p:cNvPr id="7" name="base0-bg">
            <a:extLst xmlns:a="http://schemas.openxmlformats.org/drawingml/2006/main">
              <a:ext uri="{FF2B5EF4-FFF2-40B4-BE49-F238E27FC236}">
                <a16:creationId xmlns:a16="http://schemas.microsoft.com/office/drawing/2014/main" id="{D7FA4039-97BC-437C-B445-4EC02FF8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8" name="base0">
            <a:extLst xmlns:a="http://schemas.openxmlformats.org/drawingml/2006/main">
              <a:ext uri="{FF2B5EF4-FFF2-40B4-BE49-F238E27FC236}">
                <a16:creationId xmlns:a16="http://schemas.microsoft.com/office/drawing/2014/main" id="{A845A4CB-81F7-44CB-9E62-010F80A1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2838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朴素 baseline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自由摘要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不强制阅读卡结构</a:t>
            </a:r>
          </a:p>
        </p:txBody>
      </p:sp>
      <p:sp>
        <p:nvSpPr>
          <p:cNvPr id="9" name="base1-bg">
            <a:extLst xmlns:a="http://schemas.openxmlformats.org/drawingml/2006/main">
              <a:ext uri="{FF2B5EF4-FFF2-40B4-BE49-F238E27FC236}">
                <a16:creationId xmlns:a16="http://schemas.microsoft.com/office/drawing/2014/main" id="{B3876A63-4CDA-4A83-B7F8-51B3995C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base1">
            <a:extLst xmlns:a="http://schemas.openxmlformats.org/drawingml/2006/main">
              <a:ext uri="{FF2B5EF4-FFF2-40B4-BE49-F238E27FC236}">
                <a16:creationId xmlns:a16="http://schemas.microsoft.com/office/drawing/2014/main" id="{280AFCFF-C659-48BB-9129-BE70A6A9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2838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强 baseline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增强摘要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需外部 prompt 集</a:t>
            </a:r>
          </a:p>
        </p:txBody>
      </p:sp>
      <p:sp>
        <p:nvSpPr>
          <p:cNvPr id="11" name="base2-bg">
            <a:extLst xmlns:a="http://schemas.openxmlformats.org/drawingml/2006/main">
              <a:ext uri="{FF2B5EF4-FFF2-40B4-BE49-F238E27FC236}">
                <a16:creationId xmlns:a16="http://schemas.microsoft.com/office/drawing/2014/main" id="{8BE17E5B-BF4F-43BE-83AA-9DF43C8A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097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base2">
            <a:extLst xmlns:a="http://schemas.openxmlformats.org/drawingml/2006/main">
              <a:ext uri="{FF2B5EF4-FFF2-40B4-BE49-F238E27FC236}">
                <a16:creationId xmlns:a16="http://schemas.microsoft.com/office/drawing/2014/main" id="{D60CCF61-C407-4332-BF61-CADE3C3D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05000"/>
            <a:ext cx="2838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消融 baseline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阅读卡去掉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“原文位置”字段</a:t>
            </a:r>
          </a:p>
        </p:txBody>
      </p:sp>
      <p:sp>
        <p:nvSpPr>
          <p:cNvPr id="13" name="case">
            <a:extLst xmlns:a="http://schemas.openxmlformats.org/drawingml/2006/main">
              <a:ext uri="{FF2B5EF4-FFF2-40B4-BE49-F238E27FC236}">
                <a16:creationId xmlns:a16="http://schemas.microsoft.com/office/drawing/2014/main" id="{7A66279E-56FE-4F5C-96E7-85E02E49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贯穿案例选择朴素 baseline；判断门要求至少 1 个并解释公平性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63BEE33D-B172-4CFD-899F-952EFE99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Pineau et al., 2021, JMLR 22(164)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公平 baseline 要求五项条件同时对等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exp">
            <a:extLst xmlns:a="http://schemas.openxmlformats.org/drawingml/2006/main">
              <a:ext uri="{FF2B5EF4-FFF2-40B4-BE49-F238E27FC236}">
                <a16:creationId xmlns:a16="http://schemas.microsoft.com/office/drawing/2014/main" id="{D5256A59-67DD-4B40-9002-5E825574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047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阅读卡组</a:t>
            </a:r>
          </a:p>
        </p:txBody>
      </p:sp>
      <p:sp>
        <p:nvSpPr>
          <p:cNvPr id="7" name="base">
            <a:extLst xmlns:a="http://schemas.openxmlformats.org/drawingml/2006/main">
              <a:ext uri="{FF2B5EF4-FFF2-40B4-BE49-F238E27FC236}">
                <a16:creationId xmlns:a16="http://schemas.microsoft.com/office/drawing/2014/main" id="{044A13FB-D8CC-4C4A-BFF2-F42725DB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47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自由摘要组</a:t>
            </a:r>
          </a:p>
        </p:txBody>
      </p:sp>
      <p:sp>
        <p:nvSpPr>
          <p:cNvPr id="8" name="e-l0">
            <a:extLst xmlns:a="http://schemas.openxmlformats.org/drawingml/2006/main">
              <a:ext uri="{FF2B5EF4-FFF2-40B4-BE49-F238E27FC236}">
                <a16:creationId xmlns:a16="http://schemas.microsoft.com/office/drawing/2014/main" id="{8C607794-95DF-402A-9FDA-7487BDCC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5716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9" name="e-v0">
            <a:extLst xmlns:a="http://schemas.openxmlformats.org/drawingml/2006/main">
              <a:ext uri="{FF2B5EF4-FFF2-40B4-BE49-F238E27FC236}">
                <a16:creationId xmlns:a16="http://schemas.microsoft.com/office/drawing/2014/main" id="{246A57F4-2074-4669-A01B-1A306AA4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716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同一批论文／任务</a:t>
            </a:r>
          </a:p>
        </p:txBody>
      </p:sp>
      <p:sp>
        <p:nvSpPr>
          <p:cNvPr id="10" name="e-r0">
            <a:extLst xmlns:a="http://schemas.openxmlformats.org/drawingml/2006/main">
              <a:ext uri="{FF2B5EF4-FFF2-40B4-BE49-F238E27FC236}">
                <a16:creationId xmlns:a16="http://schemas.microsoft.com/office/drawing/2014/main" id="{12EDFEC4-4BF6-4F14-A532-78EDA865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5716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11" name="e-rul0">
            <a:extLst xmlns:a="http://schemas.openxmlformats.org/drawingml/2006/main">
              <a:ext uri="{FF2B5EF4-FFF2-40B4-BE49-F238E27FC236}">
                <a16:creationId xmlns:a16="http://schemas.microsoft.com/office/drawing/2014/main" id="{A3884D11-2C9C-4038-912E-9BAA4F5A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742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e-l1">
            <a:extLst xmlns:a="http://schemas.openxmlformats.org/drawingml/2006/main">
              <a:ext uri="{FF2B5EF4-FFF2-40B4-BE49-F238E27FC236}">
                <a16:creationId xmlns:a16="http://schemas.microsoft.com/office/drawing/2014/main" id="{F9203E38-0B14-45EB-8070-35D63258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3526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13" name="e-v1">
            <a:extLst xmlns:a="http://schemas.openxmlformats.org/drawingml/2006/main">
              <a:ext uri="{FF2B5EF4-FFF2-40B4-BE49-F238E27FC236}">
                <a16:creationId xmlns:a16="http://schemas.microsoft.com/office/drawing/2014/main" id="{E2A1B068-1977-4A46-9C13-A462410A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526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同模型与解码参数</a:t>
            </a:r>
          </a:p>
        </p:txBody>
      </p:sp>
      <p:sp>
        <p:nvSpPr>
          <p:cNvPr id="14" name="e-r1">
            <a:extLst xmlns:a="http://schemas.openxmlformats.org/drawingml/2006/main">
              <a:ext uri="{FF2B5EF4-FFF2-40B4-BE49-F238E27FC236}">
                <a16:creationId xmlns:a16="http://schemas.microsoft.com/office/drawing/2014/main" id="{B9CC87E8-479E-4101-8837-30C59EE7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526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15" name="e-rul1">
            <a:extLst xmlns:a="http://schemas.openxmlformats.org/drawingml/2006/main">
              <a:ext uri="{FF2B5EF4-FFF2-40B4-BE49-F238E27FC236}">
                <a16:creationId xmlns:a16="http://schemas.microsoft.com/office/drawing/2014/main" id="{76B1489D-8771-4CFE-9AEE-765D63F6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28925"/>
            <a:ext cx="742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e-l2">
            <a:extLst xmlns:a="http://schemas.openxmlformats.org/drawingml/2006/main">
              <a:ext uri="{FF2B5EF4-FFF2-40B4-BE49-F238E27FC236}">
                <a16:creationId xmlns:a16="http://schemas.microsoft.com/office/drawing/2014/main" id="{86C34FF3-6735-4EB2-AE1C-CCD3AF99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1337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17" name="e-v2">
            <a:extLst xmlns:a="http://schemas.openxmlformats.org/drawingml/2006/main">
              <a:ext uri="{FF2B5EF4-FFF2-40B4-BE49-F238E27FC236}">
                <a16:creationId xmlns:a16="http://schemas.microsoft.com/office/drawing/2014/main" id="{6CAB61DF-167A-4036-9189-84EC0380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337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同一评价协议</a:t>
            </a:r>
          </a:p>
        </p:txBody>
      </p:sp>
      <p:sp>
        <p:nvSpPr>
          <p:cNvPr id="18" name="e-r2">
            <a:extLst xmlns:a="http://schemas.openxmlformats.org/drawingml/2006/main">
              <a:ext uri="{FF2B5EF4-FFF2-40B4-BE49-F238E27FC236}">
                <a16:creationId xmlns:a16="http://schemas.microsoft.com/office/drawing/2014/main" id="{88110EA4-A0CF-4FCA-9D49-98D77445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337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19" name="e-rul2">
            <a:extLst xmlns:a="http://schemas.openxmlformats.org/drawingml/2006/main">
              <a:ext uri="{FF2B5EF4-FFF2-40B4-BE49-F238E27FC236}">
                <a16:creationId xmlns:a16="http://schemas.microsoft.com/office/drawing/2014/main" id="{DA110194-CDEC-4CA6-8BFA-6C03F0C8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09975"/>
            <a:ext cx="742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e-l3">
            <a:extLst xmlns:a="http://schemas.openxmlformats.org/drawingml/2006/main">
              <a:ext uri="{FF2B5EF4-FFF2-40B4-BE49-F238E27FC236}">
                <a16:creationId xmlns:a16="http://schemas.microsoft.com/office/drawing/2014/main" id="{06EA458F-C160-4822-A875-80EB05D0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9147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21" name="e-v3">
            <a:extLst xmlns:a="http://schemas.openxmlformats.org/drawingml/2006/main">
              <a:ext uri="{FF2B5EF4-FFF2-40B4-BE49-F238E27FC236}">
                <a16:creationId xmlns:a16="http://schemas.microsoft.com/office/drawing/2014/main" id="{5D143DFB-987B-42D1-A9BD-18FF5005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147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同运行次数与停止条件</a:t>
            </a:r>
          </a:p>
        </p:txBody>
      </p:sp>
      <p:sp>
        <p:nvSpPr>
          <p:cNvPr id="22" name="e-r3">
            <a:extLst xmlns:a="http://schemas.openxmlformats.org/drawingml/2006/main">
              <a:ext uri="{FF2B5EF4-FFF2-40B4-BE49-F238E27FC236}">
                <a16:creationId xmlns:a16="http://schemas.microsoft.com/office/drawing/2014/main" id="{9AE54D23-E43F-4A8B-825C-15B8E6F9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9147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23" name="e-rul3">
            <a:extLst xmlns:a="http://schemas.openxmlformats.org/drawingml/2006/main">
              <a:ext uri="{FF2B5EF4-FFF2-40B4-BE49-F238E27FC236}">
                <a16:creationId xmlns:a16="http://schemas.microsoft.com/office/drawing/2014/main" id="{71612935-BF6F-405F-91EB-E4B51C96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91025"/>
            <a:ext cx="742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4" name="e-l4">
            <a:extLst xmlns:a="http://schemas.openxmlformats.org/drawingml/2006/main">
              <a:ext uri="{FF2B5EF4-FFF2-40B4-BE49-F238E27FC236}">
                <a16:creationId xmlns:a16="http://schemas.microsoft.com/office/drawing/2014/main" id="{6887BF4B-6A16-4307-BFAE-494F3777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958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25" name="e-v4">
            <a:extLst xmlns:a="http://schemas.openxmlformats.org/drawingml/2006/main">
              <a:ext uri="{FF2B5EF4-FFF2-40B4-BE49-F238E27FC236}">
                <a16:creationId xmlns:a16="http://schemas.microsoft.com/office/drawing/2014/main" id="{EC46250A-35C9-411D-913A-32904412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958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失败记录都保留</a:t>
            </a:r>
          </a:p>
        </p:txBody>
      </p:sp>
      <p:sp>
        <p:nvSpPr>
          <p:cNvPr id="26" name="e-r4">
            <a:extLst xmlns:a="http://schemas.openxmlformats.org/drawingml/2006/main">
              <a:ext uri="{FF2B5EF4-FFF2-40B4-BE49-F238E27FC236}">
                <a16:creationId xmlns:a16="http://schemas.microsoft.com/office/drawing/2014/main" id="{B477B8DA-4B96-4F0B-95DC-C66872D9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958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●</a:t>
            </a:r>
          </a:p>
        </p:txBody>
      </p:sp>
      <p:sp>
        <p:nvSpPr>
          <p:cNvPr id="27" name="e-rul4">
            <a:extLst xmlns:a="http://schemas.openxmlformats.org/drawingml/2006/main">
              <a:ext uri="{FF2B5EF4-FFF2-40B4-BE49-F238E27FC236}">
                <a16:creationId xmlns:a16="http://schemas.microsoft.com/office/drawing/2014/main" id="{08FABE53-6DB4-4C53-BC0D-6A182B4D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72075"/>
            <a:ext cx="742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五类不公平做法都会把偏倚写成效应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ias-shade0">
            <a:extLst xmlns:a="http://schemas.openxmlformats.org/drawingml/2006/main">
              <a:ext uri="{FF2B5EF4-FFF2-40B4-BE49-F238E27FC236}">
                <a16:creationId xmlns:a16="http://schemas.microsoft.com/office/drawing/2014/main" id="{A9F53084-7009-4EB8-B89F-D4F98907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81125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bias-l0">
            <a:extLst xmlns:a="http://schemas.openxmlformats.org/drawingml/2006/main">
              <a:ext uri="{FF2B5EF4-FFF2-40B4-BE49-F238E27FC236}">
                <a16:creationId xmlns:a16="http://schemas.microsoft.com/office/drawing/2014/main" id="{B86F110C-E6C4-41BA-96D8-7357A5FC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573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数据不一致</a:t>
            </a:r>
          </a:p>
        </p:txBody>
      </p:sp>
      <p:sp>
        <p:nvSpPr>
          <p:cNvPr id="8" name="bias-v0">
            <a:extLst xmlns:a="http://schemas.openxmlformats.org/drawingml/2006/main">
              <a:ext uri="{FF2B5EF4-FFF2-40B4-BE49-F238E27FC236}">
                <a16:creationId xmlns:a16="http://schemas.microsoft.com/office/drawing/2014/main" id="{6033DF86-4077-4EA2-A65E-DD2FE00E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难度差异</a:t>
            </a:r>
          </a:p>
        </p:txBody>
      </p:sp>
      <p:sp>
        <p:nvSpPr>
          <p:cNvPr id="9" name="bias-r0">
            <a:extLst xmlns:a="http://schemas.openxmlformats.org/drawingml/2006/main">
              <a:ext uri="{FF2B5EF4-FFF2-40B4-BE49-F238E27FC236}">
                <a16:creationId xmlns:a16="http://schemas.microsoft.com/office/drawing/2014/main" id="{E99E6CD9-E7D4-4FA5-B7E9-04A2EA60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0502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bias-l1">
            <a:extLst xmlns:a="http://schemas.openxmlformats.org/drawingml/2006/main">
              <a:ext uri="{FF2B5EF4-FFF2-40B4-BE49-F238E27FC236}">
                <a16:creationId xmlns:a16="http://schemas.microsoft.com/office/drawing/2014/main" id="{5E020DBF-105F-4CBD-B9F8-F18AB6E9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81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超参不对等</a:t>
            </a:r>
          </a:p>
        </p:txBody>
      </p:sp>
      <p:sp>
        <p:nvSpPr>
          <p:cNvPr id="11" name="bias-v1">
            <a:extLst xmlns:a="http://schemas.openxmlformats.org/drawingml/2006/main">
              <a:ext uri="{FF2B5EF4-FFF2-40B4-BE49-F238E27FC236}">
                <a16:creationId xmlns:a16="http://schemas.microsoft.com/office/drawing/2014/main" id="{3ADDDC4A-50AB-4C7F-8C7A-1D4362D9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812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调参差异</a:t>
            </a:r>
          </a:p>
        </p:txBody>
      </p:sp>
      <p:sp>
        <p:nvSpPr>
          <p:cNvPr id="12" name="bias-r1">
            <a:extLst xmlns:a="http://schemas.openxmlformats.org/drawingml/2006/main">
              <a:ext uri="{FF2B5EF4-FFF2-40B4-BE49-F238E27FC236}">
                <a16:creationId xmlns:a16="http://schemas.microsoft.com/office/drawing/2014/main" id="{26EDE8E6-EF61-4F75-9C0A-6C2E0096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2892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bias-shade2">
            <a:extLst xmlns:a="http://schemas.openxmlformats.org/drawingml/2006/main">
              <a:ext uri="{FF2B5EF4-FFF2-40B4-BE49-F238E27FC236}">
                <a16:creationId xmlns:a16="http://schemas.microsoft.com/office/drawing/2014/main" id="{7BA2D453-5495-4541-A883-8F333C81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28925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4" name="bias-l2">
            <a:extLst xmlns:a="http://schemas.openxmlformats.org/drawingml/2006/main">
              <a:ext uri="{FF2B5EF4-FFF2-40B4-BE49-F238E27FC236}">
                <a16:creationId xmlns:a16="http://schemas.microsoft.com/office/drawing/2014/main" id="{ED097F95-29CA-4667-8678-9EC311FA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51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评价不一致</a:t>
            </a:r>
          </a:p>
        </p:txBody>
      </p:sp>
      <p:sp>
        <p:nvSpPr>
          <p:cNvPr id="15" name="bias-v2">
            <a:extLst xmlns:a="http://schemas.openxmlformats.org/drawingml/2006/main">
              <a:ext uri="{FF2B5EF4-FFF2-40B4-BE49-F238E27FC236}">
                <a16:creationId xmlns:a16="http://schemas.microsoft.com/office/drawing/2014/main" id="{1760ABEB-386C-47A6-B35D-7341F94F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051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评价者偏倚</a:t>
            </a:r>
          </a:p>
        </p:txBody>
      </p:sp>
      <p:sp>
        <p:nvSpPr>
          <p:cNvPr id="16" name="bias-r2">
            <a:extLst xmlns:a="http://schemas.openxmlformats.org/drawingml/2006/main">
              <a:ext uri="{FF2B5EF4-FFF2-40B4-BE49-F238E27FC236}">
                <a16:creationId xmlns:a16="http://schemas.microsoft.com/office/drawing/2014/main" id="{A95EC006-7B50-4BC8-BCDF-1EF5FF83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5282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bias-l3">
            <a:extLst xmlns:a="http://schemas.openxmlformats.org/drawingml/2006/main">
              <a:ext uri="{FF2B5EF4-FFF2-40B4-BE49-F238E27FC236}">
                <a16:creationId xmlns:a16="http://schemas.microsoft.com/office/drawing/2014/main" id="{3342441C-E8E6-468A-B89F-1E201381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290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运行次数不等</a:t>
            </a:r>
          </a:p>
        </p:txBody>
      </p:sp>
      <p:sp>
        <p:nvSpPr>
          <p:cNvPr id="18" name="bias-v3">
            <a:extLst xmlns:a="http://schemas.openxmlformats.org/drawingml/2006/main">
              <a:ext uri="{FF2B5EF4-FFF2-40B4-BE49-F238E27FC236}">
                <a16:creationId xmlns:a16="http://schemas.microsoft.com/office/drawing/2014/main" id="{F09C115C-6043-43E5-B6AF-8BE56489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290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噪声差异</a:t>
            </a:r>
          </a:p>
        </p:txBody>
      </p:sp>
      <p:sp>
        <p:nvSpPr>
          <p:cNvPr id="19" name="bias-r3">
            <a:extLst xmlns:a="http://schemas.openxmlformats.org/drawingml/2006/main">
              <a:ext uri="{FF2B5EF4-FFF2-40B4-BE49-F238E27FC236}">
                <a16:creationId xmlns:a16="http://schemas.microsoft.com/office/drawing/2014/main" id="{53DCE3D3-10AD-439B-9A05-25659DCF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bias-shade4">
            <a:extLst xmlns:a="http://schemas.openxmlformats.org/drawingml/2006/main">
              <a:ext uri="{FF2B5EF4-FFF2-40B4-BE49-F238E27FC236}">
                <a16:creationId xmlns:a16="http://schemas.microsoft.com/office/drawing/2014/main" id="{BFA531E4-4EBC-4D92-BC27-58A0EC27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1" name="bias-l4">
            <a:extLst xmlns:a="http://schemas.openxmlformats.org/drawingml/2006/main">
              <a:ext uri="{FF2B5EF4-FFF2-40B4-BE49-F238E27FC236}">
                <a16:creationId xmlns:a16="http://schemas.microsoft.com/office/drawing/2014/main" id="{C13EEC5B-93CA-4A62-98CE-9BE00DFF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529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失败被删除</a:t>
            </a:r>
          </a:p>
        </p:txBody>
      </p:sp>
      <p:sp>
        <p:nvSpPr>
          <p:cNvPr id="22" name="bias-v4">
            <a:extLst xmlns:a="http://schemas.openxmlformats.org/drawingml/2006/main">
              <a:ext uri="{FF2B5EF4-FFF2-40B4-BE49-F238E27FC236}">
                <a16:creationId xmlns:a16="http://schemas.microsoft.com/office/drawing/2014/main" id="{AC211B4A-0FF6-4012-B64E-5340D604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529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隐性偏倚</a:t>
            </a:r>
          </a:p>
        </p:txBody>
      </p:sp>
      <p:sp>
        <p:nvSpPr>
          <p:cNvPr id="23" name="bias-arrow">
            <a:extLst xmlns:a="http://schemas.openxmlformats.org/drawingml/2006/main">
              <a:ext uri="{FF2B5EF4-FFF2-40B4-BE49-F238E27FC236}">
                <a16:creationId xmlns:a16="http://schemas.microsoft.com/office/drawing/2014/main" id="{AF8D2C0E-0CE8-4B5D-964F-0FD48BD9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911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不公平比较把左侧差异写成“方法效应”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一句‘方法有效’无法证明实验可复现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A518A895-2457-476C-AEEC-31B863CD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教学反例｜虚构实验记录</a:t>
            </a:r>
          </a:p>
        </p:txBody>
      </p:sp>
      <p:sp>
        <p:nvSpPr>
          <p:cNvPr id="7" name="note-bg">
            <a:extLst xmlns:a="http://schemas.openxmlformats.org/drawingml/2006/main">
              <a:ext uri="{FF2B5EF4-FFF2-40B4-BE49-F238E27FC236}">
                <a16:creationId xmlns:a16="http://schemas.microsoft.com/office/drawing/2014/main" id="{9051288E-4BA8-4B0F-BE9D-7198F114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619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note">
            <a:extLst xmlns:a="http://schemas.openxmlformats.org/drawingml/2006/main">
              <a:ext uri="{FF2B5EF4-FFF2-40B4-BE49-F238E27FC236}">
                <a16:creationId xmlns:a16="http://schemas.microsoft.com/office/drawing/2014/main" id="{7B711891-F445-48C9-AF70-6A9BC9C9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66875"/>
            <a:ext cx="58864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虚构实验记录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“GPT-4 生成摘要；阅读卡组遗漏率更低，所以方法有效。”</a:t>
            </a:r>
          </a:p>
        </p:txBody>
      </p:sp>
      <p:sp>
        <p:nvSpPr>
          <p:cNvPr id="9" name="miss0">
            <a:extLst xmlns:a="http://schemas.openxmlformats.org/drawingml/2006/main">
              <a:ext uri="{FF2B5EF4-FFF2-40B4-BE49-F238E27FC236}">
                <a16:creationId xmlns:a16="http://schemas.microsoft.com/office/drawing/2014/main" id="{99A15F3C-CFE9-4935-BA12-A34EB11B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811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模型快照？</a:t>
            </a:r>
          </a:p>
        </p:txBody>
      </p:sp>
      <p:sp>
        <p:nvSpPr>
          <p:cNvPr id="10" name="miss1">
            <a:extLst xmlns:a="http://schemas.openxmlformats.org/drawingml/2006/main">
              <a:ext uri="{FF2B5EF4-FFF2-40B4-BE49-F238E27FC236}">
                <a16:creationId xmlns:a16="http://schemas.microsoft.com/office/drawing/2014/main" id="{38062C7A-EDE2-4161-94E3-7D4BFD52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参数／prompt？</a:t>
            </a:r>
          </a:p>
        </p:txBody>
      </p:sp>
      <p:sp>
        <p:nvSpPr>
          <p:cNvPr id="11" name="miss2">
            <a:extLst xmlns:a="http://schemas.openxmlformats.org/drawingml/2006/main">
              <a:ext uri="{FF2B5EF4-FFF2-40B4-BE49-F238E27FC236}">
                <a16:creationId xmlns:a16="http://schemas.microsoft.com/office/drawing/2014/main" id="{B0AD9BE7-48A8-4273-B436-8583F8F9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193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随机种子？</a:t>
            </a:r>
          </a:p>
        </p:txBody>
      </p:sp>
      <p:sp>
        <p:nvSpPr>
          <p:cNvPr id="12" name="miss3">
            <a:extLst xmlns:a="http://schemas.openxmlformats.org/drawingml/2006/main">
              <a:ext uri="{FF2B5EF4-FFF2-40B4-BE49-F238E27FC236}">
                <a16:creationId xmlns:a16="http://schemas.microsoft.com/office/drawing/2014/main" id="{B1A1FD09-7097-49EA-B8F9-A950BFD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哪 20 篇？</a:t>
            </a:r>
          </a:p>
        </p:txBody>
      </p:sp>
      <p:sp>
        <p:nvSpPr>
          <p:cNvPr id="13" name="miss4">
            <a:extLst xmlns:a="http://schemas.openxmlformats.org/drawingml/2006/main">
              <a:ext uri="{FF2B5EF4-FFF2-40B4-BE49-F238E27FC236}">
                <a16:creationId xmlns:a16="http://schemas.microsoft.com/office/drawing/2014/main" id="{469B2903-72C5-4037-8FE3-4FEF12B6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运行次数？</a:t>
            </a:r>
          </a:p>
        </p:txBody>
      </p:sp>
      <p:sp>
        <p:nvSpPr>
          <p:cNvPr id="14" name="miss5">
            <a:extLst xmlns:a="http://schemas.openxmlformats.org/drawingml/2006/main">
              <a:ext uri="{FF2B5EF4-FFF2-40B4-BE49-F238E27FC236}">
                <a16:creationId xmlns:a16="http://schemas.microsoft.com/office/drawing/2014/main" id="{FA153FC0-2C13-4CA3-A20D-C530BA15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76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标注协议？</a:t>
            </a:r>
          </a:p>
        </p:txBody>
      </p:sp>
      <p:sp>
        <p:nvSpPr>
          <p:cNvPr id="15" name="miss6">
            <a:extLst xmlns:a="http://schemas.openxmlformats.org/drawingml/2006/main">
              <a:ext uri="{FF2B5EF4-FFF2-40B4-BE49-F238E27FC236}">
                <a16:creationId xmlns:a16="http://schemas.microsoft.com/office/drawing/2014/main" id="{7EA3D08F-7C06-42A6-8A17-50F741EA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958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baseline 公平？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七字段把假设、对照与停止规则锁在一起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E0CB2D40-F8C9-42B4-9EC8-F52D7C60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sp-l0">
            <a:extLst xmlns:a="http://schemas.openxmlformats.org/drawingml/2006/main">
              <a:ext uri="{FF2B5EF4-FFF2-40B4-BE49-F238E27FC236}">
                <a16:creationId xmlns:a16="http://schemas.microsoft.com/office/drawing/2014/main" id="{429D4280-F4B5-427F-8293-7FED9C60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</a:t>
            </a:r>
          </a:p>
        </p:txBody>
      </p:sp>
      <p:sp>
        <p:nvSpPr>
          <p:cNvPr id="8" name="sp-v0">
            <a:extLst xmlns:a="http://schemas.openxmlformats.org/drawingml/2006/main">
              <a:ext uri="{FF2B5EF4-FFF2-40B4-BE49-F238E27FC236}">
                <a16:creationId xmlns:a16="http://schemas.microsoft.com/office/drawing/2014/main" id="{87752CE2-F63D-4F78-B93E-E5F5C3DE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144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H1；A1／A2／A3</a:t>
            </a:r>
          </a:p>
        </p:txBody>
      </p:sp>
      <p:sp>
        <p:nvSpPr>
          <p:cNvPr id="9" name="sp-r0">
            <a:extLst xmlns:a="http://schemas.openxmlformats.org/drawingml/2006/main">
              <a:ext uri="{FF2B5EF4-FFF2-40B4-BE49-F238E27FC236}">
                <a16:creationId xmlns:a16="http://schemas.microsoft.com/office/drawing/2014/main" id="{059AEF4B-2D9E-4C45-9016-C8AF337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sp-l1">
            <a:extLst xmlns:a="http://schemas.openxmlformats.org/drawingml/2006/main">
              <a:ext uri="{FF2B5EF4-FFF2-40B4-BE49-F238E27FC236}">
                <a16:creationId xmlns:a16="http://schemas.microsoft.com/office/drawing/2014/main" id="{7B5FE135-0BED-4017-BF21-78C35F4B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变量</a:t>
            </a:r>
          </a:p>
        </p:txBody>
      </p:sp>
      <p:sp>
        <p:nvSpPr>
          <p:cNvPr id="11" name="sp-v1">
            <a:extLst xmlns:a="http://schemas.openxmlformats.org/drawingml/2006/main">
              <a:ext uri="{FF2B5EF4-FFF2-40B4-BE49-F238E27FC236}">
                <a16:creationId xmlns:a16="http://schemas.microsoft.com/office/drawing/2014/main" id="{0864BB3A-5757-41BB-81A4-E15EF28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9431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自：条件｜因：人工基准遗漏率｜控：模型／参数／协议</a:t>
            </a:r>
          </a:p>
        </p:txBody>
      </p:sp>
      <p:sp>
        <p:nvSpPr>
          <p:cNvPr id="12" name="sp-r1">
            <a:extLst xmlns:a="http://schemas.openxmlformats.org/drawingml/2006/main">
              <a:ext uri="{FF2B5EF4-FFF2-40B4-BE49-F238E27FC236}">
                <a16:creationId xmlns:a16="http://schemas.microsoft.com/office/drawing/2014/main" id="{AE377956-BC0C-4F59-8000-6D24CAF4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sp-l2">
            <a:extLst xmlns:a="http://schemas.openxmlformats.org/drawingml/2006/main">
              <a:ext uri="{FF2B5EF4-FFF2-40B4-BE49-F238E27FC236}">
                <a16:creationId xmlns:a16="http://schemas.microsoft.com/office/drawing/2014/main" id="{3B532F9D-88F0-4913-BAD2-8B74B6F0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步骤</a:t>
            </a:r>
          </a:p>
        </p:txBody>
      </p:sp>
      <p:sp>
        <p:nvSpPr>
          <p:cNvPr id="14" name="sp-v2">
            <a:extLst xmlns:a="http://schemas.openxmlformats.org/drawingml/2006/main">
              <a:ext uri="{FF2B5EF4-FFF2-40B4-BE49-F238E27FC236}">
                <a16:creationId xmlns:a16="http://schemas.microsoft.com/office/drawing/2014/main" id="{0FF8394A-2936-45BF-8B0C-993F128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5717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 20 篇进入两条件；每条件 3 次；盲评</a:t>
            </a:r>
          </a:p>
        </p:txBody>
      </p:sp>
      <p:sp>
        <p:nvSpPr>
          <p:cNvPr id="15" name="sp-r2">
            <a:extLst xmlns:a="http://schemas.openxmlformats.org/drawingml/2006/main">
              <a:ext uri="{FF2B5EF4-FFF2-40B4-BE49-F238E27FC236}">
                <a16:creationId xmlns:a16="http://schemas.microsoft.com/office/drawing/2014/main" id="{5AD4A48E-D5CB-4311-B00D-34F77C61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sp-l3">
            <a:extLst xmlns:a="http://schemas.openxmlformats.org/drawingml/2006/main">
              <a:ext uri="{FF2B5EF4-FFF2-40B4-BE49-F238E27FC236}">
                <a16:creationId xmlns:a16="http://schemas.microsoft.com/office/drawing/2014/main" id="{4C3B7ECC-3804-4867-8B0D-0B300CB3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度量</a:t>
            </a:r>
          </a:p>
        </p:txBody>
      </p:sp>
      <p:sp>
        <p:nvSpPr>
          <p:cNvPr id="17" name="sp-v3">
            <a:extLst xmlns:a="http://schemas.openxmlformats.org/drawingml/2006/main">
              <a:ext uri="{FF2B5EF4-FFF2-40B4-BE49-F238E27FC236}">
                <a16:creationId xmlns:a16="http://schemas.microsoft.com/office/drawing/2014/main" id="{1297FEAF-89AD-471F-8C64-6B1CB5DD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004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遗漏的基准条件数 ÷ 人工复核基准数</a:t>
            </a:r>
          </a:p>
        </p:txBody>
      </p:sp>
      <p:sp>
        <p:nvSpPr>
          <p:cNvPr id="18" name="sp-r3">
            <a:extLst xmlns:a="http://schemas.openxmlformats.org/drawingml/2006/main">
              <a:ext uri="{FF2B5EF4-FFF2-40B4-BE49-F238E27FC236}">
                <a16:creationId xmlns:a16="http://schemas.microsoft.com/office/drawing/2014/main" id="{A9922439-8F7A-40B5-A888-04F6B6D4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sp-l4">
            <a:extLst xmlns:a="http://schemas.openxmlformats.org/drawingml/2006/main">
              <a:ext uri="{FF2B5EF4-FFF2-40B4-BE49-F238E27FC236}">
                <a16:creationId xmlns:a16="http://schemas.microsoft.com/office/drawing/2014/main" id="{CE42ECB3-C6B8-4C4A-A73B-5CC36D37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20" name="sp-v4">
            <a:extLst xmlns:a="http://schemas.openxmlformats.org/drawingml/2006/main">
              <a:ext uri="{FF2B5EF4-FFF2-40B4-BE49-F238E27FC236}">
                <a16:creationId xmlns:a16="http://schemas.microsoft.com/office/drawing/2014/main" id="{84A6C5A5-7AC7-4A66-8279-B632340C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290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自由摘要；论文／模型／参数／长度／协议一致</a:t>
            </a:r>
          </a:p>
        </p:txBody>
      </p:sp>
      <p:sp>
        <p:nvSpPr>
          <p:cNvPr id="21" name="sp-r4">
            <a:extLst xmlns:a="http://schemas.openxmlformats.org/drawingml/2006/main">
              <a:ext uri="{FF2B5EF4-FFF2-40B4-BE49-F238E27FC236}">
                <a16:creationId xmlns:a16="http://schemas.microsoft.com/office/drawing/2014/main" id="{E1686985-F50B-4017-87B7-7212D3F7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repeat-bg">
            <a:extLst xmlns:a="http://schemas.openxmlformats.org/drawingml/2006/main">
              <a:ext uri="{FF2B5EF4-FFF2-40B4-BE49-F238E27FC236}">
                <a16:creationId xmlns:a16="http://schemas.microsoft.com/office/drawing/2014/main" id="{6A742389-3785-4FDB-9EA6-D685174E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23" name="sp-l5">
            <a:extLst xmlns:a="http://schemas.openxmlformats.org/drawingml/2006/main">
              <a:ext uri="{FF2B5EF4-FFF2-40B4-BE49-F238E27FC236}">
                <a16:creationId xmlns:a16="http://schemas.microsoft.com/office/drawing/2014/main" id="{B489EAC4-161C-4E2E-90B6-F6AA0C70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重复</a:t>
            </a:r>
          </a:p>
        </p:txBody>
      </p:sp>
      <p:sp>
        <p:nvSpPr>
          <p:cNvPr id="24" name="sp-v5">
            <a:extLst xmlns:a="http://schemas.openxmlformats.org/drawingml/2006/main">
              <a:ext uri="{FF2B5EF4-FFF2-40B4-BE49-F238E27FC236}">
                <a16:creationId xmlns:a16="http://schemas.microsoft.com/office/drawing/2014/main" id="{847ED675-8F80-4636-84D7-77988236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577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20×2×3 = 120；记录运行标识与种子</a:t>
            </a:r>
          </a:p>
        </p:txBody>
      </p:sp>
      <p:sp>
        <p:nvSpPr>
          <p:cNvPr id="25" name="sp-r5">
            <a:extLst xmlns:a="http://schemas.openxmlformats.org/drawingml/2006/main">
              <a:ext uri="{FF2B5EF4-FFF2-40B4-BE49-F238E27FC236}">
                <a16:creationId xmlns:a16="http://schemas.microsoft.com/office/drawing/2014/main" id="{8EE69E61-CCB3-4DB3-946B-E7F0B56B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6" name="sp-l6">
            <a:extLst xmlns:a="http://schemas.openxmlformats.org/drawingml/2006/main">
              <a:ext uri="{FF2B5EF4-FFF2-40B4-BE49-F238E27FC236}">
                <a16:creationId xmlns:a16="http://schemas.microsoft.com/office/drawing/2014/main" id="{D15BAA42-B411-4A9D-BEA3-091E43DB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>
        <p:nvSpPr>
          <p:cNvPr id="27" name="sp-v6">
            <a:extLst xmlns:a="http://schemas.openxmlformats.org/drawingml/2006/main">
              <a:ext uri="{FF2B5EF4-FFF2-40B4-BE49-F238E27FC236}">
                <a16:creationId xmlns:a16="http://schemas.microsoft.com/office/drawing/2014/main" id="{4151FF45-164B-4DC2-B4F9-6688CA24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863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 120 输出；协议错误或数据污染才暂停</a:t>
            </a:r>
          </a:p>
        </p:txBody>
      </p:sp>
      <p:sp>
        <p:nvSpPr>
          <p:cNvPr id="28" name="sp-r6">
            <a:extLst xmlns:a="http://schemas.openxmlformats.org/drawingml/2006/main">
              <a:ext uri="{FF2B5EF4-FFF2-40B4-BE49-F238E27FC236}">
                <a16:creationId xmlns:a16="http://schemas.microsoft.com/office/drawing/2014/main" id="{B5DEEE01-A83B-493E-AE3D-9CBF5E19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9" name="source">
            <a:extLst xmlns:a="http://schemas.openxmlformats.org/drawingml/2006/main">
              <a:ext uri="{FF2B5EF4-FFF2-40B4-BE49-F238E27FC236}">
                <a16:creationId xmlns:a16="http://schemas.microsoft.com/office/drawing/2014/main" id="{5144C6FC-1797-4C15-A106-AC29716E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Wilson et al., 2017, PLOS Computational Biology 13(6)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停止条件与失败预案必须在看结果前写明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B0C420D6-3FD7-4670-AEBF-2996D22A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precommit">
            <a:extLst xmlns:a="http://schemas.openxmlformats.org/drawingml/2006/main">
              <a:ext uri="{FF2B5EF4-FFF2-40B4-BE49-F238E27FC236}">
                <a16:creationId xmlns:a16="http://schemas.microsoft.com/office/drawing/2014/main" id="{D3ED9139-5046-45DB-9D69-55953C4A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714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预先承诺：20 篇 × 2 条件 × 3 次 = 120 次输出</a:t>
            </a:r>
          </a:p>
        </p:txBody>
      </p:sp>
      <p:sp>
        <p:nvSpPr>
          <p:cNvPr id="8" name="timeline-0-bg">
            <a:extLst xmlns:a="http://schemas.openxmlformats.org/drawingml/2006/main">
              <a:ext uri="{FF2B5EF4-FFF2-40B4-BE49-F238E27FC236}">
                <a16:creationId xmlns:a16="http://schemas.microsoft.com/office/drawing/2014/main" id="{4DA11C48-D7C5-407B-8661-953B8C2F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057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9" name="timeline-0">
            <a:extLst xmlns:a="http://schemas.openxmlformats.org/drawingml/2006/main">
              <a:ext uri="{FF2B5EF4-FFF2-40B4-BE49-F238E27FC236}">
                <a16:creationId xmlns:a16="http://schemas.microsoft.com/office/drawing/2014/main" id="{98399E81-9BE5-4BB6-AB19-783146DB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1752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开始运行</a:t>
            </a:r>
          </a:p>
        </p:txBody>
      </p:sp>
      <p:sp>
        <p:nvSpPr>
          <p:cNvPr id="10" name="timeline-a0">
            <a:extLst xmlns:a="http://schemas.openxmlformats.org/drawingml/2006/main">
              <a:ext uri="{FF2B5EF4-FFF2-40B4-BE49-F238E27FC236}">
                <a16:creationId xmlns:a16="http://schemas.microsoft.com/office/drawing/2014/main" id="{E8ACA5E5-CF48-46E9-9E9D-35843E76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05025"/>
            <a:ext cx="24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timeline-1-bg">
            <a:extLst xmlns:a="http://schemas.openxmlformats.org/drawingml/2006/main">
              <a:ext uri="{FF2B5EF4-FFF2-40B4-BE49-F238E27FC236}">
                <a16:creationId xmlns:a16="http://schemas.microsoft.com/office/drawing/2014/main" id="{E93807C6-6B03-4F7B-8FBB-CF652D3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09750"/>
            <a:ext cx="2057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timeline-1">
            <a:extLst xmlns:a="http://schemas.openxmlformats.org/drawingml/2006/main">
              <a:ext uri="{FF2B5EF4-FFF2-40B4-BE49-F238E27FC236}">
                <a16:creationId xmlns:a16="http://schemas.microsoft.com/office/drawing/2014/main" id="{3143BC92-4F6B-4880-A975-758FF1E5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05000"/>
            <a:ext cx="1752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保留每次记录</a:t>
            </a:r>
          </a:p>
        </p:txBody>
      </p:sp>
      <p:sp>
        <p:nvSpPr>
          <p:cNvPr id="13" name="timeline-a1">
            <a:extLst xmlns:a="http://schemas.openxmlformats.org/drawingml/2006/main">
              <a:ext uri="{FF2B5EF4-FFF2-40B4-BE49-F238E27FC236}">
                <a16:creationId xmlns:a16="http://schemas.microsoft.com/office/drawing/2014/main" id="{ACBB8B27-A524-4921-A795-72599A75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05025"/>
            <a:ext cx="24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timeline-2-bg">
            <a:extLst xmlns:a="http://schemas.openxmlformats.org/drawingml/2006/main">
              <a:ext uri="{FF2B5EF4-FFF2-40B4-BE49-F238E27FC236}">
                <a16:creationId xmlns:a16="http://schemas.microsoft.com/office/drawing/2014/main" id="{14C716E2-50CC-461A-BE60-E6DE338D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09750"/>
            <a:ext cx="2057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timeline-2">
            <a:extLst xmlns:a="http://schemas.openxmlformats.org/drawingml/2006/main">
              <a:ext uri="{FF2B5EF4-FFF2-40B4-BE49-F238E27FC236}">
                <a16:creationId xmlns:a16="http://schemas.microsoft.com/office/drawing/2014/main" id="{BB69F5E6-A158-4391-A644-0750D3E5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1752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 120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次输出</a:t>
            </a:r>
          </a:p>
        </p:txBody>
      </p:sp>
      <p:sp>
        <p:nvSpPr>
          <p:cNvPr id="16" name="failure">
            <a:extLst xmlns:a="http://schemas.openxmlformats.org/drawingml/2006/main">
              <a:ext uri="{FF2B5EF4-FFF2-40B4-BE49-F238E27FC236}">
                <a16:creationId xmlns:a16="http://schemas.microsoft.com/office/drawing/2014/main" id="{91038E49-1E75-4189-B054-916E5559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095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失败时</a:t>
            </a:r>
          </a:p>
        </p:txBody>
      </p:sp>
      <p:sp>
        <p:nvSpPr>
          <p:cNvPr id="17" name="fallback-shade0">
            <a:extLst xmlns:a="http://schemas.openxmlformats.org/drawingml/2006/main">
              <a:ext uri="{FF2B5EF4-FFF2-40B4-BE49-F238E27FC236}">
                <a16:creationId xmlns:a16="http://schemas.microsoft.com/office/drawing/2014/main" id="{560E5A45-2F8D-4F62-BB05-259A86A1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71625"/>
            <a:ext cx="3752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8" name="fallback-l0">
            <a:extLst xmlns:a="http://schemas.openxmlformats.org/drawingml/2006/main">
              <a:ext uri="{FF2B5EF4-FFF2-40B4-BE49-F238E27FC236}">
                <a16:creationId xmlns:a16="http://schemas.microsoft.com/office/drawing/2014/main" id="{AFE66104-C0DF-456C-8E8D-31CE3933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47825"/>
            <a:ext cx="1428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baseline 跑不通</a:t>
            </a:r>
          </a:p>
        </p:txBody>
      </p:sp>
      <p:sp>
        <p:nvSpPr>
          <p:cNvPr id="19" name="fallback-v0">
            <a:extLst xmlns:a="http://schemas.openxmlformats.org/drawingml/2006/main">
              <a:ext uri="{FF2B5EF4-FFF2-40B4-BE49-F238E27FC236}">
                <a16:creationId xmlns:a16="http://schemas.microsoft.com/office/drawing/2014/main" id="{0DFB4F55-7CAA-4EA8-BA73-90C4E68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47825"/>
            <a:ext cx="2038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缩小样本</a:t>
            </a:r>
          </a:p>
        </p:txBody>
      </p:sp>
      <p:sp>
        <p:nvSpPr>
          <p:cNvPr id="20" name="fallback-r0">
            <a:extLst xmlns:a="http://schemas.openxmlformats.org/drawingml/2006/main">
              <a:ext uri="{FF2B5EF4-FFF2-40B4-BE49-F238E27FC236}">
                <a16:creationId xmlns:a16="http://schemas.microsoft.com/office/drawing/2014/main" id="{42DF1FAC-4D4F-48FB-8D32-C73B7FB8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71725"/>
            <a:ext cx="3752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fallback-l1">
            <a:extLst xmlns:a="http://schemas.openxmlformats.org/drawingml/2006/main">
              <a:ext uri="{FF2B5EF4-FFF2-40B4-BE49-F238E27FC236}">
                <a16:creationId xmlns:a16="http://schemas.microsoft.com/office/drawing/2014/main" id="{B3A13FDE-5C55-449B-81E7-1A9A50F6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47925"/>
            <a:ext cx="1428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不支持 H1</a:t>
            </a:r>
          </a:p>
        </p:txBody>
      </p:sp>
      <p:sp>
        <p:nvSpPr>
          <p:cNvPr id="22" name="fallback-v1">
            <a:extLst xmlns:a="http://schemas.openxmlformats.org/drawingml/2006/main">
              <a:ext uri="{FF2B5EF4-FFF2-40B4-BE49-F238E27FC236}">
                <a16:creationId xmlns:a16="http://schemas.microsoft.com/office/drawing/2014/main" id="{27CE3CAC-EDCB-48B0-BFB1-FCD2F3BF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47925"/>
            <a:ext cx="2038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反驳／仍不能判断</a:t>
            </a:r>
          </a:p>
        </p:txBody>
      </p:sp>
      <p:sp>
        <p:nvSpPr>
          <p:cNvPr id="23" name="fallback-r1">
            <a:extLst xmlns:a="http://schemas.openxmlformats.org/drawingml/2006/main">
              <a:ext uri="{FF2B5EF4-FFF2-40B4-BE49-F238E27FC236}">
                <a16:creationId xmlns:a16="http://schemas.microsoft.com/office/drawing/2014/main" id="{15A78674-9248-4896-B5EC-2635FCA8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71825"/>
            <a:ext cx="3752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4" name="fallback-shade2">
            <a:extLst xmlns:a="http://schemas.openxmlformats.org/drawingml/2006/main">
              <a:ext uri="{FF2B5EF4-FFF2-40B4-BE49-F238E27FC236}">
                <a16:creationId xmlns:a16="http://schemas.microsoft.com/office/drawing/2014/main" id="{841BC55B-FF59-4367-93AF-9CD8B615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71825"/>
            <a:ext cx="3752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5" name="fallback-l2">
            <a:extLst xmlns:a="http://schemas.openxmlformats.org/drawingml/2006/main">
              <a:ext uri="{FF2B5EF4-FFF2-40B4-BE49-F238E27FC236}">
                <a16:creationId xmlns:a16="http://schemas.microsoft.com/office/drawing/2014/main" id="{9F1F0198-FEB3-44D7-B3E5-DE230CDC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48025"/>
            <a:ext cx="1428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数据不可用</a:t>
            </a:r>
          </a:p>
        </p:txBody>
      </p:sp>
      <p:sp>
        <p:nvSpPr>
          <p:cNvPr id="26" name="fallback-v2">
            <a:extLst xmlns:a="http://schemas.openxmlformats.org/drawingml/2006/main">
              <a:ext uri="{FF2B5EF4-FFF2-40B4-BE49-F238E27FC236}">
                <a16:creationId xmlns:a16="http://schemas.microsoft.com/office/drawing/2014/main" id="{EC44834E-3850-4980-9487-1A585109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2038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公开替代 + 限制</a:t>
            </a:r>
          </a:p>
        </p:txBody>
      </p:sp>
      <p:sp>
        <p:nvSpPr>
          <p:cNvPr id="27" name="fallback-r2">
            <a:extLst xmlns:a="http://schemas.openxmlformats.org/drawingml/2006/main">
              <a:ext uri="{FF2B5EF4-FFF2-40B4-BE49-F238E27FC236}">
                <a16:creationId xmlns:a16="http://schemas.microsoft.com/office/drawing/2014/main" id="{B414C1C8-CFB6-48AA-A3C0-1FC894D0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971925"/>
            <a:ext cx="3752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8" name="fallback-l3">
            <a:extLst xmlns:a="http://schemas.openxmlformats.org/drawingml/2006/main">
              <a:ext uri="{FF2B5EF4-FFF2-40B4-BE49-F238E27FC236}">
                <a16:creationId xmlns:a16="http://schemas.microsoft.com/office/drawing/2014/main" id="{85F070D3-D07D-4DF5-94E0-499BE735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1428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κ &lt; 0.7</a:t>
            </a:r>
          </a:p>
        </p:txBody>
      </p:sp>
      <p:sp>
        <p:nvSpPr>
          <p:cNvPr id="29" name="fallback-v3">
            <a:extLst xmlns:a="http://schemas.openxmlformats.org/drawingml/2006/main">
              <a:ext uri="{FF2B5EF4-FFF2-40B4-BE49-F238E27FC236}">
                <a16:creationId xmlns:a16="http://schemas.microsoft.com/office/drawing/2014/main" id="{A294E03C-3AEB-48C2-82D2-08DBEE2C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48125"/>
            <a:ext cx="2038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训练标注者／降级结论</a:t>
            </a:r>
          </a:p>
        </p:txBody>
      </p:sp>
      <p:sp>
        <p:nvSpPr>
          <p:cNvPr id="30" name="redline">
            <a:extLst xmlns:a="http://schemas.openxmlformats.org/drawingml/2006/main">
              <a:ext uri="{FF2B5EF4-FFF2-40B4-BE49-F238E27FC236}">
                <a16:creationId xmlns:a16="http://schemas.microsoft.com/office/drawing/2014/main" id="{7F0C2E4C-371A-4852-A0B8-40AF9AF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143500"/>
            <a:ext cx="942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普通失败进入修复；编造、隐瞒、越权或伪造才触发红线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度量必须写出从原始数据到数字的口径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D95C9980-7B98-4551-9E5E-D7735BD6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metric">
            <a:extLst xmlns:a="http://schemas.openxmlformats.org/drawingml/2006/main">
              <a:ext uri="{FF2B5EF4-FFF2-40B4-BE49-F238E27FC236}">
                <a16:creationId xmlns:a16="http://schemas.microsoft.com/office/drawing/2014/main" id="{E06FB36C-612B-4022-831C-102A44BD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限定条件遗漏率</a:t>
            </a:r>
          </a:p>
        </p:txBody>
      </p:sp>
      <p:sp>
        <p:nvSpPr>
          <p:cNvPr id="8" name="numerator">
            <a:extLst xmlns:a="http://schemas.openxmlformats.org/drawingml/2006/main">
              <a:ext uri="{FF2B5EF4-FFF2-40B4-BE49-F238E27FC236}">
                <a16:creationId xmlns:a16="http://schemas.microsoft.com/office/drawing/2014/main" id="{74DE46AA-4AC4-4B5D-BA4C-781534E3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1907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输出中遗漏的人工基准条件数</a:t>
            </a:r>
          </a:p>
        </p:txBody>
      </p:sp>
      <p:sp>
        <p:nvSpPr>
          <p:cNvPr id="9" name="fraction">
            <a:extLst xmlns:a="http://schemas.openxmlformats.org/drawingml/2006/main">
              <a:ext uri="{FF2B5EF4-FFF2-40B4-BE49-F238E27FC236}">
                <a16:creationId xmlns:a16="http://schemas.microsoft.com/office/drawing/2014/main" id="{4AB8D14A-C9F3-49B5-906F-B1C99FE9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09875"/>
            <a:ext cx="504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0" name="denominator">
            <a:extLst xmlns:a="http://schemas.openxmlformats.org/drawingml/2006/main">
              <a:ext uri="{FF2B5EF4-FFF2-40B4-BE49-F238E27FC236}">
                <a16:creationId xmlns:a16="http://schemas.microsoft.com/office/drawing/2014/main" id="{35C802A9-7B95-41F0-8B7D-D9EE6794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480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该论文经人工复核的基准条件数</a:t>
            </a:r>
          </a:p>
        </p:txBody>
      </p:sp>
      <p:sp>
        <p:nvSpPr>
          <p:cNvPr id="11" name="metric-notes-shade0">
            <a:extLst xmlns:a="http://schemas.openxmlformats.org/drawingml/2006/main">
              <a:ext uri="{FF2B5EF4-FFF2-40B4-BE49-F238E27FC236}">
                <a16:creationId xmlns:a16="http://schemas.microsoft.com/office/drawing/2014/main" id="{F5394FC9-195E-4BC9-99E3-7F5B003D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810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metric-notes-l0">
            <a:extLst xmlns:a="http://schemas.openxmlformats.org/drawingml/2006/main">
              <a:ext uri="{FF2B5EF4-FFF2-40B4-BE49-F238E27FC236}">
                <a16:creationId xmlns:a16="http://schemas.microsoft.com/office/drawing/2014/main" id="{F31FD64D-884B-42BF-94A6-46775F25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85950"/>
            <a:ext cx="1143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原始数据</a:t>
            </a:r>
          </a:p>
        </p:txBody>
      </p:sp>
      <p:sp>
        <p:nvSpPr>
          <p:cNvPr id="13" name="metric-notes-v0">
            <a:extLst xmlns:a="http://schemas.openxmlformats.org/drawingml/2006/main">
              <a:ext uri="{FF2B5EF4-FFF2-40B4-BE49-F238E27FC236}">
                <a16:creationId xmlns:a16="http://schemas.microsoft.com/office/drawing/2014/main" id="{30F52BCA-ADDD-4984-9D20-42E52391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85950"/>
            <a:ext cx="2381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逐篇人工基准</a:t>
            </a:r>
          </a:p>
        </p:txBody>
      </p:sp>
      <p:sp>
        <p:nvSpPr>
          <p:cNvPr id="14" name="metric-notes-r0">
            <a:extLst xmlns:a="http://schemas.openxmlformats.org/drawingml/2006/main">
              <a:ext uri="{FF2B5EF4-FFF2-40B4-BE49-F238E27FC236}">
                <a16:creationId xmlns:a16="http://schemas.microsoft.com/office/drawing/2014/main" id="{5E81DC7F-FD7F-46F4-BEB1-6A6A1DFD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14625"/>
            <a:ext cx="3810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metric-notes-l1">
            <a:extLst xmlns:a="http://schemas.openxmlformats.org/drawingml/2006/main">
              <a:ext uri="{FF2B5EF4-FFF2-40B4-BE49-F238E27FC236}">
                <a16:creationId xmlns:a16="http://schemas.microsoft.com/office/drawing/2014/main" id="{8B372631-6539-454A-B966-E5505D84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90825"/>
            <a:ext cx="1143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协议</a:t>
            </a:r>
          </a:p>
        </p:txBody>
      </p:sp>
      <p:sp>
        <p:nvSpPr>
          <p:cNvPr id="16" name="metric-notes-v1">
            <a:extLst xmlns:a="http://schemas.openxmlformats.org/drawingml/2006/main">
              <a:ext uri="{FF2B5EF4-FFF2-40B4-BE49-F238E27FC236}">
                <a16:creationId xmlns:a16="http://schemas.microsoft.com/office/drawing/2014/main" id="{123F1539-4069-479A-BC87-87D7DB39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90825"/>
            <a:ext cx="2381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 rubric + 盲评</a:t>
            </a:r>
          </a:p>
        </p:txBody>
      </p:sp>
      <p:sp>
        <p:nvSpPr>
          <p:cNvPr id="17" name="metric-notes-r1">
            <a:extLst xmlns:a="http://schemas.openxmlformats.org/drawingml/2006/main">
              <a:ext uri="{FF2B5EF4-FFF2-40B4-BE49-F238E27FC236}">
                <a16:creationId xmlns:a16="http://schemas.microsoft.com/office/drawing/2014/main" id="{5B65AF6B-FFC6-41CA-B207-B2E818E5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3810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metric-notes-shade2">
            <a:extLst xmlns:a="http://schemas.openxmlformats.org/drawingml/2006/main">
              <a:ext uri="{FF2B5EF4-FFF2-40B4-BE49-F238E27FC236}">
                <a16:creationId xmlns:a16="http://schemas.microsoft.com/office/drawing/2014/main" id="{BFA1C6FB-F1BF-4BA6-8F45-43522ABC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3810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metric-notes-l2">
            <a:extLst xmlns:a="http://schemas.openxmlformats.org/drawingml/2006/main">
              <a:ext uri="{FF2B5EF4-FFF2-40B4-BE49-F238E27FC236}">
                <a16:creationId xmlns:a16="http://schemas.microsoft.com/office/drawing/2014/main" id="{9466E653-CF79-4F3B-BE3E-00FCE2EB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1143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一致性</a:t>
            </a:r>
          </a:p>
        </p:txBody>
      </p:sp>
      <p:sp>
        <p:nvSpPr>
          <p:cNvPr id="20" name="metric-notes-v2">
            <a:extLst xmlns:a="http://schemas.openxmlformats.org/drawingml/2006/main">
              <a:ext uri="{FF2B5EF4-FFF2-40B4-BE49-F238E27FC236}">
                <a16:creationId xmlns:a16="http://schemas.microsoft.com/office/drawing/2014/main" id="{5C126192-04C0-481C-94F4-02BFE0D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95700"/>
            <a:ext cx="2381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κ / α；未算则明示</a:t>
            </a:r>
          </a:p>
        </p:txBody>
      </p:sp>
      <p:sp>
        <p:nvSpPr>
          <p:cNvPr id="21" name="wrong">
            <a:extLst xmlns:a="http://schemas.openxmlformats.org/drawingml/2006/main">
              <a:ext uri="{FF2B5EF4-FFF2-40B4-BE49-F238E27FC236}">
                <a16:creationId xmlns:a16="http://schemas.microsoft.com/office/drawing/2014/main" id="{F76145A0-FDA0-40C2-8FCB-55AF4A5F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720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×  不是“缺失字段数 ÷ 5”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六类记录共同构成最小复现集合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F93A1CC8-1FCA-48F9-98C0-2198B37A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合成数据教学工件｜非实证结论</a:t>
            </a:r>
          </a:p>
        </p:txBody>
      </p:sp>
      <p:sp>
        <p:nvSpPr>
          <p:cNvPr id="7" name="path">
            <a:extLst xmlns:a="http://schemas.openxmlformats.org/drawingml/2006/main">
              <a:ext uri="{FF2B5EF4-FFF2-40B4-BE49-F238E27FC236}">
                <a16:creationId xmlns:a16="http://schemas.microsoft.com/office/drawing/2014/main" id="{A53CB4BE-9197-4B8D-8B07-AEC06C8A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assets/reproducibility-example/</a:t>
            </a:r>
          </a:p>
        </p:txBody>
      </p:sp>
      <p:sp>
        <p:nvSpPr>
          <p:cNvPr id="8" name="trace-spec-bg">
            <a:extLst xmlns:a="http://schemas.openxmlformats.org/drawingml/2006/main">
              <a:ext uri="{FF2B5EF4-FFF2-40B4-BE49-F238E27FC236}">
                <a16:creationId xmlns:a16="http://schemas.microsoft.com/office/drawing/2014/main" id="{16E4EE9B-51F3-4AC7-844A-E0E51F9C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2190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9" name="trace-spec">
            <a:extLst xmlns:a="http://schemas.openxmlformats.org/drawingml/2006/main">
              <a:ext uri="{FF2B5EF4-FFF2-40B4-BE49-F238E27FC236}">
                <a16:creationId xmlns:a16="http://schemas.microsoft.com/office/drawing/2014/main" id="{613FD150-A1F9-4FA0-A2DE-B852F676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8859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experiment-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spec.md</a:t>
            </a:r>
          </a:p>
        </p:txBody>
      </p:sp>
      <p:sp>
        <p:nvSpPr>
          <p:cNvPr id="10" name="trace-a0">
            <a:extLst xmlns:a="http://schemas.openxmlformats.org/drawingml/2006/main">
              <a:ext uri="{FF2B5EF4-FFF2-40B4-BE49-F238E27FC236}">
                <a16:creationId xmlns:a16="http://schemas.microsoft.com/office/drawing/2014/main" id="{C4ED27EB-CEF8-47D4-A26E-3002031B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43150"/>
            <a:ext cx="209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trace-config-bg">
            <a:extLst xmlns:a="http://schemas.openxmlformats.org/drawingml/2006/main">
              <a:ext uri="{FF2B5EF4-FFF2-40B4-BE49-F238E27FC236}">
                <a16:creationId xmlns:a16="http://schemas.microsoft.com/office/drawing/2014/main" id="{EB9074D1-F342-497F-A041-1D9A0C0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047875"/>
            <a:ext cx="1619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trace-config">
            <a:extLst xmlns:a="http://schemas.openxmlformats.org/drawingml/2006/main">
              <a:ext uri="{FF2B5EF4-FFF2-40B4-BE49-F238E27FC236}">
                <a16:creationId xmlns:a16="http://schemas.microsoft.com/office/drawing/2014/main" id="{A773B208-86A9-47D9-A33A-5A8122F4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43125"/>
            <a:ext cx="13144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config.json</a:t>
            </a:r>
          </a:p>
        </p:txBody>
      </p:sp>
      <p:sp>
        <p:nvSpPr>
          <p:cNvPr id="13" name="trace-a1">
            <a:extLst xmlns:a="http://schemas.openxmlformats.org/drawingml/2006/main">
              <a:ext uri="{FF2B5EF4-FFF2-40B4-BE49-F238E27FC236}">
                <a16:creationId xmlns:a16="http://schemas.microsoft.com/office/drawing/2014/main" id="{8C7123A0-1DF8-400E-A303-384A2CD5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209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trace-run-bg">
            <a:extLst xmlns:a="http://schemas.openxmlformats.org/drawingml/2006/main">
              <a:ext uri="{FF2B5EF4-FFF2-40B4-BE49-F238E27FC236}">
                <a16:creationId xmlns:a16="http://schemas.microsoft.com/office/drawing/2014/main" id="{A0D71E7C-C508-433B-A575-F7FE91F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47875"/>
            <a:ext cx="1333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trace-run">
            <a:extLst xmlns:a="http://schemas.openxmlformats.org/drawingml/2006/main">
              <a:ext uri="{FF2B5EF4-FFF2-40B4-BE49-F238E27FC236}">
                <a16:creationId xmlns:a16="http://schemas.microsoft.com/office/drawing/2014/main" id="{1B4AC008-0901-4A23-A350-A59AE1E7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10287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run.py</a:t>
            </a:r>
          </a:p>
        </p:txBody>
      </p:sp>
      <p:sp>
        <p:nvSpPr>
          <p:cNvPr id="16" name="trace-a2">
            <a:extLst xmlns:a="http://schemas.openxmlformats.org/drawingml/2006/main">
              <a:ext uri="{FF2B5EF4-FFF2-40B4-BE49-F238E27FC236}">
                <a16:creationId xmlns:a16="http://schemas.microsoft.com/office/drawing/2014/main" id="{9459AA48-47CB-475C-B301-A141334B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209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trace-log-bg">
            <a:extLst xmlns:a="http://schemas.openxmlformats.org/drawingml/2006/main">
              <a:ext uri="{FF2B5EF4-FFF2-40B4-BE49-F238E27FC236}">
                <a16:creationId xmlns:a16="http://schemas.microsoft.com/office/drawing/2014/main" id="{A703F358-C3B2-4639-896C-1F674E9C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47875"/>
            <a:ext cx="20383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8" name="trace-log">
            <a:extLst xmlns:a="http://schemas.openxmlformats.org/drawingml/2006/main">
              <a:ext uri="{FF2B5EF4-FFF2-40B4-BE49-F238E27FC236}">
                <a16:creationId xmlns:a16="http://schemas.microsoft.com/office/drawing/2014/main" id="{D434002C-924A-40EF-83E3-19631830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43125"/>
            <a:ext cx="17335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run-log.jsonl</a:t>
            </a:r>
          </a:p>
        </p:txBody>
      </p:sp>
      <p:sp>
        <p:nvSpPr>
          <p:cNvPr id="19" name="result-bg">
            <a:extLst xmlns:a="http://schemas.openxmlformats.org/drawingml/2006/main">
              <a:ext uri="{FF2B5EF4-FFF2-40B4-BE49-F238E27FC236}">
                <a16:creationId xmlns:a16="http://schemas.microsoft.com/office/drawing/2014/main" id="{7554B7EB-EC66-4133-91C7-CC8D10D5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62125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20" name="result">
            <a:extLst xmlns:a="http://schemas.openxmlformats.org/drawingml/2006/main">
              <a:ext uri="{FF2B5EF4-FFF2-40B4-BE49-F238E27FC236}">
                <a16:creationId xmlns:a16="http://schemas.microsoft.com/office/drawing/2014/main" id="{56597E7E-53B9-4875-A15E-93619778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57375"/>
            <a:ext cx="20764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实际复算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 条合成记录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 条缺失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遗漏率 0.5</a:t>
            </a:r>
          </a:p>
        </p:txBody>
      </p:sp>
      <p:sp>
        <p:nvSpPr>
          <p:cNvPr id="21" name="rerun">
            <a:extLst xmlns:a="http://schemas.openxmlformats.org/drawingml/2006/main">
              <a:ext uri="{FF2B5EF4-FFF2-40B4-BE49-F238E27FC236}">
                <a16:creationId xmlns:a16="http://schemas.microsoft.com/office/drawing/2014/main" id="{DDB38F3B-2192-4DF2-B426-7C3AA0BA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862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另一台机器能按同一配置重跑，并定位输入、命令和输出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2A751EE5-92C1-4D45-A6DC-143857B9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Sandve et al., 2013, PLOS Computational Biology 9(10)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单次运行不能直接写成方法效应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ariance">
            <a:extLst xmlns:a="http://schemas.openxmlformats.org/drawingml/2006/main">
              <a:ext uri="{FF2B5EF4-FFF2-40B4-BE49-F238E27FC236}">
                <a16:creationId xmlns:a16="http://schemas.microsoft.com/office/drawing/2014/main" id="{EC69789B-9E5F-4C1F-9F7F-C28A39E9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随机性来源</a:t>
            </a:r>
          </a:p>
        </p:txBody>
      </p:sp>
      <p:sp>
        <p:nvSpPr>
          <p:cNvPr id="7" name="sources">
            <a:extLst xmlns:a="http://schemas.openxmlformats.org/drawingml/2006/main">
              <a:ext uri="{FF2B5EF4-FFF2-40B4-BE49-F238E27FC236}">
                <a16:creationId xmlns:a16="http://schemas.microsoft.com/office/drawing/2014/main" id="{2F2C01EA-5152-4CEC-B0AC-02D1D64F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数据划分    模型初始化    采样／解码    超参数选择</a:t>
            </a:r>
          </a:p>
        </p:txBody>
      </p:sp>
      <p:sp>
        <p:nvSpPr>
          <p:cNvPr id="8" name="single-bg">
            <a:extLst xmlns:a="http://schemas.openxmlformats.org/drawingml/2006/main">
              <a:ext uri="{FF2B5EF4-FFF2-40B4-BE49-F238E27FC236}">
                <a16:creationId xmlns:a16="http://schemas.microsoft.com/office/drawing/2014/main" id="{0AE9DF28-79FE-4050-A946-16E866EF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571750"/>
            <a:ext cx="2857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BED"/>
          </a:solidFill>
          <a:ln xmlns:a="http://schemas.openxmlformats.org/drawingml/2006/main" w="0">
            <a:noFill/>
          </a:ln>
        </p:spPr>
      </p:sp>
      <p:sp>
        <p:nvSpPr>
          <p:cNvPr id="9" name="single">
            <a:extLst xmlns:a="http://schemas.openxmlformats.org/drawingml/2006/main">
              <a:ext uri="{FF2B5EF4-FFF2-40B4-BE49-F238E27FC236}">
                <a16:creationId xmlns:a16="http://schemas.microsoft.com/office/drawing/2014/main" id="{34B7D507-BE5B-44C9-8856-F796D803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667000"/>
            <a:ext cx="2552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单次运行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一个观察点</a:t>
            </a:r>
          </a:p>
        </p:txBody>
      </p:sp>
      <p:sp>
        <p:nvSpPr>
          <p:cNvPr id="10" name="v-a">
            <a:extLst xmlns:a="http://schemas.openxmlformats.org/drawingml/2006/main">
              <a:ext uri="{FF2B5EF4-FFF2-40B4-BE49-F238E27FC236}">
                <a16:creationId xmlns:a16="http://schemas.microsoft.com/office/drawing/2014/main" id="{B0155D5B-5B10-4E58-8D70-C06E10D7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003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repeat-bg">
            <a:extLst xmlns:a="http://schemas.openxmlformats.org/drawingml/2006/main">
              <a:ext uri="{FF2B5EF4-FFF2-40B4-BE49-F238E27FC236}">
                <a16:creationId xmlns:a16="http://schemas.microsoft.com/office/drawing/2014/main" id="{63272855-B421-4355-A9E9-C6C9377B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71750"/>
            <a:ext cx="2857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2" name="repeat">
            <a:extLst xmlns:a="http://schemas.openxmlformats.org/drawingml/2006/main">
              <a:ext uri="{FF2B5EF4-FFF2-40B4-BE49-F238E27FC236}">
                <a16:creationId xmlns:a16="http://schemas.microsoft.com/office/drawing/2014/main" id="{88B942F5-0DAD-44EC-9450-B9C2FC08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67000"/>
            <a:ext cx="2552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重复计划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汇总与边界</a:t>
            </a:r>
          </a:p>
        </p:txBody>
      </p:sp>
      <p:sp>
        <p:nvSpPr>
          <p:cNvPr id="13" name="v-b">
            <a:extLst xmlns:a="http://schemas.openxmlformats.org/drawingml/2006/main">
              <a:ext uri="{FF2B5EF4-FFF2-40B4-BE49-F238E27FC236}">
                <a16:creationId xmlns:a16="http://schemas.microsoft.com/office/drawing/2014/main" id="{4D19AFDF-BDC4-4A28-98C2-CE39B776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laim">
            <a:extLst xmlns:a="http://schemas.openxmlformats.org/drawingml/2006/main">
              <a:ext uri="{FF2B5EF4-FFF2-40B4-BE49-F238E27FC236}">
                <a16:creationId xmlns:a16="http://schemas.microsoft.com/office/drawing/2014/main" id="{A7DACA4E-53DE-4680-8A2C-12CC03A9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9051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方法效应？</a:t>
            </a:r>
          </a:p>
        </p:txBody>
      </p:sp>
      <p:sp>
        <p:nvSpPr>
          <p:cNvPr id="15" name="boundary">
            <a:extLst xmlns:a="http://schemas.openxmlformats.org/drawingml/2006/main">
              <a:ext uri="{FF2B5EF4-FFF2-40B4-BE49-F238E27FC236}">
                <a16:creationId xmlns:a16="http://schemas.microsoft.com/office/drawing/2014/main" id="{AD949C6F-4258-4A33-892C-42AD949E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只跑 1 次时写明边界，不把单次差异写成稳定结论</a:t>
            </a:r>
          </a:p>
        </p:txBody>
      </p:sp>
      <p:sp>
        <p:nvSpPr>
          <p:cNvPr id="16" name="source">
            <a:extLst xmlns:a="http://schemas.openxmlformats.org/drawingml/2006/main">
              <a:ext uri="{FF2B5EF4-FFF2-40B4-BE49-F238E27FC236}">
                <a16:creationId xmlns:a16="http://schemas.microsoft.com/office/drawing/2014/main" id="{F35C26FF-65CC-4739-9BA6-2DE498A1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Bouthillier et al., 2021, MLSys 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判断门先做到 documented、consistent、exercisable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adge-0-bg">
            <a:extLst xmlns:a="http://schemas.openxmlformats.org/drawingml/2006/main">
              <a:ext uri="{FF2B5EF4-FFF2-40B4-BE49-F238E27FC236}">
                <a16:creationId xmlns:a16="http://schemas.microsoft.com/office/drawing/2014/main" id="{D2BF21D6-F47C-4F33-AFF5-4D91DE9A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301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badge-0">
            <a:extLst xmlns:a="http://schemas.openxmlformats.org/drawingml/2006/main">
              <a:ext uri="{FF2B5EF4-FFF2-40B4-BE49-F238E27FC236}">
                <a16:creationId xmlns:a16="http://schemas.microsoft.com/office/drawing/2014/main" id="{01909922-C873-4F10-ADF7-10515E31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00250"/>
            <a:ext cx="2711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documented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有运行说明</a:t>
            </a:r>
          </a:p>
        </p:txBody>
      </p:sp>
      <p:sp>
        <p:nvSpPr>
          <p:cNvPr id="8" name="badge-a0">
            <a:extLst xmlns:a="http://schemas.openxmlformats.org/drawingml/2006/main">
              <a:ext uri="{FF2B5EF4-FFF2-40B4-BE49-F238E27FC236}">
                <a16:creationId xmlns:a16="http://schemas.microsoft.com/office/drawing/2014/main" id="{547DDA7A-AB57-4CF9-B4B6-497698AC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2200275"/>
            <a:ext cx="428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badge-1-bg">
            <a:extLst xmlns:a="http://schemas.openxmlformats.org/drawingml/2006/main">
              <a:ext uri="{FF2B5EF4-FFF2-40B4-BE49-F238E27FC236}">
                <a16:creationId xmlns:a16="http://schemas.microsoft.com/office/drawing/2014/main" id="{8D9F680C-E1E8-4685-BE71-8FD65130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875" y="1905000"/>
            <a:ext cx="301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badge-1">
            <a:extLst xmlns:a="http://schemas.openxmlformats.org/drawingml/2006/main">
              <a:ext uri="{FF2B5EF4-FFF2-40B4-BE49-F238E27FC236}">
                <a16:creationId xmlns:a16="http://schemas.microsoft.com/office/drawing/2014/main" id="{5703315A-FF5C-4C5F-B08B-B2E64650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275" y="2000250"/>
            <a:ext cx="2711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consistent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说明与代码一致</a:t>
            </a:r>
          </a:p>
        </p:txBody>
      </p:sp>
      <p:sp>
        <p:nvSpPr>
          <p:cNvPr id="11" name="badge-a1">
            <a:extLst xmlns:a="http://schemas.openxmlformats.org/drawingml/2006/main">
              <a:ext uri="{FF2B5EF4-FFF2-40B4-BE49-F238E27FC236}">
                <a16:creationId xmlns:a16="http://schemas.microsoft.com/office/drawing/2014/main" id="{9B91796E-C34A-4B71-9337-3C77FC20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125" y="2200275"/>
            <a:ext cx="428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badge-2-bg">
            <a:extLst xmlns:a="http://schemas.openxmlformats.org/drawingml/2006/main">
              <a:ext uri="{FF2B5EF4-FFF2-40B4-BE49-F238E27FC236}">
                <a16:creationId xmlns:a16="http://schemas.microsoft.com/office/drawing/2014/main" id="{86EEC977-DCFC-4301-A1ED-089A4D5C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1905000"/>
            <a:ext cx="301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badge-2">
            <a:extLst xmlns:a="http://schemas.openxmlformats.org/drawingml/2006/main">
              <a:ext uri="{FF2B5EF4-FFF2-40B4-BE49-F238E27FC236}">
                <a16:creationId xmlns:a16="http://schemas.microsoft.com/office/drawing/2014/main" id="{E51AD82C-5957-4BC7-897C-C2142909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0250"/>
            <a:ext cx="2711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exercisable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可独立运行</a:t>
            </a:r>
          </a:p>
        </p:txBody>
      </p:sp>
      <p:sp>
        <p:nvSpPr>
          <p:cNvPr id="14" name="gate">
            <a:extLst xmlns:a="http://schemas.openxmlformats.org/drawingml/2006/main">
              <a:ext uri="{FF2B5EF4-FFF2-40B4-BE49-F238E27FC236}">
                <a16:creationId xmlns:a16="http://schemas.microsoft.com/office/drawing/2014/main" id="{479CA5DC-0975-4A3C-9366-EBF9EBFC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95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判断门目标：documented + consistent + exercisable</a:t>
            </a:r>
          </a:p>
        </p:txBody>
      </p:sp>
      <p:sp>
        <p:nvSpPr>
          <p:cNvPr id="15" name="later">
            <a:extLst xmlns:a="http://schemas.openxmlformats.org/drawingml/2006/main">
              <a:ext uri="{FF2B5EF4-FFF2-40B4-BE49-F238E27FC236}">
                <a16:creationId xmlns:a16="http://schemas.microsoft.com/office/drawing/2014/main" id="{DC6E9A36-BB9B-4011-9FD1-7CDE6148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5775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available 与 results validated 留到后续验证与论证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模板迁移补字段，但不能丢历史记录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starter">
            <a:extLst xmlns:a="http://schemas.openxmlformats.org/drawingml/2006/main">
              <a:ext uri="{FF2B5EF4-FFF2-40B4-BE49-F238E27FC236}">
                <a16:creationId xmlns:a16="http://schemas.microsoft.com/office/drawing/2014/main" id="{78C71520-1581-475E-98E6-D195B4FE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starter</a:t>
            </a:r>
          </a:p>
        </p:txBody>
      </p:sp>
      <p:sp>
        <p:nvSpPr>
          <p:cNvPr id="7" name="project">
            <a:extLst xmlns:a="http://schemas.openxmlformats.org/drawingml/2006/main">
              <a:ext uri="{FF2B5EF4-FFF2-40B4-BE49-F238E27FC236}">
                <a16:creationId xmlns:a16="http://schemas.microsoft.com/office/drawing/2014/main" id="{939F8E42-F27B-4534-BE74-7C6242A0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047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project</a:t>
            </a:r>
          </a:p>
        </p:txBody>
      </p:sp>
      <p:sp>
        <p:nvSpPr>
          <p:cNvPr id="8" name="migration-shade0">
            <a:extLst xmlns:a="http://schemas.openxmlformats.org/drawingml/2006/main">
              <a:ext uri="{FF2B5EF4-FFF2-40B4-BE49-F238E27FC236}">
                <a16:creationId xmlns:a16="http://schemas.microsoft.com/office/drawing/2014/main" id="{3B41F841-CD16-48FA-AB43-1A93E463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85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9" name="migration-l0">
            <a:extLst xmlns:a="http://schemas.openxmlformats.org/drawingml/2006/main">
              <a:ext uri="{FF2B5EF4-FFF2-40B4-BE49-F238E27FC236}">
                <a16:creationId xmlns:a16="http://schemas.microsoft.com/office/drawing/2014/main" id="{1BC8602B-082B-432F-A5E0-4D9A636E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§1 项目概览</a:t>
            </a:r>
          </a:p>
        </p:txBody>
      </p:sp>
      <p:sp>
        <p:nvSpPr>
          <p:cNvPr id="10" name="migration-v0">
            <a:extLst xmlns:a="http://schemas.openxmlformats.org/drawingml/2006/main">
              <a:ext uri="{FF2B5EF4-FFF2-40B4-BE49-F238E27FC236}">
                <a16:creationId xmlns:a16="http://schemas.microsoft.com/office/drawing/2014/main" id="{E5BBBB87-678C-4A80-A5C2-B69878A5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00200"/>
            <a:ext cx="581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README §1 项目信息</a:t>
            </a:r>
          </a:p>
        </p:txBody>
      </p:sp>
      <p:sp>
        <p:nvSpPr>
          <p:cNvPr id="11" name="migration-r0">
            <a:extLst xmlns:a="http://schemas.openxmlformats.org/drawingml/2006/main">
              <a:ext uri="{FF2B5EF4-FFF2-40B4-BE49-F238E27FC236}">
                <a16:creationId xmlns:a16="http://schemas.microsoft.com/office/drawing/2014/main" id="{AC7584B5-F12D-47BB-8B89-F5A8A2A9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migration-l1">
            <a:extLst xmlns:a="http://schemas.openxmlformats.org/drawingml/2006/main">
              <a:ext uri="{FF2B5EF4-FFF2-40B4-BE49-F238E27FC236}">
                <a16:creationId xmlns:a16="http://schemas.microsoft.com/office/drawing/2014/main" id="{F245B0F3-27BF-499E-93A5-206F02D0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§6 AI 使用记录</a:t>
            </a:r>
          </a:p>
        </p:txBody>
      </p:sp>
      <p:sp>
        <p:nvSpPr>
          <p:cNvPr id="13" name="migration-v1">
            <a:extLst xmlns:a="http://schemas.openxmlformats.org/drawingml/2006/main">
              <a:ext uri="{FF2B5EF4-FFF2-40B4-BE49-F238E27FC236}">
                <a16:creationId xmlns:a16="http://schemas.microsoft.com/office/drawing/2014/main" id="{524BBE92-B9E0-4B43-A7F1-13C03F60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457450"/>
            <a:ext cx="581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ai-usage-log.md</a:t>
            </a:r>
          </a:p>
        </p:txBody>
      </p:sp>
      <p:sp>
        <p:nvSpPr>
          <p:cNvPr id="14" name="migration-r1">
            <a:extLst xmlns:a="http://schemas.openxmlformats.org/drawingml/2006/main">
              <a:ext uri="{FF2B5EF4-FFF2-40B4-BE49-F238E27FC236}">
                <a16:creationId xmlns:a16="http://schemas.microsoft.com/office/drawing/2014/main" id="{37D68206-302D-461A-8090-362E5FD5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migration-shade2">
            <a:extLst xmlns:a="http://schemas.openxmlformats.org/drawingml/2006/main">
              <a:ext uri="{FF2B5EF4-FFF2-40B4-BE49-F238E27FC236}">
                <a16:creationId xmlns:a16="http://schemas.microsoft.com/office/drawing/2014/main" id="{E79A3E67-801D-4D5F-9536-CB2A87FA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migration-l2">
            <a:extLst xmlns:a="http://schemas.openxmlformats.org/drawingml/2006/main">
              <a:ext uri="{FF2B5EF4-FFF2-40B4-BE49-F238E27FC236}">
                <a16:creationId xmlns:a16="http://schemas.microsoft.com/office/drawing/2014/main" id="{97FEFE0F-E751-4800-BE84-AD0C5BED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§8 伦理检查</a:t>
            </a:r>
          </a:p>
        </p:txBody>
      </p:sp>
      <p:sp>
        <p:nvSpPr>
          <p:cNvPr id="17" name="migration-v2">
            <a:extLst xmlns:a="http://schemas.openxmlformats.org/drawingml/2006/main">
              <a:ext uri="{FF2B5EF4-FFF2-40B4-BE49-F238E27FC236}">
                <a16:creationId xmlns:a16="http://schemas.microsoft.com/office/drawing/2014/main" id="{63CB5C89-3685-4630-925E-F85A90A9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314700"/>
            <a:ext cx="581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ethics-and-compliance.md</a:t>
            </a:r>
          </a:p>
        </p:txBody>
      </p:sp>
      <p:sp>
        <p:nvSpPr>
          <p:cNvPr id="18" name="added">
            <a:extLst xmlns:a="http://schemas.openxmlformats.org/drawingml/2006/main">
              <a:ext uri="{FF2B5EF4-FFF2-40B4-BE49-F238E27FC236}">
                <a16:creationId xmlns:a16="http://schemas.microsoft.com/office/drawing/2014/main" id="{6C80B871-9ECB-47B6-AF0B-87821495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6725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新增：baseline｜七字段规格｜≥2 条判断｜实验记录｜同伴反馈处理</a:t>
            </a:r>
          </a:p>
        </p:txBody>
      </p:sp>
      <p:sp>
        <p:nvSpPr>
          <p:cNvPr id="19" name="history">
            <a:extLst xmlns:a="http://schemas.openxmlformats.org/drawingml/2006/main">
              <a:ext uri="{FF2B5EF4-FFF2-40B4-BE49-F238E27FC236}">
                <a16:creationId xmlns:a16="http://schemas.microsoft.com/office/drawing/2014/main" id="{8039A68A-3CE3-4E88-ADAA-5BA7D659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863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迁移补字段，但不丢历史记录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判断门检查当前个人项目版本的九项条件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gate9-n0">
            <a:extLst xmlns:a="http://schemas.openxmlformats.org/drawingml/2006/main">
              <a:ext uri="{FF2B5EF4-FFF2-40B4-BE49-F238E27FC236}">
                <a16:creationId xmlns:a16="http://schemas.microsoft.com/office/drawing/2014/main" id="{DCE84E79-387F-4D39-930B-25052A6E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gate9-t0">
            <a:extLst xmlns:a="http://schemas.openxmlformats.org/drawingml/2006/main">
              <a:ext uri="{FF2B5EF4-FFF2-40B4-BE49-F238E27FC236}">
                <a16:creationId xmlns:a16="http://schemas.microsoft.com/office/drawing/2014/main" id="{05447095-1BFC-45F8-AD7A-92FC23BE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14300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可执行 baseline／原型</a:t>
            </a:r>
          </a:p>
        </p:txBody>
      </p:sp>
      <p:sp>
        <p:nvSpPr>
          <p:cNvPr id="8" name="gate9-r0">
            <a:extLst xmlns:a="http://schemas.openxmlformats.org/drawingml/2006/main">
              <a:ext uri="{FF2B5EF4-FFF2-40B4-BE49-F238E27FC236}">
                <a16:creationId xmlns:a16="http://schemas.microsoft.com/office/drawing/2014/main" id="{FF731C74-6163-4654-A5CC-A7FD6563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gate9-n1">
            <a:extLst xmlns:a="http://schemas.openxmlformats.org/drawingml/2006/main">
              <a:ext uri="{FF2B5EF4-FFF2-40B4-BE49-F238E27FC236}">
                <a16:creationId xmlns:a16="http://schemas.microsoft.com/office/drawing/2014/main" id="{444B93E5-8F23-4103-9302-9396F4DE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143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gate9-t1">
            <a:extLst xmlns:a="http://schemas.openxmlformats.org/drawingml/2006/main">
              <a:ext uri="{FF2B5EF4-FFF2-40B4-BE49-F238E27FC236}">
                <a16:creationId xmlns:a16="http://schemas.microsoft.com/office/drawing/2014/main" id="{F80BB42A-2F22-44EA-86EF-5E884E69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14300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材料、指标与限制</a:t>
            </a:r>
          </a:p>
        </p:txBody>
      </p:sp>
      <p:sp>
        <p:nvSpPr>
          <p:cNvPr id="11" name="gate9-r1">
            <a:extLst xmlns:a="http://schemas.openxmlformats.org/drawingml/2006/main">
              <a:ext uri="{FF2B5EF4-FFF2-40B4-BE49-F238E27FC236}">
                <a16:creationId xmlns:a16="http://schemas.microsoft.com/office/drawing/2014/main" id="{CD4D28A4-E9B2-4E6E-8860-4B797571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7640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gate9-n2">
            <a:extLst xmlns:a="http://schemas.openxmlformats.org/drawingml/2006/main">
              <a:ext uri="{FF2B5EF4-FFF2-40B4-BE49-F238E27FC236}">
                <a16:creationId xmlns:a16="http://schemas.microsoft.com/office/drawing/2014/main" id="{C07BE794-7DCB-4208-AF8E-A62DD9F2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gate9-t2">
            <a:extLst xmlns:a="http://schemas.openxmlformats.org/drawingml/2006/main">
              <a:ext uri="{FF2B5EF4-FFF2-40B4-BE49-F238E27FC236}">
                <a16:creationId xmlns:a16="http://schemas.microsoft.com/office/drawing/2014/main" id="{58173B25-488B-4B48-967B-3F8FE668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0025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环境、配置与复现条件</a:t>
            </a:r>
          </a:p>
        </p:txBody>
      </p:sp>
      <p:sp>
        <p:nvSpPr>
          <p:cNvPr id="14" name="gate9-r2">
            <a:extLst xmlns:a="http://schemas.openxmlformats.org/drawingml/2006/main">
              <a:ext uri="{FF2B5EF4-FFF2-40B4-BE49-F238E27FC236}">
                <a16:creationId xmlns:a16="http://schemas.microsoft.com/office/drawing/2014/main" id="{D4FF08E2-4A72-449F-9E1C-C4D0AB6E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gate9-n3">
            <a:extLst xmlns:a="http://schemas.openxmlformats.org/drawingml/2006/main">
              <a:ext uri="{FF2B5EF4-FFF2-40B4-BE49-F238E27FC236}">
                <a16:creationId xmlns:a16="http://schemas.microsoft.com/office/drawing/2014/main" id="{DA216F14-2FDC-42A4-81EE-8AF1B078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000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gate9-t3">
            <a:extLst xmlns:a="http://schemas.openxmlformats.org/drawingml/2006/main">
              <a:ext uri="{FF2B5EF4-FFF2-40B4-BE49-F238E27FC236}">
                <a16:creationId xmlns:a16="http://schemas.microsoft.com/office/drawing/2014/main" id="{65A661A7-6DAD-4EE2-9147-6CDDA4A0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00025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至少 2 条研究判断</a:t>
            </a:r>
          </a:p>
        </p:txBody>
      </p:sp>
      <p:sp>
        <p:nvSpPr>
          <p:cNvPr id="17" name="gate9-r3">
            <a:extLst xmlns:a="http://schemas.openxmlformats.org/drawingml/2006/main">
              <a:ext uri="{FF2B5EF4-FFF2-40B4-BE49-F238E27FC236}">
                <a16:creationId xmlns:a16="http://schemas.microsoft.com/office/drawing/2014/main" id="{BB160DDE-4F24-40A8-BD5B-5E4D00EA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3365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gate9-n4">
            <a:extLst xmlns:a="http://schemas.openxmlformats.org/drawingml/2006/main">
              <a:ext uri="{FF2B5EF4-FFF2-40B4-BE49-F238E27FC236}">
                <a16:creationId xmlns:a16="http://schemas.microsoft.com/office/drawing/2014/main" id="{CC4C9CA8-9DC5-47C2-AE9B-75C58730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9" name="gate9-t4">
            <a:extLst xmlns:a="http://schemas.openxmlformats.org/drawingml/2006/main">
              <a:ext uri="{FF2B5EF4-FFF2-40B4-BE49-F238E27FC236}">
                <a16:creationId xmlns:a16="http://schemas.microsoft.com/office/drawing/2014/main" id="{8D009127-E075-4F31-9077-78A2AD29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5750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完整七字段规格</a:t>
            </a:r>
          </a:p>
        </p:txBody>
      </p:sp>
      <p:sp>
        <p:nvSpPr>
          <p:cNvPr id="20" name="gate9-r4">
            <a:extLst xmlns:a="http://schemas.openxmlformats.org/drawingml/2006/main">
              <a:ext uri="{FF2B5EF4-FFF2-40B4-BE49-F238E27FC236}">
                <a16:creationId xmlns:a16="http://schemas.microsoft.com/office/drawing/2014/main" id="{7E642CA6-6FB8-4B85-AD78-7D01F41B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gate9-n5">
            <a:extLst xmlns:a="http://schemas.openxmlformats.org/drawingml/2006/main">
              <a:ext uri="{FF2B5EF4-FFF2-40B4-BE49-F238E27FC236}">
                <a16:creationId xmlns:a16="http://schemas.microsoft.com/office/drawing/2014/main" id="{41965031-8EB0-46E1-860D-E40ADD53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57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22" name="gate9-t5">
            <a:extLst xmlns:a="http://schemas.openxmlformats.org/drawingml/2006/main">
              <a:ext uri="{FF2B5EF4-FFF2-40B4-BE49-F238E27FC236}">
                <a16:creationId xmlns:a16="http://schemas.microsoft.com/office/drawing/2014/main" id="{836A49BD-6D30-49DC-851C-0A534BCD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5750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8 课反馈处理</a:t>
            </a:r>
          </a:p>
        </p:txBody>
      </p:sp>
      <p:sp>
        <p:nvSpPr>
          <p:cNvPr id="23" name="gate9-r5">
            <a:extLst xmlns:a="http://schemas.openxmlformats.org/drawingml/2006/main">
              <a:ext uri="{FF2B5EF4-FFF2-40B4-BE49-F238E27FC236}">
                <a16:creationId xmlns:a16="http://schemas.microsoft.com/office/drawing/2014/main" id="{6B94F1FC-C74E-45A5-9F1F-4CBAB77A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9090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4" name="gate9-n6">
            <a:extLst xmlns:a="http://schemas.openxmlformats.org/drawingml/2006/main">
              <a:ext uri="{FF2B5EF4-FFF2-40B4-BE49-F238E27FC236}">
                <a16:creationId xmlns:a16="http://schemas.microsoft.com/office/drawing/2014/main" id="{00C0876F-8958-4CC2-9CAB-37DA490E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25" name="gate9-t6">
            <a:extLst xmlns:a="http://schemas.openxmlformats.org/drawingml/2006/main">
              <a:ext uri="{FF2B5EF4-FFF2-40B4-BE49-F238E27FC236}">
                <a16:creationId xmlns:a16="http://schemas.microsoft.com/office/drawing/2014/main" id="{A5D7EFDE-87AF-41D1-86AC-3E1B35E5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1475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风险与失败预案</a:t>
            </a:r>
          </a:p>
        </p:txBody>
      </p:sp>
      <p:sp>
        <p:nvSpPr>
          <p:cNvPr id="26" name="gate9-r6">
            <a:extLst xmlns:a="http://schemas.openxmlformats.org/drawingml/2006/main">
              <a:ext uri="{FF2B5EF4-FFF2-40B4-BE49-F238E27FC236}">
                <a16:creationId xmlns:a16="http://schemas.microsoft.com/office/drawing/2014/main" id="{A8D424A6-38C2-4645-8D7F-3E5610B1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7" name="gate9-n7">
            <a:extLst xmlns:a="http://schemas.openxmlformats.org/drawingml/2006/main">
              <a:ext uri="{FF2B5EF4-FFF2-40B4-BE49-F238E27FC236}">
                <a16:creationId xmlns:a16="http://schemas.microsoft.com/office/drawing/2014/main" id="{FE132892-81BF-4477-AE4D-49DD1094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7147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28" name="gate9-t7">
            <a:extLst xmlns:a="http://schemas.openxmlformats.org/drawingml/2006/main">
              <a:ext uri="{FF2B5EF4-FFF2-40B4-BE49-F238E27FC236}">
                <a16:creationId xmlns:a16="http://schemas.microsoft.com/office/drawing/2014/main" id="{C1D55DC3-ACB9-43D5-A2DA-75B0E6B3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71475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已遇失败／放弃备选</a:t>
            </a:r>
          </a:p>
        </p:txBody>
      </p:sp>
      <p:sp>
        <p:nvSpPr>
          <p:cNvPr id="29" name="gate9-r7">
            <a:extLst xmlns:a="http://schemas.openxmlformats.org/drawingml/2006/main">
              <a:ext uri="{FF2B5EF4-FFF2-40B4-BE49-F238E27FC236}">
                <a16:creationId xmlns:a16="http://schemas.microsoft.com/office/drawing/2014/main" id="{DCEAC165-78C1-4668-B067-9580BB96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4815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0" name="gate9-n8">
            <a:extLst xmlns:a="http://schemas.openxmlformats.org/drawingml/2006/main">
              <a:ext uri="{FF2B5EF4-FFF2-40B4-BE49-F238E27FC236}">
                <a16:creationId xmlns:a16="http://schemas.microsoft.com/office/drawing/2014/main" id="{91ED2CCA-87A5-4324-990F-FACC260D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1" name="gate9-t8">
            <a:extLst xmlns:a="http://schemas.openxmlformats.org/drawingml/2006/main">
              <a:ext uri="{FF2B5EF4-FFF2-40B4-BE49-F238E27FC236}">
                <a16:creationId xmlns:a16="http://schemas.microsoft.com/office/drawing/2014/main" id="{E0A574C9-57DE-483E-A74E-306B9690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72000"/>
            <a:ext cx="4486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完整模板与 AI／伦理记录</a:t>
            </a:r>
          </a:p>
        </p:txBody>
      </p:sp>
      <p:sp>
        <p:nvSpPr>
          <p:cNvPr id="32" name="gate9-r8">
            <a:extLst xmlns:a="http://schemas.openxmlformats.org/drawingml/2006/main">
              <a:ext uri="{FF2B5EF4-FFF2-40B4-BE49-F238E27FC236}">
                <a16:creationId xmlns:a16="http://schemas.microsoft.com/office/drawing/2014/main" id="{45F82123-1D2C-4318-9A3D-7B744797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5400"/>
            <a:ext cx="50387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3" name="check">
            <a:extLst xmlns:a="http://schemas.openxmlformats.org/drawingml/2006/main">
              <a:ext uri="{FF2B5EF4-FFF2-40B4-BE49-F238E27FC236}">
                <a16:creationId xmlns:a16="http://schemas.microsoft.com/office/drawing/2014/main" id="{6BABD580-AE6E-49C7-8112-5FD48937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578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九项检查当前个人项目版本；长定义以 assignments.md 为准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J2 把 baseline 取舍和同伴反馈写进判断记录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j2">
            <a:extLst xmlns:a="http://schemas.openxmlformats.org/drawingml/2006/main">
              <a:ext uri="{FF2B5EF4-FFF2-40B4-BE49-F238E27FC236}">
                <a16:creationId xmlns:a16="http://schemas.microsoft.com/office/drawing/2014/main" id="{6EF69ADD-7E7B-4A40-B6F6-C7BE136D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J2 · 第二条研究判断</a:t>
            </a:r>
          </a:p>
        </p:txBody>
      </p:sp>
      <p:sp>
        <p:nvSpPr>
          <p:cNvPr id="7" name="j2-record-shade0">
            <a:extLst xmlns:a="http://schemas.openxmlformats.org/drawingml/2006/main">
              <a:ext uri="{FF2B5EF4-FFF2-40B4-BE49-F238E27FC236}">
                <a16:creationId xmlns:a16="http://schemas.microsoft.com/office/drawing/2014/main" id="{02524758-10CF-48F1-89A8-0B8BE062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85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j2-record-l0">
            <a:extLst xmlns:a="http://schemas.openxmlformats.org/drawingml/2006/main">
              <a:ext uri="{FF2B5EF4-FFF2-40B4-BE49-F238E27FC236}">
                <a16:creationId xmlns:a16="http://schemas.microsoft.com/office/drawing/2014/main" id="{C7497030-2AAF-4AFE-A9CE-71327E50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0495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9" name="j2-record-v0">
            <a:extLst xmlns:a="http://schemas.openxmlformats.org/drawingml/2006/main">
              <a:ext uri="{FF2B5EF4-FFF2-40B4-BE49-F238E27FC236}">
                <a16:creationId xmlns:a16="http://schemas.microsoft.com/office/drawing/2014/main" id="{48CC3614-C5A7-4716-A7E8-6977AE2A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5049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自由摘要作朴素 baseline</a:t>
            </a:r>
          </a:p>
        </p:txBody>
      </p:sp>
      <p:sp>
        <p:nvSpPr>
          <p:cNvPr id="10" name="j2-record-r0">
            <a:extLst xmlns:a="http://schemas.openxmlformats.org/drawingml/2006/main">
              <a:ext uri="{FF2B5EF4-FFF2-40B4-BE49-F238E27FC236}">
                <a16:creationId xmlns:a16="http://schemas.microsoft.com/office/drawing/2014/main" id="{074E4BB5-38FA-422B-93CF-A6744156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j2-record-l1">
            <a:extLst xmlns:a="http://schemas.openxmlformats.org/drawingml/2006/main">
              <a:ext uri="{FF2B5EF4-FFF2-40B4-BE49-F238E27FC236}">
                <a16:creationId xmlns:a16="http://schemas.microsoft.com/office/drawing/2014/main" id="{411F7CEE-B2B4-457E-8FBE-E4086185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理由</a:t>
            </a:r>
          </a:p>
        </p:txBody>
      </p:sp>
      <p:sp>
        <p:nvSpPr>
          <p:cNvPr id="12" name="j2-record-v1">
            <a:extLst xmlns:a="http://schemas.openxmlformats.org/drawingml/2006/main">
              <a:ext uri="{FF2B5EF4-FFF2-40B4-BE49-F238E27FC236}">
                <a16:creationId xmlns:a16="http://schemas.microsoft.com/office/drawing/2014/main" id="{2C2B128D-3B5F-4DE5-A011-0619B5D7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13360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强基线需外部 prompt 集，超出周期</a:t>
            </a:r>
          </a:p>
        </p:txBody>
      </p:sp>
      <p:sp>
        <p:nvSpPr>
          <p:cNvPr id="13" name="j2-record-r1">
            <a:extLst xmlns:a="http://schemas.openxmlformats.org/drawingml/2006/main">
              <a:ext uri="{FF2B5EF4-FFF2-40B4-BE49-F238E27FC236}">
                <a16:creationId xmlns:a16="http://schemas.microsoft.com/office/drawing/2014/main" id="{73A8CDD9-8BB2-494C-9468-6E7E3022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j2-record-shade2">
            <a:extLst xmlns:a="http://schemas.openxmlformats.org/drawingml/2006/main">
              <a:ext uri="{FF2B5EF4-FFF2-40B4-BE49-F238E27FC236}">
                <a16:creationId xmlns:a16="http://schemas.microsoft.com/office/drawing/2014/main" id="{B6764751-10DA-4B56-BC4F-66F921B8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685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j2-record-l2">
            <a:extLst xmlns:a="http://schemas.openxmlformats.org/drawingml/2006/main">
              <a:ext uri="{FF2B5EF4-FFF2-40B4-BE49-F238E27FC236}">
                <a16:creationId xmlns:a16="http://schemas.microsoft.com/office/drawing/2014/main" id="{B8D8730E-6A7C-45C6-9F7B-898BF11D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6" name="j2-record-v2">
            <a:extLst xmlns:a="http://schemas.openxmlformats.org/drawingml/2006/main">
              <a:ext uri="{FF2B5EF4-FFF2-40B4-BE49-F238E27FC236}">
                <a16:creationId xmlns:a16="http://schemas.microsoft.com/office/drawing/2014/main" id="{331FB6AB-4251-45C9-8C65-0B5037C0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62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只比较字段约束 vs 无约束</a:t>
            </a:r>
          </a:p>
        </p:txBody>
      </p:sp>
      <p:sp>
        <p:nvSpPr>
          <p:cNvPr id="17" name="j2-record-r2">
            <a:extLst xmlns:a="http://schemas.openxmlformats.org/drawingml/2006/main">
              <a:ext uri="{FF2B5EF4-FFF2-40B4-BE49-F238E27FC236}">
                <a16:creationId xmlns:a16="http://schemas.microsoft.com/office/drawing/2014/main" id="{75FB568E-3DC1-4B1C-A078-938CA649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j2-record-l3">
            <a:extLst xmlns:a="http://schemas.openxmlformats.org/drawingml/2006/main">
              <a:ext uri="{FF2B5EF4-FFF2-40B4-BE49-F238E27FC236}">
                <a16:creationId xmlns:a16="http://schemas.microsoft.com/office/drawing/2014/main" id="{73D17A39-2FDD-4773-8328-1463C656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依据</a:t>
            </a:r>
          </a:p>
        </p:txBody>
      </p:sp>
      <p:sp>
        <p:nvSpPr>
          <p:cNvPr id="19" name="j2-record-v3">
            <a:extLst xmlns:a="http://schemas.openxmlformats.org/drawingml/2006/main">
              <a:ext uri="{FF2B5EF4-FFF2-40B4-BE49-F238E27FC236}">
                <a16:creationId xmlns:a16="http://schemas.microsoft.com/office/drawing/2014/main" id="{3BDCA883-3966-411A-A576-9F318396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9090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8 课反馈 + 可定位原文原则</a:t>
            </a:r>
          </a:p>
        </p:txBody>
      </p:sp>
      <p:sp>
        <p:nvSpPr>
          <p:cNvPr id="20" name="j2-record-r3">
            <a:extLst xmlns:a="http://schemas.openxmlformats.org/drawingml/2006/main">
              <a:ext uri="{FF2B5EF4-FFF2-40B4-BE49-F238E27FC236}">
                <a16:creationId xmlns:a16="http://schemas.microsoft.com/office/drawing/2014/main" id="{273CE70B-B2D3-4BDE-893F-3DEB3511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j2-record-shade4">
            <a:extLst xmlns:a="http://schemas.openxmlformats.org/drawingml/2006/main">
              <a:ext uri="{FF2B5EF4-FFF2-40B4-BE49-F238E27FC236}">
                <a16:creationId xmlns:a16="http://schemas.microsoft.com/office/drawing/2014/main" id="{B0C9DF08-0B5E-41FE-A2DB-96065A5E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685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j2-record-l4">
            <a:extLst xmlns:a="http://schemas.openxmlformats.org/drawingml/2006/main">
              <a:ext uri="{FF2B5EF4-FFF2-40B4-BE49-F238E27FC236}">
                <a16:creationId xmlns:a16="http://schemas.microsoft.com/office/drawing/2014/main" id="{B212CF3A-F393-4067-A003-FEA9ECC1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3" name="j2-record-v4">
            <a:extLst xmlns:a="http://schemas.openxmlformats.org/drawingml/2006/main">
              <a:ext uri="{FF2B5EF4-FFF2-40B4-BE49-F238E27FC236}">
                <a16:creationId xmlns:a16="http://schemas.microsoft.com/office/drawing/2014/main" id="{EEBFAA7D-75CF-41EB-A4DD-33C24F1E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195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强基线留作后续验证</a:t>
            </a:r>
          </a:p>
        </p:txBody>
      </p:sp>
      <p:sp>
        <p:nvSpPr>
          <p:cNvPr id="24" name="j2-record-r4">
            <a:extLst xmlns:a="http://schemas.openxmlformats.org/drawingml/2006/main">
              <a:ext uri="{FF2B5EF4-FFF2-40B4-BE49-F238E27FC236}">
                <a16:creationId xmlns:a16="http://schemas.microsoft.com/office/drawing/2014/main" id="{6BA9ECEE-3DB3-48FB-997F-0EF416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5" name="j2-record-l5">
            <a:extLst xmlns:a="http://schemas.openxmlformats.org/drawingml/2006/main">
              <a:ext uri="{FF2B5EF4-FFF2-40B4-BE49-F238E27FC236}">
                <a16:creationId xmlns:a16="http://schemas.microsoft.com/office/drawing/2014/main" id="{AACAC9F5-2B5F-46A4-B7C8-5F5623EF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影响</a:t>
            </a:r>
          </a:p>
        </p:txBody>
      </p:sp>
      <p:sp>
        <p:nvSpPr>
          <p:cNvPr id="26" name="j2-record-v5">
            <a:extLst xmlns:a="http://schemas.openxmlformats.org/drawingml/2006/main">
              <a:ext uri="{FF2B5EF4-FFF2-40B4-BE49-F238E27FC236}">
                <a16:creationId xmlns:a16="http://schemas.microsoft.com/office/drawing/2014/main" id="{B22B487F-805F-4601-85B2-6E7DF23A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64820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实验规格 §对照／§失败预案</a:t>
            </a:r>
          </a:p>
        </p:txBody>
      </p:sp>
      <p:sp>
        <p:nvSpPr>
          <p:cNvPr id="27" name="feedback">
            <a:extLst xmlns:a="http://schemas.openxmlformats.org/drawingml/2006/main">
              <a:ext uri="{FF2B5EF4-FFF2-40B4-BE49-F238E27FC236}">
                <a16:creationId xmlns:a16="http://schemas.microsoft.com/office/drawing/2014/main" id="{61260AA4-54D4-4FB3-9101-C6EEFB07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047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反馈处理</a:t>
            </a:r>
          </a:p>
        </p:txBody>
      </p:sp>
      <p:sp>
        <p:nvSpPr>
          <p:cNvPr id="28" name="j2-feedback-shade0">
            <a:extLst xmlns:a="http://schemas.openxmlformats.org/drawingml/2006/main">
              <a:ext uri="{FF2B5EF4-FFF2-40B4-BE49-F238E27FC236}">
                <a16:creationId xmlns:a16="http://schemas.microsoft.com/office/drawing/2014/main" id="{3526B464-2387-4975-9009-7C7A384F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6099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9" name="j2-feedback-l0">
            <a:extLst xmlns:a="http://schemas.openxmlformats.org/drawingml/2006/main">
              <a:ext uri="{FF2B5EF4-FFF2-40B4-BE49-F238E27FC236}">
                <a16:creationId xmlns:a16="http://schemas.microsoft.com/office/drawing/2014/main" id="{4ABD4721-C9CA-438F-A350-F2D51460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增加强 baseline</a:t>
            </a:r>
          </a:p>
        </p:txBody>
      </p:sp>
      <p:sp>
        <p:nvSpPr>
          <p:cNvPr id="30" name="j2-feedback-v0">
            <a:extLst xmlns:a="http://schemas.openxmlformats.org/drawingml/2006/main">
              <a:ext uri="{FF2B5EF4-FFF2-40B4-BE49-F238E27FC236}">
                <a16:creationId xmlns:a16="http://schemas.microsoft.com/office/drawing/2014/main" id="{DE5860D5-E06C-42DB-A0BF-6BF3F635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95450"/>
            <a:ext cx="14192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保留异议</a:t>
            </a:r>
          </a:p>
        </p:txBody>
      </p:sp>
      <p:sp>
        <p:nvSpPr>
          <p:cNvPr id="31" name="j2-feedback-r0">
            <a:extLst xmlns:a="http://schemas.openxmlformats.org/drawingml/2006/main">
              <a:ext uri="{FF2B5EF4-FFF2-40B4-BE49-F238E27FC236}">
                <a16:creationId xmlns:a16="http://schemas.microsoft.com/office/drawing/2014/main" id="{DE2B8A4E-FBD9-4C0E-BFFC-22C8ECB0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571750"/>
            <a:ext cx="36099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2" name="j2-feedback-l1">
            <a:extLst xmlns:a="http://schemas.openxmlformats.org/drawingml/2006/main">
              <a:ext uri="{FF2B5EF4-FFF2-40B4-BE49-F238E27FC236}">
                <a16:creationId xmlns:a16="http://schemas.microsoft.com/office/drawing/2014/main" id="{DA472329-0BB5-4B4D-999C-2C84B19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479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报告方差</a:t>
            </a:r>
          </a:p>
        </p:txBody>
      </p:sp>
      <p:sp>
        <p:nvSpPr>
          <p:cNvPr id="33" name="j2-feedback-v1">
            <a:extLst xmlns:a="http://schemas.openxmlformats.org/drawingml/2006/main">
              <a:ext uri="{FF2B5EF4-FFF2-40B4-BE49-F238E27FC236}">
                <a16:creationId xmlns:a16="http://schemas.microsoft.com/office/drawing/2014/main" id="{A1AA68E7-3CED-4C2C-B4A8-36B84A23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47950"/>
            <a:ext cx="14192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34" name="j2-feedback-r1">
            <a:extLst xmlns:a="http://schemas.openxmlformats.org/drawingml/2006/main">
              <a:ext uri="{FF2B5EF4-FFF2-40B4-BE49-F238E27FC236}">
                <a16:creationId xmlns:a16="http://schemas.microsoft.com/office/drawing/2014/main" id="{103217F0-79F1-4D58-86F3-940B0C3B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24250"/>
            <a:ext cx="36099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5" name="j2-feedback-shade2">
            <a:extLst xmlns:a="http://schemas.openxmlformats.org/drawingml/2006/main">
              <a:ext uri="{FF2B5EF4-FFF2-40B4-BE49-F238E27FC236}">
                <a16:creationId xmlns:a16="http://schemas.microsoft.com/office/drawing/2014/main" id="{89A11113-E1D8-4C7D-8D7E-E7E02C32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24250"/>
            <a:ext cx="36099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36" name="j2-feedback-l2">
            <a:extLst xmlns:a="http://schemas.openxmlformats.org/drawingml/2006/main">
              <a:ext uri="{FF2B5EF4-FFF2-40B4-BE49-F238E27FC236}">
                <a16:creationId xmlns:a16="http://schemas.microsoft.com/office/drawing/2014/main" id="{D377B765-C118-420F-BC71-8AE0D9E5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004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样本量过小</a:t>
            </a:r>
          </a:p>
        </p:txBody>
      </p:sp>
      <p:sp>
        <p:nvSpPr>
          <p:cNvPr id="37" name="j2-feedback-v2">
            <a:extLst xmlns:a="http://schemas.openxmlformats.org/drawingml/2006/main">
              <a:ext uri="{FF2B5EF4-FFF2-40B4-BE49-F238E27FC236}">
                <a16:creationId xmlns:a16="http://schemas.microsoft.com/office/drawing/2014/main" id="{E30EFFA1-EB48-4324-B493-049DC123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600450"/>
            <a:ext cx="14192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暂缓</a:t>
            </a:r>
          </a:p>
        </p:txBody>
      </p:sp>
      <p:sp>
        <p:nvSpPr>
          <p:cNvPr id="38" name="no-reject">
            <a:extLst xmlns:a="http://schemas.openxmlformats.org/drawingml/2006/main">
              <a:ext uri="{FF2B5EF4-FFF2-40B4-BE49-F238E27FC236}">
                <a16:creationId xmlns:a16="http://schemas.microsoft.com/office/drawing/2014/main" id="{61E75490-0789-4E05-9630-5EA8B64D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14875"/>
            <a:ext cx="360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按真实理由选择动作；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不机械要求拒绝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个人实践：启动判断门材料的最小闭环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class">
            <a:extLst xmlns:a="http://schemas.openxmlformats.org/drawingml/2006/main">
              <a:ext uri="{FF2B5EF4-FFF2-40B4-BE49-F238E27FC236}">
                <a16:creationId xmlns:a16="http://schemas.microsoft.com/office/drawing/2014/main" id="{D67EA42A-6537-4FBB-B8E9-2EF496EB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课堂最低闭环</a:t>
            </a:r>
          </a:p>
        </p:txBody>
      </p:sp>
      <p:sp>
        <p:nvSpPr>
          <p:cNvPr id="7" name="task1-bg">
            <a:extLst xmlns:a="http://schemas.openxmlformats.org/drawingml/2006/main">
              <a:ext uri="{FF2B5EF4-FFF2-40B4-BE49-F238E27FC236}">
                <a16:creationId xmlns:a16="http://schemas.microsoft.com/office/drawing/2014/main" id="{3BA0F69D-1301-4731-A9A5-DBE66C11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762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8" name="task1">
            <a:extLst xmlns:a="http://schemas.openxmlformats.org/drawingml/2006/main">
              <a:ext uri="{FF2B5EF4-FFF2-40B4-BE49-F238E27FC236}">
                <a16:creationId xmlns:a16="http://schemas.microsoft.com/office/drawing/2014/main" id="{48FCF2B2-021F-40AD-8BAC-1D7864B8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4457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  选择 baseline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类型 + 公平性</a:t>
            </a:r>
          </a:p>
        </p:txBody>
      </p:sp>
      <p:sp>
        <p:nvSpPr>
          <p:cNvPr id="9" name="task2-bg">
            <a:extLst xmlns:a="http://schemas.openxmlformats.org/drawingml/2006/main">
              <a:ext uri="{FF2B5EF4-FFF2-40B4-BE49-F238E27FC236}">
                <a16:creationId xmlns:a16="http://schemas.microsoft.com/office/drawing/2014/main" id="{D6515D5D-7D99-478E-8807-51DD1376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762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0" name="task2">
            <a:extLst xmlns:a="http://schemas.openxmlformats.org/drawingml/2006/main">
              <a:ext uri="{FF2B5EF4-FFF2-40B4-BE49-F238E27FC236}">
                <a16:creationId xmlns:a16="http://schemas.microsoft.com/office/drawing/2014/main" id="{E66AC4A2-A536-483B-B158-F41F1CE1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4457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  补足可重运行记录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输入／环境／命令／输出／种子／结果</a:t>
            </a:r>
          </a:p>
        </p:txBody>
      </p:sp>
      <p:sp>
        <p:nvSpPr>
          <p:cNvPr id="11" name="after">
            <a:extLst xmlns:a="http://schemas.openxmlformats.org/drawingml/2006/main">
              <a:ext uri="{FF2B5EF4-FFF2-40B4-BE49-F238E27FC236}">
                <a16:creationId xmlns:a16="http://schemas.microsoft.com/office/drawing/2014/main" id="{C47CAB16-D45E-4479-905B-2B2F80CF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6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课后补全</a:t>
            </a:r>
          </a:p>
        </p:txBody>
      </p:sp>
      <p:sp>
        <p:nvSpPr>
          <p:cNvPr id="12" name="after-l-0">
            <a:extLst xmlns:a="http://schemas.openxmlformats.org/drawingml/2006/main">
              <a:ext uri="{FF2B5EF4-FFF2-40B4-BE49-F238E27FC236}">
                <a16:creationId xmlns:a16="http://schemas.microsoft.com/office/drawing/2014/main" id="{1D728B79-65B7-4267-B5CB-6BC94908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6687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七字段规格与 J2</a:t>
            </a:r>
          </a:p>
        </p:txBody>
      </p:sp>
      <p:sp>
        <p:nvSpPr>
          <p:cNvPr id="13" name="after-l-1">
            <a:extLst xmlns:a="http://schemas.openxmlformats.org/drawingml/2006/main">
              <a:ext uri="{FF2B5EF4-FFF2-40B4-BE49-F238E27FC236}">
                <a16:creationId xmlns:a16="http://schemas.microsoft.com/office/drawing/2014/main" id="{F33C4FF0-EC94-480B-9CF8-4C4E857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1457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反馈处理与失败记录</a:t>
            </a:r>
          </a:p>
        </p:txBody>
      </p:sp>
      <p:sp>
        <p:nvSpPr>
          <p:cNvPr id="14" name="after-l-2">
            <a:extLst xmlns:a="http://schemas.openxmlformats.org/drawingml/2006/main">
              <a:ext uri="{FF2B5EF4-FFF2-40B4-BE49-F238E27FC236}">
                <a16:creationId xmlns:a16="http://schemas.microsoft.com/office/drawing/2014/main" id="{DD38E827-AF72-47FD-BBF3-D218522A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6227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九项自查</a:t>
            </a:r>
          </a:p>
        </p:txBody>
      </p:sp>
      <p:sp>
        <p:nvSpPr>
          <p:cNvPr id="15" name="after-l-3">
            <a:extLst xmlns:a="http://schemas.openxmlformats.org/drawingml/2006/main">
              <a:ext uri="{FF2B5EF4-FFF2-40B4-BE49-F238E27FC236}">
                <a16:creationId xmlns:a16="http://schemas.microsoft.com/office/drawing/2014/main" id="{4832F040-1D52-4FC5-8D4A-12B1A45F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997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迁移到完整模板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迁移验收要同时看工件状态与文件结构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20B9706C-00EE-41A7-9A70-E73EEEEE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迁移验收</a:t>
            </a:r>
          </a:p>
        </p:txBody>
      </p:sp>
      <p:sp>
        <p:nvSpPr>
          <p:cNvPr id="7" name="accept-0">
            <a:extLst xmlns:a="http://schemas.openxmlformats.org/drawingml/2006/main">
              <a:ext uri="{FF2B5EF4-FFF2-40B4-BE49-F238E27FC236}">
                <a16:creationId xmlns:a16="http://schemas.microsoft.com/office/drawing/2014/main" id="{C5B33D09-C477-4889-94FA-899E405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approved/stable 有对应位置</a:t>
            </a:r>
          </a:p>
        </p:txBody>
      </p:sp>
      <p:sp>
        <p:nvSpPr>
          <p:cNvPr id="8" name="accept-1">
            <a:extLst xmlns:a="http://schemas.openxmlformats.org/drawingml/2006/main">
              <a:ext uri="{FF2B5EF4-FFF2-40B4-BE49-F238E27FC236}">
                <a16:creationId xmlns:a16="http://schemas.microsoft.com/office/drawing/2014/main" id="{9E3CE868-0D64-44E4-BB3B-A59DCEC6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AI 记录不丢失</a:t>
            </a:r>
          </a:p>
        </p:txBody>
      </p:sp>
      <p:sp>
        <p:nvSpPr>
          <p:cNvPr id="9" name="accept-2">
            <a:extLst xmlns:a="http://schemas.openxmlformats.org/drawingml/2006/main">
              <a:ext uri="{FF2B5EF4-FFF2-40B4-BE49-F238E27FC236}">
                <a16:creationId xmlns:a16="http://schemas.microsoft.com/office/drawing/2014/main" id="{C947C15D-13AD-4AEA-83A4-AADC6058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伦理说明含数据限制</a:t>
            </a:r>
          </a:p>
        </p:txBody>
      </p:sp>
      <p:sp>
        <p:nvSpPr>
          <p:cNvPr id="10" name="accept-3">
            <a:extLst xmlns:a="http://schemas.openxmlformats.org/drawingml/2006/main">
              <a:ext uri="{FF2B5EF4-FFF2-40B4-BE49-F238E27FC236}">
                <a16:creationId xmlns:a16="http://schemas.microsoft.com/office/drawing/2014/main" id="{CD12DBEA-639B-4F2D-B9ED-B5642CAA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工件状态更新</a:t>
            </a:r>
          </a:p>
        </p:txBody>
      </p:sp>
      <p:sp>
        <p:nvSpPr>
          <p:cNvPr id="11" name="accept-4">
            <a:extLst xmlns:a="http://schemas.openxmlformats.org/drawingml/2006/main">
              <a:ext uri="{FF2B5EF4-FFF2-40B4-BE49-F238E27FC236}">
                <a16:creationId xmlns:a16="http://schemas.microsoft.com/office/drawing/2014/main" id="{C0D38931-7EA1-4700-A03A-19394192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实验记录可追溯</a:t>
            </a:r>
          </a:p>
        </p:txBody>
      </p:sp>
      <p:sp>
        <p:nvSpPr>
          <p:cNvPr id="12" name="tree-bg">
            <a:extLst xmlns:a="http://schemas.openxmlformats.org/drawingml/2006/main">
              <a:ext uri="{FF2B5EF4-FFF2-40B4-BE49-F238E27FC236}">
                <a16:creationId xmlns:a16="http://schemas.microsoft.com/office/drawing/2014/main" id="{4A464C8B-B95C-46F9-B814-D85F67DA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095375"/>
            <a:ext cx="63722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tree">
            <a:extLst xmlns:a="http://schemas.openxmlformats.org/drawingml/2006/main">
              <a:ext uri="{FF2B5EF4-FFF2-40B4-BE49-F238E27FC236}">
                <a16:creationId xmlns:a16="http://schemas.microsoft.com/office/drawing/2014/main" id="{0AC5A548-F07E-4096-B3F3-DA16A361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85875"/>
            <a:ext cx="5905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README.md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hypothesis-and-judgment.md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experiment-spec.md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ethics-and-compliance.md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peer-review.md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├── failure-log.md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└── src/  experiments/  notes/</a:t>
            </a:r>
          </a:p>
        </p:txBody>
      </p:sp>
      <p:sp>
        <p:nvSpPr>
          <p:cNvPr id="14" name="tree-hyp">
            <a:extLst xmlns:a="http://schemas.openxmlformats.org/drawingml/2006/main">
              <a:ext uri="{FF2B5EF4-FFF2-40B4-BE49-F238E27FC236}">
                <a16:creationId xmlns:a16="http://schemas.microsoft.com/office/drawing/2014/main" id="{45DCF3B4-DA50-4FD4-A7C3-566108D0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5720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判断：H1/A1/A2/A3 + J1/J2</a:t>
            </a:r>
          </a:p>
        </p:txBody>
      </p:sp>
      <p:sp>
        <p:nvSpPr>
          <p:cNvPr id="15" name="tree-spec">
            <a:extLst xmlns:a="http://schemas.openxmlformats.org/drawingml/2006/main">
              <a:ext uri="{FF2B5EF4-FFF2-40B4-BE49-F238E27FC236}">
                <a16:creationId xmlns:a16="http://schemas.microsoft.com/office/drawing/2014/main" id="{56253BD6-A5E3-4D82-BDB9-CA8FD83A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530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规格：七字段 + 复现说明</a:t>
            </a:r>
          </a:p>
        </p:txBody>
      </p:sp>
      <p:sp>
        <p:nvSpPr>
          <p:cNvPr id="16" name="tree-ai">
            <a:extLst xmlns:a="http://schemas.openxmlformats.org/drawingml/2006/main">
              <a:ext uri="{FF2B5EF4-FFF2-40B4-BE49-F238E27FC236}">
                <a16:creationId xmlns:a16="http://schemas.microsoft.com/office/drawing/2014/main" id="{E9FC2940-BD28-4255-BCB5-2BC4C067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3340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日志：工具 / 用途 / 核验 / 问题</a:t>
            </a:r>
          </a:p>
        </p:txBody>
      </p:sp>
      <p:sp>
        <p:nvSpPr>
          <p:cNvPr id="17" name="write">
            <a:extLst xmlns:a="http://schemas.openxmlformats.org/drawingml/2006/main">
              <a:ext uri="{FF2B5EF4-FFF2-40B4-BE49-F238E27FC236}">
                <a16:creationId xmlns:a16="http://schemas.microsoft.com/office/drawing/2014/main" id="{CCC2633F-4E18-4BBB-A83A-A502B58F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8102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写入位置必须能从门条件反查到具体文件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同伴只按门条件提问题，作者保留决定权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cluster1">
            <a:extLst xmlns:a="http://schemas.openxmlformats.org/drawingml/2006/main">
              <a:ext uri="{FF2B5EF4-FFF2-40B4-BE49-F238E27FC236}">
                <a16:creationId xmlns:a16="http://schemas.microsoft.com/office/drawing/2014/main" id="{AF3AF5F8-4A7F-4CB3-A896-B2C1F870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baseline 与复现</a:t>
            </a:r>
          </a:p>
        </p:txBody>
      </p:sp>
      <p:sp>
        <p:nvSpPr>
          <p:cNvPr id="7" name="peer1-n0">
            <a:extLst xmlns:a="http://schemas.openxmlformats.org/drawingml/2006/main">
              <a:ext uri="{FF2B5EF4-FFF2-40B4-BE49-F238E27FC236}">
                <a16:creationId xmlns:a16="http://schemas.microsoft.com/office/drawing/2014/main" id="{3C185E08-6C6D-46B3-BE05-59DCFA2D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peer1-t0">
            <a:extLst xmlns:a="http://schemas.openxmlformats.org/drawingml/2006/main">
              <a:ext uri="{FF2B5EF4-FFF2-40B4-BE49-F238E27FC236}">
                <a16:creationId xmlns:a16="http://schemas.microsoft.com/office/drawing/2014/main" id="{D819F56E-1594-41BF-9A44-5983C67E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类型与公平性</a:t>
            </a:r>
          </a:p>
        </p:txBody>
      </p:sp>
      <p:sp>
        <p:nvSpPr>
          <p:cNvPr id="9" name="peer1-r0">
            <a:extLst xmlns:a="http://schemas.openxmlformats.org/drawingml/2006/main">
              <a:ext uri="{FF2B5EF4-FFF2-40B4-BE49-F238E27FC236}">
                <a16:creationId xmlns:a16="http://schemas.microsoft.com/office/drawing/2014/main" id="{22105160-D338-4343-804A-CD876087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peer1-n1">
            <a:extLst xmlns:a="http://schemas.openxmlformats.org/drawingml/2006/main">
              <a:ext uri="{FF2B5EF4-FFF2-40B4-BE49-F238E27FC236}">
                <a16:creationId xmlns:a16="http://schemas.microsoft.com/office/drawing/2014/main" id="{81AD98EB-BA1D-4127-ACC7-D6DE3E7A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peer1-t1">
            <a:extLst xmlns:a="http://schemas.openxmlformats.org/drawingml/2006/main">
              <a:ext uri="{FF2B5EF4-FFF2-40B4-BE49-F238E27FC236}">
                <a16:creationId xmlns:a16="http://schemas.microsoft.com/office/drawing/2014/main" id="{73E97329-3627-49B8-82E1-75ED0E0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86000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环境与种子</a:t>
            </a:r>
          </a:p>
        </p:txBody>
      </p:sp>
      <p:sp>
        <p:nvSpPr>
          <p:cNvPr id="12" name="peer1-r1">
            <a:extLst xmlns:a="http://schemas.openxmlformats.org/drawingml/2006/main">
              <a:ext uri="{FF2B5EF4-FFF2-40B4-BE49-F238E27FC236}">
                <a16:creationId xmlns:a16="http://schemas.microsoft.com/office/drawing/2014/main" id="{75EDF4F1-6DEB-4B77-A23B-EB15E23C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peer1-n2">
            <a:extLst xmlns:a="http://schemas.openxmlformats.org/drawingml/2006/main">
              <a:ext uri="{FF2B5EF4-FFF2-40B4-BE49-F238E27FC236}">
                <a16:creationId xmlns:a16="http://schemas.microsoft.com/office/drawing/2014/main" id="{1CEA9BB9-D0E2-4F3A-99CA-31BF4257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peer1-t2">
            <a:extLst xmlns:a="http://schemas.openxmlformats.org/drawingml/2006/main">
              <a:ext uri="{FF2B5EF4-FFF2-40B4-BE49-F238E27FC236}">
                <a16:creationId xmlns:a16="http://schemas.microsoft.com/office/drawing/2014/main" id="{32033848-5BEE-424F-B6B3-EF22791F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0375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重复与停止条件</a:t>
            </a:r>
          </a:p>
        </p:txBody>
      </p:sp>
      <p:sp>
        <p:nvSpPr>
          <p:cNvPr id="15" name="peer1-r2">
            <a:extLst xmlns:a="http://schemas.openxmlformats.org/drawingml/2006/main">
              <a:ext uri="{FF2B5EF4-FFF2-40B4-BE49-F238E27FC236}">
                <a16:creationId xmlns:a16="http://schemas.microsoft.com/office/drawing/2014/main" id="{70E8EF19-8728-4867-AF4A-ACD82699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cluster2">
            <a:extLst xmlns:a="http://schemas.openxmlformats.org/drawingml/2006/main">
              <a:ext uri="{FF2B5EF4-FFF2-40B4-BE49-F238E27FC236}">
                <a16:creationId xmlns:a16="http://schemas.microsoft.com/office/drawing/2014/main" id="{7E3E4B75-AF38-4666-A65E-4F99A01A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0953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判断与失败</a:t>
            </a:r>
          </a:p>
        </p:txBody>
      </p:sp>
      <p:sp>
        <p:nvSpPr>
          <p:cNvPr id="17" name="peer2-n0">
            <a:extLst xmlns:a="http://schemas.openxmlformats.org/drawingml/2006/main">
              <a:ext uri="{FF2B5EF4-FFF2-40B4-BE49-F238E27FC236}">
                <a16:creationId xmlns:a16="http://schemas.microsoft.com/office/drawing/2014/main" id="{177B21F9-C167-46C3-9A0A-9C631296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71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peer2-t0">
            <a:extLst xmlns:a="http://schemas.openxmlformats.org/drawingml/2006/main">
              <a:ext uri="{FF2B5EF4-FFF2-40B4-BE49-F238E27FC236}">
                <a16:creationId xmlns:a16="http://schemas.microsoft.com/office/drawing/2014/main" id="{76ED35FD-01B1-4D37-B191-7CF19F1B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571625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J2 六字段</a:t>
            </a:r>
          </a:p>
        </p:txBody>
      </p:sp>
      <p:sp>
        <p:nvSpPr>
          <p:cNvPr id="19" name="peer2-r0">
            <a:extLst xmlns:a="http://schemas.openxmlformats.org/drawingml/2006/main">
              <a:ext uri="{FF2B5EF4-FFF2-40B4-BE49-F238E27FC236}">
                <a16:creationId xmlns:a16="http://schemas.microsoft.com/office/drawing/2014/main" id="{FCD8281F-BE15-4460-AD44-7E959371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05025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peer2-n1">
            <a:extLst xmlns:a="http://schemas.openxmlformats.org/drawingml/2006/main">
              <a:ext uri="{FF2B5EF4-FFF2-40B4-BE49-F238E27FC236}">
                <a16:creationId xmlns:a16="http://schemas.microsoft.com/office/drawing/2014/main" id="{989040BF-02E0-4A65-903D-28A877AE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86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peer2-t1">
            <a:extLst xmlns:a="http://schemas.openxmlformats.org/drawingml/2006/main">
              <a:ext uri="{FF2B5EF4-FFF2-40B4-BE49-F238E27FC236}">
                <a16:creationId xmlns:a16="http://schemas.microsoft.com/office/drawing/2014/main" id="{BD1E486E-224D-4333-BF7E-95EEB8A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86000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反馈处理位置</a:t>
            </a:r>
          </a:p>
        </p:txBody>
      </p:sp>
      <p:sp>
        <p:nvSpPr>
          <p:cNvPr id="22" name="peer2-r1">
            <a:extLst xmlns:a="http://schemas.openxmlformats.org/drawingml/2006/main">
              <a:ext uri="{FF2B5EF4-FFF2-40B4-BE49-F238E27FC236}">
                <a16:creationId xmlns:a16="http://schemas.microsoft.com/office/drawing/2014/main" id="{862CBD49-F119-4087-A8DF-0DC30E3F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19400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3" name="peer2-n2">
            <a:extLst xmlns:a="http://schemas.openxmlformats.org/drawingml/2006/main">
              <a:ext uri="{FF2B5EF4-FFF2-40B4-BE49-F238E27FC236}">
                <a16:creationId xmlns:a16="http://schemas.microsoft.com/office/drawing/2014/main" id="{EFF197D0-817B-4138-87AD-FAE5B5F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0037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4" name="peer2-t2">
            <a:extLst xmlns:a="http://schemas.openxmlformats.org/drawingml/2006/main">
              <a:ext uri="{FF2B5EF4-FFF2-40B4-BE49-F238E27FC236}">
                <a16:creationId xmlns:a16="http://schemas.microsoft.com/office/drawing/2014/main" id="{5616E7E9-2F45-4265-A61C-0AD25952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00375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风险预案</a:t>
            </a:r>
          </a:p>
        </p:txBody>
      </p:sp>
      <p:sp>
        <p:nvSpPr>
          <p:cNvPr id="25" name="peer2-r2">
            <a:extLst xmlns:a="http://schemas.openxmlformats.org/drawingml/2006/main">
              <a:ext uri="{FF2B5EF4-FFF2-40B4-BE49-F238E27FC236}">
                <a16:creationId xmlns:a16="http://schemas.microsoft.com/office/drawing/2014/main" id="{4966E3C5-9158-4FBA-8F04-181367EA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33775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6" name="peer2-n3">
            <a:extLst xmlns:a="http://schemas.openxmlformats.org/drawingml/2006/main">
              <a:ext uri="{FF2B5EF4-FFF2-40B4-BE49-F238E27FC236}">
                <a16:creationId xmlns:a16="http://schemas.microsoft.com/office/drawing/2014/main" id="{FD824D97-133C-4D33-A7D8-4F81247D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147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7" name="peer2-t3">
            <a:extLst xmlns:a="http://schemas.openxmlformats.org/drawingml/2006/main">
              <a:ext uri="{FF2B5EF4-FFF2-40B4-BE49-F238E27FC236}">
                <a16:creationId xmlns:a16="http://schemas.microsoft.com/office/drawing/2014/main" id="{0ADDA0A7-B575-45DB-A264-1A3FF900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已遇失败记录</a:t>
            </a:r>
          </a:p>
        </p:txBody>
      </p:sp>
      <p:sp>
        <p:nvSpPr>
          <p:cNvPr id="28" name="peer2-r3">
            <a:extLst xmlns:a="http://schemas.openxmlformats.org/drawingml/2006/main">
              <a:ext uri="{FF2B5EF4-FFF2-40B4-BE49-F238E27FC236}">
                <a16:creationId xmlns:a16="http://schemas.microsoft.com/office/drawing/2014/main" id="{BE393025-9F94-4FFE-B182-5A783586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48150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9" name="cluster3">
            <a:extLst xmlns:a="http://schemas.openxmlformats.org/drawingml/2006/main">
              <a:ext uri="{FF2B5EF4-FFF2-40B4-BE49-F238E27FC236}">
                <a16:creationId xmlns:a16="http://schemas.microsoft.com/office/drawing/2014/main" id="{1EE94AE3-B7BB-41A8-A1F4-B4E42EBA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953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模板与责任</a:t>
            </a:r>
          </a:p>
        </p:txBody>
      </p:sp>
      <p:sp>
        <p:nvSpPr>
          <p:cNvPr id="30" name="peer3-n0">
            <a:extLst xmlns:a="http://schemas.openxmlformats.org/drawingml/2006/main">
              <a:ext uri="{FF2B5EF4-FFF2-40B4-BE49-F238E27FC236}">
                <a16:creationId xmlns:a16="http://schemas.microsoft.com/office/drawing/2014/main" id="{57A00731-A3AC-4006-8841-84CB9D66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31" name="peer3-t0">
            <a:extLst xmlns:a="http://schemas.openxmlformats.org/drawingml/2006/main">
              <a:ext uri="{FF2B5EF4-FFF2-40B4-BE49-F238E27FC236}">
                <a16:creationId xmlns:a16="http://schemas.microsoft.com/office/drawing/2014/main" id="{6A5A5671-9278-4B74-827A-2ECC8B62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571625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记录不丢失</a:t>
            </a:r>
          </a:p>
        </p:txBody>
      </p:sp>
      <p:sp>
        <p:nvSpPr>
          <p:cNvPr id="32" name="peer3-r0">
            <a:extLst xmlns:a="http://schemas.openxmlformats.org/drawingml/2006/main">
              <a:ext uri="{FF2B5EF4-FFF2-40B4-BE49-F238E27FC236}">
                <a16:creationId xmlns:a16="http://schemas.microsoft.com/office/drawing/2014/main" id="{C5B96D56-A46C-45B4-AB06-100F67BE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05025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3" name="peer3-n1">
            <a:extLst xmlns:a="http://schemas.openxmlformats.org/drawingml/2006/main">
              <a:ext uri="{FF2B5EF4-FFF2-40B4-BE49-F238E27FC236}">
                <a16:creationId xmlns:a16="http://schemas.microsoft.com/office/drawing/2014/main" id="{4D57000A-6F12-4935-AC69-F838D9F9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2860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peer3-t1">
            <a:extLst xmlns:a="http://schemas.openxmlformats.org/drawingml/2006/main">
              <a:ext uri="{FF2B5EF4-FFF2-40B4-BE49-F238E27FC236}">
                <a16:creationId xmlns:a16="http://schemas.microsoft.com/office/drawing/2014/main" id="{B69ED38F-07E3-4437-9316-133F8CE3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286000"/>
            <a:ext cx="2733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伦理说明不丢失</a:t>
            </a:r>
          </a:p>
        </p:txBody>
      </p:sp>
      <p:sp>
        <p:nvSpPr>
          <p:cNvPr id="35" name="peer3-r1">
            <a:extLst xmlns:a="http://schemas.openxmlformats.org/drawingml/2006/main">
              <a:ext uri="{FF2B5EF4-FFF2-40B4-BE49-F238E27FC236}">
                <a16:creationId xmlns:a16="http://schemas.microsoft.com/office/drawing/2014/main" id="{BB5BADB7-2DAE-4F93-905B-BC1455A2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819400"/>
            <a:ext cx="3286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6" name="actions">
            <a:extLst xmlns:a="http://schemas.openxmlformats.org/drawingml/2006/main">
              <a:ext uri="{FF2B5EF4-FFF2-40B4-BE49-F238E27FC236}">
                <a16:creationId xmlns:a16="http://schemas.microsoft.com/office/drawing/2014/main" id="{53F24D1F-FE14-44C3-B4BE-52E948B5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1000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作者选择：采纳／澄清／补证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保留异议／暂缓</a:t>
            </a:r>
          </a:p>
        </p:txBody>
      </p:sp>
      <p:sp>
        <p:nvSpPr>
          <p:cNvPr id="37" name="owner">
            <a:extLst xmlns:a="http://schemas.openxmlformats.org/drawingml/2006/main">
              <a:ext uri="{FF2B5EF4-FFF2-40B4-BE49-F238E27FC236}">
                <a16:creationId xmlns:a16="http://schemas.microsoft.com/office/drawing/2014/main" id="{FB558A56-2A63-4B37-B8D8-1637813B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86375"/>
            <a:ext cx="752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同伴只按门条件提问题；作者保留修改决定权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summary-0-bg">
            <a:extLst xmlns:a="http://schemas.openxmlformats.org/drawingml/2006/main">
              <a:ext uri="{FF2B5EF4-FFF2-40B4-BE49-F238E27FC236}">
                <a16:creationId xmlns:a16="http://schemas.microsoft.com/office/drawing/2014/main" id="{AA2D3087-EBC7-49F3-BC6C-8FADE917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C712ED7D-2274-42C9-A0A1-E78BADC4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 baseline</a:t>
            </a:r>
          </a:p>
        </p:txBody>
      </p:sp>
      <p:sp>
        <p:nvSpPr>
          <p:cNvPr id="8" name="summary-a0">
            <a:extLst xmlns:a="http://schemas.openxmlformats.org/drawingml/2006/main">
              <a:ext uri="{FF2B5EF4-FFF2-40B4-BE49-F238E27FC236}">
                <a16:creationId xmlns:a16="http://schemas.microsoft.com/office/drawing/2014/main" id="{C1365FC7-CA25-4DFC-A714-CC71C198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ummary-1-bg">
            <a:extLst xmlns:a="http://schemas.openxmlformats.org/drawingml/2006/main">
              <a:ext uri="{FF2B5EF4-FFF2-40B4-BE49-F238E27FC236}">
                <a16:creationId xmlns:a16="http://schemas.microsoft.com/office/drawing/2014/main" id="{DFE713DB-9C08-459D-8902-87B71397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summary-1">
            <a:extLst xmlns:a="http://schemas.openxmlformats.org/drawingml/2006/main">
              <a:ext uri="{FF2B5EF4-FFF2-40B4-BE49-F238E27FC236}">
                <a16:creationId xmlns:a16="http://schemas.microsoft.com/office/drawing/2014/main" id="{A9BB02C6-59F9-4F19-A269-C3A4D4DB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七字段规格</a:t>
            </a:r>
          </a:p>
        </p:txBody>
      </p:sp>
      <p:sp>
        <p:nvSpPr>
          <p:cNvPr id="11" name="summary-a1">
            <a:extLst xmlns:a="http://schemas.openxmlformats.org/drawingml/2006/main">
              <a:ext uri="{FF2B5EF4-FFF2-40B4-BE49-F238E27FC236}">
                <a16:creationId xmlns:a16="http://schemas.microsoft.com/office/drawing/2014/main" id="{3DA11004-E905-4070-BA5D-3FC9328C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summary-2-bg">
            <a:extLst xmlns:a="http://schemas.openxmlformats.org/drawingml/2006/main">
              <a:ext uri="{FF2B5EF4-FFF2-40B4-BE49-F238E27FC236}">
                <a16:creationId xmlns:a16="http://schemas.microsoft.com/office/drawing/2014/main" id="{DDC54E76-2CC0-41CE-ADA7-B676BDC9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summary-2">
            <a:extLst xmlns:a="http://schemas.openxmlformats.org/drawingml/2006/main">
              <a:ext uri="{FF2B5EF4-FFF2-40B4-BE49-F238E27FC236}">
                <a16:creationId xmlns:a16="http://schemas.microsoft.com/office/drawing/2014/main" id="{D4D63594-D60F-4135-AD68-822AC925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复现记录</a:t>
            </a:r>
          </a:p>
        </p:txBody>
      </p:sp>
      <p:sp>
        <p:nvSpPr>
          <p:cNvPr id="14" name="summary-a2">
            <a:extLst xmlns:a="http://schemas.openxmlformats.org/drawingml/2006/main">
              <a:ext uri="{FF2B5EF4-FFF2-40B4-BE49-F238E27FC236}">
                <a16:creationId xmlns:a16="http://schemas.microsoft.com/office/drawing/2014/main" id="{408BF53D-43D1-4707-8DE0-17679687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ummary-3-bg">
            <a:extLst xmlns:a="http://schemas.openxmlformats.org/drawingml/2006/main">
              <a:ext uri="{FF2B5EF4-FFF2-40B4-BE49-F238E27FC236}">
                <a16:creationId xmlns:a16="http://schemas.microsoft.com/office/drawing/2014/main" id="{65E47A4A-0C43-414B-8C00-5D3E8A50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summary-3">
            <a:extLst xmlns:a="http://schemas.openxmlformats.org/drawingml/2006/main">
              <a:ext uri="{FF2B5EF4-FFF2-40B4-BE49-F238E27FC236}">
                <a16:creationId xmlns:a16="http://schemas.microsoft.com/office/drawing/2014/main" id="{D346BD07-B2BC-424E-8643-A385F1B5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判断门材料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FB1FD852-41E2-4106-A0F1-718547E2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95750"/>
            <a:ext cx="838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能运行，不等于公平、可复现或足以支持研究判断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提交当前项目版本，并把规格交给第 10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submit-0-bg">
            <a:extLst xmlns:a="http://schemas.openxmlformats.org/drawingml/2006/main">
              <a:ext uri="{FF2B5EF4-FFF2-40B4-BE49-F238E27FC236}">
                <a16:creationId xmlns:a16="http://schemas.microsoft.com/office/drawing/2014/main" id="{9E58E9A4-3A77-4CD9-A735-D4A503C4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73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submit-0">
            <a:extLst xmlns:a="http://schemas.openxmlformats.org/drawingml/2006/main">
              <a:ext uri="{FF2B5EF4-FFF2-40B4-BE49-F238E27FC236}">
                <a16:creationId xmlns:a16="http://schemas.microsoft.com/office/drawing/2014/main" id="{CB04D3EC-24D3-458D-997E-A915EA26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425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提交当前项目版本</a:t>
            </a:r>
          </a:p>
        </p:txBody>
      </p:sp>
      <p:sp>
        <p:nvSpPr>
          <p:cNvPr id="8" name="submit-a0">
            <a:extLst xmlns:a="http://schemas.openxmlformats.org/drawingml/2006/main">
              <a:ext uri="{FF2B5EF4-FFF2-40B4-BE49-F238E27FC236}">
                <a16:creationId xmlns:a16="http://schemas.microsoft.com/office/drawing/2014/main" id="{A2D8F1E0-4FF0-46E8-9813-42A77332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0100" y="2200275"/>
            <a:ext cx="19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ubmit-1-bg">
            <a:extLst xmlns:a="http://schemas.openxmlformats.org/drawingml/2006/main">
              <a:ext uri="{FF2B5EF4-FFF2-40B4-BE49-F238E27FC236}">
                <a16:creationId xmlns:a16="http://schemas.microsoft.com/office/drawing/2014/main" id="{A9479330-C184-4058-9B16-CDB14665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1905000"/>
            <a:ext cx="273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submit-1">
            <a:extLst xmlns:a="http://schemas.openxmlformats.org/drawingml/2006/main">
              <a:ext uri="{FF2B5EF4-FFF2-40B4-BE49-F238E27FC236}">
                <a16:creationId xmlns:a16="http://schemas.microsoft.com/office/drawing/2014/main" id="{B2B49811-D372-4A47-9AC2-7A68E0DE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0" y="2000250"/>
            <a:ext cx="2425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回写工件</a:t>
            </a:r>
          </a:p>
        </p:txBody>
      </p:sp>
      <p:sp>
        <p:nvSpPr>
          <p:cNvPr id="11" name="submit-a1">
            <a:extLst xmlns:a="http://schemas.openxmlformats.org/drawingml/2006/main">
              <a:ext uri="{FF2B5EF4-FFF2-40B4-BE49-F238E27FC236}">
                <a16:creationId xmlns:a16="http://schemas.microsoft.com/office/drawing/2014/main" id="{FC47766B-3C2A-4EE8-8442-A12F0FBB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200275"/>
            <a:ext cx="19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submit-2-bg">
            <a:extLst xmlns:a="http://schemas.openxmlformats.org/drawingml/2006/main">
              <a:ext uri="{FF2B5EF4-FFF2-40B4-BE49-F238E27FC236}">
                <a16:creationId xmlns:a16="http://schemas.microsoft.com/office/drawing/2014/main" id="{AF329938-70A6-47B0-AACD-2B415957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1905000"/>
            <a:ext cx="273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submit-2">
            <a:extLst xmlns:a="http://schemas.openxmlformats.org/drawingml/2006/main">
              <a:ext uri="{FF2B5EF4-FFF2-40B4-BE49-F238E27FC236}">
                <a16:creationId xmlns:a16="http://schemas.microsoft.com/office/drawing/2014/main" id="{7792657F-7026-4311-A791-80DE806A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2000250"/>
            <a:ext cx="2425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交给第 10 课</a:t>
            </a:r>
          </a:p>
        </p:txBody>
      </p:sp>
      <p:sp>
        <p:nvSpPr>
          <p:cNvPr id="14" name="exit-bg">
            <a:extLst xmlns:a="http://schemas.openxmlformats.org/drawingml/2006/main">
              <a:ext uri="{FF2B5EF4-FFF2-40B4-BE49-F238E27FC236}">
                <a16:creationId xmlns:a16="http://schemas.microsoft.com/office/drawing/2014/main" id="{258EC893-8040-4367-8BD1-61430320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66875"/>
            <a:ext cx="2095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exit">
            <a:extLst xmlns:a="http://schemas.openxmlformats.org/drawingml/2006/main">
              <a:ext uri="{FF2B5EF4-FFF2-40B4-BE49-F238E27FC236}">
                <a16:creationId xmlns:a16="http://schemas.microsoft.com/office/drawing/2014/main" id="{3C21300C-2816-4C33-B70D-6D536D1B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62125"/>
            <a:ext cx="1790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哪项门条件最可能不通过？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下一个最小动作是什么？</a:t>
            </a:r>
          </a:p>
        </p:txBody>
      </p:sp>
      <p:sp>
        <p:nvSpPr>
          <p:cNvPr id="16" name="input">
            <a:extLst xmlns:a="http://schemas.openxmlformats.org/drawingml/2006/main">
              <a:ext uri="{FF2B5EF4-FFF2-40B4-BE49-F238E27FC236}">
                <a16:creationId xmlns:a16="http://schemas.microsoft.com/office/drawing/2014/main" id="{639D8B03-0192-4E7D-A162-C045BAAF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962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10 课输入：baseline 判断 + 可重运行记录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标出“拟用 Agent 的步骤”与“必须人工确认的步骤”</a:t>
            </a:r>
          </a:p>
        </p:txBody>
      </p:sp>
      <p:sp>
        <p:nvSpPr>
          <p:cNvPr id="17" name="submit-note">
            <a:extLst xmlns:a="http://schemas.openxmlformats.org/drawingml/2006/main">
              <a:ext uri="{FF2B5EF4-FFF2-40B4-BE49-F238E27FC236}">
                <a16:creationId xmlns:a16="http://schemas.microsoft.com/office/drawing/2014/main" id="{3D9B3FD9-FFD2-4809-BD54-1F0F0181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86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课后提交判断门材料包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2026-09-12T11:51:00.9420000Z</dcterms:created>
  <dcterms:modified xsi:type="dcterms:W3CDTF">2026-09-12T11:51:00.9420000Z</dcterms:modified>
</coreProperties>
</file>