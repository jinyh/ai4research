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d6bfea32544fe8" /><Relationship Type="http://schemas.openxmlformats.org/officeDocument/2006/relationships/extended-properties" Target="/docProps/app.xml" Id="Reb61d44d7560449c" /><Relationship Type="http://schemas.openxmlformats.org/officeDocument/2006/relationships/officeDocument" Target="/ppt/presentation.xml" Id="Rd85ac7fe31974b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a5e84f76b14b8c"/>
  </p:sldMasterIdLst>
  <p:notesMasterIdLst>
    <p:notesMasterId xmlns:r="http://schemas.openxmlformats.org/officeDocument/2006/relationships" r:id="R54abf4cf57ec4e95"/>
  </p:notesMasterIdLst>
  <p:sldIdLst>
    <p:sldId xmlns:r="http://schemas.openxmlformats.org/officeDocument/2006/relationships" id="256" r:id="Ra49e8489cea248a0"/>
    <p:sldId xmlns:r="http://schemas.openxmlformats.org/officeDocument/2006/relationships" id="257" r:id="R29ff6bf559904bdb"/>
    <p:sldId xmlns:r="http://schemas.openxmlformats.org/officeDocument/2006/relationships" id="258" r:id="Rfa4c91c99c104cdd"/>
    <p:sldId xmlns:r="http://schemas.openxmlformats.org/officeDocument/2006/relationships" id="259" r:id="R2b8680b319b44021"/>
    <p:sldId xmlns:r="http://schemas.openxmlformats.org/officeDocument/2006/relationships" id="260" r:id="R0a430bbdb72042d6"/>
    <p:sldId xmlns:r="http://schemas.openxmlformats.org/officeDocument/2006/relationships" id="261" r:id="Rb3f6f07decb04b06"/>
    <p:sldId xmlns:r="http://schemas.openxmlformats.org/officeDocument/2006/relationships" id="262" r:id="Rf0b36331d2aa4bd3"/>
    <p:sldId xmlns:r="http://schemas.openxmlformats.org/officeDocument/2006/relationships" id="263" r:id="R31c01f36b74c4d22"/>
    <p:sldId xmlns:r="http://schemas.openxmlformats.org/officeDocument/2006/relationships" id="264" r:id="R36a185a101ee4b8f"/>
    <p:sldId xmlns:r="http://schemas.openxmlformats.org/officeDocument/2006/relationships" id="265" r:id="Rd74e167a57764de7"/>
    <p:sldId xmlns:r="http://schemas.openxmlformats.org/officeDocument/2006/relationships" id="266" r:id="Rf6827104fd3d4833"/>
    <p:sldId xmlns:r="http://schemas.openxmlformats.org/officeDocument/2006/relationships" id="267" r:id="R8dd98d0e9122483b"/>
    <p:sldId xmlns:r="http://schemas.openxmlformats.org/officeDocument/2006/relationships" id="268" r:id="R47d5f54f32924833"/>
    <p:sldId xmlns:r="http://schemas.openxmlformats.org/officeDocument/2006/relationships" id="269" r:id="Ree19133dd52a432f"/>
    <p:sldId xmlns:r="http://schemas.openxmlformats.org/officeDocument/2006/relationships" id="270" r:id="Rd68d6729513e422a"/>
    <p:sldId xmlns:r="http://schemas.openxmlformats.org/officeDocument/2006/relationships" id="271" r:id="Rf488a791df814160"/>
    <p:sldId xmlns:r="http://schemas.openxmlformats.org/officeDocument/2006/relationships" id="272" r:id="R59d74361bce74d86"/>
    <p:sldId xmlns:r="http://schemas.openxmlformats.org/officeDocument/2006/relationships" id="273" r:id="R875884c6a28f4361"/>
    <p:sldId xmlns:r="http://schemas.openxmlformats.org/officeDocument/2006/relationships" id="274" r:id="R9a8dd1cd1ddb459a"/>
    <p:sldId xmlns:r="http://schemas.openxmlformats.org/officeDocument/2006/relationships" id="275" r:id="Rd503cef46d574eed"/>
    <p:sldId xmlns:r="http://schemas.openxmlformats.org/officeDocument/2006/relationships" id="276" r:id="R7bf24dcb40964c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0541574f5a4e88" /><Relationship Type="http://schemas.openxmlformats.org/officeDocument/2006/relationships/slideMaster" Target="/ppt/slideMasters/slideMaster1.xml" Id="Re8a5e84f76b14b8c" /><Relationship Type="http://schemas.openxmlformats.org/officeDocument/2006/relationships/notesMaster" Target="/ppt/notesMasters/notesMaster1.xml" Id="R54abf4cf57ec4e95" /><Relationship Type="http://schemas.openxmlformats.org/officeDocument/2006/relationships/presProps" Target="/ppt/presProps.xml" Id="R0a1f043dfebd497d" /><Relationship Type="http://schemas.openxmlformats.org/officeDocument/2006/relationships/viewProps" Target="/ppt/viewProps.xml" Id="R46f01903c20b48d5" /><Relationship Type="http://schemas.openxmlformats.org/officeDocument/2006/relationships/tableStyles" Target="/ppt/tableStyles.xml" Id="R050a9b4827e143b0" /><Relationship Type="http://schemas.openxmlformats.org/officeDocument/2006/relationships/slide" Target="/ppt/slides/slide1.xml" Id="Ra49e8489cea248a0" /><Relationship Type="http://schemas.openxmlformats.org/officeDocument/2006/relationships/slide" Target="/ppt/slides/slide2.xml" Id="R29ff6bf559904bdb" /><Relationship Type="http://schemas.openxmlformats.org/officeDocument/2006/relationships/slide" Target="/ppt/slides/slide3.xml" Id="Rfa4c91c99c104cdd" /><Relationship Type="http://schemas.openxmlformats.org/officeDocument/2006/relationships/slide" Target="/ppt/slides/slide4.xml" Id="R2b8680b319b44021" /><Relationship Type="http://schemas.openxmlformats.org/officeDocument/2006/relationships/slide" Target="/ppt/slides/slide5.xml" Id="R0a430bbdb72042d6" /><Relationship Type="http://schemas.openxmlformats.org/officeDocument/2006/relationships/slide" Target="/ppt/slides/slide6.xml" Id="Rb3f6f07decb04b06" /><Relationship Type="http://schemas.openxmlformats.org/officeDocument/2006/relationships/slide" Target="/ppt/slides/slide7.xml" Id="Rf0b36331d2aa4bd3" /><Relationship Type="http://schemas.openxmlformats.org/officeDocument/2006/relationships/slide" Target="/ppt/slides/slide8.xml" Id="R31c01f36b74c4d22" /><Relationship Type="http://schemas.openxmlformats.org/officeDocument/2006/relationships/slide" Target="/ppt/slides/slide9.xml" Id="R36a185a101ee4b8f" /><Relationship Type="http://schemas.openxmlformats.org/officeDocument/2006/relationships/slide" Target="/ppt/slides/slide10.xml" Id="Rd74e167a57764de7" /><Relationship Type="http://schemas.openxmlformats.org/officeDocument/2006/relationships/slide" Target="/ppt/slides/slide11.xml" Id="Rf6827104fd3d4833" /><Relationship Type="http://schemas.openxmlformats.org/officeDocument/2006/relationships/slide" Target="/ppt/slides/slide12.xml" Id="R8dd98d0e9122483b" /><Relationship Type="http://schemas.openxmlformats.org/officeDocument/2006/relationships/slide" Target="/ppt/slides/slide13.xml" Id="R47d5f54f32924833" /><Relationship Type="http://schemas.openxmlformats.org/officeDocument/2006/relationships/slide" Target="/ppt/slides/slide14.xml" Id="Ree19133dd52a432f" /><Relationship Type="http://schemas.openxmlformats.org/officeDocument/2006/relationships/slide" Target="/ppt/slides/slide15.xml" Id="Rd68d6729513e422a" /><Relationship Type="http://schemas.openxmlformats.org/officeDocument/2006/relationships/slide" Target="/ppt/slides/slide16.xml" Id="Rf488a791df814160" /><Relationship Type="http://schemas.openxmlformats.org/officeDocument/2006/relationships/slide" Target="/ppt/slides/slide17.xml" Id="R59d74361bce74d86" /><Relationship Type="http://schemas.openxmlformats.org/officeDocument/2006/relationships/slide" Target="/ppt/slides/slide18.xml" Id="R875884c6a28f4361" /><Relationship Type="http://schemas.openxmlformats.org/officeDocument/2006/relationships/slide" Target="/ppt/slides/slide19.xml" Id="R9a8dd1cd1ddb459a" /><Relationship Type="http://schemas.openxmlformats.org/officeDocument/2006/relationships/slide" Target="/ppt/slides/slide20.xml" Id="Rd503cef46d574eed" /><Relationship Type="http://schemas.openxmlformats.org/officeDocument/2006/relationships/slide" Target="/ppt/slides/slide21.xml" Id="R7bf24dcb40964c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9403a94edc4d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f0923c2ae74a76" /><Relationship Type="http://schemas.openxmlformats.org/officeDocument/2006/relationships/notesMaster" Target="/ppt/notesMasters/notesMaster1.xml" Id="Raef80d6c7e5e4a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b5a56b6c064125" /><Relationship Type="http://schemas.openxmlformats.org/officeDocument/2006/relationships/notesMaster" Target="/ppt/notesMasters/notesMaster1.xml" Id="R7cb82ef776214d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7a5aa44d554b3f" /><Relationship Type="http://schemas.openxmlformats.org/officeDocument/2006/relationships/notesMaster" Target="/ppt/notesMasters/notesMaster1.xml" Id="Rb87acc0797d44a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756a83ef2b4c55" /><Relationship Type="http://schemas.openxmlformats.org/officeDocument/2006/relationships/notesMaster" Target="/ppt/notesMasters/notesMaster1.xml" Id="R9729287c994e42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969145f2da431c" /><Relationship Type="http://schemas.openxmlformats.org/officeDocument/2006/relationships/notesMaster" Target="/ppt/notesMasters/notesMaster1.xml" Id="R55bb68fca81145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f55a2737d84746" /><Relationship Type="http://schemas.openxmlformats.org/officeDocument/2006/relationships/notesMaster" Target="/ppt/notesMasters/notesMaster1.xml" Id="R6c3ba50e12464f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e0d98f86c142d6" /><Relationship Type="http://schemas.openxmlformats.org/officeDocument/2006/relationships/notesMaster" Target="/ppt/notesMasters/notesMaster1.xml" Id="Re5907fe1714d4d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ec1c3e3c9b4177" /><Relationship Type="http://schemas.openxmlformats.org/officeDocument/2006/relationships/notesMaster" Target="/ppt/notesMasters/notesMaster1.xml" Id="Rfce57f0951e14e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6b4d4c7c204d01" /><Relationship Type="http://schemas.openxmlformats.org/officeDocument/2006/relationships/notesMaster" Target="/ppt/notesMasters/notesMaster1.xml" Id="R133c7bbf2f7e46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b02916c134454c" /><Relationship Type="http://schemas.openxmlformats.org/officeDocument/2006/relationships/notesMaster" Target="/ppt/notesMasters/notesMaster1.xml" Id="R1875585d9ac24a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3c0552a9eab4c81" /><Relationship Type="http://schemas.openxmlformats.org/officeDocument/2006/relationships/notesMaster" Target="/ppt/notesMasters/notesMaster1.xml" Id="R404875acbe714d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f637e53c4145b6" /><Relationship Type="http://schemas.openxmlformats.org/officeDocument/2006/relationships/notesMaster" Target="/ppt/notesMasters/notesMaster1.xml" Id="R7a28908b059c45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6873c2316c46d3" /><Relationship Type="http://schemas.openxmlformats.org/officeDocument/2006/relationships/notesMaster" Target="/ppt/notesMasters/notesMaster1.xml" Id="R27c030e809e64e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7b43319a9124408" /><Relationship Type="http://schemas.openxmlformats.org/officeDocument/2006/relationships/notesMaster" Target="/ppt/notesMasters/notesMaster1.xml" Id="Rbc3c8193b11840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5c831c47d64c60" /><Relationship Type="http://schemas.openxmlformats.org/officeDocument/2006/relationships/notesMaster" Target="/ppt/notesMasters/notesMaster1.xml" Id="R336269df6fe143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e6f4346cc844ee8" /><Relationship Type="http://schemas.openxmlformats.org/officeDocument/2006/relationships/notesMaster" Target="/ppt/notesMasters/notesMaster1.xml" Id="Re0bba257f9494d1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a410cd62e1342b1" /><Relationship Type="http://schemas.openxmlformats.org/officeDocument/2006/relationships/notesMaster" Target="/ppt/notesMasters/notesMaster1.xml" Id="R6bd39ed7888947e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abdad6abc04810" /><Relationship Type="http://schemas.openxmlformats.org/officeDocument/2006/relationships/notesMaster" Target="/ppt/notesMasters/notesMaster1.xml" Id="Re602f00251ba472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b58b40caba4b82" /><Relationship Type="http://schemas.openxmlformats.org/officeDocument/2006/relationships/notesMaster" Target="/ppt/notesMasters/notesMaster1.xml" Id="Rf5e2466c3fb44f9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5afe5afd4964f31" /><Relationship Type="http://schemas.openxmlformats.org/officeDocument/2006/relationships/notesMaster" Target="/ppt/notesMasters/notesMaster1.xml" Id="Rc13321b9a9874dd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5c149ebe6a44caa" /><Relationship Type="http://schemas.openxmlformats.org/officeDocument/2006/relationships/notesMaster" Target="/ppt/notesMasters/notesMaster1.xml" Id="R86fa8af7307f41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课留下实验规格草图，第 8 课留下同伴反馈；本课把它们补成可复现、可检查的判断门材料。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快问停止条件和随机种子是否已写，只听回答。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本课完成材料初版，不要求课堂内全部自查通过。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 baseline 仅为虚构教学例，用于区分类型，不声称已运行。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examples, not empirical evidence.</a:t>
            </a:r>
          </a:p>
          <a:p xmlns:a="http://schemas.openxmlformats.org/drawingml/2006/main">
            <a:r>
              <a:t>- Pineau et al. (2021). Improving Reproducibility in Machine Learning Research. JMLR 22(164).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请学生用自己的 baseline 对照五项并标记缺口。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五个反例用于快速诊断，不把 ACM Badging 当作新的评分规则。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先让学生指出缺口，再逐项展示。案例明确为虚构教学反例。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example, not empirical evidence.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页内数值是虚构教学规格，只演示七字段写法；请学生标出自己草图的缺失项。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Wilson et al. (2017). Good Enough Practices in Scientific Computing. DOI: 10.1371/journal.pcbi.1005510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页内停止条件和失败路径是虚构教学规格。学生只需为当前最大风险写一条直接对应的可执行预案。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页内指标数值是虚构教学规格，只演示可重算操作定义。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现场运行课次本地工件并核对规格、配置、输入、结果与日志。工件真实可运行，输入为合成数据，不构成实证研究结果。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Sandve et al. (2013). Ten Simple Rules for Reproducible Computational Research. DOI: 10.1371/journal.pcbi.1003285</a:t>
            </a:r>
          </a:p>
          <a:p xmlns:a="http://schemas.openxmlformats.org/drawingml/2006/main">
            <a:r>
              <a:t>- /Users/bright/Projects/courses/graduate/lessons/lesson-09/assets/reproducibility-example/experiment-spec.md</a:t>
            </a:r>
          </a:p>
          <a:p xmlns:a="http://schemas.openxmlformats.org/drawingml/2006/main">
            <a:r>
              <a:t>- /Users/bright/Projects/courses/graduate/lessons/lesson-09/assets/reproducibility-example/config.json</a:t>
            </a:r>
          </a:p>
          <a:p xmlns:a="http://schemas.openxmlformats.org/drawingml/2006/main">
            <a:r>
              <a:t>- /Users/bright/Projects/courses/graduate/lessons/lesson-09/assets/reproducibility-example/run.py</a:t>
            </a:r>
          </a:p>
          <a:p xmlns:a="http://schemas.openxmlformats.org/drawingml/2006/main">
            <a:r>
              <a:t>- /Users/bright/Projects/courses/graduate/lessons/lesson-09/assets/reproducibility-example/run-log.jsonl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课程不设统一重复次数硬门；检查重复计划是否足以支持主张。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让学生标注自己的材料当前达到哪一档。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36:00–37:20 作为迁移快速参考；不侵占 40–60 分钟持续实践。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八项必须与 assignments.md Checkpoint 2 一一对应；判断门检查当前项目版本。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J2 和三条反馈均为虚构教学工件，只演示决策记录写法。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judgment and feedback, not empirical evidence.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/Users/bright/Projects/courses/graduate/lessons/lesson-08/README.md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说明两分钟后开始个人补全；教师只处理共同卡点。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本页停留到 60 分钟，学生可照着核对文件结构。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人数为奇数时组成三人组；反馈不要求当场全部修改。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 baseline、公平性、实验规格、复现记录与判断门的关系。本页不替代提交说明。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课后完成自查并提交判断门材料包；第一次未通过按课程规则修订。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Pineau et al. (2021). Improving Reproducibility in Machine Learning Research.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Bouthillier et al. (2021). Accounting for Variance in Machine Learning Benchmarks.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d93be25224b84" /><Relationship Type="http://schemas.openxmlformats.org/officeDocument/2006/relationships/image" Target="/ppt/media/image.png" Id="R5e96b929a18b4e75" /><Relationship Type="http://schemas.openxmlformats.org/officeDocument/2006/relationships/image" Target="/ppt/media/image2.png" Id="R461abbd44cfa4ee4" /><Relationship Type="http://schemas.openxmlformats.org/officeDocument/2006/relationships/image" Target="/ppt/media/image3.png" Id="Rdd2efd9cf0ec494b" /><Relationship Type="http://schemas.openxmlformats.org/officeDocument/2006/relationships/image" Target="/ppt/media/image4.png" Id="R8702e19882304c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3d6cc6485e4b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a1abd0643b4daa" /><Relationship Type="http://schemas.openxmlformats.org/officeDocument/2006/relationships/image" Target="/ppt/media/image2.png" Id="R33e8767e7f0f47c8" /><Relationship Type="http://schemas.openxmlformats.org/officeDocument/2006/relationships/image" Target="/ppt/media/image5.png" Id="R5abcb320336143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92ce8c9c4b4298" /><Relationship Type="http://schemas.openxmlformats.org/officeDocument/2006/relationships/image" Target="/ppt/media/image.png" Id="Rb5f3e1bac6f845c6" /><Relationship Type="http://schemas.openxmlformats.org/officeDocument/2006/relationships/image" Target="/ppt/media/image3.png" Id="Rd9444ec7ba7a463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6b929a18b4e75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1abbd44cfa4ee4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2efd9cf0ec494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2e19882304c42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e8767e7f0f47c8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cb320336143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3e1bac6f845c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444ec7ba7a463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8eebd376e14652" /><Relationship Type="http://schemas.openxmlformats.org/officeDocument/2006/relationships/slideLayout" Target="/ppt/slideLayouts/slideLayout1.xml" Id="R72683eadf71b4867" /><Relationship Type="http://schemas.openxmlformats.org/officeDocument/2006/relationships/slideLayout" Target="/ppt/slideLayouts/slideLayout2.xml" Id="R8b0893f5367d459a" /><Relationship Type="http://schemas.openxmlformats.org/officeDocument/2006/relationships/slideLayout" Target="/ppt/slideLayouts/slideLayout3.xml" Id="Ra306127b95314bdd" /><Relationship Type="http://schemas.openxmlformats.org/officeDocument/2006/relationships/slideLayout" Target="/ppt/slideLayouts/slideLayout4.xml" Id="R94857ddaca5c43c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683eadf71b4867"/>
    <p:sldLayoutId xmlns:r="http://schemas.openxmlformats.org/officeDocument/2006/relationships" id="2147483650" r:id="R8b0893f5367d459a"/>
    <p:sldLayoutId xmlns:r="http://schemas.openxmlformats.org/officeDocument/2006/relationships" id="2147483651" r:id="Ra306127b95314bdd"/>
    <p:sldLayoutId xmlns:r="http://schemas.openxmlformats.org/officeDocument/2006/relationships" id="2147483652" r:id="R94857ddaca5c43c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264eedcf540cc" /><Relationship Type="http://schemas.openxmlformats.org/officeDocument/2006/relationships/notesSlide" Target="/ppt/notesSlides/notesSlide1.xml" Id="R3bd9b6294c7340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5c815ceb49747a8" /><Relationship Type="http://schemas.openxmlformats.org/officeDocument/2006/relationships/notesSlide" Target="/ppt/notesSlides/notesSlide2.xml" Id="R85dc8729eb224a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541191db2548ac" /><Relationship Type="http://schemas.openxmlformats.org/officeDocument/2006/relationships/notesSlide" Target="/ppt/notesSlides/notesSlide3.xml" Id="R915f99f4df4740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1557957a5845f5" /><Relationship Type="http://schemas.openxmlformats.org/officeDocument/2006/relationships/notesSlide" Target="/ppt/notesSlides/notesSlide4.xml" Id="R9270296a5e584c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ff153204764417" /><Relationship Type="http://schemas.openxmlformats.org/officeDocument/2006/relationships/notesSlide" Target="/ppt/notesSlides/notesSlide5.xml" Id="R29f17c2c14c146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ec75f3215934d44" /><Relationship Type="http://schemas.openxmlformats.org/officeDocument/2006/relationships/notesSlide" Target="/ppt/notesSlides/notesSlide6.xml" Id="Rc9c4e7df2b364f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5489539ed5d4fcf" /><Relationship Type="http://schemas.openxmlformats.org/officeDocument/2006/relationships/notesSlide" Target="/ppt/notesSlides/notesSlide7.xml" Id="R7cc72a0ab6ac42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343c159aff41b9" /><Relationship Type="http://schemas.openxmlformats.org/officeDocument/2006/relationships/notesSlide" Target="/ppt/notesSlides/notesSlide8.xml" Id="Re9ef926b88a342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a3a08eff594ced" /><Relationship Type="http://schemas.openxmlformats.org/officeDocument/2006/relationships/notesSlide" Target="/ppt/notesSlides/notesSlide9.xml" Id="R8d36071c721b43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e8aec8dfab41cc" /><Relationship Type="http://schemas.openxmlformats.org/officeDocument/2006/relationships/notesSlide" Target="/ppt/notesSlides/notesSlide10.xml" Id="R820ea665eb6b4a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81376405e6444e" /><Relationship Type="http://schemas.openxmlformats.org/officeDocument/2006/relationships/notesSlide" Target="/ppt/notesSlides/notesSlide11.xml" Id="R3be794934c8047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3c46bd30c7a4c00" /><Relationship Type="http://schemas.openxmlformats.org/officeDocument/2006/relationships/notesSlide" Target="/ppt/notesSlides/notesSlide12.xml" Id="R195ee96daf5e46f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7ab9d22d6e40e9" /><Relationship Type="http://schemas.openxmlformats.org/officeDocument/2006/relationships/notesSlide" Target="/ppt/notesSlides/notesSlide13.xml" Id="R7d276267def74a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65d3c83ac347d5" /><Relationship Type="http://schemas.openxmlformats.org/officeDocument/2006/relationships/notesSlide" Target="/ppt/notesSlides/notesSlide14.xml" Id="R002c1a65da7d45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f61fa6003b42b4" /><Relationship Type="http://schemas.openxmlformats.org/officeDocument/2006/relationships/notesSlide" Target="/ppt/notesSlides/notesSlide15.xml" Id="Rd2035d4ae76a483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d55853ba3a4917" /><Relationship Type="http://schemas.openxmlformats.org/officeDocument/2006/relationships/notesSlide" Target="/ppt/notesSlides/notesSlide16.xml" Id="Red08a0a602a54a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f4c0c47bd934034" /><Relationship Type="http://schemas.openxmlformats.org/officeDocument/2006/relationships/notesSlide" Target="/ppt/notesSlides/notesSlide17.xml" Id="R39bb2e1f4fe0468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effdcbd8a8479b" /><Relationship Type="http://schemas.openxmlformats.org/officeDocument/2006/relationships/notesSlide" Target="/ppt/notesSlides/notesSlide18.xml" Id="Ra5cb9deff07549f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ea80cbed4d244ab" /><Relationship Type="http://schemas.openxmlformats.org/officeDocument/2006/relationships/notesSlide" Target="/ppt/notesSlides/notesSlide19.xml" Id="R21af8645f3c2410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6fdeb3f328467b" /><Relationship Type="http://schemas.openxmlformats.org/officeDocument/2006/relationships/notesSlide" Target="/ppt/notesSlides/notesSlide20.xml" Id="R05d4f6e9bff64c1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1b579606fe4b3c" /><Relationship Type="http://schemas.openxmlformats.org/officeDocument/2006/relationships/notesSlide" Target="/ppt/notesSlides/notesSlide21.xml" Id="Rc1356e0b04c8479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9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第9讲 Baseline、实验规格与可复现实验工程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7-8 课之后，草图离判断门还差六项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8E565074-9FDC-4D4E-AE9A-C2931401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已建立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ED74DB10-6D51-4004-9389-3FE8DF42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机制假设列表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主假设 + 替代 + 反证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0A72F89C-D6B5-4ECC-9419-8C02FA42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研究判断 J1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六字段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04EDD0AD-03CB-4878-AC0A-6B8328B4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实验规格草图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变量清单</a:t>
            </a:r>
          </a:p>
        </p:txBody>
      </p:sp>
      <p:sp>
        <p:nvSpPr>
          <p:cNvPr id="10" name="p02-l-3">
            <a:extLst xmlns:a="http://schemas.openxmlformats.org/drawingml/2006/main">
              <a:ext uri="{FF2B5EF4-FFF2-40B4-BE49-F238E27FC236}">
                <a16:creationId xmlns:a16="http://schemas.microsoft.com/office/drawing/2014/main" id="{624681EE-A028-4D4B-A9A0-7215C86D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 8 课反馈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结构化记录</a:t>
            </a:r>
          </a:p>
        </p:txBody>
      </p:sp>
      <p:sp>
        <p:nvSpPr>
          <p:cNvPr id="11" name="p02-mid">
            <a:extLst xmlns:a="http://schemas.openxmlformats.org/drawingml/2006/main">
              <a:ext uri="{FF2B5EF4-FFF2-40B4-BE49-F238E27FC236}">
                <a16:creationId xmlns:a16="http://schemas.microsoft.com/office/drawing/2014/main" id="{262A5F36-FFCB-441F-B72F-B4E3DC5A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48150" y="2990850"/>
            <a:ext cx="3695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2-arrow">
            <a:extLst xmlns:a="http://schemas.openxmlformats.org/drawingml/2006/main">
              <a:ext uri="{FF2B5EF4-FFF2-40B4-BE49-F238E27FC236}">
                <a16:creationId xmlns:a16="http://schemas.microsoft.com/office/drawing/2014/main" id="{87C6CEE4-3010-4ED5-9CF4-4047C014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67000"/>
            <a:ext cx="876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772EBA43-8AE5-458D-AD25-DA379CC9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待补</a:t>
            </a:r>
          </a:p>
        </p:txBody>
      </p:sp>
      <p:sp>
        <p:nvSpPr>
          <p:cNvPr id="14" name="p02-n-0">
            <a:extLst xmlns:a="http://schemas.openxmlformats.org/drawingml/2006/main">
              <a:ext uri="{FF2B5EF4-FFF2-40B4-BE49-F238E27FC236}">
                <a16:creationId xmlns:a16="http://schemas.microsoft.com/office/drawing/2014/main" id="{435DE951-9559-4F36-A678-C762F10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p02-r-0">
            <a:extLst xmlns:a="http://schemas.openxmlformats.org/drawingml/2006/main">
              <a:ext uri="{FF2B5EF4-FFF2-40B4-BE49-F238E27FC236}">
                <a16:creationId xmlns:a16="http://schemas.microsoft.com/office/drawing/2014/main" id="{EE6F91F8-FFDB-4FFD-A833-F3908E5D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81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类型与公平性</a:t>
            </a:r>
          </a:p>
        </p:txBody>
      </p:sp>
      <p:sp>
        <p:nvSpPr>
          <p:cNvPr id="16" name="p02-n-1">
            <a:extLst xmlns:a="http://schemas.openxmlformats.org/drawingml/2006/main">
              <a:ext uri="{FF2B5EF4-FFF2-40B4-BE49-F238E27FC236}">
                <a16:creationId xmlns:a16="http://schemas.microsoft.com/office/drawing/2014/main" id="{5B2CC9ED-A053-4E57-B51E-AEC9627B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52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p02-r-1">
            <a:extLst xmlns:a="http://schemas.openxmlformats.org/drawingml/2006/main">
              <a:ext uri="{FF2B5EF4-FFF2-40B4-BE49-F238E27FC236}">
                <a16:creationId xmlns:a16="http://schemas.microsoft.com/office/drawing/2014/main" id="{2A348D9E-1089-42C7-858C-0C06D64B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52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停止条件、随机化、失败预案</a:t>
            </a:r>
          </a:p>
        </p:txBody>
      </p:sp>
      <p:sp>
        <p:nvSpPr>
          <p:cNvPr id="18" name="p02-n-2">
            <a:extLst xmlns:a="http://schemas.openxmlformats.org/drawingml/2006/main">
              <a:ext uri="{FF2B5EF4-FFF2-40B4-BE49-F238E27FC236}">
                <a16:creationId xmlns:a16="http://schemas.microsoft.com/office/drawing/2014/main" id="{F73F79F9-0712-413D-AC94-F5E47B03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p02-r-2">
            <a:extLst xmlns:a="http://schemas.openxmlformats.org/drawingml/2006/main">
              <a:ext uri="{FF2B5EF4-FFF2-40B4-BE49-F238E27FC236}">
                <a16:creationId xmlns:a16="http://schemas.microsoft.com/office/drawing/2014/main" id="{A2A4349C-C1E7-4772-B8F8-A31BF250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环境、配置、种子与数据</a:t>
            </a:r>
          </a:p>
        </p:txBody>
      </p:sp>
      <p:sp>
        <p:nvSpPr>
          <p:cNvPr id="20" name="p02-n-3">
            <a:extLst xmlns:a="http://schemas.openxmlformats.org/drawingml/2006/main">
              <a:ext uri="{FF2B5EF4-FFF2-40B4-BE49-F238E27FC236}">
                <a16:creationId xmlns:a16="http://schemas.microsoft.com/office/drawing/2014/main" id="{DD1B72CD-5551-47EC-85FA-B70DC684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p02-r-3">
            <a:extLst xmlns:a="http://schemas.openxmlformats.org/drawingml/2006/main">
              <a:ext uri="{FF2B5EF4-FFF2-40B4-BE49-F238E27FC236}">
                <a16:creationId xmlns:a16="http://schemas.microsoft.com/office/drawing/2014/main" id="{0044921D-EF08-4746-97D0-661AECB8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95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课反馈逐条处理</a:t>
            </a:r>
          </a:p>
        </p:txBody>
      </p:sp>
      <p:sp>
        <p:nvSpPr>
          <p:cNvPr id="22" name="p02-n-4">
            <a:extLst xmlns:a="http://schemas.openxmlformats.org/drawingml/2006/main">
              <a:ext uri="{FF2B5EF4-FFF2-40B4-BE49-F238E27FC236}">
                <a16:creationId xmlns:a16="http://schemas.microsoft.com/office/drawing/2014/main" id="{928FB153-29A1-426E-BB34-9BD37997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67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2-r-4">
            <a:extLst xmlns:a="http://schemas.openxmlformats.org/drawingml/2006/main">
              <a:ext uri="{FF2B5EF4-FFF2-40B4-BE49-F238E27FC236}">
                <a16:creationId xmlns:a16="http://schemas.microsoft.com/office/drawing/2014/main" id="{F6792B37-5AFB-4B9F-9434-2396DC41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8671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第二条研究判断 J2</a:t>
            </a:r>
          </a:p>
        </p:txBody>
      </p:sp>
      <p:sp>
        <p:nvSpPr>
          <p:cNvPr id="24" name="p02-n-5">
            <a:extLst xmlns:a="http://schemas.openxmlformats.org/drawingml/2006/main">
              <a:ext uri="{FF2B5EF4-FFF2-40B4-BE49-F238E27FC236}">
                <a16:creationId xmlns:a16="http://schemas.microsoft.com/office/drawing/2014/main" id="{84E8CB20-6A7E-49BA-A596-BC2E77CC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p02-r-5">
            <a:extLst xmlns:a="http://schemas.openxmlformats.org/drawingml/2006/main">
              <a:ext uri="{FF2B5EF4-FFF2-40B4-BE49-F238E27FC236}">
                <a16:creationId xmlns:a16="http://schemas.microsoft.com/office/drawing/2014/main" id="{B5C336BF-9ED9-475D-8F21-0C5E3F40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38650"/>
            <a:ext cx="3600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迁移完整项目模板</a:t>
            </a:r>
          </a:p>
        </p:txBody>
      </p:sp>
      <p:sp>
        <p:nvSpPr>
          <p:cNvPr id="26" name="p02-bottom">
            <a:extLst xmlns:a="http://schemas.openxmlformats.org/drawingml/2006/main">
              <a:ext uri="{FF2B5EF4-FFF2-40B4-BE49-F238E27FC236}">
                <a16:creationId xmlns:a16="http://schemas.microsoft.com/office/drawing/2014/main" id="{6C844554-6F84-41B9-A6F0-71F162A3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草图能跑 ≠ 别人能复现；判断门检查的是可复现材料。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本课产出是可复现的判断门材料初版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-0">
            <a:extLst xmlns:a="http://schemas.openxmlformats.org/drawingml/2006/main">
              <a:ext uri="{FF2B5EF4-FFF2-40B4-BE49-F238E27FC236}">
                <a16:creationId xmlns:a16="http://schemas.microsoft.com/office/drawing/2014/main" id="{7B7B3705-CA36-44B1-BDEA-A0D356F8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AB454581-AAC2-46B1-B408-2EA3F456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选公平 baseline</a:t>
            </a:r>
          </a:p>
        </p:txBody>
      </p:sp>
      <p:sp>
        <p:nvSpPr>
          <p:cNvPr id="8" name="p03-n-1">
            <a:extLst xmlns:a="http://schemas.openxmlformats.org/drawingml/2006/main">
              <a:ext uri="{FF2B5EF4-FFF2-40B4-BE49-F238E27FC236}">
                <a16:creationId xmlns:a16="http://schemas.microsoft.com/office/drawing/2014/main" id="{C40FB344-184C-4214-B583-CBE5811A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849F2763-4C48-4B67-8445-5FCFD2C8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补七字段规格</a:t>
            </a:r>
          </a:p>
        </p:txBody>
      </p:sp>
      <p:sp>
        <p:nvSpPr>
          <p:cNvPr id="10" name="p03-n-2">
            <a:extLst xmlns:a="http://schemas.openxmlformats.org/drawingml/2006/main">
              <a:ext uri="{FF2B5EF4-FFF2-40B4-BE49-F238E27FC236}">
                <a16:creationId xmlns:a16="http://schemas.microsoft.com/office/drawing/2014/main" id="{296030FE-8054-4387-AE34-5B3326CC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3ABD7028-36D6-4CC5-9175-F4619981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</a:t>
            </a:r>
          </a:p>
        </p:txBody>
      </p:sp>
      <p:sp>
        <p:nvSpPr>
          <p:cNvPr id="12" name="p03-n-3">
            <a:extLst xmlns:a="http://schemas.openxmlformats.org/drawingml/2006/main">
              <a:ext uri="{FF2B5EF4-FFF2-40B4-BE49-F238E27FC236}">
                <a16:creationId xmlns:a16="http://schemas.microsoft.com/office/drawing/2014/main" id="{C56D90D3-DF2C-4F32-B8CB-466564F0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0497B5E6-5DE8-4468-A4B4-57712B83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处理方差与种子</a:t>
            </a:r>
          </a:p>
        </p:txBody>
      </p:sp>
      <p:sp>
        <p:nvSpPr>
          <p:cNvPr id="14" name="p03-n-4">
            <a:extLst xmlns:a="http://schemas.openxmlformats.org/drawingml/2006/main">
              <a:ext uri="{FF2B5EF4-FFF2-40B4-BE49-F238E27FC236}">
                <a16:creationId xmlns:a16="http://schemas.microsoft.com/office/drawing/2014/main" id="{D729D5E8-8F4C-4A07-87D7-BE9DD0CA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9B4DEDDC-5F0D-4BCA-95BF-FAFBF1C4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逐条处理同伴反馈</a:t>
            </a:r>
          </a:p>
        </p:txBody>
      </p:sp>
      <p:sp>
        <p:nvSpPr>
          <p:cNvPr id="16" name="p03-n-5">
            <a:extLst xmlns:a="http://schemas.openxmlformats.org/drawingml/2006/main">
              <a:ext uri="{FF2B5EF4-FFF2-40B4-BE49-F238E27FC236}">
                <a16:creationId xmlns:a16="http://schemas.microsoft.com/office/drawing/2014/main" id="{342EB615-58F1-4559-A46B-F235F381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5EF94B14-2B14-4D86-80FD-C1A8C852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迁移模板不丢记录</a:t>
            </a:r>
          </a:p>
        </p:txBody>
      </p:sp>
      <p:sp>
        <p:nvSpPr>
          <p:cNvPr id="18" name="p03-n-6">
            <a:extLst xmlns:a="http://schemas.openxmlformats.org/drawingml/2006/main">
              <a:ext uri="{FF2B5EF4-FFF2-40B4-BE49-F238E27FC236}">
                <a16:creationId xmlns:a16="http://schemas.microsoft.com/office/drawing/2014/main" id="{9B4F68F7-B664-40E3-83CB-69B2EEE0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03-g-6">
            <a:extLst xmlns:a="http://schemas.openxmlformats.org/drawingml/2006/main">
              <a:ext uri="{FF2B5EF4-FFF2-40B4-BE49-F238E27FC236}">
                <a16:creationId xmlns:a16="http://schemas.microsoft.com/office/drawing/2014/main" id="{EE8ACF44-50E7-4578-A79C-E1F2DC26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对照八项门条件</a:t>
            </a:r>
          </a:p>
        </p:txBody>
      </p:sp>
      <p:sp>
        <p:nvSpPr>
          <p:cNvPr id="20" name="p03-sep">
            <a:extLst xmlns:a="http://schemas.openxmlformats.org/drawingml/2006/main">
              <a:ext uri="{FF2B5EF4-FFF2-40B4-BE49-F238E27FC236}">
                <a16:creationId xmlns:a16="http://schemas.microsoft.com/office/drawing/2014/main" id="{501104C5-EBFC-451F-9794-20BC502E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91250" y="2752725"/>
            <a:ext cx="331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3-out-title">
            <a:extLst xmlns:a="http://schemas.openxmlformats.org/drawingml/2006/main">
              <a:ext uri="{FF2B5EF4-FFF2-40B4-BE49-F238E27FC236}">
                <a16:creationId xmlns:a16="http://schemas.microsoft.com/office/drawing/2014/main" id="{87CE3F82-6EF0-42CA-BC88-E271587E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12395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</p:txBody>
      </p:sp>
      <p:sp>
        <p:nvSpPr>
          <p:cNvPr id="22" name="p03-out">
            <a:extLst xmlns:a="http://schemas.openxmlformats.org/drawingml/2006/main">
              <a:ext uri="{FF2B5EF4-FFF2-40B4-BE49-F238E27FC236}">
                <a16:creationId xmlns:a16="http://schemas.microsoft.com/office/drawing/2014/main" id="{C518E744-D9BD-4766-B0AA-781DFA86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4861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hypothesis-and-judgment.md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J2 六字段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peer-review.md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反馈处理 + 失败预案</a:t>
            </a:r>
          </a:p>
        </p:txBody>
      </p:sp>
      <p:sp>
        <p:nvSpPr>
          <p:cNvPr id="23" name="p03-bottom">
            <a:extLst xmlns:a="http://schemas.openxmlformats.org/drawingml/2006/main">
              <a:ext uri="{FF2B5EF4-FFF2-40B4-BE49-F238E27FC236}">
                <a16:creationId xmlns:a16="http://schemas.microsoft.com/office/drawing/2014/main" id="{58FABD77-E978-4670-BB8A-906ADB66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课后提交当前个人项目版本；条件以 assignments.md Checkpoint 2 为准。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是检验机制效应的公平参照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def">
            <a:extLst xmlns:a="http://schemas.openxmlformats.org/drawingml/2006/main">
              <a:ext uri="{FF2B5EF4-FFF2-40B4-BE49-F238E27FC236}">
                <a16:creationId xmlns:a16="http://schemas.microsoft.com/office/drawing/2014/main" id="{63965064-FFB8-4134-AD63-6A3883B9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990600"/>
            <a:ext cx="9867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= 用来回答‘方法效应是否真的来自假设机制’的公平参照</a:t>
            </a:r>
          </a:p>
        </p:txBody>
      </p:sp>
      <p:sp>
        <p:nvSpPr>
          <p:cNvPr id="7" name="p04-l-0">
            <a:extLst xmlns:a="http://schemas.openxmlformats.org/drawingml/2006/main">
              <a:ext uri="{FF2B5EF4-FFF2-40B4-BE49-F238E27FC236}">
                <a16:creationId xmlns:a16="http://schemas.microsoft.com/office/drawing/2014/main" id="{25E269D9-9242-4E5C-89DE-30A2BD04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朴素</a:t>
            </a:r>
          </a:p>
        </p:txBody>
      </p:sp>
      <p:sp>
        <p:nvSpPr>
          <p:cNvPr id="8" name="p04-t-0">
            <a:extLst xmlns:a="http://schemas.openxmlformats.org/drawingml/2006/main">
              <a:ext uri="{FF2B5EF4-FFF2-40B4-BE49-F238E27FC236}">
                <a16:creationId xmlns:a16="http://schemas.microsoft.com/office/drawing/2014/main" id="{FA4B1034-6FF0-4A48-ABF9-0C3C5143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不使用目标机制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贯穿案例：虚构教学例：自由摘要</a:t>
            </a:r>
          </a:p>
        </p:txBody>
      </p:sp>
      <p:sp>
        <p:nvSpPr>
          <p:cNvPr id="9" name="p04-l-1">
            <a:extLst xmlns:a="http://schemas.openxmlformats.org/drawingml/2006/main">
              <a:ext uri="{FF2B5EF4-FFF2-40B4-BE49-F238E27FC236}">
                <a16:creationId xmlns:a16="http://schemas.microsoft.com/office/drawing/2014/main" id="{7EFB866C-FCC0-403A-BD2A-EE0314EB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</a:t>
            </a:r>
          </a:p>
        </p:txBody>
      </p:sp>
      <p:sp>
        <p:nvSpPr>
          <p:cNvPr id="10" name="p04-t-1">
            <a:extLst xmlns:a="http://schemas.openxmlformats.org/drawingml/2006/main">
              <a:ext uri="{FF2B5EF4-FFF2-40B4-BE49-F238E27FC236}">
                <a16:creationId xmlns:a16="http://schemas.microsoft.com/office/drawing/2014/main" id="{476FB04C-B0B2-47F1-9E38-A872B473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公开、可比的现成方法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贯穿案例：虚构教学例：few-shot 摘要</a:t>
            </a:r>
          </a:p>
        </p:txBody>
      </p:sp>
      <p:sp>
        <p:nvSpPr>
          <p:cNvPr id="11" name="p04-l-2">
            <a:extLst xmlns:a="http://schemas.openxmlformats.org/drawingml/2006/main">
              <a:ext uri="{FF2B5EF4-FFF2-40B4-BE49-F238E27FC236}">
                <a16:creationId xmlns:a16="http://schemas.microsoft.com/office/drawing/2014/main" id="{8050421B-82D4-4E96-ABF1-C5F0F656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消融</a:t>
            </a:r>
          </a:p>
        </p:txBody>
      </p:sp>
      <p:sp>
        <p:nvSpPr>
          <p:cNvPr id="12" name="p04-t-2">
            <a:extLst xmlns:a="http://schemas.openxmlformats.org/drawingml/2006/main">
              <a:ext uri="{FF2B5EF4-FFF2-40B4-BE49-F238E27FC236}">
                <a16:creationId xmlns:a16="http://schemas.microsoft.com/office/drawing/2014/main" id="{7295EA98-4895-478B-9EB3-AE4B4CF6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去掉一个关键模块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贯穿案例：虚构教学例：阅读卡去定位</a:t>
            </a:r>
          </a:p>
        </p:txBody>
      </p:sp>
      <p:sp>
        <p:nvSpPr>
          <p:cNvPr id="13" name="p04-bottom">
            <a:extLst xmlns:a="http://schemas.openxmlformats.org/drawingml/2006/main">
              <a:ext uri="{FF2B5EF4-FFF2-40B4-BE49-F238E27FC236}">
                <a16:creationId xmlns:a16="http://schemas.microsoft.com/office/drawing/2014/main" id="{CE2D0DE1-3034-488D-A59F-5AD8E542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19650"/>
            <a:ext cx="7543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判断门至少需要 1 个可执行 baseline，并说明它为什么公平。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公平 baseline 要求五项条件同时对等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n-0">
            <a:extLst xmlns:a="http://schemas.openxmlformats.org/drawingml/2006/main">
              <a:ext uri="{FF2B5EF4-FFF2-40B4-BE49-F238E27FC236}">
                <a16:creationId xmlns:a16="http://schemas.microsoft.com/office/drawing/2014/main" id="{96A3A6FF-AC5D-4338-B039-153B1E77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5-main-0">
            <a:extLst xmlns:a="http://schemas.openxmlformats.org/drawingml/2006/main">
              <a:ext uri="{FF2B5EF4-FFF2-40B4-BE49-F238E27FC236}">
                <a16:creationId xmlns:a16="http://schemas.microsoft.com/office/drawing/2014/main" id="{1FB0AFCE-6E8A-4A5A-82C6-3C6FF6E5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0668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同一批数据 / 论文 / 任务</a:t>
            </a:r>
          </a:p>
        </p:txBody>
      </p:sp>
      <p:sp>
        <p:nvSpPr>
          <p:cNvPr id="8" name="p05-why-0">
            <a:extLst xmlns:a="http://schemas.openxmlformats.org/drawingml/2006/main">
              <a:ext uri="{FF2B5EF4-FFF2-40B4-BE49-F238E27FC236}">
                <a16:creationId xmlns:a16="http://schemas.microsoft.com/office/drawing/2014/main" id="{7741617C-01C9-44CE-9D4D-6C50271B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避免难度差异</a:t>
            </a:r>
          </a:p>
        </p:txBody>
      </p:sp>
      <p:sp>
        <p:nvSpPr>
          <p:cNvPr id="9" name="p05-n-1">
            <a:extLst xmlns:a="http://schemas.openxmlformats.org/drawingml/2006/main">
              <a:ext uri="{FF2B5EF4-FFF2-40B4-BE49-F238E27FC236}">
                <a16:creationId xmlns:a16="http://schemas.microsoft.com/office/drawing/2014/main" id="{E60D7B5C-B064-45BD-B87D-50BF0975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5-main-1">
            <a:extLst xmlns:a="http://schemas.openxmlformats.org/drawingml/2006/main">
              <a:ext uri="{FF2B5EF4-FFF2-40B4-BE49-F238E27FC236}">
                <a16:creationId xmlns:a16="http://schemas.microsoft.com/office/drawing/2014/main" id="{BF7CA254-14BB-4EC0-917E-208A6C88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859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模型、参数与种子一致</a:t>
            </a:r>
          </a:p>
        </p:txBody>
      </p:sp>
      <p:sp>
        <p:nvSpPr>
          <p:cNvPr id="11" name="p05-why-1">
            <a:extLst xmlns:a="http://schemas.openxmlformats.org/drawingml/2006/main">
              <a:ext uri="{FF2B5EF4-FFF2-40B4-BE49-F238E27FC236}">
                <a16:creationId xmlns:a16="http://schemas.microsoft.com/office/drawing/2014/main" id="{F9825687-DFAC-4580-B59C-824CBD8D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859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避免配置差异</a:t>
            </a:r>
          </a:p>
        </p:txBody>
      </p:sp>
      <p:sp>
        <p:nvSpPr>
          <p:cNvPr id="12" name="p05-n-2">
            <a:extLst xmlns:a="http://schemas.openxmlformats.org/drawingml/2006/main">
              <a:ext uri="{FF2B5EF4-FFF2-40B4-BE49-F238E27FC236}">
                <a16:creationId xmlns:a16="http://schemas.microsoft.com/office/drawing/2014/main" id="{7A305979-4305-4010-ADA8-EA223C1F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5-main-2">
            <a:extLst xmlns:a="http://schemas.openxmlformats.org/drawingml/2006/main">
              <a:ext uri="{FF2B5EF4-FFF2-40B4-BE49-F238E27FC236}">
                <a16:creationId xmlns:a16="http://schemas.microsoft.com/office/drawing/2014/main" id="{E2B0410C-3421-4C83-957A-07E7DA77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同一评价协议与计算口径</a:t>
            </a:r>
          </a:p>
        </p:txBody>
      </p:sp>
      <p:sp>
        <p:nvSpPr>
          <p:cNvPr id="14" name="p05-why-2">
            <a:extLst xmlns:a="http://schemas.openxmlformats.org/drawingml/2006/main">
              <a:ext uri="{FF2B5EF4-FFF2-40B4-BE49-F238E27FC236}">
                <a16:creationId xmlns:a16="http://schemas.microsoft.com/office/drawing/2014/main" id="{5C06E732-2F65-4897-8B0D-92647F10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避免评价者偏倚</a:t>
            </a:r>
          </a:p>
        </p:txBody>
      </p:sp>
      <p:sp>
        <p:nvSpPr>
          <p:cNvPr id="15" name="p05-n-3">
            <a:extLst xmlns:a="http://schemas.openxmlformats.org/drawingml/2006/main">
              <a:ext uri="{FF2B5EF4-FFF2-40B4-BE49-F238E27FC236}">
                <a16:creationId xmlns:a16="http://schemas.microsoft.com/office/drawing/2014/main" id="{79734CFE-95B5-4A25-A695-9AE4AE4F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5-main-3">
            <a:extLst xmlns:a="http://schemas.openxmlformats.org/drawingml/2006/main">
              <a:ext uri="{FF2B5EF4-FFF2-40B4-BE49-F238E27FC236}">
                <a16:creationId xmlns:a16="http://schemas.microsoft.com/office/drawing/2014/main" id="{F01C0F4E-C5E1-4CBA-80DE-7388C17A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运行次数与停止条件相同</a:t>
            </a:r>
          </a:p>
        </p:txBody>
      </p:sp>
      <p:sp>
        <p:nvSpPr>
          <p:cNvPr id="17" name="p05-why-3">
            <a:extLst xmlns:a="http://schemas.openxmlformats.org/drawingml/2006/main">
              <a:ext uri="{FF2B5EF4-FFF2-40B4-BE49-F238E27FC236}">
                <a16:creationId xmlns:a16="http://schemas.microsoft.com/office/drawing/2014/main" id="{E487D9A9-3764-4830-9A68-D2324D27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242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避免噪声差异</a:t>
            </a:r>
          </a:p>
        </p:txBody>
      </p:sp>
      <p:sp>
        <p:nvSpPr>
          <p:cNvPr id="18" name="p05-n-4">
            <a:extLst xmlns:a="http://schemas.openxmlformats.org/drawingml/2006/main">
              <a:ext uri="{FF2B5EF4-FFF2-40B4-BE49-F238E27FC236}">
                <a16:creationId xmlns:a16="http://schemas.microsoft.com/office/drawing/2014/main" id="{1CA7B1CA-9DAC-49FD-8FB3-F9264B16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05-main-4">
            <a:extLst xmlns:a="http://schemas.openxmlformats.org/drawingml/2006/main">
              <a:ext uri="{FF2B5EF4-FFF2-40B4-BE49-F238E27FC236}">
                <a16:creationId xmlns:a16="http://schemas.microsoft.com/office/drawing/2014/main" id="{95FE5B7A-FC3B-4279-9A7C-7827D4A3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失败完整记录</a:t>
            </a:r>
          </a:p>
        </p:txBody>
      </p:sp>
      <p:sp>
        <p:nvSpPr>
          <p:cNvPr id="20" name="p05-why-4">
            <a:extLst xmlns:a="http://schemas.openxmlformats.org/drawingml/2006/main">
              <a:ext uri="{FF2B5EF4-FFF2-40B4-BE49-F238E27FC236}">
                <a16:creationId xmlns:a16="http://schemas.microsoft.com/office/drawing/2014/main" id="{0FEE630E-C810-4B8A-A0F2-94976ACB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434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避免选择性删除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7905B9F9-88A9-42EA-BB94-47BFC427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95900"/>
            <a:ext cx="7391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控制变量一致 + 混杂变量可识别，才有资格比较。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五类不公平做法都会把偏倚写成效应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table-h-0">
            <a:extLst xmlns:a="http://schemas.openxmlformats.org/drawingml/2006/main">
              <a:ext uri="{FF2B5EF4-FFF2-40B4-BE49-F238E27FC236}">
                <a16:creationId xmlns:a16="http://schemas.microsoft.com/office/drawing/2014/main" id="{C027FE04-6795-4B1D-A74D-E93B4D23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7" name="p06-table-h-1">
            <a:extLst xmlns:a="http://schemas.openxmlformats.org/drawingml/2006/main">
              <a:ext uri="{FF2B5EF4-FFF2-40B4-BE49-F238E27FC236}">
                <a16:creationId xmlns:a16="http://schemas.microsoft.com/office/drawing/2014/main" id="{4C640871-72F6-43E3-AA56-B8E2CC51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066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不公平点</a:t>
            </a:r>
          </a:p>
        </p:txBody>
      </p:sp>
      <p:sp>
        <p:nvSpPr>
          <p:cNvPr id="8" name="p06-table-h-2">
            <a:extLst xmlns:a="http://schemas.openxmlformats.org/drawingml/2006/main">
              <a:ext uri="{FF2B5EF4-FFF2-40B4-BE49-F238E27FC236}">
                <a16:creationId xmlns:a16="http://schemas.microsoft.com/office/drawing/2014/main" id="{54FBAB27-9B7E-48D5-A7DE-C78772C9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668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结果为何不可解释</a:t>
            </a:r>
          </a:p>
        </p:txBody>
      </p:sp>
      <p:sp>
        <p:nvSpPr>
          <p:cNvPr id="9" name="p06-table-r0-0">
            <a:extLst xmlns:a="http://schemas.openxmlformats.org/drawingml/2006/main">
              <a:ext uri="{FF2B5EF4-FFF2-40B4-BE49-F238E27FC236}">
                <a16:creationId xmlns:a16="http://schemas.microsoft.com/office/drawing/2014/main" id="{53A5618E-D9F2-4C7F-AC44-65F14D9F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数据不一致</a:t>
            </a:r>
          </a:p>
        </p:txBody>
      </p:sp>
      <p:sp>
        <p:nvSpPr>
          <p:cNvPr id="10" name="p06-table-r0-1">
            <a:extLst xmlns:a="http://schemas.openxmlformats.org/drawingml/2006/main">
              <a:ext uri="{FF2B5EF4-FFF2-40B4-BE49-F238E27FC236}">
                <a16:creationId xmlns:a16="http://schemas.microsoft.com/office/drawing/2014/main" id="{60A65376-0CB8-463B-BC45-0C3E1D2C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524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 集 vs B 集</a:t>
            </a:r>
          </a:p>
        </p:txBody>
      </p:sp>
      <p:sp>
        <p:nvSpPr>
          <p:cNvPr id="11" name="p06-table-r0-2">
            <a:extLst xmlns:a="http://schemas.openxmlformats.org/drawingml/2006/main">
              <a:ext uri="{FF2B5EF4-FFF2-40B4-BE49-F238E27FC236}">
                <a16:creationId xmlns:a16="http://schemas.microsoft.com/office/drawing/2014/main" id="{5BEC54CE-057F-4DBA-A4D6-A930CD4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240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差异可能来自难度</a:t>
            </a:r>
          </a:p>
        </p:txBody>
      </p:sp>
      <p:sp>
        <p:nvSpPr>
          <p:cNvPr id="12" name="p06-table-r1-0">
            <a:extLst xmlns:a="http://schemas.openxmlformats.org/drawingml/2006/main">
              <a:ext uri="{FF2B5EF4-FFF2-40B4-BE49-F238E27FC236}">
                <a16:creationId xmlns:a16="http://schemas.microsoft.com/office/drawing/2014/main" id="{0430C8C2-C748-4DC4-BB19-0AF1EA91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超参不对等</a:t>
            </a:r>
          </a:p>
        </p:txBody>
      </p:sp>
      <p:sp>
        <p:nvSpPr>
          <p:cNvPr id="13" name="p06-table-r1-1">
            <a:extLst xmlns:a="http://schemas.openxmlformats.org/drawingml/2006/main">
              <a:ext uri="{FF2B5EF4-FFF2-40B4-BE49-F238E27FC236}">
                <a16:creationId xmlns:a16="http://schemas.microsoft.com/office/drawing/2014/main" id="{76674344-5726-4798-A865-9482FAA1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只给实验组调参</a:t>
            </a:r>
          </a:p>
        </p:txBody>
      </p:sp>
      <p:sp>
        <p:nvSpPr>
          <p:cNvPr id="14" name="p06-table-r1-2">
            <a:extLst xmlns:a="http://schemas.openxmlformats.org/drawingml/2006/main">
              <a:ext uri="{FF2B5EF4-FFF2-40B4-BE49-F238E27FC236}">
                <a16:creationId xmlns:a16="http://schemas.microsoft.com/office/drawing/2014/main" id="{8D735027-621A-4987-A268-35E09E8E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比较的是调参投入</a:t>
            </a:r>
          </a:p>
        </p:txBody>
      </p:sp>
      <p:sp>
        <p:nvSpPr>
          <p:cNvPr id="15" name="p06-table-r2-0">
            <a:extLst xmlns:a="http://schemas.openxmlformats.org/drawingml/2006/main">
              <a:ext uri="{FF2B5EF4-FFF2-40B4-BE49-F238E27FC236}">
                <a16:creationId xmlns:a16="http://schemas.microsoft.com/office/drawing/2014/main" id="{797B33F0-1C2F-47DF-AF04-C56F3FB5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评价不一致</a:t>
            </a:r>
          </a:p>
        </p:txBody>
      </p:sp>
      <p:sp>
        <p:nvSpPr>
          <p:cNvPr id="16" name="p06-table-r2-1">
            <a:extLst xmlns:a="http://schemas.openxmlformats.org/drawingml/2006/main">
              <a:ext uri="{FF2B5EF4-FFF2-40B4-BE49-F238E27FC236}">
                <a16:creationId xmlns:a16="http://schemas.microsoft.com/office/drawing/2014/main" id="{FC3D014E-48B0-45F2-9730-68A6A7A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盲评 vs 非盲评</a:t>
            </a:r>
          </a:p>
        </p:txBody>
      </p:sp>
      <p:sp>
        <p:nvSpPr>
          <p:cNvPr id="17" name="p06-table-r2-2">
            <a:extLst xmlns:a="http://schemas.openxmlformats.org/drawingml/2006/main">
              <a:ext uri="{FF2B5EF4-FFF2-40B4-BE49-F238E27FC236}">
                <a16:creationId xmlns:a16="http://schemas.microsoft.com/office/drawing/2014/main" id="{3C64C9D5-446B-4BE4-9369-CD69DD24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混入评价者偏倚</a:t>
            </a:r>
          </a:p>
        </p:txBody>
      </p:sp>
      <p:sp>
        <p:nvSpPr>
          <p:cNvPr id="18" name="p06-table-r3-0">
            <a:extLst xmlns:a="http://schemas.openxmlformats.org/drawingml/2006/main">
              <a:ext uri="{FF2B5EF4-FFF2-40B4-BE49-F238E27FC236}">
                <a16:creationId xmlns:a16="http://schemas.microsoft.com/office/drawing/2014/main" id="{DA18C45B-8C9F-4FF2-9491-ABFB9BEE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次数不对等</a:t>
            </a:r>
          </a:p>
        </p:txBody>
      </p:sp>
      <p:sp>
        <p:nvSpPr>
          <p:cNvPr id="19" name="p06-table-r3-1">
            <a:extLst xmlns:a="http://schemas.openxmlformats.org/drawingml/2006/main">
              <a:ext uri="{FF2B5EF4-FFF2-40B4-BE49-F238E27FC236}">
                <a16:creationId xmlns:a16="http://schemas.microsoft.com/office/drawing/2014/main" id="{799ADA21-ADDE-48F8-BBB6-59DF0F8F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814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次均值 vs 1 次</a:t>
            </a:r>
          </a:p>
        </p:txBody>
      </p:sp>
      <p:sp>
        <p:nvSpPr>
          <p:cNvPr id="20" name="p06-table-r3-2">
            <a:extLst xmlns:a="http://schemas.openxmlformats.org/drawingml/2006/main">
              <a:ext uri="{FF2B5EF4-FFF2-40B4-BE49-F238E27FC236}">
                <a16:creationId xmlns:a16="http://schemas.microsoft.com/office/drawing/2014/main" id="{3BC071DD-49C6-4F8A-B8B4-791135CE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814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混入随机噪声</a:t>
            </a:r>
          </a:p>
        </p:txBody>
      </p:sp>
      <p:sp>
        <p:nvSpPr>
          <p:cNvPr id="21" name="p06-table-r4-0">
            <a:extLst xmlns:a="http://schemas.openxmlformats.org/drawingml/2006/main">
              <a:ext uri="{FF2B5EF4-FFF2-40B4-BE49-F238E27FC236}">
                <a16:creationId xmlns:a16="http://schemas.microsoft.com/office/drawing/2014/main" id="{BF0E2CFA-901C-468C-80FF-D7623B83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失败被删除</a:t>
            </a:r>
          </a:p>
        </p:txBody>
      </p:sp>
      <p:sp>
        <p:nvSpPr>
          <p:cNvPr id="22" name="p06-table-r4-1">
            <a:extLst xmlns:a="http://schemas.openxmlformats.org/drawingml/2006/main">
              <a:ext uri="{FF2B5EF4-FFF2-40B4-BE49-F238E27FC236}">
                <a16:creationId xmlns:a16="http://schemas.microsoft.com/office/drawing/2014/main" id="{020E500B-5697-486F-8ABE-5E63978D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672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只留成功运行</a:t>
            </a:r>
          </a:p>
        </p:txBody>
      </p:sp>
      <p:sp>
        <p:nvSpPr>
          <p:cNvPr id="23" name="p06-table-r4-2">
            <a:extLst xmlns:a="http://schemas.openxmlformats.org/drawingml/2006/main">
              <a:ext uri="{FF2B5EF4-FFF2-40B4-BE49-F238E27FC236}">
                <a16:creationId xmlns:a16="http://schemas.microsoft.com/office/drawing/2014/main" id="{725A9F75-3E61-47CB-820F-61D4A4A5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672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形成选择性报告</a:t>
            </a:r>
          </a:p>
        </p:txBody>
      </p:sp>
      <p:sp>
        <p:nvSpPr>
          <p:cNvPr id="24" name="p06-bottom">
            <a:extLst xmlns:a="http://schemas.openxmlformats.org/drawingml/2006/main">
              <a:ext uri="{FF2B5EF4-FFF2-40B4-BE49-F238E27FC236}">
                <a16:creationId xmlns:a16="http://schemas.microsoft.com/office/drawing/2014/main" id="{2C4BB1F3-C770-410D-8444-280FC38C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86350"/>
            <a:ext cx="704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必须可执行；失败仍是实验记录的一部分。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一句‘方法有效’无法证明实验可复现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watermark">
            <a:extLst xmlns:a="http://schemas.openxmlformats.org/drawingml/2006/main">
              <a:ext uri="{FF2B5EF4-FFF2-40B4-BE49-F238E27FC236}">
                <a16:creationId xmlns:a16="http://schemas.microsoft.com/office/drawing/2014/main" id="{E85B761D-129A-4623-A6CD-D283A455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虚构教学反例｜非真实实验结果</a:t>
            </a:r>
          </a:p>
        </p:txBody>
      </p:sp>
      <p:sp>
        <p:nvSpPr>
          <p:cNvPr id="7" name="p07-claim">
            <a:extLst xmlns:a="http://schemas.openxmlformats.org/drawingml/2006/main">
              <a:ext uri="{FF2B5EF4-FFF2-40B4-BE49-F238E27FC236}">
                <a16:creationId xmlns:a16="http://schemas.microsoft.com/office/drawing/2014/main" id="{295F55E2-598B-429F-818D-15479FB9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49530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“用 GPT-4 生成摘要。阅读卡组遗漏率更低，所以方法有效。”</a:t>
            </a:r>
          </a:p>
        </p:txBody>
      </p:sp>
      <p:sp>
        <p:nvSpPr>
          <p:cNvPr id="8" name="p07-question">
            <a:extLst xmlns:a="http://schemas.openxmlformats.org/drawingml/2006/main">
              <a:ext uri="{FF2B5EF4-FFF2-40B4-BE49-F238E27FC236}">
                <a16:creationId xmlns:a16="http://schemas.microsoft.com/office/drawing/2014/main" id="{B4CCDD16-C83A-4ECC-9575-6E6CB58D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76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这句话缺了什么？</a:t>
            </a:r>
          </a:p>
        </p:txBody>
      </p:sp>
      <p:sp>
        <p:nvSpPr>
          <p:cNvPr id="9" name="p07-judgment">
            <a:extLst xmlns:a="http://schemas.openxmlformats.org/drawingml/2006/main">
              <a:ext uri="{FF2B5EF4-FFF2-40B4-BE49-F238E27FC236}">
                <a16:creationId xmlns:a16="http://schemas.microsoft.com/office/drawing/2014/main" id="{54E1A9A4-CE49-4F24-9FB4-7EB75823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4533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没有运行条件，‘有效’无法被复核。</a:t>
            </a:r>
          </a:p>
        </p:txBody>
      </p:sp>
      <p:sp>
        <p:nvSpPr>
          <p:cNvPr id="10" name="p07-n-0">
            <a:extLst xmlns:a="http://schemas.openxmlformats.org/drawingml/2006/main">
              <a:ext uri="{FF2B5EF4-FFF2-40B4-BE49-F238E27FC236}">
                <a16:creationId xmlns:a16="http://schemas.microsoft.com/office/drawing/2014/main" id="{8AAA7CF0-011A-4810-8253-39753156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00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1" name="p07-m-0">
            <a:extLst xmlns:a="http://schemas.openxmlformats.org/drawingml/2006/main">
              <a:ext uri="{FF2B5EF4-FFF2-40B4-BE49-F238E27FC236}">
                <a16:creationId xmlns:a16="http://schemas.microsoft.com/office/drawing/2014/main" id="{0F633CD0-96F0-4AAB-8D09-A553D457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2001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模型版本 / snapshot</a:t>
            </a:r>
          </a:p>
        </p:txBody>
      </p:sp>
      <p:sp>
        <p:nvSpPr>
          <p:cNvPr id="12" name="p07-n-1">
            <a:extLst xmlns:a="http://schemas.openxmlformats.org/drawingml/2006/main">
              <a:ext uri="{FF2B5EF4-FFF2-40B4-BE49-F238E27FC236}">
                <a16:creationId xmlns:a16="http://schemas.microsoft.com/office/drawing/2014/main" id="{15D366FA-23D5-415D-A457-0A503B3D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3" name="p07-m-1">
            <a:extLst xmlns:a="http://schemas.openxmlformats.org/drawingml/2006/main">
              <a:ext uri="{FF2B5EF4-FFF2-40B4-BE49-F238E27FC236}">
                <a16:creationId xmlns:a16="http://schemas.microsoft.com/office/drawing/2014/main" id="{A0401979-263C-4188-9D64-4F616DEB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621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温度、max_tokens、prompt</a:t>
            </a:r>
          </a:p>
        </p:txBody>
      </p:sp>
      <p:sp>
        <p:nvSpPr>
          <p:cNvPr id="14" name="p07-n-2">
            <a:extLst xmlns:a="http://schemas.openxmlformats.org/drawingml/2006/main">
              <a:ext uri="{FF2B5EF4-FFF2-40B4-BE49-F238E27FC236}">
                <a16:creationId xmlns:a16="http://schemas.microsoft.com/office/drawing/2014/main" id="{104929DD-61C3-4E66-BAAC-DE449C0C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5" name="p07-m-2">
            <a:extLst xmlns:a="http://schemas.openxmlformats.org/drawingml/2006/main">
              <a:ext uri="{FF2B5EF4-FFF2-40B4-BE49-F238E27FC236}">
                <a16:creationId xmlns:a16="http://schemas.microsoft.com/office/drawing/2014/main" id="{224E2378-28B0-4EF3-9B45-907B42B8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随机种子</a:t>
            </a:r>
          </a:p>
        </p:txBody>
      </p:sp>
      <p:sp>
        <p:nvSpPr>
          <p:cNvPr id="16" name="p07-n-3">
            <a:extLst xmlns:a="http://schemas.openxmlformats.org/drawingml/2006/main">
              <a:ext uri="{FF2B5EF4-FFF2-40B4-BE49-F238E27FC236}">
                <a16:creationId xmlns:a16="http://schemas.microsoft.com/office/drawing/2014/main" id="{545E03EC-63B9-4CBB-8015-9F5D0D1F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8607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7" name="p07-m-3">
            <a:extLst xmlns:a="http://schemas.openxmlformats.org/drawingml/2006/main">
              <a:ext uri="{FF2B5EF4-FFF2-40B4-BE49-F238E27FC236}">
                <a16:creationId xmlns:a16="http://schemas.microsoft.com/office/drawing/2014/main" id="{3F37D714-C796-4E2B-B949-0F013CAC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8607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篇论文来源与快照</a:t>
            </a:r>
          </a:p>
        </p:txBody>
      </p:sp>
      <p:sp>
        <p:nvSpPr>
          <p:cNvPr id="18" name="p07-n-4">
            <a:extLst xmlns:a="http://schemas.openxmlformats.org/drawingml/2006/main">
              <a:ext uri="{FF2B5EF4-FFF2-40B4-BE49-F238E27FC236}">
                <a16:creationId xmlns:a16="http://schemas.microsoft.com/office/drawing/2014/main" id="{01B95EF6-B81C-4A91-8C49-D11863A9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p07-m-4">
            <a:extLst xmlns:a="http://schemas.openxmlformats.org/drawingml/2006/main">
              <a:ext uri="{FF2B5EF4-FFF2-40B4-BE49-F238E27FC236}">
                <a16:creationId xmlns:a16="http://schemas.microsoft.com/office/drawing/2014/main" id="{FEE1177B-CFD0-429C-AC36-04575BE3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</a:t>
            </a:r>
          </a:p>
        </p:txBody>
      </p:sp>
      <p:sp>
        <p:nvSpPr>
          <p:cNvPr id="20" name="p07-n-5">
            <a:extLst xmlns:a="http://schemas.openxmlformats.org/drawingml/2006/main">
              <a:ext uri="{FF2B5EF4-FFF2-40B4-BE49-F238E27FC236}">
                <a16:creationId xmlns:a16="http://schemas.microsoft.com/office/drawing/2014/main" id="{E65C74CE-72FF-4B21-82A0-B40A1A6C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00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p07-m-5">
            <a:extLst xmlns:a="http://schemas.openxmlformats.org/drawingml/2006/main">
              <a:ext uri="{FF2B5EF4-FFF2-40B4-BE49-F238E27FC236}">
                <a16:creationId xmlns:a16="http://schemas.microsoft.com/office/drawing/2014/main" id="{B8B7D866-682D-42EF-8E25-E75099A7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00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rubric、标注者、kappa</a:t>
            </a:r>
          </a:p>
        </p:txBody>
      </p:sp>
      <p:sp>
        <p:nvSpPr>
          <p:cNvPr id="22" name="p07-n-6">
            <a:extLst xmlns:a="http://schemas.openxmlformats.org/drawingml/2006/main">
              <a:ext uri="{FF2B5EF4-FFF2-40B4-BE49-F238E27FC236}">
                <a16:creationId xmlns:a16="http://schemas.microsoft.com/office/drawing/2014/main" id="{F873309D-86BA-4813-8B8F-324EECD8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3" name="p07-m-6">
            <a:extLst xmlns:a="http://schemas.openxmlformats.org/drawingml/2006/main">
              <a:ext uri="{FF2B5EF4-FFF2-40B4-BE49-F238E27FC236}">
                <a16:creationId xmlns:a16="http://schemas.microsoft.com/office/drawing/2014/main" id="{4F48AB8F-3241-4BE9-BCD3-07AD4714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是否同条件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31B38EB3-DA8F-4611-B1F9-6B019193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19700"/>
            <a:ext cx="803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缺配置与种子 = 不可复现｜单次运行 = 不能把噪声写成结论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七字段把假设、对照与停止规则锁在一起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able-h-0">
            <a:extLst xmlns:a="http://schemas.openxmlformats.org/drawingml/2006/main">
              <a:ext uri="{FF2B5EF4-FFF2-40B4-BE49-F238E27FC236}">
                <a16:creationId xmlns:a16="http://schemas.microsoft.com/office/drawing/2014/main" id="{A2BE6434-DE06-4378-A3C4-A1B527C7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2500"/>
            <a:ext cx="2209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7" name="p08-table-h-1">
            <a:extLst xmlns:a="http://schemas.openxmlformats.org/drawingml/2006/main">
              <a:ext uri="{FF2B5EF4-FFF2-40B4-BE49-F238E27FC236}">
                <a16:creationId xmlns:a16="http://schemas.microsoft.com/office/drawing/2014/main" id="{DA17B26E-7983-491D-8F3A-BD3DD9C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952500"/>
            <a:ext cx="893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贯穿案例最小写法</a:t>
            </a:r>
          </a:p>
        </p:txBody>
      </p:sp>
      <p:sp>
        <p:nvSpPr>
          <p:cNvPr id="8" name="p08-table-r0-0">
            <a:extLst xmlns:a="http://schemas.openxmlformats.org/drawingml/2006/main">
              <a:ext uri="{FF2B5EF4-FFF2-40B4-BE49-F238E27FC236}">
                <a16:creationId xmlns:a16="http://schemas.microsoft.com/office/drawing/2014/main" id="{B4AB6834-9F48-4EC2-8565-F5875FA0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9" name="p08-table-r0-1">
            <a:extLst xmlns:a="http://schemas.openxmlformats.org/drawingml/2006/main">
              <a:ext uri="{FF2B5EF4-FFF2-40B4-BE49-F238E27FC236}">
                <a16:creationId xmlns:a16="http://schemas.microsoft.com/office/drawing/2014/main" id="{EAC39DF0-D97C-4CE9-8A53-6D666A87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716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H1：字段约束 → 强制标注 → 错读更易暴露</a:t>
            </a:r>
          </a:p>
        </p:txBody>
      </p:sp>
      <p:sp>
        <p:nvSpPr>
          <p:cNvPr id="10" name="p08-table-r1-0">
            <a:extLst xmlns:a="http://schemas.openxmlformats.org/drawingml/2006/main">
              <a:ext uri="{FF2B5EF4-FFF2-40B4-BE49-F238E27FC236}">
                <a16:creationId xmlns:a16="http://schemas.microsoft.com/office/drawing/2014/main" id="{7381359A-A3E0-458F-A500-B5ECA05B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变量</a:t>
            </a:r>
          </a:p>
        </p:txBody>
      </p:sp>
      <p:sp>
        <p:nvSpPr>
          <p:cNvPr id="11" name="p08-table-r1-1">
            <a:extLst xmlns:a="http://schemas.openxmlformats.org/drawingml/2006/main">
              <a:ext uri="{FF2B5EF4-FFF2-40B4-BE49-F238E27FC236}">
                <a16:creationId xmlns:a16="http://schemas.microsoft.com/office/drawing/2014/main" id="{BE5E21CC-CEFB-4441-A6C0-3536F1E9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自：是否阅读卡｜因：遗漏率｜控：模型/温度/论文｜混：结构/标注者</a:t>
            </a:r>
          </a:p>
        </p:txBody>
      </p:sp>
      <p:sp>
        <p:nvSpPr>
          <p:cNvPr id="12" name="p08-table-r2-0">
            <a:extLst xmlns:a="http://schemas.openxmlformats.org/drawingml/2006/main">
              <a:ext uri="{FF2B5EF4-FFF2-40B4-BE49-F238E27FC236}">
                <a16:creationId xmlns:a16="http://schemas.microsoft.com/office/drawing/2014/main" id="{46E960A7-37AE-43A2-9791-9AC8A8E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13" name="p08-table-r2-1">
            <a:extLst xmlns:a="http://schemas.openxmlformats.org/drawingml/2006/main">
              <a:ext uri="{FF2B5EF4-FFF2-40B4-BE49-F238E27FC236}">
                <a16:creationId xmlns:a16="http://schemas.microsoft.com/office/drawing/2014/main" id="{7AE9FB4E-6813-4D49-BE2D-E6343FD7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527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 20 篇 → 随机分组 → 生成 → 盲评 → 计算</a:t>
            </a:r>
          </a:p>
        </p:txBody>
      </p:sp>
      <p:sp>
        <p:nvSpPr>
          <p:cNvPr id="14" name="p08-table-r3-0">
            <a:extLst xmlns:a="http://schemas.openxmlformats.org/drawingml/2006/main">
              <a:ext uri="{FF2B5EF4-FFF2-40B4-BE49-F238E27FC236}">
                <a16:creationId xmlns:a16="http://schemas.microsoft.com/office/drawing/2014/main" id="{9F22E383-7C8F-4108-824D-62BA3598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度量标准</a:t>
            </a:r>
          </a:p>
        </p:txBody>
      </p:sp>
      <p:sp>
        <p:nvSpPr>
          <p:cNvPr id="15" name="p08-table-r3-1">
            <a:extLst xmlns:a="http://schemas.openxmlformats.org/drawingml/2006/main">
              <a:ext uri="{FF2B5EF4-FFF2-40B4-BE49-F238E27FC236}">
                <a16:creationId xmlns:a16="http://schemas.microsoft.com/office/drawing/2014/main" id="{D77822ED-72B5-4C4D-8D74-8136AF82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432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遗漏率 = 缺失字段数 / 应有字段数；kappa ≥ 0.7</a:t>
            </a:r>
          </a:p>
        </p:txBody>
      </p:sp>
      <p:sp>
        <p:nvSpPr>
          <p:cNvPr id="16" name="p08-table-r4-0">
            <a:extLst xmlns:a="http://schemas.openxmlformats.org/drawingml/2006/main">
              <a:ext uri="{FF2B5EF4-FFF2-40B4-BE49-F238E27FC236}">
                <a16:creationId xmlns:a16="http://schemas.microsoft.com/office/drawing/2014/main" id="{4D13C8FA-6E31-4FA6-9FBE-DC97125B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7" name="p08-table-r4-1">
            <a:extLst xmlns:a="http://schemas.openxmlformats.org/drawingml/2006/main">
              <a:ext uri="{FF2B5EF4-FFF2-40B4-BE49-F238E27FC236}">
                <a16:creationId xmlns:a16="http://schemas.microsoft.com/office/drawing/2014/main" id="{E9995A05-1603-487B-8900-81497D0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338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自由摘要；同模型、论文、参数、rubric 与次数</a:t>
            </a:r>
          </a:p>
        </p:txBody>
      </p:sp>
      <p:sp>
        <p:nvSpPr>
          <p:cNvPr id="18" name="p08-table-r5-0">
            <a:extLst xmlns:a="http://schemas.openxmlformats.org/drawingml/2006/main">
              <a:ext uri="{FF2B5EF4-FFF2-40B4-BE49-F238E27FC236}">
                <a16:creationId xmlns:a16="http://schemas.microsoft.com/office/drawing/2014/main" id="{0886348D-3B05-40F9-AFE9-DD15942E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随机化与重复</a:t>
            </a:r>
          </a:p>
        </p:txBody>
      </p:sp>
      <p:sp>
        <p:nvSpPr>
          <p:cNvPr id="19" name="p08-table-r5-1">
            <a:extLst xmlns:a="http://schemas.openxmlformats.org/drawingml/2006/main">
              <a:ext uri="{FF2B5EF4-FFF2-40B4-BE49-F238E27FC236}">
                <a16:creationId xmlns:a16="http://schemas.microsoft.com/office/drawing/2014/main" id="{36B0914B-9834-42A0-82A3-B079D98B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243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split_seed=42；run_seeds=[100,200,300]</a:t>
            </a:r>
          </a:p>
        </p:txBody>
      </p:sp>
      <p:sp>
        <p:nvSpPr>
          <p:cNvPr id="20" name="p08-table-r6-0">
            <a:extLst xmlns:a="http://schemas.openxmlformats.org/drawingml/2006/main">
              <a:ext uri="{FF2B5EF4-FFF2-40B4-BE49-F238E27FC236}">
                <a16:creationId xmlns:a16="http://schemas.microsoft.com/office/drawing/2014/main" id="{B1768FC5-451C-4842-9252-CF846730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21" name="p08-table-r6-1">
            <a:extLst xmlns:a="http://schemas.openxmlformats.org/drawingml/2006/main">
              <a:ext uri="{FF2B5EF4-FFF2-40B4-BE49-F238E27FC236}">
                <a16:creationId xmlns:a16="http://schemas.microsoft.com/office/drawing/2014/main" id="{CAAE6BDD-9FA4-4CA1-8A12-A6842F85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 × 2 组；协议错误时提前停</a:t>
            </a:r>
          </a:p>
        </p:txBody>
      </p:sp>
      <p:sp>
        <p:nvSpPr>
          <p:cNvPr id="22" name="p08-bottom">
            <a:extLst xmlns:a="http://schemas.openxmlformats.org/drawingml/2006/main">
              <a:ext uri="{FF2B5EF4-FFF2-40B4-BE49-F238E27FC236}">
                <a16:creationId xmlns:a16="http://schemas.microsoft.com/office/drawing/2014/main" id="{79392AB6-6B10-4733-8559-E25F54CE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43550"/>
            <a:ext cx="929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虚构教学规格｜度量写口径；种子写具体值；停止条件在看结果前写。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停止条件与失败预案必须在看结果前写明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stop-title">
            <a:extLst xmlns:a="http://schemas.openxmlformats.org/drawingml/2006/main">
              <a:ext uri="{FF2B5EF4-FFF2-40B4-BE49-F238E27FC236}">
                <a16:creationId xmlns:a16="http://schemas.microsoft.com/office/drawing/2014/main" id="{C42CF4CA-061B-47ED-B7C2-33523A5D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7" name="p09-stop">
            <a:extLst xmlns:a="http://schemas.openxmlformats.org/drawingml/2006/main">
              <a:ext uri="{FF2B5EF4-FFF2-40B4-BE49-F238E27FC236}">
                <a16:creationId xmlns:a16="http://schemas.microsoft.com/office/drawing/2014/main" id="{9F298F8F-4E67-4B0A-8428-EF85397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495300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预先承诺：5 次 × 2 组 = 10 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允许提前停：标注协议错误、数据污染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不允许提前停：结果不利、尚未显著</a:t>
            </a:r>
          </a:p>
        </p:txBody>
      </p:sp>
      <p:sp>
        <p:nvSpPr>
          <p:cNvPr id="8" name="p09-fail-title">
            <a:extLst xmlns:a="http://schemas.openxmlformats.org/drawingml/2006/main">
              <a:ext uri="{FF2B5EF4-FFF2-40B4-BE49-F238E27FC236}">
                <a16:creationId xmlns:a16="http://schemas.microsoft.com/office/drawing/2014/main" id="{7710107D-F655-420E-AE9F-F273EEC5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失败预案</a:t>
            </a:r>
          </a:p>
        </p:txBody>
      </p:sp>
      <p:sp>
        <p:nvSpPr>
          <p:cNvPr id="9" name="p09-i-0">
            <a:extLst xmlns:a="http://schemas.openxmlformats.org/drawingml/2006/main">
              <a:ext uri="{FF2B5EF4-FFF2-40B4-BE49-F238E27FC236}">
                <a16:creationId xmlns:a16="http://schemas.microsoft.com/office/drawing/2014/main" id="{F2CEC635-D43F-4BFE-84F5-A522C4B6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764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跑不通</a:t>
            </a:r>
          </a:p>
        </p:txBody>
      </p:sp>
      <p:sp>
        <p:nvSpPr>
          <p:cNvPr id="10" name="p09-p-0">
            <a:extLst xmlns:a="http://schemas.openxmlformats.org/drawingml/2006/main">
              <a:ext uri="{FF2B5EF4-FFF2-40B4-BE49-F238E27FC236}">
                <a16:creationId xmlns:a16="http://schemas.microsoft.com/office/drawing/2014/main" id="{BC0A7F75-E386-41C3-9233-81F2FF72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764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缩小样本，回到最小验证</a:t>
            </a:r>
          </a:p>
        </p:txBody>
      </p:sp>
      <p:sp>
        <p:nvSpPr>
          <p:cNvPr id="11" name="p09-i-1">
            <a:extLst xmlns:a="http://schemas.openxmlformats.org/drawingml/2006/main">
              <a:ext uri="{FF2B5EF4-FFF2-40B4-BE49-F238E27FC236}">
                <a16:creationId xmlns:a16="http://schemas.microsoft.com/office/drawing/2014/main" id="{B33E6472-67B7-464A-A137-88300BC8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结果不支持 H1</a:t>
            </a:r>
          </a:p>
        </p:txBody>
      </p:sp>
      <p:sp>
        <p:nvSpPr>
          <p:cNvPr id="12" name="p09-p-1">
            <a:extLst xmlns:a="http://schemas.openxmlformats.org/drawingml/2006/main">
              <a:ext uri="{FF2B5EF4-FFF2-40B4-BE49-F238E27FC236}">
                <a16:creationId xmlns:a16="http://schemas.microsoft.com/office/drawing/2014/main" id="{1F7540A3-5918-48E6-9BAA-54BB6309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574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检查替代假设，保留待验证</a:t>
            </a:r>
          </a:p>
        </p:txBody>
      </p:sp>
      <p:sp>
        <p:nvSpPr>
          <p:cNvPr id="13" name="p09-i-2">
            <a:extLst xmlns:a="http://schemas.openxmlformats.org/drawingml/2006/main">
              <a:ext uri="{FF2B5EF4-FFF2-40B4-BE49-F238E27FC236}">
                <a16:creationId xmlns:a16="http://schemas.microsoft.com/office/drawing/2014/main" id="{1EF46D25-D318-4B78-9677-0151162B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数据不可用</a:t>
            </a:r>
          </a:p>
        </p:txBody>
      </p:sp>
      <p:sp>
        <p:nvSpPr>
          <p:cNvPr id="14" name="p09-p-2">
            <a:extLst xmlns:a="http://schemas.openxmlformats.org/drawingml/2006/main">
              <a:ext uri="{FF2B5EF4-FFF2-40B4-BE49-F238E27FC236}">
                <a16:creationId xmlns:a16="http://schemas.microsoft.com/office/drawing/2014/main" id="{1F7162E0-4265-4DE6-830F-63AA64A7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385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换公开替代并声明限制</a:t>
            </a:r>
          </a:p>
        </p:txBody>
      </p:sp>
      <p:sp>
        <p:nvSpPr>
          <p:cNvPr id="15" name="p09-i-3">
            <a:extLst xmlns:a="http://schemas.openxmlformats.org/drawingml/2006/main">
              <a:ext uri="{FF2B5EF4-FFF2-40B4-BE49-F238E27FC236}">
                <a16:creationId xmlns:a16="http://schemas.microsoft.com/office/drawing/2014/main" id="{B9EB92D6-2E8C-4BA7-A17D-DD7C94B5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195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kappa &lt; 0.7</a:t>
            </a:r>
          </a:p>
        </p:txBody>
      </p:sp>
      <p:sp>
        <p:nvSpPr>
          <p:cNvPr id="16" name="p09-p-3">
            <a:extLst xmlns:a="http://schemas.openxmlformats.org/drawingml/2006/main">
              <a:ext uri="{FF2B5EF4-FFF2-40B4-BE49-F238E27FC236}">
                <a16:creationId xmlns:a16="http://schemas.microsoft.com/office/drawing/2014/main" id="{1B1D76F1-F3F2-40BE-800A-5FB23E86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195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训练标注者、修订 rubric、降级结论</a:t>
            </a:r>
          </a:p>
        </p:txBody>
      </p:sp>
      <p:sp>
        <p:nvSpPr>
          <p:cNvPr id="17" name="p09-bottom">
            <a:extLst xmlns:a="http://schemas.openxmlformats.org/drawingml/2006/main">
              <a:ext uri="{FF2B5EF4-FFF2-40B4-BE49-F238E27FC236}">
                <a16:creationId xmlns:a16="http://schemas.microsoft.com/office/drawing/2014/main" id="{A98E7721-79DE-448E-9A8B-A4253BF7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7620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虚构教学规格｜失败预案让失败可分析；删除失败记录是红线。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度量必须写出从原始数据到数字的口径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l-0">
            <a:extLst xmlns:a="http://schemas.openxmlformats.org/drawingml/2006/main">
              <a:ext uri="{FF2B5EF4-FFF2-40B4-BE49-F238E27FC236}">
                <a16:creationId xmlns:a16="http://schemas.microsoft.com/office/drawing/2014/main" id="{09B8B336-3151-493D-9D9F-95367DBC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操作定义</a:t>
            </a:r>
          </a:p>
        </p:txBody>
      </p:sp>
      <p:sp>
        <p:nvSpPr>
          <p:cNvPr id="7" name="p10-d-0">
            <a:extLst xmlns:a="http://schemas.openxmlformats.org/drawingml/2006/main">
              <a:ext uri="{FF2B5EF4-FFF2-40B4-BE49-F238E27FC236}">
                <a16:creationId xmlns:a16="http://schemas.microsoft.com/office/drawing/2014/main" id="{251338FA-4F16-47F5-B164-A8A7C8C5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公式或步骤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从原始数据到指标</a:t>
            </a:r>
          </a:p>
        </p:txBody>
      </p:sp>
      <p:sp>
        <p:nvSpPr>
          <p:cNvPr id="8" name="p10-l-1">
            <a:extLst xmlns:a="http://schemas.openxmlformats.org/drawingml/2006/main">
              <a:ext uri="{FF2B5EF4-FFF2-40B4-BE49-F238E27FC236}">
                <a16:creationId xmlns:a16="http://schemas.microsoft.com/office/drawing/2014/main" id="{5F0AC9D2-5DFA-4295-85D2-8EEC71F2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计算口径</a:t>
            </a:r>
          </a:p>
        </p:txBody>
      </p:sp>
      <p:sp>
        <p:nvSpPr>
          <p:cNvPr id="9" name="p10-d-1">
            <a:extLst xmlns:a="http://schemas.openxmlformats.org/drawingml/2006/main">
              <a:ext uri="{FF2B5EF4-FFF2-40B4-BE49-F238E27FC236}">
                <a16:creationId xmlns:a16="http://schemas.microsoft.com/office/drawing/2014/main" id="{D09C80F8-44EF-4655-9859-80A8D82B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分子、分母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缺失值处理</a:t>
            </a:r>
          </a:p>
        </p:txBody>
      </p:sp>
      <p:sp>
        <p:nvSpPr>
          <p:cNvPr id="10" name="p10-l-2">
            <a:extLst xmlns:a="http://schemas.openxmlformats.org/drawingml/2006/main">
              <a:ext uri="{FF2B5EF4-FFF2-40B4-BE49-F238E27FC236}">
                <a16:creationId xmlns:a16="http://schemas.microsoft.com/office/drawing/2014/main" id="{6C4E3183-52F5-41B3-9150-68C072BD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标注协议</a:t>
            </a:r>
          </a:p>
        </p:txBody>
      </p:sp>
      <p:sp>
        <p:nvSpPr>
          <p:cNvPr id="11" name="p10-d-2">
            <a:extLst xmlns:a="http://schemas.openxmlformats.org/drawingml/2006/main">
              <a:ext uri="{FF2B5EF4-FFF2-40B4-BE49-F238E27FC236}">
                <a16:creationId xmlns:a16="http://schemas.microsoft.com/office/drawing/2014/main" id="{72048308-0DF2-4A37-8A44-719EBDEA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人数、训练、盲评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分歧解决</a:t>
            </a:r>
          </a:p>
        </p:txBody>
      </p:sp>
      <p:sp>
        <p:nvSpPr>
          <p:cNvPr id="12" name="p10-l-3">
            <a:extLst xmlns:a="http://schemas.openxmlformats.org/drawingml/2006/main">
              <a:ext uri="{FF2B5EF4-FFF2-40B4-BE49-F238E27FC236}">
                <a16:creationId xmlns:a16="http://schemas.microsoft.com/office/drawing/2014/main" id="{DCFFA664-939C-4A78-86BA-242F5832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一致性指标</a:t>
            </a:r>
          </a:p>
        </p:txBody>
      </p:sp>
      <p:sp>
        <p:nvSpPr>
          <p:cNvPr id="13" name="p10-d-3">
            <a:extLst xmlns:a="http://schemas.openxmlformats.org/drawingml/2006/main">
              <a:ext uri="{FF2B5EF4-FFF2-40B4-BE49-F238E27FC236}">
                <a16:creationId xmlns:a16="http://schemas.microsoft.com/office/drawing/2014/main" id="{6AAEA491-D69D-44EB-A19C-AEEDD95F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kappa / alpha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未计算要说明理由</a:t>
            </a:r>
          </a:p>
        </p:txBody>
      </p:sp>
      <p:sp>
        <p:nvSpPr>
          <p:cNvPr id="14" name="p10-case-title">
            <a:extLst xmlns:a="http://schemas.openxmlformats.org/drawingml/2006/main">
              <a:ext uri="{FF2B5EF4-FFF2-40B4-BE49-F238E27FC236}">
                <a16:creationId xmlns:a16="http://schemas.microsoft.com/office/drawing/2014/main" id="{1D7A0777-1970-470E-B16C-58C18BC6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</a:t>
            </a:r>
          </a:p>
        </p:txBody>
      </p:sp>
      <p:sp>
        <p:nvSpPr>
          <p:cNvPr id="15" name="p10-case">
            <a:extLst xmlns:a="http://schemas.openxmlformats.org/drawingml/2006/main">
              <a:ext uri="{FF2B5EF4-FFF2-40B4-BE49-F238E27FC236}">
                <a16:creationId xmlns:a16="http://schemas.microsoft.com/office/drawing/2014/main" id="{B65188ED-D1DC-4A10-8BC4-37DCE64C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76600"/>
            <a:ext cx="8248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限定条件字段缺失率 = 缺失字段数 / 应有限定条件字段数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名标注者双盲；分歧协商；Cohen's kappa ≥ 0.7</a:t>
            </a:r>
          </a:p>
        </p:txBody>
      </p:sp>
      <p:sp>
        <p:nvSpPr>
          <p:cNvPr id="16" name="p10-bottom">
            <a:extLst xmlns:a="http://schemas.openxmlformats.org/drawingml/2006/main">
              <a:ext uri="{FF2B5EF4-FFF2-40B4-BE49-F238E27FC236}">
                <a16:creationId xmlns:a16="http://schemas.microsoft.com/office/drawing/2014/main" id="{2DEE5E5B-CF20-42F3-90B7-380FE39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19650"/>
            <a:ext cx="8001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只写‘用遗漏率’不够；别人必须能够按同一口径重算。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六类记录共同构成最小复现集合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line-0">
            <a:extLst xmlns:a="http://schemas.openxmlformats.org/drawingml/2006/main">
              <a:ext uri="{FF2B5EF4-FFF2-40B4-BE49-F238E27FC236}">
                <a16:creationId xmlns:a16="http://schemas.microsoft.com/office/drawing/2014/main" id="{A6C64F35-877D-4D10-93AD-F916186F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line-1">
            <a:extLst xmlns:a="http://schemas.openxmlformats.org/drawingml/2006/main">
              <a:ext uri="{FF2B5EF4-FFF2-40B4-BE49-F238E27FC236}">
                <a16:creationId xmlns:a16="http://schemas.microsoft.com/office/drawing/2014/main" id="{BCC072A6-DE81-481C-BDDB-E4711742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2">
            <a:extLst xmlns:a="http://schemas.openxmlformats.org/drawingml/2006/main">
              <a:ext uri="{FF2B5EF4-FFF2-40B4-BE49-F238E27FC236}">
                <a16:creationId xmlns:a16="http://schemas.microsoft.com/office/drawing/2014/main" id="{8D00B6F3-B141-44A5-96C0-BA03E7D0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3">
            <a:extLst xmlns:a="http://schemas.openxmlformats.org/drawingml/2006/main">
              <a:ext uri="{FF2B5EF4-FFF2-40B4-BE49-F238E27FC236}">
                <a16:creationId xmlns:a16="http://schemas.microsoft.com/office/drawing/2014/main" id="{DA617795-18A2-4349-8502-24F95EAA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line-4">
            <a:extLst xmlns:a="http://schemas.openxmlformats.org/drawingml/2006/main">
              <a:ext uri="{FF2B5EF4-FFF2-40B4-BE49-F238E27FC236}">
                <a16:creationId xmlns:a16="http://schemas.microsoft.com/office/drawing/2014/main" id="{68ED2E3D-0A5C-4EA1-9BAF-28BD478C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label-0">
            <a:extLst xmlns:a="http://schemas.openxmlformats.org/drawingml/2006/main">
              <a:ext uri="{FF2B5EF4-FFF2-40B4-BE49-F238E27FC236}">
                <a16:creationId xmlns:a16="http://schemas.microsoft.com/office/drawing/2014/main" id="{A4AB490A-5EE4-4187-B789-F64654B3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12" name="p11-detail-0">
            <a:extLst xmlns:a="http://schemas.openxmlformats.org/drawingml/2006/main">
              <a:ext uri="{FF2B5EF4-FFF2-40B4-BE49-F238E27FC236}">
                <a16:creationId xmlns:a16="http://schemas.microsoft.com/office/drawing/2014/main" id="{CCD06C63-E8CE-4E45-A7B0-E80355D1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 3.10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SDK 0.34.0</a:t>
            </a:r>
          </a:p>
        </p:txBody>
      </p:sp>
      <p:sp>
        <p:nvSpPr>
          <p:cNvPr id="13" name="p11-label-1">
            <a:extLst xmlns:a="http://schemas.openxmlformats.org/drawingml/2006/main">
              <a:ext uri="{FF2B5EF4-FFF2-40B4-BE49-F238E27FC236}">
                <a16:creationId xmlns:a16="http://schemas.microsoft.com/office/drawing/2014/main" id="{3AD9AF50-598E-414B-B6B1-398D4923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4" name="p11-detail-1">
            <a:extLst xmlns:a="http://schemas.openxmlformats.org/drawingml/2006/main">
              <a:ext uri="{FF2B5EF4-FFF2-40B4-BE49-F238E27FC236}">
                <a16:creationId xmlns:a16="http://schemas.microsoft.com/office/drawing/2014/main" id="{167CD543-FC91-4E81-88A1-4E54F0F2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 snapshot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temperature=0</a:t>
            </a:r>
          </a:p>
        </p:txBody>
      </p:sp>
      <p:sp>
        <p:nvSpPr>
          <p:cNvPr id="15" name="p11-label-2">
            <a:extLst xmlns:a="http://schemas.openxmlformats.org/drawingml/2006/main">
              <a:ext uri="{FF2B5EF4-FFF2-40B4-BE49-F238E27FC236}">
                <a16:creationId xmlns:a16="http://schemas.microsoft.com/office/drawing/2014/main" id="{1D4B4A90-582D-4934-946F-9C4F5BE9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种子</a:t>
            </a:r>
          </a:p>
        </p:txBody>
      </p:sp>
      <p:sp>
        <p:nvSpPr>
          <p:cNvPr id="16" name="p11-detail-2">
            <a:extLst xmlns:a="http://schemas.openxmlformats.org/drawingml/2006/main">
              <a:ext uri="{FF2B5EF4-FFF2-40B4-BE49-F238E27FC236}">
                <a16:creationId xmlns:a16="http://schemas.microsoft.com/office/drawing/2014/main" id="{B5AD0EA9-6E7F-4914-A392-48FB3ABD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split=42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run seeds: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100,200,300</a:t>
            </a:r>
          </a:p>
        </p:txBody>
      </p:sp>
      <p:sp>
        <p:nvSpPr>
          <p:cNvPr id="17" name="p11-label-3">
            <a:extLst xmlns:a="http://schemas.openxmlformats.org/drawingml/2006/main">
              <a:ext uri="{FF2B5EF4-FFF2-40B4-BE49-F238E27FC236}">
                <a16:creationId xmlns:a16="http://schemas.microsoft.com/office/drawing/2014/main" id="{3E13CF26-2AF9-439C-8896-D39B333C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18" name="p11-detail-3">
            <a:extLst xmlns:a="http://schemas.openxmlformats.org/drawingml/2006/main">
              <a:ext uri="{FF2B5EF4-FFF2-40B4-BE49-F238E27FC236}">
                <a16:creationId xmlns:a16="http://schemas.microsoft.com/office/drawing/2014/main" id="{3D2829D0-1526-4510-81F5-9FE1C9D6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ACL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快照 + 使用限制</a:t>
            </a:r>
          </a:p>
        </p:txBody>
      </p:sp>
      <p:sp>
        <p:nvSpPr>
          <p:cNvPr id="19" name="p11-label-4">
            <a:extLst xmlns:a="http://schemas.openxmlformats.org/drawingml/2006/main">
              <a:ext uri="{FF2B5EF4-FFF2-40B4-BE49-F238E27FC236}">
                <a16:creationId xmlns:a16="http://schemas.microsoft.com/office/drawing/2014/main" id="{FF14A3A0-25FB-4E67-AC6A-EB28B3A8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20" name="p11-detail-4">
            <a:extLst xmlns:a="http://schemas.openxmlformats.org/drawingml/2006/main">
              <a:ext uri="{FF2B5EF4-FFF2-40B4-BE49-F238E27FC236}">
                <a16:creationId xmlns:a16="http://schemas.microsoft.com/office/drawing/2014/main" id="{E78FC20F-5CF6-4A82-8729-20BC81CF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commit abc123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21" name="p11-label-5">
            <a:extLst xmlns:a="http://schemas.openxmlformats.org/drawingml/2006/main">
              <a:ext uri="{FF2B5EF4-FFF2-40B4-BE49-F238E27FC236}">
                <a16:creationId xmlns:a16="http://schemas.microsoft.com/office/drawing/2014/main" id="{AD6C7390-8A31-4523-8283-5C113B2F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2" name="p11-detail-5">
            <a:extLst xmlns:a="http://schemas.openxmlformats.org/drawingml/2006/main">
              <a:ext uri="{FF2B5EF4-FFF2-40B4-BE49-F238E27FC236}">
                <a16:creationId xmlns:a16="http://schemas.microsoft.com/office/drawing/2014/main" id="{964BA611-A05D-4633-9DED-EDF21DB5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log.jsonl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results.csv</a:t>
            </a:r>
          </a:p>
        </p:txBody>
      </p:sp>
      <p:sp>
        <p:nvSpPr>
          <p:cNvPr id="23" name="p11-def">
            <a:extLst xmlns:a="http://schemas.openxmlformats.org/drawingml/2006/main">
              <a:ext uri="{FF2B5EF4-FFF2-40B4-BE49-F238E27FC236}">
                <a16:creationId xmlns:a16="http://schemas.microsoft.com/office/drawing/2014/main" id="{A8C3A765-24E4-4D04-AADF-90F42A36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9791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真实可运行课次工件｜experiment-spec.md → config.json → run.py → run-log.jsonl</a:t>
            </a:r>
          </a:p>
        </p:txBody>
      </p:sp>
      <p:sp>
        <p:nvSpPr>
          <p:cNvPr id="24" name="p11-limit">
            <a:extLst xmlns:a="http://schemas.openxmlformats.org/drawingml/2006/main">
              <a:ext uri="{FF2B5EF4-FFF2-40B4-BE49-F238E27FC236}">
                <a16:creationId xmlns:a16="http://schemas.microsoft.com/office/drawing/2014/main" id="{CBC2FC3E-E18D-45ED-9257-15BEF88E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33900"/>
            <a:ext cx="9105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实跑核验：4 条合成记录｜2 条缺失｜遗漏率 0.5｜非实证研究结论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单次运行不能直接写成方法效应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src-0">
            <a:extLst xmlns:a="http://schemas.openxmlformats.org/drawingml/2006/main">
              <a:ext uri="{FF2B5EF4-FFF2-40B4-BE49-F238E27FC236}">
                <a16:creationId xmlns:a16="http://schemas.microsoft.com/office/drawing/2014/main" id="{1E68ADF9-25F3-458C-91A4-03D2B88D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数据划分</a:t>
            </a:r>
          </a:p>
        </p:txBody>
      </p:sp>
      <p:sp>
        <p:nvSpPr>
          <p:cNvPr id="7" name="p12-src-1">
            <a:extLst xmlns:a="http://schemas.openxmlformats.org/drawingml/2006/main">
              <a:ext uri="{FF2B5EF4-FFF2-40B4-BE49-F238E27FC236}">
                <a16:creationId xmlns:a16="http://schemas.microsoft.com/office/drawing/2014/main" id="{EF317F2B-5329-49A9-AC83-B3EC6F85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模型初始化</a:t>
            </a:r>
          </a:p>
        </p:txBody>
      </p:sp>
      <p:sp>
        <p:nvSpPr>
          <p:cNvPr id="8" name="p12-src-2">
            <a:extLst xmlns:a="http://schemas.openxmlformats.org/drawingml/2006/main">
              <a:ext uri="{FF2B5EF4-FFF2-40B4-BE49-F238E27FC236}">
                <a16:creationId xmlns:a16="http://schemas.microsoft.com/office/drawing/2014/main" id="{FD025659-B962-4FB4-94C7-19E8B29F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采样</a:t>
            </a:r>
          </a:p>
        </p:txBody>
      </p:sp>
      <p:sp>
        <p:nvSpPr>
          <p:cNvPr id="9" name="p12-src-3">
            <a:extLst xmlns:a="http://schemas.openxmlformats.org/drawingml/2006/main">
              <a:ext uri="{FF2B5EF4-FFF2-40B4-BE49-F238E27FC236}">
                <a16:creationId xmlns:a16="http://schemas.microsoft.com/office/drawing/2014/main" id="{E35E3761-32C4-4E92-923B-E167BAF3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解码</a:t>
            </a:r>
          </a:p>
        </p:txBody>
      </p:sp>
      <p:sp>
        <p:nvSpPr>
          <p:cNvPr id="10" name="p12-line-0">
            <a:extLst xmlns:a="http://schemas.openxmlformats.org/drawingml/2006/main">
              <a:ext uri="{FF2B5EF4-FFF2-40B4-BE49-F238E27FC236}">
                <a16:creationId xmlns:a16="http://schemas.microsoft.com/office/drawing/2014/main" id="{F06D53FF-F9D2-431C-95D4-40C04FE8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line-1">
            <a:extLst xmlns:a="http://schemas.openxmlformats.org/drawingml/2006/main">
              <a:ext uri="{FF2B5EF4-FFF2-40B4-BE49-F238E27FC236}">
                <a16:creationId xmlns:a16="http://schemas.microsoft.com/office/drawing/2014/main" id="{E5F358CE-0FCB-438F-A4E0-8438C066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958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2-line-2">
            <a:extLst xmlns:a="http://schemas.openxmlformats.org/drawingml/2006/main">
              <a:ext uri="{FF2B5EF4-FFF2-40B4-BE49-F238E27FC236}">
                <a16:creationId xmlns:a16="http://schemas.microsoft.com/office/drawing/2014/main" id="{FF6769F4-7DFC-4B9C-B09F-1A389245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3818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2-line-3">
            <a:extLst xmlns:a="http://schemas.openxmlformats.org/drawingml/2006/main">
              <a:ext uri="{FF2B5EF4-FFF2-40B4-BE49-F238E27FC236}">
                <a16:creationId xmlns:a16="http://schemas.microsoft.com/office/drawing/2014/main" id="{E757561E-7425-420A-801B-6B58CEE6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0679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2-finding">
            <a:extLst xmlns:a="http://schemas.openxmlformats.org/drawingml/2006/main">
              <a:ext uri="{FF2B5EF4-FFF2-40B4-BE49-F238E27FC236}">
                <a16:creationId xmlns:a16="http://schemas.microsoft.com/office/drawing/2014/main" id="{3D8A3737-093E-474B-8789-B91C1BF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33650"/>
            <a:ext cx="647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单次运行的噪声可能大于方法间差异</a:t>
            </a:r>
          </a:p>
        </p:txBody>
      </p:sp>
      <p:sp>
        <p:nvSpPr>
          <p:cNvPr id="15" name="p12-n-0">
            <a:extLst xmlns:a="http://schemas.openxmlformats.org/drawingml/2006/main">
              <a:ext uri="{FF2B5EF4-FFF2-40B4-BE49-F238E27FC236}">
                <a16:creationId xmlns:a16="http://schemas.microsoft.com/office/drawing/2014/main" id="{8272FDF7-8941-49C0-BE13-A0580303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p12-s-0">
            <a:extLst xmlns:a="http://schemas.openxmlformats.org/drawingml/2006/main">
              <a:ext uri="{FF2B5EF4-FFF2-40B4-BE49-F238E27FC236}">
                <a16:creationId xmlns:a16="http://schemas.microsoft.com/office/drawing/2014/main" id="{B4CFDC41-C4C6-4F33-833C-541F2E51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记录所有种子或等价条件</a:t>
            </a:r>
          </a:p>
        </p:txBody>
      </p:sp>
      <p:sp>
        <p:nvSpPr>
          <p:cNvPr id="17" name="p12-n-1">
            <a:extLst xmlns:a="http://schemas.openxmlformats.org/drawingml/2006/main">
              <a:ext uri="{FF2B5EF4-FFF2-40B4-BE49-F238E27FC236}">
                <a16:creationId xmlns:a16="http://schemas.microsoft.com/office/drawing/2014/main" id="{270C20A0-F3D9-4111-A7FD-777DF3FD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p12-s-1">
            <a:extLst xmlns:a="http://schemas.openxmlformats.org/drawingml/2006/main">
              <a:ext uri="{FF2B5EF4-FFF2-40B4-BE49-F238E27FC236}">
                <a16:creationId xmlns:a16="http://schemas.microsoft.com/office/drawing/2014/main" id="{559AC533-F347-48FD-B476-317F1712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重复计划与主张强度匹配</a:t>
            </a:r>
          </a:p>
        </p:txBody>
      </p:sp>
      <p:sp>
        <p:nvSpPr>
          <p:cNvPr id="19" name="p12-n-2">
            <a:extLst xmlns:a="http://schemas.openxmlformats.org/drawingml/2006/main">
              <a:ext uri="{FF2B5EF4-FFF2-40B4-BE49-F238E27FC236}">
                <a16:creationId xmlns:a16="http://schemas.microsoft.com/office/drawing/2014/main" id="{132DB8D3-4280-482F-8859-081F1F69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p12-s-2">
            <a:extLst xmlns:a="http://schemas.openxmlformats.org/drawingml/2006/main">
              <a:ext uri="{FF2B5EF4-FFF2-40B4-BE49-F238E27FC236}">
                <a16:creationId xmlns:a16="http://schemas.microsoft.com/office/drawing/2014/main" id="{4B1F51C7-5D88-4FDF-9AD0-8F4CFF62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声称方差时说明汇总方式</a:t>
            </a:r>
          </a:p>
        </p:txBody>
      </p:sp>
      <p:sp>
        <p:nvSpPr>
          <p:cNvPr id="21" name="p12-n-3">
            <a:extLst xmlns:a="http://schemas.openxmlformats.org/drawingml/2006/main">
              <a:ext uri="{FF2B5EF4-FFF2-40B4-BE49-F238E27FC236}">
                <a16:creationId xmlns:a16="http://schemas.microsoft.com/office/drawing/2014/main" id="{5295536C-A36A-401F-980C-94872E1C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p12-s-3">
            <a:extLst xmlns:a="http://schemas.openxmlformats.org/drawingml/2006/main">
              <a:ext uri="{FF2B5EF4-FFF2-40B4-BE49-F238E27FC236}">
                <a16:creationId xmlns:a16="http://schemas.microsoft.com/office/drawing/2014/main" id="{674342A7-A968-4BAC-8961-18D2CC2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只有 1 次时：说明边界，不写稳定结论</a:t>
            </a:r>
          </a:p>
        </p:txBody>
      </p:sp>
      <p:sp>
        <p:nvSpPr>
          <p:cNvPr id="23" name="p12-bottom">
            <a:extLst xmlns:a="http://schemas.openxmlformats.org/drawingml/2006/main">
              <a:ext uri="{FF2B5EF4-FFF2-40B4-BE49-F238E27FC236}">
                <a16:creationId xmlns:a16="http://schemas.microsoft.com/office/drawing/2014/main" id="{4257CBA7-5EB8-4F52-9717-DB374251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578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把单次差异写成稳定结论，会把种子噪声误当成方法效应。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判断门先做到 documented、consistent、exercisable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l-0">
            <a:extLst xmlns:a="http://schemas.openxmlformats.org/drawingml/2006/main">
              <a:ext uri="{FF2B5EF4-FFF2-40B4-BE49-F238E27FC236}">
                <a16:creationId xmlns:a16="http://schemas.microsoft.com/office/drawing/2014/main" id="{40FA6961-8A80-4F5B-A110-4A7A2FD4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documented</a:t>
            </a:r>
          </a:p>
        </p:txBody>
      </p:sp>
      <p:sp>
        <p:nvSpPr>
          <p:cNvPr id="7" name="p13-d-0">
            <a:extLst xmlns:a="http://schemas.openxmlformats.org/drawingml/2006/main">
              <a:ext uri="{FF2B5EF4-FFF2-40B4-BE49-F238E27FC236}">
                <a16:creationId xmlns:a16="http://schemas.microsoft.com/office/drawing/2014/main" id="{A7068EB0-0754-4D52-A9B8-3D1DCDCA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基本运行说明存在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判断门：实验规格</a:t>
            </a:r>
          </a:p>
        </p:txBody>
      </p:sp>
      <p:sp>
        <p:nvSpPr>
          <p:cNvPr id="8" name="p13-l-1">
            <a:extLst xmlns:a="http://schemas.openxmlformats.org/drawingml/2006/main">
              <a:ext uri="{FF2B5EF4-FFF2-40B4-BE49-F238E27FC236}">
                <a16:creationId xmlns:a16="http://schemas.microsoft.com/office/drawing/2014/main" id="{0117505A-AF24-42A6-8B88-FCEE5B27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consistent</a:t>
            </a:r>
          </a:p>
        </p:txBody>
      </p:sp>
      <p:sp>
        <p:nvSpPr>
          <p:cNvPr id="9" name="p13-d-1">
            <a:extLst xmlns:a="http://schemas.openxmlformats.org/drawingml/2006/main">
              <a:ext uri="{FF2B5EF4-FFF2-40B4-BE49-F238E27FC236}">
                <a16:creationId xmlns:a16="http://schemas.microsoft.com/office/drawing/2014/main" id="{4EBE2401-FB6F-43AC-8083-EC7174AB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说明与代码行为一致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判断门：复现说明 ↔ 代码</a:t>
            </a:r>
          </a:p>
        </p:txBody>
      </p:sp>
      <p:sp>
        <p:nvSpPr>
          <p:cNvPr id="10" name="p13-l-2">
            <a:extLst xmlns:a="http://schemas.openxmlformats.org/drawingml/2006/main">
              <a:ext uri="{FF2B5EF4-FFF2-40B4-BE49-F238E27FC236}">
                <a16:creationId xmlns:a16="http://schemas.microsoft.com/office/drawing/2014/main" id="{3F11C4B4-D29E-4BB6-A954-8ECFE1DF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exercisable</a:t>
            </a:r>
          </a:p>
        </p:txBody>
      </p:sp>
      <p:sp>
        <p:nvSpPr>
          <p:cNvPr id="11" name="p13-d-2">
            <a:extLst xmlns:a="http://schemas.openxmlformats.org/drawingml/2006/main">
              <a:ext uri="{FF2B5EF4-FFF2-40B4-BE49-F238E27FC236}">
                <a16:creationId xmlns:a16="http://schemas.microsoft.com/office/drawing/2014/main" id="{80351889-E22F-4292-B900-D95414AA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工件能被独立运行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判断门：可执行 baseline</a:t>
            </a:r>
          </a:p>
        </p:txBody>
      </p:sp>
      <p:sp>
        <p:nvSpPr>
          <p:cNvPr id="12" name="p13-arrow-1">
            <a:extLst xmlns:a="http://schemas.openxmlformats.org/drawingml/2006/main">
              <a:ext uri="{FF2B5EF4-FFF2-40B4-BE49-F238E27FC236}">
                <a16:creationId xmlns:a16="http://schemas.microsoft.com/office/drawing/2014/main" id="{9470EDA6-B6E8-4FA4-AA32-DDBA833B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-arrow-2">
            <a:extLst xmlns:a="http://schemas.openxmlformats.org/drawingml/2006/main">
              <a:ext uri="{FF2B5EF4-FFF2-40B4-BE49-F238E27FC236}">
                <a16:creationId xmlns:a16="http://schemas.microsoft.com/office/drawing/2014/main" id="{176F4FE2-135F-437D-A0DF-6C79D86C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3-higher">
            <a:extLst xmlns:a="http://schemas.openxmlformats.org/drawingml/2006/main">
              <a:ext uri="{FF2B5EF4-FFF2-40B4-BE49-F238E27FC236}">
                <a16:creationId xmlns:a16="http://schemas.microsoft.com/office/drawing/2014/main" id="{5DA24BB1-9746-4CAE-B07A-B6E2950F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38600"/>
            <a:ext cx="94869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更高档 complete / available / results validated 留给验证门与论证门，本课不要求。</a:t>
            </a:r>
          </a:p>
        </p:txBody>
      </p:sp>
      <p:sp>
        <p:nvSpPr>
          <p:cNvPr id="15" name="p13-bottom">
            <a:extLst xmlns:a="http://schemas.openxmlformats.org/drawingml/2006/main">
              <a:ext uri="{FF2B5EF4-FFF2-40B4-BE49-F238E27FC236}">
                <a16:creationId xmlns:a16="http://schemas.microsoft.com/office/drawing/2014/main" id="{21DEEA0F-60F1-488A-8BA0-D139C996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143500"/>
            <a:ext cx="662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这些等级是自查视角，不另立课程评分规则。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模板迁移补字段，但不能丢历史记录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map-h-0">
            <a:extLst xmlns:a="http://schemas.openxmlformats.org/drawingml/2006/main">
              <a:ext uri="{FF2B5EF4-FFF2-40B4-BE49-F238E27FC236}">
                <a16:creationId xmlns:a16="http://schemas.microsoft.com/office/drawing/2014/main" id="{124DBDF8-C0AF-4A15-85E3-04E5A359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starter 字段</a:t>
            </a:r>
          </a:p>
        </p:txBody>
      </p:sp>
      <p:sp>
        <p:nvSpPr>
          <p:cNvPr id="7" name="p14-map-h-1">
            <a:extLst xmlns:a="http://schemas.openxmlformats.org/drawingml/2006/main">
              <a:ext uri="{FF2B5EF4-FFF2-40B4-BE49-F238E27FC236}">
                <a16:creationId xmlns:a16="http://schemas.microsoft.com/office/drawing/2014/main" id="{4466476B-E13B-495E-8F53-D3ED622B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066800"/>
            <a:ext cx="3524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project 位置</a:t>
            </a:r>
          </a:p>
        </p:txBody>
      </p:sp>
      <p:sp>
        <p:nvSpPr>
          <p:cNvPr id="8" name="p14-map-h-2">
            <a:extLst xmlns:a="http://schemas.openxmlformats.org/drawingml/2006/main">
              <a:ext uri="{FF2B5EF4-FFF2-40B4-BE49-F238E27FC236}">
                <a16:creationId xmlns:a16="http://schemas.microsoft.com/office/drawing/2014/main" id="{250A5558-B3EC-480C-BD2D-166AE736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668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迁移动作</a:t>
            </a:r>
          </a:p>
        </p:txBody>
      </p:sp>
      <p:sp>
        <p:nvSpPr>
          <p:cNvPr id="9" name="p14-map-r0-0">
            <a:extLst xmlns:a="http://schemas.openxmlformats.org/drawingml/2006/main">
              <a:ext uri="{FF2B5EF4-FFF2-40B4-BE49-F238E27FC236}">
                <a16:creationId xmlns:a16="http://schemas.microsoft.com/office/drawing/2014/main" id="{DAC8CD10-C81D-4C3E-85CA-E16EFD02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项目概览</a:t>
            </a:r>
          </a:p>
        </p:txBody>
      </p:sp>
      <p:sp>
        <p:nvSpPr>
          <p:cNvPr id="10" name="p14-map-r0-1">
            <a:extLst xmlns:a="http://schemas.openxmlformats.org/drawingml/2006/main">
              <a:ext uri="{FF2B5EF4-FFF2-40B4-BE49-F238E27FC236}">
                <a16:creationId xmlns:a16="http://schemas.microsoft.com/office/drawing/2014/main" id="{1810EBEB-0CF3-4CA9-9477-FA2BC0EF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240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§1 项目信息</a:t>
            </a:r>
          </a:p>
        </p:txBody>
      </p:sp>
      <p:sp>
        <p:nvSpPr>
          <p:cNvPr id="11" name="p14-map-r0-2">
            <a:extLst xmlns:a="http://schemas.openxmlformats.org/drawingml/2006/main">
              <a:ext uri="{FF2B5EF4-FFF2-40B4-BE49-F238E27FC236}">
                <a16:creationId xmlns:a16="http://schemas.microsoft.com/office/drawing/2014/main" id="{C80EF6C8-AD8A-4C82-BA08-7A2D38C0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补仓库 URL</a:t>
            </a:r>
          </a:p>
        </p:txBody>
      </p:sp>
      <p:sp>
        <p:nvSpPr>
          <p:cNvPr id="12" name="p14-map-r1-0">
            <a:extLst xmlns:a="http://schemas.openxmlformats.org/drawingml/2006/main">
              <a:ext uri="{FF2B5EF4-FFF2-40B4-BE49-F238E27FC236}">
                <a16:creationId xmlns:a16="http://schemas.microsoft.com/office/drawing/2014/main" id="{D34641FA-891C-4C8C-91B6-DD93716A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13" name="p14-map-r1-1">
            <a:extLst xmlns:a="http://schemas.openxmlformats.org/drawingml/2006/main">
              <a:ext uri="{FF2B5EF4-FFF2-40B4-BE49-F238E27FC236}">
                <a16:creationId xmlns:a16="http://schemas.microsoft.com/office/drawing/2014/main" id="{69DDB529-5478-4A3E-A18D-AF8531F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526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ai-usage-log.md</a:t>
            </a:r>
          </a:p>
        </p:txBody>
      </p:sp>
      <p:sp>
        <p:nvSpPr>
          <p:cNvPr id="14" name="p14-map-r1-2">
            <a:extLst xmlns:a="http://schemas.openxmlformats.org/drawingml/2006/main">
              <a:ext uri="{FF2B5EF4-FFF2-40B4-BE49-F238E27FC236}">
                <a16:creationId xmlns:a16="http://schemas.microsoft.com/office/drawing/2014/main" id="{D2AFF443-9036-4567-8C37-B2C69187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保留全部条目</a:t>
            </a:r>
          </a:p>
        </p:txBody>
      </p:sp>
      <p:sp>
        <p:nvSpPr>
          <p:cNvPr id="15" name="p14-map-r2-0">
            <a:extLst xmlns:a="http://schemas.openxmlformats.org/drawingml/2006/main">
              <a:ext uri="{FF2B5EF4-FFF2-40B4-BE49-F238E27FC236}">
                <a16:creationId xmlns:a16="http://schemas.microsoft.com/office/drawing/2014/main" id="{405DB0A2-9B4E-4FCB-862A-96C96A16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伦理检查</a:t>
            </a:r>
          </a:p>
        </p:txBody>
      </p:sp>
      <p:sp>
        <p:nvSpPr>
          <p:cNvPr id="16" name="p14-map-r2-1">
            <a:extLst xmlns:a="http://schemas.openxmlformats.org/drawingml/2006/main">
              <a:ext uri="{FF2B5EF4-FFF2-40B4-BE49-F238E27FC236}">
                <a16:creationId xmlns:a16="http://schemas.microsoft.com/office/drawing/2014/main" id="{AE97B38E-BE72-40C6-BD05-38AE1B60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ethics-and-compliance.md</a:t>
            </a:r>
          </a:p>
        </p:txBody>
      </p:sp>
      <p:sp>
        <p:nvSpPr>
          <p:cNvPr id="17" name="p14-map-r2-2">
            <a:extLst xmlns:a="http://schemas.openxmlformats.org/drawingml/2006/main">
              <a:ext uri="{FF2B5EF4-FFF2-40B4-BE49-F238E27FC236}">
                <a16:creationId xmlns:a16="http://schemas.microsoft.com/office/drawing/2014/main" id="{7DB3E509-0ED4-41F4-AED0-945E1D0F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813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补数据使用限制</a:t>
            </a:r>
          </a:p>
        </p:txBody>
      </p:sp>
      <p:sp>
        <p:nvSpPr>
          <p:cNvPr id="18" name="p14-map-r3-0">
            <a:extLst xmlns:a="http://schemas.openxmlformats.org/drawingml/2006/main">
              <a:ext uri="{FF2B5EF4-FFF2-40B4-BE49-F238E27FC236}">
                <a16:creationId xmlns:a16="http://schemas.microsoft.com/office/drawing/2014/main" id="{9BA3674E-362C-489B-90A5-553F10D1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9" name="p14-map-r3-1">
            <a:extLst xmlns:a="http://schemas.openxmlformats.org/drawingml/2006/main">
              <a:ext uri="{FF2B5EF4-FFF2-40B4-BE49-F238E27FC236}">
                <a16:creationId xmlns:a16="http://schemas.microsoft.com/office/drawing/2014/main" id="{B7212264-0993-4B9F-9607-9FFEE2EA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099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§6 Agent Workflow</a:t>
            </a:r>
          </a:p>
        </p:txBody>
      </p:sp>
      <p:sp>
        <p:nvSpPr>
          <p:cNvPr id="20" name="p14-map-r3-2">
            <a:extLst xmlns:a="http://schemas.openxmlformats.org/drawingml/2006/main">
              <a:ext uri="{FF2B5EF4-FFF2-40B4-BE49-F238E27FC236}">
                <a16:creationId xmlns:a16="http://schemas.microsoft.com/office/drawing/2014/main" id="{BA48C07B-09B3-4E58-9FA5-D5B99487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09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搬当前边界</a:t>
            </a:r>
          </a:p>
        </p:txBody>
      </p:sp>
      <p:sp>
        <p:nvSpPr>
          <p:cNvPr id="21" name="p14-new-title">
            <a:extLst xmlns:a="http://schemas.openxmlformats.org/drawingml/2006/main">
              <a:ext uri="{FF2B5EF4-FFF2-40B4-BE49-F238E27FC236}">
                <a16:creationId xmlns:a16="http://schemas.microsoft.com/office/drawing/2014/main" id="{822BD56F-5B1E-4C58-BA6D-705CD933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本课新增</a:t>
            </a:r>
          </a:p>
        </p:txBody>
      </p:sp>
      <p:sp>
        <p:nvSpPr>
          <p:cNvPr id="22" name="p14-new">
            <a:extLst xmlns:a="http://schemas.openxmlformats.org/drawingml/2006/main">
              <a:ext uri="{FF2B5EF4-FFF2-40B4-BE49-F238E27FC236}">
                <a16:creationId xmlns:a16="http://schemas.microsoft.com/office/drawing/2014/main" id="{F89C5141-3BC5-4EB0-B965-0F256D8A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48150"/>
            <a:ext cx="8801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§4.2 baseline｜§4.6 七字段规格｜§5 至少两条研究判断｜§7 一行实验记录｜同伴反馈处理</a:t>
            </a:r>
          </a:p>
        </p:txBody>
      </p:sp>
      <p:sp>
        <p:nvSpPr>
          <p:cNvPr id="23" name="p14-bottom">
            <a:extLst xmlns:a="http://schemas.openxmlformats.org/drawingml/2006/main">
              <a:ext uri="{FF2B5EF4-FFF2-40B4-BE49-F238E27FC236}">
                <a16:creationId xmlns:a16="http://schemas.microsoft.com/office/drawing/2014/main" id="{31C2306B-8EC8-437E-94F3-F6E5BD68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迁移不是重写：补齐新增字段，同时保留第 1-8 课所有记录。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判断门检查当前个人项目版本的八项条件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n-0">
            <a:extLst xmlns:a="http://schemas.openxmlformats.org/drawingml/2006/main">
              <a:ext uri="{FF2B5EF4-FFF2-40B4-BE49-F238E27FC236}">
                <a16:creationId xmlns:a16="http://schemas.microsoft.com/office/drawing/2014/main" id="{B006C9FE-9A3C-4FC0-BF7C-14C80DE5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5-g-0">
            <a:extLst xmlns:a="http://schemas.openxmlformats.org/drawingml/2006/main">
              <a:ext uri="{FF2B5EF4-FFF2-40B4-BE49-F238E27FC236}">
                <a16:creationId xmlns:a16="http://schemas.microsoft.com/office/drawing/2014/main" id="{77D5067D-C3AF-48C0-84DB-D844FF19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906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可执行 baseline 或最小验证原型</a:t>
            </a:r>
          </a:p>
        </p:txBody>
      </p:sp>
      <p:sp>
        <p:nvSpPr>
          <p:cNvPr id="8" name="p15-n-1">
            <a:extLst xmlns:a="http://schemas.openxmlformats.org/drawingml/2006/main">
              <a:ext uri="{FF2B5EF4-FFF2-40B4-BE49-F238E27FC236}">
                <a16:creationId xmlns:a16="http://schemas.microsoft.com/office/drawing/2014/main" id="{FAD7FC9A-EE70-45A0-B6D0-36321314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28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15-g-1">
            <a:extLst xmlns:a="http://schemas.openxmlformats.org/drawingml/2006/main">
              <a:ext uri="{FF2B5EF4-FFF2-40B4-BE49-F238E27FC236}">
                <a16:creationId xmlns:a16="http://schemas.microsoft.com/office/drawing/2014/main" id="{E8960F3F-0856-45F2-BB15-C3BDE0E4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906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数据、材料、指标和使用限制</a:t>
            </a:r>
          </a:p>
        </p:txBody>
      </p:sp>
      <p:sp>
        <p:nvSpPr>
          <p:cNvPr id="10" name="p15-n-2">
            <a:extLst xmlns:a="http://schemas.openxmlformats.org/drawingml/2006/main">
              <a:ext uri="{FF2B5EF4-FFF2-40B4-BE49-F238E27FC236}">
                <a16:creationId xmlns:a16="http://schemas.microsoft.com/office/drawing/2014/main" id="{1D2F507E-028B-413B-9FBE-75D0A6E8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15-g-2">
            <a:extLst xmlns:a="http://schemas.openxmlformats.org/drawingml/2006/main">
              <a:ext uri="{FF2B5EF4-FFF2-40B4-BE49-F238E27FC236}">
                <a16:creationId xmlns:a16="http://schemas.microsoft.com/office/drawing/2014/main" id="{78859733-D09E-4BE5-A25A-CB653D65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621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环境、配置、种子或等价复现条件</a:t>
            </a:r>
          </a:p>
        </p:txBody>
      </p:sp>
      <p:sp>
        <p:nvSpPr>
          <p:cNvPr id="12" name="p15-n-3">
            <a:extLst xmlns:a="http://schemas.openxmlformats.org/drawingml/2006/main">
              <a:ext uri="{FF2B5EF4-FFF2-40B4-BE49-F238E27FC236}">
                <a16:creationId xmlns:a16="http://schemas.microsoft.com/office/drawing/2014/main" id="{1D783194-49EB-4FF7-B940-AFB8A3DA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002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15-g-3">
            <a:extLst xmlns:a="http://schemas.openxmlformats.org/drawingml/2006/main">
              <a:ext uri="{FF2B5EF4-FFF2-40B4-BE49-F238E27FC236}">
                <a16:creationId xmlns:a16="http://schemas.microsoft.com/office/drawing/2014/main" id="{6A534D9A-7BAB-4DF7-97D2-F58302B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≥2 条六字段研究判断</a:t>
            </a:r>
          </a:p>
        </p:txBody>
      </p:sp>
      <p:sp>
        <p:nvSpPr>
          <p:cNvPr id="14" name="p15-n-4">
            <a:extLst xmlns:a="http://schemas.openxmlformats.org/drawingml/2006/main">
              <a:ext uri="{FF2B5EF4-FFF2-40B4-BE49-F238E27FC236}">
                <a16:creationId xmlns:a16="http://schemas.microsoft.com/office/drawing/2014/main" id="{D50AFC43-991F-4973-98F8-462028B0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71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15-g-4">
            <a:extLst xmlns:a="http://schemas.openxmlformats.org/drawingml/2006/main">
              <a:ext uri="{FF2B5EF4-FFF2-40B4-BE49-F238E27FC236}">
                <a16:creationId xmlns:a16="http://schemas.microsoft.com/office/drawing/2014/main" id="{6441199C-4885-4007-B6A5-68798C4A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337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完整实验规格：假设/变量/步骤/度量/对照/停止</a:t>
            </a:r>
          </a:p>
        </p:txBody>
      </p:sp>
      <p:sp>
        <p:nvSpPr>
          <p:cNvPr id="16" name="p15-n-5">
            <a:extLst xmlns:a="http://schemas.openxmlformats.org/drawingml/2006/main">
              <a:ext uri="{FF2B5EF4-FFF2-40B4-BE49-F238E27FC236}">
                <a16:creationId xmlns:a16="http://schemas.microsoft.com/office/drawing/2014/main" id="{FC6983C6-1A59-4BCD-A656-F8AF0E93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15-g-5">
            <a:extLst xmlns:a="http://schemas.openxmlformats.org/drawingml/2006/main">
              <a:ext uri="{FF2B5EF4-FFF2-40B4-BE49-F238E27FC236}">
                <a16:creationId xmlns:a16="http://schemas.microsoft.com/office/drawing/2014/main" id="{D8918B99-41ED-4B86-A715-127D3463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3370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课同伴反馈处理记录</a:t>
            </a:r>
          </a:p>
        </p:txBody>
      </p:sp>
      <p:sp>
        <p:nvSpPr>
          <p:cNvPr id="18" name="p15-n-6">
            <a:extLst xmlns:a="http://schemas.openxmlformats.org/drawingml/2006/main">
              <a:ext uri="{FF2B5EF4-FFF2-40B4-BE49-F238E27FC236}">
                <a16:creationId xmlns:a16="http://schemas.microsoft.com/office/drawing/2014/main" id="{283D5E2E-1720-403F-8AB9-E479C956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15-g-6">
            <a:extLst xmlns:a="http://schemas.openxmlformats.org/drawingml/2006/main">
              <a:ext uri="{FF2B5EF4-FFF2-40B4-BE49-F238E27FC236}">
                <a16:creationId xmlns:a16="http://schemas.microsoft.com/office/drawing/2014/main" id="{1B67A40F-6A5B-49F4-901F-CFDA9487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当前最大风险和失败预案</a:t>
            </a:r>
          </a:p>
        </p:txBody>
      </p:sp>
      <p:sp>
        <p:nvSpPr>
          <p:cNvPr id="20" name="p15-n-7">
            <a:extLst xmlns:a="http://schemas.openxmlformats.org/drawingml/2006/main">
              <a:ext uri="{FF2B5EF4-FFF2-40B4-BE49-F238E27FC236}">
                <a16:creationId xmlns:a16="http://schemas.microsoft.com/office/drawing/2014/main" id="{7DD84E59-A6E7-4970-9937-F39D434A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1" name="p15-g-7">
            <a:extLst xmlns:a="http://schemas.openxmlformats.org/drawingml/2006/main">
              <a:ext uri="{FF2B5EF4-FFF2-40B4-BE49-F238E27FC236}">
                <a16:creationId xmlns:a16="http://schemas.microsoft.com/office/drawing/2014/main" id="{33BE81B4-C4D9-4C25-9C98-2EC52FFB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05250"/>
            <a:ext cx="4914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迁移完整模板且不丢 AI/伦理记录</a:t>
            </a:r>
          </a:p>
        </p:txBody>
      </p:sp>
      <p:sp>
        <p:nvSpPr>
          <p:cNvPr id="22" name="p15-scope">
            <a:extLst xmlns:a="http://schemas.openxmlformats.org/drawingml/2006/main">
              <a:ext uri="{FF2B5EF4-FFF2-40B4-BE49-F238E27FC236}">
                <a16:creationId xmlns:a16="http://schemas.microsoft.com/office/drawing/2014/main" id="{709B23C2-9EBF-4C4C-A90F-CE0C48D8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91100"/>
            <a:ext cx="6705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本课重点补全：1 / 2 / 3 / 5 / 7｜整理：4 / 6 / 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J2 把 baseline 取舍和同伴反馈写进判断记录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j2-title">
            <a:extLst xmlns:a="http://schemas.openxmlformats.org/drawingml/2006/main">
              <a:ext uri="{FF2B5EF4-FFF2-40B4-BE49-F238E27FC236}">
                <a16:creationId xmlns:a16="http://schemas.microsoft.com/office/drawing/2014/main" id="{0B007FC0-996B-4E8B-8CD4-3F074D83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636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虚构教学判断 J2：选朴素 baseline</a:t>
            </a:r>
          </a:p>
        </p:txBody>
      </p:sp>
      <p:sp>
        <p:nvSpPr>
          <p:cNvPr id="7" name="p16-j2-h-0">
            <a:extLst xmlns:a="http://schemas.openxmlformats.org/drawingml/2006/main">
              <a:ext uri="{FF2B5EF4-FFF2-40B4-BE49-F238E27FC236}">
                <a16:creationId xmlns:a16="http://schemas.microsoft.com/office/drawing/2014/main" id="{812CF822-8976-4AA7-872A-4CD787F8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8" name="p16-j2-h-1">
            <a:extLst xmlns:a="http://schemas.openxmlformats.org/drawingml/2006/main">
              <a:ext uri="{FF2B5EF4-FFF2-40B4-BE49-F238E27FC236}">
                <a16:creationId xmlns:a16="http://schemas.microsoft.com/office/drawing/2014/main" id="{937C36A6-0450-4BD9-BBFA-35162499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5735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9" name="p16-j2-r0-0">
            <a:extLst xmlns:a="http://schemas.openxmlformats.org/drawingml/2006/main">
              <a:ext uri="{FF2B5EF4-FFF2-40B4-BE49-F238E27FC236}">
                <a16:creationId xmlns:a16="http://schemas.microsoft.com/office/drawing/2014/main" id="{8EF1CAC9-9C37-49D0-B427-5AF3C6D5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0" name="p16-j2-r0-1">
            <a:extLst xmlns:a="http://schemas.openxmlformats.org/drawingml/2006/main">
              <a:ext uri="{FF2B5EF4-FFF2-40B4-BE49-F238E27FC236}">
                <a16:creationId xmlns:a16="http://schemas.microsoft.com/office/drawing/2014/main" id="{63E780C2-AC1F-4804-8BBF-07899FC0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764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需要外部 prompt 集，超出周期</a:t>
            </a:r>
          </a:p>
        </p:txBody>
      </p:sp>
      <p:sp>
        <p:nvSpPr>
          <p:cNvPr id="11" name="p16-j2-r1-0">
            <a:extLst xmlns:a="http://schemas.openxmlformats.org/drawingml/2006/main">
              <a:ext uri="{FF2B5EF4-FFF2-40B4-BE49-F238E27FC236}">
                <a16:creationId xmlns:a16="http://schemas.microsoft.com/office/drawing/2014/main" id="{D2B60103-699A-4992-ADFD-F809A385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12" name="p16-j2-r1-1">
            <a:extLst xmlns:a="http://schemas.openxmlformats.org/drawingml/2006/main">
              <a:ext uri="{FF2B5EF4-FFF2-40B4-BE49-F238E27FC236}">
                <a16:creationId xmlns:a16="http://schemas.microsoft.com/office/drawing/2014/main" id="{A6E20997-F301-4565-BE6D-9E0E7AC5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289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只支持字段约束 vs 无约束</a:t>
            </a:r>
          </a:p>
        </p:txBody>
      </p:sp>
      <p:sp>
        <p:nvSpPr>
          <p:cNvPr id="13" name="p16-j2-r2-0">
            <a:extLst xmlns:a="http://schemas.openxmlformats.org/drawingml/2006/main">
              <a:ext uri="{FF2B5EF4-FFF2-40B4-BE49-F238E27FC236}">
                <a16:creationId xmlns:a16="http://schemas.microsoft.com/office/drawing/2014/main" id="{E3A876ED-FB24-4727-8B5A-D5238E82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4" name="p16-j2-r2-1">
            <a:extLst xmlns:a="http://schemas.openxmlformats.org/drawingml/2006/main">
              <a:ext uri="{FF2B5EF4-FFF2-40B4-BE49-F238E27FC236}">
                <a16:creationId xmlns:a16="http://schemas.microsoft.com/office/drawing/2014/main" id="{C6D44DA1-9318-4023-92DE-7ABD24D1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813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 + 主张必须定位原文</a:t>
            </a:r>
          </a:p>
        </p:txBody>
      </p:sp>
      <p:sp>
        <p:nvSpPr>
          <p:cNvPr id="15" name="p16-j2-r3-0">
            <a:extLst xmlns:a="http://schemas.openxmlformats.org/drawingml/2006/main">
              <a:ext uri="{FF2B5EF4-FFF2-40B4-BE49-F238E27FC236}">
                <a16:creationId xmlns:a16="http://schemas.microsoft.com/office/drawing/2014/main" id="{CA49ABDB-4809-4E99-808E-2E2E4072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16" name="p16-j2-r3-1">
            <a:extLst xmlns:a="http://schemas.openxmlformats.org/drawingml/2006/main">
              <a:ext uri="{FF2B5EF4-FFF2-40B4-BE49-F238E27FC236}">
                <a16:creationId xmlns:a16="http://schemas.microsoft.com/office/drawing/2014/main" id="{DC65B38D-7282-4BC2-BA03-C85990EF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338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留作后续工作</a:t>
            </a:r>
          </a:p>
        </p:txBody>
      </p:sp>
      <p:sp>
        <p:nvSpPr>
          <p:cNvPr id="17" name="p16-j2-r4-0">
            <a:extLst xmlns:a="http://schemas.openxmlformats.org/drawingml/2006/main">
              <a:ext uri="{FF2B5EF4-FFF2-40B4-BE49-F238E27FC236}">
                <a16:creationId xmlns:a16="http://schemas.microsoft.com/office/drawing/2014/main" id="{33686817-7FA5-42B5-964F-14BF5DA5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18" name="p16-j2-r4-1">
            <a:extLst xmlns:a="http://schemas.openxmlformats.org/drawingml/2006/main">
              <a:ext uri="{FF2B5EF4-FFF2-40B4-BE49-F238E27FC236}">
                <a16:creationId xmlns:a16="http://schemas.microsoft.com/office/drawing/2014/main" id="{0821AAE2-92BB-498F-9D49-EBEEFFCD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862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实验规格：对照 + 失败预案</a:t>
            </a:r>
          </a:p>
        </p:txBody>
      </p:sp>
      <p:sp>
        <p:nvSpPr>
          <p:cNvPr id="19" name="p16-peer-title">
            <a:extLst xmlns:a="http://schemas.openxmlformats.org/drawingml/2006/main">
              <a:ext uri="{FF2B5EF4-FFF2-40B4-BE49-F238E27FC236}">
                <a16:creationId xmlns:a16="http://schemas.microsoft.com/office/drawing/2014/main" id="{2C12E0C7-02D4-4BF8-B024-0988C412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虚构教学反馈处理</a:t>
            </a:r>
          </a:p>
        </p:txBody>
      </p:sp>
      <p:sp>
        <p:nvSpPr>
          <p:cNvPr id="20" name="p16-f-0">
            <a:extLst xmlns:a="http://schemas.openxmlformats.org/drawingml/2006/main">
              <a:ext uri="{FF2B5EF4-FFF2-40B4-BE49-F238E27FC236}">
                <a16:creationId xmlns:a16="http://schemas.microsoft.com/office/drawing/2014/main" id="{30F7574D-2441-4086-865B-5552580E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7335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增加强 baseline</a:t>
            </a:r>
          </a:p>
        </p:txBody>
      </p:sp>
      <p:sp>
        <p:nvSpPr>
          <p:cNvPr id="21" name="p16-s-0">
            <a:extLst xmlns:a="http://schemas.openxmlformats.org/drawingml/2006/main">
              <a:ext uri="{FF2B5EF4-FFF2-40B4-BE49-F238E27FC236}">
                <a16:creationId xmlns:a16="http://schemas.microsoft.com/office/drawing/2014/main" id="{BE710896-6847-4B2C-8EB1-E6C6BC06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335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拒绝｜超出周期</a:t>
            </a:r>
          </a:p>
        </p:txBody>
      </p:sp>
      <p:sp>
        <p:nvSpPr>
          <p:cNvPr id="22" name="p16-f-1">
            <a:extLst xmlns:a="http://schemas.openxmlformats.org/drawingml/2006/main">
              <a:ext uri="{FF2B5EF4-FFF2-40B4-BE49-F238E27FC236}">
                <a16:creationId xmlns:a16="http://schemas.microsoft.com/office/drawing/2014/main" id="{8A21B209-B142-4543-B27F-8BACA326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报告方差</a:t>
            </a:r>
          </a:p>
        </p:txBody>
      </p:sp>
      <p:sp>
        <p:nvSpPr>
          <p:cNvPr id="23" name="p16-s-1">
            <a:extLst xmlns:a="http://schemas.openxmlformats.org/drawingml/2006/main">
              <a:ext uri="{FF2B5EF4-FFF2-40B4-BE49-F238E27FC236}">
                <a16:creationId xmlns:a16="http://schemas.microsoft.com/office/drawing/2014/main" id="{614C977D-F364-47B2-A969-634AA7C0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670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采纳｜事先写重复计划</a:t>
            </a:r>
          </a:p>
        </p:txBody>
      </p:sp>
      <p:sp>
        <p:nvSpPr>
          <p:cNvPr id="24" name="p16-f-2">
            <a:extLst xmlns:a="http://schemas.openxmlformats.org/drawingml/2006/main">
              <a:ext uri="{FF2B5EF4-FFF2-40B4-BE49-F238E27FC236}">
                <a16:creationId xmlns:a16="http://schemas.microsoft.com/office/drawing/2014/main" id="{9EBA48E3-7578-406E-B6E2-78BAD743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004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样本量过小</a:t>
            </a:r>
          </a:p>
        </p:txBody>
      </p:sp>
      <p:sp>
        <p:nvSpPr>
          <p:cNvPr id="25" name="p16-s-2">
            <a:extLst xmlns:a="http://schemas.openxmlformats.org/drawingml/2006/main">
              <a:ext uri="{FF2B5EF4-FFF2-40B4-BE49-F238E27FC236}">
                <a16:creationId xmlns:a16="http://schemas.microsoft.com/office/drawing/2014/main" id="{DC02AF76-41B0-47C3-BDEE-EDCA9199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04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暂缓｜小样本初步证据</a:t>
            </a:r>
          </a:p>
        </p:txBody>
      </p:sp>
      <p:sp>
        <p:nvSpPr>
          <p:cNvPr id="26" name="p16-bottom">
            <a:extLst xmlns:a="http://schemas.openxmlformats.org/drawingml/2006/main">
              <a:ext uri="{FF2B5EF4-FFF2-40B4-BE49-F238E27FC236}">
                <a16:creationId xmlns:a16="http://schemas.microsoft.com/office/drawing/2014/main" id="{1F10E7B5-7D44-4251-B1F7-4A148D84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29200"/>
            <a:ext cx="868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拒绝反馈也必须写依据；作者保留决定权，但决定必须可追溯。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个人实践：启动判断门材料的最小闭环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7DBEF395-A9BE-4574-BB03-A508B53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85725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40:00–60:00｜持续个人补全</a:t>
            </a:r>
          </a:p>
        </p:txBody>
      </p:sp>
      <p:sp>
        <p:nvSpPr>
          <p:cNvPr id="7" name="p17-n-0">
            <a:extLst xmlns:a="http://schemas.openxmlformats.org/drawingml/2006/main">
              <a:ext uri="{FF2B5EF4-FFF2-40B4-BE49-F238E27FC236}">
                <a16:creationId xmlns:a16="http://schemas.microsoft.com/office/drawing/2014/main" id="{DEAC408B-251D-4CDC-BAD7-8374034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7-t-0">
            <a:extLst xmlns:a="http://schemas.openxmlformats.org/drawingml/2006/main">
              <a:ext uri="{FF2B5EF4-FFF2-40B4-BE49-F238E27FC236}">
                <a16:creationId xmlns:a16="http://schemas.microsoft.com/office/drawing/2014/main" id="{D33A6133-B940-408D-8DB5-7C860984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2001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 baseline：类型 + 公平性</a:t>
            </a:r>
          </a:p>
        </p:txBody>
      </p:sp>
      <p:sp>
        <p:nvSpPr>
          <p:cNvPr id="9" name="p17-n-1">
            <a:extLst xmlns:a="http://schemas.openxmlformats.org/drawingml/2006/main">
              <a:ext uri="{FF2B5EF4-FFF2-40B4-BE49-F238E27FC236}">
                <a16:creationId xmlns:a16="http://schemas.microsoft.com/office/drawing/2014/main" id="{BFF79DFB-F37D-4773-9A0F-1746811E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7-t-1">
            <a:extLst xmlns:a="http://schemas.openxmlformats.org/drawingml/2006/main">
              <a:ext uri="{FF2B5EF4-FFF2-40B4-BE49-F238E27FC236}">
                <a16:creationId xmlns:a16="http://schemas.microsoft.com/office/drawing/2014/main" id="{52EEE28D-F0C5-4971-A600-F83C8D0F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001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补七字段：停止、随机化、失败预案</a:t>
            </a:r>
          </a:p>
        </p:txBody>
      </p:sp>
      <p:sp>
        <p:nvSpPr>
          <p:cNvPr id="11" name="p17-n-2">
            <a:extLst xmlns:a="http://schemas.openxmlformats.org/drawingml/2006/main">
              <a:ext uri="{FF2B5EF4-FFF2-40B4-BE49-F238E27FC236}">
                <a16:creationId xmlns:a16="http://schemas.microsoft.com/office/drawing/2014/main" id="{7E87405E-9AA3-4D12-92F0-891B5978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19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7-t-2">
            <a:extLst xmlns:a="http://schemas.openxmlformats.org/drawingml/2006/main">
              <a:ext uri="{FF2B5EF4-FFF2-40B4-BE49-F238E27FC236}">
                <a16:creationId xmlns:a16="http://schemas.microsoft.com/office/drawing/2014/main" id="{E73581B9-5F8C-420E-92D1-8743B0F9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193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写六类复现说明：种子或等价条件</a:t>
            </a:r>
          </a:p>
        </p:txBody>
      </p:sp>
      <p:sp>
        <p:nvSpPr>
          <p:cNvPr id="13" name="p17-n-3">
            <a:extLst xmlns:a="http://schemas.openxmlformats.org/drawingml/2006/main">
              <a:ext uri="{FF2B5EF4-FFF2-40B4-BE49-F238E27FC236}">
                <a16:creationId xmlns:a16="http://schemas.microsoft.com/office/drawing/2014/main" id="{B6FAC3F9-8AF9-4810-B39E-9C25A9DB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7-t-3">
            <a:extLst xmlns:a="http://schemas.openxmlformats.org/drawingml/2006/main">
              <a:ext uri="{FF2B5EF4-FFF2-40B4-BE49-F238E27FC236}">
                <a16:creationId xmlns:a16="http://schemas.microsoft.com/office/drawing/2014/main" id="{66BD5A0D-28D2-47D3-B2AF-93B62D9C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193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重复计划与要声称的强度匹配</a:t>
            </a:r>
          </a:p>
        </p:txBody>
      </p:sp>
      <p:sp>
        <p:nvSpPr>
          <p:cNvPr id="15" name="p17-n-4">
            <a:extLst xmlns:a="http://schemas.openxmlformats.org/drawingml/2006/main">
              <a:ext uri="{FF2B5EF4-FFF2-40B4-BE49-F238E27FC236}">
                <a16:creationId xmlns:a16="http://schemas.microsoft.com/office/drawing/2014/main" id="{555EA258-89D2-43FC-B892-42441E88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8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7-t-4">
            <a:extLst xmlns:a="http://schemas.openxmlformats.org/drawingml/2006/main">
              <a:ext uri="{FF2B5EF4-FFF2-40B4-BE49-F238E27FC236}">
                <a16:creationId xmlns:a16="http://schemas.microsoft.com/office/drawing/2014/main" id="{FB4AF0C2-AEEF-442C-95E8-38B5D96C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J2 六字段</a:t>
            </a:r>
          </a:p>
        </p:txBody>
      </p:sp>
      <p:sp>
        <p:nvSpPr>
          <p:cNvPr id="17" name="p17-n-5">
            <a:extLst xmlns:a="http://schemas.openxmlformats.org/drawingml/2006/main">
              <a:ext uri="{FF2B5EF4-FFF2-40B4-BE49-F238E27FC236}">
                <a16:creationId xmlns:a16="http://schemas.microsoft.com/office/drawing/2014/main" id="{56632C23-67BC-474D-AEC3-D877ACE8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7-t-5">
            <a:extLst xmlns:a="http://schemas.openxmlformats.org/drawingml/2006/main">
              <a:ext uri="{FF2B5EF4-FFF2-40B4-BE49-F238E27FC236}">
                <a16:creationId xmlns:a16="http://schemas.microsoft.com/office/drawing/2014/main" id="{2F201781-888C-4C01-A964-D46E668F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38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反馈逐条采纳 / 拒绝 / 暂缓</a:t>
            </a:r>
          </a:p>
        </p:txBody>
      </p:sp>
      <p:sp>
        <p:nvSpPr>
          <p:cNvPr id="19" name="p17-n-6">
            <a:extLst xmlns:a="http://schemas.openxmlformats.org/drawingml/2006/main">
              <a:ext uri="{FF2B5EF4-FFF2-40B4-BE49-F238E27FC236}">
                <a16:creationId xmlns:a16="http://schemas.microsoft.com/office/drawing/2014/main" id="{E837E1D4-AEA6-47AC-AF74-2FF17604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7-t-6">
            <a:extLst xmlns:a="http://schemas.openxmlformats.org/drawingml/2006/main">
              <a:ext uri="{FF2B5EF4-FFF2-40B4-BE49-F238E27FC236}">
                <a16:creationId xmlns:a16="http://schemas.microsoft.com/office/drawing/2014/main" id="{DC15CF26-339E-418F-8671-3769E66B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启动模板迁移，不丢 AI 记录</a:t>
            </a:r>
          </a:p>
        </p:txBody>
      </p:sp>
      <p:sp>
        <p:nvSpPr>
          <p:cNvPr id="21" name="p17-n-7">
            <a:extLst xmlns:a="http://schemas.openxmlformats.org/drawingml/2006/main">
              <a:ext uri="{FF2B5EF4-FFF2-40B4-BE49-F238E27FC236}">
                <a16:creationId xmlns:a16="http://schemas.microsoft.com/office/drawing/2014/main" id="{EE0BFB5D-A583-45FE-89E7-68206A67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576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7-t-7">
            <a:extLst xmlns:a="http://schemas.openxmlformats.org/drawingml/2006/main">
              <a:ext uri="{FF2B5EF4-FFF2-40B4-BE49-F238E27FC236}">
                <a16:creationId xmlns:a16="http://schemas.microsoft.com/office/drawing/2014/main" id="{44CCDD22-137A-4E20-ACE7-E9B5049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对照八项门条件标状态</a:t>
            </a:r>
          </a:p>
        </p:txBody>
      </p:sp>
      <p:sp>
        <p:nvSpPr>
          <p:cNvPr id="23" name="p17-path">
            <a:extLst xmlns:a="http://schemas.openxmlformats.org/drawingml/2006/main">
              <a:ext uri="{FF2B5EF4-FFF2-40B4-BE49-F238E27FC236}">
                <a16:creationId xmlns:a16="http://schemas.microsoft.com/office/drawing/2014/main" id="{FC6BED60-5C05-4BAB-83F5-8CC7B966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743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优先顺序：本人真实项目 → 贯穿案例</a:t>
            </a:r>
          </a:p>
        </p:txBody>
      </p:sp>
      <p:sp>
        <p:nvSpPr>
          <p:cNvPr id="24" name="p17-files">
            <a:extLst xmlns:a="http://schemas.openxmlformats.org/drawingml/2006/main">
              <a:ext uri="{FF2B5EF4-FFF2-40B4-BE49-F238E27FC236}">
                <a16:creationId xmlns:a16="http://schemas.microsoft.com/office/drawing/2014/main" id="{6E5C44B3-2695-4F50-80F0-4F11A0F8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14850"/>
            <a:ext cx="5676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写入：experiment-spec.md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hypothesis-and-judgment.md｜peer-review.md</a:t>
            </a:r>
          </a:p>
        </p:txBody>
      </p:sp>
      <p:sp>
        <p:nvSpPr>
          <p:cNvPr id="25" name="p17-fallback">
            <a:extLst xmlns:a="http://schemas.openxmlformats.org/drawingml/2006/main">
              <a:ext uri="{FF2B5EF4-FFF2-40B4-BE49-F238E27FC236}">
                <a16:creationId xmlns:a16="http://schemas.microsoft.com/office/drawing/2014/main" id="{92CB6817-FEF0-44A7-AD4C-D7FEF77A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无真实草图：沿用贯穿案例；无网络：在 Markdown 或纸面完成同一工件。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迁移验收要同时看工件状态与文件结构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time">
            <a:extLst xmlns:a="http://schemas.openxmlformats.org/drawingml/2006/main">
              <a:ext uri="{FF2B5EF4-FFF2-40B4-BE49-F238E27FC236}">
                <a16:creationId xmlns:a16="http://schemas.microsoft.com/office/drawing/2014/main" id="{37116290-D714-4427-95A8-70DD7C22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43:00–60:00｜实践停留页</a:t>
            </a:r>
          </a:p>
        </p:txBody>
      </p:sp>
      <p:sp>
        <p:nvSpPr>
          <p:cNvPr id="7" name="p18-check-title">
            <a:extLst xmlns:a="http://schemas.openxmlformats.org/drawingml/2006/main">
              <a:ext uri="{FF2B5EF4-FFF2-40B4-BE49-F238E27FC236}">
                <a16:creationId xmlns:a16="http://schemas.microsoft.com/office/drawing/2014/main" id="{3136DA3C-FF70-43ED-ACC0-96D6D3D5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287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迁移验收</a:t>
            </a:r>
          </a:p>
        </p:txBody>
      </p:sp>
      <p:sp>
        <p:nvSpPr>
          <p:cNvPr id="8" name="p18-c-0">
            <a:extLst xmlns:a="http://schemas.openxmlformats.org/drawingml/2006/main">
              <a:ext uri="{FF2B5EF4-FFF2-40B4-BE49-F238E27FC236}">
                <a16:creationId xmlns:a16="http://schemas.microsoft.com/office/drawing/2014/main" id="{2B0EBC3E-93AE-4CE0-9F41-78AECA41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" name="p18-t-0">
            <a:extLst xmlns:a="http://schemas.openxmlformats.org/drawingml/2006/main">
              <a:ext uri="{FF2B5EF4-FFF2-40B4-BE49-F238E27FC236}">
                <a16:creationId xmlns:a16="http://schemas.microsoft.com/office/drawing/2014/main" id="{05AA306A-48BA-421F-B0A9-28517D8B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002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approved / stable 字段都有对应位置</a:t>
            </a:r>
          </a:p>
        </p:txBody>
      </p:sp>
      <p:sp>
        <p:nvSpPr>
          <p:cNvPr id="10" name="p18-c-1">
            <a:extLst xmlns:a="http://schemas.openxmlformats.org/drawingml/2006/main">
              <a:ext uri="{FF2B5EF4-FFF2-40B4-BE49-F238E27FC236}">
                <a16:creationId xmlns:a16="http://schemas.microsoft.com/office/drawing/2014/main" id="{8C3883FC-1297-4FCC-9B5B-FFA2A529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1" name="p18-t-1">
            <a:extLst xmlns:a="http://schemas.openxmlformats.org/drawingml/2006/main">
              <a:ext uri="{FF2B5EF4-FFF2-40B4-BE49-F238E27FC236}">
                <a16:creationId xmlns:a16="http://schemas.microsoft.com/office/drawing/2014/main" id="{3D8B3B39-845E-44E1-BB40-B61F698B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使用记录条目不减少</a:t>
            </a:r>
          </a:p>
        </p:txBody>
      </p:sp>
      <p:sp>
        <p:nvSpPr>
          <p:cNvPr id="12" name="p18-c-2">
            <a:extLst xmlns:a="http://schemas.openxmlformats.org/drawingml/2006/main">
              <a:ext uri="{FF2B5EF4-FFF2-40B4-BE49-F238E27FC236}">
                <a16:creationId xmlns:a16="http://schemas.microsoft.com/office/drawing/2014/main" id="{1C8FF6C5-8E6F-42F5-A16D-2AF836C9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p18-t-2">
            <a:extLst xmlns:a="http://schemas.openxmlformats.org/drawingml/2006/main">
              <a:ext uri="{FF2B5EF4-FFF2-40B4-BE49-F238E27FC236}">
                <a16:creationId xmlns:a16="http://schemas.microsoft.com/office/drawing/2014/main" id="{F294B73B-2E55-4071-9A70-33D2E74C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718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伦理说明含数据使用限制</a:t>
            </a:r>
          </a:p>
        </p:txBody>
      </p:sp>
      <p:sp>
        <p:nvSpPr>
          <p:cNvPr id="14" name="p18-c-3">
            <a:extLst xmlns:a="http://schemas.openxmlformats.org/drawingml/2006/main">
              <a:ext uri="{FF2B5EF4-FFF2-40B4-BE49-F238E27FC236}">
                <a16:creationId xmlns:a16="http://schemas.microsoft.com/office/drawing/2014/main" id="{1ACFF010-5248-4254-9847-C4E51688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5" name="p18-t-3">
            <a:extLst xmlns:a="http://schemas.openxmlformats.org/drawingml/2006/main">
              <a:ext uri="{FF2B5EF4-FFF2-40B4-BE49-F238E27FC236}">
                <a16:creationId xmlns:a16="http://schemas.microsoft.com/office/drawing/2014/main" id="{32CD1C81-2123-4CEA-93BF-DF109C7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判断门工件到 review / approved</a:t>
            </a:r>
          </a:p>
        </p:txBody>
      </p:sp>
      <p:sp>
        <p:nvSpPr>
          <p:cNvPr id="16" name="p18-c-4">
            <a:extLst xmlns:a="http://schemas.openxmlformats.org/drawingml/2006/main">
              <a:ext uri="{FF2B5EF4-FFF2-40B4-BE49-F238E27FC236}">
                <a16:creationId xmlns:a16="http://schemas.microsoft.com/office/drawing/2014/main" id="{636BA6A3-6C2B-49D5-99E4-FCBE39A08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7" name="p18-t-4">
            <a:extLst xmlns:a="http://schemas.openxmlformats.org/drawingml/2006/main">
              <a:ext uri="{FF2B5EF4-FFF2-40B4-BE49-F238E27FC236}">
                <a16:creationId xmlns:a16="http://schemas.microsoft.com/office/drawing/2014/main" id="{0C1E034D-6849-47AA-B020-C11C4039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434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实验记录至少 1 行可追溯</a:t>
            </a:r>
          </a:p>
        </p:txBody>
      </p:sp>
      <p:sp>
        <p:nvSpPr>
          <p:cNvPr id="18" name="p18-tree-title">
            <a:extLst xmlns:a="http://schemas.openxmlformats.org/drawingml/2006/main">
              <a:ext uri="{FF2B5EF4-FFF2-40B4-BE49-F238E27FC236}">
                <a16:creationId xmlns:a16="http://schemas.microsoft.com/office/drawing/2014/main" id="{84993C59-A7FA-4CC9-8ADC-872B11B5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028700"/>
            <a:ext cx="441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判断门材料骨架</a:t>
            </a:r>
          </a:p>
        </p:txBody>
      </p:sp>
      <p:sp>
        <p:nvSpPr>
          <p:cNvPr id="19" name="p18-tree">
            <a:extLst xmlns:a="http://schemas.openxmlformats.org/drawingml/2006/main">
              <a:ext uri="{FF2B5EF4-FFF2-40B4-BE49-F238E27FC236}">
                <a16:creationId xmlns:a16="http://schemas.microsoft.com/office/drawing/2014/main" id="{8B92F3B1-567E-4809-95DE-DB94307A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19250"/>
            <a:ext cx="46291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76200" rIns="114300" bIns="76200" anchor="ctr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README.md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problem-definition.md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proposal.md / evidence-map.md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hypothesis-and-judgment.md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experiment-spec.md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ai-usage-log.md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ethics-and-compliance.md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artifact-tracking.md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peer-review.md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src/  experiments/  notes/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BC0A3081-7EED-4C08-AF53-2A425320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86350"/>
            <a:ext cx="8115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使用记录最小字段：工具/模型｜用途｜Context｜输出用途｜人工核验｜问题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同伴只按门条件提问题，作者保留决定权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time">
            <a:extLst xmlns:a="http://schemas.openxmlformats.org/drawingml/2006/main">
              <a:ext uri="{FF2B5EF4-FFF2-40B4-BE49-F238E27FC236}">
                <a16:creationId xmlns:a16="http://schemas.microsoft.com/office/drawing/2014/main" id="{A3D50E6F-08CA-4C56-AD34-08A1E11F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60:00–78:00｜2–3 人互查</a:t>
            </a:r>
          </a:p>
        </p:txBody>
      </p:sp>
      <p:sp>
        <p:nvSpPr>
          <p:cNvPr id="7" name="p19-n-0">
            <a:extLst xmlns:a="http://schemas.openxmlformats.org/drawingml/2006/main">
              <a:ext uri="{FF2B5EF4-FFF2-40B4-BE49-F238E27FC236}">
                <a16:creationId xmlns:a16="http://schemas.microsoft.com/office/drawing/2014/main" id="{65DC097F-5C74-4F4B-A812-E1D3C6D8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10AD68DA-9A06-43BF-B556-56A3B9B9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2001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类型与公平性？</a:t>
            </a:r>
          </a:p>
        </p:txBody>
      </p:sp>
      <p:sp>
        <p:nvSpPr>
          <p:cNvPr id="9" name="p19-n-1">
            <a:extLst xmlns:a="http://schemas.openxmlformats.org/drawingml/2006/main">
              <a:ext uri="{FF2B5EF4-FFF2-40B4-BE49-F238E27FC236}">
                <a16:creationId xmlns:a16="http://schemas.microsoft.com/office/drawing/2014/main" id="{A94F0B3D-375D-43A9-982E-FC0A780E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00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9DA65B4E-FCAA-4213-A5F9-38018FD4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2001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种子或等价条件可追溯？</a:t>
            </a:r>
          </a:p>
        </p:txBody>
      </p:sp>
      <p:sp>
        <p:nvSpPr>
          <p:cNvPr id="11" name="p19-n-2">
            <a:extLst xmlns:a="http://schemas.openxmlformats.org/drawingml/2006/main">
              <a:ext uri="{FF2B5EF4-FFF2-40B4-BE49-F238E27FC236}">
                <a16:creationId xmlns:a16="http://schemas.microsoft.com/office/drawing/2014/main" id="{5467CB02-A4BE-4409-ACF3-49371D4C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2BF69308-A820-4FD0-A043-63ACF290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重复计划支持主张强度？</a:t>
            </a:r>
          </a:p>
        </p:txBody>
      </p:sp>
      <p:sp>
        <p:nvSpPr>
          <p:cNvPr id="13" name="p19-n-3">
            <a:extLst xmlns:a="http://schemas.openxmlformats.org/drawingml/2006/main">
              <a:ext uri="{FF2B5EF4-FFF2-40B4-BE49-F238E27FC236}">
                <a16:creationId xmlns:a16="http://schemas.microsoft.com/office/drawing/2014/main" id="{5097AB66-C732-4A39-9CC4-AF3929E3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9-q-3">
            <a:extLst xmlns:a="http://schemas.openxmlformats.org/drawingml/2006/main">
              <a:ext uri="{FF2B5EF4-FFF2-40B4-BE49-F238E27FC236}">
                <a16:creationId xmlns:a16="http://schemas.microsoft.com/office/drawing/2014/main" id="{27B27D7E-4B6E-4DE7-84A7-620C3FC0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812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停止条件预先写明？</a:t>
            </a:r>
          </a:p>
        </p:txBody>
      </p:sp>
      <p:sp>
        <p:nvSpPr>
          <p:cNvPr id="15" name="p19-n-4">
            <a:extLst xmlns:a="http://schemas.openxmlformats.org/drawingml/2006/main">
              <a:ext uri="{FF2B5EF4-FFF2-40B4-BE49-F238E27FC236}">
                <a16:creationId xmlns:a16="http://schemas.microsoft.com/office/drawing/2014/main" id="{D43AA7DE-5DD7-4756-B5F3-065CEC4E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622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9-q-4">
            <a:extLst xmlns:a="http://schemas.openxmlformats.org/drawingml/2006/main">
              <a:ext uri="{FF2B5EF4-FFF2-40B4-BE49-F238E27FC236}">
                <a16:creationId xmlns:a16="http://schemas.microsoft.com/office/drawing/2014/main" id="{A3932610-6D1F-4D48-B37B-854909CD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J2 六字段含适用边界？</a:t>
            </a:r>
          </a:p>
        </p:txBody>
      </p:sp>
      <p:sp>
        <p:nvSpPr>
          <p:cNvPr id="17" name="p19-n-5">
            <a:extLst xmlns:a="http://schemas.openxmlformats.org/drawingml/2006/main">
              <a:ext uri="{FF2B5EF4-FFF2-40B4-BE49-F238E27FC236}">
                <a16:creationId xmlns:a16="http://schemas.microsoft.com/office/drawing/2014/main" id="{7C2C953B-02CE-40DE-AD91-ED987A61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622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9-q-5">
            <a:extLst xmlns:a="http://schemas.openxmlformats.org/drawingml/2006/main">
              <a:ext uri="{FF2B5EF4-FFF2-40B4-BE49-F238E27FC236}">
                <a16:creationId xmlns:a16="http://schemas.microsoft.com/office/drawing/2014/main" id="{155D11B9-354A-4757-B2FA-5E1F8C8E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622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拒绝反馈有依据？</a:t>
            </a:r>
          </a:p>
        </p:txBody>
      </p:sp>
      <p:sp>
        <p:nvSpPr>
          <p:cNvPr id="19" name="p19-n-6">
            <a:extLst xmlns:a="http://schemas.openxmlformats.org/drawingml/2006/main">
              <a:ext uri="{FF2B5EF4-FFF2-40B4-BE49-F238E27FC236}">
                <a16:creationId xmlns:a16="http://schemas.microsoft.com/office/drawing/2014/main" id="{549F63D9-EDAF-4726-9A10-5F4EAF68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9-q-6">
            <a:extLst xmlns:a="http://schemas.openxmlformats.org/drawingml/2006/main">
              <a:ext uri="{FF2B5EF4-FFF2-40B4-BE49-F238E27FC236}">
                <a16:creationId xmlns:a16="http://schemas.microsoft.com/office/drawing/2014/main" id="{96703D48-634D-4DCE-9BF6-ED5CB454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最大风险有对应预案？</a:t>
            </a:r>
          </a:p>
        </p:txBody>
      </p:sp>
      <p:sp>
        <p:nvSpPr>
          <p:cNvPr id="21" name="p19-n-7">
            <a:extLst xmlns:a="http://schemas.openxmlformats.org/drawingml/2006/main">
              <a:ext uri="{FF2B5EF4-FFF2-40B4-BE49-F238E27FC236}">
                <a16:creationId xmlns:a16="http://schemas.microsoft.com/office/drawing/2014/main" id="{111FFAFA-52C5-46B6-A071-AC0F3B58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9-q-7">
            <a:extLst xmlns:a="http://schemas.openxmlformats.org/drawingml/2006/main">
              <a:ext uri="{FF2B5EF4-FFF2-40B4-BE49-F238E27FC236}">
                <a16:creationId xmlns:a16="http://schemas.microsoft.com/office/drawing/2014/main" id="{CAAE4093-BC5F-4AF0-9AB6-BD32A6B2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433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迁移未丢 AI / 伦理记录？</a:t>
            </a:r>
          </a:p>
        </p:txBody>
      </p:sp>
      <p:sp>
        <p:nvSpPr>
          <p:cNvPr id="23" name="p19-author">
            <a:extLst xmlns:a="http://schemas.openxmlformats.org/drawingml/2006/main">
              <a:ext uri="{FF2B5EF4-FFF2-40B4-BE49-F238E27FC236}">
                <a16:creationId xmlns:a16="http://schemas.microsoft.com/office/drawing/2014/main" id="{76CD8538-F94F-4D50-AE81-1DAAA879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52950"/>
            <a:ext cx="508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作者记录：采纳｜暂不采纳｜待核验</a:t>
            </a:r>
          </a:p>
        </p:txBody>
      </p:sp>
      <p:sp>
        <p:nvSpPr>
          <p:cNvPr id="24" name="p19-rule">
            <a:extLst xmlns:a="http://schemas.openxmlformats.org/drawingml/2006/main">
              <a:ext uri="{FF2B5EF4-FFF2-40B4-BE49-F238E27FC236}">
                <a16:creationId xmlns:a16="http://schemas.microsoft.com/office/drawing/2014/main" id="{9616B017-A1A2-48FC-90D7-43535E6B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52950"/>
            <a:ext cx="4819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同伴只提问题；不替作者修改，不形成共同提交。</a:t>
            </a:r>
          </a:p>
        </p:txBody>
      </p:sp>
      <p:sp>
        <p:nvSpPr>
          <p:cNvPr id="25" name="p19-format">
            <a:extLst xmlns:a="http://schemas.openxmlformats.org/drawingml/2006/main">
              <a:ext uri="{FF2B5EF4-FFF2-40B4-BE49-F238E27FC236}">
                <a16:creationId xmlns:a16="http://schemas.microsoft.com/office/drawing/2014/main" id="{975661A0-C7B6-47D7-B903-2D7190E7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34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baseline + 七字段 + 反馈处理；同伴按八项检查。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sn0">
            <a:extLst xmlns:a="http://schemas.openxmlformats.org/drawingml/2006/main">
              <a:ext uri="{FF2B5EF4-FFF2-40B4-BE49-F238E27FC236}">
                <a16:creationId xmlns:a16="http://schemas.microsoft.com/office/drawing/2014/main" id="{28ED987D-31D7-4560-AED2-EDC36847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20-sh0">
            <a:extLst xmlns:a="http://schemas.openxmlformats.org/drawingml/2006/main">
              <a:ext uri="{FF2B5EF4-FFF2-40B4-BE49-F238E27FC236}">
                <a16:creationId xmlns:a16="http://schemas.microsoft.com/office/drawing/2014/main" id="{DACD38F1-DB16-42A7-B669-48283283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公平 baseline</a:t>
            </a:r>
          </a:p>
        </p:txBody>
      </p:sp>
      <p:sp>
        <p:nvSpPr>
          <p:cNvPr id="8" name="p20-sd0">
            <a:extLst xmlns:a="http://schemas.openxmlformats.org/drawingml/2006/main">
              <a:ext uri="{FF2B5EF4-FFF2-40B4-BE49-F238E27FC236}">
                <a16:creationId xmlns:a16="http://schemas.microsoft.com/office/drawing/2014/main" id="{6DDB9F47-EDED-4843-84D2-BB60F963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比较对象与预算必须可解释</a:t>
            </a:r>
          </a:p>
        </p:txBody>
      </p:sp>
      <p:sp>
        <p:nvSpPr>
          <p:cNvPr id="9" name="p20-sn1">
            <a:extLst xmlns:a="http://schemas.openxmlformats.org/drawingml/2006/main">
              <a:ext uri="{FF2B5EF4-FFF2-40B4-BE49-F238E27FC236}">
                <a16:creationId xmlns:a16="http://schemas.microsoft.com/office/drawing/2014/main" id="{71768FC9-BED0-4604-AE5C-968C6697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20-sh1">
            <a:extLst xmlns:a="http://schemas.openxmlformats.org/drawingml/2006/main">
              <a:ext uri="{FF2B5EF4-FFF2-40B4-BE49-F238E27FC236}">
                <a16:creationId xmlns:a16="http://schemas.microsoft.com/office/drawing/2014/main" id="{28349343-3D55-417A-8125-D64BFBC4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实验规格</a:t>
            </a:r>
          </a:p>
        </p:txBody>
      </p:sp>
      <p:sp>
        <p:nvSpPr>
          <p:cNvPr id="11" name="p20-sd1">
            <a:extLst xmlns:a="http://schemas.openxmlformats.org/drawingml/2006/main">
              <a:ext uri="{FF2B5EF4-FFF2-40B4-BE49-F238E27FC236}">
                <a16:creationId xmlns:a16="http://schemas.microsoft.com/office/drawing/2014/main" id="{DCC7DF99-A9A8-48BE-9185-8B32AF8C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假设、变量、指标、对照与停止条件齐全</a:t>
            </a:r>
          </a:p>
        </p:txBody>
      </p:sp>
      <p:sp>
        <p:nvSpPr>
          <p:cNvPr id="12" name="p20-sn2">
            <a:extLst xmlns:a="http://schemas.openxmlformats.org/drawingml/2006/main">
              <a:ext uri="{FF2B5EF4-FFF2-40B4-BE49-F238E27FC236}">
                <a16:creationId xmlns:a16="http://schemas.microsoft.com/office/drawing/2014/main" id="{C50F7EAC-4B3B-4767-8471-6F2FB3B6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20-sh2">
            <a:extLst xmlns:a="http://schemas.openxmlformats.org/drawingml/2006/main">
              <a:ext uri="{FF2B5EF4-FFF2-40B4-BE49-F238E27FC236}">
                <a16:creationId xmlns:a16="http://schemas.microsoft.com/office/drawing/2014/main" id="{129961C4-CB7E-441B-9345-6872D7FF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复现记录</a:t>
            </a:r>
          </a:p>
        </p:txBody>
      </p:sp>
      <p:sp>
        <p:nvSpPr>
          <p:cNvPr id="14" name="p20-sd2">
            <a:extLst xmlns:a="http://schemas.openxmlformats.org/drawingml/2006/main">
              <a:ext uri="{FF2B5EF4-FFF2-40B4-BE49-F238E27FC236}">
                <a16:creationId xmlns:a16="http://schemas.microsoft.com/office/drawing/2014/main" id="{71903AFE-8E31-4A61-A1B1-23932EE0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环境、配置、随机种子与数据可追溯</a:t>
            </a:r>
          </a:p>
        </p:txBody>
      </p:sp>
      <p:sp>
        <p:nvSpPr>
          <p:cNvPr id="15" name="p20-sn3">
            <a:extLst xmlns:a="http://schemas.openxmlformats.org/drawingml/2006/main">
              <a:ext uri="{FF2B5EF4-FFF2-40B4-BE49-F238E27FC236}">
                <a16:creationId xmlns:a16="http://schemas.microsoft.com/office/drawing/2014/main" id="{8EBBD08D-5FDD-4CC6-84BF-BD4EBD9E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20-sh3">
            <a:extLst xmlns:a="http://schemas.openxmlformats.org/drawingml/2006/main">
              <a:ext uri="{FF2B5EF4-FFF2-40B4-BE49-F238E27FC236}">
                <a16:creationId xmlns:a16="http://schemas.microsoft.com/office/drawing/2014/main" id="{D6FD2B61-C4A0-410C-AF41-D28A9B3D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7" name="p20-sd3">
            <a:extLst xmlns:a="http://schemas.openxmlformats.org/drawingml/2006/main">
              <a:ext uri="{FF2B5EF4-FFF2-40B4-BE49-F238E27FC236}">
                <a16:creationId xmlns:a16="http://schemas.microsoft.com/office/drawing/2014/main" id="{7A5C92D0-2FC7-48A6-B209-CC7A3DF8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把规格、判断、反馈与风险绑定到当前版本</a:t>
            </a:r>
          </a:p>
        </p:txBody>
      </p:sp>
      <p:sp>
        <p:nvSpPr>
          <p:cNvPr id="18" name="p20-boundary">
            <a:extLst xmlns:a="http://schemas.openxmlformats.org/drawingml/2006/main">
              <a:ext uri="{FF2B5EF4-FFF2-40B4-BE49-F238E27FC236}">
                <a16:creationId xmlns:a16="http://schemas.microsoft.com/office/drawing/2014/main" id="{09C72B66-D7F3-4DA8-8746-15B5C3D1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38625"/>
            <a:ext cx="9048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关键边界：能运行不等于公平、可复现或足以支持研究判断。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提交当前项目版本，并把规格交给第 10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0-submit-title">
            <a:extLst xmlns:a="http://schemas.openxmlformats.org/drawingml/2006/main">
              <a:ext uri="{FF2B5EF4-FFF2-40B4-BE49-F238E27FC236}">
                <a16:creationId xmlns:a16="http://schemas.microsoft.com/office/drawing/2014/main" id="{58EAF929-064C-4EDF-82D1-5B680851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提交当前个人项目版本</a:t>
            </a:r>
          </a:p>
        </p:txBody>
      </p:sp>
      <p:sp>
        <p:nvSpPr>
          <p:cNvPr id="7" name="p20-submit">
            <a:extLst xmlns:a="http://schemas.openxmlformats.org/drawingml/2006/main">
              <a:ext uri="{FF2B5EF4-FFF2-40B4-BE49-F238E27FC236}">
                <a16:creationId xmlns:a16="http://schemas.microsoft.com/office/drawing/2014/main" id="{6F05DDFD-F0C1-4C9D-AEB1-8F1E27E4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4838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链接｜tag｜压缩包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不另做与项目仓库分离的汇报文档</a:t>
            </a:r>
          </a:p>
        </p:txBody>
      </p:sp>
      <p:sp>
        <p:nvSpPr>
          <p:cNvPr id="8" name="p20-back-title">
            <a:extLst xmlns:a="http://schemas.openxmlformats.org/drawingml/2006/main">
              <a:ext uri="{FF2B5EF4-FFF2-40B4-BE49-F238E27FC236}">
                <a16:creationId xmlns:a16="http://schemas.microsoft.com/office/drawing/2014/main" id="{E6A70CA9-369E-4581-8A7D-A0AB3FF8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未通过：按根因回退</a:t>
            </a:r>
          </a:p>
        </p:txBody>
      </p:sp>
      <p:sp>
        <p:nvSpPr>
          <p:cNvPr id="9" name="p20-back">
            <a:extLst xmlns:a="http://schemas.openxmlformats.org/drawingml/2006/main">
              <a:ext uri="{FF2B5EF4-FFF2-40B4-BE49-F238E27FC236}">
                <a16:creationId xmlns:a16="http://schemas.microsoft.com/office/drawing/2014/main" id="{C18CD464-54C6-4142-BFAD-C3156A8C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648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→ 公平性 / 缩小范围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 → §三·2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种子 → §四·1–2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判断不足 → 补 J2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反馈未处理 → 第 8 课记录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迁移丢记录 → 迁移验收</a:t>
            </a:r>
          </a:p>
        </p:txBody>
      </p:sp>
      <p:sp>
        <p:nvSpPr>
          <p:cNvPr id="10" name="p20-next-title">
            <a:extLst xmlns:a="http://schemas.openxmlformats.org/drawingml/2006/main">
              <a:ext uri="{FF2B5EF4-FFF2-40B4-BE49-F238E27FC236}">
                <a16:creationId xmlns:a16="http://schemas.microsoft.com/office/drawing/2014/main" id="{0AD13980-6175-419F-806A-40B3BBE9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990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直接交给第 10 课</a:t>
            </a:r>
          </a:p>
        </p:txBody>
      </p:sp>
      <p:sp>
        <p:nvSpPr>
          <p:cNvPr id="11" name="p20-l1">
            <a:extLst xmlns:a="http://schemas.openxmlformats.org/drawingml/2006/main">
              <a:ext uri="{FF2B5EF4-FFF2-40B4-BE49-F238E27FC236}">
                <a16:creationId xmlns:a16="http://schemas.microsoft.com/office/drawing/2014/main" id="{F7C2988E-563D-4CC2-AB21-FD84856F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26670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20-l2">
            <a:extLst xmlns:a="http://schemas.openxmlformats.org/drawingml/2006/main">
              <a:ext uri="{FF2B5EF4-FFF2-40B4-BE49-F238E27FC236}">
                <a16:creationId xmlns:a16="http://schemas.microsoft.com/office/drawing/2014/main" id="{29177F11-9928-4E5D-831B-89773383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41148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0-a">
            <a:extLst xmlns:a="http://schemas.openxmlformats.org/drawingml/2006/main">
              <a:ext uri="{FF2B5EF4-FFF2-40B4-BE49-F238E27FC236}">
                <a16:creationId xmlns:a16="http://schemas.microsoft.com/office/drawing/2014/main" id="{521B7F4A-390A-49FF-8F9C-3AE375DD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192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</p:txBody>
      </p:sp>
      <p:sp>
        <p:nvSpPr>
          <p:cNvPr id="14" name="p20-b">
            <a:extLst xmlns:a="http://schemas.openxmlformats.org/drawingml/2006/main">
              <a:ext uri="{FF2B5EF4-FFF2-40B4-BE49-F238E27FC236}">
                <a16:creationId xmlns:a16="http://schemas.microsoft.com/office/drawing/2014/main" id="{99470900-6061-4667-AEC2-E2EC336F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52750"/>
            <a:ext cx="3848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标出 Agent 可做步骤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与必须人工决定点</a:t>
            </a:r>
          </a:p>
        </p:txBody>
      </p:sp>
      <p:sp>
        <p:nvSpPr>
          <p:cNvPr id="15" name="p20-c">
            <a:extLst xmlns:a="http://schemas.openxmlformats.org/drawingml/2006/main">
              <a:ext uri="{FF2B5EF4-FFF2-40B4-BE49-F238E27FC236}">
                <a16:creationId xmlns:a16="http://schemas.microsoft.com/office/drawing/2014/main" id="{025ACAC8-1BC3-4565-B127-CC3D3AEF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005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10 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受限 Agent 任务契约</a:t>
            </a:r>
          </a:p>
        </p:txBody>
      </p:sp>
      <p:sp>
        <p:nvSpPr>
          <p:cNvPr id="16" name="p20-bottom">
            <a:extLst xmlns:a="http://schemas.openxmlformats.org/drawingml/2006/main">
              <a:ext uri="{FF2B5EF4-FFF2-40B4-BE49-F238E27FC236}">
                <a16:creationId xmlns:a16="http://schemas.microsoft.com/office/drawing/2014/main" id="{EDA2D03D-4532-4B51-8B87-9EBC05F0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86400"/>
            <a:ext cx="960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退出卡：你的 baseline 为什么公平？复现说明齐到种子了吗？哪项门条件最可能不通过？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2026-08-20T15:14:20.6040000Z</dcterms:created>
  <dcterms:modified xsi:type="dcterms:W3CDTF">2026-08-20T15:14:20.6040000Z</dcterms:modified>
</coreProperties>
</file>