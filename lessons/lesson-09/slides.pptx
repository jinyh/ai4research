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a690d1c24f4518" /><Relationship Type="http://schemas.openxmlformats.org/officeDocument/2006/relationships/extended-properties" Target="/docProps/app.xml" Id="R6d59a7d88f984009" /><Relationship Type="http://schemas.openxmlformats.org/officeDocument/2006/relationships/officeDocument" Target="/ppt/presentation.xml" Id="Rcc233342f65e4f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7d53b00a5e84254"/>
  </p:sldMasterIdLst>
  <p:notesMasterIdLst>
    <p:notesMasterId xmlns:r="http://schemas.openxmlformats.org/officeDocument/2006/relationships" r:id="R73309d55a76742ff"/>
  </p:notesMasterIdLst>
  <p:sldIdLst>
    <p:sldId xmlns:r="http://schemas.openxmlformats.org/officeDocument/2006/relationships" id="256" r:id="R0ba1befc89914ca4"/>
    <p:sldId xmlns:r="http://schemas.openxmlformats.org/officeDocument/2006/relationships" id="257" r:id="Rce4e62869852491c"/>
    <p:sldId xmlns:r="http://schemas.openxmlformats.org/officeDocument/2006/relationships" id="258" r:id="Rab8e4797bbbc4b13"/>
    <p:sldId xmlns:r="http://schemas.openxmlformats.org/officeDocument/2006/relationships" id="259" r:id="Ra211966645e44593"/>
    <p:sldId xmlns:r="http://schemas.openxmlformats.org/officeDocument/2006/relationships" id="260" r:id="Rc975349d789c40ec"/>
    <p:sldId xmlns:r="http://schemas.openxmlformats.org/officeDocument/2006/relationships" id="261" r:id="Rf3a367b00cfe4599"/>
    <p:sldId xmlns:r="http://schemas.openxmlformats.org/officeDocument/2006/relationships" id="262" r:id="R2ce50eeff1b64950"/>
    <p:sldId xmlns:r="http://schemas.openxmlformats.org/officeDocument/2006/relationships" id="263" r:id="R3c0afec2a1af406c"/>
    <p:sldId xmlns:r="http://schemas.openxmlformats.org/officeDocument/2006/relationships" id="264" r:id="R4d0a34e9cc6a4e72"/>
    <p:sldId xmlns:r="http://schemas.openxmlformats.org/officeDocument/2006/relationships" id="265" r:id="Rbc21ceda481b4d3f"/>
    <p:sldId xmlns:r="http://schemas.openxmlformats.org/officeDocument/2006/relationships" id="266" r:id="R4e9ad449664b4121"/>
    <p:sldId xmlns:r="http://schemas.openxmlformats.org/officeDocument/2006/relationships" id="267" r:id="R9870678566e84e93"/>
    <p:sldId xmlns:r="http://schemas.openxmlformats.org/officeDocument/2006/relationships" id="268" r:id="R476a9048c7f44d82"/>
    <p:sldId xmlns:r="http://schemas.openxmlformats.org/officeDocument/2006/relationships" id="269" r:id="R7272a125fc784660"/>
    <p:sldId xmlns:r="http://schemas.openxmlformats.org/officeDocument/2006/relationships" id="270" r:id="R80ef6a2a56c04066"/>
    <p:sldId xmlns:r="http://schemas.openxmlformats.org/officeDocument/2006/relationships" id="271" r:id="R152f6755c2b549a7"/>
    <p:sldId xmlns:r="http://schemas.openxmlformats.org/officeDocument/2006/relationships" id="272" r:id="Ra71218013db84bfe"/>
    <p:sldId xmlns:r="http://schemas.openxmlformats.org/officeDocument/2006/relationships" id="273" r:id="R0a40ee2222b04187"/>
    <p:sldId xmlns:r="http://schemas.openxmlformats.org/officeDocument/2006/relationships" id="274" r:id="R1a770984b8564e96"/>
    <p:sldId xmlns:r="http://schemas.openxmlformats.org/officeDocument/2006/relationships" id="275" r:id="Rd7f66243ac62452c"/>
    <p:sldId xmlns:r="http://schemas.openxmlformats.org/officeDocument/2006/relationships" id="276" r:id="Rb89ae8b3648d478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c0385224754b04" /><Relationship Type="http://schemas.openxmlformats.org/officeDocument/2006/relationships/slideMaster" Target="/ppt/slideMasters/slideMaster1.xml" Id="R07d53b00a5e84254" /><Relationship Type="http://schemas.openxmlformats.org/officeDocument/2006/relationships/notesMaster" Target="/ppt/notesMasters/notesMaster1.xml" Id="R73309d55a76742ff" /><Relationship Type="http://schemas.openxmlformats.org/officeDocument/2006/relationships/presProps" Target="/ppt/presProps.xml" Id="R96ce64c70e2f441c" /><Relationship Type="http://schemas.openxmlformats.org/officeDocument/2006/relationships/viewProps" Target="/ppt/viewProps.xml" Id="R628f81ffd4254229" /><Relationship Type="http://schemas.openxmlformats.org/officeDocument/2006/relationships/tableStyles" Target="/ppt/tableStyles.xml" Id="R3b1e129ae0084f7b" /><Relationship Type="http://schemas.openxmlformats.org/officeDocument/2006/relationships/slide" Target="/ppt/slides/slide1.xml" Id="R0ba1befc89914ca4" /><Relationship Type="http://schemas.openxmlformats.org/officeDocument/2006/relationships/slide" Target="/ppt/slides/slide2.xml" Id="Rce4e62869852491c" /><Relationship Type="http://schemas.openxmlformats.org/officeDocument/2006/relationships/slide" Target="/ppt/slides/slide3.xml" Id="Rab8e4797bbbc4b13" /><Relationship Type="http://schemas.openxmlformats.org/officeDocument/2006/relationships/slide" Target="/ppt/slides/slide4.xml" Id="Ra211966645e44593" /><Relationship Type="http://schemas.openxmlformats.org/officeDocument/2006/relationships/slide" Target="/ppt/slides/slide5.xml" Id="Rc975349d789c40ec" /><Relationship Type="http://schemas.openxmlformats.org/officeDocument/2006/relationships/slide" Target="/ppt/slides/slide6.xml" Id="Rf3a367b00cfe4599" /><Relationship Type="http://schemas.openxmlformats.org/officeDocument/2006/relationships/slide" Target="/ppt/slides/slide7.xml" Id="R2ce50eeff1b64950" /><Relationship Type="http://schemas.openxmlformats.org/officeDocument/2006/relationships/slide" Target="/ppt/slides/slide8.xml" Id="R3c0afec2a1af406c" /><Relationship Type="http://schemas.openxmlformats.org/officeDocument/2006/relationships/slide" Target="/ppt/slides/slide9.xml" Id="R4d0a34e9cc6a4e72" /><Relationship Type="http://schemas.openxmlformats.org/officeDocument/2006/relationships/slide" Target="/ppt/slides/slide10.xml" Id="Rbc21ceda481b4d3f" /><Relationship Type="http://schemas.openxmlformats.org/officeDocument/2006/relationships/slide" Target="/ppt/slides/slide11.xml" Id="R4e9ad449664b4121" /><Relationship Type="http://schemas.openxmlformats.org/officeDocument/2006/relationships/slide" Target="/ppt/slides/slide12.xml" Id="R9870678566e84e93" /><Relationship Type="http://schemas.openxmlformats.org/officeDocument/2006/relationships/slide" Target="/ppt/slides/slide13.xml" Id="R476a9048c7f44d82" /><Relationship Type="http://schemas.openxmlformats.org/officeDocument/2006/relationships/slide" Target="/ppt/slides/slide14.xml" Id="R7272a125fc784660" /><Relationship Type="http://schemas.openxmlformats.org/officeDocument/2006/relationships/slide" Target="/ppt/slides/slide15.xml" Id="R80ef6a2a56c04066" /><Relationship Type="http://schemas.openxmlformats.org/officeDocument/2006/relationships/slide" Target="/ppt/slides/slide16.xml" Id="R152f6755c2b549a7" /><Relationship Type="http://schemas.openxmlformats.org/officeDocument/2006/relationships/slide" Target="/ppt/slides/slide17.xml" Id="Ra71218013db84bfe" /><Relationship Type="http://schemas.openxmlformats.org/officeDocument/2006/relationships/slide" Target="/ppt/slides/slide18.xml" Id="R0a40ee2222b04187" /><Relationship Type="http://schemas.openxmlformats.org/officeDocument/2006/relationships/slide" Target="/ppt/slides/slide19.xml" Id="R1a770984b8564e96" /><Relationship Type="http://schemas.openxmlformats.org/officeDocument/2006/relationships/slide" Target="/ppt/slides/slide20.xml" Id="Rd7f66243ac62452c" /><Relationship Type="http://schemas.openxmlformats.org/officeDocument/2006/relationships/slide" Target="/ppt/slides/slide21.xml" Id="Rb89ae8b3648d47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60f12e65554c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12876d9c734307" /><Relationship Type="http://schemas.openxmlformats.org/officeDocument/2006/relationships/notesMaster" Target="/ppt/notesMasters/notesMaster1.xml" Id="Re0ae309599ac4f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58721bbf774d1a" /><Relationship Type="http://schemas.openxmlformats.org/officeDocument/2006/relationships/notesMaster" Target="/ppt/notesMasters/notesMaster1.xml" Id="R8d0b4f7c844b44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3547d82b4643a9" /><Relationship Type="http://schemas.openxmlformats.org/officeDocument/2006/relationships/notesMaster" Target="/ppt/notesMasters/notesMaster1.xml" Id="Rb3cb8cbf096a40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addf666d0e34ea2" /><Relationship Type="http://schemas.openxmlformats.org/officeDocument/2006/relationships/notesMaster" Target="/ppt/notesMasters/notesMaster1.xml" Id="Rca2179429749476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3dc719fe0004950" /><Relationship Type="http://schemas.openxmlformats.org/officeDocument/2006/relationships/notesMaster" Target="/ppt/notesMasters/notesMaster1.xml" Id="R4a8ddac513e643d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06537b902034daa" /><Relationship Type="http://schemas.openxmlformats.org/officeDocument/2006/relationships/notesMaster" Target="/ppt/notesMasters/notesMaster1.xml" Id="R7af1abc61c8c40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1102305ba31408b" /><Relationship Type="http://schemas.openxmlformats.org/officeDocument/2006/relationships/notesMaster" Target="/ppt/notesMasters/notesMaster1.xml" Id="R8f6929fd15f54b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76acfc68a043d8" /><Relationship Type="http://schemas.openxmlformats.org/officeDocument/2006/relationships/notesMaster" Target="/ppt/notesMasters/notesMaster1.xml" Id="R6d61bcca06d54a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4a69fc1d9e441b4" /><Relationship Type="http://schemas.openxmlformats.org/officeDocument/2006/relationships/notesMaster" Target="/ppt/notesMasters/notesMaster1.xml" Id="Ref7b73f601a24b4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f8aaea5208b41b0" /><Relationship Type="http://schemas.openxmlformats.org/officeDocument/2006/relationships/notesMaster" Target="/ppt/notesMasters/notesMaster1.xml" Id="Rfd0eab460bf0403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95b604dbd1a4c2f" /><Relationship Type="http://schemas.openxmlformats.org/officeDocument/2006/relationships/notesMaster" Target="/ppt/notesMasters/notesMaster1.xml" Id="R37597dcb020f46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da233831085416c" /><Relationship Type="http://schemas.openxmlformats.org/officeDocument/2006/relationships/notesMaster" Target="/ppt/notesMasters/notesMaster1.xml" Id="R2c56d794642b417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425d034bf074c8c" /><Relationship Type="http://schemas.openxmlformats.org/officeDocument/2006/relationships/notesMaster" Target="/ppt/notesMasters/notesMaster1.xml" Id="R9e55148b29404a0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d0a249125c1459b" /><Relationship Type="http://schemas.openxmlformats.org/officeDocument/2006/relationships/notesMaster" Target="/ppt/notesMasters/notesMaster1.xml" Id="Rd178e5d47faa4c9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cd93c7ac2b041b4" /><Relationship Type="http://schemas.openxmlformats.org/officeDocument/2006/relationships/notesMaster" Target="/ppt/notesMasters/notesMaster1.xml" Id="R393bc2c8750f49c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5d6ab8a3e5f40ba" /><Relationship Type="http://schemas.openxmlformats.org/officeDocument/2006/relationships/notesMaster" Target="/ppt/notesMasters/notesMaster1.xml" Id="R9701eb640df14d4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9c93f0bf03a4a07" /><Relationship Type="http://schemas.openxmlformats.org/officeDocument/2006/relationships/notesMaster" Target="/ppt/notesMasters/notesMaster1.xml" Id="Rbbb1b9e70d6e4c7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15dba7544fa4645" /><Relationship Type="http://schemas.openxmlformats.org/officeDocument/2006/relationships/notesMaster" Target="/ppt/notesMasters/notesMaster1.xml" Id="R477a6fd41ce74b5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ecf96e025b64be6" /><Relationship Type="http://schemas.openxmlformats.org/officeDocument/2006/relationships/notesMaster" Target="/ppt/notesMasters/notesMaster1.xml" Id="R8f6f4badc96f4eb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d9b4e65d4004abf" /><Relationship Type="http://schemas.openxmlformats.org/officeDocument/2006/relationships/notesMaster" Target="/ppt/notesMasters/notesMaster1.xml" Id="Ra9e877721a8b461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fc147b92b3642da" /><Relationship Type="http://schemas.openxmlformats.org/officeDocument/2006/relationships/notesMaster" Target="/ppt/notesMasters/notesMaster1.xml" Id="Rd5a804b4407448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7 课留下实验规格草图，第 8 课留下同伴反馈；本课把它们补成可复现、可检查的判断门材料。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- /Users/bright/Projects/courses/graduate/lessons/lesson-09/slides.md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快问停止条件和随机种子是否已写，只听回答。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/Users/bright/Projects/courses/graduate/lessons/lesson-07/handout.md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本课完成材料初版，不要求课堂内全部自查通过。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 baseline 仅为虚构教学例，用于区分类型，不声称已运行。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examples, not empirical evidence.</a:t>
            </a:r>
          </a:p>
          <a:p xmlns:a="http://schemas.openxmlformats.org/drawingml/2006/main">
            <a:r>
              <a:t>- Pineau et al. (2021). Improving Reproducibility in Machine Learning Research. JMLR 22(164).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请学生用自己的 baseline 对照五项并标记缺口。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Bouthillier et al. (2021). Accounting for Variance in Machine Learning Benchmarks. MLSys 3.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五个反例用于快速诊断，不把 ACM Badging 当作新的评分规则。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ACM Artifact Review and Badging, Version 1.1 (2020).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先让学生指出缺口，再逐项展示。案例明确为虚构教学反例。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example, not empirical evidence.</a:t>
            </a:r>
          </a:p>
          <a:p xmlns:a="http://schemas.openxmlformats.org/drawingml/2006/main">
            <a:r>
              <a:t>- Wilson et al. (2017). Good Enough Practices in Scientific Computing.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页内数值是虚构教学规格，只演示七字段写法；请学生标出自己草图的缺失项。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values, not empirical evidence.</a:t>
            </a:r>
          </a:p>
          <a:p xmlns:a="http://schemas.openxmlformats.org/drawingml/2006/main">
            <a:r>
              <a:t>- Wilson et al. (2017). Good Enough Practices in Scientific Computing. DOI: 10.1371/journal.pcbi.1005510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页内停止条件和失败路径是虚构教学规格。学生只需为当前最大风险写一条直接对应的可执行预案。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values, not empirical evidence.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/Users/bright/Projects/courses/graduate/course/assessment.md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页内指标数值是虚构教学规格，只演示可重算操作定义。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values, not empirical evidence.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现场运行课次本地工件并核对规格、配置、输入、结果与日志。工件真实可运行，输入为合成数据，不构成实证研究结果。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Sandve et al. (2013). Ten Simple Rules for Reproducible Computational Research. DOI: 10.1371/journal.pcbi.1003285</a:t>
            </a:r>
          </a:p>
          <a:p xmlns:a="http://schemas.openxmlformats.org/drawingml/2006/main">
            <a:r>
              <a:t>- /Users/bright/Projects/courses/graduate/lessons/lesson-09/assets/reproducibility-example/experiment-spec.md</a:t>
            </a:r>
          </a:p>
          <a:p xmlns:a="http://schemas.openxmlformats.org/drawingml/2006/main">
            <a:r>
              <a:t>- /Users/bright/Projects/courses/graduate/lessons/lesson-09/assets/reproducibility-example/config.json</a:t>
            </a:r>
          </a:p>
          <a:p xmlns:a="http://schemas.openxmlformats.org/drawingml/2006/main">
            <a:r>
              <a:t>- /Users/bright/Projects/courses/graduate/lessons/lesson-09/assets/reproducibility-example/run.py</a:t>
            </a:r>
          </a:p>
          <a:p xmlns:a="http://schemas.openxmlformats.org/drawingml/2006/main">
            <a:r>
              <a:t>- /Users/bright/Projects/courses/graduate/lessons/lesson-09/assets/reproducibility-example/run-log.jsonl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课程不设统一重复次数硬门；检查重复计划是否足以支持主张。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Bouthillier et al. (2021). Accounting for Variance in Machine Learning Benchmarks. MLSys 3.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让学生标注自己的材料当前达到哪一档。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ACM Artifact Review and Badging, Version 1.1 (2020).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36:00–37:20 作为迁移快速参考；不侵占 40–60 分钟持续实践。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/Users/bright/Projects/courses/graduate/course/starter-template.md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九项必须与 assignments.md Checkpoint 2 一一对应。第 8 项记录已经发生的失败或已放弃备选，不能由第 7 项前瞻预案替代。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J2 和三条反馈均为虚构教学工件，只演示决策记录写法。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judgment and feedback, not empirical evidence.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/Users/bright/Projects/courses/graduate/lessons/lesson-08/README.md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说明两分钟后开始个人补全；教师只处理共同卡点。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/Users/bright/Projects/courses/graduate/lessons/lesson-09/teaching-plan.md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本页停留到 60 分钟，学生可照着核对文件结构。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/Users/bright/Projects/courses/graduate/course/project-template.md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人数为奇数时组成三人组；反馈不要求当场全部修改。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 baseline、公平性、实验规格、复现记录与判断门的关系。本页不替代提交说明。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课后完成自查并提交判断门材料包；第一次未通过按课程规则修订。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Wilson et al. (2017). Good Enough Practices in Scientific Computing.</a:t>
            </a:r>
          </a:p>
          <a:p xmlns:a="http://schemas.openxmlformats.org/drawingml/2006/main">
            <a:r>
              <a:t>- Pineau et al. (2021). Improving Reproducibility in Machine Learning Research.</a:t>
            </a:r>
          </a:p>
          <a:p xmlns:a="http://schemas.openxmlformats.org/drawingml/2006/main">
            <a:r>
              <a:t>- ACM Artifact Review and Badging, Version 1.1 (2020).</a:t>
            </a:r>
          </a:p>
          <a:p xmlns:a="http://schemas.openxmlformats.org/drawingml/2006/main">
            <a:r>
              <a:t>- Bouthillier et al. (2021). Accounting for Variance in Machine Learning Benchmarks.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/Users/bright/Projects/courses/graduate/lessons/lesson-09/handout.md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a7df6318db4049" /><Relationship Type="http://schemas.openxmlformats.org/officeDocument/2006/relationships/image" Target="/ppt/media/image.png" Id="Rb1b2dcde5a6e41df" /><Relationship Type="http://schemas.openxmlformats.org/officeDocument/2006/relationships/image" Target="/ppt/media/image2.png" Id="Rda1f84f571b846a6" /><Relationship Type="http://schemas.openxmlformats.org/officeDocument/2006/relationships/image" Target="/ppt/media/image3.png" Id="R03db6bdf35654c89" /><Relationship Type="http://schemas.openxmlformats.org/officeDocument/2006/relationships/image" Target="/ppt/media/image4.png" Id="Rcbabbd34c9d64de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336f73b5724ed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8ca48b36f04609" /><Relationship Type="http://schemas.openxmlformats.org/officeDocument/2006/relationships/image" Target="/ppt/media/image2.png" Id="R735918df2d2a44ef" /><Relationship Type="http://schemas.openxmlformats.org/officeDocument/2006/relationships/image" Target="/ppt/media/image5.png" Id="R99b3785a0aaf4b1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4a703c0f2b415b" /><Relationship Type="http://schemas.openxmlformats.org/officeDocument/2006/relationships/image" Target="/ppt/media/image.png" Id="R5b5d92403f484c53" /><Relationship Type="http://schemas.openxmlformats.org/officeDocument/2006/relationships/image" Target="/ppt/media/image3.png" Id="Rc9ca63c5dd4941e4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2dcde5a6e41df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1f84f571b846a6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db6bdf35654c89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abbd34c9d64de9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5918df2d2a44ef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3785a0aaf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d92403f484c53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9ca63c5dd4941e4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09db71da9ba4fbe" /><Relationship Type="http://schemas.openxmlformats.org/officeDocument/2006/relationships/slideLayout" Target="/ppt/slideLayouts/slideLayout1.xml" Id="Rfb38a24759714787" /><Relationship Type="http://schemas.openxmlformats.org/officeDocument/2006/relationships/slideLayout" Target="/ppt/slideLayouts/slideLayout2.xml" Id="R41ecd082dd614053" /><Relationship Type="http://schemas.openxmlformats.org/officeDocument/2006/relationships/slideLayout" Target="/ppt/slideLayouts/slideLayout3.xml" Id="R9f6e3566d9914259" /><Relationship Type="http://schemas.openxmlformats.org/officeDocument/2006/relationships/slideLayout" Target="/ppt/slideLayouts/slideLayout4.xml" Id="R43d1463fb0944a32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38a24759714787"/>
    <p:sldLayoutId xmlns:r="http://schemas.openxmlformats.org/officeDocument/2006/relationships" id="2147483650" r:id="R41ecd082dd614053"/>
    <p:sldLayoutId xmlns:r="http://schemas.openxmlformats.org/officeDocument/2006/relationships" id="2147483651" r:id="R9f6e3566d9914259"/>
    <p:sldLayoutId xmlns:r="http://schemas.openxmlformats.org/officeDocument/2006/relationships" id="2147483652" r:id="R43d1463fb0944a3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be87e740bd42a5" /><Relationship Type="http://schemas.openxmlformats.org/officeDocument/2006/relationships/notesSlide" Target="/ppt/notesSlides/notesSlide1.xml" Id="Rd1a9feba50114f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84c85dd1cda45c6" /><Relationship Type="http://schemas.openxmlformats.org/officeDocument/2006/relationships/notesSlide" Target="/ppt/notesSlides/notesSlide2.xml" Id="R1a219262d16749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9fa925a5615481d" /><Relationship Type="http://schemas.openxmlformats.org/officeDocument/2006/relationships/notesSlide" Target="/ppt/notesSlides/notesSlide3.xml" Id="R041d858a495446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f467a456e624b39" /><Relationship Type="http://schemas.openxmlformats.org/officeDocument/2006/relationships/notesSlide" Target="/ppt/notesSlides/notesSlide4.xml" Id="R9e9ebd30418d4a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7668ba2c6634f39" /><Relationship Type="http://schemas.openxmlformats.org/officeDocument/2006/relationships/notesSlide" Target="/ppt/notesSlides/notesSlide5.xml" Id="R070e4a3e1a23432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95e9aa13be44c92" /><Relationship Type="http://schemas.openxmlformats.org/officeDocument/2006/relationships/notesSlide" Target="/ppt/notesSlides/notesSlide6.xml" Id="Rbf87f582d41f44f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d96b45539954fb5" /><Relationship Type="http://schemas.openxmlformats.org/officeDocument/2006/relationships/notesSlide" Target="/ppt/notesSlides/notesSlide7.xml" Id="Rbbda419e6bb8463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3512d60e47f451f" /><Relationship Type="http://schemas.openxmlformats.org/officeDocument/2006/relationships/notesSlide" Target="/ppt/notesSlides/notesSlide8.xml" Id="Rfd55dc19b01a4a2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aec71d0a48c4ed8" /><Relationship Type="http://schemas.openxmlformats.org/officeDocument/2006/relationships/notesSlide" Target="/ppt/notesSlides/notesSlide9.xml" Id="R7b46109ed6394cc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711f5d4b571439b" /><Relationship Type="http://schemas.openxmlformats.org/officeDocument/2006/relationships/notesSlide" Target="/ppt/notesSlides/notesSlide10.xml" Id="Rf2a2bd170d9346b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329d4a6436f43ac" /><Relationship Type="http://schemas.openxmlformats.org/officeDocument/2006/relationships/notesSlide" Target="/ppt/notesSlides/notesSlide11.xml" Id="Ra66bdda3fda2465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46305b03bc043e4" /><Relationship Type="http://schemas.openxmlformats.org/officeDocument/2006/relationships/notesSlide" Target="/ppt/notesSlides/notesSlide12.xml" Id="R040096a01ffe4ad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4c0af2308704207" /><Relationship Type="http://schemas.openxmlformats.org/officeDocument/2006/relationships/notesSlide" Target="/ppt/notesSlides/notesSlide13.xml" Id="R0c3e06d42ccc4bd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7e35c0c512d48e0" /><Relationship Type="http://schemas.openxmlformats.org/officeDocument/2006/relationships/notesSlide" Target="/ppt/notesSlides/notesSlide14.xml" Id="R21d60f38148f402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b761b997b994547" /><Relationship Type="http://schemas.openxmlformats.org/officeDocument/2006/relationships/notesSlide" Target="/ppt/notesSlides/notesSlide15.xml" Id="R7e7b238e569a40b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40f54d22bfd4ea7" /><Relationship Type="http://schemas.openxmlformats.org/officeDocument/2006/relationships/notesSlide" Target="/ppt/notesSlides/notesSlide16.xml" Id="R49c6184572b84f1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5156241245b466f" /><Relationship Type="http://schemas.openxmlformats.org/officeDocument/2006/relationships/notesSlide" Target="/ppt/notesSlides/notesSlide17.xml" Id="R58e73b0a706f42e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77f509ea013428a" /><Relationship Type="http://schemas.openxmlformats.org/officeDocument/2006/relationships/notesSlide" Target="/ppt/notesSlides/notesSlide18.xml" Id="Rde5d361704ea430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8f3a198678f4715" /><Relationship Type="http://schemas.openxmlformats.org/officeDocument/2006/relationships/notesSlide" Target="/ppt/notesSlides/notesSlide19.xml" Id="R18f64648b33e4bb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3f2e64c86df4ea8" /><Relationship Type="http://schemas.openxmlformats.org/officeDocument/2006/relationships/notesSlide" Target="/ppt/notesSlides/notesSlide20.xml" Id="R3d7fe9bed93a47e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480e74aba304bdf" /><Relationship Type="http://schemas.openxmlformats.org/officeDocument/2006/relationships/notesSlide" Target="/ppt/notesSlides/notesSlide21.xml" Id="R3ece3da175b74cd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29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第9讲 Baseline、实验规格与可复现实验工程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 7-8 课之后，草图离判断门还差七项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left-title">
            <a:extLst xmlns:a="http://schemas.openxmlformats.org/drawingml/2006/main">
              <a:ext uri="{FF2B5EF4-FFF2-40B4-BE49-F238E27FC236}">
                <a16:creationId xmlns:a16="http://schemas.microsoft.com/office/drawing/2014/main" id="{F6A9774A-9B12-49F1-8E4C-796A5D2B5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09650"/>
            <a:ext cx="4210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已建立</a:t>
            </a:r>
          </a:p>
        </p:txBody>
      </p:sp>
      <p:sp>
        <p:nvSpPr>
          <p:cNvPr id="7" name="p02-l-0">
            <a:extLst xmlns:a="http://schemas.openxmlformats.org/drawingml/2006/main">
              <a:ext uri="{FF2B5EF4-FFF2-40B4-BE49-F238E27FC236}">
                <a16:creationId xmlns:a16="http://schemas.microsoft.com/office/drawing/2014/main" id="{982BED14-F5EC-43D6-B29E-3C1F67C0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4057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机制假设列表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主假设 + 替代 + 反证</a:t>
            </a:r>
          </a:p>
        </p:txBody>
      </p:sp>
      <p:sp>
        <p:nvSpPr>
          <p:cNvPr id="8" name="p02-l-1">
            <a:extLst xmlns:a="http://schemas.openxmlformats.org/drawingml/2006/main">
              <a:ext uri="{FF2B5EF4-FFF2-40B4-BE49-F238E27FC236}">
                <a16:creationId xmlns:a16="http://schemas.microsoft.com/office/drawing/2014/main" id="{583D9A29-A4E6-41C4-9BE8-41AEBC90A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19350"/>
            <a:ext cx="4057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研究判断 J1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六字段</a:t>
            </a:r>
          </a:p>
        </p:txBody>
      </p:sp>
      <p:sp>
        <p:nvSpPr>
          <p:cNvPr id="9" name="p02-l-2">
            <a:extLst xmlns:a="http://schemas.openxmlformats.org/drawingml/2006/main">
              <a:ext uri="{FF2B5EF4-FFF2-40B4-BE49-F238E27FC236}">
                <a16:creationId xmlns:a16="http://schemas.microsoft.com/office/drawing/2014/main" id="{17B4E5D1-74D5-4853-B26A-D30028F6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4057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实验规格草图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变量清单</a:t>
            </a:r>
          </a:p>
        </p:txBody>
      </p:sp>
      <p:sp>
        <p:nvSpPr>
          <p:cNvPr id="10" name="p02-l-3">
            <a:extLst xmlns:a="http://schemas.openxmlformats.org/drawingml/2006/main">
              <a:ext uri="{FF2B5EF4-FFF2-40B4-BE49-F238E27FC236}">
                <a16:creationId xmlns:a16="http://schemas.microsoft.com/office/drawing/2014/main" id="{909D3D37-3FA4-4F2E-82F2-34E82026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40576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✓  第 8 课反馈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425" b="1">
                <a:solidFill>
                  <a:srgbClr val="28745A"/>
                </a:solidFill>
              </a:defRPr>
            </a:pPr>
            <a:r>
              <a:rPr sz="14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结构化记录</a:t>
            </a:r>
          </a:p>
        </p:txBody>
      </p:sp>
      <p:sp>
        <p:nvSpPr>
          <p:cNvPr id="11" name="p02-mid">
            <a:extLst xmlns:a="http://schemas.openxmlformats.org/drawingml/2006/main">
              <a:ext uri="{FF2B5EF4-FFF2-40B4-BE49-F238E27FC236}">
                <a16:creationId xmlns:a16="http://schemas.microsoft.com/office/drawing/2014/main" id="{081ABEA6-3D74-4E97-A780-8D5BF4CA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48150" y="2990850"/>
            <a:ext cx="3695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02-arrow">
            <a:extLst xmlns:a="http://schemas.openxmlformats.org/drawingml/2006/main">
              <a:ext uri="{FF2B5EF4-FFF2-40B4-BE49-F238E27FC236}">
                <a16:creationId xmlns:a16="http://schemas.microsoft.com/office/drawing/2014/main" id="{ACCC78A2-31C5-4C1E-BB61-DC2D8DCB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67000"/>
            <a:ext cx="8763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p02-right-title">
            <a:extLst xmlns:a="http://schemas.openxmlformats.org/drawingml/2006/main">
              <a:ext uri="{FF2B5EF4-FFF2-40B4-BE49-F238E27FC236}">
                <a16:creationId xmlns:a16="http://schemas.microsoft.com/office/drawing/2014/main" id="{A8A7BCC3-6CE2-484E-A4C1-B1BDF0D9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009650"/>
            <a:ext cx="4210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待补</a:t>
            </a:r>
          </a:p>
        </p:txBody>
      </p:sp>
      <p:sp>
        <p:nvSpPr>
          <p:cNvPr id="14" name="p02-n-0">
            <a:extLst xmlns:a="http://schemas.openxmlformats.org/drawingml/2006/main">
              <a:ext uri="{FF2B5EF4-FFF2-40B4-BE49-F238E27FC236}">
                <a16:creationId xmlns:a16="http://schemas.microsoft.com/office/drawing/2014/main" id="{DA8A621C-45F0-42CF-8F7B-EB7AC47B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485900"/>
            <a:ext cx="400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p02-r-0">
            <a:extLst xmlns:a="http://schemas.openxmlformats.org/drawingml/2006/main">
              <a:ext uri="{FF2B5EF4-FFF2-40B4-BE49-F238E27FC236}">
                <a16:creationId xmlns:a16="http://schemas.microsoft.com/office/drawing/2014/main" id="{F26F37AC-F736-4379-B11F-375C3038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485900"/>
            <a:ext cx="3600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类型与公平性</a:t>
            </a:r>
          </a:p>
        </p:txBody>
      </p:sp>
      <p:sp>
        <p:nvSpPr>
          <p:cNvPr id="16" name="p02-n-1">
            <a:extLst xmlns:a="http://schemas.openxmlformats.org/drawingml/2006/main">
              <a:ext uri="{FF2B5EF4-FFF2-40B4-BE49-F238E27FC236}">
                <a16:creationId xmlns:a16="http://schemas.microsoft.com/office/drawing/2014/main" id="{0825B908-48CC-4332-AFF5-3455BDC0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00250"/>
            <a:ext cx="400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p02-r-1">
            <a:extLst xmlns:a="http://schemas.openxmlformats.org/drawingml/2006/main">
              <a:ext uri="{FF2B5EF4-FFF2-40B4-BE49-F238E27FC236}">
                <a16:creationId xmlns:a16="http://schemas.microsoft.com/office/drawing/2014/main" id="{1C00844D-4FB5-41C1-8D3A-D9BEADA7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00250"/>
            <a:ext cx="3600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停止条件、随机化、失败预案</a:t>
            </a:r>
          </a:p>
        </p:txBody>
      </p:sp>
      <p:sp>
        <p:nvSpPr>
          <p:cNvPr id="18" name="p02-n-2">
            <a:extLst xmlns:a="http://schemas.openxmlformats.org/drawingml/2006/main">
              <a:ext uri="{FF2B5EF4-FFF2-40B4-BE49-F238E27FC236}">
                <a16:creationId xmlns:a16="http://schemas.microsoft.com/office/drawing/2014/main" id="{2BBC6D1A-6917-4BDA-BE75-D1795C7D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14600"/>
            <a:ext cx="400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p02-r-2">
            <a:extLst xmlns:a="http://schemas.openxmlformats.org/drawingml/2006/main">
              <a:ext uri="{FF2B5EF4-FFF2-40B4-BE49-F238E27FC236}">
                <a16:creationId xmlns:a16="http://schemas.microsoft.com/office/drawing/2014/main" id="{F3B130E2-3675-4090-9AA1-F39A5AF1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514600"/>
            <a:ext cx="3600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环境、配置、种子与数据</a:t>
            </a:r>
          </a:p>
        </p:txBody>
      </p:sp>
      <p:sp>
        <p:nvSpPr>
          <p:cNvPr id="20" name="p02-n-3">
            <a:extLst xmlns:a="http://schemas.openxmlformats.org/drawingml/2006/main">
              <a:ext uri="{FF2B5EF4-FFF2-40B4-BE49-F238E27FC236}">
                <a16:creationId xmlns:a16="http://schemas.microsoft.com/office/drawing/2014/main" id="{F20CFFFB-9C12-43BE-A9CB-D2D0D899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400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p02-r-3">
            <a:extLst xmlns:a="http://schemas.openxmlformats.org/drawingml/2006/main">
              <a:ext uri="{FF2B5EF4-FFF2-40B4-BE49-F238E27FC236}">
                <a16:creationId xmlns:a16="http://schemas.microsoft.com/office/drawing/2014/main" id="{08931141-A7DD-44B4-93D1-37A70F29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28950"/>
            <a:ext cx="3600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8 课反馈逐条处理</a:t>
            </a:r>
          </a:p>
        </p:txBody>
      </p:sp>
      <p:sp>
        <p:nvSpPr>
          <p:cNvPr id="22" name="p02-n-4">
            <a:extLst xmlns:a="http://schemas.openxmlformats.org/drawingml/2006/main">
              <a:ext uri="{FF2B5EF4-FFF2-40B4-BE49-F238E27FC236}">
                <a16:creationId xmlns:a16="http://schemas.microsoft.com/office/drawing/2014/main" id="{9918A2B8-1EE9-42F0-B2A7-A355A214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543300"/>
            <a:ext cx="400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3" name="p02-r-4">
            <a:extLst xmlns:a="http://schemas.openxmlformats.org/drawingml/2006/main">
              <a:ext uri="{FF2B5EF4-FFF2-40B4-BE49-F238E27FC236}">
                <a16:creationId xmlns:a16="http://schemas.microsoft.com/office/drawing/2014/main" id="{1BBB5859-B867-4968-978C-C5377014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543300"/>
            <a:ext cx="3600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第二条研究判断 J2</a:t>
            </a:r>
          </a:p>
        </p:txBody>
      </p:sp>
      <p:sp>
        <p:nvSpPr>
          <p:cNvPr id="24" name="p02-n-5">
            <a:extLst xmlns:a="http://schemas.openxmlformats.org/drawingml/2006/main">
              <a:ext uri="{FF2B5EF4-FFF2-40B4-BE49-F238E27FC236}">
                <a16:creationId xmlns:a16="http://schemas.microsoft.com/office/drawing/2014/main" id="{D6E4AEC2-14EB-48B6-844A-D2BA711E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057650"/>
            <a:ext cx="400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5" name="p02-r-5">
            <a:extLst xmlns:a="http://schemas.openxmlformats.org/drawingml/2006/main">
              <a:ext uri="{FF2B5EF4-FFF2-40B4-BE49-F238E27FC236}">
                <a16:creationId xmlns:a16="http://schemas.microsoft.com/office/drawing/2014/main" id="{C910CAD6-43FB-42D4-9147-8986560E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57650"/>
            <a:ext cx="3600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已遇失败 / 放弃备选未落档</a:t>
            </a:r>
          </a:p>
        </p:txBody>
      </p:sp>
      <p:sp>
        <p:nvSpPr>
          <p:cNvPr id="26" name="p02-n-6">
            <a:extLst xmlns:a="http://schemas.openxmlformats.org/drawingml/2006/main">
              <a:ext uri="{FF2B5EF4-FFF2-40B4-BE49-F238E27FC236}">
                <a16:creationId xmlns:a16="http://schemas.microsoft.com/office/drawing/2014/main" id="{98D93E04-3AC0-4F53-84B5-EFBC2E2D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572000"/>
            <a:ext cx="4000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7" name="p02-r-6">
            <a:extLst xmlns:a="http://schemas.openxmlformats.org/drawingml/2006/main">
              <a:ext uri="{FF2B5EF4-FFF2-40B4-BE49-F238E27FC236}">
                <a16:creationId xmlns:a16="http://schemas.microsoft.com/office/drawing/2014/main" id="{19698469-605A-4EA4-8CA5-AA0EBD95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72000"/>
            <a:ext cx="3600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迁移完整项目模板</a:t>
            </a:r>
          </a:p>
        </p:txBody>
      </p:sp>
      <p:sp>
        <p:nvSpPr>
          <p:cNvPr id="28" name="p02-bottom">
            <a:extLst xmlns:a="http://schemas.openxmlformats.org/drawingml/2006/main">
              <a:ext uri="{FF2B5EF4-FFF2-40B4-BE49-F238E27FC236}">
                <a16:creationId xmlns:a16="http://schemas.microsoft.com/office/drawing/2014/main" id="{3C250F8C-405C-4307-A9FB-6AF7F399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19700"/>
            <a:ext cx="8191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草图能跑 ≠ 别人能复现；判断门检查的是可复现材料。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本课产出是可复现的判断门材料初版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n-0">
            <a:extLst xmlns:a="http://schemas.openxmlformats.org/drawingml/2006/main">
              <a:ext uri="{FF2B5EF4-FFF2-40B4-BE49-F238E27FC236}">
                <a16:creationId xmlns:a16="http://schemas.microsoft.com/office/drawing/2014/main" id="{F0B87E25-D8FF-4E65-808E-71C0E88C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3-g-0">
            <a:extLst xmlns:a="http://schemas.openxmlformats.org/drawingml/2006/main">
              <a:ext uri="{FF2B5EF4-FFF2-40B4-BE49-F238E27FC236}">
                <a16:creationId xmlns:a16="http://schemas.microsoft.com/office/drawing/2014/main" id="{67092735-43F8-43CB-9525-AA6732D4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0668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选公平 baseline</a:t>
            </a:r>
          </a:p>
        </p:txBody>
      </p:sp>
      <p:sp>
        <p:nvSpPr>
          <p:cNvPr id="8" name="p03-n-1">
            <a:extLst xmlns:a="http://schemas.openxmlformats.org/drawingml/2006/main">
              <a:ext uri="{FF2B5EF4-FFF2-40B4-BE49-F238E27FC236}">
                <a16:creationId xmlns:a16="http://schemas.microsoft.com/office/drawing/2014/main" id="{E2529C4A-AEF6-46EC-B073-16ADA7CB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0668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03-g-1">
            <a:extLst xmlns:a="http://schemas.openxmlformats.org/drawingml/2006/main">
              <a:ext uri="{FF2B5EF4-FFF2-40B4-BE49-F238E27FC236}">
                <a16:creationId xmlns:a16="http://schemas.microsoft.com/office/drawing/2014/main" id="{916BA632-213F-48F4-9AFF-2A5C1901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0668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补七字段规格</a:t>
            </a:r>
          </a:p>
        </p:txBody>
      </p:sp>
      <p:sp>
        <p:nvSpPr>
          <p:cNvPr id="10" name="p03-n-2">
            <a:extLst xmlns:a="http://schemas.openxmlformats.org/drawingml/2006/main">
              <a:ext uri="{FF2B5EF4-FFF2-40B4-BE49-F238E27FC236}">
                <a16:creationId xmlns:a16="http://schemas.microsoft.com/office/drawing/2014/main" id="{D60ABF7C-82CE-45CF-A7CA-3097EAA8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03-g-2">
            <a:extLst xmlns:a="http://schemas.openxmlformats.org/drawingml/2006/main">
              <a:ext uri="{FF2B5EF4-FFF2-40B4-BE49-F238E27FC236}">
                <a16:creationId xmlns:a16="http://schemas.microsoft.com/office/drawing/2014/main" id="{00837D7B-9BCE-4885-A359-90116B87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9050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写六类复现说明</a:t>
            </a:r>
          </a:p>
        </p:txBody>
      </p:sp>
      <p:sp>
        <p:nvSpPr>
          <p:cNvPr id="12" name="p03-n-3">
            <a:extLst xmlns:a="http://schemas.openxmlformats.org/drawingml/2006/main">
              <a:ext uri="{FF2B5EF4-FFF2-40B4-BE49-F238E27FC236}">
                <a16:creationId xmlns:a16="http://schemas.microsoft.com/office/drawing/2014/main" id="{FB2DB414-D9D2-4FBF-B444-733E2F5D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050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03-g-3">
            <a:extLst xmlns:a="http://schemas.openxmlformats.org/drawingml/2006/main">
              <a:ext uri="{FF2B5EF4-FFF2-40B4-BE49-F238E27FC236}">
                <a16:creationId xmlns:a16="http://schemas.microsoft.com/office/drawing/2014/main" id="{D0D16633-4EE1-4FC6-B653-0A9CFD70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9050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处理方差与种子</a:t>
            </a:r>
          </a:p>
        </p:txBody>
      </p:sp>
      <p:sp>
        <p:nvSpPr>
          <p:cNvPr id="14" name="p03-n-4">
            <a:extLst xmlns:a="http://schemas.openxmlformats.org/drawingml/2006/main">
              <a:ext uri="{FF2B5EF4-FFF2-40B4-BE49-F238E27FC236}">
                <a16:creationId xmlns:a16="http://schemas.microsoft.com/office/drawing/2014/main" id="{8CC3BF35-31D1-4A0B-9966-64E82A22E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p03-g-4">
            <a:extLst xmlns:a="http://schemas.openxmlformats.org/drawingml/2006/main">
              <a:ext uri="{FF2B5EF4-FFF2-40B4-BE49-F238E27FC236}">
                <a16:creationId xmlns:a16="http://schemas.microsoft.com/office/drawing/2014/main" id="{17E5B96B-17AD-4A97-8384-D3CBEB8F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432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逐条处理同伴反馈</a:t>
            </a:r>
          </a:p>
        </p:txBody>
      </p:sp>
      <p:sp>
        <p:nvSpPr>
          <p:cNvPr id="16" name="p03-n-5">
            <a:extLst xmlns:a="http://schemas.openxmlformats.org/drawingml/2006/main">
              <a:ext uri="{FF2B5EF4-FFF2-40B4-BE49-F238E27FC236}">
                <a16:creationId xmlns:a16="http://schemas.microsoft.com/office/drawing/2014/main" id="{A2B6A8DE-2232-4645-BC99-976EE6E5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432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p03-g-5">
            <a:extLst xmlns:a="http://schemas.openxmlformats.org/drawingml/2006/main">
              <a:ext uri="{FF2B5EF4-FFF2-40B4-BE49-F238E27FC236}">
                <a16:creationId xmlns:a16="http://schemas.microsoft.com/office/drawing/2014/main" id="{7716A471-0BD3-47A2-A35A-1D4365F4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432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迁移模板不丢记录</a:t>
            </a:r>
          </a:p>
        </p:txBody>
      </p:sp>
      <p:sp>
        <p:nvSpPr>
          <p:cNvPr id="18" name="p03-n-6">
            <a:extLst xmlns:a="http://schemas.openxmlformats.org/drawingml/2006/main">
              <a:ext uri="{FF2B5EF4-FFF2-40B4-BE49-F238E27FC236}">
                <a16:creationId xmlns:a16="http://schemas.microsoft.com/office/drawing/2014/main" id="{40C49D55-2EAE-40F2-93CE-7FAF3E105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4572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9" name="p03-g-6">
            <a:extLst xmlns:a="http://schemas.openxmlformats.org/drawingml/2006/main">
              <a:ext uri="{FF2B5EF4-FFF2-40B4-BE49-F238E27FC236}">
                <a16:creationId xmlns:a16="http://schemas.microsoft.com/office/drawing/2014/main" id="{92A657DD-46FE-499D-AFB7-99D9DA446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81400"/>
            <a:ext cx="2838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对照九项门条件</a:t>
            </a:r>
          </a:p>
        </p:txBody>
      </p:sp>
      <p:sp>
        <p:nvSpPr>
          <p:cNvPr id="20" name="p03-sep">
            <a:extLst xmlns:a="http://schemas.openxmlformats.org/drawingml/2006/main">
              <a:ext uri="{FF2B5EF4-FFF2-40B4-BE49-F238E27FC236}">
                <a16:creationId xmlns:a16="http://schemas.microsoft.com/office/drawing/2014/main" id="{17CD1292-5848-41E8-8EE0-ADA96F31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191250" y="2752725"/>
            <a:ext cx="331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03-out-title">
            <a:extLst xmlns:a="http://schemas.openxmlformats.org/drawingml/2006/main">
              <a:ext uri="{FF2B5EF4-FFF2-40B4-BE49-F238E27FC236}">
                <a16:creationId xmlns:a16="http://schemas.microsoft.com/office/drawing/2014/main" id="{C47D438E-45D9-46CC-88AA-8B9C5C11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123950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课堂最小产出</a:t>
            </a:r>
          </a:p>
        </p:txBody>
      </p:sp>
      <p:sp>
        <p:nvSpPr>
          <p:cNvPr id="22" name="p03-out">
            <a:extLst xmlns:a="http://schemas.openxmlformats.org/drawingml/2006/main">
              <a:ext uri="{FF2B5EF4-FFF2-40B4-BE49-F238E27FC236}">
                <a16:creationId xmlns:a16="http://schemas.microsoft.com/office/drawing/2014/main" id="{BCC4EA60-8E4C-486C-81A5-50C2B2F7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752600"/>
            <a:ext cx="3486150" cy="26670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experiment-spec.md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七字段 + 复现说明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hypothesis-and-judgment.md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J2 六字段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peer-review.md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反馈处理 + 失败预案</a:t>
            </a:r>
          </a:p>
        </p:txBody>
      </p:sp>
      <p:sp>
        <p:nvSpPr>
          <p:cNvPr id="23" name="p03-bottom">
            <a:extLst xmlns:a="http://schemas.openxmlformats.org/drawingml/2006/main">
              <a:ext uri="{FF2B5EF4-FFF2-40B4-BE49-F238E27FC236}">
                <a16:creationId xmlns:a16="http://schemas.microsoft.com/office/drawing/2014/main" id="{C4C23A96-B9A6-4320-A3DA-A94E1130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19700"/>
            <a:ext cx="914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课后提交当前个人项目版本；条件以 assignments.md Checkpoint 2 为准。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baseline 是检验机制效应的公平参照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def">
            <a:extLst xmlns:a="http://schemas.openxmlformats.org/drawingml/2006/main">
              <a:ext uri="{FF2B5EF4-FFF2-40B4-BE49-F238E27FC236}">
                <a16:creationId xmlns:a16="http://schemas.microsoft.com/office/drawing/2014/main" id="{4AAEF01E-422F-4215-BC66-48B3A5B9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990600"/>
            <a:ext cx="9867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baseline = 用来回答‘方法效应是否真的来自假设机制’的公平参照</a:t>
            </a:r>
          </a:p>
        </p:txBody>
      </p:sp>
      <p:sp>
        <p:nvSpPr>
          <p:cNvPr id="7" name="p04-l-0">
            <a:extLst xmlns:a="http://schemas.openxmlformats.org/drawingml/2006/main">
              <a:ext uri="{FF2B5EF4-FFF2-40B4-BE49-F238E27FC236}">
                <a16:creationId xmlns:a16="http://schemas.microsoft.com/office/drawing/2014/main" id="{DA0D21C5-C150-4802-A7E4-127B0422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38350"/>
            <a:ext cx="11049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朴素</a:t>
            </a:r>
          </a:p>
        </p:txBody>
      </p:sp>
      <p:sp>
        <p:nvSpPr>
          <p:cNvPr id="8" name="p04-t-0">
            <a:extLst xmlns:a="http://schemas.openxmlformats.org/drawingml/2006/main">
              <a:ext uri="{FF2B5EF4-FFF2-40B4-BE49-F238E27FC236}">
                <a16:creationId xmlns:a16="http://schemas.microsoft.com/office/drawing/2014/main" id="{18AA2287-0104-4E02-B483-F47796C6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9850"/>
            <a:ext cx="3390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不使用目标机制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贯穿案例：虚构教学例：自由摘要</a:t>
            </a:r>
          </a:p>
        </p:txBody>
      </p:sp>
      <p:sp>
        <p:nvSpPr>
          <p:cNvPr id="9" name="p04-l-1">
            <a:extLst xmlns:a="http://schemas.openxmlformats.org/drawingml/2006/main">
              <a:ext uri="{FF2B5EF4-FFF2-40B4-BE49-F238E27FC236}">
                <a16:creationId xmlns:a16="http://schemas.microsoft.com/office/drawing/2014/main" id="{5595D8FD-05C4-428B-9CA6-1D810991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38350"/>
            <a:ext cx="11049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强</a:t>
            </a:r>
          </a:p>
        </p:txBody>
      </p:sp>
      <p:sp>
        <p:nvSpPr>
          <p:cNvPr id="10" name="p04-t-1">
            <a:extLst xmlns:a="http://schemas.openxmlformats.org/drawingml/2006/main">
              <a:ext uri="{FF2B5EF4-FFF2-40B4-BE49-F238E27FC236}">
                <a16:creationId xmlns:a16="http://schemas.microsoft.com/office/drawing/2014/main" id="{00E9D932-B56F-4171-BAB2-4B83B859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09850"/>
            <a:ext cx="3390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公开、可比的现成方法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贯穿案例：虚构教学例：few-shot 摘要</a:t>
            </a:r>
          </a:p>
        </p:txBody>
      </p:sp>
      <p:sp>
        <p:nvSpPr>
          <p:cNvPr id="11" name="p04-l-2">
            <a:extLst xmlns:a="http://schemas.openxmlformats.org/drawingml/2006/main">
              <a:ext uri="{FF2B5EF4-FFF2-40B4-BE49-F238E27FC236}">
                <a16:creationId xmlns:a16="http://schemas.microsoft.com/office/drawing/2014/main" id="{CD4334DE-CECF-4662-84BD-1B5C44B9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38350"/>
            <a:ext cx="11049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消融</a:t>
            </a:r>
          </a:p>
        </p:txBody>
      </p:sp>
      <p:sp>
        <p:nvSpPr>
          <p:cNvPr id="12" name="p04-t-2">
            <a:extLst xmlns:a="http://schemas.openxmlformats.org/drawingml/2006/main">
              <a:ext uri="{FF2B5EF4-FFF2-40B4-BE49-F238E27FC236}">
                <a16:creationId xmlns:a16="http://schemas.microsoft.com/office/drawing/2014/main" id="{E79510E0-0F6F-4F95-8CAF-F87B4F9F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09850"/>
            <a:ext cx="3390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去掉一个关键模块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贯穿案例：虚构教学例：阅读卡去定位</a:t>
            </a:r>
          </a:p>
        </p:txBody>
      </p:sp>
      <p:sp>
        <p:nvSpPr>
          <p:cNvPr id="13" name="p04-bottom">
            <a:extLst xmlns:a="http://schemas.openxmlformats.org/drawingml/2006/main">
              <a:ext uri="{FF2B5EF4-FFF2-40B4-BE49-F238E27FC236}">
                <a16:creationId xmlns:a16="http://schemas.microsoft.com/office/drawing/2014/main" id="{83B1CE82-407C-4E7C-90F8-95EA7776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819650"/>
            <a:ext cx="75438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判断门至少需要 1 个可执行 baseline，并说明它为什么公平。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公平 baseline 要求五项条件同时对等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n-0">
            <a:extLst xmlns:a="http://schemas.openxmlformats.org/drawingml/2006/main">
              <a:ext uri="{FF2B5EF4-FFF2-40B4-BE49-F238E27FC236}">
                <a16:creationId xmlns:a16="http://schemas.microsoft.com/office/drawing/2014/main" id="{F03A45D8-CC26-4976-BBE1-6CBA438E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6680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5-main-0">
            <a:extLst xmlns:a="http://schemas.openxmlformats.org/drawingml/2006/main">
              <a:ext uri="{FF2B5EF4-FFF2-40B4-BE49-F238E27FC236}">
                <a16:creationId xmlns:a16="http://schemas.microsoft.com/office/drawing/2014/main" id="{8DD45B1D-74D9-446D-8AC2-311D48E83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06680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同一批数据 / 论文 / 任务</a:t>
            </a:r>
          </a:p>
        </p:txBody>
      </p:sp>
      <p:sp>
        <p:nvSpPr>
          <p:cNvPr id="8" name="p05-why-0">
            <a:extLst xmlns:a="http://schemas.openxmlformats.org/drawingml/2006/main">
              <a:ext uri="{FF2B5EF4-FFF2-40B4-BE49-F238E27FC236}">
                <a16:creationId xmlns:a16="http://schemas.microsoft.com/office/drawing/2014/main" id="{E2B7D3E7-9339-4A33-8BE1-87FC56F2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避免难度差异</a:t>
            </a:r>
          </a:p>
        </p:txBody>
      </p:sp>
      <p:sp>
        <p:nvSpPr>
          <p:cNvPr id="9" name="p05-n-1">
            <a:extLst xmlns:a="http://schemas.openxmlformats.org/drawingml/2006/main">
              <a:ext uri="{FF2B5EF4-FFF2-40B4-BE49-F238E27FC236}">
                <a16:creationId xmlns:a16="http://schemas.microsoft.com/office/drawing/2014/main" id="{43B02FA0-78C4-4D64-8534-F897F250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5-main-1">
            <a:extLst xmlns:a="http://schemas.openxmlformats.org/drawingml/2006/main">
              <a:ext uri="{FF2B5EF4-FFF2-40B4-BE49-F238E27FC236}">
                <a16:creationId xmlns:a16="http://schemas.microsoft.com/office/drawing/2014/main" id="{CCE7DB67-0EEF-448C-B2A9-45A3C8A55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8859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模型、参数与种子一致</a:t>
            </a:r>
          </a:p>
        </p:txBody>
      </p:sp>
      <p:sp>
        <p:nvSpPr>
          <p:cNvPr id="11" name="p05-why-1">
            <a:extLst xmlns:a="http://schemas.openxmlformats.org/drawingml/2006/main">
              <a:ext uri="{FF2B5EF4-FFF2-40B4-BE49-F238E27FC236}">
                <a16:creationId xmlns:a16="http://schemas.microsoft.com/office/drawing/2014/main" id="{DFF67064-375B-4F7E-A015-3270833A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8595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避免配置差异</a:t>
            </a:r>
          </a:p>
        </p:txBody>
      </p:sp>
      <p:sp>
        <p:nvSpPr>
          <p:cNvPr id="12" name="p05-n-2">
            <a:extLst xmlns:a="http://schemas.openxmlformats.org/drawingml/2006/main">
              <a:ext uri="{FF2B5EF4-FFF2-40B4-BE49-F238E27FC236}">
                <a16:creationId xmlns:a16="http://schemas.microsoft.com/office/drawing/2014/main" id="{2F675DC0-9F5C-40B5-BCA0-46DD78E1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05-main-2">
            <a:extLst xmlns:a="http://schemas.openxmlformats.org/drawingml/2006/main">
              <a:ext uri="{FF2B5EF4-FFF2-40B4-BE49-F238E27FC236}">
                <a16:creationId xmlns:a16="http://schemas.microsoft.com/office/drawing/2014/main" id="{F5BF201E-8FCF-4CC6-860D-BFAA91E7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0510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同一评价协议与计算口径</a:t>
            </a:r>
          </a:p>
        </p:txBody>
      </p:sp>
      <p:sp>
        <p:nvSpPr>
          <p:cNvPr id="14" name="p05-why-2">
            <a:extLst xmlns:a="http://schemas.openxmlformats.org/drawingml/2006/main">
              <a:ext uri="{FF2B5EF4-FFF2-40B4-BE49-F238E27FC236}">
                <a16:creationId xmlns:a16="http://schemas.microsoft.com/office/drawing/2014/main" id="{E684122F-D58E-43C9-8193-878773A0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051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避免评价者偏倚</a:t>
            </a:r>
          </a:p>
        </p:txBody>
      </p:sp>
      <p:sp>
        <p:nvSpPr>
          <p:cNvPr id="15" name="p05-n-3">
            <a:extLst xmlns:a="http://schemas.openxmlformats.org/drawingml/2006/main">
              <a:ext uri="{FF2B5EF4-FFF2-40B4-BE49-F238E27FC236}">
                <a16:creationId xmlns:a16="http://schemas.microsoft.com/office/drawing/2014/main" id="{1D5A9CC6-F8DC-4B0E-B7C9-9207050E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05-main-3">
            <a:extLst xmlns:a="http://schemas.openxmlformats.org/drawingml/2006/main">
              <a:ext uri="{FF2B5EF4-FFF2-40B4-BE49-F238E27FC236}">
                <a16:creationId xmlns:a16="http://schemas.microsoft.com/office/drawing/2014/main" id="{F40EEA1B-4277-4FD9-A3D2-F2B58745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运行次数与停止条件相同</a:t>
            </a:r>
          </a:p>
        </p:txBody>
      </p:sp>
      <p:sp>
        <p:nvSpPr>
          <p:cNvPr id="17" name="p05-why-3">
            <a:extLst xmlns:a="http://schemas.openxmlformats.org/drawingml/2006/main">
              <a:ext uri="{FF2B5EF4-FFF2-40B4-BE49-F238E27FC236}">
                <a16:creationId xmlns:a16="http://schemas.microsoft.com/office/drawing/2014/main" id="{06EC6555-01CA-4B3E-BEE3-94A9ACD8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52425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7684"/>
                </a:solidFill>
              </a:defRPr>
            </a:pPr>
            <a:r>
              <a:rPr sz="15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避免噪声差异</a:t>
            </a:r>
          </a:p>
        </p:txBody>
      </p:sp>
      <p:sp>
        <p:nvSpPr>
          <p:cNvPr id="18" name="p05-n-4">
            <a:extLst xmlns:a="http://schemas.openxmlformats.org/drawingml/2006/main">
              <a:ext uri="{FF2B5EF4-FFF2-40B4-BE49-F238E27FC236}">
                <a16:creationId xmlns:a16="http://schemas.microsoft.com/office/drawing/2014/main" id="{4A59B2BA-9204-415E-B432-5CB59C40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514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9" name="p05-main-4">
            <a:extLst xmlns:a="http://schemas.openxmlformats.org/drawingml/2006/main">
              <a:ext uri="{FF2B5EF4-FFF2-40B4-BE49-F238E27FC236}">
                <a16:creationId xmlns:a16="http://schemas.microsoft.com/office/drawing/2014/main" id="{5C06B4C5-35F1-4280-8ECD-9BC445B7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失败完整记录</a:t>
            </a:r>
          </a:p>
        </p:txBody>
      </p:sp>
      <p:sp>
        <p:nvSpPr>
          <p:cNvPr id="20" name="p05-why-4">
            <a:extLst xmlns:a="http://schemas.openxmlformats.org/drawingml/2006/main">
              <a:ext uri="{FF2B5EF4-FFF2-40B4-BE49-F238E27FC236}">
                <a16:creationId xmlns:a16="http://schemas.microsoft.com/office/drawing/2014/main" id="{A52E12CB-9B45-4583-BE09-F5C131A5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43400"/>
            <a:ext cx="4000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避免选择性删除</a:t>
            </a:r>
          </a:p>
        </p:txBody>
      </p:sp>
      <p:sp>
        <p:nvSpPr>
          <p:cNvPr id="21" name="p05-bottom">
            <a:extLst xmlns:a="http://schemas.openxmlformats.org/drawingml/2006/main">
              <a:ext uri="{FF2B5EF4-FFF2-40B4-BE49-F238E27FC236}">
                <a16:creationId xmlns:a16="http://schemas.microsoft.com/office/drawing/2014/main" id="{CF9F4CF1-0F06-4D67-A54C-C162FE34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295900"/>
            <a:ext cx="7391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控制变量一致 + 混杂变量可识别，才有资格比较。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五类不公平做法都会把偏倚写成效应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table-h-0">
            <a:extLst xmlns:a="http://schemas.openxmlformats.org/drawingml/2006/main">
              <a:ext uri="{FF2B5EF4-FFF2-40B4-BE49-F238E27FC236}">
                <a16:creationId xmlns:a16="http://schemas.microsoft.com/office/drawing/2014/main" id="{CD60C556-A415-4EAB-8920-3790EE2A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247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反例</a:t>
            </a:r>
          </a:p>
        </p:txBody>
      </p:sp>
      <p:sp>
        <p:nvSpPr>
          <p:cNvPr id="7" name="p06-table-h-1">
            <a:extLst xmlns:a="http://schemas.openxmlformats.org/drawingml/2006/main">
              <a:ext uri="{FF2B5EF4-FFF2-40B4-BE49-F238E27FC236}">
                <a16:creationId xmlns:a16="http://schemas.microsoft.com/office/drawing/2014/main" id="{B844963D-4948-4380-9D35-0F092BDF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066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不公平点</a:t>
            </a:r>
          </a:p>
        </p:txBody>
      </p:sp>
      <p:sp>
        <p:nvSpPr>
          <p:cNvPr id="8" name="p06-table-h-2">
            <a:extLst xmlns:a="http://schemas.openxmlformats.org/drawingml/2006/main">
              <a:ext uri="{FF2B5EF4-FFF2-40B4-BE49-F238E27FC236}">
                <a16:creationId xmlns:a16="http://schemas.microsoft.com/office/drawing/2014/main" id="{540C13D1-A10D-4281-AC23-FF7A6EEC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066800"/>
            <a:ext cx="533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结果为何不可解释</a:t>
            </a:r>
          </a:p>
        </p:txBody>
      </p:sp>
      <p:sp>
        <p:nvSpPr>
          <p:cNvPr id="9" name="p06-table-r0-0">
            <a:extLst xmlns:a="http://schemas.openxmlformats.org/drawingml/2006/main">
              <a:ext uri="{FF2B5EF4-FFF2-40B4-BE49-F238E27FC236}">
                <a16:creationId xmlns:a16="http://schemas.microsoft.com/office/drawing/2014/main" id="{00A775FF-8C28-4707-98E3-8401F6792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数据不一致</a:t>
            </a:r>
          </a:p>
        </p:txBody>
      </p:sp>
      <p:sp>
        <p:nvSpPr>
          <p:cNvPr id="10" name="p06-table-r0-1">
            <a:extLst xmlns:a="http://schemas.openxmlformats.org/drawingml/2006/main">
              <a:ext uri="{FF2B5EF4-FFF2-40B4-BE49-F238E27FC236}">
                <a16:creationId xmlns:a16="http://schemas.microsoft.com/office/drawing/2014/main" id="{7925C0B1-5EA8-46CD-ADF3-7FC0512F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5240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 集 vs B 集</a:t>
            </a:r>
          </a:p>
        </p:txBody>
      </p:sp>
      <p:sp>
        <p:nvSpPr>
          <p:cNvPr id="11" name="p06-table-r0-2">
            <a:extLst xmlns:a="http://schemas.openxmlformats.org/drawingml/2006/main">
              <a:ext uri="{FF2B5EF4-FFF2-40B4-BE49-F238E27FC236}">
                <a16:creationId xmlns:a16="http://schemas.microsoft.com/office/drawing/2014/main" id="{AA077415-B9B7-4826-8EF8-2A8A6D7B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240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差异可能来自难度</a:t>
            </a:r>
          </a:p>
        </p:txBody>
      </p:sp>
      <p:sp>
        <p:nvSpPr>
          <p:cNvPr id="12" name="p06-table-r1-0">
            <a:extLst xmlns:a="http://schemas.openxmlformats.org/drawingml/2006/main">
              <a:ext uri="{FF2B5EF4-FFF2-40B4-BE49-F238E27FC236}">
                <a16:creationId xmlns:a16="http://schemas.microsoft.com/office/drawing/2014/main" id="{A1DEA176-C3C6-4040-99CA-59131894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9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超参不对等</a:t>
            </a:r>
          </a:p>
        </p:txBody>
      </p:sp>
      <p:sp>
        <p:nvSpPr>
          <p:cNvPr id="13" name="p06-table-r1-1">
            <a:extLst xmlns:a="http://schemas.openxmlformats.org/drawingml/2006/main">
              <a:ext uri="{FF2B5EF4-FFF2-40B4-BE49-F238E27FC236}">
                <a16:creationId xmlns:a16="http://schemas.microsoft.com/office/drawing/2014/main" id="{0B98BA76-4CB7-4045-9695-BC549796A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2098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只给实验组调参</a:t>
            </a:r>
          </a:p>
        </p:txBody>
      </p:sp>
      <p:sp>
        <p:nvSpPr>
          <p:cNvPr id="14" name="p06-table-r1-2">
            <a:extLst xmlns:a="http://schemas.openxmlformats.org/drawingml/2006/main">
              <a:ext uri="{FF2B5EF4-FFF2-40B4-BE49-F238E27FC236}">
                <a16:creationId xmlns:a16="http://schemas.microsoft.com/office/drawing/2014/main" id="{1C2BF0F6-A589-4F31-B698-2FC3B102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098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比较的是调参投入</a:t>
            </a:r>
          </a:p>
        </p:txBody>
      </p:sp>
      <p:sp>
        <p:nvSpPr>
          <p:cNvPr id="15" name="p06-table-r2-0">
            <a:extLst xmlns:a="http://schemas.openxmlformats.org/drawingml/2006/main">
              <a:ext uri="{FF2B5EF4-FFF2-40B4-BE49-F238E27FC236}">
                <a16:creationId xmlns:a16="http://schemas.microsoft.com/office/drawing/2014/main" id="{FB34FC2D-2B7D-4762-9DCF-275CDD2A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95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评价不一致</a:t>
            </a:r>
          </a:p>
        </p:txBody>
      </p:sp>
      <p:sp>
        <p:nvSpPr>
          <p:cNvPr id="16" name="p06-table-r2-1">
            <a:extLst xmlns:a="http://schemas.openxmlformats.org/drawingml/2006/main">
              <a:ext uri="{FF2B5EF4-FFF2-40B4-BE49-F238E27FC236}">
                <a16:creationId xmlns:a16="http://schemas.microsoft.com/office/drawing/2014/main" id="{DC7F8678-DC0D-4AF2-9ED9-1FD5594C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956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盲评 vs 非盲评</a:t>
            </a:r>
          </a:p>
        </p:txBody>
      </p:sp>
      <p:sp>
        <p:nvSpPr>
          <p:cNvPr id="17" name="p06-table-r2-2">
            <a:extLst xmlns:a="http://schemas.openxmlformats.org/drawingml/2006/main">
              <a:ext uri="{FF2B5EF4-FFF2-40B4-BE49-F238E27FC236}">
                <a16:creationId xmlns:a16="http://schemas.microsoft.com/office/drawing/2014/main" id="{970B78A3-C2C2-4D9F-9059-D63F5950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956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混入评价者偏倚</a:t>
            </a:r>
          </a:p>
        </p:txBody>
      </p:sp>
      <p:sp>
        <p:nvSpPr>
          <p:cNvPr id="18" name="p06-table-r3-0">
            <a:extLst xmlns:a="http://schemas.openxmlformats.org/drawingml/2006/main">
              <a:ext uri="{FF2B5EF4-FFF2-40B4-BE49-F238E27FC236}">
                <a16:creationId xmlns:a16="http://schemas.microsoft.com/office/drawing/2014/main" id="{E61E3E94-EA7C-40A5-A7C1-5E13768B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81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次数不对等</a:t>
            </a:r>
          </a:p>
        </p:txBody>
      </p:sp>
      <p:sp>
        <p:nvSpPr>
          <p:cNvPr id="19" name="p06-table-r3-1">
            <a:extLst xmlns:a="http://schemas.openxmlformats.org/drawingml/2006/main">
              <a:ext uri="{FF2B5EF4-FFF2-40B4-BE49-F238E27FC236}">
                <a16:creationId xmlns:a16="http://schemas.microsoft.com/office/drawing/2014/main" id="{DEE1C21E-2298-4143-8017-5F8F1CF1E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5814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5 次均值 vs 1 次</a:t>
            </a:r>
          </a:p>
        </p:txBody>
      </p:sp>
      <p:sp>
        <p:nvSpPr>
          <p:cNvPr id="20" name="p06-table-r3-2">
            <a:extLst xmlns:a="http://schemas.openxmlformats.org/drawingml/2006/main">
              <a:ext uri="{FF2B5EF4-FFF2-40B4-BE49-F238E27FC236}">
                <a16:creationId xmlns:a16="http://schemas.microsoft.com/office/drawing/2014/main" id="{1009CCB6-4E53-4E66-BAA9-3372D36D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814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混入随机噪声</a:t>
            </a:r>
          </a:p>
        </p:txBody>
      </p:sp>
      <p:sp>
        <p:nvSpPr>
          <p:cNvPr id="21" name="p06-table-r4-0">
            <a:extLst xmlns:a="http://schemas.openxmlformats.org/drawingml/2006/main">
              <a:ext uri="{FF2B5EF4-FFF2-40B4-BE49-F238E27FC236}">
                <a16:creationId xmlns:a16="http://schemas.microsoft.com/office/drawing/2014/main" id="{1AEBF77D-2F0B-4CF3-9F64-0D30B61A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失败被删除</a:t>
            </a:r>
          </a:p>
        </p:txBody>
      </p:sp>
      <p:sp>
        <p:nvSpPr>
          <p:cNvPr id="22" name="p06-table-r4-1">
            <a:extLst xmlns:a="http://schemas.openxmlformats.org/drawingml/2006/main">
              <a:ext uri="{FF2B5EF4-FFF2-40B4-BE49-F238E27FC236}">
                <a16:creationId xmlns:a16="http://schemas.microsoft.com/office/drawing/2014/main" id="{3CBAB7ED-C064-486F-B43F-8164EF9B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267200"/>
            <a:ext cx="3333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只留成功运行</a:t>
            </a:r>
          </a:p>
        </p:txBody>
      </p:sp>
      <p:sp>
        <p:nvSpPr>
          <p:cNvPr id="23" name="p06-table-r4-2">
            <a:extLst xmlns:a="http://schemas.openxmlformats.org/drawingml/2006/main">
              <a:ext uri="{FF2B5EF4-FFF2-40B4-BE49-F238E27FC236}">
                <a16:creationId xmlns:a16="http://schemas.microsoft.com/office/drawing/2014/main" id="{1F8AC1B5-AA6B-45F2-978B-20EFDD1E8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67200"/>
            <a:ext cx="533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形成选择性报告</a:t>
            </a:r>
          </a:p>
        </p:txBody>
      </p:sp>
      <p:sp>
        <p:nvSpPr>
          <p:cNvPr id="24" name="p06-bottom">
            <a:extLst xmlns:a="http://schemas.openxmlformats.org/drawingml/2006/main">
              <a:ext uri="{FF2B5EF4-FFF2-40B4-BE49-F238E27FC236}">
                <a16:creationId xmlns:a16="http://schemas.microsoft.com/office/drawing/2014/main" id="{E1041339-B6FC-43F2-9F48-4352EC9A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86350"/>
            <a:ext cx="7048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baseline 必须可执行；失败仍是实验记录的一部分。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一句‘方法有效’无法证明实验可复现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watermark">
            <a:extLst xmlns:a="http://schemas.openxmlformats.org/drawingml/2006/main">
              <a:ext uri="{FF2B5EF4-FFF2-40B4-BE49-F238E27FC236}">
                <a16:creationId xmlns:a16="http://schemas.microsoft.com/office/drawing/2014/main" id="{97A216A2-5798-4E60-BBC9-FB4B77F2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87630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虚构教学反例｜非真实实验结果</a:t>
            </a:r>
          </a:p>
        </p:txBody>
      </p:sp>
      <p:sp>
        <p:nvSpPr>
          <p:cNvPr id="7" name="p07-claim">
            <a:extLst xmlns:a="http://schemas.openxmlformats.org/drawingml/2006/main">
              <a:ext uri="{FF2B5EF4-FFF2-40B4-BE49-F238E27FC236}">
                <a16:creationId xmlns:a16="http://schemas.microsoft.com/office/drawing/2014/main" id="{E1AFDCC3-E94A-423D-918A-3504B859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95400"/>
            <a:ext cx="49530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“用 GPT-4 生成摘要。阅读卡组遗漏率更低，所以方法有效。”</a:t>
            </a:r>
          </a:p>
        </p:txBody>
      </p:sp>
      <p:sp>
        <p:nvSpPr>
          <p:cNvPr id="8" name="p07-question">
            <a:extLst xmlns:a="http://schemas.openxmlformats.org/drawingml/2006/main">
              <a:ext uri="{FF2B5EF4-FFF2-40B4-BE49-F238E27FC236}">
                <a16:creationId xmlns:a16="http://schemas.microsoft.com/office/drawing/2014/main" id="{54E93406-3FF1-4FBA-8F36-A1270CA8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765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这句话缺了什么？</a:t>
            </a:r>
          </a:p>
        </p:txBody>
      </p:sp>
      <p:sp>
        <p:nvSpPr>
          <p:cNvPr id="9" name="p07-judgment">
            <a:extLst xmlns:a="http://schemas.openxmlformats.org/drawingml/2006/main">
              <a:ext uri="{FF2B5EF4-FFF2-40B4-BE49-F238E27FC236}">
                <a16:creationId xmlns:a16="http://schemas.microsoft.com/office/drawing/2014/main" id="{D17DD9FE-0FF8-41B3-A46E-18F16D71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81400"/>
            <a:ext cx="45339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没有运行条件，‘有效’无法被复核。</a:t>
            </a:r>
          </a:p>
        </p:txBody>
      </p:sp>
      <p:sp>
        <p:nvSpPr>
          <p:cNvPr id="10" name="p07-n-0">
            <a:extLst xmlns:a="http://schemas.openxmlformats.org/drawingml/2006/main">
              <a:ext uri="{FF2B5EF4-FFF2-40B4-BE49-F238E27FC236}">
                <a16:creationId xmlns:a16="http://schemas.microsoft.com/office/drawing/2014/main" id="{6F6F9C90-7BFC-4096-9D9E-FAAA21AE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2001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1" name="p07-m-0">
            <a:extLst xmlns:a="http://schemas.openxmlformats.org/drawingml/2006/main">
              <a:ext uri="{FF2B5EF4-FFF2-40B4-BE49-F238E27FC236}">
                <a16:creationId xmlns:a16="http://schemas.microsoft.com/office/drawing/2014/main" id="{1BFB550B-71A5-4540-8673-86711774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200150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模型版本 / snapshot</a:t>
            </a:r>
          </a:p>
        </p:txBody>
      </p:sp>
      <p:sp>
        <p:nvSpPr>
          <p:cNvPr id="12" name="p07-n-1">
            <a:extLst xmlns:a="http://schemas.openxmlformats.org/drawingml/2006/main">
              <a:ext uri="{FF2B5EF4-FFF2-40B4-BE49-F238E27FC236}">
                <a16:creationId xmlns:a16="http://schemas.microsoft.com/office/drawing/2014/main" id="{C580226F-3586-4340-838F-6D2B4781A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62125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3" name="p07-m-1">
            <a:extLst xmlns:a="http://schemas.openxmlformats.org/drawingml/2006/main">
              <a:ext uri="{FF2B5EF4-FFF2-40B4-BE49-F238E27FC236}">
                <a16:creationId xmlns:a16="http://schemas.microsoft.com/office/drawing/2014/main" id="{260ACE46-442B-4559-935D-F382AB36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62125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温度、max_tokens、prompt</a:t>
            </a:r>
          </a:p>
        </p:txBody>
      </p:sp>
      <p:sp>
        <p:nvSpPr>
          <p:cNvPr id="14" name="p07-n-2">
            <a:extLst xmlns:a="http://schemas.openxmlformats.org/drawingml/2006/main">
              <a:ext uri="{FF2B5EF4-FFF2-40B4-BE49-F238E27FC236}">
                <a16:creationId xmlns:a16="http://schemas.microsoft.com/office/drawing/2014/main" id="{7D8869AB-C638-4A18-BFD4-FA87D422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2410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5" name="p07-m-2">
            <a:extLst xmlns:a="http://schemas.openxmlformats.org/drawingml/2006/main">
              <a:ext uri="{FF2B5EF4-FFF2-40B4-BE49-F238E27FC236}">
                <a16:creationId xmlns:a16="http://schemas.microsoft.com/office/drawing/2014/main" id="{28EEBC30-E364-4B69-BDD2-C4EE44D1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24100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随机种子</a:t>
            </a:r>
          </a:p>
        </p:txBody>
      </p:sp>
      <p:sp>
        <p:nvSpPr>
          <p:cNvPr id="16" name="p07-n-3">
            <a:extLst xmlns:a="http://schemas.openxmlformats.org/drawingml/2006/main">
              <a:ext uri="{FF2B5EF4-FFF2-40B4-BE49-F238E27FC236}">
                <a16:creationId xmlns:a16="http://schemas.microsoft.com/office/drawing/2014/main" id="{C64F1670-A9FB-4AEB-81CD-5B381F05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86075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7" name="p07-m-3">
            <a:extLst xmlns:a="http://schemas.openxmlformats.org/drawingml/2006/main">
              <a:ext uri="{FF2B5EF4-FFF2-40B4-BE49-F238E27FC236}">
                <a16:creationId xmlns:a16="http://schemas.microsoft.com/office/drawing/2014/main" id="{B6096240-CAA1-4016-99D9-E7221388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86075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20 篇论文来源与快照</a:t>
            </a:r>
          </a:p>
        </p:txBody>
      </p:sp>
      <p:sp>
        <p:nvSpPr>
          <p:cNvPr id="18" name="p07-n-4">
            <a:extLst xmlns:a="http://schemas.openxmlformats.org/drawingml/2006/main">
              <a:ext uri="{FF2B5EF4-FFF2-40B4-BE49-F238E27FC236}">
                <a16:creationId xmlns:a16="http://schemas.microsoft.com/office/drawing/2014/main" id="{0FD38B52-6E9A-41D5-8027-E29085957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4805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p07-m-4">
            <a:extLst xmlns:a="http://schemas.openxmlformats.org/drawingml/2006/main">
              <a:ext uri="{FF2B5EF4-FFF2-40B4-BE49-F238E27FC236}">
                <a16:creationId xmlns:a16="http://schemas.microsoft.com/office/drawing/2014/main" id="{04E26A0E-5DA3-4185-BEC2-3903AEDE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48050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运行次数</a:t>
            </a:r>
          </a:p>
        </p:txBody>
      </p:sp>
      <p:sp>
        <p:nvSpPr>
          <p:cNvPr id="20" name="p07-n-5">
            <a:extLst xmlns:a="http://schemas.openxmlformats.org/drawingml/2006/main">
              <a:ext uri="{FF2B5EF4-FFF2-40B4-BE49-F238E27FC236}">
                <a16:creationId xmlns:a16="http://schemas.microsoft.com/office/drawing/2014/main" id="{9FEA4DEE-5036-4DC6-8C6E-4541D154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10025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p07-m-5">
            <a:extLst xmlns:a="http://schemas.openxmlformats.org/drawingml/2006/main">
              <a:ext uri="{FF2B5EF4-FFF2-40B4-BE49-F238E27FC236}">
                <a16:creationId xmlns:a16="http://schemas.microsoft.com/office/drawing/2014/main" id="{73D1B817-569B-4095-88FE-350661D0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10025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rubric、标注者、kappa</a:t>
            </a:r>
          </a:p>
        </p:txBody>
      </p:sp>
      <p:sp>
        <p:nvSpPr>
          <p:cNvPr id="22" name="p07-n-6">
            <a:extLst xmlns:a="http://schemas.openxmlformats.org/drawingml/2006/main">
              <a:ext uri="{FF2B5EF4-FFF2-40B4-BE49-F238E27FC236}">
                <a16:creationId xmlns:a16="http://schemas.microsoft.com/office/drawing/2014/main" id="{1DFD3829-0A2F-4971-9D26-D2149D10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572000"/>
            <a:ext cx="4000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3" name="p07-m-6">
            <a:extLst xmlns:a="http://schemas.openxmlformats.org/drawingml/2006/main">
              <a:ext uri="{FF2B5EF4-FFF2-40B4-BE49-F238E27FC236}">
                <a16:creationId xmlns:a16="http://schemas.microsoft.com/office/drawing/2014/main" id="{9528EAA0-8C41-45F5-81D1-8889B8450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72000"/>
            <a:ext cx="4514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是否同条件</a:t>
            </a:r>
          </a:p>
        </p:txBody>
      </p:sp>
      <p:sp>
        <p:nvSpPr>
          <p:cNvPr id="24" name="p07-bottom">
            <a:extLst xmlns:a="http://schemas.openxmlformats.org/drawingml/2006/main">
              <a:ext uri="{FF2B5EF4-FFF2-40B4-BE49-F238E27FC236}">
                <a16:creationId xmlns:a16="http://schemas.microsoft.com/office/drawing/2014/main" id="{8E253BD9-C353-4C79-A9EE-A8CC0B09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219700"/>
            <a:ext cx="8039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缺配置与种子 = 不可复现｜单次运行 = 不能把噪声写成结论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七字段把假设、对照与停止规则锁在一起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table-h-0">
            <a:extLst xmlns:a="http://schemas.openxmlformats.org/drawingml/2006/main">
              <a:ext uri="{FF2B5EF4-FFF2-40B4-BE49-F238E27FC236}">
                <a16:creationId xmlns:a16="http://schemas.microsoft.com/office/drawing/2014/main" id="{75344288-2CF8-4547-A492-7D44A321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52500"/>
            <a:ext cx="2209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字段</a:t>
            </a:r>
          </a:p>
        </p:txBody>
      </p:sp>
      <p:sp>
        <p:nvSpPr>
          <p:cNvPr id="7" name="p08-table-h-1">
            <a:extLst xmlns:a="http://schemas.openxmlformats.org/drawingml/2006/main">
              <a:ext uri="{FF2B5EF4-FFF2-40B4-BE49-F238E27FC236}">
                <a16:creationId xmlns:a16="http://schemas.microsoft.com/office/drawing/2014/main" id="{824F3D90-93D2-4C1D-BDAB-D34EF700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952500"/>
            <a:ext cx="893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贯穿案例最小写法</a:t>
            </a:r>
          </a:p>
        </p:txBody>
      </p:sp>
      <p:sp>
        <p:nvSpPr>
          <p:cNvPr id="8" name="p08-table-r0-0">
            <a:extLst xmlns:a="http://schemas.openxmlformats.org/drawingml/2006/main">
              <a:ext uri="{FF2B5EF4-FFF2-40B4-BE49-F238E27FC236}">
                <a16:creationId xmlns:a16="http://schemas.microsoft.com/office/drawing/2014/main" id="{009E564B-85D3-4C5C-9044-CF7B522C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假设对应</a:t>
            </a:r>
          </a:p>
        </p:txBody>
      </p:sp>
      <p:sp>
        <p:nvSpPr>
          <p:cNvPr id="9" name="p08-table-r0-1">
            <a:extLst xmlns:a="http://schemas.openxmlformats.org/drawingml/2006/main">
              <a:ext uri="{FF2B5EF4-FFF2-40B4-BE49-F238E27FC236}">
                <a16:creationId xmlns:a16="http://schemas.microsoft.com/office/drawing/2014/main" id="{E7A642B2-52A3-4B25-966B-BC3FA205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37160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H1：字段约束 → 强制标注 → 错读更易暴露</a:t>
            </a:r>
          </a:p>
        </p:txBody>
      </p:sp>
      <p:sp>
        <p:nvSpPr>
          <p:cNvPr id="10" name="p08-table-r1-0">
            <a:extLst xmlns:a="http://schemas.openxmlformats.org/drawingml/2006/main">
              <a:ext uri="{FF2B5EF4-FFF2-40B4-BE49-F238E27FC236}">
                <a16:creationId xmlns:a16="http://schemas.microsoft.com/office/drawing/2014/main" id="{E9189CC3-3900-4AE7-A713-20D7F61CF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6215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变量</a:t>
            </a:r>
          </a:p>
        </p:txBody>
      </p:sp>
      <p:sp>
        <p:nvSpPr>
          <p:cNvPr id="11" name="p08-table-r1-1">
            <a:extLst xmlns:a="http://schemas.openxmlformats.org/drawingml/2006/main">
              <a:ext uri="{FF2B5EF4-FFF2-40B4-BE49-F238E27FC236}">
                <a16:creationId xmlns:a16="http://schemas.microsoft.com/office/drawing/2014/main" id="{3A7EF86A-C69A-4899-9000-10483F47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6215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自：是否阅读卡｜因：遗漏率｜控：模型/温度/论文｜混：结构/标注者</a:t>
            </a:r>
          </a:p>
        </p:txBody>
      </p:sp>
      <p:sp>
        <p:nvSpPr>
          <p:cNvPr id="12" name="p08-table-r2-0">
            <a:extLst xmlns:a="http://schemas.openxmlformats.org/drawingml/2006/main">
              <a:ext uri="{FF2B5EF4-FFF2-40B4-BE49-F238E27FC236}">
                <a16:creationId xmlns:a16="http://schemas.microsoft.com/office/drawing/2014/main" id="{9CB55F11-23D4-4684-83D3-0B4D8E48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步骤</a:t>
            </a:r>
          </a:p>
        </p:txBody>
      </p:sp>
      <p:sp>
        <p:nvSpPr>
          <p:cNvPr id="13" name="p08-table-r2-1">
            <a:extLst xmlns:a="http://schemas.openxmlformats.org/drawingml/2006/main">
              <a:ext uri="{FF2B5EF4-FFF2-40B4-BE49-F238E27FC236}">
                <a16:creationId xmlns:a16="http://schemas.microsoft.com/office/drawing/2014/main" id="{BA625F8C-D3BF-42E4-941F-17B1998F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5270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抽 20 篇 → 随机分组 → 生成 → 盲评 → 计算</a:t>
            </a:r>
          </a:p>
        </p:txBody>
      </p:sp>
      <p:sp>
        <p:nvSpPr>
          <p:cNvPr id="14" name="p08-table-r3-0">
            <a:extLst xmlns:a="http://schemas.openxmlformats.org/drawingml/2006/main">
              <a:ext uri="{FF2B5EF4-FFF2-40B4-BE49-F238E27FC236}">
                <a16:creationId xmlns:a16="http://schemas.microsoft.com/office/drawing/2014/main" id="{D6BFA40A-18FF-48D7-99B2-C2980C86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度量标准</a:t>
            </a:r>
          </a:p>
        </p:txBody>
      </p:sp>
      <p:sp>
        <p:nvSpPr>
          <p:cNvPr id="15" name="p08-table-r3-1">
            <a:extLst xmlns:a="http://schemas.openxmlformats.org/drawingml/2006/main">
              <a:ext uri="{FF2B5EF4-FFF2-40B4-BE49-F238E27FC236}">
                <a16:creationId xmlns:a16="http://schemas.microsoft.com/office/drawing/2014/main" id="{317BDCDC-132E-4071-A9B0-B1E63302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14325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遗漏率 = 缺失字段数 / 应有字段数；kappa ≥ 0.7</a:t>
            </a:r>
          </a:p>
        </p:txBody>
      </p:sp>
      <p:sp>
        <p:nvSpPr>
          <p:cNvPr id="16" name="p08-table-r4-0">
            <a:extLst xmlns:a="http://schemas.openxmlformats.org/drawingml/2006/main">
              <a:ext uri="{FF2B5EF4-FFF2-40B4-BE49-F238E27FC236}">
                <a16:creationId xmlns:a16="http://schemas.microsoft.com/office/drawing/2014/main" id="{19D85FFE-A0ED-47EF-B9AE-23C6A092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对照</a:t>
            </a:r>
          </a:p>
        </p:txBody>
      </p:sp>
      <p:sp>
        <p:nvSpPr>
          <p:cNvPr id="17" name="p08-table-r4-1">
            <a:extLst xmlns:a="http://schemas.openxmlformats.org/drawingml/2006/main">
              <a:ext uri="{FF2B5EF4-FFF2-40B4-BE49-F238E27FC236}">
                <a16:creationId xmlns:a16="http://schemas.microsoft.com/office/drawing/2014/main" id="{595D03B9-AB70-44C3-B2B4-2E420F1E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73380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自由摘要；同模型、论文、参数、rubric 与次数</a:t>
            </a:r>
          </a:p>
        </p:txBody>
      </p:sp>
      <p:sp>
        <p:nvSpPr>
          <p:cNvPr id="18" name="p08-table-r5-0">
            <a:extLst xmlns:a="http://schemas.openxmlformats.org/drawingml/2006/main">
              <a:ext uri="{FF2B5EF4-FFF2-40B4-BE49-F238E27FC236}">
                <a16:creationId xmlns:a16="http://schemas.microsoft.com/office/drawing/2014/main" id="{CB71CC01-71E7-43A8-A7DD-373A9E7D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2435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随机化与重复</a:t>
            </a:r>
          </a:p>
        </p:txBody>
      </p:sp>
      <p:sp>
        <p:nvSpPr>
          <p:cNvPr id="19" name="p08-table-r5-1">
            <a:extLst xmlns:a="http://schemas.openxmlformats.org/drawingml/2006/main">
              <a:ext uri="{FF2B5EF4-FFF2-40B4-BE49-F238E27FC236}">
                <a16:creationId xmlns:a16="http://schemas.microsoft.com/office/drawing/2014/main" id="{22F5CC4F-36A8-4717-B3F0-4FF5B661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32435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split_seed=42；run_seeds=[100,200,300]</a:t>
            </a:r>
          </a:p>
        </p:txBody>
      </p:sp>
      <p:sp>
        <p:nvSpPr>
          <p:cNvPr id="20" name="p08-table-r6-0">
            <a:extLst xmlns:a="http://schemas.openxmlformats.org/drawingml/2006/main">
              <a:ext uri="{FF2B5EF4-FFF2-40B4-BE49-F238E27FC236}">
                <a16:creationId xmlns:a16="http://schemas.microsoft.com/office/drawing/2014/main" id="{5CA682CB-2BD3-4E3A-B9F3-37B2C2C9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14900"/>
            <a:ext cx="22098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21" name="p08-table-r6-1">
            <a:extLst xmlns:a="http://schemas.openxmlformats.org/drawingml/2006/main">
              <a:ext uri="{FF2B5EF4-FFF2-40B4-BE49-F238E27FC236}">
                <a16:creationId xmlns:a16="http://schemas.microsoft.com/office/drawing/2014/main" id="{16A81742-2AD8-47D8-84BE-970D08C5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14900"/>
            <a:ext cx="89344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5 次 × 2 组；协议错误时提前停</a:t>
            </a:r>
          </a:p>
        </p:txBody>
      </p:sp>
      <p:sp>
        <p:nvSpPr>
          <p:cNvPr id="22" name="p08-bottom">
            <a:extLst xmlns:a="http://schemas.openxmlformats.org/drawingml/2006/main">
              <a:ext uri="{FF2B5EF4-FFF2-40B4-BE49-F238E27FC236}">
                <a16:creationId xmlns:a16="http://schemas.microsoft.com/office/drawing/2014/main" id="{9A7C6B4D-9198-4D32-A12B-E20DB61D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543550"/>
            <a:ext cx="929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虚构教学规格｜度量写口径；种子写具体值；停止条件在看结果前写。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停止条件与失败预案必须在看结果前写明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stop-title">
            <a:extLst xmlns:a="http://schemas.openxmlformats.org/drawingml/2006/main">
              <a:ext uri="{FF2B5EF4-FFF2-40B4-BE49-F238E27FC236}">
                <a16:creationId xmlns:a16="http://schemas.microsoft.com/office/drawing/2014/main" id="{6D53C14C-AE1A-47AA-BEAA-E57855D3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287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7" name="p09-stop">
            <a:extLst xmlns:a="http://schemas.openxmlformats.org/drawingml/2006/main">
              <a:ext uri="{FF2B5EF4-FFF2-40B4-BE49-F238E27FC236}">
                <a16:creationId xmlns:a16="http://schemas.microsoft.com/office/drawing/2014/main" id="{12F8140A-913A-400A-BC43-32BC3677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95450"/>
            <a:ext cx="4953000" cy="1962150"/>
          </a:xfrm>
          <a:prstGeom xmlns:a="http://schemas.openxmlformats.org/drawingml/2006/main" prst="roundRect">
            <a:avLst>
              <a:gd name="adj" fmla="val 388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预先承诺：5 次 × 2 组 = 10 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允许提前停：标注协议错误、数据污染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不允许提前停：结果不利、尚未显著</a:t>
            </a:r>
          </a:p>
        </p:txBody>
      </p:sp>
      <p:sp>
        <p:nvSpPr>
          <p:cNvPr id="8" name="p09-fail-title">
            <a:extLst xmlns:a="http://schemas.openxmlformats.org/drawingml/2006/main">
              <a:ext uri="{FF2B5EF4-FFF2-40B4-BE49-F238E27FC236}">
                <a16:creationId xmlns:a16="http://schemas.microsoft.com/office/drawing/2014/main" id="{8A944A77-3EF5-4B3B-BFC6-EB83C35B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0287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8354E"/>
                </a:solidFill>
              </a:defRPr>
            </a:pPr>
            <a:r>
              <a:rPr sz="20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失败预案</a:t>
            </a:r>
          </a:p>
        </p:txBody>
      </p:sp>
      <p:sp>
        <p:nvSpPr>
          <p:cNvPr id="9" name="p09-i-0">
            <a:extLst xmlns:a="http://schemas.openxmlformats.org/drawingml/2006/main">
              <a:ext uri="{FF2B5EF4-FFF2-40B4-BE49-F238E27FC236}">
                <a16:creationId xmlns:a16="http://schemas.microsoft.com/office/drawing/2014/main" id="{06BBEFFE-DAE3-4C76-8DCE-8A26AE5B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76400"/>
            <a:ext cx="20764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baseline 跑不通</a:t>
            </a:r>
          </a:p>
        </p:txBody>
      </p:sp>
      <p:sp>
        <p:nvSpPr>
          <p:cNvPr id="10" name="p09-p-0">
            <a:extLst xmlns:a="http://schemas.openxmlformats.org/drawingml/2006/main">
              <a:ext uri="{FF2B5EF4-FFF2-40B4-BE49-F238E27FC236}">
                <a16:creationId xmlns:a16="http://schemas.microsoft.com/office/drawing/2014/main" id="{DECB0FE0-2C2E-4A88-A92B-23D21CC0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676400"/>
            <a:ext cx="3028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缩小样本，回到最小验证</a:t>
            </a:r>
          </a:p>
        </p:txBody>
      </p:sp>
      <p:sp>
        <p:nvSpPr>
          <p:cNvPr id="11" name="p09-i-1">
            <a:extLst xmlns:a="http://schemas.openxmlformats.org/drawingml/2006/main">
              <a:ext uri="{FF2B5EF4-FFF2-40B4-BE49-F238E27FC236}">
                <a16:creationId xmlns:a16="http://schemas.microsoft.com/office/drawing/2014/main" id="{2E850835-278B-485B-A4E8-2D835FA6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20764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结果不支持 H1</a:t>
            </a:r>
          </a:p>
        </p:txBody>
      </p:sp>
      <p:sp>
        <p:nvSpPr>
          <p:cNvPr id="12" name="p09-p-1">
            <a:extLst xmlns:a="http://schemas.openxmlformats.org/drawingml/2006/main">
              <a:ext uri="{FF2B5EF4-FFF2-40B4-BE49-F238E27FC236}">
                <a16:creationId xmlns:a16="http://schemas.microsoft.com/office/drawing/2014/main" id="{0FACEA6C-D7E7-401C-B9AC-7C901A916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457450"/>
            <a:ext cx="3028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检查替代假设，保留待验证</a:t>
            </a:r>
          </a:p>
        </p:txBody>
      </p:sp>
      <p:sp>
        <p:nvSpPr>
          <p:cNvPr id="13" name="p09-i-2">
            <a:extLst xmlns:a="http://schemas.openxmlformats.org/drawingml/2006/main">
              <a:ext uri="{FF2B5EF4-FFF2-40B4-BE49-F238E27FC236}">
                <a16:creationId xmlns:a16="http://schemas.microsoft.com/office/drawing/2014/main" id="{90311649-28D0-4E39-82BB-DC83B5FF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38500"/>
            <a:ext cx="20764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数据不可用</a:t>
            </a:r>
          </a:p>
        </p:txBody>
      </p:sp>
      <p:sp>
        <p:nvSpPr>
          <p:cNvPr id="14" name="p09-p-2">
            <a:extLst xmlns:a="http://schemas.openxmlformats.org/drawingml/2006/main">
              <a:ext uri="{FF2B5EF4-FFF2-40B4-BE49-F238E27FC236}">
                <a16:creationId xmlns:a16="http://schemas.microsoft.com/office/drawing/2014/main" id="{5815E1C5-F9DF-4059-88B2-AAEE0473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38500"/>
            <a:ext cx="3028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换公开替代并声明限制</a:t>
            </a:r>
          </a:p>
        </p:txBody>
      </p:sp>
      <p:sp>
        <p:nvSpPr>
          <p:cNvPr id="15" name="p09-i-3">
            <a:extLst xmlns:a="http://schemas.openxmlformats.org/drawingml/2006/main">
              <a:ext uri="{FF2B5EF4-FFF2-40B4-BE49-F238E27FC236}">
                <a16:creationId xmlns:a16="http://schemas.microsoft.com/office/drawing/2014/main" id="{8F4F35BC-C4B0-44B9-BE25-08A4A130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19550"/>
            <a:ext cx="20764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kappa &lt; 0.7</a:t>
            </a:r>
          </a:p>
        </p:txBody>
      </p:sp>
      <p:sp>
        <p:nvSpPr>
          <p:cNvPr id="16" name="p09-p-3">
            <a:extLst xmlns:a="http://schemas.openxmlformats.org/drawingml/2006/main">
              <a:ext uri="{FF2B5EF4-FFF2-40B4-BE49-F238E27FC236}">
                <a16:creationId xmlns:a16="http://schemas.microsoft.com/office/drawing/2014/main" id="{EB75AD65-E687-4E86-86E5-585CA25C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19550"/>
            <a:ext cx="3028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训练标注者、修订 rubric、降级结论</a:t>
            </a:r>
          </a:p>
        </p:txBody>
      </p:sp>
      <p:sp>
        <p:nvSpPr>
          <p:cNvPr id="17" name="p09-bottom">
            <a:extLst xmlns:a="http://schemas.openxmlformats.org/drawingml/2006/main">
              <a:ext uri="{FF2B5EF4-FFF2-40B4-BE49-F238E27FC236}">
                <a16:creationId xmlns:a16="http://schemas.microsoft.com/office/drawing/2014/main" id="{26BE3615-CF49-4BA1-9FE2-24D7D752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53000"/>
            <a:ext cx="7620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虚构教学规格｜失败预案让失败可分析；删除失败记录是红线。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度量必须写出从原始数据到数字的口径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l-0">
            <a:extLst xmlns:a="http://schemas.openxmlformats.org/drawingml/2006/main">
              <a:ext uri="{FF2B5EF4-FFF2-40B4-BE49-F238E27FC236}">
                <a16:creationId xmlns:a16="http://schemas.microsoft.com/office/drawing/2014/main" id="{9A8A938C-3627-4BC1-BDD3-1842ECBA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04900"/>
            <a:ext cx="2514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操作定义</a:t>
            </a:r>
          </a:p>
        </p:txBody>
      </p:sp>
      <p:sp>
        <p:nvSpPr>
          <p:cNvPr id="7" name="p10-d-0">
            <a:extLst xmlns:a="http://schemas.openxmlformats.org/drawingml/2006/main">
              <a:ext uri="{FF2B5EF4-FFF2-40B4-BE49-F238E27FC236}">
                <a16:creationId xmlns:a16="http://schemas.microsoft.com/office/drawing/2014/main" id="{72B01579-6330-4426-9884-4999021E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2514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公式或步骤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从原始数据到指标</a:t>
            </a:r>
          </a:p>
        </p:txBody>
      </p:sp>
      <p:sp>
        <p:nvSpPr>
          <p:cNvPr id="8" name="p10-l-1">
            <a:extLst xmlns:a="http://schemas.openxmlformats.org/drawingml/2006/main">
              <a:ext uri="{FF2B5EF4-FFF2-40B4-BE49-F238E27FC236}">
                <a16:creationId xmlns:a16="http://schemas.microsoft.com/office/drawing/2014/main" id="{BF3DCF44-B0D2-475E-90C9-7286962A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104900"/>
            <a:ext cx="2514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计算口径</a:t>
            </a:r>
          </a:p>
        </p:txBody>
      </p:sp>
      <p:sp>
        <p:nvSpPr>
          <p:cNvPr id="9" name="p10-d-1">
            <a:extLst xmlns:a="http://schemas.openxmlformats.org/drawingml/2006/main">
              <a:ext uri="{FF2B5EF4-FFF2-40B4-BE49-F238E27FC236}">
                <a16:creationId xmlns:a16="http://schemas.microsoft.com/office/drawing/2014/main" id="{E3BA6CC8-8D41-436A-942E-C04BB4AE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733550"/>
            <a:ext cx="2514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分子、分母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缺失值处理</a:t>
            </a:r>
          </a:p>
        </p:txBody>
      </p:sp>
      <p:sp>
        <p:nvSpPr>
          <p:cNvPr id="10" name="p10-l-2">
            <a:extLst xmlns:a="http://schemas.openxmlformats.org/drawingml/2006/main">
              <a:ext uri="{FF2B5EF4-FFF2-40B4-BE49-F238E27FC236}">
                <a16:creationId xmlns:a16="http://schemas.microsoft.com/office/drawing/2014/main" id="{4B7CB5E9-F378-4675-9536-A58F2060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104900"/>
            <a:ext cx="2514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标注协议</a:t>
            </a:r>
          </a:p>
        </p:txBody>
      </p:sp>
      <p:sp>
        <p:nvSpPr>
          <p:cNvPr id="11" name="p10-d-2">
            <a:extLst xmlns:a="http://schemas.openxmlformats.org/drawingml/2006/main">
              <a:ext uri="{FF2B5EF4-FFF2-40B4-BE49-F238E27FC236}">
                <a16:creationId xmlns:a16="http://schemas.microsoft.com/office/drawing/2014/main" id="{70427554-E7F6-4F3E-9ECB-5F53409E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33550"/>
            <a:ext cx="2514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人数、训练、盲评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分歧解决</a:t>
            </a:r>
          </a:p>
        </p:txBody>
      </p:sp>
      <p:sp>
        <p:nvSpPr>
          <p:cNvPr id="12" name="p10-l-3">
            <a:extLst xmlns:a="http://schemas.openxmlformats.org/drawingml/2006/main">
              <a:ext uri="{FF2B5EF4-FFF2-40B4-BE49-F238E27FC236}">
                <a16:creationId xmlns:a16="http://schemas.microsoft.com/office/drawing/2014/main" id="{6BF19F9C-6D83-459B-B55E-E2B22143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104900"/>
            <a:ext cx="25146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一致性指标</a:t>
            </a:r>
          </a:p>
        </p:txBody>
      </p:sp>
      <p:sp>
        <p:nvSpPr>
          <p:cNvPr id="13" name="p10-d-3">
            <a:extLst xmlns:a="http://schemas.openxmlformats.org/drawingml/2006/main">
              <a:ext uri="{FF2B5EF4-FFF2-40B4-BE49-F238E27FC236}">
                <a16:creationId xmlns:a16="http://schemas.microsoft.com/office/drawing/2014/main" id="{AC6BAAB4-2B53-44D3-9290-5BBD71C4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1733550"/>
            <a:ext cx="25146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kappa / alpha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未计算要说明理由</a:t>
            </a:r>
          </a:p>
        </p:txBody>
      </p:sp>
      <p:sp>
        <p:nvSpPr>
          <p:cNvPr id="14" name="p10-case-title">
            <a:extLst xmlns:a="http://schemas.openxmlformats.org/drawingml/2006/main">
              <a:ext uri="{FF2B5EF4-FFF2-40B4-BE49-F238E27FC236}">
                <a16:creationId xmlns:a16="http://schemas.microsoft.com/office/drawing/2014/main" id="{747B8FBF-EC33-4CC2-A4AD-290C3EF3B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虚构教学规格</a:t>
            </a:r>
          </a:p>
        </p:txBody>
      </p:sp>
      <p:sp>
        <p:nvSpPr>
          <p:cNvPr id="15" name="p10-case">
            <a:extLst xmlns:a="http://schemas.openxmlformats.org/drawingml/2006/main">
              <a:ext uri="{FF2B5EF4-FFF2-40B4-BE49-F238E27FC236}">
                <a16:creationId xmlns:a16="http://schemas.microsoft.com/office/drawing/2014/main" id="{7B6A76A5-8AC0-456E-AFA5-71AAAC9C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276600"/>
            <a:ext cx="82486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限定条件字段缺失率 = 缺失字段数 / 应有限定条件字段数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2 名标注者双盲；分歧协商；Cohen's kappa ≥ 0.7</a:t>
            </a:r>
          </a:p>
        </p:txBody>
      </p:sp>
      <p:sp>
        <p:nvSpPr>
          <p:cNvPr id="16" name="p10-bottom">
            <a:extLst xmlns:a="http://schemas.openxmlformats.org/drawingml/2006/main">
              <a:ext uri="{FF2B5EF4-FFF2-40B4-BE49-F238E27FC236}">
                <a16:creationId xmlns:a16="http://schemas.microsoft.com/office/drawing/2014/main" id="{047315CB-5DD2-4B3D-BB5D-C0006BA0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819650"/>
            <a:ext cx="8001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只写‘用遗漏率’不够；别人必须能够按同一口径重算。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六类记录共同构成最小复现集合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line-0">
            <a:extLst xmlns:a="http://schemas.openxmlformats.org/drawingml/2006/main">
              <a:ext uri="{FF2B5EF4-FFF2-40B4-BE49-F238E27FC236}">
                <a16:creationId xmlns:a16="http://schemas.microsoft.com/office/drawing/2014/main" id="{687F0D33-772A-47EE-B18D-7AB30A95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240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11-line-1">
            <a:extLst xmlns:a="http://schemas.openxmlformats.org/drawingml/2006/main">
              <a:ext uri="{FF2B5EF4-FFF2-40B4-BE49-F238E27FC236}">
                <a16:creationId xmlns:a16="http://schemas.microsoft.com/office/drawing/2014/main" id="{8954E3F3-22E0-4944-B85A-39F0C4D4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671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1-line-2">
            <a:extLst xmlns:a="http://schemas.openxmlformats.org/drawingml/2006/main">
              <a:ext uri="{FF2B5EF4-FFF2-40B4-BE49-F238E27FC236}">
                <a16:creationId xmlns:a16="http://schemas.microsoft.com/office/drawing/2014/main" id="{0EE389E8-5EC6-46A7-B4E0-FB37D5AF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1-line-3">
            <a:extLst xmlns:a="http://schemas.openxmlformats.org/drawingml/2006/main">
              <a:ext uri="{FF2B5EF4-FFF2-40B4-BE49-F238E27FC236}">
                <a16:creationId xmlns:a16="http://schemas.microsoft.com/office/drawing/2014/main" id="{E63D2A71-F610-48A4-A1E0-AA8F35F65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11-line-4">
            <a:extLst xmlns:a="http://schemas.openxmlformats.org/drawingml/2006/main">
              <a:ext uri="{FF2B5EF4-FFF2-40B4-BE49-F238E27FC236}">
                <a16:creationId xmlns:a16="http://schemas.microsoft.com/office/drawing/2014/main" id="{EC742ACD-A89F-4998-BAE2-746DD5D1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96450" y="24574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1-label-0">
            <a:extLst xmlns:a="http://schemas.openxmlformats.org/drawingml/2006/main">
              <a:ext uri="{FF2B5EF4-FFF2-40B4-BE49-F238E27FC236}">
                <a16:creationId xmlns:a16="http://schemas.microsoft.com/office/drawing/2014/main" id="{70A51D99-67CE-4F82-A035-23A492825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环境</a:t>
            </a:r>
          </a:p>
        </p:txBody>
      </p:sp>
      <p:sp>
        <p:nvSpPr>
          <p:cNvPr id="12" name="p11-detail-0">
            <a:extLst xmlns:a="http://schemas.openxmlformats.org/drawingml/2006/main">
              <a:ext uri="{FF2B5EF4-FFF2-40B4-BE49-F238E27FC236}">
                <a16:creationId xmlns:a16="http://schemas.microsoft.com/office/drawing/2014/main" id="{55E98212-463C-41FD-9CB9-9A259016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Python 3.10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SDK 0.34.0</a:t>
            </a:r>
          </a:p>
        </p:txBody>
      </p:sp>
      <p:sp>
        <p:nvSpPr>
          <p:cNvPr id="13" name="p11-label-1">
            <a:extLst xmlns:a="http://schemas.openxmlformats.org/drawingml/2006/main">
              <a:ext uri="{FF2B5EF4-FFF2-40B4-BE49-F238E27FC236}">
                <a16:creationId xmlns:a16="http://schemas.microsoft.com/office/drawing/2014/main" id="{4617B98F-24D3-4B5C-86A1-F8D3562EB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配置</a:t>
            </a:r>
          </a:p>
        </p:txBody>
      </p:sp>
      <p:sp>
        <p:nvSpPr>
          <p:cNvPr id="14" name="p11-detail-1">
            <a:extLst xmlns:a="http://schemas.openxmlformats.org/drawingml/2006/main">
              <a:ext uri="{FF2B5EF4-FFF2-40B4-BE49-F238E27FC236}">
                <a16:creationId xmlns:a16="http://schemas.microsoft.com/office/drawing/2014/main" id="{99C87C90-807B-4F51-9597-CD46D01D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模型 snapshot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temperature=0</a:t>
            </a:r>
          </a:p>
        </p:txBody>
      </p:sp>
      <p:sp>
        <p:nvSpPr>
          <p:cNvPr id="15" name="p11-label-2">
            <a:extLst xmlns:a="http://schemas.openxmlformats.org/drawingml/2006/main">
              <a:ext uri="{FF2B5EF4-FFF2-40B4-BE49-F238E27FC236}">
                <a16:creationId xmlns:a16="http://schemas.microsoft.com/office/drawing/2014/main" id="{86672B7E-7477-46E1-800B-AB81FD5EF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种子</a:t>
            </a:r>
          </a:p>
        </p:txBody>
      </p:sp>
      <p:sp>
        <p:nvSpPr>
          <p:cNvPr id="16" name="p11-detail-2">
            <a:extLst xmlns:a="http://schemas.openxmlformats.org/drawingml/2006/main">
              <a:ext uri="{FF2B5EF4-FFF2-40B4-BE49-F238E27FC236}">
                <a16:creationId xmlns:a16="http://schemas.microsoft.com/office/drawing/2014/main" id="{998A2F0A-7C9C-458E-8F59-D117A414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split=42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run seeds: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100,200,300</a:t>
            </a:r>
          </a:p>
        </p:txBody>
      </p:sp>
      <p:sp>
        <p:nvSpPr>
          <p:cNvPr id="17" name="p11-label-3">
            <a:extLst xmlns:a="http://schemas.openxmlformats.org/drawingml/2006/main">
              <a:ext uri="{FF2B5EF4-FFF2-40B4-BE49-F238E27FC236}">
                <a16:creationId xmlns:a16="http://schemas.microsoft.com/office/drawing/2014/main" id="{B3E807D2-B786-4492-A980-38565651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</a:t>
            </a:r>
          </a:p>
        </p:txBody>
      </p:sp>
      <p:sp>
        <p:nvSpPr>
          <p:cNvPr id="18" name="p11-detail-3">
            <a:extLst xmlns:a="http://schemas.openxmlformats.org/drawingml/2006/main">
              <a:ext uri="{FF2B5EF4-FFF2-40B4-BE49-F238E27FC236}">
                <a16:creationId xmlns:a16="http://schemas.microsoft.com/office/drawing/2014/main" id="{E40E0868-9D46-4FAD-A6D1-40ED759B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20 篇 ACL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快照 + 使用限制</a:t>
            </a:r>
          </a:p>
        </p:txBody>
      </p:sp>
      <p:sp>
        <p:nvSpPr>
          <p:cNvPr id="19" name="p11-label-4">
            <a:extLst xmlns:a="http://schemas.openxmlformats.org/drawingml/2006/main">
              <a:ext uri="{FF2B5EF4-FFF2-40B4-BE49-F238E27FC236}">
                <a16:creationId xmlns:a16="http://schemas.microsoft.com/office/drawing/2014/main" id="{71E3CBA1-C9AC-4B1C-9050-26FC9C22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代码</a:t>
            </a:r>
          </a:p>
        </p:txBody>
      </p:sp>
      <p:sp>
        <p:nvSpPr>
          <p:cNvPr id="20" name="p11-detail-4">
            <a:extLst xmlns:a="http://schemas.openxmlformats.org/drawingml/2006/main">
              <a:ext uri="{FF2B5EF4-FFF2-40B4-BE49-F238E27FC236}">
                <a16:creationId xmlns:a16="http://schemas.microsoft.com/office/drawing/2014/main" id="{A2C02C0F-5972-409B-AA98-CFE7C934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commit abc123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运行命令</a:t>
            </a:r>
          </a:p>
        </p:txBody>
      </p:sp>
      <p:sp>
        <p:nvSpPr>
          <p:cNvPr id="21" name="p11-label-5">
            <a:extLst xmlns:a="http://schemas.openxmlformats.org/drawingml/2006/main">
              <a:ext uri="{FF2B5EF4-FFF2-40B4-BE49-F238E27FC236}">
                <a16:creationId xmlns:a16="http://schemas.microsoft.com/office/drawing/2014/main" id="{FC49390B-1533-4328-A942-72A70487F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466850"/>
            <a:ext cx="15811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22" name="p11-detail-5">
            <a:extLst xmlns:a="http://schemas.openxmlformats.org/drawingml/2006/main">
              <a:ext uri="{FF2B5EF4-FFF2-40B4-BE49-F238E27FC236}">
                <a16:creationId xmlns:a16="http://schemas.microsoft.com/office/drawing/2014/main" id="{2BD121B4-7BF1-4E03-BD4D-44B9968D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057400"/>
            <a:ext cx="15811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log.jsonl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results.csv</a:t>
            </a:r>
          </a:p>
        </p:txBody>
      </p:sp>
      <p:sp>
        <p:nvSpPr>
          <p:cNvPr id="23" name="p11-def">
            <a:extLst xmlns:a="http://schemas.openxmlformats.org/drawingml/2006/main">
              <a:ext uri="{FF2B5EF4-FFF2-40B4-BE49-F238E27FC236}">
                <a16:creationId xmlns:a16="http://schemas.microsoft.com/office/drawing/2014/main" id="{B79641F1-9A42-45B8-8551-5E91F3805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00450"/>
            <a:ext cx="97917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真实可运行课次工件｜experiment-spec.md → config.json → run.py → run-log.jsonl</a:t>
            </a:r>
          </a:p>
        </p:txBody>
      </p:sp>
      <p:sp>
        <p:nvSpPr>
          <p:cNvPr id="24" name="p11-limit">
            <a:extLst xmlns:a="http://schemas.openxmlformats.org/drawingml/2006/main">
              <a:ext uri="{FF2B5EF4-FFF2-40B4-BE49-F238E27FC236}">
                <a16:creationId xmlns:a16="http://schemas.microsoft.com/office/drawing/2014/main" id="{131C05EC-19AD-45ED-982F-7B509489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533900"/>
            <a:ext cx="91059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实跑核验：4 条合成记录｜2 条缺失｜遗漏率 0.5｜非实证研究结论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单次运行不能直接写成方法效应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src-0">
            <a:extLst xmlns:a="http://schemas.openxmlformats.org/drawingml/2006/main">
              <a:ext uri="{FF2B5EF4-FFF2-40B4-BE49-F238E27FC236}">
                <a16:creationId xmlns:a16="http://schemas.microsoft.com/office/drawing/2014/main" id="{D690DBDD-0DE5-428B-8C7C-3F0563EB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049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数据划分</a:t>
            </a:r>
          </a:p>
        </p:txBody>
      </p:sp>
      <p:sp>
        <p:nvSpPr>
          <p:cNvPr id="7" name="p12-src-1">
            <a:extLst xmlns:a="http://schemas.openxmlformats.org/drawingml/2006/main">
              <a:ext uri="{FF2B5EF4-FFF2-40B4-BE49-F238E27FC236}">
                <a16:creationId xmlns:a16="http://schemas.microsoft.com/office/drawing/2014/main" id="{48ADF00F-2160-46D8-A908-95139821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1049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模型初始化</a:t>
            </a:r>
          </a:p>
        </p:txBody>
      </p:sp>
      <p:sp>
        <p:nvSpPr>
          <p:cNvPr id="8" name="p12-src-2">
            <a:extLst xmlns:a="http://schemas.openxmlformats.org/drawingml/2006/main">
              <a:ext uri="{FF2B5EF4-FFF2-40B4-BE49-F238E27FC236}">
                <a16:creationId xmlns:a16="http://schemas.microsoft.com/office/drawing/2014/main" id="{E6A39BA7-E6D4-4AE0-8883-DD28AADD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1049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采样</a:t>
            </a:r>
          </a:p>
        </p:txBody>
      </p:sp>
      <p:sp>
        <p:nvSpPr>
          <p:cNvPr id="9" name="p12-src-3">
            <a:extLst xmlns:a="http://schemas.openxmlformats.org/drawingml/2006/main">
              <a:ext uri="{FF2B5EF4-FFF2-40B4-BE49-F238E27FC236}">
                <a16:creationId xmlns:a16="http://schemas.microsoft.com/office/drawing/2014/main" id="{195E7006-1CBC-4F95-8D28-A5948F35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1049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解码</a:t>
            </a:r>
          </a:p>
        </p:txBody>
      </p:sp>
      <p:sp>
        <p:nvSpPr>
          <p:cNvPr id="10" name="p12-line-0">
            <a:extLst xmlns:a="http://schemas.openxmlformats.org/drawingml/2006/main">
              <a:ext uri="{FF2B5EF4-FFF2-40B4-BE49-F238E27FC236}">
                <a16:creationId xmlns:a16="http://schemas.microsoft.com/office/drawing/2014/main" id="{4F774CDA-8E8C-407F-9E6A-1B9FCE9B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009775" y="2185988"/>
            <a:ext cx="62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2-line-1">
            <a:extLst xmlns:a="http://schemas.openxmlformats.org/drawingml/2006/main">
              <a:ext uri="{FF2B5EF4-FFF2-40B4-BE49-F238E27FC236}">
                <a16:creationId xmlns:a16="http://schemas.microsoft.com/office/drawing/2014/main" id="{6DE81C95-207C-4F1B-8D10-67B6426E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695825" y="2185988"/>
            <a:ext cx="62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12-line-2">
            <a:extLst xmlns:a="http://schemas.openxmlformats.org/drawingml/2006/main">
              <a:ext uri="{FF2B5EF4-FFF2-40B4-BE49-F238E27FC236}">
                <a16:creationId xmlns:a16="http://schemas.microsoft.com/office/drawing/2014/main" id="{9DC78928-1BD3-4224-8FEB-908C4790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381875" y="2185988"/>
            <a:ext cx="62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2-line-3">
            <a:extLst xmlns:a="http://schemas.openxmlformats.org/drawingml/2006/main">
              <a:ext uri="{FF2B5EF4-FFF2-40B4-BE49-F238E27FC236}">
                <a16:creationId xmlns:a16="http://schemas.microsoft.com/office/drawing/2014/main" id="{AE2DC9B7-B707-4275-94AC-F519E533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067925" y="2185988"/>
            <a:ext cx="628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2-finding">
            <a:extLst xmlns:a="http://schemas.openxmlformats.org/drawingml/2006/main">
              <a:ext uri="{FF2B5EF4-FFF2-40B4-BE49-F238E27FC236}">
                <a16:creationId xmlns:a16="http://schemas.microsoft.com/office/drawing/2014/main" id="{F3016CB8-8C2D-4909-A93C-9A2F727F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33650"/>
            <a:ext cx="647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单次运行的噪声可能大于方法间差异</a:t>
            </a:r>
          </a:p>
        </p:txBody>
      </p:sp>
      <p:sp>
        <p:nvSpPr>
          <p:cNvPr id="15" name="p12-n-0">
            <a:extLst xmlns:a="http://schemas.openxmlformats.org/drawingml/2006/main">
              <a:ext uri="{FF2B5EF4-FFF2-40B4-BE49-F238E27FC236}">
                <a16:creationId xmlns:a16="http://schemas.microsoft.com/office/drawing/2014/main" id="{5107E4C5-CDA0-4C44-A45B-54938BC9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p12-s-0">
            <a:extLst xmlns:a="http://schemas.openxmlformats.org/drawingml/2006/main">
              <a:ext uri="{FF2B5EF4-FFF2-40B4-BE49-F238E27FC236}">
                <a16:creationId xmlns:a16="http://schemas.microsoft.com/office/drawing/2014/main" id="{3B7AFDF6-D9FF-43E4-88F1-4A976077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004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记录所有种子或等价条件</a:t>
            </a:r>
          </a:p>
        </p:txBody>
      </p:sp>
      <p:sp>
        <p:nvSpPr>
          <p:cNvPr id="17" name="p12-n-1">
            <a:extLst xmlns:a="http://schemas.openxmlformats.org/drawingml/2006/main">
              <a:ext uri="{FF2B5EF4-FFF2-40B4-BE49-F238E27FC236}">
                <a16:creationId xmlns:a16="http://schemas.microsoft.com/office/drawing/2014/main" id="{8B92B0C5-4CFF-4520-939B-9E0EC312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00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p12-s-1">
            <a:extLst xmlns:a="http://schemas.openxmlformats.org/drawingml/2006/main">
              <a:ext uri="{FF2B5EF4-FFF2-40B4-BE49-F238E27FC236}">
                <a16:creationId xmlns:a16="http://schemas.microsoft.com/office/drawing/2014/main" id="{FD5F9F58-2E68-433F-8FE3-7D99A891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6004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重复计划与主张强度匹配</a:t>
            </a:r>
          </a:p>
        </p:txBody>
      </p:sp>
      <p:sp>
        <p:nvSpPr>
          <p:cNvPr id="19" name="p12-n-2">
            <a:extLst xmlns:a="http://schemas.openxmlformats.org/drawingml/2006/main">
              <a:ext uri="{FF2B5EF4-FFF2-40B4-BE49-F238E27FC236}">
                <a16:creationId xmlns:a16="http://schemas.microsoft.com/office/drawing/2014/main" id="{BF04821E-FEB4-45C5-AD90-AE0B397A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38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p12-s-2">
            <a:extLst xmlns:a="http://schemas.openxmlformats.org/drawingml/2006/main">
              <a:ext uri="{FF2B5EF4-FFF2-40B4-BE49-F238E27FC236}">
                <a16:creationId xmlns:a16="http://schemas.microsoft.com/office/drawing/2014/main" id="{32453B3B-125D-461A-899A-49C7F672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4386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声称方差时说明汇总方式</a:t>
            </a:r>
          </a:p>
        </p:txBody>
      </p:sp>
      <p:sp>
        <p:nvSpPr>
          <p:cNvPr id="21" name="p12-n-3">
            <a:extLst xmlns:a="http://schemas.openxmlformats.org/drawingml/2006/main">
              <a:ext uri="{FF2B5EF4-FFF2-40B4-BE49-F238E27FC236}">
                <a16:creationId xmlns:a16="http://schemas.microsoft.com/office/drawing/2014/main" id="{7D5E9746-3196-4057-8493-971D0B67A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386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p12-s-3">
            <a:extLst xmlns:a="http://schemas.openxmlformats.org/drawingml/2006/main">
              <a:ext uri="{FF2B5EF4-FFF2-40B4-BE49-F238E27FC236}">
                <a16:creationId xmlns:a16="http://schemas.microsoft.com/office/drawing/2014/main" id="{28A495CC-80D4-4A16-B5FB-64EB2583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386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只有 1 次时：说明边界，不写稳定结论</a:t>
            </a:r>
          </a:p>
        </p:txBody>
      </p:sp>
      <p:sp>
        <p:nvSpPr>
          <p:cNvPr id="23" name="p12-bottom">
            <a:extLst xmlns:a="http://schemas.openxmlformats.org/drawingml/2006/main">
              <a:ext uri="{FF2B5EF4-FFF2-40B4-BE49-F238E27FC236}">
                <a16:creationId xmlns:a16="http://schemas.microsoft.com/office/drawing/2014/main" id="{87723B76-979E-4E51-BCCF-9C62DD96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257800"/>
            <a:ext cx="8801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把单次差异写成稳定结论，会把种子噪声误当成方法效应。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判断门先做到 documented、consistent、exercisable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l-0">
            <a:extLst xmlns:a="http://schemas.openxmlformats.org/drawingml/2006/main">
              <a:ext uri="{FF2B5EF4-FFF2-40B4-BE49-F238E27FC236}">
                <a16:creationId xmlns:a16="http://schemas.microsoft.com/office/drawing/2014/main" id="{53C3CCA1-F0D2-46F1-AEC4-E05A64BB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3390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documented</a:t>
            </a:r>
          </a:p>
        </p:txBody>
      </p:sp>
      <p:sp>
        <p:nvSpPr>
          <p:cNvPr id="7" name="p13-d-0">
            <a:extLst xmlns:a="http://schemas.openxmlformats.org/drawingml/2006/main">
              <a:ext uri="{FF2B5EF4-FFF2-40B4-BE49-F238E27FC236}">
                <a16:creationId xmlns:a16="http://schemas.microsoft.com/office/drawing/2014/main" id="{5B4A4BE0-8C5B-4148-8BCA-19A9D3EC4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33909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基本运行说明存在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判断门：实验规格</a:t>
            </a:r>
          </a:p>
        </p:txBody>
      </p:sp>
      <p:sp>
        <p:nvSpPr>
          <p:cNvPr id="8" name="p13-l-1">
            <a:extLst xmlns:a="http://schemas.openxmlformats.org/drawingml/2006/main">
              <a:ext uri="{FF2B5EF4-FFF2-40B4-BE49-F238E27FC236}">
                <a16:creationId xmlns:a16="http://schemas.microsoft.com/office/drawing/2014/main" id="{6BDE10CA-E332-4592-8F02-27886AC0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257300"/>
            <a:ext cx="3390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consistent</a:t>
            </a:r>
          </a:p>
        </p:txBody>
      </p:sp>
      <p:sp>
        <p:nvSpPr>
          <p:cNvPr id="9" name="p13-d-1">
            <a:extLst xmlns:a="http://schemas.openxmlformats.org/drawingml/2006/main">
              <a:ext uri="{FF2B5EF4-FFF2-40B4-BE49-F238E27FC236}">
                <a16:creationId xmlns:a16="http://schemas.microsoft.com/office/drawing/2014/main" id="{3E39872F-A8FE-4A8E-A276-25241240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62150"/>
            <a:ext cx="33909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说明与代码行为一致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判断门：复现说明 ↔ 代码</a:t>
            </a:r>
          </a:p>
        </p:txBody>
      </p:sp>
      <p:sp>
        <p:nvSpPr>
          <p:cNvPr id="10" name="p13-l-2">
            <a:extLst xmlns:a="http://schemas.openxmlformats.org/drawingml/2006/main">
              <a:ext uri="{FF2B5EF4-FFF2-40B4-BE49-F238E27FC236}">
                <a16:creationId xmlns:a16="http://schemas.microsoft.com/office/drawing/2014/main" id="{39685A14-80FE-4ECD-BC7F-8CD4F6A6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257300"/>
            <a:ext cx="33909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exercisable</a:t>
            </a:r>
          </a:p>
        </p:txBody>
      </p:sp>
      <p:sp>
        <p:nvSpPr>
          <p:cNvPr id="11" name="p13-d-2">
            <a:extLst xmlns:a="http://schemas.openxmlformats.org/drawingml/2006/main">
              <a:ext uri="{FF2B5EF4-FFF2-40B4-BE49-F238E27FC236}">
                <a16:creationId xmlns:a16="http://schemas.microsoft.com/office/drawing/2014/main" id="{CE8C82C8-FA5E-427F-B0AA-C8BF7B42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62150"/>
            <a:ext cx="3390900" cy="1504950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工件能被独立运行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判断门：可执行 baseline</a:t>
            </a:r>
          </a:p>
        </p:txBody>
      </p:sp>
      <p:sp>
        <p:nvSpPr>
          <p:cNvPr id="12" name="p13-arrow-1">
            <a:extLst xmlns:a="http://schemas.openxmlformats.org/drawingml/2006/main">
              <a:ext uri="{FF2B5EF4-FFF2-40B4-BE49-F238E27FC236}">
                <a16:creationId xmlns:a16="http://schemas.microsoft.com/office/drawing/2014/main" id="{18C118A0-315B-4238-BB28-A42E7A02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19550" y="2543175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3-arrow-2">
            <a:extLst xmlns:a="http://schemas.openxmlformats.org/drawingml/2006/main">
              <a:ext uri="{FF2B5EF4-FFF2-40B4-BE49-F238E27FC236}">
                <a16:creationId xmlns:a16="http://schemas.microsoft.com/office/drawing/2014/main" id="{F341536F-0718-441A-8079-C894A853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67650" y="2543175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3-higher">
            <a:extLst xmlns:a="http://schemas.openxmlformats.org/drawingml/2006/main">
              <a:ext uri="{FF2B5EF4-FFF2-40B4-BE49-F238E27FC236}">
                <a16:creationId xmlns:a16="http://schemas.microsoft.com/office/drawing/2014/main" id="{55B80AE4-83F8-49CA-BAF6-BE4347F07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38600"/>
            <a:ext cx="94869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更高档 complete / available / results validated 留给验证门与论证门，本课不要求。</a:t>
            </a:r>
          </a:p>
        </p:txBody>
      </p:sp>
      <p:sp>
        <p:nvSpPr>
          <p:cNvPr id="15" name="p13-bottom">
            <a:extLst xmlns:a="http://schemas.openxmlformats.org/drawingml/2006/main">
              <a:ext uri="{FF2B5EF4-FFF2-40B4-BE49-F238E27FC236}">
                <a16:creationId xmlns:a16="http://schemas.microsoft.com/office/drawing/2014/main" id="{6566CBC9-94B8-4494-B18A-B9AD5C7B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143500"/>
            <a:ext cx="662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这些等级是自查视角，不另立课程评分规则。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模板迁移补字段，但不能丢历史记录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map-h-0">
            <a:extLst xmlns:a="http://schemas.openxmlformats.org/drawingml/2006/main">
              <a:ext uri="{FF2B5EF4-FFF2-40B4-BE49-F238E27FC236}">
                <a16:creationId xmlns:a16="http://schemas.microsoft.com/office/drawing/2014/main" id="{F0673508-E386-40C8-B6B2-90280B18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starter 字段</a:t>
            </a:r>
          </a:p>
        </p:txBody>
      </p:sp>
      <p:sp>
        <p:nvSpPr>
          <p:cNvPr id="7" name="p14-map-h-1">
            <a:extLst xmlns:a="http://schemas.openxmlformats.org/drawingml/2006/main">
              <a:ext uri="{FF2B5EF4-FFF2-40B4-BE49-F238E27FC236}">
                <a16:creationId xmlns:a16="http://schemas.microsoft.com/office/drawing/2014/main" id="{7F2B7A7A-545A-4952-8E1F-3DD754C7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066800"/>
            <a:ext cx="3524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project 位置</a:t>
            </a:r>
          </a:p>
        </p:txBody>
      </p:sp>
      <p:sp>
        <p:nvSpPr>
          <p:cNvPr id="8" name="p14-map-h-2">
            <a:extLst xmlns:a="http://schemas.openxmlformats.org/drawingml/2006/main">
              <a:ext uri="{FF2B5EF4-FFF2-40B4-BE49-F238E27FC236}">
                <a16:creationId xmlns:a16="http://schemas.microsoft.com/office/drawing/2014/main" id="{CD713EB0-5E05-49A8-BC92-0BF28754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066800"/>
            <a:ext cx="476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迁移动作</a:t>
            </a:r>
          </a:p>
        </p:txBody>
      </p:sp>
      <p:sp>
        <p:nvSpPr>
          <p:cNvPr id="9" name="p14-map-r0-0">
            <a:extLst xmlns:a="http://schemas.openxmlformats.org/drawingml/2006/main">
              <a:ext uri="{FF2B5EF4-FFF2-40B4-BE49-F238E27FC236}">
                <a16:creationId xmlns:a16="http://schemas.microsoft.com/office/drawing/2014/main" id="{B2069707-C16B-4A17-82EB-4F947A09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24000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项目概览</a:t>
            </a:r>
          </a:p>
        </p:txBody>
      </p:sp>
      <p:sp>
        <p:nvSpPr>
          <p:cNvPr id="10" name="p14-map-r0-1">
            <a:extLst xmlns:a="http://schemas.openxmlformats.org/drawingml/2006/main">
              <a:ext uri="{FF2B5EF4-FFF2-40B4-BE49-F238E27FC236}">
                <a16:creationId xmlns:a16="http://schemas.microsoft.com/office/drawing/2014/main" id="{9FEA1D33-5C97-4CC1-A51E-4C6BE8F41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524000"/>
            <a:ext cx="352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§1 项目信息</a:t>
            </a:r>
          </a:p>
        </p:txBody>
      </p:sp>
      <p:sp>
        <p:nvSpPr>
          <p:cNvPr id="11" name="p14-map-r0-2">
            <a:extLst xmlns:a="http://schemas.openxmlformats.org/drawingml/2006/main">
              <a:ext uri="{FF2B5EF4-FFF2-40B4-BE49-F238E27FC236}">
                <a16:creationId xmlns:a16="http://schemas.microsoft.com/office/drawing/2014/main" id="{2F35354B-6A77-4896-99A2-A29EE90A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52400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补仓库 URL</a:t>
            </a:r>
          </a:p>
        </p:txBody>
      </p:sp>
      <p:sp>
        <p:nvSpPr>
          <p:cNvPr id="12" name="p14-map-r1-0">
            <a:extLst xmlns:a="http://schemas.openxmlformats.org/drawingml/2006/main">
              <a:ext uri="{FF2B5EF4-FFF2-40B4-BE49-F238E27FC236}">
                <a16:creationId xmlns:a16="http://schemas.microsoft.com/office/drawing/2014/main" id="{C4F3F823-7359-404D-A55E-D87D6A33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使用记录</a:t>
            </a:r>
          </a:p>
        </p:txBody>
      </p:sp>
      <p:sp>
        <p:nvSpPr>
          <p:cNvPr id="13" name="p14-map-r1-1">
            <a:extLst xmlns:a="http://schemas.openxmlformats.org/drawingml/2006/main">
              <a:ext uri="{FF2B5EF4-FFF2-40B4-BE49-F238E27FC236}">
                <a16:creationId xmlns:a16="http://schemas.microsoft.com/office/drawing/2014/main" id="{51C60B33-29D2-476C-8359-B5CEF61C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152650"/>
            <a:ext cx="352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ai-usage-log.md</a:t>
            </a:r>
          </a:p>
        </p:txBody>
      </p:sp>
      <p:sp>
        <p:nvSpPr>
          <p:cNvPr id="14" name="p14-map-r1-2">
            <a:extLst xmlns:a="http://schemas.openxmlformats.org/drawingml/2006/main">
              <a:ext uri="{FF2B5EF4-FFF2-40B4-BE49-F238E27FC236}">
                <a16:creationId xmlns:a16="http://schemas.microsoft.com/office/drawing/2014/main" id="{9C8079B8-A0D6-40F4-AB3E-DA94C2FB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5265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保留全部条目</a:t>
            </a:r>
          </a:p>
        </p:txBody>
      </p:sp>
      <p:sp>
        <p:nvSpPr>
          <p:cNvPr id="15" name="p14-map-r2-0">
            <a:extLst xmlns:a="http://schemas.openxmlformats.org/drawingml/2006/main">
              <a:ext uri="{FF2B5EF4-FFF2-40B4-BE49-F238E27FC236}">
                <a16:creationId xmlns:a16="http://schemas.microsoft.com/office/drawing/2014/main" id="{8E5A346E-7A4B-41CA-982E-24FDB866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81300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伦理检查</a:t>
            </a:r>
          </a:p>
        </p:txBody>
      </p:sp>
      <p:sp>
        <p:nvSpPr>
          <p:cNvPr id="16" name="p14-map-r2-1">
            <a:extLst xmlns:a="http://schemas.openxmlformats.org/drawingml/2006/main">
              <a:ext uri="{FF2B5EF4-FFF2-40B4-BE49-F238E27FC236}">
                <a16:creationId xmlns:a16="http://schemas.microsoft.com/office/drawing/2014/main" id="{FF186D47-039A-45DF-94C6-73E725F5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81300"/>
            <a:ext cx="352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ethics-and-compliance.md</a:t>
            </a:r>
          </a:p>
        </p:txBody>
      </p:sp>
      <p:sp>
        <p:nvSpPr>
          <p:cNvPr id="17" name="p14-map-r2-2">
            <a:extLst xmlns:a="http://schemas.openxmlformats.org/drawingml/2006/main">
              <a:ext uri="{FF2B5EF4-FFF2-40B4-BE49-F238E27FC236}">
                <a16:creationId xmlns:a16="http://schemas.microsoft.com/office/drawing/2014/main" id="{AFD4BEF9-C554-4DB3-80ED-D50E8BEF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78130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补数据使用限制</a:t>
            </a:r>
          </a:p>
        </p:txBody>
      </p:sp>
      <p:sp>
        <p:nvSpPr>
          <p:cNvPr id="18" name="p14-map-r3-0">
            <a:extLst xmlns:a="http://schemas.openxmlformats.org/drawingml/2006/main">
              <a:ext uri="{FF2B5EF4-FFF2-40B4-BE49-F238E27FC236}">
                <a16:creationId xmlns:a16="http://schemas.microsoft.com/office/drawing/2014/main" id="{DD927CB2-9DA6-44BF-ACDB-BC7A9428B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权限矩阵</a:t>
            </a:r>
          </a:p>
        </p:txBody>
      </p:sp>
      <p:sp>
        <p:nvSpPr>
          <p:cNvPr id="19" name="p14-map-r3-1">
            <a:extLst xmlns:a="http://schemas.openxmlformats.org/drawingml/2006/main">
              <a:ext uri="{FF2B5EF4-FFF2-40B4-BE49-F238E27FC236}">
                <a16:creationId xmlns:a16="http://schemas.microsoft.com/office/drawing/2014/main" id="{BBEC11F3-BC78-4070-8CBF-E16607AF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409950"/>
            <a:ext cx="35242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§6 Agent Workflow</a:t>
            </a:r>
          </a:p>
        </p:txBody>
      </p:sp>
      <p:sp>
        <p:nvSpPr>
          <p:cNvPr id="20" name="p14-map-r3-2">
            <a:extLst xmlns:a="http://schemas.openxmlformats.org/drawingml/2006/main">
              <a:ext uri="{FF2B5EF4-FFF2-40B4-BE49-F238E27FC236}">
                <a16:creationId xmlns:a16="http://schemas.microsoft.com/office/drawing/2014/main" id="{E3904653-B80F-4171-A1F8-93590BA8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0995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263746"/>
                </a:solidFill>
              </a:defRPr>
            </a:pPr>
            <a:r>
              <a:rPr sz="142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搬当前边界</a:t>
            </a:r>
          </a:p>
        </p:txBody>
      </p:sp>
      <p:sp>
        <p:nvSpPr>
          <p:cNvPr id="21" name="p14-new-title">
            <a:extLst xmlns:a="http://schemas.openxmlformats.org/drawingml/2006/main">
              <a:ext uri="{FF2B5EF4-FFF2-40B4-BE49-F238E27FC236}">
                <a16:creationId xmlns:a16="http://schemas.microsoft.com/office/drawing/2014/main" id="{758060E6-6951-47BF-A6E1-38741CDE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本课新增</a:t>
            </a:r>
          </a:p>
        </p:txBody>
      </p:sp>
      <p:sp>
        <p:nvSpPr>
          <p:cNvPr id="22" name="p14-new">
            <a:extLst xmlns:a="http://schemas.openxmlformats.org/drawingml/2006/main">
              <a:ext uri="{FF2B5EF4-FFF2-40B4-BE49-F238E27FC236}">
                <a16:creationId xmlns:a16="http://schemas.microsoft.com/office/drawing/2014/main" id="{398C3AC4-92E0-410B-9678-57DAD361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248150"/>
            <a:ext cx="8801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§4.2 baseline｜§4.6 七字段规格｜§5 至少两条研究判断｜§7 实验记录｜failure-log.md｜同伴反馈处理</a:t>
            </a:r>
          </a:p>
        </p:txBody>
      </p:sp>
      <p:sp>
        <p:nvSpPr>
          <p:cNvPr id="23" name="p14-bottom">
            <a:extLst xmlns:a="http://schemas.openxmlformats.org/drawingml/2006/main">
              <a:ext uri="{FF2B5EF4-FFF2-40B4-BE49-F238E27FC236}">
                <a16:creationId xmlns:a16="http://schemas.microsoft.com/office/drawing/2014/main" id="{899259F0-5F6E-4046-A6E2-830CD8D9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19700"/>
            <a:ext cx="7924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迁移不是重写：补齐新增字段，同时保留第 1-8 课所有记录。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判断门检查当前个人项目版本的九项条件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n-0">
            <a:extLst xmlns:a="http://schemas.openxmlformats.org/drawingml/2006/main">
              <a:ext uri="{FF2B5EF4-FFF2-40B4-BE49-F238E27FC236}">
                <a16:creationId xmlns:a16="http://schemas.microsoft.com/office/drawing/2014/main" id="{44C43246-0004-4B1E-A636-77E9E965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430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15-g-0">
            <a:extLst xmlns:a="http://schemas.openxmlformats.org/drawingml/2006/main">
              <a:ext uri="{FF2B5EF4-FFF2-40B4-BE49-F238E27FC236}">
                <a16:creationId xmlns:a16="http://schemas.microsoft.com/office/drawing/2014/main" id="{FBEBCA71-49B8-4096-8192-B063778C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066800"/>
            <a:ext cx="3238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可执行 baseline / 最小原型</a:t>
            </a:r>
          </a:p>
        </p:txBody>
      </p:sp>
      <p:sp>
        <p:nvSpPr>
          <p:cNvPr id="8" name="p15-n-1">
            <a:extLst xmlns:a="http://schemas.openxmlformats.org/drawingml/2006/main">
              <a:ext uri="{FF2B5EF4-FFF2-40B4-BE49-F238E27FC236}">
                <a16:creationId xmlns:a16="http://schemas.microsoft.com/office/drawing/2014/main" id="{8C8E0962-919A-45DE-8D2B-BAD0EAF2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1430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p15-g-1">
            <a:extLst xmlns:a="http://schemas.openxmlformats.org/drawingml/2006/main">
              <a:ext uri="{FF2B5EF4-FFF2-40B4-BE49-F238E27FC236}">
                <a16:creationId xmlns:a16="http://schemas.microsoft.com/office/drawing/2014/main" id="{430EEAC3-ABF2-47EE-9E8F-C1972F271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066800"/>
            <a:ext cx="3238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数据、指标与使用限制</a:t>
            </a:r>
          </a:p>
        </p:txBody>
      </p:sp>
      <p:sp>
        <p:nvSpPr>
          <p:cNvPr id="10" name="p15-n-2">
            <a:extLst xmlns:a="http://schemas.openxmlformats.org/drawingml/2006/main">
              <a:ext uri="{FF2B5EF4-FFF2-40B4-BE49-F238E27FC236}">
                <a16:creationId xmlns:a16="http://schemas.microsoft.com/office/drawing/2014/main" id="{17B7B2EF-42DD-42C7-A1BB-47197633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1430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p15-g-2">
            <a:extLst xmlns:a="http://schemas.openxmlformats.org/drawingml/2006/main">
              <a:ext uri="{FF2B5EF4-FFF2-40B4-BE49-F238E27FC236}">
                <a16:creationId xmlns:a16="http://schemas.microsoft.com/office/drawing/2014/main" id="{3893C898-CB98-445D-868A-B3E1A875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066800"/>
            <a:ext cx="3238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环境、配置与复现条件</a:t>
            </a:r>
          </a:p>
        </p:txBody>
      </p:sp>
      <p:sp>
        <p:nvSpPr>
          <p:cNvPr id="12" name="p15-n-3">
            <a:extLst xmlns:a="http://schemas.openxmlformats.org/drawingml/2006/main">
              <a:ext uri="{FF2B5EF4-FFF2-40B4-BE49-F238E27FC236}">
                <a16:creationId xmlns:a16="http://schemas.microsoft.com/office/drawing/2014/main" id="{980361F6-E677-4B6A-BB11-68D6F49B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431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p15-g-3">
            <a:extLst xmlns:a="http://schemas.openxmlformats.org/drawingml/2006/main">
              <a:ext uri="{FF2B5EF4-FFF2-40B4-BE49-F238E27FC236}">
                <a16:creationId xmlns:a16="http://schemas.microsoft.com/office/drawing/2014/main" id="{0E966A7F-A463-475E-9528-995A0F797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238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≥2 条研究判断</a:t>
            </a:r>
          </a:p>
        </p:txBody>
      </p:sp>
      <p:sp>
        <p:nvSpPr>
          <p:cNvPr id="14" name="p15-n-4">
            <a:extLst xmlns:a="http://schemas.openxmlformats.org/drawingml/2006/main">
              <a:ext uri="{FF2B5EF4-FFF2-40B4-BE49-F238E27FC236}">
                <a16:creationId xmlns:a16="http://schemas.microsoft.com/office/drawing/2014/main" id="{9558B616-9CF5-41B4-9DC9-5D4EF000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431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p15-g-4">
            <a:extLst xmlns:a="http://schemas.openxmlformats.org/drawingml/2006/main">
              <a:ext uri="{FF2B5EF4-FFF2-40B4-BE49-F238E27FC236}">
                <a16:creationId xmlns:a16="http://schemas.microsoft.com/office/drawing/2014/main" id="{4DC9D173-F652-4B95-ABB4-DCE241E1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66950"/>
            <a:ext cx="3238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完整实验规格</a:t>
            </a:r>
          </a:p>
        </p:txBody>
      </p:sp>
      <p:sp>
        <p:nvSpPr>
          <p:cNvPr id="16" name="p15-n-5">
            <a:extLst xmlns:a="http://schemas.openxmlformats.org/drawingml/2006/main">
              <a:ext uri="{FF2B5EF4-FFF2-40B4-BE49-F238E27FC236}">
                <a16:creationId xmlns:a16="http://schemas.microsoft.com/office/drawing/2014/main" id="{CDAC6C2E-6ED8-4D45-9EB5-A2280633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431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p15-g-5">
            <a:extLst xmlns:a="http://schemas.openxmlformats.org/drawingml/2006/main">
              <a:ext uri="{FF2B5EF4-FFF2-40B4-BE49-F238E27FC236}">
                <a16:creationId xmlns:a16="http://schemas.microsoft.com/office/drawing/2014/main" id="{9AC0A517-0B25-4DC5-829D-1BE0701C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66950"/>
            <a:ext cx="3238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8 课反馈处理</a:t>
            </a:r>
          </a:p>
        </p:txBody>
      </p:sp>
      <p:sp>
        <p:nvSpPr>
          <p:cNvPr id="18" name="p15-n-6">
            <a:extLst xmlns:a="http://schemas.openxmlformats.org/drawingml/2006/main">
              <a:ext uri="{FF2B5EF4-FFF2-40B4-BE49-F238E27FC236}">
                <a16:creationId xmlns:a16="http://schemas.microsoft.com/office/drawing/2014/main" id="{87EE75FC-F917-4984-8939-C919D75D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5433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9" name="p15-g-6">
            <a:extLst xmlns:a="http://schemas.openxmlformats.org/drawingml/2006/main">
              <a:ext uri="{FF2B5EF4-FFF2-40B4-BE49-F238E27FC236}">
                <a16:creationId xmlns:a16="http://schemas.microsoft.com/office/drawing/2014/main" id="{B3E5D441-240A-4B94-B5B9-7E140D78A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67100"/>
            <a:ext cx="3238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最大风险与失败预案</a:t>
            </a:r>
          </a:p>
        </p:txBody>
      </p:sp>
      <p:sp>
        <p:nvSpPr>
          <p:cNvPr id="20" name="p15-n-7">
            <a:extLst xmlns:a="http://schemas.openxmlformats.org/drawingml/2006/main">
              <a:ext uri="{FF2B5EF4-FFF2-40B4-BE49-F238E27FC236}">
                <a16:creationId xmlns:a16="http://schemas.microsoft.com/office/drawing/2014/main" id="{3CB19479-8628-4C1B-B31E-BB5D0FF39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433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1" name="p15-g-7">
            <a:extLst xmlns:a="http://schemas.openxmlformats.org/drawingml/2006/main">
              <a:ext uri="{FF2B5EF4-FFF2-40B4-BE49-F238E27FC236}">
                <a16:creationId xmlns:a16="http://schemas.microsoft.com/office/drawing/2014/main" id="{DC13862B-C446-43C9-93F8-8DDB444D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67100"/>
            <a:ext cx="3238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已遇失败 / 放弃备选记录</a:t>
            </a:r>
          </a:p>
        </p:txBody>
      </p:sp>
      <p:sp>
        <p:nvSpPr>
          <p:cNvPr id="22" name="p15-n-8">
            <a:extLst xmlns:a="http://schemas.openxmlformats.org/drawingml/2006/main">
              <a:ext uri="{FF2B5EF4-FFF2-40B4-BE49-F238E27FC236}">
                <a16:creationId xmlns:a16="http://schemas.microsoft.com/office/drawing/2014/main" id="{7A75741C-219F-4855-B603-1553409F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5433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3" name="p15-g-8">
            <a:extLst xmlns:a="http://schemas.openxmlformats.org/drawingml/2006/main">
              <a:ext uri="{FF2B5EF4-FFF2-40B4-BE49-F238E27FC236}">
                <a16:creationId xmlns:a16="http://schemas.microsoft.com/office/drawing/2014/main" id="{191C37A4-96F3-4A51-A392-0AD46EC3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67100"/>
            <a:ext cx="3238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迁移模板，不丢 AI / 伦理</a:t>
            </a:r>
          </a:p>
        </p:txBody>
      </p:sp>
      <p:sp>
        <p:nvSpPr>
          <p:cNvPr id="24" name="p15-scope">
            <a:extLst xmlns:a="http://schemas.openxmlformats.org/drawingml/2006/main">
              <a:ext uri="{FF2B5EF4-FFF2-40B4-BE49-F238E27FC236}">
                <a16:creationId xmlns:a16="http://schemas.microsoft.com/office/drawing/2014/main" id="{504A0FB5-CD15-473B-AEB5-6D179C1D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5775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重点补全 1 / 2 / 3 / 5 / 7 / 8｜事实失败记录不能用前瞻预案替代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J2 把 baseline 取舍和同伴反馈写进判断记录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j2-title">
            <a:extLst xmlns:a="http://schemas.openxmlformats.org/drawingml/2006/main">
              <a:ext uri="{FF2B5EF4-FFF2-40B4-BE49-F238E27FC236}">
                <a16:creationId xmlns:a16="http://schemas.microsoft.com/office/drawing/2014/main" id="{9C0C4C42-10FA-4D88-B2B9-BEC4E48A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6362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虚构教学判断 J2：选朴素 baseline</a:t>
            </a:r>
          </a:p>
        </p:txBody>
      </p:sp>
      <p:sp>
        <p:nvSpPr>
          <p:cNvPr id="7" name="p16-j2-h-0">
            <a:extLst xmlns:a="http://schemas.openxmlformats.org/drawingml/2006/main">
              <a:ext uri="{FF2B5EF4-FFF2-40B4-BE49-F238E27FC236}">
                <a16:creationId xmlns:a16="http://schemas.microsoft.com/office/drawing/2014/main" id="{18239AC4-815B-4234-BEB0-8ED88D81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171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字段</a:t>
            </a:r>
          </a:p>
        </p:txBody>
      </p:sp>
      <p:sp>
        <p:nvSpPr>
          <p:cNvPr id="8" name="p16-j2-h-1">
            <a:extLst xmlns:a="http://schemas.openxmlformats.org/drawingml/2006/main">
              <a:ext uri="{FF2B5EF4-FFF2-40B4-BE49-F238E27FC236}">
                <a16:creationId xmlns:a16="http://schemas.microsoft.com/office/drawing/2014/main" id="{1D6CAD97-BDA3-4FD0-B04E-F2D10318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57350"/>
            <a:ext cx="457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记录</a:t>
            </a:r>
          </a:p>
        </p:txBody>
      </p:sp>
      <p:sp>
        <p:nvSpPr>
          <p:cNvPr id="9" name="p16-j2-r0-0">
            <a:extLst xmlns:a="http://schemas.openxmlformats.org/drawingml/2006/main">
              <a:ext uri="{FF2B5EF4-FFF2-40B4-BE49-F238E27FC236}">
                <a16:creationId xmlns:a16="http://schemas.microsoft.com/office/drawing/2014/main" id="{7D262087-06C9-4C08-9C83-AF936F3A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取舍理由</a:t>
            </a:r>
          </a:p>
        </p:txBody>
      </p:sp>
      <p:sp>
        <p:nvSpPr>
          <p:cNvPr id="10" name="p16-j2-r0-1">
            <a:extLst xmlns:a="http://schemas.openxmlformats.org/drawingml/2006/main">
              <a:ext uri="{FF2B5EF4-FFF2-40B4-BE49-F238E27FC236}">
                <a16:creationId xmlns:a16="http://schemas.microsoft.com/office/drawing/2014/main" id="{E0559269-9C49-472F-860D-41691CEA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7645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强 baseline 需要外部 prompt 集，超出周期</a:t>
            </a:r>
          </a:p>
        </p:txBody>
      </p:sp>
      <p:sp>
        <p:nvSpPr>
          <p:cNvPr id="11" name="p16-j2-r1-0">
            <a:extLst xmlns:a="http://schemas.openxmlformats.org/drawingml/2006/main">
              <a:ext uri="{FF2B5EF4-FFF2-40B4-BE49-F238E27FC236}">
                <a16:creationId xmlns:a16="http://schemas.microsoft.com/office/drawing/2014/main" id="{521C7730-53B6-4CE5-8661-7689E0B95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适用边界</a:t>
            </a:r>
          </a:p>
        </p:txBody>
      </p:sp>
      <p:sp>
        <p:nvSpPr>
          <p:cNvPr id="12" name="p16-j2-r1-1">
            <a:extLst xmlns:a="http://schemas.openxmlformats.org/drawingml/2006/main">
              <a:ext uri="{FF2B5EF4-FFF2-40B4-BE49-F238E27FC236}">
                <a16:creationId xmlns:a16="http://schemas.microsoft.com/office/drawing/2014/main" id="{AD09C8EB-812E-4AAD-850F-46B84848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62890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只支持字段约束 vs 无约束</a:t>
            </a:r>
          </a:p>
        </p:txBody>
      </p:sp>
      <p:sp>
        <p:nvSpPr>
          <p:cNvPr id="13" name="p16-j2-r2-0">
            <a:extLst xmlns:a="http://schemas.openxmlformats.org/drawingml/2006/main">
              <a:ext uri="{FF2B5EF4-FFF2-40B4-BE49-F238E27FC236}">
                <a16:creationId xmlns:a16="http://schemas.microsoft.com/office/drawing/2014/main" id="{C8D68AEE-3162-43DD-8DCA-6538E250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813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14" name="p16-j2-r2-1">
            <a:extLst xmlns:a="http://schemas.openxmlformats.org/drawingml/2006/main">
              <a:ext uri="{FF2B5EF4-FFF2-40B4-BE49-F238E27FC236}">
                <a16:creationId xmlns:a16="http://schemas.microsoft.com/office/drawing/2014/main" id="{33F0EE1A-158D-43E0-BC09-00CA64DF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8135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8 课反馈 + 主张必须定位原文</a:t>
            </a:r>
          </a:p>
        </p:txBody>
      </p:sp>
      <p:sp>
        <p:nvSpPr>
          <p:cNvPr id="15" name="p16-j2-r3-0">
            <a:extLst xmlns:a="http://schemas.openxmlformats.org/drawingml/2006/main">
              <a:ext uri="{FF2B5EF4-FFF2-40B4-BE49-F238E27FC236}">
                <a16:creationId xmlns:a16="http://schemas.microsoft.com/office/drawing/2014/main" id="{781A93E0-A9A4-4384-8EB7-989A53D2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338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16" name="p16-j2-r3-1">
            <a:extLst xmlns:a="http://schemas.openxmlformats.org/drawingml/2006/main">
              <a:ext uri="{FF2B5EF4-FFF2-40B4-BE49-F238E27FC236}">
                <a16:creationId xmlns:a16="http://schemas.microsoft.com/office/drawing/2014/main" id="{633931C2-B025-4D30-AD7C-32914F99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73380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强 baseline 留作后续工作</a:t>
            </a:r>
          </a:p>
        </p:txBody>
      </p:sp>
      <p:sp>
        <p:nvSpPr>
          <p:cNvPr id="17" name="p16-j2-r4-0">
            <a:extLst xmlns:a="http://schemas.openxmlformats.org/drawingml/2006/main">
              <a:ext uri="{FF2B5EF4-FFF2-40B4-BE49-F238E27FC236}">
                <a16:creationId xmlns:a16="http://schemas.microsoft.com/office/drawing/2014/main" id="{D8831D74-2286-413B-A018-068E3EDD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862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影响工件</a:t>
            </a:r>
          </a:p>
        </p:txBody>
      </p:sp>
      <p:sp>
        <p:nvSpPr>
          <p:cNvPr id="18" name="p16-j2-r4-1">
            <a:extLst xmlns:a="http://schemas.openxmlformats.org/drawingml/2006/main">
              <a:ext uri="{FF2B5EF4-FFF2-40B4-BE49-F238E27FC236}">
                <a16:creationId xmlns:a16="http://schemas.microsoft.com/office/drawing/2014/main" id="{996FC999-43A1-47EF-B9F2-6F32B40E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286250"/>
            <a:ext cx="4572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实验规格：对照 + 失败预案</a:t>
            </a:r>
          </a:p>
        </p:txBody>
      </p:sp>
      <p:sp>
        <p:nvSpPr>
          <p:cNvPr id="19" name="p16-peer-title">
            <a:extLst xmlns:a="http://schemas.openxmlformats.org/drawingml/2006/main">
              <a:ext uri="{FF2B5EF4-FFF2-40B4-BE49-F238E27FC236}">
                <a16:creationId xmlns:a16="http://schemas.microsoft.com/office/drawing/2014/main" id="{F9448C7E-2E6E-412B-A969-4E50FC08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009650"/>
            <a:ext cx="3810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虚构教学反馈处理</a:t>
            </a:r>
          </a:p>
        </p:txBody>
      </p:sp>
      <p:sp>
        <p:nvSpPr>
          <p:cNvPr id="20" name="p16-f-0">
            <a:extLst xmlns:a="http://schemas.openxmlformats.org/drawingml/2006/main">
              <a:ext uri="{FF2B5EF4-FFF2-40B4-BE49-F238E27FC236}">
                <a16:creationId xmlns:a16="http://schemas.microsoft.com/office/drawing/2014/main" id="{DE8BA4E0-21F0-45C7-93CC-EE344058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73355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增加强 baseline</a:t>
            </a:r>
          </a:p>
        </p:txBody>
      </p:sp>
      <p:sp>
        <p:nvSpPr>
          <p:cNvPr id="21" name="p16-s-0">
            <a:extLst xmlns:a="http://schemas.openxmlformats.org/drawingml/2006/main">
              <a:ext uri="{FF2B5EF4-FFF2-40B4-BE49-F238E27FC236}">
                <a16:creationId xmlns:a16="http://schemas.microsoft.com/office/drawing/2014/main" id="{8EC213E1-24E0-4613-81A0-B8F1D815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335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拒绝｜超出周期</a:t>
            </a:r>
          </a:p>
        </p:txBody>
      </p:sp>
      <p:sp>
        <p:nvSpPr>
          <p:cNvPr id="22" name="p16-f-1">
            <a:extLst xmlns:a="http://schemas.openxmlformats.org/drawingml/2006/main">
              <a:ext uri="{FF2B5EF4-FFF2-40B4-BE49-F238E27FC236}">
                <a16:creationId xmlns:a16="http://schemas.microsoft.com/office/drawing/2014/main" id="{795CE846-38BD-4FB9-B47D-92E29FE4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6700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报告方差</a:t>
            </a:r>
          </a:p>
        </p:txBody>
      </p:sp>
      <p:sp>
        <p:nvSpPr>
          <p:cNvPr id="23" name="p16-s-1">
            <a:extLst xmlns:a="http://schemas.openxmlformats.org/drawingml/2006/main">
              <a:ext uri="{FF2B5EF4-FFF2-40B4-BE49-F238E27FC236}">
                <a16:creationId xmlns:a16="http://schemas.microsoft.com/office/drawing/2014/main" id="{2719FA26-2C13-46C5-9423-7B39F9101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6700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8745A"/>
                </a:solidFill>
              </a:defRPr>
            </a:pPr>
            <a:r>
              <a:rPr sz="13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采纳｜事先写重复计划</a:t>
            </a:r>
          </a:p>
        </p:txBody>
      </p:sp>
      <p:sp>
        <p:nvSpPr>
          <p:cNvPr id="24" name="p16-f-2">
            <a:extLst xmlns:a="http://schemas.openxmlformats.org/drawingml/2006/main">
              <a:ext uri="{FF2B5EF4-FFF2-40B4-BE49-F238E27FC236}">
                <a16:creationId xmlns:a16="http://schemas.microsoft.com/office/drawing/2014/main" id="{54A97CA3-E3CA-4542-9DAF-18C0CB7B6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600450"/>
            <a:ext cx="1962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样本量过小</a:t>
            </a:r>
          </a:p>
        </p:txBody>
      </p:sp>
      <p:sp>
        <p:nvSpPr>
          <p:cNvPr id="25" name="p16-s-2">
            <a:extLst xmlns:a="http://schemas.openxmlformats.org/drawingml/2006/main">
              <a:ext uri="{FF2B5EF4-FFF2-40B4-BE49-F238E27FC236}">
                <a16:creationId xmlns:a16="http://schemas.microsoft.com/office/drawing/2014/main" id="{F97F156B-8F47-4AA2-84EF-D16B9F16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6004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A86C12"/>
                </a:solidFill>
              </a:defRPr>
            </a:pPr>
            <a:r>
              <a:rPr sz="13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暂缓｜小样本初步证据</a:t>
            </a:r>
          </a:p>
        </p:txBody>
      </p:sp>
      <p:sp>
        <p:nvSpPr>
          <p:cNvPr id="26" name="p16-bottom">
            <a:extLst xmlns:a="http://schemas.openxmlformats.org/drawingml/2006/main">
              <a:ext uri="{FF2B5EF4-FFF2-40B4-BE49-F238E27FC236}">
                <a16:creationId xmlns:a16="http://schemas.microsoft.com/office/drawing/2014/main" id="{3FBEA16E-C8AF-436A-8F21-2B2EEA6B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29200"/>
            <a:ext cx="8686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拒绝反馈也必须写依据；作者保留决定权，但决定必须可追溯。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个人实践：启动判断门材料的最小闭环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time">
            <a:extLst xmlns:a="http://schemas.openxmlformats.org/drawingml/2006/main">
              <a:ext uri="{FF2B5EF4-FFF2-40B4-BE49-F238E27FC236}">
                <a16:creationId xmlns:a16="http://schemas.microsoft.com/office/drawing/2014/main" id="{A969966B-BBCA-428D-A66A-325A7812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857250"/>
            <a:ext cx="3524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40:00–60:00｜持续个人补全</a:t>
            </a:r>
          </a:p>
        </p:txBody>
      </p:sp>
      <p:sp>
        <p:nvSpPr>
          <p:cNvPr id="7" name="p17-n-0">
            <a:extLst xmlns:a="http://schemas.openxmlformats.org/drawingml/2006/main">
              <a:ext uri="{FF2B5EF4-FFF2-40B4-BE49-F238E27FC236}">
                <a16:creationId xmlns:a16="http://schemas.microsoft.com/office/drawing/2014/main" id="{C092E0E9-0EE4-46BB-AAFC-D3D4B626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7-t-0">
            <a:extLst xmlns:a="http://schemas.openxmlformats.org/drawingml/2006/main">
              <a:ext uri="{FF2B5EF4-FFF2-40B4-BE49-F238E27FC236}">
                <a16:creationId xmlns:a16="http://schemas.microsoft.com/office/drawing/2014/main" id="{91116682-615F-4152-BED1-6652F23A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21920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选公平 baseline</a:t>
            </a:r>
          </a:p>
        </p:txBody>
      </p:sp>
      <p:sp>
        <p:nvSpPr>
          <p:cNvPr id="9" name="p17-n-1">
            <a:extLst xmlns:a="http://schemas.openxmlformats.org/drawingml/2006/main">
              <a:ext uri="{FF2B5EF4-FFF2-40B4-BE49-F238E27FC236}">
                <a16:creationId xmlns:a16="http://schemas.microsoft.com/office/drawing/2014/main" id="{6475DBFD-A535-49D6-B807-918815CA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2573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7-t-1">
            <a:extLst xmlns:a="http://schemas.openxmlformats.org/drawingml/2006/main">
              <a:ext uri="{FF2B5EF4-FFF2-40B4-BE49-F238E27FC236}">
                <a16:creationId xmlns:a16="http://schemas.microsoft.com/office/drawing/2014/main" id="{95A42451-47CE-4A40-8B73-3FB0A7F2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21920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补七字段规格</a:t>
            </a:r>
          </a:p>
        </p:txBody>
      </p:sp>
      <p:sp>
        <p:nvSpPr>
          <p:cNvPr id="11" name="p17-n-2">
            <a:extLst xmlns:a="http://schemas.openxmlformats.org/drawingml/2006/main">
              <a:ext uri="{FF2B5EF4-FFF2-40B4-BE49-F238E27FC236}">
                <a16:creationId xmlns:a16="http://schemas.microsoft.com/office/drawing/2014/main" id="{DCAAFDD0-74CA-42CA-95F1-CF1B8E4B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2573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7-t-2">
            <a:extLst xmlns:a="http://schemas.openxmlformats.org/drawingml/2006/main">
              <a:ext uri="{FF2B5EF4-FFF2-40B4-BE49-F238E27FC236}">
                <a16:creationId xmlns:a16="http://schemas.microsoft.com/office/drawing/2014/main" id="{36695B6E-1023-4B78-8F88-42687410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21920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写六类复现说明</a:t>
            </a:r>
          </a:p>
        </p:txBody>
      </p:sp>
      <p:sp>
        <p:nvSpPr>
          <p:cNvPr id="13" name="p17-n-3">
            <a:extLst xmlns:a="http://schemas.openxmlformats.org/drawingml/2006/main">
              <a:ext uri="{FF2B5EF4-FFF2-40B4-BE49-F238E27FC236}">
                <a16:creationId xmlns:a16="http://schemas.microsoft.com/office/drawing/2014/main" id="{4E7AE44D-F1D9-4442-8FAF-2D2D7CBE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479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7-t-3">
            <a:extLst xmlns:a="http://schemas.openxmlformats.org/drawingml/2006/main">
              <a:ext uri="{FF2B5EF4-FFF2-40B4-BE49-F238E27FC236}">
                <a16:creationId xmlns:a16="http://schemas.microsoft.com/office/drawing/2014/main" id="{41BB0D5C-32C6-48D6-936C-FA02DB67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0980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重复计划匹配主张</a:t>
            </a:r>
          </a:p>
        </p:txBody>
      </p:sp>
      <p:sp>
        <p:nvSpPr>
          <p:cNvPr id="15" name="p17-n-4">
            <a:extLst xmlns:a="http://schemas.openxmlformats.org/drawingml/2006/main">
              <a:ext uri="{FF2B5EF4-FFF2-40B4-BE49-F238E27FC236}">
                <a16:creationId xmlns:a16="http://schemas.microsoft.com/office/drawing/2014/main" id="{06ACCD14-E04A-46F7-A14B-C8C2C2B8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479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7-t-4">
            <a:extLst xmlns:a="http://schemas.openxmlformats.org/drawingml/2006/main">
              <a:ext uri="{FF2B5EF4-FFF2-40B4-BE49-F238E27FC236}">
                <a16:creationId xmlns:a16="http://schemas.microsoft.com/office/drawing/2014/main" id="{5535FDAE-CB18-4840-B8D9-0AD8EFC9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0980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J2 六字段</a:t>
            </a:r>
          </a:p>
        </p:txBody>
      </p:sp>
      <p:sp>
        <p:nvSpPr>
          <p:cNvPr id="17" name="p17-n-5">
            <a:extLst xmlns:a="http://schemas.openxmlformats.org/drawingml/2006/main">
              <a:ext uri="{FF2B5EF4-FFF2-40B4-BE49-F238E27FC236}">
                <a16:creationId xmlns:a16="http://schemas.microsoft.com/office/drawing/2014/main" id="{A261B8CA-9102-41AF-A663-A8AFF674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479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p17-t-5">
            <a:extLst xmlns:a="http://schemas.openxmlformats.org/drawingml/2006/main">
              <a:ext uri="{FF2B5EF4-FFF2-40B4-BE49-F238E27FC236}">
                <a16:creationId xmlns:a16="http://schemas.microsoft.com/office/drawing/2014/main" id="{D43C8B72-2259-4473-A901-776D5FB1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0980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逐条处理同伴反馈</a:t>
            </a:r>
          </a:p>
        </p:txBody>
      </p:sp>
      <p:sp>
        <p:nvSpPr>
          <p:cNvPr id="19" name="p17-n-6">
            <a:extLst xmlns:a="http://schemas.openxmlformats.org/drawingml/2006/main">
              <a:ext uri="{FF2B5EF4-FFF2-40B4-BE49-F238E27FC236}">
                <a16:creationId xmlns:a16="http://schemas.microsoft.com/office/drawing/2014/main" id="{42F39F1B-D154-4170-BDE1-C88BE0D9C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0" name="p17-t-6">
            <a:extLst xmlns:a="http://schemas.openxmlformats.org/drawingml/2006/main">
              <a:ext uri="{FF2B5EF4-FFF2-40B4-BE49-F238E27FC236}">
                <a16:creationId xmlns:a16="http://schemas.microsoft.com/office/drawing/2014/main" id="{48B7A217-8ACB-457A-B870-959106DF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0040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记录已遇失败 / 放弃备选</a:t>
            </a:r>
          </a:p>
        </p:txBody>
      </p:sp>
      <p:sp>
        <p:nvSpPr>
          <p:cNvPr id="21" name="p17-n-7">
            <a:extLst xmlns:a="http://schemas.openxmlformats.org/drawingml/2006/main">
              <a:ext uri="{FF2B5EF4-FFF2-40B4-BE49-F238E27FC236}">
                <a16:creationId xmlns:a16="http://schemas.microsoft.com/office/drawing/2014/main" id="{8E981B9F-5E2B-4A1E-B2D1-D335FFA7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385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2" name="p17-t-7">
            <a:extLst xmlns:a="http://schemas.openxmlformats.org/drawingml/2006/main">
              <a:ext uri="{FF2B5EF4-FFF2-40B4-BE49-F238E27FC236}">
                <a16:creationId xmlns:a16="http://schemas.microsoft.com/office/drawing/2014/main" id="{DA55403A-DF89-4B4D-B8C8-069F01D8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0040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启动模板迁移</a:t>
            </a:r>
          </a:p>
        </p:txBody>
      </p:sp>
      <p:sp>
        <p:nvSpPr>
          <p:cNvPr id="23" name="p17-n-8">
            <a:extLst xmlns:a="http://schemas.openxmlformats.org/drawingml/2006/main">
              <a:ext uri="{FF2B5EF4-FFF2-40B4-BE49-F238E27FC236}">
                <a16:creationId xmlns:a16="http://schemas.microsoft.com/office/drawing/2014/main" id="{C201D8DA-D3D0-4723-B7D8-4DFCE4A0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3850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4" name="p17-t-8">
            <a:extLst xmlns:a="http://schemas.openxmlformats.org/drawingml/2006/main">
              <a:ext uri="{FF2B5EF4-FFF2-40B4-BE49-F238E27FC236}">
                <a16:creationId xmlns:a16="http://schemas.microsoft.com/office/drawing/2014/main" id="{F1021BFB-0BDB-47F5-A101-C6A2492D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0040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对照九项标状态</a:t>
            </a:r>
          </a:p>
        </p:txBody>
      </p:sp>
      <p:sp>
        <p:nvSpPr>
          <p:cNvPr id="25" name="p17-path">
            <a:extLst xmlns:a="http://schemas.openxmlformats.org/drawingml/2006/main">
              <a:ext uri="{FF2B5EF4-FFF2-40B4-BE49-F238E27FC236}">
                <a16:creationId xmlns:a16="http://schemas.microsoft.com/office/drawing/2014/main" id="{FE5C6DA2-ECC3-4FF9-A915-B0371AA1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19600"/>
            <a:ext cx="47434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优先顺序：本人真实项目 → 贯穿案例</a:t>
            </a:r>
          </a:p>
        </p:txBody>
      </p:sp>
      <p:sp>
        <p:nvSpPr>
          <p:cNvPr id="26" name="p17-files">
            <a:extLst xmlns:a="http://schemas.openxmlformats.org/drawingml/2006/main">
              <a:ext uri="{FF2B5EF4-FFF2-40B4-BE49-F238E27FC236}">
                <a16:creationId xmlns:a16="http://schemas.microsoft.com/office/drawing/2014/main" id="{1A9CC5E7-CD4B-4C99-9285-7FEA9559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343400"/>
            <a:ext cx="56769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写入：experiment-spec.md｜hypothesis-and-judgment.md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peer-review.md｜failure-log.md</a:t>
            </a:r>
          </a:p>
        </p:txBody>
      </p:sp>
      <p:sp>
        <p:nvSpPr>
          <p:cNvPr id="27" name="p17-fallback">
            <a:extLst xmlns:a="http://schemas.openxmlformats.org/drawingml/2006/main">
              <a:ext uri="{FF2B5EF4-FFF2-40B4-BE49-F238E27FC236}">
                <a16:creationId xmlns:a16="http://schemas.microsoft.com/office/drawing/2014/main" id="{DC7B5938-87EC-420F-9092-7B1D53F13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314950"/>
            <a:ext cx="8839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无真实草图：沿用贯穿案例；无网络：在 Markdown 或纸面完成同一工件。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迁移验收要同时看工件状态与文件结构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time">
            <a:extLst xmlns:a="http://schemas.openxmlformats.org/drawingml/2006/main">
              <a:ext uri="{FF2B5EF4-FFF2-40B4-BE49-F238E27FC236}">
                <a16:creationId xmlns:a16="http://schemas.microsoft.com/office/drawing/2014/main" id="{512A231B-AF19-41DD-B274-B45BEF4E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857250"/>
            <a:ext cx="310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43:00–60:00｜实践停留页</a:t>
            </a:r>
          </a:p>
        </p:txBody>
      </p:sp>
      <p:sp>
        <p:nvSpPr>
          <p:cNvPr id="7" name="p18-check-title">
            <a:extLst xmlns:a="http://schemas.openxmlformats.org/drawingml/2006/main">
              <a:ext uri="{FF2B5EF4-FFF2-40B4-BE49-F238E27FC236}">
                <a16:creationId xmlns:a16="http://schemas.microsoft.com/office/drawing/2014/main" id="{F082680A-8862-4726-A775-906F1A820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028700"/>
            <a:ext cx="487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迁移验收</a:t>
            </a:r>
          </a:p>
        </p:txBody>
      </p:sp>
      <p:sp>
        <p:nvSpPr>
          <p:cNvPr id="8" name="p18-c-0">
            <a:extLst xmlns:a="http://schemas.openxmlformats.org/drawingml/2006/main">
              <a:ext uri="{FF2B5EF4-FFF2-40B4-BE49-F238E27FC236}">
                <a16:creationId xmlns:a16="http://schemas.microsoft.com/office/drawing/2014/main" id="{EDC35436-4D0E-4648-9F8B-6A3F6EF1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9" name="p18-t-0">
            <a:extLst xmlns:a="http://schemas.openxmlformats.org/drawingml/2006/main">
              <a:ext uri="{FF2B5EF4-FFF2-40B4-BE49-F238E27FC236}">
                <a16:creationId xmlns:a16="http://schemas.microsoft.com/office/drawing/2014/main" id="{142159DC-C53A-4885-861B-9AE2082C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002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approved / stable 字段都有对应位置</a:t>
            </a:r>
          </a:p>
        </p:txBody>
      </p:sp>
      <p:sp>
        <p:nvSpPr>
          <p:cNvPr id="10" name="p18-c-1">
            <a:extLst xmlns:a="http://schemas.openxmlformats.org/drawingml/2006/main">
              <a:ext uri="{FF2B5EF4-FFF2-40B4-BE49-F238E27FC236}">
                <a16:creationId xmlns:a16="http://schemas.microsoft.com/office/drawing/2014/main" id="{9A06D4B2-32F2-4152-8783-2F721FDF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1" name="p18-t-1">
            <a:extLst xmlns:a="http://schemas.openxmlformats.org/drawingml/2006/main">
              <a:ext uri="{FF2B5EF4-FFF2-40B4-BE49-F238E27FC236}">
                <a16:creationId xmlns:a16="http://schemas.microsoft.com/office/drawing/2014/main" id="{E6AD41BA-8980-4C40-A19C-6CD7A322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AI 使用记录条目不减少</a:t>
            </a:r>
          </a:p>
        </p:txBody>
      </p:sp>
      <p:sp>
        <p:nvSpPr>
          <p:cNvPr id="12" name="p18-c-2">
            <a:extLst xmlns:a="http://schemas.openxmlformats.org/drawingml/2006/main">
              <a:ext uri="{FF2B5EF4-FFF2-40B4-BE49-F238E27FC236}">
                <a16:creationId xmlns:a16="http://schemas.microsoft.com/office/drawing/2014/main" id="{B25764B9-D8D9-4047-9C3B-C185F4B80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3" name="p18-t-2">
            <a:extLst xmlns:a="http://schemas.openxmlformats.org/drawingml/2006/main">
              <a:ext uri="{FF2B5EF4-FFF2-40B4-BE49-F238E27FC236}">
                <a16:creationId xmlns:a16="http://schemas.microsoft.com/office/drawing/2014/main" id="{7DB59B72-E81B-42FC-B5DD-858E118C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718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伦理说明含数据使用限制</a:t>
            </a:r>
          </a:p>
        </p:txBody>
      </p:sp>
      <p:sp>
        <p:nvSpPr>
          <p:cNvPr id="14" name="p18-c-3">
            <a:extLst xmlns:a="http://schemas.openxmlformats.org/drawingml/2006/main">
              <a:ext uri="{FF2B5EF4-FFF2-40B4-BE49-F238E27FC236}">
                <a16:creationId xmlns:a16="http://schemas.microsoft.com/office/drawing/2014/main" id="{9D300384-EB26-48BB-9635-E20B1B20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5" name="p18-t-3">
            <a:extLst xmlns:a="http://schemas.openxmlformats.org/drawingml/2006/main">
              <a:ext uri="{FF2B5EF4-FFF2-40B4-BE49-F238E27FC236}">
                <a16:creationId xmlns:a16="http://schemas.microsoft.com/office/drawing/2014/main" id="{1C330E01-C461-4857-80CA-60C6ED3B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576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判断门工件到 review / approved</a:t>
            </a:r>
          </a:p>
        </p:txBody>
      </p:sp>
      <p:sp>
        <p:nvSpPr>
          <p:cNvPr id="16" name="p18-c-4">
            <a:extLst xmlns:a="http://schemas.openxmlformats.org/drawingml/2006/main">
              <a:ext uri="{FF2B5EF4-FFF2-40B4-BE49-F238E27FC236}">
                <a16:creationId xmlns:a16="http://schemas.microsoft.com/office/drawing/2014/main" id="{194FE123-2BAB-4A9C-919C-500DF8BD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43400"/>
            <a:ext cx="4381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7" name="p18-t-4">
            <a:extLst xmlns:a="http://schemas.openxmlformats.org/drawingml/2006/main">
              <a:ext uri="{FF2B5EF4-FFF2-40B4-BE49-F238E27FC236}">
                <a16:creationId xmlns:a16="http://schemas.microsoft.com/office/drawing/2014/main" id="{608AA3D8-442F-4B2E-BD15-284F56AA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43400"/>
            <a:ext cx="4324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失败事实与实验记录可追溯</a:t>
            </a:r>
          </a:p>
        </p:txBody>
      </p:sp>
      <p:sp>
        <p:nvSpPr>
          <p:cNvPr id="18" name="p18-tree-title">
            <a:extLst xmlns:a="http://schemas.openxmlformats.org/drawingml/2006/main">
              <a:ext uri="{FF2B5EF4-FFF2-40B4-BE49-F238E27FC236}">
                <a16:creationId xmlns:a16="http://schemas.microsoft.com/office/drawing/2014/main" id="{C478686F-AB35-41BB-9A0D-DD9D9B1E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028700"/>
            <a:ext cx="441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判断门材料骨架</a:t>
            </a:r>
          </a:p>
        </p:txBody>
      </p:sp>
      <p:sp>
        <p:nvSpPr>
          <p:cNvPr id="19" name="p18-tree">
            <a:extLst xmlns:a="http://schemas.openxmlformats.org/drawingml/2006/main">
              <a:ext uri="{FF2B5EF4-FFF2-40B4-BE49-F238E27FC236}">
                <a16:creationId xmlns:a16="http://schemas.microsoft.com/office/drawing/2014/main" id="{C7F3B825-5E7B-41F1-96DA-8D055E42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19250"/>
            <a:ext cx="4629150" cy="308610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76200" rIns="114300" bIns="76200" anchor="ctr"/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project/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README.md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problem-definition.md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proposal.md / evidence-map.md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hypothesis-and-judgment.md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experiment-spec.md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ai-usage-log.md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ethics-and-compliance.md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artifact-tracking.md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peer-review.md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failure-log.md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└─ src/  experiments/  notes/</a:t>
            </a:r>
          </a:p>
        </p:txBody>
      </p:sp>
      <p:sp>
        <p:nvSpPr>
          <p:cNvPr id="20" name="p18-bottom">
            <a:extLst xmlns:a="http://schemas.openxmlformats.org/drawingml/2006/main">
              <a:ext uri="{FF2B5EF4-FFF2-40B4-BE49-F238E27FC236}">
                <a16:creationId xmlns:a16="http://schemas.microsoft.com/office/drawing/2014/main" id="{AE225FDF-2700-4211-8E4F-DF97B6CC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086350"/>
            <a:ext cx="8115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AI 使用记录最小字段：工具/模型｜用途｜Context｜输出用途｜人工核验｜问题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同伴只按门条件提问题，作者保留决定权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time">
            <a:extLst xmlns:a="http://schemas.openxmlformats.org/drawingml/2006/main">
              <a:ext uri="{FF2B5EF4-FFF2-40B4-BE49-F238E27FC236}">
                <a16:creationId xmlns:a16="http://schemas.microsoft.com/office/drawing/2014/main" id="{51A297C1-730D-4BD8-95CF-60BD6A96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857250"/>
            <a:ext cx="3105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60:00–78:00｜2–3 人互查</a:t>
            </a:r>
          </a:p>
        </p:txBody>
      </p:sp>
      <p:sp>
        <p:nvSpPr>
          <p:cNvPr id="7" name="p19-n-0">
            <a:extLst xmlns:a="http://schemas.openxmlformats.org/drawingml/2006/main">
              <a:ext uri="{FF2B5EF4-FFF2-40B4-BE49-F238E27FC236}">
                <a16:creationId xmlns:a16="http://schemas.microsoft.com/office/drawing/2014/main" id="{21D1CEE2-A412-4613-A2D5-57583AEB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19-q-0">
            <a:extLst xmlns:a="http://schemas.openxmlformats.org/drawingml/2006/main">
              <a:ext uri="{FF2B5EF4-FFF2-40B4-BE49-F238E27FC236}">
                <a16:creationId xmlns:a16="http://schemas.microsoft.com/office/drawing/2014/main" id="{D6890311-1C76-42D3-B2AC-67B517FB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20015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公平？</a:t>
            </a:r>
          </a:p>
        </p:txBody>
      </p:sp>
      <p:sp>
        <p:nvSpPr>
          <p:cNvPr id="9" name="p19-n-1">
            <a:extLst xmlns:a="http://schemas.openxmlformats.org/drawingml/2006/main">
              <a:ext uri="{FF2B5EF4-FFF2-40B4-BE49-F238E27FC236}">
                <a16:creationId xmlns:a16="http://schemas.microsoft.com/office/drawing/2014/main" id="{AF732A4F-BC36-4C35-B62D-B07882069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2382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9-q-1">
            <a:extLst xmlns:a="http://schemas.openxmlformats.org/drawingml/2006/main">
              <a:ext uri="{FF2B5EF4-FFF2-40B4-BE49-F238E27FC236}">
                <a16:creationId xmlns:a16="http://schemas.microsoft.com/office/drawing/2014/main" id="{FEDEF650-657E-4FA5-95C7-20F2053EB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20015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复现条件可追溯？</a:t>
            </a:r>
          </a:p>
        </p:txBody>
      </p:sp>
      <p:sp>
        <p:nvSpPr>
          <p:cNvPr id="11" name="p19-n-2">
            <a:extLst xmlns:a="http://schemas.openxmlformats.org/drawingml/2006/main">
              <a:ext uri="{FF2B5EF4-FFF2-40B4-BE49-F238E27FC236}">
                <a16:creationId xmlns:a16="http://schemas.microsoft.com/office/drawing/2014/main" id="{76963BAF-5627-4A31-96BE-A25B9F39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2382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19-q-2">
            <a:extLst xmlns:a="http://schemas.openxmlformats.org/drawingml/2006/main">
              <a:ext uri="{FF2B5EF4-FFF2-40B4-BE49-F238E27FC236}">
                <a16:creationId xmlns:a16="http://schemas.microsoft.com/office/drawing/2014/main" id="{D4C79ACB-8D2B-4F65-B511-DD523965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20015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重复计划支持主张？</a:t>
            </a:r>
          </a:p>
        </p:txBody>
      </p:sp>
      <p:sp>
        <p:nvSpPr>
          <p:cNvPr id="13" name="p19-n-3">
            <a:extLst xmlns:a="http://schemas.openxmlformats.org/drawingml/2006/main">
              <a:ext uri="{FF2B5EF4-FFF2-40B4-BE49-F238E27FC236}">
                <a16:creationId xmlns:a16="http://schemas.microsoft.com/office/drawing/2014/main" id="{72E069C0-7F4A-4488-A88A-2E0806C4E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28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p19-q-3">
            <a:extLst xmlns:a="http://schemas.openxmlformats.org/drawingml/2006/main">
              <a:ext uri="{FF2B5EF4-FFF2-40B4-BE49-F238E27FC236}">
                <a16:creationId xmlns:a16="http://schemas.microsoft.com/office/drawing/2014/main" id="{B3480517-4416-4568-A504-6C5B0DE6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9075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停止条件预先写？</a:t>
            </a:r>
          </a:p>
        </p:txBody>
      </p:sp>
      <p:sp>
        <p:nvSpPr>
          <p:cNvPr id="15" name="p19-n-4">
            <a:extLst xmlns:a="http://schemas.openxmlformats.org/drawingml/2006/main">
              <a:ext uri="{FF2B5EF4-FFF2-40B4-BE49-F238E27FC236}">
                <a16:creationId xmlns:a16="http://schemas.microsoft.com/office/drawing/2014/main" id="{7251E959-DC80-42C2-B4B6-5C7C894A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28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6" name="p19-q-4">
            <a:extLst xmlns:a="http://schemas.openxmlformats.org/drawingml/2006/main">
              <a:ext uri="{FF2B5EF4-FFF2-40B4-BE49-F238E27FC236}">
                <a16:creationId xmlns:a16="http://schemas.microsoft.com/office/drawing/2014/main" id="{932BCC9A-D1FB-4643-8D8C-A6B5EE9C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9075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J2 有适用边界？</a:t>
            </a:r>
          </a:p>
        </p:txBody>
      </p:sp>
      <p:sp>
        <p:nvSpPr>
          <p:cNvPr id="17" name="p19-n-5">
            <a:extLst xmlns:a="http://schemas.openxmlformats.org/drawingml/2006/main">
              <a:ext uri="{FF2B5EF4-FFF2-40B4-BE49-F238E27FC236}">
                <a16:creationId xmlns:a16="http://schemas.microsoft.com/office/drawing/2014/main" id="{1A6AEB92-CC32-4BD8-8C33-C5E9D765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288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8" name="p19-q-5">
            <a:extLst xmlns:a="http://schemas.openxmlformats.org/drawingml/2006/main">
              <a:ext uri="{FF2B5EF4-FFF2-40B4-BE49-F238E27FC236}">
                <a16:creationId xmlns:a16="http://schemas.microsoft.com/office/drawing/2014/main" id="{C483658F-42A6-4C1F-8D96-A123F0B3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拒绝反馈有依据？</a:t>
            </a:r>
          </a:p>
        </p:txBody>
      </p:sp>
      <p:sp>
        <p:nvSpPr>
          <p:cNvPr id="19" name="p19-n-6">
            <a:extLst xmlns:a="http://schemas.openxmlformats.org/drawingml/2006/main">
              <a:ext uri="{FF2B5EF4-FFF2-40B4-BE49-F238E27FC236}">
                <a16:creationId xmlns:a16="http://schemas.microsoft.com/office/drawing/2014/main" id="{EB6478B7-2E59-4765-913A-844D7293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194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0" name="p19-q-6">
            <a:extLst xmlns:a="http://schemas.openxmlformats.org/drawingml/2006/main">
              <a:ext uri="{FF2B5EF4-FFF2-40B4-BE49-F238E27FC236}">
                <a16:creationId xmlns:a16="http://schemas.microsoft.com/office/drawing/2014/main" id="{2539AB83-DF00-4B46-8E39-39F3DE5E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8135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最大风险有预案？</a:t>
            </a:r>
          </a:p>
        </p:txBody>
      </p:sp>
      <p:sp>
        <p:nvSpPr>
          <p:cNvPr id="21" name="p19-n-7">
            <a:extLst xmlns:a="http://schemas.openxmlformats.org/drawingml/2006/main">
              <a:ext uri="{FF2B5EF4-FFF2-40B4-BE49-F238E27FC236}">
                <a16:creationId xmlns:a16="http://schemas.microsoft.com/office/drawing/2014/main" id="{E91F4D82-6F69-40BB-BACA-196EB306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194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2" name="p19-q-7">
            <a:extLst xmlns:a="http://schemas.openxmlformats.org/drawingml/2006/main">
              <a:ext uri="{FF2B5EF4-FFF2-40B4-BE49-F238E27FC236}">
                <a16:creationId xmlns:a16="http://schemas.microsoft.com/office/drawing/2014/main" id="{79C39E3E-BF79-4356-B5F1-F821818AD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8135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已有失败事实记录？</a:t>
            </a:r>
          </a:p>
        </p:txBody>
      </p:sp>
      <p:sp>
        <p:nvSpPr>
          <p:cNvPr id="23" name="p19-n-8">
            <a:extLst xmlns:a="http://schemas.openxmlformats.org/drawingml/2006/main">
              <a:ext uri="{FF2B5EF4-FFF2-40B4-BE49-F238E27FC236}">
                <a16:creationId xmlns:a16="http://schemas.microsoft.com/office/drawing/2014/main" id="{F3CEA42C-5913-4E8F-9E25-9BE37899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194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4" name="p19-q-8">
            <a:extLst xmlns:a="http://schemas.openxmlformats.org/drawingml/2006/main">
              <a:ext uri="{FF2B5EF4-FFF2-40B4-BE49-F238E27FC236}">
                <a16:creationId xmlns:a16="http://schemas.microsoft.com/office/drawing/2014/main" id="{81BB49BA-8176-4CF0-B1EE-517F4A261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181350"/>
            <a:ext cx="32385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迁移未丢 AI / 伦理？</a:t>
            </a:r>
          </a:p>
        </p:txBody>
      </p:sp>
      <p:sp>
        <p:nvSpPr>
          <p:cNvPr id="25" name="p19-author">
            <a:extLst xmlns:a="http://schemas.openxmlformats.org/drawingml/2006/main">
              <a:ext uri="{FF2B5EF4-FFF2-40B4-BE49-F238E27FC236}">
                <a16:creationId xmlns:a16="http://schemas.microsoft.com/office/drawing/2014/main" id="{31E4FFDD-402D-4D21-A3B2-8F3A71D9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38650"/>
            <a:ext cx="5086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作者记录：采纳｜暂不采纳｜待核验</a:t>
            </a:r>
          </a:p>
        </p:txBody>
      </p:sp>
      <p:sp>
        <p:nvSpPr>
          <p:cNvPr id="26" name="p19-rule">
            <a:extLst xmlns:a="http://schemas.openxmlformats.org/drawingml/2006/main">
              <a:ext uri="{FF2B5EF4-FFF2-40B4-BE49-F238E27FC236}">
                <a16:creationId xmlns:a16="http://schemas.microsoft.com/office/drawing/2014/main" id="{AA7923D9-9F94-4E0D-AC6C-1767A8F22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438650"/>
            <a:ext cx="48196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同伴只提问题；不替作者修改，不形成共同提交。</a:t>
            </a:r>
          </a:p>
        </p:txBody>
      </p:sp>
      <p:sp>
        <p:nvSpPr>
          <p:cNvPr id="27" name="p19-format">
            <a:extLst xmlns:a="http://schemas.openxmlformats.org/drawingml/2006/main">
              <a:ext uri="{FF2B5EF4-FFF2-40B4-BE49-F238E27FC236}">
                <a16:creationId xmlns:a16="http://schemas.microsoft.com/office/drawing/2014/main" id="{97830A02-13F2-4609-B737-ACC556BE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3875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7684"/>
                </a:solidFill>
              </a:defRPr>
            </a:pPr>
            <a:r>
              <a:rPr sz="13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每人 45 秒说明 baseline + 七字段 + 反馈处理；同伴按九项检查。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20-sn0">
            <a:extLst xmlns:a="http://schemas.openxmlformats.org/drawingml/2006/main">
              <a:ext uri="{FF2B5EF4-FFF2-40B4-BE49-F238E27FC236}">
                <a16:creationId xmlns:a16="http://schemas.microsoft.com/office/drawing/2014/main" id="{60D6A80E-07AE-4F55-B553-0DBB539C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20-sh0">
            <a:extLst xmlns:a="http://schemas.openxmlformats.org/drawingml/2006/main">
              <a:ext uri="{FF2B5EF4-FFF2-40B4-BE49-F238E27FC236}">
                <a16:creationId xmlns:a16="http://schemas.microsoft.com/office/drawing/2014/main" id="{D62C51BB-2AB9-4905-9B42-1610B9860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066800"/>
            <a:ext cx="2047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公平 baseline</a:t>
            </a:r>
          </a:p>
        </p:txBody>
      </p:sp>
      <p:sp>
        <p:nvSpPr>
          <p:cNvPr id="8" name="p20-sd0">
            <a:extLst xmlns:a="http://schemas.openxmlformats.org/drawingml/2006/main">
              <a:ext uri="{FF2B5EF4-FFF2-40B4-BE49-F238E27FC236}">
                <a16:creationId xmlns:a16="http://schemas.microsoft.com/office/drawing/2014/main" id="{813C1A7C-2956-4EAB-BBB4-05C8552E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52625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比较对象与预算必须可解释</a:t>
            </a:r>
          </a:p>
        </p:txBody>
      </p:sp>
      <p:sp>
        <p:nvSpPr>
          <p:cNvPr id="9" name="p20-sn1">
            <a:extLst xmlns:a="http://schemas.openxmlformats.org/drawingml/2006/main">
              <a:ext uri="{FF2B5EF4-FFF2-40B4-BE49-F238E27FC236}">
                <a16:creationId xmlns:a16="http://schemas.microsoft.com/office/drawing/2014/main" id="{D0007AE7-55EE-4A57-B5E2-F893F16E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1239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20-sh1">
            <a:extLst xmlns:a="http://schemas.openxmlformats.org/drawingml/2006/main">
              <a:ext uri="{FF2B5EF4-FFF2-40B4-BE49-F238E27FC236}">
                <a16:creationId xmlns:a16="http://schemas.microsoft.com/office/drawing/2014/main" id="{8CD2E056-DC7F-4719-9719-1189EC1D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066800"/>
            <a:ext cx="2047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实验规格</a:t>
            </a:r>
          </a:p>
        </p:txBody>
      </p:sp>
      <p:sp>
        <p:nvSpPr>
          <p:cNvPr id="11" name="p20-sd1">
            <a:extLst xmlns:a="http://schemas.openxmlformats.org/drawingml/2006/main">
              <a:ext uri="{FF2B5EF4-FFF2-40B4-BE49-F238E27FC236}">
                <a16:creationId xmlns:a16="http://schemas.microsoft.com/office/drawing/2014/main" id="{9838E44C-DEA6-4886-B678-BAA1FD22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52625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假设、变量、指标、对照与停止条件齐全</a:t>
            </a:r>
          </a:p>
        </p:txBody>
      </p:sp>
      <p:sp>
        <p:nvSpPr>
          <p:cNvPr id="12" name="p20-sn2">
            <a:extLst xmlns:a="http://schemas.openxmlformats.org/drawingml/2006/main">
              <a:ext uri="{FF2B5EF4-FFF2-40B4-BE49-F238E27FC236}">
                <a16:creationId xmlns:a16="http://schemas.microsoft.com/office/drawing/2014/main" id="{64BB821B-2131-4048-86CC-45057727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1239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20-sh2">
            <a:extLst xmlns:a="http://schemas.openxmlformats.org/drawingml/2006/main">
              <a:ext uri="{FF2B5EF4-FFF2-40B4-BE49-F238E27FC236}">
                <a16:creationId xmlns:a16="http://schemas.microsoft.com/office/drawing/2014/main" id="{3967BACB-1A45-442C-9DB3-513D413C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066800"/>
            <a:ext cx="2047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复现记录</a:t>
            </a:r>
          </a:p>
        </p:txBody>
      </p:sp>
      <p:sp>
        <p:nvSpPr>
          <p:cNvPr id="14" name="p20-sd2">
            <a:extLst xmlns:a="http://schemas.openxmlformats.org/drawingml/2006/main">
              <a:ext uri="{FF2B5EF4-FFF2-40B4-BE49-F238E27FC236}">
                <a16:creationId xmlns:a16="http://schemas.microsoft.com/office/drawing/2014/main" id="{4FAD39B0-BEEF-46A3-9FAB-F89BD29B5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52625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环境、配置、随机种子与数据可追溯</a:t>
            </a:r>
          </a:p>
        </p:txBody>
      </p:sp>
      <p:sp>
        <p:nvSpPr>
          <p:cNvPr id="15" name="p20-sn3">
            <a:extLst xmlns:a="http://schemas.openxmlformats.org/drawingml/2006/main">
              <a:ext uri="{FF2B5EF4-FFF2-40B4-BE49-F238E27FC236}">
                <a16:creationId xmlns:a16="http://schemas.microsoft.com/office/drawing/2014/main" id="{8186D59F-9F13-42CA-BF91-9D932B6F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1239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20-sh3">
            <a:extLst xmlns:a="http://schemas.openxmlformats.org/drawingml/2006/main">
              <a:ext uri="{FF2B5EF4-FFF2-40B4-BE49-F238E27FC236}">
                <a16:creationId xmlns:a16="http://schemas.microsoft.com/office/drawing/2014/main" id="{108DC2CA-8B3D-4CD6-9239-1DBB212C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066800"/>
            <a:ext cx="2047875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判断门</a:t>
            </a:r>
          </a:p>
        </p:txBody>
      </p:sp>
      <p:sp>
        <p:nvSpPr>
          <p:cNvPr id="17" name="p20-sd3">
            <a:extLst xmlns:a="http://schemas.openxmlformats.org/drawingml/2006/main">
              <a:ext uri="{FF2B5EF4-FFF2-40B4-BE49-F238E27FC236}">
                <a16:creationId xmlns:a16="http://schemas.microsoft.com/office/drawing/2014/main" id="{07A738EA-39BD-43F5-BFF6-D136AD25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952625"/>
            <a:ext cx="26384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规格、判断、反馈、风险与失败事实绑定当前版本</a:t>
            </a:r>
          </a:p>
        </p:txBody>
      </p:sp>
      <p:sp>
        <p:nvSpPr>
          <p:cNvPr id="18" name="p20-boundary">
            <a:extLst xmlns:a="http://schemas.openxmlformats.org/drawingml/2006/main">
              <a:ext uri="{FF2B5EF4-FFF2-40B4-BE49-F238E27FC236}">
                <a16:creationId xmlns:a16="http://schemas.microsoft.com/office/drawing/2014/main" id="{F218E38E-341F-4914-93E1-6698EF7F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238625"/>
            <a:ext cx="9048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关键边界：能运行不等于公平、可复现或足以支持研究判断。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提交当前项目版本，并把规格交给第 10 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p20-submit-title">
            <a:extLst xmlns:a="http://schemas.openxmlformats.org/drawingml/2006/main">
              <a:ext uri="{FF2B5EF4-FFF2-40B4-BE49-F238E27FC236}">
                <a16:creationId xmlns:a16="http://schemas.microsoft.com/office/drawing/2014/main" id="{B8ACE220-F73E-430D-A156-DFB47E23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9906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提交当前个人项目版本</a:t>
            </a:r>
          </a:p>
        </p:txBody>
      </p:sp>
      <p:sp>
        <p:nvSpPr>
          <p:cNvPr id="7" name="p20-submit">
            <a:extLst xmlns:a="http://schemas.openxmlformats.org/drawingml/2006/main">
              <a:ext uri="{FF2B5EF4-FFF2-40B4-BE49-F238E27FC236}">
                <a16:creationId xmlns:a16="http://schemas.microsoft.com/office/drawing/2014/main" id="{F1BA96A4-DC81-4B56-99EB-D878E0CD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38300"/>
            <a:ext cx="48387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链接｜tag｜压缩包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不另做与项目仓库分离的汇报文档</a:t>
            </a:r>
          </a:p>
        </p:txBody>
      </p:sp>
      <p:sp>
        <p:nvSpPr>
          <p:cNvPr id="8" name="p20-back-title">
            <a:extLst xmlns:a="http://schemas.openxmlformats.org/drawingml/2006/main">
              <a:ext uri="{FF2B5EF4-FFF2-40B4-BE49-F238E27FC236}">
                <a16:creationId xmlns:a16="http://schemas.microsoft.com/office/drawing/2014/main" id="{7C4C4E12-04F7-4C3A-BEC1-BF77638C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04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未通过：按根因回退</a:t>
            </a:r>
          </a:p>
        </p:txBody>
      </p:sp>
      <p:sp>
        <p:nvSpPr>
          <p:cNvPr id="9" name="p20-back">
            <a:extLst xmlns:a="http://schemas.openxmlformats.org/drawingml/2006/main">
              <a:ext uri="{FF2B5EF4-FFF2-40B4-BE49-F238E27FC236}">
                <a16:creationId xmlns:a16="http://schemas.microsoft.com/office/drawing/2014/main" id="{14880199-E305-4897-B080-39672A1C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6482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→ 公平性 / 缩小范围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停止条件 → §三·2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种子 → §四·1–2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判断不足 → 补 J2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反馈未处理 → 第 8 课记录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失败事实缺失 → failure-log.md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迁移丢记录 → 迁移验收</a:t>
            </a:r>
          </a:p>
        </p:txBody>
      </p:sp>
      <p:sp>
        <p:nvSpPr>
          <p:cNvPr id="10" name="p20-next-title">
            <a:extLst xmlns:a="http://schemas.openxmlformats.org/drawingml/2006/main">
              <a:ext uri="{FF2B5EF4-FFF2-40B4-BE49-F238E27FC236}">
                <a16:creationId xmlns:a16="http://schemas.microsoft.com/office/drawing/2014/main" id="{BBBB54F9-9A38-4F12-AB92-61BB4B7D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990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直接交给第 10 课</a:t>
            </a:r>
          </a:p>
        </p:txBody>
      </p:sp>
      <p:sp>
        <p:nvSpPr>
          <p:cNvPr id="11" name="p20-l1">
            <a:extLst xmlns:a="http://schemas.openxmlformats.org/drawingml/2006/main">
              <a:ext uri="{FF2B5EF4-FFF2-40B4-BE49-F238E27FC236}">
                <a16:creationId xmlns:a16="http://schemas.microsoft.com/office/drawing/2014/main" id="{5DA60061-A4FA-4096-83E5-32881ACB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01100" y="26670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20-l2">
            <a:extLst xmlns:a="http://schemas.openxmlformats.org/drawingml/2006/main">
              <a:ext uri="{FF2B5EF4-FFF2-40B4-BE49-F238E27FC236}">
                <a16:creationId xmlns:a16="http://schemas.microsoft.com/office/drawing/2014/main" id="{BD517B73-5C4E-470B-A5B2-CF156915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801100" y="41148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20-a">
            <a:extLst xmlns:a="http://schemas.openxmlformats.org/drawingml/2006/main">
              <a:ext uri="{FF2B5EF4-FFF2-40B4-BE49-F238E27FC236}">
                <a16:creationId xmlns:a16="http://schemas.microsoft.com/office/drawing/2014/main" id="{A666D929-119C-45F9-9CFB-59D3A110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619250"/>
            <a:ext cx="38481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experiment-spec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七字段 + 复现说明</a:t>
            </a:r>
          </a:p>
        </p:txBody>
      </p:sp>
      <p:sp>
        <p:nvSpPr>
          <p:cNvPr id="14" name="p20-b">
            <a:extLst xmlns:a="http://schemas.openxmlformats.org/drawingml/2006/main">
              <a:ext uri="{FF2B5EF4-FFF2-40B4-BE49-F238E27FC236}">
                <a16:creationId xmlns:a16="http://schemas.microsoft.com/office/drawing/2014/main" id="{4579E8D4-071A-4648-9AAE-0F8B93F1D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52750"/>
            <a:ext cx="38481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标出 Agent 可做步骤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与必须人工决定点</a:t>
            </a:r>
          </a:p>
        </p:txBody>
      </p:sp>
      <p:sp>
        <p:nvSpPr>
          <p:cNvPr id="15" name="p20-c">
            <a:extLst xmlns:a="http://schemas.openxmlformats.org/drawingml/2006/main">
              <a:ext uri="{FF2B5EF4-FFF2-40B4-BE49-F238E27FC236}">
                <a16:creationId xmlns:a16="http://schemas.microsoft.com/office/drawing/2014/main" id="{DCA18D6D-DF82-4487-9F51-BA9F0048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400550"/>
            <a:ext cx="38481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10 课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受限 Agent 任务契约</a:t>
            </a:r>
          </a:p>
        </p:txBody>
      </p:sp>
      <p:sp>
        <p:nvSpPr>
          <p:cNvPr id="16" name="p20-bottom">
            <a:extLst xmlns:a="http://schemas.openxmlformats.org/drawingml/2006/main">
              <a:ext uri="{FF2B5EF4-FFF2-40B4-BE49-F238E27FC236}">
                <a16:creationId xmlns:a16="http://schemas.microsoft.com/office/drawing/2014/main" id="{BD3A3028-362F-4423-AF6C-577F6DFA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486400"/>
            <a:ext cx="960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退出卡：baseline 为什么公平？复现齐到种子了吗？已遇失败和前瞻预案分开了吗？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2026-08-22T08:53:24.5780000Z</dcterms:created>
  <dcterms:modified xsi:type="dcterms:W3CDTF">2026-08-22T08:53:24.5780000Z</dcterms:modified>
</coreProperties>
</file>