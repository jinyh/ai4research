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f8fd560094e8b" /><Relationship Type="http://schemas.openxmlformats.org/officeDocument/2006/relationships/extended-properties" Target="/docProps/app.xml" Id="R94958622247844ee" /><Relationship Type="http://schemas.openxmlformats.org/officeDocument/2006/relationships/officeDocument" Target="/ppt/presentation.xml" Id="Re0e00f86dc10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1845fa2064e07"/>
  </p:sldMasterIdLst>
  <p:notesMasterIdLst>
    <p:notesMasterId xmlns:r="http://schemas.openxmlformats.org/officeDocument/2006/relationships" r:id="Rca21f4df124a4dd0"/>
  </p:notesMasterIdLst>
  <p:sldIdLst>
    <p:sldId xmlns:r="http://schemas.openxmlformats.org/officeDocument/2006/relationships" id="256" r:id="Rc22368bc65da4490"/>
    <p:sldId xmlns:r="http://schemas.openxmlformats.org/officeDocument/2006/relationships" id="257" r:id="R4d4a0eeead53400b"/>
    <p:sldId xmlns:r="http://schemas.openxmlformats.org/officeDocument/2006/relationships" id="258" r:id="R0412de16b48c4ce0"/>
    <p:sldId xmlns:r="http://schemas.openxmlformats.org/officeDocument/2006/relationships" id="259" r:id="Rcab5755edf7c4640"/>
    <p:sldId xmlns:r="http://schemas.openxmlformats.org/officeDocument/2006/relationships" id="260" r:id="R0da7c6ec22194cc8"/>
    <p:sldId xmlns:r="http://schemas.openxmlformats.org/officeDocument/2006/relationships" id="261" r:id="R20a3245f2bf644f2"/>
    <p:sldId xmlns:r="http://schemas.openxmlformats.org/officeDocument/2006/relationships" id="262" r:id="R18396e460e45478e"/>
    <p:sldId xmlns:r="http://schemas.openxmlformats.org/officeDocument/2006/relationships" id="263" r:id="R8ffffc968fc24a11"/>
    <p:sldId xmlns:r="http://schemas.openxmlformats.org/officeDocument/2006/relationships" id="264" r:id="R0d60a8d3223c49f7"/>
    <p:sldId xmlns:r="http://schemas.openxmlformats.org/officeDocument/2006/relationships" id="265" r:id="R57447406b474476d"/>
    <p:sldId xmlns:r="http://schemas.openxmlformats.org/officeDocument/2006/relationships" id="266" r:id="R917290b9dd9e4cbf"/>
    <p:sldId xmlns:r="http://schemas.openxmlformats.org/officeDocument/2006/relationships" id="267" r:id="R56d97be21d9e4864"/>
    <p:sldId xmlns:r="http://schemas.openxmlformats.org/officeDocument/2006/relationships" id="268" r:id="Rb89f871f6fd64489"/>
    <p:sldId xmlns:r="http://schemas.openxmlformats.org/officeDocument/2006/relationships" id="269" r:id="R671c74ccd8444c6d"/>
    <p:sldId xmlns:r="http://schemas.openxmlformats.org/officeDocument/2006/relationships" id="270" r:id="R53873547618c4b79"/>
    <p:sldId xmlns:r="http://schemas.openxmlformats.org/officeDocument/2006/relationships" id="271" r:id="R858706ea9cc94a10"/>
    <p:sldId xmlns:r="http://schemas.openxmlformats.org/officeDocument/2006/relationships" id="272" r:id="Rfa33c920e62a46e6"/>
    <p:sldId xmlns:r="http://schemas.openxmlformats.org/officeDocument/2006/relationships" id="273" r:id="Rf3fcbfb79ed246c4"/>
    <p:sldId xmlns:r="http://schemas.openxmlformats.org/officeDocument/2006/relationships" id="274" r:id="R9cbc9d098bee4170"/>
    <p:sldId xmlns:r="http://schemas.openxmlformats.org/officeDocument/2006/relationships" id="275" r:id="Rc5c4164b0155406e"/>
    <p:sldId xmlns:r="http://schemas.openxmlformats.org/officeDocument/2006/relationships" id="276" r:id="R671dcc657dc9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f8a8d9a394be9" /><Relationship Type="http://schemas.openxmlformats.org/officeDocument/2006/relationships/slideMaster" Target="/ppt/slideMasters/slideMaster1.xml" Id="R4421845fa2064e07" /><Relationship Type="http://schemas.openxmlformats.org/officeDocument/2006/relationships/notesMaster" Target="/ppt/notesMasters/notesMaster1.xml" Id="Rca21f4df124a4dd0" /><Relationship Type="http://schemas.openxmlformats.org/officeDocument/2006/relationships/presProps" Target="/ppt/presProps.xml" Id="R8bea45ba52024f84" /><Relationship Type="http://schemas.openxmlformats.org/officeDocument/2006/relationships/viewProps" Target="/ppt/viewProps.xml" Id="R6b23efcf4e4f447e" /><Relationship Type="http://schemas.openxmlformats.org/officeDocument/2006/relationships/tableStyles" Target="/ppt/tableStyles.xml" Id="R9fc06e3a6a35478b" /><Relationship Type="http://schemas.openxmlformats.org/officeDocument/2006/relationships/slide" Target="/ppt/slides/slide1.xml" Id="Rc22368bc65da4490" /><Relationship Type="http://schemas.openxmlformats.org/officeDocument/2006/relationships/slide" Target="/ppt/slides/slide2.xml" Id="R4d4a0eeead53400b" /><Relationship Type="http://schemas.openxmlformats.org/officeDocument/2006/relationships/slide" Target="/ppt/slides/slide3.xml" Id="R0412de16b48c4ce0" /><Relationship Type="http://schemas.openxmlformats.org/officeDocument/2006/relationships/slide" Target="/ppt/slides/slide4.xml" Id="Rcab5755edf7c4640" /><Relationship Type="http://schemas.openxmlformats.org/officeDocument/2006/relationships/slide" Target="/ppt/slides/slide5.xml" Id="R0da7c6ec22194cc8" /><Relationship Type="http://schemas.openxmlformats.org/officeDocument/2006/relationships/slide" Target="/ppt/slides/slide6.xml" Id="R20a3245f2bf644f2" /><Relationship Type="http://schemas.openxmlformats.org/officeDocument/2006/relationships/slide" Target="/ppt/slides/slide7.xml" Id="R18396e460e45478e" /><Relationship Type="http://schemas.openxmlformats.org/officeDocument/2006/relationships/slide" Target="/ppt/slides/slide8.xml" Id="R8ffffc968fc24a11" /><Relationship Type="http://schemas.openxmlformats.org/officeDocument/2006/relationships/slide" Target="/ppt/slides/slide9.xml" Id="R0d60a8d3223c49f7" /><Relationship Type="http://schemas.openxmlformats.org/officeDocument/2006/relationships/slide" Target="/ppt/slides/slide10.xml" Id="R57447406b474476d" /><Relationship Type="http://schemas.openxmlformats.org/officeDocument/2006/relationships/slide" Target="/ppt/slides/slide11.xml" Id="R917290b9dd9e4cbf" /><Relationship Type="http://schemas.openxmlformats.org/officeDocument/2006/relationships/slide" Target="/ppt/slides/slide12.xml" Id="R56d97be21d9e4864" /><Relationship Type="http://schemas.openxmlformats.org/officeDocument/2006/relationships/slide" Target="/ppt/slides/slide13.xml" Id="Rb89f871f6fd64489" /><Relationship Type="http://schemas.openxmlformats.org/officeDocument/2006/relationships/slide" Target="/ppt/slides/slide14.xml" Id="R671c74ccd8444c6d" /><Relationship Type="http://schemas.openxmlformats.org/officeDocument/2006/relationships/slide" Target="/ppt/slides/slide15.xml" Id="R53873547618c4b79" /><Relationship Type="http://schemas.openxmlformats.org/officeDocument/2006/relationships/slide" Target="/ppt/slides/slide16.xml" Id="R858706ea9cc94a10" /><Relationship Type="http://schemas.openxmlformats.org/officeDocument/2006/relationships/slide" Target="/ppt/slides/slide17.xml" Id="Rfa33c920e62a46e6" /><Relationship Type="http://schemas.openxmlformats.org/officeDocument/2006/relationships/slide" Target="/ppt/slides/slide18.xml" Id="Rf3fcbfb79ed246c4" /><Relationship Type="http://schemas.openxmlformats.org/officeDocument/2006/relationships/slide" Target="/ppt/slides/slide19.xml" Id="R9cbc9d098bee4170" /><Relationship Type="http://schemas.openxmlformats.org/officeDocument/2006/relationships/slide" Target="/ppt/slides/slide20.xml" Id="Rc5c4164b0155406e" /><Relationship Type="http://schemas.openxmlformats.org/officeDocument/2006/relationships/slide" Target="/ppt/slides/slide21.xml" Id="R671dcc657dc9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062912d52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d87c9fa494b9d" /><Relationship Type="http://schemas.openxmlformats.org/officeDocument/2006/relationships/notesMaster" Target="/ppt/notesMasters/notesMaster1.xml" Id="R624a0802e708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56f14dff7c4437" /><Relationship Type="http://schemas.openxmlformats.org/officeDocument/2006/relationships/notesMaster" Target="/ppt/notesMasters/notesMaster1.xml" Id="Ra0a4474aacb64b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3990639e2048d9" /><Relationship Type="http://schemas.openxmlformats.org/officeDocument/2006/relationships/notesMaster" Target="/ppt/notesMasters/notesMaster1.xml" Id="R2cc550255bd3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59a0eeee447ed" /><Relationship Type="http://schemas.openxmlformats.org/officeDocument/2006/relationships/notesMaster" Target="/ppt/notesMasters/notesMaster1.xml" Id="Rdddf29666e6e48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2c0cf6b6a435d" /><Relationship Type="http://schemas.openxmlformats.org/officeDocument/2006/relationships/notesMaster" Target="/ppt/notesMasters/notesMaster1.xml" Id="R755354c7bb70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70b3b035c4952" /><Relationship Type="http://schemas.openxmlformats.org/officeDocument/2006/relationships/notesMaster" Target="/ppt/notesMasters/notesMaster1.xml" Id="R520a981488ef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4f28dbc899410a" /><Relationship Type="http://schemas.openxmlformats.org/officeDocument/2006/relationships/notesMaster" Target="/ppt/notesMasters/notesMaster1.xml" Id="Rcd2fa7d2385246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09f185a1b4180" /><Relationship Type="http://schemas.openxmlformats.org/officeDocument/2006/relationships/notesMaster" Target="/ppt/notesMasters/notesMaster1.xml" Id="Re01d1031cde8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907a3359464f8b" /><Relationship Type="http://schemas.openxmlformats.org/officeDocument/2006/relationships/notesMaster" Target="/ppt/notesMasters/notesMaster1.xml" Id="Rbd0579ba066747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51ab79bdb14645" /><Relationship Type="http://schemas.openxmlformats.org/officeDocument/2006/relationships/notesMaster" Target="/ppt/notesMasters/notesMaster1.xml" Id="R6b5e6842c13e42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4bc182a8e4cf6" /><Relationship Type="http://schemas.openxmlformats.org/officeDocument/2006/relationships/notesMaster" Target="/ppt/notesMasters/notesMaster1.xml" Id="R4dce3700e52440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27331a53d54d53" /><Relationship Type="http://schemas.openxmlformats.org/officeDocument/2006/relationships/notesMaster" Target="/ppt/notesMasters/notesMaster1.xml" Id="Ra12bc728a9a547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7151c1332e4366" /><Relationship Type="http://schemas.openxmlformats.org/officeDocument/2006/relationships/notesMaster" Target="/ppt/notesMasters/notesMaster1.xml" Id="R167f00fae55c4f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77bbff8cd4eed" /><Relationship Type="http://schemas.openxmlformats.org/officeDocument/2006/relationships/notesMaster" Target="/ppt/notesMasters/notesMaster1.xml" Id="R8ffcd011bdcd41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289382a32048f4" /><Relationship Type="http://schemas.openxmlformats.org/officeDocument/2006/relationships/notesMaster" Target="/ppt/notesMasters/notesMaster1.xml" Id="R589989f4a87248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f29616b042411f" /><Relationship Type="http://schemas.openxmlformats.org/officeDocument/2006/relationships/notesMaster" Target="/ppt/notesMasters/notesMaster1.xml" Id="R5008bd5b73bf45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4c0d6560c44161" /><Relationship Type="http://schemas.openxmlformats.org/officeDocument/2006/relationships/notesMaster" Target="/ppt/notesMasters/notesMaster1.xml" Id="Rfb1f1c72145f44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e85355fa484043" /><Relationship Type="http://schemas.openxmlformats.org/officeDocument/2006/relationships/notesMaster" Target="/ppt/notesMasters/notesMaster1.xml" Id="R11bb421693f846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0b78827f774143" /><Relationship Type="http://schemas.openxmlformats.org/officeDocument/2006/relationships/notesMaster" Target="/ppt/notesMasters/notesMaster1.xml" Id="Rb5ea74ea92d24c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84779584454fb3" /><Relationship Type="http://schemas.openxmlformats.org/officeDocument/2006/relationships/notesMaster" Target="/ppt/notesMasters/notesMaster1.xml" Id="R01947ca3f80c4e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5ab4322d84445f" /><Relationship Type="http://schemas.openxmlformats.org/officeDocument/2006/relationships/notesMaster" Target="/ppt/notesMasters/notesMaster1.xml" Id="R30aa9afe8bb3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第9讲 Baseline、实验规格与可复现实验工程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第9讲 Baseline、实验规格与可复现实验工程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开场放下实验规格草图。第 7 课已建立机制假设和实验规格草案，第 8 课拿到同伴反馈，但"能跑通"和"能复现"之间还有距离。本课把草图变成可复现的判断门材料，并完成第二次正式提交——判断门。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课程定位以 [syllabus.md](../../course/syllabus.md) 与 [备课规划.md](../备课规划.md) 第 9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7-8 课之后，草图离判断门还差七项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 7-8 课已建立：</a:t>
            </a:r>
          </a:p>
          <a:p xmlns:a="http://schemas.openxmlformats.org/drawingml/2006/main">
            <a:r>
              <a:t>- 机制假设列表（主假设 + 替代假设 + 反证点）</a:t>
            </a:r>
          </a:p>
          <a:p xmlns:a="http://schemas.openxmlformats.org/drawingml/2006/main">
            <a:r>
              <a:t>- 研究判断记录 J1（六字段）</a:t>
            </a:r>
          </a:p>
          <a:p xmlns:a="http://schemas.openxmlformats.org/drawingml/2006/main">
            <a:r>
              <a:t>- 实验规格草图（变量清单草案）</a:t>
            </a:r>
          </a:p>
          <a:p xmlns:a="http://schemas.openxmlformats.org/drawingml/2006/main">
            <a:r>
              <a:t>- 第 8 课同伴反馈记录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仍未解决：</a:t>
            </a:r>
          </a:p>
          <a:p xmlns:a="http://schemas.openxmlformats.org/drawingml/2006/main">
            <a:r>
              <a:t>- baseline 选哪个？为什么公平？</a:t>
            </a:r>
          </a:p>
          <a:p xmlns:a="http://schemas.openxmlformats.org/drawingml/2006/main">
            <a:r>
              <a:t>- 七字段缺停止条件、随机化、失败预案</a:t>
            </a:r>
          </a:p>
          <a:p xmlns:a="http://schemas.openxmlformats.org/drawingml/2006/main">
            <a:r>
              <a:t>- 复现说明缺种子与环境</a:t>
            </a:r>
          </a:p>
          <a:p xmlns:a="http://schemas.openxmlformats.org/drawingml/2006/main">
            <a:r>
              <a:t>- 同伴反馈未逐条处理</a:t>
            </a:r>
          </a:p>
          <a:p xmlns:a="http://schemas.openxmlformats.org/drawingml/2006/main">
            <a:r>
              <a:t>- 第二条研究判断尚未写</a:t>
            </a:r>
          </a:p>
          <a:p xmlns:a="http://schemas.openxmlformats.org/drawingml/2006/main">
            <a:r>
              <a:t>- 已遇执行失败或已放弃备选尚未落档</a:t>
            </a:r>
          </a:p>
          <a:p xmlns:a="http://schemas.openxmlformats.org/drawingml/2006/main">
            <a:r>
              <a:t>- 仍在 starter-template，未迁移到 project-template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草图能跑≠能复现；判断门检查的是可复现。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回扣第 7-8 课：机制假设和实验规格草图让"问什么"和"怎么验证"可见，但没有回答"baseline 公不公平""能不能复现""同伴反馈怎么处理"。本课进入阶段六成案与阶段七起始，把草图变成判断门可检查材料。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7 课的实验规格草图中，停止条件写了没？随机种子记录了没？只听回答，不评价。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本课板书、诊断与串词：</a:t>
            </a:r>
          </a:p>
          <a:p xmlns:a="http://schemas.openxmlformats.org/drawingml/2006/main">
            <a:r>
              <a:t>本节替换同类口头提示，不增加既有时段。开场诊断嵌入现有开场/回顾，后续再沿原实践时段操作。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**板书主线**：输入 → 输出 → 条件标注 → 分子/分母 → 记录。</a:t>
            </a:r>
          </a:p>
          <a:p xmlns:a="http://schemas.openxmlformats.org/drawingml/2006/main">
            <a:r>
              <a:t>- **诊断问题**：代码跑出0.5就证明语义正确吗？</a:t>
            </a:r>
          </a:p>
          <a:p xmlns:a="http://schemas.openxmlformats.org/drawingml/2006/main">
            <a:r>
              <a:t>- **预期回答**：不；工程复现和语义核验分工不同。</a:t>
            </a:r>
          </a:p>
          <a:p xmlns:a="http://schemas.openxmlformats.org/drawingml/2006/main">
            <a:r>
              <a:t>- **常见误答后的追问**：让学生从T01找到一项保留的输出原句，再看汇总。</a:t>
            </a:r>
          </a:p>
          <a:p xmlns:a="http://schemas.openxmlformats.org/drawingml/2006/main">
            <a:r>
              <a:t>- **过渡串词**：“设计与记录明确后，才能给执行工具限定任务。”</a:t>
            </a:r>
          </a:p>
          <a:p xmlns:a="http://schemas.openxmlformats.org/drawingml/2006/main">
            <a:r>
              <a:t>- **当堂最小产出**：一项baseline修订与一条可重运行记录。</a:t>
            </a:r>
          </a:p>
          <a:p xmlns:a="http://schemas.openxmlformats.org/drawingml/2006/main">
            <a:r>
              <a:t>- **退出记录**：写“已完成的动作、本人项目仍缺的证据/工件、下次补齐位置”。使用教师包时标明课堂方法练习，不能据此宣称本人研究门通过；正式提交课次仍为第 6、9、13、16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回扣第 7 课讲义 §四与第 8 课方案分享记录；[AGENTS.md](../../AGENTS.md)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本课产出是可复现的判断门材料初版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完成本课后，你能：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选择一个可解释、公平且能在课程周期内运行的 baseline；</a:t>
            </a:r>
          </a:p>
          <a:p xmlns:a="http://schemas.openxmlformats.org/drawingml/2006/main">
            <a:r>
              <a:t>2. 把第 7 课实验规格草图补全为七字段完整规格；</a:t>
            </a:r>
          </a:p>
          <a:p xmlns:a="http://schemas.openxmlformats.org/drawingml/2006/main">
            <a:r>
              <a:t>3. 记录使实验可复现的最小集合（环境、配置、种子、数据、代码、结果）；</a:t>
            </a:r>
          </a:p>
          <a:p xmlns:a="http://schemas.openxmlformats.org/drawingml/2006/main">
            <a:r>
              <a:t>4. 处理机器学习实验的方差来源，避免把单次运行写成结论；</a:t>
            </a:r>
          </a:p>
          <a:p xmlns:a="http://schemas.openxmlformats.org/drawingml/2006/main">
            <a:r>
              <a:t>5. 把第 8 课同伴反馈按真实处理动作归档，记录理由与位置；</a:t>
            </a:r>
          </a:p>
          <a:p xmlns:a="http://schemas.openxmlformats.org/drawingml/2006/main">
            <a:r>
              <a:t>6. 按课后操作指引从 starter-template 迁移到 project-template，不丢失 AI 使用记录和伦理说明；</a:t>
            </a:r>
          </a:p>
          <a:p xmlns:a="http://schemas.openxmlformats.org/drawingml/2006/main">
            <a:r>
              <a:t>7. 对照判断门九项条件完成提交前自查。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课堂最低产出：一条公平 baseline 判断 + 一条可重运行记录。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课后提交判断门材料包，具体条件以 assignments.md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明确边界：本课目标是完成判断门材料初版，不要求课堂内全部自查通过。判断门条件以 [assignments.md](../../course/assignments.md) Checkpoint 2 为权威来源，本课自查清单与之一一对应。第 1-8 课产出已是项目一部分，本课只补全 baseline、实验规格完整字段、复现说明、第二条研究判断、同伴反馈处理和模板迁移。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[备课规划.md](../备课规划.md) 第 9 课目标段；[assignments.md](../../course/assignments.md)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baseline 为结果比较提供参照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同一研究问题 → 合理的比较对象</a:t>
            </a:r>
          </a:p>
          <a:p xmlns:a="http://schemas.openxmlformats.org/drawingml/2006/main">
            <a:r>
              <a:t>同一评价口径 → 可解释的结果差异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两组有差异，仍需排查混杂。</a:t>
            </a:r>
          </a:p>
          <a:p xmlns:a="http://schemas.openxmlformats.org/drawingml/2006/main">
            <a:r>
              <a:t>一个 baseline 通常不能单独证明机制。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公平对照的重点是目标比较和可比性，不能把“只要五项一样就证明机制”当充分条件。按待检验命题选择合理对照，并披露无法匹配处。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指出本人 baseline 与方法最可能不对等的一项。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https://www.jmlr.org/papers/v22/20-303.html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对照公平性：五项审计问题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数据与任务是否可比？</a:t>
            </a:r>
          </a:p>
          <a:p xmlns:a="http://schemas.openxmlformats.org/drawingml/2006/main">
            <a:r>
              <a:t>资源与调参机会是否合理？</a:t>
            </a:r>
          </a:p>
          <a:p xmlns:a="http://schemas.openxmlformats.org/drawingml/2006/main">
            <a:r>
              <a:t>评价协议是否一致？</a:t>
            </a:r>
          </a:p>
          <a:p xmlns:a="http://schemas.openxmlformats.org/drawingml/2006/main">
            <a:r>
              <a:t>运行与停止规则是否预先约定？</a:t>
            </a:r>
          </a:p>
          <a:p xmlns:a="http://schemas.openxmlformats.org/drawingml/2006/main">
            <a:r>
              <a:t>双方失败是否完整保留？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五问是审计入口，不是逻辑上的充要条件。不同系统可以使用合理的不同配置，关键是比较问题是否清楚、资源差异是否披露、是否存在未控偏差。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给一项不公平之处写修订动作，无法修订就写边界。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https://proceedings.mlsys.org/paper_files/paper/2021/hash/0184b0cd3cfb185989f858a1d9f5c1eb-Abstract.html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五类不公平做法都会把偏倚写成效应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反例 | 不公平点 | 后果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数据不一致 | 实验组用 A 集，baseline 用 B 集 | 差异可能来自数据难度 |</a:t>
            </a:r>
          </a:p>
          <a:p xmlns:a="http://schemas.openxmlformats.org/drawingml/2006/main">
            <a:r>
              <a:t>| 超参不对等 | baseline 没调参，实验组做了搜索 | "调参 vs 不调参"差异 |</a:t>
            </a:r>
          </a:p>
          <a:p xmlns:a="http://schemas.openxmlformats.org/drawingml/2006/main">
            <a:r>
              <a:t>| 评价不一致 | 实验组盲评，baseline 非盲评 | 评价者偏倚 |</a:t>
            </a:r>
          </a:p>
          <a:p xmlns:a="http://schemas.openxmlformats.org/drawingml/2006/main">
            <a:r>
              <a:t>| 运行次数不对等 | 实验组 5 次取均值，baseline 1 次 | 噪声差异 |</a:t>
            </a:r>
          </a:p>
          <a:p xmlns:a="http://schemas.openxmlformats.org/drawingml/2006/main">
            <a:r>
              <a:t>| 失败被删除 | baseline 跑不通，只留实验组成功 | 隐性偏倚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ACM Badging 区分"代码可下载""工件可运行""结果得到独立验证"——判断门要求 baseline 可执行，结果可追溯。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五个反例都是常见错误。重点强调"失败被删除"——这是学术规范红线（见 [assessment.md](../../course/assessment.md) 学术规范红线）。ACM Functional 的 documented/consistent/complete/exercisable 是检查维度；课程不授予徽章，研究门仍按课程条件检查。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让学生检查自己的 baseline 是否触犯五个反例之一。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§二·4；ACM Artifact Review and Badging v1.1（[reading-list.md](../../course/reading-list.md) 第 9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可复现需要完整的输入与过程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材料版本 + 配置 + 入口命令</a:t>
            </a:r>
          </a:p>
          <a:p xmlns:a="http://schemas.openxmlformats.org/drawingml/2006/main">
            <a:r>
              <a:t>原始输出 + 日志 + 汇总口径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有随机源：记录种子和重复计划。</a:t>
            </a:r>
          </a:p>
          <a:p xmlns:a="http://schemas.openxmlformats.org/drawingml/2006/main">
            <a:r>
              <a:t>无随机源：说明确定性及输入版本。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本课小包是固定输出回放，没有LLM随机采样。种子栏应写不适用，而不是补一个装饰性的42。学生真实项目按自己的随机源记录。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指出一条记录里别人还无法恢复的条件。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七字段把设计落实到记录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假设对应｜Q1；H1/A2 待区分</a:t>
            </a:r>
          </a:p>
          <a:p xmlns:a="http://schemas.openxmlformats.org/drawingml/2006/main">
            <a:r>
              <a:t>变量｜输出条件与遗漏指标</a:t>
            </a:r>
          </a:p>
          <a:p xmlns:a="http://schemas.openxmlformats.org/drawingml/2006/main">
            <a:r>
              <a:t>步骤｜回放、人工核验、汇总</a:t>
            </a:r>
          </a:p>
          <a:p xmlns:a="http://schemas.openxmlformats.org/drawingml/2006/main">
            <a:r>
              <a:t>度量｜缺失条件数 / 应保留条件数</a:t>
            </a:r>
          </a:p>
          <a:p xmlns:a="http://schemas.openxmlformats.org/drawingml/2006/main">
            <a:r>
              <a:t>对照｜同源文本的自由摘要</a:t>
            </a:r>
          </a:p>
          <a:p xmlns:a="http://schemas.openxmlformats.org/drawingml/2006/main">
            <a:r>
              <a:t>配对与重复｜3 文本 × 2 条件 × 1 固定输出</a:t>
            </a:r>
          </a:p>
          <a:p xmlns:a="http://schemas.openxmlformats.org/drawingml/2006/main">
            <a:r>
              <a:t>停止｜6 个任务完成；技术异常暂停并留痕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逐行指向真实包中sources、outputs、gold、annotations、config与入口。说明这是构造课堂规格，不假冒盲评已完成或模型实验。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圈出最影响本人结论的一项规格缺口。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https://journals.plos.org/ploscompbiol/article?id=10.1371/journal.pcbi.1005510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停止规则先于结果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固定队列：6 个任务；最多 8 次执行尝试。</a:t>
            </a:r>
          </a:p>
          <a:p xmlns:a="http://schemas.openxmlformats.org/drawingml/2006/main">
            <a:r>
              <a:t>成功完成的任务不重复执行。</a:t>
            </a:r>
          </a:p>
          <a:p xmlns:a="http://schemas.openxmlformats.org/drawingml/2006/main">
            <a:r>
              <a:t>技术失败保留后恢复；输入变化时另建运行目录。</a:t>
            </a:r>
          </a:p>
          <a:p xmlns:a="http://schemas.openxmlformats.org/drawingml/2006/main">
            <a:r>
              <a:t>负向结果照常进入评价。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分开任务数、尝试数和研究重复次数。一次失败重试不算新的独立研究样本，也不能用重复执行固定输出来估计方差。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判断：删除T03后重算，是否遵守既定停止与汇总规则？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遗漏率从一条条件开始计算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T01 应保留：英文材料、长度上限、显式限定句。</a:t>
            </a:r>
          </a:p>
          <a:p xmlns:a="http://schemas.openxmlformats.org/drawingml/2006/main">
            <a:r>
              <a:t>阅读卡保留 3 项 → 遗漏 0/3。</a:t>
            </a:r>
          </a:p>
          <a:p xmlns:a="http://schemas.openxmlformats.org/drawingml/2006/main">
            <a:r>
              <a:t>自由摘要保留 1 项 → 遗漏 2/3。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先核验原文和输出，再汇总数字。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打开T01原文、两份输出和参考标注。脚本只校验并汇总人工标注，不自动理解语义。另一个四布尔字段0.5例仅演示工程复现，不能充当这里的遗漏率。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学生指出一项“保留”的输出原句，另一人反查源文本。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一条可重运行记录要能打开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输入：sources.json / outputs.json</a:t>
            </a:r>
          </a:p>
          <a:p xmlns:a="http://schemas.openxmlformats.org/drawingml/2006/main">
            <a:r>
              <a:t>配置：config.json 与文件摘要</a:t>
            </a:r>
          </a:p>
          <a:p xmlns:a="http://schemas.openxmlformats.org/drawingml/2006/main">
            <a:r>
              <a:t>入口：run.py replay，再 evaluate</a:t>
            </a:r>
          </a:p>
          <a:p xmlns:a="http://schemas.openxmlformats.org/drawingml/2006/main">
            <a:r>
              <a:t>过程：events.jsonl / state.json</a:t>
            </a:r>
          </a:p>
          <a:p xmlns:a="http://schemas.openxmlformats.org/drawingml/2006/main">
            <a:r>
              <a:t>结果：evaluation.json</a:t>
            </a:r>
          </a:p>
          <a:p xmlns:a="http://schemas.openxmlformats.org/drawingml/2006/main">
            <a:r>
              <a:t>基准：gold.json / annotations.json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演示从README进入一次实际运行，版本以输入摘要与配置为准。这里不填写虚构SDK、模型版本或不存在的仓库commit。离线分支打开已经生成的真实日志。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同伴按说明找到一个输入、一条输出及其对应标注。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https://journals.plos.org/ploscompbiol/article?id=10.1371/journal.pcbi.1003285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单次运行不能直接写成方法效应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机器学习实验的随机性来自多层面：数据划分、模型初始化、采样、解码。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Bouthillier et al. 2021：单次运行的差异往往大于方法间差异。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判断门要求的是可追溯，重复次数由主张决定：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记录所有随机种子的来源和值</a:t>
            </a:r>
          </a:p>
          <a:p xmlns:a="http://schemas.openxmlformats.org/drawingml/2006/main">
            <a:r>
              <a:t>- 声称方差或稳定性时，事先写明足以支撑该主张的重复计划与汇总方式</a:t>
            </a:r>
          </a:p>
          <a:p xmlns:a="http://schemas.openxmlformats.org/drawingml/2006/main">
            <a:r>
              <a:t>- 若只跑 1 次，写明边界，不把单次差异写成稳定结论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把单次运行的差异写成方法效应 = 隐性偏倚。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Bouthillier 等人的核心发现：单次运行噪声可能改变方法比较。这意味着重复计划必须服务于要声称的结论：要谈方差或稳定性，就需要足以估计它们的重复；单次只能作为边界明确的初步观察。课程不设统一“至少 3 次”硬门。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让学生检查：自己的关键比较跑了几次？有没有报告标准差？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§四·2；Bouthillier et al. 2021（[reading-list.md](../../course/reading-list.md) 第 9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工件检查有四个维度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documented｜说明足够</a:t>
            </a:r>
          </a:p>
          <a:p xmlns:a="http://schemas.openxmlformats.org/drawingml/2006/main">
            <a:r>
              <a:t>consistent｜说明、代码和主张一致</a:t>
            </a:r>
          </a:p>
          <a:p xmlns:a="http://schemas.openxmlformats.org/drawingml/2006/main">
            <a:r>
              <a:t>complete｜关键部分齐全</a:t>
            </a:r>
          </a:p>
          <a:p xmlns:a="http://schemas.openxmlformats.org/drawingml/2006/main">
            <a:r>
              <a:t>exercisable｜能够执行检查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它们是 ACM Functional 的检查维度，不是四个等级。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课程借用这些检查问题，不授予ACM徽章，也不把课程判断门等同于完整artifact评审。详细定义以讲义所链ACM官方说明为准。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找出当前复现包一个最影响他人使用的缺口。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模板迁移补字段，但不能丢历史记录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判断门条件之九：从轻量脚手架迁移到完整项目模板，且没有丢失 AI 使用记录和伦理说明。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迁移对照表（部分）：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starter 字段 | project 位置 | 注意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§1 项目概览 | §1 项目信息 | 补 URL |</a:t>
            </a:r>
          </a:p>
          <a:p xmlns:a="http://schemas.openxmlformats.org/drawingml/2006/main">
            <a:r>
              <a:t>| §6 AI 使用记录 | ai-usage-log.md | 不丢失任何条目 |</a:t>
            </a:r>
          </a:p>
          <a:p xmlns:a="http://schemas.openxmlformats.org/drawingml/2006/main">
            <a:r>
              <a:t>| §8 伦理检查 | ethics-and-compliance.md | 补数据使用限制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新增字段：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§4.2 Baseline（类型 + 公平性）</a:t>
            </a:r>
          </a:p>
          <a:p xmlns:a="http://schemas.openxmlformats.org/drawingml/2006/main">
            <a:r>
              <a:t>- §4.6 实验规格（七字段）</a:t>
            </a:r>
          </a:p>
          <a:p xmlns:a="http://schemas.openxmlformats.org/drawingml/2006/main">
            <a:r>
              <a:t>- §5 研究判断记录（≥2 条六字段）</a:t>
            </a:r>
          </a:p>
          <a:p xmlns:a="http://schemas.openxmlformats.org/drawingml/2006/main">
            <a:r>
              <a:t>- §7 实验记录（≥1 行可追溯）</a:t>
            </a:r>
          </a:p>
          <a:p xmlns:a="http://schemas.openxmlformats.org/drawingml/2006/main">
            <a:r>
              <a:t>- 同伴反馈处理记录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迁移沿用现有字段位置，补齐新增项与数据使用限制。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迁移不是重写——把 starter-template 中已稳定的字段搬到 project-template 对应位置。最常见错误：搬字段时漏掉了第 1-8 课的 AI 使用记录条目，或伦理说明没补数据使用限制。迁移验收判据：AI 使用记录条目数 ≥ 第 1-8 课总和。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让学生对照迁移表，标注自己已搬哪些、还缺哪些。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§五；[starter-template.md](../../course/starter-template.md) 与 [project-template.md](../../course/project-template.md)。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判断门检查当前个人项目版本的九项条件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9 项门条件（与 [assignments.md](../../course/assignments.md) Checkpoint 2 一致）：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# | 门条件 | 自查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1 | 可执行 baseline 或最小验证原型 | □ |</a:t>
            </a:r>
          </a:p>
          <a:p xmlns:a="http://schemas.openxmlformats.org/drawingml/2006/main">
            <a:r>
              <a:t>| 2 | 数据、材料、评价指标和使用限制说明 | □ |</a:t>
            </a:r>
          </a:p>
          <a:p xmlns:a="http://schemas.openxmlformats.org/drawingml/2006/main">
            <a:r>
              <a:t>| 3 | 环境、配置、随机种子或等价复现条件 | □ |</a:t>
            </a:r>
          </a:p>
          <a:p xmlns:a="http://schemas.openxmlformats.org/drawingml/2006/main">
            <a:r>
              <a:t>| 4 | ≥2 条研究判断（取舍理由、适用边界、依据、待验证状态） | □ |</a:t>
            </a:r>
          </a:p>
          <a:p xmlns:a="http://schemas.openxmlformats.org/drawingml/2006/main">
            <a:r>
              <a:t>| 5 | 实验规格完整（假设对应、变量、步骤、度量、对照、停止条件） | □ |</a:t>
            </a:r>
          </a:p>
          <a:p xmlns:a="http://schemas.openxmlformats.org/drawingml/2006/main">
            <a:r>
              <a:t>| 6 | 第 8 课同伴反馈处理记录 | □ |</a:t>
            </a:r>
          </a:p>
          <a:p xmlns:a="http://schemas.openxmlformats.org/drawingml/2006/main">
            <a:r>
              <a:t>| 7 | 当前最大风险和失败预案 | □ |</a:t>
            </a:r>
          </a:p>
          <a:p xmlns:a="http://schemas.openxmlformats.org/drawingml/2006/main">
            <a:r>
              <a:t>| 8 | 已遇执行失败或已放弃备选：发生条件、处理、回写 | □ |</a:t>
            </a:r>
          </a:p>
          <a:p xmlns:a="http://schemas.openxmlformats.org/drawingml/2006/main">
            <a:r>
              <a:t>| 9 | 迁移到完整项目模板，不丢失 AI 使用记录和伦理说明 | □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第 1-8 课产出已是项目一部分，本课补全第 1-3、5、7、8 项，整理第 4、6、9 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快速说明 9 项门条件与 assignments.md 一一对应。第 8 项记录已经发生的执行失败或已经放弃的备选方案，不能由第 7 项前瞻失败预案替代；第 9 项为模板迁移。判断门检查当前项目版本，不重新制作材料。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让学生对照清单，标注当前项目哪些已满足、哪些待补全。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[assignments.md](../../course/assignments.md) Checkpoint 2 判断门条件（权威来源）；[project-template.md](../../course/project-template.md) 字段模板。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J2 把 baseline 取舍和同伴反馈写进判断记录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**J2 第二条研究判断**：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字段 | 内容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判断内容 | 自由摘要作朴素 baseline |</a:t>
            </a:r>
          </a:p>
          <a:p xmlns:a="http://schemas.openxmlformats.org/drawingml/2006/main">
            <a:r>
              <a:t>| 取舍理由 | 强基线需外部 prompt 集，超出周期 |</a:t>
            </a:r>
          </a:p>
          <a:p xmlns:a="http://schemas.openxmlformats.org/drawingml/2006/main">
            <a:r>
              <a:t>| 适用边界 | 只比较字段约束 vs 无约束 |</a:t>
            </a:r>
          </a:p>
          <a:p xmlns:a="http://schemas.openxmlformats.org/drawingml/2006/main">
            <a:r>
              <a:t>| 依据 | 第 8 课反馈 + 可定位原文原则 |</a:t>
            </a:r>
          </a:p>
          <a:p xmlns:a="http://schemas.openxmlformats.org/drawingml/2006/main">
            <a:r>
              <a:t>| 待验证状态 | 强基线留作后续验证 |</a:t>
            </a:r>
          </a:p>
          <a:p xmlns:a="http://schemas.openxmlformats.org/drawingml/2006/main">
            <a:r>
              <a:t>| 影响工件 | 实验规格 §对照、§失败预案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**同伴反馈处理**：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"增加强 baseline" → 保留异议（J2 记录当前周期约束与后续条件）</a:t>
            </a:r>
          </a:p>
          <a:p xmlns:a="http://schemas.openxmlformats.org/drawingml/2006/main">
            <a:r>
              <a:t>- "报告方差" → 采纳（已写入实验规格 3 次运行与标准差）</a:t>
            </a:r>
          </a:p>
          <a:p xmlns:a="http://schemas.openxmlformats.org/drawingml/2006/main">
            <a:r>
              <a:t>- "样本量过小" → 暂缓（标记为待验证项，结论将标注"小样本下的初步证据"）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处理动作按真实反馈选择，记录理由与回写位置；不要求出现拒绝。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演示如何把第 8 课同伴反馈变成判断门可检查的材料。重点是真实处理、理由和回写位置，不是覆盖机械分类。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让学生用自己的同伴反馈尝试同样的归档。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§七 贯穿案例第四至六步；第 8 课同伴反馈记录。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个人实践：启动判断门材料的最小闭环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课堂最低闭环：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 baseline，标明类型（朴素/强/消融）与公平性</a:t>
            </a:r>
          </a:p>
          <a:p xmlns:a="http://schemas.openxmlformats.org/drawingml/2006/main">
            <a:r>
              <a:t>2. 补足一条可重运行记录：输入版本、环境与配置、执行指令或等价步骤、输出路径、种子或等价条件、实际结果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课后补全：七字段规格、J2、反馈处理、已遇失败记录、九项自查与模板迁移。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选择顺序：本人真实项目 → 贯穿案例（自由摘要 vs 阅读卡摘要）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写入位置：`experiment-spec.md`、`hypothesis-and-judgment.md`、`peer-review.md`、`failure-log.md`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没有真实课题的学生沿用贯穿案例，但要求改换问题表述或子问题分解，避免与教师演示完全重复。验收标准：baseline 标明类型与公平性；七字段填满；复现说明齐到种子或等价条件；重复计划与主张强度相匹配；J2 六字段；同伴反馈逐条处理；已遇失败事实与前瞻预案分开；模板迁移 AI 使用记录不丢失；门条件自查逐项标注。教师巡视只处理共同卡点，不逐台排障。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40:00-42:00 说明任务；42:00-60:00 将本页或 P18 停留在屏幕上，保证完整 20 分钟课堂实践。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[project-template.md](../../course/project-template.md) 字段模板；第 7-8 课项目工件。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当堂练习与判断门分开核对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§二、Baseline 选择与公平性；三、实验规格完善；四、可复现性；七、贯穿案例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当堂：一项 baseline 公平性修订 + 一条可重运行记录。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课后：补齐本人实验规格、复现说明、反馈处理与模板迁移。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判断门：仍按九项完整条件检查本人项目。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教师包完成只证明学生练过方法。若没有个人项目结果，必须在退出条目写出迁移缺口，不把课堂截图当正式提交证据。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记录“已完成什么、本人项目还缺什么、补到哪个文件”。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同伴只按门条件提问题，作者保留决定权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2-3 人互查，按 9 项门条件逐项检查：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baseline 标明类型与公平性了吗？还是任意对比组？</a:t>
            </a:r>
          </a:p>
          <a:p xmlns:a="http://schemas.openxmlformats.org/drawingml/2006/main">
            <a:r>
              <a:t>2. 复现说明齐到种子了吗？还是只记了环境？</a:t>
            </a:r>
          </a:p>
          <a:p xmlns:a="http://schemas.openxmlformats.org/drawingml/2006/main">
            <a:r>
              <a:t>3. 种子或等价复现条件可追溯吗？重复计划能支撑你要声称的强度吗？</a:t>
            </a:r>
          </a:p>
          <a:p xmlns:a="http://schemas.openxmlformats.org/drawingml/2006/main">
            <a:r>
              <a:t>4. 停止条件预先写明了吗？还是"跑到显著为止"？</a:t>
            </a:r>
          </a:p>
          <a:p xmlns:a="http://schemas.openxmlformats.org/drawingml/2006/main">
            <a:r>
              <a:t>5. J2 六字段完整吗？适用边界写了吗？</a:t>
            </a:r>
          </a:p>
          <a:p xmlns:a="http://schemas.openxmlformats.org/drawingml/2006/main">
            <a:r>
              <a:t>6. 同伴反馈是否根据真实理由选择了处理动作，并记录回写位置？</a:t>
            </a:r>
          </a:p>
          <a:p xmlns:a="http://schemas.openxmlformats.org/drawingml/2006/main">
            <a:r>
              <a:t>7. 当前最大风险是否有一条直接对应、可执行且保留失败记录的预案？</a:t>
            </a:r>
          </a:p>
          <a:p xmlns:a="http://schemas.openxmlformats.org/drawingml/2006/main">
            <a:r>
              <a:t>8. 是否有一条已经发生的失败/放弃备选记录，而不只是未来预案？</a:t>
            </a:r>
          </a:p>
          <a:p xmlns:a="http://schemas.openxmlformats.org/drawingml/2006/main">
            <a:r>
              <a:t>9. 模板迁移丢失了 AI 使用记录或伦理说明吗？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作者按需选择：采纳／澄清／补证／保留异议／暂缓。不要求五类齐全，也不机械要求拒绝。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同伴互查只提问题；作者保留修改决定权。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每人约 3-5 分钟：一人用 45 秒说明 baseline 选择、实验规格七字段和同伴反馈处理；同伴按门条件逐项检查。反馈不要求立即改写。反馈者不替代作者修改，不形成共同提交。人数为奇数时组成三人组，每人缩短说明时间。重点检查第 1-3、5、7、8 项（本课产出），其他项只确认已存在。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60:00-78:00 同伴互查。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公平 baseline → 实验规格 → 复现记录 → 判断门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比较对象与预算必须可解释；</a:t>
            </a:r>
          </a:p>
          <a:p xmlns:a="http://schemas.openxmlformats.org/drawingml/2006/main">
            <a:r>
              <a:t>- 假设、变量、指标、对照与停止条件齐全；</a:t>
            </a:r>
          </a:p>
          <a:p xmlns:a="http://schemas.openxmlformats.org/drawingml/2006/main">
            <a:r>
              <a:t>- 环境、配置、随机种子与数据可追溯；</a:t>
            </a:r>
          </a:p>
          <a:p xmlns:a="http://schemas.openxmlformats.org/drawingml/2006/main">
            <a:r>
              <a:t>- 把规格、判断、反馈与风险绑定到当前版本。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能运行不等于公平、可复现或足以支持研究判断。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回收 baseline、公平性、实验规格、复现记录和判断门的关系。本页不替代下一页提交说明。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学生指出自己最可能缺失的是公平性、停止条件还是复现字段。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§二-§六；[assignments.md](../../course/assignments.md) Checkpoint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提交当前项目版本，并把规格交给第 10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**提交方式**：</a:t>
            </a:r>
          </a:p>
          <a:p xmlns:a="http://schemas.openxmlformats.org/drawingml/2006/main">
            <a:r>
              <a:t>提交指向当前个人项目版本的链接、tag 或压缩包。不重复制作与项目仓库分离的汇报文档。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**未通过时**：</a:t>
            </a:r>
          </a:p>
          <a:p xmlns:a="http://schemas.openxmlformats.org/drawingml/2006/main">
            <a:r>
              <a:t>回到对应工件修改，一周内重新检查。根因定位细项见教师备注和讲义。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 10 课输入**：</a:t>
            </a:r>
          </a:p>
          <a:p xmlns:a="http://schemas.openxmlformats.org/drawingml/2006/main">
            <a:r>
              <a:t>交付当前 baseline 判断与可重运行记录，标出“拟用 Agent 的步骤”和“必须人工确认的步骤”。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**退出卡**：</a:t>
            </a:r>
          </a:p>
          <a:p xmlns:a="http://schemas.openxmlformats.org/drawingml/2006/main">
            <a:r>
              <a:t>哪一项门条件最可能不通过？你的下一个最小动作是什么？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本课产出（experiment-spec 七字段 + 复现说明 + J2 + 同伴反馈处理 + 已遇失败记录）是第 10 课的直接输入。实验规格中"哪些步骤拟用 Agent、哪些步骤必须人工"将在第 10 课展开。课后提交判断门材料包。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回扣本课目标与课后补全边界。根因定位细项、阅读清单与精读卡保存要求不再投屏，由教师口头说明并引导学生回到讲义和 reading-list.md。核心阅读为 Wilson et al.；Pineau et al.、ACM Artifact Review and Badging v1.1 与 Bouthillier et al. 为任选。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学生提交退出卡或保存在个人项目。教师收集共性问题，用于第 10 课前调整。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- Wilson, G. et al. *PLOS Computational Biology* 13(6):e1005510 (2017). DOI: [10.1371/journal.pcbi.1005510](https://journals.plos.org/ploscompbiol/article?id=10.1371/journal.pcbi.1005510)。</a:t>
            </a:r>
          </a:p>
          <a:p xmlns:a="http://schemas.openxmlformats.org/drawingml/2006/main">
            <a:r>
              <a:t>- Pineau, J. et al. *JMLR* 22(164), 1–20 (2021). [JMLR 正式页面](https://www.jmlr.org/papers/v22/20-303.html)。</a:t>
            </a:r>
          </a:p>
          <a:p xmlns:a="http://schemas.openxmlformats.org/drawingml/2006/main">
            <a:r>
              <a:t>- ACM. *Artifact Review and Badging, Version 1.1* (2020). [官方页面](https://www.acm.org/publications/policies/artifact-review-and-badging-current)。</a:t>
            </a:r>
          </a:p>
          <a:p xmlns:a="http://schemas.openxmlformats.org/drawingml/2006/main">
            <a:r>
              <a:t>- Bouthillier, X. et al. *MLSys* 3 (2021). [MLSys 正式页面](https://proceedings.mlsys.org/paper_files/paper/2021/hash/0184b0cd3cfb185989f858a1d9f5c1eb-Abstract.html)。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>- 判断门条件见 [assignments.md](../../course/assignments.md) Checkpoint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https://journals.plos.org/ploscompbiol/article?id=10.1371/journal.pcbi.1005510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https://www.jmlr.org/papers/v22/20-303.html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https://www.acm.org/publications/policies/artifact-review-and-badging-current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https://proceedings.mlsys.org/paper_files/paper/2021/hash/0184b0cd3cfb185989f858a1d9f5c1eb-Abstract.html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f75cc2b9b423b" /><Relationship Type="http://schemas.openxmlformats.org/officeDocument/2006/relationships/image" Target="/ppt/media/image.png" Id="Rd406fca4dd074686" /><Relationship Type="http://schemas.openxmlformats.org/officeDocument/2006/relationships/image" Target="/ppt/media/image2.png" Id="R922af8451d434124" /><Relationship Type="http://schemas.openxmlformats.org/officeDocument/2006/relationships/image" Target="/ppt/media/image3.png" Id="Rf87592e0d08f4515" /><Relationship Type="http://schemas.openxmlformats.org/officeDocument/2006/relationships/image" Target="/ppt/media/image4.png" Id="R1d0afff3e18b48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22d1566f84d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0c9a6dbf9407d" /><Relationship Type="http://schemas.openxmlformats.org/officeDocument/2006/relationships/image" Target="/ppt/media/image2.png" Id="Rf7a46ed16a35406c" /><Relationship Type="http://schemas.openxmlformats.org/officeDocument/2006/relationships/image" Target="/ppt/media/image5.png" Id="R2e6b1f7382ae49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347daf1e24f82" /><Relationship Type="http://schemas.openxmlformats.org/officeDocument/2006/relationships/image" Target="/ppt/media/image.png" Id="Rf96627a91405425b" /><Relationship Type="http://schemas.openxmlformats.org/officeDocument/2006/relationships/image" Target="/ppt/media/image3.png" Id="Ra4e4776aeaa54141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6fca4dd074686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2af8451d434124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7592e0d08f451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afff3e18b484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a46ed16a35406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b1f7382ae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627a91405425b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e4776aeaa54141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bc15f6c2147cf" /><Relationship Type="http://schemas.openxmlformats.org/officeDocument/2006/relationships/slideLayout" Target="/ppt/slideLayouts/slideLayout1.xml" Id="Rf0a4b49132204a01" /><Relationship Type="http://schemas.openxmlformats.org/officeDocument/2006/relationships/slideLayout" Target="/ppt/slideLayouts/slideLayout2.xml" Id="R8d6aac90005d4068" /><Relationship Type="http://schemas.openxmlformats.org/officeDocument/2006/relationships/slideLayout" Target="/ppt/slideLayouts/slideLayout3.xml" Id="Rb576835a0e1c4af8" /><Relationship Type="http://schemas.openxmlformats.org/officeDocument/2006/relationships/slideLayout" Target="/ppt/slideLayouts/slideLayout4.xml" Id="Rae3b35460ec7408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4b49132204a01"/>
    <p:sldLayoutId xmlns:r="http://schemas.openxmlformats.org/officeDocument/2006/relationships" id="2147483650" r:id="R8d6aac90005d4068"/>
    <p:sldLayoutId xmlns:r="http://schemas.openxmlformats.org/officeDocument/2006/relationships" id="2147483651" r:id="Rb576835a0e1c4af8"/>
    <p:sldLayoutId xmlns:r="http://schemas.openxmlformats.org/officeDocument/2006/relationships" id="2147483652" r:id="Rae3b35460ec7408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d09558c6a43e9" /><Relationship Type="http://schemas.openxmlformats.org/officeDocument/2006/relationships/notesSlide" Target="/ppt/notesSlides/notesSlide1.xml" Id="R5c7546973ee8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120ac9393c4cd3" /><Relationship Type="http://schemas.openxmlformats.org/officeDocument/2006/relationships/notesSlide" Target="/ppt/notesSlides/notesSlide2.xml" Id="Rc68997c068a6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1fa59c47e94fa7" /><Relationship Type="http://schemas.openxmlformats.org/officeDocument/2006/relationships/notesSlide" Target="/ppt/notesSlides/notesSlide3.xml" Id="Rd08d168924c8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0ee96e27a7419b" /><Relationship Type="http://schemas.openxmlformats.org/officeDocument/2006/relationships/notesSlide" Target="/ppt/notesSlides/notesSlide4.xml" Id="R9531d6e5bfd245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ece6d8a069442a" /><Relationship Type="http://schemas.openxmlformats.org/officeDocument/2006/relationships/notesSlide" Target="/ppt/notesSlides/notesSlide5.xml" Id="Rce536b5d4c1c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40a44056e040a2" /><Relationship Type="http://schemas.openxmlformats.org/officeDocument/2006/relationships/notesSlide" Target="/ppt/notesSlides/notesSlide6.xml" Id="R9cd45fa5dbc443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b5135ab614493c" /><Relationship Type="http://schemas.openxmlformats.org/officeDocument/2006/relationships/notesSlide" Target="/ppt/notesSlides/notesSlide7.xml" Id="R367e5737457c4e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8c87ec26d3434a" /><Relationship Type="http://schemas.openxmlformats.org/officeDocument/2006/relationships/notesSlide" Target="/ppt/notesSlides/notesSlide8.xml" Id="Re6ec10753a51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82c3c468364c23" /><Relationship Type="http://schemas.openxmlformats.org/officeDocument/2006/relationships/notesSlide" Target="/ppt/notesSlides/notesSlide9.xml" Id="R7a15a4e25d5e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f49a2d99b24b87" /><Relationship Type="http://schemas.openxmlformats.org/officeDocument/2006/relationships/notesSlide" Target="/ppt/notesSlides/notesSlide10.xml" Id="R1166d2e1a3dc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77763234bd4bf0" /><Relationship Type="http://schemas.openxmlformats.org/officeDocument/2006/relationships/notesSlide" Target="/ppt/notesSlides/notesSlide11.xml" Id="R0233bc37c8b149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4180ad46c541f1" /><Relationship Type="http://schemas.openxmlformats.org/officeDocument/2006/relationships/notesSlide" Target="/ppt/notesSlides/notesSlide12.xml" Id="Rd88c7440d9de46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6fe9fd109b4319" /><Relationship Type="http://schemas.openxmlformats.org/officeDocument/2006/relationships/notesSlide" Target="/ppt/notesSlides/notesSlide13.xml" Id="Rc5264096358e40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930329b77a4c49" /><Relationship Type="http://schemas.openxmlformats.org/officeDocument/2006/relationships/notesSlide" Target="/ppt/notesSlides/notesSlide14.xml" Id="R74b8447e8367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f0dc98441a40c4" /><Relationship Type="http://schemas.openxmlformats.org/officeDocument/2006/relationships/notesSlide" Target="/ppt/notesSlides/notesSlide15.xml" Id="R07666d0ca59241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2bb70b24a14df3" /><Relationship Type="http://schemas.openxmlformats.org/officeDocument/2006/relationships/notesSlide" Target="/ppt/notesSlides/notesSlide16.xml" Id="Rbfa2933772364b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c417425c1d4aa5" /><Relationship Type="http://schemas.openxmlformats.org/officeDocument/2006/relationships/notesSlide" Target="/ppt/notesSlides/notesSlide17.xml" Id="R19d645f7c28d4b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531a90694c4b2b" /><Relationship Type="http://schemas.openxmlformats.org/officeDocument/2006/relationships/notesSlide" Target="/ppt/notesSlides/notesSlide18.xml" Id="R75ab0e5a0f8249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6c0bc29eda4725" /><Relationship Type="http://schemas.openxmlformats.org/officeDocument/2006/relationships/notesSlide" Target="/ppt/notesSlides/notesSlide19.xml" Id="Rffb1322203f447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abb463e39b48b3" /><Relationship Type="http://schemas.openxmlformats.org/officeDocument/2006/relationships/notesSlide" Target="/ppt/notesSlides/notesSlide20.xml" Id="Rc81f9a45119541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4634f003e74a3c" /><Relationship Type="http://schemas.openxmlformats.org/officeDocument/2006/relationships/notesSlide" Target="/ppt/notesSlides/notesSlide21.xml" Id="Refdb434e3e7a41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6153E53-24B4-4875-A7E0-45C16E6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第9讲  Baseline、实验规格与可复现实验工程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7-8 课之后，草图离判断门还差七项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uilt">
            <a:extLst xmlns:a="http://schemas.openxmlformats.org/drawingml/2006/main">
              <a:ext uri="{FF2B5EF4-FFF2-40B4-BE49-F238E27FC236}">
                <a16:creationId xmlns:a16="http://schemas.microsoft.com/office/drawing/2014/main" id="{484FF47C-4DDA-4205-B95F-622859A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已有 4 个对象</a:t>
            </a:r>
          </a:p>
        </p:txBody>
      </p:sp>
      <p:sp>
        <p:nvSpPr>
          <p:cNvPr id="7" name="built-l-0">
            <a:extLst xmlns:a="http://schemas.openxmlformats.org/drawingml/2006/main">
              <a:ext uri="{FF2B5EF4-FFF2-40B4-BE49-F238E27FC236}">
                <a16:creationId xmlns:a16="http://schemas.microsoft.com/office/drawing/2014/main" id="{929AE395-109B-45ED-B1DD-C51C098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机制与替代列表</a:t>
            </a:r>
          </a:p>
        </p:txBody>
      </p:sp>
      <p:sp>
        <p:nvSpPr>
          <p:cNvPr id="8" name="built-l-1">
            <a:extLst xmlns:a="http://schemas.openxmlformats.org/drawingml/2006/main">
              <a:ext uri="{FF2B5EF4-FFF2-40B4-BE49-F238E27FC236}">
                <a16:creationId xmlns:a16="http://schemas.microsoft.com/office/drawing/2014/main" id="{2B5B82C6-DFEE-4A6D-AE49-9046868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研究判断 J1</a:t>
            </a:r>
          </a:p>
        </p:txBody>
      </p:sp>
      <p:sp>
        <p:nvSpPr>
          <p:cNvPr id="9" name="built-l-2">
            <a:extLst xmlns:a="http://schemas.openxmlformats.org/drawingml/2006/main">
              <a:ext uri="{FF2B5EF4-FFF2-40B4-BE49-F238E27FC236}">
                <a16:creationId xmlns:a16="http://schemas.microsoft.com/office/drawing/2014/main" id="{CD7884CC-9967-42F5-BE1A-833C66C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变量清单草图</a:t>
            </a:r>
          </a:p>
        </p:txBody>
      </p:sp>
      <p:sp>
        <p:nvSpPr>
          <p:cNvPr id="10" name="built-l-3">
            <a:extLst xmlns:a="http://schemas.openxmlformats.org/drawingml/2006/main">
              <a:ext uri="{FF2B5EF4-FFF2-40B4-BE49-F238E27FC236}">
                <a16:creationId xmlns:a16="http://schemas.microsoft.com/office/drawing/2014/main" id="{79958574-20CB-44A0-83FE-E0597A1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同伴反馈记录</a:t>
            </a:r>
          </a:p>
        </p:txBody>
      </p:sp>
      <p:sp>
        <p:nvSpPr>
          <p:cNvPr id="11" name="gap-a">
            <a:extLst xmlns:a="http://schemas.openxmlformats.org/drawingml/2006/main">
              <a:ext uri="{FF2B5EF4-FFF2-40B4-BE49-F238E27FC236}">
                <a16:creationId xmlns:a16="http://schemas.microsoft.com/office/drawing/2014/main" id="{BF200CBF-DA9A-47C2-B327-A8B175A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target-bg">
            <a:extLst xmlns:a="http://schemas.openxmlformats.org/drawingml/2006/main">
              <a:ext uri="{FF2B5EF4-FFF2-40B4-BE49-F238E27FC236}">
                <a16:creationId xmlns:a16="http://schemas.microsoft.com/office/drawing/2014/main" id="{5C7EF94B-6C22-451C-8BF1-5706B5A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3" name="target">
            <a:extLst xmlns:a="http://schemas.openxmlformats.org/drawingml/2006/main">
              <a:ext uri="{FF2B5EF4-FFF2-40B4-BE49-F238E27FC236}">
                <a16:creationId xmlns:a16="http://schemas.microsoft.com/office/drawing/2014/main" id="{DF3F618F-3E94-4DD3-BC5B-82312C1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765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判断门材料初版</a:t>
            </a:r>
          </a:p>
        </p:txBody>
      </p:sp>
      <p:sp>
        <p:nvSpPr>
          <p:cNvPr id="14" name="gap-b">
            <a:extLst xmlns:a="http://schemas.openxmlformats.org/drawingml/2006/main">
              <a:ext uri="{FF2B5EF4-FFF2-40B4-BE49-F238E27FC236}">
                <a16:creationId xmlns:a16="http://schemas.microsoft.com/office/drawing/2014/main" id="{6695D138-DBAB-45A5-8626-86EC30E7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missing">
            <a:extLst xmlns:a="http://schemas.openxmlformats.org/drawingml/2006/main">
              <a:ext uri="{FF2B5EF4-FFF2-40B4-BE49-F238E27FC236}">
                <a16:creationId xmlns:a16="http://schemas.microsoft.com/office/drawing/2014/main" id="{DF4C4C33-9C74-4BAD-925B-66ABC41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95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还差 7 项</a:t>
            </a:r>
          </a:p>
        </p:txBody>
      </p:sp>
      <p:sp>
        <p:nvSpPr>
          <p:cNvPr id="16" name="missing-l-0">
            <a:extLst xmlns:a="http://schemas.openxmlformats.org/drawingml/2006/main">
              <a:ext uri="{FF2B5EF4-FFF2-40B4-BE49-F238E27FC236}">
                <a16:creationId xmlns:a16="http://schemas.microsoft.com/office/drawing/2014/main" id="{90AB0F4F-4C6F-470B-A189-BF68EAF7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公平 baseline</a:t>
            </a:r>
          </a:p>
        </p:txBody>
      </p:sp>
      <p:sp>
        <p:nvSpPr>
          <p:cNvPr id="17" name="missing-l-1">
            <a:extLst xmlns:a="http://schemas.openxmlformats.org/drawingml/2006/main">
              <a:ext uri="{FF2B5EF4-FFF2-40B4-BE49-F238E27FC236}">
                <a16:creationId xmlns:a16="http://schemas.microsoft.com/office/drawing/2014/main" id="{5CA97700-52A6-4D6C-A92E-3833286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907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停止／随机／失败预案</a:t>
            </a:r>
          </a:p>
        </p:txBody>
      </p:sp>
      <p:sp>
        <p:nvSpPr>
          <p:cNvPr id="18" name="missing-l-2">
            <a:extLst xmlns:a="http://schemas.openxmlformats.org/drawingml/2006/main">
              <a:ext uri="{FF2B5EF4-FFF2-40B4-BE49-F238E27FC236}">
                <a16:creationId xmlns:a16="http://schemas.microsoft.com/office/drawing/2014/main" id="{414A74AE-7EF0-4DC0-A13F-ACAF052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种子与环境</a:t>
            </a:r>
          </a:p>
        </p:txBody>
      </p:sp>
      <p:sp>
        <p:nvSpPr>
          <p:cNvPr id="19" name="missing-l-3">
            <a:extLst xmlns:a="http://schemas.openxmlformats.org/drawingml/2006/main">
              <a:ext uri="{FF2B5EF4-FFF2-40B4-BE49-F238E27FC236}">
                <a16:creationId xmlns:a16="http://schemas.microsoft.com/office/drawing/2014/main" id="{94E849EF-A126-464F-BCED-7ACE9287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194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反馈逐条处理</a:t>
            </a:r>
          </a:p>
        </p:txBody>
      </p:sp>
      <p:sp>
        <p:nvSpPr>
          <p:cNvPr id="20" name="missing-l-4">
            <a:extLst xmlns:a="http://schemas.openxmlformats.org/drawingml/2006/main">
              <a:ext uri="{FF2B5EF4-FFF2-40B4-BE49-F238E27FC236}">
                <a16:creationId xmlns:a16="http://schemas.microsoft.com/office/drawing/2014/main" id="{FCB4BA63-59D4-4C85-BE36-7A9C31D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337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第二条判断</a:t>
            </a:r>
          </a:p>
        </p:txBody>
      </p:sp>
      <p:sp>
        <p:nvSpPr>
          <p:cNvPr id="21" name="missing-l-5">
            <a:extLst xmlns:a="http://schemas.openxmlformats.org/drawingml/2006/main">
              <a:ext uri="{FF2B5EF4-FFF2-40B4-BE49-F238E27FC236}">
                <a16:creationId xmlns:a16="http://schemas.microsoft.com/office/drawing/2014/main" id="{11ACF88F-98DA-487A-AFC1-05AA4F5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已遇失败记录</a:t>
            </a:r>
          </a:p>
        </p:txBody>
      </p:sp>
      <p:sp>
        <p:nvSpPr>
          <p:cNvPr id="22" name="missing-l-6">
            <a:extLst xmlns:a="http://schemas.openxmlformats.org/drawingml/2006/main">
              <a:ext uri="{FF2B5EF4-FFF2-40B4-BE49-F238E27FC236}">
                <a16:creationId xmlns:a16="http://schemas.microsoft.com/office/drawing/2014/main" id="{B5ADE526-9611-41DD-BB2A-E98862D9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完整模板迁移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本课产出是可复现的判断门材料初版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artifact1-bg">
            <a:extLst xmlns:a="http://schemas.openxmlformats.org/drawingml/2006/main">
              <a:ext uri="{FF2B5EF4-FFF2-40B4-BE49-F238E27FC236}">
                <a16:creationId xmlns:a16="http://schemas.microsoft.com/office/drawing/2014/main" id="{02AB48E0-2F37-47CF-89A7-87A0DA6F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artifact1">
            <a:extLst xmlns:a="http://schemas.openxmlformats.org/drawingml/2006/main">
              <a:ext uri="{FF2B5EF4-FFF2-40B4-BE49-F238E27FC236}">
                <a16:creationId xmlns:a16="http://schemas.microsoft.com/office/drawing/2014/main" id="{6B8494F4-F1DF-41FF-9AD5-B00A077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3790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课堂最低产出 1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一条公平 baseline 判断</a:t>
            </a:r>
          </a:p>
        </p:txBody>
      </p:sp>
      <p:sp>
        <p:nvSpPr>
          <p:cNvPr id="8" name="artifact2-bg">
            <a:extLst xmlns:a="http://schemas.openxmlformats.org/drawingml/2006/main">
              <a:ext uri="{FF2B5EF4-FFF2-40B4-BE49-F238E27FC236}">
                <a16:creationId xmlns:a16="http://schemas.microsoft.com/office/drawing/2014/main" id="{ABF783D5-9926-40A4-9C39-B329778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9" name="artifact2">
            <a:extLst xmlns:a="http://schemas.openxmlformats.org/drawingml/2006/main">
              <a:ext uri="{FF2B5EF4-FFF2-40B4-BE49-F238E27FC236}">
                <a16:creationId xmlns:a16="http://schemas.microsoft.com/office/drawing/2014/main" id="{0304CA44-59F1-4958-8908-281BFAA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09750"/>
            <a:ext cx="3790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课堂最低产出 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一条可重运行记录</a:t>
            </a:r>
          </a:p>
        </p:txBody>
      </p:sp>
      <p:sp>
        <p:nvSpPr>
          <p:cNvPr id="10" name="home">
            <a:extLst xmlns:a="http://schemas.openxmlformats.org/drawingml/2006/main">
              <a:ext uri="{FF2B5EF4-FFF2-40B4-BE49-F238E27FC236}">
                <a16:creationId xmlns:a16="http://schemas.microsoft.com/office/drawing/2014/main" id="{DB1541FF-48C5-4CDE-8FEA-A417FB5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课后补全七字段规格、J2、反馈处理、失败记录、九项自查与模板迁移</a:t>
            </a:r>
          </a:p>
        </p:txBody>
      </p:sp>
      <p:sp>
        <p:nvSpPr>
          <p:cNvPr id="11" name="submit">
            <a:extLst xmlns:a="http://schemas.openxmlformats.org/drawingml/2006/main">
              <a:ext uri="{FF2B5EF4-FFF2-40B4-BE49-F238E27FC236}">
                <a16:creationId xmlns:a16="http://schemas.microsoft.com/office/drawing/2014/main" id="{203A3256-9B5A-47BE-9E1C-3381401D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正式提交条件以 assignments.md 为准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baseline 为结果比较提供参照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245">
            <a:extLst xmlns:a="http://schemas.openxmlformats.org/drawingml/2006/main">
              <a:ext uri="{FF2B5EF4-FFF2-40B4-BE49-F238E27FC236}">
                <a16:creationId xmlns:a16="http://schemas.microsoft.com/office/drawing/2014/main" id="{1ED566E3-E26D-4D2E-A090-A36DD48E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同一研究问题 → 合理的比较对象</a:t>
            </a:r>
          </a:p>
        </p:txBody>
      </p:sp>
      <p:sp>
        <p:nvSpPr>
          <p:cNvPr id="7" name="content-246">
            <a:extLst xmlns:a="http://schemas.openxmlformats.org/drawingml/2006/main">
              <a:ext uri="{FF2B5EF4-FFF2-40B4-BE49-F238E27FC236}">
                <a16:creationId xmlns:a16="http://schemas.microsoft.com/office/drawing/2014/main" id="{F6BF1B8E-318D-48AA-9C11-539A327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同一评价口径 → 可解释的结果差异</a:t>
            </a:r>
          </a:p>
        </p:txBody>
      </p:sp>
      <p:sp>
        <p:nvSpPr>
          <p:cNvPr id="8" name="content-247">
            <a:extLst xmlns:a="http://schemas.openxmlformats.org/drawingml/2006/main">
              <a:ext uri="{FF2B5EF4-FFF2-40B4-BE49-F238E27FC236}">
                <a16:creationId xmlns:a16="http://schemas.microsoft.com/office/drawing/2014/main" id="{BF36A495-751A-426C-AE93-53DC0402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两组有差异，仍需排查混杂。</a:t>
            </a:r>
          </a:p>
        </p:txBody>
      </p:sp>
      <p:sp>
        <p:nvSpPr>
          <p:cNvPr id="9" name="content-248">
            <a:extLst xmlns:a="http://schemas.openxmlformats.org/drawingml/2006/main">
              <a:ext uri="{FF2B5EF4-FFF2-40B4-BE49-F238E27FC236}">
                <a16:creationId xmlns:a16="http://schemas.microsoft.com/office/drawing/2014/main" id="{A239893C-761E-4A1B-B74E-BDC92C90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一个 baseline 通常不能单独证明机制。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对照公平性：五项审计问题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249">
            <a:extLst xmlns:a="http://schemas.openxmlformats.org/drawingml/2006/main">
              <a:ext uri="{FF2B5EF4-FFF2-40B4-BE49-F238E27FC236}">
                <a16:creationId xmlns:a16="http://schemas.microsoft.com/office/drawing/2014/main" id="{45D2B82A-A4B0-4BF6-96DF-A52251A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数据与任务是否可比？</a:t>
            </a:r>
          </a:p>
        </p:txBody>
      </p:sp>
      <p:sp>
        <p:nvSpPr>
          <p:cNvPr id="7" name="content-250">
            <a:extLst xmlns:a="http://schemas.openxmlformats.org/drawingml/2006/main">
              <a:ext uri="{FF2B5EF4-FFF2-40B4-BE49-F238E27FC236}">
                <a16:creationId xmlns:a16="http://schemas.microsoft.com/office/drawing/2014/main" id="{8C047AAE-5F0D-4595-98FB-0F6825E7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资源与调参机会是否合理？</a:t>
            </a:r>
          </a:p>
        </p:txBody>
      </p:sp>
      <p:sp>
        <p:nvSpPr>
          <p:cNvPr id="8" name="content-251">
            <a:extLst xmlns:a="http://schemas.openxmlformats.org/drawingml/2006/main">
              <a:ext uri="{FF2B5EF4-FFF2-40B4-BE49-F238E27FC236}">
                <a16:creationId xmlns:a16="http://schemas.microsoft.com/office/drawing/2014/main" id="{D5C36FA1-41D7-44E9-BA5F-F0AB5BE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评价协议是否一致？</a:t>
            </a:r>
          </a:p>
        </p:txBody>
      </p:sp>
      <p:sp>
        <p:nvSpPr>
          <p:cNvPr id="9" name="content-252">
            <a:extLst xmlns:a="http://schemas.openxmlformats.org/drawingml/2006/main">
              <a:ext uri="{FF2B5EF4-FFF2-40B4-BE49-F238E27FC236}">
                <a16:creationId xmlns:a16="http://schemas.microsoft.com/office/drawing/2014/main" id="{A6E4E171-0E64-4FF2-871F-DF91557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运行与停止规则是否预先约定？</a:t>
            </a:r>
          </a:p>
        </p:txBody>
      </p:sp>
      <p:sp>
        <p:nvSpPr>
          <p:cNvPr id="10" name="content-253">
            <a:extLst xmlns:a="http://schemas.openxmlformats.org/drawingml/2006/main">
              <a:ext uri="{FF2B5EF4-FFF2-40B4-BE49-F238E27FC236}">
                <a16:creationId xmlns:a16="http://schemas.microsoft.com/office/drawing/2014/main" id="{DE34A2EE-9F17-4E50-BF48-15F64E2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双方失败是否完整保留？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五类不公平做法都会把偏倚写成效应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bias-shade0">
            <a:extLst xmlns:a="http://schemas.openxmlformats.org/drawingml/2006/main">
              <a:ext uri="{FF2B5EF4-FFF2-40B4-BE49-F238E27FC236}">
                <a16:creationId xmlns:a16="http://schemas.microsoft.com/office/drawing/2014/main" id="{A9F53084-7009-4EB8-B89F-D4F98907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bias-l0">
            <a:extLst xmlns:a="http://schemas.openxmlformats.org/drawingml/2006/main">
              <a:ext uri="{FF2B5EF4-FFF2-40B4-BE49-F238E27FC236}">
                <a16:creationId xmlns:a16="http://schemas.microsoft.com/office/drawing/2014/main" id="{B86F110C-E6C4-41BA-96D8-7357A5F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3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数据不一致</a:t>
            </a:r>
          </a:p>
        </p:txBody>
      </p:sp>
      <p:sp>
        <p:nvSpPr>
          <p:cNvPr id="8" name="bias-v0">
            <a:extLst xmlns:a="http://schemas.openxmlformats.org/drawingml/2006/main">
              <a:ext uri="{FF2B5EF4-FFF2-40B4-BE49-F238E27FC236}">
                <a16:creationId xmlns:a16="http://schemas.microsoft.com/office/drawing/2014/main" id="{6033DF86-4077-4EA2-A65E-DD2FE00E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573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难度差异</a:t>
            </a:r>
          </a:p>
        </p:txBody>
      </p:sp>
      <p:sp>
        <p:nvSpPr>
          <p:cNvPr id="9" name="bias-r0">
            <a:extLst xmlns:a="http://schemas.openxmlformats.org/drawingml/2006/main">
              <a:ext uri="{FF2B5EF4-FFF2-40B4-BE49-F238E27FC236}">
                <a16:creationId xmlns:a16="http://schemas.microsoft.com/office/drawing/2014/main" id="{E99E6CD9-E7D4-4FA5-B7E9-04A2EA6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bias-l1">
            <a:extLst xmlns:a="http://schemas.openxmlformats.org/drawingml/2006/main">
              <a:ext uri="{FF2B5EF4-FFF2-40B4-BE49-F238E27FC236}">
                <a16:creationId xmlns:a16="http://schemas.microsoft.com/office/drawing/2014/main" id="{5E020DBF-105F-4CBD-B9F8-F18AB6E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超参不对等</a:t>
            </a:r>
          </a:p>
        </p:txBody>
      </p:sp>
      <p:sp>
        <p:nvSpPr>
          <p:cNvPr id="11" name="bias-v1">
            <a:extLst xmlns:a="http://schemas.openxmlformats.org/drawingml/2006/main">
              <a:ext uri="{FF2B5EF4-FFF2-40B4-BE49-F238E27FC236}">
                <a16:creationId xmlns:a16="http://schemas.microsoft.com/office/drawing/2014/main" id="{3ADDDC4A-50AB-4C7F-8C7A-1D4362D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812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调参差异</a:t>
            </a:r>
          </a:p>
        </p:txBody>
      </p:sp>
      <p:sp>
        <p:nvSpPr>
          <p:cNvPr id="12" name="bias-r1">
            <a:extLst xmlns:a="http://schemas.openxmlformats.org/drawingml/2006/main">
              <a:ext uri="{FF2B5EF4-FFF2-40B4-BE49-F238E27FC236}">
                <a16:creationId xmlns:a16="http://schemas.microsoft.com/office/drawing/2014/main" id="{26EDE8E6-EF61-4F75-9C0A-6C2E009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bias-shade2">
            <a:extLst xmlns:a="http://schemas.openxmlformats.org/drawingml/2006/main">
              <a:ext uri="{FF2B5EF4-FFF2-40B4-BE49-F238E27FC236}">
                <a16:creationId xmlns:a16="http://schemas.microsoft.com/office/drawing/2014/main" id="{7BA2D453-5495-4541-A883-8F333C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4" name="bias-l2">
            <a:extLst xmlns:a="http://schemas.openxmlformats.org/drawingml/2006/main">
              <a:ext uri="{FF2B5EF4-FFF2-40B4-BE49-F238E27FC236}">
                <a16:creationId xmlns:a16="http://schemas.microsoft.com/office/drawing/2014/main" id="{ED097F95-29CA-4667-8678-9EC311FA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评价不一致</a:t>
            </a:r>
          </a:p>
        </p:txBody>
      </p:sp>
      <p:sp>
        <p:nvSpPr>
          <p:cNvPr id="15" name="bias-v2">
            <a:extLst xmlns:a="http://schemas.openxmlformats.org/drawingml/2006/main">
              <a:ext uri="{FF2B5EF4-FFF2-40B4-BE49-F238E27FC236}">
                <a16:creationId xmlns:a16="http://schemas.microsoft.com/office/drawing/2014/main" id="{1760ABEB-386C-47A6-B35D-7341F94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评价者偏倚</a:t>
            </a:r>
          </a:p>
        </p:txBody>
      </p:sp>
      <p:sp>
        <p:nvSpPr>
          <p:cNvPr id="16" name="bias-r2">
            <a:extLst xmlns:a="http://schemas.openxmlformats.org/drawingml/2006/main">
              <a:ext uri="{FF2B5EF4-FFF2-40B4-BE49-F238E27FC236}">
                <a16:creationId xmlns:a16="http://schemas.microsoft.com/office/drawing/2014/main" id="{A95EC006-7B50-4BC8-BCDF-1EF5FF8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bias-l3">
            <a:extLst xmlns:a="http://schemas.openxmlformats.org/drawingml/2006/main">
              <a:ext uri="{FF2B5EF4-FFF2-40B4-BE49-F238E27FC236}">
                <a16:creationId xmlns:a16="http://schemas.microsoft.com/office/drawing/2014/main" id="{3342441C-E8E6-468A-B89F-1E20138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运行次数不等</a:t>
            </a:r>
          </a:p>
        </p:txBody>
      </p:sp>
      <p:sp>
        <p:nvSpPr>
          <p:cNvPr id="18" name="bias-v3">
            <a:extLst xmlns:a="http://schemas.openxmlformats.org/drawingml/2006/main">
              <a:ext uri="{FF2B5EF4-FFF2-40B4-BE49-F238E27FC236}">
                <a16:creationId xmlns:a16="http://schemas.microsoft.com/office/drawing/2014/main" id="{F09C115C-6043-43E5-B6AF-8BE56489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290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噪声差异</a:t>
            </a:r>
          </a:p>
        </p:txBody>
      </p:sp>
      <p:sp>
        <p:nvSpPr>
          <p:cNvPr id="19" name="bias-r3">
            <a:extLst xmlns:a="http://schemas.openxmlformats.org/drawingml/2006/main">
              <a:ext uri="{FF2B5EF4-FFF2-40B4-BE49-F238E27FC236}">
                <a16:creationId xmlns:a16="http://schemas.microsoft.com/office/drawing/2014/main" id="{53DCE3D3-10AD-439B-9A05-25659DCF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bias-shade4">
            <a:extLst xmlns:a="http://schemas.openxmlformats.org/drawingml/2006/main">
              <a:ext uri="{FF2B5EF4-FFF2-40B4-BE49-F238E27FC236}">
                <a16:creationId xmlns:a16="http://schemas.microsoft.com/office/drawing/2014/main" id="{BFA531E4-4EBC-4D92-BC27-58A0EC2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1" name="bias-l4">
            <a:extLst xmlns:a="http://schemas.openxmlformats.org/drawingml/2006/main">
              <a:ext uri="{FF2B5EF4-FFF2-40B4-BE49-F238E27FC236}">
                <a16:creationId xmlns:a16="http://schemas.microsoft.com/office/drawing/2014/main" id="{C13EEC5B-93CA-4A62-98CE-9BE00DF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失败被删除</a:t>
            </a:r>
          </a:p>
        </p:txBody>
      </p:sp>
      <p:sp>
        <p:nvSpPr>
          <p:cNvPr id="22" name="bias-v4">
            <a:extLst xmlns:a="http://schemas.openxmlformats.org/drawingml/2006/main">
              <a:ext uri="{FF2B5EF4-FFF2-40B4-BE49-F238E27FC236}">
                <a16:creationId xmlns:a16="http://schemas.microsoft.com/office/drawing/2014/main" id="{AC211B4A-0FF6-4012-B64E-5340D60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529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隐性偏倚</a:t>
            </a:r>
          </a:p>
        </p:txBody>
      </p:sp>
      <p:sp>
        <p:nvSpPr>
          <p:cNvPr id="23" name="bias-arrow">
            <a:extLst xmlns:a="http://schemas.openxmlformats.org/drawingml/2006/main">
              <a:ext uri="{FF2B5EF4-FFF2-40B4-BE49-F238E27FC236}">
                <a16:creationId xmlns:a16="http://schemas.microsoft.com/office/drawing/2014/main" id="{AF8D2C0E-0CE8-4B5D-964F-0FD48BD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911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不公平比较把左侧差异写成“方法效应”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可复现需要完整的输入与过程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content-254">
            <a:extLst xmlns:a="http://schemas.openxmlformats.org/drawingml/2006/main">
              <a:ext uri="{FF2B5EF4-FFF2-40B4-BE49-F238E27FC236}">
                <a16:creationId xmlns:a16="http://schemas.microsoft.com/office/drawing/2014/main" id="{03409C67-4751-4772-AD5D-58F75F3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材料版本 + 配置 + 入口命令</a:t>
            </a:r>
          </a:p>
        </p:txBody>
      </p:sp>
      <p:sp>
        <p:nvSpPr>
          <p:cNvPr id="7" name="content-255">
            <a:extLst xmlns:a="http://schemas.openxmlformats.org/drawingml/2006/main">
              <a:ext uri="{FF2B5EF4-FFF2-40B4-BE49-F238E27FC236}">
                <a16:creationId xmlns:a16="http://schemas.microsoft.com/office/drawing/2014/main" id="{B13F9B85-F4DA-4D36-83B7-6FBD87A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原始输出 + 日志 + 汇总口径</a:t>
            </a:r>
          </a:p>
        </p:txBody>
      </p:sp>
      <p:sp>
        <p:nvSpPr>
          <p:cNvPr id="8" name="content-256">
            <a:extLst xmlns:a="http://schemas.openxmlformats.org/drawingml/2006/main">
              <a:ext uri="{FF2B5EF4-FFF2-40B4-BE49-F238E27FC236}">
                <a16:creationId xmlns:a16="http://schemas.microsoft.com/office/drawing/2014/main" id="{F6376D47-DEFF-414F-9E0C-D0D785E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有随机源：记录种子和重复计划。</a:t>
            </a:r>
          </a:p>
        </p:txBody>
      </p:sp>
      <p:sp>
        <p:nvSpPr>
          <p:cNvPr id="9" name="content-257">
            <a:extLst xmlns:a="http://schemas.openxmlformats.org/drawingml/2006/main">
              <a:ext uri="{FF2B5EF4-FFF2-40B4-BE49-F238E27FC236}">
                <a16:creationId xmlns:a16="http://schemas.microsoft.com/office/drawing/2014/main" id="{AFE11899-51FE-4A64-B3FB-6CA0829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无随机源：说明确定性及输入版本。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七字段把设计落实到记录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58">
            <a:extLst xmlns:a="http://schemas.openxmlformats.org/drawingml/2006/main">
              <a:ext uri="{FF2B5EF4-FFF2-40B4-BE49-F238E27FC236}">
                <a16:creationId xmlns:a16="http://schemas.microsoft.com/office/drawing/2014/main" id="{64A4EA3F-9B59-41EE-B2BA-4A15EF8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假设对应｜Q1；H1/A2 待区分</a:t>
            </a:r>
          </a:p>
        </p:txBody>
      </p:sp>
      <p:sp>
        <p:nvSpPr>
          <p:cNvPr id="7" name="content-259">
            <a:extLst xmlns:a="http://schemas.openxmlformats.org/drawingml/2006/main">
              <a:ext uri="{FF2B5EF4-FFF2-40B4-BE49-F238E27FC236}">
                <a16:creationId xmlns:a16="http://schemas.microsoft.com/office/drawing/2014/main" id="{26401D0F-E723-49A4-AA8E-5927EF0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变量｜输出条件与遗漏指标</a:t>
            </a:r>
          </a:p>
        </p:txBody>
      </p:sp>
      <p:sp>
        <p:nvSpPr>
          <p:cNvPr id="8" name="content-260">
            <a:extLst xmlns:a="http://schemas.openxmlformats.org/drawingml/2006/main">
              <a:ext uri="{FF2B5EF4-FFF2-40B4-BE49-F238E27FC236}">
                <a16:creationId xmlns:a16="http://schemas.microsoft.com/office/drawing/2014/main" id="{CF709FAB-9FBC-4644-8EBF-12450F0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步骤｜回放、人工核验、汇总</a:t>
            </a:r>
          </a:p>
        </p:txBody>
      </p:sp>
      <p:sp>
        <p:nvSpPr>
          <p:cNvPr id="9" name="content-261">
            <a:extLst xmlns:a="http://schemas.openxmlformats.org/drawingml/2006/main">
              <a:ext uri="{FF2B5EF4-FFF2-40B4-BE49-F238E27FC236}">
                <a16:creationId xmlns:a16="http://schemas.microsoft.com/office/drawing/2014/main" id="{47E49E3F-5AAA-4FB8-AAC2-F22766D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度量｜缺失条件数 / 应保留条件数</a:t>
            </a:r>
          </a:p>
        </p:txBody>
      </p:sp>
      <p:sp>
        <p:nvSpPr>
          <p:cNvPr id="10" name="content-262">
            <a:extLst xmlns:a="http://schemas.openxmlformats.org/drawingml/2006/main">
              <a:ext uri="{FF2B5EF4-FFF2-40B4-BE49-F238E27FC236}">
                <a16:creationId xmlns:a16="http://schemas.microsoft.com/office/drawing/2014/main" id="{55F4E743-288A-431D-99FE-03B541B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对照｜同源文本的自由摘要</a:t>
            </a:r>
          </a:p>
        </p:txBody>
      </p:sp>
      <p:sp>
        <p:nvSpPr>
          <p:cNvPr id="11" name="content-263">
            <a:extLst xmlns:a="http://schemas.openxmlformats.org/drawingml/2006/main">
              <a:ext uri="{FF2B5EF4-FFF2-40B4-BE49-F238E27FC236}">
                <a16:creationId xmlns:a16="http://schemas.microsoft.com/office/drawing/2014/main" id="{70C49DC5-02FD-4173-A227-51C9D5E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配对与重复｜3 文本 × 2 条件 × 1 固定输出</a:t>
            </a:r>
          </a:p>
        </p:txBody>
      </p:sp>
      <p:sp>
        <p:nvSpPr>
          <p:cNvPr id="12" name="content-264">
            <a:extLst xmlns:a="http://schemas.openxmlformats.org/drawingml/2006/main">
              <a:ext uri="{FF2B5EF4-FFF2-40B4-BE49-F238E27FC236}">
                <a16:creationId xmlns:a16="http://schemas.microsoft.com/office/drawing/2014/main" id="{F9C761E9-8574-4C3A-A0F6-137A962C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停止｜6 个任务完成；技术异常暂停并留痕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停止规则先于结果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content-265">
            <a:extLst xmlns:a="http://schemas.openxmlformats.org/drawingml/2006/main">
              <a:ext uri="{FF2B5EF4-FFF2-40B4-BE49-F238E27FC236}">
                <a16:creationId xmlns:a16="http://schemas.microsoft.com/office/drawing/2014/main" id="{F5715560-507F-491A-AF58-E433D19D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固定队列：6 个任务；最多 8 次执行尝试。</a:t>
            </a:r>
          </a:p>
        </p:txBody>
      </p:sp>
      <p:sp>
        <p:nvSpPr>
          <p:cNvPr id="7" name="content-266">
            <a:extLst xmlns:a="http://schemas.openxmlformats.org/drawingml/2006/main">
              <a:ext uri="{FF2B5EF4-FFF2-40B4-BE49-F238E27FC236}">
                <a16:creationId xmlns:a16="http://schemas.microsoft.com/office/drawing/2014/main" id="{DC051BA6-C489-441A-85FC-772B4370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成功完成的任务不重复执行。</a:t>
            </a:r>
          </a:p>
        </p:txBody>
      </p:sp>
      <p:sp>
        <p:nvSpPr>
          <p:cNvPr id="8" name="content-267">
            <a:extLst xmlns:a="http://schemas.openxmlformats.org/drawingml/2006/main">
              <a:ext uri="{FF2B5EF4-FFF2-40B4-BE49-F238E27FC236}">
                <a16:creationId xmlns:a16="http://schemas.microsoft.com/office/drawing/2014/main" id="{851895CD-A2DC-4A33-A19F-9F6472F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技术失败保留后恢复；输入变化时另建运行目录。</a:t>
            </a:r>
          </a:p>
        </p:txBody>
      </p:sp>
      <p:sp>
        <p:nvSpPr>
          <p:cNvPr id="9" name="content-268">
            <a:extLst xmlns:a="http://schemas.openxmlformats.org/drawingml/2006/main">
              <a:ext uri="{FF2B5EF4-FFF2-40B4-BE49-F238E27FC236}">
                <a16:creationId xmlns:a16="http://schemas.microsoft.com/office/drawing/2014/main" id="{F9626FEA-B893-4D19-902E-F42B976E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负向结果照常进入评价。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遗漏率从一条条件开始计算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269">
            <a:extLst xmlns:a="http://schemas.openxmlformats.org/drawingml/2006/main">
              <a:ext uri="{FF2B5EF4-FFF2-40B4-BE49-F238E27FC236}">
                <a16:creationId xmlns:a16="http://schemas.microsoft.com/office/drawing/2014/main" id="{DB744073-20AB-4D14-8E5D-FCC1FD5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T01 应保留：英文材料、长度上限、显式限定句。</a:t>
            </a:r>
          </a:p>
        </p:txBody>
      </p:sp>
      <p:sp>
        <p:nvSpPr>
          <p:cNvPr id="7" name="content-270">
            <a:extLst xmlns:a="http://schemas.openxmlformats.org/drawingml/2006/main">
              <a:ext uri="{FF2B5EF4-FFF2-40B4-BE49-F238E27FC236}">
                <a16:creationId xmlns:a16="http://schemas.microsoft.com/office/drawing/2014/main" id="{A1530B79-AC62-4361-917A-0BF030B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阅读卡保留 3 项 → 遗漏 0/3。</a:t>
            </a:r>
          </a:p>
        </p:txBody>
      </p:sp>
      <p:sp>
        <p:nvSpPr>
          <p:cNvPr id="8" name="content-271">
            <a:extLst xmlns:a="http://schemas.openxmlformats.org/drawingml/2006/main">
              <a:ext uri="{FF2B5EF4-FFF2-40B4-BE49-F238E27FC236}">
                <a16:creationId xmlns:a16="http://schemas.microsoft.com/office/drawing/2014/main" id="{1030CA1D-02EE-4E95-A363-FE806C89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自由摘要保留 1 项 → 遗漏 2/3。</a:t>
            </a:r>
          </a:p>
        </p:txBody>
      </p:sp>
      <p:sp>
        <p:nvSpPr>
          <p:cNvPr id="9" name="content-272">
            <a:extLst xmlns:a="http://schemas.openxmlformats.org/drawingml/2006/main">
              <a:ext uri="{FF2B5EF4-FFF2-40B4-BE49-F238E27FC236}">
                <a16:creationId xmlns:a16="http://schemas.microsoft.com/office/drawing/2014/main" id="{41DDFB14-7D56-4E8E-B5C9-CC32AD2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先核验原文和输出，再汇总数字。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一条可重运行记录要能打开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273">
            <a:extLst xmlns:a="http://schemas.openxmlformats.org/drawingml/2006/main">
              <a:ext uri="{FF2B5EF4-FFF2-40B4-BE49-F238E27FC236}">
                <a16:creationId xmlns:a16="http://schemas.microsoft.com/office/drawing/2014/main" id="{68C243A4-CE11-489E-BCB1-FF13607A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输入：sources.json / outputs.json</a:t>
            </a:r>
          </a:p>
        </p:txBody>
      </p:sp>
      <p:sp>
        <p:nvSpPr>
          <p:cNvPr id="7" name="content-274">
            <a:extLst xmlns:a="http://schemas.openxmlformats.org/drawingml/2006/main">
              <a:ext uri="{FF2B5EF4-FFF2-40B4-BE49-F238E27FC236}">
                <a16:creationId xmlns:a16="http://schemas.microsoft.com/office/drawing/2014/main" id="{90BCC8CB-1EE1-47C1-8B18-77B47E56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配置：config.json 与文件摘要</a:t>
            </a:r>
          </a:p>
        </p:txBody>
      </p:sp>
      <p:sp>
        <p:nvSpPr>
          <p:cNvPr id="8" name="content-275">
            <a:extLst xmlns:a="http://schemas.openxmlformats.org/drawingml/2006/main">
              <a:ext uri="{FF2B5EF4-FFF2-40B4-BE49-F238E27FC236}">
                <a16:creationId xmlns:a16="http://schemas.microsoft.com/office/drawing/2014/main" id="{E5671042-B769-499B-B997-2290BC1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入口：run.py replay，再 evaluate</a:t>
            </a:r>
          </a:p>
        </p:txBody>
      </p:sp>
      <p:sp>
        <p:nvSpPr>
          <p:cNvPr id="9" name="content-276">
            <a:extLst xmlns:a="http://schemas.openxmlformats.org/drawingml/2006/main">
              <a:ext uri="{FF2B5EF4-FFF2-40B4-BE49-F238E27FC236}">
                <a16:creationId xmlns:a16="http://schemas.microsoft.com/office/drawing/2014/main" id="{DD98F77D-6C77-461C-87B5-782F61F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过程：events.jsonl / state.json</a:t>
            </a:r>
          </a:p>
        </p:txBody>
      </p:sp>
      <p:sp>
        <p:nvSpPr>
          <p:cNvPr id="10" name="content-277">
            <a:extLst xmlns:a="http://schemas.openxmlformats.org/drawingml/2006/main">
              <a:ext uri="{FF2B5EF4-FFF2-40B4-BE49-F238E27FC236}">
                <a16:creationId xmlns:a16="http://schemas.microsoft.com/office/drawing/2014/main" id="{B5E0C1DE-01BC-4AC2-9A3F-253D9B19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结果：evaluation.json</a:t>
            </a:r>
          </a:p>
        </p:txBody>
      </p:sp>
      <p:sp>
        <p:nvSpPr>
          <p:cNvPr id="11" name="content-278">
            <a:extLst xmlns:a="http://schemas.openxmlformats.org/drawingml/2006/main">
              <a:ext uri="{FF2B5EF4-FFF2-40B4-BE49-F238E27FC236}">
                <a16:creationId xmlns:a16="http://schemas.microsoft.com/office/drawing/2014/main" id="{7A7BD1B6-A1E0-4DFB-BCAB-367DB927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基准：gold.json / annotations.json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单次运行不能直接写成方法效应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variance">
            <a:extLst xmlns:a="http://schemas.openxmlformats.org/drawingml/2006/main">
              <a:ext uri="{FF2B5EF4-FFF2-40B4-BE49-F238E27FC236}">
                <a16:creationId xmlns:a16="http://schemas.microsoft.com/office/drawing/2014/main" id="{EC69789B-9E5F-4C1F-9F7F-C28A39E9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随机性来源</a:t>
            </a:r>
          </a:p>
        </p:txBody>
      </p:sp>
      <p:sp>
        <p:nvSpPr>
          <p:cNvPr id="7" name="sources">
            <a:extLst xmlns:a="http://schemas.openxmlformats.org/drawingml/2006/main">
              <a:ext uri="{FF2B5EF4-FFF2-40B4-BE49-F238E27FC236}">
                <a16:creationId xmlns:a16="http://schemas.microsoft.com/office/drawing/2014/main" id="{2F2C01EA-5152-4CEC-B0AC-02D1D64F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数据划分    模型初始化    采样／解码    超参数选择</a:t>
            </a:r>
          </a:p>
        </p:txBody>
      </p:sp>
      <p:sp>
        <p:nvSpPr>
          <p:cNvPr id="8" name="single-bg">
            <a:extLst xmlns:a="http://schemas.openxmlformats.org/drawingml/2006/main">
              <a:ext uri="{FF2B5EF4-FFF2-40B4-BE49-F238E27FC236}">
                <a16:creationId xmlns:a16="http://schemas.microsoft.com/office/drawing/2014/main" id="{0AE9DF28-79FE-4050-A946-16E866E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BED"/>
          </a:solidFill>
          <a:ln xmlns:a="http://schemas.openxmlformats.org/drawingml/2006/main" w="0">
            <a:noFill/>
          </a:ln>
        </p:spPr>
      </p:sp>
      <p:sp>
        <p:nvSpPr>
          <p:cNvPr id="9" name="single">
            <a:extLst xmlns:a="http://schemas.openxmlformats.org/drawingml/2006/main">
              <a:ext uri="{FF2B5EF4-FFF2-40B4-BE49-F238E27FC236}">
                <a16:creationId xmlns:a16="http://schemas.microsoft.com/office/drawing/2014/main" id="{34B7D507-BE5B-44C9-8856-F796D80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67000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单次运行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一个观察点</a:t>
            </a:r>
          </a:p>
        </p:txBody>
      </p:sp>
      <p:sp>
        <p:nvSpPr>
          <p:cNvPr id="10" name="v-a">
            <a:extLst xmlns:a="http://schemas.openxmlformats.org/drawingml/2006/main">
              <a:ext uri="{FF2B5EF4-FFF2-40B4-BE49-F238E27FC236}">
                <a16:creationId xmlns:a16="http://schemas.microsoft.com/office/drawing/2014/main" id="{B0155D5B-5B10-4E58-8D70-C06E10D7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epeat-bg">
            <a:extLst xmlns:a="http://schemas.openxmlformats.org/drawingml/2006/main">
              <a:ext uri="{FF2B5EF4-FFF2-40B4-BE49-F238E27FC236}">
                <a16:creationId xmlns:a16="http://schemas.microsoft.com/office/drawing/2014/main" id="{63272855-B421-4355-A9E9-C6C9377B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2" name="repeat">
            <a:extLst xmlns:a="http://schemas.openxmlformats.org/drawingml/2006/main">
              <a:ext uri="{FF2B5EF4-FFF2-40B4-BE49-F238E27FC236}">
                <a16:creationId xmlns:a16="http://schemas.microsoft.com/office/drawing/2014/main" id="{88B942F5-0DAD-44EC-9450-B9C2FC0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重复计划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汇总与边界</a:t>
            </a:r>
          </a:p>
        </p:txBody>
      </p:sp>
      <p:sp>
        <p:nvSpPr>
          <p:cNvPr id="13" name="v-b">
            <a:extLst xmlns:a="http://schemas.openxmlformats.org/drawingml/2006/main">
              <a:ext uri="{FF2B5EF4-FFF2-40B4-BE49-F238E27FC236}">
                <a16:creationId xmlns:a16="http://schemas.microsoft.com/office/drawing/2014/main" id="{4D19AFDF-BDC4-4A28-98C2-CE39B776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A7DACA4E-53DE-4680-8A2C-12CC03A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方法效应？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AD949C6F-4258-4A33-892C-42AD949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只跑 1 次时写明边界，不把单次差异写成稳定结论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F35C26FF-65CC-4739-9BA6-2DE498A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Bouthillier et al., 2021, MLSys 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工件检查有四个维度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content-279">
            <a:extLst xmlns:a="http://schemas.openxmlformats.org/drawingml/2006/main">
              <a:ext uri="{FF2B5EF4-FFF2-40B4-BE49-F238E27FC236}">
                <a16:creationId xmlns:a16="http://schemas.microsoft.com/office/drawing/2014/main" id="{6E38E193-EC39-4C57-96DD-3366E9AC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documented｜说明足够</a:t>
            </a:r>
          </a:p>
        </p:txBody>
      </p:sp>
      <p:sp>
        <p:nvSpPr>
          <p:cNvPr id="7" name="content-280">
            <a:extLst xmlns:a="http://schemas.openxmlformats.org/drawingml/2006/main">
              <a:ext uri="{FF2B5EF4-FFF2-40B4-BE49-F238E27FC236}">
                <a16:creationId xmlns:a16="http://schemas.microsoft.com/office/drawing/2014/main" id="{71EEBB88-38F7-43F1-8E21-9822E92D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consistent｜说明、代码和主张一致</a:t>
            </a:r>
          </a:p>
        </p:txBody>
      </p:sp>
      <p:sp>
        <p:nvSpPr>
          <p:cNvPr id="8" name="content-281">
            <a:extLst xmlns:a="http://schemas.openxmlformats.org/drawingml/2006/main">
              <a:ext uri="{FF2B5EF4-FFF2-40B4-BE49-F238E27FC236}">
                <a16:creationId xmlns:a16="http://schemas.microsoft.com/office/drawing/2014/main" id="{42265500-E475-4FC5-AF6A-32DBD47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complete｜关键部分齐全</a:t>
            </a:r>
          </a:p>
        </p:txBody>
      </p:sp>
      <p:sp>
        <p:nvSpPr>
          <p:cNvPr id="9" name="content-282">
            <a:extLst xmlns:a="http://schemas.openxmlformats.org/drawingml/2006/main">
              <a:ext uri="{FF2B5EF4-FFF2-40B4-BE49-F238E27FC236}">
                <a16:creationId xmlns:a16="http://schemas.microsoft.com/office/drawing/2014/main" id="{2CE75695-691F-4DFA-B864-093A189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exercisable｜能够执行检查</a:t>
            </a:r>
          </a:p>
        </p:txBody>
      </p:sp>
      <p:sp>
        <p:nvSpPr>
          <p:cNvPr id="10" name="content-283">
            <a:extLst xmlns:a="http://schemas.openxmlformats.org/drawingml/2006/main">
              <a:ext uri="{FF2B5EF4-FFF2-40B4-BE49-F238E27FC236}">
                <a16:creationId xmlns:a16="http://schemas.microsoft.com/office/drawing/2014/main" id="{ECCFE118-619F-469E-BAFF-9B2C3C2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它们是 ACM Functional 的检查维度，不是四个等级。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模板迁移补字段，但不能丢历史记录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78C71520-1581-475E-98E6-D195B4F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starter</a:t>
            </a:r>
          </a:p>
        </p:txBody>
      </p:sp>
      <p:sp>
        <p:nvSpPr>
          <p:cNvPr id="7" name="project">
            <a:extLst xmlns:a="http://schemas.openxmlformats.org/drawingml/2006/main">
              <a:ext uri="{FF2B5EF4-FFF2-40B4-BE49-F238E27FC236}">
                <a16:creationId xmlns:a16="http://schemas.microsoft.com/office/drawing/2014/main" id="{939F8E42-F27B-4534-BE74-7C6242A0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4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project</a:t>
            </a:r>
          </a:p>
        </p:txBody>
      </p:sp>
      <p:sp>
        <p:nvSpPr>
          <p:cNvPr id="8" name="migration-shade0">
            <a:extLst xmlns:a="http://schemas.openxmlformats.org/drawingml/2006/main">
              <a:ext uri="{FF2B5EF4-FFF2-40B4-BE49-F238E27FC236}">
                <a16:creationId xmlns:a16="http://schemas.microsoft.com/office/drawing/2014/main" id="{3B41F841-CD16-48FA-AB43-1A93E46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migration-l0">
            <a:extLst xmlns:a="http://schemas.openxmlformats.org/drawingml/2006/main">
              <a:ext uri="{FF2B5EF4-FFF2-40B4-BE49-F238E27FC236}">
                <a16:creationId xmlns:a16="http://schemas.microsoft.com/office/drawing/2014/main" id="{1BC8602B-082B-432F-A5E0-4D9A636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§1 项目概览</a:t>
            </a:r>
          </a:p>
        </p:txBody>
      </p:sp>
      <p:sp>
        <p:nvSpPr>
          <p:cNvPr id="10" name="migration-v0">
            <a:extLst xmlns:a="http://schemas.openxmlformats.org/drawingml/2006/main">
              <a:ext uri="{FF2B5EF4-FFF2-40B4-BE49-F238E27FC236}">
                <a16:creationId xmlns:a16="http://schemas.microsoft.com/office/drawing/2014/main" id="{E5BBBB87-678C-4A80-A5C2-B69878A5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02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README §1 项目信息</a:t>
            </a:r>
          </a:p>
        </p:txBody>
      </p:sp>
      <p:sp>
        <p:nvSpPr>
          <p:cNvPr id="11" name="migration-r0">
            <a:extLst xmlns:a="http://schemas.openxmlformats.org/drawingml/2006/main">
              <a:ext uri="{FF2B5EF4-FFF2-40B4-BE49-F238E27FC236}">
                <a16:creationId xmlns:a16="http://schemas.microsoft.com/office/drawing/2014/main" id="{AC7584B5-F12D-47BB-8B89-F5A8A2A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migration-l1">
            <a:extLst xmlns:a="http://schemas.openxmlformats.org/drawingml/2006/main">
              <a:ext uri="{FF2B5EF4-FFF2-40B4-BE49-F238E27FC236}">
                <a16:creationId xmlns:a16="http://schemas.microsoft.com/office/drawing/2014/main" id="{F245B0F3-27BF-499E-93A5-206F02D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§6 AI 使用记录</a:t>
            </a:r>
          </a:p>
        </p:txBody>
      </p:sp>
      <p:sp>
        <p:nvSpPr>
          <p:cNvPr id="13" name="migration-v1">
            <a:extLst xmlns:a="http://schemas.openxmlformats.org/drawingml/2006/main">
              <a:ext uri="{FF2B5EF4-FFF2-40B4-BE49-F238E27FC236}">
                <a16:creationId xmlns:a16="http://schemas.microsoft.com/office/drawing/2014/main" id="{524BBE92-B9E0-4B43-A7F1-13C03F6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ai-usage-log.md</a:t>
            </a:r>
          </a:p>
        </p:txBody>
      </p:sp>
      <p:sp>
        <p:nvSpPr>
          <p:cNvPr id="14" name="migration-r1">
            <a:extLst xmlns:a="http://schemas.openxmlformats.org/drawingml/2006/main">
              <a:ext uri="{FF2B5EF4-FFF2-40B4-BE49-F238E27FC236}">
                <a16:creationId xmlns:a16="http://schemas.microsoft.com/office/drawing/2014/main" id="{37D68206-302D-461A-8090-362E5FD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migration-shade2">
            <a:extLst xmlns:a="http://schemas.openxmlformats.org/drawingml/2006/main">
              <a:ext uri="{FF2B5EF4-FFF2-40B4-BE49-F238E27FC236}">
                <a16:creationId xmlns:a16="http://schemas.microsoft.com/office/drawing/2014/main" id="{E79A3E67-801D-4D5F-9536-CB2A87F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migration-l2">
            <a:extLst xmlns:a="http://schemas.openxmlformats.org/drawingml/2006/main">
              <a:ext uri="{FF2B5EF4-FFF2-40B4-BE49-F238E27FC236}">
                <a16:creationId xmlns:a16="http://schemas.microsoft.com/office/drawing/2014/main" id="{97FEFE0F-E751-4800-BE84-AD0C5BE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§8 伦理检查</a:t>
            </a:r>
          </a:p>
        </p:txBody>
      </p:sp>
      <p:sp>
        <p:nvSpPr>
          <p:cNvPr id="17" name="migration-v2">
            <a:extLst xmlns:a="http://schemas.openxmlformats.org/drawingml/2006/main">
              <a:ext uri="{FF2B5EF4-FFF2-40B4-BE49-F238E27FC236}">
                <a16:creationId xmlns:a16="http://schemas.microsoft.com/office/drawing/2014/main" id="{63CB5C89-3685-4630-925E-F85A90A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ethics-and-compliance.md</a:t>
            </a:r>
          </a:p>
        </p:txBody>
      </p:sp>
      <p:sp>
        <p:nvSpPr>
          <p:cNvPr id="18" name="added">
            <a:extLst xmlns:a="http://schemas.openxmlformats.org/drawingml/2006/main">
              <a:ext uri="{FF2B5EF4-FFF2-40B4-BE49-F238E27FC236}">
                <a16:creationId xmlns:a16="http://schemas.microsoft.com/office/drawing/2014/main" id="{6C80B871-9ECB-47B6-AF0B-8782149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新增：baseline｜七字段规格｜≥2 条判断｜实验记录｜同伴反馈处理</a:t>
            </a:r>
          </a:p>
        </p:txBody>
      </p:sp>
      <p:sp>
        <p:nvSpPr>
          <p:cNvPr id="19" name="history">
            <a:extLst xmlns:a="http://schemas.openxmlformats.org/drawingml/2006/main">
              <a:ext uri="{FF2B5EF4-FFF2-40B4-BE49-F238E27FC236}">
                <a16:creationId xmlns:a16="http://schemas.microsoft.com/office/drawing/2014/main" id="{8039A68A-3CE3-4E88-ADAA-5BA7D65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86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迁移补字段，但不丢历史记录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判断门检查当前个人项目版本的九项条件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gate9-n0">
            <a:extLst xmlns:a="http://schemas.openxmlformats.org/drawingml/2006/main">
              <a:ext uri="{FF2B5EF4-FFF2-40B4-BE49-F238E27FC236}">
                <a16:creationId xmlns:a16="http://schemas.microsoft.com/office/drawing/2014/main" id="{DCE84E79-387F-4D39-930B-25052A6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gate9-t0">
            <a:extLst xmlns:a="http://schemas.openxmlformats.org/drawingml/2006/main">
              <a:ext uri="{FF2B5EF4-FFF2-40B4-BE49-F238E27FC236}">
                <a16:creationId xmlns:a16="http://schemas.microsoft.com/office/drawing/2014/main" id="{05447095-1BFC-45F8-AD7A-92FC23BE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可执行 baseline／原型</a:t>
            </a:r>
          </a:p>
        </p:txBody>
      </p:sp>
      <p:sp>
        <p:nvSpPr>
          <p:cNvPr id="8" name="gate9-r0">
            <a:extLst xmlns:a="http://schemas.openxmlformats.org/drawingml/2006/main">
              <a:ext uri="{FF2B5EF4-FFF2-40B4-BE49-F238E27FC236}">
                <a16:creationId xmlns:a16="http://schemas.microsoft.com/office/drawing/2014/main" id="{FF731C74-6163-4654-A5CC-A7FD656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gate9-n1">
            <a:extLst xmlns:a="http://schemas.openxmlformats.org/drawingml/2006/main">
              <a:ext uri="{FF2B5EF4-FFF2-40B4-BE49-F238E27FC236}">
                <a16:creationId xmlns:a16="http://schemas.microsoft.com/office/drawing/2014/main" id="{444B93E5-8F23-4103-9302-9396F4D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43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gate9-t1">
            <a:extLst xmlns:a="http://schemas.openxmlformats.org/drawingml/2006/main">
              <a:ext uri="{FF2B5EF4-FFF2-40B4-BE49-F238E27FC236}">
                <a16:creationId xmlns:a16="http://schemas.microsoft.com/office/drawing/2014/main" id="{F80BB42A-2F22-44EA-86EF-5E884E6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143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材料、指标与限制</a:t>
            </a:r>
          </a:p>
        </p:txBody>
      </p:sp>
      <p:sp>
        <p:nvSpPr>
          <p:cNvPr id="11" name="gate9-r1">
            <a:extLst xmlns:a="http://schemas.openxmlformats.org/drawingml/2006/main">
              <a:ext uri="{FF2B5EF4-FFF2-40B4-BE49-F238E27FC236}">
                <a16:creationId xmlns:a16="http://schemas.microsoft.com/office/drawing/2014/main" id="{CD4D28A4-E9B2-4E6E-8860-4B797571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gate9-n2">
            <a:extLst xmlns:a="http://schemas.openxmlformats.org/drawingml/2006/main">
              <a:ext uri="{FF2B5EF4-FFF2-40B4-BE49-F238E27FC236}">
                <a16:creationId xmlns:a16="http://schemas.microsoft.com/office/drawing/2014/main" id="{C07BE794-7DCB-4208-AF8E-A62DD9F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gate9-t2">
            <a:extLst xmlns:a="http://schemas.openxmlformats.org/drawingml/2006/main">
              <a:ext uri="{FF2B5EF4-FFF2-40B4-BE49-F238E27FC236}">
                <a16:creationId xmlns:a16="http://schemas.microsoft.com/office/drawing/2014/main" id="{58173B25-488B-4B48-967B-3F8FE66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环境、配置与复现条件</a:t>
            </a:r>
          </a:p>
        </p:txBody>
      </p:sp>
      <p:sp>
        <p:nvSpPr>
          <p:cNvPr id="14" name="gate9-r2">
            <a:extLst xmlns:a="http://schemas.openxmlformats.org/drawingml/2006/main">
              <a:ext uri="{FF2B5EF4-FFF2-40B4-BE49-F238E27FC236}">
                <a16:creationId xmlns:a16="http://schemas.microsoft.com/office/drawing/2014/main" id="{D4FF08E2-4A72-449F-9E1C-C4D0AB6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gate9-n3">
            <a:extLst xmlns:a="http://schemas.openxmlformats.org/drawingml/2006/main">
              <a:ext uri="{FF2B5EF4-FFF2-40B4-BE49-F238E27FC236}">
                <a16:creationId xmlns:a16="http://schemas.microsoft.com/office/drawing/2014/main" id="{DA216F14-2FDC-42A4-81EE-8AF1B07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gate9-t3">
            <a:extLst xmlns:a="http://schemas.openxmlformats.org/drawingml/2006/main">
              <a:ext uri="{FF2B5EF4-FFF2-40B4-BE49-F238E27FC236}">
                <a16:creationId xmlns:a16="http://schemas.microsoft.com/office/drawing/2014/main" id="{65A661A7-6DAD-4EE2-9147-6CDDA4A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02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至少 2 条研究判断</a:t>
            </a:r>
          </a:p>
        </p:txBody>
      </p:sp>
      <p:sp>
        <p:nvSpPr>
          <p:cNvPr id="17" name="gate9-r3">
            <a:extLst xmlns:a="http://schemas.openxmlformats.org/drawingml/2006/main">
              <a:ext uri="{FF2B5EF4-FFF2-40B4-BE49-F238E27FC236}">
                <a16:creationId xmlns:a16="http://schemas.microsoft.com/office/drawing/2014/main" id="{BB160DDE-4F24-40A8-BD5B-5E4D00E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gate9-n4">
            <a:extLst xmlns:a="http://schemas.openxmlformats.org/drawingml/2006/main">
              <a:ext uri="{FF2B5EF4-FFF2-40B4-BE49-F238E27FC236}">
                <a16:creationId xmlns:a16="http://schemas.microsoft.com/office/drawing/2014/main" id="{CC4C9CA8-9DC5-47C2-AE9B-75C5873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gate9-t4">
            <a:extLst xmlns:a="http://schemas.openxmlformats.org/drawingml/2006/main">
              <a:ext uri="{FF2B5EF4-FFF2-40B4-BE49-F238E27FC236}">
                <a16:creationId xmlns:a16="http://schemas.microsoft.com/office/drawing/2014/main" id="{8D009127-E075-4F31-9077-78A2AD29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完整七字段规格</a:t>
            </a:r>
          </a:p>
        </p:txBody>
      </p:sp>
      <p:sp>
        <p:nvSpPr>
          <p:cNvPr id="20" name="gate9-r4">
            <a:extLst xmlns:a="http://schemas.openxmlformats.org/drawingml/2006/main">
              <a:ext uri="{FF2B5EF4-FFF2-40B4-BE49-F238E27FC236}">
                <a16:creationId xmlns:a16="http://schemas.microsoft.com/office/drawing/2014/main" id="{7E642CA6-6FB8-4B85-AD78-7D01F41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gate9-n5">
            <a:extLst xmlns:a="http://schemas.openxmlformats.org/drawingml/2006/main">
              <a:ext uri="{FF2B5EF4-FFF2-40B4-BE49-F238E27FC236}">
                <a16:creationId xmlns:a16="http://schemas.microsoft.com/office/drawing/2014/main" id="{41965031-8EB0-46E1-860D-E40ADD53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57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2" name="gate9-t5">
            <a:extLst xmlns:a="http://schemas.openxmlformats.org/drawingml/2006/main">
              <a:ext uri="{FF2B5EF4-FFF2-40B4-BE49-F238E27FC236}">
                <a16:creationId xmlns:a16="http://schemas.microsoft.com/office/drawing/2014/main" id="{836A49BD-6D30-49DC-851C-0A534BC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575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8 课反馈处理</a:t>
            </a:r>
          </a:p>
        </p:txBody>
      </p:sp>
      <p:sp>
        <p:nvSpPr>
          <p:cNvPr id="23" name="gate9-r5">
            <a:extLst xmlns:a="http://schemas.openxmlformats.org/drawingml/2006/main">
              <a:ext uri="{FF2B5EF4-FFF2-40B4-BE49-F238E27FC236}">
                <a16:creationId xmlns:a16="http://schemas.microsoft.com/office/drawing/2014/main" id="{6B94F1FC-C74E-45A5-9F1F-4CBAB77A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4" name="gate9-n6">
            <a:extLst xmlns:a="http://schemas.openxmlformats.org/drawingml/2006/main">
              <a:ext uri="{FF2B5EF4-FFF2-40B4-BE49-F238E27FC236}">
                <a16:creationId xmlns:a16="http://schemas.microsoft.com/office/drawing/2014/main" id="{00C0876F-8958-4CC2-9CAB-37DA490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25" name="gate9-t6">
            <a:extLst xmlns:a="http://schemas.openxmlformats.org/drawingml/2006/main">
              <a:ext uri="{FF2B5EF4-FFF2-40B4-BE49-F238E27FC236}">
                <a16:creationId xmlns:a16="http://schemas.microsoft.com/office/drawing/2014/main" id="{A5D7EFDE-87AF-41D1-86AC-3E1B35E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风险与失败预案</a:t>
            </a:r>
          </a:p>
        </p:txBody>
      </p:sp>
      <p:sp>
        <p:nvSpPr>
          <p:cNvPr id="26" name="gate9-r6">
            <a:extLst xmlns:a="http://schemas.openxmlformats.org/drawingml/2006/main">
              <a:ext uri="{FF2B5EF4-FFF2-40B4-BE49-F238E27FC236}">
                <a16:creationId xmlns:a16="http://schemas.microsoft.com/office/drawing/2014/main" id="{A8D424A6-38C2-4645-8D7F-3E5610B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7" name="gate9-n7">
            <a:extLst xmlns:a="http://schemas.openxmlformats.org/drawingml/2006/main">
              <a:ext uri="{FF2B5EF4-FFF2-40B4-BE49-F238E27FC236}">
                <a16:creationId xmlns:a16="http://schemas.microsoft.com/office/drawing/2014/main" id="{FE132892-81BF-4477-AE4D-49DD1094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28" name="gate9-t7">
            <a:extLst xmlns:a="http://schemas.openxmlformats.org/drawingml/2006/main">
              <a:ext uri="{FF2B5EF4-FFF2-40B4-BE49-F238E27FC236}">
                <a16:creationId xmlns:a16="http://schemas.microsoft.com/office/drawing/2014/main" id="{C1D55DC3-ACB9-43D5-A2DA-75B0E6B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147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已遇失败／放弃备选</a:t>
            </a:r>
          </a:p>
        </p:txBody>
      </p:sp>
      <p:sp>
        <p:nvSpPr>
          <p:cNvPr id="29" name="gate9-r7">
            <a:extLst xmlns:a="http://schemas.openxmlformats.org/drawingml/2006/main">
              <a:ext uri="{FF2B5EF4-FFF2-40B4-BE49-F238E27FC236}">
                <a16:creationId xmlns:a16="http://schemas.microsoft.com/office/drawing/2014/main" id="{DCEAC165-78C1-4668-B067-9580BB9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481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0" name="gate9-n8">
            <a:extLst xmlns:a="http://schemas.openxmlformats.org/drawingml/2006/main">
              <a:ext uri="{FF2B5EF4-FFF2-40B4-BE49-F238E27FC236}">
                <a16:creationId xmlns:a16="http://schemas.microsoft.com/office/drawing/2014/main" id="{91ED2CCA-87A5-4324-990F-FACC260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1" name="gate9-t8">
            <a:extLst xmlns:a="http://schemas.openxmlformats.org/drawingml/2006/main">
              <a:ext uri="{FF2B5EF4-FFF2-40B4-BE49-F238E27FC236}">
                <a16:creationId xmlns:a16="http://schemas.microsoft.com/office/drawing/2014/main" id="{E0A574C9-57DE-483E-A74E-306B9690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完整模板与 AI／伦理记录</a:t>
            </a:r>
          </a:p>
        </p:txBody>
      </p:sp>
      <p:sp>
        <p:nvSpPr>
          <p:cNvPr id="32" name="gate9-r8">
            <a:extLst xmlns:a="http://schemas.openxmlformats.org/drawingml/2006/main">
              <a:ext uri="{FF2B5EF4-FFF2-40B4-BE49-F238E27FC236}">
                <a16:creationId xmlns:a16="http://schemas.microsoft.com/office/drawing/2014/main" id="{45F82123-1D2C-4318-9A3D-7B74479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check">
            <a:extLst xmlns:a="http://schemas.openxmlformats.org/drawingml/2006/main">
              <a:ext uri="{FF2B5EF4-FFF2-40B4-BE49-F238E27FC236}">
                <a16:creationId xmlns:a16="http://schemas.microsoft.com/office/drawing/2014/main" id="{6BABD580-AE6E-49C7-8112-5FD48937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578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九项检查当前个人项目版本；长定义以 assignments.md 为准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J2 把 baseline 取舍和同伴反馈写进判断记录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j2">
            <a:extLst xmlns:a="http://schemas.openxmlformats.org/drawingml/2006/main">
              <a:ext uri="{FF2B5EF4-FFF2-40B4-BE49-F238E27FC236}">
                <a16:creationId xmlns:a16="http://schemas.microsoft.com/office/drawing/2014/main" id="{6EF69ADD-7E7B-4A40-B6F6-C7BE136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J2 · 第二条研究判断</a:t>
            </a:r>
          </a:p>
        </p:txBody>
      </p:sp>
      <p:sp>
        <p:nvSpPr>
          <p:cNvPr id="7" name="j2-record-shade0">
            <a:extLst xmlns:a="http://schemas.openxmlformats.org/drawingml/2006/main">
              <a:ext uri="{FF2B5EF4-FFF2-40B4-BE49-F238E27FC236}">
                <a16:creationId xmlns:a16="http://schemas.microsoft.com/office/drawing/2014/main" id="{02524758-10CF-48F1-89A8-0B8BE06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j2-record-l0">
            <a:extLst xmlns:a="http://schemas.openxmlformats.org/drawingml/2006/main">
              <a:ext uri="{FF2B5EF4-FFF2-40B4-BE49-F238E27FC236}">
                <a16:creationId xmlns:a16="http://schemas.microsoft.com/office/drawing/2014/main" id="{C7497030-2AAF-4AFE-A9CE-71327E5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9" name="j2-record-v0">
            <a:extLst xmlns:a="http://schemas.openxmlformats.org/drawingml/2006/main">
              <a:ext uri="{FF2B5EF4-FFF2-40B4-BE49-F238E27FC236}">
                <a16:creationId xmlns:a16="http://schemas.microsoft.com/office/drawing/2014/main" id="{48CC3614-C5A7-4716-A7E8-6977AE2A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049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自由摘要作朴素 baseline</a:t>
            </a:r>
          </a:p>
        </p:txBody>
      </p:sp>
      <p:sp>
        <p:nvSpPr>
          <p:cNvPr id="10" name="j2-record-r0">
            <a:extLst xmlns:a="http://schemas.openxmlformats.org/drawingml/2006/main">
              <a:ext uri="{FF2B5EF4-FFF2-40B4-BE49-F238E27FC236}">
                <a16:creationId xmlns:a16="http://schemas.microsoft.com/office/drawing/2014/main" id="{074E4BB5-38FA-422B-93CF-A6744156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j2-record-l1">
            <a:extLst xmlns:a="http://schemas.openxmlformats.org/drawingml/2006/main">
              <a:ext uri="{FF2B5EF4-FFF2-40B4-BE49-F238E27FC236}">
                <a16:creationId xmlns:a16="http://schemas.microsoft.com/office/drawing/2014/main" id="{411F7CEE-B2B4-457E-8FBE-E4086185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理由</a:t>
            </a:r>
          </a:p>
        </p:txBody>
      </p:sp>
      <p:sp>
        <p:nvSpPr>
          <p:cNvPr id="12" name="j2-record-v1">
            <a:extLst xmlns:a="http://schemas.openxmlformats.org/drawingml/2006/main">
              <a:ext uri="{FF2B5EF4-FFF2-40B4-BE49-F238E27FC236}">
                <a16:creationId xmlns:a16="http://schemas.microsoft.com/office/drawing/2014/main" id="{2C2B128D-3B5F-4DE5-A011-0619B5D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强基线需外部 prompt 集，超出周期</a:t>
            </a:r>
          </a:p>
        </p:txBody>
      </p:sp>
      <p:sp>
        <p:nvSpPr>
          <p:cNvPr id="13" name="j2-record-r1">
            <a:extLst xmlns:a="http://schemas.openxmlformats.org/drawingml/2006/main">
              <a:ext uri="{FF2B5EF4-FFF2-40B4-BE49-F238E27FC236}">
                <a16:creationId xmlns:a16="http://schemas.microsoft.com/office/drawing/2014/main" id="{73A8CDD9-8BB2-494C-9468-6E7E302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j2-record-shade2">
            <a:extLst xmlns:a="http://schemas.openxmlformats.org/drawingml/2006/main">
              <a:ext uri="{FF2B5EF4-FFF2-40B4-BE49-F238E27FC236}">
                <a16:creationId xmlns:a16="http://schemas.microsoft.com/office/drawing/2014/main" id="{B6764751-10DA-4B56-BC4F-66F921B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5" name="j2-record-l2">
            <a:extLst xmlns:a="http://schemas.openxmlformats.org/drawingml/2006/main">
              <a:ext uri="{FF2B5EF4-FFF2-40B4-BE49-F238E27FC236}">
                <a16:creationId xmlns:a16="http://schemas.microsoft.com/office/drawing/2014/main" id="{B8D8730E-6A7C-45C6-9F7B-898BF11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6" name="j2-record-v2">
            <a:extLst xmlns:a="http://schemas.openxmlformats.org/drawingml/2006/main">
              <a:ext uri="{FF2B5EF4-FFF2-40B4-BE49-F238E27FC236}">
                <a16:creationId xmlns:a16="http://schemas.microsoft.com/office/drawing/2014/main" id="{331FB6AB-4251-45C9-8C65-0B5037C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62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只比较字段约束 vs 无约束</a:t>
            </a:r>
          </a:p>
        </p:txBody>
      </p:sp>
      <p:sp>
        <p:nvSpPr>
          <p:cNvPr id="17" name="j2-record-r2">
            <a:extLst xmlns:a="http://schemas.openxmlformats.org/drawingml/2006/main">
              <a:ext uri="{FF2B5EF4-FFF2-40B4-BE49-F238E27FC236}">
                <a16:creationId xmlns:a16="http://schemas.microsoft.com/office/drawing/2014/main" id="{75FB568E-3DC1-4B1C-A078-938CA649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j2-record-l3">
            <a:extLst xmlns:a="http://schemas.openxmlformats.org/drawingml/2006/main">
              <a:ext uri="{FF2B5EF4-FFF2-40B4-BE49-F238E27FC236}">
                <a16:creationId xmlns:a16="http://schemas.microsoft.com/office/drawing/2014/main" id="{73D17A39-2FDD-4773-8328-1463C65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依据</a:t>
            </a:r>
          </a:p>
        </p:txBody>
      </p:sp>
      <p:sp>
        <p:nvSpPr>
          <p:cNvPr id="19" name="j2-record-v3">
            <a:extLst xmlns:a="http://schemas.openxmlformats.org/drawingml/2006/main">
              <a:ext uri="{FF2B5EF4-FFF2-40B4-BE49-F238E27FC236}">
                <a16:creationId xmlns:a16="http://schemas.microsoft.com/office/drawing/2014/main" id="{3BDCA883-3966-411A-A576-9F31839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8 课反馈 + 可定位原文原则</a:t>
            </a:r>
          </a:p>
        </p:txBody>
      </p:sp>
      <p:sp>
        <p:nvSpPr>
          <p:cNvPr id="20" name="j2-record-r3">
            <a:extLst xmlns:a="http://schemas.openxmlformats.org/drawingml/2006/main">
              <a:ext uri="{FF2B5EF4-FFF2-40B4-BE49-F238E27FC236}">
                <a16:creationId xmlns:a16="http://schemas.microsoft.com/office/drawing/2014/main" id="{273CE70B-B2D3-4BDE-893F-3DEB351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j2-record-shade4">
            <a:extLst xmlns:a="http://schemas.openxmlformats.org/drawingml/2006/main">
              <a:ext uri="{FF2B5EF4-FFF2-40B4-BE49-F238E27FC236}">
                <a16:creationId xmlns:a16="http://schemas.microsoft.com/office/drawing/2014/main" id="{B0C9DF08-0B5E-41FE-A2DB-96065A5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j2-record-l4">
            <a:extLst xmlns:a="http://schemas.openxmlformats.org/drawingml/2006/main">
              <a:ext uri="{FF2B5EF4-FFF2-40B4-BE49-F238E27FC236}">
                <a16:creationId xmlns:a16="http://schemas.microsoft.com/office/drawing/2014/main" id="{B212CF3A-F393-4067-A003-FEA9ECC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待验证</a:t>
            </a:r>
          </a:p>
        </p:txBody>
      </p:sp>
      <p:sp>
        <p:nvSpPr>
          <p:cNvPr id="23" name="j2-record-v4">
            <a:extLst xmlns:a="http://schemas.openxmlformats.org/drawingml/2006/main">
              <a:ext uri="{FF2B5EF4-FFF2-40B4-BE49-F238E27FC236}">
                <a16:creationId xmlns:a16="http://schemas.microsoft.com/office/drawing/2014/main" id="{EEBFAA7D-75CF-41EB-A4DD-33C24F1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19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强基线留作后续验证</a:t>
            </a:r>
          </a:p>
        </p:txBody>
      </p:sp>
      <p:sp>
        <p:nvSpPr>
          <p:cNvPr id="24" name="j2-record-r4">
            <a:extLst xmlns:a="http://schemas.openxmlformats.org/drawingml/2006/main">
              <a:ext uri="{FF2B5EF4-FFF2-40B4-BE49-F238E27FC236}">
                <a16:creationId xmlns:a16="http://schemas.microsoft.com/office/drawing/2014/main" id="{6BA9ECEE-3DB3-48FB-997F-0EF4161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5" name="j2-record-l5">
            <a:extLst xmlns:a="http://schemas.openxmlformats.org/drawingml/2006/main">
              <a:ext uri="{FF2B5EF4-FFF2-40B4-BE49-F238E27FC236}">
                <a16:creationId xmlns:a16="http://schemas.microsoft.com/office/drawing/2014/main" id="{AACAC9F5-2B5F-46A4-B7C8-5F5623E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影响</a:t>
            </a:r>
          </a:p>
        </p:txBody>
      </p:sp>
      <p:sp>
        <p:nvSpPr>
          <p:cNvPr id="26" name="j2-record-v5">
            <a:extLst xmlns:a="http://schemas.openxmlformats.org/drawingml/2006/main">
              <a:ext uri="{FF2B5EF4-FFF2-40B4-BE49-F238E27FC236}">
                <a16:creationId xmlns:a16="http://schemas.microsoft.com/office/drawing/2014/main" id="{B22B487F-805F-4601-85B2-6E7DF23A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实验规格 §对照／§失败预案</a:t>
            </a:r>
          </a:p>
        </p:txBody>
      </p:sp>
      <p:sp>
        <p:nvSpPr>
          <p:cNvPr id="27" name="feedback">
            <a:extLst xmlns:a="http://schemas.openxmlformats.org/drawingml/2006/main">
              <a:ext uri="{FF2B5EF4-FFF2-40B4-BE49-F238E27FC236}">
                <a16:creationId xmlns:a16="http://schemas.microsoft.com/office/drawing/2014/main" id="{61260AA4-54D4-4FB3-9101-C6EEFB0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28" name="j2-feedback-shade0">
            <a:extLst xmlns:a="http://schemas.openxmlformats.org/drawingml/2006/main">
              <a:ext uri="{FF2B5EF4-FFF2-40B4-BE49-F238E27FC236}">
                <a16:creationId xmlns:a16="http://schemas.microsoft.com/office/drawing/2014/main" id="{3526B464-2387-4975-9009-7C7A384F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6099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9" name="j2-feedback-l0">
            <a:extLst xmlns:a="http://schemas.openxmlformats.org/drawingml/2006/main">
              <a:ext uri="{FF2B5EF4-FFF2-40B4-BE49-F238E27FC236}">
                <a16:creationId xmlns:a16="http://schemas.microsoft.com/office/drawing/2014/main" id="{4ABD4721-C9CA-438F-A350-F2D5146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954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增加强 baseline</a:t>
            </a:r>
          </a:p>
        </p:txBody>
      </p:sp>
      <p:sp>
        <p:nvSpPr>
          <p:cNvPr id="30" name="j2-feedback-v0">
            <a:extLst xmlns:a="http://schemas.openxmlformats.org/drawingml/2006/main">
              <a:ext uri="{FF2B5EF4-FFF2-40B4-BE49-F238E27FC236}">
                <a16:creationId xmlns:a16="http://schemas.microsoft.com/office/drawing/2014/main" id="{DE5860D5-E06C-42DB-A0BF-6BF3F63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954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保留异议</a:t>
            </a:r>
          </a:p>
        </p:txBody>
      </p:sp>
      <p:sp>
        <p:nvSpPr>
          <p:cNvPr id="31" name="j2-feedback-r0">
            <a:extLst xmlns:a="http://schemas.openxmlformats.org/drawingml/2006/main">
              <a:ext uri="{FF2B5EF4-FFF2-40B4-BE49-F238E27FC236}">
                <a16:creationId xmlns:a16="http://schemas.microsoft.com/office/drawing/2014/main" id="{DE2B8A4E-FBD9-4C0E-BFFC-22C8ECB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099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2" name="j2-feedback-l1">
            <a:extLst xmlns:a="http://schemas.openxmlformats.org/drawingml/2006/main">
              <a:ext uri="{FF2B5EF4-FFF2-40B4-BE49-F238E27FC236}">
                <a16:creationId xmlns:a16="http://schemas.microsoft.com/office/drawing/2014/main" id="{DA472329-0BB5-4B4D-999C-2C84B19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报告方差</a:t>
            </a:r>
          </a:p>
        </p:txBody>
      </p:sp>
      <p:sp>
        <p:nvSpPr>
          <p:cNvPr id="33" name="j2-feedback-v1">
            <a:extLst xmlns:a="http://schemas.openxmlformats.org/drawingml/2006/main">
              <a:ext uri="{FF2B5EF4-FFF2-40B4-BE49-F238E27FC236}">
                <a16:creationId xmlns:a16="http://schemas.microsoft.com/office/drawing/2014/main" id="{A1AA68E7-3CED-4C2C-B4A8-36B84A23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479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34" name="j2-feedback-r1">
            <a:extLst xmlns:a="http://schemas.openxmlformats.org/drawingml/2006/main">
              <a:ext uri="{FF2B5EF4-FFF2-40B4-BE49-F238E27FC236}">
                <a16:creationId xmlns:a16="http://schemas.microsoft.com/office/drawing/2014/main" id="{103217F0-79F1-4D58-86F3-940B0C3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6099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5" name="j2-feedback-shade2">
            <a:extLst xmlns:a="http://schemas.openxmlformats.org/drawingml/2006/main">
              <a:ext uri="{FF2B5EF4-FFF2-40B4-BE49-F238E27FC236}">
                <a16:creationId xmlns:a16="http://schemas.microsoft.com/office/drawing/2014/main" id="{89A11113-E1D8-4C7D-8D7E-E7E02C3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6099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36" name="j2-feedback-l2">
            <a:extLst xmlns:a="http://schemas.openxmlformats.org/drawingml/2006/main">
              <a:ext uri="{FF2B5EF4-FFF2-40B4-BE49-F238E27FC236}">
                <a16:creationId xmlns:a16="http://schemas.microsoft.com/office/drawing/2014/main" id="{D377B765-C118-420F-BC71-8AE0D9E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样本量过小</a:t>
            </a:r>
          </a:p>
        </p:txBody>
      </p:sp>
      <p:sp>
        <p:nvSpPr>
          <p:cNvPr id="37" name="j2-feedback-v2">
            <a:extLst xmlns:a="http://schemas.openxmlformats.org/drawingml/2006/main">
              <a:ext uri="{FF2B5EF4-FFF2-40B4-BE49-F238E27FC236}">
                <a16:creationId xmlns:a16="http://schemas.microsoft.com/office/drawing/2014/main" id="{E30EFFA1-EB48-4324-B493-049DC123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004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暂缓</a:t>
            </a:r>
          </a:p>
        </p:txBody>
      </p:sp>
      <p:sp>
        <p:nvSpPr>
          <p:cNvPr id="38" name="no-reject">
            <a:extLst xmlns:a="http://schemas.openxmlformats.org/drawingml/2006/main">
              <a:ext uri="{FF2B5EF4-FFF2-40B4-BE49-F238E27FC236}">
                <a16:creationId xmlns:a16="http://schemas.microsoft.com/office/drawing/2014/main" id="{61E75490-0789-4E05-9630-5EA8B64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360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按真实理由选择动作；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不机械要求拒绝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个人实践：启动判断门材料的最小闭环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class">
            <a:extLst xmlns:a="http://schemas.openxmlformats.org/drawingml/2006/main">
              <a:ext uri="{FF2B5EF4-FFF2-40B4-BE49-F238E27FC236}">
                <a16:creationId xmlns:a16="http://schemas.microsoft.com/office/drawing/2014/main" id="{D67EA42A-6537-4FBB-B8E9-2EF496E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课堂最低闭环</a:t>
            </a:r>
          </a:p>
        </p:txBody>
      </p:sp>
      <p:sp>
        <p:nvSpPr>
          <p:cNvPr id="7" name="task1-bg">
            <a:extLst xmlns:a="http://schemas.openxmlformats.org/drawingml/2006/main">
              <a:ext uri="{FF2B5EF4-FFF2-40B4-BE49-F238E27FC236}">
                <a16:creationId xmlns:a16="http://schemas.microsoft.com/office/drawing/2014/main" id="{3BA0F69D-1301-4731-A9A5-DBE66C1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8" name="task1">
            <a:extLst xmlns:a="http://schemas.openxmlformats.org/drawingml/2006/main">
              <a:ext uri="{FF2B5EF4-FFF2-40B4-BE49-F238E27FC236}">
                <a16:creationId xmlns:a16="http://schemas.microsoft.com/office/drawing/2014/main" id="{48FCF2B2-021F-40AD-8BAC-1D7864B8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457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1  选择 baseline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类型 + 公平性</a:t>
            </a:r>
          </a:p>
        </p:txBody>
      </p:sp>
      <p:sp>
        <p:nvSpPr>
          <p:cNvPr id="9" name="task2-bg">
            <a:extLst xmlns:a="http://schemas.openxmlformats.org/drawingml/2006/main">
              <a:ext uri="{FF2B5EF4-FFF2-40B4-BE49-F238E27FC236}">
                <a16:creationId xmlns:a16="http://schemas.microsoft.com/office/drawing/2014/main" id="{D6515D5D-7D99-478E-8807-51DD137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0" name="task2">
            <a:extLst xmlns:a="http://schemas.openxmlformats.org/drawingml/2006/main">
              <a:ext uri="{FF2B5EF4-FFF2-40B4-BE49-F238E27FC236}">
                <a16:creationId xmlns:a16="http://schemas.microsoft.com/office/drawing/2014/main" id="{E66AC4A2-A536-483B-B158-F41F1CE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457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2  补足可重运行记录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输入／环境／命令／输出／种子／结果</a:t>
            </a:r>
          </a:p>
        </p:txBody>
      </p:sp>
      <p:sp>
        <p:nvSpPr>
          <p:cNvPr id="11" name="after">
            <a:extLst xmlns:a="http://schemas.openxmlformats.org/drawingml/2006/main">
              <a:ext uri="{FF2B5EF4-FFF2-40B4-BE49-F238E27FC236}">
                <a16:creationId xmlns:a16="http://schemas.microsoft.com/office/drawing/2014/main" id="{C47CAB16-D45E-4479-905B-2B2F80C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课后补全</a:t>
            </a:r>
          </a:p>
        </p:txBody>
      </p:sp>
      <p:sp>
        <p:nvSpPr>
          <p:cNvPr id="12" name="after-l-0">
            <a:extLst xmlns:a="http://schemas.openxmlformats.org/drawingml/2006/main">
              <a:ext uri="{FF2B5EF4-FFF2-40B4-BE49-F238E27FC236}">
                <a16:creationId xmlns:a16="http://schemas.microsoft.com/office/drawing/2014/main" id="{1D728B79-65B7-4267-B5CB-6BC94908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七字段规格与 J2</a:t>
            </a:r>
          </a:p>
        </p:txBody>
      </p:sp>
      <p:sp>
        <p:nvSpPr>
          <p:cNvPr id="13" name="after-l-1">
            <a:extLst xmlns:a="http://schemas.openxmlformats.org/drawingml/2006/main">
              <a:ext uri="{FF2B5EF4-FFF2-40B4-BE49-F238E27FC236}">
                <a16:creationId xmlns:a16="http://schemas.microsoft.com/office/drawing/2014/main" id="{F33C4FF0-EC94-480B-9CF8-4C4E857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反馈处理与失败记录</a:t>
            </a:r>
          </a:p>
        </p:txBody>
      </p:sp>
      <p:sp>
        <p:nvSpPr>
          <p:cNvPr id="14" name="after-l-2">
            <a:extLst xmlns:a="http://schemas.openxmlformats.org/drawingml/2006/main">
              <a:ext uri="{FF2B5EF4-FFF2-40B4-BE49-F238E27FC236}">
                <a16:creationId xmlns:a16="http://schemas.microsoft.com/office/drawing/2014/main" id="{DD38E827-AF72-47FD-BBF3-D218522A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九项自查</a:t>
            </a:r>
          </a:p>
        </p:txBody>
      </p:sp>
      <p:sp>
        <p:nvSpPr>
          <p:cNvPr id="15" name="after-l-3">
            <a:extLst xmlns:a="http://schemas.openxmlformats.org/drawingml/2006/main">
              <a:ext uri="{FF2B5EF4-FFF2-40B4-BE49-F238E27FC236}">
                <a16:creationId xmlns:a16="http://schemas.microsoft.com/office/drawing/2014/main" id="{4832F040-1D52-4FC5-8D4A-12B1A45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迁移到完整模板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当堂练习与判断门分开核对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content-284">
            <a:extLst xmlns:a="http://schemas.openxmlformats.org/drawingml/2006/main">
              <a:ext uri="{FF2B5EF4-FFF2-40B4-BE49-F238E27FC236}">
                <a16:creationId xmlns:a16="http://schemas.microsoft.com/office/drawing/2014/main" id="{13F94951-5EDF-46EE-961D-E84EC75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当堂：一项 baseline 公平性修订 + 一条可重运行记录。</a:t>
            </a:r>
          </a:p>
        </p:txBody>
      </p:sp>
      <p:sp>
        <p:nvSpPr>
          <p:cNvPr id="7" name="content-285">
            <a:extLst xmlns:a="http://schemas.openxmlformats.org/drawingml/2006/main">
              <a:ext uri="{FF2B5EF4-FFF2-40B4-BE49-F238E27FC236}">
                <a16:creationId xmlns:a16="http://schemas.microsoft.com/office/drawing/2014/main" id="{25C8C01A-1016-4113-988A-DDAD9DD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课后：补齐本人实验规格、复现说明、反馈处理与模板迁移。</a:t>
            </a:r>
          </a:p>
        </p:txBody>
      </p:sp>
      <p:sp>
        <p:nvSpPr>
          <p:cNvPr id="8" name="content-286">
            <a:extLst xmlns:a="http://schemas.openxmlformats.org/drawingml/2006/main">
              <a:ext uri="{FF2B5EF4-FFF2-40B4-BE49-F238E27FC236}">
                <a16:creationId xmlns:a16="http://schemas.microsoft.com/office/drawing/2014/main" id="{A74737D4-40E6-487F-B7F2-19B00542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判断门：仍按九项完整条件检查本人项目。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同伴只按门条件提问题，作者保留决定权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cluster1">
            <a:extLst xmlns:a="http://schemas.openxmlformats.org/drawingml/2006/main">
              <a:ext uri="{FF2B5EF4-FFF2-40B4-BE49-F238E27FC236}">
                <a16:creationId xmlns:a16="http://schemas.microsoft.com/office/drawing/2014/main" id="{AF3AF5F8-4A7F-4CB3-A896-B2C1F87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baseline 与复现</a:t>
            </a:r>
          </a:p>
        </p:txBody>
      </p:sp>
      <p:sp>
        <p:nvSpPr>
          <p:cNvPr id="7" name="peer1-n0">
            <a:extLst xmlns:a="http://schemas.openxmlformats.org/drawingml/2006/main">
              <a:ext uri="{FF2B5EF4-FFF2-40B4-BE49-F238E27FC236}">
                <a16:creationId xmlns:a16="http://schemas.microsoft.com/office/drawing/2014/main" id="{3C185E08-6C6D-46B3-BE05-59DCFA2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peer1-t0">
            <a:extLst xmlns:a="http://schemas.openxmlformats.org/drawingml/2006/main">
              <a:ext uri="{FF2B5EF4-FFF2-40B4-BE49-F238E27FC236}">
                <a16:creationId xmlns:a16="http://schemas.microsoft.com/office/drawing/2014/main" id="{D819F56E-1594-41BF-9A44-5983C67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类型与公平性</a:t>
            </a:r>
          </a:p>
        </p:txBody>
      </p:sp>
      <p:sp>
        <p:nvSpPr>
          <p:cNvPr id="9" name="peer1-r0">
            <a:extLst xmlns:a="http://schemas.openxmlformats.org/drawingml/2006/main">
              <a:ext uri="{FF2B5EF4-FFF2-40B4-BE49-F238E27FC236}">
                <a16:creationId xmlns:a16="http://schemas.microsoft.com/office/drawing/2014/main" id="{22105160-D338-4343-804A-CD87608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peer1-n1">
            <a:extLst xmlns:a="http://schemas.openxmlformats.org/drawingml/2006/main">
              <a:ext uri="{FF2B5EF4-FFF2-40B4-BE49-F238E27FC236}">
                <a16:creationId xmlns:a16="http://schemas.microsoft.com/office/drawing/2014/main" id="{81AD98EB-BA1D-4127-ACC7-D6DE3E7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peer1-t1">
            <a:extLst xmlns:a="http://schemas.openxmlformats.org/drawingml/2006/main">
              <a:ext uri="{FF2B5EF4-FFF2-40B4-BE49-F238E27FC236}">
                <a16:creationId xmlns:a16="http://schemas.microsoft.com/office/drawing/2014/main" id="{73E97329-3627-49B8-82E1-75ED0E0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环境与种子</a:t>
            </a:r>
          </a:p>
        </p:txBody>
      </p:sp>
      <p:sp>
        <p:nvSpPr>
          <p:cNvPr id="12" name="peer1-r1">
            <a:extLst xmlns:a="http://schemas.openxmlformats.org/drawingml/2006/main">
              <a:ext uri="{FF2B5EF4-FFF2-40B4-BE49-F238E27FC236}">
                <a16:creationId xmlns:a16="http://schemas.microsoft.com/office/drawing/2014/main" id="{75EDF4F1-6DEB-4B77-A23B-EB15E23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peer1-n2">
            <a:extLst xmlns:a="http://schemas.openxmlformats.org/drawingml/2006/main">
              <a:ext uri="{FF2B5EF4-FFF2-40B4-BE49-F238E27FC236}">
                <a16:creationId xmlns:a16="http://schemas.microsoft.com/office/drawing/2014/main" id="{1CEA9BB9-D0E2-4F3A-99CA-31BF425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peer1-t2">
            <a:extLst xmlns:a="http://schemas.openxmlformats.org/drawingml/2006/main">
              <a:ext uri="{FF2B5EF4-FFF2-40B4-BE49-F238E27FC236}">
                <a16:creationId xmlns:a16="http://schemas.microsoft.com/office/drawing/2014/main" id="{32033848-5BEE-424F-B6B3-EF22791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重复与停止条件</a:t>
            </a:r>
          </a:p>
        </p:txBody>
      </p:sp>
      <p:sp>
        <p:nvSpPr>
          <p:cNvPr id="15" name="peer1-r2">
            <a:extLst xmlns:a="http://schemas.openxmlformats.org/drawingml/2006/main">
              <a:ext uri="{FF2B5EF4-FFF2-40B4-BE49-F238E27FC236}">
                <a16:creationId xmlns:a16="http://schemas.microsoft.com/office/drawing/2014/main" id="{70E8EF19-8728-4867-AF4A-ACD8269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cluster2">
            <a:extLst xmlns:a="http://schemas.openxmlformats.org/drawingml/2006/main">
              <a:ext uri="{FF2B5EF4-FFF2-40B4-BE49-F238E27FC236}">
                <a16:creationId xmlns:a16="http://schemas.microsoft.com/office/drawing/2014/main" id="{7E3E4B75-AF38-4666-A65E-4F99A01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判断与失败</a:t>
            </a:r>
          </a:p>
        </p:txBody>
      </p:sp>
      <p:sp>
        <p:nvSpPr>
          <p:cNvPr id="17" name="peer2-n0">
            <a:extLst xmlns:a="http://schemas.openxmlformats.org/drawingml/2006/main">
              <a:ext uri="{FF2B5EF4-FFF2-40B4-BE49-F238E27FC236}">
                <a16:creationId xmlns:a16="http://schemas.microsoft.com/office/drawing/2014/main" id="{177B21F9-C167-46C3-9A0A-9C631296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peer2-t0">
            <a:extLst xmlns:a="http://schemas.openxmlformats.org/drawingml/2006/main">
              <a:ext uri="{FF2B5EF4-FFF2-40B4-BE49-F238E27FC236}">
                <a16:creationId xmlns:a16="http://schemas.microsoft.com/office/drawing/2014/main" id="{76ED35FD-01B1-4D37-B191-7CF19F1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J2 六字段</a:t>
            </a:r>
          </a:p>
        </p:txBody>
      </p:sp>
      <p:sp>
        <p:nvSpPr>
          <p:cNvPr id="19" name="peer2-r0">
            <a:extLst xmlns:a="http://schemas.openxmlformats.org/drawingml/2006/main">
              <a:ext uri="{FF2B5EF4-FFF2-40B4-BE49-F238E27FC236}">
                <a16:creationId xmlns:a16="http://schemas.microsoft.com/office/drawing/2014/main" id="{FCD8281F-BE15-4460-AD44-7E959371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peer2-n1">
            <a:extLst xmlns:a="http://schemas.openxmlformats.org/drawingml/2006/main">
              <a:ext uri="{FF2B5EF4-FFF2-40B4-BE49-F238E27FC236}">
                <a16:creationId xmlns:a16="http://schemas.microsoft.com/office/drawing/2014/main" id="{989040BF-02E0-4A65-903D-28A877A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peer2-t1">
            <a:extLst xmlns:a="http://schemas.openxmlformats.org/drawingml/2006/main">
              <a:ext uri="{FF2B5EF4-FFF2-40B4-BE49-F238E27FC236}">
                <a16:creationId xmlns:a16="http://schemas.microsoft.com/office/drawing/2014/main" id="{BD1E486E-224D-4333-BF7E-95EEB8A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反馈处理位置</a:t>
            </a:r>
          </a:p>
        </p:txBody>
      </p:sp>
      <p:sp>
        <p:nvSpPr>
          <p:cNvPr id="22" name="peer2-r1">
            <a:extLst xmlns:a="http://schemas.openxmlformats.org/drawingml/2006/main">
              <a:ext uri="{FF2B5EF4-FFF2-40B4-BE49-F238E27FC236}">
                <a16:creationId xmlns:a16="http://schemas.microsoft.com/office/drawing/2014/main" id="{862CBD49-F119-4087-A8DF-0DC30E3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3" name="peer2-n2">
            <a:extLst xmlns:a="http://schemas.openxmlformats.org/drawingml/2006/main">
              <a:ext uri="{FF2B5EF4-FFF2-40B4-BE49-F238E27FC236}">
                <a16:creationId xmlns:a16="http://schemas.microsoft.com/office/drawing/2014/main" id="{EFF197D0-817B-4138-87AD-FAE5B5F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peer2-t2">
            <a:extLst xmlns:a="http://schemas.openxmlformats.org/drawingml/2006/main">
              <a:ext uri="{FF2B5EF4-FFF2-40B4-BE49-F238E27FC236}">
                <a16:creationId xmlns:a16="http://schemas.microsoft.com/office/drawing/2014/main" id="{5616E7E9-2F45-4265-A61C-0AD25952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风险预案</a:t>
            </a:r>
          </a:p>
        </p:txBody>
      </p:sp>
      <p:sp>
        <p:nvSpPr>
          <p:cNvPr id="25" name="peer2-r2">
            <a:extLst xmlns:a="http://schemas.openxmlformats.org/drawingml/2006/main">
              <a:ext uri="{FF2B5EF4-FFF2-40B4-BE49-F238E27FC236}">
                <a16:creationId xmlns:a16="http://schemas.microsoft.com/office/drawing/2014/main" id="{4966E3C5-9158-4FBA-8F04-181367E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6" name="peer2-n3">
            <a:extLst xmlns:a="http://schemas.openxmlformats.org/drawingml/2006/main">
              <a:ext uri="{FF2B5EF4-FFF2-40B4-BE49-F238E27FC236}">
                <a16:creationId xmlns:a16="http://schemas.microsoft.com/office/drawing/2014/main" id="{FD824D97-133C-4D33-A7D8-4F81247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peer2-t3">
            <a:extLst xmlns:a="http://schemas.openxmlformats.org/drawingml/2006/main">
              <a:ext uri="{FF2B5EF4-FFF2-40B4-BE49-F238E27FC236}">
                <a16:creationId xmlns:a16="http://schemas.microsoft.com/office/drawing/2014/main" id="{0ADDA0A7-B575-45DB-A264-1A3FF90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1475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已遇失败记录</a:t>
            </a:r>
          </a:p>
        </p:txBody>
      </p:sp>
      <p:sp>
        <p:nvSpPr>
          <p:cNvPr id="28" name="peer2-r3">
            <a:extLst xmlns:a="http://schemas.openxmlformats.org/drawingml/2006/main">
              <a:ext uri="{FF2B5EF4-FFF2-40B4-BE49-F238E27FC236}">
                <a16:creationId xmlns:a16="http://schemas.microsoft.com/office/drawing/2014/main" id="{BE393025-9F94-4FFE-B182-5A78358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9" name="cluster3">
            <a:extLst xmlns:a="http://schemas.openxmlformats.org/drawingml/2006/main">
              <a:ext uri="{FF2B5EF4-FFF2-40B4-BE49-F238E27FC236}">
                <a16:creationId xmlns:a16="http://schemas.microsoft.com/office/drawing/2014/main" id="{1EE94AE3-B7BB-41A8-A1F4-B4E42EB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模板与责任</a:t>
            </a:r>
          </a:p>
        </p:txBody>
      </p:sp>
      <p:sp>
        <p:nvSpPr>
          <p:cNvPr id="30" name="peer3-n0">
            <a:extLst xmlns:a="http://schemas.openxmlformats.org/drawingml/2006/main">
              <a:ext uri="{FF2B5EF4-FFF2-40B4-BE49-F238E27FC236}">
                <a16:creationId xmlns:a16="http://schemas.microsoft.com/office/drawing/2014/main" id="{57A00731-A3AC-4006-8841-84CB9D66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1" name="peer3-t0">
            <a:extLst xmlns:a="http://schemas.openxmlformats.org/drawingml/2006/main">
              <a:ext uri="{FF2B5EF4-FFF2-40B4-BE49-F238E27FC236}">
                <a16:creationId xmlns:a16="http://schemas.microsoft.com/office/drawing/2014/main" id="{6A5A5671-9278-4B74-827A-2ECC8B6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记录不丢失</a:t>
            </a:r>
          </a:p>
        </p:txBody>
      </p:sp>
      <p:sp>
        <p:nvSpPr>
          <p:cNvPr id="32" name="peer3-r0">
            <a:extLst xmlns:a="http://schemas.openxmlformats.org/drawingml/2006/main">
              <a:ext uri="{FF2B5EF4-FFF2-40B4-BE49-F238E27FC236}">
                <a16:creationId xmlns:a16="http://schemas.microsoft.com/office/drawing/2014/main" id="{C5B96D56-A46C-45B4-AB06-100F67B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peer3-n1">
            <a:extLst xmlns:a="http://schemas.openxmlformats.org/drawingml/2006/main">
              <a:ext uri="{FF2B5EF4-FFF2-40B4-BE49-F238E27FC236}">
                <a16:creationId xmlns:a16="http://schemas.microsoft.com/office/drawing/2014/main" id="{4D57000A-6F12-4935-AC69-F838D9F9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peer3-t1">
            <a:extLst xmlns:a="http://schemas.openxmlformats.org/drawingml/2006/main">
              <a:ext uri="{FF2B5EF4-FFF2-40B4-BE49-F238E27FC236}">
                <a16:creationId xmlns:a16="http://schemas.microsoft.com/office/drawing/2014/main" id="{B69ED38F-07E3-4437-9316-133F8CE3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伦理说明不丢失</a:t>
            </a:r>
          </a:p>
        </p:txBody>
      </p:sp>
      <p:sp>
        <p:nvSpPr>
          <p:cNvPr id="35" name="peer3-r1">
            <a:extLst xmlns:a="http://schemas.openxmlformats.org/drawingml/2006/main">
              <a:ext uri="{FF2B5EF4-FFF2-40B4-BE49-F238E27FC236}">
                <a16:creationId xmlns:a16="http://schemas.microsoft.com/office/drawing/2014/main" id="{BB5BADB7-2DAE-4F93-905B-BC1455A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6" name="actions">
            <a:extLst xmlns:a="http://schemas.openxmlformats.org/drawingml/2006/main">
              <a:ext uri="{FF2B5EF4-FFF2-40B4-BE49-F238E27FC236}">
                <a16:creationId xmlns:a16="http://schemas.microsoft.com/office/drawing/2014/main" id="{53F24D1F-FE14-44C3-B4BE-52E948B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作者选择：采纳／澄清／补证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保留异议／暂缓</a:t>
            </a:r>
          </a:p>
        </p:txBody>
      </p:sp>
      <p:sp>
        <p:nvSpPr>
          <p:cNvPr id="37" name="owner">
            <a:extLst xmlns:a="http://schemas.openxmlformats.org/drawingml/2006/main">
              <a:ext uri="{FF2B5EF4-FFF2-40B4-BE49-F238E27FC236}">
                <a16:creationId xmlns:a16="http://schemas.microsoft.com/office/drawing/2014/main" id="{FB558A56-2A63-4B37-B8D8-1637813B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同伴只按门条件提问题；作者保留修改决定权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AA2D3087-EBC7-49F3-BC6C-8FADE91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C712ED7D-2274-42C9-A0A1-E78BADC4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 baseline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C1365FC7-CA25-4DFC-A714-CC71C19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DFE713DB-9C08-459D-8902-87B7139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A9BB02C6-59F9-4F19-A269-C3A4D4D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七字段规格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3DA11004-E905-4070-BA5D-3FC9328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DDC54E76-2CC0-41CE-ADA7-B676BDC9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D4D63594-D60F-4135-AD68-822AC92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复现记录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408BF53D-43D1-4707-8DE0-17679687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65E47A4A-0C43-414B-8C00-5D3E8A50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D346BD07-B2BC-424E-8643-A385F1B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判断门材料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B1FD852-41E2-4106-A0F1-718547E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能运行，不等于公平、可复现或足以支持研究判断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提交当前项目版本，并把规格交给第 10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6" name="submit-0-bg">
            <a:extLst xmlns:a="http://schemas.openxmlformats.org/drawingml/2006/main">
              <a:ext uri="{FF2B5EF4-FFF2-40B4-BE49-F238E27FC236}">
                <a16:creationId xmlns:a16="http://schemas.microsoft.com/office/drawing/2014/main" id="{9E58E9A4-3A77-4CD9-A735-D4A503C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73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bmit-0">
            <a:extLst xmlns:a="http://schemas.openxmlformats.org/drawingml/2006/main">
              <a:ext uri="{FF2B5EF4-FFF2-40B4-BE49-F238E27FC236}">
                <a16:creationId xmlns:a16="http://schemas.microsoft.com/office/drawing/2014/main" id="{CB04D3EC-24D3-458D-997E-A915EA2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25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提交当前项目版本</a:t>
            </a:r>
          </a:p>
        </p:txBody>
      </p:sp>
      <p:sp>
        <p:nvSpPr>
          <p:cNvPr id="8" name="submit-a0">
            <a:extLst xmlns:a="http://schemas.openxmlformats.org/drawingml/2006/main">
              <a:ext uri="{FF2B5EF4-FFF2-40B4-BE49-F238E27FC236}">
                <a16:creationId xmlns:a16="http://schemas.microsoft.com/office/drawing/2014/main" id="{A2D8F1E0-4FF0-46E8-9813-42A77332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2200275"/>
            <a:ext cx="19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bmit-1-bg">
            <a:extLst xmlns:a="http://schemas.openxmlformats.org/drawingml/2006/main">
              <a:ext uri="{FF2B5EF4-FFF2-40B4-BE49-F238E27FC236}">
                <a16:creationId xmlns:a16="http://schemas.microsoft.com/office/drawing/2014/main" id="{A9479330-C184-4058-9B16-CDB1466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1905000"/>
            <a:ext cx="273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bmit-1">
            <a:extLst xmlns:a="http://schemas.openxmlformats.org/drawingml/2006/main">
              <a:ext uri="{FF2B5EF4-FFF2-40B4-BE49-F238E27FC236}">
                <a16:creationId xmlns:a16="http://schemas.microsoft.com/office/drawing/2014/main" id="{B2B49811-D372-4A47-9AC2-7A68E0D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2000250"/>
            <a:ext cx="2425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未通过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回写工件</a:t>
            </a:r>
          </a:p>
        </p:txBody>
      </p:sp>
      <p:sp>
        <p:nvSpPr>
          <p:cNvPr id="11" name="submit-a1">
            <a:extLst xmlns:a="http://schemas.openxmlformats.org/drawingml/2006/main">
              <a:ext uri="{FF2B5EF4-FFF2-40B4-BE49-F238E27FC236}">
                <a16:creationId xmlns:a16="http://schemas.microsoft.com/office/drawing/2014/main" id="{FC47766B-3C2A-4EE8-8442-A12F0FB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200275"/>
            <a:ext cx="19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bmit-2-bg">
            <a:extLst xmlns:a="http://schemas.openxmlformats.org/drawingml/2006/main">
              <a:ext uri="{FF2B5EF4-FFF2-40B4-BE49-F238E27FC236}">
                <a16:creationId xmlns:a16="http://schemas.microsoft.com/office/drawing/2014/main" id="{AF329938-70A6-47B0-AACD-2B415957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905000"/>
            <a:ext cx="273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bmit-2">
            <a:extLst xmlns:a="http://schemas.openxmlformats.org/drawingml/2006/main">
              <a:ext uri="{FF2B5EF4-FFF2-40B4-BE49-F238E27FC236}">
                <a16:creationId xmlns:a16="http://schemas.microsoft.com/office/drawing/2014/main" id="{7792657F-7026-4311-A791-80DE806A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00250"/>
            <a:ext cx="2425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交给第 10 课</a:t>
            </a:r>
          </a:p>
        </p:txBody>
      </p:sp>
      <p:sp>
        <p:nvSpPr>
          <p:cNvPr id="14" name="exit-bg">
            <a:extLst xmlns:a="http://schemas.openxmlformats.org/drawingml/2006/main">
              <a:ext uri="{FF2B5EF4-FFF2-40B4-BE49-F238E27FC236}">
                <a16:creationId xmlns:a16="http://schemas.microsoft.com/office/drawing/2014/main" id="{258EC893-8040-4367-8BD1-6143032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5" name="exit">
            <a:extLst xmlns:a="http://schemas.openxmlformats.org/drawingml/2006/main">
              <a:ext uri="{FF2B5EF4-FFF2-40B4-BE49-F238E27FC236}">
                <a16:creationId xmlns:a16="http://schemas.microsoft.com/office/drawing/2014/main" id="{3C21300C-2816-4C33-B70D-6D536D1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790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退出卡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哪项门条件最可能不通过？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下一个最小动作是什么？</a:t>
            </a:r>
          </a:p>
        </p:txBody>
      </p:sp>
      <p:sp>
        <p:nvSpPr>
          <p:cNvPr id="16" name="input">
            <a:extLst xmlns:a="http://schemas.openxmlformats.org/drawingml/2006/main">
              <a:ext uri="{FF2B5EF4-FFF2-40B4-BE49-F238E27FC236}">
                <a16:creationId xmlns:a16="http://schemas.microsoft.com/office/drawing/2014/main" id="{639D8B03-0192-4E7D-A162-C045BAA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10 课输入：baseline 判断 + 可重运行记录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标出“拟用 Agent 的步骤”与“必须人工确认的步骤”</a:t>
            </a:r>
          </a:p>
        </p:txBody>
      </p:sp>
      <p:sp>
        <p:nvSpPr>
          <p:cNvPr id="17" name="submit-note">
            <a:extLst xmlns:a="http://schemas.openxmlformats.org/drawingml/2006/main">
              <a:ext uri="{FF2B5EF4-FFF2-40B4-BE49-F238E27FC236}">
                <a16:creationId xmlns:a16="http://schemas.microsoft.com/office/drawing/2014/main" id="{3D9B3FD9-FFD2-4809-BD54-1F0F018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课后提交判断门材料包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2026-09-16T01:27:14.7330000Z</dcterms:created>
  <dcterms:modified xsi:type="dcterms:W3CDTF">2026-09-16T01:27:14.7330000Z</dcterms:modified>
</coreProperties>
</file>