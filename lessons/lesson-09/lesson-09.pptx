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df8fd560094e8b" /><Relationship Type="http://schemas.openxmlformats.org/officeDocument/2006/relationships/extended-properties" Target="/docProps/app.xml" Id="R94958622247844ee" /><Relationship Type="http://schemas.openxmlformats.org/officeDocument/2006/relationships/officeDocument" Target="/ppt/presentation.xml" Id="Re0e00f86dc1046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21845fa2064e07"/>
  </p:sldMasterIdLst>
  <p:notesMasterIdLst>
    <p:notesMasterId xmlns:r="http://schemas.openxmlformats.org/officeDocument/2006/relationships" r:id="Rca21f4df124a4dd0"/>
  </p:notesMasterIdLst>
  <p:sldIdLst>
    <p:sldId xmlns:r="http://schemas.openxmlformats.org/officeDocument/2006/relationships" id="256" r:id="Rc22368bc65da4490"/>
    <p:sldId xmlns:r="http://schemas.openxmlformats.org/officeDocument/2006/relationships" id="257" r:id="R4d4a0eeead53400b"/>
    <p:sldId xmlns:r="http://schemas.openxmlformats.org/officeDocument/2006/relationships" id="258" r:id="R0412de16b48c4ce0"/>
    <p:sldId xmlns:r="http://schemas.openxmlformats.org/officeDocument/2006/relationships" id="259" r:id="Rcab5755edf7c4640"/>
    <p:sldId xmlns:r="http://schemas.openxmlformats.org/officeDocument/2006/relationships" id="260" r:id="R0da7c6ec22194cc8"/>
    <p:sldId xmlns:r="http://schemas.openxmlformats.org/officeDocument/2006/relationships" id="261" r:id="R20a3245f2bf644f2"/>
    <p:sldId xmlns:r="http://schemas.openxmlformats.org/officeDocument/2006/relationships" id="262" r:id="R18396e460e45478e"/>
    <p:sldId xmlns:r="http://schemas.openxmlformats.org/officeDocument/2006/relationships" id="263" r:id="R8ffffc968fc24a11"/>
    <p:sldId xmlns:r="http://schemas.openxmlformats.org/officeDocument/2006/relationships" id="264" r:id="R0d60a8d3223c49f7"/>
    <p:sldId xmlns:r="http://schemas.openxmlformats.org/officeDocument/2006/relationships" id="265" r:id="R57447406b474476d"/>
    <p:sldId xmlns:r="http://schemas.openxmlformats.org/officeDocument/2006/relationships" id="266" r:id="R917290b9dd9e4cbf"/>
    <p:sldId xmlns:r="http://schemas.openxmlformats.org/officeDocument/2006/relationships" id="267" r:id="R56d97be21d9e4864"/>
    <p:sldId xmlns:r="http://schemas.openxmlformats.org/officeDocument/2006/relationships" id="268" r:id="Rb89f871f6fd64489"/>
    <p:sldId xmlns:r="http://schemas.openxmlformats.org/officeDocument/2006/relationships" id="269" r:id="R671c74ccd8444c6d"/>
    <p:sldId xmlns:r="http://schemas.openxmlformats.org/officeDocument/2006/relationships" id="270" r:id="R53873547618c4b79"/>
    <p:sldId xmlns:r="http://schemas.openxmlformats.org/officeDocument/2006/relationships" id="271" r:id="R858706ea9cc94a10"/>
    <p:sldId xmlns:r="http://schemas.openxmlformats.org/officeDocument/2006/relationships" id="272" r:id="Rfa33c920e62a46e6"/>
    <p:sldId xmlns:r="http://schemas.openxmlformats.org/officeDocument/2006/relationships" id="273" r:id="Rf3fcbfb79ed246c4"/>
    <p:sldId xmlns:r="http://schemas.openxmlformats.org/officeDocument/2006/relationships" id="274" r:id="R9cbc9d098bee4170"/>
    <p:sldId xmlns:r="http://schemas.openxmlformats.org/officeDocument/2006/relationships" id="275" r:id="Rc5c4164b0155406e"/>
    <p:sldId xmlns:r="http://schemas.openxmlformats.org/officeDocument/2006/relationships" id="276" r:id="R671dcc657dc94d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6f8a8d9a394be9" /><Relationship Type="http://schemas.openxmlformats.org/officeDocument/2006/relationships/slideMaster" Target="/ppt/slideMasters/slideMaster1.xml" Id="R4421845fa2064e07" /><Relationship Type="http://schemas.openxmlformats.org/officeDocument/2006/relationships/notesMaster" Target="/ppt/notesMasters/notesMaster1.xml" Id="Rca21f4df124a4dd0" /><Relationship Type="http://schemas.openxmlformats.org/officeDocument/2006/relationships/presProps" Target="/ppt/presProps.xml" Id="R8bea45ba52024f84" /><Relationship Type="http://schemas.openxmlformats.org/officeDocument/2006/relationships/viewProps" Target="/ppt/viewProps.xml" Id="R6b23efcf4e4f447e" /><Relationship Type="http://schemas.openxmlformats.org/officeDocument/2006/relationships/tableStyles" Target="/ppt/tableStyles.xml" Id="R9fc06e3a6a35478b" /><Relationship Type="http://schemas.openxmlformats.org/officeDocument/2006/relationships/slide" Target="/ppt/slides/slide1.xml" Id="Rc22368bc65da4490" /><Relationship Type="http://schemas.openxmlformats.org/officeDocument/2006/relationships/slide" Target="/ppt/slides/slide2.xml" Id="R4d4a0eeead53400b" /><Relationship Type="http://schemas.openxmlformats.org/officeDocument/2006/relationships/slide" Target="/ppt/slides/slide3.xml" Id="R0412de16b48c4ce0" /><Relationship Type="http://schemas.openxmlformats.org/officeDocument/2006/relationships/slide" Target="/ppt/slides/slide4.xml" Id="Rcab5755edf7c4640" /><Relationship Type="http://schemas.openxmlformats.org/officeDocument/2006/relationships/slide" Target="/ppt/slides/slide5.xml" Id="R0da7c6ec22194cc8" /><Relationship Type="http://schemas.openxmlformats.org/officeDocument/2006/relationships/slide" Target="/ppt/slides/slide6.xml" Id="R20a3245f2bf644f2" /><Relationship Type="http://schemas.openxmlformats.org/officeDocument/2006/relationships/slide" Target="/ppt/slides/slide7.xml" Id="R18396e460e45478e" /><Relationship Type="http://schemas.openxmlformats.org/officeDocument/2006/relationships/slide" Target="/ppt/slides/slide8.xml" Id="R8ffffc968fc24a11" /><Relationship Type="http://schemas.openxmlformats.org/officeDocument/2006/relationships/slide" Target="/ppt/slides/slide9.xml" Id="R0d60a8d3223c49f7" /><Relationship Type="http://schemas.openxmlformats.org/officeDocument/2006/relationships/slide" Target="/ppt/slides/slide10.xml" Id="R57447406b474476d" /><Relationship Type="http://schemas.openxmlformats.org/officeDocument/2006/relationships/slide" Target="/ppt/slides/slide11.xml" Id="R917290b9dd9e4cbf" /><Relationship Type="http://schemas.openxmlformats.org/officeDocument/2006/relationships/slide" Target="/ppt/slides/slide12.xml" Id="R56d97be21d9e4864" /><Relationship Type="http://schemas.openxmlformats.org/officeDocument/2006/relationships/slide" Target="/ppt/slides/slide13.xml" Id="Rb89f871f6fd64489" /><Relationship Type="http://schemas.openxmlformats.org/officeDocument/2006/relationships/slide" Target="/ppt/slides/slide14.xml" Id="R671c74ccd8444c6d" /><Relationship Type="http://schemas.openxmlformats.org/officeDocument/2006/relationships/slide" Target="/ppt/slides/slide15.xml" Id="R53873547618c4b79" /><Relationship Type="http://schemas.openxmlformats.org/officeDocument/2006/relationships/slide" Target="/ppt/slides/slide16.xml" Id="R858706ea9cc94a10" /><Relationship Type="http://schemas.openxmlformats.org/officeDocument/2006/relationships/slide" Target="/ppt/slides/slide17.xml" Id="Rfa33c920e62a46e6" /><Relationship Type="http://schemas.openxmlformats.org/officeDocument/2006/relationships/slide" Target="/ppt/slides/slide18.xml" Id="Rf3fcbfb79ed246c4" /><Relationship Type="http://schemas.openxmlformats.org/officeDocument/2006/relationships/slide" Target="/ppt/slides/slide19.xml" Id="R9cbc9d098bee4170" /><Relationship Type="http://schemas.openxmlformats.org/officeDocument/2006/relationships/slide" Target="/ppt/slides/slide20.xml" Id="Rc5c4164b0155406e" /><Relationship Type="http://schemas.openxmlformats.org/officeDocument/2006/relationships/slide" Target="/ppt/slides/slide21.xml" Id="R671dcc657dc94d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c062912d524d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bd87c9fa494b9d" /><Relationship Type="http://schemas.openxmlformats.org/officeDocument/2006/relationships/notesMaster" Target="/ppt/notesMasters/notesMaster1.xml" Id="R624a0802e7084e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56f14dff7c4437" /><Relationship Type="http://schemas.openxmlformats.org/officeDocument/2006/relationships/notesMaster" Target="/ppt/notesMasters/notesMaster1.xml" Id="Ra0a4474aacb64b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3990639e2048d9" /><Relationship Type="http://schemas.openxmlformats.org/officeDocument/2006/relationships/notesMaster" Target="/ppt/notesMasters/notesMaster1.xml" Id="R2cc550255bd346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659a0eeee447ed" /><Relationship Type="http://schemas.openxmlformats.org/officeDocument/2006/relationships/notesMaster" Target="/ppt/notesMasters/notesMaster1.xml" Id="Rdddf29666e6e48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12c0cf6b6a435d" /><Relationship Type="http://schemas.openxmlformats.org/officeDocument/2006/relationships/notesMaster" Target="/ppt/notesMasters/notesMaster1.xml" Id="R755354c7bb704a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070b3b035c4952" /><Relationship Type="http://schemas.openxmlformats.org/officeDocument/2006/relationships/notesMaster" Target="/ppt/notesMasters/notesMaster1.xml" Id="R520a981488ef4e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4f28dbc899410a" /><Relationship Type="http://schemas.openxmlformats.org/officeDocument/2006/relationships/notesMaster" Target="/ppt/notesMasters/notesMaster1.xml" Id="Rcd2fa7d2385246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a09f185a1b4180" /><Relationship Type="http://schemas.openxmlformats.org/officeDocument/2006/relationships/notesMaster" Target="/ppt/notesMasters/notesMaster1.xml" Id="Re01d1031cde84f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907a3359464f8b" /><Relationship Type="http://schemas.openxmlformats.org/officeDocument/2006/relationships/notesMaster" Target="/ppt/notesMasters/notesMaster1.xml" Id="Rbd0579ba066747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51ab79bdb14645" /><Relationship Type="http://schemas.openxmlformats.org/officeDocument/2006/relationships/notesMaster" Target="/ppt/notesMasters/notesMaster1.xml" Id="R6b5e6842c13e42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84bc182a8e4cf6" /><Relationship Type="http://schemas.openxmlformats.org/officeDocument/2006/relationships/notesMaster" Target="/ppt/notesMasters/notesMaster1.xml" Id="R4dce3700e52440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27331a53d54d53" /><Relationship Type="http://schemas.openxmlformats.org/officeDocument/2006/relationships/notesMaster" Target="/ppt/notesMasters/notesMaster1.xml" Id="Ra12bc728a9a547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7151c1332e4366" /><Relationship Type="http://schemas.openxmlformats.org/officeDocument/2006/relationships/notesMaster" Target="/ppt/notesMasters/notesMaster1.xml" Id="R167f00fae55c4f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177bbff8cd4eed" /><Relationship Type="http://schemas.openxmlformats.org/officeDocument/2006/relationships/notesMaster" Target="/ppt/notesMasters/notesMaster1.xml" Id="R8ffcd011bdcd41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289382a32048f4" /><Relationship Type="http://schemas.openxmlformats.org/officeDocument/2006/relationships/notesMaster" Target="/ppt/notesMasters/notesMaster1.xml" Id="R589989f4a872487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df29616b042411f" /><Relationship Type="http://schemas.openxmlformats.org/officeDocument/2006/relationships/notesMaster" Target="/ppt/notesMasters/notesMaster1.xml" Id="R5008bd5b73bf45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4c0d6560c44161" /><Relationship Type="http://schemas.openxmlformats.org/officeDocument/2006/relationships/notesMaster" Target="/ppt/notesMasters/notesMaster1.xml" Id="Rfb1f1c72145f44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e85355fa484043" /><Relationship Type="http://schemas.openxmlformats.org/officeDocument/2006/relationships/notesMaster" Target="/ppt/notesMasters/notesMaster1.xml" Id="R11bb421693f8466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b0b78827f774143" /><Relationship Type="http://schemas.openxmlformats.org/officeDocument/2006/relationships/notesMaster" Target="/ppt/notesMasters/notesMaster1.xml" Id="Rb5ea74ea92d24c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e84779584454fb3" /><Relationship Type="http://schemas.openxmlformats.org/officeDocument/2006/relationships/notesMaster" Target="/ppt/notesMasters/notesMaster1.xml" Id="R01947ca3f80c4e2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c5ab4322d84445f" /><Relationship Type="http://schemas.openxmlformats.org/officeDocument/2006/relationships/notesMaster" Target="/ppt/notesMasters/notesMaster1.xml" Id="R30aa9afe8bb34d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第9讲 Baseline、实验规格与可复现实验工程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开场放下实验规格草图。第 7 课已建立机制假设和实验规格草案，第 8 课拿到同伴反馈，但"能跑通"和"能复现"之间还有距离。本课把草图变成可复现的判断门材料，并完成第二次正式提交——判断门。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不展开课程行政信息，直接进入下一页回扣。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课程定位以 [syllabus.md](../../course/syllabus.md) 与 [备课规划.md](../备课规划.md) 第 9 课段为准。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第 7-8 课之后，草图离判断门还差七项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回扣第 7-8 课：机制假设和实验规格草图让"问什么"和"怎么验证"可见，但没有回答"baseline 公不公平""能不能复现""同伴反馈怎么处理"。本课进入阶段六成案与阶段七起始，把草图变成判断门可检查材料。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快问：你第 7 课的实验规格草图中，停止条件写了没？随机种子记录了没？只听回答，不评价。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回扣第 7 课讲义 §四与第 8 课方案分享记录；[AGENTS.md](../../AGENTS.md)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这个提升可以比较吗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先独立作答，再同伴比较；以下依据只在校准时揭示。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对象、预算、预处理、失败保留和评分可见性都变了；4/8 与 1/6 的差不能归因于方案。修复优先在同一 T01–T03 上固定预算与处理，保留所有任务。预算一致不自动使最终评价独立。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先独立写决定和证据，后同伴比较；校准后再回写。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[备课规划.md](../备课规划.md) 第 9 课目标段；[assignments.md](../../course/assignments.md) Checkpoint 2 判断门条件。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baseline 为结果比较提供参照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公平对照的重点是目标比较和可比性，不能把“只要五项一样就证明机制”当充分条件。按待检验命题选择合理对照，并披露无法匹配处。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指出本人 baseline 与方法最可能不对等的一项。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对照公平性：五项审计问题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五问是审计入口，不是逻辑上的充要条件。不同系统可以使用合理的不同配置，关键是比较问题是否清楚、资源差异是否披露、是否存在未控偏差。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给一项不公平之处写修订动作，无法修订就写边界。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五类不公平做法都会把偏倚写成效应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原 10 分钟反例审计内，4 分钟审计证据复用，6 分钟审计公平性与复现。固定指标和日志完整仍可能选优过拟合。候选选择反馈属于开发证据，全部选择冻结后才揭示最终评价。新增字段写在现有七字段中，不新增表单。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五个反例都是常见错误。重点强调"失败被删除"——这是学术规范红线（见 [assessment.md](../../course/assessment.md) 学术规范红线）。ACM Functional 的 documented/consistent/complete/exercisable 是检查维度；课程不授予徽章，研究门仍按课程条件检查。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让学生检查自己的 baseline 是否触犯五个反例之一。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§二·4；ACM Artifact Review and Badging v1.1（[reading-list.md](../../course/reading-list.md) 第 9 课）。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可复现需要完整的输入与过程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本课小包是固定输出回放，没有LLM随机采样。种子栏应写不适用，而不是补一个装饰性的42。学生真实项目按自己的随机源记录。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指出一条记录里别人还无法恢复的条件。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七字段把设计落实到记录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逐行指向真实包中sources、outputs、gold、annotations、config与入口。说明这是构造课堂规格，不假冒盲评已完成或模型实验。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圈出最影响本人结论的一项规格缺口。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停止规则先于结果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分开任务数、尝试数和研究重复次数。一次失败重试不算新的独立研究样本，也不能用重复执行固定输出来估计方差。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判断：删除T03后重算，是否遵守既定停止与汇总规则？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遗漏率从一条条件开始计算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打开T01原文、两份输出和参考标注。脚本只校验并汇总人工标注，不自动理解语义。另一个四布尔字段0.5例仅演示工程复现，不能充当这里的遗漏率。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学生指出一项“保留”的输出原句，另一人反查源文本。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一条可重运行记录要能打开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演示从README进入一次实际运行，版本以输入摘要与配置为准。这里不填写虚构SDK、模型版本或不存在的仓库commit。离线分支打开已经生成的真实日志。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同伴按说明找到一个输入、一条输出及其对应标注。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单次运行不能直接写成方法效应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Bouthillier 等人的核心发现：单次运行噪声可能改变方法比较。这意味着重复计划必须服务于要声称的结论：要谈方差或稳定性，就需要足以估计它们的重复；单次只能作为边界明确的初步观察。课程不设统一“至少 3 次”硬门。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让学生检查：自己的关键比较跑了几次？有没有报告标准差？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§四·2；Bouthillier et al. 2021（[reading-list.md](../../course/reading-list.md) 第 9 课）。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页面：P13 工件检查有四个维度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课程借用这些检查问题，不授予ACM徽章，也不把课程判断门等同于完整artifact评审。详细定义以讲义所链ACM官方说明为准。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找出当前复现包一个最影响他人使用的缺口。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页面：P14 模板迁移补字段，但不能丢历史记录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允许 README 索引＋主文档＋实现与原始记录；命题只维护一份，其他内容引用 ID。分文件与合并版按相同内容验收，保留四次阶段版本。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迁移不是重写——把 starter-template 中已稳定的字段搬到 project-template 对应位置。最常见错误：搬字段时漏掉了第 1-8 课的 AI 使用记录条目，或伦理说明没补数据使用限制。迁移验收判据：AI 使用记录条目数 ≥ 第 1-8 课总和。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让学生对照迁移表，标注自己已搬哪些、还缺哪些。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§五；[starter-template.md](../../course/starter-template.md) 与 [project-template.md](../../course/project-template.md)。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页面：P15 判断门检查当前个人项目版本的九项条件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数据材料说明含证据角色和独立单位，七字段含反馈允许用途、搜索次数、成本与判断条件；不是新增研究门数量或提交。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快速说明 9 项门条件与 assignments.md 一一对应。第 8 项记录已经发生的执行失败或已经放弃的备选方案，不能由第 7 项前瞻失败预案替代；第 9 项为模板迁移。判断门检查当前项目版本，不重新制作材料。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让学生对照清单，标注当前项目哪些已满足、哪些待补全。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[assignments.md](../../course/assignments.md) Checkpoint 2 判断门条件（权威来源）；[project-template.md](../../course/project-template.md) 字段模板。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页面：P16 J2 把 baseline 取舍和同伴反馈写进判断记录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演示如何把第 8 课同伴反馈变成判断门可检查的材料。重点是真实处理、理由和回写位置，不是覆盖机械分类。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让学生用自己的同伴反馈尝试同样的归档。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§七 贯穿案例第四至六步；第 8 课同伴反馈记录。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页面：P17 本人项目：决定、核验与回写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第一段作决定并查证据；中点处理共性卡点；第二段实际回写并验证。对象、预算、预处理、失败保留和评分可见性都变了；4/8 与 1/6 的差不能归因于方案。修复优先在同一 T01–T03 上固定预算与处理，保留所有任务。预算一致不自动使最终评价独立。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复制个人微型项目起点，实际执行 baseline.py 并评价；保存本人 trace 与输入、实现散列。为记录校验问题冻结比较协议，同伴依说明复现关键步骤。阅读卡回放另作方法示范。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[project-template.md](../../course/project-template.md) 字段模板；第 7-8 课项目工件。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页面：P18 当堂练习与判断门分开核对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教师包完成只证明学生练过方法。若没有个人项目结果，必须在退出条目写出迁移缺口，不把课堂截图当正式提交证据。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记录“已完成什么、本人项目还缺什么、补到哪个文件”。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页面：P19 同伴只按门条件提问题，作者保留决定权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每人约 3-5 分钟：一人用 45 秒说明 baseline 选择、实验规格七字段和同伴反馈处理；同伴按门条件逐项检查。反馈不要求立即改写。反馈者不替代作者修改，不形成共同提交。人数为奇数时组成三人组，每人缩短说明时间。重点检查第 1-3、5、7、8 项（本课产出），其他项只确认已存在。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按既定同伴互查段 10 分钟执行。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同伴反馈为形成性活动，不单独计分，不共同提交（[assignments.md](../../course/assignments.md)）。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页面：P20 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回收 baseline、公平性、实验规格、复现记录和判断门的关系。本页不替代下一页提交说明。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学生指出自己最可能缺失的是公平性、停止条件还是复现字段。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§二-§六；[assignments.md](../../course/assignments.md) Checkpoint 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页面：P21 保留本课决定，准备下一课输入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15 分钟整理；45 分钟修订并提交判断门，主要运行在课堂完成。 每课课外最多60分钟；详见讲义。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定位实际工件与下一项动作；按既定预算收口。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Wilson, G. et al. *PLOS Computational Biology* 13(6):e1005510 (2017). DOI: [10.1371/journal.pcbi.1005510](https://journals.plos.org/ploscompbiol/article?id=10.1371/journal.pcbi.1005510)。</a:t>
            </a:r>
          </a:p>
          <a:p xmlns:a="http://schemas.openxmlformats.org/drawingml/2006/main">
            <a:r>
              <a:t>- Pineau, J. et al. *JMLR* 22(164), 1–20 (2021). [JMLR 正式页面](https://www.jmlr.org/papers/v22/20-303.html)。</a:t>
            </a:r>
          </a:p>
          <a:p xmlns:a="http://schemas.openxmlformats.org/drawingml/2006/main">
            <a:r>
              <a:t>- ACM. *Artifact Review and Badging, Version 1.1* (2020). [官方页面](https://www.acm.org/publications/policies/artifact-review-and-badging-current)。</a:t>
            </a:r>
          </a:p>
          <a:p xmlns:a="http://schemas.openxmlformats.org/drawingml/2006/main">
            <a:r>
              <a:t>- Bouthillier, X. et al. *MLSys* 3 (2021). [MLSys 正式页面](https://proceedings.mlsys.org/paper_files/paper/2021/hash/0184b0cd3cfb185989f858a1d9f5c1eb-Abstract.html)。</a:t>
            </a:r>
          </a:p>
          <a:p xmlns:a="http://schemas.openxmlformats.org/drawingml/2006/main">
            <a:r>
              <a:t>- 阅读规则见 [reading-list.md](../../course/reading-list.md)。</a:t>
            </a:r>
          </a:p>
          <a:p xmlns:a="http://schemas.openxmlformats.org/drawingml/2006/main">
            <a:r>
              <a:t>- 判断门条件见 [assignments.md](../../course/assignments.md) Checkpoint 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f75cc2b9b423b" /><Relationship Type="http://schemas.openxmlformats.org/officeDocument/2006/relationships/image" Target="/ppt/media/image.png" Id="Rd406fca4dd074686" /><Relationship Type="http://schemas.openxmlformats.org/officeDocument/2006/relationships/image" Target="/ppt/media/image2.png" Id="R922af8451d434124" /><Relationship Type="http://schemas.openxmlformats.org/officeDocument/2006/relationships/image" Target="/ppt/media/image3.png" Id="Rf87592e0d08f4515" /><Relationship Type="http://schemas.openxmlformats.org/officeDocument/2006/relationships/image" Target="/ppt/media/image4.png" Id="R1d0afff3e18b48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122d1566f84d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0c9a6dbf9407d" /><Relationship Type="http://schemas.openxmlformats.org/officeDocument/2006/relationships/image" Target="/ppt/media/image2.png" Id="Rf7a46ed16a35406c" /><Relationship Type="http://schemas.openxmlformats.org/officeDocument/2006/relationships/image" Target="/ppt/media/image5.png" Id="R2e6b1f7382ae49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347daf1e24f82" /><Relationship Type="http://schemas.openxmlformats.org/officeDocument/2006/relationships/image" Target="/ppt/media/image.png" Id="Rf96627a91405425b" /><Relationship Type="http://schemas.openxmlformats.org/officeDocument/2006/relationships/image" Target="/ppt/media/image3.png" Id="Ra4e4776aeaa54141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6fca4dd074686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2af8451d434124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7592e0d08f4515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afff3e18b4847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a46ed16a35406c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b1f7382ae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627a91405425b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e4776aeaa54141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bbc15f6c2147cf" /><Relationship Type="http://schemas.openxmlformats.org/officeDocument/2006/relationships/slideLayout" Target="/ppt/slideLayouts/slideLayout1.xml" Id="Rf0a4b49132204a01" /><Relationship Type="http://schemas.openxmlformats.org/officeDocument/2006/relationships/slideLayout" Target="/ppt/slideLayouts/slideLayout2.xml" Id="R8d6aac90005d4068" /><Relationship Type="http://schemas.openxmlformats.org/officeDocument/2006/relationships/slideLayout" Target="/ppt/slideLayouts/slideLayout3.xml" Id="Rb576835a0e1c4af8" /><Relationship Type="http://schemas.openxmlformats.org/officeDocument/2006/relationships/slideLayout" Target="/ppt/slideLayouts/slideLayout4.xml" Id="Rae3b35460ec7408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a4b49132204a01"/>
    <p:sldLayoutId xmlns:r="http://schemas.openxmlformats.org/officeDocument/2006/relationships" id="2147483650" r:id="R8d6aac90005d4068"/>
    <p:sldLayoutId xmlns:r="http://schemas.openxmlformats.org/officeDocument/2006/relationships" id="2147483651" r:id="Rb576835a0e1c4af8"/>
    <p:sldLayoutId xmlns:r="http://schemas.openxmlformats.org/officeDocument/2006/relationships" id="2147483652" r:id="Rae3b35460ec74084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d09558c6a43e9" /><Relationship Type="http://schemas.openxmlformats.org/officeDocument/2006/relationships/notesSlide" Target="/ppt/notesSlides/notesSlide1.xml" Id="R5c7546973ee841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120ac9393c4cd3" /><Relationship Type="http://schemas.openxmlformats.org/officeDocument/2006/relationships/notesSlide" Target="/ppt/notesSlides/notesSlide2.xml" Id="Rc68997c068a645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1fa59c47e94fa7" /><Relationship Type="http://schemas.openxmlformats.org/officeDocument/2006/relationships/notesSlide" Target="/ppt/notesSlides/notesSlide3.xml" Id="Rd08d168924c847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a0ee96e27a7419b" /><Relationship Type="http://schemas.openxmlformats.org/officeDocument/2006/relationships/notesSlide" Target="/ppt/notesSlides/notesSlide4.xml" Id="R9531d6e5bfd245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ece6d8a069442a" /><Relationship Type="http://schemas.openxmlformats.org/officeDocument/2006/relationships/notesSlide" Target="/ppt/notesSlides/notesSlide5.xml" Id="Rce536b5d4c1c47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40a44056e040a2" /><Relationship Type="http://schemas.openxmlformats.org/officeDocument/2006/relationships/notesSlide" Target="/ppt/notesSlides/notesSlide6.xml" Id="R9cd45fa5dbc443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db5135ab614493c" /><Relationship Type="http://schemas.openxmlformats.org/officeDocument/2006/relationships/notesSlide" Target="/ppt/notesSlides/notesSlide7.xml" Id="R367e5737457c4e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8c87ec26d3434a" /><Relationship Type="http://schemas.openxmlformats.org/officeDocument/2006/relationships/notesSlide" Target="/ppt/notesSlides/notesSlide8.xml" Id="Re6ec10753a5140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782c3c468364c23" /><Relationship Type="http://schemas.openxmlformats.org/officeDocument/2006/relationships/notesSlide" Target="/ppt/notesSlides/notesSlide9.xml" Id="R7a15a4e25d5e48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9f49a2d99b24b87" /><Relationship Type="http://schemas.openxmlformats.org/officeDocument/2006/relationships/notesSlide" Target="/ppt/notesSlides/notesSlide10.xml" Id="R1166d2e1a3dc48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77763234bd4bf0" /><Relationship Type="http://schemas.openxmlformats.org/officeDocument/2006/relationships/notesSlide" Target="/ppt/notesSlides/notesSlide11.xml" Id="R0233bc37c8b149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4180ad46c541f1" /><Relationship Type="http://schemas.openxmlformats.org/officeDocument/2006/relationships/notesSlide" Target="/ppt/notesSlides/notesSlide12.xml" Id="Rd88c7440d9de46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16fe9fd109b4319" /><Relationship Type="http://schemas.openxmlformats.org/officeDocument/2006/relationships/notesSlide" Target="/ppt/notesSlides/notesSlide13.xml" Id="Rc5264096358e40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930329b77a4c49" /><Relationship Type="http://schemas.openxmlformats.org/officeDocument/2006/relationships/notesSlide" Target="/ppt/notesSlides/notesSlide14.xml" Id="R74b8447e836744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cf0dc98441a40c4" /><Relationship Type="http://schemas.openxmlformats.org/officeDocument/2006/relationships/notesSlide" Target="/ppt/notesSlides/notesSlide15.xml" Id="R07666d0ca59241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2bb70b24a14df3" /><Relationship Type="http://schemas.openxmlformats.org/officeDocument/2006/relationships/notesSlide" Target="/ppt/notesSlides/notesSlide16.xml" Id="Rbfa2933772364b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cc417425c1d4aa5" /><Relationship Type="http://schemas.openxmlformats.org/officeDocument/2006/relationships/notesSlide" Target="/ppt/notesSlides/notesSlide17.xml" Id="R19d645f7c28d4b8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531a90694c4b2b" /><Relationship Type="http://schemas.openxmlformats.org/officeDocument/2006/relationships/notesSlide" Target="/ppt/notesSlides/notesSlide18.xml" Id="R75ab0e5a0f8249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6c0bc29eda4725" /><Relationship Type="http://schemas.openxmlformats.org/officeDocument/2006/relationships/notesSlide" Target="/ppt/notesSlides/notesSlide19.xml" Id="Rffb1322203f447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abb463e39b48b3" /><Relationship Type="http://schemas.openxmlformats.org/officeDocument/2006/relationships/notesSlide" Target="/ppt/notesSlides/notesSlide20.xml" Id="Rc81f9a451195415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4634f003e74a3c" /><Relationship Type="http://schemas.openxmlformats.org/officeDocument/2006/relationships/notesSlide" Target="/ppt/notesSlides/notesSlide21.xml" Id="Refdb434e3e7a41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6153E53-24B4-4875-A7E0-45C16E62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第9讲  Baseline、实验规格与可复现实验工程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7-8 课之后，草图离判断门还差七项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built">
            <a:extLst xmlns:a="http://schemas.openxmlformats.org/drawingml/2006/main">
              <a:ext uri="{FF2B5EF4-FFF2-40B4-BE49-F238E27FC236}">
                <a16:creationId xmlns:a16="http://schemas.microsoft.com/office/drawing/2014/main" id="{484FF47C-4DDA-4205-B95F-622859A7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已有 4 个对象</a:t>
            </a:r>
          </a:p>
        </p:txBody>
      </p:sp>
      <p:sp>
        <p:nvSpPr>
          <p:cNvPr id="7" name="built-l-0">
            <a:extLst xmlns:a="http://schemas.openxmlformats.org/drawingml/2006/main">
              <a:ext uri="{FF2B5EF4-FFF2-40B4-BE49-F238E27FC236}">
                <a16:creationId xmlns:a16="http://schemas.microsoft.com/office/drawing/2014/main" id="{929AE395-109B-45ED-B1DD-C51C0985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810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机制与替代列表</a:t>
            </a:r>
          </a:p>
        </p:txBody>
      </p:sp>
      <p:sp>
        <p:nvSpPr>
          <p:cNvPr id="8" name="built-l-1">
            <a:extLst xmlns:a="http://schemas.openxmlformats.org/drawingml/2006/main">
              <a:ext uri="{FF2B5EF4-FFF2-40B4-BE49-F238E27FC236}">
                <a16:creationId xmlns:a16="http://schemas.microsoft.com/office/drawing/2014/main" id="{2B5B82C6-DFEE-4A6D-AE49-90468683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3810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研究判断 J1</a:t>
            </a:r>
          </a:p>
        </p:txBody>
      </p:sp>
      <p:sp>
        <p:nvSpPr>
          <p:cNvPr id="9" name="built-l-2">
            <a:extLst xmlns:a="http://schemas.openxmlformats.org/drawingml/2006/main">
              <a:ext uri="{FF2B5EF4-FFF2-40B4-BE49-F238E27FC236}">
                <a16:creationId xmlns:a16="http://schemas.microsoft.com/office/drawing/2014/main" id="{CD7884CC-9967-42F5-BE1A-833C66C4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3810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变量清单草图</a:t>
            </a:r>
          </a:p>
        </p:txBody>
      </p:sp>
      <p:sp>
        <p:nvSpPr>
          <p:cNvPr id="10" name="built-l-3">
            <a:extLst xmlns:a="http://schemas.openxmlformats.org/drawingml/2006/main">
              <a:ext uri="{FF2B5EF4-FFF2-40B4-BE49-F238E27FC236}">
                <a16:creationId xmlns:a16="http://schemas.microsoft.com/office/drawing/2014/main" id="{79958574-20CB-44A0-83FE-E0597A13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3810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同伴反馈记录</a:t>
            </a:r>
          </a:p>
        </p:txBody>
      </p:sp>
      <p:sp>
        <p:nvSpPr>
          <p:cNvPr id="11" name="gap-a">
            <a:extLst xmlns:a="http://schemas.openxmlformats.org/drawingml/2006/main">
              <a:ext uri="{FF2B5EF4-FFF2-40B4-BE49-F238E27FC236}">
                <a16:creationId xmlns:a16="http://schemas.microsoft.com/office/drawing/2014/main" id="{BF200CBF-DA9A-47C2-B327-A8B175AE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target-bg">
            <a:extLst xmlns:a="http://schemas.openxmlformats.org/drawingml/2006/main">
              <a:ext uri="{FF2B5EF4-FFF2-40B4-BE49-F238E27FC236}">
                <a16:creationId xmlns:a16="http://schemas.microsoft.com/office/drawing/2014/main" id="{5C7EF94B-6C22-451C-8BF1-5706B5A7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81250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13" name="target">
            <a:extLst xmlns:a="http://schemas.openxmlformats.org/drawingml/2006/main">
              <a:ext uri="{FF2B5EF4-FFF2-40B4-BE49-F238E27FC236}">
                <a16:creationId xmlns:a16="http://schemas.microsoft.com/office/drawing/2014/main" id="{DF3F618F-3E94-4DD3-BC5B-82312C19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76500"/>
            <a:ext cx="2266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判断门材料初版</a:t>
            </a:r>
          </a:p>
        </p:txBody>
      </p:sp>
      <p:sp>
        <p:nvSpPr>
          <p:cNvPr id="14" name="gap-b">
            <a:extLst xmlns:a="http://schemas.openxmlformats.org/drawingml/2006/main">
              <a:ext uri="{FF2B5EF4-FFF2-40B4-BE49-F238E27FC236}">
                <a16:creationId xmlns:a16="http://schemas.microsoft.com/office/drawing/2014/main" id="{6695D138-DBAB-45A5-8626-86EC30E7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670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missing">
            <a:extLst xmlns:a="http://schemas.openxmlformats.org/drawingml/2006/main">
              <a:ext uri="{FF2B5EF4-FFF2-40B4-BE49-F238E27FC236}">
                <a16:creationId xmlns:a16="http://schemas.microsoft.com/office/drawing/2014/main" id="{DF4C4C33-9C74-4BAD-925B-66ABC418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95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还差 7 项</a:t>
            </a:r>
          </a:p>
        </p:txBody>
      </p:sp>
      <p:sp>
        <p:nvSpPr>
          <p:cNvPr id="16" name="missing-l-0">
            <a:extLst xmlns:a="http://schemas.openxmlformats.org/drawingml/2006/main">
              <a:ext uri="{FF2B5EF4-FFF2-40B4-BE49-F238E27FC236}">
                <a16:creationId xmlns:a16="http://schemas.microsoft.com/office/drawing/2014/main" id="{90AB0F4F-4C6F-470B-A189-BF68EAF7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公平 baseline</a:t>
            </a:r>
          </a:p>
        </p:txBody>
      </p:sp>
      <p:sp>
        <p:nvSpPr>
          <p:cNvPr id="17" name="missing-l-1">
            <a:extLst xmlns:a="http://schemas.openxmlformats.org/drawingml/2006/main">
              <a:ext uri="{FF2B5EF4-FFF2-40B4-BE49-F238E27FC236}">
                <a16:creationId xmlns:a16="http://schemas.microsoft.com/office/drawing/2014/main" id="{5CA97700-52A6-4D6C-A92E-38332869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9072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停止／随机／失败预案</a:t>
            </a:r>
          </a:p>
        </p:txBody>
      </p:sp>
      <p:sp>
        <p:nvSpPr>
          <p:cNvPr id="18" name="missing-l-2">
            <a:extLst xmlns:a="http://schemas.openxmlformats.org/drawingml/2006/main">
              <a:ext uri="{FF2B5EF4-FFF2-40B4-BE49-F238E27FC236}">
                <a16:creationId xmlns:a16="http://schemas.microsoft.com/office/drawing/2014/main" id="{414A74AE-7EF0-4DC0-A13F-ACAF052A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0507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种子与环境</a:t>
            </a:r>
          </a:p>
        </p:txBody>
      </p:sp>
      <p:sp>
        <p:nvSpPr>
          <p:cNvPr id="19" name="missing-l-3">
            <a:extLst xmlns:a="http://schemas.openxmlformats.org/drawingml/2006/main">
              <a:ext uri="{FF2B5EF4-FFF2-40B4-BE49-F238E27FC236}">
                <a16:creationId xmlns:a16="http://schemas.microsoft.com/office/drawing/2014/main" id="{94E849EF-A126-464F-BCED-7ACE9287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1942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反馈逐条处理</a:t>
            </a:r>
          </a:p>
        </p:txBody>
      </p:sp>
      <p:sp>
        <p:nvSpPr>
          <p:cNvPr id="20" name="missing-l-4">
            <a:extLst xmlns:a="http://schemas.openxmlformats.org/drawingml/2006/main">
              <a:ext uri="{FF2B5EF4-FFF2-40B4-BE49-F238E27FC236}">
                <a16:creationId xmlns:a16="http://schemas.microsoft.com/office/drawing/2014/main" id="{FCB4BA63-59D4-4C85-BE36-7A9C31D3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3377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第二条判断</a:t>
            </a:r>
          </a:p>
        </p:txBody>
      </p:sp>
      <p:sp>
        <p:nvSpPr>
          <p:cNvPr id="21" name="missing-l-5">
            <a:extLst xmlns:a="http://schemas.openxmlformats.org/drawingml/2006/main">
              <a:ext uri="{FF2B5EF4-FFF2-40B4-BE49-F238E27FC236}">
                <a16:creationId xmlns:a16="http://schemas.microsoft.com/office/drawing/2014/main" id="{11ACF88F-98DA-487A-AFC1-05AA4F52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4812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已遇失败记录</a:t>
            </a:r>
          </a:p>
        </p:txBody>
      </p:sp>
      <p:sp>
        <p:nvSpPr>
          <p:cNvPr id="22" name="missing-l-6">
            <a:extLst xmlns:a="http://schemas.openxmlformats.org/drawingml/2006/main">
              <a:ext uri="{FF2B5EF4-FFF2-40B4-BE49-F238E27FC236}">
                <a16:creationId xmlns:a16="http://schemas.microsoft.com/office/drawing/2014/main" id="{B5ADE526-9611-41DD-BB2A-E98862D9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6247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完整模板迁移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9F463918-E048-42F7-8AB5-F02232E5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这个提升可以比较吗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D1FD1C46-DAFE-4E2E-856B-677D77FD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教学构造结果｜baseline 4/8；changed 1/6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7646E760-3F20-420D-B81D-EF251BC4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baseline｜T01–T03；一次；保留图注与失败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changed｜T01–T02；三次选优；删除图注与失败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335AD637-622C-4859-84FB-F8FA5DFE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先列变化，再选最小公平修复；预算相同是否已经保证评价独立？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E6AE9EB8-3F96-41A7-9E48-09CC48B8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C084A778-2BF0-4347-8EE6-454BF377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baseline 为结果比较提供参照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content-245">
            <a:extLst xmlns:a="http://schemas.openxmlformats.org/drawingml/2006/main">
              <a:ext uri="{FF2B5EF4-FFF2-40B4-BE49-F238E27FC236}">
                <a16:creationId xmlns:a16="http://schemas.microsoft.com/office/drawing/2014/main" id="{1ED566E3-E26D-4D2E-A090-A36DD48E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同一研究问题 → 合理的比较对象</a:t>
            </a:r>
          </a:p>
        </p:txBody>
      </p:sp>
      <p:sp>
        <p:nvSpPr>
          <p:cNvPr id="7" name="content-246">
            <a:extLst xmlns:a="http://schemas.openxmlformats.org/drawingml/2006/main">
              <a:ext uri="{FF2B5EF4-FFF2-40B4-BE49-F238E27FC236}">
                <a16:creationId xmlns:a16="http://schemas.microsoft.com/office/drawing/2014/main" id="{F6BF1B8E-318D-48AA-9C11-539A3279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同一评价口径 → 可解释的结果差异</a:t>
            </a:r>
          </a:p>
        </p:txBody>
      </p:sp>
      <p:sp>
        <p:nvSpPr>
          <p:cNvPr id="8" name="content-247">
            <a:extLst xmlns:a="http://schemas.openxmlformats.org/drawingml/2006/main">
              <a:ext uri="{FF2B5EF4-FFF2-40B4-BE49-F238E27FC236}">
                <a16:creationId xmlns:a16="http://schemas.microsoft.com/office/drawing/2014/main" id="{BF36A495-751A-426C-AE93-53DC0402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两组有差异，仍需排查混杂。</a:t>
            </a:r>
          </a:p>
        </p:txBody>
      </p:sp>
      <p:sp>
        <p:nvSpPr>
          <p:cNvPr id="9" name="content-248">
            <a:extLst xmlns:a="http://schemas.openxmlformats.org/drawingml/2006/main">
              <a:ext uri="{FF2B5EF4-FFF2-40B4-BE49-F238E27FC236}">
                <a16:creationId xmlns:a16="http://schemas.microsoft.com/office/drawing/2014/main" id="{A239893C-761E-4A1B-B74E-BDC92C90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一个 baseline 通常不能单独证明机制。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对照公平性：五项审计问题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content-249">
            <a:extLst xmlns:a="http://schemas.openxmlformats.org/drawingml/2006/main">
              <a:ext uri="{FF2B5EF4-FFF2-40B4-BE49-F238E27FC236}">
                <a16:creationId xmlns:a16="http://schemas.microsoft.com/office/drawing/2014/main" id="{45D2B82A-A4B0-4BF6-96DF-A52251AE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数据与任务是否可比？</a:t>
            </a:r>
          </a:p>
        </p:txBody>
      </p:sp>
      <p:sp>
        <p:nvSpPr>
          <p:cNvPr id="7" name="content-250">
            <a:extLst xmlns:a="http://schemas.openxmlformats.org/drawingml/2006/main">
              <a:ext uri="{FF2B5EF4-FFF2-40B4-BE49-F238E27FC236}">
                <a16:creationId xmlns:a16="http://schemas.microsoft.com/office/drawing/2014/main" id="{8C047AAE-5F0D-4595-98FB-0F6825E7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资源与调参机会是否合理？</a:t>
            </a:r>
          </a:p>
        </p:txBody>
      </p:sp>
      <p:sp>
        <p:nvSpPr>
          <p:cNvPr id="8" name="content-251">
            <a:extLst xmlns:a="http://schemas.openxmlformats.org/drawingml/2006/main">
              <a:ext uri="{FF2B5EF4-FFF2-40B4-BE49-F238E27FC236}">
                <a16:creationId xmlns:a16="http://schemas.microsoft.com/office/drawing/2014/main" id="{D5C36FA1-41D7-44E9-BA5F-F0AB5BE8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评价协议是否一致？</a:t>
            </a:r>
          </a:p>
        </p:txBody>
      </p:sp>
      <p:sp>
        <p:nvSpPr>
          <p:cNvPr id="9" name="content-252">
            <a:extLst xmlns:a="http://schemas.openxmlformats.org/drawingml/2006/main">
              <a:ext uri="{FF2B5EF4-FFF2-40B4-BE49-F238E27FC236}">
                <a16:creationId xmlns:a16="http://schemas.microsoft.com/office/drawing/2014/main" id="{A6E4E171-0E64-4FF2-871F-DF915572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运行与停止规则是否预先约定？</a:t>
            </a:r>
          </a:p>
        </p:txBody>
      </p:sp>
      <p:sp>
        <p:nvSpPr>
          <p:cNvPr id="10" name="content-253">
            <a:extLst xmlns:a="http://schemas.openxmlformats.org/drawingml/2006/main">
              <a:ext uri="{FF2B5EF4-FFF2-40B4-BE49-F238E27FC236}">
                <a16:creationId xmlns:a16="http://schemas.microsoft.com/office/drawing/2014/main" id="{DE34A2EE-9F17-4E50-BF48-15F64E27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双方失败是否完整保留？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五类不公平做法都会把偏倚写成效应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bias-shade0">
            <a:extLst xmlns:a="http://schemas.openxmlformats.org/drawingml/2006/main">
              <a:ext uri="{FF2B5EF4-FFF2-40B4-BE49-F238E27FC236}">
                <a16:creationId xmlns:a16="http://schemas.microsoft.com/office/drawing/2014/main" id="{A9F53084-7009-4EB8-B89F-D4F98907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7" name="bias-l0">
            <a:extLst xmlns:a="http://schemas.openxmlformats.org/drawingml/2006/main">
              <a:ext uri="{FF2B5EF4-FFF2-40B4-BE49-F238E27FC236}">
                <a16:creationId xmlns:a16="http://schemas.microsoft.com/office/drawing/2014/main" id="{B86F110C-E6C4-41BA-96D8-7357A5FC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573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数据不一致</a:t>
            </a:r>
          </a:p>
        </p:txBody>
      </p:sp>
      <p:sp>
        <p:nvSpPr>
          <p:cNvPr id="8" name="bias-v0">
            <a:extLst xmlns:a="http://schemas.openxmlformats.org/drawingml/2006/main">
              <a:ext uri="{FF2B5EF4-FFF2-40B4-BE49-F238E27FC236}">
                <a16:creationId xmlns:a16="http://schemas.microsoft.com/office/drawing/2014/main" id="{6033DF86-4077-4EA2-A65E-DD2FE00E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573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难度差异</a:t>
            </a:r>
          </a:p>
        </p:txBody>
      </p:sp>
      <p:sp>
        <p:nvSpPr>
          <p:cNvPr id="9" name="bias-r0">
            <a:extLst xmlns:a="http://schemas.openxmlformats.org/drawingml/2006/main">
              <a:ext uri="{FF2B5EF4-FFF2-40B4-BE49-F238E27FC236}">
                <a16:creationId xmlns:a16="http://schemas.microsoft.com/office/drawing/2014/main" id="{E99E6CD9-E7D4-4FA5-B7E9-04A2EA60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050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0" name="bias-l1">
            <a:extLst xmlns:a="http://schemas.openxmlformats.org/drawingml/2006/main">
              <a:ext uri="{FF2B5EF4-FFF2-40B4-BE49-F238E27FC236}">
                <a16:creationId xmlns:a16="http://schemas.microsoft.com/office/drawing/2014/main" id="{5E020DBF-105F-4CBD-B9F8-F18AB6E9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812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超参不对等</a:t>
            </a:r>
          </a:p>
        </p:txBody>
      </p:sp>
      <p:sp>
        <p:nvSpPr>
          <p:cNvPr id="11" name="bias-v1">
            <a:extLst xmlns:a="http://schemas.openxmlformats.org/drawingml/2006/main">
              <a:ext uri="{FF2B5EF4-FFF2-40B4-BE49-F238E27FC236}">
                <a16:creationId xmlns:a16="http://schemas.microsoft.com/office/drawing/2014/main" id="{3ADDDC4A-50AB-4C7F-8C7A-1D4362D9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812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调参差异</a:t>
            </a:r>
          </a:p>
        </p:txBody>
      </p:sp>
      <p:sp>
        <p:nvSpPr>
          <p:cNvPr id="12" name="bias-r1">
            <a:extLst xmlns:a="http://schemas.openxmlformats.org/drawingml/2006/main">
              <a:ext uri="{FF2B5EF4-FFF2-40B4-BE49-F238E27FC236}">
                <a16:creationId xmlns:a16="http://schemas.microsoft.com/office/drawing/2014/main" id="{26EDE8E6-EF61-4F75-9C0A-6C2E0096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bias-shade2">
            <a:extLst xmlns:a="http://schemas.openxmlformats.org/drawingml/2006/main">
              <a:ext uri="{FF2B5EF4-FFF2-40B4-BE49-F238E27FC236}">
                <a16:creationId xmlns:a16="http://schemas.microsoft.com/office/drawing/2014/main" id="{7BA2D453-5495-4541-A883-8F333C81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28925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4" name="bias-l2">
            <a:extLst xmlns:a="http://schemas.openxmlformats.org/drawingml/2006/main">
              <a:ext uri="{FF2B5EF4-FFF2-40B4-BE49-F238E27FC236}">
                <a16:creationId xmlns:a16="http://schemas.microsoft.com/office/drawing/2014/main" id="{ED097F95-29CA-4667-8678-9EC311FA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评价不一致</a:t>
            </a:r>
          </a:p>
        </p:txBody>
      </p:sp>
      <p:sp>
        <p:nvSpPr>
          <p:cNvPr id="15" name="bias-v2">
            <a:extLst xmlns:a="http://schemas.openxmlformats.org/drawingml/2006/main">
              <a:ext uri="{FF2B5EF4-FFF2-40B4-BE49-F238E27FC236}">
                <a16:creationId xmlns:a16="http://schemas.microsoft.com/office/drawing/2014/main" id="{1760ABEB-386C-47A6-B35D-7341F94F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051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评价者偏倚</a:t>
            </a:r>
          </a:p>
        </p:txBody>
      </p:sp>
      <p:sp>
        <p:nvSpPr>
          <p:cNvPr id="16" name="bias-r2">
            <a:extLst xmlns:a="http://schemas.openxmlformats.org/drawingml/2006/main">
              <a:ext uri="{FF2B5EF4-FFF2-40B4-BE49-F238E27FC236}">
                <a16:creationId xmlns:a16="http://schemas.microsoft.com/office/drawing/2014/main" id="{A95EC006-7B50-4BC8-BCDF-1EF5FF83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528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7" name="bias-l3">
            <a:extLst xmlns:a="http://schemas.openxmlformats.org/drawingml/2006/main">
              <a:ext uri="{FF2B5EF4-FFF2-40B4-BE49-F238E27FC236}">
                <a16:creationId xmlns:a16="http://schemas.microsoft.com/office/drawing/2014/main" id="{3342441C-E8E6-468A-B89F-1E201381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290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历史反复选优</a:t>
            </a:r>
          </a:p>
        </p:txBody>
      </p:sp>
      <p:sp>
        <p:nvSpPr>
          <p:cNvPr id="18" name="bias-v3">
            <a:extLst xmlns:a="http://schemas.openxmlformats.org/drawingml/2006/main">
              <a:ext uri="{FF2B5EF4-FFF2-40B4-BE49-F238E27FC236}">
                <a16:creationId xmlns:a16="http://schemas.microsoft.com/office/drawing/2014/main" id="{F09C115C-6043-43E5-B6AF-8BE56489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290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乐观分数</a:t>
            </a:r>
          </a:p>
        </p:txBody>
      </p:sp>
      <p:sp>
        <p:nvSpPr>
          <p:cNvPr id="19" name="bias-r3">
            <a:extLst xmlns:a="http://schemas.openxmlformats.org/drawingml/2006/main">
              <a:ext uri="{FF2B5EF4-FFF2-40B4-BE49-F238E27FC236}">
                <a16:creationId xmlns:a16="http://schemas.microsoft.com/office/drawing/2014/main" id="{53DCE3D3-10AD-439B-9A05-25659DCF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0" name="bias-shade4">
            <a:extLst xmlns:a="http://schemas.openxmlformats.org/drawingml/2006/main">
              <a:ext uri="{FF2B5EF4-FFF2-40B4-BE49-F238E27FC236}">
                <a16:creationId xmlns:a16="http://schemas.microsoft.com/office/drawing/2014/main" id="{BFA531E4-4EBC-4D92-BC27-58A0EC27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1" name="bias-l4">
            <a:extLst xmlns:a="http://schemas.openxmlformats.org/drawingml/2006/main">
              <a:ext uri="{FF2B5EF4-FFF2-40B4-BE49-F238E27FC236}">
                <a16:creationId xmlns:a16="http://schemas.microsoft.com/office/drawing/2014/main" id="{C13EEC5B-93CA-4A62-98CE-9BE00DFF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529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失败被删除</a:t>
            </a:r>
          </a:p>
        </p:txBody>
      </p:sp>
      <p:sp>
        <p:nvSpPr>
          <p:cNvPr id="22" name="bias-v4">
            <a:extLst xmlns:a="http://schemas.openxmlformats.org/drawingml/2006/main">
              <a:ext uri="{FF2B5EF4-FFF2-40B4-BE49-F238E27FC236}">
                <a16:creationId xmlns:a16="http://schemas.microsoft.com/office/drawing/2014/main" id="{AC211B4A-0FF6-4012-B64E-5340D604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529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隐性偏倚</a:t>
            </a:r>
          </a:p>
        </p:txBody>
      </p:sp>
      <p:sp>
        <p:nvSpPr>
          <p:cNvPr id="23" name="bias-arrow">
            <a:extLst xmlns:a="http://schemas.openxmlformats.org/drawingml/2006/main">
              <a:ext uri="{FF2B5EF4-FFF2-40B4-BE49-F238E27FC236}">
                <a16:creationId xmlns:a16="http://schemas.microsoft.com/office/drawing/2014/main" id="{AF8D2C0E-0CE8-4B5D-964F-0FD48BD9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9112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公平对照＋独立评价，分别检查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可复现需要完整的输入与过程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content-254">
            <a:extLst xmlns:a="http://schemas.openxmlformats.org/drawingml/2006/main">
              <a:ext uri="{FF2B5EF4-FFF2-40B4-BE49-F238E27FC236}">
                <a16:creationId xmlns:a16="http://schemas.microsoft.com/office/drawing/2014/main" id="{03409C67-4751-4772-AD5D-58F75F32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材料版本 + 配置 + 入口命令</a:t>
            </a:r>
          </a:p>
        </p:txBody>
      </p:sp>
      <p:sp>
        <p:nvSpPr>
          <p:cNvPr id="7" name="content-255">
            <a:extLst xmlns:a="http://schemas.openxmlformats.org/drawingml/2006/main">
              <a:ext uri="{FF2B5EF4-FFF2-40B4-BE49-F238E27FC236}">
                <a16:creationId xmlns:a16="http://schemas.microsoft.com/office/drawing/2014/main" id="{B13F9B85-F4DA-4D36-83B7-6FBD87A5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原始输出 + 日志 + 汇总口径</a:t>
            </a:r>
          </a:p>
        </p:txBody>
      </p:sp>
      <p:sp>
        <p:nvSpPr>
          <p:cNvPr id="8" name="content-256">
            <a:extLst xmlns:a="http://schemas.openxmlformats.org/drawingml/2006/main">
              <a:ext uri="{FF2B5EF4-FFF2-40B4-BE49-F238E27FC236}">
                <a16:creationId xmlns:a16="http://schemas.microsoft.com/office/drawing/2014/main" id="{F6376D47-DEFF-414F-9E0C-D0D785E7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有随机源：记录种子和重复计划。</a:t>
            </a:r>
          </a:p>
        </p:txBody>
      </p:sp>
      <p:sp>
        <p:nvSpPr>
          <p:cNvPr id="9" name="content-257">
            <a:extLst xmlns:a="http://schemas.openxmlformats.org/drawingml/2006/main">
              <a:ext uri="{FF2B5EF4-FFF2-40B4-BE49-F238E27FC236}">
                <a16:creationId xmlns:a16="http://schemas.microsoft.com/office/drawing/2014/main" id="{AFE11899-51FE-4A64-B3FB-6CA0829D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无随机源：说明确定性及输入版本。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七字段把设计落实到记录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content-258">
            <a:extLst xmlns:a="http://schemas.openxmlformats.org/drawingml/2006/main">
              <a:ext uri="{FF2B5EF4-FFF2-40B4-BE49-F238E27FC236}">
                <a16:creationId xmlns:a16="http://schemas.microsoft.com/office/drawing/2014/main" id="{64A4EA3F-9B59-41EE-B2BA-4A15EF83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假设对应｜Q1；H1/A2 待区分</a:t>
            </a:r>
          </a:p>
        </p:txBody>
      </p:sp>
      <p:sp>
        <p:nvSpPr>
          <p:cNvPr id="7" name="content-259">
            <a:extLst xmlns:a="http://schemas.openxmlformats.org/drawingml/2006/main">
              <a:ext uri="{FF2B5EF4-FFF2-40B4-BE49-F238E27FC236}">
                <a16:creationId xmlns:a16="http://schemas.microsoft.com/office/drawing/2014/main" id="{26401D0F-E723-49A4-AA8E-5927EF04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变量｜输出条件与遗漏指标</a:t>
            </a:r>
          </a:p>
        </p:txBody>
      </p:sp>
      <p:sp>
        <p:nvSpPr>
          <p:cNvPr id="8" name="content-260">
            <a:extLst xmlns:a="http://schemas.openxmlformats.org/drawingml/2006/main">
              <a:ext uri="{FF2B5EF4-FFF2-40B4-BE49-F238E27FC236}">
                <a16:creationId xmlns:a16="http://schemas.microsoft.com/office/drawing/2014/main" id="{CF709FAB-9FBC-4644-8EBF-12450F00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步骤｜回放、人工核验、汇总</a:t>
            </a:r>
          </a:p>
        </p:txBody>
      </p:sp>
      <p:sp>
        <p:nvSpPr>
          <p:cNvPr id="9" name="content-261">
            <a:extLst xmlns:a="http://schemas.openxmlformats.org/drawingml/2006/main">
              <a:ext uri="{FF2B5EF4-FFF2-40B4-BE49-F238E27FC236}">
                <a16:creationId xmlns:a16="http://schemas.microsoft.com/office/drawing/2014/main" id="{47E49E3F-5AAA-4FB8-AAC2-F22766DC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度量｜缺失条件数 / 应保留条件数</a:t>
            </a:r>
          </a:p>
        </p:txBody>
      </p:sp>
      <p:sp>
        <p:nvSpPr>
          <p:cNvPr id="10" name="content-262">
            <a:extLst xmlns:a="http://schemas.openxmlformats.org/drawingml/2006/main">
              <a:ext uri="{FF2B5EF4-FFF2-40B4-BE49-F238E27FC236}">
                <a16:creationId xmlns:a16="http://schemas.microsoft.com/office/drawing/2014/main" id="{55F4E743-288A-431D-99FE-03B541B4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对照｜同源文本的自由摘要</a:t>
            </a:r>
          </a:p>
        </p:txBody>
      </p:sp>
      <p:sp>
        <p:nvSpPr>
          <p:cNvPr id="11" name="content-263">
            <a:extLst xmlns:a="http://schemas.openxmlformats.org/drawingml/2006/main">
              <a:ext uri="{FF2B5EF4-FFF2-40B4-BE49-F238E27FC236}">
                <a16:creationId xmlns:a16="http://schemas.microsoft.com/office/drawing/2014/main" id="{70C49DC5-02FD-4173-A227-51C9D5E2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配对与重复｜3 文本 × 2 条件 × 1 固定输出</a:t>
            </a:r>
          </a:p>
        </p:txBody>
      </p:sp>
      <p:sp>
        <p:nvSpPr>
          <p:cNvPr id="12" name="content-264">
            <a:extLst xmlns:a="http://schemas.openxmlformats.org/drawingml/2006/main">
              <a:ext uri="{FF2B5EF4-FFF2-40B4-BE49-F238E27FC236}">
                <a16:creationId xmlns:a16="http://schemas.microsoft.com/office/drawing/2014/main" id="{F9C761E9-8574-4C3A-A0F6-137A962C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停止｜6 个任务完成；技术异常暂停并留痕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停止规则先于结果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content-265">
            <a:extLst xmlns:a="http://schemas.openxmlformats.org/drawingml/2006/main">
              <a:ext uri="{FF2B5EF4-FFF2-40B4-BE49-F238E27FC236}">
                <a16:creationId xmlns:a16="http://schemas.microsoft.com/office/drawing/2014/main" id="{F5715560-507F-491A-AF58-E433D19D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固定队列：6 个任务；最多 8 次执行尝试。</a:t>
            </a:r>
          </a:p>
        </p:txBody>
      </p:sp>
      <p:sp>
        <p:nvSpPr>
          <p:cNvPr id="7" name="content-266">
            <a:extLst xmlns:a="http://schemas.openxmlformats.org/drawingml/2006/main">
              <a:ext uri="{FF2B5EF4-FFF2-40B4-BE49-F238E27FC236}">
                <a16:creationId xmlns:a16="http://schemas.microsoft.com/office/drawing/2014/main" id="{DC051BA6-C489-441A-85FC-772B4370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成功完成的任务不重复执行。</a:t>
            </a:r>
          </a:p>
        </p:txBody>
      </p:sp>
      <p:sp>
        <p:nvSpPr>
          <p:cNvPr id="8" name="content-267">
            <a:extLst xmlns:a="http://schemas.openxmlformats.org/drawingml/2006/main">
              <a:ext uri="{FF2B5EF4-FFF2-40B4-BE49-F238E27FC236}">
                <a16:creationId xmlns:a16="http://schemas.microsoft.com/office/drawing/2014/main" id="{851895CD-A2DC-4A33-A19F-9F6472FF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技术失败保留后恢复；输入变化时另建运行目录。</a:t>
            </a:r>
          </a:p>
        </p:txBody>
      </p:sp>
      <p:sp>
        <p:nvSpPr>
          <p:cNvPr id="9" name="content-268">
            <a:extLst xmlns:a="http://schemas.openxmlformats.org/drawingml/2006/main">
              <a:ext uri="{FF2B5EF4-FFF2-40B4-BE49-F238E27FC236}">
                <a16:creationId xmlns:a16="http://schemas.microsoft.com/office/drawing/2014/main" id="{F9626FEA-B893-4D19-902E-F42B976E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负向结果照常进入评价。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遗漏率从一条条件开始计算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content-269">
            <a:extLst xmlns:a="http://schemas.openxmlformats.org/drawingml/2006/main">
              <a:ext uri="{FF2B5EF4-FFF2-40B4-BE49-F238E27FC236}">
                <a16:creationId xmlns:a16="http://schemas.microsoft.com/office/drawing/2014/main" id="{DB744073-20AB-4D14-8E5D-FCC1FD51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T01 应保留：英文材料、长度上限、显式限定句。</a:t>
            </a:r>
          </a:p>
        </p:txBody>
      </p:sp>
      <p:sp>
        <p:nvSpPr>
          <p:cNvPr id="7" name="content-270">
            <a:extLst xmlns:a="http://schemas.openxmlformats.org/drawingml/2006/main">
              <a:ext uri="{FF2B5EF4-FFF2-40B4-BE49-F238E27FC236}">
                <a16:creationId xmlns:a16="http://schemas.microsoft.com/office/drawing/2014/main" id="{A1530B79-AC62-4361-917A-0BF030BB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阅读卡保留 3 项 → 遗漏 0/3。</a:t>
            </a:r>
          </a:p>
        </p:txBody>
      </p:sp>
      <p:sp>
        <p:nvSpPr>
          <p:cNvPr id="8" name="content-271">
            <a:extLst xmlns:a="http://schemas.openxmlformats.org/drawingml/2006/main">
              <a:ext uri="{FF2B5EF4-FFF2-40B4-BE49-F238E27FC236}">
                <a16:creationId xmlns:a16="http://schemas.microsoft.com/office/drawing/2014/main" id="{1030CA1D-02EE-4E95-A363-FE806C89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自由摘要保留 1 项 → 遗漏 2/3。</a:t>
            </a:r>
          </a:p>
        </p:txBody>
      </p:sp>
      <p:sp>
        <p:nvSpPr>
          <p:cNvPr id="9" name="content-272">
            <a:extLst xmlns:a="http://schemas.openxmlformats.org/drawingml/2006/main">
              <a:ext uri="{FF2B5EF4-FFF2-40B4-BE49-F238E27FC236}">
                <a16:creationId xmlns:a16="http://schemas.microsoft.com/office/drawing/2014/main" id="{41DDFB14-7D56-4E8E-B5C9-CC32AD20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先核验原文和输出，再汇总数字。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一条可重运行记录要能打开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content-273">
            <a:extLst xmlns:a="http://schemas.openxmlformats.org/drawingml/2006/main">
              <a:ext uri="{FF2B5EF4-FFF2-40B4-BE49-F238E27FC236}">
                <a16:creationId xmlns:a16="http://schemas.microsoft.com/office/drawing/2014/main" id="{68C243A4-CE11-489E-BCB1-FF13607A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输入：sources.json / outputs.json</a:t>
            </a:r>
          </a:p>
        </p:txBody>
      </p:sp>
      <p:sp>
        <p:nvSpPr>
          <p:cNvPr id="7" name="content-274">
            <a:extLst xmlns:a="http://schemas.openxmlformats.org/drawingml/2006/main">
              <a:ext uri="{FF2B5EF4-FFF2-40B4-BE49-F238E27FC236}">
                <a16:creationId xmlns:a16="http://schemas.microsoft.com/office/drawing/2014/main" id="{90BCC8CB-1EE1-47C1-8B18-77B47E56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配置：config.json 与文件摘要</a:t>
            </a:r>
          </a:p>
        </p:txBody>
      </p:sp>
      <p:sp>
        <p:nvSpPr>
          <p:cNvPr id="8" name="content-275">
            <a:extLst xmlns:a="http://schemas.openxmlformats.org/drawingml/2006/main">
              <a:ext uri="{FF2B5EF4-FFF2-40B4-BE49-F238E27FC236}">
                <a16:creationId xmlns:a16="http://schemas.microsoft.com/office/drawing/2014/main" id="{E5671042-B769-499B-B997-2290BC12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入口：run.py replay，再 evaluate</a:t>
            </a:r>
          </a:p>
        </p:txBody>
      </p:sp>
      <p:sp>
        <p:nvSpPr>
          <p:cNvPr id="9" name="content-276">
            <a:extLst xmlns:a="http://schemas.openxmlformats.org/drawingml/2006/main">
              <a:ext uri="{FF2B5EF4-FFF2-40B4-BE49-F238E27FC236}">
                <a16:creationId xmlns:a16="http://schemas.microsoft.com/office/drawing/2014/main" id="{DD98F77D-6C77-461C-87B5-782F61F0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过程：events.jsonl / state.json</a:t>
            </a:r>
          </a:p>
        </p:txBody>
      </p:sp>
      <p:sp>
        <p:nvSpPr>
          <p:cNvPr id="10" name="content-277">
            <a:extLst xmlns:a="http://schemas.openxmlformats.org/drawingml/2006/main">
              <a:ext uri="{FF2B5EF4-FFF2-40B4-BE49-F238E27FC236}">
                <a16:creationId xmlns:a16="http://schemas.microsoft.com/office/drawing/2014/main" id="{B5E0C1DE-01BC-4AC2-9A3F-253D9B19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结果：evaluation.json</a:t>
            </a:r>
          </a:p>
        </p:txBody>
      </p:sp>
      <p:sp>
        <p:nvSpPr>
          <p:cNvPr id="11" name="content-278">
            <a:extLst xmlns:a="http://schemas.openxmlformats.org/drawingml/2006/main">
              <a:ext uri="{FF2B5EF4-FFF2-40B4-BE49-F238E27FC236}">
                <a16:creationId xmlns:a16="http://schemas.microsoft.com/office/drawing/2014/main" id="{7A7BD1B6-A1E0-4DFB-BCAB-367DB927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基准：gold.json / annotations.json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单次运行不能直接写成方法效应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variance">
            <a:extLst xmlns:a="http://schemas.openxmlformats.org/drawingml/2006/main">
              <a:ext uri="{FF2B5EF4-FFF2-40B4-BE49-F238E27FC236}">
                <a16:creationId xmlns:a16="http://schemas.microsoft.com/office/drawing/2014/main" id="{EC69789B-9E5F-4C1F-9F7F-C28A39E9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随机性来源</a:t>
            </a:r>
          </a:p>
        </p:txBody>
      </p:sp>
      <p:sp>
        <p:nvSpPr>
          <p:cNvPr id="7" name="sources">
            <a:extLst xmlns:a="http://schemas.openxmlformats.org/drawingml/2006/main">
              <a:ext uri="{FF2B5EF4-FFF2-40B4-BE49-F238E27FC236}">
                <a16:creationId xmlns:a16="http://schemas.microsoft.com/office/drawing/2014/main" id="{2F2C01EA-5152-4CEC-B0AC-02D1D64F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数据划分    模型初始化    采样／解码    超参数选择</a:t>
            </a:r>
          </a:p>
        </p:txBody>
      </p:sp>
      <p:sp>
        <p:nvSpPr>
          <p:cNvPr id="8" name="single-bg">
            <a:extLst xmlns:a="http://schemas.openxmlformats.org/drawingml/2006/main">
              <a:ext uri="{FF2B5EF4-FFF2-40B4-BE49-F238E27FC236}">
                <a16:creationId xmlns:a16="http://schemas.microsoft.com/office/drawing/2014/main" id="{0AE9DF28-79FE-4050-A946-16E866EF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BED"/>
          </a:solidFill>
          <a:ln xmlns:a="http://schemas.openxmlformats.org/drawingml/2006/main" w="0">
            <a:noFill/>
          </a:ln>
        </p:spPr>
      </p:sp>
      <p:sp>
        <p:nvSpPr>
          <p:cNvPr id="9" name="single">
            <a:extLst xmlns:a="http://schemas.openxmlformats.org/drawingml/2006/main">
              <a:ext uri="{FF2B5EF4-FFF2-40B4-BE49-F238E27FC236}">
                <a16:creationId xmlns:a16="http://schemas.microsoft.com/office/drawing/2014/main" id="{34B7D507-BE5B-44C9-8856-F796D803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667000"/>
            <a:ext cx="2552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单次运行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一个观察点</a:t>
            </a:r>
          </a:p>
        </p:txBody>
      </p:sp>
      <p:sp>
        <p:nvSpPr>
          <p:cNvPr id="10" name="v-a">
            <a:extLst xmlns:a="http://schemas.openxmlformats.org/drawingml/2006/main">
              <a:ext uri="{FF2B5EF4-FFF2-40B4-BE49-F238E27FC236}">
                <a16:creationId xmlns:a16="http://schemas.microsoft.com/office/drawing/2014/main" id="{B0155D5B-5B10-4E58-8D70-C06E10D7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00375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repeat-bg">
            <a:extLst xmlns:a="http://schemas.openxmlformats.org/drawingml/2006/main">
              <a:ext uri="{FF2B5EF4-FFF2-40B4-BE49-F238E27FC236}">
                <a16:creationId xmlns:a16="http://schemas.microsoft.com/office/drawing/2014/main" id="{63272855-B421-4355-A9E9-C6C9377B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12" name="repeat">
            <a:extLst xmlns:a="http://schemas.openxmlformats.org/drawingml/2006/main">
              <a:ext uri="{FF2B5EF4-FFF2-40B4-BE49-F238E27FC236}">
                <a16:creationId xmlns:a16="http://schemas.microsoft.com/office/drawing/2014/main" id="{88B942F5-0DAD-44EC-9450-B9C2FC08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67000"/>
            <a:ext cx="2552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重复计划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汇总与边界</a:t>
            </a:r>
          </a:p>
        </p:txBody>
      </p:sp>
      <p:sp>
        <p:nvSpPr>
          <p:cNvPr id="13" name="v-b">
            <a:extLst xmlns:a="http://schemas.openxmlformats.org/drawingml/2006/main">
              <a:ext uri="{FF2B5EF4-FFF2-40B4-BE49-F238E27FC236}">
                <a16:creationId xmlns:a16="http://schemas.microsoft.com/office/drawing/2014/main" id="{4D19AFDF-BDC4-4A28-98C2-CE39B776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claim">
            <a:extLst xmlns:a="http://schemas.openxmlformats.org/drawingml/2006/main">
              <a:ext uri="{FF2B5EF4-FFF2-40B4-BE49-F238E27FC236}">
                <a16:creationId xmlns:a16="http://schemas.microsoft.com/office/drawing/2014/main" id="{A7DACA4E-53DE-4680-8A2C-12CC03A9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0512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方法效应？</a:t>
            </a:r>
          </a:p>
        </p:txBody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AD949C6F-4258-4A33-892C-42AD949E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只跑 1 次时写明边界，不把单次差异写成稳定结论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F35C26FF-65CC-4739-9BA6-2DE498A1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Bouthillier et al., 2021, MLSys 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工件检查有四个维度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content-279">
            <a:extLst xmlns:a="http://schemas.openxmlformats.org/drawingml/2006/main">
              <a:ext uri="{FF2B5EF4-FFF2-40B4-BE49-F238E27FC236}">
                <a16:creationId xmlns:a16="http://schemas.microsoft.com/office/drawing/2014/main" id="{6E38E193-EC39-4C57-96DD-3366E9AC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documented｜说明足够</a:t>
            </a:r>
          </a:p>
        </p:txBody>
      </p:sp>
      <p:sp>
        <p:nvSpPr>
          <p:cNvPr id="7" name="content-280">
            <a:extLst xmlns:a="http://schemas.openxmlformats.org/drawingml/2006/main">
              <a:ext uri="{FF2B5EF4-FFF2-40B4-BE49-F238E27FC236}">
                <a16:creationId xmlns:a16="http://schemas.microsoft.com/office/drawing/2014/main" id="{71EEBB88-38F7-43F1-8E21-9822E92D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consistent｜说明、代码和主张一致</a:t>
            </a:r>
          </a:p>
        </p:txBody>
      </p:sp>
      <p:sp>
        <p:nvSpPr>
          <p:cNvPr id="8" name="content-281">
            <a:extLst xmlns:a="http://schemas.openxmlformats.org/drawingml/2006/main">
              <a:ext uri="{FF2B5EF4-FFF2-40B4-BE49-F238E27FC236}">
                <a16:creationId xmlns:a16="http://schemas.microsoft.com/office/drawing/2014/main" id="{42265500-E475-4FC5-AF6A-32DBD479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complete｜关键部分齐全</a:t>
            </a:r>
          </a:p>
        </p:txBody>
      </p:sp>
      <p:sp>
        <p:nvSpPr>
          <p:cNvPr id="9" name="content-282">
            <a:extLst xmlns:a="http://schemas.openxmlformats.org/drawingml/2006/main">
              <a:ext uri="{FF2B5EF4-FFF2-40B4-BE49-F238E27FC236}">
                <a16:creationId xmlns:a16="http://schemas.microsoft.com/office/drawing/2014/main" id="{2CE75695-691F-4DFA-B864-093A1891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exercisable｜能够执行检查</a:t>
            </a:r>
          </a:p>
        </p:txBody>
      </p:sp>
      <p:sp>
        <p:nvSpPr>
          <p:cNvPr id="10" name="content-283">
            <a:extLst xmlns:a="http://schemas.openxmlformats.org/drawingml/2006/main">
              <a:ext uri="{FF2B5EF4-FFF2-40B4-BE49-F238E27FC236}">
                <a16:creationId xmlns:a16="http://schemas.microsoft.com/office/drawing/2014/main" id="{ECCFE118-619F-469E-BAFF-9B2C3C26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它们是 ACM Functional 的检查维度，不是四个等级。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模板迁移补字段，但不能丢历史记录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starter">
            <a:extLst xmlns:a="http://schemas.openxmlformats.org/drawingml/2006/main">
              <a:ext uri="{FF2B5EF4-FFF2-40B4-BE49-F238E27FC236}">
                <a16:creationId xmlns:a16="http://schemas.microsoft.com/office/drawing/2014/main" id="{78C71520-1581-475E-98E6-D195B4FE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starter</a:t>
            </a:r>
          </a:p>
        </p:txBody>
      </p:sp>
      <p:sp>
        <p:nvSpPr>
          <p:cNvPr id="7" name="project">
            <a:extLst xmlns:a="http://schemas.openxmlformats.org/drawingml/2006/main">
              <a:ext uri="{FF2B5EF4-FFF2-40B4-BE49-F238E27FC236}">
                <a16:creationId xmlns:a16="http://schemas.microsoft.com/office/drawing/2014/main" id="{939F8E42-F27B-4534-BE74-7C6242A0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047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project</a:t>
            </a:r>
          </a:p>
        </p:txBody>
      </p:sp>
      <p:sp>
        <p:nvSpPr>
          <p:cNvPr id="8" name="migration-shade0">
            <a:extLst xmlns:a="http://schemas.openxmlformats.org/drawingml/2006/main">
              <a:ext uri="{FF2B5EF4-FFF2-40B4-BE49-F238E27FC236}">
                <a16:creationId xmlns:a16="http://schemas.microsoft.com/office/drawing/2014/main" id="{3B41F841-CD16-48FA-AB43-1A93E463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9" name="migration-l0">
            <a:extLst xmlns:a="http://schemas.openxmlformats.org/drawingml/2006/main">
              <a:ext uri="{FF2B5EF4-FFF2-40B4-BE49-F238E27FC236}">
                <a16:creationId xmlns:a16="http://schemas.microsoft.com/office/drawing/2014/main" id="{1BC8602B-082B-432F-A5E0-4D9A636E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§1 项目概览</a:t>
            </a:r>
          </a:p>
        </p:txBody>
      </p:sp>
      <p:sp>
        <p:nvSpPr>
          <p:cNvPr id="10" name="migration-v0">
            <a:extLst xmlns:a="http://schemas.openxmlformats.org/drawingml/2006/main">
              <a:ext uri="{FF2B5EF4-FFF2-40B4-BE49-F238E27FC236}">
                <a16:creationId xmlns:a16="http://schemas.microsoft.com/office/drawing/2014/main" id="{E5BBBB87-678C-4A80-A5C2-B69878A5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00200"/>
            <a:ext cx="581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主文档／分文件索引</a:t>
            </a:r>
          </a:p>
        </p:txBody>
      </p:sp>
      <p:sp>
        <p:nvSpPr>
          <p:cNvPr id="11" name="migration-r0">
            <a:extLst xmlns:a="http://schemas.openxmlformats.org/drawingml/2006/main">
              <a:ext uri="{FF2B5EF4-FFF2-40B4-BE49-F238E27FC236}">
                <a16:creationId xmlns:a16="http://schemas.microsoft.com/office/drawing/2014/main" id="{AC7584B5-F12D-47BB-8B89-F5A8A2A9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migration-l1">
            <a:extLst xmlns:a="http://schemas.openxmlformats.org/drawingml/2006/main">
              <a:ext uri="{FF2B5EF4-FFF2-40B4-BE49-F238E27FC236}">
                <a16:creationId xmlns:a16="http://schemas.microsoft.com/office/drawing/2014/main" id="{F245B0F3-27BF-499E-93A5-206F02D0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§6 AI 使用记录</a:t>
            </a:r>
          </a:p>
        </p:txBody>
      </p:sp>
      <p:sp>
        <p:nvSpPr>
          <p:cNvPr id="13" name="migration-v1">
            <a:extLst xmlns:a="http://schemas.openxmlformats.org/drawingml/2006/main">
              <a:ext uri="{FF2B5EF4-FFF2-40B4-BE49-F238E27FC236}">
                <a16:creationId xmlns:a16="http://schemas.microsoft.com/office/drawing/2014/main" id="{524BBE92-B9E0-4B43-A7F1-13C03F60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57450"/>
            <a:ext cx="581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AI 记录章节或文件</a:t>
            </a:r>
          </a:p>
        </p:txBody>
      </p:sp>
      <p:sp>
        <p:nvSpPr>
          <p:cNvPr id="14" name="migration-r1">
            <a:extLst xmlns:a="http://schemas.openxmlformats.org/drawingml/2006/main">
              <a:ext uri="{FF2B5EF4-FFF2-40B4-BE49-F238E27FC236}">
                <a16:creationId xmlns:a16="http://schemas.microsoft.com/office/drawing/2014/main" id="{37D68206-302D-461A-8090-362E5FD5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5" name="migration-shade2">
            <a:extLst xmlns:a="http://schemas.openxmlformats.org/drawingml/2006/main">
              <a:ext uri="{FF2B5EF4-FFF2-40B4-BE49-F238E27FC236}">
                <a16:creationId xmlns:a16="http://schemas.microsoft.com/office/drawing/2014/main" id="{E79A3E67-801D-4D5F-9536-CB2A87FA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85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migration-l2">
            <a:extLst xmlns:a="http://schemas.openxmlformats.org/drawingml/2006/main">
              <a:ext uri="{FF2B5EF4-FFF2-40B4-BE49-F238E27FC236}">
                <a16:creationId xmlns:a16="http://schemas.microsoft.com/office/drawing/2014/main" id="{97FEFE0F-E751-4800-BE84-AD0C5BED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§8 伦理检查</a:t>
            </a:r>
          </a:p>
        </p:txBody>
      </p:sp>
      <p:sp>
        <p:nvSpPr>
          <p:cNvPr id="17" name="migration-v2">
            <a:extLst xmlns:a="http://schemas.openxmlformats.org/drawingml/2006/main">
              <a:ext uri="{FF2B5EF4-FFF2-40B4-BE49-F238E27FC236}">
                <a16:creationId xmlns:a16="http://schemas.microsoft.com/office/drawing/2014/main" id="{63CB5C89-3685-4630-925E-F85A90A9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14700"/>
            <a:ext cx="581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伦理章节或文件</a:t>
            </a:r>
          </a:p>
        </p:txBody>
      </p:sp>
      <p:sp>
        <p:nvSpPr>
          <p:cNvPr id="18" name="added">
            <a:extLst xmlns:a="http://schemas.openxmlformats.org/drawingml/2006/main">
              <a:ext uri="{FF2B5EF4-FFF2-40B4-BE49-F238E27FC236}">
                <a16:creationId xmlns:a16="http://schemas.microsoft.com/office/drawing/2014/main" id="{6C80B871-9ECB-47B6-AF0B-87821495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新增：baseline｜七字段规格｜≥2 条判断｜实验记录｜同伴反馈处理</a:t>
            </a:r>
          </a:p>
        </p:txBody>
      </p:sp>
      <p:sp>
        <p:nvSpPr>
          <p:cNvPr id="19" name="history">
            <a:extLst xmlns:a="http://schemas.openxmlformats.org/drawingml/2006/main">
              <a:ext uri="{FF2B5EF4-FFF2-40B4-BE49-F238E27FC236}">
                <a16:creationId xmlns:a16="http://schemas.microsoft.com/office/drawing/2014/main" id="{8039A68A-3CE3-4E88-ADAA-5BA7D659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863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按内容验收，保留阶段版本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判断门检查当前个人项目版本的九项条件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gate9-n0">
            <a:extLst xmlns:a="http://schemas.openxmlformats.org/drawingml/2006/main">
              <a:ext uri="{FF2B5EF4-FFF2-40B4-BE49-F238E27FC236}">
                <a16:creationId xmlns:a16="http://schemas.microsoft.com/office/drawing/2014/main" id="{DCE84E79-387F-4D39-930B-25052A6E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gate9-t0">
            <a:extLst xmlns:a="http://schemas.openxmlformats.org/drawingml/2006/main">
              <a:ext uri="{FF2B5EF4-FFF2-40B4-BE49-F238E27FC236}">
                <a16:creationId xmlns:a16="http://schemas.microsoft.com/office/drawing/2014/main" id="{05447095-1BFC-45F8-AD7A-92FC23BE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可执行 baseline／原型</a:t>
            </a:r>
          </a:p>
        </p:txBody>
      </p:sp>
      <p:sp>
        <p:nvSpPr>
          <p:cNvPr id="8" name="gate9-r0">
            <a:extLst xmlns:a="http://schemas.openxmlformats.org/drawingml/2006/main">
              <a:ext uri="{FF2B5EF4-FFF2-40B4-BE49-F238E27FC236}">
                <a16:creationId xmlns:a16="http://schemas.microsoft.com/office/drawing/2014/main" id="{FF731C74-6163-4654-A5CC-A7FD6563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gate9-n1">
            <a:extLst xmlns:a="http://schemas.openxmlformats.org/drawingml/2006/main">
              <a:ext uri="{FF2B5EF4-FFF2-40B4-BE49-F238E27FC236}">
                <a16:creationId xmlns:a16="http://schemas.microsoft.com/office/drawing/2014/main" id="{444B93E5-8F23-4103-9302-9396F4D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143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gate9-t1">
            <a:extLst xmlns:a="http://schemas.openxmlformats.org/drawingml/2006/main">
              <a:ext uri="{FF2B5EF4-FFF2-40B4-BE49-F238E27FC236}">
                <a16:creationId xmlns:a16="http://schemas.microsoft.com/office/drawing/2014/main" id="{F80BB42A-2F22-44EA-86EF-5E884E69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14300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材料、指标、证据角色</a:t>
            </a:r>
          </a:p>
        </p:txBody>
      </p:sp>
      <p:sp>
        <p:nvSpPr>
          <p:cNvPr id="11" name="gate9-r1">
            <a:extLst xmlns:a="http://schemas.openxmlformats.org/drawingml/2006/main">
              <a:ext uri="{FF2B5EF4-FFF2-40B4-BE49-F238E27FC236}">
                <a16:creationId xmlns:a16="http://schemas.microsoft.com/office/drawing/2014/main" id="{CD4D28A4-E9B2-4E6E-8860-4B797571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7640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gate9-n2">
            <a:extLst xmlns:a="http://schemas.openxmlformats.org/drawingml/2006/main">
              <a:ext uri="{FF2B5EF4-FFF2-40B4-BE49-F238E27FC236}">
                <a16:creationId xmlns:a16="http://schemas.microsoft.com/office/drawing/2014/main" id="{C07BE794-7DCB-4208-AF8E-A62DD9F2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gate9-t2">
            <a:extLst xmlns:a="http://schemas.openxmlformats.org/drawingml/2006/main">
              <a:ext uri="{FF2B5EF4-FFF2-40B4-BE49-F238E27FC236}">
                <a16:creationId xmlns:a16="http://schemas.microsoft.com/office/drawing/2014/main" id="{58173B25-488B-4B48-967B-3F8FE668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0025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环境、配置与复现条件</a:t>
            </a:r>
          </a:p>
        </p:txBody>
      </p:sp>
      <p:sp>
        <p:nvSpPr>
          <p:cNvPr id="14" name="gate9-r2">
            <a:extLst xmlns:a="http://schemas.openxmlformats.org/drawingml/2006/main">
              <a:ext uri="{FF2B5EF4-FFF2-40B4-BE49-F238E27FC236}">
                <a16:creationId xmlns:a16="http://schemas.microsoft.com/office/drawing/2014/main" id="{D4FF08E2-4A72-449F-9E1C-C4D0AB6E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5" name="gate9-n3">
            <a:extLst xmlns:a="http://schemas.openxmlformats.org/drawingml/2006/main">
              <a:ext uri="{FF2B5EF4-FFF2-40B4-BE49-F238E27FC236}">
                <a16:creationId xmlns:a16="http://schemas.microsoft.com/office/drawing/2014/main" id="{DA216F14-2FDC-42A4-81EE-8AF1B078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00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gate9-t3">
            <a:extLst xmlns:a="http://schemas.openxmlformats.org/drawingml/2006/main">
              <a:ext uri="{FF2B5EF4-FFF2-40B4-BE49-F238E27FC236}">
                <a16:creationId xmlns:a16="http://schemas.microsoft.com/office/drawing/2014/main" id="{65A661A7-6DAD-4EE2-9147-6CDDA4A0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00025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至少 2 条研究判断</a:t>
            </a:r>
          </a:p>
        </p:txBody>
      </p:sp>
      <p:sp>
        <p:nvSpPr>
          <p:cNvPr id="17" name="gate9-r3">
            <a:extLst xmlns:a="http://schemas.openxmlformats.org/drawingml/2006/main">
              <a:ext uri="{FF2B5EF4-FFF2-40B4-BE49-F238E27FC236}">
                <a16:creationId xmlns:a16="http://schemas.microsoft.com/office/drawing/2014/main" id="{BB160DDE-4F24-40A8-BD5B-5E4D00EA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3365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8" name="gate9-n4">
            <a:extLst xmlns:a="http://schemas.openxmlformats.org/drawingml/2006/main">
              <a:ext uri="{FF2B5EF4-FFF2-40B4-BE49-F238E27FC236}">
                <a16:creationId xmlns:a16="http://schemas.microsoft.com/office/drawing/2014/main" id="{CC4C9CA8-9DC5-47C2-AE9B-75C58730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19" name="gate9-t4">
            <a:extLst xmlns:a="http://schemas.openxmlformats.org/drawingml/2006/main">
              <a:ext uri="{FF2B5EF4-FFF2-40B4-BE49-F238E27FC236}">
                <a16:creationId xmlns:a16="http://schemas.microsoft.com/office/drawing/2014/main" id="{8D009127-E075-4F31-9077-78A2AD29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5750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七字段与反馈使用</a:t>
            </a:r>
          </a:p>
        </p:txBody>
      </p:sp>
      <p:sp>
        <p:nvSpPr>
          <p:cNvPr id="20" name="gate9-r4">
            <a:extLst xmlns:a="http://schemas.openxmlformats.org/drawingml/2006/main">
              <a:ext uri="{FF2B5EF4-FFF2-40B4-BE49-F238E27FC236}">
                <a16:creationId xmlns:a16="http://schemas.microsoft.com/office/drawing/2014/main" id="{7E642CA6-6FB8-4B85-AD78-7D01F41B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1" name="gate9-n5">
            <a:extLst xmlns:a="http://schemas.openxmlformats.org/drawingml/2006/main">
              <a:ext uri="{FF2B5EF4-FFF2-40B4-BE49-F238E27FC236}">
                <a16:creationId xmlns:a16="http://schemas.microsoft.com/office/drawing/2014/main" id="{41965031-8EB0-46E1-860D-E40ADD53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57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22" name="gate9-t5">
            <a:extLst xmlns:a="http://schemas.openxmlformats.org/drawingml/2006/main">
              <a:ext uri="{FF2B5EF4-FFF2-40B4-BE49-F238E27FC236}">
                <a16:creationId xmlns:a16="http://schemas.microsoft.com/office/drawing/2014/main" id="{836A49BD-6D30-49DC-851C-0A534BCD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85750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第 8 课反馈处理</a:t>
            </a:r>
          </a:p>
        </p:txBody>
      </p:sp>
      <p:sp>
        <p:nvSpPr>
          <p:cNvPr id="23" name="gate9-r5">
            <a:extLst xmlns:a="http://schemas.openxmlformats.org/drawingml/2006/main">
              <a:ext uri="{FF2B5EF4-FFF2-40B4-BE49-F238E27FC236}">
                <a16:creationId xmlns:a16="http://schemas.microsoft.com/office/drawing/2014/main" id="{6B94F1FC-C74E-45A5-9F1F-4CBAB77A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9090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4" name="gate9-n6">
            <a:extLst xmlns:a="http://schemas.openxmlformats.org/drawingml/2006/main">
              <a:ext uri="{FF2B5EF4-FFF2-40B4-BE49-F238E27FC236}">
                <a16:creationId xmlns:a16="http://schemas.microsoft.com/office/drawing/2014/main" id="{00C0876F-8958-4CC2-9CAB-37DA490E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25" name="gate9-t6">
            <a:extLst xmlns:a="http://schemas.openxmlformats.org/drawingml/2006/main">
              <a:ext uri="{FF2B5EF4-FFF2-40B4-BE49-F238E27FC236}">
                <a16:creationId xmlns:a16="http://schemas.microsoft.com/office/drawing/2014/main" id="{A5D7EFDE-87AF-41D1-86AC-3E1B35E5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1475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风险与失败预案</a:t>
            </a:r>
          </a:p>
        </p:txBody>
      </p:sp>
      <p:sp>
        <p:nvSpPr>
          <p:cNvPr id="26" name="gate9-r6">
            <a:extLst xmlns:a="http://schemas.openxmlformats.org/drawingml/2006/main">
              <a:ext uri="{FF2B5EF4-FFF2-40B4-BE49-F238E27FC236}">
                <a16:creationId xmlns:a16="http://schemas.microsoft.com/office/drawing/2014/main" id="{A8D424A6-38C2-4645-8D7F-3E5610B1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7" name="gate9-n7">
            <a:extLst xmlns:a="http://schemas.openxmlformats.org/drawingml/2006/main">
              <a:ext uri="{FF2B5EF4-FFF2-40B4-BE49-F238E27FC236}">
                <a16:creationId xmlns:a16="http://schemas.microsoft.com/office/drawing/2014/main" id="{FE132892-81BF-4477-AE4D-49DD1094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7147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28" name="gate9-t7">
            <a:extLst xmlns:a="http://schemas.openxmlformats.org/drawingml/2006/main">
              <a:ext uri="{FF2B5EF4-FFF2-40B4-BE49-F238E27FC236}">
                <a16:creationId xmlns:a16="http://schemas.microsoft.com/office/drawing/2014/main" id="{C1D55DC3-ACB9-43D5-A2DA-75B0E6B3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71475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已遇失败／放弃备选</a:t>
            </a:r>
          </a:p>
        </p:txBody>
      </p:sp>
      <p:sp>
        <p:nvSpPr>
          <p:cNvPr id="29" name="gate9-r7">
            <a:extLst xmlns:a="http://schemas.openxmlformats.org/drawingml/2006/main">
              <a:ext uri="{FF2B5EF4-FFF2-40B4-BE49-F238E27FC236}">
                <a16:creationId xmlns:a16="http://schemas.microsoft.com/office/drawing/2014/main" id="{DCEAC165-78C1-4668-B067-9580BB96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4815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0" name="gate9-n8">
            <a:extLst xmlns:a="http://schemas.openxmlformats.org/drawingml/2006/main">
              <a:ext uri="{FF2B5EF4-FFF2-40B4-BE49-F238E27FC236}">
                <a16:creationId xmlns:a16="http://schemas.microsoft.com/office/drawing/2014/main" id="{91ED2CCA-87A5-4324-990F-FACC260D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31" name="gate9-t8">
            <a:extLst xmlns:a="http://schemas.openxmlformats.org/drawingml/2006/main">
              <a:ext uri="{FF2B5EF4-FFF2-40B4-BE49-F238E27FC236}">
                <a16:creationId xmlns:a16="http://schemas.microsoft.com/office/drawing/2014/main" id="{E0A574C9-57DE-483E-A74E-306B9690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4486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完整模板与 AI／伦理记录</a:t>
            </a:r>
          </a:p>
        </p:txBody>
      </p:sp>
      <p:sp>
        <p:nvSpPr>
          <p:cNvPr id="32" name="gate9-r8">
            <a:extLst xmlns:a="http://schemas.openxmlformats.org/drawingml/2006/main">
              <a:ext uri="{FF2B5EF4-FFF2-40B4-BE49-F238E27FC236}">
                <a16:creationId xmlns:a16="http://schemas.microsoft.com/office/drawing/2014/main" id="{45F82123-1D2C-4318-9A3D-7B744797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50387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3" name="check">
            <a:extLst xmlns:a="http://schemas.openxmlformats.org/drawingml/2006/main">
              <a:ext uri="{FF2B5EF4-FFF2-40B4-BE49-F238E27FC236}">
                <a16:creationId xmlns:a16="http://schemas.microsoft.com/office/drawing/2014/main" id="{6BABD580-AE6E-49C7-8112-5FD48937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578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九项检查当前个人项目版本；长定义以 assignments.md 为准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J2 把 baseline 取舍和同伴反馈写进判断记录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j2">
            <a:extLst xmlns:a="http://schemas.openxmlformats.org/drawingml/2006/main">
              <a:ext uri="{FF2B5EF4-FFF2-40B4-BE49-F238E27FC236}">
                <a16:creationId xmlns:a16="http://schemas.microsoft.com/office/drawing/2014/main" id="{6EF69ADD-7E7B-4A40-B6F6-C7BE136D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J2 · 第二条研究判断</a:t>
            </a:r>
          </a:p>
        </p:txBody>
      </p:sp>
      <p:sp>
        <p:nvSpPr>
          <p:cNvPr id="7" name="j2-record-shade0">
            <a:extLst xmlns:a="http://schemas.openxmlformats.org/drawingml/2006/main">
              <a:ext uri="{FF2B5EF4-FFF2-40B4-BE49-F238E27FC236}">
                <a16:creationId xmlns:a16="http://schemas.microsoft.com/office/drawing/2014/main" id="{02524758-10CF-48F1-89A8-0B8BE062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8" name="j2-record-l0">
            <a:extLst xmlns:a="http://schemas.openxmlformats.org/drawingml/2006/main">
              <a:ext uri="{FF2B5EF4-FFF2-40B4-BE49-F238E27FC236}">
                <a16:creationId xmlns:a16="http://schemas.microsoft.com/office/drawing/2014/main" id="{C7497030-2AAF-4AFE-A9CE-71327E50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</a:t>
            </a:r>
          </a:p>
        </p:txBody>
      </p:sp>
      <p:sp>
        <p:nvSpPr>
          <p:cNvPr id="9" name="j2-record-v0">
            <a:extLst xmlns:a="http://schemas.openxmlformats.org/drawingml/2006/main">
              <a:ext uri="{FF2B5EF4-FFF2-40B4-BE49-F238E27FC236}">
                <a16:creationId xmlns:a16="http://schemas.microsoft.com/office/drawing/2014/main" id="{48CC3614-C5A7-4716-A7E8-6977AE2A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049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自由摘要作朴素 baseline</a:t>
            </a:r>
          </a:p>
        </p:txBody>
      </p:sp>
      <p:sp>
        <p:nvSpPr>
          <p:cNvPr id="10" name="j2-record-r0">
            <a:extLst xmlns:a="http://schemas.openxmlformats.org/drawingml/2006/main">
              <a:ext uri="{FF2B5EF4-FFF2-40B4-BE49-F238E27FC236}">
                <a16:creationId xmlns:a16="http://schemas.microsoft.com/office/drawing/2014/main" id="{074E4BB5-38FA-422B-93CF-A6744156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685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1" name="j2-record-l1">
            <a:extLst xmlns:a="http://schemas.openxmlformats.org/drawingml/2006/main">
              <a:ext uri="{FF2B5EF4-FFF2-40B4-BE49-F238E27FC236}">
                <a16:creationId xmlns:a16="http://schemas.microsoft.com/office/drawing/2014/main" id="{411F7CEE-B2B4-457E-8FBE-E4086185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理由</a:t>
            </a:r>
          </a:p>
        </p:txBody>
      </p:sp>
      <p:sp>
        <p:nvSpPr>
          <p:cNvPr id="12" name="j2-record-v1">
            <a:extLst xmlns:a="http://schemas.openxmlformats.org/drawingml/2006/main">
              <a:ext uri="{FF2B5EF4-FFF2-40B4-BE49-F238E27FC236}">
                <a16:creationId xmlns:a16="http://schemas.microsoft.com/office/drawing/2014/main" id="{2C2B128D-3B5F-4DE5-A011-0619B5D7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336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强基线需外部 prompt 集，超出周期</a:t>
            </a:r>
          </a:p>
        </p:txBody>
      </p:sp>
      <p:sp>
        <p:nvSpPr>
          <p:cNvPr id="13" name="j2-record-r1">
            <a:extLst xmlns:a="http://schemas.openxmlformats.org/drawingml/2006/main">
              <a:ext uri="{FF2B5EF4-FFF2-40B4-BE49-F238E27FC236}">
                <a16:creationId xmlns:a16="http://schemas.microsoft.com/office/drawing/2014/main" id="{73A8CDD9-8BB2-494C-9468-6E7E3022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685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4" name="j2-record-shade2">
            <a:extLst xmlns:a="http://schemas.openxmlformats.org/drawingml/2006/main">
              <a:ext uri="{FF2B5EF4-FFF2-40B4-BE49-F238E27FC236}">
                <a16:creationId xmlns:a16="http://schemas.microsoft.com/office/drawing/2014/main" id="{B6764751-10DA-4B56-BC4F-66F921B8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5" name="j2-record-l2">
            <a:extLst xmlns:a="http://schemas.openxmlformats.org/drawingml/2006/main">
              <a:ext uri="{FF2B5EF4-FFF2-40B4-BE49-F238E27FC236}">
                <a16:creationId xmlns:a16="http://schemas.microsoft.com/office/drawing/2014/main" id="{B8D8730E-6A7C-45C6-9F7B-898BF11D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边界</a:t>
            </a:r>
          </a:p>
        </p:txBody>
      </p:sp>
      <p:sp>
        <p:nvSpPr>
          <p:cNvPr id="16" name="j2-record-v2">
            <a:extLst xmlns:a="http://schemas.openxmlformats.org/drawingml/2006/main">
              <a:ext uri="{FF2B5EF4-FFF2-40B4-BE49-F238E27FC236}">
                <a16:creationId xmlns:a16="http://schemas.microsoft.com/office/drawing/2014/main" id="{331FB6AB-4251-45C9-8C65-0B5037C0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622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只比较字段约束 vs 无约束</a:t>
            </a:r>
          </a:p>
        </p:txBody>
      </p:sp>
      <p:sp>
        <p:nvSpPr>
          <p:cNvPr id="17" name="j2-record-r2">
            <a:extLst xmlns:a="http://schemas.openxmlformats.org/drawingml/2006/main">
              <a:ext uri="{FF2B5EF4-FFF2-40B4-BE49-F238E27FC236}">
                <a16:creationId xmlns:a16="http://schemas.microsoft.com/office/drawing/2014/main" id="{75FB568E-3DC1-4B1C-A078-938CA649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685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8" name="j2-record-l3">
            <a:extLst xmlns:a="http://schemas.openxmlformats.org/drawingml/2006/main">
              <a:ext uri="{FF2B5EF4-FFF2-40B4-BE49-F238E27FC236}">
                <a16:creationId xmlns:a16="http://schemas.microsoft.com/office/drawing/2014/main" id="{73D17A39-2FDD-4773-8328-1463C656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依据</a:t>
            </a:r>
          </a:p>
        </p:txBody>
      </p:sp>
      <p:sp>
        <p:nvSpPr>
          <p:cNvPr id="19" name="j2-record-v3">
            <a:extLst xmlns:a="http://schemas.openxmlformats.org/drawingml/2006/main">
              <a:ext uri="{FF2B5EF4-FFF2-40B4-BE49-F238E27FC236}">
                <a16:creationId xmlns:a16="http://schemas.microsoft.com/office/drawing/2014/main" id="{3BDCA883-3966-411A-A576-9F318396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909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第 8 课反馈 + 可定位原文原则</a:t>
            </a:r>
          </a:p>
        </p:txBody>
      </p:sp>
      <p:sp>
        <p:nvSpPr>
          <p:cNvPr id="20" name="j2-record-r3">
            <a:extLst xmlns:a="http://schemas.openxmlformats.org/drawingml/2006/main">
              <a:ext uri="{FF2B5EF4-FFF2-40B4-BE49-F238E27FC236}">
                <a16:creationId xmlns:a16="http://schemas.microsoft.com/office/drawing/2014/main" id="{273CE70B-B2D3-4BDE-893F-3DEB3511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685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1" name="j2-record-shade4">
            <a:extLst xmlns:a="http://schemas.openxmlformats.org/drawingml/2006/main">
              <a:ext uri="{FF2B5EF4-FFF2-40B4-BE49-F238E27FC236}">
                <a16:creationId xmlns:a16="http://schemas.microsoft.com/office/drawing/2014/main" id="{B0C9DF08-0B5E-41FE-A2DB-96065A5E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2" name="j2-record-l4">
            <a:extLst xmlns:a="http://schemas.openxmlformats.org/drawingml/2006/main">
              <a:ext uri="{FF2B5EF4-FFF2-40B4-BE49-F238E27FC236}">
                <a16:creationId xmlns:a16="http://schemas.microsoft.com/office/drawing/2014/main" id="{B212CF3A-F393-4067-A003-FEA9ECC1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待验证</a:t>
            </a:r>
          </a:p>
        </p:txBody>
      </p:sp>
      <p:sp>
        <p:nvSpPr>
          <p:cNvPr id="23" name="j2-record-v4">
            <a:extLst xmlns:a="http://schemas.openxmlformats.org/drawingml/2006/main">
              <a:ext uri="{FF2B5EF4-FFF2-40B4-BE49-F238E27FC236}">
                <a16:creationId xmlns:a16="http://schemas.microsoft.com/office/drawing/2014/main" id="{EEBFAA7D-75CF-41EB-A4DD-33C24F1E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195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强基线留作后续验证</a:t>
            </a:r>
          </a:p>
        </p:txBody>
      </p:sp>
      <p:sp>
        <p:nvSpPr>
          <p:cNvPr id="24" name="j2-record-r4">
            <a:extLst xmlns:a="http://schemas.openxmlformats.org/drawingml/2006/main">
              <a:ext uri="{FF2B5EF4-FFF2-40B4-BE49-F238E27FC236}">
                <a16:creationId xmlns:a16="http://schemas.microsoft.com/office/drawing/2014/main" id="{6BA9ECEE-3DB3-48FB-997F-0EF41613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685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5" name="j2-record-l5">
            <a:extLst xmlns:a="http://schemas.openxmlformats.org/drawingml/2006/main">
              <a:ext uri="{FF2B5EF4-FFF2-40B4-BE49-F238E27FC236}">
                <a16:creationId xmlns:a16="http://schemas.microsoft.com/office/drawing/2014/main" id="{AACAC9F5-2B5F-46A4-B7C8-5F5623EF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影响</a:t>
            </a:r>
          </a:p>
        </p:txBody>
      </p:sp>
      <p:sp>
        <p:nvSpPr>
          <p:cNvPr id="26" name="j2-record-v5">
            <a:extLst xmlns:a="http://schemas.openxmlformats.org/drawingml/2006/main">
              <a:ext uri="{FF2B5EF4-FFF2-40B4-BE49-F238E27FC236}">
                <a16:creationId xmlns:a16="http://schemas.microsoft.com/office/drawing/2014/main" id="{B22B487F-805F-4601-85B2-6E7DF23A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482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实验规格 §对照／§失败预案</a:t>
            </a:r>
          </a:p>
        </p:txBody>
      </p:sp>
      <p:sp>
        <p:nvSpPr>
          <p:cNvPr id="27" name="feedback">
            <a:extLst xmlns:a="http://schemas.openxmlformats.org/drawingml/2006/main">
              <a:ext uri="{FF2B5EF4-FFF2-40B4-BE49-F238E27FC236}">
                <a16:creationId xmlns:a16="http://schemas.microsoft.com/office/drawing/2014/main" id="{61260AA4-54D4-4FB3-9101-C6EEFB07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47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反馈处理</a:t>
            </a:r>
          </a:p>
        </p:txBody>
      </p:sp>
      <p:sp>
        <p:nvSpPr>
          <p:cNvPr id="28" name="j2-feedback-shade0">
            <a:extLst xmlns:a="http://schemas.openxmlformats.org/drawingml/2006/main">
              <a:ext uri="{FF2B5EF4-FFF2-40B4-BE49-F238E27FC236}">
                <a16:creationId xmlns:a16="http://schemas.microsoft.com/office/drawing/2014/main" id="{3526B464-2387-4975-9009-7C7A384F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6099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9" name="j2-feedback-l0">
            <a:extLst xmlns:a="http://schemas.openxmlformats.org/drawingml/2006/main">
              <a:ext uri="{FF2B5EF4-FFF2-40B4-BE49-F238E27FC236}">
                <a16:creationId xmlns:a16="http://schemas.microsoft.com/office/drawing/2014/main" id="{4ABD4721-C9CA-438F-A350-F2D51460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95450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增加强 baseline</a:t>
            </a:r>
          </a:p>
        </p:txBody>
      </p:sp>
      <p:sp>
        <p:nvSpPr>
          <p:cNvPr id="30" name="j2-feedback-v0">
            <a:extLst xmlns:a="http://schemas.openxmlformats.org/drawingml/2006/main">
              <a:ext uri="{FF2B5EF4-FFF2-40B4-BE49-F238E27FC236}">
                <a16:creationId xmlns:a16="http://schemas.microsoft.com/office/drawing/2014/main" id="{DE5860D5-E06C-42DB-A0BF-6BF3F635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95450"/>
            <a:ext cx="14192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保留异议</a:t>
            </a:r>
          </a:p>
        </p:txBody>
      </p:sp>
      <p:sp>
        <p:nvSpPr>
          <p:cNvPr id="31" name="j2-feedback-r0">
            <a:extLst xmlns:a="http://schemas.openxmlformats.org/drawingml/2006/main">
              <a:ext uri="{FF2B5EF4-FFF2-40B4-BE49-F238E27FC236}">
                <a16:creationId xmlns:a16="http://schemas.microsoft.com/office/drawing/2014/main" id="{DE2B8A4E-FBD9-4C0E-BFFC-22C8ECB0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71750"/>
            <a:ext cx="36099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2" name="j2-feedback-l1">
            <a:extLst xmlns:a="http://schemas.openxmlformats.org/drawingml/2006/main">
              <a:ext uri="{FF2B5EF4-FFF2-40B4-BE49-F238E27FC236}">
                <a16:creationId xmlns:a16="http://schemas.microsoft.com/office/drawing/2014/main" id="{DA472329-0BB5-4B4D-999C-2C84B19A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47950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报告方差</a:t>
            </a:r>
          </a:p>
        </p:txBody>
      </p:sp>
      <p:sp>
        <p:nvSpPr>
          <p:cNvPr id="33" name="j2-feedback-v1">
            <a:extLst xmlns:a="http://schemas.openxmlformats.org/drawingml/2006/main">
              <a:ext uri="{FF2B5EF4-FFF2-40B4-BE49-F238E27FC236}">
                <a16:creationId xmlns:a16="http://schemas.microsoft.com/office/drawing/2014/main" id="{A1AA68E7-3CED-4C2C-B4A8-36B84A23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47950"/>
            <a:ext cx="14192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采纳</a:t>
            </a:r>
          </a:p>
        </p:txBody>
      </p:sp>
      <p:sp>
        <p:nvSpPr>
          <p:cNvPr id="34" name="j2-feedback-r1">
            <a:extLst xmlns:a="http://schemas.openxmlformats.org/drawingml/2006/main">
              <a:ext uri="{FF2B5EF4-FFF2-40B4-BE49-F238E27FC236}">
                <a16:creationId xmlns:a16="http://schemas.microsoft.com/office/drawing/2014/main" id="{103217F0-79F1-4D58-86F3-940B0C3B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24250"/>
            <a:ext cx="36099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5" name="j2-feedback-shade2">
            <a:extLst xmlns:a="http://schemas.openxmlformats.org/drawingml/2006/main">
              <a:ext uri="{FF2B5EF4-FFF2-40B4-BE49-F238E27FC236}">
                <a16:creationId xmlns:a16="http://schemas.microsoft.com/office/drawing/2014/main" id="{89A11113-E1D8-4C7D-8D7E-E7E02C32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24250"/>
            <a:ext cx="36099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36" name="j2-feedback-l2">
            <a:extLst xmlns:a="http://schemas.openxmlformats.org/drawingml/2006/main">
              <a:ext uri="{FF2B5EF4-FFF2-40B4-BE49-F238E27FC236}">
                <a16:creationId xmlns:a16="http://schemas.microsoft.com/office/drawing/2014/main" id="{D377B765-C118-420F-BC71-8AE0D9E5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00450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样本量过小</a:t>
            </a:r>
          </a:p>
        </p:txBody>
      </p:sp>
      <p:sp>
        <p:nvSpPr>
          <p:cNvPr id="37" name="j2-feedback-v2">
            <a:extLst xmlns:a="http://schemas.openxmlformats.org/drawingml/2006/main">
              <a:ext uri="{FF2B5EF4-FFF2-40B4-BE49-F238E27FC236}">
                <a16:creationId xmlns:a16="http://schemas.microsoft.com/office/drawing/2014/main" id="{E30EFFA1-EB48-4324-B493-049DC123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00450"/>
            <a:ext cx="14192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暂缓</a:t>
            </a:r>
          </a:p>
        </p:txBody>
      </p:sp>
      <p:sp>
        <p:nvSpPr>
          <p:cNvPr id="38" name="no-reject">
            <a:extLst xmlns:a="http://schemas.openxmlformats.org/drawingml/2006/main">
              <a:ext uri="{FF2B5EF4-FFF2-40B4-BE49-F238E27FC236}">
                <a16:creationId xmlns:a16="http://schemas.microsoft.com/office/drawing/2014/main" id="{61E75490-0789-4E05-9630-5EA8B64D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14875"/>
            <a:ext cx="3609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按真实理由选择动作；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9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不机械要求拒绝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3A81B47B-56EC-4147-909A-C66EDF3E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本人项目：决定、核验与回写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DBEF3A1F-FDF8-4C52-9478-9DF70260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复制个人微型项目起点，实际执行 baseline.py 并评价；保存本人 trace 与输入、实现散列。为记录校验问题冻结比较协议，同伴依说明复现关键步骤。阅读卡回放另作方法示范。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CB95FAA3-C349-480D-BC08-9A33FEDA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核对 inputs、implementation、reference 与运行目录；基线和后续修改共用输入及评价。回放只证明回放过程；构造开发用例上的改进不能外推为模型改善。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618F0C3E-9867-4866-8283-0FA6CE49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保存：判断门：baseline 运行、七字段规格、复现说明及两条判断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86B1F9BF-36BE-4F42-B91F-E5A38949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5F8FD35F-80D8-496A-B0EA-2DB00C36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当堂练习与判断门分开核对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content-284">
            <a:extLst xmlns:a="http://schemas.openxmlformats.org/drawingml/2006/main">
              <a:ext uri="{FF2B5EF4-FFF2-40B4-BE49-F238E27FC236}">
                <a16:creationId xmlns:a16="http://schemas.microsoft.com/office/drawing/2014/main" id="{13F94951-5EDF-46EE-961D-E84EC755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当堂：一项 baseline 公平性修订 + 一条可重运行记录。</a:t>
            </a:r>
          </a:p>
        </p:txBody>
      </p:sp>
      <p:sp>
        <p:nvSpPr>
          <p:cNvPr id="7" name="content-285">
            <a:extLst xmlns:a="http://schemas.openxmlformats.org/drawingml/2006/main">
              <a:ext uri="{FF2B5EF4-FFF2-40B4-BE49-F238E27FC236}">
                <a16:creationId xmlns:a16="http://schemas.microsoft.com/office/drawing/2014/main" id="{25C8C01A-1016-4113-988A-DDAD9DDC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课后：补齐本人实验规格、复现说明、反馈处理与模板迁移。</a:t>
            </a:r>
          </a:p>
        </p:txBody>
      </p:sp>
      <p:sp>
        <p:nvSpPr>
          <p:cNvPr id="8" name="content-286">
            <a:extLst xmlns:a="http://schemas.openxmlformats.org/drawingml/2006/main">
              <a:ext uri="{FF2B5EF4-FFF2-40B4-BE49-F238E27FC236}">
                <a16:creationId xmlns:a16="http://schemas.microsoft.com/office/drawing/2014/main" id="{A74737D4-40E6-487F-B7F2-19B00542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判断门：仍按九项完整条件检查本人项目。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同伴只按门条件提问题，作者保留决定权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cluster1">
            <a:extLst xmlns:a="http://schemas.openxmlformats.org/drawingml/2006/main">
              <a:ext uri="{FF2B5EF4-FFF2-40B4-BE49-F238E27FC236}">
                <a16:creationId xmlns:a16="http://schemas.microsoft.com/office/drawing/2014/main" id="{AF3AF5F8-4A7F-4CB3-A896-B2C1F87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baseline 与复现</a:t>
            </a:r>
          </a:p>
        </p:txBody>
      </p:sp>
      <p:sp>
        <p:nvSpPr>
          <p:cNvPr id="7" name="peer1-n0">
            <a:extLst xmlns:a="http://schemas.openxmlformats.org/drawingml/2006/main">
              <a:ext uri="{FF2B5EF4-FFF2-40B4-BE49-F238E27FC236}">
                <a16:creationId xmlns:a16="http://schemas.microsoft.com/office/drawing/2014/main" id="{3C185E08-6C6D-46B3-BE05-59DCFA2D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peer1-t0">
            <a:extLst xmlns:a="http://schemas.openxmlformats.org/drawingml/2006/main">
              <a:ext uri="{FF2B5EF4-FFF2-40B4-BE49-F238E27FC236}">
                <a16:creationId xmlns:a16="http://schemas.microsoft.com/office/drawing/2014/main" id="{D819F56E-1594-41BF-9A44-5983C67E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71625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类型与公平性</a:t>
            </a:r>
          </a:p>
        </p:txBody>
      </p:sp>
      <p:sp>
        <p:nvSpPr>
          <p:cNvPr id="9" name="peer1-r0">
            <a:extLst xmlns:a="http://schemas.openxmlformats.org/drawingml/2006/main">
              <a:ext uri="{FF2B5EF4-FFF2-40B4-BE49-F238E27FC236}">
                <a16:creationId xmlns:a16="http://schemas.microsoft.com/office/drawing/2014/main" id="{22105160-D338-4343-804A-CD876087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0" name="peer1-n1">
            <a:extLst xmlns:a="http://schemas.openxmlformats.org/drawingml/2006/main">
              <a:ext uri="{FF2B5EF4-FFF2-40B4-BE49-F238E27FC236}">
                <a16:creationId xmlns:a16="http://schemas.microsoft.com/office/drawing/2014/main" id="{81AD98EB-BA1D-4127-ACC7-D6DE3E7A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peer1-t1">
            <a:extLst xmlns:a="http://schemas.openxmlformats.org/drawingml/2006/main">
              <a:ext uri="{FF2B5EF4-FFF2-40B4-BE49-F238E27FC236}">
                <a16:creationId xmlns:a16="http://schemas.microsoft.com/office/drawing/2014/main" id="{73E97329-3627-49B8-82E1-75ED0E0C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0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环境与种子</a:t>
            </a:r>
          </a:p>
        </p:txBody>
      </p:sp>
      <p:sp>
        <p:nvSpPr>
          <p:cNvPr id="12" name="peer1-r1">
            <a:extLst xmlns:a="http://schemas.openxmlformats.org/drawingml/2006/main">
              <a:ext uri="{FF2B5EF4-FFF2-40B4-BE49-F238E27FC236}">
                <a16:creationId xmlns:a16="http://schemas.microsoft.com/office/drawing/2014/main" id="{75EDF4F1-6DEB-4B77-A23B-EB15E23C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peer1-n2">
            <a:extLst xmlns:a="http://schemas.openxmlformats.org/drawingml/2006/main">
              <a:ext uri="{FF2B5EF4-FFF2-40B4-BE49-F238E27FC236}">
                <a16:creationId xmlns:a16="http://schemas.microsoft.com/office/drawing/2014/main" id="{1CEA9BB9-D0E2-4F3A-99CA-31BF4257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peer1-t2">
            <a:extLst xmlns:a="http://schemas.openxmlformats.org/drawingml/2006/main">
              <a:ext uri="{FF2B5EF4-FFF2-40B4-BE49-F238E27FC236}">
                <a16:creationId xmlns:a16="http://schemas.microsoft.com/office/drawing/2014/main" id="{32033848-5BEE-424F-B6B3-EF22791F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00375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重复与停止条件</a:t>
            </a:r>
          </a:p>
        </p:txBody>
      </p:sp>
      <p:sp>
        <p:nvSpPr>
          <p:cNvPr id="15" name="peer1-r2">
            <a:extLst xmlns:a="http://schemas.openxmlformats.org/drawingml/2006/main">
              <a:ext uri="{FF2B5EF4-FFF2-40B4-BE49-F238E27FC236}">
                <a16:creationId xmlns:a16="http://schemas.microsoft.com/office/drawing/2014/main" id="{70E8EF19-8728-4867-AF4A-ACD82699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6" name="cluster2">
            <a:extLst xmlns:a="http://schemas.openxmlformats.org/drawingml/2006/main">
              <a:ext uri="{FF2B5EF4-FFF2-40B4-BE49-F238E27FC236}">
                <a16:creationId xmlns:a16="http://schemas.microsoft.com/office/drawing/2014/main" id="{7E3E4B75-AF38-4666-A65E-4F99A01A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095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判断与失败</a:t>
            </a:r>
          </a:p>
        </p:txBody>
      </p:sp>
      <p:sp>
        <p:nvSpPr>
          <p:cNvPr id="17" name="peer2-n0">
            <a:extLst xmlns:a="http://schemas.openxmlformats.org/drawingml/2006/main">
              <a:ext uri="{FF2B5EF4-FFF2-40B4-BE49-F238E27FC236}">
                <a16:creationId xmlns:a16="http://schemas.microsoft.com/office/drawing/2014/main" id="{177B21F9-C167-46C3-9A0A-9C631296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peer2-t0">
            <a:extLst xmlns:a="http://schemas.openxmlformats.org/drawingml/2006/main">
              <a:ext uri="{FF2B5EF4-FFF2-40B4-BE49-F238E27FC236}">
                <a16:creationId xmlns:a16="http://schemas.microsoft.com/office/drawing/2014/main" id="{76ED35FD-01B1-4D37-B191-7CF19F1B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71625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J2 六字段</a:t>
            </a:r>
          </a:p>
        </p:txBody>
      </p:sp>
      <p:sp>
        <p:nvSpPr>
          <p:cNvPr id="19" name="peer2-r0">
            <a:extLst xmlns:a="http://schemas.openxmlformats.org/drawingml/2006/main">
              <a:ext uri="{FF2B5EF4-FFF2-40B4-BE49-F238E27FC236}">
                <a16:creationId xmlns:a16="http://schemas.microsoft.com/office/drawing/2014/main" id="{FCD8281F-BE15-4460-AD44-7E959371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05025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0" name="peer2-n1">
            <a:extLst xmlns:a="http://schemas.openxmlformats.org/drawingml/2006/main">
              <a:ext uri="{FF2B5EF4-FFF2-40B4-BE49-F238E27FC236}">
                <a16:creationId xmlns:a16="http://schemas.microsoft.com/office/drawing/2014/main" id="{989040BF-02E0-4A65-903D-28A877AE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1" name="peer2-t1">
            <a:extLst xmlns:a="http://schemas.openxmlformats.org/drawingml/2006/main">
              <a:ext uri="{FF2B5EF4-FFF2-40B4-BE49-F238E27FC236}">
                <a16:creationId xmlns:a16="http://schemas.microsoft.com/office/drawing/2014/main" id="{BD1E486E-224D-4333-BF7E-95EEB8AC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86000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反馈处理位置</a:t>
            </a:r>
          </a:p>
        </p:txBody>
      </p:sp>
      <p:sp>
        <p:nvSpPr>
          <p:cNvPr id="22" name="peer2-r1">
            <a:extLst xmlns:a="http://schemas.openxmlformats.org/drawingml/2006/main">
              <a:ext uri="{FF2B5EF4-FFF2-40B4-BE49-F238E27FC236}">
                <a16:creationId xmlns:a16="http://schemas.microsoft.com/office/drawing/2014/main" id="{862CBD49-F119-4087-A8DF-0DC30E3F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3" name="peer2-n2">
            <a:extLst xmlns:a="http://schemas.openxmlformats.org/drawingml/2006/main">
              <a:ext uri="{FF2B5EF4-FFF2-40B4-BE49-F238E27FC236}">
                <a16:creationId xmlns:a16="http://schemas.microsoft.com/office/drawing/2014/main" id="{EFF197D0-817B-4138-87AD-FAE5B5FA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peer2-t2">
            <a:extLst xmlns:a="http://schemas.openxmlformats.org/drawingml/2006/main">
              <a:ext uri="{FF2B5EF4-FFF2-40B4-BE49-F238E27FC236}">
                <a16:creationId xmlns:a16="http://schemas.microsoft.com/office/drawing/2014/main" id="{5616E7E9-2F45-4265-A61C-0AD25952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00375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风险预案</a:t>
            </a:r>
          </a:p>
        </p:txBody>
      </p:sp>
      <p:sp>
        <p:nvSpPr>
          <p:cNvPr id="25" name="peer2-r2">
            <a:extLst xmlns:a="http://schemas.openxmlformats.org/drawingml/2006/main">
              <a:ext uri="{FF2B5EF4-FFF2-40B4-BE49-F238E27FC236}">
                <a16:creationId xmlns:a16="http://schemas.microsoft.com/office/drawing/2014/main" id="{4966E3C5-9158-4FBA-8F04-181367EA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33775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6" name="peer2-n3">
            <a:extLst xmlns:a="http://schemas.openxmlformats.org/drawingml/2006/main">
              <a:ext uri="{FF2B5EF4-FFF2-40B4-BE49-F238E27FC236}">
                <a16:creationId xmlns:a16="http://schemas.microsoft.com/office/drawing/2014/main" id="{FD824D97-133C-4D33-A7D8-4F81247D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peer2-t3">
            <a:extLst xmlns:a="http://schemas.openxmlformats.org/drawingml/2006/main">
              <a:ext uri="{FF2B5EF4-FFF2-40B4-BE49-F238E27FC236}">
                <a16:creationId xmlns:a16="http://schemas.microsoft.com/office/drawing/2014/main" id="{0ADDA0A7-B575-45DB-A264-1A3FF900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14750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已遇失败记录</a:t>
            </a:r>
          </a:p>
        </p:txBody>
      </p:sp>
      <p:sp>
        <p:nvSpPr>
          <p:cNvPr id="28" name="peer2-r3">
            <a:extLst xmlns:a="http://schemas.openxmlformats.org/drawingml/2006/main">
              <a:ext uri="{FF2B5EF4-FFF2-40B4-BE49-F238E27FC236}">
                <a16:creationId xmlns:a16="http://schemas.microsoft.com/office/drawing/2014/main" id="{BE393025-9F94-4FFE-B182-5A783586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48150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9" name="cluster3">
            <a:extLst xmlns:a="http://schemas.openxmlformats.org/drawingml/2006/main">
              <a:ext uri="{FF2B5EF4-FFF2-40B4-BE49-F238E27FC236}">
                <a16:creationId xmlns:a16="http://schemas.microsoft.com/office/drawing/2014/main" id="{1EE94AE3-B7BB-41A8-A1F4-B4E42EBA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95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模板与责任</a:t>
            </a:r>
          </a:p>
        </p:txBody>
      </p:sp>
      <p:sp>
        <p:nvSpPr>
          <p:cNvPr id="30" name="peer3-n0">
            <a:extLst xmlns:a="http://schemas.openxmlformats.org/drawingml/2006/main">
              <a:ext uri="{FF2B5EF4-FFF2-40B4-BE49-F238E27FC236}">
                <a16:creationId xmlns:a16="http://schemas.microsoft.com/office/drawing/2014/main" id="{57A00731-A3AC-4006-8841-84CB9D66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31" name="peer3-t0">
            <a:extLst xmlns:a="http://schemas.openxmlformats.org/drawingml/2006/main">
              <a:ext uri="{FF2B5EF4-FFF2-40B4-BE49-F238E27FC236}">
                <a16:creationId xmlns:a16="http://schemas.microsoft.com/office/drawing/2014/main" id="{6A5A5671-9278-4B74-827A-2ECC8B62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571625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AI 记录不丢失</a:t>
            </a:r>
          </a:p>
        </p:txBody>
      </p:sp>
      <p:sp>
        <p:nvSpPr>
          <p:cNvPr id="32" name="peer3-r0">
            <a:extLst xmlns:a="http://schemas.openxmlformats.org/drawingml/2006/main">
              <a:ext uri="{FF2B5EF4-FFF2-40B4-BE49-F238E27FC236}">
                <a16:creationId xmlns:a16="http://schemas.microsoft.com/office/drawing/2014/main" id="{C5B96D56-A46C-45B4-AB06-100F67BE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05025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3" name="peer3-n1">
            <a:extLst xmlns:a="http://schemas.openxmlformats.org/drawingml/2006/main">
              <a:ext uri="{FF2B5EF4-FFF2-40B4-BE49-F238E27FC236}">
                <a16:creationId xmlns:a16="http://schemas.microsoft.com/office/drawing/2014/main" id="{4D57000A-6F12-4935-AC69-F838D9F9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86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4" name="peer3-t1">
            <a:extLst xmlns:a="http://schemas.openxmlformats.org/drawingml/2006/main">
              <a:ext uri="{FF2B5EF4-FFF2-40B4-BE49-F238E27FC236}">
                <a16:creationId xmlns:a16="http://schemas.microsoft.com/office/drawing/2014/main" id="{B69ED38F-07E3-4437-9316-133F8CE3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86000"/>
            <a:ext cx="2733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伦理说明不丢失</a:t>
            </a:r>
          </a:p>
        </p:txBody>
      </p:sp>
      <p:sp>
        <p:nvSpPr>
          <p:cNvPr id="35" name="peer3-r1">
            <a:extLst xmlns:a="http://schemas.openxmlformats.org/drawingml/2006/main">
              <a:ext uri="{FF2B5EF4-FFF2-40B4-BE49-F238E27FC236}">
                <a16:creationId xmlns:a16="http://schemas.microsoft.com/office/drawing/2014/main" id="{BB5BADB7-2DAE-4F93-905B-BC1455A2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19400"/>
            <a:ext cx="3286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6" name="actions">
            <a:extLst xmlns:a="http://schemas.openxmlformats.org/drawingml/2006/main">
              <a:ext uri="{FF2B5EF4-FFF2-40B4-BE49-F238E27FC236}">
                <a16:creationId xmlns:a16="http://schemas.microsoft.com/office/drawing/2014/main" id="{53F24D1F-FE14-44C3-B4BE-52E948B5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作者选择：采纳／澄清／补证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保留异议／暂缓</a:t>
            </a:r>
          </a:p>
        </p:txBody>
      </p:sp>
      <p:sp>
        <p:nvSpPr>
          <p:cNvPr id="37" name="owner">
            <a:extLst xmlns:a="http://schemas.openxmlformats.org/drawingml/2006/main">
              <a:ext uri="{FF2B5EF4-FFF2-40B4-BE49-F238E27FC236}">
                <a16:creationId xmlns:a16="http://schemas.microsoft.com/office/drawing/2014/main" id="{FB558A56-2A63-4B37-B8D8-1637813B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8637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同伴只按门条件提问题；作者保留修改决定权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6" name="summary-0-bg">
            <a:extLst xmlns:a="http://schemas.openxmlformats.org/drawingml/2006/main">
              <a:ext uri="{FF2B5EF4-FFF2-40B4-BE49-F238E27FC236}">
                <a16:creationId xmlns:a16="http://schemas.microsoft.com/office/drawing/2014/main" id="{AA2D3087-EBC7-49F3-BC6C-8FADE917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summary-0">
            <a:extLst xmlns:a="http://schemas.openxmlformats.org/drawingml/2006/main">
              <a:ext uri="{FF2B5EF4-FFF2-40B4-BE49-F238E27FC236}">
                <a16:creationId xmlns:a16="http://schemas.microsoft.com/office/drawing/2014/main" id="{C712ED7D-2274-42C9-A0A1-E78BADC4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公平 baseline</a:t>
            </a:r>
          </a:p>
        </p:txBody>
      </p:sp>
      <p:sp>
        <p:nvSpPr>
          <p:cNvPr id="8" name="summary-a0">
            <a:extLst xmlns:a="http://schemas.openxmlformats.org/drawingml/2006/main">
              <a:ext uri="{FF2B5EF4-FFF2-40B4-BE49-F238E27FC236}">
                <a16:creationId xmlns:a16="http://schemas.microsoft.com/office/drawing/2014/main" id="{C1365FC7-CA25-4DFC-A714-CC71C198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summary-1-bg">
            <a:extLst xmlns:a="http://schemas.openxmlformats.org/drawingml/2006/main">
              <a:ext uri="{FF2B5EF4-FFF2-40B4-BE49-F238E27FC236}">
                <a16:creationId xmlns:a16="http://schemas.microsoft.com/office/drawing/2014/main" id="{DFE713DB-9C08-459D-8902-87B71397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summary-1">
            <a:extLst xmlns:a="http://schemas.openxmlformats.org/drawingml/2006/main">
              <a:ext uri="{FF2B5EF4-FFF2-40B4-BE49-F238E27FC236}">
                <a16:creationId xmlns:a16="http://schemas.microsoft.com/office/drawing/2014/main" id="{A9BB02C6-59F9-4F19-A269-C3A4D4DB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七字段规格</a:t>
            </a:r>
          </a:p>
        </p:txBody>
      </p:sp>
      <p:sp>
        <p:nvSpPr>
          <p:cNvPr id="11" name="summary-a1">
            <a:extLst xmlns:a="http://schemas.openxmlformats.org/drawingml/2006/main">
              <a:ext uri="{FF2B5EF4-FFF2-40B4-BE49-F238E27FC236}">
                <a16:creationId xmlns:a16="http://schemas.microsoft.com/office/drawing/2014/main" id="{3DA11004-E905-4070-BA5D-3FC9328C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summary-2-bg">
            <a:extLst xmlns:a="http://schemas.openxmlformats.org/drawingml/2006/main">
              <a:ext uri="{FF2B5EF4-FFF2-40B4-BE49-F238E27FC236}">
                <a16:creationId xmlns:a16="http://schemas.microsoft.com/office/drawing/2014/main" id="{DDC54E76-2CC0-41CE-ADA7-B676BDC9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summary-2">
            <a:extLst xmlns:a="http://schemas.openxmlformats.org/drawingml/2006/main">
              <a:ext uri="{FF2B5EF4-FFF2-40B4-BE49-F238E27FC236}">
                <a16:creationId xmlns:a16="http://schemas.microsoft.com/office/drawing/2014/main" id="{D4D63594-D60F-4135-AD68-822AC925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复现记录</a:t>
            </a:r>
          </a:p>
        </p:txBody>
      </p:sp>
      <p:sp>
        <p:nvSpPr>
          <p:cNvPr id="14" name="summary-a2">
            <a:extLst xmlns:a="http://schemas.openxmlformats.org/drawingml/2006/main">
              <a:ext uri="{FF2B5EF4-FFF2-40B4-BE49-F238E27FC236}">
                <a16:creationId xmlns:a16="http://schemas.microsoft.com/office/drawing/2014/main" id="{408BF53D-43D1-4707-8DE0-17679687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summary-3-bg">
            <a:extLst xmlns:a="http://schemas.openxmlformats.org/drawingml/2006/main">
              <a:ext uri="{FF2B5EF4-FFF2-40B4-BE49-F238E27FC236}">
                <a16:creationId xmlns:a16="http://schemas.microsoft.com/office/drawing/2014/main" id="{65E47A4A-0C43-414B-8C00-5D3E8A50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summary-3">
            <a:extLst xmlns:a="http://schemas.openxmlformats.org/drawingml/2006/main">
              <a:ext uri="{FF2B5EF4-FFF2-40B4-BE49-F238E27FC236}">
                <a16:creationId xmlns:a16="http://schemas.microsoft.com/office/drawing/2014/main" id="{D346BD07-B2BC-424E-8643-A385F1B5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判断门材料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FB1FD852-41E2-4106-A0F1-718547E2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9575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能运行，不等于公平、可复现或足以支持研究判断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0184AA40-07CA-43D8-9C16-6865611C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保留本课决定，准备下一课输入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ABE971C3-BFAA-4FF9-BBB6-13894FF3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L10 在这个工作区完成受限补丁，输入与评价协议保持冻结。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95E1182C-E0A3-41AB-AB4B-A0806717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回写已有项目：判断门：baseline 运行、七字段规格、复现说明及两条判断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D5B24FBD-96F3-4C97-B302-743A39F8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研究门材料按既定预算整理提交；不叠加新必读。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F0ABE140-4102-424D-A743-49406066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C56925BD-8ED7-47A5-813E-B2CF982C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2026-09-16T01:27:14.7330000Z</dcterms:created>
  <dcterms:modified xsi:type="dcterms:W3CDTF">2026-09-16T01:27:14.7330000Z</dcterms:modified>
</coreProperties>
</file>