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9"/>
  </p:normalViewPr>
  <p:slideViewPr>
    <p:cSldViewPr snapToGrid="0">
      <p:cViewPr varScale="1">
        <p:scale>
          <a:sx n="106" d="100"/>
          <a:sy n="106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页面：P01 科研伦理与 Agent 边界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页面：P02 第 1 讲回顾：知识与产物</a:t>
            </a:r>
          </a:p>
          <a:p>
            <a:r>
              <a:t/>
            </a:r>
            <a:endParaRPr/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  <a:endParaRPr/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  <a:endParaRPr/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  <a:endParaRPr/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页面：P03 从 diff 与日志到材料、动作和责任</a:t>
            </a:r>
          </a:p>
          <a:p>
            <a:r>
              <a:t/>
            </a:r>
            <a:endParaRPr/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  <a:endParaRPr/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  <a:endParaRPr/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  <a:endParaRPr/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页面：P04 声明与 trace 的缺口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>先独立作答，再同伴比较；以下依据只在校准时揭示。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E4 超出任务读范围；E5 的 diff 不能证明前序读取合法。B 对当前契约成立。也可在动作前基于任务必要性申请单一文件读取并更新授权，不能事后扩大白名单抹平事实。network=off 只是声明时，不能推断网络隔离已实现。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先独立写决定和证据，后同伴比较；校准后再回写。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t>[Sources]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handout.md、judgment-task.md；../../course/judgment-path.md。教学构造仅用于方法判断；本人结果以实际记录为准。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页面：P05 科研诚信的六项价值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页面：P06 中科院与交大的制度依据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页面：P07 合作稿：输入与处理环境</a:t>
            </a:r>
          </a:p>
          <a:p>
            <a:r>
              <a:t/>
            </a:r>
            <a:endParaRPr/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  <a:endParaRPr/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  <a:endParaRPr/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  <a:endParaRPr/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页面：P08 一张可检查的风险记录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页面：P09 允许、有条件允许与禁止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页面：P10 发送未公开材料前的五项检查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页面：P11 未获授权材料外发后的处理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页面：P12 模拟数据与真实观测的结论边界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页面：P13 批准必须落实为协议变更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页面：P14 研究 harness：把边界落实到每一步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页面：P15 默认拒绝与最小权限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页面：P16 权限矩阵：先写清一次任务授权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页面：P17 过宽授权与任务授权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页面：P18 工件状态与证据成熟度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页面：P19 一份证据地图的状态迁移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页面：P20 一条 AI 使用记录应说明什么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页面：P21 助教演示：风险与权限如何落地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页面：P22 第一轮：只读边界审查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页面：P23 第二轮：批准后的三处写回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页面：P24 本人项目：决定、核验与回写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>第一段作决定并查证据；中点处理共性卡点；第二段实际回写并验证。E4 超出任务读范围；E5 的 diff 不能证明前序读取合法。B 对当前契约成立。也可在动作前基于任务必要性申请单一文件读取并更新授权，不能事后扩大白名单抹平事实。network=off 只是声明时，不能推断网络隔离已实现。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给本人一个动作写清读写范围、确认点与拒绝分支，更新既有权限行、风险卡和日志。选一次允许动作和一次越界尝试检验控制。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handout.md、judgment-task.md；../../course/judgment-path.md。教学构造仅用于方法判断；本人结果以实际记录为准。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页面：P25 临时结对：三件工件是否一致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页面：P26 本讲知识点总结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依据本页方法检查本人项目；按需参考。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页面：P27 保留本课决定，准备下一课输入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讲述与校准：</a:t>
            </a:r>
          </a:p>
          <a:p>
            <a:r>
              <a:t>补齐边界验证记录；准备公开研究问题和检索关键词。 每课课外最多60分钟；详见讲义。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学生动作：</a:t>
            </a:r>
          </a:p>
          <a:p>
            <a:r>
              <a:t>定位实际工件与下一项动作；按既定预算收口。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课堂安排：按本稿下方 90 分钟教学路由安排；此页不另占独立时段。</a:t>
            </a:r>
          </a:p>
          <a:p>
            <a:r>
              <a:t/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>
            <a:r>
              <a:rPr sz="1200" b="0">
                <a:solidFill>
                  <a:srgbClr val="24292F"/>
                </a:solidFill>
                <a:latin typeface="微软雅黑"/>
                <a:ea typeface="微软雅黑"/>
                <a:cs typeface="微软雅黑"/>
              </a:rPr>
              <a:t>本课 handout.md、judgment-task.md；../../course/judgment-path.md。教学构造仅用于方法判断；本人结果以实际记录为准。</a:t>
            </a:r>
          </a:p>
          <a:p>
            <a:r>
              <a:t>[/Sources]</a:t>
            </a:r>
            <a:endParaRPr sz="1200" b="0">
              <a:solidFill>
                <a:srgbClr val="2429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r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noChangeAspect="1"/>
          </p:cNvPicPr>
          <p:nvPr/>
        </p:nvPicPr>
        <p:blipFill rotWithShape="1">
          <a:blip r:embed="rId3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pic>
        <p:nvPicPr>
          <p:cNvPr id="51" name="图片 17"/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9831" b="36385"/>
          <a:stretch/>
        </p:blipFill>
        <p:spPr>
          <a:xfrm>
            <a:off x="3352562" y="6244170"/>
            <a:ext cx="5486876" cy="406590"/>
          </a:xfrm>
          <a:prstGeom prst="rect">
            <a:avLst/>
          </a:prstGeom>
        </p:spPr>
      </p:pic>
      <p:sp>
        <p:nvSpPr>
          <p:cNvPr id="37" name="椭圆 36">
            <a:extLst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noGrp="1"/>
          </p:cNvSpPr>
          <p:nvPr/>
        </p:nvSpPr>
        <p:spPr>
          <a:xfrm>
            <a:off x="6051000" y="6430138"/>
            <a:ext cx="90000" cy="9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noGrp="1"/>
          </p:cNvSpPr>
          <p:nvPr/>
        </p:nvSpPr>
        <p:spPr>
          <a:xfrm>
            <a:off x="2328587" y="6487838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noGrp="1"/>
          </p:cNvSpPr>
          <p:nvPr/>
        </p:nvSpPr>
        <p:spPr>
          <a:xfrm>
            <a:off x="8983387" y="6487838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noGrp="1"/>
          </p:cNvSpPr>
          <p:nvPr/>
        </p:nv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noGrp="1"/>
          </p:cNvSpPr>
          <p:nvPr/>
        </p:nv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7" name="图片 3"/>
          <p:cNvPicPr>
            <a:picLocks noChangeAspect="1"/>
          </p:cNvPicPr>
          <p:nvPr/>
        </p:nvPicPr>
        <p:blipFill>
          <a:blip r:embed="rId5"/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noGrp="1"/>
          </p:cNvSpPr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noGrp="1"/>
          </p:cNvSpPr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noGrp="1"/>
          </p:cNvSpPr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noChangeAspect="1"/>
          </p:cNvPicPr>
          <p:nvPr/>
        </p:nvPicPr>
        <p:blipFill rotWithShape="1">
          <a:blip r:embed="rId2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1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noGrp="1"/>
          </p:cNvSpPr>
          <p:nvPr/>
        </p:nv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noGrp="1"/>
          </p:cNvSpPr>
          <p:nvPr/>
        </p:nv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noChangeAspect="1"/>
          </p:cNvPicPr>
          <p:nvPr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inyh.github.io/ai4research/lessons/lesson-01/classroom-pack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71417-DC37-418F-96C9-9E681A1DF787}"/>
              </a:ext>
            </a:extLst>
          </p:cNvPr>
          <p:cNvSpPr>
            <a:spLocks noGrp="1"/>
          </p:cNvSpPr>
          <p:nvPr/>
        </p:nvSpPr>
        <p:spPr>
          <a:xfrm>
            <a:off x="2029968" y="2139696"/>
            <a:ext cx="81381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2500" b="0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第2讲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EF29C-41E0-42A5-B355-1FB4418FD41F}"/>
              </a:ext>
            </a:extLst>
          </p:cNvPr>
          <p:cNvSpPr>
            <a:spLocks noGrp="1"/>
          </p:cNvSpPr>
          <p:nvPr/>
        </p:nvSpPr>
        <p:spPr>
          <a:xfrm>
            <a:off x="1481328" y="2624328"/>
            <a:ext cx="9235440" cy="658368"/>
          </a:xfrm>
          <a:prstGeom prst="rect">
            <a:avLst/>
          </a:prstGeom>
          <a:noFill/>
        </p:spPr>
        <p:txBody>
          <a:bodyPr lIns="36576" tIns="36576" rIns="36576" bIns="36576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科研伦理与 Agent 边界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C1735-23C7-4F6E-B032-93C5B4DF1CB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讲回顾：知识与产物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77341-01CE-43DF-B687-E52551649620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recall-main">
            <a:extLst>
              <a:ext uri="{FF2B5EF4-FFF2-40B4-BE49-F238E27FC236}">
                <a16:creationId xmlns:a16="http://schemas.microsoft.com/office/drawing/2014/main" id="{509A1A74-11E4-426B-B92F-94CCAC4B6B89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把 AI 建议变成可检查的项目修改</a:t>
            </a:r>
          </a:p>
        </p:txBody>
      </p:sp>
      <p:sp>
        <p:nvSpPr>
          <p:cNvPr id="5" name="recall-knowledge">
            <a:extLst>
              <a:ext uri="{FF2B5EF4-FFF2-40B4-BE49-F238E27FC236}">
                <a16:creationId xmlns:a16="http://schemas.microsoft.com/office/drawing/2014/main" id="{58101474-F821-446E-B3A7-CF7A45BDC875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49053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知识点</a:t>
            </a:r>
          </a:p>
        </p:txBody>
      </p:sp>
      <p:sp>
        <p:nvSpPr>
          <p:cNvPr id="6" name="recall-k1">
            <a:extLst>
              <a:ext uri="{FF2B5EF4-FFF2-40B4-BE49-F238E27FC236}">
                <a16:creationId xmlns:a16="http://schemas.microsoft.com/office/drawing/2014/main" id="{BB1D66F6-C6D3-4C97-B7CA-7DE110424E9A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核验输出与结论成立条件</a:t>
            </a:r>
          </a:p>
        </p:txBody>
      </p:sp>
      <p:sp>
        <p:nvSpPr>
          <p:cNvPr id="7" name="recall-k2">
            <a:extLst>
              <a:ext uri="{FF2B5EF4-FFF2-40B4-BE49-F238E27FC236}">
                <a16:creationId xmlns:a16="http://schemas.microsoft.com/office/drawing/2014/main" id="{C22268CC-9816-4583-B3F7-EA00BD1CD3BC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由研究者决定</a:t>
            </a:r>
          </a:p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采纳、修改或拒绝</a:t>
            </a:r>
          </a:p>
        </p:txBody>
      </p:sp>
      <p:sp>
        <p:nvSpPr>
          <p:cNvPr id="8" name="recall-k3">
            <a:extLst>
              <a:ext uri="{FF2B5EF4-FFF2-40B4-BE49-F238E27FC236}">
                <a16:creationId xmlns:a16="http://schemas.microsoft.com/office/drawing/2014/main" id="{CD19BA65-43CD-498A-8EAA-FC33573D24A7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用八阶段定位动作与下一步</a:t>
            </a:r>
          </a:p>
        </p:txBody>
      </p:sp>
      <p:sp>
        <p:nvSpPr>
          <p:cNvPr id="9" name="recall-artifacts">
            <a:extLst>
              <a:ext uri="{FF2B5EF4-FFF2-40B4-BE49-F238E27FC236}">
                <a16:creationId xmlns:a16="http://schemas.microsoft.com/office/drawing/2014/main" id="{3BD64256-0A55-46BB-9D65-AAA55008B2CB}"/>
              </a:ext>
            </a:extLst>
          </p:cNvPr>
          <p:cNvSpPr>
            <a:spLocks noGrp="1"/>
          </p:cNvSpPr>
          <p:nvPr/>
        </p:nvSpPr>
        <p:spPr>
          <a:xfrm>
            <a:off x="6334125" y="1962150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核心产物</a:t>
            </a:r>
          </a:p>
        </p:txBody>
      </p:sp>
      <p:sp>
        <p:nvSpPr>
          <p:cNvPr id="10" name="recall-a1">
            <a:extLst>
              <a:ext uri="{FF2B5EF4-FFF2-40B4-BE49-F238E27FC236}">
                <a16:creationId xmlns:a16="http://schemas.microsoft.com/office/drawing/2014/main" id="{F4BFC930-44EC-49C0-90E1-2860C4140BB2}"/>
              </a:ext>
            </a:extLst>
          </p:cNvPr>
          <p:cNvSpPr>
            <a:spLocks noGrp="1"/>
          </p:cNvSpPr>
          <p:nvPr/>
        </p:nvSpPr>
        <p:spPr>
          <a:xfrm>
            <a:off x="6334125" y="2647950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一处人工认可的问题修改</a:t>
            </a:r>
          </a:p>
        </p:txBody>
      </p:sp>
      <p:sp>
        <p:nvSpPr>
          <p:cNvPr id="11" name="recall-a2">
            <a:extLst>
              <a:ext uri="{FF2B5EF4-FFF2-40B4-BE49-F238E27FC236}">
                <a16:creationId xmlns:a16="http://schemas.microsoft.com/office/drawing/2014/main" id="{9B69289D-6F8C-4BC4-87CB-870B71AF74A6}"/>
              </a:ext>
            </a:extLst>
          </p:cNvPr>
          <p:cNvSpPr>
            <a:spLocks noGrp="1"/>
          </p:cNvSpPr>
          <p:nvPr/>
        </p:nvSpPr>
        <p:spPr>
          <a:xfrm>
            <a:off x="6334125" y="3314700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与修改对应的 diff</a:t>
            </a:r>
          </a:p>
        </p:txBody>
      </p:sp>
      <p:sp>
        <p:nvSpPr>
          <p:cNvPr id="12" name="recall-a3">
            <a:extLst>
              <a:ext uri="{FF2B5EF4-FFF2-40B4-BE49-F238E27FC236}">
                <a16:creationId xmlns:a16="http://schemas.microsoft.com/office/drawing/2014/main" id="{445D3095-4C9B-47E6-8625-63E1AA328024}"/>
              </a:ext>
            </a:extLst>
          </p:cNvPr>
          <p:cNvSpPr>
            <a:spLocks noGrp="1"/>
          </p:cNvSpPr>
          <p:nvPr/>
        </p:nvSpPr>
        <p:spPr>
          <a:xfrm>
            <a:off x="6334125" y="3981450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一条含理由与核验的使用记录</a:t>
            </a:r>
          </a:p>
        </p:txBody>
      </p:sp>
      <p:sp>
        <p:nvSpPr>
          <p:cNvPr id="13" name="recall-a4">
            <a:extLst>
              <a:ext uri="{FF2B5EF4-FFF2-40B4-BE49-F238E27FC236}">
                <a16:creationId xmlns:a16="http://schemas.microsoft.com/office/drawing/2014/main" id="{4AB73844-484D-442D-9F81-E7451F46F29E}"/>
              </a:ext>
            </a:extLst>
          </p:cNvPr>
          <p:cNvSpPr>
            <a:spLocks noGrp="1"/>
          </p:cNvSpPr>
          <p:nvPr/>
        </p:nvSpPr>
        <p:spPr>
          <a:xfrm>
            <a:off x="6334125" y="4648200"/>
            <a:ext cx="5095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当前不确定性及其阶段位置</a:t>
            </a:r>
          </a:p>
        </p:txBody>
      </p:sp>
      <p:sp>
        <p:nvSpPr>
          <p:cNvPr id="14" name="recall-link">
            <a:extLst>
              <a:ext uri="{FF2B5EF4-FFF2-40B4-BE49-F238E27FC236}">
                <a16:creationId xmlns:a16="http://schemas.microsoft.com/office/drawing/2014/main" id="{5108A053-C423-4D96-ABDB-0DBDCF384486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8191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 u="sng">
                <a:solidFill>
                  <a:srgbClr val="1F4D78"/>
                </a:solidFill>
                <a:latin typeface="微软雅黑"/>
                <a:ea typeface="微软雅黑"/>
                <a:cs typeface="微软雅黑"/>
                <a:hlinkClick r:id="rId3"/>
              </a:rPr>
              <a:t>打开第 1 讲修改与日志样例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DC1735-23C7-4F6E-B032-93C5B4DF1CB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diff 与日志到材料、动作和责任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77341-01CE-43DF-B687-E52551649620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body-361">
            <a:extLst>
              <a:ext uri="{FF2B5EF4-FFF2-40B4-BE49-F238E27FC236}">
                <a16:creationId xmlns:a16="http://schemas.microsoft.com/office/drawing/2014/main" id="{7AE18DD5-773B-4B0B-92E0-27E752739AF2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1 课的记录，还需要补什么？</a:t>
            </a:r>
          </a:p>
        </p:txBody>
      </p:sp>
      <p:sp>
        <p:nvSpPr>
          <p:cNvPr id="5" name="body-362">
            <a:extLst>
              <a:ext uri="{FF2B5EF4-FFF2-40B4-BE49-F238E27FC236}">
                <a16:creationId xmlns:a16="http://schemas.microsoft.com/office/drawing/2014/main" id="{20FB8007-2163-4607-B7B2-E84E26F6037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材料</a:t>
            </a:r>
          </a:p>
        </p:txBody>
      </p:sp>
      <p:sp>
        <p:nvSpPr>
          <p:cNvPr id="6" name="body-363">
            <a:extLst>
              <a:ext uri="{FF2B5EF4-FFF2-40B4-BE49-F238E27FC236}">
                <a16:creationId xmlns:a16="http://schemas.microsoft.com/office/drawing/2014/main" id="{2F03ADEA-6701-4DCC-8E91-3300AD56BB22}"/>
              </a:ext>
            </a:extLst>
          </p:cNvPr>
          <p:cNvSpPr>
            <a:spLocks noGrp="1"/>
          </p:cNvSpPr>
          <p:nvPr/>
        </p:nvSpPr>
        <p:spPr>
          <a:xfrm>
            <a:off x="2847975" y="2076450"/>
            <a:ext cx="87344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输入是否获得授权，来源是什么？</a:t>
            </a:r>
          </a:p>
        </p:txBody>
      </p:sp>
      <p:sp>
        <p:nvSpPr>
          <p:cNvPr id="7" name="rule-364">
            <a:extLst>
              <a:ext uri="{FF2B5EF4-FFF2-40B4-BE49-F238E27FC236}">
                <a16:creationId xmlns:a16="http://schemas.microsoft.com/office/drawing/2014/main" id="{ACB8E005-1569-45AC-9A88-BD6B539B43D8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8" name="body-365">
            <a:extLst>
              <a:ext uri="{FF2B5EF4-FFF2-40B4-BE49-F238E27FC236}">
                <a16:creationId xmlns:a16="http://schemas.microsoft.com/office/drawing/2014/main" id="{B6D21192-DC29-4EBD-8DBC-98F9F75EDA67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9" name="body-366">
            <a:extLst>
              <a:ext uri="{FF2B5EF4-FFF2-40B4-BE49-F238E27FC236}">
                <a16:creationId xmlns:a16="http://schemas.microsoft.com/office/drawing/2014/main" id="{D048E51C-EA2D-4E44-A4E2-2C008D4F79B4}"/>
              </a:ext>
            </a:extLst>
          </p:cNvPr>
          <p:cNvSpPr>
            <a:spLocks noGrp="1"/>
          </p:cNvSpPr>
          <p:nvPr/>
        </p:nvSpPr>
        <p:spPr>
          <a:xfrm>
            <a:off x="2847975" y="2914650"/>
            <a:ext cx="87344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只读、写入、执行，还是对外发送？</a:t>
            </a:r>
          </a:p>
        </p:txBody>
      </p:sp>
      <p:sp>
        <p:nvSpPr>
          <p:cNvPr id="10" name="rule-367">
            <a:extLst>
              <a:ext uri="{FF2B5EF4-FFF2-40B4-BE49-F238E27FC236}">
                <a16:creationId xmlns:a16="http://schemas.microsoft.com/office/drawing/2014/main" id="{74814A2C-E3CE-4BBA-808B-2D723F3E146F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1" name="body-368">
            <a:extLst>
              <a:ext uri="{FF2B5EF4-FFF2-40B4-BE49-F238E27FC236}">
                <a16:creationId xmlns:a16="http://schemas.microsoft.com/office/drawing/2014/main" id="{38FBE3B0-E811-4732-970B-98383D26A7C4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2" name="body-369">
            <a:extLst>
              <a:ext uri="{FF2B5EF4-FFF2-40B4-BE49-F238E27FC236}">
                <a16:creationId xmlns:a16="http://schemas.microsoft.com/office/drawing/2014/main" id="{A2F880EE-803B-453A-B642-5578AB94A013}"/>
              </a:ext>
            </a:extLst>
          </p:cNvPr>
          <p:cNvSpPr>
            <a:spLocks noGrp="1"/>
          </p:cNvSpPr>
          <p:nvPr/>
        </p:nvSpPr>
        <p:spPr>
          <a:xfrm>
            <a:off x="2847975" y="3752850"/>
            <a:ext cx="87344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哪一步需要暂停，由谁决定继续？</a:t>
            </a:r>
          </a:p>
        </p:txBody>
      </p:sp>
      <p:sp>
        <p:nvSpPr>
          <p:cNvPr id="13" name="rule-370">
            <a:extLst>
              <a:ext uri="{FF2B5EF4-FFF2-40B4-BE49-F238E27FC236}">
                <a16:creationId xmlns:a16="http://schemas.microsoft.com/office/drawing/2014/main" id="{9D7556D4-AAEA-40BE-B2DF-10551E36D3D7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4" name="body-371">
            <a:extLst>
              <a:ext uri="{FF2B5EF4-FFF2-40B4-BE49-F238E27FC236}">
                <a16:creationId xmlns:a16="http://schemas.microsoft.com/office/drawing/2014/main" id="{8E6AD33D-00A4-4CBF-A8B6-16E039654EA3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2047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责任</a:t>
            </a:r>
          </a:p>
        </p:txBody>
      </p:sp>
      <p:sp>
        <p:nvSpPr>
          <p:cNvPr id="15" name="body-372">
            <a:extLst>
              <a:ext uri="{FF2B5EF4-FFF2-40B4-BE49-F238E27FC236}">
                <a16:creationId xmlns:a16="http://schemas.microsoft.com/office/drawing/2014/main" id="{362BFE3E-FF95-4EF7-BB90-6539A16CAA73}"/>
              </a:ext>
            </a:extLst>
          </p:cNvPr>
          <p:cNvSpPr>
            <a:spLocks noGrp="1"/>
          </p:cNvSpPr>
          <p:nvPr/>
        </p:nvSpPr>
        <p:spPr>
          <a:xfrm>
            <a:off x="2847975" y="4591050"/>
            <a:ext cx="8734425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实际发生了什么，由谁核验和承担？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judgment-title">
            <a:extLst>
              <a:ext uri="{FF2B5EF4-FFF2-40B4-BE49-F238E27FC236}">
                <a16:creationId xmlns:a16="http://schemas.microsoft.com/office/drawing/2014/main" id="{900F4B97-7C17-4189-83E3-E8141B6A53F8}"/>
              </a:ext>
            </a:extLst>
          </p:cNvPr>
          <p:cNvSpPr>
            <a:spLocks noGrp="1"/>
          </p:cNvSpPr>
          <p:nvPr/>
        </p:nvSpPr>
        <p:spPr>
          <a:xfrm>
            <a:off x="1028700" y="76200"/>
            <a:ext cx="106870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声明与 trace 的缺口</a:t>
            </a:r>
          </a:p>
        </p:txBody>
      </p:sp>
      <p:sp>
        <p:nvSpPr>
          <p:cNvPr id="2" name="judgment-body-0">
            <a:extLst>
              <a:ext uri="{FF2B5EF4-FFF2-40B4-BE49-F238E27FC236}">
                <a16:creationId xmlns:a16="http://schemas.microsoft.com/office/drawing/2014/main" id="{4A582FE4-7932-4ABC-8A84-9722D6CE4BE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READ 仅 problem-definition.md；WRITE 仅获批段；NETWORK off</a:t>
            </a:r>
          </a:p>
        </p:txBody>
      </p:sp>
      <p:sp>
        <p:nvSpPr>
          <p:cNvPr id="3" name="judgment-body-1">
            <a:extLst>
              <a:ext uri="{FF2B5EF4-FFF2-40B4-BE49-F238E27FC236}">
                <a16:creationId xmlns:a16="http://schemas.microsoft.com/office/drawing/2014/main" id="{6363C68C-FEA0-4189-94FB-A36B737AF6A7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E3｜批准建议 B</a:t>
            </a:r>
          </a:p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E4｜helper 读取 notes/source-list.md</a:t>
            </a:r>
          </a:p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E5｜diff 只含获批段</a:t>
            </a:r>
          </a:p>
        </p:txBody>
      </p:sp>
      <p:sp>
        <p:nvSpPr>
          <p:cNvPr id="4" name="judgment-body-2">
            <a:extLst>
              <a:ext uri="{FF2B5EF4-FFF2-40B4-BE49-F238E27FC236}">
                <a16:creationId xmlns:a16="http://schemas.microsoft.com/office/drawing/2014/main" id="{78FB5DBF-1D2D-412D-A527-11F677B4C635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108585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diff 合规，能否据此接收“全部权限通过”？指出应暂停的位置。</a:t>
            </a:r>
          </a:p>
        </p:txBody>
      </p:sp>
      <p:sp>
        <p:nvSpPr>
          <p:cNvPr id="5" name="judgment-source">
            <a:extLst>
              <a:ext uri="{FF2B5EF4-FFF2-40B4-BE49-F238E27FC236}">
                <a16:creationId xmlns:a16="http://schemas.microsoft.com/office/drawing/2014/main" id="{0EFFBA70-CD89-43C6-8C77-C2A457DB011D}"/>
              </a:ext>
            </a:extLst>
          </p:cNvPr>
          <p:cNvSpPr>
            <a:spLocks noGrp="1"/>
          </p:cNvSpPr>
          <p:nvPr/>
        </p:nvSpPr>
        <p:spPr>
          <a:xfrm>
            <a:off x="666750" y="6276975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>
              <a:ext uri="{FF2B5EF4-FFF2-40B4-BE49-F238E27FC236}">
                <a16:creationId xmlns:a16="http://schemas.microsoft.com/office/drawing/2014/main" id="{CA772E1E-A59C-4D47-AE5E-B496578C210C}"/>
              </a:ext>
            </a:extLst>
          </p:cNvPr>
          <p:cNvSpPr>
            <a:spLocks noGrp="1"/>
          </p:cNvSpPr>
          <p:nvPr/>
        </p:nvSpPr>
        <p:spPr>
          <a:xfrm>
            <a:off x="11715750" y="6562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E817F3-58B2-4E18-82DD-C86B23E43930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科研诚信的六项价值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217F-2065-42F9-B6F1-1C8DA50B4C0C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body-380">
            <a:extLst>
              <a:ext uri="{FF2B5EF4-FFF2-40B4-BE49-F238E27FC236}">
                <a16:creationId xmlns:a16="http://schemas.microsoft.com/office/drawing/2014/main" id="{FD23E5BB-B948-4AC7-BC7D-E0ADD435934E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F4D78"/>
                </a:solidFill>
                <a:latin typeface="Arial"/>
                <a:ea typeface="Arial"/>
                <a:cs typeface="Arial"/>
              </a:rPr>
              <a:t>NASEM · Fostering Integrity in Research · 2017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37510"/>
            <a:ext cx="5362575" cy="3154456"/>
          </a:xfrm>
          <a:prstGeom prst="rect">
            <a:avLst/>
          </a:prstGeom>
        </p:spPr>
      </p:pic>
      <p:sp>
        <p:nvSpPr>
          <p:cNvPr id="6" name="body-381">
            <a:extLst>
              <a:ext uri="{FF2B5EF4-FFF2-40B4-BE49-F238E27FC236}">
                <a16:creationId xmlns:a16="http://schemas.microsoft.com/office/drawing/2014/main" id="{BCC47795-6071-4FFC-9AB6-9BA0629E54EA}"/>
              </a:ext>
            </a:extLst>
          </p:cNvPr>
          <p:cNvSpPr>
            <a:spLocks noGrp="1"/>
          </p:cNvSpPr>
          <p:nvPr/>
        </p:nvSpPr>
        <p:spPr>
          <a:xfrm>
            <a:off x="6629400" y="170497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客观</a:t>
            </a:r>
          </a:p>
        </p:txBody>
      </p:sp>
      <p:sp>
        <p:nvSpPr>
          <p:cNvPr id="7" name="body-382">
            <a:extLst>
              <a:ext uri="{FF2B5EF4-FFF2-40B4-BE49-F238E27FC236}">
                <a16:creationId xmlns:a16="http://schemas.microsoft.com/office/drawing/2014/main" id="{3763E235-3145-4F19-B5D6-3AFBE9AB0288}"/>
              </a:ext>
            </a:extLst>
          </p:cNvPr>
          <p:cNvSpPr>
            <a:spLocks noGrp="1"/>
          </p:cNvSpPr>
          <p:nvPr/>
        </p:nvSpPr>
        <p:spPr>
          <a:xfrm>
            <a:off x="6629400" y="22193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objectivity</a:t>
            </a:r>
          </a:p>
        </p:txBody>
      </p:sp>
      <p:sp>
        <p:nvSpPr>
          <p:cNvPr id="8" name="rule-383">
            <a:extLst>
              <a:ext uri="{FF2B5EF4-FFF2-40B4-BE49-F238E27FC236}">
                <a16:creationId xmlns:a16="http://schemas.microsoft.com/office/drawing/2014/main" id="{F57947EC-0746-4D77-BF34-EAB60401AD01}"/>
              </a:ext>
            </a:extLst>
          </p:cNvPr>
          <p:cNvSpPr>
            <a:spLocks noGrp="1"/>
          </p:cNvSpPr>
          <p:nvPr/>
        </p:nvSpPr>
        <p:spPr>
          <a:xfrm>
            <a:off x="6629400" y="2771775"/>
            <a:ext cx="2343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9" name="body-384">
            <a:extLst>
              <a:ext uri="{FF2B5EF4-FFF2-40B4-BE49-F238E27FC236}">
                <a16:creationId xmlns:a16="http://schemas.microsoft.com/office/drawing/2014/main" id="{132C37B3-31D3-465C-8C21-C7443B6280B6}"/>
              </a:ext>
            </a:extLst>
          </p:cNvPr>
          <p:cNvSpPr>
            <a:spLocks noGrp="1"/>
          </p:cNvSpPr>
          <p:nvPr/>
        </p:nvSpPr>
        <p:spPr>
          <a:xfrm>
            <a:off x="9191625" y="170497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诚实</a:t>
            </a:r>
          </a:p>
        </p:txBody>
      </p:sp>
      <p:sp>
        <p:nvSpPr>
          <p:cNvPr id="10" name="body-385">
            <a:extLst>
              <a:ext uri="{FF2B5EF4-FFF2-40B4-BE49-F238E27FC236}">
                <a16:creationId xmlns:a16="http://schemas.microsoft.com/office/drawing/2014/main" id="{3BB75F2C-0CA2-4CB7-B1DB-62A534AF8F06}"/>
              </a:ext>
            </a:extLst>
          </p:cNvPr>
          <p:cNvSpPr>
            <a:spLocks noGrp="1"/>
          </p:cNvSpPr>
          <p:nvPr/>
        </p:nvSpPr>
        <p:spPr>
          <a:xfrm>
            <a:off x="9191625" y="22193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honesty</a:t>
            </a:r>
          </a:p>
        </p:txBody>
      </p:sp>
      <p:sp>
        <p:nvSpPr>
          <p:cNvPr id="11" name="rule-386">
            <a:extLst>
              <a:ext uri="{FF2B5EF4-FFF2-40B4-BE49-F238E27FC236}">
                <a16:creationId xmlns:a16="http://schemas.microsoft.com/office/drawing/2014/main" id="{494C39FB-7D7A-4C94-BFB0-D657C7A07941}"/>
              </a:ext>
            </a:extLst>
          </p:cNvPr>
          <p:cNvSpPr>
            <a:spLocks noGrp="1"/>
          </p:cNvSpPr>
          <p:nvPr/>
        </p:nvSpPr>
        <p:spPr>
          <a:xfrm>
            <a:off x="9191625" y="2771775"/>
            <a:ext cx="2343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2" name="body-387">
            <a:extLst>
              <a:ext uri="{FF2B5EF4-FFF2-40B4-BE49-F238E27FC236}">
                <a16:creationId xmlns:a16="http://schemas.microsoft.com/office/drawing/2014/main" id="{18656F8A-D67F-4579-B181-6B350850708C}"/>
              </a:ext>
            </a:extLst>
          </p:cNvPr>
          <p:cNvSpPr>
            <a:spLocks noGrp="1"/>
          </p:cNvSpPr>
          <p:nvPr/>
        </p:nvSpPr>
        <p:spPr>
          <a:xfrm>
            <a:off x="6629400" y="305752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开放</a:t>
            </a:r>
          </a:p>
        </p:txBody>
      </p:sp>
      <p:sp>
        <p:nvSpPr>
          <p:cNvPr id="13" name="body-388">
            <a:extLst>
              <a:ext uri="{FF2B5EF4-FFF2-40B4-BE49-F238E27FC236}">
                <a16:creationId xmlns:a16="http://schemas.microsoft.com/office/drawing/2014/main" id="{695B187E-8C72-4E11-BD5B-086EEA665A4C}"/>
              </a:ext>
            </a:extLst>
          </p:cNvPr>
          <p:cNvSpPr>
            <a:spLocks noGrp="1"/>
          </p:cNvSpPr>
          <p:nvPr/>
        </p:nvSpPr>
        <p:spPr>
          <a:xfrm>
            <a:off x="6629400" y="357187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openness</a:t>
            </a:r>
          </a:p>
        </p:txBody>
      </p:sp>
      <p:sp>
        <p:nvSpPr>
          <p:cNvPr id="14" name="rule-389">
            <a:extLst>
              <a:ext uri="{FF2B5EF4-FFF2-40B4-BE49-F238E27FC236}">
                <a16:creationId xmlns:a16="http://schemas.microsoft.com/office/drawing/2014/main" id="{B1157921-67E9-4894-9EC9-BE06F17AB9AE}"/>
              </a:ext>
            </a:extLst>
          </p:cNvPr>
          <p:cNvSpPr>
            <a:spLocks noGrp="1"/>
          </p:cNvSpPr>
          <p:nvPr/>
        </p:nvSpPr>
        <p:spPr>
          <a:xfrm>
            <a:off x="6629400" y="4124325"/>
            <a:ext cx="2343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5" name="body-390">
            <a:extLst>
              <a:ext uri="{FF2B5EF4-FFF2-40B4-BE49-F238E27FC236}">
                <a16:creationId xmlns:a16="http://schemas.microsoft.com/office/drawing/2014/main" id="{B349171E-A721-45CB-8CF2-E5AF19A65BA5}"/>
              </a:ext>
            </a:extLst>
          </p:cNvPr>
          <p:cNvSpPr>
            <a:spLocks noGrp="1"/>
          </p:cNvSpPr>
          <p:nvPr/>
        </p:nvSpPr>
        <p:spPr>
          <a:xfrm>
            <a:off x="9191625" y="305752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</a:t>
            </a:r>
          </a:p>
        </p:txBody>
      </p:sp>
      <p:sp>
        <p:nvSpPr>
          <p:cNvPr id="16" name="body-391">
            <a:extLst>
              <a:ext uri="{FF2B5EF4-FFF2-40B4-BE49-F238E27FC236}">
                <a16:creationId xmlns:a16="http://schemas.microsoft.com/office/drawing/2014/main" id="{C3A05B37-3B8F-4CAA-8B66-1AD5E70E0CE1}"/>
              </a:ext>
            </a:extLst>
          </p:cNvPr>
          <p:cNvSpPr>
            <a:spLocks noGrp="1"/>
          </p:cNvSpPr>
          <p:nvPr/>
        </p:nvSpPr>
        <p:spPr>
          <a:xfrm>
            <a:off x="9191625" y="357187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7" name="rule-392">
            <a:extLst>
              <a:ext uri="{FF2B5EF4-FFF2-40B4-BE49-F238E27FC236}">
                <a16:creationId xmlns:a16="http://schemas.microsoft.com/office/drawing/2014/main" id="{1E89B7E2-190E-4EB0-9DD2-F337B3BFA22F}"/>
              </a:ext>
            </a:extLst>
          </p:cNvPr>
          <p:cNvSpPr>
            <a:spLocks noGrp="1"/>
          </p:cNvSpPr>
          <p:nvPr/>
        </p:nvSpPr>
        <p:spPr>
          <a:xfrm>
            <a:off x="9191625" y="4124325"/>
            <a:ext cx="2343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8" name="body-393">
            <a:extLst>
              <a:ext uri="{FF2B5EF4-FFF2-40B4-BE49-F238E27FC236}">
                <a16:creationId xmlns:a16="http://schemas.microsoft.com/office/drawing/2014/main" id="{CEC33EA6-3130-4B02-A1AE-053BCA6B9E54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问责</a:t>
            </a:r>
          </a:p>
        </p:txBody>
      </p:sp>
      <p:sp>
        <p:nvSpPr>
          <p:cNvPr id="19" name="body-394">
            <a:extLst>
              <a:ext uri="{FF2B5EF4-FFF2-40B4-BE49-F238E27FC236}">
                <a16:creationId xmlns:a16="http://schemas.microsoft.com/office/drawing/2014/main" id="{05377F29-9004-4474-8D0E-91388C383400}"/>
              </a:ext>
            </a:extLst>
          </p:cNvPr>
          <p:cNvSpPr>
            <a:spLocks noGrp="1"/>
          </p:cNvSpPr>
          <p:nvPr/>
        </p:nvSpPr>
        <p:spPr>
          <a:xfrm>
            <a:off x="6629400" y="49244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20" name="rule-395">
            <a:extLst>
              <a:ext uri="{FF2B5EF4-FFF2-40B4-BE49-F238E27FC236}">
                <a16:creationId xmlns:a16="http://schemas.microsoft.com/office/drawing/2014/main" id="{E2A3DF7C-1FE5-489F-8E44-D37D919A50FA}"/>
              </a:ext>
            </a:extLst>
          </p:cNvPr>
          <p:cNvSpPr>
            <a:spLocks noGrp="1"/>
          </p:cNvSpPr>
          <p:nvPr/>
        </p:nvSpPr>
        <p:spPr>
          <a:xfrm>
            <a:off x="6629400" y="5476875"/>
            <a:ext cx="2343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21" name="body-396">
            <a:extLst>
              <a:ext uri="{FF2B5EF4-FFF2-40B4-BE49-F238E27FC236}">
                <a16:creationId xmlns:a16="http://schemas.microsoft.com/office/drawing/2014/main" id="{147BE67B-A7E3-4C6C-A8BD-B3B4C0A71924}"/>
              </a:ext>
            </a:extLst>
          </p:cNvPr>
          <p:cNvSpPr>
            <a:spLocks noGrp="1"/>
          </p:cNvSpPr>
          <p:nvPr/>
        </p:nvSpPr>
        <p:spPr>
          <a:xfrm>
            <a:off x="9191625" y="441007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守护责任</a:t>
            </a:r>
          </a:p>
        </p:txBody>
      </p:sp>
      <p:sp>
        <p:nvSpPr>
          <p:cNvPr id="22" name="body-397">
            <a:extLst>
              <a:ext uri="{FF2B5EF4-FFF2-40B4-BE49-F238E27FC236}">
                <a16:creationId xmlns:a16="http://schemas.microsoft.com/office/drawing/2014/main" id="{E745B1A5-39BE-41B3-927B-D396E295BA32}"/>
              </a:ext>
            </a:extLst>
          </p:cNvPr>
          <p:cNvSpPr>
            <a:spLocks noGrp="1"/>
          </p:cNvSpPr>
          <p:nvPr/>
        </p:nvSpPr>
        <p:spPr>
          <a:xfrm>
            <a:off x="9191625" y="4924425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stewardship</a:t>
            </a:r>
          </a:p>
        </p:txBody>
      </p:sp>
      <p:sp>
        <p:nvSpPr>
          <p:cNvPr id="23" name="rule-398">
            <a:extLst>
              <a:ext uri="{FF2B5EF4-FFF2-40B4-BE49-F238E27FC236}">
                <a16:creationId xmlns:a16="http://schemas.microsoft.com/office/drawing/2014/main" id="{5C58584B-2FF8-4B82-BF6E-FA6AA69CF10F}"/>
              </a:ext>
            </a:extLst>
          </p:cNvPr>
          <p:cNvSpPr>
            <a:spLocks noGrp="1"/>
          </p:cNvSpPr>
          <p:nvPr/>
        </p:nvSpPr>
        <p:spPr>
          <a:xfrm>
            <a:off x="9191625" y="5476875"/>
            <a:ext cx="2343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24" name="body-399">
            <a:extLst>
              <a:ext uri="{FF2B5EF4-FFF2-40B4-BE49-F238E27FC236}">
                <a16:creationId xmlns:a16="http://schemas.microsoft.com/office/drawing/2014/main" id="{B09ACED8-DF3E-4ED8-A699-2219FC2FB36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一次 Agent 动作，可能损害其中哪项价值？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3EB63-9492-4B03-8C6B-CE8DCC2F667B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中科院与交大的制度依据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B056B-5C37-4744-A22C-50BE427EEC1E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body-400">
            <a:extLst>
              <a:ext uri="{FF2B5EF4-FFF2-40B4-BE49-F238E27FC236}">
                <a16:creationId xmlns:a16="http://schemas.microsoft.com/office/drawing/2014/main" id="{36289DB5-674E-47A7-9CB0-40B0A907D131}"/>
              </a:ext>
            </a:extLst>
          </p:cNvPr>
          <p:cNvSpPr>
            <a:spLocks noGrp="1"/>
          </p:cNvSpPr>
          <p:nvPr/>
        </p:nvSpPr>
        <p:spPr>
          <a:xfrm>
            <a:off x="609600" y="1085850"/>
            <a:ext cx="50577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中国科学院 · 2024</a:t>
            </a:r>
          </a:p>
        </p:txBody>
      </p:sp>
      <p:sp>
        <p:nvSpPr>
          <p:cNvPr id="5" name="body-401">
            <a:extLst>
              <a:ext uri="{FF2B5EF4-FFF2-40B4-BE49-F238E27FC236}">
                <a16:creationId xmlns:a16="http://schemas.microsoft.com/office/drawing/2014/main" id="{07875771-C886-4F6C-B758-E2AE1781A443}"/>
              </a:ext>
            </a:extLst>
          </p:cNvPr>
          <p:cNvSpPr>
            <a:spLocks noGrp="1"/>
          </p:cNvSpPr>
          <p:nvPr/>
        </p:nvSpPr>
        <p:spPr>
          <a:xfrm>
            <a:off x="6667500" y="1085850"/>
            <a:ext cx="49149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上海交通大学 · 试行版</a:t>
            </a:r>
          </a:p>
        </p:txBody>
      </p:sp>
      <p:sp>
        <p:nvSpPr>
          <p:cNvPr id="6" name="body-402">
            <a:extLst>
              <a:ext uri="{FF2B5EF4-FFF2-40B4-BE49-F238E27FC236}">
                <a16:creationId xmlns:a16="http://schemas.microsoft.com/office/drawing/2014/main" id="{19896610-DFB6-4F73-94E6-D3C8E2B5E49B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5057775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《科研活动 AI 诚信提醒》</a:t>
            </a:r>
          </a:p>
        </p:txBody>
      </p:sp>
      <p:sp>
        <p:nvSpPr>
          <p:cNvPr id="7" name="body-403">
            <a:extLst>
              <a:ext uri="{FF2B5EF4-FFF2-40B4-BE49-F238E27FC236}">
                <a16:creationId xmlns:a16="http://schemas.microsoft.com/office/drawing/2014/main" id="{9FDDA8FD-67D7-4459-AD29-EA48D5299A09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49149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《教育教学中使用 AI 的规范》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6400" t="29000" r="6400" b="36120"/>
          <a:stretch>
            <a:fillRect/>
          </a:stretch>
        </p:blipFill>
        <p:spPr>
          <a:xfrm>
            <a:off x="609600" y="2638425"/>
            <a:ext cx="5057775" cy="16859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rcRect l="11500" t="8500" r="11500" b="71100"/>
          <a:stretch>
            <a:fillRect/>
          </a:stretch>
        </p:blipFill>
        <p:spPr>
          <a:xfrm>
            <a:off x="6667500" y="2638425"/>
            <a:ext cx="4914900" cy="1685925"/>
          </a:xfrm>
          <a:prstGeom prst="rect">
            <a:avLst/>
          </a:prstGeom>
        </p:spPr>
      </p:pic>
      <p:sp>
        <p:nvSpPr>
          <p:cNvPr id="10" name="body-404">
            <a:extLst>
              <a:ext uri="{FF2B5EF4-FFF2-40B4-BE49-F238E27FC236}">
                <a16:creationId xmlns:a16="http://schemas.microsoft.com/office/drawing/2014/main" id="{FD1BBA18-7359-4999-9BF6-7BC3979D4DDD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50577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科研活动中的诚信要求</a:t>
            </a:r>
          </a:p>
        </p:txBody>
      </p:sp>
      <p:sp>
        <p:nvSpPr>
          <p:cNvPr id="11" name="body-405">
            <a:extLst>
              <a:ext uri="{FF2B5EF4-FFF2-40B4-BE49-F238E27FC236}">
                <a16:creationId xmlns:a16="http://schemas.microsoft.com/office/drawing/2014/main" id="{0C902F43-588D-4817-9BA7-8E9029B68FAD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50577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核验与披露 AI 使用</a:t>
            </a:r>
          </a:p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保护数据和未公开材料</a:t>
            </a:r>
          </a:p>
        </p:txBody>
      </p:sp>
      <p:sp>
        <p:nvSpPr>
          <p:cNvPr id="12" name="body-406">
            <a:extLst>
              <a:ext uri="{FF2B5EF4-FFF2-40B4-BE49-F238E27FC236}">
                <a16:creationId xmlns:a16="http://schemas.microsoft.com/office/drawing/2014/main" id="{4915E44D-7083-4530-992E-5C9F0F546079}"/>
              </a:ext>
            </a:extLst>
          </p:cNvPr>
          <p:cNvSpPr>
            <a:spLocks noGrp="1"/>
          </p:cNvSpPr>
          <p:nvPr/>
        </p:nvSpPr>
        <p:spPr>
          <a:xfrm>
            <a:off x="6667500" y="4629150"/>
            <a:ext cx="49149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教育教学场景的分类治理</a:t>
            </a:r>
          </a:p>
        </p:txBody>
      </p:sp>
      <p:sp>
        <p:nvSpPr>
          <p:cNvPr id="13" name="body-407">
            <a:extLst>
              <a:ext uri="{FF2B5EF4-FFF2-40B4-BE49-F238E27FC236}">
                <a16:creationId xmlns:a16="http://schemas.microsoft.com/office/drawing/2014/main" id="{AB2293E7-B0AE-41F6-B5E1-0AFBE6065514}"/>
              </a:ext>
            </a:extLst>
          </p:cNvPr>
          <p:cNvSpPr>
            <a:spLocks noGrp="1"/>
          </p:cNvSpPr>
          <p:nvPr/>
        </p:nvSpPr>
        <p:spPr>
          <a:xfrm>
            <a:off x="6667500" y="5238750"/>
            <a:ext cx="49149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禁止使用 / 有限使用</a:t>
            </a:r>
          </a:p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鼓励使用 / 开放使用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7901F8-4534-4614-9876-87CBC9325CA8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合作稿：输入与处理环境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83780-3667-4B96-9C16-F75A33235046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6" name="goal">
            <a:extLst>
              <a:ext uri="{FF2B5EF4-FFF2-40B4-BE49-F238E27FC236}">
                <a16:creationId xmlns:a16="http://schemas.microsoft.com/office/drawing/2014/main" id="{EE76487D-68EE-4204-BA1D-7F20C1E0A4D4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同一研究目标：梳理研究问题与相关线索</a:t>
            </a:r>
          </a:p>
        </p:txBody>
      </p:sp>
      <p:sp>
        <p:nvSpPr>
          <p:cNvPr id="102" name="current-label">
            <a:extLst>
              <a:ext uri="{FF2B5EF4-FFF2-40B4-BE49-F238E27FC236}">
                <a16:creationId xmlns:a16="http://schemas.microsoft.com/office/drawing/2014/main" id="{A2499A65-D806-44EC-940A-B425E7433C2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当前路径</a:t>
            </a:r>
          </a:p>
        </p:txBody>
      </p:sp>
      <p:sp>
        <p:nvSpPr>
          <p:cNvPr id="103" name="current-input">
            <a:extLst>
              <a:ext uri="{FF2B5EF4-FFF2-40B4-BE49-F238E27FC236}">
                <a16:creationId xmlns:a16="http://schemas.microsoft.com/office/drawing/2014/main" id="{E7691A58-EA76-4BB6-AB62-9AB285D00463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合作原稿</a:t>
            </a:r>
          </a:p>
        </p:txBody>
      </p:sp>
      <p:sp>
        <p:nvSpPr>
          <p:cNvPr id="104" name="current-conditions">
            <a:extLst>
              <a:ext uri="{FF2B5EF4-FFF2-40B4-BE49-F238E27FC236}">
                <a16:creationId xmlns:a16="http://schemas.microsoft.com/office/drawing/2014/main" id="{487BFCC6-0748-41A2-8E36-E707E8500A71}"/>
              </a:ext>
            </a:extLst>
          </p:cNvPr>
          <p:cNvSpPr>
            <a:spLocks noGrp="1"/>
          </p:cNvSpPr>
          <p:nvPr/>
        </p:nvSpPr>
        <p:spPr>
          <a:xfrm>
            <a:off x="4476750" y="2562225"/>
            <a:ext cx="4000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缺少发送授权</a:t>
            </a:r>
          </a:p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平台条款未核对</a:t>
            </a:r>
          </a:p>
        </p:txBody>
      </p:sp>
      <p:sp>
        <p:nvSpPr>
          <p:cNvPr id="105" name="current-stop">
            <a:extLst>
              <a:ext uri="{FF2B5EF4-FFF2-40B4-BE49-F238E27FC236}">
                <a16:creationId xmlns:a16="http://schemas.microsoft.com/office/drawing/2014/main" id="{68E5FF5F-C9A5-4EA1-AA92-8FBE73A3AB23}"/>
              </a:ext>
            </a:extLst>
          </p:cNvPr>
          <p:cNvSpPr>
            <a:spLocks noGrp="1"/>
          </p:cNvSpPr>
          <p:nvPr/>
        </p:nvSpPr>
        <p:spPr>
          <a:xfrm>
            <a:off x="9201150" y="2638425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暂停外发</a:t>
            </a:r>
          </a:p>
        </p:txBody>
      </p:sp>
      <p:sp>
        <p:nvSpPr>
          <p:cNvPr id="106" name="continue-label">
            <a:extLst>
              <a:ext uri="{FF2B5EF4-FFF2-40B4-BE49-F238E27FC236}">
                <a16:creationId xmlns:a16="http://schemas.microsoft.com/office/drawing/2014/main" id="{459CF885-323A-4EF7-9DA8-EFFC61FA440E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可继续的路径</a:t>
            </a:r>
          </a:p>
        </p:txBody>
      </p:sp>
      <p:sp>
        <p:nvSpPr>
          <p:cNvPr id="107" name="continue-input">
            <a:extLst>
              <a:ext uri="{FF2B5EF4-FFF2-40B4-BE49-F238E27FC236}">
                <a16:creationId xmlns:a16="http://schemas.microsoft.com/office/drawing/2014/main" id="{E8502696-8FA2-4DD3-BC64-7FA29E25D70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33813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确认输入与环境</a:t>
            </a:r>
          </a:p>
        </p:txBody>
      </p:sp>
      <p:sp>
        <p:nvSpPr>
          <p:cNvPr id="108" name="continue-input-detail">
            <a:extLst>
              <a:ext uri="{FF2B5EF4-FFF2-40B4-BE49-F238E27FC236}">
                <a16:creationId xmlns:a16="http://schemas.microsoft.com/office/drawing/2014/main" id="{A3D3EA00-AA3E-42D1-94DC-A8393EA9D70C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3714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获准讨论的问题描述</a:t>
            </a:r>
          </a:p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符合要求的处理环境</a:t>
            </a:r>
          </a:p>
        </p:txBody>
      </p:sp>
      <p:sp>
        <p:nvSpPr>
          <p:cNvPr id="109" name="continue-ai">
            <a:extLst>
              <a:ext uri="{FF2B5EF4-FFF2-40B4-BE49-F238E27FC236}">
                <a16:creationId xmlns:a16="http://schemas.microsoft.com/office/drawing/2014/main" id="{6E73B688-ACDD-40F7-B248-F32AF52C09D1}"/>
              </a:ext>
            </a:extLst>
          </p:cNvPr>
          <p:cNvSpPr>
            <a:spLocks noGrp="1"/>
          </p:cNvSpPr>
          <p:nvPr/>
        </p:nvSpPr>
        <p:spPr>
          <a:xfrm>
            <a:off x="4857750" y="441960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辅助讨论</a:t>
            </a:r>
          </a:p>
        </p:txBody>
      </p:sp>
      <p:sp>
        <p:nvSpPr>
          <p:cNvPr id="110" name="continue-ai-detail">
            <a:extLst>
              <a:ext uri="{FF2B5EF4-FFF2-40B4-BE49-F238E27FC236}">
                <a16:creationId xmlns:a16="http://schemas.microsoft.com/office/drawing/2014/main" id="{ABBEAC3B-E057-4559-B4AE-77FA3CCAE2D3}"/>
              </a:ext>
            </a:extLst>
          </p:cNvPr>
          <p:cNvSpPr>
            <a:spLocks noGrp="1"/>
          </p:cNvSpPr>
          <p:nvPr/>
        </p:nvSpPr>
        <p:spPr>
          <a:xfrm>
            <a:off x="4857750" y="4962525"/>
            <a:ext cx="347662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研究问题与相关线索</a:t>
            </a:r>
          </a:p>
        </p:txBody>
      </p:sp>
      <p:sp>
        <p:nvSpPr>
          <p:cNvPr id="111" name="continue-review">
            <a:extLst>
              <a:ext uri="{FF2B5EF4-FFF2-40B4-BE49-F238E27FC236}">
                <a16:creationId xmlns:a16="http://schemas.microsoft.com/office/drawing/2014/main" id="{1A66E971-6D38-491F-852A-F983FE8879F1}"/>
              </a:ext>
            </a:extLst>
          </p:cNvPr>
          <p:cNvSpPr>
            <a:spLocks noGrp="1"/>
          </p:cNvSpPr>
          <p:nvPr/>
        </p:nvSpPr>
        <p:spPr>
          <a:xfrm>
            <a:off x="9001125" y="4419600"/>
            <a:ext cx="25812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研究者核验</a:t>
            </a:r>
          </a:p>
        </p:txBody>
      </p:sp>
      <p:sp>
        <p:nvSpPr>
          <p:cNvPr id="112" name="continue-review-detail">
            <a:extLst>
              <a:ext uri="{FF2B5EF4-FFF2-40B4-BE49-F238E27FC236}">
                <a16:creationId xmlns:a16="http://schemas.microsoft.com/office/drawing/2014/main" id="{1FF5613D-8CDB-4610-805B-A61B799A2B7C}"/>
              </a:ext>
            </a:extLst>
          </p:cNvPr>
          <p:cNvSpPr>
            <a:spLocks noGrp="1"/>
          </p:cNvSpPr>
          <p:nvPr/>
        </p:nvSpPr>
        <p:spPr>
          <a:xfrm>
            <a:off x="9001125" y="4962525"/>
            <a:ext cx="25812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检查依据</a:t>
            </a:r>
          </a:p>
          <a:p>
            <a:pPr>
              <a:def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记录取舍</a:t>
            </a:r>
          </a:p>
        </p:txBody>
      </p:sp>
      <p:sp>
        <p:nvSpPr>
          <p:cNvPr id="113" name="conditions-first">
            <a:extLst>
              <a:ext uri="{FF2B5EF4-FFF2-40B4-BE49-F238E27FC236}">
                <a16:creationId xmlns:a16="http://schemas.microsoft.com/office/drawing/2014/main" id="{D21C9C90-CEDE-4360-9323-8B5286028D48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001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先确认可讨论内容与处理环境，再决定是否发送。</a:t>
            </a:r>
          </a:p>
        </p:txBody>
      </p:sp>
      <p:cxnSp>
        <p:nvCxnSpPr>
          <p:cNvPr id="129" name="Straight Arrow Connector 128"/>
          <p:cNvCxnSpPr>
            <a:stCxn id="107" idx="3"/>
            <a:endCxn id="109" idx="1"/>
          </p:cNvCxnSpPr>
          <p:nvPr/>
        </p:nvCxnSpPr>
        <p:spPr>
          <a:xfrm>
            <a:off x="3990975" y="4657725"/>
            <a:ext cx="866775" cy="0"/>
          </a:xfrm>
          <a:prstGeom prst="straightConnector1">
            <a:avLst/>
          </a:prstGeom>
          <a:ln w="14288">
            <a:solidFill>
              <a:srgbClr val="1F4D78"/>
            </a:solidFill>
            <a:tailEnd type="arrow" w="med" len="med"/>
          </a:ln>
        </p:spPr>
      </p:cxnSp>
      <p:cxnSp>
        <p:nvCxnSpPr>
          <p:cNvPr id="130" name="Straight Arrow Connector 129"/>
          <p:cNvCxnSpPr>
            <a:stCxn id="109" idx="3"/>
            <a:endCxn id="111" idx="1"/>
          </p:cNvCxnSpPr>
          <p:nvPr/>
        </p:nvCxnSpPr>
        <p:spPr>
          <a:xfrm>
            <a:off x="8001000" y="4657725"/>
            <a:ext cx="1000125" cy="0"/>
          </a:xfrm>
          <a:prstGeom prst="straightConnector1">
            <a:avLst/>
          </a:prstGeom>
          <a:ln w="14288">
            <a:solidFill>
              <a:srgbClr val="1F4D78"/>
            </a:solidFill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7FA85-C45F-436C-9134-284BA1BD8F02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一张可检查的风险记录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25E95-7902-4DD0-8D4F-D39448879640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body-419">
            <a:extLst>
              <a:ext uri="{FF2B5EF4-FFF2-40B4-BE49-F238E27FC236}">
                <a16:creationId xmlns:a16="http://schemas.microsoft.com/office/drawing/2014/main" id="{E2299E33-2795-4A2F-9CFF-775B27B5FFC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课堂构造填写示例 · 未公开合作稿</a:t>
            </a:r>
          </a:p>
        </p:txBody>
      </p:sp>
      <p:graphicFrame>
        <p:nvGraphicFramePr>
          <p:cNvPr id="9" name="native-table-420"/>
          <p:cNvGraphicFramePr/>
          <p:nvPr/>
        </p:nvGraphicFramePr>
        <p:xfrm>
          <a:off x="609600" y="1695450"/>
          <a:ext cx="10972800" cy="4000500"/>
        </p:xfrm>
        <a:graphic>
          <a:graphicData uri="http://schemas.openxmlformats.org/drawingml/2006/table">
            <a:tbl>
              <a:tblPr/>
              <a:tblGrid>
                <a:gridCol w="264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具体内容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 Asset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未公开的共同作者工作稿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 Action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上传到个人账户下的外部模型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 Risk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合作内容暴露，保密与知识产权风险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 Control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暂停原稿外发，确认获准输入与处理环境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 Owner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共同作者决定材料授权，使用者核查执行边界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C0B1A-AC81-471C-B83C-230826E4EF4B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允许、有条件允许与禁止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D2315-4C89-4A5C-84F7-142BD02DA779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9" name="native-table-421"/>
          <p:cNvGraphicFramePr/>
          <p:nvPr/>
        </p:nvGraphicFramePr>
        <p:xfrm>
          <a:off x="609600" y="1676400"/>
          <a:ext cx="10972800" cy="3476625"/>
        </p:xfrm>
        <a:graphic>
          <a:graphicData uri="http://schemas.openxmlformats.org/drawingml/2006/table">
            <a:tbl>
              <a:tblPr/>
              <a:tblGrid>
                <a:gridCol w="239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处置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具体动作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决定性理由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用获准的问题描述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讨论研究问题与线索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输入与环境条件已确认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研究者核验与记录取舍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有条件允许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在本地只读分析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经授权的数据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先完成必要脱敏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限定目录，禁止外传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禁止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把模拟数据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写成真实实验观测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材料身份被冒充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结论失去事实依据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dy-422">
            <a:extLst>
              <a:ext uri="{FF2B5EF4-FFF2-40B4-BE49-F238E27FC236}">
                <a16:creationId xmlns:a16="http://schemas.microsoft.com/office/drawing/2014/main" id="{3223B22B-A94B-4DF2-AC47-CCA7127B46A3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同一项 AI 能力，处置取决于具体任务条件。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868C9-B81E-4684-9875-F177A81C8832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发送未公开材料前的五项检查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EE001-B98C-413D-A651-4FA0F7DFFF17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body-423">
            <a:extLst>
              <a:ext uri="{FF2B5EF4-FFF2-40B4-BE49-F238E27FC236}">
                <a16:creationId xmlns:a16="http://schemas.microsoft.com/office/drawing/2014/main" id="{B01C477A-7649-4694-A8EE-EB219E3C94F5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材料身份</a:t>
            </a:r>
          </a:p>
        </p:txBody>
      </p:sp>
      <p:sp>
        <p:nvSpPr>
          <p:cNvPr id="5" name="body-424">
            <a:extLst>
              <a:ext uri="{FF2B5EF4-FFF2-40B4-BE49-F238E27FC236}">
                <a16:creationId xmlns:a16="http://schemas.microsoft.com/office/drawing/2014/main" id="{5EC440FE-AF95-4D22-B9CA-21F97AD9B1BF}"/>
              </a:ext>
            </a:extLst>
          </p:cNvPr>
          <p:cNvSpPr>
            <a:spLocks noGrp="1"/>
          </p:cNvSpPr>
          <p:nvPr/>
        </p:nvSpPr>
        <p:spPr>
          <a:xfrm>
            <a:off x="3333750" y="1285875"/>
            <a:ext cx="82486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作者工作稿，还是负有保密义务的评审稿？</a:t>
            </a:r>
          </a:p>
        </p:txBody>
      </p:sp>
      <p:sp>
        <p:nvSpPr>
          <p:cNvPr id="6" name="rule-425">
            <a:extLst>
              <a:ext uri="{FF2B5EF4-FFF2-40B4-BE49-F238E27FC236}">
                <a16:creationId xmlns:a16="http://schemas.microsoft.com/office/drawing/2014/main" id="{D109AE1E-653D-4542-9B97-63284945A05E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7" name="body-426">
            <a:extLst>
              <a:ext uri="{FF2B5EF4-FFF2-40B4-BE49-F238E27FC236}">
                <a16:creationId xmlns:a16="http://schemas.microsoft.com/office/drawing/2014/main" id="{9763C10E-29F5-436A-A79B-87D3A9960677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权利与同意</a:t>
            </a:r>
          </a:p>
        </p:txBody>
      </p:sp>
      <p:sp>
        <p:nvSpPr>
          <p:cNvPr id="8" name="body-427">
            <a:extLst>
              <a:ext uri="{FF2B5EF4-FFF2-40B4-BE49-F238E27FC236}">
                <a16:creationId xmlns:a16="http://schemas.microsoft.com/office/drawing/2014/main" id="{9AA0219E-FF41-4F22-9189-9B65B652B0F5}"/>
              </a:ext>
            </a:extLst>
          </p:cNvPr>
          <p:cNvSpPr>
            <a:spLocks noGrp="1"/>
          </p:cNvSpPr>
          <p:nvPr/>
        </p:nvSpPr>
        <p:spPr>
          <a:xfrm>
            <a:off x="3333750" y="2124075"/>
            <a:ext cx="82486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共同作者、数据主体及权利方是否同意？</a:t>
            </a:r>
          </a:p>
        </p:txBody>
      </p:sp>
      <p:sp>
        <p:nvSpPr>
          <p:cNvPr id="9" name="rule-428">
            <a:extLst>
              <a:ext uri="{FF2B5EF4-FFF2-40B4-BE49-F238E27FC236}">
                <a16:creationId xmlns:a16="http://schemas.microsoft.com/office/drawing/2014/main" id="{08C23D69-0D28-48A0-B1C5-6A436E32BF57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0" name="body-429">
            <a:extLst>
              <a:ext uri="{FF2B5EF4-FFF2-40B4-BE49-F238E27FC236}">
                <a16:creationId xmlns:a16="http://schemas.microsoft.com/office/drawing/2014/main" id="{54F35675-F794-4150-9165-C609DC0FB96D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适用规则</a:t>
            </a:r>
          </a:p>
        </p:txBody>
      </p:sp>
      <p:sp>
        <p:nvSpPr>
          <p:cNvPr id="11" name="body-430">
            <a:extLst>
              <a:ext uri="{FF2B5EF4-FFF2-40B4-BE49-F238E27FC236}">
                <a16:creationId xmlns:a16="http://schemas.microsoft.com/office/drawing/2014/main" id="{DDB935F9-C1E2-49DF-B854-B76C7E8696AA}"/>
              </a:ext>
            </a:extLst>
          </p:cNvPr>
          <p:cNvSpPr>
            <a:spLocks noGrp="1"/>
          </p:cNvSpPr>
          <p:nvPr/>
        </p:nvSpPr>
        <p:spPr>
          <a:xfrm>
            <a:off x="3333750" y="2962275"/>
            <a:ext cx="82486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机构、项目、期刊是否提出更严格要求？</a:t>
            </a:r>
          </a:p>
        </p:txBody>
      </p:sp>
      <p:sp>
        <p:nvSpPr>
          <p:cNvPr id="12" name="rule-431">
            <a:extLst>
              <a:ext uri="{FF2B5EF4-FFF2-40B4-BE49-F238E27FC236}">
                <a16:creationId xmlns:a16="http://schemas.microsoft.com/office/drawing/2014/main" id="{D4982834-0DD0-45E2-8A60-BEAEABF5EBD4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3" name="body-432">
            <a:extLst>
              <a:ext uri="{FF2B5EF4-FFF2-40B4-BE49-F238E27FC236}">
                <a16:creationId xmlns:a16="http://schemas.microsoft.com/office/drawing/2014/main" id="{C14192EE-5C28-4001-941E-69D9B8266DD2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使用环境</a:t>
            </a:r>
          </a:p>
        </p:txBody>
      </p:sp>
      <p:sp>
        <p:nvSpPr>
          <p:cNvPr id="14" name="body-433">
            <a:extLst>
              <a:ext uri="{FF2B5EF4-FFF2-40B4-BE49-F238E27FC236}">
                <a16:creationId xmlns:a16="http://schemas.microsoft.com/office/drawing/2014/main" id="{E72C636A-E922-4C54-AF55-A309E49A2609}"/>
              </a:ext>
            </a:extLst>
          </p:cNvPr>
          <p:cNvSpPr>
            <a:spLocks noGrp="1"/>
          </p:cNvSpPr>
          <p:nvPr/>
        </p:nvSpPr>
        <p:spPr>
          <a:xfrm>
            <a:off x="3333750" y="3800475"/>
            <a:ext cx="82486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存储、训练使用与访问权限是否可接受？</a:t>
            </a:r>
          </a:p>
        </p:txBody>
      </p:sp>
      <p:sp>
        <p:nvSpPr>
          <p:cNvPr id="15" name="rule-434">
            <a:extLst>
              <a:ext uri="{FF2B5EF4-FFF2-40B4-BE49-F238E27FC236}">
                <a16:creationId xmlns:a16="http://schemas.microsoft.com/office/drawing/2014/main" id="{D46DCFB2-005A-478A-95D1-34265DD25A32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6" name="body-435">
            <a:extLst>
              <a:ext uri="{FF2B5EF4-FFF2-40B4-BE49-F238E27FC236}">
                <a16:creationId xmlns:a16="http://schemas.microsoft.com/office/drawing/2014/main" id="{83AE43DB-30C6-4BDA-9B6A-0A4B93AB7027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最小必要</a:t>
            </a:r>
          </a:p>
        </p:txBody>
      </p:sp>
      <p:sp>
        <p:nvSpPr>
          <p:cNvPr id="17" name="body-436">
            <a:extLst>
              <a:ext uri="{FF2B5EF4-FFF2-40B4-BE49-F238E27FC236}">
                <a16:creationId xmlns:a16="http://schemas.microsoft.com/office/drawing/2014/main" id="{6CFFEDF1-698E-47ED-842A-C895D703EFD9}"/>
              </a:ext>
            </a:extLst>
          </p:cNvPr>
          <p:cNvSpPr>
            <a:spLocks noGrp="1"/>
          </p:cNvSpPr>
          <p:nvPr/>
        </p:nvSpPr>
        <p:spPr>
          <a:xfrm>
            <a:off x="3333750" y="4638675"/>
            <a:ext cx="82486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能否改用抽象问题或更少的获准片段？</a:t>
            </a:r>
          </a:p>
        </p:txBody>
      </p:sp>
      <p:sp>
        <p:nvSpPr>
          <p:cNvPr id="18" name="body-437">
            <a:extLst>
              <a:ext uri="{FF2B5EF4-FFF2-40B4-BE49-F238E27FC236}">
                <a16:creationId xmlns:a16="http://schemas.microsoft.com/office/drawing/2014/main" id="{AA8395F6-4C00-4038-B2D6-9ED7954A085C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课内练习使用公开、课堂构造或已授权脱敏材料。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FE0967-C184-43B1-AAE1-8BBFBFB15A69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未获授权材料外发后的处理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A9D50-0223-498C-ADB1-8072D0B39F35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body-438">
            <a:extLst>
              <a:ext uri="{FF2B5EF4-FFF2-40B4-BE49-F238E27FC236}">
                <a16:creationId xmlns:a16="http://schemas.microsoft.com/office/drawing/2014/main" id="{186B6EBB-04F1-441C-8700-2E0F4F4C5958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先停止进一步发送，保留可核对的记录</a:t>
            </a:r>
          </a:p>
        </p:txBody>
      </p:sp>
      <p:sp>
        <p:nvSpPr>
          <p:cNvPr id="5" name="body-439">
            <a:extLst>
              <a:ext uri="{FF2B5EF4-FFF2-40B4-BE49-F238E27FC236}">
                <a16:creationId xmlns:a16="http://schemas.microsoft.com/office/drawing/2014/main" id="{6F3F0E30-7163-499A-B298-762E918EAD2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2400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停止扩散</a:t>
            </a:r>
          </a:p>
        </p:txBody>
      </p:sp>
      <p:sp>
        <p:nvSpPr>
          <p:cNvPr id="6" name="body-440">
            <a:extLst>
              <a:ext uri="{FF2B5EF4-FFF2-40B4-BE49-F238E27FC236}">
                <a16:creationId xmlns:a16="http://schemas.microsoft.com/office/drawing/2014/main" id="{56227CD3-0B93-4ACC-9EFD-14AB5E421311}"/>
              </a:ext>
            </a:extLst>
          </p:cNvPr>
          <p:cNvSpPr>
            <a:spLocks noGrp="1"/>
          </p:cNvSpPr>
          <p:nvPr/>
        </p:nvSpPr>
        <p:spPr>
          <a:xfrm>
            <a:off x="3200400" y="2209800"/>
            <a:ext cx="8382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暂停后续发送与共享</a:t>
            </a:r>
          </a:p>
        </p:txBody>
      </p:sp>
      <p:sp>
        <p:nvSpPr>
          <p:cNvPr id="7" name="rule-441">
            <a:extLst>
              <a:ext uri="{FF2B5EF4-FFF2-40B4-BE49-F238E27FC236}">
                <a16:creationId xmlns:a16="http://schemas.microsoft.com/office/drawing/2014/main" id="{0CF291BF-9FBA-443E-A21B-1BC62D9F7973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8" name="body-442">
            <a:extLst>
              <a:ext uri="{FF2B5EF4-FFF2-40B4-BE49-F238E27FC236}">
                <a16:creationId xmlns:a16="http://schemas.microsoft.com/office/drawing/2014/main" id="{72C3DE04-0E04-4C3C-920A-3D90BB839A1F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400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评估范围</a:t>
            </a:r>
          </a:p>
        </p:txBody>
      </p:sp>
      <p:sp>
        <p:nvSpPr>
          <p:cNvPr id="9" name="body-443">
            <a:extLst>
              <a:ext uri="{FF2B5EF4-FFF2-40B4-BE49-F238E27FC236}">
                <a16:creationId xmlns:a16="http://schemas.microsoft.com/office/drawing/2014/main" id="{0925B491-36CA-46CA-BB82-3B6FBD52C753}"/>
              </a:ext>
            </a:extLst>
          </p:cNvPr>
          <p:cNvSpPr>
            <a:spLocks noGrp="1"/>
          </p:cNvSpPr>
          <p:nvPr/>
        </p:nvSpPr>
        <p:spPr>
          <a:xfrm>
            <a:off x="3200400" y="3028950"/>
            <a:ext cx="8382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核对输入片段、敏感程度与接收环境</a:t>
            </a:r>
          </a:p>
        </p:txBody>
      </p:sp>
      <p:sp>
        <p:nvSpPr>
          <p:cNvPr id="10" name="rule-444">
            <a:extLst>
              <a:ext uri="{FF2B5EF4-FFF2-40B4-BE49-F238E27FC236}">
                <a16:creationId xmlns:a16="http://schemas.microsoft.com/office/drawing/2014/main" id="{16215E39-CAB6-4B1A-AA7F-3D68F69B589E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1" name="body-445">
            <a:extLst>
              <a:ext uri="{FF2B5EF4-FFF2-40B4-BE49-F238E27FC236}">
                <a16:creationId xmlns:a16="http://schemas.microsoft.com/office/drawing/2014/main" id="{C85B69C1-B6BD-4997-B68D-232541AD736C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2400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记录事实</a:t>
            </a:r>
          </a:p>
        </p:txBody>
      </p:sp>
      <p:sp>
        <p:nvSpPr>
          <p:cNvPr id="12" name="body-446">
            <a:extLst>
              <a:ext uri="{FF2B5EF4-FFF2-40B4-BE49-F238E27FC236}">
                <a16:creationId xmlns:a16="http://schemas.microsoft.com/office/drawing/2014/main" id="{386C648C-464F-4A5B-B35A-0CE80A9D3CC0}"/>
              </a:ext>
            </a:extLst>
          </p:cNvPr>
          <p:cNvSpPr>
            <a:spLocks noGrp="1"/>
          </p:cNvSpPr>
          <p:nvPr/>
        </p:nvSpPr>
        <p:spPr>
          <a:xfrm>
            <a:off x="3200400" y="3848100"/>
            <a:ext cx="8382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保存工具、时间、材料范围与实际动作</a:t>
            </a:r>
          </a:p>
        </p:txBody>
      </p:sp>
      <p:sp>
        <p:nvSpPr>
          <p:cNvPr id="13" name="rule-447">
            <a:extLst>
              <a:ext uri="{FF2B5EF4-FFF2-40B4-BE49-F238E27FC236}">
                <a16:creationId xmlns:a16="http://schemas.microsoft.com/office/drawing/2014/main" id="{6C67A26C-9EC5-4CAE-B8AD-BEEDF455EB89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4" name="body-448">
            <a:extLst>
              <a:ext uri="{FF2B5EF4-FFF2-40B4-BE49-F238E27FC236}">
                <a16:creationId xmlns:a16="http://schemas.microsoft.com/office/drawing/2014/main" id="{DD4DB29F-1D90-47AB-8F84-FC190B1419BB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2400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按要求沟通</a:t>
            </a:r>
          </a:p>
        </p:txBody>
      </p:sp>
      <p:sp>
        <p:nvSpPr>
          <p:cNvPr id="15" name="body-449">
            <a:extLst>
              <a:ext uri="{FF2B5EF4-FFF2-40B4-BE49-F238E27FC236}">
                <a16:creationId xmlns:a16="http://schemas.microsoft.com/office/drawing/2014/main" id="{D44ECE81-1779-4B7D-B064-A8F38DF7770C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8382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依机构或合作约定处理，并改用合规输入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636709-0CB7-459D-A4FA-990BE1A128E3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模拟数据与真实观测的结论边界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16AA1-7F74-45B7-BA08-37EDD356F309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native-table-450"/>
          <p:cNvGraphicFramePr/>
          <p:nvPr/>
        </p:nvGraphicFramePr>
        <p:xfrm>
          <a:off x="609600" y="1657350"/>
          <a:ext cx="10972800" cy="35147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材料身份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可用于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能够支持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不能据此声称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模拟数据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显式标注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检查代码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异常处理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统计流程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程序通过了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所设模拟条件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下的检查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真实人群有效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真实实验成立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真实实验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观测数据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按授权协议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整理和分析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实际结果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本样本、设计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与测量条件下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观察到的结果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所有场景通用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未经设计支持</a:t>
                      </a:r>
                    </a:p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的因果结论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body-451">
            <a:extLst>
              <a:ext uri="{FF2B5EF4-FFF2-40B4-BE49-F238E27FC236}">
                <a16:creationId xmlns:a16="http://schemas.microsoft.com/office/drawing/2014/main" id="{B9B17D8F-3F46-4D12-8EAB-C61543A7B288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检查一句结论：它是否超出了材料能够支持的范围？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AB2CB0-9EDB-42E9-935F-0E919060A8BD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批准必须落实为协议变更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38CF3-3FCA-4D9D-9900-8ED9B45011E2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body-452">
            <a:extLst>
              <a:ext uri="{FF2B5EF4-FFF2-40B4-BE49-F238E27FC236}">
                <a16:creationId xmlns:a16="http://schemas.microsoft.com/office/drawing/2014/main" id="{287FB236-10A8-4CE0-BC51-5210182F59B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课堂构造的失败情境：看到结果后更换主指标</a:t>
            </a:r>
          </a:p>
        </p:txBody>
      </p:sp>
      <p:sp>
        <p:nvSpPr>
          <p:cNvPr id="5" name="body-453">
            <a:extLst>
              <a:ext uri="{FF2B5EF4-FFF2-40B4-BE49-F238E27FC236}">
                <a16:creationId xmlns:a16="http://schemas.microsoft.com/office/drawing/2014/main" id="{9DE6DE15-66DE-4417-8D94-6EC22551016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0196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只有一句“同意修改”</a:t>
            </a:r>
          </a:p>
        </p:txBody>
      </p:sp>
      <p:sp>
        <p:nvSpPr>
          <p:cNvPr id="6" name="body-454">
            <a:extLst>
              <a:ext uri="{FF2B5EF4-FFF2-40B4-BE49-F238E27FC236}">
                <a16:creationId xmlns:a16="http://schemas.microsoft.com/office/drawing/2014/main" id="{5100528E-64CA-4979-AE60-41FFE7922106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019675" cy="1724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旧协议被覆盖</a:t>
            </a:r>
          </a:p>
          <a:p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更换理由没有留下</a:t>
            </a:r>
          </a:p>
          <a:p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只报告新指标的好结果</a:t>
            </a:r>
          </a:p>
        </p:txBody>
      </p:sp>
      <p:sp>
        <p:nvSpPr>
          <p:cNvPr id="7" name="body-455">
            <a:extLst>
              <a:ext uri="{FF2B5EF4-FFF2-40B4-BE49-F238E27FC236}">
                <a16:creationId xmlns:a16="http://schemas.microsoft.com/office/drawing/2014/main" id="{82587CE2-18ED-473A-ACE2-982643F270A2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9149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可核对的协议修订</a:t>
            </a:r>
          </a:p>
        </p:txBody>
      </p:sp>
      <p:sp>
        <p:nvSpPr>
          <p:cNvPr id="8" name="body-456">
            <a:extLst>
              <a:ext uri="{FF2B5EF4-FFF2-40B4-BE49-F238E27FC236}">
                <a16:creationId xmlns:a16="http://schemas.microsoft.com/office/drawing/2014/main" id="{C3CD6A7D-4024-4D4E-B536-49355F3F236D}"/>
              </a:ext>
            </a:extLst>
          </p:cNvPr>
          <p:cNvSpPr>
            <a:spLocks noGrp="1"/>
          </p:cNvSpPr>
          <p:nvPr/>
        </p:nvSpPr>
        <p:spPr>
          <a:xfrm>
            <a:off x="6667500" y="2667000"/>
            <a:ext cx="914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</a:t>
            </a:r>
          </a:p>
        </p:txBody>
      </p:sp>
      <p:sp>
        <p:nvSpPr>
          <p:cNvPr id="9" name="body-457">
            <a:extLst>
              <a:ext uri="{FF2B5EF4-FFF2-40B4-BE49-F238E27FC236}">
                <a16:creationId xmlns:a16="http://schemas.microsoft.com/office/drawing/2014/main" id="{5394DC42-7A14-4306-BEE4-280A4731DD91}"/>
              </a:ext>
            </a:extLst>
          </p:cNvPr>
          <p:cNvSpPr>
            <a:spLocks noGrp="1"/>
          </p:cNvSpPr>
          <p:nvPr/>
        </p:nvSpPr>
        <p:spPr>
          <a:xfrm>
            <a:off x="7772400" y="266700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原主指标与原结果</a:t>
            </a:r>
          </a:p>
        </p:txBody>
      </p:sp>
      <p:sp>
        <p:nvSpPr>
          <p:cNvPr id="10" name="rule-458">
            <a:extLst>
              <a:ext uri="{FF2B5EF4-FFF2-40B4-BE49-F238E27FC236}">
                <a16:creationId xmlns:a16="http://schemas.microsoft.com/office/drawing/2014/main" id="{1330E57C-FCA5-42C4-9D72-0389B9FBB03E}"/>
              </a:ext>
            </a:extLst>
          </p:cNvPr>
          <p:cNvSpPr>
            <a:spLocks noGrp="1"/>
          </p:cNvSpPr>
          <p:nvPr/>
        </p:nvSpPr>
        <p:spPr>
          <a:xfrm>
            <a:off x="6667500" y="3276600"/>
            <a:ext cx="49149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1" name="body-459">
            <a:extLst>
              <a:ext uri="{FF2B5EF4-FFF2-40B4-BE49-F238E27FC236}">
                <a16:creationId xmlns:a16="http://schemas.microsoft.com/office/drawing/2014/main" id="{86BF88CD-F52B-45D9-A122-213CFFD1A1F8}"/>
              </a:ext>
            </a:extLst>
          </p:cNvPr>
          <p:cNvSpPr>
            <a:spLocks noGrp="1"/>
          </p:cNvSpPr>
          <p:nvPr/>
        </p:nvSpPr>
        <p:spPr>
          <a:xfrm>
            <a:off x="6667500" y="3390900"/>
            <a:ext cx="914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2" name="body-460">
            <a:extLst>
              <a:ext uri="{FF2B5EF4-FFF2-40B4-BE49-F238E27FC236}">
                <a16:creationId xmlns:a16="http://schemas.microsoft.com/office/drawing/2014/main" id="{28E317ED-2E99-4B39-AFDB-AAD573324F0F}"/>
              </a:ext>
            </a:extLst>
          </p:cNvPr>
          <p:cNvSpPr>
            <a:spLocks noGrp="1"/>
          </p:cNvSpPr>
          <p:nvPr/>
        </p:nvSpPr>
        <p:spPr>
          <a:xfrm>
            <a:off x="7772400" y="339090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变更动机和适用范围</a:t>
            </a:r>
          </a:p>
        </p:txBody>
      </p:sp>
      <p:sp>
        <p:nvSpPr>
          <p:cNvPr id="13" name="rule-461">
            <a:extLst>
              <a:ext uri="{FF2B5EF4-FFF2-40B4-BE49-F238E27FC236}">
                <a16:creationId xmlns:a16="http://schemas.microsoft.com/office/drawing/2014/main" id="{FB5A6E7C-F6D7-4119-A3AC-B7F33190C566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49149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4" name="body-462">
            <a:extLst>
              <a:ext uri="{FF2B5EF4-FFF2-40B4-BE49-F238E27FC236}">
                <a16:creationId xmlns:a16="http://schemas.microsoft.com/office/drawing/2014/main" id="{1A50513B-3BA0-4A6C-94EA-E2B6B9AD8DF0}"/>
              </a:ext>
            </a:extLst>
          </p:cNvPr>
          <p:cNvSpPr>
            <a:spLocks noGrp="1"/>
          </p:cNvSpPr>
          <p:nvPr/>
        </p:nvSpPr>
        <p:spPr>
          <a:xfrm>
            <a:off x="6667500" y="4114800"/>
            <a:ext cx="914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写回</a:t>
            </a:r>
          </a:p>
        </p:txBody>
      </p:sp>
      <p:sp>
        <p:nvSpPr>
          <p:cNvPr id="15" name="body-463">
            <a:extLst>
              <a:ext uri="{FF2B5EF4-FFF2-40B4-BE49-F238E27FC236}">
                <a16:creationId xmlns:a16="http://schemas.microsoft.com/office/drawing/2014/main" id="{AD06B69F-CA1D-4E63-85C2-7AB2D8F0E642}"/>
              </a:ext>
            </a:extLst>
          </p:cNvPr>
          <p:cNvSpPr>
            <a:spLocks noGrp="1"/>
          </p:cNvSpPr>
          <p:nvPr/>
        </p:nvSpPr>
        <p:spPr>
          <a:xfrm>
            <a:off x="7772400" y="411480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新旧协议差异与批准记录</a:t>
            </a:r>
          </a:p>
        </p:txBody>
      </p:sp>
      <p:sp>
        <p:nvSpPr>
          <p:cNvPr id="16" name="rule-464">
            <a:extLst>
              <a:ext uri="{FF2B5EF4-FFF2-40B4-BE49-F238E27FC236}">
                <a16:creationId xmlns:a16="http://schemas.microsoft.com/office/drawing/2014/main" id="{76EF1A90-B5FC-499B-97E8-8F067FC4B52A}"/>
              </a:ext>
            </a:extLst>
          </p:cNvPr>
          <p:cNvSpPr>
            <a:spLocks noGrp="1"/>
          </p:cNvSpPr>
          <p:nvPr/>
        </p:nvSpPr>
        <p:spPr>
          <a:xfrm>
            <a:off x="6667500" y="4724400"/>
            <a:ext cx="49149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7" name="body-465">
            <a:extLst>
              <a:ext uri="{FF2B5EF4-FFF2-40B4-BE49-F238E27FC236}">
                <a16:creationId xmlns:a16="http://schemas.microsoft.com/office/drawing/2014/main" id="{65E9463A-6982-447C-BD68-0F95210C491C}"/>
              </a:ext>
            </a:extLst>
          </p:cNvPr>
          <p:cNvSpPr>
            <a:spLocks noGrp="1"/>
          </p:cNvSpPr>
          <p:nvPr/>
        </p:nvSpPr>
        <p:spPr>
          <a:xfrm>
            <a:off x="6667500" y="4838700"/>
            <a:ext cx="914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18" name="body-466">
            <a:extLst>
              <a:ext uri="{FF2B5EF4-FFF2-40B4-BE49-F238E27FC236}">
                <a16:creationId xmlns:a16="http://schemas.microsoft.com/office/drawing/2014/main" id="{D02DCED3-5056-409C-B545-17D343DE0333}"/>
              </a:ext>
            </a:extLst>
          </p:cNvPr>
          <p:cNvSpPr>
            <a:spLocks noGrp="1"/>
          </p:cNvSpPr>
          <p:nvPr/>
        </p:nvSpPr>
        <p:spPr>
          <a:xfrm>
            <a:off x="7772400" y="483870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区分原定分析与事后分析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445144-15CC-4B14-BAD1-0AB501ECCC03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 harness：把边界落实到每一步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32DBE-D070-4F2F-A832-6AE4BCBE2425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protocol-title">
            <a:extLst>
              <a:ext uri="{FF2B5EF4-FFF2-40B4-BE49-F238E27FC236}">
                <a16:creationId xmlns:a16="http://schemas.microsoft.com/office/drawing/2014/main" id="{1A4C85D0-B823-4DAD-801F-2A3DBC1DB2F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28575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研究协议</a:t>
            </a:r>
          </a:p>
        </p:txBody>
      </p:sp>
      <p:sp>
        <p:nvSpPr>
          <p:cNvPr id="5" name="protocol-text">
            <a:extLst>
              <a:ext uri="{FF2B5EF4-FFF2-40B4-BE49-F238E27FC236}">
                <a16:creationId xmlns:a16="http://schemas.microsoft.com/office/drawing/2014/main" id="{5B34BC7B-AFDF-4443-8A68-596D35EDC7FD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目标、指标、停止条件</a:t>
            </a:r>
          </a:p>
        </p:txBody>
      </p:sp>
      <p:sp>
        <p:nvSpPr>
          <p:cNvPr id="6" name="permission-title">
            <a:extLst>
              <a:ext uri="{FF2B5EF4-FFF2-40B4-BE49-F238E27FC236}">
                <a16:creationId xmlns:a16="http://schemas.microsoft.com/office/drawing/2014/main" id="{98F6343B-5051-48C9-A1A1-7666B9AEB5F9}"/>
              </a:ext>
            </a:extLst>
          </p:cNvPr>
          <p:cNvSpPr>
            <a:spLocks noGrp="1"/>
          </p:cNvSpPr>
          <p:nvPr/>
        </p:nvSpPr>
        <p:spPr>
          <a:xfrm>
            <a:off x="6981825" y="1028700"/>
            <a:ext cx="35242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任务权限</a:t>
            </a:r>
          </a:p>
        </p:txBody>
      </p:sp>
      <p:sp>
        <p:nvSpPr>
          <p:cNvPr id="7" name="permission-text">
            <a:extLst>
              <a:ext uri="{FF2B5EF4-FFF2-40B4-BE49-F238E27FC236}">
                <a16:creationId xmlns:a16="http://schemas.microsoft.com/office/drawing/2014/main" id="{96F50F2D-E7FA-4D18-A33C-527343EC5318}"/>
              </a:ext>
            </a:extLst>
          </p:cNvPr>
          <p:cNvSpPr>
            <a:spLocks noGrp="1"/>
          </p:cNvSpPr>
          <p:nvPr/>
        </p:nvSpPr>
        <p:spPr>
          <a:xfrm>
            <a:off x="6981825" y="1457325"/>
            <a:ext cx="4572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可读、可写、可执行</a:t>
            </a:r>
          </a:p>
        </p:txBody>
      </p:sp>
      <p:sp>
        <p:nvSpPr>
          <p:cNvPr id="8" name="declaration-rule">
            <a:extLst>
              <a:ext uri="{FF2B5EF4-FFF2-40B4-BE49-F238E27FC236}">
                <a16:creationId xmlns:a16="http://schemas.microsoft.com/office/drawing/2014/main" id="{621EDB95-C9DB-4439-A81D-A88D6E721B41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9728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9" name="declaration-role">
            <a:extLst>
              <a:ext uri="{FF2B5EF4-FFF2-40B4-BE49-F238E27FC236}">
                <a16:creationId xmlns:a16="http://schemas.microsoft.com/office/drawing/2014/main" id="{396CD67F-165F-40F5-8E0F-178CAA1DD36F}"/>
              </a:ext>
            </a:extLst>
          </p:cNvPr>
          <p:cNvSpPr>
            <a:spLocks noGrp="1"/>
          </p:cNvSpPr>
          <p:nvPr/>
        </p:nvSpPr>
        <p:spPr>
          <a:xfrm>
            <a:off x="4162425" y="2085975"/>
            <a:ext cx="38671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研究者声明边界</a:t>
            </a:r>
          </a:p>
        </p:txBody>
      </p:sp>
      <p:sp>
        <p:nvSpPr>
          <p:cNvPr id="10" name="proposed-action">
            <a:extLst>
              <a:ext uri="{FF2B5EF4-FFF2-40B4-BE49-F238E27FC236}">
                <a16:creationId xmlns:a16="http://schemas.microsoft.com/office/drawing/2014/main" id="{624D7C61-2010-4CED-8418-15144A3D91DE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847850" cy="781050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动作提议</a:t>
            </a:r>
          </a:p>
        </p:txBody>
      </p:sp>
      <p:sp>
        <p:nvSpPr>
          <p:cNvPr id="11" name="boundary-check">
            <a:extLst>
              <a:ext uri="{FF2B5EF4-FFF2-40B4-BE49-F238E27FC236}">
                <a16:creationId xmlns:a16="http://schemas.microsoft.com/office/drawing/2014/main" id="{58918FB3-74C6-49B5-87B9-C6A74464414F}"/>
              </a:ext>
            </a:extLst>
          </p:cNvPr>
          <p:cNvSpPr>
            <a:spLocks noGrp="1"/>
          </p:cNvSpPr>
          <p:nvPr/>
        </p:nvSpPr>
        <p:spPr>
          <a:xfrm>
            <a:off x="3924300" y="2914650"/>
            <a:ext cx="2019300" cy="97155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边界检查</a:t>
            </a:r>
          </a:p>
        </p:txBody>
      </p:sp>
      <p:sp>
        <p:nvSpPr>
          <p:cNvPr id="12" name="bounded-execution">
            <a:extLst>
              <a:ext uri="{FF2B5EF4-FFF2-40B4-BE49-F238E27FC236}">
                <a16:creationId xmlns:a16="http://schemas.microsoft.com/office/drawing/2014/main" id="{7A0E2DE4-0C15-4553-B20E-1E6F52C48D7B}"/>
              </a:ext>
            </a:extLst>
          </p:cNvPr>
          <p:cNvSpPr>
            <a:spLocks noGrp="1"/>
          </p:cNvSpPr>
          <p:nvPr/>
        </p:nvSpPr>
        <p:spPr>
          <a:xfrm>
            <a:off x="7296150" y="3009900"/>
            <a:ext cx="1847850" cy="781050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</p:txBody>
      </p:sp>
      <p:sp>
        <p:nvSpPr>
          <p:cNvPr id="13" name="actual-trace">
            <a:extLst>
              <a:ext uri="{FF2B5EF4-FFF2-40B4-BE49-F238E27FC236}">
                <a16:creationId xmlns:a16="http://schemas.microsoft.com/office/drawing/2014/main" id="{E7966B06-1A36-4140-881E-4E4BCD03B2B4}"/>
              </a:ext>
            </a:extLst>
          </p:cNvPr>
          <p:cNvSpPr>
            <a:spLocks noGrp="1"/>
          </p:cNvSpPr>
          <p:nvPr/>
        </p:nvSpPr>
        <p:spPr>
          <a:xfrm>
            <a:off x="9906000" y="3009900"/>
            <a:ext cx="1657350" cy="781050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实际 trace</a:t>
            </a:r>
          </a:p>
        </p:txBody>
      </p:sp>
      <p:cxnSp>
        <p:nvCxnSpPr>
          <p:cNvPr id="85" name="proposal-to-check"/>
          <p:cNvCxnSpPr>
            <a:stCxn id="10" idx="3"/>
            <a:endCxn id="11" idx="1"/>
          </p:cNvCxnSpPr>
          <p:nvPr/>
        </p:nvCxnSpPr>
        <p:spPr>
          <a:xfrm>
            <a:off x="2457450" y="3400425"/>
            <a:ext cx="14668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86" name="check-to-execution"/>
          <p:cNvCxnSpPr>
            <a:stCxn id="11" idx="3"/>
            <a:endCxn id="12" idx="1"/>
          </p:cNvCxnSpPr>
          <p:nvPr/>
        </p:nvCxnSpPr>
        <p:spPr>
          <a:xfrm>
            <a:off x="5943600" y="3400425"/>
            <a:ext cx="1352550" cy="0"/>
          </a:xfrm>
          <a:prstGeom prst="straightConnector1">
            <a:avLst/>
          </a:prstGeom>
          <a:ln w="19050">
            <a:solidFill>
              <a:srgbClr val="2E7D5B"/>
            </a:solidFill>
            <a:prstDash val="solid"/>
            <a:tailEnd type="triangle" w="sm" len="sm"/>
          </a:ln>
        </p:spPr>
      </p:cxnSp>
      <p:sp>
        <p:nvSpPr>
          <p:cNvPr id="16" name="passed">
            <a:extLst>
              <a:ext uri="{FF2B5EF4-FFF2-40B4-BE49-F238E27FC236}">
                <a16:creationId xmlns:a16="http://schemas.microsoft.com/office/drawing/2014/main" id="{CC6A753E-B3B1-4102-B27E-9AC9AAA48D59}"/>
              </a:ext>
            </a:extLst>
          </p:cNvPr>
          <p:cNvSpPr>
            <a:spLocks noGrp="1"/>
          </p:cNvSpPr>
          <p:nvPr/>
        </p:nvSpPr>
        <p:spPr>
          <a:xfrm>
            <a:off x="6048375" y="3028950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18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满足条件</a:t>
            </a:r>
          </a:p>
        </p:txBody>
      </p:sp>
      <p:cxnSp>
        <p:nvCxnSpPr>
          <p:cNvPr id="88" name="execution-to-trace"/>
          <p:cNvCxnSpPr>
            <a:stCxn id="12" idx="3"/>
            <a:endCxn id="13" idx="1"/>
          </p:cNvCxnSpPr>
          <p:nvPr/>
        </p:nvCxnSpPr>
        <p:spPr>
          <a:xfrm>
            <a:off x="9144000" y="3400425"/>
            <a:ext cx="76200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8" name="execute-detail">
            <a:extLst>
              <a:ext uri="{FF2B5EF4-FFF2-40B4-BE49-F238E27FC236}">
                <a16:creationId xmlns:a16="http://schemas.microsoft.com/office/drawing/2014/main" id="{FB2EDE40-31BA-4373-BBCE-D9881E51D3C7}"/>
              </a:ext>
            </a:extLst>
          </p:cNvPr>
          <p:cNvSpPr>
            <a:spLocks noGrp="1"/>
          </p:cNvSpPr>
          <p:nvPr/>
        </p:nvSpPr>
        <p:spPr>
          <a:xfrm>
            <a:off x="7038975" y="3943350"/>
            <a:ext cx="23622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按获批范围行动</a:t>
            </a:r>
          </a:p>
        </p:txBody>
      </p:sp>
      <p:sp>
        <p:nvSpPr>
          <p:cNvPr id="19" name="trace-detail">
            <a:extLst>
              <a:ext uri="{FF2B5EF4-FFF2-40B4-BE49-F238E27FC236}">
                <a16:creationId xmlns:a16="http://schemas.microsoft.com/office/drawing/2014/main" id="{56380A67-01F9-4FAB-A263-31AD8E3E394E}"/>
              </a:ext>
            </a:extLst>
          </p:cNvPr>
          <p:cNvSpPr>
            <a:spLocks noGrp="1"/>
          </p:cNvSpPr>
          <p:nvPr/>
        </p:nvSpPr>
        <p:spPr>
          <a:xfrm>
            <a:off x="9648825" y="3943350"/>
            <a:ext cx="21717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diff、日志</a:t>
            </a:r>
          </a:p>
          <a:p>
            <a:pPr algn="ctr">
              <a:lnSpc>
                <a:spcPct val="115000"/>
              </a:lnSpc>
              <a:buNone/>
              <a:def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与外部状态</a:t>
            </a:r>
          </a:p>
        </p:txBody>
      </p:sp>
      <p:sp>
        <p:nvSpPr>
          <p:cNvPr id="20" name="human-confirmation">
            <a:extLst>
              <a:ext uri="{FF2B5EF4-FFF2-40B4-BE49-F238E27FC236}">
                <a16:creationId xmlns:a16="http://schemas.microsoft.com/office/drawing/2014/main" id="{DD08FFB1-1172-415F-AB1F-6492B3D1C5CE}"/>
              </a:ext>
            </a:extLst>
          </p:cNvPr>
          <p:cNvSpPr>
            <a:spLocks noGrp="1"/>
          </p:cNvSpPr>
          <p:nvPr/>
        </p:nvSpPr>
        <p:spPr>
          <a:xfrm>
            <a:off x="3790950" y="4800600"/>
            <a:ext cx="2286000" cy="666750"/>
          </a:xfrm>
          <a:prstGeom prst="rect">
            <a:avLst/>
          </a:prstGeom>
          <a:solidFill>
            <a:srgbClr val="FFF5E6"/>
          </a:solidFill>
          <a:ln w="14288">
            <a:solidFill>
              <a:srgbClr val="A96510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人工确认例外</a:t>
            </a:r>
          </a:p>
        </p:txBody>
      </p:sp>
      <p:cxnSp>
        <p:nvCxnSpPr>
          <p:cNvPr id="92" name="exception-to-human"/>
          <p:cNvCxnSpPr>
            <a:stCxn id="11" idx="2"/>
            <a:endCxn id="20" idx="0"/>
          </p:cNvCxnSpPr>
          <p:nvPr/>
        </p:nvCxnSpPr>
        <p:spPr>
          <a:xfrm>
            <a:off x="4933950" y="3886200"/>
            <a:ext cx="0" cy="914400"/>
          </a:xfrm>
          <a:prstGeom prst="straightConnector1">
            <a:avLst/>
          </a:prstGeom>
          <a:ln w="19050">
            <a:solidFill>
              <a:srgbClr val="A96510"/>
            </a:solidFill>
            <a:prstDash val="solid"/>
            <a:tailEnd type="triangle" w="sm" len="sm"/>
          </a:ln>
        </p:spPr>
      </p:cxnSp>
      <p:sp>
        <p:nvSpPr>
          <p:cNvPr id="22" name="exception-label">
            <a:extLst>
              <a:ext uri="{FF2B5EF4-FFF2-40B4-BE49-F238E27FC236}">
                <a16:creationId xmlns:a16="http://schemas.microsoft.com/office/drawing/2014/main" id="{01289AFF-BADF-40FB-B5DD-41A2EBF924AB}"/>
              </a:ext>
            </a:extLst>
          </p:cNvPr>
          <p:cNvSpPr>
            <a:spLocks noGrp="1"/>
          </p:cNvSpPr>
          <p:nvPr/>
        </p:nvSpPr>
        <p:spPr>
          <a:xfrm>
            <a:off x="5095875" y="431482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超出当前边界</a:t>
            </a:r>
          </a:p>
        </p:txBody>
      </p:sp>
      <p:sp>
        <p:nvSpPr>
          <p:cNvPr id="23" name="approved-low-anchor">
            <a:extLst>
              <a:ext uri="{FF2B5EF4-FFF2-40B4-BE49-F238E27FC236}">
                <a16:creationId xmlns:a16="http://schemas.microsoft.com/office/drawing/2014/main" id="{5147E83D-3AB2-4CA9-9809-C734481E4499}"/>
              </a:ext>
            </a:extLst>
          </p:cNvPr>
          <p:cNvSpPr>
            <a:spLocks noGrp="1"/>
          </p:cNvSpPr>
          <p:nvPr/>
        </p:nvSpPr>
        <p:spPr>
          <a:xfrm>
            <a:off x="3048000" y="51339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" name="approved-high-anchor">
            <a:extLst>
              <a:ext uri="{FF2B5EF4-FFF2-40B4-BE49-F238E27FC236}">
                <a16:creationId xmlns:a16="http://schemas.microsoft.com/office/drawing/2014/main" id="{EAF5D6DA-4740-434C-A60B-F42717123242}"/>
              </a:ext>
            </a:extLst>
          </p:cNvPr>
          <p:cNvSpPr>
            <a:spLocks noGrp="1"/>
          </p:cNvSpPr>
          <p:nvPr/>
        </p:nvSpPr>
        <p:spPr>
          <a:xfrm>
            <a:off x="3048000" y="34004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6" name="human-to-update"/>
          <p:cNvCxnSpPr>
            <a:stCxn id="20" idx="1"/>
            <a:endCxn id="23" idx="3"/>
          </p:cNvCxnSpPr>
          <p:nvPr/>
        </p:nvCxnSpPr>
        <p:spPr>
          <a:xfrm flipH="1">
            <a:off x="3057525" y="5133975"/>
            <a:ext cx="733425" cy="4763"/>
          </a:xfrm>
          <a:prstGeom prst="straightConnector1">
            <a:avLst/>
          </a:prstGeom>
          <a:ln w="19050">
            <a:solidFill>
              <a:srgbClr val="A96510"/>
            </a:solidFill>
            <a:prstDash val="solid"/>
            <a:tailEnd type="none" w="sm" len="sm"/>
          </a:ln>
        </p:spPr>
      </p:cxnSp>
      <p:cxnSp>
        <p:nvCxnSpPr>
          <p:cNvPr id="97" name="updated-boundary-up"/>
          <p:cNvCxnSpPr>
            <a:stCxn id="23" idx="0"/>
            <a:endCxn id="24" idx="2"/>
          </p:cNvCxnSpPr>
          <p:nvPr/>
        </p:nvCxnSpPr>
        <p:spPr>
          <a:xfrm flipV="1">
            <a:off x="3052763" y="3409950"/>
            <a:ext cx="0" cy="1724025"/>
          </a:xfrm>
          <a:prstGeom prst="straightConnector1">
            <a:avLst/>
          </a:prstGeom>
          <a:ln w="19050">
            <a:solidFill>
              <a:srgbClr val="A96510"/>
            </a:solidFill>
            <a:prstDash val="solid"/>
            <a:tailEnd type="none" w="sm" len="sm"/>
          </a:ln>
        </p:spPr>
      </p:cxnSp>
      <p:cxnSp>
        <p:nvCxnSpPr>
          <p:cNvPr id="98" name="updated-boundary-to-check"/>
          <p:cNvCxnSpPr>
            <a:stCxn id="24" idx="3"/>
            <a:endCxn id="11" idx="1"/>
          </p:cNvCxnSpPr>
          <p:nvPr/>
        </p:nvCxnSpPr>
        <p:spPr>
          <a:xfrm flipV="1">
            <a:off x="3057525" y="3400425"/>
            <a:ext cx="866775" cy="4763"/>
          </a:xfrm>
          <a:prstGeom prst="straightConnector1">
            <a:avLst/>
          </a:prstGeom>
          <a:ln w="19050">
            <a:solidFill>
              <a:srgbClr val="A96510"/>
            </a:solidFill>
            <a:prstDash val="solid"/>
            <a:tailEnd type="triangle" w="sm" len="sm"/>
          </a:ln>
        </p:spPr>
      </p:cxnSp>
      <p:sp>
        <p:nvSpPr>
          <p:cNvPr id="28" name="updated-label">
            <a:extLst>
              <a:ext uri="{FF2B5EF4-FFF2-40B4-BE49-F238E27FC236}">
                <a16:creationId xmlns:a16="http://schemas.microsoft.com/office/drawing/2014/main" id="{D848702B-B407-46A2-8F86-6D88A7A991AF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219075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获批：更新边界</a:t>
            </a:r>
          </a:p>
          <a:p>
            <a:pPr algn="l">
              <a:lnSpc>
                <a:spcPct val="120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并重新检查</a:t>
            </a:r>
          </a:p>
        </p:txBody>
      </p:sp>
      <p:sp>
        <p:nvSpPr>
          <p:cNvPr id="29" name="not-approved-stop">
            <a:extLst>
              <a:ext uri="{FF2B5EF4-FFF2-40B4-BE49-F238E27FC236}">
                <a16:creationId xmlns:a16="http://schemas.microsoft.com/office/drawing/2014/main" id="{19BB6D87-A7B2-45C2-86F2-B1E8C99EE636}"/>
              </a:ext>
            </a:extLst>
          </p:cNvPr>
          <p:cNvSpPr>
            <a:spLocks noGrp="1"/>
          </p:cNvSpPr>
          <p:nvPr/>
        </p:nvSpPr>
        <p:spPr>
          <a:xfrm>
            <a:off x="7905750" y="4857750"/>
            <a:ext cx="1752600" cy="552450"/>
          </a:xfrm>
          <a:prstGeom prst="rect">
            <a:avLst/>
          </a:prstGeom>
          <a:noFill/>
          <a:ln w="14288">
            <a:solidFill>
              <a:srgbClr val="C8161E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cxnSp>
        <p:nvCxnSpPr>
          <p:cNvPr id="101" name="human-denied-to-stop"/>
          <p:cNvCxnSpPr>
            <a:stCxn id="20" idx="3"/>
            <a:endCxn id="29" idx="1"/>
          </p:cNvCxnSpPr>
          <p:nvPr/>
        </p:nvCxnSpPr>
        <p:spPr>
          <a:xfrm>
            <a:off x="6076950" y="5133975"/>
            <a:ext cx="1828800" cy="0"/>
          </a:xfrm>
          <a:prstGeom prst="straightConnector1">
            <a:avLst/>
          </a:prstGeom>
          <a:ln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31" name="not-approved">
            <a:extLst>
              <a:ext uri="{FF2B5EF4-FFF2-40B4-BE49-F238E27FC236}">
                <a16:creationId xmlns:a16="http://schemas.microsoft.com/office/drawing/2014/main" id="{7565C997-559E-4768-BBFD-B4D58181B3BB}"/>
              </a:ext>
            </a:extLst>
          </p:cNvPr>
          <p:cNvSpPr>
            <a:spLocks noGrp="1"/>
          </p:cNvSpPr>
          <p:nvPr/>
        </p:nvSpPr>
        <p:spPr>
          <a:xfrm>
            <a:off x="6324600" y="4733925"/>
            <a:ext cx="14859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18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未获批准</a:t>
            </a:r>
          </a:p>
        </p:txBody>
      </p:sp>
      <p:sp>
        <p:nvSpPr>
          <p:cNvPr id="32" name="next-state-anchor">
            <a:extLst>
              <a:ext uri="{FF2B5EF4-FFF2-40B4-BE49-F238E27FC236}">
                <a16:creationId xmlns:a16="http://schemas.microsoft.com/office/drawing/2014/main" id="{82AFC9D8-D310-4935-899B-1B01ABA4572D}"/>
              </a:ext>
            </a:extLst>
          </p:cNvPr>
          <p:cNvSpPr>
            <a:spLocks noGrp="1"/>
          </p:cNvSpPr>
          <p:nvPr/>
        </p:nvSpPr>
        <p:spPr>
          <a:xfrm>
            <a:off x="10734675" y="26479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next-proposal-anchor">
            <a:extLst>
              <a:ext uri="{FF2B5EF4-FFF2-40B4-BE49-F238E27FC236}">
                <a16:creationId xmlns:a16="http://schemas.microsoft.com/office/drawing/2014/main" id="{E7D51D7D-7C0D-4EDE-97D5-A31D2681F4C3}"/>
              </a:ext>
            </a:extLst>
          </p:cNvPr>
          <p:cNvSpPr>
            <a:spLocks noGrp="1"/>
          </p:cNvSpPr>
          <p:nvPr/>
        </p:nvSpPr>
        <p:spPr>
          <a:xfrm>
            <a:off x="1533525" y="26479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5" name="trace-to-next-state"/>
          <p:cNvCxnSpPr>
            <a:stCxn id="13" idx="0"/>
            <a:endCxn id="32" idx="2"/>
          </p:cNvCxnSpPr>
          <p:nvPr/>
        </p:nvCxnSpPr>
        <p:spPr>
          <a:xfrm flipV="1">
            <a:off x="10734675" y="2657475"/>
            <a:ext cx="4763" cy="352425"/>
          </a:xfrm>
          <a:prstGeom prst="straightConnector1">
            <a:avLst/>
          </a:prstGeom>
          <a:ln w="19050">
            <a:solidFill>
              <a:srgbClr val="667580"/>
            </a:solidFill>
            <a:prstDash val="dash"/>
            <a:tailEnd type="none" w="sm" len="sm"/>
          </a:ln>
        </p:spPr>
      </p:cxnSp>
      <p:cxnSp>
        <p:nvCxnSpPr>
          <p:cNvPr id="106" name="next-state-to-new-action"/>
          <p:cNvCxnSpPr>
            <a:stCxn id="32" idx="1"/>
            <a:endCxn id="33" idx="3"/>
          </p:cNvCxnSpPr>
          <p:nvPr/>
        </p:nvCxnSpPr>
        <p:spPr>
          <a:xfrm flipH="1">
            <a:off x="1543050" y="2652713"/>
            <a:ext cx="9191625" cy="0"/>
          </a:xfrm>
          <a:prstGeom prst="straightConnector1">
            <a:avLst/>
          </a:prstGeom>
          <a:ln w="19050">
            <a:solidFill>
              <a:srgbClr val="667580"/>
            </a:solidFill>
            <a:prstDash val="dash"/>
            <a:tailEnd type="none" w="sm" len="sm"/>
          </a:ln>
        </p:spPr>
      </p:cxnSp>
      <p:cxnSp>
        <p:nvCxnSpPr>
          <p:cNvPr id="107" name="new-action-to-proposal"/>
          <p:cNvCxnSpPr>
            <a:stCxn id="33" idx="2"/>
            <a:endCxn id="10" idx="0"/>
          </p:cNvCxnSpPr>
          <p:nvPr/>
        </p:nvCxnSpPr>
        <p:spPr>
          <a:xfrm flipH="1">
            <a:off x="1533525" y="2657475"/>
            <a:ext cx="4763" cy="352425"/>
          </a:xfrm>
          <a:prstGeom prst="straightConnector1">
            <a:avLst/>
          </a:prstGeom>
          <a:ln w="19050">
            <a:solidFill>
              <a:srgbClr val="667580"/>
            </a:solidFill>
            <a:prstDash val="dash"/>
            <a:tailEnd type="triangle" w="sm" len="sm"/>
          </a:ln>
        </p:spPr>
      </p:cxnSp>
      <p:sp>
        <p:nvSpPr>
          <p:cNvPr id="37" name="cycle-label">
            <a:extLst>
              <a:ext uri="{FF2B5EF4-FFF2-40B4-BE49-F238E27FC236}">
                <a16:creationId xmlns:a16="http://schemas.microsoft.com/office/drawing/2014/main" id="{2F1EF82B-BBB5-4455-884C-E93DAC7CC133}"/>
              </a:ext>
            </a:extLst>
          </p:cNvPr>
          <p:cNvSpPr>
            <a:spLocks noGrp="1"/>
          </p:cNvSpPr>
          <p:nvPr/>
        </p:nvSpPr>
        <p:spPr>
          <a:xfrm>
            <a:off x="7839075" y="2238375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下一动作仍经检查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5E8BA-9BBC-4093-801F-195EEC388CF5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默认拒绝与最小权限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5E708-C2F9-46FD-B472-B28C0EFC0B8E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body-467">
            <a:extLst>
              <a:ext uri="{FF2B5EF4-FFF2-40B4-BE49-F238E27FC236}">
                <a16:creationId xmlns:a16="http://schemas.microsoft.com/office/drawing/2014/main" id="{194468C2-03E8-44FD-9AEE-A26F7BF56C59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默认拒绝</a:t>
            </a:r>
          </a:p>
        </p:txBody>
      </p:sp>
      <p:sp>
        <p:nvSpPr>
          <p:cNvPr id="5" name="body-468">
            <a:extLst>
              <a:ext uri="{FF2B5EF4-FFF2-40B4-BE49-F238E27FC236}">
                <a16:creationId xmlns:a16="http://schemas.microsoft.com/office/drawing/2014/main" id="{4948DAEC-DA4B-4E0D-81E7-1A2E6EE33AF9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482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没有明确授权的动作</a:t>
            </a:r>
          </a:p>
          <a:p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先停在检查点。</a:t>
            </a:r>
          </a:p>
        </p:txBody>
      </p:sp>
      <p:sp>
        <p:nvSpPr>
          <p:cNvPr id="6" name="body-469">
            <a:extLst>
              <a:ext uri="{FF2B5EF4-FFF2-40B4-BE49-F238E27FC236}">
                <a16:creationId xmlns:a16="http://schemas.microsoft.com/office/drawing/2014/main" id="{B9F10814-EC81-43D4-BFF1-41A5377843FF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504825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例如：联网、外发、额外写入</a:t>
            </a:r>
          </a:p>
        </p:txBody>
      </p:sp>
      <p:sp>
        <p:nvSpPr>
          <p:cNvPr id="7" name="body-470">
            <a:extLst>
              <a:ext uri="{FF2B5EF4-FFF2-40B4-BE49-F238E27FC236}">
                <a16:creationId xmlns:a16="http://schemas.microsoft.com/office/drawing/2014/main" id="{1600F944-A329-42D8-8D0A-D2F77DB6B2B8}"/>
              </a:ext>
            </a:extLst>
          </p:cNvPr>
          <p:cNvSpPr>
            <a:spLocks noGrp="1"/>
          </p:cNvSpPr>
          <p:nvPr/>
        </p:nvSpPr>
        <p:spPr>
          <a:xfrm>
            <a:off x="6705600" y="1457325"/>
            <a:ext cx="48768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最小权限</a:t>
            </a:r>
          </a:p>
        </p:txBody>
      </p:sp>
      <p:sp>
        <p:nvSpPr>
          <p:cNvPr id="8" name="body-471">
            <a:extLst>
              <a:ext uri="{FF2B5EF4-FFF2-40B4-BE49-F238E27FC236}">
                <a16:creationId xmlns:a16="http://schemas.microsoft.com/office/drawing/2014/main" id="{43910850-99E9-4241-8B40-8ABF13BAD7EF}"/>
              </a:ext>
            </a:extLst>
          </p:cNvPr>
          <p:cNvSpPr>
            <a:spLocks noGrp="1"/>
          </p:cNvSpPr>
          <p:nvPr/>
        </p:nvSpPr>
        <p:spPr>
          <a:xfrm>
            <a:off x="6705600" y="2495550"/>
            <a:ext cx="487680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为当前任务开放</a:t>
            </a:r>
          </a:p>
          <a:p>
            <a:pPr algn="l">
              <a:lnSpc>
                <a:spcPct val="130000"/>
              </a:lnSpc>
              <a:buNone/>
              <a:def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刚好足够的范围。</a:t>
            </a:r>
          </a:p>
        </p:txBody>
      </p:sp>
      <p:sp>
        <p:nvSpPr>
          <p:cNvPr id="9" name="body-472">
            <a:extLst>
              <a:ext uri="{FF2B5EF4-FFF2-40B4-BE49-F238E27FC236}">
                <a16:creationId xmlns:a16="http://schemas.microsoft.com/office/drawing/2014/main" id="{E9C10D5C-B6FB-4A31-9F42-CC4EE4DFF3D5}"/>
              </a:ext>
            </a:extLst>
          </p:cNvPr>
          <p:cNvSpPr>
            <a:spLocks noGrp="1"/>
          </p:cNvSpPr>
          <p:nvPr/>
        </p:nvSpPr>
        <p:spPr>
          <a:xfrm>
            <a:off x="6705600" y="4381500"/>
            <a:ext cx="48768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具体到文件、段落与动作</a:t>
            </a:r>
          </a:p>
        </p:txBody>
      </p:sp>
      <p:sp>
        <p:nvSpPr>
          <p:cNvPr id="10" name="body-473">
            <a:extLst>
              <a:ext uri="{FF2B5EF4-FFF2-40B4-BE49-F238E27FC236}">
                <a16:creationId xmlns:a16="http://schemas.microsoft.com/office/drawing/2014/main" id="{F00D325B-4A44-4632-A513-007B11CABFC4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任务或动作变化后，重新检查授权。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FAE87-147C-473C-AB94-97E6FA371696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权限矩阵：先写清一次任务授权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3A583-A64D-49D7-B214-D7BE5D27D84E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fiction-mark">
            <a:extLst>
              <a:ext uri="{FF2B5EF4-FFF2-40B4-BE49-F238E27FC236}">
                <a16:creationId xmlns:a16="http://schemas.microsoft.com/office/drawing/2014/main" id="{06E853A7-8299-40C9-9472-6F18257E2C7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课堂构造案例</a:t>
            </a:r>
          </a:p>
        </p:txBody>
      </p:sp>
      <p:sp>
        <p:nvSpPr>
          <p:cNvPr id="5" name="case-action">
            <a:extLst>
              <a:ext uri="{FF2B5EF4-FFF2-40B4-BE49-F238E27FC236}">
                <a16:creationId xmlns:a16="http://schemas.microsoft.com/office/drawing/2014/main" id="{1A50C95C-19C8-4B2A-8E74-4BFFC9DB94E8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9823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输入获准，处理环境条件已确认</a:t>
            </a:r>
          </a:p>
        </p:txBody>
      </p:sp>
      <p:graphicFrame>
        <p:nvGraphicFramePr>
          <p:cNvPr id="14" name="one-task-six-field-permission"/>
          <p:cNvGraphicFramePr/>
          <p:nvPr/>
        </p:nvGraphicFramePr>
        <p:xfrm>
          <a:off x="609600" y="2390775"/>
          <a:ext cx="10972800" cy="203835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对象或能力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只读范围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可写范围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是否允许执行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人工确认点</a:t>
                      </a:r>
                    </a:p>
                  </a:txBody>
                  <a:tcPr marL="114300" marR="76200" marT="114300" marB="95250"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禁止事项</a:t>
                      </a:r>
                    </a:p>
                  </a:txBody>
                  <a:tcPr marL="114300" marR="76200" marT="114300" marB="9525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73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合作稿的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替代输入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获准讨论的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问题描述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权限一行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风险卡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使用记录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本次不运行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命令、不联网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写回前确认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文件、段落</a:t>
                      </a:r>
                    </a:p>
                    <a:p>
                      <a:r>
                        <a:rPr sz="20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与修改范围</a:t>
                      </a:r>
                    </a:p>
                  </a:txBody>
                  <a:tcPr marL="114300" marR="95250" marT="123825" marB="95250"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C8161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读取或外发</a:t>
                      </a:r>
                    </a:p>
                    <a:p>
                      <a:r>
                        <a:rPr sz="2000">
                          <a:solidFill>
                            <a:srgbClr val="C8161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未公开原稿；</a:t>
                      </a:r>
                    </a:p>
                    <a:p>
                      <a:r>
                        <a:rPr sz="2000">
                          <a:solidFill>
                            <a:srgbClr val="C8161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改问题或指标</a:t>
                      </a:r>
                    </a:p>
                  </a:txBody>
                  <a:tcPr marL="114300" marR="95250" marT="123825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permission-question">
            <a:extLst>
              <a:ext uri="{FF2B5EF4-FFF2-40B4-BE49-F238E27FC236}">
                <a16:creationId xmlns:a16="http://schemas.microsoft.com/office/drawing/2014/main" id="{97F6DCDD-98E3-4FE0-90C4-3DE8F930CB65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写回前，具体要确认什么？</a:t>
            </a:r>
          </a:p>
        </p:txBody>
      </p:sp>
      <p:sp>
        <p:nvSpPr>
          <p:cNvPr id="8" name="permission-answer">
            <a:extLst>
              <a:ext uri="{FF2B5EF4-FFF2-40B4-BE49-F238E27FC236}">
                <a16:creationId xmlns:a16="http://schemas.microsoft.com/office/drawing/2014/main" id="{EF50FB1F-D3AE-4BE8-8474-B6771C624A17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目标文件、目标段落与修改范围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135AE2-132D-42B4-B687-32943678BB4D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过宽授权与任务授权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EFFE3-4529-4558-83C9-C656A4462F43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body-474">
            <a:extLst>
              <a:ext uri="{FF2B5EF4-FFF2-40B4-BE49-F238E27FC236}">
                <a16:creationId xmlns:a16="http://schemas.microsoft.com/office/drawing/2014/main" id="{2F80A634-D145-4988-9351-60274DB2B0F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课堂构造配置</a:t>
            </a:r>
          </a:p>
        </p:txBody>
      </p:sp>
      <p:sp>
        <p:nvSpPr>
          <p:cNvPr id="5" name="body-475">
            <a:extLst>
              <a:ext uri="{FF2B5EF4-FFF2-40B4-BE49-F238E27FC236}">
                <a16:creationId xmlns:a16="http://schemas.microsoft.com/office/drawing/2014/main" id="{7476FB7D-EE8C-4087-B5E0-F0948369A458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过宽授权</a:t>
            </a:r>
          </a:p>
        </p:txBody>
      </p:sp>
      <p:sp>
        <p:nvSpPr>
          <p:cNvPr id="6" name="rule-476">
            <a:extLst>
              <a:ext uri="{FF2B5EF4-FFF2-40B4-BE49-F238E27FC236}">
                <a16:creationId xmlns:a16="http://schemas.microsoft.com/office/drawing/2014/main" id="{A46931DC-45B1-4716-8F75-9955E1CE4D37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08635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7" name="body-477">
            <a:extLst>
              <a:ext uri="{FF2B5EF4-FFF2-40B4-BE49-F238E27FC236}">
                <a16:creationId xmlns:a16="http://schemas.microsoft.com/office/drawing/2014/main" id="{5803941E-2957-4359-A643-2C0ACC402DEF}"/>
              </a:ext>
            </a:extLst>
          </p:cNvPr>
          <p:cNvSpPr>
            <a:spLocks noGrp="1"/>
          </p:cNvSpPr>
          <p:nvPr/>
        </p:nvSpPr>
        <p:spPr>
          <a:xfrm>
            <a:off x="742950" y="2314575"/>
            <a:ext cx="48196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READ    整个用户目录</a:t>
            </a:r>
          </a:p>
        </p:txBody>
      </p:sp>
      <p:sp>
        <p:nvSpPr>
          <p:cNvPr id="8" name="body-478">
            <a:extLst>
              <a:ext uri="{FF2B5EF4-FFF2-40B4-BE49-F238E27FC236}">
                <a16:creationId xmlns:a16="http://schemas.microsoft.com/office/drawing/2014/main" id="{201385B2-79CD-4753-B8C4-B2808E8E684C}"/>
              </a:ext>
            </a:extLst>
          </p:cNvPr>
          <p:cNvSpPr>
            <a:spLocks noGrp="1"/>
          </p:cNvSpPr>
          <p:nvPr/>
        </p:nvSpPr>
        <p:spPr>
          <a:xfrm>
            <a:off x="742950" y="2771775"/>
            <a:ext cx="48196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WRITE   任意文件</a:t>
            </a:r>
          </a:p>
        </p:txBody>
      </p:sp>
      <p:sp>
        <p:nvSpPr>
          <p:cNvPr id="9" name="body-479">
            <a:extLst>
              <a:ext uri="{FF2B5EF4-FFF2-40B4-BE49-F238E27FC236}">
                <a16:creationId xmlns:a16="http://schemas.microsoft.com/office/drawing/2014/main" id="{AB5BEC99-5BAF-4A0F-AE0C-98DBA3CABCBA}"/>
              </a:ext>
            </a:extLst>
          </p:cNvPr>
          <p:cNvSpPr>
            <a:spLocks noGrp="1"/>
          </p:cNvSpPr>
          <p:nvPr/>
        </p:nvSpPr>
        <p:spPr>
          <a:xfrm>
            <a:off x="742950" y="3228975"/>
            <a:ext cx="48196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RUN     任意命令</a:t>
            </a:r>
          </a:p>
        </p:txBody>
      </p:sp>
      <p:sp>
        <p:nvSpPr>
          <p:cNvPr id="10" name="body-480">
            <a:extLst>
              <a:ext uri="{FF2B5EF4-FFF2-40B4-BE49-F238E27FC236}">
                <a16:creationId xmlns:a16="http://schemas.microsoft.com/office/drawing/2014/main" id="{3252044B-8447-430F-B1F8-C23882266046}"/>
              </a:ext>
            </a:extLst>
          </p:cNvPr>
          <p:cNvSpPr>
            <a:spLocks noGrp="1"/>
          </p:cNvSpPr>
          <p:nvPr/>
        </p:nvSpPr>
        <p:spPr>
          <a:xfrm>
            <a:off x="742950" y="3686175"/>
            <a:ext cx="48196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NETWORK on</a:t>
            </a:r>
          </a:p>
        </p:txBody>
      </p:sp>
      <p:sp>
        <p:nvSpPr>
          <p:cNvPr id="11" name="body-481">
            <a:extLst>
              <a:ext uri="{FF2B5EF4-FFF2-40B4-BE49-F238E27FC236}">
                <a16:creationId xmlns:a16="http://schemas.microsoft.com/office/drawing/2014/main" id="{2B32B0AA-B9AB-4BFA-8DDA-83CB4FD0CBF5}"/>
              </a:ext>
            </a:extLst>
          </p:cNvPr>
          <p:cNvSpPr>
            <a:spLocks noGrp="1"/>
          </p:cNvSpPr>
          <p:nvPr/>
        </p:nvSpPr>
        <p:spPr>
          <a:xfrm>
            <a:off x="742950" y="4143375"/>
            <a:ext cx="48196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CONFIRM 完成后告知</a:t>
            </a:r>
          </a:p>
        </p:txBody>
      </p:sp>
      <p:sp>
        <p:nvSpPr>
          <p:cNvPr id="12" name="body-482">
            <a:extLst>
              <a:ext uri="{FF2B5EF4-FFF2-40B4-BE49-F238E27FC236}">
                <a16:creationId xmlns:a16="http://schemas.microsoft.com/office/drawing/2014/main" id="{2B070B8E-324F-4FBD-8E24-D7FED082A90F}"/>
              </a:ext>
            </a:extLst>
          </p:cNvPr>
          <p:cNvSpPr>
            <a:spLocks noGrp="1"/>
          </p:cNvSpPr>
          <p:nvPr/>
        </p:nvSpPr>
        <p:spPr>
          <a:xfrm>
            <a:off x="6629400" y="16764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任务授权</a:t>
            </a:r>
          </a:p>
        </p:txBody>
      </p:sp>
      <p:sp>
        <p:nvSpPr>
          <p:cNvPr id="13" name="rule-483">
            <a:extLst>
              <a:ext uri="{FF2B5EF4-FFF2-40B4-BE49-F238E27FC236}">
                <a16:creationId xmlns:a16="http://schemas.microsoft.com/office/drawing/2014/main" id="{828A09F7-61DD-4386-AE7B-E1B8828059AD}"/>
              </a:ext>
            </a:extLst>
          </p:cNvPr>
          <p:cNvSpPr>
            <a:spLocks noGrp="1"/>
          </p:cNvSpPr>
          <p:nvPr/>
        </p:nvSpPr>
        <p:spPr>
          <a:xfrm>
            <a:off x="6629400" y="2133600"/>
            <a:ext cx="49530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14" name="body-484">
            <a:extLst>
              <a:ext uri="{FF2B5EF4-FFF2-40B4-BE49-F238E27FC236}">
                <a16:creationId xmlns:a16="http://schemas.microsoft.com/office/drawing/2014/main" id="{F0A71E25-2C87-42A5-AB0F-3EC50D779B11}"/>
              </a:ext>
            </a:extLst>
          </p:cNvPr>
          <p:cNvSpPr>
            <a:spLocks noGrp="1"/>
          </p:cNvSpPr>
          <p:nvPr/>
        </p:nvSpPr>
        <p:spPr>
          <a:xfrm>
            <a:off x="6762750" y="2314575"/>
            <a:ext cx="4686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READ    指定的公开材料</a:t>
            </a:r>
          </a:p>
        </p:txBody>
      </p:sp>
      <p:sp>
        <p:nvSpPr>
          <p:cNvPr id="15" name="body-485">
            <a:extLst>
              <a:ext uri="{FF2B5EF4-FFF2-40B4-BE49-F238E27FC236}">
                <a16:creationId xmlns:a16="http://schemas.microsoft.com/office/drawing/2014/main" id="{59760137-1E3F-4EB4-A9BF-87A0E07A7B44}"/>
              </a:ext>
            </a:extLst>
          </p:cNvPr>
          <p:cNvSpPr>
            <a:spLocks noGrp="1"/>
          </p:cNvSpPr>
          <p:nvPr/>
        </p:nvSpPr>
        <p:spPr>
          <a:xfrm>
            <a:off x="6762750" y="2771775"/>
            <a:ext cx="4686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WRITE   获批文件与段落</a:t>
            </a:r>
          </a:p>
        </p:txBody>
      </p:sp>
      <p:sp>
        <p:nvSpPr>
          <p:cNvPr id="16" name="body-486">
            <a:extLst>
              <a:ext uri="{FF2B5EF4-FFF2-40B4-BE49-F238E27FC236}">
                <a16:creationId xmlns:a16="http://schemas.microsoft.com/office/drawing/2014/main" id="{8058744C-2B3E-411D-A6B9-105DE4ADF76A}"/>
              </a:ext>
            </a:extLst>
          </p:cNvPr>
          <p:cNvSpPr>
            <a:spLocks noGrp="1"/>
          </p:cNvSpPr>
          <p:nvPr/>
        </p:nvSpPr>
        <p:spPr>
          <a:xfrm>
            <a:off x="6762750" y="3228975"/>
            <a:ext cx="4686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RUN     本次不执行命令</a:t>
            </a:r>
          </a:p>
        </p:txBody>
      </p:sp>
      <p:sp>
        <p:nvSpPr>
          <p:cNvPr id="17" name="body-487">
            <a:extLst>
              <a:ext uri="{FF2B5EF4-FFF2-40B4-BE49-F238E27FC236}">
                <a16:creationId xmlns:a16="http://schemas.microsoft.com/office/drawing/2014/main" id="{84F10FA0-AEB7-4AC4-86DB-5EA91DB6FAC9}"/>
              </a:ext>
            </a:extLst>
          </p:cNvPr>
          <p:cNvSpPr>
            <a:spLocks noGrp="1"/>
          </p:cNvSpPr>
          <p:nvPr/>
        </p:nvSpPr>
        <p:spPr>
          <a:xfrm>
            <a:off x="6762750" y="3686175"/>
            <a:ext cx="4686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NETWORK off</a:t>
            </a:r>
          </a:p>
        </p:txBody>
      </p:sp>
      <p:sp>
        <p:nvSpPr>
          <p:cNvPr id="18" name="body-488">
            <a:extLst>
              <a:ext uri="{FF2B5EF4-FFF2-40B4-BE49-F238E27FC236}">
                <a16:creationId xmlns:a16="http://schemas.microsoft.com/office/drawing/2014/main" id="{45A1CBAC-4D6D-4A33-ADBE-A1747AE42297}"/>
              </a:ext>
            </a:extLst>
          </p:cNvPr>
          <p:cNvSpPr>
            <a:spLocks noGrp="1"/>
          </p:cNvSpPr>
          <p:nvPr/>
        </p:nvSpPr>
        <p:spPr>
          <a:xfrm>
            <a:off x="6762750" y="4143375"/>
            <a:ext cx="46863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CONFIRM 写回前确认范围</a:t>
            </a:r>
          </a:p>
        </p:txBody>
      </p:sp>
      <p:sp>
        <p:nvSpPr>
          <p:cNvPr id="19" name="body-489">
            <a:extLst>
              <a:ext uri="{FF2B5EF4-FFF2-40B4-BE49-F238E27FC236}">
                <a16:creationId xmlns:a16="http://schemas.microsoft.com/office/drawing/2014/main" id="{1A591020-7605-470E-AE49-80708F07C4F1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先找到过宽范围，再说出怎样收窄。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9BFF9-B912-441C-A773-D39922B2B6A0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工件状态与证据成熟度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03B16-B9CD-42C0-AAB6-1D403B14CF20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node-490">
            <a:extLst>
              <a:ext uri="{FF2B5EF4-FFF2-40B4-BE49-F238E27FC236}">
                <a16:creationId xmlns:a16="http://schemas.microsoft.com/office/drawing/2014/main" id="{52AD0CAD-0CDA-4948-A684-0683A9116F12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draft</a:t>
            </a:r>
          </a:p>
        </p:txBody>
      </p:sp>
      <p:sp>
        <p:nvSpPr>
          <p:cNvPr id="5" name="node-491">
            <a:extLst>
              <a:ext uri="{FF2B5EF4-FFF2-40B4-BE49-F238E27FC236}">
                <a16:creationId xmlns:a16="http://schemas.microsoft.com/office/drawing/2014/main" id="{7DB96472-3618-4019-A2E2-DA54D2219F42}"/>
              </a:ext>
            </a:extLst>
          </p:cNvPr>
          <p:cNvSpPr>
            <a:spLocks noGrp="1"/>
          </p:cNvSpPr>
          <p:nvPr/>
        </p:nvSpPr>
        <p:spPr>
          <a:xfrm>
            <a:off x="3486150" y="214312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review</a:t>
            </a:r>
          </a:p>
        </p:txBody>
      </p:sp>
      <p:sp>
        <p:nvSpPr>
          <p:cNvPr id="6" name="node-492">
            <a:extLst>
              <a:ext uri="{FF2B5EF4-FFF2-40B4-BE49-F238E27FC236}">
                <a16:creationId xmlns:a16="http://schemas.microsoft.com/office/drawing/2014/main" id="{87BC9887-8756-4F73-9FEF-A0516CD8925A}"/>
              </a:ext>
            </a:extLst>
          </p:cNvPr>
          <p:cNvSpPr>
            <a:spLocks noGrp="1"/>
          </p:cNvSpPr>
          <p:nvPr/>
        </p:nvSpPr>
        <p:spPr>
          <a:xfrm>
            <a:off x="6362700" y="214312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approved</a:t>
            </a:r>
          </a:p>
        </p:txBody>
      </p:sp>
      <p:sp>
        <p:nvSpPr>
          <p:cNvPr id="7" name="node-493">
            <a:extLst>
              <a:ext uri="{FF2B5EF4-FFF2-40B4-BE49-F238E27FC236}">
                <a16:creationId xmlns:a16="http://schemas.microsoft.com/office/drawing/2014/main" id="{3CAE9042-4D8D-4732-831F-5CAFC3D49E65}"/>
              </a:ext>
            </a:extLst>
          </p:cNvPr>
          <p:cNvSpPr>
            <a:spLocks noGrp="1"/>
          </p:cNvSpPr>
          <p:nvPr/>
        </p:nvSpPr>
        <p:spPr>
          <a:xfrm>
            <a:off x="9239250" y="214312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stable</a:t>
            </a:r>
          </a:p>
        </p:txBody>
      </p:sp>
      <p:cxnSp>
        <p:nvCxnSpPr>
          <p:cNvPr id="41" name="edge-494"/>
          <p:cNvCxnSpPr>
            <a:stCxn id="4" idx="3"/>
            <a:endCxn id="5" idx="1"/>
          </p:cNvCxnSpPr>
          <p:nvPr/>
        </p:nvCxnSpPr>
        <p:spPr>
          <a:xfrm>
            <a:off x="2933700" y="250507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42" name="edge-495"/>
          <p:cNvCxnSpPr>
            <a:stCxn id="5" idx="3"/>
            <a:endCxn id="6" idx="1"/>
          </p:cNvCxnSpPr>
          <p:nvPr/>
        </p:nvCxnSpPr>
        <p:spPr>
          <a:xfrm>
            <a:off x="5810250" y="250507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43" name="edge-496"/>
          <p:cNvCxnSpPr>
            <a:stCxn id="6" idx="3"/>
            <a:endCxn id="7" idx="1"/>
          </p:cNvCxnSpPr>
          <p:nvPr/>
        </p:nvCxnSpPr>
        <p:spPr>
          <a:xfrm>
            <a:off x="8686800" y="250507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1" name="body-497">
            <a:extLst>
              <a:ext uri="{FF2B5EF4-FFF2-40B4-BE49-F238E27FC236}">
                <a16:creationId xmlns:a16="http://schemas.microsoft.com/office/drawing/2014/main" id="{BA860340-22FC-4F36-8EF1-B55F8DDB507E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草稿与待查缺口</a:t>
            </a:r>
          </a:p>
        </p:txBody>
      </p:sp>
      <p:sp>
        <p:nvSpPr>
          <p:cNvPr id="12" name="body-498">
            <a:extLst>
              <a:ext uri="{FF2B5EF4-FFF2-40B4-BE49-F238E27FC236}">
                <a16:creationId xmlns:a16="http://schemas.microsoft.com/office/drawing/2014/main" id="{4832CA1D-831D-4B7F-9A76-4937F7EAD8F5}"/>
              </a:ext>
            </a:extLst>
          </p:cNvPr>
          <p:cNvSpPr>
            <a:spLocks noGrp="1"/>
          </p:cNvSpPr>
          <p:nvPr/>
        </p:nvSpPr>
        <p:spPr>
          <a:xfrm>
            <a:off x="3486150" y="3352800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已有依据</a:t>
            </a:r>
          </a:p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进入复核</a:t>
            </a:r>
          </a:p>
        </p:txBody>
      </p:sp>
      <p:sp>
        <p:nvSpPr>
          <p:cNvPr id="13" name="body-499">
            <a:extLst>
              <a:ext uri="{FF2B5EF4-FFF2-40B4-BE49-F238E27FC236}">
                <a16:creationId xmlns:a16="http://schemas.microsoft.com/office/drawing/2014/main" id="{9D8E68DE-92BA-455D-8433-07C66EFEE52E}"/>
              </a:ext>
            </a:extLst>
          </p:cNvPr>
          <p:cNvSpPr>
            <a:spLocks noGrp="1"/>
          </p:cNvSpPr>
          <p:nvPr/>
        </p:nvSpPr>
        <p:spPr>
          <a:xfrm>
            <a:off x="6362700" y="3352800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关键决策获批</a:t>
            </a:r>
          </a:p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边界与理由已记录</a:t>
            </a:r>
          </a:p>
        </p:txBody>
      </p:sp>
      <p:sp>
        <p:nvSpPr>
          <p:cNvPr id="14" name="body-500">
            <a:extLst>
              <a:ext uri="{FF2B5EF4-FFF2-40B4-BE49-F238E27FC236}">
                <a16:creationId xmlns:a16="http://schemas.microsoft.com/office/drawing/2014/main" id="{144739FA-BE8D-42F2-A58A-906EDE5FF99E}"/>
              </a:ext>
            </a:extLst>
          </p:cNvPr>
          <p:cNvSpPr>
            <a:spLocks noGrp="1"/>
          </p:cNvSpPr>
          <p:nvPr/>
        </p:nvSpPr>
        <p:spPr>
          <a:xfrm>
            <a:off x="9239250" y="3352800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至少两项独立证据</a:t>
            </a:r>
          </a:p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边界可追溯</a:t>
            </a:r>
          </a:p>
        </p:txBody>
      </p:sp>
      <p:sp>
        <p:nvSpPr>
          <p:cNvPr id="15" name="node-501">
            <a:extLst>
              <a:ext uri="{FF2B5EF4-FFF2-40B4-BE49-F238E27FC236}">
                <a16:creationId xmlns:a16="http://schemas.microsoft.com/office/drawing/2014/main" id="{AEC7EAB0-E2A3-447B-A1D3-CEC7AB384DA5}"/>
              </a:ext>
            </a:extLst>
          </p:cNvPr>
          <p:cNvSpPr>
            <a:spLocks noGrp="1"/>
          </p:cNvSpPr>
          <p:nvPr/>
        </p:nvSpPr>
        <p:spPr>
          <a:xfrm>
            <a:off x="7820025" y="5019675"/>
            <a:ext cx="3476625" cy="581025"/>
          </a:xfrm>
          <a:prstGeom prst="rect">
            <a:avLst/>
          </a:prstGeom>
          <a:noFill/>
          <a:ln w="14288">
            <a:solidFill>
              <a:srgbClr val="C8161E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发现冲突或条件变化</a:t>
            </a:r>
          </a:p>
        </p:txBody>
      </p:sp>
      <p:sp>
        <p:nvSpPr>
          <p:cNvPr id="16" name="node-502">
            <a:extLst>
              <a:ext uri="{FF2B5EF4-FFF2-40B4-BE49-F238E27FC236}">
                <a16:creationId xmlns:a16="http://schemas.microsoft.com/office/drawing/2014/main" id="{B2C360E6-0E26-4B64-B1C6-D8FB31E1D963}"/>
              </a:ext>
            </a:extLst>
          </p:cNvPr>
          <p:cNvSpPr>
            <a:spLocks noGrp="1"/>
          </p:cNvSpPr>
          <p:nvPr/>
        </p:nvSpPr>
        <p:spPr>
          <a:xfrm>
            <a:off x="952500" y="5019675"/>
            <a:ext cx="3019425" cy="581025"/>
          </a:xfrm>
          <a:prstGeom prst="rect">
            <a:avLst/>
          </a:prstGeom>
          <a:noFill/>
          <a:ln w="14288">
            <a:solidFill>
              <a:srgbClr val="C8161E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回到适当状态</a:t>
            </a:r>
          </a:p>
        </p:txBody>
      </p:sp>
      <p:cxnSp>
        <p:nvCxnSpPr>
          <p:cNvPr id="50" name="edge-503"/>
          <p:cNvCxnSpPr>
            <a:stCxn id="15" idx="1"/>
            <a:endCxn id="16" idx="3"/>
          </p:cNvCxnSpPr>
          <p:nvPr/>
        </p:nvCxnSpPr>
        <p:spPr>
          <a:xfrm flipH="1">
            <a:off x="3971925" y="5310188"/>
            <a:ext cx="3848100" cy="0"/>
          </a:xfrm>
          <a:prstGeom prst="straightConnector1">
            <a:avLst/>
          </a:prstGeom>
          <a:ln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18" name="body-504">
            <a:extLst>
              <a:ext uri="{FF2B5EF4-FFF2-40B4-BE49-F238E27FC236}">
                <a16:creationId xmlns:a16="http://schemas.microsoft.com/office/drawing/2014/main" id="{DB207F43-B5A7-43FD-8D2A-BA5371358267}"/>
              </a:ext>
            </a:extLst>
          </p:cNvPr>
          <p:cNvSpPr>
            <a:spLocks noGrp="1"/>
          </p:cNvSpPr>
          <p:nvPr/>
        </p:nvSpPr>
        <p:spPr>
          <a:xfrm>
            <a:off x="4552950" y="4610100"/>
            <a:ext cx="26670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状态可以回退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977D1-51D8-41B4-93B1-A6C566231C92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一份证据地图的状态迁移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53A1A-0560-4BF3-97C7-E53BCBD8B70F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body-505">
            <a:extLst>
              <a:ext uri="{FF2B5EF4-FFF2-40B4-BE49-F238E27FC236}">
                <a16:creationId xmlns:a16="http://schemas.microsoft.com/office/drawing/2014/main" id="{183AF6AB-EB45-46BA-8A91-D981E9DA0979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23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evidence-map.md</a:t>
            </a:r>
          </a:p>
        </p:txBody>
      </p:sp>
      <p:graphicFrame>
        <p:nvGraphicFramePr>
          <p:cNvPr id="11" name="native-table-506"/>
          <p:cNvGraphicFramePr/>
          <p:nvPr/>
        </p:nvGraphicFramePr>
        <p:xfrm>
          <a:off x="609600" y="1800225"/>
          <a:ext cx="10972800" cy="3667125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这次新增什么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复核依据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支持下游动作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候选来源与缺口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保留待核验标记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设计检索计划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review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原文位置与冲突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自查、同伴复核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修订问题定义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approved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问题门通过条件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判断理由与 diff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形成实验规格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stable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独立证据与边界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结论可追溯复核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支撑最终论证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-507">
            <a:extLst>
              <a:ext uri="{FF2B5EF4-FFF2-40B4-BE49-F238E27FC236}">
                <a16:creationId xmlns:a16="http://schemas.microsoft.com/office/drawing/2014/main" id="{3C90E38C-3FB2-41E8-9B94-7BBA6B2346F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“写完了”只说明编辑结束，状态迁移还需要依据。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0D8B8-7429-4C4E-8F5A-AC2077821B5C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 AI 使用记录应说明什么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966E6-47C5-4EA3-932C-061BE4A4BDAA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body-508">
            <a:extLst>
              <a:ext uri="{FF2B5EF4-FFF2-40B4-BE49-F238E27FC236}">
                <a16:creationId xmlns:a16="http://schemas.microsoft.com/office/drawing/2014/main" id="{36129366-473F-4F68-A09A-7CD4DA8655CE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课堂构造记录 · 合作稿的替代输入</a:t>
            </a:r>
          </a:p>
        </p:txBody>
      </p:sp>
      <p:graphicFrame>
        <p:nvGraphicFramePr>
          <p:cNvPr id="11" name="native-table-509"/>
          <p:cNvGraphicFramePr/>
          <p:nvPr/>
        </p:nvGraphicFramePr>
        <p:xfrm>
          <a:off x="609600" y="1724025"/>
          <a:ext cx="10972800" cy="3514725"/>
        </p:xfrm>
        <a:graphic>
          <a:graphicData uri="http://schemas.openxmlformats.org/drawingml/2006/table">
            <a:tbl>
              <a:tblPr/>
              <a:tblGrid>
                <a:gridCol w="28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可核对的记录内容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步骤与 Context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生成候选检索词，只输入人工抽象问题。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输出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给出候选词及对应的检索方向。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人的决定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保留与研究对象一致的词，删除过宽概念。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核验方法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逐项对照原问题，记录保留和删除的理由。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-510">
            <a:extLst>
              <a:ext uri="{FF2B5EF4-FFF2-40B4-BE49-F238E27FC236}">
                <a16:creationId xmlns:a16="http://schemas.microsoft.com/office/drawing/2014/main" id="{E354E9F6-5DE6-421F-8DB3-E3AF6FD4B667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若未调用模型，记录“未执行”及实际人工检查。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B2E28D-C8C4-42AF-AF05-1C2267D90351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助教演示：风险与权限如何落地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BAA43-43AE-4EF7-B981-4E341082CC1C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body-511">
            <a:extLst>
              <a:ext uri="{FF2B5EF4-FFF2-40B4-BE49-F238E27FC236}">
                <a16:creationId xmlns:a16="http://schemas.microsoft.com/office/drawing/2014/main" id="{CD44F957-F2FE-4BD0-AB36-F373AA669AE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助教演示 · 同一未公开合作稿案例</a:t>
            </a:r>
          </a:p>
        </p:txBody>
      </p:sp>
      <p:sp>
        <p:nvSpPr>
          <p:cNvPr id="5" name="node-512">
            <a:extLst>
              <a:ext uri="{FF2B5EF4-FFF2-40B4-BE49-F238E27FC236}">
                <a16:creationId xmlns:a16="http://schemas.microsoft.com/office/drawing/2014/main" id="{2BEEC3B8-804F-447F-9D55-BEF64DF453CF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输入与环境</a:t>
            </a:r>
          </a:p>
        </p:txBody>
      </p:sp>
      <p:sp>
        <p:nvSpPr>
          <p:cNvPr id="6" name="node-513">
            <a:extLst>
              <a:ext uri="{FF2B5EF4-FFF2-40B4-BE49-F238E27FC236}">
                <a16:creationId xmlns:a16="http://schemas.microsoft.com/office/drawing/2014/main" id="{F36F5D28-024F-41CE-9C84-100DF4D89CD2}"/>
              </a:ext>
            </a:extLst>
          </p:cNvPr>
          <p:cNvSpPr>
            <a:spLocks noGrp="1"/>
          </p:cNvSpPr>
          <p:nvPr/>
        </p:nvSpPr>
        <p:spPr>
          <a:xfrm>
            <a:off x="3486150" y="287655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只读边界审查</a:t>
            </a:r>
          </a:p>
        </p:txBody>
      </p:sp>
      <p:sp>
        <p:nvSpPr>
          <p:cNvPr id="7" name="node-514">
            <a:extLst>
              <a:ext uri="{FF2B5EF4-FFF2-40B4-BE49-F238E27FC236}">
                <a16:creationId xmlns:a16="http://schemas.microsoft.com/office/drawing/2014/main" id="{0E27C300-7810-44E8-A053-71F0698E174D}"/>
              </a:ext>
            </a:extLst>
          </p:cNvPr>
          <p:cNvSpPr>
            <a:spLocks noGrp="1"/>
          </p:cNvSpPr>
          <p:nvPr/>
        </p:nvSpPr>
        <p:spPr>
          <a:xfrm>
            <a:off x="6362700" y="287655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人工确认写回</a:t>
            </a:r>
          </a:p>
        </p:txBody>
      </p:sp>
      <p:sp>
        <p:nvSpPr>
          <p:cNvPr id="8" name="node-515">
            <a:extLst>
              <a:ext uri="{FF2B5EF4-FFF2-40B4-BE49-F238E27FC236}">
                <a16:creationId xmlns:a16="http://schemas.microsoft.com/office/drawing/2014/main" id="{3A368DED-88B6-4FA2-A8D4-AA97A342BDB0}"/>
              </a:ext>
            </a:extLst>
          </p:cNvPr>
          <p:cNvSpPr>
            <a:spLocks noGrp="1"/>
          </p:cNvSpPr>
          <p:nvPr/>
        </p:nvSpPr>
        <p:spPr>
          <a:xfrm>
            <a:off x="9239250" y="287655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核对三件工件</a:t>
            </a:r>
          </a:p>
        </p:txBody>
      </p:sp>
      <p:cxnSp>
        <p:nvCxnSpPr>
          <p:cNvPr id="33" name="edge-516"/>
          <p:cNvCxnSpPr>
            <a:stCxn id="5" idx="3"/>
            <a:endCxn id="6" idx="1"/>
          </p:cNvCxnSpPr>
          <p:nvPr/>
        </p:nvCxnSpPr>
        <p:spPr>
          <a:xfrm>
            <a:off x="2933700" y="3238500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34" name="edge-517"/>
          <p:cNvCxnSpPr>
            <a:stCxn id="6" idx="3"/>
            <a:endCxn id="7" idx="1"/>
          </p:cNvCxnSpPr>
          <p:nvPr/>
        </p:nvCxnSpPr>
        <p:spPr>
          <a:xfrm>
            <a:off x="5810250" y="3238500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35" name="edge-518"/>
          <p:cNvCxnSpPr>
            <a:stCxn id="7" idx="3"/>
            <a:endCxn id="8" idx="1"/>
          </p:cNvCxnSpPr>
          <p:nvPr/>
        </p:nvCxnSpPr>
        <p:spPr>
          <a:xfrm>
            <a:off x="8686800" y="3238500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2" name="body-519">
            <a:extLst>
              <a:ext uri="{FF2B5EF4-FFF2-40B4-BE49-F238E27FC236}">
                <a16:creationId xmlns:a16="http://schemas.microsoft.com/office/drawing/2014/main" id="{523A22C6-A518-4545-9F02-FB162B4EAD02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2324100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仅用获准问题描述</a:t>
            </a:r>
          </a:p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处理环境已确认</a:t>
            </a:r>
          </a:p>
        </p:txBody>
      </p:sp>
      <p:sp>
        <p:nvSpPr>
          <p:cNvPr id="13" name="body-520">
            <a:extLst>
              <a:ext uri="{FF2B5EF4-FFF2-40B4-BE49-F238E27FC236}">
                <a16:creationId xmlns:a16="http://schemas.microsoft.com/office/drawing/2014/main" id="{E9AF8C09-B014-4539-850E-2FDF860070D0}"/>
              </a:ext>
            </a:extLst>
          </p:cNvPr>
          <p:cNvSpPr>
            <a:spLocks noGrp="1"/>
          </p:cNvSpPr>
          <p:nvPr/>
        </p:nvSpPr>
        <p:spPr>
          <a:xfrm>
            <a:off x="3486150" y="4000500"/>
            <a:ext cx="2324100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检查过宽权限</a:t>
            </a:r>
          </a:p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与缺失的确认点</a:t>
            </a:r>
          </a:p>
        </p:txBody>
      </p:sp>
      <p:sp>
        <p:nvSpPr>
          <p:cNvPr id="14" name="body-521">
            <a:extLst>
              <a:ext uri="{FF2B5EF4-FFF2-40B4-BE49-F238E27FC236}">
                <a16:creationId xmlns:a16="http://schemas.microsoft.com/office/drawing/2014/main" id="{B7904F86-3DD0-4E96-9D2B-28E60C521DF1}"/>
              </a:ext>
            </a:extLst>
          </p:cNvPr>
          <p:cNvSpPr>
            <a:spLocks noGrp="1"/>
          </p:cNvSpPr>
          <p:nvPr/>
        </p:nvSpPr>
        <p:spPr>
          <a:xfrm>
            <a:off x="6362700" y="4000500"/>
            <a:ext cx="2324100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明确三份文件</a:t>
            </a:r>
          </a:p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及各自修改范围</a:t>
            </a:r>
          </a:p>
        </p:txBody>
      </p:sp>
      <p:sp>
        <p:nvSpPr>
          <p:cNvPr id="15" name="body-522">
            <a:extLst>
              <a:ext uri="{FF2B5EF4-FFF2-40B4-BE49-F238E27FC236}">
                <a16:creationId xmlns:a16="http://schemas.microsoft.com/office/drawing/2014/main" id="{9AC4154D-65BF-4D79-A066-082635455CDB}"/>
              </a:ext>
            </a:extLst>
          </p:cNvPr>
          <p:cNvSpPr>
            <a:spLocks noGrp="1"/>
          </p:cNvSpPr>
          <p:nvPr/>
        </p:nvSpPr>
        <p:spPr>
          <a:xfrm>
            <a:off x="9239250" y="4000500"/>
            <a:ext cx="2324100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风险卡、权限行</a:t>
            </a:r>
          </a:p>
          <a:p>
            <a:pPr algn="l">
              <a:lnSpc>
                <a:spcPct val="12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使用记录相互一致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F08AEB-1BE9-4D5A-A751-C2EF03D7FC3B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第一轮：只读边界审查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8EDD1-BECC-45BA-BBE8-B91E866EBFFB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body-523">
            <a:extLst>
              <a:ext uri="{FF2B5EF4-FFF2-40B4-BE49-F238E27FC236}">
                <a16:creationId xmlns:a16="http://schemas.microsoft.com/office/drawing/2014/main" id="{FCB21972-2B48-4E11-B21A-A5CAEF70C84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助教演示 · 任务契约</a:t>
            </a:r>
          </a:p>
        </p:txBody>
      </p:sp>
      <p:sp>
        <p:nvSpPr>
          <p:cNvPr id="5" name="body-524">
            <a:extLst>
              <a:ext uri="{FF2B5EF4-FFF2-40B4-BE49-F238E27FC236}">
                <a16:creationId xmlns:a16="http://schemas.microsoft.com/office/drawing/2014/main" id="{DFDA499C-A7CD-4286-87BB-39CD620BEF54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76295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第一轮</a:t>
            </a:r>
          </a:p>
        </p:txBody>
      </p:sp>
      <p:sp>
        <p:nvSpPr>
          <p:cNvPr id="6" name="rule-525">
            <a:extLst>
              <a:ext uri="{FF2B5EF4-FFF2-40B4-BE49-F238E27FC236}">
                <a16:creationId xmlns:a16="http://schemas.microsoft.com/office/drawing/2014/main" id="{AF431934-8CE0-438A-A7DF-3AC0BDE32DCC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7629525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7" name="body-526">
            <a:extLst>
              <a:ext uri="{FF2B5EF4-FFF2-40B4-BE49-F238E27FC236}">
                <a16:creationId xmlns:a16="http://schemas.microsoft.com/office/drawing/2014/main" id="{E4EA534E-EE9D-412D-9104-3D7847F47149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73628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READ    agent-permissions.md</a:t>
            </a:r>
          </a:p>
        </p:txBody>
      </p:sp>
      <p:sp>
        <p:nvSpPr>
          <p:cNvPr id="8" name="body-527">
            <a:extLst>
              <a:ext uri="{FF2B5EF4-FFF2-40B4-BE49-F238E27FC236}">
                <a16:creationId xmlns:a16="http://schemas.microsoft.com/office/drawing/2014/main" id="{BD63A782-EA36-4573-954E-D0F0ABBEE567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73628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TASK    指出一处过宽或缺失权限</a:t>
            </a:r>
          </a:p>
        </p:txBody>
      </p:sp>
      <p:sp>
        <p:nvSpPr>
          <p:cNvPr id="9" name="body-528">
            <a:extLst>
              <a:ext uri="{FF2B5EF4-FFF2-40B4-BE49-F238E27FC236}">
                <a16:creationId xmlns:a16="http://schemas.microsoft.com/office/drawing/2014/main" id="{F10664BB-9A01-4AF0-84FF-C1C3F4D19B4F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73628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WRITE   none</a:t>
            </a:r>
          </a:p>
        </p:txBody>
      </p:sp>
      <p:sp>
        <p:nvSpPr>
          <p:cNvPr id="10" name="body-529">
            <a:extLst>
              <a:ext uri="{FF2B5EF4-FFF2-40B4-BE49-F238E27FC236}">
                <a16:creationId xmlns:a16="http://schemas.microsoft.com/office/drawing/2014/main" id="{3F243ECD-CDFA-4E6A-8927-FEE723EBC1D2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73628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NETWORK off</a:t>
            </a:r>
          </a:p>
        </p:txBody>
      </p:sp>
      <p:sp>
        <p:nvSpPr>
          <p:cNvPr id="11" name="body-530">
            <a:extLst>
              <a:ext uri="{FF2B5EF4-FFF2-40B4-BE49-F238E27FC236}">
                <a16:creationId xmlns:a16="http://schemas.microsoft.com/office/drawing/2014/main" id="{179F743A-4562-40EF-94E9-2751C303F9EE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73628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RETURN  建议、风险与最小替代动作</a:t>
            </a:r>
          </a:p>
        </p:txBody>
      </p:sp>
      <p:sp>
        <p:nvSpPr>
          <p:cNvPr id="12" name="body-531">
            <a:extLst>
              <a:ext uri="{FF2B5EF4-FFF2-40B4-BE49-F238E27FC236}">
                <a16:creationId xmlns:a16="http://schemas.microsoft.com/office/drawing/2014/main" id="{A9F11DA2-8743-4235-9834-7C9EBE8F1891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73628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STOP    等待人工确认</a:t>
            </a:r>
          </a:p>
        </p:txBody>
      </p:sp>
      <p:sp>
        <p:nvSpPr>
          <p:cNvPr id="13" name="body-532">
            <a:extLst>
              <a:ext uri="{FF2B5EF4-FFF2-40B4-BE49-F238E27FC236}">
                <a16:creationId xmlns:a16="http://schemas.microsoft.com/office/drawing/2014/main" id="{64A7C151-1FF5-4FB0-83E9-42A041E181F5}"/>
              </a:ext>
            </a:extLst>
          </p:cNvPr>
          <p:cNvSpPr>
            <a:spLocks noGrp="1"/>
          </p:cNvSpPr>
          <p:nvPr/>
        </p:nvSpPr>
        <p:spPr>
          <a:xfrm>
            <a:off x="8905875" y="2047875"/>
            <a:ext cx="26765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研究者检查</a:t>
            </a:r>
          </a:p>
        </p:txBody>
      </p:sp>
      <p:sp>
        <p:nvSpPr>
          <p:cNvPr id="14" name="body-533">
            <a:extLst>
              <a:ext uri="{FF2B5EF4-FFF2-40B4-BE49-F238E27FC236}">
                <a16:creationId xmlns:a16="http://schemas.microsoft.com/office/drawing/2014/main" id="{5139A887-79BD-486C-BA22-724673FF2E4B}"/>
              </a:ext>
            </a:extLst>
          </p:cNvPr>
          <p:cNvSpPr>
            <a:spLocks noGrp="1"/>
          </p:cNvSpPr>
          <p:nvPr/>
        </p:nvSpPr>
        <p:spPr>
          <a:xfrm>
            <a:off x="8905875" y="2790825"/>
            <a:ext cx="2676525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建议收窄了范围，</a:t>
            </a:r>
          </a:p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还是隐含扩大了</a:t>
            </a:r>
          </a:p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读写与外发权限？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28E25-7538-4594-AF6E-5B083F7F8FA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第二轮：批准后的三处写回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1FDF6-1E90-49F2-A286-AED9C14761CF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body-534">
            <a:extLst>
              <a:ext uri="{FF2B5EF4-FFF2-40B4-BE49-F238E27FC236}">
                <a16:creationId xmlns:a16="http://schemas.microsoft.com/office/drawing/2014/main" id="{6B19CA3F-CFB9-4DEF-9903-BA4A3C6859E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助教演示 · 任务契约</a:t>
            </a:r>
          </a:p>
        </p:txBody>
      </p:sp>
      <p:sp>
        <p:nvSpPr>
          <p:cNvPr id="5" name="body-535">
            <a:extLst>
              <a:ext uri="{FF2B5EF4-FFF2-40B4-BE49-F238E27FC236}">
                <a16:creationId xmlns:a16="http://schemas.microsoft.com/office/drawing/2014/main" id="{3073BB45-2CCC-4376-8466-271748583B81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第二轮：只写回获批范围</a:t>
            </a:r>
          </a:p>
        </p:txBody>
      </p:sp>
      <p:sp>
        <p:nvSpPr>
          <p:cNvPr id="6" name="rule-536">
            <a:extLst>
              <a:ext uri="{FF2B5EF4-FFF2-40B4-BE49-F238E27FC236}">
                <a16:creationId xmlns:a16="http://schemas.microsoft.com/office/drawing/2014/main" id="{241075AC-0291-4025-AA4C-F61ADB281E8F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809625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7" name="body-537">
            <a:extLst>
              <a:ext uri="{FF2B5EF4-FFF2-40B4-BE49-F238E27FC236}">
                <a16:creationId xmlns:a16="http://schemas.microsoft.com/office/drawing/2014/main" id="{675E1F74-6B19-4EE3-A469-CDC74956EAA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7829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WRITE   agent-permissions.md 一行</a:t>
            </a:r>
          </a:p>
        </p:txBody>
      </p:sp>
      <p:sp>
        <p:nvSpPr>
          <p:cNvPr id="8" name="body-538">
            <a:extLst>
              <a:ext uri="{FF2B5EF4-FFF2-40B4-BE49-F238E27FC236}">
                <a16:creationId xmlns:a16="http://schemas.microsoft.com/office/drawing/2014/main" id="{464F9C09-856C-433D-91B8-2892DAC2D3DD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7829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        ethics-and-compliance.md 风险卡</a:t>
            </a:r>
          </a:p>
        </p:txBody>
      </p:sp>
      <p:sp>
        <p:nvSpPr>
          <p:cNvPr id="9" name="body-539">
            <a:extLst>
              <a:ext uri="{FF2B5EF4-FFF2-40B4-BE49-F238E27FC236}">
                <a16:creationId xmlns:a16="http://schemas.microsoft.com/office/drawing/2014/main" id="{C18B074F-4655-4ABF-AEFD-C5ECF5C45014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7829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        ai-usage-log.md 一条记录</a:t>
            </a:r>
          </a:p>
        </p:txBody>
      </p:sp>
      <p:sp>
        <p:nvSpPr>
          <p:cNvPr id="10" name="body-540">
            <a:extLst>
              <a:ext uri="{FF2B5EF4-FFF2-40B4-BE49-F238E27FC236}">
                <a16:creationId xmlns:a16="http://schemas.microsoft.com/office/drawing/2014/main" id="{3E025736-68CD-4016-86D2-9BE58E6BBB0E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7829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KEEP    问题、指标与工件状态</a:t>
            </a:r>
          </a:p>
        </p:txBody>
      </p:sp>
      <p:sp>
        <p:nvSpPr>
          <p:cNvPr id="11" name="body-541">
            <a:extLst>
              <a:ext uri="{FF2B5EF4-FFF2-40B4-BE49-F238E27FC236}">
                <a16:creationId xmlns:a16="http://schemas.microsoft.com/office/drawing/2014/main" id="{089D7793-7F05-4310-967C-BC951DD86805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7829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NETWORK off</a:t>
            </a:r>
          </a:p>
        </p:txBody>
      </p:sp>
      <p:sp>
        <p:nvSpPr>
          <p:cNvPr id="12" name="body-542">
            <a:extLst>
              <a:ext uri="{FF2B5EF4-FFF2-40B4-BE49-F238E27FC236}">
                <a16:creationId xmlns:a16="http://schemas.microsoft.com/office/drawing/2014/main" id="{6EAD9BE2-39B7-4D62-B95C-69FAA51D650E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7829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AFTER   展示实际 diff</a:t>
            </a:r>
          </a:p>
        </p:txBody>
      </p:sp>
      <p:sp>
        <p:nvSpPr>
          <p:cNvPr id="13" name="body-543">
            <a:extLst>
              <a:ext uri="{FF2B5EF4-FFF2-40B4-BE49-F238E27FC236}">
                <a16:creationId xmlns:a16="http://schemas.microsoft.com/office/drawing/2014/main" id="{8B8AA759-9B04-4F4E-BF0C-1012ED2EF6FC}"/>
              </a:ext>
            </a:extLst>
          </p:cNvPr>
          <p:cNvSpPr>
            <a:spLocks noGrp="1"/>
          </p:cNvSpPr>
          <p:nvPr/>
        </p:nvSpPr>
        <p:spPr>
          <a:xfrm>
            <a:off x="9277350" y="2085975"/>
            <a:ext cx="23050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确认点</a:t>
            </a:r>
          </a:p>
        </p:txBody>
      </p:sp>
      <p:sp>
        <p:nvSpPr>
          <p:cNvPr id="14" name="body-544">
            <a:extLst>
              <a:ext uri="{FF2B5EF4-FFF2-40B4-BE49-F238E27FC236}">
                <a16:creationId xmlns:a16="http://schemas.microsoft.com/office/drawing/2014/main" id="{76151666-3A47-431B-A240-B163041D73D7}"/>
              </a:ext>
            </a:extLst>
          </p:cNvPr>
          <p:cNvSpPr>
            <a:spLocks noGrp="1"/>
          </p:cNvSpPr>
          <p:nvPr/>
        </p:nvSpPr>
        <p:spPr>
          <a:xfrm>
            <a:off x="9277350" y="2857500"/>
            <a:ext cx="23050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文件</a:t>
            </a:r>
          </a:p>
          <a:p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段落</a:t>
            </a:r>
          </a:p>
          <a:p>
            <a:pPr algn="l">
              <a:lnSpc>
                <a:spcPct val="140000"/>
              </a:lnSpc>
              <a:buNone/>
              <a:def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修改范围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judgment-title">
            <a:extLst>
              <a:ext uri="{FF2B5EF4-FFF2-40B4-BE49-F238E27FC236}">
                <a16:creationId xmlns:a16="http://schemas.microsoft.com/office/drawing/2014/main" id="{B7E965D1-A17F-4D31-B3D3-6B794837659F}"/>
              </a:ext>
            </a:extLst>
          </p:cNvPr>
          <p:cNvSpPr>
            <a:spLocks noGrp="1"/>
          </p:cNvSpPr>
          <p:nvPr/>
        </p:nvSpPr>
        <p:spPr>
          <a:xfrm>
            <a:off x="1028700" y="76200"/>
            <a:ext cx="106870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>
              <a:ext uri="{FF2B5EF4-FFF2-40B4-BE49-F238E27FC236}">
                <a16:creationId xmlns:a16="http://schemas.microsoft.com/office/drawing/2014/main" id="{80C29C7F-C468-408C-9F75-1CEE2039C2DD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给本人一个动作写清读写范围、确认点与拒绝分支，更新既有权限行、风险卡和日志。选一次允许动作和一次越界尝试检验控制。</a:t>
            </a:r>
          </a:p>
        </p:txBody>
      </p:sp>
      <p:sp>
        <p:nvSpPr>
          <p:cNvPr id="3" name="judgment-body-1">
            <a:extLst>
              <a:ext uri="{FF2B5EF4-FFF2-40B4-BE49-F238E27FC236}">
                <a16:creationId xmlns:a16="http://schemas.microsoft.com/office/drawing/2014/main" id="{2BA41866-88E1-4594-9459-55CC278BF8DE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08585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用现有 access-check 接口或人工逐步拦截演示拒绝；如仅验证接口，记录“非操作系统隔离”。未获授权的读取不要真实执行。</a:t>
            </a:r>
          </a:p>
        </p:txBody>
      </p:sp>
      <p:sp>
        <p:nvSpPr>
          <p:cNvPr id="4" name="judgment-body-2">
            <a:extLst>
              <a:ext uri="{FF2B5EF4-FFF2-40B4-BE49-F238E27FC236}">
                <a16:creationId xmlns:a16="http://schemas.microsoft.com/office/drawing/2014/main" id="{694197D3-273C-4546-8462-A930C6E8F087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1085850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保存：权限行、风险卡、一次允许/拒绝检查及日志</a:t>
            </a:r>
          </a:p>
        </p:txBody>
      </p:sp>
      <p:sp>
        <p:nvSpPr>
          <p:cNvPr id="5" name="judgment-source">
            <a:extLst>
              <a:ext uri="{FF2B5EF4-FFF2-40B4-BE49-F238E27FC236}">
                <a16:creationId xmlns:a16="http://schemas.microsoft.com/office/drawing/2014/main" id="{6C438CF6-584A-4489-8D4C-818A422EB96D}"/>
              </a:ext>
            </a:extLst>
          </p:cNvPr>
          <p:cNvSpPr>
            <a:spLocks noGrp="1"/>
          </p:cNvSpPr>
          <p:nvPr/>
        </p:nvSpPr>
        <p:spPr>
          <a:xfrm>
            <a:off x="666750" y="6276975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>
              <a:ext uri="{FF2B5EF4-FFF2-40B4-BE49-F238E27FC236}">
                <a16:creationId xmlns:a16="http://schemas.microsoft.com/office/drawing/2014/main" id="{9C72EF45-DED7-42CD-9DE7-44522D14F9A7}"/>
              </a:ext>
            </a:extLst>
          </p:cNvPr>
          <p:cNvSpPr>
            <a:spLocks noGrp="1"/>
          </p:cNvSpPr>
          <p:nvPr/>
        </p:nvSpPr>
        <p:spPr>
          <a:xfrm>
            <a:off x="11715750" y="6562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6C890-168E-4CC8-AC38-97161892000E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临时结对：三件工件是否一致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61EDD-52FC-40AA-8905-4F6BC63D740B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body-545">
            <a:extLst>
              <a:ext uri="{FF2B5EF4-FFF2-40B4-BE49-F238E27FC236}">
                <a16:creationId xmlns:a16="http://schemas.microsoft.com/office/drawing/2014/main" id="{18A1DF66-E44C-4A62-A59F-27BF98256FC3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把风险卡、权限行和使用记录放在一起</a:t>
            </a:r>
          </a:p>
        </p:txBody>
      </p:sp>
      <p:sp>
        <p:nvSpPr>
          <p:cNvPr id="5" name="body-546">
            <a:extLst>
              <a:ext uri="{FF2B5EF4-FFF2-40B4-BE49-F238E27FC236}">
                <a16:creationId xmlns:a16="http://schemas.microsoft.com/office/drawing/2014/main" id="{E60E82B5-C6CD-4619-B95E-28D45FB457F8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同一输入</a:t>
            </a:r>
          </a:p>
        </p:txBody>
      </p:sp>
      <p:sp>
        <p:nvSpPr>
          <p:cNvPr id="6" name="body-547">
            <a:extLst>
              <a:ext uri="{FF2B5EF4-FFF2-40B4-BE49-F238E27FC236}">
                <a16:creationId xmlns:a16="http://schemas.microsoft.com/office/drawing/2014/main" id="{1A95FC8E-D5BF-411F-BFCF-C4CF75C10618}"/>
              </a:ext>
            </a:extLst>
          </p:cNvPr>
          <p:cNvSpPr>
            <a:spLocks noGrp="1"/>
          </p:cNvSpPr>
          <p:nvPr/>
        </p:nvSpPr>
        <p:spPr>
          <a:xfrm>
            <a:off x="3419475" y="2114550"/>
            <a:ext cx="8162925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三处写的材料对象和授权状态是否一致？</a:t>
            </a:r>
          </a:p>
        </p:txBody>
      </p:sp>
      <p:sp>
        <p:nvSpPr>
          <p:cNvPr id="7" name="rule-548">
            <a:extLst>
              <a:ext uri="{FF2B5EF4-FFF2-40B4-BE49-F238E27FC236}">
                <a16:creationId xmlns:a16="http://schemas.microsoft.com/office/drawing/2014/main" id="{49B44F56-5D51-4E2D-923D-E472669E8ED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8" name="body-549">
            <a:extLst>
              <a:ext uri="{FF2B5EF4-FFF2-40B4-BE49-F238E27FC236}">
                <a16:creationId xmlns:a16="http://schemas.microsoft.com/office/drawing/2014/main" id="{40830EED-C3D4-4B3A-88AC-CC7CFE059A9E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同一动作</a:t>
            </a:r>
          </a:p>
        </p:txBody>
      </p:sp>
      <p:sp>
        <p:nvSpPr>
          <p:cNvPr id="9" name="body-550">
            <a:extLst>
              <a:ext uri="{FF2B5EF4-FFF2-40B4-BE49-F238E27FC236}">
                <a16:creationId xmlns:a16="http://schemas.microsoft.com/office/drawing/2014/main" id="{4D1BBCAC-354E-41D4-AB36-5F4FE6AE2862}"/>
              </a:ext>
            </a:extLst>
          </p:cNvPr>
          <p:cNvSpPr>
            <a:spLocks noGrp="1"/>
          </p:cNvSpPr>
          <p:nvPr/>
        </p:nvSpPr>
        <p:spPr>
          <a:xfrm>
            <a:off x="3419475" y="2971800"/>
            <a:ext cx="8162925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权限允许的范围是否覆盖实际行动？</a:t>
            </a:r>
          </a:p>
        </p:txBody>
      </p:sp>
      <p:sp>
        <p:nvSpPr>
          <p:cNvPr id="10" name="rule-551">
            <a:extLst>
              <a:ext uri="{FF2B5EF4-FFF2-40B4-BE49-F238E27FC236}">
                <a16:creationId xmlns:a16="http://schemas.microsoft.com/office/drawing/2014/main" id="{9A4AF3A4-C602-4619-A925-5CAF869799BB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1" name="body-552">
            <a:extLst>
              <a:ext uri="{FF2B5EF4-FFF2-40B4-BE49-F238E27FC236}">
                <a16:creationId xmlns:a16="http://schemas.microsoft.com/office/drawing/2014/main" id="{9B011F4B-799C-4C8D-B0DC-7D2B967E610F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可操作确认</a:t>
            </a:r>
          </a:p>
        </p:txBody>
      </p:sp>
      <p:sp>
        <p:nvSpPr>
          <p:cNvPr id="12" name="body-553">
            <a:extLst>
              <a:ext uri="{FF2B5EF4-FFF2-40B4-BE49-F238E27FC236}">
                <a16:creationId xmlns:a16="http://schemas.microsoft.com/office/drawing/2014/main" id="{FD56848C-34C0-4AC8-8A0F-311319B14B53}"/>
              </a:ext>
            </a:extLst>
          </p:cNvPr>
          <p:cNvSpPr>
            <a:spLocks noGrp="1"/>
          </p:cNvSpPr>
          <p:nvPr/>
        </p:nvSpPr>
        <p:spPr>
          <a:xfrm>
            <a:off x="3419475" y="3829050"/>
            <a:ext cx="8162925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能否明确何时停下、由谁确认什么？</a:t>
            </a:r>
          </a:p>
        </p:txBody>
      </p:sp>
      <p:sp>
        <p:nvSpPr>
          <p:cNvPr id="13" name="rule-554">
            <a:extLst>
              <a:ext uri="{FF2B5EF4-FFF2-40B4-BE49-F238E27FC236}">
                <a16:creationId xmlns:a16="http://schemas.microsoft.com/office/drawing/2014/main" id="{8AB5ED52-82C4-424C-9B0A-60383C4E9D31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4" name="body-555">
            <a:extLst>
              <a:ext uri="{FF2B5EF4-FFF2-40B4-BE49-F238E27FC236}">
                <a16:creationId xmlns:a16="http://schemas.microsoft.com/office/drawing/2014/main" id="{637F38AD-0C81-4DF7-A56B-4A285A240400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作者决定</a:t>
            </a:r>
          </a:p>
        </p:txBody>
      </p:sp>
      <p:sp>
        <p:nvSpPr>
          <p:cNvPr id="15" name="body-556">
            <a:extLst>
              <a:ext uri="{FF2B5EF4-FFF2-40B4-BE49-F238E27FC236}">
                <a16:creationId xmlns:a16="http://schemas.microsoft.com/office/drawing/2014/main" id="{5C43B9B6-6A1F-41D5-AA2D-464B0D35A053}"/>
              </a:ext>
            </a:extLst>
          </p:cNvPr>
          <p:cNvSpPr>
            <a:spLocks noGrp="1"/>
          </p:cNvSpPr>
          <p:nvPr/>
        </p:nvSpPr>
        <p:spPr>
          <a:xfrm>
            <a:off x="3419475" y="4686300"/>
            <a:ext cx="8162925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记录采纳、修改或拒绝，以及理由。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8CA29-9F57-40B6-82F6-ABCD6C8C8B2D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FB0C4-6676-498D-B9E9-EF238FD2E1C8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body-557">
            <a:extLst>
              <a:ext uri="{FF2B5EF4-FFF2-40B4-BE49-F238E27FC236}">
                <a16:creationId xmlns:a16="http://schemas.microsoft.com/office/drawing/2014/main" id="{68F12C29-F9EC-41E7-8D3F-F19F5146C52B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给一个具体动作留下完整的约束与记录</a:t>
            </a:r>
          </a:p>
        </p:txBody>
      </p:sp>
      <p:sp>
        <p:nvSpPr>
          <p:cNvPr id="5" name="node-558">
            <a:extLst>
              <a:ext uri="{FF2B5EF4-FFF2-40B4-BE49-F238E27FC236}">
                <a16:creationId xmlns:a16="http://schemas.microsoft.com/office/drawing/2014/main" id="{D80CE34C-0DEC-4515-A575-E8F1D6DE9279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风险卡</a:t>
            </a:r>
          </a:p>
        </p:txBody>
      </p:sp>
      <p:sp>
        <p:nvSpPr>
          <p:cNvPr id="6" name="node-559">
            <a:extLst>
              <a:ext uri="{FF2B5EF4-FFF2-40B4-BE49-F238E27FC236}">
                <a16:creationId xmlns:a16="http://schemas.microsoft.com/office/drawing/2014/main" id="{7A791B7C-8F8E-424A-95D2-515E1B7F8CD4}"/>
              </a:ext>
            </a:extLst>
          </p:cNvPr>
          <p:cNvSpPr>
            <a:spLocks noGrp="1"/>
          </p:cNvSpPr>
          <p:nvPr/>
        </p:nvSpPr>
        <p:spPr>
          <a:xfrm>
            <a:off x="3486150" y="27717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权限一行</a:t>
            </a:r>
          </a:p>
        </p:txBody>
      </p:sp>
      <p:sp>
        <p:nvSpPr>
          <p:cNvPr id="7" name="node-560">
            <a:extLst>
              <a:ext uri="{FF2B5EF4-FFF2-40B4-BE49-F238E27FC236}">
                <a16:creationId xmlns:a16="http://schemas.microsoft.com/office/drawing/2014/main" id="{D0B86AFC-633B-43D8-98CD-FC49F2474D33}"/>
              </a:ext>
            </a:extLst>
          </p:cNvPr>
          <p:cNvSpPr>
            <a:spLocks noGrp="1"/>
          </p:cNvSpPr>
          <p:nvPr/>
        </p:nvSpPr>
        <p:spPr>
          <a:xfrm>
            <a:off x="6362700" y="27717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</p:txBody>
      </p:sp>
      <p:sp>
        <p:nvSpPr>
          <p:cNvPr id="8" name="node-561">
            <a:extLst>
              <a:ext uri="{FF2B5EF4-FFF2-40B4-BE49-F238E27FC236}">
                <a16:creationId xmlns:a16="http://schemas.microsoft.com/office/drawing/2014/main" id="{AA415F31-8CC8-4E8C-B6A7-C1100C310750}"/>
              </a:ext>
            </a:extLst>
          </p:cNvPr>
          <p:cNvSpPr>
            <a:spLocks noGrp="1"/>
          </p:cNvSpPr>
          <p:nvPr/>
        </p:nvSpPr>
        <p:spPr>
          <a:xfrm>
            <a:off x="9239250" y="27717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使用记录</a:t>
            </a:r>
          </a:p>
        </p:txBody>
      </p:sp>
      <p:cxnSp>
        <p:nvCxnSpPr>
          <p:cNvPr id="34" name="edge-562"/>
          <p:cNvCxnSpPr>
            <a:stCxn id="5" idx="3"/>
            <a:endCxn id="6" idx="1"/>
          </p:cNvCxnSpPr>
          <p:nvPr/>
        </p:nvCxnSpPr>
        <p:spPr>
          <a:xfrm>
            <a:off x="2933700" y="31337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35" name="edge-563"/>
          <p:cNvCxnSpPr>
            <a:stCxn id="6" idx="3"/>
            <a:endCxn id="7" idx="1"/>
          </p:cNvCxnSpPr>
          <p:nvPr/>
        </p:nvCxnSpPr>
        <p:spPr>
          <a:xfrm>
            <a:off x="5810250" y="31337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36" name="edge-564"/>
          <p:cNvCxnSpPr>
            <a:stCxn id="7" idx="3"/>
            <a:endCxn id="8" idx="1"/>
          </p:cNvCxnSpPr>
          <p:nvPr/>
        </p:nvCxnSpPr>
        <p:spPr>
          <a:xfrm>
            <a:off x="8686800" y="31337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2" name="body-565">
            <a:extLst>
              <a:ext uri="{FF2B5EF4-FFF2-40B4-BE49-F238E27FC236}">
                <a16:creationId xmlns:a16="http://schemas.microsoft.com/office/drawing/2014/main" id="{0E60149F-04E3-472E-BC9A-DD48668CBA8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3241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为什么需要控制？</a:t>
            </a:r>
          </a:p>
        </p:txBody>
      </p:sp>
      <p:sp>
        <p:nvSpPr>
          <p:cNvPr id="13" name="body-566">
            <a:extLst>
              <a:ext uri="{FF2B5EF4-FFF2-40B4-BE49-F238E27FC236}">
                <a16:creationId xmlns:a16="http://schemas.microsoft.com/office/drawing/2014/main" id="{B62A326A-8AFC-4BD1-BB85-97AB1DBB3A1E}"/>
              </a:ext>
            </a:extLst>
          </p:cNvPr>
          <p:cNvSpPr>
            <a:spLocks noGrp="1"/>
          </p:cNvSpPr>
          <p:nvPr/>
        </p:nvSpPr>
        <p:spPr>
          <a:xfrm>
            <a:off x="3486150" y="3905250"/>
            <a:ext cx="23241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什么范围可执行？</a:t>
            </a:r>
          </a:p>
        </p:txBody>
      </p:sp>
      <p:sp>
        <p:nvSpPr>
          <p:cNvPr id="14" name="body-567">
            <a:extLst>
              <a:ext uri="{FF2B5EF4-FFF2-40B4-BE49-F238E27FC236}">
                <a16:creationId xmlns:a16="http://schemas.microsoft.com/office/drawing/2014/main" id="{F4A3BBD5-D1AE-4C5E-A240-3F3A473E0606}"/>
              </a:ext>
            </a:extLst>
          </p:cNvPr>
          <p:cNvSpPr>
            <a:spLocks noGrp="1"/>
          </p:cNvSpPr>
          <p:nvPr/>
        </p:nvSpPr>
        <p:spPr>
          <a:xfrm>
            <a:off x="6362700" y="3905250"/>
            <a:ext cx="23241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每一步检查边界</a:t>
            </a:r>
          </a:p>
        </p:txBody>
      </p:sp>
      <p:sp>
        <p:nvSpPr>
          <p:cNvPr id="15" name="body-568">
            <a:extLst>
              <a:ext uri="{FF2B5EF4-FFF2-40B4-BE49-F238E27FC236}">
                <a16:creationId xmlns:a16="http://schemas.microsoft.com/office/drawing/2014/main" id="{958EBBBC-A522-448F-8CE7-BCB52802B0C5}"/>
              </a:ext>
            </a:extLst>
          </p:cNvPr>
          <p:cNvSpPr>
            <a:spLocks noGrp="1"/>
          </p:cNvSpPr>
          <p:nvPr/>
        </p:nvSpPr>
        <p:spPr>
          <a:xfrm>
            <a:off x="9239250" y="3905250"/>
            <a:ext cx="23241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实际做了什么？</a:t>
            </a:r>
          </a:p>
        </p:txBody>
      </p:sp>
      <p:sp>
        <p:nvSpPr>
          <p:cNvPr id="16" name="body-569">
            <a:extLst>
              <a:ext uri="{FF2B5EF4-FFF2-40B4-BE49-F238E27FC236}">
                <a16:creationId xmlns:a16="http://schemas.microsoft.com/office/drawing/2014/main" id="{BE15A21D-99AA-4326-8ED5-E325C1769022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研究者对材料、决定与最终使用承担责任。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judgment-title">
            <a:extLst>
              <a:ext uri="{FF2B5EF4-FFF2-40B4-BE49-F238E27FC236}">
                <a16:creationId xmlns:a16="http://schemas.microsoft.com/office/drawing/2014/main" id="{F3613387-2FDF-4E8C-81C5-F4DBE803AFC6}"/>
              </a:ext>
            </a:extLst>
          </p:cNvPr>
          <p:cNvSpPr>
            <a:spLocks noGrp="1"/>
          </p:cNvSpPr>
          <p:nvPr/>
        </p:nvSpPr>
        <p:spPr>
          <a:xfrm>
            <a:off x="1028700" y="76200"/>
            <a:ext cx="106870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>
              <a:ext uri="{FF2B5EF4-FFF2-40B4-BE49-F238E27FC236}">
                <a16:creationId xmlns:a16="http://schemas.microsoft.com/office/drawing/2014/main" id="{D245162D-9064-4973-AF52-F952A270E6E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L3 只在已声明的公开来源和网络范围内检索。</a:t>
            </a:r>
          </a:p>
        </p:txBody>
      </p:sp>
      <p:sp>
        <p:nvSpPr>
          <p:cNvPr id="3" name="judgment-body-1">
            <a:extLst>
              <a:ext uri="{FF2B5EF4-FFF2-40B4-BE49-F238E27FC236}">
                <a16:creationId xmlns:a16="http://schemas.microsoft.com/office/drawing/2014/main" id="{1501036E-A9F6-425B-AE0B-C231F04431E3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回写已有项目：权限行、风险卡、一次允许/拒绝检查及日志</a:t>
            </a:r>
          </a:p>
        </p:txBody>
      </p:sp>
      <p:sp>
        <p:nvSpPr>
          <p:cNvPr id="4" name="judgment-body-2">
            <a:extLst>
              <a:ext uri="{FF2B5EF4-FFF2-40B4-BE49-F238E27FC236}">
                <a16:creationId xmlns:a16="http://schemas.microsoft.com/office/drawing/2014/main" id="{44E1D24B-A7F7-4DD1-B34C-0E7A29367EB2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108585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>
              <a:ext uri="{FF2B5EF4-FFF2-40B4-BE49-F238E27FC236}">
                <a16:creationId xmlns:a16="http://schemas.microsoft.com/office/drawing/2014/main" id="{A0E586CC-45DC-4ADE-9072-DF14A2570385}"/>
              </a:ext>
            </a:extLst>
          </p:cNvPr>
          <p:cNvSpPr>
            <a:spLocks noGrp="1"/>
          </p:cNvSpPr>
          <p:nvPr/>
        </p:nvSpPr>
        <p:spPr>
          <a:xfrm>
            <a:off x="666750" y="6276975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>
              <a:ext uri="{FF2B5EF4-FFF2-40B4-BE49-F238E27FC236}">
                <a16:creationId xmlns:a16="http://schemas.microsoft.com/office/drawing/2014/main" id="{7AA0ED79-1550-44F4-B380-55D56F07E212}"/>
              </a:ext>
            </a:extLst>
          </p:cNvPr>
          <p:cNvSpPr>
            <a:spLocks noGrp="1"/>
          </p:cNvSpPr>
          <p:nvPr/>
        </p:nvSpPr>
        <p:spPr>
          <a:xfrm>
            <a:off x="11715750" y="6562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8683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3629</Words>
  <Application>Microsoft Macintosh PowerPoint</Application>
  <DocSecurity>0</DocSecurity>
  <PresentationFormat>Widescreen</PresentationFormat>
  <Paragraphs>927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微软雅黑</vt:lpstr>
      <vt:lpstr>Arial</vt:lpstr>
      <vt:lpstr>Consolas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Yaohui</cp:lastModifiedBy>
  <cp:revision>2</cp:revision>
  <dcterms:created xsi:type="dcterms:W3CDTF">2026-09-16T01:26:54Z</dcterms:created>
  <dcterms:modified xsi:type="dcterms:W3CDTF">2026-10-07T07:00:40Z</dcterms:modified>
</cp:coreProperties>
</file>