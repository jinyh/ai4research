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51befe80126849f3" Type="http://schemas.openxmlformats.org/officeDocument/2006/relationships/officeDocument" Target="ppt/presentation.xml"/><Relationship Id="R7cc19b1869c84db0" Type="http://schemas.openxmlformats.org/officeDocument/2006/relationships/extended-properties" Target="docProps/app.xml"/><Relationship Id="R81fae861a0804676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8830980fe240f1"/>
  </p:sldMasterIdLst>
  <p:notesMasterIdLst>
    <p:notesMasterId xmlns:r="http://schemas.openxmlformats.org/officeDocument/2006/relationships" r:id="Rf3cdda48fc28424f"/>
  </p:notesMasterIdLst>
  <p:sldIdLst>
    <p:sldId xmlns:r="http://schemas.openxmlformats.org/officeDocument/2006/relationships" id="256" r:id="Rf2b3b8839dfb49eb"/>
    <p:sldId xmlns:r="http://schemas.openxmlformats.org/officeDocument/2006/relationships" id="257" r:id="R51eb5871f411426a"/>
    <p:sldId xmlns:r="http://schemas.openxmlformats.org/officeDocument/2006/relationships" id="258" r:id="R6ef488c0d87a4cbc"/>
    <p:sldId xmlns:r="http://schemas.openxmlformats.org/officeDocument/2006/relationships" id="259" r:id="R6f3e53c359ef44ad"/>
    <p:sldId xmlns:r="http://schemas.openxmlformats.org/officeDocument/2006/relationships" id="260" r:id="R6051a0fe5c784277"/>
    <p:sldId xmlns:r="http://schemas.openxmlformats.org/officeDocument/2006/relationships" id="261" r:id="R1b77c52e06e8400d"/>
    <p:sldId xmlns:r="http://schemas.openxmlformats.org/officeDocument/2006/relationships" id="262" r:id="R540681e95fe443f3"/>
    <p:sldId xmlns:r="http://schemas.openxmlformats.org/officeDocument/2006/relationships" id="263" r:id="Recdc4d9bf16c4870"/>
    <p:sldId xmlns:r="http://schemas.openxmlformats.org/officeDocument/2006/relationships" id="264" r:id="R91a681a6647249d2"/>
    <p:sldId xmlns:r="http://schemas.openxmlformats.org/officeDocument/2006/relationships" id="265" r:id="Rfb9be642379b4a6d"/>
    <p:sldId xmlns:r="http://schemas.openxmlformats.org/officeDocument/2006/relationships" id="266" r:id="R5da91e71add5433e"/>
    <p:sldId xmlns:r="http://schemas.openxmlformats.org/officeDocument/2006/relationships" id="268" r:id="R9fea5010248644b9"/>
    <p:sldId xmlns:r="http://schemas.openxmlformats.org/officeDocument/2006/relationships" id="269" r:id="R88fea31754c24446"/>
    <p:sldId xmlns:r="http://schemas.openxmlformats.org/officeDocument/2006/relationships" id="272" r:id="Re4f87da605eb456a"/>
    <p:sldId xmlns:r="http://schemas.openxmlformats.org/officeDocument/2006/relationships" id="274" r:id="R44185beb948c40a9"/>
    <p:sldId xmlns:r="http://schemas.openxmlformats.org/officeDocument/2006/relationships" id="275" r:id="R99a2b84bd37f4e7c"/>
    <p:sldId xmlns:r="http://schemas.openxmlformats.org/officeDocument/2006/relationships" id="277" r:id="R7f4e2b5eecd74de1"/>
    <p:sldId xmlns:r="http://schemas.openxmlformats.org/officeDocument/2006/relationships" id="278" r:id="R317accd3725b4755"/>
    <p:sldId xmlns:r="http://schemas.openxmlformats.org/officeDocument/2006/relationships" id="279" r:id="R962f639b66764ed6"/>
    <p:sldId xmlns:r="http://schemas.openxmlformats.org/officeDocument/2006/relationships" id="280" r:id="R10713b582da34716"/>
    <p:sldId xmlns:r="http://schemas.openxmlformats.org/officeDocument/2006/relationships" id="281" r:id="R04935fdabeb940cb"/>
    <p:sldId xmlns:r="http://schemas.openxmlformats.org/officeDocument/2006/relationships" id="282" r:id="Re189d0d5d9574502"/>
    <p:sldId xmlns:r="http://schemas.openxmlformats.org/officeDocument/2006/relationships" id="283" r:id="Rab3f101d68504ec5"/>
    <p:sldId xmlns:r="http://schemas.openxmlformats.org/officeDocument/2006/relationships" id="284" r:id="Rb43216080170430a"/>
    <p:sldId xmlns:r="http://schemas.openxmlformats.org/officeDocument/2006/relationships" id="285" r:id="Rc337c843dd404c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4935fdabeb940cb" Type="http://schemas.openxmlformats.org/officeDocument/2006/relationships/slide" Target="slides/slide21.xml"/><Relationship Id="R068830980fe240f1" Type="http://schemas.openxmlformats.org/officeDocument/2006/relationships/slideMaster" Target="slideMasters/slideMaster1.xml"/><Relationship Id="R10713b582da34716" Type="http://schemas.openxmlformats.org/officeDocument/2006/relationships/slide" Target="slides/slide20.xml"/><Relationship Id="R114112d106654455" Type="http://schemas.openxmlformats.org/officeDocument/2006/relationships/presProps" Target="presProps.xml"/><Relationship Id="R1b77c52e06e8400d" Type="http://schemas.openxmlformats.org/officeDocument/2006/relationships/slide" Target="slides/slide6.xml"/><Relationship Id="R317accd3725b4755" Type="http://schemas.openxmlformats.org/officeDocument/2006/relationships/slide" Target="slides/slide18.xml"/><Relationship Id="R44185beb948c40a9" Type="http://schemas.openxmlformats.org/officeDocument/2006/relationships/slide" Target="slides/slide15.xml"/><Relationship Id="R51eb5871f411426a" Type="http://schemas.openxmlformats.org/officeDocument/2006/relationships/slide" Target="slides/slide2.xml"/><Relationship Id="R540681e95fe443f3" Type="http://schemas.openxmlformats.org/officeDocument/2006/relationships/slide" Target="slides/slide7.xml"/><Relationship Id="R596df88806334596" Type="http://schemas.openxmlformats.org/officeDocument/2006/relationships/theme" Target="theme/theme1.xml"/><Relationship Id="R5da91e71add5433e" Type="http://schemas.openxmlformats.org/officeDocument/2006/relationships/slide" Target="slides/slide11.xml"/><Relationship Id="R6051a0fe5c784277" Type="http://schemas.openxmlformats.org/officeDocument/2006/relationships/slide" Target="slides/slide5.xml"/><Relationship Id="R6ef488c0d87a4cbc" Type="http://schemas.openxmlformats.org/officeDocument/2006/relationships/slide" Target="slides/slide3.xml"/><Relationship Id="R6f3e53c359ef44ad" Type="http://schemas.openxmlformats.org/officeDocument/2006/relationships/slide" Target="slides/slide4.xml"/><Relationship Id="R7f4e2b5eecd74de1" Type="http://schemas.openxmlformats.org/officeDocument/2006/relationships/slide" Target="slides/slide17.xml"/><Relationship Id="R86881edb8d934f8c" Type="http://schemas.openxmlformats.org/officeDocument/2006/relationships/tableStyles" Target="tableStyles.xml"/><Relationship Id="R88fea31754c24446" Type="http://schemas.openxmlformats.org/officeDocument/2006/relationships/slide" Target="slides/slide13.xml"/><Relationship Id="R91a681a6647249d2" Type="http://schemas.openxmlformats.org/officeDocument/2006/relationships/slide" Target="slides/slide9.xml"/><Relationship Id="R962f639b66764ed6" Type="http://schemas.openxmlformats.org/officeDocument/2006/relationships/slide" Target="slides/slide19.xml"/><Relationship Id="R99a2b84bd37f4e7c" Type="http://schemas.openxmlformats.org/officeDocument/2006/relationships/slide" Target="slides/slide16.xml"/><Relationship Id="R9fea5010248644b9" Type="http://schemas.openxmlformats.org/officeDocument/2006/relationships/slide" Target="slides/slide12.xml"/><Relationship Id="Rab3f101d68504ec5" Type="http://schemas.openxmlformats.org/officeDocument/2006/relationships/slide" Target="slides/slide23.xml"/><Relationship Id="Rb43216080170430a" Type="http://schemas.openxmlformats.org/officeDocument/2006/relationships/slide" Target="slides/slide24.xml"/><Relationship Id="Rc185e9695e74470c" Type="http://schemas.openxmlformats.org/officeDocument/2006/relationships/viewProps" Target="viewProps.xml"/><Relationship Id="Rc337c843dd404cc9" Type="http://schemas.openxmlformats.org/officeDocument/2006/relationships/slide" Target="slides/slide25.xml"/><Relationship Id="Re189d0d5d9574502" Type="http://schemas.openxmlformats.org/officeDocument/2006/relationships/slide" Target="slides/slide22.xml"/><Relationship Id="Re4f87da605eb456a" Type="http://schemas.openxmlformats.org/officeDocument/2006/relationships/slide" Target="slides/slide14.xml"/><Relationship Id="Recdc4d9bf16c4870" Type="http://schemas.openxmlformats.org/officeDocument/2006/relationships/slide" Target="slides/slide8.xml"/><Relationship Id="Rf2b3b8839dfb49eb" Type="http://schemas.openxmlformats.org/officeDocument/2006/relationships/slide" Target="slides/slide1.xml"/><Relationship Id="Rf3cdda48fc28424f" Type="http://schemas.openxmlformats.org/officeDocument/2006/relationships/notesMaster" Target="notesMasters/notesMaster1.xml"/><Relationship Id="Rfb9be642379b4a6d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5343e6ac56954a95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aaf68b0a3484bc7" Type="http://schemas.openxmlformats.org/officeDocument/2006/relationships/notesMaster" Target="../notesMasters/notesMaster1.xml"/><Relationship Id="R79ce6ada3f1f45af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339691cabb874b9c" Type="http://schemas.openxmlformats.org/officeDocument/2006/relationships/slide" Target="../slides/slide2.xml"/><Relationship Id="R7fab4ec77fba4f8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1086e1c376af4b8e" Type="http://schemas.openxmlformats.org/officeDocument/2006/relationships/slide" Target="../slides/slide3.xml"/><Relationship Id="Rdc79e066dc21407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4fde5dfdc13841ba" Type="http://schemas.openxmlformats.org/officeDocument/2006/relationships/slide" Target="../slides/slide4.xml"/><Relationship Id="R66f53ec27e9a40db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7a6f76e544c46d9" Type="http://schemas.openxmlformats.org/officeDocument/2006/relationships/slide" Target="../slides/slide5.xml"/><Relationship Id="R8c762a00319e4ff5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086436360f594a01" Type="http://schemas.openxmlformats.org/officeDocument/2006/relationships/slide" Target="../slides/slide6.xml"/><Relationship Id="Rfd6925d6a1c744fc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008705b5f00b4b93" Type="http://schemas.openxmlformats.org/officeDocument/2006/relationships/slide" Target="../slides/slide7.xml"/><Relationship Id="Ra7927a7873c745a9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86be32f92ed4d2a" Type="http://schemas.openxmlformats.org/officeDocument/2006/relationships/slide" Target="../slides/slide8.xml"/><Relationship Id="R723f3e32cc4c4040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10ac51ad305340a3" Type="http://schemas.openxmlformats.org/officeDocument/2006/relationships/slide" Target="../slides/slide9.xml"/><Relationship Id="Rce7060fe366048e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28411ae9fb394283" Type="http://schemas.openxmlformats.org/officeDocument/2006/relationships/slide" Target="../slides/slide10.xml"/><Relationship Id="R515ca5a4f9a24114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578eb11a11d14567" Type="http://schemas.openxmlformats.org/officeDocument/2006/relationships/notesMaster" Target="../notesMasters/notesMaster1.xml"/><Relationship Id="Rf78850e1f832443c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0f5a2cdf6bca48a9" Type="http://schemas.openxmlformats.org/officeDocument/2006/relationships/slide" Target="../slides/slide12.xml"/><Relationship Id="Rc35e14a7c7dc4644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2349c6b34a254929" Type="http://schemas.openxmlformats.org/officeDocument/2006/relationships/slide" Target="../slides/slide13.xml"/><Relationship Id="R2f371d1b6d22418e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44d9005fdd4b47cf" Type="http://schemas.openxmlformats.org/officeDocument/2006/relationships/slide" Target="../slides/slide14.xml"/><Relationship Id="R4c47a57f780a490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29bf9099956649f7" Type="http://schemas.openxmlformats.org/officeDocument/2006/relationships/notesMaster" Target="../notesMasters/notesMaster1.xml"/><Relationship Id="Rd53b10c615384437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570ac20dd93442e7" Type="http://schemas.openxmlformats.org/officeDocument/2006/relationships/notesMaster" Target="../notesMasters/notesMaster1.xml"/><Relationship Id="R9a41f8d2a5cf44ab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3ecabfb2d94b428e" Type="http://schemas.openxmlformats.org/officeDocument/2006/relationships/notesMaster" Target="../notesMasters/notesMaster1.xml"/><Relationship Id="Rda04001c4bea440a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634b550c74f945e6" Type="http://schemas.openxmlformats.org/officeDocument/2006/relationships/notesMaster" Target="../notesMasters/notesMaster1.xml"/><Relationship Id="R770bb3d2a19b41b9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5f74cbae07f545d3" Type="http://schemas.openxmlformats.org/officeDocument/2006/relationships/slide" Target="../slides/slide19.xml"/><Relationship Id="Rcb27698ac07049ce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ce1c520818244e19" Type="http://schemas.openxmlformats.org/officeDocument/2006/relationships/notesMaster" Target="../notesMasters/notesMaster1.xml"/><Relationship Id="Rf834e362314840c6" Type="http://schemas.openxmlformats.org/officeDocument/2006/relationships/slide" Target="../slides/slide20.xml"/></Relationships>
</file>

<file path=ppt/notesSlides/_rels/notesSlide26.xml.rels><?xml version='1.0' encoding='UTF-8' standalone='yes'?>
<Relationships xmlns="http://schemas.openxmlformats.org/package/2006/relationships"><Relationship Id="R7b181968e1624fb5" Type="http://schemas.openxmlformats.org/officeDocument/2006/relationships/notesMaster" Target="../notesMasters/notesMaster1.xml"/><Relationship Id="Re1e687e42c5e4c4c" Type="http://schemas.openxmlformats.org/officeDocument/2006/relationships/slide" Target="../slides/slide21.xml"/></Relationships>
</file>

<file path=ppt/notesSlides/_rels/notesSlide27.xml.rels><?xml version='1.0' encoding='UTF-8' standalone='yes'?>
<Relationships xmlns="http://schemas.openxmlformats.org/package/2006/relationships"><Relationship Id="R1d7c305d54f04f0e" Type="http://schemas.openxmlformats.org/officeDocument/2006/relationships/slide" Target="../slides/slide22.xml"/><Relationship Id="R73c7393457134b18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511d32bbf6b24b64" Type="http://schemas.openxmlformats.org/officeDocument/2006/relationships/slide" Target="../slides/slide23.xml"/><Relationship Id="Rd89483ff992a4aee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caaa426fb6cb40bb" Type="http://schemas.openxmlformats.org/officeDocument/2006/relationships/notesMaster" Target="../notesMasters/notesMaster1.xml"/><Relationship Id="Rd7005ed632864880" Type="http://schemas.openxmlformats.org/officeDocument/2006/relationships/slide" Target="../slides/slide24.xml"/></Relationships>
</file>

<file path=ppt/notesSlides/_rels/notesSlide30.xml.rels><?xml version='1.0' encoding='UTF-8' standalone='yes'?>
<Relationships xmlns="http://schemas.openxmlformats.org/package/2006/relationships"><Relationship Id="R3ac6350ab4744cfb" Type="http://schemas.openxmlformats.org/officeDocument/2006/relationships/slide" Target="../slides/slide25.xml"/><Relationship Id="Rb9d258eaf629424a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本讲聚焦“科研伦理、Agent 权限、研究工件与追踪”。封面只保留正式课名，课堂问题从下一页展开。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请学生选出自己最不确定的一项；本课为四个问题建立可执行结构。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lessons/lesson-01/slides.md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先投票，不先给标准答案；追问材料身份、授权、平台条款和替代方案。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classroom case; not formal peer review.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请学生指出 P03 最直接涉及哪两项价值。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https://doi.org/10.17226/21896 — NASEM, Fostering Integrity in Research, Chapter 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用三项要求重新判断 P03；授课前复核学校规范是否修订。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https://soo.sjtu.edu.cn/upload/file/20250217/20250217162021.pdf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让学生把‘用 AI 分析数据’改写成一个可判断的具体动作。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 P03 口头填写五个字段；控制必须改变实际边界。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把‘注意隐私后可以’改成两个可检查条件。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当前信息不足以授权全文上传；个人账户设置不等于项目处理授权。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- https://www.nature.com/nature-portfolio/editorial-policies/ai</a:t>
            </a:r>
          </a:p>
          <a:p xmlns:a="http://schemas.openxmlformats.org/drawingml/2006/main">
            <a:r>
              <a:t>- https://www.icmje.org/recommendations/browse/artificial-intelligence/ai-use-by-reviewers.html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区分测试工程行为与支撑经验结论；追问可用于区分的文件名或元数据。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https://www.cas.cn/sygz/202409/t20240910_5031186.shtml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结果出现后修改指标并非一律错误，但必须保留旧协议、说明原因并处理选择性报告风险。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先按动作定义边界，再沿四个维度逐项检查；平台菜单只是执行载体。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lessons/lesson-02/handout.md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让学生删去一个当前任务不需要的权限；敏感材料不得默认外发。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https://web.mit.edu/Saltzer/www/publications/protection/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矩阵定义长期边界；人工在环只在改变研究判断、证据状态或外部世界的地方暂停。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目标不是选正确答案，而是逐项检查输出、确认点、禁止事项和核验方法。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configurations authored for classroom comparison.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文件存在不等于主张成熟；状态描述当前可用性，不是完成百分比。 状态迁移六问：谁发起？谁复核？新增了什么证据？解决了什么问题？仍有什么边界？下一步用于什么？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没有来源、依据和后续用途，状态容易变成装饰标签。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Agent 的完成报告也是待检查信息；实际文件、命令结果和外部状态优先。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现场确认没有真实材料、私人路径和密钥；演示不访问网络。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task authored for this lesson.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运行后明确采用与拒绝，不要快速跳到写入；保留原始输出。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lessons/lesson-02/teaching-plan.md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逐项检查是否只改三个目标文件、是否出现未经批准的状态迁移、日志能否复原判断。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Fictional demonstration writeback and Git inspection command.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本页停留覆盖个人实践全程（两段：第一段约 10 分钟，教师中点点评约 5 分钟，第二段约 10 分钟）。课堂最低产出包含权限矩阵、确认与禁止、风险卡、AI 使用记录和至少一个早期工件追踪；四项追踪在第 3 课前补齐。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lessons/lesson-02/classroom-pack.md</a:t>
            </a:r>
          </a:p>
          <a:p xmlns:a="http://schemas.openxmlformats.org/drawingml/2006/main">
            <a:r>
              <a:t>- course/starter-template.md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不交换真实敏感内容，不共同修改项目；高风险外发应停止并按机构流程处理。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Formative peer feedback; not separately graded and not a group submission.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回收本讲核心概念及其关系。本页不新增任务；请学生用边界句检查自己的项目工件。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/Users/bright/Projects/courses/graduate/course/syllabus.md</a:t>
            </a:r>
          </a:p>
          <a:p xmlns:a="http://schemas.openxmlformats.org/drawingml/2006/main">
            <a:r>
              <a:t>- /Users/bright/Projects/courses/graduate/lessons/lesson-02/handout.md</a:t>
            </a:r>
          </a:p>
          <a:p xmlns:a="http://schemas.openxmlformats.org/drawingml/2006/main">
            <a:r>
              <a:t>- /Users/bright/Projects/courses/graduate/lessons/lesson-02/slides.md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明确形成性任务与正式提交的区别；第 3 课联网检索会带来新来源、新条款和新记录。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course/reading-list.md</a:t>
            </a:r>
          </a:p>
          <a:p xmlns:a="http://schemas.openxmlformats.org/drawingml/2006/main">
            <a:r>
              <a:t>- course/assignments.md</a:t>
            </a:r>
          </a:p>
          <a:p xmlns:a="http://schemas.openxmlformats.org/drawingml/2006/main">
            <a:r>
              <a:t>- course/syllabus.md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2019aea01fd94a22" Type="http://schemas.openxmlformats.org/officeDocument/2006/relationships/image" Target="../media/image2.png"/><Relationship Id="R3ee8d40cca9d4c8c" Type="http://schemas.openxmlformats.org/officeDocument/2006/relationships/slideMaster" Target="../slideMasters/slideMaster1.xml"/><Relationship Id="R481bf945937d445b" Type="http://schemas.openxmlformats.org/officeDocument/2006/relationships/image" Target="../media/image.png"/><Relationship Id="R583006c0760c40e6" Type="http://schemas.openxmlformats.org/officeDocument/2006/relationships/image" Target="../media/image4.png"/><Relationship Id="Rc6fb71d5348444e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d7fc279717324174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3497b6c19a5b4fe4" Type="http://schemas.openxmlformats.org/officeDocument/2006/relationships/image" Target="../media/image2.png"/><Relationship Id="R4ab30724bf104746" Type="http://schemas.openxmlformats.org/officeDocument/2006/relationships/slideMaster" Target="../slideMasters/slideMaster1.xml"/><Relationship Id="R8cec242a94fa43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167f5a931e094484" Type="http://schemas.openxmlformats.org/officeDocument/2006/relationships/image" Target="../media/image3.png"/><Relationship Id="Rb57dd853fe314e50" Type="http://schemas.openxmlformats.org/officeDocument/2006/relationships/image" Target="../media/image.png"/><Relationship Id="Rfd8e23613f6e4dcb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bf945937d445b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19aea01fd94a22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b71d5348444e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3006c0760c40e6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97b6c19a5b4fe4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ec242a94fa43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7dd853fe314e50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7f5a931e094484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<?xml version='1.0' encoding='UTF-8' standalone='yes'?>
<Relationships xmlns="http://schemas.openxmlformats.org/package/2006/relationships"><Relationship Id="R8140065edc274286" Type="http://schemas.openxmlformats.org/officeDocument/2006/relationships/slideLayout" Target="../slideLayouts/slideLayout4.xml"/><Relationship Id="R8529098853b546de" Type="http://schemas.openxmlformats.org/officeDocument/2006/relationships/slideLayout" Target="../slideLayouts/slideLayout3.xml"/><Relationship Id="Rc156b4cbe8fc4638" Type="http://schemas.openxmlformats.org/officeDocument/2006/relationships/slideLayout" Target="../slideLayouts/slideLayout1.xml"/><Relationship Id="Rdd9d5b3e9ecc4113" Type="http://schemas.openxmlformats.org/officeDocument/2006/relationships/slideLayout" Target="../slideLayouts/slideLayout2.xml"/><Relationship Id="Re35ce7a482274295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156b4cbe8fc4638"/>
    <p:sldLayoutId xmlns:r="http://schemas.openxmlformats.org/officeDocument/2006/relationships" id="2147483650" r:id="Rdd9d5b3e9ecc4113"/>
    <p:sldLayoutId xmlns:r="http://schemas.openxmlformats.org/officeDocument/2006/relationships" id="2147483651" r:id="R8529098853b546de"/>
    <p:sldLayoutId xmlns:r="http://schemas.openxmlformats.org/officeDocument/2006/relationships" id="2147483652" r:id="R8140065edc27428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7a47e1b5e6f40a4" Type="http://schemas.openxmlformats.org/officeDocument/2006/relationships/notesSlide" Target="../notesSlides/notesSlide1.xml"/><Relationship Id="Refd05b2a54a14e9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3365d1cf96734c57" Type="http://schemas.openxmlformats.org/officeDocument/2006/relationships/slideLayout" Target="../slideLayouts/slideLayout3.xml"/><Relationship Id="Ra7116bc3821c407e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08936fcf2c64a85" Type="http://schemas.openxmlformats.org/officeDocument/2006/relationships/slideLayout" Target="../slideLayouts/slideLayout3.xml"/><Relationship Id="Rb7f973d6ee164b7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add7838de2fc41e4" Type="http://schemas.openxmlformats.org/officeDocument/2006/relationships/slideLayout" Target="../slideLayouts/slideLayout3.xml"/><Relationship Id="Redb45793354448c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37ead58975614ae4" Type="http://schemas.openxmlformats.org/officeDocument/2006/relationships/slideLayout" Target="../slideLayouts/slideLayout3.xml"/><Relationship Id="Re2a8f0d28c7b4f41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8b006cf947a4268" Type="http://schemas.openxmlformats.org/officeDocument/2006/relationships/notesSlide" Target="../notesSlides/notesSlide6.xml"/><Relationship Id="R7810f79554d04be7" Type="http://schemas.openxmlformats.org/officeDocument/2006/relationships/slideLayout" Target="../slideLayouts/slideLayout3.xml"/></Relationships>
</file>

<file path=ppt/slides/_rels/slide7.xml.rels><?xml version='1.0' encoding='UTF-8' standalone='yes'?>
<Relationships xmlns="http://schemas.openxmlformats.org/package/2006/relationships"><Relationship Id="R5913f1c0469e49e0" Type="http://schemas.openxmlformats.org/officeDocument/2006/relationships/notesSlide" Target="../notesSlides/notesSlide7.xml"/><Relationship Id="R88266afea4b5429d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38333cdb55e14303" Type="http://schemas.openxmlformats.org/officeDocument/2006/relationships/notesSlide" Target="../notesSlides/notesSlide8.xml"/><Relationship Id="R5e22e4ba386a4e4a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49ac6e7b3ddc44a0" Type="http://schemas.openxmlformats.org/officeDocument/2006/relationships/slideLayout" Target="../slideLayouts/slideLayout3.xml"/><Relationship Id="R8ddb8e3c033544fb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0372abc290d94776" Type="http://schemas.openxmlformats.org/officeDocument/2006/relationships/notesSlide" Target="../notesSlides/notesSlide10.xml"/><Relationship Id="R19bdea34d1c749c4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6432589dc7044363" Type="http://schemas.openxmlformats.org/officeDocument/2006/relationships/notesSlide" Target="../notesSlides/notesSlide11.xml"/><Relationship Id="Ree864dcf3dfe4429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4984508e63ac43f8" Type="http://schemas.openxmlformats.org/officeDocument/2006/relationships/notesSlide" Target="../notesSlides/notesSlide13.xml"/><Relationship Id="R5c1641c872d44f8c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6e6ab4bb718541f3" Type="http://schemas.openxmlformats.org/officeDocument/2006/relationships/notesSlide" Target="../notesSlides/notesSlide14.xml"/><Relationship Id="Rebcb46e82d90453e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ad987bc14d7b44cc" Type="http://schemas.openxmlformats.org/officeDocument/2006/relationships/notesSlide" Target="../notesSlides/notesSlide17.xml"/><Relationship Id="Rb007fb5aaffb44de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514d72e7751d4d70" Type="http://schemas.openxmlformats.org/officeDocument/2006/relationships/slideLayout" Target="../slideLayouts/slideLayout3.xml"/><Relationship Id="R7032d2a0753c430e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66f50c3cb1a3422d" Type="http://schemas.openxmlformats.org/officeDocument/2006/relationships/notesSlide" Target="../notesSlides/notesSlide20.xml"/><Relationship Id="Ra3c4e019942d47c7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83d86f80aa8c4da9" Type="http://schemas.openxmlformats.org/officeDocument/2006/relationships/slideLayout" Target="../slideLayouts/slideLayout3.xml"/><Relationship Id="Rcf9da530fa41404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763a57d22c7446e6" Type="http://schemas.openxmlformats.org/officeDocument/2006/relationships/slideLayout" Target="../slideLayouts/slideLayout3.xml"/><Relationship Id="Rd893fadf8ac74a9d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148774743e3f4253" Type="http://schemas.openxmlformats.org/officeDocument/2006/relationships/slideLayout" Target="../slideLayouts/slideLayout3.xml"/><Relationship Id="Refb2f4feac6d436c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8a59c1ea7293411c" Type="http://schemas.openxmlformats.org/officeDocument/2006/relationships/slideLayout" Target="../slideLayouts/slideLayout3.xml"/><Relationship Id="Rf5b1fe1ebfd3423e" Type="http://schemas.openxmlformats.org/officeDocument/2006/relationships/notesSlide" Target="../notesSlides/notesSlide25.xml"/></Relationships>
</file>

<file path=ppt/slides/_rels/slide21.xml.rels><?xml version='1.0' encoding='UTF-8' standalone='yes'?>
<Relationships xmlns="http://schemas.openxmlformats.org/package/2006/relationships"><Relationship Id="Rc58b06e92db04924" Type="http://schemas.openxmlformats.org/officeDocument/2006/relationships/notesSlide" Target="../notesSlides/notesSlide26.xml"/><Relationship Id="Rdb75bfeb9a2f41c2" Type="http://schemas.openxmlformats.org/officeDocument/2006/relationships/slideLayout" Target="../slideLayouts/slideLayout3.xml"/></Relationships>
</file>

<file path=ppt/slides/_rels/slide22.xml.rels><?xml version='1.0' encoding='UTF-8' standalone='yes'?>
<Relationships xmlns="http://schemas.openxmlformats.org/package/2006/relationships"><Relationship Id="R40b9effea8fa4f81" Type="http://schemas.openxmlformats.org/officeDocument/2006/relationships/slideLayout" Target="../slideLayouts/slideLayout3.xml"/><Relationship Id="R6ec80a796b0d49f3" Type="http://schemas.openxmlformats.org/officeDocument/2006/relationships/notesSlide" Target="../notesSlides/notesSlide27.xml"/></Relationships>
</file>

<file path=ppt/slides/_rels/slide23.xml.rels><?xml version='1.0' encoding='UTF-8' standalone='yes'?>
<Relationships xmlns="http://schemas.openxmlformats.org/package/2006/relationships"><Relationship Id="R7dac5c3e7cce4807" Type="http://schemas.openxmlformats.org/officeDocument/2006/relationships/notesSlide" Target="../notesSlides/notesSlide28.xml"/><Relationship Id="Rff79956e79924eea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7af0ca3879034db9" Type="http://schemas.openxmlformats.org/officeDocument/2006/relationships/notesSlide" Target="../notesSlides/notesSlide29.xml"/><Relationship Id="Ra026d09e6c564e4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32c37e7de3054587" Type="http://schemas.openxmlformats.org/officeDocument/2006/relationships/slideLayout" Target="../slideLayouts/slideLayout3.xml"/><Relationship Id="Rba5b646895494b82" Type="http://schemas.openxmlformats.org/officeDocument/2006/relationships/notesSlide" Target="../notesSlides/notesSlide30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524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</a:pPr>
            <a:r>
              <a:rPr sz="31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第2讲 科研伦理、Agent 权限、研究工件与追踪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第一课的受限交互仍留下四个问题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p02-center">
            <a:extLst xmlns:a="http://schemas.openxmlformats.org/drawingml/2006/main">
              <a:ext uri="{FF2B5EF4-FFF2-40B4-BE49-F238E27FC236}">
                <a16:creationId xmlns:a16="http://schemas.microsoft.com/office/drawing/2014/main" id="{D7E829C3-87E8-46ED-A415-7558808D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9850"/>
            <a:ext cx="46863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FFFFFF"/>
                </a:solidFill>
              </a:defRPr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 → 审核 → 写回 → 记录</a:t>
            </a:r>
          </a:p>
        </p:txBody>
      </p:sp>
      <p:sp>
        <p:nvSpPr>
          <p:cNvPr id="7" name="p02-q-0">
            <a:extLst xmlns:a="http://schemas.openxmlformats.org/drawingml/2006/main">
              <a:ext uri="{FF2B5EF4-FFF2-40B4-BE49-F238E27FC236}">
                <a16:creationId xmlns:a16="http://schemas.microsoft.com/office/drawing/2014/main" id="{C94EDA83-C5B0-4F83-8D9A-F9E1F42A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什么材料可以进入 Context？</a:t>
            </a:r>
          </a:p>
        </p:txBody>
      </p:sp>
      <p:sp>
        <p:nvSpPr>
          <p:cNvPr id="8" name="p02-q-1">
            <a:extLst xmlns:a="http://schemas.openxmlformats.org/drawingml/2006/main">
              <a:ext uri="{FF2B5EF4-FFF2-40B4-BE49-F238E27FC236}">
                <a16:creationId xmlns:a16="http://schemas.microsoft.com/office/drawing/2014/main" id="{394B48BB-B499-4BA2-A42E-80D72B2D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2573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哪些动作需要人工确认？</a:t>
            </a:r>
          </a:p>
        </p:txBody>
      </p:sp>
      <p:sp>
        <p:nvSpPr>
          <p:cNvPr id="9" name="p02-q-2">
            <a:extLst xmlns:a="http://schemas.openxmlformats.org/drawingml/2006/main">
              <a:ext uri="{FF2B5EF4-FFF2-40B4-BE49-F238E27FC236}">
                <a16:creationId xmlns:a16="http://schemas.microsoft.com/office/drawing/2014/main" id="{1A6FC9D2-192D-4B95-8A03-645A656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63746"/>
                </a:solidFill>
              </a:defRPr>
            </a:pPr>
            <a:r>
              <a:rPr sz="18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谁能改变工件状态？</a:t>
            </a:r>
          </a:p>
        </p:txBody>
      </p:sp>
      <p:sp>
        <p:nvSpPr>
          <p:cNvPr id="10" name="p02-q-3">
            <a:extLst xmlns:a="http://schemas.openxmlformats.org/drawingml/2006/main">
              <a:ext uri="{FF2B5EF4-FFF2-40B4-BE49-F238E27FC236}">
                <a16:creationId xmlns:a16="http://schemas.microsoft.com/office/drawing/2014/main" id="{008916BF-EFF1-4B0E-AB2F-ABB8DC19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29100"/>
            <a:ext cx="36957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怎样证明实际发生了什么？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62000" y="5943600"/>
            <a:ext cx="106680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4D78"/>
                </a:solidFill>
              </a:rPr>
              <a:t>原则 → 风险判断 → 权限 → 人工确认 → 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案例：可以把未公开合作稿交给外部模型吗？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p03-fiction">
            <a:extLst xmlns:a="http://schemas.openxmlformats.org/drawingml/2006/main">
              <a:ext uri="{FF2B5EF4-FFF2-40B4-BE49-F238E27FC236}">
                <a16:creationId xmlns:a16="http://schemas.microsoft.com/office/drawing/2014/main" id="{E1A3973A-4D11-493F-B7BF-4A61B1F5A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67684"/>
                </a:solidFill>
              </a:defRPr>
            </a:pPr>
            <a:r>
              <a:rPr sz="14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虚构教学情境｜不承担实证结论</a:t>
            </a:r>
          </a:p>
        </p:txBody>
      </p:sp>
      <p:sp>
        <p:nvSpPr>
          <p:cNvPr id="7" name="p03-case">
            <a:extLst xmlns:a="http://schemas.openxmlformats.org/drawingml/2006/main">
              <a:ext uri="{FF2B5EF4-FFF2-40B4-BE49-F238E27FC236}">
                <a16:creationId xmlns:a16="http://schemas.microsoft.com/office/drawing/2014/main" id="{782E38E6-BE28-40A2-B6F4-D4067A59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66850"/>
            <a:ext cx="6153150" cy="2895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[未公开合作稿 v3.docx] 作者：你 + 两位合作者｜状态：未投稿，含未公开实验与数据｜请求动作：上传全文到个人订阅的外部模型，生成模拟审稿意见</a:t>
            </a:r>
          </a:p>
        </p:txBody>
      </p:sp>
      <p:sp>
        <p:nvSpPr>
          <p:cNvPr id="8" name="p03-choice-0">
            <a:extLst xmlns:a="http://schemas.openxmlformats.org/drawingml/2006/main">
              <a:ext uri="{FF2B5EF4-FFF2-40B4-BE49-F238E27FC236}">
                <a16:creationId xmlns:a16="http://schemas.microsoft.com/office/drawing/2014/main" id="{50B70191-AF28-48A8-B25F-7C421DC4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4097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9" name="p03-choice-1">
            <a:extLst xmlns:a="http://schemas.openxmlformats.org/drawingml/2006/main">
              <a:ext uri="{FF2B5EF4-FFF2-40B4-BE49-F238E27FC236}">
                <a16:creationId xmlns:a16="http://schemas.microsoft.com/office/drawing/2014/main" id="{8E7CC496-B3D5-4B8D-AF68-7DEB733C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60985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A86C12"/>
                </a:solidFill>
              </a:defRPr>
            </a:pPr>
            <a:r>
              <a:rPr sz="21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10" name="p03-choice-2">
            <a:extLst xmlns:a="http://schemas.openxmlformats.org/drawingml/2006/main">
              <a:ext uri="{FF2B5EF4-FFF2-40B4-BE49-F238E27FC236}">
                <a16:creationId xmlns:a16="http://schemas.microsoft.com/office/drawing/2014/main" id="{D1A194D5-B20A-4C2D-AFBA-A81DA984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810000"/>
            <a:ext cx="33718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3-action">
            <a:extLst xmlns:a="http://schemas.openxmlformats.org/drawingml/2006/main">
              <a:ext uri="{FF2B5EF4-FFF2-40B4-BE49-F238E27FC236}">
                <a16:creationId xmlns:a16="http://schemas.microsoft.com/office/drawing/2014/main" id="{EFBE04C2-0CFC-4B04-97B3-79350E196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14900"/>
            <a:ext cx="9258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个人投票后，两人交换一个决定性理由。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科研诚信要求的不只是“不造假”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p04-en-0">
            <a:extLst xmlns:a="http://schemas.openxmlformats.org/drawingml/2006/main">
              <a:ext uri="{FF2B5EF4-FFF2-40B4-BE49-F238E27FC236}">
                <a16:creationId xmlns:a16="http://schemas.microsoft.com/office/drawing/2014/main" id="{DD9FE4A1-CB45-44C1-A22A-70C9F5D9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Objectivity</a:t>
            </a:r>
          </a:p>
        </p:txBody>
      </p:sp>
      <p:sp>
        <p:nvSpPr>
          <p:cNvPr id="7" name="p04-zh-0">
            <a:extLst xmlns:a="http://schemas.openxmlformats.org/drawingml/2006/main">
              <a:ext uri="{FF2B5EF4-FFF2-40B4-BE49-F238E27FC236}">
                <a16:creationId xmlns:a16="http://schemas.microsoft.com/office/drawing/2014/main" id="{7B836E36-7D17-4654-B037-4B5806C7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客观</a:t>
            </a:r>
          </a:p>
        </p:txBody>
      </p:sp>
      <p:sp>
        <p:nvSpPr>
          <p:cNvPr id="8" name="p04-en-1">
            <a:extLst xmlns:a="http://schemas.openxmlformats.org/drawingml/2006/main">
              <a:ext uri="{FF2B5EF4-FFF2-40B4-BE49-F238E27FC236}">
                <a16:creationId xmlns:a16="http://schemas.microsoft.com/office/drawing/2014/main" id="{821EBD08-E853-4A6E-A0F3-1353FB6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Honesty</a:t>
            </a:r>
          </a:p>
        </p:txBody>
      </p:sp>
      <p:sp>
        <p:nvSpPr>
          <p:cNvPr id="9" name="p04-zh-1">
            <a:extLst xmlns:a="http://schemas.openxmlformats.org/drawingml/2006/main">
              <a:ext uri="{FF2B5EF4-FFF2-40B4-BE49-F238E27FC236}">
                <a16:creationId xmlns:a16="http://schemas.microsoft.com/office/drawing/2014/main" id="{682E88CB-9C8C-4EB8-82D7-A22542DCC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诚实</a:t>
            </a:r>
          </a:p>
        </p:txBody>
      </p:sp>
      <p:sp>
        <p:nvSpPr>
          <p:cNvPr id="10" name="p04-en-2">
            <a:extLst xmlns:a="http://schemas.openxmlformats.org/drawingml/2006/main">
              <a:ext uri="{FF2B5EF4-FFF2-40B4-BE49-F238E27FC236}">
                <a16:creationId xmlns:a16="http://schemas.microsoft.com/office/drawing/2014/main" id="{A0B8A388-B89A-44C3-8941-3946388B5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3525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Openness</a:t>
            </a:r>
          </a:p>
        </p:txBody>
      </p:sp>
      <p:sp>
        <p:nvSpPr>
          <p:cNvPr id="11" name="p04-zh-2">
            <a:extLst xmlns:a="http://schemas.openxmlformats.org/drawingml/2006/main">
              <a:ext uri="{FF2B5EF4-FFF2-40B4-BE49-F238E27FC236}">
                <a16:creationId xmlns:a16="http://schemas.microsoft.com/office/drawing/2014/main" id="{B34480CB-9EB6-48FB-9D43-0CA08540A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038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开放</a:t>
            </a:r>
          </a:p>
        </p:txBody>
      </p:sp>
      <p:sp>
        <p:nvSpPr>
          <p:cNvPr id="12" name="p04-en-3">
            <a:extLst xmlns:a="http://schemas.openxmlformats.org/drawingml/2006/main">
              <a:ext uri="{FF2B5EF4-FFF2-40B4-BE49-F238E27FC236}">
                <a16:creationId xmlns:a16="http://schemas.microsoft.com/office/drawing/2014/main" id="{1B7A5F2B-FD5B-41BB-B71A-B085AB25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Fairness</a:t>
            </a:r>
          </a:p>
        </p:txBody>
      </p:sp>
      <p:sp>
        <p:nvSpPr>
          <p:cNvPr id="13" name="p04-zh-3">
            <a:extLst xmlns:a="http://schemas.openxmlformats.org/drawingml/2006/main">
              <a:ext uri="{FF2B5EF4-FFF2-40B4-BE49-F238E27FC236}">
                <a16:creationId xmlns:a16="http://schemas.microsoft.com/office/drawing/2014/main" id="{77379DD1-78F1-4305-9831-B6FDAC0E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公平</a:t>
            </a:r>
          </a:p>
        </p:txBody>
      </p:sp>
      <p:sp>
        <p:nvSpPr>
          <p:cNvPr id="14" name="p04-en-4">
            <a:extLst xmlns:a="http://schemas.openxmlformats.org/drawingml/2006/main">
              <a:ext uri="{FF2B5EF4-FFF2-40B4-BE49-F238E27FC236}">
                <a16:creationId xmlns:a16="http://schemas.microsoft.com/office/drawing/2014/main" id="{D2BD8792-380C-4D91-9463-85A1DDC83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Accountability</a:t>
            </a:r>
          </a:p>
        </p:txBody>
      </p:sp>
      <p:sp>
        <p:nvSpPr>
          <p:cNvPr id="15" name="p04-zh-4">
            <a:extLst xmlns:a="http://schemas.openxmlformats.org/drawingml/2006/main">
              <a:ext uri="{FF2B5EF4-FFF2-40B4-BE49-F238E27FC236}">
                <a16:creationId xmlns:a16="http://schemas.microsoft.com/office/drawing/2014/main" id="{10637977-A6C8-4D6F-9F28-33743089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问责</a:t>
            </a:r>
          </a:p>
        </p:txBody>
      </p:sp>
      <p:sp>
        <p:nvSpPr>
          <p:cNvPr id="16" name="p04-en-5">
            <a:extLst xmlns:a="http://schemas.openxmlformats.org/drawingml/2006/main">
              <a:ext uri="{FF2B5EF4-FFF2-40B4-BE49-F238E27FC236}">
                <a16:creationId xmlns:a16="http://schemas.microsoft.com/office/drawing/2014/main" id="{CF23D1CB-57C8-461E-8959-52DADB42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0670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Stewardship</a:t>
            </a:r>
          </a:p>
        </p:txBody>
      </p:sp>
      <p:sp>
        <p:nvSpPr>
          <p:cNvPr id="17" name="p04-zh-5">
            <a:extLst xmlns:a="http://schemas.openxmlformats.org/drawingml/2006/main">
              <a:ext uri="{FF2B5EF4-FFF2-40B4-BE49-F238E27FC236}">
                <a16:creationId xmlns:a16="http://schemas.microsoft.com/office/drawing/2014/main" id="{C9B970EE-6031-4371-A29B-DD046ADF9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7528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守护责任</a:t>
            </a:r>
          </a:p>
        </p:txBody>
      </p:sp>
      <p:sp>
        <p:nvSpPr>
          <p:cNvPr id="18" name="p04-bottom">
            <a:extLst xmlns:a="http://schemas.openxmlformats.org/drawingml/2006/main">
              <a:ext uri="{FF2B5EF4-FFF2-40B4-BE49-F238E27FC236}">
                <a16:creationId xmlns:a16="http://schemas.microsoft.com/office/drawing/2014/main" id="{1119807A-9BD7-4A23-8CB1-76F88401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857750"/>
            <a:ext cx="781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研究诚信贯穿每一步，而不是结果出来后的声明。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规范可以归结为核验、披露和保护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p05-a-title">
            <a:extLst xmlns:a="http://schemas.openxmlformats.org/drawingml/2006/main">
              <a:ext uri="{FF2B5EF4-FFF2-40B4-BE49-F238E27FC236}">
                <a16:creationId xmlns:a16="http://schemas.microsoft.com/office/drawing/2014/main" id="{3027DB17-6EB7-4B82-83DF-5C2D86C9D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F638A"/>
                </a:solidFill>
              </a:defRPr>
            </a:pPr>
            <a:r>
              <a:rPr sz="180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核验</a:t>
            </a:r>
          </a:p>
        </p:txBody>
      </p:sp>
      <p:sp>
        <p:nvSpPr>
          <p:cNvPr id="7" name="p05-a-body">
            <a:extLst xmlns:a="http://schemas.openxmlformats.org/drawingml/2006/main">
              <a:ext uri="{FF2B5EF4-FFF2-40B4-BE49-F238E27FC236}">
                <a16:creationId xmlns:a16="http://schemas.microsoft.com/office/drawing/2014/main" id="{3A36F529-C1A9-4B9C-8290-FF8DA540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生成内容不能未经核实直接使用</a:t>
            </a:r>
          </a:p>
        </p:txBody>
      </p:sp>
      <p:sp>
        <p:nvSpPr>
          <p:cNvPr id="8" name="p05-b-title">
            <a:extLst xmlns:a="http://schemas.openxmlformats.org/drawingml/2006/main">
              <a:ext uri="{FF2B5EF4-FFF2-40B4-BE49-F238E27FC236}">
                <a16:creationId xmlns:a16="http://schemas.microsoft.com/office/drawing/2014/main" id="{529A6BA4-6DE5-4973-AE69-3837D212C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A86C12"/>
                </a:solidFill>
              </a:defRPr>
            </a:pPr>
            <a:r>
              <a:rPr sz="18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披露</a:t>
            </a:r>
          </a:p>
        </p:txBody>
      </p:sp>
      <p:sp>
        <p:nvSpPr>
          <p:cNvPr id="9" name="p05-b-body">
            <a:extLst xmlns:a="http://schemas.openxmlformats.org/drawingml/2006/main">
              <a:ext uri="{FF2B5EF4-FFF2-40B4-BE49-F238E27FC236}">
                <a16:creationId xmlns:a16="http://schemas.microsoft.com/office/drawing/2014/main" id="{57EF0C8B-05BE-4A84-8D0D-6BBD5F7F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工具、版本、日期和过程如实记录</a:t>
            </a:r>
          </a:p>
        </p:txBody>
      </p:sp>
      <p:sp>
        <p:nvSpPr>
          <p:cNvPr id="10" name="p05-c-title">
            <a:extLst xmlns:a="http://schemas.openxmlformats.org/drawingml/2006/main">
              <a:ext uri="{FF2B5EF4-FFF2-40B4-BE49-F238E27FC236}">
                <a16:creationId xmlns:a16="http://schemas.microsoft.com/office/drawing/2014/main" id="{2B92B883-7F08-431B-8994-FE7657B9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428750"/>
            <a:ext cx="3276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保护</a:t>
            </a:r>
          </a:p>
        </p:txBody>
      </p:sp>
      <p:sp>
        <p:nvSpPr>
          <p:cNvPr id="11" name="p05-c-body">
            <a:extLst xmlns:a="http://schemas.openxmlformats.org/drawingml/2006/main">
              <a:ext uri="{FF2B5EF4-FFF2-40B4-BE49-F238E27FC236}">
                <a16:creationId xmlns:a16="http://schemas.microsoft.com/office/drawing/2014/main" id="{ECBAA8C4-233F-4DA7-AB40-E31D44D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943100"/>
            <a:ext cx="32766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评审、隐私、数据和知识产权不因便利而泄露</a:t>
            </a:r>
          </a:p>
        </p:txBody>
      </p:sp>
      <p:sp>
        <p:nvSpPr>
          <p:cNvPr id="12" name="p05-map">
            <a:extLst xmlns:a="http://schemas.openxmlformats.org/drawingml/2006/main">
              <a:ext uri="{FF2B5EF4-FFF2-40B4-BE49-F238E27FC236}">
                <a16:creationId xmlns:a16="http://schemas.microsoft.com/office/drawing/2014/main" id="{D1EFDFAB-5A95-4ECC-9960-0BE3DFD1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76750"/>
            <a:ext cx="9982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校级四分类 → 任务级三档：限制 = 有条件允许；鼓励 / 开放仍服从授权、课程要求与披露责任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风险来自“对象 × 动作 × 情境”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p06-old">
            <a:extLst xmlns:a="http://schemas.openxmlformats.org/drawingml/2006/main">
              <a:ext uri="{FF2B5EF4-FFF2-40B4-BE49-F238E27FC236}">
                <a16:creationId xmlns:a16="http://schemas.microsoft.com/office/drawing/2014/main" id="{FD8CAE97-6367-4AED-807A-3FF16D92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428750"/>
            <a:ext cx="78867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667684"/>
                </a:solidFill>
              </a:defRPr>
            </a:pPr>
            <a:r>
              <a:rPr sz="255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“使用 AI 是否合规？”</a:t>
            </a:r>
          </a:p>
        </p:txBody>
      </p:sp>
      <p:sp>
        <p:nvSpPr>
          <p:cNvPr id="7" name="p06-strike">
            <a:extLst xmlns:a="http://schemas.openxmlformats.org/drawingml/2006/main">
              <a:ext uri="{FF2B5EF4-FFF2-40B4-BE49-F238E27FC236}">
                <a16:creationId xmlns:a16="http://schemas.microsoft.com/office/drawing/2014/main" id="{863BAD0C-5392-4643-850A-3DDAFF34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57500" y="1824038"/>
            <a:ext cx="6477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06-vs">
            <a:extLst xmlns:a="http://schemas.openxmlformats.org/drawingml/2006/main">
              <a:ext uri="{FF2B5EF4-FFF2-40B4-BE49-F238E27FC236}">
                <a16:creationId xmlns:a16="http://schemas.microsoft.com/office/drawing/2014/main" id="{2D754590-DB9F-4296-A711-8983BAF4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571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而要问</a:t>
            </a:r>
          </a:p>
        </p:txBody>
      </p:sp>
      <p:sp>
        <p:nvSpPr>
          <p:cNvPr id="9" name="p06-new">
            <a:extLst xmlns:a="http://schemas.openxmlformats.org/drawingml/2006/main">
              <a:ext uri="{FF2B5EF4-FFF2-40B4-BE49-F238E27FC236}">
                <a16:creationId xmlns:a16="http://schemas.microsoft.com/office/drawing/2014/main" id="{1D8F899F-6D2E-472D-A1F3-BD90AE1CF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257550"/>
            <a:ext cx="8763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谁，对什么对象，执行什么动作，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可能造成什么后果？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五字段把伦理担忧变成可执行判断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p07-a-0">
            <a:extLst xmlns:a="http://schemas.openxmlformats.org/drawingml/2006/main">
              <a:ext uri="{FF2B5EF4-FFF2-40B4-BE49-F238E27FC236}">
                <a16:creationId xmlns:a16="http://schemas.microsoft.com/office/drawing/2014/main" id="{16CD707F-3643-42FC-B3A6-E44DF916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p07-en-0">
            <a:extLst xmlns:a="http://schemas.openxmlformats.org/drawingml/2006/main">
              <a:ext uri="{FF2B5EF4-FFF2-40B4-BE49-F238E27FC236}">
                <a16:creationId xmlns:a16="http://schemas.microsoft.com/office/drawing/2014/main" id="{7B858846-F0DC-4345-8370-33B438653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8" name="p07-zh-0">
            <a:extLst xmlns:a="http://schemas.openxmlformats.org/drawingml/2006/main">
              <a:ext uri="{FF2B5EF4-FFF2-40B4-BE49-F238E27FC236}">
                <a16:creationId xmlns:a16="http://schemas.microsoft.com/office/drawing/2014/main" id="{01980BEB-F7F3-419A-BDC1-940DD0C53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9" name="p07-a-1">
            <a:extLst xmlns:a="http://schemas.openxmlformats.org/drawingml/2006/main">
              <a:ext uri="{FF2B5EF4-FFF2-40B4-BE49-F238E27FC236}">
                <a16:creationId xmlns:a16="http://schemas.microsoft.com/office/drawing/2014/main" id="{5E81E814-6A37-486E-8F0A-D846B38F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07-en-1">
            <a:extLst xmlns:a="http://schemas.openxmlformats.org/drawingml/2006/main">
              <a:ext uri="{FF2B5EF4-FFF2-40B4-BE49-F238E27FC236}">
                <a16:creationId xmlns:a16="http://schemas.microsoft.com/office/drawing/2014/main" id="{4128296B-409E-4D96-BE33-34F7C465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Action</a:t>
            </a:r>
          </a:p>
        </p:txBody>
      </p:sp>
      <p:sp>
        <p:nvSpPr>
          <p:cNvPr id="11" name="p07-zh-1">
            <a:extLst xmlns:a="http://schemas.openxmlformats.org/drawingml/2006/main">
              <a:ext uri="{FF2B5EF4-FFF2-40B4-BE49-F238E27FC236}">
                <a16:creationId xmlns:a16="http://schemas.microsoft.com/office/drawing/2014/main" id="{2B66CD50-84F4-40C0-8687-9B03FF79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动作</a:t>
            </a:r>
          </a:p>
        </p:txBody>
      </p:sp>
      <p:sp>
        <p:nvSpPr>
          <p:cNvPr id="12" name="p07-a-2">
            <a:extLst xmlns:a="http://schemas.openxmlformats.org/drawingml/2006/main">
              <a:ext uri="{FF2B5EF4-FFF2-40B4-BE49-F238E27FC236}">
                <a16:creationId xmlns:a16="http://schemas.microsoft.com/office/drawing/2014/main" id="{6C1DC462-22C1-4A86-B631-A170C398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07-en-2">
            <a:extLst xmlns:a="http://schemas.openxmlformats.org/drawingml/2006/main">
              <a:ext uri="{FF2B5EF4-FFF2-40B4-BE49-F238E27FC236}">
                <a16:creationId xmlns:a16="http://schemas.microsoft.com/office/drawing/2014/main" id="{C3AE6A02-7F82-4741-A9A8-1E7B5D674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Risk</a:t>
            </a:r>
          </a:p>
        </p:txBody>
      </p:sp>
      <p:sp>
        <p:nvSpPr>
          <p:cNvPr id="14" name="p07-zh-2">
            <a:extLst xmlns:a="http://schemas.openxmlformats.org/drawingml/2006/main">
              <a:ext uri="{FF2B5EF4-FFF2-40B4-BE49-F238E27FC236}">
                <a16:creationId xmlns:a16="http://schemas.microsoft.com/office/drawing/2014/main" id="{A61560C2-2AB9-4A78-9D11-30C7376C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</a:t>
            </a:r>
          </a:p>
        </p:txBody>
      </p:sp>
      <p:sp>
        <p:nvSpPr>
          <p:cNvPr id="15" name="p07-a-3">
            <a:extLst xmlns:a="http://schemas.openxmlformats.org/drawingml/2006/main">
              <a:ext uri="{FF2B5EF4-FFF2-40B4-BE49-F238E27FC236}">
                <a16:creationId xmlns:a16="http://schemas.microsoft.com/office/drawing/2014/main" id="{21AE2B92-4288-4FB8-8335-213955B75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438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07-en-3">
            <a:extLst xmlns:a="http://schemas.openxmlformats.org/drawingml/2006/main">
              <a:ext uri="{FF2B5EF4-FFF2-40B4-BE49-F238E27FC236}">
                <a16:creationId xmlns:a16="http://schemas.microsoft.com/office/drawing/2014/main" id="{ED4D7636-1461-43D5-8A2D-67432C756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Control</a:t>
            </a:r>
          </a:p>
        </p:txBody>
      </p:sp>
      <p:sp>
        <p:nvSpPr>
          <p:cNvPr id="17" name="p07-zh-3">
            <a:extLst xmlns:a="http://schemas.openxmlformats.org/drawingml/2006/main">
              <a:ext uri="{FF2B5EF4-FFF2-40B4-BE49-F238E27FC236}">
                <a16:creationId xmlns:a16="http://schemas.microsoft.com/office/drawing/2014/main" id="{8E08E0C7-D65D-4AB2-B3DE-09E8F6763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63746"/>
                </a:solidFill>
              </a:defRPr>
            </a:pPr>
            <a:r>
              <a:rPr sz="21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控制</a:t>
            </a:r>
          </a:p>
        </p:txBody>
      </p:sp>
      <p:sp>
        <p:nvSpPr>
          <p:cNvPr id="18" name="p07-en-4">
            <a:extLst xmlns:a="http://schemas.openxmlformats.org/drawingml/2006/main">
              <a:ext uri="{FF2B5EF4-FFF2-40B4-BE49-F238E27FC236}">
                <a16:creationId xmlns:a16="http://schemas.microsoft.com/office/drawing/2014/main" id="{7EAF0F07-7329-4430-80C3-BDE3ADE0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18288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Owner</a:t>
            </a:r>
          </a:p>
        </p:txBody>
      </p:sp>
      <p:sp>
        <p:nvSpPr>
          <p:cNvPr id="19" name="p07-zh-4">
            <a:extLst xmlns:a="http://schemas.openxmlformats.org/drawingml/2006/main">
              <a:ext uri="{FF2B5EF4-FFF2-40B4-BE49-F238E27FC236}">
                <a16:creationId xmlns:a16="http://schemas.microsoft.com/office/drawing/2014/main" id="{3D2FB52E-EF21-4ED2-BCE8-DD1B8A72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419350"/>
            <a:ext cx="1809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责任人</a:t>
            </a:r>
          </a:p>
        </p:txBody>
      </p:sp>
      <p:sp>
        <p:nvSpPr>
          <p:cNvPr id="20" name="p07-return">
            <a:extLst xmlns:a="http://schemas.openxmlformats.org/drawingml/2006/main">
              <a:ext uri="{FF2B5EF4-FFF2-40B4-BE49-F238E27FC236}">
                <a16:creationId xmlns:a16="http://schemas.microsoft.com/office/drawing/2014/main" id="{9EA4A7A6-A2D8-4872-B3BC-D42BA963A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2857500" y="3733800"/>
            <a:ext cx="76771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07-return-label">
            <a:extLst xmlns:a="http://schemas.openxmlformats.org/drawingml/2006/main">
              <a:ext uri="{FF2B5EF4-FFF2-40B4-BE49-F238E27FC236}">
                <a16:creationId xmlns:a16="http://schemas.microsoft.com/office/drawing/2014/main" id="{A4735084-1316-42C2-A554-9B466485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905250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Owner 对 Action 负责，并决定是否继续</a:t>
            </a:r>
          </a:p>
        </p:txBody>
      </p:sp>
      <p:sp>
        <p:nvSpPr>
          <p:cNvPr id="22" name="p07-bottom">
            <a:extLst xmlns:a="http://schemas.openxmlformats.org/drawingml/2006/main">
              <a:ext uri="{FF2B5EF4-FFF2-40B4-BE49-F238E27FC236}">
                <a16:creationId xmlns:a16="http://schemas.microsoft.com/office/drawing/2014/main" id="{AA880A2A-1F4D-4B74-B66A-BAD7506C0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93395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“注意安全”不是控制措施。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只有三种处置，但理由必须具体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p08-t-0">
            <a:extLst xmlns:a="http://schemas.openxmlformats.org/drawingml/2006/main">
              <a:ext uri="{FF2B5EF4-FFF2-40B4-BE49-F238E27FC236}">
                <a16:creationId xmlns:a16="http://schemas.microsoft.com/office/drawing/2014/main" id="{44EA46BF-85C7-41E1-8431-A6E0B583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144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28745A"/>
                </a:solidFill>
              </a:defRPr>
            </a:pPr>
            <a:r>
              <a:rPr sz="21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允许</a:t>
            </a:r>
          </a:p>
        </p:txBody>
      </p:sp>
      <p:sp>
        <p:nvSpPr>
          <p:cNvPr id="7" name="p08-d-0">
            <a:extLst xmlns:a="http://schemas.openxmlformats.org/drawingml/2006/main">
              <a:ext uri="{FF2B5EF4-FFF2-40B4-BE49-F238E27FC236}">
                <a16:creationId xmlns:a16="http://schemas.microsoft.com/office/drawing/2014/main" id="{4AA94C2B-E7FA-4DF8-891C-0EA90306C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3144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当前控制足够</a:t>
            </a:r>
          </a:p>
        </p:txBody>
      </p:sp>
      <p:sp>
        <p:nvSpPr>
          <p:cNvPr id="8" name="p08-t-1">
            <a:extLst xmlns:a="http://schemas.openxmlformats.org/drawingml/2006/main">
              <a:ext uri="{FF2B5EF4-FFF2-40B4-BE49-F238E27FC236}">
                <a16:creationId xmlns:a16="http://schemas.microsoft.com/office/drawing/2014/main" id="{3F353E3A-F01A-40AF-8290-96885E213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9080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A86C12"/>
                </a:solidFill>
              </a:defRPr>
            </a:pPr>
            <a:r>
              <a:rPr sz="217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9" name="p08-d-1">
            <a:extLst xmlns:a="http://schemas.openxmlformats.org/drawingml/2006/main">
              <a:ext uri="{FF2B5EF4-FFF2-40B4-BE49-F238E27FC236}">
                <a16:creationId xmlns:a16="http://schemas.microsoft.com/office/drawing/2014/main" id="{D97B9872-5118-424B-82D8-03F9BB03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59080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先满足可检查条件</a:t>
            </a:r>
          </a:p>
        </p:txBody>
      </p:sp>
      <p:sp>
        <p:nvSpPr>
          <p:cNvPr id="10" name="p08-t-2">
            <a:extLst xmlns:a="http://schemas.openxmlformats.org/drawingml/2006/main">
              <a:ext uri="{FF2B5EF4-FFF2-40B4-BE49-F238E27FC236}">
                <a16:creationId xmlns:a16="http://schemas.microsoft.com/office/drawing/2014/main" id="{EE769901-281B-4EE7-8F7E-AF2657B2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2667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1" name="p08-d-2">
            <a:extLst xmlns:a="http://schemas.openxmlformats.org/drawingml/2006/main">
              <a:ext uri="{FF2B5EF4-FFF2-40B4-BE49-F238E27FC236}">
                <a16:creationId xmlns:a16="http://schemas.microsoft.com/office/drawing/2014/main" id="{3108B99E-9F72-4223-AC00-575B1032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67150"/>
            <a:ext cx="7239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风险无法合理控制，或动作破坏诚信</a:t>
            </a:r>
          </a:p>
        </p:txBody>
      </p:sp>
      <p:sp>
        <p:nvSpPr>
          <p:cNvPr id="12" name="p08-bottom">
            <a:extLst xmlns:a="http://schemas.openxmlformats.org/drawingml/2006/main">
              <a:ext uri="{FF2B5EF4-FFF2-40B4-BE49-F238E27FC236}">
                <a16:creationId xmlns:a16="http://schemas.microsoft.com/office/drawing/2014/main" id="{F9E5146B-B5C6-41C4-B9D0-C9684B48A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162550"/>
            <a:ext cx="876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8354E"/>
                </a:solidFill>
              </a:defRPr>
            </a:pPr>
            <a:r>
              <a:rPr sz="15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控制先于动作：Context 进入前｜工具调用前｜权限扩大前｜外部写入前｜工件状态迁移前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未公开不等于一律禁止，授权也不是唯一条件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p09-work">
            <a:extLst xmlns:a="http://schemas.openxmlformats.org/drawingml/2006/main">
              <a:ext uri="{FF2B5EF4-FFF2-40B4-BE49-F238E27FC236}">
                <a16:creationId xmlns:a16="http://schemas.microsoft.com/office/drawing/2014/main" id="{A28FCB7C-8356-402E-ABCB-EC100EE85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作者工作稿</a:t>
            </a:r>
          </a:p>
        </p:txBody>
      </p:sp>
      <p:sp>
        <p:nvSpPr>
          <p:cNvPr id="7" name="p09-review">
            <a:extLst xmlns:a="http://schemas.openxmlformats.org/drawingml/2006/main">
              <a:ext uri="{FF2B5EF4-FFF2-40B4-BE49-F238E27FC236}">
                <a16:creationId xmlns:a16="http://schemas.microsoft.com/office/drawing/2014/main" id="{CAE76F20-B49E-40AC-B4E4-EF667AF1F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123950"/>
            <a:ext cx="466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正式评审稿</a:t>
            </a:r>
          </a:p>
        </p:txBody>
      </p:sp>
      <p:sp>
        <p:nvSpPr>
          <p:cNvPr id="8" name="p09-work-body">
            <a:extLst xmlns:a="http://schemas.openxmlformats.org/drawingml/2006/main">
              <a:ext uri="{FF2B5EF4-FFF2-40B4-BE49-F238E27FC236}">
                <a16:creationId xmlns:a16="http://schemas.microsoft.com/office/drawing/2014/main" id="{8C4CEA06-5FA2-422F-BBAD-2BC1D2F86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个人外部模型全文上传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默认拒绝</a:t>
            </a:r>
          </a:p>
        </p:txBody>
      </p:sp>
      <p:sp>
        <p:nvSpPr>
          <p:cNvPr id="9" name="p09-review-body">
            <a:extLst xmlns:a="http://schemas.openxmlformats.org/drawingml/2006/main">
              <a:ext uri="{FF2B5EF4-FFF2-40B4-BE49-F238E27FC236}">
                <a16:creationId xmlns:a16="http://schemas.microsoft.com/office/drawing/2014/main" id="{FCA03FF8-31E0-46B4-8340-96F0816D2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90700"/>
            <a:ext cx="4667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遵守期刊 / 组织者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保密与 AI 使用规则</a:t>
            </a:r>
          </a:p>
        </p:txBody>
      </p:sp>
      <p:sp>
        <p:nvSpPr>
          <p:cNvPr id="10" name="p09-conditions">
            <a:extLst xmlns:a="http://schemas.openxmlformats.org/drawingml/2006/main">
              <a:ext uri="{FF2B5EF4-FFF2-40B4-BE49-F238E27FC236}">
                <a16:creationId xmlns:a16="http://schemas.microsoft.com/office/drawing/2014/main" id="{8FBA4E91-B0DC-4198-9B41-8B311F74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95650"/>
            <a:ext cx="101727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工作稿转为有条件允许：共同授权  +  规则允许  +  受控环境  +  最小披露  +  人工核验</a:t>
            </a:r>
          </a:p>
        </p:txBody>
      </p:sp>
      <p:sp>
        <p:nvSpPr>
          <p:cNvPr id="11" name="p09-alt">
            <a:extLst xmlns:a="http://schemas.openxmlformats.org/drawingml/2006/main">
              <a:ext uri="{FF2B5EF4-FFF2-40B4-BE49-F238E27FC236}">
                <a16:creationId xmlns:a16="http://schemas.microsoft.com/office/drawing/2014/main" id="{C7AD418E-2277-4826-B798-8DB8F6A47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96774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替代路径五种，见讲义 §八 分条列示；屏显只留本指针。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生成数据的使用边界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p10-decision">
            <a:extLst xmlns:a="http://schemas.openxmlformats.org/drawingml/2006/main">
              <a:ext uri="{FF2B5EF4-FFF2-40B4-BE49-F238E27FC236}">
                <a16:creationId xmlns:a16="http://schemas.microsoft.com/office/drawing/2014/main" id="{032F0071-6426-4CB2-8EB9-2C7C6FDDD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9060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有条件允许</a:t>
            </a:r>
          </a:p>
        </p:txBody>
      </p:sp>
      <p:sp>
        <p:nvSpPr>
          <p:cNvPr id="7" name="p10-sim-line">
            <a:extLst xmlns:a="http://schemas.openxmlformats.org/drawingml/2006/main">
              <a:ext uri="{FF2B5EF4-FFF2-40B4-BE49-F238E27FC236}">
                <a16:creationId xmlns:a16="http://schemas.microsoft.com/office/drawing/2014/main" id="{8FFC5FF2-798D-41D7-9FB5-8CB676E2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213360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3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10-real-line">
            <a:extLst xmlns:a="http://schemas.openxmlformats.org/drawingml/2006/main">
              <a:ext uri="{FF2B5EF4-FFF2-40B4-BE49-F238E27FC236}">
                <a16:creationId xmlns:a16="http://schemas.microsoft.com/office/drawing/2014/main" id="{D47E3049-D55C-4622-83D4-E7F45E26E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3790950"/>
            <a:ext cx="666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10-sim">
            <a:extLst xmlns:a="http://schemas.openxmlformats.org/drawingml/2006/main">
              <a:ext uri="{FF2B5EF4-FFF2-40B4-BE49-F238E27FC236}">
                <a16:creationId xmlns:a16="http://schemas.microsoft.com/office/drawing/2014/main" id="{EC4BFFCB-4077-46AB-A9DD-DA02F96A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F638A"/>
                </a:solidFill>
              </a:defRPr>
            </a:pPr>
            <a:r>
              <a:rPr sz="187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模拟数据</a:t>
            </a:r>
          </a:p>
        </p:txBody>
      </p:sp>
      <p:sp>
        <p:nvSpPr>
          <p:cNvPr id="10" name="p10-real">
            <a:extLst xmlns:a="http://schemas.openxmlformats.org/drawingml/2006/main">
              <a:ext uri="{FF2B5EF4-FFF2-40B4-BE49-F238E27FC236}">
                <a16:creationId xmlns:a16="http://schemas.microsoft.com/office/drawing/2014/main" id="{FF6550A7-8E79-447A-AA43-B3B7EED8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09950"/>
            <a:ext cx="17907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真实数据</a:t>
            </a:r>
          </a:p>
        </p:txBody>
      </p:sp>
      <p:sp>
        <p:nvSpPr>
          <p:cNvPr id="11" name="p10-test">
            <a:extLst xmlns:a="http://schemas.openxmlformats.org/drawingml/2006/main">
              <a:ext uri="{FF2B5EF4-FFF2-40B4-BE49-F238E27FC236}">
                <a16:creationId xmlns:a16="http://schemas.microsoft.com/office/drawing/2014/main" id="{D9EB4DB2-BDB6-4D65-9553-5F3C2588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69545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测试脚本对缺失值 / 异常值的处理</a:t>
            </a:r>
          </a:p>
        </p:txBody>
      </p:sp>
      <p:sp>
        <p:nvSpPr>
          <p:cNvPr id="12" name="p10-evidence">
            <a:extLst xmlns:a="http://schemas.openxmlformats.org/drawingml/2006/main">
              <a:ext uri="{FF2B5EF4-FFF2-40B4-BE49-F238E27FC236}">
                <a16:creationId xmlns:a16="http://schemas.microsoft.com/office/drawing/2014/main" id="{34CE4CBD-A71F-43F0-B9E1-6A430C94F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352800"/>
            <a:ext cx="49530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真实观测与经验结论</a:t>
            </a:r>
          </a:p>
        </p:txBody>
      </p:sp>
      <p:sp>
        <p:nvSpPr>
          <p:cNvPr id="13" name="p10-no">
            <a:extLst xmlns:a="http://schemas.openxmlformats.org/drawingml/2006/main">
              <a:ext uri="{FF2B5EF4-FFF2-40B4-BE49-F238E27FC236}">
                <a16:creationId xmlns:a16="http://schemas.microsoft.com/office/drawing/2014/main" id="{FF05277D-EA74-402F-B890-3DFFCD629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62250"/>
            <a:ext cx="21907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不得合并标签</a:t>
            </a:r>
          </a:p>
        </p:txBody>
      </p:sp>
      <p:sp>
        <p:nvSpPr>
          <p:cNvPr id="14" name="p10-controls">
            <a:extLst xmlns:a="http://schemas.openxmlformats.org/drawingml/2006/main">
              <a:ext uri="{FF2B5EF4-FFF2-40B4-BE49-F238E27FC236}">
                <a16:creationId xmlns:a16="http://schemas.microsoft.com/office/drawing/2014/main" id="{92B1F7A2-2B7C-4846-AC4A-A84C87B3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8958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8354E"/>
                </a:solidFill>
              </a:defRPr>
            </a:pPr>
            <a:r>
              <a:rPr sz="16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标记模拟｜分开保存｜记录生成逻辑｜不替代真实观测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评价指标变更的人工门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p11-chain">
            <a:extLst xmlns:a="http://schemas.openxmlformats.org/drawingml/2006/main">
              <a:ext uri="{FF2B5EF4-FFF2-40B4-BE49-F238E27FC236}">
                <a16:creationId xmlns:a16="http://schemas.microsoft.com/office/drawing/2014/main" id="{74F3C553-4C3E-40D6-8857-36305CFA3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04900" y="2514600"/>
            <a:ext cx="9620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p11-0">
            <a:extLst xmlns:a="http://schemas.openxmlformats.org/drawingml/2006/main">
              <a:ext uri="{FF2B5EF4-FFF2-40B4-BE49-F238E27FC236}">
                <a16:creationId xmlns:a16="http://schemas.microsoft.com/office/drawing/2014/main" id="{A908B719-32F1-4C7E-AC62-36A568171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F638A"/>
                </a:solidFill>
              </a:defRPr>
            </a:pPr>
            <a:r>
              <a:rPr sz="1725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Agent 建议</a:t>
            </a:r>
          </a:p>
        </p:txBody>
      </p:sp>
      <p:sp>
        <p:nvSpPr>
          <p:cNvPr id="8" name="p11-1">
            <a:extLst xmlns:a="http://schemas.openxmlformats.org/drawingml/2006/main">
              <a:ext uri="{FF2B5EF4-FFF2-40B4-BE49-F238E27FC236}">
                <a16:creationId xmlns:a16="http://schemas.microsoft.com/office/drawing/2014/main" id="{67632D41-54CF-4A06-854E-6AF5D1E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暂停</a:t>
            </a:r>
          </a:p>
        </p:txBody>
      </p:sp>
      <p:sp>
        <p:nvSpPr>
          <p:cNvPr id="9" name="p11-2">
            <a:extLst xmlns:a="http://schemas.openxmlformats.org/drawingml/2006/main">
              <a:ext uri="{FF2B5EF4-FFF2-40B4-BE49-F238E27FC236}">
                <a16:creationId xmlns:a16="http://schemas.microsoft.com/office/drawing/2014/main" id="{594C2952-7076-44E9-8756-E9FBB57C0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人工说明理由</a:t>
            </a:r>
          </a:p>
        </p:txBody>
      </p:sp>
      <p:sp>
        <p:nvSpPr>
          <p:cNvPr id="10" name="p11-3">
            <a:extLst xmlns:a="http://schemas.openxmlformats.org/drawingml/2006/main">
              <a:ext uri="{FF2B5EF4-FFF2-40B4-BE49-F238E27FC236}">
                <a16:creationId xmlns:a16="http://schemas.microsoft.com/office/drawing/2014/main" id="{C2C584F3-0CFE-4371-8A1F-9608E8F4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版本化协议</a:t>
            </a:r>
          </a:p>
        </p:txBody>
      </p:sp>
      <p:sp>
        <p:nvSpPr>
          <p:cNvPr id="11" name="p11-4">
            <a:extLst xmlns:a="http://schemas.openxmlformats.org/drawingml/2006/main">
              <a:ext uri="{FF2B5EF4-FFF2-40B4-BE49-F238E27FC236}">
                <a16:creationId xmlns:a16="http://schemas.microsoft.com/office/drawing/2014/main" id="{2C1025CD-5736-459A-9947-599882C4D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57400"/>
            <a:ext cx="1866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再运行</a:t>
            </a:r>
          </a:p>
        </p:txBody>
      </p:sp>
      <p:sp>
        <p:nvSpPr>
          <p:cNvPr id="12" name="p11-bypass">
            <a:extLst xmlns:a="http://schemas.openxmlformats.org/drawingml/2006/main">
              <a:ext uri="{FF2B5EF4-FFF2-40B4-BE49-F238E27FC236}">
                <a16:creationId xmlns:a16="http://schemas.microsoft.com/office/drawing/2014/main" id="{F7966742-CF24-471F-BB4F-51E5BF031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809750" y="3924300"/>
            <a:ext cx="61912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11-bypass-text">
            <a:extLst xmlns:a="http://schemas.openxmlformats.org/drawingml/2006/main">
              <a:ext uri="{FF2B5EF4-FFF2-40B4-BE49-F238E27FC236}">
                <a16:creationId xmlns:a16="http://schemas.microsoft.com/office/drawing/2014/main" id="{91118312-4F07-453C-9D85-B0FB09A7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581400"/>
            <a:ext cx="5334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无记录地改指标并重跑到成功</a:t>
            </a:r>
          </a:p>
        </p:txBody>
      </p:sp>
      <p:sp>
        <p:nvSpPr>
          <p:cNvPr id="14" name="p11-stop">
            <a:extLst xmlns:a="http://schemas.openxmlformats.org/drawingml/2006/main">
              <a:ext uri="{FF2B5EF4-FFF2-40B4-BE49-F238E27FC236}">
                <a16:creationId xmlns:a16="http://schemas.microsoft.com/office/drawing/2014/main" id="{A90FDDC7-FE42-4C33-8675-B92A96D7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24250"/>
            <a:ext cx="857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4050" b="1">
                <a:solidFill>
                  <a:srgbClr val="C8161E"/>
                </a:solidFill>
              </a:defRPr>
            </a:pPr>
            <a:r>
              <a:rPr sz="40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5" name="p11-bottom">
            <a:extLst xmlns:a="http://schemas.openxmlformats.org/drawingml/2006/main">
              <a:ext uri="{FF2B5EF4-FFF2-40B4-BE49-F238E27FC236}">
                <a16:creationId xmlns:a16="http://schemas.microsoft.com/office/drawing/2014/main" id="{CF98C1FC-E698-40A4-BED6-4A138475B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577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8354E"/>
                </a:solidFill>
              </a:defRPr>
            </a:pPr>
            <a:r>
              <a:rPr sz="187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评价指标决定什么算“改善”——这是研究判断，不是按钮确认。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权限要按动作和维度拆开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p13-project">
            <a:extLst xmlns:a="http://schemas.openxmlformats.org/drawingml/2006/main">
              <a:ext uri="{FF2B5EF4-FFF2-40B4-BE49-F238E27FC236}">
                <a16:creationId xmlns:a16="http://schemas.microsoft.com/office/drawing/2014/main" id="{C9E537C2-D33D-4B25-A594-A87703993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43100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研究项目</a:t>
            </a:r>
          </a:p>
        </p:txBody>
      </p:sp>
      <p:sp>
        <p:nvSpPr>
          <p:cNvPr id="7" name="p13-action-0">
            <a:extLst xmlns:a="http://schemas.openxmlformats.org/drawingml/2006/main">
              <a:ext uri="{FF2B5EF4-FFF2-40B4-BE49-F238E27FC236}">
                <a16:creationId xmlns:a16="http://schemas.microsoft.com/office/drawing/2014/main" id="{B2E85FCF-A1E8-491A-BB0A-B412F509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</a:t>
            </a:r>
          </a:p>
        </p:txBody>
      </p:sp>
      <p:sp>
        <p:nvSpPr>
          <p:cNvPr id="8" name="p13-action-1">
            <a:extLst xmlns:a="http://schemas.openxmlformats.org/drawingml/2006/main">
              <a:ext uri="{FF2B5EF4-FFF2-40B4-BE49-F238E27FC236}">
                <a16:creationId xmlns:a16="http://schemas.microsoft.com/office/drawing/2014/main" id="{A3C45FCA-9BED-4CDA-9BC7-562869BBB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写入</a:t>
            </a:r>
          </a:p>
        </p:txBody>
      </p:sp>
      <p:sp>
        <p:nvSpPr>
          <p:cNvPr id="9" name="p13-action-2">
            <a:extLst xmlns:a="http://schemas.openxmlformats.org/drawingml/2006/main">
              <a:ext uri="{FF2B5EF4-FFF2-40B4-BE49-F238E27FC236}">
                <a16:creationId xmlns:a16="http://schemas.microsoft.com/office/drawing/2014/main" id="{EFBBCA94-8DE1-4000-8B72-42BD2FCE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3-action-3">
            <a:extLst xmlns:a="http://schemas.openxmlformats.org/drawingml/2006/main">
              <a:ext uri="{FF2B5EF4-FFF2-40B4-BE49-F238E27FC236}">
                <a16:creationId xmlns:a16="http://schemas.microsoft.com/office/drawing/2014/main" id="{933F1931-BB73-45F9-84F3-34DC5C434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21920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联网</a:t>
            </a:r>
          </a:p>
        </p:txBody>
      </p:sp>
      <p:sp>
        <p:nvSpPr>
          <p:cNvPr id="11" name="p13-action-4">
            <a:extLst xmlns:a="http://schemas.openxmlformats.org/drawingml/2006/main">
              <a:ext uri="{FF2B5EF4-FFF2-40B4-BE49-F238E27FC236}">
                <a16:creationId xmlns:a16="http://schemas.microsoft.com/office/drawing/2014/main" id="{3EDE2E22-D40E-421D-80F2-046C96950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外部系统</a:t>
            </a:r>
          </a:p>
        </p:txBody>
      </p:sp>
      <p:sp>
        <p:nvSpPr>
          <p:cNvPr id="12" name="p13-action-5">
            <a:extLst xmlns:a="http://schemas.openxmlformats.org/drawingml/2006/main">
              <a:ext uri="{FF2B5EF4-FFF2-40B4-BE49-F238E27FC236}">
                <a16:creationId xmlns:a16="http://schemas.microsoft.com/office/drawing/2014/main" id="{AF90C666-E849-4A25-BBDB-75D24FB58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371850"/>
            <a:ext cx="1676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不可逆动作</a:t>
            </a:r>
          </a:p>
        </p:txBody>
      </p:sp>
      <p:sp>
        <p:nvSpPr>
          <p:cNvPr id="13" name="p13-d-0">
            <a:extLst xmlns:a="http://schemas.openxmlformats.org/drawingml/2006/main">
              <a:ext uri="{FF2B5EF4-FFF2-40B4-BE49-F238E27FC236}">
                <a16:creationId xmlns:a16="http://schemas.microsoft.com/office/drawing/2014/main" id="{06B59B3A-724D-4D65-83A3-CD5B7F90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Path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哪些文件和目录</a:t>
            </a:r>
          </a:p>
        </p:txBody>
      </p:sp>
      <p:sp>
        <p:nvSpPr>
          <p:cNvPr id="14" name="p13-d-1">
            <a:extLst xmlns:a="http://schemas.openxmlformats.org/drawingml/2006/main">
              <a:ext uri="{FF2B5EF4-FFF2-40B4-BE49-F238E27FC236}">
                <a16:creationId xmlns:a16="http://schemas.microsoft.com/office/drawing/2014/main" id="{645EDEA4-58BB-4B07-B137-485DF8179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Command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哪些命令和预算</a:t>
            </a:r>
          </a:p>
        </p:txBody>
      </p:sp>
      <p:sp>
        <p:nvSpPr>
          <p:cNvPr id="15" name="p13-d-2">
            <a:extLst xmlns:a="http://schemas.openxmlformats.org/drawingml/2006/main">
              <a:ext uri="{FF2B5EF4-FFF2-40B4-BE49-F238E27FC236}">
                <a16:creationId xmlns:a16="http://schemas.microsoft.com/office/drawing/2014/main" id="{2F8BE302-030D-40FC-B51E-C07A0E1DA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Network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8354E"/>
                </a:solidFill>
              </a:defRPr>
            </a:pPr>
            <a:r>
              <a:rPr sz="15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是否联网、到哪些来源</a:t>
            </a:r>
          </a:p>
        </p:txBody>
      </p:sp>
      <p:sp>
        <p:nvSpPr>
          <p:cNvPr id="16" name="p13-d-3">
            <a:extLst xmlns:a="http://schemas.openxmlformats.org/drawingml/2006/main">
              <a:ext uri="{FF2B5EF4-FFF2-40B4-BE49-F238E27FC236}">
                <a16:creationId xmlns:a16="http://schemas.microsoft.com/office/drawing/2014/main" id="{BB6E6E01-9C97-4E56-8600-F617DDB98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343400"/>
            <a:ext cx="2514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External write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是否发送、发布、导入或改账户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默认拒绝与最小权限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sp>
        <p:nvSpPr>
          <p:cNvPr id="6" name="p14-no">
            <a:extLst xmlns:a="http://schemas.openxmlformats.org/drawingml/2006/main">
              <a:ext uri="{FF2B5EF4-FFF2-40B4-BE49-F238E27FC236}">
                <a16:creationId xmlns:a16="http://schemas.microsoft.com/office/drawing/2014/main" id="{5DFCD258-EEA4-4171-A31C-9188576FF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没写禁止，所以可以</a:t>
            </a:r>
          </a:p>
        </p:txBody>
      </p:sp>
      <p:sp>
        <p:nvSpPr>
          <p:cNvPr id="7" name="p14-yes">
            <a:extLst xmlns:a="http://schemas.openxmlformats.org/drawingml/2006/main">
              <a:ext uri="{FF2B5EF4-FFF2-40B4-BE49-F238E27FC236}">
                <a16:creationId xmlns:a16="http://schemas.microsoft.com/office/drawing/2014/main" id="{D33B8AB7-46F9-4637-B7AE-32A16983C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257300"/>
            <a:ext cx="4286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C8161E"/>
                </a:solidFill>
              </a:defRPr>
            </a:pPr>
            <a:r>
              <a:rPr sz="21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没有明确允许，所以暂停</a:t>
            </a:r>
          </a:p>
        </p:txBody>
      </p:sp>
      <p:sp>
        <p:nvSpPr>
          <p:cNvPr id="8" name="p14-cross">
            <a:extLst xmlns:a="http://schemas.openxmlformats.org/drawingml/2006/main">
              <a:ext uri="{FF2B5EF4-FFF2-40B4-BE49-F238E27FC236}">
                <a16:creationId xmlns:a16="http://schemas.microsoft.com/office/drawing/2014/main" id="{1C3126B3-FD63-4ACB-A8FC-AFB89FEC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314450"/>
            <a:ext cx="9906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C8161E"/>
                </a:solidFill>
              </a:defRPr>
            </a:pPr>
            <a:r>
              <a:rPr sz="39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9" name="p14-task">
            <a:extLst xmlns:a="http://schemas.openxmlformats.org/drawingml/2006/main">
              <a:ext uri="{FF2B5EF4-FFF2-40B4-BE49-F238E27FC236}">
                <a16:creationId xmlns:a16="http://schemas.microsoft.com/office/drawing/2014/main" id="{11B37DD5-B2C4-4B03-B904-E0D5D222E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895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任务：只更新 problem-definition.md 的指定段落</a:t>
            </a:r>
          </a:p>
        </p:txBody>
      </p:sp>
      <p:sp>
        <p:nvSpPr>
          <p:cNvPr id="10" name="p14-need">
            <a:extLst xmlns:a="http://schemas.openxmlformats.org/drawingml/2006/main">
              <a:ext uri="{FF2B5EF4-FFF2-40B4-BE49-F238E27FC236}">
                <a16:creationId xmlns:a16="http://schemas.microsoft.com/office/drawing/2014/main" id="{25A2C4E6-D4ED-4F1F-8D00-1BF750AE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600450"/>
            <a:ext cx="3333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需要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28745A"/>
                </a:solidFill>
              </a:defRPr>
            </a:pPr>
            <a:r>
              <a:rPr sz="18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指定段落可写</a:t>
            </a:r>
          </a:p>
        </p:txBody>
      </p:sp>
      <p:sp>
        <p:nvSpPr>
          <p:cNvPr id="11" name="p14-unneed">
            <a:extLst xmlns:a="http://schemas.openxmlformats.org/drawingml/2006/main">
              <a:ext uri="{FF2B5EF4-FFF2-40B4-BE49-F238E27FC236}">
                <a16:creationId xmlns:a16="http://schemas.microsoft.com/office/drawing/2014/main" id="{6C9B00E9-5E0A-4D81-9A2F-749A2D67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600450"/>
            <a:ext cx="52006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不需要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整个项目可写｜个人目录可读｜任意命令｜自由联网</a:t>
            </a:r>
          </a:p>
        </p:txBody>
      </p:sp>
      <p:sp>
        <p:nvSpPr>
          <p:cNvPr id="12" name="p14-bottom">
            <a:extLst xmlns:a="http://schemas.openxmlformats.org/drawingml/2006/main">
              <a:ext uri="{FF2B5EF4-FFF2-40B4-BE49-F238E27FC236}">
                <a16:creationId xmlns:a16="http://schemas.microsoft.com/office/drawing/2014/main" id="{5C6C2D7C-1B70-44C4-924F-A1F823A74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任务变化可以重新评估，但不能由 Agent 自行扩大。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762000" y="5537200"/>
            <a:ext cx="10668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3333"/>
                </a:solidFill>
              </a:rPr>
              <a:t>长循环逐次检查：文件变化｜新工具｜新域名｜新数据｜新外部动作。公开结果同时满足：指定文件＋人工复核＋无敏感信息＋明确目标。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权限矩阵：字段与人工确认点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p17-h-0">
            <a:extLst xmlns:a="http://schemas.openxmlformats.org/drawingml/2006/main">
              <a:ext uri="{FF2B5EF4-FFF2-40B4-BE49-F238E27FC236}">
                <a16:creationId xmlns:a16="http://schemas.microsoft.com/office/drawing/2014/main" id="{E8371B01-374F-4B2A-BA8B-C0FDDDC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162050"/>
            <a:ext cx="1238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对象</a:t>
            </a:r>
          </a:p>
        </p:txBody>
      </p:sp>
      <p:sp>
        <p:nvSpPr>
          <p:cNvPr id="7" name="p17-h-1">
            <a:extLst xmlns:a="http://schemas.openxmlformats.org/drawingml/2006/main">
              <a:ext uri="{FF2B5EF4-FFF2-40B4-BE49-F238E27FC236}">
                <a16:creationId xmlns:a16="http://schemas.microsoft.com/office/drawing/2014/main" id="{B7D261AA-FE6B-4382-BF83-68B16296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162050"/>
            <a:ext cx="1676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只读</a:t>
            </a:r>
          </a:p>
        </p:txBody>
      </p:sp>
      <p:sp>
        <p:nvSpPr>
          <p:cNvPr id="8" name="p17-h-2">
            <a:extLst xmlns:a="http://schemas.openxmlformats.org/drawingml/2006/main">
              <a:ext uri="{FF2B5EF4-FFF2-40B4-BE49-F238E27FC236}">
                <a16:creationId xmlns:a16="http://schemas.microsoft.com/office/drawing/2014/main" id="{1D887519-2BE2-4B6F-8CCD-55DEEECD7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162050"/>
            <a:ext cx="1600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可写</a:t>
            </a:r>
          </a:p>
        </p:txBody>
      </p:sp>
      <p:sp>
        <p:nvSpPr>
          <p:cNvPr id="9" name="p17-h-3">
            <a:extLst xmlns:a="http://schemas.openxmlformats.org/drawingml/2006/main">
              <a:ext uri="{FF2B5EF4-FFF2-40B4-BE49-F238E27FC236}">
                <a16:creationId xmlns:a16="http://schemas.microsoft.com/office/drawing/2014/main" id="{29D6A85B-1938-41AB-B8DC-688F1A3BC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1620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0" name="p17-h-4">
            <a:extLst xmlns:a="http://schemas.openxmlformats.org/drawingml/2006/main">
              <a:ext uri="{FF2B5EF4-FFF2-40B4-BE49-F238E27FC236}">
                <a16:creationId xmlns:a16="http://schemas.microsoft.com/office/drawing/2014/main" id="{F7E34986-D83A-4AA2-A0B2-636BB56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162050"/>
            <a:ext cx="22479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确认点</a:t>
            </a:r>
          </a:p>
        </p:txBody>
      </p:sp>
      <p:sp>
        <p:nvSpPr>
          <p:cNvPr id="11" name="p17-h-5">
            <a:extLst xmlns:a="http://schemas.openxmlformats.org/drawingml/2006/main">
              <a:ext uri="{FF2B5EF4-FFF2-40B4-BE49-F238E27FC236}">
                <a16:creationId xmlns:a16="http://schemas.microsoft.com/office/drawing/2014/main" id="{78FD2BC1-3A44-46D3-AAA7-D10D241CD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1620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禁止</a:t>
            </a:r>
          </a:p>
        </p:txBody>
      </p:sp>
      <p:sp>
        <p:nvSpPr>
          <p:cNvPr id="12" name="p17-r0-0">
            <a:extLst xmlns:a="http://schemas.openxmlformats.org/drawingml/2006/main">
              <a:ext uri="{FF2B5EF4-FFF2-40B4-BE49-F238E27FC236}">
                <a16:creationId xmlns:a16="http://schemas.microsoft.com/office/drawing/2014/main" id="{DF7CFCBD-DD86-4995-9560-1F7D5828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716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文献</a:t>
            </a:r>
          </a:p>
        </p:txBody>
      </p:sp>
      <p:sp>
        <p:nvSpPr>
          <p:cNvPr id="13" name="p17-r0-1">
            <a:extLst xmlns:a="http://schemas.openxmlformats.org/drawingml/2006/main">
              <a:ext uri="{FF2B5EF4-FFF2-40B4-BE49-F238E27FC236}">
                <a16:creationId xmlns:a16="http://schemas.microsoft.com/office/drawing/2014/main" id="{14D20C9F-DF41-4641-BFC3-EDAFC3D9C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7716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公开摘要</a:t>
            </a:r>
          </a:p>
        </p:txBody>
      </p:sp>
      <p:sp>
        <p:nvSpPr>
          <p:cNvPr id="14" name="p17-r0-2">
            <a:extLst xmlns:a="http://schemas.openxmlformats.org/drawingml/2006/main">
              <a:ext uri="{FF2B5EF4-FFF2-40B4-BE49-F238E27FC236}">
                <a16:creationId xmlns:a16="http://schemas.microsoft.com/office/drawing/2014/main" id="{E24926A0-E65B-4774-B082-DCFCA999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17716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检索记录</a:t>
            </a:r>
          </a:p>
        </p:txBody>
      </p:sp>
      <p:sp>
        <p:nvSpPr>
          <p:cNvPr id="15" name="p17-r0-3">
            <a:extLst xmlns:a="http://schemas.openxmlformats.org/drawingml/2006/main">
              <a:ext uri="{FF2B5EF4-FFF2-40B4-BE49-F238E27FC236}">
                <a16:creationId xmlns:a16="http://schemas.microsoft.com/office/drawing/2014/main" id="{17EFC89E-37FD-4A27-B6B6-DE01C28C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7716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限定检索</a:t>
            </a:r>
          </a:p>
        </p:txBody>
      </p:sp>
      <p:sp>
        <p:nvSpPr>
          <p:cNvPr id="16" name="p17-r0-4">
            <a:extLst xmlns:a="http://schemas.openxmlformats.org/drawingml/2006/main">
              <a:ext uri="{FF2B5EF4-FFF2-40B4-BE49-F238E27FC236}">
                <a16:creationId xmlns:a16="http://schemas.microsoft.com/office/drawing/2014/main" id="{25C8FB09-091E-4F76-A4AF-CC9CA206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716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下载 / 发送全文前</a:t>
            </a:r>
          </a:p>
        </p:txBody>
      </p:sp>
      <p:sp>
        <p:nvSpPr>
          <p:cNvPr id="17" name="p17-r0-5">
            <a:extLst xmlns:a="http://schemas.openxmlformats.org/drawingml/2006/main">
              <a:ext uri="{FF2B5EF4-FFF2-40B4-BE49-F238E27FC236}">
                <a16:creationId xmlns:a16="http://schemas.microsoft.com/office/drawing/2014/main" id="{C1001DAC-C163-4A01-A5B8-8AE122FB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7716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上传正式评审稿或未授权材料</a:t>
            </a:r>
          </a:p>
        </p:txBody>
      </p:sp>
      <p:sp>
        <p:nvSpPr>
          <p:cNvPr id="18" name="p17-r1-0">
            <a:extLst xmlns:a="http://schemas.openxmlformats.org/drawingml/2006/main">
              <a:ext uri="{FF2B5EF4-FFF2-40B4-BE49-F238E27FC236}">
                <a16:creationId xmlns:a16="http://schemas.microsoft.com/office/drawing/2014/main" id="{34EF6FD7-9CCE-476E-8275-2824B192F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47950"/>
            <a:ext cx="12382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1">
                <a:solidFill>
                  <a:srgbClr val="263746"/>
                </a:solidFill>
              </a:defRPr>
            </a:pPr>
            <a:r>
              <a:rPr sz="13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项目文件</a:t>
            </a:r>
          </a:p>
        </p:txBody>
      </p:sp>
      <p:sp>
        <p:nvSpPr>
          <p:cNvPr id="19" name="p17-r1-1">
            <a:extLst xmlns:a="http://schemas.openxmlformats.org/drawingml/2006/main">
              <a:ext uri="{FF2B5EF4-FFF2-40B4-BE49-F238E27FC236}">
                <a16:creationId xmlns:a16="http://schemas.microsoft.com/office/drawing/2014/main" id="{3E681488-311E-420B-9208-B94AFC7E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647950"/>
            <a:ext cx="1676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指定工件</a:t>
            </a:r>
          </a:p>
        </p:txBody>
      </p:sp>
      <p:sp>
        <p:nvSpPr>
          <p:cNvPr id="20" name="p17-r1-2">
            <a:extLst xmlns:a="http://schemas.openxmlformats.org/drawingml/2006/main">
              <a:ext uri="{FF2B5EF4-FFF2-40B4-BE49-F238E27FC236}">
                <a16:creationId xmlns:a16="http://schemas.microsoft.com/office/drawing/2014/main" id="{404FC623-5F4A-4555-936D-0404FB53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47950"/>
            <a:ext cx="16002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指定文件</a:t>
            </a:r>
          </a:p>
        </p:txBody>
      </p:sp>
      <p:sp>
        <p:nvSpPr>
          <p:cNvPr id="21" name="p17-r1-3">
            <a:extLst xmlns:a="http://schemas.openxmlformats.org/drawingml/2006/main">
              <a:ext uri="{FF2B5EF4-FFF2-40B4-BE49-F238E27FC236}">
                <a16:creationId xmlns:a16="http://schemas.microsoft.com/office/drawing/2014/main" id="{C29A499B-482D-4937-B239-2804E6D5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524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350" b="0">
                <a:solidFill>
                  <a:srgbClr val="263746"/>
                </a:solidFill>
              </a:defRPr>
            </a:pPr>
            <a:r>
              <a:rPr sz="1350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白名单命令</a:t>
            </a:r>
          </a:p>
        </p:txBody>
      </p:sp>
      <p:sp>
        <p:nvSpPr>
          <p:cNvPr id="22" name="p17-r1-4">
            <a:extLst xmlns:a="http://schemas.openxmlformats.org/drawingml/2006/main">
              <a:ext uri="{FF2B5EF4-FFF2-40B4-BE49-F238E27FC236}">
                <a16:creationId xmlns:a16="http://schemas.microsoft.com/office/drawing/2014/main" id="{AFDA2A2B-08FD-43E1-BD84-1D38525F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47950"/>
            <a:ext cx="22479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扩大写入前</a:t>
            </a:r>
          </a:p>
        </p:txBody>
      </p:sp>
      <p:sp>
        <p:nvSpPr>
          <p:cNvPr id="23" name="p17-r1-5">
            <a:extLst xmlns:a="http://schemas.openxmlformats.org/drawingml/2006/main">
              <a:ext uri="{FF2B5EF4-FFF2-40B4-BE49-F238E27FC236}">
                <a16:creationId xmlns:a16="http://schemas.microsoft.com/office/drawing/2014/main" id="{0FBD62CD-E230-402E-A05B-29CA900D3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647950"/>
            <a:ext cx="24765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删除失败</a:t>
            </a:r>
          </a:p>
        </p:txBody>
      </p:sp>
      <p:sp>
        <p:nvSpPr>
          <p:cNvPr id="24" name="p17-pauses">
            <a:extLst xmlns:a="http://schemas.openxmlformats.org/drawingml/2006/main">
              <a:ext uri="{FF2B5EF4-FFF2-40B4-BE49-F238E27FC236}">
                <a16:creationId xmlns:a16="http://schemas.microsoft.com/office/drawing/2014/main" id="{D5EE424D-F449-4CAC-8D58-A47FA6C8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904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首次写入｜扩大 Context｜安装依赖 / 长时运行｜修改问题、指标或停止条件｜发送、删除或公开｜迁移为 approved / stable</a:t>
            </a:r>
          </a:p>
        </p:txBody>
      </p:sp>
      <p:sp>
        <p:nvSpPr>
          <p:cNvPr id="25" name="p17-pause">
            <a:extLst xmlns:a="http://schemas.openxmlformats.org/drawingml/2006/main">
              <a:ext uri="{FF2B5EF4-FFF2-40B4-BE49-F238E27FC236}">
                <a16:creationId xmlns:a16="http://schemas.microsoft.com/office/drawing/2014/main" id="{08AE616D-4E5D-4DCA-B748-685748DC1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43350"/>
            <a:ext cx="14287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PAUSE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REVIEW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比较两个配置：哪个更接近研究需要？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p19-a-title">
            <a:extLst xmlns:a="http://schemas.openxmlformats.org/drawingml/2006/main">
              <a:ext uri="{FF2B5EF4-FFF2-40B4-BE49-F238E27FC236}">
                <a16:creationId xmlns:a16="http://schemas.microsoft.com/office/drawing/2014/main" id="{3EE1A0DE-C485-41C5-8369-9220FA63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8161E"/>
                </a:solidFill>
              </a:defRPr>
            </a:pPr>
            <a:r>
              <a:rPr sz="21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A</a:t>
            </a:r>
          </a:p>
        </p:txBody>
      </p:sp>
      <p:sp>
        <p:nvSpPr>
          <p:cNvPr id="7" name="p19-b-title">
            <a:extLst xmlns:a="http://schemas.openxmlformats.org/drawingml/2006/main">
              <a:ext uri="{FF2B5EF4-FFF2-40B4-BE49-F238E27FC236}">
                <a16:creationId xmlns:a16="http://schemas.microsoft.com/office/drawing/2014/main" id="{965B05BC-851B-4813-8A33-6EE04B53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2001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8745A"/>
                </a:solidFill>
              </a:defRPr>
            </a:pPr>
            <a:r>
              <a:rPr sz="21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配置 B</a:t>
            </a:r>
          </a:p>
        </p:txBody>
      </p:sp>
      <p:sp>
        <p:nvSpPr>
          <p:cNvPr id="8" name="p19-a">
            <a:extLst xmlns:a="http://schemas.openxmlformats.org/drawingml/2006/main">
              <a:ext uri="{FF2B5EF4-FFF2-40B4-BE49-F238E27FC236}">
                <a16:creationId xmlns:a16="http://schemas.microsoft.com/office/drawing/2014/main" id="{9B93F2BD-E1D7-496F-A33E-0AB73BE8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读取所有文件，自由联网，必要时修改任何内容，完成后汇报。</a:t>
            </a:r>
          </a:p>
        </p:txBody>
      </p:sp>
      <p:sp>
        <p:nvSpPr>
          <p:cNvPr id="9" name="p19-b">
            <a:extLst xmlns:a="http://schemas.openxmlformats.org/drawingml/2006/main">
              <a:ext uri="{FF2B5EF4-FFF2-40B4-BE49-F238E27FC236}">
                <a16:creationId xmlns:a16="http://schemas.microsoft.com/office/drawing/2014/main" id="{00FDB434-B5F2-4934-AACC-18D92962F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85950"/>
            <a:ext cx="47625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950" b="1">
                <a:solidFill>
                  <a:srgbClr val="263746"/>
                </a:solidFill>
              </a:defRPr>
            </a:pPr>
            <a:r>
              <a:rPr sz="195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只读三个指定文件；不联网；先提交风险卡和修改建议；人工批准后只写两个目标文件。</a:t>
            </a:r>
          </a:p>
        </p:txBody>
      </p:sp>
      <p:sp>
        <p:nvSpPr>
          <p:cNvPr id="10" name="p19-question">
            <a:extLst xmlns:a="http://schemas.openxmlformats.org/drawingml/2006/main">
              <a:ext uri="{FF2B5EF4-FFF2-40B4-BE49-F238E27FC236}">
                <a16:creationId xmlns:a16="http://schemas.microsoft.com/office/drawing/2014/main" id="{9CBA4F75-29D9-4ECF-A736-6AE94D42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629150"/>
            <a:ext cx="819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配置 B 还缺什么？补一项限制和一项核验。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文件与工件成熟度的区别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p20-file">
            <a:extLst xmlns:a="http://schemas.openxmlformats.org/drawingml/2006/main">
              <a:ext uri="{FF2B5EF4-FFF2-40B4-BE49-F238E27FC236}">
                <a16:creationId xmlns:a16="http://schemas.microsoft.com/office/drawing/2014/main" id="{85469722-CF50-4EEC-AFC9-34FBC41C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71600"/>
            <a:ext cx="23812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8354E"/>
                </a:solidFill>
              </a:defRPr>
            </a:pPr>
            <a:r>
              <a:rPr sz="2700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sp>
        <p:nvSpPr>
          <p:cNvPr id="7" name="p20-file-q">
            <a:extLst xmlns:a="http://schemas.openxmlformats.org/drawingml/2006/main">
              <a:ext uri="{FF2B5EF4-FFF2-40B4-BE49-F238E27FC236}">
                <a16:creationId xmlns:a16="http://schemas.microsoft.com/office/drawing/2014/main" id="{89DA8B08-0172-4ACE-BA2D-6B618DEC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667684"/>
                </a:solidFill>
              </a:defRPr>
            </a:pPr>
            <a:r>
              <a:rPr sz="1650" b="0">
                <a:solidFill>
                  <a:srgbClr val="667684"/>
                </a:solidFill>
                <a:latin typeface="Microsoft YaHei"/>
                <a:ea typeface="Microsoft YaHei"/>
                <a:cs typeface="Microsoft YaHei"/>
              </a:rPr>
              <a:t>内容存在哪里？</a:t>
            </a:r>
          </a:p>
        </p:txBody>
      </p:sp>
      <p:sp>
        <p:nvSpPr>
          <p:cNvPr id="8" name="p20-divider">
            <a:extLst xmlns:a="http://schemas.openxmlformats.org/drawingml/2006/main">
              <a:ext uri="{FF2B5EF4-FFF2-40B4-BE49-F238E27FC236}">
                <a16:creationId xmlns:a16="http://schemas.microsoft.com/office/drawing/2014/main" id="{CC70AE4D-4F34-46FD-982E-2E157D5C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657350" y="3114675"/>
            <a:ext cx="403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DD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p20-a-0">
            <a:extLst xmlns:a="http://schemas.openxmlformats.org/drawingml/2006/main">
              <a:ext uri="{FF2B5EF4-FFF2-40B4-BE49-F238E27FC236}">
                <a16:creationId xmlns:a16="http://schemas.microsoft.com/office/drawing/2014/main" id="{0F403EC8-321B-4C62-9F2D-67254710F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0" name="p20-s-0">
            <a:extLst xmlns:a="http://schemas.openxmlformats.org/drawingml/2006/main">
              <a:ext uri="{FF2B5EF4-FFF2-40B4-BE49-F238E27FC236}">
                <a16:creationId xmlns:a16="http://schemas.microsoft.com/office/drawing/2014/main" id="{7F059620-77B9-4928-9151-706919667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667684"/>
                </a:solidFill>
              </a:defRPr>
            </a:pPr>
            <a:r>
              <a:rPr sz="1575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1" name="p20-b-0">
            <a:extLst xmlns:a="http://schemas.openxmlformats.org/drawingml/2006/main">
              <a:ext uri="{FF2B5EF4-FFF2-40B4-BE49-F238E27FC236}">
                <a16:creationId xmlns:a16="http://schemas.microsoft.com/office/drawing/2014/main" id="{EF88878B-539E-4B64-B336-52853D02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初步内容</a:t>
            </a:r>
          </a:p>
        </p:txBody>
      </p:sp>
      <p:sp>
        <p:nvSpPr>
          <p:cNvPr id="12" name="p20-a-1">
            <a:extLst xmlns:a="http://schemas.openxmlformats.org/drawingml/2006/main">
              <a:ext uri="{FF2B5EF4-FFF2-40B4-BE49-F238E27FC236}">
                <a16:creationId xmlns:a16="http://schemas.microsoft.com/office/drawing/2014/main" id="{1207B5F8-E728-4CA5-B40B-CB77A4E85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3" name="p20-s-1">
            <a:extLst xmlns:a="http://schemas.openxmlformats.org/drawingml/2006/main">
              <a:ext uri="{FF2B5EF4-FFF2-40B4-BE49-F238E27FC236}">
                <a16:creationId xmlns:a16="http://schemas.microsoft.com/office/drawing/2014/main" id="{FD8F2EE7-C713-4DF3-8B7B-F305E5C29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F638A"/>
                </a:solidFill>
              </a:defRPr>
            </a:pPr>
            <a:r>
              <a:rPr sz="1575" b="1">
                <a:solidFill>
                  <a:srgbClr val="2F638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4" name="p20-b-1">
            <a:extLst xmlns:a="http://schemas.openxmlformats.org/drawingml/2006/main">
              <a:ext uri="{FF2B5EF4-FFF2-40B4-BE49-F238E27FC236}">
                <a16:creationId xmlns:a16="http://schemas.microsoft.com/office/drawing/2014/main" id="{BB2301B0-9D77-435E-AB8F-6312FCC5B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等待审查</a:t>
            </a:r>
          </a:p>
        </p:txBody>
      </p:sp>
      <p:sp>
        <p:nvSpPr>
          <p:cNvPr id="15" name="p20-a-2">
            <a:extLst xmlns:a="http://schemas.openxmlformats.org/drawingml/2006/main">
              <a:ext uri="{FF2B5EF4-FFF2-40B4-BE49-F238E27FC236}">
                <a16:creationId xmlns:a16="http://schemas.microsoft.com/office/drawing/2014/main" id="{243962B0-1F27-427B-BF6E-78A4E190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68605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667684"/>
                </a:solidFill>
              </a:defRPr>
            </a:pPr>
            <a:r>
              <a:rPr sz="2100" b="1">
                <a:solidFill>
                  <a:srgbClr val="667684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6" name="p20-s-2">
            <a:extLst xmlns:a="http://schemas.openxmlformats.org/drawingml/2006/main">
              <a:ext uri="{FF2B5EF4-FFF2-40B4-BE49-F238E27FC236}">
                <a16:creationId xmlns:a16="http://schemas.microsoft.com/office/drawing/2014/main" id="{528306A8-FC72-4AD1-9306-2E5577F01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Arial"/>
                <a:ea typeface="Arial"/>
                <a:cs typeface="Arial"/>
              </a:rPr>
              <a:t>approved</a:t>
            </a:r>
          </a:p>
        </p:txBody>
      </p:sp>
      <p:sp>
        <p:nvSpPr>
          <p:cNvPr id="17" name="p20-b-2">
            <a:extLst xmlns:a="http://schemas.openxmlformats.org/drawingml/2006/main">
              <a:ext uri="{FF2B5EF4-FFF2-40B4-BE49-F238E27FC236}">
                <a16:creationId xmlns:a16="http://schemas.microsoft.com/office/drawing/2014/main" id="{F2A5F669-7622-4EE7-9F1F-F819D52C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通过人工门</a:t>
            </a:r>
          </a:p>
        </p:txBody>
      </p:sp>
      <p:sp>
        <p:nvSpPr>
          <p:cNvPr id="18" name="p20-s-3">
            <a:extLst xmlns:a="http://schemas.openxmlformats.org/drawingml/2006/main">
              <a:ext uri="{FF2B5EF4-FFF2-40B4-BE49-F238E27FC236}">
                <a16:creationId xmlns:a16="http://schemas.microsoft.com/office/drawing/2014/main" id="{B2D05D1F-7935-4004-8750-E821E2E50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9812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>
        <p:nvSpPr>
          <p:cNvPr id="19" name="p20-b-3">
            <a:extLst xmlns:a="http://schemas.openxmlformats.org/drawingml/2006/main">
              <a:ext uri="{FF2B5EF4-FFF2-40B4-BE49-F238E27FC236}">
                <a16:creationId xmlns:a16="http://schemas.microsoft.com/office/drawing/2014/main" id="{C3A26FFF-334E-43F0-A2AD-A2250799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28900"/>
            <a:ext cx="14668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63746"/>
                </a:solidFill>
              </a:defRPr>
            </a:pPr>
            <a:r>
              <a:rPr sz="14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证据与边界足以引用</a:t>
            </a:r>
          </a:p>
        </p:txBody>
      </p:sp>
      <p:sp>
        <p:nvSpPr>
          <p:cNvPr id="20" name="p20-return">
            <a:extLst xmlns:a="http://schemas.openxmlformats.org/drawingml/2006/main">
              <a:ext uri="{FF2B5EF4-FFF2-40B4-BE49-F238E27FC236}">
                <a16:creationId xmlns:a16="http://schemas.microsoft.com/office/drawing/2014/main" id="{B7DDEEDC-0C58-407A-9653-16E1D4614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>
            <a:off x="5238750" y="4229100"/>
            <a:ext cx="533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20-return-label">
            <a:extLst xmlns:a="http://schemas.openxmlformats.org/drawingml/2006/main">
              <a:ext uri="{FF2B5EF4-FFF2-40B4-BE49-F238E27FC236}">
                <a16:creationId xmlns:a16="http://schemas.microsoft.com/office/drawing/2014/main" id="{D8E4F04C-FDE5-4604-A6A9-5AAE67D8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624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新证据可以让 stable 回到 review</a:t>
            </a:r>
          </a:p>
        </p:txBody>
      </p:sp>
      <p:sp>
        <p:nvSpPr>
          <p:cNvPr id="22" name="p20-bottom">
            <a:extLst xmlns:a="http://schemas.openxmlformats.org/drawingml/2006/main">
              <a:ext uri="{FF2B5EF4-FFF2-40B4-BE49-F238E27FC236}">
                <a16:creationId xmlns:a16="http://schemas.microsoft.com/office/drawing/2014/main" id="{A7B68640-5D07-44A7-99F4-A8A0C6220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1015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stable 不是“写完了”；原则上需要两项相互独立的证据。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追踪表的三个关键字段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BB18BA8-60F4-C50D-CD9B-1BB87D3E8506}" type="slidenum">
              <a:t>22</a:t>
            </a:fld>
            <a:endParaRPr/>
          </a:p>
        </p:txBody>
      </p:sp>
      <p:sp>
        <p:nvSpPr>
          <p:cNvPr id="6" name="p22-h-0">
            <a:extLst xmlns:a="http://schemas.openxmlformats.org/drawingml/2006/main">
              <a:ext uri="{FF2B5EF4-FFF2-40B4-BE49-F238E27FC236}">
                <a16:creationId xmlns:a16="http://schemas.microsoft.com/office/drawing/2014/main" id="{0E10D796-A011-48F9-9B59-2E9C2EF54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333500"/>
            <a:ext cx="1809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工件</a:t>
            </a:r>
          </a:p>
        </p:txBody>
      </p:sp>
      <p:sp>
        <p:nvSpPr>
          <p:cNvPr id="7" name="p22-h-1">
            <a:extLst xmlns:a="http://schemas.openxmlformats.org/drawingml/2006/main">
              <a:ext uri="{FF2B5EF4-FFF2-40B4-BE49-F238E27FC236}">
                <a16:creationId xmlns:a16="http://schemas.microsoft.com/office/drawing/2014/main" id="{57727FDD-8A35-4552-BD6D-3FF71742F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33500"/>
            <a:ext cx="1524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状态</a:t>
            </a:r>
          </a:p>
        </p:txBody>
      </p:sp>
      <p:sp>
        <p:nvSpPr>
          <p:cNvPr id="8" name="p22-h-2">
            <a:extLst xmlns:a="http://schemas.openxmlformats.org/drawingml/2006/main">
              <a:ext uri="{FF2B5EF4-FFF2-40B4-BE49-F238E27FC236}">
                <a16:creationId xmlns:a16="http://schemas.microsoft.com/office/drawing/2014/main" id="{79116B50-F6B8-4DD4-840C-F4F7F591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333500"/>
            <a:ext cx="219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9" name="p22-h-3">
            <a:extLst xmlns:a="http://schemas.openxmlformats.org/drawingml/2006/main">
              <a:ext uri="{FF2B5EF4-FFF2-40B4-BE49-F238E27FC236}">
                <a16:creationId xmlns:a16="http://schemas.microsoft.com/office/drawing/2014/main" id="{24BB98CE-F1CC-4A40-BF77-F1A78E411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依据</a:t>
            </a:r>
          </a:p>
        </p:txBody>
      </p:sp>
      <p:sp>
        <p:nvSpPr>
          <p:cNvPr id="10" name="p22-h-4">
            <a:extLst xmlns:a="http://schemas.openxmlformats.org/drawingml/2006/main">
              <a:ext uri="{FF2B5EF4-FFF2-40B4-BE49-F238E27FC236}">
                <a16:creationId xmlns:a16="http://schemas.microsoft.com/office/drawing/2014/main" id="{8955C156-2251-408A-BED8-171E8E4B4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3048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后续用途</a:t>
            </a:r>
          </a:p>
        </p:txBody>
      </p:sp>
      <p:sp>
        <p:nvSpPr>
          <p:cNvPr id="11" name="p22-r0-0">
            <a:extLst xmlns:a="http://schemas.openxmlformats.org/drawingml/2006/main">
              <a:ext uri="{FF2B5EF4-FFF2-40B4-BE49-F238E27FC236}">
                <a16:creationId xmlns:a16="http://schemas.microsoft.com/office/drawing/2014/main" id="{A4640055-882B-4DA9-82E5-CC4E338F1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03835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</a:t>
            </a:r>
          </a:p>
        </p:txBody>
      </p:sp>
      <p:sp>
        <p:nvSpPr>
          <p:cNvPr id="12" name="p22-r0-1">
            <a:extLst xmlns:a="http://schemas.openxmlformats.org/drawingml/2006/main">
              <a:ext uri="{FF2B5EF4-FFF2-40B4-BE49-F238E27FC236}">
                <a16:creationId xmlns:a16="http://schemas.microsoft.com/office/drawing/2014/main" id="{CB2BE2D0-6FAA-4C3A-AB57-899D4928A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03835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3" name="p22-r0-2">
            <a:extLst xmlns:a="http://schemas.openxmlformats.org/drawingml/2006/main">
              <a:ext uri="{FF2B5EF4-FFF2-40B4-BE49-F238E27FC236}">
                <a16:creationId xmlns:a16="http://schemas.microsoft.com/office/drawing/2014/main" id="{D57FA75D-3258-4613-827D-43E5B091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03835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当前任务</a:t>
            </a:r>
          </a:p>
        </p:txBody>
      </p:sp>
      <p:sp>
        <p:nvSpPr>
          <p:cNvPr id="14" name="p22-r0-3">
            <a:extLst xmlns:a="http://schemas.openxmlformats.org/drawingml/2006/main">
              <a:ext uri="{FF2B5EF4-FFF2-40B4-BE49-F238E27FC236}">
                <a16:creationId xmlns:a16="http://schemas.microsoft.com/office/drawing/2014/main" id="{562B53B5-D1F8-42D5-B82C-6BB5F0EB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风险卡与确认点</a:t>
            </a:r>
          </a:p>
        </p:txBody>
      </p:sp>
      <p:sp>
        <p:nvSpPr>
          <p:cNvPr id="15" name="p22-r0-4">
            <a:extLst xmlns:a="http://schemas.openxmlformats.org/drawingml/2006/main">
              <a:ext uri="{FF2B5EF4-FFF2-40B4-BE49-F238E27FC236}">
                <a16:creationId xmlns:a16="http://schemas.microsoft.com/office/drawing/2014/main" id="{C9542A44-D392-4EB8-9490-FFC5E223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后续 Agent 任务</a:t>
            </a:r>
          </a:p>
        </p:txBody>
      </p:sp>
      <p:sp>
        <p:nvSpPr>
          <p:cNvPr id="16" name="p22-r1-0">
            <a:extLst xmlns:a="http://schemas.openxmlformats.org/drawingml/2006/main">
              <a:ext uri="{FF2B5EF4-FFF2-40B4-BE49-F238E27FC236}">
                <a16:creationId xmlns:a16="http://schemas.microsoft.com/office/drawing/2014/main" id="{51866DCE-5EA4-430F-B75E-71B898C6B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162300"/>
            <a:ext cx="1809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63746"/>
                </a:solidFill>
              </a:defRPr>
            </a:pPr>
            <a:r>
              <a:rPr sz="15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伦理清单</a:t>
            </a:r>
          </a:p>
        </p:txBody>
      </p:sp>
      <p:sp>
        <p:nvSpPr>
          <p:cNvPr id="17" name="p22-r1-1">
            <a:extLst xmlns:a="http://schemas.openxmlformats.org/drawingml/2006/main">
              <a:ext uri="{FF2B5EF4-FFF2-40B4-BE49-F238E27FC236}">
                <a16:creationId xmlns:a16="http://schemas.microsoft.com/office/drawing/2014/main" id="{02F63020-A276-4AAE-B6FE-F6A0B01FD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162300"/>
            <a:ext cx="1524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draft</a:t>
            </a:r>
          </a:p>
        </p:txBody>
      </p:sp>
      <p:sp>
        <p:nvSpPr>
          <p:cNvPr id="18" name="p22-r1-2">
            <a:extLst xmlns:a="http://schemas.openxmlformats.org/drawingml/2006/main">
              <a:ext uri="{FF2B5EF4-FFF2-40B4-BE49-F238E27FC236}">
                <a16:creationId xmlns:a16="http://schemas.microsoft.com/office/drawing/2014/main" id="{B021872C-4670-4085-A7CB-3F314988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1623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数据与情境</a:t>
            </a:r>
          </a:p>
        </p:txBody>
      </p:sp>
      <p:sp>
        <p:nvSpPr>
          <p:cNvPr id="19" name="p22-r1-3">
            <a:extLst xmlns:a="http://schemas.openxmlformats.org/drawingml/2006/main">
              <a:ext uri="{FF2B5EF4-FFF2-40B4-BE49-F238E27FC236}">
                <a16:creationId xmlns:a16="http://schemas.microsoft.com/office/drawing/2014/main" id="{AF42D027-9BDF-4210-8D75-9DA997BA7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许可与风险判断</a:t>
            </a:r>
          </a:p>
        </p:txBody>
      </p:sp>
      <p:sp>
        <p:nvSpPr>
          <p:cNvPr id="20" name="p22-r1-4">
            <a:extLst xmlns:a="http://schemas.openxmlformats.org/drawingml/2006/main">
              <a:ext uri="{FF2B5EF4-FFF2-40B4-BE49-F238E27FC236}">
                <a16:creationId xmlns:a16="http://schemas.microsoft.com/office/drawing/2014/main" id="{7906E5C6-C416-4FCC-9765-39C5A6FE4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162300"/>
            <a:ext cx="3048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调整项目范围</a:t>
            </a:r>
          </a:p>
        </p:txBody>
      </p:sp>
      <p:sp>
        <p:nvSpPr>
          <p:cNvPr id="21" name="p22-bottom">
            <a:extLst xmlns:a="http://schemas.openxmlformats.org/drawingml/2006/main">
              <a:ext uri="{FF2B5EF4-FFF2-40B4-BE49-F238E27FC236}">
                <a16:creationId xmlns:a16="http://schemas.microsoft.com/office/drawing/2014/main" id="{ADAD0092-3DB4-4500-9C85-0EFEE54C6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24400"/>
            <a:ext cx="9410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来源：从哪里来　　依据：为什么相信　　后续用途：为什么维护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日志的信息量标准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4E99CEF-AF55-BA3C-ADF8-4E52E186DD8F}" type="slidenum">
              <a:t>23</a:t>
            </a:fld>
            <a:endParaRPr/>
          </a:p>
        </p:txBody>
      </p:sp>
      <p:sp>
        <p:nvSpPr>
          <p:cNvPr id="6" name="p23-good-label">
            <a:extLst xmlns:a="http://schemas.openxmlformats.org/drawingml/2006/main">
              <a:ext uri="{FF2B5EF4-FFF2-40B4-BE49-F238E27FC236}">
                <a16:creationId xmlns:a16="http://schemas.microsoft.com/office/drawing/2014/main" id="{582D41BD-9C80-4C74-904B-2F6F97DCB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8745A"/>
                </a:solidFill>
              </a:defRPr>
            </a:pPr>
            <a:r>
              <a:rPr sz="180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有用</a:t>
            </a:r>
          </a:p>
        </p:txBody>
      </p:sp>
      <p:sp>
        <p:nvSpPr>
          <p:cNvPr id="7" name="p23-good">
            <a:extLst xmlns:a="http://schemas.openxmlformats.org/drawingml/2006/main">
              <a:ext uri="{FF2B5EF4-FFF2-40B4-BE49-F238E27FC236}">
                <a16:creationId xmlns:a16="http://schemas.microsoft.com/office/drawing/2014/main" id="{EA768B79-5C55-4122-A54E-FD8D2688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209550" tIns="152400" rIns="20955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Context：指定三份公开材料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实际输出：五字段风险卡 + 两项修改建议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采用 / 拒绝：采纳第 2 项，拒绝第 1 项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核验：对照原文件与 git diff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650" b="0">
                <a:solidFill>
                  <a:srgbClr val="263746"/>
                </a:solidFill>
              </a:defRPr>
            </a:pPr>
            <a:r>
              <a:rPr sz="165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问题：授权范围仍待确认</a:t>
            </a:r>
          </a:p>
        </p:txBody>
      </p:sp>
      <p:sp>
        <p:nvSpPr>
          <p:cNvPr id="8" name="p23-bad-label">
            <a:extLst xmlns:a="http://schemas.openxmlformats.org/drawingml/2006/main">
              <a:ext uri="{FF2B5EF4-FFF2-40B4-BE49-F238E27FC236}">
                <a16:creationId xmlns:a16="http://schemas.microsoft.com/office/drawing/2014/main" id="{0A556418-13FF-45DD-A7F5-88B0B275C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481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无用</a:t>
            </a:r>
          </a:p>
        </p:txBody>
      </p:sp>
      <p:sp>
        <p:nvSpPr>
          <p:cNvPr id="9" name="p23-bad">
            <a:extLst xmlns:a="http://schemas.openxmlformats.org/drawingml/2006/main">
              <a:ext uri="{FF2B5EF4-FFF2-40B4-BE49-F238E27FC236}">
                <a16:creationId xmlns:a16="http://schemas.microsoft.com/office/drawing/2014/main" id="{EE1C1A27-1AE8-4104-9C64-34055AC6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210050"/>
            <a:ext cx="7239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C8161E"/>
                </a:solidFill>
              </a:defRPr>
            </a:pPr>
            <a:r>
              <a:rPr sz="2025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“用 AI 修改，已人工核验。”</a:t>
            </a:r>
          </a:p>
        </p:txBody>
      </p:sp>
      <p:sp>
        <p:nvSpPr>
          <p:cNvPr id="10" name="p23-bottom">
            <a:extLst xmlns:a="http://schemas.openxmlformats.org/drawingml/2006/main">
              <a:ext uri="{FF2B5EF4-FFF2-40B4-BE49-F238E27FC236}">
                <a16:creationId xmlns:a16="http://schemas.microsoft.com/office/drawing/2014/main" id="{0C1BEC2B-D95B-4EF6-96D6-DD3AE3F42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1435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人工核验必须说明：核验什么，用什么方法。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演示目标：把风险判断写入三个工件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A59AF09-D197-0193-A7DE-FAAF0B691058}" type="slidenum">
              <a:t>24</a:t>
            </a:fld>
            <a:endParaRPr/>
          </a:p>
        </p:txBody>
      </p:sp>
      <p:sp>
        <p:nvSpPr>
          <p:cNvPr id="6" name="p24-fiction">
            <a:extLst xmlns:a="http://schemas.openxmlformats.org/drawingml/2006/main">
              <a:ext uri="{FF2B5EF4-FFF2-40B4-BE49-F238E27FC236}">
                <a16:creationId xmlns:a16="http://schemas.microsoft.com/office/drawing/2014/main" id="{8A1791D5-34CF-43D0-9F57-579B9361B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公开虚构任务</a:t>
            </a:r>
          </a:p>
        </p:txBody>
      </p:sp>
      <p:sp>
        <p:nvSpPr>
          <p:cNvPr id="7" name="p24-task">
            <a:extLst xmlns:a="http://schemas.openxmlformats.org/drawingml/2006/main">
              <a:ext uri="{FF2B5EF4-FFF2-40B4-BE49-F238E27FC236}">
                <a16:creationId xmlns:a16="http://schemas.microsoft.com/office/drawing/2014/main" id="{BB4E48F5-B493-4521-B9B1-F1435009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76400"/>
            <a:ext cx="46672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使用公开论文摘要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2625" b="1">
                <a:solidFill>
                  <a:srgbClr val="18354E"/>
                </a:solidFill>
              </a:defRPr>
            </a:pPr>
            <a:r>
              <a:rPr sz="26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生成候选关键词</a:t>
            </a:r>
          </a:p>
        </p:txBody>
      </p:sp>
      <p:sp>
        <p:nvSpPr>
          <p:cNvPr id="8" name="p24-arrow">
            <a:extLst xmlns:a="http://schemas.openxmlformats.org/drawingml/2006/main">
              <a:ext uri="{FF2B5EF4-FFF2-40B4-BE49-F238E27FC236}">
                <a16:creationId xmlns:a16="http://schemas.microsoft.com/office/drawing/2014/main" id="{8109C160-A489-4ED7-8A9B-36EA1BC7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571750"/>
            <a:ext cx="857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C8161E"/>
                </a:solidFill>
              </a:defRPr>
            </a:pPr>
            <a:r>
              <a:rPr sz="360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p24-f-0">
            <a:extLst xmlns:a="http://schemas.openxmlformats.org/drawingml/2006/main">
              <a:ext uri="{FF2B5EF4-FFF2-40B4-BE49-F238E27FC236}">
                <a16:creationId xmlns:a16="http://schemas.microsoft.com/office/drawing/2014/main" id="{3686D67F-50FA-4ED0-AAE0-A831C0A3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09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agent-permissions.md</a:t>
            </a:r>
          </a:p>
        </p:txBody>
      </p:sp>
      <p:sp>
        <p:nvSpPr>
          <p:cNvPr id="10" name="p24-f-1">
            <a:extLst xmlns:a="http://schemas.openxmlformats.org/drawingml/2006/main">
              <a:ext uri="{FF2B5EF4-FFF2-40B4-BE49-F238E27FC236}">
                <a16:creationId xmlns:a16="http://schemas.microsoft.com/office/drawing/2014/main" id="{BE1DAFB2-0EFE-49DF-8CE0-9C79A448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552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Consolas"/>
                <a:ea typeface="Consolas"/>
                <a:cs typeface="Consolas"/>
              </a:rPr>
              <a:t>ethics-and-compliance.md</a:t>
            </a:r>
          </a:p>
        </p:txBody>
      </p:sp>
      <p:sp>
        <p:nvSpPr>
          <p:cNvPr id="11" name="p24-f-2">
            <a:extLst xmlns:a="http://schemas.openxmlformats.org/drawingml/2006/main">
              <a:ext uri="{FF2B5EF4-FFF2-40B4-BE49-F238E27FC236}">
                <a16:creationId xmlns:a16="http://schemas.microsoft.com/office/drawing/2014/main" id="{19C320FE-09A0-43F2-8174-5522D0BE2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957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63746"/>
                </a:solidFill>
              </a:defRPr>
            </a:pPr>
            <a:r>
              <a:rPr sz="1650" b="1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ai-usage-log.md</a:t>
            </a:r>
          </a:p>
        </p:txBody>
      </p:sp>
      <p:sp>
        <p:nvSpPr>
          <p:cNvPr id="12" name="p24-bottom">
            <a:extLst xmlns:a="http://schemas.openxmlformats.org/drawingml/2006/main">
              <a:ext uri="{FF2B5EF4-FFF2-40B4-BE49-F238E27FC236}">
                <a16:creationId xmlns:a16="http://schemas.microsoft.com/office/drawing/2014/main" id="{DD04E53D-EF23-4D67-80EC-050DA08E2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972050"/>
            <a:ext cx="933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观察 Context、权限、人工判断、写回和实际 diff；不评价关键词是否漂亮。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第一轮只读：先找风险和过宽权限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3AE1AE4-D79E-94D6-E825-3FC6C21A77D2}" type="slidenum">
              <a:t>25</a:t>
            </a:fld>
            <a:endParaRPr/>
          </a:p>
        </p:txBody>
      </p:sp>
      <p:sp>
        <p:nvSpPr>
          <p:cNvPr id="6" name="p25-contract">
            <a:extLst xmlns:a="http://schemas.openxmlformats.org/drawingml/2006/main">
              <a:ext uri="{FF2B5EF4-FFF2-40B4-BE49-F238E27FC236}">
                <a16:creationId xmlns:a16="http://schemas.microsoft.com/office/drawing/2014/main" id="{3D39BA46-769E-4AA2-B661-871860F7D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096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161E"/>
                </a:solidFill>
              </a:defRPr>
            </a:pPr>
            <a:r>
              <a:rPr sz="1275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READ-ONLY RISK CONTRACT</a:t>
            </a:r>
          </a:p>
        </p:txBody>
      </p:sp>
      <p:sp>
        <p:nvSpPr>
          <p:cNvPr id="7" name="p25-code">
            <a:extLst xmlns:a="http://schemas.openxmlformats.org/drawingml/2006/main">
              <a:ext uri="{FF2B5EF4-FFF2-40B4-BE49-F238E27FC236}">
                <a16:creationId xmlns:a16="http://schemas.microsoft.com/office/drawing/2014/main" id="{F080D457-D80F-4407-8404-66378467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7753350" cy="396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读取 AGENTS.md、problem-definition.md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和 agent-permissions.md。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生成：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五字段风险卡；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过宽或缺失权限；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最小修改建议。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限制：不修改文件；不联网；不假设额外授权；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不把建议写成已批准决定。</a:t>
            </a:r>
          </a:p>
        </p:txBody>
      </p:sp>
      <p:sp>
        <p:nvSpPr>
          <p:cNvPr id="8" name="p25-tag-0">
            <a:extLst xmlns:a="http://schemas.openxmlformats.org/drawingml/2006/main">
              <a:ext uri="{FF2B5EF4-FFF2-40B4-BE49-F238E27FC236}">
                <a16:creationId xmlns:a16="http://schemas.microsoft.com/office/drawing/2014/main" id="{9791CCE6-7C40-4FB6-804D-559D51F0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097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Asset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指定三份文件</a:t>
            </a:r>
          </a:p>
        </p:txBody>
      </p:sp>
      <p:sp>
        <p:nvSpPr>
          <p:cNvPr id="9" name="p25-tag-1">
            <a:extLst xmlns:a="http://schemas.openxmlformats.org/drawingml/2006/main">
              <a:ext uri="{FF2B5EF4-FFF2-40B4-BE49-F238E27FC236}">
                <a16:creationId xmlns:a16="http://schemas.microsoft.com/office/drawing/2014/main" id="{5A2B7FAC-659D-4819-999D-ADCCAD35D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812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Action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只读分析</a:t>
            </a:r>
          </a:p>
        </p:txBody>
      </p:sp>
      <p:sp>
        <p:nvSpPr>
          <p:cNvPr id="10" name="p25-tag-2">
            <a:extLst xmlns:a="http://schemas.openxmlformats.org/drawingml/2006/main">
              <a:ext uri="{FF2B5EF4-FFF2-40B4-BE49-F238E27FC236}">
                <a16:creationId xmlns:a16="http://schemas.microsoft.com/office/drawing/2014/main" id="{34EBE295-5171-4AA9-8564-E31B8223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Control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8354E"/>
                </a:solidFill>
              </a:defRPr>
            </a:pPr>
            <a:r>
              <a:rPr sz="14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不写入 / 不联网</a:t>
            </a:r>
          </a:p>
        </p:txBody>
      </p:sp>
      <p:sp>
        <p:nvSpPr>
          <p:cNvPr id="11" name="p25-tag-3">
            <a:extLst xmlns:a="http://schemas.openxmlformats.org/drawingml/2006/main">
              <a:ext uri="{FF2B5EF4-FFF2-40B4-BE49-F238E27FC236}">
                <a16:creationId xmlns:a16="http://schemas.microsoft.com/office/drawing/2014/main" id="{58E84CCD-9F8A-4B06-9880-160BDB00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324350"/>
            <a:ext cx="2571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Review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C8161E"/>
                </a:solidFill>
              </a:defRPr>
            </a:pPr>
            <a:r>
              <a:rPr sz="14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建议不得自动获批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人工批准后，只写目标文件并检查实际变化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AB55966-FA28-BC73-EA9E-53DF014DF033}" type="slidenum">
              <a:t>26</a:t>
            </a:fld>
            <a:endParaRPr/>
          </a:p>
        </p:txBody>
      </p:sp>
      <p:sp>
        <p:nvSpPr>
          <p:cNvPr id="6" name="p26-prompt-title">
            <a:extLst xmlns:a="http://schemas.openxmlformats.org/drawingml/2006/main">
              <a:ext uri="{FF2B5EF4-FFF2-40B4-BE49-F238E27FC236}">
                <a16:creationId xmlns:a16="http://schemas.microsoft.com/office/drawing/2014/main" id="{7ABD42AC-FC57-4EDE-80B5-865889A30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C8161E"/>
                </a:solidFill>
              </a:defRPr>
            </a:pPr>
            <a:r>
              <a:rPr sz="15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限定写回</a:t>
            </a:r>
          </a:p>
        </p:txBody>
      </p:sp>
      <p:sp>
        <p:nvSpPr>
          <p:cNvPr id="7" name="p26-prompt">
            <a:extLst xmlns:a="http://schemas.openxmlformats.org/drawingml/2006/main">
              <a:ext uri="{FF2B5EF4-FFF2-40B4-BE49-F238E27FC236}">
                <a16:creationId xmlns:a16="http://schemas.microsoft.com/office/drawing/2014/main" id="{A4CD9FD6-F9C6-48DC-927D-18843575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8958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仅执行已批准修改：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1. 更新权限矩阵“文献与网络”一行；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2. 增加五字段风险卡；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3. 记录本次 AI 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75" b="0">
                <a:solidFill>
                  <a:srgbClr val="263746"/>
                </a:solidFill>
              </a:defRPr>
            </a:pPr>
            <a:r>
              <a:rPr sz="1575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只写三个目标文件。</a:t>
            </a:r>
          </a:p>
        </p:txBody>
      </p:sp>
      <p:sp>
        <p:nvSpPr>
          <p:cNvPr id="8" name="p26-diff-title">
            <a:extLst xmlns:a="http://schemas.openxmlformats.org/drawingml/2006/main">
              <a:ext uri="{FF2B5EF4-FFF2-40B4-BE49-F238E27FC236}">
                <a16:creationId xmlns:a16="http://schemas.microsoft.com/office/drawing/2014/main" id="{2018969A-2AE2-4D9A-B868-E5BC6666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0287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28745A"/>
                </a:solidFill>
              </a:defRPr>
            </a:pPr>
            <a:r>
              <a:rPr sz="157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实际检查</a:t>
            </a:r>
          </a:p>
        </p:txBody>
      </p:sp>
      <p:sp>
        <p:nvSpPr>
          <p:cNvPr id="9" name="p26-diff">
            <a:extLst xmlns:a="http://schemas.openxmlformats.org/drawingml/2006/main">
              <a:ext uri="{FF2B5EF4-FFF2-40B4-BE49-F238E27FC236}">
                <a16:creationId xmlns:a16="http://schemas.microsoft.com/office/drawing/2014/main" id="{CCFE4CB0-6480-4E3F-B9B9-43CA5DC2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66850"/>
            <a:ext cx="53149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190500" tIns="152400" rIns="190500" bIns="152400" anchor="t"/>
          <a:lstStyle xmlns:a="http://schemas.openxmlformats.org/drawingml/2006/main"/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git diff --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agent-permissions.md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ethics-and-compliance.md \</a:t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  ai-usage-log.md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30000"/>
              </a:lnSpc>
              <a:buNone/>
              <a:defRPr sz="1500" b="0">
                <a:solidFill>
                  <a:srgbClr val="263746"/>
                </a:solidFill>
              </a:defRPr>
            </a:pPr>
            <a:r>
              <a:rPr sz="1500" b="0">
                <a:solidFill>
                  <a:srgbClr val="263746"/>
                </a:solidFill>
                <a:latin typeface="Consolas"/>
                <a:ea typeface="Consolas"/>
                <a:cs typeface="Consolas"/>
              </a:rPr>
              <a:t>检查：目标文件｜状态迁移｜Context｜采用与拒绝｜核验方法</a:t>
            </a:r>
          </a:p>
        </p:txBody>
      </p:sp>
      <p:sp>
        <p:nvSpPr>
          <p:cNvPr id="10" name="p26-bottom">
            <a:extLst xmlns:a="http://schemas.openxmlformats.org/drawingml/2006/main">
              <a:ext uri="{FF2B5EF4-FFF2-40B4-BE49-F238E27FC236}">
                <a16:creationId xmlns:a16="http://schemas.microsoft.com/office/drawing/2014/main" id="{17FDD28E-19AD-4479-9500-0C253ABC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972050"/>
            <a:ext cx="6629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命令只能证明文件变化，不能证明内容正确。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个人实践：完成最小可审计闭环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02F15020-66A7-620A-7B7A-C05C4312DEAE}" type="slidenum">
              <a:t>27</a:t>
            </a:fld>
            <a:endParaRPr/>
          </a:p>
        </p:txBody>
      </p:sp>
      <p:sp>
        <p:nvSpPr>
          <p:cNvPr id="6" name="p27-time">
            <a:extLst xmlns:a="http://schemas.openxmlformats.org/drawingml/2006/main">
              <a:ext uri="{FF2B5EF4-FFF2-40B4-BE49-F238E27FC236}">
                <a16:creationId xmlns:a16="http://schemas.microsoft.com/office/drawing/2014/main" id="{FA891C97-DA62-48A3-BBB9-2D5314FE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8953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C8161E"/>
                </a:solidFill>
              </a:defRPr>
            </a:pPr>
            <a:r>
              <a:rPr sz="13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两段：1-2 权限 · 3-6 风险记录</a:t>
            </a:r>
          </a:p>
        </p:txBody>
      </p:sp>
      <p:sp>
        <p:nvSpPr>
          <p:cNvPr id="7" name="p27-n-0">
            <a:extLst xmlns:a="http://schemas.openxmlformats.org/drawingml/2006/main">
              <a:ext uri="{FF2B5EF4-FFF2-40B4-BE49-F238E27FC236}">
                <a16:creationId xmlns:a16="http://schemas.microsoft.com/office/drawing/2014/main" id="{812940F5-2239-4E2D-B814-BC2999CA9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2001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8" name="p27-t-0">
            <a:extLst xmlns:a="http://schemas.openxmlformats.org/drawingml/2006/main">
              <a:ext uri="{FF2B5EF4-FFF2-40B4-BE49-F238E27FC236}">
                <a16:creationId xmlns:a16="http://schemas.microsoft.com/office/drawing/2014/main" id="{91B66EEF-B8CD-44D5-B508-F8E5E3ED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2001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权限矩阵一行</a:t>
            </a:r>
          </a:p>
        </p:txBody>
      </p:sp>
      <p:sp>
        <p:nvSpPr>
          <p:cNvPr id="9" name="p27-n-1">
            <a:extLst xmlns:a="http://schemas.openxmlformats.org/drawingml/2006/main">
              <a:ext uri="{FF2B5EF4-FFF2-40B4-BE49-F238E27FC236}">
                <a16:creationId xmlns:a16="http://schemas.microsoft.com/office/drawing/2014/main" id="{6C6ACAB2-2F1A-4D04-BA1F-3305E457D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812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p27-t-1">
            <a:extLst xmlns:a="http://schemas.openxmlformats.org/drawingml/2006/main">
              <a:ext uri="{FF2B5EF4-FFF2-40B4-BE49-F238E27FC236}">
                <a16:creationId xmlns:a16="http://schemas.microsoft.com/office/drawing/2014/main" id="{972793B8-3E37-4E59-9F80-F90CB9E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9812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一个确认点 + 一个禁止事项</a:t>
            </a:r>
          </a:p>
        </p:txBody>
      </p:sp>
      <p:sp>
        <p:nvSpPr>
          <p:cNvPr id="11" name="p27-n-2">
            <a:extLst xmlns:a="http://schemas.openxmlformats.org/drawingml/2006/main">
              <a:ext uri="{FF2B5EF4-FFF2-40B4-BE49-F238E27FC236}">
                <a16:creationId xmlns:a16="http://schemas.microsoft.com/office/drawing/2014/main" id="{65B10913-B93B-46DD-98ED-E82B24BC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7622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8354E"/>
                </a:solidFill>
              </a:defRPr>
            </a:pPr>
            <a:r>
              <a:rPr sz="19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p27-t-2">
            <a:extLst xmlns:a="http://schemas.openxmlformats.org/drawingml/2006/main">
              <a:ext uri="{FF2B5EF4-FFF2-40B4-BE49-F238E27FC236}">
                <a16:creationId xmlns:a16="http://schemas.microsoft.com/office/drawing/2014/main" id="{30746B6D-17B4-4CE6-AC70-5CBD23087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7622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一张五字段风险卡</a:t>
            </a:r>
          </a:p>
        </p:txBody>
      </p:sp>
      <p:sp>
        <p:nvSpPr>
          <p:cNvPr id="13" name="p27-n-3">
            <a:extLst xmlns:a="http://schemas.openxmlformats.org/drawingml/2006/main">
              <a:ext uri="{FF2B5EF4-FFF2-40B4-BE49-F238E27FC236}">
                <a16:creationId xmlns:a16="http://schemas.microsoft.com/office/drawing/2014/main" id="{50069AA4-6177-4751-A1B8-ED6FF2E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4330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4" name="p27-t-3">
            <a:extLst xmlns:a="http://schemas.openxmlformats.org/drawingml/2006/main">
              <a:ext uri="{FF2B5EF4-FFF2-40B4-BE49-F238E27FC236}">
                <a16:creationId xmlns:a16="http://schemas.microsoft.com/office/drawing/2014/main" id="{42D0EAEE-F9EA-414C-A98B-6676F842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354330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至少追踪 1 个早期工件</a:t>
            </a:r>
          </a:p>
        </p:txBody>
      </p:sp>
      <p:sp>
        <p:nvSpPr>
          <p:cNvPr id="15" name="p27-n-4">
            <a:extLst xmlns:a="http://schemas.openxmlformats.org/drawingml/2006/main">
              <a:ext uri="{FF2B5EF4-FFF2-40B4-BE49-F238E27FC236}">
                <a16:creationId xmlns:a16="http://schemas.microsoft.com/office/drawing/2014/main" id="{1DE5A392-9F1C-4952-8511-6630E9E58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723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C8161E"/>
                </a:solidFill>
              </a:defRPr>
            </a:pPr>
            <a:r>
              <a:rPr sz="19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6" name="p27-t-4">
            <a:extLst xmlns:a="http://schemas.openxmlformats.org/drawingml/2006/main">
              <a:ext uri="{FF2B5EF4-FFF2-40B4-BE49-F238E27FC236}">
                <a16:creationId xmlns:a16="http://schemas.microsoft.com/office/drawing/2014/main" id="{06E4CB9D-08C0-46F1-9FA8-8C7EED0D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4324350"/>
            <a:ext cx="628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263746"/>
                </a:solidFill>
              </a:defRPr>
            </a:pPr>
            <a:r>
              <a:rPr sz="187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更新 AI 使用记录</a:t>
            </a:r>
          </a:p>
        </p:txBody>
      </p:sp>
      <p:sp>
        <p:nvSpPr>
          <p:cNvPr id="17" name="p27-guard">
            <a:extLst xmlns:a="http://schemas.openxmlformats.org/drawingml/2006/main">
              <a:ext uri="{FF2B5EF4-FFF2-40B4-BE49-F238E27FC236}">
                <a16:creationId xmlns:a16="http://schemas.microsoft.com/office/drawing/2014/main" id="{5470C6CE-97E5-440B-BF26-D351A9FB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581150"/>
            <a:ext cx="2724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不要使用真实保密或敏感材料</a:t>
            </a:r>
          </a:p>
        </p:txBody>
      </p:sp>
      <p:sp>
        <p:nvSpPr>
          <p:cNvPr id="18" name="p27-fallback">
            <a:extLst xmlns:a="http://schemas.openxmlformats.org/drawingml/2006/main">
              <a:ext uri="{FF2B5EF4-FFF2-40B4-BE49-F238E27FC236}">
                <a16:creationId xmlns:a16="http://schemas.microsoft.com/office/drawing/2014/main" id="{581B7CF0-CB22-48C3-82BB-3353F495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781300"/>
            <a:ext cx="2724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模型不可用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直接编辑 Markdown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A86C12"/>
                </a:solidFill>
              </a:defRPr>
            </a:pPr>
            <a:r>
              <a:rPr sz="150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写出预期权限与风险判断</a:t>
            </a:r>
          </a:p>
        </p:txBody>
      </p:sp>
      <p:sp>
        <p:nvSpPr>
          <p:cNvPr id="19" name="p27-done">
            <a:extLst xmlns:a="http://schemas.openxmlformats.org/drawingml/2006/main">
              <a:ext uri="{FF2B5EF4-FFF2-40B4-BE49-F238E27FC236}">
                <a16:creationId xmlns:a16="http://schemas.microsoft.com/office/drawing/2014/main" id="{9395DCE9-A00C-4A60-81E1-3F95B49B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010150"/>
            <a:ext cx="9906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161E"/>
                </a:solidFill>
              </a:defRPr>
            </a:pPr>
            <a:r>
              <a:rPr sz="15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课堂最低闭环完成；第 3 课前再补齐问题 / 证据地图 / 实验记录 / AI 使用记录四项追踪</a:t>
            </a:r>
          </a:p>
        </p:txBody>
      </p:sp>
      <p:sp xmlns:a="http://schemas.openxmlformats.org/drawingml/2006/main">
        <p:nvSpPr>
          <p:cNvPr id="20" name="TextBox 19"/>
          <p:cNvSpPr txBox="1"/>
          <p:nvPr/>
        </p:nvSpPr>
        <p:spPr>
          <a:xfrm>
            <a:off x="660400" y="5588000"/>
            <a:ext cx="1087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333333"/>
                </a:solidFill>
              </a:rPr>
              <a:t>06 让 Agent 只读 agent-permissions.md 提一条过宽/缺失权限（无模型写"未执行"，转课后）</a:t>
            </a:r>
          </a:p>
        </p:txBody>
      </p:sp>
      <p:sp xmlns:a="http://schemas.openxmlformats.org/drawingml/2006/main">
        <p:nvSpPr>
          <p:cNvPr id="21" name="TextBox 20"/>
          <p:cNvSpPr txBox="1"/>
          <p:nvPr/>
        </p:nvSpPr>
        <p:spPr>
          <a:xfrm>
            <a:off x="660400" y="6070600"/>
            <a:ext cx="108712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F4D78"/>
                </a:solidFill>
              </a:rPr>
              <a:t>候选三选一：问题定义 Context 边界｜阅读卡补证据角色｜代码任务写契约。自检：确认点与禁止项｜责任人｜依据｜核验｜步骤 6 口径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同伴互查只检查边界是否清楚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8AD4375-9F50-F53A-6F9F-DD8473067C05}" type="slidenum">
              <a:t>28</a:t>
            </a:fld>
            <a:endParaRPr/>
          </a:p>
        </p:txBody>
      </p:sp>
      <p:sp>
        <p:nvSpPr>
          <p:cNvPr id="6" name="p28-mode">
            <a:extLst xmlns:a="http://schemas.openxmlformats.org/drawingml/2006/main">
              <a:ext uri="{FF2B5EF4-FFF2-40B4-BE49-F238E27FC236}">
                <a16:creationId xmlns:a16="http://schemas.microsoft.com/office/drawing/2014/main" id="{B0AF8FE9-ED9C-4439-8ED6-7D709F67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6680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两人互查</a:t>
            </a:r>
          </a:p>
        </p:txBody>
      </p:sp>
      <p:sp>
        <p:nvSpPr>
          <p:cNvPr id="7" name="p28-qn-0">
            <a:extLst xmlns:a="http://schemas.openxmlformats.org/drawingml/2006/main">
              <a:ext uri="{FF2B5EF4-FFF2-40B4-BE49-F238E27FC236}">
                <a16:creationId xmlns:a16="http://schemas.microsoft.com/office/drawing/2014/main" id="{AE94436A-4721-4D85-958F-B3FD69354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526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Q1</a:t>
            </a:r>
          </a:p>
        </p:txBody>
      </p:sp>
      <p:sp>
        <p:nvSpPr>
          <p:cNvPr id="8" name="p28-q-0">
            <a:extLst xmlns:a="http://schemas.openxmlformats.org/drawingml/2006/main">
              <a:ext uri="{FF2B5EF4-FFF2-40B4-BE49-F238E27FC236}">
                <a16:creationId xmlns:a16="http://schemas.microsoft.com/office/drawing/2014/main" id="{715A021E-AE8A-4CB9-87B2-19ADCF38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7526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只读范围是否已经最小？</a:t>
            </a:r>
          </a:p>
        </p:txBody>
      </p:sp>
      <p:sp>
        <p:nvSpPr>
          <p:cNvPr id="9" name="p28-qn-1">
            <a:extLst xmlns:a="http://schemas.openxmlformats.org/drawingml/2006/main">
              <a:ext uri="{FF2B5EF4-FFF2-40B4-BE49-F238E27FC236}">
                <a16:creationId xmlns:a16="http://schemas.microsoft.com/office/drawing/2014/main" id="{9541A99B-F8AE-4C1C-8545-4AC25FE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575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8354E"/>
                </a:solidFill>
              </a:defRPr>
            </a:pPr>
            <a:r>
              <a:rPr sz="2250" b="1">
                <a:solidFill>
                  <a:srgbClr val="18354E"/>
                </a:solidFill>
                <a:latin typeface="Arial"/>
                <a:ea typeface="Arial"/>
                <a:cs typeface="Arial"/>
              </a:rPr>
              <a:t>Q2</a:t>
            </a:r>
          </a:p>
        </p:txBody>
      </p:sp>
      <p:sp>
        <p:nvSpPr>
          <p:cNvPr id="10" name="p28-q-1">
            <a:extLst xmlns:a="http://schemas.openxmlformats.org/drawingml/2006/main">
              <a:ext uri="{FF2B5EF4-FFF2-40B4-BE49-F238E27FC236}">
                <a16:creationId xmlns:a16="http://schemas.microsoft.com/office/drawing/2014/main" id="{A7BCC3AC-52AB-4D87-A39F-AA93FCEE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575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哪一项动作最需要人工确认？</a:t>
            </a:r>
          </a:p>
        </p:txBody>
      </p:sp>
      <p:sp>
        <p:nvSpPr>
          <p:cNvPr id="11" name="p28-qn-2">
            <a:extLst xmlns:a="http://schemas.openxmlformats.org/drawingml/2006/main">
              <a:ext uri="{FF2B5EF4-FFF2-40B4-BE49-F238E27FC236}">
                <a16:creationId xmlns:a16="http://schemas.microsoft.com/office/drawing/2014/main" id="{6DD3D835-A321-47AC-AF7B-AE844390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9906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8161E"/>
                </a:solidFill>
              </a:defRPr>
            </a:pPr>
            <a:r>
              <a:rPr sz="2250" b="1">
                <a:solidFill>
                  <a:srgbClr val="C8161E"/>
                </a:solidFill>
                <a:latin typeface="Arial"/>
                <a:ea typeface="Arial"/>
                <a:cs typeface="Arial"/>
              </a:rPr>
              <a:t>Q3</a:t>
            </a:r>
          </a:p>
        </p:txBody>
      </p:sp>
      <p:sp>
        <p:nvSpPr>
          <p:cNvPr id="12" name="p28-q-2">
            <a:extLst xmlns:a="http://schemas.openxmlformats.org/drawingml/2006/main">
              <a:ext uri="{FF2B5EF4-FFF2-40B4-BE49-F238E27FC236}">
                <a16:creationId xmlns:a16="http://schemas.microsoft.com/office/drawing/2014/main" id="{1DBE5CE3-953C-4FD8-92B8-B98843B6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962400"/>
            <a:ext cx="78105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263746"/>
                </a:solidFill>
              </a:defRPr>
            </a:pPr>
            <a:r>
              <a:rPr sz="2025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能否看出工件为何改变状态？</a:t>
            </a:r>
          </a:p>
        </p:txBody>
      </p:sp>
      <p:sp>
        <p:nvSpPr>
          <p:cNvPr id="13" name="p28-bottom">
            <a:extLst xmlns:a="http://schemas.openxmlformats.org/drawingml/2006/main">
              <a:ext uri="{FF2B5EF4-FFF2-40B4-BE49-F238E27FC236}">
                <a16:creationId xmlns:a16="http://schemas.microsoft.com/office/drawing/2014/main" id="{59CDC607-BB4F-4BD2-B236-C4B24D1DC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219700"/>
            <a:ext cx="628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8161E"/>
                </a:solidFill>
              </a:defRPr>
            </a:pPr>
            <a:r>
              <a:rPr sz="180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反馈只提出问题；作者自己决定是否修改。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本讲知识点总结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1680313-6E64-04FF-399A-57B7CADE95A9}" type="slidenum">
              <a:t>29</a:t>
            </a:fld>
            <a:endParaRPr/>
          </a:p>
        </p:txBody>
      </p:sp>
      <p:sp>
        <p:nvSpPr>
          <p:cNvPr id="6" name="summary-02-number-0">
            <a:extLst xmlns:a="http://schemas.openxmlformats.org/drawingml/2006/main">
              <a:ext uri="{FF2B5EF4-FFF2-40B4-BE49-F238E27FC236}">
                <a16:creationId xmlns:a16="http://schemas.microsoft.com/office/drawing/2014/main" id="{B4150BC2-3168-4098-A488-42087F162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8354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summary-02-heading-0">
            <a:extLst xmlns:a="http://schemas.openxmlformats.org/drawingml/2006/main">
              <a:ext uri="{FF2B5EF4-FFF2-40B4-BE49-F238E27FC236}">
                <a16:creationId xmlns:a16="http://schemas.microsoft.com/office/drawing/2014/main" id="{64B330D0-0EAB-4FC2-8E03-F41E0538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18354E"/>
                </a:solidFill>
              </a:defRPr>
            </a:pPr>
            <a:r>
              <a:rPr sz="1725" b="1">
                <a:solidFill>
                  <a:srgbClr val="18354E"/>
                </a:solidFill>
                <a:latin typeface="Microsoft YaHei"/>
                <a:ea typeface="Microsoft YaHei"/>
                <a:cs typeface="Microsoft YaHei"/>
              </a:rPr>
              <a:t>P03 对象卡</a:t>
            </a:r>
          </a:p>
        </p:txBody>
      </p:sp>
      <p:sp>
        <p:nvSpPr>
          <p:cNvPr id="8" name="summary-02-detail-0">
            <a:extLst xmlns:a="http://schemas.openxmlformats.org/drawingml/2006/main">
              <a:ext uri="{FF2B5EF4-FFF2-40B4-BE49-F238E27FC236}">
                <a16:creationId xmlns:a16="http://schemas.microsoft.com/office/drawing/2014/main" id="{F624E7B9-3BAE-4571-867C-FB3F55BDA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未公开合作稿，默认拒绝</a:t>
            </a:r>
          </a:p>
        </p:txBody>
      </p:sp>
      <p:sp>
        <p:nvSpPr>
          <p:cNvPr id="9" name="summary-02-number-1">
            <a:extLst xmlns:a="http://schemas.openxmlformats.org/drawingml/2006/main">
              <a:ext uri="{FF2B5EF4-FFF2-40B4-BE49-F238E27FC236}">
                <a16:creationId xmlns:a16="http://schemas.microsoft.com/office/drawing/2014/main" id="{74390C0F-CB73-41CF-8CAE-5419076B3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28745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summary-02-heading-1">
            <a:extLst xmlns:a="http://schemas.openxmlformats.org/drawingml/2006/main">
              <a:ext uri="{FF2B5EF4-FFF2-40B4-BE49-F238E27FC236}">
                <a16:creationId xmlns:a16="http://schemas.microsoft.com/office/drawing/2014/main" id="{8E322B2E-B769-4B90-9297-487A71F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28745A"/>
                </a:solidFill>
              </a:defRPr>
            </a:pPr>
            <a:r>
              <a:rPr sz="1725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P09 五条件</a:t>
            </a:r>
          </a:p>
        </p:txBody>
      </p:sp>
      <p:sp>
        <p:nvSpPr>
          <p:cNvPr id="11" name="summary-02-detail-1">
            <a:extLst xmlns:a="http://schemas.openxmlformats.org/drawingml/2006/main">
              <a:ext uri="{FF2B5EF4-FFF2-40B4-BE49-F238E27FC236}">
                <a16:creationId xmlns:a16="http://schemas.microsoft.com/office/drawing/2014/main" id="{7C4A9418-2D16-4D66-A948-0BCD1D5C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有条件允许必须可检查</a:t>
            </a:r>
          </a:p>
        </p:txBody>
      </p:sp>
      <p:sp>
        <p:nvSpPr>
          <p:cNvPr id="12" name="summary-02-number-2">
            <a:extLst xmlns:a="http://schemas.openxmlformats.org/drawingml/2006/main">
              <a:ext uri="{FF2B5EF4-FFF2-40B4-BE49-F238E27FC236}">
                <a16:creationId xmlns:a16="http://schemas.microsoft.com/office/drawing/2014/main" id="{158FE018-3D2C-4E55-B2FD-A8137C8C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summary-02-heading-2">
            <a:extLst xmlns:a="http://schemas.openxmlformats.org/drawingml/2006/main">
              <a:ext uri="{FF2B5EF4-FFF2-40B4-BE49-F238E27FC236}">
                <a16:creationId xmlns:a16="http://schemas.microsoft.com/office/drawing/2014/main" id="{AD78FDF3-6A21-4308-AC65-405A7C794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P14 权限矩阵</a:t>
            </a:r>
          </a:p>
        </p:txBody>
      </p:sp>
      <p:sp>
        <p:nvSpPr>
          <p:cNvPr id="14" name="summary-02-detail-2">
            <a:extLst xmlns:a="http://schemas.openxmlformats.org/drawingml/2006/main">
              <a:ext uri="{FF2B5EF4-FFF2-40B4-BE49-F238E27FC236}">
                <a16:creationId xmlns:a16="http://schemas.microsoft.com/office/drawing/2014/main" id="{8CDFDB76-98D7-438F-B7F9-C92380047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边界是研究者的声明</a:t>
            </a:r>
          </a:p>
        </p:txBody>
      </p:sp>
      <p:sp>
        <p:nvSpPr>
          <p:cNvPr id="15" name="summary-02-number-3">
            <a:extLst xmlns:a="http://schemas.openxmlformats.org/drawingml/2006/main">
              <a:ext uri="{FF2B5EF4-FFF2-40B4-BE49-F238E27FC236}">
                <a16:creationId xmlns:a16="http://schemas.microsoft.com/office/drawing/2014/main" id="{C16F1596-A345-442D-87FD-500CDA73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19200"/>
            <a:ext cx="4762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A86C12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summary-02-heading-3">
            <a:extLst xmlns:a="http://schemas.openxmlformats.org/drawingml/2006/main">
              <a:ext uri="{FF2B5EF4-FFF2-40B4-BE49-F238E27FC236}">
                <a16:creationId xmlns:a16="http://schemas.microsoft.com/office/drawing/2014/main" id="{90861782-C0D7-4A84-8F84-B2D7DE1FA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162050"/>
            <a:ext cx="215265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1725" b="1">
                <a:solidFill>
                  <a:srgbClr val="A86C12"/>
                </a:solidFill>
              </a:defRPr>
            </a:pPr>
            <a:r>
              <a:rPr sz="1725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P21 diff·log</a:t>
            </a:r>
          </a:p>
        </p:txBody>
      </p:sp>
      <p:sp>
        <p:nvSpPr>
          <p:cNvPr id="17" name="summary-02-detail-3">
            <a:extLst xmlns:a="http://schemas.openxmlformats.org/drawingml/2006/main">
              <a:ext uri="{FF2B5EF4-FFF2-40B4-BE49-F238E27FC236}">
                <a16:creationId xmlns:a16="http://schemas.microsoft.com/office/drawing/2014/main" id="{323935AE-AC65-460A-B8A1-C3ED9BADD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095500"/>
            <a:ext cx="2724150" cy="1676400"/>
          </a:xfrm>
          <a:prstGeom xmlns:a="http://schemas.openxmlformats.org/drawingml/2006/main" prst="roundRect">
            <a:avLst>
              <a:gd name="adj" fmla="val 45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DE2"/>
            </a:solidFill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6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以实际变化为准</a:t>
            </a:r>
          </a:p>
        </p:txBody>
      </p:sp>
      <p:sp>
        <p:nvSpPr>
          <p:cNvPr id="18" name="summary-02-boundary">
            <a:extLst xmlns:a="http://schemas.openxmlformats.org/drawingml/2006/main">
              <a:ext uri="{FF2B5EF4-FFF2-40B4-BE49-F238E27FC236}">
                <a16:creationId xmlns:a16="http://schemas.microsoft.com/office/drawing/2014/main" id="{C998A541-2873-4740-9EA3-F643010DC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98679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725" b="1">
                <a:solidFill>
                  <a:srgbClr val="C8161E"/>
                </a:solidFill>
              </a:defRPr>
            </a:pPr>
            <a:r>
              <a:rPr sz="172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关键边界：权限不是一次性放开；动作风险改变时，必须重新确认并保留记录。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76200" tIns="0" rIns="76200" bIns="0" anchor="ctr"/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课后继续推进，第 3 课带着边界开始检索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FEBBBCE-9E16-527A-0EE3-E5839422D847}" type="slidenum">
              <a:t>30</a:t>
            </a:fld>
            <a:endParaRPr/>
          </a:p>
        </p:txBody>
      </p:sp>
      <p:sp>
        <p:nvSpPr>
          <p:cNvPr id="6" name="p29-t-0">
            <a:extLst xmlns:a="http://schemas.openxmlformats.org/drawingml/2006/main">
              <a:ext uri="{FF2B5EF4-FFF2-40B4-BE49-F238E27FC236}">
                <a16:creationId xmlns:a16="http://schemas.microsoft.com/office/drawing/2014/main" id="{CB834982-0E3C-4464-AB3E-632423A72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638A"/>
                </a:solidFill>
              </a:defRPr>
            </a:pPr>
            <a:r>
              <a:rPr sz="1650" b="1">
                <a:solidFill>
                  <a:srgbClr val="2F638A"/>
                </a:solidFill>
                <a:latin typeface="Microsoft YaHei"/>
                <a:ea typeface="Microsoft YaHei"/>
                <a:cs typeface="Microsoft YaHei"/>
              </a:rPr>
              <a:t>必读</a:t>
            </a:r>
          </a:p>
        </p:txBody>
      </p:sp>
      <p:sp>
        <p:nvSpPr>
          <p:cNvPr id="7" name="p29-b-0">
            <a:extLst xmlns:a="http://schemas.openxmlformats.org/drawingml/2006/main">
              <a:ext uri="{FF2B5EF4-FFF2-40B4-BE49-F238E27FC236}">
                <a16:creationId xmlns:a16="http://schemas.microsoft.com/office/drawing/2014/main" id="{49F23FBB-F6B7-492D-ABD7-96FE6F834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0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中科院《诚信提醒》</a:t>
            </a:r>
          </a:p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记录一条与本人项目相关的底线</a:t>
            </a:r>
          </a:p>
        </p:txBody>
      </p:sp>
      <p:sp>
        <p:nvSpPr>
          <p:cNvPr id="8" name="p29-t-1">
            <a:extLst xmlns:a="http://schemas.openxmlformats.org/drawingml/2006/main">
              <a:ext uri="{FF2B5EF4-FFF2-40B4-BE49-F238E27FC236}">
                <a16:creationId xmlns:a16="http://schemas.microsoft.com/office/drawing/2014/main" id="{8F1B5EFA-17E4-4A2E-9AAC-2513A1C8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192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161E"/>
                </a:solidFill>
              </a:defRPr>
            </a:pPr>
            <a:r>
              <a:rPr sz="1650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项目更新</a:t>
            </a:r>
          </a:p>
        </p:txBody>
      </p:sp>
      <p:sp>
        <p:nvSpPr>
          <p:cNvPr id="9" name="p29-b-1">
            <a:extLst xmlns:a="http://schemas.openxmlformats.org/drawingml/2006/main">
              <a:ext uri="{FF2B5EF4-FFF2-40B4-BE49-F238E27FC236}">
                <a16:creationId xmlns:a16="http://schemas.microsoft.com/office/drawing/2014/main" id="{AD439CFE-5B30-4765-800D-849EB0859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E9E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权限矩阵 + 风险卡 + 四项工件追踪 + AI 使用记录</a:t>
            </a:r>
          </a:p>
        </p:txBody>
      </p:sp>
      <p:sp>
        <p:nvSpPr>
          <p:cNvPr id="10" name="p29-t-2">
            <a:extLst xmlns:a="http://schemas.openxmlformats.org/drawingml/2006/main">
              <a:ext uri="{FF2B5EF4-FFF2-40B4-BE49-F238E27FC236}">
                <a16:creationId xmlns:a16="http://schemas.microsoft.com/office/drawing/2014/main" id="{5DD311C0-A28B-49B9-A2E3-71F5DE9E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8745A"/>
                </a:solidFill>
              </a:defRPr>
            </a:pPr>
            <a:r>
              <a:rPr sz="1650" b="1">
                <a:solidFill>
                  <a:srgbClr val="28745A"/>
                </a:solidFill>
                <a:latin typeface="Microsoft YaHei"/>
                <a:ea typeface="Microsoft YaHei"/>
                <a:cs typeface="Microsoft YaHei"/>
              </a:rPr>
              <a:t>第 3 课准备</a:t>
            </a:r>
          </a:p>
        </p:txBody>
      </p:sp>
      <p:sp>
        <p:nvSpPr>
          <p:cNvPr id="11" name="p29-b-2">
            <a:extLst xmlns:a="http://schemas.openxmlformats.org/drawingml/2006/main">
              <a:ext uri="{FF2B5EF4-FFF2-40B4-BE49-F238E27FC236}">
                <a16:creationId xmlns:a16="http://schemas.microsoft.com/office/drawing/2014/main" id="{879F465F-A348-4BE3-A6B9-86593F6C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2E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一个公开研究问题 + 3–5 个关键词 + 一项来源 / 网络边界</a:t>
            </a:r>
          </a:p>
        </p:txBody>
      </p:sp>
      <p:sp>
        <p:nvSpPr>
          <p:cNvPr id="12" name="p29-t-3">
            <a:extLst xmlns:a="http://schemas.openxmlformats.org/drawingml/2006/main">
              <a:ext uri="{FF2B5EF4-FFF2-40B4-BE49-F238E27FC236}">
                <a16:creationId xmlns:a16="http://schemas.microsoft.com/office/drawing/2014/main" id="{BD825422-24D9-4B1A-8494-0E7EE3FF1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2895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A86C12"/>
                </a:solidFill>
              </a:defRPr>
            </a:pPr>
            <a:r>
              <a:rPr sz="1650" b="1">
                <a:solidFill>
                  <a:srgbClr val="A86C12"/>
                </a:solidFill>
                <a:latin typeface="Microsoft YaHei"/>
                <a:ea typeface="Microsoft YaHei"/>
                <a:cs typeface="Microsoft YaHei"/>
              </a:rPr>
              <a:t>任选阅读</a:t>
            </a:r>
          </a:p>
        </p:txBody>
      </p:sp>
      <p:sp>
        <p:nvSpPr>
          <p:cNvPr id="13" name="p29-b-3">
            <a:extLst xmlns:a="http://schemas.openxmlformats.org/drawingml/2006/main">
              <a:ext uri="{FF2B5EF4-FFF2-40B4-BE49-F238E27FC236}">
                <a16:creationId xmlns:a16="http://schemas.microsoft.com/office/drawing/2014/main" id="{1AEE394E-E563-4997-B72F-C562241B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19500"/>
            <a:ext cx="5143500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0D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lnSpc>
                <a:spcPct val="130000"/>
              </a:lnSpc>
              <a:buNone/>
              <a:defRPr sz="1500" b="1">
                <a:solidFill>
                  <a:srgbClr val="263746"/>
                </a:solidFill>
              </a:defRPr>
            </a:pPr>
            <a:r>
              <a:rPr sz="1500" b="1">
                <a:solidFill>
                  <a:srgbClr val="263746"/>
                </a:solidFill>
                <a:latin typeface="Microsoft YaHei"/>
                <a:ea typeface="Microsoft YaHei"/>
                <a:cs typeface="Microsoft YaHei"/>
              </a:rPr>
              <a:t>NASEM Chapter 2 或 Saltzer &amp; Schroeder 权限原则选段</a:t>
            </a:r>
          </a:p>
        </p:txBody>
      </p:sp>
      <p:sp>
        <p:nvSpPr>
          <p:cNvPr id="14" name="p29-bottom">
            <a:extLst xmlns:a="http://schemas.openxmlformats.org/drawingml/2006/main">
              <a:ext uri="{FF2B5EF4-FFF2-40B4-BE49-F238E27FC236}">
                <a16:creationId xmlns:a16="http://schemas.microsoft.com/office/drawing/2014/main" id="{B21DCF2A-2EFD-4B0A-9166-9840237A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5124450"/>
            <a:ext cx="803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38100" rIns="76200" bIns="3810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8161E"/>
                </a:solidFill>
              </a:defRPr>
            </a:pPr>
            <a:r>
              <a:rPr sz="1875" b="1">
                <a:solidFill>
                  <a:srgbClr val="C8161E"/>
                </a:solidFill>
                <a:latin typeface="Microsoft YaHei"/>
                <a:ea typeface="Microsoft YaHei"/>
                <a:cs typeface="Microsoft YaHei"/>
              </a:rPr>
              <a:t>持续回写个人项目，不单独提交、不计周作业分。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2026-08-20T15:39:21.8540000Z</dcterms:created>
  <dcterms:modified xsi:type="dcterms:W3CDTF">2026-08-20T15:39:21.8540000Z</dcterms:modified>
</coreProperties>
</file>