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1befe80126849f3" Type="http://schemas.openxmlformats.org/officeDocument/2006/relationships/officeDocument" Target="ppt/presentation.xml"/><Relationship Id="R7cc19b1869c84db0" Type="http://schemas.openxmlformats.org/officeDocument/2006/relationships/extended-properties" Target="docProps/app.xml"/><Relationship Id="R81fae861a0804676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8830980fe240f1"/>
  </p:sldMasterIdLst>
  <p:notesMasterIdLst>
    <p:notesMasterId xmlns:r="http://schemas.openxmlformats.org/officeDocument/2006/relationships" r:id="Rf3cdda48fc28424f"/>
  </p:notesMasterIdLst>
  <p:sldIdLst>
    <p:sldId xmlns:r="http://schemas.openxmlformats.org/officeDocument/2006/relationships" id="256" r:id="Rf2b3b8839dfb49eb"/>
    <p:sldId xmlns:r="http://schemas.openxmlformats.org/officeDocument/2006/relationships" id="257" r:id="R51eb5871f411426a"/>
    <p:sldId xmlns:r="http://schemas.openxmlformats.org/officeDocument/2006/relationships" id="258" r:id="R6ef488c0d87a4cbc"/>
    <p:sldId xmlns:r="http://schemas.openxmlformats.org/officeDocument/2006/relationships" id="259" r:id="R6f3e53c359ef44ad"/>
    <p:sldId xmlns:r="http://schemas.openxmlformats.org/officeDocument/2006/relationships" id="260" r:id="R6051a0fe5c784277"/>
    <p:sldId xmlns:r="http://schemas.openxmlformats.org/officeDocument/2006/relationships" id="261" r:id="R1b77c52e06e8400d"/>
    <p:sldId xmlns:r="http://schemas.openxmlformats.org/officeDocument/2006/relationships" id="262" r:id="R540681e95fe443f3"/>
    <p:sldId xmlns:r="http://schemas.openxmlformats.org/officeDocument/2006/relationships" id="263" r:id="Recdc4d9bf16c4870"/>
    <p:sldId xmlns:r="http://schemas.openxmlformats.org/officeDocument/2006/relationships" id="264" r:id="R91a681a6647249d2"/>
    <p:sldId xmlns:r="http://schemas.openxmlformats.org/officeDocument/2006/relationships" id="265" r:id="Rfb9be642379b4a6d"/>
    <p:sldId xmlns:r="http://schemas.openxmlformats.org/officeDocument/2006/relationships" id="266" r:id="R5da91e71add5433e"/>
    <p:sldId xmlns:r="http://schemas.openxmlformats.org/officeDocument/2006/relationships" id="268" r:id="R9fea5010248644b9"/>
    <p:sldId xmlns:r="http://schemas.openxmlformats.org/officeDocument/2006/relationships" id="269" r:id="R88fea31754c24446"/>
    <p:sldId xmlns:r="http://schemas.openxmlformats.org/officeDocument/2006/relationships" id="272" r:id="Re4f87da605eb456a"/>
    <p:sldId xmlns:r="http://schemas.openxmlformats.org/officeDocument/2006/relationships" id="274" r:id="R44185beb948c40a9"/>
    <p:sldId xmlns:r="http://schemas.openxmlformats.org/officeDocument/2006/relationships" id="275" r:id="R99a2b84bd37f4e7c"/>
    <p:sldId xmlns:r="http://schemas.openxmlformats.org/officeDocument/2006/relationships" id="277" r:id="R7f4e2b5eecd74de1"/>
    <p:sldId xmlns:r="http://schemas.openxmlformats.org/officeDocument/2006/relationships" id="278" r:id="R317accd3725b4755"/>
    <p:sldId xmlns:r="http://schemas.openxmlformats.org/officeDocument/2006/relationships" id="279" r:id="R962f639b66764ed6"/>
    <p:sldId xmlns:r="http://schemas.openxmlformats.org/officeDocument/2006/relationships" id="280" r:id="R10713b582da34716"/>
    <p:sldId xmlns:r="http://schemas.openxmlformats.org/officeDocument/2006/relationships" id="281" r:id="R04935fdabeb940cb"/>
    <p:sldId xmlns:r="http://schemas.openxmlformats.org/officeDocument/2006/relationships" id="282" r:id="Re189d0d5d9574502"/>
    <p:sldId xmlns:r="http://schemas.openxmlformats.org/officeDocument/2006/relationships" id="283" r:id="Rab3f101d68504ec5"/>
    <p:sldId xmlns:r="http://schemas.openxmlformats.org/officeDocument/2006/relationships" id="284" r:id="Rb43216080170430a"/>
    <p:sldId xmlns:r="http://schemas.openxmlformats.org/officeDocument/2006/relationships" id="285" r:id="Rc337c843dd404cc9"/>
    <p:sldId xmlns:ns0="http://schemas.openxmlformats.org/officeDocument/2006/relationships" id="286" ns0:id="rId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935fdabeb940cb" Type="http://schemas.openxmlformats.org/officeDocument/2006/relationships/slide" Target="slides/slide21.xml"/><Relationship Id="R068830980fe240f1" Type="http://schemas.openxmlformats.org/officeDocument/2006/relationships/slideMaster" Target="slideMasters/slideMaster1.xml"/><Relationship Id="R10713b582da34716" Type="http://schemas.openxmlformats.org/officeDocument/2006/relationships/slide" Target="slides/slide20.xml"/><Relationship Id="R114112d106654455" Type="http://schemas.openxmlformats.org/officeDocument/2006/relationships/presProps" Target="presProps.xml"/><Relationship Id="R1b77c52e06e8400d" Type="http://schemas.openxmlformats.org/officeDocument/2006/relationships/slide" Target="slides/slide6.xml"/><Relationship Id="R317accd3725b4755" Type="http://schemas.openxmlformats.org/officeDocument/2006/relationships/slide" Target="slides/slide18.xml"/><Relationship Id="R44185beb948c40a9" Type="http://schemas.openxmlformats.org/officeDocument/2006/relationships/slide" Target="slides/slide15.xml"/><Relationship Id="R51eb5871f411426a" Type="http://schemas.openxmlformats.org/officeDocument/2006/relationships/slide" Target="slides/slide2.xml"/><Relationship Id="R540681e95fe443f3" Type="http://schemas.openxmlformats.org/officeDocument/2006/relationships/slide" Target="slides/slide7.xml"/><Relationship Id="R596df88806334596" Type="http://schemas.openxmlformats.org/officeDocument/2006/relationships/theme" Target="theme/theme1.xml"/><Relationship Id="R5da91e71add5433e" Type="http://schemas.openxmlformats.org/officeDocument/2006/relationships/slide" Target="slides/slide11.xml"/><Relationship Id="R6051a0fe5c784277" Type="http://schemas.openxmlformats.org/officeDocument/2006/relationships/slide" Target="slides/slide5.xml"/><Relationship Id="R6ef488c0d87a4cbc" Type="http://schemas.openxmlformats.org/officeDocument/2006/relationships/slide" Target="slides/slide3.xml"/><Relationship Id="R6f3e53c359ef44ad" Type="http://schemas.openxmlformats.org/officeDocument/2006/relationships/slide" Target="slides/slide4.xml"/><Relationship Id="R7f4e2b5eecd74de1" Type="http://schemas.openxmlformats.org/officeDocument/2006/relationships/slide" Target="slides/slide17.xml"/><Relationship Id="R86881edb8d934f8c" Type="http://schemas.openxmlformats.org/officeDocument/2006/relationships/tableStyles" Target="tableStyles.xml"/><Relationship Id="R88fea31754c24446" Type="http://schemas.openxmlformats.org/officeDocument/2006/relationships/slide" Target="slides/slide13.xml"/><Relationship Id="R91a681a6647249d2" Type="http://schemas.openxmlformats.org/officeDocument/2006/relationships/slide" Target="slides/slide9.xml"/><Relationship Id="R962f639b66764ed6" Type="http://schemas.openxmlformats.org/officeDocument/2006/relationships/slide" Target="slides/slide19.xml"/><Relationship Id="R99a2b84bd37f4e7c" Type="http://schemas.openxmlformats.org/officeDocument/2006/relationships/slide" Target="slides/slide16.xml"/><Relationship Id="R9fea5010248644b9" Type="http://schemas.openxmlformats.org/officeDocument/2006/relationships/slide" Target="slides/slide12.xml"/><Relationship Id="Rab3f101d68504ec5" Type="http://schemas.openxmlformats.org/officeDocument/2006/relationships/slide" Target="slides/slide23.xml"/><Relationship Id="Rb43216080170430a" Type="http://schemas.openxmlformats.org/officeDocument/2006/relationships/slide" Target="slides/slide24.xml"/><Relationship Id="Rc185e9695e74470c" Type="http://schemas.openxmlformats.org/officeDocument/2006/relationships/viewProps" Target="viewProps.xml"/><Relationship Id="Rc337c843dd404cc9" Type="http://schemas.openxmlformats.org/officeDocument/2006/relationships/slide" Target="slides/slide25.xml"/><Relationship Id="Re189d0d5d9574502" Type="http://schemas.openxmlformats.org/officeDocument/2006/relationships/slide" Target="slides/slide22.xml"/><Relationship Id="Re4f87da605eb456a" Type="http://schemas.openxmlformats.org/officeDocument/2006/relationships/slide" Target="slides/slide14.xml"/><Relationship Id="Recdc4d9bf16c4870" Type="http://schemas.openxmlformats.org/officeDocument/2006/relationships/slide" Target="slides/slide8.xml"/><Relationship Id="Rf2b3b8839dfb49eb" Type="http://schemas.openxmlformats.org/officeDocument/2006/relationships/slide" Target="slides/slide1.xml"/><Relationship Id="Rf3cdda48fc28424f" Type="http://schemas.openxmlformats.org/officeDocument/2006/relationships/notesMaster" Target="notesMasters/notesMaster1.xml"/><Relationship Id="Rfb9be642379b4a6d" Type="http://schemas.openxmlformats.org/officeDocument/2006/relationships/slide" Target="slides/slide10.xml"/><Relationship Id="rId32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5343e6ac56954a95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aaf68b0a3484bc7" Type="http://schemas.openxmlformats.org/officeDocument/2006/relationships/notesMaster" Target="../notesMasters/notesMaster1.xml"/><Relationship Id="R79ce6ada3f1f45af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39691cabb874b9c" Type="http://schemas.openxmlformats.org/officeDocument/2006/relationships/slide" Target="../slides/slide2.xml"/><Relationship Id="R7fab4ec77fba4f8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086e1c376af4b8e" Type="http://schemas.openxmlformats.org/officeDocument/2006/relationships/slide" Target="../slides/slide3.xml"/><Relationship Id="Rdc79e066dc214079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fde5dfdc13841ba" Type="http://schemas.openxmlformats.org/officeDocument/2006/relationships/slide" Target="../slides/slide4.xml"/><Relationship Id="R66f53ec27e9a40db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7a6f76e544c46d9" Type="http://schemas.openxmlformats.org/officeDocument/2006/relationships/slide" Target="../slides/slide5.xml"/><Relationship Id="R8c762a00319e4ff5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86436360f594a01" Type="http://schemas.openxmlformats.org/officeDocument/2006/relationships/slide" Target="../slides/slide6.xml"/><Relationship Id="Rfd6925d6a1c744fc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008705b5f00b4b93" Type="http://schemas.openxmlformats.org/officeDocument/2006/relationships/slide" Target="../slides/slide7.xml"/><Relationship Id="Ra7927a7873c745a9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6be32f92ed4d2a" Type="http://schemas.openxmlformats.org/officeDocument/2006/relationships/slide" Target="../slides/slide8.xml"/><Relationship Id="R723f3e32cc4c4040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10ac51ad305340a3" Type="http://schemas.openxmlformats.org/officeDocument/2006/relationships/slide" Target="../slides/slide9.xml"/><Relationship Id="Rce7060fe366048e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8411ae9fb394283" Type="http://schemas.openxmlformats.org/officeDocument/2006/relationships/slide" Target="../slides/slide10.xml"/><Relationship Id="R515ca5a4f9a24114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578eb11a11d14567" Type="http://schemas.openxmlformats.org/officeDocument/2006/relationships/notesMaster" Target="../notesMasters/notesMaster1.xml"/><Relationship Id="Rf78850e1f832443c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0f5a2cdf6bca48a9" Type="http://schemas.openxmlformats.org/officeDocument/2006/relationships/slide" Target="../slides/slide12.xml"/><Relationship Id="Rc35e14a7c7dc4644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2349c6b34a254929" Type="http://schemas.openxmlformats.org/officeDocument/2006/relationships/slide" Target="../slides/slide13.xml"/><Relationship Id="R2f371d1b6d22418e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44d9005fdd4b47cf" Type="http://schemas.openxmlformats.org/officeDocument/2006/relationships/slide" Target="../slides/slide14.xml"/><Relationship Id="R4c47a57f780a490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29bf9099956649f7" Type="http://schemas.openxmlformats.org/officeDocument/2006/relationships/notesMaster" Target="../notesMasters/notesMaster1.xml"/><Relationship Id="Rd53b10c615384437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570ac20dd93442e7" Type="http://schemas.openxmlformats.org/officeDocument/2006/relationships/notesMaster" Target="../notesMasters/notesMaster1.xml"/><Relationship Id="R9a41f8d2a5cf44ab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3ecabfb2d94b428e" Type="http://schemas.openxmlformats.org/officeDocument/2006/relationships/notesMaster" Target="../notesMasters/notesMaster1.xml"/><Relationship Id="Rda04001c4bea440a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634b550c74f945e6" Type="http://schemas.openxmlformats.org/officeDocument/2006/relationships/notesMaster" Target="../notesMasters/notesMaster1.xml"/><Relationship Id="R770bb3d2a19b41b9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5f74cbae07f545d3" Type="http://schemas.openxmlformats.org/officeDocument/2006/relationships/slide" Target="../slides/slide19.xml"/><Relationship Id="Rcb27698ac07049ce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ce1c520818244e19" Type="http://schemas.openxmlformats.org/officeDocument/2006/relationships/notesMaster" Target="../notesMasters/notesMaster1.xml"/><Relationship Id="Rf834e362314840c6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7b181968e1624fb5" Type="http://schemas.openxmlformats.org/officeDocument/2006/relationships/notesMaster" Target="../notesMasters/notesMaster1.xml"/><Relationship Id="Re1e687e42c5e4c4c" Type="http://schemas.openxmlformats.org/officeDocument/2006/relationships/slide" Target="../slides/slide21.xml"/></Relationships>
</file>

<file path=ppt/notesSlides/_rels/notesSlide27.xml.rels><?xml version='1.0' encoding='UTF-8' standalone='yes'?>
<Relationships xmlns="http://schemas.openxmlformats.org/package/2006/relationships"><Relationship Id="R1d7c305d54f04f0e" Type="http://schemas.openxmlformats.org/officeDocument/2006/relationships/slide" Target="../slides/slide22.xml"/><Relationship Id="R73c7393457134b18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511d32bbf6b24b64" Type="http://schemas.openxmlformats.org/officeDocument/2006/relationships/slide" Target="../slides/slide23.xml"/><Relationship Id="Rd89483ff992a4aee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caaa426fb6cb40bb" Type="http://schemas.openxmlformats.org/officeDocument/2006/relationships/notesMaster" Target="../notesMasters/notesMaster1.xml"/><Relationship Id="Rd7005ed632864880" Type="http://schemas.openxmlformats.org/officeDocument/2006/relationships/slide" Target="../slides/slide24.xml"/></Relationships>
</file>

<file path=ppt/notesSlides/_rels/notesSlide30.xml.rels><?xml version='1.0' encoding='UTF-8' standalone='yes'?>
<Relationships xmlns="http://schemas.openxmlformats.org/package/2006/relationships"><Relationship Id="R3ac6350ab4744cfb" Type="http://schemas.openxmlformats.org/officeDocument/2006/relationships/slide" Target="../slides/slide25.xml"/><Relationship Id="Rb9d258eaf629424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页面任务：识别课程与课次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教师讲述：封面只承担识别。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学生动作：进入课堂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建议时间：回顾段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页面任务：从已知闭环引出伦理与权限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讲义映射：导读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教师讲述：不重复八阶段，只指出记录中的缺口。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学生动作：指出自己日志最缺的一项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建议时间：回顾段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页面任务：训练理由表达而非从众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教师讲述：交换理由有价值，但不是组队；屏幕不出现课堂分钟。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学生动作：个人选择允许/有条件允许/禁止，再临时结对陈述理由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建议时间：案例与规范段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页面任务：用原始来源建立六项价值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讲义映射：§一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教师讲述：让学生先看原始文件，再用六项中文标签总结。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 Agent 动作可能损害哪项价值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建议时间：案例与规范段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https://doi.org/10.17226/21896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页面任务：正确呈现中科院与校级来源角色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讲义映射：§一、§二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教师讲述：左右等宽，避免视觉上暗示上下级从属。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学生动作：分别说出两项来源对当前案例提供什么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建议时间：案例与规范段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https://www.cas.cn/sygz/202409/t20240910_5031186.shtml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https://soo.sjtu.edu.cn/upload/file/20250217/20250217162021.pdf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页面任务：用具体对照解释风险组合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讲义映射：§一、§二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教师讲述：不讨论工具品牌好坏，只比较对象和动作。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学生动作：解释两个案例的决定性差异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建议时间：风险判断段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页面任务：保留可操作支架并用完整示例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教师讲述：不要展示空白机构表格；用 P3 案例示范。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学生动作：找出控制字段是否可检查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建议时间：风险判断段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页面任务：把定义落到微案例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教师讲述：有条件允许不是模糊中间态。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学生动作：为自己的一个动作选择处置并说理由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建议时间：风险判断段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页面任务：给出现实可执行的发送前路径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教师讲述：学生课程任务运行更严格：公开、虚构或经授权脱敏材料。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学生动作：判断当前案例卡在哪个条件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建议时间：风险判断段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页面任务：回应学生已经使用大模型的现实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讲义映射：§八·案例 A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教师讲述：避免羞辱或不切实际的追责；强调透明和按规则协调。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学生动作：选择恢复路径第一步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建议时间：风险判断段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页面任务：用具体例子解释生成数据边界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讲义映射：§八·案例 B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教师讲述：同一张表区分用途、允许结论和禁止结论。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学生动作：判断一句结论是否越界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建议时间：风险判断段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页面任务：展示单一审批的失败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讲义映射：§四、§八·案例 C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教师讲述：指标变更必须变成版本化文件和 diff，而非口头点击。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学生动作：指出审批流程还缺什么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建议时间：权限与 harness 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页面任务：正式定义 research harness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讲义映射：§四、§五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教师讲述：这一页是全课唯一定义位；OpenCode 只是一个执行实例。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学生动作：用一句话解释 harness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建议时间：权限与 harness 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页面任务：建立两项最重要原则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讲义映射：§四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教师讲述：另外两项原则放到备注与讲义，不在首屏并列四张卡。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学生动作：将一个过宽权限收窄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建议时间：权限与 harness 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页面任务：降低课堂表单负荷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教师讲述：一行同时承载对象、只读/可写、确认点和禁止项。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学生动作：选择自己的一个科研动作填写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建议时间：权限与 harness 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页面任务：用配置对比而非抽象原则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讲义映射：§五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教师讲述：把环境差异翻译为路径、命令、网络和确认点。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学生动作：圈出过宽配置的第一处风险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建议时间：权限与 harness 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页面任务：明确课后与下一课接口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讲义映射：§十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教师讲述：工件生命周期持续更新，但不作为本课课堂额外负担。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学生动作：记录一个进入第 3 课的公开检索问题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建议时间：收束段</a:t>
            </a:r>
          </a:p>
          <a:p/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/Users/bright/Projects/courses/graduate/course/syllabus.md</a:t>
            </a:r>
          </a:p>
          <a:p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页面任务：保留工件追踪概念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教师讲述：课堂不要求学生再填第四张表；只建立状态语义。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学生动作：判断“写完了”是否足以进入 stable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建议时间：工件与演示段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页面任务：用单一生命周期实例替代干表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讲义映射：§六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教师讲述：同一 evidence-map.md 贯穿四状态，说明新增证据和下游用途。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学生动作：指出哪次迁移最需要人工确认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建议时间：工件与演示段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页面任务：建立最低日志标准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教师讲述：只保留课堂需要的五个问题。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学生动作：补写一条缺失字段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建议时间：工件与演示段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页面任务：说明演示与学生实践分工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讲义映射：§四–§七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教师讲述：延续 L1 的公开文献动作，不教 OpenCode 菜单。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学生动作：预测哪一步必须暂停确认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建议时间：工件与演示段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页面任务：教师演示只读检查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讲义映射：§五、§九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教师讲述：让 Agent 只读权限矩阵，指出一处过宽或缺失，不允许写。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学生动作：判断建议是收窄还是扩大权限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建议时间：工件与演示段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页面任务：教师演示有限写回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教师讲述：不在课堂演示额外工件追踪填表。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学生动作：检查实际修改文件是否超出三项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建议时间：工件与演示段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页面任务：学生实践两段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讲义映射：§九、classroom-pack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教师讲述：第一段先写权限一行；中点点评后完成风险卡、只读审查和日志。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学生动作：独立完成三件工件；无模型时手工审查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建议时间：个人实践段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页面任务：互查三件最小工件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讲义映射：§九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教师讲述：结对不形成固定组，互查不替代作者决定。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学生动作：交换三件工件并提出一个可操作修改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建议时间：互查段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/Users/bright/Projects/courses/graduate/course/syllabus.md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页面任务：收束多框架为一个循环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讲义映射：全讲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教师讲述：解释对象卡、五条件与三档处置在闭环中的位置，不再并列为多套 contract。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学生动作：复述循环并指认自己的三个工件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建议时间：收束段</a:t>
            </a:r>
          </a:p>
          <a:p xmlns:a="http://schemas.openxmlformats.org/drawingml/2006/main"/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[Sources]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- /Users/bright/Projects/courses/graduate/lessons/lesson-02/handout.md</a:t>
            </a:r>
          </a:p>
          <a:p xmlns:a="http://schemas.openxmlformats.org/drawingml/2006/main">
            <a:r>
              <a:rPr sz="12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019aea01fd94a22" Type="http://schemas.openxmlformats.org/officeDocument/2006/relationships/image" Target="../media/image2.png"/><Relationship Id="R3ee8d40cca9d4c8c" Type="http://schemas.openxmlformats.org/officeDocument/2006/relationships/slideMaster" Target="../slideMasters/slideMaster1.xml"/><Relationship Id="R481bf945937d445b" Type="http://schemas.openxmlformats.org/officeDocument/2006/relationships/image" Target="../media/image.png"/><Relationship Id="R583006c0760c40e6" Type="http://schemas.openxmlformats.org/officeDocument/2006/relationships/image" Target="../media/image4.png"/><Relationship Id="Rc6fb71d5348444e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d7fc27971732417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497b6c19a5b4fe4" Type="http://schemas.openxmlformats.org/officeDocument/2006/relationships/image" Target="../media/image2.png"/><Relationship Id="R4ab30724bf104746" Type="http://schemas.openxmlformats.org/officeDocument/2006/relationships/slideMaster" Target="../slideMasters/slideMaster1.xml"/><Relationship Id="R8cec242a94fa43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167f5a931e094484" Type="http://schemas.openxmlformats.org/officeDocument/2006/relationships/image" Target="../media/image3.png"/><Relationship Id="Rb57dd853fe314e50" Type="http://schemas.openxmlformats.org/officeDocument/2006/relationships/image" Target="../media/image.png"/><Relationship Id="Rfd8e23613f6e4dc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bf945937d445b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19aea01fd94a22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fb71d5348444e4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006c0760c40e6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97b6c19a5b4fe4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c242a94fa43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dd853fe314e50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7f5a931e094484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<?xml version='1.0' encoding='UTF-8' standalone='yes'?>
<Relationships xmlns="http://schemas.openxmlformats.org/package/2006/relationships"><Relationship Id="R8140065edc274286" Type="http://schemas.openxmlformats.org/officeDocument/2006/relationships/slideLayout" Target="../slideLayouts/slideLayout4.xml"/><Relationship Id="R8529098853b546de" Type="http://schemas.openxmlformats.org/officeDocument/2006/relationships/slideLayout" Target="../slideLayouts/slideLayout3.xml"/><Relationship Id="Rc156b4cbe8fc4638" Type="http://schemas.openxmlformats.org/officeDocument/2006/relationships/slideLayout" Target="../slideLayouts/slideLayout1.xml"/><Relationship Id="Rdd9d5b3e9ecc4113" Type="http://schemas.openxmlformats.org/officeDocument/2006/relationships/slideLayout" Target="../slideLayouts/slideLayout2.xml"/><Relationship Id="Re35ce7a482274295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56b4cbe8fc4638"/>
    <p:sldLayoutId xmlns:r="http://schemas.openxmlformats.org/officeDocument/2006/relationships" id="2147483650" r:id="Rdd9d5b3e9ecc4113"/>
    <p:sldLayoutId xmlns:r="http://schemas.openxmlformats.org/officeDocument/2006/relationships" id="2147483651" r:id="R8529098853b546de"/>
    <p:sldLayoutId xmlns:r="http://schemas.openxmlformats.org/officeDocument/2006/relationships" id="2147483652" r:id="R8140065edc27428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7a47e1b5e6f40a4" Type="http://schemas.openxmlformats.org/officeDocument/2006/relationships/notesSlide" Target="../notesSlides/notesSlide1.xml"/><Relationship Id="Refd05b2a54a14e9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365d1cf96734c57" Type="http://schemas.openxmlformats.org/officeDocument/2006/relationships/slideLayout" Target="../slideLayouts/slideLayout3.xml"/><Relationship Id="Ra7116bc3821c407e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808936fcf2c64a85" Type="http://schemas.openxmlformats.org/officeDocument/2006/relationships/slideLayout" Target="../slideLayouts/slideLayout3.xml"/><Relationship Id="Rb7f973d6ee164b7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add7838de2fc41e4" Type="http://schemas.openxmlformats.org/officeDocument/2006/relationships/slideLayout" Target="../slideLayouts/slideLayout3.xml"/><Relationship Id="Redb45793354448c5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37ead58975614ae4" Type="http://schemas.openxmlformats.org/officeDocument/2006/relationships/slideLayout" Target="../slideLayouts/slideLayout3.xml"/><Relationship Id="Re2a8f0d28c7b4f41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08b006cf947a4268" Type="http://schemas.openxmlformats.org/officeDocument/2006/relationships/notesSlide" Target="../notesSlides/notesSlide6.xml"/><Relationship Id="R7810f79554d04be7" Type="http://schemas.openxmlformats.org/officeDocument/2006/relationships/slideLayout" Target="../slideLayouts/slideLayout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5913f1c0469e49e0" Type="http://schemas.openxmlformats.org/officeDocument/2006/relationships/notesSlide" Target="../notesSlides/notesSlide7.xml"/><Relationship Id="R88266afea4b5429d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38333cdb55e14303" Type="http://schemas.openxmlformats.org/officeDocument/2006/relationships/notesSlide" Target="../notesSlides/notesSlide8.xml"/><Relationship Id="R5e22e4ba386a4e4a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49ac6e7b3ddc44a0" Type="http://schemas.openxmlformats.org/officeDocument/2006/relationships/slideLayout" Target="../slideLayouts/slideLayout3.xml"/><Relationship Id="R8ddb8e3c033544fb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372abc290d94776" Type="http://schemas.openxmlformats.org/officeDocument/2006/relationships/notesSlide" Target="../notesSlides/notesSlide10.xml"/><Relationship Id="R19bdea34d1c749c4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6432589dc7044363" Type="http://schemas.openxmlformats.org/officeDocument/2006/relationships/notesSlide" Target="../notesSlides/notesSlide11.xml"/><Relationship Id="Ree864dcf3dfe4429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4984508e63ac43f8" Type="http://schemas.openxmlformats.org/officeDocument/2006/relationships/notesSlide" Target="../notesSlides/notesSlide13.xml"/><Relationship Id="R5c1641c872d44f8c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6e6ab4bb718541f3" Type="http://schemas.openxmlformats.org/officeDocument/2006/relationships/notesSlide" Target="../notesSlides/notesSlide14.xml"/><Relationship Id="Rebcb46e82d90453e" Type="http://schemas.openxmlformats.org/officeDocument/2006/relationships/slideLayout" Target="../slideLayouts/slideLayout3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ad987bc14d7b44cc" Type="http://schemas.openxmlformats.org/officeDocument/2006/relationships/notesSlide" Target="../notesSlides/notesSlide17.xml"/><Relationship Id="Rb007fb5aaffb44de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514d72e7751d4d70" Type="http://schemas.openxmlformats.org/officeDocument/2006/relationships/slideLayout" Target="../slideLayouts/slideLayout3.xml"/><Relationship Id="R7032d2a0753c430e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66f50c3cb1a3422d" Type="http://schemas.openxmlformats.org/officeDocument/2006/relationships/notesSlide" Target="../notesSlides/notesSlide20.xml"/><Relationship Id="Ra3c4e019942d47c7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83d86f80aa8c4da9" Type="http://schemas.openxmlformats.org/officeDocument/2006/relationships/slideLayout" Target="../slideLayouts/slideLayout3.xml"/><Relationship Id="Rcf9da530fa41404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763a57d22c7446e6" Type="http://schemas.openxmlformats.org/officeDocument/2006/relationships/slideLayout" Target="../slideLayouts/slideLayout3.xml"/><Relationship Id="Rd893fadf8ac74a9d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148774743e3f4253" Type="http://schemas.openxmlformats.org/officeDocument/2006/relationships/slideLayout" Target="../slideLayouts/slideLayout3.xml"/><Relationship Id="Refb2f4feac6d436c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8a59c1ea7293411c" Type="http://schemas.openxmlformats.org/officeDocument/2006/relationships/slideLayout" Target="../slideLayouts/slideLayout3.xml"/><Relationship Id="Rf5b1fe1ebfd3423e" Type="http://schemas.openxmlformats.org/officeDocument/2006/relationships/notesSlide" Target="../notesSlides/notesSlide25.xml"/></Relationships>
</file>

<file path=ppt/slides/_rels/slide21.xml.rels><?xml version='1.0' encoding='UTF-8' standalone='yes'?>
<Relationships xmlns="http://schemas.openxmlformats.org/package/2006/relationships"><Relationship Id="Rc58b06e92db04924" Type="http://schemas.openxmlformats.org/officeDocument/2006/relationships/notesSlide" Target="../notesSlides/notesSlide26.xml"/><Relationship Id="Rdb75bfeb9a2f41c2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40b9effea8fa4f81" Type="http://schemas.openxmlformats.org/officeDocument/2006/relationships/slideLayout" Target="../slideLayouts/slideLayout3.xml"/><Relationship Id="R6ec80a796b0d49f3" Type="http://schemas.openxmlformats.org/officeDocument/2006/relationships/notesSlide" Target="../notesSlides/notesSlide27.xml"/></Relationships>
</file>

<file path=ppt/slides/_rels/slide23.xml.rels><?xml version='1.0' encoding='UTF-8' standalone='yes'?>
<Relationships xmlns="http://schemas.openxmlformats.org/package/2006/relationships"><Relationship Id="R7dac5c3e7cce4807" Type="http://schemas.openxmlformats.org/officeDocument/2006/relationships/notesSlide" Target="../notesSlides/notesSlide28.xml"/><Relationship Id="Rff79956e79924eea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7af0ca3879034db9" Type="http://schemas.openxmlformats.org/officeDocument/2006/relationships/notesSlide" Target="../notesSlides/notesSlide29.xml"/><Relationship Id="Ra026d09e6c564e4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32c37e7de3054587" Type="http://schemas.openxmlformats.org/officeDocument/2006/relationships/slideLayout" Target="../slideLayouts/slideLayout3.xml"/><Relationship Id="Rba5b646895494b8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2029968" y="2139696"/>
            <a:ext cx="8138160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第2讲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481328" y="2624328"/>
            <a:ext cx="923544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科研伦理与 Agent 边界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1 课的 diff / log 仍回答不了四个问题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22959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822959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能否进入 Context</a:t>
            </a:r>
          </a:p>
        </p:txBody>
      </p:sp>
      <p:cxnSp xmlns:a="http://schemas.openxmlformats.org/drawingml/2006/main">
        <p:nvCxnSpPr>
          <p:cNvPr id="9" name="Connector 8"/>
          <p:cNvCxnSpPr/>
          <p:nvPr/>
        </p:nvCxnSpPr>
        <p:spPr>
          <a:xfrm>
            <a:off x="3218687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0" name="Rounded Rectangle 9"/>
          <p:cNvSpPr/>
          <p:nvPr/>
        </p:nvSpPr>
        <p:spPr>
          <a:xfrm>
            <a:off x="3419856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Oval 10"/>
          <p:cNvSpPr/>
          <p:nvPr/>
        </p:nvSpPr>
        <p:spPr>
          <a:xfrm>
            <a:off x="3566160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3566160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3584448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3584448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能否读取/写入/外发</a:t>
            </a:r>
          </a:p>
        </p:txBody>
      </p:sp>
      <p:cxnSp xmlns:a="http://schemas.openxmlformats.org/drawingml/2006/main">
        <p:nvCxnSpPr>
          <p:cNvPr id="15" name="Connector 14"/>
          <p:cNvCxnSpPr/>
          <p:nvPr/>
        </p:nvCxnSpPr>
        <p:spPr>
          <a:xfrm>
            <a:off x="5980176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6" name="Rounded Rectangle 15"/>
          <p:cNvSpPr/>
          <p:nvPr/>
        </p:nvSpPr>
        <p:spPr>
          <a:xfrm>
            <a:off x="6181344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Oval 16"/>
          <p:cNvSpPr/>
          <p:nvPr/>
        </p:nvSpPr>
        <p:spPr>
          <a:xfrm>
            <a:off x="6327648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6327648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6345936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6345936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谁在何处暂停判断</a:t>
            </a:r>
          </a:p>
        </p:txBody>
      </p:sp>
      <p:cxnSp xmlns:a="http://schemas.openxmlformats.org/drawingml/2006/main">
        <p:nvCxnSpPr>
          <p:cNvPr id="21" name="Connector 20"/>
          <p:cNvCxnSpPr/>
          <p:nvPr/>
        </p:nvCxnSpPr>
        <p:spPr>
          <a:xfrm>
            <a:off x="8741663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2" name="Rounded Rectangle 21"/>
          <p:cNvSpPr/>
          <p:nvPr/>
        </p:nvSpPr>
        <p:spPr>
          <a:xfrm>
            <a:off x="8942832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Oval 22"/>
          <p:cNvSpPr/>
          <p:nvPr/>
        </p:nvSpPr>
        <p:spPr>
          <a:xfrm>
            <a:off x="9089136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9089136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9107424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责任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9107424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实际变化如何披露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本课把伦理原则翻译成可执行、可检查的边界。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先独立判断，再用一句话说出决定性理由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1344168"/>
            <a:ext cx="4800600" cy="3639312"/>
          </a:xfrm>
          <a:prstGeom prst="roundRect">
            <a:avLst/>
          </a:prstGeom>
          <a:solidFill>
            <a:srgbClr val="F3F5F7"/>
          </a:solidFill>
          <a:ln w="1397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Rounded Rectangle 4"/>
          <p:cNvSpPr/>
          <p:nvPr/>
        </p:nvSpPr>
        <p:spPr>
          <a:xfrm>
            <a:off x="932688" y="1591056"/>
            <a:ext cx="1554480" cy="384048"/>
          </a:xfrm>
          <a:prstGeom prst="roundRect">
            <a:avLst/>
          </a:prstGeom>
          <a:solidFill>
            <a:srgbClr val="DDEAF5"/>
          </a:solidFill>
          <a:ln>
            <a:solidFill>
              <a:srgbClr val="DDE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932688" y="1591056"/>
            <a:ext cx="1554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虚构教学情境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1042415" y="2258568"/>
            <a:ext cx="4041648" cy="1508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你是共同作者。
未公开合作稿拟上传个人外部模型。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1042415" y="4114800"/>
            <a:ext cx="4023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个人订阅 ≠ 处理授权</a:t>
            </a:r>
          </a:p>
        </p:txBody>
      </p:sp>
      <p:sp xmlns:a="http://schemas.openxmlformats.org/drawingml/2006/main">
        <p:nvSpPr>
          <p:cNvPr id="9" name="Rounded Rectangle 8"/>
          <p:cNvSpPr/>
          <p:nvPr/>
        </p:nvSpPr>
        <p:spPr>
          <a:xfrm>
            <a:off x="5843016" y="1344168"/>
            <a:ext cx="5660136" cy="36393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6153912" y="160934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先独立选择，再说决定性理由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6483096" y="2258568"/>
            <a:ext cx="4389120" cy="475488"/>
          </a:xfrm>
          <a:prstGeom prst="roundRect">
            <a:avLst/>
          </a:prstGeom>
          <a:solidFill>
            <a:srgbClr val="E3F1EA"/>
          </a:solidFill>
          <a:ln w="12700">
            <a:solidFill>
              <a:srgbClr val="2E7D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6483096" y="2258568"/>
            <a:ext cx="4389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允许</a:t>
            </a:r>
          </a:p>
        </p:txBody>
      </p:sp>
      <p:sp xmlns:a="http://schemas.openxmlformats.org/drawingml/2006/main">
        <p:nvSpPr>
          <p:cNvPr id="13" name="Rounded Rectangle 12"/>
          <p:cNvSpPr/>
          <p:nvPr/>
        </p:nvSpPr>
        <p:spPr>
          <a:xfrm>
            <a:off x="6483096" y="2916936"/>
            <a:ext cx="4389120" cy="475488"/>
          </a:xfrm>
          <a:prstGeom prst="roundRect">
            <a:avLst/>
          </a:prstGeom>
          <a:solidFill>
            <a:srgbClr val="FFF4E5"/>
          </a:solidFill>
          <a:ln w="127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6483096" y="2916936"/>
            <a:ext cx="4389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有条件允许</a:t>
            </a:r>
          </a:p>
        </p:txBody>
      </p:sp>
      <p:sp xmlns:a="http://schemas.openxmlformats.org/drawingml/2006/main">
        <p:nvSpPr>
          <p:cNvPr id="15" name="Rounded Rectangle 14"/>
          <p:cNvSpPr/>
          <p:nvPr/>
        </p:nvSpPr>
        <p:spPr>
          <a:xfrm>
            <a:off x="6483096" y="3575304"/>
            <a:ext cx="4389120" cy="475488"/>
          </a:xfrm>
          <a:prstGeom prst="roundRect">
            <a:avLst/>
          </a:prstGeom>
          <a:solidFill>
            <a:srgbClr val="F9E3E5"/>
          </a:solidFill>
          <a:ln w="12700">
            <a:solidFill>
              <a:srgbClr val="C816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6483096" y="3575304"/>
            <a:ext cx="4389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6345936" y="4343400"/>
            <a:ext cx="4663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5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哪一项事实决定了你的选择？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1709928" y="5248656"/>
            <a:ext cx="87416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5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交换理由是为了暴露判断依据，不是组队，也不是表决。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科研诚信不止是“不造假”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1225296"/>
            <a:ext cx="66294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5" name="Picture 4" descr="nasem-2017-integrity-values-screenshot.png"/>
          <p:cNvPicPr>
            <a:picLocks noChangeAspect="1"/>
          </p:cNvPicPr>
          <p:nvPr/>
        </p:nvPicPr>
        <p:blipFill>
          <a:blip r:embed="rId4"/>
          <a:srcRect t="985" b="985"/>
          <a:stretch>
            <a:fillRect/>
          </a:stretch>
        </p:blipFill>
        <p:spPr>
          <a:xfrm>
            <a:off x="841247" y="1435608"/>
            <a:ext cx="6263640" cy="3611880"/>
          </a:xfrm>
          <a:prstGeom prst="rect">
            <a:avLst/>
          </a:prstGeom>
        </p:spPr>
      </p:pic>
      <p:sp xmlns:a="http://schemas.openxmlformats.org/drawingml/2006/main">
        <p:nvSpPr>
          <p:cNvPr id="6" name="Rounded Rectangle 5"/>
          <p:cNvSpPr/>
          <p:nvPr/>
        </p:nvSpPr>
        <p:spPr>
          <a:xfrm>
            <a:off x="7626096" y="1618488"/>
            <a:ext cx="3639312" cy="3401568"/>
          </a:xfrm>
          <a:prstGeom prst="roundRect">
            <a:avLst/>
          </a:prstGeom>
          <a:solidFill>
            <a:srgbClr val="DDEAF5"/>
          </a:solidFill>
          <a:ln w="1651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7900416" y="1892808"/>
            <a:ext cx="309067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六项价值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7900416" y="2624328"/>
            <a:ext cx="3090672" cy="2011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客观 · 诚实 · 开放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公平 · 问责 · 守护责任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价值需要落实到动作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两项制度基线并列；具体任务执行更严格的一方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1207008"/>
            <a:ext cx="513892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rcRect t="20913" b="20913"/>
          <a:stretch>
            <a:fillRect/>
          </a:stretch>
        </p:blipFill>
        <p:spPr>
          <a:xfrm>
            <a:off x="822959" y="1408176"/>
            <a:ext cx="4809744" cy="2331720"/>
          </a:xfrm>
          <a:prstGeom prst="rect">
            <a:avLst/>
          </a:prstGeom>
        </p:spPr>
      </p:pic>
      <p:sp xmlns:a="http://schemas.openxmlformats.org/drawingml/2006/main">
        <p:nvSpPr>
          <p:cNvPr id="6" name="TextBox 5"/>
          <p:cNvSpPr txBox="1"/>
          <p:nvPr/>
        </p:nvSpPr>
        <p:spPr>
          <a:xfrm>
            <a:off x="859536" y="3904487"/>
            <a:ext cx="4736592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中国科学院《诚信提醒》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914400" y="4425696"/>
            <a:ext cx="4626864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科研活动：核验、披露、保护</a:t>
            </a:r>
          </a:p>
        </p:txBody>
      </p:sp>
      <p:sp xmlns:a="http://schemas.openxmlformats.org/drawingml/2006/main">
        <p:nvSpPr>
          <p:cNvPr id="8" name="Rounded Rectangle 7"/>
          <p:cNvSpPr/>
          <p:nvPr/>
        </p:nvSpPr>
        <p:spPr>
          <a:xfrm>
            <a:off x="6163055" y="1207008"/>
            <a:ext cx="513892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816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 xmlns:a="http://schemas.openxmlformats.org/drawingml/2006/main" xmlns:r="http://schemas.openxmlformats.org/officeDocument/2006/relationships"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rcRect t="31269" b="31269"/>
          <a:stretch>
            <a:fillRect/>
          </a:stretch>
        </p:blipFill>
        <p:spPr>
          <a:xfrm>
            <a:off x="6327647" y="1408176"/>
            <a:ext cx="4809744" cy="2331720"/>
          </a:xfrm>
          <a:prstGeom prst="rect">
            <a:avLst/>
          </a:prstGeom>
        </p:spPr>
      </p:pic>
      <p:sp xmlns:a="http://schemas.openxmlformats.org/drawingml/2006/main">
        <p:nvSpPr>
          <p:cNvPr id="10" name="TextBox 9"/>
          <p:cNvSpPr txBox="1"/>
          <p:nvPr/>
        </p:nvSpPr>
        <p:spPr>
          <a:xfrm>
            <a:off x="6364223" y="3904487"/>
            <a:ext cx="4736592" cy="4114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上海交大 AI 使用规范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6419088" y="4425696"/>
            <a:ext cx="4626864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教育教学场景：禁止、限制、鼓励、开放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同一工具，不同对象与动作，风险可以相反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795528" y="1225296"/>
            <a:ext cx="10570463" cy="3886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Rounded Rectangle 4"/>
          <p:cNvSpPr/>
          <p:nvPr/>
        </p:nvSpPr>
        <p:spPr>
          <a:xfrm>
            <a:off x="1097280" y="1435608"/>
            <a:ext cx="1920240" cy="384048"/>
          </a:xfrm>
          <a:prstGeom prst="roundRect">
            <a:avLst/>
          </a:prstGeom>
          <a:solidFill>
            <a:srgbClr val="E3F1EA"/>
          </a:solidFill>
          <a:ln>
            <a:solidFill>
              <a:srgbClr val="E3F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1097280" y="1435608"/>
            <a:ext cx="1920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允许｜公开材料</a:t>
            </a:r>
          </a:p>
        </p:txBody>
      </p:sp>
      <p:sp xmlns:a="http://schemas.openxmlformats.org/drawingml/2006/main">
        <p:nvSpPr>
          <p:cNvPr id="7" name="Rounded Rectangle 6"/>
          <p:cNvSpPr/>
          <p:nvPr/>
        </p:nvSpPr>
        <p:spPr>
          <a:xfrm>
            <a:off x="8814816" y="1435608"/>
            <a:ext cx="1920240" cy="384048"/>
          </a:xfrm>
          <a:prstGeom prst="roundRect">
            <a:avLst/>
          </a:prstGeom>
          <a:solidFill>
            <a:srgbClr val="F9E3E5"/>
          </a:solidFill>
          <a:ln>
            <a:solidFill>
              <a:srgbClr val="F9E3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8814816" y="1435608"/>
            <a:ext cx="1920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禁止｜未授权材料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Picture 8" descr="l2-p06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0563" y="1847088"/>
            <a:ext cx="4242592" cy="2331720"/>
          </a:xfrm>
          <a:prstGeom prst="rect">
            <a:avLst/>
          </a:prstGeom>
        </p:spPr>
      </p:pic>
      <p:pic xmlns:a="http://schemas.openxmlformats.org/drawingml/2006/main" xmlns:r="http://schemas.openxmlformats.org/officeDocument/2006/relationships">
        <p:nvPicPr>
          <p:cNvPr id="10" name="Picture 9" descr="l2-p06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680" y="1847088"/>
            <a:ext cx="3868535" cy="2331720"/>
          </a:xfrm>
          <a:prstGeom prst="rect">
            <a:avLst/>
          </a:prstGeom>
        </p:spPr>
      </p:pic>
      <p:sp xmlns:a="http://schemas.openxmlformats.org/drawingml/2006/main">
        <p:nvSpPr>
          <p:cNvPr id="11" name="TextBox 10"/>
          <p:cNvSpPr txBox="1"/>
          <p:nvPr/>
        </p:nvSpPr>
        <p:spPr>
          <a:xfrm>
            <a:off x="1161288" y="4334256"/>
            <a:ext cx="4343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公开论文摘要 → 生成候选关键词 → 回原始来源核验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6647688" y="4334256"/>
            <a:ext cx="4343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保密评审稿 → 上传外部模型 → 越过保密边界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2715768" y="5248656"/>
            <a:ext cx="672998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伦理判断的基本单位：对象 × 动作 × 环境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五字段风险记录把担忧变成行动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 xmlns:a="http://schemas.openxmlformats.org/drawingml/2006/main">
        <p:nvSpPr>
          <p:cNvPr id="4" name="Rectangle 3"/>
          <p:cNvSpPr/>
          <p:nvPr/>
        </p:nvSpPr>
        <p:spPr>
          <a:xfrm>
            <a:off x="658368" y="1435608"/>
            <a:ext cx="205740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731519" y="1463040"/>
            <a:ext cx="191109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对象 Asset</a:t>
            </a:r>
          </a:p>
        </p:txBody>
      </p:sp>
      <p:sp xmlns:a="http://schemas.openxmlformats.org/drawingml/2006/main">
        <p:nvSpPr>
          <p:cNvPr id="6" name="Rectangle 5"/>
          <p:cNvSpPr/>
          <p:nvPr/>
        </p:nvSpPr>
        <p:spPr>
          <a:xfrm>
            <a:off x="2715768" y="1435608"/>
            <a:ext cx="205740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2788920" y="1463040"/>
            <a:ext cx="191109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动作 Action</a:t>
            </a:r>
          </a:p>
        </p:txBody>
      </p:sp>
      <p:sp xmlns:a="http://schemas.openxmlformats.org/drawingml/2006/main">
        <p:nvSpPr>
          <p:cNvPr id="8" name="Rectangle 7"/>
          <p:cNvSpPr/>
          <p:nvPr/>
        </p:nvSpPr>
        <p:spPr>
          <a:xfrm>
            <a:off x="4773168" y="1435608"/>
            <a:ext cx="205740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4846320" y="1463040"/>
            <a:ext cx="191109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 Risk</a:t>
            </a:r>
          </a:p>
        </p:txBody>
      </p:sp>
      <p:sp xmlns:a="http://schemas.openxmlformats.org/drawingml/2006/main">
        <p:nvSpPr>
          <p:cNvPr id="10" name="Rectangle 9"/>
          <p:cNvSpPr/>
          <p:nvPr/>
        </p:nvSpPr>
        <p:spPr>
          <a:xfrm>
            <a:off x="6830568" y="1435608"/>
            <a:ext cx="297180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6903720" y="1463040"/>
            <a:ext cx="2825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控制 Control</a:t>
            </a:r>
          </a:p>
        </p:txBody>
      </p:sp>
      <p:sp xmlns:a="http://schemas.openxmlformats.org/drawingml/2006/main">
        <p:nvSpPr>
          <p:cNvPr id="12" name="Rectangle 11"/>
          <p:cNvSpPr/>
          <p:nvPr/>
        </p:nvSpPr>
        <p:spPr>
          <a:xfrm>
            <a:off x="9802367" y="1435608"/>
            <a:ext cx="1700784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9875519" y="1463040"/>
            <a:ext cx="155448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责任 Owner</a:t>
            </a:r>
          </a:p>
        </p:txBody>
      </p:sp>
      <p:sp xmlns:a="http://schemas.openxmlformats.org/drawingml/2006/main">
        <p:nvSpPr>
          <p:cNvPr id="14" name="Rectangle 13"/>
          <p:cNvSpPr/>
          <p:nvPr/>
        </p:nvSpPr>
        <p:spPr>
          <a:xfrm>
            <a:off x="658368" y="2093976"/>
            <a:ext cx="2057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31519" y="2121408"/>
            <a:ext cx="191109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未公开合作稿</a:t>
            </a:r>
          </a:p>
        </p:txBody>
      </p:sp>
      <p:sp xmlns:a="http://schemas.openxmlformats.org/drawingml/2006/main">
        <p:nvSpPr>
          <p:cNvPr id="16" name="Rectangle 15"/>
          <p:cNvSpPr/>
          <p:nvPr/>
        </p:nvSpPr>
        <p:spPr>
          <a:xfrm>
            <a:off x="2715768" y="2093976"/>
            <a:ext cx="2057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2788920" y="2121408"/>
            <a:ext cx="191109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上传外部模型</a:t>
            </a:r>
          </a:p>
        </p:txBody>
      </p:sp>
      <p:sp xmlns:a="http://schemas.openxmlformats.org/drawingml/2006/main">
        <p:nvSpPr>
          <p:cNvPr id="18" name="Rectangle 17"/>
          <p:cNvSpPr/>
          <p:nvPr/>
        </p:nvSpPr>
        <p:spPr>
          <a:xfrm>
            <a:off x="4773168" y="2093976"/>
            <a:ext cx="2057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4846320" y="2121408"/>
            <a:ext cx="191109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保密与知识产权</a:t>
            </a:r>
          </a:p>
        </p:txBody>
      </p:sp>
      <p:sp xmlns:a="http://schemas.openxmlformats.org/drawingml/2006/main">
        <p:nvSpPr>
          <p:cNvPr id="20" name="Rectangle 19"/>
          <p:cNvSpPr/>
          <p:nvPr/>
        </p:nvSpPr>
        <p:spPr>
          <a:xfrm>
            <a:off x="6830568" y="2093976"/>
            <a:ext cx="29718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6903720" y="2121408"/>
            <a:ext cx="2825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不上传全文；抽象化问题；经授权环境</a:t>
            </a:r>
          </a:p>
        </p:txBody>
      </p:sp>
      <p:sp xmlns:a="http://schemas.openxmlformats.org/drawingml/2006/main">
        <p:nvSpPr>
          <p:cNvPr id="22" name="Rectangle 21"/>
          <p:cNvSpPr/>
          <p:nvPr/>
        </p:nvSpPr>
        <p:spPr>
          <a:xfrm>
            <a:off x="9802367" y="2093976"/>
            <a:ext cx="1700784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9875519" y="2121408"/>
            <a:ext cx="155448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共同作者 + 使用者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1207007" y="5367528"/>
            <a:ext cx="9747504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只写“注意伦理”不可执行；控制必须能被检查。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三类处置各有可检查的理由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1435608"/>
            <a:ext cx="3310128" cy="3401568"/>
          </a:xfrm>
          <a:prstGeom prst="roundRect">
            <a:avLst/>
          </a:prstGeom>
          <a:solidFill>
            <a:srgbClr val="E3F1EA"/>
          </a:solidFill>
          <a:ln w="15240">
            <a:solidFill>
              <a:srgbClr val="2E7D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859536" y="1728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允许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59536" y="2441448"/>
            <a:ext cx="2907792" cy="19933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公开摘要→候选关键词</a:t>
            </a:r>
          </a:p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现有控制充分</a:t>
            </a:r>
          </a:p>
        </p:txBody>
      </p:sp>
      <p:sp xmlns:a="http://schemas.openxmlformats.org/drawingml/2006/main">
        <p:nvSpPr>
          <p:cNvPr id="7" name="Rounded Rectangle 6"/>
          <p:cNvSpPr/>
          <p:nvPr/>
        </p:nvSpPr>
        <p:spPr>
          <a:xfrm>
            <a:off x="4334255" y="1435608"/>
            <a:ext cx="3310128" cy="3401568"/>
          </a:xfrm>
          <a:prstGeom prst="roundRect">
            <a:avLst/>
          </a:prstGeom>
          <a:solidFill>
            <a:srgbClr val="FFF4E5"/>
          </a:solidFill>
          <a:ln w="1524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4535423" y="1728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有条件允许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4535423" y="2441448"/>
            <a:ext cx="2907792" cy="19933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授权数据→本地只读分析</a:t>
            </a:r>
          </a:p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先满足脱敏与权限</a:t>
            </a:r>
          </a:p>
        </p:txBody>
      </p:sp>
      <p:sp xmlns:a="http://schemas.openxmlformats.org/drawingml/2006/main">
        <p:nvSpPr>
          <p:cNvPr id="10" name="Rounded Rectangle 9"/>
          <p:cNvSpPr/>
          <p:nvPr/>
        </p:nvSpPr>
        <p:spPr>
          <a:xfrm>
            <a:off x="8010144" y="1435608"/>
            <a:ext cx="3310128" cy="3401568"/>
          </a:xfrm>
          <a:prstGeom prst="roundRect">
            <a:avLst/>
          </a:prstGeom>
          <a:solidFill>
            <a:srgbClr val="F9E3E5"/>
          </a:solidFill>
          <a:ln w="15240">
            <a:solidFill>
              <a:srgbClr val="C816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8211312" y="1728216"/>
            <a:ext cx="2907792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禁止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8211312" y="2441448"/>
            <a:ext cx="2907792" cy="199339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生成数据冒充观测</a:t>
            </a:r>
          </a:p>
          <a:p>
            <a:pPr algn="l">
              <a:lnSpc>
                <a:spcPct val="118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破坏真实性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1389888" y="5093208"/>
            <a:ext cx="9381744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处置结论必须跟着具体对象、动作、条件和责任人。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发送前：五个条件缺一，不上传未公开全文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22959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材料身份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822959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作者稿还是评审稿</a:t>
            </a:r>
          </a:p>
        </p:txBody>
      </p:sp>
      <p:cxnSp xmlns:a="http://schemas.openxmlformats.org/drawingml/2006/main">
        <p:nvCxnSpPr>
          <p:cNvPr id="9" name="Connector 8"/>
          <p:cNvCxnSpPr/>
          <p:nvPr/>
        </p:nvCxnSpPr>
        <p:spPr>
          <a:xfrm>
            <a:off x="266639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0" name="Rounded Rectangle 9"/>
          <p:cNvSpPr/>
          <p:nvPr/>
        </p:nvSpPr>
        <p:spPr>
          <a:xfrm>
            <a:off x="286755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Oval 10"/>
          <p:cNvSpPr/>
          <p:nvPr/>
        </p:nvSpPr>
        <p:spPr>
          <a:xfrm>
            <a:off x="301386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301386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3032150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权利人授权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3032150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共同作者是否同意</a:t>
            </a:r>
          </a:p>
        </p:txBody>
      </p:sp>
      <p:cxnSp xmlns:a="http://schemas.openxmlformats.org/drawingml/2006/main">
        <p:nvCxnSpPr>
          <p:cNvPr id="15" name="Connector 14"/>
          <p:cNvCxnSpPr/>
          <p:nvPr/>
        </p:nvCxnSpPr>
        <p:spPr>
          <a:xfrm>
            <a:off x="487558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6" name="Rounded Rectangle 15"/>
          <p:cNvSpPr/>
          <p:nvPr/>
        </p:nvSpPr>
        <p:spPr>
          <a:xfrm>
            <a:off x="507674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Oval 16"/>
          <p:cNvSpPr/>
          <p:nvPr/>
        </p:nvSpPr>
        <p:spPr>
          <a:xfrm>
            <a:off x="5223052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522305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5241340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规则允许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5241340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机构/项目/期刊</a:t>
            </a:r>
          </a:p>
        </p:txBody>
      </p:sp>
      <p:cxnSp xmlns:a="http://schemas.openxmlformats.org/drawingml/2006/main">
        <p:nvCxnSpPr>
          <p:cNvPr id="21" name="Connector 20"/>
          <p:cNvCxnSpPr/>
          <p:nvPr/>
        </p:nvCxnSpPr>
        <p:spPr>
          <a:xfrm>
            <a:off x="708477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2" name="Rounded Rectangle 21"/>
          <p:cNvSpPr/>
          <p:nvPr/>
        </p:nvSpPr>
        <p:spPr>
          <a:xfrm>
            <a:off x="728593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Oval 22"/>
          <p:cNvSpPr/>
          <p:nvPr/>
        </p:nvSpPr>
        <p:spPr>
          <a:xfrm>
            <a:off x="743224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432243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7450531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环境合规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7450531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保存、训练、访问</a:t>
            </a:r>
          </a:p>
        </p:txBody>
      </p:sp>
      <p:cxnSp xmlns:a="http://schemas.openxmlformats.org/drawingml/2006/main">
        <p:nvCxnSpPr>
          <p:cNvPr id="27" name="Connector 26"/>
          <p:cNvCxnSpPr/>
          <p:nvPr/>
        </p:nvCxnSpPr>
        <p:spPr>
          <a:xfrm>
            <a:off x="929396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8" name="Rounded Rectangle 27"/>
          <p:cNvSpPr/>
          <p:nvPr/>
        </p:nvSpPr>
        <p:spPr>
          <a:xfrm>
            <a:off x="949512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9" name="Oval 28"/>
          <p:cNvSpPr/>
          <p:nvPr/>
        </p:nvSpPr>
        <p:spPr>
          <a:xfrm>
            <a:off x="964143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9641433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9659721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最小披露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9659721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仅必要片段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条件式允许是一种专业判断框架，不是上传课程研究材料的授权。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如果已经发送：先止损，再恢复责任链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22959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停止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822959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不继续发送</a:t>
            </a:r>
          </a:p>
        </p:txBody>
      </p:sp>
      <p:cxnSp xmlns:a="http://schemas.openxmlformats.org/drawingml/2006/main">
        <p:nvCxnSpPr>
          <p:cNvPr id="9" name="Connector 8"/>
          <p:cNvCxnSpPr/>
          <p:nvPr/>
        </p:nvCxnSpPr>
        <p:spPr>
          <a:xfrm>
            <a:off x="266639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0" name="Rounded Rectangle 9"/>
          <p:cNvSpPr/>
          <p:nvPr/>
        </p:nvSpPr>
        <p:spPr>
          <a:xfrm>
            <a:off x="286755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Oval 10"/>
          <p:cNvSpPr/>
          <p:nvPr/>
        </p:nvSpPr>
        <p:spPr>
          <a:xfrm>
            <a:off x="301386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301386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3032150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评估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3032150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摘要/全文/数据及敏感度</a:t>
            </a:r>
          </a:p>
        </p:txBody>
      </p:sp>
      <p:cxnSp xmlns:a="http://schemas.openxmlformats.org/drawingml/2006/main">
        <p:nvCxnSpPr>
          <p:cNvPr id="15" name="Connector 14"/>
          <p:cNvCxnSpPr/>
          <p:nvPr/>
        </p:nvCxnSpPr>
        <p:spPr>
          <a:xfrm>
            <a:off x="487558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6" name="Rounded Rectangle 15"/>
          <p:cNvSpPr/>
          <p:nvPr/>
        </p:nvSpPr>
        <p:spPr>
          <a:xfrm>
            <a:off x="507674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Oval 16"/>
          <p:cNvSpPr/>
          <p:nvPr/>
        </p:nvSpPr>
        <p:spPr>
          <a:xfrm>
            <a:off x="5223052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522305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5241340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记录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5241340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工具、时间、内容范围</a:t>
            </a:r>
          </a:p>
        </p:txBody>
      </p:sp>
      <p:cxnSp xmlns:a="http://schemas.openxmlformats.org/drawingml/2006/main">
        <p:nvCxnSpPr>
          <p:cNvPr id="21" name="Connector 20"/>
          <p:cNvCxnSpPr/>
          <p:nvPr/>
        </p:nvCxnSpPr>
        <p:spPr>
          <a:xfrm>
            <a:off x="708477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2" name="Rounded Rectangle 21"/>
          <p:cNvSpPr/>
          <p:nvPr/>
        </p:nvSpPr>
        <p:spPr>
          <a:xfrm>
            <a:off x="728593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Oval 22"/>
          <p:cNvSpPr/>
          <p:nvPr/>
        </p:nvSpPr>
        <p:spPr>
          <a:xfrm>
            <a:off x="743224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432243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7450531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沟通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7450531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按需告知合作者/机构</a:t>
            </a:r>
          </a:p>
        </p:txBody>
      </p:sp>
      <p:cxnSp xmlns:a="http://schemas.openxmlformats.org/drawingml/2006/main">
        <p:nvCxnSpPr>
          <p:cNvPr id="27" name="Connector 26"/>
          <p:cNvCxnSpPr/>
          <p:nvPr/>
        </p:nvCxnSpPr>
        <p:spPr>
          <a:xfrm>
            <a:off x="929396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8" name="Rounded Rectangle 27"/>
          <p:cNvSpPr/>
          <p:nvPr/>
        </p:nvSpPr>
        <p:spPr>
          <a:xfrm>
            <a:off x="949512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9" name="Oval 28"/>
          <p:cNvSpPr/>
          <p:nvPr/>
        </p:nvSpPr>
        <p:spPr>
          <a:xfrm>
            <a:off x="964143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9641433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9659721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切换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9659721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合规环境或抽象化问题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事后删除或隐瞒不能消除已经发生的暴露。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模拟数据可以测试方法，不能冒充经验事实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 xmlns:a="http://schemas.openxmlformats.org/drawingml/2006/main">
        <p:nvSpPr>
          <p:cNvPr id="4" name="Rectangle 3"/>
          <p:cNvSpPr/>
          <p:nvPr/>
        </p:nvSpPr>
        <p:spPr>
          <a:xfrm>
            <a:off x="658368" y="1435608"/>
            <a:ext cx="192024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731519" y="1463040"/>
            <a:ext cx="17739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材料</a:t>
            </a:r>
          </a:p>
        </p:txBody>
      </p:sp>
      <p:sp xmlns:a="http://schemas.openxmlformats.org/drawingml/2006/main">
        <p:nvSpPr>
          <p:cNvPr id="6" name="Rectangle 5"/>
          <p:cNvSpPr/>
          <p:nvPr/>
        </p:nvSpPr>
        <p:spPr>
          <a:xfrm>
            <a:off x="2578608" y="1435608"/>
            <a:ext cx="283464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2651760" y="1463040"/>
            <a:ext cx="26883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可以做什么</a:t>
            </a:r>
          </a:p>
        </p:txBody>
      </p:sp>
      <p:sp xmlns:a="http://schemas.openxmlformats.org/drawingml/2006/main">
        <p:nvSpPr>
          <p:cNvPr id="8" name="Rectangle 7"/>
          <p:cNvSpPr/>
          <p:nvPr/>
        </p:nvSpPr>
        <p:spPr>
          <a:xfrm>
            <a:off x="5413248" y="1435608"/>
            <a:ext cx="297180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5486400" y="1463040"/>
            <a:ext cx="2825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可以说什么</a:t>
            </a:r>
          </a:p>
        </p:txBody>
      </p:sp>
      <p:sp xmlns:a="http://schemas.openxmlformats.org/drawingml/2006/main">
        <p:nvSpPr>
          <p:cNvPr id="10" name="Rectangle 9"/>
          <p:cNvSpPr/>
          <p:nvPr/>
        </p:nvSpPr>
        <p:spPr>
          <a:xfrm>
            <a:off x="8385048" y="1435608"/>
            <a:ext cx="3118104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8458200" y="1463040"/>
            <a:ext cx="297180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不能说什么</a:t>
            </a:r>
          </a:p>
        </p:txBody>
      </p:sp>
      <p:sp xmlns:a="http://schemas.openxmlformats.org/drawingml/2006/main">
        <p:nvSpPr>
          <p:cNvPr id="12" name="Rectangle 11"/>
          <p:cNvSpPr/>
          <p:nvPr/>
        </p:nvSpPr>
        <p:spPr>
          <a:xfrm>
            <a:off x="658368" y="2093976"/>
            <a:ext cx="192024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731519" y="2121408"/>
            <a:ext cx="17739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明确标记的模拟缺失值</a:t>
            </a:r>
          </a:p>
        </p:txBody>
      </p:sp>
      <p:sp xmlns:a="http://schemas.openxmlformats.org/drawingml/2006/main">
        <p:nvSpPr>
          <p:cNvPr id="14" name="Rectangle 13"/>
          <p:cNvSpPr/>
          <p:nvPr/>
        </p:nvSpPr>
        <p:spPr>
          <a:xfrm>
            <a:off x="2578608" y="2093976"/>
            <a:ext cx="283464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2651760" y="2121408"/>
            <a:ext cx="26883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测试代码、异常处理、统计流程</a:t>
            </a:r>
          </a:p>
        </p:txBody>
      </p:sp>
      <p:sp xmlns:a="http://schemas.openxmlformats.org/drawingml/2006/main">
        <p:nvSpPr>
          <p:cNvPr id="16" name="Rectangle 15"/>
          <p:cNvSpPr/>
          <p:nvPr/>
        </p:nvSpPr>
        <p:spPr>
          <a:xfrm>
            <a:off x="5413248" y="2093976"/>
            <a:ext cx="29718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5486400" y="2121408"/>
            <a:ext cx="2825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脚本在该模拟条件下通过</a:t>
            </a:r>
          </a:p>
        </p:txBody>
      </p:sp>
      <p:sp xmlns:a="http://schemas.openxmlformats.org/drawingml/2006/main">
        <p:nvSpPr>
          <p:cNvPr id="18" name="Rectangle 17"/>
          <p:cNvSpPr/>
          <p:nvPr/>
        </p:nvSpPr>
        <p:spPr>
          <a:xfrm>
            <a:off x="8385048" y="2093976"/>
            <a:ext cx="3118104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8458200" y="2121408"/>
            <a:ext cx="297180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真实人群中方法有效</a:t>
            </a:r>
          </a:p>
        </p:txBody>
      </p:sp>
      <p:sp xmlns:a="http://schemas.openxmlformats.org/drawingml/2006/main">
        <p:nvSpPr>
          <p:cNvPr id="20" name="Rectangle 19"/>
          <p:cNvSpPr/>
          <p:nvPr/>
        </p:nvSpPr>
        <p:spPr>
          <a:xfrm>
            <a:off x="658368" y="2752344"/>
            <a:ext cx="192024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731519" y="2779775"/>
            <a:ext cx="17739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真实实验观测</a:t>
            </a:r>
          </a:p>
        </p:txBody>
      </p:sp>
      <p:sp xmlns:a="http://schemas.openxmlformats.org/drawingml/2006/main">
        <p:nvSpPr>
          <p:cNvPr id="22" name="Rectangle 21"/>
          <p:cNvSpPr/>
          <p:nvPr/>
        </p:nvSpPr>
        <p:spPr>
          <a:xfrm>
            <a:off x="2578608" y="2752344"/>
            <a:ext cx="283464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2651760" y="2779775"/>
            <a:ext cx="26883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按授权协议分析</a:t>
            </a:r>
          </a:p>
        </p:txBody>
      </p:sp>
      <p:sp xmlns:a="http://schemas.openxmlformats.org/drawingml/2006/main">
        <p:nvSpPr>
          <p:cNvPr id="24" name="Rectangle 23"/>
          <p:cNvSpPr/>
          <p:nvPr/>
        </p:nvSpPr>
        <p:spPr>
          <a:xfrm>
            <a:off x="5413248" y="2752344"/>
            <a:ext cx="297180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5486400" y="2779775"/>
            <a:ext cx="2825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在给定样本和设计下观察到…</a:t>
            </a:r>
          </a:p>
        </p:txBody>
      </p:sp>
      <p:sp xmlns:a="http://schemas.openxmlformats.org/drawingml/2006/main">
        <p:nvSpPr>
          <p:cNvPr id="26" name="Rectangle 25"/>
          <p:cNvSpPr/>
          <p:nvPr/>
        </p:nvSpPr>
        <p:spPr>
          <a:xfrm>
            <a:off x="8385048" y="2752344"/>
            <a:ext cx="3118104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8458200" y="2779775"/>
            <a:ext cx="297180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超出数据与设计的普遍因果结论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“人点了批准”仍可能是假治理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22959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Agent 建议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822959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结果不佳，换指标</a:t>
            </a:r>
          </a:p>
        </p:txBody>
      </p:sp>
      <p:cxnSp xmlns:a="http://schemas.openxmlformats.org/drawingml/2006/main">
        <p:nvCxnSpPr>
          <p:cNvPr id="9" name="Connector 8"/>
          <p:cNvCxnSpPr/>
          <p:nvPr/>
        </p:nvCxnSpPr>
        <p:spPr>
          <a:xfrm>
            <a:off x="3218687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0" name="Rounded Rectangle 9"/>
          <p:cNvSpPr/>
          <p:nvPr/>
        </p:nvSpPr>
        <p:spPr>
          <a:xfrm>
            <a:off x="3419856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Oval 10"/>
          <p:cNvSpPr/>
          <p:nvPr/>
        </p:nvSpPr>
        <p:spPr>
          <a:xfrm>
            <a:off x="3566160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3566160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3584448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人点击同意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3584448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未记录理由</a:t>
            </a:r>
          </a:p>
        </p:txBody>
      </p:sp>
      <p:cxnSp xmlns:a="http://schemas.openxmlformats.org/drawingml/2006/main">
        <p:nvCxnSpPr>
          <p:cNvPr id="15" name="Connector 14"/>
          <p:cNvCxnSpPr/>
          <p:nvPr/>
        </p:nvCxnSpPr>
        <p:spPr>
          <a:xfrm>
            <a:off x="5980176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6" name="Rounded Rectangle 15"/>
          <p:cNvSpPr/>
          <p:nvPr/>
        </p:nvSpPr>
        <p:spPr>
          <a:xfrm>
            <a:off x="6181344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Oval 16"/>
          <p:cNvSpPr/>
          <p:nvPr/>
        </p:nvSpPr>
        <p:spPr>
          <a:xfrm>
            <a:off x="6327648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6327648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6345936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旧协议被覆盖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6345936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无法比较</a:t>
            </a:r>
          </a:p>
        </p:txBody>
      </p:sp>
      <p:cxnSp xmlns:a="http://schemas.openxmlformats.org/drawingml/2006/main">
        <p:nvCxnSpPr>
          <p:cNvPr id="21" name="Connector 20"/>
          <p:cNvCxnSpPr/>
          <p:nvPr/>
        </p:nvCxnSpPr>
        <p:spPr>
          <a:xfrm>
            <a:off x="8741663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2" name="Rounded Rectangle 21"/>
          <p:cNvSpPr/>
          <p:nvPr/>
        </p:nvSpPr>
        <p:spPr>
          <a:xfrm>
            <a:off x="8942832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Oval 22"/>
          <p:cNvSpPr/>
          <p:nvPr/>
        </p:nvSpPr>
        <p:spPr>
          <a:xfrm>
            <a:off x="9089136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9089136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9107424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成功结果被选择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9107424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结论失真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改指标 = 改版本化协议文件 = 留 diff；批准按钮不能替代研究判断。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Research harness 同时约束研究判断与执行权限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4" name="Picture 3" descr="l2-harness-trim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296" y="1885907"/>
            <a:ext cx="5138928" cy="2500968"/>
          </a:xfrm>
          <a:prstGeom prst="rect">
            <a:avLst/>
          </a:prstGeom>
        </p:spPr>
      </p:pic>
      <p:sp xmlns:a="http://schemas.openxmlformats.org/drawingml/2006/main">
        <p:nvSpPr>
          <p:cNvPr id="5" name="Rounded Rectangle 4"/>
          <p:cNvSpPr/>
          <p:nvPr/>
        </p:nvSpPr>
        <p:spPr>
          <a:xfrm>
            <a:off x="749808" y="1499616"/>
            <a:ext cx="251460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59536" y="1609344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5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版本化协议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59536" y="199339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目标与成功标准</a:t>
            </a:r>
          </a:p>
        </p:txBody>
      </p:sp>
      <p:sp xmlns:a="http://schemas.openxmlformats.org/drawingml/2006/main">
        <p:nvSpPr>
          <p:cNvPr id="8" name="Rounded Rectangle 7"/>
          <p:cNvSpPr/>
          <p:nvPr/>
        </p:nvSpPr>
        <p:spPr>
          <a:xfrm>
            <a:off x="8906256" y="1499616"/>
            <a:ext cx="251460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9015984" y="1609344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5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权限矩阵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9015984" y="199339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可读 / 可写 / 可执行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749808" y="4078224"/>
            <a:ext cx="251460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816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859536" y="418795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5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人工确认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59536" y="4572000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例外与高风险动作暂停</a:t>
            </a:r>
          </a:p>
        </p:txBody>
      </p:sp>
      <p:sp xmlns:a="http://schemas.openxmlformats.org/drawingml/2006/main">
        <p:nvSpPr>
          <p:cNvPr id="14" name="Rounded Rectangle 13"/>
          <p:cNvSpPr/>
          <p:nvPr/>
        </p:nvSpPr>
        <p:spPr>
          <a:xfrm>
            <a:off x="8906256" y="4078224"/>
            <a:ext cx="251460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E7D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9015984" y="4187952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5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实际 trace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9015984" y="4572000"/>
            <a:ext cx="2295144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diff / 日志
外部状态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5230368" y="2889504"/>
            <a:ext cx="1700784" cy="384048"/>
          </a:xfrm>
          <a:prstGeom prst="roundRect">
            <a:avLst/>
          </a:prstGeom>
          <a:solidFill>
            <a:srgbClr val="DDEAF5"/>
          </a:solidFill>
          <a:ln>
            <a:solidFill>
              <a:srgbClr val="DDE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5230368" y="2889504"/>
            <a:ext cx="17007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一个研究任务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1892808" y="5248656"/>
            <a:ext cx="83759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研究者声明边界；harness 执行边界；例外经人工确认并留下记录。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默认拒绝与最小权限是 harness 的起点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1344168"/>
            <a:ext cx="5138928" cy="3794760"/>
          </a:xfrm>
          <a:prstGeom prst="roundRect">
            <a:avLst/>
          </a:prstGeom>
          <a:solidFill>
            <a:srgbClr val="DDEAF5"/>
          </a:solidFill>
          <a:ln w="15875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914400" y="1645920"/>
            <a:ext cx="462686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默认拒绝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914400" y="2377440"/>
            <a:ext cx="4626864" cy="2286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没有明确授权就不执行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尤其是网络、外部写入和不可逆动作</a:t>
            </a:r>
          </a:p>
        </p:txBody>
      </p:sp>
      <p:sp xmlns:a="http://schemas.openxmlformats.org/drawingml/2006/main">
        <p:nvSpPr>
          <p:cNvPr id="7" name="Rounded Rectangle 6"/>
          <p:cNvSpPr/>
          <p:nvPr/>
        </p:nvSpPr>
        <p:spPr>
          <a:xfrm>
            <a:off x="6163055" y="1344168"/>
            <a:ext cx="5138928" cy="3794760"/>
          </a:xfrm>
          <a:prstGeom prst="roundRect">
            <a:avLst/>
          </a:prstGeom>
          <a:solidFill>
            <a:srgbClr val="FFF4E5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6419088" y="1645920"/>
            <a:ext cx="462686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最小权限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6419088" y="2377440"/>
            <a:ext cx="4626864" cy="2286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只给完成当前任务所需范围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任务变化后重新评估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1572768" y="5276088"/>
            <a:ext cx="9015984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长循环仍需持续检查；高风险动作需要多项条件同时成立。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权限矩阵只先写一行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 xmlns:a="http://schemas.openxmlformats.org/drawingml/2006/main">
        <p:nvSpPr>
          <p:cNvPr id="4" name="Rectangle 3"/>
          <p:cNvSpPr/>
          <p:nvPr/>
        </p:nvSpPr>
        <p:spPr>
          <a:xfrm>
            <a:off x="658368" y="1435608"/>
            <a:ext cx="205740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731519" y="1463040"/>
            <a:ext cx="191109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对象 / 能力</a:t>
            </a:r>
          </a:p>
        </p:txBody>
      </p:sp>
      <p:sp xmlns:a="http://schemas.openxmlformats.org/drawingml/2006/main">
        <p:nvSpPr>
          <p:cNvPr id="6" name="Rectangle 5"/>
          <p:cNvSpPr/>
          <p:nvPr/>
        </p:nvSpPr>
        <p:spPr>
          <a:xfrm>
            <a:off x="2715768" y="1435608"/>
            <a:ext cx="205740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2788920" y="1463040"/>
            <a:ext cx="191109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只读</a:t>
            </a:r>
          </a:p>
        </p:txBody>
      </p:sp>
      <p:sp xmlns:a="http://schemas.openxmlformats.org/drawingml/2006/main">
        <p:nvSpPr>
          <p:cNvPr id="8" name="Rectangle 7"/>
          <p:cNvSpPr/>
          <p:nvPr/>
        </p:nvSpPr>
        <p:spPr>
          <a:xfrm>
            <a:off x="4773168" y="1435608"/>
            <a:ext cx="260604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4846320" y="1463040"/>
            <a:ext cx="24597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可写 / 执行</a:t>
            </a:r>
          </a:p>
        </p:txBody>
      </p:sp>
      <p:sp xmlns:a="http://schemas.openxmlformats.org/drawingml/2006/main">
        <p:nvSpPr>
          <p:cNvPr id="10" name="Rectangle 9"/>
          <p:cNvSpPr/>
          <p:nvPr/>
        </p:nvSpPr>
        <p:spPr>
          <a:xfrm>
            <a:off x="7379208" y="1435608"/>
            <a:ext cx="242316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7452360" y="1463040"/>
            <a:ext cx="227685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人工确认点</a:t>
            </a:r>
          </a:p>
        </p:txBody>
      </p:sp>
      <p:sp xmlns:a="http://schemas.openxmlformats.org/drawingml/2006/main">
        <p:nvSpPr>
          <p:cNvPr id="12" name="Rectangle 11"/>
          <p:cNvSpPr/>
          <p:nvPr/>
        </p:nvSpPr>
        <p:spPr>
          <a:xfrm>
            <a:off x="9802368" y="1435608"/>
            <a:ext cx="1700784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9875520" y="1463040"/>
            <a:ext cx="155448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禁止事项</a:t>
            </a:r>
          </a:p>
        </p:txBody>
      </p:sp>
      <p:sp xmlns:a="http://schemas.openxmlformats.org/drawingml/2006/main">
        <p:nvSpPr>
          <p:cNvPr id="14" name="Rectangle 13"/>
          <p:cNvSpPr/>
          <p:nvPr/>
        </p:nvSpPr>
        <p:spPr>
          <a:xfrm>
            <a:off x="658368" y="2093976"/>
            <a:ext cx="2057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731519" y="2121408"/>
            <a:ext cx="191109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公开文献检索</a:t>
            </a:r>
          </a:p>
        </p:txBody>
      </p:sp>
      <p:sp xmlns:a="http://schemas.openxmlformats.org/drawingml/2006/main">
        <p:nvSpPr>
          <p:cNvPr id="16" name="Rectangle 15"/>
          <p:cNvSpPr/>
          <p:nvPr/>
        </p:nvSpPr>
        <p:spPr>
          <a:xfrm>
            <a:off x="2715768" y="2093976"/>
            <a:ext cx="20574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2788920" y="2121408"/>
            <a:ext cx="191109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批准来源与检索记录</a:t>
            </a:r>
          </a:p>
        </p:txBody>
      </p:sp>
      <p:sp xmlns:a="http://schemas.openxmlformats.org/drawingml/2006/main">
        <p:nvSpPr>
          <p:cNvPr id="18" name="Rectangle 17"/>
          <p:cNvSpPr/>
          <p:nvPr/>
        </p:nvSpPr>
        <p:spPr>
          <a:xfrm>
            <a:off x="4773168" y="2093976"/>
            <a:ext cx="260604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4846320" y="2121408"/>
            <a:ext cx="24597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只写检索记录；不默认下载全文</a:t>
            </a:r>
          </a:p>
        </p:txBody>
      </p:sp>
      <p:sp xmlns:a="http://schemas.openxmlformats.org/drawingml/2006/main">
        <p:nvSpPr>
          <p:cNvPr id="20" name="Rectangle 19"/>
          <p:cNvSpPr/>
          <p:nvPr/>
        </p:nvSpPr>
        <p:spPr>
          <a:xfrm>
            <a:off x="7379208" y="2093976"/>
            <a:ext cx="242316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7452360" y="2121408"/>
            <a:ext cx="227685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登录、下载、发送全文前</a:t>
            </a:r>
          </a:p>
        </p:txBody>
      </p:sp>
      <p:sp xmlns:a="http://schemas.openxmlformats.org/drawingml/2006/main">
        <p:nvSpPr>
          <p:cNvPr id="22" name="Rectangle 21"/>
          <p:cNvSpPr/>
          <p:nvPr/>
        </p:nvSpPr>
        <p:spPr>
          <a:xfrm>
            <a:off x="9802368" y="2093976"/>
            <a:ext cx="1700784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9875520" y="2121408"/>
            <a:ext cx="155448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不上传未授权材料</a:t>
            </a:r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1207007" y="5367528"/>
            <a:ext cx="9747504" cy="3657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长期矩阵与本次任务契约冲突时，执行更窄授权。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过宽配置和最小配置的差异必须可见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1344168"/>
            <a:ext cx="5138928" cy="3794760"/>
          </a:xfrm>
          <a:prstGeom prst="roundRect">
            <a:avLst/>
          </a:prstGeom>
          <a:solidFill>
            <a:srgbClr val="F9E3E5"/>
          </a:solidFill>
          <a:ln w="15875">
            <a:solidFill>
              <a:srgbClr val="C816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914400" y="1645920"/>
            <a:ext cx="462686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过宽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914400" y="2377440"/>
            <a:ext cx="4626864" cy="2286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读取整个主目录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任意写入与联网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完成后再汇报</a:t>
            </a:r>
          </a:p>
        </p:txBody>
      </p:sp>
      <p:sp xmlns:a="http://schemas.openxmlformats.org/drawingml/2006/main">
        <p:nvSpPr>
          <p:cNvPr id="7" name="Rounded Rectangle 6"/>
          <p:cNvSpPr/>
          <p:nvPr/>
        </p:nvSpPr>
        <p:spPr>
          <a:xfrm>
            <a:off x="6163055" y="1344168"/>
            <a:ext cx="5138928" cy="3794760"/>
          </a:xfrm>
          <a:prstGeom prst="roundRect">
            <a:avLst/>
          </a:prstGeom>
          <a:solidFill>
            <a:srgbClr val="E3F1EA"/>
          </a:solidFill>
          <a:ln w="15875">
            <a:solidFill>
              <a:srgbClr val="2E7D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6419088" y="1645920"/>
            <a:ext cx="462686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最小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6419088" y="2377440"/>
            <a:ext cx="4626864" cy="2286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只读指定文件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写入一个目标文件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网络关闭；写前确认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1572768" y="5276088"/>
            <a:ext cx="9015984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权限界面是实现；权限设计必须先有可审查的声明。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工件状态描述成熟度，不描述完成百分比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1709928"/>
            <a:ext cx="2519172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F6B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804672" y="1984248"/>
            <a:ext cx="222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5F6B76"/>
                </a:solidFill>
                <a:latin typeface="Arial"/>
                <a:ea typeface="Arial"/>
                <a:cs typeface="Arial"/>
              </a:rPr>
              <a:t>draft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04672" y="2596896"/>
            <a:ext cx="222656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候选来源
仍有空白</a:t>
            </a:r>
          </a:p>
        </p:txBody>
      </p:sp>
      <p:cxnSp xmlns:a="http://schemas.openxmlformats.org/drawingml/2006/main">
        <p:nvCxnSpPr>
          <p:cNvPr id="7" name="Connector 6"/>
          <p:cNvCxnSpPr/>
          <p:nvPr/>
        </p:nvCxnSpPr>
        <p:spPr>
          <a:xfrm>
            <a:off x="3214115" y="2724912"/>
            <a:ext cx="182881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8" name="Rounded Rectangle 7"/>
          <p:cNvSpPr/>
          <p:nvPr/>
        </p:nvSpPr>
        <p:spPr>
          <a:xfrm>
            <a:off x="3433572" y="1709928"/>
            <a:ext cx="2519172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3579876" y="1984248"/>
            <a:ext cx="222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1F4D78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3579876" y="2596896"/>
            <a:ext cx="222656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已定位原文
等待检查</a:t>
            </a:r>
          </a:p>
        </p:txBody>
      </p:sp>
      <p:cxnSp xmlns:a="http://schemas.openxmlformats.org/drawingml/2006/main">
        <p:nvCxnSpPr>
          <p:cNvPr id="11" name="Connector 10"/>
          <p:cNvCxnSpPr/>
          <p:nvPr/>
        </p:nvCxnSpPr>
        <p:spPr>
          <a:xfrm>
            <a:off x="5989320" y="2724912"/>
            <a:ext cx="18288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2" name="Rounded Rectangle 11"/>
          <p:cNvSpPr/>
          <p:nvPr/>
        </p:nvSpPr>
        <p:spPr>
          <a:xfrm>
            <a:off x="6208776" y="1709928"/>
            <a:ext cx="2519172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6355080" y="1984248"/>
            <a:ext cx="222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ED7D31"/>
                </a:solidFill>
                <a:latin typeface="Arial"/>
                <a:ea typeface="Arial"/>
                <a:cs typeface="Arial"/>
              </a:rPr>
              <a:t>approved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6355080" y="2596896"/>
            <a:ext cx="222656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通过人工/研究门</a:t>
            </a:r>
          </a:p>
        </p:txBody>
      </p:sp>
      <p:cxnSp xmlns:a="http://schemas.openxmlformats.org/drawingml/2006/main">
        <p:nvCxnSpPr>
          <p:cNvPr id="15" name="Connector 14"/>
          <p:cNvCxnSpPr/>
          <p:nvPr/>
        </p:nvCxnSpPr>
        <p:spPr>
          <a:xfrm>
            <a:off x="8764524" y="2724912"/>
            <a:ext cx="182880" cy="0"/>
          </a:xfrm>
          <a:prstGeom prst="line">
            <a:avLst/>
          </a:prstGeom>
          <a:ln w="2286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6" name="Rounded Rectangle 15"/>
          <p:cNvSpPr/>
          <p:nvPr/>
        </p:nvSpPr>
        <p:spPr>
          <a:xfrm>
            <a:off x="8983980" y="1709928"/>
            <a:ext cx="2519172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D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9130284" y="1984248"/>
            <a:ext cx="2226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stable</a:t>
            </a:r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9130284" y="2596896"/>
            <a:ext cx="2226564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证据与边界
可稳定引用</a:t>
            </a:r>
          </a:p>
        </p:txBody>
      </p:sp>
      <p:cxnSp xmlns:a="http://schemas.openxmlformats.org/drawingml/2006/main">
        <p:nvCxnSpPr>
          <p:cNvPr id="19" name="Connector 18"/>
          <p:cNvCxnSpPr/>
          <p:nvPr/>
        </p:nvCxnSpPr>
        <p:spPr>
          <a:xfrm flipH="1">
            <a:off x="1069848" y="4361688"/>
            <a:ext cx="10021824" cy="0"/>
          </a:xfrm>
          <a:prstGeom prst="line">
            <a:avLst/>
          </a:prstGeom>
          <a:ln w="29845">
            <a:solidFill>
              <a:srgbClr val="C81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0" name="TextBox 19"/>
          <p:cNvSpPr txBox="1"/>
          <p:nvPr/>
        </p:nvSpPr>
        <p:spPr>
          <a:xfrm>
            <a:off x="3447287" y="4480560"/>
            <a:ext cx="52669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新证据或边界变化 → 回退并补依据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1664208" y="5248656"/>
            <a:ext cx="883310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5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状态描述成熟度，不描述完成百分比；任何状态都可以回退。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一个工件如何改变状态：必须记录依据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 xmlns:a="http://schemas.openxmlformats.org/drawingml/2006/main">
        <p:nvSpPr>
          <p:cNvPr id="4" name="Rectangle 3"/>
          <p:cNvSpPr/>
          <p:nvPr/>
        </p:nvSpPr>
        <p:spPr>
          <a:xfrm>
            <a:off x="658368" y="1435608"/>
            <a:ext cx="146304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731519" y="1463040"/>
            <a:ext cx="13167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状态</a:t>
            </a:r>
          </a:p>
        </p:txBody>
      </p:sp>
      <p:sp xmlns:a="http://schemas.openxmlformats.org/drawingml/2006/main">
        <p:nvSpPr>
          <p:cNvPr id="6" name="Rectangle 5"/>
          <p:cNvSpPr/>
          <p:nvPr/>
        </p:nvSpPr>
        <p:spPr>
          <a:xfrm>
            <a:off x="2121408" y="1435608"/>
            <a:ext cx="297180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2194560" y="1463040"/>
            <a:ext cx="2825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新增或修复</a:t>
            </a:r>
          </a:p>
        </p:txBody>
      </p:sp>
      <p:sp xmlns:a="http://schemas.openxmlformats.org/drawingml/2006/main">
        <p:nvSpPr>
          <p:cNvPr id="8" name="Rectangle 7"/>
          <p:cNvSpPr/>
          <p:nvPr/>
        </p:nvSpPr>
        <p:spPr>
          <a:xfrm>
            <a:off x="5093208" y="1435608"/>
            <a:ext cx="3017520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5166360" y="1463040"/>
            <a:ext cx="287121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复核依据</a:t>
            </a:r>
          </a:p>
        </p:txBody>
      </p:sp>
      <p:sp xmlns:a="http://schemas.openxmlformats.org/drawingml/2006/main">
        <p:nvSpPr>
          <p:cNvPr id="10" name="Rectangle 9"/>
          <p:cNvSpPr/>
          <p:nvPr/>
        </p:nvSpPr>
        <p:spPr>
          <a:xfrm>
            <a:off x="8110728" y="1435608"/>
            <a:ext cx="3392424" cy="658368"/>
          </a:xfrm>
          <a:prstGeom prst="rect">
            <a:avLst/>
          </a:prstGeom>
          <a:solidFill>
            <a:srgbClr val="1F4D78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8183880" y="1463040"/>
            <a:ext cx="324612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下游用途</a:t>
            </a:r>
          </a:p>
        </p:txBody>
      </p:sp>
      <p:sp xmlns:a="http://schemas.openxmlformats.org/drawingml/2006/main">
        <p:nvSpPr>
          <p:cNvPr id="12" name="Rectangle 11"/>
          <p:cNvSpPr/>
          <p:nvPr/>
        </p:nvSpPr>
        <p:spPr>
          <a:xfrm>
            <a:off x="658368" y="2093976"/>
            <a:ext cx="146304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731519" y="2121408"/>
            <a:ext cx="13167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draft</a:t>
            </a:r>
          </a:p>
        </p:txBody>
      </p:sp>
      <p:sp xmlns:a="http://schemas.openxmlformats.org/drawingml/2006/main">
        <p:nvSpPr>
          <p:cNvPr id="14" name="Rectangle 13"/>
          <p:cNvSpPr/>
          <p:nvPr/>
        </p:nvSpPr>
        <p:spPr>
          <a:xfrm>
            <a:off x="2121408" y="2093976"/>
            <a:ext cx="29718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2194560" y="2121408"/>
            <a:ext cx="2825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候选来源与空白</a:t>
            </a:r>
          </a:p>
        </p:txBody>
      </p:sp>
      <p:sp xmlns:a="http://schemas.openxmlformats.org/drawingml/2006/main">
        <p:nvSpPr>
          <p:cNvPr id="16" name="Rectangle 15"/>
          <p:cNvSpPr/>
          <p:nvPr/>
        </p:nvSpPr>
        <p:spPr>
          <a:xfrm>
            <a:off x="5093208" y="2093976"/>
            <a:ext cx="301752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TextBox 16"/>
          <p:cNvSpPr txBox="1"/>
          <p:nvPr/>
        </p:nvSpPr>
        <p:spPr>
          <a:xfrm>
            <a:off x="5166360" y="2121408"/>
            <a:ext cx="287121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尚未逐条核验</a:t>
            </a:r>
          </a:p>
        </p:txBody>
      </p:sp>
      <p:sp xmlns:a="http://schemas.openxmlformats.org/drawingml/2006/main">
        <p:nvSpPr>
          <p:cNvPr id="18" name="Rectangle 17"/>
          <p:cNvSpPr/>
          <p:nvPr/>
        </p:nvSpPr>
        <p:spPr>
          <a:xfrm>
            <a:off x="8110728" y="2093976"/>
            <a:ext cx="3392424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8183880" y="2121408"/>
            <a:ext cx="324612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检索计划</a:t>
            </a:r>
          </a:p>
        </p:txBody>
      </p:sp>
      <p:sp xmlns:a="http://schemas.openxmlformats.org/drawingml/2006/main">
        <p:nvSpPr>
          <p:cNvPr id="20" name="Rectangle 19"/>
          <p:cNvSpPr/>
          <p:nvPr/>
        </p:nvSpPr>
        <p:spPr>
          <a:xfrm>
            <a:off x="658368" y="2752344"/>
            <a:ext cx="146304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731519" y="2779775"/>
            <a:ext cx="13167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review</a:t>
            </a:r>
          </a:p>
        </p:txBody>
      </p:sp>
      <p:sp xmlns:a="http://schemas.openxmlformats.org/drawingml/2006/main">
        <p:nvSpPr>
          <p:cNvPr id="22" name="Rectangle 21"/>
          <p:cNvSpPr/>
          <p:nvPr/>
        </p:nvSpPr>
        <p:spPr>
          <a:xfrm>
            <a:off x="2121408" y="2752344"/>
            <a:ext cx="297180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2194560" y="2779775"/>
            <a:ext cx="2825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定位原文并标冲突</a:t>
            </a:r>
          </a:p>
        </p:txBody>
      </p:sp>
      <p:sp xmlns:a="http://schemas.openxmlformats.org/drawingml/2006/main">
        <p:nvSpPr>
          <p:cNvPr id="24" name="Rectangle 23"/>
          <p:cNvSpPr/>
          <p:nvPr/>
        </p:nvSpPr>
        <p:spPr>
          <a:xfrm>
            <a:off x="5093208" y="2752344"/>
            <a:ext cx="301752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5166360" y="2779775"/>
            <a:ext cx="287121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本人/同伴检查</a:t>
            </a:r>
          </a:p>
        </p:txBody>
      </p:sp>
      <p:sp xmlns:a="http://schemas.openxmlformats.org/drawingml/2006/main">
        <p:nvSpPr>
          <p:cNvPr id="26" name="Rectangle 25"/>
          <p:cNvSpPr/>
          <p:nvPr/>
        </p:nvSpPr>
        <p:spPr>
          <a:xfrm>
            <a:off x="8110728" y="2752344"/>
            <a:ext cx="3392424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8183880" y="2779775"/>
            <a:ext cx="324612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问题定义</a:t>
            </a:r>
          </a:p>
        </p:txBody>
      </p:sp>
      <p:sp xmlns:a="http://schemas.openxmlformats.org/drawingml/2006/main">
        <p:nvSpPr>
          <p:cNvPr id="28" name="Rectangle 27"/>
          <p:cNvSpPr/>
          <p:nvPr/>
        </p:nvSpPr>
        <p:spPr>
          <a:xfrm>
            <a:off x="658368" y="3410712"/>
            <a:ext cx="146304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731519" y="3438144"/>
            <a:ext cx="13167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approved</a:t>
            </a:r>
          </a:p>
        </p:txBody>
      </p:sp>
      <p:sp xmlns:a="http://schemas.openxmlformats.org/drawingml/2006/main">
        <p:nvSpPr>
          <p:cNvPr id="30" name="Rectangle 29"/>
          <p:cNvSpPr/>
          <p:nvPr/>
        </p:nvSpPr>
        <p:spPr>
          <a:xfrm>
            <a:off x="2121408" y="3410712"/>
            <a:ext cx="297180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2194560" y="3438144"/>
            <a:ext cx="2825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通过问题门</a:t>
            </a:r>
          </a:p>
        </p:txBody>
      </p:sp>
      <p:sp xmlns:a="http://schemas.openxmlformats.org/drawingml/2006/main">
        <p:nvSpPr>
          <p:cNvPr id="32" name="Rectangle 31"/>
          <p:cNvSpPr/>
          <p:nvPr/>
        </p:nvSpPr>
        <p:spPr>
          <a:xfrm>
            <a:off x="5093208" y="3410712"/>
            <a:ext cx="3017520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5166360" y="3438144"/>
            <a:ext cx="287121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门条件与修改记录</a:t>
            </a:r>
          </a:p>
        </p:txBody>
      </p:sp>
      <p:sp xmlns:a="http://schemas.openxmlformats.org/drawingml/2006/main">
        <p:nvSpPr>
          <p:cNvPr id="34" name="Rectangle 33"/>
          <p:cNvSpPr/>
          <p:nvPr/>
        </p:nvSpPr>
        <p:spPr>
          <a:xfrm>
            <a:off x="8110728" y="3410712"/>
            <a:ext cx="3392424" cy="658368"/>
          </a:xfrm>
          <a:prstGeom prst="rect">
            <a:avLst/>
          </a:prstGeom>
          <a:solidFill>
            <a:srgbClr val="FFFFFF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8183880" y="3438144"/>
            <a:ext cx="324612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实验设计</a:t>
            </a:r>
          </a:p>
        </p:txBody>
      </p:sp>
      <p:sp xmlns:a="http://schemas.openxmlformats.org/drawingml/2006/main">
        <p:nvSpPr>
          <p:cNvPr id="36" name="Rectangle 35"/>
          <p:cNvSpPr/>
          <p:nvPr/>
        </p:nvSpPr>
        <p:spPr>
          <a:xfrm>
            <a:off x="658368" y="4069080"/>
            <a:ext cx="146304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731519" y="4096512"/>
            <a:ext cx="131673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stable</a:t>
            </a:r>
          </a:p>
        </p:txBody>
      </p:sp>
      <p:sp xmlns:a="http://schemas.openxmlformats.org/drawingml/2006/main">
        <p:nvSpPr>
          <p:cNvPr id="38" name="Rectangle 37"/>
          <p:cNvSpPr/>
          <p:nvPr/>
        </p:nvSpPr>
        <p:spPr>
          <a:xfrm>
            <a:off x="2121408" y="4069080"/>
            <a:ext cx="297180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2194560" y="4096512"/>
            <a:ext cx="2825496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独立证据与边界足够</a:t>
            </a:r>
          </a:p>
        </p:txBody>
      </p:sp>
      <p:sp xmlns:a="http://schemas.openxmlformats.org/drawingml/2006/main">
        <p:nvSpPr>
          <p:cNvPr id="40" name="Rectangle 39"/>
          <p:cNvSpPr/>
          <p:nvPr/>
        </p:nvSpPr>
        <p:spPr>
          <a:xfrm>
            <a:off x="5093208" y="4069080"/>
            <a:ext cx="3017520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1" name="TextBox 40"/>
          <p:cNvSpPr txBox="1"/>
          <p:nvPr/>
        </p:nvSpPr>
        <p:spPr>
          <a:xfrm>
            <a:off x="5166360" y="4096512"/>
            <a:ext cx="2871215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可追溯核验</a:t>
            </a:r>
          </a:p>
        </p:txBody>
      </p:sp>
      <p:sp xmlns:a="http://schemas.openxmlformats.org/drawingml/2006/main">
        <p:nvSpPr>
          <p:cNvPr id="42" name="Rectangle 41"/>
          <p:cNvSpPr/>
          <p:nvPr/>
        </p:nvSpPr>
        <p:spPr>
          <a:xfrm>
            <a:off x="8110728" y="4069080"/>
            <a:ext cx="3392424" cy="658368"/>
          </a:xfrm>
          <a:prstGeom prst="rect">
            <a:avLst/>
          </a:prstGeom>
          <a:solidFill>
            <a:srgbClr val="F3F5F7"/>
          </a:solidFill>
          <a:ln w="8890">
            <a:solidFill>
              <a:srgbClr val="D4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3" name="TextBox 42"/>
          <p:cNvSpPr txBox="1"/>
          <p:nvPr/>
        </p:nvSpPr>
        <p:spPr>
          <a:xfrm>
            <a:off x="8183880" y="4096512"/>
            <a:ext cx="3246120" cy="603503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最终论证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有用的 AI 使用记录能还原判断，而非证明“写过日志”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22959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参与环节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822959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AI 在哪一步</a:t>
            </a:r>
          </a:p>
        </p:txBody>
      </p:sp>
      <p:cxnSp xmlns:a="http://schemas.openxmlformats.org/drawingml/2006/main">
        <p:nvCxnSpPr>
          <p:cNvPr id="9" name="Connector 8"/>
          <p:cNvCxnSpPr/>
          <p:nvPr/>
        </p:nvCxnSpPr>
        <p:spPr>
          <a:xfrm>
            <a:off x="266639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0" name="Rounded Rectangle 9"/>
          <p:cNvSpPr/>
          <p:nvPr/>
        </p:nvSpPr>
        <p:spPr>
          <a:xfrm>
            <a:off x="286755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Oval 10"/>
          <p:cNvSpPr/>
          <p:nvPr/>
        </p:nvSpPr>
        <p:spPr>
          <a:xfrm>
            <a:off x="301386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301386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3032150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Context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3032150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看到了什么</a:t>
            </a:r>
          </a:p>
        </p:txBody>
      </p:sp>
      <p:cxnSp xmlns:a="http://schemas.openxmlformats.org/drawingml/2006/main">
        <p:nvCxnSpPr>
          <p:cNvPr id="15" name="Connector 14"/>
          <p:cNvCxnSpPr/>
          <p:nvPr/>
        </p:nvCxnSpPr>
        <p:spPr>
          <a:xfrm>
            <a:off x="4875580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6" name="Rounded Rectangle 15"/>
          <p:cNvSpPr/>
          <p:nvPr/>
        </p:nvSpPr>
        <p:spPr>
          <a:xfrm>
            <a:off x="5076748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7" name="Oval 16"/>
          <p:cNvSpPr/>
          <p:nvPr/>
        </p:nvSpPr>
        <p:spPr>
          <a:xfrm>
            <a:off x="5223052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522305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5241340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输出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5241340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提出或修改什么</a:t>
            </a:r>
          </a:p>
        </p:txBody>
      </p:sp>
      <p:cxnSp xmlns:a="http://schemas.openxmlformats.org/drawingml/2006/main">
        <p:nvCxnSpPr>
          <p:cNvPr id="21" name="Connector 20"/>
          <p:cNvCxnSpPr/>
          <p:nvPr/>
        </p:nvCxnSpPr>
        <p:spPr>
          <a:xfrm>
            <a:off x="708477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2" name="Rounded Rectangle 21"/>
          <p:cNvSpPr/>
          <p:nvPr/>
        </p:nvSpPr>
        <p:spPr>
          <a:xfrm>
            <a:off x="728593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3" name="Oval 22"/>
          <p:cNvSpPr/>
          <p:nvPr/>
        </p:nvSpPr>
        <p:spPr>
          <a:xfrm>
            <a:off x="743224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7432243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7450531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决定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7450531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为何采纳/拒绝</a:t>
            </a:r>
          </a:p>
        </p:txBody>
      </p:sp>
      <p:cxnSp xmlns:a="http://schemas.openxmlformats.org/drawingml/2006/main">
        <p:nvCxnSpPr>
          <p:cNvPr id="27" name="Connector 26"/>
          <p:cNvCxnSpPr/>
          <p:nvPr/>
        </p:nvCxnSpPr>
        <p:spPr>
          <a:xfrm>
            <a:off x="9293961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8" name="Rounded Rectangle 27"/>
          <p:cNvSpPr/>
          <p:nvPr/>
        </p:nvSpPr>
        <p:spPr>
          <a:xfrm>
            <a:off x="9495129" y="2121408"/>
            <a:ext cx="2008022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9" name="Oval 28"/>
          <p:cNvSpPr/>
          <p:nvPr/>
        </p:nvSpPr>
        <p:spPr>
          <a:xfrm>
            <a:off x="9641433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9641433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9659721" y="2807208"/>
            <a:ext cx="1678838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9659721" y="3355848"/>
            <a:ext cx="1678838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实际如何检查</a:t>
            </a:r>
          </a:p>
        </p:txBody>
      </p:sp>
      <p:sp xmlns:a="http://schemas.openxmlformats.org/drawingml/2006/main">
        <p:nvSpPr>
          <p:cNvPr id="33" name="TextBox 32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只写“已人工核验”没有信息；必须写核验对象和方法。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教师演示：同一任务，只增加边界与披露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1024128"/>
            <a:ext cx="1508760" cy="384048"/>
          </a:xfrm>
          <a:prstGeom prst="roundRect">
            <a:avLst/>
          </a:prstGeom>
          <a:solidFill>
            <a:srgbClr val="DDEAF5"/>
          </a:solidFill>
          <a:ln>
            <a:solidFill>
              <a:srgbClr val="DDEA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658368" y="1024128"/>
            <a:ext cx="1508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TEACHER DEMO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978407" y="1938528"/>
            <a:ext cx="10204704" cy="14173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31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风险记录 → 权限一行 → 只读审查 → 有限写回 → 日志</a:t>
            </a:r>
          </a:p>
        </p:txBody>
      </p:sp>
      <p:cxnSp xmlns:a="http://schemas.openxmlformats.org/drawingml/2006/main">
        <p:nvCxnSpPr>
          <p:cNvPr id="7" name="Connector 6"/>
          <p:cNvCxnSpPr/>
          <p:nvPr/>
        </p:nvCxnSpPr>
        <p:spPr>
          <a:xfrm>
            <a:off x="3584448" y="3511296"/>
            <a:ext cx="4992624" cy="0"/>
          </a:xfrm>
          <a:prstGeom prst="line">
            <a:avLst/>
          </a:prstGeom>
          <a:ln w="38100">
            <a:solidFill>
              <a:srgbClr val="C8161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8" name="TextBox 7"/>
          <p:cNvSpPr txBox="1"/>
          <p:nvPr/>
        </p:nvSpPr>
        <p:spPr>
          <a:xfrm>
            <a:off x="2029967" y="3785616"/>
            <a:ext cx="8101583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5F6B76"/>
                </a:solidFill>
                <a:latin typeface="微软雅黑"/>
                <a:ea typeface="微软雅黑"/>
                <a:cs typeface="微软雅黑"/>
              </a:rPr>
              <a:t>学生观察研究判断与执行边界如何连接；环境故障时用 Markdown trace 等价完成。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先做只读边界审查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886968" y="1344168"/>
            <a:ext cx="6720840" cy="406908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1188719" y="1600200"/>
            <a:ext cx="6144768" cy="3520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READ  agent-permissions.md
TASK  找出一处过宽或缺失权限
WRITE none
NETWORK off
RETURN 建议 + 风险 + 最小替代
STOP  等待人工确认</a:t>
            </a:r>
          </a:p>
        </p:txBody>
      </p:sp>
      <p:sp xmlns:a="http://schemas.openxmlformats.org/drawingml/2006/main">
        <p:nvSpPr>
          <p:cNvPr id="6" name="Rounded Rectangle 5"/>
          <p:cNvSpPr/>
          <p:nvPr/>
        </p:nvSpPr>
        <p:spPr>
          <a:xfrm>
            <a:off x="7882128" y="1709928"/>
            <a:ext cx="3337560" cy="3246120"/>
          </a:xfrm>
          <a:prstGeom prst="roundRect">
            <a:avLst/>
          </a:prstGeom>
          <a:solidFill>
            <a:srgbClr val="DDEAF5"/>
          </a:solidFill>
          <a:ln w="1524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138160" y="1984248"/>
            <a:ext cx="2825496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只读审查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8138160" y="2688336"/>
            <a:ext cx="2825496" cy="1920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审查的是声明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不是自动批准变更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建议仍需人工判断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批准后只写三件课堂工件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886968" y="1344168"/>
            <a:ext cx="6720840" cy="4069080"/>
          </a:xfrm>
          <a:prstGeom prst="roundRect">
            <a:avLst/>
          </a:prstGeom>
          <a:solidFill>
            <a:srgbClr val="17212B"/>
          </a:solidFill>
          <a:ln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1188719" y="1600200"/>
            <a:ext cx="6144768" cy="3520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WRITE
  agent-permissions.md  一行
  ethics-and-compliance.md  一张风险卡
  ai-usage-log.md  一条记录
DO NOT
  修改问题、指标或工件状态
  访问网络或项目外路径</a:t>
            </a:r>
          </a:p>
        </p:txBody>
      </p:sp>
      <p:sp xmlns:a="http://schemas.openxmlformats.org/drawingml/2006/main">
        <p:nvSpPr>
          <p:cNvPr id="6" name="Rounded Rectangle 5"/>
          <p:cNvSpPr/>
          <p:nvPr/>
        </p:nvSpPr>
        <p:spPr>
          <a:xfrm>
            <a:off x="7882128" y="1709928"/>
            <a:ext cx="3337560" cy="3246120"/>
          </a:xfrm>
          <a:prstGeom prst="roundRect">
            <a:avLst/>
          </a:prstGeom>
          <a:solidFill>
            <a:srgbClr val="DDEAF5"/>
          </a:solidFill>
          <a:ln w="1524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8138160" y="1984248"/>
            <a:ext cx="2825496" cy="53035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检查三件事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8138160" y="2688336"/>
            <a:ext cx="2825496" cy="1920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权限是否可执行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风险理由是否具体</a:t>
            </a:r>
          </a:p>
          <a:p>
            <a:pPr algn="l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日志是否还原判断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个人实践：完成三件最小工件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1115568"/>
            <a:ext cx="1371600" cy="384048"/>
          </a:xfrm>
          <a:prstGeom prst="roundRect">
            <a:avLst/>
          </a:prstGeom>
          <a:solidFill>
            <a:srgbClr val="FFF4E5"/>
          </a:solidFill>
          <a:ln>
            <a:solidFill>
              <a:srgbClr val="FFF4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658368" y="1115568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YOUR MOVE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1024128" y="1682496"/>
            <a:ext cx="10113263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从自己的项目选一个低风险科研动作，完成一张风险卡、一行权限矩阵和一条 AI 使用记录。</a:t>
            </a:r>
          </a:p>
        </p:txBody>
      </p:sp>
      <p:sp xmlns:a="http://schemas.openxmlformats.org/drawingml/2006/main">
        <p:nvSpPr>
          <p:cNvPr id="7" name="Oval 6"/>
          <p:cNvSpPr/>
          <p:nvPr/>
        </p:nvSpPr>
        <p:spPr>
          <a:xfrm>
            <a:off x="2075688" y="3191256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2075688" y="319125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2532887" y="3154680"/>
            <a:ext cx="7598663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权限行包含人工确认点和禁止事项</a:t>
            </a:r>
          </a:p>
        </p:txBody>
      </p:sp>
      <p:sp xmlns:a="http://schemas.openxmlformats.org/drawingml/2006/main">
        <p:nvSpPr>
          <p:cNvPr id="10" name="Oval 9"/>
          <p:cNvSpPr/>
          <p:nvPr/>
        </p:nvSpPr>
        <p:spPr>
          <a:xfrm>
            <a:off x="2075688" y="3849624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2075688" y="38496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2532887" y="3813048"/>
            <a:ext cx="7598663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对权限做一次只读审查，或记录人工判断</a:t>
            </a:r>
          </a:p>
        </p:txBody>
      </p:sp>
      <p:sp xmlns:a="http://schemas.openxmlformats.org/drawingml/2006/main">
        <p:nvSpPr>
          <p:cNvPr id="13" name="Oval 12"/>
          <p:cNvSpPr/>
          <p:nvPr/>
        </p:nvSpPr>
        <p:spPr>
          <a:xfrm>
            <a:off x="2075688" y="4507992"/>
            <a:ext cx="310896" cy="310896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2075688" y="450799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2532887" y="4471416"/>
            <a:ext cx="7598663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日志写清 Context、采用/拒绝与核验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临时结对：检查规则能否真的执行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 xmlns:a="http://schemas.openxmlformats.org/drawingml/2006/main">
        <p:nvSpPr>
          <p:cNvPr id="4" name="Rounded Rectangle 3"/>
          <p:cNvSpPr/>
          <p:nvPr/>
        </p:nvSpPr>
        <p:spPr>
          <a:xfrm>
            <a:off x="658368" y="1344168"/>
            <a:ext cx="5138928" cy="3794760"/>
          </a:xfrm>
          <a:prstGeom prst="roundRect">
            <a:avLst/>
          </a:prstGeom>
          <a:solidFill>
            <a:srgbClr val="DDEAF5"/>
          </a:solidFill>
          <a:ln w="15875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914400" y="1645920"/>
            <a:ext cx="462686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互查者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914400" y="2377440"/>
            <a:ext cx="4626864" cy="2286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条件是否可检查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是否存在默认外发或越权</a:t>
            </a:r>
          </a:p>
        </p:txBody>
      </p:sp>
      <p:sp xmlns:a="http://schemas.openxmlformats.org/drawingml/2006/main">
        <p:nvSpPr>
          <p:cNvPr id="7" name="Rounded Rectangle 6"/>
          <p:cNvSpPr/>
          <p:nvPr/>
        </p:nvSpPr>
        <p:spPr>
          <a:xfrm>
            <a:off x="6163055" y="1344168"/>
            <a:ext cx="5138928" cy="3794760"/>
          </a:xfrm>
          <a:prstGeom prst="roundRect">
            <a:avLst/>
          </a:prstGeom>
          <a:solidFill>
            <a:srgbClr val="FFF4E5"/>
          </a:solidFill>
          <a:ln w="15875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6419088" y="1645920"/>
            <a:ext cx="462686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作者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6419088" y="2377440"/>
            <a:ext cx="4626864" cy="2286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决定采纳、修改或拒绝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把理由写回记录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1572768" y="5276088"/>
            <a:ext cx="9015984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固定同伴组在第 6 课前建立；之后可在固定组内轮换两人互查。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本讲只建立一条治理闭环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pic xmlns:a="http://schemas.openxmlformats.org/drawingml/2006/main" xmlns:r="http://schemas.openxmlformats.org/officeDocument/2006/relationships">
        <p:nvPicPr>
          <p:cNvPr id="4" name="Picture 3" descr="l2-harness-trimm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7" y="1453124"/>
            <a:ext cx="4343400" cy="2113807"/>
          </a:xfrm>
          <a:prstGeom prst="rect">
            <a:avLst/>
          </a:prstGeom>
        </p:spPr>
      </p:pic>
      <p:sp xmlns:a="http://schemas.openxmlformats.org/drawingml/2006/main">
        <p:nvSpPr>
          <p:cNvPr id="5" name="Rounded Rectangle 4"/>
          <p:cNvSpPr/>
          <p:nvPr/>
        </p:nvSpPr>
        <p:spPr>
          <a:xfrm>
            <a:off x="658368" y="3813048"/>
            <a:ext cx="2574036" cy="987552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768096" y="3931920"/>
            <a:ext cx="23545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768096" y="4297680"/>
            <a:ext cx="23545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对象 + 动作</a:t>
            </a:r>
          </a:p>
        </p:txBody>
      </p:sp>
      <p:cxnSp xmlns:a="http://schemas.openxmlformats.org/drawingml/2006/main">
        <p:nvCxnSpPr>
          <p:cNvPr id="8" name="Connector 7"/>
          <p:cNvCxnSpPr/>
          <p:nvPr/>
        </p:nvCxnSpPr>
        <p:spPr>
          <a:xfrm>
            <a:off x="3250692" y="4306824"/>
            <a:ext cx="146304" cy="0"/>
          </a:xfrm>
          <a:prstGeom prst="line">
            <a:avLst/>
          </a:prstGeom>
          <a:ln w="2159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9" name="Rounded Rectangle 8"/>
          <p:cNvSpPr/>
          <p:nvPr/>
        </p:nvSpPr>
        <p:spPr>
          <a:xfrm>
            <a:off x="3415284" y="3813048"/>
            <a:ext cx="2574036" cy="987552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3525012" y="3931920"/>
            <a:ext cx="23545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风险判断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3525012" y="4297680"/>
            <a:ext cx="23545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允许 / 有条件 / 禁止</a:t>
            </a:r>
          </a:p>
        </p:txBody>
      </p:sp>
      <p:cxnSp xmlns:a="http://schemas.openxmlformats.org/drawingml/2006/main">
        <p:nvCxnSpPr>
          <p:cNvPr id="12" name="Connector 11"/>
          <p:cNvCxnSpPr/>
          <p:nvPr/>
        </p:nvCxnSpPr>
        <p:spPr>
          <a:xfrm>
            <a:off x="6007608" y="4306824"/>
            <a:ext cx="146304" cy="0"/>
          </a:xfrm>
          <a:prstGeom prst="line">
            <a:avLst/>
          </a:prstGeom>
          <a:ln w="2159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3" name="Rounded Rectangle 12"/>
          <p:cNvSpPr/>
          <p:nvPr/>
        </p:nvSpPr>
        <p:spPr>
          <a:xfrm>
            <a:off x="6172200" y="3813048"/>
            <a:ext cx="2574036" cy="987552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C816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6281928" y="3931920"/>
            <a:ext cx="23545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6281928" y="4297680"/>
            <a:ext cx="23545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权限 + 人工确认</a:t>
            </a:r>
          </a:p>
        </p:txBody>
      </p:sp>
      <p:cxnSp xmlns:a="http://schemas.openxmlformats.org/drawingml/2006/main">
        <p:nvCxnSpPr>
          <p:cNvPr id="16" name="Connector 15"/>
          <p:cNvCxnSpPr/>
          <p:nvPr/>
        </p:nvCxnSpPr>
        <p:spPr>
          <a:xfrm>
            <a:off x="8764524" y="4306824"/>
            <a:ext cx="146304" cy="0"/>
          </a:xfrm>
          <a:prstGeom prst="line">
            <a:avLst/>
          </a:prstGeom>
          <a:ln w="21590">
            <a:solidFill>
              <a:srgbClr val="1F4D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17" name="Rounded Rectangle 16"/>
          <p:cNvSpPr/>
          <p:nvPr/>
        </p:nvSpPr>
        <p:spPr>
          <a:xfrm>
            <a:off x="8929116" y="3813048"/>
            <a:ext cx="2574036" cy="987552"/>
          </a:xfrm>
          <a:prstGeom prst="roundRect">
            <a:avLst/>
          </a:prstGeom>
          <a:solidFill>
            <a:srgbClr val="FFFFFF"/>
          </a:solidFill>
          <a:ln w="14604">
            <a:solidFill>
              <a:srgbClr val="2E7D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8" name="TextBox 17"/>
          <p:cNvSpPr txBox="1"/>
          <p:nvPr/>
        </p:nvSpPr>
        <p:spPr>
          <a:xfrm>
            <a:off x="9038844" y="3931920"/>
            <a:ext cx="23545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记录</a:t>
            </a:r>
          </a:p>
        </p:txBody>
      </p:sp>
      <p:sp xmlns:a="http://schemas.openxmlformats.org/drawingml/2006/main">
        <p:nvSpPr>
          <p:cNvPr id="19" name="TextBox 18"/>
          <p:cNvSpPr txBox="1"/>
          <p:nvPr/>
        </p:nvSpPr>
        <p:spPr>
          <a:xfrm>
            <a:off x="9038844" y="4297680"/>
            <a:ext cx="23545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实际变化 + AI 日志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1481328" y="5248656"/>
            <a:ext cx="9198863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风险卡解释为何这样做；权限行约束能做什么；日志记录实际发生了什么。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78992" y="45720"/>
            <a:ext cx="103784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课后：持续更新，不新增课堂第四张表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99648" y="6473952"/>
            <a:ext cx="56692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>
                <a:solidFill>
                  <a:srgbClr val="5F6B76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4672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补完整边界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根据项目修订风险与权限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18687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19856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566160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448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更新追踪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把三件工件状态写入追踪表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80176" y="3145536"/>
            <a:ext cx="201168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181344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27648" y="2322576"/>
            <a:ext cx="384048" cy="384048"/>
          </a:xfrm>
          <a:prstGeom prst="ellipse">
            <a:avLst/>
          </a:prstGeom>
          <a:solidFill>
            <a:srgbClr val="ED7D31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ED7D31"/>
                </a:solidFill>
                <a:latin typeface="微软雅黑"/>
                <a:ea typeface="微软雅黑"/>
                <a:cs typeface="微软雅黑"/>
              </a:rPr>
              <a:t>准备检索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公开问题 + 关键词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41663" y="3145536"/>
            <a:ext cx="201169" cy="0"/>
          </a:xfrm>
          <a:prstGeom prst="line">
            <a:avLst/>
          </a:prstGeom>
          <a:ln w="19050">
            <a:solidFill>
              <a:srgbClr val="5F6B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942832" y="2121408"/>
            <a:ext cx="2560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89136" y="2322576"/>
            <a:ext cx="384048" cy="384048"/>
          </a:xfrm>
          <a:prstGeom prst="ellipse">
            <a:avLst/>
          </a:prstGeom>
          <a:solidFill>
            <a:srgbClr val="1F4D78"/>
          </a:solidFill>
          <a:ln>
            <a:solidFill>
              <a:srgbClr val="1F4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89136" y="23225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2807208"/>
            <a:ext cx="2231136" cy="5029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进入第 3 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355848"/>
            <a:ext cx="2231136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24292F"/>
                </a:solidFill>
                <a:latin typeface="微软雅黑"/>
                <a:ea typeface="微软雅黑"/>
                <a:cs typeface="微软雅黑"/>
              </a:rPr>
              <a:t>来源与网络边界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9888" y="4818888"/>
            <a:ext cx="9381744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不单独提交、不计周作业分；第 6 课问题门统一检查成熟度。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2026-08-20T15:39:21.8540000Z</dcterms:created>
  <dcterms:modified xsi:type="dcterms:W3CDTF">2026-08-20T15:39:21.8540000Z</dcterms:modified>
</coreProperties>
</file>