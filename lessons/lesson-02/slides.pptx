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1a34e07df784ead" /><Relationship Type="http://schemas.openxmlformats.org/officeDocument/2006/relationships/extended-properties" Target="/docProps/app.xml" Id="R03b63f20ba5c4e54" /><Relationship Type="http://schemas.openxmlformats.org/officeDocument/2006/relationships/officeDocument" Target="/ppt/presentation.xml" Id="R4cf5732526994d1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382095426b04dfa"/>
  </p:sldMasterIdLst>
  <p:notesMasterIdLst>
    <p:notesMasterId xmlns:r="http://schemas.openxmlformats.org/officeDocument/2006/relationships" r:id="R35204a99b96442cd"/>
  </p:notesMasterIdLst>
  <p:sldIdLst>
    <p:sldId xmlns:r="http://schemas.openxmlformats.org/officeDocument/2006/relationships" id="256" r:id="R8146a7cc391244cf"/>
    <p:sldId xmlns:r="http://schemas.openxmlformats.org/officeDocument/2006/relationships" id="257" r:id="R2168d73b6841482c"/>
    <p:sldId xmlns:r="http://schemas.openxmlformats.org/officeDocument/2006/relationships" id="258" r:id="R9e8da69c39444eac"/>
    <p:sldId xmlns:r="http://schemas.openxmlformats.org/officeDocument/2006/relationships" id="259" r:id="Ra958d50780654981"/>
    <p:sldId xmlns:r="http://schemas.openxmlformats.org/officeDocument/2006/relationships" id="260" r:id="R154544fcde7a4e40"/>
    <p:sldId xmlns:r="http://schemas.openxmlformats.org/officeDocument/2006/relationships" id="261" r:id="Rd3ea657e98c849f0"/>
    <p:sldId xmlns:r="http://schemas.openxmlformats.org/officeDocument/2006/relationships" id="262" r:id="R6a07f3c56ed5461c"/>
    <p:sldId xmlns:r="http://schemas.openxmlformats.org/officeDocument/2006/relationships" id="263" r:id="R15dd30f24c3745ae"/>
    <p:sldId xmlns:r="http://schemas.openxmlformats.org/officeDocument/2006/relationships" id="264" r:id="R00173ca15a514029"/>
    <p:sldId xmlns:r="http://schemas.openxmlformats.org/officeDocument/2006/relationships" id="265" r:id="Rf87439e2982c4f07"/>
    <p:sldId xmlns:r="http://schemas.openxmlformats.org/officeDocument/2006/relationships" id="266" r:id="R8e25fb8383a945f9"/>
    <p:sldId xmlns:r="http://schemas.openxmlformats.org/officeDocument/2006/relationships" id="267" r:id="R0faa6a27a7264da3"/>
    <p:sldId xmlns:r="http://schemas.openxmlformats.org/officeDocument/2006/relationships" id="268" r:id="Rd3b341df88ba41d0"/>
    <p:sldId xmlns:r="http://schemas.openxmlformats.org/officeDocument/2006/relationships" id="269" r:id="Rc2e0a56497b04679"/>
    <p:sldId xmlns:r="http://schemas.openxmlformats.org/officeDocument/2006/relationships" id="270" r:id="R21e3501c052c4bc0"/>
    <p:sldId xmlns:r="http://schemas.openxmlformats.org/officeDocument/2006/relationships" id="271" r:id="R8c51a8be8c2449f8"/>
    <p:sldId xmlns:r="http://schemas.openxmlformats.org/officeDocument/2006/relationships" id="272" r:id="Rf4b7898e77964d5e"/>
    <p:sldId xmlns:r="http://schemas.openxmlformats.org/officeDocument/2006/relationships" id="273" r:id="Ra9a0dfe641a0452d"/>
    <p:sldId xmlns:r="http://schemas.openxmlformats.org/officeDocument/2006/relationships" id="274" r:id="R9c4556f92cf84882"/>
    <p:sldId xmlns:r="http://schemas.openxmlformats.org/officeDocument/2006/relationships" id="275" r:id="R27204a9da4414c03"/>
    <p:sldId xmlns:r="http://schemas.openxmlformats.org/officeDocument/2006/relationships" id="276" r:id="R64c2e03a4ff3454e"/>
    <p:sldId xmlns:r="http://schemas.openxmlformats.org/officeDocument/2006/relationships" id="277" r:id="R1316c307b8fb4e46"/>
    <p:sldId xmlns:r="http://schemas.openxmlformats.org/officeDocument/2006/relationships" id="278" r:id="R4c1f9046c4914bab"/>
    <p:sldId xmlns:r="http://schemas.openxmlformats.org/officeDocument/2006/relationships" id="279" r:id="R6aeb30f22f624d43"/>
    <p:sldId xmlns:r="http://schemas.openxmlformats.org/officeDocument/2006/relationships" id="280" r:id="Rad000ee803864500"/>
    <p:sldId xmlns:r="http://schemas.openxmlformats.org/officeDocument/2006/relationships" id="281" r:id="Rd8119f3f764f495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b5dc9b4670b4cd5" /><Relationship Type="http://schemas.openxmlformats.org/officeDocument/2006/relationships/slideMaster" Target="/ppt/slideMasters/slideMaster1.xml" Id="R5382095426b04dfa" /><Relationship Type="http://schemas.openxmlformats.org/officeDocument/2006/relationships/notesMaster" Target="/ppt/notesMasters/notesMaster1.xml" Id="R35204a99b96442cd" /><Relationship Type="http://schemas.openxmlformats.org/officeDocument/2006/relationships/presProps" Target="/ppt/presProps.xml" Id="R05a550d3ed0045dc" /><Relationship Type="http://schemas.openxmlformats.org/officeDocument/2006/relationships/viewProps" Target="/ppt/viewProps.xml" Id="Rd79d355420c043d4" /><Relationship Type="http://schemas.openxmlformats.org/officeDocument/2006/relationships/tableStyles" Target="/ppt/tableStyles.xml" Id="R058f0b985bfc4011" /><Relationship Type="http://schemas.openxmlformats.org/officeDocument/2006/relationships/slide" Target="/ppt/slides/slide1.xml" Id="R8146a7cc391244cf" /><Relationship Type="http://schemas.openxmlformats.org/officeDocument/2006/relationships/slide" Target="/ppt/slides/slide2.xml" Id="R2168d73b6841482c" /><Relationship Type="http://schemas.openxmlformats.org/officeDocument/2006/relationships/slide" Target="/ppt/slides/slide3.xml" Id="R9e8da69c39444eac" /><Relationship Type="http://schemas.openxmlformats.org/officeDocument/2006/relationships/slide" Target="/ppt/slides/slide4.xml" Id="Ra958d50780654981" /><Relationship Type="http://schemas.openxmlformats.org/officeDocument/2006/relationships/slide" Target="/ppt/slides/slide5.xml" Id="R154544fcde7a4e40" /><Relationship Type="http://schemas.openxmlformats.org/officeDocument/2006/relationships/slide" Target="/ppt/slides/slide6.xml" Id="Rd3ea657e98c849f0" /><Relationship Type="http://schemas.openxmlformats.org/officeDocument/2006/relationships/slide" Target="/ppt/slides/slide7.xml" Id="R6a07f3c56ed5461c" /><Relationship Type="http://schemas.openxmlformats.org/officeDocument/2006/relationships/slide" Target="/ppt/slides/slide8.xml" Id="R15dd30f24c3745ae" /><Relationship Type="http://schemas.openxmlformats.org/officeDocument/2006/relationships/slide" Target="/ppt/slides/slide9.xml" Id="R00173ca15a514029" /><Relationship Type="http://schemas.openxmlformats.org/officeDocument/2006/relationships/slide" Target="/ppt/slides/slide10.xml" Id="Rf87439e2982c4f07" /><Relationship Type="http://schemas.openxmlformats.org/officeDocument/2006/relationships/slide" Target="/ppt/slides/slide11.xml" Id="R8e25fb8383a945f9" /><Relationship Type="http://schemas.openxmlformats.org/officeDocument/2006/relationships/slide" Target="/ppt/slides/slide12.xml" Id="R0faa6a27a7264da3" /><Relationship Type="http://schemas.openxmlformats.org/officeDocument/2006/relationships/slide" Target="/ppt/slides/slide13.xml" Id="Rd3b341df88ba41d0" /><Relationship Type="http://schemas.openxmlformats.org/officeDocument/2006/relationships/slide" Target="/ppt/slides/slide14.xml" Id="Rc2e0a56497b04679" /><Relationship Type="http://schemas.openxmlformats.org/officeDocument/2006/relationships/slide" Target="/ppt/slides/slide15.xml" Id="R21e3501c052c4bc0" /><Relationship Type="http://schemas.openxmlformats.org/officeDocument/2006/relationships/slide" Target="/ppt/slides/slide16.xml" Id="R8c51a8be8c2449f8" /><Relationship Type="http://schemas.openxmlformats.org/officeDocument/2006/relationships/slide" Target="/ppt/slides/slide17.xml" Id="Rf4b7898e77964d5e" /><Relationship Type="http://schemas.openxmlformats.org/officeDocument/2006/relationships/slide" Target="/ppt/slides/slide18.xml" Id="Ra9a0dfe641a0452d" /><Relationship Type="http://schemas.openxmlformats.org/officeDocument/2006/relationships/slide" Target="/ppt/slides/slide19.xml" Id="R9c4556f92cf84882" /><Relationship Type="http://schemas.openxmlformats.org/officeDocument/2006/relationships/slide" Target="/ppt/slides/slide20.xml" Id="R27204a9da4414c03" /><Relationship Type="http://schemas.openxmlformats.org/officeDocument/2006/relationships/slide" Target="/ppt/slides/slide21.xml" Id="R64c2e03a4ff3454e" /><Relationship Type="http://schemas.openxmlformats.org/officeDocument/2006/relationships/slide" Target="/ppt/slides/slide22.xml" Id="R1316c307b8fb4e46" /><Relationship Type="http://schemas.openxmlformats.org/officeDocument/2006/relationships/slide" Target="/ppt/slides/slide23.xml" Id="R4c1f9046c4914bab" /><Relationship Type="http://schemas.openxmlformats.org/officeDocument/2006/relationships/slide" Target="/ppt/slides/slide24.xml" Id="R6aeb30f22f624d43" /><Relationship Type="http://schemas.openxmlformats.org/officeDocument/2006/relationships/slide" Target="/ppt/slides/slide25.xml" Id="Rad000ee803864500" /><Relationship Type="http://schemas.openxmlformats.org/officeDocument/2006/relationships/slide" Target="/ppt/slides/slide26.xml" Id="Rd8119f3f764f495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db09f4154fe45d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0e34908b29b4451" /><Relationship Type="http://schemas.openxmlformats.org/officeDocument/2006/relationships/notesMaster" Target="/ppt/notesMasters/notesMaster1.xml" Id="Ree33a102cc16430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8ebfa02653e4add" /><Relationship Type="http://schemas.openxmlformats.org/officeDocument/2006/relationships/notesMaster" Target="/ppt/notesMasters/notesMaster1.xml" Id="Rbf84ca01738b457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8146fcfec5a4a2b" /><Relationship Type="http://schemas.openxmlformats.org/officeDocument/2006/relationships/notesMaster" Target="/ppt/notesMasters/notesMaster1.xml" Id="Rf8c1e190a46d42a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97226dd202f4d08" /><Relationship Type="http://schemas.openxmlformats.org/officeDocument/2006/relationships/notesMaster" Target="/ppt/notesMasters/notesMaster1.xml" Id="Rd157239e90b3469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c1ad7ca14fb40cf" /><Relationship Type="http://schemas.openxmlformats.org/officeDocument/2006/relationships/notesMaster" Target="/ppt/notesMasters/notesMaster1.xml" Id="Rfe83bd43f63d4b3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69df245fbb9425d" /><Relationship Type="http://schemas.openxmlformats.org/officeDocument/2006/relationships/notesMaster" Target="/ppt/notesMasters/notesMaster1.xml" Id="R266e4791d3af4fd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3208ba64de34fa8" /><Relationship Type="http://schemas.openxmlformats.org/officeDocument/2006/relationships/notesMaster" Target="/ppt/notesMasters/notesMaster1.xml" Id="Rf14cabfebc9845e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3bcdb5f35eb46b0" /><Relationship Type="http://schemas.openxmlformats.org/officeDocument/2006/relationships/notesMaster" Target="/ppt/notesMasters/notesMaster1.xml" Id="R33fd3ac227c04c5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c401bb566d14d0a" /><Relationship Type="http://schemas.openxmlformats.org/officeDocument/2006/relationships/notesMaster" Target="/ppt/notesMasters/notesMaster1.xml" Id="R3a66cb78324e462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e88e7e0a3fd4216" /><Relationship Type="http://schemas.openxmlformats.org/officeDocument/2006/relationships/notesMaster" Target="/ppt/notesMasters/notesMaster1.xml" Id="Re2d2c67e5b49491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8e72bb7427e4ac7" /><Relationship Type="http://schemas.openxmlformats.org/officeDocument/2006/relationships/notesMaster" Target="/ppt/notesMasters/notesMaster1.xml" Id="Rdb8180fbb974488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81bf1650c924fbc" /><Relationship Type="http://schemas.openxmlformats.org/officeDocument/2006/relationships/notesMaster" Target="/ppt/notesMasters/notesMaster1.xml" Id="R887c2894b84e4aa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77004de4bd744cc" /><Relationship Type="http://schemas.openxmlformats.org/officeDocument/2006/relationships/notesMaster" Target="/ppt/notesMasters/notesMaster1.xml" Id="R2bc0830511ab4e8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eccf278d33c4726" /><Relationship Type="http://schemas.openxmlformats.org/officeDocument/2006/relationships/notesMaster" Target="/ppt/notesMasters/notesMaster1.xml" Id="R450fb9965f284f0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2dce5fafa6e47ca" /><Relationship Type="http://schemas.openxmlformats.org/officeDocument/2006/relationships/notesMaster" Target="/ppt/notesMasters/notesMaster1.xml" Id="Ra171e0b8add54e7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bff41cda1804e9c" /><Relationship Type="http://schemas.openxmlformats.org/officeDocument/2006/relationships/notesMaster" Target="/ppt/notesMasters/notesMaster1.xml" Id="R95833c80b10a451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d1611f7073a4f4b" /><Relationship Type="http://schemas.openxmlformats.org/officeDocument/2006/relationships/notesMaster" Target="/ppt/notesMasters/notesMaster1.xml" Id="R1aa9ff55c6a74ab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98ba51fcdb04906" /><Relationship Type="http://schemas.openxmlformats.org/officeDocument/2006/relationships/notesMaster" Target="/ppt/notesMasters/notesMaster1.xml" Id="R31edadef292041f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f70fae5a7034107" /><Relationship Type="http://schemas.openxmlformats.org/officeDocument/2006/relationships/notesMaster" Target="/ppt/notesMasters/notesMaster1.xml" Id="Rbc36ef2398b44c9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d5a4b95a01542d8" /><Relationship Type="http://schemas.openxmlformats.org/officeDocument/2006/relationships/notesMaster" Target="/ppt/notesMasters/notesMaster1.xml" Id="R9482a053879d467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96f66a640764734" /><Relationship Type="http://schemas.openxmlformats.org/officeDocument/2006/relationships/notesMaster" Target="/ppt/notesMasters/notesMaster1.xml" Id="Rc70074138a88433d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1bbf0b0099b440a" /><Relationship Type="http://schemas.openxmlformats.org/officeDocument/2006/relationships/notesMaster" Target="/ppt/notesMasters/notesMaster1.xml" Id="Rd742e0c82fd745c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fe6f5490fd74609" /><Relationship Type="http://schemas.openxmlformats.org/officeDocument/2006/relationships/notesMaster" Target="/ppt/notesMasters/notesMaster1.xml" Id="Rc67a04b123d940f4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a35f02d36f64234" /><Relationship Type="http://schemas.openxmlformats.org/officeDocument/2006/relationships/notesMaster" Target="/ppt/notesMasters/notesMaster1.xml" Id="Rb6cd935752dc4b2f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e6dc7373436f477d" /><Relationship Type="http://schemas.openxmlformats.org/officeDocument/2006/relationships/notesMaster" Target="/ppt/notesMasters/notesMaster1.xml" Id="R405456b2c9a6498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b9a3451b21a4b88" /><Relationship Type="http://schemas.openxmlformats.org/officeDocument/2006/relationships/notesMaster" Target="/ppt/notesMasters/notesMaster1.xml" Id="R98e9e94f48704a0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页面标题：科研伦理与 Agent 边界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页面标题：第 1 课的 diff / log 仍回答不了四个问题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页面标题：先独立判断，再用一句话说出决定性理由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页面标题：科研诚信不止是“不造假”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页面标题：两项制度基线并列；具体任务执行更严格的一方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页面标题：同一工具，不同对象与动作，风险可以相反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页面标题：五字段风险记录把担忧变成行动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页面标题：三类处置各有可检查的理由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页面标题：发送前：五个条件缺一，不上传未公开全文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页面标题：如果已经发送：先止损，再恢复责任链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页面标题：模拟数据可以测试方法，不能冒充经验事实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页面标题：“人点了批准”仍可能是假治理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页面标题：Research harness 同时约束研究判断与执行权限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页面标题：默认拒绝与最小权限是 harness 的起点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页面标题：权限矩阵只先写一行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页面标题：过宽配置和最小配置的差异必须可见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页面标题：工件状态描述成熟度，不描述完成百分比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页面标题：一个工件如何改变状态：必须记录依据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页面标题：有用的 AI 使用记录能还原判断，而非证明“写过日志”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页面标题：教师演示：同一任务，只增加边界与披露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页面标题：先做只读边界审查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页面标题：批准后只写三件课堂工件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页面标题：个人实践：完成三件最小工件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页面标题：临时结对：检查规则能否真的执行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页面标题：本讲只建立一条治理闭环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页面标题：课后：持续更新，不新增课堂第四张表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768437729e45bf" /><Relationship Type="http://schemas.openxmlformats.org/officeDocument/2006/relationships/image" Target="/ppt/media/image.png" Id="R7563c7e6e5314509" /><Relationship Type="http://schemas.openxmlformats.org/officeDocument/2006/relationships/image" Target="/ppt/media/image2.png" Id="Ra960ceb1d79748d3" /><Relationship Type="http://schemas.openxmlformats.org/officeDocument/2006/relationships/image" Target="/ppt/media/image3.png" Id="R69432421c6124786" /><Relationship Type="http://schemas.openxmlformats.org/officeDocument/2006/relationships/image" Target="/ppt/media/image4.png" Id="R0485ec3c8d88433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243832f872498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fadd16a6674923" /><Relationship Type="http://schemas.openxmlformats.org/officeDocument/2006/relationships/image" Target="/ppt/media/image2.png" Id="R1f79eff6277047c3" /><Relationship Type="http://schemas.openxmlformats.org/officeDocument/2006/relationships/image" Target="/ppt/media/image5.png" Id="Ree2c0a1a53a1422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e906a6987d471e" /><Relationship Type="http://schemas.openxmlformats.org/officeDocument/2006/relationships/image" Target="/ppt/media/image.png" Id="Red4eb23c4fbd42ba" /><Relationship Type="http://schemas.openxmlformats.org/officeDocument/2006/relationships/image" Target="/ppt/media/image3.png" Id="R3477c7ee6f5c42b0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63c7e6e5314509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960ceb1d79748d3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9432421c6124786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85ec3c8d884332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f79eff6277047c3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2c0a1a53a142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4eb23c4fbd42ba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477c7ee6f5c42b0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dbfce247f28472a" /><Relationship Type="http://schemas.openxmlformats.org/officeDocument/2006/relationships/slideLayout" Target="/ppt/slideLayouts/slideLayout1.xml" Id="R71a403e3a704476c" /><Relationship Type="http://schemas.openxmlformats.org/officeDocument/2006/relationships/slideLayout" Target="/ppt/slideLayouts/slideLayout2.xml" Id="R2f66d41ca65441b8" /><Relationship Type="http://schemas.openxmlformats.org/officeDocument/2006/relationships/slideLayout" Target="/ppt/slideLayouts/slideLayout3.xml" Id="R067eb57a1bd54568" /><Relationship Type="http://schemas.openxmlformats.org/officeDocument/2006/relationships/slideLayout" Target="/ppt/slideLayouts/slideLayout4.xml" Id="Rd1c8f99459074da8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1a403e3a704476c"/>
    <p:sldLayoutId xmlns:r="http://schemas.openxmlformats.org/officeDocument/2006/relationships" id="2147483650" r:id="R2f66d41ca65441b8"/>
    <p:sldLayoutId xmlns:r="http://schemas.openxmlformats.org/officeDocument/2006/relationships" id="2147483651" r:id="R067eb57a1bd54568"/>
    <p:sldLayoutId xmlns:r="http://schemas.openxmlformats.org/officeDocument/2006/relationships" id="2147483652" r:id="Rd1c8f99459074da8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deb5c5d08f4fb9" /><Relationship Type="http://schemas.openxmlformats.org/officeDocument/2006/relationships/notesSlide" Target="/ppt/notesSlides/notesSlide1.xml" Id="R6d9ecfc7cd744e0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94f00024d804b8b" /><Relationship Type="http://schemas.openxmlformats.org/officeDocument/2006/relationships/notesSlide" Target="/ppt/notesSlides/notesSlide2.xml" Id="R7e0f97c7c6d54ab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fa721bea9754c05" /><Relationship Type="http://schemas.openxmlformats.org/officeDocument/2006/relationships/notesSlide" Target="/ppt/notesSlides/notesSlide3.xml" Id="Re3b4e1cd058b492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ed2f00ecac04d0a" /><Relationship Type="http://schemas.openxmlformats.org/officeDocument/2006/relationships/image" Target="/ppt/media/image6.png" Id="R46906cba1337440a" /><Relationship Type="http://schemas.openxmlformats.org/officeDocument/2006/relationships/notesSlide" Target="/ppt/notesSlides/notesSlide4.xml" Id="R336c3ab522f54d7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2b1f6e6957b426a" /><Relationship Type="http://schemas.openxmlformats.org/officeDocument/2006/relationships/image" Target="/ppt/media/image7.png" Id="Rb0d19d36c54a43f1" /><Relationship Type="http://schemas.openxmlformats.org/officeDocument/2006/relationships/image" Target="/ppt/media/image8.png" Id="R90c53ac144d048f0" /><Relationship Type="http://schemas.openxmlformats.org/officeDocument/2006/relationships/notesSlide" Target="/ppt/notesSlides/notesSlide5.xml" Id="R404bb47e15f84ec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64beb4cae7e4bc0" /><Relationship Type="http://schemas.openxmlformats.org/officeDocument/2006/relationships/image" Target="/ppt/media/image9.png" Id="R33f915c073364dc5" /><Relationship Type="http://schemas.openxmlformats.org/officeDocument/2006/relationships/image" Target="/ppt/media/image10.png" Id="R31b0fcc12efa4982" /><Relationship Type="http://schemas.openxmlformats.org/officeDocument/2006/relationships/notesSlide" Target="/ppt/notesSlides/notesSlide6.xml" Id="Rc02770bd200a4f3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29af399f0534691" /><Relationship Type="http://schemas.openxmlformats.org/officeDocument/2006/relationships/notesSlide" Target="/ppt/notesSlides/notesSlide7.xml" Id="R7ee18642742c452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3da285ad76d4838" /><Relationship Type="http://schemas.openxmlformats.org/officeDocument/2006/relationships/notesSlide" Target="/ppt/notesSlides/notesSlide8.xml" Id="R0768c543175b49e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ea8f2d4458c4c18" /><Relationship Type="http://schemas.openxmlformats.org/officeDocument/2006/relationships/notesSlide" Target="/ppt/notesSlides/notesSlide9.xml" Id="Rc47065c3ca72463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47e65e48bdb40ca" /><Relationship Type="http://schemas.openxmlformats.org/officeDocument/2006/relationships/notesSlide" Target="/ppt/notesSlides/notesSlide10.xml" Id="Re3e1ffd61c4941d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3958bbc83414410" /><Relationship Type="http://schemas.openxmlformats.org/officeDocument/2006/relationships/notesSlide" Target="/ppt/notesSlides/notesSlide11.xml" Id="Rbbbc14860059456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77022edc00d43d9" /><Relationship Type="http://schemas.openxmlformats.org/officeDocument/2006/relationships/notesSlide" Target="/ppt/notesSlides/notesSlide12.xml" Id="Rf23f2d500def4f4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c4a752b2fb54eae" /><Relationship Type="http://schemas.openxmlformats.org/officeDocument/2006/relationships/image" Target="/ppt/media/image11.png" Id="R5f6e732b352b4a9f" /><Relationship Type="http://schemas.openxmlformats.org/officeDocument/2006/relationships/notesSlide" Target="/ppt/notesSlides/notesSlide13.xml" Id="R8c8e4e6012ae4de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c3dc99711b445ee" /><Relationship Type="http://schemas.openxmlformats.org/officeDocument/2006/relationships/notesSlide" Target="/ppt/notesSlides/notesSlide14.xml" Id="Rfeeb933d98dc4d7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1b39dfa1c444f89" /><Relationship Type="http://schemas.openxmlformats.org/officeDocument/2006/relationships/notesSlide" Target="/ppt/notesSlides/notesSlide15.xml" Id="Re0adc98dc6144e5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ba4a1b6603e43f9" /><Relationship Type="http://schemas.openxmlformats.org/officeDocument/2006/relationships/notesSlide" Target="/ppt/notesSlides/notesSlide16.xml" Id="Rb510d2d861a6436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05e6829df3b4cfa" /><Relationship Type="http://schemas.openxmlformats.org/officeDocument/2006/relationships/notesSlide" Target="/ppt/notesSlides/notesSlide17.xml" Id="R636dabf86db947f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0786b6db54144a3" /><Relationship Type="http://schemas.openxmlformats.org/officeDocument/2006/relationships/notesSlide" Target="/ppt/notesSlides/notesSlide18.xml" Id="Rf7d743f8846c45c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5c01158577d4a45" /><Relationship Type="http://schemas.openxmlformats.org/officeDocument/2006/relationships/notesSlide" Target="/ppt/notesSlides/notesSlide19.xml" Id="Rdc51153465d7457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e377d3d8d244ba7" /><Relationship Type="http://schemas.openxmlformats.org/officeDocument/2006/relationships/notesSlide" Target="/ppt/notesSlides/notesSlide20.xml" Id="R414767b83daf4a9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902275b7a694ac7" /><Relationship Type="http://schemas.openxmlformats.org/officeDocument/2006/relationships/notesSlide" Target="/ppt/notesSlides/notesSlide21.xml" Id="R5e583d4314fc471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7e87496e95d4bda" /><Relationship Type="http://schemas.openxmlformats.org/officeDocument/2006/relationships/notesSlide" Target="/ppt/notesSlides/notesSlide22.xml" Id="R4cc1706eb1904b1d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6d5ac11f37c4b2f" /><Relationship Type="http://schemas.openxmlformats.org/officeDocument/2006/relationships/notesSlide" Target="/ppt/notesSlides/notesSlide23.xml" Id="R2e7e5ad81e2341c2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b1ed70446104705" /><Relationship Type="http://schemas.openxmlformats.org/officeDocument/2006/relationships/notesSlide" Target="/ppt/notesSlides/notesSlide24.xml" Id="Rb39431933e24471d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e04e1fcaa804604" /><Relationship Type="http://schemas.openxmlformats.org/officeDocument/2006/relationships/image" Target="/ppt/media/image11.png" Id="R97d677370fa246ac" /><Relationship Type="http://schemas.openxmlformats.org/officeDocument/2006/relationships/notesSlide" Target="/ppt/notesSlides/notesSlide25.xml" Id="R78aa2ff3bb9b4987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7967ea7c9134e94" /><Relationship Type="http://schemas.openxmlformats.org/officeDocument/2006/relationships/notesSlide" Target="/ppt/notesSlides/notesSlide26.xml" Id="R6f79e0a6fc90478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6B71417-DC37-418F-96C9-9E681A1DF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2139696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</a:pPr>
            <a:r>
              <a:rPr sz="2500" b="0">
                <a:solidFill>
                  <a:srgbClr val="5F6B76"/>
                </a:solidFill>
                <a:latin typeface="微软雅黑"/>
                <a:ea typeface="微软雅黑"/>
                <a:cs typeface="微软雅黑"/>
              </a:rPr>
              <a:t>第2讲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BAEF29C-41E0-42A5-B355-1FB4418FD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24328"/>
            <a:ext cx="92354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36576" tIns="36576" rIns="36576" bIns="36576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</a:pPr>
            <a:r>
              <a: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科研伦理与 Agent 边界</a:t>
            </a: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EDC1735-23C7-4F6E-B032-93C5B4DF1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 1 课的 diff / log 仍回答不了四个问题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1377341-01CE-43DF-B687-E52551649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" name="visual-2-0-TextBox 5">
            <a:extLst xmlns:a="http://schemas.openxmlformats.org/drawingml/2006/main">
              <a:ext uri="{FF2B5EF4-FFF2-40B4-BE49-F238E27FC236}">
                <a16:creationId xmlns:a16="http://schemas.microsoft.com/office/drawing/2014/main" id="{018ABF14-9B55-4A8C-AFCA-081C5B69E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5" name="visual-2-1-TextBox 6">
            <a:extLst xmlns:a="http://schemas.openxmlformats.org/drawingml/2006/main">
              <a:ext uri="{FF2B5EF4-FFF2-40B4-BE49-F238E27FC236}">
                <a16:creationId xmlns:a16="http://schemas.microsoft.com/office/drawing/2014/main" id="{D9024965-D2FF-49DB-A277-48AF3B8C3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9" y="2807208"/>
            <a:ext cx="2231136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材料</a:t>
            </a:r>
          </a:p>
        </p:txBody>
      </p:sp>
      <p:sp>
        <p:nvSpPr>
          <p:cNvPr id="6" name="visual-2-2-TextBox 7">
            <a:extLst xmlns:a="http://schemas.openxmlformats.org/drawingml/2006/main">
              <a:ext uri="{FF2B5EF4-FFF2-40B4-BE49-F238E27FC236}">
                <a16:creationId xmlns:a16="http://schemas.microsoft.com/office/drawing/2014/main" id="{11852D20-118D-4449-A057-169E5E9CF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9" y="3355848"/>
            <a:ext cx="2231136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能否进入 Context</a:t>
            </a:r>
          </a:p>
        </p:txBody>
      </p:sp>
      <p:sp>
        <p:nvSpPr>
          <p:cNvPr id="7" name="visual-2-3-TextBox 11">
            <a:extLst xmlns:a="http://schemas.openxmlformats.org/drawingml/2006/main">
              <a:ext uri="{FF2B5EF4-FFF2-40B4-BE49-F238E27FC236}">
                <a16:creationId xmlns:a16="http://schemas.microsoft.com/office/drawing/2014/main" id="{A1BEB836-17B1-495E-B01B-C9DBD340E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8" name="visual-2-4-TextBox 12">
            <a:extLst xmlns:a="http://schemas.openxmlformats.org/drawingml/2006/main">
              <a:ext uri="{FF2B5EF4-FFF2-40B4-BE49-F238E27FC236}">
                <a16:creationId xmlns:a16="http://schemas.microsoft.com/office/drawing/2014/main" id="{196DB521-575A-422B-BC48-4C8CF0D01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4448" y="2807208"/>
            <a:ext cx="2231136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9" name="visual-2-5-TextBox 13">
            <a:extLst xmlns:a="http://schemas.openxmlformats.org/drawingml/2006/main">
              <a:ext uri="{FF2B5EF4-FFF2-40B4-BE49-F238E27FC236}">
                <a16:creationId xmlns:a16="http://schemas.microsoft.com/office/drawing/2014/main" id="{4E3A7E8D-1A17-4D7A-84D3-9F3C1CAAC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4448" y="3355848"/>
            <a:ext cx="2231136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能否读取/写入/外发</a:t>
            </a:r>
          </a:p>
        </p:txBody>
      </p:sp>
      <p:sp>
        <p:nvSpPr>
          <p:cNvPr id="10" name="visual-2-6-TextBox 17">
            <a:extLst xmlns:a="http://schemas.openxmlformats.org/drawingml/2006/main">
              <a:ext uri="{FF2B5EF4-FFF2-40B4-BE49-F238E27FC236}">
                <a16:creationId xmlns:a16="http://schemas.microsoft.com/office/drawing/2014/main" id="{CC98A2D6-3337-475D-9BD0-EF7F922AA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1" name="visual-2-7-TextBox 18">
            <a:extLst xmlns:a="http://schemas.openxmlformats.org/drawingml/2006/main">
              <a:ext uri="{FF2B5EF4-FFF2-40B4-BE49-F238E27FC236}">
                <a16:creationId xmlns:a16="http://schemas.microsoft.com/office/drawing/2014/main" id="{60033C22-9294-4392-9340-94C5D1F67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807208"/>
            <a:ext cx="2231136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12" name="visual-2-8-TextBox 19">
            <a:extLst xmlns:a="http://schemas.openxmlformats.org/drawingml/2006/main">
              <a:ext uri="{FF2B5EF4-FFF2-40B4-BE49-F238E27FC236}">
                <a16:creationId xmlns:a16="http://schemas.microsoft.com/office/drawing/2014/main" id="{BE1812B4-E045-435C-9A15-44A818454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3355848"/>
            <a:ext cx="2231136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谁在何处暂停判断</a:t>
            </a:r>
          </a:p>
        </p:txBody>
      </p:sp>
      <p:sp>
        <p:nvSpPr>
          <p:cNvPr id="13" name="visual-2-9-TextBox 23">
            <a:extLst xmlns:a="http://schemas.openxmlformats.org/drawingml/2006/main">
              <a:ext uri="{FF2B5EF4-FFF2-40B4-BE49-F238E27FC236}">
                <a16:creationId xmlns:a16="http://schemas.microsoft.com/office/drawing/2014/main" id="{DF5750E9-7490-4602-B28D-9AADA9A25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4" name="visual-2-10-TextBox 24">
            <a:extLst xmlns:a="http://schemas.openxmlformats.org/drawingml/2006/main">
              <a:ext uri="{FF2B5EF4-FFF2-40B4-BE49-F238E27FC236}">
                <a16:creationId xmlns:a16="http://schemas.microsoft.com/office/drawing/2014/main" id="{BF770CBE-3990-4029-839D-A3006B6AB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7424" y="2807208"/>
            <a:ext cx="2231136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责任</a:t>
            </a:r>
          </a:p>
        </p:txBody>
      </p:sp>
      <p:sp>
        <p:nvSpPr>
          <p:cNvPr id="15" name="visual-2-11-TextBox 25">
            <a:extLst xmlns:a="http://schemas.openxmlformats.org/drawingml/2006/main">
              <a:ext uri="{FF2B5EF4-FFF2-40B4-BE49-F238E27FC236}">
                <a16:creationId xmlns:a16="http://schemas.microsoft.com/office/drawing/2014/main" id="{BFCC1C45-17EC-4ACE-B12A-015392EEC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7424" y="3355848"/>
            <a:ext cx="2231136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实际变化如何披露</a:t>
            </a:r>
          </a:p>
        </p:txBody>
      </p:sp>
      <p:sp>
        <p:nvSpPr>
          <p:cNvPr id="16" name="visual-2-12-TextBox 26">
            <a:extLst xmlns:a="http://schemas.openxmlformats.org/drawingml/2006/main">
              <a:ext uri="{FF2B5EF4-FFF2-40B4-BE49-F238E27FC236}">
                <a16:creationId xmlns:a16="http://schemas.microsoft.com/office/drawing/2014/main" id="{2AEED58E-CCBD-40B9-8629-897225D0E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888" y="4818888"/>
            <a:ext cx="9381744" cy="59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本课把伦理原则翻译成可执行、可检查的边界。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B2B53A7-413B-4708-9486-83DB62258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先独立判断，再用一句话说出决定性理由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3C92A5F-3C6A-4392-9DB1-30F99CAAC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" name="visual-3-0-TextBox 5">
            <a:extLst xmlns:a="http://schemas.openxmlformats.org/drawingml/2006/main">
              <a:ext uri="{FF2B5EF4-FFF2-40B4-BE49-F238E27FC236}">
                <a16:creationId xmlns:a16="http://schemas.microsoft.com/office/drawing/2014/main" id="{E5103905-AA41-4E4E-91BC-2F14DB93F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591056"/>
            <a:ext cx="1554480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虚构教学情境</a:t>
            </a:r>
          </a:p>
        </p:txBody>
      </p:sp>
      <p:sp>
        <p:nvSpPr>
          <p:cNvPr id="5" name="visual-3-1-TextBox 6">
            <a:extLst xmlns:a="http://schemas.openxmlformats.org/drawingml/2006/main">
              <a:ext uri="{FF2B5EF4-FFF2-40B4-BE49-F238E27FC236}">
                <a16:creationId xmlns:a16="http://schemas.microsoft.com/office/drawing/2014/main" id="{5579AA49-3F5F-4DC3-A31A-7FF3E7F94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5" y="2258568"/>
            <a:ext cx="4041648" cy="1508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你是共同作者。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未公开合作稿拟上传个人外部模型。</a:t>
            </a:r>
          </a:p>
        </p:txBody>
      </p:sp>
      <p:sp>
        <p:nvSpPr>
          <p:cNvPr id="6" name="visual-3-2-TextBox 7">
            <a:extLst xmlns:a="http://schemas.openxmlformats.org/drawingml/2006/main">
              <a:ext uri="{FF2B5EF4-FFF2-40B4-BE49-F238E27FC236}">
                <a16:creationId xmlns:a16="http://schemas.microsoft.com/office/drawing/2014/main" id="{F61A91CA-5816-4692-88A6-41172C90F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5" y="4114800"/>
            <a:ext cx="402336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个人订阅 ≠ 处理授权</a:t>
            </a:r>
          </a:p>
        </p:txBody>
      </p:sp>
      <p:sp>
        <p:nvSpPr>
          <p:cNvPr id="7" name="visual-3-3-TextBox 9">
            <a:extLst xmlns:a="http://schemas.openxmlformats.org/drawingml/2006/main">
              <a:ext uri="{FF2B5EF4-FFF2-40B4-BE49-F238E27FC236}">
                <a16:creationId xmlns:a16="http://schemas.microsoft.com/office/drawing/2014/main" id="{320751FA-92CB-47DF-8574-1695B678C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912" y="1609344"/>
            <a:ext cx="5029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先独立选择，再说决定性理由</a:t>
            </a:r>
          </a:p>
        </p:txBody>
      </p:sp>
      <p:sp>
        <p:nvSpPr>
          <p:cNvPr id="8" name="visual-3-4-TextBox 11">
            <a:extLst xmlns:a="http://schemas.openxmlformats.org/drawingml/2006/main">
              <a:ext uri="{FF2B5EF4-FFF2-40B4-BE49-F238E27FC236}">
                <a16:creationId xmlns:a16="http://schemas.microsoft.com/office/drawing/2014/main" id="{E3C6250F-C743-4D56-A0B7-6439019B3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096" y="2258568"/>
            <a:ext cx="4389120" cy="475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允许</a:t>
            </a:r>
          </a:p>
        </p:txBody>
      </p:sp>
      <p:sp>
        <p:nvSpPr>
          <p:cNvPr id="9" name="visual-3-5-TextBox 13">
            <a:extLst xmlns:a="http://schemas.openxmlformats.org/drawingml/2006/main">
              <a:ext uri="{FF2B5EF4-FFF2-40B4-BE49-F238E27FC236}">
                <a16:creationId xmlns:a16="http://schemas.microsoft.com/office/drawing/2014/main" id="{0DD7A6D6-90C0-42AD-BB07-7EA228AC3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096" y="2916936"/>
            <a:ext cx="4389120" cy="475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有条件允许</a:t>
            </a:r>
          </a:p>
        </p:txBody>
      </p:sp>
      <p:sp>
        <p:nvSpPr>
          <p:cNvPr id="10" name="visual-3-6-TextBox 15">
            <a:extLst xmlns:a="http://schemas.openxmlformats.org/drawingml/2006/main">
              <a:ext uri="{FF2B5EF4-FFF2-40B4-BE49-F238E27FC236}">
                <a16:creationId xmlns:a16="http://schemas.microsoft.com/office/drawing/2014/main" id="{B4FB3227-F465-46D9-BB3C-02C5862A4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096" y="3575304"/>
            <a:ext cx="4389120" cy="475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禁止</a:t>
            </a:r>
          </a:p>
        </p:txBody>
      </p:sp>
      <p:sp>
        <p:nvSpPr>
          <p:cNvPr id="11" name="visual-3-7-TextBox 16">
            <a:extLst xmlns:a="http://schemas.openxmlformats.org/drawingml/2006/main">
              <a:ext uri="{FF2B5EF4-FFF2-40B4-BE49-F238E27FC236}">
                <a16:creationId xmlns:a16="http://schemas.microsoft.com/office/drawing/2014/main" id="{E070E4EA-A8BB-4E14-85B9-33CD40142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4343400"/>
            <a:ext cx="4663440" cy="347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哪一项事实决定了你的选择？</a:t>
            </a:r>
          </a:p>
        </p:txBody>
      </p:sp>
      <p:sp>
        <p:nvSpPr>
          <p:cNvPr id="12" name="visual-3-8-TextBox 17">
            <a:extLst xmlns:a="http://schemas.openxmlformats.org/drawingml/2006/main">
              <a:ext uri="{FF2B5EF4-FFF2-40B4-BE49-F238E27FC236}">
                <a16:creationId xmlns:a16="http://schemas.microsoft.com/office/drawing/2014/main" id="{84172A7C-C14D-4A08-9B24-8181209A9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9928" y="5248656"/>
            <a:ext cx="8741663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交换理由是为了暴露判断依据，不是组队，也不是表决。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4E817F3-58B2-4E18-82DD-C86B23E43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科研诚信不止是“不造假”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E0D217F-2065-42F9-B6F1-1C8DA50B4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pic>
        <p:nvPicPr>
          <p:cNvPr id="14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906cba1337440a"/>
          <a:srcRect xmlns:a="http://schemas.openxmlformats.org/drawingml/2006/main" l="0" t="985" r="0" b="9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1247" y="1435608"/>
            <a:ext cx="6263640" cy="3611880"/>
          </a:xfrm>
          <a:prstGeom xmlns:a="http://schemas.openxmlformats.org/drawingml/2006/main" prst="rect">
            <a:avLst/>
          </a:prstGeom>
        </p:spPr>
      </p:pic>
      <p:sp>
        <p:nvSpPr>
          <p:cNvPr id="10" name="visual-4-0-TextBox 6">
            <a:extLst xmlns:a="http://schemas.openxmlformats.org/drawingml/2006/main">
              <a:ext uri="{FF2B5EF4-FFF2-40B4-BE49-F238E27FC236}">
                <a16:creationId xmlns:a16="http://schemas.microsoft.com/office/drawing/2014/main" id="{2A859E00-7E38-4CB4-9402-E0C761D18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0416" y="1892808"/>
            <a:ext cx="3090672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六项价值</a:t>
            </a:r>
          </a:p>
        </p:txBody>
      </p:sp>
      <p:sp>
        <p:nvSpPr>
          <p:cNvPr id="11" name="visual-4-1-TextBox 7">
            <a:extLst xmlns:a="http://schemas.openxmlformats.org/drawingml/2006/main">
              <a:ext uri="{FF2B5EF4-FFF2-40B4-BE49-F238E27FC236}">
                <a16:creationId xmlns:a16="http://schemas.microsoft.com/office/drawing/2014/main" id="{7D10FA59-BDE5-43D8-B25F-4ABB4FDBA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0416" y="2624328"/>
            <a:ext cx="3090672" cy="201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客观 · 诚实 · 开放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公平 · 问责 · 守护责任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价值需要落实到动作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643EB63-9492-4B03-8C6B-CE8DCC2F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两项制度基线并列；具体任务执行更严格的一方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89B056B-5C37-4744-A22C-50BE427EE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pic>
        <p:nvPicPr>
          <p:cNvPr id="20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d19d36c54a43f1"/>
          <a:srcRect xmlns:a="http://schemas.openxmlformats.org/drawingml/2006/main" l="0" t="20913" r="0" b="209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2959" y="1408176"/>
            <a:ext cx="4809744" cy="2331720"/>
          </a:xfrm>
          <a:prstGeom xmlns:a="http://schemas.openxmlformats.org/drawingml/2006/main" prst="rect">
            <a:avLst/>
          </a:prstGeom>
        </p:spPr>
      </p:pic>
      <p:pic>
        <p:nvPicPr>
          <p:cNvPr id="21" name="Pictur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c53ac144d048f0"/>
          <a:srcRect xmlns:a="http://schemas.openxmlformats.org/drawingml/2006/main" l="0" t="31269" r="0" b="312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27647" y="1408176"/>
            <a:ext cx="4809744" cy="2331720"/>
          </a:xfrm>
          <a:prstGeom xmlns:a="http://schemas.openxmlformats.org/drawingml/2006/main" prst="rect">
            <a:avLst/>
          </a:prstGeom>
        </p:spPr>
      </p:pic>
      <p:sp>
        <p:nvSpPr>
          <p:cNvPr id="14" name="visual-5-0-TextBox 5">
            <a:extLst xmlns:a="http://schemas.openxmlformats.org/drawingml/2006/main">
              <a:ext uri="{FF2B5EF4-FFF2-40B4-BE49-F238E27FC236}">
                <a16:creationId xmlns:a16="http://schemas.microsoft.com/office/drawing/2014/main" id="{84C14D77-0C34-40FF-8701-5F1B6293D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904487"/>
            <a:ext cx="4736592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中国科学院《诚信提醒》</a:t>
            </a:r>
          </a:p>
        </p:txBody>
      </p:sp>
      <p:sp>
        <p:nvSpPr>
          <p:cNvPr id="15" name="visual-5-1-TextBox 6">
            <a:extLst xmlns:a="http://schemas.openxmlformats.org/drawingml/2006/main">
              <a:ext uri="{FF2B5EF4-FFF2-40B4-BE49-F238E27FC236}">
                <a16:creationId xmlns:a16="http://schemas.microsoft.com/office/drawing/2014/main" id="{37AE5C91-306D-4792-AF8A-6023D189D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25696"/>
            <a:ext cx="4626864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科研活动：核验、披露、保护</a:t>
            </a:r>
          </a:p>
        </p:txBody>
      </p:sp>
      <p:sp>
        <p:nvSpPr>
          <p:cNvPr id="16" name="visual-5-2-TextBox 9">
            <a:extLst xmlns:a="http://schemas.openxmlformats.org/drawingml/2006/main">
              <a:ext uri="{FF2B5EF4-FFF2-40B4-BE49-F238E27FC236}">
                <a16:creationId xmlns:a16="http://schemas.microsoft.com/office/drawing/2014/main" id="{062C8847-6894-45B4-AB1F-3FC9C0E7D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3" y="3904487"/>
            <a:ext cx="4736592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上海交大 AI 使用规范</a:t>
            </a:r>
          </a:p>
        </p:txBody>
      </p:sp>
      <p:sp>
        <p:nvSpPr>
          <p:cNvPr id="17" name="visual-5-3-TextBox 10">
            <a:extLst xmlns:a="http://schemas.openxmlformats.org/drawingml/2006/main">
              <a:ext uri="{FF2B5EF4-FFF2-40B4-BE49-F238E27FC236}">
                <a16:creationId xmlns:a16="http://schemas.microsoft.com/office/drawing/2014/main" id="{8C641AA5-7ACF-4ADB-AB3A-9C98A3A71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4425696"/>
            <a:ext cx="4626864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教育教学场景：禁止、限制、鼓励、开放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47901F8-4534-4614-9876-87CBC9325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同一工具，不同对象与动作，风险可以相反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4583780-3667-4B96-9C16-F75A33235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pic>
        <p:nvPicPr>
          <p:cNvPr id="23" name="Pictur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f915c073364d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30563" y="1847088"/>
            <a:ext cx="4242592" cy="2331720"/>
          </a:xfrm>
          <a:prstGeom xmlns:a="http://schemas.openxmlformats.org/drawingml/2006/main" prst="rect">
            <a:avLst/>
          </a:prstGeom>
        </p:spPr>
      </p:pic>
      <p:pic>
        <p:nvPicPr>
          <p:cNvPr id="24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b0fcc12efa49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93680" y="1847088"/>
            <a:ext cx="3868535" cy="2331720"/>
          </a:xfrm>
          <a:prstGeom xmlns:a="http://schemas.openxmlformats.org/drawingml/2006/main" prst="rect">
            <a:avLst/>
          </a:prstGeom>
        </p:spPr>
      </p:pic>
      <p:sp>
        <p:nvSpPr>
          <p:cNvPr id="16" name="visual-6-0-TextBox 5">
            <a:extLst xmlns:a="http://schemas.openxmlformats.org/drawingml/2006/main">
              <a:ext uri="{FF2B5EF4-FFF2-40B4-BE49-F238E27FC236}">
                <a16:creationId xmlns:a16="http://schemas.microsoft.com/office/drawing/2014/main" id="{7591931D-5828-4066-AC25-FA2AD2116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162050"/>
            <a:ext cx="2190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允许｜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公开材料</a:t>
            </a:r>
          </a:p>
        </p:txBody>
      </p:sp>
      <p:sp>
        <p:nvSpPr>
          <p:cNvPr id="17" name="visual-6-1-TextBox 7">
            <a:extLst xmlns:a="http://schemas.openxmlformats.org/drawingml/2006/main">
              <a:ext uri="{FF2B5EF4-FFF2-40B4-BE49-F238E27FC236}">
                <a16:creationId xmlns:a16="http://schemas.microsoft.com/office/drawing/2014/main" id="{41184B5D-2519-4E65-86FB-42838187A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162050"/>
            <a:ext cx="2190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禁止｜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未授权材料</a:t>
            </a:r>
          </a:p>
        </p:txBody>
      </p:sp>
      <p:sp>
        <p:nvSpPr>
          <p:cNvPr id="18" name="visual-6-2-TextBox 10">
            <a:extLst xmlns:a="http://schemas.openxmlformats.org/drawingml/2006/main">
              <a:ext uri="{FF2B5EF4-FFF2-40B4-BE49-F238E27FC236}">
                <a16:creationId xmlns:a16="http://schemas.microsoft.com/office/drawing/2014/main" id="{09D19574-EE04-4E37-A032-92B9F7CBA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4334256"/>
            <a:ext cx="43434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公开论文摘要 → 生成候选关键词 → 回原始来源核验</a:t>
            </a:r>
          </a:p>
        </p:txBody>
      </p:sp>
      <p:sp>
        <p:nvSpPr>
          <p:cNvPr id="19" name="visual-6-3-TextBox 11">
            <a:extLst xmlns:a="http://schemas.openxmlformats.org/drawingml/2006/main">
              <a:ext uri="{FF2B5EF4-FFF2-40B4-BE49-F238E27FC236}">
                <a16:creationId xmlns:a16="http://schemas.microsoft.com/office/drawing/2014/main" id="{859C849C-1001-404C-9EDF-4392A3B7E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7688" y="4334256"/>
            <a:ext cx="43434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保密评审稿 → 上传外部模型 → 越过保密边界</a:t>
            </a:r>
          </a:p>
        </p:txBody>
      </p:sp>
      <p:sp>
        <p:nvSpPr>
          <p:cNvPr id="20" name="visual-6-4-TextBox 12">
            <a:extLst xmlns:a="http://schemas.openxmlformats.org/drawingml/2006/main">
              <a:ext uri="{FF2B5EF4-FFF2-40B4-BE49-F238E27FC236}">
                <a16:creationId xmlns:a16="http://schemas.microsoft.com/office/drawing/2014/main" id="{E2D1477D-B47D-4337-AC26-A172701C3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768" y="5248656"/>
            <a:ext cx="6729983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伦理判断的基本单位：对象 × 动作 × 环境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AD7FA85-C45F-436C-9134-284BA1BD8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五字段风险记录把担忧变成行动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0D25E95-7902-4DD0-8D4F-D39448879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" name="visual-7-0-TextBox 4">
            <a:extLst xmlns:a="http://schemas.openxmlformats.org/drawingml/2006/main">
              <a:ext uri="{FF2B5EF4-FFF2-40B4-BE49-F238E27FC236}">
                <a16:creationId xmlns:a16="http://schemas.microsoft.com/office/drawing/2014/main" id="{6D6176DF-0A2F-4C07-A9C5-D4E09784F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19" y="1463040"/>
            <a:ext cx="1911095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对象 Asset</a:t>
            </a:r>
          </a:p>
        </p:txBody>
      </p:sp>
      <p:sp>
        <p:nvSpPr>
          <p:cNvPr id="5" name="visual-7-1-TextBox 6">
            <a:extLst xmlns:a="http://schemas.openxmlformats.org/drawingml/2006/main">
              <a:ext uri="{FF2B5EF4-FFF2-40B4-BE49-F238E27FC236}">
                <a16:creationId xmlns:a16="http://schemas.microsoft.com/office/drawing/2014/main" id="{EC0185EE-8DAD-4423-B792-AAD67A5B4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1463040"/>
            <a:ext cx="1911095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动作 Action</a:t>
            </a:r>
          </a:p>
        </p:txBody>
      </p:sp>
      <p:sp>
        <p:nvSpPr>
          <p:cNvPr id="6" name="visual-7-2-TextBox 8">
            <a:extLst xmlns:a="http://schemas.openxmlformats.org/drawingml/2006/main">
              <a:ext uri="{FF2B5EF4-FFF2-40B4-BE49-F238E27FC236}">
                <a16:creationId xmlns:a16="http://schemas.microsoft.com/office/drawing/2014/main" id="{FE6865DD-A86B-41CC-B956-206AEAAD6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1463040"/>
            <a:ext cx="1911095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风险 Risk</a:t>
            </a:r>
          </a:p>
        </p:txBody>
      </p:sp>
      <p:sp>
        <p:nvSpPr>
          <p:cNvPr id="7" name="visual-7-3-TextBox 10">
            <a:extLst xmlns:a="http://schemas.openxmlformats.org/drawingml/2006/main">
              <a:ext uri="{FF2B5EF4-FFF2-40B4-BE49-F238E27FC236}">
                <a16:creationId xmlns:a16="http://schemas.microsoft.com/office/drawing/2014/main" id="{69535518-6992-4B51-BC89-36FFF1D0E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1463040"/>
            <a:ext cx="282549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控制 Control</a:t>
            </a:r>
          </a:p>
        </p:txBody>
      </p:sp>
      <p:sp>
        <p:nvSpPr>
          <p:cNvPr id="8" name="visual-7-4-TextBox 12">
            <a:extLst xmlns:a="http://schemas.openxmlformats.org/drawingml/2006/main">
              <a:ext uri="{FF2B5EF4-FFF2-40B4-BE49-F238E27FC236}">
                <a16:creationId xmlns:a16="http://schemas.microsoft.com/office/drawing/2014/main" id="{47787C7B-DB71-42E6-AD48-488CBE8BD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19" y="1463040"/>
            <a:ext cx="1554480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责任 Owner</a:t>
            </a:r>
          </a:p>
        </p:txBody>
      </p:sp>
      <p:sp>
        <p:nvSpPr>
          <p:cNvPr id="9" name="visual-7-5-TextBox 14">
            <a:extLst xmlns:a="http://schemas.openxmlformats.org/drawingml/2006/main">
              <a:ext uri="{FF2B5EF4-FFF2-40B4-BE49-F238E27FC236}">
                <a16:creationId xmlns:a16="http://schemas.microsoft.com/office/drawing/2014/main" id="{8050D32B-9D46-43B6-B98F-174E54968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19" y="2121408"/>
            <a:ext cx="1911095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未公开合作稿</a:t>
            </a:r>
          </a:p>
        </p:txBody>
      </p:sp>
      <p:sp>
        <p:nvSpPr>
          <p:cNvPr id="10" name="visual-7-6-TextBox 16">
            <a:extLst xmlns:a="http://schemas.openxmlformats.org/drawingml/2006/main">
              <a:ext uri="{FF2B5EF4-FFF2-40B4-BE49-F238E27FC236}">
                <a16:creationId xmlns:a16="http://schemas.microsoft.com/office/drawing/2014/main" id="{DDC4932C-F5F9-4950-900F-31EB6C2CF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121408"/>
            <a:ext cx="1911095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上传外部模型</a:t>
            </a:r>
          </a:p>
        </p:txBody>
      </p:sp>
      <p:sp>
        <p:nvSpPr>
          <p:cNvPr id="11" name="visual-7-7-TextBox 18">
            <a:extLst xmlns:a="http://schemas.openxmlformats.org/drawingml/2006/main">
              <a:ext uri="{FF2B5EF4-FFF2-40B4-BE49-F238E27FC236}">
                <a16:creationId xmlns:a16="http://schemas.microsoft.com/office/drawing/2014/main" id="{95DE7D4A-26C5-4FD3-91B1-8712AAF0D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121408"/>
            <a:ext cx="1911095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保密与知识产权</a:t>
            </a:r>
          </a:p>
        </p:txBody>
      </p:sp>
      <p:sp>
        <p:nvSpPr>
          <p:cNvPr id="12" name="visual-7-8-TextBox 20">
            <a:extLst xmlns:a="http://schemas.openxmlformats.org/drawingml/2006/main">
              <a:ext uri="{FF2B5EF4-FFF2-40B4-BE49-F238E27FC236}">
                <a16:creationId xmlns:a16="http://schemas.microsoft.com/office/drawing/2014/main" id="{06A6D95F-31AA-4E6E-BF82-6DBE7BD81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2121408"/>
            <a:ext cx="282549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不上传全文；抽象化问题；经授权环境</a:t>
            </a:r>
          </a:p>
        </p:txBody>
      </p:sp>
      <p:sp>
        <p:nvSpPr>
          <p:cNvPr id="13" name="visual-7-9-TextBox 22">
            <a:extLst xmlns:a="http://schemas.openxmlformats.org/drawingml/2006/main">
              <a:ext uri="{FF2B5EF4-FFF2-40B4-BE49-F238E27FC236}">
                <a16:creationId xmlns:a16="http://schemas.microsoft.com/office/drawing/2014/main" id="{14D9BAC5-27AD-4BE6-A1D0-FF43BDD26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19" y="2121408"/>
            <a:ext cx="1554480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共同作者 + 使用者</a:t>
            </a:r>
          </a:p>
        </p:txBody>
      </p:sp>
      <p:sp>
        <p:nvSpPr>
          <p:cNvPr id="14" name="visual-7-10-TextBox 23">
            <a:extLst xmlns:a="http://schemas.openxmlformats.org/drawingml/2006/main">
              <a:ext uri="{FF2B5EF4-FFF2-40B4-BE49-F238E27FC236}">
                <a16:creationId xmlns:a16="http://schemas.microsoft.com/office/drawing/2014/main" id="{914BDADD-23A3-4E3D-BE87-E53A96E1C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7" y="5367528"/>
            <a:ext cx="9747504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只写“注意伦理”不可执行；控制必须能被检查。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88C0B1A-AC81-471C-B83C-230826E4E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三类处置各有可检查的理由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28D2315-4C89-4A5C-84F7-142BD02DA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4" name="visual-8-0-TextBox 4">
            <a:extLst xmlns:a="http://schemas.openxmlformats.org/drawingml/2006/main">
              <a:ext uri="{FF2B5EF4-FFF2-40B4-BE49-F238E27FC236}">
                <a16:creationId xmlns:a16="http://schemas.microsoft.com/office/drawing/2014/main" id="{025AC8AE-6A65-4953-BB30-6EF6EF212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1728216"/>
            <a:ext cx="2907792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允许</a:t>
            </a:r>
          </a:p>
        </p:txBody>
      </p:sp>
      <p:sp>
        <p:nvSpPr>
          <p:cNvPr id="5" name="visual-8-1-TextBox 5">
            <a:extLst xmlns:a="http://schemas.openxmlformats.org/drawingml/2006/main">
              <a:ext uri="{FF2B5EF4-FFF2-40B4-BE49-F238E27FC236}">
                <a16:creationId xmlns:a16="http://schemas.microsoft.com/office/drawing/2014/main" id="{4A46774E-3E30-498D-B27A-EBC733D74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441448"/>
            <a:ext cx="2907792" cy="199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公开摘要→候选关键词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现有控制充分</a:t>
            </a:r>
          </a:p>
        </p:txBody>
      </p:sp>
      <p:sp>
        <p:nvSpPr>
          <p:cNvPr id="6" name="visual-8-2-TextBox 7">
            <a:extLst xmlns:a="http://schemas.openxmlformats.org/drawingml/2006/main">
              <a:ext uri="{FF2B5EF4-FFF2-40B4-BE49-F238E27FC236}">
                <a16:creationId xmlns:a16="http://schemas.microsoft.com/office/drawing/2014/main" id="{F3868F8D-4E24-424E-893B-1C7D4DF27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423" y="1728216"/>
            <a:ext cx="2907792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有条件允许</a:t>
            </a:r>
          </a:p>
        </p:txBody>
      </p:sp>
      <p:sp>
        <p:nvSpPr>
          <p:cNvPr id="7" name="visual-8-3-TextBox 8">
            <a:extLst xmlns:a="http://schemas.openxmlformats.org/drawingml/2006/main">
              <a:ext uri="{FF2B5EF4-FFF2-40B4-BE49-F238E27FC236}">
                <a16:creationId xmlns:a16="http://schemas.microsoft.com/office/drawing/2014/main" id="{85247133-84FE-4C86-8911-D34A24AC4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423" y="2441448"/>
            <a:ext cx="2907792" cy="199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授权数据→本地只读分析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先满足脱敏与权限</a:t>
            </a:r>
          </a:p>
        </p:txBody>
      </p:sp>
      <p:sp>
        <p:nvSpPr>
          <p:cNvPr id="8" name="visual-8-4-TextBox 10">
            <a:extLst xmlns:a="http://schemas.openxmlformats.org/drawingml/2006/main">
              <a:ext uri="{FF2B5EF4-FFF2-40B4-BE49-F238E27FC236}">
                <a16:creationId xmlns:a16="http://schemas.microsoft.com/office/drawing/2014/main" id="{BA9C017B-FC80-4550-B4CE-A5F03A870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1728216"/>
            <a:ext cx="2907792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禁止</a:t>
            </a:r>
          </a:p>
        </p:txBody>
      </p:sp>
      <p:sp>
        <p:nvSpPr>
          <p:cNvPr id="9" name="visual-8-5-TextBox 11">
            <a:extLst xmlns:a="http://schemas.openxmlformats.org/drawingml/2006/main">
              <a:ext uri="{FF2B5EF4-FFF2-40B4-BE49-F238E27FC236}">
                <a16:creationId xmlns:a16="http://schemas.microsoft.com/office/drawing/2014/main" id="{52539A25-18C5-411C-8D3A-975F0C1AC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2441448"/>
            <a:ext cx="2907792" cy="199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生成数据冒充观测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破坏真实性</a:t>
            </a:r>
          </a:p>
        </p:txBody>
      </p:sp>
      <p:sp>
        <p:nvSpPr>
          <p:cNvPr id="10" name="visual-8-6-TextBox 12">
            <a:extLst xmlns:a="http://schemas.openxmlformats.org/drawingml/2006/main">
              <a:ext uri="{FF2B5EF4-FFF2-40B4-BE49-F238E27FC236}">
                <a16:creationId xmlns:a16="http://schemas.microsoft.com/office/drawing/2014/main" id="{48DB1CE7-E6AA-4730-A350-0D09B5F3F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888" y="5093208"/>
            <a:ext cx="9381744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处置结论必须跟着具体对象、动作、条件和责任人。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91868C9-B81E-4684-9875-F177A81C8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发送前：五个条件缺一，不上传未公开全文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D9EE001-B98C-413D-A651-4FA0F7DFF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4" name="visual-9-0-TextBox 5">
            <a:extLst xmlns:a="http://schemas.openxmlformats.org/drawingml/2006/main">
              <a:ext uri="{FF2B5EF4-FFF2-40B4-BE49-F238E27FC236}">
                <a16:creationId xmlns:a16="http://schemas.microsoft.com/office/drawing/2014/main" id="{FD26B922-7602-4162-8512-D0816D2D9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5" name="visual-9-1-TextBox 6">
            <a:extLst xmlns:a="http://schemas.openxmlformats.org/drawingml/2006/main">
              <a:ext uri="{FF2B5EF4-FFF2-40B4-BE49-F238E27FC236}">
                <a16:creationId xmlns:a16="http://schemas.microsoft.com/office/drawing/2014/main" id="{3DFBCC18-1664-42CC-B637-D37AB3A56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9" y="2807208"/>
            <a:ext cx="1678838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材料身份</a:t>
            </a:r>
          </a:p>
        </p:txBody>
      </p:sp>
      <p:sp>
        <p:nvSpPr>
          <p:cNvPr id="6" name="visual-9-2-TextBox 7">
            <a:extLst xmlns:a="http://schemas.openxmlformats.org/drawingml/2006/main">
              <a:ext uri="{FF2B5EF4-FFF2-40B4-BE49-F238E27FC236}">
                <a16:creationId xmlns:a16="http://schemas.microsoft.com/office/drawing/2014/main" id="{19A97D04-B9F7-4F98-9DD0-3EB56036A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9" y="3355848"/>
            <a:ext cx="1678838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作者稿还是评审稿</a:t>
            </a:r>
          </a:p>
        </p:txBody>
      </p:sp>
      <p:sp>
        <p:nvSpPr>
          <p:cNvPr id="7" name="visual-9-3-TextBox 11">
            <a:extLst xmlns:a="http://schemas.openxmlformats.org/drawingml/2006/main">
              <a:ext uri="{FF2B5EF4-FFF2-40B4-BE49-F238E27FC236}">
                <a16:creationId xmlns:a16="http://schemas.microsoft.com/office/drawing/2014/main" id="{0A9CC741-711A-4AC6-98BD-1D299AFB5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3862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8" name="visual-9-4-TextBox 12">
            <a:extLst xmlns:a="http://schemas.openxmlformats.org/drawingml/2006/main">
              <a:ext uri="{FF2B5EF4-FFF2-40B4-BE49-F238E27FC236}">
                <a16:creationId xmlns:a16="http://schemas.microsoft.com/office/drawing/2014/main" id="{AC43781F-B83C-44A3-AF6D-322EFDF18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2150" y="2807208"/>
            <a:ext cx="1678838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权利人授权</a:t>
            </a:r>
          </a:p>
        </p:txBody>
      </p:sp>
      <p:sp>
        <p:nvSpPr>
          <p:cNvPr id="9" name="visual-9-5-TextBox 13">
            <a:extLst xmlns:a="http://schemas.openxmlformats.org/drawingml/2006/main">
              <a:ext uri="{FF2B5EF4-FFF2-40B4-BE49-F238E27FC236}">
                <a16:creationId xmlns:a16="http://schemas.microsoft.com/office/drawing/2014/main" id="{58AE1988-B29D-4FEE-BC0A-1561FEBD0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2150" y="3355848"/>
            <a:ext cx="1678838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共同作者是否同意</a:t>
            </a:r>
          </a:p>
        </p:txBody>
      </p:sp>
      <p:sp>
        <p:nvSpPr>
          <p:cNvPr id="10" name="visual-9-6-TextBox 17">
            <a:extLst xmlns:a="http://schemas.openxmlformats.org/drawingml/2006/main">
              <a:ext uri="{FF2B5EF4-FFF2-40B4-BE49-F238E27FC236}">
                <a16:creationId xmlns:a16="http://schemas.microsoft.com/office/drawing/2014/main" id="{491833E5-D99D-4C81-9FAA-BA1758AC0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3052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1" name="visual-9-7-TextBox 18">
            <a:extLst xmlns:a="http://schemas.openxmlformats.org/drawingml/2006/main">
              <a:ext uri="{FF2B5EF4-FFF2-40B4-BE49-F238E27FC236}">
                <a16:creationId xmlns:a16="http://schemas.microsoft.com/office/drawing/2014/main" id="{FA89DCD2-757E-4D2B-9E15-231B4D56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1340" y="2807208"/>
            <a:ext cx="1678838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规则允许</a:t>
            </a:r>
          </a:p>
        </p:txBody>
      </p:sp>
      <p:sp>
        <p:nvSpPr>
          <p:cNvPr id="12" name="visual-9-8-TextBox 19">
            <a:extLst xmlns:a="http://schemas.openxmlformats.org/drawingml/2006/main">
              <a:ext uri="{FF2B5EF4-FFF2-40B4-BE49-F238E27FC236}">
                <a16:creationId xmlns:a16="http://schemas.microsoft.com/office/drawing/2014/main" id="{2F4992A7-196B-4A5D-AC33-4B4C171AC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1340" y="3355848"/>
            <a:ext cx="1678838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机构/项目/期刊</a:t>
            </a:r>
          </a:p>
        </p:txBody>
      </p:sp>
      <p:sp>
        <p:nvSpPr>
          <p:cNvPr id="13" name="visual-9-9-TextBox 23">
            <a:extLst xmlns:a="http://schemas.openxmlformats.org/drawingml/2006/main">
              <a:ext uri="{FF2B5EF4-FFF2-40B4-BE49-F238E27FC236}">
                <a16:creationId xmlns:a16="http://schemas.microsoft.com/office/drawing/2014/main" id="{D8810EE2-5AD3-4988-A5BA-74D16E81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2243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4" name="visual-9-10-TextBox 24">
            <a:extLst xmlns:a="http://schemas.openxmlformats.org/drawingml/2006/main">
              <a:ext uri="{FF2B5EF4-FFF2-40B4-BE49-F238E27FC236}">
                <a16:creationId xmlns:a16="http://schemas.microsoft.com/office/drawing/2014/main" id="{0C2E4759-CFA9-4E6C-8B00-66F1F0CEA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0531" y="2807208"/>
            <a:ext cx="1678838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环境合规</a:t>
            </a:r>
          </a:p>
        </p:txBody>
      </p:sp>
      <p:sp>
        <p:nvSpPr>
          <p:cNvPr id="15" name="visual-9-11-TextBox 25">
            <a:extLst xmlns:a="http://schemas.openxmlformats.org/drawingml/2006/main">
              <a:ext uri="{FF2B5EF4-FFF2-40B4-BE49-F238E27FC236}">
                <a16:creationId xmlns:a16="http://schemas.microsoft.com/office/drawing/2014/main" id="{B750C402-605F-4AAE-9127-5FF839DE2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0531" y="3355848"/>
            <a:ext cx="1678838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保存、训练、访问</a:t>
            </a:r>
          </a:p>
        </p:txBody>
      </p:sp>
      <p:sp>
        <p:nvSpPr>
          <p:cNvPr id="16" name="visual-9-12-TextBox 29">
            <a:extLst xmlns:a="http://schemas.openxmlformats.org/drawingml/2006/main">
              <a:ext uri="{FF2B5EF4-FFF2-40B4-BE49-F238E27FC236}">
                <a16:creationId xmlns:a16="http://schemas.microsoft.com/office/drawing/2014/main" id="{4397E1E3-D287-42E3-8438-AF26489F0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1433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7" name="visual-9-13-TextBox 30">
            <a:extLst xmlns:a="http://schemas.openxmlformats.org/drawingml/2006/main">
              <a:ext uri="{FF2B5EF4-FFF2-40B4-BE49-F238E27FC236}">
                <a16:creationId xmlns:a16="http://schemas.microsoft.com/office/drawing/2014/main" id="{125F0E8B-DBF4-4348-8745-CE8D82D84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9721" y="2807208"/>
            <a:ext cx="1678838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最小披露</a:t>
            </a:r>
          </a:p>
        </p:txBody>
      </p:sp>
      <p:sp>
        <p:nvSpPr>
          <p:cNvPr id="18" name="visual-9-14-TextBox 31">
            <a:extLst xmlns:a="http://schemas.openxmlformats.org/drawingml/2006/main">
              <a:ext uri="{FF2B5EF4-FFF2-40B4-BE49-F238E27FC236}">
                <a16:creationId xmlns:a16="http://schemas.microsoft.com/office/drawing/2014/main" id="{4602818E-743B-47EA-9145-FF9DC241C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9721" y="3355848"/>
            <a:ext cx="1678838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仅必要片段</a:t>
            </a:r>
          </a:p>
        </p:txBody>
      </p:sp>
      <p:sp>
        <p:nvSpPr>
          <p:cNvPr id="19" name="visual-9-15-TextBox 32">
            <a:extLst xmlns:a="http://schemas.openxmlformats.org/drawingml/2006/main">
              <a:ext uri="{FF2B5EF4-FFF2-40B4-BE49-F238E27FC236}">
                <a16:creationId xmlns:a16="http://schemas.microsoft.com/office/drawing/2014/main" id="{D0E5F121-58DC-48A2-8A03-E0C149DEC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888" y="4818888"/>
            <a:ext cx="9381744" cy="59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条件式允许是一种专业判断框架，不是上传课程研究材料的授权。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4FE0967-C184-43B1-AAE1-8BBFBFB15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如果已经发送：先止损，再恢复责任链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46A9D50-0223-498C-ADB1-8072D0B39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visual-10-0-TextBox 5">
            <a:extLst xmlns:a="http://schemas.openxmlformats.org/drawingml/2006/main">
              <a:ext uri="{FF2B5EF4-FFF2-40B4-BE49-F238E27FC236}">
                <a16:creationId xmlns:a16="http://schemas.microsoft.com/office/drawing/2014/main" id="{C5B5D2A6-91B9-4F75-A328-51A457389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5" name="visual-10-1-TextBox 6">
            <a:extLst xmlns:a="http://schemas.openxmlformats.org/drawingml/2006/main">
              <a:ext uri="{FF2B5EF4-FFF2-40B4-BE49-F238E27FC236}">
                <a16:creationId xmlns:a16="http://schemas.microsoft.com/office/drawing/2014/main" id="{C5CDCB96-F2D9-4DD3-8586-B98F32CFE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9" y="2807208"/>
            <a:ext cx="1678838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停止</a:t>
            </a:r>
          </a:p>
        </p:txBody>
      </p:sp>
      <p:sp>
        <p:nvSpPr>
          <p:cNvPr id="6" name="visual-10-2-TextBox 7">
            <a:extLst xmlns:a="http://schemas.openxmlformats.org/drawingml/2006/main">
              <a:ext uri="{FF2B5EF4-FFF2-40B4-BE49-F238E27FC236}">
                <a16:creationId xmlns:a16="http://schemas.microsoft.com/office/drawing/2014/main" id="{BC029239-4A8A-478B-9098-F2DAACCA0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9" y="3355848"/>
            <a:ext cx="1678838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不继续发送</a:t>
            </a:r>
          </a:p>
        </p:txBody>
      </p:sp>
      <p:sp>
        <p:nvSpPr>
          <p:cNvPr id="7" name="visual-10-3-TextBox 11">
            <a:extLst xmlns:a="http://schemas.openxmlformats.org/drawingml/2006/main">
              <a:ext uri="{FF2B5EF4-FFF2-40B4-BE49-F238E27FC236}">
                <a16:creationId xmlns:a16="http://schemas.microsoft.com/office/drawing/2014/main" id="{5CD56051-1B73-406A-8E16-DDE87B74C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3862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8" name="visual-10-4-TextBox 12">
            <a:extLst xmlns:a="http://schemas.openxmlformats.org/drawingml/2006/main">
              <a:ext uri="{FF2B5EF4-FFF2-40B4-BE49-F238E27FC236}">
                <a16:creationId xmlns:a16="http://schemas.microsoft.com/office/drawing/2014/main" id="{E512F6C9-5851-47C1-AF4A-0C56B946C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2150" y="2807208"/>
            <a:ext cx="1678838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评估</a:t>
            </a:r>
          </a:p>
        </p:txBody>
      </p:sp>
      <p:sp>
        <p:nvSpPr>
          <p:cNvPr id="9" name="visual-10-5-TextBox 13">
            <a:extLst xmlns:a="http://schemas.openxmlformats.org/drawingml/2006/main">
              <a:ext uri="{FF2B5EF4-FFF2-40B4-BE49-F238E27FC236}">
                <a16:creationId xmlns:a16="http://schemas.microsoft.com/office/drawing/2014/main" id="{4462E3DF-9095-4909-B2A2-63C3E9C52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2150" y="3355848"/>
            <a:ext cx="1678838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摘要/全文/数据及敏感度</a:t>
            </a:r>
          </a:p>
        </p:txBody>
      </p:sp>
      <p:sp>
        <p:nvSpPr>
          <p:cNvPr id="10" name="visual-10-6-TextBox 17">
            <a:extLst xmlns:a="http://schemas.openxmlformats.org/drawingml/2006/main">
              <a:ext uri="{FF2B5EF4-FFF2-40B4-BE49-F238E27FC236}">
                <a16:creationId xmlns:a16="http://schemas.microsoft.com/office/drawing/2014/main" id="{994D1F69-0CA6-4F3E-87DA-114DE374B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3052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1" name="visual-10-7-TextBox 18">
            <a:extLst xmlns:a="http://schemas.openxmlformats.org/drawingml/2006/main">
              <a:ext uri="{FF2B5EF4-FFF2-40B4-BE49-F238E27FC236}">
                <a16:creationId xmlns:a16="http://schemas.microsoft.com/office/drawing/2014/main" id="{D85513E3-3177-4ED4-BA87-2B61567CB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1340" y="2807208"/>
            <a:ext cx="1678838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记录</a:t>
            </a:r>
          </a:p>
        </p:txBody>
      </p:sp>
      <p:sp>
        <p:nvSpPr>
          <p:cNvPr id="12" name="visual-10-8-TextBox 19">
            <a:extLst xmlns:a="http://schemas.openxmlformats.org/drawingml/2006/main">
              <a:ext uri="{FF2B5EF4-FFF2-40B4-BE49-F238E27FC236}">
                <a16:creationId xmlns:a16="http://schemas.microsoft.com/office/drawing/2014/main" id="{145897A0-F214-425A-8F5E-DB53E6DBC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1340" y="3355848"/>
            <a:ext cx="1678838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工具、时间、内容范围</a:t>
            </a:r>
          </a:p>
        </p:txBody>
      </p:sp>
      <p:sp>
        <p:nvSpPr>
          <p:cNvPr id="13" name="visual-10-9-TextBox 23">
            <a:extLst xmlns:a="http://schemas.openxmlformats.org/drawingml/2006/main">
              <a:ext uri="{FF2B5EF4-FFF2-40B4-BE49-F238E27FC236}">
                <a16:creationId xmlns:a16="http://schemas.microsoft.com/office/drawing/2014/main" id="{28953829-62FF-419A-ACE7-C8174B2DF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2243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4" name="visual-10-10-TextBox 24">
            <a:extLst xmlns:a="http://schemas.openxmlformats.org/drawingml/2006/main">
              <a:ext uri="{FF2B5EF4-FFF2-40B4-BE49-F238E27FC236}">
                <a16:creationId xmlns:a16="http://schemas.microsoft.com/office/drawing/2014/main" id="{254C3A4C-0885-4CBA-9957-CDB07131E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0531" y="2807208"/>
            <a:ext cx="1678838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沟通</a:t>
            </a:r>
          </a:p>
        </p:txBody>
      </p:sp>
      <p:sp>
        <p:nvSpPr>
          <p:cNvPr id="15" name="visual-10-11-TextBox 25">
            <a:extLst xmlns:a="http://schemas.openxmlformats.org/drawingml/2006/main">
              <a:ext uri="{FF2B5EF4-FFF2-40B4-BE49-F238E27FC236}">
                <a16:creationId xmlns:a16="http://schemas.microsoft.com/office/drawing/2014/main" id="{70468BFC-0CBF-4F9B-AA93-0873A305D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0531" y="3355848"/>
            <a:ext cx="1678838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按需告知合作者/机构</a:t>
            </a:r>
          </a:p>
        </p:txBody>
      </p:sp>
      <p:sp>
        <p:nvSpPr>
          <p:cNvPr id="16" name="visual-10-12-TextBox 29">
            <a:extLst xmlns:a="http://schemas.openxmlformats.org/drawingml/2006/main">
              <a:ext uri="{FF2B5EF4-FFF2-40B4-BE49-F238E27FC236}">
                <a16:creationId xmlns:a16="http://schemas.microsoft.com/office/drawing/2014/main" id="{45A79461-17FE-493B-B2CA-369FF884A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1433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7" name="visual-10-13-TextBox 30">
            <a:extLst xmlns:a="http://schemas.openxmlformats.org/drawingml/2006/main">
              <a:ext uri="{FF2B5EF4-FFF2-40B4-BE49-F238E27FC236}">
                <a16:creationId xmlns:a16="http://schemas.microsoft.com/office/drawing/2014/main" id="{9B31ECA6-A5BE-4A08-92C2-167186E0B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9721" y="2807208"/>
            <a:ext cx="1678838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切换</a:t>
            </a:r>
          </a:p>
        </p:txBody>
      </p:sp>
      <p:sp>
        <p:nvSpPr>
          <p:cNvPr id="18" name="visual-10-14-TextBox 31">
            <a:extLst xmlns:a="http://schemas.openxmlformats.org/drawingml/2006/main">
              <a:ext uri="{FF2B5EF4-FFF2-40B4-BE49-F238E27FC236}">
                <a16:creationId xmlns:a16="http://schemas.microsoft.com/office/drawing/2014/main" id="{48745EA6-6CB9-473D-820A-CE6B4987C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9721" y="3355848"/>
            <a:ext cx="1678838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合规环境或抽象化问题</a:t>
            </a:r>
          </a:p>
        </p:txBody>
      </p:sp>
      <p:sp>
        <p:nvSpPr>
          <p:cNvPr id="19" name="visual-10-15-TextBox 32">
            <a:extLst xmlns:a="http://schemas.openxmlformats.org/drawingml/2006/main">
              <a:ext uri="{FF2B5EF4-FFF2-40B4-BE49-F238E27FC236}">
                <a16:creationId xmlns:a16="http://schemas.microsoft.com/office/drawing/2014/main" id="{7541238D-A0C1-4427-8C60-1507768DF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888" y="4818888"/>
            <a:ext cx="9381744" cy="59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事后删除或隐瞒不能消除已经发生的暴露。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1636709-0CB7-459D-A4FA-990BE1A12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模拟数据可以测试方法，不能冒充经验事实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4B16AA1-7F74-45B7-BA08-37EDD356F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visual-11-0-TextBox 4">
            <a:extLst xmlns:a="http://schemas.openxmlformats.org/drawingml/2006/main">
              <a:ext uri="{FF2B5EF4-FFF2-40B4-BE49-F238E27FC236}">
                <a16:creationId xmlns:a16="http://schemas.microsoft.com/office/drawing/2014/main" id="{15374D36-92B2-4A84-A1C2-8AD656283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19" y="1463040"/>
            <a:ext cx="177393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材料</a:t>
            </a:r>
          </a:p>
        </p:txBody>
      </p:sp>
      <p:sp>
        <p:nvSpPr>
          <p:cNvPr id="5" name="visual-11-1-TextBox 6">
            <a:extLst xmlns:a="http://schemas.openxmlformats.org/drawingml/2006/main">
              <a:ext uri="{FF2B5EF4-FFF2-40B4-BE49-F238E27FC236}">
                <a16:creationId xmlns:a16="http://schemas.microsoft.com/office/drawing/2014/main" id="{5D19CC42-BA6B-4F7B-9985-3F2076792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1463040"/>
            <a:ext cx="268833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可以做什么</a:t>
            </a:r>
          </a:p>
        </p:txBody>
      </p:sp>
      <p:sp>
        <p:nvSpPr>
          <p:cNvPr id="6" name="visual-11-2-TextBox 8">
            <a:extLst xmlns:a="http://schemas.openxmlformats.org/drawingml/2006/main">
              <a:ext uri="{FF2B5EF4-FFF2-40B4-BE49-F238E27FC236}">
                <a16:creationId xmlns:a16="http://schemas.microsoft.com/office/drawing/2014/main" id="{ED4F7B41-9EDB-4CBF-9F14-F47FF48B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463040"/>
            <a:ext cx="282549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可以说什么</a:t>
            </a:r>
          </a:p>
        </p:txBody>
      </p:sp>
      <p:sp>
        <p:nvSpPr>
          <p:cNvPr id="7" name="visual-11-3-TextBox 10">
            <a:extLst xmlns:a="http://schemas.openxmlformats.org/drawingml/2006/main">
              <a:ext uri="{FF2B5EF4-FFF2-40B4-BE49-F238E27FC236}">
                <a16:creationId xmlns:a16="http://schemas.microsoft.com/office/drawing/2014/main" id="{7D97196B-CB5E-4AFD-A8D1-154252B0A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463040"/>
            <a:ext cx="2971800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不能说什么</a:t>
            </a:r>
          </a:p>
        </p:txBody>
      </p:sp>
      <p:sp>
        <p:nvSpPr>
          <p:cNvPr id="8" name="visual-11-4-TextBox 12">
            <a:extLst xmlns:a="http://schemas.openxmlformats.org/drawingml/2006/main">
              <a:ext uri="{FF2B5EF4-FFF2-40B4-BE49-F238E27FC236}">
                <a16:creationId xmlns:a16="http://schemas.microsoft.com/office/drawing/2014/main" id="{E30AC214-FE24-4120-8625-3281CDFE6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19" y="2121408"/>
            <a:ext cx="177393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明确标记的模拟缺失值</a:t>
            </a:r>
          </a:p>
        </p:txBody>
      </p:sp>
      <p:sp>
        <p:nvSpPr>
          <p:cNvPr id="9" name="visual-11-5-TextBox 14">
            <a:extLst xmlns:a="http://schemas.openxmlformats.org/drawingml/2006/main">
              <a:ext uri="{FF2B5EF4-FFF2-40B4-BE49-F238E27FC236}">
                <a16:creationId xmlns:a16="http://schemas.microsoft.com/office/drawing/2014/main" id="{6897B6F9-842B-452D-94E7-889D53C89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2121408"/>
            <a:ext cx="268833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测试代码、异常处理、统计流程</a:t>
            </a:r>
          </a:p>
        </p:txBody>
      </p:sp>
      <p:sp>
        <p:nvSpPr>
          <p:cNvPr id="10" name="visual-11-6-TextBox 16">
            <a:extLst xmlns:a="http://schemas.openxmlformats.org/drawingml/2006/main">
              <a:ext uri="{FF2B5EF4-FFF2-40B4-BE49-F238E27FC236}">
                <a16:creationId xmlns:a16="http://schemas.microsoft.com/office/drawing/2014/main" id="{D01A084E-C891-4D1B-9027-57AAA53A7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121408"/>
            <a:ext cx="282549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脚本在该模拟条件下通过</a:t>
            </a:r>
          </a:p>
        </p:txBody>
      </p:sp>
      <p:sp>
        <p:nvSpPr>
          <p:cNvPr id="11" name="visual-11-7-TextBox 18">
            <a:extLst xmlns:a="http://schemas.openxmlformats.org/drawingml/2006/main">
              <a:ext uri="{FF2B5EF4-FFF2-40B4-BE49-F238E27FC236}">
                <a16:creationId xmlns:a16="http://schemas.microsoft.com/office/drawing/2014/main" id="{5A553B53-1AF0-4774-8BBC-2472CA8FA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121408"/>
            <a:ext cx="2971800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真实人群中方法有效</a:t>
            </a:r>
          </a:p>
        </p:txBody>
      </p:sp>
      <p:sp>
        <p:nvSpPr>
          <p:cNvPr id="12" name="visual-11-8-TextBox 20">
            <a:extLst xmlns:a="http://schemas.openxmlformats.org/drawingml/2006/main">
              <a:ext uri="{FF2B5EF4-FFF2-40B4-BE49-F238E27FC236}">
                <a16:creationId xmlns:a16="http://schemas.microsoft.com/office/drawing/2014/main" id="{2E922ADB-4987-4169-860B-DAA3A8EE1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19" y="2779775"/>
            <a:ext cx="177393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真实实验观测</a:t>
            </a:r>
          </a:p>
        </p:txBody>
      </p:sp>
      <p:sp>
        <p:nvSpPr>
          <p:cNvPr id="13" name="visual-11-9-TextBox 22">
            <a:extLst xmlns:a="http://schemas.openxmlformats.org/drawingml/2006/main">
              <a:ext uri="{FF2B5EF4-FFF2-40B4-BE49-F238E27FC236}">
                <a16:creationId xmlns:a16="http://schemas.microsoft.com/office/drawing/2014/main" id="{60DD0D2D-981B-47EC-BC17-616DEA194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2779775"/>
            <a:ext cx="268833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按授权协议分析</a:t>
            </a:r>
          </a:p>
        </p:txBody>
      </p:sp>
      <p:sp>
        <p:nvSpPr>
          <p:cNvPr id="14" name="visual-11-10-TextBox 24">
            <a:extLst xmlns:a="http://schemas.openxmlformats.org/drawingml/2006/main">
              <a:ext uri="{FF2B5EF4-FFF2-40B4-BE49-F238E27FC236}">
                <a16:creationId xmlns:a16="http://schemas.microsoft.com/office/drawing/2014/main" id="{A9E36BEF-2614-4A72-BE5F-55ED81174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779775"/>
            <a:ext cx="282549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在给定样本和设计下观察到…</a:t>
            </a:r>
          </a:p>
        </p:txBody>
      </p:sp>
      <p:sp>
        <p:nvSpPr>
          <p:cNvPr id="15" name="visual-11-11-TextBox 26">
            <a:extLst xmlns:a="http://schemas.openxmlformats.org/drawingml/2006/main">
              <a:ext uri="{FF2B5EF4-FFF2-40B4-BE49-F238E27FC236}">
                <a16:creationId xmlns:a16="http://schemas.microsoft.com/office/drawing/2014/main" id="{3E7F5CBD-C119-481F-911D-849EED6DB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779775"/>
            <a:ext cx="2971800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超出数据与设计的普遍因果结论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DAB2CB0-9EDB-42E9-935F-0E919060A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“人点了批准”仍可能是假治理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C938CF3-3FCA-4D9D-9900-8ED9B4501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visual-12-0-TextBox 5">
            <a:extLst xmlns:a="http://schemas.openxmlformats.org/drawingml/2006/main">
              <a:ext uri="{FF2B5EF4-FFF2-40B4-BE49-F238E27FC236}">
                <a16:creationId xmlns:a16="http://schemas.microsoft.com/office/drawing/2014/main" id="{ACF270DF-CB83-498E-9B9C-6F2B008A8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5" name="visual-12-1-TextBox 6">
            <a:extLst xmlns:a="http://schemas.openxmlformats.org/drawingml/2006/main">
              <a:ext uri="{FF2B5EF4-FFF2-40B4-BE49-F238E27FC236}">
                <a16:creationId xmlns:a16="http://schemas.microsoft.com/office/drawing/2014/main" id="{564100EB-146B-4129-8E44-D312B0621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9" y="2807208"/>
            <a:ext cx="2231136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Agent 建议</a:t>
            </a:r>
          </a:p>
        </p:txBody>
      </p:sp>
      <p:sp>
        <p:nvSpPr>
          <p:cNvPr id="6" name="visual-12-2-TextBox 7">
            <a:extLst xmlns:a="http://schemas.openxmlformats.org/drawingml/2006/main">
              <a:ext uri="{FF2B5EF4-FFF2-40B4-BE49-F238E27FC236}">
                <a16:creationId xmlns:a16="http://schemas.microsoft.com/office/drawing/2014/main" id="{8C8FF953-099C-4C1F-92BE-7F1CC7B31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9" y="3355848"/>
            <a:ext cx="2231136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结果不佳，换指标</a:t>
            </a:r>
          </a:p>
        </p:txBody>
      </p:sp>
      <p:sp>
        <p:nvSpPr>
          <p:cNvPr id="7" name="visual-12-3-TextBox 11">
            <a:extLst xmlns:a="http://schemas.openxmlformats.org/drawingml/2006/main">
              <a:ext uri="{FF2B5EF4-FFF2-40B4-BE49-F238E27FC236}">
                <a16:creationId xmlns:a16="http://schemas.microsoft.com/office/drawing/2014/main" id="{FEF29DFF-68B9-4F6B-9B1A-316C99298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8" name="visual-12-4-TextBox 12">
            <a:extLst xmlns:a="http://schemas.openxmlformats.org/drawingml/2006/main">
              <a:ext uri="{FF2B5EF4-FFF2-40B4-BE49-F238E27FC236}">
                <a16:creationId xmlns:a16="http://schemas.microsoft.com/office/drawing/2014/main" id="{55358BB4-E99F-48A5-80A4-50588CF9E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4448" y="2807208"/>
            <a:ext cx="2231136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人点击同意</a:t>
            </a:r>
          </a:p>
        </p:txBody>
      </p:sp>
      <p:sp>
        <p:nvSpPr>
          <p:cNvPr id="9" name="visual-12-5-TextBox 13">
            <a:extLst xmlns:a="http://schemas.openxmlformats.org/drawingml/2006/main">
              <a:ext uri="{FF2B5EF4-FFF2-40B4-BE49-F238E27FC236}">
                <a16:creationId xmlns:a16="http://schemas.microsoft.com/office/drawing/2014/main" id="{5B1A447D-1B4E-420D-95B1-E9CB199C1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4448" y="3355848"/>
            <a:ext cx="2231136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未记录理由</a:t>
            </a:r>
          </a:p>
        </p:txBody>
      </p:sp>
      <p:sp>
        <p:nvSpPr>
          <p:cNvPr id="10" name="visual-12-6-TextBox 17">
            <a:extLst xmlns:a="http://schemas.openxmlformats.org/drawingml/2006/main">
              <a:ext uri="{FF2B5EF4-FFF2-40B4-BE49-F238E27FC236}">
                <a16:creationId xmlns:a16="http://schemas.microsoft.com/office/drawing/2014/main" id="{EFE29D0C-17AB-42FD-BC08-97B56F096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1" name="visual-12-7-TextBox 18">
            <a:extLst xmlns:a="http://schemas.openxmlformats.org/drawingml/2006/main">
              <a:ext uri="{FF2B5EF4-FFF2-40B4-BE49-F238E27FC236}">
                <a16:creationId xmlns:a16="http://schemas.microsoft.com/office/drawing/2014/main" id="{644AFEC3-A8CB-4A78-883D-6C622216E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807208"/>
            <a:ext cx="2231136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旧协议被覆盖</a:t>
            </a:r>
          </a:p>
        </p:txBody>
      </p:sp>
      <p:sp>
        <p:nvSpPr>
          <p:cNvPr id="12" name="visual-12-8-TextBox 19">
            <a:extLst xmlns:a="http://schemas.openxmlformats.org/drawingml/2006/main">
              <a:ext uri="{FF2B5EF4-FFF2-40B4-BE49-F238E27FC236}">
                <a16:creationId xmlns:a16="http://schemas.microsoft.com/office/drawing/2014/main" id="{7792F039-9282-46D0-9A46-15C2ADCBA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3355848"/>
            <a:ext cx="2231136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无法比较</a:t>
            </a:r>
          </a:p>
        </p:txBody>
      </p:sp>
      <p:sp>
        <p:nvSpPr>
          <p:cNvPr id="13" name="visual-12-9-TextBox 23">
            <a:extLst xmlns:a="http://schemas.openxmlformats.org/drawingml/2006/main">
              <a:ext uri="{FF2B5EF4-FFF2-40B4-BE49-F238E27FC236}">
                <a16:creationId xmlns:a16="http://schemas.microsoft.com/office/drawing/2014/main" id="{B186FF75-62A8-454A-9041-5FC5E4843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4" name="visual-12-10-TextBox 24">
            <a:extLst xmlns:a="http://schemas.openxmlformats.org/drawingml/2006/main">
              <a:ext uri="{FF2B5EF4-FFF2-40B4-BE49-F238E27FC236}">
                <a16:creationId xmlns:a16="http://schemas.microsoft.com/office/drawing/2014/main" id="{D76FD07A-7EA6-4F6E-9E0A-8D60DCF54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7424" y="2807208"/>
            <a:ext cx="2231136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成功结果被选择</a:t>
            </a:r>
          </a:p>
        </p:txBody>
      </p:sp>
      <p:sp>
        <p:nvSpPr>
          <p:cNvPr id="15" name="visual-12-11-TextBox 25">
            <a:extLst xmlns:a="http://schemas.openxmlformats.org/drawingml/2006/main">
              <a:ext uri="{FF2B5EF4-FFF2-40B4-BE49-F238E27FC236}">
                <a16:creationId xmlns:a16="http://schemas.microsoft.com/office/drawing/2014/main" id="{7CD3EA6C-257E-4443-8A30-B0362EE3F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7424" y="3355848"/>
            <a:ext cx="2231136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结论失真</a:t>
            </a:r>
          </a:p>
        </p:txBody>
      </p:sp>
      <p:sp>
        <p:nvSpPr>
          <p:cNvPr id="16" name="visual-12-12-TextBox 26">
            <a:extLst xmlns:a="http://schemas.openxmlformats.org/drawingml/2006/main">
              <a:ext uri="{FF2B5EF4-FFF2-40B4-BE49-F238E27FC236}">
                <a16:creationId xmlns:a16="http://schemas.microsoft.com/office/drawing/2014/main" id="{A6FA388C-CAF3-4A8B-9470-BCA90DB64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888" y="4818888"/>
            <a:ext cx="9381744" cy="59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改指标 = 改版本化协议文件 = 留 diff；批准按钮不能替代研究判断。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F445144-15CC-4B14-BAD1-0AB501ECC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Research harness 同时约束研究判断与执行权限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C132DBE-D070-4F2F-A832-6AE4BCBE2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pic>
        <p:nvPicPr>
          <p:cNvPr id="33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6e732b352b4a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11296" y="1885907"/>
            <a:ext cx="5138928" cy="2500968"/>
          </a:xfrm>
          <a:prstGeom xmlns:a="http://schemas.openxmlformats.org/drawingml/2006/main" prst="rect">
            <a:avLst/>
          </a:prstGeom>
        </p:spPr>
      </p:pic>
      <p:sp>
        <p:nvSpPr>
          <p:cNvPr id="21" name="visual-13-0-TextBox 5">
            <a:extLst xmlns:a="http://schemas.openxmlformats.org/drawingml/2006/main">
              <a:ext uri="{FF2B5EF4-FFF2-40B4-BE49-F238E27FC236}">
                <a16:creationId xmlns:a16="http://schemas.microsoft.com/office/drawing/2014/main" id="{7DB306D4-D774-42B7-BB14-B29799CD2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1609344"/>
            <a:ext cx="2295144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版本化协议</a:t>
            </a:r>
          </a:p>
        </p:txBody>
      </p:sp>
      <p:sp>
        <p:nvSpPr>
          <p:cNvPr id="22" name="visual-13-1-TextBox 6">
            <a:extLst xmlns:a="http://schemas.openxmlformats.org/drawingml/2006/main">
              <a:ext uri="{FF2B5EF4-FFF2-40B4-BE49-F238E27FC236}">
                <a16:creationId xmlns:a16="http://schemas.microsoft.com/office/drawing/2014/main" id="{F0C7CA44-83C0-461A-A181-5ADC74611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1993392"/>
            <a:ext cx="2295144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目标与成功标准</a:t>
            </a:r>
          </a:p>
        </p:txBody>
      </p:sp>
      <p:sp>
        <p:nvSpPr>
          <p:cNvPr id="23" name="visual-13-2-TextBox 8">
            <a:extLst xmlns:a="http://schemas.openxmlformats.org/drawingml/2006/main">
              <a:ext uri="{FF2B5EF4-FFF2-40B4-BE49-F238E27FC236}">
                <a16:creationId xmlns:a16="http://schemas.microsoft.com/office/drawing/2014/main" id="{4380E26C-D81D-4C1D-9A63-6C909DEB5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984" y="1609344"/>
            <a:ext cx="2295144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权限矩阵</a:t>
            </a:r>
          </a:p>
        </p:txBody>
      </p:sp>
      <p:sp>
        <p:nvSpPr>
          <p:cNvPr id="24" name="visual-13-3-TextBox 9">
            <a:extLst xmlns:a="http://schemas.openxmlformats.org/drawingml/2006/main">
              <a:ext uri="{FF2B5EF4-FFF2-40B4-BE49-F238E27FC236}">
                <a16:creationId xmlns:a16="http://schemas.microsoft.com/office/drawing/2014/main" id="{4C2DAA91-8D7C-4752-8FA0-4206A4CB9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984" y="1993392"/>
            <a:ext cx="2295144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可读 / 可写 / 可执行</a:t>
            </a:r>
          </a:p>
        </p:txBody>
      </p:sp>
      <p:sp>
        <p:nvSpPr>
          <p:cNvPr id="25" name="visual-13-4-TextBox 11">
            <a:extLst xmlns:a="http://schemas.openxmlformats.org/drawingml/2006/main">
              <a:ext uri="{FF2B5EF4-FFF2-40B4-BE49-F238E27FC236}">
                <a16:creationId xmlns:a16="http://schemas.microsoft.com/office/drawing/2014/main" id="{36DCEBA8-EA2B-4161-B671-7EA79BFAC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187952"/>
            <a:ext cx="2295144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人工确认</a:t>
            </a:r>
          </a:p>
        </p:txBody>
      </p:sp>
      <p:sp>
        <p:nvSpPr>
          <p:cNvPr id="26" name="visual-13-5-TextBox 12">
            <a:extLst xmlns:a="http://schemas.openxmlformats.org/drawingml/2006/main">
              <a:ext uri="{FF2B5EF4-FFF2-40B4-BE49-F238E27FC236}">
                <a16:creationId xmlns:a16="http://schemas.microsoft.com/office/drawing/2014/main" id="{14335DB6-42EA-462F-A53A-FB630ACDA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572000"/>
            <a:ext cx="2295144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例外与高风险动作暂停</a:t>
            </a:r>
          </a:p>
        </p:txBody>
      </p:sp>
      <p:sp>
        <p:nvSpPr>
          <p:cNvPr id="27" name="visual-13-6-TextBox 14">
            <a:extLst xmlns:a="http://schemas.openxmlformats.org/drawingml/2006/main">
              <a:ext uri="{FF2B5EF4-FFF2-40B4-BE49-F238E27FC236}">
                <a16:creationId xmlns:a16="http://schemas.microsoft.com/office/drawing/2014/main" id="{49353B8D-C89A-4312-8CB7-BF3A0C142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984" y="4187952"/>
            <a:ext cx="2295144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实际 trace</a:t>
            </a:r>
          </a:p>
        </p:txBody>
      </p:sp>
      <p:sp>
        <p:nvSpPr>
          <p:cNvPr id="28" name="visual-13-7-TextBox 15">
            <a:extLst xmlns:a="http://schemas.openxmlformats.org/drawingml/2006/main">
              <a:ext uri="{FF2B5EF4-FFF2-40B4-BE49-F238E27FC236}">
                <a16:creationId xmlns:a16="http://schemas.microsoft.com/office/drawing/2014/main" id="{0BBAD8BC-9100-4B0A-A87A-4DC8F7C7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984" y="4572000"/>
            <a:ext cx="2295144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diff / 日志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外部状态</a:t>
            </a:r>
          </a:p>
        </p:txBody>
      </p:sp>
      <p:sp>
        <p:nvSpPr>
          <p:cNvPr id="29" name="visual-13-8-TextBox 17">
            <a:extLst xmlns:a="http://schemas.openxmlformats.org/drawingml/2006/main">
              <a:ext uri="{FF2B5EF4-FFF2-40B4-BE49-F238E27FC236}">
                <a16:creationId xmlns:a16="http://schemas.microsoft.com/office/drawing/2014/main" id="{1543D216-5704-485B-A2D8-BF0A8DCCB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0368" y="2889504"/>
            <a:ext cx="1700784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一个研究任务</a:t>
            </a:r>
          </a:p>
        </p:txBody>
      </p:sp>
      <p:sp>
        <p:nvSpPr>
          <p:cNvPr id="30" name="visual-13-9-TextBox 18">
            <a:extLst xmlns:a="http://schemas.openxmlformats.org/drawingml/2006/main">
              <a:ext uri="{FF2B5EF4-FFF2-40B4-BE49-F238E27FC236}">
                <a16:creationId xmlns:a16="http://schemas.microsoft.com/office/drawing/2014/main" id="{84CCF0B1-610A-4E2E-854E-13725320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2808" y="5248656"/>
            <a:ext cx="8375904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研究者声明边界；harness 执行边界；例外经人工确认并留下记录。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5F5E8BA-9BBC-4093-801F-195EEC388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默认拒绝与最小权限是 harness 的起点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D05E708-C2F9-46FD-B472-B28C0EFC0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visual-14-0-TextBox 4">
            <a:extLst xmlns:a="http://schemas.openxmlformats.org/drawingml/2006/main">
              <a:ext uri="{FF2B5EF4-FFF2-40B4-BE49-F238E27FC236}">
                <a16:creationId xmlns:a16="http://schemas.microsoft.com/office/drawing/2014/main" id="{DE3CFADB-E726-4074-A6AC-F1E89DF5B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45920"/>
            <a:ext cx="4626864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默认拒绝</a:t>
            </a:r>
          </a:p>
        </p:txBody>
      </p:sp>
      <p:sp>
        <p:nvSpPr>
          <p:cNvPr id="5" name="visual-14-1-TextBox 5">
            <a:extLst xmlns:a="http://schemas.openxmlformats.org/drawingml/2006/main">
              <a:ext uri="{FF2B5EF4-FFF2-40B4-BE49-F238E27FC236}">
                <a16:creationId xmlns:a16="http://schemas.microsoft.com/office/drawing/2014/main" id="{8F363A43-AD46-4AE4-B1EC-C57533087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77440"/>
            <a:ext cx="4626864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没有明确授权就不执行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尤其是网络、外部写入和不可逆动作</a:t>
            </a:r>
          </a:p>
        </p:txBody>
      </p:sp>
      <p:sp>
        <p:nvSpPr>
          <p:cNvPr id="6" name="visual-14-2-TextBox 7">
            <a:extLst xmlns:a="http://schemas.openxmlformats.org/drawingml/2006/main">
              <a:ext uri="{FF2B5EF4-FFF2-40B4-BE49-F238E27FC236}">
                <a16:creationId xmlns:a16="http://schemas.microsoft.com/office/drawing/2014/main" id="{A43480AC-42A9-4FF5-A76F-DE51FAC22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645920"/>
            <a:ext cx="4626864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最小权限</a:t>
            </a:r>
          </a:p>
        </p:txBody>
      </p:sp>
      <p:sp>
        <p:nvSpPr>
          <p:cNvPr id="7" name="visual-14-3-TextBox 8">
            <a:extLst xmlns:a="http://schemas.openxmlformats.org/drawingml/2006/main">
              <a:ext uri="{FF2B5EF4-FFF2-40B4-BE49-F238E27FC236}">
                <a16:creationId xmlns:a16="http://schemas.microsoft.com/office/drawing/2014/main" id="{7F2F1128-20CD-47A2-97E2-B2183C19E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2377440"/>
            <a:ext cx="4626864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只给完成当前任务所需范围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任务变化后重新评估</a:t>
            </a:r>
          </a:p>
        </p:txBody>
      </p:sp>
      <p:sp>
        <p:nvSpPr>
          <p:cNvPr id="8" name="visual-14-4-TextBox 9">
            <a:extLst xmlns:a="http://schemas.openxmlformats.org/drawingml/2006/main">
              <a:ext uri="{FF2B5EF4-FFF2-40B4-BE49-F238E27FC236}">
                <a16:creationId xmlns:a16="http://schemas.microsoft.com/office/drawing/2014/main" id="{7F9757C3-39F1-4037-B00E-765A1475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2768" y="5276088"/>
            <a:ext cx="9015984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长循环仍需持续检查；高风险动作需要多项条件同时成立。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E6FAE87-147C-473C-AB94-97E6FA371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权限矩阵只先写一行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A43A583-A64D-49D7-B214-D7BE5D27D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4" name="visual-15-0-TextBox 4">
            <a:extLst xmlns:a="http://schemas.openxmlformats.org/drawingml/2006/main">
              <a:ext uri="{FF2B5EF4-FFF2-40B4-BE49-F238E27FC236}">
                <a16:creationId xmlns:a16="http://schemas.microsoft.com/office/drawing/2014/main" id="{CD6AAC66-D1D3-40BD-BA12-00FEA420B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19" y="1463040"/>
            <a:ext cx="1911095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对象 / 能力</a:t>
            </a:r>
          </a:p>
        </p:txBody>
      </p:sp>
      <p:sp>
        <p:nvSpPr>
          <p:cNvPr id="5" name="visual-15-1-TextBox 6">
            <a:extLst xmlns:a="http://schemas.openxmlformats.org/drawingml/2006/main">
              <a:ext uri="{FF2B5EF4-FFF2-40B4-BE49-F238E27FC236}">
                <a16:creationId xmlns:a16="http://schemas.microsoft.com/office/drawing/2014/main" id="{6B1743C8-4948-418B-80BA-67EDD5167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1463040"/>
            <a:ext cx="1911095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只读</a:t>
            </a:r>
          </a:p>
        </p:txBody>
      </p:sp>
      <p:sp>
        <p:nvSpPr>
          <p:cNvPr id="6" name="visual-15-2-TextBox 8">
            <a:extLst xmlns:a="http://schemas.openxmlformats.org/drawingml/2006/main">
              <a:ext uri="{FF2B5EF4-FFF2-40B4-BE49-F238E27FC236}">
                <a16:creationId xmlns:a16="http://schemas.microsoft.com/office/drawing/2014/main" id="{1479A49D-5F01-43B0-8718-E50837A76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1463040"/>
            <a:ext cx="245973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可写 / 执行</a:t>
            </a:r>
          </a:p>
        </p:txBody>
      </p:sp>
      <p:sp>
        <p:nvSpPr>
          <p:cNvPr id="7" name="visual-15-3-TextBox 10">
            <a:extLst xmlns:a="http://schemas.openxmlformats.org/drawingml/2006/main">
              <a:ext uri="{FF2B5EF4-FFF2-40B4-BE49-F238E27FC236}">
                <a16:creationId xmlns:a16="http://schemas.microsoft.com/office/drawing/2014/main" id="{69FD057B-4F9D-48B5-ABD8-24AF6F89C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1463040"/>
            <a:ext cx="227685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人工确认点</a:t>
            </a:r>
          </a:p>
        </p:txBody>
      </p:sp>
      <p:sp>
        <p:nvSpPr>
          <p:cNvPr id="8" name="visual-15-4-TextBox 12">
            <a:extLst xmlns:a="http://schemas.openxmlformats.org/drawingml/2006/main">
              <a:ext uri="{FF2B5EF4-FFF2-40B4-BE49-F238E27FC236}">
                <a16:creationId xmlns:a16="http://schemas.microsoft.com/office/drawing/2014/main" id="{66E59AD4-2647-47A4-9D31-8B72714FA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1463040"/>
            <a:ext cx="1554480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禁止事项</a:t>
            </a:r>
          </a:p>
        </p:txBody>
      </p:sp>
      <p:sp>
        <p:nvSpPr>
          <p:cNvPr id="9" name="visual-15-5-TextBox 14">
            <a:extLst xmlns:a="http://schemas.openxmlformats.org/drawingml/2006/main">
              <a:ext uri="{FF2B5EF4-FFF2-40B4-BE49-F238E27FC236}">
                <a16:creationId xmlns:a16="http://schemas.microsoft.com/office/drawing/2014/main" id="{7E535DF6-174F-42ED-A44E-D2E496CAA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19" y="2121408"/>
            <a:ext cx="1911095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公开文献检索</a:t>
            </a:r>
          </a:p>
        </p:txBody>
      </p:sp>
      <p:sp>
        <p:nvSpPr>
          <p:cNvPr id="10" name="visual-15-6-TextBox 16">
            <a:extLst xmlns:a="http://schemas.openxmlformats.org/drawingml/2006/main">
              <a:ext uri="{FF2B5EF4-FFF2-40B4-BE49-F238E27FC236}">
                <a16:creationId xmlns:a16="http://schemas.microsoft.com/office/drawing/2014/main" id="{224BEE01-8689-43FC-9514-C69C96965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121408"/>
            <a:ext cx="1911095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批准来源与检索记录</a:t>
            </a:r>
          </a:p>
        </p:txBody>
      </p:sp>
      <p:sp>
        <p:nvSpPr>
          <p:cNvPr id="11" name="visual-15-7-TextBox 18">
            <a:extLst xmlns:a="http://schemas.openxmlformats.org/drawingml/2006/main">
              <a:ext uri="{FF2B5EF4-FFF2-40B4-BE49-F238E27FC236}">
                <a16:creationId xmlns:a16="http://schemas.microsoft.com/office/drawing/2014/main" id="{C0577636-4893-43FF-A4AB-DDF98280B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121408"/>
            <a:ext cx="245973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只写检索记录；不默认下载全文</a:t>
            </a:r>
          </a:p>
        </p:txBody>
      </p:sp>
      <p:sp>
        <p:nvSpPr>
          <p:cNvPr id="12" name="visual-15-8-TextBox 20">
            <a:extLst xmlns:a="http://schemas.openxmlformats.org/drawingml/2006/main">
              <a:ext uri="{FF2B5EF4-FFF2-40B4-BE49-F238E27FC236}">
                <a16:creationId xmlns:a16="http://schemas.microsoft.com/office/drawing/2014/main" id="{623C7C1D-36DE-4DDE-9525-CECECF603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2121408"/>
            <a:ext cx="227685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登录、下载、发送全文前</a:t>
            </a:r>
          </a:p>
        </p:txBody>
      </p:sp>
      <p:sp>
        <p:nvSpPr>
          <p:cNvPr id="13" name="visual-15-9-TextBox 22">
            <a:extLst xmlns:a="http://schemas.openxmlformats.org/drawingml/2006/main">
              <a:ext uri="{FF2B5EF4-FFF2-40B4-BE49-F238E27FC236}">
                <a16:creationId xmlns:a16="http://schemas.microsoft.com/office/drawing/2014/main" id="{EED5EF35-8183-4C46-B92F-54EA179C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2121408"/>
            <a:ext cx="1554480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不上传未授权材料</a:t>
            </a:r>
          </a:p>
        </p:txBody>
      </p:sp>
      <p:sp>
        <p:nvSpPr>
          <p:cNvPr id="14" name="visual-15-10-TextBox 23">
            <a:extLst xmlns:a="http://schemas.openxmlformats.org/drawingml/2006/main">
              <a:ext uri="{FF2B5EF4-FFF2-40B4-BE49-F238E27FC236}">
                <a16:creationId xmlns:a16="http://schemas.microsoft.com/office/drawing/2014/main" id="{B84CA4CA-BD00-457D-B93C-4EA526C72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7" y="5367528"/>
            <a:ext cx="9747504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长期矩阵与本次任务契约冲突时，执行更窄授权。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E135AE2-132D-42B4-B687-32943678B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过宽配置和最小配置的差异必须可见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2EEFFE3-4529-4558-83C9-C656A4462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4" name="visual-16-0-TextBox 4">
            <a:extLst xmlns:a="http://schemas.openxmlformats.org/drawingml/2006/main">
              <a:ext uri="{FF2B5EF4-FFF2-40B4-BE49-F238E27FC236}">
                <a16:creationId xmlns:a16="http://schemas.microsoft.com/office/drawing/2014/main" id="{5D20D5E1-164B-49D9-AEDC-30D613248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45920"/>
            <a:ext cx="4626864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过宽</a:t>
            </a:r>
          </a:p>
        </p:txBody>
      </p:sp>
      <p:sp>
        <p:nvSpPr>
          <p:cNvPr id="5" name="visual-16-1-TextBox 5">
            <a:extLst xmlns:a="http://schemas.openxmlformats.org/drawingml/2006/main">
              <a:ext uri="{FF2B5EF4-FFF2-40B4-BE49-F238E27FC236}">
                <a16:creationId xmlns:a16="http://schemas.microsoft.com/office/drawing/2014/main" id="{B5CD908B-DAF9-4FE5-A9B9-7197D3DC4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77440"/>
            <a:ext cx="4626864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读取整个主目录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任意写入与联网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完成后再汇报</a:t>
            </a:r>
          </a:p>
        </p:txBody>
      </p:sp>
      <p:sp>
        <p:nvSpPr>
          <p:cNvPr id="6" name="visual-16-2-TextBox 7">
            <a:extLst xmlns:a="http://schemas.openxmlformats.org/drawingml/2006/main">
              <a:ext uri="{FF2B5EF4-FFF2-40B4-BE49-F238E27FC236}">
                <a16:creationId xmlns:a16="http://schemas.microsoft.com/office/drawing/2014/main" id="{07F84EAF-67D9-4348-9D01-B740CB44C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645920"/>
            <a:ext cx="4626864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最小</a:t>
            </a:r>
          </a:p>
        </p:txBody>
      </p:sp>
      <p:sp>
        <p:nvSpPr>
          <p:cNvPr id="7" name="visual-16-3-TextBox 8">
            <a:extLst xmlns:a="http://schemas.openxmlformats.org/drawingml/2006/main">
              <a:ext uri="{FF2B5EF4-FFF2-40B4-BE49-F238E27FC236}">
                <a16:creationId xmlns:a16="http://schemas.microsoft.com/office/drawing/2014/main" id="{33B1192A-97F6-4511-9658-DA6D8C0DB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2377440"/>
            <a:ext cx="4626864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只读指定文件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写入一个目标文件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网络关闭；写前确认</a:t>
            </a:r>
          </a:p>
        </p:txBody>
      </p:sp>
      <p:sp>
        <p:nvSpPr>
          <p:cNvPr id="8" name="visual-16-4-TextBox 9">
            <a:extLst xmlns:a="http://schemas.openxmlformats.org/drawingml/2006/main">
              <a:ext uri="{FF2B5EF4-FFF2-40B4-BE49-F238E27FC236}">
                <a16:creationId xmlns:a16="http://schemas.microsoft.com/office/drawing/2014/main" id="{264FEC17-2F2D-4DAB-A0D8-C782AD324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2768" y="5276088"/>
            <a:ext cx="9015984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权限界面是实现；权限设计必须先有可审查的声明。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4F9BFF9-B912-441C-A773-D39922B2B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工件状态描述成熟度，不描述完成百分比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DF03B16-B9CD-42C0-AAB6-1D403B14C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4" name="visual-17-0-TextBox 4">
            <a:extLst xmlns:a="http://schemas.openxmlformats.org/drawingml/2006/main">
              <a:ext uri="{FF2B5EF4-FFF2-40B4-BE49-F238E27FC236}">
                <a16:creationId xmlns:a16="http://schemas.microsoft.com/office/drawing/2014/main" id="{6004D0FE-058F-47B0-8D87-15096DD66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1984248"/>
            <a:ext cx="2226564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draft</a:t>
            </a:r>
          </a:p>
        </p:txBody>
      </p:sp>
      <p:sp>
        <p:nvSpPr>
          <p:cNvPr id="5" name="visual-17-1-TextBox 5">
            <a:extLst xmlns:a="http://schemas.openxmlformats.org/drawingml/2006/main">
              <a:ext uri="{FF2B5EF4-FFF2-40B4-BE49-F238E27FC236}">
                <a16:creationId xmlns:a16="http://schemas.microsoft.com/office/drawing/2014/main" id="{4B7D2E48-E22E-4B17-9920-1D74CAA7A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596896"/>
            <a:ext cx="2226564" cy="786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候选来源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仍有空白</a:t>
            </a:r>
          </a:p>
        </p:txBody>
      </p:sp>
      <p:sp>
        <p:nvSpPr>
          <p:cNvPr id="6" name="visual-17-2-TextBox 8">
            <a:extLst xmlns:a="http://schemas.openxmlformats.org/drawingml/2006/main">
              <a:ext uri="{FF2B5EF4-FFF2-40B4-BE49-F238E27FC236}">
                <a16:creationId xmlns:a16="http://schemas.microsoft.com/office/drawing/2014/main" id="{DE8FD2E6-AD84-4F22-99E1-88A201BC3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9876" y="1984248"/>
            <a:ext cx="2226564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review</a:t>
            </a:r>
          </a:p>
        </p:txBody>
      </p:sp>
      <p:sp>
        <p:nvSpPr>
          <p:cNvPr id="7" name="visual-17-3-TextBox 9">
            <a:extLst xmlns:a="http://schemas.openxmlformats.org/drawingml/2006/main">
              <a:ext uri="{FF2B5EF4-FFF2-40B4-BE49-F238E27FC236}">
                <a16:creationId xmlns:a16="http://schemas.microsoft.com/office/drawing/2014/main" id="{0DAA9381-FE94-440A-9094-21DA36A06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9876" y="2596896"/>
            <a:ext cx="2226564" cy="786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已定位原文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等待检查</a:t>
            </a:r>
          </a:p>
        </p:txBody>
      </p:sp>
      <p:sp>
        <p:nvSpPr>
          <p:cNvPr id="8" name="visual-17-4-TextBox 12">
            <a:extLst xmlns:a="http://schemas.openxmlformats.org/drawingml/2006/main">
              <a:ext uri="{FF2B5EF4-FFF2-40B4-BE49-F238E27FC236}">
                <a16:creationId xmlns:a16="http://schemas.microsoft.com/office/drawing/2014/main" id="{F3CF087A-C1AE-4BD2-94A4-1165EF71F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984248"/>
            <a:ext cx="2226564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approved</a:t>
            </a:r>
          </a:p>
        </p:txBody>
      </p:sp>
      <p:sp>
        <p:nvSpPr>
          <p:cNvPr id="9" name="visual-17-5-TextBox 13">
            <a:extLst xmlns:a="http://schemas.openxmlformats.org/drawingml/2006/main">
              <a:ext uri="{FF2B5EF4-FFF2-40B4-BE49-F238E27FC236}">
                <a16:creationId xmlns:a16="http://schemas.microsoft.com/office/drawing/2014/main" id="{3E5FC772-9673-454A-93F1-A5533774A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596896"/>
            <a:ext cx="2226564" cy="786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通过人工/研究门</a:t>
            </a:r>
          </a:p>
        </p:txBody>
      </p:sp>
      <p:sp>
        <p:nvSpPr>
          <p:cNvPr id="10" name="visual-17-6-TextBox 16">
            <a:extLst xmlns:a="http://schemas.openxmlformats.org/drawingml/2006/main">
              <a:ext uri="{FF2B5EF4-FFF2-40B4-BE49-F238E27FC236}">
                <a16:creationId xmlns:a16="http://schemas.microsoft.com/office/drawing/2014/main" id="{A9DBBFB0-1716-44B4-A065-B02AE331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0284" y="1984248"/>
            <a:ext cx="2226564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stable</a:t>
            </a:r>
          </a:p>
        </p:txBody>
      </p:sp>
      <p:sp>
        <p:nvSpPr>
          <p:cNvPr id="11" name="visual-17-7-TextBox 17">
            <a:extLst xmlns:a="http://schemas.openxmlformats.org/drawingml/2006/main">
              <a:ext uri="{FF2B5EF4-FFF2-40B4-BE49-F238E27FC236}">
                <a16:creationId xmlns:a16="http://schemas.microsoft.com/office/drawing/2014/main" id="{DD2CBE94-ADC1-4A48-B1F5-D46F0EA2F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0284" y="2596896"/>
            <a:ext cx="2226564" cy="786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证据与边界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可稳定引用</a:t>
            </a:r>
          </a:p>
        </p:txBody>
      </p:sp>
      <p:sp>
        <p:nvSpPr>
          <p:cNvPr id="12" name="visual-17-8-TextBox 19">
            <a:extLst xmlns:a="http://schemas.openxmlformats.org/drawingml/2006/main">
              <a:ext uri="{FF2B5EF4-FFF2-40B4-BE49-F238E27FC236}">
                <a16:creationId xmlns:a16="http://schemas.microsoft.com/office/drawing/2014/main" id="{F8B9D8F7-91A9-41B4-9E35-8FE07C41B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7287" y="4480560"/>
            <a:ext cx="5266944" cy="347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新证据或边界变化 → 回退并补依据</a:t>
            </a:r>
          </a:p>
        </p:txBody>
      </p:sp>
      <p:sp>
        <p:nvSpPr>
          <p:cNvPr id="13" name="visual-17-9-TextBox 20">
            <a:extLst xmlns:a="http://schemas.openxmlformats.org/drawingml/2006/main">
              <a:ext uri="{FF2B5EF4-FFF2-40B4-BE49-F238E27FC236}">
                <a16:creationId xmlns:a16="http://schemas.microsoft.com/office/drawing/2014/main" id="{859E7EC7-AFB9-4054-A160-B59E11EF7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5248656"/>
            <a:ext cx="8833104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状态描述成熟度，不描述完成百分比；任何状态都可以回退。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FC977D1-51D8-41B4-93B1-A6C566231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一个工件如何改变状态：必须记录依据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AA53A1A-0560-4BF3-97C7-E53BCBD8B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4" name="visual-18-0-TextBox 4">
            <a:extLst xmlns:a="http://schemas.openxmlformats.org/drawingml/2006/main">
              <a:ext uri="{FF2B5EF4-FFF2-40B4-BE49-F238E27FC236}">
                <a16:creationId xmlns:a16="http://schemas.microsoft.com/office/drawing/2014/main" id="{2C886567-3F59-4D85-8186-D6277ABFA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19" y="1463040"/>
            <a:ext cx="131673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状态</a:t>
            </a:r>
          </a:p>
        </p:txBody>
      </p:sp>
      <p:sp>
        <p:nvSpPr>
          <p:cNvPr id="5" name="visual-18-1-TextBox 6">
            <a:extLst xmlns:a="http://schemas.openxmlformats.org/drawingml/2006/main">
              <a:ext uri="{FF2B5EF4-FFF2-40B4-BE49-F238E27FC236}">
                <a16:creationId xmlns:a16="http://schemas.microsoft.com/office/drawing/2014/main" id="{86B17538-6793-4203-A2C8-2BF6B237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1463040"/>
            <a:ext cx="282549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新增或修复</a:t>
            </a:r>
          </a:p>
        </p:txBody>
      </p:sp>
      <p:sp>
        <p:nvSpPr>
          <p:cNvPr id="6" name="visual-18-2-TextBox 8">
            <a:extLst xmlns:a="http://schemas.openxmlformats.org/drawingml/2006/main">
              <a:ext uri="{FF2B5EF4-FFF2-40B4-BE49-F238E27FC236}">
                <a16:creationId xmlns:a16="http://schemas.microsoft.com/office/drawing/2014/main" id="{CF40FDD0-823A-4B0D-A2AA-F1D0DC058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1463040"/>
            <a:ext cx="2871215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复核依据</a:t>
            </a:r>
          </a:p>
        </p:txBody>
      </p:sp>
      <p:sp>
        <p:nvSpPr>
          <p:cNvPr id="7" name="visual-18-3-TextBox 10">
            <a:extLst xmlns:a="http://schemas.openxmlformats.org/drawingml/2006/main">
              <a:ext uri="{FF2B5EF4-FFF2-40B4-BE49-F238E27FC236}">
                <a16:creationId xmlns:a16="http://schemas.microsoft.com/office/drawing/2014/main" id="{EAD83A40-4C51-4B81-8BD2-6C22F9586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463040"/>
            <a:ext cx="3246120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下游用途</a:t>
            </a:r>
          </a:p>
        </p:txBody>
      </p:sp>
      <p:sp>
        <p:nvSpPr>
          <p:cNvPr id="8" name="visual-18-4-TextBox 12">
            <a:extLst xmlns:a="http://schemas.openxmlformats.org/drawingml/2006/main">
              <a:ext uri="{FF2B5EF4-FFF2-40B4-BE49-F238E27FC236}">
                <a16:creationId xmlns:a16="http://schemas.microsoft.com/office/drawing/2014/main" id="{9B5E690B-50F8-49A5-A33F-115ACF694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19" y="2121408"/>
            <a:ext cx="131673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draft</a:t>
            </a:r>
          </a:p>
        </p:txBody>
      </p:sp>
      <p:sp>
        <p:nvSpPr>
          <p:cNvPr id="9" name="visual-18-5-TextBox 14">
            <a:extLst xmlns:a="http://schemas.openxmlformats.org/drawingml/2006/main">
              <a:ext uri="{FF2B5EF4-FFF2-40B4-BE49-F238E27FC236}">
                <a16:creationId xmlns:a16="http://schemas.microsoft.com/office/drawing/2014/main" id="{B37489D8-FCB7-4976-B246-EE0ABB8B8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2121408"/>
            <a:ext cx="282549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候选来源与空白</a:t>
            </a:r>
          </a:p>
        </p:txBody>
      </p:sp>
      <p:sp>
        <p:nvSpPr>
          <p:cNvPr id="10" name="visual-18-6-TextBox 16">
            <a:extLst xmlns:a="http://schemas.openxmlformats.org/drawingml/2006/main">
              <a:ext uri="{FF2B5EF4-FFF2-40B4-BE49-F238E27FC236}">
                <a16:creationId xmlns:a16="http://schemas.microsoft.com/office/drawing/2014/main" id="{5E2B6448-CF39-4AFA-9AE5-548E74DB0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2121408"/>
            <a:ext cx="2871215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尚未逐条核验</a:t>
            </a:r>
          </a:p>
        </p:txBody>
      </p:sp>
      <p:sp>
        <p:nvSpPr>
          <p:cNvPr id="11" name="visual-18-7-TextBox 18">
            <a:extLst xmlns:a="http://schemas.openxmlformats.org/drawingml/2006/main">
              <a:ext uri="{FF2B5EF4-FFF2-40B4-BE49-F238E27FC236}">
                <a16:creationId xmlns:a16="http://schemas.microsoft.com/office/drawing/2014/main" id="{BABC3A21-9140-4308-8CA8-F63E508B6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2121408"/>
            <a:ext cx="3246120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检索计划</a:t>
            </a:r>
          </a:p>
        </p:txBody>
      </p:sp>
      <p:sp>
        <p:nvSpPr>
          <p:cNvPr id="12" name="visual-18-8-TextBox 20">
            <a:extLst xmlns:a="http://schemas.openxmlformats.org/drawingml/2006/main">
              <a:ext uri="{FF2B5EF4-FFF2-40B4-BE49-F238E27FC236}">
                <a16:creationId xmlns:a16="http://schemas.microsoft.com/office/drawing/2014/main" id="{4E19F49F-D14F-48E8-A1DC-587E63B1F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19" y="2779775"/>
            <a:ext cx="131673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review</a:t>
            </a:r>
          </a:p>
        </p:txBody>
      </p:sp>
      <p:sp>
        <p:nvSpPr>
          <p:cNvPr id="13" name="visual-18-9-TextBox 22">
            <a:extLst xmlns:a="http://schemas.openxmlformats.org/drawingml/2006/main">
              <a:ext uri="{FF2B5EF4-FFF2-40B4-BE49-F238E27FC236}">
                <a16:creationId xmlns:a16="http://schemas.microsoft.com/office/drawing/2014/main" id="{8463F3DD-943A-4F7E-A3D4-E5B89A97E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2779775"/>
            <a:ext cx="282549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定位原文并标冲突</a:t>
            </a:r>
          </a:p>
        </p:txBody>
      </p:sp>
      <p:sp>
        <p:nvSpPr>
          <p:cNvPr id="14" name="visual-18-10-TextBox 24">
            <a:extLst xmlns:a="http://schemas.openxmlformats.org/drawingml/2006/main">
              <a:ext uri="{FF2B5EF4-FFF2-40B4-BE49-F238E27FC236}">
                <a16:creationId xmlns:a16="http://schemas.microsoft.com/office/drawing/2014/main" id="{485C1715-4CC4-4A0D-87B2-7E23107CA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2779775"/>
            <a:ext cx="2871215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本人/同伴检查</a:t>
            </a:r>
          </a:p>
        </p:txBody>
      </p:sp>
      <p:sp>
        <p:nvSpPr>
          <p:cNvPr id="15" name="visual-18-11-TextBox 26">
            <a:extLst xmlns:a="http://schemas.openxmlformats.org/drawingml/2006/main">
              <a:ext uri="{FF2B5EF4-FFF2-40B4-BE49-F238E27FC236}">
                <a16:creationId xmlns:a16="http://schemas.microsoft.com/office/drawing/2014/main" id="{7D34A61B-B2B9-433F-8346-EAABA0F19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2779775"/>
            <a:ext cx="3246120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问题定义</a:t>
            </a:r>
          </a:p>
        </p:txBody>
      </p:sp>
      <p:sp>
        <p:nvSpPr>
          <p:cNvPr id="16" name="visual-18-12-TextBox 28">
            <a:extLst xmlns:a="http://schemas.openxmlformats.org/drawingml/2006/main">
              <a:ext uri="{FF2B5EF4-FFF2-40B4-BE49-F238E27FC236}">
                <a16:creationId xmlns:a16="http://schemas.microsoft.com/office/drawing/2014/main" id="{9B304880-B482-4B2E-ACE2-EC86F4AD1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19" y="3438144"/>
            <a:ext cx="131673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approved</a:t>
            </a:r>
          </a:p>
        </p:txBody>
      </p:sp>
      <p:sp>
        <p:nvSpPr>
          <p:cNvPr id="17" name="visual-18-13-TextBox 30">
            <a:extLst xmlns:a="http://schemas.openxmlformats.org/drawingml/2006/main">
              <a:ext uri="{FF2B5EF4-FFF2-40B4-BE49-F238E27FC236}">
                <a16:creationId xmlns:a16="http://schemas.microsoft.com/office/drawing/2014/main" id="{6649135B-9B8A-477D-A954-9381CBF6B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3438144"/>
            <a:ext cx="282549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通过问题门</a:t>
            </a:r>
          </a:p>
        </p:txBody>
      </p:sp>
      <p:sp>
        <p:nvSpPr>
          <p:cNvPr id="18" name="visual-18-14-TextBox 32">
            <a:extLst xmlns:a="http://schemas.openxmlformats.org/drawingml/2006/main">
              <a:ext uri="{FF2B5EF4-FFF2-40B4-BE49-F238E27FC236}">
                <a16:creationId xmlns:a16="http://schemas.microsoft.com/office/drawing/2014/main" id="{92570194-533C-486D-99F9-7FD7AB3E4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3438144"/>
            <a:ext cx="2871215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门条件与修改记录</a:t>
            </a:r>
          </a:p>
        </p:txBody>
      </p:sp>
      <p:sp>
        <p:nvSpPr>
          <p:cNvPr id="19" name="visual-18-15-TextBox 34">
            <a:extLst xmlns:a="http://schemas.openxmlformats.org/drawingml/2006/main">
              <a:ext uri="{FF2B5EF4-FFF2-40B4-BE49-F238E27FC236}">
                <a16:creationId xmlns:a16="http://schemas.microsoft.com/office/drawing/2014/main" id="{BD873579-2FAB-46E4-B1AA-FDE6E6362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3438144"/>
            <a:ext cx="3246120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实验设计</a:t>
            </a:r>
          </a:p>
        </p:txBody>
      </p:sp>
      <p:sp>
        <p:nvSpPr>
          <p:cNvPr id="20" name="visual-18-16-TextBox 36">
            <a:extLst xmlns:a="http://schemas.openxmlformats.org/drawingml/2006/main">
              <a:ext uri="{FF2B5EF4-FFF2-40B4-BE49-F238E27FC236}">
                <a16:creationId xmlns:a16="http://schemas.microsoft.com/office/drawing/2014/main" id="{840A2CC6-E267-4D05-94E8-D93397059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19" y="4096512"/>
            <a:ext cx="131673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stable</a:t>
            </a:r>
          </a:p>
        </p:txBody>
      </p:sp>
      <p:sp>
        <p:nvSpPr>
          <p:cNvPr id="21" name="visual-18-17-TextBox 38">
            <a:extLst xmlns:a="http://schemas.openxmlformats.org/drawingml/2006/main">
              <a:ext uri="{FF2B5EF4-FFF2-40B4-BE49-F238E27FC236}">
                <a16:creationId xmlns:a16="http://schemas.microsoft.com/office/drawing/2014/main" id="{0D1CBFD2-A6A5-431D-BE2C-C3BD3C07E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4096512"/>
            <a:ext cx="282549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独立证据与边界足够</a:t>
            </a:r>
          </a:p>
        </p:txBody>
      </p:sp>
      <p:sp>
        <p:nvSpPr>
          <p:cNvPr id="22" name="visual-18-18-TextBox 40">
            <a:extLst xmlns:a="http://schemas.openxmlformats.org/drawingml/2006/main">
              <a:ext uri="{FF2B5EF4-FFF2-40B4-BE49-F238E27FC236}">
                <a16:creationId xmlns:a16="http://schemas.microsoft.com/office/drawing/2014/main" id="{3CD9330A-F783-4CDE-8C0A-817C4E011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4096512"/>
            <a:ext cx="2871215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可追溯核验</a:t>
            </a:r>
          </a:p>
        </p:txBody>
      </p:sp>
      <p:sp>
        <p:nvSpPr>
          <p:cNvPr id="23" name="visual-18-19-TextBox 42">
            <a:extLst xmlns:a="http://schemas.openxmlformats.org/drawingml/2006/main">
              <a:ext uri="{FF2B5EF4-FFF2-40B4-BE49-F238E27FC236}">
                <a16:creationId xmlns:a16="http://schemas.microsoft.com/office/drawing/2014/main" id="{67FC005E-5B3B-4102-B58C-595307469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4096512"/>
            <a:ext cx="3246120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最终论证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C30D8B8-7429-4C4E-8F5A-AC2077821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有用的 AI 使用记录能还原判断，而非证明“写过日志”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8F966E6-47C5-4EA3-932C-061BE4A4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4" name="visual-19-0-TextBox 5">
            <a:extLst xmlns:a="http://schemas.openxmlformats.org/drawingml/2006/main">
              <a:ext uri="{FF2B5EF4-FFF2-40B4-BE49-F238E27FC236}">
                <a16:creationId xmlns:a16="http://schemas.microsoft.com/office/drawing/2014/main" id="{834130EE-483E-47D3-BD0D-3C2C35094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5" name="visual-19-1-TextBox 6">
            <a:extLst xmlns:a="http://schemas.openxmlformats.org/drawingml/2006/main">
              <a:ext uri="{FF2B5EF4-FFF2-40B4-BE49-F238E27FC236}">
                <a16:creationId xmlns:a16="http://schemas.microsoft.com/office/drawing/2014/main" id="{61755558-D5C6-4DC5-8E3A-334281D38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9" y="2807208"/>
            <a:ext cx="1678838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参与环节</a:t>
            </a:r>
          </a:p>
        </p:txBody>
      </p:sp>
      <p:sp>
        <p:nvSpPr>
          <p:cNvPr id="6" name="visual-19-2-TextBox 7">
            <a:extLst xmlns:a="http://schemas.openxmlformats.org/drawingml/2006/main">
              <a:ext uri="{FF2B5EF4-FFF2-40B4-BE49-F238E27FC236}">
                <a16:creationId xmlns:a16="http://schemas.microsoft.com/office/drawing/2014/main" id="{B36ACE28-2A26-424B-82E4-CF6EEA566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9" y="3355848"/>
            <a:ext cx="1678838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在哪一步</a:t>
            </a:r>
          </a:p>
        </p:txBody>
      </p:sp>
      <p:sp>
        <p:nvSpPr>
          <p:cNvPr id="7" name="visual-19-3-TextBox 11">
            <a:extLst xmlns:a="http://schemas.openxmlformats.org/drawingml/2006/main">
              <a:ext uri="{FF2B5EF4-FFF2-40B4-BE49-F238E27FC236}">
                <a16:creationId xmlns:a16="http://schemas.microsoft.com/office/drawing/2014/main" id="{9971F886-20C5-451D-B1BC-4A7416BE0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3862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8" name="visual-19-4-TextBox 12">
            <a:extLst xmlns:a="http://schemas.openxmlformats.org/drawingml/2006/main">
              <a:ext uri="{FF2B5EF4-FFF2-40B4-BE49-F238E27FC236}">
                <a16:creationId xmlns:a16="http://schemas.microsoft.com/office/drawing/2014/main" id="{F49F7B03-654B-468D-B543-8638E3312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2150" y="2807208"/>
            <a:ext cx="1678838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Context</a:t>
            </a:r>
          </a:p>
        </p:txBody>
      </p:sp>
      <p:sp>
        <p:nvSpPr>
          <p:cNvPr id="9" name="visual-19-5-TextBox 13">
            <a:extLst xmlns:a="http://schemas.openxmlformats.org/drawingml/2006/main">
              <a:ext uri="{FF2B5EF4-FFF2-40B4-BE49-F238E27FC236}">
                <a16:creationId xmlns:a16="http://schemas.microsoft.com/office/drawing/2014/main" id="{95603193-039F-45E9-876F-0233DA7F1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2150" y="3355848"/>
            <a:ext cx="1678838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看到了什么</a:t>
            </a:r>
          </a:p>
        </p:txBody>
      </p:sp>
      <p:sp>
        <p:nvSpPr>
          <p:cNvPr id="10" name="visual-19-6-TextBox 17">
            <a:extLst xmlns:a="http://schemas.openxmlformats.org/drawingml/2006/main">
              <a:ext uri="{FF2B5EF4-FFF2-40B4-BE49-F238E27FC236}">
                <a16:creationId xmlns:a16="http://schemas.microsoft.com/office/drawing/2014/main" id="{3C6A2E0D-265E-415E-BFA0-5D7E41F59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3052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1" name="visual-19-7-TextBox 18">
            <a:extLst xmlns:a="http://schemas.openxmlformats.org/drawingml/2006/main">
              <a:ext uri="{FF2B5EF4-FFF2-40B4-BE49-F238E27FC236}">
                <a16:creationId xmlns:a16="http://schemas.microsoft.com/office/drawing/2014/main" id="{6371DA42-85B4-47DA-96AB-A886CAA2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1340" y="2807208"/>
            <a:ext cx="1678838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输出</a:t>
            </a:r>
          </a:p>
        </p:txBody>
      </p:sp>
      <p:sp>
        <p:nvSpPr>
          <p:cNvPr id="12" name="visual-19-8-TextBox 19">
            <a:extLst xmlns:a="http://schemas.openxmlformats.org/drawingml/2006/main">
              <a:ext uri="{FF2B5EF4-FFF2-40B4-BE49-F238E27FC236}">
                <a16:creationId xmlns:a16="http://schemas.microsoft.com/office/drawing/2014/main" id="{6B00A175-97E0-42F6-B217-B16FEE116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1340" y="3355848"/>
            <a:ext cx="1678838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提出或修改什么</a:t>
            </a:r>
          </a:p>
        </p:txBody>
      </p:sp>
      <p:sp>
        <p:nvSpPr>
          <p:cNvPr id="13" name="visual-19-9-TextBox 23">
            <a:extLst xmlns:a="http://schemas.openxmlformats.org/drawingml/2006/main">
              <a:ext uri="{FF2B5EF4-FFF2-40B4-BE49-F238E27FC236}">
                <a16:creationId xmlns:a16="http://schemas.microsoft.com/office/drawing/2014/main" id="{778D2249-0915-4BCB-9041-932A43A53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2243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4" name="visual-19-10-TextBox 24">
            <a:extLst xmlns:a="http://schemas.openxmlformats.org/drawingml/2006/main">
              <a:ext uri="{FF2B5EF4-FFF2-40B4-BE49-F238E27FC236}">
                <a16:creationId xmlns:a16="http://schemas.microsoft.com/office/drawing/2014/main" id="{B8CB3525-8D1A-4E56-B099-3F2846AC3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0531" y="2807208"/>
            <a:ext cx="1678838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决定</a:t>
            </a:r>
          </a:p>
        </p:txBody>
      </p:sp>
      <p:sp>
        <p:nvSpPr>
          <p:cNvPr id="15" name="visual-19-11-TextBox 25">
            <a:extLst xmlns:a="http://schemas.openxmlformats.org/drawingml/2006/main">
              <a:ext uri="{FF2B5EF4-FFF2-40B4-BE49-F238E27FC236}">
                <a16:creationId xmlns:a16="http://schemas.microsoft.com/office/drawing/2014/main" id="{2AAA697D-6CF9-405B-BC5D-D80711FD0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0531" y="3355848"/>
            <a:ext cx="1678838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为何采纳/拒绝</a:t>
            </a:r>
          </a:p>
        </p:txBody>
      </p:sp>
      <p:sp>
        <p:nvSpPr>
          <p:cNvPr id="16" name="visual-19-12-TextBox 29">
            <a:extLst xmlns:a="http://schemas.openxmlformats.org/drawingml/2006/main">
              <a:ext uri="{FF2B5EF4-FFF2-40B4-BE49-F238E27FC236}">
                <a16:creationId xmlns:a16="http://schemas.microsoft.com/office/drawing/2014/main" id="{BB5AB1BC-CED8-496F-A929-3068B7123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1433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7" name="visual-19-13-TextBox 30">
            <a:extLst xmlns:a="http://schemas.openxmlformats.org/drawingml/2006/main">
              <a:ext uri="{FF2B5EF4-FFF2-40B4-BE49-F238E27FC236}">
                <a16:creationId xmlns:a16="http://schemas.microsoft.com/office/drawing/2014/main" id="{92C60EB2-18C3-4579-98D9-36792E1D4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9721" y="2807208"/>
            <a:ext cx="1678838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核验</a:t>
            </a:r>
          </a:p>
        </p:txBody>
      </p:sp>
      <p:sp>
        <p:nvSpPr>
          <p:cNvPr id="18" name="visual-19-14-TextBox 31">
            <a:extLst xmlns:a="http://schemas.openxmlformats.org/drawingml/2006/main">
              <a:ext uri="{FF2B5EF4-FFF2-40B4-BE49-F238E27FC236}">
                <a16:creationId xmlns:a16="http://schemas.microsoft.com/office/drawing/2014/main" id="{4007A42E-A199-4D1F-95A2-AA364E7A2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9721" y="3355848"/>
            <a:ext cx="1678838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实际如何检查</a:t>
            </a:r>
          </a:p>
        </p:txBody>
      </p:sp>
      <p:sp>
        <p:nvSpPr>
          <p:cNvPr id="19" name="visual-19-15-TextBox 32">
            <a:extLst xmlns:a="http://schemas.openxmlformats.org/drawingml/2006/main">
              <a:ext uri="{FF2B5EF4-FFF2-40B4-BE49-F238E27FC236}">
                <a16:creationId xmlns:a16="http://schemas.microsoft.com/office/drawing/2014/main" id="{FD6BAA44-72FF-485E-8A02-54DE90EAC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888" y="4818888"/>
            <a:ext cx="9381744" cy="59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只写“已人工核验”没有信息；必须写核验对象和方法。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5B2E28D-C8C4-42AF-AF05-1C2267D90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教师演示：同一任务，只增加边界与披露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E1BAA43-43AE-4EF7-B981-4E341082C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4" name="visual-20-0-case-label">
            <a:extLst xmlns:a="http://schemas.openxmlformats.org/drawingml/2006/main">
              <a:ext uri="{FF2B5EF4-FFF2-40B4-BE49-F238E27FC236}">
                <a16:creationId xmlns:a16="http://schemas.microsoft.com/office/drawing/2014/main" id="{480AF00E-8ED3-45CF-ABFF-419F4020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763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虚构未公开合作稿｜不发送原稿</a:t>
            </a:r>
          </a:p>
        </p:txBody>
      </p:sp>
      <p:sp>
        <p:nvSpPr>
          <p:cNvPr id="5" name="visual-20-1-step-0">
            <a:extLst xmlns:a="http://schemas.openxmlformats.org/drawingml/2006/main">
              <a:ext uri="{FF2B5EF4-FFF2-40B4-BE49-F238E27FC236}">
                <a16:creationId xmlns:a16="http://schemas.microsoft.com/office/drawing/2014/main" id="{E4A3462C-F760-4B94-BF6E-89ED26C40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2571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01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未公开原稿不外发</a:t>
            </a:r>
          </a:p>
        </p:txBody>
      </p:sp>
      <p:sp>
        <p:nvSpPr>
          <p:cNvPr id="6" name="visual-20-2-arrow-0">
            <a:extLst xmlns:a="http://schemas.openxmlformats.org/drawingml/2006/main">
              <a:ext uri="{FF2B5EF4-FFF2-40B4-BE49-F238E27FC236}">
                <a16:creationId xmlns:a16="http://schemas.microsoft.com/office/drawing/2014/main" id="{794DBBA0-A171-4619-817A-4DA69FCD9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238375"/>
            <a:ext cx="323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7" name="visual-20-3-step-1">
            <a:extLst xmlns:a="http://schemas.openxmlformats.org/drawingml/2006/main">
              <a:ext uri="{FF2B5EF4-FFF2-40B4-BE49-F238E27FC236}">
                <a16:creationId xmlns:a16="http://schemas.microsoft.com/office/drawing/2014/main" id="{3FD931CD-B672-44CE-8C08-6360F9B8D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714500"/>
            <a:ext cx="2571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02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选可授权替代输入</a:t>
            </a:r>
          </a:p>
        </p:txBody>
      </p:sp>
      <p:sp>
        <p:nvSpPr>
          <p:cNvPr id="8" name="visual-20-4-arrow-1">
            <a:extLst xmlns:a="http://schemas.openxmlformats.org/drawingml/2006/main">
              <a:ext uri="{FF2B5EF4-FFF2-40B4-BE49-F238E27FC236}">
                <a16:creationId xmlns:a16="http://schemas.microsoft.com/office/drawing/2014/main" id="{9AF7A380-52AE-4A5C-BED3-6B44CFBFD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238375"/>
            <a:ext cx="323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9" name="visual-20-5-step-2">
            <a:extLst xmlns:a="http://schemas.openxmlformats.org/drawingml/2006/main">
              <a:ext uri="{FF2B5EF4-FFF2-40B4-BE49-F238E27FC236}">
                <a16:creationId xmlns:a16="http://schemas.microsoft.com/office/drawing/2014/main" id="{204D8639-098E-4715-8281-591280C6E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14500"/>
            <a:ext cx="2571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03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写权限一行</a:t>
            </a:r>
          </a:p>
        </p:txBody>
      </p:sp>
      <p:sp>
        <p:nvSpPr>
          <p:cNvPr id="10" name="visual-20-6-arrow-2">
            <a:extLst xmlns:a="http://schemas.openxmlformats.org/drawingml/2006/main">
              <a:ext uri="{FF2B5EF4-FFF2-40B4-BE49-F238E27FC236}">
                <a16:creationId xmlns:a16="http://schemas.microsoft.com/office/drawing/2014/main" id="{F5FD2D2B-5EDA-4901-AFCE-907654651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238375"/>
            <a:ext cx="323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1" name="visual-20-7-step-3">
            <a:extLst xmlns:a="http://schemas.openxmlformats.org/drawingml/2006/main">
              <a:ext uri="{FF2B5EF4-FFF2-40B4-BE49-F238E27FC236}">
                <a16:creationId xmlns:a16="http://schemas.microsoft.com/office/drawing/2014/main" id="{83CE349C-9378-4EB8-8BE7-A2CF44257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714500"/>
            <a:ext cx="2571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04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留使用记录</a:t>
            </a:r>
          </a:p>
        </p:txBody>
      </p:sp>
      <p:sp>
        <p:nvSpPr>
          <p:cNvPr id="12" name="visual-20-8-action">
            <a:extLst xmlns:a="http://schemas.openxmlformats.org/drawingml/2006/main">
              <a:ext uri="{FF2B5EF4-FFF2-40B4-BE49-F238E27FC236}">
                <a16:creationId xmlns:a16="http://schemas.microsoft.com/office/drawing/2014/main" id="{6B5F4481-083D-4A6D-AAE9-679F87B53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000500"/>
            <a:ext cx="9239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学生预测：哪一步必须暂停确认？</a:t>
            </a:r>
          </a:p>
        </p:txBody>
      </p:sp>
      <p:sp>
        <p:nvSpPr>
          <p:cNvPr id="13" name="visual-20-9-source">
            <a:extLst xmlns:a="http://schemas.openxmlformats.org/drawingml/2006/main">
              <a:ext uri="{FF2B5EF4-FFF2-40B4-BE49-F238E27FC236}">
                <a16:creationId xmlns:a16="http://schemas.microsoft.com/office/drawing/2014/main" id="{25A817CB-AE97-4ED1-AE68-98D4C586E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095875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来源：第 2 课讲义 §四–§七｜课堂只写风险卡、权限一行与使用记录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8F08AEB-1BE9-4D5A-A751-C2EF03D7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先做只读边界审查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E98EDD1-BECC-45BA-BBE8-B91E866E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4" name="visual-21-0-TextBox 4">
            <a:extLst xmlns:a="http://schemas.openxmlformats.org/drawingml/2006/main">
              <a:ext uri="{FF2B5EF4-FFF2-40B4-BE49-F238E27FC236}">
                <a16:creationId xmlns:a16="http://schemas.microsoft.com/office/drawing/2014/main" id="{1B83F4F4-6C7B-4F48-9726-459E51490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19" y="1600200"/>
            <a:ext cx="6144768" cy="3520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READ  agent-permissions.md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TASK  找出一处过宽或缺失权限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WRITE none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NETWORK off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RETURN 建议 + 风险 + 最小替代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STOP  等待人工确认</a:t>
            </a:r>
          </a:p>
        </p:txBody>
      </p:sp>
      <p:sp>
        <p:nvSpPr>
          <p:cNvPr id="5" name="visual-21-1-TextBox 6">
            <a:extLst xmlns:a="http://schemas.openxmlformats.org/drawingml/2006/main">
              <a:ext uri="{FF2B5EF4-FFF2-40B4-BE49-F238E27FC236}">
                <a16:creationId xmlns:a16="http://schemas.microsoft.com/office/drawing/2014/main" id="{10456584-F4B5-4952-8965-52E3E909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984248"/>
            <a:ext cx="2825496" cy="5303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只读审查</a:t>
            </a:r>
          </a:p>
        </p:txBody>
      </p:sp>
      <p:sp>
        <p:nvSpPr>
          <p:cNvPr id="6" name="visual-21-2-TextBox 7">
            <a:extLst xmlns:a="http://schemas.openxmlformats.org/drawingml/2006/main">
              <a:ext uri="{FF2B5EF4-FFF2-40B4-BE49-F238E27FC236}">
                <a16:creationId xmlns:a16="http://schemas.microsoft.com/office/drawing/2014/main" id="{482597AD-92E4-4F86-A773-DD4B02AC4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688336"/>
            <a:ext cx="2825496" cy="192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审查的是声明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不是自动批准变更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建议仍需人工判断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2228E25-7538-4594-AF6E-5B083F7F8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批准后只写三件课堂工件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7A1FDF6-1E90-49F2-A286-AED9C1476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4" name="visual-22-0-TextBox 4">
            <a:extLst xmlns:a="http://schemas.openxmlformats.org/drawingml/2006/main">
              <a:ext uri="{FF2B5EF4-FFF2-40B4-BE49-F238E27FC236}">
                <a16:creationId xmlns:a16="http://schemas.microsoft.com/office/drawing/2014/main" id="{03706D81-7A55-4CBC-955B-32B26E2D4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19" y="1600200"/>
            <a:ext cx="6144768" cy="3520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WRITE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  agent-permissions.md  一行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  ethics-and-compliance.md  一张风险卡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  ai-usage-log.md  一条记录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DO NOT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  修改问题、指标或工件状态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  访问网络或项目外路径</a:t>
            </a:r>
          </a:p>
        </p:txBody>
      </p:sp>
      <p:sp>
        <p:nvSpPr>
          <p:cNvPr id="5" name="visual-22-1-TextBox 6">
            <a:extLst xmlns:a="http://schemas.openxmlformats.org/drawingml/2006/main">
              <a:ext uri="{FF2B5EF4-FFF2-40B4-BE49-F238E27FC236}">
                <a16:creationId xmlns:a16="http://schemas.microsoft.com/office/drawing/2014/main" id="{A384026C-9558-440A-9B7A-967129689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984248"/>
            <a:ext cx="2825496" cy="5303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检查三件事</a:t>
            </a:r>
          </a:p>
        </p:txBody>
      </p:sp>
      <p:sp>
        <p:nvSpPr>
          <p:cNvPr id="6" name="visual-22-2-TextBox 7">
            <a:extLst xmlns:a="http://schemas.openxmlformats.org/drawingml/2006/main">
              <a:ext uri="{FF2B5EF4-FFF2-40B4-BE49-F238E27FC236}">
                <a16:creationId xmlns:a16="http://schemas.microsoft.com/office/drawing/2014/main" id="{D5C936A5-D126-472C-8296-F0F2D73BE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688336"/>
            <a:ext cx="2825496" cy="192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权限是否可执行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风险理由是否具体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日志是否还原判断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5367AD3-1E26-416D-9F73-A47B8692B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个人实践：完成三件最小工件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1D2927F-EA4F-476B-9DDF-5DF9FD4EA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4" name="practice-action">
            <a:extLst xmlns:a="http://schemas.openxmlformats.org/drawingml/2006/main">
              <a:ext uri="{FF2B5EF4-FFF2-40B4-BE49-F238E27FC236}">
                <a16:creationId xmlns:a16="http://schemas.microsoft.com/office/drawing/2014/main" id="{C84AD8AB-8B74-4A60-9C7A-6CD6F158A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4429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为一个低风险科研动作，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写完三件能执行的工件。</a:t>
            </a:r>
          </a:p>
        </p:txBody>
      </p:sp>
      <p:sp>
        <p:nvSpPr>
          <p:cNvPr id="5" name="practice-rule">
            <a:extLst xmlns:a="http://schemas.openxmlformats.org/drawingml/2006/main">
              <a:ext uri="{FF2B5EF4-FFF2-40B4-BE49-F238E27FC236}">
                <a16:creationId xmlns:a16="http://schemas.microsoft.com/office/drawing/2014/main" id="{58062262-0572-4CBA-AD7D-17521052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1304925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sp>
        <p:nvSpPr>
          <p:cNvPr id="6" name="practice-label-0">
            <a:extLst xmlns:a="http://schemas.openxmlformats.org/drawingml/2006/main">
              <a:ext uri="{FF2B5EF4-FFF2-40B4-BE49-F238E27FC236}">
                <a16:creationId xmlns:a16="http://schemas.microsoft.com/office/drawing/2014/main" id="{9FC2793C-95AD-42E9-AA5F-4A0E80DF9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3525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practice-detail-0">
            <a:extLst xmlns:a="http://schemas.openxmlformats.org/drawingml/2006/main">
              <a:ext uri="{FF2B5EF4-FFF2-40B4-BE49-F238E27FC236}">
                <a16:creationId xmlns:a16="http://schemas.microsoft.com/office/drawing/2014/main" id="{504EE288-BA26-4D89-8CC8-3229692A7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352550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风险卡：为什么这样处理</a:t>
            </a:r>
          </a:p>
        </p:txBody>
      </p:sp>
      <p:sp>
        <p:nvSpPr>
          <p:cNvPr id="8" name="practice-sep-0">
            <a:extLst xmlns:a="http://schemas.openxmlformats.org/drawingml/2006/main">
              <a:ext uri="{FF2B5EF4-FFF2-40B4-BE49-F238E27FC236}">
                <a16:creationId xmlns:a16="http://schemas.microsoft.com/office/drawing/2014/main" id="{274591C9-F032-470D-AD90-BCDCB99D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43125"/>
            <a:ext cx="5524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9" name="practice-label-1">
            <a:extLst xmlns:a="http://schemas.openxmlformats.org/drawingml/2006/main">
              <a:ext uri="{FF2B5EF4-FFF2-40B4-BE49-F238E27FC236}">
                <a16:creationId xmlns:a16="http://schemas.microsoft.com/office/drawing/2014/main" id="{E259E894-2675-46EC-B156-F40891EAF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3050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practice-detail-1">
            <a:extLst xmlns:a="http://schemas.openxmlformats.org/drawingml/2006/main">
              <a:ext uri="{FF2B5EF4-FFF2-40B4-BE49-F238E27FC236}">
                <a16:creationId xmlns:a16="http://schemas.microsoft.com/office/drawing/2014/main" id="{10D02BBA-2BE4-47A0-88D7-E09EC6A7E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05050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权限一行：只允许必要动作</a:t>
            </a:r>
          </a:p>
        </p:txBody>
      </p:sp>
      <p:sp>
        <p:nvSpPr>
          <p:cNvPr id="11" name="practice-sep-1">
            <a:extLst xmlns:a="http://schemas.openxmlformats.org/drawingml/2006/main">
              <a:ext uri="{FF2B5EF4-FFF2-40B4-BE49-F238E27FC236}">
                <a16:creationId xmlns:a16="http://schemas.microsoft.com/office/drawing/2014/main" id="{9B48A91F-A0A1-4484-9E96-ADECC7AB4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095625"/>
            <a:ext cx="5524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2" name="practice-label-2">
            <a:extLst xmlns:a="http://schemas.openxmlformats.org/drawingml/2006/main">
              <a:ext uri="{FF2B5EF4-FFF2-40B4-BE49-F238E27FC236}">
                <a16:creationId xmlns:a16="http://schemas.microsoft.com/office/drawing/2014/main" id="{5914C6A1-7283-46A1-B310-CB3ED93B9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575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practice-detail-2">
            <a:extLst xmlns:a="http://schemas.openxmlformats.org/drawingml/2006/main">
              <a:ext uri="{FF2B5EF4-FFF2-40B4-BE49-F238E27FC236}">
                <a16:creationId xmlns:a16="http://schemas.microsoft.com/office/drawing/2014/main" id="{1A87FCB2-17CF-4F67-8658-9E7579C40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57550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使用记录：实际发生了什么</a:t>
            </a:r>
          </a:p>
        </p:txBody>
      </p:sp>
      <p:sp>
        <p:nvSpPr>
          <p:cNvPr id="14" name="practice-finish">
            <a:extLst xmlns:a="http://schemas.openxmlformats.org/drawingml/2006/main">
              <a:ext uri="{FF2B5EF4-FFF2-40B4-BE49-F238E27FC236}">
                <a16:creationId xmlns:a16="http://schemas.microsoft.com/office/drawing/2014/main" id="{8A917A0F-6DED-4D5B-891B-3EB400C4C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完成标志｜风险卡 + 权限一行 + 使用记录</a:t>
            </a:r>
          </a:p>
        </p:txBody>
      </p:sp>
      <p:sp>
        <p:nvSpPr>
          <p:cNvPr id="15" name="source">
            <a:extLst xmlns:a="http://schemas.openxmlformats.org/drawingml/2006/main">
              <a:ext uri="{FF2B5EF4-FFF2-40B4-BE49-F238E27FC236}">
                <a16:creationId xmlns:a16="http://schemas.microsoft.com/office/drawing/2014/main" id="{BFC2DED1-5E74-4D41-9375-BC091A9D9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选择公开或虚构材料；受限原稿不得外发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306C890-168E-4CC8-AC38-97161892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临时结对：检查规则能否真的执行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4361EDD-52FC-40AA-8905-4F6BC63D7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4" name="visual-24-0-TextBox 4">
            <a:extLst xmlns:a="http://schemas.openxmlformats.org/drawingml/2006/main">
              <a:ext uri="{FF2B5EF4-FFF2-40B4-BE49-F238E27FC236}">
                <a16:creationId xmlns:a16="http://schemas.microsoft.com/office/drawing/2014/main" id="{67BE1465-DEDC-4230-AEDB-668B69BD2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45920"/>
            <a:ext cx="4626864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互查者</a:t>
            </a:r>
          </a:p>
        </p:txBody>
      </p:sp>
      <p:sp>
        <p:nvSpPr>
          <p:cNvPr id="5" name="visual-24-1-TextBox 5">
            <a:extLst xmlns:a="http://schemas.openxmlformats.org/drawingml/2006/main">
              <a:ext uri="{FF2B5EF4-FFF2-40B4-BE49-F238E27FC236}">
                <a16:creationId xmlns:a16="http://schemas.microsoft.com/office/drawing/2014/main" id="{4C75AAC5-DAFF-4F25-B403-B3BB7324E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77440"/>
            <a:ext cx="4626864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条件是否可检查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是否存在默认外发或越权</a:t>
            </a:r>
          </a:p>
        </p:txBody>
      </p:sp>
      <p:sp>
        <p:nvSpPr>
          <p:cNvPr id="6" name="visual-24-2-TextBox 7">
            <a:extLst xmlns:a="http://schemas.openxmlformats.org/drawingml/2006/main">
              <a:ext uri="{FF2B5EF4-FFF2-40B4-BE49-F238E27FC236}">
                <a16:creationId xmlns:a16="http://schemas.microsoft.com/office/drawing/2014/main" id="{DE65FFE2-F817-42A1-9FC2-D2054EC5D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645920"/>
            <a:ext cx="4626864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作者</a:t>
            </a:r>
          </a:p>
        </p:txBody>
      </p:sp>
      <p:sp>
        <p:nvSpPr>
          <p:cNvPr id="7" name="visual-24-3-TextBox 8">
            <a:extLst xmlns:a="http://schemas.openxmlformats.org/drawingml/2006/main">
              <a:ext uri="{FF2B5EF4-FFF2-40B4-BE49-F238E27FC236}">
                <a16:creationId xmlns:a16="http://schemas.microsoft.com/office/drawing/2014/main" id="{274B994F-8D66-4AC1-96E3-DE690AE09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2377440"/>
            <a:ext cx="4626864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决定采纳、修改或拒绝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把理由写回记录</a:t>
            </a:r>
          </a:p>
        </p:txBody>
      </p:sp>
      <p:sp>
        <p:nvSpPr>
          <p:cNvPr id="8" name="visual-24-4-TextBox 9">
            <a:extLst xmlns:a="http://schemas.openxmlformats.org/drawingml/2006/main">
              <a:ext uri="{FF2B5EF4-FFF2-40B4-BE49-F238E27FC236}">
                <a16:creationId xmlns:a16="http://schemas.microsoft.com/office/drawing/2014/main" id="{CBD67B5E-084E-4E89-8E72-5EBB7C851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2768" y="5276088"/>
            <a:ext cx="9015984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固定同伴组在第 6 课前建立；之后可在固定组内轮换两人互查。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2F8CA29-9F57-40B6-82F6-ABCD6C8C8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本讲只建立一条治理闭环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2FFB0C4-6676-498D-B9E9-EF238FD2E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pic>
        <p:nvPicPr>
          <p:cNvPr id="33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d677370fa246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04487" y="1453124"/>
            <a:ext cx="4343400" cy="2113807"/>
          </a:xfrm>
          <a:prstGeom xmlns:a="http://schemas.openxmlformats.org/drawingml/2006/main" prst="rect">
            <a:avLst/>
          </a:prstGeom>
        </p:spPr>
      </p:pic>
      <p:sp>
        <p:nvSpPr>
          <p:cNvPr id="22" name="visual-25-0-TextBox 5">
            <a:extLst xmlns:a="http://schemas.openxmlformats.org/drawingml/2006/main">
              <a:ext uri="{FF2B5EF4-FFF2-40B4-BE49-F238E27FC236}">
                <a16:creationId xmlns:a16="http://schemas.microsoft.com/office/drawing/2014/main" id="{5F4D1EDD-8264-486E-8277-02BA7AC21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3931920"/>
            <a:ext cx="2354580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3" name="visual-25-1-TextBox 6">
            <a:extLst xmlns:a="http://schemas.openxmlformats.org/drawingml/2006/main">
              <a:ext uri="{FF2B5EF4-FFF2-40B4-BE49-F238E27FC236}">
                <a16:creationId xmlns:a16="http://schemas.microsoft.com/office/drawing/2014/main" id="{5A0CE51B-5620-4576-B45E-05694A56F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4297680"/>
            <a:ext cx="2354580" cy="347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对象 + 动作</a:t>
            </a:r>
          </a:p>
        </p:txBody>
      </p:sp>
      <p:sp>
        <p:nvSpPr>
          <p:cNvPr id="24" name="visual-25-2-TextBox 9">
            <a:extLst xmlns:a="http://schemas.openxmlformats.org/drawingml/2006/main">
              <a:ext uri="{FF2B5EF4-FFF2-40B4-BE49-F238E27FC236}">
                <a16:creationId xmlns:a16="http://schemas.microsoft.com/office/drawing/2014/main" id="{8AE63D76-8B07-4A9C-8DB1-85C9653AF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5012" y="3931920"/>
            <a:ext cx="2354580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风险判断</a:t>
            </a:r>
          </a:p>
        </p:txBody>
      </p:sp>
      <p:sp>
        <p:nvSpPr>
          <p:cNvPr id="25" name="visual-25-3-TextBox 10">
            <a:extLst xmlns:a="http://schemas.openxmlformats.org/drawingml/2006/main">
              <a:ext uri="{FF2B5EF4-FFF2-40B4-BE49-F238E27FC236}">
                <a16:creationId xmlns:a16="http://schemas.microsoft.com/office/drawing/2014/main" id="{ED64E7DD-0A8C-4255-B5E1-D337B6AFB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5012" y="4297680"/>
            <a:ext cx="2354580" cy="347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允许 / 有条件 / 禁止</a:t>
            </a:r>
          </a:p>
        </p:txBody>
      </p:sp>
      <p:sp>
        <p:nvSpPr>
          <p:cNvPr id="26" name="visual-25-4-TextBox 13">
            <a:extLst xmlns:a="http://schemas.openxmlformats.org/drawingml/2006/main">
              <a:ext uri="{FF2B5EF4-FFF2-40B4-BE49-F238E27FC236}">
                <a16:creationId xmlns:a16="http://schemas.microsoft.com/office/drawing/2014/main" id="{1831624C-EF74-4DE5-80D3-F225E476E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1928" y="3931920"/>
            <a:ext cx="2354580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边界</a:t>
            </a:r>
          </a:p>
        </p:txBody>
      </p:sp>
      <p:sp>
        <p:nvSpPr>
          <p:cNvPr id="27" name="visual-25-5-TextBox 14">
            <a:extLst xmlns:a="http://schemas.openxmlformats.org/drawingml/2006/main">
              <a:ext uri="{FF2B5EF4-FFF2-40B4-BE49-F238E27FC236}">
                <a16:creationId xmlns:a16="http://schemas.microsoft.com/office/drawing/2014/main" id="{DB2DC581-4970-4C1C-824C-0BADEC583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1928" y="4297680"/>
            <a:ext cx="2354580" cy="347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权限 + 人工确认</a:t>
            </a:r>
          </a:p>
        </p:txBody>
      </p:sp>
      <p:sp>
        <p:nvSpPr>
          <p:cNvPr id="28" name="visual-25-6-TextBox 17">
            <a:extLst xmlns:a="http://schemas.openxmlformats.org/drawingml/2006/main">
              <a:ext uri="{FF2B5EF4-FFF2-40B4-BE49-F238E27FC236}">
                <a16:creationId xmlns:a16="http://schemas.microsoft.com/office/drawing/2014/main" id="{124B93BE-9BFE-4135-8C70-FDECDD1D3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8844" y="3931920"/>
            <a:ext cx="2354580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记录</a:t>
            </a:r>
          </a:p>
        </p:txBody>
      </p:sp>
      <p:sp>
        <p:nvSpPr>
          <p:cNvPr id="29" name="visual-25-7-TextBox 18">
            <a:extLst xmlns:a="http://schemas.openxmlformats.org/drawingml/2006/main">
              <a:ext uri="{FF2B5EF4-FFF2-40B4-BE49-F238E27FC236}">
                <a16:creationId xmlns:a16="http://schemas.microsoft.com/office/drawing/2014/main" id="{3B35AA16-733C-40CF-AB87-D10DA8BC9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8844" y="4297680"/>
            <a:ext cx="2354580" cy="347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实际变化 + AI 日志</a:t>
            </a:r>
          </a:p>
        </p:txBody>
      </p:sp>
      <p:sp>
        <p:nvSpPr>
          <p:cNvPr id="30" name="visual-25-8-TextBox 19">
            <a:extLst xmlns:a="http://schemas.openxmlformats.org/drawingml/2006/main">
              <a:ext uri="{FF2B5EF4-FFF2-40B4-BE49-F238E27FC236}">
                <a16:creationId xmlns:a16="http://schemas.microsoft.com/office/drawing/2014/main" id="{707B13F5-DFDD-4D85-B75E-8E37F864D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5248656"/>
            <a:ext cx="9198863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风险卡解释为何这样做；权限行约束能做什么；日志记录实际发生了什么。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1890327-D55D-4DCD-A8A5-1260C0C7D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课后：持续更新，不新增课堂第四张表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9092B76-25CF-4081-AAAF-FA6C3CF78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4" name="visual-26-0-TextBox 5">
            <a:extLst xmlns:a="http://schemas.openxmlformats.org/drawingml/2006/main">
              <a:ext uri="{FF2B5EF4-FFF2-40B4-BE49-F238E27FC236}">
                <a16:creationId xmlns:a16="http://schemas.microsoft.com/office/drawing/2014/main" id="{CEE59D22-3E3A-4A1D-87FD-CB4F19640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5" name="visual-26-1-TextBox 6">
            <a:extLst xmlns:a="http://schemas.openxmlformats.org/drawingml/2006/main">
              <a:ext uri="{FF2B5EF4-FFF2-40B4-BE49-F238E27FC236}">
                <a16:creationId xmlns:a16="http://schemas.microsoft.com/office/drawing/2014/main" id="{8BC8A787-D7F2-4B62-964D-9D6DE795F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9" y="2807208"/>
            <a:ext cx="2231136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补完整边界</a:t>
            </a:r>
          </a:p>
        </p:txBody>
      </p:sp>
      <p:sp>
        <p:nvSpPr>
          <p:cNvPr id="6" name="visual-26-2-TextBox 7">
            <a:extLst xmlns:a="http://schemas.openxmlformats.org/drawingml/2006/main">
              <a:ext uri="{FF2B5EF4-FFF2-40B4-BE49-F238E27FC236}">
                <a16:creationId xmlns:a16="http://schemas.microsoft.com/office/drawing/2014/main" id="{4AF590AA-BE05-4814-B4CD-65D876E31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9" y="3355848"/>
            <a:ext cx="2231136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根据项目修订风险与权限</a:t>
            </a:r>
          </a:p>
        </p:txBody>
      </p:sp>
      <p:sp>
        <p:nvSpPr>
          <p:cNvPr id="7" name="visual-26-3-TextBox 11">
            <a:extLst xmlns:a="http://schemas.openxmlformats.org/drawingml/2006/main">
              <a:ext uri="{FF2B5EF4-FFF2-40B4-BE49-F238E27FC236}">
                <a16:creationId xmlns:a16="http://schemas.microsoft.com/office/drawing/2014/main" id="{A29DE421-11D0-4975-B956-727CD8238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8" name="visual-26-4-TextBox 12">
            <a:extLst xmlns:a="http://schemas.openxmlformats.org/drawingml/2006/main">
              <a:ext uri="{FF2B5EF4-FFF2-40B4-BE49-F238E27FC236}">
                <a16:creationId xmlns:a16="http://schemas.microsoft.com/office/drawing/2014/main" id="{26EEB736-A7DC-4D7C-9479-E5D89AA7B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4448" y="2807208"/>
            <a:ext cx="2231136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更新追踪</a:t>
            </a:r>
          </a:p>
        </p:txBody>
      </p:sp>
      <p:sp>
        <p:nvSpPr>
          <p:cNvPr id="9" name="visual-26-5-TextBox 13">
            <a:extLst xmlns:a="http://schemas.openxmlformats.org/drawingml/2006/main">
              <a:ext uri="{FF2B5EF4-FFF2-40B4-BE49-F238E27FC236}">
                <a16:creationId xmlns:a16="http://schemas.microsoft.com/office/drawing/2014/main" id="{8CE4F656-8B25-4EF2-A310-67D446A72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4448" y="3355848"/>
            <a:ext cx="2231136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把三件工件状态写入追踪表</a:t>
            </a:r>
          </a:p>
        </p:txBody>
      </p:sp>
      <p:sp>
        <p:nvSpPr>
          <p:cNvPr id="10" name="visual-26-6-TextBox 17">
            <a:extLst xmlns:a="http://schemas.openxmlformats.org/drawingml/2006/main">
              <a:ext uri="{FF2B5EF4-FFF2-40B4-BE49-F238E27FC236}">
                <a16:creationId xmlns:a16="http://schemas.microsoft.com/office/drawing/2014/main" id="{A3B3E02F-4053-46A9-BFFF-0B889949F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1" name="visual-26-7-TextBox 18">
            <a:extLst xmlns:a="http://schemas.openxmlformats.org/drawingml/2006/main">
              <a:ext uri="{FF2B5EF4-FFF2-40B4-BE49-F238E27FC236}">
                <a16:creationId xmlns:a16="http://schemas.microsoft.com/office/drawing/2014/main" id="{58CAD2EF-4CF4-4444-9E67-D873B17B2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807208"/>
            <a:ext cx="2231136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准备检索</a:t>
            </a:r>
          </a:p>
        </p:txBody>
      </p:sp>
      <p:sp>
        <p:nvSpPr>
          <p:cNvPr id="12" name="visual-26-8-TextBox 19">
            <a:extLst xmlns:a="http://schemas.openxmlformats.org/drawingml/2006/main">
              <a:ext uri="{FF2B5EF4-FFF2-40B4-BE49-F238E27FC236}">
                <a16:creationId xmlns:a16="http://schemas.microsoft.com/office/drawing/2014/main" id="{F2E930E6-4994-43AA-9F5C-B2950B8DF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3355848"/>
            <a:ext cx="2231136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公开问题 + 关键词</a:t>
            </a:r>
          </a:p>
        </p:txBody>
      </p:sp>
      <p:sp>
        <p:nvSpPr>
          <p:cNvPr id="13" name="visual-26-9-TextBox 23">
            <a:extLst xmlns:a="http://schemas.openxmlformats.org/drawingml/2006/main">
              <a:ext uri="{FF2B5EF4-FFF2-40B4-BE49-F238E27FC236}">
                <a16:creationId xmlns:a16="http://schemas.microsoft.com/office/drawing/2014/main" id="{F51BAAD2-A268-4C65-8BF3-DC4B95A8F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4" name="visual-26-10-TextBox 24">
            <a:extLst xmlns:a="http://schemas.openxmlformats.org/drawingml/2006/main">
              <a:ext uri="{FF2B5EF4-FFF2-40B4-BE49-F238E27FC236}">
                <a16:creationId xmlns:a16="http://schemas.microsoft.com/office/drawing/2014/main" id="{E0D40469-CB2F-4AA0-8037-89CCB4FF0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7424" y="2807208"/>
            <a:ext cx="2231136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进入第 3 课</a:t>
            </a:r>
          </a:p>
        </p:txBody>
      </p:sp>
      <p:sp>
        <p:nvSpPr>
          <p:cNvPr id="15" name="visual-26-11-TextBox 25">
            <a:extLst xmlns:a="http://schemas.openxmlformats.org/drawingml/2006/main">
              <a:ext uri="{FF2B5EF4-FFF2-40B4-BE49-F238E27FC236}">
                <a16:creationId xmlns:a16="http://schemas.microsoft.com/office/drawing/2014/main" id="{84DF0BAE-33E7-4EB9-B0D2-18C6EEA23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7424" y="3355848"/>
            <a:ext cx="2231136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来源与网络边界</a:t>
            </a:r>
          </a:p>
        </p:txBody>
      </p:sp>
      <p:sp>
        <p:nvSpPr>
          <p:cNvPr id="16" name="visual-26-12-TextBox 26">
            <a:extLst xmlns:a="http://schemas.openxmlformats.org/drawingml/2006/main">
              <a:ext uri="{FF2B5EF4-FFF2-40B4-BE49-F238E27FC236}">
                <a16:creationId xmlns:a16="http://schemas.microsoft.com/office/drawing/2014/main" id="{146A4B78-94B8-4103-BF20-5796CFB1A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888" y="4818888"/>
            <a:ext cx="9381744" cy="59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不单独提交、不计周作业分；第 6 课问题门统一检查成熟度。</a:t>
            </a:r>
          </a:p>
        </p:txBody>
      </p:sp>
    </p:spTree>
    <p:extLst>
      <p:ext uri="{BB962C8B-B14F-4D97-AF65-F5344CB8AC3E}">
        <p14:creationId xmlns:p14="http://schemas.microsoft.com/office/powerpoint/2010/main" val="1686830964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2026-09-12T11:41:41.5760000Z</dcterms:created>
  <dcterms:modified xsi:type="dcterms:W3CDTF">2026-09-12T11:41:41.5760000Z</dcterms:modified>
</coreProperties>
</file>