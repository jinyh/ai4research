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d7a10c03574c30" /><Relationship Type="http://schemas.openxmlformats.org/officeDocument/2006/relationships/extended-properties" Target="/docProps/app.xml" Id="R3156fdbfef40432b" /><Relationship Type="http://schemas.openxmlformats.org/officeDocument/2006/relationships/officeDocument" Target="/ppt/presentation.xml" Id="R64bc081008dd4c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0951491a3d49ab"/>
  </p:sldMasterIdLst>
  <p:notesMasterIdLst>
    <p:notesMasterId xmlns:r="http://schemas.openxmlformats.org/officeDocument/2006/relationships" r:id="R1293e2d8b5c14cd5"/>
  </p:notesMasterIdLst>
  <p:sldIdLst>
    <p:sldId xmlns:r="http://schemas.openxmlformats.org/officeDocument/2006/relationships" id="256" r:id="Ra5bddf74a63441d4"/>
    <p:sldId xmlns:r="http://schemas.openxmlformats.org/officeDocument/2006/relationships" id="257" r:id="R539b9d282c3141dc"/>
    <p:sldId xmlns:r="http://schemas.openxmlformats.org/officeDocument/2006/relationships" id="258" r:id="R7fde1e5fe245400c"/>
    <p:sldId xmlns:r="http://schemas.openxmlformats.org/officeDocument/2006/relationships" id="259" r:id="Rd4f0b460edbb46fe"/>
    <p:sldId xmlns:r="http://schemas.openxmlformats.org/officeDocument/2006/relationships" id="260" r:id="R370ff02ec9034ecc"/>
    <p:sldId xmlns:r="http://schemas.openxmlformats.org/officeDocument/2006/relationships" id="261" r:id="R9e99889198d54486"/>
    <p:sldId xmlns:r="http://schemas.openxmlformats.org/officeDocument/2006/relationships" id="262" r:id="R7c98a93cc39c48b0"/>
    <p:sldId xmlns:r="http://schemas.openxmlformats.org/officeDocument/2006/relationships" id="263" r:id="R84a05ce0f1e24c1f"/>
    <p:sldId xmlns:r="http://schemas.openxmlformats.org/officeDocument/2006/relationships" id="264" r:id="Rddbd91beead448d8"/>
    <p:sldId xmlns:r="http://schemas.openxmlformats.org/officeDocument/2006/relationships" id="265" r:id="R3fde01f9020a4db0"/>
    <p:sldId xmlns:r="http://schemas.openxmlformats.org/officeDocument/2006/relationships" id="266" r:id="R27745e85fb1e4277"/>
    <p:sldId xmlns:r="http://schemas.openxmlformats.org/officeDocument/2006/relationships" id="267" r:id="R60eb8da8945346cb"/>
    <p:sldId xmlns:r="http://schemas.openxmlformats.org/officeDocument/2006/relationships" id="268" r:id="Rd6ac9d7381174aea"/>
    <p:sldId xmlns:r="http://schemas.openxmlformats.org/officeDocument/2006/relationships" id="269" r:id="R2388d7609f6949ba"/>
    <p:sldId xmlns:r="http://schemas.openxmlformats.org/officeDocument/2006/relationships" id="270" r:id="Rfe33970768d8425c"/>
    <p:sldId xmlns:r="http://schemas.openxmlformats.org/officeDocument/2006/relationships" id="271" r:id="Rab569dce266348e1"/>
    <p:sldId xmlns:r="http://schemas.openxmlformats.org/officeDocument/2006/relationships" id="272" r:id="R7ca5279523f844eb"/>
    <p:sldId xmlns:r="http://schemas.openxmlformats.org/officeDocument/2006/relationships" id="273" r:id="R9c203e59ce2840cc"/>
    <p:sldId xmlns:r="http://schemas.openxmlformats.org/officeDocument/2006/relationships" id="274" r:id="Rdb3f48dcb60844b1"/>
    <p:sldId xmlns:r="http://schemas.openxmlformats.org/officeDocument/2006/relationships" id="275" r:id="Ra33357ae404b477c"/>
    <p:sldId xmlns:r="http://schemas.openxmlformats.org/officeDocument/2006/relationships" id="276" r:id="Rf9c15ed20c144f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eb2c9127d349f1" /><Relationship Type="http://schemas.openxmlformats.org/officeDocument/2006/relationships/slideMaster" Target="/ppt/slideMasters/slideMaster1.xml" Id="Rd60951491a3d49ab" /><Relationship Type="http://schemas.openxmlformats.org/officeDocument/2006/relationships/notesMaster" Target="/ppt/notesMasters/notesMaster1.xml" Id="R1293e2d8b5c14cd5" /><Relationship Type="http://schemas.openxmlformats.org/officeDocument/2006/relationships/presProps" Target="/ppt/presProps.xml" Id="Ra070dd20f044463d" /><Relationship Type="http://schemas.openxmlformats.org/officeDocument/2006/relationships/viewProps" Target="/ppt/viewProps.xml" Id="R272a77da98884028" /><Relationship Type="http://schemas.openxmlformats.org/officeDocument/2006/relationships/tableStyles" Target="/ppt/tableStyles.xml" Id="Rd186629030ad4f5f" /><Relationship Type="http://schemas.openxmlformats.org/officeDocument/2006/relationships/slide" Target="/ppt/slides/slide1.xml" Id="Ra5bddf74a63441d4" /><Relationship Type="http://schemas.openxmlformats.org/officeDocument/2006/relationships/slide" Target="/ppt/slides/slide2.xml" Id="R539b9d282c3141dc" /><Relationship Type="http://schemas.openxmlformats.org/officeDocument/2006/relationships/slide" Target="/ppt/slides/slide3.xml" Id="R7fde1e5fe245400c" /><Relationship Type="http://schemas.openxmlformats.org/officeDocument/2006/relationships/slide" Target="/ppt/slides/slide4.xml" Id="Rd4f0b460edbb46fe" /><Relationship Type="http://schemas.openxmlformats.org/officeDocument/2006/relationships/slide" Target="/ppt/slides/slide5.xml" Id="R370ff02ec9034ecc" /><Relationship Type="http://schemas.openxmlformats.org/officeDocument/2006/relationships/slide" Target="/ppt/slides/slide6.xml" Id="R9e99889198d54486" /><Relationship Type="http://schemas.openxmlformats.org/officeDocument/2006/relationships/slide" Target="/ppt/slides/slide7.xml" Id="R7c98a93cc39c48b0" /><Relationship Type="http://schemas.openxmlformats.org/officeDocument/2006/relationships/slide" Target="/ppt/slides/slide8.xml" Id="R84a05ce0f1e24c1f" /><Relationship Type="http://schemas.openxmlformats.org/officeDocument/2006/relationships/slide" Target="/ppt/slides/slide9.xml" Id="Rddbd91beead448d8" /><Relationship Type="http://schemas.openxmlformats.org/officeDocument/2006/relationships/slide" Target="/ppt/slides/slide10.xml" Id="R3fde01f9020a4db0" /><Relationship Type="http://schemas.openxmlformats.org/officeDocument/2006/relationships/slide" Target="/ppt/slides/slide11.xml" Id="R27745e85fb1e4277" /><Relationship Type="http://schemas.openxmlformats.org/officeDocument/2006/relationships/slide" Target="/ppt/slides/slide12.xml" Id="R60eb8da8945346cb" /><Relationship Type="http://schemas.openxmlformats.org/officeDocument/2006/relationships/slide" Target="/ppt/slides/slide13.xml" Id="Rd6ac9d7381174aea" /><Relationship Type="http://schemas.openxmlformats.org/officeDocument/2006/relationships/slide" Target="/ppt/slides/slide14.xml" Id="R2388d7609f6949ba" /><Relationship Type="http://schemas.openxmlformats.org/officeDocument/2006/relationships/slide" Target="/ppt/slides/slide15.xml" Id="Rfe33970768d8425c" /><Relationship Type="http://schemas.openxmlformats.org/officeDocument/2006/relationships/slide" Target="/ppt/slides/slide16.xml" Id="Rab569dce266348e1" /><Relationship Type="http://schemas.openxmlformats.org/officeDocument/2006/relationships/slide" Target="/ppt/slides/slide17.xml" Id="R7ca5279523f844eb" /><Relationship Type="http://schemas.openxmlformats.org/officeDocument/2006/relationships/slide" Target="/ppt/slides/slide18.xml" Id="R9c203e59ce2840cc" /><Relationship Type="http://schemas.openxmlformats.org/officeDocument/2006/relationships/slide" Target="/ppt/slides/slide19.xml" Id="Rdb3f48dcb60844b1" /><Relationship Type="http://schemas.openxmlformats.org/officeDocument/2006/relationships/slide" Target="/ppt/slides/slide20.xml" Id="Ra33357ae404b477c" /><Relationship Type="http://schemas.openxmlformats.org/officeDocument/2006/relationships/slide" Target="/ppt/slides/slide21.xml" Id="Rf9c15ed20c144f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d21c82a5a945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e23dacb9ae49b3" /><Relationship Type="http://schemas.openxmlformats.org/officeDocument/2006/relationships/notesMaster" Target="/ppt/notesMasters/notesMaster1.xml" Id="R197cb167ed184d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5231c262734315" /><Relationship Type="http://schemas.openxmlformats.org/officeDocument/2006/relationships/notesMaster" Target="/ppt/notesMasters/notesMaster1.xml" Id="Rd76e8934124847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8b649738b24260" /><Relationship Type="http://schemas.openxmlformats.org/officeDocument/2006/relationships/notesMaster" Target="/ppt/notesMasters/notesMaster1.xml" Id="Rf7eb9b27ea0d4e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7b9552d46a4565" /><Relationship Type="http://schemas.openxmlformats.org/officeDocument/2006/relationships/notesMaster" Target="/ppt/notesMasters/notesMaster1.xml" Id="Rd1172c4683434d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f2a0ab2a4e4f96" /><Relationship Type="http://schemas.openxmlformats.org/officeDocument/2006/relationships/notesMaster" Target="/ppt/notesMasters/notesMaster1.xml" Id="Rb9e4341d3b5e48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ab744c89a248c8" /><Relationship Type="http://schemas.openxmlformats.org/officeDocument/2006/relationships/notesMaster" Target="/ppt/notesMasters/notesMaster1.xml" Id="Re1cd281c2cdf44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241331db6540ea" /><Relationship Type="http://schemas.openxmlformats.org/officeDocument/2006/relationships/notesMaster" Target="/ppt/notesMasters/notesMaster1.xml" Id="Rd10dc8a71f2049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caf4931ebe4203" /><Relationship Type="http://schemas.openxmlformats.org/officeDocument/2006/relationships/notesMaster" Target="/ppt/notesMasters/notesMaster1.xml" Id="R9f36f910936a4a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6528b010294dea" /><Relationship Type="http://schemas.openxmlformats.org/officeDocument/2006/relationships/notesMaster" Target="/ppt/notesMasters/notesMaster1.xml" Id="R883d62c2f74c465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f31ec630b94195" /><Relationship Type="http://schemas.openxmlformats.org/officeDocument/2006/relationships/notesMaster" Target="/ppt/notesMasters/notesMaster1.xml" Id="R754152362d2d4a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e6b24c8e8048cc" /><Relationship Type="http://schemas.openxmlformats.org/officeDocument/2006/relationships/notesMaster" Target="/ppt/notesMasters/notesMaster1.xml" Id="R345f29084bb348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c61a25d9c9450d" /><Relationship Type="http://schemas.openxmlformats.org/officeDocument/2006/relationships/notesMaster" Target="/ppt/notesMasters/notesMaster1.xml" Id="R4160b414cc774c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a97aa1e23c421d" /><Relationship Type="http://schemas.openxmlformats.org/officeDocument/2006/relationships/notesMaster" Target="/ppt/notesMasters/notesMaster1.xml" Id="R212e7d150b3a45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c66201025345d9" /><Relationship Type="http://schemas.openxmlformats.org/officeDocument/2006/relationships/notesMaster" Target="/ppt/notesMasters/notesMaster1.xml" Id="Rad019ad39e944c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f2de1d772142bd" /><Relationship Type="http://schemas.openxmlformats.org/officeDocument/2006/relationships/notesMaster" Target="/ppt/notesMasters/notesMaster1.xml" Id="R2d7cdf4dd98845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1101a8659f4d2a" /><Relationship Type="http://schemas.openxmlformats.org/officeDocument/2006/relationships/notesMaster" Target="/ppt/notesMasters/notesMaster1.xml" Id="Re05fcb6ba3f6438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097f09f4ec0415f" /><Relationship Type="http://schemas.openxmlformats.org/officeDocument/2006/relationships/notesMaster" Target="/ppt/notesMasters/notesMaster1.xml" Id="Reee7a1176b914ae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e173c209c14de4" /><Relationship Type="http://schemas.openxmlformats.org/officeDocument/2006/relationships/notesMaster" Target="/ppt/notesMasters/notesMaster1.xml" Id="R1a6140f98bc643a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67626c4ccb4abe" /><Relationship Type="http://schemas.openxmlformats.org/officeDocument/2006/relationships/notesMaster" Target="/ppt/notesMasters/notesMaster1.xml" Id="R069eac0485ef4a3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3ac1a958b1a443f" /><Relationship Type="http://schemas.openxmlformats.org/officeDocument/2006/relationships/notesMaster" Target="/ppt/notesMasters/notesMaster1.xml" Id="Rf46ba4880c0240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ebe67afe1654cc3" /><Relationship Type="http://schemas.openxmlformats.org/officeDocument/2006/relationships/notesMaster" Target="/ppt/notesMasters/notesMaster1.xml" Id="Rc7fbbd246a8e42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5 课的研究空白候选收敛为可检验问题，并完成问题门材料初版。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 进行第一次短互动。只听学生说出自己的空白候选，不在此处评价完整性。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本课完成材料初版，不要求课堂内把八项全部补齐。问题门条件以 assignments.md 为准；候选题池与选题理由是 problem-definition.md 的课程扩展字段，不加入八项门条件。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让学生判断自己当前表述属于哪一层。表中案例用于方法教学，不构成实证结论。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虚构教学样例｜非真实论文、检索或实证证据。G1 只训练从空格描述到结构性问题的改写，真实性仍待真实窄检索。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请学生为自己的问题各写一条知识后果和实际后果。若答案只是“很新”，要求回到证据地图。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候选题先做来源交叉检查，再用四维标准卡比较 ≥3 个候选题并记录选题理由；新颖性必须落到三类之一（问题新／视角新／方法新），写进 problem-definition.md 的课程扩展字段。比较示范用虚构题池 G1（文献缺角，选定）／C2（异常观察，保留为背景问题）／C3（重构迁移，可行性淘汰），均为虚构教学样例。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Booth et al., The Craft of Research, 5th ed., Chapter 2（意义维度）</a:t>
            </a:r>
          </a:p>
          <a:p xmlns:a="http://schemas.openxmlformats.org/drawingml/2006/main">
            <a:r>
              <a:t>- Hamming, You and Your Research（重要问题与品味）</a:t>
            </a:r>
          </a:p>
          <a:p xmlns:a="http://schemas.openxmlformats.org/drawingml/2006/main">
            <a:r>
              <a:t>- 霍强《讲堂：创新研究到底怎么做？》Passion/Excellence/Impact（兴趣与意义参照，课堂案例）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非例不是随意排除，而是与包含范围共同形成可判断的边界。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让学生诊断一条非例并修改。强调“为什么不算”必须可解释。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本页训练命题结构，不声称样例效果真实存在。Platt 用于竞争假设与排除逻辑。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https://pubmed.ncbi.nlm.nih.gov/17739513/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课程项目不要求实现完整三组实验，但问题定义必须能说出替代解释和区分方法。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https://pubmed.ncbi.nlm.nih.gov/17739513/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第一性原理只用于识别基本约束、作用机制和不可违背条件；AI 输出和推导本身都不构成证据。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口头提问：如果主张成立，哪些条件必须满足？只收集约束，不急着讨论工具。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虚构教学样例｜非真实论文、检索或实证证据。四步推导依赖第 5 课证据地图，输出仍需外部证据检验。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逐项讲清八项权威条件。AI 偏差字段允许记录发现的问题，也允许记录已检查风险及核验依据，不得虚构错误。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虚构教学样例｜门条件状态仅演示核对方法。第 1-4 项来自累计工件，不能宣称在某一课自动完成。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40:00-43:00 讲清七步和写入位置；候选题池比较沿用第 5 课题池（≥3 候选、≥2 路径、≥1 非文献空白路径），不足 3 个先补异常/痛点候选。没有真实课题者可用虚构样例（含 G1/C2/C3 虚构题池），但必须改换问题表述或子问题分解。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43:00-60:00 停留本页。巡视只处理共同卡点；课前累计文献、精读卡和地图只核对状态，不重做。候选题池与选题理由是课程扩展字段，写入 problem-definition.md，不加入八项门条件。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60:00-78:00 进行 2-3 人互查。按八项门条件提问，但不替作者改写或决定。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提交方式、八项条件和未通过处理均以 assignments.md 为准。第一次未通过不直接扣重分，但未按期修订影响对应评分维度。候选题池与选题理由是课程扩展字段，不是门条件新增项。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收束本课：问题门通过后，待验证前提进入第 7 课机制假设；不把推导直接当成结论或实验结果。本课产出含 problem-definition + 第一性原理推导 + 候选题池与选题理由。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8019d6eee44f91" /><Relationship Type="http://schemas.openxmlformats.org/officeDocument/2006/relationships/image" Target="/ppt/media/image.png" Id="Rf88a6eabd1d14388" /><Relationship Type="http://schemas.openxmlformats.org/officeDocument/2006/relationships/image" Target="/ppt/media/image2.png" Id="R3f3a865838384f6d" /><Relationship Type="http://schemas.openxmlformats.org/officeDocument/2006/relationships/image" Target="/ppt/media/image3.png" Id="R3c35b3c53a2f4bde" /><Relationship Type="http://schemas.openxmlformats.org/officeDocument/2006/relationships/image" Target="/ppt/media/image4.png" Id="R627512fa962240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117785c6ad4c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60572e011a48e9" /><Relationship Type="http://schemas.openxmlformats.org/officeDocument/2006/relationships/image" Target="/ppt/media/image2.png" Id="Rcbfc9e5816484529" /><Relationship Type="http://schemas.openxmlformats.org/officeDocument/2006/relationships/image" Target="/ppt/media/image5.png" Id="R714bed7f8870444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3f3fd2afbd4135" /><Relationship Type="http://schemas.openxmlformats.org/officeDocument/2006/relationships/image" Target="/ppt/media/image.png" Id="Rad6154452df64f56" /><Relationship Type="http://schemas.openxmlformats.org/officeDocument/2006/relationships/image" Target="/ppt/media/image3.png" Id="Rd2f528c10657460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a6eabd1d14388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3a865838384f6d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35b3c53a2f4bde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512fa96224084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fc9e5816484529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bed7f887044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154452df64f5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f528c10657460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d1bfea22f14b9d" /><Relationship Type="http://schemas.openxmlformats.org/officeDocument/2006/relationships/slideLayout" Target="/ppt/slideLayouts/slideLayout1.xml" Id="R210532d52230414c" /><Relationship Type="http://schemas.openxmlformats.org/officeDocument/2006/relationships/slideLayout" Target="/ppt/slideLayouts/slideLayout2.xml" Id="R46422e3e150a4b48" /><Relationship Type="http://schemas.openxmlformats.org/officeDocument/2006/relationships/slideLayout" Target="/ppt/slideLayouts/slideLayout3.xml" Id="Rfdffbf3b8af34bf3" /><Relationship Type="http://schemas.openxmlformats.org/officeDocument/2006/relationships/slideLayout" Target="/ppt/slideLayouts/slideLayout4.xml" Id="Rd839a2c08d75445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0532d52230414c"/>
    <p:sldLayoutId xmlns:r="http://schemas.openxmlformats.org/officeDocument/2006/relationships" id="2147483650" r:id="R46422e3e150a4b48"/>
    <p:sldLayoutId xmlns:r="http://schemas.openxmlformats.org/officeDocument/2006/relationships" id="2147483651" r:id="Rfdffbf3b8af34bf3"/>
    <p:sldLayoutId xmlns:r="http://schemas.openxmlformats.org/officeDocument/2006/relationships" id="2147483652" r:id="Rd839a2c08d75445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b8fa27cf14308" /><Relationship Type="http://schemas.openxmlformats.org/officeDocument/2006/relationships/notesSlide" Target="/ppt/notesSlides/notesSlide1.xml" Id="R91c47fd8ca1a4a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9728c3f5ff449c1" /><Relationship Type="http://schemas.openxmlformats.org/officeDocument/2006/relationships/notesSlide" Target="/ppt/notesSlides/notesSlide2.xml" Id="R139736ea18364d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02fd7033c794b43" /><Relationship Type="http://schemas.openxmlformats.org/officeDocument/2006/relationships/notesSlide" Target="/ppt/notesSlides/notesSlide3.xml" Id="Rbb735333357546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7969502b74f4564" /><Relationship Type="http://schemas.openxmlformats.org/officeDocument/2006/relationships/notesSlide" Target="/ppt/notesSlides/notesSlide4.xml" Id="R56ddfbd6802746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c8d3c06c044903" /><Relationship Type="http://schemas.openxmlformats.org/officeDocument/2006/relationships/notesSlide" Target="/ppt/notesSlides/notesSlide5.xml" Id="R77ac5c1d5ceb40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da6b3d852d415a" /><Relationship Type="http://schemas.openxmlformats.org/officeDocument/2006/relationships/notesSlide" Target="/ppt/notesSlides/notesSlide6.xml" Id="R2452fadf7b104c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e160e0159d947bc" /><Relationship Type="http://schemas.openxmlformats.org/officeDocument/2006/relationships/notesSlide" Target="/ppt/notesSlides/notesSlide7.xml" Id="R5355c3f4050442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53af152466473c" /><Relationship Type="http://schemas.openxmlformats.org/officeDocument/2006/relationships/notesSlide" Target="/ppt/notesSlides/notesSlide8.xml" Id="R280b819dd21149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f4c6933b7c4c7b" /><Relationship Type="http://schemas.openxmlformats.org/officeDocument/2006/relationships/notesSlide" Target="/ppt/notesSlides/notesSlide9.xml" Id="Ra6e2744cbb4c48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2766ba594c4d9a" /><Relationship Type="http://schemas.openxmlformats.org/officeDocument/2006/relationships/notesSlide" Target="/ppt/notesSlides/notesSlide10.xml" Id="Rff0e88673acc41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a62f8a51d4d495f" /><Relationship Type="http://schemas.openxmlformats.org/officeDocument/2006/relationships/notesSlide" Target="/ppt/notesSlides/notesSlide11.xml" Id="R42cf804410f645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da5046d22347b2" /><Relationship Type="http://schemas.openxmlformats.org/officeDocument/2006/relationships/notesSlide" Target="/ppt/notesSlides/notesSlide12.xml" Id="Rcee053e685e744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38d9c2e9bd4d5b" /><Relationship Type="http://schemas.openxmlformats.org/officeDocument/2006/relationships/notesSlide" Target="/ppt/notesSlides/notesSlide13.xml" Id="R63f96c0fd95847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732f0c5c724105" /><Relationship Type="http://schemas.openxmlformats.org/officeDocument/2006/relationships/notesSlide" Target="/ppt/notesSlides/notesSlide14.xml" Id="Rd1f8e932e0c9498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f5609cbbecd43e5" /><Relationship Type="http://schemas.openxmlformats.org/officeDocument/2006/relationships/notesSlide" Target="/ppt/notesSlides/notesSlide15.xml" Id="Rbeef6db8600d4d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77f570b7854f26" /><Relationship Type="http://schemas.openxmlformats.org/officeDocument/2006/relationships/notesSlide" Target="/ppt/notesSlides/notesSlide16.xml" Id="R2e121483ff8e472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9d36d43382418a" /><Relationship Type="http://schemas.openxmlformats.org/officeDocument/2006/relationships/notesSlide" Target="/ppt/notesSlides/notesSlide17.xml" Id="R5db69eef0ca0474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fc23c0384ac4f7e" /><Relationship Type="http://schemas.openxmlformats.org/officeDocument/2006/relationships/notesSlide" Target="/ppt/notesSlides/notesSlide18.xml" Id="R4bb7edba241747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10e598fe8c14883" /><Relationship Type="http://schemas.openxmlformats.org/officeDocument/2006/relationships/notesSlide" Target="/ppt/notesSlides/notesSlide19.xml" Id="R53909d31b9de4c4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15c4e4c8d14825" /><Relationship Type="http://schemas.openxmlformats.org/officeDocument/2006/relationships/notesSlide" Target="/ppt/notesSlides/notesSlide20.xml" Id="R7e861c9e2c4f4fc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42a88fcfe84d48" /><Relationship Type="http://schemas.openxmlformats.org/officeDocument/2006/relationships/notesSlide" Target="/ppt/notesSlides/notesSlide21.xml" Id="R53f0acb59c144a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066800" y="3009900"/>
            <a:ext cx="10058400" cy="22860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空白候选 → 结构性问题 → 第一性原理 → 问题门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从“还没有人做过”转向“什么观察会推翻它”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第六讲｜阶段一 + 阶段二 → 第一次正式提交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00150"/>
            <a:ext cx="97536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问题定义、第一性原理与问题门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5 课之后，研究空白候选如何变成问题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have">
            <a:extLst xmlns:a="http://schemas.openxmlformats.org/drawingml/2006/main">
              <a:ext uri="{FF2B5EF4-FFF2-40B4-BE49-F238E27FC236}">
                <a16:creationId xmlns:a16="http://schemas.microsoft.com/office/drawing/2014/main" id="{383323F9-105D-4C69-9744-F96ADE57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5 课已经建立</a:t>
            </a:r>
          </a:p>
        </p:txBody>
      </p:sp>
      <p:sp>
        <p:nvSpPr>
          <p:cNvPr id="7" name="p02-h0">
            <a:extLst xmlns:a="http://schemas.openxmlformats.org/drawingml/2006/main">
              <a:ext uri="{FF2B5EF4-FFF2-40B4-BE49-F238E27FC236}">
                <a16:creationId xmlns:a16="http://schemas.microsoft.com/office/drawing/2014/main" id="{AB84AC11-DCEC-487E-B242-77505B60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4191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证据地图：直接 / 补充 / 冲突 / 空白</a:t>
            </a:r>
          </a:p>
        </p:txBody>
      </p:sp>
      <p:sp>
        <p:nvSpPr>
          <p:cNvPr id="8" name="p02-h1">
            <a:extLst xmlns:a="http://schemas.openxmlformats.org/drawingml/2006/main">
              <a:ext uri="{FF2B5EF4-FFF2-40B4-BE49-F238E27FC236}">
                <a16:creationId xmlns:a16="http://schemas.microsoft.com/office/drawing/2014/main" id="{8D8E4841-AE41-4792-BFC4-E4E49628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191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空白候选：真实性 / 重要性 / 可行性</a:t>
            </a:r>
          </a:p>
        </p:txBody>
      </p:sp>
      <p:sp>
        <p:nvSpPr>
          <p:cNvPr id="9" name="p02-a">
            <a:extLst xmlns:a="http://schemas.openxmlformats.org/drawingml/2006/main">
              <a:ext uri="{FF2B5EF4-FFF2-40B4-BE49-F238E27FC236}">
                <a16:creationId xmlns:a16="http://schemas.microsoft.com/office/drawing/2014/main" id="{492CCB01-6084-4075-B414-FD898551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71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2-miss">
            <a:extLst xmlns:a="http://schemas.openxmlformats.org/drawingml/2006/main">
              <a:ext uri="{FF2B5EF4-FFF2-40B4-BE49-F238E27FC236}">
                <a16:creationId xmlns:a16="http://schemas.microsoft.com/office/drawing/2014/main" id="{C649CCA6-CABD-47BB-B5C7-2DA4F995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7155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本课仍需回答</a:t>
            </a:r>
          </a:p>
        </p:txBody>
      </p:sp>
      <p:sp>
        <p:nvSpPr>
          <p:cNvPr id="11" name="p02-m0">
            <a:extLst xmlns:a="http://schemas.openxmlformats.org/drawingml/2006/main">
              <a:ext uri="{FF2B5EF4-FFF2-40B4-BE49-F238E27FC236}">
                <a16:creationId xmlns:a16="http://schemas.microsoft.com/office/drawing/2014/main" id="{9800D25B-8CFE-47F6-8DE7-257AC09D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19250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问什么？边界在哪里？</a:t>
            </a:r>
          </a:p>
        </p:txBody>
      </p:sp>
      <p:sp>
        <p:nvSpPr>
          <p:cNvPr id="12" name="p02-m1">
            <a:extLst xmlns:a="http://schemas.openxmlformats.org/drawingml/2006/main">
              <a:ext uri="{FF2B5EF4-FFF2-40B4-BE49-F238E27FC236}">
                <a16:creationId xmlns:a16="http://schemas.microsoft.com/office/drawing/2014/main" id="{E67F842D-4476-46F8-950C-65829558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428875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什么结果会推翻主张？</a:t>
            </a:r>
          </a:p>
        </p:txBody>
      </p:sp>
      <p:sp>
        <p:nvSpPr>
          <p:cNvPr id="13" name="p02-m2">
            <a:extLst xmlns:a="http://schemas.openxmlformats.org/drawingml/2006/main">
              <a:ext uri="{FF2B5EF4-FFF2-40B4-BE49-F238E27FC236}">
                <a16:creationId xmlns:a16="http://schemas.microsoft.com/office/drawing/2014/main" id="{C5B6DA2C-226D-4BF7-B421-4E0B2BB0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38500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哪些前提仍待外部检验？</a:t>
            </a:r>
          </a:p>
        </p:txBody>
      </p:sp>
      <p:sp>
        <p:nvSpPr>
          <p:cNvPr id="14" name="p02-bottom">
            <a:extLst xmlns:a="http://schemas.openxmlformats.org/drawingml/2006/main">
              <a:ext uri="{FF2B5EF4-FFF2-40B4-BE49-F238E27FC236}">
                <a16:creationId xmlns:a16="http://schemas.microsoft.com/office/drawing/2014/main" id="{8CF73826-8C61-4B17-9148-C4F33D96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00625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2:30 快问：你的候选现在是“空格描述”，还是“可检验问题”？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0">
            <a:extLst xmlns:a="http://schemas.openxmlformats.org/drawingml/2006/main">
              <a:ext uri="{FF2B5EF4-FFF2-40B4-BE49-F238E27FC236}">
                <a16:creationId xmlns:a16="http://schemas.microsoft.com/office/drawing/2014/main" id="{8353A045-658C-4CC3-801A-88237530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3-g0">
            <a:extLst xmlns:a="http://schemas.openxmlformats.org/drawingml/2006/main">
              <a:ext uri="{FF2B5EF4-FFF2-40B4-BE49-F238E27FC236}">
                <a16:creationId xmlns:a16="http://schemas.microsoft.com/office/drawing/2014/main" id="{7689BE13-D075-4376-A6FE-95C90810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结构性问题</a:t>
            </a:r>
          </a:p>
        </p:txBody>
      </p:sp>
      <p:sp>
        <p:nvSpPr>
          <p:cNvPr id="8" name="p03-n1">
            <a:extLst xmlns:a="http://schemas.openxmlformats.org/drawingml/2006/main">
              <a:ext uri="{FF2B5EF4-FFF2-40B4-BE49-F238E27FC236}">
                <a16:creationId xmlns:a16="http://schemas.microsoft.com/office/drawing/2014/main" id="{444680D7-8F42-47AA-8C97-E756CC22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03-g1">
            <a:extLst xmlns:a="http://schemas.openxmlformats.org/drawingml/2006/main">
              <a:ext uri="{FF2B5EF4-FFF2-40B4-BE49-F238E27FC236}">
                <a16:creationId xmlns:a16="http://schemas.microsoft.com/office/drawing/2014/main" id="{A5CAC177-7016-4CE9-9144-D5348211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非例边界</a:t>
            </a:r>
          </a:p>
        </p:txBody>
      </p:sp>
      <p:sp>
        <p:nvSpPr>
          <p:cNvPr id="10" name="p03-n2">
            <a:extLst xmlns:a="http://schemas.openxmlformats.org/drawingml/2006/main">
              <a:ext uri="{FF2B5EF4-FFF2-40B4-BE49-F238E27FC236}">
                <a16:creationId xmlns:a16="http://schemas.microsoft.com/office/drawing/2014/main" id="{790AE64C-E989-4177-ADF3-B33C8ADE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03-g2">
            <a:extLst xmlns:a="http://schemas.openxmlformats.org/drawingml/2006/main">
              <a:ext uri="{FF2B5EF4-FFF2-40B4-BE49-F238E27FC236}">
                <a16:creationId xmlns:a16="http://schemas.microsoft.com/office/drawing/2014/main" id="{177CF235-FD64-414D-A352-102C3084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可证伪命题</a:t>
            </a:r>
          </a:p>
        </p:txBody>
      </p:sp>
      <p:sp>
        <p:nvSpPr>
          <p:cNvPr id="12" name="p03-n3">
            <a:extLst xmlns:a="http://schemas.openxmlformats.org/drawingml/2006/main">
              <a:ext uri="{FF2B5EF4-FFF2-40B4-BE49-F238E27FC236}">
                <a16:creationId xmlns:a16="http://schemas.microsoft.com/office/drawing/2014/main" id="{D43E5D61-F31A-4664-8160-ECE7F8FE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03-g3">
            <a:extLst xmlns:a="http://schemas.openxmlformats.org/drawingml/2006/main">
              <a:ext uri="{FF2B5EF4-FFF2-40B4-BE49-F238E27FC236}">
                <a16:creationId xmlns:a16="http://schemas.microsoft.com/office/drawing/2014/main" id="{D6772FBF-7F1C-4CD1-85E5-C8AD73BC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第一性原理推导</a:t>
            </a:r>
          </a:p>
        </p:txBody>
      </p:sp>
      <p:sp>
        <p:nvSpPr>
          <p:cNvPr id="14" name="p03-n4">
            <a:extLst xmlns:a="http://schemas.openxmlformats.org/drawingml/2006/main">
              <a:ext uri="{FF2B5EF4-FFF2-40B4-BE49-F238E27FC236}">
                <a16:creationId xmlns:a16="http://schemas.microsoft.com/office/drawing/2014/main" id="{4955E1AA-BB9C-4F51-B963-4E58C0AD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03-g4">
            <a:extLst xmlns:a="http://schemas.openxmlformats.org/drawingml/2006/main">
              <a:ext uri="{FF2B5EF4-FFF2-40B4-BE49-F238E27FC236}">
                <a16:creationId xmlns:a16="http://schemas.microsoft.com/office/drawing/2014/main" id="{29FD33DF-EBC5-4108-8D52-7FDEB2BC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来源交叉检查 + 重要性</a:t>
            </a:r>
          </a:p>
        </p:txBody>
      </p:sp>
      <p:sp>
        <p:nvSpPr>
          <p:cNvPr id="16" name="p03-n5">
            <a:extLst xmlns:a="http://schemas.openxmlformats.org/drawingml/2006/main">
              <a:ext uri="{FF2B5EF4-FFF2-40B4-BE49-F238E27FC236}">
                <a16:creationId xmlns:a16="http://schemas.microsoft.com/office/drawing/2014/main" id="{9B85D45A-6492-47EC-A593-7CF0E899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03-g5">
            <a:extLst xmlns:a="http://schemas.openxmlformats.org/drawingml/2006/main">
              <a:ext uri="{FF2B5EF4-FFF2-40B4-BE49-F238E27FC236}">
                <a16:creationId xmlns:a16="http://schemas.microsoft.com/office/drawing/2014/main" id="{1D2BB731-30E0-45F8-85AE-F206F0B9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候选题比较与门自查</a:t>
            </a:r>
          </a:p>
        </p:txBody>
      </p:sp>
      <p:sp>
        <p:nvSpPr>
          <p:cNvPr id="18" name="p03-output">
            <a:extLst xmlns:a="http://schemas.openxmlformats.org/drawingml/2006/main">
              <a:ext uri="{FF2B5EF4-FFF2-40B4-BE49-F238E27FC236}">
                <a16:creationId xmlns:a16="http://schemas.microsoft.com/office/drawing/2014/main" id="{2EA73621-74DA-46E4-B909-96639896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课堂最小产出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problem-definition.md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更新版 +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第一性原理推导初版</a:t>
            </a:r>
          </a:p>
        </p:txBody>
      </p:sp>
      <p:sp>
        <p:nvSpPr>
          <p:cNvPr id="19" name="p03-gate">
            <a:extLst xmlns:a="http://schemas.openxmlformats.org/drawingml/2006/main">
              <a:ext uri="{FF2B5EF4-FFF2-40B4-BE49-F238E27FC236}">
                <a16:creationId xmlns:a16="http://schemas.microsoft.com/office/drawing/2014/main" id="{1BBA7D3C-8556-43F1-AA55-BE8BF062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05250"/>
            <a:ext cx="8858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课后只提交一次问题门材料包；不重做已通过的累计工件。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主题、研究问题还是待验证主张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h0">
            <a:extLst xmlns:a="http://schemas.openxmlformats.org/drawingml/2006/main">
              <a:ext uri="{FF2B5EF4-FFF2-40B4-BE49-F238E27FC236}">
                <a16:creationId xmlns:a16="http://schemas.microsoft.com/office/drawing/2014/main" id="{DF7F5443-AEA4-4DC9-AC06-1EBB2D4C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1619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层次</a:t>
            </a:r>
          </a:p>
        </p:txBody>
      </p:sp>
      <p:sp>
        <p:nvSpPr>
          <p:cNvPr id="7" name="p04-h1">
            <a:extLst xmlns:a="http://schemas.openxmlformats.org/drawingml/2006/main">
              <a:ext uri="{FF2B5EF4-FFF2-40B4-BE49-F238E27FC236}">
                <a16:creationId xmlns:a16="http://schemas.microsoft.com/office/drawing/2014/main" id="{88659DDD-663B-406E-BDF5-C0B1C81F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238250"/>
            <a:ext cx="619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典型表述</a:t>
            </a:r>
          </a:p>
        </p:txBody>
      </p:sp>
      <p:sp>
        <p:nvSpPr>
          <p:cNvPr id="8" name="p04-h2">
            <a:extLst xmlns:a="http://schemas.openxmlformats.org/drawingml/2006/main">
              <a:ext uri="{FF2B5EF4-FFF2-40B4-BE49-F238E27FC236}">
                <a16:creationId xmlns:a16="http://schemas.microsoft.com/office/drawing/2014/main" id="{DAB00CB6-9751-42A5-8A7F-023FFB6F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2382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仍缺什么</a:t>
            </a:r>
          </a:p>
        </p:txBody>
      </p:sp>
      <p:sp>
        <p:nvSpPr>
          <p:cNvPr id="9" name="p04-r0-0">
            <a:extLst xmlns:a="http://schemas.openxmlformats.org/drawingml/2006/main">
              <a:ext uri="{FF2B5EF4-FFF2-40B4-BE49-F238E27FC236}">
                <a16:creationId xmlns:a16="http://schemas.microsoft.com/office/drawing/2014/main" id="{098488B2-AAC3-49E9-8337-15A23972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主题</a:t>
            </a:r>
          </a:p>
        </p:txBody>
      </p:sp>
      <p:sp>
        <p:nvSpPr>
          <p:cNvPr id="10" name="p04-r0-1">
            <a:extLst xmlns:a="http://schemas.openxmlformats.org/drawingml/2006/main">
              <a:ext uri="{FF2B5EF4-FFF2-40B4-BE49-F238E27FC236}">
                <a16:creationId xmlns:a16="http://schemas.microsoft.com/office/drawing/2014/main" id="{EB0CFDF8-BEA9-464B-9F9F-F0FF6CCA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66875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辅助论文阅读</a:t>
            </a:r>
          </a:p>
        </p:txBody>
      </p:sp>
      <p:sp>
        <p:nvSpPr>
          <p:cNvPr id="11" name="p04-r0-2">
            <a:extLst xmlns:a="http://schemas.openxmlformats.org/drawingml/2006/main">
              <a:ext uri="{FF2B5EF4-FFF2-40B4-BE49-F238E27FC236}">
                <a16:creationId xmlns:a16="http://schemas.microsoft.com/office/drawing/2014/main" id="{955DD5AD-B2F0-41FF-9958-D19CC8B7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66687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范围、条件、可比对象</a:t>
            </a:r>
          </a:p>
        </p:txBody>
      </p:sp>
      <p:sp>
        <p:nvSpPr>
          <p:cNvPr id="12" name="p04-r1-0">
            <a:extLst xmlns:a="http://schemas.openxmlformats.org/drawingml/2006/main">
              <a:ext uri="{FF2B5EF4-FFF2-40B4-BE49-F238E27FC236}">
                <a16:creationId xmlns:a16="http://schemas.microsoft.com/office/drawing/2014/main" id="{330B9FF4-AB58-4355-854B-F464B50B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13" name="p04-r1-1">
            <a:extLst xmlns:a="http://schemas.openxmlformats.org/drawingml/2006/main">
              <a:ext uri="{FF2B5EF4-FFF2-40B4-BE49-F238E27FC236}">
                <a16:creationId xmlns:a16="http://schemas.microsoft.com/office/drawing/2014/main" id="{BA74DD29-AFF7-4986-A5AC-D609BF9F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71750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在逐条核验引用的 CS 阅读中，阅读卡是否降低遗漏率？</a:t>
            </a:r>
          </a:p>
        </p:txBody>
      </p:sp>
      <p:sp>
        <p:nvSpPr>
          <p:cNvPr id="14" name="p04-r1-2">
            <a:extLst xmlns:a="http://schemas.openxmlformats.org/drawingml/2006/main">
              <a:ext uri="{FF2B5EF4-FFF2-40B4-BE49-F238E27FC236}">
                <a16:creationId xmlns:a16="http://schemas.microsoft.com/office/drawing/2014/main" id="{FF5023E7-FB96-4D8B-8303-C5360749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候选答案、可证伪性</a:t>
            </a:r>
          </a:p>
        </p:txBody>
      </p:sp>
      <p:sp>
        <p:nvSpPr>
          <p:cNvPr id="15" name="p04-r2-0">
            <a:extLst xmlns:a="http://schemas.openxmlformats.org/drawingml/2006/main">
              <a:ext uri="{FF2B5EF4-FFF2-40B4-BE49-F238E27FC236}">
                <a16:creationId xmlns:a16="http://schemas.microsoft.com/office/drawing/2014/main" id="{E0DFE309-DF6E-4BCB-946F-21685411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待验证主张</a:t>
            </a:r>
          </a:p>
        </p:txBody>
      </p:sp>
      <p:sp>
        <p:nvSpPr>
          <p:cNvPr id="16" name="p04-r2-1">
            <a:extLst xmlns:a="http://schemas.openxmlformats.org/drawingml/2006/main">
              <a:ext uri="{FF2B5EF4-FFF2-40B4-BE49-F238E27FC236}">
                <a16:creationId xmlns:a16="http://schemas.microsoft.com/office/drawing/2014/main" id="{094CB979-4A67-490E-9D87-F27BA1E3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若强制定位原文且评价标准固定，则差异可归因于阅读卡结构</a:t>
            </a:r>
          </a:p>
        </p:txBody>
      </p:sp>
      <p:sp>
        <p:nvSpPr>
          <p:cNvPr id="17" name="p04-r2-2">
            <a:extLst xmlns:a="http://schemas.openxmlformats.org/drawingml/2006/main">
              <a:ext uri="{FF2B5EF4-FFF2-40B4-BE49-F238E27FC236}">
                <a16:creationId xmlns:a16="http://schemas.microsoft.com/office/drawing/2014/main" id="{8A8B9CCE-4BEE-4F4F-9FD1-7E4F8650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实验、竞争假设排除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CE45F7D0-DA1F-4E6B-9D5C-F172B87B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05375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研究问题不是把主题缩小一点，而是补全条件—对象—干预—结果—比较。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从研究空白到结构性问题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virtual">
            <a:extLst xmlns:a="http://schemas.openxmlformats.org/drawingml/2006/main">
              <a:ext uri="{FF2B5EF4-FFF2-40B4-BE49-F238E27FC236}">
                <a16:creationId xmlns:a16="http://schemas.microsoft.com/office/drawing/2014/main" id="{016D458E-1BB0-4471-82BA-5B45FB0C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05-gap">
            <a:extLst xmlns:a="http://schemas.openxmlformats.org/drawingml/2006/main">
              <a:ext uri="{FF2B5EF4-FFF2-40B4-BE49-F238E27FC236}">
                <a16:creationId xmlns:a16="http://schemas.microsoft.com/office/drawing/2014/main" id="{CE98D060-E63E-4843-AE59-0591A632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524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G1 空白候选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阅读卡是否强制定位原文 → 降低遗漏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状态：待真实窄检索</a:t>
            </a:r>
          </a:p>
        </p:txBody>
      </p:sp>
      <p:sp>
        <p:nvSpPr>
          <p:cNvPr id="8" name="p05-a">
            <a:extLst xmlns:a="http://schemas.openxmlformats.org/drawingml/2006/main">
              <a:ext uri="{FF2B5EF4-FFF2-40B4-BE49-F238E27FC236}">
                <a16:creationId xmlns:a16="http://schemas.microsoft.com/office/drawing/2014/main" id="{CB313D73-5795-4607-8D4C-F77B6A4B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5-q">
            <a:extLst xmlns:a="http://schemas.openxmlformats.org/drawingml/2006/main">
              <a:ext uri="{FF2B5EF4-FFF2-40B4-BE49-F238E27FC236}">
                <a16:creationId xmlns:a16="http://schemas.microsoft.com/office/drawing/2014/main" id="{92026DFA-C39F-4074-84B7-3D570A91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76375"/>
            <a:ext cx="600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在需要逐条核验引用的 CS 论文阅读任务中，结构化阅读卡是否比自由摘要更能降低限定条件遗漏率？</a:t>
            </a:r>
          </a:p>
        </p:txBody>
      </p:sp>
      <p:sp>
        <p:nvSpPr>
          <p:cNvPr id="10" name="p05-e0">
            <a:extLst xmlns:a="http://schemas.openxmlformats.org/drawingml/2006/main">
              <a:ext uri="{FF2B5EF4-FFF2-40B4-BE49-F238E27FC236}">
                <a16:creationId xmlns:a16="http://schemas.microsoft.com/office/drawing/2014/main" id="{46BE5660-80F7-4643-92AB-291A053F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1" name="p05-e1">
            <a:extLst xmlns:a="http://schemas.openxmlformats.org/drawingml/2006/main">
              <a:ext uri="{FF2B5EF4-FFF2-40B4-BE49-F238E27FC236}">
                <a16:creationId xmlns:a16="http://schemas.microsoft.com/office/drawing/2014/main" id="{647876C4-9B23-40ED-910F-178B917F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12" name="p05-e2">
            <a:extLst xmlns:a="http://schemas.openxmlformats.org/drawingml/2006/main">
              <a:ext uri="{FF2B5EF4-FFF2-40B4-BE49-F238E27FC236}">
                <a16:creationId xmlns:a16="http://schemas.microsoft.com/office/drawing/2014/main" id="{0B848FF9-6BBB-4C13-B422-7A1C9E9D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13" name="p05-e3">
            <a:extLst xmlns:a="http://schemas.openxmlformats.org/drawingml/2006/main">
              <a:ext uri="{FF2B5EF4-FFF2-40B4-BE49-F238E27FC236}">
                <a16:creationId xmlns:a16="http://schemas.microsoft.com/office/drawing/2014/main" id="{83C94A63-D7E6-4D05-A379-592FF47A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4" name="p05-e4">
            <a:extLst xmlns:a="http://schemas.openxmlformats.org/drawingml/2006/main">
              <a:ext uri="{FF2B5EF4-FFF2-40B4-BE49-F238E27FC236}">
                <a16:creationId xmlns:a16="http://schemas.microsoft.com/office/drawing/2014/main" id="{0A633961-3B5B-4F2C-B433-01A93C56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</a:t>
            </a:r>
          </a:p>
        </p:txBody>
      </p:sp>
      <p:sp>
        <p:nvSpPr>
          <p:cNvPr id="15" name="p05-bottom">
            <a:extLst xmlns:a="http://schemas.openxmlformats.org/drawingml/2006/main">
              <a:ext uri="{FF2B5EF4-FFF2-40B4-BE49-F238E27FC236}">
                <a16:creationId xmlns:a16="http://schemas.microsoft.com/office/drawing/2014/main" id="{7E042700-6E8C-4BD3-879C-A41298FD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530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补全结构，不等于证明结论；真实项目必须填写自己的检索与核验状态。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 So what? / Who cares? 检查重要性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so-h">
            <a:extLst xmlns:a="http://schemas.openxmlformats.org/drawingml/2006/main">
              <a:ext uri="{FF2B5EF4-FFF2-40B4-BE49-F238E27FC236}">
                <a16:creationId xmlns:a16="http://schemas.microsoft.com/office/drawing/2014/main" id="{E36EE3D2-56F6-4F62-95D6-522F2BD2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90625"/>
            <a:ext cx="4762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So what?｜知识后果</a:t>
            </a:r>
          </a:p>
        </p:txBody>
      </p:sp>
      <p:sp>
        <p:nvSpPr>
          <p:cNvPr id="7" name="p06-so-d">
            <a:extLst xmlns:a="http://schemas.openxmlformats.org/drawingml/2006/main">
              <a:ext uri="{FF2B5EF4-FFF2-40B4-BE49-F238E27FC236}">
                <a16:creationId xmlns:a16="http://schemas.microsoft.com/office/drawing/2014/main" id="{E730E954-5CA0-4084-BF6F-DFBB139D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28775"/>
            <a:ext cx="4762500" cy="1990725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不回答它，哪条证据链或机制假设无法成立？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回答后，能解释什么之前无法解释的现象？</a:t>
            </a:r>
          </a:p>
        </p:txBody>
      </p:sp>
      <p:sp>
        <p:nvSpPr>
          <p:cNvPr id="8" name="p06-who-h">
            <a:extLst xmlns:a="http://schemas.openxmlformats.org/drawingml/2006/main">
              <a:ext uri="{FF2B5EF4-FFF2-40B4-BE49-F238E27FC236}">
                <a16:creationId xmlns:a16="http://schemas.microsoft.com/office/drawing/2014/main" id="{DFA8364A-75B6-48D2-9BB8-9A091316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190625"/>
            <a:ext cx="4762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Who cares?｜实际后果</a:t>
            </a:r>
          </a:p>
        </p:txBody>
      </p:sp>
      <p:sp>
        <p:nvSpPr>
          <p:cNvPr id="9" name="p06-who-d">
            <a:extLst xmlns:a="http://schemas.openxmlformats.org/drawingml/2006/main">
              <a:ext uri="{FF2B5EF4-FFF2-40B4-BE49-F238E27FC236}">
                <a16:creationId xmlns:a16="http://schemas.microsoft.com/office/drawing/2014/main" id="{6CD7858E-D9E1-403A-AEA4-2F9AE577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28775"/>
            <a:ext cx="4762500" cy="1990725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谁会从答案中受益？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答案会改变什么科研动作、工具选择或判断？</a:t>
            </a:r>
          </a:p>
        </p:txBody>
      </p:sp>
      <p:sp>
        <p:nvSpPr>
          <p:cNvPr id="10" name="p06-example">
            <a:extLst xmlns:a="http://schemas.openxmlformats.org/drawingml/2006/main">
              <a:ext uri="{FF2B5EF4-FFF2-40B4-BE49-F238E27FC236}">
                <a16:creationId xmlns:a16="http://schemas.microsoft.com/office/drawing/2014/main" id="{2E98AF0C-1654-4635-A1EC-F6291D95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8572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重要性来自问题在论证链上的位置，不来自“新颖”这个标签。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问题来源交叉检查与四维选题标准卡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sk">
            <a:extLst xmlns:a="http://schemas.openxmlformats.org/drawingml/2006/main">
              <a:ext uri="{FF2B5EF4-FFF2-40B4-BE49-F238E27FC236}">
                <a16:creationId xmlns:a16="http://schemas.microsoft.com/office/drawing/2014/main" id="{0840CEA6-9BB6-447B-BAEB-33B5A717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10858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候选题从哪条生成路径来？若只来自文献空白，必须回答：没有这个空白，问题还值得回答吗？</a:t>
            </a:r>
          </a:p>
        </p:txBody>
      </p:sp>
      <p:sp>
        <p:nvSpPr>
          <p:cNvPr id="7" name="p07-branch0-h">
            <a:extLst xmlns:a="http://schemas.openxmlformats.org/drawingml/2006/main">
              <a:ext uri="{FF2B5EF4-FFF2-40B4-BE49-F238E27FC236}">
                <a16:creationId xmlns:a16="http://schemas.microsoft.com/office/drawing/2014/main" id="{E66263FF-E4BF-41D5-B0E8-70F74DDF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答得出</a:t>
            </a:r>
          </a:p>
        </p:txBody>
      </p:sp>
      <p:sp>
        <p:nvSpPr>
          <p:cNvPr id="8" name="p07-branch0-d">
            <a:extLst xmlns:a="http://schemas.openxmlformats.org/drawingml/2006/main">
              <a:ext uri="{FF2B5EF4-FFF2-40B4-BE49-F238E27FC236}">
                <a16:creationId xmlns:a16="http://schemas.microsoft.com/office/drawing/2014/main" id="{2F935ACE-22B5-4EBB-AA9F-97B05F13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00200"/>
            <a:ext cx="928687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背后有更基本的观察或约束，空白只是入口</a:t>
            </a:r>
          </a:p>
        </p:txBody>
      </p:sp>
      <p:sp>
        <p:nvSpPr>
          <p:cNvPr id="9" name="p07-branch1-h">
            <a:extLst xmlns:a="http://schemas.openxmlformats.org/drawingml/2006/main">
              <a:ext uri="{FF2B5EF4-FFF2-40B4-BE49-F238E27FC236}">
                <a16:creationId xmlns:a16="http://schemas.microsoft.com/office/drawing/2014/main" id="{19D4419C-15B9-49E7-924E-ED69A7C1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答不出</a:t>
            </a:r>
          </a:p>
        </p:txBody>
      </p:sp>
      <p:sp>
        <p:nvSpPr>
          <p:cNvPr id="10" name="p07-branch1-d">
            <a:extLst xmlns:a="http://schemas.openxmlformats.org/drawingml/2006/main">
              <a:ext uri="{FF2B5EF4-FFF2-40B4-BE49-F238E27FC236}">
                <a16:creationId xmlns:a16="http://schemas.microsoft.com/office/drawing/2014/main" id="{07BE1D09-6A2C-4CD5-9EFB-E765E947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00200"/>
            <a:ext cx="928687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可能只是填格子：重推问题，或明示重要性只在论证链内</a:t>
            </a:r>
          </a:p>
        </p:txBody>
      </p:sp>
      <p:sp>
        <p:nvSpPr>
          <p:cNvPr id="11" name="p07-card-h">
            <a:extLst xmlns:a="http://schemas.openxmlformats.org/drawingml/2006/main">
              <a:ext uri="{FF2B5EF4-FFF2-40B4-BE49-F238E27FC236}">
                <a16:creationId xmlns:a16="http://schemas.microsoft.com/office/drawing/2014/main" id="{C23A928D-AAE4-48FE-8733-2D7440E7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1085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四维选题标准卡（候选题池 ≥3 个逐一比较）</a:t>
            </a:r>
          </a:p>
        </p:txBody>
      </p:sp>
      <p:sp>
        <p:nvSpPr>
          <p:cNvPr id="12" name="p07-d0-h">
            <a:extLst xmlns:a="http://schemas.openxmlformats.org/drawingml/2006/main">
              <a:ext uri="{FF2B5EF4-FFF2-40B4-BE49-F238E27FC236}">
                <a16:creationId xmlns:a16="http://schemas.microsoft.com/office/drawing/2014/main" id="{4BDFD840-17F9-4A41-B41B-6499F96C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意义</a:t>
            </a:r>
          </a:p>
        </p:txBody>
      </p:sp>
      <p:sp>
        <p:nvSpPr>
          <p:cNvPr id="13" name="p07-d0-d">
            <a:extLst xmlns:a="http://schemas.openxmlformats.org/drawingml/2006/main">
              <a:ext uri="{FF2B5EF4-FFF2-40B4-BE49-F238E27FC236}">
                <a16:creationId xmlns:a16="http://schemas.microsoft.com/office/drawing/2014/main" id="{4F5C9E7B-5412-42A8-8709-A86886A8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146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不回答它，哪条论证链断掉？谁受益？</a:t>
            </a:r>
          </a:p>
        </p:txBody>
      </p:sp>
      <p:sp>
        <p:nvSpPr>
          <p:cNvPr id="14" name="p07-d1-h">
            <a:extLst xmlns:a="http://schemas.openxmlformats.org/drawingml/2006/main">
              <a:ext uri="{FF2B5EF4-FFF2-40B4-BE49-F238E27FC236}">
                <a16:creationId xmlns:a16="http://schemas.microsoft.com/office/drawing/2014/main" id="{BF2036C2-676F-4988-956D-470F18F4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9146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新颖性</a:t>
            </a:r>
          </a:p>
        </p:txBody>
      </p:sp>
      <p:sp>
        <p:nvSpPr>
          <p:cNvPr id="15" name="p07-d1-d">
            <a:extLst xmlns:a="http://schemas.openxmlformats.org/drawingml/2006/main">
              <a:ext uri="{FF2B5EF4-FFF2-40B4-BE49-F238E27FC236}">
                <a16:creationId xmlns:a16="http://schemas.microsoft.com/office/drawing/2014/main" id="{C3902026-89F2-40A5-9A9E-C344A619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146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问题新 / 视角新 / 方法新——新在哪一类？</a:t>
            </a:r>
          </a:p>
        </p:txBody>
      </p:sp>
      <p:sp>
        <p:nvSpPr>
          <p:cNvPr id="16" name="p07-d2-h">
            <a:extLst xmlns:a="http://schemas.openxmlformats.org/drawingml/2006/main">
              <a:ext uri="{FF2B5EF4-FFF2-40B4-BE49-F238E27FC236}">
                <a16:creationId xmlns:a16="http://schemas.microsoft.com/office/drawing/2014/main" id="{F1262938-8855-44F7-9EAD-B1866D5F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17" name="p07-d2-d">
            <a:extLst xmlns:a="http://schemas.openxmlformats.org/drawingml/2006/main">
              <a:ext uri="{FF2B5EF4-FFF2-40B4-BE49-F238E27FC236}">
                <a16:creationId xmlns:a16="http://schemas.microsoft.com/office/drawing/2014/main" id="{DD132873-5E61-4990-A5F3-0B0E40B8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528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课程周期内能否做出最小验证？</a:t>
            </a:r>
          </a:p>
        </p:txBody>
      </p:sp>
      <p:sp>
        <p:nvSpPr>
          <p:cNvPr id="18" name="p07-d3-h">
            <a:extLst xmlns:a="http://schemas.openxmlformats.org/drawingml/2006/main">
              <a:ext uri="{FF2B5EF4-FFF2-40B4-BE49-F238E27FC236}">
                <a16:creationId xmlns:a16="http://schemas.microsoft.com/office/drawing/2014/main" id="{246C1FF6-DC1D-4F0B-90A7-34402A76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528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兴趣</a:t>
            </a:r>
          </a:p>
        </p:txBody>
      </p:sp>
      <p:sp>
        <p:nvSpPr>
          <p:cNvPr id="19" name="p07-d3-d">
            <a:extLst xmlns:a="http://schemas.openxmlformats.org/drawingml/2006/main">
              <a:ext uri="{FF2B5EF4-FFF2-40B4-BE49-F238E27FC236}">
                <a16:creationId xmlns:a16="http://schemas.microsoft.com/office/drawing/2014/main" id="{E46B999E-F6D8-4D02-BA74-D32AA0CB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7528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课程之外还愿意投入吗？判据是什么？</a:t>
            </a:r>
          </a:p>
        </p:txBody>
      </p:sp>
      <p:sp>
        <p:nvSpPr>
          <p:cNvPr id="20" name="p07-novel0">
            <a:extLst xmlns:a="http://schemas.openxmlformats.org/drawingml/2006/main">
              <a:ext uri="{FF2B5EF4-FFF2-40B4-BE49-F238E27FC236}">
                <a16:creationId xmlns:a16="http://schemas.microsoft.com/office/drawing/2014/main" id="{BAC0DE3C-3799-4413-B1C9-47E848E0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81550"/>
            <a:ext cx="2190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问题新</a:t>
            </a:r>
          </a:p>
        </p:txBody>
      </p:sp>
      <p:sp>
        <p:nvSpPr>
          <p:cNvPr id="21" name="p07-novel1">
            <a:extLst xmlns:a="http://schemas.openxmlformats.org/drawingml/2006/main">
              <a:ext uri="{FF2B5EF4-FFF2-40B4-BE49-F238E27FC236}">
                <a16:creationId xmlns:a16="http://schemas.microsoft.com/office/drawing/2014/main" id="{74B07AC2-04EB-44EC-9309-37E0979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81550"/>
            <a:ext cx="2190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视角新</a:t>
            </a:r>
          </a:p>
        </p:txBody>
      </p:sp>
      <p:sp>
        <p:nvSpPr>
          <p:cNvPr id="22" name="p07-novel2">
            <a:extLst xmlns:a="http://schemas.openxmlformats.org/drawingml/2006/main">
              <a:ext uri="{FF2B5EF4-FFF2-40B4-BE49-F238E27FC236}">
                <a16:creationId xmlns:a16="http://schemas.microsoft.com/office/drawing/2014/main" id="{0B2F8D6D-F789-4A28-928B-C37374B5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81550"/>
            <a:ext cx="2190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方法新</a:t>
            </a:r>
          </a:p>
        </p:txBody>
      </p:sp>
      <p:sp>
        <p:nvSpPr>
          <p:cNvPr id="23" name="p07-bottom">
            <a:extLst xmlns:a="http://schemas.openxmlformats.org/drawingml/2006/main">
              <a:ext uri="{FF2B5EF4-FFF2-40B4-BE49-F238E27FC236}">
                <a16:creationId xmlns:a16="http://schemas.microsoft.com/office/drawing/2014/main" id="{27C8022E-7D7A-4581-A812-6A1FE5F0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530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“新”不等于“没人做过”；意义优先于新颖性。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用非例界定问题边界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7-scope">
            <a:extLst xmlns:a="http://schemas.openxmlformats.org/drawingml/2006/main">
              <a:ext uri="{FF2B5EF4-FFF2-40B4-BE49-F238E27FC236}">
                <a16:creationId xmlns:a16="http://schemas.microsoft.com/office/drawing/2014/main" id="{3F097D13-3B33-4116-80AF-6FD5787C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包含范围</a:t>
            </a:r>
          </a:p>
        </p:txBody>
      </p:sp>
      <p:sp>
        <p:nvSpPr>
          <p:cNvPr id="7" name="p07-in0">
            <a:extLst xmlns:a="http://schemas.openxmlformats.org/drawingml/2006/main">
              <a:ext uri="{FF2B5EF4-FFF2-40B4-BE49-F238E27FC236}">
                <a16:creationId xmlns:a16="http://schemas.microsoft.com/office/drawing/2014/main" id="{DE3F052C-B8FA-48B1-989C-E71AB5D4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任务：逐条核验引用</a:t>
            </a:r>
          </a:p>
        </p:txBody>
      </p:sp>
      <p:sp>
        <p:nvSpPr>
          <p:cNvPr id="8" name="p07-in1">
            <a:extLst xmlns:a="http://schemas.openxmlformats.org/drawingml/2006/main">
              <a:ext uri="{FF2B5EF4-FFF2-40B4-BE49-F238E27FC236}">
                <a16:creationId xmlns:a16="http://schemas.microsoft.com/office/drawing/2014/main" id="{41B10B18-5416-4CB6-9059-D9B8D4BC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材料：公开 CS 论文</a:t>
            </a:r>
          </a:p>
        </p:txBody>
      </p:sp>
      <p:sp>
        <p:nvSpPr>
          <p:cNvPr id="9" name="p07-in2">
            <a:extLst xmlns:a="http://schemas.openxmlformats.org/drawingml/2006/main">
              <a:ext uri="{FF2B5EF4-FFF2-40B4-BE49-F238E27FC236}">
                <a16:creationId xmlns:a16="http://schemas.microsoft.com/office/drawing/2014/main" id="{14F19C32-E6AA-4550-B509-B511C75A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指标：限定条件遗漏率</a:t>
            </a:r>
          </a:p>
        </p:txBody>
      </p:sp>
      <p:sp>
        <p:nvSpPr>
          <p:cNvPr id="10" name="p07-non">
            <a:extLst xmlns:a="http://schemas.openxmlformats.org/drawingml/2006/main">
              <a:ext uri="{FF2B5EF4-FFF2-40B4-BE49-F238E27FC236}">
                <a16:creationId xmlns:a16="http://schemas.microsoft.com/office/drawing/2014/main" id="{B54A9AE8-609E-4A8D-A625-8BA5D7A4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明确非例</a:t>
            </a:r>
          </a:p>
        </p:txBody>
      </p:sp>
      <p:sp>
        <p:nvSpPr>
          <p:cNvPr id="11" name="p07-out0">
            <a:extLst xmlns:a="http://schemas.openxmlformats.org/drawingml/2006/main">
              <a:ext uri="{FF2B5EF4-FFF2-40B4-BE49-F238E27FC236}">
                <a16:creationId xmlns:a16="http://schemas.microsoft.com/office/drawing/2014/main" id="{07D4B901-6191-4051-A965-BC4E1FD4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通用写作质量｜不同层面</a:t>
            </a:r>
          </a:p>
        </p:txBody>
      </p:sp>
      <p:sp>
        <p:nvSpPr>
          <p:cNvPr id="12" name="p07-out1">
            <a:extLst xmlns:a="http://schemas.openxmlformats.org/drawingml/2006/main">
              <a:ext uri="{FF2B5EF4-FFF2-40B4-BE49-F238E27FC236}">
                <a16:creationId xmlns:a16="http://schemas.microsoft.com/office/drawing/2014/main" id="{71C1304C-604F-45BC-812F-DE4DAFAF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语言美感｜不同指标</a:t>
            </a:r>
          </a:p>
        </p:txBody>
      </p:sp>
      <p:sp>
        <p:nvSpPr>
          <p:cNvPr id="13" name="p07-out2">
            <a:extLst xmlns:a="http://schemas.openxmlformats.org/drawingml/2006/main">
              <a:ext uri="{FF2B5EF4-FFF2-40B4-BE49-F238E27FC236}">
                <a16:creationId xmlns:a16="http://schemas.microsoft.com/office/drawing/2014/main" id="{A2D2C03A-81E6-485F-8DA0-D84E2762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需专业设备的学科｜超出周期</a:t>
            </a:r>
          </a:p>
        </p:txBody>
      </p:sp>
      <p:sp>
        <p:nvSpPr>
          <p:cNvPr id="14" name="p07-boundary">
            <a:extLst xmlns:a="http://schemas.openxmlformats.org/drawingml/2006/main">
              <a:ext uri="{FF2B5EF4-FFF2-40B4-BE49-F238E27FC236}">
                <a16:creationId xmlns:a16="http://schemas.microsoft.com/office/drawing/2014/main" id="{C3186824-2507-43C9-9532-80440F0D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3333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正边界  +  负边界</a:t>
            </a:r>
          </a:p>
        </p:txBody>
      </p:sp>
      <p:sp>
        <p:nvSpPr>
          <p:cNvPr id="15" name="p07-bottom">
            <a:extLst xmlns:a="http://schemas.openxmlformats.org/drawingml/2006/main">
              <a:ext uri="{FF2B5EF4-FFF2-40B4-BE49-F238E27FC236}">
                <a16:creationId xmlns:a16="http://schemas.microsoft.com/office/drawing/2014/main" id="{2EB0F286-0EFF-46AA-8F40-C3D01B3B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577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非例必须说明“为什么不算”，才能阻止项目随检索膨胀。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非例的三种常见错误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8-0-h">
            <a:extLst xmlns:a="http://schemas.openxmlformats.org/drawingml/2006/main">
              <a:ext uri="{FF2B5EF4-FFF2-40B4-BE49-F238E27FC236}">
                <a16:creationId xmlns:a16="http://schemas.microsoft.com/office/drawing/2014/main" id="{3E9F7CE4-3CCD-47F8-92E3-D126FEDD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过宽</a:t>
            </a:r>
          </a:p>
        </p:txBody>
      </p:sp>
      <p:sp>
        <p:nvSpPr>
          <p:cNvPr id="7" name="p08-0-d">
            <a:extLst xmlns:a="http://schemas.openxmlformats.org/drawingml/2006/main">
              <a:ext uri="{FF2B5EF4-FFF2-40B4-BE49-F238E27FC236}">
                <a16:creationId xmlns:a16="http://schemas.microsoft.com/office/drawing/2014/main" id="{D51DF16B-966C-4218-9005-BA9B5561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不做无关研究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后果：没有实质约束</a:t>
            </a:r>
          </a:p>
        </p:txBody>
      </p:sp>
      <p:sp>
        <p:nvSpPr>
          <p:cNvPr id="8" name="p08-1-h">
            <a:extLst xmlns:a="http://schemas.openxmlformats.org/drawingml/2006/main">
              <a:ext uri="{FF2B5EF4-FFF2-40B4-BE49-F238E27FC236}">
                <a16:creationId xmlns:a16="http://schemas.microsoft.com/office/drawing/2014/main" id="{3DC24690-8EA6-4387-AC43-1A0A7ABF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过窄</a:t>
            </a:r>
          </a:p>
        </p:txBody>
      </p:sp>
      <p:sp>
        <p:nvSpPr>
          <p:cNvPr id="9" name="p08-1-d">
            <a:extLst xmlns:a="http://schemas.openxmlformats.org/drawingml/2006/main">
              <a:ext uri="{FF2B5EF4-FFF2-40B4-BE49-F238E27FC236}">
                <a16:creationId xmlns:a16="http://schemas.microsoft.com/office/drawing/2014/main" id="{A09533EC-104C-4FDC-B11E-BD590FDB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不使用数据集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后果：只排除实现细节</a:t>
            </a:r>
          </a:p>
        </p:txBody>
      </p:sp>
      <p:sp>
        <p:nvSpPr>
          <p:cNvPr id="10" name="p08-2-h">
            <a:extLst xmlns:a="http://schemas.openxmlformats.org/drawingml/2006/main">
              <a:ext uri="{FF2B5EF4-FFF2-40B4-BE49-F238E27FC236}">
                <a16:creationId xmlns:a16="http://schemas.microsoft.com/office/drawing/2014/main" id="{EAF66119-329A-4346-BAD1-2CEC839D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与命题矛盾</a:t>
            </a:r>
          </a:p>
        </p:txBody>
      </p:sp>
      <p:sp>
        <p:nvSpPr>
          <p:cNvPr id="11" name="p08-2-d">
            <a:extLst xmlns:a="http://schemas.openxmlformats.org/drawingml/2006/main">
              <a:ext uri="{FF2B5EF4-FFF2-40B4-BE49-F238E27FC236}">
                <a16:creationId xmlns:a16="http://schemas.microsoft.com/office/drawing/2014/main" id="{5CF97150-DE8C-4744-9867-AF344BD8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排除必要检验条件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后果：命题无法被检验</a:t>
            </a:r>
          </a:p>
        </p:txBody>
      </p:sp>
      <p:sp>
        <p:nvSpPr>
          <p:cNvPr id="12" name="p08-test">
            <a:extLst xmlns:a="http://schemas.openxmlformats.org/drawingml/2006/main">
              <a:ext uri="{FF2B5EF4-FFF2-40B4-BE49-F238E27FC236}">
                <a16:creationId xmlns:a16="http://schemas.microsoft.com/office/drawing/2014/main" id="{103B0117-B39B-4143-B1E1-9066443B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9334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快速测试：给同伴一个“看似相关”的方向，他能否仅凭范围与非例判断纳入/排除？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把宽泛主张改写为可证伪命题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09-bad">
            <a:extLst xmlns:a="http://schemas.openxmlformats.org/drawingml/2006/main">
              <a:ext uri="{FF2B5EF4-FFF2-40B4-BE49-F238E27FC236}">
                <a16:creationId xmlns:a16="http://schemas.microsoft.com/office/drawing/2014/main" id="{384A1ABD-A95F-4B1A-9A14-6C247C24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37147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不可证伪</a:t>
            </a:r>
          </a:p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“结构化阅读卡是有用的”</a:t>
            </a:r>
          </a:p>
        </p:txBody>
      </p:sp>
      <p:sp>
        <p:nvSpPr>
          <p:cNvPr id="7" name="p09-a">
            <a:extLst xmlns:a="http://schemas.openxmlformats.org/drawingml/2006/main">
              <a:ext uri="{FF2B5EF4-FFF2-40B4-BE49-F238E27FC236}">
                <a16:creationId xmlns:a16="http://schemas.microsoft.com/office/drawing/2014/main" id="{EB380D32-B571-4920-A574-B103B024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621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09-good">
            <a:extLst xmlns:a="http://schemas.openxmlformats.org/drawingml/2006/main">
              <a:ext uri="{FF2B5EF4-FFF2-40B4-BE49-F238E27FC236}">
                <a16:creationId xmlns:a16="http://schemas.microsoft.com/office/drawing/2014/main" id="{19DF4620-BF3F-4AC0-A293-1FF997C0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61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可证伪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在固定任务与评价标准下，阅读卡组相较自由摘要组的遗漏率更低；若未下降，主张不成立。</a:t>
            </a:r>
          </a:p>
        </p:txBody>
      </p:sp>
      <p:sp>
        <p:nvSpPr>
          <p:cNvPr id="9" name="p09-e0">
            <a:extLst xmlns:a="http://schemas.openxmlformats.org/drawingml/2006/main">
              <a:ext uri="{FF2B5EF4-FFF2-40B4-BE49-F238E27FC236}">
                <a16:creationId xmlns:a16="http://schemas.microsoft.com/office/drawing/2014/main" id="{AE8E5DA8-1688-4D20-8755-DBAB04FA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0" name="p09-e1">
            <a:extLst xmlns:a="http://schemas.openxmlformats.org/drawingml/2006/main">
              <a:ext uri="{FF2B5EF4-FFF2-40B4-BE49-F238E27FC236}">
                <a16:creationId xmlns:a16="http://schemas.microsoft.com/office/drawing/2014/main" id="{68F90EFD-3884-404D-8BDB-80337D4E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11" name="p09-e2">
            <a:extLst xmlns:a="http://schemas.openxmlformats.org/drawingml/2006/main">
              <a:ext uri="{FF2B5EF4-FFF2-40B4-BE49-F238E27FC236}">
                <a16:creationId xmlns:a16="http://schemas.microsoft.com/office/drawing/2014/main" id="{133314F9-3BBB-4BD2-8559-85CFA17B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2" name="p09-e3">
            <a:extLst xmlns:a="http://schemas.openxmlformats.org/drawingml/2006/main">
              <a:ext uri="{FF2B5EF4-FFF2-40B4-BE49-F238E27FC236}">
                <a16:creationId xmlns:a16="http://schemas.microsoft.com/office/drawing/2014/main" id="{F35F3769-4E9C-4C22-AC62-C2DEFFEC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3" name="p09-e4">
            <a:extLst xmlns:a="http://schemas.openxmlformats.org/drawingml/2006/main">
              <a:ext uri="{FF2B5EF4-FFF2-40B4-BE49-F238E27FC236}">
                <a16:creationId xmlns:a16="http://schemas.microsoft.com/office/drawing/2014/main" id="{6F9892B9-56C6-4C17-8AF7-AE21F73B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推翻条件</a:t>
            </a:r>
          </a:p>
        </p:txBody>
      </p:sp>
      <p:sp>
        <p:nvSpPr>
          <p:cNvPr id="14" name="p09-bottom">
            <a:extLst xmlns:a="http://schemas.openxmlformats.org/drawingml/2006/main">
              <a:ext uri="{FF2B5EF4-FFF2-40B4-BE49-F238E27FC236}">
                <a16:creationId xmlns:a16="http://schemas.microsoft.com/office/drawing/2014/main" id="{2810D2D8-CCDF-4B0F-A2F2-41CE53F2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能指出什么观察会使主张不成立，才进入可检验状态。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竞争假设与区分实验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0-h1-h">
            <a:extLst xmlns:a="http://schemas.openxmlformats.org/drawingml/2006/main">
              <a:ext uri="{FF2B5EF4-FFF2-40B4-BE49-F238E27FC236}">
                <a16:creationId xmlns:a16="http://schemas.microsoft.com/office/drawing/2014/main" id="{3E9C9145-806C-41EC-8349-E514FD52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H1｜结构机制</a:t>
            </a:r>
          </a:p>
        </p:txBody>
      </p:sp>
      <p:sp>
        <p:nvSpPr>
          <p:cNvPr id="7" name="p10-h1-d">
            <a:extLst xmlns:a="http://schemas.openxmlformats.org/drawingml/2006/main">
              <a:ext uri="{FF2B5EF4-FFF2-40B4-BE49-F238E27FC236}">
                <a16:creationId xmlns:a16="http://schemas.microsoft.com/office/drawing/2014/main" id="{12825A3E-2A11-4D8E-BF85-2CCCEC55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阅读卡强制定位原文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减少模型新增内容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遗漏率下降</a:t>
            </a:r>
          </a:p>
        </p:txBody>
      </p:sp>
      <p:sp>
        <p:nvSpPr>
          <p:cNvPr id="8" name="p10-h2-h">
            <a:extLst xmlns:a="http://schemas.openxmlformats.org/drawingml/2006/main">
              <a:ext uri="{FF2B5EF4-FFF2-40B4-BE49-F238E27FC236}">
                <a16:creationId xmlns:a16="http://schemas.microsoft.com/office/drawing/2014/main" id="{9815505C-447B-497C-9729-B98F09E1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H2｜时间解释</a:t>
            </a:r>
          </a:p>
        </p:txBody>
      </p:sp>
      <p:sp>
        <p:nvSpPr>
          <p:cNvPr id="9" name="p10-h2-d">
            <a:extLst xmlns:a="http://schemas.openxmlformats.org/drawingml/2006/main">
              <a:ext uri="{FF2B5EF4-FFF2-40B4-BE49-F238E27FC236}">
                <a16:creationId xmlns:a16="http://schemas.microsoft.com/office/drawing/2014/main" id="{8E4134B1-8FD8-47DB-9666-EE6C8845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阅读卡只是增加用时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更多检查时间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遗漏率下降</a:t>
            </a:r>
          </a:p>
        </p:txBody>
      </p:sp>
      <p:sp>
        <p:nvSpPr>
          <p:cNvPr id="10" name="p10-test-h">
            <a:extLst xmlns:a="http://schemas.openxmlformats.org/drawingml/2006/main">
              <a:ext uri="{FF2B5EF4-FFF2-40B4-BE49-F238E27FC236}">
                <a16:creationId xmlns:a16="http://schemas.microsoft.com/office/drawing/2014/main" id="{B890D79A-BFD2-42C4-BFC2-C923E0C9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区分实验</a:t>
            </a:r>
          </a:p>
        </p:txBody>
      </p:sp>
      <p:sp>
        <p:nvSpPr>
          <p:cNvPr id="11" name="p10-test-d">
            <a:extLst xmlns:a="http://schemas.openxmlformats.org/drawingml/2006/main">
              <a:ext uri="{FF2B5EF4-FFF2-40B4-BE49-F238E27FC236}">
                <a16:creationId xmlns:a16="http://schemas.microsoft.com/office/drawing/2014/main" id="{63E8CA72-4B47-44A1-95B5-9C749398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 + 等量时间</a:t>
            </a:r>
          </a:p>
        </p:txBody>
      </p:sp>
      <p:sp>
        <p:nvSpPr>
          <p:cNvPr id="12" name="p10-a1">
            <a:extLst xmlns:a="http://schemas.openxmlformats.org/drawingml/2006/main">
              <a:ext uri="{FF2B5EF4-FFF2-40B4-BE49-F238E27FC236}">
                <a16:creationId xmlns:a16="http://schemas.microsoft.com/office/drawing/2014/main" id="{E0C00CE1-9B8E-419F-8734-8056C843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81375"/>
            <a:ext cx="1143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进入比较</a:t>
            </a:r>
          </a:p>
        </p:txBody>
      </p:sp>
      <p:sp>
        <p:nvSpPr>
          <p:cNvPr id="13" name="p10-a2">
            <a:extLst xmlns:a="http://schemas.openxmlformats.org/drawingml/2006/main">
              <a:ext uri="{FF2B5EF4-FFF2-40B4-BE49-F238E27FC236}">
                <a16:creationId xmlns:a16="http://schemas.microsoft.com/office/drawing/2014/main" id="{A85BECCF-7113-4A5A-B5C0-624955AC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143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进入比较</a:t>
            </a:r>
          </a:p>
        </p:txBody>
      </p:sp>
      <p:sp>
        <p:nvSpPr>
          <p:cNvPr id="14" name="p10-result">
            <a:extLst xmlns:a="http://schemas.openxmlformats.org/drawingml/2006/main">
              <a:ext uri="{FF2B5EF4-FFF2-40B4-BE49-F238E27FC236}">
                <a16:creationId xmlns:a16="http://schemas.microsoft.com/office/drawing/2014/main" id="{82077D3A-8175-4FFF-9488-FF540AE9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95750"/>
            <a:ext cx="7810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若只有阅读卡组下降，才更有力地排除“仅仅多花时间”的解释。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第一性原理不是脱离证据的捷径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1-0-h">
            <a:extLst xmlns:a="http://schemas.openxmlformats.org/drawingml/2006/main">
              <a:ext uri="{FF2B5EF4-FFF2-40B4-BE49-F238E27FC236}">
                <a16:creationId xmlns:a16="http://schemas.microsoft.com/office/drawing/2014/main" id="{454885E7-5A6D-43A9-8091-C209232A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不替代检索</a:t>
            </a:r>
          </a:p>
        </p:txBody>
      </p:sp>
      <p:sp>
        <p:nvSpPr>
          <p:cNvPr id="7" name="p11-0-d">
            <a:extLst xmlns:a="http://schemas.openxmlformats.org/drawingml/2006/main">
              <a:ext uri="{FF2B5EF4-FFF2-40B4-BE49-F238E27FC236}">
                <a16:creationId xmlns:a16="http://schemas.microsoft.com/office/drawing/2014/main" id="{68B2925B-5273-47FE-B810-574E36C9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待验证前提仍要回到文献与证据地图</a:t>
            </a:r>
          </a:p>
        </p:txBody>
      </p:sp>
      <p:sp>
        <p:nvSpPr>
          <p:cNvPr id="8" name="p11-1-h">
            <a:extLst xmlns:a="http://schemas.openxmlformats.org/drawingml/2006/main">
              <a:ext uri="{FF2B5EF4-FFF2-40B4-BE49-F238E27FC236}">
                <a16:creationId xmlns:a16="http://schemas.microsoft.com/office/drawing/2014/main" id="{7B8CD653-FDA9-4075-A559-699DCEB7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95375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不脱离既有工作</a:t>
            </a:r>
          </a:p>
        </p:txBody>
      </p:sp>
      <p:sp>
        <p:nvSpPr>
          <p:cNvPr id="9" name="p11-1-d">
            <a:extLst xmlns:a="http://schemas.openxmlformats.org/drawingml/2006/main">
              <a:ext uri="{FF2B5EF4-FFF2-40B4-BE49-F238E27FC236}">
                <a16:creationId xmlns:a16="http://schemas.microsoft.com/office/drawing/2014/main" id="{9BD966D6-BA59-4D51-BAB3-1EDBA3B1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33525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从已核验材料与空白出发</a:t>
            </a:r>
          </a:p>
        </p:txBody>
      </p:sp>
      <p:sp>
        <p:nvSpPr>
          <p:cNvPr id="10" name="p11-2-h">
            <a:extLst xmlns:a="http://schemas.openxmlformats.org/drawingml/2006/main">
              <a:ext uri="{FF2B5EF4-FFF2-40B4-BE49-F238E27FC236}">
                <a16:creationId xmlns:a16="http://schemas.microsoft.com/office/drawing/2014/main" id="{6ACE72A1-6D2D-4009-9440-48CB5B70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不自动成立</a:t>
            </a:r>
          </a:p>
        </p:txBody>
      </p:sp>
      <p:sp>
        <p:nvSpPr>
          <p:cNvPr id="11" name="p11-2-d">
            <a:extLst xmlns:a="http://schemas.openxmlformats.org/drawingml/2006/main">
              <a:ext uri="{FF2B5EF4-FFF2-40B4-BE49-F238E27FC236}">
                <a16:creationId xmlns:a16="http://schemas.microsoft.com/office/drawing/2014/main" id="{D2C00A01-A844-4573-8748-544534B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推导不是证明，必须接受外部检验</a:t>
            </a:r>
          </a:p>
        </p:txBody>
      </p:sp>
      <p:sp>
        <p:nvSpPr>
          <p:cNvPr id="12" name="p11-3-h">
            <a:extLst xmlns:a="http://schemas.openxmlformats.org/drawingml/2006/main">
              <a:ext uri="{FF2B5EF4-FFF2-40B4-BE49-F238E27FC236}">
                <a16:creationId xmlns:a16="http://schemas.microsoft.com/office/drawing/2014/main" id="{6881F36B-A6EB-4D76-BB85-40CE3F3F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不追求穷举</a:t>
            </a:r>
          </a:p>
        </p:txBody>
      </p:sp>
      <p:sp>
        <p:nvSpPr>
          <p:cNvPr id="13" name="p11-3-d">
            <a:extLst xmlns:a="http://schemas.openxmlformats.org/drawingml/2006/main">
              <a:ext uri="{FF2B5EF4-FFF2-40B4-BE49-F238E27FC236}">
                <a16:creationId xmlns:a16="http://schemas.microsoft.com/office/drawing/2014/main" id="{0CB6DD04-090E-429A-BD07-340B053B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00400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只推导当前关键机制与约束</a:t>
            </a:r>
          </a:p>
        </p:txBody>
      </p:sp>
      <p:sp>
        <p:nvSpPr>
          <p:cNvPr id="14" name="p11-loop">
            <a:extLst xmlns:a="http://schemas.openxmlformats.org/drawingml/2006/main">
              <a:ext uri="{FF2B5EF4-FFF2-40B4-BE49-F238E27FC236}">
                <a16:creationId xmlns:a16="http://schemas.microsoft.com/office/drawing/2014/main" id="{A03993F1-39F5-4AF2-B48C-209A9693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942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证据地图  →  基本约束 / 机制  →  待验证前提  →  外部证据检验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第一性原理四步推导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2-n0">
            <a:extLst xmlns:a="http://schemas.openxmlformats.org/drawingml/2006/main">
              <a:ext uri="{FF2B5EF4-FFF2-40B4-BE49-F238E27FC236}">
                <a16:creationId xmlns:a16="http://schemas.microsoft.com/office/drawing/2014/main" id="{5F328C03-C34F-4B3C-BDFC-B74B56D7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-h0">
            <a:extLst xmlns:a="http://schemas.openxmlformats.org/drawingml/2006/main">
              <a:ext uri="{FF2B5EF4-FFF2-40B4-BE49-F238E27FC236}">
                <a16:creationId xmlns:a16="http://schemas.microsoft.com/office/drawing/2014/main" id="{9672EB13-D1A0-477F-8B84-A250F9FD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287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基本约束</a:t>
            </a:r>
          </a:p>
        </p:txBody>
      </p:sp>
      <p:sp>
        <p:nvSpPr>
          <p:cNvPr id="8" name="p12-d0">
            <a:extLst xmlns:a="http://schemas.openxmlformats.org/drawingml/2006/main">
              <a:ext uri="{FF2B5EF4-FFF2-40B4-BE49-F238E27FC236}">
                <a16:creationId xmlns:a16="http://schemas.microsoft.com/office/drawing/2014/main" id="{C4AC0435-E43C-46A2-A97D-359421DB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287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主张成立必须满足什么？</a:t>
            </a:r>
          </a:p>
        </p:txBody>
      </p:sp>
      <p:sp>
        <p:nvSpPr>
          <p:cNvPr id="9" name="p12-n1">
            <a:extLst xmlns:a="http://schemas.openxmlformats.org/drawingml/2006/main">
              <a:ext uri="{FF2B5EF4-FFF2-40B4-BE49-F238E27FC236}">
                <a16:creationId xmlns:a16="http://schemas.microsoft.com/office/drawing/2014/main" id="{D045FC7D-7E48-4355-B89C-856DE699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2-h1">
            <a:extLst xmlns:a="http://schemas.openxmlformats.org/drawingml/2006/main">
              <a:ext uri="{FF2B5EF4-FFF2-40B4-BE49-F238E27FC236}">
                <a16:creationId xmlns:a16="http://schemas.microsoft.com/office/drawing/2014/main" id="{41B3C051-73BA-4D50-B742-58E80E15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574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作用机制</a:t>
            </a:r>
          </a:p>
        </p:txBody>
      </p:sp>
      <p:sp>
        <p:nvSpPr>
          <p:cNvPr id="11" name="p12-d1">
            <a:extLst xmlns:a="http://schemas.openxmlformats.org/drawingml/2006/main">
              <a:ext uri="{FF2B5EF4-FFF2-40B4-BE49-F238E27FC236}">
                <a16:creationId xmlns:a16="http://schemas.microsoft.com/office/drawing/2014/main" id="{DD805905-80FE-4B34-BAE1-DF5ADB26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干预通过什么中间过程起作用？</a:t>
            </a:r>
          </a:p>
        </p:txBody>
      </p:sp>
      <p:sp>
        <p:nvSpPr>
          <p:cNvPr id="12" name="p12-n2">
            <a:extLst xmlns:a="http://schemas.openxmlformats.org/drawingml/2006/main">
              <a:ext uri="{FF2B5EF4-FFF2-40B4-BE49-F238E27FC236}">
                <a16:creationId xmlns:a16="http://schemas.microsoft.com/office/drawing/2014/main" id="{1E5FA346-D632-465B-833E-C46CD65D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2-h2">
            <a:extLst xmlns:a="http://schemas.openxmlformats.org/drawingml/2006/main">
              <a:ext uri="{FF2B5EF4-FFF2-40B4-BE49-F238E27FC236}">
                <a16:creationId xmlns:a16="http://schemas.microsoft.com/office/drawing/2014/main" id="{B43F8820-DB6B-4AB8-AA23-AF82F832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861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不可违背条件</a:t>
            </a:r>
          </a:p>
        </p:txBody>
      </p:sp>
      <p:sp>
        <p:nvSpPr>
          <p:cNvPr id="14" name="p12-d2">
            <a:extLst xmlns:a="http://schemas.openxmlformats.org/drawingml/2006/main">
              <a:ext uri="{FF2B5EF4-FFF2-40B4-BE49-F238E27FC236}">
                <a16:creationId xmlns:a16="http://schemas.microsoft.com/office/drawing/2014/main" id="{997B02CE-DDD4-4AF4-938F-F055AD3E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怎样比较才公平、可复现？</a:t>
            </a:r>
          </a:p>
        </p:txBody>
      </p:sp>
      <p:sp>
        <p:nvSpPr>
          <p:cNvPr id="15" name="p12-n3">
            <a:extLst xmlns:a="http://schemas.openxmlformats.org/drawingml/2006/main">
              <a:ext uri="{FF2B5EF4-FFF2-40B4-BE49-F238E27FC236}">
                <a16:creationId xmlns:a16="http://schemas.microsoft.com/office/drawing/2014/main" id="{2589B9AC-233A-459B-844E-3466141C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2-h3">
            <a:extLst xmlns:a="http://schemas.openxmlformats.org/drawingml/2006/main">
              <a:ext uri="{FF2B5EF4-FFF2-40B4-BE49-F238E27FC236}">
                <a16:creationId xmlns:a16="http://schemas.microsoft.com/office/drawing/2014/main" id="{5929F937-99E1-4950-85DF-40E0A34E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48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17" name="p12-d3">
            <a:extLst xmlns:a="http://schemas.openxmlformats.org/drawingml/2006/main">
              <a:ext uri="{FF2B5EF4-FFF2-40B4-BE49-F238E27FC236}">
                <a16:creationId xmlns:a16="http://schemas.microsoft.com/office/drawing/2014/main" id="{F111268B-CB9E-4931-B540-9F377AB4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148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从前三步推出什么可检验陈述？</a:t>
            </a:r>
          </a:p>
        </p:txBody>
      </p:sp>
      <p:sp>
        <p:nvSpPr>
          <p:cNvPr id="18" name="p12-bottom">
            <a:extLst xmlns:a="http://schemas.openxmlformats.org/drawingml/2006/main">
              <a:ext uri="{FF2B5EF4-FFF2-40B4-BE49-F238E27FC236}">
                <a16:creationId xmlns:a16="http://schemas.microsoft.com/office/drawing/2014/main" id="{14F71FA8-16F8-4C64-BB9C-F519B442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每一步都标注依据：任务约束、已核验证据或待检验假设。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推导示范：从约束到待验证前提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3-virtual">
            <a:extLst xmlns:a="http://schemas.openxmlformats.org/drawingml/2006/main">
              <a:ext uri="{FF2B5EF4-FFF2-40B4-BE49-F238E27FC236}">
                <a16:creationId xmlns:a16="http://schemas.microsoft.com/office/drawing/2014/main" id="{B678B9E5-8B3D-4208-9A6C-E61069A6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3-0-h">
            <a:extLst xmlns:a="http://schemas.openxmlformats.org/drawingml/2006/main">
              <a:ext uri="{FF2B5EF4-FFF2-40B4-BE49-F238E27FC236}">
                <a16:creationId xmlns:a16="http://schemas.microsoft.com/office/drawing/2014/main" id="{8FB517DF-85C8-41C7-96DD-4789F1ED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基本约束</a:t>
            </a:r>
          </a:p>
        </p:txBody>
      </p:sp>
      <p:sp>
        <p:nvSpPr>
          <p:cNvPr id="8" name="p13-0-d">
            <a:extLst xmlns:a="http://schemas.openxmlformats.org/drawingml/2006/main">
              <a:ext uri="{FF2B5EF4-FFF2-40B4-BE49-F238E27FC236}">
                <a16:creationId xmlns:a16="http://schemas.microsoft.com/office/drawing/2014/main" id="{8BA989DF-89AC-4A20-BFD8-F4BD7E5D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主张可定位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来源含支持内容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核验者可区分新增</a:t>
            </a:r>
          </a:p>
        </p:txBody>
      </p:sp>
      <p:sp>
        <p:nvSpPr>
          <p:cNvPr id="9" name="p13-1-h">
            <a:extLst xmlns:a="http://schemas.openxmlformats.org/drawingml/2006/main">
              <a:ext uri="{FF2B5EF4-FFF2-40B4-BE49-F238E27FC236}">
                <a16:creationId xmlns:a16="http://schemas.microsoft.com/office/drawing/2014/main" id="{8A9F4C41-2B61-4A60-98F9-C3CE9874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作用机制</a:t>
            </a:r>
          </a:p>
        </p:txBody>
      </p:sp>
      <p:sp>
        <p:nvSpPr>
          <p:cNvPr id="10" name="p13-1-d">
            <a:extLst xmlns:a="http://schemas.openxmlformats.org/drawingml/2006/main">
              <a:ext uri="{FF2B5EF4-FFF2-40B4-BE49-F238E27FC236}">
                <a16:creationId xmlns:a16="http://schemas.microsoft.com/office/drawing/2014/main" id="{FA1BD7A8-6FC3-4C0E-A266-34FE32A4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分栏记录任务 / 设置 / 结果 / 局限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使主张绑定来源</a:t>
            </a:r>
          </a:p>
        </p:txBody>
      </p:sp>
      <p:sp>
        <p:nvSpPr>
          <p:cNvPr id="11" name="p13-2-h">
            <a:extLst xmlns:a="http://schemas.openxmlformats.org/drawingml/2006/main">
              <a:ext uri="{FF2B5EF4-FFF2-40B4-BE49-F238E27FC236}">
                <a16:creationId xmlns:a16="http://schemas.microsoft.com/office/drawing/2014/main" id="{760E5707-FEC8-4C1F-B147-816FB6B4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不可违背</a:t>
            </a:r>
          </a:p>
        </p:txBody>
      </p:sp>
      <p:sp>
        <p:nvSpPr>
          <p:cNvPr id="12" name="p13-2-d">
            <a:extLst xmlns:a="http://schemas.openxmlformats.org/drawingml/2006/main">
              <a:ext uri="{FF2B5EF4-FFF2-40B4-BE49-F238E27FC236}">
                <a16:creationId xmlns:a16="http://schemas.microsoft.com/office/drawing/2014/main" id="{4D3F8B2B-BC9C-4DED-A998-BC56895A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同论文、同模型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 rubric、盲评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遗漏有定义</a:t>
            </a:r>
          </a:p>
        </p:txBody>
      </p:sp>
      <p:sp>
        <p:nvSpPr>
          <p:cNvPr id="13" name="p13-3-h">
            <a:extLst xmlns:a="http://schemas.openxmlformats.org/drawingml/2006/main">
              <a:ext uri="{FF2B5EF4-FFF2-40B4-BE49-F238E27FC236}">
                <a16:creationId xmlns:a16="http://schemas.microsoft.com/office/drawing/2014/main" id="{2932B90E-AF03-497A-B1A4-E160AD3C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14" name="p13-3-d">
            <a:extLst xmlns:a="http://schemas.openxmlformats.org/drawingml/2006/main">
              <a:ext uri="{FF2B5EF4-FFF2-40B4-BE49-F238E27FC236}">
                <a16:creationId xmlns:a16="http://schemas.microsoft.com/office/drawing/2014/main" id="{9499355E-38ED-44FE-8670-3EDC26DF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若定位原文且标准固定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则遗漏率可测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差异可归因</a:t>
            </a:r>
          </a:p>
        </p:txBody>
      </p:sp>
      <p:sp>
        <p:nvSpPr>
          <p:cNvPr id="15" name="p13-a0">
            <a:extLst xmlns:a="http://schemas.openxmlformats.org/drawingml/2006/main">
              <a:ext uri="{FF2B5EF4-FFF2-40B4-BE49-F238E27FC236}">
                <a16:creationId xmlns:a16="http://schemas.microsoft.com/office/drawing/2014/main" id="{9EF3B1EC-04FB-48C5-84CB-0E169356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19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3-a1">
            <a:extLst xmlns:a="http://schemas.openxmlformats.org/drawingml/2006/main">
              <a:ext uri="{FF2B5EF4-FFF2-40B4-BE49-F238E27FC236}">
                <a16:creationId xmlns:a16="http://schemas.microsoft.com/office/drawing/2014/main" id="{F4686A01-66FE-46E7-9101-8C68E1C5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3-a2">
            <a:extLst xmlns:a="http://schemas.openxmlformats.org/drawingml/2006/main">
              <a:ext uri="{FF2B5EF4-FFF2-40B4-BE49-F238E27FC236}">
                <a16:creationId xmlns:a16="http://schemas.microsoft.com/office/drawing/2014/main" id="{7715CED7-1ECD-4DFB-A4AE-A910423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19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13-bottom">
            <a:extLst xmlns:a="http://schemas.openxmlformats.org/drawingml/2006/main">
              <a:ext uri="{FF2B5EF4-FFF2-40B4-BE49-F238E27FC236}">
                <a16:creationId xmlns:a16="http://schemas.microsoft.com/office/drawing/2014/main" id="{FB7BD820-AE29-4A5E-A920-E1EB1C15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输出是待验证前提，不是实证结论；第 7 课再转成机制假设。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问题门八项条件自查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4-n0">
            <a:extLst xmlns:a="http://schemas.openxmlformats.org/drawingml/2006/main">
              <a:ext uri="{FF2B5EF4-FFF2-40B4-BE49-F238E27FC236}">
                <a16:creationId xmlns:a16="http://schemas.microsoft.com/office/drawing/2014/main" id="{19559B68-D68A-4168-AA57-3D63B0EF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477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4-g0">
            <a:extLst xmlns:a="http://schemas.openxmlformats.org/drawingml/2006/main">
              <a:ext uri="{FF2B5EF4-FFF2-40B4-BE49-F238E27FC236}">
                <a16:creationId xmlns:a16="http://schemas.microsoft.com/office/drawing/2014/main" id="{DD0C2E4E-123C-4A15-B611-F3412F6E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9810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≥10 篇候选文献 + 证据角色</a:t>
            </a:r>
          </a:p>
        </p:txBody>
      </p:sp>
      <p:sp>
        <p:nvSpPr>
          <p:cNvPr id="8" name="p14-n1">
            <a:extLst xmlns:a="http://schemas.openxmlformats.org/drawingml/2006/main">
              <a:ext uri="{FF2B5EF4-FFF2-40B4-BE49-F238E27FC236}">
                <a16:creationId xmlns:a16="http://schemas.microsoft.com/office/drawing/2014/main" id="{4FE28715-780E-46A2-88A1-49823D65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477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4-g1">
            <a:extLst xmlns:a="http://schemas.openxmlformats.org/drawingml/2006/main">
              <a:ext uri="{FF2B5EF4-FFF2-40B4-BE49-F238E27FC236}">
                <a16:creationId xmlns:a16="http://schemas.microsoft.com/office/drawing/2014/main" id="{1F94FF83-49A7-4BF6-A9B5-A31139F8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9810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张核心材料完整精读卡</a:t>
            </a:r>
          </a:p>
        </p:txBody>
      </p:sp>
      <p:sp>
        <p:nvSpPr>
          <p:cNvPr id="10" name="p14-n2">
            <a:extLst xmlns:a="http://schemas.openxmlformats.org/drawingml/2006/main">
              <a:ext uri="{FF2B5EF4-FFF2-40B4-BE49-F238E27FC236}">
                <a16:creationId xmlns:a16="http://schemas.microsoft.com/office/drawing/2014/main" id="{21674778-5E6F-48D8-99D5-9A239110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4-g2">
            <a:extLst xmlns:a="http://schemas.openxmlformats.org/drawingml/2006/main">
              <a:ext uri="{FF2B5EF4-FFF2-40B4-BE49-F238E27FC236}">
                <a16:creationId xmlns:a16="http://schemas.microsoft.com/office/drawing/2014/main" id="{948857F5-84D0-4295-926D-56471FC0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859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初始地图 + ≥2 原文位置 + 错误/过度概括/遗漏或已检查风险 + 人工判断</a:t>
            </a:r>
          </a:p>
        </p:txBody>
      </p:sp>
      <p:sp>
        <p:nvSpPr>
          <p:cNvPr id="12" name="p14-n3">
            <a:extLst xmlns:a="http://schemas.openxmlformats.org/drawingml/2006/main">
              <a:ext uri="{FF2B5EF4-FFF2-40B4-BE49-F238E27FC236}">
                <a16:creationId xmlns:a16="http://schemas.microsoft.com/office/drawing/2014/main" id="{B0A45D9B-04BD-4435-958B-B09DE4E5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4-g3">
            <a:extLst xmlns:a="http://schemas.openxmlformats.org/drawingml/2006/main">
              <a:ext uri="{FF2B5EF4-FFF2-40B4-BE49-F238E27FC236}">
                <a16:creationId xmlns:a16="http://schemas.microsoft.com/office/drawing/2014/main" id="{5FCA33EE-D2A9-41AD-998C-B5D2CBD2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0859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证据地图：直接 / 补充 / 冲突 / 空白</a:t>
            </a:r>
          </a:p>
        </p:txBody>
      </p:sp>
      <p:sp>
        <p:nvSpPr>
          <p:cNvPr id="14" name="p14-n4">
            <a:extLst xmlns:a="http://schemas.openxmlformats.org/drawingml/2006/main">
              <a:ext uri="{FF2B5EF4-FFF2-40B4-BE49-F238E27FC236}">
                <a16:creationId xmlns:a16="http://schemas.microsoft.com/office/drawing/2014/main" id="{7D33F2BF-1FF0-42BB-AF4C-1145C057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4-g4">
            <a:extLst xmlns:a="http://schemas.openxmlformats.org/drawingml/2006/main">
              <a:ext uri="{FF2B5EF4-FFF2-40B4-BE49-F238E27FC236}">
                <a16:creationId xmlns:a16="http://schemas.microsoft.com/office/drawing/2014/main" id="{1B6F6C6E-413B-41C0-9215-6E47E191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1908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问题含范围、非例、≥1 可证伪命题</a:t>
            </a:r>
          </a:p>
        </p:txBody>
      </p:sp>
      <p:sp>
        <p:nvSpPr>
          <p:cNvPr id="16" name="p14-n5">
            <a:extLst xmlns:a="http://schemas.openxmlformats.org/drawingml/2006/main">
              <a:ext uri="{FF2B5EF4-FFF2-40B4-BE49-F238E27FC236}">
                <a16:creationId xmlns:a16="http://schemas.microsoft.com/office/drawing/2014/main" id="{BB23667D-3D9D-429F-9A58-51D8EA2B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14-g5">
            <a:extLst xmlns:a="http://schemas.openxmlformats.org/drawingml/2006/main">
              <a:ext uri="{FF2B5EF4-FFF2-40B4-BE49-F238E27FC236}">
                <a16:creationId xmlns:a16="http://schemas.microsoft.com/office/drawing/2014/main" id="{22B3D4F5-120A-49F6-AA8F-325F17E8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1908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第一性原理：必要条件 / 关键约束 / 可检验前提</a:t>
            </a:r>
          </a:p>
        </p:txBody>
      </p:sp>
      <p:sp>
        <p:nvSpPr>
          <p:cNvPr id="18" name="p14-n6">
            <a:extLst xmlns:a="http://schemas.openxmlformats.org/drawingml/2006/main">
              <a:ext uri="{FF2B5EF4-FFF2-40B4-BE49-F238E27FC236}">
                <a16:creationId xmlns:a16="http://schemas.microsoft.com/office/drawing/2014/main" id="{46762010-AD6B-42B1-ACC8-374BBD92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62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9" name="p14-g6">
            <a:extLst xmlns:a="http://schemas.openxmlformats.org/drawingml/2006/main">
              <a:ext uri="{FF2B5EF4-FFF2-40B4-BE49-F238E27FC236}">
                <a16:creationId xmlns:a16="http://schemas.microsoft.com/office/drawing/2014/main" id="{3E51EFF3-1D51-4D6F-953B-F3CA80EF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2957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重要性 + 课程周期可行性</a:t>
            </a:r>
          </a:p>
        </p:txBody>
      </p:sp>
      <p:sp>
        <p:nvSpPr>
          <p:cNvPr id="20" name="p14-n7">
            <a:extLst xmlns:a="http://schemas.openxmlformats.org/drawingml/2006/main">
              <a:ext uri="{FF2B5EF4-FFF2-40B4-BE49-F238E27FC236}">
                <a16:creationId xmlns:a16="http://schemas.microsoft.com/office/drawing/2014/main" id="{4921D696-8005-4991-A6AD-ECDC02EF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62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1" name="p14-g7">
            <a:extLst xmlns:a="http://schemas.openxmlformats.org/drawingml/2006/main">
              <a:ext uri="{FF2B5EF4-FFF2-40B4-BE49-F238E27FC236}">
                <a16:creationId xmlns:a16="http://schemas.microsoft.com/office/drawing/2014/main" id="{1CB2E711-AF6A-4DFD-AA9E-E75C728E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2957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检索 / 阅读 / 改写：来源与人工核验方式</a:t>
            </a:r>
          </a:p>
        </p:txBody>
      </p:sp>
      <p:sp>
        <p:nvSpPr>
          <p:cNvPr id="22" name="p14-bottom">
            <a:extLst xmlns:a="http://schemas.openxmlformats.org/drawingml/2006/main">
              <a:ext uri="{FF2B5EF4-FFF2-40B4-BE49-F238E27FC236}">
                <a16:creationId xmlns:a16="http://schemas.microsoft.com/office/drawing/2014/main" id="{E5825408-26E6-40B8-9546-52BF8A57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00675"/>
            <a:ext cx="942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1-5 课工件持续累计；本课重点补第 5-7 项，并继续回写第 8 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门条件自查：累计工件与当前缺口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5-virtual">
            <a:extLst xmlns:a="http://schemas.openxmlformats.org/drawingml/2006/main">
              <a:ext uri="{FF2B5EF4-FFF2-40B4-BE49-F238E27FC236}">
                <a16:creationId xmlns:a16="http://schemas.microsoft.com/office/drawing/2014/main" id="{660D34BE-5D9F-412B-B964-D627627B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虚构教学样例｜门条件状态仅演示核对方法</a:t>
            </a:r>
          </a:p>
        </p:txBody>
      </p:sp>
      <p:sp>
        <p:nvSpPr>
          <p:cNvPr id="7" name="p15-h0">
            <a:extLst xmlns:a="http://schemas.openxmlformats.org/drawingml/2006/main">
              <a:ext uri="{FF2B5EF4-FFF2-40B4-BE49-F238E27FC236}">
                <a16:creationId xmlns:a16="http://schemas.microsoft.com/office/drawing/2014/main" id="{0596F7CB-38A0-4F01-B8FB-76B56F11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8" name="p15-h1">
            <a:extLst xmlns:a="http://schemas.openxmlformats.org/drawingml/2006/main">
              <a:ext uri="{FF2B5EF4-FFF2-40B4-BE49-F238E27FC236}">
                <a16:creationId xmlns:a16="http://schemas.microsoft.com/office/drawing/2014/main" id="{7EEB47DB-F71B-402E-B9AE-06A96516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287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累计来源</a:t>
            </a:r>
          </a:p>
        </p:txBody>
      </p:sp>
      <p:sp>
        <p:nvSpPr>
          <p:cNvPr id="9" name="p15-h2">
            <a:extLst xmlns:a="http://schemas.openxmlformats.org/drawingml/2006/main">
              <a:ext uri="{FF2B5EF4-FFF2-40B4-BE49-F238E27FC236}">
                <a16:creationId xmlns:a16="http://schemas.microsoft.com/office/drawing/2014/main" id="{F451899C-44F4-4991-B36F-221DBBAF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当下要核对</a:t>
            </a:r>
          </a:p>
        </p:txBody>
      </p:sp>
      <p:sp>
        <p:nvSpPr>
          <p:cNvPr id="10" name="p15-r0-0">
            <a:extLst xmlns:a="http://schemas.openxmlformats.org/drawingml/2006/main">
              <a:ext uri="{FF2B5EF4-FFF2-40B4-BE49-F238E27FC236}">
                <a16:creationId xmlns:a16="http://schemas.microsoft.com/office/drawing/2014/main" id="{1CDA4BCF-4AEB-4653-A9C2-56415891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≥10 候选</a:t>
            </a:r>
          </a:p>
        </p:txBody>
      </p:sp>
      <p:sp>
        <p:nvSpPr>
          <p:cNvPr id="11" name="p15-r0-1">
            <a:extLst xmlns:a="http://schemas.openxmlformats.org/drawingml/2006/main">
              <a:ext uri="{FF2B5EF4-FFF2-40B4-BE49-F238E27FC236}">
                <a16:creationId xmlns:a16="http://schemas.microsoft.com/office/drawing/2014/main" id="{26A91580-6CA0-4D76-B937-B44ED1BD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2880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3-5 课累计</a:t>
            </a:r>
          </a:p>
        </p:txBody>
      </p:sp>
      <p:sp>
        <p:nvSpPr>
          <p:cNvPr id="12" name="p15-r0-2">
            <a:extLst xmlns:a="http://schemas.openxmlformats.org/drawingml/2006/main">
              <a:ext uri="{FF2B5EF4-FFF2-40B4-BE49-F238E27FC236}">
                <a16:creationId xmlns:a16="http://schemas.microsoft.com/office/drawing/2014/main" id="{0201884E-1885-4EFC-AB91-4290FE5B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数量 / 角色 / 状态</a:t>
            </a:r>
          </a:p>
        </p:txBody>
      </p:sp>
      <p:sp>
        <p:nvSpPr>
          <p:cNvPr id="13" name="p15-r1-0">
            <a:extLst xmlns:a="http://schemas.openxmlformats.org/drawingml/2006/main">
              <a:ext uri="{FF2B5EF4-FFF2-40B4-BE49-F238E27FC236}">
                <a16:creationId xmlns:a16="http://schemas.microsoft.com/office/drawing/2014/main" id="{1CFE7109-70D8-4177-A6BB-246697DC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精读卡</a:t>
            </a:r>
          </a:p>
        </p:txBody>
      </p:sp>
      <p:sp>
        <p:nvSpPr>
          <p:cNvPr id="14" name="p15-r1-1">
            <a:extLst xmlns:a="http://schemas.openxmlformats.org/drawingml/2006/main">
              <a:ext uri="{FF2B5EF4-FFF2-40B4-BE49-F238E27FC236}">
                <a16:creationId xmlns:a16="http://schemas.microsoft.com/office/drawing/2014/main" id="{3F9A3E4D-B0AA-44EF-AC34-1FA392BE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1935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4-5 课累计</a:t>
            </a:r>
          </a:p>
        </p:txBody>
      </p:sp>
      <p:sp>
        <p:nvSpPr>
          <p:cNvPr id="15" name="p15-r1-2">
            <a:extLst xmlns:a="http://schemas.openxmlformats.org/drawingml/2006/main">
              <a:ext uri="{FF2B5EF4-FFF2-40B4-BE49-F238E27FC236}">
                <a16:creationId xmlns:a16="http://schemas.microsoft.com/office/drawing/2014/main" id="{2667FAC9-07EA-453E-B229-0FA4FA91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完整字段 / 原文位置</a:t>
            </a:r>
          </a:p>
        </p:txBody>
      </p:sp>
      <p:sp>
        <p:nvSpPr>
          <p:cNvPr id="16" name="p15-r2-0">
            <a:extLst xmlns:a="http://schemas.openxmlformats.org/drawingml/2006/main">
              <a:ext uri="{FF2B5EF4-FFF2-40B4-BE49-F238E27FC236}">
                <a16:creationId xmlns:a16="http://schemas.microsoft.com/office/drawing/2014/main" id="{893C7C4E-059D-4F98-85D2-EEC31737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精读字段</a:t>
            </a:r>
          </a:p>
        </p:txBody>
      </p:sp>
      <p:sp>
        <p:nvSpPr>
          <p:cNvPr id="17" name="p15-r2-1">
            <a:extLst xmlns:a="http://schemas.openxmlformats.org/drawingml/2006/main">
              <a:ext uri="{FF2B5EF4-FFF2-40B4-BE49-F238E27FC236}">
                <a16:creationId xmlns:a16="http://schemas.microsoft.com/office/drawing/2014/main" id="{71CBE099-965F-4A75-A336-4C66C2DC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逐卡累计</a:t>
            </a:r>
          </a:p>
        </p:txBody>
      </p:sp>
      <p:sp>
        <p:nvSpPr>
          <p:cNvPr id="18" name="p15-r2-2">
            <a:extLst xmlns:a="http://schemas.openxmlformats.org/drawingml/2006/main">
              <a:ext uri="{FF2B5EF4-FFF2-40B4-BE49-F238E27FC236}">
                <a16:creationId xmlns:a16="http://schemas.microsoft.com/office/drawing/2014/main" id="{87FCA5A8-6E51-4215-9F5F-990365F0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偏差或已检查风险</a:t>
            </a:r>
          </a:p>
        </p:txBody>
      </p:sp>
      <p:sp>
        <p:nvSpPr>
          <p:cNvPr id="19" name="p15-r3-0">
            <a:extLst xmlns:a="http://schemas.openxmlformats.org/drawingml/2006/main">
              <a:ext uri="{FF2B5EF4-FFF2-40B4-BE49-F238E27FC236}">
                <a16:creationId xmlns:a16="http://schemas.microsoft.com/office/drawing/2014/main" id="{4A9E2FF3-CE82-415F-AA99-2AA08335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</a:t>
            </a:r>
          </a:p>
        </p:txBody>
      </p:sp>
      <p:sp>
        <p:nvSpPr>
          <p:cNvPr id="20" name="p15-r3-1">
            <a:extLst xmlns:a="http://schemas.openxmlformats.org/drawingml/2006/main">
              <a:ext uri="{FF2B5EF4-FFF2-40B4-BE49-F238E27FC236}">
                <a16:creationId xmlns:a16="http://schemas.microsoft.com/office/drawing/2014/main" id="{AAED1AC1-9371-4228-8CBF-6D536044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5 课初版</a:t>
            </a:r>
          </a:p>
        </p:txBody>
      </p:sp>
      <p:sp>
        <p:nvSpPr>
          <p:cNvPr id="21" name="p15-r3-2">
            <a:extLst xmlns:a="http://schemas.openxmlformats.org/drawingml/2006/main">
              <a:ext uri="{FF2B5EF4-FFF2-40B4-BE49-F238E27FC236}">
                <a16:creationId xmlns:a16="http://schemas.microsoft.com/office/drawing/2014/main" id="{E3A4EAB0-535B-4C3F-8905-DFF8D686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004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 / 补充 / 冲突 / 空白</a:t>
            </a:r>
          </a:p>
        </p:txBody>
      </p:sp>
      <p:sp>
        <p:nvSpPr>
          <p:cNvPr id="22" name="p15-now0">
            <a:extLst xmlns:a="http://schemas.openxmlformats.org/drawingml/2006/main">
              <a:ext uri="{FF2B5EF4-FFF2-40B4-BE49-F238E27FC236}">
                <a16:creationId xmlns:a16="http://schemas.microsoft.com/office/drawing/2014/main" id="{CA4DFB44-62C9-41EB-86F7-CBC3F82F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  问题 + 非例 + 命题</a:t>
            </a:r>
          </a:p>
        </p:txBody>
      </p:sp>
      <p:sp>
        <p:nvSpPr>
          <p:cNvPr id="23" name="p15-now1">
            <a:extLst xmlns:a="http://schemas.openxmlformats.org/drawingml/2006/main">
              <a:ext uri="{FF2B5EF4-FFF2-40B4-BE49-F238E27FC236}">
                <a16:creationId xmlns:a16="http://schemas.microsoft.com/office/drawing/2014/main" id="{A11ED6E6-3168-4839-B281-2494D2A4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  第一性原理推导</a:t>
            </a:r>
          </a:p>
        </p:txBody>
      </p:sp>
      <p:sp>
        <p:nvSpPr>
          <p:cNvPr id="24" name="p15-now2">
            <a:extLst xmlns:a="http://schemas.openxmlformats.org/drawingml/2006/main">
              <a:ext uri="{FF2B5EF4-FFF2-40B4-BE49-F238E27FC236}">
                <a16:creationId xmlns:a16="http://schemas.microsoft.com/office/drawing/2014/main" id="{5D82C353-D122-4CAF-81B5-DB0450A8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7  重要性 + 周期</a:t>
            </a:r>
          </a:p>
        </p:txBody>
      </p:sp>
      <p:sp>
        <p:nvSpPr>
          <p:cNvPr id="25" name="p15-now3">
            <a:extLst xmlns:a="http://schemas.openxmlformats.org/drawingml/2006/main">
              <a:ext uri="{FF2B5EF4-FFF2-40B4-BE49-F238E27FC236}">
                <a16:creationId xmlns:a16="http://schemas.microsoft.com/office/drawing/2014/main" id="{ADC8BC23-0E6F-4900-A971-CB242E04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8  AI 记录持续回写</a:t>
            </a:r>
          </a:p>
        </p:txBody>
      </p:sp>
      <p:sp>
        <p:nvSpPr>
          <p:cNvPr id="26" name="p15-bottom">
            <a:extLst xmlns:a="http://schemas.openxmlformats.org/drawingml/2006/main">
              <a:ext uri="{FF2B5EF4-FFF2-40B4-BE49-F238E27FC236}">
                <a16:creationId xmlns:a16="http://schemas.microsoft.com/office/drawing/2014/main" id="{0F017460-2F03-4BDD-91E4-B7F97D15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2578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自查是诚实标记已满足 / 待补全 / 未满足，不是把样例写成“全部完成”。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个人实践：问题重写到门条件自查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6-n0">
            <a:extLst xmlns:a="http://schemas.openxmlformats.org/drawingml/2006/main">
              <a:ext uri="{FF2B5EF4-FFF2-40B4-BE49-F238E27FC236}">
                <a16:creationId xmlns:a16="http://schemas.microsoft.com/office/drawing/2014/main" id="{120EF2D2-98CF-4638-B04A-A72111C5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6-t0">
            <a:extLst xmlns:a="http://schemas.openxmlformats.org/drawingml/2006/main">
              <a:ext uri="{FF2B5EF4-FFF2-40B4-BE49-F238E27FC236}">
                <a16:creationId xmlns:a16="http://schemas.microsoft.com/office/drawing/2014/main" id="{05895F85-E848-42F9-A181-1DBD17B5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候选题池四维比较</a:t>
            </a:r>
          </a:p>
        </p:txBody>
      </p:sp>
      <p:sp>
        <p:nvSpPr>
          <p:cNvPr id="8" name="p16-n1">
            <a:extLst xmlns:a="http://schemas.openxmlformats.org/drawingml/2006/main">
              <a:ext uri="{FF2B5EF4-FFF2-40B4-BE49-F238E27FC236}">
                <a16:creationId xmlns:a16="http://schemas.microsoft.com/office/drawing/2014/main" id="{E24B18C8-7953-4444-954C-BD08A546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6-t1">
            <a:extLst xmlns:a="http://schemas.openxmlformats.org/drawingml/2006/main">
              <a:ext uri="{FF2B5EF4-FFF2-40B4-BE49-F238E27FC236}">
                <a16:creationId xmlns:a16="http://schemas.microsoft.com/office/drawing/2014/main" id="{71BC9E73-5532-4274-BFE0-2A25A7CE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补五要素</a:t>
            </a:r>
          </a:p>
        </p:txBody>
      </p:sp>
      <p:sp>
        <p:nvSpPr>
          <p:cNvPr id="10" name="p16-n2">
            <a:extLst xmlns:a="http://schemas.openxmlformats.org/drawingml/2006/main">
              <a:ext uri="{FF2B5EF4-FFF2-40B4-BE49-F238E27FC236}">
                <a16:creationId xmlns:a16="http://schemas.microsoft.com/office/drawing/2014/main" id="{A87C729B-B7D2-4987-BFD5-FD19AC29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6-t2">
            <a:extLst xmlns:a="http://schemas.openxmlformats.org/drawingml/2006/main">
              <a:ext uri="{FF2B5EF4-FFF2-40B4-BE49-F238E27FC236}">
                <a16:creationId xmlns:a16="http://schemas.microsoft.com/office/drawing/2014/main" id="{3285C2A2-2357-4F4F-A435-3D16812C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写一个非例</a:t>
            </a:r>
          </a:p>
        </p:txBody>
      </p:sp>
      <p:sp>
        <p:nvSpPr>
          <p:cNvPr id="12" name="p16-n3">
            <a:extLst xmlns:a="http://schemas.openxmlformats.org/drawingml/2006/main">
              <a:ext uri="{FF2B5EF4-FFF2-40B4-BE49-F238E27FC236}">
                <a16:creationId xmlns:a16="http://schemas.microsoft.com/office/drawing/2014/main" id="{62A08014-ED7E-4059-931E-E6915F48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6-t3">
            <a:extLst xmlns:a="http://schemas.openxmlformats.org/drawingml/2006/main">
              <a:ext uri="{FF2B5EF4-FFF2-40B4-BE49-F238E27FC236}">
                <a16:creationId xmlns:a16="http://schemas.microsoft.com/office/drawing/2014/main" id="{B5704CFC-E1F1-4E29-A785-28DF70C3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写推翻条件</a:t>
            </a:r>
          </a:p>
        </p:txBody>
      </p:sp>
      <p:sp>
        <p:nvSpPr>
          <p:cNvPr id="14" name="p16-n4">
            <a:extLst xmlns:a="http://schemas.openxmlformats.org/drawingml/2006/main">
              <a:ext uri="{FF2B5EF4-FFF2-40B4-BE49-F238E27FC236}">
                <a16:creationId xmlns:a16="http://schemas.microsoft.com/office/drawing/2014/main" id="{8A8BA561-ABAA-4A9B-97AE-46C744E9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0982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6-t4">
            <a:extLst xmlns:a="http://schemas.openxmlformats.org/drawingml/2006/main">
              <a:ext uri="{FF2B5EF4-FFF2-40B4-BE49-F238E27FC236}">
                <a16:creationId xmlns:a16="http://schemas.microsoft.com/office/drawing/2014/main" id="{92453B22-E925-4050-ACC7-F5E11F6C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3362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完成四步推导</a:t>
            </a:r>
          </a:p>
        </p:txBody>
      </p:sp>
      <p:sp>
        <p:nvSpPr>
          <p:cNvPr id="16" name="p16-n5">
            <a:extLst xmlns:a="http://schemas.openxmlformats.org/drawingml/2006/main">
              <a:ext uri="{FF2B5EF4-FFF2-40B4-BE49-F238E27FC236}">
                <a16:creationId xmlns:a16="http://schemas.microsoft.com/office/drawing/2014/main" id="{97D5991E-2836-4622-8E07-AF342CA3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40982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16-t5">
            <a:extLst xmlns:a="http://schemas.openxmlformats.org/drawingml/2006/main">
              <a:ext uri="{FF2B5EF4-FFF2-40B4-BE49-F238E27FC236}">
                <a16:creationId xmlns:a16="http://schemas.microsoft.com/office/drawing/2014/main" id="{2483EED6-2F8C-4039-B2DA-2236AA8A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33362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重要性 + 新颖性类别</a:t>
            </a:r>
          </a:p>
        </p:txBody>
      </p:sp>
      <p:sp>
        <p:nvSpPr>
          <p:cNvPr id="18" name="p16-n6">
            <a:extLst xmlns:a="http://schemas.openxmlformats.org/drawingml/2006/main">
              <a:ext uri="{FF2B5EF4-FFF2-40B4-BE49-F238E27FC236}">
                <a16:creationId xmlns:a16="http://schemas.microsoft.com/office/drawing/2014/main" id="{FA23F46A-CE1A-4A36-83F3-921577EC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0982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9" name="p16-t6">
            <a:extLst xmlns:a="http://schemas.openxmlformats.org/drawingml/2006/main">
              <a:ext uri="{FF2B5EF4-FFF2-40B4-BE49-F238E27FC236}">
                <a16:creationId xmlns:a16="http://schemas.microsoft.com/office/drawing/2014/main" id="{0336DC01-F174-44D6-A653-4B822563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33362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标八项状态</a:t>
            </a:r>
          </a:p>
        </p:txBody>
      </p:sp>
      <p:sp>
        <p:nvSpPr>
          <p:cNvPr id="20" name="p16-order">
            <a:extLst xmlns:a="http://schemas.openxmlformats.org/drawingml/2006/main">
              <a:ext uri="{FF2B5EF4-FFF2-40B4-BE49-F238E27FC236}">
                <a16:creationId xmlns:a16="http://schemas.microsoft.com/office/drawing/2014/main" id="{131D64AE-74F0-4DC0-BA16-37895A3E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57625"/>
            <a:ext cx="971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  →  导师组公开问题  →  课程虚构样例（须改换问题表述）</a:t>
            </a:r>
          </a:p>
        </p:txBody>
      </p:sp>
      <p:sp>
        <p:nvSpPr>
          <p:cNvPr id="21" name="p16-poolhint">
            <a:extLst xmlns:a="http://schemas.openxmlformats.org/drawingml/2006/main">
              <a:ext uri="{FF2B5EF4-FFF2-40B4-BE49-F238E27FC236}">
                <a16:creationId xmlns:a16="http://schemas.microsoft.com/office/drawing/2014/main" id="{AB7E47E6-1998-43AC-9CFB-715B1F60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00575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题池不足 3 个：先补一个异常观察或实践痛点候选，再比较</a:t>
            </a:r>
          </a:p>
        </p:txBody>
      </p:sp>
      <p:sp>
        <p:nvSpPr>
          <p:cNvPr id="22" name="p16-write">
            <a:extLst xmlns:a="http://schemas.openxmlformats.org/drawingml/2006/main">
              <a:ext uri="{FF2B5EF4-FFF2-40B4-BE49-F238E27FC236}">
                <a16:creationId xmlns:a16="http://schemas.microsoft.com/office/drawing/2014/main" id="{56449C38-1DBD-4AB8-BF67-E3EC832A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72075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写入：problem-definition.md　｜　40:00 开始，P18 停留到 60:00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实践停留页：问题定义与推导最小闭环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B9BA4A50-7B18-4A15-943E-A746140E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838200"/>
            <a:ext cx="4381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43:00—60:00｜17 分钟持续实践</a:t>
            </a:r>
          </a:p>
        </p:txBody>
      </p:sp>
      <p:sp>
        <p:nvSpPr>
          <p:cNvPr id="7" name="p17-0-h">
            <a:extLst xmlns:a="http://schemas.openxmlformats.org/drawingml/2006/main">
              <a:ext uri="{FF2B5EF4-FFF2-40B4-BE49-F238E27FC236}">
                <a16:creationId xmlns:a16="http://schemas.microsoft.com/office/drawing/2014/main" id="{4C47726E-DA2A-443A-A3E6-476BF64B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525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6D4D7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候选题池 + 选题理由</a:t>
            </a:r>
          </a:p>
        </p:txBody>
      </p:sp>
      <p:sp>
        <p:nvSpPr>
          <p:cNvPr id="8" name="p17-0-d">
            <a:extLst xmlns:a="http://schemas.openxmlformats.org/drawingml/2006/main">
              <a:ext uri="{FF2B5EF4-FFF2-40B4-BE49-F238E27FC236}">
                <a16:creationId xmlns:a16="http://schemas.microsoft.com/office/drawing/2014/main" id="{53BC41F6-A414-42AE-819F-41D78321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907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1EBF4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候选与路径标签｜四维比较｜新颖性类别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来源交叉检查答案（纯文献空白时）</a:t>
            </a:r>
          </a:p>
        </p:txBody>
      </p:sp>
      <p:sp>
        <p:nvSpPr>
          <p:cNvPr id="9" name="p17-1-h">
            <a:extLst xmlns:a="http://schemas.openxmlformats.org/drawingml/2006/main">
              <a:ext uri="{FF2B5EF4-FFF2-40B4-BE49-F238E27FC236}">
                <a16:creationId xmlns:a16="http://schemas.microsoft.com/office/drawing/2014/main" id="{2EA5643A-D6CC-419D-9940-E6D1177A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525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问题 + 非例 + 命题</a:t>
            </a:r>
          </a:p>
        </p:txBody>
      </p:sp>
      <p:sp>
        <p:nvSpPr>
          <p:cNvPr id="10" name="p17-1-d">
            <a:extLst xmlns:a="http://schemas.openxmlformats.org/drawingml/2006/main">
              <a:ext uri="{FF2B5EF4-FFF2-40B4-BE49-F238E27FC236}">
                <a16:creationId xmlns:a16="http://schemas.microsoft.com/office/drawing/2014/main" id="{9C689EFE-0A37-47B4-8192-9F1D4965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条件 / 对象 / 干预 / 结果 / 比较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一个非例 + 一条推翻条件</a:t>
            </a:r>
          </a:p>
        </p:txBody>
      </p:sp>
      <p:sp>
        <p:nvSpPr>
          <p:cNvPr id="11" name="p17-2-h">
            <a:extLst xmlns:a="http://schemas.openxmlformats.org/drawingml/2006/main">
              <a:ext uri="{FF2B5EF4-FFF2-40B4-BE49-F238E27FC236}">
                <a16:creationId xmlns:a16="http://schemas.microsoft.com/office/drawing/2014/main" id="{38A3DCD7-EC06-43C8-A1B1-51461ED4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第一性原理</a:t>
            </a:r>
          </a:p>
        </p:txBody>
      </p:sp>
      <p:sp>
        <p:nvSpPr>
          <p:cNvPr id="12" name="p17-2-d">
            <a:extLst xmlns:a="http://schemas.openxmlformats.org/drawingml/2006/main">
              <a:ext uri="{FF2B5EF4-FFF2-40B4-BE49-F238E27FC236}">
                <a16:creationId xmlns:a16="http://schemas.microsoft.com/office/drawing/2014/main" id="{33E3011D-4B49-4E9B-8436-48AFDEDE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909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基本约束 / 作用机制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不可违背条件 / 待验证前提</a:t>
            </a:r>
          </a:p>
        </p:txBody>
      </p:sp>
      <p:sp>
        <p:nvSpPr>
          <p:cNvPr id="13" name="p17-3-h">
            <a:extLst xmlns:a="http://schemas.openxmlformats.org/drawingml/2006/main">
              <a:ext uri="{FF2B5EF4-FFF2-40B4-BE49-F238E27FC236}">
                <a16:creationId xmlns:a16="http://schemas.microsoft.com/office/drawing/2014/main" id="{2BCB9911-C188-4E2C-B58C-AFEFED93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重要性 + 门状态</a:t>
            </a:r>
          </a:p>
        </p:txBody>
      </p:sp>
      <p:sp>
        <p:nvSpPr>
          <p:cNvPr id="14" name="p17-3-d">
            <a:extLst xmlns:a="http://schemas.openxmlformats.org/drawingml/2006/main">
              <a:ext uri="{FF2B5EF4-FFF2-40B4-BE49-F238E27FC236}">
                <a16:creationId xmlns:a16="http://schemas.microsoft.com/office/drawing/2014/main" id="{24E3B470-03A1-40FA-8189-8F72ABF3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So what? / Who cares? / 周期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八项：满足 / 待补 / 未满足</a:t>
            </a:r>
          </a:p>
        </p:txBody>
      </p:sp>
      <p:sp>
        <p:nvSpPr>
          <p:cNvPr id="15" name="p17-save">
            <a:extLst xmlns:a="http://schemas.openxmlformats.org/drawingml/2006/main">
              <a:ext uri="{FF2B5EF4-FFF2-40B4-BE49-F238E27FC236}">
                <a16:creationId xmlns:a16="http://schemas.microsoft.com/office/drawing/2014/main" id="{D83E5B8F-0017-4E8B-B8D4-E216DCDA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91125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保存到 problem-definition.md（含候选题池与选题理由扩展字段）｜　故障时用纸面或 Markdown 模板完成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同伴互查：只提问题，由作者决定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8-n0">
            <a:extLst xmlns:a="http://schemas.openxmlformats.org/drawingml/2006/main">
              <a:ext uri="{FF2B5EF4-FFF2-40B4-BE49-F238E27FC236}">
                <a16:creationId xmlns:a16="http://schemas.microsoft.com/office/drawing/2014/main" id="{EEA262D2-1129-44EB-8AD9-0A64040E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8-q0">
            <a:extLst xmlns:a="http://schemas.openxmlformats.org/drawingml/2006/main">
              <a:ext uri="{FF2B5EF4-FFF2-40B4-BE49-F238E27FC236}">
                <a16:creationId xmlns:a16="http://schemas.microsoft.com/office/drawing/2014/main" id="{BFDCD5E3-4A5C-4066-8B8D-9F0E259A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096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这是问题还是主题？</a:t>
            </a:r>
          </a:p>
        </p:txBody>
      </p:sp>
      <p:sp>
        <p:nvSpPr>
          <p:cNvPr id="8" name="p18-n1">
            <a:extLst xmlns:a="http://schemas.openxmlformats.org/drawingml/2006/main">
              <a:ext uri="{FF2B5EF4-FFF2-40B4-BE49-F238E27FC236}">
                <a16:creationId xmlns:a16="http://schemas.microsoft.com/office/drawing/2014/main" id="{7CABE49C-4E77-4DDF-86CC-B2673BC6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8-q1">
            <a:extLst xmlns:a="http://schemas.openxmlformats.org/drawingml/2006/main">
              <a:ext uri="{FF2B5EF4-FFF2-40B4-BE49-F238E27FC236}">
                <a16:creationId xmlns:a16="http://schemas.microsoft.com/office/drawing/2014/main" id="{2026FE2E-A48F-4D85-80BA-B54D1202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选题理由能用四维比较说清吗？</a:t>
            </a:r>
          </a:p>
        </p:txBody>
      </p:sp>
      <p:sp>
        <p:nvSpPr>
          <p:cNvPr id="10" name="p18-n2">
            <a:extLst xmlns:a="http://schemas.openxmlformats.org/drawingml/2006/main">
              <a:ext uri="{FF2B5EF4-FFF2-40B4-BE49-F238E27FC236}">
                <a16:creationId xmlns:a16="http://schemas.microsoft.com/office/drawing/2014/main" id="{1F5E1C4E-2C69-4DED-9A5A-7EE0A183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8-q2">
            <a:extLst xmlns:a="http://schemas.openxmlformats.org/drawingml/2006/main">
              <a:ext uri="{FF2B5EF4-FFF2-40B4-BE49-F238E27FC236}">
                <a16:creationId xmlns:a16="http://schemas.microsoft.com/office/drawing/2014/main" id="{56E8E483-CE27-4931-866F-B1ACCBA6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什么观察会推翻命题？</a:t>
            </a:r>
          </a:p>
        </p:txBody>
      </p:sp>
      <p:sp>
        <p:nvSpPr>
          <p:cNvPr id="12" name="p18-n3">
            <a:extLst xmlns:a="http://schemas.openxmlformats.org/drawingml/2006/main">
              <a:ext uri="{FF2B5EF4-FFF2-40B4-BE49-F238E27FC236}">
                <a16:creationId xmlns:a16="http://schemas.microsoft.com/office/drawing/2014/main" id="{284F72D3-1CC4-44CF-B451-32C6CD7E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8-q3">
            <a:extLst xmlns:a="http://schemas.openxmlformats.org/drawingml/2006/main">
              <a:ext uri="{FF2B5EF4-FFF2-40B4-BE49-F238E27FC236}">
                <a16:creationId xmlns:a16="http://schemas.microsoft.com/office/drawing/2014/main" id="{9CA2E7AA-123E-46E7-A5F5-9AC30F7A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35280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推导哪一步回到证据地图？</a:t>
            </a:r>
          </a:p>
        </p:txBody>
      </p:sp>
      <p:sp>
        <p:nvSpPr>
          <p:cNvPr id="14" name="p18-n4">
            <a:extLst xmlns:a="http://schemas.openxmlformats.org/drawingml/2006/main">
              <a:ext uri="{FF2B5EF4-FFF2-40B4-BE49-F238E27FC236}">
                <a16:creationId xmlns:a16="http://schemas.microsoft.com/office/drawing/2014/main" id="{786F5FC7-2565-4D58-BC6D-D796389F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8-q4">
            <a:extLst xmlns:a="http://schemas.openxmlformats.org/drawingml/2006/main">
              <a:ext uri="{FF2B5EF4-FFF2-40B4-BE49-F238E27FC236}">
                <a16:creationId xmlns:a16="http://schemas.microsoft.com/office/drawing/2014/main" id="{4D77D3D6-645D-468D-9ED4-F78DE68C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338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八项中最可能缺哪项？</a:t>
            </a:r>
          </a:p>
        </p:txBody>
      </p:sp>
      <p:sp>
        <p:nvSpPr>
          <p:cNvPr id="16" name="p18-author">
            <a:extLst xmlns:a="http://schemas.openxmlformats.org/drawingml/2006/main">
              <a:ext uri="{FF2B5EF4-FFF2-40B4-BE49-F238E27FC236}">
                <a16:creationId xmlns:a16="http://schemas.microsoft.com/office/drawing/2014/main" id="{4A4CD276-1FD0-489A-8EFB-91441A01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0668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7" name="p18-s0">
            <a:extLst xmlns:a="http://schemas.openxmlformats.org/drawingml/2006/main">
              <a:ext uri="{FF2B5EF4-FFF2-40B4-BE49-F238E27FC236}">
                <a16:creationId xmlns:a16="http://schemas.microsoft.com/office/drawing/2014/main" id="{1DFE39A1-996D-42CA-9A73-B4F2AD30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526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8" name="p18-s1">
            <a:extLst xmlns:a="http://schemas.openxmlformats.org/drawingml/2006/main">
              <a:ext uri="{FF2B5EF4-FFF2-40B4-BE49-F238E27FC236}">
                <a16:creationId xmlns:a16="http://schemas.microsoft.com/office/drawing/2014/main" id="{EF12086E-06E4-408D-885F-99C1C0F4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9" name="p18-s2">
            <a:extLst xmlns:a="http://schemas.openxmlformats.org/drawingml/2006/main">
              <a:ext uri="{FF2B5EF4-FFF2-40B4-BE49-F238E27FC236}">
                <a16:creationId xmlns:a16="http://schemas.microsoft.com/office/drawing/2014/main" id="{167D1690-0FE5-4601-BD3C-DC0A0285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576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0" name="p18-bottom">
            <a:extLst xmlns:a="http://schemas.openxmlformats.org/drawingml/2006/main">
              <a:ext uri="{FF2B5EF4-FFF2-40B4-BE49-F238E27FC236}">
                <a16:creationId xmlns:a16="http://schemas.microsoft.com/office/drawing/2014/main" id="{F23370A3-A081-46F5-B511-5C35D7F3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问题门提交与失败回退路径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19-submit">
            <a:extLst xmlns:a="http://schemas.openxmlformats.org/drawingml/2006/main">
              <a:ext uri="{FF2B5EF4-FFF2-40B4-BE49-F238E27FC236}">
                <a16:creationId xmlns:a16="http://schemas.microsoft.com/office/drawing/2014/main" id="{CBFAC7CC-B005-4B8A-B9C1-A8876C42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一次提交</a:t>
            </a:r>
          </a:p>
        </p:txBody>
      </p:sp>
      <p:sp>
        <p:nvSpPr>
          <p:cNvPr id="7" name="p19-how">
            <a:extLst xmlns:a="http://schemas.openxmlformats.org/drawingml/2006/main">
              <a:ext uri="{FF2B5EF4-FFF2-40B4-BE49-F238E27FC236}">
                <a16:creationId xmlns:a16="http://schemas.microsoft.com/office/drawing/2014/main" id="{EFE503B0-CEDF-404C-A76F-3B3154F4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00125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当前个人项目版本</a:t>
            </a:r>
          </a:p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 / tag / 压缩包</a:t>
            </a:r>
          </a:p>
        </p:txBody>
      </p:sp>
      <p:sp>
        <p:nvSpPr>
          <p:cNvPr id="8" name="p19-no">
            <a:extLst xmlns:a="http://schemas.openxmlformats.org/drawingml/2006/main">
              <a:ext uri="{FF2B5EF4-FFF2-40B4-BE49-F238E27FC236}">
                <a16:creationId xmlns:a16="http://schemas.microsoft.com/office/drawing/2014/main" id="{D042AE8D-64E9-46B6-B266-7827AE9A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953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不重复制作与项目分离的汇报文档</a:t>
            </a:r>
          </a:p>
        </p:txBody>
      </p:sp>
      <p:sp>
        <p:nvSpPr>
          <p:cNvPr id="9" name="p19-h0">
            <a:extLst xmlns:a="http://schemas.openxmlformats.org/drawingml/2006/main">
              <a:ext uri="{FF2B5EF4-FFF2-40B4-BE49-F238E27FC236}">
                <a16:creationId xmlns:a16="http://schemas.microsoft.com/office/drawing/2014/main" id="{EB4C93A7-9770-44EF-A38C-EA411F41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缺直接证据</a:t>
            </a:r>
          </a:p>
        </p:txBody>
      </p:sp>
      <p:sp>
        <p:nvSpPr>
          <p:cNvPr id="10" name="p19-a0">
            <a:extLst xmlns:a="http://schemas.openxmlformats.org/drawingml/2006/main">
              <a:ext uri="{FF2B5EF4-FFF2-40B4-BE49-F238E27FC236}">
                <a16:creationId xmlns:a16="http://schemas.microsoft.com/office/drawing/2014/main" id="{17AC3E7B-34E5-4BDD-A85B-4CABF454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1907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d0">
            <a:extLst xmlns:a="http://schemas.openxmlformats.org/drawingml/2006/main">
              <a:ext uri="{FF2B5EF4-FFF2-40B4-BE49-F238E27FC236}">
                <a16:creationId xmlns:a16="http://schemas.microsoft.com/office/drawing/2014/main" id="{16E5D437-241A-4ABA-81D5-3014E5C9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回第 3-4 课：检索 / 精读</a:t>
            </a:r>
          </a:p>
        </p:txBody>
      </p:sp>
      <p:sp>
        <p:nvSpPr>
          <p:cNvPr id="12" name="p19-h1">
            <a:extLst xmlns:a="http://schemas.openxmlformats.org/drawingml/2006/main">
              <a:ext uri="{FF2B5EF4-FFF2-40B4-BE49-F238E27FC236}">
                <a16:creationId xmlns:a16="http://schemas.microsoft.com/office/drawing/2014/main" id="{5217E737-D9B3-4FD1-A2D3-E6C86B4E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问题过大</a:t>
            </a:r>
          </a:p>
        </p:txBody>
      </p:sp>
      <p:sp>
        <p:nvSpPr>
          <p:cNvPr id="13" name="p19-a1">
            <a:extLst xmlns:a="http://schemas.openxmlformats.org/drawingml/2006/main">
              <a:ext uri="{FF2B5EF4-FFF2-40B4-BE49-F238E27FC236}">
                <a16:creationId xmlns:a16="http://schemas.microsoft.com/office/drawing/2014/main" id="{9EC887A6-EB68-4A3E-A9C2-EB991B6F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813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9-d1">
            <a:extLst xmlns:a="http://schemas.openxmlformats.org/drawingml/2006/main">
              <a:ext uri="{FF2B5EF4-FFF2-40B4-BE49-F238E27FC236}">
                <a16:creationId xmlns:a16="http://schemas.microsoft.com/office/drawing/2014/main" id="{52C8C2EB-E601-4D09-BA5A-71621E26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回本课：问题重写 / 非例</a:t>
            </a:r>
          </a:p>
        </p:txBody>
      </p:sp>
      <p:sp>
        <p:nvSpPr>
          <p:cNvPr id="15" name="p19-h2">
            <a:extLst xmlns:a="http://schemas.openxmlformats.org/drawingml/2006/main">
              <a:ext uri="{FF2B5EF4-FFF2-40B4-BE49-F238E27FC236}">
                <a16:creationId xmlns:a16="http://schemas.microsoft.com/office/drawing/2014/main" id="{F7F4146A-9454-44D2-A0E7-2369E195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命题不可证伪</a:t>
            </a:r>
          </a:p>
        </p:txBody>
      </p:sp>
      <p:sp>
        <p:nvSpPr>
          <p:cNvPr id="16" name="p19-a2">
            <a:extLst xmlns:a="http://schemas.openxmlformats.org/drawingml/2006/main">
              <a:ext uri="{FF2B5EF4-FFF2-40B4-BE49-F238E27FC236}">
                <a16:creationId xmlns:a16="http://schemas.microsoft.com/office/drawing/2014/main" id="{5D70794B-E6B8-4541-89AC-7482FE9B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3718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9-d2">
            <a:extLst xmlns:a="http://schemas.openxmlformats.org/drawingml/2006/main">
              <a:ext uri="{FF2B5EF4-FFF2-40B4-BE49-F238E27FC236}">
                <a16:creationId xmlns:a16="http://schemas.microsoft.com/office/drawing/2014/main" id="{5C3EEE12-5705-462D-89D5-9C46384D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补对照 / 指标 / 推翻条件</a:t>
            </a:r>
          </a:p>
        </p:txBody>
      </p:sp>
      <p:sp>
        <p:nvSpPr>
          <p:cNvPr id="18" name="p19-h3">
            <a:extLst xmlns:a="http://schemas.openxmlformats.org/drawingml/2006/main">
              <a:ext uri="{FF2B5EF4-FFF2-40B4-BE49-F238E27FC236}">
                <a16:creationId xmlns:a16="http://schemas.microsoft.com/office/drawing/2014/main" id="{0919ECCF-6CBD-4748-A6DA-C2A272D8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1477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推导脱离文献</a:t>
            </a:r>
          </a:p>
        </p:txBody>
      </p:sp>
      <p:sp>
        <p:nvSpPr>
          <p:cNvPr id="19" name="p19-a3">
            <a:extLst xmlns:a="http://schemas.openxmlformats.org/drawingml/2006/main">
              <a:ext uri="{FF2B5EF4-FFF2-40B4-BE49-F238E27FC236}">
                <a16:creationId xmlns:a16="http://schemas.microsoft.com/office/drawing/2014/main" id="{3BBE72B3-B9D0-474D-BEB0-55B17359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9624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p19-d3">
            <a:extLst xmlns:a="http://schemas.openxmlformats.org/drawingml/2006/main">
              <a:ext uri="{FF2B5EF4-FFF2-40B4-BE49-F238E27FC236}">
                <a16:creationId xmlns:a16="http://schemas.microsoft.com/office/drawing/2014/main" id="{972E9CA3-1A31-4EEF-AEB8-D14D949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回第 5 课证据地图</a:t>
            </a:r>
          </a:p>
        </p:txBody>
      </p:sp>
      <p:sp>
        <p:nvSpPr>
          <p:cNvPr id="21" name="p19-h4">
            <a:extLst xmlns:a="http://schemas.openxmlformats.org/drawingml/2006/main">
              <a:ext uri="{FF2B5EF4-FFF2-40B4-BE49-F238E27FC236}">
                <a16:creationId xmlns:a16="http://schemas.microsoft.com/office/drawing/2014/main" id="{21925752-EA1F-45CF-9656-84AC56BA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0532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选题理由缺失</a:t>
            </a:r>
          </a:p>
        </p:txBody>
      </p:sp>
      <p:sp>
        <p:nvSpPr>
          <p:cNvPr id="22" name="p19-a4">
            <a:extLst xmlns:a="http://schemas.openxmlformats.org/drawingml/2006/main">
              <a:ext uri="{FF2B5EF4-FFF2-40B4-BE49-F238E27FC236}">
                <a16:creationId xmlns:a16="http://schemas.microsoft.com/office/drawing/2014/main" id="{18DFB1B6-9186-43F7-9507-7969561B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529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19-d4">
            <a:extLst xmlns:a="http://schemas.openxmlformats.org/drawingml/2006/main">
              <a:ext uri="{FF2B5EF4-FFF2-40B4-BE49-F238E27FC236}">
                <a16:creationId xmlns:a16="http://schemas.microsoft.com/office/drawing/2014/main" id="{6D60E1F2-B317-43FF-9445-CD916392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0532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回本课 P07：候选题池四维比较</a:t>
            </a:r>
          </a:p>
        </p:txBody>
      </p:sp>
      <p:sp>
        <p:nvSpPr>
          <p:cNvPr id="24" name="p19-check">
            <a:extLst xmlns:a="http://schemas.openxmlformats.org/drawingml/2006/main">
              <a:ext uri="{FF2B5EF4-FFF2-40B4-BE49-F238E27FC236}">
                <a16:creationId xmlns:a16="http://schemas.microsoft.com/office/drawing/2014/main" id="{BEF0B24A-94B5-445C-92BF-FD5A8F4C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1009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提交核对：problem-definition.md 是否含候选题池与选题理由字段（课程扩展；门条件 8 项不变）</a:t>
            </a:r>
          </a:p>
        </p:txBody>
      </p:sp>
      <p:sp>
        <p:nvSpPr>
          <p:cNvPr id="25" name="p19-bottom">
            <a:extLst xmlns:a="http://schemas.openxmlformats.org/drawingml/2006/main">
              <a:ext uri="{FF2B5EF4-FFF2-40B4-BE49-F238E27FC236}">
                <a16:creationId xmlns:a16="http://schemas.microsoft.com/office/drawing/2014/main" id="{6E5E3C08-DB8C-4E1C-99F7-3EB7074E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5435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未通过：只修复缺失条件，一周内重新检查；不重交无关材料。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7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0-f0">
            <a:extLst xmlns:a="http://schemas.openxmlformats.org/drawingml/2006/main">
              <a:ext uri="{FF2B5EF4-FFF2-40B4-BE49-F238E27FC236}">
                <a16:creationId xmlns:a16="http://schemas.microsoft.com/office/drawing/2014/main" id="{F3EDB6BA-83FA-4D6E-A922-40880D61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7" name="p20-a0">
            <a:extLst xmlns:a="http://schemas.openxmlformats.org/drawingml/2006/main">
              <a:ext uri="{FF2B5EF4-FFF2-40B4-BE49-F238E27FC236}">
                <a16:creationId xmlns:a16="http://schemas.microsoft.com/office/drawing/2014/main" id="{567B8B8B-EA2C-4E59-8DDF-10BEC081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20-f1">
            <a:extLst xmlns:a="http://schemas.openxmlformats.org/drawingml/2006/main">
              <a:ext uri="{FF2B5EF4-FFF2-40B4-BE49-F238E27FC236}">
                <a16:creationId xmlns:a16="http://schemas.microsoft.com/office/drawing/2014/main" id="{B9EFF1B3-E2FB-41E8-95FC-2E282379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9" name="p20-a1">
            <a:extLst xmlns:a="http://schemas.openxmlformats.org/drawingml/2006/main">
              <a:ext uri="{FF2B5EF4-FFF2-40B4-BE49-F238E27FC236}">
                <a16:creationId xmlns:a16="http://schemas.microsoft.com/office/drawing/2014/main" id="{9AA69C22-107E-46F5-89CD-A2A91439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f2">
            <a:extLst xmlns:a="http://schemas.openxmlformats.org/drawingml/2006/main">
              <a:ext uri="{FF2B5EF4-FFF2-40B4-BE49-F238E27FC236}">
                <a16:creationId xmlns:a16="http://schemas.microsoft.com/office/drawing/2014/main" id="{2A2E736D-91D6-4D48-81C2-792C5B07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7 课</a:t>
            </a:r>
          </a:p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1" name="p20-a2">
            <a:extLst xmlns:a="http://schemas.openxmlformats.org/drawingml/2006/main">
              <a:ext uri="{FF2B5EF4-FFF2-40B4-BE49-F238E27FC236}">
                <a16:creationId xmlns:a16="http://schemas.microsoft.com/office/drawing/2014/main" id="{94CEE056-2B97-43B8-A5D8-00CC98E2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20-f3">
            <a:extLst xmlns:a="http://schemas.openxmlformats.org/drawingml/2006/main">
              <a:ext uri="{FF2B5EF4-FFF2-40B4-BE49-F238E27FC236}">
                <a16:creationId xmlns:a16="http://schemas.microsoft.com/office/drawing/2014/main" id="{741AD7C5-1BD1-4E67-A799-11A07E41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9 课</a:t>
            </a:r>
          </a:p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实验规格</a:t>
            </a:r>
          </a:p>
        </p:txBody>
      </p:sp>
      <p:sp>
        <p:nvSpPr>
          <p:cNvPr id="13" name="p20-exit">
            <a:extLst xmlns:a="http://schemas.openxmlformats.org/drawingml/2006/main">
              <a:ext uri="{FF2B5EF4-FFF2-40B4-BE49-F238E27FC236}">
                <a16:creationId xmlns:a16="http://schemas.microsoft.com/office/drawing/2014/main" id="{B0A291DF-2C24-48F8-BBA5-B22F77A8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14" name="p20-q0">
            <a:extLst xmlns:a="http://schemas.openxmlformats.org/drawingml/2006/main">
              <a:ext uri="{FF2B5EF4-FFF2-40B4-BE49-F238E27FC236}">
                <a16:creationId xmlns:a16="http://schemas.microsoft.com/office/drawing/2014/main" id="{5E131D52-01DF-407D-ACE2-97BA4A85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5750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你最可能缺哪一项门条件？</a:t>
            </a:r>
          </a:p>
        </p:txBody>
      </p:sp>
      <p:sp>
        <p:nvSpPr>
          <p:cNvPr id="15" name="p20-q1">
            <a:extLst xmlns:a="http://schemas.openxmlformats.org/drawingml/2006/main">
              <a:ext uri="{FF2B5EF4-FFF2-40B4-BE49-F238E27FC236}">
                <a16:creationId xmlns:a16="http://schemas.microsoft.com/office/drawing/2014/main" id="{421B23D0-53BB-4F76-A8DE-57142940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3855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选题理由能否用四维比较说清？</a:t>
            </a:r>
          </a:p>
        </p:txBody>
      </p:sp>
      <p:sp>
        <p:nvSpPr>
          <p:cNvPr id="16" name="p20-q2">
            <a:extLst xmlns:a="http://schemas.openxmlformats.org/drawingml/2006/main">
              <a:ext uri="{FF2B5EF4-FFF2-40B4-BE49-F238E27FC236}">
                <a16:creationId xmlns:a16="http://schemas.microsoft.com/office/drawing/2014/main" id="{04091DFA-1B82-4051-9FAA-4DD6267D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哪条待验证前提将进入机制假设？</a:t>
            </a:r>
          </a:p>
        </p:txBody>
      </p:sp>
      <p:sp>
        <p:nvSpPr>
          <p:cNvPr id="17" name="p20-bottom">
            <a:extLst xmlns:a="http://schemas.openxmlformats.org/drawingml/2006/main">
              <a:ext uri="{FF2B5EF4-FFF2-40B4-BE49-F238E27FC236}">
                <a16:creationId xmlns:a16="http://schemas.microsoft.com/office/drawing/2014/main" id="{00F7C20C-FD68-4B55-9CE5-114FE317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保存当前项目版本；第 7 课从待验证前提出发，不跳过问题门直接做实验。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2026-08-10T14:09:52.6150000Z</dcterms:created>
  <dcterms:modified xsi:type="dcterms:W3CDTF">2026-08-10T14:09:52.6150000Z</dcterms:modified>
</coreProperties>
</file>