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a91d1b5b174983" /><Relationship Type="http://schemas.openxmlformats.org/officeDocument/2006/relationships/extended-properties" Target="/docProps/app.xml" Id="R12488f122cc74a8e" /><Relationship Type="http://schemas.openxmlformats.org/officeDocument/2006/relationships/officeDocument" Target="/ppt/presentation.xml" Id="R656fa243017f43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1996b2df5444e4"/>
  </p:sldMasterIdLst>
  <p:notesMasterIdLst>
    <p:notesMasterId xmlns:r="http://schemas.openxmlformats.org/officeDocument/2006/relationships" r:id="R3767fecbeeb14f7e"/>
  </p:notesMasterIdLst>
  <p:sldIdLst>
    <p:sldId xmlns:r="http://schemas.openxmlformats.org/officeDocument/2006/relationships" id="256" r:id="R196eb361daa3470a"/>
    <p:sldId xmlns:r="http://schemas.openxmlformats.org/officeDocument/2006/relationships" id="257" r:id="R2b7af4b30ec942f3"/>
    <p:sldId xmlns:r="http://schemas.openxmlformats.org/officeDocument/2006/relationships" id="258" r:id="R5f34d1269a0e498b"/>
    <p:sldId xmlns:r="http://schemas.openxmlformats.org/officeDocument/2006/relationships" id="259" r:id="Rdd73d46da2834aa2"/>
    <p:sldId xmlns:r="http://schemas.openxmlformats.org/officeDocument/2006/relationships" id="260" r:id="R73279445bbc64fe0"/>
    <p:sldId xmlns:r="http://schemas.openxmlformats.org/officeDocument/2006/relationships" id="261" r:id="Ra0c769f8952c4af4"/>
    <p:sldId xmlns:r="http://schemas.openxmlformats.org/officeDocument/2006/relationships" id="262" r:id="Rf554367159e14942"/>
    <p:sldId xmlns:r="http://schemas.openxmlformats.org/officeDocument/2006/relationships" id="263" r:id="Rd0c13eb34e3a414f"/>
    <p:sldId xmlns:r="http://schemas.openxmlformats.org/officeDocument/2006/relationships" id="264" r:id="R8d36bfe127494c67"/>
    <p:sldId xmlns:r="http://schemas.openxmlformats.org/officeDocument/2006/relationships" id="265" r:id="R399eecaec49f4e98"/>
    <p:sldId xmlns:r="http://schemas.openxmlformats.org/officeDocument/2006/relationships" id="266" r:id="R19218ad1f80d4f07"/>
    <p:sldId xmlns:r="http://schemas.openxmlformats.org/officeDocument/2006/relationships" id="267" r:id="R529e2a9c31ea4868"/>
    <p:sldId xmlns:r="http://schemas.openxmlformats.org/officeDocument/2006/relationships" id="268" r:id="R7f19955039d64783"/>
    <p:sldId xmlns:r="http://schemas.openxmlformats.org/officeDocument/2006/relationships" id="269" r:id="R9590b082cf71437c"/>
    <p:sldId xmlns:r="http://schemas.openxmlformats.org/officeDocument/2006/relationships" id="270" r:id="R3d4e4b09042a4f5e"/>
    <p:sldId xmlns:r="http://schemas.openxmlformats.org/officeDocument/2006/relationships" id="271" r:id="R8ccd27b63b204c15"/>
    <p:sldId xmlns:r="http://schemas.openxmlformats.org/officeDocument/2006/relationships" id="272" r:id="R31cf248374b645cb"/>
    <p:sldId xmlns:r="http://schemas.openxmlformats.org/officeDocument/2006/relationships" id="273" r:id="R1a3b91c9da3344eb"/>
    <p:sldId xmlns:r="http://schemas.openxmlformats.org/officeDocument/2006/relationships" id="274" r:id="R5436540deca54bd7"/>
    <p:sldId xmlns:r="http://schemas.openxmlformats.org/officeDocument/2006/relationships" id="275" r:id="Rd1b18bbf302b4c54"/>
    <p:sldId xmlns:r="http://schemas.openxmlformats.org/officeDocument/2006/relationships" id="276" r:id="Rc3bab328cf0145fb"/>
    <p:sldId xmlns:r="http://schemas.openxmlformats.org/officeDocument/2006/relationships" id="277" r:id="R6df83d27f37d40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ebbba77deb4d14" /><Relationship Type="http://schemas.openxmlformats.org/officeDocument/2006/relationships/slideMaster" Target="/ppt/slideMasters/slideMaster1.xml" Id="R1f1996b2df5444e4" /><Relationship Type="http://schemas.openxmlformats.org/officeDocument/2006/relationships/notesMaster" Target="/ppt/notesMasters/notesMaster1.xml" Id="R3767fecbeeb14f7e" /><Relationship Type="http://schemas.openxmlformats.org/officeDocument/2006/relationships/presProps" Target="/ppt/presProps.xml" Id="R9d5eeae0ea03417b" /><Relationship Type="http://schemas.openxmlformats.org/officeDocument/2006/relationships/viewProps" Target="/ppt/viewProps.xml" Id="Rf9f491a61bdb400e" /><Relationship Type="http://schemas.openxmlformats.org/officeDocument/2006/relationships/tableStyles" Target="/ppt/tableStyles.xml" Id="R98c7ac9accf24fec" /><Relationship Type="http://schemas.openxmlformats.org/officeDocument/2006/relationships/slide" Target="/ppt/slides/slide1.xml" Id="R196eb361daa3470a" /><Relationship Type="http://schemas.openxmlformats.org/officeDocument/2006/relationships/slide" Target="/ppt/slides/slide2.xml" Id="R2b7af4b30ec942f3" /><Relationship Type="http://schemas.openxmlformats.org/officeDocument/2006/relationships/slide" Target="/ppt/slides/slide3.xml" Id="R5f34d1269a0e498b" /><Relationship Type="http://schemas.openxmlformats.org/officeDocument/2006/relationships/slide" Target="/ppt/slides/slide4.xml" Id="Rdd73d46da2834aa2" /><Relationship Type="http://schemas.openxmlformats.org/officeDocument/2006/relationships/slide" Target="/ppt/slides/slide5.xml" Id="R73279445bbc64fe0" /><Relationship Type="http://schemas.openxmlformats.org/officeDocument/2006/relationships/slide" Target="/ppt/slides/slide6.xml" Id="Ra0c769f8952c4af4" /><Relationship Type="http://schemas.openxmlformats.org/officeDocument/2006/relationships/slide" Target="/ppt/slides/slide7.xml" Id="Rf554367159e14942" /><Relationship Type="http://schemas.openxmlformats.org/officeDocument/2006/relationships/slide" Target="/ppt/slides/slide8.xml" Id="Rd0c13eb34e3a414f" /><Relationship Type="http://schemas.openxmlformats.org/officeDocument/2006/relationships/slide" Target="/ppt/slides/slide9.xml" Id="R8d36bfe127494c67" /><Relationship Type="http://schemas.openxmlformats.org/officeDocument/2006/relationships/slide" Target="/ppt/slides/slide10.xml" Id="R399eecaec49f4e98" /><Relationship Type="http://schemas.openxmlformats.org/officeDocument/2006/relationships/slide" Target="/ppt/slides/slide11.xml" Id="R19218ad1f80d4f07" /><Relationship Type="http://schemas.openxmlformats.org/officeDocument/2006/relationships/slide" Target="/ppt/slides/slide12.xml" Id="R529e2a9c31ea4868" /><Relationship Type="http://schemas.openxmlformats.org/officeDocument/2006/relationships/slide" Target="/ppt/slides/slide13.xml" Id="R7f19955039d64783" /><Relationship Type="http://schemas.openxmlformats.org/officeDocument/2006/relationships/slide" Target="/ppt/slides/slide14.xml" Id="R9590b082cf71437c" /><Relationship Type="http://schemas.openxmlformats.org/officeDocument/2006/relationships/slide" Target="/ppt/slides/slide15.xml" Id="R3d4e4b09042a4f5e" /><Relationship Type="http://schemas.openxmlformats.org/officeDocument/2006/relationships/slide" Target="/ppt/slides/slide16.xml" Id="R8ccd27b63b204c15" /><Relationship Type="http://schemas.openxmlformats.org/officeDocument/2006/relationships/slide" Target="/ppt/slides/slide17.xml" Id="R31cf248374b645cb" /><Relationship Type="http://schemas.openxmlformats.org/officeDocument/2006/relationships/slide" Target="/ppt/slides/slide18.xml" Id="R1a3b91c9da3344eb" /><Relationship Type="http://schemas.openxmlformats.org/officeDocument/2006/relationships/slide" Target="/ppt/slides/slide19.xml" Id="R5436540deca54bd7" /><Relationship Type="http://schemas.openxmlformats.org/officeDocument/2006/relationships/slide" Target="/ppt/slides/slide20.xml" Id="Rd1b18bbf302b4c54" /><Relationship Type="http://schemas.openxmlformats.org/officeDocument/2006/relationships/slide" Target="/ppt/slides/slide21.xml" Id="Rc3bab328cf0145fb" /><Relationship Type="http://schemas.openxmlformats.org/officeDocument/2006/relationships/slide" Target="/ppt/slides/slide22.xml" Id="R6df83d27f37d40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72ea87599043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b417731ae44dda" /><Relationship Type="http://schemas.openxmlformats.org/officeDocument/2006/relationships/notesMaster" Target="/ppt/notesMasters/notesMaster1.xml" Id="R081bca85234649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c2e2e237a148f5" /><Relationship Type="http://schemas.openxmlformats.org/officeDocument/2006/relationships/notesMaster" Target="/ppt/notesMasters/notesMaster1.xml" Id="R874d58272f4f44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10de97b2334154" /><Relationship Type="http://schemas.openxmlformats.org/officeDocument/2006/relationships/notesMaster" Target="/ppt/notesMasters/notesMaster1.xml" Id="Rab8b682b184a49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aa7dc3c6bf45d7" /><Relationship Type="http://schemas.openxmlformats.org/officeDocument/2006/relationships/notesMaster" Target="/ppt/notesMasters/notesMaster1.xml" Id="Rd0d5b7d1a00b47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f187025ea34dcd" /><Relationship Type="http://schemas.openxmlformats.org/officeDocument/2006/relationships/notesMaster" Target="/ppt/notesMasters/notesMaster1.xml" Id="R13d3ab2d503e4fc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a260a1f866442a" /><Relationship Type="http://schemas.openxmlformats.org/officeDocument/2006/relationships/notesMaster" Target="/ppt/notesMasters/notesMaster1.xml" Id="Ra2439f25da2440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54527e67fd415a" /><Relationship Type="http://schemas.openxmlformats.org/officeDocument/2006/relationships/notesMaster" Target="/ppt/notesMasters/notesMaster1.xml" Id="R143b272871ca4e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e05eb3484e4012" /><Relationship Type="http://schemas.openxmlformats.org/officeDocument/2006/relationships/notesMaster" Target="/ppt/notesMasters/notesMaster1.xml" Id="Rec2e6c80e91c47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c616a3e39f482c" /><Relationship Type="http://schemas.openxmlformats.org/officeDocument/2006/relationships/notesMaster" Target="/ppt/notesMasters/notesMaster1.xml" Id="R54c64aec43ef4b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dc014969c14118" /><Relationship Type="http://schemas.openxmlformats.org/officeDocument/2006/relationships/notesMaster" Target="/ppt/notesMasters/notesMaster1.xml" Id="R0581c94112b44d4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1bea7a211d34462" /><Relationship Type="http://schemas.openxmlformats.org/officeDocument/2006/relationships/notesMaster" Target="/ppt/notesMasters/notesMaster1.xml" Id="R9c2d92eb55674bb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3a2da5a65e4d29" /><Relationship Type="http://schemas.openxmlformats.org/officeDocument/2006/relationships/notesMaster" Target="/ppt/notesMasters/notesMaster1.xml" Id="R9b995e056c6b47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dbb18a1c7443dc" /><Relationship Type="http://schemas.openxmlformats.org/officeDocument/2006/relationships/notesMaster" Target="/ppt/notesMasters/notesMaster1.xml" Id="R3738c22fbaff45a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47846afb87b484a" /><Relationship Type="http://schemas.openxmlformats.org/officeDocument/2006/relationships/notesMaster" Target="/ppt/notesMasters/notesMaster1.xml" Id="Re3dbbd7349fe4f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0c6ea67388c4e93" /><Relationship Type="http://schemas.openxmlformats.org/officeDocument/2006/relationships/notesMaster" Target="/ppt/notesMasters/notesMaster1.xml" Id="R276f6e6a22924d5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a198ec0b5dc4530" /><Relationship Type="http://schemas.openxmlformats.org/officeDocument/2006/relationships/notesMaster" Target="/ppt/notesMasters/notesMaster1.xml" Id="Rd28e8faefed7495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171ec0ec2b64113" /><Relationship Type="http://schemas.openxmlformats.org/officeDocument/2006/relationships/notesMaster" Target="/ppt/notesMasters/notesMaster1.xml" Id="R84e4d9db3c74474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d5327d38ce843a8" /><Relationship Type="http://schemas.openxmlformats.org/officeDocument/2006/relationships/notesMaster" Target="/ppt/notesMasters/notesMaster1.xml" Id="Rbea63237d2904d5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832b5c878db4365" /><Relationship Type="http://schemas.openxmlformats.org/officeDocument/2006/relationships/notesMaster" Target="/ppt/notesMasters/notesMaster1.xml" Id="R46e4be1a40cb4f9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9a8e46e9e2145f0" /><Relationship Type="http://schemas.openxmlformats.org/officeDocument/2006/relationships/notesMaster" Target="/ppt/notesMasters/notesMaster1.xml" Id="Re537ee413a54490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704b346d9bc4157" /><Relationship Type="http://schemas.openxmlformats.org/officeDocument/2006/relationships/notesMaster" Target="/ppt/notesMasters/notesMaster1.xml" Id="R42bb4103a72640c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433c76ba0804286" /><Relationship Type="http://schemas.openxmlformats.org/officeDocument/2006/relationships/notesMaster" Target="/ppt/notesMasters/notesMaster1.xml" Id="Reedfc098967a4c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第6讲 研究问题、问题定义与第一性原理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第6讲 研究问题、问题定义与第一性原理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开场放下研究空白清单。第 5 课已经识别了研究空白候选并通过了三步检验，但空白本身还不是研究问题。本课把空白收敛为可检验问题，并完成第一次正式提交——问题门。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课程定位以 [syllabus.md](../../course/syllabus.md) 与 [备课规划.md](../备课规划.md) 第 6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第 5 课之后，研究空白候选如何变成问题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 5 课已建立：</a:t>
            </a:r>
          </a:p>
          <a:p xmlns:a="http://schemas.openxmlformats.org/drawingml/2006/main">
            <a:r>
              <a:t>- 证据地图初版（直接证据/补充证据/冲突/空白）</a:t>
            </a:r>
          </a:p>
          <a:p xmlns:a="http://schemas.openxmlformats.org/drawingml/2006/main">
            <a:r>
              <a:t>- 研究空白候选（经三步检验：真实性、重要性、可行性）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仍未解决：</a:t>
            </a:r>
          </a:p>
          <a:p xmlns:a="http://schemas.openxmlformats.org/drawingml/2006/main">
            <a:r>
              <a:t>- 空白如何改写为包含条件、对象、干预、结果的问题？</a:t>
            </a:r>
          </a:p>
          <a:p xmlns:a="http://schemas.openxmlformats.org/drawingml/2006/main">
            <a:r>
              <a:t>- 什么不算本问题（非例）？</a:t>
            </a:r>
          </a:p>
          <a:p xmlns:a="http://schemas.openxmlformats.org/drawingml/2006/main">
            <a:r>
              <a:t>- 什么观察会推翻当前主张（可证伪命题）？</a:t>
            </a:r>
          </a:p>
          <a:p xmlns:a="http://schemas.openxmlformats.org/drawingml/2006/main">
            <a:r>
              <a:t>- 从基本约束能推出什么待验证前提？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研究空白描述"缺什么"，本课回答"问什么"。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回扣第 5 课：证据地图和研究空白候选让"缺什么"变得可见，但没有回答"问什么"。本课进入阶段一和阶段二，把空白收敛为可检验问题。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快问：你目前的研究空白候选是什么？它是一个空格描述，还是一个包含条件和机制的问题？只听回答，不评价。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**板书主线**：问题谓词 → 反证观察；效果 / 成本 / 采用分开。</a:t>
            </a:r>
          </a:p>
          <a:p xmlns:a="http://schemas.openxmlformats.org/drawingml/2006/main">
            <a:r>
              <a:t>- **诊断问题**：效果较好但成本高，究竟推翻了哪条命题？</a:t>
            </a:r>
          </a:p>
          <a:p xmlns:a="http://schemas.openxmlformats.org/drawingml/2006/main">
            <a:r>
              <a:t>- **预期回答**：可能影响采用决定，不能直接推翻效果命题。</a:t>
            </a:r>
          </a:p>
          <a:p xmlns:a="http://schemas.openxmlformats.org/drawingml/2006/main">
            <a:r>
              <a:t>- **常见误答后的追问**：要求对准命题的范围、结果谓词和不确定性。</a:t>
            </a:r>
          </a:p>
          <a:p xmlns:a="http://schemas.openxmlformats.org/drawingml/2006/main">
            <a:r>
              <a:t>- **过渡串词**：“下一课为这个结果命题补机制，并找能区分的观察。”</a:t>
            </a:r>
          </a:p>
          <a:p xmlns:a="http://schemas.openxmlformats.org/drawingml/2006/main">
            <a:r>
              <a:t>- **当堂最小产出**：一条可检验问题及一项本人问题门缺口。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回扣第 5 课讲义与 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本课目标与课堂产出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完成本课后，你能：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把宽泛兴趣改写为范围清楚、可证伪、周期可完成的研究问题；</a:t>
            </a:r>
          </a:p>
          <a:p xmlns:a="http://schemas.openxmlformats.org/drawingml/2006/main">
            <a:r>
              <a:t>2. 用非例界定问题边界；</a:t>
            </a:r>
          </a:p>
          <a:p xmlns:a="http://schemas.openxmlformats.org/drawingml/2006/main">
            <a:r>
              <a:t>3. 写出至少一个可证伪命题；</a:t>
            </a:r>
          </a:p>
          <a:p xmlns:a="http://schemas.openxmlformats.org/drawingml/2006/main">
            <a:r>
              <a:t>4. 从基本约束推导待验证前提，并说明适用边界；</a:t>
            </a:r>
          </a:p>
          <a:p xmlns:a="http://schemas.openxmlformats.org/drawingml/2006/main">
            <a:r>
              <a:t>5. 用"So what?"和"Who cares?"检查重要性；</a:t>
            </a:r>
          </a:p>
          <a:p xmlns:a="http://schemas.openxmlformats.org/drawingml/2006/main">
            <a:r>
              <a:t>6. 对照问题门条件完成提交前自查。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课堂产出：问题门材料初版（problem-definition.md + 第一性原理推导）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课后提交问题门材料包，具体条件以 assignments.md 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明确边界：本课目标是完成问题门材料的初版，不要求课堂内全部自查通过。问题门条件以 [assignments.md](../../course/assignments.md) Checkpoint 1 为权威来源，本课自查清单与之一一对应。第 1-5 课的文献、精读卡和证据地图已是项目的一部分，本课只补充研究问题、非例、可证伪命题和第一性原理推导。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[备课规划.md](../备课规划.md) 第 6 课目标段；[assignments.md](../../course/assignments.md) Checkpoint 1 问题门条件。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主题、研究问题还是待验证主张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层次 | 典型表述 | 还需回答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主题 | AI 辅助论文阅读 | 对象、任务与比较 |</a:t>
            </a:r>
          </a:p>
          <a:p xmlns:a="http://schemas.openxmlformats.org/drawingml/2006/main">
            <a:r>
              <a:t>| 问题 | 在限定材料中，阅读卡是否比自由摘要少遗漏条件？ | 可检验的候选答案 |</a:t>
            </a:r>
          </a:p>
          <a:p xmlns:a="http://schemas.openxmlformats.org/drawingml/2006/main">
            <a:r>
              <a:t>| 待验证主张 | 阅读卡组的限定条件遗漏率更低。 | 同口径结果与适用边界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结果命题可检验，机制解释另需区分观察。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让学生先判断自己当前的问题表述属于哪一层。常见错误是停在主题层，缺少条件、对象和比较。研究问题需要指明在什么条件下、对什么对象、什么干预、什么结果、与什么比较。缺少任何一项，综述和实验都无法定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请学生举手：你当前的 problem-definition.md 里的问题表述属于哪一层？只统计，不点名。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§一·1 主题、问题与主张；Booth et al. *The Craft of Research*, 5th ed., Chapter 1 "From Topics to Questions"（[reading-list.md](../../course/reading-list.md) 第 6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从研究空白到结构性问题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虚构教学样例｜非真实论文、检索或实证证据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5 课空白候选 G1（缺角空白）：</a:t>
            </a:r>
          </a:p>
          <a:p xmlns:a="http://schemas.openxmlformats.org/drawingml/2006/main">
            <a:r>
              <a:t>&gt; 阅读卡是否强制定位原文→降低遗漏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本课改写为结构性问题：</a:t>
            </a:r>
          </a:p>
          <a:p xmlns:a="http://schemas.openxmlformats.org/drawingml/2006/main">
            <a:r>
              <a:t>&gt; 在需要逐条核验引用的计算机论文阅读任务中，结构化阅读卡是否降低 AI 摘要的限定条件遗漏率？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改写中明确了：</a:t>
            </a:r>
          </a:p>
          <a:p xmlns:a="http://schemas.openxmlformats.org/drawingml/2006/main">
            <a:r>
              <a:t>- 条件：需要逐条核验引用的 CS 论文阅读任务</a:t>
            </a:r>
          </a:p>
          <a:p xmlns:a="http://schemas.openxmlformats.org/drawingml/2006/main">
            <a:r>
              <a:t>- 对象：AI 生成摘要</a:t>
            </a:r>
          </a:p>
          <a:p xmlns:a="http://schemas.openxmlformats.org/drawingml/2006/main">
            <a:r>
              <a:t>- 干预：结构化阅读卡</a:t>
            </a:r>
          </a:p>
          <a:p xmlns:a="http://schemas.openxmlformats.org/drawingml/2006/main">
            <a:r>
              <a:t>- 结果：限定条件遗漏率</a:t>
            </a:r>
          </a:p>
          <a:p xmlns:a="http://schemas.openxmlformats.org/drawingml/2006/main">
            <a:r>
              <a:t>- 比较对象：与自由摘要对照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从空格描述到可操作的结构，需要补全条件、对象、干预、结果和比较。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以虚构教学样例 G1 展示从空白到问题的转换。改写的关键是补充条件、对象、干预、结果和比较对象。空白候选只是一个空格描述，问题是一个可操作的结构；样例真实性仍待真实窄检索，不作为实证结论。让学生用自己的空白候选尝试同样的改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让学生用自己的研究空白候选，口头尝试补充条件、对象、干预和结果。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§一·2 从研究空白到问题的转换；贯穿案例承接第 5 课 G1。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用 So what? / Who cares? 检查重要性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问题不止要清楚，还要重要。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**So what?（知识后果）**</a:t>
            </a:r>
          </a:p>
          <a:p xmlns:a="http://schemas.openxmlformats.org/drawingml/2006/main">
            <a:r>
              <a:t>如果不回答这个问题，当前证据地图的哪条主张无法成立？哪个机制假设无法被检验？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**Who cares?（实际后果）**</a:t>
            </a:r>
          </a:p>
          <a:p xmlns:a="http://schemas.openxmlformats.org/drawingml/2006/main">
            <a:r>
              <a:t>谁会从答案中受益？是研究者、实践者还是决策者？受益的形式是什么？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贯穿案例：</a:t>
            </a:r>
          </a:p>
          <a:p xmlns:a="http://schemas.openxmlformats.org/drawingml/2006/main">
            <a:r>
              <a:t>- So what?：缺角空白 G1 位于"阅读卡强制定位→降低遗漏"论证链的关键位置，不回答则机制假设无法直接检验</a:t>
            </a:r>
          </a:p>
          <a:p xmlns:a="http://schemas.openxmlformats.org/drawingml/2006/main">
            <a:r>
              <a:t>- Who cares?：需要用 AI 辅助文献综述的研究者可判断是否引入阅读卡结构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重要性来自问题在论证链上的位置。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第 5 课三步检验已经做过一次重要性检查，这里从空白候选升级为问题后需要再确认一次。重要性看问题在论证链上的位置——如果不回答它，哪些后续判断无法成立？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让学生对自己的问题口头回答"So what?"：如果不回答它，哪条论证链断掉？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§一·3 "So what?" 和 "Who cares?"；Booth et al. *The Craft of Research*, 5th ed., Chapter 2 "From Questions to a Problem"；Hamming, "You and Your Research"（[reading-list.md](../../course/reading-list.md) 第 6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问题来源交叉检查与四维选题标准卡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先问来源：你的候选题从哪条生成路径来？（第 5 课六条路径）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若只来自文献空白，必须回答：</a:t>
            </a:r>
          </a:p>
          <a:p xmlns:a="http://schemas.openxmlformats.org/drawingml/2006/main">
            <a:r>
              <a:t>&gt; 如果文献里没有这个空白，这个问题还值得回答吗？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答得出 → 背后有更基本的观察或约束，空白只是入口</a:t>
            </a:r>
          </a:p>
          <a:p xmlns:a="http://schemas.openxmlformats.org/drawingml/2006/main">
            <a:r>
              <a:t>- 答不出 → 可能只是填格子：重推问题，或明示重要性只在论证链内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四维选题标准卡（候选题池 ≥3 个逐一比较）：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维度 | 检查问题 |</a:t>
            </a:r>
          </a:p>
          <a:p xmlns:a="http://schemas.openxmlformats.org/drawingml/2006/main">
            <a:r>
              <a:t>| --- | --- |</a:t>
            </a:r>
          </a:p>
          <a:p xmlns:a="http://schemas.openxmlformats.org/drawingml/2006/main">
            <a:r>
              <a:t>| 意义 | 不回答它，哪条论证链断掉？谁受益？ |</a:t>
            </a:r>
          </a:p>
          <a:p xmlns:a="http://schemas.openxmlformats.org/drawingml/2006/main">
            <a:r>
              <a:t>| 新颖性 | 问题新 / 视角新 / 方法新，新在哪一类？ |</a:t>
            </a:r>
          </a:p>
          <a:p xmlns:a="http://schemas.openxmlformats.org/drawingml/2006/main">
            <a:r>
              <a:t>| 可行性 | 课程周期内能否最小验证？ |</a:t>
            </a:r>
          </a:p>
          <a:p xmlns:a="http://schemas.openxmlformats.org/drawingml/2006/main">
            <a:r>
              <a:t>| 兴趣 | 课程之外还愿意投入吗？判据是什么？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“新”不等于“没人做过”；意义优先于新颖性。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这是防止"关键词 → 论文 → 空白"单线选题的收束页：候选题池里的候选先交叉检查来源，纯文献空白来源的候选要回答"没有这个空白还值得回答吗"。然后用四维标准卡比较 ≥3 个候选题，以意义和可行性完成取舍；新颖性只在有依据时记录类别和待核验状态，不作为淘汰硬门。比较示范用贯穿案例的虚构题池（G1 + C2 + C3，见讲义 §七第一步）。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让学生对自己的候选题回答来源交叉检查问句；答不出的记下"待重推或明示重要性边界"。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§一·4；Booth et al. *The Craft of Research*（意义维度）；Hamming, "You and Your Research"（重要问题与品味）；霍强《创新研究到底怎么做？》Passion/Excellence/Impact（兴趣与意义参照，课堂案例）；第 5 课 §四·1 生成路径。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用非例界定问题边界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非例说明"什么不算本问题"。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它和包含范围一起构成正负边界。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**非例的三种类型**：</a:t>
            </a:r>
          </a:p>
          <a:p xmlns:a="http://schemas.openxmlformats.org/drawingml/2006/main">
            <a:r>
              <a:t>- 不可比的例子（不同任务设置）</a:t>
            </a:r>
          </a:p>
          <a:p xmlns:a="http://schemas.openxmlformats.org/drawingml/2006/main">
            <a:r>
              <a:t>- 不同层面的例子（通用写作质量 vs. 限定条件准确性）</a:t>
            </a:r>
          </a:p>
          <a:p xmlns:a="http://schemas.openxmlformats.org/drawingml/2006/main">
            <a:r>
              <a:t>- 超出周期的例子（需要专业实验设备）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贯穿案例非例：</a:t>
            </a:r>
          </a:p>
          <a:p xmlns:a="http://schemas.openxmlformats.org/drawingml/2006/main">
            <a:r>
              <a:t>&gt; - 不比较不同大模型的通用写作质量（不同层面）</a:t>
            </a:r>
          </a:p>
          <a:p xmlns:a="http://schemas.openxmlformats.org/drawingml/2006/main">
            <a:r>
              <a:t>&gt; - 不评价综述是否具有语言美感（不同指标）</a:t>
            </a:r>
          </a:p>
          <a:p xmlns:a="http://schemas.openxmlformats.org/drawingml/2006/main">
            <a:r>
              <a:t>&gt; - 不处理需要专业实验设备的学科（超出周期与范围）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如果无法写出非例，通常说明问题仍然过宽。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非例的价值在于防止项目随检索膨胀。当你在搜索中看到一篇"似乎相关"的论文时，非例帮你判断它到底在不在范围内。第 1 课已经给出基本概念，本课把它系统化为三种类型。非例不只是"不做 X"，还要说明为什么不算。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让学生为自己的问题写一个非例，并说明为什么不算。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§二·1 什么是非例；§二·2 非例的写法。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非例的三种常见错误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错误类型 | 表现 | 后果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非例过宽 | "不做与本课题无关的研究" | 没有实质约束 |</a:t>
            </a:r>
          </a:p>
          <a:p xmlns:a="http://schemas.openxmlformats.org/drawingml/2006/main">
            <a:r>
              <a:t>| 非例过窄 | "不使用数据集 X" | 等同排除某个数据集 |</a:t>
            </a:r>
          </a:p>
          <a:p xmlns:a="http://schemas.openxmlformats.org/drawingml/2006/main">
            <a:r>
              <a:t>| 非例与可证伪命题矛盾 | 非例排除了检验条件 | 命题无法成立 |</a:t>
            </a:r>
          </a:p>
          <a:p xmlns:a="http://schemas.openxmlformats.org/drawingml/2006/main">
            <a:r>
              <a:t>| 非例只是否定清单 | "不评价文风、不比较模型" | 否定了但没说清为什么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胡晓峰：把背景、意义或"怎么做"误写成科学问题——非例的作用之一就是挡住这些。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胡晓峰在《浅谈科研课题中的"科学问题"》中指出一种常见错误：把背景、意义或"怎么做"误写成科学问题。非例的作用之一就是把这些"看起来是问题但实际不是"的表述挡在问题定义之外。非例过宽等于没有约束，过窄等于排除数据集而非界定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让学生检查自己的非例属于哪种类型，或是否避免了这四种错误。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§二·3 非例的常见错误；胡晓峰《浅谈科研课题中的"科学问题"》（[reading-list.md](../../course/reading-list.md) 第 6 课课堂案例）。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怎样的观察会削弱这条命题？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§三、可证伪命题；五、问题门提交清单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Q1：在限定材料与任务中，阅读卡降低限定条件遗漏率。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结果检查：差异的方向、大小和不确定性。</a:t>
            </a:r>
          </a:p>
          <a:p xmlns:a="http://schemas.openxmlformats.org/drawingml/2006/main">
            <a:r>
              <a:t>机制检查：另找能区分原因的观察。</a:t>
            </a:r>
          </a:p>
          <a:p xmlns:a="http://schemas.openxmlformats.org/drawingml/2006/main">
            <a:r>
              <a:t>采用决定：质量代价、时间与资源是否可接受。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先问“成本高就证明没有降低遗漏吗”。应回答不一定：效果命题可能成立，但不值得采用。反证点须对应命题中的谓词和范围；精度不足时保持未决。这里尚未展示构造结果，不能预告方法有效。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给自己的主张圈出结果谓词，写一项能削弱它的观察。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给第 7 课留下替代解释标记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同一个结果可能有多种解释。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H1 候选：生成时显式列出限定条件，促使输出保留更多。</a:t>
            </a:r>
          </a:p>
          <a:p xmlns:a="http://schemas.openxmlformats.org/drawingml/2006/main">
            <a:r>
              <a:t>A2 候选：评分者看到字段提示，更容易给出保留分。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7 课把候选解释变成可区分的观察。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本页只建立跨课接口。让学生意识到当前解释并不唯一，并把最可能的替代解释写在问题定义旁。不要在此展开组别、控制变量或完整区分实验；这些进入第 7 课正式设计。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让学生写出一个会削弱当前主张的替代解释。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§三·3 给第 7 课留下替代解释标记；Platt, "Strong Inference."（同 P09 来源）。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第一性原理不是脱离证据的捷径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**第一性原理分析**：</a:t>
            </a:r>
          </a:p>
          <a:p xmlns:a="http://schemas.openxmlformats.org/drawingml/2006/main">
            <a:r>
              <a:t>识别问题的基本约束、作用机制和不可违背条件，并由此推导待验证前提。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**适用边界**：</a:t>
            </a:r>
          </a:p>
          <a:p xmlns:a="http://schemas.openxmlformats.org/drawingml/2006/main">
            <a:r>
              <a:t>- 不替代文献检索：推导出的前提必须回到证据地图中检验</a:t>
            </a:r>
          </a:p>
          <a:p xmlns:a="http://schemas.openxmlformats.org/drawingml/2006/main">
            <a:r>
              <a:t>- 不脱离既有工作：在已有证据基础上深入，不是从零发明问题</a:t>
            </a:r>
          </a:p>
          <a:p xmlns:a="http://schemas.openxmlformats.org/drawingml/2006/main">
            <a:r>
              <a:t>- 不自动成立：推导结果只是"如果这些条件成立，那么……"</a:t>
            </a:r>
          </a:p>
          <a:p xmlns:a="http://schemas.openxmlformats.org/drawingml/2006/main">
            <a:r>
              <a:t>- 不追求穷举：只推导与当前问题直接相关的必要条件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推导结果必须继续接受外部证据检验。它不是脱离文献的通用捷径。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第一性原理分析在本课程中有明确适用边界。它不是通用思维方法，而是从基本约束推导待验证前提。推导结果只是假设性前提，不等于已经证明。推导出的前提进入第 7 课的机制假设，再进入第 9 课的实验规格接受检验。备课规划执行原则 9 明确了这一边界。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无。直接进入推导步骤。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§四·1 什么是第一性原理分析；§四·3 适用边界；[备课规划.md](../备课规划.md) 执行原则 9；[AGENTS.md](../../AGENTS.md)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第一性原理四步推导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四步推导：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**识别基本约束**：如果主张成立，哪些条件必须满足？（来自任务本身，不是当前工具）</a:t>
            </a:r>
          </a:p>
          <a:p xmlns:a="http://schemas.openxmlformats.org/drawingml/2006/main">
            <a:r>
              <a:t>2. **识别作用机制**：干预通过什么过程产生预期结果？</a:t>
            </a:r>
          </a:p>
          <a:p xmlns:a="http://schemas.openxmlformats.org/drawingml/2006/main">
            <a:r>
              <a:t>3. **识别不可违背条件**：哪些变量必须一致，比较才公平？哪个反例足以推翻？</a:t>
            </a:r>
          </a:p>
          <a:p xmlns:a="http://schemas.openxmlformats.org/drawingml/2006/main">
            <a:r>
              <a:t>4. **推导待验证前提**：从前三步推出可以检验的具体前提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输出：必要条件、关键约束和可检验前提清单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工具可以替换，但如果来源无法定位或评价标准在实验中变化，结论不成立。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四步推导的关键是区分"来自任务本身的约束"和"来自当前工具的约束"。基本约束是问题成立的必要条件，作用机制指向中间过程而非最终指标，不可违背条件是比较公平性的底线。推导出的待验证前提应该是可以检验的具体陈述，不是泛泛的原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让学生为自己的研究问题，口头尝试回答第一步："如果主张成立，哪些条件必须满足？"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§四·2 推导步骤。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贯穿案例：把前提移交给第 7–9 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问题：阅读卡是否降低限定条件遗漏率？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条件：同一材料分别进入阅读卡与自由摘要。</a:t>
            </a:r>
          </a:p>
          <a:p xmlns:a="http://schemas.openxmlformats.org/drawingml/2006/main">
            <a:r>
              <a:t>指标：相对人工复核基准，计算缺失条件比例。</a:t>
            </a:r>
          </a:p>
          <a:p xmlns:a="http://schemas.openxmlformats.org/drawingml/2006/main">
            <a:r>
              <a:t>未决：输出确实保留更多，还是评分提示改变得分？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质量代价与材料范围另列检查。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延续 P05 的同一问题，不再切换案例。本页只说明第 6 课输出什么：一条问题、一个待验证前提和一个替代解释标记。Q1、H1/A2 与 A1/A3 检查 的完整区分留给第 7 课，3 份源文本、两个条件各 1 份预制输出和 6 份构造输出等完整工程规格留给第 9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让学生指出：当前替代解释标记更接近任务转移、标注提示还是文档结构？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§三·3、§四与§七；本页案例为课程虚构教学样例，不表示实验已经运行。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问题门九项条件自查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9 项门条件（与 [assignments.md](../../course/assignments.md) Checkpoint 1 一致）：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# | 门条件 | 自查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1 | ≥10 篇候选文献，标注证据角色 | □ |</a:t>
            </a:r>
          </a:p>
          <a:p xmlns:a="http://schemas.openxmlformats.org/drawingml/2006/main">
            <a:r>
              <a:t>| 2 | ≥3 篇核心材料完整精读卡 | □ |</a:t>
            </a:r>
          </a:p>
          <a:p xmlns:a="http://schemas.openxmlformats.org/drawingml/2006/main">
            <a:r>
              <a:t>| 3 | 精读卡含 AI 初始地图、≥2 原文核验位置、AI 错误/过度概括/遗漏或已检查风险、人工判断 | □ |</a:t>
            </a:r>
          </a:p>
          <a:p xmlns:a="http://schemas.openxmlformats.org/drawingml/2006/main">
            <a:r>
              <a:t>| 4 | 证据地图初版（直接证据/补充证据/冲突/空白） | □ |</a:t>
            </a:r>
          </a:p>
          <a:p xmlns:a="http://schemas.openxmlformats.org/drawingml/2006/main">
            <a:r>
              <a:t>| 5 | 研究问题含范围、非例、≥1 可证伪命题 | □ |</a:t>
            </a:r>
          </a:p>
          <a:p xmlns:a="http://schemas.openxmlformats.org/drawingml/2006/main">
            <a:r>
              <a:t>| 6 | 第一性原理推导（必要条件、关键约束、可检验前提） | □ |</a:t>
            </a:r>
          </a:p>
          <a:p xmlns:a="http://schemas.openxmlformats.org/drawingml/2006/main">
            <a:r>
              <a:t>| 7 | 问题重要性 + 课程周期可行性 | □ |</a:t>
            </a:r>
          </a:p>
          <a:p xmlns:a="http://schemas.openxmlformats.org/drawingml/2006/main">
            <a:r>
              <a:t>| 8 | ≥1 条真实失败/死路：原因 + 处理 + 回写位置 | □ |</a:t>
            </a:r>
          </a:p>
          <a:p xmlns:a="http://schemas.openxmlformats.org/drawingml/2006/main">
            <a:r>
              <a:t>| 9 | AI 辅助检索/阅读/改写已记录来源与核验方式 | □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 1-5 课工件持续累计；本课重点补全第 5-8 项并继续回写第 9 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逐条讲清 9 项门条件。第 8 项检查真实发生的无结果检索、被排除方向或被放弃问题版本，前瞻性的“如果失败就重试”不满足；第 9 项是 AI 使用与来源核验。问题门检查当前项目版本，不重新制作材料。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让学生对照清单，标注当前项目哪些已满足、哪些待补全。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[assignments.md](../../course/assignments.md) Checkpoint 1 问题门条件（权威来源）；[starter-template.md](../../course/starter-template.md) §3 问题定义字段模板。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门条件检查的是本人项目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§三、可证伪命题；五、问题门提交清单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课堂构造案例：练习问题、证据与反证的对应。</a:t>
            </a:r>
          </a:p>
          <a:p xmlns:a="http://schemas.openxmlformats.org/drawingml/2006/main">
            <a:r>
              <a:t>本人项目：仍须说明来源、可行性、约束与失败预案。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一项局限记录可以帮助修订问题，不能替代完整问题门材料。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回收本课的个人问题定义。若学生只完成教师示例，记录“方法已练习、本人项目证据未补”。不要把某篇文献没有测量的能力直接说成被反驳。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写下本人问题门最缺的一项材料及补齐位置。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./handout.md；课堂示例与构造数据见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个人实践：选题、边界与一个待验证前提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本轮完成课堂最低闭环：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候选题池比较：对 ≥3 候选题做来源交叉检查与四维比较，记录选定理由（沿用第 5 课题池；不足 3 个先补一个异常/痛点候选）</a:t>
            </a:r>
          </a:p>
          <a:p xmlns:a="http://schemas.openxmlformats.org/drawingml/2006/main">
            <a:r>
              <a:t>2. 把选定的研究空白候选改写为结构性问题（补充条件、对象、干预、结果、比较）</a:t>
            </a:r>
          </a:p>
          <a:p xmlns:a="http://schemas.openxmlformats.org/drawingml/2006/main">
            <a:r>
              <a:t>3. 写出至少一个非例（说明为什么不算）</a:t>
            </a:r>
          </a:p>
          <a:p xmlns:a="http://schemas.openxmlformats.org/drawingml/2006/main">
            <a:r>
              <a:t>4. 写出至少一个可证伪命题（含五要素和推翻条件）</a:t>
            </a:r>
          </a:p>
          <a:p xmlns:a="http://schemas.openxmlformats.org/drawingml/2006/main">
            <a:r>
              <a:t>5. 从第一性原理推导中收敛一个待验证前提，并写一个替代解释标记</a:t>
            </a:r>
          </a:p>
          <a:p xmlns:a="http://schemas.openxmlformats.org/drawingml/2006/main">
            <a:r>
              <a:t>6. 对照 9 项门条件标注已满足、待补全和未满足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选择顺序：本人真实问题 → 导师组公开问题 → 课程贯穿案例 G1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写入位置：`problem-definition.md`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没有真实课题的学生沿用贯穿案例 G1（含虚构题池 G1/C2/C3），但不得把样例状态写成真实证据。课堂只要求选题、正负边界、一个可证伪命题、一个待验证前提和一个替代解释标记；完整竞争假设设计留给第 7 课。教师巡视只处理共同卡点，不逐台排障。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听清写入位置，打开个人项目并开始第一段实践。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[starter-template.md](../../course/starter-template.md) §3 问题定义字段模板；第 3-5 课项目工件。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实践停留页：问题定义与推导最小闭环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`problem-definition.md` 模板：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一句话研究问题：</a:t>
            </a:r>
          </a:p>
          <a:p xmlns:a="http://schemas.openxmlformats.org/drawingml/2006/main">
            <a:r>
              <a:t>&gt; 我们研究在 ______ 条件下，______ 方法/机制是否能改善/解释 ______。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研究范围：</a:t>
            </a:r>
          </a:p>
          <a:p xmlns:a="http://schemas.openxmlformats.org/drawingml/2006/main">
            <a:r>
              <a:t>- 包含什么：</a:t>
            </a:r>
          </a:p>
          <a:p xmlns:a="http://schemas.openxmlformats.org/drawingml/2006/main">
            <a:r>
              <a:t>- 暂不包含什么：</a:t>
            </a:r>
          </a:p>
          <a:p xmlns:a="http://schemas.openxmlformats.org/drawingml/2006/main">
            <a:r>
              <a:t>- 一个明确非例：</a:t>
            </a:r>
          </a:p>
          <a:p xmlns:a="http://schemas.openxmlformats.org/drawingml/2006/main">
            <a:r>
              <a:t>- 一个可证伪命题：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第一性原理推导：</a:t>
            </a:r>
          </a:p>
          <a:p xmlns:a="http://schemas.openxmlformats.org/drawingml/2006/main">
            <a:r>
              <a:t>- 基本约束：</a:t>
            </a:r>
          </a:p>
          <a:p xmlns:a="http://schemas.openxmlformats.org/drawingml/2006/main">
            <a:r>
              <a:t>- 作用机制：</a:t>
            </a:r>
          </a:p>
          <a:p xmlns:a="http://schemas.openxmlformats.org/drawingml/2006/main">
            <a:r>
              <a:t>- 不可违背条件：</a:t>
            </a:r>
          </a:p>
          <a:p xmlns:a="http://schemas.openxmlformats.org/drawingml/2006/main">
            <a:r>
              <a:t>- 待验证前提：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问题重要性：</a:t>
            </a:r>
          </a:p>
          <a:p xmlns:a="http://schemas.openxmlformats.org/drawingml/2006/main">
            <a:r>
              <a:t>- 知识后果（So what?）：</a:t>
            </a:r>
          </a:p>
          <a:p xmlns:a="http://schemas.openxmlformats.org/drawingml/2006/main">
            <a:r>
              <a:t>- 实际后果（Who cares?）：</a:t>
            </a:r>
          </a:p>
          <a:p xmlns:a="http://schemas.openxmlformats.org/drawingml/2006/main">
            <a:r>
              <a:t>- 课程周期可行性：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候选题池与选题理由（课程扩展）：</a:t>
            </a:r>
          </a:p>
          <a:p xmlns:a="http://schemas.openxmlformats.org/drawingml/2006/main">
            <a:r>
              <a:t>- 候选题 ≥3 个：表述 + 生成路径标签 + 当前证据</a:t>
            </a:r>
          </a:p>
          <a:p xmlns:a="http://schemas.openxmlformats.org/drawingml/2006/main">
            <a:r>
              <a:t>- 四维比较（意义/新颖性/可行性/兴趣）与选定理由</a:t>
            </a:r>
          </a:p>
          <a:p xmlns:a="http://schemas.openxmlformats.org/drawingml/2006/main">
            <a:r>
              <a:t>- 新颖性线索（如有依据）：问题新 / 视角新 / 方法新 + 待核验状态</a:t>
            </a:r>
          </a:p>
          <a:p xmlns:a="http://schemas.openxmlformats.org/drawingml/2006/main">
            <a:r>
              <a:t>- 来源交叉检查：纯文献空白来源时回答"没有这个空白还值得回答吗"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7 课接口：</a:t>
            </a:r>
          </a:p>
          <a:p xmlns:a="http://schemas.openxmlformats.org/drawingml/2006/main">
            <a:r>
              <a:t>- 一个会削弱当前主张的替代解释：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门条件自查（9 项，见 P15）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使用记录最小字段：工具/模型｜用途｜Context｜输出用途｜人工核验方式｜问题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模板投屏。第一段个人实践先完成候选题取舍、边界和可证伪命题；教师中点点评全班最常见的一处边界或推翻条件问题；第二段再写一个待验证前提和替代解释标记。九项门条件只标状态，课后按缺口补全并提交问题门材料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个人实践 12 分钟 → 教师中点点评 5 分钟 → 个人实践 8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§五·3 问题定义文件字段；[starter-template.md](../../course/starter-template.md) §3；[assignments.md](../../course/assignments.md) Checkpoint 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页面：P19 同伴互查：只提问题，由作者决定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2-3 人互查，按 9 项门条件逐项检查：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研究问题是结构性问题还是主题词？</a:t>
            </a:r>
          </a:p>
          <a:p xmlns:a="http://schemas.openxmlformats.org/drawingml/2006/main">
            <a:r>
              <a:t>2. 非例有实质约束吗？是否过宽或过窄？</a:t>
            </a:r>
          </a:p>
          <a:p xmlns:a="http://schemas.openxmlformats.org/drawingml/2006/main">
            <a:r>
              <a:t>3. 可证伪命题能被推翻吗？有没有对照和推翻条件？</a:t>
            </a:r>
          </a:p>
          <a:p xmlns:a="http://schemas.openxmlformats.org/drawingml/2006/main">
            <a:r>
              <a:t>4. 第一性原理推导基于证据地图吗？还是凭空构造？</a:t>
            </a:r>
          </a:p>
          <a:p xmlns:a="http://schemas.openxmlformats.org/drawingml/2006/main">
            <a:r>
              <a:t>5. 重要性经过"So what?"检查了吗？</a:t>
            </a:r>
          </a:p>
          <a:p xmlns:a="http://schemas.openxmlformats.org/drawingml/2006/main">
            <a:r>
              <a:t>6. 课程周期内能完成最小验证吗？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作者记录：采纳／暂不采纳／待核验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同伴只提问题，不替作者决定。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每人约 3-5 分钟：一人用 45 秒说明问题、非例和可证伪命题；同伴按门条件逐项检查。反馈不要求立即改写。反馈者不替代作者修改，不形成共同提交。人数为奇数时组成三人组，每人缩短说明时间。重点检查第 5-7 项（本课产出），第 1-4 项只确认已存在。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每人说明一个问题边界与推翻条件；同伴只提问题，作者记录处理方式。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页面：P20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结构性问题 → 可证伪命题 → 第一性原理推导 → 问题门自查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**结构性问题**：写清条件、对象、干预和结果，不停在主题词或空白描述。</a:t>
            </a:r>
          </a:p>
          <a:p xmlns:a="http://schemas.openxmlformats.org/drawingml/2006/main">
            <a:r>
              <a:t>2. **可证伪命题**：明确对照、指标与推翻条件。</a:t>
            </a:r>
          </a:p>
          <a:p xmlns:a="http://schemas.openxmlformats.org/drawingml/2006/main">
            <a:r>
              <a:t>3. **第一性原理推导**：由基本约束推导待验证前提，并继续接受外部证据检验。</a:t>
            </a:r>
          </a:p>
          <a:p xmlns:a="http://schemas.openxmlformats.org/drawingml/2006/main">
            <a:r>
              <a:t>4. **问题门自查**：核对九项条件以及一条已回写的真实失败或死路记录。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关键边界：第一性原理推导得到的是待验证前提，不是结论；问题门检查当前项目是否具备继续研究的条件。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回收本讲主链：从结构性问题出发，写出可证伪命题，再用基本约束推导待验证前提，最后按九项问题门条件核对。总结不替代下一页的提交说明。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学生用一句话说出自己当前最需要补的是问题表述、推翻条件、推导依据还是门条件记录。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§一-§五；[assignments.md](../../course/assignments.md) Checkpoint 1。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页面：P21 问题门提交与失败回退路径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**提交方式**：</a:t>
            </a:r>
          </a:p>
          <a:p xmlns:a="http://schemas.openxmlformats.org/drawingml/2006/main">
            <a:r>
              <a:t>提交指向当前个人项目版本的链接、tag 或压缩包。不重复制作与项目仓库分离的汇报文档。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**未通过时**：</a:t>
            </a:r>
          </a:p>
          <a:p xmlns:a="http://schemas.openxmlformats.org/drawingml/2006/main">
            <a:r>
              <a:t>回到文献、证据或问题定义环节修改，一周内重新检查。第一次未通过不直接扣重分，但未按期修订影响评分维度。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**根因定位**：</a:t>
            </a:r>
          </a:p>
          <a:p xmlns:a="http://schemas.openxmlformats.org/drawingml/2006/main">
            <a:r>
              <a:t>- 缺少直接证据 → 回到第 3-4 课检索和精读</a:t>
            </a:r>
          </a:p>
          <a:p xmlns:a="http://schemas.openxmlformats.org/drawingml/2006/main">
            <a:r>
              <a:t>- 问题过大 → 回到本课问题重写和非例</a:t>
            </a:r>
          </a:p>
          <a:p xmlns:a="http://schemas.openxmlformats.org/drawingml/2006/main">
            <a:r>
              <a:t>- 非例与可证伪命题矛盾 → 回到本课非例写法检查</a:t>
            </a:r>
          </a:p>
          <a:p xmlns:a="http://schemas.openxmlformats.org/drawingml/2006/main">
            <a:r>
              <a:t>- 第一性原理脱离文献 → 回到第 5 课证据地图</a:t>
            </a:r>
          </a:p>
          <a:p xmlns:a="http://schemas.openxmlformats.org/drawingml/2006/main">
            <a:r>
              <a:t>- 选题理由缺失 → 回到本课候选题池四维比较（P07）</a:t>
            </a:r>
          </a:p>
          <a:p xmlns:a="http://schemas.openxmlformats.org/drawingml/2006/main">
            <a:r>
              <a:t>- 失败记录只有预案 → 回到真实检索/阅读/问题迭代，补原因、处理和回写位置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提交核对：problem-definition.md、failure-log.md 与回写工件是否一致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门未通过时聚焦修复缺失条件，无关材料不必重复提交。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明确提交方式和回退路径。问题门检查当前项目版本，不重新制作材料。未通过时回到根因所在环节修复，不是重新写一份报告。第一次未通过不扣重分，但需在一周内修订。根因定位帮助学生知道不通过时回到哪个环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让学生检查：如果当前提交，9 项中哪一项最可能不通过？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[assignments.md](../../course/assignments.md) Checkpoint 1 提交方式与未通过处理；[assessment.md](../../course/assessment.md) "文献与问题定位"维度（25%）。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页面：P22 退出卡与第 7 课预告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退出卡：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当前问题属于主题、问题，还是待验证主张？</a:t>
            </a:r>
          </a:p>
          <a:p xmlns:a="http://schemas.openxmlformats.org/drawingml/2006/main">
            <a:r>
              <a:t>2. 哪项观察可能推翻主张？</a:t>
            </a:r>
          </a:p>
          <a:p xmlns:a="http://schemas.openxmlformats.org/drawingml/2006/main">
            <a:r>
              <a:t>3. 九项问题门条件中，最需要补哪一项？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课后提交问题门材料包，包含至少 3 张相关完整精读卡。</a:t>
            </a:r>
          </a:p>
          <a:p xmlns:a="http://schemas.openxmlformats.org/drawingml/2006/main">
            <a:r>
              <a:t>第 7 课：机制假设、研究判断与实验设计。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课后阅读提示保留在此处；屏显只收束三个核心自检问题。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课后引导阅读（采用 AI 导航→原文核验→AI 质疑→偏差审计→人工定稿流程）：</a:t>
            </a:r>
          </a:p>
          <a:p xmlns:a="http://schemas.openxmlformats.org/drawingml/2006/main">
            <a:r>
              <a:t>- Booth et al. *The Craft of Research*, 5th ed., Chapter 1-2，核心阅读；</a:t>
            </a:r>
          </a:p>
          <a:p xmlns:a="http://schemas.openxmlformats.org/drawingml/2006/main">
            <a:r>
              <a:t>- Platt, "Strong Inference."，任选；</a:t>
            </a:r>
          </a:p>
          <a:p xmlns:a="http://schemas.openxmlformats.org/drawingml/2006/main">
            <a:r>
              <a:t>- Hamming, "You and Your Research."，任选；</a:t>
            </a:r>
          </a:p>
          <a:p xmlns:a="http://schemas.openxmlformats.org/drawingml/2006/main">
            <a:r>
              <a:t>- 霍强《创新研究到底怎么做？》，任选。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精读卡持续保存在个人项目 `notes/`，不逐周正式提交。问题门统一检查至少 3 张与个人项目直接相关的完整精读卡。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回扣本课目标：学生不需要在 90 分钟内完成全部门条件自查，只要 problem-definition.md 更新版包含研究问题、非例、可证伪命题、重要性说明和候选题池与选题理由，第一性原理推导完成四步，就已经形成可提交的起点。课后完成自查和补全后提交问题门材料包。第 7 课将在这些问题上建立机制假设和实验设计——第一性原理推导的待验证前提将成为第 7 课机制假设的直接输入。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学生提交退出卡或保存在个人项目。教师收集共性问题，用于第 7 课前调整。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Booth, W. C. et al. *The Craft of Research*, 5th ed. [出版社页面](https://press.uchicago.edu/ucp/books/book/chicago/C/bo215874008)。</a:t>
            </a:r>
          </a:p>
          <a:p xmlns:a="http://schemas.openxmlformats.org/drawingml/2006/main">
            <a:r>
              <a:t>- Platt, J. R. *Science* 146(3642), 347-353 (1964). DOI: [10.1126/science.146.3642.347](https://pubmed.ncbi.nlm.nih.gov/17739513/)。</a:t>
            </a:r>
          </a:p>
          <a:p xmlns:a="http://schemas.openxmlformats.org/drawingml/2006/main">
            <a:r>
              <a:t>- Hamming, R. W. *The Art of Doing Science and Engineering*. [出版社页面](https://press.stripe.com/the-art-of-doing-science-and-engineering)。</a:t>
            </a:r>
          </a:p>
          <a:p xmlns:a="http://schemas.openxmlformats.org/drawingml/2006/main">
            <a:r>
              <a:t>- 阅读规则见 [reading-list.md](../../course/reading-list.md)。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../../course/reading-card-case.md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e63abc6a394467" /><Relationship Type="http://schemas.openxmlformats.org/officeDocument/2006/relationships/image" Target="/ppt/media/image.png" Id="R15a0f2b819e7468d" /><Relationship Type="http://schemas.openxmlformats.org/officeDocument/2006/relationships/image" Target="/ppt/media/image2.png" Id="Rb6b7de890c3f4b3b" /><Relationship Type="http://schemas.openxmlformats.org/officeDocument/2006/relationships/image" Target="/ppt/media/image3.png" Id="Ra037cc9b6fe541c5" /><Relationship Type="http://schemas.openxmlformats.org/officeDocument/2006/relationships/image" Target="/ppt/media/image4.png" Id="R939b3ce61f2f48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8c4fa7db9948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6c677ec8ff41ba" /><Relationship Type="http://schemas.openxmlformats.org/officeDocument/2006/relationships/image" Target="/ppt/media/image2.png" Id="Rc5b20669a6c641e0" /><Relationship Type="http://schemas.openxmlformats.org/officeDocument/2006/relationships/image" Target="/ppt/media/image5.png" Id="Rfaa81d0cb1e643c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0858dde78e4fb8" /><Relationship Type="http://schemas.openxmlformats.org/officeDocument/2006/relationships/image" Target="/ppt/media/image.png" Id="R4aa0867f29404cf3" /><Relationship Type="http://schemas.openxmlformats.org/officeDocument/2006/relationships/image" Target="/ppt/media/image3.png" Id="R2e62e76fd7ce4db8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0f2b819e7468d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b7de890c3f4b3b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37cc9b6fe541c5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b3ce61f2f48da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b20669a6c641e0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81d0cb1e643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a0867f29404cf3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62e76fd7ce4db8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e159365d484515" /><Relationship Type="http://schemas.openxmlformats.org/officeDocument/2006/relationships/slideLayout" Target="/ppt/slideLayouts/slideLayout1.xml" Id="R07a2991f02374449" /><Relationship Type="http://schemas.openxmlformats.org/officeDocument/2006/relationships/slideLayout" Target="/ppt/slideLayouts/slideLayout2.xml" Id="R7a5749cdbc4f4d8a" /><Relationship Type="http://schemas.openxmlformats.org/officeDocument/2006/relationships/slideLayout" Target="/ppt/slideLayouts/slideLayout3.xml" Id="R8289e3270046423c" /><Relationship Type="http://schemas.openxmlformats.org/officeDocument/2006/relationships/slideLayout" Target="/ppt/slideLayouts/slideLayout4.xml" Id="Rc9dfde77a4164f4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a2991f02374449"/>
    <p:sldLayoutId xmlns:r="http://schemas.openxmlformats.org/officeDocument/2006/relationships" id="2147483650" r:id="R7a5749cdbc4f4d8a"/>
    <p:sldLayoutId xmlns:r="http://schemas.openxmlformats.org/officeDocument/2006/relationships" id="2147483651" r:id="R8289e3270046423c"/>
    <p:sldLayoutId xmlns:r="http://schemas.openxmlformats.org/officeDocument/2006/relationships" id="2147483652" r:id="Rc9dfde77a4164f4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bfcf39ea7420b" /><Relationship Type="http://schemas.openxmlformats.org/officeDocument/2006/relationships/notesSlide" Target="/ppt/notesSlides/notesSlide1.xml" Id="Ra5a8cbc28e574e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a88a102b3794ad4" /><Relationship Type="http://schemas.openxmlformats.org/officeDocument/2006/relationships/notesSlide" Target="/ppt/notesSlides/notesSlide2.xml" Id="R3f4059021fee48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49b2abcdde948c7" /><Relationship Type="http://schemas.openxmlformats.org/officeDocument/2006/relationships/notesSlide" Target="/ppt/notesSlides/notesSlide3.xml" Id="Ra27c480c74f0420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d825a1bef6c476e" /><Relationship Type="http://schemas.openxmlformats.org/officeDocument/2006/relationships/notesSlide" Target="/ppt/notesSlides/notesSlide4.xml" Id="R8eb40f969b674b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0b1874adce4375" /><Relationship Type="http://schemas.openxmlformats.org/officeDocument/2006/relationships/notesSlide" Target="/ppt/notesSlides/notesSlide5.xml" Id="Rfd80a250653e4bf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305bb2be0047e1" /><Relationship Type="http://schemas.openxmlformats.org/officeDocument/2006/relationships/notesSlide" Target="/ppt/notesSlides/notesSlide6.xml" Id="R39475071757f48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775691b74864c12" /><Relationship Type="http://schemas.openxmlformats.org/officeDocument/2006/relationships/notesSlide" Target="/ppt/notesSlides/notesSlide7.xml" Id="Rc8c1286b478f4f4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f0107c6068f47ad" /><Relationship Type="http://schemas.openxmlformats.org/officeDocument/2006/relationships/notesSlide" Target="/ppt/notesSlides/notesSlide8.xml" Id="Rec50cecb2aed4a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c94e95c84c94da5" /><Relationship Type="http://schemas.openxmlformats.org/officeDocument/2006/relationships/notesSlide" Target="/ppt/notesSlides/notesSlide9.xml" Id="R045e50ede5f343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da41b266d9d4213" /><Relationship Type="http://schemas.openxmlformats.org/officeDocument/2006/relationships/notesSlide" Target="/ppt/notesSlides/notesSlide10.xml" Id="R85319895b73541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d67831506984af7" /><Relationship Type="http://schemas.openxmlformats.org/officeDocument/2006/relationships/notesSlide" Target="/ppt/notesSlides/notesSlide11.xml" Id="R516f20da1c8648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98fbcacb6354daf" /><Relationship Type="http://schemas.openxmlformats.org/officeDocument/2006/relationships/notesSlide" Target="/ppt/notesSlides/notesSlide12.xml" Id="Rc4f141638dfe444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0afa332ad34303" /><Relationship Type="http://schemas.openxmlformats.org/officeDocument/2006/relationships/notesSlide" Target="/ppt/notesSlides/notesSlide13.xml" Id="Rd5c35a1d21a74ee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ed266ac48884c38" /><Relationship Type="http://schemas.openxmlformats.org/officeDocument/2006/relationships/notesSlide" Target="/ppt/notesSlides/notesSlide14.xml" Id="R1b40e222f5754f6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4c5ac2ff00e4c80" /><Relationship Type="http://schemas.openxmlformats.org/officeDocument/2006/relationships/notesSlide" Target="/ppt/notesSlides/notesSlide15.xml" Id="R86dbed0c205a432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fec7b270094984" /><Relationship Type="http://schemas.openxmlformats.org/officeDocument/2006/relationships/notesSlide" Target="/ppt/notesSlides/notesSlide16.xml" Id="Rc536bef23c6241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905b08f06334b5e" /><Relationship Type="http://schemas.openxmlformats.org/officeDocument/2006/relationships/notesSlide" Target="/ppt/notesSlides/notesSlide17.xml" Id="R69254626ed5040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451f974f90b4423" /><Relationship Type="http://schemas.openxmlformats.org/officeDocument/2006/relationships/notesSlide" Target="/ppt/notesSlides/notesSlide18.xml" Id="Rc9bb5cc6fcf641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d51514a40f34600" /><Relationship Type="http://schemas.openxmlformats.org/officeDocument/2006/relationships/notesSlide" Target="/ppt/notesSlides/notesSlide19.xml" Id="R15e7600f5c2f4cf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20956592aa4171" /><Relationship Type="http://schemas.openxmlformats.org/officeDocument/2006/relationships/notesSlide" Target="/ppt/notesSlides/notesSlide20.xml" Id="R91bef7135dc4418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105ed01bdf1485f" /><Relationship Type="http://schemas.openxmlformats.org/officeDocument/2006/relationships/notesSlide" Target="/ppt/notesSlides/notesSlide21.xml" Id="R385be21d54c24b7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1699c3134394584" /><Relationship Type="http://schemas.openxmlformats.org/officeDocument/2006/relationships/notesSlide" Target="/ppt/notesSlides/notesSlide22.xml" Id="R09db5937bf05401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第6讲 研究问题、问题定义与第一性原理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5 课之后，研究空白候选如何变成问题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have">
            <a:extLst xmlns:a="http://schemas.openxmlformats.org/drawingml/2006/main">
              <a:ext uri="{FF2B5EF4-FFF2-40B4-BE49-F238E27FC236}">
                <a16:creationId xmlns:a16="http://schemas.microsoft.com/office/drawing/2014/main" id="{0C2A5C8F-FD22-42DC-A3DF-FC428024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5 课已经建立</a:t>
            </a:r>
          </a:p>
        </p:txBody>
      </p:sp>
      <p:sp>
        <p:nvSpPr>
          <p:cNvPr id="7" name="visual-2-1-p02-h0">
            <a:extLst xmlns:a="http://schemas.openxmlformats.org/drawingml/2006/main">
              <a:ext uri="{FF2B5EF4-FFF2-40B4-BE49-F238E27FC236}">
                <a16:creationId xmlns:a16="http://schemas.microsoft.com/office/drawing/2014/main" id="{F8761783-60F3-4A63-A7D9-BB7CE620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证据地图：直接 / 补充 / 冲突 / 空白</a:t>
            </a:r>
          </a:p>
        </p:txBody>
      </p:sp>
      <p:sp>
        <p:nvSpPr>
          <p:cNvPr id="8" name="visual-2-2-p02-h1">
            <a:extLst xmlns:a="http://schemas.openxmlformats.org/drawingml/2006/main">
              <a:ext uri="{FF2B5EF4-FFF2-40B4-BE49-F238E27FC236}">
                <a16:creationId xmlns:a16="http://schemas.microsoft.com/office/drawing/2014/main" id="{16898670-B738-4523-B65C-15D3F719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空白候选：真实性 / 重要性 / 可行性</a:t>
            </a:r>
          </a:p>
        </p:txBody>
      </p:sp>
      <p:sp>
        <p:nvSpPr>
          <p:cNvPr id="9" name="visual-2-3-p02-a">
            <a:extLst xmlns:a="http://schemas.openxmlformats.org/drawingml/2006/main">
              <a:ext uri="{FF2B5EF4-FFF2-40B4-BE49-F238E27FC236}">
                <a16:creationId xmlns:a16="http://schemas.microsoft.com/office/drawing/2014/main" id="{FC116EDC-0801-40DB-B9A4-F92D6338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71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-4-p02-miss">
            <a:extLst xmlns:a="http://schemas.openxmlformats.org/drawingml/2006/main">
              <a:ext uri="{FF2B5EF4-FFF2-40B4-BE49-F238E27FC236}">
                <a16:creationId xmlns:a16="http://schemas.microsoft.com/office/drawing/2014/main" id="{75C9F45A-A7DE-434B-9605-CF8B2148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7155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本课仍需回答</a:t>
            </a:r>
          </a:p>
        </p:txBody>
      </p:sp>
      <p:sp>
        <p:nvSpPr>
          <p:cNvPr id="11" name="visual-2-5-p02-m0">
            <a:extLst xmlns:a="http://schemas.openxmlformats.org/drawingml/2006/main">
              <a:ext uri="{FF2B5EF4-FFF2-40B4-BE49-F238E27FC236}">
                <a16:creationId xmlns:a16="http://schemas.microsoft.com/office/drawing/2014/main" id="{5E8C6A82-43EE-43D3-BBC8-A1D8DD2B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6192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问什么？边界在哪里？</a:t>
            </a:r>
          </a:p>
        </p:txBody>
      </p:sp>
      <p:sp>
        <p:nvSpPr>
          <p:cNvPr id="12" name="visual-2-6-p02-m1">
            <a:extLst xmlns:a="http://schemas.openxmlformats.org/drawingml/2006/main">
              <a:ext uri="{FF2B5EF4-FFF2-40B4-BE49-F238E27FC236}">
                <a16:creationId xmlns:a16="http://schemas.microsoft.com/office/drawing/2014/main" id="{6D9FBE60-F85A-4339-B8A9-5D537B49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428875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什么结果会推翻主张？</a:t>
            </a:r>
          </a:p>
        </p:txBody>
      </p:sp>
      <p:sp>
        <p:nvSpPr>
          <p:cNvPr id="13" name="visual-2-7-p02-m2">
            <a:extLst xmlns:a="http://schemas.openxmlformats.org/drawingml/2006/main">
              <a:ext uri="{FF2B5EF4-FFF2-40B4-BE49-F238E27FC236}">
                <a16:creationId xmlns:a16="http://schemas.microsoft.com/office/drawing/2014/main" id="{56C2C6F8-787F-453E-A792-691A72F5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23850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哪些前提仍待外部检验？</a:t>
            </a:r>
          </a:p>
        </p:txBody>
      </p:sp>
      <p:sp>
        <p:nvSpPr>
          <p:cNvPr id="14" name="visual-2-8-p02-bottom">
            <a:extLst xmlns:a="http://schemas.openxmlformats.org/drawingml/2006/main">
              <a:ext uri="{FF2B5EF4-FFF2-40B4-BE49-F238E27FC236}">
                <a16:creationId xmlns:a16="http://schemas.microsoft.com/office/drawing/2014/main" id="{F8DC9890-81AA-4ECC-AF6C-311CD487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00625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快问：你的候选现在是“空格描述”，还是“可检验问题”？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p03-n0">
            <a:extLst xmlns:a="http://schemas.openxmlformats.org/drawingml/2006/main">
              <a:ext uri="{FF2B5EF4-FFF2-40B4-BE49-F238E27FC236}">
                <a16:creationId xmlns:a16="http://schemas.microsoft.com/office/drawing/2014/main" id="{7957C2A0-EACE-4A4F-8069-781082DA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3-1-p03-g0">
            <a:extLst xmlns:a="http://schemas.openxmlformats.org/drawingml/2006/main">
              <a:ext uri="{FF2B5EF4-FFF2-40B4-BE49-F238E27FC236}">
                <a16:creationId xmlns:a16="http://schemas.microsoft.com/office/drawing/2014/main" id="{4D172074-C1AA-46F1-A01D-2674BAC4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结构性问题</a:t>
            </a:r>
          </a:p>
        </p:txBody>
      </p:sp>
      <p:sp>
        <p:nvSpPr>
          <p:cNvPr id="8" name="visual-3-2-p03-n1">
            <a:extLst xmlns:a="http://schemas.openxmlformats.org/drawingml/2006/main">
              <a:ext uri="{FF2B5EF4-FFF2-40B4-BE49-F238E27FC236}">
                <a16:creationId xmlns:a16="http://schemas.microsoft.com/office/drawing/2014/main" id="{8865A8EC-60AE-4132-B8E1-C6C2157B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200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3-3-p03-g1">
            <a:extLst xmlns:a="http://schemas.openxmlformats.org/drawingml/2006/main">
              <a:ext uri="{FF2B5EF4-FFF2-40B4-BE49-F238E27FC236}">
                <a16:creationId xmlns:a16="http://schemas.microsoft.com/office/drawing/2014/main" id="{BEC6E2C8-76AE-4CC7-866B-E1A22D8B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1239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非例边界</a:t>
            </a:r>
          </a:p>
        </p:txBody>
      </p:sp>
      <p:sp>
        <p:nvSpPr>
          <p:cNvPr id="10" name="visual-3-4-p03-n2">
            <a:extLst xmlns:a="http://schemas.openxmlformats.org/drawingml/2006/main">
              <a:ext uri="{FF2B5EF4-FFF2-40B4-BE49-F238E27FC236}">
                <a16:creationId xmlns:a16="http://schemas.microsoft.com/office/drawing/2014/main" id="{130C26C6-A922-42CF-A2A6-811DAB4D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00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3-5-p03-g2">
            <a:extLst xmlns:a="http://schemas.openxmlformats.org/drawingml/2006/main">
              <a:ext uri="{FF2B5EF4-FFF2-40B4-BE49-F238E27FC236}">
                <a16:creationId xmlns:a16="http://schemas.microsoft.com/office/drawing/2014/main" id="{553DD785-660D-467B-85AA-AA924794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11239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可证伪命题</a:t>
            </a:r>
          </a:p>
        </p:txBody>
      </p:sp>
      <p:sp>
        <p:nvSpPr>
          <p:cNvPr id="12" name="visual-3-6-p03-n3">
            <a:extLst xmlns:a="http://schemas.openxmlformats.org/drawingml/2006/main">
              <a:ext uri="{FF2B5EF4-FFF2-40B4-BE49-F238E27FC236}">
                <a16:creationId xmlns:a16="http://schemas.microsoft.com/office/drawing/2014/main" id="{5B0FF6F5-0BE8-4ED3-A63B-39272049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52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3-7-p03-g3">
            <a:extLst xmlns:a="http://schemas.openxmlformats.org/drawingml/2006/main">
              <a:ext uri="{FF2B5EF4-FFF2-40B4-BE49-F238E27FC236}">
                <a16:creationId xmlns:a16="http://schemas.microsoft.com/office/drawing/2014/main" id="{F82F08B3-FE89-49FD-8A8C-F23EAA064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764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第一性原理推导</a:t>
            </a:r>
          </a:p>
        </p:txBody>
      </p:sp>
      <p:sp>
        <p:nvSpPr>
          <p:cNvPr id="14" name="visual-3-8-p03-n4">
            <a:extLst xmlns:a="http://schemas.openxmlformats.org/drawingml/2006/main">
              <a:ext uri="{FF2B5EF4-FFF2-40B4-BE49-F238E27FC236}">
                <a16:creationId xmlns:a16="http://schemas.microsoft.com/office/drawing/2014/main" id="{E2E326AA-81C0-4AE3-ABCF-E527FFBD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52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3-9-p03-g4">
            <a:extLst xmlns:a="http://schemas.openxmlformats.org/drawingml/2006/main">
              <a:ext uri="{FF2B5EF4-FFF2-40B4-BE49-F238E27FC236}">
                <a16:creationId xmlns:a16="http://schemas.microsoft.com/office/drawing/2014/main" id="{5883A3BE-68F1-4C9F-8E9B-F0D04CE8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0764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来源交叉检查 + 重要性</a:t>
            </a:r>
          </a:p>
        </p:txBody>
      </p:sp>
      <p:sp>
        <p:nvSpPr>
          <p:cNvPr id="16" name="visual-3-10-p03-n5">
            <a:extLst xmlns:a="http://schemas.openxmlformats.org/drawingml/2006/main">
              <a:ext uri="{FF2B5EF4-FFF2-40B4-BE49-F238E27FC236}">
                <a16:creationId xmlns:a16="http://schemas.microsoft.com/office/drawing/2014/main" id="{95CEDE7D-4B84-457C-A253-C98C744C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7" name="visual-3-11-p03-g5">
            <a:extLst xmlns:a="http://schemas.openxmlformats.org/drawingml/2006/main">
              <a:ext uri="{FF2B5EF4-FFF2-40B4-BE49-F238E27FC236}">
                <a16:creationId xmlns:a16="http://schemas.microsoft.com/office/drawing/2014/main" id="{6202C148-8A79-4F71-8062-6BECBBF6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076450"/>
            <a:ext cx="2143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候选题比较与门自查</a:t>
            </a:r>
          </a:p>
        </p:txBody>
      </p:sp>
      <p:sp>
        <p:nvSpPr>
          <p:cNvPr id="18" name="visual-3-12-p03-output">
            <a:extLst xmlns:a="http://schemas.openxmlformats.org/drawingml/2006/main">
              <a:ext uri="{FF2B5EF4-FFF2-40B4-BE49-F238E27FC236}">
                <a16:creationId xmlns:a16="http://schemas.microsoft.com/office/drawing/2014/main" id="{12DE893E-32EB-4BC8-8760-EBE0EAC0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476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课堂最小产出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problem-definition.md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更新版 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第一性原理推导初版</a:t>
            </a:r>
          </a:p>
        </p:txBody>
      </p:sp>
      <p:sp>
        <p:nvSpPr>
          <p:cNvPr id="19" name="visual-3-13-p03-gate">
            <a:extLst xmlns:a="http://schemas.openxmlformats.org/drawingml/2006/main">
              <a:ext uri="{FF2B5EF4-FFF2-40B4-BE49-F238E27FC236}">
                <a16:creationId xmlns:a16="http://schemas.microsoft.com/office/drawing/2014/main" id="{BE3D09C9-AF76-453D-91BF-25A6DC5C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905250"/>
            <a:ext cx="885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课后只提交一次问题门材料包；不重做已通过的累计工件。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主题、研究问题还是待验证主张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graphicFrame>
        <p:nvGraphicFramePr>
          <p:cNvPr id="10" name="native-table-20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81200"/>
                <a:gridCol w="5715000"/>
                <a:gridCol w="3276600"/>
              </a:tblGrid>
              <a:tr h="542925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典型表述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4D78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还需回答</a:t>
                      </a:r>
                    </a:p>
                  </a:txBody>
                  <a:tcPr marL="123825" marR="123825" marT="85725" marB="85725" anchor="ctr">
                    <a:solidFill>
                      <a:srgbClr val="F4F6F8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主题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辅助论文阅读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对象、任务与比较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8477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在限定材料中，阅读卡是否比自由摘要少遗漏条件？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可检验的候选答案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待验证主张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阅读卡组的限定条件遗漏率更低。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27333D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同口径结果与适用边界</a:t>
                      </a:r>
                    </a:p>
                  </a:txBody>
                  <a:tcPr marL="123825" marR="12382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ontent-21">
            <a:extLst xmlns:a="http://schemas.openxmlformats.org/drawingml/2006/main">
              <a:ext uri="{FF2B5EF4-FFF2-40B4-BE49-F238E27FC236}">
                <a16:creationId xmlns:a16="http://schemas.microsoft.com/office/drawing/2014/main" id="{110429CC-A062-4EA9-9EA7-3CB373B6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结果命题可检验，机制解释另需区分观察。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从研究空白到结构性问题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virtual">
            <a:extLst xmlns:a="http://schemas.openxmlformats.org/drawingml/2006/main">
              <a:ext uri="{FF2B5EF4-FFF2-40B4-BE49-F238E27FC236}">
                <a16:creationId xmlns:a16="http://schemas.microsoft.com/office/drawing/2014/main" id="{E2BE21A9-BDD5-4BC1-80D2-1AAF314D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7630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虚构教学样例｜非真实论文、检索或实证证据</a:t>
            </a:r>
          </a:p>
        </p:txBody>
      </p:sp>
      <p:sp>
        <p:nvSpPr>
          <p:cNvPr id="7" name="visual-5-1-p05-gap">
            <a:extLst xmlns:a="http://schemas.openxmlformats.org/drawingml/2006/main">
              <a:ext uri="{FF2B5EF4-FFF2-40B4-BE49-F238E27FC236}">
                <a16:creationId xmlns:a16="http://schemas.microsoft.com/office/drawing/2014/main" id="{620D50A7-E511-40ED-8BD7-DA8D8485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3524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G1 空白候选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阅读卡是否强制定位原文 → 降低遗漏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状态：待真实窄检索</a:t>
            </a:r>
          </a:p>
        </p:txBody>
      </p:sp>
      <p:sp>
        <p:nvSpPr>
          <p:cNvPr id="8" name="visual-5-2-p05-a">
            <a:extLst xmlns:a="http://schemas.openxmlformats.org/drawingml/2006/main">
              <a:ext uri="{FF2B5EF4-FFF2-40B4-BE49-F238E27FC236}">
                <a16:creationId xmlns:a16="http://schemas.microsoft.com/office/drawing/2014/main" id="{D7880FE1-968E-4A4C-B8F4-CA100396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590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visual-5-3-p05-q">
            <a:extLst xmlns:a="http://schemas.openxmlformats.org/drawingml/2006/main">
              <a:ext uri="{FF2B5EF4-FFF2-40B4-BE49-F238E27FC236}">
                <a16:creationId xmlns:a16="http://schemas.microsoft.com/office/drawing/2014/main" id="{325E9D12-8FFA-43C4-9C69-16B9D683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76375"/>
            <a:ext cx="600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在需要逐条核验引用的 CS 论文阅读任务中，结构化阅读卡是否比自由摘要更能降低限定条件遗漏率？</a:t>
            </a:r>
          </a:p>
        </p:txBody>
      </p:sp>
      <p:sp>
        <p:nvSpPr>
          <p:cNvPr id="10" name="visual-5-4-p05-e0">
            <a:extLst xmlns:a="http://schemas.openxmlformats.org/drawingml/2006/main">
              <a:ext uri="{FF2B5EF4-FFF2-40B4-BE49-F238E27FC236}">
                <a16:creationId xmlns:a16="http://schemas.microsoft.com/office/drawing/2014/main" id="{0D281A4D-EBE7-40C1-AB5C-222B1984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</a:t>
            </a:r>
          </a:p>
        </p:txBody>
      </p:sp>
      <p:sp>
        <p:nvSpPr>
          <p:cNvPr id="11" name="visual-5-5-p05-e1">
            <a:extLst xmlns:a="http://schemas.openxmlformats.org/drawingml/2006/main">
              <a:ext uri="{FF2B5EF4-FFF2-40B4-BE49-F238E27FC236}">
                <a16:creationId xmlns:a16="http://schemas.microsoft.com/office/drawing/2014/main" id="{EC21CE3B-FEFB-4329-90AD-B6C634CA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</a:t>
            </a:r>
          </a:p>
        </p:txBody>
      </p:sp>
      <p:sp>
        <p:nvSpPr>
          <p:cNvPr id="12" name="visual-5-6-p05-e2">
            <a:extLst xmlns:a="http://schemas.openxmlformats.org/drawingml/2006/main">
              <a:ext uri="{FF2B5EF4-FFF2-40B4-BE49-F238E27FC236}">
                <a16:creationId xmlns:a16="http://schemas.microsoft.com/office/drawing/2014/main" id="{5986E3C8-C887-4CEC-8979-241B066C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干预</a:t>
            </a:r>
          </a:p>
        </p:txBody>
      </p:sp>
      <p:sp>
        <p:nvSpPr>
          <p:cNvPr id="13" name="visual-5-7-p05-e3">
            <a:extLst xmlns:a="http://schemas.openxmlformats.org/drawingml/2006/main">
              <a:ext uri="{FF2B5EF4-FFF2-40B4-BE49-F238E27FC236}">
                <a16:creationId xmlns:a16="http://schemas.microsoft.com/office/drawing/2014/main" id="{34E9E364-9DE6-469D-8312-AA3D1F54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4" name="visual-5-8-p05-e4">
            <a:extLst xmlns:a="http://schemas.openxmlformats.org/drawingml/2006/main">
              <a:ext uri="{FF2B5EF4-FFF2-40B4-BE49-F238E27FC236}">
                <a16:creationId xmlns:a16="http://schemas.microsoft.com/office/drawing/2014/main" id="{E5ADD632-F623-4EF7-B861-88840B8F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比较</a:t>
            </a:r>
          </a:p>
        </p:txBody>
      </p:sp>
      <p:sp>
        <p:nvSpPr>
          <p:cNvPr id="15" name="visual-5-9-p05-bottom">
            <a:extLst xmlns:a="http://schemas.openxmlformats.org/drawingml/2006/main">
              <a:ext uri="{FF2B5EF4-FFF2-40B4-BE49-F238E27FC236}">
                <a16:creationId xmlns:a16="http://schemas.microsoft.com/office/drawing/2014/main" id="{0FB976F0-CF06-4042-A4A0-EFE8103F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53000"/>
            <a:ext cx="923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补全结构，不等于证明结论；真实项目必须填写自己的检索与核验状态。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 So what? / Who cares? 检查重要性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so-h">
            <a:extLst xmlns:a="http://schemas.openxmlformats.org/drawingml/2006/main">
              <a:ext uri="{FF2B5EF4-FFF2-40B4-BE49-F238E27FC236}">
                <a16:creationId xmlns:a16="http://schemas.microsoft.com/office/drawing/2014/main" id="{A9891613-47B3-497D-AAA9-CCE603A4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1906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So what?｜知识后果</a:t>
            </a:r>
          </a:p>
        </p:txBody>
      </p:sp>
      <p:sp>
        <p:nvSpPr>
          <p:cNvPr id="7" name="visual-6-1-p06-so-d">
            <a:extLst xmlns:a="http://schemas.openxmlformats.org/drawingml/2006/main">
              <a:ext uri="{FF2B5EF4-FFF2-40B4-BE49-F238E27FC236}">
                <a16:creationId xmlns:a16="http://schemas.microsoft.com/office/drawing/2014/main" id="{79B91AE2-03FC-42EE-9BA9-68EFDE88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28775"/>
            <a:ext cx="4762500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不回答它，哪条证据链或机制假设无法成立？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回答后，能解释什么之前无法解释的现象？</a:t>
            </a:r>
          </a:p>
        </p:txBody>
      </p:sp>
      <p:sp>
        <p:nvSpPr>
          <p:cNvPr id="8" name="visual-6-2-p06-who-h">
            <a:extLst xmlns:a="http://schemas.openxmlformats.org/drawingml/2006/main">
              <a:ext uri="{FF2B5EF4-FFF2-40B4-BE49-F238E27FC236}">
                <a16:creationId xmlns:a16="http://schemas.microsoft.com/office/drawing/2014/main" id="{FA22BB3B-B695-4410-8CC0-16FDAEF1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1906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Who cares?｜实际后果</a:t>
            </a:r>
          </a:p>
        </p:txBody>
      </p:sp>
      <p:sp>
        <p:nvSpPr>
          <p:cNvPr id="9" name="visual-6-3-p06-who-d">
            <a:extLst xmlns:a="http://schemas.openxmlformats.org/drawingml/2006/main">
              <a:ext uri="{FF2B5EF4-FFF2-40B4-BE49-F238E27FC236}">
                <a16:creationId xmlns:a16="http://schemas.microsoft.com/office/drawing/2014/main" id="{6C89E306-E068-49ED-8834-8C36168C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28775"/>
            <a:ext cx="4762500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谁会从答案中受益？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答案会改变什么科研动作、工具选择或判断？</a:t>
            </a:r>
          </a:p>
        </p:txBody>
      </p:sp>
      <p:sp>
        <p:nvSpPr>
          <p:cNvPr id="10" name="visual-6-4-p06-example">
            <a:extLst xmlns:a="http://schemas.openxmlformats.org/drawingml/2006/main">
              <a:ext uri="{FF2B5EF4-FFF2-40B4-BE49-F238E27FC236}">
                <a16:creationId xmlns:a16="http://schemas.microsoft.com/office/drawing/2014/main" id="{13AE814E-C3FF-4210-A46F-C9AFC546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38625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重要性来自问题在论证链上的位置，不来自“新颖”这个标签。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问题来源交叉检查与四维选题标准卡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sk">
            <a:extLst xmlns:a="http://schemas.openxmlformats.org/drawingml/2006/main">
              <a:ext uri="{FF2B5EF4-FFF2-40B4-BE49-F238E27FC236}">
                <a16:creationId xmlns:a16="http://schemas.microsoft.com/office/drawing/2014/main" id="{D291A427-FA8D-49E3-A056-A1EDCAF7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候选题从哪条生成路径来？若只来自文献空白，必须回答：没有这个空白，问题还值得回答吗？</a:t>
            </a:r>
          </a:p>
        </p:txBody>
      </p:sp>
      <p:sp>
        <p:nvSpPr>
          <p:cNvPr id="7" name="p07-yes-label">
            <a:extLst xmlns:a="http://schemas.openxmlformats.org/drawingml/2006/main">
              <a:ext uri="{FF2B5EF4-FFF2-40B4-BE49-F238E27FC236}">
                <a16:creationId xmlns:a16="http://schemas.microsoft.com/office/drawing/2014/main" id="{8D88D0D3-61B8-4744-BC8A-704E72CC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5257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答得出</a:t>
            </a:r>
          </a:p>
        </p:txBody>
      </p:sp>
      <p:sp>
        <p:nvSpPr>
          <p:cNvPr id="8" name="p07-yes">
            <a:extLst xmlns:a="http://schemas.openxmlformats.org/drawingml/2006/main">
              <a:ext uri="{FF2B5EF4-FFF2-40B4-BE49-F238E27FC236}">
                <a16:creationId xmlns:a16="http://schemas.microsoft.com/office/drawing/2014/main" id="{6A47D4E1-02F9-4D78-912D-89F84850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552575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背后有更基本的观察或约束；空白只是入口</a:t>
            </a:r>
          </a:p>
        </p:txBody>
      </p:sp>
      <p:sp>
        <p:nvSpPr>
          <p:cNvPr id="9" name="p07-no-label">
            <a:extLst xmlns:a="http://schemas.openxmlformats.org/drawingml/2006/main">
              <a:ext uri="{FF2B5EF4-FFF2-40B4-BE49-F238E27FC236}">
                <a16:creationId xmlns:a16="http://schemas.microsoft.com/office/drawing/2014/main" id="{A6D59CCF-DC0A-48D6-8BE1-0B884014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5257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答不出</a:t>
            </a:r>
          </a:p>
        </p:txBody>
      </p:sp>
      <p:sp>
        <p:nvSpPr>
          <p:cNvPr id="10" name="p07-no">
            <a:extLst xmlns:a="http://schemas.openxmlformats.org/drawingml/2006/main">
              <a:ext uri="{FF2B5EF4-FFF2-40B4-BE49-F238E27FC236}">
                <a16:creationId xmlns:a16="http://schemas.microsoft.com/office/drawing/2014/main" id="{9478F875-FC1B-4B56-A770-686773F5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525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可能只是填格子：重推问题，或明示其重要性只在论证链内</a:t>
            </a:r>
          </a:p>
        </p:txBody>
      </p:sp>
      <p:sp>
        <p:nvSpPr>
          <p:cNvPr id="11" name="p07-card-title">
            <a:extLst xmlns:a="http://schemas.openxmlformats.org/drawingml/2006/main">
              <a:ext uri="{FF2B5EF4-FFF2-40B4-BE49-F238E27FC236}">
                <a16:creationId xmlns:a16="http://schemas.microsoft.com/office/drawing/2014/main" id="{58811D21-6C25-40D4-B02A-3D78C4E3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四维选题标准卡（候选题池 ≥3 个逐一比较）</a:t>
            </a:r>
          </a:p>
        </p:txBody>
      </p:sp>
      <p:sp>
        <p:nvSpPr>
          <p:cNvPr id="12" name="p07-left-label-0">
            <a:extLst xmlns:a="http://schemas.openxmlformats.org/drawingml/2006/main">
              <a:ext uri="{FF2B5EF4-FFF2-40B4-BE49-F238E27FC236}">
                <a16:creationId xmlns:a16="http://schemas.microsoft.com/office/drawing/2014/main" id="{2B212DF0-49E7-46B3-B3F7-27B74055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意义</a:t>
            </a:r>
          </a:p>
        </p:txBody>
      </p:sp>
      <p:sp>
        <p:nvSpPr>
          <p:cNvPr id="13" name="p07-left-value-0">
            <a:extLst xmlns:a="http://schemas.openxmlformats.org/drawingml/2006/main">
              <a:ext uri="{FF2B5EF4-FFF2-40B4-BE49-F238E27FC236}">
                <a16:creationId xmlns:a16="http://schemas.microsoft.com/office/drawing/2014/main" id="{74EF23E5-756C-4B87-80EC-9D7600EF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765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不回答它，哪条论证链断掉？谁受益？</a:t>
            </a:r>
          </a:p>
        </p:txBody>
      </p:sp>
      <p:sp>
        <p:nvSpPr>
          <p:cNvPr id="14" name="p07-right-label-0">
            <a:extLst xmlns:a="http://schemas.openxmlformats.org/drawingml/2006/main">
              <a:ext uri="{FF2B5EF4-FFF2-40B4-BE49-F238E27FC236}">
                <a16:creationId xmlns:a16="http://schemas.microsoft.com/office/drawing/2014/main" id="{8D7B2745-DD02-4368-8751-FA8837D7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876550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新颖性</a:t>
            </a:r>
          </a:p>
        </p:txBody>
      </p:sp>
      <p:sp>
        <p:nvSpPr>
          <p:cNvPr id="15" name="p07-right-value-0">
            <a:extLst xmlns:a="http://schemas.openxmlformats.org/drawingml/2006/main">
              <a:ext uri="{FF2B5EF4-FFF2-40B4-BE49-F238E27FC236}">
                <a16:creationId xmlns:a16="http://schemas.microsoft.com/office/drawing/2014/main" id="{0BA3D87F-9139-4BB3-B8B1-51DD8AF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7655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问题新 / 视角新 / 方法新——新在哪一类？</a:t>
            </a:r>
          </a:p>
        </p:txBody>
      </p:sp>
      <p:sp>
        <p:nvSpPr>
          <p:cNvPr id="16" name="p07-left-label-1">
            <a:extLst xmlns:a="http://schemas.openxmlformats.org/drawingml/2006/main">
              <a:ext uri="{FF2B5EF4-FFF2-40B4-BE49-F238E27FC236}">
                <a16:creationId xmlns:a16="http://schemas.microsoft.com/office/drawing/2014/main" id="{A680973C-2AEA-4ED2-AD94-D9183F13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3325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可行性</a:t>
            </a:r>
          </a:p>
        </p:txBody>
      </p:sp>
      <p:sp>
        <p:nvSpPr>
          <p:cNvPr id="17" name="p07-left-value-1">
            <a:extLst xmlns:a="http://schemas.openxmlformats.org/drawingml/2006/main">
              <a:ext uri="{FF2B5EF4-FFF2-40B4-BE49-F238E27FC236}">
                <a16:creationId xmlns:a16="http://schemas.microsoft.com/office/drawing/2014/main" id="{238FE312-06F9-4C94-BCC4-B8D15938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743325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课程周期内能否做出最小验证？</a:t>
            </a:r>
          </a:p>
        </p:txBody>
      </p:sp>
      <p:sp>
        <p:nvSpPr>
          <p:cNvPr id="18" name="p07-right-label-1">
            <a:extLst xmlns:a="http://schemas.openxmlformats.org/drawingml/2006/main">
              <a:ext uri="{FF2B5EF4-FFF2-40B4-BE49-F238E27FC236}">
                <a16:creationId xmlns:a16="http://schemas.microsoft.com/office/drawing/2014/main" id="{3E3E5F0D-366E-4953-A2DB-8806B186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743325"/>
            <a:ext cx="1381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兴趣</a:t>
            </a:r>
          </a:p>
        </p:txBody>
      </p:sp>
      <p:sp>
        <p:nvSpPr>
          <p:cNvPr id="19" name="p07-right-value-1">
            <a:extLst xmlns:a="http://schemas.openxmlformats.org/drawingml/2006/main">
              <a:ext uri="{FF2B5EF4-FFF2-40B4-BE49-F238E27FC236}">
                <a16:creationId xmlns:a16="http://schemas.microsoft.com/office/drawing/2014/main" id="{CB018445-1C72-49B8-A6CF-221F1548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74332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课程之外还愿意投入吗？判据是什么？</a:t>
            </a:r>
          </a:p>
        </p:txBody>
      </p:sp>
      <p:sp>
        <p:nvSpPr>
          <p:cNvPr id="20" name="p07-novel-0">
            <a:extLst xmlns:a="http://schemas.openxmlformats.org/drawingml/2006/main">
              <a:ext uri="{FF2B5EF4-FFF2-40B4-BE49-F238E27FC236}">
                <a16:creationId xmlns:a16="http://schemas.microsoft.com/office/drawing/2014/main" id="{1101E4AE-8317-4956-AEFF-EBBE6AD2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714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问题新</a:t>
            </a:r>
          </a:p>
        </p:txBody>
      </p:sp>
      <p:sp>
        <p:nvSpPr>
          <p:cNvPr id="21" name="p07-novel-1">
            <a:extLst xmlns:a="http://schemas.openxmlformats.org/drawingml/2006/main">
              <a:ext uri="{FF2B5EF4-FFF2-40B4-BE49-F238E27FC236}">
                <a16:creationId xmlns:a16="http://schemas.microsoft.com/office/drawing/2014/main" id="{D382D390-070C-47C7-A1A0-A6A8E0B0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714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视角新</a:t>
            </a:r>
          </a:p>
        </p:txBody>
      </p:sp>
      <p:sp>
        <p:nvSpPr>
          <p:cNvPr id="22" name="p07-novel-2">
            <a:extLst xmlns:a="http://schemas.openxmlformats.org/drawingml/2006/main">
              <a:ext uri="{FF2B5EF4-FFF2-40B4-BE49-F238E27FC236}">
                <a16:creationId xmlns:a16="http://schemas.microsoft.com/office/drawing/2014/main" id="{1DB65BF2-8395-4E11-9895-DAEA6647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14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方法新</a:t>
            </a:r>
          </a:p>
        </p:txBody>
      </p:sp>
      <p:sp>
        <p:nvSpPr>
          <p:cNvPr id="23" name="p07-bottom">
            <a:extLst xmlns:a="http://schemas.openxmlformats.org/drawingml/2006/main">
              <a:ext uri="{FF2B5EF4-FFF2-40B4-BE49-F238E27FC236}">
                <a16:creationId xmlns:a16="http://schemas.microsoft.com/office/drawing/2014/main" id="{066669CE-3E04-4CD4-90AD-1E86D8A3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257800"/>
            <a:ext cx="647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“新”不等于“没人做过”；意义优先于新颖性。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用非例界定问题边界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7-scope">
            <a:extLst xmlns:a="http://schemas.openxmlformats.org/drawingml/2006/main">
              <a:ext uri="{FF2B5EF4-FFF2-40B4-BE49-F238E27FC236}">
                <a16:creationId xmlns:a16="http://schemas.microsoft.com/office/drawing/2014/main" id="{17A15306-2749-4AC6-BC65-53014601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668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包含范围</a:t>
            </a:r>
          </a:p>
        </p:txBody>
      </p:sp>
      <p:sp>
        <p:nvSpPr>
          <p:cNvPr id="7" name="visual-8-1-p07-in0">
            <a:extLst xmlns:a="http://schemas.openxmlformats.org/drawingml/2006/main">
              <a:ext uri="{FF2B5EF4-FFF2-40B4-BE49-F238E27FC236}">
                <a16:creationId xmlns:a16="http://schemas.microsoft.com/office/drawing/2014/main" id="{69B8B5D8-39F0-4294-915F-4C5AFC49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任务：逐条核验引用</a:t>
            </a:r>
          </a:p>
        </p:txBody>
      </p:sp>
      <p:sp>
        <p:nvSpPr>
          <p:cNvPr id="8" name="visual-8-2-p07-in1">
            <a:extLst xmlns:a="http://schemas.openxmlformats.org/drawingml/2006/main">
              <a:ext uri="{FF2B5EF4-FFF2-40B4-BE49-F238E27FC236}">
                <a16:creationId xmlns:a16="http://schemas.microsoft.com/office/drawing/2014/main" id="{CE6CA310-9524-4B01-AEF1-6E23A9DD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材料：公开 CS 论文</a:t>
            </a:r>
          </a:p>
        </p:txBody>
      </p:sp>
      <p:sp>
        <p:nvSpPr>
          <p:cNvPr id="9" name="visual-8-3-p07-in2">
            <a:extLst xmlns:a="http://schemas.openxmlformats.org/drawingml/2006/main">
              <a:ext uri="{FF2B5EF4-FFF2-40B4-BE49-F238E27FC236}">
                <a16:creationId xmlns:a16="http://schemas.microsoft.com/office/drawing/2014/main" id="{6390A99B-72BE-40C7-9FD1-44BA01CE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指标：限定条件遗漏率</a:t>
            </a:r>
          </a:p>
        </p:txBody>
      </p:sp>
      <p:sp>
        <p:nvSpPr>
          <p:cNvPr id="10" name="visual-8-4-p07-non">
            <a:extLst xmlns:a="http://schemas.openxmlformats.org/drawingml/2006/main">
              <a:ext uri="{FF2B5EF4-FFF2-40B4-BE49-F238E27FC236}">
                <a16:creationId xmlns:a16="http://schemas.microsoft.com/office/drawing/2014/main" id="{6C3C0596-D9A6-4A47-9856-F5CA274F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06680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明确非例</a:t>
            </a:r>
          </a:p>
        </p:txBody>
      </p:sp>
      <p:sp>
        <p:nvSpPr>
          <p:cNvPr id="11" name="visual-8-5-p07-out0">
            <a:extLst xmlns:a="http://schemas.openxmlformats.org/drawingml/2006/main">
              <a:ext uri="{FF2B5EF4-FFF2-40B4-BE49-F238E27FC236}">
                <a16:creationId xmlns:a16="http://schemas.microsoft.com/office/drawing/2014/main" id="{05A7BB2F-B4A5-4DEF-B0A8-2A62B259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×  通用写作质量｜不同层面</a:t>
            </a:r>
          </a:p>
        </p:txBody>
      </p:sp>
      <p:sp>
        <p:nvSpPr>
          <p:cNvPr id="12" name="visual-8-6-p07-out1">
            <a:extLst xmlns:a="http://schemas.openxmlformats.org/drawingml/2006/main">
              <a:ext uri="{FF2B5EF4-FFF2-40B4-BE49-F238E27FC236}">
                <a16:creationId xmlns:a16="http://schemas.microsoft.com/office/drawing/2014/main" id="{B3B609E6-CD61-4BF5-AC48-13E47726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908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×  语言美感｜不同指标</a:t>
            </a:r>
          </a:p>
        </p:txBody>
      </p:sp>
      <p:sp>
        <p:nvSpPr>
          <p:cNvPr id="13" name="visual-8-7-p07-out2">
            <a:extLst xmlns:a="http://schemas.openxmlformats.org/drawingml/2006/main">
              <a:ext uri="{FF2B5EF4-FFF2-40B4-BE49-F238E27FC236}">
                <a16:creationId xmlns:a16="http://schemas.microsoft.com/office/drawing/2014/main" id="{2D25E745-FD60-4FFB-A915-4DFE81F4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718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×  需专业设备的学科｜超出周期</a:t>
            </a:r>
          </a:p>
        </p:txBody>
      </p:sp>
      <p:sp>
        <p:nvSpPr>
          <p:cNvPr id="14" name="visual-8-8-p07-boundary">
            <a:extLst xmlns:a="http://schemas.openxmlformats.org/drawingml/2006/main">
              <a:ext uri="{FF2B5EF4-FFF2-40B4-BE49-F238E27FC236}">
                <a16:creationId xmlns:a16="http://schemas.microsoft.com/office/drawing/2014/main" id="{0FDF1659-97A1-4031-940B-0AA11E2F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90750"/>
            <a:ext cx="333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正边界  +  负边界</a:t>
            </a:r>
          </a:p>
        </p:txBody>
      </p:sp>
      <p:sp>
        <p:nvSpPr>
          <p:cNvPr id="15" name="visual-8-9-p07-bottom">
            <a:extLst xmlns:a="http://schemas.openxmlformats.org/drawingml/2006/main">
              <a:ext uri="{FF2B5EF4-FFF2-40B4-BE49-F238E27FC236}">
                <a16:creationId xmlns:a16="http://schemas.microsoft.com/office/drawing/2014/main" id="{F1FE4B3B-1A6E-42CC-BF82-0B012B49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577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非例必须说明“为什么不算”，才能阻止项目随检索膨胀。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非例的三种常见错误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8-0-h">
            <a:extLst xmlns:a="http://schemas.openxmlformats.org/drawingml/2006/main">
              <a:ext uri="{FF2B5EF4-FFF2-40B4-BE49-F238E27FC236}">
                <a16:creationId xmlns:a16="http://schemas.microsoft.com/office/drawing/2014/main" id="{7334943E-BE13-4AB0-A149-6CCD7292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3335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过宽</a:t>
            </a:r>
          </a:p>
        </p:txBody>
      </p:sp>
      <p:sp>
        <p:nvSpPr>
          <p:cNvPr id="7" name="visual-9-1-p08-0-d">
            <a:extLst xmlns:a="http://schemas.openxmlformats.org/drawingml/2006/main">
              <a:ext uri="{FF2B5EF4-FFF2-40B4-BE49-F238E27FC236}">
                <a16:creationId xmlns:a16="http://schemas.microsoft.com/office/drawing/2014/main" id="{286967CF-2B3C-4085-8829-E84F1EA19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71650"/>
            <a:ext cx="333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不做无关研究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后果：没有实质约束</a:t>
            </a:r>
          </a:p>
        </p:txBody>
      </p:sp>
      <p:sp>
        <p:nvSpPr>
          <p:cNvPr id="8" name="visual-9-2-p08-1-h">
            <a:extLst xmlns:a="http://schemas.openxmlformats.org/drawingml/2006/main">
              <a:ext uri="{FF2B5EF4-FFF2-40B4-BE49-F238E27FC236}">
                <a16:creationId xmlns:a16="http://schemas.microsoft.com/office/drawing/2014/main" id="{2D2E77AF-8130-4A1B-A3B7-1850A64B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过窄</a:t>
            </a:r>
          </a:p>
        </p:txBody>
      </p:sp>
      <p:sp>
        <p:nvSpPr>
          <p:cNvPr id="9" name="visual-9-3-p08-1-d">
            <a:extLst xmlns:a="http://schemas.openxmlformats.org/drawingml/2006/main">
              <a:ext uri="{FF2B5EF4-FFF2-40B4-BE49-F238E27FC236}">
                <a16:creationId xmlns:a16="http://schemas.microsoft.com/office/drawing/2014/main" id="{64436A3F-AC6A-4FC2-9B5C-09DDCB2E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71650"/>
            <a:ext cx="333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不使用数据集 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后果：只排除实现细节</a:t>
            </a:r>
          </a:p>
        </p:txBody>
      </p:sp>
      <p:sp>
        <p:nvSpPr>
          <p:cNvPr id="10" name="visual-9-4-p08-2-h">
            <a:extLst xmlns:a="http://schemas.openxmlformats.org/drawingml/2006/main">
              <a:ext uri="{FF2B5EF4-FFF2-40B4-BE49-F238E27FC236}">
                <a16:creationId xmlns:a16="http://schemas.microsoft.com/office/drawing/2014/main" id="{97EC802F-E4C8-43EE-804F-F6850A2A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335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与命题矛盾</a:t>
            </a:r>
          </a:p>
        </p:txBody>
      </p:sp>
      <p:sp>
        <p:nvSpPr>
          <p:cNvPr id="11" name="visual-9-5-p08-2-d">
            <a:extLst xmlns:a="http://schemas.openxmlformats.org/drawingml/2006/main">
              <a:ext uri="{FF2B5EF4-FFF2-40B4-BE49-F238E27FC236}">
                <a16:creationId xmlns:a16="http://schemas.microsoft.com/office/drawing/2014/main" id="{0C9426F6-C3D6-48FC-BF16-7BD0D0F0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71650"/>
            <a:ext cx="3333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排除必要检验条件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后果：命题无法被检验</a:t>
            </a:r>
          </a:p>
        </p:txBody>
      </p:sp>
      <p:sp>
        <p:nvSpPr>
          <p:cNvPr id="12" name="visual-9-6-p08-test">
            <a:extLst xmlns:a="http://schemas.openxmlformats.org/drawingml/2006/main">
              <a:ext uri="{FF2B5EF4-FFF2-40B4-BE49-F238E27FC236}">
                <a16:creationId xmlns:a16="http://schemas.microsoft.com/office/drawing/2014/main" id="{0DD21B73-EAE6-450A-A203-43990679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81500"/>
            <a:ext cx="9334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快速测试：给同伴一个“看似相关”的方向，他能否仅凭范围与非例判断纳入/排除？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怎样的观察会削弱这条命题？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content-22">
            <a:extLst xmlns:a="http://schemas.openxmlformats.org/drawingml/2006/main">
              <a:ext uri="{FF2B5EF4-FFF2-40B4-BE49-F238E27FC236}">
                <a16:creationId xmlns:a16="http://schemas.microsoft.com/office/drawing/2014/main" id="{20F8A9B7-978B-4647-BE8D-50F792DB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Q1</a:t>
            </a:r>
          </a:p>
        </p:txBody>
      </p:sp>
      <p:sp>
        <p:nvSpPr>
          <p:cNvPr id="7" name="content-23">
            <a:extLst xmlns:a="http://schemas.openxmlformats.org/drawingml/2006/main">
              <a:ext uri="{FF2B5EF4-FFF2-40B4-BE49-F238E27FC236}">
                <a16:creationId xmlns:a16="http://schemas.microsoft.com/office/drawing/2014/main" id="{1F30035E-CFD2-4595-9A2E-4618A09F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811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在限定材料与任务中，阅读卡降低限定条件遗漏率。</a:t>
            </a:r>
          </a:p>
        </p:txBody>
      </p:sp>
      <p:sp>
        <p:nvSpPr>
          <p:cNvPr id="8" name="rule-24">
            <a:extLst xmlns:a="http://schemas.openxmlformats.org/drawingml/2006/main">
              <a:ext uri="{FF2B5EF4-FFF2-40B4-BE49-F238E27FC236}">
                <a16:creationId xmlns:a16="http://schemas.microsoft.com/office/drawing/2014/main" id="{A07E7585-9962-4BE5-8724-654E8631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9" name="content-25">
            <a:extLst xmlns:a="http://schemas.openxmlformats.org/drawingml/2006/main">
              <a:ext uri="{FF2B5EF4-FFF2-40B4-BE49-F238E27FC236}">
                <a16:creationId xmlns:a16="http://schemas.microsoft.com/office/drawing/2014/main" id="{A60975A1-AFE4-40AB-AD7E-F02D49FE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结果检查</a:t>
            </a:r>
          </a:p>
        </p:txBody>
      </p:sp>
      <p:sp>
        <p:nvSpPr>
          <p:cNvPr id="10" name="content-26">
            <a:extLst xmlns:a="http://schemas.openxmlformats.org/drawingml/2006/main">
              <a:ext uri="{FF2B5EF4-FFF2-40B4-BE49-F238E27FC236}">
                <a16:creationId xmlns:a16="http://schemas.microsoft.com/office/drawing/2014/main" id="{8EAAC0B2-35D8-469D-9AF0-FD982B7D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098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差异的方向、大小和不确定性。</a:t>
            </a:r>
          </a:p>
        </p:txBody>
      </p:sp>
      <p:sp>
        <p:nvSpPr>
          <p:cNvPr id="11" name="rule-27">
            <a:extLst xmlns:a="http://schemas.openxmlformats.org/drawingml/2006/main">
              <a:ext uri="{FF2B5EF4-FFF2-40B4-BE49-F238E27FC236}">
                <a16:creationId xmlns:a16="http://schemas.microsoft.com/office/drawing/2014/main" id="{6DF3AB57-43DA-4BBC-A01D-B83969FF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2" name="content-28">
            <a:extLst xmlns:a="http://schemas.openxmlformats.org/drawingml/2006/main">
              <a:ext uri="{FF2B5EF4-FFF2-40B4-BE49-F238E27FC236}">
                <a16:creationId xmlns:a16="http://schemas.microsoft.com/office/drawing/2014/main" id="{69C525EC-D1F8-4BEE-BF6D-1B23B68D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机制检查</a:t>
            </a:r>
          </a:p>
        </p:txBody>
      </p:sp>
      <p:sp>
        <p:nvSpPr>
          <p:cNvPr id="13" name="content-29">
            <a:extLst xmlns:a="http://schemas.openxmlformats.org/drawingml/2006/main">
              <a:ext uri="{FF2B5EF4-FFF2-40B4-BE49-F238E27FC236}">
                <a16:creationId xmlns:a16="http://schemas.microsoft.com/office/drawing/2014/main" id="{ACCAA0CC-7C6A-407B-8D50-959EAC8D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6385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另找能区分原因的观察。</a:t>
            </a:r>
          </a:p>
        </p:txBody>
      </p:sp>
      <p:sp>
        <p:nvSpPr>
          <p:cNvPr id="14" name="rule-30">
            <a:extLst xmlns:a="http://schemas.openxmlformats.org/drawingml/2006/main">
              <a:ext uri="{FF2B5EF4-FFF2-40B4-BE49-F238E27FC236}">
                <a16:creationId xmlns:a16="http://schemas.microsoft.com/office/drawing/2014/main" id="{8983FC60-56BD-49F3-B9E2-A1FD5DC2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5" name="content-31">
            <a:extLst xmlns:a="http://schemas.openxmlformats.org/drawingml/2006/main">
              <a:ext uri="{FF2B5EF4-FFF2-40B4-BE49-F238E27FC236}">
                <a16:creationId xmlns:a16="http://schemas.microsoft.com/office/drawing/2014/main" id="{6ED648AF-DF03-4171-8514-F865E71D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333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采用决定</a:t>
            </a:r>
          </a:p>
        </p:txBody>
      </p:sp>
      <p:sp>
        <p:nvSpPr>
          <p:cNvPr id="16" name="content-32">
            <a:extLst xmlns:a="http://schemas.openxmlformats.org/drawingml/2006/main">
              <a:ext uri="{FF2B5EF4-FFF2-40B4-BE49-F238E27FC236}">
                <a16:creationId xmlns:a16="http://schemas.microsoft.com/office/drawing/2014/main" id="{2F062F10-A5BE-4A6B-9B8A-4D388D79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67250"/>
            <a:ext cx="828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质量代价、时间与资源是否可接受。</a:t>
            </a:r>
          </a:p>
        </p:txBody>
      </p:sp>
      <p:sp>
        <p:nvSpPr>
          <p:cNvPr id="17" name="rule-33">
            <a:extLst xmlns:a="http://schemas.openxmlformats.org/drawingml/2006/main">
              <a:ext uri="{FF2B5EF4-FFF2-40B4-BE49-F238E27FC236}">
                <a16:creationId xmlns:a16="http://schemas.microsoft.com/office/drawing/2014/main" id="{B63BA312-5CA4-4DF1-9DBA-66AEE1F1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858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给第 7 课留下替代解释标记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content-34">
            <a:extLst xmlns:a="http://schemas.openxmlformats.org/drawingml/2006/main">
              <a:ext uri="{FF2B5EF4-FFF2-40B4-BE49-F238E27FC236}">
                <a16:creationId xmlns:a16="http://schemas.microsoft.com/office/drawing/2014/main" id="{A1A7B870-C9CC-499E-8868-0380D1A2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同一个结果可能有多种解释。</a:t>
            </a:r>
          </a:p>
        </p:txBody>
      </p:sp>
      <p:sp>
        <p:nvSpPr>
          <p:cNvPr id="7" name="content-35">
            <a:extLst xmlns:a="http://schemas.openxmlformats.org/drawingml/2006/main">
              <a:ext uri="{FF2B5EF4-FFF2-40B4-BE49-F238E27FC236}">
                <a16:creationId xmlns:a16="http://schemas.microsoft.com/office/drawing/2014/main" id="{0B7F5C3E-8456-4AD7-91FC-B7AEE6AE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H1 候选：生成时显式列出限定条件，促使输出保留更多。</a:t>
            </a:r>
          </a:p>
        </p:txBody>
      </p:sp>
      <p:sp>
        <p:nvSpPr>
          <p:cNvPr id="8" name="content-36">
            <a:extLst xmlns:a="http://schemas.openxmlformats.org/drawingml/2006/main">
              <a:ext uri="{FF2B5EF4-FFF2-40B4-BE49-F238E27FC236}">
                <a16:creationId xmlns:a16="http://schemas.microsoft.com/office/drawing/2014/main" id="{56739287-7C3C-43B9-81AD-8763782D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A2 候选：评分者看到字段提示，更容易给出保留分。</a:t>
            </a:r>
          </a:p>
        </p:txBody>
      </p:sp>
      <p:sp>
        <p:nvSpPr>
          <p:cNvPr id="9" name="content-37">
            <a:extLst xmlns:a="http://schemas.openxmlformats.org/drawingml/2006/main">
              <a:ext uri="{FF2B5EF4-FFF2-40B4-BE49-F238E27FC236}">
                <a16:creationId xmlns:a16="http://schemas.microsoft.com/office/drawing/2014/main" id="{E15E34A6-FFD3-471A-9A20-CCC40E6B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7 课把候选解释变成可区分的观察。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第一性原理不是脱离证据的捷径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visual-12-0-p11-0-h">
            <a:extLst xmlns:a="http://schemas.openxmlformats.org/drawingml/2006/main">
              <a:ext uri="{FF2B5EF4-FFF2-40B4-BE49-F238E27FC236}">
                <a16:creationId xmlns:a16="http://schemas.microsoft.com/office/drawing/2014/main" id="{C3C7F36D-4711-48FD-B8C7-404B629E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不替代检索</a:t>
            </a:r>
          </a:p>
        </p:txBody>
      </p:sp>
      <p:sp>
        <p:nvSpPr>
          <p:cNvPr id="7" name="visual-12-1-p11-0-d">
            <a:extLst xmlns:a="http://schemas.openxmlformats.org/drawingml/2006/main">
              <a:ext uri="{FF2B5EF4-FFF2-40B4-BE49-F238E27FC236}">
                <a16:creationId xmlns:a16="http://schemas.microsoft.com/office/drawing/2014/main" id="{E0D188D1-70E6-41EC-B470-FE8BF151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33525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待验证前提仍要回到文献与证据地图</a:t>
            </a:r>
          </a:p>
        </p:txBody>
      </p:sp>
      <p:sp>
        <p:nvSpPr>
          <p:cNvPr id="8" name="visual-12-2-p11-1-h">
            <a:extLst xmlns:a="http://schemas.openxmlformats.org/drawingml/2006/main">
              <a:ext uri="{FF2B5EF4-FFF2-40B4-BE49-F238E27FC236}">
                <a16:creationId xmlns:a16="http://schemas.microsoft.com/office/drawing/2014/main" id="{732133E8-6B01-4F36-9639-9BF6D7DB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9537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不脱离既有工作</a:t>
            </a:r>
          </a:p>
        </p:txBody>
      </p:sp>
      <p:sp>
        <p:nvSpPr>
          <p:cNvPr id="9" name="visual-12-3-p11-1-d">
            <a:extLst xmlns:a="http://schemas.openxmlformats.org/drawingml/2006/main">
              <a:ext uri="{FF2B5EF4-FFF2-40B4-BE49-F238E27FC236}">
                <a16:creationId xmlns:a16="http://schemas.microsoft.com/office/drawing/2014/main" id="{7C350647-8DB3-49D3-A42C-9824B49D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33525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从已核验材料与空白出发</a:t>
            </a:r>
          </a:p>
        </p:txBody>
      </p:sp>
      <p:sp>
        <p:nvSpPr>
          <p:cNvPr id="10" name="visual-12-4-p11-2-h">
            <a:extLst xmlns:a="http://schemas.openxmlformats.org/drawingml/2006/main">
              <a:ext uri="{FF2B5EF4-FFF2-40B4-BE49-F238E27FC236}">
                <a16:creationId xmlns:a16="http://schemas.microsoft.com/office/drawing/2014/main" id="{76D21BE9-2AC8-4278-BA5E-E29A52E5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不自动成立</a:t>
            </a:r>
          </a:p>
        </p:txBody>
      </p:sp>
      <p:sp>
        <p:nvSpPr>
          <p:cNvPr id="11" name="visual-12-5-p11-2-d">
            <a:extLst xmlns:a="http://schemas.openxmlformats.org/drawingml/2006/main">
              <a:ext uri="{FF2B5EF4-FFF2-40B4-BE49-F238E27FC236}">
                <a16:creationId xmlns:a16="http://schemas.microsoft.com/office/drawing/2014/main" id="{2EEE1A34-783C-4A99-ACB2-F2296E2D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推导不是证明，必须接受外部检验</a:t>
            </a:r>
          </a:p>
        </p:txBody>
      </p:sp>
      <p:sp>
        <p:nvSpPr>
          <p:cNvPr id="12" name="visual-12-6-p11-3-h">
            <a:extLst xmlns:a="http://schemas.openxmlformats.org/drawingml/2006/main">
              <a:ext uri="{FF2B5EF4-FFF2-40B4-BE49-F238E27FC236}">
                <a16:creationId xmlns:a16="http://schemas.microsoft.com/office/drawing/2014/main" id="{CEE7D9C4-2559-49EC-B041-36217E57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62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不追求穷举</a:t>
            </a:r>
          </a:p>
        </p:txBody>
      </p:sp>
      <p:sp>
        <p:nvSpPr>
          <p:cNvPr id="13" name="visual-12-7-p11-3-d">
            <a:extLst xmlns:a="http://schemas.openxmlformats.org/drawingml/2006/main">
              <a:ext uri="{FF2B5EF4-FFF2-40B4-BE49-F238E27FC236}">
                <a16:creationId xmlns:a16="http://schemas.microsoft.com/office/drawing/2014/main" id="{7748888A-5583-445E-81B4-06DB4222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00400"/>
            <a:ext cx="5143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只推导当前关键机制与约束</a:t>
            </a:r>
          </a:p>
        </p:txBody>
      </p:sp>
      <p:sp>
        <p:nvSpPr>
          <p:cNvPr id="14" name="visual-12-8-p11-loop">
            <a:extLst xmlns:a="http://schemas.openxmlformats.org/drawingml/2006/main">
              <a:ext uri="{FF2B5EF4-FFF2-40B4-BE49-F238E27FC236}">
                <a16:creationId xmlns:a16="http://schemas.microsoft.com/office/drawing/2014/main" id="{384CC328-A30B-4E3F-84DC-85D0B771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10125"/>
            <a:ext cx="942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证据地图  →  基本约束 / 机制  →  待验证前提  →  外部证据检验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第一性原理四步推导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2-n0">
            <a:extLst xmlns:a="http://schemas.openxmlformats.org/drawingml/2006/main">
              <a:ext uri="{FF2B5EF4-FFF2-40B4-BE49-F238E27FC236}">
                <a16:creationId xmlns:a16="http://schemas.microsoft.com/office/drawing/2014/main" id="{E6005003-007C-4659-B21E-CAFD9B2A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3-1-p12-h0">
            <a:extLst xmlns:a="http://schemas.openxmlformats.org/drawingml/2006/main">
              <a:ext uri="{FF2B5EF4-FFF2-40B4-BE49-F238E27FC236}">
                <a16:creationId xmlns:a16="http://schemas.microsoft.com/office/drawing/2014/main" id="{72007E59-713E-4344-8529-862BD287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028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基本约束</a:t>
            </a:r>
          </a:p>
        </p:txBody>
      </p:sp>
      <p:sp>
        <p:nvSpPr>
          <p:cNvPr id="8" name="visual-13-2-p12-d0">
            <a:extLst xmlns:a="http://schemas.openxmlformats.org/drawingml/2006/main">
              <a:ext uri="{FF2B5EF4-FFF2-40B4-BE49-F238E27FC236}">
                <a16:creationId xmlns:a16="http://schemas.microsoft.com/office/drawing/2014/main" id="{5A5764E3-84ED-40EF-A1A7-AED54E6B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287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主张成立必须满足什么？</a:t>
            </a:r>
          </a:p>
        </p:txBody>
      </p:sp>
      <p:sp>
        <p:nvSpPr>
          <p:cNvPr id="9" name="visual-13-3-p12-n1">
            <a:extLst xmlns:a="http://schemas.openxmlformats.org/drawingml/2006/main">
              <a:ext uri="{FF2B5EF4-FFF2-40B4-BE49-F238E27FC236}">
                <a16:creationId xmlns:a16="http://schemas.microsoft.com/office/drawing/2014/main" id="{B9A35B60-4A0F-47C0-8ADE-7CF1C723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3-4-p12-h1">
            <a:extLst xmlns:a="http://schemas.openxmlformats.org/drawingml/2006/main">
              <a:ext uri="{FF2B5EF4-FFF2-40B4-BE49-F238E27FC236}">
                <a16:creationId xmlns:a16="http://schemas.microsoft.com/office/drawing/2014/main" id="{BCDD83B6-7C2F-479C-AFC8-435048D0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574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作用机制</a:t>
            </a:r>
          </a:p>
        </p:txBody>
      </p:sp>
      <p:sp>
        <p:nvSpPr>
          <p:cNvPr id="11" name="visual-13-5-p12-d1">
            <a:extLst xmlns:a="http://schemas.openxmlformats.org/drawingml/2006/main">
              <a:ext uri="{FF2B5EF4-FFF2-40B4-BE49-F238E27FC236}">
                <a16:creationId xmlns:a16="http://schemas.microsoft.com/office/drawing/2014/main" id="{13A70526-F0FF-46F7-BEF2-43AE71AD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574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干预通过什么中间过程起作用？</a:t>
            </a:r>
          </a:p>
        </p:txBody>
      </p:sp>
      <p:sp>
        <p:nvSpPr>
          <p:cNvPr id="12" name="visual-13-6-p12-n2">
            <a:extLst xmlns:a="http://schemas.openxmlformats.org/drawingml/2006/main">
              <a:ext uri="{FF2B5EF4-FFF2-40B4-BE49-F238E27FC236}">
                <a16:creationId xmlns:a16="http://schemas.microsoft.com/office/drawing/2014/main" id="{BF162842-560E-4E42-AF61-2631BA7A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242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3-7-p12-h2">
            <a:extLst xmlns:a="http://schemas.openxmlformats.org/drawingml/2006/main">
              <a:ext uri="{FF2B5EF4-FFF2-40B4-BE49-F238E27FC236}">
                <a16:creationId xmlns:a16="http://schemas.microsoft.com/office/drawing/2014/main" id="{A3E4C99F-0C65-4A8E-B5D4-ABB8166E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861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不可违背条件</a:t>
            </a:r>
          </a:p>
        </p:txBody>
      </p:sp>
      <p:sp>
        <p:nvSpPr>
          <p:cNvPr id="14" name="visual-13-8-p12-d2">
            <a:extLst xmlns:a="http://schemas.openxmlformats.org/drawingml/2006/main">
              <a:ext uri="{FF2B5EF4-FFF2-40B4-BE49-F238E27FC236}">
                <a16:creationId xmlns:a16="http://schemas.microsoft.com/office/drawing/2014/main" id="{8E241152-BC45-4784-8E1E-26B6C11C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怎样比较才公平、可复现？</a:t>
            </a:r>
          </a:p>
        </p:txBody>
      </p:sp>
      <p:sp>
        <p:nvSpPr>
          <p:cNvPr id="15" name="visual-13-9-p12-n3">
            <a:extLst xmlns:a="http://schemas.openxmlformats.org/drawingml/2006/main">
              <a:ext uri="{FF2B5EF4-FFF2-40B4-BE49-F238E27FC236}">
                <a16:creationId xmlns:a16="http://schemas.microsoft.com/office/drawing/2014/main" id="{80134302-9BCA-44DA-8860-F8B7269B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visual-13-10-p12-h3">
            <a:extLst xmlns:a="http://schemas.openxmlformats.org/drawingml/2006/main">
              <a:ext uri="{FF2B5EF4-FFF2-40B4-BE49-F238E27FC236}">
                <a16:creationId xmlns:a16="http://schemas.microsoft.com/office/drawing/2014/main" id="{12504FE7-1BA5-4F89-AAF8-AF4E4AFE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4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待验证前提</a:t>
            </a:r>
          </a:p>
        </p:txBody>
      </p:sp>
      <p:sp>
        <p:nvSpPr>
          <p:cNvPr id="17" name="visual-13-11-p12-d3">
            <a:extLst xmlns:a="http://schemas.openxmlformats.org/drawingml/2006/main">
              <a:ext uri="{FF2B5EF4-FFF2-40B4-BE49-F238E27FC236}">
                <a16:creationId xmlns:a16="http://schemas.microsoft.com/office/drawing/2014/main" id="{51A1FB67-2F1E-4A4B-81DB-4984CD5E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14800"/>
            <a:ext cx="704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从前三步推出什么可检验陈述？</a:t>
            </a:r>
          </a:p>
        </p:txBody>
      </p:sp>
      <p:sp>
        <p:nvSpPr>
          <p:cNvPr id="18" name="visual-13-12-p12-bottom">
            <a:extLst xmlns:a="http://schemas.openxmlformats.org/drawingml/2006/main">
              <a:ext uri="{FF2B5EF4-FFF2-40B4-BE49-F238E27FC236}">
                <a16:creationId xmlns:a16="http://schemas.microsoft.com/office/drawing/2014/main" id="{26C9E0D5-C7E2-4982-BE53-0AA6398D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每一步都标注依据：任务约束、已核验证据或待检验假设。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贯穿案例：把前提移交给第 7–9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content-38">
            <a:extLst xmlns:a="http://schemas.openxmlformats.org/drawingml/2006/main">
              <a:ext uri="{FF2B5EF4-FFF2-40B4-BE49-F238E27FC236}">
                <a16:creationId xmlns:a16="http://schemas.microsoft.com/office/drawing/2014/main" id="{276B7BEB-1B89-4887-A33C-E193E558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问题：阅读卡是否降低限定条件遗漏率？</a:t>
            </a:r>
          </a:p>
        </p:txBody>
      </p:sp>
      <p:sp>
        <p:nvSpPr>
          <p:cNvPr id="7" name="content-39">
            <a:extLst xmlns:a="http://schemas.openxmlformats.org/drawingml/2006/main">
              <a:ext uri="{FF2B5EF4-FFF2-40B4-BE49-F238E27FC236}">
                <a16:creationId xmlns:a16="http://schemas.microsoft.com/office/drawing/2014/main" id="{75C4DFB7-12A8-4238-9BCE-2080E71E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条件：同一材料分别进入阅读卡与自由摘要。</a:t>
            </a:r>
          </a:p>
        </p:txBody>
      </p:sp>
      <p:sp>
        <p:nvSpPr>
          <p:cNvPr id="8" name="content-40">
            <a:extLst xmlns:a="http://schemas.openxmlformats.org/drawingml/2006/main">
              <a:ext uri="{FF2B5EF4-FFF2-40B4-BE49-F238E27FC236}">
                <a16:creationId xmlns:a16="http://schemas.microsoft.com/office/drawing/2014/main" id="{F915D4E2-386C-41C6-A15D-1733118C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指标：相对人工复核基准，计算缺失条件比例。</a:t>
            </a:r>
          </a:p>
        </p:txBody>
      </p:sp>
      <p:sp>
        <p:nvSpPr>
          <p:cNvPr id="9" name="content-41">
            <a:extLst xmlns:a="http://schemas.openxmlformats.org/drawingml/2006/main">
              <a:ext uri="{FF2B5EF4-FFF2-40B4-BE49-F238E27FC236}">
                <a16:creationId xmlns:a16="http://schemas.microsoft.com/office/drawing/2014/main" id="{FA00598B-938B-4A00-BDC3-253B7311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未决：输出确实保留更多，还是评分提示改变得分？</a:t>
            </a:r>
          </a:p>
        </p:txBody>
      </p:sp>
      <p:sp>
        <p:nvSpPr>
          <p:cNvPr id="10" name="content-42">
            <a:extLst xmlns:a="http://schemas.openxmlformats.org/drawingml/2006/main">
              <a:ext uri="{FF2B5EF4-FFF2-40B4-BE49-F238E27FC236}">
                <a16:creationId xmlns:a16="http://schemas.microsoft.com/office/drawing/2014/main" id="{E718AA39-C1AF-4B64-B4AA-B17950CD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质量代价与材料范围另列检查。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问题门九项条件自查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visual-15-0-p14-n0">
            <a:extLst xmlns:a="http://schemas.openxmlformats.org/drawingml/2006/main">
              <a:ext uri="{FF2B5EF4-FFF2-40B4-BE49-F238E27FC236}">
                <a16:creationId xmlns:a16="http://schemas.microsoft.com/office/drawing/2014/main" id="{D4EFD013-0DA0-463D-BBFE-60CD6865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000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5-1-p14-g0">
            <a:extLst xmlns:a="http://schemas.openxmlformats.org/drawingml/2006/main">
              <a:ext uri="{FF2B5EF4-FFF2-40B4-BE49-F238E27FC236}">
                <a16:creationId xmlns:a16="http://schemas.microsoft.com/office/drawing/2014/main" id="{285A8496-C7A1-4A43-8448-C74176E3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3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≥10 篇候选文献 + 证据角色</a:t>
            </a:r>
          </a:p>
        </p:txBody>
      </p:sp>
      <p:sp>
        <p:nvSpPr>
          <p:cNvPr id="8" name="visual-15-2-p14-n1">
            <a:extLst xmlns:a="http://schemas.openxmlformats.org/drawingml/2006/main">
              <a:ext uri="{FF2B5EF4-FFF2-40B4-BE49-F238E27FC236}">
                <a16:creationId xmlns:a16="http://schemas.microsoft.com/office/drawing/2014/main" id="{62CC4EFC-3F66-4573-94AB-3E546EDB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000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15-3-p14-g1">
            <a:extLst xmlns:a="http://schemas.openxmlformats.org/drawingml/2006/main">
              <a:ext uri="{FF2B5EF4-FFF2-40B4-BE49-F238E27FC236}">
                <a16:creationId xmlns:a16="http://schemas.microsoft.com/office/drawing/2014/main" id="{AB3C4ED1-E6F1-4D68-ADA1-CE0A3EA3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933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≥3 张核心材料完整精读卡</a:t>
            </a:r>
          </a:p>
        </p:txBody>
      </p:sp>
      <p:sp>
        <p:nvSpPr>
          <p:cNvPr id="10" name="visual-15-4-p14-n2">
            <a:extLst xmlns:a="http://schemas.openxmlformats.org/drawingml/2006/main">
              <a:ext uri="{FF2B5EF4-FFF2-40B4-BE49-F238E27FC236}">
                <a16:creationId xmlns:a16="http://schemas.microsoft.com/office/drawing/2014/main" id="{B783F7AE-F5EA-49A8-A0F5-B484BE8E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000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5-5-p14-g2">
            <a:extLst xmlns:a="http://schemas.openxmlformats.org/drawingml/2006/main">
              <a:ext uri="{FF2B5EF4-FFF2-40B4-BE49-F238E27FC236}">
                <a16:creationId xmlns:a16="http://schemas.microsoft.com/office/drawing/2014/main" id="{69F236EC-4499-4CD8-91F4-0852372F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9334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初始地图 + ≥2 原文位置 + 错误/过度概括/遗漏或已检查风险 + 人工判断</a:t>
            </a:r>
          </a:p>
        </p:txBody>
      </p:sp>
      <p:sp>
        <p:nvSpPr>
          <p:cNvPr id="12" name="visual-15-6-p14-n3">
            <a:extLst xmlns:a="http://schemas.openxmlformats.org/drawingml/2006/main">
              <a:ext uri="{FF2B5EF4-FFF2-40B4-BE49-F238E27FC236}">
                <a16:creationId xmlns:a16="http://schemas.microsoft.com/office/drawing/2014/main" id="{A654AA74-A456-4F4A-9882-161C581D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62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15-7-p14-g3">
            <a:extLst xmlns:a="http://schemas.openxmlformats.org/drawingml/2006/main">
              <a:ext uri="{FF2B5EF4-FFF2-40B4-BE49-F238E27FC236}">
                <a16:creationId xmlns:a16="http://schemas.microsoft.com/office/drawing/2014/main" id="{EFE85CB8-487A-4BFA-92FA-720AE868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955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证据地图：直接 / 补充 / 冲突 / 空白</a:t>
            </a:r>
          </a:p>
        </p:txBody>
      </p:sp>
      <p:sp>
        <p:nvSpPr>
          <p:cNvPr id="14" name="visual-15-8-p14-n4">
            <a:extLst xmlns:a="http://schemas.openxmlformats.org/drawingml/2006/main">
              <a:ext uri="{FF2B5EF4-FFF2-40B4-BE49-F238E27FC236}">
                <a16:creationId xmlns:a16="http://schemas.microsoft.com/office/drawing/2014/main" id="{034495A5-3AA3-4726-B3F3-76E548A7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15-9-p14-g4">
            <a:extLst xmlns:a="http://schemas.openxmlformats.org/drawingml/2006/main">
              <a:ext uri="{FF2B5EF4-FFF2-40B4-BE49-F238E27FC236}">
                <a16:creationId xmlns:a16="http://schemas.microsoft.com/office/drawing/2014/main" id="{BF568CD6-CE22-4A3F-AE0F-0E116289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955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问题含范围、非例、≥1 可证伪命题</a:t>
            </a:r>
          </a:p>
        </p:txBody>
      </p:sp>
      <p:sp>
        <p:nvSpPr>
          <p:cNvPr id="16" name="visual-15-10-p14-n5">
            <a:extLst xmlns:a="http://schemas.openxmlformats.org/drawingml/2006/main">
              <a:ext uri="{FF2B5EF4-FFF2-40B4-BE49-F238E27FC236}">
                <a16:creationId xmlns:a16="http://schemas.microsoft.com/office/drawing/2014/main" id="{374B7B5C-2EAA-4CD0-8348-32A70EC4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622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7" name="visual-15-11-p14-g5">
            <a:extLst xmlns:a="http://schemas.openxmlformats.org/drawingml/2006/main">
              <a:ext uri="{FF2B5EF4-FFF2-40B4-BE49-F238E27FC236}">
                <a16:creationId xmlns:a16="http://schemas.microsoft.com/office/drawing/2014/main" id="{028B07AA-D404-4244-B426-A39FEE8E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955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第一性原理：必要条件 / 关键约束 / 可检验前提</a:t>
            </a:r>
          </a:p>
        </p:txBody>
      </p:sp>
      <p:sp>
        <p:nvSpPr>
          <p:cNvPr id="18" name="visual-15-12-p14-n6">
            <a:extLst xmlns:a="http://schemas.openxmlformats.org/drawingml/2006/main">
              <a:ext uri="{FF2B5EF4-FFF2-40B4-BE49-F238E27FC236}">
                <a16:creationId xmlns:a16="http://schemas.microsoft.com/office/drawing/2014/main" id="{BAFB0DF6-B794-426D-AF3A-11C6DAA2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724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19" name="visual-15-13-p14-g6">
            <a:extLst xmlns:a="http://schemas.openxmlformats.org/drawingml/2006/main">
              <a:ext uri="{FF2B5EF4-FFF2-40B4-BE49-F238E27FC236}">
                <a16:creationId xmlns:a16="http://schemas.microsoft.com/office/drawing/2014/main" id="{AAE95D54-3F81-4DBC-8762-8C37A0C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重要性 + 课程周期可行性</a:t>
            </a:r>
          </a:p>
        </p:txBody>
      </p:sp>
      <p:sp>
        <p:nvSpPr>
          <p:cNvPr id="20" name="visual-15-14-p14-n7">
            <a:extLst xmlns:a="http://schemas.openxmlformats.org/drawingml/2006/main">
              <a:ext uri="{FF2B5EF4-FFF2-40B4-BE49-F238E27FC236}">
                <a16:creationId xmlns:a16="http://schemas.microsoft.com/office/drawing/2014/main" id="{E3CE0C29-D603-4AAC-82A4-6D9D9F53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724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21" name="visual-15-15-p14-g7">
            <a:extLst xmlns:a="http://schemas.openxmlformats.org/drawingml/2006/main">
              <a:ext uri="{FF2B5EF4-FFF2-40B4-BE49-F238E27FC236}">
                <a16:creationId xmlns:a16="http://schemas.microsoft.com/office/drawing/2014/main" id="{E0C0E27F-8C3F-478C-82EF-E76BC0D2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6576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≥1 条真实失败 / 死路：原因、处理、回写位置</a:t>
            </a:r>
          </a:p>
        </p:txBody>
      </p:sp>
      <p:sp>
        <p:nvSpPr>
          <p:cNvPr id="22" name="visual-15-16-p14-n8">
            <a:extLst xmlns:a="http://schemas.openxmlformats.org/drawingml/2006/main">
              <a:ext uri="{FF2B5EF4-FFF2-40B4-BE49-F238E27FC236}">
                <a16:creationId xmlns:a16="http://schemas.microsoft.com/office/drawing/2014/main" id="{DE9C39F5-D67F-4C21-A5D2-5D696C2E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23" name="visual-15-17-p14-g8">
            <a:extLst xmlns:a="http://schemas.openxmlformats.org/drawingml/2006/main">
              <a:ext uri="{FF2B5EF4-FFF2-40B4-BE49-F238E27FC236}">
                <a16:creationId xmlns:a16="http://schemas.microsoft.com/office/drawing/2014/main" id="{C56EBA22-75B8-4235-9DA8-998EE7D1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576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检索 / 阅读 / 改写：来源与人工核验方式</a:t>
            </a:r>
          </a:p>
        </p:txBody>
      </p:sp>
      <p:sp>
        <p:nvSpPr>
          <p:cNvPr id="24" name="visual-15-18-p14-bottom">
            <a:extLst xmlns:a="http://schemas.openxmlformats.org/drawingml/2006/main">
              <a:ext uri="{FF2B5EF4-FFF2-40B4-BE49-F238E27FC236}">
                <a16:creationId xmlns:a16="http://schemas.microsoft.com/office/drawing/2014/main" id="{9E923512-423B-4F3B-8DD6-D30556D7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257800"/>
            <a:ext cx="942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本课重点补第 5-8 项；第 8 项必须是真实发生的失败或放弃方向。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门条件检查的是本人项目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content-43">
            <a:extLst xmlns:a="http://schemas.openxmlformats.org/drawingml/2006/main">
              <a:ext uri="{FF2B5EF4-FFF2-40B4-BE49-F238E27FC236}">
                <a16:creationId xmlns:a16="http://schemas.microsoft.com/office/drawing/2014/main" id="{EE1FC775-6267-4CEF-9599-D50B79DB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课堂构造案例：练习问题、证据与反证的对应。</a:t>
            </a:r>
          </a:p>
        </p:txBody>
      </p:sp>
      <p:sp>
        <p:nvSpPr>
          <p:cNvPr id="7" name="content-44">
            <a:extLst xmlns:a="http://schemas.openxmlformats.org/drawingml/2006/main">
              <a:ext uri="{FF2B5EF4-FFF2-40B4-BE49-F238E27FC236}">
                <a16:creationId xmlns:a16="http://schemas.microsoft.com/office/drawing/2014/main" id="{6A203B43-BEB9-440A-96BB-B3DE8D4F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本人项目：仍须说明来源、可行性、约束与失败预案。</a:t>
            </a:r>
          </a:p>
        </p:txBody>
      </p:sp>
      <p:sp>
        <p:nvSpPr>
          <p:cNvPr id="8" name="content-45">
            <a:extLst xmlns:a="http://schemas.openxmlformats.org/drawingml/2006/main">
              <a:ext uri="{FF2B5EF4-FFF2-40B4-BE49-F238E27FC236}">
                <a16:creationId xmlns:a16="http://schemas.microsoft.com/office/drawing/2014/main" id="{5EEE4E90-6013-4D74-B60F-B03CE6E3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一项局限记录可以帮助修订问题，不能替代完整问题门材料。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个人实践：选题、边界与一个待验证前提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minimum">
            <a:extLst xmlns:a="http://schemas.openxmlformats.org/drawingml/2006/main">
              <a:ext uri="{FF2B5EF4-FFF2-40B4-BE49-F238E27FC236}">
                <a16:creationId xmlns:a16="http://schemas.microsoft.com/office/drawing/2014/main" id="{E7DECA77-9BB2-4B37-B7E9-79021C56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课堂最低闭环</a:t>
            </a:r>
          </a:p>
        </p:txBody>
      </p:sp>
      <p:sp>
        <p:nvSpPr>
          <p:cNvPr id="7" name="visual-17-1-task-0">
            <a:extLst xmlns:a="http://schemas.openxmlformats.org/drawingml/2006/main">
              <a:ext uri="{FF2B5EF4-FFF2-40B4-BE49-F238E27FC236}">
                <a16:creationId xmlns:a16="http://schemas.microsoft.com/office/drawing/2014/main" id="{FC359E81-9BA8-40EF-A8AF-E149E515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visual-17-2-task-text-0">
            <a:extLst xmlns:a="http://schemas.openxmlformats.org/drawingml/2006/main">
              <a:ext uri="{FF2B5EF4-FFF2-40B4-BE49-F238E27FC236}">
                <a16:creationId xmlns:a16="http://schemas.microsoft.com/office/drawing/2014/main" id="{EC48C337-A5F1-408D-9E47-9C256BB5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4763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候选题池比较：≥3 个候选，记录来源与选定理由</a:t>
            </a:r>
          </a:p>
        </p:txBody>
      </p:sp>
      <p:sp>
        <p:nvSpPr>
          <p:cNvPr id="9" name="visual-17-3-task-1">
            <a:extLst xmlns:a="http://schemas.openxmlformats.org/drawingml/2006/main">
              <a:ext uri="{FF2B5EF4-FFF2-40B4-BE49-F238E27FC236}">
                <a16:creationId xmlns:a16="http://schemas.microsoft.com/office/drawing/2014/main" id="{27B0C544-CDD0-4FD2-9634-7A67D4B3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5716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7-4-task-text-1">
            <a:extLst xmlns:a="http://schemas.openxmlformats.org/drawingml/2006/main">
              <a:ext uri="{FF2B5EF4-FFF2-40B4-BE49-F238E27FC236}">
                <a16:creationId xmlns:a16="http://schemas.microsoft.com/office/drawing/2014/main" id="{237A022E-F1DA-41EC-8B38-E57BD186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4763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把选定候选改写为结构性问题</a:t>
            </a:r>
          </a:p>
        </p:txBody>
      </p:sp>
      <p:sp>
        <p:nvSpPr>
          <p:cNvPr id="11" name="visual-17-5-task-2">
            <a:extLst xmlns:a="http://schemas.openxmlformats.org/drawingml/2006/main">
              <a:ext uri="{FF2B5EF4-FFF2-40B4-BE49-F238E27FC236}">
                <a16:creationId xmlns:a16="http://schemas.microsoft.com/office/drawing/2014/main" id="{DA40B499-4E60-43A1-A7D3-F54FA4D5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visual-17-6-task-text-2">
            <a:extLst xmlns:a="http://schemas.openxmlformats.org/drawingml/2006/main">
              <a:ext uri="{FF2B5EF4-FFF2-40B4-BE49-F238E27FC236}">
                <a16:creationId xmlns:a16="http://schemas.microsoft.com/office/drawing/2014/main" id="{9D6F3014-CE41-40A3-BBB6-33D8C5B3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4792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写一个非例，并说明为什么不算</a:t>
            </a:r>
          </a:p>
        </p:txBody>
      </p:sp>
      <p:sp>
        <p:nvSpPr>
          <p:cNvPr id="13" name="visual-17-7-task-3">
            <a:extLst xmlns:a="http://schemas.openxmlformats.org/drawingml/2006/main">
              <a:ext uri="{FF2B5EF4-FFF2-40B4-BE49-F238E27FC236}">
                <a16:creationId xmlns:a16="http://schemas.microsoft.com/office/drawing/2014/main" id="{141EEE30-4612-4B80-8139-EDFFE985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5431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7-8-task-text-3">
            <a:extLst xmlns:a="http://schemas.openxmlformats.org/drawingml/2006/main">
              <a:ext uri="{FF2B5EF4-FFF2-40B4-BE49-F238E27FC236}">
                <a16:creationId xmlns:a16="http://schemas.microsoft.com/office/drawing/2014/main" id="{3116BF01-EEF4-4BD0-B5B5-005FE532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44792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写一个含推翻条件的可证伪命题</a:t>
            </a:r>
          </a:p>
        </p:txBody>
      </p:sp>
      <p:sp>
        <p:nvSpPr>
          <p:cNvPr id="15" name="visual-17-9-task-4">
            <a:extLst xmlns:a="http://schemas.openxmlformats.org/drawingml/2006/main">
              <a:ext uri="{FF2B5EF4-FFF2-40B4-BE49-F238E27FC236}">
                <a16:creationId xmlns:a16="http://schemas.microsoft.com/office/drawing/2014/main" id="{1C43F183-084A-4D36-A8E7-252688ED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6" name="visual-17-10-task-text-4">
            <a:extLst xmlns:a="http://schemas.openxmlformats.org/drawingml/2006/main">
              <a:ext uri="{FF2B5EF4-FFF2-40B4-BE49-F238E27FC236}">
                <a16:creationId xmlns:a16="http://schemas.microsoft.com/office/drawing/2014/main" id="{450BB303-D2F3-489F-A590-275B6146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收敛一个待验证前提，并写替代解释标记</a:t>
            </a:r>
          </a:p>
        </p:txBody>
      </p:sp>
      <p:sp>
        <p:nvSpPr>
          <p:cNvPr id="17" name="visual-17-11-task-5">
            <a:extLst xmlns:a="http://schemas.openxmlformats.org/drawingml/2006/main">
              <a:ext uri="{FF2B5EF4-FFF2-40B4-BE49-F238E27FC236}">
                <a16:creationId xmlns:a16="http://schemas.microsoft.com/office/drawing/2014/main" id="{149B7812-9599-4739-BA61-D9369270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5147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" name="visual-17-12-task-text-5">
            <a:extLst xmlns:a="http://schemas.openxmlformats.org/drawingml/2006/main">
              <a:ext uri="{FF2B5EF4-FFF2-40B4-BE49-F238E27FC236}">
                <a16:creationId xmlns:a16="http://schemas.microsoft.com/office/drawing/2014/main" id="{E88C361B-023E-45A6-9CAA-66BC0DEC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419475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九项门条件标注：已满足／待补全／未满足</a:t>
            </a:r>
          </a:p>
        </p:txBody>
      </p:sp>
      <p:sp>
        <p:nvSpPr>
          <p:cNvPr id="19" name="visual-17-13-order">
            <a:extLst xmlns:a="http://schemas.openxmlformats.org/drawingml/2006/main">
              <a:ext uri="{FF2B5EF4-FFF2-40B4-BE49-F238E27FC236}">
                <a16:creationId xmlns:a16="http://schemas.microsoft.com/office/drawing/2014/main" id="{7A83AB2F-D4BB-4C8A-A5C9-6067930A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24375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选择顺序：本人真实问题　→　导师组公开问题　→　课程虚构样例 G1</a:t>
            </a:r>
          </a:p>
        </p:txBody>
      </p:sp>
      <p:sp>
        <p:nvSpPr>
          <p:cNvPr id="20" name="visual-17-14-write">
            <a:extLst xmlns:a="http://schemas.openxmlformats.org/drawingml/2006/main">
              <a:ext uri="{FF2B5EF4-FFF2-40B4-BE49-F238E27FC236}">
                <a16:creationId xmlns:a16="http://schemas.microsoft.com/office/drawing/2014/main" id="{656F99FE-FEEB-4939-BCE4-60E33C10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写入：problem-definition.md｜完整竞争假设设计留给第 7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实践停留页：问题定义与推导最小闭环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question">
            <a:extLst xmlns:a="http://schemas.openxmlformats.org/drawingml/2006/main">
              <a:ext uri="{FF2B5EF4-FFF2-40B4-BE49-F238E27FC236}">
                <a16:creationId xmlns:a16="http://schemas.microsoft.com/office/drawing/2014/main" id="{50AC5945-8AE5-4A9C-964C-68C016FB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5191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一句话研究问题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1F4D78"/>
                </a:solidFill>
                <a:latin typeface="Consolas"/>
                <a:ea typeface="Consolas"/>
                <a:cs typeface="Consolas"/>
              </a:rPr>
              <a:t>在 ______ 条件下，______ 方法 / 机制是否改善 / 解释 ______。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3444913C-218B-4808-90F0-7E7B8347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1911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研究范围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包含什么 / 暂不包含什么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一个明确非例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一个含推翻条件的可证伪命题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第一性原理推导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基本约束 • 作用机制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不可违背条件 • 一个待验证前提</a:t>
            </a:r>
          </a:p>
        </p:txBody>
      </p:sp>
      <p:sp>
        <p:nvSpPr>
          <p:cNvPr id="8" name="p18-mid">
            <a:extLst xmlns:a="http://schemas.openxmlformats.org/drawingml/2006/main">
              <a:ext uri="{FF2B5EF4-FFF2-40B4-BE49-F238E27FC236}">
                <a16:creationId xmlns:a16="http://schemas.microsoft.com/office/drawing/2014/main" id="{0D5AEC56-6EBC-4DBD-95B3-7BAA775C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00965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8-right">
            <a:extLst xmlns:a="http://schemas.openxmlformats.org/drawingml/2006/main">
              <a:ext uri="{FF2B5EF4-FFF2-40B4-BE49-F238E27FC236}">
                <a16:creationId xmlns:a16="http://schemas.microsoft.com/office/drawing/2014/main" id="{36E125E3-7AA3-4B08-9E44-F6E2269D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990600"/>
            <a:ext cx="485775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问题重要性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So what?  • Who cares?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课程周期可行性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候选题池与理由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≥3 个候选：表述 + 路径 + 当前证据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四维比较与选定理由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新颖性只作为待核验线索，不作硬门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7 课接口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• 一个会削弱当前主张的替代解释</a:t>
            </a:r>
          </a:p>
        </p:txBody>
      </p:sp>
      <p:sp>
        <p:nvSpPr>
          <p:cNvPr id="10" name="p18-minimum">
            <a:extLst xmlns:a="http://schemas.openxmlformats.org/drawingml/2006/main">
              <a:ext uri="{FF2B5EF4-FFF2-40B4-BE49-F238E27FC236}">
                <a16:creationId xmlns:a16="http://schemas.microsoft.com/office/drawing/2014/main" id="{B4870F10-D463-4A50-BB46-8A6B4FAD4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九项门只标当前状态；课后按缺口补全。</a:t>
            </a:r>
          </a:p>
        </p:txBody>
      </p:sp>
      <p:sp>
        <p:nvSpPr>
          <p:cNvPr id="11" name="source">
            <a:extLst xmlns:a="http://schemas.openxmlformats.org/drawingml/2006/main">
              <a:ext uri="{FF2B5EF4-FFF2-40B4-BE49-F238E27FC236}">
                <a16:creationId xmlns:a16="http://schemas.microsoft.com/office/drawing/2014/main" id="{3B50CCED-9BBB-4301-B3D1-7B37E278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写入：problem-definition.md · 完整竞争假设设计留给第 7 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同伴互查：只提问题，由作者决定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visual-19-0-p18-n0">
            <a:extLst xmlns:a="http://schemas.openxmlformats.org/drawingml/2006/main">
              <a:ext uri="{FF2B5EF4-FFF2-40B4-BE49-F238E27FC236}">
                <a16:creationId xmlns:a16="http://schemas.microsoft.com/office/drawing/2014/main" id="{600D97FA-6081-417D-B1B2-046743F9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9-1-p18-q0">
            <a:extLst xmlns:a="http://schemas.openxmlformats.org/drawingml/2006/main">
              <a:ext uri="{FF2B5EF4-FFF2-40B4-BE49-F238E27FC236}">
                <a16:creationId xmlns:a16="http://schemas.microsoft.com/office/drawing/2014/main" id="{35B44D6E-ADF5-49CE-BBB7-D2256B85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096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这是问题还是主题？</a:t>
            </a:r>
          </a:p>
        </p:txBody>
      </p:sp>
      <p:sp>
        <p:nvSpPr>
          <p:cNvPr id="8" name="visual-19-2-p18-n1">
            <a:extLst xmlns:a="http://schemas.openxmlformats.org/drawingml/2006/main">
              <a:ext uri="{FF2B5EF4-FFF2-40B4-BE49-F238E27FC236}">
                <a16:creationId xmlns:a16="http://schemas.microsoft.com/office/drawing/2014/main" id="{8DB45E06-0C28-4398-B29D-5071D9C1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19-3-p18-q1">
            <a:extLst xmlns:a="http://schemas.openxmlformats.org/drawingml/2006/main">
              <a:ext uri="{FF2B5EF4-FFF2-40B4-BE49-F238E27FC236}">
                <a16:creationId xmlns:a16="http://schemas.microsoft.com/office/drawing/2014/main" id="{C5EE6558-7FC5-4F2C-9CCC-5626D6A9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选题理由能用四维比较说清吗？</a:t>
            </a:r>
          </a:p>
        </p:txBody>
      </p:sp>
      <p:sp>
        <p:nvSpPr>
          <p:cNvPr id="10" name="visual-19-4-p18-n2">
            <a:extLst xmlns:a="http://schemas.openxmlformats.org/drawingml/2006/main">
              <a:ext uri="{FF2B5EF4-FFF2-40B4-BE49-F238E27FC236}">
                <a16:creationId xmlns:a16="http://schemas.microsoft.com/office/drawing/2014/main" id="{F12D7E42-C303-4DE8-8C79-38D2206E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9-5-p18-q2">
            <a:extLst xmlns:a="http://schemas.openxmlformats.org/drawingml/2006/main">
              <a:ext uri="{FF2B5EF4-FFF2-40B4-BE49-F238E27FC236}">
                <a16:creationId xmlns:a16="http://schemas.microsoft.com/office/drawing/2014/main" id="{C7F675EA-6FA3-4974-9793-37F23C54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717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什么观察会推翻命题？</a:t>
            </a:r>
          </a:p>
        </p:txBody>
      </p:sp>
      <p:sp>
        <p:nvSpPr>
          <p:cNvPr id="12" name="visual-19-6-p18-n3">
            <a:extLst xmlns:a="http://schemas.openxmlformats.org/drawingml/2006/main">
              <a:ext uri="{FF2B5EF4-FFF2-40B4-BE49-F238E27FC236}">
                <a16:creationId xmlns:a16="http://schemas.microsoft.com/office/drawing/2014/main" id="{C60B6537-63A0-46DB-B33E-A007B544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19-7-p18-q3">
            <a:extLst xmlns:a="http://schemas.openxmlformats.org/drawingml/2006/main">
              <a:ext uri="{FF2B5EF4-FFF2-40B4-BE49-F238E27FC236}">
                <a16:creationId xmlns:a16="http://schemas.microsoft.com/office/drawing/2014/main" id="{18897B64-D4E1-4E27-A179-DC1F5E04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3528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推导哪一步回到证据地图？</a:t>
            </a:r>
          </a:p>
        </p:txBody>
      </p:sp>
      <p:sp>
        <p:nvSpPr>
          <p:cNvPr id="14" name="visual-19-8-p18-n4">
            <a:extLst xmlns:a="http://schemas.openxmlformats.org/drawingml/2006/main">
              <a:ext uri="{FF2B5EF4-FFF2-40B4-BE49-F238E27FC236}">
                <a16:creationId xmlns:a16="http://schemas.microsoft.com/office/drawing/2014/main" id="{DFDE5BAF-AF16-40BC-BFAC-D4073935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3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19-9-p18-q4">
            <a:extLst xmlns:a="http://schemas.openxmlformats.org/drawingml/2006/main">
              <a:ext uri="{FF2B5EF4-FFF2-40B4-BE49-F238E27FC236}">
                <a16:creationId xmlns:a16="http://schemas.microsoft.com/office/drawing/2014/main" id="{8853C9BE-2EB9-43A8-93EB-E0A630BC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338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九项中最可能缺哪项？</a:t>
            </a:r>
          </a:p>
        </p:txBody>
      </p:sp>
      <p:sp>
        <p:nvSpPr>
          <p:cNvPr id="16" name="visual-19-10-p18-author">
            <a:extLst xmlns:a="http://schemas.openxmlformats.org/drawingml/2006/main">
              <a:ext uri="{FF2B5EF4-FFF2-40B4-BE49-F238E27FC236}">
                <a16:creationId xmlns:a16="http://schemas.microsoft.com/office/drawing/2014/main" id="{63B48428-4041-4EFD-8B74-1D9B0847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0668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</a:t>
            </a:r>
          </a:p>
        </p:txBody>
      </p:sp>
      <p:sp>
        <p:nvSpPr>
          <p:cNvPr id="17" name="visual-19-11-p18-s0">
            <a:extLst xmlns:a="http://schemas.openxmlformats.org/drawingml/2006/main">
              <a:ext uri="{FF2B5EF4-FFF2-40B4-BE49-F238E27FC236}">
                <a16:creationId xmlns:a16="http://schemas.microsoft.com/office/drawing/2014/main" id="{E825264D-FC4F-4D56-A694-73A8D3FA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9526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18" name="visual-19-12-p18-s1">
            <a:extLst xmlns:a="http://schemas.openxmlformats.org/drawingml/2006/main">
              <a:ext uri="{FF2B5EF4-FFF2-40B4-BE49-F238E27FC236}">
                <a16:creationId xmlns:a16="http://schemas.microsoft.com/office/drawing/2014/main" id="{833A1642-679A-4D8B-9E79-C98D283A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</p:txBody>
      </p:sp>
      <p:sp>
        <p:nvSpPr>
          <p:cNvPr id="19" name="visual-19-13-p18-s2">
            <a:extLst xmlns:a="http://schemas.openxmlformats.org/drawingml/2006/main">
              <a:ext uri="{FF2B5EF4-FFF2-40B4-BE49-F238E27FC236}">
                <a16:creationId xmlns:a16="http://schemas.microsoft.com/office/drawing/2014/main" id="{D953B286-3C9B-43D2-A61E-59ADB186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576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20" name="visual-19-14-p18-bottom">
            <a:extLst xmlns:a="http://schemas.openxmlformats.org/drawingml/2006/main">
              <a:ext uri="{FF2B5EF4-FFF2-40B4-BE49-F238E27FC236}">
                <a16:creationId xmlns:a16="http://schemas.microsoft.com/office/drawing/2014/main" id="{E4BC148F-5975-4A20-B1C2-EB17145C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911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visual-20-0-p20-n0">
            <a:extLst xmlns:a="http://schemas.openxmlformats.org/drawingml/2006/main">
              <a:ext uri="{FF2B5EF4-FFF2-40B4-BE49-F238E27FC236}">
                <a16:creationId xmlns:a16="http://schemas.microsoft.com/office/drawing/2014/main" id="{5621C616-0362-4252-847D-892EA16F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20-1-p20-h0">
            <a:extLst xmlns:a="http://schemas.openxmlformats.org/drawingml/2006/main">
              <a:ext uri="{FF2B5EF4-FFF2-40B4-BE49-F238E27FC236}">
                <a16:creationId xmlns:a16="http://schemas.microsoft.com/office/drawing/2014/main" id="{0A59A585-37FE-44D8-83CC-59A14A9E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结构性问题</a:t>
            </a:r>
          </a:p>
        </p:txBody>
      </p:sp>
      <p:sp>
        <p:nvSpPr>
          <p:cNvPr id="8" name="visual-20-2-p20-d0">
            <a:extLst xmlns:a="http://schemas.openxmlformats.org/drawingml/2006/main">
              <a:ext uri="{FF2B5EF4-FFF2-40B4-BE49-F238E27FC236}">
                <a16:creationId xmlns:a16="http://schemas.microsoft.com/office/drawing/2014/main" id="{9E8F2EC7-7BC9-4D74-AE29-A385236D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写清条件、对象、干预与结果</a:t>
            </a:r>
          </a:p>
        </p:txBody>
      </p:sp>
      <p:sp>
        <p:nvSpPr>
          <p:cNvPr id="9" name="visual-20-3-p20-arrow0">
            <a:extLst xmlns:a="http://schemas.openxmlformats.org/drawingml/2006/main">
              <a:ext uri="{FF2B5EF4-FFF2-40B4-BE49-F238E27FC236}">
                <a16:creationId xmlns:a16="http://schemas.microsoft.com/office/drawing/2014/main" id="{F2D7C4F3-7C8A-4AB3-8420-CCAE688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0-4-p20-n1">
            <a:extLst xmlns:a="http://schemas.openxmlformats.org/drawingml/2006/main">
              <a:ext uri="{FF2B5EF4-FFF2-40B4-BE49-F238E27FC236}">
                <a16:creationId xmlns:a16="http://schemas.microsoft.com/office/drawing/2014/main" id="{1EED79F6-36A4-4045-9E9F-0034142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20-5-p20-h1">
            <a:extLst xmlns:a="http://schemas.openxmlformats.org/drawingml/2006/main">
              <a:ext uri="{FF2B5EF4-FFF2-40B4-BE49-F238E27FC236}">
                <a16:creationId xmlns:a16="http://schemas.microsoft.com/office/drawing/2014/main" id="{69212B70-1D69-43EE-8E33-3F085D73C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可证伪命题</a:t>
            </a:r>
          </a:p>
        </p:txBody>
      </p:sp>
      <p:sp>
        <p:nvSpPr>
          <p:cNvPr id="12" name="visual-20-6-p20-d1">
            <a:extLst xmlns:a="http://schemas.openxmlformats.org/drawingml/2006/main">
              <a:ext uri="{FF2B5EF4-FFF2-40B4-BE49-F238E27FC236}">
                <a16:creationId xmlns:a16="http://schemas.microsoft.com/office/drawing/2014/main" id="{7D2AB5E5-F098-4EF3-9EF5-DC0FEEDE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明确对照、指标与推翻条件</a:t>
            </a:r>
          </a:p>
        </p:txBody>
      </p:sp>
      <p:sp>
        <p:nvSpPr>
          <p:cNvPr id="13" name="visual-20-7-p20-arrow1">
            <a:extLst xmlns:a="http://schemas.openxmlformats.org/drawingml/2006/main">
              <a:ext uri="{FF2B5EF4-FFF2-40B4-BE49-F238E27FC236}">
                <a16:creationId xmlns:a16="http://schemas.microsoft.com/office/drawing/2014/main" id="{A7A78E91-3043-418E-AE51-4148F297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20-8-p20-n2">
            <a:extLst xmlns:a="http://schemas.openxmlformats.org/drawingml/2006/main">
              <a:ext uri="{FF2B5EF4-FFF2-40B4-BE49-F238E27FC236}">
                <a16:creationId xmlns:a16="http://schemas.microsoft.com/office/drawing/2014/main" id="{059C48B4-4C54-4A5A-B9FE-2214284F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20-9-p20-h2">
            <a:extLst xmlns:a="http://schemas.openxmlformats.org/drawingml/2006/main">
              <a:ext uri="{FF2B5EF4-FFF2-40B4-BE49-F238E27FC236}">
                <a16:creationId xmlns:a16="http://schemas.microsoft.com/office/drawing/2014/main" id="{58393813-F6D1-4FB4-A0A4-ACFEA06A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</a:t>
            </a:r>
          </a:p>
        </p:txBody>
      </p:sp>
      <p:sp>
        <p:nvSpPr>
          <p:cNvPr id="16" name="visual-20-10-p20-d2">
            <a:extLst xmlns:a="http://schemas.openxmlformats.org/drawingml/2006/main">
              <a:ext uri="{FF2B5EF4-FFF2-40B4-BE49-F238E27FC236}">
                <a16:creationId xmlns:a16="http://schemas.microsoft.com/office/drawing/2014/main" id="{820A8472-8A0B-41CE-92BC-A39E8B79D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由约束推导待验证前提</a:t>
            </a:r>
          </a:p>
        </p:txBody>
      </p:sp>
      <p:sp>
        <p:nvSpPr>
          <p:cNvPr id="17" name="visual-20-11-p20-arrow2">
            <a:extLst xmlns:a="http://schemas.openxmlformats.org/drawingml/2006/main">
              <a:ext uri="{FF2B5EF4-FFF2-40B4-BE49-F238E27FC236}">
                <a16:creationId xmlns:a16="http://schemas.microsoft.com/office/drawing/2014/main" id="{60F09E3E-7A2F-44DB-91BB-E0E20B88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20-12-p20-n3">
            <a:extLst xmlns:a="http://schemas.openxmlformats.org/drawingml/2006/main">
              <a:ext uri="{FF2B5EF4-FFF2-40B4-BE49-F238E27FC236}">
                <a16:creationId xmlns:a16="http://schemas.microsoft.com/office/drawing/2014/main" id="{03AA84C1-5F0A-4342-9373-3BE599EF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visual-20-13-p20-h3">
            <a:extLst xmlns:a="http://schemas.openxmlformats.org/drawingml/2006/main">
              <a:ext uri="{FF2B5EF4-FFF2-40B4-BE49-F238E27FC236}">
                <a16:creationId xmlns:a16="http://schemas.microsoft.com/office/drawing/2014/main" id="{3175BEEB-92A8-4AD7-8422-14791837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问题门自查</a:t>
            </a:r>
          </a:p>
        </p:txBody>
      </p:sp>
      <p:sp>
        <p:nvSpPr>
          <p:cNvPr id="20" name="visual-20-14-p20-d3">
            <a:extLst xmlns:a="http://schemas.openxmlformats.org/drawingml/2006/main">
              <a:ext uri="{FF2B5EF4-FFF2-40B4-BE49-F238E27FC236}">
                <a16:creationId xmlns:a16="http://schemas.microsoft.com/office/drawing/2014/main" id="{0A3BE6CC-CE42-42A6-9BE0-B5F3E692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核对九项条件与真实失败记录</a:t>
            </a:r>
          </a:p>
        </p:txBody>
      </p:sp>
      <p:sp>
        <p:nvSpPr>
          <p:cNvPr id="21" name="visual-20-15-p20-boundary">
            <a:extLst xmlns:a="http://schemas.openxmlformats.org/drawingml/2006/main">
              <a:ext uri="{FF2B5EF4-FFF2-40B4-BE49-F238E27FC236}">
                <a16:creationId xmlns:a16="http://schemas.microsoft.com/office/drawing/2014/main" id="{D987D71D-155B-4A92-8432-9DAEF70C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43375"/>
            <a:ext cx="981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关键边界：第一性原理推导得到的是待验证前提，不是结论；问题门检查当前项目是否具备继续研究的条件。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问题门提交与失败回退路径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visual-21-0-p21-submit">
            <a:extLst xmlns:a="http://schemas.openxmlformats.org/drawingml/2006/main">
              <a:ext uri="{FF2B5EF4-FFF2-40B4-BE49-F238E27FC236}">
                <a16:creationId xmlns:a16="http://schemas.microsoft.com/office/drawing/2014/main" id="{5D1A68C5-BB19-47E3-86B8-414E7557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95375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一次提交</a:t>
            </a:r>
          </a:p>
        </p:txBody>
      </p:sp>
      <p:sp>
        <p:nvSpPr>
          <p:cNvPr id="7" name="visual-21-1-p19-how">
            <a:extLst xmlns:a="http://schemas.openxmlformats.org/drawingml/2006/main">
              <a:ext uri="{FF2B5EF4-FFF2-40B4-BE49-F238E27FC236}">
                <a16:creationId xmlns:a16="http://schemas.microsoft.com/office/drawing/2014/main" id="{90251B82-4B26-433F-8462-6FC093FC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000125"/>
            <a:ext cx="3238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当前个人项目版本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链接 / tag / 压缩包</a:t>
            </a:r>
          </a:p>
        </p:txBody>
      </p:sp>
      <p:sp>
        <p:nvSpPr>
          <p:cNvPr id="8" name="visual-21-2-p19-no">
            <a:extLst xmlns:a="http://schemas.openxmlformats.org/drawingml/2006/main">
              <a:ext uri="{FF2B5EF4-FFF2-40B4-BE49-F238E27FC236}">
                <a16:creationId xmlns:a16="http://schemas.microsoft.com/office/drawing/2014/main" id="{EC9CC1B9-AD8E-4A3C-B75C-ED1FE49A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95375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不重复制作与项目分离的汇报文档</a:t>
            </a:r>
          </a:p>
        </p:txBody>
      </p:sp>
      <p:sp>
        <p:nvSpPr>
          <p:cNvPr id="9" name="visual-21-3-p19-h0">
            <a:extLst xmlns:a="http://schemas.openxmlformats.org/drawingml/2006/main">
              <a:ext uri="{FF2B5EF4-FFF2-40B4-BE49-F238E27FC236}">
                <a16:creationId xmlns:a16="http://schemas.microsoft.com/office/drawing/2014/main" id="{F2AB572A-8FE5-474E-ADA5-278D0994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缺直接证据</a:t>
            </a:r>
          </a:p>
        </p:txBody>
      </p:sp>
      <p:sp>
        <p:nvSpPr>
          <p:cNvPr id="10" name="visual-21-4-p19-a0">
            <a:extLst xmlns:a="http://schemas.openxmlformats.org/drawingml/2006/main">
              <a:ext uri="{FF2B5EF4-FFF2-40B4-BE49-F238E27FC236}">
                <a16:creationId xmlns:a16="http://schemas.microsoft.com/office/drawing/2014/main" id="{FA5BED7B-ADC5-4F59-B638-ED15982B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1907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21-5-p19-d0">
            <a:extLst xmlns:a="http://schemas.openxmlformats.org/drawingml/2006/main">
              <a:ext uri="{FF2B5EF4-FFF2-40B4-BE49-F238E27FC236}">
                <a16:creationId xmlns:a16="http://schemas.microsoft.com/office/drawing/2014/main" id="{CA5A65E9-C0DA-4E58-B1FF-BAE0B04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回第 3-4 课：检索 / 精读</a:t>
            </a:r>
          </a:p>
        </p:txBody>
      </p:sp>
      <p:sp>
        <p:nvSpPr>
          <p:cNvPr id="12" name="visual-21-6-p19-h1">
            <a:extLst xmlns:a="http://schemas.openxmlformats.org/drawingml/2006/main">
              <a:ext uri="{FF2B5EF4-FFF2-40B4-BE49-F238E27FC236}">
                <a16:creationId xmlns:a16="http://schemas.microsoft.com/office/drawing/2014/main" id="{F7CD5FF7-6EC8-48B2-B1D1-7D5DF27D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336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问题过大</a:t>
            </a:r>
          </a:p>
        </p:txBody>
      </p:sp>
      <p:sp>
        <p:nvSpPr>
          <p:cNvPr id="13" name="visual-21-7-p19-a1">
            <a:extLst xmlns:a="http://schemas.openxmlformats.org/drawingml/2006/main">
              <a:ext uri="{FF2B5EF4-FFF2-40B4-BE49-F238E27FC236}">
                <a16:creationId xmlns:a16="http://schemas.microsoft.com/office/drawing/2014/main" id="{B91A45D6-5B43-4876-A7D6-1A2A19FC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813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21-8-p19-d1">
            <a:extLst xmlns:a="http://schemas.openxmlformats.org/drawingml/2006/main">
              <a:ext uri="{FF2B5EF4-FFF2-40B4-BE49-F238E27FC236}">
                <a16:creationId xmlns:a16="http://schemas.microsoft.com/office/drawing/2014/main" id="{1AF3D9ED-9E2D-4019-99FB-D79CC735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回本课：问题重写 / 非例</a:t>
            </a:r>
          </a:p>
        </p:txBody>
      </p:sp>
      <p:sp>
        <p:nvSpPr>
          <p:cNvPr id="15" name="visual-21-9-p19-h2">
            <a:extLst xmlns:a="http://schemas.openxmlformats.org/drawingml/2006/main">
              <a:ext uri="{FF2B5EF4-FFF2-40B4-BE49-F238E27FC236}">
                <a16:creationId xmlns:a16="http://schemas.microsoft.com/office/drawing/2014/main" id="{434BEE85-7C53-4A29-BB9C-50B846CD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242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命题不可证伪</a:t>
            </a:r>
          </a:p>
        </p:txBody>
      </p:sp>
      <p:sp>
        <p:nvSpPr>
          <p:cNvPr id="16" name="visual-21-10-p19-a2">
            <a:extLst xmlns:a="http://schemas.openxmlformats.org/drawingml/2006/main">
              <a:ext uri="{FF2B5EF4-FFF2-40B4-BE49-F238E27FC236}">
                <a16:creationId xmlns:a16="http://schemas.microsoft.com/office/drawing/2014/main" id="{0ED129F9-86FF-496D-A0A2-AF32C92C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3718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visual-21-11-p19-d2">
            <a:extLst xmlns:a="http://schemas.openxmlformats.org/drawingml/2006/main">
              <a:ext uri="{FF2B5EF4-FFF2-40B4-BE49-F238E27FC236}">
                <a16:creationId xmlns:a16="http://schemas.microsoft.com/office/drawing/2014/main" id="{56D3F81A-4A0D-4DF8-95BC-2925B2CB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补对照 / 指标 / 推翻条件</a:t>
            </a:r>
          </a:p>
        </p:txBody>
      </p:sp>
      <p:sp>
        <p:nvSpPr>
          <p:cNvPr id="18" name="visual-21-12-p19-h3">
            <a:extLst xmlns:a="http://schemas.openxmlformats.org/drawingml/2006/main">
              <a:ext uri="{FF2B5EF4-FFF2-40B4-BE49-F238E27FC236}">
                <a16:creationId xmlns:a16="http://schemas.microsoft.com/office/drawing/2014/main" id="{FD80FFBC-8D7D-4C64-AF47-1A7AB0D8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1477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推导脱离文献</a:t>
            </a:r>
          </a:p>
        </p:txBody>
      </p:sp>
      <p:sp>
        <p:nvSpPr>
          <p:cNvPr id="19" name="visual-21-13-p19-a3">
            <a:extLst xmlns:a="http://schemas.openxmlformats.org/drawingml/2006/main">
              <a:ext uri="{FF2B5EF4-FFF2-40B4-BE49-F238E27FC236}">
                <a16:creationId xmlns:a16="http://schemas.microsoft.com/office/drawing/2014/main" id="{4F168748-D1E9-4642-82A9-C90FD17B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96240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visual-21-14-p19-d3">
            <a:extLst xmlns:a="http://schemas.openxmlformats.org/drawingml/2006/main">
              <a:ext uri="{FF2B5EF4-FFF2-40B4-BE49-F238E27FC236}">
                <a16:creationId xmlns:a16="http://schemas.microsoft.com/office/drawing/2014/main" id="{71350692-C295-4063-886B-469C0BCA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回第 5 课证据地图</a:t>
            </a:r>
          </a:p>
        </p:txBody>
      </p:sp>
      <p:sp>
        <p:nvSpPr>
          <p:cNvPr id="21" name="visual-21-15-p19-h4">
            <a:extLst xmlns:a="http://schemas.openxmlformats.org/drawingml/2006/main">
              <a:ext uri="{FF2B5EF4-FFF2-40B4-BE49-F238E27FC236}">
                <a16:creationId xmlns:a16="http://schemas.microsoft.com/office/drawing/2014/main" id="{CB4A56B2-0F52-4F3E-9961-8094DEB3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05325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失败记录缺失</a:t>
            </a:r>
          </a:p>
        </p:txBody>
      </p:sp>
      <p:sp>
        <p:nvSpPr>
          <p:cNvPr id="22" name="visual-21-16-p19-a4">
            <a:extLst xmlns:a="http://schemas.openxmlformats.org/drawingml/2006/main">
              <a:ext uri="{FF2B5EF4-FFF2-40B4-BE49-F238E27FC236}">
                <a16:creationId xmlns:a16="http://schemas.microsoft.com/office/drawing/2014/main" id="{E7A5BC69-8F4E-44F1-B1BF-8C5240C6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52950"/>
            <a:ext cx="52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3" name="visual-21-17-p19-d4">
            <a:extLst xmlns:a="http://schemas.openxmlformats.org/drawingml/2006/main">
              <a:ext uri="{FF2B5EF4-FFF2-40B4-BE49-F238E27FC236}">
                <a16:creationId xmlns:a16="http://schemas.microsoft.com/office/drawing/2014/main" id="{97A2AE2D-8048-4217-A284-3A1437AC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053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回真实过程：记录死路、处理与回写</a:t>
            </a:r>
          </a:p>
        </p:txBody>
      </p:sp>
      <p:sp>
        <p:nvSpPr>
          <p:cNvPr id="24" name="visual-21-18-p19-check">
            <a:extLst xmlns:a="http://schemas.openxmlformats.org/drawingml/2006/main">
              <a:ext uri="{FF2B5EF4-FFF2-40B4-BE49-F238E27FC236}">
                <a16:creationId xmlns:a16="http://schemas.microsoft.com/office/drawing/2014/main" id="{63F103AE-3332-4535-944B-2973D59A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91125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提交核对：problem-definition.md + failure-log.md；候选题池与选题理由仍是课程扩展字段</a:t>
            </a:r>
          </a:p>
        </p:txBody>
      </p:sp>
      <p:sp>
        <p:nvSpPr>
          <p:cNvPr id="25" name="visual-21-19-p19-bottom">
            <a:extLst xmlns:a="http://schemas.openxmlformats.org/drawingml/2006/main">
              <a:ext uri="{FF2B5EF4-FFF2-40B4-BE49-F238E27FC236}">
                <a16:creationId xmlns:a16="http://schemas.microsoft.com/office/drawing/2014/main" id="{53B539E4-0C08-4CFC-88D4-D564DCA3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5543550"/>
            <a:ext cx="885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未通过：只修复缺失条件，一周内重新检查；不重交无关材料。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7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content-46">
            <a:extLst xmlns:a="http://schemas.openxmlformats.org/drawingml/2006/main">
              <a:ext uri="{FF2B5EF4-FFF2-40B4-BE49-F238E27FC236}">
                <a16:creationId xmlns:a16="http://schemas.microsoft.com/office/drawing/2014/main" id="{FA4F28BA-3ECE-4A16-BFB1-BFE69B724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退出卡：</a:t>
            </a:r>
          </a:p>
        </p:txBody>
      </p:sp>
      <p:sp>
        <p:nvSpPr>
          <p:cNvPr id="7" name="content-47">
            <a:extLst xmlns:a="http://schemas.openxmlformats.org/drawingml/2006/main">
              <a:ext uri="{FF2B5EF4-FFF2-40B4-BE49-F238E27FC236}">
                <a16:creationId xmlns:a16="http://schemas.microsoft.com/office/drawing/2014/main" id="{B34BC4CC-1DC7-458B-8E7C-EE304E3C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当前问题属于主题、问题，还是待验证主张？</a:t>
            </a:r>
          </a:p>
        </p:txBody>
      </p:sp>
      <p:sp>
        <p:nvSpPr>
          <p:cNvPr id="8" name="content-48">
            <a:extLst xmlns:a="http://schemas.openxmlformats.org/drawingml/2006/main">
              <a:ext uri="{FF2B5EF4-FFF2-40B4-BE49-F238E27FC236}">
                <a16:creationId xmlns:a16="http://schemas.microsoft.com/office/drawing/2014/main" id="{5A90122F-75D3-402C-A718-50C5A20B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哪项观察可能推翻主张？</a:t>
            </a:r>
          </a:p>
        </p:txBody>
      </p:sp>
      <p:sp>
        <p:nvSpPr>
          <p:cNvPr id="9" name="content-49">
            <a:extLst xmlns:a="http://schemas.openxmlformats.org/drawingml/2006/main">
              <a:ext uri="{FF2B5EF4-FFF2-40B4-BE49-F238E27FC236}">
                <a16:creationId xmlns:a16="http://schemas.microsoft.com/office/drawing/2014/main" id="{6216A49C-F99C-4D1C-B0D0-B9DFDAE6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九项问题门条件中，最需要补哪一项？</a:t>
            </a:r>
          </a:p>
        </p:txBody>
      </p:sp>
      <p:sp>
        <p:nvSpPr>
          <p:cNvPr id="10" name="content-50">
            <a:extLst xmlns:a="http://schemas.openxmlformats.org/drawingml/2006/main">
              <a:ext uri="{FF2B5EF4-FFF2-40B4-BE49-F238E27FC236}">
                <a16:creationId xmlns:a16="http://schemas.microsoft.com/office/drawing/2014/main" id="{6F2AE119-F49E-4448-BFC8-94D45211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课后提交问题门材料包，包含至少 3 张相关完整精读卡。</a:t>
            </a:r>
          </a:p>
        </p:txBody>
      </p:sp>
      <p:sp>
        <p:nvSpPr>
          <p:cNvPr id="11" name="content-51">
            <a:extLst xmlns:a="http://schemas.openxmlformats.org/drawingml/2006/main">
              <a:ext uri="{FF2B5EF4-FFF2-40B4-BE49-F238E27FC236}">
                <a16:creationId xmlns:a16="http://schemas.microsoft.com/office/drawing/2014/main" id="{7B25087A-5C5C-45FA-A72D-87E9C61A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7 课：机制假设、研究判断与实验设计。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2026-09-16T01:34:10.7640000Z</dcterms:created>
  <dcterms:modified xsi:type="dcterms:W3CDTF">2026-09-16T01:34:10.7640000Z</dcterms:modified>
</coreProperties>
</file>