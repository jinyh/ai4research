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1a95c5ae41496e" /><Relationship Type="http://schemas.openxmlformats.org/officeDocument/2006/relationships/extended-properties" Target="/docProps/app.xml" Id="Rb18fe73895cf40d5" /><Relationship Type="http://schemas.openxmlformats.org/officeDocument/2006/relationships/officeDocument" Target="/ppt/presentation.xml" Id="Rb55fb949aaf44f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54afdf763a4031"/>
  </p:sldMasterIdLst>
  <p:notesMasterIdLst>
    <p:notesMasterId xmlns:r="http://schemas.openxmlformats.org/officeDocument/2006/relationships" r:id="R93efaa38cff24399"/>
  </p:notesMasterIdLst>
  <p:sldIdLst>
    <p:sldId xmlns:r="http://schemas.openxmlformats.org/officeDocument/2006/relationships" id="256" r:id="R31fe9051c84f4c7f"/>
    <p:sldId xmlns:r="http://schemas.openxmlformats.org/officeDocument/2006/relationships" id="257" r:id="R56dc0ae13c8e4eef"/>
    <p:sldId xmlns:r="http://schemas.openxmlformats.org/officeDocument/2006/relationships" id="258" r:id="Rc2f21dc986164cd5"/>
    <p:sldId xmlns:r="http://schemas.openxmlformats.org/officeDocument/2006/relationships" id="259" r:id="Rc8021bc331bf4e37"/>
    <p:sldId xmlns:r="http://schemas.openxmlformats.org/officeDocument/2006/relationships" id="260" r:id="R6c69ce975d47431d"/>
    <p:sldId xmlns:r="http://schemas.openxmlformats.org/officeDocument/2006/relationships" id="261" r:id="R871e99c8cfd44164"/>
    <p:sldId xmlns:r="http://schemas.openxmlformats.org/officeDocument/2006/relationships" id="262" r:id="Raaa3cd008bf2468f"/>
    <p:sldId xmlns:r="http://schemas.openxmlformats.org/officeDocument/2006/relationships" id="263" r:id="Recfc98b6100c4a27"/>
    <p:sldId xmlns:r="http://schemas.openxmlformats.org/officeDocument/2006/relationships" id="264" r:id="R36559f38a1c84c9f"/>
    <p:sldId xmlns:r="http://schemas.openxmlformats.org/officeDocument/2006/relationships" id="265" r:id="Rfd96a2c6c4e74887"/>
    <p:sldId xmlns:r="http://schemas.openxmlformats.org/officeDocument/2006/relationships" id="266" r:id="R9fbefa3fe6f54805"/>
    <p:sldId xmlns:r="http://schemas.openxmlformats.org/officeDocument/2006/relationships" id="267" r:id="R153a1ce4f92e40d9"/>
    <p:sldId xmlns:r="http://schemas.openxmlformats.org/officeDocument/2006/relationships" id="268" r:id="Rbbf9341e30804893"/>
    <p:sldId xmlns:r="http://schemas.openxmlformats.org/officeDocument/2006/relationships" id="269" r:id="Rea1856a2d5fd40cf"/>
    <p:sldId xmlns:r="http://schemas.openxmlformats.org/officeDocument/2006/relationships" id="270" r:id="Ree152d488cd3407f"/>
    <p:sldId xmlns:r="http://schemas.openxmlformats.org/officeDocument/2006/relationships" id="271" r:id="R6aa86859ee804bc0"/>
    <p:sldId xmlns:r="http://schemas.openxmlformats.org/officeDocument/2006/relationships" id="272" r:id="R07a2e092be154e27"/>
    <p:sldId xmlns:r="http://schemas.openxmlformats.org/officeDocument/2006/relationships" id="273" r:id="R26ed43855aeb4794"/>
    <p:sldId xmlns:r="http://schemas.openxmlformats.org/officeDocument/2006/relationships" id="274" r:id="Ref1cbdc17c384281"/>
    <p:sldId xmlns:r="http://schemas.openxmlformats.org/officeDocument/2006/relationships" id="275" r:id="R2de3a00ee04f4caa"/>
    <p:sldId xmlns:r="http://schemas.openxmlformats.org/officeDocument/2006/relationships" id="276" r:id="R307c354e5fb44d9f"/>
    <p:sldId xmlns:r="http://schemas.openxmlformats.org/officeDocument/2006/relationships" id="277" r:id="R04d8d8084c724c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aa0d27a2994a40" /><Relationship Type="http://schemas.openxmlformats.org/officeDocument/2006/relationships/slideMaster" Target="/ppt/slideMasters/slideMaster1.xml" Id="R4154afdf763a4031" /><Relationship Type="http://schemas.openxmlformats.org/officeDocument/2006/relationships/notesMaster" Target="/ppt/notesMasters/notesMaster1.xml" Id="R93efaa38cff24399" /><Relationship Type="http://schemas.openxmlformats.org/officeDocument/2006/relationships/presProps" Target="/ppt/presProps.xml" Id="R20a772babd3a4ffe" /><Relationship Type="http://schemas.openxmlformats.org/officeDocument/2006/relationships/viewProps" Target="/ppt/viewProps.xml" Id="R8fad98eed9244be9" /><Relationship Type="http://schemas.openxmlformats.org/officeDocument/2006/relationships/tableStyles" Target="/ppt/tableStyles.xml" Id="R8b4b2ff8120a45ee" /><Relationship Type="http://schemas.openxmlformats.org/officeDocument/2006/relationships/slide" Target="/ppt/slides/slide1.xml" Id="R31fe9051c84f4c7f" /><Relationship Type="http://schemas.openxmlformats.org/officeDocument/2006/relationships/slide" Target="/ppt/slides/slide2.xml" Id="R56dc0ae13c8e4eef" /><Relationship Type="http://schemas.openxmlformats.org/officeDocument/2006/relationships/slide" Target="/ppt/slides/slide3.xml" Id="Rc2f21dc986164cd5" /><Relationship Type="http://schemas.openxmlformats.org/officeDocument/2006/relationships/slide" Target="/ppt/slides/slide4.xml" Id="Rc8021bc331bf4e37" /><Relationship Type="http://schemas.openxmlformats.org/officeDocument/2006/relationships/slide" Target="/ppt/slides/slide5.xml" Id="R6c69ce975d47431d" /><Relationship Type="http://schemas.openxmlformats.org/officeDocument/2006/relationships/slide" Target="/ppt/slides/slide6.xml" Id="R871e99c8cfd44164" /><Relationship Type="http://schemas.openxmlformats.org/officeDocument/2006/relationships/slide" Target="/ppt/slides/slide7.xml" Id="Raaa3cd008bf2468f" /><Relationship Type="http://schemas.openxmlformats.org/officeDocument/2006/relationships/slide" Target="/ppt/slides/slide8.xml" Id="Recfc98b6100c4a27" /><Relationship Type="http://schemas.openxmlformats.org/officeDocument/2006/relationships/slide" Target="/ppt/slides/slide9.xml" Id="R36559f38a1c84c9f" /><Relationship Type="http://schemas.openxmlformats.org/officeDocument/2006/relationships/slide" Target="/ppt/slides/slide10.xml" Id="Rfd96a2c6c4e74887" /><Relationship Type="http://schemas.openxmlformats.org/officeDocument/2006/relationships/slide" Target="/ppt/slides/slide11.xml" Id="R9fbefa3fe6f54805" /><Relationship Type="http://schemas.openxmlformats.org/officeDocument/2006/relationships/slide" Target="/ppt/slides/slide12.xml" Id="R153a1ce4f92e40d9" /><Relationship Type="http://schemas.openxmlformats.org/officeDocument/2006/relationships/slide" Target="/ppt/slides/slide13.xml" Id="Rbbf9341e30804893" /><Relationship Type="http://schemas.openxmlformats.org/officeDocument/2006/relationships/slide" Target="/ppt/slides/slide14.xml" Id="Rea1856a2d5fd40cf" /><Relationship Type="http://schemas.openxmlformats.org/officeDocument/2006/relationships/slide" Target="/ppt/slides/slide15.xml" Id="Ree152d488cd3407f" /><Relationship Type="http://schemas.openxmlformats.org/officeDocument/2006/relationships/slide" Target="/ppt/slides/slide16.xml" Id="R6aa86859ee804bc0" /><Relationship Type="http://schemas.openxmlformats.org/officeDocument/2006/relationships/slide" Target="/ppt/slides/slide17.xml" Id="R07a2e092be154e27" /><Relationship Type="http://schemas.openxmlformats.org/officeDocument/2006/relationships/slide" Target="/ppt/slides/slide18.xml" Id="R26ed43855aeb4794" /><Relationship Type="http://schemas.openxmlformats.org/officeDocument/2006/relationships/slide" Target="/ppt/slides/slide19.xml" Id="Ref1cbdc17c384281" /><Relationship Type="http://schemas.openxmlformats.org/officeDocument/2006/relationships/slide" Target="/ppt/slides/slide20.xml" Id="R2de3a00ee04f4caa" /><Relationship Type="http://schemas.openxmlformats.org/officeDocument/2006/relationships/slide" Target="/ppt/slides/slide21.xml" Id="R307c354e5fb44d9f" /><Relationship Type="http://schemas.openxmlformats.org/officeDocument/2006/relationships/slide" Target="/ppt/slides/slide22.xml" Id="R04d8d8084c724c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5a1231fd6641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9e612839314d46" /><Relationship Type="http://schemas.openxmlformats.org/officeDocument/2006/relationships/notesMaster" Target="/ppt/notesMasters/notesMaster1.xml" Id="R70f741f5da1c49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72e521be6a45d4" /><Relationship Type="http://schemas.openxmlformats.org/officeDocument/2006/relationships/notesMaster" Target="/ppt/notesMasters/notesMaster1.xml" Id="R7f4468d6b34c40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6fbae1d56a4b36" /><Relationship Type="http://schemas.openxmlformats.org/officeDocument/2006/relationships/notesMaster" Target="/ppt/notesMasters/notesMaster1.xml" Id="R42e87c6c2f0c41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5eb06885ad4a19" /><Relationship Type="http://schemas.openxmlformats.org/officeDocument/2006/relationships/notesMaster" Target="/ppt/notesMasters/notesMaster1.xml" Id="R6940fb8c655743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cd92caa5cb4562" /><Relationship Type="http://schemas.openxmlformats.org/officeDocument/2006/relationships/notesMaster" Target="/ppt/notesMasters/notesMaster1.xml" Id="R878caf40d27848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637bdd0bbb4b57" /><Relationship Type="http://schemas.openxmlformats.org/officeDocument/2006/relationships/notesMaster" Target="/ppt/notesMasters/notesMaster1.xml" Id="R031a3a33e0e645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f415d6f8404f14" /><Relationship Type="http://schemas.openxmlformats.org/officeDocument/2006/relationships/notesMaster" Target="/ppt/notesMasters/notesMaster1.xml" Id="R51b4730a7e6843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e3395f3d844d09" /><Relationship Type="http://schemas.openxmlformats.org/officeDocument/2006/relationships/notesMaster" Target="/ppt/notesMasters/notesMaster1.xml" Id="R41a76193556749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d19d4af2f04342" /><Relationship Type="http://schemas.openxmlformats.org/officeDocument/2006/relationships/notesMaster" Target="/ppt/notesMasters/notesMaster1.xml" Id="R31351daa6eea4c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6ecb14631d4cca" /><Relationship Type="http://schemas.openxmlformats.org/officeDocument/2006/relationships/notesMaster" Target="/ppt/notesMasters/notesMaster1.xml" Id="R677a2ea8cb224a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c8f4c5b84a4d2e" /><Relationship Type="http://schemas.openxmlformats.org/officeDocument/2006/relationships/notesMaster" Target="/ppt/notesMasters/notesMaster1.xml" Id="R0527fd6b46534c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dfffaea7694604" /><Relationship Type="http://schemas.openxmlformats.org/officeDocument/2006/relationships/notesMaster" Target="/ppt/notesMasters/notesMaster1.xml" Id="R71866654b6084e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34ff351c094fb1" /><Relationship Type="http://schemas.openxmlformats.org/officeDocument/2006/relationships/notesMaster" Target="/ppt/notesMasters/notesMaster1.xml" Id="R16721b955e95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f13cd92851443f" /><Relationship Type="http://schemas.openxmlformats.org/officeDocument/2006/relationships/notesMaster" Target="/ppt/notesMasters/notesMaster1.xml" Id="Rd8688cfe8be2425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923bf66efb64102" /><Relationship Type="http://schemas.openxmlformats.org/officeDocument/2006/relationships/notesMaster" Target="/ppt/notesMasters/notesMaster1.xml" Id="R07224c95adbd4c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ae0cdaf60b145fe" /><Relationship Type="http://schemas.openxmlformats.org/officeDocument/2006/relationships/notesMaster" Target="/ppt/notesMasters/notesMaster1.xml" Id="R21ef8a5f9adb483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8a4c54b98ba4fd4" /><Relationship Type="http://schemas.openxmlformats.org/officeDocument/2006/relationships/notesMaster" Target="/ppt/notesMasters/notesMaster1.xml" Id="R9440ca3684f1408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748a8e78a4749d8" /><Relationship Type="http://schemas.openxmlformats.org/officeDocument/2006/relationships/notesMaster" Target="/ppt/notesMasters/notesMaster1.xml" Id="R9e105c864dac4e0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00ead3862844a2a" /><Relationship Type="http://schemas.openxmlformats.org/officeDocument/2006/relationships/notesMaster" Target="/ppt/notesMasters/notesMaster1.xml" Id="R364094dde1d8400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b4339eb19724121" /><Relationship Type="http://schemas.openxmlformats.org/officeDocument/2006/relationships/notesMaster" Target="/ppt/notesMasters/notesMaster1.xml" Id="Rdeedbdee1f55417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9ee0fb77207408a" /><Relationship Type="http://schemas.openxmlformats.org/officeDocument/2006/relationships/notesMaster" Target="/ppt/notesMasters/notesMaster1.xml" Id="Ra43def07050e4c1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0cf1442c2f248e5" /><Relationship Type="http://schemas.openxmlformats.org/officeDocument/2006/relationships/notesMaster" Target="/ppt/notesMasters/notesMaster1.xml" Id="Rafad8b625d7049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页面标题：第6讲 研究问题、问题定义与第一性原理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 5 课之后，研究空白候选如何变成问题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页面标题：本课目标与课堂产出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页面标题：主题、研究问题还是待验证主张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页面标题：从研究空白到结构性问题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页面标题：用 So what? / Who cares? 检查重要性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页面标题：问题来源交叉检查与四维选题标准卡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页面标题：用非例界定问题边界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页面标题：非例的三种常见错误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页面标题：把宽泛主张改写为可证伪命题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页面标题：给第 7 课留下替代解释标记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页面标题：第一性原理不是脱离证据的捷径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页面标题：第一性原理四步推导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页面标题：贯穿案例：把前提移交给第 7–9 课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页面标题：问题门九项条件自查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页面标题：门条件自查：失败记录也要回写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页面标题：个人实践：选题、边界与一个待验证前提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页面标题：实践停留页：问题定义与推导最小闭环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页面标题：同伴互查：只提问题，由作者决定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页面标题：本讲知识点总结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页面标题：问题门提交与失败回退路径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页面标题：退出卡与第 7 课预告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a30bc9c1264dce" /><Relationship Type="http://schemas.openxmlformats.org/officeDocument/2006/relationships/image" Target="/ppt/media/image.png" Id="R3dfb1fe6c3ce460a" /><Relationship Type="http://schemas.openxmlformats.org/officeDocument/2006/relationships/image" Target="/ppt/media/image2.png" Id="R696b542d6ccf4c9d" /><Relationship Type="http://schemas.openxmlformats.org/officeDocument/2006/relationships/image" Target="/ppt/media/image3.png" Id="Rd92c3e7c09f34c5b" /><Relationship Type="http://schemas.openxmlformats.org/officeDocument/2006/relationships/image" Target="/ppt/media/image4.png" Id="Ra4944a3968e0443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0ecdf2103043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dd2872d23a4a51" /><Relationship Type="http://schemas.openxmlformats.org/officeDocument/2006/relationships/image" Target="/ppt/media/image2.png" Id="Rd1129db7bea344b5" /><Relationship Type="http://schemas.openxmlformats.org/officeDocument/2006/relationships/image" Target="/ppt/media/image5.png" Id="R2dc3fbcead3449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a566338a284b25" /><Relationship Type="http://schemas.openxmlformats.org/officeDocument/2006/relationships/image" Target="/ppt/media/image.png" Id="R07bbf48d01b44f2b" /><Relationship Type="http://schemas.openxmlformats.org/officeDocument/2006/relationships/image" Target="/ppt/media/image3.png" Id="R3ee947f2113c452e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b1fe6c3ce460a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6b542d6ccf4c9d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2c3e7c09f34c5b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44a3968e04435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129db7bea344b5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3fbcead3449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bf48d01b44f2b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e947f2113c452e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581178e6cb4973" /><Relationship Type="http://schemas.openxmlformats.org/officeDocument/2006/relationships/slideLayout" Target="/ppt/slideLayouts/slideLayout1.xml" Id="R02bb6bae05b44f95" /><Relationship Type="http://schemas.openxmlformats.org/officeDocument/2006/relationships/slideLayout" Target="/ppt/slideLayouts/slideLayout2.xml" Id="R01f1d322e1004373" /><Relationship Type="http://schemas.openxmlformats.org/officeDocument/2006/relationships/slideLayout" Target="/ppt/slideLayouts/slideLayout3.xml" Id="Rb9c1f2b8110f48f2" /><Relationship Type="http://schemas.openxmlformats.org/officeDocument/2006/relationships/slideLayout" Target="/ppt/slideLayouts/slideLayout4.xml" Id="R3022b0717d34471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bb6bae05b44f95"/>
    <p:sldLayoutId xmlns:r="http://schemas.openxmlformats.org/officeDocument/2006/relationships" id="2147483650" r:id="R01f1d322e1004373"/>
    <p:sldLayoutId xmlns:r="http://schemas.openxmlformats.org/officeDocument/2006/relationships" id="2147483651" r:id="Rb9c1f2b8110f48f2"/>
    <p:sldLayoutId xmlns:r="http://schemas.openxmlformats.org/officeDocument/2006/relationships" id="2147483652" r:id="R3022b0717d34471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b9c682d16b4b12" /><Relationship Type="http://schemas.openxmlformats.org/officeDocument/2006/relationships/notesSlide" Target="/ppt/notesSlides/notesSlide1.xml" Id="R3477d3ff96e34d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119e045ab664bd9" /><Relationship Type="http://schemas.openxmlformats.org/officeDocument/2006/relationships/notesSlide" Target="/ppt/notesSlides/notesSlide2.xml" Id="R3c941feead7f4e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a7c1c3495d4c25" /><Relationship Type="http://schemas.openxmlformats.org/officeDocument/2006/relationships/notesSlide" Target="/ppt/notesSlides/notesSlide3.xml" Id="Raaf264aea35047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5a2cfaba705454c" /><Relationship Type="http://schemas.openxmlformats.org/officeDocument/2006/relationships/notesSlide" Target="/ppt/notesSlides/notesSlide4.xml" Id="R6cdd5d05957146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068f7e3503c412f" /><Relationship Type="http://schemas.openxmlformats.org/officeDocument/2006/relationships/notesSlide" Target="/ppt/notesSlides/notesSlide5.xml" Id="Ra85ac026239d49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0c5256d770f4310" /><Relationship Type="http://schemas.openxmlformats.org/officeDocument/2006/relationships/notesSlide" Target="/ppt/notesSlides/notesSlide6.xml" Id="Rd40a394ef4f549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5bc6404c854c02" /><Relationship Type="http://schemas.openxmlformats.org/officeDocument/2006/relationships/notesSlide" Target="/ppt/notesSlides/notesSlide7.xml" Id="R3f37a1a6b5874d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69720e93d24de4" /><Relationship Type="http://schemas.openxmlformats.org/officeDocument/2006/relationships/notesSlide" Target="/ppt/notesSlides/notesSlide8.xml" Id="Re1f4436be7fa48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c5c05370f04b2e" /><Relationship Type="http://schemas.openxmlformats.org/officeDocument/2006/relationships/notesSlide" Target="/ppt/notesSlides/notesSlide9.xml" Id="Rc0282c19c7704a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2697ef4f0d64b20" /><Relationship Type="http://schemas.openxmlformats.org/officeDocument/2006/relationships/notesSlide" Target="/ppt/notesSlides/notesSlide10.xml" Id="Rc384396e680d42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f3c3a652b7f4cf8" /><Relationship Type="http://schemas.openxmlformats.org/officeDocument/2006/relationships/notesSlide" Target="/ppt/notesSlides/notesSlide11.xml" Id="Recfb65bdfbd648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580df5ece044fd" /><Relationship Type="http://schemas.openxmlformats.org/officeDocument/2006/relationships/notesSlide" Target="/ppt/notesSlides/notesSlide12.xml" Id="Re62be2d8eed24d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272206704324741" /><Relationship Type="http://schemas.openxmlformats.org/officeDocument/2006/relationships/notesSlide" Target="/ppt/notesSlides/notesSlide13.xml" Id="R2926fd0843e041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f4db9711c034ba3" /><Relationship Type="http://schemas.openxmlformats.org/officeDocument/2006/relationships/notesSlide" Target="/ppt/notesSlides/notesSlide14.xml" Id="R6761387ae0bc4fb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efcba99d094b72" /><Relationship Type="http://schemas.openxmlformats.org/officeDocument/2006/relationships/notesSlide" Target="/ppt/notesSlides/notesSlide15.xml" Id="Rc8109a803e6a4b0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26a040f09744bb" /><Relationship Type="http://schemas.openxmlformats.org/officeDocument/2006/relationships/notesSlide" Target="/ppt/notesSlides/notesSlide16.xml" Id="R1aaf79f0bf394ca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9593a6c893744d6" /><Relationship Type="http://schemas.openxmlformats.org/officeDocument/2006/relationships/notesSlide" Target="/ppt/notesSlides/notesSlide17.xml" Id="Rc0271861ac8a465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5e761ee02dd4bd1" /><Relationship Type="http://schemas.openxmlformats.org/officeDocument/2006/relationships/notesSlide" Target="/ppt/notesSlides/notesSlide18.xml" Id="R3298925b27d441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aec3e9c8620462d" /><Relationship Type="http://schemas.openxmlformats.org/officeDocument/2006/relationships/notesSlide" Target="/ppt/notesSlides/notesSlide19.xml" Id="R1641c3701e80495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9fd5c3db3e41b7" /><Relationship Type="http://schemas.openxmlformats.org/officeDocument/2006/relationships/notesSlide" Target="/ppt/notesSlides/notesSlide20.xml" Id="R9f151fe9d8d94ee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0ca42c56dad4d55" /><Relationship Type="http://schemas.openxmlformats.org/officeDocument/2006/relationships/notesSlide" Target="/ppt/notesSlides/notesSlide21.xml" Id="R651d4a5c69b7458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b61787d5b3e417e" /><Relationship Type="http://schemas.openxmlformats.org/officeDocument/2006/relationships/notesSlide" Target="/ppt/notesSlides/notesSlide22.xml" Id="R2d6bc7647e714f6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第6讲 研究问题、问题定义与第一性原理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5 课之后，研究空白候选如何变成问题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visual-2-0-p02-have">
            <a:extLst xmlns:a="http://schemas.openxmlformats.org/drawingml/2006/main">
              <a:ext uri="{FF2B5EF4-FFF2-40B4-BE49-F238E27FC236}">
                <a16:creationId xmlns:a16="http://schemas.microsoft.com/office/drawing/2014/main" id="{0C2A5C8F-FD22-42DC-A3DF-FC428024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5 课已经建立</a:t>
            </a:r>
          </a:p>
        </p:txBody>
      </p:sp>
      <p:sp>
        <p:nvSpPr>
          <p:cNvPr id="7" name="visual-2-1-p02-h0">
            <a:extLst xmlns:a="http://schemas.openxmlformats.org/drawingml/2006/main">
              <a:ext uri="{FF2B5EF4-FFF2-40B4-BE49-F238E27FC236}">
                <a16:creationId xmlns:a16="http://schemas.microsoft.com/office/drawing/2014/main" id="{F8761783-60F3-4A63-A7D9-BB7CE620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证据地图：直接 / 补充 / 冲突 / 空白</a:t>
            </a:r>
          </a:p>
        </p:txBody>
      </p:sp>
      <p:sp>
        <p:nvSpPr>
          <p:cNvPr id="8" name="visual-2-2-p02-h1">
            <a:extLst xmlns:a="http://schemas.openxmlformats.org/drawingml/2006/main">
              <a:ext uri="{FF2B5EF4-FFF2-40B4-BE49-F238E27FC236}">
                <a16:creationId xmlns:a16="http://schemas.microsoft.com/office/drawing/2014/main" id="{16898670-B738-4523-B65C-15D3F719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空白候选：真实性 / 重要性 / 可行性</a:t>
            </a:r>
          </a:p>
        </p:txBody>
      </p:sp>
      <p:sp>
        <p:nvSpPr>
          <p:cNvPr id="9" name="visual-2-3-p02-a">
            <a:extLst xmlns:a="http://schemas.openxmlformats.org/drawingml/2006/main">
              <a:ext uri="{FF2B5EF4-FFF2-40B4-BE49-F238E27FC236}">
                <a16:creationId xmlns:a16="http://schemas.microsoft.com/office/drawing/2014/main" id="{FC116EDC-0801-40DB-B9A4-F92D6338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71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-4-p02-miss">
            <a:extLst xmlns:a="http://schemas.openxmlformats.org/drawingml/2006/main">
              <a:ext uri="{FF2B5EF4-FFF2-40B4-BE49-F238E27FC236}">
                <a16:creationId xmlns:a16="http://schemas.microsoft.com/office/drawing/2014/main" id="{75C9F45A-A7DE-434B-9605-CF8B2148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715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本课仍需回答</a:t>
            </a:r>
          </a:p>
        </p:txBody>
      </p:sp>
      <p:sp>
        <p:nvSpPr>
          <p:cNvPr id="11" name="visual-2-5-p02-m0">
            <a:extLst xmlns:a="http://schemas.openxmlformats.org/drawingml/2006/main">
              <a:ext uri="{FF2B5EF4-FFF2-40B4-BE49-F238E27FC236}">
                <a16:creationId xmlns:a16="http://schemas.microsoft.com/office/drawing/2014/main" id="{5E8C6A82-43EE-43D3-BBC8-A1D8DD2B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6192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问什么？边界在哪里？</a:t>
            </a:r>
          </a:p>
        </p:txBody>
      </p:sp>
      <p:sp>
        <p:nvSpPr>
          <p:cNvPr id="12" name="visual-2-6-p02-m1">
            <a:extLst xmlns:a="http://schemas.openxmlformats.org/drawingml/2006/main">
              <a:ext uri="{FF2B5EF4-FFF2-40B4-BE49-F238E27FC236}">
                <a16:creationId xmlns:a16="http://schemas.microsoft.com/office/drawing/2014/main" id="{6D9FBE60-F85A-4339-B8A9-5D537B49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42887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什么结果会推翻主张？</a:t>
            </a:r>
          </a:p>
        </p:txBody>
      </p:sp>
      <p:sp>
        <p:nvSpPr>
          <p:cNvPr id="13" name="visual-2-7-p02-m2">
            <a:extLst xmlns:a="http://schemas.openxmlformats.org/drawingml/2006/main">
              <a:ext uri="{FF2B5EF4-FFF2-40B4-BE49-F238E27FC236}">
                <a16:creationId xmlns:a16="http://schemas.microsoft.com/office/drawing/2014/main" id="{56C2C6F8-787F-453E-A792-691A72F5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23850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哪些前提仍待外部检验？</a:t>
            </a:r>
          </a:p>
        </p:txBody>
      </p:sp>
      <p:sp>
        <p:nvSpPr>
          <p:cNvPr id="14" name="visual-2-8-p02-bottom">
            <a:extLst xmlns:a="http://schemas.openxmlformats.org/drawingml/2006/main">
              <a:ext uri="{FF2B5EF4-FFF2-40B4-BE49-F238E27FC236}">
                <a16:creationId xmlns:a16="http://schemas.microsoft.com/office/drawing/2014/main" id="{F8DC9890-81AA-4ECC-AF6C-311CD487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00625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快问：你的候选现在是“空格描述”，还是“可检验问题”？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visual-3-0-p03-n0">
            <a:extLst xmlns:a="http://schemas.openxmlformats.org/drawingml/2006/main">
              <a:ext uri="{FF2B5EF4-FFF2-40B4-BE49-F238E27FC236}">
                <a16:creationId xmlns:a16="http://schemas.microsoft.com/office/drawing/2014/main" id="{7957C2A0-EACE-4A4F-8069-781082DA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3-1-p03-g0">
            <a:extLst xmlns:a="http://schemas.openxmlformats.org/drawingml/2006/main">
              <a:ext uri="{FF2B5EF4-FFF2-40B4-BE49-F238E27FC236}">
                <a16:creationId xmlns:a16="http://schemas.microsoft.com/office/drawing/2014/main" id="{4D172074-C1AA-46F1-A01D-2674BAC4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结构性问题</a:t>
            </a:r>
          </a:p>
        </p:txBody>
      </p:sp>
      <p:sp>
        <p:nvSpPr>
          <p:cNvPr id="8" name="visual-3-2-p03-n1">
            <a:extLst xmlns:a="http://schemas.openxmlformats.org/drawingml/2006/main">
              <a:ext uri="{FF2B5EF4-FFF2-40B4-BE49-F238E27FC236}">
                <a16:creationId xmlns:a16="http://schemas.microsoft.com/office/drawing/2014/main" id="{8865A8EC-60AE-4132-B8E1-C6C2157B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00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3-3-p03-g1">
            <a:extLst xmlns:a="http://schemas.openxmlformats.org/drawingml/2006/main">
              <a:ext uri="{FF2B5EF4-FFF2-40B4-BE49-F238E27FC236}">
                <a16:creationId xmlns:a16="http://schemas.microsoft.com/office/drawing/2014/main" id="{BEC6E2C8-76AE-4CC7-866B-E1A22D8B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1239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非例边界</a:t>
            </a:r>
          </a:p>
        </p:txBody>
      </p:sp>
      <p:sp>
        <p:nvSpPr>
          <p:cNvPr id="10" name="visual-3-4-p03-n2">
            <a:extLst xmlns:a="http://schemas.openxmlformats.org/drawingml/2006/main">
              <a:ext uri="{FF2B5EF4-FFF2-40B4-BE49-F238E27FC236}">
                <a16:creationId xmlns:a16="http://schemas.microsoft.com/office/drawing/2014/main" id="{130C26C6-A922-42CF-A2A6-811DAB4D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00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3-5-p03-g2">
            <a:extLst xmlns:a="http://schemas.openxmlformats.org/drawingml/2006/main">
              <a:ext uri="{FF2B5EF4-FFF2-40B4-BE49-F238E27FC236}">
                <a16:creationId xmlns:a16="http://schemas.microsoft.com/office/drawing/2014/main" id="{553DD785-660D-467B-85AA-AA924794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1239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可证伪命题</a:t>
            </a:r>
          </a:p>
        </p:txBody>
      </p:sp>
      <p:sp>
        <p:nvSpPr>
          <p:cNvPr id="12" name="visual-3-6-p03-n3">
            <a:extLst xmlns:a="http://schemas.openxmlformats.org/drawingml/2006/main">
              <a:ext uri="{FF2B5EF4-FFF2-40B4-BE49-F238E27FC236}">
                <a16:creationId xmlns:a16="http://schemas.microsoft.com/office/drawing/2014/main" id="{5B0FF6F5-0BE8-4ED3-A63B-39272049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52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3-7-p03-g3">
            <a:extLst xmlns:a="http://schemas.openxmlformats.org/drawingml/2006/main">
              <a:ext uri="{FF2B5EF4-FFF2-40B4-BE49-F238E27FC236}">
                <a16:creationId xmlns:a16="http://schemas.microsoft.com/office/drawing/2014/main" id="{F82F08B3-FE89-49FD-8A8C-F23EAA06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764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第一性原理推导</a:t>
            </a:r>
          </a:p>
        </p:txBody>
      </p:sp>
      <p:sp>
        <p:nvSpPr>
          <p:cNvPr id="14" name="visual-3-8-p03-n4">
            <a:extLst xmlns:a="http://schemas.openxmlformats.org/drawingml/2006/main">
              <a:ext uri="{FF2B5EF4-FFF2-40B4-BE49-F238E27FC236}">
                <a16:creationId xmlns:a16="http://schemas.microsoft.com/office/drawing/2014/main" id="{E2E326AA-81C0-4AE3-ABCF-E527FFBD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52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visual-3-9-p03-g4">
            <a:extLst xmlns:a="http://schemas.openxmlformats.org/drawingml/2006/main">
              <a:ext uri="{FF2B5EF4-FFF2-40B4-BE49-F238E27FC236}">
                <a16:creationId xmlns:a16="http://schemas.microsoft.com/office/drawing/2014/main" id="{5883A3BE-68F1-4C9F-8E9B-F0D04CE8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764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来源交叉检查 + 重要性</a:t>
            </a:r>
          </a:p>
        </p:txBody>
      </p:sp>
      <p:sp>
        <p:nvSpPr>
          <p:cNvPr id="16" name="visual-3-10-p03-n5">
            <a:extLst xmlns:a="http://schemas.openxmlformats.org/drawingml/2006/main">
              <a:ext uri="{FF2B5EF4-FFF2-40B4-BE49-F238E27FC236}">
                <a16:creationId xmlns:a16="http://schemas.microsoft.com/office/drawing/2014/main" id="{95CEDE7D-4B84-457C-A253-C98C744C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7" name="visual-3-11-p03-g5">
            <a:extLst xmlns:a="http://schemas.openxmlformats.org/drawingml/2006/main">
              <a:ext uri="{FF2B5EF4-FFF2-40B4-BE49-F238E27FC236}">
                <a16:creationId xmlns:a16="http://schemas.microsoft.com/office/drawing/2014/main" id="{6202C148-8A79-4F71-8062-6BECBBF6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0764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候选题比较与门自查</a:t>
            </a:r>
          </a:p>
        </p:txBody>
      </p:sp>
      <p:sp>
        <p:nvSpPr>
          <p:cNvPr id="18" name="visual-3-12-p03-output">
            <a:extLst xmlns:a="http://schemas.openxmlformats.org/drawingml/2006/main">
              <a:ext uri="{FF2B5EF4-FFF2-40B4-BE49-F238E27FC236}">
                <a16:creationId xmlns:a16="http://schemas.microsoft.com/office/drawing/2014/main" id="{12DE893E-32EB-4BC8-8760-EBE0EAC0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476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课堂最小产出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更新版 +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第一性原理推导初版</a:t>
            </a:r>
          </a:p>
        </p:txBody>
      </p:sp>
      <p:sp>
        <p:nvSpPr>
          <p:cNvPr id="19" name="visual-3-13-p03-gate">
            <a:extLst xmlns:a="http://schemas.openxmlformats.org/drawingml/2006/main">
              <a:ext uri="{FF2B5EF4-FFF2-40B4-BE49-F238E27FC236}">
                <a16:creationId xmlns:a16="http://schemas.microsoft.com/office/drawing/2014/main" id="{BE3D09C9-AF76-453D-91BF-25A6DC5C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05250"/>
            <a:ext cx="885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课后只提交一次问题门材料包；不重做已通过的累计工件。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主题、研究问题还是待验证主张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visual-4-0-p04-h0">
            <a:extLst xmlns:a="http://schemas.openxmlformats.org/drawingml/2006/main">
              <a:ext uri="{FF2B5EF4-FFF2-40B4-BE49-F238E27FC236}">
                <a16:creationId xmlns:a16="http://schemas.microsoft.com/office/drawing/2014/main" id="{09CB8D2F-51AA-4DC1-A3C5-46F01574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层次</a:t>
            </a:r>
          </a:p>
        </p:txBody>
      </p:sp>
      <p:sp>
        <p:nvSpPr>
          <p:cNvPr id="7" name="visual-4-1-p04-h1">
            <a:extLst xmlns:a="http://schemas.openxmlformats.org/drawingml/2006/main">
              <a:ext uri="{FF2B5EF4-FFF2-40B4-BE49-F238E27FC236}">
                <a16:creationId xmlns:a16="http://schemas.microsoft.com/office/drawing/2014/main" id="{94F779DE-B60B-49B9-8DA9-5507F236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238250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典型表述</a:t>
            </a:r>
          </a:p>
        </p:txBody>
      </p:sp>
      <p:sp>
        <p:nvSpPr>
          <p:cNvPr id="8" name="visual-4-2-p04-h2">
            <a:extLst xmlns:a="http://schemas.openxmlformats.org/drawingml/2006/main">
              <a:ext uri="{FF2B5EF4-FFF2-40B4-BE49-F238E27FC236}">
                <a16:creationId xmlns:a16="http://schemas.microsoft.com/office/drawing/2014/main" id="{5D74E568-A952-44BD-AE51-0D489EFB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2382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仍缺什么</a:t>
            </a:r>
          </a:p>
        </p:txBody>
      </p:sp>
      <p:sp>
        <p:nvSpPr>
          <p:cNvPr id="9" name="visual-4-3-p04-r0-0">
            <a:extLst xmlns:a="http://schemas.openxmlformats.org/drawingml/2006/main">
              <a:ext uri="{FF2B5EF4-FFF2-40B4-BE49-F238E27FC236}">
                <a16:creationId xmlns:a16="http://schemas.microsoft.com/office/drawing/2014/main" id="{37CAC32C-E1EC-46E3-A977-ED8A2D14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619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主题</a:t>
            </a:r>
          </a:p>
        </p:txBody>
      </p:sp>
      <p:sp>
        <p:nvSpPr>
          <p:cNvPr id="10" name="visual-4-4-p04-r0-1">
            <a:extLst xmlns:a="http://schemas.openxmlformats.org/drawingml/2006/main">
              <a:ext uri="{FF2B5EF4-FFF2-40B4-BE49-F238E27FC236}">
                <a16:creationId xmlns:a16="http://schemas.microsoft.com/office/drawing/2014/main" id="{75C18C70-937D-4EB8-9C46-0D1536BC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66875"/>
            <a:ext cx="619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辅助论文阅读</a:t>
            </a:r>
          </a:p>
        </p:txBody>
      </p:sp>
      <p:sp>
        <p:nvSpPr>
          <p:cNvPr id="11" name="visual-4-5-p04-r0-2">
            <a:extLst xmlns:a="http://schemas.openxmlformats.org/drawingml/2006/main">
              <a:ext uri="{FF2B5EF4-FFF2-40B4-BE49-F238E27FC236}">
                <a16:creationId xmlns:a16="http://schemas.microsoft.com/office/drawing/2014/main" id="{30728CB2-329A-40C5-8ABC-AF6499A3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666875"/>
            <a:ext cx="314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范围、条件、可比对象</a:t>
            </a:r>
          </a:p>
        </p:txBody>
      </p:sp>
      <p:sp>
        <p:nvSpPr>
          <p:cNvPr id="12" name="visual-4-6-p04-r1-0">
            <a:extLst xmlns:a="http://schemas.openxmlformats.org/drawingml/2006/main">
              <a:ext uri="{FF2B5EF4-FFF2-40B4-BE49-F238E27FC236}">
                <a16:creationId xmlns:a16="http://schemas.microsoft.com/office/drawing/2014/main" id="{BCE00E78-EEC0-4C21-BF18-1A4DCC0A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619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13" name="visual-4-7-p04-r1-1">
            <a:extLst xmlns:a="http://schemas.openxmlformats.org/drawingml/2006/main">
              <a:ext uri="{FF2B5EF4-FFF2-40B4-BE49-F238E27FC236}">
                <a16:creationId xmlns:a16="http://schemas.microsoft.com/office/drawing/2014/main" id="{FB504DF2-BB43-4C6F-8E49-8E305558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571750"/>
            <a:ext cx="619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在逐条核验引用的 CS 阅读中，阅读卡是否降低遗漏率？</a:t>
            </a:r>
          </a:p>
        </p:txBody>
      </p:sp>
      <p:sp>
        <p:nvSpPr>
          <p:cNvPr id="14" name="visual-4-8-p04-r1-2">
            <a:extLst xmlns:a="http://schemas.openxmlformats.org/drawingml/2006/main">
              <a:ext uri="{FF2B5EF4-FFF2-40B4-BE49-F238E27FC236}">
                <a16:creationId xmlns:a16="http://schemas.microsoft.com/office/drawing/2014/main" id="{043344F4-324A-40AB-BC25-F706D73A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71750"/>
            <a:ext cx="314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候选答案、可证伪性</a:t>
            </a:r>
          </a:p>
        </p:txBody>
      </p:sp>
      <p:sp>
        <p:nvSpPr>
          <p:cNvPr id="15" name="visual-4-9-p04-r2-0">
            <a:extLst xmlns:a="http://schemas.openxmlformats.org/drawingml/2006/main">
              <a:ext uri="{FF2B5EF4-FFF2-40B4-BE49-F238E27FC236}">
                <a16:creationId xmlns:a16="http://schemas.microsoft.com/office/drawing/2014/main" id="{2315DC20-30E9-45E5-94D1-DBFEFF86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619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待验证主张</a:t>
            </a:r>
          </a:p>
        </p:txBody>
      </p:sp>
      <p:sp>
        <p:nvSpPr>
          <p:cNvPr id="16" name="visual-4-10-p04-r2-1">
            <a:extLst xmlns:a="http://schemas.openxmlformats.org/drawingml/2006/main">
              <a:ext uri="{FF2B5EF4-FFF2-40B4-BE49-F238E27FC236}">
                <a16:creationId xmlns:a16="http://schemas.microsoft.com/office/drawing/2014/main" id="{3FE5D742-A394-497F-9BC6-98D03A1F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619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若强制定位原文且评价标准固定，则差异可归因于阅读卡结构</a:t>
            </a:r>
          </a:p>
        </p:txBody>
      </p:sp>
      <p:sp>
        <p:nvSpPr>
          <p:cNvPr id="17" name="visual-4-11-p04-r2-2">
            <a:extLst xmlns:a="http://schemas.openxmlformats.org/drawingml/2006/main">
              <a:ext uri="{FF2B5EF4-FFF2-40B4-BE49-F238E27FC236}">
                <a16:creationId xmlns:a16="http://schemas.microsoft.com/office/drawing/2014/main" id="{18DDED4C-D62B-4316-9E9F-4AA4D36B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314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实验、竞争假设排除</a:t>
            </a:r>
          </a:p>
        </p:txBody>
      </p:sp>
      <p:sp>
        <p:nvSpPr>
          <p:cNvPr id="18" name="visual-4-12-p04-bottom">
            <a:extLst xmlns:a="http://schemas.openxmlformats.org/drawingml/2006/main">
              <a:ext uri="{FF2B5EF4-FFF2-40B4-BE49-F238E27FC236}">
                <a16:creationId xmlns:a16="http://schemas.microsoft.com/office/drawing/2014/main" id="{0FE46B97-DBDB-496A-920C-5027AF35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05375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研究问题不是把主题缩小一点，而是补全条件—对象—干预—结果—比较。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从研究空白到结构性问题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virtual">
            <a:extLst xmlns:a="http://schemas.openxmlformats.org/drawingml/2006/main">
              <a:ext uri="{FF2B5EF4-FFF2-40B4-BE49-F238E27FC236}">
                <a16:creationId xmlns:a16="http://schemas.microsoft.com/office/drawing/2014/main" id="{E2BE21A9-BDD5-4BC1-80D2-1AAF314D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虚构教学样例｜非真实论文、检索或实证证据</a:t>
            </a:r>
          </a:p>
        </p:txBody>
      </p:sp>
      <p:sp>
        <p:nvSpPr>
          <p:cNvPr id="7" name="visual-5-1-p05-gap">
            <a:extLst xmlns:a="http://schemas.openxmlformats.org/drawingml/2006/main">
              <a:ext uri="{FF2B5EF4-FFF2-40B4-BE49-F238E27FC236}">
                <a16:creationId xmlns:a16="http://schemas.microsoft.com/office/drawing/2014/main" id="{620D50A7-E511-40ED-8BD7-DA8D8485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3524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G1 空白候选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阅读卡是否强制定位原文 → 降低遗漏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状态：待真实窄检索</a:t>
            </a:r>
          </a:p>
        </p:txBody>
      </p:sp>
      <p:sp>
        <p:nvSpPr>
          <p:cNvPr id="8" name="visual-5-2-p05-a">
            <a:extLst xmlns:a="http://schemas.openxmlformats.org/drawingml/2006/main">
              <a:ext uri="{FF2B5EF4-FFF2-40B4-BE49-F238E27FC236}">
                <a16:creationId xmlns:a16="http://schemas.microsoft.com/office/drawing/2014/main" id="{D7880FE1-968E-4A4C-B8F4-CA100396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visual-5-3-p05-q">
            <a:extLst xmlns:a="http://schemas.openxmlformats.org/drawingml/2006/main">
              <a:ext uri="{FF2B5EF4-FFF2-40B4-BE49-F238E27FC236}">
                <a16:creationId xmlns:a16="http://schemas.microsoft.com/office/drawing/2014/main" id="{325E9D12-8FFA-43C4-9C69-16B9D683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76375"/>
            <a:ext cx="600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在需要逐条核验引用的 CS 论文阅读任务中，结构化阅读卡是否比自由摘要更能降低限定条件遗漏率？</a:t>
            </a:r>
          </a:p>
        </p:txBody>
      </p:sp>
      <p:sp>
        <p:nvSpPr>
          <p:cNvPr id="10" name="visual-5-4-p05-e0">
            <a:extLst xmlns:a="http://schemas.openxmlformats.org/drawingml/2006/main">
              <a:ext uri="{FF2B5EF4-FFF2-40B4-BE49-F238E27FC236}">
                <a16:creationId xmlns:a16="http://schemas.microsoft.com/office/drawing/2014/main" id="{0D281A4D-EBE7-40C1-AB5C-222B1984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条件</a:t>
            </a:r>
          </a:p>
        </p:txBody>
      </p:sp>
      <p:sp>
        <p:nvSpPr>
          <p:cNvPr id="11" name="visual-5-5-p05-e1">
            <a:extLst xmlns:a="http://schemas.openxmlformats.org/drawingml/2006/main">
              <a:ext uri="{FF2B5EF4-FFF2-40B4-BE49-F238E27FC236}">
                <a16:creationId xmlns:a16="http://schemas.microsoft.com/office/drawing/2014/main" id="{EC21CE3B-FEFB-4329-90AD-B6C634CA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对象</a:t>
            </a:r>
          </a:p>
        </p:txBody>
      </p:sp>
      <p:sp>
        <p:nvSpPr>
          <p:cNvPr id="12" name="visual-5-6-p05-e2">
            <a:extLst xmlns:a="http://schemas.openxmlformats.org/drawingml/2006/main">
              <a:ext uri="{FF2B5EF4-FFF2-40B4-BE49-F238E27FC236}">
                <a16:creationId xmlns:a16="http://schemas.microsoft.com/office/drawing/2014/main" id="{5986E3C8-C887-4CEC-8979-241B066C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干预</a:t>
            </a:r>
          </a:p>
        </p:txBody>
      </p:sp>
      <p:sp>
        <p:nvSpPr>
          <p:cNvPr id="13" name="visual-5-7-p05-e3">
            <a:extLst xmlns:a="http://schemas.openxmlformats.org/drawingml/2006/main">
              <a:ext uri="{FF2B5EF4-FFF2-40B4-BE49-F238E27FC236}">
                <a16:creationId xmlns:a16="http://schemas.microsoft.com/office/drawing/2014/main" id="{34E9E364-9DE6-469D-8312-AA3D1F54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4" name="visual-5-8-p05-e4">
            <a:extLst xmlns:a="http://schemas.openxmlformats.org/drawingml/2006/main">
              <a:ext uri="{FF2B5EF4-FFF2-40B4-BE49-F238E27FC236}">
                <a16:creationId xmlns:a16="http://schemas.microsoft.com/office/drawing/2014/main" id="{E5ADD632-F623-4EF7-B861-88840B8F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比较</a:t>
            </a:r>
          </a:p>
        </p:txBody>
      </p:sp>
      <p:sp>
        <p:nvSpPr>
          <p:cNvPr id="15" name="visual-5-9-p05-bottom">
            <a:extLst xmlns:a="http://schemas.openxmlformats.org/drawingml/2006/main">
              <a:ext uri="{FF2B5EF4-FFF2-40B4-BE49-F238E27FC236}">
                <a16:creationId xmlns:a16="http://schemas.microsoft.com/office/drawing/2014/main" id="{0FB976F0-CF06-4042-A4A0-EFE8103F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530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补全结构，不等于证明结论；真实项目必须填写自己的检索与核验状态。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So what? / Who cares? 检查重要性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visual-6-0-p06-so-h">
            <a:extLst xmlns:a="http://schemas.openxmlformats.org/drawingml/2006/main">
              <a:ext uri="{FF2B5EF4-FFF2-40B4-BE49-F238E27FC236}">
                <a16:creationId xmlns:a16="http://schemas.microsoft.com/office/drawing/2014/main" id="{A9891613-47B3-497D-AAA9-CCE603A4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1906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So what?｜知识后果</a:t>
            </a:r>
          </a:p>
        </p:txBody>
      </p:sp>
      <p:sp>
        <p:nvSpPr>
          <p:cNvPr id="7" name="visual-6-1-p06-so-d">
            <a:extLst xmlns:a="http://schemas.openxmlformats.org/drawingml/2006/main">
              <a:ext uri="{FF2B5EF4-FFF2-40B4-BE49-F238E27FC236}">
                <a16:creationId xmlns:a16="http://schemas.microsoft.com/office/drawing/2014/main" id="{79B91AE2-03FC-42EE-9BA9-68EFDE88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28775"/>
            <a:ext cx="4762500" cy="199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不回答它，哪条证据链或机制假设无法成立？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回答后，能解释什么之前无法解释的现象？</a:t>
            </a:r>
          </a:p>
        </p:txBody>
      </p:sp>
      <p:sp>
        <p:nvSpPr>
          <p:cNvPr id="8" name="visual-6-2-p06-who-h">
            <a:extLst xmlns:a="http://schemas.openxmlformats.org/drawingml/2006/main">
              <a:ext uri="{FF2B5EF4-FFF2-40B4-BE49-F238E27FC236}">
                <a16:creationId xmlns:a16="http://schemas.microsoft.com/office/drawing/2014/main" id="{FA22BB3B-B695-4410-8CC0-16FDAEF1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1906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Who cares?｜实际后果</a:t>
            </a:r>
          </a:p>
        </p:txBody>
      </p:sp>
      <p:sp>
        <p:nvSpPr>
          <p:cNvPr id="9" name="visual-6-3-p06-who-d">
            <a:extLst xmlns:a="http://schemas.openxmlformats.org/drawingml/2006/main">
              <a:ext uri="{FF2B5EF4-FFF2-40B4-BE49-F238E27FC236}">
                <a16:creationId xmlns:a16="http://schemas.microsoft.com/office/drawing/2014/main" id="{6C89E306-E068-49ED-8834-8C36168C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28775"/>
            <a:ext cx="4762500" cy="199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谁会从答案中受益？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答案会改变什么科研动作、工具选择或判断？</a:t>
            </a:r>
          </a:p>
        </p:txBody>
      </p:sp>
      <p:sp>
        <p:nvSpPr>
          <p:cNvPr id="10" name="visual-6-4-p06-example">
            <a:extLst xmlns:a="http://schemas.openxmlformats.org/drawingml/2006/main">
              <a:ext uri="{FF2B5EF4-FFF2-40B4-BE49-F238E27FC236}">
                <a16:creationId xmlns:a16="http://schemas.microsoft.com/office/drawing/2014/main" id="{13AE814E-C3FF-4210-A46F-C9AFC546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重要性来自问题在论证链上的位置，不来自“新颖”这个标签。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问题来源交叉检查与四维选题标准卡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sk">
            <a:extLst xmlns:a="http://schemas.openxmlformats.org/drawingml/2006/main">
              <a:ext uri="{FF2B5EF4-FFF2-40B4-BE49-F238E27FC236}">
                <a16:creationId xmlns:a16="http://schemas.microsoft.com/office/drawing/2014/main" id="{D291A427-FA8D-49E3-A056-A1EDCAF7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候选题从哪条生成路径来？若只来自文献空白，必须回答：没有这个空白，问题还值得回答吗？</a:t>
            </a:r>
          </a:p>
        </p:txBody>
      </p:sp>
      <p:sp>
        <p:nvSpPr>
          <p:cNvPr id="7" name="p07-yes-label">
            <a:extLst xmlns:a="http://schemas.openxmlformats.org/drawingml/2006/main">
              <a:ext uri="{FF2B5EF4-FFF2-40B4-BE49-F238E27FC236}">
                <a16:creationId xmlns:a16="http://schemas.microsoft.com/office/drawing/2014/main" id="{8D88D0D3-61B8-4744-BC8A-704E72CC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57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答得出</a:t>
            </a:r>
          </a:p>
        </p:txBody>
      </p:sp>
      <p:sp>
        <p:nvSpPr>
          <p:cNvPr id="8" name="p07-yes">
            <a:extLst xmlns:a="http://schemas.openxmlformats.org/drawingml/2006/main">
              <a:ext uri="{FF2B5EF4-FFF2-40B4-BE49-F238E27FC236}">
                <a16:creationId xmlns:a16="http://schemas.microsoft.com/office/drawing/2014/main" id="{6A47D4E1-02F9-4D78-912D-89F84850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552575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背后有更基本的观察或约束；空白只是入口</a:t>
            </a:r>
          </a:p>
        </p:txBody>
      </p:sp>
      <p:sp>
        <p:nvSpPr>
          <p:cNvPr id="9" name="p07-no-label">
            <a:extLst xmlns:a="http://schemas.openxmlformats.org/drawingml/2006/main">
              <a:ext uri="{FF2B5EF4-FFF2-40B4-BE49-F238E27FC236}">
                <a16:creationId xmlns:a16="http://schemas.microsoft.com/office/drawing/2014/main" id="{A6D59CCF-DC0A-48D6-8BE1-0B884014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5257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答不出</a:t>
            </a:r>
          </a:p>
        </p:txBody>
      </p:sp>
      <p:sp>
        <p:nvSpPr>
          <p:cNvPr id="10" name="p07-no">
            <a:extLst xmlns:a="http://schemas.openxmlformats.org/drawingml/2006/main">
              <a:ext uri="{FF2B5EF4-FFF2-40B4-BE49-F238E27FC236}">
                <a16:creationId xmlns:a16="http://schemas.microsoft.com/office/drawing/2014/main" id="{9478F875-FC1B-4B56-A770-686773F5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525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可能只是填格子：重推问题，或明示其重要性只在论证链内</a:t>
            </a:r>
          </a:p>
        </p:txBody>
      </p:sp>
      <p:sp>
        <p:nvSpPr>
          <p:cNvPr id="11" name="p07-card-title">
            <a:extLst xmlns:a="http://schemas.openxmlformats.org/drawingml/2006/main">
              <a:ext uri="{FF2B5EF4-FFF2-40B4-BE49-F238E27FC236}">
                <a16:creationId xmlns:a16="http://schemas.microsoft.com/office/drawing/2014/main" id="{58811D21-6C25-40D4-B02A-3D78C4E3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241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四维选题标准卡（候选题池 ≥3 个逐一比较）</a:t>
            </a:r>
          </a:p>
        </p:txBody>
      </p:sp>
      <p:sp>
        <p:nvSpPr>
          <p:cNvPr id="12" name="p07-left-label-0">
            <a:extLst xmlns:a="http://schemas.openxmlformats.org/drawingml/2006/main">
              <a:ext uri="{FF2B5EF4-FFF2-40B4-BE49-F238E27FC236}">
                <a16:creationId xmlns:a16="http://schemas.microsoft.com/office/drawing/2014/main" id="{2B212DF0-49E7-46B3-B3F7-27B74055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38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意义</a:t>
            </a:r>
          </a:p>
        </p:txBody>
      </p:sp>
      <p:sp>
        <p:nvSpPr>
          <p:cNvPr id="13" name="p07-left-value-0">
            <a:extLst xmlns:a="http://schemas.openxmlformats.org/drawingml/2006/main">
              <a:ext uri="{FF2B5EF4-FFF2-40B4-BE49-F238E27FC236}">
                <a16:creationId xmlns:a16="http://schemas.microsoft.com/office/drawing/2014/main" id="{74EF23E5-756C-4B87-80EC-9D7600EF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765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不回答它，哪条论证链断掉？谁受益？</a:t>
            </a:r>
          </a:p>
        </p:txBody>
      </p:sp>
      <p:sp>
        <p:nvSpPr>
          <p:cNvPr id="14" name="p07-right-label-0">
            <a:extLst xmlns:a="http://schemas.openxmlformats.org/drawingml/2006/main">
              <a:ext uri="{FF2B5EF4-FFF2-40B4-BE49-F238E27FC236}">
                <a16:creationId xmlns:a16="http://schemas.microsoft.com/office/drawing/2014/main" id="{8D7B2745-DD02-4368-8751-FA8837D7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876550"/>
            <a:ext cx="138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新颖性</a:t>
            </a:r>
          </a:p>
        </p:txBody>
      </p:sp>
      <p:sp>
        <p:nvSpPr>
          <p:cNvPr id="15" name="p07-right-value-0">
            <a:extLst xmlns:a="http://schemas.openxmlformats.org/drawingml/2006/main">
              <a:ext uri="{FF2B5EF4-FFF2-40B4-BE49-F238E27FC236}">
                <a16:creationId xmlns:a16="http://schemas.microsoft.com/office/drawing/2014/main" id="{0BA3D87F-9139-4BB3-B8B1-51DD8AF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7655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问题新 / 视角新 / 方法新——新在哪一类？</a:t>
            </a:r>
          </a:p>
        </p:txBody>
      </p:sp>
      <p:sp>
        <p:nvSpPr>
          <p:cNvPr id="16" name="p07-left-label-1">
            <a:extLst xmlns:a="http://schemas.openxmlformats.org/drawingml/2006/main">
              <a:ext uri="{FF2B5EF4-FFF2-40B4-BE49-F238E27FC236}">
                <a16:creationId xmlns:a16="http://schemas.microsoft.com/office/drawing/2014/main" id="{A680973C-2AEA-4ED2-AD94-D9183F13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3325"/>
            <a:ext cx="138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可行性</a:t>
            </a:r>
          </a:p>
        </p:txBody>
      </p:sp>
      <p:sp>
        <p:nvSpPr>
          <p:cNvPr id="17" name="p07-left-value-1">
            <a:extLst xmlns:a="http://schemas.openxmlformats.org/drawingml/2006/main">
              <a:ext uri="{FF2B5EF4-FFF2-40B4-BE49-F238E27FC236}">
                <a16:creationId xmlns:a16="http://schemas.microsoft.com/office/drawing/2014/main" id="{238FE312-06F9-4C94-BCC4-B8D15938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743325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课程周期内能否做出最小验证？</a:t>
            </a:r>
          </a:p>
        </p:txBody>
      </p:sp>
      <p:sp>
        <p:nvSpPr>
          <p:cNvPr id="18" name="p07-right-label-1">
            <a:extLst xmlns:a="http://schemas.openxmlformats.org/drawingml/2006/main">
              <a:ext uri="{FF2B5EF4-FFF2-40B4-BE49-F238E27FC236}">
                <a16:creationId xmlns:a16="http://schemas.microsoft.com/office/drawing/2014/main" id="{3E3E5F0D-366E-4953-A2DB-8806B186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43325"/>
            <a:ext cx="138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兴趣</a:t>
            </a:r>
          </a:p>
        </p:txBody>
      </p:sp>
      <p:sp>
        <p:nvSpPr>
          <p:cNvPr id="19" name="p07-right-value-1">
            <a:extLst xmlns:a="http://schemas.openxmlformats.org/drawingml/2006/main">
              <a:ext uri="{FF2B5EF4-FFF2-40B4-BE49-F238E27FC236}">
                <a16:creationId xmlns:a16="http://schemas.microsoft.com/office/drawing/2014/main" id="{CB018445-1C72-49B8-A6CF-221F1548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4332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课程之外还愿意投入吗？判据是什么？</a:t>
            </a:r>
          </a:p>
        </p:txBody>
      </p:sp>
      <p:sp>
        <p:nvSpPr>
          <p:cNvPr id="20" name="p07-novel-0">
            <a:extLst xmlns:a="http://schemas.openxmlformats.org/drawingml/2006/main">
              <a:ext uri="{FF2B5EF4-FFF2-40B4-BE49-F238E27FC236}">
                <a16:creationId xmlns:a16="http://schemas.microsoft.com/office/drawing/2014/main" id="{1101E4AE-8317-4956-AEFF-EBBE6AD2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14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问题新</a:t>
            </a:r>
          </a:p>
        </p:txBody>
      </p:sp>
      <p:sp>
        <p:nvSpPr>
          <p:cNvPr id="21" name="p07-novel-1">
            <a:extLst xmlns:a="http://schemas.openxmlformats.org/drawingml/2006/main">
              <a:ext uri="{FF2B5EF4-FFF2-40B4-BE49-F238E27FC236}">
                <a16:creationId xmlns:a16="http://schemas.microsoft.com/office/drawing/2014/main" id="{D382D390-070C-47C7-A1A0-A6A8E0B0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714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视角新</a:t>
            </a:r>
          </a:p>
        </p:txBody>
      </p:sp>
      <p:sp>
        <p:nvSpPr>
          <p:cNvPr id="22" name="p07-novel-2">
            <a:extLst xmlns:a="http://schemas.openxmlformats.org/drawingml/2006/main">
              <a:ext uri="{FF2B5EF4-FFF2-40B4-BE49-F238E27FC236}">
                <a16:creationId xmlns:a16="http://schemas.microsoft.com/office/drawing/2014/main" id="{1DB65BF2-8395-4E11-9895-DAEA6647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14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方法新</a:t>
            </a:r>
          </a:p>
        </p:txBody>
      </p:sp>
      <p:sp>
        <p:nvSpPr>
          <p:cNvPr id="23" name="p07-bottom">
            <a:extLst xmlns:a="http://schemas.openxmlformats.org/drawingml/2006/main">
              <a:ext uri="{FF2B5EF4-FFF2-40B4-BE49-F238E27FC236}">
                <a16:creationId xmlns:a16="http://schemas.microsoft.com/office/drawing/2014/main" id="{066669CE-3E04-4CD4-90AD-1E86D8A3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578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“新”不等于“没人做过”；意义优先于新颖性。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用非例界定问题边界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7-scope">
            <a:extLst xmlns:a="http://schemas.openxmlformats.org/drawingml/2006/main">
              <a:ext uri="{FF2B5EF4-FFF2-40B4-BE49-F238E27FC236}">
                <a16:creationId xmlns:a16="http://schemas.microsoft.com/office/drawing/2014/main" id="{17A15306-2749-4AC6-BC65-53014601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包含范围</a:t>
            </a:r>
          </a:p>
        </p:txBody>
      </p:sp>
      <p:sp>
        <p:nvSpPr>
          <p:cNvPr id="7" name="visual-8-1-p07-in0">
            <a:extLst xmlns:a="http://schemas.openxmlformats.org/drawingml/2006/main">
              <a:ext uri="{FF2B5EF4-FFF2-40B4-BE49-F238E27FC236}">
                <a16:creationId xmlns:a16="http://schemas.microsoft.com/office/drawing/2014/main" id="{69B8B5D8-39F0-4294-915F-4C5AFC49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任务：逐条核验引用</a:t>
            </a:r>
          </a:p>
        </p:txBody>
      </p:sp>
      <p:sp>
        <p:nvSpPr>
          <p:cNvPr id="8" name="visual-8-2-p07-in1">
            <a:extLst xmlns:a="http://schemas.openxmlformats.org/drawingml/2006/main">
              <a:ext uri="{FF2B5EF4-FFF2-40B4-BE49-F238E27FC236}">
                <a16:creationId xmlns:a16="http://schemas.microsoft.com/office/drawing/2014/main" id="{CE6CA310-9524-4B01-AEF1-6E23A9DD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材料：公开 CS 论文</a:t>
            </a:r>
          </a:p>
        </p:txBody>
      </p:sp>
      <p:sp>
        <p:nvSpPr>
          <p:cNvPr id="9" name="visual-8-3-p07-in2">
            <a:extLst xmlns:a="http://schemas.openxmlformats.org/drawingml/2006/main">
              <a:ext uri="{FF2B5EF4-FFF2-40B4-BE49-F238E27FC236}">
                <a16:creationId xmlns:a16="http://schemas.microsoft.com/office/drawing/2014/main" id="{6390A99B-72BE-40C7-9FD1-44BA01CE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指标：限定条件遗漏率</a:t>
            </a:r>
          </a:p>
        </p:txBody>
      </p:sp>
      <p:sp>
        <p:nvSpPr>
          <p:cNvPr id="10" name="visual-8-4-p07-non">
            <a:extLst xmlns:a="http://schemas.openxmlformats.org/drawingml/2006/main">
              <a:ext uri="{FF2B5EF4-FFF2-40B4-BE49-F238E27FC236}">
                <a16:creationId xmlns:a16="http://schemas.microsoft.com/office/drawing/2014/main" id="{6C3C0596-D9A6-4A47-9856-F5CA274F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668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明确非例</a:t>
            </a:r>
          </a:p>
        </p:txBody>
      </p:sp>
      <p:sp>
        <p:nvSpPr>
          <p:cNvPr id="11" name="visual-8-5-p07-out0">
            <a:extLst xmlns:a="http://schemas.openxmlformats.org/drawingml/2006/main">
              <a:ext uri="{FF2B5EF4-FFF2-40B4-BE49-F238E27FC236}">
                <a16:creationId xmlns:a16="http://schemas.microsoft.com/office/drawing/2014/main" id="{05A7BB2F-B4A5-4DEF-B0A8-2A62B259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×  通用写作质量｜不同层面</a:t>
            </a:r>
          </a:p>
        </p:txBody>
      </p:sp>
      <p:sp>
        <p:nvSpPr>
          <p:cNvPr id="12" name="visual-8-6-p07-out1">
            <a:extLst xmlns:a="http://schemas.openxmlformats.org/drawingml/2006/main">
              <a:ext uri="{FF2B5EF4-FFF2-40B4-BE49-F238E27FC236}">
                <a16:creationId xmlns:a16="http://schemas.microsoft.com/office/drawing/2014/main" id="{B3B609E6-CD61-4BF5-AC48-13E47726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908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×  语言美感｜不同指标</a:t>
            </a:r>
          </a:p>
        </p:txBody>
      </p:sp>
      <p:sp>
        <p:nvSpPr>
          <p:cNvPr id="13" name="visual-8-7-p07-out2">
            <a:extLst xmlns:a="http://schemas.openxmlformats.org/drawingml/2006/main">
              <a:ext uri="{FF2B5EF4-FFF2-40B4-BE49-F238E27FC236}">
                <a16:creationId xmlns:a16="http://schemas.microsoft.com/office/drawing/2014/main" id="{2D25E745-FD60-4FFB-A915-4DFE81F4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718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×  需专业设备的学科｜超出周期</a:t>
            </a:r>
          </a:p>
        </p:txBody>
      </p:sp>
      <p:sp>
        <p:nvSpPr>
          <p:cNvPr id="14" name="visual-8-8-p07-boundary">
            <a:extLst xmlns:a="http://schemas.openxmlformats.org/drawingml/2006/main">
              <a:ext uri="{FF2B5EF4-FFF2-40B4-BE49-F238E27FC236}">
                <a16:creationId xmlns:a16="http://schemas.microsoft.com/office/drawing/2014/main" id="{0FDF1659-97A1-4031-940B-0AA11E2F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333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正边界  +  负边界</a:t>
            </a:r>
          </a:p>
        </p:txBody>
      </p:sp>
      <p:sp>
        <p:nvSpPr>
          <p:cNvPr id="15" name="visual-8-9-p07-bottom">
            <a:extLst xmlns:a="http://schemas.openxmlformats.org/drawingml/2006/main">
              <a:ext uri="{FF2B5EF4-FFF2-40B4-BE49-F238E27FC236}">
                <a16:creationId xmlns:a16="http://schemas.microsoft.com/office/drawing/2014/main" id="{F1FE4B3B-1A6E-42CC-BF82-0B012B49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5775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非例必须说明“为什么不算”，才能阻止项目随检索膨胀。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非例的三种常见错误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visual-9-0-p08-0-h">
            <a:extLst xmlns:a="http://schemas.openxmlformats.org/drawingml/2006/main">
              <a:ext uri="{FF2B5EF4-FFF2-40B4-BE49-F238E27FC236}">
                <a16:creationId xmlns:a16="http://schemas.microsoft.com/office/drawing/2014/main" id="{7334943E-BE13-4AB0-A149-6CCD7292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过宽</a:t>
            </a:r>
          </a:p>
        </p:txBody>
      </p:sp>
      <p:sp>
        <p:nvSpPr>
          <p:cNvPr id="7" name="visual-9-1-p08-0-d">
            <a:extLst xmlns:a="http://schemas.openxmlformats.org/drawingml/2006/main">
              <a:ext uri="{FF2B5EF4-FFF2-40B4-BE49-F238E27FC236}">
                <a16:creationId xmlns:a16="http://schemas.microsoft.com/office/drawing/2014/main" id="{286967CF-2B3C-4085-8829-E84F1EA1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71650"/>
            <a:ext cx="3333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不做无关研究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后果：没有实质约束</a:t>
            </a:r>
          </a:p>
        </p:txBody>
      </p:sp>
      <p:sp>
        <p:nvSpPr>
          <p:cNvPr id="8" name="visual-9-2-p08-1-h">
            <a:extLst xmlns:a="http://schemas.openxmlformats.org/drawingml/2006/main">
              <a:ext uri="{FF2B5EF4-FFF2-40B4-BE49-F238E27FC236}">
                <a16:creationId xmlns:a16="http://schemas.microsoft.com/office/drawing/2014/main" id="{2D2E77AF-8130-4A1B-A3B7-1850A64B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过窄</a:t>
            </a:r>
          </a:p>
        </p:txBody>
      </p:sp>
      <p:sp>
        <p:nvSpPr>
          <p:cNvPr id="9" name="visual-9-3-p08-1-d">
            <a:extLst xmlns:a="http://schemas.openxmlformats.org/drawingml/2006/main">
              <a:ext uri="{FF2B5EF4-FFF2-40B4-BE49-F238E27FC236}">
                <a16:creationId xmlns:a16="http://schemas.microsoft.com/office/drawing/2014/main" id="{64436A3F-AC6A-4FC2-9B5C-09DDCB2E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71650"/>
            <a:ext cx="3333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不使用数据集 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后果：只排除实现细节</a:t>
            </a:r>
          </a:p>
        </p:txBody>
      </p:sp>
      <p:sp>
        <p:nvSpPr>
          <p:cNvPr id="10" name="visual-9-4-p08-2-h">
            <a:extLst xmlns:a="http://schemas.openxmlformats.org/drawingml/2006/main">
              <a:ext uri="{FF2B5EF4-FFF2-40B4-BE49-F238E27FC236}">
                <a16:creationId xmlns:a16="http://schemas.microsoft.com/office/drawing/2014/main" id="{97EC802F-E4C8-43EE-804F-F6850A2A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335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与命题矛盾</a:t>
            </a:r>
          </a:p>
        </p:txBody>
      </p:sp>
      <p:sp>
        <p:nvSpPr>
          <p:cNvPr id="11" name="visual-9-5-p08-2-d">
            <a:extLst xmlns:a="http://schemas.openxmlformats.org/drawingml/2006/main">
              <a:ext uri="{FF2B5EF4-FFF2-40B4-BE49-F238E27FC236}">
                <a16:creationId xmlns:a16="http://schemas.microsoft.com/office/drawing/2014/main" id="{0C9426F6-C3D6-48FC-BF16-7BD0D0F0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71650"/>
            <a:ext cx="3333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排除必要检验条件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后果：命题无法被检验</a:t>
            </a:r>
          </a:p>
        </p:txBody>
      </p:sp>
      <p:sp>
        <p:nvSpPr>
          <p:cNvPr id="12" name="visual-9-6-p08-test">
            <a:extLst xmlns:a="http://schemas.openxmlformats.org/drawingml/2006/main">
              <a:ext uri="{FF2B5EF4-FFF2-40B4-BE49-F238E27FC236}">
                <a16:creationId xmlns:a16="http://schemas.microsoft.com/office/drawing/2014/main" id="{0DD21B73-EAE6-450A-A203-43990679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933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快速测试：给同伴一个“看似相关”的方向，他能否仅凭范围与非例判断纳入/排除？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把宽泛主张改写为可证伪命题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visual-10-0-p09-bad">
            <a:extLst xmlns:a="http://schemas.openxmlformats.org/drawingml/2006/main">
              <a:ext uri="{FF2B5EF4-FFF2-40B4-BE49-F238E27FC236}">
                <a16:creationId xmlns:a16="http://schemas.microsoft.com/office/drawing/2014/main" id="{91064A0C-10F0-47D7-94A5-DF487756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3714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不可证伪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“结构化阅读卡是有用的”</a:t>
            </a:r>
          </a:p>
        </p:txBody>
      </p:sp>
      <p:sp>
        <p:nvSpPr>
          <p:cNvPr id="7" name="visual-10-1-p09-a">
            <a:extLst xmlns:a="http://schemas.openxmlformats.org/drawingml/2006/main">
              <a:ext uri="{FF2B5EF4-FFF2-40B4-BE49-F238E27FC236}">
                <a16:creationId xmlns:a16="http://schemas.microsoft.com/office/drawing/2014/main" id="{A2F2A9BC-E0E8-48D2-8B59-811FD7AF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6212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10-2-p09-good">
            <a:extLst xmlns:a="http://schemas.openxmlformats.org/drawingml/2006/main">
              <a:ext uri="{FF2B5EF4-FFF2-40B4-BE49-F238E27FC236}">
                <a16:creationId xmlns:a16="http://schemas.microsoft.com/office/drawing/2014/main" id="{AFC87E4A-2ECD-42B5-98E0-A07A50F2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066800"/>
            <a:ext cx="5619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可证伪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在固定任务与评价标准下，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阅读卡组相较自由摘要组的遗漏率更低；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若未下降，主张不成立。</a:t>
            </a:r>
          </a:p>
        </p:txBody>
      </p:sp>
      <p:sp>
        <p:nvSpPr>
          <p:cNvPr id="9" name="visual-10-3-p09-e0">
            <a:extLst xmlns:a="http://schemas.openxmlformats.org/drawingml/2006/main">
              <a:ext uri="{FF2B5EF4-FFF2-40B4-BE49-F238E27FC236}">
                <a16:creationId xmlns:a16="http://schemas.microsoft.com/office/drawing/2014/main" id="{FD2B2D5C-FF9A-4285-9FCD-9539BE7F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条件</a:t>
            </a:r>
          </a:p>
        </p:txBody>
      </p:sp>
      <p:sp>
        <p:nvSpPr>
          <p:cNvPr id="10" name="visual-10-4-p09-e1">
            <a:extLst xmlns:a="http://schemas.openxmlformats.org/drawingml/2006/main">
              <a:ext uri="{FF2B5EF4-FFF2-40B4-BE49-F238E27FC236}">
                <a16:creationId xmlns:a16="http://schemas.microsoft.com/office/drawing/2014/main" id="{BB375F3E-4086-4C17-8B5B-59289EE7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242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干预</a:t>
            </a:r>
          </a:p>
        </p:txBody>
      </p:sp>
      <p:sp>
        <p:nvSpPr>
          <p:cNvPr id="11" name="visual-10-5-p09-e2">
            <a:extLst xmlns:a="http://schemas.openxmlformats.org/drawingml/2006/main">
              <a:ext uri="{FF2B5EF4-FFF2-40B4-BE49-F238E27FC236}">
                <a16:creationId xmlns:a16="http://schemas.microsoft.com/office/drawing/2014/main" id="{A2D4195C-EBA9-4B05-A558-0C084913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242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2" name="visual-10-6-p09-e3">
            <a:extLst xmlns:a="http://schemas.openxmlformats.org/drawingml/2006/main">
              <a:ext uri="{FF2B5EF4-FFF2-40B4-BE49-F238E27FC236}">
                <a16:creationId xmlns:a16="http://schemas.microsoft.com/office/drawing/2014/main" id="{F55FCF93-8AAF-48B5-8547-9E8D02DA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对照</a:t>
            </a:r>
          </a:p>
        </p:txBody>
      </p:sp>
      <p:sp>
        <p:nvSpPr>
          <p:cNvPr id="13" name="visual-10-7-p09-e4">
            <a:extLst xmlns:a="http://schemas.openxmlformats.org/drawingml/2006/main">
              <a:ext uri="{FF2B5EF4-FFF2-40B4-BE49-F238E27FC236}">
                <a16:creationId xmlns:a16="http://schemas.microsoft.com/office/drawing/2014/main" id="{86AD32BE-49E6-4852-A487-2235DA35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242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推翻条件</a:t>
            </a:r>
          </a:p>
        </p:txBody>
      </p:sp>
      <p:sp>
        <p:nvSpPr>
          <p:cNvPr id="14" name="visual-10-8-p09-bottom">
            <a:extLst xmlns:a="http://schemas.openxmlformats.org/drawingml/2006/main">
              <a:ext uri="{FF2B5EF4-FFF2-40B4-BE49-F238E27FC236}">
                <a16:creationId xmlns:a16="http://schemas.microsoft.com/office/drawing/2014/main" id="{250121C6-9BAF-4D65-AA41-59DBE305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能指出什么观察会使主张不成立，才进入可检验状态。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给第 7 课留下替代解释标记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visual-11-0-method">
            <a:extLst xmlns:a="http://schemas.openxmlformats.org/drawingml/2006/main">
              <a:ext uri="{FF2B5EF4-FFF2-40B4-BE49-F238E27FC236}">
                <a16:creationId xmlns:a16="http://schemas.microsoft.com/office/drawing/2014/main" id="{928310D0-4A90-4E25-99A1-C8029244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763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Platt 的强推断提醒：同一结果可能有多种解释，需要可区分的检验</a:t>
            </a:r>
          </a:p>
        </p:txBody>
      </p:sp>
      <p:sp>
        <p:nvSpPr>
          <p:cNvPr id="7" name="visual-11-1-current">
            <a:extLst xmlns:a="http://schemas.openxmlformats.org/drawingml/2006/main">
              <a:ext uri="{FF2B5EF4-FFF2-40B4-BE49-F238E27FC236}">
                <a16:creationId xmlns:a16="http://schemas.microsoft.com/office/drawing/2014/main" id="{9830A17E-8E7C-4366-9A7A-6D08EB00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4953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当前解释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阅读卡强制定位原文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限定条件遗漏因此下降</a:t>
            </a:r>
          </a:p>
        </p:txBody>
      </p:sp>
      <p:sp>
        <p:nvSpPr>
          <p:cNvPr id="8" name="visual-11-2-alternative">
            <a:extLst xmlns:a="http://schemas.openxmlformats.org/drawingml/2006/main">
              <a:ext uri="{FF2B5EF4-FFF2-40B4-BE49-F238E27FC236}">
                <a16:creationId xmlns:a16="http://schemas.microsoft.com/office/drawing/2014/main" id="{A0C1E509-0643-49AF-8028-B1B382D2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4953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替代解释标记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评价者看到字段提示后更容易标注限定条件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差异可能来自评价提示，而非摘要本身</a:t>
            </a:r>
          </a:p>
        </p:txBody>
      </p:sp>
      <p:sp>
        <p:nvSpPr>
          <p:cNvPr id="9" name="visual-11-3-handoff">
            <a:extLst xmlns:a="http://schemas.openxmlformats.org/drawingml/2006/main">
              <a:ext uri="{FF2B5EF4-FFF2-40B4-BE49-F238E27FC236}">
                <a16:creationId xmlns:a16="http://schemas.microsoft.com/office/drawing/2014/main" id="{A1F35FD2-58E0-48D2-9E4C-002AB528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本课只留下标记｜第 7 课再编号 H1/A1/A2/A3，并设计可区分结果</a:t>
            </a:r>
          </a:p>
        </p:txBody>
      </p:sp>
      <p:sp>
        <p:nvSpPr>
          <p:cNvPr id="10" name="visual-11-4-source">
            <a:extLst xmlns:a="http://schemas.openxmlformats.org/drawingml/2006/main">
              <a:ext uri="{FF2B5EF4-FFF2-40B4-BE49-F238E27FC236}">
                <a16:creationId xmlns:a16="http://schemas.microsoft.com/office/drawing/2014/main" id="{2BB8AD49-D13E-4F1A-B16E-677AB57C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3400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来源：第 6 课讲义 §三·3｜Platt, Strong Inference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第一性原理不是脱离证据的捷径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visual-12-0-p11-0-h">
            <a:extLst xmlns:a="http://schemas.openxmlformats.org/drawingml/2006/main">
              <a:ext uri="{FF2B5EF4-FFF2-40B4-BE49-F238E27FC236}">
                <a16:creationId xmlns:a16="http://schemas.microsoft.com/office/drawing/2014/main" id="{C3C7F36D-4711-48FD-B8C7-404B629E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不替代检索</a:t>
            </a:r>
          </a:p>
        </p:txBody>
      </p:sp>
      <p:sp>
        <p:nvSpPr>
          <p:cNvPr id="7" name="visual-12-1-p11-0-d">
            <a:extLst xmlns:a="http://schemas.openxmlformats.org/drawingml/2006/main">
              <a:ext uri="{FF2B5EF4-FFF2-40B4-BE49-F238E27FC236}">
                <a16:creationId xmlns:a16="http://schemas.microsoft.com/office/drawing/2014/main" id="{E0D188D1-70E6-41EC-B470-FE8BF151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5143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待验证前提仍要回到文献与证据地图</a:t>
            </a:r>
          </a:p>
        </p:txBody>
      </p:sp>
      <p:sp>
        <p:nvSpPr>
          <p:cNvPr id="8" name="visual-12-2-p11-1-h">
            <a:extLst xmlns:a="http://schemas.openxmlformats.org/drawingml/2006/main">
              <a:ext uri="{FF2B5EF4-FFF2-40B4-BE49-F238E27FC236}">
                <a16:creationId xmlns:a16="http://schemas.microsoft.com/office/drawing/2014/main" id="{732133E8-6B01-4F36-9639-9BF6D7DB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953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不脱离既有工作</a:t>
            </a:r>
          </a:p>
        </p:txBody>
      </p:sp>
      <p:sp>
        <p:nvSpPr>
          <p:cNvPr id="9" name="visual-12-3-p11-1-d">
            <a:extLst xmlns:a="http://schemas.openxmlformats.org/drawingml/2006/main">
              <a:ext uri="{FF2B5EF4-FFF2-40B4-BE49-F238E27FC236}">
                <a16:creationId xmlns:a16="http://schemas.microsoft.com/office/drawing/2014/main" id="{7C350647-8DB3-49D3-A42C-9824B49D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33525"/>
            <a:ext cx="5143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从已核验材料与空白出发</a:t>
            </a:r>
          </a:p>
        </p:txBody>
      </p:sp>
      <p:sp>
        <p:nvSpPr>
          <p:cNvPr id="10" name="visual-12-4-p11-2-h">
            <a:extLst xmlns:a="http://schemas.openxmlformats.org/drawingml/2006/main">
              <a:ext uri="{FF2B5EF4-FFF2-40B4-BE49-F238E27FC236}">
                <a16:creationId xmlns:a16="http://schemas.microsoft.com/office/drawing/2014/main" id="{76D21BE9-2AC8-4278-BA5E-E29A52E5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不自动成立</a:t>
            </a:r>
          </a:p>
        </p:txBody>
      </p:sp>
      <p:sp>
        <p:nvSpPr>
          <p:cNvPr id="11" name="visual-12-5-p11-2-d">
            <a:extLst xmlns:a="http://schemas.openxmlformats.org/drawingml/2006/main">
              <a:ext uri="{FF2B5EF4-FFF2-40B4-BE49-F238E27FC236}">
                <a16:creationId xmlns:a16="http://schemas.microsoft.com/office/drawing/2014/main" id="{2EEE1A34-783C-4A99-ACB2-F2296E2D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5143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推导不是证明，必须接受外部检验</a:t>
            </a:r>
          </a:p>
        </p:txBody>
      </p:sp>
      <p:sp>
        <p:nvSpPr>
          <p:cNvPr id="12" name="visual-12-6-p11-3-h">
            <a:extLst xmlns:a="http://schemas.openxmlformats.org/drawingml/2006/main">
              <a:ext uri="{FF2B5EF4-FFF2-40B4-BE49-F238E27FC236}">
                <a16:creationId xmlns:a16="http://schemas.microsoft.com/office/drawing/2014/main" id="{CEE7D9C4-2559-49EC-B041-36217E57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不追求穷举</a:t>
            </a:r>
          </a:p>
        </p:txBody>
      </p:sp>
      <p:sp>
        <p:nvSpPr>
          <p:cNvPr id="13" name="visual-12-7-p11-3-d">
            <a:extLst xmlns:a="http://schemas.openxmlformats.org/drawingml/2006/main">
              <a:ext uri="{FF2B5EF4-FFF2-40B4-BE49-F238E27FC236}">
                <a16:creationId xmlns:a16="http://schemas.microsoft.com/office/drawing/2014/main" id="{7748888A-5583-445E-81B4-06DB4222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00400"/>
            <a:ext cx="5143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只推导当前关键机制与约束</a:t>
            </a:r>
          </a:p>
        </p:txBody>
      </p:sp>
      <p:sp>
        <p:nvSpPr>
          <p:cNvPr id="14" name="visual-12-8-p11-loop">
            <a:extLst xmlns:a="http://schemas.openxmlformats.org/drawingml/2006/main">
              <a:ext uri="{FF2B5EF4-FFF2-40B4-BE49-F238E27FC236}">
                <a16:creationId xmlns:a16="http://schemas.microsoft.com/office/drawing/2014/main" id="{384CC328-A30B-4E3F-84DC-85D0B771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942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证据地图  →  基本约束 / 机制  →  待验证前提  →  外部证据检验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第一性原理四步推导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2-n0">
            <a:extLst xmlns:a="http://schemas.openxmlformats.org/drawingml/2006/main">
              <a:ext uri="{FF2B5EF4-FFF2-40B4-BE49-F238E27FC236}">
                <a16:creationId xmlns:a16="http://schemas.microsoft.com/office/drawing/2014/main" id="{E6005003-007C-4659-B21E-CAFD9B2A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3-1-p12-h0">
            <a:extLst xmlns:a="http://schemas.openxmlformats.org/drawingml/2006/main">
              <a:ext uri="{FF2B5EF4-FFF2-40B4-BE49-F238E27FC236}">
                <a16:creationId xmlns:a16="http://schemas.microsoft.com/office/drawing/2014/main" id="{72007E59-713E-4344-8529-862BD287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0287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基本约束</a:t>
            </a:r>
          </a:p>
        </p:txBody>
      </p:sp>
      <p:sp>
        <p:nvSpPr>
          <p:cNvPr id="8" name="visual-13-2-p12-d0">
            <a:extLst xmlns:a="http://schemas.openxmlformats.org/drawingml/2006/main">
              <a:ext uri="{FF2B5EF4-FFF2-40B4-BE49-F238E27FC236}">
                <a16:creationId xmlns:a16="http://schemas.microsoft.com/office/drawing/2014/main" id="{5A5764E3-84ED-40EF-A1A7-AED54E6B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287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主张成立必须满足什么？</a:t>
            </a:r>
          </a:p>
        </p:txBody>
      </p:sp>
      <p:sp>
        <p:nvSpPr>
          <p:cNvPr id="9" name="visual-13-3-p12-n1">
            <a:extLst xmlns:a="http://schemas.openxmlformats.org/drawingml/2006/main">
              <a:ext uri="{FF2B5EF4-FFF2-40B4-BE49-F238E27FC236}">
                <a16:creationId xmlns:a16="http://schemas.microsoft.com/office/drawing/2014/main" id="{B9A35B60-4A0F-47C0-8ADE-7CF1C723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3-4-p12-h1">
            <a:extLst xmlns:a="http://schemas.openxmlformats.org/drawingml/2006/main">
              <a:ext uri="{FF2B5EF4-FFF2-40B4-BE49-F238E27FC236}">
                <a16:creationId xmlns:a16="http://schemas.microsoft.com/office/drawing/2014/main" id="{BCDD83B6-7C2F-479C-AFC8-435048D0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574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作用机制</a:t>
            </a:r>
          </a:p>
        </p:txBody>
      </p:sp>
      <p:sp>
        <p:nvSpPr>
          <p:cNvPr id="11" name="visual-13-5-p12-d1">
            <a:extLst xmlns:a="http://schemas.openxmlformats.org/drawingml/2006/main">
              <a:ext uri="{FF2B5EF4-FFF2-40B4-BE49-F238E27FC236}">
                <a16:creationId xmlns:a16="http://schemas.microsoft.com/office/drawing/2014/main" id="{13A70526-F0FF-46F7-BEF2-43AE71AD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干预通过什么中间过程起作用？</a:t>
            </a:r>
          </a:p>
        </p:txBody>
      </p:sp>
      <p:sp>
        <p:nvSpPr>
          <p:cNvPr id="12" name="visual-13-6-p12-n2">
            <a:extLst xmlns:a="http://schemas.openxmlformats.org/drawingml/2006/main">
              <a:ext uri="{FF2B5EF4-FFF2-40B4-BE49-F238E27FC236}">
                <a16:creationId xmlns:a16="http://schemas.microsoft.com/office/drawing/2014/main" id="{BF162842-560E-4E42-AF61-2631BA7A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3-7-p12-h2">
            <a:extLst xmlns:a="http://schemas.openxmlformats.org/drawingml/2006/main">
              <a:ext uri="{FF2B5EF4-FFF2-40B4-BE49-F238E27FC236}">
                <a16:creationId xmlns:a16="http://schemas.microsoft.com/office/drawing/2014/main" id="{A3E4C99F-0C65-4A8E-B5D4-ABB8166E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861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不可违背条件</a:t>
            </a:r>
          </a:p>
        </p:txBody>
      </p:sp>
      <p:sp>
        <p:nvSpPr>
          <p:cNvPr id="14" name="visual-13-8-p12-d2">
            <a:extLst xmlns:a="http://schemas.openxmlformats.org/drawingml/2006/main">
              <a:ext uri="{FF2B5EF4-FFF2-40B4-BE49-F238E27FC236}">
                <a16:creationId xmlns:a16="http://schemas.microsoft.com/office/drawing/2014/main" id="{8E241152-BC45-4784-8E1E-26B6C11C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怎样比较才公平、可复现？</a:t>
            </a:r>
          </a:p>
        </p:txBody>
      </p:sp>
      <p:sp>
        <p:nvSpPr>
          <p:cNvPr id="15" name="visual-13-9-p12-n3">
            <a:extLst xmlns:a="http://schemas.openxmlformats.org/drawingml/2006/main">
              <a:ext uri="{FF2B5EF4-FFF2-40B4-BE49-F238E27FC236}">
                <a16:creationId xmlns:a16="http://schemas.microsoft.com/office/drawing/2014/main" id="{80134302-9BCA-44DA-8860-F8B7269B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visual-13-10-p12-h3">
            <a:extLst xmlns:a="http://schemas.openxmlformats.org/drawingml/2006/main">
              <a:ext uri="{FF2B5EF4-FFF2-40B4-BE49-F238E27FC236}">
                <a16:creationId xmlns:a16="http://schemas.microsoft.com/office/drawing/2014/main" id="{12504FE7-1BA5-4F89-AAF8-AF4E4AFE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4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待验证前提</a:t>
            </a:r>
          </a:p>
        </p:txBody>
      </p:sp>
      <p:sp>
        <p:nvSpPr>
          <p:cNvPr id="17" name="visual-13-11-p12-d3">
            <a:extLst xmlns:a="http://schemas.openxmlformats.org/drawingml/2006/main">
              <a:ext uri="{FF2B5EF4-FFF2-40B4-BE49-F238E27FC236}">
                <a16:creationId xmlns:a16="http://schemas.microsoft.com/office/drawing/2014/main" id="{51A1FB67-2F1E-4A4B-81DB-4984CD5E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148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从前三步推出什么可检验陈述？</a:t>
            </a:r>
          </a:p>
        </p:txBody>
      </p:sp>
      <p:sp>
        <p:nvSpPr>
          <p:cNvPr id="18" name="visual-13-12-p12-bottom">
            <a:extLst xmlns:a="http://schemas.openxmlformats.org/drawingml/2006/main">
              <a:ext uri="{FF2B5EF4-FFF2-40B4-BE49-F238E27FC236}">
                <a16:creationId xmlns:a16="http://schemas.microsoft.com/office/drawing/2014/main" id="{26C9E0D5-C7E2-4982-BE53-0AA6398D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每一步都标注依据：任务约束、已核验证据或待检验假设。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贯穿案例：把前提移交给第 7–9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AD0166E1-BC37-4290-B364-CC8B83CF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虚构教学案例｜实验尚未运行</a:t>
            </a:r>
          </a:p>
        </p:txBody>
      </p:sp>
      <p:sp>
        <p:nvSpPr>
          <p:cNvPr id="7" name="p14-question">
            <a:extLst xmlns:a="http://schemas.openxmlformats.org/drawingml/2006/main">
              <a:ext uri="{FF2B5EF4-FFF2-40B4-BE49-F238E27FC236}">
                <a16:creationId xmlns:a16="http://schemas.microsoft.com/office/drawing/2014/main" id="{DD197298-B616-481C-A322-C1AF7B31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结构化阅读卡是否降低 AI 摘要的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限定条件遗漏率？</a:t>
            </a:r>
          </a:p>
        </p:txBody>
      </p:sp>
      <p:sp>
        <p:nvSpPr>
          <p:cNvPr id="8" name="p14-q-rule">
            <a:extLst xmlns:a="http://schemas.openxmlformats.org/drawingml/2006/main">
              <a:ext uri="{FF2B5EF4-FFF2-40B4-BE49-F238E27FC236}">
                <a16:creationId xmlns:a16="http://schemas.microsoft.com/office/drawing/2014/main" id="{515618DB-09F3-41EE-B457-124D4F70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19375"/>
            <a:ext cx="8763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9" name="p14-label-0">
            <a:extLst xmlns:a="http://schemas.openxmlformats.org/drawingml/2006/main">
              <a:ext uri="{FF2B5EF4-FFF2-40B4-BE49-F238E27FC236}">
                <a16:creationId xmlns:a16="http://schemas.microsoft.com/office/drawing/2014/main" id="{11E7ACFD-1E2D-460B-948C-72949870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条件</a:t>
            </a:r>
          </a:p>
        </p:txBody>
      </p:sp>
      <p:sp>
        <p:nvSpPr>
          <p:cNvPr id="10" name="p14-value-0">
            <a:extLst xmlns:a="http://schemas.openxmlformats.org/drawingml/2006/main">
              <a:ext uri="{FF2B5EF4-FFF2-40B4-BE49-F238E27FC236}">
                <a16:creationId xmlns:a16="http://schemas.microsoft.com/office/drawing/2014/main" id="{48BC6A2C-E837-4B0B-9ED0-391D750D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同一批论文分别进入阅读卡与自由摘要</a:t>
            </a:r>
          </a:p>
        </p:txBody>
      </p:sp>
      <p:sp>
        <p:nvSpPr>
          <p:cNvPr id="11" name="p14-label-1">
            <a:extLst xmlns:a="http://schemas.openxmlformats.org/drawingml/2006/main">
              <a:ext uri="{FF2B5EF4-FFF2-40B4-BE49-F238E27FC236}">
                <a16:creationId xmlns:a16="http://schemas.microsoft.com/office/drawing/2014/main" id="{0F7DA84C-F0C1-4713-B78B-51E7551C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8132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2" name="p14-value-1">
            <a:extLst xmlns:a="http://schemas.openxmlformats.org/drawingml/2006/main">
              <a:ext uri="{FF2B5EF4-FFF2-40B4-BE49-F238E27FC236}">
                <a16:creationId xmlns:a16="http://schemas.microsoft.com/office/drawing/2014/main" id="{291AB164-09B9-458F-9BB6-6D26C33B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9567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依据人工建立并复核的限定条件基准计算遗漏率</a:t>
            </a:r>
          </a:p>
        </p:txBody>
      </p:sp>
      <p:sp>
        <p:nvSpPr>
          <p:cNvPr id="13" name="p14-label-2">
            <a:extLst xmlns:a="http://schemas.openxmlformats.org/drawingml/2006/main">
              <a:ext uri="{FF2B5EF4-FFF2-40B4-BE49-F238E27FC236}">
                <a16:creationId xmlns:a16="http://schemas.microsoft.com/office/drawing/2014/main" id="{717F903D-FADF-4B5C-BA7D-9252C252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8132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未决解释</a:t>
            </a:r>
          </a:p>
        </p:txBody>
      </p:sp>
      <p:sp>
        <p:nvSpPr>
          <p:cNvPr id="14" name="p14-value-2">
            <a:extLst xmlns:a="http://schemas.openxmlformats.org/drawingml/2006/main">
              <a:ext uri="{FF2B5EF4-FFF2-40B4-BE49-F238E27FC236}">
                <a16:creationId xmlns:a16="http://schemas.microsoft.com/office/drawing/2014/main" id="{21640B29-DBC9-4413-A58A-320CD3BE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9567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任务转移、标注提示或文档结构</a:t>
            </a:r>
          </a:p>
        </p:txBody>
      </p:sp>
      <p:sp>
        <p:nvSpPr>
          <p:cNvPr id="15" name="p14-handoff">
            <a:extLst xmlns:a="http://schemas.openxmlformats.org/drawingml/2006/main">
              <a:ext uri="{FF2B5EF4-FFF2-40B4-BE49-F238E27FC236}">
                <a16:creationId xmlns:a16="http://schemas.microsoft.com/office/drawing/2014/main" id="{A6397D4E-BB5D-4B38-9728-A7B4EE7A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 7 课区分 H1/A1/A2/A3   →   第 9 课锁定样本、重复次数与完整规格</a:t>
            </a:r>
          </a:p>
        </p:txBody>
      </p:sp>
      <p:sp>
        <p:nvSpPr>
          <p:cNvPr id="16" name="source">
            <a:extLst xmlns:a="http://schemas.openxmlformats.org/drawingml/2006/main">
              <a:ext uri="{FF2B5EF4-FFF2-40B4-BE49-F238E27FC236}">
                <a16:creationId xmlns:a16="http://schemas.microsoft.com/office/drawing/2014/main" id="{6B498893-CFE2-465B-830D-35FBF6C1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课程虚构教学案例 · 本页只移交问题、一个待验证前提和替代解释标记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问题门九项条件自查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visual-15-0-p14-n0">
            <a:extLst xmlns:a="http://schemas.openxmlformats.org/drawingml/2006/main">
              <a:ext uri="{FF2B5EF4-FFF2-40B4-BE49-F238E27FC236}">
                <a16:creationId xmlns:a16="http://schemas.microsoft.com/office/drawing/2014/main" id="{D4EFD013-0DA0-463D-BBFE-60CD6865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000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5-1-p14-g0">
            <a:extLst xmlns:a="http://schemas.openxmlformats.org/drawingml/2006/main">
              <a:ext uri="{FF2B5EF4-FFF2-40B4-BE49-F238E27FC236}">
                <a16:creationId xmlns:a16="http://schemas.microsoft.com/office/drawing/2014/main" id="{285A8496-C7A1-4A43-8448-C74176E3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3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≥10 篇候选文献 + 证据角色</a:t>
            </a:r>
          </a:p>
        </p:txBody>
      </p:sp>
      <p:sp>
        <p:nvSpPr>
          <p:cNvPr id="8" name="visual-15-2-p14-n1">
            <a:extLst xmlns:a="http://schemas.openxmlformats.org/drawingml/2006/main">
              <a:ext uri="{FF2B5EF4-FFF2-40B4-BE49-F238E27FC236}">
                <a16:creationId xmlns:a16="http://schemas.microsoft.com/office/drawing/2014/main" id="{62CC4EFC-3F66-4573-94AB-3E546EDB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000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15-3-p14-g1">
            <a:extLst xmlns:a="http://schemas.openxmlformats.org/drawingml/2006/main">
              <a:ext uri="{FF2B5EF4-FFF2-40B4-BE49-F238E27FC236}">
                <a16:creationId xmlns:a16="http://schemas.microsoft.com/office/drawing/2014/main" id="{AB3C4ED1-E6F1-4D68-ADA1-CE0A3EA3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933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≥3 张核心材料完整精读卡</a:t>
            </a:r>
          </a:p>
        </p:txBody>
      </p:sp>
      <p:sp>
        <p:nvSpPr>
          <p:cNvPr id="10" name="visual-15-4-p14-n2">
            <a:extLst xmlns:a="http://schemas.openxmlformats.org/drawingml/2006/main">
              <a:ext uri="{FF2B5EF4-FFF2-40B4-BE49-F238E27FC236}">
                <a16:creationId xmlns:a16="http://schemas.microsoft.com/office/drawing/2014/main" id="{B783F7AE-F5EA-49A8-A0F5-B484BE8E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00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5-5-p14-g2">
            <a:extLst xmlns:a="http://schemas.openxmlformats.org/drawingml/2006/main">
              <a:ext uri="{FF2B5EF4-FFF2-40B4-BE49-F238E27FC236}">
                <a16:creationId xmlns:a16="http://schemas.microsoft.com/office/drawing/2014/main" id="{69F236EC-4499-4CD8-91F4-0852372F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933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初始地图 + ≥2 原文位置 + 错误/过度概括/遗漏或已检查风险 + 人工判断</a:t>
            </a:r>
          </a:p>
        </p:txBody>
      </p:sp>
      <p:sp>
        <p:nvSpPr>
          <p:cNvPr id="12" name="visual-15-6-p14-n3">
            <a:extLst xmlns:a="http://schemas.openxmlformats.org/drawingml/2006/main">
              <a:ext uri="{FF2B5EF4-FFF2-40B4-BE49-F238E27FC236}">
                <a16:creationId xmlns:a16="http://schemas.microsoft.com/office/drawing/2014/main" id="{A654AA74-A456-4F4A-9882-161C581D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62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15-7-p14-g3">
            <a:extLst xmlns:a="http://schemas.openxmlformats.org/drawingml/2006/main">
              <a:ext uri="{FF2B5EF4-FFF2-40B4-BE49-F238E27FC236}">
                <a16:creationId xmlns:a16="http://schemas.microsoft.com/office/drawing/2014/main" id="{EFE85CB8-487A-4BFA-92FA-720AE868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955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证据地图：直接 / 补充 / 冲突 / 空白</a:t>
            </a:r>
          </a:p>
        </p:txBody>
      </p:sp>
      <p:sp>
        <p:nvSpPr>
          <p:cNvPr id="14" name="visual-15-8-p14-n4">
            <a:extLst xmlns:a="http://schemas.openxmlformats.org/drawingml/2006/main">
              <a:ext uri="{FF2B5EF4-FFF2-40B4-BE49-F238E27FC236}">
                <a16:creationId xmlns:a16="http://schemas.microsoft.com/office/drawing/2014/main" id="{034495A5-3AA3-4726-B3F3-76E548A7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visual-15-9-p14-g4">
            <a:extLst xmlns:a="http://schemas.openxmlformats.org/drawingml/2006/main">
              <a:ext uri="{FF2B5EF4-FFF2-40B4-BE49-F238E27FC236}">
                <a16:creationId xmlns:a16="http://schemas.microsoft.com/office/drawing/2014/main" id="{BF568CD6-CE22-4A3F-AE0F-0E116289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955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问题含范围、非例、≥1 可证伪命题</a:t>
            </a:r>
          </a:p>
        </p:txBody>
      </p:sp>
      <p:sp>
        <p:nvSpPr>
          <p:cNvPr id="16" name="visual-15-10-p14-n5">
            <a:extLst xmlns:a="http://schemas.openxmlformats.org/drawingml/2006/main">
              <a:ext uri="{FF2B5EF4-FFF2-40B4-BE49-F238E27FC236}">
                <a16:creationId xmlns:a16="http://schemas.microsoft.com/office/drawing/2014/main" id="{374B7B5C-2EAA-4CD0-8348-32A70EC4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62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7" name="visual-15-11-p14-g5">
            <a:extLst xmlns:a="http://schemas.openxmlformats.org/drawingml/2006/main">
              <a:ext uri="{FF2B5EF4-FFF2-40B4-BE49-F238E27FC236}">
                <a16:creationId xmlns:a16="http://schemas.microsoft.com/office/drawing/2014/main" id="{028B07AA-D404-4244-B426-A39FEE8E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955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第一性原理：必要条件 / 关键约束 / 可检验前提</a:t>
            </a:r>
          </a:p>
        </p:txBody>
      </p:sp>
      <p:sp>
        <p:nvSpPr>
          <p:cNvPr id="18" name="visual-15-12-p14-n6">
            <a:extLst xmlns:a="http://schemas.openxmlformats.org/drawingml/2006/main">
              <a:ext uri="{FF2B5EF4-FFF2-40B4-BE49-F238E27FC236}">
                <a16:creationId xmlns:a16="http://schemas.microsoft.com/office/drawing/2014/main" id="{BAFB0DF6-B794-426D-AF3A-11C6DAA2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724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19" name="visual-15-13-p14-g6">
            <a:extLst xmlns:a="http://schemas.openxmlformats.org/drawingml/2006/main">
              <a:ext uri="{FF2B5EF4-FFF2-40B4-BE49-F238E27FC236}">
                <a16:creationId xmlns:a16="http://schemas.microsoft.com/office/drawing/2014/main" id="{AAE95D54-3F81-4DBC-8762-8C37A0C9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重要性 + 课程周期可行性</a:t>
            </a:r>
          </a:p>
        </p:txBody>
      </p:sp>
      <p:sp>
        <p:nvSpPr>
          <p:cNvPr id="20" name="visual-15-14-p14-n7">
            <a:extLst xmlns:a="http://schemas.openxmlformats.org/drawingml/2006/main">
              <a:ext uri="{FF2B5EF4-FFF2-40B4-BE49-F238E27FC236}">
                <a16:creationId xmlns:a16="http://schemas.microsoft.com/office/drawing/2014/main" id="{E3CE0C29-D603-4AAC-82A4-6D9D9F53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24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21" name="visual-15-15-p14-g7">
            <a:extLst xmlns:a="http://schemas.openxmlformats.org/drawingml/2006/main">
              <a:ext uri="{FF2B5EF4-FFF2-40B4-BE49-F238E27FC236}">
                <a16:creationId xmlns:a16="http://schemas.microsoft.com/office/drawing/2014/main" id="{E0C0E27F-8C3F-478C-82EF-E76BC0D2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576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≥1 条真实失败 / 死路：原因、处理、回写位置</a:t>
            </a:r>
          </a:p>
        </p:txBody>
      </p:sp>
      <p:sp>
        <p:nvSpPr>
          <p:cNvPr id="22" name="visual-15-16-p14-n8">
            <a:extLst xmlns:a="http://schemas.openxmlformats.org/drawingml/2006/main">
              <a:ext uri="{FF2B5EF4-FFF2-40B4-BE49-F238E27FC236}">
                <a16:creationId xmlns:a16="http://schemas.microsoft.com/office/drawing/2014/main" id="{DE9C39F5-D67F-4C21-A5D2-5D696C2E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23" name="visual-15-17-p14-g8">
            <a:extLst xmlns:a="http://schemas.openxmlformats.org/drawingml/2006/main">
              <a:ext uri="{FF2B5EF4-FFF2-40B4-BE49-F238E27FC236}">
                <a16:creationId xmlns:a16="http://schemas.microsoft.com/office/drawing/2014/main" id="{C56EBA22-75B8-4235-9DA8-998EE7D1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576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检索 / 阅读 / 改写：来源与人工核验方式</a:t>
            </a:r>
          </a:p>
        </p:txBody>
      </p:sp>
      <p:sp>
        <p:nvSpPr>
          <p:cNvPr id="24" name="visual-15-18-p14-bottom">
            <a:extLst xmlns:a="http://schemas.openxmlformats.org/drawingml/2006/main">
              <a:ext uri="{FF2B5EF4-FFF2-40B4-BE49-F238E27FC236}">
                <a16:creationId xmlns:a16="http://schemas.microsoft.com/office/drawing/2014/main" id="{9E923512-423B-4F3B-8DD6-D30556D7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257800"/>
            <a:ext cx="942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本课重点补第 5-8 项；第 8 项必须是真实发生的失败或放弃方向。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门条件自查：累计工件与当前缺口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visual-16-0-p15-virtual">
            <a:extLst xmlns:a="http://schemas.openxmlformats.org/drawingml/2006/main">
              <a:ext uri="{FF2B5EF4-FFF2-40B4-BE49-F238E27FC236}">
                <a16:creationId xmlns:a16="http://schemas.microsoft.com/office/drawing/2014/main" id="{136A1AA1-4DE6-4998-A2DE-18C4139B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虚构教学样例｜门条件状态仅演示核对方法</a:t>
            </a:r>
          </a:p>
        </p:txBody>
      </p:sp>
      <p:sp>
        <p:nvSpPr>
          <p:cNvPr id="7" name="visual-16-1-p15-h0">
            <a:extLst xmlns:a="http://schemas.openxmlformats.org/drawingml/2006/main">
              <a:ext uri="{FF2B5EF4-FFF2-40B4-BE49-F238E27FC236}">
                <a16:creationId xmlns:a16="http://schemas.microsoft.com/office/drawing/2014/main" id="{052F83A9-D3BB-447E-963B-75132F30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条件</a:t>
            </a:r>
          </a:p>
        </p:txBody>
      </p:sp>
      <p:sp>
        <p:nvSpPr>
          <p:cNvPr id="8" name="visual-16-2-p15-h1">
            <a:extLst xmlns:a="http://schemas.openxmlformats.org/drawingml/2006/main">
              <a:ext uri="{FF2B5EF4-FFF2-40B4-BE49-F238E27FC236}">
                <a16:creationId xmlns:a16="http://schemas.microsoft.com/office/drawing/2014/main" id="{1DD1B6E3-9E6E-41F7-BB00-7BF8EC2F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287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累计来源</a:t>
            </a:r>
          </a:p>
        </p:txBody>
      </p:sp>
      <p:sp>
        <p:nvSpPr>
          <p:cNvPr id="9" name="visual-16-3-p15-h2">
            <a:extLst xmlns:a="http://schemas.openxmlformats.org/drawingml/2006/main">
              <a:ext uri="{FF2B5EF4-FFF2-40B4-BE49-F238E27FC236}">
                <a16:creationId xmlns:a16="http://schemas.microsoft.com/office/drawing/2014/main" id="{657616B3-3D5F-4DFB-A4C3-9F5F7745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当下要核对</a:t>
            </a:r>
          </a:p>
        </p:txBody>
      </p:sp>
      <p:sp>
        <p:nvSpPr>
          <p:cNvPr id="10" name="visual-16-4-p15-r0-0">
            <a:extLst xmlns:a="http://schemas.openxmlformats.org/drawingml/2006/main">
              <a:ext uri="{FF2B5EF4-FFF2-40B4-BE49-F238E27FC236}">
                <a16:creationId xmlns:a16="http://schemas.microsoft.com/office/drawing/2014/main" id="{E64F5A8F-90E8-49BE-A545-2FC40664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≥10 候选</a:t>
            </a:r>
          </a:p>
        </p:txBody>
      </p:sp>
      <p:sp>
        <p:nvSpPr>
          <p:cNvPr id="11" name="visual-16-5-p15-r0-1">
            <a:extLst xmlns:a="http://schemas.openxmlformats.org/drawingml/2006/main">
              <a:ext uri="{FF2B5EF4-FFF2-40B4-BE49-F238E27FC236}">
                <a16:creationId xmlns:a16="http://schemas.microsoft.com/office/drawing/2014/main" id="{90963C65-9036-4BEF-AFD3-18E0F397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288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3-5 课累计</a:t>
            </a:r>
          </a:p>
        </p:txBody>
      </p:sp>
      <p:sp>
        <p:nvSpPr>
          <p:cNvPr id="12" name="visual-16-6-p15-r0-2">
            <a:extLst xmlns:a="http://schemas.openxmlformats.org/drawingml/2006/main">
              <a:ext uri="{FF2B5EF4-FFF2-40B4-BE49-F238E27FC236}">
                <a16:creationId xmlns:a16="http://schemas.microsoft.com/office/drawing/2014/main" id="{BD41FCF3-C69D-49E4-B232-7C4B0CDD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数量 / 角色 / 状态</a:t>
            </a:r>
          </a:p>
        </p:txBody>
      </p:sp>
      <p:sp>
        <p:nvSpPr>
          <p:cNvPr id="13" name="visual-16-7-p15-r1-0">
            <a:extLst xmlns:a="http://schemas.openxmlformats.org/drawingml/2006/main">
              <a:ext uri="{FF2B5EF4-FFF2-40B4-BE49-F238E27FC236}">
                <a16:creationId xmlns:a16="http://schemas.microsoft.com/office/drawing/2014/main" id="{15E25C00-A602-492C-A832-63D5FD1C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≥3 精读卡</a:t>
            </a:r>
          </a:p>
        </p:txBody>
      </p:sp>
      <p:sp>
        <p:nvSpPr>
          <p:cNvPr id="14" name="visual-16-8-p15-r1-1">
            <a:extLst xmlns:a="http://schemas.openxmlformats.org/drawingml/2006/main">
              <a:ext uri="{FF2B5EF4-FFF2-40B4-BE49-F238E27FC236}">
                <a16:creationId xmlns:a16="http://schemas.microsoft.com/office/drawing/2014/main" id="{E23F250F-7E30-4F57-932C-F3A3C0FB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193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4-5 课累计</a:t>
            </a:r>
          </a:p>
        </p:txBody>
      </p:sp>
      <p:sp>
        <p:nvSpPr>
          <p:cNvPr id="15" name="visual-16-9-p15-r1-2">
            <a:extLst xmlns:a="http://schemas.openxmlformats.org/drawingml/2006/main">
              <a:ext uri="{FF2B5EF4-FFF2-40B4-BE49-F238E27FC236}">
                <a16:creationId xmlns:a16="http://schemas.microsoft.com/office/drawing/2014/main" id="{32E7F10E-8A81-4ECC-9138-25530AFC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193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完整字段 / 原文位置</a:t>
            </a:r>
          </a:p>
        </p:txBody>
      </p:sp>
      <p:sp>
        <p:nvSpPr>
          <p:cNvPr id="16" name="visual-16-10-p15-r2-0">
            <a:extLst xmlns:a="http://schemas.openxmlformats.org/drawingml/2006/main">
              <a:ext uri="{FF2B5EF4-FFF2-40B4-BE49-F238E27FC236}">
                <a16:creationId xmlns:a16="http://schemas.microsoft.com/office/drawing/2014/main" id="{DFD2031E-930E-457E-AF8D-5631065A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精读字段</a:t>
            </a:r>
          </a:p>
        </p:txBody>
      </p:sp>
      <p:sp>
        <p:nvSpPr>
          <p:cNvPr id="17" name="visual-16-11-p15-r2-1">
            <a:extLst xmlns:a="http://schemas.openxmlformats.org/drawingml/2006/main">
              <a:ext uri="{FF2B5EF4-FFF2-40B4-BE49-F238E27FC236}">
                <a16:creationId xmlns:a16="http://schemas.microsoft.com/office/drawing/2014/main" id="{15E2503C-5144-4287-BFEE-43FF7321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99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逐卡累计</a:t>
            </a:r>
          </a:p>
        </p:txBody>
      </p:sp>
      <p:sp>
        <p:nvSpPr>
          <p:cNvPr id="18" name="visual-16-12-p15-r2-2">
            <a:extLst xmlns:a="http://schemas.openxmlformats.org/drawingml/2006/main">
              <a:ext uri="{FF2B5EF4-FFF2-40B4-BE49-F238E27FC236}">
                <a16:creationId xmlns:a16="http://schemas.microsoft.com/office/drawing/2014/main" id="{69E28272-574C-499A-AC68-D1BB98B9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99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偏差或已检查风险</a:t>
            </a:r>
          </a:p>
        </p:txBody>
      </p:sp>
      <p:sp>
        <p:nvSpPr>
          <p:cNvPr id="19" name="visual-16-13-p15-r3-0">
            <a:extLst xmlns:a="http://schemas.openxmlformats.org/drawingml/2006/main">
              <a:ext uri="{FF2B5EF4-FFF2-40B4-BE49-F238E27FC236}">
                <a16:creationId xmlns:a16="http://schemas.microsoft.com/office/drawing/2014/main" id="{67133D0B-F29D-4F82-920C-EEA9BC06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证据地图</a:t>
            </a:r>
          </a:p>
        </p:txBody>
      </p:sp>
      <p:sp>
        <p:nvSpPr>
          <p:cNvPr id="20" name="visual-16-14-p15-r3-1">
            <a:extLst xmlns:a="http://schemas.openxmlformats.org/drawingml/2006/main">
              <a:ext uri="{FF2B5EF4-FFF2-40B4-BE49-F238E27FC236}">
                <a16:creationId xmlns:a16="http://schemas.microsoft.com/office/drawing/2014/main" id="{0E9E33FA-096C-49AA-A74F-988A0B44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5 课初版</a:t>
            </a:r>
          </a:p>
        </p:txBody>
      </p:sp>
      <p:sp>
        <p:nvSpPr>
          <p:cNvPr id="21" name="visual-16-15-p15-r3-2">
            <a:extLst xmlns:a="http://schemas.openxmlformats.org/drawingml/2006/main">
              <a:ext uri="{FF2B5EF4-FFF2-40B4-BE49-F238E27FC236}">
                <a16:creationId xmlns:a16="http://schemas.microsoft.com/office/drawing/2014/main" id="{467A3564-9B66-47D1-BCA4-43A4D1AF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004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直接 / 补充 / 冲突 / 空白</a:t>
            </a:r>
          </a:p>
        </p:txBody>
      </p:sp>
      <p:sp>
        <p:nvSpPr>
          <p:cNvPr id="22" name="visual-16-16-p15-now0">
            <a:extLst xmlns:a="http://schemas.openxmlformats.org/drawingml/2006/main">
              <a:ext uri="{FF2B5EF4-FFF2-40B4-BE49-F238E27FC236}">
                <a16:creationId xmlns:a16="http://schemas.microsoft.com/office/drawing/2014/main" id="{138B37F5-E96C-4198-9273-B0ABE597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5  问题 + 非例 + 命题</a:t>
            </a:r>
          </a:p>
        </p:txBody>
      </p:sp>
      <p:sp>
        <p:nvSpPr>
          <p:cNvPr id="23" name="visual-16-17-p15-now1">
            <a:extLst xmlns:a="http://schemas.openxmlformats.org/drawingml/2006/main">
              <a:ext uri="{FF2B5EF4-FFF2-40B4-BE49-F238E27FC236}">
                <a16:creationId xmlns:a16="http://schemas.microsoft.com/office/drawing/2014/main" id="{C57F30E5-C28D-4F2D-AAED-4C2DA125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053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6  第一性原理推导</a:t>
            </a:r>
          </a:p>
        </p:txBody>
      </p:sp>
      <p:sp>
        <p:nvSpPr>
          <p:cNvPr id="24" name="visual-16-18-p15-now2">
            <a:extLst xmlns:a="http://schemas.openxmlformats.org/drawingml/2006/main">
              <a:ext uri="{FF2B5EF4-FFF2-40B4-BE49-F238E27FC236}">
                <a16:creationId xmlns:a16="http://schemas.microsoft.com/office/drawing/2014/main" id="{AA4BD853-A8FC-487A-86DF-D8A4ACAB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7  重要性 + 周期</a:t>
            </a:r>
          </a:p>
        </p:txBody>
      </p:sp>
      <p:sp>
        <p:nvSpPr>
          <p:cNvPr id="25" name="visual-16-19-p15-now3">
            <a:extLst xmlns:a="http://schemas.openxmlformats.org/drawingml/2006/main">
              <a:ext uri="{FF2B5EF4-FFF2-40B4-BE49-F238E27FC236}">
                <a16:creationId xmlns:a16="http://schemas.microsoft.com/office/drawing/2014/main" id="{F282CFD0-9396-45C8-8D00-9BCCA59B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9339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8  真实失败记录</a:t>
            </a:r>
          </a:p>
        </p:txBody>
      </p:sp>
      <p:sp>
        <p:nvSpPr>
          <p:cNvPr id="26" name="visual-16-20-p15-now4">
            <a:extLst xmlns:a="http://schemas.openxmlformats.org/drawingml/2006/main">
              <a:ext uri="{FF2B5EF4-FFF2-40B4-BE49-F238E27FC236}">
                <a16:creationId xmlns:a16="http://schemas.microsoft.com/office/drawing/2014/main" id="{E277BF8B-7753-4A85-8558-1632E93A7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339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9  AI 记录</a:t>
            </a:r>
          </a:p>
        </p:txBody>
      </p:sp>
      <p:sp>
        <p:nvSpPr>
          <p:cNvPr id="27" name="visual-16-21-p15-bottom">
            <a:extLst xmlns:a="http://schemas.openxmlformats.org/drawingml/2006/main">
              <a:ext uri="{FF2B5EF4-FFF2-40B4-BE49-F238E27FC236}">
                <a16:creationId xmlns:a16="http://schemas.microsoft.com/office/drawing/2014/main" id="{D19A2C43-BFDD-4602-B884-DDDB5EAB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4864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自查要诚实标记已满足 / 待补全 / 未满足；失败记录不能预先编造。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个人实践：选题、边界与一个待验证前提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visual-17-0-minimum">
            <a:extLst xmlns:a="http://schemas.openxmlformats.org/drawingml/2006/main">
              <a:ext uri="{FF2B5EF4-FFF2-40B4-BE49-F238E27FC236}">
                <a16:creationId xmlns:a16="http://schemas.microsoft.com/office/drawing/2014/main" id="{E7DECA77-9BB2-4B37-B7E9-79021C56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课堂最低闭环</a:t>
            </a:r>
          </a:p>
        </p:txBody>
      </p:sp>
      <p:sp>
        <p:nvSpPr>
          <p:cNvPr id="7" name="visual-17-1-task-0">
            <a:extLst xmlns:a="http://schemas.openxmlformats.org/drawingml/2006/main">
              <a:ext uri="{FF2B5EF4-FFF2-40B4-BE49-F238E27FC236}">
                <a16:creationId xmlns:a16="http://schemas.microsoft.com/office/drawing/2014/main" id="{FC359E81-9BA8-40EF-A8AF-E149E515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visual-17-2-task-text-0">
            <a:extLst xmlns:a="http://schemas.openxmlformats.org/drawingml/2006/main">
              <a:ext uri="{FF2B5EF4-FFF2-40B4-BE49-F238E27FC236}">
                <a16:creationId xmlns:a16="http://schemas.microsoft.com/office/drawing/2014/main" id="{EC48C337-A5F1-408D-9E47-9C256BB5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47637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候选题池比较：≥3 个候选，记录来源与选定理由</a:t>
            </a:r>
          </a:p>
        </p:txBody>
      </p:sp>
      <p:sp>
        <p:nvSpPr>
          <p:cNvPr id="9" name="visual-17-3-task-1">
            <a:extLst xmlns:a="http://schemas.openxmlformats.org/drawingml/2006/main">
              <a:ext uri="{FF2B5EF4-FFF2-40B4-BE49-F238E27FC236}">
                <a16:creationId xmlns:a16="http://schemas.microsoft.com/office/drawing/2014/main" id="{27B0C544-CDD0-4FD2-9634-7A67D4B3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7-4-task-text-1">
            <a:extLst xmlns:a="http://schemas.openxmlformats.org/drawingml/2006/main">
              <a:ext uri="{FF2B5EF4-FFF2-40B4-BE49-F238E27FC236}">
                <a16:creationId xmlns:a16="http://schemas.microsoft.com/office/drawing/2014/main" id="{237A022E-F1DA-41EC-8B38-E57BD186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47637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把选定候选改写为结构性问题</a:t>
            </a:r>
          </a:p>
        </p:txBody>
      </p:sp>
      <p:sp>
        <p:nvSpPr>
          <p:cNvPr id="11" name="visual-17-5-task-2">
            <a:extLst xmlns:a="http://schemas.openxmlformats.org/drawingml/2006/main">
              <a:ext uri="{FF2B5EF4-FFF2-40B4-BE49-F238E27FC236}">
                <a16:creationId xmlns:a16="http://schemas.microsoft.com/office/drawing/2014/main" id="{DA40B499-4E60-43A1-A7D3-F54FA4D5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visual-17-6-task-text-2">
            <a:extLst xmlns:a="http://schemas.openxmlformats.org/drawingml/2006/main">
              <a:ext uri="{FF2B5EF4-FFF2-40B4-BE49-F238E27FC236}">
                <a16:creationId xmlns:a16="http://schemas.microsoft.com/office/drawing/2014/main" id="{9D6F3014-CE41-40A3-BBB6-33D8C5B3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4792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写一个非例，并说明为什么不算</a:t>
            </a:r>
          </a:p>
        </p:txBody>
      </p:sp>
      <p:sp>
        <p:nvSpPr>
          <p:cNvPr id="13" name="visual-17-7-task-3">
            <a:extLst xmlns:a="http://schemas.openxmlformats.org/drawingml/2006/main">
              <a:ext uri="{FF2B5EF4-FFF2-40B4-BE49-F238E27FC236}">
                <a16:creationId xmlns:a16="http://schemas.microsoft.com/office/drawing/2014/main" id="{141EEE30-4612-4B80-8139-EDFFE985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5431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17-8-task-text-3">
            <a:extLst xmlns:a="http://schemas.openxmlformats.org/drawingml/2006/main">
              <a:ext uri="{FF2B5EF4-FFF2-40B4-BE49-F238E27FC236}">
                <a16:creationId xmlns:a16="http://schemas.microsoft.com/office/drawing/2014/main" id="{3116BF01-EEF4-4BD0-B5B5-005FE532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44792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写一个含推翻条件的可证伪命题</a:t>
            </a:r>
          </a:p>
        </p:txBody>
      </p:sp>
      <p:sp>
        <p:nvSpPr>
          <p:cNvPr id="15" name="visual-17-9-task-4">
            <a:extLst xmlns:a="http://schemas.openxmlformats.org/drawingml/2006/main">
              <a:ext uri="{FF2B5EF4-FFF2-40B4-BE49-F238E27FC236}">
                <a16:creationId xmlns:a16="http://schemas.microsoft.com/office/drawing/2014/main" id="{1C43F183-084A-4D36-A8E7-252688ED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47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6" name="visual-17-10-task-text-4">
            <a:extLst xmlns:a="http://schemas.openxmlformats.org/drawingml/2006/main">
              <a:ext uri="{FF2B5EF4-FFF2-40B4-BE49-F238E27FC236}">
                <a16:creationId xmlns:a16="http://schemas.microsoft.com/office/drawing/2014/main" id="{450BB303-D2F3-489F-A590-275B6146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1947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收敛一个待验证前提，并写替代解释标记</a:t>
            </a:r>
          </a:p>
        </p:txBody>
      </p:sp>
      <p:sp>
        <p:nvSpPr>
          <p:cNvPr id="17" name="visual-17-11-task-5">
            <a:extLst xmlns:a="http://schemas.openxmlformats.org/drawingml/2006/main">
              <a:ext uri="{FF2B5EF4-FFF2-40B4-BE49-F238E27FC236}">
                <a16:creationId xmlns:a16="http://schemas.microsoft.com/office/drawing/2014/main" id="{149B7812-9599-4739-BA61-D9369270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147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" name="visual-17-12-task-text-5">
            <a:extLst xmlns:a="http://schemas.openxmlformats.org/drawingml/2006/main">
              <a:ext uri="{FF2B5EF4-FFF2-40B4-BE49-F238E27FC236}">
                <a16:creationId xmlns:a16="http://schemas.microsoft.com/office/drawing/2014/main" id="{E88C361B-023E-45A6-9CAA-66BC0DEC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41947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九项门条件标注：已满足／待补全／未满足</a:t>
            </a:r>
          </a:p>
        </p:txBody>
      </p:sp>
      <p:sp>
        <p:nvSpPr>
          <p:cNvPr id="19" name="visual-17-13-order">
            <a:extLst xmlns:a="http://schemas.openxmlformats.org/drawingml/2006/main">
              <a:ext uri="{FF2B5EF4-FFF2-40B4-BE49-F238E27FC236}">
                <a16:creationId xmlns:a16="http://schemas.microsoft.com/office/drawing/2014/main" id="{7A83AB2F-D4BB-4C8A-A5C9-6067930A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243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选择顺序：本人真实问题　→　导师组公开问题　→　课程虚构样例 G1</a:t>
            </a:r>
          </a:p>
        </p:txBody>
      </p:sp>
      <p:sp>
        <p:nvSpPr>
          <p:cNvPr id="20" name="visual-17-14-write">
            <a:extLst xmlns:a="http://schemas.openxmlformats.org/drawingml/2006/main">
              <a:ext uri="{FF2B5EF4-FFF2-40B4-BE49-F238E27FC236}">
                <a16:creationId xmlns:a16="http://schemas.microsoft.com/office/drawing/2014/main" id="{656F99FE-FEEB-4939-BCE4-60E33C10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写入：problem-definition.md｜完整竞争假设设计留给第 7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实践停留页：问题定义与推导最小闭环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question">
            <a:extLst xmlns:a="http://schemas.openxmlformats.org/drawingml/2006/main">
              <a:ext uri="{FF2B5EF4-FFF2-40B4-BE49-F238E27FC236}">
                <a16:creationId xmlns:a16="http://schemas.microsoft.com/office/drawing/2014/main" id="{50AC5945-8AE5-4A9C-964C-68C016FB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5191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一句话研究问题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在 ______ 条件下，______ 方法 / 机制是否改善 / 解释 ______。</a:t>
            </a:r>
          </a:p>
        </p:txBody>
      </p:sp>
      <p:sp>
        <p:nvSpPr>
          <p:cNvPr id="7" name="p18-left">
            <a:extLst xmlns:a="http://schemas.openxmlformats.org/drawingml/2006/main">
              <a:ext uri="{FF2B5EF4-FFF2-40B4-BE49-F238E27FC236}">
                <a16:creationId xmlns:a16="http://schemas.microsoft.com/office/drawing/2014/main" id="{3444913C-218B-4808-90F0-7E7B8347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1911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研究范围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包含什么 / 暂不包含什么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一个明确非例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一个含推翻条件的可证伪命题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第一性原理推导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基本约束 • 作用机制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不可违背条件 • 一个待验证前提</a:t>
            </a:r>
          </a:p>
        </p:txBody>
      </p:sp>
      <p:sp>
        <p:nvSpPr>
          <p:cNvPr id="8" name="p18-mid">
            <a:extLst xmlns:a="http://schemas.openxmlformats.org/drawingml/2006/main">
              <a:ext uri="{FF2B5EF4-FFF2-40B4-BE49-F238E27FC236}">
                <a16:creationId xmlns:a16="http://schemas.microsoft.com/office/drawing/2014/main" id="{0D5AEC56-6EBC-4DBD-95B3-7BAA775C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00965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9" name="p18-right">
            <a:extLst xmlns:a="http://schemas.openxmlformats.org/drawingml/2006/main">
              <a:ext uri="{FF2B5EF4-FFF2-40B4-BE49-F238E27FC236}">
                <a16:creationId xmlns:a16="http://schemas.microsoft.com/office/drawing/2014/main" id="{36E125E3-7AA3-4B08-9E44-F6E2269D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990600"/>
            <a:ext cx="48577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问题重要性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So what?  • Who cares?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课程周期可行性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候选题池与理由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≥3 个候选：表述 + 路径 + 当前证据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四维比较与选定理由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新颖性只作为待核验线索，不作硬门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7 课接口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一个会削弱当前主张的替代解释</a:t>
            </a:r>
          </a:p>
        </p:txBody>
      </p:sp>
      <p:sp>
        <p:nvSpPr>
          <p:cNvPr id="10" name="p18-minimum">
            <a:extLst xmlns:a="http://schemas.openxmlformats.org/drawingml/2006/main">
              <a:ext uri="{FF2B5EF4-FFF2-40B4-BE49-F238E27FC236}">
                <a16:creationId xmlns:a16="http://schemas.microsoft.com/office/drawing/2014/main" id="{B4870F10-D463-4A50-BB46-8A6B4FAD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九项门只标当前状态；课后按缺口补全。</a:t>
            </a:r>
          </a:p>
        </p:txBody>
      </p:sp>
      <p:sp>
        <p:nvSpPr>
          <p:cNvPr id="11" name="source">
            <a:extLst xmlns:a="http://schemas.openxmlformats.org/drawingml/2006/main">
              <a:ext uri="{FF2B5EF4-FFF2-40B4-BE49-F238E27FC236}">
                <a16:creationId xmlns:a16="http://schemas.microsoft.com/office/drawing/2014/main" id="{3B50CCED-9BBB-4301-B3D1-7B37E278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写入：problem-definition.md · 完整竞争假设设计留给第 7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同伴互查：只提问题，由作者决定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visual-19-0-p18-n0">
            <a:extLst xmlns:a="http://schemas.openxmlformats.org/drawingml/2006/main">
              <a:ext uri="{FF2B5EF4-FFF2-40B4-BE49-F238E27FC236}">
                <a16:creationId xmlns:a16="http://schemas.microsoft.com/office/drawing/2014/main" id="{600D97FA-6081-417D-B1B2-046743F9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9-1-p18-q0">
            <a:extLst xmlns:a="http://schemas.openxmlformats.org/drawingml/2006/main">
              <a:ext uri="{FF2B5EF4-FFF2-40B4-BE49-F238E27FC236}">
                <a16:creationId xmlns:a16="http://schemas.microsoft.com/office/drawing/2014/main" id="{35B44D6E-ADF5-49CE-BBB7-D2256B85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096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这是问题还是主题？</a:t>
            </a:r>
          </a:p>
        </p:txBody>
      </p:sp>
      <p:sp>
        <p:nvSpPr>
          <p:cNvPr id="8" name="visual-19-2-p18-n1">
            <a:extLst xmlns:a="http://schemas.openxmlformats.org/drawingml/2006/main">
              <a:ext uri="{FF2B5EF4-FFF2-40B4-BE49-F238E27FC236}">
                <a16:creationId xmlns:a16="http://schemas.microsoft.com/office/drawing/2014/main" id="{8DB45E06-0C28-4398-B29D-5071D9C1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19-3-p18-q1">
            <a:extLst xmlns:a="http://schemas.openxmlformats.org/drawingml/2006/main">
              <a:ext uri="{FF2B5EF4-FFF2-40B4-BE49-F238E27FC236}">
                <a16:creationId xmlns:a16="http://schemas.microsoft.com/office/drawing/2014/main" id="{C5EE6558-7FC5-4F2C-9CCC-5626D6A9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选题理由能用四维比较说清吗？</a:t>
            </a:r>
          </a:p>
        </p:txBody>
      </p:sp>
      <p:sp>
        <p:nvSpPr>
          <p:cNvPr id="10" name="visual-19-4-p18-n2">
            <a:extLst xmlns:a="http://schemas.openxmlformats.org/drawingml/2006/main">
              <a:ext uri="{FF2B5EF4-FFF2-40B4-BE49-F238E27FC236}">
                <a16:creationId xmlns:a16="http://schemas.microsoft.com/office/drawing/2014/main" id="{F12D7E42-C303-4DE8-8C79-38D2206E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9-5-p18-q2">
            <a:extLst xmlns:a="http://schemas.openxmlformats.org/drawingml/2006/main">
              <a:ext uri="{FF2B5EF4-FFF2-40B4-BE49-F238E27FC236}">
                <a16:creationId xmlns:a16="http://schemas.microsoft.com/office/drawing/2014/main" id="{C7F675EA-6FA3-4974-9793-37F23C54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717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什么观察会推翻命题？</a:t>
            </a:r>
          </a:p>
        </p:txBody>
      </p:sp>
      <p:sp>
        <p:nvSpPr>
          <p:cNvPr id="12" name="visual-19-6-p18-n3">
            <a:extLst xmlns:a="http://schemas.openxmlformats.org/drawingml/2006/main">
              <a:ext uri="{FF2B5EF4-FFF2-40B4-BE49-F238E27FC236}">
                <a16:creationId xmlns:a16="http://schemas.microsoft.com/office/drawing/2014/main" id="{C60B6537-63A0-46DB-B33E-A007B544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19-7-p18-q3">
            <a:extLst xmlns:a="http://schemas.openxmlformats.org/drawingml/2006/main">
              <a:ext uri="{FF2B5EF4-FFF2-40B4-BE49-F238E27FC236}">
                <a16:creationId xmlns:a16="http://schemas.microsoft.com/office/drawing/2014/main" id="{18897B64-D4E1-4E27-A179-DC1F5E04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3528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推导哪一步回到证据地图？</a:t>
            </a:r>
          </a:p>
        </p:txBody>
      </p:sp>
      <p:sp>
        <p:nvSpPr>
          <p:cNvPr id="14" name="visual-19-8-p18-n4">
            <a:extLst xmlns:a="http://schemas.openxmlformats.org/drawingml/2006/main">
              <a:ext uri="{FF2B5EF4-FFF2-40B4-BE49-F238E27FC236}">
                <a16:creationId xmlns:a16="http://schemas.microsoft.com/office/drawing/2014/main" id="{DFDE5BAF-AF16-40BC-BFAC-D4073935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visual-19-9-p18-q4">
            <a:extLst xmlns:a="http://schemas.openxmlformats.org/drawingml/2006/main">
              <a:ext uri="{FF2B5EF4-FFF2-40B4-BE49-F238E27FC236}">
                <a16:creationId xmlns:a16="http://schemas.microsoft.com/office/drawing/2014/main" id="{8853C9BE-2EB9-43A8-93EB-E0A630BC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338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九项中最可能缺哪项？</a:t>
            </a:r>
          </a:p>
        </p:txBody>
      </p:sp>
      <p:sp>
        <p:nvSpPr>
          <p:cNvPr id="16" name="visual-19-10-p18-author">
            <a:extLst xmlns:a="http://schemas.openxmlformats.org/drawingml/2006/main">
              <a:ext uri="{FF2B5EF4-FFF2-40B4-BE49-F238E27FC236}">
                <a16:creationId xmlns:a16="http://schemas.microsoft.com/office/drawing/2014/main" id="{63B48428-4041-4EFD-8B74-1D9B0847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0668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</a:t>
            </a:r>
          </a:p>
        </p:txBody>
      </p:sp>
      <p:sp>
        <p:nvSpPr>
          <p:cNvPr id="17" name="visual-19-11-p18-s0">
            <a:extLst xmlns:a="http://schemas.openxmlformats.org/drawingml/2006/main">
              <a:ext uri="{FF2B5EF4-FFF2-40B4-BE49-F238E27FC236}">
                <a16:creationId xmlns:a16="http://schemas.microsoft.com/office/drawing/2014/main" id="{E825264D-FC4F-4D56-A694-73A8D3FA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526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18" name="visual-19-12-p18-s1">
            <a:extLst xmlns:a="http://schemas.openxmlformats.org/drawingml/2006/main">
              <a:ext uri="{FF2B5EF4-FFF2-40B4-BE49-F238E27FC236}">
                <a16:creationId xmlns:a16="http://schemas.microsoft.com/office/drawing/2014/main" id="{833A1642-679A-4D8B-9E79-C98D283A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051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</p:txBody>
      </p:sp>
      <p:sp>
        <p:nvSpPr>
          <p:cNvPr id="19" name="visual-19-13-p18-s2">
            <a:extLst xmlns:a="http://schemas.openxmlformats.org/drawingml/2006/main">
              <a:ext uri="{FF2B5EF4-FFF2-40B4-BE49-F238E27FC236}">
                <a16:creationId xmlns:a16="http://schemas.microsoft.com/office/drawing/2014/main" id="{D953B286-3C9B-43D2-A61E-59ADB186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576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20" name="visual-19-14-p18-bottom">
            <a:extLst xmlns:a="http://schemas.openxmlformats.org/drawingml/2006/main">
              <a:ext uri="{FF2B5EF4-FFF2-40B4-BE49-F238E27FC236}">
                <a16:creationId xmlns:a16="http://schemas.microsoft.com/office/drawing/2014/main" id="{E4BC148F-5975-4A20-B1C2-EB17145C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visual-20-0-p20-n0">
            <a:extLst xmlns:a="http://schemas.openxmlformats.org/drawingml/2006/main">
              <a:ext uri="{FF2B5EF4-FFF2-40B4-BE49-F238E27FC236}">
                <a16:creationId xmlns:a16="http://schemas.microsoft.com/office/drawing/2014/main" id="{5621C616-0362-4252-847D-892EA16F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20-1-p20-h0">
            <a:extLst xmlns:a="http://schemas.openxmlformats.org/drawingml/2006/main">
              <a:ext uri="{FF2B5EF4-FFF2-40B4-BE49-F238E27FC236}">
                <a16:creationId xmlns:a16="http://schemas.microsoft.com/office/drawing/2014/main" id="{0A59A585-37FE-44D8-83CC-59A14A9E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结构性问题</a:t>
            </a:r>
          </a:p>
        </p:txBody>
      </p:sp>
      <p:sp>
        <p:nvSpPr>
          <p:cNvPr id="8" name="visual-20-2-p20-d0">
            <a:extLst xmlns:a="http://schemas.openxmlformats.org/drawingml/2006/main">
              <a:ext uri="{FF2B5EF4-FFF2-40B4-BE49-F238E27FC236}">
                <a16:creationId xmlns:a16="http://schemas.microsoft.com/office/drawing/2014/main" id="{9E8F2EC7-7BC9-4D74-AE29-A385236D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写清条件、对象、干预与结果</a:t>
            </a:r>
          </a:p>
        </p:txBody>
      </p:sp>
      <p:sp>
        <p:nvSpPr>
          <p:cNvPr id="9" name="visual-20-3-p20-arrow0">
            <a:extLst xmlns:a="http://schemas.openxmlformats.org/drawingml/2006/main">
              <a:ext uri="{FF2B5EF4-FFF2-40B4-BE49-F238E27FC236}">
                <a16:creationId xmlns:a16="http://schemas.microsoft.com/office/drawing/2014/main" id="{F2D7C4F3-7C8A-4AB3-8420-CCAE688F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0-4-p20-n1">
            <a:extLst xmlns:a="http://schemas.openxmlformats.org/drawingml/2006/main">
              <a:ext uri="{FF2B5EF4-FFF2-40B4-BE49-F238E27FC236}">
                <a16:creationId xmlns:a16="http://schemas.microsoft.com/office/drawing/2014/main" id="{1EED79F6-36A4-4045-9E9F-0034142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20-5-p20-h1">
            <a:extLst xmlns:a="http://schemas.openxmlformats.org/drawingml/2006/main">
              <a:ext uri="{FF2B5EF4-FFF2-40B4-BE49-F238E27FC236}">
                <a16:creationId xmlns:a16="http://schemas.microsoft.com/office/drawing/2014/main" id="{69212B70-1D69-43EE-8E33-3F085D73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可证伪命题</a:t>
            </a:r>
          </a:p>
        </p:txBody>
      </p:sp>
      <p:sp>
        <p:nvSpPr>
          <p:cNvPr id="12" name="visual-20-6-p20-d1">
            <a:extLst xmlns:a="http://schemas.openxmlformats.org/drawingml/2006/main">
              <a:ext uri="{FF2B5EF4-FFF2-40B4-BE49-F238E27FC236}">
                <a16:creationId xmlns:a16="http://schemas.microsoft.com/office/drawing/2014/main" id="{7D2AB5E5-F098-4EF3-9EF5-DC0FEEDE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明确对照、指标与推翻条件</a:t>
            </a:r>
          </a:p>
        </p:txBody>
      </p:sp>
      <p:sp>
        <p:nvSpPr>
          <p:cNvPr id="13" name="visual-20-7-p20-arrow1">
            <a:extLst xmlns:a="http://schemas.openxmlformats.org/drawingml/2006/main">
              <a:ext uri="{FF2B5EF4-FFF2-40B4-BE49-F238E27FC236}">
                <a16:creationId xmlns:a16="http://schemas.microsoft.com/office/drawing/2014/main" id="{A7A78E91-3043-418E-AE51-4148F297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20-8-p20-n2">
            <a:extLst xmlns:a="http://schemas.openxmlformats.org/drawingml/2006/main">
              <a:ext uri="{FF2B5EF4-FFF2-40B4-BE49-F238E27FC236}">
                <a16:creationId xmlns:a16="http://schemas.microsoft.com/office/drawing/2014/main" id="{059C48B4-4C54-4A5A-B9FE-2214284F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20-9-p20-h2">
            <a:extLst xmlns:a="http://schemas.openxmlformats.org/drawingml/2006/main">
              <a:ext uri="{FF2B5EF4-FFF2-40B4-BE49-F238E27FC236}">
                <a16:creationId xmlns:a16="http://schemas.microsoft.com/office/drawing/2014/main" id="{58393813-F6D1-4FB4-A0A4-ACFEA06A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</a:t>
            </a:r>
          </a:p>
        </p:txBody>
      </p:sp>
      <p:sp>
        <p:nvSpPr>
          <p:cNvPr id="16" name="visual-20-10-p20-d2">
            <a:extLst xmlns:a="http://schemas.openxmlformats.org/drawingml/2006/main">
              <a:ext uri="{FF2B5EF4-FFF2-40B4-BE49-F238E27FC236}">
                <a16:creationId xmlns:a16="http://schemas.microsoft.com/office/drawing/2014/main" id="{820A8472-8A0B-41CE-92BC-A39E8B79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由约束推导待验证前提</a:t>
            </a:r>
          </a:p>
        </p:txBody>
      </p:sp>
      <p:sp>
        <p:nvSpPr>
          <p:cNvPr id="17" name="visual-20-11-p20-arrow2">
            <a:extLst xmlns:a="http://schemas.openxmlformats.org/drawingml/2006/main">
              <a:ext uri="{FF2B5EF4-FFF2-40B4-BE49-F238E27FC236}">
                <a16:creationId xmlns:a16="http://schemas.microsoft.com/office/drawing/2014/main" id="{60F09E3E-7A2F-44DB-91BB-E0E20B88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visual-20-12-p20-n3">
            <a:extLst xmlns:a="http://schemas.openxmlformats.org/drawingml/2006/main">
              <a:ext uri="{FF2B5EF4-FFF2-40B4-BE49-F238E27FC236}">
                <a16:creationId xmlns:a16="http://schemas.microsoft.com/office/drawing/2014/main" id="{03AA84C1-5F0A-4342-9373-3BE599EF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visual-20-13-p20-h3">
            <a:extLst xmlns:a="http://schemas.openxmlformats.org/drawingml/2006/main">
              <a:ext uri="{FF2B5EF4-FFF2-40B4-BE49-F238E27FC236}">
                <a16:creationId xmlns:a16="http://schemas.microsoft.com/office/drawing/2014/main" id="{3175BEEB-92A8-4AD7-8422-14791837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问题门自查</a:t>
            </a:r>
          </a:p>
        </p:txBody>
      </p:sp>
      <p:sp>
        <p:nvSpPr>
          <p:cNvPr id="20" name="visual-20-14-p20-d3">
            <a:extLst xmlns:a="http://schemas.openxmlformats.org/drawingml/2006/main">
              <a:ext uri="{FF2B5EF4-FFF2-40B4-BE49-F238E27FC236}">
                <a16:creationId xmlns:a16="http://schemas.microsoft.com/office/drawing/2014/main" id="{0A3BE6CC-CE42-42A6-9BE0-B5F3E692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核对九项条件与真实失败记录</a:t>
            </a:r>
          </a:p>
        </p:txBody>
      </p:sp>
      <p:sp>
        <p:nvSpPr>
          <p:cNvPr id="21" name="visual-20-15-p20-boundary">
            <a:extLst xmlns:a="http://schemas.openxmlformats.org/drawingml/2006/main">
              <a:ext uri="{FF2B5EF4-FFF2-40B4-BE49-F238E27FC236}">
                <a16:creationId xmlns:a16="http://schemas.microsoft.com/office/drawing/2014/main" id="{D987D71D-155B-4A92-8432-9DAEF70C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43375"/>
            <a:ext cx="981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关键边界：第一性原理推导得到的是待验证前提，不是结论；问题门检查当前项目是否具备继续研究的条件。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问题门提交与失败回退路径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visual-21-0-p21-submit">
            <a:extLst xmlns:a="http://schemas.openxmlformats.org/drawingml/2006/main">
              <a:ext uri="{FF2B5EF4-FFF2-40B4-BE49-F238E27FC236}">
                <a16:creationId xmlns:a16="http://schemas.microsoft.com/office/drawing/2014/main" id="{5D1A68C5-BB19-47E3-86B8-414E7557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一次提交</a:t>
            </a:r>
          </a:p>
        </p:txBody>
      </p:sp>
      <p:sp>
        <p:nvSpPr>
          <p:cNvPr id="7" name="visual-21-1-p19-how">
            <a:extLst xmlns:a="http://schemas.openxmlformats.org/drawingml/2006/main">
              <a:ext uri="{FF2B5EF4-FFF2-40B4-BE49-F238E27FC236}">
                <a16:creationId xmlns:a16="http://schemas.microsoft.com/office/drawing/2014/main" id="{90251B82-4B26-433F-8462-6FC093FC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000125"/>
            <a:ext cx="323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当前个人项目版本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链接 / tag / 压缩包</a:t>
            </a:r>
          </a:p>
        </p:txBody>
      </p:sp>
      <p:sp>
        <p:nvSpPr>
          <p:cNvPr id="8" name="visual-21-2-p19-no">
            <a:extLst xmlns:a="http://schemas.openxmlformats.org/drawingml/2006/main">
              <a:ext uri="{FF2B5EF4-FFF2-40B4-BE49-F238E27FC236}">
                <a16:creationId xmlns:a16="http://schemas.microsoft.com/office/drawing/2014/main" id="{EC9CC1B9-AD8E-4A3C-B75C-ED1FE49A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95375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不重复制作与项目分离的汇报文档</a:t>
            </a:r>
          </a:p>
        </p:txBody>
      </p:sp>
      <p:sp>
        <p:nvSpPr>
          <p:cNvPr id="9" name="visual-21-3-p19-h0">
            <a:extLst xmlns:a="http://schemas.openxmlformats.org/drawingml/2006/main">
              <a:ext uri="{FF2B5EF4-FFF2-40B4-BE49-F238E27FC236}">
                <a16:creationId xmlns:a16="http://schemas.microsoft.com/office/drawing/2014/main" id="{F2AB572A-8FE5-474E-ADA5-278D0994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缺直接证据</a:t>
            </a:r>
          </a:p>
        </p:txBody>
      </p:sp>
      <p:sp>
        <p:nvSpPr>
          <p:cNvPr id="10" name="visual-21-4-p19-a0">
            <a:extLst xmlns:a="http://schemas.openxmlformats.org/drawingml/2006/main">
              <a:ext uri="{FF2B5EF4-FFF2-40B4-BE49-F238E27FC236}">
                <a16:creationId xmlns:a16="http://schemas.microsoft.com/office/drawing/2014/main" id="{FA5BED7B-ADC5-4F59-B638-ED15982B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1907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21-5-p19-d0">
            <a:extLst xmlns:a="http://schemas.openxmlformats.org/drawingml/2006/main">
              <a:ext uri="{FF2B5EF4-FFF2-40B4-BE49-F238E27FC236}">
                <a16:creationId xmlns:a16="http://schemas.microsoft.com/office/drawing/2014/main" id="{CA5A65E9-C0DA-4E58-B1FF-BAE0B042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回第 3-4 课：检索 / 精读</a:t>
            </a:r>
          </a:p>
        </p:txBody>
      </p:sp>
      <p:sp>
        <p:nvSpPr>
          <p:cNvPr id="12" name="visual-21-6-p19-h1">
            <a:extLst xmlns:a="http://schemas.openxmlformats.org/drawingml/2006/main">
              <a:ext uri="{FF2B5EF4-FFF2-40B4-BE49-F238E27FC236}">
                <a16:creationId xmlns:a16="http://schemas.microsoft.com/office/drawing/2014/main" id="{F7CD5FF7-6EC8-48B2-B1D1-7D5DF27D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336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问题过大</a:t>
            </a:r>
          </a:p>
        </p:txBody>
      </p:sp>
      <p:sp>
        <p:nvSpPr>
          <p:cNvPr id="13" name="visual-21-7-p19-a1">
            <a:extLst xmlns:a="http://schemas.openxmlformats.org/drawingml/2006/main">
              <a:ext uri="{FF2B5EF4-FFF2-40B4-BE49-F238E27FC236}">
                <a16:creationId xmlns:a16="http://schemas.microsoft.com/office/drawing/2014/main" id="{B91A45D6-5B43-4876-A7D6-1A2A19FC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813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21-8-p19-d1">
            <a:extLst xmlns:a="http://schemas.openxmlformats.org/drawingml/2006/main">
              <a:ext uri="{FF2B5EF4-FFF2-40B4-BE49-F238E27FC236}">
                <a16:creationId xmlns:a16="http://schemas.microsoft.com/office/drawing/2014/main" id="{1AF3D9ED-9E2D-4019-99FB-D79CC735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336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回本课：问题重写 / 非例</a:t>
            </a:r>
          </a:p>
        </p:txBody>
      </p:sp>
      <p:sp>
        <p:nvSpPr>
          <p:cNvPr id="15" name="visual-21-9-p19-h2">
            <a:extLst xmlns:a="http://schemas.openxmlformats.org/drawingml/2006/main">
              <a:ext uri="{FF2B5EF4-FFF2-40B4-BE49-F238E27FC236}">
                <a16:creationId xmlns:a16="http://schemas.microsoft.com/office/drawing/2014/main" id="{434BEE85-7C53-4A29-BB9C-50B846CD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242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命题不可证伪</a:t>
            </a:r>
          </a:p>
        </p:txBody>
      </p:sp>
      <p:sp>
        <p:nvSpPr>
          <p:cNvPr id="16" name="visual-21-10-p19-a2">
            <a:extLst xmlns:a="http://schemas.openxmlformats.org/drawingml/2006/main">
              <a:ext uri="{FF2B5EF4-FFF2-40B4-BE49-F238E27FC236}">
                <a16:creationId xmlns:a16="http://schemas.microsoft.com/office/drawing/2014/main" id="{0ED129F9-86FF-496D-A0A2-AF32C92C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3718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visual-21-11-p19-d2">
            <a:extLst xmlns:a="http://schemas.openxmlformats.org/drawingml/2006/main">
              <a:ext uri="{FF2B5EF4-FFF2-40B4-BE49-F238E27FC236}">
                <a16:creationId xmlns:a16="http://schemas.microsoft.com/office/drawing/2014/main" id="{56D3F81A-4A0D-4DF8-95BC-2925B2CB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24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补对照 / 指标 / 推翻条件</a:t>
            </a:r>
          </a:p>
        </p:txBody>
      </p:sp>
      <p:sp>
        <p:nvSpPr>
          <p:cNvPr id="18" name="visual-21-12-p19-h3">
            <a:extLst xmlns:a="http://schemas.openxmlformats.org/drawingml/2006/main">
              <a:ext uri="{FF2B5EF4-FFF2-40B4-BE49-F238E27FC236}">
                <a16:creationId xmlns:a16="http://schemas.microsoft.com/office/drawing/2014/main" id="{FD80FFBC-8D7D-4C64-AF47-1A7AB0D8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147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推导脱离文献</a:t>
            </a:r>
          </a:p>
        </p:txBody>
      </p:sp>
      <p:sp>
        <p:nvSpPr>
          <p:cNvPr id="19" name="visual-21-13-p19-a3">
            <a:extLst xmlns:a="http://schemas.openxmlformats.org/drawingml/2006/main">
              <a:ext uri="{FF2B5EF4-FFF2-40B4-BE49-F238E27FC236}">
                <a16:creationId xmlns:a16="http://schemas.microsoft.com/office/drawing/2014/main" id="{4F168748-D1E9-4642-82A9-C90FD17B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9624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visual-21-14-p19-d3">
            <a:extLst xmlns:a="http://schemas.openxmlformats.org/drawingml/2006/main">
              <a:ext uri="{FF2B5EF4-FFF2-40B4-BE49-F238E27FC236}">
                <a16:creationId xmlns:a16="http://schemas.microsoft.com/office/drawing/2014/main" id="{71350692-C295-4063-886B-469C0BCA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14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回第 5 课证据地图</a:t>
            </a:r>
          </a:p>
        </p:txBody>
      </p:sp>
      <p:sp>
        <p:nvSpPr>
          <p:cNvPr id="21" name="visual-21-15-p19-h4">
            <a:extLst xmlns:a="http://schemas.openxmlformats.org/drawingml/2006/main">
              <a:ext uri="{FF2B5EF4-FFF2-40B4-BE49-F238E27FC236}">
                <a16:creationId xmlns:a16="http://schemas.microsoft.com/office/drawing/2014/main" id="{CB4A56B2-0F52-4F3E-9961-8094DEB3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053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失败记录缺失</a:t>
            </a:r>
          </a:p>
        </p:txBody>
      </p:sp>
      <p:sp>
        <p:nvSpPr>
          <p:cNvPr id="22" name="visual-21-16-p19-a4">
            <a:extLst xmlns:a="http://schemas.openxmlformats.org/drawingml/2006/main">
              <a:ext uri="{FF2B5EF4-FFF2-40B4-BE49-F238E27FC236}">
                <a16:creationId xmlns:a16="http://schemas.microsoft.com/office/drawing/2014/main" id="{E7A5BC69-8F4E-44F1-B1BF-8C5240C6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529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3" name="visual-21-17-p19-d4">
            <a:extLst xmlns:a="http://schemas.openxmlformats.org/drawingml/2006/main">
              <a:ext uri="{FF2B5EF4-FFF2-40B4-BE49-F238E27FC236}">
                <a16:creationId xmlns:a16="http://schemas.microsoft.com/office/drawing/2014/main" id="{97A2AE2D-8048-4217-A284-3A1437AC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053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回真实过程：记录死路、处理与回写</a:t>
            </a:r>
          </a:p>
        </p:txBody>
      </p:sp>
      <p:sp>
        <p:nvSpPr>
          <p:cNvPr id="24" name="visual-21-18-p19-check">
            <a:extLst xmlns:a="http://schemas.openxmlformats.org/drawingml/2006/main">
              <a:ext uri="{FF2B5EF4-FFF2-40B4-BE49-F238E27FC236}">
                <a16:creationId xmlns:a16="http://schemas.microsoft.com/office/drawing/2014/main" id="{63F103AE-3332-4535-944B-2973D59A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91125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提交核对：problem-definition.md + failure-log.md；候选题池与选题理由仍是课程扩展字段</a:t>
            </a:r>
          </a:p>
        </p:txBody>
      </p:sp>
      <p:sp>
        <p:nvSpPr>
          <p:cNvPr id="25" name="visual-21-19-p19-bottom">
            <a:extLst xmlns:a="http://schemas.openxmlformats.org/drawingml/2006/main">
              <a:ext uri="{FF2B5EF4-FFF2-40B4-BE49-F238E27FC236}">
                <a16:creationId xmlns:a16="http://schemas.microsoft.com/office/drawing/2014/main" id="{53B539E4-0C08-4CFC-88D4-D564DCA3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54355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未通过：只修复缺失条件，一周内重新检查；不重交无关材料。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退出卡与第 7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6" name="visual-22-0-p20-f0">
            <a:extLst xmlns:a="http://schemas.openxmlformats.org/drawingml/2006/main">
              <a:ext uri="{FF2B5EF4-FFF2-40B4-BE49-F238E27FC236}">
                <a16:creationId xmlns:a16="http://schemas.microsoft.com/office/drawing/2014/main" id="{D6A53507-C025-457C-9DB2-FAECB9B0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</a:t>
            </a:r>
          </a:p>
        </p:txBody>
      </p:sp>
      <p:sp>
        <p:nvSpPr>
          <p:cNvPr id="7" name="visual-22-1-p20-a0">
            <a:extLst xmlns:a="http://schemas.openxmlformats.org/drawingml/2006/main">
              <a:ext uri="{FF2B5EF4-FFF2-40B4-BE49-F238E27FC236}">
                <a16:creationId xmlns:a16="http://schemas.microsoft.com/office/drawing/2014/main" id="{C2C45EE0-590F-41E6-B839-CA06AD33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22-2-p20-f1">
            <a:extLst xmlns:a="http://schemas.openxmlformats.org/drawingml/2006/main">
              <a:ext uri="{FF2B5EF4-FFF2-40B4-BE49-F238E27FC236}">
                <a16:creationId xmlns:a16="http://schemas.microsoft.com/office/drawing/2014/main" id="{F390271E-D58F-4684-B1B7-6D47D719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811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待验证前提</a:t>
            </a:r>
          </a:p>
        </p:txBody>
      </p:sp>
      <p:sp>
        <p:nvSpPr>
          <p:cNvPr id="9" name="visual-22-3-p20-a1">
            <a:extLst xmlns:a="http://schemas.openxmlformats.org/drawingml/2006/main">
              <a:ext uri="{FF2B5EF4-FFF2-40B4-BE49-F238E27FC236}">
                <a16:creationId xmlns:a16="http://schemas.microsoft.com/office/drawing/2014/main" id="{24471705-2670-4D36-B88E-0FB4D366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2-4-p20-f2">
            <a:extLst xmlns:a="http://schemas.openxmlformats.org/drawingml/2006/main">
              <a:ext uri="{FF2B5EF4-FFF2-40B4-BE49-F238E27FC236}">
                <a16:creationId xmlns:a16="http://schemas.microsoft.com/office/drawing/2014/main" id="{CACDA569-8180-49E5-A693-89EC8AE0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7 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1" name="visual-22-5-p20-a2">
            <a:extLst xmlns:a="http://schemas.openxmlformats.org/drawingml/2006/main">
              <a:ext uri="{FF2B5EF4-FFF2-40B4-BE49-F238E27FC236}">
                <a16:creationId xmlns:a16="http://schemas.microsoft.com/office/drawing/2014/main" id="{FAE1DB63-586A-4C3E-9CDF-54C917EA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22-6-p20-f3">
            <a:extLst xmlns:a="http://schemas.openxmlformats.org/drawingml/2006/main">
              <a:ext uri="{FF2B5EF4-FFF2-40B4-BE49-F238E27FC236}">
                <a16:creationId xmlns:a16="http://schemas.microsoft.com/office/drawing/2014/main" id="{834CF385-BB97-4DBE-8EC9-F6F0A065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3811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13" name="visual-22-7-p20-exit">
            <a:extLst xmlns:a="http://schemas.openxmlformats.org/drawingml/2006/main">
              <a:ext uri="{FF2B5EF4-FFF2-40B4-BE49-F238E27FC236}">
                <a16:creationId xmlns:a16="http://schemas.microsoft.com/office/drawing/2014/main" id="{72AE4613-D67C-4942-896B-12CEABFF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退出卡</a:t>
            </a:r>
          </a:p>
        </p:txBody>
      </p:sp>
      <p:sp>
        <p:nvSpPr>
          <p:cNvPr id="14" name="visual-22-8-p20-q0">
            <a:extLst xmlns:a="http://schemas.openxmlformats.org/drawingml/2006/main">
              <a:ext uri="{FF2B5EF4-FFF2-40B4-BE49-F238E27FC236}">
                <a16:creationId xmlns:a16="http://schemas.microsoft.com/office/drawing/2014/main" id="{79026E0D-2BDB-4957-9ABD-C8CD3404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575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你最可能缺哪一项门条件？</a:t>
            </a:r>
          </a:p>
        </p:txBody>
      </p:sp>
      <p:sp>
        <p:nvSpPr>
          <p:cNvPr id="15" name="visual-22-9-p20-q1">
            <a:extLst xmlns:a="http://schemas.openxmlformats.org/drawingml/2006/main">
              <a:ext uri="{FF2B5EF4-FFF2-40B4-BE49-F238E27FC236}">
                <a16:creationId xmlns:a16="http://schemas.microsoft.com/office/drawing/2014/main" id="{3B88629D-DC76-47E3-8C33-913D5E08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385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选题理由能否用四维比较说清？</a:t>
            </a:r>
          </a:p>
        </p:txBody>
      </p:sp>
      <p:sp>
        <p:nvSpPr>
          <p:cNvPr id="16" name="visual-22-10-p20-q2">
            <a:extLst xmlns:a="http://schemas.openxmlformats.org/drawingml/2006/main">
              <a:ext uri="{FF2B5EF4-FFF2-40B4-BE49-F238E27FC236}">
                <a16:creationId xmlns:a16="http://schemas.microsoft.com/office/drawing/2014/main" id="{74A37F8E-13C4-4428-91BD-DA3A56A5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哪条待验证前提将进入机制假设？</a:t>
            </a:r>
          </a:p>
        </p:txBody>
      </p:sp>
      <p:sp>
        <p:nvSpPr>
          <p:cNvPr id="17" name="visual-22-11-p20-bottom">
            <a:extLst xmlns:a="http://schemas.openxmlformats.org/drawingml/2006/main">
              <a:ext uri="{FF2B5EF4-FFF2-40B4-BE49-F238E27FC236}">
                <a16:creationId xmlns:a16="http://schemas.microsoft.com/office/drawing/2014/main" id="{259A3E4C-CAE2-414D-A76C-651C0F70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816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保存当前项目版本；第 7 课从待验证前提出发，不跳过问题门直接做实验。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2026-09-12T11:41:56.7170000Z</dcterms:created>
  <dcterms:modified xsi:type="dcterms:W3CDTF">2026-09-12T11:41:56.7170000Z</dcterms:modified>
</coreProperties>
</file>