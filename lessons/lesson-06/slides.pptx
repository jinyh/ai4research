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a91d1b5b174983" /><Relationship Type="http://schemas.openxmlformats.org/officeDocument/2006/relationships/extended-properties" Target="/docProps/app.xml" Id="R12488f122cc74a8e" /><Relationship Type="http://schemas.openxmlformats.org/officeDocument/2006/relationships/officeDocument" Target="/ppt/presentation.xml" Id="R656fa243017f43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1996b2df5444e4"/>
  </p:sldMasterIdLst>
  <p:notesMasterIdLst>
    <p:notesMasterId xmlns:r="http://schemas.openxmlformats.org/officeDocument/2006/relationships" r:id="R3767fecbeeb14f7e"/>
  </p:notesMasterIdLst>
  <p:sldIdLst>
    <p:sldId xmlns:r="http://schemas.openxmlformats.org/officeDocument/2006/relationships" id="256" r:id="R196eb361daa3470a"/>
    <p:sldId xmlns:r="http://schemas.openxmlformats.org/officeDocument/2006/relationships" id="257" r:id="R2b7af4b30ec942f3"/>
    <p:sldId xmlns:r="http://schemas.openxmlformats.org/officeDocument/2006/relationships" id="258" r:id="R5f34d1269a0e498b"/>
    <p:sldId xmlns:r="http://schemas.openxmlformats.org/officeDocument/2006/relationships" id="259" r:id="Rdd73d46da2834aa2"/>
    <p:sldId xmlns:r="http://schemas.openxmlformats.org/officeDocument/2006/relationships" id="260" r:id="R73279445bbc64fe0"/>
    <p:sldId xmlns:r="http://schemas.openxmlformats.org/officeDocument/2006/relationships" id="261" r:id="Ra0c769f8952c4af4"/>
    <p:sldId xmlns:r="http://schemas.openxmlformats.org/officeDocument/2006/relationships" id="262" r:id="Rf554367159e14942"/>
    <p:sldId xmlns:r="http://schemas.openxmlformats.org/officeDocument/2006/relationships" id="263" r:id="Rd0c13eb34e3a414f"/>
    <p:sldId xmlns:r="http://schemas.openxmlformats.org/officeDocument/2006/relationships" id="264" r:id="R8d36bfe127494c67"/>
    <p:sldId xmlns:r="http://schemas.openxmlformats.org/officeDocument/2006/relationships" id="265" r:id="R399eecaec49f4e98"/>
    <p:sldId xmlns:r="http://schemas.openxmlformats.org/officeDocument/2006/relationships" id="266" r:id="R19218ad1f80d4f07"/>
    <p:sldId xmlns:r="http://schemas.openxmlformats.org/officeDocument/2006/relationships" id="267" r:id="R529e2a9c31ea4868"/>
    <p:sldId xmlns:r="http://schemas.openxmlformats.org/officeDocument/2006/relationships" id="268" r:id="R7f19955039d64783"/>
    <p:sldId xmlns:r="http://schemas.openxmlformats.org/officeDocument/2006/relationships" id="269" r:id="R9590b082cf71437c"/>
    <p:sldId xmlns:r="http://schemas.openxmlformats.org/officeDocument/2006/relationships" id="270" r:id="R3d4e4b09042a4f5e"/>
    <p:sldId xmlns:r="http://schemas.openxmlformats.org/officeDocument/2006/relationships" id="271" r:id="R8ccd27b63b204c15"/>
    <p:sldId xmlns:r="http://schemas.openxmlformats.org/officeDocument/2006/relationships" id="272" r:id="R31cf248374b645cb"/>
    <p:sldId xmlns:r="http://schemas.openxmlformats.org/officeDocument/2006/relationships" id="273" r:id="R1a3b91c9da3344eb"/>
    <p:sldId xmlns:r="http://schemas.openxmlformats.org/officeDocument/2006/relationships" id="274" r:id="R5436540deca54bd7"/>
    <p:sldId xmlns:r="http://schemas.openxmlformats.org/officeDocument/2006/relationships" id="275" r:id="Rd1b18bbf302b4c54"/>
    <p:sldId xmlns:r="http://schemas.openxmlformats.org/officeDocument/2006/relationships" id="276" r:id="Rc3bab328cf0145fb"/>
    <p:sldId xmlns:r="http://schemas.openxmlformats.org/officeDocument/2006/relationships" id="277" r:id="R6df83d27f37d40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ebbba77deb4d14" /><Relationship Type="http://schemas.openxmlformats.org/officeDocument/2006/relationships/slideMaster" Target="/ppt/slideMasters/slideMaster1.xml" Id="R1f1996b2df5444e4" /><Relationship Type="http://schemas.openxmlformats.org/officeDocument/2006/relationships/notesMaster" Target="/ppt/notesMasters/notesMaster1.xml" Id="R3767fecbeeb14f7e" /><Relationship Type="http://schemas.openxmlformats.org/officeDocument/2006/relationships/presProps" Target="/ppt/presProps.xml" Id="R9d5eeae0ea03417b" /><Relationship Type="http://schemas.openxmlformats.org/officeDocument/2006/relationships/viewProps" Target="/ppt/viewProps.xml" Id="Rf9f491a61bdb400e" /><Relationship Type="http://schemas.openxmlformats.org/officeDocument/2006/relationships/tableStyles" Target="/ppt/tableStyles.xml" Id="R98c7ac9accf24fec" /><Relationship Type="http://schemas.openxmlformats.org/officeDocument/2006/relationships/slide" Target="/ppt/slides/slide1.xml" Id="R196eb361daa3470a" /><Relationship Type="http://schemas.openxmlformats.org/officeDocument/2006/relationships/slide" Target="/ppt/slides/slide2.xml" Id="R2b7af4b30ec942f3" /><Relationship Type="http://schemas.openxmlformats.org/officeDocument/2006/relationships/slide" Target="/ppt/slides/slide3.xml" Id="R5f34d1269a0e498b" /><Relationship Type="http://schemas.openxmlformats.org/officeDocument/2006/relationships/slide" Target="/ppt/slides/slide4.xml" Id="Rdd73d46da2834aa2" /><Relationship Type="http://schemas.openxmlformats.org/officeDocument/2006/relationships/slide" Target="/ppt/slides/slide5.xml" Id="R73279445bbc64fe0" /><Relationship Type="http://schemas.openxmlformats.org/officeDocument/2006/relationships/slide" Target="/ppt/slides/slide6.xml" Id="Ra0c769f8952c4af4" /><Relationship Type="http://schemas.openxmlformats.org/officeDocument/2006/relationships/slide" Target="/ppt/slides/slide7.xml" Id="Rf554367159e14942" /><Relationship Type="http://schemas.openxmlformats.org/officeDocument/2006/relationships/slide" Target="/ppt/slides/slide8.xml" Id="Rd0c13eb34e3a414f" /><Relationship Type="http://schemas.openxmlformats.org/officeDocument/2006/relationships/slide" Target="/ppt/slides/slide9.xml" Id="R8d36bfe127494c67" /><Relationship Type="http://schemas.openxmlformats.org/officeDocument/2006/relationships/slide" Target="/ppt/slides/slide10.xml" Id="R399eecaec49f4e98" /><Relationship Type="http://schemas.openxmlformats.org/officeDocument/2006/relationships/slide" Target="/ppt/slides/slide11.xml" Id="R19218ad1f80d4f07" /><Relationship Type="http://schemas.openxmlformats.org/officeDocument/2006/relationships/slide" Target="/ppt/slides/slide12.xml" Id="R529e2a9c31ea4868" /><Relationship Type="http://schemas.openxmlformats.org/officeDocument/2006/relationships/slide" Target="/ppt/slides/slide13.xml" Id="R7f19955039d64783" /><Relationship Type="http://schemas.openxmlformats.org/officeDocument/2006/relationships/slide" Target="/ppt/slides/slide14.xml" Id="R9590b082cf71437c" /><Relationship Type="http://schemas.openxmlformats.org/officeDocument/2006/relationships/slide" Target="/ppt/slides/slide15.xml" Id="R3d4e4b09042a4f5e" /><Relationship Type="http://schemas.openxmlformats.org/officeDocument/2006/relationships/slide" Target="/ppt/slides/slide16.xml" Id="R8ccd27b63b204c15" /><Relationship Type="http://schemas.openxmlformats.org/officeDocument/2006/relationships/slide" Target="/ppt/slides/slide17.xml" Id="R31cf248374b645cb" /><Relationship Type="http://schemas.openxmlformats.org/officeDocument/2006/relationships/slide" Target="/ppt/slides/slide18.xml" Id="R1a3b91c9da3344eb" /><Relationship Type="http://schemas.openxmlformats.org/officeDocument/2006/relationships/slide" Target="/ppt/slides/slide19.xml" Id="R5436540deca54bd7" /><Relationship Type="http://schemas.openxmlformats.org/officeDocument/2006/relationships/slide" Target="/ppt/slides/slide20.xml" Id="Rd1b18bbf302b4c54" /><Relationship Type="http://schemas.openxmlformats.org/officeDocument/2006/relationships/slide" Target="/ppt/slides/slide21.xml" Id="Rc3bab328cf0145fb" /><Relationship Type="http://schemas.openxmlformats.org/officeDocument/2006/relationships/slide" Target="/ppt/slides/slide22.xml" Id="R6df83d27f37d40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72ea87599043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b417731ae44dda" /><Relationship Type="http://schemas.openxmlformats.org/officeDocument/2006/relationships/notesMaster" Target="/ppt/notesMasters/notesMaster1.xml" Id="R081bca85234649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c2e2e237a148f5" /><Relationship Type="http://schemas.openxmlformats.org/officeDocument/2006/relationships/notesMaster" Target="/ppt/notesMasters/notesMaster1.xml" Id="R874d58272f4f44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10de97b2334154" /><Relationship Type="http://schemas.openxmlformats.org/officeDocument/2006/relationships/notesMaster" Target="/ppt/notesMasters/notesMaster1.xml" Id="Rab8b682b184a49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aa7dc3c6bf45d7" /><Relationship Type="http://schemas.openxmlformats.org/officeDocument/2006/relationships/notesMaster" Target="/ppt/notesMasters/notesMaster1.xml" Id="Rd0d5b7d1a00b47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f187025ea34dcd" /><Relationship Type="http://schemas.openxmlformats.org/officeDocument/2006/relationships/notesMaster" Target="/ppt/notesMasters/notesMaster1.xml" Id="R13d3ab2d503e4f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a260a1f866442a" /><Relationship Type="http://schemas.openxmlformats.org/officeDocument/2006/relationships/notesMaster" Target="/ppt/notesMasters/notesMaster1.xml" Id="Ra2439f25da2440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54527e67fd415a" /><Relationship Type="http://schemas.openxmlformats.org/officeDocument/2006/relationships/notesMaster" Target="/ppt/notesMasters/notesMaster1.xml" Id="R143b272871ca4e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e05eb3484e4012" /><Relationship Type="http://schemas.openxmlformats.org/officeDocument/2006/relationships/notesMaster" Target="/ppt/notesMasters/notesMaster1.xml" Id="Rec2e6c80e91c47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c616a3e39f482c" /><Relationship Type="http://schemas.openxmlformats.org/officeDocument/2006/relationships/notesMaster" Target="/ppt/notesMasters/notesMaster1.xml" Id="R54c64aec43ef4b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dc014969c14118" /><Relationship Type="http://schemas.openxmlformats.org/officeDocument/2006/relationships/notesMaster" Target="/ppt/notesMasters/notesMaster1.xml" Id="R0581c94112b44d4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bea7a211d34462" /><Relationship Type="http://schemas.openxmlformats.org/officeDocument/2006/relationships/notesMaster" Target="/ppt/notesMasters/notesMaster1.xml" Id="R9c2d92eb55674b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3a2da5a65e4d29" /><Relationship Type="http://schemas.openxmlformats.org/officeDocument/2006/relationships/notesMaster" Target="/ppt/notesMasters/notesMaster1.xml" Id="R9b995e056c6b47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5dbb18a1c7443dc" /><Relationship Type="http://schemas.openxmlformats.org/officeDocument/2006/relationships/notesMaster" Target="/ppt/notesMasters/notesMaster1.xml" Id="R3738c22fbaff45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7846afb87b484a" /><Relationship Type="http://schemas.openxmlformats.org/officeDocument/2006/relationships/notesMaster" Target="/ppt/notesMasters/notesMaster1.xml" Id="Re3dbbd7349fe4f1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0c6ea67388c4e93" /><Relationship Type="http://schemas.openxmlformats.org/officeDocument/2006/relationships/notesMaster" Target="/ppt/notesMasters/notesMaster1.xml" Id="R276f6e6a22924d5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a198ec0b5dc4530" /><Relationship Type="http://schemas.openxmlformats.org/officeDocument/2006/relationships/notesMaster" Target="/ppt/notesMasters/notesMaster1.xml" Id="Rd28e8faefed7495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171ec0ec2b64113" /><Relationship Type="http://schemas.openxmlformats.org/officeDocument/2006/relationships/notesMaster" Target="/ppt/notesMasters/notesMaster1.xml" Id="R84e4d9db3c74474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d5327d38ce843a8" /><Relationship Type="http://schemas.openxmlformats.org/officeDocument/2006/relationships/notesMaster" Target="/ppt/notesMasters/notesMaster1.xml" Id="Rbea63237d2904d5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832b5c878db4365" /><Relationship Type="http://schemas.openxmlformats.org/officeDocument/2006/relationships/notesMaster" Target="/ppt/notesMasters/notesMaster1.xml" Id="R46e4be1a40cb4f9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9a8e46e9e2145f0" /><Relationship Type="http://schemas.openxmlformats.org/officeDocument/2006/relationships/notesMaster" Target="/ppt/notesMasters/notesMaster1.xml" Id="Re537ee413a54490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704b346d9bc4157" /><Relationship Type="http://schemas.openxmlformats.org/officeDocument/2006/relationships/notesMaster" Target="/ppt/notesMasters/notesMaster1.xml" Id="R42bb4103a72640c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433c76ba0804286" /><Relationship Type="http://schemas.openxmlformats.org/officeDocument/2006/relationships/notesMaster" Target="/ppt/notesMasters/notesMaster1.xml" Id="Reedfc098967a4c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页面：P01 第6讲 研究问题、问题定义与第一性原理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开场放下研究空白清单。第 5 课已经识别了研究空白候选并通过了三步检验，但空白本身还不是研究问题。本课把空白收敛为可检验问题，并完成第一次正式提交——问题门。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不展开课程行政信息，直接进入下一页回扣。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课程定位以 [syllabus.md](../../course/syllabus.md) 与 [备课规划.md](../备课规划.md) 第 6 课段为准。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页面：P02 第 5 课之后，研究空白候选如何变成问题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回扣第 5 课：证据地图和研究空白候选让"缺什么"变得可见，但没有回答"问什么"。本课进入阶段一和阶段二，把空白收敛为可检验问题。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快问：你目前的研究空白候选是什么？它是一个空格描述，还是一个包含条件和机制的问题？只听回答，不评价。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回扣第 5 课讲义与 [AGENTS.md](../../AGENTS.md) 证据标准。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页面：P03 选择一个能完成的问题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先独立作答，再同伴比较；以下依据只在校准时揭示。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 为默认低成本工程问题，能与 L9–13 连续实施。C 也可达标，但需有实际评价工作流修改并把结论限定到审计。A 原范围不可行，可以收窄成当前文本上的描述性问题。仅说“B 简单”不足，须解释坏记录影响何种研究决定。放弃真实备选即可形成死路记录，无需人为失败。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先独立写决定和证据，后同伴比较；校准后再回写。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[备课规划.md](../备课规划.md) 第 6 课目标段；[assignments.md](../../course/assignments.md) Checkpoint 1 问题门条件。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页面：P04 主题、研究问题还是待验证主张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让学生先判断自己当前的问题表述属于哪一层。常见错误是停在主题层，缺少条件、对象和比较。研究问题需要指明在什么条件下、对什么对象、什么干预、什么结果、与什么比较。缺少任何一项，综述和实验都无法定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请学生举手：你当前的 problem-definition.md 里的问题表述属于哪一层？只统计，不点名。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§一·1 主题、问题与主张；Booth et al. *The Craft of Research*, 5th ed., Chapter 1 "From Topics to Questions"（[reading-list.md](../../course/reading-list.md) 第 6 课）。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页面：P05 从研究空白到结构性问题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以虚构教学样例 G1 展示从空白到问题的转换。改写的关键是补充条件、对象、干预、结果和比较对象。空白候选只是一个空格描述，问题是一个可操作的结构；样例真实性仍待真实窄检索，不作为实证结论。让学生用自己的空白候选尝试同样的改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让学生用自己的研究空白候选，口头尝试补充条件、对象、干预和结果。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§一·2 从研究空白到问题的转换；贯穿案例承接第 5 课 G1。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页面：P06 用 So what? / Who cares? 检查重要性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第 5 课三步检验已经做过一次重要性检查，这里从空白候选升级为问题后需要再确认一次。重要性看问题在论证链上的位置——如果不回答它，哪些后续判断无法成立？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让学生对自己的问题口头回答"So what?"：如果不回答它，哪条论证链断掉？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§一·3 "So what?" 和 "Who cares?"；Booth et al. *The Craft of Research*, 5th ed., Chapter 2 "From Questions to a Problem"；Hamming, "You and Your Research"（[reading-list.md](../../course/reading-list.md) 第 6 课）。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页面：P07 问题来源交叉检查与四维选题标准卡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这是防止"关键词 → 论文 → 空白"单线选题的收束页：候选题池里的候选先交叉检查来源，纯文献空白来源的候选要回答"没有这个空白还值得回答吗"。然后用四维标准卡比较 ≥3 个候选题，以意义和可行性完成取舍；新颖性只在有依据时记录类别和待核验状态，不作为淘汰硬门。比较示范用贯穿案例的虚构题池（G1 + C2 + C3，见讲义 §七第一步）。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让学生对自己的候选题回答来源交叉检查问句；答不出的记下"待重推或明示重要性边界"。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§一·4；Booth et al. *The Craft of Research*（意义维度）；Hamming, "You and Your Research"（重要问题与品味）；霍强《创新研究到底怎么做？》Passion/Excellence/Impact（兴趣与意义参照，课堂案例）；第 5 课 §四·1 生成路径。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页面：P08 用非例界定问题边界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非例的价值在于防止项目随检索膨胀。当你在搜索中看到一篇"似乎相关"的论文时，非例帮你判断它到底在不在范围内。第 1 课已经给出基本概念，本课把它系统化为三种类型。非例不只是"不做 X"，还要说明为什么不算。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让学生为自己的问题写一个非例，并说明为什么不算。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§二·1 什么是非例；§二·2 非例的写法。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页面：P09 非例的三种常见错误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胡晓峰在《浅谈科研课题中的"科学问题"》中指出一种常见错误：把背景、意义或"怎么做"误写成科学问题。非例的作用之一就是把这些"看起来是问题但实际不是"的表述挡在问题定义之外。非例过宽等于没有约束，过窄等于排除数据集而非界定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让学生检查自己的非例属于哪种类型，或是否避免了这四种错误。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§二·3 非例的常见错误；胡晓峰《浅谈科研课题中的"科学问题"》（[reading-list.md](../../course/reading-list.md) 第 6 课课堂案例）。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页面：P10 怎样的观察会削弱这条命题？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先问“成本高就证明没有降低遗漏吗”。应回答不一定：效果命题可能成立，但不值得采用。反证点须对应命题中的谓词和范围；精度不足时保持未决。这里尚未展示构造结果，不能预告方法有效。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给自己的主张圈出结果谓词，写一项能削弱它的观察。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页面：P11 给第 7 课留下替代解释标记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本页只建立跨课接口。让学生意识到当前解释并不唯一，并把最可能的替代解释写在问题定义旁。不要在此展开组别、控制变量或完整区分实验；这些进入第 7 课正式设计。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让学生写出一个会削弱当前主张的替代解释。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§三·3 给第 7 课留下替代解释标记；Platt, "Strong Inference."（同 P09 来源）。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页面：P12 第一性原理不是脱离证据的捷径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第一性原理分析在本课程中有明确适用边界。它不是通用思维方法，而是从基本约束推导待验证前提。推导结果只是假设性前提，不等于已经证明。推导出的前提进入第 7 课的机制假设，再进入第 9 课的实验规格接受检验。备课规划执行原则 9 明确了这一边界。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无。直接进入推导步骤。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§四·1 什么是第一性原理分析；§四·3 适用边界；[备课规划.md](../备课规划.md) 执行原则 9；[AGENTS.md](../../AGENTS.md) 证据标准。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页面：P13 第一性原理四步推导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四步推导的关键是区分"来自任务本身的约束"和"来自当前工具的约束"。基本约束是问题成立的必要条件，作用机制指向中间过程而非最终指标，不可违背条件是比较公平性的底线。推导出的待验证前提应该是可以检验的具体陈述，不是泛泛的原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让学生为自己的研究问题，口头尝试回答第一步："如果主张成立，哪些条件必须满足？"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§四·2 推导步骤。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页面：P14 贯穿案例：把前提移交给第 7–9 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延续 P05 的同一问题，不再切换案例。本页只说明第 6 课输出什么：一条问题、一个待验证前提和一个替代解释标记。Q1、H1/A2 与 A1/A3 检查 的完整区分留给第 7 课，3 份源文本、两个条件各 1 份预制输出和 6 份构造输出等完整工程规格留给第 9 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让学生指出：当前替代解释标记更接近任务转移、标注提示还是文档结构？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§三·3、§四与§七；本页案例为课程虚构教学样例，不表示实验已经运行。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页面：P15 问题门九项条件自查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逐条讲清 9 项门条件。第 8 项检查真实发生的无结果检索、被排除方向或被放弃问题版本，前瞻性的“如果失败就重试”不满足；第 9 项是 AI 使用与来源核验。问题门检查当前项目版本，不重新制作材料。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让学生对照清单，标注当前项目哪些已满足、哪些待补全。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[assignments.md](../../course/assignments.md) Checkpoint 1 问题门条件（权威来源）；[starter-template.md](../../course/starter-template.md) §3 问题定义字段模板。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页面：P16 门条件检查的是本人项目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回收本课的个人问题定义。若学生只完成教师示例，记录“方法已练习、本人项目证据未补”。不要把某篇文献没有测量的能力直接说成被反驳。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写下本人问题门最缺的一项材料及补齐位置。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./handout.md；课堂示例与构造数据见 ../../course/reading-card-case.md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页面：P17 本人项目：决定、核验与回写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第一段作决定并查证据；中点处理共性卡点；第二段实际回写并验证。B 为默认低成本工程问题，能与 L9–13 连续实施。C 也可达标，但需有实际评价工作流修改并把结论限定到审计。A 原范围不可行，可以收窄成当前文本上的描述性问题。仅说“B 简单”不足，须解释坏记录影响何种研究决定。放弃真实备选即可形成死路记录，无需人为失败。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完成第三张关键来源精读卡；用四维选择理由确定微型问题，给出非例、可证伪命题及一个必要前提，课堂逐项检查问题门。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[starter-template.md](../../course/starter-template.md) §3 问题定义字段模板；第 3-5 课项目工件。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页面：P18 实践停留页：问题定义与推导最小闭环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模板投屏。第一段个人实践先完成候选题取舍、边界和可证伪命题；教师中点点评全班最常见的一处边界或推翻条件问题；第二段再写一个待验证前提和替代解释标记。九项门条件只标状态，课后按缺口补全并提交问题门材料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个人实践 12 分钟 → 教师中点点评 5 分钟 → 个人实践 8 分钟。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§五·3 问题定义文件字段；[starter-template.md](../../course/starter-template.md) §3；[assignments.md](../../course/assignments.md) Checkpoint 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页面：P19 同伴互查：只提问题，由作者决定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每人约 3-5 分钟：一人用 45 秒说明问题、非例和可证伪命题；同伴按门条件逐项检查。反馈不要求立即改写。反馈者不替代作者修改，不形成共同提交。人数为奇数时组成三人组，每人缩短说明时间。重点检查第 5-7 项（本课产出），第 1-4 项只确认已存在。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每人说明一个问题边界与推翻条件；同伴只提问题，作者记录处理方式。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同伴反馈为形成性活动，不单独计分，不共同提交（[assignments.md](../../course/assignments.md)）。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页面：P20 本讲知识点总结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回收本讲主链：从结构性问题出发，写出可证伪命题，再用基本约束推导待验证前提，最后按九项问题门条件核对。总结不替代下一页的提交说明。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学生用一句话说出自己当前最需要补的是问题表述、推翻条件、推导依据还是门条件记录。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讲义 §一-§五；[assignments.md](../../course/assignments.md) Checkpoint 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页面：P21 问题门提交与失败回退路径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问题门允许低成本试探，保留探索痕迹和待核验项；可用主文档章节定位，原始记录和阶段版本保留，文件数量不计分。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明确提交方式和回退路径。问题门检查当前项目版本，不重新制作材料。未通过时回到根因所在环节修复，不是重新写一份报告。第一次未通过不扣重分，但需在一周内修订。根因定位帮助学生知道不通过时回到哪个环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让学生检查：如果当前提交，9 项中哪一项最可能不通过？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[assignments.md](../../course/assignments.md) Checkpoint 1 提交方式与未通过处理；[assessment.md](../../course/assessment.md) "文献与问题定位"维度（25%）。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页面：P22 保留本课决定，准备下一课输入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讲述与校准：</a:t>
            </a:r>
          </a:p>
          <a:p xmlns:a="http://schemas.openxmlformats.org/drawingml/2006/main">
            <a:r>
              <a:t>15 分钟整理；45 分钟只修课堂发现的缺口并提交问题门。 每课课外最多60分钟；详见讲义。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学生动作：</a:t>
            </a:r>
          </a:p>
          <a:p xmlns:a="http://schemas.openxmlformats.org/drawingml/2006/main">
            <a:r>
              <a:t>定位实际工件与下一项动作；按既定预算收口。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课堂安排：按本稿下方 90 分钟教学路由安排；此页不另占独立时段。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Booth, W. C. et al. *The Craft of Research*, 5th ed. [出版社页面](https://press.uchicago.edu/ucp/books/book/chicago/C/bo215874008)。</a:t>
            </a:r>
          </a:p>
          <a:p xmlns:a="http://schemas.openxmlformats.org/drawingml/2006/main">
            <a:r>
              <a:t>- Platt, J. R. *Science* 146(3642), 347-353 (1964). DOI: [10.1126/science.146.3642.347](https://pubmed.ncbi.nlm.nih.gov/17739513/)。</a:t>
            </a:r>
          </a:p>
          <a:p xmlns:a="http://schemas.openxmlformats.org/drawingml/2006/main">
            <a:r>
              <a:t>- Hamming, R. W. *The Art of Doing Science and Engineering*. [出版社页面](https://press.stripe.com/the-art-of-doing-science-and-engineering)。</a:t>
            </a:r>
          </a:p>
          <a:p xmlns:a="http://schemas.openxmlformats.org/drawingml/2006/main">
            <a:r>
              <a:t>- 阅读规则见 [reading-list.md](../../course/reading-list.md)。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 handout.md、judgment-task.md；../../course/judgment-path.md。教学构造仅用于方法判断；本人结果以实际记录为准。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e63abc6a394467" /><Relationship Type="http://schemas.openxmlformats.org/officeDocument/2006/relationships/image" Target="/ppt/media/image.png" Id="R15a0f2b819e7468d" /><Relationship Type="http://schemas.openxmlformats.org/officeDocument/2006/relationships/image" Target="/ppt/media/image2.png" Id="Rb6b7de890c3f4b3b" /><Relationship Type="http://schemas.openxmlformats.org/officeDocument/2006/relationships/image" Target="/ppt/media/image3.png" Id="Ra037cc9b6fe541c5" /><Relationship Type="http://schemas.openxmlformats.org/officeDocument/2006/relationships/image" Target="/ppt/media/image4.png" Id="R939b3ce61f2f48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8c4fa7db9948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6c677ec8ff41ba" /><Relationship Type="http://schemas.openxmlformats.org/officeDocument/2006/relationships/image" Target="/ppt/media/image2.png" Id="Rc5b20669a6c641e0" /><Relationship Type="http://schemas.openxmlformats.org/officeDocument/2006/relationships/image" Target="/ppt/media/image5.png" Id="Rfaa81d0cb1e643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0858dde78e4fb8" /><Relationship Type="http://schemas.openxmlformats.org/officeDocument/2006/relationships/image" Target="/ppt/media/image.png" Id="R4aa0867f29404cf3" /><Relationship Type="http://schemas.openxmlformats.org/officeDocument/2006/relationships/image" Target="/ppt/media/image3.png" Id="R2e62e76fd7ce4db8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0f2b819e7468d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6b7de890c3f4b3b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37cc9b6fe541c5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9b3ce61f2f48da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5b20669a6c641e0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a81d0cb1e643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0867f29404cf3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e62e76fd7ce4db8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e159365d484515" /><Relationship Type="http://schemas.openxmlformats.org/officeDocument/2006/relationships/slideLayout" Target="/ppt/slideLayouts/slideLayout1.xml" Id="R07a2991f02374449" /><Relationship Type="http://schemas.openxmlformats.org/officeDocument/2006/relationships/slideLayout" Target="/ppt/slideLayouts/slideLayout2.xml" Id="R7a5749cdbc4f4d8a" /><Relationship Type="http://schemas.openxmlformats.org/officeDocument/2006/relationships/slideLayout" Target="/ppt/slideLayouts/slideLayout3.xml" Id="R8289e3270046423c" /><Relationship Type="http://schemas.openxmlformats.org/officeDocument/2006/relationships/slideLayout" Target="/ppt/slideLayouts/slideLayout4.xml" Id="Rc9dfde77a4164f4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a2991f02374449"/>
    <p:sldLayoutId xmlns:r="http://schemas.openxmlformats.org/officeDocument/2006/relationships" id="2147483650" r:id="R7a5749cdbc4f4d8a"/>
    <p:sldLayoutId xmlns:r="http://schemas.openxmlformats.org/officeDocument/2006/relationships" id="2147483651" r:id="R8289e3270046423c"/>
    <p:sldLayoutId xmlns:r="http://schemas.openxmlformats.org/officeDocument/2006/relationships" id="2147483652" r:id="Rc9dfde77a4164f49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bfcf39ea7420b" /><Relationship Type="http://schemas.openxmlformats.org/officeDocument/2006/relationships/notesSlide" Target="/ppt/notesSlides/notesSlide1.xml" Id="Ra5a8cbc28e574e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a88a102b3794ad4" /><Relationship Type="http://schemas.openxmlformats.org/officeDocument/2006/relationships/notesSlide" Target="/ppt/notesSlides/notesSlide2.xml" Id="R3f4059021fee48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49b2abcdde948c7" /><Relationship Type="http://schemas.openxmlformats.org/officeDocument/2006/relationships/notesSlide" Target="/ppt/notesSlides/notesSlide3.xml" Id="Ra27c480c74f042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d825a1bef6c476e" /><Relationship Type="http://schemas.openxmlformats.org/officeDocument/2006/relationships/notesSlide" Target="/ppt/notesSlides/notesSlide4.xml" Id="R8eb40f969b674b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40b1874adce4375" /><Relationship Type="http://schemas.openxmlformats.org/officeDocument/2006/relationships/notesSlide" Target="/ppt/notesSlides/notesSlide5.xml" Id="Rfd80a250653e4b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1305bb2be0047e1" /><Relationship Type="http://schemas.openxmlformats.org/officeDocument/2006/relationships/notesSlide" Target="/ppt/notesSlides/notesSlide6.xml" Id="R39475071757f487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775691b74864c12" /><Relationship Type="http://schemas.openxmlformats.org/officeDocument/2006/relationships/notesSlide" Target="/ppt/notesSlides/notesSlide7.xml" Id="Rc8c1286b478f4f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f0107c6068f47ad" /><Relationship Type="http://schemas.openxmlformats.org/officeDocument/2006/relationships/notesSlide" Target="/ppt/notesSlides/notesSlide8.xml" Id="Rec50cecb2aed4a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c94e95c84c94da5" /><Relationship Type="http://schemas.openxmlformats.org/officeDocument/2006/relationships/notesSlide" Target="/ppt/notesSlides/notesSlide9.xml" Id="R045e50ede5f343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da41b266d9d4213" /><Relationship Type="http://schemas.openxmlformats.org/officeDocument/2006/relationships/notesSlide" Target="/ppt/notesSlides/notesSlide10.xml" Id="R85319895b73541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d67831506984af7" /><Relationship Type="http://schemas.openxmlformats.org/officeDocument/2006/relationships/notesSlide" Target="/ppt/notesSlides/notesSlide11.xml" Id="R516f20da1c8648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98fbcacb6354daf" /><Relationship Type="http://schemas.openxmlformats.org/officeDocument/2006/relationships/notesSlide" Target="/ppt/notesSlides/notesSlide12.xml" Id="Rc4f141638dfe444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30afa332ad34303" /><Relationship Type="http://schemas.openxmlformats.org/officeDocument/2006/relationships/notesSlide" Target="/ppt/notesSlides/notesSlide13.xml" Id="Rd5c35a1d21a74ee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ed266ac48884c38" /><Relationship Type="http://schemas.openxmlformats.org/officeDocument/2006/relationships/notesSlide" Target="/ppt/notesSlides/notesSlide14.xml" Id="R1b40e222f5754f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4c5ac2ff00e4c80" /><Relationship Type="http://schemas.openxmlformats.org/officeDocument/2006/relationships/notesSlide" Target="/ppt/notesSlides/notesSlide15.xml" Id="R86dbed0c205a432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3fec7b270094984" /><Relationship Type="http://schemas.openxmlformats.org/officeDocument/2006/relationships/notesSlide" Target="/ppt/notesSlides/notesSlide16.xml" Id="Rc536bef23c62414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905b08f06334b5e" /><Relationship Type="http://schemas.openxmlformats.org/officeDocument/2006/relationships/notesSlide" Target="/ppt/notesSlides/notesSlide17.xml" Id="R69254626ed50400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451f974f90b4423" /><Relationship Type="http://schemas.openxmlformats.org/officeDocument/2006/relationships/notesSlide" Target="/ppt/notesSlides/notesSlide18.xml" Id="Rc9bb5cc6fcf641c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d51514a40f34600" /><Relationship Type="http://schemas.openxmlformats.org/officeDocument/2006/relationships/notesSlide" Target="/ppt/notesSlides/notesSlide19.xml" Id="R15e7600f5c2f4cf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620956592aa4171" /><Relationship Type="http://schemas.openxmlformats.org/officeDocument/2006/relationships/notesSlide" Target="/ppt/notesSlides/notesSlide20.xml" Id="R91bef7135dc4418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105ed01bdf1485f" /><Relationship Type="http://schemas.openxmlformats.org/officeDocument/2006/relationships/notesSlide" Target="/ppt/notesSlides/notesSlide21.xml" Id="R385be21d54c24b7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1699c3134394584" /><Relationship Type="http://schemas.openxmlformats.org/officeDocument/2006/relationships/notesSlide" Target="/ppt/notesSlides/notesSlide22.xml" Id="R09db5937bf05401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27DE90CC-93E2-C662-C202-C5C6993D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9906000" cy="1645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第6讲 研究问题、问题定义与第一性原理</a:t>
            </a:r>
            <a:endParaRPr sz="4000" b="1" kern="0" spc="2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 5 课之后，研究空白候选如何变成问题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visual-2-0-p02-have">
            <a:extLst xmlns:a="http://schemas.openxmlformats.org/drawingml/2006/main">
              <a:ext uri="{FF2B5EF4-FFF2-40B4-BE49-F238E27FC236}">
                <a16:creationId xmlns:a16="http://schemas.microsoft.com/office/drawing/2014/main" id="{0C2A5C8F-FD22-42DC-A3DF-FC428024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715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 5 课已经建立</a:t>
            </a:r>
          </a:p>
        </p:txBody>
      </p:sp>
      <p:sp>
        <p:nvSpPr>
          <p:cNvPr id="7" name="visual-2-1-p02-h0">
            <a:extLst xmlns:a="http://schemas.openxmlformats.org/drawingml/2006/main">
              <a:ext uri="{FF2B5EF4-FFF2-40B4-BE49-F238E27FC236}">
                <a16:creationId xmlns:a16="http://schemas.microsoft.com/office/drawing/2014/main" id="{F8761783-60F3-4A63-A7D9-BB7CE620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证据地图：直接 / 补充 / 冲突 / 空白</a:t>
            </a:r>
          </a:p>
        </p:txBody>
      </p:sp>
      <p:sp>
        <p:nvSpPr>
          <p:cNvPr id="8" name="visual-2-2-p02-h1">
            <a:extLst xmlns:a="http://schemas.openxmlformats.org/drawingml/2006/main">
              <a:ext uri="{FF2B5EF4-FFF2-40B4-BE49-F238E27FC236}">
                <a16:creationId xmlns:a16="http://schemas.microsoft.com/office/drawing/2014/main" id="{16898670-B738-4523-B65C-15D3F719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4320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空白候选：真实性 / 重要性 / 可行性</a:t>
            </a:r>
          </a:p>
        </p:txBody>
      </p:sp>
      <p:sp>
        <p:nvSpPr>
          <p:cNvPr id="9" name="visual-2-3-p02-a">
            <a:extLst xmlns:a="http://schemas.openxmlformats.org/drawingml/2006/main">
              <a:ext uri="{FF2B5EF4-FFF2-40B4-BE49-F238E27FC236}">
                <a16:creationId xmlns:a16="http://schemas.microsoft.com/office/drawing/2014/main" id="{FC116EDC-0801-40DB-B9A4-F92D6338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717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" name="visual-2-4-p02-miss">
            <a:extLst xmlns:a="http://schemas.openxmlformats.org/drawingml/2006/main">
              <a:ext uri="{FF2B5EF4-FFF2-40B4-BE49-F238E27FC236}">
                <a16:creationId xmlns:a16="http://schemas.microsoft.com/office/drawing/2014/main" id="{75C9F45A-A7DE-434B-9605-CF8B2148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9715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本课仍需回答</a:t>
            </a:r>
          </a:p>
        </p:txBody>
      </p:sp>
      <p:sp>
        <p:nvSpPr>
          <p:cNvPr id="11" name="visual-2-5-p02-m0">
            <a:extLst xmlns:a="http://schemas.openxmlformats.org/drawingml/2006/main">
              <a:ext uri="{FF2B5EF4-FFF2-40B4-BE49-F238E27FC236}">
                <a16:creationId xmlns:a16="http://schemas.microsoft.com/office/drawing/2014/main" id="{5E8C6A82-43EE-43D3-BBC8-A1D8DD2B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61925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?  问什么？边界在哪里？</a:t>
            </a:r>
          </a:p>
        </p:txBody>
      </p:sp>
      <p:sp>
        <p:nvSpPr>
          <p:cNvPr id="12" name="visual-2-6-p02-m1">
            <a:extLst xmlns:a="http://schemas.openxmlformats.org/drawingml/2006/main">
              <a:ext uri="{FF2B5EF4-FFF2-40B4-BE49-F238E27FC236}">
                <a16:creationId xmlns:a16="http://schemas.microsoft.com/office/drawing/2014/main" id="{6D9FBE60-F85A-4339-B8A9-5D537B49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28875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?  什么结果会推翻主张？</a:t>
            </a:r>
          </a:p>
        </p:txBody>
      </p:sp>
      <p:sp>
        <p:nvSpPr>
          <p:cNvPr id="13" name="visual-2-7-p02-m2">
            <a:extLst xmlns:a="http://schemas.openxmlformats.org/drawingml/2006/main">
              <a:ext uri="{FF2B5EF4-FFF2-40B4-BE49-F238E27FC236}">
                <a16:creationId xmlns:a16="http://schemas.microsoft.com/office/drawing/2014/main" id="{56C2C6F8-787F-453E-A792-691A72F5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23850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?  哪些前提仍待外部检验？</a:t>
            </a:r>
          </a:p>
        </p:txBody>
      </p:sp>
      <p:sp>
        <p:nvSpPr>
          <p:cNvPr id="14" name="visual-2-8-p02-bottom">
            <a:extLst xmlns:a="http://schemas.openxmlformats.org/drawingml/2006/main">
              <a:ext uri="{FF2B5EF4-FFF2-40B4-BE49-F238E27FC236}">
                <a16:creationId xmlns:a16="http://schemas.microsoft.com/office/drawing/2014/main" id="{F8DC9890-81AA-4ECC-AF6C-311CD487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00625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快问：你的候选现在是“空格描述”，还是“可检验问题”？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B0551987-215A-4F47-A02C-8EFF476F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选择一个能完成的问题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4E8A9435-E6FA-4368-B263-DC03C4E5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Q-A｜跨学科理解效果；缺真实数据与测量</a:t>
            </a:r>
          </a:p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Q-B｜坏记录拦截；有小型输入集，可 CPU 验证</a:t>
            </a:r>
          </a:p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Q-C｜公开输出重标注；需说明评价独立性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AA1E3526-19AD-4511-9ED7-4950F3B5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比较：重要性、可检验性、成本、已有证据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B1493831-6238-4A08-9EB3-1D860E7F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选题后写一个非例与可证伪命题；说明为何放弃另一题。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751D660D-6250-4763-B469-BD67E99F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CE101E65-EE0E-4460-B012-3DE82D8C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主题、研究问题还是待验证主张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graphicFrame>
        <p:nvGraphicFramePr>
          <p:cNvPr id="10" name="native-table-20"/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81200"/>
                <a:gridCol w="5715000"/>
                <a:gridCol w="3276600"/>
              </a:tblGrid>
              <a:tr h="542925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层次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典型表述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4D7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还需回答</a:t>
                      </a:r>
                    </a:p>
                  </a:txBody>
                  <a:tcPr marL="123825" marR="123825" marT="85725" marB="85725" anchor="ctr">
                    <a:solidFill>
                      <a:srgbClr val="F4F6F8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主题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辅助论文阅读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对象、任务与比较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8477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在限定材料中，阅读卡是否比自由摘要少遗漏条件？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可检验的候选答案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待验证主张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阅读卡组的限定条件遗漏率更低。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273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同口径结果与适用边界</a:t>
                      </a:r>
                    </a:p>
                  </a:txBody>
                  <a:tcPr marL="123825" marR="123825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ontent-21">
            <a:extLst xmlns:a="http://schemas.openxmlformats.org/drawingml/2006/main">
              <a:ext uri="{FF2B5EF4-FFF2-40B4-BE49-F238E27FC236}">
                <a16:creationId xmlns:a16="http://schemas.microsoft.com/office/drawing/2014/main" id="{110429CC-A062-4EA9-9EA7-3CB373B6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72800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结果命题可检验，机制解释另需区分观察。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从研究空白到结构性问题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visual-5-0-p05-virtual">
            <a:extLst xmlns:a="http://schemas.openxmlformats.org/drawingml/2006/main">
              <a:ext uri="{FF2B5EF4-FFF2-40B4-BE49-F238E27FC236}">
                <a16:creationId xmlns:a16="http://schemas.microsoft.com/office/drawing/2014/main" id="{E2BE21A9-BDD5-4BC1-80D2-1AAF314D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763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虚构教学样例｜非真实论文、检索或实证证据</a:t>
            </a:r>
          </a:p>
        </p:txBody>
      </p:sp>
      <p:sp>
        <p:nvSpPr>
          <p:cNvPr id="7" name="visual-5-1-p05-gap">
            <a:extLst xmlns:a="http://schemas.openxmlformats.org/drawingml/2006/main">
              <a:ext uri="{FF2B5EF4-FFF2-40B4-BE49-F238E27FC236}">
                <a16:creationId xmlns:a16="http://schemas.microsoft.com/office/drawing/2014/main" id="{620D50A7-E511-40ED-8BD7-DA8D8485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71625"/>
            <a:ext cx="3524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G1 空白候选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阅读卡是否强制定位原文 → 降低遗漏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状态：待真实窄检索</a:t>
            </a:r>
          </a:p>
        </p:txBody>
      </p:sp>
      <p:sp>
        <p:nvSpPr>
          <p:cNvPr id="8" name="visual-5-2-p05-a">
            <a:extLst xmlns:a="http://schemas.openxmlformats.org/drawingml/2006/main">
              <a:ext uri="{FF2B5EF4-FFF2-40B4-BE49-F238E27FC236}">
                <a16:creationId xmlns:a16="http://schemas.microsoft.com/office/drawing/2014/main" id="{D7880FE1-968E-4A4C-B8F4-CA100396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" name="visual-5-3-p05-q">
            <a:extLst xmlns:a="http://schemas.openxmlformats.org/drawingml/2006/main">
              <a:ext uri="{FF2B5EF4-FFF2-40B4-BE49-F238E27FC236}">
                <a16:creationId xmlns:a16="http://schemas.microsoft.com/office/drawing/2014/main" id="{325E9D12-8FFA-43C4-9C69-16B9D683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76375"/>
            <a:ext cx="6000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在需要逐条核验引用的 CS 论文阅读任务中，结构化阅读卡是否比自由摘要更能降低限定条件遗漏率？</a:t>
            </a:r>
          </a:p>
        </p:txBody>
      </p:sp>
      <p:sp>
        <p:nvSpPr>
          <p:cNvPr id="10" name="visual-5-4-p05-e0">
            <a:extLst xmlns:a="http://schemas.openxmlformats.org/drawingml/2006/main">
              <a:ext uri="{FF2B5EF4-FFF2-40B4-BE49-F238E27FC236}">
                <a16:creationId xmlns:a16="http://schemas.microsoft.com/office/drawing/2014/main" id="{0D281A4D-EBE7-40C1-AB5C-222B1984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条件</a:t>
            </a:r>
          </a:p>
        </p:txBody>
      </p:sp>
      <p:sp>
        <p:nvSpPr>
          <p:cNvPr id="11" name="visual-5-5-p05-e1">
            <a:extLst xmlns:a="http://schemas.openxmlformats.org/drawingml/2006/main">
              <a:ext uri="{FF2B5EF4-FFF2-40B4-BE49-F238E27FC236}">
                <a16:creationId xmlns:a16="http://schemas.microsoft.com/office/drawing/2014/main" id="{EC21CE3B-FEFB-4329-90AD-B6C634CA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0525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对象</a:t>
            </a:r>
          </a:p>
        </p:txBody>
      </p:sp>
      <p:sp>
        <p:nvSpPr>
          <p:cNvPr id="12" name="visual-5-6-p05-e2">
            <a:extLst xmlns:a="http://schemas.openxmlformats.org/drawingml/2006/main">
              <a:ext uri="{FF2B5EF4-FFF2-40B4-BE49-F238E27FC236}">
                <a16:creationId xmlns:a16="http://schemas.microsoft.com/office/drawing/2014/main" id="{5986E3C8-C887-4CEC-8979-241B066C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0525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干预</a:t>
            </a:r>
          </a:p>
        </p:txBody>
      </p:sp>
      <p:sp>
        <p:nvSpPr>
          <p:cNvPr id="13" name="visual-5-7-p05-e3">
            <a:extLst xmlns:a="http://schemas.openxmlformats.org/drawingml/2006/main">
              <a:ext uri="{FF2B5EF4-FFF2-40B4-BE49-F238E27FC236}">
                <a16:creationId xmlns:a16="http://schemas.microsoft.com/office/drawing/2014/main" id="{34E9E364-9DE6-469D-8312-AA3D1F54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90525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结果</a:t>
            </a:r>
          </a:p>
        </p:txBody>
      </p:sp>
      <p:sp>
        <p:nvSpPr>
          <p:cNvPr id="14" name="visual-5-8-p05-e4">
            <a:extLst xmlns:a="http://schemas.openxmlformats.org/drawingml/2006/main">
              <a:ext uri="{FF2B5EF4-FFF2-40B4-BE49-F238E27FC236}">
                <a16:creationId xmlns:a16="http://schemas.microsoft.com/office/drawing/2014/main" id="{E5ADD632-F623-4EF7-B861-88840B8F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0525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比较</a:t>
            </a:r>
          </a:p>
        </p:txBody>
      </p:sp>
      <p:sp>
        <p:nvSpPr>
          <p:cNvPr id="15" name="visual-5-9-p05-bottom">
            <a:extLst xmlns:a="http://schemas.openxmlformats.org/drawingml/2006/main">
              <a:ext uri="{FF2B5EF4-FFF2-40B4-BE49-F238E27FC236}">
                <a16:creationId xmlns:a16="http://schemas.microsoft.com/office/drawing/2014/main" id="{0FB976F0-CF06-4042-A4A0-EFE8103F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5300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补全结构，不等于证明结论；真实项目必须填写自己的检索与核验状态。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 So what? / Who cares? 检查重要性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6" name="visual-6-0-p06-so-h">
            <a:extLst xmlns:a="http://schemas.openxmlformats.org/drawingml/2006/main">
              <a:ext uri="{FF2B5EF4-FFF2-40B4-BE49-F238E27FC236}">
                <a16:creationId xmlns:a16="http://schemas.microsoft.com/office/drawing/2014/main" id="{A9891613-47B3-497D-AAA9-CCE603A4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90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So what?｜知识后果</a:t>
            </a:r>
          </a:p>
        </p:txBody>
      </p:sp>
      <p:sp>
        <p:nvSpPr>
          <p:cNvPr id="7" name="visual-6-1-p06-so-d">
            <a:extLst xmlns:a="http://schemas.openxmlformats.org/drawingml/2006/main">
              <a:ext uri="{FF2B5EF4-FFF2-40B4-BE49-F238E27FC236}">
                <a16:creationId xmlns:a16="http://schemas.microsoft.com/office/drawing/2014/main" id="{79B91AE2-03FC-42EE-9BA9-68EFDE88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28775"/>
            <a:ext cx="47625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不回答它，哪条证据链或机制假设无法成立？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回答后，能解释什么之前无法解释的现象？</a:t>
            </a:r>
          </a:p>
        </p:txBody>
      </p:sp>
      <p:sp>
        <p:nvSpPr>
          <p:cNvPr id="8" name="visual-6-2-p06-who-h">
            <a:extLst xmlns:a="http://schemas.openxmlformats.org/drawingml/2006/main">
              <a:ext uri="{FF2B5EF4-FFF2-40B4-BE49-F238E27FC236}">
                <a16:creationId xmlns:a16="http://schemas.microsoft.com/office/drawing/2014/main" id="{FA22BB3B-B695-4410-8CC0-16FDAEF1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1906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Who cares?｜实际后果</a:t>
            </a:r>
          </a:p>
        </p:txBody>
      </p:sp>
      <p:sp>
        <p:nvSpPr>
          <p:cNvPr id="9" name="visual-6-3-p06-who-d">
            <a:extLst xmlns:a="http://schemas.openxmlformats.org/drawingml/2006/main">
              <a:ext uri="{FF2B5EF4-FFF2-40B4-BE49-F238E27FC236}">
                <a16:creationId xmlns:a16="http://schemas.microsoft.com/office/drawing/2014/main" id="{6C89E306-E068-49ED-8834-8C36168C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28775"/>
            <a:ext cx="47625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谁会从答案中受益？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答案会改变什么科研动作、工具选择或判断？</a:t>
            </a:r>
          </a:p>
        </p:txBody>
      </p:sp>
      <p:sp>
        <p:nvSpPr>
          <p:cNvPr id="10" name="visual-6-4-p06-example">
            <a:extLst xmlns:a="http://schemas.openxmlformats.org/drawingml/2006/main">
              <a:ext uri="{FF2B5EF4-FFF2-40B4-BE49-F238E27FC236}">
                <a16:creationId xmlns:a16="http://schemas.microsoft.com/office/drawing/2014/main" id="{13AE814E-C3FF-4210-A46F-C9AFC546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38625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重要性来自问题在论证链上的位置，不来自“新颖”这个标签。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问题来源交叉检查与四维选题标准卡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6" name="p07-ask">
            <a:extLst xmlns:a="http://schemas.openxmlformats.org/drawingml/2006/main">
              <a:ext uri="{FF2B5EF4-FFF2-40B4-BE49-F238E27FC236}">
                <a16:creationId xmlns:a16="http://schemas.microsoft.com/office/drawing/2014/main" id="{D291A427-FA8D-49E3-A056-A1EDCAF7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候选题从哪条生成路径来？若只来自文献空白，必须回答：没有这个空白，问题还值得回答吗？</a:t>
            </a:r>
          </a:p>
        </p:txBody>
      </p:sp>
      <p:sp>
        <p:nvSpPr>
          <p:cNvPr id="7" name="p07-yes-label">
            <a:extLst xmlns:a="http://schemas.openxmlformats.org/drawingml/2006/main">
              <a:ext uri="{FF2B5EF4-FFF2-40B4-BE49-F238E27FC236}">
                <a16:creationId xmlns:a16="http://schemas.microsoft.com/office/drawing/2014/main" id="{8D88D0D3-61B8-4744-BC8A-704E72CC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5257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答得出</a:t>
            </a:r>
          </a:p>
        </p:txBody>
      </p:sp>
      <p:sp>
        <p:nvSpPr>
          <p:cNvPr id="8" name="p07-yes">
            <a:extLst xmlns:a="http://schemas.openxmlformats.org/drawingml/2006/main">
              <a:ext uri="{FF2B5EF4-FFF2-40B4-BE49-F238E27FC236}">
                <a16:creationId xmlns:a16="http://schemas.microsoft.com/office/drawing/2014/main" id="{6A47D4E1-02F9-4D78-912D-89F84850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5257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背后有更基本的观察或约束；空白只是入口</a:t>
            </a:r>
          </a:p>
        </p:txBody>
      </p:sp>
      <p:sp>
        <p:nvSpPr>
          <p:cNvPr id="9" name="p07-no-label">
            <a:extLst xmlns:a="http://schemas.openxmlformats.org/drawingml/2006/main">
              <a:ext uri="{FF2B5EF4-FFF2-40B4-BE49-F238E27FC236}">
                <a16:creationId xmlns:a16="http://schemas.microsoft.com/office/drawing/2014/main" id="{A6D59CCF-DC0A-48D6-8BE1-0B884014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5257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答不出</a:t>
            </a:r>
          </a:p>
        </p:txBody>
      </p:sp>
      <p:sp>
        <p:nvSpPr>
          <p:cNvPr id="10" name="p07-no">
            <a:extLst xmlns:a="http://schemas.openxmlformats.org/drawingml/2006/main">
              <a:ext uri="{FF2B5EF4-FFF2-40B4-BE49-F238E27FC236}">
                <a16:creationId xmlns:a16="http://schemas.microsoft.com/office/drawing/2014/main" id="{9478F875-FC1B-4B56-A770-686773F5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5257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可能只是填格子：重推问题，或明示其重要性只在论证链内</a:t>
            </a:r>
          </a:p>
        </p:txBody>
      </p:sp>
      <p:sp>
        <p:nvSpPr>
          <p:cNvPr id="11" name="p07-card-title">
            <a:extLst xmlns:a="http://schemas.openxmlformats.org/drawingml/2006/main">
              <a:ext uri="{FF2B5EF4-FFF2-40B4-BE49-F238E27FC236}">
                <a16:creationId xmlns:a16="http://schemas.microsoft.com/office/drawing/2014/main" id="{58811D21-6C25-40D4-B02A-3D78C4E3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四维选题标准卡（候选题池 ≥3 个逐一比较）</a:t>
            </a:r>
          </a:p>
        </p:txBody>
      </p:sp>
      <p:sp>
        <p:nvSpPr>
          <p:cNvPr id="12" name="p07-left-label-0">
            <a:extLst xmlns:a="http://schemas.openxmlformats.org/drawingml/2006/main">
              <a:ext uri="{FF2B5EF4-FFF2-40B4-BE49-F238E27FC236}">
                <a16:creationId xmlns:a16="http://schemas.microsoft.com/office/drawing/2014/main" id="{2B212DF0-49E7-46B3-B3F7-27B74055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381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意义</a:t>
            </a:r>
          </a:p>
        </p:txBody>
      </p:sp>
      <p:sp>
        <p:nvSpPr>
          <p:cNvPr id="13" name="p07-left-value-0">
            <a:extLst xmlns:a="http://schemas.openxmlformats.org/drawingml/2006/main">
              <a:ext uri="{FF2B5EF4-FFF2-40B4-BE49-F238E27FC236}">
                <a16:creationId xmlns:a16="http://schemas.microsoft.com/office/drawing/2014/main" id="{74EF23E5-756C-4B87-80EC-9D7600EF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不回答它，哪条论证链断掉？谁受益？</a:t>
            </a:r>
          </a:p>
        </p:txBody>
      </p:sp>
      <p:sp>
        <p:nvSpPr>
          <p:cNvPr id="14" name="p07-right-label-0">
            <a:extLst xmlns:a="http://schemas.openxmlformats.org/drawingml/2006/main">
              <a:ext uri="{FF2B5EF4-FFF2-40B4-BE49-F238E27FC236}">
                <a16:creationId xmlns:a16="http://schemas.microsoft.com/office/drawing/2014/main" id="{8D7B2745-DD02-4368-8751-FA8837D7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76550"/>
            <a:ext cx="1381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新颖性</a:t>
            </a:r>
          </a:p>
        </p:txBody>
      </p:sp>
      <p:sp>
        <p:nvSpPr>
          <p:cNvPr id="15" name="p07-right-value-0">
            <a:extLst xmlns:a="http://schemas.openxmlformats.org/drawingml/2006/main">
              <a:ext uri="{FF2B5EF4-FFF2-40B4-BE49-F238E27FC236}">
                <a16:creationId xmlns:a16="http://schemas.microsoft.com/office/drawing/2014/main" id="{0BA3D87F-9139-4BB3-B8B1-51DD8AFA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7655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问题新 / 视角新 / 方法新——新在哪一类？</a:t>
            </a:r>
          </a:p>
        </p:txBody>
      </p:sp>
      <p:sp>
        <p:nvSpPr>
          <p:cNvPr id="16" name="p07-left-label-1">
            <a:extLst xmlns:a="http://schemas.openxmlformats.org/drawingml/2006/main">
              <a:ext uri="{FF2B5EF4-FFF2-40B4-BE49-F238E27FC236}">
                <a16:creationId xmlns:a16="http://schemas.microsoft.com/office/drawing/2014/main" id="{A680973C-2AEA-4ED2-AD94-D9183F13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43325"/>
            <a:ext cx="1381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可行性</a:t>
            </a:r>
          </a:p>
        </p:txBody>
      </p:sp>
      <p:sp>
        <p:nvSpPr>
          <p:cNvPr id="17" name="p07-left-value-1">
            <a:extLst xmlns:a="http://schemas.openxmlformats.org/drawingml/2006/main">
              <a:ext uri="{FF2B5EF4-FFF2-40B4-BE49-F238E27FC236}">
                <a16:creationId xmlns:a16="http://schemas.microsoft.com/office/drawing/2014/main" id="{238FE312-06F9-4C94-BCC4-B8D15938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43325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课程周期内能否做出最小验证？</a:t>
            </a:r>
          </a:p>
        </p:txBody>
      </p:sp>
      <p:sp>
        <p:nvSpPr>
          <p:cNvPr id="18" name="p07-right-label-1">
            <a:extLst xmlns:a="http://schemas.openxmlformats.org/drawingml/2006/main">
              <a:ext uri="{FF2B5EF4-FFF2-40B4-BE49-F238E27FC236}">
                <a16:creationId xmlns:a16="http://schemas.microsoft.com/office/drawing/2014/main" id="{3E3E5F0D-366E-4953-A2DB-8806B186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43325"/>
            <a:ext cx="1381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兴趣</a:t>
            </a:r>
          </a:p>
        </p:txBody>
      </p:sp>
      <p:sp>
        <p:nvSpPr>
          <p:cNvPr id="19" name="p07-right-value-1">
            <a:extLst xmlns:a="http://schemas.openxmlformats.org/drawingml/2006/main">
              <a:ext uri="{FF2B5EF4-FFF2-40B4-BE49-F238E27FC236}">
                <a16:creationId xmlns:a16="http://schemas.microsoft.com/office/drawing/2014/main" id="{CB018445-1C72-49B8-A6CF-221F1548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4332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课程之外还愿意投入吗？判据是什么？</a:t>
            </a:r>
          </a:p>
        </p:txBody>
      </p:sp>
      <p:sp>
        <p:nvSpPr>
          <p:cNvPr id="20" name="p07-novel-0">
            <a:extLst xmlns:a="http://schemas.openxmlformats.org/drawingml/2006/main">
              <a:ext uri="{FF2B5EF4-FFF2-40B4-BE49-F238E27FC236}">
                <a16:creationId xmlns:a16="http://schemas.microsoft.com/office/drawing/2014/main" id="{1101E4AE-8317-4956-AEFF-EBBE6AD2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148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问题新</a:t>
            </a:r>
          </a:p>
        </p:txBody>
      </p:sp>
      <p:sp>
        <p:nvSpPr>
          <p:cNvPr id="21" name="p07-novel-1">
            <a:extLst xmlns:a="http://schemas.openxmlformats.org/drawingml/2006/main">
              <a:ext uri="{FF2B5EF4-FFF2-40B4-BE49-F238E27FC236}">
                <a16:creationId xmlns:a16="http://schemas.microsoft.com/office/drawing/2014/main" id="{D382D390-070C-47C7-A1A0-A6A8E0B0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148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视角新</a:t>
            </a:r>
          </a:p>
        </p:txBody>
      </p:sp>
      <p:sp>
        <p:nvSpPr>
          <p:cNvPr id="22" name="p07-novel-2">
            <a:extLst xmlns:a="http://schemas.openxmlformats.org/drawingml/2006/main">
              <a:ext uri="{FF2B5EF4-FFF2-40B4-BE49-F238E27FC236}">
                <a16:creationId xmlns:a16="http://schemas.microsoft.com/office/drawing/2014/main" id="{1DB65BF2-8395-4E11-9895-DAEA6647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7148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方法新</a:t>
            </a:r>
          </a:p>
        </p:txBody>
      </p:sp>
      <p:sp>
        <p:nvSpPr>
          <p:cNvPr id="23" name="p07-bottom">
            <a:extLst xmlns:a="http://schemas.openxmlformats.org/drawingml/2006/main">
              <a:ext uri="{FF2B5EF4-FFF2-40B4-BE49-F238E27FC236}">
                <a16:creationId xmlns:a16="http://schemas.microsoft.com/office/drawing/2014/main" id="{066669CE-3E04-4CD4-90AD-1E86D8A3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5780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“新”不等于“没人做过”；意义优先于新颖性。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用非例界定问题边界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visual-8-0-p07-scope">
            <a:extLst xmlns:a="http://schemas.openxmlformats.org/drawingml/2006/main">
              <a:ext uri="{FF2B5EF4-FFF2-40B4-BE49-F238E27FC236}">
                <a16:creationId xmlns:a16="http://schemas.microsoft.com/office/drawing/2014/main" id="{17A15306-2749-4AC6-BC65-53014601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668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包含范围</a:t>
            </a:r>
          </a:p>
        </p:txBody>
      </p:sp>
      <p:sp>
        <p:nvSpPr>
          <p:cNvPr id="7" name="visual-8-1-p07-in0">
            <a:extLst xmlns:a="http://schemas.openxmlformats.org/drawingml/2006/main">
              <a:ext uri="{FF2B5EF4-FFF2-40B4-BE49-F238E27FC236}">
                <a16:creationId xmlns:a16="http://schemas.microsoft.com/office/drawing/2014/main" id="{69B8B5D8-39F0-4294-915F-4C5AFC49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✓  任务：逐条核验引用</a:t>
            </a:r>
          </a:p>
        </p:txBody>
      </p:sp>
      <p:sp>
        <p:nvSpPr>
          <p:cNvPr id="8" name="visual-8-2-p07-in1">
            <a:extLst xmlns:a="http://schemas.openxmlformats.org/drawingml/2006/main">
              <a:ext uri="{FF2B5EF4-FFF2-40B4-BE49-F238E27FC236}">
                <a16:creationId xmlns:a16="http://schemas.microsoft.com/office/drawing/2014/main" id="{CE6CA310-9524-4B01-AEF1-6E23A9DD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✓  材料：公开 CS 论文</a:t>
            </a:r>
          </a:p>
        </p:txBody>
      </p:sp>
      <p:sp>
        <p:nvSpPr>
          <p:cNvPr id="9" name="visual-8-3-p07-in2">
            <a:extLst xmlns:a="http://schemas.openxmlformats.org/drawingml/2006/main">
              <a:ext uri="{FF2B5EF4-FFF2-40B4-BE49-F238E27FC236}">
                <a16:creationId xmlns:a16="http://schemas.microsoft.com/office/drawing/2014/main" id="{6390A99B-72BE-40C7-9FD1-44BA01CE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✓  指标：限定条件遗漏率</a:t>
            </a:r>
          </a:p>
        </p:txBody>
      </p:sp>
      <p:sp>
        <p:nvSpPr>
          <p:cNvPr id="10" name="visual-8-4-p07-non">
            <a:extLst xmlns:a="http://schemas.openxmlformats.org/drawingml/2006/main">
              <a:ext uri="{FF2B5EF4-FFF2-40B4-BE49-F238E27FC236}">
                <a16:creationId xmlns:a16="http://schemas.microsoft.com/office/drawing/2014/main" id="{6C3C0596-D9A6-4A47-9856-F5CA274F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668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明确非例</a:t>
            </a:r>
          </a:p>
        </p:txBody>
      </p:sp>
      <p:sp>
        <p:nvSpPr>
          <p:cNvPr id="11" name="visual-8-5-p07-out0">
            <a:extLst xmlns:a="http://schemas.openxmlformats.org/drawingml/2006/main">
              <a:ext uri="{FF2B5EF4-FFF2-40B4-BE49-F238E27FC236}">
                <a16:creationId xmlns:a16="http://schemas.microsoft.com/office/drawing/2014/main" id="{05A7BB2F-B4A5-4DEF-B0A8-2A62B259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×  通用写作质量｜不同层面</a:t>
            </a:r>
          </a:p>
        </p:txBody>
      </p:sp>
      <p:sp>
        <p:nvSpPr>
          <p:cNvPr id="12" name="visual-8-6-p07-out1">
            <a:extLst xmlns:a="http://schemas.openxmlformats.org/drawingml/2006/main">
              <a:ext uri="{FF2B5EF4-FFF2-40B4-BE49-F238E27FC236}">
                <a16:creationId xmlns:a16="http://schemas.microsoft.com/office/drawing/2014/main" id="{B3B609E6-CD61-4BF5-AC48-13E47726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908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×  语言美感｜不同指标</a:t>
            </a:r>
          </a:p>
        </p:txBody>
      </p:sp>
      <p:sp>
        <p:nvSpPr>
          <p:cNvPr id="13" name="visual-8-7-p07-out2">
            <a:extLst xmlns:a="http://schemas.openxmlformats.org/drawingml/2006/main">
              <a:ext uri="{FF2B5EF4-FFF2-40B4-BE49-F238E27FC236}">
                <a16:creationId xmlns:a16="http://schemas.microsoft.com/office/drawing/2014/main" id="{2D25E745-FD60-4FFB-A915-4DFE81F4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718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×  需专业设备的学科｜超出周期</a:t>
            </a:r>
          </a:p>
        </p:txBody>
      </p:sp>
      <p:sp>
        <p:nvSpPr>
          <p:cNvPr id="14" name="visual-8-8-p07-boundary">
            <a:extLst xmlns:a="http://schemas.openxmlformats.org/drawingml/2006/main">
              <a:ext uri="{FF2B5EF4-FFF2-40B4-BE49-F238E27FC236}">
                <a16:creationId xmlns:a16="http://schemas.microsoft.com/office/drawing/2014/main" id="{0FDF1659-97A1-4031-940B-0AA11E2F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正边界  +  负边界</a:t>
            </a:r>
          </a:p>
        </p:txBody>
      </p:sp>
      <p:sp>
        <p:nvSpPr>
          <p:cNvPr id="15" name="visual-8-9-p07-bottom">
            <a:extLst xmlns:a="http://schemas.openxmlformats.org/drawingml/2006/main">
              <a:ext uri="{FF2B5EF4-FFF2-40B4-BE49-F238E27FC236}">
                <a16:creationId xmlns:a16="http://schemas.microsoft.com/office/drawing/2014/main" id="{F1FE4B3B-1A6E-42CC-BF82-0B012B49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577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非例必须说明“为什么不算”，才能阻止项目随检索膨胀。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非例的三种常见错误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visual-9-0-p08-0-h">
            <a:extLst xmlns:a="http://schemas.openxmlformats.org/drawingml/2006/main">
              <a:ext uri="{FF2B5EF4-FFF2-40B4-BE49-F238E27FC236}">
                <a16:creationId xmlns:a16="http://schemas.microsoft.com/office/drawing/2014/main" id="{7334943E-BE13-4AB0-A149-6CCD7292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335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过宽</a:t>
            </a:r>
          </a:p>
        </p:txBody>
      </p:sp>
      <p:sp>
        <p:nvSpPr>
          <p:cNvPr id="7" name="visual-9-1-p08-0-d">
            <a:extLst xmlns:a="http://schemas.openxmlformats.org/drawingml/2006/main">
              <a:ext uri="{FF2B5EF4-FFF2-40B4-BE49-F238E27FC236}">
                <a16:creationId xmlns:a16="http://schemas.microsoft.com/office/drawing/2014/main" id="{286967CF-2B3C-4085-8829-E84F1EA1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71650"/>
            <a:ext cx="33337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不做无关研究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后果：没有实质约束</a:t>
            </a:r>
          </a:p>
        </p:txBody>
      </p:sp>
      <p:sp>
        <p:nvSpPr>
          <p:cNvPr id="8" name="visual-9-2-p08-1-h">
            <a:extLst xmlns:a="http://schemas.openxmlformats.org/drawingml/2006/main">
              <a:ext uri="{FF2B5EF4-FFF2-40B4-BE49-F238E27FC236}">
                <a16:creationId xmlns:a16="http://schemas.microsoft.com/office/drawing/2014/main" id="{2D2E77AF-8130-4A1B-A3B7-1850A64B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335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过窄</a:t>
            </a:r>
          </a:p>
        </p:txBody>
      </p:sp>
      <p:sp>
        <p:nvSpPr>
          <p:cNvPr id="9" name="visual-9-3-p08-1-d">
            <a:extLst xmlns:a="http://schemas.openxmlformats.org/drawingml/2006/main">
              <a:ext uri="{FF2B5EF4-FFF2-40B4-BE49-F238E27FC236}">
                <a16:creationId xmlns:a16="http://schemas.microsoft.com/office/drawing/2014/main" id="{64436A3F-AC6A-4FC2-9B5C-09DDCB2E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71650"/>
            <a:ext cx="33337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不使用数据集 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后果：只排除实现细节</a:t>
            </a:r>
          </a:p>
        </p:txBody>
      </p:sp>
      <p:sp>
        <p:nvSpPr>
          <p:cNvPr id="10" name="visual-9-4-p08-2-h">
            <a:extLst xmlns:a="http://schemas.openxmlformats.org/drawingml/2006/main">
              <a:ext uri="{FF2B5EF4-FFF2-40B4-BE49-F238E27FC236}">
                <a16:creationId xmlns:a16="http://schemas.microsoft.com/office/drawing/2014/main" id="{97EC802F-E4C8-43EE-804F-F6850A2A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3335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与命题矛盾</a:t>
            </a:r>
          </a:p>
        </p:txBody>
      </p:sp>
      <p:sp>
        <p:nvSpPr>
          <p:cNvPr id="11" name="visual-9-5-p08-2-d">
            <a:extLst xmlns:a="http://schemas.openxmlformats.org/drawingml/2006/main">
              <a:ext uri="{FF2B5EF4-FFF2-40B4-BE49-F238E27FC236}">
                <a16:creationId xmlns:a16="http://schemas.microsoft.com/office/drawing/2014/main" id="{0C9426F6-C3D6-48FC-BF16-7BD0D0F0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71650"/>
            <a:ext cx="33337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排除必要检验条件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后果：命题无法被检验</a:t>
            </a:r>
          </a:p>
        </p:txBody>
      </p:sp>
      <p:sp>
        <p:nvSpPr>
          <p:cNvPr id="12" name="visual-9-6-p08-test">
            <a:extLst xmlns:a="http://schemas.openxmlformats.org/drawingml/2006/main">
              <a:ext uri="{FF2B5EF4-FFF2-40B4-BE49-F238E27FC236}">
                <a16:creationId xmlns:a16="http://schemas.microsoft.com/office/drawing/2014/main" id="{0DD21B73-EAE6-450A-A203-43990679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815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快速测试：给同伴一个“看似相关”的方向，他能否仅凭范围与非例判断纳入/排除？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怎样的观察会削弱这条命题？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content-22">
            <a:extLst xmlns:a="http://schemas.openxmlformats.org/drawingml/2006/main">
              <a:ext uri="{FF2B5EF4-FFF2-40B4-BE49-F238E27FC236}">
                <a16:creationId xmlns:a16="http://schemas.microsoft.com/office/drawing/2014/main" id="{20F8A9B7-978B-4647-BE8D-50F792DB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Q1</a:t>
            </a:r>
          </a:p>
        </p:txBody>
      </p:sp>
      <p:sp>
        <p:nvSpPr>
          <p:cNvPr id="7" name="content-23">
            <a:extLst xmlns:a="http://schemas.openxmlformats.org/drawingml/2006/main">
              <a:ext uri="{FF2B5EF4-FFF2-40B4-BE49-F238E27FC236}">
                <a16:creationId xmlns:a16="http://schemas.microsoft.com/office/drawing/2014/main" id="{1F30035E-CFD2-4595-9A2E-4618A09F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58115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在限定材料与任务中，阅读卡降低限定条件遗漏率。</a:t>
            </a:r>
          </a:p>
        </p:txBody>
      </p:sp>
      <p:sp>
        <p:nvSpPr>
          <p:cNvPr id="8" name="rule-24">
            <a:extLst xmlns:a="http://schemas.openxmlformats.org/drawingml/2006/main">
              <a:ext uri="{FF2B5EF4-FFF2-40B4-BE49-F238E27FC236}">
                <a16:creationId xmlns:a16="http://schemas.microsoft.com/office/drawing/2014/main" id="{A07E7585-9962-4BE5-8724-654E8631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9" name="content-25">
            <a:extLst xmlns:a="http://schemas.openxmlformats.org/drawingml/2006/main">
              <a:ext uri="{FF2B5EF4-FFF2-40B4-BE49-F238E27FC236}">
                <a16:creationId xmlns:a16="http://schemas.microsoft.com/office/drawing/2014/main" id="{A60975A1-AFE4-40AB-AD7E-F02D49FE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结果检查</a:t>
            </a:r>
          </a:p>
        </p:txBody>
      </p:sp>
      <p:sp>
        <p:nvSpPr>
          <p:cNvPr id="10" name="content-26">
            <a:extLst xmlns:a="http://schemas.openxmlformats.org/drawingml/2006/main">
              <a:ext uri="{FF2B5EF4-FFF2-40B4-BE49-F238E27FC236}">
                <a16:creationId xmlns:a16="http://schemas.microsoft.com/office/drawing/2014/main" id="{8EAAC0B2-35D8-469D-9AF0-FD982B7D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0985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差异的方向、大小和不确定性。</a:t>
            </a:r>
          </a:p>
        </p:txBody>
      </p:sp>
      <p:sp>
        <p:nvSpPr>
          <p:cNvPr id="11" name="rule-27">
            <a:extLst xmlns:a="http://schemas.openxmlformats.org/drawingml/2006/main">
              <a:ext uri="{FF2B5EF4-FFF2-40B4-BE49-F238E27FC236}">
                <a16:creationId xmlns:a16="http://schemas.microsoft.com/office/drawing/2014/main" id="{6DF3AB57-43DA-4BBC-A01D-B83969FF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2" name="content-28">
            <a:extLst xmlns:a="http://schemas.openxmlformats.org/drawingml/2006/main">
              <a:ext uri="{FF2B5EF4-FFF2-40B4-BE49-F238E27FC236}">
                <a16:creationId xmlns:a16="http://schemas.microsoft.com/office/drawing/2014/main" id="{69C525EC-D1F8-4BEE-BF6D-1B23B68D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机制检查</a:t>
            </a:r>
          </a:p>
        </p:txBody>
      </p:sp>
      <p:sp>
        <p:nvSpPr>
          <p:cNvPr id="13" name="content-29">
            <a:extLst xmlns:a="http://schemas.openxmlformats.org/drawingml/2006/main">
              <a:ext uri="{FF2B5EF4-FFF2-40B4-BE49-F238E27FC236}">
                <a16:creationId xmlns:a16="http://schemas.microsoft.com/office/drawing/2014/main" id="{ACCAA0CC-7C6A-407B-8D50-959EAC8D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3855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另找能区分原因的观察。</a:t>
            </a:r>
          </a:p>
        </p:txBody>
      </p:sp>
      <p:sp>
        <p:nvSpPr>
          <p:cNvPr id="14" name="rule-30">
            <a:extLst xmlns:a="http://schemas.openxmlformats.org/drawingml/2006/main">
              <a:ext uri="{FF2B5EF4-FFF2-40B4-BE49-F238E27FC236}">
                <a16:creationId xmlns:a16="http://schemas.microsoft.com/office/drawing/2014/main" id="{8983FC60-56BD-49F3-B9E2-A1FD5DC2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5" name="content-31">
            <a:extLst xmlns:a="http://schemas.openxmlformats.org/drawingml/2006/main">
              <a:ext uri="{FF2B5EF4-FFF2-40B4-BE49-F238E27FC236}">
                <a16:creationId xmlns:a16="http://schemas.microsoft.com/office/drawing/2014/main" id="{6ED648AF-DF03-4171-8514-F865E71D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采用决定</a:t>
            </a:r>
          </a:p>
        </p:txBody>
      </p:sp>
      <p:sp>
        <p:nvSpPr>
          <p:cNvPr id="16" name="content-32">
            <a:extLst xmlns:a="http://schemas.openxmlformats.org/drawingml/2006/main">
              <a:ext uri="{FF2B5EF4-FFF2-40B4-BE49-F238E27FC236}">
                <a16:creationId xmlns:a16="http://schemas.microsoft.com/office/drawing/2014/main" id="{2F062F10-A5BE-4A6B-9B8A-4D388D79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67250"/>
            <a:ext cx="828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质量代价、时间与资源是否可接受。</a:t>
            </a:r>
          </a:p>
        </p:txBody>
      </p:sp>
      <p:sp>
        <p:nvSpPr>
          <p:cNvPr id="17" name="rule-33">
            <a:extLst xmlns:a="http://schemas.openxmlformats.org/drawingml/2006/main">
              <a:ext uri="{FF2B5EF4-FFF2-40B4-BE49-F238E27FC236}">
                <a16:creationId xmlns:a16="http://schemas.microsoft.com/office/drawing/2014/main" id="{B63BA312-5CA4-4DF1-9DBA-66AEE1F1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给第 7 课留下替代解释标记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content-34">
            <a:extLst xmlns:a="http://schemas.openxmlformats.org/drawingml/2006/main">
              <a:ext uri="{FF2B5EF4-FFF2-40B4-BE49-F238E27FC236}">
                <a16:creationId xmlns:a16="http://schemas.microsoft.com/office/drawing/2014/main" id="{A1A7B870-C9CC-499E-8868-0380D1A2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同一个结果可能有多种解释。</a:t>
            </a:r>
          </a:p>
        </p:txBody>
      </p:sp>
      <p:sp>
        <p:nvSpPr>
          <p:cNvPr id="7" name="content-35">
            <a:extLst xmlns:a="http://schemas.openxmlformats.org/drawingml/2006/main">
              <a:ext uri="{FF2B5EF4-FFF2-40B4-BE49-F238E27FC236}">
                <a16:creationId xmlns:a16="http://schemas.microsoft.com/office/drawing/2014/main" id="{0B7F5C3E-8456-4AD7-91FC-B7AEE6AE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H1 候选：生成时显式列出限定条件，促使输出保留更多。</a:t>
            </a:r>
          </a:p>
        </p:txBody>
      </p:sp>
      <p:sp>
        <p:nvSpPr>
          <p:cNvPr id="8" name="content-36">
            <a:extLst xmlns:a="http://schemas.openxmlformats.org/drawingml/2006/main">
              <a:ext uri="{FF2B5EF4-FFF2-40B4-BE49-F238E27FC236}">
                <a16:creationId xmlns:a16="http://schemas.microsoft.com/office/drawing/2014/main" id="{56739287-7C3C-43B9-81AD-8763782D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A2 候选：评分者看到字段提示，更容易给出保留分。</a:t>
            </a:r>
          </a:p>
        </p:txBody>
      </p:sp>
      <p:sp>
        <p:nvSpPr>
          <p:cNvPr id="9" name="content-37">
            <a:extLst xmlns:a="http://schemas.openxmlformats.org/drawingml/2006/main">
              <a:ext uri="{FF2B5EF4-FFF2-40B4-BE49-F238E27FC236}">
                <a16:creationId xmlns:a16="http://schemas.microsoft.com/office/drawing/2014/main" id="{E15E34A6-FFD3-471A-9A20-CCC40E6B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 7 课把候选解释变成可区分的观察。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第一性原理不是脱离证据的捷径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visual-12-0-p11-0-h">
            <a:extLst xmlns:a="http://schemas.openxmlformats.org/drawingml/2006/main">
              <a:ext uri="{FF2B5EF4-FFF2-40B4-BE49-F238E27FC236}">
                <a16:creationId xmlns:a16="http://schemas.microsoft.com/office/drawing/2014/main" id="{C3C7F36D-4711-48FD-B8C7-404B629E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不替代检索</a:t>
            </a:r>
          </a:p>
        </p:txBody>
      </p:sp>
      <p:sp>
        <p:nvSpPr>
          <p:cNvPr id="7" name="visual-12-1-p11-0-d">
            <a:extLst xmlns:a="http://schemas.openxmlformats.org/drawingml/2006/main">
              <a:ext uri="{FF2B5EF4-FFF2-40B4-BE49-F238E27FC236}">
                <a16:creationId xmlns:a16="http://schemas.microsoft.com/office/drawing/2014/main" id="{E0D188D1-70E6-41EC-B470-FE8BF151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33525"/>
            <a:ext cx="5143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待验证前提仍要回到文献与证据地图</a:t>
            </a:r>
          </a:p>
        </p:txBody>
      </p:sp>
      <p:sp>
        <p:nvSpPr>
          <p:cNvPr id="8" name="visual-12-2-p11-1-h">
            <a:extLst xmlns:a="http://schemas.openxmlformats.org/drawingml/2006/main">
              <a:ext uri="{FF2B5EF4-FFF2-40B4-BE49-F238E27FC236}">
                <a16:creationId xmlns:a16="http://schemas.microsoft.com/office/drawing/2014/main" id="{732133E8-6B01-4F36-9639-9BF6D7DB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0953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不脱离既有工作</a:t>
            </a:r>
          </a:p>
        </p:txBody>
      </p:sp>
      <p:sp>
        <p:nvSpPr>
          <p:cNvPr id="9" name="visual-12-3-p11-1-d">
            <a:extLst xmlns:a="http://schemas.openxmlformats.org/drawingml/2006/main">
              <a:ext uri="{FF2B5EF4-FFF2-40B4-BE49-F238E27FC236}">
                <a16:creationId xmlns:a16="http://schemas.microsoft.com/office/drawing/2014/main" id="{7C350647-8DB3-49D3-A42C-9824B49D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33525"/>
            <a:ext cx="5143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从已核验材料与空白出发</a:t>
            </a:r>
          </a:p>
        </p:txBody>
      </p:sp>
      <p:sp>
        <p:nvSpPr>
          <p:cNvPr id="10" name="visual-12-4-p11-2-h">
            <a:extLst xmlns:a="http://schemas.openxmlformats.org/drawingml/2006/main">
              <a:ext uri="{FF2B5EF4-FFF2-40B4-BE49-F238E27FC236}">
                <a16:creationId xmlns:a16="http://schemas.microsoft.com/office/drawing/2014/main" id="{76D21BE9-2AC8-4278-BA5E-E29A52E5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不自动成立</a:t>
            </a:r>
          </a:p>
        </p:txBody>
      </p:sp>
      <p:sp>
        <p:nvSpPr>
          <p:cNvPr id="11" name="visual-12-5-p11-2-d">
            <a:extLst xmlns:a="http://schemas.openxmlformats.org/drawingml/2006/main">
              <a:ext uri="{FF2B5EF4-FFF2-40B4-BE49-F238E27FC236}">
                <a16:creationId xmlns:a16="http://schemas.microsoft.com/office/drawing/2014/main" id="{2EEE1A34-783C-4A99-ACB2-F2296E2D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5143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推导不是证明，必须接受外部检验</a:t>
            </a:r>
          </a:p>
        </p:txBody>
      </p:sp>
      <p:sp>
        <p:nvSpPr>
          <p:cNvPr id="12" name="visual-12-6-p11-3-h">
            <a:extLst xmlns:a="http://schemas.openxmlformats.org/drawingml/2006/main">
              <a:ext uri="{FF2B5EF4-FFF2-40B4-BE49-F238E27FC236}">
                <a16:creationId xmlns:a16="http://schemas.microsoft.com/office/drawing/2014/main" id="{CEE7D9C4-2559-49EC-B041-36217E57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622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不追求穷举</a:t>
            </a:r>
          </a:p>
        </p:txBody>
      </p:sp>
      <p:sp>
        <p:nvSpPr>
          <p:cNvPr id="13" name="visual-12-7-p11-3-d">
            <a:extLst xmlns:a="http://schemas.openxmlformats.org/drawingml/2006/main">
              <a:ext uri="{FF2B5EF4-FFF2-40B4-BE49-F238E27FC236}">
                <a16:creationId xmlns:a16="http://schemas.microsoft.com/office/drawing/2014/main" id="{7748888A-5583-445E-81B4-06DB4222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00400"/>
            <a:ext cx="51435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只推导当前关键机制与约束</a:t>
            </a:r>
          </a:p>
        </p:txBody>
      </p:sp>
      <p:sp>
        <p:nvSpPr>
          <p:cNvPr id="14" name="visual-12-8-p11-loop">
            <a:extLst xmlns:a="http://schemas.openxmlformats.org/drawingml/2006/main">
              <a:ext uri="{FF2B5EF4-FFF2-40B4-BE49-F238E27FC236}">
                <a16:creationId xmlns:a16="http://schemas.microsoft.com/office/drawing/2014/main" id="{384CC328-A30B-4E3F-84DC-85D0B771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0125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证据地图  →  基本约束 / 机制  →  待验证前提  →  外部证据检验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第一性原理四步推导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6" name="visual-13-0-p12-n0">
            <a:extLst xmlns:a="http://schemas.openxmlformats.org/drawingml/2006/main">
              <a:ext uri="{FF2B5EF4-FFF2-40B4-BE49-F238E27FC236}">
                <a16:creationId xmlns:a16="http://schemas.microsoft.com/office/drawing/2014/main" id="{E6005003-007C-4659-B21E-CAFD9B2A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visual-13-1-p12-h0">
            <a:extLst xmlns:a="http://schemas.openxmlformats.org/drawingml/2006/main">
              <a:ext uri="{FF2B5EF4-FFF2-40B4-BE49-F238E27FC236}">
                <a16:creationId xmlns:a16="http://schemas.microsoft.com/office/drawing/2014/main" id="{72007E59-713E-4344-8529-862BD287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0287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基本约束</a:t>
            </a:r>
          </a:p>
        </p:txBody>
      </p:sp>
      <p:sp>
        <p:nvSpPr>
          <p:cNvPr id="8" name="visual-13-2-p12-d0">
            <a:extLst xmlns:a="http://schemas.openxmlformats.org/drawingml/2006/main">
              <a:ext uri="{FF2B5EF4-FFF2-40B4-BE49-F238E27FC236}">
                <a16:creationId xmlns:a16="http://schemas.microsoft.com/office/drawing/2014/main" id="{5A5764E3-84ED-40EF-A1A7-AED54E6B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028700"/>
            <a:ext cx="704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主张成立必须满足什么？</a:t>
            </a:r>
          </a:p>
        </p:txBody>
      </p:sp>
      <p:sp>
        <p:nvSpPr>
          <p:cNvPr id="9" name="visual-13-3-p12-n1">
            <a:extLst xmlns:a="http://schemas.openxmlformats.org/drawingml/2006/main">
              <a:ext uri="{FF2B5EF4-FFF2-40B4-BE49-F238E27FC236}">
                <a16:creationId xmlns:a16="http://schemas.microsoft.com/office/drawing/2014/main" id="{B9A35B60-4A0F-47C0-8ADE-7CF1C723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" name="visual-13-4-p12-h1">
            <a:extLst xmlns:a="http://schemas.openxmlformats.org/drawingml/2006/main">
              <a:ext uri="{FF2B5EF4-FFF2-40B4-BE49-F238E27FC236}">
                <a16:creationId xmlns:a16="http://schemas.microsoft.com/office/drawing/2014/main" id="{BCDD83B6-7C2F-479C-AFC8-435048D0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574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作用机制</a:t>
            </a:r>
          </a:p>
        </p:txBody>
      </p:sp>
      <p:sp>
        <p:nvSpPr>
          <p:cNvPr id="11" name="visual-13-5-p12-d1">
            <a:extLst xmlns:a="http://schemas.openxmlformats.org/drawingml/2006/main">
              <a:ext uri="{FF2B5EF4-FFF2-40B4-BE49-F238E27FC236}">
                <a16:creationId xmlns:a16="http://schemas.microsoft.com/office/drawing/2014/main" id="{13A70526-F0FF-46F7-BEF2-43AE71AD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57400"/>
            <a:ext cx="704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干预通过什么中间过程起作用？</a:t>
            </a:r>
          </a:p>
        </p:txBody>
      </p:sp>
      <p:sp>
        <p:nvSpPr>
          <p:cNvPr id="12" name="visual-13-6-p12-n2">
            <a:extLst xmlns:a="http://schemas.openxmlformats.org/drawingml/2006/main">
              <a:ext uri="{FF2B5EF4-FFF2-40B4-BE49-F238E27FC236}">
                <a16:creationId xmlns:a16="http://schemas.microsoft.com/office/drawing/2014/main" id="{BF162842-560E-4E42-AF61-2631BA7A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3" name="visual-13-7-p12-h2">
            <a:extLst xmlns:a="http://schemas.openxmlformats.org/drawingml/2006/main">
              <a:ext uri="{FF2B5EF4-FFF2-40B4-BE49-F238E27FC236}">
                <a16:creationId xmlns:a16="http://schemas.microsoft.com/office/drawing/2014/main" id="{A3E4C99F-0C65-4A8E-B5D4-ABB8166E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861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不可违背条件</a:t>
            </a:r>
          </a:p>
        </p:txBody>
      </p:sp>
      <p:sp>
        <p:nvSpPr>
          <p:cNvPr id="14" name="visual-13-8-p12-d2">
            <a:extLst xmlns:a="http://schemas.openxmlformats.org/drawingml/2006/main">
              <a:ext uri="{FF2B5EF4-FFF2-40B4-BE49-F238E27FC236}">
                <a16:creationId xmlns:a16="http://schemas.microsoft.com/office/drawing/2014/main" id="{8E241152-BC45-4784-8E1E-26B6C11C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86100"/>
            <a:ext cx="704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怎样比较才公平、可复现？</a:t>
            </a:r>
          </a:p>
        </p:txBody>
      </p:sp>
      <p:sp>
        <p:nvSpPr>
          <p:cNvPr id="15" name="visual-13-9-p12-n3">
            <a:extLst xmlns:a="http://schemas.openxmlformats.org/drawingml/2006/main">
              <a:ext uri="{FF2B5EF4-FFF2-40B4-BE49-F238E27FC236}">
                <a16:creationId xmlns:a16="http://schemas.microsoft.com/office/drawing/2014/main" id="{80134302-9BCA-44DA-8860-F8B7269B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" name="visual-13-10-p12-h3">
            <a:extLst xmlns:a="http://schemas.openxmlformats.org/drawingml/2006/main">
              <a:ext uri="{FF2B5EF4-FFF2-40B4-BE49-F238E27FC236}">
                <a16:creationId xmlns:a16="http://schemas.microsoft.com/office/drawing/2014/main" id="{12504FE7-1BA5-4F89-AAF8-AF4E4AFE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148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待验证前提</a:t>
            </a:r>
          </a:p>
        </p:txBody>
      </p:sp>
      <p:sp>
        <p:nvSpPr>
          <p:cNvPr id="17" name="visual-13-11-p12-d3">
            <a:extLst xmlns:a="http://schemas.openxmlformats.org/drawingml/2006/main">
              <a:ext uri="{FF2B5EF4-FFF2-40B4-BE49-F238E27FC236}">
                <a16:creationId xmlns:a16="http://schemas.microsoft.com/office/drawing/2014/main" id="{51A1FB67-2F1E-4A4B-81DB-4984CD5E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14800"/>
            <a:ext cx="704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从前三步推出什么可检验陈述？</a:t>
            </a:r>
          </a:p>
        </p:txBody>
      </p:sp>
      <p:sp>
        <p:nvSpPr>
          <p:cNvPr id="18" name="visual-13-12-p12-bottom">
            <a:extLst xmlns:a="http://schemas.openxmlformats.org/drawingml/2006/main">
              <a:ext uri="{FF2B5EF4-FFF2-40B4-BE49-F238E27FC236}">
                <a16:creationId xmlns:a16="http://schemas.microsoft.com/office/drawing/2014/main" id="{26C9E0D5-C7E2-4982-BE53-0AA6398D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197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每一步都标注依据：任务约束、已核验证据或待检验假设。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贯穿案例：把前提移交给第 7–9 课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6" name="content-38">
            <a:extLst xmlns:a="http://schemas.openxmlformats.org/drawingml/2006/main">
              <a:ext uri="{FF2B5EF4-FFF2-40B4-BE49-F238E27FC236}">
                <a16:creationId xmlns:a16="http://schemas.microsoft.com/office/drawing/2014/main" id="{276B7BEB-1B89-4887-A33C-E193E558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问题：阅读卡是否降低限定条件遗漏率？</a:t>
            </a:r>
          </a:p>
        </p:txBody>
      </p:sp>
      <p:sp>
        <p:nvSpPr>
          <p:cNvPr id="7" name="content-39">
            <a:extLst xmlns:a="http://schemas.openxmlformats.org/drawingml/2006/main">
              <a:ext uri="{FF2B5EF4-FFF2-40B4-BE49-F238E27FC236}">
                <a16:creationId xmlns:a16="http://schemas.microsoft.com/office/drawing/2014/main" id="{75C4DFB7-12A8-4238-9BCE-2080E71E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条件：同一材料分别进入阅读卡与自由摘要。</a:t>
            </a:r>
          </a:p>
        </p:txBody>
      </p:sp>
      <p:sp>
        <p:nvSpPr>
          <p:cNvPr id="8" name="content-40">
            <a:extLst xmlns:a="http://schemas.openxmlformats.org/drawingml/2006/main">
              <a:ext uri="{FF2B5EF4-FFF2-40B4-BE49-F238E27FC236}">
                <a16:creationId xmlns:a16="http://schemas.microsoft.com/office/drawing/2014/main" id="{F915D4E2-386C-41C6-A15D-1733118C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指标：相对人工复核基准，计算缺失条件比例。</a:t>
            </a:r>
          </a:p>
        </p:txBody>
      </p:sp>
      <p:sp>
        <p:nvSpPr>
          <p:cNvPr id="9" name="content-41">
            <a:extLst xmlns:a="http://schemas.openxmlformats.org/drawingml/2006/main">
              <a:ext uri="{FF2B5EF4-FFF2-40B4-BE49-F238E27FC236}">
                <a16:creationId xmlns:a16="http://schemas.microsoft.com/office/drawing/2014/main" id="{FA00598B-938B-4A00-BDC3-253B7311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045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未决：输出确实保留更多，还是评分提示改变得分？</a:t>
            </a:r>
          </a:p>
        </p:txBody>
      </p:sp>
      <p:sp>
        <p:nvSpPr>
          <p:cNvPr id="10" name="content-42">
            <a:extLst xmlns:a="http://schemas.openxmlformats.org/drawingml/2006/main">
              <a:ext uri="{FF2B5EF4-FFF2-40B4-BE49-F238E27FC236}">
                <a16:creationId xmlns:a16="http://schemas.microsoft.com/office/drawing/2014/main" id="{E718AA39-C1AF-4B64-B4AA-B17950CD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006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质量代价与材料范围另列检查。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问题门九项条件自查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6" name="visual-15-0-p14-n0">
            <a:extLst xmlns:a="http://schemas.openxmlformats.org/drawingml/2006/main">
              <a:ext uri="{FF2B5EF4-FFF2-40B4-BE49-F238E27FC236}">
                <a16:creationId xmlns:a16="http://schemas.microsoft.com/office/drawing/2014/main" id="{D4EFD013-0DA0-463D-BBFE-60CD6865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000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visual-15-1-p14-g0">
            <a:extLst xmlns:a="http://schemas.openxmlformats.org/drawingml/2006/main">
              <a:ext uri="{FF2B5EF4-FFF2-40B4-BE49-F238E27FC236}">
                <a16:creationId xmlns:a16="http://schemas.microsoft.com/office/drawing/2014/main" id="{285A8496-C7A1-4A43-8448-C74176E3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345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≥10 篇候选文献 + 证据角色</a:t>
            </a:r>
          </a:p>
        </p:txBody>
      </p:sp>
      <p:sp>
        <p:nvSpPr>
          <p:cNvPr id="8" name="visual-15-2-p14-n1">
            <a:extLst xmlns:a="http://schemas.openxmlformats.org/drawingml/2006/main">
              <a:ext uri="{FF2B5EF4-FFF2-40B4-BE49-F238E27FC236}">
                <a16:creationId xmlns:a16="http://schemas.microsoft.com/office/drawing/2014/main" id="{62CC4EFC-3F66-4573-94AB-3E546EDB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000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9" name="visual-15-3-p14-g1">
            <a:extLst xmlns:a="http://schemas.openxmlformats.org/drawingml/2006/main">
              <a:ext uri="{FF2B5EF4-FFF2-40B4-BE49-F238E27FC236}">
                <a16:creationId xmlns:a16="http://schemas.microsoft.com/office/drawing/2014/main" id="{AB3C4ED1-E6F1-4D68-ADA1-CE0A3EA3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93345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≥3 张核心材料完整精读卡</a:t>
            </a:r>
          </a:p>
        </p:txBody>
      </p:sp>
      <p:sp>
        <p:nvSpPr>
          <p:cNvPr id="10" name="visual-15-4-p14-n2">
            <a:extLst xmlns:a="http://schemas.openxmlformats.org/drawingml/2006/main">
              <a:ext uri="{FF2B5EF4-FFF2-40B4-BE49-F238E27FC236}">
                <a16:creationId xmlns:a16="http://schemas.microsoft.com/office/drawing/2014/main" id="{B783F7AE-F5EA-49A8-A0F5-B484BE8E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000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" name="visual-15-5-p14-g2">
            <a:extLst xmlns:a="http://schemas.openxmlformats.org/drawingml/2006/main">
              <a:ext uri="{FF2B5EF4-FFF2-40B4-BE49-F238E27FC236}">
                <a16:creationId xmlns:a16="http://schemas.microsoft.com/office/drawing/2014/main" id="{69F236EC-4499-4CD8-91F4-0852372F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93345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AI 初始地图 + ≥2 原文位置 + 错误/过度概括/遗漏或已检查风险 + 人工判断</a:t>
            </a:r>
          </a:p>
        </p:txBody>
      </p:sp>
      <p:sp>
        <p:nvSpPr>
          <p:cNvPr id="12" name="visual-15-6-p14-n3">
            <a:extLst xmlns:a="http://schemas.openxmlformats.org/drawingml/2006/main">
              <a:ext uri="{FF2B5EF4-FFF2-40B4-BE49-F238E27FC236}">
                <a16:creationId xmlns:a16="http://schemas.microsoft.com/office/drawing/2014/main" id="{A654AA74-A456-4F4A-9882-161C581D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62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3" name="visual-15-7-p14-g3">
            <a:extLst xmlns:a="http://schemas.openxmlformats.org/drawingml/2006/main">
              <a:ext uri="{FF2B5EF4-FFF2-40B4-BE49-F238E27FC236}">
                <a16:creationId xmlns:a16="http://schemas.microsoft.com/office/drawing/2014/main" id="{EFE85CB8-487A-4BFA-92FA-720AE868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证据地图：直接 / 补充 / 冲突 / 空白</a:t>
            </a:r>
          </a:p>
        </p:txBody>
      </p:sp>
      <p:sp>
        <p:nvSpPr>
          <p:cNvPr id="14" name="visual-15-8-p14-n4">
            <a:extLst xmlns:a="http://schemas.openxmlformats.org/drawingml/2006/main">
              <a:ext uri="{FF2B5EF4-FFF2-40B4-BE49-F238E27FC236}">
                <a16:creationId xmlns:a16="http://schemas.microsoft.com/office/drawing/2014/main" id="{034495A5-3AA3-4726-B3F3-76E548A7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62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5" name="visual-15-9-p14-g4">
            <a:extLst xmlns:a="http://schemas.openxmlformats.org/drawingml/2006/main">
              <a:ext uri="{FF2B5EF4-FFF2-40B4-BE49-F238E27FC236}">
                <a16:creationId xmlns:a16="http://schemas.microsoft.com/office/drawing/2014/main" id="{BF568CD6-CE22-4A3F-AE0F-0E116289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955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问题含范围、非例、≥1 可证伪命题</a:t>
            </a:r>
          </a:p>
        </p:txBody>
      </p:sp>
      <p:sp>
        <p:nvSpPr>
          <p:cNvPr id="16" name="visual-15-10-p14-n5">
            <a:extLst xmlns:a="http://schemas.openxmlformats.org/drawingml/2006/main">
              <a:ext uri="{FF2B5EF4-FFF2-40B4-BE49-F238E27FC236}">
                <a16:creationId xmlns:a16="http://schemas.microsoft.com/office/drawing/2014/main" id="{374B7B5C-2EAA-4CD0-8348-32A70EC4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622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7" name="visual-15-11-p14-g5">
            <a:extLst xmlns:a="http://schemas.openxmlformats.org/drawingml/2006/main">
              <a:ext uri="{FF2B5EF4-FFF2-40B4-BE49-F238E27FC236}">
                <a16:creationId xmlns:a16="http://schemas.microsoft.com/office/drawing/2014/main" id="{028B07AA-D404-4244-B426-A39FEE8E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955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第一性原理：必要条件 / 关键约束 / 可检验前提</a:t>
            </a:r>
          </a:p>
        </p:txBody>
      </p:sp>
      <p:sp>
        <p:nvSpPr>
          <p:cNvPr id="18" name="visual-15-12-p14-n6">
            <a:extLst xmlns:a="http://schemas.openxmlformats.org/drawingml/2006/main">
              <a:ext uri="{FF2B5EF4-FFF2-40B4-BE49-F238E27FC236}">
                <a16:creationId xmlns:a16="http://schemas.microsoft.com/office/drawing/2014/main" id="{BAFB0DF6-B794-426D-AF3A-11C6DAA2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24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9" name="visual-15-13-p14-g6">
            <a:extLst xmlns:a="http://schemas.openxmlformats.org/drawingml/2006/main">
              <a:ext uri="{FF2B5EF4-FFF2-40B4-BE49-F238E27FC236}">
                <a16:creationId xmlns:a16="http://schemas.microsoft.com/office/drawing/2014/main" id="{AAE95D54-3F81-4DBC-8762-8C37A0C9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重要性 + 课程周期可行性</a:t>
            </a:r>
          </a:p>
        </p:txBody>
      </p:sp>
      <p:sp>
        <p:nvSpPr>
          <p:cNvPr id="20" name="visual-15-14-p14-n7">
            <a:extLst xmlns:a="http://schemas.openxmlformats.org/drawingml/2006/main">
              <a:ext uri="{FF2B5EF4-FFF2-40B4-BE49-F238E27FC236}">
                <a16:creationId xmlns:a16="http://schemas.microsoft.com/office/drawing/2014/main" id="{E3CE0C29-D603-4AAC-82A4-6D9D9F53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24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21" name="visual-15-15-p14-g7">
            <a:extLst xmlns:a="http://schemas.openxmlformats.org/drawingml/2006/main">
              <a:ext uri="{FF2B5EF4-FFF2-40B4-BE49-F238E27FC236}">
                <a16:creationId xmlns:a16="http://schemas.microsoft.com/office/drawing/2014/main" id="{E0C0E27F-8C3F-478C-82EF-E76BC0D2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576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≥1 条真实失败 / 死路：原因、处理、回写位置</a:t>
            </a:r>
          </a:p>
        </p:txBody>
      </p:sp>
      <p:sp>
        <p:nvSpPr>
          <p:cNvPr id="22" name="visual-15-16-p14-n8">
            <a:extLst xmlns:a="http://schemas.openxmlformats.org/drawingml/2006/main">
              <a:ext uri="{FF2B5EF4-FFF2-40B4-BE49-F238E27FC236}">
                <a16:creationId xmlns:a16="http://schemas.microsoft.com/office/drawing/2014/main" id="{DE9C39F5-D67F-4C21-A5D2-5D696C2E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24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23" name="visual-15-17-p14-g8">
            <a:extLst xmlns:a="http://schemas.openxmlformats.org/drawingml/2006/main">
              <a:ext uri="{FF2B5EF4-FFF2-40B4-BE49-F238E27FC236}">
                <a16:creationId xmlns:a16="http://schemas.microsoft.com/office/drawing/2014/main" id="{C56EBA22-75B8-4235-9DA8-998EE7D1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5760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AI 检索 / 阅读 / 改写：来源与人工核验方式</a:t>
            </a:r>
          </a:p>
        </p:txBody>
      </p:sp>
      <p:sp>
        <p:nvSpPr>
          <p:cNvPr id="24" name="visual-15-18-p14-bottom">
            <a:extLst xmlns:a="http://schemas.openxmlformats.org/drawingml/2006/main">
              <a:ext uri="{FF2B5EF4-FFF2-40B4-BE49-F238E27FC236}">
                <a16:creationId xmlns:a16="http://schemas.microsoft.com/office/drawing/2014/main" id="{9E923512-423B-4F3B-8DD6-D30556D7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57800"/>
            <a:ext cx="942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本课重点补第 5-8 项；第 8 项必须是真实发生的失败或放弃方向。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门条件检查的是本人项目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6" name="content-43">
            <a:extLst xmlns:a="http://schemas.openxmlformats.org/drawingml/2006/main">
              <a:ext uri="{FF2B5EF4-FFF2-40B4-BE49-F238E27FC236}">
                <a16:creationId xmlns:a16="http://schemas.microsoft.com/office/drawing/2014/main" id="{EE1FC775-6267-4CEF-9599-D50B79DB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课堂构造案例：练习问题、证据与反证的对应。</a:t>
            </a:r>
          </a:p>
        </p:txBody>
      </p:sp>
      <p:sp>
        <p:nvSpPr>
          <p:cNvPr id="7" name="content-44">
            <a:extLst xmlns:a="http://schemas.openxmlformats.org/drawingml/2006/main">
              <a:ext uri="{FF2B5EF4-FFF2-40B4-BE49-F238E27FC236}">
                <a16:creationId xmlns:a16="http://schemas.microsoft.com/office/drawing/2014/main" id="{6A203B43-BEB9-440A-96BB-B3DE8D4F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123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本人项目：仍须说明来源、可行性、约束与失败预案。</a:t>
            </a:r>
          </a:p>
        </p:txBody>
      </p:sp>
      <p:sp>
        <p:nvSpPr>
          <p:cNvPr id="8" name="content-45">
            <a:extLst xmlns:a="http://schemas.openxmlformats.org/drawingml/2006/main">
              <a:ext uri="{FF2B5EF4-FFF2-40B4-BE49-F238E27FC236}">
                <a16:creationId xmlns:a16="http://schemas.microsoft.com/office/drawing/2014/main" id="{5EEE4E90-6013-4D74-B60F-B03CE6E3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0845"/>
            <a:ext cx="10972800" cy="432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一项局限记录可以帮助修订问题，不能替代完整问题门材料。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94EC9493-B5C3-4E40-8862-949DF3A4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本人项目：决定、核验与回写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DD105586-F3B6-4642-906E-A2BDE82D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完成第三张关键来源精读卡；用四维选择理由确定微型问题，给出非例、可证伪命题及一个必要前提，课堂逐项检查问题门。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34C81237-6A47-495F-8651-FF8F9743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检查至少 10 条候选或等价外部材料及 3 张完整卡是否累计就绪；数量沿用门条件，角色据实，不强凑四类。缺项先收窄范围。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879CB8EC-E0D8-4AD0-918F-879221D6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858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保存：问题门当前项目版本：选题决定、3 张卡、候选池、地图及前提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9935B5A6-7081-4D6F-A8A0-1EA2DA12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8BEF8303-3962-46FD-8C7F-191A49B6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实践停留页：问题定义与推导最小闭环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C6C81E-38B9-7560-621D-5A151A79DF9B}" type="slidenum">
              <a:t>18</a:t>
            </a:fld>
            <a:endParaRPr/>
          </a:p>
        </p:txBody>
      </p:sp>
      <p:sp>
        <p:nvSpPr>
          <p:cNvPr id="6" name="p18-question">
            <a:extLst xmlns:a="http://schemas.openxmlformats.org/drawingml/2006/main">
              <a:ext uri="{FF2B5EF4-FFF2-40B4-BE49-F238E27FC236}">
                <a16:creationId xmlns:a16="http://schemas.microsoft.com/office/drawing/2014/main" id="{50AC5945-8AE5-4A9C-964C-68C016FB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519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1F4D78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1F4D78"/>
                </a:solidFill>
                <a:latin typeface="Consolas"/>
                <a:ea typeface="Consolas"/>
                <a:cs typeface="Consolas"/>
              </a:rPr>
              <a:t>一句话研究问题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1F4D78"/>
                </a:solidFill>
                <a:latin typeface="Consolas"/>
                <a:ea typeface="Consolas"/>
                <a:cs typeface="Consolas"/>
              </a:defRPr>
            </a:pPr>
            <a:r>
              <a:rPr sz="2000" b="0">
                <a:solidFill>
                  <a:srgbClr val="1F4D78"/>
                </a:solidFill>
                <a:latin typeface="Consolas"/>
                <a:ea typeface="Consolas"/>
                <a:cs typeface="Consolas"/>
              </a:rPr>
              <a:t>在 ______ 条件下，______ 方法 / 机制是否改善 / 解释 ______。</a:t>
            </a:r>
          </a:p>
        </p:txBody>
      </p:sp>
      <p:sp>
        <p:nvSpPr>
          <p:cNvPr id="7" name="p18-left">
            <a:extLst xmlns:a="http://schemas.openxmlformats.org/drawingml/2006/main">
              <a:ext uri="{FF2B5EF4-FFF2-40B4-BE49-F238E27FC236}">
                <a16:creationId xmlns:a16="http://schemas.microsoft.com/office/drawing/2014/main" id="{3444913C-218B-4808-90F0-7E7B8347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19112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研究范围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包含什么 / 暂不包含什么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一个明确非例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一个含推翻条件的可证伪命题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第一性原理推导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基本约束 • 作用机制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不可违背条件 • 一个待验证前提</a:t>
            </a:r>
          </a:p>
        </p:txBody>
      </p:sp>
      <p:sp>
        <p:nvSpPr>
          <p:cNvPr id="8" name="p18-mid">
            <a:extLst xmlns:a="http://schemas.openxmlformats.org/drawingml/2006/main">
              <a:ext uri="{FF2B5EF4-FFF2-40B4-BE49-F238E27FC236}">
                <a16:creationId xmlns:a16="http://schemas.microsoft.com/office/drawing/2014/main" id="{0D5AEC56-6EBC-4DBD-95B3-7BAA775C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00965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sp>
        <p:nvSpPr>
          <p:cNvPr id="9" name="p18-right">
            <a:extLst xmlns:a="http://schemas.openxmlformats.org/drawingml/2006/main">
              <a:ext uri="{FF2B5EF4-FFF2-40B4-BE49-F238E27FC236}">
                <a16:creationId xmlns:a16="http://schemas.microsoft.com/office/drawing/2014/main" id="{36E125E3-7AA3-4B08-9E44-F6E2269D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90600"/>
            <a:ext cx="48577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问题重要性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So what?  • Who cares?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课程周期可行性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候选题池与理由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≥3 个候选：表述 + 路径 + 当前证据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四维比较与选定理由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新颖性只作为待核验线索，不作硬门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第 7 课接口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• 一个会削弱当前主张的替代解释</a:t>
            </a:r>
          </a:p>
        </p:txBody>
      </p:sp>
      <p:sp>
        <p:nvSpPr>
          <p:cNvPr id="10" name="p18-minimum">
            <a:extLst xmlns:a="http://schemas.openxmlformats.org/drawingml/2006/main">
              <a:ext uri="{FF2B5EF4-FFF2-40B4-BE49-F238E27FC236}">
                <a16:creationId xmlns:a16="http://schemas.microsoft.com/office/drawing/2014/main" id="{B4870F10-D463-4A50-BB46-8A6B4FAD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九项门只标当前状态；课后按缺口补全。</a:t>
            </a:r>
          </a:p>
        </p:txBody>
      </p:sp>
      <p:sp>
        <p:nvSpPr>
          <p:cNvPr id="11" name="source">
            <a:extLst xmlns:a="http://schemas.openxmlformats.org/drawingml/2006/main">
              <a:ext uri="{FF2B5EF4-FFF2-40B4-BE49-F238E27FC236}">
                <a16:creationId xmlns:a16="http://schemas.microsoft.com/office/drawing/2014/main" id="{3B50CCED-9BBB-4301-B3D1-7B37E278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写入：problem-definition.md · 完整竞争假设设计留给第 7 课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同伴互查：只提问题，由作者决定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  <a:endParaRPr/>
          </a:p>
        </p:txBody>
      </p:sp>
      <p:sp>
        <p:nvSpPr>
          <p:cNvPr id="6" name="visual-19-0-p18-n0">
            <a:extLst xmlns:a="http://schemas.openxmlformats.org/drawingml/2006/main">
              <a:ext uri="{FF2B5EF4-FFF2-40B4-BE49-F238E27FC236}">
                <a16:creationId xmlns:a16="http://schemas.microsoft.com/office/drawing/2014/main" id="{600D97FA-6081-417D-B1B2-046743F9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visual-19-1-p18-q0">
            <a:extLst xmlns:a="http://schemas.openxmlformats.org/drawingml/2006/main">
              <a:ext uri="{FF2B5EF4-FFF2-40B4-BE49-F238E27FC236}">
                <a16:creationId xmlns:a16="http://schemas.microsoft.com/office/drawing/2014/main" id="{35B44D6E-ADF5-49CE-BBB7-D2256B85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0096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这是问题还是主题？</a:t>
            </a:r>
          </a:p>
        </p:txBody>
      </p:sp>
      <p:sp>
        <p:nvSpPr>
          <p:cNvPr id="8" name="visual-19-2-p18-n1">
            <a:extLst xmlns:a="http://schemas.openxmlformats.org/drawingml/2006/main">
              <a:ext uri="{FF2B5EF4-FFF2-40B4-BE49-F238E27FC236}">
                <a16:creationId xmlns:a16="http://schemas.microsoft.com/office/drawing/2014/main" id="{8DB45E06-0C28-4398-B29D-5071D9C1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9" name="visual-19-3-p18-q1">
            <a:extLst xmlns:a="http://schemas.openxmlformats.org/drawingml/2006/main">
              <a:ext uri="{FF2B5EF4-FFF2-40B4-BE49-F238E27FC236}">
                <a16:creationId xmlns:a16="http://schemas.microsoft.com/office/drawing/2014/main" id="{C5EE6558-7FC5-4F2C-9CCC-5626D6A9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907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选题理由能用四维比较说清吗？</a:t>
            </a:r>
          </a:p>
        </p:txBody>
      </p:sp>
      <p:sp>
        <p:nvSpPr>
          <p:cNvPr id="10" name="visual-19-4-p18-n2">
            <a:extLst xmlns:a="http://schemas.openxmlformats.org/drawingml/2006/main">
              <a:ext uri="{FF2B5EF4-FFF2-40B4-BE49-F238E27FC236}">
                <a16:creationId xmlns:a16="http://schemas.microsoft.com/office/drawing/2014/main" id="{F12D7E42-C303-4DE8-8C79-38D2206E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" name="visual-19-5-p18-q2">
            <a:extLst xmlns:a="http://schemas.openxmlformats.org/drawingml/2006/main">
              <a:ext uri="{FF2B5EF4-FFF2-40B4-BE49-F238E27FC236}">
                <a16:creationId xmlns:a16="http://schemas.microsoft.com/office/drawing/2014/main" id="{C7F675EA-6FA3-4974-9793-37F23C54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717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什么观察会推翻命题？</a:t>
            </a:r>
          </a:p>
        </p:txBody>
      </p:sp>
      <p:sp>
        <p:nvSpPr>
          <p:cNvPr id="12" name="visual-19-6-p18-n3">
            <a:extLst xmlns:a="http://schemas.openxmlformats.org/drawingml/2006/main">
              <a:ext uri="{FF2B5EF4-FFF2-40B4-BE49-F238E27FC236}">
                <a16:creationId xmlns:a16="http://schemas.microsoft.com/office/drawing/2014/main" id="{C60B6537-63A0-46DB-B33E-A007B544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3" name="visual-19-7-p18-q3">
            <a:extLst xmlns:a="http://schemas.openxmlformats.org/drawingml/2006/main">
              <a:ext uri="{FF2B5EF4-FFF2-40B4-BE49-F238E27FC236}">
                <a16:creationId xmlns:a16="http://schemas.microsoft.com/office/drawing/2014/main" id="{18897B64-D4E1-4E27-A179-DC1F5E04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528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推导哪一步回到证据地图？</a:t>
            </a:r>
          </a:p>
        </p:txBody>
      </p:sp>
      <p:sp>
        <p:nvSpPr>
          <p:cNvPr id="14" name="visual-19-8-p18-n4">
            <a:extLst xmlns:a="http://schemas.openxmlformats.org/drawingml/2006/main">
              <a:ext uri="{FF2B5EF4-FFF2-40B4-BE49-F238E27FC236}">
                <a16:creationId xmlns:a16="http://schemas.microsoft.com/office/drawing/2014/main" id="{DFDE5BAF-AF16-40BC-BFAC-D4073935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5" name="visual-19-9-p18-q4">
            <a:extLst xmlns:a="http://schemas.openxmlformats.org/drawingml/2006/main">
              <a:ext uri="{FF2B5EF4-FFF2-40B4-BE49-F238E27FC236}">
                <a16:creationId xmlns:a16="http://schemas.microsoft.com/office/drawing/2014/main" id="{8853C9BE-2EB9-43A8-93EB-E0A630BC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338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九项中最可能缺哪项？</a:t>
            </a:r>
          </a:p>
        </p:txBody>
      </p:sp>
      <p:sp>
        <p:nvSpPr>
          <p:cNvPr id="16" name="visual-19-10-p18-author">
            <a:extLst xmlns:a="http://schemas.openxmlformats.org/drawingml/2006/main">
              <a:ext uri="{FF2B5EF4-FFF2-40B4-BE49-F238E27FC236}">
                <a16:creationId xmlns:a16="http://schemas.microsoft.com/office/drawing/2014/main" id="{63B48428-4041-4EFD-8B74-1D9B0847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0668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作者记录</a:t>
            </a:r>
          </a:p>
        </p:txBody>
      </p:sp>
      <p:sp>
        <p:nvSpPr>
          <p:cNvPr id="17" name="visual-19-11-p18-s0">
            <a:extLst xmlns:a="http://schemas.openxmlformats.org/drawingml/2006/main">
              <a:ext uri="{FF2B5EF4-FFF2-40B4-BE49-F238E27FC236}">
                <a16:creationId xmlns:a16="http://schemas.microsoft.com/office/drawing/2014/main" id="{E825264D-FC4F-4D56-A694-73A8D3FA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5262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采纳</a:t>
            </a:r>
          </a:p>
        </p:txBody>
      </p:sp>
      <p:sp>
        <p:nvSpPr>
          <p:cNvPr id="18" name="visual-19-12-p18-s1">
            <a:extLst xmlns:a="http://schemas.openxmlformats.org/drawingml/2006/main">
              <a:ext uri="{FF2B5EF4-FFF2-40B4-BE49-F238E27FC236}">
                <a16:creationId xmlns:a16="http://schemas.microsoft.com/office/drawing/2014/main" id="{833A1642-679A-4D8B-9E79-C98D283A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0512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暂不采纳</a:t>
            </a:r>
          </a:p>
        </p:txBody>
      </p:sp>
      <p:sp>
        <p:nvSpPr>
          <p:cNvPr id="19" name="visual-19-13-p18-s2">
            <a:extLst xmlns:a="http://schemas.openxmlformats.org/drawingml/2006/main">
              <a:ext uri="{FF2B5EF4-FFF2-40B4-BE49-F238E27FC236}">
                <a16:creationId xmlns:a16="http://schemas.microsoft.com/office/drawing/2014/main" id="{D953B286-3C9B-43D2-A61E-59ADB186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5762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待核验</a:t>
            </a:r>
          </a:p>
        </p:txBody>
      </p:sp>
      <p:sp>
        <p:nvSpPr>
          <p:cNvPr id="20" name="visual-19-14-p18-bottom">
            <a:extLst xmlns:a="http://schemas.openxmlformats.org/drawingml/2006/main">
              <a:ext uri="{FF2B5EF4-FFF2-40B4-BE49-F238E27FC236}">
                <a16:creationId xmlns:a16="http://schemas.microsoft.com/office/drawing/2014/main" id="{E4BC148F-5975-4A20-B1C2-EB17145C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9112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同伴只提问题；作者保留最终决定，不形成共同提交。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本讲知识点总结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4E025A-983C-6D44-79C6-4612AACD43FC}" type="slidenum">
              <a:t>20</a:t>
            </a:fld>
            <a:endParaRPr/>
          </a:p>
        </p:txBody>
      </p:sp>
      <p:sp>
        <p:nvSpPr>
          <p:cNvPr id="6" name="visual-20-0-p20-n0">
            <a:extLst xmlns:a="http://schemas.openxmlformats.org/drawingml/2006/main">
              <a:ext uri="{FF2B5EF4-FFF2-40B4-BE49-F238E27FC236}">
                <a16:creationId xmlns:a16="http://schemas.microsoft.com/office/drawing/2014/main" id="{5621C616-0362-4252-847D-892EA16F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visual-20-1-p20-h0">
            <a:extLst xmlns:a="http://schemas.openxmlformats.org/drawingml/2006/main">
              <a:ext uri="{FF2B5EF4-FFF2-40B4-BE49-F238E27FC236}">
                <a16:creationId xmlns:a16="http://schemas.microsoft.com/office/drawing/2014/main" id="{0A59A585-37FE-44D8-83CC-59A14A9E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04775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结构性问题</a:t>
            </a:r>
          </a:p>
        </p:txBody>
      </p:sp>
      <p:sp>
        <p:nvSpPr>
          <p:cNvPr id="8" name="visual-20-2-p20-d0">
            <a:extLst xmlns:a="http://schemas.openxmlformats.org/drawingml/2006/main">
              <a:ext uri="{FF2B5EF4-FFF2-40B4-BE49-F238E27FC236}">
                <a16:creationId xmlns:a16="http://schemas.microsoft.com/office/drawing/2014/main" id="{9E8F2EC7-7BC9-4D74-AE29-A385236D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2638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写清条件、对象、干预与结果</a:t>
            </a:r>
          </a:p>
        </p:txBody>
      </p:sp>
      <p:sp>
        <p:nvSpPr>
          <p:cNvPr id="9" name="visual-20-3-p20-arrow0">
            <a:extLst xmlns:a="http://schemas.openxmlformats.org/drawingml/2006/main">
              <a:ext uri="{FF2B5EF4-FFF2-40B4-BE49-F238E27FC236}">
                <a16:creationId xmlns:a16="http://schemas.microsoft.com/office/drawing/2014/main" id="{F2D7C4F3-7C8A-4AB3-8420-CCAE688F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384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" name="visual-20-4-p20-n1">
            <a:extLst xmlns:a="http://schemas.openxmlformats.org/drawingml/2006/main">
              <a:ext uri="{FF2B5EF4-FFF2-40B4-BE49-F238E27FC236}">
                <a16:creationId xmlns:a16="http://schemas.microsoft.com/office/drawing/2014/main" id="{1EED79F6-36A4-4045-9E9F-00341429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104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1" name="visual-20-5-p20-h1">
            <a:extLst xmlns:a="http://schemas.openxmlformats.org/drawingml/2006/main">
              <a:ext uri="{FF2B5EF4-FFF2-40B4-BE49-F238E27FC236}">
                <a16:creationId xmlns:a16="http://schemas.microsoft.com/office/drawing/2014/main" id="{69212B70-1D69-43EE-8E33-3F085D73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04775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可证伪命题</a:t>
            </a:r>
          </a:p>
        </p:txBody>
      </p:sp>
      <p:sp>
        <p:nvSpPr>
          <p:cNvPr id="12" name="visual-20-6-p20-d1">
            <a:extLst xmlns:a="http://schemas.openxmlformats.org/drawingml/2006/main">
              <a:ext uri="{FF2B5EF4-FFF2-40B4-BE49-F238E27FC236}">
                <a16:creationId xmlns:a16="http://schemas.microsoft.com/office/drawing/2014/main" id="{7D2AB5E5-F098-4EF3-9EF5-DC0FEEDE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05000"/>
            <a:ext cx="2638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明确对照、指标与推翻条件</a:t>
            </a:r>
          </a:p>
        </p:txBody>
      </p:sp>
      <p:sp>
        <p:nvSpPr>
          <p:cNvPr id="13" name="visual-20-7-p20-arrow1">
            <a:extLst xmlns:a="http://schemas.openxmlformats.org/drawingml/2006/main">
              <a:ext uri="{FF2B5EF4-FFF2-40B4-BE49-F238E27FC236}">
                <a16:creationId xmlns:a16="http://schemas.microsoft.com/office/drawing/2014/main" id="{A7A78E91-3043-418E-AE51-4148F297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4384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visual-20-8-p20-n2">
            <a:extLst xmlns:a="http://schemas.openxmlformats.org/drawingml/2006/main">
              <a:ext uri="{FF2B5EF4-FFF2-40B4-BE49-F238E27FC236}">
                <a16:creationId xmlns:a16="http://schemas.microsoft.com/office/drawing/2014/main" id="{059C48B4-4C54-4A5A-B9FE-2214284F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104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5" name="visual-20-9-p20-h2">
            <a:extLst xmlns:a="http://schemas.openxmlformats.org/drawingml/2006/main">
              <a:ext uri="{FF2B5EF4-FFF2-40B4-BE49-F238E27FC236}">
                <a16:creationId xmlns:a16="http://schemas.microsoft.com/office/drawing/2014/main" id="{58393813-F6D1-4FB4-A0A4-ACFEA06A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04775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第一性原理</a:t>
            </a:r>
          </a:p>
        </p:txBody>
      </p:sp>
      <p:sp>
        <p:nvSpPr>
          <p:cNvPr id="16" name="visual-20-10-p20-d2">
            <a:extLst xmlns:a="http://schemas.openxmlformats.org/drawingml/2006/main">
              <a:ext uri="{FF2B5EF4-FFF2-40B4-BE49-F238E27FC236}">
                <a16:creationId xmlns:a16="http://schemas.microsoft.com/office/drawing/2014/main" id="{820A8472-8A0B-41CE-92BC-A39E8B79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05000"/>
            <a:ext cx="2638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由约束推导待验证前提</a:t>
            </a:r>
          </a:p>
        </p:txBody>
      </p:sp>
      <p:sp>
        <p:nvSpPr>
          <p:cNvPr id="17" name="visual-20-11-p20-arrow2">
            <a:extLst xmlns:a="http://schemas.openxmlformats.org/drawingml/2006/main">
              <a:ext uri="{FF2B5EF4-FFF2-40B4-BE49-F238E27FC236}">
                <a16:creationId xmlns:a16="http://schemas.microsoft.com/office/drawing/2014/main" id="{60F09E3E-7A2F-44DB-91BB-E0E20B88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38400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8" name="visual-20-12-p20-n3">
            <a:extLst xmlns:a="http://schemas.openxmlformats.org/drawingml/2006/main">
              <a:ext uri="{FF2B5EF4-FFF2-40B4-BE49-F238E27FC236}">
                <a16:creationId xmlns:a16="http://schemas.microsoft.com/office/drawing/2014/main" id="{03AA84C1-5F0A-4342-9373-3BE599EF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1049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9" name="visual-20-13-p20-h3">
            <a:extLst xmlns:a="http://schemas.openxmlformats.org/drawingml/2006/main">
              <a:ext uri="{FF2B5EF4-FFF2-40B4-BE49-F238E27FC236}">
                <a16:creationId xmlns:a16="http://schemas.microsoft.com/office/drawing/2014/main" id="{3175BEEB-92A8-4AD7-8422-14791837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047750"/>
            <a:ext cx="2047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问题门自查</a:t>
            </a:r>
          </a:p>
        </p:txBody>
      </p:sp>
      <p:sp>
        <p:nvSpPr>
          <p:cNvPr id="20" name="visual-20-14-p20-d3">
            <a:extLst xmlns:a="http://schemas.openxmlformats.org/drawingml/2006/main">
              <a:ext uri="{FF2B5EF4-FFF2-40B4-BE49-F238E27FC236}">
                <a16:creationId xmlns:a16="http://schemas.microsoft.com/office/drawing/2014/main" id="{0A3BE6CC-CE42-42A6-9BE0-B5F3E692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905000"/>
            <a:ext cx="26384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核对九项条件与真实失败记录</a:t>
            </a:r>
          </a:p>
        </p:txBody>
      </p:sp>
      <p:sp>
        <p:nvSpPr>
          <p:cNvPr id="21" name="visual-20-15-p20-boundary">
            <a:extLst xmlns:a="http://schemas.openxmlformats.org/drawingml/2006/main">
              <a:ext uri="{FF2B5EF4-FFF2-40B4-BE49-F238E27FC236}">
                <a16:creationId xmlns:a16="http://schemas.microsoft.com/office/drawing/2014/main" id="{D987D71D-155B-4A92-8432-9DAEF70C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43375"/>
            <a:ext cx="981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关键边界：第一性原理推导得到的是待验证前提，不是结论；问题门检查当前项目是否具备继续研究的条件。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问题门提交与失败回退路径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F2BE2-2DFA-1C03-677D-BDC2260D6D92}" type="slidenum">
              <a:t>21</a:t>
            </a:fld>
            <a:endParaRPr/>
          </a:p>
        </p:txBody>
      </p:sp>
      <p:sp>
        <p:nvSpPr>
          <p:cNvPr id="6" name="visual-21-0-p21-submit">
            <a:extLst xmlns:a="http://schemas.openxmlformats.org/drawingml/2006/main">
              <a:ext uri="{FF2B5EF4-FFF2-40B4-BE49-F238E27FC236}">
                <a16:creationId xmlns:a16="http://schemas.microsoft.com/office/drawing/2014/main" id="{5D1A68C5-BB19-47E3-86B8-414E7557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一次提交</a:t>
            </a:r>
          </a:p>
        </p:txBody>
      </p:sp>
      <p:sp>
        <p:nvSpPr>
          <p:cNvPr id="7" name="visual-21-1-p19-how">
            <a:extLst xmlns:a="http://schemas.openxmlformats.org/drawingml/2006/main">
              <a:ext uri="{FF2B5EF4-FFF2-40B4-BE49-F238E27FC236}">
                <a16:creationId xmlns:a16="http://schemas.microsoft.com/office/drawing/2014/main" id="{90251B82-4B26-433F-8462-6FC093FC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00012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当前个人项目版本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链接 / tag / 压缩包</a:t>
            </a:r>
          </a:p>
        </p:txBody>
      </p:sp>
      <p:sp>
        <p:nvSpPr>
          <p:cNvPr id="8" name="visual-21-2-p19-no">
            <a:extLst xmlns:a="http://schemas.openxmlformats.org/drawingml/2006/main">
              <a:ext uri="{FF2B5EF4-FFF2-40B4-BE49-F238E27FC236}">
                <a16:creationId xmlns:a16="http://schemas.microsoft.com/office/drawing/2014/main" id="{EC9CC1B9-AD8E-4A3C-B75C-ED1FE49A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95375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不重复制作与项目分离的汇报文档</a:t>
            </a:r>
          </a:p>
        </p:txBody>
      </p:sp>
      <p:sp>
        <p:nvSpPr>
          <p:cNvPr id="9" name="visual-21-3-p19-h0">
            <a:extLst xmlns:a="http://schemas.openxmlformats.org/drawingml/2006/main">
              <a:ext uri="{FF2B5EF4-FFF2-40B4-BE49-F238E27FC236}">
                <a16:creationId xmlns:a16="http://schemas.microsoft.com/office/drawing/2014/main" id="{F2AB572A-8FE5-474E-ADA5-278D0994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缺直接证据</a:t>
            </a:r>
          </a:p>
        </p:txBody>
      </p:sp>
      <p:sp>
        <p:nvSpPr>
          <p:cNvPr id="10" name="visual-21-4-p19-a0">
            <a:extLst xmlns:a="http://schemas.openxmlformats.org/drawingml/2006/main">
              <a:ext uri="{FF2B5EF4-FFF2-40B4-BE49-F238E27FC236}">
                <a16:creationId xmlns:a16="http://schemas.microsoft.com/office/drawing/2014/main" id="{FA5BED7B-ADC5-4F59-B638-ED15982B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907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" name="visual-21-5-p19-d0">
            <a:extLst xmlns:a="http://schemas.openxmlformats.org/drawingml/2006/main">
              <a:ext uri="{FF2B5EF4-FFF2-40B4-BE49-F238E27FC236}">
                <a16:creationId xmlns:a16="http://schemas.microsoft.com/office/drawing/2014/main" id="{CA5A65E9-C0DA-4E58-B1FF-BAE0B042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4312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回第 3-4 课：检索 / 精读</a:t>
            </a:r>
          </a:p>
        </p:txBody>
      </p:sp>
      <p:sp>
        <p:nvSpPr>
          <p:cNvPr id="12" name="visual-21-6-p19-h1">
            <a:extLst xmlns:a="http://schemas.openxmlformats.org/drawingml/2006/main">
              <a:ext uri="{FF2B5EF4-FFF2-40B4-BE49-F238E27FC236}">
                <a16:creationId xmlns:a16="http://schemas.microsoft.com/office/drawing/2014/main" id="{F7CD5FF7-6EC8-48B2-B1D1-7D5DF27D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336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问题过大</a:t>
            </a:r>
          </a:p>
        </p:txBody>
      </p:sp>
      <p:sp>
        <p:nvSpPr>
          <p:cNvPr id="13" name="visual-21-7-p19-a1">
            <a:extLst xmlns:a="http://schemas.openxmlformats.org/drawingml/2006/main">
              <a:ext uri="{FF2B5EF4-FFF2-40B4-BE49-F238E27FC236}">
                <a16:creationId xmlns:a16="http://schemas.microsoft.com/office/drawing/2014/main" id="{B91A45D6-5B43-4876-A7D6-1A2A19FC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8130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visual-21-8-p19-d1">
            <a:extLst xmlns:a="http://schemas.openxmlformats.org/drawingml/2006/main">
              <a:ext uri="{FF2B5EF4-FFF2-40B4-BE49-F238E27FC236}">
                <a16:creationId xmlns:a16="http://schemas.microsoft.com/office/drawing/2014/main" id="{1AF3D9ED-9E2D-4019-99FB-D79CC735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3367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回本课：问题重写 / 非例</a:t>
            </a:r>
          </a:p>
        </p:txBody>
      </p:sp>
      <p:sp>
        <p:nvSpPr>
          <p:cNvPr id="15" name="visual-21-9-p19-h2">
            <a:extLst xmlns:a="http://schemas.openxmlformats.org/drawingml/2006/main">
              <a:ext uri="{FF2B5EF4-FFF2-40B4-BE49-F238E27FC236}">
                <a16:creationId xmlns:a16="http://schemas.microsoft.com/office/drawing/2014/main" id="{434BEE85-7C53-4A29-BB9C-50B846CD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242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命题不可证伪</a:t>
            </a:r>
          </a:p>
        </p:txBody>
      </p:sp>
      <p:sp>
        <p:nvSpPr>
          <p:cNvPr id="16" name="visual-21-10-p19-a2">
            <a:extLst xmlns:a="http://schemas.openxmlformats.org/drawingml/2006/main">
              <a:ext uri="{FF2B5EF4-FFF2-40B4-BE49-F238E27FC236}">
                <a16:creationId xmlns:a16="http://schemas.microsoft.com/office/drawing/2014/main" id="{0ED129F9-86FF-496D-A0A2-AF32C92C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718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visual-21-11-p19-d2">
            <a:extLst xmlns:a="http://schemas.openxmlformats.org/drawingml/2006/main">
              <a:ext uri="{FF2B5EF4-FFF2-40B4-BE49-F238E27FC236}">
                <a16:creationId xmlns:a16="http://schemas.microsoft.com/office/drawing/2014/main" id="{56D3F81A-4A0D-4DF8-95BC-2925B2CB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2422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补对照 / 指标 / 推翻条件</a:t>
            </a:r>
          </a:p>
        </p:txBody>
      </p:sp>
      <p:sp>
        <p:nvSpPr>
          <p:cNvPr id="18" name="visual-21-12-p19-h3">
            <a:extLst xmlns:a="http://schemas.openxmlformats.org/drawingml/2006/main">
              <a:ext uri="{FF2B5EF4-FFF2-40B4-BE49-F238E27FC236}">
                <a16:creationId xmlns:a16="http://schemas.microsoft.com/office/drawing/2014/main" id="{FD80FFBC-8D7D-4C64-AF47-1A7AB0D8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147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推导脱离文献</a:t>
            </a:r>
          </a:p>
        </p:txBody>
      </p:sp>
      <p:sp>
        <p:nvSpPr>
          <p:cNvPr id="19" name="visual-21-13-p19-a3">
            <a:extLst xmlns:a="http://schemas.openxmlformats.org/drawingml/2006/main">
              <a:ext uri="{FF2B5EF4-FFF2-40B4-BE49-F238E27FC236}">
                <a16:creationId xmlns:a16="http://schemas.microsoft.com/office/drawing/2014/main" id="{4F168748-D1E9-4642-82A9-C90FD17B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96240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0" name="visual-21-14-p19-d3">
            <a:extLst xmlns:a="http://schemas.openxmlformats.org/drawingml/2006/main">
              <a:ext uri="{FF2B5EF4-FFF2-40B4-BE49-F238E27FC236}">
                <a16:creationId xmlns:a16="http://schemas.microsoft.com/office/drawing/2014/main" id="{71350692-C295-4063-886B-469C0BCA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1477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回第 5 课证据地图</a:t>
            </a:r>
          </a:p>
        </p:txBody>
      </p:sp>
      <p:sp>
        <p:nvSpPr>
          <p:cNvPr id="21" name="visual-21-15-p19-h4">
            <a:extLst xmlns:a="http://schemas.openxmlformats.org/drawingml/2006/main">
              <a:ext uri="{FF2B5EF4-FFF2-40B4-BE49-F238E27FC236}">
                <a16:creationId xmlns:a16="http://schemas.microsoft.com/office/drawing/2014/main" id="{CB4A56B2-0F52-4F3E-9961-8094DEB3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053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失败记录缺失</a:t>
            </a:r>
          </a:p>
        </p:txBody>
      </p:sp>
      <p:sp>
        <p:nvSpPr>
          <p:cNvPr id="22" name="visual-21-16-p19-a4">
            <a:extLst xmlns:a="http://schemas.openxmlformats.org/drawingml/2006/main">
              <a:ext uri="{FF2B5EF4-FFF2-40B4-BE49-F238E27FC236}">
                <a16:creationId xmlns:a16="http://schemas.microsoft.com/office/drawing/2014/main" id="{E7A5BC69-8F4E-44F1-B1BF-8C5240C6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529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3" name="visual-21-17-p19-d4">
            <a:extLst xmlns:a="http://schemas.openxmlformats.org/drawingml/2006/main">
              <a:ext uri="{FF2B5EF4-FFF2-40B4-BE49-F238E27FC236}">
                <a16:creationId xmlns:a16="http://schemas.microsoft.com/office/drawing/2014/main" id="{97A2AE2D-8048-4217-A284-3A1437AC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0532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回真实过程：记录死路、处理与回写</a:t>
            </a:r>
          </a:p>
        </p:txBody>
      </p:sp>
      <p:sp>
        <p:nvSpPr>
          <p:cNvPr id="24" name="visual-21-18-p19-check">
            <a:extLst xmlns:a="http://schemas.openxmlformats.org/drawingml/2006/main">
              <a:ext uri="{FF2B5EF4-FFF2-40B4-BE49-F238E27FC236}">
                <a16:creationId xmlns:a16="http://schemas.microsoft.com/office/drawing/2014/main" id="{63F103AE-3332-4535-944B-2973D59A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9112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提交核对：problem-definition.md + failure-log.md；候选题池与选题理由仍是课程扩展字段</a:t>
            </a:r>
          </a:p>
        </p:txBody>
      </p:sp>
      <p:sp>
        <p:nvSpPr>
          <p:cNvPr id="25" name="visual-21-19-p19-bottom">
            <a:extLst xmlns:a="http://schemas.openxmlformats.org/drawingml/2006/main">
              <a:ext uri="{FF2B5EF4-FFF2-40B4-BE49-F238E27FC236}">
                <a16:creationId xmlns:a16="http://schemas.microsoft.com/office/drawing/2014/main" id="{53B539E4-0C08-4CFC-88D4-D564DCA3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54355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未通过：只修复缺失条件，一周内重新检查；不重交无关材料。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judgment-title">
            <a:extLst xmlns:a="http://schemas.openxmlformats.org/drawingml/2006/main">
              <a:ext uri="{FF2B5EF4-FFF2-40B4-BE49-F238E27FC236}">
                <a16:creationId xmlns:a16="http://schemas.microsoft.com/office/drawing/2014/main" id="{4AD7E3D5-065E-4C32-915E-AFA526A7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200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保留本课决定，准备下一课输入</a:t>
            </a:r>
          </a:p>
        </p:txBody>
      </p:sp>
      <p:sp>
        <p:nvSpPr>
          <p:cNvPr id="2" name="judgment-body-0">
            <a:extLst xmlns:a="http://schemas.openxmlformats.org/drawingml/2006/main">
              <a:ext uri="{FF2B5EF4-FFF2-40B4-BE49-F238E27FC236}">
                <a16:creationId xmlns:a16="http://schemas.microsoft.com/office/drawing/2014/main" id="{A09158D8-75B5-4059-8974-098D8E3A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1085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L7 从当前命题提出可区分的替代解释。</a:t>
            </a:r>
          </a:p>
        </p:txBody>
      </p:sp>
      <p:sp>
        <p:nvSpPr>
          <p:cNvPr id="3" name="judgment-body-1">
            <a:extLst xmlns:a="http://schemas.openxmlformats.org/drawingml/2006/main">
              <a:ext uri="{FF2B5EF4-FFF2-40B4-BE49-F238E27FC236}">
                <a16:creationId xmlns:a16="http://schemas.microsoft.com/office/drawing/2014/main" id="{3904B01E-B385-4520-8CFA-E347D861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0858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63746"/>
                </a:solidFill>
                <a:latin typeface="微软雅黑"/>
                <a:ea typeface="微软雅黑"/>
                <a:cs typeface="微软雅黑"/>
              </a:rPr>
              <a:t>回写已有项目：问题门当前项目版本：选题决定、3 张卡、候选池、地图及前提</a:t>
            </a:r>
          </a:p>
        </p:txBody>
      </p:sp>
      <p:sp>
        <p:nvSpPr>
          <p:cNvPr id="4" name="judgment-body-2">
            <a:extLst xmlns:a="http://schemas.openxmlformats.org/drawingml/2006/main">
              <a:ext uri="{FF2B5EF4-FFF2-40B4-BE49-F238E27FC236}">
                <a16:creationId xmlns:a16="http://schemas.microsoft.com/office/drawing/2014/main" id="{A318EA00-C3DD-4A61-A425-74D9F45F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研究门材料按既定预算整理提交；不叠加新必读。</a:t>
            </a:r>
          </a:p>
        </p:txBody>
      </p:sp>
      <p:sp>
        <p:nvSpPr>
          <p:cNvPr id="5" name="judgment-source">
            <a:extLst xmlns:a="http://schemas.openxmlformats.org/drawingml/2006/main">
              <a:ext uri="{FF2B5EF4-FFF2-40B4-BE49-F238E27FC236}">
                <a16:creationId xmlns:a16="http://schemas.microsoft.com/office/drawing/2014/main" id="{F84F15D6-7B29-41AB-B3DE-8BC55EA1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769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684"/>
                </a:solidFill>
                <a:latin typeface="微软雅黑"/>
                <a:ea typeface="微软雅黑"/>
                <a:cs typeface="微软雅黑"/>
              </a:rPr>
              <a:t>来源：本课判断任务与讲义；构造材料及真实来源按材料包标识</a:t>
            </a:r>
          </a:p>
        </p:txBody>
      </p:sp>
      <p:sp>
        <p:nvSpPr>
          <p:cNvPr id="6" name="judgment-page">
            <a:extLst xmlns:a="http://schemas.openxmlformats.org/drawingml/2006/main">
              <a:ext uri="{FF2B5EF4-FFF2-40B4-BE49-F238E27FC236}">
                <a16:creationId xmlns:a16="http://schemas.microsoft.com/office/drawing/2014/main" id="{0B58738D-17D3-4793-8BA4-86ED4CE1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562725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A5A5A5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2026-09-16T01:34:10.7640000Z</dcterms:created>
  <dcterms:modified xsi:type="dcterms:W3CDTF">2026-09-16T01:34:10.7640000Z</dcterms:modified>
</coreProperties>
</file>