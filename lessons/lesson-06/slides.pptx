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14c1793f2f4fe4" /><Relationship Type="http://schemas.openxmlformats.org/officeDocument/2006/relationships/extended-properties" Target="/docProps/app.xml" Id="R281b9e0efb4e4f11" /><Relationship Type="http://schemas.openxmlformats.org/officeDocument/2006/relationships/officeDocument" Target="/ppt/presentation.xml" Id="R091504e5d7db4f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0d03ef8516411a"/>
  </p:sldMasterIdLst>
  <p:notesMasterIdLst>
    <p:notesMasterId xmlns:r="http://schemas.openxmlformats.org/officeDocument/2006/relationships" r:id="Rc6c1dd61509e422c"/>
  </p:notesMasterIdLst>
  <p:sldIdLst>
    <p:sldId xmlns:r="http://schemas.openxmlformats.org/officeDocument/2006/relationships" id="256" r:id="Rbaa97fd5e0e44d34"/>
    <p:sldId xmlns:r="http://schemas.openxmlformats.org/officeDocument/2006/relationships" id="257" r:id="Rcab45398c134485f"/>
    <p:sldId xmlns:r="http://schemas.openxmlformats.org/officeDocument/2006/relationships" id="258" r:id="R9ee8a58fcaaf4a82"/>
    <p:sldId xmlns:r="http://schemas.openxmlformats.org/officeDocument/2006/relationships" id="259" r:id="R8f5e5a5ca8f94089"/>
    <p:sldId xmlns:r="http://schemas.openxmlformats.org/officeDocument/2006/relationships" id="260" r:id="Rc7042cf006614f0c"/>
    <p:sldId xmlns:r="http://schemas.openxmlformats.org/officeDocument/2006/relationships" id="261" r:id="Rdd6d50eadf0e4282"/>
    <p:sldId xmlns:r="http://schemas.openxmlformats.org/officeDocument/2006/relationships" id="262" r:id="Rc5a5b1c281624644"/>
    <p:sldId xmlns:r="http://schemas.openxmlformats.org/officeDocument/2006/relationships" id="263" r:id="R76f926da18a646bc"/>
    <p:sldId xmlns:r="http://schemas.openxmlformats.org/officeDocument/2006/relationships" id="264" r:id="Rc8c5ab19d3d941c2"/>
    <p:sldId xmlns:r="http://schemas.openxmlformats.org/officeDocument/2006/relationships" id="265" r:id="Raf967af8a26d4f6e"/>
    <p:sldId xmlns:r="http://schemas.openxmlformats.org/officeDocument/2006/relationships" id="266" r:id="Rcdd4938aaba14f00"/>
    <p:sldId xmlns:r="http://schemas.openxmlformats.org/officeDocument/2006/relationships" id="267" r:id="Rd35f19090b3d43d2"/>
    <p:sldId xmlns:r="http://schemas.openxmlformats.org/officeDocument/2006/relationships" id="268" r:id="R1c1c840ad9c34258"/>
    <p:sldId xmlns:r="http://schemas.openxmlformats.org/officeDocument/2006/relationships" id="269" r:id="R0e64e9fe90f04837"/>
    <p:sldId xmlns:r="http://schemas.openxmlformats.org/officeDocument/2006/relationships" id="270" r:id="Re74c207424324a2e"/>
    <p:sldId xmlns:r="http://schemas.openxmlformats.org/officeDocument/2006/relationships" id="271" r:id="R3aa7c356ed544c2d"/>
    <p:sldId xmlns:r="http://schemas.openxmlformats.org/officeDocument/2006/relationships" id="272" r:id="Rb5f419c4f6b14806"/>
    <p:sldId xmlns:r="http://schemas.openxmlformats.org/officeDocument/2006/relationships" id="273" r:id="Re027e438b563420a"/>
    <p:sldId xmlns:r="http://schemas.openxmlformats.org/officeDocument/2006/relationships" id="274" r:id="Rb201e3e9025f403c"/>
    <p:sldId xmlns:r="http://schemas.openxmlformats.org/officeDocument/2006/relationships" id="275" r:id="R53a49fe317194f4b"/>
    <p:sldId xmlns:r="http://schemas.openxmlformats.org/officeDocument/2006/relationships" id="276" r:id="Rc72a42685b8f4e8a"/>
    <p:sldId xmlns:r="http://schemas.openxmlformats.org/officeDocument/2006/relationships" id="277" r:id="R6b4624377828448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8cf790464b4776" /><Relationship Type="http://schemas.openxmlformats.org/officeDocument/2006/relationships/slideMaster" Target="/ppt/slideMasters/slideMaster1.xml" Id="R570d03ef8516411a" /><Relationship Type="http://schemas.openxmlformats.org/officeDocument/2006/relationships/notesMaster" Target="/ppt/notesMasters/notesMaster1.xml" Id="Rc6c1dd61509e422c" /><Relationship Type="http://schemas.openxmlformats.org/officeDocument/2006/relationships/presProps" Target="/ppt/presProps.xml" Id="R4f60738fad804c65" /><Relationship Type="http://schemas.openxmlformats.org/officeDocument/2006/relationships/viewProps" Target="/ppt/viewProps.xml" Id="R72e1de76f7f04882" /><Relationship Type="http://schemas.openxmlformats.org/officeDocument/2006/relationships/tableStyles" Target="/ppt/tableStyles.xml" Id="Rfd014b49ab0346ed" /><Relationship Type="http://schemas.openxmlformats.org/officeDocument/2006/relationships/slide" Target="/ppt/slides/slide1.xml" Id="Rbaa97fd5e0e44d34" /><Relationship Type="http://schemas.openxmlformats.org/officeDocument/2006/relationships/slide" Target="/ppt/slides/slide2.xml" Id="Rcab45398c134485f" /><Relationship Type="http://schemas.openxmlformats.org/officeDocument/2006/relationships/slide" Target="/ppt/slides/slide3.xml" Id="R9ee8a58fcaaf4a82" /><Relationship Type="http://schemas.openxmlformats.org/officeDocument/2006/relationships/slide" Target="/ppt/slides/slide4.xml" Id="R8f5e5a5ca8f94089" /><Relationship Type="http://schemas.openxmlformats.org/officeDocument/2006/relationships/slide" Target="/ppt/slides/slide5.xml" Id="Rc7042cf006614f0c" /><Relationship Type="http://schemas.openxmlformats.org/officeDocument/2006/relationships/slide" Target="/ppt/slides/slide6.xml" Id="Rdd6d50eadf0e4282" /><Relationship Type="http://schemas.openxmlformats.org/officeDocument/2006/relationships/slide" Target="/ppt/slides/slide7.xml" Id="Rc5a5b1c281624644" /><Relationship Type="http://schemas.openxmlformats.org/officeDocument/2006/relationships/slide" Target="/ppt/slides/slide8.xml" Id="R76f926da18a646bc" /><Relationship Type="http://schemas.openxmlformats.org/officeDocument/2006/relationships/slide" Target="/ppt/slides/slide9.xml" Id="Rc8c5ab19d3d941c2" /><Relationship Type="http://schemas.openxmlformats.org/officeDocument/2006/relationships/slide" Target="/ppt/slides/slide10.xml" Id="Raf967af8a26d4f6e" /><Relationship Type="http://schemas.openxmlformats.org/officeDocument/2006/relationships/slide" Target="/ppt/slides/slide11.xml" Id="Rcdd4938aaba14f00" /><Relationship Type="http://schemas.openxmlformats.org/officeDocument/2006/relationships/slide" Target="/ppt/slides/slide12.xml" Id="Rd35f19090b3d43d2" /><Relationship Type="http://schemas.openxmlformats.org/officeDocument/2006/relationships/slide" Target="/ppt/slides/slide13.xml" Id="R1c1c840ad9c34258" /><Relationship Type="http://schemas.openxmlformats.org/officeDocument/2006/relationships/slide" Target="/ppt/slides/slide14.xml" Id="R0e64e9fe90f04837" /><Relationship Type="http://schemas.openxmlformats.org/officeDocument/2006/relationships/slide" Target="/ppt/slides/slide15.xml" Id="Re74c207424324a2e" /><Relationship Type="http://schemas.openxmlformats.org/officeDocument/2006/relationships/slide" Target="/ppt/slides/slide16.xml" Id="R3aa7c356ed544c2d" /><Relationship Type="http://schemas.openxmlformats.org/officeDocument/2006/relationships/slide" Target="/ppt/slides/slide17.xml" Id="Rb5f419c4f6b14806" /><Relationship Type="http://schemas.openxmlformats.org/officeDocument/2006/relationships/slide" Target="/ppt/slides/slide18.xml" Id="Re027e438b563420a" /><Relationship Type="http://schemas.openxmlformats.org/officeDocument/2006/relationships/slide" Target="/ppt/slides/slide19.xml" Id="Rb201e3e9025f403c" /><Relationship Type="http://schemas.openxmlformats.org/officeDocument/2006/relationships/slide" Target="/ppt/slides/slide20.xml" Id="R53a49fe317194f4b" /><Relationship Type="http://schemas.openxmlformats.org/officeDocument/2006/relationships/slide" Target="/ppt/slides/slide21.xml" Id="Rc72a42685b8f4e8a" /><Relationship Type="http://schemas.openxmlformats.org/officeDocument/2006/relationships/slide" Target="/ppt/slides/slide22.xml" Id="R6b4624377828448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a76e79a13147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7ea3ee02db4939" /><Relationship Type="http://schemas.openxmlformats.org/officeDocument/2006/relationships/notesMaster" Target="/ppt/notesMasters/notesMaster1.xml" Id="Rb24bb0b1409445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184073d0fa4dff" /><Relationship Type="http://schemas.openxmlformats.org/officeDocument/2006/relationships/notesMaster" Target="/ppt/notesMasters/notesMaster1.xml" Id="Rf6f57714cd6d4b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9a006f4b3c44f3" /><Relationship Type="http://schemas.openxmlformats.org/officeDocument/2006/relationships/notesMaster" Target="/ppt/notesMasters/notesMaster1.xml" Id="R23bd5f32e5424bd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6caf1654e9845bf" /><Relationship Type="http://schemas.openxmlformats.org/officeDocument/2006/relationships/notesMaster" Target="/ppt/notesMasters/notesMaster1.xml" Id="R9280ed570d74452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1fd99adf6247ae" /><Relationship Type="http://schemas.openxmlformats.org/officeDocument/2006/relationships/notesMaster" Target="/ppt/notesMasters/notesMaster1.xml" Id="R5022abcf9c2442b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d949dbbc084291" /><Relationship Type="http://schemas.openxmlformats.org/officeDocument/2006/relationships/notesMaster" Target="/ppt/notesMasters/notesMaster1.xml" Id="R3b1a36ebc15842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a43cc4847d4163" /><Relationship Type="http://schemas.openxmlformats.org/officeDocument/2006/relationships/notesMaster" Target="/ppt/notesMasters/notesMaster1.xml" Id="R68951b33024a44f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2f57f35f4d48d4" /><Relationship Type="http://schemas.openxmlformats.org/officeDocument/2006/relationships/notesMaster" Target="/ppt/notesMasters/notesMaster1.xml" Id="Rcd5413aa27a04fc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eb6ba59a7c41cf" /><Relationship Type="http://schemas.openxmlformats.org/officeDocument/2006/relationships/notesMaster" Target="/ppt/notesMasters/notesMaster1.xml" Id="R431d89714a164c8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bad0f067b124557" /><Relationship Type="http://schemas.openxmlformats.org/officeDocument/2006/relationships/notesMaster" Target="/ppt/notesMasters/notesMaster1.xml" Id="R9a237104f8994a5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d7dfee405b74154" /><Relationship Type="http://schemas.openxmlformats.org/officeDocument/2006/relationships/notesMaster" Target="/ppt/notesMasters/notesMaster1.xml" Id="R8092c995b31d457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c463d32149d4db7" /><Relationship Type="http://schemas.openxmlformats.org/officeDocument/2006/relationships/notesMaster" Target="/ppt/notesMasters/notesMaster1.xml" Id="R7933386006e045b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38efe4f28aa4ad4" /><Relationship Type="http://schemas.openxmlformats.org/officeDocument/2006/relationships/notesMaster" Target="/ppt/notesMasters/notesMaster1.xml" Id="R463d25b0a1cf407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e3bc316845848ee" /><Relationship Type="http://schemas.openxmlformats.org/officeDocument/2006/relationships/notesMaster" Target="/ppt/notesMasters/notesMaster1.xml" Id="R22501ed19455493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f977e7db0164301" /><Relationship Type="http://schemas.openxmlformats.org/officeDocument/2006/relationships/notesMaster" Target="/ppt/notesMasters/notesMaster1.xml" Id="R857b252f7d2c4c4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cfc0d9c9b0645ad" /><Relationship Type="http://schemas.openxmlformats.org/officeDocument/2006/relationships/notesMaster" Target="/ppt/notesMasters/notesMaster1.xml" Id="R8144e50f29744e0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1531fb9cb394e75" /><Relationship Type="http://schemas.openxmlformats.org/officeDocument/2006/relationships/notesMaster" Target="/ppt/notesMasters/notesMaster1.xml" Id="R48c6fafad9c4424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a375cf1958c4ea9" /><Relationship Type="http://schemas.openxmlformats.org/officeDocument/2006/relationships/notesMaster" Target="/ppt/notesMasters/notesMaster1.xml" Id="Rf54b916f715844f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037f022281e427e" /><Relationship Type="http://schemas.openxmlformats.org/officeDocument/2006/relationships/notesMaster" Target="/ppt/notesMasters/notesMaster1.xml" Id="R9fc650803b4e4b1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21e31b4e8ad450d" /><Relationship Type="http://schemas.openxmlformats.org/officeDocument/2006/relationships/notesMaster" Target="/ppt/notesMasters/notesMaster1.xml" Id="R82151bcc317a412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0736d6b549c408d" /><Relationship Type="http://schemas.openxmlformats.org/officeDocument/2006/relationships/notesMaster" Target="/ppt/notesMasters/notesMaster1.xml" Id="Ra67fa696b4ed41c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3aea66988444479" /><Relationship Type="http://schemas.openxmlformats.org/officeDocument/2006/relationships/notesMaster" Target="/ppt/notesMasters/notesMaster1.xml" Id="Rd06db036d7854b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本课把第 5 课的研究空白候选收敛为可检验问题，并完成问题门材料初版。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/Users/bright/Projects/courses/graduate/lessons/lesson-06/slides.md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2:30 进行第一次短互动。只听学生说出自己的空白候选，不在此处评价完整性。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/Users/bright/Projects/courses/graduate/lessons/lesson-05/handout.md</a:t>
            </a:r>
          </a:p>
          <a:p xmlns:a="http://schemas.openxmlformats.org/drawingml/2006/main">
            <a:r>
              <a:t>- /Users/bright/Projects/courses/graduate/lessons/lesson-06/teaching-plan.md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本课完成材料初版，不要求课堂内把八项全部补齐。问题门条件以 assignments.md 为准；候选题池与选题理由是 problem-definition.md 的课程扩展字段，不加入八项门条件。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让学生判断自己当前表述属于哪一层。表中案例用于方法教学，不构成实证结论。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虚构教学样例｜非真实论文、检索或实证证据。G1 只训练从空格描述到结构性问题的改写，真实性仍待真实窄检索。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/Users/bright/Projects/courses/graduate/lessons/lesson-05/handout.md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请学生为自己的问题各写一条知识后果和实际后果。若答案只是“很新”，要求回到证据地图。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候选题先做来源交叉检查，再用四维标准卡比较 ≥3 个候选题并记录选题理由；新颖性必须落到三类之一（问题新／视角新／方法新），写进 problem-definition.md 的课程扩展字段。比较示范用虚构题池 G1（文献缺角，选定）／C2（异常观察，保留为背景问题）／C3（重构迁移，可行性淘汰），均为虚构教学样例。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/Users/bright/Projects/courses/graduate/lessons/lesson-05/handout.md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- Booth et al., The Craft of Research, 5th ed., Chapter 2（意义维度）</a:t>
            </a:r>
          </a:p>
          <a:p xmlns:a="http://schemas.openxmlformats.org/drawingml/2006/main">
            <a:r>
              <a:t>- Hamming, You and Your Research（重要问题与品味）</a:t>
            </a:r>
          </a:p>
          <a:p xmlns:a="http://schemas.openxmlformats.org/drawingml/2006/main">
            <a:r>
              <a:t>- 霍强《讲堂：创新研究到底怎么做？》Passion/Excellence/Impact（兴趣与意义参照，课堂案例）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非例不是随意排除，而是与包含范围共同形成可判断的边界。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让学生诊断一条非例并修改。强调“为什么不算”必须可解释。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本页训练命题结构，不声称样例效果真实存在。Platt 用于竞争假设与排除逻辑。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https://pubmed.ncbi.nlm.nih.gov/17739513/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课程项目不要求实现完整三组实验，但问题定义必须能说出替代解释和区分方法。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https://pubmed.ncbi.nlm.nih.gov/17739513/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第一性原理只用于识别基本约束、作用机制和不可违背条件；AI 输出和推导本身都不构成证据。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口头提问：如果主张成立，哪些条件必须满足？只收集约束，不急着讨论工具。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本页把 L3-L5 的 MI 证据缺口压缩为一个问题和三条可区分假设：效率、鲁棒性、忠实性。这里不报告新实验结果，只定义后续 baseline 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/Users/bright/Projects/courses/graduate/lessons/lesson-06/mi-problem-definition-demo.md</a:t>
            </a:r>
          </a:p>
          <a:p xmlns:a="http://schemas.openxmlformats.org/drawingml/2006/main">
            <a:r>
              <a:t>- /Users/bright/Projects/courses/graduate/lessons/lesson-05/mi-evidence-map-demo.md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逐项讲清九项权威条件。第 8 项要求记录真实失败或死路的原因、处理和回写位置；第 9 项保留 AI 使用与正式来源核验。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虚构教学样例｜门条件状态仅演示核对方法。第 1-4 项来自累计工件，不能宣称在某一课自动完成。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40:00-43:00 讲清七步和写入位置；候选题池比较沿用第 5 课题池（≥3 候选、≥2 路径、≥1 非文献空白路径），不足 3 个先补异常/痛点候选。没有真实课题者可用虚构样例（含 G1/C2/C3 虚构题池），但必须改换问题表述或子问题分解。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/Users/bright/Projects/courses/graduate/lessons/lesson-06/teaching-plan.md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43:00-60:00 停留本页。巡视只处理共同卡点；课前累计文献、精读卡和地图只核对状态，不重做。候选题池与选题理由是课程扩展字段，写入 problem-definition.md，不加入九项门条件。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/Users/bright/Projects/courses/graduate/lessons/lesson-06/teaching-plan.md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60:00-78:00 进行 2-3 人互查。按九项门条件提问，但不替作者改写或决定。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/Users/bright/Projects/courses/graduate/lessons/lesson-06/teaching-plan.md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回收本讲主链：从结构性问题出发，写出可证伪命题，再用基本约束推导待验证前提，最后按九项问题门条件核对。总结不替代提交说明。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/Users/bright/Projects/courses/graduate/lessons/lesson-06/slides.md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提交方式、九项条件和未通过处理均以 assignments.md 为准。第一次未通过不直接扣重分，但未按期修订影响对应评分维度。失败记录必须来自真实执行过程；候选题池与选题理由仍是课程扩展字段。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收束本课：问题门通过后，待验证前提进入第 7 课机制假设；不把推导直接当成结论或实验结果。本课产出含 problem-definition + 第一性原理推导 + 候选题池与选题理由。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- /Users/bright/Projects/courses/graduate/lessons/lesson-06/slides.md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723c6ed4484572" /><Relationship Type="http://schemas.openxmlformats.org/officeDocument/2006/relationships/image" Target="/ppt/media/image.png" Id="R3a5af34cd44d4392" /><Relationship Type="http://schemas.openxmlformats.org/officeDocument/2006/relationships/image" Target="/ppt/media/image2.png" Id="R11ea15fd41c54945" /><Relationship Type="http://schemas.openxmlformats.org/officeDocument/2006/relationships/image" Target="/ppt/media/image3.png" Id="R09b9e7b1f6374532" /><Relationship Type="http://schemas.openxmlformats.org/officeDocument/2006/relationships/image" Target="/ppt/media/image4.png" Id="Rae71a6e3867a474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ae49dac8a44f7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c2242cd9194984" /><Relationship Type="http://schemas.openxmlformats.org/officeDocument/2006/relationships/image" Target="/ppt/media/image2.png" Id="R96e6dc04bf9d4b8a" /><Relationship Type="http://schemas.openxmlformats.org/officeDocument/2006/relationships/image" Target="/ppt/media/image5.png" Id="R395d72086c89487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e5e7ac5cc5492c" /><Relationship Type="http://schemas.openxmlformats.org/officeDocument/2006/relationships/image" Target="/ppt/media/image.png" Id="R968acc4f357f481a" /><Relationship Type="http://schemas.openxmlformats.org/officeDocument/2006/relationships/image" Target="/ppt/media/image3.png" Id="R97d7a47470eb40d0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5af34cd44d4392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ea15fd41c54945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9b9e7b1f6374532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1a6e3867a474b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e6dc04bf9d4b8a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5d72086c8948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8acc4f357f481a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d7a47470eb40d0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14a442d98b4bd7" /><Relationship Type="http://schemas.openxmlformats.org/officeDocument/2006/relationships/slideLayout" Target="/ppt/slideLayouts/slideLayout1.xml" Id="Refbeddeaa0624edd" /><Relationship Type="http://schemas.openxmlformats.org/officeDocument/2006/relationships/slideLayout" Target="/ppt/slideLayouts/slideLayout2.xml" Id="R68482647a4434f71" /><Relationship Type="http://schemas.openxmlformats.org/officeDocument/2006/relationships/slideLayout" Target="/ppt/slideLayouts/slideLayout3.xml" Id="R9f1078d159914930" /><Relationship Type="http://schemas.openxmlformats.org/officeDocument/2006/relationships/slideLayout" Target="/ppt/slideLayouts/slideLayout4.xml" Id="Rcf6bdf8cca494898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beddeaa0624edd"/>
    <p:sldLayoutId xmlns:r="http://schemas.openxmlformats.org/officeDocument/2006/relationships" id="2147483650" r:id="R68482647a4434f71"/>
    <p:sldLayoutId xmlns:r="http://schemas.openxmlformats.org/officeDocument/2006/relationships" id="2147483651" r:id="R9f1078d159914930"/>
    <p:sldLayoutId xmlns:r="http://schemas.openxmlformats.org/officeDocument/2006/relationships" id="2147483652" r:id="Rcf6bdf8cca494898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5a9b218dd14134" /><Relationship Type="http://schemas.openxmlformats.org/officeDocument/2006/relationships/notesSlide" Target="/ppt/notesSlides/notesSlide1.xml" Id="Re0168e3a16c840a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73391e50f924028" /><Relationship Type="http://schemas.openxmlformats.org/officeDocument/2006/relationships/notesSlide" Target="/ppt/notesSlides/notesSlide2.xml" Id="Raa318e19748642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6b60d7f07bd4fef" /><Relationship Type="http://schemas.openxmlformats.org/officeDocument/2006/relationships/notesSlide" Target="/ppt/notesSlides/notesSlide3.xml" Id="Rdba7e0baec5341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e0b8eddbc464754" /><Relationship Type="http://schemas.openxmlformats.org/officeDocument/2006/relationships/notesSlide" Target="/ppt/notesSlides/notesSlide4.xml" Id="Rdf135dd7523b4cf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7bfe48a5c8341fa" /><Relationship Type="http://schemas.openxmlformats.org/officeDocument/2006/relationships/notesSlide" Target="/ppt/notesSlides/notesSlide5.xml" Id="Re403b59adb9d4e8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91468acd91647c1" /><Relationship Type="http://schemas.openxmlformats.org/officeDocument/2006/relationships/notesSlide" Target="/ppt/notesSlides/notesSlide6.xml" Id="R7b8b3667b64349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ba9ac2fba834d3c" /><Relationship Type="http://schemas.openxmlformats.org/officeDocument/2006/relationships/notesSlide" Target="/ppt/notesSlides/notesSlide7.xml" Id="Re52dbb87e44c4a0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5f7a41238944cf8" /><Relationship Type="http://schemas.openxmlformats.org/officeDocument/2006/relationships/notesSlide" Target="/ppt/notesSlides/notesSlide8.xml" Id="Reb3bd5f52ee6497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d282f520e4f41e0" /><Relationship Type="http://schemas.openxmlformats.org/officeDocument/2006/relationships/notesSlide" Target="/ppt/notesSlides/notesSlide9.xml" Id="R1ab1160d86f8425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32330a1c7e14674" /><Relationship Type="http://schemas.openxmlformats.org/officeDocument/2006/relationships/notesSlide" Target="/ppt/notesSlides/notesSlide10.xml" Id="R9d190a2e33234ed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342038438ae49de" /><Relationship Type="http://schemas.openxmlformats.org/officeDocument/2006/relationships/notesSlide" Target="/ppt/notesSlides/notesSlide11.xml" Id="Rb3295f4177ca492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29e256c860049f7" /><Relationship Type="http://schemas.openxmlformats.org/officeDocument/2006/relationships/notesSlide" Target="/ppt/notesSlides/notesSlide12.xml" Id="R870884fefc60478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123f4d94b3342af" /><Relationship Type="http://schemas.openxmlformats.org/officeDocument/2006/relationships/notesSlide" Target="/ppt/notesSlides/notesSlide13.xml" Id="R4514b73499b0483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ae751cdf4df46c8" /><Relationship Type="http://schemas.openxmlformats.org/officeDocument/2006/relationships/image" Target="/ppt/media/image6.png" Id="R677c1e9425514092" /><Relationship Type="http://schemas.openxmlformats.org/officeDocument/2006/relationships/notesSlide" Target="/ppt/notesSlides/notesSlide14.xml" Id="Rb594a4b3ce1a46d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a4b57a1af7640fb" /><Relationship Type="http://schemas.openxmlformats.org/officeDocument/2006/relationships/notesSlide" Target="/ppt/notesSlides/notesSlide15.xml" Id="Rf8f2556d6619468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17c5230356342b3" /><Relationship Type="http://schemas.openxmlformats.org/officeDocument/2006/relationships/notesSlide" Target="/ppt/notesSlides/notesSlide16.xml" Id="Ra609e84fd39b40f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92759134bb84063" /><Relationship Type="http://schemas.openxmlformats.org/officeDocument/2006/relationships/notesSlide" Target="/ppt/notesSlides/notesSlide17.xml" Id="Re0550fcaa9f8415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2fe481af5c6436f" /><Relationship Type="http://schemas.openxmlformats.org/officeDocument/2006/relationships/notesSlide" Target="/ppt/notesSlides/notesSlide18.xml" Id="R2c412036b04b4bf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a59b7cd1f7f4b77" /><Relationship Type="http://schemas.openxmlformats.org/officeDocument/2006/relationships/notesSlide" Target="/ppt/notesSlides/notesSlide19.xml" Id="Rb78c29ce1e1047a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e2eea564f9045e1" /><Relationship Type="http://schemas.openxmlformats.org/officeDocument/2006/relationships/notesSlide" Target="/ppt/notesSlides/notesSlide20.xml" Id="Rb26bdc2545c54a5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ebfa84416424d95" /><Relationship Type="http://schemas.openxmlformats.org/officeDocument/2006/relationships/notesSlide" Target="/ppt/notesSlides/notesSlide21.xml" Id="Rd4326f5a4a2b4c5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644965ffffb4faa" /><Relationship Type="http://schemas.openxmlformats.org/officeDocument/2006/relationships/notesSlide" Target="/ppt/notesSlides/notesSlide22.xml" Id="Rf0fa231fcefe4b3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第6讲 研究问题、问题定义与第一性原理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5 课之后，研究空白候选如何变成问题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have">
            <a:extLst xmlns:a="http://schemas.openxmlformats.org/drawingml/2006/main">
              <a:ext uri="{FF2B5EF4-FFF2-40B4-BE49-F238E27FC236}">
                <a16:creationId xmlns:a16="http://schemas.microsoft.com/office/drawing/2014/main" id="{1922D77A-36B2-49F9-BB3F-F27D50D7A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4476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5 课已经建立</a:t>
            </a:r>
          </a:p>
        </p:txBody>
      </p:sp>
      <p:sp>
        <p:nvSpPr>
          <p:cNvPr id="7" name="p02-h0">
            <a:extLst xmlns:a="http://schemas.openxmlformats.org/drawingml/2006/main">
              <a:ext uri="{FF2B5EF4-FFF2-40B4-BE49-F238E27FC236}">
                <a16:creationId xmlns:a16="http://schemas.microsoft.com/office/drawing/2014/main" id="{C1402596-AF68-49DB-86A3-871FCE23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14500"/>
            <a:ext cx="41910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证据地图：直接 / 补充 / 冲突 / 空白</a:t>
            </a:r>
          </a:p>
        </p:txBody>
      </p:sp>
      <p:sp>
        <p:nvSpPr>
          <p:cNvPr id="8" name="p02-h1">
            <a:extLst xmlns:a="http://schemas.openxmlformats.org/drawingml/2006/main">
              <a:ext uri="{FF2B5EF4-FFF2-40B4-BE49-F238E27FC236}">
                <a16:creationId xmlns:a16="http://schemas.microsoft.com/office/drawing/2014/main" id="{5BAEADD2-3B1D-40DA-B291-7C33CF11C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43200"/>
            <a:ext cx="41910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空白候选：真实性 / 重要性 / 可行性</a:t>
            </a:r>
          </a:p>
        </p:txBody>
      </p:sp>
      <p:sp>
        <p:nvSpPr>
          <p:cNvPr id="9" name="p02-a">
            <a:extLst xmlns:a="http://schemas.openxmlformats.org/drawingml/2006/main">
              <a:ext uri="{FF2B5EF4-FFF2-40B4-BE49-F238E27FC236}">
                <a16:creationId xmlns:a16="http://schemas.microsoft.com/office/drawing/2014/main" id="{74A1660C-08C1-44DA-8474-4C747374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71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02-miss">
            <a:extLst xmlns:a="http://schemas.openxmlformats.org/drawingml/2006/main">
              <a:ext uri="{FF2B5EF4-FFF2-40B4-BE49-F238E27FC236}">
                <a16:creationId xmlns:a16="http://schemas.microsoft.com/office/drawing/2014/main" id="{505166DB-DAA4-4E3B-A17F-7D8DBD64A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71550"/>
            <a:ext cx="4476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本课仍需回答</a:t>
            </a:r>
          </a:p>
        </p:txBody>
      </p:sp>
      <p:sp>
        <p:nvSpPr>
          <p:cNvPr id="11" name="p02-m0">
            <a:extLst xmlns:a="http://schemas.openxmlformats.org/drawingml/2006/main">
              <a:ext uri="{FF2B5EF4-FFF2-40B4-BE49-F238E27FC236}">
                <a16:creationId xmlns:a16="http://schemas.microsoft.com/office/drawing/2014/main" id="{1A1622A8-1085-44C2-9EF3-4A33DE35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619250"/>
            <a:ext cx="4191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问什么？边界在哪里？</a:t>
            </a:r>
          </a:p>
        </p:txBody>
      </p:sp>
      <p:sp>
        <p:nvSpPr>
          <p:cNvPr id="12" name="p02-m1">
            <a:extLst xmlns:a="http://schemas.openxmlformats.org/drawingml/2006/main">
              <a:ext uri="{FF2B5EF4-FFF2-40B4-BE49-F238E27FC236}">
                <a16:creationId xmlns:a16="http://schemas.microsoft.com/office/drawing/2014/main" id="{EC13EF39-4836-4C7B-AB3D-5959B348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428875"/>
            <a:ext cx="4191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什么结果会推翻主张？</a:t>
            </a:r>
          </a:p>
        </p:txBody>
      </p:sp>
      <p:sp>
        <p:nvSpPr>
          <p:cNvPr id="13" name="p02-m2">
            <a:extLst xmlns:a="http://schemas.openxmlformats.org/drawingml/2006/main">
              <a:ext uri="{FF2B5EF4-FFF2-40B4-BE49-F238E27FC236}">
                <a16:creationId xmlns:a16="http://schemas.microsoft.com/office/drawing/2014/main" id="{2175992E-B3D0-433E-8499-756ACFCD8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238500"/>
            <a:ext cx="4191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哪些前提仍待外部检验？</a:t>
            </a:r>
          </a:p>
        </p:txBody>
      </p:sp>
      <p:sp>
        <p:nvSpPr>
          <p:cNvPr id="14" name="p02-bottom">
            <a:extLst xmlns:a="http://schemas.openxmlformats.org/drawingml/2006/main">
              <a:ext uri="{FF2B5EF4-FFF2-40B4-BE49-F238E27FC236}">
                <a16:creationId xmlns:a16="http://schemas.microsoft.com/office/drawing/2014/main" id="{461C023B-0EAC-49EB-9750-F55BCDA5C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000625"/>
            <a:ext cx="838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2:30 快问：你的候选现在是“空格描述”，还是“可检验问题”？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n0">
            <a:extLst xmlns:a="http://schemas.openxmlformats.org/drawingml/2006/main">
              <a:ext uri="{FF2B5EF4-FFF2-40B4-BE49-F238E27FC236}">
                <a16:creationId xmlns:a16="http://schemas.microsoft.com/office/drawing/2014/main" id="{B48D9082-E244-4D6C-B3B0-5BD28349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03-g0">
            <a:extLst xmlns:a="http://schemas.openxmlformats.org/drawingml/2006/main">
              <a:ext uri="{FF2B5EF4-FFF2-40B4-BE49-F238E27FC236}">
                <a16:creationId xmlns:a16="http://schemas.microsoft.com/office/drawing/2014/main" id="{4088AC41-3A13-4810-BEA1-B2F2AE98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23950"/>
            <a:ext cx="2143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结构性问题</a:t>
            </a:r>
          </a:p>
        </p:txBody>
      </p:sp>
      <p:sp>
        <p:nvSpPr>
          <p:cNvPr id="8" name="p03-n1">
            <a:extLst xmlns:a="http://schemas.openxmlformats.org/drawingml/2006/main">
              <a:ext uri="{FF2B5EF4-FFF2-40B4-BE49-F238E27FC236}">
                <a16:creationId xmlns:a16="http://schemas.microsoft.com/office/drawing/2014/main" id="{55CFE065-9AF6-4CA0-A914-47CBFCE9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200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p03-g1">
            <a:extLst xmlns:a="http://schemas.openxmlformats.org/drawingml/2006/main">
              <a:ext uri="{FF2B5EF4-FFF2-40B4-BE49-F238E27FC236}">
                <a16:creationId xmlns:a16="http://schemas.microsoft.com/office/drawing/2014/main" id="{ABC89F33-DE78-4D9F-8217-FB797518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123950"/>
            <a:ext cx="2143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非例边界</a:t>
            </a:r>
          </a:p>
        </p:txBody>
      </p:sp>
      <p:sp>
        <p:nvSpPr>
          <p:cNvPr id="10" name="p03-n2">
            <a:extLst xmlns:a="http://schemas.openxmlformats.org/drawingml/2006/main">
              <a:ext uri="{FF2B5EF4-FFF2-40B4-BE49-F238E27FC236}">
                <a16:creationId xmlns:a16="http://schemas.microsoft.com/office/drawing/2014/main" id="{78240432-B74D-47E2-8CA6-35C1848D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00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p03-g2">
            <a:extLst xmlns:a="http://schemas.openxmlformats.org/drawingml/2006/main">
              <a:ext uri="{FF2B5EF4-FFF2-40B4-BE49-F238E27FC236}">
                <a16:creationId xmlns:a16="http://schemas.microsoft.com/office/drawing/2014/main" id="{46D917CF-D7C1-4777-8974-48A4280B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123950"/>
            <a:ext cx="2143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可证伪命题</a:t>
            </a:r>
          </a:p>
        </p:txBody>
      </p:sp>
      <p:sp>
        <p:nvSpPr>
          <p:cNvPr id="12" name="p03-n3">
            <a:extLst xmlns:a="http://schemas.openxmlformats.org/drawingml/2006/main">
              <a:ext uri="{FF2B5EF4-FFF2-40B4-BE49-F238E27FC236}">
                <a16:creationId xmlns:a16="http://schemas.microsoft.com/office/drawing/2014/main" id="{932D6DB9-EB0D-46B5-8C21-92653C37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526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3" name="p03-g3">
            <a:extLst xmlns:a="http://schemas.openxmlformats.org/drawingml/2006/main">
              <a:ext uri="{FF2B5EF4-FFF2-40B4-BE49-F238E27FC236}">
                <a16:creationId xmlns:a16="http://schemas.microsoft.com/office/drawing/2014/main" id="{33829251-72E7-4AEE-BDBD-E0BACD61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076450"/>
            <a:ext cx="2143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第一性原理推导</a:t>
            </a:r>
          </a:p>
        </p:txBody>
      </p:sp>
      <p:sp>
        <p:nvSpPr>
          <p:cNvPr id="14" name="p03-n4">
            <a:extLst xmlns:a="http://schemas.openxmlformats.org/drawingml/2006/main">
              <a:ext uri="{FF2B5EF4-FFF2-40B4-BE49-F238E27FC236}">
                <a16:creationId xmlns:a16="http://schemas.microsoft.com/office/drawing/2014/main" id="{A442ADE6-F9EA-4543-96CB-1F0E88EE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526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5" name="p03-g4">
            <a:extLst xmlns:a="http://schemas.openxmlformats.org/drawingml/2006/main">
              <a:ext uri="{FF2B5EF4-FFF2-40B4-BE49-F238E27FC236}">
                <a16:creationId xmlns:a16="http://schemas.microsoft.com/office/drawing/2014/main" id="{C439066D-FEFB-4FE7-AD10-5EA4B591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076450"/>
            <a:ext cx="2143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来源交叉检查 + 重要性</a:t>
            </a:r>
          </a:p>
        </p:txBody>
      </p:sp>
      <p:sp>
        <p:nvSpPr>
          <p:cNvPr id="16" name="p03-n5">
            <a:extLst xmlns:a="http://schemas.openxmlformats.org/drawingml/2006/main">
              <a:ext uri="{FF2B5EF4-FFF2-40B4-BE49-F238E27FC236}">
                <a16:creationId xmlns:a16="http://schemas.microsoft.com/office/drawing/2014/main" id="{8959CDBA-CB63-4D75-BA65-50705D90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526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7" name="p03-g5">
            <a:extLst xmlns:a="http://schemas.openxmlformats.org/drawingml/2006/main">
              <a:ext uri="{FF2B5EF4-FFF2-40B4-BE49-F238E27FC236}">
                <a16:creationId xmlns:a16="http://schemas.microsoft.com/office/drawing/2014/main" id="{6AE52132-4AEA-414F-B1DC-2B7823F4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076450"/>
            <a:ext cx="2143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候选题比较与门自查</a:t>
            </a:r>
          </a:p>
        </p:txBody>
      </p:sp>
      <p:sp>
        <p:nvSpPr>
          <p:cNvPr id="18" name="p03-output">
            <a:extLst xmlns:a="http://schemas.openxmlformats.org/drawingml/2006/main">
              <a:ext uri="{FF2B5EF4-FFF2-40B4-BE49-F238E27FC236}">
                <a16:creationId xmlns:a16="http://schemas.microsoft.com/office/drawing/2014/main" id="{D8B05BA4-F945-4C82-86E5-26D5CCF0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143000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课堂最小产出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problem-definition.md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更新版 +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第一性原理推导初版</a:t>
            </a:r>
          </a:p>
        </p:txBody>
      </p:sp>
      <p:sp>
        <p:nvSpPr>
          <p:cNvPr id="19" name="p03-gate">
            <a:extLst xmlns:a="http://schemas.openxmlformats.org/drawingml/2006/main">
              <a:ext uri="{FF2B5EF4-FFF2-40B4-BE49-F238E27FC236}">
                <a16:creationId xmlns:a16="http://schemas.microsoft.com/office/drawing/2014/main" id="{627F157D-7EE3-4C70-BD5D-39E3237D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905250"/>
            <a:ext cx="8858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课后只提交一次问题门材料包；不重做已通过的累计工件。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主题、研究问题还是待验证主张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h0">
            <a:extLst xmlns:a="http://schemas.openxmlformats.org/drawingml/2006/main">
              <a:ext uri="{FF2B5EF4-FFF2-40B4-BE49-F238E27FC236}">
                <a16:creationId xmlns:a16="http://schemas.microsoft.com/office/drawing/2014/main" id="{ED6B65B1-B70C-46C5-A6E5-EABAFD849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1619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层次</a:t>
            </a:r>
          </a:p>
        </p:txBody>
      </p:sp>
      <p:sp>
        <p:nvSpPr>
          <p:cNvPr id="7" name="p04-h1">
            <a:extLst xmlns:a="http://schemas.openxmlformats.org/drawingml/2006/main">
              <a:ext uri="{FF2B5EF4-FFF2-40B4-BE49-F238E27FC236}">
                <a16:creationId xmlns:a16="http://schemas.microsoft.com/office/drawing/2014/main" id="{8BA095A7-2C3A-4933-A898-6CF18809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238250"/>
            <a:ext cx="6191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典型表述</a:t>
            </a:r>
          </a:p>
        </p:txBody>
      </p:sp>
      <p:sp>
        <p:nvSpPr>
          <p:cNvPr id="8" name="p04-h2">
            <a:extLst xmlns:a="http://schemas.openxmlformats.org/drawingml/2006/main">
              <a:ext uri="{FF2B5EF4-FFF2-40B4-BE49-F238E27FC236}">
                <a16:creationId xmlns:a16="http://schemas.microsoft.com/office/drawing/2014/main" id="{90392385-1B45-4775-9EB2-F25715AE3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238250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仍缺什么</a:t>
            </a:r>
          </a:p>
        </p:txBody>
      </p:sp>
      <p:sp>
        <p:nvSpPr>
          <p:cNvPr id="9" name="p04-r0-0">
            <a:extLst xmlns:a="http://schemas.openxmlformats.org/drawingml/2006/main">
              <a:ext uri="{FF2B5EF4-FFF2-40B4-BE49-F238E27FC236}">
                <a16:creationId xmlns:a16="http://schemas.microsoft.com/office/drawing/2014/main" id="{1BDD651C-177B-4682-B460-B78183DA4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619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主题</a:t>
            </a:r>
          </a:p>
        </p:txBody>
      </p:sp>
      <p:sp>
        <p:nvSpPr>
          <p:cNvPr id="10" name="p04-r0-1">
            <a:extLst xmlns:a="http://schemas.openxmlformats.org/drawingml/2006/main">
              <a:ext uri="{FF2B5EF4-FFF2-40B4-BE49-F238E27FC236}">
                <a16:creationId xmlns:a16="http://schemas.microsoft.com/office/drawing/2014/main" id="{0A6EEAB5-D094-4A66-ADC8-430FF7DC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66875"/>
            <a:ext cx="6191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辅助论文阅读</a:t>
            </a:r>
          </a:p>
        </p:txBody>
      </p:sp>
      <p:sp>
        <p:nvSpPr>
          <p:cNvPr id="11" name="p04-r0-2">
            <a:extLst xmlns:a="http://schemas.openxmlformats.org/drawingml/2006/main">
              <a:ext uri="{FF2B5EF4-FFF2-40B4-BE49-F238E27FC236}">
                <a16:creationId xmlns:a16="http://schemas.microsoft.com/office/drawing/2014/main" id="{876392A8-4E13-4950-A7B6-018C57CD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666875"/>
            <a:ext cx="3143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范围、条件、可比对象</a:t>
            </a:r>
          </a:p>
        </p:txBody>
      </p:sp>
      <p:sp>
        <p:nvSpPr>
          <p:cNvPr id="12" name="p04-r1-0">
            <a:extLst xmlns:a="http://schemas.openxmlformats.org/drawingml/2006/main">
              <a:ext uri="{FF2B5EF4-FFF2-40B4-BE49-F238E27FC236}">
                <a16:creationId xmlns:a16="http://schemas.microsoft.com/office/drawing/2014/main" id="{092C74CE-FEA4-47C6-BEDC-4683F5DB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619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研究问题</a:t>
            </a:r>
          </a:p>
        </p:txBody>
      </p:sp>
      <p:sp>
        <p:nvSpPr>
          <p:cNvPr id="13" name="p04-r1-1">
            <a:extLst xmlns:a="http://schemas.openxmlformats.org/drawingml/2006/main">
              <a:ext uri="{FF2B5EF4-FFF2-40B4-BE49-F238E27FC236}">
                <a16:creationId xmlns:a16="http://schemas.microsoft.com/office/drawing/2014/main" id="{6C079FF6-407E-443F-9DF1-03308F71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571750"/>
            <a:ext cx="6191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在逐条核验引用的 CS 阅读中，阅读卡是否降低遗漏率？</a:t>
            </a:r>
          </a:p>
        </p:txBody>
      </p:sp>
      <p:sp>
        <p:nvSpPr>
          <p:cNvPr id="14" name="p04-r1-2">
            <a:extLst xmlns:a="http://schemas.openxmlformats.org/drawingml/2006/main">
              <a:ext uri="{FF2B5EF4-FFF2-40B4-BE49-F238E27FC236}">
                <a16:creationId xmlns:a16="http://schemas.microsoft.com/office/drawing/2014/main" id="{55E0B21B-5C35-40E7-8E5A-76807B8D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571750"/>
            <a:ext cx="3143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候选答案、可证伪性</a:t>
            </a:r>
          </a:p>
        </p:txBody>
      </p:sp>
      <p:sp>
        <p:nvSpPr>
          <p:cNvPr id="15" name="p04-r2-0">
            <a:extLst xmlns:a="http://schemas.openxmlformats.org/drawingml/2006/main">
              <a:ext uri="{FF2B5EF4-FFF2-40B4-BE49-F238E27FC236}">
                <a16:creationId xmlns:a16="http://schemas.microsoft.com/office/drawing/2014/main" id="{B741DD37-9847-4BB1-85D3-47B40F95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1619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待验证主张</a:t>
            </a:r>
          </a:p>
        </p:txBody>
      </p:sp>
      <p:sp>
        <p:nvSpPr>
          <p:cNvPr id="16" name="p04-r2-1">
            <a:extLst xmlns:a="http://schemas.openxmlformats.org/drawingml/2006/main">
              <a:ext uri="{FF2B5EF4-FFF2-40B4-BE49-F238E27FC236}">
                <a16:creationId xmlns:a16="http://schemas.microsoft.com/office/drawing/2014/main" id="{E73A8C13-3E05-4354-8321-64CD846C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6191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若强制定位原文且评价标准固定，则差异可归因于阅读卡结构</a:t>
            </a:r>
          </a:p>
        </p:txBody>
      </p:sp>
      <p:sp>
        <p:nvSpPr>
          <p:cNvPr id="17" name="p04-r2-2">
            <a:extLst xmlns:a="http://schemas.openxmlformats.org/drawingml/2006/main">
              <a:ext uri="{FF2B5EF4-FFF2-40B4-BE49-F238E27FC236}">
                <a16:creationId xmlns:a16="http://schemas.microsoft.com/office/drawing/2014/main" id="{81D0ACEC-95C9-4C8D-A319-5D1486AC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476625"/>
            <a:ext cx="3143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实验、竞争假设排除</a:t>
            </a:r>
          </a:p>
        </p:txBody>
      </p:sp>
      <p:sp>
        <p:nvSpPr>
          <p:cNvPr id="18" name="p04-bottom">
            <a:extLst xmlns:a="http://schemas.openxmlformats.org/drawingml/2006/main">
              <a:ext uri="{FF2B5EF4-FFF2-40B4-BE49-F238E27FC236}">
                <a16:creationId xmlns:a16="http://schemas.microsoft.com/office/drawing/2014/main" id="{1A0A4658-FFC7-4E84-BAC9-939AB4E05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05375"/>
            <a:ext cx="942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研究问题不是把主题缩小一点，而是补全条件—对象—干预—结果—比较。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从研究空白到结构性问题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virtual">
            <a:extLst xmlns:a="http://schemas.openxmlformats.org/drawingml/2006/main">
              <a:ext uri="{FF2B5EF4-FFF2-40B4-BE49-F238E27FC236}">
                <a16:creationId xmlns:a16="http://schemas.microsoft.com/office/drawing/2014/main" id="{0A79469A-62DD-4329-8035-AE6BD3D3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虚构教学样例｜非真实论文、检索或实证证据</a:t>
            </a:r>
          </a:p>
        </p:txBody>
      </p:sp>
      <p:sp>
        <p:nvSpPr>
          <p:cNvPr id="7" name="p05-gap">
            <a:extLst xmlns:a="http://schemas.openxmlformats.org/drawingml/2006/main">
              <a:ext uri="{FF2B5EF4-FFF2-40B4-BE49-F238E27FC236}">
                <a16:creationId xmlns:a16="http://schemas.microsoft.com/office/drawing/2014/main" id="{668A0C46-FF4F-42A9-9ABA-3E9E8D61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3524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G1 空白候选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阅读卡是否强制定位原文 → 降低遗漏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状态：待真实窄检索</a:t>
            </a:r>
          </a:p>
        </p:txBody>
      </p:sp>
      <p:sp>
        <p:nvSpPr>
          <p:cNvPr id="8" name="p05-a">
            <a:extLst xmlns:a="http://schemas.openxmlformats.org/drawingml/2006/main">
              <a:ext uri="{FF2B5EF4-FFF2-40B4-BE49-F238E27FC236}">
                <a16:creationId xmlns:a16="http://schemas.microsoft.com/office/drawing/2014/main" id="{391FE8A0-9593-47EB-9323-7FAED154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90750"/>
            <a:ext cx="590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05-q">
            <a:extLst xmlns:a="http://schemas.openxmlformats.org/drawingml/2006/main">
              <a:ext uri="{FF2B5EF4-FFF2-40B4-BE49-F238E27FC236}">
                <a16:creationId xmlns:a16="http://schemas.microsoft.com/office/drawing/2014/main" id="{1862FAB1-84F8-46E8-9A84-C6EC58C5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76375"/>
            <a:ext cx="600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在需要逐条核验引用的 CS 论文阅读任务中，结构化阅读卡是否比自由摘要更能降低限定条件遗漏率？</a:t>
            </a:r>
          </a:p>
        </p:txBody>
      </p:sp>
      <p:sp>
        <p:nvSpPr>
          <p:cNvPr id="10" name="p05-e0">
            <a:extLst xmlns:a="http://schemas.openxmlformats.org/drawingml/2006/main">
              <a:ext uri="{FF2B5EF4-FFF2-40B4-BE49-F238E27FC236}">
                <a16:creationId xmlns:a16="http://schemas.microsoft.com/office/drawing/2014/main" id="{08FC6322-074F-4746-AA2C-3272DBC3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条件</a:t>
            </a:r>
          </a:p>
        </p:txBody>
      </p:sp>
      <p:sp>
        <p:nvSpPr>
          <p:cNvPr id="11" name="p05-e1">
            <a:extLst xmlns:a="http://schemas.openxmlformats.org/drawingml/2006/main">
              <a:ext uri="{FF2B5EF4-FFF2-40B4-BE49-F238E27FC236}">
                <a16:creationId xmlns:a16="http://schemas.microsoft.com/office/drawing/2014/main" id="{F2247807-76F4-4C84-916C-B6D1A9203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905250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对象</a:t>
            </a:r>
          </a:p>
        </p:txBody>
      </p:sp>
      <p:sp>
        <p:nvSpPr>
          <p:cNvPr id="12" name="p05-e2">
            <a:extLst xmlns:a="http://schemas.openxmlformats.org/drawingml/2006/main">
              <a:ext uri="{FF2B5EF4-FFF2-40B4-BE49-F238E27FC236}">
                <a16:creationId xmlns:a16="http://schemas.microsoft.com/office/drawing/2014/main" id="{E704790F-4FA1-4085-BA45-21F355EFE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905250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干预</a:t>
            </a:r>
          </a:p>
        </p:txBody>
      </p:sp>
      <p:sp>
        <p:nvSpPr>
          <p:cNvPr id="13" name="p05-e3">
            <a:extLst xmlns:a="http://schemas.openxmlformats.org/drawingml/2006/main">
              <a:ext uri="{FF2B5EF4-FFF2-40B4-BE49-F238E27FC236}">
                <a16:creationId xmlns:a16="http://schemas.microsoft.com/office/drawing/2014/main" id="{BAB7BBCD-3D44-45C1-B6A8-E81BB67B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905250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14" name="p05-e4">
            <a:extLst xmlns:a="http://schemas.openxmlformats.org/drawingml/2006/main">
              <a:ext uri="{FF2B5EF4-FFF2-40B4-BE49-F238E27FC236}">
                <a16:creationId xmlns:a16="http://schemas.microsoft.com/office/drawing/2014/main" id="{74591210-845A-4950-BD6E-C9AA9B19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比较</a:t>
            </a:r>
          </a:p>
        </p:txBody>
      </p:sp>
      <p:sp>
        <p:nvSpPr>
          <p:cNvPr id="15" name="p05-bottom">
            <a:extLst xmlns:a="http://schemas.openxmlformats.org/drawingml/2006/main">
              <a:ext uri="{FF2B5EF4-FFF2-40B4-BE49-F238E27FC236}">
                <a16:creationId xmlns:a16="http://schemas.microsoft.com/office/drawing/2014/main" id="{BB93495F-28D2-4280-A64B-A506D008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953000"/>
            <a:ext cx="923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补全结构，不等于证明结论；真实项目必须填写自己的检索与核验状态。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 So what? / Who cares? 检查重要性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so-h">
            <a:extLst xmlns:a="http://schemas.openxmlformats.org/drawingml/2006/main">
              <a:ext uri="{FF2B5EF4-FFF2-40B4-BE49-F238E27FC236}">
                <a16:creationId xmlns:a16="http://schemas.microsoft.com/office/drawing/2014/main" id="{C4EC3A60-7FD4-49CD-911F-63FB9D17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190625"/>
            <a:ext cx="4762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So what?｜知识后果</a:t>
            </a:r>
          </a:p>
        </p:txBody>
      </p:sp>
      <p:sp>
        <p:nvSpPr>
          <p:cNvPr id="7" name="p06-so-d">
            <a:extLst xmlns:a="http://schemas.openxmlformats.org/drawingml/2006/main">
              <a:ext uri="{FF2B5EF4-FFF2-40B4-BE49-F238E27FC236}">
                <a16:creationId xmlns:a16="http://schemas.microsoft.com/office/drawing/2014/main" id="{0156AC28-FA9B-48A3-855F-109DB07A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28775"/>
            <a:ext cx="4762500" cy="1990725"/>
          </a:xfrm>
          <a:prstGeom xmlns:a="http://schemas.openxmlformats.org/drawingml/2006/main" prst="roundRect">
            <a:avLst>
              <a:gd name="adj" fmla="val 3828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不回答它，哪条证据链或机制假设无法成立？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回答后，能解释什么之前无法解释的现象？</a:t>
            </a:r>
          </a:p>
        </p:txBody>
      </p:sp>
      <p:sp>
        <p:nvSpPr>
          <p:cNvPr id="8" name="p06-who-h">
            <a:extLst xmlns:a="http://schemas.openxmlformats.org/drawingml/2006/main">
              <a:ext uri="{FF2B5EF4-FFF2-40B4-BE49-F238E27FC236}">
                <a16:creationId xmlns:a16="http://schemas.microsoft.com/office/drawing/2014/main" id="{E878445B-3570-419D-A992-6BF5F261A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190625"/>
            <a:ext cx="4762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Who cares?｜实际后果</a:t>
            </a:r>
          </a:p>
        </p:txBody>
      </p:sp>
      <p:sp>
        <p:nvSpPr>
          <p:cNvPr id="9" name="p06-who-d">
            <a:extLst xmlns:a="http://schemas.openxmlformats.org/drawingml/2006/main">
              <a:ext uri="{FF2B5EF4-FFF2-40B4-BE49-F238E27FC236}">
                <a16:creationId xmlns:a16="http://schemas.microsoft.com/office/drawing/2014/main" id="{1B3A435E-2917-44B6-A689-78271CC78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28775"/>
            <a:ext cx="4762500" cy="1990725"/>
          </a:xfrm>
          <a:prstGeom xmlns:a="http://schemas.openxmlformats.org/drawingml/2006/main" prst="roundRect">
            <a:avLst>
              <a:gd name="adj" fmla="val 3828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谁会从答案中受益？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答案会改变什么科研动作、工具选择或判断？</a:t>
            </a:r>
          </a:p>
        </p:txBody>
      </p:sp>
      <p:sp>
        <p:nvSpPr>
          <p:cNvPr id="10" name="p06-example">
            <a:extLst xmlns:a="http://schemas.openxmlformats.org/drawingml/2006/main">
              <a:ext uri="{FF2B5EF4-FFF2-40B4-BE49-F238E27FC236}">
                <a16:creationId xmlns:a16="http://schemas.microsoft.com/office/drawing/2014/main" id="{7AC76F9E-7FF1-43D6-8262-692FE03F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38625"/>
            <a:ext cx="8572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重要性来自问题在论证链上的位置，不来自“新颖”这个标签。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问题来源交叉检查与四维选题标准卡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ask">
            <a:extLst xmlns:a="http://schemas.openxmlformats.org/drawingml/2006/main">
              <a:ext uri="{FF2B5EF4-FFF2-40B4-BE49-F238E27FC236}">
                <a16:creationId xmlns:a16="http://schemas.microsoft.com/office/drawing/2014/main" id="{497087FC-6313-4149-9E3C-2FAFD05C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10858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2F638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候选题从哪条生成路径来？若只来自文献空白，必须回答：没有这个空白，问题还值得回答吗？</a:t>
            </a:r>
          </a:p>
        </p:txBody>
      </p:sp>
      <p:sp>
        <p:nvSpPr>
          <p:cNvPr id="7" name="p07-branch0-h">
            <a:extLst xmlns:a="http://schemas.openxmlformats.org/drawingml/2006/main">
              <a:ext uri="{FF2B5EF4-FFF2-40B4-BE49-F238E27FC236}">
                <a16:creationId xmlns:a16="http://schemas.microsoft.com/office/drawing/2014/main" id="{359C7287-E246-4F98-9530-03FBEE94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00200"/>
            <a:ext cx="1428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答得出</a:t>
            </a:r>
          </a:p>
        </p:txBody>
      </p:sp>
      <p:sp>
        <p:nvSpPr>
          <p:cNvPr id="8" name="p07-branch0-d">
            <a:extLst xmlns:a="http://schemas.openxmlformats.org/drawingml/2006/main">
              <a:ext uri="{FF2B5EF4-FFF2-40B4-BE49-F238E27FC236}">
                <a16:creationId xmlns:a16="http://schemas.microsoft.com/office/drawing/2014/main" id="{7100F5EB-A74A-42F9-8220-F6BC6ED83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00200"/>
            <a:ext cx="9286875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背后有更基本的观察或约束，空白只是入口</a:t>
            </a:r>
          </a:p>
        </p:txBody>
      </p:sp>
      <p:sp>
        <p:nvSpPr>
          <p:cNvPr id="9" name="p07-branch1-h">
            <a:extLst xmlns:a="http://schemas.openxmlformats.org/drawingml/2006/main">
              <a:ext uri="{FF2B5EF4-FFF2-40B4-BE49-F238E27FC236}">
                <a16:creationId xmlns:a16="http://schemas.microsoft.com/office/drawing/2014/main" id="{79D40DFF-8462-4628-95B8-08BABC20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00200"/>
            <a:ext cx="1428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答不出</a:t>
            </a:r>
          </a:p>
        </p:txBody>
      </p:sp>
      <p:sp>
        <p:nvSpPr>
          <p:cNvPr id="10" name="p07-branch1-d">
            <a:extLst xmlns:a="http://schemas.openxmlformats.org/drawingml/2006/main">
              <a:ext uri="{FF2B5EF4-FFF2-40B4-BE49-F238E27FC236}">
                <a16:creationId xmlns:a16="http://schemas.microsoft.com/office/drawing/2014/main" id="{11D5827A-B349-4B16-9B1A-B978D86D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00200"/>
            <a:ext cx="9286875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可能只是填格子：重推问题，或明示重要性只在论证链内</a:t>
            </a:r>
          </a:p>
        </p:txBody>
      </p:sp>
      <p:sp>
        <p:nvSpPr>
          <p:cNvPr id="11" name="p07-card-h">
            <a:extLst xmlns:a="http://schemas.openxmlformats.org/drawingml/2006/main">
              <a:ext uri="{FF2B5EF4-FFF2-40B4-BE49-F238E27FC236}">
                <a16:creationId xmlns:a16="http://schemas.microsoft.com/office/drawing/2014/main" id="{EBBC5A8B-3956-4916-A47F-AD7D4D397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10858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四维选题标准卡（候选题池 ≥3 个逐一比较）</a:t>
            </a:r>
          </a:p>
        </p:txBody>
      </p:sp>
      <p:sp>
        <p:nvSpPr>
          <p:cNvPr id="12" name="p07-d0-h">
            <a:extLst xmlns:a="http://schemas.openxmlformats.org/drawingml/2006/main">
              <a:ext uri="{FF2B5EF4-FFF2-40B4-BE49-F238E27FC236}">
                <a16:creationId xmlns:a16="http://schemas.microsoft.com/office/drawing/2014/main" id="{8F97F062-0794-449A-8587-7BB99887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14650"/>
            <a:ext cx="1428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意义</a:t>
            </a:r>
          </a:p>
        </p:txBody>
      </p:sp>
      <p:sp>
        <p:nvSpPr>
          <p:cNvPr id="13" name="p07-d0-d">
            <a:extLst xmlns:a="http://schemas.openxmlformats.org/drawingml/2006/main">
              <a:ext uri="{FF2B5EF4-FFF2-40B4-BE49-F238E27FC236}">
                <a16:creationId xmlns:a16="http://schemas.microsoft.com/office/drawing/2014/main" id="{105EE412-A06B-42A0-A020-DACE1D04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14650"/>
            <a:ext cx="40481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不回答它，哪条论证链断掉？谁受益？</a:t>
            </a:r>
          </a:p>
        </p:txBody>
      </p:sp>
      <p:sp>
        <p:nvSpPr>
          <p:cNvPr id="14" name="p07-d1-h">
            <a:extLst xmlns:a="http://schemas.openxmlformats.org/drawingml/2006/main">
              <a:ext uri="{FF2B5EF4-FFF2-40B4-BE49-F238E27FC236}">
                <a16:creationId xmlns:a16="http://schemas.microsoft.com/office/drawing/2014/main" id="{5180923C-F7A3-4401-96C2-85E104A8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914650"/>
            <a:ext cx="1428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新颖性</a:t>
            </a:r>
          </a:p>
        </p:txBody>
      </p:sp>
      <p:sp>
        <p:nvSpPr>
          <p:cNvPr id="15" name="p07-d1-d">
            <a:extLst xmlns:a="http://schemas.openxmlformats.org/drawingml/2006/main">
              <a:ext uri="{FF2B5EF4-FFF2-40B4-BE49-F238E27FC236}">
                <a16:creationId xmlns:a16="http://schemas.microsoft.com/office/drawing/2014/main" id="{2C159385-3774-491E-8D31-9C1D99F9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14650"/>
            <a:ext cx="40481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问题新 / 视角新 / 方法新——新在哪一类？</a:t>
            </a:r>
          </a:p>
        </p:txBody>
      </p:sp>
      <p:sp>
        <p:nvSpPr>
          <p:cNvPr id="16" name="p07-d2-h">
            <a:extLst xmlns:a="http://schemas.openxmlformats.org/drawingml/2006/main">
              <a:ext uri="{FF2B5EF4-FFF2-40B4-BE49-F238E27FC236}">
                <a16:creationId xmlns:a16="http://schemas.microsoft.com/office/drawing/2014/main" id="{E565063F-4C2F-4BEE-8B39-D8AB56855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52850"/>
            <a:ext cx="1428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可行性</a:t>
            </a:r>
          </a:p>
        </p:txBody>
      </p:sp>
      <p:sp>
        <p:nvSpPr>
          <p:cNvPr id="17" name="p07-d2-d">
            <a:extLst xmlns:a="http://schemas.openxmlformats.org/drawingml/2006/main">
              <a:ext uri="{FF2B5EF4-FFF2-40B4-BE49-F238E27FC236}">
                <a16:creationId xmlns:a16="http://schemas.microsoft.com/office/drawing/2014/main" id="{0F80D55B-93DC-4093-9D85-BD0076F5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752850"/>
            <a:ext cx="40481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课程周期内能否做出最小验证？</a:t>
            </a:r>
          </a:p>
        </p:txBody>
      </p:sp>
      <p:sp>
        <p:nvSpPr>
          <p:cNvPr id="18" name="p07-d3-h">
            <a:extLst xmlns:a="http://schemas.openxmlformats.org/drawingml/2006/main">
              <a:ext uri="{FF2B5EF4-FFF2-40B4-BE49-F238E27FC236}">
                <a16:creationId xmlns:a16="http://schemas.microsoft.com/office/drawing/2014/main" id="{00F4BF20-C70B-41FB-BAD6-C62E4610F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752850"/>
            <a:ext cx="1428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兴趣</a:t>
            </a:r>
          </a:p>
        </p:txBody>
      </p:sp>
      <p:sp>
        <p:nvSpPr>
          <p:cNvPr id="19" name="p07-d3-d">
            <a:extLst xmlns:a="http://schemas.openxmlformats.org/drawingml/2006/main">
              <a:ext uri="{FF2B5EF4-FFF2-40B4-BE49-F238E27FC236}">
                <a16:creationId xmlns:a16="http://schemas.microsoft.com/office/drawing/2014/main" id="{75E6B579-D713-41F2-9E14-D7176148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752850"/>
            <a:ext cx="4048125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课程之外还愿意投入吗？判据是什么？</a:t>
            </a:r>
          </a:p>
        </p:txBody>
      </p:sp>
      <p:sp>
        <p:nvSpPr>
          <p:cNvPr id="20" name="p07-novel0">
            <a:extLst xmlns:a="http://schemas.openxmlformats.org/drawingml/2006/main">
              <a:ext uri="{FF2B5EF4-FFF2-40B4-BE49-F238E27FC236}">
                <a16:creationId xmlns:a16="http://schemas.microsoft.com/office/drawing/2014/main" id="{460411E0-A7CF-48A1-AA13-E75402BFE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781550"/>
            <a:ext cx="21907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问题新</a:t>
            </a:r>
          </a:p>
        </p:txBody>
      </p:sp>
      <p:sp>
        <p:nvSpPr>
          <p:cNvPr id="21" name="p07-novel1">
            <a:extLst xmlns:a="http://schemas.openxmlformats.org/drawingml/2006/main">
              <a:ext uri="{FF2B5EF4-FFF2-40B4-BE49-F238E27FC236}">
                <a16:creationId xmlns:a16="http://schemas.microsoft.com/office/drawing/2014/main" id="{E1E4BC1C-8325-4C78-90F9-FAA0A4A7F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781550"/>
            <a:ext cx="21907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视角新</a:t>
            </a:r>
          </a:p>
        </p:txBody>
      </p:sp>
      <p:sp>
        <p:nvSpPr>
          <p:cNvPr id="22" name="p07-novel2">
            <a:extLst xmlns:a="http://schemas.openxmlformats.org/drawingml/2006/main">
              <a:ext uri="{FF2B5EF4-FFF2-40B4-BE49-F238E27FC236}">
                <a16:creationId xmlns:a16="http://schemas.microsoft.com/office/drawing/2014/main" id="{D70EEA8F-B747-4E33-A264-6EBEF94B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781550"/>
            <a:ext cx="21907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方法新</a:t>
            </a:r>
          </a:p>
        </p:txBody>
      </p:sp>
      <p:sp>
        <p:nvSpPr>
          <p:cNvPr id="23" name="p07-bottom">
            <a:extLst xmlns:a="http://schemas.openxmlformats.org/drawingml/2006/main">
              <a:ext uri="{FF2B5EF4-FFF2-40B4-BE49-F238E27FC236}">
                <a16:creationId xmlns:a16="http://schemas.microsoft.com/office/drawing/2014/main" id="{340FA7B0-E091-4CBC-95B2-084AFB85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530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“新”不等于“没人做过”；意义优先于新颖性。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用非例界定问题边界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7-scope">
            <a:extLst xmlns:a="http://schemas.openxmlformats.org/drawingml/2006/main">
              <a:ext uri="{FF2B5EF4-FFF2-40B4-BE49-F238E27FC236}">
                <a16:creationId xmlns:a16="http://schemas.microsoft.com/office/drawing/2014/main" id="{1C147EE8-41A7-4A44-A51A-D13D066D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6680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包含范围</a:t>
            </a:r>
          </a:p>
        </p:txBody>
      </p:sp>
      <p:sp>
        <p:nvSpPr>
          <p:cNvPr id="7" name="p07-in0">
            <a:extLst xmlns:a="http://schemas.openxmlformats.org/drawingml/2006/main">
              <a:ext uri="{FF2B5EF4-FFF2-40B4-BE49-F238E27FC236}">
                <a16:creationId xmlns:a16="http://schemas.microsoft.com/office/drawing/2014/main" id="{2595AB61-6664-49CF-939F-AB80F15D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3143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任务：逐条核验引用</a:t>
            </a:r>
          </a:p>
        </p:txBody>
      </p:sp>
      <p:sp>
        <p:nvSpPr>
          <p:cNvPr id="8" name="p07-in1">
            <a:extLst xmlns:a="http://schemas.openxmlformats.org/drawingml/2006/main">
              <a:ext uri="{FF2B5EF4-FFF2-40B4-BE49-F238E27FC236}">
                <a16:creationId xmlns:a16="http://schemas.microsoft.com/office/drawing/2014/main" id="{4871B96B-FEF3-4160-A7EB-A98C9B551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3143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材料：公开 CS 论文</a:t>
            </a:r>
          </a:p>
        </p:txBody>
      </p:sp>
      <p:sp>
        <p:nvSpPr>
          <p:cNvPr id="9" name="p07-in2">
            <a:extLst xmlns:a="http://schemas.openxmlformats.org/drawingml/2006/main">
              <a:ext uri="{FF2B5EF4-FFF2-40B4-BE49-F238E27FC236}">
                <a16:creationId xmlns:a16="http://schemas.microsoft.com/office/drawing/2014/main" id="{C9805058-0347-44BB-9D40-C25020FC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71850"/>
            <a:ext cx="3143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指标：限定条件遗漏率</a:t>
            </a:r>
          </a:p>
        </p:txBody>
      </p:sp>
      <p:sp>
        <p:nvSpPr>
          <p:cNvPr id="10" name="p07-non">
            <a:extLst xmlns:a="http://schemas.openxmlformats.org/drawingml/2006/main">
              <a:ext uri="{FF2B5EF4-FFF2-40B4-BE49-F238E27FC236}">
                <a16:creationId xmlns:a16="http://schemas.microsoft.com/office/drawing/2014/main" id="{A04F6D25-61D8-4624-A03E-9F43AAD5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06680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明确非例</a:t>
            </a:r>
          </a:p>
        </p:txBody>
      </p:sp>
      <p:sp>
        <p:nvSpPr>
          <p:cNvPr id="11" name="p07-out0">
            <a:extLst xmlns:a="http://schemas.openxmlformats.org/drawingml/2006/main">
              <a:ext uri="{FF2B5EF4-FFF2-40B4-BE49-F238E27FC236}">
                <a16:creationId xmlns:a16="http://schemas.microsoft.com/office/drawing/2014/main" id="{BB45F42F-2F05-47D6-8118-0503D894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3143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×  通用写作质量｜不同层面</a:t>
            </a:r>
          </a:p>
        </p:txBody>
      </p:sp>
      <p:sp>
        <p:nvSpPr>
          <p:cNvPr id="12" name="p07-out1">
            <a:extLst xmlns:a="http://schemas.openxmlformats.org/drawingml/2006/main">
              <a:ext uri="{FF2B5EF4-FFF2-40B4-BE49-F238E27FC236}">
                <a16:creationId xmlns:a16="http://schemas.microsoft.com/office/drawing/2014/main" id="{8F222E13-71B6-4C5F-9A6B-D1F907D0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90800"/>
            <a:ext cx="3143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×  语言美感｜不同指标</a:t>
            </a:r>
          </a:p>
        </p:txBody>
      </p:sp>
      <p:sp>
        <p:nvSpPr>
          <p:cNvPr id="13" name="p07-out2">
            <a:extLst xmlns:a="http://schemas.openxmlformats.org/drawingml/2006/main">
              <a:ext uri="{FF2B5EF4-FFF2-40B4-BE49-F238E27FC236}">
                <a16:creationId xmlns:a16="http://schemas.microsoft.com/office/drawing/2014/main" id="{43BC6EEA-6030-4489-AE9E-2F4339B7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71850"/>
            <a:ext cx="3143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×  需专业设备的学科｜超出周期</a:t>
            </a:r>
          </a:p>
        </p:txBody>
      </p:sp>
      <p:sp>
        <p:nvSpPr>
          <p:cNvPr id="14" name="p07-boundary">
            <a:extLst xmlns:a="http://schemas.openxmlformats.org/drawingml/2006/main">
              <a:ext uri="{FF2B5EF4-FFF2-40B4-BE49-F238E27FC236}">
                <a16:creationId xmlns:a16="http://schemas.microsoft.com/office/drawing/2014/main" id="{5E0D3FD3-74D3-41EB-94CD-AE12F0684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90750"/>
            <a:ext cx="3333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正边界  +  负边界</a:t>
            </a:r>
          </a:p>
        </p:txBody>
      </p:sp>
      <p:sp>
        <p:nvSpPr>
          <p:cNvPr id="15" name="p07-bottom">
            <a:extLst xmlns:a="http://schemas.openxmlformats.org/drawingml/2006/main">
              <a:ext uri="{FF2B5EF4-FFF2-40B4-BE49-F238E27FC236}">
                <a16:creationId xmlns:a16="http://schemas.microsoft.com/office/drawing/2014/main" id="{06481405-EA5E-4BAB-B4D4-47DC1A40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85775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非例必须说明“为什么不算”，才能阻止项目随检索膨胀。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非例的三种常见错误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8-0-h">
            <a:extLst xmlns:a="http://schemas.openxmlformats.org/drawingml/2006/main">
              <a:ext uri="{FF2B5EF4-FFF2-40B4-BE49-F238E27FC236}">
                <a16:creationId xmlns:a16="http://schemas.microsoft.com/office/drawing/2014/main" id="{06D939AB-44A5-45D2-9F08-A3E4FD61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33500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过宽</a:t>
            </a:r>
          </a:p>
        </p:txBody>
      </p:sp>
      <p:sp>
        <p:nvSpPr>
          <p:cNvPr id="7" name="p08-0-d">
            <a:extLst xmlns:a="http://schemas.openxmlformats.org/drawingml/2006/main">
              <a:ext uri="{FF2B5EF4-FFF2-40B4-BE49-F238E27FC236}">
                <a16:creationId xmlns:a16="http://schemas.microsoft.com/office/drawing/2014/main" id="{1649EAA5-868A-4BD3-995C-285A1D73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71650"/>
            <a:ext cx="333375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不做无关研究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后果：没有实质约束</a:t>
            </a:r>
          </a:p>
        </p:txBody>
      </p:sp>
      <p:sp>
        <p:nvSpPr>
          <p:cNvPr id="8" name="p08-1-h">
            <a:extLst xmlns:a="http://schemas.openxmlformats.org/drawingml/2006/main">
              <a:ext uri="{FF2B5EF4-FFF2-40B4-BE49-F238E27FC236}">
                <a16:creationId xmlns:a16="http://schemas.microsoft.com/office/drawing/2014/main" id="{7E68CF86-ECEC-4121-B8CD-6DFC5327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33500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过窄</a:t>
            </a:r>
          </a:p>
        </p:txBody>
      </p:sp>
      <p:sp>
        <p:nvSpPr>
          <p:cNvPr id="9" name="p08-1-d">
            <a:extLst xmlns:a="http://schemas.openxmlformats.org/drawingml/2006/main">
              <a:ext uri="{FF2B5EF4-FFF2-40B4-BE49-F238E27FC236}">
                <a16:creationId xmlns:a16="http://schemas.microsoft.com/office/drawing/2014/main" id="{86D76467-2CA4-4068-AA25-868BEE4F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71650"/>
            <a:ext cx="333375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不使用数据集 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后果：只排除实现细节</a:t>
            </a:r>
          </a:p>
        </p:txBody>
      </p:sp>
      <p:sp>
        <p:nvSpPr>
          <p:cNvPr id="10" name="p08-2-h">
            <a:extLst xmlns:a="http://schemas.openxmlformats.org/drawingml/2006/main">
              <a:ext uri="{FF2B5EF4-FFF2-40B4-BE49-F238E27FC236}">
                <a16:creationId xmlns:a16="http://schemas.microsoft.com/office/drawing/2014/main" id="{6C4D2CB3-2F68-4046-8BB9-AC2D7233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33500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与命题矛盾</a:t>
            </a:r>
          </a:p>
        </p:txBody>
      </p:sp>
      <p:sp>
        <p:nvSpPr>
          <p:cNvPr id="11" name="p08-2-d">
            <a:extLst xmlns:a="http://schemas.openxmlformats.org/drawingml/2006/main">
              <a:ext uri="{FF2B5EF4-FFF2-40B4-BE49-F238E27FC236}">
                <a16:creationId xmlns:a16="http://schemas.microsoft.com/office/drawing/2014/main" id="{5E90D83B-33AD-47AF-BC3C-DA4ABECF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771650"/>
            <a:ext cx="333375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排除必要检验条件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后果：命题无法被检验</a:t>
            </a:r>
          </a:p>
        </p:txBody>
      </p:sp>
      <p:sp>
        <p:nvSpPr>
          <p:cNvPr id="12" name="p08-test">
            <a:extLst xmlns:a="http://schemas.openxmlformats.org/drawingml/2006/main">
              <a:ext uri="{FF2B5EF4-FFF2-40B4-BE49-F238E27FC236}">
                <a16:creationId xmlns:a16="http://schemas.microsoft.com/office/drawing/2014/main" id="{D1977FA1-0C3C-4643-BCF4-5B591949A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81500"/>
            <a:ext cx="9334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快速测试：给同伴一个“看似相关”的方向，他能否仅凭范围与非例判断纳入/排除？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把宽泛主张改写为可证伪命题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09-bad">
            <a:extLst xmlns:a="http://schemas.openxmlformats.org/drawingml/2006/main">
              <a:ext uri="{FF2B5EF4-FFF2-40B4-BE49-F238E27FC236}">
                <a16:creationId xmlns:a16="http://schemas.microsoft.com/office/drawing/2014/main" id="{C58B7109-DC52-4BE5-90D6-770D33B9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85875"/>
            <a:ext cx="37147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不可证伪</a:t>
            </a:r>
          </a:p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“结构化阅读卡是有用的”</a:t>
            </a:r>
          </a:p>
        </p:txBody>
      </p:sp>
      <p:sp>
        <p:nvSpPr>
          <p:cNvPr id="7" name="p09-a">
            <a:extLst xmlns:a="http://schemas.openxmlformats.org/drawingml/2006/main">
              <a:ext uri="{FF2B5EF4-FFF2-40B4-BE49-F238E27FC236}">
                <a16:creationId xmlns:a16="http://schemas.microsoft.com/office/drawing/2014/main" id="{2C81901C-993D-46B5-B3AB-0EE2C1A58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62125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p09-good">
            <a:extLst xmlns:a="http://schemas.openxmlformats.org/drawingml/2006/main">
              <a:ext uri="{FF2B5EF4-FFF2-40B4-BE49-F238E27FC236}">
                <a16:creationId xmlns:a16="http://schemas.microsoft.com/office/drawing/2014/main" id="{BA6C6A23-2070-4A50-A6C2-6139709E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61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可证伪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在固定任务与评价标准下，阅读卡组相较自由摘要组的遗漏率更低；若未下降，主张不成立。</a:t>
            </a:r>
          </a:p>
        </p:txBody>
      </p:sp>
      <p:sp>
        <p:nvSpPr>
          <p:cNvPr id="9" name="p09-e0">
            <a:extLst xmlns:a="http://schemas.openxmlformats.org/drawingml/2006/main">
              <a:ext uri="{FF2B5EF4-FFF2-40B4-BE49-F238E27FC236}">
                <a16:creationId xmlns:a16="http://schemas.microsoft.com/office/drawing/2014/main" id="{70A201BF-29B1-4E2B-A5BB-EDCD7021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条件</a:t>
            </a:r>
          </a:p>
        </p:txBody>
      </p:sp>
      <p:sp>
        <p:nvSpPr>
          <p:cNvPr id="10" name="p09-e1">
            <a:extLst xmlns:a="http://schemas.openxmlformats.org/drawingml/2006/main">
              <a:ext uri="{FF2B5EF4-FFF2-40B4-BE49-F238E27FC236}">
                <a16:creationId xmlns:a16="http://schemas.microsoft.com/office/drawing/2014/main" id="{51E4DBFD-EF07-46BD-94CE-6BE507C3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2425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干预</a:t>
            </a:r>
          </a:p>
        </p:txBody>
      </p:sp>
      <p:sp>
        <p:nvSpPr>
          <p:cNvPr id="11" name="p09-e2">
            <a:extLst xmlns:a="http://schemas.openxmlformats.org/drawingml/2006/main">
              <a:ext uri="{FF2B5EF4-FFF2-40B4-BE49-F238E27FC236}">
                <a16:creationId xmlns:a16="http://schemas.microsoft.com/office/drawing/2014/main" id="{779740E5-4AFB-484A-8767-930C5E496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52425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12" name="p09-e3">
            <a:extLst xmlns:a="http://schemas.openxmlformats.org/drawingml/2006/main">
              <a:ext uri="{FF2B5EF4-FFF2-40B4-BE49-F238E27FC236}">
                <a16:creationId xmlns:a16="http://schemas.microsoft.com/office/drawing/2014/main" id="{4D277376-D155-4A86-8B1D-D0D22EDE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2425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对照</a:t>
            </a:r>
          </a:p>
        </p:txBody>
      </p:sp>
      <p:sp>
        <p:nvSpPr>
          <p:cNvPr id="13" name="p09-e4">
            <a:extLst xmlns:a="http://schemas.openxmlformats.org/drawingml/2006/main">
              <a:ext uri="{FF2B5EF4-FFF2-40B4-BE49-F238E27FC236}">
                <a16:creationId xmlns:a16="http://schemas.microsoft.com/office/drawing/2014/main" id="{F197520F-81E0-42C5-8B2C-CE71EDFFB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2425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推翻条件</a:t>
            </a:r>
          </a:p>
        </p:txBody>
      </p:sp>
      <p:sp>
        <p:nvSpPr>
          <p:cNvPr id="14" name="p09-bottom">
            <a:extLst xmlns:a="http://schemas.openxmlformats.org/drawingml/2006/main">
              <a:ext uri="{FF2B5EF4-FFF2-40B4-BE49-F238E27FC236}">
                <a16:creationId xmlns:a16="http://schemas.microsoft.com/office/drawing/2014/main" id="{AD422704-AD86-49C0-8194-B9C03076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6250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能指出什么观察会使主张不成立，才进入可检验状态。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竞争假设与区分实验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0-h1-h">
            <a:extLst xmlns:a="http://schemas.openxmlformats.org/drawingml/2006/main">
              <a:ext uri="{FF2B5EF4-FFF2-40B4-BE49-F238E27FC236}">
                <a16:creationId xmlns:a16="http://schemas.microsoft.com/office/drawing/2014/main" id="{32050575-977F-4FB3-81CF-4E67939E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43000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H1｜结构机制</a:t>
            </a:r>
          </a:p>
        </p:txBody>
      </p:sp>
      <p:sp>
        <p:nvSpPr>
          <p:cNvPr id="7" name="p10-h1-d">
            <a:extLst xmlns:a="http://schemas.openxmlformats.org/drawingml/2006/main">
              <a:ext uri="{FF2B5EF4-FFF2-40B4-BE49-F238E27FC236}">
                <a16:creationId xmlns:a16="http://schemas.microsoft.com/office/drawing/2014/main" id="{B3C5E558-F106-438C-ABCD-DE0899F8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81150"/>
            <a:ext cx="33337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阅读卡强制定位原文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减少模型新增内容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遗漏率下降</a:t>
            </a:r>
          </a:p>
        </p:txBody>
      </p:sp>
      <p:sp>
        <p:nvSpPr>
          <p:cNvPr id="8" name="p10-h2-h">
            <a:extLst xmlns:a="http://schemas.openxmlformats.org/drawingml/2006/main">
              <a:ext uri="{FF2B5EF4-FFF2-40B4-BE49-F238E27FC236}">
                <a16:creationId xmlns:a16="http://schemas.microsoft.com/office/drawing/2014/main" id="{475814D7-87EE-47B9-8172-7AF79B29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143000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H2｜时间解释</a:t>
            </a:r>
          </a:p>
        </p:txBody>
      </p:sp>
      <p:sp>
        <p:nvSpPr>
          <p:cNvPr id="9" name="p10-h2-d">
            <a:extLst xmlns:a="http://schemas.openxmlformats.org/drawingml/2006/main">
              <a:ext uri="{FF2B5EF4-FFF2-40B4-BE49-F238E27FC236}">
                <a16:creationId xmlns:a16="http://schemas.microsoft.com/office/drawing/2014/main" id="{2160A6CA-0482-436A-A65C-CABFB87B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81150"/>
            <a:ext cx="33337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阅读卡只是增加用时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更多检查时间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遗漏率下降</a:t>
            </a:r>
          </a:p>
        </p:txBody>
      </p:sp>
      <p:sp>
        <p:nvSpPr>
          <p:cNvPr id="10" name="p10-test-h">
            <a:extLst xmlns:a="http://schemas.openxmlformats.org/drawingml/2006/main">
              <a:ext uri="{FF2B5EF4-FFF2-40B4-BE49-F238E27FC236}">
                <a16:creationId xmlns:a16="http://schemas.microsoft.com/office/drawing/2014/main" id="{CE81516B-DFEA-4B40-9AFD-847125F1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143000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区分实验</a:t>
            </a:r>
          </a:p>
        </p:txBody>
      </p:sp>
      <p:sp>
        <p:nvSpPr>
          <p:cNvPr id="11" name="p10-test-d">
            <a:extLst xmlns:a="http://schemas.openxmlformats.org/drawingml/2006/main">
              <a:ext uri="{FF2B5EF4-FFF2-40B4-BE49-F238E27FC236}">
                <a16:creationId xmlns:a16="http://schemas.microsoft.com/office/drawing/2014/main" id="{80913E2B-0BBA-40A9-A9A9-99E8899A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81150"/>
            <a:ext cx="33337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自由摘要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自由摘要 + 等量时间</a:t>
            </a:r>
          </a:p>
        </p:txBody>
      </p:sp>
      <p:sp>
        <p:nvSpPr>
          <p:cNvPr id="12" name="p10-a1">
            <a:extLst xmlns:a="http://schemas.openxmlformats.org/drawingml/2006/main">
              <a:ext uri="{FF2B5EF4-FFF2-40B4-BE49-F238E27FC236}">
                <a16:creationId xmlns:a16="http://schemas.microsoft.com/office/drawing/2014/main" id="{E9B8504B-5A90-431D-B16A-D6B9BBBE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381375"/>
            <a:ext cx="1143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进入比较</a:t>
            </a:r>
          </a:p>
        </p:txBody>
      </p:sp>
      <p:sp>
        <p:nvSpPr>
          <p:cNvPr id="13" name="p10-a2">
            <a:extLst xmlns:a="http://schemas.openxmlformats.org/drawingml/2006/main">
              <a:ext uri="{FF2B5EF4-FFF2-40B4-BE49-F238E27FC236}">
                <a16:creationId xmlns:a16="http://schemas.microsoft.com/office/drawing/2014/main" id="{99811D5F-0334-4C08-BE43-492E02325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381375"/>
            <a:ext cx="1143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进入比较</a:t>
            </a:r>
          </a:p>
        </p:txBody>
      </p:sp>
      <p:sp>
        <p:nvSpPr>
          <p:cNvPr id="14" name="p10-result">
            <a:extLst xmlns:a="http://schemas.openxmlformats.org/drawingml/2006/main">
              <a:ext uri="{FF2B5EF4-FFF2-40B4-BE49-F238E27FC236}">
                <a16:creationId xmlns:a16="http://schemas.microsoft.com/office/drawing/2014/main" id="{7698766E-671A-4C42-BB27-3B23E782D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95750"/>
            <a:ext cx="7810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若只有阅读卡组下降，才更有力地排除“仅仅多花时间”的解释。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第一性原理不是脱离证据的捷径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1-0-h">
            <a:extLst xmlns:a="http://schemas.openxmlformats.org/drawingml/2006/main">
              <a:ext uri="{FF2B5EF4-FFF2-40B4-BE49-F238E27FC236}">
                <a16:creationId xmlns:a16="http://schemas.microsoft.com/office/drawing/2014/main" id="{9D499AB1-86B1-4EC0-A71D-86804B82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95375"/>
            <a:ext cx="5143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不替代检索</a:t>
            </a:r>
          </a:p>
        </p:txBody>
      </p:sp>
      <p:sp>
        <p:nvSpPr>
          <p:cNvPr id="7" name="p11-0-d">
            <a:extLst xmlns:a="http://schemas.openxmlformats.org/drawingml/2006/main">
              <a:ext uri="{FF2B5EF4-FFF2-40B4-BE49-F238E27FC236}">
                <a16:creationId xmlns:a16="http://schemas.microsoft.com/office/drawing/2014/main" id="{A8B703FC-A6A2-4176-B339-C79CA833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33525"/>
            <a:ext cx="5143500" cy="847725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待验证前提仍要回到文献与证据地图</a:t>
            </a:r>
          </a:p>
        </p:txBody>
      </p:sp>
      <p:sp>
        <p:nvSpPr>
          <p:cNvPr id="8" name="p11-1-h">
            <a:extLst xmlns:a="http://schemas.openxmlformats.org/drawingml/2006/main">
              <a:ext uri="{FF2B5EF4-FFF2-40B4-BE49-F238E27FC236}">
                <a16:creationId xmlns:a16="http://schemas.microsoft.com/office/drawing/2014/main" id="{DC3E8DE3-3268-427C-95C7-9ED55C30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095375"/>
            <a:ext cx="5143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不脱离既有工作</a:t>
            </a:r>
          </a:p>
        </p:txBody>
      </p:sp>
      <p:sp>
        <p:nvSpPr>
          <p:cNvPr id="9" name="p11-1-d">
            <a:extLst xmlns:a="http://schemas.openxmlformats.org/drawingml/2006/main">
              <a:ext uri="{FF2B5EF4-FFF2-40B4-BE49-F238E27FC236}">
                <a16:creationId xmlns:a16="http://schemas.microsoft.com/office/drawing/2014/main" id="{11E3F39A-5056-4127-81F0-5E53051A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33525"/>
            <a:ext cx="5143500" cy="847725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从已核验材料与空白出发</a:t>
            </a:r>
          </a:p>
        </p:txBody>
      </p:sp>
      <p:sp>
        <p:nvSpPr>
          <p:cNvPr id="10" name="p11-2-h">
            <a:extLst xmlns:a="http://schemas.openxmlformats.org/drawingml/2006/main">
              <a:ext uri="{FF2B5EF4-FFF2-40B4-BE49-F238E27FC236}">
                <a16:creationId xmlns:a16="http://schemas.microsoft.com/office/drawing/2014/main" id="{FEE55136-C089-4C03-A295-5059AE03E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5143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不自动成立</a:t>
            </a:r>
          </a:p>
        </p:txBody>
      </p:sp>
      <p:sp>
        <p:nvSpPr>
          <p:cNvPr id="11" name="p11-2-d">
            <a:extLst xmlns:a="http://schemas.openxmlformats.org/drawingml/2006/main">
              <a:ext uri="{FF2B5EF4-FFF2-40B4-BE49-F238E27FC236}">
                <a16:creationId xmlns:a16="http://schemas.microsoft.com/office/drawing/2014/main" id="{3895EEBC-7DC2-4076-B05B-FFFD9F5D4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5143500" cy="847725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推导不是证明，必须接受外部检验</a:t>
            </a:r>
          </a:p>
        </p:txBody>
      </p:sp>
      <p:sp>
        <p:nvSpPr>
          <p:cNvPr id="12" name="p11-3-h">
            <a:extLst xmlns:a="http://schemas.openxmlformats.org/drawingml/2006/main">
              <a:ext uri="{FF2B5EF4-FFF2-40B4-BE49-F238E27FC236}">
                <a16:creationId xmlns:a16="http://schemas.microsoft.com/office/drawing/2014/main" id="{C7BD4BEC-804E-482C-A4F3-B116B286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62250"/>
            <a:ext cx="5143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不追求穷举</a:t>
            </a:r>
          </a:p>
        </p:txBody>
      </p:sp>
      <p:sp>
        <p:nvSpPr>
          <p:cNvPr id="13" name="p11-3-d">
            <a:extLst xmlns:a="http://schemas.openxmlformats.org/drawingml/2006/main">
              <a:ext uri="{FF2B5EF4-FFF2-40B4-BE49-F238E27FC236}">
                <a16:creationId xmlns:a16="http://schemas.microsoft.com/office/drawing/2014/main" id="{9FBA66AA-EEAC-476E-9968-74CB948A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00400"/>
            <a:ext cx="5143500" cy="847725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只推导当前关键机制与约束</a:t>
            </a:r>
          </a:p>
        </p:txBody>
      </p:sp>
      <p:sp>
        <p:nvSpPr>
          <p:cNvPr id="14" name="p11-loop">
            <a:extLst xmlns:a="http://schemas.openxmlformats.org/drawingml/2006/main">
              <a:ext uri="{FF2B5EF4-FFF2-40B4-BE49-F238E27FC236}">
                <a16:creationId xmlns:a16="http://schemas.microsoft.com/office/drawing/2014/main" id="{5B72626D-B5D3-4302-AE6C-E393DD74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810125"/>
            <a:ext cx="942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证据地图  →  基本约束 / 机制  →  待验证前提  →  外部证据检验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第一性原理四步推导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2-n0">
            <a:extLst xmlns:a="http://schemas.openxmlformats.org/drawingml/2006/main">
              <a:ext uri="{FF2B5EF4-FFF2-40B4-BE49-F238E27FC236}">
                <a16:creationId xmlns:a16="http://schemas.microsoft.com/office/drawing/2014/main" id="{34D57A6E-EFA3-40D1-9AA5-B3E95250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2-h0">
            <a:extLst xmlns:a="http://schemas.openxmlformats.org/drawingml/2006/main">
              <a:ext uri="{FF2B5EF4-FFF2-40B4-BE49-F238E27FC236}">
                <a16:creationId xmlns:a16="http://schemas.microsoft.com/office/drawing/2014/main" id="{517A6B31-66F5-4280-8B89-2A9A8A6E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028700"/>
            <a:ext cx="2381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基本约束</a:t>
            </a:r>
          </a:p>
        </p:txBody>
      </p:sp>
      <p:sp>
        <p:nvSpPr>
          <p:cNvPr id="8" name="p12-d0">
            <a:extLst xmlns:a="http://schemas.openxmlformats.org/drawingml/2006/main">
              <a:ext uri="{FF2B5EF4-FFF2-40B4-BE49-F238E27FC236}">
                <a16:creationId xmlns:a16="http://schemas.microsoft.com/office/drawing/2014/main" id="{043635B2-94BC-4678-AE22-F51CD1BF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028700"/>
            <a:ext cx="7048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主张成立必须满足什么？</a:t>
            </a:r>
          </a:p>
        </p:txBody>
      </p:sp>
      <p:sp>
        <p:nvSpPr>
          <p:cNvPr id="9" name="p12-n1">
            <a:extLst xmlns:a="http://schemas.openxmlformats.org/drawingml/2006/main">
              <a:ext uri="{FF2B5EF4-FFF2-40B4-BE49-F238E27FC236}">
                <a16:creationId xmlns:a16="http://schemas.microsoft.com/office/drawing/2014/main" id="{3CD40E68-30B4-4A48-B52C-CC69FEDE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2-h1">
            <a:extLst xmlns:a="http://schemas.openxmlformats.org/drawingml/2006/main">
              <a:ext uri="{FF2B5EF4-FFF2-40B4-BE49-F238E27FC236}">
                <a16:creationId xmlns:a16="http://schemas.microsoft.com/office/drawing/2014/main" id="{2E30DE30-EE38-48FE-85A3-3C3C41ED9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057400"/>
            <a:ext cx="2381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作用机制</a:t>
            </a:r>
          </a:p>
        </p:txBody>
      </p:sp>
      <p:sp>
        <p:nvSpPr>
          <p:cNvPr id="11" name="p12-d1">
            <a:extLst xmlns:a="http://schemas.openxmlformats.org/drawingml/2006/main">
              <a:ext uri="{FF2B5EF4-FFF2-40B4-BE49-F238E27FC236}">
                <a16:creationId xmlns:a16="http://schemas.microsoft.com/office/drawing/2014/main" id="{5EE3D66D-67A9-4A5A-A5A3-62824029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57400"/>
            <a:ext cx="7048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干预通过什么中间过程起作用？</a:t>
            </a:r>
          </a:p>
        </p:txBody>
      </p:sp>
      <p:sp>
        <p:nvSpPr>
          <p:cNvPr id="12" name="p12-n2">
            <a:extLst xmlns:a="http://schemas.openxmlformats.org/drawingml/2006/main">
              <a:ext uri="{FF2B5EF4-FFF2-40B4-BE49-F238E27FC236}">
                <a16:creationId xmlns:a16="http://schemas.microsoft.com/office/drawing/2014/main" id="{0DEB341B-1E04-401B-B084-44F07232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p12-h2">
            <a:extLst xmlns:a="http://schemas.openxmlformats.org/drawingml/2006/main">
              <a:ext uri="{FF2B5EF4-FFF2-40B4-BE49-F238E27FC236}">
                <a16:creationId xmlns:a16="http://schemas.microsoft.com/office/drawing/2014/main" id="{97C0EEC4-B376-4186-B8D0-E4EC4CAB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86100"/>
            <a:ext cx="2381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不可违背条件</a:t>
            </a:r>
          </a:p>
        </p:txBody>
      </p:sp>
      <p:sp>
        <p:nvSpPr>
          <p:cNvPr id="14" name="p12-d2">
            <a:extLst xmlns:a="http://schemas.openxmlformats.org/drawingml/2006/main">
              <a:ext uri="{FF2B5EF4-FFF2-40B4-BE49-F238E27FC236}">
                <a16:creationId xmlns:a16="http://schemas.microsoft.com/office/drawing/2014/main" id="{B4321484-F927-4981-BB9E-D90993DB6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86100"/>
            <a:ext cx="7048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怎样比较才公平、可复现？</a:t>
            </a:r>
          </a:p>
        </p:txBody>
      </p:sp>
      <p:sp>
        <p:nvSpPr>
          <p:cNvPr id="15" name="p12-n3">
            <a:extLst xmlns:a="http://schemas.openxmlformats.org/drawingml/2006/main">
              <a:ext uri="{FF2B5EF4-FFF2-40B4-BE49-F238E27FC236}">
                <a16:creationId xmlns:a16="http://schemas.microsoft.com/office/drawing/2014/main" id="{502AF7E2-CDA7-4B50-8F30-085908F5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6" name="p12-h3">
            <a:extLst xmlns:a="http://schemas.openxmlformats.org/drawingml/2006/main">
              <a:ext uri="{FF2B5EF4-FFF2-40B4-BE49-F238E27FC236}">
                <a16:creationId xmlns:a16="http://schemas.microsoft.com/office/drawing/2014/main" id="{AE867A44-B9A3-49B1-AD2F-C69446031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14800"/>
            <a:ext cx="2381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待验证前提</a:t>
            </a:r>
          </a:p>
        </p:txBody>
      </p:sp>
      <p:sp>
        <p:nvSpPr>
          <p:cNvPr id="17" name="p12-d3">
            <a:extLst xmlns:a="http://schemas.openxmlformats.org/drawingml/2006/main">
              <a:ext uri="{FF2B5EF4-FFF2-40B4-BE49-F238E27FC236}">
                <a16:creationId xmlns:a16="http://schemas.microsoft.com/office/drawing/2014/main" id="{A923418D-F4F2-43CE-AA8F-C5BF0E6E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14800"/>
            <a:ext cx="7048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从前三步推出什么可检验陈述？</a:t>
            </a:r>
          </a:p>
        </p:txBody>
      </p:sp>
      <p:sp>
        <p:nvSpPr>
          <p:cNvPr id="18" name="p12-bottom">
            <a:extLst xmlns:a="http://schemas.openxmlformats.org/drawingml/2006/main">
              <a:ext uri="{FF2B5EF4-FFF2-40B4-BE49-F238E27FC236}">
                <a16:creationId xmlns:a16="http://schemas.microsoft.com/office/drawing/2014/main" id="{A3DABF17-CC8C-4D94-B066-3FAB70906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197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每一步都标注依据：任务约束、已核验证据或待检验假设。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MI 示范：从证据缺口到 baseline 接口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real">
            <a:extLst xmlns:a="http://schemas.openxmlformats.org/drawingml/2006/main">
              <a:ext uri="{FF2B5EF4-FFF2-40B4-BE49-F238E27FC236}">
                <a16:creationId xmlns:a16="http://schemas.microsoft.com/office/drawing/2014/main" id="{AB12B853-FAA7-4EA0-AF81-7ABF1961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838200"/>
            <a:ext cx="6191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真实论文证据驱动｜实验尚未执行</a:t>
            </a:r>
          </a:p>
        </p:txBody>
      </p:sp>
      <p:pic>
        <p:nvPicPr>
          <p:cNvPr id="12" name="p14-mi-interfac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7c1e9425514092"/>
          <a:stretch xmlns:a="http://schemas.openxmlformats.org/drawingml/2006/main"/>
        </p:blipFill>
        <p:spPr>
          <a:xfrm xmlns:a="http://schemas.openxmlformats.org/drawingml/2006/main">
            <a:off x="1767840" y="1200150"/>
            <a:ext cx="8656320" cy="4057650"/>
          </a:xfrm>
          <a:prstGeom xmlns:a="http://schemas.openxmlformats.org/drawingml/2006/main" prst="rect">
            <a:avLst/>
          </a:prstGeom>
        </p:spPr>
      </p:pic>
      <p:sp>
        <p:nvSpPr>
          <p:cNvPr id="8" name="p14-bottom">
            <a:extLst xmlns:a="http://schemas.openxmlformats.org/drawingml/2006/main">
              <a:ext uri="{FF2B5EF4-FFF2-40B4-BE49-F238E27FC236}">
                <a16:creationId xmlns:a16="http://schemas.microsoft.com/office/drawing/2014/main" id="{91C4B158-B23D-4605-B038-FD44A7DF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959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L6 锁定问题与判据；L7 定机制假设，L8 做预演，L9 才固化实验规格。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问题门九项条件自查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4-n0">
            <a:extLst xmlns:a="http://schemas.openxmlformats.org/drawingml/2006/main">
              <a:ext uri="{FF2B5EF4-FFF2-40B4-BE49-F238E27FC236}">
                <a16:creationId xmlns:a16="http://schemas.microsoft.com/office/drawing/2014/main" id="{34F0F926-ECD4-4CAD-AE51-C253EBAB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000125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4-g0">
            <a:extLst xmlns:a="http://schemas.openxmlformats.org/drawingml/2006/main">
              <a:ext uri="{FF2B5EF4-FFF2-40B4-BE49-F238E27FC236}">
                <a16:creationId xmlns:a16="http://schemas.microsoft.com/office/drawing/2014/main" id="{800AD36F-6C3A-40E5-87D5-44CD9DB0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3450"/>
            <a:ext cx="3333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≥10 篇候选文献 + 证据角色</a:t>
            </a:r>
          </a:p>
        </p:txBody>
      </p:sp>
      <p:sp>
        <p:nvSpPr>
          <p:cNvPr id="8" name="p14-n1">
            <a:extLst xmlns:a="http://schemas.openxmlformats.org/drawingml/2006/main">
              <a:ext uri="{FF2B5EF4-FFF2-40B4-BE49-F238E27FC236}">
                <a16:creationId xmlns:a16="http://schemas.microsoft.com/office/drawing/2014/main" id="{EC9FCBA7-38C1-4E47-A5CD-9CDF7AE9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000125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p14-g1">
            <a:extLst xmlns:a="http://schemas.openxmlformats.org/drawingml/2006/main">
              <a:ext uri="{FF2B5EF4-FFF2-40B4-BE49-F238E27FC236}">
                <a16:creationId xmlns:a16="http://schemas.microsoft.com/office/drawing/2014/main" id="{68D1D381-8BD8-48CD-9EAA-69C180CF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933450"/>
            <a:ext cx="3333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≥3 张核心材料完整精读卡</a:t>
            </a:r>
          </a:p>
        </p:txBody>
      </p:sp>
      <p:sp>
        <p:nvSpPr>
          <p:cNvPr id="10" name="p14-n2">
            <a:extLst xmlns:a="http://schemas.openxmlformats.org/drawingml/2006/main">
              <a:ext uri="{FF2B5EF4-FFF2-40B4-BE49-F238E27FC236}">
                <a16:creationId xmlns:a16="http://schemas.microsoft.com/office/drawing/2014/main" id="{6BC959A8-BF2A-4C6B-8274-81227D43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000125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p14-g2">
            <a:extLst xmlns:a="http://schemas.openxmlformats.org/drawingml/2006/main">
              <a:ext uri="{FF2B5EF4-FFF2-40B4-BE49-F238E27FC236}">
                <a16:creationId xmlns:a16="http://schemas.microsoft.com/office/drawing/2014/main" id="{22DEDCB3-B6BB-4ACB-8987-35AF7EEA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933450"/>
            <a:ext cx="3333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初始地图 + ≥2 原文位置 + 错误/过度概括/遗漏或已检查风险 + 人工判断</a:t>
            </a:r>
          </a:p>
        </p:txBody>
      </p:sp>
      <p:sp>
        <p:nvSpPr>
          <p:cNvPr id="12" name="p14-n3">
            <a:extLst xmlns:a="http://schemas.openxmlformats.org/drawingml/2006/main">
              <a:ext uri="{FF2B5EF4-FFF2-40B4-BE49-F238E27FC236}">
                <a16:creationId xmlns:a16="http://schemas.microsoft.com/office/drawing/2014/main" id="{C9134A7C-E812-4DD1-8B10-CDAF78DF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3622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3" name="p14-g3">
            <a:extLst xmlns:a="http://schemas.openxmlformats.org/drawingml/2006/main">
              <a:ext uri="{FF2B5EF4-FFF2-40B4-BE49-F238E27FC236}">
                <a16:creationId xmlns:a16="http://schemas.microsoft.com/office/drawing/2014/main" id="{B58F9F05-6AAB-462E-B123-ACB79BCD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95525"/>
            <a:ext cx="3333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证据地图：直接 / 补充 / 冲突 / 空白</a:t>
            </a:r>
          </a:p>
        </p:txBody>
      </p:sp>
      <p:sp>
        <p:nvSpPr>
          <p:cNvPr id="14" name="p14-n4">
            <a:extLst xmlns:a="http://schemas.openxmlformats.org/drawingml/2006/main">
              <a:ext uri="{FF2B5EF4-FFF2-40B4-BE49-F238E27FC236}">
                <a16:creationId xmlns:a16="http://schemas.microsoft.com/office/drawing/2014/main" id="{F6A34CD4-A293-488F-8041-DA288AD3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622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5" name="p14-g4">
            <a:extLst xmlns:a="http://schemas.openxmlformats.org/drawingml/2006/main">
              <a:ext uri="{FF2B5EF4-FFF2-40B4-BE49-F238E27FC236}">
                <a16:creationId xmlns:a16="http://schemas.microsoft.com/office/drawing/2014/main" id="{D9E5F0E4-A474-4D5C-A878-599D67C7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295525"/>
            <a:ext cx="3333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问题含范围、非例、≥1 可证伪命题</a:t>
            </a:r>
          </a:p>
        </p:txBody>
      </p:sp>
      <p:sp>
        <p:nvSpPr>
          <p:cNvPr id="16" name="p14-n5">
            <a:extLst xmlns:a="http://schemas.openxmlformats.org/drawingml/2006/main">
              <a:ext uri="{FF2B5EF4-FFF2-40B4-BE49-F238E27FC236}">
                <a16:creationId xmlns:a16="http://schemas.microsoft.com/office/drawing/2014/main" id="{9F6BDEAD-121F-4E2C-A9F0-3127BE8B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622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7" name="p14-g5">
            <a:extLst xmlns:a="http://schemas.openxmlformats.org/drawingml/2006/main">
              <a:ext uri="{FF2B5EF4-FFF2-40B4-BE49-F238E27FC236}">
                <a16:creationId xmlns:a16="http://schemas.microsoft.com/office/drawing/2014/main" id="{A5D3CF00-D860-4738-AA96-CD8C7F7C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295525"/>
            <a:ext cx="3333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第一性原理：必要条件 / 关键约束 / 可检验前提</a:t>
            </a:r>
          </a:p>
        </p:txBody>
      </p:sp>
      <p:sp>
        <p:nvSpPr>
          <p:cNvPr id="18" name="p14-n6">
            <a:extLst xmlns:a="http://schemas.openxmlformats.org/drawingml/2006/main">
              <a:ext uri="{FF2B5EF4-FFF2-40B4-BE49-F238E27FC236}">
                <a16:creationId xmlns:a16="http://schemas.microsoft.com/office/drawing/2014/main" id="{41846B60-665C-44D3-BD7E-415ED7D7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724275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19" name="p14-g6">
            <a:extLst xmlns:a="http://schemas.openxmlformats.org/drawingml/2006/main">
              <a:ext uri="{FF2B5EF4-FFF2-40B4-BE49-F238E27FC236}">
                <a16:creationId xmlns:a16="http://schemas.microsoft.com/office/drawing/2014/main" id="{E25F78F4-B410-46F6-8421-8F44876E6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3333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重要性 + 课程周期可行性</a:t>
            </a:r>
          </a:p>
        </p:txBody>
      </p:sp>
      <p:sp>
        <p:nvSpPr>
          <p:cNvPr id="20" name="p14-n7">
            <a:extLst xmlns:a="http://schemas.openxmlformats.org/drawingml/2006/main">
              <a:ext uri="{FF2B5EF4-FFF2-40B4-BE49-F238E27FC236}">
                <a16:creationId xmlns:a16="http://schemas.microsoft.com/office/drawing/2014/main" id="{3A2E1A3F-1341-4956-BECF-2E743267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724275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21" name="p14-g7">
            <a:extLst xmlns:a="http://schemas.openxmlformats.org/drawingml/2006/main">
              <a:ext uri="{FF2B5EF4-FFF2-40B4-BE49-F238E27FC236}">
                <a16:creationId xmlns:a16="http://schemas.microsoft.com/office/drawing/2014/main" id="{2DDAC4F5-4509-4E89-B0B8-B4975D32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657600"/>
            <a:ext cx="3333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≥1 条真实失败 / 死路：原因、处理、回写位置</a:t>
            </a:r>
          </a:p>
        </p:txBody>
      </p:sp>
      <p:sp>
        <p:nvSpPr>
          <p:cNvPr id="22" name="p14-n8">
            <a:extLst xmlns:a="http://schemas.openxmlformats.org/drawingml/2006/main">
              <a:ext uri="{FF2B5EF4-FFF2-40B4-BE49-F238E27FC236}">
                <a16:creationId xmlns:a16="http://schemas.microsoft.com/office/drawing/2014/main" id="{80D3B784-B7BA-438A-B7BE-44E8AAD41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24275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23" name="p14-g8">
            <a:extLst xmlns:a="http://schemas.openxmlformats.org/drawingml/2006/main">
              <a:ext uri="{FF2B5EF4-FFF2-40B4-BE49-F238E27FC236}">
                <a16:creationId xmlns:a16="http://schemas.microsoft.com/office/drawing/2014/main" id="{B5CC7623-D980-4D69-B2E1-931BC046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657600"/>
            <a:ext cx="3333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检索 / 阅读 / 改写：来源与人工核验方式</a:t>
            </a:r>
          </a:p>
        </p:txBody>
      </p:sp>
      <p:sp>
        <p:nvSpPr>
          <p:cNvPr id="24" name="p14-bottom">
            <a:extLst xmlns:a="http://schemas.openxmlformats.org/drawingml/2006/main">
              <a:ext uri="{FF2B5EF4-FFF2-40B4-BE49-F238E27FC236}">
                <a16:creationId xmlns:a16="http://schemas.microsoft.com/office/drawing/2014/main" id="{8D127D14-6999-4238-BC2D-54EC6920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257800"/>
            <a:ext cx="942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本课重点补第 5-8 项；第 8 项必须是真实发生的失败或放弃方向。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门条件自查：累计工件与当前缺口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5-virtual">
            <a:extLst xmlns:a="http://schemas.openxmlformats.org/drawingml/2006/main">
              <a:ext uri="{FF2B5EF4-FFF2-40B4-BE49-F238E27FC236}">
                <a16:creationId xmlns:a16="http://schemas.microsoft.com/office/drawing/2014/main" id="{A00DB5F5-57BA-4749-BB48-310FFF5EA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虚构教学样例｜门条件状态仅演示核对方法</a:t>
            </a:r>
          </a:p>
        </p:txBody>
      </p:sp>
      <p:sp>
        <p:nvSpPr>
          <p:cNvPr id="7" name="p15-h0">
            <a:extLst xmlns:a="http://schemas.openxmlformats.org/drawingml/2006/main">
              <a:ext uri="{FF2B5EF4-FFF2-40B4-BE49-F238E27FC236}">
                <a16:creationId xmlns:a16="http://schemas.microsoft.com/office/drawing/2014/main" id="{05CE116E-36CA-48A6-9A77-87BDF240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条件</a:t>
            </a:r>
          </a:p>
        </p:txBody>
      </p:sp>
      <p:sp>
        <p:nvSpPr>
          <p:cNvPr id="8" name="p15-h1">
            <a:extLst xmlns:a="http://schemas.openxmlformats.org/drawingml/2006/main">
              <a:ext uri="{FF2B5EF4-FFF2-40B4-BE49-F238E27FC236}">
                <a16:creationId xmlns:a16="http://schemas.microsoft.com/office/drawing/2014/main" id="{B985DC6A-C251-467D-8C63-071AF10E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428750"/>
            <a:ext cx="361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累计来源</a:t>
            </a:r>
          </a:p>
        </p:txBody>
      </p:sp>
      <p:sp>
        <p:nvSpPr>
          <p:cNvPr id="9" name="p15-h2">
            <a:extLst xmlns:a="http://schemas.openxmlformats.org/drawingml/2006/main">
              <a:ext uri="{FF2B5EF4-FFF2-40B4-BE49-F238E27FC236}">
                <a16:creationId xmlns:a16="http://schemas.microsoft.com/office/drawing/2014/main" id="{8A2BB0F8-51D4-4D33-B0DE-CC37AD15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28750"/>
            <a:ext cx="495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当下要核对</a:t>
            </a:r>
          </a:p>
        </p:txBody>
      </p:sp>
      <p:sp>
        <p:nvSpPr>
          <p:cNvPr id="10" name="p15-r0-0">
            <a:extLst xmlns:a="http://schemas.openxmlformats.org/drawingml/2006/main">
              <a:ext uri="{FF2B5EF4-FFF2-40B4-BE49-F238E27FC236}">
                <a16:creationId xmlns:a16="http://schemas.microsoft.com/office/drawing/2014/main" id="{A4F23964-334F-4EA5-8641-459BD1240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≥10 候选</a:t>
            </a:r>
          </a:p>
        </p:txBody>
      </p:sp>
      <p:sp>
        <p:nvSpPr>
          <p:cNvPr id="11" name="p15-r0-1">
            <a:extLst xmlns:a="http://schemas.openxmlformats.org/drawingml/2006/main">
              <a:ext uri="{FF2B5EF4-FFF2-40B4-BE49-F238E27FC236}">
                <a16:creationId xmlns:a16="http://schemas.microsoft.com/office/drawing/2014/main" id="{7329F5BA-EBA9-4B5B-A543-3A858808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28800"/>
            <a:ext cx="3619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3-5 课累计</a:t>
            </a:r>
          </a:p>
        </p:txBody>
      </p:sp>
      <p:sp>
        <p:nvSpPr>
          <p:cNvPr id="12" name="p15-r0-2">
            <a:extLst xmlns:a="http://schemas.openxmlformats.org/drawingml/2006/main">
              <a:ext uri="{FF2B5EF4-FFF2-40B4-BE49-F238E27FC236}">
                <a16:creationId xmlns:a16="http://schemas.microsoft.com/office/drawing/2014/main" id="{C6BFBEEF-AE72-422E-94A0-094BE265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28800"/>
            <a:ext cx="495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数量 / 角色 / 状态</a:t>
            </a:r>
          </a:p>
        </p:txBody>
      </p:sp>
      <p:sp>
        <p:nvSpPr>
          <p:cNvPr id="13" name="p15-r1-0">
            <a:extLst xmlns:a="http://schemas.openxmlformats.org/drawingml/2006/main">
              <a:ext uri="{FF2B5EF4-FFF2-40B4-BE49-F238E27FC236}">
                <a16:creationId xmlns:a16="http://schemas.microsoft.com/office/drawing/2014/main" id="{6A1FA972-6E6F-4D91-A617-48178757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≥3 精读卡</a:t>
            </a:r>
          </a:p>
        </p:txBody>
      </p:sp>
      <p:sp>
        <p:nvSpPr>
          <p:cNvPr id="14" name="p15-r1-1">
            <a:extLst xmlns:a="http://schemas.openxmlformats.org/drawingml/2006/main">
              <a:ext uri="{FF2B5EF4-FFF2-40B4-BE49-F238E27FC236}">
                <a16:creationId xmlns:a16="http://schemas.microsoft.com/office/drawing/2014/main" id="{0EB18799-95F6-4C1D-9673-5007589A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19350"/>
            <a:ext cx="3619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4-5 课累计</a:t>
            </a:r>
          </a:p>
        </p:txBody>
      </p:sp>
      <p:sp>
        <p:nvSpPr>
          <p:cNvPr id="15" name="p15-r1-2">
            <a:extLst xmlns:a="http://schemas.openxmlformats.org/drawingml/2006/main">
              <a:ext uri="{FF2B5EF4-FFF2-40B4-BE49-F238E27FC236}">
                <a16:creationId xmlns:a16="http://schemas.microsoft.com/office/drawing/2014/main" id="{F0810198-6E9C-4E5D-83EA-27EE975F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19350"/>
            <a:ext cx="495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完整字段 / 原文位置</a:t>
            </a:r>
          </a:p>
        </p:txBody>
      </p:sp>
      <p:sp>
        <p:nvSpPr>
          <p:cNvPr id="16" name="p15-r2-0">
            <a:extLst xmlns:a="http://schemas.openxmlformats.org/drawingml/2006/main">
              <a:ext uri="{FF2B5EF4-FFF2-40B4-BE49-F238E27FC236}">
                <a16:creationId xmlns:a16="http://schemas.microsoft.com/office/drawing/2014/main" id="{72365281-61DA-4839-8742-36ECDCEBD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精读字段</a:t>
            </a:r>
          </a:p>
        </p:txBody>
      </p:sp>
      <p:sp>
        <p:nvSpPr>
          <p:cNvPr id="17" name="p15-r2-1">
            <a:extLst xmlns:a="http://schemas.openxmlformats.org/drawingml/2006/main">
              <a:ext uri="{FF2B5EF4-FFF2-40B4-BE49-F238E27FC236}">
                <a16:creationId xmlns:a16="http://schemas.microsoft.com/office/drawing/2014/main" id="{5274B674-0B4B-440E-8B33-B94CFDFD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09900"/>
            <a:ext cx="3619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逐卡累计</a:t>
            </a:r>
          </a:p>
        </p:txBody>
      </p:sp>
      <p:sp>
        <p:nvSpPr>
          <p:cNvPr id="18" name="p15-r2-2">
            <a:extLst xmlns:a="http://schemas.openxmlformats.org/drawingml/2006/main">
              <a:ext uri="{FF2B5EF4-FFF2-40B4-BE49-F238E27FC236}">
                <a16:creationId xmlns:a16="http://schemas.microsoft.com/office/drawing/2014/main" id="{A35F8E5C-C88F-4608-AC78-323C07F3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09900"/>
            <a:ext cx="495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偏差或已检查风险</a:t>
            </a:r>
          </a:p>
        </p:txBody>
      </p:sp>
      <p:sp>
        <p:nvSpPr>
          <p:cNvPr id="19" name="p15-r3-0">
            <a:extLst xmlns:a="http://schemas.openxmlformats.org/drawingml/2006/main">
              <a:ext uri="{FF2B5EF4-FFF2-40B4-BE49-F238E27FC236}">
                <a16:creationId xmlns:a16="http://schemas.microsoft.com/office/drawing/2014/main" id="{E5CA89AA-BDA1-4CD6-BED3-005826CC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证据地图</a:t>
            </a:r>
          </a:p>
        </p:txBody>
      </p:sp>
      <p:sp>
        <p:nvSpPr>
          <p:cNvPr id="20" name="p15-r3-1">
            <a:extLst xmlns:a="http://schemas.openxmlformats.org/drawingml/2006/main">
              <a:ext uri="{FF2B5EF4-FFF2-40B4-BE49-F238E27FC236}">
                <a16:creationId xmlns:a16="http://schemas.microsoft.com/office/drawing/2014/main" id="{5B393DF0-DC99-45F9-B21C-DEF13D38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3619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5 课初版</a:t>
            </a:r>
          </a:p>
        </p:txBody>
      </p:sp>
      <p:sp>
        <p:nvSpPr>
          <p:cNvPr id="21" name="p15-r3-2">
            <a:extLst xmlns:a="http://schemas.openxmlformats.org/drawingml/2006/main">
              <a:ext uri="{FF2B5EF4-FFF2-40B4-BE49-F238E27FC236}">
                <a16:creationId xmlns:a16="http://schemas.microsoft.com/office/drawing/2014/main" id="{BD85348C-965A-448B-B4E1-667B7C1C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00450"/>
            <a:ext cx="495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直接 / 补充 / 冲突 / 空白</a:t>
            </a:r>
          </a:p>
        </p:txBody>
      </p:sp>
      <p:sp>
        <p:nvSpPr>
          <p:cNvPr id="22" name="p15-now0">
            <a:extLst xmlns:a="http://schemas.openxmlformats.org/drawingml/2006/main">
              <a:ext uri="{FF2B5EF4-FFF2-40B4-BE49-F238E27FC236}">
                <a16:creationId xmlns:a16="http://schemas.microsoft.com/office/drawing/2014/main" id="{90896310-2F37-48FD-B27D-D0B9A10A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05300"/>
            <a:ext cx="33337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5  问题 + 非例 + 命题</a:t>
            </a:r>
          </a:p>
        </p:txBody>
      </p:sp>
      <p:sp>
        <p:nvSpPr>
          <p:cNvPr id="23" name="p15-now1">
            <a:extLst xmlns:a="http://schemas.openxmlformats.org/drawingml/2006/main">
              <a:ext uri="{FF2B5EF4-FFF2-40B4-BE49-F238E27FC236}">
                <a16:creationId xmlns:a16="http://schemas.microsoft.com/office/drawing/2014/main" id="{5BDBC653-4EA3-4D8C-8C05-F8076A7FC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305300"/>
            <a:ext cx="33337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6  第一性原理推导</a:t>
            </a:r>
          </a:p>
        </p:txBody>
      </p:sp>
      <p:sp>
        <p:nvSpPr>
          <p:cNvPr id="24" name="p15-now2">
            <a:extLst xmlns:a="http://schemas.openxmlformats.org/drawingml/2006/main">
              <a:ext uri="{FF2B5EF4-FFF2-40B4-BE49-F238E27FC236}">
                <a16:creationId xmlns:a16="http://schemas.microsoft.com/office/drawing/2014/main" id="{95E3AEA0-98B1-42F7-A22E-2F3C7859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305300"/>
            <a:ext cx="33337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7  重要性 + 周期</a:t>
            </a:r>
          </a:p>
        </p:txBody>
      </p:sp>
      <p:sp>
        <p:nvSpPr>
          <p:cNvPr id="25" name="p15-now3">
            <a:extLst xmlns:a="http://schemas.openxmlformats.org/drawingml/2006/main">
              <a:ext uri="{FF2B5EF4-FFF2-40B4-BE49-F238E27FC236}">
                <a16:creationId xmlns:a16="http://schemas.microsoft.com/office/drawing/2014/main" id="{E49D4971-3BAF-4A10-B3EE-2D4A060F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933950"/>
            <a:ext cx="33337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8  真实失败记录</a:t>
            </a:r>
          </a:p>
        </p:txBody>
      </p:sp>
      <p:sp>
        <p:nvSpPr>
          <p:cNvPr id="26" name="p15-now4">
            <a:extLst xmlns:a="http://schemas.openxmlformats.org/drawingml/2006/main">
              <a:ext uri="{FF2B5EF4-FFF2-40B4-BE49-F238E27FC236}">
                <a16:creationId xmlns:a16="http://schemas.microsoft.com/office/drawing/2014/main" id="{8091DBFC-03E3-4DC5-8651-A6EC0585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33950"/>
            <a:ext cx="33337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9  AI 记录</a:t>
            </a:r>
          </a:p>
        </p:txBody>
      </p:sp>
      <p:sp>
        <p:nvSpPr>
          <p:cNvPr id="27" name="p15-bottom">
            <a:extLst xmlns:a="http://schemas.openxmlformats.org/drawingml/2006/main">
              <a:ext uri="{FF2B5EF4-FFF2-40B4-BE49-F238E27FC236}">
                <a16:creationId xmlns:a16="http://schemas.microsoft.com/office/drawing/2014/main" id="{5A73E4B2-14DB-465A-887B-0479AB01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486400"/>
            <a:ext cx="885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自查要诚实标记已满足 / 待补全 / 未满足；失败记录不能预先编造。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个人实践：问题重写到门条件自查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6-n0">
            <a:extLst xmlns:a="http://schemas.openxmlformats.org/drawingml/2006/main">
              <a:ext uri="{FF2B5EF4-FFF2-40B4-BE49-F238E27FC236}">
                <a16:creationId xmlns:a16="http://schemas.microsoft.com/office/drawing/2014/main" id="{0F446C2A-C09B-4CC3-8B11-0FE3E9FF1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71575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6-t0">
            <a:extLst xmlns:a="http://schemas.openxmlformats.org/drawingml/2006/main">
              <a:ext uri="{FF2B5EF4-FFF2-40B4-BE49-F238E27FC236}">
                <a16:creationId xmlns:a16="http://schemas.microsoft.com/office/drawing/2014/main" id="{A530524E-0763-41B0-BB98-7B10E6560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095375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候选题池四维比较</a:t>
            </a:r>
          </a:p>
        </p:txBody>
      </p:sp>
      <p:sp>
        <p:nvSpPr>
          <p:cNvPr id="8" name="p16-n1">
            <a:extLst xmlns:a="http://schemas.openxmlformats.org/drawingml/2006/main">
              <a:ext uri="{FF2B5EF4-FFF2-40B4-BE49-F238E27FC236}">
                <a16:creationId xmlns:a16="http://schemas.microsoft.com/office/drawing/2014/main" id="{4B4E4305-7C6F-4D50-80FF-4EB328585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171575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p16-t1">
            <a:extLst xmlns:a="http://schemas.openxmlformats.org/drawingml/2006/main">
              <a:ext uri="{FF2B5EF4-FFF2-40B4-BE49-F238E27FC236}">
                <a16:creationId xmlns:a16="http://schemas.microsoft.com/office/drawing/2014/main" id="{5CE5E277-E4AE-4785-B6D8-4CE5B176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1095375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补五要素</a:t>
            </a:r>
          </a:p>
        </p:txBody>
      </p:sp>
      <p:sp>
        <p:nvSpPr>
          <p:cNvPr id="10" name="p16-n2">
            <a:extLst xmlns:a="http://schemas.openxmlformats.org/drawingml/2006/main">
              <a:ext uri="{FF2B5EF4-FFF2-40B4-BE49-F238E27FC236}">
                <a16:creationId xmlns:a16="http://schemas.microsoft.com/office/drawing/2014/main" id="{F07C6249-CBCA-48FA-89E7-AB4FA99B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171575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p16-t2">
            <a:extLst xmlns:a="http://schemas.openxmlformats.org/drawingml/2006/main">
              <a:ext uri="{FF2B5EF4-FFF2-40B4-BE49-F238E27FC236}">
                <a16:creationId xmlns:a16="http://schemas.microsoft.com/office/drawing/2014/main" id="{58C8C270-CAB0-420F-871F-B5D7B7484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095375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写一个非例</a:t>
            </a:r>
          </a:p>
        </p:txBody>
      </p:sp>
      <p:sp>
        <p:nvSpPr>
          <p:cNvPr id="12" name="p16-n3">
            <a:extLst xmlns:a="http://schemas.openxmlformats.org/drawingml/2006/main">
              <a:ext uri="{FF2B5EF4-FFF2-40B4-BE49-F238E27FC236}">
                <a16:creationId xmlns:a16="http://schemas.microsoft.com/office/drawing/2014/main" id="{7D530D94-EB2F-4005-9C49-2BD03EC7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171575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3" name="p16-t3">
            <a:extLst xmlns:a="http://schemas.openxmlformats.org/drawingml/2006/main">
              <a:ext uri="{FF2B5EF4-FFF2-40B4-BE49-F238E27FC236}">
                <a16:creationId xmlns:a16="http://schemas.microsoft.com/office/drawing/2014/main" id="{2A09CEC1-205A-4BD6-B404-85208412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1095375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写推翻条件</a:t>
            </a:r>
          </a:p>
        </p:txBody>
      </p:sp>
      <p:sp>
        <p:nvSpPr>
          <p:cNvPr id="14" name="p16-n4">
            <a:extLst xmlns:a="http://schemas.openxmlformats.org/drawingml/2006/main">
              <a:ext uri="{FF2B5EF4-FFF2-40B4-BE49-F238E27FC236}">
                <a16:creationId xmlns:a16="http://schemas.microsoft.com/office/drawing/2014/main" id="{8E3FF70F-DECC-44B8-8C91-6803FAFB5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09825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5" name="p16-t4">
            <a:extLst xmlns:a="http://schemas.openxmlformats.org/drawingml/2006/main">
              <a:ext uri="{FF2B5EF4-FFF2-40B4-BE49-F238E27FC236}">
                <a16:creationId xmlns:a16="http://schemas.microsoft.com/office/drawing/2014/main" id="{6FC2A7A6-E3BC-4CE9-86BC-768A8FF7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333625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完成四步推导</a:t>
            </a:r>
          </a:p>
        </p:txBody>
      </p:sp>
      <p:sp>
        <p:nvSpPr>
          <p:cNvPr id="16" name="p16-n5">
            <a:extLst xmlns:a="http://schemas.openxmlformats.org/drawingml/2006/main">
              <a:ext uri="{FF2B5EF4-FFF2-40B4-BE49-F238E27FC236}">
                <a16:creationId xmlns:a16="http://schemas.microsoft.com/office/drawing/2014/main" id="{6466DF9C-B6A1-43CB-AFDC-6BBD50C9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409825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7" name="p16-t5">
            <a:extLst xmlns:a="http://schemas.openxmlformats.org/drawingml/2006/main">
              <a:ext uri="{FF2B5EF4-FFF2-40B4-BE49-F238E27FC236}">
                <a16:creationId xmlns:a16="http://schemas.microsoft.com/office/drawing/2014/main" id="{B41B5C98-4019-4EB7-8F39-353EF4DC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333625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重要性 + 新颖性类别</a:t>
            </a:r>
          </a:p>
        </p:txBody>
      </p:sp>
      <p:sp>
        <p:nvSpPr>
          <p:cNvPr id="18" name="p16-n6">
            <a:extLst xmlns:a="http://schemas.openxmlformats.org/drawingml/2006/main">
              <a:ext uri="{FF2B5EF4-FFF2-40B4-BE49-F238E27FC236}">
                <a16:creationId xmlns:a16="http://schemas.microsoft.com/office/drawing/2014/main" id="{5F82BE2F-E557-4EF2-8DFF-502259D3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409825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19" name="p16-t6">
            <a:extLst xmlns:a="http://schemas.openxmlformats.org/drawingml/2006/main">
              <a:ext uri="{FF2B5EF4-FFF2-40B4-BE49-F238E27FC236}">
                <a16:creationId xmlns:a16="http://schemas.microsoft.com/office/drawing/2014/main" id="{DF17B41E-EBD8-48D3-BBC4-0BB11E65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333625"/>
            <a:ext cx="209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标九项状态</a:t>
            </a:r>
          </a:p>
        </p:txBody>
      </p:sp>
      <p:sp>
        <p:nvSpPr>
          <p:cNvPr id="20" name="p16-order">
            <a:extLst xmlns:a="http://schemas.openxmlformats.org/drawingml/2006/main">
              <a:ext uri="{FF2B5EF4-FFF2-40B4-BE49-F238E27FC236}">
                <a16:creationId xmlns:a16="http://schemas.microsoft.com/office/drawing/2014/main" id="{E3E49464-BB67-46C7-BFCE-A6A49112C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57625"/>
            <a:ext cx="971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本人真实问题  →  导师组公开问题  →  课程虚构样例（须改换问题表述）</a:t>
            </a:r>
          </a:p>
        </p:txBody>
      </p:sp>
      <p:sp>
        <p:nvSpPr>
          <p:cNvPr id="21" name="p16-poolhint">
            <a:extLst xmlns:a="http://schemas.openxmlformats.org/drawingml/2006/main">
              <a:ext uri="{FF2B5EF4-FFF2-40B4-BE49-F238E27FC236}">
                <a16:creationId xmlns:a16="http://schemas.microsoft.com/office/drawing/2014/main" id="{356EA48D-D42D-40BF-90B9-9531A5CB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00575"/>
            <a:ext cx="857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题池不足 3 个：先补一个异常观察或实践痛点候选，再比较</a:t>
            </a:r>
          </a:p>
        </p:txBody>
      </p:sp>
      <p:sp>
        <p:nvSpPr>
          <p:cNvPr id="22" name="p16-write">
            <a:extLst xmlns:a="http://schemas.openxmlformats.org/drawingml/2006/main">
              <a:ext uri="{FF2B5EF4-FFF2-40B4-BE49-F238E27FC236}">
                <a16:creationId xmlns:a16="http://schemas.microsoft.com/office/drawing/2014/main" id="{FB6E154E-3274-4536-A4A1-102D973D5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172075"/>
            <a:ext cx="828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写入：problem-definition.md　｜　40:00 开始，P18 停留到 60:00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实践停留页：问题定义与推导最小闭环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7-time">
            <a:extLst xmlns:a="http://schemas.openxmlformats.org/drawingml/2006/main">
              <a:ext uri="{FF2B5EF4-FFF2-40B4-BE49-F238E27FC236}">
                <a16:creationId xmlns:a16="http://schemas.microsoft.com/office/drawing/2014/main" id="{220C858A-6E24-4E02-8412-158BEF7B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838200"/>
            <a:ext cx="4381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43:00—60:00｜17 分钟持续实践</a:t>
            </a:r>
          </a:p>
        </p:txBody>
      </p:sp>
      <p:sp>
        <p:nvSpPr>
          <p:cNvPr id="7" name="p17-0-h">
            <a:extLst xmlns:a="http://schemas.openxmlformats.org/drawingml/2006/main">
              <a:ext uri="{FF2B5EF4-FFF2-40B4-BE49-F238E27FC236}">
                <a16:creationId xmlns:a16="http://schemas.microsoft.com/office/drawing/2014/main" id="{B0225651-6B76-4A04-91AF-3DEEE12B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52550"/>
            <a:ext cx="5238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6D4D7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候选题池 + 选题理由</a:t>
            </a:r>
          </a:p>
        </p:txBody>
      </p:sp>
      <p:sp>
        <p:nvSpPr>
          <p:cNvPr id="8" name="p17-0-d">
            <a:extLst xmlns:a="http://schemas.openxmlformats.org/drawingml/2006/main">
              <a:ext uri="{FF2B5EF4-FFF2-40B4-BE49-F238E27FC236}">
                <a16:creationId xmlns:a16="http://schemas.microsoft.com/office/drawing/2014/main" id="{59C0A6B8-6386-492F-A616-F1CFD25A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90700"/>
            <a:ext cx="5238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1EBF4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≥3 候选与路径标签｜四维比较｜新颖性类别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来源交叉检查答案（纯文献空白时）</a:t>
            </a:r>
          </a:p>
        </p:txBody>
      </p:sp>
      <p:sp>
        <p:nvSpPr>
          <p:cNvPr id="9" name="p17-1-h">
            <a:extLst xmlns:a="http://schemas.openxmlformats.org/drawingml/2006/main">
              <a:ext uri="{FF2B5EF4-FFF2-40B4-BE49-F238E27FC236}">
                <a16:creationId xmlns:a16="http://schemas.microsoft.com/office/drawing/2014/main" id="{BC246840-B072-47F0-B19B-06694BDA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52550"/>
            <a:ext cx="5238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问题 + 非例 + 命题</a:t>
            </a:r>
          </a:p>
        </p:txBody>
      </p:sp>
      <p:sp>
        <p:nvSpPr>
          <p:cNvPr id="10" name="p17-1-d">
            <a:extLst xmlns:a="http://schemas.openxmlformats.org/drawingml/2006/main">
              <a:ext uri="{FF2B5EF4-FFF2-40B4-BE49-F238E27FC236}">
                <a16:creationId xmlns:a16="http://schemas.microsoft.com/office/drawing/2014/main" id="{D58C7971-EEE3-44AC-B8C3-89EC756D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90700"/>
            <a:ext cx="5238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条件 / 对象 / 干预 / 结果 / 比较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一个非例 + 一条推翻条件</a:t>
            </a:r>
          </a:p>
        </p:txBody>
      </p:sp>
      <p:sp>
        <p:nvSpPr>
          <p:cNvPr id="11" name="p17-2-h">
            <a:extLst xmlns:a="http://schemas.openxmlformats.org/drawingml/2006/main">
              <a:ext uri="{FF2B5EF4-FFF2-40B4-BE49-F238E27FC236}">
                <a16:creationId xmlns:a16="http://schemas.microsoft.com/office/drawing/2014/main" id="{A0AE20D4-9714-435C-8BEA-C8AE9759F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0"/>
            <a:ext cx="5238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第一性原理</a:t>
            </a:r>
          </a:p>
        </p:txBody>
      </p:sp>
      <p:sp>
        <p:nvSpPr>
          <p:cNvPr id="12" name="p17-2-d">
            <a:extLst xmlns:a="http://schemas.openxmlformats.org/drawingml/2006/main">
              <a:ext uri="{FF2B5EF4-FFF2-40B4-BE49-F238E27FC236}">
                <a16:creationId xmlns:a16="http://schemas.microsoft.com/office/drawing/2014/main" id="{D20124F8-3325-4DFD-B2B4-C9431AAF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90900"/>
            <a:ext cx="5238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基本约束 / 作用机制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不可违背条件 / 待验证前提</a:t>
            </a:r>
          </a:p>
        </p:txBody>
      </p:sp>
      <p:sp>
        <p:nvSpPr>
          <p:cNvPr id="13" name="p17-3-h">
            <a:extLst xmlns:a="http://schemas.openxmlformats.org/drawingml/2006/main">
              <a:ext uri="{FF2B5EF4-FFF2-40B4-BE49-F238E27FC236}">
                <a16:creationId xmlns:a16="http://schemas.microsoft.com/office/drawing/2014/main" id="{541EB345-A3AA-4A74-8705-41FE8D51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5238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④ 重要性 + 门状态</a:t>
            </a:r>
          </a:p>
        </p:txBody>
      </p:sp>
      <p:sp>
        <p:nvSpPr>
          <p:cNvPr id="14" name="p17-3-d">
            <a:extLst xmlns:a="http://schemas.openxmlformats.org/drawingml/2006/main">
              <a:ext uri="{FF2B5EF4-FFF2-40B4-BE49-F238E27FC236}">
                <a16:creationId xmlns:a16="http://schemas.microsoft.com/office/drawing/2014/main" id="{E98E921B-7705-4175-A3F8-FDA921FD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5238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So what? / Who cares? / 周期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九项：满足 / 待补 / 未满足</a:t>
            </a:r>
          </a:p>
        </p:txBody>
      </p:sp>
      <p:sp>
        <p:nvSpPr>
          <p:cNvPr id="15" name="p17-save">
            <a:extLst xmlns:a="http://schemas.openxmlformats.org/drawingml/2006/main">
              <a:ext uri="{FF2B5EF4-FFF2-40B4-BE49-F238E27FC236}">
                <a16:creationId xmlns:a16="http://schemas.microsoft.com/office/drawing/2014/main" id="{B133D299-4C7E-4CAE-96C5-A7F915FE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191125"/>
            <a:ext cx="1019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保存到 problem-definition.md（含候选题池与选题理由扩展字段）｜　故障时用纸面或 Markdown 模板完成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同伴互查：只提问题，由作者决定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8-n0">
            <a:extLst xmlns:a="http://schemas.openxmlformats.org/drawingml/2006/main">
              <a:ext uri="{FF2B5EF4-FFF2-40B4-BE49-F238E27FC236}">
                <a16:creationId xmlns:a16="http://schemas.microsoft.com/office/drawing/2014/main" id="{B0BCC920-C856-4364-BBFD-AA258833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8-q0">
            <a:extLst xmlns:a="http://schemas.openxmlformats.org/drawingml/2006/main">
              <a:ext uri="{FF2B5EF4-FFF2-40B4-BE49-F238E27FC236}">
                <a16:creationId xmlns:a16="http://schemas.microsoft.com/office/drawing/2014/main" id="{68EB946F-D1A6-4547-A2DE-ABE5016C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009650"/>
            <a:ext cx="685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这是问题还是主题？</a:t>
            </a:r>
          </a:p>
        </p:txBody>
      </p:sp>
      <p:sp>
        <p:nvSpPr>
          <p:cNvPr id="8" name="p18-n1">
            <a:extLst xmlns:a="http://schemas.openxmlformats.org/drawingml/2006/main">
              <a:ext uri="{FF2B5EF4-FFF2-40B4-BE49-F238E27FC236}">
                <a16:creationId xmlns:a16="http://schemas.microsoft.com/office/drawing/2014/main" id="{4069C1F8-48BE-4D38-8520-56DDEA32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p18-q1">
            <a:extLst xmlns:a="http://schemas.openxmlformats.org/drawingml/2006/main">
              <a:ext uri="{FF2B5EF4-FFF2-40B4-BE49-F238E27FC236}">
                <a16:creationId xmlns:a16="http://schemas.microsoft.com/office/drawing/2014/main" id="{44FCE09B-7F0C-4D5C-9BB3-DE3A0183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790700"/>
            <a:ext cx="685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选题理由能用四维比较说清吗？</a:t>
            </a:r>
          </a:p>
        </p:txBody>
      </p:sp>
      <p:sp>
        <p:nvSpPr>
          <p:cNvPr id="10" name="p18-n2">
            <a:extLst xmlns:a="http://schemas.openxmlformats.org/drawingml/2006/main">
              <a:ext uri="{FF2B5EF4-FFF2-40B4-BE49-F238E27FC236}">
                <a16:creationId xmlns:a16="http://schemas.microsoft.com/office/drawing/2014/main" id="{4752B1D9-C65A-4529-9ECE-58950A38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p18-q2">
            <a:extLst xmlns:a="http://schemas.openxmlformats.org/drawingml/2006/main">
              <a:ext uri="{FF2B5EF4-FFF2-40B4-BE49-F238E27FC236}">
                <a16:creationId xmlns:a16="http://schemas.microsoft.com/office/drawing/2014/main" id="{C1D19BCC-418E-4AED-AD8E-5BCCCA0A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71750"/>
            <a:ext cx="685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什么观察会推翻命题？</a:t>
            </a:r>
          </a:p>
        </p:txBody>
      </p:sp>
      <p:sp>
        <p:nvSpPr>
          <p:cNvPr id="12" name="p18-n3">
            <a:extLst xmlns:a="http://schemas.openxmlformats.org/drawingml/2006/main">
              <a:ext uri="{FF2B5EF4-FFF2-40B4-BE49-F238E27FC236}">
                <a16:creationId xmlns:a16="http://schemas.microsoft.com/office/drawing/2014/main" id="{29474D51-8B89-4C9A-B9CF-9ACDB60E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3" name="p18-q3">
            <a:extLst xmlns:a="http://schemas.openxmlformats.org/drawingml/2006/main">
              <a:ext uri="{FF2B5EF4-FFF2-40B4-BE49-F238E27FC236}">
                <a16:creationId xmlns:a16="http://schemas.microsoft.com/office/drawing/2014/main" id="{FD6A051C-1EF1-47A1-9429-0EABCF98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352800"/>
            <a:ext cx="685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推导哪一步回到证据地图？</a:t>
            </a:r>
          </a:p>
        </p:txBody>
      </p:sp>
      <p:sp>
        <p:nvSpPr>
          <p:cNvPr id="14" name="p18-n4">
            <a:extLst xmlns:a="http://schemas.openxmlformats.org/drawingml/2006/main">
              <a:ext uri="{FF2B5EF4-FFF2-40B4-BE49-F238E27FC236}">
                <a16:creationId xmlns:a16="http://schemas.microsoft.com/office/drawing/2014/main" id="{009F304D-B904-440F-A8BB-4C285CF11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5" name="p18-q4">
            <a:extLst xmlns:a="http://schemas.openxmlformats.org/drawingml/2006/main">
              <a:ext uri="{FF2B5EF4-FFF2-40B4-BE49-F238E27FC236}">
                <a16:creationId xmlns:a16="http://schemas.microsoft.com/office/drawing/2014/main" id="{9E6D2EDC-E1AC-4E8A-8197-BE39ED5C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133850"/>
            <a:ext cx="685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九项中最可能缺哪项？</a:t>
            </a:r>
          </a:p>
        </p:txBody>
      </p:sp>
      <p:sp>
        <p:nvSpPr>
          <p:cNvPr id="16" name="p18-author">
            <a:extLst xmlns:a="http://schemas.openxmlformats.org/drawingml/2006/main">
              <a:ext uri="{FF2B5EF4-FFF2-40B4-BE49-F238E27FC236}">
                <a16:creationId xmlns:a16="http://schemas.microsoft.com/office/drawing/2014/main" id="{1694844B-01A1-4386-874F-F04B99B5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0668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作者记录</a:t>
            </a:r>
          </a:p>
        </p:txBody>
      </p:sp>
      <p:sp>
        <p:nvSpPr>
          <p:cNvPr id="17" name="p18-s0">
            <a:extLst xmlns:a="http://schemas.openxmlformats.org/drawingml/2006/main">
              <a:ext uri="{FF2B5EF4-FFF2-40B4-BE49-F238E27FC236}">
                <a16:creationId xmlns:a16="http://schemas.microsoft.com/office/drawing/2014/main" id="{AC4BC94D-23CB-42A1-B84F-83492B45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52625"/>
            <a:ext cx="18097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18" name="p18-s1">
            <a:extLst xmlns:a="http://schemas.openxmlformats.org/drawingml/2006/main">
              <a:ext uri="{FF2B5EF4-FFF2-40B4-BE49-F238E27FC236}">
                <a16:creationId xmlns:a16="http://schemas.microsoft.com/office/drawing/2014/main" id="{401E2358-C6FF-4E74-BA70-5AB24E2F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05125"/>
            <a:ext cx="18097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暂不采纳</a:t>
            </a:r>
          </a:p>
        </p:txBody>
      </p:sp>
      <p:sp>
        <p:nvSpPr>
          <p:cNvPr id="19" name="p18-s2">
            <a:extLst xmlns:a="http://schemas.openxmlformats.org/drawingml/2006/main">
              <a:ext uri="{FF2B5EF4-FFF2-40B4-BE49-F238E27FC236}">
                <a16:creationId xmlns:a16="http://schemas.microsoft.com/office/drawing/2014/main" id="{86E83D40-BE55-4ABD-9561-4424CC90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57625"/>
            <a:ext cx="18097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待核验</a:t>
            </a:r>
          </a:p>
        </p:txBody>
      </p:sp>
      <p:sp>
        <p:nvSpPr>
          <p:cNvPr id="20" name="p18-bottom">
            <a:extLst xmlns:a="http://schemas.openxmlformats.org/drawingml/2006/main">
              <a:ext uri="{FF2B5EF4-FFF2-40B4-BE49-F238E27FC236}">
                <a16:creationId xmlns:a16="http://schemas.microsoft.com/office/drawing/2014/main" id="{F7973832-B699-4902-80B0-D98D915E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91125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同伴只提问题；作者保留最终决定，不形成共同提交。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p20-n0">
            <a:extLst xmlns:a="http://schemas.openxmlformats.org/drawingml/2006/main">
              <a:ext uri="{FF2B5EF4-FFF2-40B4-BE49-F238E27FC236}">
                <a16:creationId xmlns:a16="http://schemas.microsoft.com/office/drawing/2014/main" id="{2CC28FD0-1ACA-4E80-BFF3-BC71B43B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20-h0">
            <a:extLst xmlns:a="http://schemas.openxmlformats.org/drawingml/2006/main">
              <a:ext uri="{FF2B5EF4-FFF2-40B4-BE49-F238E27FC236}">
                <a16:creationId xmlns:a16="http://schemas.microsoft.com/office/drawing/2014/main" id="{6389CA5F-C124-4D97-AF49-8B42D65D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047750"/>
            <a:ext cx="204787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结构性问题</a:t>
            </a:r>
          </a:p>
        </p:txBody>
      </p:sp>
      <p:sp>
        <p:nvSpPr>
          <p:cNvPr id="8" name="p20-d0">
            <a:extLst xmlns:a="http://schemas.openxmlformats.org/drawingml/2006/main">
              <a:ext uri="{FF2B5EF4-FFF2-40B4-BE49-F238E27FC236}">
                <a16:creationId xmlns:a16="http://schemas.microsoft.com/office/drawing/2014/main" id="{48F49CA6-B1D1-4FF8-BD47-E9AF8005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0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写清条件、对象、干预与结果</a:t>
            </a:r>
          </a:p>
        </p:txBody>
      </p:sp>
      <p:sp>
        <p:nvSpPr>
          <p:cNvPr id="9" name="p20-arrow0">
            <a:extLst xmlns:a="http://schemas.openxmlformats.org/drawingml/2006/main">
              <a:ext uri="{FF2B5EF4-FFF2-40B4-BE49-F238E27FC236}">
                <a16:creationId xmlns:a16="http://schemas.microsoft.com/office/drawing/2014/main" id="{DD3AFD90-518C-4F5D-964B-C327AB13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384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20-n1">
            <a:extLst xmlns:a="http://schemas.openxmlformats.org/drawingml/2006/main">
              <a:ext uri="{FF2B5EF4-FFF2-40B4-BE49-F238E27FC236}">
                <a16:creationId xmlns:a16="http://schemas.microsoft.com/office/drawing/2014/main" id="{B08B5469-8086-46C3-AAEB-610BB3C7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1049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p20-h1">
            <a:extLst xmlns:a="http://schemas.openxmlformats.org/drawingml/2006/main">
              <a:ext uri="{FF2B5EF4-FFF2-40B4-BE49-F238E27FC236}">
                <a16:creationId xmlns:a16="http://schemas.microsoft.com/office/drawing/2014/main" id="{658666A6-4E1D-4AC8-B2EE-7A1F93C0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047750"/>
            <a:ext cx="204787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可证伪命题</a:t>
            </a:r>
          </a:p>
        </p:txBody>
      </p:sp>
      <p:sp>
        <p:nvSpPr>
          <p:cNvPr id="12" name="p20-d1">
            <a:extLst xmlns:a="http://schemas.openxmlformats.org/drawingml/2006/main">
              <a:ext uri="{FF2B5EF4-FFF2-40B4-BE49-F238E27FC236}">
                <a16:creationId xmlns:a16="http://schemas.microsoft.com/office/drawing/2014/main" id="{32BF98BB-63EA-43ED-9A39-F084D8EB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905000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明确对照、指标与推翻条件</a:t>
            </a:r>
          </a:p>
        </p:txBody>
      </p:sp>
      <p:sp>
        <p:nvSpPr>
          <p:cNvPr id="13" name="p20-arrow1">
            <a:extLst xmlns:a="http://schemas.openxmlformats.org/drawingml/2006/main">
              <a:ext uri="{FF2B5EF4-FFF2-40B4-BE49-F238E27FC236}">
                <a16:creationId xmlns:a16="http://schemas.microsoft.com/office/drawing/2014/main" id="{1769F5E1-6C79-49CD-9492-54FA2EF6D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4384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p20-n2">
            <a:extLst xmlns:a="http://schemas.openxmlformats.org/drawingml/2006/main">
              <a:ext uri="{FF2B5EF4-FFF2-40B4-BE49-F238E27FC236}">
                <a16:creationId xmlns:a16="http://schemas.microsoft.com/office/drawing/2014/main" id="{12528EE3-ED43-4788-8B1F-BEC4D19B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1049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p20-h2">
            <a:extLst xmlns:a="http://schemas.openxmlformats.org/drawingml/2006/main">
              <a:ext uri="{FF2B5EF4-FFF2-40B4-BE49-F238E27FC236}">
                <a16:creationId xmlns:a16="http://schemas.microsoft.com/office/drawing/2014/main" id="{9E0C18BC-B705-4FB6-9F12-FB33D4987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047750"/>
            <a:ext cx="204787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第一性原理</a:t>
            </a:r>
          </a:p>
        </p:txBody>
      </p:sp>
      <p:sp>
        <p:nvSpPr>
          <p:cNvPr id="16" name="p20-d2">
            <a:extLst xmlns:a="http://schemas.openxmlformats.org/drawingml/2006/main">
              <a:ext uri="{FF2B5EF4-FFF2-40B4-BE49-F238E27FC236}">
                <a16:creationId xmlns:a16="http://schemas.microsoft.com/office/drawing/2014/main" id="{BDBE9E26-9186-483F-B528-B68D3BCB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05000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由约束推导待验证前提</a:t>
            </a:r>
          </a:p>
        </p:txBody>
      </p:sp>
      <p:sp>
        <p:nvSpPr>
          <p:cNvPr id="17" name="p20-arrow2">
            <a:extLst xmlns:a="http://schemas.openxmlformats.org/drawingml/2006/main">
              <a:ext uri="{FF2B5EF4-FFF2-40B4-BE49-F238E27FC236}">
                <a16:creationId xmlns:a16="http://schemas.microsoft.com/office/drawing/2014/main" id="{27B33DE0-5DDF-443B-8A70-9E3FB6BD1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384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p20-n3">
            <a:extLst xmlns:a="http://schemas.openxmlformats.org/drawingml/2006/main">
              <a:ext uri="{FF2B5EF4-FFF2-40B4-BE49-F238E27FC236}">
                <a16:creationId xmlns:a16="http://schemas.microsoft.com/office/drawing/2014/main" id="{F6D30852-C208-4AD7-931C-34025401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1049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p20-h3">
            <a:extLst xmlns:a="http://schemas.openxmlformats.org/drawingml/2006/main">
              <a:ext uri="{FF2B5EF4-FFF2-40B4-BE49-F238E27FC236}">
                <a16:creationId xmlns:a16="http://schemas.microsoft.com/office/drawing/2014/main" id="{609FA61F-B46D-40C0-8AF0-E800B1352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047750"/>
            <a:ext cx="204787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问题门自查</a:t>
            </a:r>
          </a:p>
        </p:txBody>
      </p:sp>
      <p:sp>
        <p:nvSpPr>
          <p:cNvPr id="20" name="p20-d3">
            <a:extLst xmlns:a="http://schemas.openxmlformats.org/drawingml/2006/main">
              <a:ext uri="{FF2B5EF4-FFF2-40B4-BE49-F238E27FC236}">
                <a16:creationId xmlns:a16="http://schemas.microsoft.com/office/drawing/2014/main" id="{7AD6827F-B345-41B2-8247-7184600D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905000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核对九项条件与真实失败记录</a:t>
            </a:r>
          </a:p>
        </p:txBody>
      </p:sp>
      <p:sp>
        <p:nvSpPr>
          <p:cNvPr id="21" name="p20-boundary">
            <a:extLst xmlns:a="http://schemas.openxmlformats.org/drawingml/2006/main">
              <a:ext uri="{FF2B5EF4-FFF2-40B4-BE49-F238E27FC236}">
                <a16:creationId xmlns:a16="http://schemas.microsoft.com/office/drawing/2014/main" id="{2CAF2323-BFFF-4FC5-BBAE-355B768F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143375"/>
            <a:ext cx="981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关键边界：第一性原理推导得到的是待验证前提，不是结论；问题门检查当前项目是否具备继续研究的条件。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问题门提交与失败回退路径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p21-submit">
            <a:extLst xmlns:a="http://schemas.openxmlformats.org/drawingml/2006/main">
              <a:ext uri="{FF2B5EF4-FFF2-40B4-BE49-F238E27FC236}">
                <a16:creationId xmlns:a16="http://schemas.microsoft.com/office/drawing/2014/main" id="{468D3194-6A5F-4AF7-A745-E0D9AFE6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95375"/>
            <a:ext cx="2095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一次提交</a:t>
            </a:r>
          </a:p>
        </p:txBody>
      </p:sp>
      <p:sp>
        <p:nvSpPr>
          <p:cNvPr id="7" name="p19-how">
            <a:extLst xmlns:a="http://schemas.openxmlformats.org/drawingml/2006/main">
              <a:ext uri="{FF2B5EF4-FFF2-40B4-BE49-F238E27FC236}">
                <a16:creationId xmlns:a16="http://schemas.microsoft.com/office/drawing/2014/main" id="{1ACE192D-7449-4EF1-91D1-F43FA0E7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000125"/>
            <a:ext cx="3238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当前个人项目版本</a:t>
            </a:r>
          </a:p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链接 / tag / 压缩包</a:t>
            </a:r>
          </a:p>
        </p:txBody>
      </p:sp>
      <p:sp>
        <p:nvSpPr>
          <p:cNvPr id="8" name="p19-no">
            <a:extLst xmlns:a="http://schemas.openxmlformats.org/drawingml/2006/main">
              <a:ext uri="{FF2B5EF4-FFF2-40B4-BE49-F238E27FC236}">
                <a16:creationId xmlns:a16="http://schemas.microsoft.com/office/drawing/2014/main" id="{6C22B6E3-1BA4-4E70-B16F-5F50633FF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095375"/>
            <a:ext cx="476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不重复制作与项目分离的汇报文档</a:t>
            </a:r>
          </a:p>
        </p:txBody>
      </p:sp>
      <p:sp>
        <p:nvSpPr>
          <p:cNvPr id="9" name="p19-h0">
            <a:extLst xmlns:a="http://schemas.openxmlformats.org/drawingml/2006/main">
              <a:ext uri="{FF2B5EF4-FFF2-40B4-BE49-F238E27FC236}">
                <a16:creationId xmlns:a16="http://schemas.microsoft.com/office/drawing/2014/main" id="{CC3427D4-B235-4DC6-AE7B-AB894E14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43125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缺直接证据</a:t>
            </a:r>
          </a:p>
        </p:txBody>
      </p:sp>
      <p:sp>
        <p:nvSpPr>
          <p:cNvPr id="10" name="p19-a0">
            <a:extLst xmlns:a="http://schemas.openxmlformats.org/drawingml/2006/main">
              <a:ext uri="{FF2B5EF4-FFF2-40B4-BE49-F238E27FC236}">
                <a16:creationId xmlns:a16="http://schemas.microsoft.com/office/drawing/2014/main" id="{9B93406C-25E7-43C6-970D-E0889113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1907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19-d0">
            <a:extLst xmlns:a="http://schemas.openxmlformats.org/drawingml/2006/main">
              <a:ext uri="{FF2B5EF4-FFF2-40B4-BE49-F238E27FC236}">
                <a16:creationId xmlns:a16="http://schemas.microsoft.com/office/drawing/2014/main" id="{70219681-87AE-4886-9173-83B716AB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43125"/>
            <a:ext cx="6667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回第 3-4 课：检索 / 精读</a:t>
            </a:r>
          </a:p>
        </p:txBody>
      </p:sp>
      <p:sp>
        <p:nvSpPr>
          <p:cNvPr id="12" name="p19-h1">
            <a:extLst xmlns:a="http://schemas.openxmlformats.org/drawingml/2006/main">
              <a:ext uri="{FF2B5EF4-FFF2-40B4-BE49-F238E27FC236}">
                <a16:creationId xmlns:a16="http://schemas.microsoft.com/office/drawing/2014/main" id="{506A29FD-9A71-4C8C-B12D-8A3950C9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33675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问题过大</a:t>
            </a:r>
          </a:p>
        </p:txBody>
      </p:sp>
      <p:sp>
        <p:nvSpPr>
          <p:cNvPr id="13" name="p19-a1">
            <a:extLst xmlns:a="http://schemas.openxmlformats.org/drawingml/2006/main">
              <a:ext uri="{FF2B5EF4-FFF2-40B4-BE49-F238E27FC236}">
                <a16:creationId xmlns:a16="http://schemas.microsoft.com/office/drawing/2014/main" id="{7083B93A-4287-46AF-BA86-A09B66B2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78130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p19-d1">
            <a:extLst xmlns:a="http://schemas.openxmlformats.org/drawingml/2006/main">
              <a:ext uri="{FF2B5EF4-FFF2-40B4-BE49-F238E27FC236}">
                <a16:creationId xmlns:a16="http://schemas.microsoft.com/office/drawing/2014/main" id="{8FE2C5F8-3A6A-41FE-A363-C68796BB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33675"/>
            <a:ext cx="6667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回本课：问题重写 / 非例</a:t>
            </a:r>
          </a:p>
        </p:txBody>
      </p:sp>
      <p:sp>
        <p:nvSpPr>
          <p:cNvPr id="15" name="p19-h2">
            <a:extLst xmlns:a="http://schemas.openxmlformats.org/drawingml/2006/main">
              <a:ext uri="{FF2B5EF4-FFF2-40B4-BE49-F238E27FC236}">
                <a16:creationId xmlns:a16="http://schemas.microsoft.com/office/drawing/2014/main" id="{1F99E2FE-6697-493E-B7B7-196C7FD0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24225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命题不可证伪</a:t>
            </a:r>
          </a:p>
        </p:txBody>
      </p:sp>
      <p:sp>
        <p:nvSpPr>
          <p:cNvPr id="16" name="p19-a2">
            <a:extLst xmlns:a="http://schemas.openxmlformats.org/drawingml/2006/main">
              <a:ext uri="{FF2B5EF4-FFF2-40B4-BE49-F238E27FC236}">
                <a16:creationId xmlns:a16="http://schemas.microsoft.com/office/drawing/2014/main" id="{3339ED96-4539-4260-9E48-9384410C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3718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p19-d2">
            <a:extLst xmlns:a="http://schemas.openxmlformats.org/drawingml/2006/main">
              <a:ext uri="{FF2B5EF4-FFF2-40B4-BE49-F238E27FC236}">
                <a16:creationId xmlns:a16="http://schemas.microsoft.com/office/drawing/2014/main" id="{65908EFF-5A45-4BF3-8926-D72AA7D8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24225"/>
            <a:ext cx="6667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补对照 / 指标 / 推翻条件</a:t>
            </a:r>
          </a:p>
        </p:txBody>
      </p:sp>
      <p:sp>
        <p:nvSpPr>
          <p:cNvPr id="18" name="p19-h3">
            <a:extLst xmlns:a="http://schemas.openxmlformats.org/drawingml/2006/main">
              <a:ext uri="{FF2B5EF4-FFF2-40B4-BE49-F238E27FC236}">
                <a16:creationId xmlns:a16="http://schemas.microsoft.com/office/drawing/2014/main" id="{B5320B2A-581B-42E5-A256-F9E62B508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14775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推导脱离文献</a:t>
            </a:r>
          </a:p>
        </p:txBody>
      </p:sp>
      <p:sp>
        <p:nvSpPr>
          <p:cNvPr id="19" name="p19-a3">
            <a:extLst xmlns:a="http://schemas.openxmlformats.org/drawingml/2006/main">
              <a:ext uri="{FF2B5EF4-FFF2-40B4-BE49-F238E27FC236}">
                <a16:creationId xmlns:a16="http://schemas.microsoft.com/office/drawing/2014/main" id="{E20F850A-505D-487F-9D24-0B7E2A75C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96240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p19-d3">
            <a:extLst xmlns:a="http://schemas.openxmlformats.org/drawingml/2006/main">
              <a:ext uri="{FF2B5EF4-FFF2-40B4-BE49-F238E27FC236}">
                <a16:creationId xmlns:a16="http://schemas.microsoft.com/office/drawing/2014/main" id="{2CABAB99-729E-4CE3-AECD-223037060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14775"/>
            <a:ext cx="6667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回第 5 课证据地图</a:t>
            </a:r>
          </a:p>
        </p:txBody>
      </p:sp>
      <p:sp>
        <p:nvSpPr>
          <p:cNvPr id="21" name="p19-h4">
            <a:extLst xmlns:a="http://schemas.openxmlformats.org/drawingml/2006/main">
              <a:ext uri="{FF2B5EF4-FFF2-40B4-BE49-F238E27FC236}">
                <a16:creationId xmlns:a16="http://schemas.microsoft.com/office/drawing/2014/main" id="{3881FF0A-E67A-40ED-847E-E8D92D3F4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05325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失败记录缺失</a:t>
            </a:r>
          </a:p>
        </p:txBody>
      </p:sp>
      <p:sp>
        <p:nvSpPr>
          <p:cNvPr id="22" name="p19-a4">
            <a:extLst xmlns:a="http://schemas.openxmlformats.org/drawingml/2006/main">
              <a:ext uri="{FF2B5EF4-FFF2-40B4-BE49-F238E27FC236}">
                <a16:creationId xmlns:a16="http://schemas.microsoft.com/office/drawing/2014/main" id="{BECED43F-5839-4962-938C-3909F8F4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5529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p19-d4">
            <a:extLst xmlns:a="http://schemas.openxmlformats.org/drawingml/2006/main">
              <a:ext uri="{FF2B5EF4-FFF2-40B4-BE49-F238E27FC236}">
                <a16:creationId xmlns:a16="http://schemas.microsoft.com/office/drawing/2014/main" id="{93E30FE1-0C9A-45F9-8B56-1BF5C55A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05325"/>
            <a:ext cx="6667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回真实过程：记录死路、处理与回写</a:t>
            </a:r>
          </a:p>
        </p:txBody>
      </p:sp>
      <p:sp>
        <p:nvSpPr>
          <p:cNvPr id="24" name="p19-check">
            <a:extLst xmlns:a="http://schemas.openxmlformats.org/drawingml/2006/main">
              <a:ext uri="{FF2B5EF4-FFF2-40B4-BE49-F238E27FC236}">
                <a16:creationId xmlns:a16="http://schemas.microsoft.com/office/drawing/2014/main" id="{37468A69-B831-4BBC-A736-CC96CDCD2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91125"/>
            <a:ext cx="1009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提交核对：problem-definition.md + failure-log.md；候选题池与选题理由仍是课程扩展字段</a:t>
            </a:r>
          </a:p>
        </p:txBody>
      </p:sp>
      <p:sp>
        <p:nvSpPr>
          <p:cNvPr id="25" name="p19-bottom">
            <a:extLst xmlns:a="http://schemas.openxmlformats.org/drawingml/2006/main">
              <a:ext uri="{FF2B5EF4-FFF2-40B4-BE49-F238E27FC236}">
                <a16:creationId xmlns:a16="http://schemas.microsoft.com/office/drawing/2014/main" id="{82685FA7-4105-4912-BCC9-95C49679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543550"/>
            <a:ext cx="885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未通过：只修复缺失条件，一周内重新检查；不重交无关材料。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退出卡与第 7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BB18BA8-60F4-C50D-CD9B-1BB87D3E8506}" type="slidenum">
              <a:t>22</a:t>
            </a:fld>
            <a:endParaRPr/>
          </a:p>
        </p:txBody>
      </p:sp>
      <p:sp>
        <p:nvSpPr>
          <p:cNvPr id="6" name="p20-f0">
            <a:extLst xmlns:a="http://schemas.openxmlformats.org/drawingml/2006/main">
              <a:ext uri="{FF2B5EF4-FFF2-40B4-BE49-F238E27FC236}">
                <a16:creationId xmlns:a16="http://schemas.microsoft.com/office/drawing/2014/main" id="{4D4D1122-BA6C-429A-8BF2-96C12D96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81125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问题门</a:t>
            </a:r>
          </a:p>
        </p:txBody>
      </p:sp>
      <p:sp>
        <p:nvSpPr>
          <p:cNvPr id="7" name="p20-a0">
            <a:extLst xmlns:a="http://schemas.openxmlformats.org/drawingml/2006/main">
              <a:ext uri="{FF2B5EF4-FFF2-40B4-BE49-F238E27FC236}">
                <a16:creationId xmlns:a16="http://schemas.microsoft.com/office/drawing/2014/main" id="{E2A2DFF4-F5D8-4069-AD4F-30DF9C1D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192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p20-f1">
            <a:extLst xmlns:a="http://schemas.openxmlformats.org/drawingml/2006/main">
              <a:ext uri="{FF2B5EF4-FFF2-40B4-BE49-F238E27FC236}">
                <a16:creationId xmlns:a16="http://schemas.microsoft.com/office/drawing/2014/main" id="{7041BEA2-7D92-45E3-8D64-BF9D70864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381125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待验证前提</a:t>
            </a:r>
          </a:p>
        </p:txBody>
      </p:sp>
      <p:sp>
        <p:nvSpPr>
          <p:cNvPr id="9" name="p20-a1">
            <a:extLst xmlns:a="http://schemas.openxmlformats.org/drawingml/2006/main">
              <a:ext uri="{FF2B5EF4-FFF2-40B4-BE49-F238E27FC236}">
                <a16:creationId xmlns:a16="http://schemas.microsoft.com/office/drawing/2014/main" id="{061C3446-3A94-45CB-B4F8-CC44DBE0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6192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20-f2">
            <a:extLst xmlns:a="http://schemas.openxmlformats.org/drawingml/2006/main">
              <a:ext uri="{FF2B5EF4-FFF2-40B4-BE49-F238E27FC236}">
                <a16:creationId xmlns:a16="http://schemas.microsoft.com/office/drawing/2014/main" id="{9699E9D1-AB3A-48A9-BDD0-90CD7DE5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381125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7 课</a:t>
            </a:r>
          </a:p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机制假设</a:t>
            </a:r>
          </a:p>
        </p:txBody>
      </p:sp>
      <p:sp>
        <p:nvSpPr>
          <p:cNvPr id="11" name="p20-a2">
            <a:extLst xmlns:a="http://schemas.openxmlformats.org/drawingml/2006/main">
              <a:ext uri="{FF2B5EF4-FFF2-40B4-BE49-F238E27FC236}">
                <a16:creationId xmlns:a16="http://schemas.microsoft.com/office/drawing/2014/main" id="{0264D8F5-F38B-4C65-B7DE-5C643C6A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p20-f3">
            <a:extLst xmlns:a="http://schemas.openxmlformats.org/drawingml/2006/main">
              <a:ext uri="{FF2B5EF4-FFF2-40B4-BE49-F238E27FC236}">
                <a16:creationId xmlns:a16="http://schemas.microsoft.com/office/drawing/2014/main" id="{21AF8003-4FB5-4B45-B2BE-8F29714C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381125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9 课</a:t>
            </a:r>
          </a:p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实验规格</a:t>
            </a:r>
          </a:p>
        </p:txBody>
      </p:sp>
      <p:sp>
        <p:nvSpPr>
          <p:cNvPr id="13" name="p20-exit">
            <a:extLst xmlns:a="http://schemas.openxmlformats.org/drawingml/2006/main">
              <a:ext uri="{FF2B5EF4-FFF2-40B4-BE49-F238E27FC236}">
                <a16:creationId xmlns:a16="http://schemas.microsoft.com/office/drawing/2014/main" id="{CAB04C86-21FA-4462-91C5-FE643BEB3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0"/>
            <a:ext cx="1714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14" name="p20-q0">
            <a:extLst xmlns:a="http://schemas.openxmlformats.org/drawingml/2006/main">
              <a:ext uri="{FF2B5EF4-FFF2-40B4-BE49-F238E27FC236}">
                <a16:creationId xmlns:a16="http://schemas.microsoft.com/office/drawing/2014/main" id="{E3702FAF-A482-4559-87CA-D94EFC06C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57500"/>
            <a:ext cx="8096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你最可能缺哪一项门条件？</a:t>
            </a:r>
          </a:p>
        </p:txBody>
      </p:sp>
      <p:sp>
        <p:nvSpPr>
          <p:cNvPr id="15" name="p20-q1">
            <a:extLst xmlns:a="http://schemas.openxmlformats.org/drawingml/2006/main">
              <a:ext uri="{FF2B5EF4-FFF2-40B4-BE49-F238E27FC236}">
                <a16:creationId xmlns:a16="http://schemas.microsoft.com/office/drawing/2014/main" id="{0399EC5A-6DEF-444D-8DA1-CE9B1C1D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638550"/>
            <a:ext cx="8096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选题理由能否用四维比较说清？</a:t>
            </a:r>
          </a:p>
        </p:txBody>
      </p:sp>
      <p:sp>
        <p:nvSpPr>
          <p:cNvPr id="16" name="p20-q2">
            <a:extLst xmlns:a="http://schemas.openxmlformats.org/drawingml/2006/main">
              <a:ext uri="{FF2B5EF4-FFF2-40B4-BE49-F238E27FC236}">
                <a16:creationId xmlns:a16="http://schemas.microsoft.com/office/drawing/2014/main" id="{B09F799F-BA1D-4CE0-AF88-C0E87DA2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19600"/>
            <a:ext cx="8096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哪条待验证前提将进入机制假设？</a:t>
            </a:r>
          </a:p>
        </p:txBody>
      </p:sp>
      <p:sp>
        <p:nvSpPr>
          <p:cNvPr id="17" name="p20-bottom">
            <a:extLst xmlns:a="http://schemas.openxmlformats.org/drawingml/2006/main">
              <a:ext uri="{FF2B5EF4-FFF2-40B4-BE49-F238E27FC236}">
                <a16:creationId xmlns:a16="http://schemas.microsoft.com/office/drawing/2014/main" id="{8550A8DC-BB6F-455F-BE89-02F80E71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816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保存当前项目版本；第 7 课从待验证前提出发，不跳过问题门直接做实验。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2026-08-20T15:05:21.1830000Z</dcterms:created>
  <dcterms:modified xsi:type="dcterms:W3CDTF">2026-08-20T15:05:21.1830000Z</dcterms:modified>
</coreProperties>
</file>