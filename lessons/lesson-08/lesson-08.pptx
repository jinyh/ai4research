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32c3d514f14cca" /><Relationship Type="http://schemas.openxmlformats.org/officeDocument/2006/relationships/extended-properties" Target="/docProps/app.xml" Id="R97947f7e5a3e4aba" /><Relationship Type="http://schemas.openxmlformats.org/officeDocument/2006/relationships/officeDocument" Target="/ppt/presentation.xml" Id="Rdcc62dc62f234c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73566cd5e542df"/>
  </p:sldMasterIdLst>
  <p:notesMasterIdLst>
    <p:notesMasterId xmlns:r="http://schemas.openxmlformats.org/officeDocument/2006/relationships" r:id="R9cf92a57e821417d"/>
  </p:notesMasterIdLst>
  <p:sldIdLst>
    <p:sldId xmlns:r="http://schemas.openxmlformats.org/officeDocument/2006/relationships" id="256" r:id="Rded756f138bb4efd"/>
    <p:sldId xmlns:r="http://schemas.openxmlformats.org/officeDocument/2006/relationships" id="257" r:id="Re67a8ee2b4e84683"/>
    <p:sldId xmlns:r="http://schemas.openxmlformats.org/officeDocument/2006/relationships" id="258" r:id="Rc8284ee455294038"/>
    <p:sldId xmlns:r="http://schemas.openxmlformats.org/officeDocument/2006/relationships" id="259" r:id="R10fcd6604d0e4d9f"/>
    <p:sldId xmlns:r="http://schemas.openxmlformats.org/officeDocument/2006/relationships" id="260" r:id="Racaa492a50b84de8"/>
    <p:sldId xmlns:r="http://schemas.openxmlformats.org/officeDocument/2006/relationships" id="261" r:id="R7db762c9085d4be2"/>
    <p:sldId xmlns:r="http://schemas.openxmlformats.org/officeDocument/2006/relationships" id="262" r:id="Rf1f54520c13e44dd"/>
    <p:sldId xmlns:r="http://schemas.openxmlformats.org/officeDocument/2006/relationships" id="263" r:id="Re44871c56ec64a26"/>
    <p:sldId xmlns:r="http://schemas.openxmlformats.org/officeDocument/2006/relationships" id="264" r:id="R4277d420941447ff"/>
    <p:sldId xmlns:r="http://schemas.openxmlformats.org/officeDocument/2006/relationships" id="265" r:id="Rd540743bf7484e86"/>
    <p:sldId xmlns:r="http://schemas.openxmlformats.org/officeDocument/2006/relationships" id="266" r:id="Rc1f74b485e714a5d"/>
    <p:sldId xmlns:r="http://schemas.openxmlformats.org/officeDocument/2006/relationships" id="267" r:id="Rb9cce60a900a4e78"/>
    <p:sldId xmlns:r="http://schemas.openxmlformats.org/officeDocument/2006/relationships" id="268" r:id="R2a84817469e44501"/>
    <p:sldId xmlns:r="http://schemas.openxmlformats.org/officeDocument/2006/relationships" id="269" r:id="R6e7d8dc496604dbb"/>
    <p:sldId xmlns:r="http://schemas.openxmlformats.org/officeDocument/2006/relationships" id="270" r:id="R922b553689274f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3caeeb64f94a8f" /><Relationship Type="http://schemas.openxmlformats.org/officeDocument/2006/relationships/slideMaster" Target="/ppt/slideMasters/slideMaster1.xml" Id="Re673566cd5e542df" /><Relationship Type="http://schemas.openxmlformats.org/officeDocument/2006/relationships/notesMaster" Target="/ppt/notesMasters/notesMaster1.xml" Id="R9cf92a57e821417d" /><Relationship Type="http://schemas.openxmlformats.org/officeDocument/2006/relationships/presProps" Target="/ppt/presProps.xml" Id="Rb092219f37cc4e3e" /><Relationship Type="http://schemas.openxmlformats.org/officeDocument/2006/relationships/viewProps" Target="/ppt/viewProps.xml" Id="R2193a4d62b594b43" /><Relationship Type="http://schemas.openxmlformats.org/officeDocument/2006/relationships/tableStyles" Target="/ppt/tableStyles.xml" Id="R713adb5438e145ca" /><Relationship Type="http://schemas.openxmlformats.org/officeDocument/2006/relationships/slide" Target="/ppt/slides/slide1.xml" Id="Rded756f138bb4efd" /><Relationship Type="http://schemas.openxmlformats.org/officeDocument/2006/relationships/slide" Target="/ppt/slides/slide2.xml" Id="Re67a8ee2b4e84683" /><Relationship Type="http://schemas.openxmlformats.org/officeDocument/2006/relationships/slide" Target="/ppt/slides/slide3.xml" Id="Rc8284ee455294038" /><Relationship Type="http://schemas.openxmlformats.org/officeDocument/2006/relationships/slide" Target="/ppt/slides/slide4.xml" Id="R10fcd6604d0e4d9f" /><Relationship Type="http://schemas.openxmlformats.org/officeDocument/2006/relationships/slide" Target="/ppt/slides/slide5.xml" Id="Racaa492a50b84de8" /><Relationship Type="http://schemas.openxmlformats.org/officeDocument/2006/relationships/slide" Target="/ppt/slides/slide6.xml" Id="R7db762c9085d4be2" /><Relationship Type="http://schemas.openxmlformats.org/officeDocument/2006/relationships/slide" Target="/ppt/slides/slide7.xml" Id="Rf1f54520c13e44dd" /><Relationship Type="http://schemas.openxmlformats.org/officeDocument/2006/relationships/slide" Target="/ppt/slides/slide8.xml" Id="Re44871c56ec64a26" /><Relationship Type="http://schemas.openxmlformats.org/officeDocument/2006/relationships/slide" Target="/ppt/slides/slide9.xml" Id="R4277d420941447ff" /><Relationship Type="http://schemas.openxmlformats.org/officeDocument/2006/relationships/slide" Target="/ppt/slides/slide10.xml" Id="Rd540743bf7484e86" /><Relationship Type="http://schemas.openxmlformats.org/officeDocument/2006/relationships/slide" Target="/ppt/slides/slide11.xml" Id="Rc1f74b485e714a5d" /><Relationship Type="http://schemas.openxmlformats.org/officeDocument/2006/relationships/slide" Target="/ppt/slides/slide12.xml" Id="Rb9cce60a900a4e78" /><Relationship Type="http://schemas.openxmlformats.org/officeDocument/2006/relationships/slide" Target="/ppt/slides/slide13.xml" Id="R2a84817469e44501" /><Relationship Type="http://schemas.openxmlformats.org/officeDocument/2006/relationships/slide" Target="/ppt/slides/slide14.xml" Id="R6e7d8dc496604dbb" /><Relationship Type="http://schemas.openxmlformats.org/officeDocument/2006/relationships/slide" Target="/ppt/slides/slide15.xml" Id="R922b553689274f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bf1fc6717d43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0367c5a2224e22" /><Relationship Type="http://schemas.openxmlformats.org/officeDocument/2006/relationships/notesMaster" Target="/ppt/notesMasters/notesMaster1.xml" Id="R353ee77510d542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1f09abc2ae4f4c" /><Relationship Type="http://schemas.openxmlformats.org/officeDocument/2006/relationships/notesMaster" Target="/ppt/notesMasters/notesMaster1.xml" Id="R63b85fbef0524f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781a5f12e744b7" /><Relationship Type="http://schemas.openxmlformats.org/officeDocument/2006/relationships/notesMaster" Target="/ppt/notesMasters/notesMaster1.xml" Id="R98680688a3004d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3d230542d74899" /><Relationship Type="http://schemas.openxmlformats.org/officeDocument/2006/relationships/notesMaster" Target="/ppt/notesMasters/notesMaster1.xml" Id="R19f4e662af4841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3d102007274b97" /><Relationship Type="http://schemas.openxmlformats.org/officeDocument/2006/relationships/notesMaster" Target="/ppt/notesMasters/notesMaster1.xml" Id="R9476152233504a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23d7c8f8224e0b" /><Relationship Type="http://schemas.openxmlformats.org/officeDocument/2006/relationships/notesMaster" Target="/ppt/notesMasters/notesMaster1.xml" Id="R91424d3ff33e41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898bbad0e9438b" /><Relationship Type="http://schemas.openxmlformats.org/officeDocument/2006/relationships/notesMaster" Target="/ppt/notesMasters/notesMaster1.xml" Id="Rff4b159bc9ef48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8f3370dd674cd4" /><Relationship Type="http://schemas.openxmlformats.org/officeDocument/2006/relationships/notesMaster" Target="/ppt/notesMasters/notesMaster1.xml" Id="Rfa8119cc347843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c323aca05a4a4f" /><Relationship Type="http://schemas.openxmlformats.org/officeDocument/2006/relationships/notesMaster" Target="/ppt/notesMasters/notesMaster1.xml" Id="Rb94611fd802a4c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16a81e493b4130" /><Relationship Type="http://schemas.openxmlformats.org/officeDocument/2006/relationships/notesMaster" Target="/ppt/notesMasters/notesMaster1.xml" Id="Re88075dd9b0545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a5b1dd2fc44c46" /><Relationship Type="http://schemas.openxmlformats.org/officeDocument/2006/relationships/notesMaster" Target="/ppt/notesMasters/notesMaster1.xml" Id="Rf94e7170a23c42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c288a31f10407d" /><Relationship Type="http://schemas.openxmlformats.org/officeDocument/2006/relationships/notesMaster" Target="/ppt/notesMasters/notesMaster1.xml" Id="R87db2444c14b43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e3a307861e84498" /><Relationship Type="http://schemas.openxmlformats.org/officeDocument/2006/relationships/notesMaster" Target="/ppt/notesMasters/notesMaster1.xml" Id="Rc77444b7e1784a2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cf81c2c218b4854" /><Relationship Type="http://schemas.openxmlformats.org/officeDocument/2006/relationships/notesMaster" Target="/ppt/notesMasters/notesMaster1.xml" Id="Rda358b0b9a244d9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290044dbd4c457d" /><Relationship Type="http://schemas.openxmlformats.org/officeDocument/2006/relationships/notesMaster" Target="/ppt/notesMasters/notesMaster1.xml" Id="Rd441dab33aaa4f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页面：P01 第8讲 学生研究方案分享与设计诊所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开场放下第 7 课的成果。第 7 课建立了机制假设、研究判断初版和实验规格草图，但都是内部工件。本课把这些工件暴露给同伴质询，让范围、证据、baseline、停止条件和替代假设区分性在反馈下显式化。本课是形成性活动，不新增正式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不展开课程行政信息，直接进入下一页回扣。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课程定位以 [syllabus.md](../../course/syllabus.md) 与 [备课规划.md](../备课规划.md) 第 8 课段为准；[assignments.md](../../course/assignments.md) "第 8 课：研究方案分享与设计诊所"段明确不正式提交。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页面：P02 质询是否改变研究决定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先独立作答，再同伴比较；以下依据只在校准时揭示。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 对当前说明成立，并要求作者定位反馈用途。A 指出范围窄但超出预算，宜先限定范围；C 对确定性回放的要求不匹配，可澄清输入版本和散列。也可接受 A 的范围提醒而拒绝扩大规模的处方。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先独立写决定和证据，后同伴比较；校准后再回写。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回扣第 7 课讲义与 [assignments.md](../../course/assignments.md) 第 9 课判断门条件。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页面：P03 本课跑通陈述—反馈—决策—预检链路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明确边界：本课建立可复盘的"陈述—反馈—决策—预检"链路，不是完成研究提案。采纳决策当场写，不课后补。本课产出在第 9 课判断门作为"第 8 课同伴反馈处理记录"和"至少 2 条研究判断"两项材料被检查。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[备课规划.md](../备课规划.md) 第 8 课目标段；[assignments.md](../../course/assignments.md) "第 8 课"段与 Checkpoint 2 判断门条件。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页面：P04 限时陈述要暴露一个可被质询的最小方案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用贯穿案例展示从第 7 课输出到陈述稿的压缩。第 3 段含中间过程（生成时显式列出限定条件 → 输出保留更多条件），不是"会降低"。第 5 段风险具体指向 A2（标注假象），不是泛泛的"可能失败"。常见错误：第 1 段写成主题词复述，第 3 段写成结果预测——这两类让同伴无法检查边界和可检验性。完整贯穿案例五段在 P10 教师演示展开。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让学生用自己的方案填第 1 段和第 3 段各一句；再对照指出第 5 段最大风险应该写什么。只听一个例子，不展开评价。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§二 3 分钟陈述结构、§七 贯穿案例；Booth et al. *The Craft of Research* 5th ed. 5.5 与 10.2（[reading-list.md](../../course/reading-list.md) 第 8 课）；Peyton Jones "Writing a Great Research Proposal"（教学讲义，不作学术证据）。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页面：P05 同伴先做四维诊断，再检查实验能否改变判断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rubric 先检查问题重要性、证据充分性、可检验性和课程周期可行性四个诊断维度，再检查下一步实验是否能改变研究判断。同伴不给分数、不排名，只指出"看到了什么"和"缺了什么"。适用范围和非例仍在陈述与采纳决策中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学生做 90 秒前置短写入：写下自己方案当前最弱的一个 rubric 维度，并用一句话说明理由。保存到分享页备忘或纸面上，后面与同伴反馈对照。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§三·1 与 §六·1；[assignments.md](../../course/assignments.md) Checkpoint 2 判断门条件。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页面：P06 三问把分散意见压缩成可行动反馈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三问强制防止反馈发散成"我觉得都挺好的"。最强处和最大风险必须落到问题重要性、证据充分性、可检验性或课程周期可行性上。"建议"必须针对"最大风险"，并能说明它如何可能改变研究判断。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让学生写一条"最大风险"，提示必须指向 rubric 维度。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§三·2。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页面：P07 设计诊所诊断方案，不评价人、不替作者决定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反馈者不是评委，是合作诊断者。陈述者先完整记录，再按真实需要选择采纳、澄清、补证、暂缓或保留异议；每条都记理由与回写位置，不要求出现“拒绝”。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确认同伴组分组与轮次；让学生判断：如果同伴只说"听起来挺好"，缺了三问中的哪几问？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§三·3、§四·1、§四·2、§四·3。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页面：P08 每条反馈都要有真实处理动作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本课要求处理至少两条真实反馈，动作可相同，不强制覆盖类别。暂缓必须写明后续触发条件，保留异议必须写明证据或约束依据。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让学生用自己的反馈草写一行决策表；想：如果同伴说"baseline 不公平"但没指明，应该归入哪类？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§五·1、§五·2；第 1 课 §2.6 与第 7 课 §三·2 研究判断六字段。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页面：P09 AI 可以整理线索，但不能替你作研究判断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AI 可以在反馈处理阶段辅助，但反馈是否成立、采纳什么、写出取舍理由，必须学生本人完成。AI 没有对方案证据、机制和约束的整体上下文。把 AI 草拟决策直接搬入研究判断主格，等于把研究判断外包给模型。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让学生说出一条 AI 可以做、一条 AI 不可以做的反馈处理动作。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§五·3；[AGENTS.md](../../AGENTS.md) 证据标准。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页面：P10 完整示范：同一问题的五段分享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依讲义§七读一次完整短讲，不再跳到benchmark迁移案例。五段围绕同一个问题；本例为教学构造，不能说已经得到真实研究证据。学生听完只定位最影响判断的一处缺口。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标记一个会改变实验设计的问题。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页面：P11 好反馈要改变一个具体设计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演示从意见定位到实验草图修改；不强迫出现接受、拒绝每一种状态。主例继续用阅读卡。其他题目只用于学生自己的迁移。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两人交换一条意见，作者写处理理由及修改位置。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页面：P12 第 8 课只补两项判断门材料，其余缺口留到第 9 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本课直接产出"第 8 课同伴反馈处理记录"和"至少 2 条研究判断"两项判断门材料。其余条件第 9 课内补齐。预检让学生看到第 9 课前还要补什么。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让学生用自己的方案标出当前已满足、部分满足和未覆盖项。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§六·1；[assignments.md](../../course/assignments.md) Checkpoint 2 判断门条件——权威来源。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页面：P13 本人项目：决定、核验与回写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B 对当前说明成立，并要求作者定位反馈用途。A 指出范围窄但超出预算，宜先限定范围；C 对确定性回放的要求不匹配，可澄清输入版本和散列。也可接受 A 的范围提醒而拒绝扩大规模的处方。 按本课专用90分钟流程进行，不套用普通课时间。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固定 3–4 人组逐人陈述、质询；每人围绕一个关键对照或薄弱证据，实际修改预测、协议或结论范围。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§八 练习 1-6；[assignments.md](../../course/assignments.md) 第 8 课段。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页面：P14 本讲知识点总结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方案诊所按命题与证据内容检查，允许主文档合并。早期试探影响问题与协议的记录应保留；反馈处理引用同一判断 ID。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回收陈述、质询、决策和行动回写，不新增正式提交。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学生说出一条已决定采纳或暂缓的反馈。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§二-§五；[assignments.md](../../course/assignments.md) 形成性反馈边界。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页面：P15 保留本课决定，准备下一课输入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补齐诊所修订，准备可执行输入与 baseline，不另做汇报文档。 每课课外最多60分钟；详见讲义。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定位实际工件与下一项动作；按既定预算收口。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§学习目标；[assignments.md](../../course/assignments.md) Checkpoint 2 与"第 8 课"段；第 9 课见 [备课规划.md](../备课规划.md) 第 9 课段。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27fa507d704778" /><Relationship Type="http://schemas.openxmlformats.org/officeDocument/2006/relationships/image" Target="/ppt/media/image.png" Id="Rcaea2a40fbf54287" /><Relationship Type="http://schemas.openxmlformats.org/officeDocument/2006/relationships/image" Target="/ppt/media/image2.png" Id="R6bded9eb95f0484d" /><Relationship Type="http://schemas.openxmlformats.org/officeDocument/2006/relationships/image" Target="/ppt/media/image3.png" Id="Rd5a3779c95bb40d1" /><Relationship Type="http://schemas.openxmlformats.org/officeDocument/2006/relationships/image" Target="/ppt/media/image4.png" Id="R681082071d3744e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cad2e7acb24f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056794985543db" /><Relationship Type="http://schemas.openxmlformats.org/officeDocument/2006/relationships/image" Target="/ppt/media/image2.png" Id="Raf11bbef3ccb4f55" /><Relationship Type="http://schemas.openxmlformats.org/officeDocument/2006/relationships/image" Target="/ppt/media/image5.png" Id="Rc925377a33be43c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11c2482f86460d" /><Relationship Type="http://schemas.openxmlformats.org/officeDocument/2006/relationships/image" Target="/ppt/media/image.png" Id="Rc4f507fadee145d5" /><Relationship Type="http://schemas.openxmlformats.org/officeDocument/2006/relationships/image" Target="/ppt/media/image3.png" Id="Rdf5bbd9764014136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ea2a40fbf54287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bded9eb95f0484d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5a3779c95bb40d1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082071d3744e3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f11bbef3ccb4f55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25377a33be43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507fadee145d5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f5bbd9764014136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34d05fe1934ec6" /><Relationship Type="http://schemas.openxmlformats.org/officeDocument/2006/relationships/slideLayout" Target="/ppt/slideLayouts/slideLayout1.xml" Id="Rdcd9b10c6281407a" /><Relationship Type="http://schemas.openxmlformats.org/officeDocument/2006/relationships/slideLayout" Target="/ppt/slideLayouts/slideLayout2.xml" Id="R94da9d26acc64021" /><Relationship Type="http://schemas.openxmlformats.org/officeDocument/2006/relationships/slideLayout" Target="/ppt/slideLayouts/slideLayout3.xml" Id="R214830c801534232" /><Relationship Type="http://schemas.openxmlformats.org/officeDocument/2006/relationships/slideLayout" Target="/ppt/slideLayouts/slideLayout4.xml" Id="R7ef5d6b06df146b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d9b10c6281407a"/>
    <p:sldLayoutId xmlns:r="http://schemas.openxmlformats.org/officeDocument/2006/relationships" id="2147483650" r:id="R94da9d26acc64021"/>
    <p:sldLayoutId xmlns:r="http://schemas.openxmlformats.org/officeDocument/2006/relationships" id="2147483651" r:id="R214830c801534232"/>
    <p:sldLayoutId xmlns:r="http://schemas.openxmlformats.org/officeDocument/2006/relationships" id="2147483652" r:id="R7ef5d6b06df146b7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23187e3974e4b" /><Relationship Type="http://schemas.openxmlformats.org/officeDocument/2006/relationships/notesSlide" Target="/ppt/notesSlides/notesSlide1.xml" Id="Rb1dc37c170e64f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ac98a7dcd864f3c" /><Relationship Type="http://schemas.openxmlformats.org/officeDocument/2006/relationships/notesSlide" Target="/ppt/notesSlides/notesSlide2.xml" Id="Rf82370f534f540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5a8f485bf504c41" /><Relationship Type="http://schemas.openxmlformats.org/officeDocument/2006/relationships/notesSlide" Target="/ppt/notesSlides/notesSlide3.xml" Id="Rfb50dc8c40c247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de8a4beb85b49d1" /><Relationship Type="http://schemas.openxmlformats.org/officeDocument/2006/relationships/notesSlide" Target="/ppt/notesSlides/notesSlide4.xml" Id="Rdeea1ecf7b0645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eb6a6fdcad84455" /><Relationship Type="http://schemas.openxmlformats.org/officeDocument/2006/relationships/notesSlide" Target="/ppt/notesSlides/notesSlide5.xml" Id="R18a7c039dc9c46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b889c721d9447ef" /><Relationship Type="http://schemas.openxmlformats.org/officeDocument/2006/relationships/notesSlide" Target="/ppt/notesSlides/notesSlide6.xml" Id="R73c131ce4d474b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84e212ff85f452e" /><Relationship Type="http://schemas.openxmlformats.org/officeDocument/2006/relationships/notesSlide" Target="/ppt/notesSlides/notesSlide7.xml" Id="R8e65dcfb7b0348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371437309ad40f4" /><Relationship Type="http://schemas.openxmlformats.org/officeDocument/2006/relationships/notesSlide" Target="/ppt/notesSlides/notesSlide8.xml" Id="R1f8aae54598649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2ea2fcbb2614f72" /><Relationship Type="http://schemas.openxmlformats.org/officeDocument/2006/relationships/notesSlide" Target="/ppt/notesSlides/notesSlide9.xml" Id="Ref1a9eeb5df245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0d057099430459c" /><Relationship Type="http://schemas.openxmlformats.org/officeDocument/2006/relationships/notesSlide" Target="/ppt/notesSlides/notesSlide10.xml" Id="Rf39d499ab8d749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3e828544e1f4332" /><Relationship Type="http://schemas.openxmlformats.org/officeDocument/2006/relationships/notesSlide" Target="/ppt/notesSlides/notesSlide11.xml" Id="R6d60ae053b7a45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73749dd80224dab" /><Relationship Type="http://schemas.openxmlformats.org/officeDocument/2006/relationships/notesSlide" Target="/ppt/notesSlides/notesSlide12.xml" Id="R8352959066894db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816db2572da4e59" /><Relationship Type="http://schemas.openxmlformats.org/officeDocument/2006/relationships/notesSlide" Target="/ppt/notesSlides/notesSlide13.xml" Id="Rd0fc3b00e746417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aea7d9bc8ab4595" /><Relationship Type="http://schemas.openxmlformats.org/officeDocument/2006/relationships/notesSlide" Target="/ppt/notesSlides/notesSlide14.xml" Id="R535ca9701e9a4d6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e1fdc73b3ad41b1" /><Relationship Type="http://schemas.openxmlformats.org/officeDocument/2006/relationships/notesSlide" Target="/ppt/notesSlides/notesSlide15.xml" Id="R7bb4f95909814fb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FD41E72-3208-4C72-AFAB-E349A672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99060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第8讲  学生研究方案分享与设计诊所</a:t>
            </a: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5A51155B-D3DF-4A74-AEF0-4E2640E5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质询是否改变研究决定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CCC55493-83E8-41A6-BD8C-F8C766CC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方案：公开 gold 已参与选择；最终仍用相同 gold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B66F14A4-1F9B-45C4-B6FE-917BDDD7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A｜样本扩大到一千篇</a:t>
            </a:r>
          </a:p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B｜说明哪些判断已看过 gold，修订评价与范围</a:t>
            </a:r>
          </a:p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C｜固定输出回放必须设置随机种子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ECC3A4C4-BFCA-4A7B-9E0D-7E3E68C6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逐条判断事实依据与最小改动；接受、澄清或保留异议都要有理由。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BE2AF80C-4B4E-47B8-8E23-E6260810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F15F5A3F-4D91-4D04-AAD6-EC97E8F5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本课跑通陈述—反馈—决策—预检链路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6" name="clinic-0-bg">
            <a:extLst xmlns:a="http://schemas.openxmlformats.org/drawingml/2006/main">
              <a:ext uri="{FF2B5EF4-FFF2-40B4-BE49-F238E27FC236}">
                <a16:creationId xmlns:a16="http://schemas.microsoft.com/office/drawing/2014/main" id="{17B647AB-F842-4506-BC9C-CD58D705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7" name="clinic-0">
            <a:extLst xmlns:a="http://schemas.openxmlformats.org/drawingml/2006/main">
              <a:ext uri="{FF2B5EF4-FFF2-40B4-BE49-F238E27FC236}">
                <a16:creationId xmlns:a16="http://schemas.microsoft.com/office/drawing/2014/main" id="{A7049642-1CF0-47A7-9B8C-501AF71C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限时陈述</a:t>
            </a:r>
          </a:p>
        </p:txBody>
      </p:sp>
      <p:sp>
        <p:nvSpPr>
          <p:cNvPr id="8" name="clinic-a0">
            <a:extLst xmlns:a="http://schemas.openxmlformats.org/drawingml/2006/main">
              <a:ext uri="{FF2B5EF4-FFF2-40B4-BE49-F238E27FC236}">
                <a16:creationId xmlns:a16="http://schemas.microsoft.com/office/drawing/2014/main" id="{EC68132F-1573-48F5-8775-BD44EED3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962150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" name="clinic-1-bg">
            <a:extLst xmlns:a="http://schemas.openxmlformats.org/drawingml/2006/main">
              <a:ext uri="{FF2B5EF4-FFF2-40B4-BE49-F238E27FC236}">
                <a16:creationId xmlns:a16="http://schemas.microsoft.com/office/drawing/2014/main" id="{6DE885F7-2813-4DE5-A3BF-09612E50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666875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0" name="clinic-1">
            <a:extLst xmlns:a="http://schemas.openxmlformats.org/drawingml/2006/main">
              <a:ext uri="{FF2B5EF4-FFF2-40B4-BE49-F238E27FC236}">
                <a16:creationId xmlns:a16="http://schemas.microsoft.com/office/drawing/2014/main" id="{AC8A9E8E-3A36-492D-928B-A0203235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762125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结构反馈</a:t>
            </a:r>
          </a:p>
        </p:txBody>
      </p:sp>
      <p:sp>
        <p:nvSpPr>
          <p:cNvPr id="11" name="clinic-a1">
            <a:extLst xmlns:a="http://schemas.openxmlformats.org/drawingml/2006/main">
              <a:ext uri="{FF2B5EF4-FFF2-40B4-BE49-F238E27FC236}">
                <a16:creationId xmlns:a16="http://schemas.microsoft.com/office/drawing/2014/main" id="{C4D40D4F-BCD9-4B1C-8F1D-822C80D1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62150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" name="clinic-2-bg">
            <a:extLst xmlns:a="http://schemas.openxmlformats.org/drawingml/2006/main">
              <a:ext uri="{FF2B5EF4-FFF2-40B4-BE49-F238E27FC236}">
                <a16:creationId xmlns:a16="http://schemas.microsoft.com/office/drawing/2014/main" id="{CD82765F-5FBF-4A25-AE60-AB08E868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3" name="clinic-2">
            <a:extLst xmlns:a="http://schemas.openxmlformats.org/drawingml/2006/main">
              <a:ext uri="{FF2B5EF4-FFF2-40B4-BE49-F238E27FC236}">
                <a16:creationId xmlns:a16="http://schemas.microsoft.com/office/drawing/2014/main" id="{118B4638-4715-410A-897E-4D8AAE62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62125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作者处理</a:t>
            </a:r>
          </a:p>
        </p:txBody>
      </p:sp>
      <p:sp>
        <p:nvSpPr>
          <p:cNvPr id="14" name="clinic-a2">
            <a:extLst xmlns:a="http://schemas.openxmlformats.org/drawingml/2006/main">
              <a:ext uri="{FF2B5EF4-FFF2-40B4-BE49-F238E27FC236}">
                <a16:creationId xmlns:a16="http://schemas.microsoft.com/office/drawing/2014/main" id="{27C7C862-D6E9-43D1-B014-0B95FEC3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962150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5" name="clinic-3-bg">
            <a:extLst xmlns:a="http://schemas.openxmlformats.org/drawingml/2006/main">
              <a:ext uri="{FF2B5EF4-FFF2-40B4-BE49-F238E27FC236}">
                <a16:creationId xmlns:a16="http://schemas.microsoft.com/office/drawing/2014/main" id="{3F65FA44-36A5-4FCA-99A7-4E0EB28F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666875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6" name="clinic-3">
            <a:extLst xmlns:a="http://schemas.openxmlformats.org/drawingml/2006/main">
              <a:ext uri="{FF2B5EF4-FFF2-40B4-BE49-F238E27FC236}">
                <a16:creationId xmlns:a16="http://schemas.microsoft.com/office/drawing/2014/main" id="{F8AA8F55-9F2E-473E-A803-01542B72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762125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判断门预检</a:t>
            </a:r>
          </a:p>
        </p:txBody>
      </p:sp>
      <p:sp>
        <p:nvSpPr>
          <p:cNvPr id="17" name="minimum">
            <a:extLst xmlns:a="http://schemas.openxmlformats.org/drawingml/2006/main">
              <a:ext uri="{FF2B5EF4-FFF2-40B4-BE49-F238E27FC236}">
                <a16:creationId xmlns:a16="http://schemas.microsoft.com/office/drawing/2014/main" id="{3F06A52F-A2A7-490E-82FE-D71E25EC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每人：陈述 1 次  +  反馈至少 2 条  +  处理至少 2 条  +  现场修订 1 处</a:t>
            </a:r>
          </a:p>
        </p:txBody>
      </p:sp>
      <p:sp>
        <p:nvSpPr>
          <p:cNvPr id="18" name="handoff">
            <a:extLst xmlns:a="http://schemas.openxmlformats.org/drawingml/2006/main">
              <a:ext uri="{FF2B5EF4-FFF2-40B4-BE49-F238E27FC236}">
                <a16:creationId xmlns:a16="http://schemas.microsoft.com/office/drawing/2014/main" id="{6D60DE57-1119-4DE0-98FC-DD7618CB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67250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形成性诊所，不新增正式提交；产出直接进入第 9 课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限时陈述要暴露一个可被质询的最小方案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graphicFrame>
        <p:nvGraphicFramePr>
          <p:cNvPr id="10" name="native-table-220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8191500"/>
              </a:tblGrid>
              <a:tr h="542925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分享段落</a:t>
                      </a:r>
                    </a:p>
                  </a:txBody>
                  <a:tcPr marL="123825" marR="123825" marT="85725" marB="85725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要说清什么</a:t>
                      </a:r>
                    </a:p>
                  </a:txBody>
                  <a:tcPr marL="123825" marR="123825" marT="85725" marB="85725" anchor="ctr">
                    <a:solidFill>
                      <a:srgbClr val="F4F6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研究问题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范围、非例、可证伪命题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关键证据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直接测量了什么，边界在哪里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机制假设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H1 生成保留与 A2 评分提示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最小验证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什么观察能区分两种解释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最大风险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当前最可能卡住判断的一项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ontent-221">
            <a:extLst xmlns:a="http://schemas.openxmlformats.org/drawingml/2006/main">
              <a:ext uri="{FF2B5EF4-FFF2-40B4-BE49-F238E27FC236}">
                <a16:creationId xmlns:a16="http://schemas.microsoft.com/office/drawing/2014/main" id="{4761A74B-3515-4539-88C8-D6E432A2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97280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阅读卡案例：质量代价与材料范围另查。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同伴先做四维诊断，再检查实验能否改变判断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6" name="center">
            <a:extLst xmlns:a="http://schemas.openxmlformats.org/drawingml/2006/main">
              <a:ext uri="{FF2B5EF4-FFF2-40B4-BE49-F238E27FC236}">
                <a16:creationId xmlns:a16="http://schemas.microsoft.com/office/drawing/2014/main" id="{2D87A6A6-F771-4808-BE22-CDF7DBE7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81250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下一步实验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会改变研究判断吗？</a:t>
            </a:r>
          </a:p>
        </p:txBody>
      </p:sp>
      <p:sp>
        <p:nvSpPr>
          <p:cNvPr id="7" name="d-h0">
            <a:extLst xmlns:a="http://schemas.openxmlformats.org/drawingml/2006/main">
              <a:ext uri="{FF2B5EF4-FFF2-40B4-BE49-F238E27FC236}">
                <a16:creationId xmlns:a16="http://schemas.microsoft.com/office/drawing/2014/main" id="{24F0E0F7-ADE5-4143-A09F-B1C54D5D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问题重要性</a:t>
            </a:r>
          </a:p>
        </p:txBody>
      </p:sp>
      <p:sp>
        <p:nvSpPr>
          <p:cNvPr id="8" name="d-v0">
            <a:extLst xmlns:a="http://schemas.openxmlformats.org/drawingml/2006/main">
              <a:ext uri="{FF2B5EF4-FFF2-40B4-BE49-F238E27FC236}">
                <a16:creationId xmlns:a16="http://schemas.microsoft.com/office/drawing/2014/main" id="{08530AA6-A312-4EEF-84B2-2CC4DABC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改变什么行动</a:t>
            </a:r>
          </a:p>
        </p:txBody>
      </p:sp>
      <p:sp>
        <p:nvSpPr>
          <p:cNvPr id="9" name="d-h1">
            <a:extLst xmlns:a="http://schemas.openxmlformats.org/drawingml/2006/main">
              <a:ext uri="{FF2B5EF4-FFF2-40B4-BE49-F238E27FC236}">
                <a16:creationId xmlns:a16="http://schemas.microsoft.com/office/drawing/2014/main" id="{CD490C57-EB72-4991-BE6E-A01F5ED1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证据充分性</a:t>
            </a:r>
          </a:p>
        </p:txBody>
      </p:sp>
      <p:sp>
        <p:nvSpPr>
          <p:cNvPr id="10" name="d-v1">
            <a:extLst xmlns:a="http://schemas.openxmlformats.org/drawingml/2006/main">
              <a:ext uri="{FF2B5EF4-FFF2-40B4-BE49-F238E27FC236}">
                <a16:creationId xmlns:a16="http://schemas.microsoft.com/office/drawing/2014/main" id="{F637ED4E-1E6B-41C4-A987-98CA1236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强度、冲突、缺口</a:t>
            </a:r>
          </a:p>
        </p:txBody>
      </p:sp>
      <p:sp>
        <p:nvSpPr>
          <p:cNvPr id="11" name="d-h2">
            <a:extLst xmlns:a="http://schemas.openxmlformats.org/drawingml/2006/main">
              <a:ext uri="{FF2B5EF4-FFF2-40B4-BE49-F238E27FC236}">
                <a16:creationId xmlns:a16="http://schemas.microsoft.com/office/drawing/2014/main" id="{21059D9E-69E1-4C22-9794-DBE1F793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可检验性</a:t>
            </a:r>
          </a:p>
        </p:txBody>
      </p:sp>
      <p:sp>
        <p:nvSpPr>
          <p:cNvPr id="12" name="d-v2">
            <a:extLst xmlns:a="http://schemas.openxmlformats.org/drawingml/2006/main">
              <a:ext uri="{FF2B5EF4-FFF2-40B4-BE49-F238E27FC236}">
                <a16:creationId xmlns:a16="http://schemas.microsoft.com/office/drawing/2014/main" id="{368C4CA4-05CE-4159-8BF8-349B68B0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859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能推翻、可区分</a:t>
            </a:r>
          </a:p>
        </p:txBody>
      </p:sp>
      <p:sp>
        <p:nvSpPr>
          <p:cNvPr id="13" name="d-h3">
            <a:extLst xmlns:a="http://schemas.openxmlformats.org/drawingml/2006/main">
              <a:ext uri="{FF2B5EF4-FFF2-40B4-BE49-F238E27FC236}">
                <a16:creationId xmlns:a16="http://schemas.microsoft.com/office/drawing/2014/main" id="{561754BD-BE06-4266-AB0C-C6070212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周期可行性</a:t>
            </a:r>
          </a:p>
        </p:txBody>
      </p:sp>
      <p:sp>
        <p:nvSpPr>
          <p:cNvPr id="14" name="d-v3">
            <a:extLst xmlns:a="http://schemas.openxmlformats.org/drawingml/2006/main">
              <a:ext uri="{FF2B5EF4-FFF2-40B4-BE49-F238E27FC236}">
                <a16:creationId xmlns:a16="http://schemas.microsoft.com/office/drawing/2014/main" id="{54131E84-A04D-4AB4-A236-AA2A226A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577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baseline 公平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周期内能完成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三问把分散意见压缩成可行动反馈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6" name="threeq-shade0">
            <a:extLst xmlns:a="http://schemas.openxmlformats.org/drawingml/2006/main">
              <a:ext uri="{FF2B5EF4-FFF2-40B4-BE49-F238E27FC236}">
                <a16:creationId xmlns:a16="http://schemas.microsoft.com/office/drawing/2014/main" id="{2FAF0D1D-11A7-4831-A1C0-1843CBF4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71625"/>
            <a:ext cx="9715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7" name="threeq-l0">
            <a:extLst xmlns:a="http://schemas.openxmlformats.org/drawingml/2006/main">
              <a:ext uri="{FF2B5EF4-FFF2-40B4-BE49-F238E27FC236}">
                <a16:creationId xmlns:a16="http://schemas.microsoft.com/office/drawing/2014/main" id="{A63F6BE1-4724-4E5F-97F4-5411C3C1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47825"/>
            <a:ext cx="2762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01  最强处</a:t>
            </a:r>
          </a:p>
        </p:txBody>
      </p:sp>
      <p:sp>
        <p:nvSpPr>
          <p:cNvPr id="8" name="threeq-v0">
            <a:extLst xmlns:a="http://schemas.openxmlformats.org/drawingml/2006/main">
              <a:ext uri="{FF2B5EF4-FFF2-40B4-BE49-F238E27FC236}">
                <a16:creationId xmlns:a16="http://schemas.microsoft.com/office/drawing/2014/main" id="{5AC98CBC-33E4-4F9A-8C71-B3AE46FE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47825"/>
            <a:ext cx="666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当前最扎实的诊断维度</a:t>
            </a:r>
          </a:p>
        </p:txBody>
      </p:sp>
      <p:sp>
        <p:nvSpPr>
          <p:cNvPr id="9" name="threeq-r0">
            <a:extLst xmlns:a="http://schemas.openxmlformats.org/drawingml/2006/main">
              <a:ext uri="{FF2B5EF4-FFF2-40B4-BE49-F238E27FC236}">
                <a16:creationId xmlns:a16="http://schemas.microsoft.com/office/drawing/2014/main" id="{697A2CAF-9D46-451C-B413-CF3E8CBF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67000"/>
            <a:ext cx="9715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0" name="threeq-l1">
            <a:extLst xmlns:a="http://schemas.openxmlformats.org/drawingml/2006/main">
              <a:ext uri="{FF2B5EF4-FFF2-40B4-BE49-F238E27FC236}">
                <a16:creationId xmlns:a16="http://schemas.microsoft.com/office/drawing/2014/main" id="{A7DDCCF8-59BA-4F81-8E41-DD2CB53B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43200"/>
            <a:ext cx="2762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02  最大风险</a:t>
            </a:r>
          </a:p>
        </p:txBody>
      </p:sp>
      <p:sp>
        <p:nvSpPr>
          <p:cNvPr id="11" name="threeq-v1">
            <a:extLst xmlns:a="http://schemas.openxmlformats.org/drawingml/2006/main">
              <a:ext uri="{FF2B5EF4-FFF2-40B4-BE49-F238E27FC236}">
                <a16:creationId xmlns:a16="http://schemas.microsoft.com/office/drawing/2014/main" id="{7F483D1F-0F40-4CE0-845A-72FE323F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43200"/>
            <a:ext cx="666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当前最可能不通过门的一点</a:t>
            </a:r>
          </a:p>
        </p:txBody>
      </p:sp>
      <p:sp>
        <p:nvSpPr>
          <p:cNvPr id="12" name="threeq-r1">
            <a:extLst xmlns:a="http://schemas.openxmlformats.org/drawingml/2006/main">
              <a:ext uri="{FF2B5EF4-FFF2-40B4-BE49-F238E27FC236}">
                <a16:creationId xmlns:a16="http://schemas.microsoft.com/office/drawing/2014/main" id="{BE0110CA-6F53-4ADC-A016-228CE57B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62375"/>
            <a:ext cx="9715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3" name="threeq-shade2">
            <a:extLst xmlns:a="http://schemas.openxmlformats.org/drawingml/2006/main">
              <a:ext uri="{FF2B5EF4-FFF2-40B4-BE49-F238E27FC236}">
                <a16:creationId xmlns:a16="http://schemas.microsoft.com/office/drawing/2014/main" id="{66A44E0F-007E-4DE0-B99B-309FB218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62375"/>
            <a:ext cx="9715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4" name="threeq-l2">
            <a:extLst xmlns:a="http://schemas.openxmlformats.org/drawingml/2006/main">
              <a:ext uri="{FF2B5EF4-FFF2-40B4-BE49-F238E27FC236}">
                <a16:creationId xmlns:a16="http://schemas.microsoft.com/office/drawing/2014/main" id="{222C5212-D68D-4220-B875-79CC0087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38575"/>
            <a:ext cx="2762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03  可执行建议</a:t>
            </a:r>
          </a:p>
        </p:txBody>
      </p:sp>
      <p:sp>
        <p:nvSpPr>
          <p:cNvPr id="15" name="threeq-v2">
            <a:extLst xmlns:a="http://schemas.openxmlformats.org/drawingml/2006/main">
              <a:ext uri="{FF2B5EF4-FFF2-40B4-BE49-F238E27FC236}">
                <a16:creationId xmlns:a16="http://schemas.microsoft.com/office/drawing/2014/main" id="{E4BE6999-2646-4510-9BA4-19C9AFEA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38575"/>
            <a:ext cx="666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下周能做、会改变判断的最小改进</a:t>
            </a:r>
          </a:p>
        </p:txBody>
      </p:sp>
      <p:sp>
        <p:nvSpPr>
          <p:cNvPr id="16" name="scope">
            <a:extLst xmlns:a="http://schemas.openxmlformats.org/drawingml/2006/main">
              <a:ext uri="{FF2B5EF4-FFF2-40B4-BE49-F238E27FC236}">
                <a16:creationId xmlns:a16="http://schemas.microsoft.com/office/drawing/2014/main" id="{66B02262-31C8-4427-BEB6-2E1B5535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95875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评价方案证据，不评价题目时髦度或陈述流畅度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设计诊所诊断方案，不评价人、不替作者决定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6" name="fb">
            <a:extLst xmlns:a="http://schemas.openxmlformats.org/drawingml/2006/main">
              <a:ext uri="{FF2B5EF4-FFF2-40B4-BE49-F238E27FC236}">
                <a16:creationId xmlns:a16="http://schemas.microsoft.com/office/drawing/2014/main" id="{E33122A0-DDE2-428E-AFFC-AD59570E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反馈者</a:t>
            </a:r>
          </a:p>
        </p:txBody>
      </p:sp>
      <p:sp>
        <p:nvSpPr>
          <p:cNvPr id="7" name="fb-list-0">
            <a:extLst xmlns:a="http://schemas.openxmlformats.org/drawingml/2006/main">
              <a:ext uri="{FF2B5EF4-FFF2-40B4-BE49-F238E27FC236}">
                <a16:creationId xmlns:a16="http://schemas.microsoft.com/office/drawing/2014/main" id="{EE627371-7143-4138-9F33-616FB103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指向方案，不指向人</a:t>
            </a:r>
          </a:p>
        </p:txBody>
      </p:sp>
      <p:sp>
        <p:nvSpPr>
          <p:cNvPr id="8" name="fb-list-1">
            <a:extLst xmlns:a="http://schemas.openxmlformats.org/drawingml/2006/main">
              <a:ext uri="{FF2B5EF4-FFF2-40B4-BE49-F238E27FC236}">
                <a16:creationId xmlns:a16="http://schemas.microsoft.com/office/drawing/2014/main" id="{5728C6BD-9B72-4275-8888-15C90495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引用陈述中的具体内容</a:t>
            </a:r>
          </a:p>
        </p:txBody>
      </p:sp>
      <p:sp>
        <p:nvSpPr>
          <p:cNvPr id="9" name="fb-list-2">
            <a:extLst xmlns:a="http://schemas.openxmlformats.org/drawingml/2006/main">
              <a:ext uri="{FF2B5EF4-FFF2-40B4-BE49-F238E27FC236}">
                <a16:creationId xmlns:a16="http://schemas.microsoft.com/office/drawing/2014/main" id="{2952FC00-0193-4BD4-839B-CA79519C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分开“缺陷”与“我会怎么改”</a:t>
            </a:r>
          </a:p>
        </p:txBody>
      </p:sp>
      <p:sp>
        <p:nvSpPr>
          <p:cNvPr id="10" name="fb-list-3">
            <a:extLst xmlns:a="http://schemas.openxmlformats.org/drawingml/2006/main">
              <a:ext uri="{FF2B5EF4-FFF2-40B4-BE49-F238E27FC236}">
                <a16:creationId xmlns:a16="http://schemas.microsoft.com/office/drawing/2014/main" id="{8D1D81B3-2458-4B40-BEBD-529F1D1F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只记录，不替作者决定</a:t>
            </a:r>
          </a:p>
        </p:txBody>
      </p:sp>
      <p:sp>
        <p:nvSpPr>
          <p:cNvPr id="11" name="author">
            <a:extLst xmlns:a="http://schemas.openxmlformats.org/drawingml/2006/main">
              <a:ext uri="{FF2B5EF4-FFF2-40B4-BE49-F238E27FC236}">
                <a16:creationId xmlns:a16="http://schemas.microsoft.com/office/drawing/2014/main" id="{AC989EEA-7ECF-4E27-AAD9-053C2EAC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作者</a:t>
            </a:r>
          </a:p>
        </p:txBody>
      </p:sp>
      <p:sp>
        <p:nvSpPr>
          <p:cNvPr id="12" name="ownership-bg">
            <a:extLst xmlns:a="http://schemas.openxmlformats.org/drawingml/2006/main">
              <a:ext uri="{FF2B5EF4-FFF2-40B4-BE49-F238E27FC236}">
                <a16:creationId xmlns:a16="http://schemas.microsoft.com/office/drawing/2014/main" id="{E87AC1B8-CB5B-4558-9CD6-F2A527E9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66875"/>
            <a:ext cx="4095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13" name="ownership">
            <a:extLst xmlns:a="http://schemas.openxmlformats.org/drawingml/2006/main">
              <a:ext uri="{FF2B5EF4-FFF2-40B4-BE49-F238E27FC236}">
                <a16:creationId xmlns:a16="http://schemas.microsoft.com/office/drawing/2014/main" id="{4751C18F-7EF3-48E6-82BA-81984BEA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62125"/>
            <a:ext cx="3790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决定采用何种处理动作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写理由与回写位置</a:t>
            </a:r>
          </a:p>
        </p:txBody>
      </p:sp>
      <p:sp>
        <p:nvSpPr>
          <p:cNvPr id="14" name="round-title">
            <a:extLst xmlns:a="http://schemas.openxmlformats.org/drawingml/2006/main">
              <a:ext uri="{FF2B5EF4-FFF2-40B4-BE49-F238E27FC236}">
                <a16:creationId xmlns:a16="http://schemas.microsoft.com/office/drawing/2014/main" id="{24E07E92-E69B-46A3-8BAB-56F4FF3D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一次诊所轮次</a:t>
            </a:r>
          </a:p>
        </p:txBody>
      </p:sp>
      <p:sp>
        <p:nvSpPr>
          <p:cNvPr id="15" name="round-0-bg">
            <a:extLst xmlns:a="http://schemas.openxmlformats.org/drawingml/2006/main">
              <a:ext uri="{FF2B5EF4-FFF2-40B4-BE49-F238E27FC236}">
                <a16:creationId xmlns:a16="http://schemas.microsoft.com/office/drawing/2014/main" id="{3C98F653-CFA6-4B25-9D82-256A32F9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14750"/>
            <a:ext cx="2768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16" name="round-0">
            <a:extLst xmlns:a="http://schemas.openxmlformats.org/drawingml/2006/main">
              <a:ext uri="{FF2B5EF4-FFF2-40B4-BE49-F238E27FC236}">
                <a16:creationId xmlns:a16="http://schemas.microsoft.com/office/drawing/2014/main" id="{CB81E9F4-6920-4480-A7CB-D282CBF4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810000"/>
            <a:ext cx="2463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陈述者按五段陈述</a:t>
            </a:r>
          </a:p>
        </p:txBody>
      </p:sp>
      <p:sp>
        <p:nvSpPr>
          <p:cNvPr id="17" name="round-a0">
            <a:extLst xmlns:a="http://schemas.openxmlformats.org/drawingml/2006/main">
              <a:ext uri="{FF2B5EF4-FFF2-40B4-BE49-F238E27FC236}">
                <a16:creationId xmlns:a16="http://schemas.microsoft.com/office/drawing/2014/main" id="{446109CE-1AE2-4F09-999B-8481BA5F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100" y="4010025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8" name="round-1-bg">
            <a:extLst xmlns:a="http://schemas.openxmlformats.org/drawingml/2006/main">
              <a:ext uri="{FF2B5EF4-FFF2-40B4-BE49-F238E27FC236}">
                <a16:creationId xmlns:a16="http://schemas.microsoft.com/office/drawing/2014/main" id="{F69923D3-17EE-472F-9E6F-69C7BD9B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0" y="3714750"/>
            <a:ext cx="2768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9" name="round-1">
            <a:extLst xmlns:a="http://schemas.openxmlformats.org/drawingml/2006/main">
              <a:ext uri="{FF2B5EF4-FFF2-40B4-BE49-F238E27FC236}">
                <a16:creationId xmlns:a16="http://schemas.microsoft.com/office/drawing/2014/main" id="{6185FB41-0109-4D3D-965D-71A9C43E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100" y="3810000"/>
            <a:ext cx="2463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同伴按三问反馈</a:t>
            </a:r>
          </a:p>
        </p:txBody>
      </p:sp>
      <p:sp>
        <p:nvSpPr>
          <p:cNvPr id="20" name="round-a1">
            <a:extLst xmlns:a="http://schemas.openxmlformats.org/drawingml/2006/main">
              <a:ext uri="{FF2B5EF4-FFF2-40B4-BE49-F238E27FC236}">
                <a16:creationId xmlns:a16="http://schemas.microsoft.com/office/drawing/2014/main" id="{55FC063E-D4CF-480E-9AEC-2842B46E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4010025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round-2-bg">
            <a:extLst xmlns:a="http://schemas.openxmlformats.org/drawingml/2006/main">
              <a:ext uri="{FF2B5EF4-FFF2-40B4-BE49-F238E27FC236}">
                <a16:creationId xmlns:a16="http://schemas.microsoft.com/office/drawing/2014/main" id="{6706C2CD-E9BF-4696-AE84-BB011247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900" y="3714750"/>
            <a:ext cx="2768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22" name="round-2">
            <a:extLst xmlns:a="http://schemas.openxmlformats.org/drawingml/2006/main">
              <a:ext uri="{FF2B5EF4-FFF2-40B4-BE49-F238E27FC236}">
                <a16:creationId xmlns:a16="http://schemas.microsoft.com/office/drawing/2014/main" id="{A4B6E7BC-9917-4BCE-ACBD-A8F6A2A2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3300" y="3810000"/>
            <a:ext cx="2463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作者只记录</a:t>
            </a:r>
          </a:p>
        </p:txBody>
      </p:sp>
      <p:sp>
        <p:nvSpPr>
          <p:cNvPr id="23" name="fields">
            <a:extLst xmlns:a="http://schemas.openxmlformats.org/drawingml/2006/main">
              <a:ext uri="{FF2B5EF4-FFF2-40B4-BE49-F238E27FC236}">
                <a16:creationId xmlns:a16="http://schemas.microsoft.com/office/drawing/2014/main" id="{E0FCF407-1B1D-4FA3-983F-3411A813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435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记录字段：来源｜维度｜风险与建议｜处理动作｜理由｜回写位置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每条反馈都要有真实处理动作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6" name="content-222">
            <a:extLst xmlns:a="http://schemas.openxmlformats.org/drawingml/2006/main">
              <a:ext uri="{FF2B5EF4-FFF2-40B4-BE49-F238E27FC236}">
                <a16:creationId xmlns:a16="http://schemas.microsoft.com/office/drawing/2014/main" id="{1F181BC1-270A-42BB-A42C-EA986EA5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处理动作：采纳、澄清、补证、暂缓、保留异议。</a:t>
            </a:r>
          </a:p>
        </p:txBody>
      </p:sp>
      <p:sp>
        <p:nvSpPr>
          <p:cNvPr id="7" name="content-223">
            <a:extLst xmlns:a="http://schemas.openxmlformats.org/drawingml/2006/main">
              <a:ext uri="{FF2B5EF4-FFF2-40B4-BE49-F238E27FC236}">
                <a16:creationId xmlns:a16="http://schemas.microsoft.com/office/drawing/2014/main" id="{1F5B2005-8137-4BCC-BB7E-20088CD6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示例回应：</a:t>
            </a:r>
          </a:p>
        </p:txBody>
      </p:sp>
      <p:sp>
        <p:nvSpPr>
          <p:cNvPr id="8" name="content-224">
            <a:extLst xmlns:a="http://schemas.openxmlformats.org/drawingml/2006/main">
              <a:ext uri="{FF2B5EF4-FFF2-40B4-BE49-F238E27FC236}">
                <a16:creationId xmlns:a16="http://schemas.microsoft.com/office/drawing/2014/main" id="{7A4EE086-11C4-4FFF-8CCE-DD382ED0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补证：H1 与 A2 仍不能区分。</a:t>
            </a:r>
          </a:p>
        </p:txBody>
      </p:sp>
      <p:sp>
        <p:nvSpPr>
          <p:cNvPr id="9" name="content-225">
            <a:extLst xmlns:a="http://schemas.openxmlformats.org/drawingml/2006/main">
              <a:ext uri="{FF2B5EF4-FFF2-40B4-BE49-F238E27FC236}">
                <a16:creationId xmlns:a16="http://schemas.microsoft.com/office/drawing/2014/main" id="{708323B8-3E7C-4D8C-88A8-47C42136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理由与依据：同伴指出评分者可见组别，见方案评价协议。</a:t>
            </a:r>
          </a:p>
        </p:txBody>
      </p:sp>
      <p:sp>
        <p:nvSpPr>
          <p:cNvPr id="10" name="content-226">
            <a:extLst xmlns:a="http://schemas.openxmlformats.org/drawingml/2006/main">
              <a:ext uri="{FF2B5EF4-FFF2-40B4-BE49-F238E27FC236}">
                <a16:creationId xmlns:a16="http://schemas.microsoft.com/office/drawing/2014/main" id="{631B1AEB-32CA-4514-A771-856B89FF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边界与状态：当前构造包；盲化效果待验证。</a:t>
            </a:r>
          </a:p>
        </p:txBody>
      </p:sp>
      <p:sp>
        <p:nvSpPr>
          <p:cNvPr id="11" name="content-227">
            <a:extLst xmlns:a="http://schemas.openxmlformats.org/drawingml/2006/main">
              <a:ext uri="{FF2B5EF4-FFF2-40B4-BE49-F238E27FC236}">
                <a16:creationId xmlns:a16="http://schemas.microsoft.com/office/drawing/2014/main" id="{8BE4243C-84CB-41C2-9560-E81BE828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实际修改：第 9 课规格补入匿名顺序、统一规则与复核办法。</a:t>
            </a:r>
          </a:p>
        </p:txBody>
      </p:sp>
      <p:sp>
        <p:nvSpPr>
          <p:cNvPr id="12" name="content-228">
            <a:extLst xmlns:a="http://schemas.openxmlformats.org/drawingml/2006/main">
              <a:ext uri="{FF2B5EF4-FFF2-40B4-BE49-F238E27FC236}">
                <a16:creationId xmlns:a16="http://schemas.microsoft.com/office/drawing/2014/main" id="{9BD90849-2038-4579-9025-15E2719C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每条回应都写明影响工件与回写位置。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可以整理线索，但不能替你作研究判断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6" name="left-title">
            <a:extLst xmlns:a="http://schemas.openxmlformats.org/drawingml/2006/main">
              <a:ext uri="{FF2B5EF4-FFF2-40B4-BE49-F238E27FC236}">
                <a16:creationId xmlns:a16="http://schemas.microsoft.com/office/drawing/2014/main" id="{80F0438B-F829-4BD7-B040-4009C97D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AI 可以</a:t>
            </a:r>
          </a:p>
        </p:txBody>
      </p:sp>
      <p:sp>
        <p:nvSpPr>
          <p:cNvPr id="7" name="right-title">
            <a:extLst xmlns:a="http://schemas.openxmlformats.org/drawingml/2006/main">
              <a:ext uri="{FF2B5EF4-FFF2-40B4-BE49-F238E27FC236}">
                <a16:creationId xmlns:a16="http://schemas.microsoft.com/office/drawing/2014/main" id="{F1EB89C3-1203-400D-9150-3810A66E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8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AI 不可以</a:t>
            </a:r>
          </a:p>
        </p:txBody>
      </p:sp>
      <p:sp>
        <p:nvSpPr>
          <p:cNvPr id="8" name="split-top">
            <a:extLst xmlns:a="http://schemas.openxmlformats.org/drawingml/2006/main">
              <a:ext uri="{FF2B5EF4-FFF2-40B4-BE49-F238E27FC236}">
                <a16:creationId xmlns:a16="http://schemas.microsoft.com/office/drawing/2014/main" id="{D6CC6735-B4CD-4EE7-9193-CE42C36D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9" name="left-lines-0">
            <a:extLst xmlns:a="http://schemas.openxmlformats.org/drawingml/2006/main">
              <a:ext uri="{FF2B5EF4-FFF2-40B4-BE49-F238E27FC236}">
                <a16:creationId xmlns:a16="http://schemas.microsoft.com/office/drawing/2014/main" id="{101584B0-B9AE-426C-9EC0-056D8EED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整理口述反馈</a:t>
            </a:r>
          </a:p>
        </p:txBody>
      </p:sp>
      <p:sp>
        <p:nvSpPr>
          <p:cNvPr id="10" name="left-lines-1">
            <a:extLst xmlns:a="http://schemas.openxmlformats.org/drawingml/2006/main">
              <a:ext uri="{FF2B5EF4-FFF2-40B4-BE49-F238E27FC236}">
                <a16:creationId xmlns:a16="http://schemas.microsoft.com/office/drawing/2014/main" id="{2F4A2853-3D8E-40C3-AC41-EA61BEF1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提示 rubric 维度</a:t>
            </a:r>
          </a:p>
        </p:txBody>
      </p:sp>
      <p:sp>
        <p:nvSpPr>
          <p:cNvPr id="11" name="left-lines-2">
            <a:extLst xmlns:a="http://schemas.openxmlformats.org/drawingml/2006/main">
              <a:ext uri="{FF2B5EF4-FFF2-40B4-BE49-F238E27FC236}">
                <a16:creationId xmlns:a16="http://schemas.microsoft.com/office/drawing/2014/main" id="{89CD29E9-4908-45A1-8CDC-D0B0A30E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草拟修改方向</a:t>
            </a:r>
          </a:p>
        </p:txBody>
      </p:sp>
      <p:sp>
        <p:nvSpPr>
          <p:cNvPr id="12" name="right-lines-0">
            <a:extLst xmlns:a="http://schemas.openxmlformats.org/drawingml/2006/main">
              <a:ext uri="{FF2B5EF4-FFF2-40B4-BE49-F238E27FC236}">
                <a16:creationId xmlns:a16="http://schemas.microsoft.com/office/drawing/2014/main" id="{DF7F7389-CD12-461D-9C91-BE2B7A5E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判断反馈是否成立</a:t>
            </a:r>
          </a:p>
        </p:txBody>
      </p:sp>
      <p:sp>
        <p:nvSpPr>
          <p:cNvPr id="13" name="right-lines-1">
            <a:extLst xmlns:a="http://schemas.openxmlformats.org/drawingml/2006/main">
              <a:ext uri="{FF2B5EF4-FFF2-40B4-BE49-F238E27FC236}">
                <a16:creationId xmlns:a16="http://schemas.microsoft.com/office/drawing/2014/main" id="{E5DE68A6-3D2E-4DBD-9F55-331C55DC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选择处理动作</a:t>
            </a:r>
          </a:p>
        </p:txBody>
      </p:sp>
      <p:sp>
        <p:nvSpPr>
          <p:cNvPr id="14" name="right-lines-2">
            <a:extLst xmlns:a="http://schemas.openxmlformats.org/drawingml/2006/main">
              <a:ext uri="{FF2B5EF4-FFF2-40B4-BE49-F238E27FC236}">
                <a16:creationId xmlns:a16="http://schemas.microsoft.com/office/drawing/2014/main" id="{2EBDBDB3-4012-414C-9606-4C3DB96E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 代写理由与边界</a:t>
            </a:r>
          </a:p>
        </p:txBody>
      </p:sp>
      <p:sp>
        <p:nvSpPr>
          <p:cNvPr id="15" name="owner">
            <a:extLst xmlns:a="http://schemas.openxmlformats.org/drawingml/2006/main">
              <a:ext uri="{FF2B5EF4-FFF2-40B4-BE49-F238E27FC236}">
                <a16:creationId xmlns:a16="http://schemas.microsoft.com/office/drawing/2014/main" id="{48888C06-B59C-4D1C-9BAE-3922589E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577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研究判断与处理决定：作者本人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完整示范：同一问题的五段分享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6" name="content-229">
            <a:extLst xmlns:a="http://schemas.openxmlformats.org/drawingml/2006/main">
              <a:ext uri="{FF2B5EF4-FFF2-40B4-BE49-F238E27FC236}">
                <a16:creationId xmlns:a16="http://schemas.microsoft.com/office/drawing/2014/main" id="{4C65E4CA-3EFC-4691-85FB-1E8803FE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问题：阅读卡是否降低限定条件遗漏？</a:t>
            </a:r>
          </a:p>
        </p:txBody>
      </p:sp>
      <p:sp>
        <p:nvSpPr>
          <p:cNvPr id="7" name="content-230">
            <a:extLst xmlns:a="http://schemas.openxmlformats.org/drawingml/2006/main">
              <a:ext uri="{FF2B5EF4-FFF2-40B4-BE49-F238E27FC236}">
                <a16:creationId xmlns:a16="http://schemas.microsoft.com/office/drawing/2014/main" id="{6041676A-318D-4E76-81EB-7B73084F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证据：逐条条件保留记录；当前没有真实效果结论。</a:t>
            </a:r>
          </a:p>
        </p:txBody>
      </p:sp>
      <p:sp>
        <p:nvSpPr>
          <p:cNvPr id="8" name="content-231">
            <a:extLst xmlns:a="http://schemas.openxmlformats.org/drawingml/2006/main">
              <a:ext uri="{FF2B5EF4-FFF2-40B4-BE49-F238E27FC236}">
                <a16:creationId xmlns:a16="http://schemas.microsoft.com/office/drawing/2014/main" id="{AA932E6A-BEE5-4DED-BB95-21472701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解释：Q1 结果与 H1/A2 机制、测量解释分开。</a:t>
            </a:r>
          </a:p>
        </p:txBody>
      </p:sp>
      <p:sp>
        <p:nvSpPr>
          <p:cNvPr id="9" name="content-232">
            <a:extLst xmlns:a="http://schemas.openxmlformats.org/drawingml/2006/main">
              <a:ext uri="{FF2B5EF4-FFF2-40B4-BE49-F238E27FC236}">
                <a16:creationId xmlns:a16="http://schemas.microsoft.com/office/drawing/2014/main" id="{2524C1D6-8A95-4693-877C-78B01B4D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方案：同一材料两种输出，统一标注口径。</a:t>
            </a:r>
          </a:p>
        </p:txBody>
      </p:sp>
      <p:sp>
        <p:nvSpPr>
          <p:cNvPr id="10" name="content-233">
            <a:extLst xmlns:a="http://schemas.openxmlformats.org/drawingml/2006/main">
              <a:ext uri="{FF2B5EF4-FFF2-40B4-BE49-F238E27FC236}">
                <a16:creationId xmlns:a16="http://schemas.microsoft.com/office/drawing/2014/main" id="{530848CA-8516-465F-99EA-2C6227A7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006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风险：材料范围窄，其他质量代价尚未测量。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好反馈要改变一个具体设计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process-234">
            <a:extLst xmlns:a="http://schemas.openxmlformats.org/drawingml/2006/main">
              <a:ext uri="{FF2B5EF4-FFF2-40B4-BE49-F238E27FC236}">
                <a16:creationId xmlns:a16="http://schemas.microsoft.com/office/drawing/2014/main" id="{D692EAE4-E74A-4913-8AB1-2A2D485B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448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7" name="content-235">
            <a:extLst xmlns:a="http://schemas.openxmlformats.org/drawingml/2006/main">
              <a:ext uri="{FF2B5EF4-FFF2-40B4-BE49-F238E27FC236}">
                <a16:creationId xmlns:a16="http://schemas.microsoft.com/office/drawing/2014/main" id="{56638EE1-9CB1-4336-9D1B-4E90203E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85975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反馈</a:t>
            </a:r>
          </a:p>
        </p:txBody>
      </p:sp>
      <p:sp>
        <p:nvSpPr>
          <p:cNvPr id="8" name="content-236">
            <a:extLst xmlns:a="http://schemas.openxmlformats.org/drawingml/2006/main">
              <a:ext uri="{FF2B5EF4-FFF2-40B4-BE49-F238E27FC236}">
                <a16:creationId xmlns:a16="http://schemas.microsoft.com/office/drawing/2014/main" id="{13B72E82-BC1C-41B8-96C2-2B3F0002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00275"/>
            <a:ext cx="314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" name="process-237">
            <a:extLst xmlns:a="http://schemas.openxmlformats.org/drawingml/2006/main">
              <a:ext uri="{FF2B5EF4-FFF2-40B4-BE49-F238E27FC236}">
                <a16:creationId xmlns:a16="http://schemas.microsoft.com/office/drawing/2014/main" id="{111B1214-2730-4952-B24B-EF7156BE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000250"/>
            <a:ext cx="3448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0" name="content-238">
            <a:extLst xmlns:a="http://schemas.openxmlformats.org/drawingml/2006/main">
              <a:ext uri="{FF2B5EF4-FFF2-40B4-BE49-F238E27FC236}">
                <a16:creationId xmlns:a16="http://schemas.microsoft.com/office/drawing/2014/main" id="{1FD91BC4-D74D-45B1-94FD-0C2C3D40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85975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理由</a:t>
            </a:r>
          </a:p>
        </p:txBody>
      </p:sp>
      <p:sp>
        <p:nvSpPr>
          <p:cNvPr id="11" name="content-239">
            <a:extLst xmlns:a="http://schemas.openxmlformats.org/drawingml/2006/main">
              <a:ext uri="{FF2B5EF4-FFF2-40B4-BE49-F238E27FC236}">
                <a16:creationId xmlns:a16="http://schemas.microsoft.com/office/drawing/2014/main" id="{0979DB31-FC7B-44F4-92D0-64E079E2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200275"/>
            <a:ext cx="314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" name="process-240">
            <a:extLst xmlns:a="http://schemas.openxmlformats.org/drawingml/2006/main">
              <a:ext uri="{FF2B5EF4-FFF2-40B4-BE49-F238E27FC236}">
                <a16:creationId xmlns:a16="http://schemas.microsoft.com/office/drawing/2014/main" id="{785FCC36-4D72-45A9-BA32-29852B2B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3448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3" name="content-241">
            <a:extLst xmlns:a="http://schemas.openxmlformats.org/drawingml/2006/main">
              <a:ext uri="{FF2B5EF4-FFF2-40B4-BE49-F238E27FC236}">
                <a16:creationId xmlns:a16="http://schemas.microsoft.com/office/drawing/2014/main" id="{998622E2-E477-44E1-8CC1-C0D64023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85975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文件中的实际修改</a:t>
            </a:r>
          </a:p>
        </p:txBody>
      </p:sp>
      <p:sp>
        <p:nvSpPr>
          <p:cNvPr id="14" name="content-242">
            <a:extLst xmlns:a="http://schemas.openxmlformats.org/drawingml/2006/main">
              <a:ext uri="{FF2B5EF4-FFF2-40B4-BE49-F238E27FC236}">
                <a16:creationId xmlns:a16="http://schemas.microsoft.com/office/drawing/2014/main" id="{44554D5C-4B8A-4B81-8801-1FAD8D31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10972800" cy="41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泛泛意见：“再严谨一点。”</a:t>
            </a:r>
          </a:p>
        </p:txBody>
      </p:sp>
      <p:sp>
        <p:nvSpPr>
          <p:cNvPr id="15" name="content-243">
            <a:extLst xmlns:a="http://schemas.openxmlformats.org/drawingml/2006/main">
              <a:ext uri="{FF2B5EF4-FFF2-40B4-BE49-F238E27FC236}">
                <a16:creationId xmlns:a16="http://schemas.microsoft.com/office/drawing/2014/main" id="{9DB9CFAF-165F-4950-973D-0F49BE5A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5245"/>
            <a:ext cx="10972800" cy="41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可执行意见：“评分者能否看见组别？请补盲化办法。”</a:t>
            </a:r>
          </a:p>
        </p:txBody>
      </p:sp>
      <p:sp>
        <p:nvSpPr>
          <p:cNvPr id="16" name="content-244">
            <a:extLst xmlns:a="http://schemas.openxmlformats.org/drawingml/2006/main">
              <a:ext uri="{FF2B5EF4-FFF2-40B4-BE49-F238E27FC236}">
                <a16:creationId xmlns:a16="http://schemas.microsoft.com/office/drawing/2014/main" id="{E28C62FB-08EC-4CB5-B605-6FF25BC2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4365"/>
            <a:ext cx="10972800" cy="41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作者处理：“接受；在评价协议补入匿名顺序与统一规则。”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8 课只补两项判断门材料，其余缺口留到第 9 课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gates-n0">
            <a:extLst xmlns:a="http://schemas.openxmlformats.org/drawingml/2006/main">
              <a:ext uri="{FF2B5EF4-FFF2-40B4-BE49-F238E27FC236}">
                <a16:creationId xmlns:a16="http://schemas.microsoft.com/office/drawing/2014/main" id="{4C7B26C0-1733-43C6-842A-2C3D4FC2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1906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gates-t0">
            <a:extLst xmlns:a="http://schemas.openxmlformats.org/drawingml/2006/main">
              <a:ext uri="{FF2B5EF4-FFF2-40B4-BE49-F238E27FC236}">
                <a16:creationId xmlns:a16="http://schemas.microsoft.com/office/drawing/2014/main" id="{62F7EBAB-AAFE-423A-AFFB-7581D4BC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190625"/>
            <a:ext cx="264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可执行 baseline</a:t>
            </a:r>
          </a:p>
        </p:txBody>
      </p:sp>
      <p:sp>
        <p:nvSpPr>
          <p:cNvPr id="8" name="gates-r0">
            <a:extLst xmlns:a="http://schemas.openxmlformats.org/drawingml/2006/main">
              <a:ext uri="{FF2B5EF4-FFF2-40B4-BE49-F238E27FC236}">
                <a16:creationId xmlns:a16="http://schemas.microsoft.com/office/drawing/2014/main" id="{6E846D9C-3E33-41FC-90FA-C3CABF26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24025"/>
            <a:ext cx="3194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9" name="gates-n1">
            <a:extLst xmlns:a="http://schemas.openxmlformats.org/drawingml/2006/main">
              <a:ext uri="{FF2B5EF4-FFF2-40B4-BE49-F238E27FC236}">
                <a16:creationId xmlns:a16="http://schemas.microsoft.com/office/drawing/2014/main" id="{0B7C201C-750B-476F-93DF-2CE828DD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975" y="11906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gates-t1">
            <a:extLst xmlns:a="http://schemas.openxmlformats.org/drawingml/2006/main">
              <a:ext uri="{FF2B5EF4-FFF2-40B4-BE49-F238E27FC236}">
                <a16:creationId xmlns:a16="http://schemas.microsoft.com/office/drawing/2014/main" id="{CA275170-8302-4A0C-B2CD-35B7EE7B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425" y="1190625"/>
            <a:ext cx="264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材料／指标／限制</a:t>
            </a:r>
          </a:p>
        </p:txBody>
      </p:sp>
      <p:sp>
        <p:nvSpPr>
          <p:cNvPr id="11" name="gates-r1">
            <a:extLst xmlns:a="http://schemas.openxmlformats.org/drawingml/2006/main">
              <a:ext uri="{FF2B5EF4-FFF2-40B4-BE49-F238E27FC236}">
                <a16:creationId xmlns:a16="http://schemas.microsoft.com/office/drawing/2014/main" id="{3F6731DF-2A0D-4B3A-BBAA-A208C7A4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975" y="1724025"/>
            <a:ext cx="3194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2" name="gates-n2">
            <a:extLst xmlns:a="http://schemas.openxmlformats.org/drawingml/2006/main">
              <a:ext uri="{FF2B5EF4-FFF2-40B4-BE49-F238E27FC236}">
                <a16:creationId xmlns:a16="http://schemas.microsoft.com/office/drawing/2014/main" id="{BB438CC5-4E45-4C14-9BDF-ABC49E41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75" y="11906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gates-t2">
            <a:extLst xmlns:a="http://schemas.openxmlformats.org/drawingml/2006/main">
              <a:ext uri="{FF2B5EF4-FFF2-40B4-BE49-F238E27FC236}">
                <a16:creationId xmlns:a16="http://schemas.microsoft.com/office/drawing/2014/main" id="{B8A64116-8B1B-483D-97F8-74FD6542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5525" y="1190625"/>
            <a:ext cx="264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环境／配置／种子</a:t>
            </a:r>
          </a:p>
        </p:txBody>
      </p:sp>
      <p:sp>
        <p:nvSpPr>
          <p:cNvPr id="14" name="gates-r2">
            <a:extLst xmlns:a="http://schemas.openxmlformats.org/drawingml/2006/main">
              <a:ext uri="{FF2B5EF4-FFF2-40B4-BE49-F238E27FC236}">
                <a16:creationId xmlns:a16="http://schemas.microsoft.com/office/drawing/2014/main" id="{6F672FE1-66FD-433E-AD9F-6C6AE631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75" y="1724025"/>
            <a:ext cx="3194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5" name="gates-n3">
            <a:extLst xmlns:a="http://schemas.openxmlformats.org/drawingml/2006/main">
              <a:ext uri="{FF2B5EF4-FFF2-40B4-BE49-F238E27FC236}">
                <a16:creationId xmlns:a16="http://schemas.microsoft.com/office/drawing/2014/main" id="{88798988-D7CE-4A3C-B963-97FA49DC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145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gates-t3">
            <a:extLst xmlns:a="http://schemas.openxmlformats.org/drawingml/2006/main">
              <a:ext uri="{FF2B5EF4-FFF2-40B4-BE49-F238E27FC236}">
                <a16:creationId xmlns:a16="http://schemas.microsoft.com/office/drawing/2014/main" id="{5AFEC5A2-4772-4F04-8A12-F015F2B9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314575"/>
            <a:ext cx="264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至少 2 条判断</a:t>
            </a:r>
          </a:p>
        </p:txBody>
      </p:sp>
      <p:sp>
        <p:nvSpPr>
          <p:cNvPr id="17" name="gates-r3">
            <a:extLst xmlns:a="http://schemas.openxmlformats.org/drawingml/2006/main">
              <a:ext uri="{FF2B5EF4-FFF2-40B4-BE49-F238E27FC236}">
                <a16:creationId xmlns:a16="http://schemas.microsoft.com/office/drawing/2014/main" id="{9906FAE9-27BB-4909-B407-82C8127C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47975"/>
            <a:ext cx="3194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8" name="gates-n4">
            <a:extLst xmlns:a="http://schemas.openxmlformats.org/drawingml/2006/main">
              <a:ext uri="{FF2B5EF4-FFF2-40B4-BE49-F238E27FC236}">
                <a16:creationId xmlns:a16="http://schemas.microsoft.com/office/drawing/2014/main" id="{FB8DFA79-52BD-4B57-B63B-F9171F38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975" y="23145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19" name="gates-t4">
            <a:extLst xmlns:a="http://schemas.openxmlformats.org/drawingml/2006/main">
              <a:ext uri="{FF2B5EF4-FFF2-40B4-BE49-F238E27FC236}">
                <a16:creationId xmlns:a16="http://schemas.microsoft.com/office/drawing/2014/main" id="{B03093CF-FA95-4E99-B487-3AB697A4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425" y="2314575"/>
            <a:ext cx="264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完整实验规格</a:t>
            </a:r>
          </a:p>
        </p:txBody>
      </p:sp>
      <p:sp>
        <p:nvSpPr>
          <p:cNvPr id="20" name="gates-r4">
            <a:extLst xmlns:a="http://schemas.openxmlformats.org/drawingml/2006/main">
              <a:ext uri="{FF2B5EF4-FFF2-40B4-BE49-F238E27FC236}">
                <a16:creationId xmlns:a16="http://schemas.microsoft.com/office/drawing/2014/main" id="{79267558-FAD3-4F3F-A5F5-A77E048F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975" y="2847975"/>
            <a:ext cx="3194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1" name="gates-n5">
            <a:extLst xmlns:a="http://schemas.openxmlformats.org/drawingml/2006/main">
              <a:ext uri="{FF2B5EF4-FFF2-40B4-BE49-F238E27FC236}">
                <a16:creationId xmlns:a16="http://schemas.microsoft.com/office/drawing/2014/main" id="{192E6D2C-1D1A-4AC3-B7BB-9E455F27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75" y="23145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22" name="gates-t5">
            <a:extLst xmlns:a="http://schemas.openxmlformats.org/drawingml/2006/main">
              <a:ext uri="{FF2B5EF4-FFF2-40B4-BE49-F238E27FC236}">
                <a16:creationId xmlns:a16="http://schemas.microsoft.com/office/drawing/2014/main" id="{CB9845FC-E788-4353-9F4A-C156215D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5525" y="2314575"/>
            <a:ext cx="264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同伴反馈处理</a:t>
            </a:r>
          </a:p>
        </p:txBody>
      </p:sp>
      <p:sp>
        <p:nvSpPr>
          <p:cNvPr id="23" name="gates-r5">
            <a:extLst xmlns:a="http://schemas.openxmlformats.org/drawingml/2006/main">
              <a:ext uri="{FF2B5EF4-FFF2-40B4-BE49-F238E27FC236}">
                <a16:creationId xmlns:a16="http://schemas.microsoft.com/office/drawing/2014/main" id="{D641C4FC-F0F7-4F34-8E34-8A46CE78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75" y="2847975"/>
            <a:ext cx="3194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4" name="gates-n6">
            <a:extLst xmlns:a="http://schemas.openxmlformats.org/drawingml/2006/main">
              <a:ext uri="{FF2B5EF4-FFF2-40B4-BE49-F238E27FC236}">
                <a16:creationId xmlns:a16="http://schemas.microsoft.com/office/drawing/2014/main" id="{CD5B406D-8C80-4F56-B474-2270D62C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385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25" name="gates-t6">
            <a:extLst xmlns:a="http://schemas.openxmlformats.org/drawingml/2006/main">
              <a:ext uri="{FF2B5EF4-FFF2-40B4-BE49-F238E27FC236}">
                <a16:creationId xmlns:a16="http://schemas.microsoft.com/office/drawing/2014/main" id="{CBBBB48B-847E-49D2-98A7-5CD667ED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438525"/>
            <a:ext cx="264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风险与失败预案</a:t>
            </a:r>
          </a:p>
        </p:txBody>
      </p:sp>
      <p:sp>
        <p:nvSpPr>
          <p:cNvPr id="26" name="gates-r6">
            <a:extLst xmlns:a="http://schemas.openxmlformats.org/drawingml/2006/main">
              <a:ext uri="{FF2B5EF4-FFF2-40B4-BE49-F238E27FC236}">
                <a16:creationId xmlns:a16="http://schemas.microsoft.com/office/drawing/2014/main" id="{165204BC-61DA-4CE1-A452-FC33F7B0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71925"/>
            <a:ext cx="3194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7" name="gates-n7">
            <a:extLst xmlns:a="http://schemas.openxmlformats.org/drawingml/2006/main">
              <a:ext uri="{FF2B5EF4-FFF2-40B4-BE49-F238E27FC236}">
                <a16:creationId xmlns:a16="http://schemas.microsoft.com/office/drawing/2014/main" id="{D48B0C41-7156-424C-9FE5-9A7B7267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975" y="34385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28" name="gates-t7">
            <a:extLst xmlns:a="http://schemas.openxmlformats.org/drawingml/2006/main">
              <a:ext uri="{FF2B5EF4-FFF2-40B4-BE49-F238E27FC236}">
                <a16:creationId xmlns:a16="http://schemas.microsoft.com/office/drawing/2014/main" id="{88A25B8E-AAAE-4846-A8B9-EF752E0E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425" y="3438525"/>
            <a:ext cx="264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已遇失败记录</a:t>
            </a:r>
          </a:p>
        </p:txBody>
      </p:sp>
      <p:sp>
        <p:nvSpPr>
          <p:cNvPr id="29" name="gates-r7">
            <a:extLst xmlns:a="http://schemas.openxmlformats.org/drawingml/2006/main">
              <a:ext uri="{FF2B5EF4-FFF2-40B4-BE49-F238E27FC236}">
                <a16:creationId xmlns:a16="http://schemas.microsoft.com/office/drawing/2014/main" id="{414016D2-BF45-4A09-9E21-EDAE54DF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975" y="3971925"/>
            <a:ext cx="3194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30" name="gates-n8">
            <a:extLst xmlns:a="http://schemas.openxmlformats.org/drawingml/2006/main">
              <a:ext uri="{FF2B5EF4-FFF2-40B4-BE49-F238E27FC236}">
                <a16:creationId xmlns:a16="http://schemas.microsoft.com/office/drawing/2014/main" id="{BA9915D9-3AC0-4F77-903F-6C8D7981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75" y="34385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31" name="gates-t8">
            <a:extLst xmlns:a="http://schemas.openxmlformats.org/drawingml/2006/main">
              <a:ext uri="{FF2B5EF4-FFF2-40B4-BE49-F238E27FC236}">
                <a16:creationId xmlns:a16="http://schemas.microsoft.com/office/drawing/2014/main" id="{60DB56ED-6595-4A16-AFA0-25EA28EE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5525" y="3438525"/>
            <a:ext cx="264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迁移完整模板</a:t>
            </a:r>
          </a:p>
        </p:txBody>
      </p:sp>
      <p:sp>
        <p:nvSpPr>
          <p:cNvPr id="32" name="gates-r8">
            <a:extLst xmlns:a="http://schemas.openxmlformats.org/drawingml/2006/main">
              <a:ext uri="{FF2B5EF4-FFF2-40B4-BE49-F238E27FC236}">
                <a16:creationId xmlns:a16="http://schemas.microsoft.com/office/drawing/2014/main" id="{F04FADFE-0792-4C50-A234-A64C71D5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75" y="3971925"/>
            <a:ext cx="3194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33" name="status">
            <a:extLst xmlns:a="http://schemas.openxmlformats.org/drawingml/2006/main">
              <a:ext uri="{FF2B5EF4-FFF2-40B4-BE49-F238E27FC236}">
                <a16:creationId xmlns:a16="http://schemas.microsoft.com/office/drawing/2014/main" id="{FDF0D9D4-9479-4377-9A9F-571D86C7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435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 8 课补入：研究判断 + 同伴反馈处理；其余缺口留到第 9 课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FFF3654D-F904-455A-B98E-A12980EE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本人项目：决定、核验与回写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9BFCE9E3-5D84-4C39-AF1B-28C8C62E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固定 3–4 人组逐人陈述、质询；每人围绕一个关键对照或薄弱证据，实际修改预测、协议或结论范围。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527538BA-28F8-45C0-B40E-8EB05C38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将意见、定位、处理理由和实际修改放在同一条记录；不要求拒绝意见，也不把 AI 模拟反馈算真实同伴意见。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797D3F22-7B22-43E9-9CA4-716F387A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858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保存：真实同伴反馈＋作者决定＋一项实际修订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3133BC97-D369-46D2-8F0E-BC9F92DB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8BC3C487-1BC3-477E-A00D-7D3444B6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本讲知识点总结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6" name="summary-0-bg">
            <a:extLst xmlns:a="http://schemas.openxmlformats.org/drawingml/2006/main">
              <a:ext uri="{FF2B5EF4-FFF2-40B4-BE49-F238E27FC236}">
                <a16:creationId xmlns:a16="http://schemas.microsoft.com/office/drawing/2014/main" id="{4DD208EF-C68F-4626-9253-7F9A87A0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7" name="summary-0">
            <a:extLst xmlns:a="http://schemas.openxmlformats.org/drawingml/2006/main">
              <a:ext uri="{FF2B5EF4-FFF2-40B4-BE49-F238E27FC236}">
                <a16:creationId xmlns:a16="http://schemas.microsoft.com/office/drawing/2014/main" id="{25837515-1821-400F-BD59-64305955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最小陈述</a:t>
            </a:r>
          </a:p>
        </p:txBody>
      </p:sp>
      <p:sp>
        <p:nvSpPr>
          <p:cNvPr id="8" name="summary-a0">
            <a:extLst xmlns:a="http://schemas.openxmlformats.org/drawingml/2006/main">
              <a:ext uri="{FF2B5EF4-FFF2-40B4-BE49-F238E27FC236}">
                <a16:creationId xmlns:a16="http://schemas.microsoft.com/office/drawing/2014/main" id="{17390D69-A228-479E-9CE2-B34C0DAE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95525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" name="summary-1-bg">
            <a:extLst xmlns:a="http://schemas.openxmlformats.org/drawingml/2006/main">
              <a:ext uri="{FF2B5EF4-FFF2-40B4-BE49-F238E27FC236}">
                <a16:creationId xmlns:a16="http://schemas.microsoft.com/office/drawing/2014/main" id="{DA5948D9-FC4C-4F5C-B0BD-DA4EC83C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000250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0" name="summary-1">
            <a:extLst xmlns:a="http://schemas.openxmlformats.org/drawingml/2006/main">
              <a:ext uri="{FF2B5EF4-FFF2-40B4-BE49-F238E27FC236}">
                <a16:creationId xmlns:a16="http://schemas.microsoft.com/office/drawing/2014/main" id="{BF114012-52F9-4B96-8401-FA48F25B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09550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同伴质询</a:t>
            </a:r>
          </a:p>
        </p:txBody>
      </p:sp>
      <p:sp>
        <p:nvSpPr>
          <p:cNvPr id="11" name="summary-a1">
            <a:extLst xmlns:a="http://schemas.openxmlformats.org/drawingml/2006/main">
              <a:ext uri="{FF2B5EF4-FFF2-40B4-BE49-F238E27FC236}">
                <a16:creationId xmlns:a16="http://schemas.microsoft.com/office/drawing/2014/main" id="{B5220A45-473C-45A7-8A96-7E13F263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95525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" name="summary-2-bg">
            <a:extLst xmlns:a="http://schemas.openxmlformats.org/drawingml/2006/main">
              <a:ext uri="{FF2B5EF4-FFF2-40B4-BE49-F238E27FC236}">
                <a16:creationId xmlns:a16="http://schemas.microsoft.com/office/drawing/2014/main" id="{03A99736-CA15-4D59-985A-E8865A43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3" name="summary-2">
            <a:extLst xmlns:a="http://schemas.openxmlformats.org/drawingml/2006/main">
              <a:ext uri="{FF2B5EF4-FFF2-40B4-BE49-F238E27FC236}">
                <a16:creationId xmlns:a16="http://schemas.microsoft.com/office/drawing/2014/main" id="{948808F9-890F-473E-AB5B-320DCC4C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9550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作者处理</a:t>
            </a:r>
          </a:p>
        </p:txBody>
      </p:sp>
      <p:sp>
        <p:nvSpPr>
          <p:cNvPr id="14" name="summary-a2">
            <a:extLst xmlns:a="http://schemas.openxmlformats.org/drawingml/2006/main">
              <a:ext uri="{FF2B5EF4-FFF2-40B4-BE49-F238E27FC236}">
                <a16:creationId xmlns:a16="http://schemas.microsoft.com/office/drawing/2014/main" id="{7A8EB31E-3E90-4E2C-9C8F-BADE710F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295525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5" name="summary-3-bg">
            <a:extLst xmlns:a="http://schemas.openxmlformats.org/drawingml/2006/main">
              <a:ext uri="{FF2B5EF4-FFF2-40B4-BE49-F238E27FC236}">
                <a16:creationId xmlns:a16="http://schemas.microsoft.com/office/drawing/2014/main" id="{7A47A9CD-FEE7-40A1-8525-394BB08B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000250"/>
            <a:ext cx="2486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6" name="summary-3">
            <a:extLst xmlns:a="http://schemas.openxmlformats.org/drawingml/2006/main">
              <a:ext uri="{FF2B5EF4-FFF2-40B4-BE49-F238E27FC236}">
                <a16:creationId xmlns:a16="http://schemas.microsoft.com/office/drawing/2014/main" id="{8A8E5C1D-6EA2-475D-AF89-A6CFCE9D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095500"/>
            <a:ext cx="2181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下一步行动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461FD830-65C0-458F-BE50-7366755E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005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反馈是诊断输入；作者记录并承担修改决定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7DCBD8C9-B92A-4C38-B444-581E6C8B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保留本课决定，准备下一课输入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2DFC2F46-EC17-4B72-86DC-099E584C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L9 使用修订后的实验规格建立公平 baseline。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4251BE9C-D160-4699-9231-27F5B5B7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回写已有项目：真实同伴反馈＋作者决定＋一项实际修订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28A4D06E-8970-4E8C-BB2F-5B0D8AB5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只读指定段落，补课堂留下的真实缺口。安装与排障计入课外总预算。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5328ADCA-ED44-47B4-89D9-06C11ED6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6143E79D-61AD-4BD6-BD70-97B1F704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2026-09-16T01:27:11.4600000Z</dcterms:created>
  <dcterms:modified xsi:type="dcterms:W3CDTF">2026-09-16T01:27:11.4600000Z</dcterms:modified>
</coreProperties>
</file>