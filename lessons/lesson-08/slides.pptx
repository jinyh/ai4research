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fc68ee271a430f" /><Relationship Type="http://schemas.openxmlformats.org/officeDocument/2006/relationships/extended-properties" Target="/docProps/app.xml" Id="R2bdaa8f0f48c4098" /><Relationship Type="http://schemas.openxmlformats.org/officeDocument/2006/relationships/officeDocument" Target="/ppt/presentation.xml" Id="R03f432384b044f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c1d734e6b94e68"/>
  </p:sldMasterIdLst>
  <p:notesMasterIdLst>
    <p:notesMasterId xmlns:r="http://schemas.openxmlformats.org/officeDocument/2006/relationships" r:id="Rfabb6c7e112c498b"/>
  </p:notesMasterIdLst>
  <p:sldIdLst>
    <p:sldId xmlns:r="http://schemas.openxmlformats.org/officeDocument/2006/relationships" id="256" r:id="Rc466c93416ce4aa0"/>
    <p:sldId xmlns:r="http://schemas.openxmlformats.org/officeDocument/2006/relationships" id="257" r:id="Rf02f196f769b4766"/>
    <p:sldId xmlns:r="http://schemas.openxmlformats.org/officeDocument/2006/relationships" id="258" r:id="R0f4d2c5620af413d"/>
    <p:sldId xmlns:r="http://schemas.openxmlformats.org/officeDocument/2006/relationships" id="259" r:id="R4a84aab6f22b4424"/>
    <p:sldId xmlns:r="http://schemas.openxmlformats.org/officeDocument/2006/relationships" id="260" r:id="R4cb8b004bde04ae7"/>
    <p:sldId xmlns:r="http://schemas.openxmlformats.org/officeDocument/2006/relationships" id="261" r:id="R71ace3eb18b94d97"/>
    <p:sldId xmlns:r="http://schemas.openxmlformats.org/officeDocument/2006/relationships" id="262" r:id="R9f9807cd631a46d9"/>
    <p:sldId xmlns:r="http://schemas.openxmlformats.org/officeDocument/2006/relationships" id="263" r:id="R1c2f41e0a2b341e8"/>
    <p:sldId xmlns:r="http://schemas.openxmlformats.org/officeDocument/2006/relationships" id="264" r:id="Rea84901e97db44ae"/>
    <p:sldId xmlns:r="http://schemas.openxmlformats.org/officeDocument/2006/relationships" id="265" r:id="R2b7726cce5e445e9"/>
    <p:sldId xmlns:r="http://schemas.openxmlformats.org/officeDocument/2006/relationships" id="266" r:id="Raa9862b1d30c4a52"/>
    <p:sldId xmlns:r="http://schemas.openxmlformats.org/officeDocument/2006/relationships" id="267" r:id="R8974a9c7fb8d4f18"/>
    <p:sldId xmlns:r="http://schemas.openxmlformats.org/officeDocument/2006/relationships" id="268" r:id="Ra532425910a443e8"/>
    <p:sldId xmlns:r="http://schemas.openxmlformats.org/officeDocument/2006/relationships" id="269" r:id="Rf04daa5418e8465b"/>
    <p:sldId xmlns:r="http://schemas.openxmlformats.org/officeDocument/2006/relationships" id="270" r:id="Rf2eb164de5ad48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a4949c9baf4ebf" /><Relationship Type="http://schemas.openxmlformats.org/officeDocument/2006/relationships/slideMaster" Target="/ppt/slideMasters/slideMaster1.xml" Id="R24c1d734e6b94e68" /><Relationship Type="http://schemas.openxmlformats.org/officeDocument/2006/relationships/notesMaster" Target="/ppt/notesMasters/notesMaster1.xml" Id="Rfabb6c7e112c498b" /><Relationship Type="http://schemas.openxmlformats.org/officeDocument/2006/relationships/presProps" Target="/ppt/presProps.xml" Id="R8b9f63ea2e5f4402" /><Relationship Type="http://schemas.openxmlformats.org/officeDocument/2006/relationships/viewProps" Target="/ppt/viewProps.xml" Id="Rf7e9fb44609842b0" /><Relationship Type="http://schemas.openxmlformats.org/officeDocument/2006/relationships/tableStyles" Target="/ppt/tableStyles.xml" Id="R53fc38e73c6348db" /><Relationship Type="http://schemas.openxmlformats.org/officeDocument/2006/relationships/slide" Target="/ppt/slides/slide1.xml" Id="Rc466c93416ce4aa0" /><Relationship Type="http://schemas.openxmlformats.org/officeDocument/2006/relationships/slide" Target="/ppt/slides/slide2.xml" Id="Rf02f196f769b4766" /><Relationship Type="http://schemas.openxmlformats.org/officeDocument/2006/relationships/slide" Target="/ppt/slides/slide3.xml" Id="R0f4d2c5620af413d" /><Relationship Type="http://schemas.openxmlformats.org/officeDocument/2006/relationships/slide" Target="/ppt/slides/slide4.xml" Id="R4a84aab6f22b4424" /><Relationship Type="http://schemas.openxmlformats.org/officeDocument/2006/relationships/slide" Target="/ppt/slides/slide5.xml" Id="R4cb8b004bde04ae7" /><Relationship Type="http://schemas.openxmlformats.org/officeDocument/2006/relationships/slide" Target="/ppt/slides/slide6.xml" Id="R71ace3eb18b94d97" /><Relationship Type="http://schemas.openxmlformats.org/officeDocument/2006/relationships/slide" Target="/ppt/slides/slide7.xml" Id="R9f9807cd631a46d9" /><Relationship Type="http://schemas.openxmlformats.org/officeDocument/2006/relationships/slide" Target="/ppt/slides/slide8.xml" Id="R1c2f41e0a2b341e8" /><Relationship Type="http://schemas.openxmlformats.org/officeDocument/2006/relationships/slide" Target="/ppt/slides/slide9.xml" Id="Rea84901e97db44ae" /><Relationship Type="http://schemas.openxmlformats.org/officeDocument/2006/relationships/slide" Target="/ppt/slides/slide10.xml" Id="R2b7726cce5e445e9" /><Relationship Type="http://schemas.openxmlformats.org/officeDocument/2006/relationships/slide" Target="/ppt/slides/slide11.xml" Id="Raa9862b1d30c4a52" /><Relationship Type="http://schemas.openxmlformats.org/officeDocument/2006/relationships/slide" Target="/ppt/slides/slide12.xml" Id="R8974a9c7fb8d4f18" /><Relationship Type="http://schemas.openxmlformats.org/officeDocument/2006/relationships/slide" Target="/ppt/slides/slide13.xml" Id="Ra532425910a443e8" /><Relationship Type="http://schemas.openxmlformats.org/officeDocument/2006/relationships/slide" Target="/ppt/slides/slide14.xml" Id="Rf04daa5418e8465b" /><Relationship Type="http://schemas.openxmlformats.org/officeDocument/2006/relationships/slide" Target="/ppt/slides/slide15.xml" Id="Rf2eb164de5ad48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a5c9ad452146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979d7fe8c6442c" /><Relationship Type="http://schemas.openxmlformats.org/officeDocument/2006/relationships/notesMaster" Target="/ppt/notesMasters/notesMaster1.xml" Id="Ra3c897dbf4aa44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7d0d391ff748c4" /><Relationship Type="http://schemas.openxmlformats.org/officeDocument/2006/relationships/notesMaster" Target="/ppt/notesMasters/notesMaster1.xml" Id="Rcef14476238240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4d355368bc4cbc" /><Relationship Type="http://schemas.openxmlformats.org/officeDocument/2006/relationships/notesMaster" Target="/ppt/notesMasters/notesMaster1.xml" Id="R1b77eb7f550f42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bfc419468c4b46" /><Relationship Type="http://schemas.openxmlformats.org/officeDocument/2006/relationships/notesMaster" Target="/ppt/notesMasters/notesMaster1.xml" Id="Rb6d37aaf5ffd48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4ac67a4ff84e6d" /><Relationship Type="http://schemas.openxmlformats.org/officeDocument/2006/relationships/notesMaster" Target="/ppt/notesMasters/notesMaster1.xml" Id="Rd87421da652246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dc0c8b759e453e" /><Relationship Type="http://schemas.openxmlformats.org/officeDocument/2006/relationships/notesMaster" Target="/ppt/notesMasters/notesMaster1.xml" Id="Re8b6eb4a15064f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a3c1117a2d4bf4" /><Relationship Type="http://schemas.openxmlformats.org/officeDocument/2006/relationships/notesMaster" Target="/ppt/notesMasters/notesMaster1.xml" Id="R7c72010bc73743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e2f1eaece94aba" /><Relationship Type="http://schemas.openxmlformats.org/officeDocument/2006/relationships/notesMaster" Target="/ppt/notesMasters/notesMaster1.xml" Id="Rce5f7829f0a248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1bd9188b4b4e5d" /><Relationship Type="http://schemas.openxmlformats.org/officeDocument/2006/relationships/notesMaster" Target="/ppt/notesMasters/notesMaster1.xml" Id="Rce174da9650b45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82b3b965254d56" /><Relationship Type="http://schemas.openxmlformats.org/officeDocument/2006/relationships/notesMaster" Target="/ppt/notesMasters/notesMaster1.xml" Id="R69d41d2383b741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598d2152684623" /><Relationship Type="http://schemas.openxmlformats.org/officeDocument/2006/relationships/notesMaster" Target="/ppt/notesMasters/notesMaster1.xml" Id="R3b864aa15ec349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b61149fea643cb" /><Relationship Type="http://schemas.openxmlformats.org/officeDocument/2006/relationships/notesMaster" Target="/ppt/notesMasters/notesMaster1.xml" Id="R816fc66861b243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d2d9e52a20443e" /><Relationship Type="http://schemas.openxmlformats.org/officeDocument/2006/relationships/notesMaster" Target="/ppt/notesMasters/notesMaster1.xml" Id="R43ebd56fe15249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fb2e9516624073" /><Relationship Type="http://schemas.openxmlformats.org/officeDocument/2006/relationships/notesMaster" Target="/ppt/notesMasters/notesMaster1.xml" Id="R6ef1577bf48e41b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fe6ad412504c74" /><Relationship Type="http://schemas.openxmlformats.org/officeDocument/2006/relationships/notesMaster" Target="/ppt/notesMasters/notesMaster1.xml" Id="R4cd6c6cdb5734a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开场放下第 7 课的成果。第 7 课建立了机制假设、研究判断初版和实验规格草图，但都是内部工件。本课把这些工件暴露给同伴质询，让范围、证据、baseline、停止条件和替代假设区分性在反馈下显式化。本课是形成性活动，不新增正式提交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第8讲 学生研究方案分享与设计诊所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课程定位以 [syllabus.md](../../course/syllabus.md) 与 [备课规划.md](../备课规划.md) 第 8 课段为准；[assignments.md](../../course/assignments.md) "第 8 课：研究方案分享与设计诊所"段明确不正式提交。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7 课：机制假设和实验规格草图都是自己写的，自己看着成立。本课让同伴按 rubric 检查问题重要性、证据充分性、可检验性和课程周期可行性，把反馈转为采纳决策。范围、非例和适用边界仍在陈述与决策中横切检查。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 7 课已建立：</a:t>
            </a:r>
          </a:p>
          <a:p xmlns:a="http://schemas.openxmlformats.org/drawingml/2006/main">
            <a:r>
              <a:t>- 机制假设列表（含淘汰理由）</a:t>
            </a:r>
          </a:p>
          <a:p xmlns:a="http://schemas.openxmlformats.org/drawingml/2006/main">
            <a:r>
              <a:t>- 研究判断记录初版</a:t>
            </a:r>
          </a:p>
          <a:p xmlns:a="http://schemas.openxmlformats.org/drawingml/2006/main">
            <a:r>
              <a:t>- 实验规格草图（变量、baseline、停止条件、失败预案）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仍未做：</a:t>
            </a:r>
          </a:p>
          <a:p xmlns:a="http://schemas.openxmlformats.org/drawingml/2006/main">
            <a:r>
              <a:t>- 让方案经受外部质询</a:t>
            </a:r>
          </a:p>
          <a:p xmlns:a="http://schemas.openxmlformats.org/drawingml/2006/main">
            <a:r>
              <a:t>- 把反馈转为可追溯的采纳决策</a:t>
            </a:r>
          </a:p>
          <a:p xmlns:a="http://schemas.openxmlformats.org/drawingml/2006/main">
            <a:r>
              <a:t>- 对照第 9 课判断门条件预检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内部工件成立 ≠ 经外部质询仍成立。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回扣第 7 课讲义与 [assignments.md](../../course/assignments.md) 第 9 课判断门条件。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明确边界：本课建立可复盘的"陈述—反馈—决策—预检"链路，不是完成研究提案。采纳决策当场写，不课后补。本课产出在第 9 课判断门作为"第 8 课同伴反馈处理记录"和"至少 2 条研究判断"两项材料被检查。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用限时五段结构表达研究方案；</a:t>
            </a:r>
          </a:p>
          <a:p xmlns:a="http://schemas.openxmlformats.org/drawingml/2006/main">
            <a:r>
              <a:t>2. 用“四个诊断维度 + 一个行动性检查”和三问格式给出结构化反馈；</a:t>
            </a:r>
          </a:p>
          <a:p xmlns:a="http://schemas.openxmlformats.org/drawingml/2006/main">
            <a:r>
              <a:t>3. 区分设计诊所与评分打分；</a:t>
            </a:r>
          </a:p>
          <a:p xmlns:a="http://schemas.openxmlformats.org/drawingml/2006/main">
            <a:r>
              <a:t>4. 根据真实反馈选择采纳、澄清、补证、暂缓或保留异议；</a:t>
            </a:r>
          </a:p>
          <a:p xmlns:a="http://schemas.openxmlformats.org/drawingml/2006/main">
            <a:r>
              <a:t>5. 对照第 9 课判断门条件预检；</a:t>
            </a:r>
          </a:p>
          <a:p xmlns:a="http://schemas.openxmlformats.org/drawingml/2006/main">
            <a:r>
              <a:t>6. 说明 AI 只作反馈线索，不作决策。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课堂最低产出：每人陈述一次、获得至少两条同伴反馈、处理至少两条反馈，并完成一处现场修订。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本课不正式提交，产出是第 9 课判断门直接输入。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[备课规划.md](../备课规划.md) 第 8 课目标段；[assignments.md](../../course/assignments.md) "第 8 课"段与 Checkpoint 2 判断门条件。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用贯穿案例展示从第 7 课输出到陈述稿的压缩。第 3 段含中间过程（字段约束 → 生成时强制标注 → 错读更易暴露），不是"会降低"。第 5 段风险具体指向 A2（标注假象），不是泛泛的"可能失败"。常见错误：第 1 段写成主题词复述，第 3 段写成结果预测——这两类让同伴无法检查边界和可检验性。完整贯穿案例五段在 P10 教师演示展开。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| 段 | 内容 | 来自第几课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1. 研究问题 | 范围、非例、可证伪命题 | 第 6 课 |</a:t>
            </a:r>
          </a:p>
          <a:p xmlns:a="http://schemas.openxmlformats.org/drawingml/2006/main">
            <a:r>
              <a:t>| 2. 关键证据 | 直接证据及其边界 | 第 5/6 课 |</a:t>
            </a:r>
          </a:p>
          <a:p xmlns:a="http://schemas.openxmlformats.org/drawingml/2006/main">
            <a:r>
              <a:t>| 3. 机制假设 | 中间过程 + 可区分替代 | 第 7 课 |</a:t>
            </a:r>
          </a:p>
          <a:p xmlns:a="http://schemas.openxmlformats.org/drawingml/2006/main">
            <a:r>
              <a:t>| 4. 最小验证 | 支持／反驳／仍不能判断 | 第 7 课 |</a:t>
            </a:r>
          </a:p>
          <a:p xmlns:a="http://schemas.openxmlformats.org/drawingml/2006/main">
            <a:r>
              <a:t>| 5. 最大风险 | 最可能不通过的一点 | 第 7 课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把第 3 段写成"会更好"不算机制假设——没有中间过程。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案例锚点：阅读卡 vs 自由摘要；主机制是“字段约束 → 显式标注 → 错读更易暴露”；A1 任务转移是替代，A2 标注提示效应是最大风险。完整五段见 P10 与 handout §七。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§二 3 分钟陈述结构、§七 贯穿案例；Booth et al. *The Craft of Research* 5th ed. 5.5 与 10.2（[reading-list.md](../../course/reading-list.md) 第 8 课）；Peyton Jones "Writing a Great Research Proposal"（教学讲义，不作学术证据）。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rubric 先检查问题重要性、证据充分性、可检验性和课程周期可行性四个诊断维度，再检查下一步实验是否能改变研究判断。同伴不给分数、不排名，只指出"看到了什么"和"缺了什么"。适用范围和非例仍在陈述与采纳决策中检查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| 维度 | 检查问题 | 对应判断门条件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问题重要性 | 会改变什么判断或行动？ | 问题门说明 |</a:t>
            </a:r>
          </a:p>
          <a:p xmlns:a="http://schemas.openxmlformats.org/drawingml/2006/main">
            <a:r>
              <a:t>| 证据充分性 | 可核验？强度、冲突、缺口清楚？ | 2 条判断含依据 |</a:t>
            </a:r>
          </a:p>
          <a:p xmlns:a="http://schemas.openxmlformats.org/drawingml/2006/main">
            <a:r>
              <a:t>| 可检验性 | 能推翻？主／替代可区分？ | 规格含假设对应 |</a:t>
            </a:r>
          </a:p>
          <a:p xmlns:a="http://schemas.openxmlformats.org/drawingml/2006/main">
            <a:r>
              <a:t>| 课程周期可行性 | baseline 公平？周期内能完成？ | 可执行 baseline／原型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行动性检查：下一步实验能否改变研究判断？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rubric 是诊断工具，不是评分表。边界横切检查，不替代问题重要性。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§三·1 与 §六·1；[assignments.md](../../course/assignments.md) Checkpoint 2 判断门条件。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三问强制防止反馈发散成"我觉得都挺好的"。最强处和最大风险必须落到问题重要性、证据充分性、可检验性或课程周期可行性上。"建议"必须针对"最大风险"，并能说明它如何可能改变研究判断。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每位同伴对每位陈述者只用三问：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**一项最强处**：方案在四维度上当前最扎实的一点（重要性不等于题目有趣）</a:t>
            </a:r>
          </a:p>
          <a:p xmlns:a="http://schemas.openxmlformats.org/drawingml/2006/main">
            <a:r>
              <a:t>2. **一项最大风险**：方案在四维度上当前最可能不通过判断门的一点</a:t>
            </a:r>
          </a:p>
          <a:p xmlns:a="http://schemas.openxmlformats.org/drawingml/2006/main">
            <a:r>
              <a:t>3. **一条可执行建议**：针对最大风险，下周能做的最小改进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最强处和最大风险必须落在 rubric 四维度上，不能落在"题目时髦度"或"陈述流畅度"；建议要说明下一步实验如何改变研究判断。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§三·2。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反馈者不是评委，是合作诊断者。陈述者先完整记录，再按真实需要选择采纳、澄清、补证、暂缓或保留异议；每条都记理由与回写位置，不要求出现“拒绝”。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反馈者责任：</a:t>
            </a:r>
          </a:p>
          <a:p xmlns:a="http://schemas.openxmlformats.org/drawingml/2006/main">
            <a:r>
              <a:t>- 指向方案，不指向人</a:t>
            </a:r>
          </a:p>
          <a:p xmlns:a="http://schemas.openxmlformats.org/drawingml/2006/main">
            <a:r>
              <a:t>- 引用陈述中具体内容，不用泛化判断</a:t>
            </a:r>
          </a:p>
          <a:p xmlns:a="http://schemas.openxmlformats.org/drawingml/2006/main">
            <a:r>
              <a:t>- 区分"我看到的缺陷"和"我会怎么改"</a:t>
            </a:r>
          </a:p>
          <a:p xmlns:a="http://schemas.openxmlformats.org/drawingml/2006/main">
            <a:r>
              <a:t>- 不替作者决定采纳什么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设计诊所三纪律：</a:t>
            </a:r>
          </a:p>
          <a:p xmlns:a="http://schemas.openxmlformats.org/drawingml/2006/main">
            <a:r>
              <a:t>1. 诊断对象是方案，不是陈述者</a:t>
            </a:r>
          </a:p>
          <a:p xmlns:a="http://schemas.openxmlformats.org/drawingml/2006/main">
            <a:r>
              <a:t>2. 不作共同决策</a:t>
            </a:r>
          </a:p>
          <a:p xmlns:a="http://schemas.openxmlformats.org/drawingml/2006/main">
            <a:r>
              <a:t>3. 失败暴露优先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一次诊所轮次：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阶段 | 动作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限时陈述 | 陈述者按五段结构陈述，同伴只听不插话 |</a:t>
            </a:r>
          </a:p>
          <a:p xmlns:a="http://schemas.openxmlformats.org/drawingml/2006/main">
            <a:r>
              <a:t>| 限时反馈 | 每位同伴给出三问；陈述者只记录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"baseline 不公平"未指明具体条目，不算合格反馈。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反馈记录表字段：反馈来源 / 维度 / 最强处·最大风险·建议 / 处理动作 / 理由 / 回写位置。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§三·3、§四·1、§四·2、§四·3。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本课要求处理至少两条真实反馈，动作可相同，不强制覆盖类别。暂缓必须写明后续触发条件，保留异议必须写明证据或约束依据。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| 处理动作 | 何时使用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采纳 | 意见成立，直接修改工件 |</a:t>
            </a:r>
          </a:p>
          <a:p xmlns:a="http://schemas.openxmlformats.org/drawingml/2006/main">
            <a:r>
              <a:t>| 澄清 | 反馈来自表达含混，先补边界或定义 |</a:t>
            </a:r>
          </a:p>
          <a:p xmlns:a="http://schemas.openxmlformats.org/drawingml/2006/main">
            <a:r>
              <a:t>| 补证 | 需要新证据或检查才能判断 |</a:t>
            </a:r>
          </a:p>
          <a:p xmlns:a="http://schemas.openxmlformats.org/drawingml/2006/main">
            <a:r>
              <a:t>| 暂缓 | 当前无法完成，写明后续触发条件 |</a:t>
            </a:r>
          </a:p>
          <a:p xmlns:a="http://schemas.openxmlformats.org/drawingml/2006/main">
            <a:r>
              <a:t>| 保留异议 | 意见与已有证据或约束冲突，保留分歧与理由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字段 | 说明 | 样例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决策内容 | 选择什么处理动作 | 补证“H1 与 A1 映射尚不可区分” |</a:t>
            </a:r>
          </a:p>
          <a:p xmlns:a="http://schemas.openxmlformats.org/drawingml/2006/main">
            <a:r>
              <a:t>| 取舍理由 | 为什么这样取 | 区分实验是判断门条件 |</a:t>
            </a:r>
          </a:p>
          <a:p xmlns:a="http://schemas.openxmlformats.org/drawingml/2006/main">
            <a:r>
              <a:t>| 适用边界 | 在什么条件下成立 | 当前 20 篇样本；外推需重验 |</a:t>
            </a:r>
          </a:p>
          <a:p xmlns:a="http://schemas.openxmlformats.org/drawingml/2006/main">
            <a:r>
              <a:t>| 依据 | 反馈来源 + 方案条目 | 同伴 A + 第 7 课 A1 + 实验 §假设对应 |</a:t>
            </a:r>
          </a:p>
          <a:p xmlns:a="http://schemas.openxmlformats.org/drawingml/2006/main">
            <a:r>
              <a:t>| 待验证状态 | 哪些仍未确认 | 分层后是否能产生差异待第 9 课确认 |</a:t>
            </a:r>
          </a:p>
          <a:p xmlns:a="http://schemas.openxmlformats.org/drawingml/2006/main">
            <a:r>
              <a:t>| 影响工件 | 决策改变后影响什么 | 实验规格 §假设对应、研究判断初版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处理动作必须对应方案具体条目，并记录理由与回写位置；不为凑类别制造“拒绝”。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§五·1、§五·2；第 1 课 §2.6 与第 7 课 §三·2 研究判断六字段。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可以在反馈处理阶段辅助，但反馈是否成立、采纳什么、写出取舍理由，必须学生本人完成。AI 没有对方案证据、机制和约束的整体上下文。把 AI 草拟决策直接搬入研究判断主格，等于把研究判断外包给模型。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AI 可以：</a:t>
            </a:r>
          </a:p>
          <a:p xmlns:a="http://schemas.openxmlformats.org/drawingml/2006/main">
            <a:r>
              <a:t>- 把同伴口述反馈转写为结构化条目</a:t>
            </a:r>
          </a:p>
          <a:p xmlns:a="http://schemas.openxmlformats.org/drawingml/2006/main">
            <a:r>
              <a:t>- 提示反馈可能对应的 rubric 维度</a:t>
            </a:r>
          </a:p>
          <a:p xmlns:a="http://schemas.openxmlformats.org/drawingml/2006/main">
            <a:r>
              <a:t>- 草拟可能的处理理由或修改方向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不可以：</a:t>
            </a:r>
          </a:p>
          <a:p xmlns:a="http://schemas.openxmlformats.org/drawingml/2006/main">
            <a:r>
              <a:t>- 判断反馈是否成立</a:t>
            </a:r>
          </a:p>
          <a:p xmlns:a="http://schemas.openxmlformats.org/drawingml/2006/main">
            <a:r>
              <a:t>- 决定采纳、澄清、补证、暂缓或保留异议</a:t>
            </a:r>
          </a:p>
          <a:p xmlns:a="http://schemas.openxmlformats.org/drawingml/2006/main">
            <a:r>
              <a:t>- 写出取舍理由、适用边界和影响工件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未完成核验前，AI 草拟决策表只能保留在探索线索区。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§五·3；[AGENTS.md](../../AGENTS.md) 证据标准。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演示如何只用公开论文摘要中可核验的内容重构五段，不自造实验数字。这是一个真实方案对象，不表示课程已复现其结果。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真实公开方案对象：Bouthillier et al. 2021，机器学习 benchmark 方差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从论文可核验内容重构五段：</a:t>
            </a:r>
          </a:p>
          <a:p xmlns:a="http://schemas.openxmlformats.org/drawingml/2006/main">
            <a:r>
              <a:t>- 问题：benchmark 比较容易把多个方差来源忽略掉</a:t>
            </a:r>
          </a:p>
          <a:p xmlns:a="http://schemas.openxmlformats.org/drawingml/2006/main">
            <a:r>
              <a:t>- 关键证据：作者对整个 benchmarking 过程建模，并评估检测改进的错误率</a:t>
            </a:r>
          </a:p>
          <a:p xmlns:a="http://schemas.openxmlformats.org/drawingml/2006/main">
            <a:r>
              <a:t>- 机制假设：数据抽样、初始化和超参数选择方差会改变比较结论</a:t>
            </a:r>
          </a:p>
          <a:p xmlns:a="http://schemas.openxmlformats.org/drawingml/2006/main">
            <a:r>
              <a:t>- 最小验证：在五个深度学习任务/架构上评估比较方法</a:t>
            </a:r>
          </a:p>
          <a:p xmlns:a="http://schemas.openxmlformats.org/drawingml/2006/main">
            <a:r>
              <a:t>- 最大风险：计算代价使全量覆盖所有方差来源不现实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限时陈述按 P04 五段结构压缩。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Bouthillier, X. et al. "Accounting for Variance in Machine Learning Benchmarks." MLSys 2021，官方论文与摘要；本页仅重构公开可核验内容，不宣称课程已复现结果。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演示让学生区分对齐 rubric 的具体反馈与泛化判断。泛化反馈先澄清；重要性不清时可暂缓结论，并写明下一步触发条件。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**虚构教学反馈｜基于 P10 公开论文重构，仅演示决策记录**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教师扮演同伴，给出三条反馈：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对齐 rubric："数据抽样与初始化方差的区分设计未写清"（可检验性）</a:t>
            </a:r>
          </a:p>
          <a:p xmlns:a="http://schemas.openxmlformats.org/drawingml/2006/main">
            <a:r>
              <a:t>2. 泛化判断："比较不公平"（未指明何种差异）</a:t>
            </a:r>
          </a:p>
          <a:p xmlns:a="http://schemas.openxmlformats.org/drawingml/2006/main">
            <a:r>
              <a:t>3. 对齐 rubric："没说清误判改进会改变哪项 benchmark 决策"（问题重要性）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反馈处理当场写：</a:t>
            </a:r>
          </a:p>
          <a:p xmlns:a="http://schemas.openxmlformats.org/drawingml/2006/main">
            <a:r>
              <a:t>- 反馈 1 → 采纳，影响=实验规格 §假设对应/变量</a:t>
            </a:r>
          </a:p>
          <a:p xmlns:a="http://schemas.openxmlformats.org/drawingml/2006/main">
            <a:r>
              <a:t>- 反馈 2 → 澄清，请反馈者指明不公平的变量或比较环节</a:t>
            </a:r>
          </a:p>
          <a:p xmlns:a="http://schemas.openxmlformats.org/drawingml/2006/main">
            <a:r>
              <a:t>- 反馈 3 → 暂缓，影响=问题定义与研究判断；先写明哪种误判率会改变比较决策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处理动作由真实反馈决定，不强制出现拒绝。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虚构教学反馈，只演示“反馈 → 处理动作 → 理由与回写位置”；不是 Bouthillier et al. 的真实评审意见。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本课直接产出"第 8 课同伴反馈处理记录"和"至少 2 条研究判断"两项判断门材料。其余条件第 9 课内补齐。预检让学生看到第 9 课前还要补什么。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| 判断门条件 | 第 8 课预检 | 缺口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可执行 baseline | 部分 | 第 9 课跑通 |</a:t>
            </a:r>
          </a:p>
          <a:p xmlns:a="http://schemas.openxmlformats.org/drawingml/2006/main">
            <a:r>
              <a:t>| 数据/材料/指标/限制 | 部分 | 第 9 课补 |</a:t>
            </a:r>
          </a:p>
          <a:p xmlns:a="http://schemas.openxmlformats.org/drawingml/2006/main">
            <a:r>
              <a:t>| 环境/配置/随机种子 | 未覆盖 | 第 9 课 |</a:t>
            </a:r>
          </a:p>
          <a:p xmlns:a="http://schemas.openxmlformats.org/drawingml/2006/main">
            <a:r>
              <a:t>| 至少 2 条研究判断 | 本课决策表补入 | — |</a:t>
            </a:r>
          </a:p>
          <a:p xmlns:a="http://schemas.openxmlformats.org/drawingml/2006/main">
            <a:r>
              <a:t>| 实验规格完整 | 第 7 课草图 + 本课反馈 | 本课反馈补全 |</a:t>
            </a:r>
          </a:p>
          <a:p xmlns:a="http://schemas.openxmlformats.org/drawingml/2006/main">
            <a:r>
              <a:t>| 第 8 课同伴反馈处理记录 | 本课产出 | — |</a:t>
            </a:r>
          </a:p>
          <a:p xmlns:a="http://schemas.openxmlformats.org/drawingml/2006/main">
            <a:r>
              <a:t>| 最大风险和失败预案 | 本课陈述 + 反馈 | — |</a:t>
            </a:r>
          </a:p>
          <a:p xmlns:a="http://schemas.openxmlformats.org/drawingml/2006/main">
            <a:r>
              <a:t>| 一条已遇失败或放弃备选记录 | 可先登记 | 第 9 课补足处理理由 |</a:t>
            </a:r>
          </a:p>
          <a:p xmlns:a="http://schemas.openxmlformats.org/drawingml/2006/main">
            <a:r>
              <a:t>| 迁移到 project-template | 未覆盖 | 第 9 课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§六·1；[assignments.md](../../course/assignments.md) Checkpoint 2 判断门条件——权威来源。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教师内部执行：15 人分 5 个三人组，每人 3 分钟陈述 + 2 分钟合并反馈，基础轮次 15 分钟；40 分钟分组块足以完成轮次、追问、转换与补记。随后做全班诊断，再进入作者处理与现场修订。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实践任务：</a:t>
            </a:r>
          </a:p>
          <a:p xmlns:a="http://schemas.openxmlformats.org/drawingml/2006/main">
            <a:r>
              <a:t>1. 补全限时陈述稿五段</a:t>
            </a:r>
          </a:p>
          <a:p xmlns:a="http://schemas.openxmlformats.org/drawingml/2006/main">
            <a:r>
              <a:t>2. 同伴互查：每人一次限时陈述与反馈</a:t>
            </a:r>
          </a:p>
          <a:p xmlns:a="http://schemas.openxmlformats.org/drawingml/2006/main">
            <a:r>
              <a:t>3. 根据真实反馈选择处理动作，处理至少 2 条</a:t>
            </a:r>
          </a:p>
          <a:p xmlns:a="http://schemas.openxmlformats.org/drawingml/2006/main">
            <a:r>
              <a:t>4. 现场修订 1 处，并记录理由与位置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互查分组与轮次表见投屏。</a:t>
            </a:r>
          </a:p>
          <a:p xmlns:a="http://schemas.openxmlformats.org/drawingml/2006/main">
            <a:r>
              <a:t>分组与轮次见教师口头指令；本页只保留学生动作。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§八 练习 1-6；[assignments.md](../../course/assignments.md) 第 8 课段。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回收陈述、质询、决策和行动回写，不新增正式提交。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方案陈述 → 同伴质询 → 作者决策 → 下一步行动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用最小结构暴露问题、证据、机制与实验；</a:t>
            </a:r>
          </a:p>
          <a:p xmlns:a="http://schemas.openxmlformats.org/drawingml/2006/main">
            <a:r>
              <a:t>- 同伴按诊断维度提问，不替作者决定；</a:t>
            </a:r>
          </a:p>
          <a:p xmlns:a="http://schemas.openxmlformats.org/drawingml/2006/main">
            <a:r>
              <a:t>- 作者逐条选择采纳、澄清、补证、暂缓或保留异议，并记理由与位置；</a:t>
            </a:r>
          </a:p>
          <a:p xmlns:a="http://schemas.openxmlformats.org/drawingml/2006/main">
            <a:r>
              <a:t>- 把反馈落到判断门工件和实验计划。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反馈是诊断输入；是否采纳以及如何修改，必须由作者记录并承担。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§二-§五；[assignments.md](../../course/assignments.md) 形成性反馈边界。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退出卡让学生把今天的反馈和第 9 课判断门的缺口对接。第 9 课预告强调判断门材料包的迁移路径：从轻量脚手架迁移到 project-template.md，且不丢失 AI 使用记录和伦理说明。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退出卡：</a:t>
            </a:r>
          </a:p>
          <a:p xmlns:a="http://schemas.openxmlformats.org/drawingml/2006/main">
            <a:r>
              <a:t>- 我的方案在 rubric 哪一维度最薄弱？边界限定是否仍清楚？</a:t>
            </a:r>
          </a:p>
          <a:p xmlns:a="http://schemas.openxmlformats.org/drawingml/2006/main">
            <a:r>
              <a:t>- 我收到的一条最可执行的反馈是什么？</a:t>
            </a:r>
          </a:p>
          <a:p xmlns:a="http://schemas.openxmlformats.org/drawingml/2006/main">
            <a:r>
              <a:t>- 我对这条反馈采取了什么处理动作？理由与回写位置是什么？</a:t>
            </a:r>
          </a:p>
          <a:p xmlns:a="http://schemas.openxmlformats.org/drawingml/2006/main">
            <a:r>
              <a:t>- 第 9 课判断门前我要补的最小集合是什么？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9 课预告：</a:t>
            </a:r>
          </a:p>
          <a:p xmlns:a="http://schemas.openxmlformats.org/drawingml/2006/main">
            <a:r>
              <a:t>- 运行 baseline，完善实验规格</a:t>
            </a:r>
          </a:p>
          <a:p xmlns:a="http://schemas.openxmlformats.org/drawingml/2006/main">
            <a:r>
              <a:t>- 完成复现说明与环境记录</a:t>
            </a:r>
          </a:p>
          <a:p xmlns:a="http://schemas.openxmlformats.org/drawingml/2006/main">
            <a:r>
              <a:t>- 把研究判断追溯到机制假设和证据地图</a:t>
            </a:r>
          </a:p>
          <a:p xmlns:a="http://schemas.openxmlformats.org/drawingml/2006/main">
            <a:r>
              <a:t>- 提交判断门材料包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本课不新增课后正式作业。产出在第 9 课随判断门统一检查。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讲义 §学习目标；[assignments.md](../../course/assignments.md) Checkpoint 2 与"第 8 课"段；第 9 课见 [备课规划.md](../备课规划.md) 第 9 课段。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66fde7d1a94aaa" /><Relationship Type="http://schemas.openxmlformats.org/officeDocument/2006/relationships/image" Target="/ppt/media/image.png" Id="R0903cbc1a27c4086" /><Relationship Type="http://schemas.openxmlformats.org/officeDocument/2006/relationships/image" Target="/ppt/media/image2.png" Id="Ra7f79d1fd2e144e3" /><Relationship Type="http://schemas.openxmlformats.org/officeDocument/2006/relationships/image" Target="/ppt/media/image3.png" Id="R3648ef54f05740a2" /><Relationship Type="http://schemas.openxmlformats.org/officeDocument/2006/relationships/image" Target="/ppt/media/image4.png" Id="R6777560ac5f24c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7a3baf32c45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40e58a50634a29" /><Relationship Type="http://schemas.openxmlformats.org/officeDocument/2006/relationships/image" Target="/ppt/media/image2.png" Id="R0f1a08a383e74317" /><Relationship Type="http://schemas.openxmlformats.org/officeDocument/2006/relationships/image" Target="/ppt/media/image5.png" Id="R38daf394c54f424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b62c31a7d346c1" /><Relationship Type="http://schemas.openxmlformats.org/officeDocument/2006/relationships/image" Target="/ppt/media/image.png" Id="R5dc4d9a4df464524" /><Relationship Type="http://schemas.openxmlformats.org/officeDocument/2006/relationships/image" Target="/ppt/media/image3.png" Id="R5468326b14164591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3cbc1a27c4086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f79d1fd2e144e3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48ef54f05740a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7560ac5f24ceb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1a08a383e74317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af394c54f42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c4d9a4df464524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68326b14164591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ea6e7a526a4a78" /><Relationship Type="http://schemas.openxmlformats.org/officeDocument/2006/relationships/slideLayout" Target="/ppt/slideLayouts/slideLayout1.xml" Id="Re999d2a998344deb" /><Relationship Type="http://schemas.openxmlformats.org/officeDocument/2006/relationships/slideLayout" Target="/ppt/slideLayouts/slideLayout2.xml" Id="Rcafe03ab985c40d4" /><Relationship Type="http://schemas.openxmlformats.org/officeDocument/2006/relationships/slideLayout" Target="/ppt/slideLayouts/slideLayout3.xml" Id="R89a350215a0c4a8c" /><Relationship Type="http://schemas.openxmlformats.org/officeDocument/2006/relationships/slideLayout" Target="/ppt/slideLayouts/slideLayout4.xml" Id="Rae86330603b5441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99d2a998344deb"/>
    <p:sldLayoutId xmlns:r="http://schemas.openxmlformats.org/officeDocument/2006/relationships" id="2147483650" r:id="Rcafe03ab985c40d4"/>
    <p:sldLayoutId xmlns:r="http://schemas.openxmlformats.org/officeDocument/2006/relationships" id="2147483651" r:id="R89a350215a0c4a8c"/>
    <p:sldLayoutId xmlns:r="http://schemas.openxmlformats.org/officeDocument/2006/relationships" id="2147483652" r:id="Rae86330603b5441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92aa571114385" /><Relationship Type="http://schemas.openxmlformats.org/officeDocument/2006/relationships/notesSlide" Target="/ppt/notesSlides/notesSlide1.xml" Id="R7ec1952d8cba4a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32ffa201f245e6" /><Relationship Type="http://schemas.openxmlformats.org/officeDocument/2006/relationships/notesSlide" Target="/ppt/notesSlides/notesSlide2.xml" Id="R32cc286019ee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7dbfcad0e24320" /><Relationship Type="http://schemas.openxmlformats.org/officeDocument/2006/relationships/notesSlide" Target="/ppt/notesSlides/notesSlide3.xml" Id="R3a282cbfa24a4e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c27d9bc0b84008" /><Relationship Type="http://schemas.openxmlformats.org/officeDocument/2006/relationships/notesSlide" Target="/ppt/notesSlides/notesSlide4.xml" Id="R01934d3ae11e4d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ec81bc4717448c5" /><Relationship Type="http://schemas.openxmlformats.org/officeDocument/2006/relationships/notesSlide" Target="/ppt/notesSlides/notesSlide5.xml" Id="R7a659c3f4c3d44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99637cdb614f8d" /><Relationship Type="http://schemas.openxmlformats.org/officeDocument/2006/relationships/notesSlide" Target="/ppt/notesSlides/notesSlide6.xml" Id="R1481089d95ea4c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8e2d7a48224db3" /><Relationship Type="http://schemas.openxmlformats.org/officeDocument/2006/relationships/notesSlide" Target="/ppt/notesSlides/notesSlide7.xml" Id="Rbae927e7acbc49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2fd65ae4ed43e2" /><Relationship Type="http://schemas.openxmlformats.org/officeDocument/2006/relationships/notesSlide" Target="/ppt/notesSlides/notesSlide8.xml" Id="Rfcc7ee2255aa43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7cd1a105e14350" /><Relationship Type="http://schemas.openxmlformats.org/officeDocument/2006/relationships/notesSlide" Target="/ppt/notesSlides/notesSlide9.xml" Id="R3e0a28f8a5ab4d7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3302ae735246b6" /><Relationship Type="http://schemas.openxmlformats.org/officeDocument/2006/relationships/notesSlide" Target="/ppt/notesSlides/notesSlide10.xml" Id="R5a311d10231b42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67565dbaed4171" /><Relationship Type="http://schemas.openxmlformats.org/officeDocument/2006/relationships/notesSlide" Target="/ppt/notesSlides/notesSlide11.xml" Id="Rc3af6ac964184f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b0818d99294e1c" /><Relationship Type="http://schemas.openxmlformats.org/officeDocument/2006/relationships/notesSlide" Target="/ppt/notesSlides/notesSlide12.xml" Id="R3d4dfde15c744a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8f8dd896ad4e10" /><Relationship Type="http://schemas.openxmlformats.org/officeDocument/2006/relationships/notesSlide" Target="/ppt/notesSlides/notesSlide13.xml" Id="R6119119c173e49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95f23ec5cc94749" /><Relationship Type="http://schemas.openxmlformats.org/officeDocument/2006/relationships/notesSlide" Target="/ppt/notesSlides/notesSlide14.xml" Id="Rf88a9f10049346f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d1f1525e374083" /><Relationship Type="http://schemas.openxmlformats.org/officeDocument/2006/relationships/notesSlide" Target="/ppt/notesSlides/notesSlide15.xml" Id="R1f166b2963e7462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FD41E72-3208-4C72-AFAB-E349A672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第8讲  学生研究方案分享与设计诊所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7 课之后，内部工件还没有经受外部质询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A3E6A0CB-8715-407F-B0BF-C94E5F75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第 7 课已有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DA74E1B-1BC5-4E5F-BD65-BE43391F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仍需完成</a:t>
            </a:r>
          </a:p>
        </p:txBody>
      </p:sp>
      <p:sp>
        <p:nvSpPr>
          <p:cNvPr id="8" name="split-top">
            <a:extLst xmlns:a="http://schemas.openxmlformats.org/drawingml/2006/main">
              <a:ext uri="{FF2B5EF4-FFF2-40B4-BE49-F238E27FC236}">
                <a16:creationId xmlns:a16="http://schemas.microsoft.com/office/drawing/2014/main" id="{827DFFF8-4FDE-484E-BAED-ECF32CB4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left-lines-0">
            <a:extLst xmlns:a="http://schemas.openxmlformats.org/drawingml/2006/main">
              <a:ext uri="{FF2B5EF4-FFF2-40B4-BE49-F238E27FC236}">
                <a16:creationId xmlns:a16="http://schemas.microsoft.com/office/drawing/2014/main" id="{5AEDFC95-D5FE-41D5-8428-58EEB2BD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机制假设列表</a:t>
            </a:r>
          </a:p>
        </p:txBody>
      </p:sp>
      <p:sp>
        <p:nvSpPr>
          <p:cNvPr id="10" name="left-lines-1">
            <a:extLst xmlns:a="http://schemas.openxmlformats.org/drawingml/2006/main">
              <a:ext uri="{FF2B5EF4-FFF2-40B4-BE49-F238E27FC236}">
                <a16:creationId xmlns:a16="http://schemas.microsoft.com/office/drawing/2014/main" id="{30A45418-4BB6-48DB-BE07-A1A31A0E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研究判断记录</a:t>
            </a:r>
          </a:p>
        </p:txBody>
      </p:sp>
      <p:sp>
        <p:nvSpPr>
          <p:cNvPr id="11" name="left-lines-2">
            <a:extLst xmlns:a="http://schemas.openxmlformats.org/drawingml/2006/main">
              <a:ext uri="{FF2B5EF4-FFF2-40B4-BE49-F238E27FC236}">
                <a16:creationId xmlns:a16="http://schemas.microsoft.com/office/drawing/2014/main" id="{8B3418BF-F121-434C-9C49-187BACDE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实验规格草图</a:t>
            </a:r>
          </a:p>
        </p:txBody>
      </p:sp>
      <p:sp>
        <p:nvSpPr>
          <p:cNvPr id="12" name="right-lines-0">
            <a:extLst xmlns:a="http://schemas.openxmlformats.org/drawingml/2006/main">
              <a:ext uri="{FF2B5EF4-FFF2-40B4-BE49-F238E27FC236}">
                <a16:creationId xmlns:a16="http://schemas.microsoft.com/office/drawing/2014/main" id="{512F402A-8A40-4481-B828-505C3EBC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812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让方案经受外部质询</a:t>
            </a:r>
          </a:p>
        </p:txBody>
      </p:sp>
      <p:sp>
        <p:nvSpPr>
          <p:cNvPr id="13" name="right-lines-1">
            <a:extLst xmlns:a="http://schemas.openxmlformats.org/drawingml/2006/main">
              <a:ext uri="{FF2B5EF4-FFF2-40B4-BE49-F238E27FC236}">
                <a16:creationId xmlns:a16="http://schemas.microsoft.com/office/drawing/2014/main" id="{4DF7A9D7-A344-4AE2-82A2-3002D90C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把反馈转成可追溯处理</a:t>
            </a:r>
          </a:p>
        </p:txBody>
      </p:sp>
      <p:sp>
        <p:nvSpPr>
          <p:cNvPr id="14" name="right-lines-2">
            <a:extLst xmlns:a="http://schemas.openxmlformats.org/drawingml/2006/main">
              <a:ext uri="{FF2B5EF4-FFF2-40B4-BE49-F238E27FC236}">
                <a16:creationId xmlns:a16="http://schemas.microsoft.com/office/drawing/2014/main" id="{208F906D-D75A-493C-8D3A-A6CBF093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718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对照第 9 课门条件预检</a:t>
            </a:r>
          </a:p>
        </p:txBody>
      </p:sp>
      <p:sp>
        <p:nvSpPr>
          <p:cNvPr id="15" name="gap">
            <a:extLst xmlns:a="http://schemas.openxmlformats.org/drawingml/2006/main">
              <a:ext uri="{FF2B5EF4-FFF2-40B4-BE49-F238E27FC236}">
                <a16:creationId xmlns:a16="http://schemas.microsoft.com/office/drawing/2014/main" id="{CB58C449-0CDC-4F98-A56A-371AB34B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530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内部工件成立  ≠  经外部质询仍成立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本课跑通陈述—反馈—决策—预检链路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clinic-0-bg">
            <a:extLst xmlns:a="http://schemas.openxmlformats.org/drawingml/2006/main">
              <a:ext uri="{FF2B5EF4-FFF2-40B4-BE49-F238E27FC236}">
                <a16:creationId xmlns:a16="http://schemas.microsoft.com/office/drawing/2014/main" id="{17B647AB-F842-4506-BC9C-CD58D705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clinic-0">
            <a:extLst xmlns:a="http://schemas.openxmlformats.org/drawingml/2006/main">
              <a:ext uri="{FF2B5EF4-FFF2-40B4-BE49-F238E27FC236}">
                <a16:creationId xmlns:a16="http://schemas.microsoft.com/office/drawing/2014/main" id="{A7049642-1CF0-47A7-9B8C-501AF71C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限时陈述</a:t>
            </a:r>
          </a:p>
        </p:txBody>
      </p:sp>
      <p:sp>
        <p:nvSpPr>
          <p:cNvPr id="8" name="clinic-a0">
            <a:extLst xmlns:a="http://schemas.openxmlformats.org/drawingml/2006/main">
              <a:ext uri="{FF2B5EF4-FFF2-40B4-BE49-F238E27FC236}">
                <a16:creationId xmlns:a16="http://schemas.microsoft.com/office/drawing/2014/main" id="{EC68132F-1573-48F5-8775-BD44EED3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96215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clinic-1-bg">
            <a:extLst xmlns:a="http://schemas.openxmlformats.org/drawingml/2006/main">
              <a:ext uri="{FF2B5EF4-FFF2-40B4-BE49-F238E27FC236}">
                <a16:creationId xmlns:a16="http://schemas.microsoft.com/office/drawing/2014/main" id="{6DE885F7-2813-4DE5-A3BF-09612E50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linic-1">
            <a:extLst xmlns:a="http://schemas.openxmlformats.org/drawingml/2006/main">
              <a:ext uri="{FF2B5EF4-FFF2-40B4-BE49-F238E27FC236}">
                <a16:creationId xmlns:a16="http://schemas.microsoft.com/office/drawing/2014/main" id="{AC8A9E8E-3A36-492D-928B-A0203235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结构反馈</a:t>
            </a:r>
          </a:p>
        </p:txBody>
      </p:sp>
      <p:sp>
        <p:nvSpPr>
          <p:cNvPr id="11" name="clinic-a1">
            <a:extLst xmlns:a="http://schemas.openxmlformats.org/drawingml/2006/main">
              <a:ext uri="{FF2B5EF4-FFF2-40B4-BE49-F238E27FC236}">
                <a16:creationId xmlns:a16="http://schemas.microsoft.com/office/drawing/2014/main" id="{C4D40D4F-BCD9-4B1C-8F1D-822C80D1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6215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clinic-2-bg">
            <a:extLst xmlns:a="http://schemas.openxmlformats.org/drawingml/2006/main">
              <a:ext uri="{FF2B5EF4-FFF2-40B4-BE49-F238E27FC236}">
                <a16:creationId xmlns:a16="http://schemas.microsoft.com/office/drawing/2014/main" id="{CD82765F-5FBF-4A25-AE60-AB08E868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linic-2">
            <a:extLst xmlns:a="http://schemas.openxmlformats.org/drawingml/2006/main">
              <a:ext uri="{FF2B5EF4-FFF2-40B4-BE49-F238E27FC236}">
                <a16:creationId xmlns:a16="http://schemas.microsoft.com/office/drawing/2014/main" id="{118B4638-4715-410A-897E-4D8AAE62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作者处理</a:t>
            </a:r>
          </a:p>
        </p:txBody>
      </p:sp>
      <p:sp>
        <p:nvSpPr>
          <p:cNvPr id="14" name="clinic-a2">
            <a:extLst xmlns:a="http://schemas.openxmlformats.org/drawingml/2006/main">
              <a:ext uri="{FF2B5EF4-FFF2-40B4-BE49-F238E27FC236}">
                <a16:creationId xmlns:a16="http://schemas.microsoft.com/office/drawing/2014/main" id="{27C7C862-D6E9-43D1-B014-0B95FEC3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96215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clinic-3-bg">
            <a:extLst xmlns:a="http://schemas.openxmlformats.org/drawingml/2006/main">
              <a:ext uri="{FF2B5EF4-FFF2-40B4-BE49-F238E27FC236}">
                <a16:creationId xmlns:a16="http://schemas.microsoft.com/office/drawing/2014/main" id="{3F65FA44-36A5-4FCA-99A7-4E0EB28F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clinic-3">
            <a:extLst xmlns:a="http://schemas.openxmlformats.org/drawingml/2006/main">
              <a:ext uri="{FF2B5EF4-FFF2-40B4-BE49-F238E27FC236}">
                <a16:creationId xmlns:a16="http://schemas.microsoft.com/office/drawing/2014/main" id="{F8AA8F55-9F2E-473E-A803-01542B72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判断门预检</a:t>
            </a:r>
          </a:p>
        </p:txBody>
      </p:sp>
      <p:sp>
        <p:nvSpPr>
          <p:cNvPr id="17" name="minimum">
            <a:extLst xmlns:a="http://schemas.openxmlformats.org/drawingml/2006/main">
              <a:ext uri="{FF2B5EF4-FFF2-40B4-BE49-F238E27FC236}">
                <a16:creationId xmlns:a16="http://schemas.microsoft.com/office/drawing/2014/main" id="{3F06A52F-A2A7-490E-82FE-D71E25EC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每人：陈述 1 次  +  反馈至少 2 条  +  处理至少 2 条  +  现场修订 1 处</a:t>
            </a:r>
          </a:p>
        </p:txBody>
      </p:sp>
      <p:sp>
        <p:nvSpPr>
          <p:cNvPr id="18" name="handoff">
            <a:extLst xmlns:a="http://schemas.openxmlformats.org/drawingml/2006/main">
              <a:ext uri="{FF2B5EF4-FFF2-40B4-BE49-F238E27FC236}">
                <a16:creationId xmlns:a16="http://schemas.microsoft.com/office/drawing/2014/main" id="{6D60DE57-1119-4DE0-98FC-DD7618CB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667250"/>
            <a:ext cx="771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形成性诊所，不新增正式提交；产出直接进入第 9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限时陈述要暴露一个可被质询的最小方案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33334E04-7AC2-4DB4-A170-2BC0CC25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seg-a0">
            <a:extLst xmlns:a="http://schemas.openxmlformats.org/drawingml/2006/main">
              <a:ext uri="{FF2B5EF4-FFF2-40B4-BE49-F238E27FC236}">
                <a16:creationId xmlns:a16="http://schemas.microsoft.com/office/drawing/2014/main" id="{B79046E2-3B2F-4AE1-BC37-0B4E800B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01 研究问题</a:t>
            </a:r>
          </a:p>
        </p:txBody>
      </p:sp>
      <p:sp>
        <p:nvSpPr>
          <p:cNvPr id="8" name="seg-b0">
            <a:extLst xmlns:a="http://schemas.openxmlformats.org/drawingml/2006/main">
              <a:ext uri="{FF2B5EF4-FFF2-40B4-BE49-F238E27FC236}">
                <a16:creationId xmlns:a16="http://schemas.microsoft.com/office/drawing/2014/main" id="{5E45DB89-F2BA-46D9-B695-AB222037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7637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范围、非例、可证伪命题</a:t>
            </a:r>
          </a:p>
        </p:txBody>
      </p:sp>
      <p:sp>
        <p:nvSpPr>
          <p:cNvPr id="9" name="seg-c0">
            <a:extLst xmlns:a="http://schemas.openxmlformats.org/drawingml/2006/main">
              <a:ext uri="{FF2B5EF4-FFF2-40B4-BE49-F238E27FC236}">
                <a16:creationId xmlns:a16="http://schemas.microsoft.com/office/drawing/2014/main" id="{9DA812FE-B644-472E-90AD-CFEA4210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476375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</p:txBody>
      </p:sp>
      <p:sp>
        <p:nvSpPr>
          <p:cNvPr id="10" name="seg-a1">
            <a:extLst xmlns:a="http://schemas.openxmlformats.org/drawingml/2006/main">
              <a:ext uri="{FF2B5EF4-FFF2-40B4-BE49-F238E27FC236}">
                <a16:creationId xmlns:a16="http://schemas.microsoft.com/office/drawing/2014/main" id="{4129BFAE-F880-4CAF-9B98-218BF3FB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193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02 关键证据</a:t>
            </a:r>
          </a:p>
        </p:txBody>
      </p:sp>
      <p:sp>
        <p:nvSpPr>
          <p:cNvPr id="11" name="seg-b1">
            <a:extLst xmlns:a="http://schemas.openxmlformats.org/drawingml/2006/main">
              <a:ext uri="{FF2B5EF4-FFF2-40B4-BE49-F238E27FC236}">
                <a16:creationId xmlns:a16="http://schemas.microsoft.com/office/drawing/2014/main" id="{569EF7E3-18FC-40FF-AB52-04CC530A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193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直接证据及边界</a:t>
            </a:r>
          </a:p>
        </p:txBody>
      </p:sp>
      <p:sp>
        <p:nvSpPr>
          <p:cNvPr id="12" name="seg-c1">
            <a:extLst xmlns:a="http://schemas.openxmlformats.org/drawingml/2006/main">
              <a:ext uri="{FF2B5EF4-FFF2-40B4-BE49-F238E27FC236}">
                <a16:creationId xmlns:a16="http://schemas.microsoft.com/office/drawing/2014/main" id="{CE1996B4-096C-4525-86E4-04ECF879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19325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5/6 课</a:t>
            </a:r>
          </a:p>
        </p:txBody>
      </p:sp>
      <p:sp>
        <p:nvSpPr>
          <p:cNvPr id="13" name="seg-bg2">
            <a:extLst xmlns:a="http://schemas.openxmlformats.org/drawingml/2006/main">
              <a:ext uri="{FF2B5EF4-FFF2-40B4-BE49-F238E27FC236}">
                <a16:creationId xmlns:a16="http://schemas.microsoft.com/office/drawing/2014/main" id="{3D03921A-8F7D-402D-861D-2386921E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858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4" name="seg-a2">
            <a:extLst xmlns:a="http://schemas.openxmlformats.org/drawingml/2006/main">
              <a:ext uri="{FF2B5EF4-FFF2-40B4-BE49-F238E27FC236}">
                <a16:creationId xmlns:a16="http://schemas.microsoft.com/office/drawing/2014/main" id="{99E7ABCC-021B-433F-8BFB-4527F351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03 机制假设</a:t>
            </a:r>
          </a:p>
        </p:txBody>
      </p:sp>
      <p:sp>
        <p:nvSpPr>
          <p:cNvPr id="15" name="seg-b2">
            <a:extLst xmlns:a="http://schemas.openxmlformats.org/drawingml/2006/main">
              <a:ext uri="{FF2B5EF4-FFF2-40B4-BE49-F238E27FC236}">
                <a16:creationId xmlns:a16="http://schemas.microsoft.com/office/drawing/2014/main" id="{0AA90614-340E-4471-931C-D30A8C3B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6227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字段约束 → 显式标注 → 错读暴露</a:t>
            </a:r>
          </a:p>
        </p:txBody>
      </p:sp>
      <p:sp>
        <p:nvSpPr>
          <p:cNvPr id="16" name="seg-c2">
            <a:extLst xmlns:a="http://schemas.openxmlformats.org/drawingml/2006/main">
              <a:ext uri="{FF2B5EF4-FFF2-40B4-BE49-F238E27FC236}">
                <a16:creationId xmlns:a16="http://schemas.microsoft.com/office/drawing/2014/main" id="{7F8E571A-0E7B-4B52-8154-65F077EB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62275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7 课</a:t>
            </a:r>
          </a:p>
        </p:txBody>
      </p:sp>
      <p:sp>
        <p:nvSpPr>
          <p:cNvPr id="17" name="seg-a3">
            <a:extLst xmlns:a="http://schemas.openxmlformats.org/drawingml/2006/main">
              <a:ext uri="{FF2B5EF4-FFF2-40B4-BE49-F238E27FC236}">
                <a16:creationId xmlns:a16="http://schemas.microsoft.com/office/drawing/2014/main" id="{013DEFA2-A86F-4912-8A75-B682F4C8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04 最小验证</a:t>
            </a:r>
          </a:p>
        </p:txBody>
      </p:sp>
      <p:sp>
        <p:nvSpPr>
          <p:cNvPr id="18" name="seg-b3">
            <a:extLst xmlns:a="http://schemas.openxmlformats.org/drawingml/2006/main">
              <a:ext uri="{FF2B5EF4-FFF2-40B4-BE49-F238E27FC236}">
                <a16:creationId xmlns:a16="http://schemas.microsoft.com/office/drawing/2014/main" id="{98F57324-361A-412C-BB5F-D4CD3BB4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052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支持／反驳／仍不能判断</a:t>
            </a:r>
          </a:p>
        </p:txBody>
      </p:sp>
      <p:sp>
        <p:nvSpPr>
          <p:cNvPr id="19" name="seg-c3">
            <a:extLst xmlns:a="http://schemas.openxmlformats.org/drawingml/2006/main">
              <a:ext uri="{FF2B5EF4-FFF2-40B4-BE49-F238E27FC236}">
                <a16:creationId xmlns:a16="http://schemas.microsoft.com/office/drawing/2014/main" id="{5DAF14E8-394A-476B-B4B1-D995A735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05225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7 课</a:t>
            </a:r>
          </a:p>
        </p:txBody>
      </p:sp>
      <p:sp>
        <p:nvSpPr>
          <p:cNvPr id="20" name="seg-a4">
            <a:extLst xmlns:a="http://schemas.openxmlformats.org/drawingml/2006/main">
              <a:ext uri="{FF2B5EF4-FFF2-40B4-BE49-F238E27FC236}">
                <a16:creationId xmlns:a16="http://schemas.microsoft.com/office/drawing/2014/main" id="{03E68FC5-5109-478D-9861-47E6BE4B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05 最大风险</a:t>
            </a:r>
          </a:p>
        </p:txBody>
      </p:sp>
      <p:sp>
        <p:nvSpPr>
          <p:cNvPr id="21" name="seg-b4">
            <a:extLst xmlns:a="http://schemas.openxmlformats.org/drawingml/2006/main">
              <a:ext uri="{FF2B5EF4-FFF2-40B4-BE49-F238E27FC236}">
                <a16:creationId xmlns:a16="http://schemas.microsoft.com/office/drawing/2014/main" id="{C57856FD-A81A-419C-B2F2-AB4DFACD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4817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最可能不通过的一点</a:t>
            </a:r>
          </a:p>
        </p:txBody>
      </p:sp>
      <p:sp>
        <p:nvSpPr>
          <p:cNvPr id="22" name="seg-c4">
            <a:extLst xmlns:a="http://schemas.openxmlformats.org/drawingml/2006/main">
              <a:ext uri="{FF2B5EF4-FFF2-40B4-BE49-F238E27FC236}">
                <a16:creationId xmlns:a16="http://schemas.microsoft.com/office/drawing/2014/main" id="{46A5791D-EECF-4AB3-B2E4-80F0E8CE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48175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7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同伴先做四维诊断，再检查实验能否改变判断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center">
            <a:extLst xmlns:a="http://schemas.openxmlformats.org/drawingml/2006/main">
              <a:ext uri="{FF2B5EF4-FFF2-40B4-BE49-F238E27FC236}">
                <a16:creationId xmlns:a16="http://schemas.microsoft.com/office/drawing/2014/main" id="{2D87A6A6-F771-4808-BE22-CDF7DBE7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下一步实验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会改变研究判断吗？</a:t>
            </a:r>
          </a:p>
        </p:txBody>
      </p:sp>
      <p:sp>
        <p:nvSpPr>
          <p:cNvPr id="7" name="d-h0">
            <a:extLst xmlns:a="http://schemas.openxmlformats.org/drawingml/2006/main">
              <a:ext uri="{FF2B5EF4-FFF2-40B4-BE49-F238E27FC236}">
                <a16:creationId xmlns:a16="http://schemas.microsoft.com/office/drawing/2014/main" id="{24F0E0F7-ADE5-4143-A09F-B1C54D5D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问题重要性</a:t>
            </a:r>
          </a:p>
        </p:txBody>
      </p:sp>
      <p:sp>
        <p:nvSpPr>
          <p:cNvPr id="8" name="d-v0">
            <a:extLst xmlns:a="http://schemas.openxmlformats.org/drawingml/2006/main">
              <a:ext uri="{FF2B5EF4-FFF2-40B4-BE49-F238E27FC236}">
                <a16:creationId xmlns:a16="http://schemas.microsoft.com/office/drawing/2014/main" id="{08530AA6-A312-4EEF-84B2-2CC4DABC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改变什么行动</a:t>
            </a:r>
          </a:p>
        </p:txBody>
      </p:sp>
      <p:sp>
        <p:nvSpPr>
          <p:cNvPr id="9" name="d-h1">
            <a:extLst xmlns:a="http://schemas.openxmlformats.org/drawingml/2006/main">
              <a:ext uri="{FF2B5EF4-FFF2-40B4-BE49-F238E27FC236}">
                <a16:creationId xmlns:a16="http://schemas.microsoft.com/office/drawing/2014/main" id="{CD490C57-EB72-4991-BE6E-A01F5ED1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证据充分性</a:t>
            </a:r>
          </a:p>
        </p:txBody>
      </p:sp>
      <p:sp>
        <p:nvSpPr>
          <p:cNvPr id="10" name="d-v1">
            <a:extLst xmlns:a="http://schemas.openxmlformats.org/drawingml/2006/main">
              <a:ext uri="{FF2B5EF4-FFF2-40B4-BE49-F238E27FC236}">
                <a16:creationId xmlns:a16="http://schemas.microsoft.com/office/drawing/2014/main" id="{F637ED4E-1E6B-41C4-A987-98CA1236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强度、冲突、缺口</a:t>
            </a:r>
          </a:p>
        </p:txBody>
      </p:sp>
      <p:sp>
        <p:nvSpPr>
          <p:cNvPr id="11" name="d-h2">
            <a:extLst xmlns:a="http://schemas.openxmlformats.org/drawingml/2006/main">
              <a:ext uri="{FF2B5EF4-FFF2-40B4-BE49-F238E27FC236}">
                <a16:creationId xmlns:a16="http://schemas.microsoft.com/office/drawing/2014/main" id="{21059D9E-69E1-4C22-9794-DBE1F793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可检验性</a:t>
            </a:r>
          </a:p>
        </p:txBody>
      </p:sp>
      <p:sp>
        <p:nvSpPr>
          <p:cNvPr id="12" name="d-v2">
            <a:extLst xmlns:a="http://schemas.openxmlformats.org/drawingml/2006/main">
              <a:ext uri="{FF2B5EF4-FFF2-40B4-BE49-F238E27FC236}">
                <a16:creationId xmlns:a16="http://schemas.microsoft.com/office/drawing/2014/main" id="{368C4CA4-05CE-4159-8BF8-349B68B0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85950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能推翻、可区分</a:t>
            </a:r>
          </a:p>
        </p:txBody>
      </p:sp>
      <p:sp>
        <p:nvSpPr>
          <p:cNvPr id="13" name="d-h3">
            <a:extLst xmlns:a="http://schemas.openxmlformats.org/drawingml/2006/main">
              <a:ext uri="{FF2B5EF4-FFF2-40B4-BE49-F238E27FC236}">
                <a16:creationId xmlns:a16="http://schemas.microsoft.com/office/drawing/2014/main" id="{561754BD-BE06-4266-AB0C-C6070212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00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周期可行性</a:t>
            </a:r>
          </a:p>
        </p:txBody>
      </p:sp>
      <p:sp>
        <p:nvSpPr>
          <p:cNvPr id="14" name="d-v3">
            <a:extLst xmlns:a="http://schemas.openxmlformats.org/drawingml/2006/main">
              <a:ext uri="{FF2B5EF4-FFF2-40B4-BE49-F238E27FC236}">
                <a16:creationId xmlns:a16="http://schemas.microsoft.com/office/drawing/2014/main" id="{54131E84-A04D-4AB4-A236-AA2A226A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 公平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周期内能完成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三问把分散意见压缩成可行动反馈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threeq-shade0">
            <a:extLst xmlns:a="http://schemas.openxmlformats.org/drawingml/2006/main">
              <a:ext uri="{FF2B5EF4-FFF2-40B4-BE49-F238E27FC236}">
                <a16:creationId xmlns:a16="http://schemas.microsoft.com/office/drawing/2014/main" id="{2FAF0D1D-11A7-4831-A1C0-1843CBF4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9715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threeq-l0">
            <a:extLst xmlns:a="http://schemas.openxmlformats.org/drawingml/2006/main">
              <a:ext uri="{FF2B5EF4-FFF2-40B4-BE49-F238E27FC236}">
                <a16:creationId xmlns:a16="http://schemas.microsoft.com/office/drawing/2014/main" id="{A63F6BE1-4724-4E5F-97F4-5411C3C1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47825"/>
            <a:ext cx="27622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01  最强处</a:t>
            </a:r>
          </a:p>
        </p:txBody>
      </p:sp>
      <p:sp>
        <p:nvSpPr>
          <p:cNvPr id="8" name="threeq-v0">
            <a:extLst xmlns:a="http://schemas.openxmlformats.org/drawingml/2006/main">
              <a:ext uri="{FF2B5EF4-FFF2-40B4-BE49-F238E27FC236}">
                <a16:creationId xmlns:a16="http://schemas.microsoft.com/office/drawing/2014/main" id="{5AC98CBC-33E4-4F9A-8C71-B3AE46FE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47825"/>
            <a:ext cx="6667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当前最扎实的诊断维度</a:t>
            </a:r>
          </a:p>
        </p:txBody>
      </p:sp>
      <p:sp>
        <p:nvSpPr>
          <p:cNvPr id="9" name="threeq-r0">
            <a:extLst xmlns:a="http://schemas.openxmlformats.org/drawingml/2006/main">
              <a:ext uri="{FF2B5EF4-FFF2-40B4-BE49-F238E27FC236}">
                <a16:creationId xmlns:a16="http://schemas.microsoft.com/office/drawing/2014/main" id="{697A2CAF-9D46-451C-B413-CF3E8CBF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67000"/>
            <a:ext cx="971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threeq-l1">
            <a:extLst xmlns:a="http://schemas.openxmlformats.org/drawingml/2006/main">
              <a:ext uri="{FF2B5EF4-FFF2-40B4-BE49-F238E27FC236}">
                <a16:creationId xmlns:a16="http://schemas.microsoft.com/office/drawing/2014/main" id="{A7DDCCF8-59BA-4F81-8E41-DD2CB53B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43200"/>
            <a:ext cx="27622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02  最大风险</a:t>
            </a:r>
          </a:p>
        </p:txBody>
      </p:sp>
      <p:sp>
        <p:nvSpPr>
          <p:cNvPr id="11" name="threeq-v1">
            <a:extLst xmlns:a="http://schemas.openxmlformats.org/drawingml/2006/main">
              <a:ext uri="{FF2B5EF4-FFF2-40B4-BE49-F238E27FC236}">
                <a16:creationId xmlns:a16="http://schemas.microsoft.com/office/drawing/2014/main" id="{7F483D1F-0F40-4CE0-845A-72FE323F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43200"/>
            <a:ext cx="6667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当前最可能不通过门的一点</a:t>
            </a:r>
          </a:p>
        </p:txBody>
      </p:sp>
      <p:sp>
        <p:nvSpPr>
          <p:cNvPr id="12" name="threeq-r1">
            <a:extLst xmlns:a="http://schemas.openxmlformats.org/drawingml/2006/main">
              <a:ext uri="{FF2B5EF4-FFF2-40B4-BE49-F238E27FC236}">
                <a16:creationId xmlns:a16="http://schemas.microsoft.com/office/drawing/2014/main" id="{BE0110CA-6F53-4ADC-A016-228CE57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62375"/>
            <a:ext cx="971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threeq-shade2">
            <a:extLst xmlns:a="http://schemas.openxmlformats.org/drawingml/2006/main">
              <a:ext uri="{FF2B5EF4-FFF2-40B4-BE49-F238E27FC236}">
                <a16:creationId xmlns:a16="http://schemas.microsoft.com/office/drawing/2014/main" id="{66A44E0F-007E-4DE0-B99B-309FB218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62375"/>
            <a:ext cx="9715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4" name="threeq-l2">
            <a:extLst xmlns:a="http://schemas.openxmlformats.org/drawingml/2006/main">
              <a:ext uri="{FF2B5EF4-FFF2-40B4-BE49-F238E27FC236}">
                <a16:creationId xmlns:a16="http://schemas.microsoft.com/office/drawing/2014/main" id="{222C5212-D68D-4220-B875-79CC0087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38575"/>
            <a:ext cx="27622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03  可执行建议</a:t>
            </a:r>
          </a:p>
        </p:txBody>
      </p:sp>
      <p:sp>
        <p:nvSpPr>
          <p:cNvPr id="15" name="threeq-v2">
            <a:extLst xmlns:a="http://schemas.openxmlformats.org/drawingml/2006/main">
              <a:ext uri="{FF2B5EF4-FFF2-40B4-BE49-F238E27FC236}">
                <a16:creationId xmlns:a16="http://schemas.microsoft.com/office/drawing/2014/main" id="{E4BE6999-2646-4510-9BA4-19C9AFEA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38575"/>
            <a:ext cx="6667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下周能做、会改变判断的最小改进</a:t>
            </a:r>
          </a:p>
        </p:txBody>
      </p:sp>
      <p:sp>
        <p:nvSpPr>
          <p:cNvPr id="16" name="scope">
            <a:extLst xmlns:a="http://schemas.openxmlformats.org/drawingml/2006/main">
              <a:ext uri="{FF2B5EF4-FFF2-40B4-BE49-F238E27FC236}">
                <a16:creationId xmlns:a16="http://schemas.microsoft.com/office/drawing/2014/main" id="{66B02262-31C8-4427-BEB6-2E1B5535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评价方案证据，不评价题目时髦度或陈述流畅度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设计诊所诊断方案，不评价人、不替作者决定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fb">
            <a:extLst xmlns:a="http://schemas.openxmlformats.org/drawingml/2006/main">
              <a:ext uri="{FF2B5EF4-FFF2-40B4-BE49-F238E27FC236}">
                <a16:creationId xmlns:a16="http://schemas.microsoft.com/office/drawing/2014/main" id="{E33122A0-DDE2-428E-AFFC-AD59570E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反馈者</a:t>
            </a:r>
          </a:p>
        </p:txBody>
      </p:sp>
      <p:sp>
        <p:nvSpPr>
          <p:cNvPr id="7" name="fb-list-0">
            <a:extLst xmlns:a="http://schemas.openxmlformats.org/drawingml/2006/main">
              <a:ext uri="{FF2B5EF4-FFF2-40B4-BE49-F238E27FC236}">
                <a16:creationId xmlns:a16="http://schemas.microsoft.com/office/drawing/2014/main" id="{EE627371-7143-4138-9F33-616FB103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指向方案，不指向人</a:t>
            </a:r>
          </a:p>
        </p:txBody>
      </p:sp>
      <p:sp>
        <p:nvSpPr>
          <p:cNvPr id="8" name="fb-list-1">
            <a:extLst xmlns:a="http://schemas.openxmlformats.org/drawingml/2006/main">
              <a:ext uri="{FF2B5EF4-FFF2-40B4-BE49-F238E27FC236}">
                <a16:creationId xmlns:a16="http://schemas.microsoft.com/office/drawing/2014/main" id="{5728C6BD-9B72-4275-8888-15C90495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引用陈述中的具体内容</a:t>
            </a:r>
          </a:p>
        </p:txBody>
      </p:sp>
      <p:sp>
        <p:nvSpPr>
          <p:cNvPr id="9" name="fb-list-2">
            <a:extLst xmlns:a="http://schemas.openxmlformats.org/drawingml/2006/main">
              <a:ext uri="{FF2B5EF4-FFF2-40B4-BE49-F238E27FC236}">
                <a16:creationId xmlns:a16="http://schemas.microsoft.com/office/drawing/2014/main" id="{2952FC00-0193-4BD4-839B-CA79519C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分开“缺陷”与“我会怎么改”</a:t>
            </a:r>
          </a:p>
        </p:txBody>
      </p:sp>
      <p:sp>
        <p:nvSpPr>
          <p:cNvPr id="10" name="fb-list-3">
            <a:extLst xmlns:a="http://schemas.openxmlformats.org/drawingml/2006/main">
              <a:ext uri="{FF2B5EF4-FFF2-40B4-BE49-F238E27FC236}">
                <a16:creationId xmlns:a16="http://schemas.microsoft.com/office/drawing/2014/main" id="{8D1D81B3-2458-4B40-BEBD-529F1D1F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只记录，不替作者决定</a:t>
            </a:r>
          </a:p>
        </p:txBody>
      </p:sp>
      <p:sp>
        <p:nvSpPr>
          <p:cNvPr id="11" name="author">
            <a:extLst xmlns:a="http://schemas.openxmlformats.org/drawingml/2006/main">
              <a:ext uri="{FF2B5EF4-FFF2-40B4-BE49-F238E27FC236}">
                <a16:creationId xmlns:a16="http://schemas.microsoft.com/office/drawing/2014/main" id="{AC989EEA-7ECF-4E27-AAD9-053C2EAC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12" name="ownership-bg">
            <a:extLst xmlns:a="http://schemas.openxmlformats.org/drawingml/2006/main">
              <a:ext uri="{FF2B5EF4-FFF2-40B4-BE49-F238E27FC236}">
                <a16:creationId xmlns:a16="http://schemas.microsoft.com/office/drawing/2014/main" id="{E87AC1B8-CB5B-4558-9CD6-F2A527E9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66875"/>
            <a:ext cx="4095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3" name="ownership">
            <a:extLst xmlns:a="http://schemas.openxmlformats.org/drawingml/2006/main">
              <a:ext uri="{FF2B5EF4-FFF2-40B4-BE49-F238E27FC236}">
                <a16:creationId xmlns:a16="http://schemas.microsoft.com/office/drawing/2014/main" id="{4751C18F-7EF3-48E6-82BA-81984BEA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62125"/>
            <a:ext cx="3790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决定采用何种处理动作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写理由与回写位置</a:t>
            </a:r>
          </a:p>
        </p:txBody>
      </p:sp>
      <p:sp>
        <p:nvSpPr>
          <p:cNvPr id="14" name="round-title">
            <a:extLst xmlns:a="http://schemas.openxmlformats.org/drawingml/2006/main">
              <a:ext uri="{FF2B5EF4-FFF2-40B4-BE49-F238E27FC236}">
                <a16:creationId xmlns:a16="http://schemas.microsoft.com/office/drawing/2014/main" id="{24E07E92-E69B-46A3-8BAB-56F4FF3D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一次诊所轮次</a:t>
            </a:r>
          </a:p>
        </p:txBody>
      </p:sp>
      <p:sp>
        <p:nvSpPr>
          <p:cNvPr id="15" name="round-0-bg">
            <a:extLst xmlns:a="http://schemas.openxmlformats.org/drawingml/2006/main">
              <a:ext uri="{FF2B5EF4-FFF2-40B4-BE49-F238E27FC236}">
                <a16:creationId xmlns:a16="http://schemas.microsoft.com/office/drawing/2014/main" id="{3C98F653-CFA6-4B25-9D82-256A32F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276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6" name="round-0">
            <a:extLst xmlns:a="http://schemas.openxmlformats.org/drawingml/2006/main">
              <a:ext uri="{FF2B5EF4-FFF2-40B4-BE49-F238E27FC236}">
                <a16:creationId xmlns:a16="http://schemas.microsoft.com/office/drawing/2014/main" id="{CB81E9F4-6920-4480-A7CB-D282CBF4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810000"/>
            <a:ext cx="2463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陈述者按五段陈述</a:t>
            </a:r>
          </a:p>
        </p:txBody>
      </p:sp>
      <p:sp>
        <p:nvSpPr>
          <p:cNvPr id="17" name="round-a0">
            <a:extLst xmlns:a="http://schemas.openxmlformats.org/drawingml/2006/main">
              <a:ext uri="{FF2B5EF4-FFF2-40B4-BE49-F238E27FC236}">
                <a16:creationId xmlns:a16="http://schemas.microsoft.com/office/drawing/2014/main" id="{446109CE-1AE2-4F09-999B-8481BA5F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5100" y="4010025"/>
            <a:ext cx="228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round-1-bg">
            <a:extLst xmlns:a="http://schemas.openxmlformats.org/drawingml/2006/main">
              <a:ext uri="{FF2B5EF4-FFF2-40B4-BE49-F238E27FC236}">
                <a16:creationId xmlns:a16="http://schemas.microsoft.com/office/drawing/2014/main" id="{F69923D3-17EE-472F-9E6F-69C7BD9B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0" y="3714750"/>
            <a:ext cx="276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round-1">
            <a:extLst xmlns:a="http://schemas.openxmlformats.org/drawingml/2006/main">
              <a:ext uri="{FF2B5EF4-FFF2-40B4-BE49-F238E27FC236}">
                <a16:creationId xmlns:a16="http://schemas.microsoft.com/office/drawing/2014/main" id="{6185FB41-0109-4D3D-965D-71A9C43E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100" y="3810000"/>
            <a:ext cx="2463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同伴按三问反馈</a:t>
            </a:r>
          </a:p>
        </p:txBody>
      </p:sp>
      <p:sp>
        <p:nvSpPr>
          <p:cNvPr id="20" name="round-a1">
            <a:extLst xmlns:a="http://schemas.openxmlformats.org/drawingml/2006/main">
              <a:ext uri="{FF2B5EF4-FFF2-40B4-BE49-F238E27FC236}">
                <a16:creationId xmlns:a16="http://schemas.microsoft.com/office/drawing/2014/main" id="{55FC063E-D4CF-480E-9AEC-2842B46E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300" y="4010025"/>
            <a:ext cx="228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round-2-bg">
            <a:extLst xmlns:a="http://schemas.openxmlformats.org/drawingml/2006/main">
              <a:ext uri="{FF2B5EF4-FFF2-40B4-BE49-F238E27FC236}">
                <a16:creationId xmlns:a16="http://schemas.microsoft.com/office/drawing/2014/main" id="{6706C2CD-E9BF-4696-AE84-BB011247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714750"/>
            <a:ext cx="276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round-2">
            <a:extLst xmlns:a="http://schemas.openxmlformats.org/drawingml/2006/main">
              <a:ext uri="{FF2B5EF4-FFF2-40B4-BE49-F238E27FC236}">
                <a16:creationId xmlns:a16="http://schemas.microsoft.com/office/drawing/2014/main" id="{A4B6E7BC-9917-4BCE-ACBD-A8F6A2A2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3300" y="3810000"/>
            <a:ext cx="2463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作者只记录</a:t>
            </a:r>
          </a:p>
        </p:txBody>
      </p:sp>
      <p:sp>
        <p:nvSpPr>
          <p:cNvPr id="23" name="fields">
            <a:extLst xmlns:a="http://schemas.openxmlformats.org/drawingml/2006/main">
              <a:ext uri="{FF2B5EF4-FFF2-40B4-BE49-F238E27FC236}">
                <a16:creationId xmlns:a16="http://schemas.microsoft.com/office/drawing/2014/main" id="{E0FCF407-1B1D-4FA3-983F-3411A813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记录字段：来源｜维度｜风险与建议｜处理动作｜理由｜回写位置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每条反馈都要有真实处理动作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A0B3020B-E52A-40E2-A5E2-4B6AB3EC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课程虚构教学反馈</a:t>
            </a:r>
          </a:p>
        </p:txBody>
      </p:sp>
      <p:sp>
        <p:nvSpPr>
          <p:cNvPr id="7" name="feedback-bg">
            <a:extLst xmlns:a="http://schemas.openxmlformats.org/drawingml/2006/main">
              <a:ext uri="{FF2B5EF4-FFF2-40B4-BE49-F238E27FC236}">
                <a16:creationId xmlns:a16="http://schemas.microsoft.com/office/drawing/2014/main" id="{6620FF85-B4D6-46A1-913E-158986B1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28750"/>
            <a:ext cx="4000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feedback">
            <a:extLst xmlns:a="http://schemas.openxmlformats.org/drawingml/2006/main">
              <a:ext uri="{FF2B5EF4-FFF2-40B4-BE49-F238E27FC236}">
                <a16:creationId xmlns:a16="http://schemas.microsoft.com/office/drawing/2014/main" id="{F12204D3-6B28-4578-8AE9-1460F835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24000"/>
            <a:ext cx="36957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具体反馈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“H1 与 A1 的区分设计尚未写清”</a:t>
            </a:r>
          </a:p>
        </p:txBody>
      </p:sp>
      <p:sp>
        <p:nvSpPr>
          <p:cNvPr id="9" name="act0">
            <a:extLst xmlns:a="http://schemas.openxmlformats.org/drawingml/2006/main">
              <a:ext uri="{FF2B5EF4-FFF2-40B4-BE49-F238E27FC236}">
                <a16:creationId xmlns:a16="http://schemas.microsoft.com/office/drawing/2014/main" id="{2035F1A6-141C-4836-BD2D-3A02F419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0" name="act1">
            <a:extLst xmlns:a="http://schemas.openxmlformats.org/drawingml/2006/main">
              <a:ext uri="{FF2B5EF4-FFF2-40B4-BE49-F238E27FC236}">
                <a16:creationId xmlns:a16="http://schemas.microsoft.com/office/drawing/2014/main" id="{9D96D436-8A11-4E88-AADD-B8BB3D2D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95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澄清</a:t>
            </a:r>
          </a:p>
        </p:txBody>
      </p:sp>
      <p:sp>
        <p:nvSpPr>
          <p:cNvPr id="11" name="act2">
            <a:extLst xmlns:a="http://schemas.openxmlformats.org/drawingml/2006/main">
              <a:ext uri="{FF2B5EF4-FFF2-40B4-BE49-F238E27FC236}">
                <a16:creationId xmlns:a16="http://schemas.microsoft.com/office/drawing/2014/main" id="{D687F36C-8ADD-4765-B950-CCE2661D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补证</a:t>
            </a:r>
          </a:p>
        </p:txBody>
      </p:sp>
      <p:sp>
        <p:nvSpPr>
          <p:cNvPr id="12" name="act3">
            <a:extLst xmlns:a="http://schemas.openxmlformats.org/drawingml/2006/main">
              <a:ext uri="{FF2B5EF4-FFF2-40B4-BE49-F238E27FC236}">
                <a16:creationId xmlns:a16="http://schemas.microsoft.com/office/drawing/2014/main" id="{F1B9DB39-F0C0-4FF2-8C51-B30BF276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保留异议</a:t>
            </a:r>
          </a:p>
        </p:txBody>
      </p:sp>
      <p:sp>
        <p:nvSpPr>
          <p:cNvPr id="13" name="act4">
            <a:extLst xmlns:a="http://schemas.openxmlformats.org/drawingml/2006/main">
              <a:ext uri="{FF2B5EF4-FFF2-40B4-BE49-F238E27FC236}">
                <a16:creationId xmlns:a16="http://schemas.microsoft.com/office/drawing/2014/main" id="{A0A66D47-B83E-444E-86E3-164DBE38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1432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暂缓</a:t>
            </a:r>
          </a:p>
        </p:txBody>
      </p:sp>
      <p:sp>
        <p:nvSpPr>
          <p:cNvPr id="14" name="chosen">
            <a:extLst xmlns:a="http://schemas.openxmlformats.org/drawingml/2006/main">
              <a:ext uri="{FF2B5EF4-FFF2-40B4-BE49-F238E27FC236}">
                <a16:creationId xmlns:a16="http://schemas.microsoft.com/office/drawing/2014/main" id="{D64B9441-2AD2-4576-855A-833ACCC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95625"/>
            <a:ext cx="400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本例选择“补证”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理由：需要新的区分证据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回写：实验规格 §假设对应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8E651E4E-6599-4664-A80E-7EFEC0F0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86375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动作由真实反馈决定；五类不必齐全，也不制造“拒绝”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可以整理线索，但不能替你作研究判断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80F0438B-F829-4BD7-B040-4009C97D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AI 可以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F1EB89C3-1203-400D-9150-3810A66E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AI 不可以</a:t>
            </a:r>
          </a:p>
        </p:txBody>
      </p:sp>
      <p:sp>
        <p:nvSpPr>
          <p:cNvPr id="8" name="split-top">
            <a:extLst xmlns:a="http://schemas.openxmlformats.org/drawingml/2006/main">
              <a:ext uri="{FF2B5EF4-FFF2-40B4-BE49-F238E27FC236}">
                <a16:creationId xmlns:a16="http://schemas.microsoft.com/office/drawing/2014/main" id="{D6CC6735-B4CD-4EE7-9193-CE42C36D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left-lines-0">
            <a:extLst xmlns:a="http://schemas.openxmlformats.org/drawingml/2006/main">
              <a:ext uri="{FF2B5EF4-FFF2-40B4-BE49-F238E27FC236}">
                <a16:creationId xmlns:a16="http://schemas.microsoft.com/office/drawing/2014/main" id="{101584B0-B9AE-426C-9EC0-056D8EED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整理口述反馈</a:t>
            </a:r>
          </a:p>
        </p:txBody>
      </p:sp>
      <p:sp>
        <p:nvSpPr>
          <p:cNvPr id="10" name="left-lines-1">
            <a:extLst xmlns:a="http://schemas.openxmlformats.org/drawingml/2006/main">
              <a:ext uri="{FF2B5EF4-FFF2-40B4-BE49-F238E27FC236}">
                <a16:creationId xmlns:a16="http://schemas.microsoft.com/office/drawing/2014/main" id="{2F4A2853-3D8E-40C3-AC41-EA61BEF1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提示 rubric 维度</a:t>
            </a:r>
          </a:p>
        </p:txBody>
      </p:sp>
      <p:sp>
        <p:nvSpPr>
          <p:cNvPr id="11" name="left-lines-2">
            <a:extLst xmlns:a="http://schemas.openxmlformats.org/drawingml/2006/main">
              <a:ext uri="{FF2B5EF4-FFF2-40B4-BE49-F238E27FC236}">
                <a16:creationId xmlns:a16="http://schemas.microsoft.com/office/drawing/2014/main" id="{89CD29E9-4908-45A1-8CDC-D0B0A30E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草拟修改方向</a:t>
            </a:r>
          </a:p>
        </p:txBody>
      </p:sp>
      <p:sp>
        <p:nvSpPr>
          <p:cNvPr id="12" name="right-lines-0">
            <a:extLst xmlns:a="http://schemas.openxmlformats.org/drawingml/2006/main">
              <a:ext uri="{FF2B5EF4-FFF2-40B4-BE49-F238E27FC236}">
                <a16:creationId xmlns:a16="http://schemas.microsoft.com/office/drawing/2014/main" id="{DF7F7389-CD12-461D-9C91-BE2B7A5E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812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判断反馈是否成立</a:t>
            </a:r>
          </a:p>
        </p:txBody>
      </p:sp>
      <p:sp>
        <p:nvSpPr>
          <p:cNvPr id="13" name="right-lines-1">
            <a:extLst xmlns:a="http://schemas.openxmlformats.org/drawingml/2006/main">
              <a:ext uri="{FF2B5EF4-FFF2-40B4-BE49-F238E27FC236}">
                <a16:creationId xmlns:a16="http://schemas.microsoft.com/office/drawing/2014/main" id="{E5DE68A6-3D2E-4DBD-9F55-331C55DC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选择处理动作</a:t>
            </a:r>
          </a:p>
        </p:txBody>
      </p:sp>
      <p:sp>
        <p:nvSpPr>
          <p:cNvPr id="14" name="right-lines-2">
            <a:extLst xmlns:a="http://schemas.openxmlformats.org/drawingml/2006/main">
              <a:ext uri="{FF2B5EF4-FFF2-40B4-BE49-F238E27FC236}">
                <a16:creationId xmlns:a16="http://schemas.microsoft.com/office/drawing/2014/main" id="{2EBDBDB3-4012-414C-9606-4C3DB96E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718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代写理由与边界</a:t>
            </a:r>
          </a:p>
        </p:txBody>
      </p:sp>
      <p:sp>
        <p:nvSpPr>
          <p:cNvPr id="15" name="owner">
            <a:extLst xmlns:a="http://schemas.openxmlformats.org/drawingml/2006/main">
              <a:ext uri="{FF2B5EF4-FFF2-40B4-BE49-F238E27FC236}">
                <a16:creationId xmlns:a16="http://schemas.microsoft.com/office/drawing/2014/main" id="{48888C06-B59C-4D1C-9BAE-3922589E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85775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研究判断与处理决定：作者本人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演示上半程：第 7 课输出如何压缩成五段陈述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aper">
            <a:extLst xmlns:a="http://schemas.openxmlformats.org/drawingml/2006/main">
              <a:ext uri="{FF2B5EF4-FFF2-40B4-BE49-F238E27FC236}">
                <a16:creationId xmlns:a16="http://schemas.microsoft.com/office/drawing/2014/main" id="{CE1FFA31-D1DE-43FF-9024-ACC42E96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Bouthillier et al. 2021 · 机器学习 benchmark 方差</a:t>
            </a:r>
          </a:p>
        </p:txBody>
      </p:sp>
      <p:sp>
        <p:nvSpPr>
          <p:cNvPr id="7" name="speech-shade0">
            <a:extLst xmlns:a="http://schemas.openxmlformats.org/drawingml/2006/main">
              <a:ext uri="{FF2B5EF4-FFF2-40B4-BE49-F238E27FC236}">
                <a16:creationId xmlns:a16="http://schemas.microsoft.com/office/drawing/2014/main" id="{C2CF3285-FF73-4CC2-9D8A-03404D2D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58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speech-l0">
            <a:extLst xmlns:a="http://schemas.openxmlformats.org/drawingml/2006/main">
              <a:ext uri="{FF2B5EF4-FFF2-40B4-BE49-F238E27FC236}">
                <a16:creationId xmlns:a16="http://schemas.microsoft.com/office/drawing/2014/main" id="{316EDD95-18B3-4355-9AA2-F114D25A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52575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9" name="speech-v0">
            <a:extLst xmlns:a="http://schemas.openxmlformats.org/drawingml/2006/main">
              <a:ext uri="{FF2B5EF4-FFF2-40B4-BE49-F238E27FC236}">
                <a16:creationId xmlns:a16="http://schemas.microsoft.com/office/drawing/2014/main" id="{AFCE5F18-AE89-4205-89CE-551ECED4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552575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benchmark 比较忽略多种方差来源</a:t>
            </a:r>
          </a:p>
        </p:txBody>
      </p:sp>
      <p:sp>
        <p:nvSpPr>
          <p:cNvPr id="10" name="speech-r0">
            <a:extLst xmlns:a="http://schemas.openxmlformats.org/drawingml/2006/main">
              <a:ext uri="{FF2B5EF4-FFF2-40B4-BE49-F238E27FC236}">
                <a16:creationId xmlns:a16="http://schemas.microsoft.com/office/drawing/2014/main" id="{5B5C2151-9E90-4F4B-B843-02EAAC66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speech-l1">
            <a:extLst xmlns:a="http://schemas.openxmlformats.org/drawingml/2006/main">
              <a:ext uri="{FF2B5EF4-FFF2-40B4-BE49-F238E27FC236}">
                <a16:creationId xmlns:a16="http://schemas.microsoft.com/office/drawing/2014/main" id="{E41319C1-6C40-4E55-BDEC-6713F383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2" name="speech-v1">
            <a:extLst xmlns:a="http://schemas.openxmlformats.org/drawingml/2006/main">
              <a:ext uri="{FF2B5EF4-FFF2-40B4-BE49-F238E27FC236}">
                <a16:creationId xmlns:a16="http://schemas.microsoft.com/office/drawing/2014/main" id="{5CA38E3B-EADB-47D7-9E86-7FB33A24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33625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作者建模完整 benchmarking 过程</a:t>
            </a:r>
          </a:p>
        </p:txBody>
      </p:sp>
      <p:sp>
        <p:nvSpPr>
          <p:cNvPr id="13" name="speech-r1">
            <a:extLst xmlns:a="http://schemas.openxmlformats.org/drawingml/2006/main">
              <a:ext uri="{FF2B5EF4-FFF2-40B4-BE49-F238E27FC236}">
                <a16:creationId xmlns:a16="http://schemas.microsoft.com/office/drawing/2014/main" id="{0AB79ED6-3880-4B6C-A045-9B1BB964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speech-shade2">
            <a:extLst xmlns:a="http://schemas.openxmlformats.org/drawingml/2006/main">
              <a:ext uri="{FF2B5EF4-FFF2-40B4-BE49-F238E27FC236}">
                <a16:creationId xmlns:a16="http://schemas.microsoft.com/office/drawing/2014/main" id="{91C073D4-3A47-41CE-9AF6-DF3BBD28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858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speech-l2">
            <a:extLst xmlns:a="http://schemas.openxmlformats.org/drawingml/2006/main">
              <a:ext uri="{FF2B5EF4-FFF2-40B4-BE49-F238E27FC236}">
                <a16:creationId xmlns:a16="http://schemas.microsoft.com/office/drawing/2014/main" id="{9FC7EBAA-8C4F-4C08-B516-8B6EBDC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</a:t>
            </a:r>
          </a:p>
        </p:txBody>
      </p:sp>
      <p:sp>
        <p:nvSpPr>
          <p:cNvPr id="16" name="speech-v2">
            <a:extLst xmlns:a="http://schemas.openxmlformats.org/drawingml/2006/main">
              <a:ext uri="{FF2B5EF4-FFF2-40B4-BE49-F238E27FC236}">
                <a16:creationId xmlns:a16="http://schemas.microsoft.com/office/drawing/2014/main" id="{E8DAEA84-B8A7-47C9-B26D-9A57891E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114675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抽样、初始化与超参方差改变比较结论</a:t>
            </a:r>
          </a:p>
        </p:txBody>
      </p:sp>
      <p:sp>
        <p:nvSpPr>
          <p:cNvPr id="17" name="speech-r2">
            <a:extLst xmlns:a="http://schemas.openxmlformats.org/drawingml/2006/main">
              <a:ext uri="{FF2B5EF4-FFF2-40B4-BE49-F238E27FC236}">
                <a16:creationId xmlns:a16="http://schemas.microsoft.com/office/drawing/2014/main" id="{93DA46B2-B74C-444F-A04B-B82DFF90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speech-l3">
            <a:extLst xmlns:a="http://schemas.openxmlformats.org/drawingml/2006/main">
              <a:ext uri="{FF2B5EF4-FFF2-40B4-BE49-F238E27FC236}">
                <a16:creationId xmlns:a16="http://schemas.microsoft.com/office/drawing/2014/main" id="{31ED6A79-326D-437A-92BA-18E0DC7B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95725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9" name="speech-v3">
            <a:extLst xmlns:a="http://schemas.openxmlformats.org/drawingml/2006/main">
              <a:ext uri="{FF2B5EF4-FFF2-40B4-BE49-F238E27FC236}">
                <a16:creationId xmlns:a16="http://schemas.microsoft.com/office/drawing/2014/main" id="{DCB19BA6-CCBF-46EA-B2D0-1622E59B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95725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 5 个任务／架构上评价比较方法</a:t>
            </a:r>
          </a:p>
        </p:txBody>
      </p:sp>
      <p:sp>
        <p:nvSpPr>
          <p:cNvPr id="20" name="speech-r3">
            <a:extLst xmlns:a="http://schemas.openxmlformats.org/drawingml/2006/main">
              <a:ext uri="{FF2B5EF4-FFF2-40B4-BE49-F238E27FC236}">
                <a16:creationId xmlns:a16="http://schemas.microsoft.com/office/drawing/2014/main" id="{4443A330-3879-42CE-BD9E-C6B9C740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speech-shade4">
            <a:extLst xmlns:a="http://schemas.openxmlformats.org/drawingml/2006/main">
              <a:ext uri="{FF2B5EF4-FFF2-40B4-BE49-F238E27FC236}">
                <a16:creationId xmlns:a16="http://schemas.microsoft.com/office/drawing/2014/main" id="{4CF99BAA-5CAC-4674-AE7C-0F5A561C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speech-l4">
            <a:extLst xmlns:a="http://schemas.openxmlformats.org/drawingml/2006/main">
              <a:ext uri="{FF2B5EF4-FFF2-40B4-BE49-F238E27FC236}">
                <a16:creationId xmlns:a16="http://schemas.microsoft.com/office/drawing/2014/main" id="{88F0325A-13B3-4B90-B23A-8E0D23BD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76775"/>
            <a:ext cx="142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</a:t>
            </a:r>
          </a:p>
        </p:txBody>
      </p:sp>
      <p:sp>
        <p:nvSpPr>
          <p:cNvPr id="23" name="speech-v4">
            <a:extLst xmlns:a="http://schemas.openxmlformats.org/drawingml/2006/main">
              <a:ext uri="{FF2B5EF4-FFF2-40B4-BE49-F238E27FC236}">
                <a16:creationId xmlns:a16="http://schemas.microsoft.com/office/drawing/2014/main" id="{F01554AD-3478-4757-838E-2FB7493A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676775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全量覆盖的计算代价过高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演示下半程：反馈如何转成有理由的处理动作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931FE194-71EE-4E16-9343-2422D877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虚构教学反馈｜基于公开论文重构</a:t>
            </a:r>
          </a:p>
        </p:txBody>
      </p:sp>
      <p:sp>
        <p:nvSpPr>
          <p:cNvPr id="7" name="f-h0">
            <a:extLst xmlns:a="http://schemas.openxmlformats.org/drawingml/2006/main">
              <a:ext uri="{FF2B5EF4-FFF2-40B4-BE49-F238E27FC236}">
                <a16:creationId xmlns:a16="http://schemas.microsoft.com/office/drawing/2014/main" id="{8A81450E-93ED-4FB3-B82F-8EBCAE9A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 1 · 可检验性</a:t>
            </a:r>
          </a:p>
        </p:txBody>
      </p:sp>
      <p:sp>
        <p:nvSpPr>
          <p:cNvPr id="8" name="f-q0">
            <a:extLst xmlns:a="http://schemas.openxmlformats.org/drawingml/2006/main">
              <a:ext uri="{FF2B5EF4-FFF2-40B4-BE49-F238E27FC236}">
                <a16:creationId xmlns:a16="http://schemas.microsoft.com/office/drawing/2014/main" id="{0A63EAFE-AF33-425E-BF29-8C01BD9F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区分设计未写清</a:t>
            </a:r>
          </a:p>
        </p:txBody>
      </p:sp>
      <p:sp>
        <p:nvSpPr>
          <p:cNvPr id="9" name="f-a0">
            <a:extLst xmlns:a="http://schemas.openxmlformats.org/drawingml/2006/main">
              <a:ext uri="{FF2B5EF4-FFF2-40B4-BE49-F238E27FC236}">
                <a16:creationId xmlns:a16="http://schemas.microsoft.com/office/drawing/2014/main" id="{2CACEE51-4D99-4940-A486-BAC9BFDD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600200"/>
            <a:ext cx="523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f-d0">
            <a:extLst xmlns:a="http://schemas.openxmlformats.org/drawingml/2006/main">
              <a:ext uri="{FF2B5EF4-FFF2-40B4-BE49-F238E27FC236}">
                <a16:creationId xmlns:a16="http://schemas.microsoft.com/office/drawing/2014/main" id="{F3D1A14D-CB13-4557-96EF-19FDA8D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71625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采纳：回写假设与变量</a:t>
            </a:r>
          </a:p>
        </p:txBody>
      </p:sp>
      <p:sp>
        <p:nvSpPr>
          <p:cNvPr id="11" name="f-r0">
            <a:extLst xmlns:a="http://schemas.openxmlformats.org/drawingml/2006/main">
              <a:ext uri="{FF2B5EF4-FFF2-40B4-BE49-F238E27FC236}">
                <a16:creationId xmlns:a16="http://schemas.microsoft.com/office/drawing/2014/main" id="{FF50B54C-1F92-403C-A2EB-0AF27DDC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f-h1">
            <a:extLst xmlns:a="http://schemas.openxmlformats.org/drawingml/2006/main">
              <a:ext uri="{FF2B5EF4-FFF2-40B4-BE49-F238E27FC236}">
                <a16:creationId xmlns:a16="http://schemas.microsoft.com/office/drawing/2014/main" id="{6851C989-52B5-4FE8-951F-09AB4FC8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 2 · 泛化</a:t>
            </a:r>
          </a:p>
        </p:txBody>
      </p:sp>
      <p:sp>
        <p:nvSpPr>
          <p:cNvPr id="13" name="f-q1">
            <a:extLst xmlns:a="http://schemas.openxmlformats.org/drawingml/2006/main">
              <a:ext uri="{FF2B5EF4-FFF2-40B4-BE49-F238E27FC236}">
                <a16:creationId xmlns:a16="http://schemas.microsoft.com/office/drawing/2014/main" id="{9DE737F0-61A9-4073-AEBB-EAE26C22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“比较不公平”过于含混</a:t>
            </a:r>
          </a:p>
        </p:txBody>
      </p:sp>
      <p:sp>
        <p:nvSpPr>
          <p:cNvPr id="14" name="f-a1">
            <a:extLst xmlns:a="http://schemas.openxmlformats.org/drawingml/2006/main">
              <a:ext uri="{FF2B5EF4-FFF2-40B4-BE49-F238E27FC236}">
                <a16:creationId xmlns:a16="http://schemas.microsoft.com/office/drawing/2014/main" id="{586FA12C-8333-4AF0-99F3-3E401BB6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790825"/>
            <a:ext cx="523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f-d1">
            <a:extLst xmlns:a="http://schemas.openxmlformats.org/drawingml/2006/main">
              <a:ext uri="{FF2B5EF4-FFF2-40B4-BE49-F238E27FC236}">
                <a16:creationId xmlns:a16="http://schemas.microsoft.com/office/drawing/2014/main" id="{ACF47880-B87B-4ECF-BCD4-B7DE493E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622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澄清：指出具体变量</a:t>
            </a:r>
          </a:p>
        </p:txBody>
      </p:sp>
      <p:sp>
        <p:nvSpPr>
          <p:cNvPr id="16" name="f-r1">
            <a:extLst xmlns:a="http://schemas.openxmlformats.org/drawingml/2006/main">
              <a:ext uri="{FF2B5EF4-FFF2-40B4-BE49-F238E27FC236}">
                <a16:creationId xmlns:a16="http://schemas.microsoft.com/office/drawing/2014/main" id="{7DF1499E-0636-42AD-A176-16384A93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f-h2">
            <a:extLst xmlns:a="http://schemas.openxmlformats.org/drawingml/2006/main">
              <a:ext uri="{FF2B5EF4-FFF2-40B4-BE49-F238E27FC236}">
                <a16:creationId xmlns:a16="http://schemas.microsoft.com/office/drawing/2014/main" id="{1DB26D5C-B4A1-409B-82BB-D98B111A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 3 · 重要性</a:t>
            </a:r>
          </a:p>
        </p:txBody>
      </p:sp>
      <p:sp>
        <p:nvSpPr>
          <p:cNvPr id="18" name="f-q2">
            <a:extLst xmlns:a="http://schemas.openxmlformats.org/drawingml/2006/main">
              <a:ext uri="{FF2B5EF4-FFF2-40B4-BE49-F238E27FC236}">
                <a16:creationId xmlns:a16="http://schemas.microsoft.com/office/drawing/2014/main" id="{359E8059-65F0-4600-A124-A49FB5DE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52875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没说清何种误判改变决策</a:t>
            </a:r>
          </a:p>
        </p:txBody>
      </p:sp>
      <p:sp>
        <p:nvSpPr>
          <p:cNvPr id="19" name="f-a2">
            <a:extLst xmlns:a="http://schemas.openxmlformats.org/drawingml/2006/main">
              <a:ext uri="{FF2B5EF4-FFF2-40B4-BE49-F238E27FC236}">
                <a16:creationId xmlns:a16="http://schemas.microsoft.com/office/drawing/2014/main" id="{9B6CA1B3-3122-4593-8B16-C737B0C0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981450"/>
            <a:ext cx="523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f-d2">
            <a:extLst xmlns:a="http://schemas.openxmlformats.org/drawingml/2006/main">
              <a:ext uri="{FF2B5EF4-FFF2-40B4-BE49-F238E27FC236}">
                <a16:creationId xmlns:a16="http://schemas.microsoft.com/office/drawing/2014/main" id="{6ECF8FA0-FEC2-41C4-843C-04F2173E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52875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暂缓：先定义决策阈值</a:t>
            </a:r>
          </a:p>
        </p:txBody>
      </p:sp>
      <p:sp>
        <p:nvSpPr>
          <p:cNvPr id="21" name="f-r2">
            <a:extLst xmlns:a="http://schemas.openxmlformats.org/drawingml/2006/main">
              <a:ext uri="{FF2B5EF4-FFF2-40B4-BE49-F238E27FC236}">
                <a16:creationId xmlns:a16="http://schemas.microsoft.com/office/drawing/2014/main" id="{0EE6064E-DF7C-4E8B-9843-640DFE8A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2" name="decision">
            <a:extLst xmlns:a="http://schemas.openxmlformats.org/drawingml/2006/main">
              <a:ext uri="{FF2B5EF4-FFF2-40B4-BE49-F238E27FC236}">
                <a16:creationId xmlns:a16="http://schemas.microsoft.com/office/drawing/2014/main" id="{9396BAFD-BF07-4276-8767-9F3D8D38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578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真实反馈决定处理动作；不要求出现拒绝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8 课只补两项判断门材料，其余缺口留到第 9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gates-n0">
            <a:extLst xmlns:a="http://schemas.openxmlformats.org/drawingml/2006/main">
              <a:ext uri="{FF2B5EF4-FFF2-40B4-BE49-F238E27FC236}">
                <a16:creationId xmlns:a16="http://schemas.microsoft.com/office/drawing/2014/main" id="{4C7B26C0-1733-43C6-842A-2C3D4FC2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1906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gates-t0">
            <a:extLst xmlns:a="http://schemas.openxmlformats.org/drawingml/2006/main">
              <a:ext uri="{FF2B5EF4-FFF2-40B4-BE49-F238E27FC236}">
                <a16:creationId xmlns:a16="http://schemas.microsoft.com/office/drawing/2014/main" id="{62F7EBAB-AAFE-423A-AFFB-7581D4BC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19062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可执行 baseline</a:t>
            </a:r>
          </a:p>
        </p:txBody>
      </p:sp>
      <p:sp>
        <p:nvSpPr>
          <p:cNvPr id="8" name="gates-r0">
            <a:extLst xmlns:a="http://schemas.openxmlformats.org/drawingml/2006/main">
              <a:ext uri="{FF2B5EF4-FFF2-40B4-BE49-F238E27FC236}">
                <a16:creationId xmlns:a16="http://schemas.microsoft.com/office/drawing/2014/main" id="{6E846D9C-3E33-41FC-90FA-C3CABF26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2402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gates-n1">
            <a:extLst xmlns:a="http://schemas.openxmlformats.org/drawingml/2006/main">
              <a:ext uri="{FF2B5EF4-FFF2-40B4-BE49-F238E27FC236}">
                <a16:creationId xmlns:a16="http://schemas.microsoft.com/office/drawing/2014/main" id="{0B7C201C-750B-476F-93DF-2CE828DD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975" y="11906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gates-t1">
            <a:extLst xmlns:a="http://schemas.openxmlformats.org/drawingml/2006/main">
              <a:ext uri="{FF2B5EF4-FFF2-40B4-BE49-F238E27FC236}">
                <a16:creationId xmlns:a16="http://schemas.microsoft.com/office/drawing/2014/main" id="{CA275170-8302-4A0C-B2CD-35B7EE7B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425" y="119062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材料／指标／限制</a:t>
            </a:r>
          </a:p>
        </p:txBody>
      </p:sp>
      <p:sp>
        <p:nvSpPr>
          <p:cNvPr id="11" name="gates-r1">
            <a:extLst xmlns:a="http://schemas.openxmlformats.org/drawingml/2006/main">
              <a:ext uri="{FF2B5EF4-FFF2-40B4-BE49-F238E27FC236}">
                <a16:creationId xmlns:a16="http://schemas.microsoft.com/office/drawing/2014/main" id="{3F6731DF-2A0D-4B3A-BBAA-A208C7A4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975" y="172402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gates-n2">
            <a:extLst xmlns:a="http://schemas.openxmlformats.org/drawingml/2006/main">
              <a:ext uri="{FF2B5EF4-FFF2-40B4-BE49-F238E27FC236}">
                <a16:creationId xmlns:a16="http://schemas.microsoft.com/office/drawing/2014/main" id="{BB438CC5-4E45-4C14-9BDF-ABC49E41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075" y="11906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gates-t2">
            <a:extLst xmlns:a="http://schemas.openxmlformats.org/drawingml/2006/main">
              <a:ext uri="{FF2B5EF4-FFF2-40B4-BE49-F238E27FC236}">
                <a16:creationId xmlns:a16="http://schemas.microsoft.com/office/drawing/2014/main" id="{B8A64116-8B1B-483D-97F8-74FD6542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5525" y="119062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环境／配置／种子</a:t>
            </a:r>
          </a:p>
        </p:txBody>
      </p:sp>
      <p:sp>
        <p:nvSpPr>
          <p:cNvPr id="14" name="gates-r2">
            <a:extLst xmlns:a="http://schemas.openxmlformats.org/drawingml/2006/main">
              <a:ext uri="{FF2B5EF4-FFF2-40B4-BE49-F238E27FC236}">
                <a16:creationId xmlns:a16="http://schemas.microsoft.com/office/drawing/2014/main" id="{6F672FE1-66FD-433E-AD9F-6C6AE631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075" y="172402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gates-n3">
            <a:extLst xmlns:a="http://schemas.openxmlformats.org/drawingml/2006/main">
              <a:ext uri="{FF2B5EF4-FFF2-40B4-BE49-F238E27FC236}">
                <a16:creationId xmlns:a16="http://schemas.microsoft.com/office/drawing/2014/main" id="{88798988-D7CE-4A3C-B963-97FA49DC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1457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gates-t3">
            <a:extLst xmlns:a="http://schemas.openxmlformats.org/drawingml/2006/main">
              <a:ext uri="{FF2B5EF4-FFF2-40B4-BE49-F238E27FC236}">
                <a16:creationId xmlns:a16="http://schemas.microsoft.com/office/drawing/2014/main" id="{5AFEC5A2-4772-4F04-8A12-F015F2B9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31457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至少 2 条判断</a:t>
            </a:r>
          </a:p>
        </p:txBody>
      </p:sp>
      <p:sp>
        <p:nvSpPr>
          <p:cNvPr id="17" name="gates-r3">
            <a:extLst xmlns:a="http://schemas.openxmlformats.org/drawingml/2006/main">
              <a:ext uri="{FF2B5EF4-FFF2-40B4-BE49-F238E27FC236}">
                <a16:creationId xmlns:a16="http://schemas.microsoft.com/office/drawing/2014/main" id="{9906FAE9-27BB-4909-B407-82C8127C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4797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gates-n4">
            <a:extLst xmlns:a="http://schemas.openxmlformats.org/drawingml/2006/main">
              <a:ext uri="{FF2B5EF4-FFF2-40B4-BE49-F238E27FC236}">
                <a16:creationId xmlns:a16="http://schemas.microsoft.com/office/drawing/2014/main" id="{FB8DFA79-52BD-4B57-B63B-F9171F38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975" y="231457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9" name="gates-t4">
            <a:extLst xmlns:a="http://schemas.openxmlformats.org/drawingml/2006/main">
              <a:ext uri="{FF2B5EF4-FFF2-40B4-BE49-F238E27FC236}">
                <a16:creationId xmlns:a16="http://schemas.microsoft.com/office/drawing/2014/main" id="{B03093CF-FA95-4E99-B487-3AB697A4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425" y="231457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完整实验规格</a:t>
            </a:r>
          </a:p>
        </p:txBody>
      </p:sp>
      <p:sp>
        <p:nvSpPr>
          <p:cNvPr id="20" name="gates-r4">
            <a:extLst xmlns:a="http://schemas.openxmlformats.org/drawingml/2006/main">
              <a:ext uri="{FF2B5EF4-FFF2-40B4-BE49-F238E27FC236}">
                <a16:creationId xmlns:a16="http://schemas.microsoft.com/office/drawing/2014/main" id="{79267558-FAD3-4F3F-A5F5-A77E048F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975" y="284797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gates-n5">
            <a:extLst xmlns:a="http://schemas.openxmlformats.org/drawingml/2006/main">
              <a:ext uri="{FF2B5EF4-FFF2-40B4-BE49-F238E27FC236}">
                <a16:creationId xmlns:a16="http://schemas.microsoft.com/office/drawing/2014/main" id="{192E6D2C-1D1A-4AC3-B7BB-9E455F27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075" y="231457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22" name="gates-t5">
            <a:extLst xmlns:a="http://schemas.openxmlformats.org/drawingml/2006/main">
              <a:ext uri="{FF2B5EF4-FFF2-40B4-BE49-F238E27FC236}">
                <a16:creationId xmlns:a16="http://schemas.microsoft.com/office/drawing/2014/main" id="{CB9845FC-E788-4353-9F4A-C156215D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5525" y="231457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同伴反馈处理</a:t>
            </a:r>
          </a:p>
        </p:txBody>
      </p:sp>
      <p:sp>
        <p:nvSpPr>
          <p:cNvPr id="23" name="gates-r5">
            <a:extLst xmlns:a="http://schemas.openxmlformats.org/drawingml/2006/main">
              <a:ext uri="{FF2B5EF4-FFF2-40B4-BE49-F238E27FC236}">
                <a16:creationId xmlns:a16="http://schemas.microsoft.com/office/drawing/2014/main" id="{D641C4FC-F0F7-4F34-8E34-8A46CE78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075" y="284797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4" name="gates-n6">
            <a:extLst xmlns:a="http://schemas.openxmlformats.org/drawingml/2006/main">
              <a:ext uri="{FF2B5EF4-FFF2-40B4-BE49-F238E27FC236}">
                <a16:creationId xmlns:a16="http://schemas.microsoft.com/office/drawing/2014/main" id="{CD5B406D-8C80-4F56-B474-2270D62C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385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25" name="gates-t6">
            <a:extLst xmlns:a="http://schemas.openxmlformats.org/drawingml/2006/main">
              <a:ext uri="{FF2B5EF4-FFF2-40B4-BE49-F238E27FC236}">
                <a16:creationId xmlns:a16="http://schemas.microsoft.com/office/drawing/2014/main" id="{CBBBB48B-847E-49D2-98A7-5CD667ED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43852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风险与失败预案</a:t>
            </a:r>
          </a:p>
        </p:txBody>
      </p:sp>
      <p:sp>
        <p:nvSpPr>
          <p:cNvPr id="26" name="gates-r6">
            <a:extLst xmlns:a="http://schemas.openxmlformats.org/drawingml/2006/main">
              <a:ext uri="{FF2B5EF4-FFF2-40B4-BE49-F238E27FC236}">
                <a16:creationId xmlns:a16="http://schemas.microsoft.com/office/drawing/2014/main" id="{165204BC-61DA-4CE1-A452-FC33F7B0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97192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7" name="gates-n7">
            <a:extLst xmlns:a="http://schemas.openxmlformats.org/drawingml/2006/main">
              <a:ext uri="{FF2B5EF4-FFF2-40B4-BE49-F238E27FC236}">
                <a16:creationId xmlns:a16="http://schemas.microsoft.com/office/drawing/2014/main" id="{D48B0C41-7156-424C-9FE5-9A7B7267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975" y="34385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28" name="gates-t7">
            <a:extLst xmlns:a="http://schemas.openxmlformats.org/drawingml/2006/main">
              <a:ext uri="{FF2B5EF4-FFF2-40B4-BE49-F238E27FC236}">
                <a16:creationId xmlns:a16="http://schemas.microsoft.com/office/drawing/2014/main" id="{88A25B8E-AAAE-4846-A8B9-EF752E0E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425" y="343852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已遇失败记录</a:t>
            </a:r>
          </a:p>
        </p:txBody>
      </p:sp>
      <p:sp>
        <p:nvSpPr>
          <p:cNvPr id="29" name="gates-r7">
            <a:extLst xmlns:a="http://schemas.openxmlformats.org/drawingml/2006/main">
              <a:ext uri="{FF2B5EF4-FFF2-40B4-BE49-F238E27FC236}">
                <a16:creationId xmlns:a16="http://schemas.microsoft.com/office/drawing/2014/main" id="{414016D2-BF45-4A09-9E21-EDAE54DF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975" y="397192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0" name="gates-n8">
            <a:extLst xmlns:a="http://schemas.openxmlformats.org/drawingml/2006/main">
              <a:ext uri="{FF2B5EF4-FFF2-40B4-BE49-F238E27FC236}">
                <a16:creationId xmlns:a16="http://schemas.microsoft.com/office/drawing/2014/main" id="{BA9915D9-3AC0-4F77-903F-6C8D7981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075" y="3438525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1" name="gates-t8">
            <a:extLst xmlns:a="http://schemas.openxmlformats.org/drawingml/2006/main">
              <a:ext uri="{FF2B5EF4-FFF2-40B4-BE49-F238E27FC236}">
                <a16:creationId xmlns:a16="http://schemas.microsoft.com/office/drawing/2014/main" id="{60DB56ED-6595-4A16-AFA0-25EA28E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5525" y="3438525"/>
            <a:ext cx="264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迁移完整模板</a:t>
            </a:r>
          </a:p>
        </p:txBody>
      </p:sp>
      <p:sp>
        <p:nvSpPr>
          <p:cNvPr id="32" name="gates-r8">
            <a:extLst xmlns:a="http://schemas.openxmlformats.org/drawingml/2006/main">
              <a:ext uri="{FF2B5EF4-FFF2-40B4-BE49-F238E27FC236}">
                <a16:creationId xmlns:a16="http://schemas.microsoft.com/office/drawing/2014/main" id="{F04FADFE-0792-4C50-A234-A64C71D5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075" y="3971925"/>
            <a:ext cx="3194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3" name="status">
            <a:extLst xmlns:a="http://schemas.openxmlformats.org/drawingml/2006/main">
              <a:ext uri="{FF2B5EF4-FFF2-40B4-BE49-F238E27FC236}">
                <a16:creationId xmlns:a16="http://schemas.microsoft.com/office/drawing/2014/main" id="{FDF0D9D4-9479-4377-9A9F-571D86C7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8 课补入：研究判断 + 同伴反馈处理；其余缺口留到第 9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实践：完成陈述、互查、决策与判断门预检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worksheet-bg">
            <a:extLst xmlns:a="http://schemas.openxmlformats.org/drawingml/2006/main">
              <a:ext uri="{FF2B5EF4-FFF2-40B4-BE49-F238E27FC236}">
                <a16:creationId xmlns:a16="http://schemas.microsoft.com/office/drawing/2014/main" id="{0917B885-94E7-4B5E-940F-9913FABF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7" name="worksheet">
            <a:extLst xmlns:a="http://schemas.openxmlformats.org/drawingml/2006/main">
              <a:ext uri="{FF2B5EF4-FFF2-40B4-BE49-F238E27FC236}">
                <a16:creationId xmlns:a16="http://schemas.microsoft.com/office/drawing/2014/main" id="{6932FD61-01F9-4A37-BB87-5CEBA13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诊所工作表</a:t>
            </a:r>
          </a:p>
        </p:txBody>
      </p:sp>
      <p:sp>
        <p:nvSpPr>
          <p:cNvPr id="8" name="work-n0">
            <a:extLst xmlns:a="http://schemas.openxmlformats.org/drawingml/2006/main">
              <a:ext uri="{FF2B5EF4-FFF2-40B4-BE49-F238E27FC236}">
                <a16:creationId xmlns:a16="http://schemas.microsoft.com/office/drawing/2014/main" id="{308A33F7-5F48-4E5E-BECF-47FB1990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3335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work-t0">
            <a:extLst xmlns:a="http://schemas.openxmlformats.org/drawingml/2006/main">
              <a:ext uri="{FF2B5EF4-FFF2-40B4-BE49-F238E27FC236}">
                <a16:creationId xmlns:a16="http://schemas.microsoft.com/office/drawing/2014/main" id="{0B2BE8A2-2F5F-4E66-8EC2-79031B45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333500"/>
            <a:ext cx="7258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补全五段陈述</a:t>
            </a:r>
          </a:p>
        </p:txBody>
      </p:sp>
      <p:sp>
        <p:nvSpPr>
          <p:cNvPr id="10" name="work-r0">
            <a:extLst xmlns:a="http://schemas.openxmlformats.org/drawingml/2006/main">
              <a:ext uri="{FF2B5EF4-FFF2-40B4-BE49-F238E27FC236}">
                <a16:creationId xmlns:a16="http://schemas.microsoft.com/office/drawing/2014/main" id="{B3E45CF1-5FBC-4F08-9976-8DB9DB63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66900"/>
            <a:ext cx="7810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work-n1">
            <a:extLst xmlns:a="http://schemas.openxmlformats.org/drawingml/2006/main">
              <a:ext uri="{FF2B5EF4-FFF2-40B4-BE49-F238E27FC236}">
                <a16:creationId xmlns:a16="http://schemas.microsoft.com/office/drawing/2014/main" id="{3A7DB18E-B8C2-46F8-9C76-E0552DF4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145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work-t1">
            <a:extLst xmlns:a="http://schemas.openxmlformats.org/drawingml/2006/main">
              <a:ext uri="{FF2B5EF4-FFF2-40B4-BE49-F238E27FC236}">
                <a16:creationId xmlns:a16="http://schemas.microsoft.com/office/drawing/2014/main" id="{B6F5C9F4-F4D6-49AD-A131-E2F4A71C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14550"/>
            <a:ext cx="7258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完成一次陈述与反馈</a:t>
            </a:r>
          </a:p>
        </p:txBody>
      </p:sp>
      <p:sp>
        <p:nvSpPr>
          <p:cNvPr id="13" name="work-r1">
            <a:extLst xmlns:a="http://schemas.openxmlformats.org/drawingml/2006/main">
              <a:ext uri="{FF2B5EF4-FFF2-40B4-BE49-F238E27FC236}">
                <a16:creationId xmlns:a16="http://schemas.microsoft.com/office/drawing/2014/main" id="{9B9E858E-121D-43FD-A960-1C7686CB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47950"/>
            <a:ext cx="7810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work-n2">
            <a:extLst xmlns:a="http://schemas.openxmlformats.org/drawingml/2006/main">
              <a:ext uri="{FF2B5EF4-FFF2-40B4-BE49-F238E27FC236}">
                <a16:creationId xmlns:a16="http://schemas.microsoft.com/office/drawing/2014/main" id="{DB6C8550-8FF9-4395-A01F-AF779D14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956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work-t2">
            <a:extLst xmlns:a="http://schemas.openxmlformats.org/drawingml/2006/main">
              <a:ext uri="{FF2B5EF4-FFF2-40B4-BE49-F238E27FC236}">
                <a16:creationId xmlns:a16="http://schemas.microsoft.com/office/drawing/2014/main" id="{6FD3CBA8-B2F6-4E9F-829C-F42D7B3A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95600"/>
            <a:ext cx="7258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处理至少 2 条反馈</a:t>
            </a:r>
          </a:p>
        </p:txBody>
      </p:sp>
      <p:sp>
        <p:nvSpPr>
          <p:cNvPr id="16" name="work-r2">
            <a:extLst xmlns:a="http://schemas.openxmlformats.org/drawingml/2006/main">
              <a:ext uri="{FF2B5EF4-FFF2-40B4-BE49-F238E27FC236}">
                <a16:creationId xmlns:a16="http://schemas.microsoft.com/office/drawing/2014/main" id="{0466CCC6-2D98-42D1-8622-C392FC37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29000"/>
            <a:ext cx="7810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work-n3">
            <a:extLst xmlns:a="http://schemas.openxmlformats.org/drawingml/2006/main">
              <a:ext uri="{FF2B5EF4-FFF2-40B4-BE49-F238E27FC236}">
                <a16:creationId xmlns:a16="http://schemas.microsoft.com/office/drawing/2014/main" id="{3D8E08C1-A582-4F2A-809A-F3F37521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766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8" name="work-t3">
            <a:extLst xmlns:a="http://schemas.openxmlformats.org/drawingml/2006/main">
              <a:ext uri="{FF2B5EF4-FFF2-40B4-BE49-F238E27FC236}">
                <a16:creationId xmlns:a16="http://schemas.microsoft.com/office/drawing/2014/main" id="{B1D43B7E-6C97-4C1F-B995-97442140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76650"/>
            <a:ext cx="7258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现场修订 1 处并定位</a:t>
            </a:r>
          </a:p>
        </p:txBody>
      </p:sp>
      <p:sp>
        <p:nvSpPr>
          <p:cNvPr id="19" name="work-r3">
            <a:extLst xmlns:a="http://schemas.openxmlformats.org/drawingml/2006/main">
              <a:ext uri="{FF2B5EF4-FFF2-40B4-BE49-F238E27FC236}">
                <a16:creationId xmlns:a16="http://schemas.microsoft.com/office/drawing/2014/main" id="{D3F4E0BD-A2C1-420C-BA5E-61A8121A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10050"/>
            <a:ext cx="7810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done">
            <a:extLst xmlns:a="http://schemas.openxmlformats.org/drawingml/2006/main">
              <a:ext uri="{FF2B5EF4-FFF2-40B4-BE49-F238E27FC236}">
                <a16:creationId xmlns:a16="http://schemas.microsoft.com/office/drawing/2014/main" id="{6EBD7C25-0CB4-4FD1-AD80-4465A552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00625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完成标志：工件中出现“动作 + 理由 + 回写位置”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summary-0-bg">
            <a:extLst xmlns:a="http://schemas.openxmlformats.org/drawingml/2006/main">
              <a:ext uri="{FF2B5EF4-FFF2-40B4-BE49-F238E27FC236}">
                <a16:creationId xmlns:a16="http://schemas.microsoft.com/office/drawing/2014/main" id="{4DD208EF-C68F-4626-9253-7F9A87A0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summary-0">
            <a:extLst xmlns:a="http://schemas.openxmlformats.org/drawingml/2006/main">
              <a:ext uri="{FF2B5EF4-FFF2-40B4-BE49-F238E27FC236}">
                <a16:creationId xmlns:a16="http://schemas.microsoft.com/office/drawing/2014/main" id="{25837515-1821-400F-BD59-64305955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最小陈述</a:t>
            </a:r>
          </a:p>
        </p:txBody>
      </p:sp>
      <p:sp>
        <p:nvSpPr>
          <p:cNvPr id="8" name="summary-a0">
            <a:extLst xmlns:a="http://schemas.openxmlformats.org/drawingml/2006/main">
              <a:ext uri="{FF2B5EF4-FFF2-40B4-BE49-F238E27FC236}">
                <a16:creationId xmlns:a16="http://schemas.microsoft.com/office/drawing/2014/main" id="{17390D69-A228-479E-9CE2-B34C0DAE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ummary-1-bg">
            <a:extLst xmlns:a="http://schemas.openxmlformats.org/drawingml/2006/main">
              <a:ext uri="{FF2B5EF4-FFF2-40B4-BE49-F238E27FC236}">
                <a16:creationId xmlns:a16="http://schemas.microsoft.com/office/drawing/2014/main" id="{DA5948D9-FC4C-4F5C-B0BD-DA4EC83C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summary-1">
            <a:extLst xmlns:a="http://schemas.openxmlformats.org/drawingml/2006/main">
              <a:ext uri="{FF2B5EF4-FFF2-40B4-BE49-F238E27FC236}">
                <a16:creationId xmlns:a16="http://schemas.microsoft.com/office/drawing/2014/main" id="{BF114012-52F9-4B96-8401-FA48F25B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同伴质询</a:t>
            </a:r>
          </a:p>
        </p:txBody>
      </p:sp>
      <p:sp>
        <p:nvSpPr>
          <p:cNvPr id="11" name="summary-a1">
            <a:extLst xmlns:a="http://schemas.openxmlformats.org/drawingml/2006/main">
              <a:ext uri="{FF2B5EF4-FFF2-40B4-BE49-F238E27FC236}">
                <a16:creationId xmlns:a16="http://schemas.microsoft.com/office/drawing/2014/main" id="{B5220A45-473C-45A7-8A96-7E13F263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summary-2-bg">
            <a:extLst xmlns:a="http://schemas.openxmlformats.org/drawingml/2006/main">
              <a:ext uri="{FF2B5EF4-FFF2-40B4-BE49-F238E27FC236}">
                <a16:creationId xmlns:a16="http://schemas.microsoft.com/office/drawing/2014/main" id="{03A99736-CA15-4D59-985A-E8865A43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summary-2">
            <a:extLst xmlns:a="http://schemas.openxmlformats.org/drawingml/2006/main">
              <a:ext uri="{FF2B5EF4-FFF2-40B4-BE49-F238E27FC236}">
                <a16:creationId xmlns:a16="http://schemas.microsoft.com/office/drawing/2014/main" id="{948808F9-890F-473E-AB5B-320DCC4C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作者处理</a:t>
            </a:r>
          </a:p>
        </p:txBody>
      </p:sp>
      <p:sp>
        <p:nvSpPr>
          <p:cNvPr id="14" name="summary-a2">
            <a:extLst xmlns:a="http://schemas.openxmlformats.org/drawingml/2006/main">
              <a:ext uri="{FF2B5EF4-FFF2-40B4-BE49-F238E27FC236}">
                <a16:creationId xmlns:a16="http://schemas.microsoft.com/office/drawing/2014/main" id="{7A8EB31E-3E90-4E2C-9C8F-BADE710F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ummary-3-bg">
            <a:extLst xmlns:a="http://schemas.openxmlformats.org/drawingml/2006/main">
              <a:ext uri="{FF2B5EF4-FFF2-40B4-BE49-F238E27FC236}">
                <a16:creationId xmlns:a16="http://schemas.microsoft.com/office/drawing/2014/main" id="{7A47A9CD-FEE7-40A1-8525-394BB08B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summary-3">
            <a:extLst xmlns:a="http://schemas.openxmlformats.org/drawingml/2006/main">
              <a:ext uri="{FF2B5EF4-FFF2-40B4-BE49-F238E27FC236}">
                <a16:creationId xmlns:a16="http://schemas.microsoft.com/office/drawing/2014/main" id="{8A8E5C1D-6EA2-475D-AF89-A6CFCE9D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下一步行动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461FD830-65C0-458F-BE50-7366755E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反馈是诊断输入；作者记录并承担修改决定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退出卡：把今天的反馈变成第 9 课的最小行动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exit-l">
            <a:extLst xmlns:a="http://schemas.openxmlformats.org/drawingml/2006/main">
              <a:ext uri="{FF2B5EF4-FFF2-40B4-BE49-F238E27FC236}">
                <a16:creationId xmlns:a16="http://schemas.microsoft.com/office/drawing/2014/main" id="{4ECD63E4-BA30-4557-9160-D2779FC5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退出记录</a:t>
            </a:r>
          </a:p>
        </p:txBody>
      </p:sp>
      <p:sp>
        <p:nvSpPr>
          <p:cNvPr id="7" name="exit-shade0">
            <a:extLst xmlns:a="http://schemas.openxmlformats.org/drawingml/2006/main">
              <a:ext uri="{FF2B5EF4-FFF2-40B4-BE49-F238E27FC236}">
                <a16:creationId xmlns:a16="http://schemas.microsoft.com/office/drawing/2014/main" id="{3412D425-945A-4979-8A93-8B635159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7143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exit-l0">
            <a:extLst xmlns:a="http://schemas.openxmlformats.org/drawingml/2006/main">
              <a:ext uri="{FF2B5EF4-FFF2-40B4-BE49-F238E27FC236}">
                <a16:creationId xmlns:a16="http://schemas.microsoft.com/office/drawing/2014/main" id="{C09E1762-CFF7-4083-BA83-98A61F52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478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薄弱维度</a:t>
            </a:r>
          </a:p>
        </p:txBody>
      </p:sp>
      <p:sp>
        <p:nvSpPr>
          <p:cNvPr id="9" name="exit-v0">
            <a:extLst xmlns:a="http://schemas.openxmlformats.org/drawingml/2006/main">
              <a:ext uri="{FF2B5EF4-FFF2-40B4-BE49-F238E27FC236}">
                <a16:creationId xmlns:a16="http://schemas.microsoft.com/office/drawing/2014/main" id="{A9D13FDB-4A15-4C93-93E5-3B7A2C5C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478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exit-r0">
            <a:extLst xmlns:a="http://schemas.openxmlformats.org/drawingml/2006/main">
              <a:ext uri="{FF2B5EF4-FFF2-40B4-BE49-F238E27FC236}">
                <a16:creationId xmlns:a16="http://schemas.microsoft.com/office/drawing/2014/main" id="{12295995-8632-4884-ADBB-7FCBCEAB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7143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exit-l1">
            <a:extLst xmlns:a="http://schemas.openxmlformats.org/drawingml/2006/main">
              <a:ext uri="{FF2B5EF4-FFF2-40B4-BE49-F238E27FC236}">
                <a16:creationId xmlns:a16="http://schemas.microsoft.com/office/drawing/2014/main" id="{93F7A66B-BCAB-415F-9A6F-41E787C0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860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最可执行反馈</a:t>
            </a:r>
          </a:p>
        </p:txBody>
      </p:sp>
      <p:sp>
        <p:nvSpPr>
          <p:cNvPr id="12" name="exit-v1">
            <a:extLst xmlns:a="http://schemas.openxmlformats.org/drawingml/2006/main">
              <a:ext uri="{FF2B5EF4-FFF2-40B4-BE49-F238E27FC236}">
                <a16:creationId xmlns:a16="http://schemas.microsoft.com/office/drawing/2014/main" id="{D2F2D295-1FB6-4A0C-B1E8-5BAAB610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860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exit-r1">
            <a:extLst xmlns:a="http://schemas.openxmlformats.org/drawingml/2006/main">
              <a:ext uri="{FF2B5EF4-FFF2-40B4-BE49-F238E27FC236}">
                <a16:creationId xmlns:a16="http://schemas.microsoft.com/office/drawing/2014/main" id="{BD8D9C6E-A927-4C08-A65D-329D59FB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7143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exit-shade2">
            <a:extLst xmlns:a="http://schemas.openxmlformats.org/drawingml/2006/main">
              <a:ext uri="{FF2B5EF4-FFF2-40B4-BE49-F238E27FC236}">
                <a16:creationId xmlns:a16="http://schemas.microsoft.com/office/drawing/2014/main" id="{4FB4FDEF-9075-441C-A80F-98F937A8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7143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exit-l2">
            <a:extLst xmlns:a="http://schemas.openxmlformats.org/drawingml/2006/main">
              <a:ext uri="{FF2B5EF4-FFF2-40B4-BE49-F238E27FC236}">
                <a16:creationId xmlns:a16="http://schemas.microsoft.com/office/drawing/2014/main" id="{EFE37E49-3D7E-40D2-8CAB-5EFC0ABC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处理动作与理由</a:t>
            </a:r>
          </a:p>
        </p:txBody>
      </p:sp>
      <p:sp>
        <p:nvSpPr>
          <p:cNvPr id="16" name="exit-v2">
            <a:extLst xmlns:a="http://schemas.openxmlformats.org/drawingml/2006/main">
              <a:ext uri="{FF2B5EF4-FFF2-40B4-BE49-F238E27FC236}">
                <a16:creationId xmlns:a16="http://schemas.microsoft.com/office/drawing/2014/main" id="{10E99E32-B782-4AC4-8FA2-DD11F337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242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exit-r2">
            <a:extLst xmlns:a="http://schemas.openxmlformats.org/drawingml/2006/main">
              <a:ext uri="{FF2B5EF4-FFF2-40B4-BE49-F238E27FC236}">
                <a16:creationId xmlns:a16="http://schemas.microsoft.com/office/drawing/2014/main" id="{D4E4CD39-CCFC-47EE-82DF-46AA2B07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7143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exit-l3">
            <a:extLst xmlns:a="http://schemas.openxmlformats.org/drawingml/2006/main">
              <a:ext uri="{FF2B5EF4-FFF2-40B4-BE49-F238E27FC236}">
                <a16:creationId xmlns:a16="http://schemas.microsoft.com/office/drawing/2014/main" id="{C1CC4329-6A05-4C74-BADF-9CCCF3B8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624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课最小动作</a:t>
            </a:r>
          </a:p>
        </p:txBody>
      </p:sp>
      <p:sp>
        <p:nvSpPr>
          <p:cNvPr id="19" name="exit-v3">
            <a:extLst xmlns:a="http://schemas.openxmlformats.org/drawingml/2006/main">
              <a:ext uri="{FF2B5EF4-FFF2-40B4-BE49-F238E27FC236}">
                <a16:creationId xmlns:a16="http://schemas.microsoft.com/office/drawing/2014/main" id="{28C7672C-8D61-49B5-A1D6-DE12463A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1624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next-bg">
            <a:extLst xmlns:a="http://schemas.openxmlformats.org/drawingml/2006/main">
              <a:ext uri="{FF2B5EF4-FFF2-40B4-BE49-F238E27FC236}">
                <a16:creationId xmlns:a16="http://schemas.microsoft.com/office/drawing/2014/main" id="{FEB99151-CBAB-4016-89C0-0C12ABAF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57375"/>
            <a:ext cx="2714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1" name="next">
            <a:extLst xmlns:a="http://schemas.openxmlformats.org/drawingml/2006/main">
              <a:ext uri="{FF2B5EF4-FFF2-40B4-BE49-F238E27FC236}">
                <a16:creationId xmlns:a16="http://schemas.microsoft.com/office/drawing/2014/main" id="{2C804C90-5657-45E0-8F2C-281A2053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952625"/>
            <a:ext cx="24098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课输入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 baseline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复现记录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判断门材料包</a:t>
            </a:r>
          </a:p>
        </p:txBody>
      </p:sp>
      <p:sp>
        <p:nvSpPr>
          <p:cNvPr id="22" name="nohomework">
            <a:extLst xmlns:a="http://schemas.openxmlformats.org/drawingml/2006/main">
              <a:ext uri="{FF2B5EF4-FFF2-40B4-BE49-F238E27FC236}">
                <a16:creationId xmlns:a16="http://schemas.microsoft.com/office/drawing/2014/main" id="{42DC8149-5708-459E-8836-2B83A793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86375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不新增正式作业；今天的记录随第 9 课判断门统一检查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2026-09-12T12:01:53.5790000Z</dcterms:created>
  <dcterms:modified xsi:type="dcterms:W3CDTF">2026-09-12T12:01:53.5800000Z</dcterms:modified>
</coreProperties>
</file>