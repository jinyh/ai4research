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63b50f736243a3" /><Relationship Type="http://schemas.openxmlformats.org/officeDocument/2006/relationships/extended-properties" Target="/docProps/app.xml" Id="Rc1bafd394da84226" /><Relationship Type="http://schemas.openxmlformats.org/officeDocument/2006/relationships/officeDocument" Target="/ppt/presentation.xml" Id="Reb5c8bd0ce0d48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dd0d1816984d90"/>
  </p:sldMasterIdLst>
  <p:notesMasterIdLst>
    <p:notesMasterId xmlns:r="http://schemas.openxmlformats.org/officeDocument/2006/relationships" r:id="R92290588e6574df9"/>
  </p:notesMasterIdLst>
  <p:sldIdLst>
    <p:sldId xmlns:r="http://schemas.openxmlformats.org/officeDocument/2006/relationships" id="256" r:id="R7d65d1b3081d490d"/>
    <p:sldId xmlns:r="http://schemas.openxmlformats.org/officeDocument/2006/relationships" id="257" r:id="Raf7c0c9ee29c4d43"/>
    <p:sldId xmlns:r="http://schemas.openxmlformats.org/officeDocument/2006/relationships" id="258" r:id="Rab0d2c9eb3e648d5"/>
    <p:sldId xmlns:r="http://schemas.openxmlformats.org/officeDocument/2006/relationships" id="259" r:id="Rd2f311a2e3c34518"/>
    <p:sldId xmlns:r="http://schemas.openxmlformats.org/officeDocument/2006/relationships" id="260" r:id="Rbdafd17ae2974e17"/>
    <p:sldId xmlns:r="http://schemas.openxmlformats.org/officeDocument/2006/relationships" id="261" r:id="Rffd290d099604127"/>
    <p:sldId xmlns:r="http://schemas.openxmlformats.org/officeDocument/2006/relationships" id="262" r:id="R9be53e3bd2254186"/>
    <p:sldId xmlns:r="http://schemas.openxmlformats.org/officeDocument/2006/relationships" id="263" r:id="R467cea9ba0ec4b56"/>
    <p:sldId xmlns:r="http://schemas.openxmlformats.org/officeDocument/2006/relationships" id="264" r:id="R77310992c271496f"/>
    <p:sldId xmlns:r="http://schemas.openxmlformats.org/officeDocument/2006/relationships" id="265" r:id="Rcce4c0bb105d41d6"/>
    <p:sldId xmlns:r="http://schemas.openxmlformats.org/officeDocument/2006/relationships" id="266" r:id="Rf4df4ce73de14196"/>
    <p:sldId xmlns:r="http://schemas.openxmlformats.org/officeDocument/2006/relationships" id="267" r:id="R2b7801542a2c48ea"/>
    <p:sldId xmlns:r="http://schemas.openxmlformats.org/officeDocument/2006/relationships" id="268" r:id="R3362a91d04ea45b9"/>
    <p:sldId xmlns:r="http://schemas.openxmlformats.org/officeDocument/2006/relationships" id="269" r:id="R65ae930c142744dc"/>
    <p:sldId xmlns:r="http://schemas.openxmlformats.org/officeDocument/2006/relationships" id="270" r:id="Rc3241198d6e04c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283e98f2ea45b4" /><Relationship Type="http://schemas.openxmlformats.org/officeDocument/2006/relationships/slideMaster" Target="/ppt/slideMasters/slideMaster1.xml" Id="R34dd0d1816984d90" /><Relationship Type="http://schemas.openxmlformats.org/officeDocument/2006/relationships/notesMaster" Target="/ppt/notesMasters/notesMaster1.xml" Id="R92290588e6574df9" /><Relationship Type="http://schemas.openxmlformats.org/officeDocument/2006/relationships/presProps" Target="/ppt/presProps.xml" Id="R96a90a38f5b24f34" /><Relationship Type="http://schemas.openxmlformats.org/officeDocument/2006/relationships/viewProps" Target="/ppt/viewProps.xml" Id="R5c78f5f6bab04c5f" /><Relationship Type="http://schemas.openxmlformats.org/officeDocument/2006/relationships/tableStyles" Target="/ppt/tableStyles.xml" Id="R749541b4dcee47ca" /><Relationship Type="http://schemas.openxmlformats.org/officeDocument/2006/relationships/slide" Target="/ppt/slides/slide1.xml" Id="R7d65d1b3081d490d" /><Relationship Type="http://schemas.openxmlformats.org/officeDocument/2006/relationships/slide" Target="/ppt/slides/slide2.xml" Id="Raf7c0c9ee29c4d43" /><Relationship Type="http://schemas.openxmlformats.org/officeDocument/2006/relationships/slide" Target="/ppt/slides/slide3.xml" Id="Rab0d2c9eb3e648d5" /><Relationship Type="http://schemas.openxmlformats.org/officeDocument/2006/relationships/slide" Target="/ppt/slides/slide4.xml" Id="Rd2f311a2e3c34518" /><Relationship Type="http://schemas.openxmlformats.org/officeDocument/2006/relationships/slide" Target="/ppt/slides/slide5.xml" Id="Rbdafd17ae2974e17" /><Relationship Type="http://schemas.openxmlformats.org/officeDocument/2006/relationships/slide" Target="/ppt/slides/slide6.xml" Id="Rffd290d099604127" /><Relationship Type="http://schemas.openxmlformats.org/officeDocument/2006/relationships/slide" Target="/ppt/slides/slide7.xml" Id="R9be53e3bd2254186" /><Relationship Type="http://schemas.openxmlformats.org/officeDocument/2006/relationships/slide" Target="/ppt/slides/slide8.xml" Id="R467cea9ba0ec4b56" /><Relationship Type="http://schemas.openxmlformats.org/officeDocument/2006/relationships/slide" Target="/ppt/slides/slide9.xml" Id="R77310992c271496f" /><Relationship Type="http://schemas.openxmlformats.org/officeDocument/2006/relationships/slide" Target="/ppt/slides/slide10.xml" Id="Rcce4c0bb105d41d6" /><Relationship Type="http://schemas.openxmlformats.org/officeDocument/2006/relationships/slide" Target="/ppt/slides/slide11.xml" Id="Rf4df4ce73de14196" /><Relationship Type="http://schemas.openxmlformats.org/officeDocument/2006/relationships/slide" Target="/ppt/slides/slide12.xml" Id="R2b7801542a2c48ea" /><Relationship Type="http://schemas.openxmlformats.org/officeDocument/2006/relationships/slide" Target="/ppt/slides/slide13.xml" Id="R3362a91d04ea45b9" /><Relationship Type="http://schemas.openxmlformats.org/officeDocument/2006/relationships/slide" Target="/ppt/slides/slide14.xml" Id="R65ae930c142744dc" /><Relationship Type="http://schemas.openxmlformats.org/officeDocument/2006/relationships/slide" Target="/ppt/slides/slide15.xml" Id="Rc3241198d6e04c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5bd3b2cfcc4f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6ea46da1f04adb" /><Relationship Type="http://schemas.openxmlformats.org/officeDocument/2006/relationships/notesMaster" Target="/ppt/notesMasters/notesMaster1.xml" Id="R8d118bf585db4d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a8337551c44b2b" /><Relationship Type="http://schemas.openxmlformats.org/officeDocument/2006/relationships/notesMaster" Target="/ppt/notesMasters/notesMaster1.xml" Id="R7e0f61c5337c4d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0acc9e021a40e0" /><Relationship Type="http://schemas.openxmlformats.org/officeDocument/2006/relationships/notesMaster" Target="/ppt/notesMasters/notesMaster1.xml" Id="R9c76f76a5ef34c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7600b03d1847be" /><Relationship Type="http://schemas.openxmlformats.org/officeDocument/2006/relationships/notesMaster" Target="/ppt/notesMasters/notesMaster1.xml" Id="Rbe56aca5e0eb45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f6c647c6984284" /><Relationship Type="http://schemas.openxmlformats.org/officeDocument/2006/relationships/notesMaster" Target="/ppt/notesMasters/notesMaster1.xml" Id="R78f817227f4e45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10d6375ebd49b9" /><Relationship Type="http://schemas.openxmlformats.org/officeDocument/2006/relationships/notesMaster" Target="/ppt/notesMasters/notesMaster1.xml" Id="R3c425223f68641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01a3bd23074383" /><Relationship Type="http://schemas.openxmlformats.org/officeDocument/2006/relationships/notesMaster" Target="/ppt/notesMasters/notesMaster1.xml" Id="Rcca8153baa7248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d622fdfcd24cd0" /><Relationship Type="http://schemas.openxmlformats.org/officeDocument/2006/relationships/notesMaster" Target="/ppt/notesMasters/notesMaster1.xml" Id="R98ed2c7a75b44c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298158e7474439" /><Relationship Type="http://schemas.openxmlformats.org/officeDocument/2006/relationships/notesMaster" Target="/ppt/notesMasters/notesMaster1.xml" Id="Reffb6b73bb8a40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1a93d7fa234ba4" /><Relationship Type="http://schemas.openxmlformats.org/officeDocument/2006/relationships/notesMaster" Target="/ppt/notesMasters/notesMaster1.xml" Id="R4b84e81476b64b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451216bb21451c" /><Relationship Type="http://schemas.openxmlformats.org/officeDocument/2006/relationships/notesMaster" Target="/ppt/notesMasters/notesMaster1.xml" Id="Rdb0f51fb536a42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5a7ef613374f3f" /><Relationship Type="http://schemas.openxmlformats.org/officeDocument/2006/relationships/notesMaster" Target="/ppt/notesMasters/notesMaster1.xml" Id="R5d4a7c70065a4b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6b47b6c5b854c34" /><Relationship Type="http://schemas.openxmlformats.org/officeDocument/2006/relationships/notesMaster" Target="/ppt/notesMasters/notesMaster1.xml" Id="Re64b6b5f566240f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247e0658f34a8c" /><Relationship Type="http://schemas.openxmlformats.org/officeDocument/2006/relationships/notesMaster" Target="/ppt/notesMasters/notesMaster1.xml" Id="R2b07c14c4f5d4b6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2972601a948437a" /><Relationship Type="http://schemas.openxmlformats.org/officeDocument/2006/relationships/notesMaster" Target="/ppt/notesMasters/notesMaster1.xml" Id="R81466f1d4c144a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开场直接回扣第 7 课：机制假设、研究判断初版和实验规格草图仍是内部工件。本课让这些工件经受一次外部质询，并把反馈转成作者本人承担的研究判断。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快问学生：你的实验规格草图中，baseline 的控制变量清单列全了吗？只听回答，不在此页展开评价。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本页只建立目标共识。强调采纳决策在课堂写，不是课后补；AI 若参与反馈线索生成，另留一条 AI 使用记录。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让学生先用自己的方案口头填第 1 段和第 3 段各一句。完整贯穿案例在 P10 展开。五段时长合计 180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Booth et al., The Craft of Research, 5th ed. (2024), sections 5.5 and 10.2.</a:t>
            </a:r>
          </a:p>
          <a:p xmlns:a="http://schemas.openxmlformats.org/drawingml/2006/main">
            <a:r>
              <a:t>- Simon Peyton Jones, Writing a Great Research Proposal (teaching handout).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本页严格区分四个诊断维度、一个独立行动性检查和边界横切字段。同伴不给分数、不排名，只指出看到了什么、缺了什么。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请学生现场写一条最大风险，必须标注属于四维诊断中的哪一维。建议必须对应最大风险，而不是另起一个泛泛建议。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 人组完成一轮约 20 分钟，3 人组约 15 分钟。作者在反馈阶段不反驳，先完整记录，随后再作采纳决策。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本课要求至少写两条完整决策，含至少一条采纳和一条拒绝或暂缓。暂缓不是搁置，必须进入待验证状态。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可以帮助整理，但它不了解方案证据、机制与约束的整体状态。研究判断的责任不可外包。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本页只用公开论文可核验内容重构五段，不自造实验数字，也不表示课程已复现论文结果。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Bouthillier, X. et al. Accounting for Variance in Machine Learning Benchmarks. MLSys 2021. https://proceedings.mlsys.org/paper_files/paper/2021/hash/0184b0cd3cfb185989f858a1d9f5c1eb-Abstract.html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三条反馈和决策均为虚构教学内容，不是 Bouthillier et al. 的真实评审意见。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Teaching feedback example; not empirical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让学生标记自己的已满足、部分满足与未覆盖项。本课不把未覆盖条件包装成已经完成。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 人组一轮约 20 分钟；人数或节奏超时时，缩为 2 分钟陈述 + 1 分钟反馈，或只跑一轮。巡视只处理共同卡点。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回收方案陈述、同伴质询、作者决策和行动回写的闭环。本页不新增正式提交。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收束到开场：同伴质询只有转成具体工件修改才有价值。提醒从轻量脚手架迁移到完整项目模板时保留 AI 使用记录和伦理说明。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6bbddfff040c2" /><Relationship Type="http://schemas.openxmlformats.org/officeDocument/2006/relationships/image" Target="/ppt/media/image.png" Id="R2d54a55fe0f84ed5" /><Relationship Type="http://schemas.openxmlformats.org/officeDocument/2006/relationships/image" Target="/ppt/media/image2.png" Id="Rc1cc0ab7613e4f06" /><Relationship Type="http://schemas.openxmlformats.org/officeDocument/2006/relationships/image" Target="/ppt/media/image3.png" Id="R9f15421715754a79" /><Relationship Type="http://schemas.openxmlformats.org/officeDocument/2006/relationships/image" Target="/ppt/media/image4.png" Id="R0bc65eb93152459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a2a6799d54b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b3ad09b8834b34" /><Relationship Type="http://schemas.openxmlformats.org/officeDocument/2006/relationships/image" Target="/ppt/media/image2.png" Id="Rf62e273984534358" /><Relationship Type="http://schemas.openxmlformats.org/officeDocument/2006/relationships/image" Target="/ppt/media/image5.png" Id="Rcabff04e444a48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2d9d0e945f4771" /><Relationship Type="http://schemas.openxmlformats.org/officeDocument/2006/relationships/image" Target="/ppt/media/image.png" Id="R5b3394a0c03848c6" /><Relationship Type="http://schemas.openxmlformats.org/officeDocument/2006/relationships/image" Target="/ppt/media/image3.png" Id="R93a663b95eb94822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4a55fe0f84ed5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cc0ab7613e4f0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15421715754a79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65eb931524592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2e273984534358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ff04e444a48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3394a0c03848c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a663b95eb94822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e6bad8c3b84d12" /><Relationship Type="http://schemas.openxmlformats.org/officeDocument/2006/relationships/slideLayout" Target="/ppt/slideLayouts/slideLayout1.xml" Id="R3ed36fe8c1e2412f" /><Relationship Type="http://schemas.openxmlformats.org/officeDocument/2006/relationships/slideLayout" Target="/ppt/slideLayouts/slideLayout2.xml" Id="R260a602f4a154694" /><Relationship Type="http://schemas.openxmlformats.org/officeDocument/2006/relationships/slideLayout" Target="/ppt/slideLayouts/slideLayout3.xml" Id="R2f340c4de49b4a70" /><Relationship Type="http://schemas.openxmlformats.org/officeDocument/2006/relationships/slideLayout" Target="/ppt/slideLayouts/slideLayout4.xml" Id="Rd3347fa1673f4b2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d36fe8c1e2412f"/>
    <p:sldLayoutId xmlns:r="http://schemas.openxmlformats.org/officeDocument/2006/relationships" id="2147483650" r:id="R260a602f4a154694"/>
    <p:sldLayoutId xmlns:r="http://schemas.openxmlformats.org/officeDocument/2006/relationships" id="2147483651" r:id="R2f340c4de49b4a70"/>
    <p:sldLayoutId xmlns:r="http://schemas.openxmlformats.org/officeDocument/2006/relationships" id="2147483652" r:id="Rd3347fa1673f4b2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d13918e014455" /><Relationship Type="http://schemas.openxmlformats.org/officeDocument/2006/relationships/notesSlide" Target="/ppt/notesSlides/notesSlide1.xml" Id="R5b34eeccead343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e667c1416c4d3d" /><Relationship Type="http://schemas.openxmlformats.org/officeDocument/2006/relationships/notesSlide" Target="/ppt/notesSlides/notesSlide2.xml" Id="R09d74b1d26a142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2a4d2352414c12" /><Relationship Type="http://schemas.openxmlformats.org/officeDocument/2006/relationships/notesSlide" Target="/ppt/notesSlides/notesSlide3.xml" Id="Rf25acb3909874a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b094834fd745f7" /><Relationship Type="http://schemas.openxmlformats.org/officeDocument/2006/relationships/notesSlide" Target="/ppt/notesSlides/notesSlide4.xml" Id="R381e4555eb9343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8e92d6a1714dfc" /><Relationship Type="http://schemas.openxmlformats.org/officeDocument/2006/relationships/notesSlide" Target="/ppt/notesSlides/notesSlide5.xml" Id="Rfc7682acb6264e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ece4cd7bd74c79" /><Relationship Type="http://schemas.openxmlformats.org/officeDocument/2006/relationships/notesSlide" Target="/ppt/notesSlides/notesSlide6.xml" Id="R291b271dfbdd46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c455451dd4468c" /><Relationship Type="http://schemas.openxmlformats.org/officeDocument/2006/relationships/notesSlide" Target="/ppt/notesSlides/notesSlide7.xml" Id="Rdad7dccc4b3d43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a9f1bbd1344ffd" /><Relationship Type="http://schemas.openxmlformats.org/officeDocument/2006/relationships/notesSlide" Target="/ppt/notesSlides/notesSlide8.xml" Id="R15d8edc735e048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b31a088d3424acb" /><Relationship Type="http://schemas.openxmlformats.org/officeDocument/2006/relationships/notesSlide" Target="/ppt/notesSlides/notesSlide9.xml" Id="Rd9699bd1767f4b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00ac67feb904896" /><Relationship Type="http://schemas.openxmlformats.org/officeDocument/2006/relationships/notesSlide" Target="/ppt/notesSlides/notesSlide10.xml" Id="R21eee8344e074a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40f49c5a8354fd0" /><Relationship Type="http://schemas.openxmlformats.org/officeDocument/2006/relationships/notesSlide" Target="/ppt/notesSlides/notesSlide11.xml" Id="Rdc9fbcf973244f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ff9bbf1ef34196" /><Relationship Type="http://schemas.openxmlformats.org/officeDocument/2006/relationships/notesSlide" Target="/ppt/notesSlides/notesSlide12.xml" Id="Rbeb9b41a992743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03e8e2f7e7480b" /><Relationship Type="http://schemas.openxmlformats.org/officeDocument/2006/relationships/notesSlide" Target="/ppt/notesSlides/notesSlide13.xml" Id="R931ecf9cd11b446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730a7ef835482d" /><Relationship Type="http://schemas.openxmlformats.org/officeDocument/2006/relationships/notesSlide" Target="/ppt/notesSlides/notesSlide14.xml" Id="R59a780fb7cbe4a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6371c5bab54c00" /><Relationship Type="http://schemas.openxmlformats.org/officeDocument/2006/relationships/notesSlide" Target="/ppt/notesSlides/notesSlide15.xml" Id="Rb27871cf601c4c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第8讲 学生研究方案分享与设计诊所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 课之后，内部工件还没有经受外部质询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C9D1472D-4A43-431E-B8CF-756AFCB7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7 课已建立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09013062-2FF7-4F83-A92A-A5629868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机制假设列表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含淘汰理由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791D0AA0-6FFF-47E6-9714-AE7F5184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研究判断记录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已有初版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F48177FE-A349-4B44-A420-0F1734BA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实验规格草图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变量·baseline·停止·失败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00473310-424D-474B-B179-E2840950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0" y="299085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e">
            <a:extLst xmlns:a="http://schemas.openxmlformats.org/drawingml/2006/main">
              <a:ext uri="{FF2B5EF4-FFF2-40B4-BE49-F238E27FC236}">
                <a16:creationId xmlns:a16="http://schemas.microsoft.com/office/drawing/2014/main" id="{6FCC8F30-8F35-452E-9F81-5744F363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908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1191D9D9-966B-48B0-B075-F36996CA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仍未完成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BF386A89-421C-47FD-B583-AA515997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让方案经受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外部质询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B3137B3B-C1D6-472D-A1AD-E6239F0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把反馈转成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可追溯决策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9DA6516B-6989-4EED-8D3E-CE80C9A2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719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对照判断门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预检缺口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7F89EB5E-BAEA-4037-9FC6-8AE821BA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2197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内部工件完整，不等于经外部质询后仍成立。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本课跑通陈述—反馈—决策—预检链路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ink-0">
            <a:extLst xmlns:a="http://schemas.openxmlformats.org/drawingml/2006/main">
              <a:ext uri="{FF2B5EF4-FFF2-40B4-BE49-F238E27FC236}">
                <a16:creationId xmlns:a16="http://schemas.microsoft.com/office/drawing/2014/main" id="{24380694-D0BB-44A9-BCD1-F0FFB502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3-link-1">
            <a:extLst xmlns:a="http://schemas.openxmlformats.org/drawingml/2006/main">
              <a:ext uri="{FF2B5EF4-FFF2-40B4-BE49-F238E27FC236}">
                <a16:creationId xmlns:a16="http://schemas.microsoft.com/office/drawing/2014/main" id="{FE942E37-D0EE-4642-B51D-5C75AB00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3-link-2">
            <a:extLst xmlns:a="http://schemas.openxmlformats.org/drawingml/2006/main">
              <a:ext uri="{FF2B5EF4-FFF2-40B4-BE49-F238E27FC236}">
                <a16:creationId xmlns:a16="http://schemas.microsoft.com/office/drawing/2014/main" id="{7AB55521-1607-4F01-9991-4AA8C985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475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3-n-0">
            <a:extLst xmlns:a="http://schemas.openxmlformats.org/drawingml/2006/main">
              <a:ext uri="{FF2B5EF4-FFF2-40B4-BE49-F238E27FC236}">
                <a16:creationId xmlns:a16="http://schemas.microsoft.com/office/drawing/2014/main" id="{D56AB06A-60A1-4F2E-903C-B675B5D2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03-chain-0">
            <a:extLst xmlns:a="http://schemas.openxmlformats.org/drawingml/2006/main">
              <a:ext uri="{FF2B5EF4-FFF2-40B4-BE49-F238E27FC236}">
                <a16:creationId xmlns:a16="http://schemas.microsoft.com/office/drawing/2014/main" id="{A4C6E893-86A8-4FA9-8427-4415770C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 分钟陈述</a:t>
            </a:r>
          </a:p>
        </p:txBody>
      </p:sp>
      <p:sp>
        <p:nvSpPr>
          <p:cNvPr id="11" name="p03-n-1">
            <a:extLst xmlns:a="http://schemas.openxmlformats.org/drawingml/2006/main">
              <a:ext uri="{FF2B5EF4-FFF2-40B4-BE49-F238E27FC236}">
                <a16:creationId xmlns:a16="http://schemas.microsoft.com/office/drawing/2014/main" id="{08095D34-F7B9-4FD6-8336-9F95E850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p03-chain-1">
            <a:extLst xmlns:a="http://schemas.openxmlformats.org/drawingml/2006/main">
              <a:ext uri="{FF2B5EF4-FFF2-40B4-BE49-F238E27FC236}">
                <a16:creationId xmlns:a16="http://schemas.microsoft.com/office/drawing/2014/main" id="{F442FB10-3F6A-4A92-A49E-7991FC03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结构化反馈</a:t>
            </a:r>
          </a:p>
        </p:txBody>
      </p:sp>
      <p:sp>
        <p:nvSpPr>
          <p:cNvPr id="13" name="p03-n-2">
            <a:extLst xmlns:a="http://schemas.openxmlformats.org/drawingml/2006/main">
              <a:ext uri="{FF2B5EF4-FFF2-40B4-BE49-F238E27FC236}">
                <a16:creationId xmlns:a16="http://schemas.microsoft.com/office/drawing/2014/main" id="{2B36BA93-BE61-4F7A-BD5D-9337CD24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03-chain-2">
            <a:extLst xmlns:a="http://schemas.openxmlformats.org/drawingml/2006/main">
              <a:ext uri="{FF2B5EF4-FFF2-40B4-BE49-F238E27FC236}">
                <a16:creationId xmlns:a16="http://schemas.microsoft.com/office/drawing/2014/main" id="{9654433B-6FB9-4C6A-96A8-3BE0F864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采纳决策</a:t>
            </a:r>
          </a:p>
        </p:txBody>
      </p:sp>
      <p:sp>
        <p:nvSpPr>
          <p:cNvPr id="15" name="p03-n-3">
            <a:extLst xmlns:a="http://schemas.openxmlformats.org/drawingml/2006/main">
              <a:ext uri="{FF2B5EF4-FFF2-40B4-BE49-F238E27FC236}">
                <a16:creationId xmlns:a16="http://schemas.microsoft.com/office/drawing/2014/main" id="{8656FFB7-D215-49BD-B1CC-B103F66B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3-chain-3">
            <a:extLst xmlns:a="http://schemas.openxmlformats.org/drawingml/2006/main">
              <a:ext uri="{FF2B5EF4-FFF2-40B4-BE49-F238E27FC236}">
                <a16:creationId xmlns:a16="http://schemas.microsoft.com/office/drawing/2014/main" id="{07A2C90F-8C5A-4B50-AD4F-2EDB6C5E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判断门预检</a:t>
            </a:r>
          </a:p>
        </p:txBody>
      </p:sp>
      <p:sp>
        <p:nvSpPr>
          <p:cNvPr id="17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E9255B38-E1EC-4A06-A38A-649AF31B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782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18" name="p03-out-label-0">
            <a:extLst xmlns:a="http://schemas.openxmlformats.org/drawingml/2006/main">
              <a:ext uri="{FF2B5EF4-FFF2-40B4-BE49-F238E27FC236}">
                <a16:creationId xmlns:a16="http://schemas.microsoft.com/office/drawing/2014/main" id="{EDEB564C-8817-4834-B478-507D6139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分享页</a:t>
            </a:r>
          </a:p>
        </p:txBody>
      </p:sp>
      <p:sp>
        <p:nvSpPr>
          <p:cNvPr id="19" name="p03-out-detail-0">
            <a:extLst xmlns:a="http://schemas.openxmlformats.org/drawingml/2006/main">
              <a:ext uri="{FF2B5EF4-FFF2-40B4-BE49-F238E27FC236}">
                <a16:creationId xmlns:a16="http://schemas.microsoft.com/office/drawing/2014/main" id="{003839A6-3C8C-41C1-8EBF-77942C79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五段结构</a:t>
            </a:r>
          </a:p>
        </p:txBody>
      </p:sp>
      <p:sp>
        <p:nvSpPr>
          <p:cNvPr id="20" name="p03-out-label-1">
            <a:extLst xmlns:a="http://schemas.openxmlformats.org/drawingml/2006/main">
              <a:ext uri="{FF2B5EF4-FFF2-40B4-BE49-F238E27FC236}">
                <a16:creationId xmlns:a16="http://schemas.microsoft.com/office/drawing/2014/main" id="{F92C2AB7-DBC8-49C2-B632-26260419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反馈记录</a:t>
            </a:r>
          </a:p>
        </p:txBody>
      </p:sp>
      <p:sp>
        <p:nvSpPr>
          <p:cNvPr id="21" name="p03-out-detail-1">
            <a:extLst xmlns:a="http://schemas.openxmlformats.org/drawingml/2006/main">
              <a:ext uri="{FF2B5EF4-FFF2-40B4-BE49-F238E27FC236}">
                <a16:creationId xmlns:a16="http://schemas.microsoft.com/office/drawing/2014/main" id="{9A2A621E-60CE-4781-AE31-5A3E0EAC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位同伴</a:t>
            </a:r>
          </a:p>
        </p:txBody>
      </p:sp>
      <p:sp>
        <p:nvSpPr>
          <p:cNvPr id="22" name="p03-out-label-2">
            <a:extLst xmlns:a="http://schemas.openxmlformats.org/drawingml/2006/main">
              <a:ext uri="{FF2B5EF4-FFF2-40B4-BE49-F238E27FC236}">
                <a16:creationId xmlns:a16="http://schemas.microsoft.com/office/drawing/2014/main" id="{FB8541C3-187B-4E60-B130-92076EC2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决策表</a:t>
            </a:r>
          </a:p>
        </p:txBody>
      </p:sp>
      <p:sp>
        <p:nvSpPr>
          <p:cNvPr id="23" name="p03-out-detail-2">
            <a:extLst xmlns:a="http://schemas.openxmlformats.org/drawingml/2006/main">
              <a:ext uri="{FF2B5EF4-FFF2-40B4-BE49-F238E27FC236}">
                <a16:creationId xmlns:a16="http://schemas.microsoft.com/office/drawing/2014/main" id="{EBAA774E-B4AB-4AB5-B33D-F412E84D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条：1 采纳 + 1 拒绝/暂缓</a:t>
            </a:r>
          </a:p>
        </p:txBody>
      </p:sp>
      <p:sp>
        <p:nvSpPr>
          <p:cNvPr id="24" name="p03-out-label-3">
            <a:extLst xmlns:a="http://schemas.openxmlformats.org/drawingml/2006/main">
              <a:ext uri="{FF2B5EF4-FFF2-40B4-BE49-F238E27FC236}">
                <a16:creationId xmlns:a16="http://schemas.microsoft.com/office/drawing/2014/main" id="{4A90A5A3-F325-4E12-ABD6-0DEE3884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缺口清单</a:t>
            </a:r>
          </a:p>
        </p:txBody>
      </p:sp>
      <p:sp>
        <p:nvSpPr>
          <p:cNvPr id="25" name="p03-out-detail-3">
            <a:extLst xmlns:a="http://schemas.openxmlformats.org/drawingml/2006/main">
              <a:ext uri="{FF2B5EF4-FFF2-40B4-BE49-F238E27FC236}">
                <a16:creationId xmlns:a16="http://schemas.microsoft.com/office/drawing/2014/main" id="{726B84EA-C9AF-4843-9A40-BB59606B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判断门已满足 / 部分 / 未覆盖</a:t>
            </a:r>
          </a:p>
        </p:txBody>
      </p:sp>
      <p:sp>
        <p:nvSpPr>
          <p:cNvPr id="26" name="p03-bottom">
            <a:extLst xmlns:a="http://schemas.openxmlformats.org/drawingml/2006/main">
              <a:ext uri="{FF2B5EF4-FFF2-40B4-BE49-F238E27FC236}">
                <a16:creationId xmlns:a16="http://schemas.microsoft.com/office/drawing/2014/main" id="{E3D64709-4965-47DB-987D-13B83A7B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形成性活动：不新增正式提交；全部产出直接进入第 9 课判断门准备。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分钟陈述要暴露一个可被质询的最小方案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art-0">
            <a:extLst xmlns:a="http://schemas.openxmlformats.org/drawingml/2006/main">
              <a:ext uri="{FF2B5EF4-FFF2-40B4-BE49-F238E27FC236}">
                <a16:creationId xmlns:a16="http://schemas.microsoft.com/office/drawing/2014/main" id="{E8CF715C-291C-43C4-8F6E-041AD61E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2000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 研究问题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范围·非例·可证伪</a:t>
            </a:r>
          </a:p>
        </p:txBody>
      </p:sp>
      <p:sp>
        <p:nvSpPr>
          <p:cNvPr id="7" name="p04-time-0">
            <a:extLst xmlns:a="http://schemas.openxmlformats.org/drawingml/2006/main">
              <a:ext uri="{FF2B5EF4-FFF2-40B4-BE49-F238E27FC236}">
                <a16:creationId xmlns:a16="http://schemas.microsoft.com/office/drawing/2014/main" id="{3D4E0B61-F21E-4BD8-9FB9-42B7BFF0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432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35s</a:t>
            </a:r>
          </a:p>
        </p:txBody>
      </p:sp>
      <p:sp>
        <p:nvSpPr>
          <p:cNvPr id="8" name="p04-part-1">
            <a:extLst xmlns:a="http://schemas.openxmlformats.org/drawingml/2006/main">
              <a:ext uri="{FF2B5EF4-FFF2-40B4-BE49-F238E27FC236}">
                <a16:creationId xmlns:a16="http://schemas.microsoft.com/office/drawing/2014/main" id="{F715DDF4-889A-48FD-A413-381A26CA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28750"/>
            <a:ext cx="21336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2  关键证据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支持什么 / 不支持什么</a:t>
            </a:r>
          </a:p>
        </p:txBody>
      </p:sp>
      <p:sp>
        <p:nvSpPr>
          <p:cNvPr id="9" name="p04-time-1">
            <a:extLst xmlns:a="http://schemas.openxmlformats.org/drawingml/2006/main">
              <a:ext uri="{FF2B5EF4-FFF2-40B4-BE49-F238E27FC236}">
                <a16:creationId xmlns:a16="http://schemas.microsoft.com/office/drawing/2014/main" id="{0D8B82E8-61D0-419D-8F2D-87270E1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40s</a:t>
            </a:r>
          </a:p>
        </p:txBody>
      </p:sp>
      <p:sp>
        <p:nvSpPr>
          <p:cNvPr id="10" name="p04-part-2">
            <a:extLst xmlns:a="http://schemas.openxmlformats.org/drawingml/2006/main">
              <a:ext uri="{FF2B5EF4-FFF2-40B4-BE49-F238E27FC236}">
                <a16:creationId xmlns:a16="http://schemas.microsoft.com/office/drawing/2014/main" id="{02C706CE-5A9E-40E4-A268-CABA0D19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28750"/>
            <a:ext cx="2571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  机制假设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中间过程 + 替代假设</a:t>
            </a:r>
          </a:p>
        </p:txBody>
      </p:sp>
      <p:sp>
        <p:nvSpPr>
          <p:cNvPr id="11" name="p04-time-2">
            <a:extLst xmlns:a="http://schemas.openxmlformats.org/drawingml/2006/main">
              <a:ext uri="{FF2B5EF4-FFF2-40B4-BE49-F238E27FC236}">
                <a16:creationId xmlns:a16="http://schemas.microsoft.com/office/drawing/2014/main" id="{7F026593-040B-450A-87BC-F3A9A171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43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50s</a:t>
            </a:r>
          </a:p>
        </p:txBody>
      </p:sp>
      <p:sp>
        <p:nvSpPr>
          <p:cNvPr id="12" name="p04-part-3">
            <a:extLst xmlns:a="http://schemas.openxmlformats.org/drawingml/2006/main">
              <a:ext uri="{FF2B5EF4-FFF2-40B4-BE49-F238E27FC236}">
                <a16:creationId xmlns:a16="http://schemas.microsoft.com/office/drawing/2014/main" id="{7A3FAFF3-CE6F-44DB-865C-1D50E40B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428750"/>
            <a:ext cx="21336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4  最小验证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变量·基线·停止·预案</a:t>
            </a:r>
          </a:p>
        </p:txBody>
      </p:sp>
      <p:sp>
        <p:nvSpPr>
          <p:cNvPr id="13" name="p04-time-3">
            <a:extLst xmlns:a="http://schemas.openxmlformats.org/drawingml/2006/main">
              <a:ext uri="{FF2B5EF4-FFF2-40B4-BE49-F238E27FC236}">
                <a16:creationId xmlns:a16="http://schemas.microsoft.com/office/drawing/2014/main" id="{2EAEE34F-A8D2-4E1F-BDE5-C1637CE4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432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40s</a:t>
            </a:r>
          </a:p>
        </p:txBody>
      </p:sp>
      <p:sp>
        <p:nvSpPr>
          <p:cNvPr id="14" name="p04-part-4">
            <a:extLst xmlns:a="http://schemas.openxmlformats.org/drawingml/2006/main">
              <a:ext uri="{FF2B5EF4-FFF2-40B4-BE49-F238E27FC236}">
                <a16:creationId xmlns:a16="http://schemas.microsoft.com/office/drawing/2014/main" id="{55B7ED05-11F1-4F9D-A176-9F1C714E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28750"/>
            <a:ext cx="1390650" cy="16573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  最大风险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最可能使方案不成立</a:t>
            </a:r>
          </a:p>
        </p:txBody>
      </p:sp>
      <p:sp>
        <p:nvSpPr>
          <p:cNvPr id="15" name="p04-time-4">
            <a:extLst xmlns:a="http://schemas.openxmlformats.org/drawingml/2006/main">
              <a:ext uri="{FF2B5EF4-FFF2-40B4-BE49-F238E27FC236}">
                <a16:creationId xmlns:a16="http://schemas.microsoft.com/office/drawing/2014/main" id="{275969FD-5D21-4CD3-84E8-1C2887CE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43250"/>
            <a:ext cx="1390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15s</a:t>
            </a:r>
          </a:p>
        </p:txBody>
      </p:sp>
      <p:sp>
        <p:nvSpPr>
          <p:cNvPr id="16" name="p04-example-label">
            <a:extLst xmlns:a="http://schemas.openxmlformats.org/drawingml/2006/main">
              <a:ext uri="{FF2B5EF4-FFF2-40B4-BE49-F238E27FC236}">
                <a16:creationId xmlns:a16="http://schemas.microsoft.com/office/drawing/2014/main" id="{150025CD-276D-4FE5-9CA0-E5082A17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贯穿案例的机制句</a:t>
            </a:r>
          </a:p>
        </p:txBody>
      </p:sp>
      <p:sp>
        <p:nvSpPr>
          <p:cNvPr id="17" name="p04-example">
            <a:extLst xmlns:a="http://schemas.openxmlformats.org/drawingml/2006/main">
              <a:ext uri="{FF2B5EF4-FFF2-40B4-BE49-F238E27FC236}">
                <a16:creationId xmlns:a16="http://schemas.microsoft.com/office/drawing/2014/main" id="{4F82E81E-9419-436A-961F-0EE6B28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433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字段约束 → 生成时强制标注限定条件 → 错读更易在核验阶段暴露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20E6BA2B-C3D8-43F3-B9C7-C1CEF125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911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只说“会更好”不是机制假设：同伴无法检查中间过程。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同伴先做四维诊断，再检查实验能否改变判断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abel-0">
            <a:extLst xmlns:a="http://schemas.openxmlformats.org/drawingml/2006/main">
              <a:ext uri="{FF2B5EF4-FFF2-40B4-BE49-F238E27FC236}">
                <a16:creationId xmlns:a16="http://schemas.microsoft.com/office/drawing/2014/main" id="{46D5D89E-CCC2-4D58-A670-03AA37A2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2870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问题重要性</a:t>
            </a:r>
          </a:p>
        </p:txBody>
      </p:sp>
      <p:sp>
        <p:nvSpPr>
          <p:cNvPr id="7" name="p05-q-0">
            <a:extLst xmlns:a="http://schemas.openxmlformats.org/drawingml/2006/main">
              <a:ext uri="{FF2B5EF4-FFF2-40B4-BE49-F238E27FC236}">
                <a16:creationId xmlns:a16="http://schemas.microsoft.com/office/drawing/2014/main" id="{DED6E80D-CB49-4044-944F-3A8D50EE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02870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结果会改变什么研究判断或实验行动？</a:t>
            </a:r>
          </a:p>
        </p:txBody>
      </p:sp>
      <p:sp>
        <p:nvSpPr>
          <p:cNvPr id="8" name="p05-label-1">
            <a:extLst xmlns:a="http://schemas.openxmlformats.org/drawingml/2006/main">
              <a:ext uri="{FF2B5EF4-FFF2-40B4-BE49-F238E27FC236}">
                <a16:creationId xmlns:a16="http://schemas.microsoft.com/office/drawing/2014/main" id="{B20C2E51-7E8D-4F90-A53D-2AED1EC5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4785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证据充分性</a:t>
            </a:r>
          </a:p>
        </p:txBody>
      </p:sp>
      <p:sp>
        <p:nvSpPr>
          <p:cNvPr id="9" name="p05-q-1">
            <a:extLst xmlns:a="http://schemas.openxmlformats.org/drawingml/2006/main">
              <a:ext uri="{FF2B5EF4-FFF2-40B4-BE49-F238E27FC236}">
                <a16:creationId xmlns:a16="http://schemas.microsoft.com/office/drawing/2014/main" id="{CF33D40D-B505-4B5B-B1F3-EA4BD15C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4785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证据可核验吗？支持强度、冲突与缺口清楚吗？</a:t>
            </a:r>
          </a:p>
        </p:txBody>
      </p:sp>
      <p:sp>
        <p:nvSpPr>
          <p:cNvPr id="10" name="p05-label-2">
            <a:extLst xmlns:a="http://schemas.openxmlformats.org/drawingml/2006/main">
              <a:ext uri="{FF2B5EF4-FFF2-40B4-BE49-F238E27FC236}">
                <a16:creationId xmlns:a16="http://schemas.microsoft.com/office/drawing/2014/main" id="{DC0A0B48-4C76-460A-B26D-9E1A91EF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可检验性</a:t>
            </a:r>
          </a:p>
        </p:txBody>
      </p:sp>
      <p:sp>
        <p:nvSpPr>
          <p:cNvPr id="11" name="p05-q-2">
            <a:extLst xmlns:a="http://schemas.openxmlformats.org/drawingml/2006/main">
              <a:ext uri="{FF2B5EF4-FFF2-40B4-BE49-F238E27FC236}">
                <a16:creationId xmlns:a16="http://schemas.microsoft.com/office/drawing/2014/main" id="{D3E43E23-5818-4960-B5A2-C9DAE86D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6700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什么结果能推翻？主假设与替代假设可区分吗？</a:t>
            </a:r>
          </a:p>
        </p:txBody>
      </p:sp>
      <p:sp>
        <p:nvSpPr>
          <p:cNvPr id="12" name="p05-label-3">
            <a:extLst xmlns:a="http://schemas.openxmlformats.org/drawingml/2006/main">
              <a:ext uri="{FF2B5EF4-FFF2-40B4-BE49-F238E27FC236}">
                <a16:creationId xmlns:a16="http://schemas.microsoft.com/office/drawing/2014/main" id="{20000BEC-F55C-45D0-BFC1-7179F9B0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课程周期可行性</a:t>
            </a:r>
          </a:p>
        </p:txBody>
      </p:sp>
      <p:sp>
        <p:nvSpPr>
          <p:cNvPr id="13" name="p05-q-3">
            <a:extLst xmlns:a="http://schemas.openxmlformats.org/drawingml/2006/main">
              <a:ext uri="{FF2B5EF4-FFF2-40B4-BE49-F238E27FC236}">
                <a16:creationId xmlns:a16="http://schemas.microsoft.com/office/drawing/2014/main" id="{17DAB28E-F2F3-48D3-8E22-2D6BA2BF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8615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公平吗？停止条件显式吗？周期内做得完吗？</a:t>
            </a:r>
          </a:p>
        </p:txBody>
      </p:sp>
      <p:sp>
        <p:nvSpPr>
          <p:cNvPr id="14" name="p05-action">
            <a:extLst xmlns:a="http://schemas.openxmlformats.org/drawingml/2006/main">
              <a:ext uri="{FF2B5EF4-FFF2-40B4-BE49-F238E27FC236}">
                <a16:creationId xmlns:a16="http://schemas.microsoft.com/office/drawing/2014/main" id="{F6B3AE9D-EAA1-4389-A016-9117CC73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38650"/>
            <a:ext cx="8801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行动性检查｜下一步实验是否能改变当前研究判断？</a:t>
            </a:r>
          </a:p>
        </p:txBody>
      </p:sp>
      <p:sp>
        <p:nvSpPr>
          <p:cNvPr id="15" name="p05-boundary">
            <a:extLst xmlns:a="http://schemas.openxmlformats.org/drawingml/2006/main">
              <a:ext uri="{FF2B5EF4-FFF2-40B4-BE49-F238E27FC236}">
                <a16:creationId xmlns:a16="http://schemas.microsoft.com/office/drawing/2014/main" id="{A9998531-462B-4C31-A8ED-8A3CC8D5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006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边界不替代重要性：范围、非例和外推限制仍写入陈述与研究判断。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三问把分散意见压缩成可行动反馈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n-0">
            <a:extLst xmlns:a="http://schemas.openxmlformats.org/drawingml/2006/main">
              <a:ext uri="{FF2B5EF4-FFF2-40B4-BE49-F238E27FC236}">
                <a16:creationId xmlns:a16="http://schemas.microsoft.com/office/drawing/2014/main" id="{B843D248-97A3-4DF7-BD01-C0AD2286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6-label-0">
            <a:extLst xmlns:a="http://schemas.openxmlformats.org/drawingml/2006/main">
              <a:ext uri="{FF2B5EF4-FFF2-40B4-BE49-F238E27FC236}">
                <a16:creationId xmlns:a16="http://schemas.microsoft.com/office/drawing/2014/main" id="{AC496253-633D-4088-B690-A04093F7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19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一项最强处</a:t>
            </a:r>
          </a:p>
        </p:txBody>
      </p:sp>
      <p:sp>
        <p:nvSpPr>
          <p:cNvPr id="8" name="p06-q-0">
            <a:extLst xmlns:a="http://schemas.openxmlformats.org/drawingml/2006/main">
              <a:ext uri="{FF2B5EF4-FFF2-40B4-BE49-F238E27FC236}">
                <a16:creationId xmlns:a16="http://schemas.microsoft.com/office/drawing/2014/main" id="{EB526078-138A-4C1A-8D9C-35AE05AC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219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四维诊断中，当前最扎实的一点是什么？</a:t>
            </a:r>
          </a:p>
        </p:txBody>
      </p:sp>
      <p:sp>
        <p:nvSpPr>
          <p:cNvPr id="9" name="p06-n-1">
            <a:extLst xmlns:a="http://schemas.openxmlformats.org/drawingml/2006/main">
              <a:ext uri="{FF2B5EF4-FFF2-40B4-BE49-F238E27FC236}">
                <a16:creationId xmlns:a16="http://schemas.microsoft.com/office/drawing/2014/main" id="{FDC9326A-1D2E-4BA0-9B04-009E60B9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6-label-1">
            <a:extLst xmlns:a="http://schemas.openxmlformats.org/drawingml/2006/main">
              <a:ext uri="{FF2B5EF4-FFF2-40B4-BE49-F238E27FC236}">
                <a16:creationId xmlns:a16="http://schemas.microsoft.com/office/drawing/2014/main" id="{31DBF01E-5175-46B1-A1CE-4AD91A7D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62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一项最大风险</a:t>
            </a:r>
          </a:p>
        </p:txBody>
      </p:sp>
      <p:sp>
        <p:nvSpPr>
          <p:cNvPr id="11" name="p06-q-1">
            <a:extLst xmlns:a="http://schemas.openxmlformats.org/drawingml/2006/main">
              <a:ext uri="{FF2B5EF4-FFF2-40B4-BE49-F238E27FC236}">
                <a16:creationId xmlns:a16="http://schemas.microsoft.com/office/drawing/2014/main" id="{6CFE20BA-C682-4CF0-B211-8564927C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62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哪一点最可能让方案在判断门前失败？</a:t>
            </a:r>
          </a:p>
        </p:txBody>
      </p:sp>
      <p:sp>
        <p:nvSpPr>
          <p:cNvPr id="12" name="p06-n-2">
            <a:extLst xmlns:a="http://schemas.openxmlformats.org/drawingml/2006/main">
              <a:ext uri="{FF2B5EF4-FFF2-40B4-BE49-F238E27FC236}">
                <a16:creationId xmlns:a16="http://schemas.microsoft.com/office/drawing/2014/main" id="{BBB632EB-77AC-4C38-A073-22CD6F47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6-label-2">
            <a:extLst xmlns:a="http://schemas.openxmlformats.org/drawingml/2006/main">
              <a:ext uri="{FF2B5EF4-FFF2-40B4-BE49-F238E27FC236}">
                <a16:creationId xmlns:a16="http://schemas.microsoft.com/office/drawing/2014/main" id="{BBAED215-C41B-49E6-8235-AE4B9810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05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一条可执行建议</a:t>
            </a:r>
          </a:p>
        </p:txBody>
      </p:sp>
      <p:sp>
        <p:nvSpPr>
          <p:cNvPr id="14" name="p06-q-2">
            <a:extLst xmlns:a="http://schemas.openxmlformats.org/drawingml/2006/main">
              <a:ext uri="{FF2B5EF4-FFF2-40B4-BE49-F238E27FC236}">
                <a16:creationId xmlns:a16="http://schemas.microsoft.com/office/drawing/2014/main" id="{C5BD2E0E-7057-4A28-80BC-56B78337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05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下周最小改什么？它可能改变哪条研究判断？</a:t>
            </a:r>
          </a:p>
        </p:txBody>
      </p:sp>
      <p:sp>
        <p:nvSpPr>
          <p:cNvPr id="15" name="p06-bottom">
            <a:extLst xmlns:a="http://schemas.openxmlformats.org/drawingml/2006/main">
              <a:ext uri="{FF2B5EF4-FFF2-40B4-BE49-F238E27FC236}">
                <a16:creationId xmlns:a16="http://schemas.microsoft.com/office/drawing/2014/main" id="{0DF13E99-A9E1-4410-BC8C-9FCB224E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“题目很有趣”“听起来挺好”都没有指出方案的可检查部分。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设计诊所诊断方案，不评价人、不替作者决定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left-title">
            <a:extLst xmlns:a="http://schemas.openxmlformats.org/drawingml/2006/main">
              <a:ext uri="{FF2B5EF4-FFF2-40B4-BE49-F238E27FC236}">
                <a16:creationId xmlns:a16="http://schemas.microsoft.com/office/drawing/2014/main" id="{04ECD905-0D01-49B3-9FF0-9B3E59EC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反馈者责任</a:t>
            </a:r>
          </a:p>
        </p:txBody>
      </p:sp>
      <p:sp>
        <p:nvSpPr>
          <p:cNvPr id="7" name="p07-ln-0">
            <a:extLst xmlns:a="http://schemas.openxmlformats.org/drawingml/2006/main">
              <a:ext uri="{FF2B5EF4-FFF2-40B4-BE49-F238E27FC236}">
                <a16:creationId xmlns:a16="http://schemas.microsoft.com/office/drawing/2014/main" id="{9EDAA0C1-2F9A-40E0-8217-D2D7C831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7-l-0">
            <a:extLst xmlns:a="http://schemas.openxmlformats.org/drawingml/2006/main">
              <a:ext uri="{FF2B5EF4-FFF2-40B4-BE49-F238E27FC236}">
                <a16:creationId xmlns:a16="http://schemas.microsoft.com/office/drawing/2014/main" id="{5E792290-A0FC-48E0-809D-ADC9E7E3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5430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指向方案，不指向人</a:t>
            </a:r>
          </a:p>
        </p:txBody>
      </p:sp>
      <p:sp>
        <p:nvSpPr>
          <p:cNvPr id="9" name="p07-ln-1">
            <a:extLst xmlns:a="http://schemas.openxmlformats.org/drawingml/2006/main">
              <a:ext uri="{FF2B5EF4-FFF2-40B4-BE49-F238E27FC236}">
                <a16:creationId xmlns:a16="http://schemas.microsoft.com/office/drawing/2014/main" id="{ABC96993-D68D-43DD-94E0-2CDA22C3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7-l-1">
            <a:extLst xmlns:a="http://schemas.openxmlformats.org/drawingml/2006/main">
              <a:ext uri="{FF2B5EF4-FFF2-40B4-BE49-F238E27FC236}">
                <a16:creationId xmlns:a16="http://schemas.microsoft.com/office/drawing/2014/main" id="{CB5FEC0B-A630-4F82-AEBF-F2043650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引用陈述的具体条目</a:t>
            </a:r>
          </a:p>
        </p:txBody>
      </p:sp>
      <p:sp>
        <p:nvSpPr>
          <p:cNvPr id="11" name="p07-ln-2">
            <a:extLst xmlns:a="http://schemas.openxmlformats.org/drawingml/2006/main">
              <a:ext uri="{FF2B5EF4-FFF2-40B4-BE49-F238E27FC236}">
                <a16:creationId xmlns:a16="http://schemas.microsoft.com/office/drawing/2014/main" id="{7CF29D76-59A5-4A18-88B3-082DF356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7-l-2">
            <a:extLst xmlns:a="http://schemas.openxmlformats.org/drawingml/2006/main">
              <a:ext uri="{FF2B5EF4-FFF2-40B4-BE49-F238E27FC236}">
                <a16:creationId xmlns:a16="http://schemas.microsoft.com/office/drawing/2014/main" id="{14633858-1494-4905-A75C-AA498AF0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765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区分缺陷与修改建议</a:t>
            </a:r>
          </a:p>
        </p:txBody>
      </p:sp>
      <p:sp>
        <p:nvSpPr>
          <p:cNvPr id="13" name="p07-ln-3">
            <a:extLst xmlns:a="http://schemas.openxmlformats.org/drawingml/2006/main">
              <a:ext uri="{FF2B5EF4-FFF2-40B4-BE49-F238E27FC236}">
                <a16:creationId xmlns:a16="http://schemas.microsoft.com/office/drawing/2014/main" id="{A7D75089-EC4B-414E-80B2-091643DB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7-l-3">
            <a:extLst xmlns:a="http://schemas.openxmlformats.org/drawingml/2006/main">
              <a:ext uri="{FF2B5EF4-FFF2-40B4-BE49-F238E27FC236}">
                <a16:creationId xmlns:a16="http://schemas.microsoft.com/office/drawing/2014/main" id="{76E2F101-5BDC-4168-918B-797A6DDE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不替作者决定采纳什么</a:t>
            </a:r>
          </a:p>
        </p:txBody>
      </p:sp>
      <p:sp>
        <p:nvSpPr>
          <p:cNvPr id="15" name="p07-divider">
            <a:extLst xmlns:a="http://schemas.openxmlformats.org/drawingml/2006/main">
              <a:ext uri="{FF2B5EF4-FFF2-40B4-BE49-F238E27FC236}">
                <a16:creationId xmlns:a16="http://schemas.microsoft.com/office/drawing/2014/main" id="{B538C8C4-2713-428F-B545-846EF13B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76750" y="2633663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7-right-title">
            <a:extLst xmlns:a="http://schemas.openxmlformats.org/drawingml/2006/main">
              <a:ext uri="{FF2B5EF4-FFF2-40B4-BE49-F238E27FC236}">
                <a16:creationId xmlns:a16="http://schemas.microsoft.com/office/drawing/2014/main" id="{5705DAED-F795-4911-A702-9C04CFF9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95250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设计诊所纪律</a:t>
            </a:r>
          </a:p>
        </p:txBody>
      </p:sp>
      <p:sp>
        <p:nvSpPr>
          <p:cNvPr id="17" name="p07-rn-0">
            <a:extLst xmlns:a="http://schemas.openxmlformats.org/drawingml/2006/main">
              <a:ext uri="{FF2B5EF4-FFF2-40B4-BE49-F238E27FC236}">
                <a16:creationId xmlns:a16="http://schemas.microsoft.com/office/drawing/2014/main" id="{802521AE-3DE9-4AFE-B2B7-7B8D374D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4305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p07-r-0">
            <a:extLst xmlns:a="http://schemas.openxmlformats.org/drawingml/2006/main">
              <a:ext uri="{FF2B5EF4-FFF2-40B4-BE49-F238E27FC236}">
                <a16:creationId xmlns:a16="http://schemas.microsoft.com/office/drawing/2014/main" id="{85A77C97-54B3-430E-AA27-097E51E9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54305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诊断方案，不评价陈述者</a:t>
            </a:r>
          </a:p>
        </p:txBody>
      </p:sp>
      <p:sp>
        <p:nvSpPr>
          <p:cNvPr id="19" name="p07-rn-1">
            <a:extLst xmlns:a="http://schemas.openxmlformats.org/drawingml/2006/main">
              <a:ext uri="{FF2B5EF4-FFF2-40B4-BE49-F238E27FC236}">
                <a16:creationId xmlns:a16="http://schemas.microsoft.com/office/drawing/2014/main" id="{A33E8F52-CB45-4E54-8E01-67EC7149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p07-r-1">
            <a:extLst xmlns:a="http://schemas.openxmlformats.org/drawingml/2006/main">
              <a:ext uri="{FF2B5EF4-FFF2-40B4-BE49-F238E27FC236}">
                <a16:creationId xmlns:a16="http://schemas.microsoft.com/office/drawing/2014/main" id="{58507A3A-7B58-4221-8435-3B1E1F69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2410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不作共同决策</a:t>
            </a:r>
          </a:p>
        </p:txBody>
      </p:sp>
      <p:sp>
        <p:nvSpPr>
          <p:cNvPr id="21" name="p07-rn-2">
            <a:extLst xmlns:a="http://schemas.openxmlformats.org/drawingml/2006/main">
              <a:ext uri="{FF2B5EF4-FFF2-40B4-BE49-F238E27FC236}">
                <a16:creationId xmlns:a16="http://schemas.microsoft.com/office/drawing/2014/main" id="{0137DC90-F15C-43EC-80EE-B2285DCE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0515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p07-r-2">
            <a:extLst xmlns:a="http://schemas.openxmlformats.org/drawingml/2006/main">
              <a:ext uri="{FF2B5EF4-FFF2-40B4-BE49-F238E27FC236}">
                <a16:creationId xmlns:a16="http://schemas.microsoft.com/office/drawing/2014/main" id="{08B6D111-412D-4B04-9D84-CE192687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0515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失败暴露优先</a:t>
            </a:r>
          </a:p>
        </p:txBody>
      </p:sp>
      <p:sp>
        <p:nvSpPr>
          <p:cNvPr id="23" name="p07-round">
            <a:extLst xmlns:a="http://schemas.openxmlformats.org/drawingml/2006/main">
              <a:ext uri="{FF2B5EF4-FFF2-40B4-BE49-F238E27FC236}">
                <a16:creationId xmlns:a16="http://schemas.microsoft.com/office/drawing/2014/main" id="{FE93FFE4-C968-4E2A-8EEE-9E380559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一次轮次｜3 分钟陈述（同伴只听） + 2 分钟反馈（作者只记录）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EBE622A4-3EF7-403F-876F-334E973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“baseline 不公平”若不指明模型、温度、数据或长度哪一项不同，就不可执行。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每条反馈都必须落到采纳、拒绝或暂缓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left-title">
            <a:extLst xmlns:a="http://schemas.openxmlformats.org/drawingml/2006/main">
              <a:ext uri="{FF2B5EF4-FFF2-40B4-BE49-F238E27FC236}">
                <a16:creationId xmlns:a16="http://schemas.microsoft.com/office/drawing/2014/main" id="{47E00A4B-6D03-454B-8070-5A8504F5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三类决策</a:t>
            </a:r>
          </a:p>
        </p:txBody>
      </p:sp>
      <p:sp>
        <p:nvSpPr>
          <p:cNvPr id="7" name="p08-d-0">
            <a:extLst xmlns:a="http://schemas.openxmlformats.org/drawingml/2006/main">
              <a:ext uri="{FF2B5EF4-FFF2-40B4-BE49-F238E27FC236}">
                <a16:creationId xmlns:a16="http://schemas.microsoft.com/office/drawing/2014/main" id="{062DA387-48DE-44A6-80DA-B5A9774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8" name="p08-detail-0">
            <a:extLst xmlns:a="http://schemas.openxmlformats.org/drawingml/2006/main">
              <a:ext uri="{FF2B5EF4-FFF2-40B4-BE49-F238E27FC236}">
                <a16:creationId xmlns:a16="http://schemas.microsoft.com/office/drawing/2014/main" id="{26B6BAAB-4BA5-448F-A34C-F661561C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43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缺陷成立且周内可改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修改影响工件</a:t>
            </a:r>
          </a:p>
        </p:txBody>
      </p:sp>
      <p:sp>
        <p:nvSpPr>
          <p:cNvPr id="9" name="p08-d-1">
            <a:extLst xmlns:a="http://schemas.openxmlformats.org/drawingml/2006/main">
              <a:ext uri="{FF2B5EF4-FFF2-40B4-BE49-F238E27FC236}">
                <a16:creationId xmlns:a16="http://schemas.microsoft.com/office/drawing/2014/main" id="{2351B522-4AB7-48FA-9A2C-32BA8269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0" name="p08-detail-1">
            <a:extLst xmlns:a="http://schemas.openxmlformats.org/drawingml/2006/main">
              <a:ext uri="{FF2B5EF4-FFF2-40B4-BE49-F238E27FC236}">
                <a16:creationId xmlns:a16="http://schemas.microsoft.com/office/drawing/2014/main" id="{AE97DFE9-5A51-433E-B618-D823E664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86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缺陷不成立或与约束冲突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写具体理由</a:t>
            </a:r>
          </a:p>
        </p:txBody>
      </p:sp>
      <p:sp>
        <p:nvSpPr>
          <p:cNvPr id="11" name="p08-d-2">
            <a:extLst xmlns:a="http://schemas.openxmlformats.org/drawingml/2006/main">
              <a:ext uri="{FF2B5EF4-FFF2-40B4-BE49-F238E27FC236}">
                <a16:creationId xmlns:a16="http://schemas.microsoft.com/office/drawing/2014/main" id="{4860A28C-811A-4FF9-8680-F3ACBD78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暂缓</a:t>
            </a:r>
          </a:p>
        </p:txBody>
      </p:sp>
      <p:sp>
        <p:nvSpPr>
          <p:cNvPr id="12" name="p08-detail-2">
            <a:extLst xmlns:a="http://schemas.openxmlformats.org/drawingml/2006/main">
              <a:ext uri="{FF2B5EF4-FFF2-40B4-BE49-F238E27FC236}">
                <a16:creationId xmlns:a16="http://schemas.microsoft.com/office/drawing/2014/main" id="{B47CE388-1950-4288-8A78-61EFB6E9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29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当前无法判断或周内不可改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标为待验证</a:t>
            </a:r>
          </a:p>
        </p:txBody>
      </p:sp>
      <p:sp>
        <p:nvSpPr>
          <p:cNvPr id="13" name="p08-divider">
            <a:extLst xmlns:a="http://schemas.openxmlformats.org/drawingml/2006/main">
              <a:ext uri="{FF2B5EF4-FFF2-40B4-BE49-F238E27FC236}">
                <a16:creationId xmlns:a16="http://schemas.microsoft.com/office/drawing/2014/main" id="{BF1ABE34-7F0E-44DC-B488-2F677109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371850" y="2976563"/>
            <a:ext cx="392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8-right-title">
            <a:extLst xmlns:a="http://schemas.openxmlformats.org/drawingml/2006/main">
              <a:ext uri="{FF2B5EF4-FFF2-40B4-BE49-F238E27FC236}">
                <a16:creationId xmlns:a16="http://schemas.microsoft.com/office/drawing/2014/main" id="{2F37DB1C-CFC0-4D8B-8039-F27969BA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52500"/>
            <a:ext cx="552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研究判断六字段</a:t>
            </a:r>
          </a:p>
        </p:txBody>
      </p:sp>
      <p:sp>
        <p:nvSpPr>
          <p:cNvPr id="15" name="p08-fl-0">
            <a:extLst xmlns:a="http://schemas.openxmlformats.org/drawingml/2006/main">
              <a:ext uri="{FF2B5EF4-FFF2-40B4-BE49-F238E27FC236}">
                <a16:creationId xmlns:a16="http://schemas.microsoft.com/office/drawing/2014/main" id="{A009F711-A360-42AD-8569-012A340A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485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决策内容</a:t>
            </a:r>
          </a:p>
        </p:txBody>
      </p:sp>
      <p:sp>
        <p:nvSpPr>
          <p:cNvPr id="16" name="p08-fd-0">
            <a:extLst xmlns:a="http://schemas.openxmlformats.org/drawingml/2006/main">
              <a:ext uri="{FF2B5EF4-FFF2-40B4-BE49-F238E27FC236}">
                <a16:creationId xmlns:a16="http://schemas.microsoft.com/office/drawing/2014/main" id="{5C320839-F1F4-4ABC-BA17-2145FE9B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859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 / 拒绝 / 暂缓什么</a:t>
            </a:r>
          </a:p>
        </p:txBody>
      </p:sp>
      <p:sp>
        <p:nvSpPr>
          <p:cNvPr id="17" name="p08-fl-1">
            <a:extLst xmlns:a="http://schemas.openxmlformats.org/drawingml/2006/main">
              <a:ext uri="{FF2B5EF4-FFF2-40B4-BE49-F238E27FC236}">
                <a16:creationId xmlns:a16="http://schemas.microsoft.com/office/drawing/2014/main" id="{A409A673-731E-475E-9631-7961015B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859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8" name="p08-fd-1">
            <a:extLst xmlns:a="http://schemas.openxmlformats.org/drawingml/2006/main">
              <a:ext uri="{FF2B5EF4-FFF2-40B4-BE49-F238E27FC236}">
                <a16:creationId xmlns:a16="http://schemas.microsoft.com/office/drawing/2014/main" id="{006051C9-6C75-4EE9-9A2C-B6B4C0FE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8597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为什么这样取</a:t>
            </a:r>
          </a:p>
        </p:txBody>
      </p:sp>
      <p:sp>
        <p:nvSpPr>
          <p:cNvPr id="19" name="p08-fl-2">
            <a:extLst xmlns:a="http://schemas.openxmlformats.org/drawingml/2006/main">
              <a:ext uri="{FF2B5EF4-FFF2-40B4-BE49-F238E27FC236}">
                <a16:creationId xmlns:a16="http://schemas.microsoft.com/office/drawing/2014/main" id="{340D676A-1650-444C-8FE0-518F237F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860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20" name="p08-fd-2">
            <a:extLst xmlns:a="http://schemas.openxmlformats.org/drawingml/2006/main">
              <a:ext uri="{FF2B5EF4-FFF2-40B4-BE49-F238E27FC236}">
                <a16:creationId xmlns:a16="http://schemas.microsoft.com/office/drawing/2014/main" id="{2D9CCD0F-E962-4363-9C38-BB6B1818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860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在什么条件下成立</a:t>
            </a:r>
          </a:p>
        </p:txBody>
      </p:sp>
      <p:sp>
        <p:nvSpPr>
          <p:cNvPr id="21" name="p08-fl-3">
            <a:extLst xmlns:a="http://schemas.openxmlformats.org/drawingml/2006/main">
              <a:ext uri="{FF2B5EF4-FFF2-40B4-BE49-F238E27FC236}">
                <a16:creationId xmlns:a16="http://schemas.microsoft.com/office/drawing/2014/main" id="{FFBF9499-8F6D-40CD-BA13-C30080E5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28612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22" name="p08-fd-3">
            <a:extLst xmlns:a="http://schemas.openxmlformats.org/drawingml/2006/main">
              <a:ext uri="{FF2B5EF4-FFF2-40B4-BE49-F238E27FC236}">
                <a16:creationId xmlns:a16="http://schemas.microsoft.com/office/drawing/2014/main" id="{B77060FE-6128-480F-B0C6-7E3C7986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8612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反馈来源 + 方案条目</a:t>
            </a:r>
          </a:p>
        </p:txBody>
      </p:sp>
      <p:sp>
        <p:nvSpPr>
          <p:cNvPr id="23" name="p08-fl-4">
            <a:extLst xmlns:a="http://schemas.openxmlformats.org/drawingml/2006/main">
              <a:ext uri="{FF2B5EF4-FFF2-40B4-BE49-F238E27FC236}">
                <a16:creationId xmlns:a16="http://schemas.microsoft.com/office/drawing/2014/main" id="{D6C7A31C-F8DE-4BA4-BA14-EC5FA83F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待验证状态</a:t>
            </a:r>
          </a:p>
        </p:txBody>
      </p:sp>
      <p:sp>
        <p:nvSpPr>
          <p:cNvPr id="24" name="p08-fd-4">
            <a:extLst xmlns:a="http://schemas.openxmlformats.org/drawingml/2006/main">
              <a:ext uri="{FF2B5EF4-FFF2-40B4-BE49-F238E27FC236}">
                <a16:creationId xmlns:a16="http://schemas.microsoft.com/office/drawing/2014/main" id="{3BC87898-1851-4ADD-9891-6B490814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862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哪些仍未确认</a:t>
            </a:r>
          </a:p>
        </p:txBody>
      </p:sp>
      <p:sp>
        <p:nvSpPr>
          <p:cNvPr id="25" name="p08-fl-5">
            <a:extLst xmlns:a="http://schemas.openxmlformats.org/drawingml/2006/main">
              <a:ext uri="{FF2B5EF4-FFF2-40B4-BE49-F238E27FC236}">
                <a16:creationId xmlns:a16="http://schemas.microsoft.com/office/drawing/2014/main" id="{909203E1-20C5-442E-A5F0-56FA107F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862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26" name="p08-fd-5">
            <a:extLst xmlns:a="http://schemas.openxmlformats.org/drawingml/2006/main">
              <a:ext uri="{FF2B5EF4-FFF2-40B4-BE49-F238E27FC236}">
                <a16:creationId xmlns:a16="http://schemas.microsoft.com/office/drawing/2014/main" id="{05F26CCF-D06E-411C-878D-06892B22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8627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具体改哪一段</a:t>
            </a:r>
          </a:p>
        </p:txBody>
      </p:sp>
      <p:sp>
        <p:nvSpPr>
          <p:cNvPr id="27" name="p08-bottom">
            <a:extLst xmlns:a="http://schemas.openxmlformats.org/drawingml/2006/main">
              <a:ext uri="{FF2B5EF4-FFF2-40B4-BE49-F238E27FC236}">
                <a16:creationId xmlns:a16="http://schemas.microsoft.com/office/drawing/2014/main" id="{0E24C6C2-5555-4823-8361-0DAF0878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578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拒绝不是“我不同意”：理由必须对应到方案中的具体条目。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可以整理线索，但不能替你作研究判断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can-title">
            <a:extLst xmlns:a="http://schemas.openxmlformats.org/drawingml/2006/main">
              <a:ext uri="{FF2B5EF4-FFF2-40B4-BE49-F238E27FC236}">
                <a16:creationId xmlns:a16="http://schemas.microsoft.com/office/drawing/2014/main" id="{38A7D370-8E8E-44FC-BC69-49B48CBB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096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可以</a:t>
            </a:r>
          </a:p>
        </p:txBody>
      </p:sp>
      <p:sp>
        <p:nvSpPr>
          <p:cNvPr id="7" name="p09-can-0">
            <a:extLst xmlns:a="http://schemas.openxmlformats.org/drawingml/2006/main">
              <a:ext uri="{FF2B5EF4-FFF2-40B4-BE49-F238E27FC236}">
                <a16:creationId xmlns:a16="http://schemas.microsoft.com/office/drawing/2014/main" id="{B37454EF-B373-41B8-A3BC-8B78BEDD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转写同伴口述反馈</a:t>
            </a:r>
          </a:p>
        </p:txBody>
      </p:sp>
      <p:sp>
        <p:nvSpPr>
          <p:cNvPr id="8" name="p09-can-1">
            <a:extLst xmlns:a="http://schemas.openxmlformats.org/drawingml/2006/main">
              <a:ext uri="{FF2B5EF4-FFF2-40B4-BE49-F238E27FC236}">
                <a16:creationId xmlns:a16="http://schemas.microsoft.com/office/drawing/2014/main" id="{BF1B7424-52EC-42B2-975E-86543A9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提示可能对应的 rubric 维度</a:t>
            </a:r>
          </a:p>
        </p:txBody>
      </p:sp>
      <p:sp>
        <p:nvSpPr>
          <p:cNvPr id="9" name="p09-can-2">
            <a:extLst xmlns:a="http://schemas.openxmlformats.org/drawingml/2006/main">
              <a:ext uri="{FF2B5EF4-FFF2-40B4-BE49-F238E27FC236}">
                <a16:creationId xmlns:a16="http://schemas.microsoft.com/office/drawing/2014/main" id="{B9A51A35-D211-4675-AF42-A5DD977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草拟拒绝理由或修改方向</a:t>
            </a:r>
          </a:p>
        </p:txBody>
      </p:sp>
      <p:sp>
        <p:nvSpPr>
          <p:cNvPr id="10" name="p09-no-title">
            <a:extLst xmlns:a="http://schemas.openxmlformats.org/drawingml/2006/main">
              <a:ext uri="{FF2B5EF4-FFF2-40B4-BE49-F238E27FC236}">
                <a16:creationId xmlns:a16="http://schemas.microsoft.com/office/drawing/2014/main" id="{84E51F05-A66E-4B0D-BAC9-26551C00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0096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不可以</a:t>
            </a:r>
          </a:p>
        </p:txBody>
      </p:sp>
      <p:sp>
        <p:nvSpPr>
          <p:cNvPr id="11" name="p09-no-0">
            <a:extLst xmlns:a="http://schemas.openxmlformats.org/drawingml/2006/main">
              <a:ext uri="{FF2B5EF4-FFF2-40B4-BE49-F238E27FC236}">
                <a16:creationId xmlns:a16="http://schemas.microsoft.com/office/drawing/2014/main" id="{882A048D-57D8-40BF-A653-64E8A9FF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526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判断反馈是否成立</a:t>
            </a:r>
          </a:p>
        </p:txBody>
      </p:sp>
      <p:sp>
        <p:nvSpPr>
          <p:cNvPr id="12" name="p09-no-1">
            <a:extLst xmlns:a="http://schemas.openxmlformats.org/drawingml/2006/main">
              <a:ext uri="{FF2B5EF4-FFF2-40B4-BE49-F238E27FC236}">
                <a16:creationId xmlns:a16="http://schemas.microsoft.com/office/drawing/2014/main" id="{736D2959-6E9E-4A86-8C14-BD19FD65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098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决定采纳、拒绝或暂缓</a:t>
            </a:r>
          </a:p>
        </p:txBody>
      </p:sp>
      <p:sp>
        <p:nvSpPr>
          <p:cNvPr id="13" name="p09-no-2">
            <a:extLst xmlns:a="http://schemas.openxmlformats.org/drawingml/2006/main">
              <a:ext uri="{FF2B5EF4-FFF2-40B4-BE49-F238E27FC236}">
                <a16:creationId xmlns:a16="http://schemas.microsoft.com/office/drawing/2014/main" id="{06995492-3F71-4F8C-8970-DCCEA7FF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671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代写理由、边界和影响工件</a:t>
            </a:r>
          </a:p>
        </p:txBody>
      </p:sp>
      <p:sp>
        <p:nvSpPr>
          <p:cNvPr id="14" name="p09-bottom">
            <a:extLst xmlns:a="http://schemas.openxmlformats.org/drawingml/2006/main">
              <a:ext uri="{FF2B5EF4-FFF2-40B4-BE49-F238E27FC236}">
                <a16:creationId xmlns:a16="http://schemas.microsoft.com/office/drawing/2014/main" id="{E54F45F4-2C89-46CE-8240-C4CD71B1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57750"/>
            <a:ext cx="7239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人工核验前，AI 草拟决策表只能留在探索线索区。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演示上半程：第 7 课输出如何压缩成 3 分钟陈述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ase">
            <a:extLst xmlns:a="http://schemas.openxmlformats.org/drawingml/2006/main">
              <a:ext uri="{FF2B5EF4-FFF2-40B4-BE49-F238E27FC236}">
                <a16:creationId xmlns:a16="http://schemas.microsoft.com/office/drawing/2014/main" id="{5E3B0EDD-8D04-4E0E-856E-EDF2BC52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真实公开方案对象｜Bouthillier et al. 2021 benchmark 方差</a:t>
            </a:r>
          </a:p>
        </p:txBody>
      </p:sp>
      <p:sp>
        <p:nvSpPr>
          <p:cNvPr id="7" name="p10-left-title">
            <a:extLst xmlns:a="http://schemas.openxmlformats.org/drawingml/2006/main">
              <a:ext uri="{FF2B5EF4-FFF2-40B4-BE49-F238E27FC236}">
                <a16:creationId xmlns:a16="http://schemas.microsoft.com/office/drawing/2014/main" id="{4596F4CC-4982-47FD-9C45-795B542D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公开论文可核验内容</a:t>
            </a:r>
          </a:p>
        </p:txBody>
      </p:sp>
      <p:sp>
        <p:nvSpPr>
          <p:cNvPr id="8" name="p10-il-0">
            <a:extLst xmlns:a="http://schemas.openxmlformats.org/drawingml/2006/main">
              <a:ext uri="{FF2B5EF4-FFF2-40B4-BE49-F238E27FC236}">
                <a16:creationId xmlns:a16="http://schemas.microsoft.com/office/drawing/2014/main" id="{333D27B3-2D0E-48A0-AB0A-A7A9CF04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9" name="p10-id-0">
            <a:extLst xmlns:a="http://schemas.openxmlformats.org/drawingml/2006/main">
              <a:ext uri="{FF2B5EF4-FFF2-40B4-BE49-F238E27FC236}">
                <a16:creationId xmlns:a16="http://schemas.microsoft.com/office/drawing/2014/main" id="{83719A01-049C-45D8-8886-C7E65A77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002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benchmark 比较忽略多个方差来源</a:t>
            </a:r>
          </a:p>
        </p:txBody>
      </p:sp>
      <p:sp>
        <p:nvSpPr>
          <p:cNvPr id="10" name="p10-il-1">
            <a:extLst xmlns:a="http://schemas.openxmlformats.org/drawingml/2006/main">
              <a:ext uri="{FF2B5EF4-FFF2-40B4-BE49-F238E27FC236}">
                <a16:creationId xmlns:a16="http://schemas.microsoft.com/office/drawing/2014/main" id="{5581068D-1590-4186-8D0B-02CE6951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证据动作</a:t>
            </a:r>
          </a:p>
        </p:txBody>
      </p:sp>
      <p:sp>
        <p:nvSpPr>
          <p:cNvPr id="11" name="p10-id-1">
            <a:extLst xmlns:a="http://schemas.openxmlformats.org/drawingml/2006/main">
              <a:ext uri="{FF2B5EF4-FFF2-40B4-BE49-F238E27FC236}">
                <a16:creationId xmlns:a16="http://schemas.microsoft.com/office/drawing/2014/main" id="{14F79E42-6969-4FE3-BEC4-2D6846EE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7241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建模 benchmarking 过程，评估误判改进率</a:t>
            </a:r>
          </a:p>
        </p:txBody>
      </p:sp>
      <p:sp>
        <p:nvSpPr>
          <p:cNvPr id="12" name="p10-il-2">
            <a:extLst xmlns:a="http://schemas.openxmlformats.org/drawingml/2006/main">
              <a:ext uri="{FF2B5EF4-FFF2-40B4-BE49-F238E27FC236}">
                <a16:creationId xmlns:a16="http://schemas.microsoft.com/office/drawing/2014/main" id="{AB0DDA30-D257-4C44-8C68-E6B315EB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</a:t>
            </a:r>
          </a:p>
        </p:txBody>
      </p:sp>
      <p:sp>
        <p:nvSpPr>
          <p:cNvPr id="13" name="p10-id-2">
            <a:extLst xmlns:a="http://schemas.openxmlformats.org/drawingml/2006/main">
              <a:ext uri="{FF2B5EF4-FFF2-40B4-BE49-F238E27FC236}">
                <a16:creationId xmlns:a16="http://schemas.microsoft.com/office/drawing/2014/main" id="{6BF7F6A9-F629-4C92-AC8D-9C69C4D5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4480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抽样 / 初始化 / 超参数方差改变比较</a:t>
            </a:r>
          </a:p>
        </p:txBody>
      </p:sp>
      <p:sp>
        <p:nvSpPr>
          <p:cNvPr id="14" name="p10-il-3">
            <a:extLst xmlns:a="http://schemas.openxmlformats.org/drawingml/2006/main">
              <a:ext uri="{FF2B5EF4-FFF2-40B4-BE49-F238E27FC236}">
                <a16:creationId xmlns:a16="http://schemas.microsoft.com/office/drawing/2014/main" id="{F716B7DA-67CE-430E-A5B0-56BBA2D8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15" name="p10-id-3">
            <a:extLst xmlns:a="http://schemas.openxmlformats.org/drawingml/2006/main">
              <a:ext uri="{FF2B5EF4-FFF2-40B4-BE49-F238E27FC236}">
                <a16:creationId xmlns:a16="http://schemas.microsoft.com/office/drawing/2014/main" id="{67C78B5C-8D9D-4E69-B95C-0F943404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1719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计算代价阻止全量覆盖所有来源</a:t>
            </a:r>
          </a:p>
        </p:txBody>
      </p:sp>
      <p:sp>
        <p:nvSpPr>
          <p:cNvPr id="16" name="p10-arrow">
            <a:extLst xmlns:a="http://schemas.openxmlformats.org/drawingml/2006/main">
              <a:ext uri="{FF2B5EF4-FFF2-40B4-BE49-F238E27FC236}">
                <a16:creationId xmlns:a16="http://schemas.microsoft.com/office/drawing/2014/main" id="{E4165199-382C-4BA4-B0BB-007DB8C4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48000"/>
            <a:ext cx="72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0-right-title">
            <a:extLst xmlns:a="http://schemas.openxmlformats.org/drawingml/2006/main">
              <a:ext uri="{FF2B5EF4-FFF2-40B4-BE49-F238E27FC236}">
                <a16:creationId xmlns:a16="http://schemas.microsoft.com/office/drawing/2014/main" id="{C4610789-90DE-4B23-9E52-0B0BC04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2875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 分钟五段陈述</a:t>
            </a:r>
          </a:p>
        </p:txBody>
      </p:sp>
      <p:sp>
        <p:nvSpPr>
          <p:cNvPr id="18" name="p10-pn-0">
            <a:extLst xmlns:a="http://schemas.openxmlformats.org/drawingml/2006/main">
              <a:ext uri="{FF2B5EF4-FFF2-40B4-BE49-F238E27FC236}">
                <a16:creationId xmlns:a16="http://schemas.microsoft.com/office/drawing/2014/main" id="{F92C62CD-9C03-4F77-9E1B-5636D7E4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621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10-p-0">
            <a:extLst xmlns:a="http://schemas.openxmlformats.org/drawingml/2006/main">
              <a:ext uri="{FF2B5EF4-FFF2-40B4-BE49-F238E27FC236}">
                <a16:creationId xmlns:a16="http://schemas.microsoft.com/office/drawing/2014/main" id="{1DB1D0C6-B418-490A-8C06-BF33C99B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621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问题｜比较可能被方差来源改写</a:t>
            </a:r>
          </a:p>
        </p:txBody>
      </p:sp>
      <p:sp>
        <p:nvSpPr>
          <p:cNvPr id="20" name="p10-pn-1">
            <a:extLst xmlns:a="http://schemas.openxmlformats.org/drawingml/2006/main">
              <a:ext uri="{FF2B5EF4-FFF2-40B4-BE49-F238E27FC236}">
                <a16:creationId xmlns:a16="http://schemas.microsoft.com/office/drawing/2014/main" id="{257BE8C2-7FC7-48DB-98CC-2EB0D058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19375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10-p-1">
            <a:extLst xmlns:a="http://schemas.openxmlformats.org/drawingml/2006/main">
              <a:ext uri="{FF2B5EF4-FFF2-40B4-BE49-F238E27FC236}">
                <a16:creationId xmlns:a16="http://schemas.microsoft.com/office/drawing/2014/main" id="{1D802E66-E1D0-480B-905B-A6D410B9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19375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证据｜建模全过程 + 检测改进误差</a:t>
            </a:r>
          </a:p>
        </p:txBody>
      </p:sp>
      <p:sp>
        <p:nvSpPr>
          <p:cNvPr id="22" name="p10-pn-2">
            <a:extLst xmlns:a="http://schemas.openxmlformats.org/drawingml/2006/main">
              <a:ext uri="{FF2B5EF4-FFF2-40B4-BE49-F238E27FC236}">
                <a16:creationId xmlns:a16="http://schemas.microsoft.com/office/drawing/2014/main" id="{47F19FA6-E73F-4F0E-A9CA-BC788EBF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66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10-p-2">
            <a:extLst xmlns:a="http://schemas.openxmlformats.org/drawingml/2006/main">
              <a:ext uri="{FF2B5EF4-FFF2-40B4-BE49-F238E27FC236}">
                <a16:creationId xmlns:a16="http://schemas.microsoft.com/office/drawing/2014/main" id="{128952B5-77E9-44A5-B582-E7D3AFBC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7660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机制｜抽样 / 初始化 / 超参数方差</a:t>
            </a:r>
          </a:p>
        </p:txBody>
      </p:sp>
      <p:sp>
        <p:nvSpPr>
          <p:cNvPr id="24" name="p10-pn-3">
            <a:extLst xmlns:a="http://schemas.openxmlformats.org/drawingml/2006/main">
              <a:ext uri="{FF2B5EF4-FFF2-40B4-BE49-F238E27FC236}">
                <a16:creationId xmlns:a16="http://schemas.microsoft.com/office/drawing/2014/main" id="{1225EA27-3C94-4C22-A2FF-C3E34344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10-p-3">
            <a:extLst xmlns:a="http://schemas.openxmlformats.org/drawingml/2006/main">
              <a:ext uri="{FF2B5EF4-FFF2-40B4-BE49-F238E27FC236}">
                <a16:creationId xmlns:a16="http://schemas.microsoft.com/office/drawing/2014/main" id="{B749835D-6EFB-4E63-BF2A-AAA78484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33825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验证｜五个深度学习任务/架构</a:t>
            </a:r>
          </a:p>
        </p:txBody>
      </p:sp>
      <p:sp>
        <p:nvSpPr>
          <p:cNvPr id="26" name="p10-pn-4">
            <a:extLst xmlns:a="http://schemas.openxmlformats.org/drawingml/2006/main">
              <a:ext uri="{FF2B5EF4-FFF2-40B4-BE49-F238E27FC236}">
                <a16:creationId xmlns:a16="http://schemas.microsoft.com/office/drawing/2014/main" id="{45066D65-C7C4-4916-B5CA-BBE1AB20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910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10-p-4">
            <a:extLst xmlns:a="http://schemas.openxmlformats.org/drawingml/2006/main">
              <a:ext uri="{FF2B5EF4-FFF2-40B4-BE49-F238E27FC236}">
                <a16:creationId xmlns:a16="http://schemas.microsoft.com/office/drawing/2014/main" id="{FB58D262-6F62-4BE6-A5CF-E19D5B29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风险｜计算代价限制方差覆盖</a:t>
            </a:r>
          </a:p>
        </p:txBody>
      </p:sp>
      <p:sp>
        <p:nvSpPr>
          <p:cNvPr id="28" name="p10-bottom">
            <a:extLst xmlns:a="http://schemas.openxmlformats.org/drawingml/2006/main">
              <a:ext uri="{FF2B5EF4-FFF2-40B4-BE49-F238E27FC236}">
                <a16:creationId xmlns:a16="http://schemas.microsoft.com/office/drawing/2014/main" id="{5CDE4D24-E819-4EB5-B4BA-B78F76E7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53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压缩不是删来源：每一段仍能回到上游工件。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演示下半程：三条反馈如何转成三种决策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boundary">
            <a:extLst xmlns:a="http://schemas.openxmlformats.org/drawingml/2006/main">
              <a:ext uri="{FF2B5EF4-FFF2-40B4-BE49-F238E27FC236}">
                <a16:creationId xmlns:a16="http://schemas.microsoft.com/office/drawing/2014/main" id="{A5BBB748-1ED9-434E-9ED3-074DCEB1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83820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虚构教学反馈｜基于 P10 公开对象，仅演示决策记录</a:t>
            </a:r>
          </a:p>
        </p:txBody>
      </p:sp>
      <p:sp>
        <p:nvSpPr>
          <p:cNvPr id="7" name="p11-feedback-title">
            <a:extLst xmlns:a="http://schemas.openxmlformats.org/drawingml/2006/main">
              <a:ext uri="{FF2B5EF4-FFF2-40B4-BE49-F238E27FC236}">
                <a16:creationId xmlns:a16="http://schemas.microsoft.com/office/drawing/2014/main" id="{CB7F6728-6672-40E3-98F2-A8C93363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同伴反馈</a:t>
            </a:r>
          </a:p>
        </p:txBody>
      </p:sp>
      <p:sp>
        <p:nvSpPr>
          <p:cNvPr id="8" name="p11-decision-title">
            <a:extLst xmlns:a="http://schemas.openxmlformats.org/drawingml/2006/main">
              <a:ext uri="{FF2B5EF4-FFF2-40B4-BE49-F238E27FC236}">
                <a16:creationId xmlns:a16="http://schemas.microsoft.com/office/drawing/2014/main" id="{0CBA3B0A-E631-497C-BE08-BD341035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作者决策</a:t>
            </a:r>
          </a:p>
        </p:txBody>
      </p:sp>
      <p:sp>
        <p:nvSpPr>
          <p:cNvPr id="9" name="p11-dim-0">
            <a:extLst xmlns:a="http://schemas.openxmlformats.org/drawingml/2006/main">
              <a:ext uri="{FF2B5EF4-FFF2-40B4-BE49-F238E27FC236}">
                <a16:creationId xmlns:a16="http://schemas.microsoft.com/office/drawing/2014/main" id="{5208DA7F-E5E4-4A31-9EAD-5ECF527D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可检验性</a:t>
            </a:r>
          </a:p>
        </p:txBody>
      </p:sp>
      <p:sp>
        <p:nvSpPr>
          <p:cNvPr id="10" name="p11-fb-0">
            <a:extLst xmlns:a="http://schemas.openxmlformats.org/drawingml/2006/main">
              <a:ext uri="{FF2B5EF4-FFF2-40B4-BE49-F238E27FC236}">
                <a16:creationId xmlns:a16="http://schemas.microsoft.com/office/drawing/2014/main" id="{ECA42A5B-486D-413F-B7FC-029A2FB3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573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抽样与初始化方差的区分设计未写清</a:t>
            </a:r>
          </a:p>
        </p:txBody>
      </p:sp>
      <p:sp>
        <p:nvSpPr>
          <p:cNvPr id="11" name="p11-arrow-0">
            <a:extLst xmlns:a="http://schemas.openxmlformats.org/drawingml/2006/main">
              <a:ext uri="{FF2B5EF4-FFF2-40B4-BE49-F238E27FC236}">
                <a16:creationId xmlns:a16="http://schemas.microsoft.com/office/drawing/2014/main" id="{4D77788C-9672-46E5-8460-727631E3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526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11-decision-0">
            <a:extLst xmlns:a="http://schemas.openxmlformats.org/drawingml/2006/main">
              <a:ext uri="{FF2B5EF4-FFF2-40B4-BE49-F238E27FC236}">
                <a16:creationId xmlns:a16="http://schemas.microsoft.com/office/drawing/2014/main" id="{0D078005-EBC2-46E5-B490-A6A1D0C7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573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3" name="p11-reason-0">
            <a:extLst xmlns:a="http://schemas.openxmlformats.org/drawingml/2006/main">
              <a:ext uri="{FF2B5EF4-FFF2-40B4-BE49-F238E27FC236}">
                <a16:creationId xmlns:a16="http://schemas.microsoft.com/office/drawing/2014/main" id="{B853AA5B-AB38-42F2-A0E2-4188CF01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573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补规格 §假设对应/变量</a:t>
            </a:r>
          </a:p>
        </p:txBody>
      </p:sp>
      <p:sp>
        <p:nvSpPr>
          <p:cNvPr id="14" name="p11-dim-1">
            <a:extLst xmlns:a="http://schemas.openxmlformats.org/drawingml/2006/main">
              <a:ext uri="{FF2B5EF4-FFF2-40B4-BE49-F238E27FC236}">
                <a16:creationId xmlns:a16="http://schemas.microsoft.com/office/drawing/2014/main" id="{B75B008D-CD54-4C63-B7DB-11502A81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泛化判断</a:t>
            </a:r>
          </a:p>
        </p:txBody>
      </p:sp>
      <p:sp>
        <p:nvSpPr>
          <p:cNvPr id="15" name="p11-fb-1">
            <a:extLst xmlns:a="http://schemas.openxmlformats.org/drawingml/2006/main">
              <a:ext uri="{FF2B5EF4-FFF2-40B4-BE49-F238E27FC236}">
                <a16:creationId xmlns:a16="http://schemas.microsoft.com/office/drawing/2014/main" id="{B15C1718-FF78-4B18-8219-43FB7E20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384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比较不公平（未指明何种差异）</a:t>
            </a:r>
          </a:p>
        </p:txBody>
      </p:sp>
      <p:sp>
        <p:nvSpPr>
          <p:cNvPr id="16" name="p11-arrow-1">
            <a:extLst xmlns:a="http://schemas.openxmlformats.org/drawingml/2006/main">
              <a:ext uri="{FF2B5EF4-FFF2-40B4-BE49-F238E27FC236}">
                <a16:creationId xmlns:a16="http://schemas.microsoft.com/office/drawing/2014/main" id="{4EA65563-1798-469C-A641-F2DA9A09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1-decision-1">
            <a:extLst xmlns:a="http://schemas.openxmlformats.org/drawingml/2006/main">
              <a:ext uri="{FF2B5EF4-FFF2-40B4-BE49-F238E27FC236}">
                <a16:creationId xmlns:a16="http://schemas.microsoft.com/office/drawing/2014/main" id="{1CFF7A0A-8826-4DD1-9671-FE20EF73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8" name="p11-reason-1">
            <a:extLst xmlns:a="http://schemas.openxmlformats.org/drawingml/2006/main">
              <a:ext uri="{FF2B5EF4-FFF2-40B4-BE49-F238E27FC236}">
                <a16:creationId xmlns:a16="http://schemas.microsoft.com/office/drawing/2014/main" id="{F15B0D6A-D4D8-4C4F-8785-6538A485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未指向具体变量或环节</a:t>
            </a:r>
          </a:p>
        </p:txBody>
      </p:sp>
      <p:sp>
        <p:nvSpPr>
          <p:cNvPr id="19" name="p11-dim-2">
            <a:extLst xmlns:a="http://schemas.openxmlformats.org/drawingml/2006/main">
              <a:ext uri="{FF2B5EF4-FFF2-40B4-BE49-F238E27FC236}">
                <a16:creationId xmlns:a16="http://schemas.microsoft.com/office/drawing/2014/main" id="{4088896A-1130-4160-891B-A351462D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问题重要性</a:t>
            </a:r>
          </a:p>
        </p:txBody>
      </p:sp>
      <p:sp>
        <p:nvSpPr>
          <p:cNvPr id="20" name="p11-fb-2">
            <a:extLst xmlns:a="http://schemas.openxmlformats.org/drawingml/2006/main">
              <a:ext uri="{FF2B5EF4-FFF2-40B4-BE49-F238E27FC236}">
                <a16:creationId xmlns:a16="http://schemas.microsoft.com/office/drawing/2014/main" id="{8D770609-28D8-4BA0-87E6-7705DD01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195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没说误判改进会改变哪项 benchmark 决策</a:t>
            </a:r>
          </a:p>
        </p:txBody>
      </p:sp>
      <p:sp>
        <p:nvSpPr>
          <p:cNvPr id="21" name="p11-arrow-2">
            <a:extLst xmlns:a="http://schemas.openxmlformats.org/drawingml/2006/main">
              <a:ext uri="{FF2B5EF4-FFF2-40B4-BE49-F238E27FC236}">
                <a16:creationId xmlns:a16="http://schemas.microsoft.com/office/drawing/2014/main" id="{29F8F740-D3F8-48BD-86DE-5E061CC0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148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1-decision-2">
            <a:extLst xmlns:a="http://schemas.openxmlformats.org/drawingml/2006/main">
              <a:ext uri="{FF2B5EF4-FFF2-40B4-BE49-F238E27FC236}">
                <a16:creationId xmlns:a16="http://schemas.microsoft.com/office/drawing/2014/main" id="{7C6991E1-DA8D-427B-BDB9-5F8F778E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暂缓</a:t>
            </a:r>
          </a:p>
        </p:txBody>
      </p:sp>
      <p:sp>
        <p:nvSpPr>
          <p:cNvPr id="23" name="p11-reason-2">
            <a:extLst xmlns:a="http://schemas.openxmlformats.org/drawingml/2006/main">
              <a:ext uri="{FF2B5EF4-FFF2-40B4-BE49-F238E27FC236}">
                <a16:creationId xmlns:a16="http://schemas.microsoft.com/office/drawing/2014/main" id="{49DB1B44-170E-42C7-B77F-CBC3FD0A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195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先补哪种误判率触发行动</a:t>
            </a:r>
          </a:p>
        </p:txBody>
      </p:sp>
      <p:sp>
        <p:nvSpPr>
          <p:cNvPr id="24" name="p11-bottom">
            <a:extLst xmlns:a="http://schemas.openxmlformats.org/drawingml/2006/main">
              <a:ext uri="{FF2B5EF4-FFF2-40B4-BE49-F238E27FC236}">
                <a16:creationId xmlns:a16="http://schemas.microsoft.com/office/drawing/2014/main" id="{A445A287-266D-4062-BFEF-9F6A8D40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拒绝要有具体依据；暂缓要进入待验证状态；采纳要写影响工件。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8 课只补两项判断门材料，其余缺口留到第 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table-h-0">
            <a:extLst xmlns:a="http://schemas.openxmlformats.org/drawingml/2006/main">
              <a:ext uri="{FF2B5EF4-FFF2-40B4-BE49-F238E27FC236}">
                <a16:creationId xmlns:a16="http://schemas.microsoft.com/office/drawing/2014/main" id="{9C174011-2604-4D16-A0C8-A07305B1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523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判断门条件</a:t>
            </a:r>
          </a:p>
        </p:txBody>
      </p:sp>
      <p:sp>
        <p:nvSpPr>
          <p:cNvPr id="7" name="p12-table-h-1">
            <a:extLst xmlns:a="http://schemas.openxmlformats.org/drawingml/2006/main">
              <a:ext uri="{FF2B5EF4-FFF2-40B4-BE49-F238E27FC236}">
                <a16:creationId xmlns:a16="http://schemas.microsoft.com/office/drawing/2014/main" id="{46A964C4-68A2-44A6-A556-C408C174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99060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8 课状态</a:t>
            </a:r>
          </a:p>
        </p:txBody>
      </p:sp>
      <p:sp>
        <p:nvSpPr>
          <p:cNvPr id="8" name="p12-table-h-2">
            <a:extLst xmlns:a="http://schemas.openxmlformats.org/drawingml/2006/main">
              <a:ext uri="{FF2B5EF4-FFF2-40B4-BE49-F238E27FC236}">
                <a16:creationId xmlns:a16="http://schemas.microsoft.com/office/drawing/2014/main" id="{CF592E1F-5FC3-4B26-8C38-D6BDC205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99060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最小缺口</a:t>
            </a:r>
          </a:p>
        </p:txBody>
      </p:sp>
      <p:sp>
        <p:nvSpPr>
          <p:cNvPr id="9" name="p12-table-r0-0">
            <a:extLst xmlns:a="http://schemas.openxmlformats.org/drawingml/2006/main">
              <a:ext uri="{FF2B5EF4-FFF2-40B4-BE49-F238E27FC236}">
                <a16:creationId xmlns:a16="http://schemas.microsoft.com/office/drawing/2014/main" id="{FF091818-19D1-4296-A90C-6CE5D4F1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可执行 baseline</a:t>
            </a:r>
          </a:p>
        </p:txBody>
      </p:sp>
      <p:sp>
        <p:nvSpPr>
          <p:cNvPr id="10" name="p12-table-r0-1">
            <a:extLst xmlns:a="http://schemas.openxmlformats.org/drawingml/2006/main">
              <a:ext uri="{FF2B5EF4-FFF2-40B4-BE49-F238E27FC236}">
                <a16:creationId xmlns:a16="http://schemas.microsoft.com/office/drawing/2014/main" id="{BAD97917-E5DD-4CA4-B2D9-D1000DAF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9065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1" name="p12-table-r0-2">
            <a:extLst xmlns:a="http://schemas.openxmlformats.org/drawingml/2006/main">
              <a:ext uri="{FF2B5EF4-FFF2-40B4-BE49-F238E27FC236}">
                <a16:creationId xmlns:a16="http://schemas.microsoft.com/office/drawing/2014/main" id="{70431D19-191F-4969-8EDF-9EFF8483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9065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课跑通</a:t>
            </a:r>
          </a:p>
        </p:txBody>
      </p:sp>
      <p:sp>
        <p:nvSpPr>
          <p:cNvPr id="12" name="p12-table-r1-0">
            <a:extLst xmlns:a="http://schemas.openxmlformats.org/drawingml/2006/main">
              <a:ext uri="{FF2B5EF4-FFF2-40B4-BE49-F238E27FC236}">
                <a16:creationId xmlns:a16="http://schemas.microsoft.com/office/drawing/2014/main" id="{41B0A6C1-BBD2-4DB6-BC7E-770E0CF1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7642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/ 材料 / 指标 / 限制</a:t>
            </a:r>
          </a:p>
        </p:txBody>
      </p:sp>
      <p:sp>
        <p:nvSpPr>
          <p:cNvPr id="13" name="p12-table-r1-1">
            <a:extLst xmlns:a="http://schemas.openxmlformats.org/drawingml/2006/main">
              <a:ext uri="{FF2B5EF4-FFF2-40B4-BE49-F238E27FC236}">
                <a16:creationId xmlns:a16="http://schemas.microsoft.com/office/drawing/2014/main" id="{BD515FB3-0B18-4415-9C96-5D16B7E1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7642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4" name="p12-table-r1-2">
            <a:extLst xmlns:a="http://schemas.openxmlformats.org/drawingml/2006/main">
              <a:ext uri="{FF2B5EF4-FFF2-40B4-BE49-F238E27FC236}">
                <a16:creationId xmlns:a16="http://schemas.microsoft.com/office/drawing/2014/main" id="{414AD6E7-6941-40C9-B97C-9B8E3D49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7642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课补齐</a:t>
            </a:r>
          </a:p>
        </p:txBody>
      </p:sp>
      <p:sp>
        <p:nvSpPr>
          <p:cNvPr id="15" name="p12-table-r2-0">
            <a:extLst xmlns:a="http://schemas.openxmlformats.org/drawingml/2006/main">
              <a:ext uri="{FF2B5EF4-FFF2-40B4-BE49-F238E27FC236}">
                <a16:creationId xmlns:a16="http://schemas.microsoft.com/office/drawing/2014/main" id="{043B9B1B-771C-442E-AFF5-20FD9C2F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 / 配置 / 随机种子</a:t>
            </a:r>
          </a:p>
        </p:txBody>
      </p:sp>
      <p:sp>
        <p:nvSpPr>
          <p:cNvPr id="16" name="p12-table-r2-1">
            <a:extLst xmlns:a="http://schemas.openxmlformats.org/drawingml/2006/main">
              <a:ext uri="{FF2B5EF4-FFF2-40B4-BE49-F238E27FC236}">
                <a16:creationId xmlns:a16="http://schemas.microsoft.com/office/drawing/2014/main" id="{1BCBA33E-5867-44B1-AB9D-CD0EBC01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6220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未覆盖</a:t>
            </a:r>
          </a:p>
        </p:txBody>
      </p:sp>
      <p:sp>
        <p:nvSpPr>
          <p:cNvPr id="17" name="p12-table-r2-2">
            <a:extLst xmlns:a="http://schemas.openxmlformats.org/drawingml/2006/main">
              <a:ext uri="{FF2B5EF4-FFF2-40B4-BE49-F238E27FC236}">
                <a16:creationId xmlns:a16="http://schemas.microsoft.com/office/drawing/2014/main" id="{BDB790AA-DDF3-472C-8451-8276C4A3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6220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课记录</a:t>
            </a:r>
          </a:p>
        </p:txBody>
      </p:sp>
      <p:sp>
        <p:nvSpPr>
          <p:cNvPr id="18" name="p12-table-r3-0">
            <a:extLst xmlns:a="http://schemas.openxmlformats.org/drawingml/2006/main">
              <a:ext uri="{FF2B5EF4-FFF2-40B4-BE49-F238E27FC236}">
                <a16:creationId xmlns:a16="http://schemas.microsoft.com/office/drawing/2014/main" id="{588E319E-1B9A-47D1-B962-A60B46D0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条研究判断</a:t>
            </a:r>
          </a:p>
        </p:txBody>
      </p:sp>
      <p:sp>
        <p:nvSpPr>
          <p:cNvPr id="19" name="p12-table-r3-1">
            <a:extLst xmlns:a="http://schemas.openxmlformats.org/drawingml/2006/main">
              <a:ext uri="{FF2B5EF4-FFF2-40B4-BE49-F238E27FC236}">
                <a16:creationId xmlns:a16="http://schemas.microsoft.com/office/drawing/2014/main" id="{4C6238EF-3FE9-4E7C-A430-0A95D368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4797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本课补入</a:t>
            </a:r>
          </a:p>
        </p:txBody>
      </p:sp>
      <p:sp>
        <p:nvSpPr>
          <p:cNvPr id="20" name="p12-table-r3-2">
            <a:extLst xmlns:a="http://schemas.openxmlformats.org/drawingml/2006/main">
              <a:ext uri="{FF2B5EF4-FFF2-40B4-BE49-F238E27FC236}">
                <a16:creationId xmlns:a16="http://schemas.microsoft.com/office/drawing/2014/main" id="{190E3EF9-DE4F-42E8-ACB4-570394C6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4797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合并决策表</a:t>
            </a:r>
          </a:p>
        </p:txBody>
      </p:sp>
      <p:sp>
        <p:nvSpPr>
          <p:cNvPr id="21" name="p12-table-r4-0">
            <a:extLst xmlns:a="http://schemas.openxmlformats.org/drawingml/2006/main">
              <a:ext uri="{FF2B5EF4-FFF2-40B4-BE49-F238E27FC236}">
                <a16:creationId xmlns:a16="http://schemas.microsoft.com/office/drawing/2014/main" id="{6622BAAE-CBA1-4027-8343-C2817004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实验规格完整</a:t>
            </a:r>
          </a:p>
        </p:txBody>
      </p:sp>
      <p:sp>
        <p:nvSpPr>
          <p:cNvPr id="22" name="p12-table-r4-1">
            <a:extLst xmlns:a="http://schemas.openxmlformats.org/drawingml/2006/main">
              <a:ext uri="{FF2B5EF4-FFF2-40B4-BE49-F238E27FC236}">
                <a16:creationId xmlns:a16="http://schemas.microsoft.com/office/drawing/2014/main" id="{42E5DE63-8626-4892-97E1-E2804E1E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7 课草图 + 本课反馈</a:t>
            </a:r>
          </a:p>
        </p:txBody>
      </p:sp>
      <p:sp>
        <p:nvSpPr>
          <p:cNvPr id="23" name="p12-table-r4-2">
            <a:extLst xmlns:a="http://schemas.openxmlformats.org/drawingml/2006/main">
              <a:ext uri="{FF2B5EF4-FFF2-40B4-BE49-F238E27FC236}">
                <a16:creationId xmlns:a16="http://schemas.microsoft.com/office/drawing/2014/main" id="{A76C4D65-EAEE-4B74-B775-97FE7AC6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按反馈修订</a:t>
            </a:r>
          </a:p>
        </p:txBody>
      </p:sp>
      <p:sp>
        <p:nvSpPr>
          <p:cNvPr id="24" name="p12-table-r5-0">
            <a:extLst xmlns:a="http://schemas.openxmlformats.org/drawingml/2006/main">
              <a:ext uri="{FF2B5EF4-FFF2-40B4-BE49-F238E27FC236}">
                <a16:creationId xmlns:a16="http://schemas.microsoft.com/office/drawing/2014/main" id="{BBD5E247-6C26-4DDE-BF5D-14BE3D9D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952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同伴反馈处理记录</a:t>
            </a:r>
          </a:p>
        </p:txBody>
      </p:sp>
      <p:sp>
        <p:nvSpPr>
          <p:cNvPr id="25" name="p12-table-r5-1">
            <a:extLst xmlns:a="http://schemas.openxmlformats.org/drawingml/2006/main">
              <a:ext uri="{FF2B5EF4-FFF2-40B4-BE49-F238E27FC236}">
                <a16:creationId xmlns:a16="http://schemas.microsoft.com/office/drawing/2014/main" id="{0630401A-BEC9-4833-AE21-7366AF6F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1952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</a:t>
            </a:r>
          </a:p>
        </p:txBody>
      </p:sp>
      <p:sp>
        <p:nvSpPr>
          <p:cNvPr id="26" name="p12-table-r5-2">
            <a:extLst xmlns:a="http://schemas.openxmlformats.org/drawingml/2006/main">
              <a:ext uri="{FF2B5EF4-FFF2-40B4-BE49-F238E27FC236}">
                <a16:creationId xmlns:a16="http://schemas.microsoft.com/office/drawing/2014/main" id="{B8292887-A138-4796-B9CF-B06EE5E4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952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27" name="p12-table-r6-0">
            <a:extLst xmlns:a="http://schemas.openxmlformats.org/drawingml/2006/main">
              <a:ext uri="{FF2B5EF4-FFF2-40B4-BE49-F238E27FC236}">
                <a16:creationId xmlns:a16="http://schemas.microsoft.com/office/drawing/2014/main" id="{2E464318-B394-49A7-BD8E-0F709E99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最大风险与失败预案</a:t>
            </a:r>
          </a:p>
        </p:txBody>
      </p:sp>
      <p:sp>
        <p:nvSpPr>
          <p:cNvPr id="28" name="p12-table-r6-1">
            <a:extLst xmlns:a="http://schemas.openxmlformats.org/drawingml/2006/main">
              <a:ext uri="{FF2B5EF4-FFF2-40B4-BE49-F238E27FC236}">
                <a16:creationId xmlns:a16="http://schemas.microsoft.com/office/drawing/2014/main" id="{51D46D3E-CC7F-45B8-8BDC-DD8EE34E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</a:t>
            </a:r>
          </a:p>
        </p:txBody>
      </p:sp>
      <p:sp>
        <p:nvSpPr>
          <p:cNvPr id="29" name="p12-table-r6-2">
            <a:extLst xmlns:a="http://schemas.openxmlformats.org/drawingml/2006/main">
              <a:ext uri="{FF2B5EF4-FFF2-40B4-BE49-F238E27FC236}">
                <a16:creationId xmlns:a16="http://schemas.microsoft.com/office/drawing/2014/main" id="{173FAE43-0D99-438D-8F19-CE1086C9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0530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30" name="p12-table-r7-0">
            <a:extLst xmlns:a="http://schemas.openxmlformats.org/drawingml/2006/main">
              <a:ext uri="{FF2B5EF4-FFF2-40B4-BE49-F238E27FC236}">
                <a16:creationId xmlns:a16="http://schemas.microsoft.com/office/drawing/2014/main" id="{0FE79794-95D3-428E-81FD-0CD319D8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迁移完整项目模板</a:t>
            </a:r>
          </a:p>
        </p:txBody>
      </p:sp>
      <p:sp>
        <p:nvSpPr>
          <p:cNvPr id="31" name="p12-table-r7-1">
            <a:extLst xmlns:a="http://schemas.openxmlformats.org/drawingml/2006/main">
              <a:ext uri="{FF2B5EF4-FFF2-40B4-BE49-F238E27FC236}">
                <a16:creationId xmlns:a16="http://schemas.microsoft.com/office/drawing/2014/main" id="{5E232034-A542-4941-A66E-A9B945E2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9107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未覆盖</a:t>
            </a:r>
          </a:p>
        </p:txBody>
      </p:sp>
      <p:sp>
        <p:nvSpPr>
          <p:cNvPr id="32" name="p12-table-r7-2">
            <a:extLst xmlns:a="http://schemas.openxmlformats.org/drawingml/2006/main">
              <a:ext uri="{FF2B5EF4-FFF2-40B4-BE49-F238E27FC236}">
                <a16:creationId xmlns:a16="http://schemas.microsoft.com/office/drawing/2014/main" id="{48B29EF9-5F3A-4AE8-BFD4-B0894D1D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9107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课迁移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7BF0C014-6E04-4F26-B075-FE3230D0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10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本课直接补：同伴反馈处理记录 + 至少 2 条研究判断。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实践：完成陈述、互查、决策与判断门预检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time">
            <a:extLst xmlns:a="http://schemas.openxmlformats.org/drawingml/2006/main">
              <a:ext uri="{FF2B5EF4-FFF2-40B4-BE49-F238E27FC236}">
                <a16:creationId xmlns:a16="http://schemas.microsoft.com/office/drawing/2014/main" id="{9E8E104C-D83A-4845-B61B-5858C763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87630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42:30–85:00｜停留本页</a:t>
            </a:r>
          </a:p>
        </p:txBody>
      </p:sp>
      <p:sp>
        <p:nvSpPr>
          <p:cNvPr id="7" name="p13-left-title">
            <a:extLst xmlns:a="http://schemas.openxmlformats.org/drawingml/2006/main">
              <a:ext uri="{FF2B5EF4-FFF2-40B4-BE49-F238E27FC236}">
                <a16:creationId xmlns:a16="http://schemas.microsoft.com/office/drawing/2014/main" id="{8310920D-F3B5-4F6F-A7AF-54D87D82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四项任务</a:t>
            </a:r>
          </a:p>
        </p:txBody>
      </p:sp>
      <p:sp>
        <p:nvSpPr>
          <p:cNvPr id="8" name="p13-line-0">
            <a:extLst xmlns:a="http://schemas.openxmlformats.org/drawingml/2006/main">
              <a:ext uri="{FF2B5EF4-FFF2-40B4-BE49-F238E27FC236}">
                <a16:creationId xmlns:a16="http://schemas.microsoft.com/office/drawing/2014/main" id="{E8C56193-AAB4-4F65-A8E6-F9DAB180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219551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3-n-0">
            <a:extLst xmlns:a="http://schemas.openxmlformats.org/drawingml/2006/main">
              <a:ext uri="{FF2B5EF4-FFF2-40B4-BE49-F238E27FC236}">
                <a16:creationId xmlns:a16="http://schemas.microsoft.com/office/drawing/2014/main" id="{A4D63C23-E1CE-419F-86F6-F27E00F3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13-task-0">
            <a:extLst xmlns:a="http://schemas.openxmlformats.org/drawingml/2006/main">
              <a:ext uri="{FF2B5EF4-FFF2-40B4-BE49-F238E27FC236}">
                <a16:creationId xmlns:a16="http://schemas.microsoft.com/office/drawing/2014/main" id="{EC8E7425-F310-4482-BFC4-6BAD6BF3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8115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补全 3 分钟五段陈述稿</a:t>
            </a:r>
          </a:p>
        </p:txBody>
      </p:sp>
      <p:sp>
        <p:nvSpPr>
          <p:cNvPr id="11" name="p13-line-1">
            <a:extLst xmlns:a="http://schemas.openxmlformats.org/drawingml/2006/main">
              <a:ext uri="{FF2B5EF4-FFF2-40B4-BE49-F238E27FC236}">
                <a16:creationId xmlns:a16="http://schemas.microsoft.com/office/drawing/2014/main" id="{0AAEBE12-6FFA-437D-A66C-2F59F53B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301466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3-n-1">
            <a:extLst xmlns:a="http://schemas.openxmlformats.org/drawingml/2006/main">
              <a:ext uri="{FF2B5EF4-FFF2-40B4-BE49-F238E27FC236}">
                <a16:creationId xmlns:a16="http://schemas.microsoft.com/office/drawing/2014/main" id="{616C8246-9689-40C1-A975-84BF0EFB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3-task-1">
            <a:extLst xmlns:a="http://schemas.openxmlformats.org/drawingml/2006/main">
              <a:ext uri="{FF2B5EF4-FFF2-40B4-BE49-F238E27FC236}">
                <a16:creationId xmlns:a16="http://schemas.microsoft.com/office/drawing/2014/main" id="{0539DE2A-FBB5-4515-8A7A-86EAD257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每人 3 分钟陈述 + 2 分钟反馈</a:t>
            </a:r>
          </a:p>
        </p:txBody>
      </p:sp>
      <p:sp>
        <p:nvSpPr>
          <p:cNvPr id="14" name="p13-line-2">
            <a:extLst xmlns:a="http://schemas.openxmlformats.org/drawingml/2006/main">
              <a:ext uri="{FF2B5EF4-FFF2-40B4-BE49-F238E27FC236}">
                <a16:creationId xmlns:a16="http://schemas.microsoft.com/office/drawing/2014/main" id="{96A9BCE8-4974-4E77-BC24-BFEDE8D7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383381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3-n-2">
            <a:extLst xmlns:a="http://schemas.openxmlformats.org/drawingml/2006/main">
              <a:ext uri="{FF2B5EF4-FFF2-40B4-BE49-F238E27FC236}">
                <a16:creationId xmlns:a16="http://schemas.microsoft.com/office/drawing/2014/main" id="{42C063EB-8D11-4311-946A-FA8DAB0F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3-task-2">
            <a:extLst xmlns:a="http://schemas.openxmlformats.org/drawingml/2006/main">
              <a:ext uri="{FF2B5EF4-FFF2-40B4-BE49-F238E27FC236}">
                <a16:creationId xmlns:a16="http://schemas.microsoft.com/office/drawing/2014/main" id="{820C2568-5530-433A-9443-A40FB129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1945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2 条六字段决策：1 采纳 + 1 拒绝/暂缓</a:t>
            </a:r>
          </a:p>
        </p:txBody>
      </p:sp>
      <p:sp>
        <p:nvSpPr>
          <p:cNvPr id="17" name="p13-n-3">
            <a:extLst xmlns:a="http://schemas.openxmlformats.org/drawingml/2006/main">
              <a:ext uri="{FF2B5EF4-FFF2-40B4-BE49-F238E27FC236}">
                <a16:creationId xmlns:a16="http://schemas.microsoft.com/office/drawing/2014/main" id="{5C51274D-EAFF-44AE-9894-E217F274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3-task-3">
            <a:extLst xmlns:a="http://schemas.openxmlformats.org/drawingml/2006/main">
              <a:ext uri="{FF2B5EF4-FFF2-40B4-BE49-F238E27FC236}">
                <a16:creationId xmlns:a16="http://schemas.microsoft.com/office/drawing/2014/main" id="{8DDE5D61-3C32-433B-8BCB-73C16E5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3860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列出判断门已满足 / 部分 / 未覆盖项</a:t>
            </a:r>
          </a:p>
        </p:txBody>
      </p:sp>
      <p:sp>
        <p:nvSpPr>
          <p:cNvPr id="19" name="p13-divider">
            <a:extLst xmlns:a="http://schemas.openxmlformats.org/drawingml/2006/main">
              <a:ext uri="{FF2B5EF4-FFF2-40B4-BE49-F238E27FC236}">
                <a16:creationId xmlns:a16="http://schemas.microsoft.com/office/drawing/2014/main" id="{D0669808-2768-4030-927D-1C14B8A7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91150" y="3128963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3-right-title">
            <a:extLst xmlns:a="http://schemas.openxmlformats.org/drawingml/2006/main">
              <a:ext uri="{FF2B5EF4-FFF2-40B4-BE49-F238E27FC236}">
                <a16:creationId xmlns:a16="http://schemas.microsoft.com/office/drawing/2014/main" id="{B951F4CE-C970-4372-B938-A8CE54E7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33500"/>
            <a:ext cx="3543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时间切换</a:t>
            </a:r>
          </a:p>
        </p:txBody>
      </p:sp>
      <p:sp>
        <p:nvSpPr>
          <p:cNvPr id="21" name="p13-time-0">
            <a:extLst xmlns:a="http://schemas.openxmlformats.org/drawingml/2006/main">
              <a:ext uri="{FF2B5EF4-FFF2-40B4-BE49-F238E27FC236}">
                <a16:creationId xmlns:a16="http://schemas.microsoft.com/office/drawing/2014/main" id="{64D5FF41-E4B1-4F2C-824D-A70C25CC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431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42:30–45:00</a:t>
            </a:r>
          </a:p>
        </p:txBody>
      </p:sp>
      <p:sp>
        <p:nvSpPr>
          <p:cNvPr id="22" name="p13-phase-0">
            <a:extLst xmlns:a="http://schemas.openxmlformats.org/drawingml/2006/main">
              <a:ext uri="{FF2B5EF4-FFF2-40B4-BE49-F238E27FC236}">
                <a16:creationId xmlns:a16="http://schemas.microsoft.com/office/drawing/2014/main" id="{428F0198-A322-4157-9C26-81EE61D4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陈述准备 + 分组确认</a:t>
            </a:r>
          </a:p>
        </p:txBody>
      </p:sp>
      <p:sp>
        <p:nvSpPr>
          <p:cNvPr id="23" name="p13-time-1">
            <a:extLst xmlns:a="http://schemas.openxmlformats.org/drawingml/2006/main">
              <a:ext uri="{FF2B5EF4-FFF2-40B4-BE49-F238E27FC236}">
                <a16:creationId xmlns:a16="http://schemas.microsoft.com/office/drawing/2014/main" id="{82E817EC-7C65-499E-A7A1-47DB0B86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575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45:00–70:00</a:t>
            </a:r>
          </a:p>
        </p:txBody>
      </p:sp>
      <p:sp>
        <p:nvSpPr>
          <p:cNvPr id="24" name="p13-phase-1">
            <a:extLst xmlns:a="http://schemas.openxmlformats.org/drawingml/2006/main">
              <a:ext uri="{FF2B5EF4-FFF2-40B4-BE49-F238E27FC236}">
                <a16:creationId xmlns:a16="http://schemas.microsoft.com/office/drawing/2014/main" id="{0F8F35A2-D640-4831-A432-24384B3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575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同伴互查</a:t>
            </a:r>
          </a:p>
        </p:txBody>
      </p:sp>
      <p:sp>
        <p:nvSpPr>
          <p:cNvPr id="25" name="p13-time-2">
            <a:extLst xmlns:a="http://schemas.openxmlformats.org/drawingml/2006/main">
              <a:ext uri="{FF2B5EF4-FFF2-40B4-BE49-F238E27FC236}">
                <a16:creationId xmlns:a16="http://schemas.microsoft.com/office/drawing/2014/main" id="{7DAD0982-A812-44DB-BB0B-F8024563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719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70:00–85:00</a:t>
            </a:r>
          </a:p>
        </p:txBody>
      </p:sp>
      <p:sp>
        <p:nvSpPr>
          <p:cNvPr id="26" name="p13-phase-2">
            <a:extLst xmlns:a="http://schemas.openxmlformats.org/drawingml/2006/main">
              <a:ext uri="{FF2B5EF4-FFF2-40B4-BE49-F238E27FC236}">
                <a16:creationId xmlns:a16="http://schemas.microsoft.com/office/drawing/2014/main" id="{A00A952A-1F4D-47FB-B6D1-963480A7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7719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采纳决策 + 预检</a:t>
            </a:r>
          </a:p>
        </p:txBody>
      </p:sp>
      <p:sp>
        <p:nvSpPr>
          <p:cNvPr id="27" name="p13-fallback">
            <a:extLst xmlns:a="http://schemas.openxmlformats.org/drawingml/2006/main">
              <a:ext uri="{FF2B5EF4-FFF2-40B4-BE49-F238E27FC236}">
                <a16:creationId xmlns:a16="http://schemas.microsoft.com/office/drawing/2014/main" id="{1543A59F-E4DD-47D3-B464-C2F9E4D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62500"/>
            <a:ext cx="3600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无网络：用 Markdown 或纸面完成同一链路；不逐台排障。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sn0">
            <a:extLst xmlns:a="http://schemas.openxmlformats.org/drawingml/2006/main">
              <a:ext uri="{FF2B5EF4-FFF2-40B4-BE49-F238E27FC236}">
                <a16:creationId xmlns:a16="http://schemas.microsoft.com/office/drawing/2014/main" id="{2681709B-F29B-4AD5-B72D-DB5FDE84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4-sh0">
            <a:extLst xmlns:a="http://schemas.openxmlformats.org/drawingml/2006/main">
              <a:ext uri="{FF2B5EF4-FFF2-40B4-BE49-F238E27FC236}">
                <a16:creationId xmlns:a16="http://schemas.microsoft.com/office/drawing/2014/main" id="{16758BF6-DA9A-4302-9363-F24D3FC9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方案陈述</a:t>
            </a:r>
          </a:p>
        </p:txBody>
      </p:sp>
      <p:sp>
        <p:nvSpPr>
          <p:cNvPr id="8" name="p14-sd0">
            <a:extLst xmlns:a="http://schemas.openxmlformats.org/drawingml/2006/main">
              <a:ext uri="{FF2B5EF4-FFF2-40B4-BE49-F238E27FC236}">
                <a16:creationId xmlns:a16="http://schemas.microsoft.com/office/drawing/2014/main" id="{190CB97D-28D9-4DBB-85FA-4CE99DAE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用最小结构暴露问题、证据、机制与实验</a:t>
            </a:r>
          </a:p>
        </p:txBody>
      </p:sp>
      <p:sp>
        <p:nvSpPr>
          <p:cNvPr id="9" name="p14-sn1">
            <a:extLst xmlns:a="http://schemas.openxmlformats.org/drawingml/2006/main">
              <a:ext uri="{FF2B5EF4-FFF2-40B4-BE49-F238E27FC236}">
                <a16:creationId xmlns:a16="http://schemas.microsoft.com/office/drawing/2014/main" id="{2DA24031-F266-456F-B9E3-601B303E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4-sh1">
            <a:extLst xmlns:a="http://schemas.openxmlformats.org/drawingml/2006/main">
              <a:ext uri="{FF2B5EF4-FFF2-40B4-BE49-F238E27FC236}">
                <a16:creationId xmlns:a16="http://schemas.microsoft.com/office/drawing/2014/main" id="{8391D1D9-352B-4B92-93FB-2DE8F4E4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同伴质询</a:t>
            </a:r>
          </a:p>
        </p:txBody>
      </p:sp>
      <p:sp>
        <p:nvSpPr>
          <p:cNvPr id="11" name="p14-sd1">
            <a:extLst xmlns:a="http://schemas.openxmlformats.org/drawingml/2006/main">
              <a:ext uri="{FF2B5EF4-FFF2-40B4-BE49-F238E27FC236}">
                <a16:creationId xmlns:a16="http://schemas.microsoft.com/office/drawing/2014/main" id="{3A2FC06E-4290-4A60-9CCF-38338FE8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按诊断维度提出问题，不替作者决定</a:t>
            </a:r>
          </a:p>
        </p:txBody>
      </p:sp>
      <p:sp>
        <p:nvSpPr>
          <p:cNvPr id="12" name="p14-sn2">
            <a:extLst xmlns:a="http://schemas.openxmlformats.org/drawingml/2006/main">
              <a:ext uri="{FF2B5EF4-FFF2-40B4-BE49-F238E27FC236}">
                <a16:creationId xmlns:a16="http://schemas.microsoft.com/office/drawing/2014/main" id="{AED42F2C-6D7F-4D8A-BFC3-67642102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4-sh2">
            <a:extLst xmlns:a="http://schemas.openxmlformats.org/drawingml/2006/main">
              <a:ext uri="{FF2B5EF4-FFF2-40B4-BE49-F238E27FC236}">
                <a16:creationId xmlns:a16="http://schemas.microsoft.com/office/drawing/2014/main" id="{133D3E4F-8303-463C-AA16-C23D6C4F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作者决策</a:t>
            </a:r>
          </a:p>
        </p:txBody>
      </p:sp>
      <p:sp>
        <p:nvSpPr>
          <p:cNvPr id="14" name="p14-sd2">
            <a:extLst xmlns:a="http://schemas.openxmlformats.org/drawingml/2006/main">
              <a:ext uri="{FF2B5EF4-FFF2-40B4-BE49-F238E27FC236}">
                <a16:creationId xmlns:a16="http://schemas.microsoft.com/office/drawing/2014/main" id="{A9E2CDE9-6917-412D-95C9-C172983A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逐条记录采纳、拒绝或暂缓及理由</a:t>
            </a:r>
          </a:p>
        </p:txBody>
      </p:sp>
      <p:sp>
        <p:nvSpPr>
          <p:cNvPr id="15" name="p14-sn3">
            <a:extLst xmlns:a="http://schemas.openxmlformats.org/drawingml/2006/main">
              <a:ext uri="{FF2B5EF4-FFF2-40B4-BE49-F238E27FC236}">
                <a16:creationId xmlns:a16="http://schemas.microsoft.com/office/drawing/2014/main" id="{F2387FE9-CBBE-4236-8DCC-71F0F63F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14-sh3">
            <a:extLst xmlns:a="http://schemas.openxmlformats.org/drawingml/2006/main">
              <a:ext uri="{FF2B5EF4-FFF2-40B4-BE49-F238E27FC236}">
                <a16:creationId xmlns:a16="http://schemas.microsoft.com/office/drawing/2014/main" id="{E76B528D-5F85-4357-BC29-7E8BD297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下一步行动</a:t>
            </a:r>
          </a:p>
        </p:txBody>
      </p:sp>
      <p:sp>
        <p:nvSpPr>
          <p:cNvPr id="17" name="p14-sd3">
            <a:extLst xmlns:a="http://schemas.openxmlformats.org/drawingml/2006/main">
              <a:ext uri="{FF2B5EF4-FFF2-40B4-BE49-F238E27FC236}">
                <a16:creationId xmlns:a16="http://schemas.microsoft.com/office/drawing/2014/main" id="{6A759539-53DE-4120-AE8C-F233B557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把反馈落到判断门工件与实验计划</a:t>
            </a:r>
          </a:p>
        </p:txBody>
      </p:sp>
      <p:sp>
        <p:nvSpPr>
          <p:cNvPr id="18" name="p14-boundary">
            <a:extLst xmlns:a="http://schemas.openxmlformats.org/drawingml/2006/main">
              <a:ext uri="{FF2B5EF4-FFF2-40B4-BE49-F238E27FC236}">
                <a16:creationId xmlns:a16="http://schemas.microsoft.com/office/drawing/2014/main" id="{72EBB7E1-7A7D-4BEF-9476-4E229368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942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关键边界：反馈是诊断输入；是否采纳以及如何修改，必须由作者记录并承担。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退出卡：把今天的反馈变成第 9 课的最小行动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4-left-title">
            <a:extLst xmlns:a="http://schemas.openxmlformats.org/drawingml/2006/main">
              <a:ext uri="{FF2B5EF4-FFF2-40B4-BE49-F238E27FC236}">
                <a16:creationId xmlns:a16="http://schemas.microsoft.com/office/drawing/2014/main" id="{37F9695F-6F51-4D8C-9786-14DC2DE0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4-n-0">
            <a:extLst xmlns:a="http://schemas.openxmlformats.org/drawingml/2006/main">
              <a:ext uri="{FF2B5EF4-FFF2-40B4-BE49-F238E27FC236}">
                <a16:creationId xmlns:a16="http://schemas.microsoft.com/office/drawing/2014/main" id="{A0F6580B-C8F7-417B-B83E-021A4C9C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4-q-0">
            <a:extLst xmlns:a="http://schemas.openxmlformats.org/drawingml/2006/main">
              <a:ext uri="{FF2B5EF4-FFF2-40B4-BE49-F238E27FC236}">
                <a16:creationId xmlns:a16="http://schemas.microsoft.com/office/drawing/2014/main" id="{2151F102-E9E3-427A-993F-B7DAEFCF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811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四维诊断中，哪一维最薄弱？边界是否清楚？</a:t>
            </a:r>
          </a:p>
        </p:txBody>
      </p:sp>
      <p:sp>
        <p:nvSpPr>
          <p:cNvPr id="9" name="p14-n-1">
            <a:extLst xmlns:a="http://schemas.openxmlformats.org/drawingml/2006/main">
              <a:ext uri="{FF2B5EF4-FFF2-40B4-BE49-F238E27FC236}">
                <a16:creationId xmlns:a16="http://schemas.microsoft.com/office/drawing/2014/main" id="{877210D7-973D-404E-BE54-11E0F6CB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4-q-1">
            <a:extLst xmlns:a="http://schemas.openxmlformats.org/drawingml/2006/main">
              <a:ext uri="{FF2B5EF4-FFF2-40B4-BE49-F238E27FC236}">
                <a16:creationId xmlns:a16="http://schemas.microsoft.com/office/drawing/2014/main" id="{BE79FBD3-BBA7-46F3-B7F0-29F31C93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收到的哪条反馈最可执行？</a:t>
            </a:r>
          </a:p>
        </p:txBody>
      </p:sp>
      <p:sp>
        <p:nvSpPr>
          <p:cNvPr id="11" name="p14-n-2">
            <a:extLst xmlns:a="http://schemas.openxmlformats.org/drawingml/2006/main">
              <a:ext uri="{FF2B5EF4-FFF2-40B4-BE49-F238E27FC236}">
                <a16:creationId xmlns:a16="http://schemas.microsoft.com/office/drawing/2014/main" id="{8D0654CD-FC66-47FA-A324-038FF475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4-q-2">
            <a:extLst xmlns:a="http://schemas.openxmlformats.org/drawingml/2006/main">
              <a:ext uri="{FF2B5EF4-FFF2-40B4-BE49-F238E27FC236}">
                <a16:creationId xmlns:a16="http://schemas.microsoft.com/office/drawing/2014/main" id="{97DCB07A-29C2-468D-9F65-9249F992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你采纳 / 拒绝 / 暂缓了什么？理由指向哪里？</a:t>
            </a:r>
          </a:p>
        </p:txBody>
      </p:sp>
      <p:sp>
        <p:nvSpPr>
          <p:cNvPr id="13" name="p14-n-3">
            <a:extLst xmlns:a="http://schemas.openxmlformats.org/drawingml/2006/main">
              <a:ext uri="{FF2B5EF4-FFF2-40B4-BE49-F238E27FC236}">
                <a16:creationId xmlns:a16="http://schemas.microsoft.com/office/drawing/2014/main" id="{A4F9390E-E4D3-46F4-B1D7-42439F42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4-q-3">
            <a:extLst xmlns:a="http://schemas.openxmlformats.org/drawingml/2006/main">
              <a:ext uri="{FF2B5EF4-FFF2-40B4-BE49-F238E27FC236}">
                <a16:creationId xmlns:a16="http://schemas.microsoft.com/office/drawing/2014/main" id="{661300E8-D192-4FEE-A08A-983D11F4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判断门前要补的最小集合是什么？</a:t>
            </a:r>
          </a:p>
        </p:txBody>
      </p:sp>
      <p:sp>
        <p:nvSpPr>
          <p:cNvPr id="15" name="p14-divider">
            <a:extLst xmlns:a="http://schemas.openxmlformats.org/drawingml/2006/main">
              <a:ext uri="{FF2B5EF4-FFF2-40B4-BE49-F238E27FC236}">
                <a16:creationId xmlns:a16="http://schemas.microsoft.com/office/drawing/2014/main" id="{66216F34-AC9C-4D4F-AB1A-59E21E5E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72000" y="2938463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4-right-title">
            <a:extLst xmlns:a="http://schemas.openxmlformats.org/drawingml/2006/main">
              <a:ext uri="{FF2B5EF4-FFF2-40B4-BE49-F238E27FC236}">
                <a16:creationId xmlns:a16="http://schemas.microsoft.com/office/drawing/2014/main" id="{72F9338C-0F70-4001-B59E-C17A5A2D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9715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课行动</a:t>
            </a:r>
          </a:p>
        </p:txBody>
      </p:sp>
      <p:sp>
        <p:nvSpPr>
          <p:cNvPr id="17" name="p14-next-label-0">
            <a:extLst xmlns:a="http://schemas.openxmlformats.org/drawingml/2006/main">
              <a:ext uri="{FF2B5EF4-FFF2-40B4-BE49-F238E27FC236}">
                <a16:creationId xmlns:a16="http://schemas.microsoft.com/office/drawing/2014/main" id="{08532895-9B83-416C-B1DC-D7AF0787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621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 baseline</a:t>
            </a:r>
          </a:p>
        </p:txBody>
      </p:sp>
      <p:sp>
        <p:nvSpPr>
          <p:cNvPr id="18" name="p14-next-detail-0">
            <a:extLst xmlns:a="http://schemas.openxmlformats.org/drawingml/2006/main">
              <a:ext uri="{FF2B5EF4-FFF2-40B4-BE49-F238E27FC236}">
                <a16:creationId xmlns:a16="http://schemas.microsoft.com/office/drawing/2014/main" id="{2272AE47-B915-4F42-9D6C-89D5E006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621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建立可执行基线</a:t>
            </a:r>
          </a:p>
        </p:txBody>
      </p:sp>
      <p:sp>
        <p:nvSpPr>
          <p:cNvPr id="19" name="p14-next-label-1">
            <a:extLst xmlns:a="http://schemas.openxmlformats.org/drawingml/2006/main">
              <a:ext uri="{FF2B5EF4-FFF2-40B4-BE49-F238E27FC236}">
                <a16:creationId xmlns:a16="http://schemas.microsoft.com/office/drawing/2014/main" id="{A624A153-B576-4C0D-A8D2-F1FF3465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完善实验规格</a:t>
            </a:r>
          </a:p>
        </p:txBody>
      </p:sp>
      <p:sp>
        <p:nvSpPr>
          <p:cNvPr id="20" name="p14-next-detail-1">
            <a:extLst xmlns:a="http://schemas.openxmlformats.org/drawingml/2006/main">
              <a:ext uri="{FF2B5EF4-FFF2-40B4-BE49-F238E27FC236}">
                <a16:creationId xmlns:a16="http://schemas.microsoft.com/office/drawing/2014/main" id="{06725A8E-3338-40B3-866A-D5BFD4F4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假设·变量·度量·对照·停止</a:t>
            </a:r>
          </a:p>
        </p:txBody>
      </p:sp>
      <p:sp>
        <p:nvSpPr>
          <p:cNvPr id="21" name="p14-next-label-2">
            <a:extLst xmlns:a="http://schemas.openxmlformats.org/drawingml/2006/main">
              <a:ext uri="{FF2B5EF4-FFF2-40B4-BE49-F238E27FC236}">
                <a16:creationId xmlns:a16="http://schemas.microsoft.com/office/drawing/2014/main" id="{D75EF928-4432-4AF2-ABCC-E074B7F5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385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补复现说明</a:t>
            </a:r>
          </a:p>
        </p:txBody>
      </p:sp>
      <p:sp>
        <p:nvSpPr>
          <p:cNvPr id="22" name="p14-next-detail-2">
            <a:extLst xmlns:a="http://schemas.openxmlformats.org/drawingml/2006/main">
              <a:ext uri="{FF2B5EF4-FFF2-40B4-BE49-F238E27FC236}">
                <a16:creationId xmlns:a16="http://schemas.microsoft.com/office/drawing/2014/main" id="{57068F19-A9B7-4B25-8882-DF7286B4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385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环境·配置·随机种子</a:t>
            </a:r>
          </a:p>
        </p:txBody>
      </p:sp>
      <p:sp>
        <p:nvSpPr>
          <p:cNvPr id="23" name="p14-next-label-3">
            <a:extLst xmlns:a="http://schemas.openxmlformats.org/drawingml/2006/main">
              <a:ext uri="{FF2B5EF4-FFF2-40B4-BE49-F238E27FC236}">
                <a16:creationId xmlns:a16="http://schemas.microsoft.com/office/drawing/2014/main" id="{F67BDF66-C670-441A-81A4-97F3DBD0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767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提交判断门</a:t>
            </a:r>
          </a:p>
        </p:txBody>
      </p:sp>
      <p:sp>
        <p:nvSpPr>
          <p:cNvPr id="24" name="p14-next-detail-3">
            <a:extLst xmlns:a="http://schemas.openxmlformats.org/drawingml/2006/main">
              <a:ext uri="{FF2B5EF4-FFF2-40B4-BE49-F238E27FC236}">
                <a16:creationId xmlns:a16="http://schemas.microsoft.com/office/drawing/2014/main" id="{AB4E5961-5CF8-4662-AA69-FDC29617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证据与决策可追溯</a:t>
            </a:r>
          </a:p>
        </p:txBody>
      </p:sp>
      <p:sp>
        <p:nvSpPr>
          <p:cNvPr id="25" name="p14-bottom">
            <a:extLst xmlns:a="http://schemas.openxmlformats.org/drawingml/2006/main">
              <a:ext uri="{FF2B5EF4-FFF2-40B4-BE49-F238E27FC236}">
                <a16:creationId xmlns:a16="http://schemas.microsoft.com/office/drawing/2014/main" id="{25BE1D6B-2EED-4A42-9E40-64B4539C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本课不新增正式作业；今天的产出随第 9 课判断门统一检查。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2026-08-20T15:14:09.4500000Z</dcterms:created>
  <dcterms:modified xsi:type="dcterms:W3CDTF">2026-08-20T15:14:09.4500000Z</dcterms:modified>
</coreProperties>
</file>