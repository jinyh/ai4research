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2c3d514f14cca" /><Relationship Type="http://schemas.openxmlformats.org/officeDocument/2006/relationships/extended-properties" Target="/docProps/app.xml" Id="R97947f7e5a3e4aba" /><Relationship Type="http://schemas.openxmlformats.org/officeDocument/2006/relationships/officeDocument" Target="/ppt/presentation.xml" Id="Rdcc62dc62f23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3566cd5e542df"/>
  </p:sldMasterIdLst>
  <p:notesMasterIdLst>
    <p:notesMasterId xmlns:r="http://schemas.openxmlformats.org/officeDocument/2006/relationships" r:id="R9cf92a57e821417d"/>
  </p:notesMasterIdLst>
  <p:sldIdLst>
    <p:sldId xmlns:r="http://schemas.openxmlformats.org/officeDocument/2006/relationships" id="256" r:id="Rded756f138bb4efd"/>
    <p:sldId xmlns:r="http://schemas.openxmlformats.org/officeDocument/2006/relationships" id="257" r:id="Re67a8ee2b4e84683"/>
    <p:sldId xmlns:r="http://schemas.openxmlformats.org/officeDocument/2006/relationships" id="258" r:id="Rc8284ee455294038"/>
    <p:sldId xmlns:r="http://schemas.openxmlformats.org/officeDocument/2006/relationships" id="259" r:id="R10fcd6604d0e4d9f"/>
    <p:sldId xmlns:r="http://schemas.openxmlformats.org/officeDocument/2006/relationships" id="260" r:id="Racaa492a50b84de8"/>
    <p:sldId xmlns:r="http://schemas.openxmlformats.org/officeDocument/2006/relationships" id="261" r:id="R7db762c9085d4be2"/>
    <p:sldId xmlns:r="http://schemas.openxmlformats.org/officeDocument/2006/relationships" id="262" r:id="Rf1f54520c13e44dd"/>
    <p:sldId xmlns:r="http://schemas.openxmlformats.org/officeDocument/2006/relationships" id="263" r:id="Re44871c56ec64a26"/>
    <p:sldId xmlns:r="http://schemas.openxmlformats.org/officeDocument/2006/relationships" id="264" r:id="R4277d420941447ff"/>
    <p:sldId xmlns:r="http://schemas.openxmlformats.org/officeDocument/2006/relationships" id="265" r:id="Rd540743bf7484e86"/>
    <p:sldId xmlns:r="http://schemas.openxmlformats.org/officeDocument/2006/relationships" id="266" r:id="Rc1f74b485e714a5d"/>
    <p:sldId xmlns:r="http://schemas.openxmlformats.org/officeDocument/2006/relationships" id="267" r:id="Rb9cce60a900a4e78"/>
    <p:sldId xmlns:r="http://schemas.openxmlformats.org/officeDocument/2006/relationships" id="268" r:id="R2a84817469e44501"/>
    <p:sldId xmlns:r="http://schemas.openxmlformats.org/officeDocument/2006/relationships" id="269" r:id="R6e7d8dc496604dbb"/>
    <p:sldId xmlns:r="http://schemas.openxmlformats.org/officeDocument/2006/relationships" id="270" r:id="R922b55368927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3caeeb64f94a8f" /><Relationship Type="http://schemas.openxmlformats.org/officeDocument/2006/relationships/slideMaster" Target="/ppt/slideMasters/slideMaster1.xml" Id="Re673566cd5e542df" /><Relationship Type="http://schemas.openxmlformats.org/officeDocument/2006/relationships/notesMaster" Target="/ppt/notesMasters/notesMaster1.xml" Id="R9cf92a57e821417d" /><Relationship Type="http://schemas.openxmlformats.org/officeDocument/2006/relationships/presProps" Target="/ppt/presProps.xml" Id="Rb092219f37cc4e3e" /><Relationship Type="http://schemas.openxmlformats.org/officeDocument/2006/relationships/viewProps" Target="/ppt/viewProps.xml" Id="R2193a4d62b594b43" /><Relationship Type="http://schemas.openxmlformats.org/officeDocument/2006/relationships/tableStyles" Target="/ppt/tableStyles.xml" Id="R713adb5438e145ca" /><Relationship Type="http://schemas.openxmlformats.org/officeDocument/2006/relationships/slide" Target="/ppt/slides/slide1.xml" Id="Rded756f138bb4efd" /><Relationship Type="http://schemas.openxmlformats.org/officeDocument/2006/relationships/slide" Target="/ppt/slides/slide2.xml" Id="Re67a8ee2b4e84683" /><Relationship Type="http://schemas.openxmlformats.org/officeDocument/2006/relationships/slide" Target="/ppt/slides/slide3.xml" Id="Rc8284ee455294038" /><Relationship Type="http://schemas.openxmlformats.org/officeDocument/2006/relationships/slide" Target="/ppt/slides/slide4.xml" Id="R10fcd6604d0e4d9f" /><Relationship Type="http://schemas.openxmlformats.org/officeDocument/2006/relationships/slide" Target="/ppt/slides/slide5.xml" Id="Racaa492a50b84de8" /><Relationship Type="http://schemas.openxmlformats.org/officeDocument/2006/relationships/slide" Target="/ppt/slides/slide6.xml" Id="R7db762c9085d4be2" /><Relationship Type="http://schemas.openxmlformats.org/officeDocument/2006/relationships/slide" Target="/ppt/slides/slide7.xml" Id="Rf1f54520c13e44dd" /><Relationship Type="http://schemas.openxmlformats.org/officeDocument/2006/relationships/slide" Target="/ppt/slides/slide8.xml" Id="Re44871c56ec64a26" /><Relationship Type="http://schemas.openxmlformats.org/officeDocument/2006/relationships/slide" Target="/ppt/slides/slide9.xml" Id="R4277d420941447ff" /><Relationship Type="http://schemas.openxmlformats.org/officeDocument/2006/relationships/slide" Target="/ppt/slides/slide10.xml" Id="Rd540743bf7484e86" /><Relationship Type="http://schemas.openxmlformats.org/officeDocument/2006/relationships/slide" Target="/ppt/slides/slide11.xml" Id="Rc1f74b485e714a5d" /><Relationship Type="http://schemas.openxmlformats.org/officeDocument/2006/relationships/slide" Target="/ppt/slides/slide12.xml" Id="Rb9cce60a900a4e78" /><Relationship Type="http://schemas.openxmlformats.org/officeDocument/2006/relationships/slide" Target="/ppt/slides/slide13.xml" Id="R2a84817469e44501" /><Relationship Type="http://schemas.openxmlformats.org/officeDocument/2006/relationships/slide" Target="/ppt/slides/slide14.xml" Id="R6e7d8dc496604dbb" /><Relationship Type="http://schemas.openxmlformats.org/officeDocument/2006/relationships/slide" Target="/ppt/slides/slide15.xml" Id="R922b55368927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bf1fc6717d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367c5a2224e22" /><Relationship Type="http://schemas.openxmlformats.org/officeDocument/2006/relationships/notesMaster" Target="/ppt/notesMasters/notesMaster1.xml" Id="R353ee77510d5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f09abc2ae4f4c" /><Relationship Type="http://schemas.openxmlformats.org/officeDocument/2006/relationships/notesMaster" Target="/ppt/notesMasters/notesMaster1.xml" Id="R63b85fbef052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81a5f12e744b7" /><Relationship Type="http://schemas.openxmlformats.org/officeDocument/2006/relationships/notesMaster" Target="/ppt/notesMasters/notesMaster1.xml" Id="R98680688a300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d230542d74899" /><Relationship Type="http://schemas.openxmlformats.org/officeDocument/2006/relationships/notesMaster" Target="/ppt/notesMasters/notesMaster1.xml" Id="R19f4e662af48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d102007274b97" /><Relationship Type="http://schemas.openxmlformats.org/officeDocument/2006/relationships/notesMaster" Target="/ppt/notesMasters/notesMaster1.xml" Id="R9476152233504a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3d7c8f8224e0b" /><Relationship Type="http://schemas.openxmlformats.org/officeDocument/2006/relationships/notesMaster" Target="/ppt/notesMasters/notesMaster1.xml" Id="R91424d3ff33e41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98bbad0e9438b" /><Relationship Type="http://schemas.openxmlformats.org/officeDocument/2006/relationships/notesMaster" Target="/ppt/notesMasters/notesMaster1.xml" Id="Rff4b159bc9ef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8f3370dd674cd4" /><Relationship Type="http://schemas.openxmlformats.org/officeDocument/2006/relationships/notesMaster" Target="/ppt/notesMasters/notesMaster1.xml" Id="Rfa8119cc3478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c323aca05a4a4f" /><Relationship Type="http://schemas.openxmlformats.org/officeDocument/2006/relationships/notesMaster" Target="/ppt/notesMasters/notesMaster1.xml" Id="Rb94611fd802a4c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16a81e493b4130" /><Relationship Type="http://schemas.openxmlformats.org/officeDocument/2006/relationships/notesMaster" Target="/ppt/notesMasters/notesMaster1.xml" Id="Re88075dd9b0545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a5b1dd2fc44c46" /><Relationship Type="http://schemas.openxmlformats.org/officeDocument/2006/relationships/notesMaster" Target="/ppt/notesMasters/notesMaster1.xml" Id="Rf94e7170a23c42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288a31f10407d" /><Relationship Type="http://schemas.openxmlformats.org/officeDocument/2006/relationships/notesMaster" Target="/ppt/notesMasters/notesMaster1.xml" Id="R87db2444c14b43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3a307861e84498" /><Relationship Type="http://schemas.openxmlformats.org/officeDocument/2006/relationships/notesMaster" Target="/ppt/notesMasters/notesMaster1.xml" Id="Rc77444b7e1784a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f81c2c218b4854" /><Relationship Type="http://schemas.openxmlformats.org/officeDocument/2006/relationships/notesMaster" Target="/ppt/notesMasters/notesMaster1.xml" Id="Rda358b0b9a244d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90044dbd4c457d" /><Relationship Type="http://schemas.openxmlformats.org/officeDocument/2006/relationships/notesMaster" Target="/ppt/notesMasters/notesMaster1.xml" Id="Rd441dab33aaa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第8讲 学生研究方案分享与设计诊所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第8讲 学生研究方案分享与设计诊所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开场放下第 7 课的成果。第 7 课建立了机制假设、研究判断初版和实验规格草图，但都是内部工件。本课把这些工件暴露给同伴质询，让范围、证据、baseline、停止条件和替代假设区分性在反馈下显式化。本课是形成性活动，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课程定位以 [syllabus.md](../../course/syllabus.md) 与 [备课规划.md](../备课规划.md) 第 8 课段为准；[assignments.md](../../course/assignments.md) "第 8 课：研究方案分享与设计诊所"段明确不正式提交。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7 课之后，内部工件还没有经受外部质询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第 7 课已建立：</a:t>
            </a:r>
          </a:p>
          <a:p xmlns:a="http://schemas.openxmlformats.org/drawingml/2006/main">
            <a:r>
              <a:t>- 机制假设列表（含淘汰理由）</a:t>
            </a:r>
          </a:p>
          <a:p xmlns:a="http://schemas.openxmlformats.org/drawingml/2006/main">
            <a:r>
              <a:t>- 研究判断记录初版</a:t>
            </a:r>
          </a:p>
          <a:p xmlns:a="http://schemas.openxmlformats.org/drawingml/2006/main">
            <a:r>
              <a:t>- 实验规格草图（变量、baseline、停止条件、失败预案）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仍未做：</a:t>
            </a:r>
          </a:p>
          <a:p xmlns:a="http://schemas.openxmlformats.org/drawingml/2006/main">
            <a:r>
              <a:t>- 让方案经受外部质询</a:t>
            </a:r>
          </a:p>
          <a:p xmlns:a="http://schemas.openxmlformats.org/drawingml/2006/main">
            <a:r>
              <a:t>- 把反馈转为可追溯的采纳决策</a:t>
            </a:r>
          </a:p>
          <a:p xmlns:a="http://schemas.openxmlformats.org/drawingml/2006/main">
            <a:r>
              <a:t>- 对照第 9 课判断门条件预检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内部工件成立 ≠ 经外部质询仍成立。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回扣第 7 课：机制假设和实验规格草图都是自己写的，自己看着成立。本课让同伴按 rubric 检查问题重要性、证据充分性、可检验性和课程周期可行性，把反馈转为采纳决策。范围、非例和适用边界仍在陈述与决策中横切检查。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7 课的实验规格草图中，baseline 的控制变量清单列全了吗？只听回答，不评价。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本课板书、诊断与串词：</a:t>
            </a:r>
          </a:p>
          <a:p xmlns:a="http://schemas.openxmlformats.org/drawingml/2006/main">
            <a:r>
              <a:t>本节替换同类口头提示，不增加既有时段。开场诊断嵌入现有开场/回顾，后续再沿原实践时段操作。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**板书主线**：定位 → 问题 → 影响 → 动作 → 作者决定。</a:t>
            </a:r>
          </a:p>
          <a:p xmlns:a="http://schemas.openxmlformats.org/drawingml/2006/main">
            <a:r>
              <a:t>- **诊断问题**：“再严谨一点”具体改变什么？</a:t>
            </a:r>
          </a:p>
          <a:p xmlns:a="http://schemas.openxmlformats.org/drawingml/2006/main">
            <a:r>
              <a:t>- **预期回答**：需指出位置和缺口，如评分者可见组别，再给修订动作。</a:t>
            </a:r>
          </a:p>
          <a:p xmlns:a="http://schemas.openxmlformats.org/drawingml/2006/main">
            <a:r>
              <a:t>- **常见误答后的追问**：若反馈不可执行，追问作者将修改哪个字段。</a:t>
            </a:r>
          </a:p>
          <a:p xmlns:a="http://schemas.openxmlformats.org/drawingml/2006/main">
            <a:r>
              <a:t>- **过渡串词**：“反馈落到文件后，第9课再补完整规格与公平baseline。”</a:t>
            </a:r>
          </a:p>
          <a:p xmlns:a="http://schemas.openxmlformats.org/drawingml/2006/main">
            <a:r>
              <a:t>- **当堂最小产出**：一条实际反馈、作者处理理由和一处修改。</a:t>
            </a:r>
          </a:p>
          <a:p xmlns:a="http://schemas.openxmlformats.org/drawingml/2006/main">
            <a:r>
              <a:t>- **退出记录**：写“已完成的动作、本人项目仍缺的证据/工件、下次补齐位置”。使用教师包时标明课堂方法练习，不能据此宣称本人研究门通过；正式提交课次仍为第 6、9、13、16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回扣第 7 课讲义与 [assignments.md](../../course/assignments.md) 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本课跑通陈述—反馈—决策—预检链路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完成本课后，你能：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用限时五段结构表达研究方案；</a:t>
            </a:r>
          </a:p>
          <a:p xmlns:a="http://schemas.openxmlformats.org/drawingml/2006/main">
            <a:r>
              <a:t>2. 用“四个诊断维度 + 一个行动性检查”和三问格式给出结构化反馈；</a:t>
            </a:r>
          </a:p>
          <a:p xmlns:a="http://schemas.openxmlformats.org/drawingml/2006/main">
            <a:r>
              <a:t>3. 区分设计诊所与评分打分；</a:t>
            </a:r>
          </a:p>
          <a:p xmlns:a="http://schemas.openxmlformats.org/drawingml/2006/main">
            <a:r>
              <a:t>4. 根据真实反馈选择采纳、澄清、补证、暂缓或保留异议；</a:t>
            </a:r>
          </a:p>
          <a:p xmlns:a="http://schemas.openxmlformats.org/drawingml/2006/main">
            <a:r>
              <a:t>5. 对照第 9 课判断门条件预检；</a:t>
            </a:r>
          </a:p>
          <a:p xmlns:a="http://schemas.openxmlformats.org/drawingml/2006/main">
            <a:r>
              <a:t>6. 说明 AI 只作反馈线索，不作决策。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课堂最低产出：每人陈述一次、获得至少两条同伴反馈、处理至少两条反馈，并完成一处现场修订。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本课不正式提交，产出是第 9 课判断门直接输入。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明确边界：本课建立可复盘的"陈述—反馈—决策—预检"链路，不是完成研究提案。采纳决策当场写，不课后补。本课产出在第 9 课判断门作为"第 8 课同伴反馈处理记录"和"至少 2 条研究判断"两项材料被检查。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[备课规划.md](../备课规划.md) 第 8 课目标段；[assignments.md](../../course/assignments.md) "第 8 课"段与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限时陈述要暴露一个可被质询的最小方案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分享段落 | 要说清什么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研究问题 | 范围、非例、可证伪命题 |</a:t>
            </a:r>
          </a:p>
          <a:p xmlns:a="http://schemas.openxmlformats.org/drawingml/2006/main">
            <a:r>
              <a:t>| 关键证据 | 直接测量了什么，边界在哪里 |</a:t>
            </a:r>
          </a:p>
          <a:p xmlns:a="http://schemas.openxmlformats.org/drawingml/2006/main">
            <a:r>
              <a:t>| 机制假设 | H1 生成保留与 A2 评分提示 |</a:t>
            </a:r>
          </a:p>
          <a:p xmlns:a="http://schemas.openxmlformats.org/drawingml/2006/main">
            <a:r>
              <a:t>| 最小验证 | 什么观察能区分两种解释 |</a:t>
            </a:r>
          </a:p>
          <a:p xmlns:a="http://schemas.openxmlformats.org/drawingml/2006/main">
            <a:r>
              <a:t>| 最大风险 | 当前最可能卡住判断的一项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阅读卡案例：质量代价与材料范围另查。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用贯穿案例展示从第 7 课输出到陈述稿的压缩。第 3 段含中间过程（生成时显式列出限定条件 → 输出保留更多条件），不是"会降低"。第 5 段风险具体指向 A2（标注假象），不是泛泛的"可能失败"。常见错误：第 1 段写成主题词复述，第 3 段写成结果预测——这两类让同伴无法检查边界和可检验性。完整贯穿案例五段在 P10 教师演示展开。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让学生用自己的方案填第 1 段和第 3 段各一句；再对照指出第 5 段最大风险应该写什么。只听一个例子，不展开评价。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§二 3 分钟陈述结构、§七 贯穿案例；Booth et al. *The Craft of Research* 5th ed. 5.5 与 10.2（[reading-list.md](../../course/reading-list.md) 第 8 课）；Peyton Jones "Writing a Great Research Proposal"（教学讲义，不作学术证据）。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同伴先做四维诊断，再检查实验能否改变判断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维度 | 检查问题 | 对应判断门条件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问题重要性 | 会改变什么判断或行动？ | 问题门说明 |</a:t>
            </a:r>
          </a:p>
          <a:p xmlns:a="http://schemas.openxmlformats.org/drawingml/2006/main">
            <a:r>
              <a:t>| 证据充分性 | 可核验？强度、冲突、缺口清楚？ | 2 条判断含依据 |</a:t>
            </a:r>
          </a:p>
          <a:p xmlns:a="http://schemas.openxmlformats.org/drawingml/2006/main">
            <a:r>
              <a:t>| 可检验性 | 能推翻？主／替代可区分？ | 规格含假设对应 |</a:t>
            </a:r>
          </a:p>
          <a:p xmlns:a="http://schemas.openxmlformats.org/drawingml/2006/main">
            <a:r>
              <a:t>| 课程周期可行性 | baseline 公平？周期内能完成？ | 可执行 baseline／原型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行动性检查：下一步实验能否改变研究判断？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rubric 是诊断工具，不是评分表。边界横切检查，不替代问题重要性。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rubric 先检查问题重要性、证据充分性、可检验性和课程周期可行性四个诊断维度，再检查下一步实验是否能改变研究判断。同伴不给分数、不排名，只指出"看到了什么"和"缺了什么"。适用范围和非例仍在陈述与采纳决策中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学生做 90 秒前置短写入：写下自己方案当前最弱的一个 rubric 维度，并用一句话说明理由。保存到分享页备忘或纸面上，后面与同伴反馈对照。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§三·1 与 §六·1；[assignments.md](../../course/assignments.md)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三问把分散意见压缩成可行动反馈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每位同伴对每位陈述者只用三问：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**一项最强处**：方案在四维度上当前最扎实的一点（重要性不等于题目有趣）</a:t>
            </a:r>
          </a:p>
          <a:p xmlns:a="http://schemas.openxmlformats.org/drawingml/2006/main">
            <a:r>
              <a:t>2. **一项最大风险**：方案在四维度上当前最可能不通过判断门的一点</a:t>
            </a:r>
          </a:p>
          <a:p xmlns:a="http://schemas.openxmlformats.org/drawingml/2006/main">
            <a:r>
              <a:t>3. **一条可执行建议**：针对最大风险，下周能做的最小改进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最强处和最大风险必须落在 rubric 四维度上，不能落在"题目时髦度"或"陈述流畅度"；建议要说明下一步实验如何改变研究判断。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三问强制防止反馈发散成"我觉得都挺好的"。最强处和最大风险必须落到问题重要性、证据充分性、可检验性或课程周期可行性上。"建议"必须针对"最大风险"，并能说明它如何可能改变研究判断。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让学生写一条"最大风险"，提示必须指向 rubric 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§三·2。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设计诊所诊断方案，不评价人、不替作者决定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反馈者责任：</a:t>
            </a:r>
          </a:p>
          <a:p xmlns:a="http://schemas.openxmlformats.org/drawingml/2006/main">
            <a:r>
              <a:t>- 指向方案，不指向人</a:t>
            </a:r>
          </a:p>
          <a:p xmlns:a="http://schemas.openxmlformats.org/drawingml/2006/main">
            <a:r>
              <a:t>- 引用陈述中具体内容，不用泛化判断</a:t>
            </a:r>
          </a:p>
          <a:p xmlns:a="http://schemas.openxmlformats.org/drawingml/2006/main">
            <a:r>
              <a:t>- 区分"我看到的缺陷"和"我会怎么改"</a:t>
            </a:r>
          </a:p>
          <a:p xmlns:a="http://schemas.openxmlformats.org/drawingml/2006/main">
            <a:r>
              <a:t>- 不替作者决定采纳什么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设计诊所三纪律：</a:t>
            </a:r>
          </a:p>
          <a:p xmlns:a="http://schemas.openxmlformats.org/drawingml/2006/main">
            <a:r>
              <a:t>1. 诊断对象是方案，不是陈述者</a:t>
            </a:r>
          </a:p>
          <a:p xmlns:a="http://schemas.openxmlformats.org/drawingml/2006/main">
            <a:r>
              <a:t>2. 不作共同决策</a:t>
            </a:r>
          </a:p>
          <a:p xmlns:a="http://schemas.openxmlformats.org/drawingml/2006/main">
            <a:r>
              <a:t>3. 失败暴露优先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一次诊所轮次：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动作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限时陈述 | 陈述者按五段结构陈述，同伴只听不插话 |</a:t>
            </a:r>
          </a:p>
          <a:p xmlns:a="http://schemas.openxmlformats.org/drawingml/2006/main">
            <a:r>
              <a:t>| 限时反馈 | 每位同伴给出三问；陈述者只记录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"baseline 不公平"未指明具体条目，不算合格反馈。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反馈记录表字段：反馈来源 / 维度 / 最强处·最大风险·建议 / 处理动作 / 理由 / 回写位置。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反馈者不是评委，是合作诊断者。陈述者先完整记录，再按真实需要选择采纳、澄清、补证、暂缓或保留异议；每条都记理由与回写位置，不要求出现“拒绝”。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确认同伴组分组与轮次；让学生判断：如果同伴只说"听起来挺好"，缺了三问中的哪几问？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§三·3、§四·1、§四·2、§四·3。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每条反馈都要有真实处理动作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处理动作：采纳、澄清、补证、暂缓、保留异议。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示例回应：</a:t>
            </a:r>
          </a:p>
          <a:p xmlns:a="http://schemas.openxmlformats.org/drawingml/2006/main">
            <a:r>
              <a:t>补证：H1 与 A2 仍不能区分。</a:t>
            </a:r>
          </a:p>
          <a:p xmlns:a="http://schemas.openxmlformats.org/drawingml/2006/main">
            <a:r>
              <a:t>理由与依据：同伴指出评分者可见组别，见方案评价协议。</a:t>
            </a:r>
          </a:p>
          <a:p xmlns:a="http://schemas.openxmlformats.org/drawingml/2006/main">
            <a:r>
              <a:t>边界与状态：当前构造包；盲化效果待验证。</a:t>
            </a:r>
          </a:p>
          <a:p xmlns:a="http://schemas.openxmlformats.org/drawingml/2006/main">
            <a:r>
              <a:t>实际修改：第 9 课规格补入匿名顺序、统一规则与复核办法。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每条回应都写明影响工件与回写位置。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本课要求处理至少两条真实反馈，动作可相同，不强制覆盖类别。暂缓必须写明后续触发条件，保留异议必须写明证据或约束依据。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让学生用自己的反馈草写一行决策表；想：如果同伴说"baseline 不公平"但没指明，应该归入哪类？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§五·1、§五·2；第 1 课 §2.6 与第 7 课 §三·2 研究判断六字段。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AI 可以整理线索，但不能替你作研究判断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AI 可以：</a:t>
            </a:r>
          </a:p>
          <a:p xmlns:a="http://schemas.openxmlformats.org/drawingml/2006/main">
            <a:r>
              <a:t>- 把同伴口述反馈转写为结构化条目</a:t>
            </a:r>
          </a:p>
          <a:p xmlns:a="http://schemas.openxmlformats.org/drawingml/2006/main">
            <a:r>
              <a:t>- 提示反馈可能对应的 rubric 维度</a:t>
            </a:r>
          </a:p>
          <a:p xmlns:a="http://schemas.openxmlformats.org/drawingml/2006/main">
            <a:r>
              <a:t>- 草拟可能的处理理由或修改方向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不可以：</a:t>
            </a:r>
          </a:p>
          <a:p xmlns:a="http://schemas.openxmlformats.org/drawingml/2006/main">
            <a:r>
              <a:t>- 判断反馈是否成立</a:t>
            </a:r>
          </a:p>
          <a:p xmlns:a="http://schemas.openxmlformats.org/drawingml/2006/main">
            <a:r>
              <a:t>- 决定采纳、澄清、补证、暂缓或保留异议</a:t>
            </a:r>
          </a:p>
          <a:p xmlns:a="http://schemas.openxmlformats.org/drawingml/2006/main">
            <a:r>
              <a:t>- 写出取舍理由、适用边界和影响工件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未完成核验前，AI 草拟决策表只能保留在探索线索区。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AI 可以在反馈处理阶段辅助，但反馈是否成立、采纳什么、写出取舍理由，必须学生本人完成。AI 没有对方案证据、机制和约束的整体上下文。把 AI 草拟决策直接搬入研究判断主格，等于把研究判断外包给模型。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让学生说出一条 AI 可以做、一条 AI 不可以做的反馈处理动作。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§五·3；[AGENTS.md](../../AGENTS.md)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完整示范：同一问题的五段分享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§七、贯穿案例：从第 7 课输出到限时陈述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问题：阅读卡是否降低限定条件遗漏？</a:t>
            </a:r>
          </a:p>
          <a:p xmlns:a="http://schemas.openxmlformats.org/drawingml/2006/main">
            <a:r>
              <a:t>证据：逐条条件保留记录；当前没有真实效果结论。</a:t>
            </a:r>
          </a:p>
          <a:p xmlns:a="http://schemas.openxmlformats.org/drawingml/2006/main">
            <a:r>
              <a:t>解释：Q1 结果与 H1/A2 机制、测量解释分开。</a:t>
            </a:r>
          </a:p>
          <a:p xmlns:a="http://schemas.openxmlformats.org/drawingml/2006/main">
            <a:r>
              <a:t>方案：同一材料两种输出，统一标注口径。</a:t>
            </a:r>
          </a:p>
          <a:p xmlns:a="http://schemas.openxmlformats.org/drawingml/2006/main">
            <a:r>
              <a:t>风险：材料范围窄，其他质量代价尚未测量。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依讲义§七读一次完整短讲，不再跳到benchmark迁移案例。五段围绕同一个问题；本例为教学构造，不能说已经得到真实研究证据。学生听完只定位最影响判断的一处缺口。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标记一个会改变实验设计的问题。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好反馈要改变一个具体设计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讲义位置：handout.md §七、贯穿案例：从第 7 课输出到限时陈述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泛泛意见：“再严谨一点。”</a:t>
            </a:r>
          </a:p>
          <a:p xmlns:a="http://schemas.openxmlformats.org/drawingml/2006/main">
            <a:r>
              <a:t>可执行意见：“评分者能否看见组别？请补盲化办法。”</a:t>
            </a:r>
          </a:p>
          <a:p xmlns:a="http://schemas.openxmlformats.org/drawingml/2006/main">
            <a:r>
              <a:t>作者处理：“接受；在评价协议补入匿名顺序与统一规则。”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 → 理由 → 文件中的实际修改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演示从意见定位到实验草图修改；不强迫出现接受、拒绝每一种状态。主例继续用阅读卡。其他题目只用于学生自己的迁移。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两人交换一条意见，作者写处理理由及修改位置。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第 8 课只补两项判断门材料，其余缺口留到第 9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| 判断门条件 | 第 8 课预检 | 缺口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可执行 baseline | 部分 | 第 9 课跑通 |</a:t>
            </a:r>
          </a:p>
          <a:p xmlns:a="http://schemas.openxmlformats.org/drawingml/2006/main">
            <a:r>
              <a:t>| 数据/材料/指标/限制 | 部分 | 第 9 课补 |</a:t>
            </a:r>
          </a:p>
          <a:p xmlns:a="http://schemas.openxmlformats.org/drawingml/2006/main">
            <a:r>
              <a:t>| 环境/配置/随机种子 | 未覆盖 | 第 9 课 |</a:t>
            </a:r>
          </a:p>
          <a:p xmlns:a="http://schemas.openxmlformats.org/drawingml/2006/main">
            <a:r>
              <a:t>| 至少 2 条研究判断 | 本课决策表补入 | — |</a:t>
            </a:r>
          </a:p>
          <a:p xmlns:a="http://schemas.openxmlformats.org/drawingml/2006/main">
            <a:r>
              <a:t>| 实验规格完整 | 第 7 课草图 + 本课反馈 | 本课反馈补全 |</a:t>
            </a:r>
          </a:p>
          <a:p xmlns:a="http://schemas.openxmlformats.org/drawingml/2006/main">
            <a:r>
              <a:t>| 第 8 课同伴反馈处理记录 | 本课产出 | — |</a:t>
            </a:r>
          </a:p>
          <a:p xmlns:a="http://schemas.openxmlformats.org/drawingml/2006/main">
            <a:r>
              <a:t>| 最大风险和失败预案 | 本课陈述 + 反馈 | — |</a:t>
            </a:r>
          </a:p>
          <a:p xmlns:a="http://schemas.openxmlformats.org/drawingml/2006/main">
            <a:r>
              <a:t>| 一条已遇失败或放弃备选记录 | 可先登记 | 第 9 课补足处理理由 |</a:t>
            </a:r>
          </a:p>
          <a:p xmlns:a="http://schemas.openxmlformats.org/drawingml/2006/main">
            <a:r>
              <a:t>| 迁移到 project-template | 未覆盖 | 第 9 课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本课直接产出"第 8 课同伴反馈处理记录"和"至少 2 条研究判断"两项判断门材料。其余条件第 9 课内补齐。预检让学生看到第 9 课前还要补什么。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让学生用自己的方案标出当前已满足、部分满足和未覆盖项。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§六·1；[assignments.md](../../course/assignments.md) Checkpoint 2 判断门条件——权威来源。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实践：完成陈述、互查、决策与判断门预检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实践任务：</a:t>
            </a:r>
          </a:p>
          <a:p xmlns:a="http://schemas.openxmlformats.org/drawingml/2006/main">
            <a:r>
              <a:t>1. 补全限时陈述稿五段</a:t>
            </a:r>
          </a:p>
          <a:p xmlns:a="http://schemas.openxmlformats.org/drawingml/2006/main">
            <a:r>
              <a:t>2. 同伴互查：每人一次限时陈述与反馈</a:t>
            </a:r>
          </a:p>
          <a:p xmlns:a="http://schemas.openxmlformats.org/drawingml/2006/main">
            <a:r>
              <a:t>3. 根据真实反馈选择处理动作，处理至少 2 条</a:t>
            </a:r>
          </a:p>
          <a:p xmlns:a="http://schemas.openxmlformats.org/drawingml/2006/main">
            <a:r>
              <a:t>4. 现场修订 1 处，并记录理由与位置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互查分组与轮次表见投屏。</a:t>
            </a:r>
          </a:p>
          <a:p xmlns:a="http://schemas.openxmlformats.org/drawingml/2006/main">
            <a:r>
              <a:t>分组与轮次见教师口头指令；本页只保留学生动作。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教师内部执行：15 人分 5 个三人组，每人 3 分钟陈述 + 2 分钟合并反馈，基础轮次 15 分钟；40 分钟分组块足以完成轮次、追问、转换与补记。随后做全班诊断，再进入作者处理与现场修订。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学生补全陈述稿，进入互查。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§八 练习 1-6；[assignments.md](../../course/assignments.md) 第 8 课段。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方案陈述 → 同伴质询 → 作者决策 → 下一步行动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用最小结构暴露问题、证据、机制与实验；</a:t>
            </a:r>
          </a:p>
          <a:p xmlns:a="http://schemas.openxmlformats.org/drawingml/2006/main">
            <a:r>
              <a:t>- 同伴按诊断维度提问，不替作者决定；</a:t>
            </a:r>
          </a:p>
          <a:p xmlns:a="http://schemas.openxmlformats.org/drawingml/2006/main">
            <a:r>
              <a:t>- 作者逐条选择采纳、澄清、补证、暂缓或保留异议，并记理由与位置；</a:t>
            </a:r>
          </a:p>
          <a:p xmlns:a="http://schemas.openxmlformats.org/drawingml/2006/main">
            <a:r>
              <a:t>- 把反馈落到判断门工件和实验计划。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反馈是诊断输入；是否采纳以及如何修改，必须由作者记录并承担。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回收陈述、质询、决策和行动回写，不新增正式提交。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学生说出一条已决定采纳或暂缓的反馈。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§二-§五；[assignments.md](../../course/assignments.md) 形成性反馈边界。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退出卡：把今天的反馈变成第 9 课的最小行动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讲义位置：本课讲义；见逐页母稿映射表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屏显核对：</a:t>
            </a:r>
          </a:p>
          <a:p xmlns:a="http://schemas.openxmlformats.org/drawingml/2006/main">
            <a:r>
              <a:t>退出卡：</a:t>
            </a:r>
          </a:p>
          <a:p xmlns:a="http://schemas.openxmlformats.org/drawingml/2006/main">
            <a:r>
              <a:t>- 我的方案在 rubric 哪一维度最薄弱？边界限定是否仍清楚？</a:t>
            </a:r>
          </a:p>
          <a:p xmlns:a="http://schemas.openxmlformats.org/drawingml/2006/main">
            <a:r>
              <a:t>- 我收到的一条最可执行的反馈是什么？</a:t>
            </a:r>
          </a:p>
          <a:p xmlns:a="http://schemas.openxmlformats.org/drawingml/2006/main">
            <a:r>
              <a:t>- 我对这条反馈采取了什么处理动作？理由与回写位置是什么？</a:t>
            </a:r>
          </a:p>
          <a:p xmlns:a="http://schemas.openxmlformats.org/drawingml/2006/main">
            <a:r>
              <a:t>- 第 9 课判断门前我要补的最小集合是什么？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9 课预告：</a:t>
            </a:r>
          </a:p>
          <a:p xmlns:a="http://schemas.openxmlformats.org/drawingml/2006/main">
            <a:r>
              <a:t>- 运行 baseline，完善实验规格</a:t>
            </a:r>
          </a:p>
          <a:p xmlns:a="http://schemas.openxmlformats.org/drawingml/2006/main">
            <a:r>
              <a:t>- 完成复现说明与环境记录</a:t>
            </a:r>
          </a:p>
          <a:p xmlns:a="http://schemas.openxmlformats.org/drawingml/2006/main">
            <a:r>
              <a:t>- 把研究判断追溯到机制假设和证据地图</a:t>
            </a:r>
          </a:p>
          <a:p xmlns:a="http://schemas.openxmlformats.org/drawingml/2006/main">
            <a:r>
              <a:t>- 提交判断门材料包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本课不新增课后正式作业。产出在第 9 课随判断门统一检查。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教师讲述：</a:t>
            </a:r>
          </a:p>
          <a:p xmlns:a="http://schemas.openxmlformats.org/drawingml/2006/main">
            <a:r>
              <a:t>退出卡让学生把今天的反馈和第 9 课判断门的缺口对接。第 9 课预告强调判断门材料包的迁移路径：从轻量脚手架迁移到 project-template.md，且不丢失 AI 使用记录和伦理说明。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学生填写退出卡。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来源与边界：</a:t>
            </a:r>
          </a:p>
          <a:p xmlns:a="http://schemas.openxmlformats.org/drawingml/2006/main">
            <a:r>
              <a:t>讲义 §学习目标；[assignments.md](../../course/assignments.md) Checkpoint 2 与"第 8 课"段；第 9 课见 [备课规划.md](../备课规划.md) 第 9 课段。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本课 handout.md 与 slides.md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7fa507d704778" /><Relationship Type="http://schemas.openxmlformats.org/officeDocument/2006/relationships/image" Target="/ppt/media/image.png" Id="Rcaea2a40fbf54287" /><Relationship Type="http://schemas.openxmlformats.org/officeDocument/2006/relationships/image" Target="/ppt/media/image2.png" Id="R6bded9eb95f0484d" /><Relationship Type="http://schemas.openxmlformats.org/officeDocument/2006/relationships/image" Target="/ppt/media/image3.png" Id="Rd5a3779c95bb40d1" /><Relationship Type="http://schemas.openxmlformats.org/officeDocument/2006/relationships/image" Target="/ppt/media/image4.png" Id="R681082071d3744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ad2e7acb24f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56794985543db" /><Relationship Type="http://schemas.openxmlformats.org/officeDocument/2006/relationships/image" Target="/ppt/media/image2.png" Id="Raf11bbef3ccb4f55" /><Relationship Type="http://schemas.openxmlformats.org/officeDocument/2006/relationships/image" Target="/ppt/media/image5.png" Id="Rc925377a33be43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1c2482f86460d" /><Relationship Type="http://schemas.openxmlformats.org/officeDocument/2006/relationships/image" Target="/ppt/media/image.png" Id="Rc4f507fadee145d5" /><Relationship Type="http://schemas.openxmlformats.org/officeDocument/2006/relationships/image" Target="/ppt/media/image3.png" Id="Rdf5bbd9764014136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2a40fbf5428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ded9eb95f0484d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a3779c95bb40d1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82071d3744e3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11bbef3ccb4f55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5377a33be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507fadee145d5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5bbd9764014136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34d05fe1934ec6" /><Relationship Type="http://schemas.openxmlformats.org/officeDocument/2006/relationships/slideLayout" Target="/ppt/slideLayouts/slideLayout1.xml" Id="Rdcd9b10c6281407a" /><Relationship Type="http://schemas.openxmlformats.org/officeDocument/2006/relationships/slideLayout" Target="/ppt/slideLayouts/slideLayout2.xml" Id="R94da9d26acc64021" /><Relationship Type="http://schemas.openxmlformats.org/officeDocument/2006/relationships/slideLayout" Target="/ppt/slideLayouts/slideLayout3.xml" Id="R214830c801534232" /><Relationship Type="http://schemas.openxmlformats.org/officeDocument/2006/relationships/slideLayout" Target="/ppt/slideLayouts/slideLayout4.xml" Id="R7ef5d6b06df146b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9b10c6281407a"/>
    <p:sldLayoutId xmlns:r="http://schemas.openxmlformats.org/officeDocument/2006/relationships" id="2147483650" r:id="R94da9d26acc64021"/>
    <p:sldLayoutId xmlns:r="http://schemas.openxmlformats.org/officeDocument/2006/relationships" id="2147483651" r:id="R214830c801534232"/>
    <p:sldLayoutId xmlns:r="http://schemas.openxmlformats.org/officeDocument/2006/relationships" id="2147483652" r:id="R7ef5d6b06df146b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23187e3974e4b" /><Relationship Type="http://schemas.openxmlformats.org/officeDocument/2006/relationships/notesSlide" Target="/ppt/notesSlides/notesSlide1.xml" Id="Rb1dc37c170e6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c98a7dcd864f3c" /><Relationship Type="http://schemas.openxmlformats.org/officeDocument/2006/relationships/notesSlide" Target="/ppt/notesSlides/notesSlide2.xml" Id="Rf82370f534f540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a8f485bf504c41" /><Relationship Type="http://schemas.openxmlformats.org/officeDocument/2006/relationships/notesSlide" Target="/ppt/notesSlides/notesSlide3.xml" Id="Rfb50dc8c40c2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e8a4beb85b49d1" /><Relationship Type="http://schemas.openxmlformats.org/officeDocument/2006/relationships/notesSlide" Target="/ppt/notesSlides/notesSlide4.xml" Id="Rdeea1ecf7b0645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b6a6fdcad84455" /><Relationship Type="http://schemas.openxmlformats.org/officeDocument/2006/relationships/notesSlide" Target="/ppt/notesSlides/notesSlide5.xml" Id="R18a7c039dc9c46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889c721d9447ef" /><Relationship Type="http://schemas.openxmlformats.org/officeDocument/2006/relationships/notesSlide" Target="/ppt/notesSlides/notesSlide6.xml" Id="R73c131ce4d47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4e212ff85f452e" /><Relationship Type="http://schemas.openxmlformats.org/officeDocument/2006/relationships/notesSlide" Target="/ppt/notesSlides/notesSlide7.xml" Id="R8e65dcfb7b0348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71437309ad40f4" /><Relationship Type="http://schemas.openxmlformats.org/officeDocument/2006/relationships/notesSlide" Target="/ppt/notesSlides/notesSlide8.xml" Id="R1f8aae54598649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ea2fcbb2614f72" /><Relationship Type="http://schemas.openxmlformats.org/officeDocument/2006/relationships/notesSlide" Target="/ppt/notesSlides/notesSlide9.xml" Id="Ref1a9eeb5df245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057099430459c" /><Relationship Type="http://schemas.openxmlformats.org/officeDocument/2006/relationships/notesSlide" Target="/ppt/notesSlides/notesSlide10.xml" Id="Rf39d499ab8d749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e828544e1f4332" /><Relationship Type="http://schemas.openxmlformats.org/officeDocument/2006/relationships/notesSlide" Target="/ppt/notesSlides/notesSlide11.xml" Id="R6d60ae053b7a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3749dd80224dab" /><Relationship Type="http://schemas.openxmlformats.org/officeDocument/2006/relationships/notesSlide" Target="/ppt/notesSlides/notesSlide12.xml" Id="R835295906689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6db2572da4e59" /><Relationship Type="http://schemas.openxmlformats.org/officeDocument/2006/relationships/notesSlide" Target="/ppt/notesSlides/notesSlide13.xml" Id="Rd0fc3b00e74641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ea7d9bc8ab4595" /><Relationship Type="http://schemas.openxmlformats.org/officeDocument/2006/relationships/notesSlide" Target="/ppt/notesSlides/notesSlide14.xml" Id="R535ca9701e9a4d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1fdc73b3ad41b1" /><Relationship Type="http://schemas.openxmlformats.org/officeDocument/2006/relationships/notesSlide" Target="/ppt/notesSlides/notesSlide15.xml" Id="R7bb4f95909814f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D41E72-3208-4C72-AFAB-E349A672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第8讲  学生研究方案分享与设计诊所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7 课之后，内部工件还没有经受外部质询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A3E6A0CB-8715-407F-B0BF-C94E5F7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第 7 课已有</a:t>
            </a:r>
          </a:p>
        </p:txBody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DA74E1B-1BC5-4E5F-BD65-BE43391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仍需完成</a:t>
            </a:r>
          </a:p>
        </p:txBody>
      </p:sp>
      <p:sp>
        <p:nvSpPr>
          <p:cNvPr id="8" name="split-top">
            <a:extLst xmlns:a="http://schemas.openxmlformats.org/drawingml/2006/main">
              <a:ext uri="{FF2B5EF4-FFF2-40B4-BE49-F238E27FC236}">
                <a16:creationId xmlns:a16="http://schemas.microsoft.com/office/drawing/2014/main" id="{827DFFF8-4FDE-484E-BAED-ECF32CB4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left-lines-0">
            <a:extLst xmlns:a="http://schemas.openxmlformats.org/drawingml/2006/main">
              <a:ext uri="{FF2B5EF4-FFF2-40B4-BE49-F238E27FC236}">
                <a16:creationId xmlns:a16="http://schemas.microsoft.com/office/drawing/2014/main" id="{5AEDFC95-D5FE-41D5-8428-58EEB2BD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机制假设列表</a:t>
            </a:r>
          </a:p>
        </p:txBody>
      </p:sp>
      <p:sp>
        <p:nvSpPr>
          <p:cNvPr id="10" name="left-lines-1">
            <a:extLst xmlns:a="http://schemas.openxmlformats.org/drawingml/2006/main">
              <a:ext uri="{FF2B5EF4-FFF2-40B4-BE49-F238E27FC236}">
                <a16:creationId xmlns:a16="http://schemas.microsoft.com/office/drawing/2014/main" id="{30A45418-4BB6-48DB-BE07-A1A31A0E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研究判断记录</a:t>
            </a:r>
          </a:p>
        </p:txBody>
      </p:sp>
      <p:sp>
        <p:nvSpPr>
          <p:cNvPr id="11" name="left-lines-2">
            <a:extLst xmlns:a="http://schemas.openxmlformats.org/drawingml/2006/main">
              <a:ext uri="{FF2B5EF4-FFF2-40B4-BE49-F238E27FC236}">
                <a16:creationId xmlns:a16="http://schemas.microsoft.com/office/drawing/2014/main" id="{8B3418BF-F121-434C-9C49-187BACD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实验规格草图</a:t>
            </a:r>
          </a:p>
        </p:txBody>
      </p:sp>
      <p:sp>
        <p:nvSpPr>
          <p:cNvPr id="12" name="right-lines-0">
            <a:extLst xmlns:a="http://schemas.openxmlformats.org/drawingml/2006/main">
              <a:ext uri="{FF2B5EF4-FFF2-40B4-BE49-F238E27FC236}">
                <a16:creationId xmlns:a16="http://schemas.microsoft.com/office/drawing/2014/main" id="{512F402A-8A40-4481-B828-505C3EB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让方案经受外部质询</a:t>
            </a:r>
          </a:p>
        </p:txBody>
      </p:sp>
      <p:sp>
        <p:nvSpPr>
          <p:cNvPr id="13" name="right-lines-1">
            <a:extLst xmlns:a="http://schemas.openxmlformats.org/drawingml/2006/main">
              <a:ext uri="{FF2B5EF4-FFF2-40B4-BE49-F238E27FC236}">
                <a16:creationId xmlns:a16="http://schemas.microsoft.com/office/drawing/2014/main" id="{4DF7A9D7-A344-4AE2-82A2-3002D90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把反馈转成可追溯处理</a:t>
            </a:r>
          </a:p>
        </p:txBody>
      </p:sp>
      <p:sp>
        <p:nvSpPr>
          <p:cNvPr id="14" name="right-lines-2">
            <a:extLst xmlns:a="http://schemas.openxmlformats.org/drawingml/2006/main">
              <a:ext uri="{FF2B5EF4-FFF2-40B4-BE49-F238E27FC236}">
                <a16:creationId xmlns:a16="http://schemas.microsoft.com/office/drawing/2014/main" id="{208F906D-D75A-493C-8D3A-A6CBF09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对照第 9 课门条件预检</a:t>
            </a:r>
          </a:p>
        </p:txBody>
      </p:sp>
      <p:sp>
        <p:nvSpPr>
          <p:cNvPr id="15" name="gap">
            <a:extLst xmlns:a="http://schemas.openxmlformats.org/drawingml/2006/main">
              <a:ext uri="{FF2B5EF4-FFF2-40B4-BE49-F238E27FC236}">
                <a16:creationId xmlns:a16="http://schemas.microsoft.com/office/drawing/2014/main" id="{CB58C449-0CDC-4F98-A56A-371AB34B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53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内部工件成立  ≠  经外部质询仍成立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本课跑通陈述—反馈—决策—预检链路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clinic-0-bg">
            <a:extLst xmlns:a="http://schemas.openxmlformats.org/drawingml/2006/main">
              <a:ext uri="{FF2B5EF4-FFF2-40B4-BE49-F238E27FC236}">
                <a16:creationId xmlns:a16="http://schemas.microsoft.com/office/drawing/2014/main" id="{17B647AB-F842-4506-BC9C-CD58D705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linic-0">
            <a:extLst xmlns:a="http://schemas.openxmlformats.org/drawingml/2006/main">
              <a:ext uri="{FF2B5EF4-FFF2-40B4-BE49-F238E27FC236}">
                <a16:creationId xmlns:a16="http://schemas.microsoft.com/office/drawing/2014/main" id="{A7049642-1CF0-47A7-9B8C-501AF71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限时陈述</a:t>
            </a:r>
          </a:p>
        </p:txBody>
      </p:sp>
      <p:sp>
        <p:nvSpPr>
          <p:cNvPr id="8" name="clinic-a0">
            <a:extLst xmlns:a="http://schemas.openxmlformats.org/drawingml/2006/main">
              <a:ext uri="{FF2B5EF4-FFF2-40B4-BE49-F238E27FC236}">
                <a16:creationId xmlns:a16="http://schemas.microsoft.com/office/drawing/2014/main" id="{EC68132F-1573-48F5-8775-BD44EED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clinic-1-bg">
            <a:extLst xmlns:a="http://schemas.openxmlformats.org/drawingml/2006/main">
              <a:ext uri="{FF2B5EF4-FFF2-40B4-BE49-F238E27FC236}">
                <a16:creationId xmlns:a16="http://schemas.microsoft.com/office/drawing/2014/main" id="{6DE885F7-2813-4DE5-A3BF-09612E5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linic-1">
            <a:extLst xmlns:a="http://schemas.openxmlformats.org/drawingml/2006/main">
              <a:ext uri="{FF2B5EF4-FFF2-40B4-BE49-F238E27FC236}">
                <a16:creationId xmlns:a16="http://schemas.microsoft.com/office/drawing/2014/main" id="{AC8A9E8E-3A36-492D-928B-A0203235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结构反馈</a:t>
            </a:r>
          </a:p>
        </p:txBody>
      </p:sp>
      <p:sp>
        <p:nvSpPr>
          <p:cNvPr id="11" name="clinic-a1">
            <a:extLst xmlns:a="http://schemas.openxmlformats.org/drawingml/2006/main">
              <a:ext uri="{FF2B5EF4-FFF2-40B4-BE49-F238E27FC236}">
                <a16:creationId xmlns:a16="http://schemas.microsoft.com/office/drawing/2014/main" id="{C4D40D4F-BCD9-4B1C-8F1D-822C80D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clinic-2-bg">
            <a:extLst xmlns:a="http://schemas.openxmlformats.org/drawingml/2006/main">
              <a:ext uri="{FF2B5EF4-FFF2-40B4-BE49-F238E27FC236}">
                <a16:creationId xmlns:a16="http://schemas.microsoft.com/office/drawing/2014/main" id="{CD82765F-5FBF-4A25-AE60-AB08E86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linic-2">
            <a:extLst xmlns:a="http://schemas.openxmlformats.org/drawingml/2006/main">
              <a:ext uri="{FF2B5EF4-FFF2-40B4-BE49-F238E27FC236}">
                <a16:creationId xmlns:a16="http://schemas.microsoft.com/office/drawing/2014/main" id="{118B4638-4715-410A-897E-4D8AAE62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</a:t>
            </a:r>
          </a:p>
        </p:txBody>
      </p:sp>
      <p:sp>
        <p:nvSpPr>
          <p:cNvPr id="14" name="clinic-a2">
            <a:extLst xmlns:a="http://schemas.openxmlformats.org/drawingml/2006/main">
              <a:ext uri="{FF2B5EF4-FFF2-40B4-BE49-F238E27FC236}">
                <a16:creationId xmlns:a16="http://schemas.microsoft.com/office/drawing/2014/main" id="{27C7C862-D6E9-43D1-B014-0B95FEC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clinic-3-bg">
            <a:extLst xmlns:a="http://schemas.openxmlformats.org/drawingml/2006/main">
              <a:ext uri="{FF2B5EF4-FFF2-40B4-BE49-F238E27FC236}">
                <a16:creationId xmlns:a16="http://schemas.microsoft.com/office/drawing/2014/main" id="{3F65FA44-36A5-4FCA-99A7-4E0EB28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clinic-3">
            <a:extLst xmlns:a="http://schemas.openxmlformats.org/drawingml/2006/main">
              <a:ext uri="{FF2B5EF4-FFF2-40B4-BE49-F238E27FC236}">
                <a16:creationId xmlns:a16="http://schemas.microsoft.com/office/drawing/2014/main" id="{F8AA8F55-9F2E-473E-A803-01542B7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判断门预检</a:t>
            </a:r>
          </a:p>
        </p:txBody>
      </p:sp>
      <p:sp>
        <p:nvSpPr>
          <p:cNvPr id="17" name="minimum">
            <a:extLst xmlns:a="http://schemas.openxmlformats.org/drawingml/2006/main">
              <a:ext uri="{FF2B5EF4-FFF2-40B4-BE49-F238E27FC236}">
                <a16:creationId xmlns:a16="http://schemas.microsoft.com/office/drawing/2014/main" id="{3F06A52F-A2A7-490E-82FE-D71E25EC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每人：陈述 1 次  +  反馈至少 2 条  +  处理至少 2 条  +  现场修订 1 处</a:t>
            </a:r>
          </a:p>
        </p:txBody>
      </p:sp>
      <p:sp>
        <p:nvSpPr>
          <p:cNvPr id="18" name="handoff">
            <a:extLst xmlns:a="http://schemas.openxmlformats.org/drawingml/2006/main">
              <a:ext uri="{FF2B5EF4-FFF2-40B4-BE49-F238E27FC236}">
                <a16:creationId xmlns:a16="http://schemas.microsoft.com/office/drawing/2014/main" id="{6D60DE57-1119-4DE0-98FC-DD7618C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形成性诊所，不新增正式提交；产出直接进入第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限时陈述要暴露一个可被质询的最小方案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graphicFrame>
        <p:nvGraphicFramePr>
          <p:cNvPr id="10" name="native-table-220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81915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分享段落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要说清什么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研究问题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范围、非例、可证伪命题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关键证据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直接测量了什么，边界在哪里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机制假设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生成保留与 A2 评分提示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最小验证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什么观察能区分两种解释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最大风险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当前最可能卡住判断的一项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221">
            <a:extLst xmlns:a="http://schemas.openxmlformats.org/drawingml/2006/main">
              <a:ext uri="{FF2B5EF4-FFF2-40B4-BE49-F238E27FC236}">
                <a16:creationId xmlns:a16="http://schemas.microsoft.com/office/drawing/2014/main" id="{4761A74B-3515-4539-88C8-D6E432A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阅读卡案例：质量代价与材料范围另查。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同伴先做四维诊断，再检查实验能否改变判断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enter">
            <a:extLst xmlns:a="http://schemas.openxmlformats.org/drawingml/2006/main">
              <a:ext uri="{FF2B5EF4-FFF2-40B4-BE49-F238E27FC236}">
                <a16:creationId xmlns:a16="http://schemas.microsoft.com/office/drawing/2014/main" id="{2D87A6A6-F771-4808-BE22-CDF7DBE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下一步实验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会改变研究判断吗？</a:t>
            </a:r>
          </a:p>
        </p:txBody>
      </p:sp>
      <p:sp>
        <p:nvSpPr>
          <p:cNvPr id="7" name="d-h0">
            <a:extLst xmlns:a="http://schemas.openxmlformats.org/drawingml/2006/main">
              <a:ext uri="{FF2B5EF4-FFF2-40B4-BE49-F238E27FC236}">
                <a16:creationId xmlns:a16="http://schemas.microsoft.com/office/drawing/2014/main" id="{24F0E0F7-ADE5-4143-A09F-B1C54D5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问题重要性</a:t>
            </a:r>
          </a:p>
        </p:txBody>
      </p:sp>
      <p:sp>
        <p:nvSpPr>
          <p:cNvPr id="8" name="d-v0">
            <a:extLst xmlns:a="http://schemas.openxmlformats.org/drawingml/2006/main">
              <a:ext uri="{FF2B5EF4-FFF2-40B4-BE49-F238E27FC236}">
                <a16:creationId xmlns:a16="http://schemas.microsoft.com/office/drawing/2014/main" id="{08530AA6-A312-4EEF-84B2-2CC4DAB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改变什么行动</a:t>
            </a:r>
          </a:p>
        </p:txBody>
      </p:sp>
      <p:sp>
        <p:nvSpPr>
          <p:cNvPr id="9" name="d-h1">
            <a:extLst xmlns:a="http://schemas.openxmlformats.org/drawingml/2006/main">
              <a:ext uri="{FF2B5EF4-FFF2-40B4-BE49-F238E27FC236}">
                <a16:creationId xmlns:a16="http://schemas.microsoft.com/office/drawing/2014/main" id="{CD490C57-EB72-4991-BE6E-A01F5ED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证据充分性</a:t>
            </a:r>
          </a:p>
        </p:txBody>
      </p:sp>
      <p:sp>
        <p:nvSpPr>
          <p:cNvPr id="10" name="d-v1">
            <a:extLst xmlns:a="http://schemas.openxmlformats.org/drawingml/2006/main">
              <a:ext uri="{FF2B5EF4-FFF2-40B4-BE49-F238E27FC236}">
                <a16:creationId xmlns:a16="http://schemas.microsoft.com/office/drawing/2014/main" id="{F637ED4E-1E6B-41C4-A987-98CA1236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强度、冲突、缺口</a:t>
            </a:r>
          </a:p>
        </p:txBody>
      </p:sp>
      <p:sp>
        <p:nvSpPr>
          <p:cNvPr id="11" name="d-h2">
            <a:extLst xmlns:a="http://schemas.openxmlformats.org/drawingml/2006/main">
              <a:ext uri="{FF2B5EF4-FFF2-40B4-BE49-F238E27FC236}">
                <a16:creationId xmlns:a16="http://schemas.microsoft.com/office/drawing/2014/main" id="{21059D9E-69E1-4C22-9794-DBE1F79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可检验性</a:t>
            </a:r>
          </a:p>
        </p:txBody>
      </p:sp>
      <p:sp>
        <p:nvSpPr>
          <p:cNvPr id="12" name="d-v2">
            <a:extLst xmlns:a="http://schemas.openxmlformats.org/drawingml/2006/main">
              <a:ext uri="{FF2B5EF4-FFF2-40B4-BE49-F238E27FC236}">
                <a16:creationId xmlns:a16="http://schemas.microsoft.com/office/drawing/2014/main" id="{368C4CA4-05CE-4159-8BF8-349B68B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能推翻、可区分</a:t>
            </a:r>
          </a:p>
        </p:txBody>
      </p:sp>
      <p:sp>
        <p:nvSpPr>
          <p:cNvPr id="13" name="d-h3">
            <a:extLst xmlns:a="http://schemas.openxmlformats.org/drawingml/2006/main">
              <a:ext uri="{FF2B5EF4-FFF2-40B4-BE49-F238E27FC236}">
                <a16:creationId xmlns:a16="http://schemas.microsoft.com/office/drawing/2014/main" id="{561754BD-BE06-4266-AB0C-C6070212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周期可行性</a:t>
            </a:r>
          </a:p>
        </p:txBody>
      </p:sp>
      <p:sp>
        <p:nvSpPr>
          <p:cNvPr id="14" name="d-v3">
            <a:extLst xmlns:a="http://schemas.openxmlformats.org/drawingml/2006/main">
              <a:ext uri="{FF2B5EF4-FFF2-40B4-BE49-F238E27FC236}">
                <a16:creationId xmlns:a16="http://schemas.microsoft.com/office/drawing/2014/main" id="{54131E84-A04D-4AB4-A236-AA2A226A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 公平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周期内能完成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三问把分散意见压缩成可行动反馈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threeq-shade0">
            <a:extLst xmlns:a="http://schemas.openxmlformats.org/drawingml/2006/main">
              <a:ext uri="{FF2B5EF4-FFF2-40B4-BE49-F238E27FC236}">
                <a16:creationId xmlns:a16="http://schemas.microsoft.com/office/drawing/2014/main" id="{2FAF0D1D-11A7-4831-A1C0-1843CBF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71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threeq-l0">
            <a:extLst xmlns:a="http://schemas.openxmlformats.org/drawingml/2006/main">
              <a:ext uri="{FF2B5EF4-FFF2-40B4-BE49-F238E27FC236}">
                <a16:creationId xmlns:a16="http://schemas.microsoft.com/office/drawing/2014/main" id="{A63F6BE1-4724-4E5F-97F4-5411C3C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47825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01  最强处</a:t>
            </a:r>
          </a:p>
        </p:txBody>
      </p:sp>
      <p:sp>
        <p:nvSpPr>
          <p:cNvPr id="8" name="threeq-v0">
            <a:extLst xmlns:a="http://schemas.openxmlformats.org/drawingml/2006/main">
              <a:ext uri="{FF2B5EF4-FFF2-40B4-BE49-F238E27FC236}">
                <a16:creationId xmlns:a16="http://schemas.microsoft.com/office/drawing/2014/main" id="{5AC98CBC-33E4-4F9A-8C71-B3AE46FE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47825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当前最扎实的诊断维度</a:t>
            </a:r>
          </a:p>
        </p:txBody>
      </p:sp>
      <p:sp>
        <p:nvSpPr>
          <p:cNvPr id="9" name="threeq-r0">
            <a:extLst xmlns:a="http://schemas.openxmlformats.org/drawingml/2006/main">
              <a:ext uri="{FF2B5EF4-FFF2-40B4-BE49-F238E27FC236}">
                <a16:creationId xmlns:a16="http://schemas.microsoft.com/office/drawing/2014/main" id="{697A2CAF-9D46-451C-B413-CF3E8CBF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threeq-l1">
            <a:extLst xmlns:a="http://schemas.openxmlformats.org/drawingml/2006/main">
              <a:ext uri="{FF2B5EF4-FFF2-40B4-BE49-F238E27FC236}">
                <a16:creationId xmlns:a16="http://schemas.microsoft.com/office/drawing/2014/main" id="{A7DDCCF8-59BA-4F81-8E41-DD2CB53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02  最大风险</a:t>
            </a:r>
          </a:p>
        </p:txBody>
      </p:sp>
      <p:sp>
        <p:nvSpPr>
          <p:cNvPr id="11" name="threeq-v1">
            <a:extLst xmlns:a="http://schemas.openxmlformats.org/drawingml/2006/main">
              <a:ext uri="{FF2B5EF4-FFF2-40B4-BE49-F238E27FC236}">
                <a16:creationId xmlns:a16="http://schemas.microsoft.com/office/drawing/2014/main" id="{7F483D1F-0F40-4CE0-845A-72FE323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当前最可能不通过门的一点</a:t>
            </a:r>
          </a:p>
        </p:txBody>
      </p:sp>
      <p:sp>
        <p:nvSpPr>
          <p:cNvPr id="12" name="threeq-r1">
            <a:extLst xmlns:a="http://schemas.openxmlformats.org/drawingml/2006/main">
              <a:ext uri="{FF2B5EF4-FFF2-40B4-BE49-F238E27FC236}">
                <a16:creationId xmlns:a16="http://schemas.microsoft.com/office/drawing/2014/main" id="{BE0110CA-6F53-4ADC-A016-228CE57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threeq-shade2">
            <a:extLst xmlns:a="http://schemas.openxmlformats.org/drawingml/2006/main">
              <a:ext uri="{FF2B5EF4-FFF2-40B4-BE49-F238E27FC236}">
                <a16:creationId xmlns:a16="http://schemas.microsoft.com/office/drawing/2014/main" id="{66A44E0F-007E-4DE0-B99B-309FB218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971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4" name="threeq-l2">
            <a:extLst xmlns:a="http://schemas.openxmlformats.org/drawingml/2006/main">
              <a:ext uri="{FF2B5EF4-FFF2-40B4-BE49-F238E27FC236}">
                <a16:creationId xmlns:a16="http://schemas.microsoft.com/office/drawing/2014/main" id="{222C5212-D68D-4220-B875-79CC008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03  可执行建议</a:t>
            </a:r>
          </a:p>
        </p:txBody>
      </p:sp>
      <p:sp>
        <p:nvSpPr>
          <p:cNvPr id="15" name="threeq-v2">
            <a:extLst xmlns:a="http://schemas.openxmlformats.org/drawingml/2006/main">
              <a:ext uri="{FF2B5EF4-FFF2-40B4-BE49-F238E27FC236}">
                <a16:creationId xmlns:a16="http://schemas.microsoft.com/office/drawing/2014/main" id="{E4BE6999-2646-4510-9BA4-19C9AFE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38575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下周能做、会改变判断的最小改进</a:t>
            </a:r>
          </a:p>
        </p:txBody>
      </p:sp>
      <p:sp>
        <p:nvSpPr>
          <p:cNvPr id="16" name="scope">
            <a:extLst xmlns:a="http://schemas.openxmlformats.org/drawingml/2006/main">
              <a:ext uri="{FF2B5EF4-FFF2-40B4-BE49-F238E27FC236}">
                <a16:creationId xmlns:a16="http://schemas.microsoft.com/office/drawing/2014/main" id="{66B02262-31C8-4427-BEB6-2E1B553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评价方案证据，不评价题目时髦度或陈述流畅度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设计诊所诊断方案，不评价人、不替作者决定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fb">
            <a:extLst xmlns:a="http://schemas.openxmlformats.org/drawingml/2006/main">
              <a:ext uri="{FF2B5EF4-FFF2-40B4-BE49-F238E27FC236}">
                <a16:creationId xmlns:a16="http://schemas.microsoft.com/office/drawing/2014/main" id="{E33122A0-DDE2-428E-AFFC-AD59570E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反馈者</a:t>
            </a:r>
          </a:p>
        </p:txBody>
      </p:sp>
      <p:sp>
        <p:nvSpPr>
          <p:cNvPr id="7" name="fb-list-0">
            <a:extLst xmlns:a="http://schemas.openxmlformats.org/drawingml/2006/main">
              <a:ext uri="{FF2B5EF4-FFF2-40B4-BE49-F238E27FC236}">
                <a16:creationId xmlns:a16="http://schemas.microsoft.com/office/drawing/2014/main" id="{EE627371-7143-4138-9F33-616FB103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指向方案，不指向人</a:t>
            </a:r>
          </a:p>
        </p:txBody>
      </p:sp>
      <p:sp>
        <p:nvSpPr>
          <p:cNvPr id="8" name="fb-list-1">
            <a:extLst xmlns:a="http://schemas.openxmlformats.org/drawingml/2006/main">
              <a:ext uri="{FF2B5EF4-FFF2-40B4-BE49-F238E27FC236}">
                <a16:creationId xmlns:a16="http://schemas.microsoft.com/office/drawing/2014/main" id="{5728C6BD-9B72-4275-8888-15C9049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引用陈述中的具体内容</a:t>
            </a:r>
          </a:p>
        </p:txBody>
      </p:sp>
      <p:sp>
        <p:nvSpPr>
          <p:cNvPr id="9" name="fb-list-2">
            <a:extLst xmlns:a="http://schemas.openxmlformats.org/drawingml/2006/main">
              <a:ext uri="{FF2B5EF4-FFF2-40B4-BE49-F238E27FC236}">
                <a16:creationId xmlns:a16="http://schemas.microsoft.com/office/drawing/2014/main" id="{2952FC00-0193-4BD4-839B-CA79519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分开“缺陷”与“我会怎么改”</a:t>
            </a:r>
          </a:p>
        </p:txBody>
      </p:sp>
      <p:sp>
        <p:nvSpPr>
          <p:cNvPr id="10" name="fb-list-3">
            <a:extLst xmlns:a="http://schemas.openxmlformats.org/drawingml/2006/main">
              <a:ext uri="{FF2B5EF4-FFF2-40B4-BE49-F238E27FC236}">
                <a16:creationId xmlns:a16="http://schemas.microsoft.com/office/drawing/2014/main" id="{8D1D81B3-2458-4B40-BEBD-529F1D1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只记录，不替作者决定</a:t>
            </a:r>
          </a:p>
        </p:txBody>
      </p:sp>
      <p:sp>
        <p:nvSpPr>
          <p:cNvPr id="11" name="author">
            <a:extLst xmlns:a="http://schemas.openxmlformats.org/drawingml/2006/main">
              <a:ext uri="{FF2B5EF4-FFF2-40B4-BE49-F238E27FC236}">
                <a16:creationId xmlns:a16="http://schemas.microsoft.com/office/drawing/2014/main" id="{AC989EEA-7ECF-4E27-AAD9-053C2EA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</a:t>
            </a:r>
          </a:p>
        </p:txBody>
      </p:sp>
      <p:sp>
        <p:nvSpPr>
          <p:cNvPr id="12" name="ownership-bg">
            <a:extLst xmlns:a="http://schemas.openxmlformats.org/drawingml/2006/main">
              <a:ext uri="{FF2B5EF4-FFF2-40B4-BE49-F238E27FC236}">
                <a16:creationId xmlns:a16="http://schemas.microsoft.com/office/drawing/2014/main" id="{E87AC1B8-CB5B-4558-9CD6-F2A527E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3" name="ownership">
            <a:extLst xmlns:a="http://schemas.openxmlformats.org/drawingml/2006/main">
              <a:ext uri="{FF2B5EF4-FFF2-40B4-BE49-F238E27FC236}">
                <a16:creationId xmlns:a16="http://schemas.microsoft.com/office/drawing/2014/main" id="{4751C18F-7EF3-48E6-82BA-81984BE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62125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决定采用何种处理动作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写理由与回写位置</a:t>
            </a:r>
          </a:p>
        </p:txBody>
      </p:sp>
      <p:sp>
        <p:nvSpPr>
          <p:cNvPr id="1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4E07E92-E69B-46A3-8BAB-56F4FF3D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一次诊所轮次</a:t>
            </a:r>
          </a:p>
        </p:txBody>
      </p:sp>
      <p:sp>
        <p:nvSpPr>
          <p:cNvPr id="15" name="round-0-bg">
            <a:extLst xmlns:a="http://schemas.openxmlformats.org/drawingml/2006/main">
              <a:ext uri="{FF2B5EF4-FFF2-40B4-BE49-F238E27FC236}">
                <a16:creationId xmlns:a16="http://schemas.microsoft.com/office/drawing/2014/main" id="{3C98F653-CFA6-4B25-9D82-256A32F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6" name="round-0">
            <a:extLst xmlns:a="http://schemas.openxmlformats.org/drawingml/2006/main">
              <a:ext uri="{FF2B5EF4-FFF2-40B4-BE49-F238E27FC236}">
                <a16:creationId xmlns:a16="http://schemas.microsoft.com/office/drawing/2014/main" id="{CB81E9F4-6920-4480-A7CB-D282CBF4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陈述者按五段陈述</a:t>
            </a:r>
          </a:p>
        </p:txBody>
      </p:sp>
      <p:sp>
        <p:nvSpPr>
          <p:cNvPr id="17" name="round-a0">
            <a:extLst xmlns:a="http://schemas.openxmlformats.org/drawingml/2006/main">
              <a:ext uri="{FF2B5EF4-FFF2-40B4-BE49-F238E27FC236}">
                <a16:creationId xmlns:a16="http://schemas.microsoft.com/office/drawing/2014/main" id="{446109CE-1AE2-4F09-999B-8481BA5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4010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round-1-bg">
            <a:extLst xmlns:a="http://schemas.openxmlformats.org/drawingml/2006/main">
              <a:ext uri="{FF2B5EF4-FFF2-40B4-BE49-F238E27FC236}">
                <a16:creationId xmlns:a16="http://schemas.microsoft.com/office/drawing/2014/main" id="{F69923D3-17EE-472F-9E6F-69C7BD9B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9" name="round-1">
            <a:extLst xmlns:a="http://schemas.openxmlformats.org/drawingml/2006/main">
              <a:ext uri="{FF2B5EF4-FFF2-40B4-BE49-F238E27FC236}">
                <a16:creationId xmlns:a16="http://schemas.microsoft.com/office/drawing/2014/main" id="{6185FB41-0109-4D3D-965D-71A9C43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同伴按三问反馈</a:t>
            </a:r>
          </a:p>
        </p:txBody>
      </p:sp>
      <p:sp>
        <p:nvSpPr>
          <p:cNvPr id="20" name="round-a1">
            <a:extLst xmlns:a="http://schemas.openxmlformats.org/drawingml/2006/main">
              <a:ext uri="{FF2B5EF4-FFF2-40B4-BE49-F238E27FC236}">
                <a16:creationId xmlns:a16="http://schemas.microsoft.com/office/drawing/2014/main" id="{55FC063E-D4CF-480E-9AEC-2842B46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4010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round-2-bg">
            <a:extLst xmlns:a="http://schemas.openxmlformats.org/drawingml/2006/main">
              <a:ext uri="{FF2B5EF4-FFF2-40B4-BE49-F238E27FC236}">
                <a16:creationId xmlns:a16="http://schemas.microsoft.com/office/drawing/2014/main" id="{6706C2CD-E9BF-4696-AE84-BB01124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round-2">
            <a:extLst xmlns:a="http://schemas.openxmlformats.org/drawingml/2006/main">
              <a:ext uri="{FF2B5EF4-FFF2-40B4-BE49-F238E27FC236}">
                <a16:creationId xmlns:a16="http://schemas.microsoft.com/office/drawing/2014/main" id="{A4B6E7BC-9917-4BCE-ACBD-A8F6A2A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作者只记录</a:t>
            </a:r>
          </a:p>
        </p:txBody>
      </p:sp>
      <p:sp>
        <p:nvSpPr>
          <p:cNvPr id="23" name="fields">
            <a:extLst xmlns:a="http://schemas.openxmlformats.org/drawingml/2006/main">
              <a:ext uri="{FF2B5EF4-FFF2-40B4-BE49-F238E27FC236}">
                <a16:creationId xmlns:a16="http://schemas.microsoft.com/office/drawing/2014/main" id="{E0FCF407-1B1D-4FA3-983F-3411A813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记录字段：来源｜维度｜风险与建议｜处理动作｜理由｜回写位置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每条反馈都要有真实处理动作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22">
            <a:extLst xmlns:a="http://schemas.openxmlformats.org/drawingml/2006/main">
              <a:ext uri="{FF2B5EF4-FFF2-40B4-BE49-F238E27FC236}">
                <a16:creationId xmlns:a16="http://schemas.microsoft.com/office/drawing/2014/main" id="{1F181BC1-270A-42BB-A42C-EA986EA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处理动作：采纳、澄清、补证、暂缓、保留异议。</a:t>
            </a:r>
          </a:p>
        </p:txBody>
      </p:sp>
      <p:sp>
        <p:nvSpPr>
          <p:cNvPr id="7" name="content-223">
            <a:extLst xmlns:a="http://schemas.openxmlformats.org/drawingml/2006/main">
              <a:ext uri="{FF2B5EF4-FFF2-40B4-BE49-F238E27FC236}">
                <a16:creationId xmlns:a16="http://schemas.microsoft.com/office/drawing/2014/main" id="{1F5B2005-8137-4BCC-BB7E-20088CD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示例回应：</a:t>
            </a:r>
          </a:p>
        </p:txBody>
      </p:sp>
      <p:sp>
        <p:nvSpPr>
          <p:cNvPr id="8" name="content-224">
            <a:extLst xmlns:a="http://schemas.openxmlformats.org/drawingml/2006/main">
              <a:ext uri="{FF2B5EF4-FFF2-40B4-BE49-F238E27FC236}">
                <a16:creationId xmlns:a16="http://schemas.microsoft.com/office/drawing/2014/main" id="{7A4EE086-11C4-4FFF-8CCE-DD382ED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补证：H1 与 A2 仍不能区分。</a:t>
            </a:r>
          </a:p>
        </p:txBody>
      </p:sp>
      <p:sp>
        <p:nvSpPr>
          <p:cNvPr id="9" name="content-225">
            <a:extLst xmlns:a="http://schemas.openxmlformats.org/drawingml/2006/main">
              <a:ext uri="{FF2B5EF4-FFF2-40B4-BE49-F238E27FC236}">
                <a16:creationId xmlns:a16="http://schemas.microsoft.com/office/drawing/2014/main" id="{708323B8-3E7C-4D8C-88A8-47C4213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理由与依据：同伴指出评分者可见组别，见方案评价协议。</a:t>
            </a:r>
          </a:p>
        </p:txBody>
      </p:sp>
      <p:sp>
        <p:nvSpPr>
          <p:cNvPr id="10" name="content-226">
            <a:extLst xmlns:a="http://schemas.openxmlformats.org/drawingml/2006/main">
              <a:ext uri="{FF2B5EF4-FFF2-40B4-BE49-F238E27FC236}">
                <a16:creationId xmlns:a16="http://schemas.microsoft.com/office/drawing/2014/main" id="{631B1AEB-32CA-4514-A771-856B89F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边界与状态：当前构造包；盲化效果待验证。</a:t>
            </a:r>
          </a:p>
        </p:txBody>
      </p:sp>
      <p:sp>
        <p:nvSpPr>
          <p:cNvPr id="11" name="content-227">
            <a:extLst xmlns:a="http://schemas.openxmlformats.org/drawingml/2006/main">
              <a:ext uri="{FF2B5EF4-FFF2-40B4-BE49-F238E27FC236}">
                <a16:creationId xmlns:a16="http://schemas.microsoft.com/office/drawing/2014/main" id="{8BE4243C-84CB-41C2-9560-E81BE82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实际修改：第 9 课规格补入匿名顺序、统一规则与复核办法。</a:t>
            </a:r>
          </a:p>
        </p:txBody>
      </p:sp>
      <p:sp>
        <p:nvSpPr>
          <p:cNvPr id="12" name="content-228">
            <a:extLst xmlns:a="http://schemas.openxmlformats.org/drawingml/2006/main">
              <a:ext uri="{FF2B5EF4-FFF2-40B4-BE49-F238E27FC236}">
                <a16:creationId xmlns:a16="http://schemas.microsoft.com/office/drawing/2014/main" id="{9BD90849-2038-4579-9025-15E2719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每条回应都写明影响工件与回写位置。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可以整理线索，但不能替你作研究判断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80F0438B-F829-4BD7-B040-4009C97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AI 可以</a:t>
            </a:r>
          </a:p>
        </p:txBody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F1EB89C3-1203-400D-9150-3810A66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AI 不可以</a:t>
            </a:r>
          </a:p>
        </p:txBody>
      </p:sp>
      <p:sp>
        <p:nvSpPr>
          <p:cNvPr id="8" name="split-top">
            <a:extLst xmlns:a="http://schemas.openxmlformats.org/drawingml/2006/main">
              <a:ext uri="{FF2B5EF4-FFF2-40B4-BE49-F238E27FC236}">
                <a16:creationId xmlns:a16="http://schemas.microsoft.com/office/drawing/2014/main" id="{D6CC6735-B4CD-4EE7-9193-CE42C36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left-lines-0">
            <a:extLst xmlns:a="http://schemas.openxmlformats.org/drawingml/2006/main">
              <a:ext uri="{FF2B5EF4-FFF2-40B4-BE49-F238E27FC236}">
                <a16:creationId xmlns:a16="http://schemas.microsoft.com/office/drawing/2014/main" id="{101584B0-B9AE-426C-9EC0-056D8EE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整理口述反馈</a:t>
            </a:r>
          </a:p>
        </p:txBody>
      </p:sp>
      <p:sp>
        <p:nvSpPr>
          <p:cNvPr id="10" name="left-lines-1">
            <a:extLst xmlns:a="http://schemas.openxmlformats.org/drawingml/2006/main">
              <a:ext uri="{FF2B5EF4-FFF2-40B4-BE49-F238E27FC236}">
                <a16:creationId xmlns:a16="http://schemas.microsoft.com/office/drawing/2014/main" id="{2F4A2853-3D8E-40C3-AC41-EA61BEF1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提示 rubric 维度</a:t>
            </a:r>
          </a:p>
        </p:txBody>
      </p:sp>
      <p:sp>
        <p:nvSpPr>
          <p:cNvPr id="11" name="left-lines-2">
            <a:extLst xmlns:a="http://schemas.openxmlformats.org/drawingml/2006/main">
              <a:ext uri="{FF2B5EF4-FFF2-40B4-BE49-F238E27FC236}">
                <a16:creationId xmlns:a16="http://schemas.microsoft.com/office/drawing/2014/main" id="{89CD29E9-4908-45A1-8CDC-D0B0A30E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草拟修改方向</a:t>
            </a:r>
          </a:p>
        </p:txBody>
      </p:sp>
      <p:sp>
        <p:nvSpPr>
          <p:cNvPr id="12" name="right-lines-0">
            <a:extLst xmlns:a="http://schemas.openxmlformats.org/drawingml/2006/main">
              <a:ext uri="{FF2B5EF4-FFF2-40B4-BE49-F238E27FC236}">
                <a16:creationId xmlns:a16="http://schemas.microsoft.com/office/drawing/2014/main" id="{DF7F7389-CD12-461D-9C91-BE2B7A5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判断反馈是否成立</a:t>
            </a:r>
          </a:p>
        </p:txBody>
      </p:sp>
      <p:sp>
        <p:nvSpPr>
          <p:cNvPr id="13" name="right-lines-1">
            <a:extLst xmlns:a="http://schemas.openxmlformats.org/drawingml/2006/main">
              <a:ext uri="{FF2B5EF4-FFF2-40B4-BE49-F238E27FC236}">
                <a16:creationId xmlns:a16="http://schemas.microsoft.com/office/drawing/2014/main" id="{E5DE68A6-3D2E-4DBD-9F55-331C55D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选择处理动作</a:t>
            </a:r>
          </a:p>
        </p:txBody>
      </p:sp>
      <p:sp>
        <p:nvSpPr>
          <p:cNvPr id="14" name="right-lines-2">
            <a:extLst xmlns:a="http://schemas.openxmlformats.org/drawingml/2006/main">
              <a:ext uri="{FF2B5EF4-FFF2-40B4-BE49-F238E27FC236}">
                <a16:creationId xmlns:a16="http://schemas.microsoft.com/office/drawing/2014/main" id="{2EBDBDB3-4012-414C-9606-4C3DB96E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代写理由与边界</a:t>
            </a:r>
          </a:p>
        </p:txBody>
      </p:sp>
      <p:sp>
        <p:nvSpPr>
          <p:cNvPr id="15" name="owner">
            <a:extLst xmlns:a="http://schemas.openxmlformats.org/drawingml/2006/main">
              <a:ext uri="{FF2B5EF4-FFF2-40B4-BE49-F238E27FC236}">
                <a16:creationId xmlns:a16="http://schemas.microsoft.com/office/drawing/2014/main" id="{48888C06-B59C-4D1C-9BAE-3922589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57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研究判断与处理决定：作者本人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完整示范：同一问题的五段分享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229">
            <a:extLst xmlns:a="http://schemas.openxmlformats.org/drawingml/2006/main">
              <a:ext uri="{FF2B5EF4-FFF2-40B4-BE49-F238E27FC236}">
                <a16:creationId xmlns:a16="http://schemas.microsoft.com/office/drawing/2014/main" id="{4C65E4CA-3EFC-4691-85FB-1E8803F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问题：阅读卡是否降低限定条件遗漏？</a:t>
            </a:r>
          </a:p>
        </p:txBody>
      </p:sp>
      <p:sp>
        <p:nvSpPr>
          <p:cNvPr id="7" name="content-230">
            <a:extLst xmlns:a="http://schemas.openxmlformats.org/drawingml/2006/main">
              <a:ext uri="{FF2B5EF4-FFF2-40B4-BE49-F238E27FC236}">
                <a16:creationId xmlns:a16="http://schemas.microsoft.com/office/drawing/2014/main" id="{6041676A-318D-4E76-81EB-7B73084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证据：逐条条件保留记录；当前没有真实效果结论。</a:t>
            </a:r>
          </a:p>
        </p:txBody>
      </p:sp>
      <p:sp>
        <p:nvSpPr>
          <p:cNvPr id="8" name="content-231">
            <a:extLst xmlns:a="http://schemas.openxmlformats.org/drawingml/2006/main">
              <a:ext uri="{FF2B5EF4-FFF2-40B4-BE49-F238E27FC236}">
                <a16:creationId xmlns:a16="http://schemas.microsoft.com/office/drawing/2014/main" id="{AA932E6A-BEE5-4DED-BB95-2147270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解释：Q1 结果与 H1/A2 机制、测量解释分开。</a:t>
            </a:r>
          </a:p>
        </p:txBody>
      </p:sp>
      <p:sp>
        <p:nvSpPr>
          <p:cNvPr id="9" name="content-232">
            <a:extLst xmlns:a="http://schemas.openxmlformats.org/drawingml/2006/main">
              <a:ext uri="{FF2B5EF4-FFF2-40B4-BE49-F238E27FC236}">
                <a16:creationId xmlns:a16="http://schemas.microsoft.com/office/drawing/2014/main" id="{2524C1D6-8A95-4693-877C-78B01B4D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方案：同一材料两种输出，统一标注口径。</a:t>
            </a:r>
          </a:p>
        </p:txBody>
      </p:sp>
      <p:sp>
        <p:nvSpPr>
          <p:cNvPr id="10" name="content-233">
            <a:extLst xmlns:a="http://schemas.openxmlformats.org/drawingml/2006/main">
              <a:ext uri="{FF2B5EF4-FFF2-40B4-BE49-F238E27FC236}">
                <a16:creationId xmlns:a16="http://schemas.microsoft.com/office/drawing/2014/main" id="{530848CA-8516-465F-99EA-2C6227A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风险：材料范围窄，其他质量代价尚未测量。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好反馈要改变一个具体设计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rocess-234">
            <a:extLst xmlns:a="http://schemas.openxmlformats.org/drawingml/2006/main">
              <a:ext uri="{FF2B5EF4-FFF2-40B4-BE49-F238E27FC236}">
                <a16:creationId xmlns:a16="http://schemas.microsoft.com/office/drawing/2014/main" id="{D692EAE4-E74A-4913-8AB1-2A2D485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ontent-235">
            <a:extLst xmlns:a="http://schemas.openxmlformats.org/drawingml/2006/main">
              <a:ext uri="{FF2B5EF4-FFF2-40B4-BE49-F238E27FC236}">
                <a16:creationId xmlns:a16="http://schemas.microsoft.com/office/drawing/2014/main" id="{56638EE1-9CB1-4336-9D1B-4E90203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8" name="content-236">
            <a:extLst xmlns:a="http://schemas.openxmlformats.org/drawingml/2006/main">
              <a:ext uri="{FF2B5EF4-FFF2-40B4-BE49-F238E27FC236}">
                <a16:creationId xmlns:a16="http://schemas.microsoft.com/office/drawing/2014/main" id="{13B72E82-BC1C-41B8-96C2-2B3F000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237">
            <a:extLst xmlns:a="http://schemas.openxmlformats.org/drawingml/2006/main">
              <a:ext uri="{FF2B5EF4-FFF2-40B4-BE49-F238E27FC236}">
                <a16:creationId xmlns:a16="http://schemas.microsoft.com/office/drawing/2014/main" id="{111B1214-2730-4952-B24B-EF7156B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ontent-238">
            <a:extLst xmlns:a="http://schemas.openxmlformats.org/drawingml/2006/main">
              <a:ext uri="{FF2B5EF4-FFF2-40B4-BE49-F238E27FC236}">
                <a16:creationId xmlns:a16="http://schemas.microsoft.com/office/drawing/2014/main" id="{1FD91BC4-D74D-45B1-94FD-0C2C3D4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理由</a:t>
            </a:r>
          </a:p>
        </p:txBody>
      </p:sp>
      <p:sp>
        <p:nvSpPr>
          <p:cNvPr id="11" name="content-239">
            <a:extLst xmlns:a="http://schemas.openxmlformats.org/drawingml/2006/main">
              <a:ext uri="{FF2B5EF4-FFF2-40B4-BE49-F238E27FC236}">
                <a16:creationId xmlns:a16="http://schemas.microsoft.com/office/drawing/2014/main" id="{0979DB31-FC7B-44F4-92D0-64E079E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240">
            <a:extLst xmlns:a="http://schemas.openxmlformats.org/drawingml/2006/main">
              <a:ext uri="{FF2B5EF4-FFF2-40B4-BE49-F238E27FC236}">
                <a16:creationId xmlns:a16="http://schemas.microsoft.com/office/drawing/2014/main" id="{785FCC36-4D72-45A9-BA32-29852B2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ontent-241">
            <a:extLst xmlns:a="http://schemas.openxmlformats.org/drawingml/2006/main">
              <a:ext uri="{FF2B5EF4-FFF2-40B4-BE49-F238E27FC236}">
                <a16:creationId xmlns:a16="http://schemas.microsoft.com/office/drawing/2014/main" id="{998622E2-E477-44E1-8CC1-C0D6402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文件中的实际修改</a:t>
            </a:r>
          </a:p>
        </p:txBody>
      </p:sp>
      <p:sp>
        <p:nvSpPr>
          <p:cNvPr id="14" name="content-242">
            <a:extLst xmlns:a="http://schemas.openxmlformats.org/drawingml/2006/main">
              <a:ext uri="{FF2B5EF4-FFF2-40B4-BE49-F238E27FC236}">
                <a16:creationId xmlns:a16="http://schemas.microsoft.com/office/drawing/2014/main" id="{44554D5C-4B8A-4B81-8801-1FAD8D3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泛泛意见：“再严谨一点。”</a:t>
            </a:r>
          </a:p>
        </p:txBody>
      </p:sp>
      <p:sp>
        <p:nvSpPr>
          <p:cNvPr id="15" name="content-243">
            <a:extLst xmlns:a="http://schemas.openxmlformats.org/drawingml/2006/main">
              <a:ext uri="{FF2B5EF4-FFF2-40B4-BE49-F238E27FC236}">
                <a16:creationId xmlns:a16="http://schemas.microsoft.com/office/drawing/2014/main" id="{9DB9CFAF-165F-4950-973D-0F49BE5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524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可执行意见：“评分者能否看见组别？请补盲化办法。”</a:t>
            </a:r>
          </a:p>
        </p:txBody>
      </p:sp>
      <p:sp>
        <p:nvSpPr>
          <p:cNvPr id="16" name="content-244">
            <a:extLst xmlns:a="http://schemas.openxmlformats.org/drawingml/2006/main">
              <a:ext uri="{FF2B5EF4-FFF2-40B4-BE49-F238E27FC236}">
                <a16:creationId xmlns:a16="http://schemas.microsoft.com/office/drawing/2014/main" id="{E28C62FB-08EC-4CB5-B605-6FF25BC2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436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作者处理：“接受；在评价协议补入匿名顺序与统一规则。”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8 课只补两项判断门材料，其余缺口留到第 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gates-n0">
            <a:extLst xmlns:a="http://schemas.openxmlformats.org/drawingml/2006/main">
              <a:ext uri="{FF2B5EF4-FFF2-40B4-BE49-F238E27FC236}">
                <a16:creationId xmlns:a16="http://schemas.microsoft.com/office/drawing/2014/main" id="{4C7B26C0-1733-43C6-842A-2C3D4FC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gates-t0">
            <a:extLst xmlns:a="http://schemas.openxmlformats.org/drawingml/2006/main">
              <a:ext uri="{FF2B5EF4-FFF2-40B4-BE49-F238E27FC236}">
                <a16:creationId xmlns:a16="http://schemas.microsoft.com/office/drawing/2014/main" id="{62F7EBAB-AAFE-423A-AFFB-7581D4BC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可执行 baseline</a:t>
            </a:r>
          </a:p>
        </p:txBody>
      </p:sp>
      <p:sp>
        <p:nvSpPr>
          <p:cNvPr id="8" name="gates-r0">
            <a:extLst xmlns:a="http://schemas.openxmlformats.org/drawingml/2006/main">
              <a:ext uri="{FF2B5EF4-FFF2-40B4-BE49-F238E27FC236}">
                <a16:creationId xmlns:a16="http://schemas.microsoft.com/office/drawing/2014/main" id="{6E846D9C-3E33-41FC-90FA-C3CABF2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gates-n1">
            <a:extLst xmlns:a="http://schemas.openxmlformats.org/drawingml/2006/main">
              <a:ext uri="{FF2B5EF4-FFF2-40B4-BE49-F238E27FC236}">
                <a16:creationId xmlns:a16="http://schemas.microsoft.com/office/drawing/2014/main" id="{0B7C201C-750B-476F-93DF-2CE828D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gates-t1">
            <a:extLst xmlns:a="http://schemas.openxmlformats.org/drawingml/2006/main">
              <a:ext uri="{FF2B5EF4-FFF2-40B4-BE49-F238E27FC236}">
                <a16:creationId xmlns:a16="http://schemas.microsoft.com/office/drawing/2014/main" id="{CA275170-8302-4A0C-B2CD-35B7EE7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材料／指标／限制</a:t>
            </a:r>
          </a:p>
        </p:txBody>
      </p:sp>
      <p:sp>
        <p:nvSpPr>
          <p:cNvPr id="11" name="gates-r1">
            <a:extLst xmlns:a="http://schemas.openxmlformats.org/drawingml/2006/main">
              <a:ext uri="{FF2B5EF4-FFF2-40B4-BE49-F238E27FC236}">
                <a16:creationId xmlns:a16="http://schemas.microsoft.com/office/drawing/2014/main" id="{3F6731DF-2A0D-4B3A-BBAA-A208C7A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gates-n2">
            <a:extLst xmlns:a="http://schemas.openxmlformats.org/drawingml/2006/main">
              <a:ext uri="{FF2B5EF4-FFF2-40B4-BE49-F238E27FC236}">
                <a16:creationId xmlns:a16="http://schemas.microsoft.com/office/drawing/2014/main" id="{BB438CC5-4E45-4C14-9BDF-ABC49E41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gates-t2">
            <a:extLst xmlns:a="http://schemas.openxmlformats.org/drawingml/2006/main">
              <a:ext uri="{FF2B5EF4-FFF2-40B4-BE49-F238E27FC236}">
                <a16:creationId xmlns:a16="http://schemas.microsoft.com/office/drawing/2014/main" id="{B8A64116-8B1B-483D-97F8-74FD6542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环境／配置／种子</a:t>
            </a:r>
          </a:p>
        </p:txBody>
      </p:sp>
      <p:sp>
        <p:nvSpPr>
          <p:cNvPr id="14" name="gates-r2">
            <a:extLst xmlns:a="http://schemas.openxmlformats.org/drawingml/2006/main">
              <a:ext uri="{FF2B5EF4-FFF2-40B4-BE49-F238E27FC236}">
                <a16:creationId xmlns:a16="http://schemas.microsoft.com/office/drawing/2014/main" id="{6F672FE1-66FD-433E-AD9F-6C6AE631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gates-n3">
            <a:extLst xmlns:a="http://schemas.openxmlformats.org/drawingml/2006/main">
              <a:ext uri="{FF2B5EF4-FFF2-40B4-BE49-F238E27FC236}">
                <a16:creationId xmlns:a16="http://schemas.microsoft.com/office/drawing/2014/main" id="{88798988-D7CE-4A3C-B963-97FA49D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gates-t3">
            <a:extLst xmlns:a="http://schemas.openxmlformats.org/drawingml/2006/main">
              <a:ext uri="{FF2B5EF4-FFF2-40B4-BE49-F238E27FC236}">
                <a16:creationId xmlns:a16="http://schemas.microsoft.com/office/drawing/2014/main" id="{5AFEC5A2-4772-4F04-8A12-F015F2B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至少 2 条判断</a:t>
            </a:r>
          </a:p>
        </p:txBody>
      </p:sp>
      <p:sp>
        <p:nvSpPr>
          <p:cNvPr id="17" name="gates-r3">
            <a:extLst xmlns:a="http://schemas.openxmlformats.org/drawingml/2006/main">
              <a:ext uri="{FF2B5EF4-FFF2-40B4-BE49-F238E27FC236}">
                <a16:creationId xmlns:a16="http://schemas.microsoft.com/office/drawing/2014/main" id="{9906FAE9-27BB-4909-B407-82C8127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gates-n4">
            <a:extLst xmlns:a="http://schemas.openxmlformats.org/drawingml/2006/main">
              <a:ext uri="{FF2B5EF4-FFF2-40B4-BE49-F238E27FC236}">
                <a16:creationId xmlns:a16="http://schemas.microsoft.com/office/drawing/2014/main" id="{FB8DFA79-52BD-4B57-B63B-F9171F38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gates-t4">
            <a:extLst xmlns:a="http://schemas.openxmlformats.org/drawingml/2006/main">
              <a:ext uri="{FF2B5EF4-FFF2-40B4-BE49-F238E27FC236}">
                <a16:creationId xmlns:a16="http://schemas.microsoft.com/office/drawing/2014/main" id="{B03093CF-FA95-4E99-B487-3AB697A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完整实验规格</a:t>
            </a:r>
          </a:p>
        </p:txBody>
      </p:sp>
      <p:sp>
        <p:nvSpPr>
          <p:cNvPr id="20" name="gates-r4">
            <a:extLst xmlns:a="http://schemas.openxmlformats.org/drawingml/2006/main">
              <a:ext uri="{FF2B5EF4-FFF2-40B4-BE49-F238E27FC236}">
                <a16:creationId xmlns:a16="http://schemas.microsoft.com/office/drawing/2014/main" id="{79267558-FAD3-4F3F-A5F5-A77E048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gates-n5">
            <a:extLst xmlns:a="http://schemas.openxmlformats.org/drawingml/2006/main">
              <a:ext uri="{FF2B5EF4-FFF2-40B4-BE49-F238E27FC236}">
                <a16:creationId xmlns:a16="http://schemas.microsoft.com/office/drawing/2014/main" id="{192E6D2C-1D1A-4AC3-B7BB-9E455F2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2" name="gates-t5">
            <a:extLst xmlns:a="http://schemas.openxmlformats.org/drawingml/2006/main">
              <a:ext uri="{FF2B5EF4-FFF2-40B4-BE49-F238E27FC236}">
                <a16:creationId xmlns:a16="http://schemas.microsoft.com/office/drawing/2014/main" id="{CB9845FC-E788-4353-9F4A-C156215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同伴反馈处理</a:t>
            </a:r>
          </a:p>
        </p:txBody>
      </p:sp>
      <p:sp>
        <p:nvSpPr>
          <p:cNvPr id="23" name="gates-r5">
            <a:extLst xmlns:a="http://schemas.openxmlformats.org/drawingml/2006/main">
              <a:ext uri="{FF2B5EF4-FFF2-40B4-BE49-F238E27FC236}">
                <a16:creationId xmlns:a16="http://schemas.microsoft.com/office/drawing/2014/main" id="{D641C4FC-F0F7-4F34-8E34-8A46CE7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4" name="gates-n6">
            <a:extLst xmlns:a="http://schemas.openxmlformats.org/drawingml/2006/main">
              <a:ext uri="{FF2B5EF4-FFF2-40B4-BE49-F238E27FC236}">
                <a16:creationId xmlns:a16="http://schemas.microsoft.com/office/drawing/2014/main" id="{CD5B406D-8C80-4F56-B474-2270D62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25" name="gates-t6">
            <a:extLst xmlns:a="http://schemas.openxmlformats.org/drawingml/2006/main">
              <a:ext uri="{FF2B5EF4-FFF2-40B4-BE49-F238E27FC236}">
                <a16:creationId xmlns:a16="http://schemas.microsoft.com/office/drawing/2014/main" id="{CBBBB48B-847E-49D2-98A7-5CD667E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风险与失败预案</a:t>
            </a:r>
          </a:p>
        </p:txBody>
      </p:sp>
      <p:sp>
        <p:nvSpPr>
          <p:cNvPr id="26" name="gates-r6">
            <a:extLst xmlns:a="http://schemas.openxmlformats.org/drawingml/2006/main">
              <a:ext uri="{FF2B5EF4-FFF2-40B4-BE49-F238E27FC236}">
                <a16:creationId xmlns:a16="http://schemas.microsoft.com/office/drawing/2014/main" id="{165204BC-61DA-4CE1-A452-FC33F7B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7" name="gates-n7">
            <a:extLst xmlns:a="http://schemas.openxmlformats.org/drawingml/2006/main">
              <a:ext uri="{FF2B5EF4-FFF2-40B4-BE49-F238E27FC236}">
                <a16:creationId xmlns:a16="http://schemas.microsoft.com/office/drawing/2014/main" id="{D48B0C41-7156-424C-9FE5-9A7B726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28" name="gates-t7">
            <a:extLst xmlns:a="http://schemas.openxmlformats.org/drawingml/2006/main">
              <a:ext uri="{FF2B5EF4-FFF2-40B4-BE49-F238E27FC236}">
                <a16:creationId xmlns:a16="http://schemas.microsoft.com/office/drawing/2014/main" id="{88A25B8E-AAAE-4846-A8B9-EF752E0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已遇失败记录</a:t>
            </a:r>
          </a:p>
        </p:txBody>
      </p:sp>
      <p:sp>
        <p:nvSpPr>
          <p:cNvPr id="29" name="gates-r7">
            <a:extLst xmlns:a="http://schemas.openxmlformats.org/drawingml/2006/main">
              <a:ext uri="{FF2B5EF4-FFF2-40B4-BE49-F238E27FC236}">
                <a16:creationId xmlns:a16="http://schemas.microsoft.com/office/drawing/2014/main" id="{414016D2-BF45-4A09-9E21-EDAE54DF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0" name="gates-n8">
            <a:extLst xmlns:a="http://schemas.openxmlformats.org/drawingml/2006/main">
              <a:ext uri="{FF2B5EF4-FFF2-40B4-BE49-F238E27FC236}">
                <a16:creationId xmlns:a16="http://schemas.microsoft.com/office/drawing/2014/main" id="{BA9915D9-3AC0-4F77-903F-6C8D798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1" name="gates-t8">
            <a:extLst xmlns:a="http://schemas.openxmlformats.org/drawingml/2006/main">
              <a:ext uri="{FF2B5EF4-FFF2-40B4-BE49-F238E27FC236}">
                <a16:creationId xmlns:a16="http://schemas.microsoft.com/office/drawing/2014/main" id="{60DB56ED-6595-4A16-AFA0-25EA28E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迁移完整模板</a:t>
            </a:r>
          </a:p>
        </p:txBody>
      </p:sp>
      <p:sp>
        <p:nvSpPr>
          <p:cNvPr id="32" name="gates-r8">
            <a:extLst xmlns:a="http://schemas.openxmlformats.org/drawingml/2006/main">
              <a:ext uri="{FF2B5EF4-FFF2-40B4-BE49-F238E27FC236}">
                <a16:creationId xmlns:a16="http://schemas.microsoft.com/office/drawing/2014/main" id="{F04FADFE-0792-4C50-A234-A64C71D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status">
            <a:extLst xmlns:a="http://schemas.openxmlformats.org/drawingml/2006/main">
              <a:ext uri="{FF2B5EF4-FFF2-40B4-BE49-F238E27FC236}">
                <a16:creationId xmlns:a16="http://schemas.microsoft.com/office/drawing/2014/main" id="{FDF0D9D4-9479-4377-9A9F-571D86C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8 课补入：研究判断 + 同伴反馈处理；其余缺口留到第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实践：完成陈述、互查、决策与判断门预检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worksheet-bg">
            <a:extLst xmlns:a="http://schemas.openxmlformats.org/drawingml/2006/main">
              <a:ext uri="{FF2B5EF4-FFF2-40B4-BE49-F238E27FC236}">
                <a16:creationId xmlns:a16="http://schemas.microsoft.com/office/drawing/2014/main" id="{0917B885-94E7-4B5E-940F-9913FABF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7" name="worksheet">
            <a:extLst xmlns:a="http://schemas.openxmlformats.org/drawingml/2006/main">
              <a:ext uri="{FF2B5EF4-FFF2-40B4-BE49-F238E27FC236}">
                <a16:creationId xmlns:a16="http://schemas.microsoft.com/office/drawing/2014/main" id="{6932FD61-01F9-4A37-BB87-5CEBA13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诊所工作表</a:t>
            </a:r>
          </a:p>
        </p:txBody>
      </p:sp>
      <p:sp>
        <p:nvSpPr>
          <p:cNvPr id="8" name="work-n0">
            <a:extLst xmlns:a="http://schemas.openxmlformats.org/drawingml/2006/main">
              <a:ext uri="{FF2B5EF4-FFF2-40B4-BE49-F238E27FC236}">
                <a16:creationId xmlns:a16="http://schemas.microsoft.com/office/drawing/2014/main" id="{308A33F7-5F48-4E5E-BECF-47FB199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work-t0">
            <a:extLst xmlns:a="http://schemas.openxmlformats.org/drawingml/2006/main">
              <a:ext uri="{FF2B5EF4-FFF2-40B4-BE49-F238E27FC236}">
                <a16:creationId xmlns:a16="http://schemas.microsoft.com/office/drawing/2014/main" id="{0B2BE8A2-2F5F-4E66-8EC2-79031B45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33500"/>
            <a:ext cx="725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补全五段陈述</a:t>
            </a:r>
          </a:p>
        </p:txBody>
      </p:sp>
      <p:sp>
        <p:nvSpPr>
          <p:cNvPr id="10" name="work-r0">
            <a:extLst xmlns:a="http://schemas.openxmlformats.org/drawingml/2006/main">
              <a:ext uri="{FF2B5EF4-FFF2-40B4-BE49-F238E27FC236}">
                <a16:creationId xmlns:a16="http://schemas.microsoft.com/office/drawing/2014/main" id="{B3E45CF1-5FBC-4F08-9976-8DB9DB63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781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work-n1">
            <a:extLst xmlns:a="http://schemas.openxmlformats.org/drawingml/2006/main">
              <a:ext uri="{FF2B5EF4-FFF2-40B4-BE49-F238E27FC236}">
                <a16:creationId xmlns:a16="http://schemas.microsoft.com/office/drawing/2014/main" id="{3A7DB18E-B8C2-46F8-9C76-E0552DF4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work-t1">
            <a:extLst xmlns:a="http://schemas.openxmlformats.org/drawingml/2006/main">
              <a:ext uri="{FF2B5EF4-FFF2-40B4-BE49-F238E27FC236}">
                <a16:creationId xmlns:a16="http://schemas.microsoft.com/office/drawing/2014/main" id="{B6F5C9F4-F4D6-49AD-A131-E2F4A71C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725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完成一次陈述与反馈</a:t>
            </a:r>
          </a:p>
        </p:txBody>
      </p:sp>
      <p:sp>
        <p:nvSpPr>
          <p:cNvPr id="13" name="work-r1">
            <a:extLst xmlns:a="http://schemas.openxmlformats.org/drawingml/2006/main">
              <a:ext uri="{FF2B5EF4-FFF2-40B4-BE49-F238E27FC236}">
                <a16:creationId xmlns:a16="http://schemas.microsoft.com/office/drawing/2014/main" id="{9B9E858E-121D-43FD-A960-1C7686CB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781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work-n2">
            <a:extLst xmlns:a="http://schemas.openxmlformats.org/drawingml/2006/main">
              <a:ext uri="{FF2B5EF4-FFF2-40B4-BE49-F238E27FC236}">
                <a16:creationId xmlns:a16="http://schemas.microsoft.com/office/drawing/2014/main" id="{DB6C8550-8FF9-4395-A01F-AF779D14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work-t2">
            <a:extLst xmlns:a="http://schemas.openxmlformats.org/drawingml/2006/main">
              <a:ext uri="{FF2B5EF4-FFF2-40B4-BE49-F238E27FC236}">
                <a16:creationId xmlns:a16="http://schemas.microsoft.com/office/drawing/2014/main" id="{6FD3CBA8-B2F6-4E9F-829C-F42D7B3A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725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处理至少 2 条反馈</a:t>
            </a:r>
          </a:p>
        </p:txBody>
      </p:sp>
      <p:sp>
        <p:nvSpPr>
          <p:cNvPr id="16" name="work-r2">
            <a:extLst xmlns:a="http://schemas.openxmlformats.org/drawingml/2006/main">
              <a:ext uri="{FF2B5EF4-FFF2-40B4-BE49-F238E27FC236}">
                <a16:creationId xmlns:a16="http://schemas.microsoft.com/office/drawing/2014/main" id="{0466CCC6-2D98-42D1-8622-C392FC37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781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work-n3">
            <a:extLst xmlns:a="http://schemas.openxmlformats.org/drawingml/2006/main">
              <a:ext uri="{FF2B5EF4-FFF2-40B4-BE49-F238E27FC236}">
                <a16:creationId xmlns:a16="http://schemas.microsoft.com/office/drawing/2014/main" id="{3D8E08C1-A582-4F2A-809A-F3F3752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8" name="work-t3">
            <a:extLst xmlns:a="http://schemas.openxmlformats.org/drawingml/2006/main">
              <a:ext uri="{FF2B5EF4-FFF2-40B4-BE49-F238E27FC236}">
                <a16:creationId xmlns:a16="http://schemas.microsoft.com/office/drawing/2014/main" id="{B1D43B7E-6C97-4C1F-B995-9744214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76650"/>
            <a:ext cx="725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现场修订 1 处并定位</a:t>
            </a:r>
          </a:p>
        </p:txBody>
      </p:sp>
      <p:sp>
        <p:nvSpPr>
          <p:cNvPr id="19" name="work-r3">
            <a:extLst xmlns:a="http://schemas.openxmlformats.org/drawingml/2006/main">
              <a:ext uri="{FF2B5EF4-FFF2-40B4-BE49-F238E27FC236}">
                <a16:creationId xmlns:a16="http://schemas.microsoft.com/office/drawing/2014/main" id="{D3F4E0BD-A2C1-420C-BA5E-61A8121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7810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done">
            <a:extLst xmlns:a="http://schemas.openxmlformats.org/drawingml/2006/main">
              <a:ext uri="{FF2B5EF4-FFF2-40B4-BE49-F238E27FC236}">
                <a16:creationId xmlns:a16="http://schemas.microsoft.com/office/drawing/2014/main" id="{6EBD7C25-0CB4-4FD1-AD80-4465A552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完成标志：工件中出现“动作 + 理由 + 回写位置”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4DD208EF-C68F-4626-9253-7F9A87A0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25837515-1821-400F-BD59-64305955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最小陈述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17390D69-A228-479E-9CE2-B34C0DAE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DA5948D9-FC4C-4F5C-B0BD-DA4EC83C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BF114012-52F9-4B96-8401-FA48F25B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同伴质询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B5220A45-473C-45A7-8A96-7E13F26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03A99736-CA15-4D59-985A-E8865A4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948808F9-890F-473E-AB5B-320DCC4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7A8EB31E-3E90-4E2C-9C8F-BADE710F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7A47A9CD-FEE7-40A1-8525-394BB08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8A8E5C1D-6EA2-475D-AF89-A6CFCE9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下一步行动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61FD830-65C0-458F-BE50-7366755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反馈是诊断输入；作者记录并承担修改决定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退出卡：把今天的反馈变成第 9 课的最小行动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exit-l">
            <a:extLst xmlns:a="http://schemas.openxmlformats.org/drawingml/2006/main">
              <a:ext uri="{FF2B5EF4-FFF2-40B4-BE49-F238E27FC236}">
                <a16:creationId xmlns:a16="http://schemas.microsoft.com/office/drawing/2014/main" id="{4ECD63E4-BA30-4557-9160-D2779FC5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退出记录</a:t>
            </a:r>
          </a:p>
        </p:txBody>
      </p:sp>
      <p:sp>
        <p:nvSpPr>
          <p:cNvPr id="7" name="exit-shade0">
            <a:extLst xmlns:a="http://schemas.openxmlformats.org/drawingml/2006/main">
              <a:ext uri="{FF2B5EF4-FFF2-40B4-BE49-F238E27FC236}">
                <a16:creationId xmlns:a16="http://schemas.microsoft.com/office/drawing/2014/main" id="{3412D425-945A-4979-8A93-8B63515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143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exit-l0">
            <a:extLst xmlns:a="http://schemas.openxmlformats.org/drawingml/2006/main">
              <a:ext uri="{FF2B5EF4-FFF2-40B4-BE49-F238E27FC236}">
                <a16:creationId xmlns:a16="http://schemas.microsoft.com/office/drawing/2014/main" id="{C09E1762-CFF7-4083-BA83-98A61F52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薄弱维度</a:t>
            </a:r>
          </a:p>
        </p:txBody>
      </p:sp>
      <p:sp>
        <p:nvSpPr>
          <p:cNvPr id="9" name="exit-v0">
            <a:extLst xmlns:a="http://schemas.openxmlformats.org/drawingml/2006/main">
              <a:ext uri="{FF2B5EF4-FFF2-40B4-BE49-F238E27FC236}">
                <a16:creationId xmlns:a16="http://schemas.microsoft.com/office/drawing/2014/main" id="{A9D13FDB-4A15-4C93-93E5-3B7A2C5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478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exit-r0">
            <a:extLst xmlns:a="http://schemas.openxmlformats.org/drawingml/2006/main">
              <a:ext uri="{FF2B5EF4-FFF2-40B4-BE49-F238E27FC236}">
                <a16:creationId xmlns:a16="http://schemas.microsoft.com/office/drawing/2014/main" id="{12295995-8632-4884-ADBB-7FCBCEA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exit-l1">
            <a:extLst xmlns:a="http://schemas.openxmlformats.org/drawingml/2006/main">
              <a:ext uri="{FF2B5EF4-FFF2-40B4-BE49-F238E27FC236}">
                <a16:creationId xmlns:a16="http://schemas.microsoft.com/office/drawing/2014/main" id="{93F7A66B-BCAB-415F-9A6F-41E787C0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最可执行反馈</a:t>
            </a:r>
          </a:p>
        </p:txBody>
      </p:sp>
      <p:sp>
        <p:nvSpPr>
          <p:cNvPr id="12" name="exit-v1">
            <a:extLst xmlns:a="http://schemas.openxmlformats.org/drawingml/2006/main">
              <a:ext uri="{FF2B5EF4-FFF2-40B4-BE49-F238E27FC236}">
                <a16:creationId xmlns:a16="http://schemas.microsoft.com/office/drawing/2014/main" id="{D2F2D295-1FB6-4A0C-B1E8-5BAAB61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860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exit-r1">
            <a:extLst xmlns:a="http://schemas.openxmlformats.org/drawingml/2006/main">
              <a:ext uri="{FF2B5EF4-FFF2-40B4-BE49-F238E27FC236}">
                <a16:creationId xmlns:a16="http://schemas.microsoft.com/office/drawing/2014/main" id="{BD8D9C6E-A927-4C08-A65D-329D59F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exit-shade2">
            <a:extLst xmlns:a="http://schemas.openxmlformats.org/drawingml/2006/main">
              <a:ext uri="{FF2B5EF4-FFF2-40B4-BE49-F238E27FC236}">
                <a16:creationId xmlns:a16="http://schemas.microsoft.com/office/drawing/2014/main" id="{4FB4FDEF-9075-441C-A80F-98F937A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7143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5" name="exit-l2">
            <a:extLst xmlns:a="http://schemas.openxmlformats.org/drawingml/2006/main">
              <a:ext uri="{FF2B5EF4-FFF2-40B4-BE49-F238E27FC236}">
                <a16:creationId xmlns:a16="http://schemas.microsoft.com/office/drawing/2014/main" id="{EFE37E49-3D7E-40D2-8CAB-5EFC0AB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处理动作与理由</a:t>
            </a:r>
          </a:p>
        </p:txBody>
      </p:sp>
      <p:sp>
        <p:nvSpPr>
          <p:cNvPr id="16" name="exit-v2">
            <a:extLst xmlns:a="http://schemas.openxmlformats.org/drawingml/2006/main">
              <a:ext uri="{FF2B5EF4-FFF2-40B4-BE49-F238E27FC236}">
                <a16:creationId xmlns:a16="http://schemas.microsoft.com/office/drawing/2014/main" id="{10E99E32-B782-4AC4-8FA2-DD11F337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242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exit-r2">
            <a:extLst xmlns:a="http://schemas.openxmlformats.org/drawingml/2006/main">
              <a:ext uri="{FF2B5EF4-FFF2-40B4-BE49-F238E27FC236}">
                <a16:creationId xmlns:a16="http://schemas.microsoft.com/office/drawing/2014/main" id="{D4E4CD39-CCFC-47EE-82DF-46AA2B0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714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exit-l3">
            <a:extLst xmlns:a="http://schemas.openxmlformats.org/drawingml/2006/main">
              <a:ext uri="{FF2B5EF4-FFF2-40B4-BE49-F238E27FC236}">
                <a16:creationId xmlns:a16="http://schemas.microsoft.com/office/drawing/2014/main" id="{C1CC4329-6A05-4C74-BADF-9CCCF3B8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课最小动作</a:t>
            </a:r>
          </a:p>
        </p:txBody>
      </p:sp>
      <p:sp>
        <p:nvSpPr>
          <p:cNvPr id="19" name="exit-v3">
            <a:extLst xmlns:a="http://schemas.openxmlformats.org/drawingml/2006/main">
              <a:ext uri="{FF2B5EF4-FFF2-40B4-BE49-F238E27FC236}">
                <a16:creationId xmlns:a16="http://schemas.microsoft.com/office/drawing/2014/main" id="{28C7672C-8D61-49B5-A1D6-DE12463A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624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next-bg">
            <a:extLst xmlns:a="http://schemas.openxmlformats.org/drawingml/2006/main">
              <a:ext uri="{FF2B5EF4-FFF2-40B4-BE49-F238E27FC236}">
                <a16:creationId xmlns:a16="http://schemas.microsoft.com/office/drawing/2014/main" id="{FEB99151-CBAB-4016-89C0-0C12ABA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2714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1" name="next">
            <a:extLst xmlns:a="http://schemas.openxmlformats.org/drawingml/2006/main">
              <a:ext uri="{FF2B5EF4-FFF2-40B4-BE49-F238E27FC236}">
                <a16:creationId xmlns:a16="http://schemas.microsoft.com/office/drawing/2014/main" id="{2C804C90-5657-45E0-8F2C-281A205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952625"/>
            <a:ext cx="24098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课输入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 baseline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复现记录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判断门材料包</a:t>
            </a:r>
          </a:p>
        </p:txBody>
      </p:sp>
      <p:sp>
        <p:nvSpPr>
          <p:cNvPr id="22" name="nohomework">
            <a:extLst xmlns:a="http://schemas.openxmlformats.org/drawingml/2006/main">
              <a:ext uri="{FF2B5EF4-FFF2-40B4-BE49-F238E27FC236}">
                <a16:creationId xmlns:a16="http://schemas.microsoft.com/office/drawing/2014/main" id="{42DC8149-5708-459E-8836-2B83A79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不新增正式作业；今天的记录随第 9 课判断门统一检查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2026-09-16T01:27:11.4600000Z</dcterms:created>
  <dcterms:modified xsi:type="dcterms:W3CDTF">2026-09-16T01:27:11.4600000Z</dcterms:modified>
</coreProperties>
</file>