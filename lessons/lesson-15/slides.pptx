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2009e97e014877" /><Relationship Type="http://schemas.openxmlformats.org/officeDocument/2006/relationships/extended-properties" Target="/docProps/app.xml" Id="R2ad6841cea7c43e2" /><Relationship Type="http://schemas.openxmlformats.org/officeDocument/2006/relationships/officeDocument" Target="/ppt/presentation.xml" Id="Rc1bc7ab1bbdd41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d3b98e1cec43b9"/>
  </p:sldMasterIdLst>
  <p:notesMasterIdLst>
    <p:notesMasterId xmlns:r="http://schemas.openxmlformats.org/officeDocument/2006/relationships" r:id="R39b0be5e10a64aaa"/>
  </p:notesMasterIdLst>
  <p:sldIdLst>
    <p:sldId xmlns:r="http://schemas.openxmlformats.org/officeDocument/2006/relationships" id="256" r:id="R309c1a4a42b74ca4"/>
    <p:sldId xmlns:r="http://schemas.openxmlformats.org/officeDocument/2006/relationships" id="257" r:id="R77ac0abd831a4af0"/>
    <p:sldId xmlns:r="http://schemas.openxmlformats.org/officeDocument/2006/relationships" id="258" r:id="Rb943dd9466f1451a"/>
    <p:sldId xmlns:r="http://schemas.openxmlformats.org/officeDocument/2006/relationships" id="259" r:id="R83cab154b21a4c27"/>
    <p:sldId xmlns:r="http://schemas.openxmlformats.org/officeDocument/2006/relationships" id="260" r:id="Rd1e37d3696d9419a"/>
    <p:sldId xmlns:r="http://schemas.openxmlformats.org/officeDocument/2006/relationships" id="261" r:id="R7614ddab4ac54cca"/>
    <p:sldId xmlns:r="http://schemas.openxmlformats.org/officeDocument/2006/relationships" id="262" r:id="R4188a7528aa04d0b"/>
    <p:sldId xmlns:r="http://schemas.openxmlformats.org/officeDocument/2006/relationships" id="263" r:id="Recab76510d184004"/>
    <p:sldId xmlns:r="http://schemas.openxmlformats.org/officeDocument/2006/relationships" id="264" r:id="Re514afe0064242be"/>
    <p:sldId xmlns:r="http://schemas.openxmlformats.org/officeDocument/2006/relationships" id="265" r:id="Rea36086ffabd4d40"/>
    <p:sldId xmlns:r="http://schemas.openxmlformats.org/officeDocument/2006/relationships" id="266" r:id="R49332fc4a43d4198"/>
    <p:sldId xmlns:r="http://schemas.openxmlformats.org/officeDocument/2006/relationships" id="267" r:id="R29e7609c61f04a1c"/>
    <p:sldId xmlns:r="http://schemas.openxmlformats.org/officeDocument/2006/relationships" id="268" r:id="R15293bcfd3914a9b"/>
    <p:sldId xmlns:r="http://schemas.openxmlformats.org/officeDocument/2006/relationships" id="269" r:id="Rda2c449b7b214ab1"/>
    <p:sldId xmlns:r="http://schemas.openxmlformats.org/officeDocument/2006/relationships" id="270" r:id="R0ed03fbcca57477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424dbf1250422d" /><Relationship Type="http://schemas.openxmlformats.org/officeDocument/2006/relationships/slideMaster" Target="/ppt/slideMasters/slideMaster1.xml" Id="R52d3b98e1cec43b9" /><Relationship Type="http://schemas.openxmlformats.org/officeDocument/2006/relationships/notesMaster" Target="/ppt/notesMasters/notesMaster1.xml" Id="R39b0be5e10a64aaa" /><Relationship Type="http://schemas.openxmlformats.org/officeDocument/2006/relationships/presProps" Target="/ppt/presProps.xml" Id="R2b38fb2418934495" /><Relationship Type="http://schemas.openxmlformats.org/officeDocument/2006/relationships/viewProps" Target="/ppt/viewProps.xml" Id="Rd273af5b29894753" /><Relationship Type="http://schemas.openxmlformats.org/officeDocument/2006/relationships/tableStyles" Target="/ppt/tableStyles.xml" Id="Rf5d672b77c424eb3" /><Relationship Type="http://schemas.openxmlformats.org/officeDocument/2006/relationships/slide" Target="/ppt/slides/slide1.xml" Id="R309c1a4a42b74ca4" /><Relationship Type="http://schemas.openxmlformats.org/officeDocument/2006/relationships/slide" Target="/ppt/slides/slide2.xml" Id="R77ac0abd831a4af0" /><Relationship Type="http://schemas.openxmlformats.org/officeDocument/2006/relationships/slide" Target="/ppt/slides/slide3.xml" Id="Rb943dd9466f1451a" /><Relationship Type="http://schemas.openxmlformats.org/officeDocument/2006/relationships/slide" Target="/ppt/slides/slide4.xml" Id="R83cab154b21a4c27" /><Relationship Type="http://schemas.openxmlformats.org/officeDocument/2006/relationships/slide" Target="/ppt/slides/slide5.xml" Id="Rd1e37d3696d9419a" /><Relationship Type="http://schemas.openxmlformats.org/officeDocument/2006/relationships/slide" Target="/ppt/slides/slide6.xml" Id="R7614ddab4ac54cca" /><Relationship Type="http://schemas.openxmlformats.org/officeDocument/2006/relationships/slide" Target="/ppt/slides/slide7.xml" Id="R4188a7528aa04d0b" /><Relationship Type="http://schemas.openxmlformats.org/officeDocument/2006/relationships/slide" Target="/ppt/slides/slide8.xml" Id="Recab76510d184004" /><Relationship Type="http://schemas.openxmlformats.org/officeDocument/2006/relationships/slide" Target="/ppt/slides/slide9.xml" Id="Re514afe0064242be" /><Relationship Type="http://schemas.openxmlformats.org/officeDocument/2006/relationships/slide" Target="/ppt/slides/slide10.xml" Id="Rea36086ffabd4d40" /><Relationship Type="http://schemas.openxmlformats.org/officeDocument/2006/relationships/slide" Target="/ppt/slides/slide11.xml" Id="R49332fc4a43d4198" /><Relationship Type="http://schemas.openxmlformats.org/officeDocument/2006/relationships/slide" Target="/ppt/slides/slide12.xml" Id="R29e7609c61f04a1c" /><Relationship Type="http://schemas.openxmlformats.org/officeDocument/2006/relationships/slide" Target="/ppt/slides/slide13.xml" Id="R15293bcfd3914a9b" /><Relationship Type="http://schemas.openxmlformats.org/officeDocument/2006/relationships/slide" Target="/ppt/slides/slide14.xml" Id="Rda2c449b7b214ab1" /><Relationship Type="http://schemas.openxmlformats.org/officeDocument/2006/relationships/slide" Target="/ppt/slides/slide15.xml" Id="R0ed03fbcca5747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444052213843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50b087bc1149c7" /><Relationship Type="http://schemas.openxmlformats.org/officeDocument/2006/relationships/notesMaster" Target="/ppt/notesMasters/notesMaster1.xml" Id="R04837329006f4c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73d0cd9b8c4f41" /><Relationship Type="http://schemas.openxmlformats.org/officeDocument/2006/relationships/notesMaster" Target="/ppt/notesMasters/notesMaster1.xml" Id="R0451b10ad66847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b5ff65ffdf4f34" /><Relationship Type="http://schemas.openxmlformats.org/officeDocument/2006/relationships/notesMaster" Target="/ppt/notesMasters/notesMaster1.xml" Id="R19da7da0a3eb49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44bd48304d4a3e" /><Relationship Type="http://schemas.openxmlformats.org/officeDocument/2006/relationships/notesMaster" Target="/ppt/notesMasters/notesMaster1.xml" Id="Rf04d6746302a40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aaa70048d84cc2" /><Relationship Type="http://schemas.openxmlformats.org/officeDocument/2006/relationships/notesMaster" Target="/ppt/notesMasters/notesMaster1.xml" Id="Ra48376a63c3d41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db06728b454d14" /><Relationship Type="http://schemas.openxmlformats.org/officeDocument/2006/relationships/notesMaster" Target="/ppt/notesMasters/notesMaster1.xml" Id="R06378ef176d641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5297234d944d1c" /><Relationship Type="http://schemas.openxmlformats.org/officeDocument/2006/relationships/notesMaster" Target="/ppt/notesMasters/notesMaster1.xml" Id="R95a9dda3976e42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41a7b452f14472" /><Relationship Type="http://schemas.openxmlformats.org/officeDocument/2006/relationships/notesMaster" Target="/ppt/notesMasters/notesMaster1.xml" Id="Rf6e9374bacac4e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7073a617c048d5" /><Relationship Type="http://schemas.openxmlformats.org/officeDocument/2006/relationships/notesMaster" Target="/ppt/notesMasters/notesMaster1.xml" Id="Rf42f9c55ed844b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8e0a3c8d66478a" /><Relationship Type="http://schemas.openxmlformats.org/officeDocument/2006/relationships/notesMaster" Target="/ppt/notesMasters/notesMaster1.xml" Id="R38b5e6c19a9342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a21394d72e4a85" /><Relationship Type="http://schemas.openxmlformats.org/officeDocument/2006/relationships/notesMaster" Target="/ppt/notesMasters/notesMaster1.xml" Id="R092012e5c8124e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237bd2d2d9477a" /><Relationship Type="http://schemas.openxmlformats.org/officeDocument/2006/relationships/notesMaster" Target="/ppt/notesMasters/notesMaster1.xml" Id="R736a15b9a44841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91d90eca694985" /><Relationship Type="http://schemas.openxmlformats.org/officeDocument/2006/relationships/notesMaster" Target="/ppt/notesMasters/notesMaster1.xml" Id="R78124b6c80fe419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3bbf2f158c4d25" /><Relationship Type="http://schemas.openxmlformats.org/officeDocument/2006/relationships/notesMaster" Target="/ppt/notesMasters/notesMaster1.xml" Id="R411d988f46f949b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28b43a968849cd" /><Relationship Type="http://schemas.openxmlformats.org/officeDocument/2006/relationships/notesMaster" Target="/ppt/notesMasters/notesMaster1.xml" Id="R3986e89278a146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第15讲 同行评审、论证门预检与修改工作坊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第15讲 同行评审、论证门预检与修改工作坊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学生打开第 14 课 `report.md` 初版。本课不新增正式提交。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讲义导读；assignments.md 第 15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把泛泛评价改成可定位意见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课程构造的评审表达示例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− 论证不严谨。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report.md 结果段：主张“机制已证实”，但没有区分 H1/A2，也没有测量其他质量。建议降级结论并补边界。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指向工作，不评价作者人格或选题时髦度；作者保留判断责任。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把“论证不严谨”改写为可定位句子。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**板书主线**：意见定位 → 严重度 → 回应理由 → 实际diff → 未决项。</a:t>
            </a:r>
          </a:p>
          <a:p xmlns:a="http://schemas.openxmlformats.org/drawingml/2006/main">
            <a:r>
              <a:t>- **诊断问题**：写了修改计划，是否就算处理完意见？</a:t>
            </a:r>
          </a:p>
          <a:p xmlns:a="http://schemas.openxmlformats.org/drawingml/2006/main">
            <a:r>
              <a:t>- **预期回答**：要看正文或工件的实际修改；未完成需标缺口。</a:t>
            </a:r>
          </a:p>
          <a:p xmlns:a="http://schemas.openxmlformats.org/drawingml/2006/main">
            <a:r>
              <a:t>- **常见误答后的追问**：如所有意见都写接受，核对依据，允许合理拒绝或暂缓。</a:t>
            </a:r>
          </a:p>
          <a:p xmlns:a="http://schemas.openxmlformats.org/drawingml/2006/main">
            <a:r>
              <a:t>- **过渡串词**：“第16课会抽查这些修改后的真实记录，而非只看汇报表述。”</a:t>
            </a:r>
          </a:p>
          <a:p xmlns:a="http://schemas.openxmlformats.org/drawingml/2006/main">
            <a:r>
              <a:t>- **当堂最小产出**：真实互评、作者回应、一项已落盘修改与剩余清单。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Smith 1990；Stanford Scientific Writing Unit 8；讲义 §四。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评审必须留下修改证据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peer-review.md：具体意见 → 处理决定与理由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实际文件 diff：至少一项落实修改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revision-plan.md：剩余预检缺口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这些工件直接进入第 16 课；真实意见不足时处理全部，不虚构反馈。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课程虚构工件示例：评审指出结果段结论越界；作者采纳并将 `stable` 改为“支持（待验证）”；修改计划保留替代解释对照缺口。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若真实反馈少于两条，处理全部并记录缺口，不虚构意见。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讲义导读、§五—六。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给三处错误排优先级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§七、贯穿案例：从第 14 课初稿到同行评审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D1：“证明机制，对所有文本有效，stable。”</a:t>
            </a:r>
          </a:p>
          <a:p xmlns:a="http://schemas.openxmlformats.org/drawingml/2006/main">
            <a:r>
              <a:t>D2：只给百分比，没有分母和原始记录位置。</a:t>
            </a:r>
          </a:p>
          <a:p xmlns:a="http://schemas.openxmlformats.org/drawingml/2006/main">
            <a:r>
              <a:t>图1：“组一/组二”，指标和范围不明。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先处理结论越界，再补追踪与图表说明。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打开calibration-pack完整含错版本。三条意见须分别指出位置、问题、影响和修订动作。标准答案只作教师校准；本课主体仍是学生真实互评。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各写一条可执行意见，与教师参考意见比较优先级。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按五个维度检查这份初稿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论证链：主张能反查证据与上游判断吗？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证据充分：强度匹配吗，失败保留吗？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局限：替代解释与边界具体吗？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可复现：表图能定位运行记录吗？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伦理：数据、权限、贡献与 AI 披露透明吗？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rubric 用于诊断，不打总分。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rubric 是诊断工具，不打总分。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§二；assignments.md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留下三条能执行的反馈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留下三条能执行的反馈：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最强处：证据在哪里？</a:t>
            </a:r>
          </a:p>
          <a:p xmlns:a="http://schemas.openxmlformats.org/drawingml/2006/main">
            <a:r>
              <a:t>最大风险：会卡住哪条门条件？</a:t>
            </a:r>
          </a:p>
          <a:p xmlns:a="http://schemas.openxmlformats.org/drawingml/2006/main">
            <a:r>
              <a:t>可执行建议：最小改动是什么？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指向具体段落、表、证据项或运行记录。</a:t>
            </a:r>
          </a:p>
          <a:p xmlns:a="http://schemas.openxmlformats.org/drawingml/2006/main">
            <a:r>
              <a:t>本例核对点：Q1 包内一致；H1/A2 未决；质量与范围仍有缺口。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禁止“挺好”“不严谨”“建议多做实验”这类无位置反馈。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§三—四。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打开同伴初稿，开始交叉评审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输入：固定同伴 A 的真实初稿；第二轮换同伴 B 或三人组轮转。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保存：peer-review.md。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完成样例（课程构造）：位置=结果段；观察=把待验证写成 stable；风险=证据强度越界；建议=降级并补替代解释。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记录版本、位置、观察、风险与建议；只记录，不当场辩论。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实践停留页。每轮结束时提醒交换角色；教师只纠正泛化反馈。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§三、练习 3；分组沿用第 8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根据真实理由选择处理动作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采纳：缺陷成立，直接修改。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澄清：已有内容被误读。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补证：需要新增证据或实验。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保留异议：意见与证据或约束冲突。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暂缓：当前条件不足，写阻塞、风险与复核点。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不要求五类齐全，也不要求机械拒绝。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暂缓不等于搁置：写明阻塞、风险和下次复核点。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§五；Booth et al. Ch. 9, 11。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为这条意见写出回应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课程虚构回应样例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动作：采纳；理由：当前证据不能排除替代解释。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边界：同一批 3 份构造源文本；依据：评价报告 §2。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主张方向：Q1 包内一致、H1/A2 未决；工件：review；影响工件：report.md、结论追踪记录。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回应写入 peer-review.md；优先级写入 revision-plan.md。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实践停留页。作者处理收到的真实意见；不凑类别。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§五；模板文件。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现在修改最可能卡门的一项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课程虚构稿件的实际文本修改示范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− 阅读卡机制已证实，状态 stable。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本教学构造包中阅读卡组总遗漏率较低，方向与 Q1 一致，H1 机制未决。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H1/A2 尚未区分，A1 质量代价未评价，A3 范围受限；工件：review；机制判断：仍不能判断。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优先：致命 → 重要 → 表达。改实际文件，保存 diff，更新影响工件。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实践停留页。普通技术失败进入修复与复盘，不自动视为学术不端。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§四—五；assessment.md 学术规范。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证据不足，怎样修改主句？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§七、贯穿案例：从第 14 课初稿到同行评审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Q1：在构造包中方向一致。</a:t>
            </a:r>
          </a:p>
          <a:p xmlns:a="http://schemas.openxmlformats.org/drawingml/2006/main">
            <a:r>
              <a:t>H1/A2：仍不能区分。</a:t>
            </a:r>
          </a:p>
          <a:p xmlns:a="http://schemas.openxmlformats.org/drawingml/2006/main">
            <a:r>
              <a:t>其他质量：尚未测量。</a:t>
            </a:r>
          </a:p>
          <a:p xmlns:a="http://schemas.openxmlformats.org/drawingml/2006/main">
            <a:r>
              <a:t>范围：保留T03负例，撤回“所有文本”。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修改正文，再更新追踪状态。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不要把“机制已证明”简单改成“支持待验证”。证据没有回答机制时，状态应为不能判断；工件成熟度另行检查。修改动作需落到文件并形成diff。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核对一条作者回应是否已经改变正文与追踪记录。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保存第二项修改或一个缺口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从当前稿件选一项：第二项高优先级修改／证据定位／结论降级与边界／AI 与伦理披露。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保存到相应项目文件。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完成样例（课程构造）：未能补做对照 → 暂缓机制结论 → 记录缺口和复核点。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完成标志：文件已保存，剩余风险可定位。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实践停留页。结束时检查文件已保存。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§五—六。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逐项预检，不假装全部通过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只标：已满足／部分满足／未覆盖。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关键结论可追溯；stable 符合证据条件；工作流含运行、权限、评价与失败；伦理、许可、贡献与 AI 完整；工件状态与门检一致。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把剩余缺口写入 revision-plan.md。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本课完成主要预检，不要求在课堂假装全部通过。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assignments.md Checkpoint 4；讲义 §六。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真实意见 → 处理决定 → 实际修改 → 剩余边界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反馈不替代作者判断；理由回到证据和约束。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完成标志是修改证据，不只是修改计划。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退出动作：学生指出已改的一处和仍待处理的一处。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讲义总结；Booth et al.；assignments.md。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带齐展示与抽查材料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全员闪电报告：研究问题、关键结果、结论边界。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分组证据／工作流演示：证据定位、真实作用、失败与人工判断。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教师抽查：实验 ID、引用或工作流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16 课使用现有项目材料，不新增独立汇报文档。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确认每人材料位置；不再安排新的独立汇报文档。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第 16 课讲义；assignments.md。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e72c22ed4a41ac" /><Relationship Type="http://schemas.openxmlformats.org/officeDocument/2006/relationships/image" Target="/ppt/media/image.png" Id="Rf5621e5a525142db" /><Relationship Type="http://schemas.openxmlformats.org/officeDocument/2006/relationships/image" Target="/ppt/media/image2.png" Id="Rf7da8f35b7244203" /><Relationship Type="http://schemas.openxmlformats.org/officeDocument/2006/relationships/image" Target="/ppt/media/image3.png" Id="Rf66b37f1a8974014" /><Relationship Type="http://schemas.openxmlformats.org/officeDocument/2006/relationships/image" Target="/ppt/media/image4.png" Id="R275758a98a3043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9903c855534c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162e1a4e24aef" /><Relationship Type="http://schemas.openxmlformats.org/officeDocument/2006/relationships/image" Target="/ppt/media/image2.png" Id="R71c65a631c114145" /><Relationship Type="http://schemas.openxmlformats.org/officeDocument/2006/relationships/image" Target="/ppt/media/image5.png" Id="R578840a791704a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ebb3e7da94e5d" /><Relationship Type="http://schemas.openxmlformats.org/officeDocument/2006/relationships/image" Target="/ppt/media/image.png" Id="Ref35d835950f4b76" /><Relationship Type="http://schemas.openxmlformats.org/officeDocument/2006/relationships/image" Target="/ppt/media/image3.png" Id="R17d504ada779494c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21e5a525142d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da8f35b7244203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6b37f1a897401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758a98a3043b0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c65a631c114145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840a79170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5d835950f4b7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d504ada779494c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e228391bf641e7" /><Relationship Type="http://schemas.openxmlformats.org/officeDocument/2006/relationships/slideLayout" Target="/ppt/slideLayouts/slideLayout1.xml" Id="R3b4df7013c47473f" /><Relationship Type="http://schemas.openxmlformats.org/officeDocument/2006/relationships/slideLayout" Target="/ppt/slideLayouts/slideLayout2.xml" Id="R5567a08a5a8842e5" /><Relationship Type="http://schemas.openxmlformats.org/officeDocument/2006/relationships/slideLayout" Target="/ppt/slideLayouts/slideLayout3.xml" Id="R83afb35c748740ba" /><Relationship Type="http://schemas.openxmlformats.org/officeDocument/2006/relationships/slideLayout" Target="/ppt/slideLayouts/slideLayout4.xml" Id="Rd2186c5d7af3450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4df7013c47473f"/>
    <p:sldLayoutId xmlns:r="http://schemas.openxmlformats.org/officeDocument/2006/relationships" id="2147483650" r:id="R5567a08a5a8842e5"/>
    <p:sldLayoutId xmlns:r="http://schemas.openxmlformats.org/officeDocument/2006/relationships" id="2147483651" r:id="R83afb35c748740ba"/>
    <p:sldLayoutId xmlns:r="http://schemas.openxmlformats.org/officeDocument/2006/relationships" id="2147483652" r:id="Rd2186c5d7af3450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4e5736b064bb4" /><Relationship Type="http://schemas.openxmlformats.org/officeDocument/2006/relationships/notesSlide" Target="/ppt/notesSlides/notesSlide1.xml" Id="R9efa588776c346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90caac58f440f9" /><Relationship Type="http://schemas.openxmlformats.org/officeDocument/2006/relationships/notesSlide" Target="/ppt/notesSlides/notesSlide2.xml" Id="R31304eac350242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b4ca1850f44a92" /><Relationship Type="http://schemas.openxmlformats.org/officeDocument/2006/relationships/notesSlide" Target="/ppt/notesSlides/notesSlide3.xml" Id="R1b6adc2fb5a342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4965e1bb50e4002" /><Relationship Type="http://schemas.openxmlformats.org/officeDocument/2006/relationships/notesSlide" Target="/ppt/notesSlides/notesSlide4.xml" Id="R5a9485c5dd8546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42f9d87f37d4182" /><Relationship Type="http://schemas.openxmlformats.org/officeDocument/2006/relationships/notesSlide" Target="/ppt/notesSlides/notesSlide5.xml" Id="Ra3b1ac9d4fed4d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e8bc1f00bb04b4b" /><Relationship Type="http://schemas.openxmlformats.org/officeDocument/2006/relationships/notesSlide" Target="/ppt/notesSlides/notesSlide6.xml" Id="Rfd05859dda9847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d5959c899d432a" /><Relationship Type="http://schemas.openxmlformats.org/officeDocument/2006/relationships/notesSlide" Target="/ppt/notesSlides/notesSlide7.xml" Id="R82b5ee1845a74d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fba2f55a51473f" /><Relationship Type="http://schemas.openxmlformats.org/officeDocument/2006/relationships/notesSlide" Target="/ppt/notesSlides/notesSlide8.xml" Id="R7ac97bf1e2db40d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09b732933d4100" /><Relationship Type="http://schemas.openxmlformats.org/officeDocument/2006/relationships/notesSlide" Target="/ppt/notesSlides/notesSlide9.xml" Id="Rf7a7238cf09840f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c1a2de0613440d" /><Relationship Type="http://schemas.openxmlformats.org/officeDocument/2006/relationships/notesSlide" Target="/ppt/notesSlides/notesSlide10.xml" Id="Rbb7e095b7a854e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c532665a1147f4" /><Relationship Type="http://schemas.openxmlformats.org/officeDocument/2006/relationships/notesSlide" Target="/ppt/notesSlides/notesSlide11.xml" Id="R4c0370155a094b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887fce2c4748a6" /><Relationship Type="http://schemas.openxmlformats.org/officeDocument/2006/relationships/notesSlide" Target="/ppt/notesSlides/notesSlide12.xml" Id="Rd0bc563aba9145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c7a8a152b894fcc" /><Relationship Type="http://schemas.openxmlformats.org/officeDocument/2006/relationships/notesSlide" Target="/ppt/notesSlides/notesSlide13.xml" Id="R3caae282725b41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abb037b35b049f1" /><Relationship Type="http://schemas.openxmlformats.org/officeDocument/2006/relationships/notesSlide" Target="/ppt/notesSlides/notesSlide14.xml" Id="R2af106f5e52542e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be3cbce72dc4849" /><Relationship Type="http://schemas.openxmlformats.org/officeDocument/2006/relationships/notesSlide" Target="/ppt/notesSlides/notesSlide15.xml" Id="R8b576b474a364a1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DFB50CD-3045-411F-9A59-3ACEDFE4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第15讲 同行评审、论证门预检与修改工作坊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把泛泛评价改成可定位意见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content-197">
            <a:extLst xmlns:a="http://schemas.openxmlformats.org/drawingml/2006/main">
              <a:ext uri="{FF2B5EF4-FFF2-40B4-BE49-F238E27FC236}">
                <a16:creationId xmlns:a16="http://schemas.microsoft.com/office/drawing/2014/main" id="{7358901E-261D-48DF-9106-A06C2722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课程构造的评审表达示例</a:t>
            </a:r>
          </a:p>
        </p:txBody>
      </p:sp>
      <p:sp>
        <p:nvSpPr>
          <p:cNvPr id="7" name="content-198">
            <a:extLst xmlns:a="http://schemas.openxmlformats.org/drawingml/2006/main">
              <a:ext uri="{FF2B5EF4-FFF2-40B4-BE49-F238E27FC236}">
                <a16:creationId xmlns:a16="http://schemas.microsoft.com/office/drawing/2014/main" id="{707F6B1B-77D0-49DC-994A-B07520BF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− 论证不严谨。</a:t>
            </a:r>
          </a:p>
        </p:txBody>
      </p:sp>
      <p:sp>
        <p:nvSpPr>
          <p:cNvPr id="8" name="content-199">
            <a:extLst xmlns:a="http://schemas.openxmlformats.org/drawingml/2006/main">
              <a:ext uri="{FF2B5EF4-FFF2-40B4-BE49-F238E27FC236}">
                <a16:creationId xmlns:a16="http://schemas.microsoft.com/office/drawing/2014/main" id="{4C08204D-104B-4837-BA64-F98E662F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798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report.md 结果段：主张“机制已证实”，但没有区分 H1/A2，也没有测量其他质量。建议降级结论并补边界。</a:t>
            </a:r>
          </a:p>
        </p:txBody>
      </p:sp>
      <p:sp>
        <p:nvSpPr>
          <p:cNvPr id="9" name="content-200">
            <a:extLst xmlns:a="http://schemas.openxmlformats.org/drawingml/2006/main">
              <a:ext uri="{FF2B5EF4-FFF2-40B4-BE49-F238E27FC236}">
                <a16:creationId xmlns:a16="http://schemas.microsoft.com/office/drawing/2014/main" id="{AACC0971-376C-4F37-84C2-1D75CD8A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621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指向工作，不评价作者人格或选题时髦度；作者保留判断责任。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评审必须留下修改证据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C5EC8D64-9AE7-4001-88DA-4B8C396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课程虚构评审工件 · 同一条意见的处理链</a:t>
            </a:r>
          </a:p>
        </p:txBody>
      </p:sp>
      <p:sp>
        <p:nvSpPr>
          <p:cNvPr id="7" name="file0-top">
            <a:extLst xmlns:a="http://schemas.openxmlformats.org/drawingml/2006/main">
              <a:ext uri="{FF2B5EF4-FFF2-40B4-BE49-F238E27FC236}">
                <a16:creationId xmlns:a16="http://schemas.microsoft.com/office/drawing/2014/main" id="{F95BCE73-CC65-4C45-82FA-CD85FEE1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8" name="file0-file">
            <a:extLst xmlns:a="http://schemas.openxmlformats.org/drawingml/2006/main">
              <a:ext uri="{FF2B5EF4-FFF2-40B4-BE49-F238E27FC236}">
                <a16:creationId xmlns:a16="http://schemas.microsoft.com/office/drawing/2014/main" id="{3CD1BE5B-49E5-43F0-869C-79BB51BE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peer-review.md</a:t>
            </a:r>
          </a:p>
        </p:txBody>
      </p:sp>
      <p:sp>
        <p:nvSpPr>
          <p:cNvPr id="9" name="file0-line0">
            <a:extLst xmlns:a="http://schemas.openxmlformats.org/drawingml/2006/main">
              <a:ext uri="{FF2B5EF4-FFF2-40B4-BE49-F238E27FC236}">
                <a16:creationId xmlns:a16="http://schemas.microsoft.com/office/drawing/2014/main" id="{256DC208-CF57-4792-B65A-639DFE04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结果段：结论越界</a:t>
            </a:r>
          </a:p>
        </p:txBody>
      </p:sp>
      <p:sp>
        <p:nvSpPr>
          <p:cNvPr id="10" name="file0-line1">
            <a:extLst xmlns:a="http://schemas.openxmlformats.org/drawingml/2006/main">
              <a:ext uri="{FF2B5EF4-FFF2-40B4-BE49-F238E27FC236}">
                <a16:creationId xmlns:a16="http://schemas.microsoft.com/office/drawing/2014/main" id="{780A5EA4-67E9-433E-8B80-5831B2DC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采纳：降低结论强度</a:t>
            </a:r>
          </a:p>
        </p:txBody>
      </p:sp>
      <p:sp>
        <p:nvSpPr>
          <p:cNvPr id="11" name="file1-top">
            <a:extLst xmlns:a="http://schemas.openxmlformats.org/drawingml/2006/main">
              <a:ext uri="{FF2B5EF4-FFF2-40B4-BE49-F238E27FC236}">
                <a16:creationId xmlns:a16="http://schemas.microsoft.com/office/drawing/2014/main" id="{F6D81035-356D-4D2B-8CF9-C91C8314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file1-file">
            <a:extLst xmlns:a="http://schemas.openxmlformats.org/drawingml/2006/main">
              <a:ext uri="{FF2B5EF4-FFF2-40B4-BE49-F238E27FC236}">
                <a16:creationId xmlns:a16="http://schemas.microsoft.com/office/drawing/2014/main" id="{6B438290-3E2D-4C2A-AF38-A39A715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实际文件 diff</a:t>
            </a:r>
          </a:p>
        </p:txBody>
      </p:sp>
      <p:sp>
        <p:nvSpPr>
          <p:cNvPr id="13" name="file1-line0">
            <a:extLst xmlns:a="http://schemas.openxmlformats.org/drawingml/2006/main">
              <a:ext uri="{FF2B5EF4-FFF2-40B4-BE49-F238E27FC236}">
                <a16:creationId xmlns:a16="http://schemas.microsoft.com/office/drawing/2014/main" id="{30EFAE74-23AC-4150-B0C1-6B3909E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− stable</a:t>
            </a:r>
          </a:p>
        </p:txBody>
      </p:sp>
      <p:sp>
        <p:nvSpPr>
          <p:cNvPr id="14" name="file1-line1">
            <a:extLst xmlns:a="http://schemas.openxmlformats.org/drawingml/2006/main">
              <a:ext uri="{FF2B5EF4-FFF2-40B4-BE49-F238E27FC236}">
                <a16:creationId xmlns:a16="http://schemas.microsoft.com/office/drawing/2014/main" id="{089303E4-1616-402E-B57A-5AD2036C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支持（待验证）</a:t>
            </a:r>
          </a:p>
        </p:txBody>
      </p:sp>
      <p:sp>
        <p:nvSpPr>
          <p:cNvPr id="15" name="file2-top">
            <a:extLst xmlns:a="http://schemas.openxmlformats.org/drawingml/2006/main">
              <a:ext uri="{FF2B5EF4-FFF2-40B4-BE49-F238E27FC236}">
                <a16:creationId xmlns:a16="http://schemas.microsoft.com/office/drawing/2014/main" id="{94B715CA-51E5-45A2-AAD7-633C4812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file2-file">
            <a:extLst xmlns:a="http://schemas.openxmlformats.org/drawingml/2006/main">
              <a:ext uri="{FF2B5EF4-FFF2-40B4-BE49-F238E27FC236}">
                <a16:creationId xmlns:a16="http://schemas.microsoft.com/office/drawing/2014/main" id="{C436421C-CF53-4A68-A542-BF7F1486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revision-plan.md</a:t>
            </a:r>
          </a:p>
        </p:txBody>
      </p:sp>
      <p:sp>
        <p:nvSpPr>
          <p:cNvPr id="17" name="file2-line0">
            <a:extLst xmlns:a="http://schemas.openxmlformats.org/drawingml/2006/main">
              <a:ext uri="{FF2B5EF4-FFF2-40B4-BE49-F238E27FC236}">
                <a16:creationId xmlns:a16="http://schemas.microsoft.com/office/drawing/2014/main" id="{B3FC4D39-D473-4871-B675-87A14A4E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仍缺：替代解释对照</a:t>
            </a:r>
          </a:p>
        </p:txBody>
      </p:sp>
      <p:sp>
        <p:nvSpPr>
          <p:cNvPr id="18" name="file2-line1">
            <a:extLst xmlns:a="http://schemas.openxmlformats.org/drawingml/2006/main">
              <a:ext uri="{FF2B5EF4-FFF2-40B4-BE49-F238E27FC236}">
                <a16:creationId xmlns:a16="http://schemas.microsoft.com/office/drawing/2014/main" id="{F440C57A-EB52-4C97-B69D-BC55729C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进入第 16 课复核</a:t>
            </a:r>
          </a:p>
        </p:txBody>
      </p:sp>
      <p:sp>
        <p:nvSpPr>
          <p:cNvPr id="19" name="no-fake">
            <a:extLst xmlns:a="http://schemas.openxmlformats.org/drawingml/2006/main">
              <a:ext uri="{FF2B5EF4-FFF2-40B4-BE49-F238E27FC236}">
                <a16:creationId xmlns:a16="http://schemas.microsoft.com/office/drawing/2014/main" id="{3DC65783-36E6-49F5-96F6-10DBB1A6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真实意见不足时处理全部，不虚构反馈。</a:t>
            </a:r>
          </a:p>
        </p:txBody>
      </p:sp>
      <p:sp>
        <p:nvSpPr>
          <p:cNvPr id="20" name="source">
            <a:extLst xmlns:a="http://schemas.openxmlformats.org/drawingml/2006/main">
              <a:ext uri="{FF2B5EF4-FFF2-40B4-BE49-F238E27FC236}">
                <a16:creationId xmlns:a16="http://schemas.microsoft.com/office/drawing/2014/main" id="{FFA260EB-B25B-4515-8C16-4BA32448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给三处错误排优先级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content-201">
            <a:extLst xmlns:a="http://schemas.openxmlformats.org/drawingml/2006/main">
              <a:ext uri="{FF2B5EF4-FFF2-40B4-BE49-F238E27FC236}">
                <a16:creationId xmlns:a16="http://schemas.microsoft.com/office/drawing/2014/main" id="{297CD03F-BB99-4F45-8989-ECA0FA81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D1：“证明机制，对所有文本有效，stable。”</a:t>
            </a:r>
          </a:p>
        </p:txBody>
      </p:sp>
      <p:sp>
        <p:nvSpPr>
          <p:cNvPr id="7" name="content-202">
            <a:extLst xmlns:a="http://schemas.openxmlformats.org/drawingml/2006/main">
              <a:ext uri="{FF2B5EF4-FFF2-40B4-BE49-F238E27FC236}">
                <a16:creationId xmlns:a16="http://schemas.microsoft.com/office/drawing/2014/main" id="{12B97342-63B0-4BDE-ACE2-5B9B1A02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D2：只给百分比，没有分母和原始记录位置。</a:t>
            </a:r>
          </a:p>
        </p:txBody>
      </p:sp>
      <p:sp>
        <p:nvSpPr>
          <p:cNvPr id="8" name="content-203">
            <a:extLst xmlns:a="http://schemas.openxmlformats.org/drawingml/2006/main">
              <a:ext uri="{FF2B5EF4-FFF2-40B4-BE49-F238E27FC236}">
                <a16:creationId xmlns:a16="http://schemas.microsoft.com/office/drawing/2014/main" id="{50DA49D8-EEC1-4F97-AA82-F5A1E621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图1：“组一/组二”，指标和范围不明。</a:t>
            </a:r>
          </a:p>
        </p:txBody>
      </p:sp>
      <p:sp>
        <p:nvSpPr>
          <p:cNvPr id="9" name="content-204">
            <a:extLst xmlns:a="http://schemas.openxmlformats.org/drawingml/2006/main">
              <a:ext uri="{FF2B5EF4-FFF2-40B4-BE49-F238E27FC236}">
                <a16:creationId xmlns:a16="http://schemas.microsoft.com/office/drawing/2014/main" id="{B1419711-54CD-4FFA-A60C-4C9AADC7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先处理结论越界，再补追踪与图表说明。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按五个维度检查这份初稿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rubric0-key">
            <a:extLst xmlns:a="http://schemas.openxmlformats.org/drawingml/2006/main">
              <a:ext uri="{FF2B5EF4-FFF2-40B4-BE49-F238E27FC236}">
                <a16:creationId xmlns:a16="http://schemas.microsoft.com/office/drawing/2014/main" id="{AA3AE37D-8DF6-4E60-BF55-91EA73E0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论证链</a:t>
            </a:r>
          </a:p>
        </p:txBody>
      </p:sp>
      <p:sp>
        <p:nvSpPr>
          <p:cNvPr id="7" name="rubric0-value">
            <a:extLst xmlns:a="http://schemas.openxmlformats.org/drawingml/2006/main">
              <a:ext uri="{FF2B5EF4-FFF2-40B4-BE49-F238E27FC236}">
                <a16:creationId xmlns:a16="http://schemas.microsoft.com/office/drawing/2014/main" id="{235D61C5-53A5-4F10-AA63-E6983406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2287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能反查证据与上游判断？</a:t>
            </a:r>
          </a:p>
        </p:txBody>
      </p:sp>
      <p:sp>
        <p:nvSpPr>
          <p:cNvPr id="8" name="rubric0-rule">
            <a:extLst xmlns:a="http://schemas.openxmlformats.org/drawingml/2006/main">
              <a:ext uri="{FF2B5EF4-FFF2-40B4-BE49-F238E27FC236}">
                <a16:creationId xmlns:a16="http://schemas.microsoft.com/office/drawing/2014/main" id="{B783CECE-4C15-4D8E-96FF-3370C37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rubric1-key">
            <a:extLst xmlns:a="http://schemas.openxmlformats.org/drawingml/2006/main">
              <a:ext uri="{FF2B5EF4-FFF2-40B4-BE49-F238E27FC236}">
                <a16:creationId xmlns:a16="http://schemas.microsoft.com/office/drawing/2014/main" id="{8D1F7A0F-2974-4EB3-AF2B-7CDAE519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证据充分</a:t>
            </a:r>
          </a:p>
        </p:txBody>
      </p:sp>
      <p:sp>
        <p:nvSpPr>
          <p:cNvPr id="10" name="rubric1-value">
            <a:extLst xmlns:a="http://schemas.openxmlformats.org/drawingml/2006/main">
              <a:ext uri="{FF2B5EF4-FFF2-40B4-BE49-F238E27FC236}">
                <a16:creationId xmlns:a16="http://schemas.microsoft.com/office/drawing/2014/main" id="{BAB19033-D058-42E2-A762-7F4EF1FC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050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状态强度匹配？失败是否保留？</a:t>
            </a:r>
          </a:p>
        </p:txBody>
      </p:sp>
      <p:sp>
        <p:nvSpPr>
          <p:cNvPr id="11" name="rubric1-rule">
            <a:extLst xmlns:a="http://schemas.openxmlformats.org/drawingml/2006/main">
              <a:ext uri="{FF2B5EF4-FFF2-40B4-BE49-F238E27FC236}">
                <a16:creationId xmlns:a16="http://schemas.microsoft.com/office/drawing/2014/main" id="{EBFB433A-D665-49B5-9196-21ED52A9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rubric2-key">
            <a:extLst xmlns:a="http://schemas.openxmlformats.org/drawingml/2006/main">
              <a:ext uri="{FF2B5EF4-FFF2-40B4-BE49-F238E27FC236}">
                <a16:creationId xmlns:a16="http://schemas.microsoft.com/office/drawing/2014/main" id="{9C1EC156-0618-49BE-8320-2DF5A03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局限</a:t>
            </a:r>
          </a:p>
        </p:txBody>
      </p:sp>
      <p:sp>
        <p:nvSpPr>
          <p:cNvPr id="13" name="rubric2-value">
            <a:extLst xmlns:a="http://schemas.openxmlformats.org/drawingml/2006/main">
              <a:ext uri="{FF2B5EF4-FFF2-40B4-BE49-F238E27FC236}">
                <a16:creationId xmlns:a16="http://schemas.microsoft.com/office/drawing/2014/main" id="{3BF10C0C-F3D9-4094-8CA4-A703B41C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813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替代解释与适用边界具体？</a:t>
            </a:r>
          </a:p>
        </p:txBody>
      </p:sp>
      <p:sp>
        <p:nvSpPr>
          <p:cNvPr id="14" name="rubric2-rule">
            <a:extLst xmlns:a="http://schemas.openxmlformats.org/drawingml/2006/main">
              <a:ext uri="{FF2B5EF4-FFF2-40B4-BE49-F238E27FC236}">
                <a16:creationId xmlns:a16="http://schemas.microsoft.com/office/drawing/2014/main" id="{86EA2830-805C-4D59-96B5-86A33389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rubric3-key">
            <a:extLst xmlns:a="http://schemas.openxmlformats.org/drawingml/2006/main">
              <a:ext uri="{FF2B5EF4-FFF2-40B4-BE49-F238E27FC236}">
                <a16:creationId xmlns:a16="http://schemas.microsoft.com/office/drawing/2014/main" id="{811F82B6-39ED-41F7-A05B-3A7C6A55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可复现</a:t>
            </a:r>
          </a:p>
        </p:txBody>
      </p:sp>
      <p:sp>
        <p:nvSpPr>
          <p:cNvPr id="16" name="rubric3-value">
            <a:extLst xmlns:a="http://schemas.openxmlformats.org/drawingml/2006/main">
              <a:ext uri="{FF2B5EF4-FFF2-40B4-BE49-F238E27FC236}">
                <a16:creationId xmlns:a16="http://schemas.microsoft.com/office/drawing/2014/main" id="{7DD6ACD2-F95F-4C96-96C9-612622CA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表图能定位运行记录？</a:t>
            </a:r>
          </a:p>
        </p:txBody>
      </p:sp>
      <p:sp>
        <p:nvSpPr>
          <p:cNvPr id="17" name="rubric3-rule">
            <a:extLst xmlns:a="http://schemas.openxmlformats.org/drawingml/2006/main">
              <a:ext uri="{FF2B5EF4-FFF2-40B4-BE49-F238E27FC236}">
                <a16:creationId xmlns:a16="http://schemas.microsoft.com/office/drawing/2014/main" id="{B0EEBC1E-7A0D-4736-8C0E-96962050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rubric4-key">
            <a:extLst xmlns:a="http://schemas.openxmlformats.org/drawingml/2006/main">
              <a:ext uri="{FF2B5EF4-FFF2-40B4-BE49-F238E27FC236}">
                <a16:creationId xmlns:a16="http://schemas.microsoft.com/office/drawing/2014/main" id="{CFFE7848-46B1-4351-89DE-BF6494BE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伦理</a:t>
            </a:r>
          </a:p>
        </p:txBody>
      </p:sp>
      <p:sp>
        <p:nvSpPr>
          <p:cNvPr id="19" name="rubric4-value">
            <a:extLst xmlns:a="http://schemas.openxmlformats.org/drawingml/2006/main">
              <a:ext uri="{FF2B5EF4-FFF2-40B4-BE49-F238E27FC236}">
                <a16:creationId xmlns:a16="http://schemas.microsoft.com/office/drawing/2014/main" id="{8BD1C2CF-C252-4785-8F1D-54EBA1BE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339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数据、权限、贡献与 AI 披露透明？</a:t>
            </a:r>
          </a:p>
        </p:txBody>
      </p:sp>
      <p:sp>
        <p:nvSpPr>
          <p:cNvPr id="20" name="rubric4-rule">
            <a:extLst xmlns:a="http://schemas.openxmlformats.org/drawingml/2006/main">
              <a:ext uri="{FF2B5EF4-FFF2-40B4-BE49-F238E27FC236}">
                <a16:creationId xmlns:a16="http://schemas.microsoft.com/office/drawing/2014/main" id="{EFE57D10-918F-4135-9F4D-9873D28A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no-score">
            <a:extLst xmlns:a="http://schemas.openxmlformats.org/drawingml/2006/main">
              <a:ext uri="{FF2B5EF4-FFF2-40B4-BE49-F238E27FC236}">
                <a16:creationId xmlns:a16="http://schemas.microsoft.com/office/drawing/2014/main" id="{546B7F60-1C84-4064-B00A-921871D1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299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rubric 用于诊断，不打总分。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D008F139-6B6F-4BB0-ABA6-54E7F076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Smith (1990), The Task of the Referee, Computer 23(4):65–71 · 本课五维 rubric 为课程改编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留下三条能执行的反馈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content-205">
            <a:extLst xmlns:a="http://schemas.openxmlformats.org/drawingml/2006/main">
              <a:ext uri="{FF2B5EF4-FFF2-40B4-BE49-F238E27FC236}">
                <a16:creationId xmlns:a16="http://schemas.microsoft.com/office/drawing/2014/main" id="{2981A15C-69DF-427C-B0A7-0909342A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留下三条能执行的反馈：</a:t>
            </a:r>
          </a:p>
        </p:txBody>
      </p:sp>
      <p:sp>
        <p:nvSpPr>
          <p:cNvPr id="7" name="content-206">
            <a:extLst xmlns:a="http://schemas.openxmlformats.org/drawingml/2006/main">
              <a:ext uri="{FF2B5EF4-FFF2-40B4-BE49-F238E27FC236}">
                <a16:creationId xmlns:a16="http://schemas.microsoft.com/office/drawing/2014/main" id="{CDF84AC0-AEFB-482D-B4B6-F8F5A64B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最强处：证据在哪里？</a:t>
            </a:r>
          </a:p>
        </p:txBody>
      </p:sp>
      <p:sp>
        <p:nvSpPr>
          <p:cNvPr id="8" name="content-207">
            <a:extLst xmlns:a="http://schemas.openxmlformats.org/drawingml/2006/main">
              <a:ext uri="{FF2B5EF4-FFF2-40B4-BE49-F238E27FC236}">
                <a16:creationId xmlns:a16="http://schemas.microsoft.com/office/drawing/2014/main" id="{7B3FAC74-D72C-4FBA-B282-193BE925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最大风险：会卡住哪条门条件？</a:t>
            </a:r>
          </a:p>
        </p:txBody>
      </p:sp>
      <p:sp>
        <p:nvSpPr>
          <p:cNvPr id="9" name="content-208">
            <a:extLst xmlns:a="http://schemas.openxmlformats.org/drawingml/2006/main">
              <a:ext uri="{FF2B5EF4-FFF2-40B4-BE49-F238E27FC236}">
                <a16:creationId xmlns:a16="http://schemas.microsoft.com/office/drawing/2014/main" id="{8081188F-56F5-41EC-8B85-A4821511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可执行建议：最小改动是什么？</a:t>
            </a:r>
          </a:p>
        </p:txBody>
      </p:sp>
      <p:sp>
        <p:nvSpPr>
          <p:cNvPr id="10" name="content-209">
            <a:extLst xmlns:a="http://schemas.openxmlformats.org/drawingml/2006/main">
              <a:ext uri="{FF2B5EF4-FFF2-40B4-BE49-F238E27FC236}">
                <a16:creationId xmlns:a16="http://schemas.microsoft.com/office/drawing/2014/main" id="{0732160F-3A9E-4858-BD0A-AB6DAF7F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指向具体段落、表、证据项或运行记录。</a:t>
            </a:r>
          </a:p>
        </p:txBody>
      </p:sp>
      <p:sp>
        <p:nvSpPr>
          <p:cNvPr id="11" name="content-210">
            <a:extLst xmlns:a="http://schemas.openxmlformats.org/drawingml/2006/main">
              <a:ext uri="{FF2B5EF4-FFF2-40B4-BE49-F238E27FC236}">
                <a16:creationId xmlns:a16="http://schemas.microsoft.com/office/drawing/2014/main" id="{75AD6FB3-5992-4E33-BBD6-796B2425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本例核对点：Q1 包内一致；H1/A2 未决；质量与范围仍有缺口。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打开同伴初稿，开始交叉评审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70E8B8F7-32D9-4316-9B0F-BD34CCE2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完成样例为课程构造评审记录</a:t>
            </a:r>
          </a:p>
        </p:txBody>
      </p:sp>
      <p:sp>
        <p:nvSpPr>
          <p:cNvPr id="7" name="action">
            <a:extLst xmlns:a="http://schemas.openxmlformats.org/drawingml/2006/main">
              <a:ext uri="{FF2B5EF4-FFF2-40B4-BE49-F238E27FC236}">
                <a16:creationId xmlns:a16="http://schemas.microsoft.com/office/drawing/2014/main" id="{DEFA4358-DF2D-4F71-B187-63C823FB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667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打开同伴初稿，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按三问留下反馈。</a:t>
            </a:r>
          </a:p>
        </p:txBody>
      </p:sp>
      <p:sp>
        <p:nvSpPr>
          <p:cNvPr id="8" name="roles">
            <a:extLst xmlns:a="http://schemas.openxmlformats.org/drawingml/2006/main">
              <a:ext uri="{FF2B5EF4-FFF2-40B4-BE49-F238E27FC236}">
                <a16:creationId xmlns:a16="http://schemas.microsoft.com/office/drawing/2014/main" id="{C48D5BE8-1BA5-4642-8294-C6F1FC62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469582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第一轮：固定同伴 A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第二轮：同伴 B 或三人轮转</a:t>
            </a:r>
          </a:p>
        </p:txBody>
      </p:sp>
      <p:sp>
        <p:nvSpPr>
          <p:cNvPr id="9" name="save">
            <a:extLst xmlns:a="http://schemas.openxmlformats.org/drawingml/2006/main">
              <a:ext uri="{FF2B5EF4-FFF2-40B4-BE49-F238E27FC236}">
                <a16:creationId xmlns:a16="http://schemas.microsoft.com/office/drawing/2014/main" id="{CBC294D8-841D-4532-8589-7E9B3614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写入 peer-review.md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只记录，不当场辩论。</a:t>
            </a:r>
          </a:p>
        </p:txBody>
      </p:sp>
      <p:sp>
        <p:nvSpPr>
          <p:cNvPr id="10" name="sample0-key">
            <a:extLst xmlns:a="http://schemas.openxmlformats.org/drawingml/2006/main">
              <a:ext uri="{FF2B5EF4-FFF2-40B4-BE49-F238E27FC236}">
                <a16:creationId xmlns:a16="http://schemas.microsoft.com/office/drawing/2014/main" id="{FEC151CF-8613-42DA-A8A9-4BB9CEF0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4954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版本／位置</a:t>
            </a:r>
          </a:p>
        </p:txBody>
      </p:sp>
      <p:sp>
        <p:nvSpPr>
          <p:cNvPr id="11" name="sample0-value">
            <a:extLst xmlns:a="http://schemas.openxmlformats.org/drawingml/2006/main">
              <a:ext uri="{FF2B5EF4-FFF2-40B4-BE49-F238E27FC236}">
                <a16:creationId xmlns:a16="http://schemas.microsoft.com/office/drawing/2014/main" id="{B61DEDBC-AB2F-4945-8C6A-1D50C6D8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49542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当前初稿 · 结果段</a:t>
            </a:r>
          </a:p>
        </p:txBody>
      </p:sp>
      <p:sp>
        <p:nvSpPr>
          <p:cNvPr id="12" name="sample0-rule">
            <a:extLst xmlns:a="http://schemas.openxmlformats.org/drawingml/2006/main">
              <a:ext uri="{FF2B5EF4-FFF2-40B4-BE49-F238E27FC236}">
                <a16:creationId xmlns:a16="http://schemas.microsoft.com/office/drawing/2014/main" id="{14218E42-C259-4A33-9F0C-068F1DDC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28600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sample1-key">
            <a:extLst xmlns:a="http://schemas.openxmlformats.org/drawingml/2006/main">
              <a:ext uri="{FF2B5EF4-FFF2-40B4-BE49-F238E27FC236}">
                <a16:creationId xmlns:a16="http://schemas.microsoft.com/office/drawing/2014/main" id="{EF72353D-4135-400D-A3A5-D34EE1F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5431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</a:t>
            </a:r>
          </a:p>
        </p:txBody>
      </p:sp>
      <p:sp>
        <p:nvSpPr>
          <p:cNvPr id="14" name="sample1-value">
            <a:extLst xmlns:a="http://schemas.openxmlformats.org/drawingml/2006/main">
              <a:ext uri="{FF2B5EF4-FFF2-40B4-BE49-F238E27FC236}">
                <a16:creationId xmlns:a16="http://schemas.microsoft.com/office/drawing/2014/main" id="{0B5BB18F-066C-47C2-8576-63D9880C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54317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待验证被写成 stable</a:t>
            </a:r>
          </a:p>
        </p:txBody>
      </p:sp>
      <p:sp>
        <p:nvSpPr>
          <p:cNvPr id="15" name="sample1-rule">
            <a:extLst xmlns:a="http://schemas.openxmlformats.org/drawingml/2006/main">
              <a:ext uri="{FF2B5EF4-FFF2-40B4-BE49-F238E27FC236}">
                <a16:creationId xmlns:a16="http://schemas.microsoft.com/office/drawing/2014/main" id="{D9D92CEE-71B6-4502-B19E-3DCB5810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3375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sample2-key">
            <a:extLst xmlns:a="http://schemas.openxmlformats.org/drawingml/2006/main">
              <a:ext uri="{FF2B5EF4-FFF2-40B4-BE49-F238E27FC236}">
                <a16:creationId xmlns:a16="http://schemas.microsoft.com/office/drawing/2014/main" id="{0C4E9E0B-E69E-44E3-852B-EF4B42D3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909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</a:t>
            </a:r>
          </a:p>
        </p:txBody>
      </p:sp>
      <p:sp>
        <p:nvSpPr>
          <p:cNvPr id="17" name="sample2-value">
            <a:extLst xmlns:a="http://schemas.openxmlformats.org/drawingml/2006/main">
              <a:ext uri="{FF2B5EF4-FFF2-40B4-BE49-F238E27FC236}">
                <a16:creationId xmlns:a16="http://schemas.microsoft.com/office/drawing/2014/main" id="{05EF37DC-EE9C-4ED7-9802-31C49EE6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59092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证据强度越界</a:t>
            </a:r>
          </a:p>
        </p:txBody>
      </p:sp>
      <p:sp>
        <p:nvSpPr>
          <p:cNvPr id="18" name="sample2-rule">
            <a:extLst xmlns:a="http://schemas.openxmlformats.org/drawingml/2006/main">
              <a:ext uri="{FF2B5EF4-FFF2-40B4-BE49-F238E27FC236}">
                <a16:creationId xmlns:a16="http://schemas.microsoft.com/office/drawing/2014/main" id="{59B64E49-0474-4DCC-BDB7-EE24C64D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8150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sample3-key">
            <a:extLst xmlns:a="http://schemas.openxmlformats.org/drawingml/2006/main">
              <a:ext uri="{FF2B5EF4-FFF2-40B4-BE49-F238E27FC236}">
                <a16:creationId xmlns:a16="http://schemas.microsoft.com/office/drawing/2014/main" id="{9B09FF3C-2EBD-4ED9-8C99-C5D156F3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6386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建议</a:t>
            </a:r>
          </a:p>
        </p:txBody>
      </p:sp>
      <p:sp>
        <p:nvSpPr>
          <p:cNvPr id="20" name="sample3-value">
            <a:extLst xmlns:a="http://schemas.openxmlformats.org/drawingml/2006/main">
              <a:ext uri="{FF2B5EF4-FFF2-40B4-BE49-F238E27FC236}">
                <a16:creationId xmlns:a16="http://schemas.microsoft.com/office/drawing/2014/main" id="{2710D9EA-6FCF-4766-8CE2-7D08C56A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63867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降级并补替代解释</a:t>
            </a:r>
          </a:p>
        </p:txBody>
      </p:sp>
      <p:sp>
        <p:nvSpPr>
          <p:cNvPr id="21" name="sample3-rule">
            <a:extLst xmlns:a="http://schemas.openxmlformats.org/drawingml/2006/main">
              <a:ext uri="{FF2B5EF4-FFF2-40B4-BE49-F238E27FC236}">
                <a16:creationId xmlns:a16="http://schemas.microsoft.com/office/drawing/2014/main" id="{C2DC7E13-2C9D-4FE7-AFF2-10DBD50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42925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86C8D313-730E-4346-AA18-8E4650E4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根据真实理由选择处理动作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action0-key">
            <a:extLst xmlns:a="http://schemas.openxmlformats.org/drawingml/2006/main">
              <a:ext uri="{FF2B5EF4-FFF2-40B4-BE49-F238E27FC236}">
                <a16:creationId xmlns:a16="http://schemas.microsoft.com/office/drawing/2014/main" id="{5D2077C1-230D-4052-B71E-5BFF992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7" name="action0-value">
            <a:extLst xmlns:a="http://schemas.openxmlformats.org/drawingml/2006/main">
              <a:ext uri="{FF2B5EF4-FFF2-40B4-BE49-F238E27FC236}">
                <a16:creationId xmlns:a16="http://schemas.microsoft.com/office/drawing/2014/main" id="{455E68DF-06CB-4ED1-BDD1-37EC28DF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2096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缺陷成立，直接修改。</a:t>
            </a:r>
          </a:p>
        </p:txBody>
      </p:sp>
      <p:sp>
        <p:nvSpPr>
          <p:cNvPr id="8" name="action0-rule">
            <a:extLst xmlns:a="http://schemas.openxmlformats.org/drawingml/2006/main">
              <a:ext uri="{FF2B5EF4-FFF2-40B4-BE49-F238E27FC236}">
                <a16:creationId xmlns:a16="http://schemas.microsoft.com/office/drawing/2014/main" id="{4811A84D-9F1F-40B8-8811-6FACF501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action1-key">
            <a:extLst xmlns:a="http://schemas.openxmlformats.org/drawingml/2006/main">
              <a:ext uri="{FF2B5EF4-FFF2-40B4-BE49-F238E27FC236}">
                <a16:creationId xmlns:a16="http://schemas.microsoft.com/office/drawing/2014/main" id="{28C3A62E-1F43-432F-BF20-73BB89E1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澄清</a:t>
            </a:r>
          </a:p>
        </p:txBody>
      </p:sp>
      <p:sp>
        <p:nvSpPr>
          <p:cNvPr id="10" name="action1-value">
            <a:extLst xmlns:a="http://schemas.openxmlformats.org/drawingml/2006/main">
              <a:ext uri="{FF2B5EF4-FFF2-40B4-BE49-F238E27FC236}">
                <a16:creationId xmlns:a16="http://schemas.microsoft.com/office/drawing/2014/main" id="{A2E9AA71-D8A1-4D4F-9981-457755FE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6692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内容已有，但表达导致误读。</a:t>
            </a:r>
          </a:p>
        </p:txBody>
      </p:sp>
      <p:sp>
        <p:nvSpPr>
          <p:cNvPr id="11" name="action1-rule">
            <a:extLst xmlns:a="http://schemas.openxmlformats.org/drawingml/2006/main">
              <a:ext uri="{FF2B5EF4-FFF2-40B4-BE49-F238E27FC236}">
                <a16:creationId xmlns:a16="http://schemas.microsoft.com/office/drawing/2014/main" id="{82525CA6-7141-4B9E-B452-3B732D05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action2-key">
            <a:extLst xmlns:a="http://schemas.openxmlformats.org/drawingml/2006/main">
              <a:ext uri="{FF2B5EF4-FFF2-40B4-BE49-F238E27FC236}">
                <a16:creationId xmlns:a16="http://schemas.microsoft.com/office/drawing/2014/main" id="{CF42B413-9E92-4263-8E5C-8F1D5F9F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补证</a:t>
            </a:r>
          </a:p>
        </p:txBody>
      </p:sp>
      <p:sp>
        <p:nvSpPr>
          <p:cNvPr id="13" name="action2-value">
            <a:extLst xmlns:a="http://schemas.openxmlformats.org/drawingml/2006/main">
              <a:ext uri="{FF2B5EF4-FFF2-40B4-BE49-F238E27FC236}">
                <a16:creationId xmlns:a16="http://schemas.microsoft.com/office/drawing/2014/main" id="{E7A152F4-E3C3-48C4-B7BE-AB84CA34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241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需要新增证据或实验。</a:t>
            </a:r>
          </a:p>
        </p:txBody>
      </p:sp>
      <p:sp>
        <p:nvSpPr>
          <p:cNvPr id="14" name="action2-rule">
            <a:extLst xmlns:a="http://schemas.openxmlformats.org/drawingml/2006/main">
              <a:ext uri="{FF2B5EF4-FFF2-40B4-BE49-F238E27FC236}">
                <a16:creationId xmlns:a16="http://schemas.microsoft.com/office/drawing/2014/main" id="{F53C13D9-8BA8-4417-B3B7-49F75B4D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action3-key">
            <a:extLst xmlns:a="http://schemas.openxmlformats.org/drawingml/2006/main">
              <a:ext uri="{FF2B5EF4-FFF2-40B4-BE49-F238E27FC236}">
                <a16:creationId xmlns:a16="http://schemas.microsoft.com/office/drawing/2014/main" id="{6D86444C-009B-42D0-910A-6CC4E74D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保留异议</a:t>
            </a:r>
          </a:p>
        </p:txBody>
      </p:sp>
      <p:sp>
        <p:nvSpPr>
          <p:cNvPr id="16" name="action3-value">
            <a:extLst xmlns:a="http://schemas.openxmlformats.org/drawingml/2006/main">
              <a:ext uri="{FF2B5EF4-FFF2-40B4-BE49-F238E27FC236}">
                <a16:creationId xmlns:a16="http://schemas.microsoft.com/office/drawing/2014/main" id="{28E2B6C7-95AB-4909-AED2-55CCECA4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8142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意见与证据或约束冲突。</a:t>
            </a:r>
          </a:p>
        </p:txBody>
      </p:sp>
      <p:sp>
        <p:nvSpPr>
          <p:cNvPr id="17" name="action3-rule">
            <a:extLst xmlns:a="http://schemas.openxmlformats.org/drawingml/2006/main">
              <a:ext uri="{FF2B5EF4-FFF2-40B4-BE49-F238E27FC236}">
                <a16:creationId xmlns:a16="http://schemas.microsoft.com/office/drawing/2014/main" id="{453C4C40-03BA-44FB-815D-36AFD9F6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action4-key">
            <a:extLst xmlns:a="http://schemas.openxmlformats.org/drawingml/2006/main">
              <a:ext uri="{FF2B5EF4-FFF2-40B4-BE49-F238E27FC236}">
                <a16:creationId xmlns:a16="http://schemas.microsoft.com/office/drawing/2014/main" id="{2B90E1EA-B13A-4FAB-A216-2E94FA01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暂缓</a:t>
            </a:r>
          </a:p>
        </p:txBody>
      </p:sp>
      <p:sp>
        <p:nvSpPr>
          <p:cNvPr id="19" name="action4-value">
            <a:extLst xmlns:a="http://schemas.openxmlformats.org/drawingml/2006/main">
              <a:ext uri="{FF2B5EF4-FFF2-40B4-BE49-F238E27FC236}">
                <a16:creationId xmlns:a16="http://schemas.microsoft.com/office/drawing/2014/main" id="{1F58590A-D0C6-4010-8149-727CB16A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386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条件不足：写阻塞、风险与复核点。</a:t>
            </a:r>
          </a:p>
        </p:txBody>
      </p:sp>
      <p:sp>
        <p:nvSpPr>
          <p:cNvPr id="20" name="action4-rule">
            <a:extLst xmlns:a="http://schemas.openxmlformats.org/drawingml/2006/main">
              <a:ext uri="{FF2B5EF4-FFF2-40B4-BE49-F238E27FC236}">
                <a16:creationId xmlns:a16="http://schemas.microsoft.com/office/drawing/2014/main" id="{25C3FA32-945E-43F6-81DE-954C00E7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truth">
            <a:extLst xmlns:a="http://schemas.openxmlformats.org/drawingml/2006/main">
              <a:ext uri="{FF2B5EF4-FFF2-40B4-BE49-F238E27FC236}">
                <a16:creationId xmlns:a16="http://schemas.microsoft.com/office/drawing/2014/main" id="{4EAF02D9-DF47-4355-9098-A7A5D439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39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按真实理由选择，不要求五类齐全或机械拒绝。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BCA45776-9EBE-4D1D-853B-17B180C0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为这条意见写出回应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content-211">
            <a:extLst xmlns:a="http://schemas.openxmlformats.org/drawingml/2006/main">
              <a:ext uri="{FF2B5EF4-FFF2-40B4-BE49-F238E27FC236}">
                <a16:creationId xmlns:a16="http://schemas.microsoft.com/office/drawing/2014/main" id="{AC09D240-4C4E-40CA-80BF-A72C3513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课程虚构回应样例</a:t>
            </a:r>
          </a:p>
        </p:txBody>
      </p:sp>
      <p:sp>
        <p:nvSpPr>
          <p:cNvPr id="7" name="content-212">
            <a:extLst xmlns:a="http://schemas.openxmlformats.org/drawingml/2006/main">
              <a:ext uri="{FF2B5EF4-FFF2-40B4-BE49-F238E27FC236}">
                <a16:creationId xmlns:a16="http://schemas.microsoft.com/office/drawing/2014/main" id="{CD69D12A-DD16-4BA6-AA26-39D18EC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动作：采纳；理由：当前证据不能排除替代解释。</a:t>
            </a:r>
          </a:p>
        </p:txBody>
      </p:sp>
      <p:sp>
        <p:nvSpPr>
          <p:cNvPr id="8" name="content-213">
            <a:extLst xmlns:a="http://schemas.openxmlformats.org/drawingml/2006/main">
              <a:ext uri="{FF2B5EF4-FFF2-40B4-BE49-F238E27FC236}">
                <a16:creationId xmlns:a16="http://schemas.microsoft.com/office/drawing/2014/main" id="{85A17E1E-4C67-40FC-BACB-731F6824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边界：同一批 3 份构造源文本；依据：评价报告 §2。</a:t>
            </a:r>
          </a:p>
        </p:txBody>
      </p:sp>
      <p:sp>
        <p:nvSpPr>
          <p:cNvPr id="9" name="content-214">
            <a:extLst xmlns:a="http://schemas.openxmlformats.org/drawingml/2006/main">
              <a:ext uri="{FF2B5EF4-FFF2-40B4-BE49-F238E27FC236}">
                <a16:creationId xmlns:a16="http://schemas.microsoft.com/office/drawing/2014/main" id="{EE8A3F9E-98DA-4CA2-A2B7-C0856542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7981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主张方向：Q1 包内一致、H1/A2 未决；工件：review；影响工件：report.md、结论追踪记录。</a:t>
            </a:r>
          </a:p>
        </p:txBody>
      </p:sp>
      <p:sp>
        <p:nvSpPr>
          <p:cNvPr id="10" name="content-215">
            <a:extLst xmlns:a="http://schemas.openxmlformats.org/drawingml/2006/main">
              <a:ext uri="{FF2B5EF4-FFF2-40B4-BE49-F238E27FC236}">
                <a16:creationId xmlns:a16="http://schemas.microsoft.com/office/drawing/2014/main" id="{ED0BF685-C103-4EFA-BA23-B51E0EE4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回应写入 peer-review.md；优先级写入 revision-plan.md。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现在修改最可能卡门的一项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content-216">
            <a:extLst xmlns:a="http://schemas.openxmlformats.org/drawingml/2006/main">
              <a:ext uri="{FF2B5EF4-FFF2-40B4-BE49-F238E27FC236}">
                <a16:creationId xmlns:a16="http://schemas.microsoft.com/office/drawing/2014/main" id="{1DADE4D9-19F5-4549-92C4-F385C156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课程虚构稿件的实际文本修改示范</a:t>
            </a:r>
          </a:p>
        </p:txBody>
      </p:sp>
      <p:sp>
        <p:nvSpPr>
          <p:cNvPr id="7" name="content-217">
            <a:extLst xmlns:a="http://schemas.openxmlformats.org/drawingml/2006/main">
              <a:ext uri="{FF2B5EF4-FFF2-40B4-BE49-F238E27FC236}">
                <a16:creationId xmlns:a16="http://schemas.microsoft.com/office/drawing/2014/main" id="{4E2E4DA3-B993-464E-B5C6-24AC426F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− 阅读卡机制已证实，状态 stable。</a:t>
            </a:r>
          </a:p>
        </p:txBody>
      </p:sp>
      <p:sp>
        <p:nvSpPr>
          <p:cNvPr id="8" name="content-218">
            <a:extLst xmlns:a="http://schemas.openxmlformats.org/drawingml/2006/main">
              <a:ext uri="{FF2B5EF4-FFF2-40B4-BE49-F238E27FC236}">
                <a16:creationId xmlns:a16="http://schemas.microsoft.com/office/drawing/2014/main" id="{5B0EAEB4-CC8D-4FEC-A4CD-A179646D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+ 本构造包中总遗漏率较低，方向与 Q1 一致。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   H1/A2 未区分，其他质量未测，范围受限。</a:t>
            </a:r>
          </a:p>
        </p:txBody>
      </p:sp>
      <p:sp>
        <p:nvSpPr>
          <p:cNvPr id="9" name="content-219">
            <a:extLst xmlns:a="http://schemas.openxmlformats.org/drawingml/2006/main">
              <a:ext uri="{FF2B5EF4-FFF2-40B4-BE49-F238E27FC236}">
                <a16:creationId xmlns:a16="http://schemas.microsoft.com/office/drawing/2014/main" id="{77BF3809-82DB-4222-AB06-0F9149DA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工件：review；机制判断：仍不能判断。</a:t>
            </a:r>
          </a:p>
        </p:txBody>
      </p:sp>
      <p:sp>
        <p:nvSpPr>
          <p:cNvPr id="10" name="content-220">
            <a:extLst xmlns:a="http://schemas.openxmlformats.org/drawingml/2006/main">
              <a:ext uri="{FF2B5EF4-FFF2-40B4-BE49-F238E27FC236}">
                <a16:creationId xmlns:a16="http://schemas.microsoft.com/office/drawing/2014/main" id="{59D1C168-A00B-4D96-AE66-F0276BD9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优先处理致命问题，再处理重要问题与表达。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改实际文件，保存 diff，更新影响工件。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证据不足，怎样修改主句？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221">
            <a:extLst xmlns:a="http://schemas.openxmlformats.org/drawingml/2006/main">
              <a:ext uri="{FF2B5EF4-FFF2-40B4-BE49-F238E27FC236}">
                <a16:creationId xmlns:a16="http://schemas.microsoft.com/office/drawing/2014/main" id="{8B2BD9E2-6553-469E-9F01-95948DB1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Q1：在构造包中方向一致。</a:t>
            </a:r>
          </a:p>
        </p:txBody>
      </p:sp>
      <p:sp>
        <p:nvSpPr>
          <p:cNvPr id="7" name="content-222">
            <a:extLst xmlns:a="http://schemas.openxmlformats.org/drawingml/2006/main">
              <a:ext uri="{FF2B5EF4-FFF2-40B4-BE49-F238E27FC236}">
                <a16:creationId xmlns:a16="http://schemas.microsoft.com/office/drawing/2014/main" id="{D85D8A01-D737-4928-9CF7-501463E0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H1/A2：仍不能区分。</a:t>
            </a:r>
          </a:p>
        </p:txBody>
      </p:sp>
      <p:sp>
        <p:nvSpPr>
          <p:cNvPr id="8" name="content-223">
            <a:extLst xmlns:a="http://schemas.openxmlformats.org/drawingml/2006/main">
              <a:ext uri="{FF2B5EF4-FFF2-40B4-BE49-F238E27FC236}">
                <a16:creationId xmlns:a16="http://schemas.microsoft.com/office/drawing/2014/main" id="{7BB022D5-DB03-4C9F-B54E-8327280A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其他质量：尚未测量。</a:t>
            </a:r>
          </a:p>
        </p:txBody>
      </p:sp>
      <p:sp>
        <p:nvSpPr>
          <p:cNvPr id="9" name="content-224">
            <a:extLst xmlns:a="http://schemas.openxmlformats.org/drawingml/2006/main">
              <a:ext uri="{FF2B5EF4-FFF2-40B4-BE49-F238E27FC236}">
                <a16:creationId xmlns:a16="http://schemas.microsoft.com/office/drawing/2014/main" id="{0C23E53D-2FC2-489C-BFEC-F89D7ECD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范围：保留T03负例，撤回“所有文本”。</a:t>
            </a:r>
          </a:p>
        </p:txBody>
      </p:sp>
      <p:sp>
        <p:nvSpPr>
          <p:cNvPr id="10" name="content-225">
            <a:extLst xmlns:a="http://schemas.openxmlformats.org/drawingml/2006/main">
              <a:ext uri="{FF2B5EF4-FFF2-40B4-BE49-F238E27FC236}">
                <a16:creationId xmlns:a16="http://schemas.microsoft.com/office/drawing/2014/main" id="{C6A5454B-F99B-4206-9AA8-C9396E25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修改正文，再更新追踪状态。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保存第二项修改或一个缺口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59C3DCD2-37E6-4C74-927C-A62D879D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完成样例为课程构造处理记录</a:t>
            </a:r>
          </a:p>
        </p:txBody>
      </p:sp>
      <p:sp>
        <p:nvSpPr>
          <p:cNvPr id="7" name="action">
            <a:extLst xmlns:a="http://schemas.openxmlformats.org/drawingml/2006/main">
              <a:ext uri="{FF2B5EF4-FFF2-40B4-BE49-F238E27FC236}">
                <a16:creationId xmlns:a16="http://schemas.microsoft.com/office/drawing/2014/main" id="{B3359AC5-8820-4AAC-8780-50B5A004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197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从当前稿件选一项，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完成第二次修改。</a:t>
            </a:r>
          </a:p>
        </p:txBody>
      </p:sp>
      <p:sp>
        <p:nvSpPr>
          <p:cNvPr id="8" name="options">
            <a:extLst xmlns:a="http://schemas.openxmlformats.org/drawingml/2006/main">
              <a:ext uri="{FF2B5EF4-FFF2-40B4-BE49-F238E27FC236}">
                <a16:creationId xmlns:a16="http://schemas.microsoft.com/office/drawing/2014/main" id="{8793CA95-E21A-460D-8B1A-8E6C54AE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2197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高优先级修改／证据定位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结论降级与边界／AI 与伦理披露</a:t>
            </a:r>
          </a:p>
        </p:txBody>
      </p:sp>
      <p:sp>
        <p:nvSpPr>
          <p:cNvPr id="9" name="save">
            <a:extLst xmlns:a="http://schemas.openxmlformats.org/drawingml/2006/main">
              <a:ext uri="{FF2B5EF4-FFF2-40B4-BE49-F238E27FC236}">
                <a16:creationId xmlns:a16="http://schemas.microsoft.com/office/drawing/2014/main" id="{7F6B45D6-9D5C-4F70-A945-BC5DFB5E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5200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保存到相应项目文件。</a:t>
            </a:r>
          </a:p>
        </p:txBody>
      </p:sp>
      <p:sp>
        <p:nvSpPr>
          <p:cNvPr id="10" name="record-top">
            <a:extLst xmlns:a="http://schemas.openxmlformats.org/drawingml/2006/main">
              <a:ext uri="{FF2B5EF4-FFF2-40B4-BE49-F238E27FC236}">
                <a16:creationId xmlns:a16="http://schemas.microsoft.com/office/drawing/2014/main" id="{993A2315-CE69-41D3-A3E9-5CB10EA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9725"/>
            <a:ext cx="4962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record-file">
            <a:extLst xmlns:a="http://schemas.openxmlformats.org/drawingml/2006/main">
              <a:ext uri="{FF2B5EF4-FFF2-40B4-BE49-F238E27FC236}">
                <a16:creationId xmlns:a16="http://schemas.microsoft.com/office/drawing/2014/main" id="{C4F0F05C-DDB3-4682-80C5-81E1DEA2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49625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未修复项的处理记录</a:t>
            </a:r>
          </a:p>
        </p:txBody>
      </p:sp>
      <p:sp>
        <p:nvSpPr>
          <p:cNvPr id="12" name="record-line0">
            <a:extLst xmlns:a="http://schemas.openxmlformats.org/drawingml/2006/main">
              <a:ext uri="{FF2B5EF4-FFF2-40B4-BE49-F238E27FC236}">
                <a16:creationId xmlns:a16="http://schemas.microsoft.com/office/drawing/2014/main" id="{18E77DBC-E6E2-4680-AC9E-67457445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95525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缺口：未能补做对照</a:t>
            </a:r>
          </a:p>
        </p:txBody>
      </p:sp>
      <p:sp>
        <p:nvSpPr>
          <p:cNvPr id="13" name="record-line1">
            <a:extLst xmlns:a="http://schemas.openxmlformats.org/drawingml/2006/main">
              <a:ext uri="{FF2B5EF4-FFF2-40B4-BE49-F238E27FC236}">
                <a16:creationId xmlns:a16="http://schemas.microsoft.com/office/drawing/2014/main" id="{82563BD4-F43C-4F54-A9A4-3A23D604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40856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动作：暂缓机制结论</a:t>
            </a:r>
          </a:p>
        </p:txBody>
      </p:sp>
      <p:sp>
        <p:nvSpPr>
          <p:cNvPr id="14" name="record-line2">
            <a:extLst xmlns:a="http://schemas.openxmlformats.org/drawingml/2006/main">
              <a:ext uri="{FF2B5EF4-FFF2-40B4-BE49-F238E27FC236}">
                <a16:creationId xmlns:a16="http://schemas.microsoft.com/office/drawing/2014/main" id="{BE3EB9AB-2629-4032-85D8-AF9BA1F6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86188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留下：阻塞与复核点</a:t>
            </a:r>
          </a:p>
        </p:txBody>
      </p:sp>
      <p:sp>
        <p:nvSpPr>
          <p:cNvPr id="15" name="record-line3">
            <a:extLst xmlns:a="http://schemas.openxmlformats.org/drawingml/2006/main">
              <a:ext uri="{FF2B5EF4-FFF2-40B4-BE49-F238E27FC236}">
                <a16:creationId xmlns:a16="http://schemas.microsoft.com/office/drawing/2014/main" id="{1CBF28E1-74FB-4B21-8C5D-B6822EF2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31519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完成：文件保存、风险可定位</a:t>
            </a:r>
          </a:p>
        </p:txBody>
      </p:sp>
      <p:sp>
        <p:nvSpPr>
          <p:cNvPr id="16" name="source">
            <a:extLst xmlns:a="http://schemas.openxmlformats.org/drawingml/2006/main">
              <a:ext uri="{FF2B5EF4-FFF2-40B4-BE49-F238E27FC236}">
                <a16:creationId xmlns:a16="http://schemas.microsoft.com/office/drawing/2014/main" id="{CDBD5D28-AC5B-46E7-92EC-47A446B6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逐项预检，不假装全部通过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states">
            <a:extLst xmlns:a="http://schemas.openxmlformats.org/drawingml/2006/main">
              <a:ext uri="{FF2B5EF4-FFF2-40B4-BE49-F238E27FC236}">
                <a16:creationId xmlns:a16="http://schemas.microsoft.com/office/drawing/2014/main" id="{967F96D3-536C-4192-B8C1-B17C330E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逐项选择状态，写明剩余缺口。</a:t>
            </a:r>
          </a:p>
        </p:txBody>
      </p:sp>
      <p:sp>
        <p:nvSpPr>
          <p:cNvPr id="7" name="status-head0">
            <a:extLst xmlns:a="http://schemas.openxmlformats.org/drawingml/2006/main">
              <a:ext uri="{FF2B5EF4-FFF2-40B4-BE49-F238E27FC236}">
                <a16:creationId xmlns:a16="http://schemas.microsoft.com/office/drawing/2014/main" id="{F6ACDC1B-30AF-44DF-B2B9-F60588EB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已满足</a:t>
            </a:r>
          </a:p>
        </p:txBody>
      </p:sp>
      <p:sp>
        <p:nvSpPr>
          <p:cNvPr id="8" name="status-head1">
            <a:extLst xmlns:a="http://schemas.openxmlformats.org/drawingml/2006/main">
              <a:ext uri="{FF2B5EF4-FFF2-40B4-BE49-F238E27FC236}">
                <a16:creationId xmlns:a16="http://schemas.microsoft.com/office/drawing/2014/main" id="{0F435F6D-4DA2-4A72-B47B-52694994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部分满足</a:t>
            </a:r>
          </a:p>
        </p:txBody>
      </p:sp>
      <p:sp>
        <p:nvSpPr>
          <p:cNvPr id="9" name="status-head2">
            <a:extLst xmlns:a="http://schemas.openxmlformats.org/drawingml/2006/main">
              <a:ext uri="{FF2B5EF4-FFF2-40B4-BE49-F238E27FC236}">
                <a16:creationId xmlns:a16="http://schemas.microsoft.com/office/drawing/2014/main" id="{D182A175-96D5-4449-9978-D404A7B3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未覆盖</a:t>
            </a:r>
          </a:p>
        </p:txBody>
      </p:sp>
      <p:sp>
        <p:nvSpPr>
          <p:cNvPr id="10" name="item0">
            <a:extLst xmlns:a="http://schemas.openxmlformats.org/drawingml/2006/main">
              <a:ext uri="{FF2B5EF4-FFF2-40B4-BE49-F238E27FC236}">
                <a16:creationId xmlns:a16="http://schemas.microsoft.com/office/drawing/2014/main" id="{378D2CDC-2DA8-44C6-81D1-4F82DFD5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关键结论可追溯</a:t>
            </a:r>
          </a:p>
        </p:txBody>
      </p:sp>
      <p:sp>
        <p:nvSpPr>
          <p:cNvPr id="11" name="blank00">
            <a:extLst xmlns:a="http://schemas.openxmlformats.org/drawingml/2006/main">
              <a:ext uri="{FF2B5EF4-FFF2-40B4-BE49-F238E27FC236}">
                <a16:creationId xmlns:a16="http://schemas.microsoft.com/office/drawing/2014/main" id="{9D3A69A7-A3ED-4C84-A9FB-7C87F822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2" name="blank01">
            <a:extLst xmlns:a="http://schemas.openxmlformats.org/drawingml/2006/main">
              <a:ext uri="{FF2B5EF4-FFF2-40B4-BE49-F238E27FC236}">
                <a16:creationId xmlns:a16="http://schemas.microsoft.com/office/drawing/2014/main" id="{CC37507B-D9B0-4BDE-816A-9D95A2B0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3" name="blank02">
            <a:extLst xmlns:a="http://schemas.openxmlformats.org/drawingml/2006/main">
              <a:ext uri="{FF2B5EF4-FFF2-40B4-BE49-F238E27FC236}">
                <a16:creationId xmlns:a16="http://schemas.microsoft.com/office/drawing/2014/main" id="{7DE5A6A5-F250-481C-ABB7-FE8F1A5C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4" name="line0">
            <a:extLst xmlns:a="http://schemas.openxmlformats.org/drawingml/2006/main">
              <a:ext uri="{FF2B5EF4-FFF2-40B4-BE49-F238E27FC236}">
                <a16:creationId xmlns:a16="http://schemas.microsoft.com/office/drawing/2014/main" id="{AFF02020-9CD0-4AB9-84AE-40339D12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item1">
            <a:extLst xmlns:a="http://schemas.openxmlformats.org/drawingml/2006/main">
              <a:ext uri="{FF2B5EF4-FFF2-40B4-BE49-F238E27FC236}">
                <a16:creationId xmlns:a16="http://schemas.microsoft.com/office/drawing/2014/main" id="{81F8D3CA-12C9-4947-AC66-F66253F0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stable 符合证据条件</a:t>
            </a:r>
          </a:p>
        </p:txBody>
      </p:sp>
      <p:sp>
        <p:nvSpPr>
          <p:cNvPr id="16" name="blank10">
            <a:extLst xmlns:a="http://schemas.openxmlformats.org/drawingml/2006/main">
              <a:ext uri="{FF2B5EF4-FFF2-40B4-BE49-F238E27FC236}">
                <a16:creationId xmlns:a16="http://schemas.microsoft.com/office/drawing/2014/main" id="{8580F959-AF42-4D75-8540-1F0335FF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7" name="blank11">
            <a:extLst xmlns:a="http://schemas.openxmlformats.org/drawingml/2006/main">
              <a:ext uri="{FF2B5EF4-FFF2-40B4-BE49-F238E27FC236}">
                <a16:creationId xmlns:a16="http://schemas.microsoft.com/office/drawing/2014/main" id="{DA24606F-C512-433E-9130-D1CC7C6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8" name="blank12">
            <a:extLst xmlns:a="http://schemas.openxmlformats.org/drawingml/2006/main">
              <a:ext uri="{FF2B5EF4-FFF2-40B4-BE49-F238E27FC236}">
                <a16:creationId xmlns:a16="http://schemas.microsoft.com/office/drawing/2014/main" id="{F61E8A17-C138-4BC3-9CA6-5BC92AB4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9" name="line1">
            <a:extLst xmlns:a="http://schemas.openxmlformats.org/drawingml/2006/main">
              <a:ext uri="{FF2B5EF4-FFF2-40B4-BE49-F238E27FC236}">
                <a16:creationId xmlns:a16="http://schemas.microsoft.com/office/drawing/2014/main" id="{8F7AAAE8-C7CE-4D8E-841E-ADB22A0E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item2">
            <a:extLst xmlns:a="http://schemas.openxmlformats.org/drawingml/2006/main">
              <a:ext uri="{FF2B5EF4-FFF2-40B4-BE49-F238E27FC236}">
                <a16:creationId xmlns:a16="http://schemas.microsoft.com/office/drawing/2014/main" id="{460CF3F5-82DE-4D7C-9F47-3A5F660E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工作流含运行、权限、评价与失败</a:t>
            </a:r>
          </a:p>
        </p:txBody>
      </p:sp>
      <p:sp>
        <p:nvSpPr>
          <p:cNvPr id="21" name="blank20">
            <a:extLst xmlns:a="http://schemas.openxmlformats.org/drawingml/2006/main">
              <a:ext uri="{FF2B5EF4-FFF2-40B4-BE49-F238E27FC236}">
                <a16:creationId xmlns:a16="http://schemas.microsoft.com/office/drawing/2014/main" id="{AED3D2BB-9AB0-41BC-9835-C4E03334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2" name="blank21">
            <a:extLst xmlns:a="http://schemas.openxmlformats.org/drawingml/2006/main">
              <a:ext uri="{FF2B5EF4-FFF2-40B4-BE49-F238E27FC236}">
                <a16:creationId xmlns:a16="http://schemas.microsoft.com/office/drawing/2014/main" id="{BB8D4D40-D033-4571-B5A9-95D8E918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3" name="blank22">
            <a:extLst xmlns:a="http://schemas.openxmlformats.org/drawingml/2006/main">
              <a:ext uri="{FF2B5EF4-FFF2-40B4-BE49-F238E27FC236}">
                <a16:creationId xmlns:a16="http://schemas.microsoft.com/office/drawing/2014/main" id="{89E5075A-EC8C-40C2-AF6B-72260A11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4" name="line2">
            <a:extLst xmlns:a="http://schemas.openxmlformats.org/drawingml/2006/main">
              <a:ext uri="{FF2B5EF4-FFF2-40B4-BE49-F238E27FC236}">
                <a16:creationId xmlns:a16="http://schemas.microsoft.com/office/drawing/2014/main" id="{24862CE7-D196-4EA8-906A-7B35E965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5" name="item3">
            <a:extLst xmlns:a="http://schemas.openxmlformats.org/drawingml/2006/main">
              <a:ext uri="{FF2B5EF4-FFF2-40B4-BE49-F238E27FC236}">
                <a16:creationId xmlns:a16="http://schemas.microsoft.com/office/drawing/2014/main" id="{D953A965-6EAF-4DED-956B-EFA8FB6D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伦理、许可、贡献与 AI 完整</a:t>
            </a:r>
          </a:p>
        </p:txBody>
      </p:sp>
      <p:sp>
        <p:nvSpPr>
          <p:cNvPr id="26" name="blank30">
            <a:extLst xmlns:a="http://schemas.openxmlformats.org/drawingml/2006/main">
              <a:ext uri="{FF2B5EF4-FFF2-40B4-BE49-F238E27FC236}">
                <a16:creationId xmlns:a16="http://schemas.microsoft.com/office/drawing/2014/main" id="{507DE011-4D3B-490C-A156-1B124288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7" name="blank31">
            <a:extLst xmlns:a="http://schemas.openxmlformats.org/drawingml/2006/main">
              <a:ext uri="{FF2B5EF4-FFF2-40B4-BE49-F238E27FC236}">
                <a16:creationId xmlns:a16="http://schemas.microsoft.com/office/drawing/2014/main" id="{06AF2712-D09A-4194-9730-1FDAD3E2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8" name="blank32">
            <a:extLst xmlns:a="http://schemas.openxmlformats.org/drawingml/2006/main">
              <a:ext uri="{FF2B5EF4-FFF2-40B4-BE49-F238E27FC236}">
                <a16:creationId xmlns:a16="http://schemas.microsoft.com/office/drawing/2014/main" id="{F6B4EB54-6A15-4062-8C71-6ACAFCA6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9" name="line3">
            <a:extLst xmlns:a="http://schemas.openxmlformats.org/drawingml/2006/main">
              <a:ext uri="{FF2B5EF4-FFF2-40B4-BE49-F238E27FC236}">
                <a16:creationId xmlns:a16="http://schemas.microsoft.com/office/drawing/2014/main" id="{8D50211A-9CF0-40BF-B260-8123A8C9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0" name="item4">
            <a:extLst xmlns:a="http://schemas.openxmlformats.org/drawingml/2006/main">
              <a:ext uri="{FF2B5EF4-FFF2-40B4-BE49-F238E27FC236}">
                <a16:creationId xmlns:a16="http://schemas.microsoft.com/office/drawing/2014/main" id="{B10A422F-F4EA-4808-9413-0608A348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工件状态与门检一致</a:t>
            </a:r>
          </a:p>
        </p:txBody>
      </p:sp>
      <p:sp>
        <p:nvSpPr>
          <p:cNvPr id="31" name="blank40">
            <a:extLst xmlns:a="http://schemas.openxmlformats.org/drawingml/2006/main">
              <a:ext uri="{FF2B5EF4-FFF2-40B4-BE49-F238E27FC236}">
                <a16:creationId xmlns:a16="http://schemas.microsoft.com/office/drawing/2014/main" id="{87B85096-D715-469B-B848-D68C8CCE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2" name="blank41">
            <a:extLst xmlns:a="http://schemas.openxmlformats.org/drawingml/2006/main">
              <a:ext uri="{FF2B5EF4-FFF2-40B4-BE49-F238E27FC236}">
                <a16:creationId xmlns:a16="http://schemas.microsoft.com/office/drawing/2014/main" id="{85065B49-B840-4050-B40C-A82C64C8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3" name="blank42">
            <a:extLst xmlns:a="http://schemas.openxmlformats.org/drawingml/2006/main">
              <a:ext uri="{FF2B5EF4-FFF2-40B4-BE49-F238E27FC236}">
                <a16:creationId xmlns:a16="http://schemas.microsoft.com/office/drawing/2014/main" id="{D19572C8-BCF0-4CC3-9ED9-B21CBC8E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4" name="line4">
            <a:extLst xmlns:a="http://schemas.openxmlformats.org/drawingml/2006/main">
              <a:ext uri="{FF2B5EF4-FFF2-40B4-BE49-F238E27FC236}">
                <a16:creationId xmlns:a16="http://schemas.microsoft.com/office/drawing/2014/main" id="{181FFF82-B3FC-46D9-8EF2-B1F77E05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5" name="save">
            <a:extLst xmlns:a="http://schemas.openxmlformats.org/drawingml/2006/main">
              <a:ext uri="{FF2B5EF4-FFF2-40B4-BE49-F238E27FC236}">
                <a16:creationId xmlns:a16="http://schemas.microsoft.com/office/drawing/2014/main" id="{DFF5D6D8-8BE6-4DD5-A61F-3619CECD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剩余缺口 → revision-plan.md</a:t>
            </a:r>
          </a:p>
        </p:txBody>
      </p:sp>
      <p:sp>
        <p:nvSpPr>
          <p:cNvPr id="36" name="source">
            <a:extLst xmlns:a="http://schemas.openxmlformats.org/drawingml/2006/main">
              <a:ext uri="{FF2B5EF4-FFF2-40B4-BE49-F238E27FC236}">
                <a16:creationId xmlns:a16="http://schemas.microsoft.com/office/drawing/2014/main" id="{C2267029-0FAD-482D-BFF9-4DA88D8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hain">
            <a:extLst xmlns:a="http://schemas.openxmlformats.org/drawingml/2006/main">
              <a:ext uri="{FF2B5EF4-FFF2-40B4-BE49-F238E27FC236}">
                <a16:creationId xmlns:a16="http://schemas.microsoft.com/office/drawing/2014/main" id="{6FA3A187-2BAA-4665-BED9-08A26BFB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858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真实意见 → 处理决定 → 实际修改 → 剩余边界</a:t>
            </a:r>
          </a:p>
        </p:txBody>
      </p:sp>
      <p:sp>
        <p:nvSpPr>
          <p:cNvPr id="7" name="summary">
            <a:extLst xmlns:a="http://schemas.openxmlformats.org/drawingml/2006/main">
              <a:ext uri="{FF2B5EF4-FFF2-40B4-BE49-F238E27FC236}">
                <a16:creationId xmlns:a16="http://schemas.microsoft.com/office/drawing/2014/main" id="{31C80B56-FD6F-40EE-ABE0-6F9C0AC4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5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完成标志是修改证据，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不只是修改计划。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89B72016-2E3F-4F42-B896-F4B3648F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judgment">
            <a:extLst xmlns:a="http://schemas.openxmlformats.org/drawingml/2006/main">
              <a:ext uri="{FF2B5EF4-FFF2-40B4-BE49-F238E27FC236}">
                <a16:creationId xmlns:a16="http://schemas.microsoft.com/office/drawing/2014/main" id="{C28B8648-FA4D-4022-AA0C-37D2A77A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反馈不替代作者判断；理由回到证据与约束。</a:t>
            </a:r>
          </a:p>
        </p:txBody>
      </p:sp>
      <p:sp>
        <p:nvSpPr>
          <p:cNvPr id="10" name="source">
            <a:extLst xmlns:a="http://schemas.openxmlformats.org/drawingml/2006/main">
              <a:ext uri="{FF2B5EF4-FFF2-40B4-BE49-F238E27FC236}">
                <a16:creationId xmlns:a16="http://schemas.microsoft.com/office/drawing/2014/main" id="{6F86D20F-3C82-4AE2-B0BA-6E46B4A0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带齐展示与抽查材料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lightning-label">
            <a:extLst xmlns:a="http://schemas.openxmlformats.org/drawingml/2006/main">
              <a:ext uri="{FF2B5EF4-FFF2-40B4-BE49-F238E27FC236}">
                <a16:creationId xmlns:a16="http://schemas.microsoft.com/office/drawing/2014/main" id="{A95A015C-F509-4DF1-9234-9C490129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4695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全员闪电报告</a:t>
            </a:r>
          </a:p>
        </p:txBody>
      </p:sp>
      <p:sp>
        <p:nvSpPr>
          <p:cNvPr id="7" name="lightning-body">
            <a:extLst xmlns:a="http://schemas.openxmlformats.org/drawingml/2006/main">
              <a:ext uri="{FF2B5EF4-FFF2-40B4-BE49-F238E27FC236}">
                <a16:creationId xmlns:a16="http://schemas.microsoft.com/office/drawing/2014/main" id="{59D0B415-55D4-4B3A-A44D-59C4D812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6958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关键结果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结论边界</a:t>
            </a:r>
          </a:p>
        </p:txBody>
      </p:sp>
      <p:sp>
        <p:nvSpPr>
          <p:cNvPr id="8" name="demo-label">
            <a:extLst xmlns:a="http://schemas.openxmlformats.org/drawingml/2006/main">
              <a:ext uri="{FF2B5EF4-FFF2-40B4-BE49-F238E27FC236}">
                <a16:creationId xmlns:a16="http://schemas.microsoft.com/office/drawing/2014/main" id="{D0F99C0F-06D2-48FD-BC10-8F8E8B0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5381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分组证据／工作流演示</a:t>
            </a:r>
          </a:p>
        </p:txBody>
      </p:sp>
      <p:sp>
        <p:nvSpPr>
          <p:cNvPr id="9" name="demo-body">
            <a:extLst xmlns:a="http://schemas.openxmlformats.org/drawingml/2006/main">
              <a:ext uri="{FF2B5EF4-FFF2-40B4-BE49-F238E27FC236}">
                <a16:creationId xmlns:a16="http://schemas.microsoft.com/office/drawing/2014/main" id="{2E1233FA-D2D6-4C9D-A454-9CC0B94D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381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证据定位与真实作用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失败与人工判断</a:t>
            </a:r>
          </a:p>
        </p:txBody>
      </p:sp>
      <p:sp>
        <p:nvSpPr>
          <p:cNvPr id="10" name="divider">
            <a:extLst xmlns:a="http://schemas.openxmlformats.org/drawingml/2006/main">
              <a:ext uri="{FF2B5EF4-FFF2-40B4-BE49-F238E27FC236}">
                <a16:creationId xmlns:a16="http://schemas.microsoft.com/office/drawing/2014/main" id="{E3F14289-8116-465C-A31F-C39EE577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390650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audit">
            <a:extLst xmlns:a="http://schemas.openxmlformats.org/drawingml/2006/main">
              <a:ext uri="{FF2B5EF4-FFF2-40B4-BE49-F238E27FC236}">
                <a16:creationId xmlns:a16="http://schemas.microsoft.com/office/drawing/2014/main" id="{137A22D1-AE57-4863-952D-D530B9DA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1600200"/>
            <a:ext cx="4095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教师抽查</a:t>
            </a:r>
          </a:p>
        </p:txBody>
      </p:sp>
      <p:sp>
        <p:nvSpPr>
          <p:cNvPr id="12" name="audit-data">
            <a:extLst xmlns:a="http://schemas.openxmlformats.org/drawingml/2006/main">
              <a:ext uri="{FF2B5EF4-FFF2-40B4-BE49-F238E27FC236}">
                <a16:creationId xmlns:a16="http://schemas.microsoft.com/office/drawing/2014/main" id="{E376DB76-8551-473A-ACD8-8A7D6D8A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628900"/>
            <a:ext cx="409575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实验 ID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引用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工作流 trace</a:t>
            </a:r>
          </a:p>
        </p:txBody>
      </p:sp>
      <p:sp>
        <p:nvSpPr>
          <p:cNvPr id="13" name="existing">
            <a:extLst xmlns:a="http://schemas.openxmlformats.org/drawingml/2006/main">
              <a:ext uri="{FF2B5EF4-FFF2-40B4-BE49-F238E27FC236}">
                <a16:creationId xmlns:a16="http://schemas.microsoft.com/office/drawing/2014/main" id="{FC2B6FE2-A4B4-41E5-918D-7567031E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86350"/>
            <a:ext cx="4095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使用现有项目材料，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不新增独立汇报文档。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78EFC8DF-E64D-45C8-B948-1AD86B0C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2026-09-16T01:34:21.8080000Z</dcterms:created>
  <dcterms:modified xsi:type="dcterms:W3CDTF">2026-09-16T01:34:21.8080000Z</dcterms:modified>
</coreProperties>
</file>