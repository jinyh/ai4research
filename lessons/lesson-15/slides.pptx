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265ffcc6f341a6" /><Relationship Type="http://schemas.openxmlformats.org/officeDocument/2006/relationships/extended-properties" Target="/docProps/app.xml" Id="R337b601c575d4611" /><Relationship Type="http://schemas.openxmlformats.org/officeDocument/2006/relationships/officeDocument" Target="/ppt/presentation.xml" Id="R04ec854c26a241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df1f36121441e3"/>
  </p:sldMasterIdLst>
  <p:notesMasterIdLst>
    <p:notesMasterId xmlns:r="http://schemas.openxmlformats.org/officeDocument/2006/relationships" r:id="R00742f1888e9459e"/>
  </p:notesMasterIdLst>
  <p:sldIdLst>
    <p:sldId xmlns:r="http://schemas.openxmlformats.org/officeDocument/2006/relationships" id="256" r:id="R1ca66aaebc5d4a83"/>
    <p:sldId xmlns:r="http://schemas.openxmlformats.org/officeDocument/2006/relationships" id="257" r:id="R7be4793569164790"/>
    <p:sldId xmlns:r="http://schemas.openxmlformats.org/officeDocument/2006/relationships" id="258" r:id="R4d6ec927789447e4"/>
    <p:sldId xmlns:r="http://schemas.openxmlformats.org/officeDocument/2006/relationships" id="259" r:id="R174f38f5e2f046da"/>
    <p:sldId xmlns:r="http://schemas.openxmlformats.org/officeDocument/2006/relationships" id="260" r:id="R81bc7b667ab64372"/>
    <p:sldId xmlns:r="http://schemas.openxmlformats.org/officeDocument/2006/relationships" id="261" r:id="Rcec648502ac64a74"/>
    <p:sldId xmlns:r="http://schemas.openxmlformats.org/officeDocument/2006/relationships" id="262" r:id="R9a1e4b57edbc471e"/>
    <p:sldId xmlns:r="http://schemas.openxmlformats.org/officeDocument/2006/relationships" id="263" r:id="Rbfff05b3bdef4be4"/>
    <p:sldId xmlns:r="http://schemas.openxmlformats.org/officeDocument/2006/relationships" id="264" r:id="Rdb247c3256384faf"/>
    <p:sldId xmlns:r="http://schemas.openxmlformats.org/officeDocument/2006/relationships" id="265" r:id="R8e550bdf8bf54d56"/>
    <p:sldId xmlns:r="http://schemas.openxmlformats.org/officeDocument/2006/relationships" id="266" r:id="R37374bdcc5634383"/>
    <p:sldId xmlns:r="http://schemas.openxmlformats.org/officeDocument/2006/relationships" id="267" r:id="Re724bec864914149"/>
    <p:sldId xmlns:r="http://schemas.openxmlformats.org/officeDocument/2006/relationships" id="268" r:id="Rc7a2ce71754742d8"/>
    <p:sldId xmlns:r="http://schemas.openxmlformats.org/officeDocument/2006/relationships" id="269" r:id="Rcd9d5b15b98f40ab"/>
    <p:sldId xmlns:r="http://schemas.openxmlformats.org/officeDocument/2006/relationships" id="270" r:id="R98f37dad06cc40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90262e17e14b6b" /><Relationship Type="http://schemas.openxmlformats.org/officeDocument/2006/relationships/slideMaster" Target="/ppt/slideMasters/slideMaster1.xml" Id="Rd8df1f36121441e3" /><Relationship Type="http://schemas.openxmlformats.org/officeDocument/2006/relationships/notesMaster" Target="/ppt/notesMasters/notesMaster1.xml" Id="R00742f1888e9459e" /><Relationship Type="http://schemas.openxmlformats.org/officeDocument/2006/relationships/presProps" Target="/ppt/presProps.xml" Id="R9cb7a0dd1dd349b5" /><Relationship Type="http://schemas.openxmlformats.org/officeDocument/2006/relationships/viewProps" Target="/ppt/viewProps.xml" Id="R6fa4b40309e64be6" /><Relationship Type="http://schemas.openxmlformats.org/officeDocument/2006/relationships/tableStyles" Target="/ppt/tableStyles.xml" Id="Racade51d26bb48cf" /><Relationship Type="http://schemas.openxmlformats.org/officeDocument/2006/relationships/slide" Target="/ppt/slides/slide1.xml" Id="R1ca66aaebc5d4a83" /><Relationship Type="http://schemas.openxmlformats.org/officeDocument/2006/relationships/slide" Target="/ppt/slides/slide2.xml" Id="R7be4793569164790" /><Relationship Type="http://schemas.openxmlformats.org/officeDocument/2006/relationships/slide" Target="/ppt/slides/slide3.xml" Id="R4d6ec927789447e4" /><Relationship Type="http://schemas.openxmlformats.org/officeDocument/2006/relationships/slide" Target="/ppt/slides/slide4.xml" Id="R174f38f5e2f046da" /><Relationship Type="http://schemas.openxmlformats.org/officeDocument/2006/relationships/slide" Target="/ppt/slides/slide5.xml" Id="R81bc7b667ab64372" /><Relationship Type="http://schemas.openxmlformats.org/officeDocument/2006/relationships/slide" Target="/ppt/slides/slide6.xml" Id="Rcec648502ac64a74" /><Relationship Type="http://schemas.openxmlformats.org/officeDocument/2006/relationships/slide" Target="/ppt/slides/slide7.xml" Id="R9a1e4b57edbc471e" /><Relationship Type="http://schemas.openxmlformats.org/officeDocument/2006/relationships/slide" Target="/ppt/slides/slide8.xml" Id="Rbfff05b3bdef4be4" /><Relationship Type="http://schemas.openxmlformats.org/officeDocument/2006/relationships/slide" Target="/ppt/slides/slide9.xml" Id="Rdb247c3256384faf" /><Relationship Type="http://schemas.openxmlformats.org/officeDocument/2006/relationships/slide" Target="/ppt/slides/slide10.xml" Id="R8e550bdf8bf54d56" /><Relationship Type="http://schemas.openxmlformats.org/officeDocument/2006/relationships/slide" Target="/ppt/slides/slide11.xml" Id="R37374bdcc5634383" /><Relationship Type="http://schemas.openxmlformats.org/officeDocument/2006/relationships/slide" Target="/ppt/slides/slide12.xml" Id="Re724bec864914149" /><Relationship Type="http://schemas.openxmlformats.org/officeDocument/2006/relationships/slide" Target="/ppt/slides/slide13.xml" Id="Rc7a2ce71754742d8" /><Relationship Type="http://schemas.openxmlformats.org/officeDocument/2006/relationships/slide" Target="/ppt/slides/slide14.xml" Id="Rcd9d5b15b98f40ab" /><Relationship Type="http://schemas.openxmlformats.org/officeDocument/2006/relationships/slide" Target="/ppt/slides/slide15.xml" Id="R98f37dad06cc40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0d90275ca9443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3f839e2dd946ad" /><Relationship Type="http://schemas.openxmlformats.org/officeDocument/2006/relationships/notesMaster" Target="/ppt/notesMasters/notesMaster1.xml" Id="Rca39b67110534c7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9882e31acf4d22" /><Relationship Type="http://schemas.openxmlformats.org/officeDocument/2006/relationships/notesMaster" Target="/ppt/notesMasters/notesMaster1.xml" Id="R247b0905a3d243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86c17160704ab0" /><Relationship Type="http://schemas.openxmlformats.org/officeDocument/2006/relationships/notesMaster" Target="/ppt/notesMasters/notesMaster1.xml" Id="R8ce3e113ecf942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15a94d93ff4da3" /><Relationship Type="http://schemas.openxmlformats.org/officeDocument/2006/relationships/notesMaster" Target="/ppt/notesMasters/notesMaster1.xml" Id="R3e22e4b0c8e04b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779bfb891a4420" /><Relationship Type="http://schemas.openxmlformats.org/officeDocument/2006/relationships/notesMaster" Target="/ppt/notesMasters/notesMaster1.xml" Id="Rc83d049132cc41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7a6b1711884df3" /><Relationship Type="http://schemas.openxmlformats.org/officeDocument/2006/relationships/notesMaster" Target="/ppt/notesMasters/notesMaster1.xml" Id="R13473d49be6045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fce986c1cc46f0" /><Relationship Type="http://schemas.openxmlformats.org/officeDocument/2006/relationships/notesMaster" Target="/ppt/notesMasters/notesMaster1.xml" Id="R934758b88f5742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795257d32f42f2" /><Relationship Type="http://schemas.openxmlformats.org/officeDocument/2006/relationships/notesMaster" Target="/ppt/notesMasters/notesMaster1.xml" Id="R0ebfa080955442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96f3b87a40c4d73" /><Relationship Type="http://schemas.openxmlformats.org/officeDocument/2006/relationships/notesMaster" Target="/ppt/notesMasters/notesMaster1.xml" Id="Re3ee9101f4f745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766eb16a914505" /><Relationship Type="http://schemas.openxmlformats.org/officeDocument/2006/relationships/notesMaster" Target="/ppt/notesMasters/notesMaster1.xml" Id="R469fa5384df94c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a62ea30d9314b02" /><Relationship Type="http://schemas.openxmlformats.org/officeDocument/2006/relationships/notesMaster" Target="/ppt/notesMasters/notesMaster1.xml" Id="Re47eed50713e43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658f46d36094142" /><Relationship Type="http://schemas.openxmlformats.org/officeDocument/2006/relationships/notesMaster" Target="/ppt/notesMasters/notesMaster1.xml" Id="R9b1f2a80ef884c7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c8f3904173f41db" /><Relationship Type="http://schemas.openxmlformats.org/officeDocument/2006/relationships/notesMaster" Target="/ppt/notesMasters/notesMaster1.xml" Id="Rd29a776ec521412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cf93455b061431d" /><Relationship Type="http://schemas.openxmlformats.org/officeDocument/2006/relationships/notesMaster" Target="/ppt/notesMasters/notesMaster1.xml" Id="R83420ced25b74c6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46072bbc89b42ee" /><Relationship Type="http://schemas.openxmlformats.org/officeDocument/2006/relationships/notesMaster" Target="/ppt/notesMasters/notesMaster1.xml" Id="Rfc1ea682824942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P01｜第15讲 同行评审、论证门预检与修改工作坊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第15讲 同行评审、论证门预检与修改工作坊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仅正式课名，保留原生交大封面，标题位于中部两横线之间。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学生打开第 14 课 `report.md` 初版。本课不新增正式提交。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讲义导读；assignments.md 第 15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P02｜把泛泛评价改成可定位意见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课程构造的评审表达示例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− 论证不严谨。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+ report.md 结果段：主张“机制已证实”，但没有区分 A1/A2/A3。建议降级结论并补边界。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指向工作，不评价作者人格或选题时髦度；作者保留判断责任。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一条真实教学语境下的改写前后意见占主体，右侧批注位置／观察／可执行建议，不显示抽象“工作／作者”卡。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把“论证不严谨”改写为可定位句子。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Smith 1990；Stanford Scientific Writing Unit 8；讲义 §四。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P03｜评审必须留下修改证据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peer-review.md：具体意见 → 处理决定与理由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实际文件 diff：至少一项落实修改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revision-plan.md：剩余预检缺口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这些工件直接进入第 16 课；真实意见不足时处理全部，不虚构反馈。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课程虚构工件示例：评审指出结果段结论越界；作者采纳并将 `stable` 改为“支持（待验证）”；修改计划保留替代解释对照缺口。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三个完整教学记录片段并排，呈现同一意见的处理顺序，突出 `stable → 支持（待验证）` 的实际文本差异；醒目标明虚构。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若真实反馈少于两条，处理全部并记录缺口，不虚构意见。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讲义导读、§五—六。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P04｜这条结论应当怎样降级？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教师故意含错的虚构版本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“20 篇论文的阅读卡组更好，因此机制已证实，状态 stable。”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请标注：致命／重要／表达？依据在哪里？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核验：同一批 20 篇 × 2 条件 × 3 次运行 = 120 次输出；A1/A2/A3 未充分区分。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正文片段居中；只把“机制已证实”和 stable 标红，下方为证据约束与严重程度选择，不提前替学生选结论。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正确识别：同一批论文、两条件各三次、120 次输出的虚构汇总只能支持待验证判断；A1/A2/A3 未充分区分。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虚构教学案例；AGENTS.md `stable` 证据规则。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P05｜按五个维度检查这份初稿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论证链：主张能反查证据与上游判断吗？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证据充分：强度匹配吗，失败保留吗？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局限：替代解释与边界具体吗？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可复现：表图能定位运行记录吗？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伦理：数据、权限、贡献与 AI 披露透明吗？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rubric 用于诊断，不打总分。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五行开放式检查表，以细线分隔；各维度对应待检查的稿件位置，正文常规字重。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rubric 是诊断工具，不打总分。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§二；assignments.md Checkpoint 4。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P06｜留下三条能执行的反馈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最强处：证据在哪里？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最大风险：会卡住哪条门条件？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可执行建议：最小改动是什么？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所有意见指出具体段落、表、证据项或运行记录。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课程虚构稿件节选：C1 阅读卡组遗漏率较低；证据为评价报告 §2；状态支持（待验证）；A1/A2/A3 尚未区分。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左侧显示上述稿件节选，右侧三问与可定位的记录对照；不把三问画成无意义流程箭头。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禁止“挺好”“不严谨”“建议多做实验”这类无位置反馈。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§三—四。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P07｜打开同伴初稿，开始交叉评审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输入：固定同伴 A 的真实初稿；第二轮换同伴 B 或三人组轮转。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保存：peer-review.md。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完成样例（课程构造）：位置=结果段；观察=把待验证写成 stable；风险=证据强度越界；建议=降级并补替代解释。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记录版本、位置、观察、风险与建议；只记录，不当场辩论。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左侧单一动作与轮转角色，右侧一条填写完成的评审记录；不显示计时，避免密集排班表。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实践停留页。每轮结束时提醒交换角色；教师只纠正泛化反馈。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§三、练习 3；分组沿用第 8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P08｜根据真实理由选择处理动作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采纳：缺陷成立，直接修改。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澄清：已有内容被误读。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补证：需要新增证据或实验。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保留异议：意见与证据或约束冲突。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暂缓：当前条件不足，写阻塞、风险与复核点。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不要求五类齐全，也不要求机械拒绝。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五条处理动作和适用理由纵向对齐；以文字而非绿红左右色暗示优劣，不画等权卡片墙。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暂缓不等于搁置：写明阻塞、风险和下次复核点。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§五；Booth et al. Ch. 9, 11。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P09｜为这条意见写出回应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课程虚构回应样例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动作：采纳；理由：当前证据不能排除替代解释。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边界：同一批 20 篇 CS 论文；依据：评价报告 §2。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状态：支持（待验证）；影响工件：report.md、结论追踪记录。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回应写入 peer-review.md；优先级写入 revision-plan.md。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一条收到的意见在顶部，六字段回应展开为三条宽行，下方标实际写入位置；不挤六个窄节点。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实践停留页。作者处理收到的真实意见；不凑类别。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§五；模板文件。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P10｜现在修改最可能卡门的一项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课程虚构稿件的实际文本修改示范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− 阅读卡机制已证实，状态 stable。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+ 本批论文中阅读卡组遗漏率较低，方向支持 H1。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+ A1/A2/A3 尚未充分区分；状态：支持（待验证）。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优先：致命 → 重要 → 表达。改实际文件，保存 diff，更新影响工件。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可编辑文本 diff 为主视觉，红删绿增；侧栏显示优先级、保存位置与审核点；不是旧／新抽象标签卡。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实践停留页。普通技术失败进入修复与复盘，不自动视为学术不端。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§四—五；assessment.md 学术规范。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P11｜把剩余问题正确收口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证据不足 → 降为支持（待验证）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缺关键对照 → 写最小补证动作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权限或数据不足 → 写阻塞、风险与复核点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普通技术失败进入修复复盘；编造、隐瞒、越权或伪造记录才是红线。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三行具体问题→修订动作，每行保留对应状态；红线在相关文字附近，不以整页红块恐吓。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强调“不显著”不证明机制不存在；编造、隐瞒、越权或伪造记录才是红线。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§五；assessment.md。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P12｜保存第二项修改或一个缺口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从当前稿件选一项：第二项高优先级修改／证据定位／结论降级与边界／AI 与伦理披露。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保存到相应项目文件。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完成样例（课程构造）：未能补做对照 → 暂缓机制结论 → 记录缺口和复核点。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完成标志：文件已保存，剩余风险可定位。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左侧一个选择动作和输入，右侧一条完整的未修复项处理记录；同一稿件对象延续 P10。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实践停留页。结束时检查文件已保存。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 §五—六。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P13｜逐项预检，不假装全部通过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只标：已满足／部分满足／未覆盖。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关键结论可追溯；stable 符合证据条件；工作流含运行、权限、评价与失败；伦理、许可、贡献与 AI 完整；工件状态与门检一致。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把剩余缺口写入 revision-plan.md。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五行门检清单配空白三态选择列，展示可用检查工具，不自动替学生勾选通过。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本课完成主要预检，不要求在课堂假装全部通过。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assignments.md Checkpoint 4；讲义 §六。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P14｜本讲知识点总结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真实意见 → 处理决定 → 实际修改 → 剩余边界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反馈不替代作者判断；理由回到证据和约束。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完成标志是修改证据，不只是修改计划。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独立总结：用已在前页完成的“真实意见→处理决定→实际修改→剩余边界”链收束；突出修改证据与作者判断，不混入展示安排。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退出动作：学生指出已改的一处和仍待处理的一处。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讲义总结；Booth et al.；assignments.md。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现行逐页母稿：</a:t>
            </a:r>
          </a:p>
          <a:p xmlns:a="http://schemas.openxmlformats.org/drawingml/2006/main">
            <a:r>
              <a:t>## P15｜带齐展示与抽查材料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屏显内容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全员闪电报告：研究问题、关键结果、结论边界。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分组证据／工作流演示：证据定位、真实作用、失败与人工判断。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教师抽查：实验 ID、引用或工作流 trace。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16 课使用现有项目材料，不新增独立汇报文档。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视觉结构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上下两层展示结构，右侧抽查问题连接到各层可定位工件；无独立感谢页。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教师备注／互动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确认每人材料位置；不再安排新的独立汇报文档。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### 来源与边界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16 课讲义；assignments.md。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内容与90分钟教学结构不变，独立总结前置。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lessons/lesson-15/handout.md</a:t>
            </a:r>
          </a:p>
          <a:p xmlns:a="http://schemas.openxmlformats.org/drawingml/2006/main">
            <a:r>
              <a:t>- lessons/lesson-15/slides.md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Smith, A. J. (1990). The Task of the Referee. Computer 23(4), 65–71.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13cf2549bf4eea" /><Relationship Type="http://schemas.openxmlformats.org/officeDocument/2006/relationships/image" Target="/ppt/media/image.png" Id="R4f567b0a8c3b417a" /><Relationship Type="http://schemas.openxmlformats.org/officeDocument/2006/relationships/image" Target="/ppt/media/image2.png" Id="Rdca1d7eeaca44a0d" /><Relationship Type="http://schemas.openxmlformats.org/officeDocument/2006/relationships/image" Target="/ppt/media/image3.png" Id="R1cae0d96bfbd4be7" /><Relationship Type="http://schemas.openxmlformats.org/officeDocument/2006/relationships/image" Target="/ppt/media/image4.png" Id="Rb4a2b161559a4b4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49589370d9469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84804028a54ec5" /><Relationship Type="http://schemas.openxmlformats.org/officeDocument/2006/relationships/image" Target="/ppt/media/image2.png" Id="R661364ab2a8741dd" /><Relationship Type="http://schemas.openxmlformats.org/officeDocument/2006/relationships/image" Target="/ppt/media/image5.png" Id="R057b3975cae146a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34d64410d84a46" /><Relationship Type="http://schemas.openxmlformats.org/officeDocument/2006/relationships/image" Target="/ppt/media/image.png" Id="R9e8196c588184186" /><Relationship Type="http://schemas.openxmlformats.org/officeDocument/2006/relationships/image" Target="/ppt/media/image3.png" Id="Rdd4b1108a7e746db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567b0a8c3b417a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a1d7eeaca44a0d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ae0d96bfbd4be7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2b161559a4b45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1364ab2a8741dd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7b3975cae146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8196c588184186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4b1108a7e746db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a2177df30a4a7a" /><Relationship Type="http://schemas.openxmlformats.org/officeDocument/2006/relationships/slideLayout" Target="/ppt/slideLayouts/slideLayout1.xml" Id="R2fd0088018a8445a" /><Relationship Type="http://schemas.openxmlformats.org/officeDocument/2006/relationships/slideLayout" Target="/ppt/slideLayouts/slideLayout2.xml" Id="R6a8151a565ee4756" /><Relationship Type="http://schemas.openxmlformats.org/officeDocument/2006/relationships/slideLayout" Target="/ppt/slideLayouts/slideLayout3.xml" Id="R95d7b5e0a4074325" /><Relationship Type="http://schemas.openxmlformats.org/officeDocument/2006/relationships/slideLayout" Target="/ppt/slideLayouts/slideLayout4.xml" Id="Rc9dd7fdc9d694bb0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d0088018a8445a"/>
    <p:sldLayoutId xmlns:r="http://schemas.openxmlformats.org/officeDocument/2006/relationships" id="2147483650" r:id="R6a8151a565ee4756"/>
    <p:sldLayoutId xmlns:r="http://schemas.openxmlformats.org/officeDocument/2006/relationships" id="2147483651" r:id="R95d7b5e0a4074325"/>
    <p:sldLayoutId xmlns:r="http://schemas.openxmlformats.org/officeDocument/2006/relationships" id="2147483652" r:id="Rc9dd7fdc9d694bb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701e2d1364da9" /><Relationship Type="http://schemas.openxmlformats.org/officeDocument/2006/relationships/notesSlide" Target="/ppt/notesSlides/notesSlide1.xml" Id="Re7eccf235bac493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003eb4072ee40c5" /><Relationship Type="http://schemas.openxmlformats.org/officeDocument/2006/relationships/notesSlide" Target="/ppt/notesSlides/notesSlide2.xml" Id="R5ec8b735afee45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0d3795cdf0b455e" /><Relationship Type="http://schemas.openxmlformats.org/officeDocument/2006/relationships/notesSlide" Target="/ppt/notesSlides/notesSlide3.xml" Id="Rd53961e7231046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103925ad3904987" /><Relationship Type="http://schemas.openxmlformats.org/officeDocument/2006/relationships/notesSlide" Target="/ppt/notesSlides/notesSlide4.xml" Id="Rfeaeb4f84a134c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63dc2118f48420e" /><Relationship Type="http://schemas.openxmlformats.org/officeDocument/2006/relationships/notesSlide" Target="/ppt/notesSlides/notesSlide5.xml" Id="R8e14452243dc49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94b04b568c4fe4" /><Relationship Type="http://schemas.openxmlformats.org/officeDocument/2006/relationships/notesSlide" Target="/ppt/notesSlides/notesSlide6.xml" Id="R4199fda2c4684f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0bd79fc8a2c4e5b" /><Relationship Type="http://schemas.openxmlformats.org/officeDocument/2006/relationships/notesSlide" Target="/ppt/notesSlides/notesSlide7.xml" Id="R0aaba729acdb4a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018253e689d4bb6" /><Relationship Type="http://schemas.openxmlformats.org/officeDocument/2006/relationships/notesSlide" Target="/ppt/notesSlides/notesSlide8.xml" Id="Rb558c175733c44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39e177040884a77" /><Relationship Type="http://schemas.openxmlformats.org/officeDocument/2006/relationships/notesSlide" Target="/ppt/notesSlides/notesSlide9.xml" Id="R9ee54c4005d8466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984a1070af84a77" /><Relationship Type="http://schemas.openxmlformats.org/officeDocument/2006/relationships/notesSlide" Target="/ppt/notesSlides/notesSlide10.xml" Id="R82e8207ae5134d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02b7b3bb71d4add" /><Relationship Type="http://schemas.openxmlformats.org/officeDocument/2006/relationships/notesSlide" Target="/ppt/notesSlides/notesSlide11.xml" Id="R7e419106d81742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13eb989fc5f4556" /><Relationship Type="http://schemas.openxmlformats.org/officeDocument/2006/relationships/notesSlide" Target="/ppt/notesSlides/notesSlide12.xml" Id="R3bdc086d6ae745e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c1a94dd4fc24560" /><Relationship Type="http://schemas.openxmlformats.org/officeDocument/2006/relationships/notesSlide" Target="/ppt/notesSlides/notesSlide13.xml" Id="R46c6a4eaa4254c3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5cccc8ff5b94e5e" /><Relationship Type="http://schemas.openxmlformats.org/officeDocument/2006/relationships/notesSlide" Target="/ppt/notesSlides/notesSlide14.xml" Id="R7b6710cab039492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5510141e37449d6" /><Relationship Type="http://schemas.openxmlformats.org/officeDocument/2006/relationships/notesSlide" Target="/ppt/notesSlides/notesSlide15.xml" Id="Rdb2eb9206047438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DFB50CD-3045-411F-9A59-3ACEDFE4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第15讲 同行评审、论证门预检与修改工作坊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把泛泛评价改成可定位意见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52BFE267-02C6-4393-B376-493A8921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课程构造的评审表达示例</a:t>
            </a:r>
          </a:p>
        </p:txBody>
      </p:sp>
      <p:sp>
        <p:nvSpPr>
          <p:cNvPr id="7" name="diff-bg">
            <a:extLst xmlns:a="http://schemas.openxmlformats.org/drawingml/2006/main">
              <a:ext uri="{FF2B5EF4-FFF2-40B4-BE49-F238E27FC236}">
                <a16:creationId xmlns:a16="http://schemas.microsoft.com/office/drawing/2014/main" id="{6C8324DD-D6D9-4599-8591-2E2EEB62C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79819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8" name="diff-0">
            <a:extLst xmlns:a="http://schemas.openxmlformats.org/drawingml/2006/main">
              <a:ext uri="{FF2B5EF4-FFF2-40B4-BE49-F238E27FC236}">
                <a16:creationId xmlns:a16="http://schemas.microsoft.com/office/drawing/2014/main" id="{93A75894-0E5A-48B6-9DA3-F19BFF5A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0225"/>
            <a:ext cx="7600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− 论证不严谨。</a:t>
            </a:r>
          </a:p>
        </p:txBody>
      </p:sp>
      <p:sp>
        <p:nvSpPr>
          <p:cNvPr id="9" name="diff-1">
            <a:extLst xmlns:a="http://schemas.openxmlformats.org/drawingml/2006/main">
              <a:ext uri="{FF2B5EF4-FFF2-40B4-BE49-F238E27FC236}">
                <a16:creationId xmlns:a16="http://schemas.microsoft.com/office/drawing/2014/main" id="{4B6CD0DD-60AA-4BD3-95B9-5940D1B8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95550"/>
            <a:ext cx="7600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+ report.md 结果段写“机制已证实”，</a:t>
            </a:r>
          </a:p>
        </p:txBody>
      </p:sp>
      <p:sp>
        <p:nvSpPr>
          <p:cNvPr id="10" name="diff-2">
            <a:extLst xmlns:a="http://schemas.openxmlformats.org/drawingml/2006/main">
              <a:ext uri="{FF2B5EF4-FFF2-40B4-BE49-F238E27FC236}">
                <a16:creationId xmlns:a16="http://schemas.microsoft.com/office/drawing/2014/main" id="{9ED0CC97-9E65-4C83-A75C-6DD90FE5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90875"/>
            <a:ext cx="7600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+ 但没有区分 A1/A2/A3；</a:t>
            </a:r>
          </a:p>
        </p:txBody>
      </p:sp>
      <p:sp>
        <p:nvSpPr>
          <p:cNvPr id="11" name="diff-3">
            <a:extLst xmlns:a="http://schemas.openxmlformats.org/drawingml/2006/main">
              <a:ext uri="{FF2B5EF4-FFF2-40B4-BE49-F238E27FC236}">
                <a16:creationId xmlns:a16="http://schemas.microsoft.com/office/drawing/2014/main" id="{2B2706E8-6CED-4767-977C-C031430E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00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+ 建议降级结论并补边界。</a:t>
            </a:r>
          </a:p>
        </p:txBody>
      </p:sp>
      <p:sp>
        <p:nvSpPr>
          <p:cNvPr id="12" name="loc-label">
            <a:extLst xmlns:a="http://schemas.openxmlformats.org/drawingml/2006/main">
              <a:ext uri="{FF2B5EF4-FFF2-40B4-BE49-F238E27FC236}">
                <a16:creationId xmlns:a16="http://schemas.microsoft.com/office/drawing/2014/main" id="{5AECF0E5-2F10-47CB-A6AF-8C118E677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6668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位置</a:t>
            </a:r>
          </a:p>
        </p:txBody>
      </p:sp>
      <p:sp>
        <p:nvSpPr>
          <p:cNvPr id="13" name="loc-body">
            <a:extLst xmlns:a="http://schemas.openxmlformats.org/drawingml/2006/main">
              <a:ext uri="{FF2B5EF4-FFF2-40B4-BE49-F238E27FC236}">
                <a16:creationId xmlns:a16="http://schemas.microsoft.com/office/drawing/2014/main" id="{659C627D-8A73-48A0-AE20-E772E004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171700"/>
            <a:ext cx="2571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report.md 结果段</a:t>
            </a:r>
          </a:p>
        </p:txBody>
      </p:sp>
      <p:sp>
        <p:nvSpPr>
          <p:cNvPr id="14" name="review-label">
            <a:extLst xmlns:a="http://schemas.openxmlformats.org/drawingml/2006/main">
              <a:ext uri="{FF2B5EF4-FFF2-40B4-BE49-F238E27FC236}">
                <a16:creationId xmlns:a16="http://schemas.microsoft.com/office/drawing/2014/main" id="{E2B8539A-CAF3-4BA9-98EA-C94B2328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5242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建议</a:t>
            </a:r>
          </a:p>
        </p:txBody>
      </p:sp>
      <p:sp>
        <p:nvSpPr>
          <p:cNvPr id="15" name="review-body">
            <a:extLst xmlns:a="http://schemas.openxmlformats.org/drawingml/2006/main">
              <a:ext uri="{FF2B5EF4-FFF2-40B4-BE49-F238E27FC236}">
                <a16:creationId xmlns:a16="http://schemas.microsoft.com/office/drawing/2014/main" id="{82BF1565-EDA0-4D10-B1C7-186A8184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029075"/>
            <a:ext cx="2571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降级并补边界</a:t>
            </a:r>
          </a:p>
        </p:txBody>
      </p:sp>
      <p:sp>
        <p:nvSpPr>
          <p:cNvPr id="16" name="ethics">
            <a:extLst xmlns:a="http://schemas.openxmlformats.org/drawingml/2006/main">
              <a:ext uri="{FF2B5EF4-FFF2-40B4-BE49-F238E27FC236}">
                <a16:creationId xmlns:a16="http://schemas.microsoft.com/office/drawing/2014/main" id="{F0742191-F073-4552-8646-2E3D747E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指向工作，不评价人格或选题时髦度；作者保留判断责任。</a:t>
            </a:r>
          </a:p>
        </p:txBody>
      </p:sp>
      <p:sp>
        <p:nvSpPr>
          <p:cNvPr id="17" name="source">
            <a:extLst xmlns:a="http://schemas.openxmlformats.org/drawingml/2006/main">
              <a:ext uri="{FF2B5EF4-FFF2-40B4-BE49-F238E27FC236}">
                <a16:creationId xmlns:a16="http://schemas.microsoft.com/office/drawing/2014/main" id="{0315B495-044E-4217-ADC9-4266EDE71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Smith (1990), The Task of the Referee, Computer 23(4):65–71 · 本课五维 rubric 为课程改编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评审必须留下修改证据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C5EC8D64-9AE7-4001-88DA-4B8C396E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课程虚构评审工件 · 同一条意见的处理链</a:t>
            </a:r>
          </a:p>
        </p:txBody>
      </p:sp>
      <p:sp>
        <p:nvSpPr>
          <p:cNvPr id="7" name="file0-top">
            <a:extLst xmlns:a="http://schemas.openxmlformats.org/drawingml/2006/main">
              <a:ext uri="{FF2B5EF4-FFF2-40B4-BE49-F238E27FC236}">
                <a16:creationId xmlns:a16="http://schemas.microsoft.com/office/drawing/2014/main" id="{F95BCE73-CC65-4C45-82FA-CD85FEE1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3314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8" name="file0-file">
            <a:extLst xmlns:a="http://schemas.openxmlformats.org/drawingml/2006/main">
              <a:ext uri="{FF2B5EF4-FFF2-40B4-BE49-F238E27FC236}">
                <a16:creationId xmlns:a16="http://schemas.microsoft.com/office/drawing/2014/main" id="{3CD1BE5B-49E5-43F0-869C-79BB51BE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peer-review.md</a:t>
            </a:r>
          </a:p>
        </p:txBody>
      </p:sp>
      <p:sp>
        <p:nvSpPr>
          <p:cNvPr id="9" name="file0-line0">
            <a:extLst xmlns:a="http://schemas.openxmlformats.org/drawingml/2006/main">
              <a:ext uri="{FF2B5EF4-FFF2-40B4-BE49-F238E27FC236}">
                <a16:creationId xmlns:a16="http://schemas.microsoft.com/office/drawing/2014/main" id="{256DC208-CF57-4792-B65A-639DFE04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30861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结果段：结论越界</a:t>
            </a:r>
          </a:p>
        </p:txBody>
      </p:sp>
      <p:sp>
        <p:nvSpPr>
          <p:cNvPr id="10" name="file0-line1">
            <a:extLst xmlns:a="http://schemas.openxmlformats.org/drawingml/2006/main">
              <a:ext uri="{FF2B5EF4-FFF2-40B4-BE49-F238E27FC236}">
                <a16:creationId xmlns:a16="http://schemas.microsoft.com/office/drawing/2014/main" id="{780A5EA4-67E9-433E-8B80-5831B2DC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48025"/>
            <a:ext cx="30861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采纳：降低结论强度</a:t>
            </a:r>
          </a:p>
        </p:txBody>
      </p:sp>
      <p:sp>
        <p:nvSpPr>
          <p:cNvPr id="11" name="file1-top">
            <a:extLst xmlns:a="http://schemas.openxmlformats.org/drawingml/2006/main">
              <a:ext uri="{FF2B5EF4-FFF2-40B4-BE49-F238E27FC236}">
                <a16:creationId xmlns:a16="http://schemas.microsoft.com/office/drawing/2014/main" id="{F6D81035-356D-4D2B-8CF9-C91C8314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600200"/>
            <a:ext cx="3314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file1-file">
            <a:extLst xmlns:a="http://schemas.openxmlformats.org/drawingml/2006/main">
              <a:ext uri="{FF2B5EF4-FFF2-40B4-BE49-F238E27FC236}">
                <a16:creationId xmlns:a16="http://schemas.microsoft.com/office/drawing/2014/main" id="{6B438290-3E2D-4C2A-AF38-A39A715B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1752600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实际文件 diff</a:t>
            </a:r>
          </a:p>
        </p:txBody>
      </p:sp>
      <p:sp>
        <p:nvSpPr>
          <p:cNvPr id="13" name="file1-line0">
            <a:extLst xmlns:a="http://schemas.openxmlformats.org/drawingml/2006/main">
              <a:ext uri="{FF2B5EF4-FFF2-40B4-BE49-F238E27FC236}">
                <a16:creationId xmlns:a16="http://schemas.microsoft.com/office/drawing/2014/main" id="{30EFAE74-23AC-4150-B0C1-6B3909E9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286000"/>
            <a:ext cx="30861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− stable</a:t>
            </a:r>
          </a:p>
        </p:txBody>
      </p:sp>
      <p:sp>
        <p:nvSpPr>
          <p:cNvPr id="14" name="file1-line1">
            <a:extLst xmlns:a="http://schemas.openxmlformats.org/drawingml/2006/main">
              <a:ext uri="{FF2B5EF4-FFF2-40B4-BE49-F238E27FC236}">
                <a16:creationId xmlns:a16="http://schemas.microsoft.com/office/drawing/2014/main" id="{089303E4-1616-402E-B57A-5AD2036C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248025"/>
            <a:ext cx="30861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 支持（待验证）</a:t>
            </a:r>
          </a:p>
        </p:txBody>
      </p:sp>
      <p:sp>
        <p:nvSpPr>
          <p:cNvPr id="15" name="file2-top">
            <a:extLst xmlns:a="http://schemas.openxmlformats.org/drawingml/2006/main">
              <a:ext uri="{FF2B5EF4-FFF2-40B4-BE49-F238E27FC236}">
                <a16:creationId xmlns:a16="http://schemas.microsoft.com/office/drawing/2014/main" id="{94B715CA-51E5-45A2-AAD7-633C4812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00200"/>
            <a:ext cx="33147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6" name="file2-file">
            <a:extLst xmlns:a="http://schemas.openxmlformats.org/drawingml/2006/main">
              <a:ext uri="{FF2B5EF4-FFF2-40B4-BE49-F238E27FC236}">
                <a16:creationId xmlns:a16="http://schemas.microsoft.com/office/drawing/2014/main" id="{C436421C-CF53-4A68-A542-BF7F1486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52600"/>
            <a:ext cx="3314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revision-plan.md</a:t>
            </a:r>
          </a:p>
        </p:txBody>
      </p:sp>
      <p:sp>
        <p:nvSpPr>
          <p:cNvPr id="17" name="file2-line0">
            <a:extLst xmlns:a="http://schemas.openxmlformats.org/drawingml/2006/main">
              <a:ext uri="{FF2B5EF4-FFF2-40B4-BE49-F238E27FC236}">
                <a16:creationId xmlns:a16="http://schemas.microsoft.com/office/drawing/2014/main" id="{B3FC4D39-D473-4871-B675-87A14A4E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861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仍缺：替代解释对照</a:t>
            </a:r>
          </a:p>
        </p:txBody>
      </p:sp>
      <p:sp>
        <p:nvSpPr>
          <p:cNvPr id="18" name="file2-line1">
            <a:extLst xmlns:a="http://schemas.openxmlformats.org/drawingml/2006/main">
              <a:ext uri="{FF2B5EF4-FFF2-40B4-BE49-F238E27FC236}">
                <a16:creationId xmlns:a16="http://schemas.microsoft.com/office/drawing/2014/main" id="{F440C57A-EB52-4C97-B69D-BC55729C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48025"/>
            <a:ext cx="30861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进入第 16 课复核</a:t>
            </a:r>
          </a:p>
        </p:txBody>
      </p:sp>
      <p:sp>
        <p:nvSpPr>
          <p:cNvPr id="19" name="no-fake">
            <a:extLst xmlns:a="http://schemas.openxmlformats.org/drawingml/2006/main">
              <a:ext uri="{FF2B5EF4-FFF2-40B4-BE49-F238E27FC236}">
                <a16:creationId xmlns:a16="http://schemas.microsoft.com/office/drawing/2014/main" id="{3DC65783-36E6-49F5-96F6-10DBB1A6C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5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真实意见不足时处理全部，不虚构反馈。</a:t>
            </a:r>
          </a:p>
        </p:txBody>
      </p:sp>
      <p:sp>
        <p:nvSpPr>
          <p:cNvPr id="20" name="source">
            <a:extLst xmlns:a="http://schemas.openxmlformats.org/drawingml/2006/main">
              <a:ext uri="{FF2B5EF4-FFF2-40B4-BE49-F238E27FC236}">
                <a16:creationId xmlns:a16="http://schemas.microsoft.com/office/drawing/2014/main" id="{FFA260EB-B25B-4515-8C16-4BA32448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这条结论应当怎样降级？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8DE662DD-C1D0-4B49-AD73-DE1147E9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教师故意含错的虚构版本</a:t>
            </a:r>
          </a:p>
        </p:txBody>
      </p:sp>
      <p:sp>
        <p:nvSpPr>
          <p:cNvPr id="7" name="statement">
            <a:extLst xmlns:a="http://schemas.openxmlformats.org/drawingml/2006/main">
              <a:ext uri="{FF2B5EF4-FFF2-40B4-BE49-F238E27FC236}">
                <a16:creationId xmlns:a16="http://schemas.microsoft.com/office/drawing/2014/main" id="{BC88A199-00CF-4692-B789-8119A528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20 篇论文的阅读卡组更好，</a:t>
            </a:r>
          </a:p>
        </p:txBody>
      </p:sp>
      <p:sp>
        <p:nvSpPr>
          <p:cNvPr id="8" name="error">
            <a:extLst xmlns:a="http://schemas.openxmlformats.org/drawingml/2006/main">
              <a:ext uri="{FF2B5EF4-FFF2-40B4-BE49-F238E27FC236}">
                <a16:creationId xmlns:a16="http://schemas.microsoft.com/office/drawing/2014/main" id="{ABCF675D-21F4-489F-9F85-ADCA514A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因此机制已证实，状态 stable。</a:t>
            </a:r>
          </a:p>
        </p:txBody>
      </p:sp>
      <p:sp>
        <p:nvSpPr>
          <p:cNvPr id="9" name="below">
            <a:extLst xmlns:a="http://schemas.openxmlformats.org/drawingml/2006/main">
              <a:ext uri="{FF2B5EF4-FFF2-40B4-BE49-F238E27FC236}">
                <a16:creationId xmlns:a16="http://schemas.microsoft.com/office/drawing/2014/main" id="{D1802B38-246A-4BB1-A136-A4DCC2A6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0" name="question">
            <a:extLst xmlns:a="http://schemas.openxmlformats.org/drawingml/2006/main">
              <a:ext uri="{FF2B5EF4-FFF2-40B4-BE49-F238E27FC236}">
                <a16:creationId xmlns:a16="http://schemas.microsoft.com/office/drawing/2014/main" id="{36CC2F9E-2A26-4C09-9F6C-84FACBA8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858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请标注：致命／重要／表达？依据在哪里？</a:t>
            </a:r>
          </a:p>
        </p:txBody>
      </p:sp>
      <p:sp>
        <p:nvSpPr>
          <p:cNvPr id="11" name="record">
            <a:extLst xmlns:a="http://schemas.openxmlformats.org/drawingml/2006/main">
              <a:ext uri="{FF2B5EF4-FFF2-40B4-BE49-F238E27FC236}">
                <a16:creationId xmlns:a16="http://schemas.microsoft.com/office/drawing/2014/main" id="{564C8493-CE7F-4B52-AB0F-09F932C6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核验：同一批 20 篇 × 2 条件 × 3 次 = 120 次输出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A1 / A2 / A3 尚未充分区分。</a:t>
            </a:r>
          </a:p>
        </p:txBody>
      </p:sp>
      <p:sp>
        <p:nvSpPr>
          <p:cNvPr id="12" name="source">
            <a:extLst xmlns:a="http://schemas.openxmlformats.org/drawingml/2006/main">
              <a:ext uri="{FF2B5EF4-FFF2-40B4-BE49-F238E27FC236}">
                <a16:creationId xmlns:a16="http://schemas.microsoft.com/office/drawing/2014/main" id="{F4E85E8B-AABE-44B8-8355-CB746068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按五个维度检查这份初稿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rubric0-key">
            <a:extLst xmlns:a="http://schemas.openxmlformats.org/drawingml/2006/main">
              <a:ext uri="{FF2B5EF4-FFF2-40B4-BE49-F238E27FC236}">
                <a16:creationId xmlns:a16="http://schemas.microsoft.com/office/drawing/2014/main" id="{AA3AE37D-8DF6-4E60-BF55-91EA73E0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论证链</a:t>
            </a:r>
          </a:p>
        </p:txBody>
      </p:sp>
      <p:sp>
        <p:nvSpPr>
          <p:cNvPr id="7" name="rubric0-value">
            <a:extLst xmlns:a="http://schemas.openxmlformats.org/drawingml/2006/main">
              <a:ext uri="{FF2B5EF4-FFF2-40B4-BE49-F238E27FC236}">
                <a16:creationId xmlns:a16="http://schemas.microsoft.com/office/drawing/2014/main" id="{235D61C5-53A5-4F10-AA63-E6983406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228725"/>
            <a:ext cx="838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能反查证据与上游判断？</a:t>
            </a:r>
          </a:p>
        </p:txBody>
      </p:sp>
      <p:sp>
        <p:nvSpPr>
          <p:cNvPr id="8" name="rubric0-rule">
            <a:extLst xmlns:a="http://schemas.openxmlformats.org/drawingml/2006/main">
              <a:ext uri="{FF2B5EF4-FFF2-40B4-BE49-F238E27FC236}">
                <a16:creationId xmlns:a16="http://schemas.microsoft.com/office/drawing/2014/main" id="{B783CECE-4C15-4D8E-96FF-3370C37B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rubric1-key">
            <a:extLst xmlns:a="http://schemas.openxmlformats.org/drawingml/2006/main">
              <a:ext uri="{FF2B5EF4-FFF2-40B4-BE49-F238E27FC236}">
                <a16:creationId xmlns:a16="http://schemas.microsoft.com/office/drawing/2014/main" id="{8D1F7A0F-2974-4EB3-AF2B-7CDAE519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证据充分</a:t>
            </a:r>
          </a:p>
        </p:txBody>
      </p:sp>
      <p:sp>
        <p:nvSpPr>
          <p:cNvPr id="10" name="rubric1-value">
            <a:extLst xmlns:a="http://schemas.openxmlformats.org/drawingml/2006/main">
              <a:ext uri="{FF2B5EF4-FFF2-40B4-BE49-F238E27FC236}">
                <a16:creationId xmlns:a16="http://schemas.microsoft.com/office/drawing/2014/main" id="{BAB19033-D058-42E2-A762-7F4EF1FC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105025"/>
            <a:ext cx="838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状态强度匹配？失败是否保留？</a:t>
            </a:r>
          </a:p>
        </p:txBody>
      </p:sp>
      <p:sp>
        <p:nvSpPr>
          <p:cNvPr id="11" name="rubric1-rule">
            <a:extLst xmlns:a="http://schemas.openxmlformats.org/drawingml/2006/main">
              <a:ext uri="{FF2B5EF4-FFF2-40B4-BE49-F238E27FC236}">
                <a16:creationId xmlns:a16="http://schemas.microsoft.com/office/drawing/2014/main" id="{EBFB433A-D665-49B5-9196-21ED52A9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rubric2-key">
            <a:extLst xmlns:a="http://schemas.openxmlformats.org/drawingml/2006/main">
              <a:ext uri="{FF2B5EF4-FFF2-40B4-BE49-F238E27FC236}">
                <a16:creationId xmlns:a16="http://schemas.microsoft.com/office/drawing/2014/main" id="{9C1EC156-0618-49BE-8320-2DF5A0328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局限</a:t>
            </a:r>
          </a:p>
        </p:txBody>
      </p:sp>
      <p:sp>
        <p:nvSpPr>
          <p:cNvPr id="13" name="rubric2-value">
            <a:extLst xmlns:a="http://schemas.openxmlformats.org/drawingml/2006/main">
              <a:ext uri="{FF2B5EF4-FFF2-40B4-BE49-F238E27FC236}">
                <a16:creationId xmlns:a16="http://schemas.microsoft.com/office/drawing/2014/main" id="{3BF10C0C-F3D9-4094-8CA4-A703B41C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81325"/>
            <a:ext cx="838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替代解释与适用边界具体？</a:t>
            </a:r>
          </a:p>
        </p:txBody>
      </p:sp>
      <p:sp>
        <p:nvSpPr>
          <p:cNvPr id="14" name="rubric2-rule">
            <a:extLst xmlns:a="http://schemas.openxmlformats.org/drawingml/2006/main">
              <a:ext uri="{FF2B5EF4-FFF2-40B4-BE49-F238E27FC236}">
                <a16:creationId xmlns:a16="http://schemas.microsoft.com/office/drawing/2014/main" id="{86EA2830-805C-4D59-96B5-86A33389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rubric3-key">
            <a:extLst xmlns:a="http://schemas.openxmlformats.org/drawingml/2006/main">
              <a:ext uri="{FF2B5EF4-FFF2-40B4-BE49-F238E27FC236}">
                <a16:creationId xmlns:a16="http://schemas.microsoft.com/office/drawing/2014/main" id="{811F82B6-39ED-41F7-A05B-3A7C6A55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可复现</a:t>
            </a:r>
          </a:p>
        </p:txBody>
      </p:sp>
      <p:sp>
        <p:nvSpPr>
          <p:cNvPr id="16" name="rubric3-value">
            <a:extLst xmlns:a="http://schemas.openxmlformats.org/drawingml/2006/main">
              <a:ext uri="{FF2B5EF4-FFF2-40B4-BE49-F238E27FC236}">
                <a16:creationId xmlns:a16="http://schemas.microsoft.com/office/drawing/2014/main" id="{7DD6ACD2-F95F-4C96-96C9-612622CA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57625"/>
            <a:ext cx="838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表图能定位运行记录？</a:t>
            </a:r>
          </a:p>
        </p:txBody>
      </p:sp>
      <p:sp>
        <p:nvSpPr>
          <p:cNvPr id="17" name="rubric3-rule">
            <a:extLst xmlns:a="http://schemas.openxmlformats.org/drawingml/2006/main">
              <a:ext uri="{FF2B5EF4-FFF2-40B4-BE49-F238E27FC236}">
                <a16:creationId xmlns:a16="http://schemas.microsoft.com/office/drawing/2014/main" id="{B0EEBC1E-7A0D-4736-8C0E-96962050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rubric4-key">
            <a:extLst xmlns:a="http://schemas.openxmlformats.org/drawingml/2006/main">
              <a:ext uri="{FF2B5EF4-FFF2-40B4-BE49-F238E27FC236}">
                <a16:creationId xmlns:a16="http://schemas.microsoft.com/office/drawing/2014/main" id="{CFFE7848-46B1-4351-89DE-BF6494BE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伦理</a:t>
            </a:r>
          </a:p>
        </p:txBody>
      </p:sp>
      <p:sp>
        <p:nvSpPr>
          <p:cNvPr id="19" name="rubric4-value">
            <a:extLst xmlns:a="http://schemas.openxmlformats.org/drawingml/2006/main">
              <a:ext uri="{FF2B5EF4-FFF2-40B4-BE49-F238E27FC236}">
                <a16:creationId xmlns:a16="http://schemas.microsoft.com/office/drawing/2014/main" id="{8BD1C2CF-C252-4785-8F1D-54EBA1BE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733925"/>
            <a:ext cx="8382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数据、权限、贡献与 AI 披露透明？</a:t>
            </a:r>
          </a:p>
        </p:txBody>
      </p:sp>
      <p:sp>
        <p:nvSpPr>
          <p:cNvPr id="20" name="rubric4-rule">
            <a:extLst xmlns:a="http://schemas.openxmlformats.org/drawingml/2006/main">
              <a:ext uri="{FF2B5EF4-FFF2-40B4-BE49-F238E27FC236}">
                <a16:creationId xmlns:a16="http://schemas.microsoft.com/office/drawing/2014/main" id="{EFE57D10-918F-4135-9F4D-9873D28A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1" name="no-score">
            <a:extLst xmlns:a="http://schemas.openxmlformats.org/drawingml/2006/main">
              <a:ext uri="{FF2B5EF4-FFF2-40B4-BE49-F238E27FC236}">
                <a16:creationId xmlns:a16="http://schemas.microsoft.com/office/drawing/2014/main" id="{546B7F60-1C84-4064-B00A-921871D1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8299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rubric 用于诊断，不打总分。</a:t>
            </a:r>
          </a:p>
        </p:txBody>
      </p:sp>
      <p:sp>
        <p:nvSpPr>
          <p:cNvPr id="22" name="source">
            <a:extLst xmlns:a="http://schemas.openxmlformats.org/drawingml/2006/main">
              <a:ext uri="{FF2B5EF4-FFF2-40B4-BE49-F238E27FC236}">
                <a16:creationId xmlns:a16="http://schemas.microsoft.com/office/drawing/2014/main" id="{D008F139-6B6F-4BB0-ABA6-54E7F076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Smith (1990), The Task of the Referee, Computer 23(4):65–71 · 本课五维 rubric 为课程改编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留下三条能执行的反馈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37DC5961-DDE8-4753-89CB-B2BF5AF7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课程虚构稿件节选</a:t>
            </a:r>
          </a:p>
        </p:txBody>
      </p:sp>
      <p:sp>
        <p:nvSpPr>
          <p:cNvPr id="7" name="manuscript-top">
            <a:extLst xmlns:a="http://schemas.openxmlformats.org/drawingml/2006/main">
              <a:ext uri="{FF2B5EF4-FFF2-40B4-BE49-F238E27FC236}">
                <a16:creationId xmlns:a16="http://schemas.microsoft.com/office/drawing/2014/main" id="{FB46D986-2602-4885-8256-BD4F54C9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5476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8" name="manuscript-file">
            <a:extLst xmlns:a="http://schemas.openxmlformats.org/drawingml/2006/main">
              <a:ext uri="{FF2B5EF4-FFF2-40B4-BE49-F238E27FC236}">
                <a16:creationId xmlns:a16="http://schemas.microsoft.com/office/drawing/2014/main" id="{980CD958-5F0A-4B95-9E0E-100A4998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5476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report.md · 结果段</a:t>
            </a:r>
          </a:p>
        </p:txBody>
      </p:sp>
      <p:sp>
        <p:nvSpPr>
          <p:cNvPr id="9" name="manuscript-line0">
            <a:extLst xmlns:a="http://schemas.openxmlformats.org/drawingml/2006/main">
              <a:ext uri="{FF2B5EF4-FFF2-40B4-BE49-F238E27FC236}">
                <a16:creationId xmlns:a16="http://schemas.microsoft.com/office/drawing/2014/main" id="{24FF1E95-CC99-41F4-948D-D88AF981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5248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C1：阅读卡组遗漏率较低。</a:t>
            </a:r>
          </a:p>
        </p:txBody>
      </p:sp>
      <p:sp>
        <p:nvSpPr>
          <p:cNvPr id="10" name="manuscript-line1">
            <a:extLst xmlns:a="http://schemas.openxmlformats.org/drawingml/2006/main">
              <a:ext uri="{FF2B5EF4-FFF2-40B4-BE49-F238E27FC236}">
                <a16:creationId xmlns:a16="http://schemas.microsoft.com/office/drawing/2014/main" id="{1F66F735-8090-4EC5-8116-44A0BDE6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67025"/>
            <a:ext cx="5248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证据：评价报告 §2。</a:t>
            </a:r>
          </a:p>
        </p:txBody>
      </p:sp>
      <p:sp>
        <p:nvSpPr>
          <p:cNvPr id="11" name="manuscript-line2">
            <a:extLst xmlns:a="http://schemas.openxmlformats.org/drawingml/2006/main">
              <a:ext uri="{FF2B5EF4-FFF2-40B4-BE49-F238E27FC236}">
                <a16:creationId xmlns:a16="http://schemas.microsoft.com/office/drawing/2014/main" id="{11935DB6-70E6-4FCE-BDCE-24CD635B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5248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状态：支持（待验证）。</a:t>
            </a:r>
          </a:p>
        </p:txBody>
      </p:sp>
      <p:sp>
        <p:nvSpPr>
          <p:cNvPr id="12" name="manuscript-line3">
            <a:extLst xmlns:a="http://schemas.openxmlformats.org/drawingml/2006/main">
              <a:ext uri="{FF2B5EF4-FFF2-40B4-BE49-F238E27FC236}">
                <a16:creationId xmlns:a16="http://schemas.microsoft.com/office/drawing/2014/main" id="{5DA59B69-0131-4BEA-8441-31F13D93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38625"/>
            <a:ext cx="5248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边界：A1/A2/A3 尚未区分。</a:t>
            </a:r>
          </a:p>
        </p:txBody>
      </p:sp>
      <p:sp>
        <p:nvSpPr>
          <p:cNvPr id="13" name="q-label0">
            <a:extLst xmlns:a="http://schemas.openxmlformats.org/drawingml/2006/main">
              <a:ext uri="{FF2B5EF4-FFF2-40B4-BE49-F238E27FC236}">
                <a16:creationId xmlns:a16="http://schemas.microsoft.com/office/drawing/2014/main" id="{F18600BB-A7AE-46BB-AC73-0D98FFF8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60020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最强处</a:t>
            </a:r>
          </a:p>
        </p:txBody>
      </p:sp>
      <p:sp>
        <p:nvSpPr>
          <p:cNvPr id="14" name="q-value0">
            <a:extLst xmlns:a="http://schemas.openxmlformats.org/drawingml/2006/main">
              <a:ext uri="{FF2B5EF4-FFF2-40B4-BE49-F238E27FC236}">
                <a16:creationId xmlns:a16="http://schemas.microsoft.com/office/drawing/2014/main" id="{5686028B-4B80-4C47-9824-A895391A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85975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证据在哪里？</a:t>
            </a:r>
          </a:p>
        </p:txBody>
      </p:sp>
      <p:sp>
        <p:nvSpPr>
          <p:cNvPr id="15" name="q-label1">
            <a:extLst xmlns:a="http://schemas.openxmlformats.org/drawingml/2006/main">
              <a:ext uri="{FF2B5EF4-FFF2-40B4-BE49-F238E27FC236}">
                <a16:creationId xmlns:a16="http://schemas.microsoft.com/office/drawing/2014/main" id="{5CF0F910-AB3A-423F-A641-9C06FF18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1465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最大风险</a:t>
            </a:r>
          </a:p>
        </p:txBody>
      </p:sp>
      <p:sp>
        <p:nvSpPr>
          <p:cNvPr id="16" name="q-value1">
            <a:extLst xmlns:a="http://schemas.openxmlformats.org/drawingml/2006/main">
              <a:ext uri="{FF2B5EF4-FFF2-40B4-BE49-F238E27FC236}">
                <a16:creationId xmlns:a16="http://schemas.microsoft.com/office/drawing/2014/main" id="{4EE840D7-0955-4238-9A9B-E0B66703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00425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会卡住哪条门条件？</a:t>
            </a:r>
          </a:p>
        </p:txBody>
      </p:sp>
      <p:sp>
        <p:nvSpPr>
          <p:cNvPr id="17" name="q-label2">
            <a:extLst xmlns:a="http://schemas.openxmlformats.org/drawingml/2006/main">
              <a:ext uri="{FF2B5EF4-FFF2-40B4-BE49-F238E27FC236}">
                <a16:creationId xmlns:a16="http://schemas.microsoft.com/office/drawing/2014/main" id="{E0E19A4C-2528-4BBE-B9B4-D2EB573C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2910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可执行建议</a:t>
            </a:r>
          </a:p>
        </p:txBody>
      </p:sp>
      <p:sp>
        <p:nvSpPr>
          <p:cNvPr id="18" name="q-value2">
            <a:extLst xmlns:a="http://schemas.openxmlformats.org/drawingml/2006/main">
              <a:ext uri="{FF2B5EF4-FFF2-40B4-BE49-F238E27FC236}">
                <a16:creationId xmlns:a16="http://schemas.microsoft.com/office/drawing/2014/main" id="{8F21577B-577E-4F7E-AF85-662C80BF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14875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最小改动是什么？</a:t>
            </a:r>
          </a:p>
        </p:txBody>
      </p:sp>
      <p:sp>
        <p:nvSpPr>
          <p:cNvPr id="19" name="where">
            <a:extLst xmlns:a="http://schemas.openxmlformats.org/drawingml/2006/main">
              <a:ext uri="{FF2B5EF4-FFF2-40B4-BE49-F238E27FC236}">
                <a16:creationId xmlns:a16="http://schemas.microsoft.com/office/drawing/2014/main" id="{65C906DC-CD30-4B05-A0F3-ECA3C7A1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所有意见必须指出具体段落、表、证据项或运行记录。</a:t>
            </a:r>
          </a:p>
        </p:txBody>
      </p:sp>
      <p:sp>
        <p:nvSpPr>
          <p:cNvPr id="20" name="source">
            <a:extLst xmlns:a="http://schemas.openxmlformats.org/drawingml/2006/main">
              <a:ext uri="{FF2B5EF4-FFF2-40B4-BE49-F238E27FC236}">
                <a16:creationId xmlns:a16="http://schemas.microsoft.com/office/drawing/2014/main" id="{4D28F0BF-78B8-4DED-A821-AD7D7D2A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Smith (1990), The Task of the Referee, Computer 23(4):65–71 · 本课五维 rubric 为课程改编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打开同伴初稿，开始交叉评审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70E8B8F7-32D9-4316-9B0F-BD34CCE29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完成样例为课程构造评审记录</a:t>
            </a:r>
          </a:p>
        </p:txBody>
      </p:sp>
      <p:sp>
        <p:nvSpPr>
          <p:cNvPr id="7" name="action">
            <a:extLst xmlns:a="http://schemas.openxmlformats.org/drawingml/2006/main">
              <a:ext uri="{FF2B5EF4-FFF2-40B4-BE49-F238E27FC236}">
                <a16:creationId xmlns:a16="http://schemas.microsoft.com/office/drawing/2014/main" id="{DEFA4358-DF2D-4F71-B187-63C823FB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4667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打开同伴初稿，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按三问留下反馈。</a:t>
            </a:r>
          </a:p>
        </p:txBody>
      </p:sp>
      <p:sp>
        <p:nvSpPr>
          <p:cNvPr id="8" name="roles">
            <a:extLst xmlns:a="http://schemas.openxmlformats.org/drawingml/2006/main">
              <a:ext uri="{FF2B5EF4-FFF2-40B4-BE49-F238E27FC236}">
                <a16:creationId xmlns:a16="http://schemas.microsoft.com/office/drawing/2014/main" id="{C48D5BE8-1BA5-4642-8294-C6F1FC62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19475"/>
            <a:ext cx="4695825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第一轮：固定同伴 A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第二轮：同伴 B 或三人轮转</a:t>
            </a:r>
          </a:p>
        </p:txBody>
      </p:sp>
      <p:sp>
        <p:nvSpPr>
          <p:cNvPr id="9" name="save">
            <a:extLst xmlns:a="http://schemas.openxmlformats.org/drawingml/2006/main">
              <a:ext uri="{FF2B5EF4-FFF2-40B4-BE49-F238E27FC236}">
                <a16:creationId xmlns:a16="http://schemas.microsoft.com/office/drawing/2014/main" id="{CBC294D8-841D-4532-8589-7E9B3614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466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写入 peer-review.md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只记录，不当场辩论。</a:t>
            </a:r>
          </a:p>
        </p:txBody>
      </p:sp>
      <p:sp>
        <p:nvSpPr>
          <p:cNvPr id="10" name="sample0-key">
            <a:extLst xmlns:a="http://schemas.openxmlformats.org/drawingml/2006/main">
              <a:ext uri="{FF2B5EF4-FFF2-40B4-BE49-F238E27FC236}">
                <a16:creationId xmlns:a16="http://schemas.microsoft.com/office/drawing/2014/main" id="{FEC151CF-8613-42DA-A8A9-4BB9CEF0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49542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版本／位置</a:t>
            </a:r>
          </a:p>
        </p:txBody>
      </p:sp>
      <p:sp>
        <p:nvSpPr>
          <p:cNvPr id="11" name="sample0-value">
            <a:extLst xmlns:a="http://schemas.openxmlformats.org/drawingml/2006/main">
              <a:ext uri="{FF2B5EF4-FFF2-40B4-BE49-F238E27FC236}">
                <a16:creationId xmlns:a16="http://schemas.microsoft.com/office/drawing/2014/main" id="{B61DEDBC-AB2F-4945-8C6A-1D50C6D8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1495425"/>
            <a:ext cx="3905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当前初稿 · 结果段</a:t>
            </a:r>
          </a:p>
        </p:txBody>
      </p:sp>
      <p:sp>
        <p:nvSpPr>
          <p:cNvPr id="12" name="sample0-rule">
            <a:extLst xmlns:a="http://schemas.openxmlformats.org/drawingml/2006/main">
              <a:ext uri="{FF2B5EF4-FFF2-40B4-BE49-F238E27FC236}">
                <a16:creationId xmlns:a16="http://schemas.microsoft.com/office/drawing/2014/main" id="{14218E42-C259-4A33-9F0C-068F1DDC4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286000"/>
            <a:ext cx="5486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sample1-key">
            <a:extLst xmlns:a="http://schemas.openxmlformats.org/drawingml/2006/main">
              <a:ext uri="{FF2B5EF4-FFF2-40B4-BE49-F238E27FC236}">
                <a16:creationId xmlns:a16="http://schemas.microsoft.com/office/drawing/2014/main" id="{EF72353D-4135-400D-A3A5-D34EE1FD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54317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观察</a:t>
            </a:r>
          </a:p>
        </p:txBody>
      </p:sp>
      <p:sp>
        <p:nvSpPr>
          <p:cNvPr id="14" name="sample1-value">
            <a:extLst xmlns:a="http://schemas.openxmlformats.org/drawingml/2006/main">
              <a:ext uri="{FF2B5EF4-FFF2-40B4-BE49-F238E27FC236}">
                <a16:creationId xmlns:a16="http://schemas.microsoft.com/office/drawing/2014/main" id="{0B5BB18F-066C-47C2-8576-63D9880C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543175"/>
            <a:ext cx="3905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待验证被写成 stable</a:t>
            </a:r>
          </a:p>
        </p:txBody>
      </p:sp>
      <p:sp>
        <p:nvSpPr>
          <p:cNvPr id="15" name="sample1-rule">
            <a:extLst xmlns:a="http://schemas.openxmlformats.org/drawingml/2006/main">
              <a:ext uri="{FF2B5EF4-FFF2-40B4-BE49-F238E27FC236}">
                <a16:creationId xmlns:a16="http://schemas.microsoft.com/office/drawing/2014/main" id="{D9D92CEE-71B6-4502-B19E-3DCB5810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333750"/>
            <a:ext cx="5486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sample2-key">
            <a:extLst xmlns:a="http://schemas.openxmlformats.org/drawingml/2006/main">
              <a:ext uri="{FF2B5EF4-FFF2-40B4-BE49-F238E27FC236}">
                <a16:creationId xmlns:a16="http://schemas.microsoft.com/office/drawing/2014/main" id="{0C4E9E0B-E69E-44E3-852B-EF4B42D3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59092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</a:t>
            </a:r>
          </a:p>
        </p:txBody>
      </p:sp>
      <p:sp>
        <p:nvSpPr>
          <p:cNvPr id="17" name="sample2-value">
            <a:extLst xmlns:a="http://schemas.openxmlformats.org/drawingml/2006/main">
              <a:ext uri="{FF2B5EF4-FFF2-40B4-BE49-F238E27FC236}">
                <a16:creationId xmlns:a16="http://schemas.microsoft.com/office/drawing/2014/main" id="{05EF37DC-EE9C-4ED7-9802-31C49EE6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590925"/>
            <a:ext cx="3905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证据强度越界</a:t>
            </a:r>
          </a:p>
        </p:txBody>
      </p:sp>
      <p:sp>
        <p:nvSpPr>
          <p:cNvPr id="18" name="sample2-rule">
            <a:extLst xmlns:a="http://schemas.openxmlformats.org/drawingml/2006/main">
              <a:ext uri="{FF2B5EF4-FFF2-40B4-BE49-F238E27FC236}">
                <a16:creationId xmlns:a16="http://schemas.microsoft.com/office/drawing/2014/main" id="{59B64E49-0474-4DCC-BDB7-EE24C64D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81500"/>
            <a:ext cx="5486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sample3-key">
            <a:extLst xmlns:a="http://schemas.openxmlformats.org/drawingml/2006/main">
              <a:ext uri="{FF2B5EF4-FFF2-40B4-BE49-F238E27FC236}">
                <a16:creationId xmlns:a16="http://schemas.microsoft.com/office/drawing/2014/main" id="{9B09FF3C-2EBD-4ED9-8C99-C5D156F3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638675"/>
            <a:ext cx="139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建议</a:t>
            </a:r>
          </a:p>
        </p:txBody>
      </p:sp>
      <p:sp>
        <p:nvSpPr>
          <p:cNvPr id="20" name="sample3-value">
            <a:extLst xmlns:a="http://schemas.openxmlformats.org/drawingml/2006/main">
              <a:ext uri="{FF2B5EF4-FFF2-40B4-BE49-F238E27FC236}">
                <a16:creationId xmlns:a16="http://schemas.microsoft.com/office/drawing/2014/main" id="{2710D9EA-6FCF-4766-8CE2-7D08C56A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638675"/>
            <a:ext cx="3905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降级并补替代解释</a:t>
            </a:r>
          </a:p>
        </p:txBody>
      </p:sp>
      <p:sp>
        <p:nvSpPr>
          <p:cNvPr id="21" name="sample3-rule">
            <a:extLst xmlns:a="http://schemas.openxmlformats.org/drawingml/2006/main">
              <a:ext uri="{FF2B5EF4-FFF2-40B4-BE49-F238E27FC236}">
                <a16:creationId xmlns:a16="http://schemas.microsoft.com/office/drawing/2014/main" id="{C2DC7E13-2C9D-4FE7-AFF2-10DBD508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429250"/>
            <a:ext cx="5486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2" name="source">
            <a:extLst xmlns:a="http://schemas.openxmlformats.org/drawingml/2006/main">
              <a:ext uri="{FF2B5EF4-FFF2-40B4-BE49-F238E27FC236}">
                <a16:creationId xmlns:a16="http://schemas.microsoft.com/office/drawing/2014/main" id="{86C8D313-730E-4346-AA18-8E4650E4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根据真实理由选择处理动作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action0-key">
            <a:extLst xmlns:a="http://schemas.openxmlformats.org/drawingml/2006/main">
              <a:ext uri="{FF2B5EF4-FFF2-40B4-BE49-F238E27FC236}">
                <a16:creationId xmlns:a16="http://schemas.microsoft.com/office/drawing/2014/main" id="{5D2077C1-230D-4052-B71E-5BFF992C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2266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7" name="action0-value">
            <a:extLst xmlns:a="http://schemas.openxmlformats.org/drawingml/2006/main">
              <a:ext uri="{FF2B5EF4-FFF2-40B4-BE49-F238E27FC236}">
                <a16:creationId xmlns:a16="http://schemas.microsoft.com/office/drawing/2014/main" id="{455E68DF-06CB-4ED1-BDD1-37EC28DF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209675"/>
            <a:ext cx="8401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缺陷成立，直接修改。</a:t>
            </a:r>
          </a:p>
        </p:txBody>
      </p:sp>
      <p:sp>
        <p:nvSpPr>
          <p:cNvPr id="8" name="action0-rule">
            <a:extLst xmlns:a="http://schemas.openxmlformats.org/drawingml/2006/main">
              <a:ext uri="{FF2B5EF4-FFF2-40B4-BE49-F238E27FC236}">
                <a16:creationId xmlns:a16="http://schemas.microsoft.com/office/drawing/2014/main" id="{4811A84D-9F1F-40B8-8811-6FACF501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action1-key">
            <a:extLst xmlns:a="http://schemas.openxmlformats.org/drawingml/2006/main">
              <a:ext uri="{FF2B5EF4-FFF2-40B4-BE49-F238E27FC236}">
                <a16:creationId xmlns:a16="http://schemas.microsoft.com/office/drawing/2014/main" id="{28C3A62E-1F43-432F-BF20-73BB89E1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2266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澄清</a:t>
            </a:r>
          </a:p>
        </p:txBody>
      </p:sp>
      <p:sp>
        <p:nvSpPr>
          <p:cNvPr id="10" name="action1-value">
            <a:extLst xmlns:a="http://schemas.openxmlformats.org/drawingml/2006/main">
              <a:ext uri="{FF2B5EF4-FFF2-40B4-BE49-F238E27FC236}">
                <a16:creationId xmlns:a16="http://schemas.microsoft.com/office/drawing/2014/main" id="{A2E9AA71-D8A1-4D4F-9981-457755FE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66925"/>
            <a:ext cx="8401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内容已有，但表达导致误读。</a:t>
            </a:r>
          </a:p>
        </p:txBody>
      </p:sp>
      <p:sp>
        <p:nvSpPr>
          <p:cNvPr id="11" name="action1-rule">
            <a:extLst xmlns:a="http://schemas.openxmlformats.org/drawingml/2006/main">
              <a:ext uri="{FF2B5EF4-FFF2-40B4-BE49-F238E27FC236}">
                <a16:creationId xmlns:a16="http://schemas.microsoft.com/office/drawing/2014/main" id="{82525CA6-7141-4B9E-B452-3B732D05D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action2-key">
            <a:extLst xmlns:a="http://schemas.openxmlformats.org/drawingml/2006/main">
              <a:ext uri="{FF2B5EF4-FFF2-40B4-BE49-F238E27FC236}">
                <a16:creationId xmlns:a16="http://schemas.microsoft.com/office/drawing/2014/main" id="{CF42B413-9E92-4263-8E5C-8F1D5F9FB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2266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补证</a:t>
            </a:r>
          </a:p>
        </p:txBody>
      </p:sp>
      <p:sp>
        <p:nvSpPr>
          <p:cNvPr id="13" name="action2-value">
            <a:extLst xmlns:a="http://schemas.openxmlformats.org/drawingml/2006/main">
              <a:ext uri="{FF2B5EF4-FFF2-40B4-BE49-F238E27FC236}">
                <a16:creationId xmlns:a16="http://schemas.microsoft.com/office/drawing/2014/main" id="{E7A152F4-E3C3-48C4-B7BE-AB84CA34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24175"/>
            <a:ext cx="8401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需要新增证据或实验。</a:t>
            </a:r>
          </a:p>
        </p:txBody>
      </p:sp>
      <p:sp>
        <p:nvSpPr>
          <p:cNvPr id="14" name="action2-rule">
            <a:extLst xmlns:a="http://schemas.openxmlformats.org/drawingml/2006/main">
              <a:ext uri="{FF2B5EF4-FFF2-40B4-BE49-F238E27FC236}">
                <a16:creationId xmlns:a16="http://schemas.microsoft.com/office/drawing/2014/main" id="{F53C13D9-8BA8-4417-B3B7-49F75B4D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action3-key">
            <a:extLst xmlns:a="http://schemas.openxmlformats.org/drawingml/2006/main">
              <a:ext uri="{FF2B5EF4-FFF2-40B4-BE49-F238E27FC236}">
                <a16:creationId xmlns:a16="http://schemas.microsoft.com/office/drawing/2014/main" id="{6D86444C-009B-42D0-910A-6CC4E74D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2266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保留异议</a:t>
            </a:r>
          </a:p>
        </p:txBody>
      </p:sp>
      <p:sp>
        <p:nvSpPr>
          <p:cNvPr id="16" name="action3-value">
            <a:extLst xmlns:a="http://schemas.openxmlformats.org/drawingml/2006/main">
              <a:ext uri="{FF2B5EF4-FFF2-40B4-BE49-F238E27FC236}">
                <a16:creationId xmlns:a16="http://schemas.microsoft.com/office/drawing/2014/main" id="{28E2B6C7-95AB-4909-AED2-55CCECA4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81425"/>
            <a:ext cx="8401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意见与证据或约束冲突。</a:t>
            </a:r>
          </a:p>
        </p:txBody>
      </p:sp>
      <p:sp>
        <p:nvSpPr>
          <p:cNvPr id="17" name="action3-rule">
            <a:extLst xmlns:a="http://schemas.openxmlformats.org/drawingml/2006/main">
              <a:ext uri="{FF2B5EF4-FFF2-40B4-BE49-F238E27FC236}">
                <a16:creationId xmlns:a16="http://schemas.microsoft.com/office/drawing/2014/main" id="{453C4C40-03BA-44FB-815D-36AFD9F6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8" name="action4-key">
            <a:extLst xmlns:a="http://schemas.openxmlformats.org/drawingml/2006/main">
              <a:ext uri="{FF2B5EF4-FFF2-40B4-BE49-F238E27FC236}">
                <a16:creationId xmlns:a16="http://schemas.microsoft.com/office/drawing/2014/main" id="{2B90E1EA-B13A-4FAB-A216-2E94FA01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2266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暂缓</a:t>
            </a:r>
          </a:p>
        </p:txBody>
      </p:sp>
      <p:sp>
        <p:nvSpPr>
          <p:cNvPr id="19" name="action4-value">
            <a:extLst xmlns:a="http://schemas.openxmlformats.org/drawingml/2006/main">
              <a:ext uri="{FF2B5EF4-FFF2-40B4-BE49-F238E27FC236}">
                <a16:creationId xmlns:a16="http://schemas.microsoft.com/office/drawing/2014/main" id="{1F58590A-D0C6-4010-8149-727CB16A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38675"/>
            <a:ext cx="8401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条件不足：写阻塞、风险与复核点。</a:t>
            </a:r>
          </a:p>
        </p:txBody>
      </p:sp>
      <p:sp>
        <p:nvSpPr>
          <p:cNvPr id="20" name="action4-rule">
            <a:extLst xmlns:a="http://schemas.openxmlformats.org/drawingml/2006/main">
              <a:ext uri="{FF2B5EF4-FFF2-40B4-BE49-F238E27FC236}">
                <a16:creationId xmlns:a16="http://schemas.microsoft.com/office/drawing/2014/main" id="{25C3FA32-945E-43F6-81DE-954C00E7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1" name="truth">
            <a:extLst xmlns:a="http://schemas.openxmlformats.org/drawingml/2006/main">
              <a:ext uri="{FF2B5EF4-FFF2-40B4-BE49-F238E27FC236}">
                <a16:creationId xmlns:a16="http://schemas.microsoft.com/office/drawing/2014/main" id="{4EAF02D9-DF47-4355-9098-A7A5D439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39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按真实理由选择，不要求五类齐全或机械拒绝。</a:t>
            </a:r>
          </a:p>
        </p:txBody>
      </p:sp>
      <p:sp>
        <p:nvSpPr>
          <p:cNvPr id="22" name="source">
            <a:extLst xmlns:a="http://schemas.openxmlformats.org/drawingml/2006/main">
              <a:ext uri="{FF2B5EF4-FFF2-40B4-BE49-F238E27FC236}">
                <a16:creationId xmlns:a16="http://schemas.microsoft.com/office/drawing/2014/main" id="{BCA45776-9EBE-4D1D-853B-17B180C0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为这条意见写出回应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EDAC4521-BB52-4885-820D-A1DAC4E4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课程虚构回应样例</a:t>
            </a:r>
          </a:p>
        </p:txBody>
      </p:sp>
      <p:sp>
        <p:nvSpPr>
          <p:cNvPr id="7" name="feedback">
            <a:extLst xmlns:a="http://schemas.openxmlformats.org/drawingml/2006/main">
              <a:ext uri="{FF2B5EF4-FFF2-40B4-BE49-F238E27FC236}">
                <a16:creationId xmlns:a16="http://schemas.microsoft.com/office/drawing/2014/main" id="{C0623A31-10FC-47AE-BBCA-2A07BAF8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收到意见：机制结论超过当前证据。</a:t>
            </a:r>
          </a:p>
        </p:txBody>
      </p:sp>
      <p:sp>
        <p:nvSpPr>
          <p:cNvPr id="8" name="response0-key">
            <a:extLst xmlns:a="http://schemas.openxmlformats.org/drawingml/2006/main">
              <a:ext uri="{FF2B5EF4-FFF2-40B4-BE49-F238E27FC236}">
                <a16:creationId xmlns:a16="http://schemas.microsoft.com/office/drawing/2014/main" id="{A85CE05E-690E-4AE1-9C27-C7DA8339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2876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处理动作／理由</a:t>
            </a:r>
          </a:p>
        </p:txBody>
      </p:sp>
      <p:sp>
        <p:nvSpPr>
          <p:cNvPr id="9" name="response0-value">
            <a:extLst xmlns:a="http://schemas.openxmlformats.org/drawingml/2006/main">
              <a:ext uri="{FF2B5EF4-FFF2-40B4-BE49-F238E27FC236}">
                <a16:creationId xmlns:a16="http://schemas.microsoft.com/office/drawing/2014/main" id="{B0960386-2E7E-4C79-BC1C-7E926528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362200"/>
            <a:ext cx="7791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采纳；证据不能排除替代解释。</a:t>
            </a:r>
          </a:p>
        </p:txBody>
      </p:sp>
      <p:sp>
        <p:nvSpPr>
          <p:cNvPr id="10" name="response0-rule">
            <a:extLst xmlns:a="http://schemas.openxmlformats.org/drawingml/2006/main">
              <a:ext uri="{FF2B5EF4-FFF2-40B4-BE49-F238E27FC236}">
                <a16:creationId xmlns:a16="http://schemas.microsoft.com/office/drawing/2014/main" id="{9ACE7935-6F84-412A-946B-A4CEB3A2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1" name="response1-key">
            <a:extLst xmlns:a="http://schemas.openxmlformats.org/drawingml/2006/main">
              <a:ext uri="{FF2B5EF4-FFF2-40B4-BE49-F238E27FC236}">
                <a16:creationId xmlns:a16="http://schemas.microsoft.com/office/drawing/2014/main" id="{19813283-0F28-4E1D-B9AD-8BF6801B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2876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适用边界／依据</a:t>
            </a:r>
          </a:p>
        </p:txBody>
      </p:sp>
      <p:sp>
        <p:nvSpPr>
          <p:cNvPr id="12" name="response1-value">
            <a:extLst xmlns:a="http://schemas.openxmlformats.org/drawingml/2006/main">
              <a:ext uri="{FF2B5EF4-FFF2-40B4-BE49-F238E27FC236}">
                <a16:creationId xmlns:a16="http://schemas.microsoft.com/office/drawing/2014/main" id="{9694076B-DFDB-49F8-8787-26E65BB9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343275"/>
            <a:ext cx="7791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本批 20 篇 CS 论文；评价报告 §2。</a:t>
            </a:r>
          </a:p>
        </p:txBody>
      </p:sp>
      <p:sp>
        <p:nvSpPr>
          <p:cNvPr id="13" name="response1-rule">
            <a:extLst xmlns:a="http://schemas.openxmlformats.org/drawingml/2006/main">
              <a:ext uri="{FF2B5EF4-FFF2-40B4-BE49-F238E27FC236}">
                <a16:creationId xmlns:a16="http://schemas.microsoft.com/office/drawing/2014/main" id="{8031DBF1-19DD-4F0B-9489-14FBE7C1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response2-key">
            <a:extLst xmlns:a="http://schemas.openxmlformats.org/drawingml/2006/main">
              <a:ext uri="{FF2B5EF4-FFF2-40B4-BE49-F238E27FC236}">
                <a16:creationId xmlns:a16="http://schemas.microsoft.com/office/drawing/2014/main" id="{BA186BE2-C846-4B73-9781-A4FC387C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2876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状态／影响工件</a:t>
            </a:r>
          </a:p>
        </p:txBody>
      </p:sp>
      <p:sp>
        <p:nvSpPr>
          <p:cNvPr id="15" name="response2-value">
            <a:extLst xmlns:a="http://schemas.openxmlformats.org/drawingml/2006/main">
              <a:ext uri="{FF2B5EF4-FFF2-40B4-BE49-F238E27FC236}">
                <a16:creationId xmlns:a16="http://schemas.microsoft.com/office/drawing/2014/main" id="{C7E3C38A-4B15-4D2F-B377-B2D6E4AD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24350"/>
            <a:ext cx="7791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支持（待验证）；report.md、结论追踪记录。</a:t>
            </a:r>
          </a:p>
        </p:txBody>
      </p:sp>
      <p:sp>
        <p:nvSpPr>
          <p:cNvPr id="16" name="response2-rule">
            <a:extLst xmlns:a="http://schemas.openxmlformats.org/drawingml/2006/main">
              <a:ext uri="{FF2B5EF4-FFF2-40B4-BE49-F238E27FC236}">
                <a16:creationId xmlns:a16="http://schemas.microsoft.com/office/drawing/2014/main" id="{250DCB38-A398-4815-B34D-E270EF80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7" name="save">
            <a:extLst xmlns:a="http://schemas.openxmlformats.org/drawingml/2006/main">
              <a:ext uri="{FF2B5EF4-FFF2-40B4-BE49-F238E27FC236}">
                <a16:creationId xmlns:a16="http://schemas.microsoft.com/office/drawing/2014/main" id="{EC2CE3A1-10DD-4450-9FFC-B2CA6AA1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0225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回应 → peer-review.md；优先级 → revision-plan.md</a:t>
            </a:r>
          </a:p>
        </p:txBody>
      </p:sp>
      <p:sp>
        <p:nvSpPr>
          <p:cNvPr id="18" name="source">
            <a:extLst xmlns:a="http://schemas.openxmlformats.org/drawingml/2006/main">
              <a:ext uri="{FF2B5EF4-FFF2-40B4-BE49-F238E27FC236}">
                <a16:creationId xmlns:a16="http://schemas.microsoft.com/office/drawing/2014/main" id="{82CB96B4-0DB7-4B8C-9A7D-30F0E776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现在修改最可能卡门的一项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327A625E-20B2-4EDA-A68A-1D8AA7B0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课程虚构稿件的文本修改示范</a:t>
            </a:r>
          </a:p>
        </p:txBody>
      </p:sp>
      <p:sp>
        <p:nvSpPr>
          <p:cNvPr id="7" name="diff-bg">
            <a:extLst xmlns:a="http://schemas.openxmlformats.org/drawingml/2006/main">
              <a:ext uri="{FF2B5EF4-FFF2-40B4-BE49-F238E27FC236}">
                <a16:creationId xmlns:a16="http://schemas.microsoft.com/office/drawing/2014/main" id="{874C9C02-1469-4DBF-AEB7-583739E6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8096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8" name="diff-0">
            <a:extLst xmlns:a="http://schemas.openxmlformats.org/drawingml/2006/main">
              <a:ext uri="{FF2B5EF4-FFF2-40B4-BE49-F238E27FC236}">
                <a16:creationId xmlns:a16="http://schemas.microsoft.com/office/drawing/2014/main" id="{9C8F6D53-D09A-422A-B396-804238B0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− 阅读卡机制已证实，状态 stable。</a:t>
            </a:r>
          </a:p>
        </p:txBody>
      </p:sp>
      <p:sp>
        <p:nvSpPr>
          <p:cNvPr id="9" name="diff-1">
            <a:extLst xmlns:a="http://schemas.openxmlformats.org/drawingml/2006/main">
              <a:ext uri="{FF2B5EF4-FFF2-40B4-BE49-F238E27FC236}">
                <a16:creationId xmlns:a16="http://schemas.microsoft.com/office/drawing/2014/main" id="{FF2E1129-A480-4602-BD07-03C20A1E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24125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+ 本批论文阅读卡组遗漏率较低，</a:t>
            </a:r>
          </a:p>
        </p:txBody>
      </p:sp>
      <p:sp>
        <p:nvSpPr>
          <p:cNvPr id="10" name="diff-2">
            <a:extLst xmlns:a="http://schemas.openxmlformats.org/drawingml/2006/main">
              <a:ext uri="{FF2B5EF4-FFF2-40B4-BE49-F238E27FC236}">
                <a16:creationId xmlns:a16="http://schemas.microsoft.com/office/drawing/2014/main" id="{76676838-7085-40D5-833B-2A97AC51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+ 方向支持 H1；A1/A2/A3 尚未区分。</a:t>
            </a:r>
          </a:p>
        </p:txBody>
      </p:sp>
      <p:sp>
        <p:nvSpPr>
          <p:cNvPr id="11" name="diff-3">
            <a:extLst xmlns:a="http://schemas.openxmlformats.org/drawingml/2006/main">
              <a:ext uri="{FF2B5EF4-FFF2-40B4-BE49-F238E27FC236}">
                <a16:creationId xmlns:a16="http://schemas.microsoft.com/office/drawing/2014/main" id="{5138ABB3-7B63-41C1-8D8E-24BB0E05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+ 状态：支持（待验证）。</a:t>
            </a:r>
          </a:p>
        </p:txBody>
      </p:sp>
      <p:sp>
        <p:nvSpPr>
          <p:cNvPr id="12" name="priorities">
            <a:extLst xmlns:a="http://schemas.openxmlformats.org/drawingml/2006/main">
              <a:ext uri="{FF2B5EF4-FFF2-40B4-BE49-F238E27FC236}">
                <a16:creationId xmlns:a16="http://schemas.microsoft.com/office/drawing/2014/main" id="{2C206DBB-263F-4349-9CF3-636B1F9B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1771650"/>
            <a:ext cx="24765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优先处理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致命 → 重要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       → 表达</a:t>
            </a:r>
          </a:p>
        </p:txBody>
      </p:sp>
      <p:sp>
        <p:nvSpPr>
          <p:cNvPr id="13" name="save">
            <a:extLst xmlns:a="http://schemas.openxmlformats.org/drawingml/2006/main">
              <a:ext uri="{FF2B5EF4-FFF2-40B4-BE49-F238E27FC236}">
                <a16:creationId xmlns:a16="http://schemas.microsoft.com/office/drawing/2014/main" id="{460ADB8D-8EB8-4C17-8311-D3486A2C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648075"/>
            <a:ext cx="24765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改实际文件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保存 diff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更新影响工件</a:t>
            </a:r>
          </a:p>
        </p:txBody>
      </p:sp>
      <p:sp>
        <p:nvSpPr>
          <p:cNvPr id="14" name="action">
            <a:extLst xmlns:a="http://schemas.openxmlformats.org/drawingml/2006/main">
              <a:ext uri="{FF2B5EF4-FFF2-40B4-BE49-F238E27FC236}">
                <a16:creationId xmlns:a16="http://schemas.microsoft.com/office/drawing/2014/main" id="{90387867-982A-4015-B941-CCE790FFA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请落实一项修改，让评审者看到实际变化。</a:t>
            </a:r>
          </a:p>
        </p:txBody>
      </p:sp>
      <p:sp>
        <p:nvSpPr>
          <p:cNvPr id="15" name="source">
            <a:extLst xmlns:a="http://schemas.openxmlformats.org/drawingml/2006/main">
              <a:ext uri="{FF2B5EF4-FFF2-40B4-BE49-F238E27FC236}">
                <a16:creationId xmlns:a16="http://schemas.microsoft.com/office/drawing/2014/main" id="{039870C1-6502-41CB-955E-3C0E4ABA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把剩余问题正确收口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repair0-key">
            <a:extLst xmlns:a="http://schemas.openxmlformats.org/drawingml/2006/main">
              <a:ext uri="{FF2B5EF4-FFF2-40B4-BE49-F238E27FC236}">
                <a16:creationId xmlns:a16="http://schemas.microsoft.com/office/drawing/2014/main" id="{2555B218-AF48-4819-A75E-FF35864A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028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证据不足</a:t>
            </a:r>
          </a:p>
        </p:txBody>
      </p:sp>
      <p:sp>
        <p:nvSpPr>
          <p:cNvPr id="7" name="repair0-value">
            <a:extLst xmlns:a="http://schemas.openxmlformats.org/drawingml/2006/main">
              <a:ext uri="{FF2B5EF4-FFF2-40B4-BE49-F238E27FC236}">
                <a16:creationId xmlns:a16="http://schemas.microsoft.com/office/drawing/2014/main" id="{DF8AC8FE-67E0-4161-B9E9-E8EC8E13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381125"/>
            <a:ext cx="7639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→  降为支持（待验证）</a:t>
            </a:r>
          </a:p>
        </p:txBody>
      </p:sp>
      <p:sp>
        <p:nvSpPr>
          <p:cNvPr id="8" name="repair0-rule">
            <a:extLst xmlns:a="http://schemas.openxmlformats.org/drawingml/2006/main">
              <a:ext uri="{FF2B5EF4-FFF2-40B4-BE49-F238E27FC236}">
                <a16:creationId xmlns:a16="http://schemas.microsoft.com/office/drawing/2014/main" id="{8149DC94-E89F-4483-8F2E-2D69A512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repair1-key">
            <a:extLst xmlns:a="http://schemas.openxmlformats.org/drawingml/2006/main">
              <a:ext uri="{FF2B5EF4-FFF2-40B4-BE49-F238E27FC236}">
                <a16:creationId xmlns:a16="http://schemas.microsoft.com/office/drawing/2014/main" id="{6F1FF08A-D972-44A3-BE06-1CC657B9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3028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缺关键对照</a:t>
            </a:r>
          </a:p>
        </p:txBody>
      </p:sp>
      <p:sp>
        <p:nvSpPr>
          <p:cNvPr id="10" name="repair1-value">
            <a:extLst xmlns:a="http://schemas.openxmlformats.org/drawingml/2006/main">
              <a:ext uri="{FF2B5EF4-FFF2-40B4-BE49-F238E27FC236}">
                <a16:creationId xmlns:a16="http://schemas.microsoft.com/office/drawing/2014/main" id="{DD5DDD21-8BE2-4A8B-832E-07155C46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524125"/>
            <a:ext cx="7639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→  写最小补证动作</a:t>
            </a:r>
          </a:p>
        </p:txBody>
      </p:sp>
      <p:sp>
        <p:nvSpPr>
          <p:cNvPr id="11" name="repair1-rule">
            <a:extLst xmlns:a="http://schemas.openxmlformats.org/drawingml/2006/main">
              <a:ext uri="{FF2B5EF4-FFF2-40B4-BE49-F238E27FC236}">
                <a16:creationId xmlns:a16="http://schemas.microsoft.com/office/drawing/2014/main" id="{FF6D89D2-6BF5-437E-AB97-CA9581CE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repair2-key">
            <a:extLst xmlns:a="http://schemas.openxmlformats.org/drawingml/2006/main">
              <a:ext uri="{FF2B5EF4-FFF2-40B4-BE49-F238E27FC236}">
                <a16:creationId xmlns:a16="http://schemas.microsoft.com/office/drawing/2014/main" id="{228343FB-2A9D-4899-A185-311FA5C2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3028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权限或数据不足</a:t>
            </a:r>
          </a:p>
        </p:txBody>
      </p:sp>
      <p:sp>
        <p:nvSpPr>
          <p:cNvPr id="13" name="repair2-value">
            <a:extLst xmlns:a="http://schemas.openxmlformats.org/drawingml/2006/main">
              <a:ext uri="{FF2B5EF4-FFF2-40B4-BE49-F238E27FC236}">
                <a16:creationId xmlns:a16="http://schemas.microsoft.com/office/drawing/2014/main" id="{925A9C4F-5B11-4740-AB39-38C9AED2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667125"/>
            <a:ext cx="7639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→  写阻塞、风险与复核点</a:t>
            </a:r>
          </a:p>
        </p:txBody>
      </p:sp>
      <p:sp>
        <p:nvSpPr>
          <p:cNvPr id="14" name="repair2-rule">
            <a:extLst xmlns:a="http://schemas.openxmlformats.org/drawingml/2006/main">
              <a:ext uri="{FF2B5EF4-FFF2-40B4-BE49-F238E27FC236}">
                <a16:creationId xmlns:a16="http://schemas.microsoft.com/office/drawing/2014/main" id="{F6C4024E-F223-4501-8574-A060B61F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technical">
            <a:extLst xmlns:a="http://schemas.openxmlformats.org/drawingml/2006/main">
              <a:ext uri="{FF2B5EF4-FFF2-40B4-BE49-F238E27FC236}">
                <a16:creationId xmlns:a16="http://schemas.microsoft.com/office/drawing/2014/main" id="{68A6A849-23DF-4537-A84C-69C7247C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普通技术失败 → 修复与复盘</a:t>
            </a:r>
          </a:p>
        </p:txBody>
      </p:sp>
      <p:sp>
        <p:nvSpPr>
          <p:cNvPr id="16" name="redline">
            <a:extLst xmlns:a="http://schemas.openxmlformats.org/drawingml/2006/main">
              <a:ext uri="{FF2B5EF4-FFF2-40B4-BE49-F238E27FC236}">
                <a16:creationId xmlns:a16="http://schemas.microsoft.com/office/drawing/2014/main" id="{D08DF18A-4049-4963-A7BD-12C21046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编造、隐瞒、越权或伪造记录 → 学术规范红线</a:t>
            </a:r>
          </a:p>
        </p:txBody>
      </p:sp>
      <p:sp>
        <p:nvSpPr>
          <p:cNvPr id="17" name="source">
            <a:extLst xmlns:a="http://schemas.openxmlformats.org/drawingml/2006/main">
              <a:ext uri="{FF2B5EF4-FFF2-40B4-BE49-F238E27FC236}">
                <a16:creationId xmlns:a16="http://schemas.microsoft.com/office/drawing/2014/main" id="{25F6B060-EBE0-4F7D-9925-4EEAF6FB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保存第二项修改或一个缺口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fiction">
            <a:extLst xmlns:a="http://schemas.openxmlformats.org/drawingml/2006/main">
              <a:ext uri="{FF2B5EF4-FFF2-40B4-BE49-F238E27FC236}">
                <a16:creationId xmlns:a16="http://schemas.microsoft.com/office/drawing/2014/main" id="{59C3DCD2-37E6-4C74-927C-A62D879D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完成样例为课程构造处理记录</a:t>
            </a:r>
          </a:p>
        </p:txBody>
      </p:sp>
      <p:sp>
        <p:nvSpPr>
          <p:cNvPr id="7" name="action">
            <a:extLst xmlns:a="http://schemas.openxmlformats.org/drawingml/2006/main">
              <a:ext uri="{FF2B5EF4-FFF2-40B4-BE49-F238E27FC236}">
                <a16:creationId xmlns:a16="http://schemas.microsoft.com/office/drawing/2014/main" id="{B3359AC5-8820-4AAC-8780-50B5A004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52197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从当前稿件选一项，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完成第二次修改。</a:t>
            </a:r>
          </a:p>
        </p:txBody>
      </p:sp>
      <p:sp>
        <p:nvSpPr>
          <p:cNvPr id="8" name="options">
            <a:extLst xmlns:a="http://schemas.openxmlformats.org/drawingml/2006/main">
              <a:ext uri="{FF2B5EF4-FFF2-40B4-BE49-F238E27FC236}">
                <a16:creationId xmlns:a16="http://schemas.microsoft.com/office/drawing/2014/main" id="{8793CA95-E21A-460D-8B1A-8E6C54AE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52197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高优先级修改／证据定位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结论降级与边界／AI 与伦理披露</a:t>
            </a:r>
          </a:p>
        </p:txBody>
      </p:sp>
      <p:sp>
        <p:nvSpPr>
          <p:cNvPr id="9" name="save">
            <a:extLst xmlns:a="http://schemas.openxmlformats.org/drawingml/2006/main">
              <a:ext uri="{FF2B5EF4-FFF2-40B4-BE49-F238E27FC236}">
                <a16:creationId xmlns:a16="http://schemas.microsoft.com/office/drawing/2014/main" id="{7F6B45D6-9D5C-4F70-A945-BC5DFB5E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5200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保存到相应项目文件。</a:t>
            </a:r>
          </a:p>
        </p:txBody>
      </p:sp>
      <p:sp>
        <p:nvSpPr>
          <p:cNvPr id="10" name="record-top">
            <a:extLst xmlns:a="http://schemas.openxmlformats.org/drawingml/2006/main">
              <a:ext uri="{FF2B5EF4-FFF2-40B4-BE49-F238E27FC236}">
                <a16:creationId xmlns:a16="http://schemas.microsoft.com/office/drawing/2014/main" id="{993A2315-CE69-41D3-A3E9-5CB10EA5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09725"/>
            <a:ext cx="4962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record-file">
            <a:extLst xmlns:a="http://schemas.openxmlformats.org/drawingml/2006/main">
              <a:ext uri="{FF2B5EF4-FFF2-40B4-BE49-F238E27FC236}">
                <a16:creationId xmlns:a16="http://schemas.microsoft.com/office/drawing/2014/main" id="{C4F0F05C-DDB3-4682-80C5-81E1DEA2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62125"/>
            <a:ext cx="49625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未修复项的处理记录</a:t>
            </a:r>
          </a:p>
        </p:txBody>
      </p:sp>
      <p:sp>
        <p:nvSpPr>
          <p:cNvPr id="12" name="record-line0">
            <a:extLst xmlns:a="http://schemas.openxmlformats.org/drawingml/2006/main">
              <a:ext uri="{FF2B5EF4-FFF2-40B4-BE49-F238E27FC236}">
                <a16:creationId xmlns:a16="http://schemas.microsoft.com/office/drawing/2014/main" id="{18E77DBC-E6E2-4680-AC9E-67457445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95525"/>
            <a:ext cx="4733925" cy="745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缺口：未能补做对照</a:t>
            </a:r>
          </a:p>
        </p:txBody>
      </p:sp>
      <p:sp>
        <p:nvSpPr>
          <p:cNvPr id="13" name="record-line1">
            <a:extLst xmlns:a="http://schemas.openxmlformats.org/drawingml/2006/main">
              <a:ext uri="{FF2B5EF4-FFF2-40B4-BE49-F238E27FC236}">
                <a16:creationId xmlns:a16="http://schemas.microsoft.com/office/drawing/2014/main" id="{82563BD4-F43C-4F54-A9A4-3A23D604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40856"/>
            <a:ext cx="4733925" cy="745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动作：暂缓机制结论</a:t>
            </a:r>
          </a:p>
        </p:txBody>
      </p:sp>
      <p:sp>
        <p:nvSpPr>
          <p:cNvPr id="14" name="record-line2">
            <a:extLst xmlns:a="http://schemas.openxmlformats.org/drawingml/2006/main">
              <a:ext uri="{FF2B5EF4-FFF2-40B4-BE49-F238E27FC236}">
                <a16:creationId xmlns:a16="http://schemas.microsoft.com/office/drawing/2014/main" id="{BE3EB9AB-2629-4032-85D8-AF9BA1F6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86188"/>
            <a:ext cx="4733925" cy="745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留下：阻塞与复核点</a:t>
            </a:r>
          </a:p>
        </p:txBody>
      </p:sp>
      <p:sp>
        <p:nvSpPr>
          <p:cNvPr id="15" name="record-line3">
            <a:extLst xmlns:a="http://schemas.openxmlformats.org/drawingml/2006/main">
              <a:ext uri="{FF2B5EF4-FFF2-40B4-BE49-F238E27FC236}">
                <a16:creationId xmlns:a16="http://schemas.microsoft.com/office/drawing/2014/main" id="{1CBF28E1-74FB-4B21-8C5D-B6822EF2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31519"/>
            <a:ext cx="4733925" cy="745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完成：文件保存、风险可定位</a:t>
            </a:r>
          </a:p>
        </p:txBody>
      </p:sp>
      <p:sp>
        <p:nvSpPr>
          <p:cNvPr id="16" name="source">
            <a:extLst xmlns:a="http://schemas.openxmlformats.org/drawingml/2006/main">
              <a:ext uri="{FF2B5EF4-FFF2-40B4-BE49-F238E27FC236}">
                <a16:creationId xmlns:a16="http://schemas.microsoft.com/office/drawing/2014/main" id="{CDBD5D28-AC5B-46E7-92EC-47A446B6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逐项预检，不假装全部通过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states">
            <a:extLst xmlns:a="http://schemas.openxmlformats.org/drawingml/2006/main">
              <a:ext uri="{FF2B5EF4-FFF2-40B4-BE49-F238E27FC236}">
                <a16:creationId xmlns:a16="http://schemas.microsoft.com/office/drawing/2014/main" id="{967F96D3-536C-4192-B8C1-B17C330E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85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逐项选择状态，写明剩余缺口。</a:t>
            </a:r>
          </a:p>
        </p:txBody>
      </p:sp>
      <p:sp>
        <p:nvSpPr>
          <p:cNvPr id="7" name="status-head0">
            <a:extLst xmlns:a="http://schemas.openxmlformats.org/drawingml/2006/main">
              <a:ext uri="{FF2B5EF4-FFF2-40B4-BE49-F238E27FC236}">
                <a16:creationId xmlns:a16="http://schemas.microsoft.com/office/drawing/2014/main" id="{F6ACDC1B-30AF-44DF-B2B9-F60588EB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00200"/>
            <a:ext cx="106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已满足</a:t>
            </a:r>
          </a:p>
        </p:txBody>
      </p:sp>
      <p:sp>
        <p:nvSpPr>
          <p:cNvPr id="8" name="status-head1">
            <a:extLst xmlns:a="http://schemas.openxmlformats.org/drawingml/2006/main">
              <a:ext uri="{FF2B5EF4-FFF2-40B4-BE49-F238E27FC236}">
                <a16:creationId xmlns:a16="http://schemas.microsoft.com/office/drawing/2014/main" id="{0F435F6D-4DA2-4A72-B47B-52694994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600200"/>
            <a:ext cx="106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部分满足</a:t>
            </a:r>
          </a:p>
        </p:txBody>
      </p:sp>
      <p:sp>
        <p:nvSpPr>
          <p:cNvPr id="9" name="status-head2">
            <a:extLst xmlns:a="http://schemas.openxmlformats.org/drawingml/2006/main">
              <a:ext uri="{FF2B5EF4-FFF2-40B4-BE49-F238E27FC236}">
                <a16:creationId xmlns:a16="http://schemas.microsoft.com/office/drawing/2014/main" id="{D182A175-96D5-4449-9978-D404A7B3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1600200"/>
            <a:ext cx="1066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未覆盖</a:t>
            </a:r>
          </a:p>
        </p:txBody>
      </p:sp>
      <p:sp>
        <p:nvSpPr>
          <p:cNvPr id="10" name="item0">
            <a:extLst xmlns:a="http://schemas.openxmlformats.org/drawingml/2006/main">
              <a:ext uri="{FF2B5EF4-FFF2-40B4-BE49-F238E27FC236}">
                <a16:creationId xmlns:a16="http://schemas.microsoft.com/office/drawing/2014/main" id="{378D2CDC-2DA8-44C6-81D1-4F82DFD5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733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关键结论可追溯</a:t>
            </a:r>
          </a:p>
        </p:txBody>
      </p:sp>
      <p:sp>
        <p:nvSpPr>
          <p:cNvPr id="11" name="blank00">
            <a:extLst xmlns:a="http://schemas.openxmlformats.org/drawingml/2006/main">
              <a:ext uri="{FF2B5EF4-FFF2-40B4-BE49-F238E27FC236}">
                <a16:creationId xmlns:a16="http://schemas.microsoft.com/office/drawing/2014/main" id="{9D3A69A7-A3ED-4C84-A9FB-7C87F822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76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12" name="blank01">
            <a:extLst xmlns:a="http://schemas.openxmlformats.org/drawingml/2006/main">
              <a:ext uri="{FF2B5EF4-FFF2-40B4-BE49-F238E27FC236}">
                <a16:creationId xmlns:a16="http://schemas.microsoft.com/office/drawing/2014/main" id="{CC37507B-D9B0-4BDE-816A-9D95A2B0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076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13" name="blank02">
            <a:extLst xmlns:a="http://schemas.openxmlformats.org/drawingml/2006/main">
              <a:ext uri="{FF2B5EF4-FFF2-40B4-BE49-F238E27FC236}">
                <a16:creationId xmlns:a16="http://schemas.microsoft.com/office/drawing/2014/main" id="{7DE5A6A5-F250-481C-ABB7-FE8F1A5C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2076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14" name="line0">
            <a:extLst xmlns:a="http://schemas.openxmlformats.org/drawingml/2006/main">
              <a:ext uri="{FF2B5EF4-FFF2-40B4-BE49-F238E27FC236}">
                <a16:creationId xmlns:a16="http://schemas.microsoft.com/office/drawing/2014/main" id="{AFF02020-9CD0-4AB9-84AE-40339D12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item1">
            <a:extLst xmlns:a="http://schemas.openxmlformats.org/drawingml/2006/main">
              <a:ext uri="{FF2B5EF4-FFF2-40B4-BE49-F238E27FC236}">
                <a16:creationId xmlns:a16="http://schemas.microsoft.com/office/drawing/2014/main" id="{81F8D3CA-12C9-4947-AC66-F66253F0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733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stable 符合证据条件</a:t>
            </a:r>
          </a:p>
        </p:txBody>
      </p:sp>
      <p:sp>
        <p:nvSpPr>
          <p:cNvPr id="16" name="blank10">
            <a:extLst xmlns:a="http://schemas.openxmlformats.org/drawingml/2006/main">
              <a:ext uri="{FF2B5EF4-FFF2-40B4-BE49-F238E27FC236}">
                <a16:creationId xmlns:a16="http://schemas.microsoft.com/office/drawing/2014/main" id="{8580F959-AF42-4D75-8540-1F0335FF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527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17" name="blank11">
            <a:extLst xmlns:a="http://schemas.openxmlformats.org/drawingml/2006/main">
              <a:ext uri="{FF2B5EF4-FFF2-40B4-BE49-F238E27FC236}">
                <a16:creationId xmlns:a16="http://schemas.microsoft.com/office/drawing/2014/main" id="{DA24606F-C512-433E-9130-D1CC7C6D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7527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18" name="blank12">
            <a:extLst xmlns:a="http://schemas.openxmlformats.org/drawingml/2006/main">
              <a:ext uri="{FF2B5EF4-FFF2-40B4-BE49-F238E27FC236}">
                <a16:creationId xmlns:a16="http://schemas.microsoft.com/office/drawing/2014/main" id="{F61E8A17-C138-4BC3-9CA6-5BC92AB4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27527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19" name="line1">
            <a:extLst xmlns:a="http://schemas.openxmlformats.org/drawingml/2006/main">
              <a:ext uri="{FF2B5EF4-FFF2-40B4-BE49-F238E27FC236}">
                <a16:creationId xmlns:a16="http://schemas.microsoft.com/office/drawing/2014/main" id="{8F7AAAE8-C7CE-4D8E-841E-ADB22A0E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0" name="item2">
            <a:extLst xmlns:a="http://schemas.openxmlformats.org/drawingml/2006/main">
              <a:ext uri="{FF2B5EF4-FFF2-40B4-BE49-F238E27FC236}">
                <a16:creationId xmlns:a16="http://schemas.microsoft.com/office/drawing/2014/main" id="{460CF3F5-82DE-4D7C-9F47-3A5F660E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733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工作流含运行、权限、评价与失败</a:t>
            </a:r>
          </a:p>
        </p:txBody>
      </p:sp>
      <p:sp>
        <p:nvSpPr>
          <p:cNvPr id="21" name="blank20">
            <a:extLst xmlns:a="http://schemas.openxmlformats.org/drawingml/2006/main">
              <a:ext uri="{FF2B5EF4-FFF2-40B4-BE49-F238E27FC236}">
                <a16:creationId xmlns:a16="http://schemas.microsoft.com/office/drawing/2014/main" id="{AED3D2BB-9AB0-41BC-9835-C4E03334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290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22" name="blank21">
            <a:extLst xmlns:a="http://schemas.openxmlformats.org/drawingml/2006/main">
              <a:ext uri="{FF2B5EF4-FFF2-40B4-BE49-F238E27FC236}">
                <a16:creationId xmlns:a16="http://schemas.microsoft.com/office/drawing/2014/main" id="{BB8D4D40-D033-4571-B5A9-95D8E918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4290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23" name="blank22">
            <a:extLst xmlns:a="http://schemas.openxmlformats.org/drawingml/2006/main">
              <a:ext uri="{FF2B5EF4-FFF2-40B4-BE49-F238E27FC236}">
                <a16:creationId xmlns:a16="http://schemas.microsoft.com/office/drawing/2014/main" id="{89E5075A-EC8C-40C2-AF6B-72260A11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34290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24" name="line2">
            <a:extLst xmlns:a="http://schemas.openxmlformats.org/drawingml/2006/main">
              <a:ext uri="{FF2B5EF4-FFF2-40B4-BE49-F238E27FC236}">
                <a16:creationId xmlns:a16="http://schemas.microsoft.com/office/drawing/2014/main" id="{24862CE7-D196-4EA8-906A-7B35E965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9097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5" name="item3">
            <a:extLst xmlns:a="http://schemas.openxmlformats.org/drawingml/2006/main">
              <a:ext uri="{FF2B5EF4-FFF2-40B4-BE49-F238E27FC236}">
                <a16:creationId xmlns:a16="http://schemas.microsoft.com/office/drawing/2014/main" id="{D953A965-6EAF-4DED-956B-EFA8FB6D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733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伦理、许可、贡献与 AI 完整</a:t>
            </a:r>
          </a:p>
        </p:txBody>
      </p:sp>
      <p:sp>
        <p:nvSpPr>
          <p:cNvPr id="26" name="blank30">
            <a:extLst xmlns:a="http://schemas.openxmlformats.org/drawingml/2006/main">
              <a:ext uri="{FF2B5EF4-FFF2-40B4-BE49-F238E27FC236}">
                <a16:creationId xmlns:a16="http://schemas.microsoft.com/office/drawing/2014/main" id="{507DE011-4D3B-490C-A156-1B124288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05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27" name="blank31">
            <a:extLst xmlns:a="http://schemas.openxmlformats.org/drawingml/2006/main">
              <a:ext uri="{FF2B5EF4-FFF2-40B4-BE49-F238E27FC236}">
                <a16:creationId xmlns:a16="http://schemas.microsoft.com/office/drawing/2014/main" id="{06AF2712-D09A-4194-9730-1FDAD3E2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105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28" name="blank32">
            <a:extLst xmlns:a="http://schemas.openxmlformats.org/drawingml/2006/main">
              <a:ext uri="{FF2B5EF4-FFF2-40B4-BE49-F238E27FC236}">
                <a16:creationId xmlns:a16="http://schemas.microsoft.com/office/drawing/2014/main" id="{F6B4EB54-6A15-4062-8C71-6ACAFCA6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4105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29" name="line3">
            <a:extLst xmlns:a="http://schemas.openxmlformats.org/drawingml/2006/main">
              <a:ext uri="{FF2B5EF4-FFF2-40B4-BE49-F238E27FC236}">
                <a16:creationId xmlns:a16="http://schemas.microsoft.com/office/drawing/2014/main" id="{8D50211A-9CF0-40BF-B260-8123A8C9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0" name="item4">
            <a:extLst xmlns:a="http://schemas.openxmlformats.org/drawingml/2006/main">
              <a:ext uri="{FF2B5EF4-FFF2-40B4-BE49-F238E27FC236}">
                <a16:creationId xmlns:a16="http://schemas.microsoft.com/office/drawing/2014/main" id="{B10A422F-F4EA-4808-9413-0608A348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733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工件状态与门检一致</a:t>
            </a:r>
          </a:p>
        </p:txBody>
      </p:sp>
      <p:sp>
        <p:nvSpPr>
          <p:cNvPr id="31" name="blank40">
            <a:extLst xmlns:a="http://schemas.openxmlformats.org/drawingml/2006/main">
              <a:ext uri="{FF2B5EF4-FFF2-40B4-BE49-F238E27FC236}">
                <a16:creationId xmlns:a16="http://schemas.microsoft.com/office/drawing/2014/main" id="{87B85096-D715-469B-B848-D68C8CCE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7815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32" name="blank41">
            <a:extLst xmlns:a="http://schemas.openxmlformats.org/drawingml/2006/main">
              <a:ext uri="{FF2B5EF4-FFF2-40B4-BE49-F238E27FC236}">
                <a16:creationId xmlns:a16="http://schemas.microsoft.com/office/drawing/2014/main" id="{85065B49-B840-4050-B40C-A82C64C8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7815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33" name="blank42">
            <a:extLst xmlns:a="http://schemas.openxmlformats.org/drawingml/2006/main">
              <a:ext uri="{FF2B5EF4-FFF2-40B4-BE49-F238E27FC236}">
                <a16:creationId xmlns:a16="http://schemas.microsoft.com/office/drawing/2014/main" id="{D19572C8-BCF0-4CC3-9ED9-B21CBC8E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47815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□</a:t>
            </a:r>
          </a:p>
        </p:txBody>
      </p:sp>
      <p:sp>
        <p:nvSpPr>
          <p:cNvPr id="34" name="line4">
            <a:extLst xmlns:a="http://schemas.openxmlformats.org/drawingml/2006/main">
              <a:ext uri="{FF2B5EF4-FFF2-40B4-BE49-F238E27FC236}">
                <a16:creationId xmlns:a16="http://schemas.microsoft.com/office/drawing/2014/main" id="{181FFF82-B3FC-46D9-8EF2-B1F77E05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5" name="save">
            <a:extLst xmlns:a="http://schemas.openxmlformats.org/drawingml/2006/main">
              <a:ext uri="{FF2B5EF4-FFF2-40B4-BE49-F238E27FC236}">
                <a16:creationId xmlns:a16="http://schemas.microsoft.com/office/drawing/2014/main" id="{DFF5D6D8-8BE6-4DD5-A61F-3619CECD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剩余缺口 → revision-plan.md</a:t>
            </a:r>
          </a:p>
        </p:txBody>
      </p:sp>
      <p:sp>
        <p:nvSpPr>
          <p:cNvPr id="36" name="source">
            <a:extLst xmlns:a="http://schemas.openxmlformats.org/drawingml/2006/main">
              <a:ext uri="{FF2B5EF4-FFF2-40B4-BE49-F238E27FC236}">
                <a16:creationId xmlns:a16="http://schemas.microsoft.com/office/drawing/2014/main" id="{C2267029-0FAD-482D-BFF9-4DA88D8A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chain">
            <a:extLst xmlns:a="http://schemas.openxmlformats.org/drawingml/2006/main">
              <a:ext uri="{FF2B5EF4-FFF2-40B4-BE49-F238E27FC236}">
                <a16:creationId xmlns:a16="http://schemas.microsoft.com/office/drawing/2014/main" id="{6FA3A187-2BAA-4665-BED9-08A26BFB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8585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真实意见 → 处理决定 → 实际修改 → 剩余边界</a:t>
            </a:r>
          </a:p>
        </p:txBody>
      </p:sp>
      <p:sp>
        <p:nvSpPr>
          <p:cNvPr id="7" name="summary">
            <a:extLst xmlns:a="http://schemas.openxmlformats.org/drawingml/2006/main">
              <a:ext uri="{FF2B5EF4-FFF2-40B4-BE49-F238E27FC236}">
                <a16:creationId xmlns:a16="http://schemas.microsoft.com/office/drawing/2014/main" id="{31C80B56-FD6F-40EE-ABE0-6F9C0AC4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0858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完成标志是修改证据，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3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不只是修改计划。</a:t>
            </a:r>
          </a:p>
        </p:txBody>
      </p:sp>
      <p:sp>
        <p:nvSpPr>
          <p:cNvPr id="8" name="rule">
            <a:extLst xmlns:a="http://schemas.openxmlformats.org/drawingml/2006/main">
              <a:ext uri="{FF2B5EF4-FFF2-40B4-BE49-F238E27FC236}">
                <a16:creationId xmlns:a16="http://schemas.microsoft.com/office/drawing/2014/main" id="{89B72016-2E3F-4F42-B896-F4B3648F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judgment">
            <a:extLst xmlns:a="http://schemas.openxmlformats.org/drawingml/2006/main">
              <a:ext uri="{FF2B5EF4-FFF2-40B4-BE49-F238E27FC236}">
                <a16:creationId xmlns:a16="http://schemas.microsoft.com/office/drawing/2014/main" id="{C28B8648-FA4D-4022-AA0C-37D2A77A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反馈不替代作者判断；理由回到证据与约束。</a:t>
            </a:r>
          </a:p>
        </p:txBody>
      </p:sp>
      <p:sp>
        <p:nvSpPr>
          <p:cNvPr id="10" name="source">
            <a:extLst xmlns:a="http://schemas.openxmlformats.org/drawingml/2006/main">
              <a:ext uri="{FF2B5EF4-FFF2-40B4-BE49-F238E27FC236}">
                <a16:creationId xmlns:a16="http://schemas.microsoft.com/office/drawing/2014/main" id="{6F86D20F-3C82-4AE2-B0BA-6E46B4A0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带齐展示与抽查材料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lightning-label">
            <a:extLst xmlns:a="http://schemas.openxmlformats.org/drawingml/2006/main">
              <a:ext uri="{FF2B5EF4-FFF2-40B4-BE49-F238E27FC236}">
                <a16:creationId xmlns:a16="http://schemas.microsoft.com/office/drawing/2014/main" id="{A95A015C-F509-4DF1-9234-9C4901299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4695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全员闪电报告</a:t>
            </a:r>
          </a:p>
        </p:txBody>
      </p:sp>
      <p:sp>
        <p:nvSpPr>
          <p:cNvPr id="7" name="lightning-body">
            <a:extLst xmlns:a="http://schemas.openxmlformats.org/drawingml/2006/main">
              <a:ext uri="{FF2B5EF4-FFF2-40B4-BE49-F238E27FC236}">
                <a16:creationId xmlns:a16="http://schemas.microsoft.com/office/drawing/2014/main" id="{59D0B415-55D4-4B3A-A44D-59C4D812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6958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关键结果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结论边界</a:t>
            </a:r>
          </a:p>
        </p:txBody>
      </p:sp>
      <p:sp>
        <p:nvSpPr>
          <p:cNvPr id="8" name="demo-label">
            <a:extLst xmlns:a="http://schemas.openxmlformats.org/drawingml/2006/main">
              <a:ext uri="{FF2B5EF4-FFF2-40B4-BE49-F238E27FC236}">
                <a16:creationId xmlns:a16="http://schemas.microsoft.com/office/drawing/2014/main" id="{D0F99C0F-06D2-48FD-BC10-8F8E8B0A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5381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分组证据／工作流演示</a:t>
            </a:r>
          </a:p>
        </p:txBody>
      </p:sp>
      <p:sp>
        <p:nvSpPr>
          <p:cNvPr id="9" name="demo-body">
            <a:extLst xmlns:a="http://schemas.openxmlformats.org/drawingml/2006/main">
              <a:ext uri="{FF2B5EF4-FFF2-40B4-BE49-F238E27FC236}">
                <a16:creationId xmlns:a16="http://schemas.microsoft.com/office/drawing/2014/main" id="{2E1233FA-D2D6-4C9D-A454-9CC0B94D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5381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证据定位与真实作用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失败与人工判断</a:t>
            </a:r>
          </a:p>
        </p:txBody>
      </p:sp>
      <p:sp>
        <p:nvSpPr>
          <p:cNvPr id="10" name="divider">
            <a:extLst xmlns:a="http://schemas.openxmlformats.org/drawingml/2006/main">
              <a:ext uri="{FF2B5EF4-FFF2-40B4-BE49-F238E27FC236}">
                <a16:creationId xmlns:a16="http://schemas.microsoft.com/office/drawing/2014/main" id="{E3F14289-8116-465C-A31F-C39EE577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390650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1" name="audit">
            <a:extLst xmlns:a="http://schemas.openxmlformats.org/drawingml/2006/main">
              <a:ext uri="{FF2B5EF4-FFF2-40B4-BE49-F238E27FC236}">
                <a16:creationId xmlns:a16="http://schemas.microsoft.com/office/drawing/2014/main" id="{137A22D1-AE57-4863-952D-D530B9DA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1600200"/>
            <a:ext cx="4095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教师抽查</a:t>
            </a:r>
          </a:p>
        </p:txBody>
      </p:sp>
      <p:sp>
        <p:nvSpPr>
          <p:cNvPr id="12" name="audit-data">
            <a:extLst xmlns:a="http://schemas.openxmlformats.org/drawingml/2006/main">
              <a:ext uri="{FF2B5EF4-FFF2-40B4-BE49-F238E27FC236}">
                <a16:creationId xmlns:a16="http://schemas.microsoft.com/office/drawing/2014/main" id="{E376DB76-8551-473A-ACD8-8A7D6D8A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628900"/>
            <a:ext cx="409575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实验 ID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引用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6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工作流 trace</a:t>
            </a:r>
          </a:p>
        </p:txBody>
      </p:sp>
      <p:sp>
        <p:nvSpPr>
          <p:cNvPr id="13" name="existing">
            <a:extLst xmlns:a="http://schemas.openxmlformats.org/drawingml/2006/main">
              <a:ext uri="{FF2B5EF4-FFF2-40B4-BE49-F238E27FC236}">
                <a16:creationId xmlns:a16="http://schemas.microsoft.com/office/drawing/2014/main" id="{FC2B6FE2-A4B4-41E5-918D-7567031E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086350"/>
            <a:ext cx="4095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使用现有项目材料，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不新增独立汇报文档。</a:t>
            </a:r>
          </a:p>
        </p:txBody>
      </p:sp>
      <p:sp>
        <p:nvSpPr>
          <p:cNvPr id="14" name="source">
            <a:extLst xmlns:a="http://schemas.openxmlformats.org/drawingml/2006/main">
              <a:ext uri="{FF2B5EF4-FFF2-40B4-BE49-F238E27FC236}">
                <a16:creationId xmlns:a16="http://schemas.microsoft.com/office/drawing/2014/main" id="{78EFC8DF-E64D-45C8-B948-1AD86B0C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来源：本课讲义与课程评审模板；课程研究门规范 · 教学构造样例不冒充学生记录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2026-09-12T11:21:39.2890000Z</dcterms:created>
  <dcterms:modified xsi:type="dcterms:W3CDTF">2026-09-12T11:21:39.2890000Z</dcterms:modified>
</coreProperties>
</file>