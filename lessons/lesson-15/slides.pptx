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5c7e4dfc9c64abb" /><Relationship Type="http://schemas.openxmlformats.org/officeDocument/2006/relationships/extended-properties" Target="/docProps/app.xml" Id="R4612068161d9401b" /><Relationship Type="http://schemas.openxmlformats.org/officeDocument/2006/relationships/officeDocument" Target="/ppt/presentation.xml" Id="Rbf27197f64f047a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19c91d36d4a46e3"/>
  </p:sldMasterIdLst>
  <p:notesMasterIdLst>
    <p:notesMasterId xmlns:r="http://schemas.openxmlformats.org/officeDocument/2006/relationships" r:id="Re934ae9c2ff6416f"/>
  </p:notesMasterIdLst>
  <p:sldIdLst>
    <p:sldId xmlns:r="http://schemas.openxmlformats.org/officeDocument/2006/relationships" id="256" r:id="R545e9319d2784d4c"/>
    <p:sldId xmlns:r="http://schemas.openxmlformats.org/officeDocument/2006/relationships" id="257" r:id="Rf3efc75db9224d4c"/>
    <p:sldId xmlns:r="http://schemas.openxmlformats.org/officeDocument/2006/relationships" id="258" r:id="R61212e50a1c84c4e"/>
    <p:sldId xmlns:r="http://schemas.openxmlformats.org/officeDocument/2006/relationships" id="259" r:id="R0a3c81fef11f4450"/>
    <p:sldId xmlns:r="http://schemas.openxmlformats.org/officeDocument/2006/relationships" id="260" r:id="R38fed2aabe5e481a"/>
    <p:sldId xmlns:r="http://schemas.openxmlformats.org/officeDocument/2006/relationships" id="261" r:id="R6de6276c75684ae6"/>
    <p:sldId xmlns:r="http://schemas.openxmlformats.org/officeDocument/2006/relationships" id="262" r:id="Rd45c6df5a2374d5e"/>
    <p:sldId xmlns:r="http://schemas.openxmlformats.org/officeDocument/2006/relationships" id="263" r:id="Ra883b45e9c5b420f"/>
    <p:sldId xmlns:r="http://schemas.openxmlformats.org/officeDocument/2006/relationships" id="264" r:id="R8948e8c70b2445e8"/>
    <p:sldId xmlns:r="http://schemas.openxmlformats.org/officeDocument/2006/relationships" id="265" r:id="R7db2aa05398e48a2"/>
    <p:sldId xmlns:r="http://schemas.openxmlformats.org/officeDocument/2006/relationships" id="266" r:id="Red7254960de14fb1"/>
    <p:sldId xmlns:r="http://schemas.openxmlformats.org/officeDocument/2006/relationships" id="267" r:id="Rab78781f8bee4c61"/>
    <p:sldId xmlns:r="http://schemas.openxmlformats.org/officeDocument/2006/relationships" id="268" r:id="R543105c19a5f461d"/>
    <p:sldId xmlns:r="http://schemas.openxmlformats.org/officeDocument/2006/relationships" id="269" r:id="R50aef6d37346497a"/>
    <p:sldId xmlns:r="http://schemas.openxmlformats.org/officeDocument/2006/relationships" id="270" r:id="R2394793b2af94b49"/>
    <p:sldId xmlns:r="http://schemas.openxmlformats.org/officeDocument/2006/relationships" id="271" r:id="R03b6249161ee4bca"/>
    <p:sldId xmlns:r="http://schemas.openxmlformats.org/officeDocument/2006/relationships" id="272" r:id="Ra01b1998beba400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ca72997bb8f4b7a" /><Relationship Type="http://schemas.openxmlformats.org/officeDocument/2006/relationships/slideMaster" Target="/ppt/slideMasters/slideMaster1.xml" Id="Ra19c91d36d4a46e3" /><Relationship Type="http://schemas.openxmlformats.org/officeDocument/2006/relationships/notesMaster" Target="/ppt/notesMasters/notesMaster1.xml" Id="Re934ae9c2ff6416f" /><Relationship Type="http://schemas.openxmlformats.org/officeDocument/2006/relationships/presProps" Target="/ppt/presProps.xml" Id="Rf9cfb2c168c84550" /><Relationship Type="http://schemas.openxmlformats.org/officeDocument/2006/relationships/viewProps" Target="/ppt/viewProps.xml" Id="Rcb3edc452e2c4440" /><Relationship Type="http://schemas.openxmlformats.org/officeDocument/2006/relationships/tableStyles" Target="/ppt/tableStyles.xml" Id="R6be2808617004c11" /><Relationship Type="http://schemas.openxmlformats.org/officeDocument/2006/relationships/slide" Target="/ppt/slides/slide1.xml" Id="R545e9319d2784d4c" /><Relationship Type="http://schemas.openxmlformats.org/officeDocument/2006/relationships/slide" Target="/ppt/slides/slide2.xml" Id="Rf3efc75db9224d4c" /><Relationship Type="http://schemas.openxmlformats.org/officeDocument/2006/relationships/slide" Target="/ppt/slides/slide3.xml" Id="R61212e50a1c84c4e" /><Relationship Type="http://schemas.openxmlformats.org/officeDocument/2006/relationships/slide" Target="/ppt/slides/slide4.xml" Id="R0a3c81fef11f4450" /><Relationship Type="http://schemas.openxmlformats.org/officeDocument/2006/relationships/slide" Target="/ppt/slides/slide5.xml" Id="R38fed2aabe5e481a" /><Relationship Type="http://schemas.openxmlformats.org/officeDocument/2006/relationships/slide" Target="/ppt/slides/slide6.xml" Id="R6de6276c75684ae6" /><Relationship Type="http://schemas.openxmlformats.org/officeDocument/2006/relationships/slide" Target="/ppt/slides/slide7.xml" Id="Rd45c6df5a2374d5e" /><Relationship Type="http://schemas.openxmlformats.org/officeDocument/2006/relationships/slide" Target="/ppt/slides/slide8.xml" Id="Ra883b45e9c5b420f" /><Relationship Type="http://schemas.openxmlformats.org/officeDocument/2006/relationships/slide" Target="/ppt/slides/slide9.xml" Id="R8948e8c70b2445e8" /><Relationship Type="http://schemas.openxmlformats.org/officeDocument/2006/relationships/slide" Target="/ppt/slides/slide10.xml" Id="R7db2aa05398e48a2" /><Relationship Type="http://schemas.openxmlformats.org/officeDocument/2006/relationships/slide" Target="/ppt/slides/slide11.xml" Id="Red7254960de14fb1" /><Relationship Type="http://schemas.openxmlformats.org/officeDocument/2006/relationships/slide" Target="/ppt/slides/slide12.xml" Id="Rab78781f8bee4c61" /><Relationship Type="http://schemas.openxmlformats.org/officeDocument/2006/relationships/slide" Target="/ppt/slides/slide13.xml" Id="R543105c19a5f461d" /><Relationship Type="http://schemas.openxmlformats.org/officeDocument/2006/relationships/slide" Target="/ppt/slides/slide14.xml" Id="R50aef6d37346497a" /><Relationship Type="http://schemas.openxmlformats.org/officeDocument/2006/relationships/slide" Target="/ppt/slides/slide15.xml" Id="R2394793b2af94b49" /><Relationship Type="http://schemas.openxmlformats.org/officeDocument/2006/relationships/slide" Target="/ppt/slides/slide16.xml" Id="R03b6249161ee4bca" /><Relationship Type="http://schemas.openxmlformats.org/officeDocument/2006/relationships/slide" Target="/ppt/slides/slide17.xml" Id="Ra01b1998beba400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1c8ea3742b149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9d59f91b4347d9" /><Relationship Type="http://schemas.openxmlformats.org/officeDocument/2006/relationships/notesMaster" Target="/ppt/notesMasters/notesMaster1.xml" Id="R825ccf1dc0084d4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998ae83af13415d" /><Relationship Type="http://schemas.openxmlformats.org/officeDocument/2006/relationships/notesMaster" Target="/ppt/notesMasters/notesMaster1.xml" Id="Rbf974d6e22d346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2c8e31d4ae64c2c" /><Relationship Type="http://schemas.openxmlformats.org/officeDocument/2006/relationships/notesMaster" Target="/ppt/notesMasters/notesMaster1.xml" Id="Rb5e88a64070046c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cf7bc377e4e4f3a" /><Relationship Type="http://schemas.openxmlformats.org/officeDocument/2006/relationships/notesMaster" Target="/ppt/notesMasters/notesMaster1.xml" Id="R40ee741ccd574ab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ed68abc80f64285" /><Relationship Type="http://schemas.openxmlformats.org/officeDocument/2006/relationships/notesMaster" Target="/ppt/notesMasters/notesMaster1.xml" Id="R58192f39cc8c44b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2febbe9e00f40cc" /><Relationship Type="http://schemas.openxmlformats.org/officeDocument/2006/relationships/notesMaster" Target="/ppt/notesMasters/notesMaster1.xml" Id="Rbb354394c74a4d9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b2a013bf8ab4cea" /><Relationship Type="http://schemas.openxmlformats.org/officeDocument/2006/relationships/notesMaster" Target="/ppt/notesMasters/notesMaster1.xml" Id="R7015456c9275425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38cf07146474cc2" /><Relationship Type="http://schemas.openxmlformats.org/officeDocument/2006/relationships/notesMaster" Target="/ppt/notesMasters/notesMaster1.xml" Id="R7f38b093909f4b8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e51faeb79b048d6" /><Relationship Type="http://schemas.openxmlformats.org/officeDocument/2006/relationships/notesMaster" Target="/ppt/notesMasters/notesMaster1.xml" Id="Rb285ab9867f14f4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286ca3160f34c15" /><Relationship Type="http://schemas.openxmlformats.org/officeDocument/2006/relationships/notesMaster" Target="/ppt/notesMasters/notesMaster1.xml" Id="R0066a8a846b54d7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502ddc0fb164531" /><Relationship Type="http://schemas.openxmlformats.org/officeDocument/2006/relationships/notesMaster" Target="/ppt/notesMasters/notesMaster1.xml" Id="R4038577c3e5e437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1c58989619849c1" /><Relationship Type="http://schemas.openxmlformats.org/officeDocument/2006/relationships/notesMaster" Target="/ppt/notesMasters/notesMaster1.xml" Id="Ree08376d750c481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3285fc0776640c9" /><Relationship Type="http://schemas.openxmlformats.org/officeDocument/2006/relationships/notesMaster" Target="/ppt/notesMasters/notesMaster1.xml" Id="Rde7c79b2107447e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d0ced5234f94519" /><Relationship Type="http://schemas.openxmlformats.org/officeDocument/2006/relationships/notesMaster" Target="/ppt/notesMasters/notesMaster1.xml" Id="Rd8187a93876343b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6ec8fb72aad4633" /><Relationship Type="http://schemas.openxmlformats.org/officeDocument/2006/relationships/notesMaster" Target="/ppt/notesMasters/notesMaster1.xml" Id="Rbbd37faae257456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988de8287ae4ef6" /><Relationship Type="http://schemas.openxmlformats.org/officeDocument/2006/relationships/notesMaster" Target="/ppt/notesMasters/notesMaster1.xml" Id="Rabe8bfc067df42c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27db99b5f434a03" /><Relationship Type="http://schemas.openxmlformats.org/officeDocument/2006/relationships/notesMaster" Target="/ppt/notesMasters/notesMaster1.xml" Id="Rd5926ac83e8543e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本讲聚焦“同行评审、论证门预检与修改工作坊”。封面只保留正式课名，课堂问题从下一页展开。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/Users/bright/Projects/courses/graduate/lessons/lesson-15/slides.md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回扣第14课初稿字段，五个问题来自本课 rubric。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课堂所有产出只写入 peer-review.md 与 revision-plan.md，不另立回应或优先级文件。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用虚构样例共同判断致命、重要、表达三类。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anonymous sample.</a:t>
            </a:r>
          </a:p>
          <a:p xmlns:a="http://schemas.openxmlformats.org/drawingml/2006/main">
            <a:r>
              <a:t>- /Users/bright/Projects/courses/graduate/lessons/lesson-15/handout.md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五维度是对十项门条件的课堂可操作预检，不替代第16课正式检查。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Smith, A. J. (1990). The Task of the Referee.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同伴只提供输入，作者保留采纳决定并记录理由。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/Users/bright/Projects/courses/graduate/lessons/lesson-15/handout.md</a:t>
            </a:r>
          </a:p>
          <a:p xmlns:a="http://schemas.openxmlformats.org/drawingml/2006/main">
            <a:r>
              <a:t>- Stanford Scientific Writing, Unit 8.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每条意见进入四类回应、六字段和三级优先级；不能只写‘收到’。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Booth et al., The Craft of Research, Ch. 9 and 11.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输出本身不构成证据，采纳与否由作者决定。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/Users/bright/Projects/courses/graduate/lessons/lesson-15/handout.md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案例和评审均为课堂构造，不暗示真实效果。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case and peer-review trace.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15分钟单轮与 assignments 最低要求一致；作者在下一段回应。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/Users/bright/Projects/courses/graduate/lessons/lesson-15/teaching-plan.md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口头澄清后立即写回应记录；保留异议不是‘我不同意’，必须有依据。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Booth et al., The Craft of Research, Ch. 9.</a:t>
            </a:r>
          </a:p>
          <a:p xmlns:a="http://schemas.openxmlformats.org/drawingml/2006/main">
            <a:r>
              <a:t>- /Users/bright/Projects/courses/graduate/lessons/lesson-15/handout.md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十项逐字对应 assignments Checkpoint 4；不得用五维 rubric 替代门条件。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回收本讲核心概念及其关系。本页不新增任务；请学生用边界句检查自己的项目工件。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/Users/bright/Projects/courses/graduate/lessons/lesson-15/handout.md</a:t>
            </a:r>
          </a:p>
          <a:p xmlns:a="http://schemas.openxmlformats.org/drawingml/2006/main">
            <a:r>
              <a:t>- /Users/bright/Projects/courses/graduate/lessons/lesson-15/slides.md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82-90分钟生成优先级并桥接第16课，不要求当场修完。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备用实践索引，仅在学生需要路径提示时使用。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/Users/bright/Projects/courses/graduate/lessons/lesson-15/teaching-plan.md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备用反例用于评审语言校准。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review comment.</a:t>
            </a:r>
          </a:p>
          <a:p xmlns:a="http://schemas.openxmlformats.org/drawingml/2006/main">
            <a:r>
              <a:t>- /Users/bright/Projects/courses/graduate/lessons/lesson-15/handout.md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备用退出卡，再次强调作者责任与第16课衔接。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02b50f998a4125" /><Relationship Type="http://schemas.openxmlformats.org/officeDocument/2006/relationships/image" Target="/ppt/media/image.png" Id="Re938ea66450e4d00" /><Relationship Type="http://schemas.openxmlformats.org/officeDocument/2006/relationships/image" Target="/ppt/media/image2.png" Id="R181c419d43be41b6" /><Relationship Type="http://schemas.openxmlformats.org/officeDocument/2006/relationships/image" Target="/ppt/media/image3.png" Id="R3408c9930a9c4055" /><Relationship Type="http://schemas.openxmlformats.org/officeDocument/2006/relationships/image" Target="/ppt/media/image4.png" Id="Re89b066b7a05451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d58389b5d142f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e37d7ded934969" /><Relationship Type="http://schemas.openxmlformats.org/officeDocument/2006/relationships/image" Target="/ppt/media/image2.png" Id="R8c9cf61dd4704b07" /><Relationship Type="http://schemas.openxmlformats.org/officeDocument/2006/relationships/image" Target="/ppt/media/image5.png" Id="R9eb6e8f13adf44e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134e0741994c10" /><Relationship Type="http://schemas.openxmlformats.org/officeDocument/2006/relationships/image" Target="/ppt/media/image.png" Id="R3d4bbcd1a3cd4a41" /><Relationship Type="http://schemas.openxmlformats.org/officeDocument/2006/relationships/image" Target="/ppt/media/image3.png" Id="R21fd4c63f4ae48bb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38ea66450e4d00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81c419d43be41b6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408c9930a9c4055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9b066b7a054519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c9cf61dd4704b07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b6e8f13adf44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4bbcd1a3cd4a41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1fd4c63f4ae48bb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ee3c7cd899147b2" /><Relationship Type="http://schemas.openxmlformats.org/officeDocument/2006/relationships/slideLayout" Target="/ppt/slideLayouts/slideLayout1.xml" Id="R27e04f4875ed4dc3" /><Relationship Type="http://schemas.openxmlformats.org/officeDocument/2006/relationships/slideLayout" Target="/ppt/slideLayouts/slideLayout2.xml" Id="Rcbc047b8167c4ddf" /><Relationship Type="http://schemas.openxmlformats.org/officeDocument/2006/relationships/slideLayout" Target="/ppt/slideLayouts/slideLayout3.xml" Id="Rb896cec120954b4e" /><Relationship Type="http://schemas.openxmlformats.org/officeDocument/2006/relationships/slideLayout" Target="/ppt/slideLayouts/slideLayout4.xml" Id="R41b5be3defaa4c30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e04f4875ed4dc3"/>
    <p:sldLayoutId xmlns:r="http://schemas.openxmlformats.org/officeDocument/2006/relationships" id="2147483650" r:id="Rcbc047b8167c4ddf"/>
    <p:sldLayoutId xmlns:r="http://schemas.openxmlformats.org/officeDocument/2006/relationships" id="2147483651" r:id="Rb896cec120954b4e"/>
    <p:sldLayoutId xmlns:r="http://schemas.openxmlformats.org/officeDocument/2006/relationships" id="2147483652" r:id="R41b5be3defaa4c30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92e0cac24b4fcc" /><Relationship Type="http://schemas.openxmlformats.org/officeDocument/2006/relationships/notesSlide" Target="/ppt/notesSlides/notesSlide1.xml" Id="R02a9207e62bc4c8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423100813134efd" /><Relationship Type="http://schemas.openxmlformats.org/officeDocument/2006/relationships/notesSlide" Target="/ppt/notesSlides/notesSlide2.xml" Id="Rb35aedb9f71149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6aa8c88ddbd4c3b" /><Relationship Type="http://schemas.openxmlformats.org/officeDocument/2006/relationships/notesSlide" Target="/ppt/notesSlides/notesSlide3.xml" Id="Rd07ffc75c972444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57263e56474406d" /><Relationship Type="http://schemas.openxmlformats.org/officeDocument/2006/relationships/notesSlide" Target="/ppt/notesSlides/notesSlide4.xml" Id="R18391570befb443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21738f99e164a38" /><Relationship Type="http://schemas.openxmlformats.org/officeDocument/2006/relationships/notesSlide" Target="/ppt/notesSlides/notesSlide5.xml" Id="R4d1c5a0407cf4c7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04442e204d54dfd" /><Relationship Type="http://schemas.openxmlformats.org/officeDocument/2006/relationships/notesSlide" Target="/ppt/notesSlides/notesSlide6.xml" Id="Rab2c00e7ba3e4d0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cbba2e099644889" /><Relationship Type="http://schemas.openxmlformats.org/officeDocument/2006/relationships/notesSlide" Target="/ppt/notesSlides/notesSlide7.xml" Id="R3664cd068c2b453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78d69a511c14b1c" /><Relationship Type="http://schemas.openxmlformats.org/officeDocument/2006/relationships/notesSlide" Target="/ppt/notesSlides/notesSlide8.xml" Id="R472cfe94fa81466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74e21056ff54584" /><Relationship Type="http://schemas.openxmlformats.org/officeDocument/2006/relationships/notesSlide" Target="/ppt/notesSlides/notesSlide9.xml" Id="Rea95cd4406d64a7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35d3e6b4a754689" /><Relationship Type="http://schemas.openxmlformats.org/officeDocument/2006/relationships/notesSlide" Target="/ppt/notesSlides/notesSlide10.xml" Id="R3a3bc753e4b14b4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7f8adab97614fb9" /><Relationship Type="http://schemas.openxmlformats.org/officeDocument/2006/relationships/notesSlide" Target="/ppt/notesSlides/notesSlide11.xml" Id="Rd449c5ef5e264e8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1e35397ee99474e" /><Relationship Type="http://schemas.openxmlformats.org/officeDocument/2006/relationships/notesSlide" Target="/ppt/notesSlides/notesSlide12.xml" Id="R37be0af3bccd4e3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17509108fd44595" /><Relationship Type="http://schemas.openxmlformats.org/officeDocument/2006/relationships/notesSlide" Target="/ppt/notesSlides/notesSlide13.xml" Id="Re8b466d8506c4a8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bd60d4f7049432c" /><Relationship Type="http://schemas.openxmlformats.org/officeDocument/2006/relationships/notesSlide" Target="/ppt/notesSlides/notesSlide14.xml" Id="R1079ec81895b4a0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e5d145727f941bf" /><Relationship Type="http://schemas.openxmlformats.org/officeDocument/2006/relationships/notesSlide" Target="/ppt/notesSlides/notesSlide15.xml" Id="Rabf1ba5815594d6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430a85dfa98453e" /><Relationship Type="http://schemas.openxmlformats.org/officeDocument/2006/relationships/notesSlide" Target="/ppt/notesSlides/notesSlide16.xml" Id="Re087d7473a6a437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bafce1ad4704a8e" /><Relationship Type="http://schemas.openxmlformats.org/officeDocument/2006/relationships/notesSlide" Target="/ppt/notesSlides/notesSlide17.xml" Id="Rbef34090e0324d5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5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</a:pPr>
            <a:r>
              <a:rPr sz="31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第15讲 同行评审、论证门预检与修改工作坊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外观完整不等于论证成立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draft">
            <a:extLst xmlns:a="http://schemas.openxmlformats.org/drawingml/2006/main">
              <a:ext uri="{FF2B5EF4-FFF2-40B4-BE49-F238E27FC236}">
                <a16:creationId xmlns:a16="http://schemas.microsoft.com/office/drawing/2014/main" id="{A7D071D9-5F15-4818-B03C-4DA00FEA7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45339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论文式短文初稿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问题｜方法｜验证｜结果｜局限｜AI 披露</a:t>
            </a:r>
          </a:p>
        </p:txBody>
      </p:sp>
      <p:sp>
        <p:nvSpPr>
          <p:cNvPr id="7" name="neq">
            <a:extLst xmlns:a="http://schemas.openxmlformats.org/drawingml/2006/main">
              <a:ext uri="{FF2B5EF4-FFF2-40B4-BE49-F238E27FC236}">
                <a16:creationId xmlns:a16="http://schemas.microsoft.com/office/drawing/2014/main" id="{D5F8BBE5-C72A-4AA0-85CB-3E7F7C60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38350"/>
            <a:ext cx="8763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3150" b="1">
                <a:solidFill>
                  <a:srgbClr val="C8161E"/>
                </a:solidFill>
              </a:defRPr>
            </a:pPr>
            <a:r>
              <a:rPr sz="31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≠</a:t>
            </a:r>
          </a:p>
        </p:txBody>
      </p:sp>
      <p:sp>
        <p:nvSpPr>
          <p:cNvPr id="8" name="p20a">
            <a:extLst xmlns:a="http://schemas.openxmlformats.org/drawingml/2006/main">
              <a:ext uri="{FF2B5EF4-FFF2-40B4-BE49-F238E27FC236}">
                <a16:creationId xmlns:a16="http://schemas.microsoft.com/office/drawing/2014/main" id="{D0E6A008-A7E4-4EFA-9DD7-5C548F99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1049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" name="p20b">
            <a:extLst xmlns:a="http://schemas.openxmlformats.org/drawingml/2006/main">
              <a:ext uri="{FF2B5EF4-FFF2-40B4-BE49-F238E27FC236}">
                <a16:creationId xmlns:a16="http://schemas.microsoft.com/office/drawing/2014/main" id="{1EB603C8-0D90-4B2F-9DAC-DF8FA1C8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104900"/>
            <a:ext cx="3905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论证链完整？</a:t>
            </a:r>
          </a:p>
        </p:txBody>
      </p:sp>
      <p:sp>
        <p:nvSpPr>
          <p:cNvPr id="10" name="p21a">
            <a:extLst xmlns:a="http://schemas.openxmlformats.org/drawingml/2006/main">
              <a:ext uri="{FF2B5EF4-FFF2-40B4-BE49-F238E27FC236}">
                <a16:creationId xmlns:a16="http://schemas.microsoft.com/office/drawing/2014/main" id="{141C9D46-6B6C-4C51-A1E2-E32DAFF3E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8478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p21b">
            <a:extLst xmlns:a="http://schemas.openxmlformats.org/drawingml/2006/main">
              <a:ext uri="{FF2B5EF4-FFF2-40B4-BE49-F238E27FC236}">
                <a16:creationId xmlns:a16="http://schemas.microsoft.com/office/drawing/2014/main" id="{9FF662DD-151C-4FC1-8986-A2170B1BF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847850"/>
            <a:ext cx="3905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证据充分？</a:t>
            </a:r>
          </a:p>
        </p:txBody>
      </p:sp>
      <p:sp>
        <p:nvSpPr>
          <p:cNvPr id="12" name="p22a">
            <a:extLst xmlns:a="http://schemas.openxmlformats.org/drawingml/2006/main">
              <a:ext uri="{FF2B5EF4-FFF2-40B4-BE49-F238E27FC236}">
                <a16:creationId xmlns:a16="http://schemas.microsoft.com/office/drawing/2014/main" id="{F8E27A78-889D-4DFE-BA00-8431BC9C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5908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3" name="p22b">
            <a:extLst xmlns:a="http://schemas.openxmlformats.org/drawingml/2006/main">
              <a:ext uri="{FF2B5EF4-FFF2-40B4-BE49-F238E27FC236}">
                <a16:creationId xmlns:a16="http://schemas.microsoft.com/office/drawing/2014/main" id="{943E2735-BBB3-4041-AA34-2AC7ED2E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590800"/>
            <a:ext cx="3905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局限披露？</a:t>
            </a:r>
          </a:p>
        </p:txBody>
      </p:sp>
      <p:sp>
        <p:nvSpPr>
          <p:cNvPr id="14" name="p23a">
            <a:extLst xmlns:a="http://schemas.openxmlformats.org/drawingml/2006/main">
              <a:ext uri="{FF2B5EF4-FFF2-40B4-BE49-F238E27FC236}">
                <a16:creationId xmlns:a16="http://schemas.microsoft.com/office/drawing/2014/main" id="{F62CFFD2-06E0-462E-AC97-D68E0AC7E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337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5" name="p23b">
            <a:extLst xmlns:a="http://schemas.openxmlformats.org/drawingml/2006/main">
              <a:ext uri="{FF2B5EF4-FFF2-40B4-BE49-F238E27FC236}">
                <a16:creationId xmlns:a16="http://schemas.microsoft.com/office/drawing/2014/main" id="{8F455382-567F-4958-9AD1-F2613B3A6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33750"/>
            <a:ext cx="3905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可复现？</a:t>
            </a:r>
          </a:p>
        </p:txBody>
      </p:sp>
      <p:sp>
        <p:nvSpPr>
          <p:cNvPr id="16" name="p24a">
            <a:extLst xmlns:a="http://schemas.openxmlformats.org/drawingml/2006/main">
              <a:ext uri="{FF2B5EF4-FFF2-40B4-BE49-F238E27FC236}">
                <a16:creationId xmlns:a16="http://schemas.microsoft.com/office/drawing/2014/main" id="{2C04949A-851A-4C36-ACE5-41D69227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0767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7" name="p24b">
            <a:extLst xmlns:a="http://schemas.openxmlformats.org/drawingml/2006/main">
              <a:ext uri="{FF2B5EF4-FFF2-40B4-BE49-F238E27FC236}">
                <a16:creationId xmlns:a16="http://schemas.microsoft.com/office/drawing/2014/main" id="{2420D462-383C-4E2E-B564-460EF14C9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76700"/>
            <a:ext cx="3905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伦理透明？</a:t>
            </a:r>
          </a:p>
        </p:txBody>
      </p:sp>
      <p:sp>
        <p:nvSpPr>
          <p:cNvPr id="18" name="p2c">
            <a:extLst xmlns:a="http://schemas.openxmlformats.org/drawingml/2006/main">
              <a:ext uri="{FF2B5EF4-FFF2-40B4-BE49-F238E27FC236}">
                <a16:creationId xmlns:a16="http://schemas.microsoft.com/office/drawing/2014/main" id="{387DA450-9F34-4744-9650-5BB7936D1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同伴评审检查的是论证是否成立，不是外观是否完整。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本课形成四项第 16 课直接输入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3n0">
            <a:extLst xmlns:a="http://schemas.openxmlformats.org/drawingml/2006/main">
              <a:ext uri="{FF2B5EF4-FFF2-40B4-BE49-F238E27FC236}">
                <a16:creationId xmlns:a16="http://schemas.microsoft.com/office/drawing/2014/main" id="{A2E77697-9C4D-4642-A594-BC8C61BB4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668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3a0">
            <a:extLst xmlns:a="http://schemas.openxmlformats.org/drawingml/2006/main">
              <a:ext uri="{FF2B5EF4-FFF2-40B4-BE49-F238E27FC236}">
                <a16:creationId xmlns:a16="http://schemas.microsoft.com/office/drawing/2014/main" id="{7D3025FF-C7FE-4460-8767-8351106FB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066800"/>
            <a:ext cx="2133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同行三问</a:t>
            </a:r>
          </a:p>
        </p:txBody>
      </p:sp>
      <p:sp>
        <p:nvSpPr>
          <p:cNvPr id="8" name="p3b0">
            <a:extLst xmlns:a="http://schemas.openxmlformats.org/drawingml/2006/main">
              <a:ext uri="{FF2B5EF4-FFF2-40B4-BE49-F238E27FC236}">
                <a16:creationId xmlns:a16="http://schemas.microsoft.com/office/drawing/2014/main" id="{913735F8-6443-4C70-8483-E24EF3DE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066800"/>
            <a:ext cx="4724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 1 位固定同伴 + 收 1 位三问</a:t>
            </a:r>
          </a:p>
        </p:txBody>
      </p:sp>
      <p:sp>
        <p:nvSpPr>
          <p:cNvPr id="9" name="p3c0">
            <a:extLst xmlns:a="http://schemas.openxmlformats.org/drawingml/2006/main">
              <a:ext uri="{FF2B5EF4-FFF2-40B4-BE49-F238E27FC236}">
                <a16:creationId xmlns:a16="http://schemas.microsoft.com/office/drawing/2014/main" id="{0F22E363-22F4-451A-B443-C789F4B5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066800"/>
            <a:ext cx="3086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800" b="1">
                <a:solidFill>
                  <a:srgbClr val="667684"/>
                </a:solidFill>
              </a:defRPr>
            </a:pPr>
            <a:r>
              <a:rPr sz="1800" b="1">
                <a:solidFill>
                  <a:srgbClr val="667684"/>
                </a:solidFill>
                <a:latin typeface="Consolas"/>
                <a:ea typeface="Consolas"/>
                <a:cs typeface="Consolas"/>
              </a:rPr>
              <a:t>peer-review.md</a:t>
            </a:r>
          </a:p>
        </p:txBody>
      </p:sp>
      <p:sp>
        <p:nvSpPr>
          <p:cNvPr id="10" name="p3n1">
            <a:extLst xmlns:a="http://schemas.openxmlformats.org/drawingml/2006/main">
              <a:ext uri="{FF2B5EF4-FFF2-40B4-BE49-F238E27FC236}">
                <a16:creationId xmlns:a16="http://schemas.microsoft.com/office/drawing/2014/main" id="{07647864-B373-4BEF-BC7F-DE297D6C6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19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p3a1">
            <a:extLst xmlns:a="http://schemas.openxmlformats.org/drawingml/2006/main">
              <a:ext uri="{FF2B5EF4-FFF2-40B4-BE49-F238E27FC236}">
                <a16:creationId xmlns:a16="http://schemas.microsoft.com/office/drawing/2014/main" id="{91862042-0353-48D2-8A13-FF20D880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19300"/>
            <a:ext cx="2133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作者回应</a:t>
            </a:r>
          </a:p>
        </p:txBody>
      </p:sp>
      <p:sp>
        <p:nvSpPr>
          <p:cNvPr id="12" name="p3b1">
            <a:extLst xmlns:a="http://schemas.openxmlformats.org/drawingml/2006/main">
              <a:ext uri="{FF2B5EF4-FFF2-40B4-BE49-F238E27FC236}">
                <a16:creationId xmlns:a16="http://schemas.microsoft.com/office/drawing/2014/main" id="{B1349974-0D81-4481-A3A9-5916F955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019300"/>
            <a:ext cx="4724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≥2 条六字段；含 1 采纳 + 1 其他</a:t>
            </a:r>
          </a:p>
        </p:txBody>
      </p:sp>
      <p:sp>
        <p:nvSpPr>
          <p:cNvPr id="13" name="p3c1">
            <a:extLst xmlns:a="http://schemas.openxmlformats.org/drawingml/2006/main">
              <a:ext uri="{FF2B5EF4-FFF2-40B4-BE49-F238E27FC236}">
                <a16:creationId xmlns:a16="http://schemas.microsoft.com/office/drawing/2014/main" id="{D03668F8-9FD6-4DAD-A24D-D70A95522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19300"/>
            <a:ext cx="3086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800" b="1">
                <a:solidFill>
                  <a:srgbClr val="667684"/>
                </a:solidFill>
              </a:defRPr>
            </a:pPr>
            <a:r>
              <a:rPr sz="1800" b="1">
                <a:solidFill>
                  <a:srgbClr val="667684"/>
                </a:solidFill>
                <a:latin typeface="Consolas"/>
                <a:ea typeface="Consolas"/>
                <a:cs typeface="Consolas"/>
              </a:rPr>
              <a:t>peer-review.md</a:t>
            </a:r>
          </a:p>
        </p:txBody>
      </p:sp>
      <p:sp>
        <p:nvSpPr>
          <p:cNvPr id="14" name="p3n2">
            <a:extLst xmlns:a="http://schemas.openxmlformats.org/drawingml/2006/main">
              <a:ext uri="{FF2B5EF4-FFF2-40B4-BE49-F238E27FC236}">
                <a16:creationId xmlns:a16="http://schemas.microsoft.com/office/drawing/2014/main" id="{59CBE6F1-FFD1-4545-B3DF-058F2BE3F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718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p3a2">
            <a:extLst xmlns:a="http://schemas.openxmlformats.org/drawingml/2006/main">
              <a:ext uri="{FF2B5EF4-FFF2-40B4-BE49-F238E27FC236}">
                <a16:creationId xmlns:a16="http://schemas.microsoft.com/office/drawing/2014/main" id="{428E3085-8AC8-401D-996A-16242DC3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71800"/>
            <a:ext cx="2133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修改优先级</a:t>
            </a:r>
          </a:p>
        </p:txBody>
      </p:sp>
      <p:sp>
        <p:nvSpPr>
          <p:cNvPr id="16" name="p3b2">
            <a:extLst xmlns:a="http://schemas.openxmlformats.org/drawingml/2006/main">
              <a:ext uri="{FF2B5EF4-FFF2-40B4-BE49-F238E27FC236}">
                <a16:creationId xmlns:a16="http://schemas.microsoft.com/office/drawing/2014/main" id="{B564CA60-6AAF-484B-A3C3-8483F033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971800"/>
            <a:ext cx="4724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致命 / 重要 / 表达；写工件与时限</a:t>
            </a:r>
          </a:p>
        </p:txBody>
      </p:sp>
      <p:sp>
        <p:nvSpPr>
          <p:cNvPr id="17" name="p3c2">
            <a:extLst xmlns:a="http://schemas.openxmlformats.org/drawingml/2006/main">
              <a:ext uri="{FF2B5EF4-FFF2-40B4-BE49-F238E27FC236}">
                <a16:creationId xmlns:a16="http://schemas.microsoft.com/office/drawing/2014/main" id="{40FACBA4-219B-4B20-A285-2D11CF3C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971800"/>
            <a:ext cx="3086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800" b="1">
                <a:solidFill>
                  <a:srgbClr val="667684"/>
                </a:solidFill>
              </a:defRPr>
            </a:pPr>
            <a:r>
              <a:rPr sz="1800" b="1">
                <a:solidFill>
                  <a:srgbClr val="667684"/>
                </a:solidFill>
                <a:latin typeface="Consolas"/>
                <a:ea typeface="Consolas"/>
                <a:cs typeface="Consolas"/>
              </a:rPr>
              <a:t>revision-plan.md</a:t>
            </a:r>
          </a:p>
        </p:txBody>
      </p:sp>
      <p:sp>
        <p:nvSpPr>
          <p:cNvPr id="18" name="p3n3">
            <a:extLst xmlns:a="http://schemas.openxmlformats.org/drawingml/2006/main">
              <a:ext uri="{FF2B5EF4-FFF2-40B4-BE49-F238E27FC236}">
                <a16:creationId xmlns:a16="http://schemas.microsoft.com/office/drawing/2014/main" id="{9A7EF6B5-A6C2-42FB-A05A-D9CEAB24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p3a3">
            <a:extLst xmlns:a="http://schemas.openxmlformats.org/drawingml/2006/main">
              <a:ext uri="{FF2B5EF4-FFF2-40B4-BE49-F238E27FC236}">
                <a16:creationId xmlns:a16="http://schemas.microsoft.com/office/drawing/2014/main" id="{9197D2CE-C8A5-4A8E-B44D-9E3E48DC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24300"/>
            <a:ext cx="2133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预检缺口</a:t>
            </a:r>
          </a:p>
        </p:txBody>
      </p:sp>
      <p:sp>
        <p:nvSpPr>
          <p:cNvPr id="20" name="p3b3">
            <a:extLst xmlns:a="http://schemas.openxmlformats.org/drawingml/2006/main">
              <a:ext uri="{FF2B5EF4-FFF2-40B4-BE49-F238E27FC236}">
                <a16:creationId xmlns:a16="http://schemas.microsoft.com/office/drawing/2014/main" id="{67F369F8-E1EF-4351-AF18-08F6F3768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924300"/>
            <a:ext cx="4724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Checkpoint 4：满足 / 部分 / 未覆盖</a:t>
            </a:r>
          </a:p>
        </p:txBody>
      </p:sp>
      <p:sp>
        <p:nvSpPr>
          <p:cNvPr id="21" name="p3c3">
            <a:extLst xmlns:a="http://schemas.openxmlformats.org/drawingml/2006/main">
              <a:ext uri="{FF2B5EF4-FFF2-40B4-BE49-F238E27FC236}">
                <a16:creationId xmlns:a16="http://schemas.microsoft.com/office/drawing/2014/main" id="{E6816DF0-FD12-4E83-A77F-1E2F4BDC0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924300"/>
            <a:ext cx="3086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Consolas"/>
                <a:ea typeface="Consolas"/>
                <a:cs typeface="Consolas"/>
              </a:rPr>
              <a:t>revision-plan.md</a:t>
            </a:r>
          </a:p>
        </p:txBody>
      </p:sp>
      <p:sp>
        <p:nvSpPr>
          <p:cNvPr id="22" name="p3c0">
            <a:extLst xmlns:a="http://schemas.openxmlformats.org/drawingml/2006/main">
              <a:ext uri="{FF2B5EF4-FFF2-40B4-BE49-F238E27FC236}">
                <a16:creationId xmlns:a16="http://schemas.microsoft.com/office/drawing/2014/main" id="{D9673625-CFBB-4B41-BDFF-EB8AE9685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6730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本课不正式提交；两个工件在第 16 课统一检查。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校准不是统一分数，而是统一严重程度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lab">
            <a:extLst xmlns:a="http://schemas.openxmlformats.org/drawingml/2006/main">
              <a:ext uri="{FF2B5EF4-FFF2-40B4-BE49-F238E27FC236}">
                <a16:creationId xmlns:a16="http://schemas.microsoft.com/office/drawing/2014/main" id="{7C71893D-290D-4DB3-AFA1-79E80AA0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781050"/>
            <a:ext cx="4610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125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教师构造虚构样例｜非真实学生材料</a:t>
            </a:r>
          </a:p>
        </p:txBody>
      </p:sp>
      <p:sp>
        <p:nvSpPr>
          <p:cNvPr id="7" name="sample">
            <a:extLst xmlns:a="http://schemas.openxmlformats.org/drawingml/2006/main">
              <a:ext uri="{FF2B5EF4-FFF2-40B4-BE49-F238E27FC236}">
                <a16:creationId xmlns:a16="http://schemas.microsoft.com/office/drawing/2014/main" id="{C7EBBF17-8A68-40B3-8534-495BA392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85900"/>
            <a:ext cx="6667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“结果表显示方法优于 baseline，因此机制得到证明。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未给实验 ID；局限段只写‘仍有不足’；图注单位不一致。”</a:t>
            </a:r>
          </a:p>
        </p:txBody>
      </p:sp>
      <p:sp>
        <p:nvSpPr>
          <p:cNvPr id="8" name="p4a0">
            <a:extLst xmlns:a="http://schemas.openxmlformats.org/drawingml/2006/main">
              <a:ext uri="{FF2B5EF4-FFF2-40B4-BE49-F238E27FC236}">
                <a16:creationId xmlns:a16="http://schemas.microsoft.com/office/drawing/2014/main" id="{25EE5E2C-661E-44CF-B5D2-3EA773E1A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47800"/>
            <a:ext cx="1257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致命</a:t>
            </a:r>
          </a:p>
        </p:txBody>
      </p:sp>
      <p:sp>
        <p:nvSpPr>
          <p:cNvPr id="9" name="p4b0">
            <a:extLst xmlns:a="http://schemas.openxmlformats.org/drawingml/2006/main">
              <a:ext uri="{FF2B5EF4-FFF2-40B4-BE49-F238E27FC236}">
                <a16:creationId xmlns:a16="http://schemas.microsoft.com/office/drawing/2014/main" id="{C8E66609-1C20-4E82-8AE4-0723F230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44780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结果不可追溯</a:t>
            </a:r>
          </a:p>
        </p:txBody>
      </p:sp>
      <p:sp>
        <p:nvSpPr>
          <p:cNvPr id="10" name="p4a1">
            <a:extLst xmlns:a="http://schemas.openxmlformats.org/drawingml/2006/main">
              <a:ext uri="{FF2B5EF4-FFF2-40B4-BE49-F238E27FC236}">
                <a16:creationId xmlns:a16="http://schemas.microsoft.com/office/drawing/2014/main" id="{0ECC26BE-8914-418C-B0F0-7A09FFBF7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438400"/>
            <a:ext cx="1257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重要</a:t>
            </a:r>
          </a:p>
        </p:txBody>
      </p:sp>
      <p:sp>
        <p:nvSpPr>
          <p:cNvPr id="11" name="p4b1">
            <a:extLst xmlns:a="http://schemas.openxmlformats.org/drawingml/2006/main">
              <a:ext uri="{FF2B5EF4-FFF2-40B4-BE49-F238E27FC236}">
                <a16:creationId xmlns:a16="http://schemas.microsoft.com/office/drawing/2014/main" id="{69512867-63D4-4ECA-B3E0-030802B6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3840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A86C12"/>
                </a:solidFill>
              </a:defRPr>
            </a:pPr>
            <a:r>
              <a:rPr sz="13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局限未具体披露</a:t>
            </a:r>
          </a:p>
        </p:txBody>
      </p:sp>
      <p:sp>
        <p:nvSpPr>
          <p:cNvPr id="12" name="p4a2">
            <a:extLst xmlns:a="http://schemas.openxmlformats.org/drawingml/2006/main">
              <a:ext uri="{FF2B5EF4-FFF2-40B4-BE49-F238E27FC236}">
                <a16:creationId xmlns:a16="http://schemas.microsoft.com/office/drawing/2014/main" id="{1916B36B-AE53-463E-9044-E0373CEB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29000"/>
            <a:ext cx="1257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表达</a:t>
            </a:r>
          </a:p>
        </p:txBody>
      </p:sp>
      <p:sp>
        <p:nvSpPr>
          <p:cNvPr id="13" name="p4b2">
            <a:extLst xmlns:a="http://schemas.openxmlformats.org/drawingml/2006/main">
              <a:ext uri="{FF2B5EF4-FFF2-40B4-BE49-F238E27FC236}">
                <a16:creationId xmlns:a16="http://schemas.microsoft.com/office/drawing/2014/main" id="{C8133FA9-CDDE-49D8-9765-DB4EC8D47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42900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图注单位不一致</a:t>
            </a:r>
          </a:p>
        </p:txBody>
      </p:sp>
      <p:sp>
        <p:nvSpPr>
          <p:cNvPr id="14" name="p4c">
            <a:extLst xmlns:a="http://schemas.openxmlformats.org/drawingml/2006/main">
              <a:ext uri="{FF2B5EF4-FFF2-40B4-BE49-F238E27FC236}">
                <a16:creationId xmlns:a16="http://schemas.microsoft.com/office/drawing/2014/main" id="{FAA83B1D-65F5-463E-BD75-7FE0B24DE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6250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校准严重程度，不校准观点；样例不对应任何真实学生。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五维度 rubric 只诊断，不排名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50a">
            <a:extLst xmlns:a="http://schemas.openxmlformats.org/drawingml/2006/main">
              <a:ext uri="{FF2B5EF4-FFF2-40B4-BE49-F238E27FC236}">
                <a16:creationId xmlns:a16="http://schemas.microsoft.com/office/drawing/2014/main" id="{A22890B8-0EFB-48BA-947D-234D88D50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6573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论证链</a:t>
            </a:r>
          </a:p>
        </p:txBody>
      </p:sp>
      <p:sp>
        <p:nvSpPr>
          <p:cNvPr id="7" name="p50b">
            <a:extLst xmlns:a="http://schemas.openxmlformats.org/drawingml/2006/main">
              <a:ext uri="{FF2B5EF4-FFF2-40B4-BE49-F238E27FC236}">
                <a16:creationId xmlns:a16="http://schemas.microsoft.com/office/drawing/2014/main" id="{BAD59614-8C06-445A-A9C7-2D00976C6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990600"/>
            <a:ext cx="904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主张→证据→推理→边界；可反向追溯</a:t>
            </a:r>
          </a:p>
        </p:txBody>
      </p:sp>
      <p:sp>
        <p:nvSpPr>
          <p:cNvPr id="8" name="p51a">
            <a:extLst xmlns:a="http://schemas.openxmlformats.org/drawingml/2006/main">
              <a:ext uri="{FF2B5EF4-FFF2-40B4-BE49-F238E27FC236}">
                <a16:creationId xmlns:a16="http://schemas.microsoft.com/office/drawing/2014/main" id="{31795B3C-45E8-48CD-BBF3-11FF2713C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6573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证据充分</a:t>
            </a:r>
          </a:p>
        </p:txBody>
      </p:sp>
      <p:sp>
        <p:nvSpPr>
          <p:cNvPr id="9" name="p51b">
            <a:extLst xmlns:a="http://schemas.openxmlformats.org/drawingml/2006/main">
              <a:ext uri="{FF2B5EF4-FFF2-40B4-BE49-F238E27FC236}">
                <a16:creationId xmlns:a16="http://schemas.microsoft.com/office/drawing/2014/main" id="{3FD159AA-D1BF-4B01-AF8E-544F9449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71650"/>
            <a:ext cx="904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直接证据；冲突、失败与负向结果均保留</a:t>
            </a:r>
          </a:p>
        </p:txBody>
      </p:sp>
      <p:sp>
        <p:nvSpPr>
          <p:cNvPr id="10" name="p52a">
            <a:extLst xmlns:a="http://schemas.openxmlformats.org/drawingml/2006/main">
              <a:ext uri="{FF2B5EF4-FFF2-40B4-BE49-F238E27FC236}">
                <a16:creationId xmlns:a16="http://schemas.microsoft.com/office/drawing/2014/main" id="{F9362C93-1604-4B60-90E7-56A192598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6573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局限披露</a:t>
            </a:r>
          </a:p>
        </p:txBody>
      </p:sp>
      <p:sp>
        <p:nvSpPr>
          <p:cNvPr id="11" name="p52b">
            <a:extLst xmlns:a="http://schemas.openxmlformats.org/drawingml/2006/main">
              <a:ext uri="{FF2B5EF4-FFF2-40B4-BE49-F238E27FC236}">
                <a16:creationId xmlns:a16="http://schemas.microsoft.com/office/drawing/2014/main" id="{18959AF3-5B85-4230-8AA5-9542EE345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52700"/>
            <a:ext cx="904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威胁 + 失败根因 + 不适用边界</a:t>
            </a:r>
          </a:p>
        </p:txBody>
      </p:sp>
      <p:sp>
        <p:nvSpPr>
          <p:cNvPr id="12" name="p53a">
            <a:extLst xmlns:a="http://schemas.openxmlformats.org/drawingml/2006/main">
              <a:ext uri="{FF2B5EF4-FFF2-40B4-BE49-F238E27FC236}">
                <a16:creationId xmlns:a16="http://schemas.microsoft.com/office/drawing/2014/main" id="{25607918-4277-4C60-BD20-7014125E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6573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可复现</a:t>
            </a:r>
          </a:p>
        </p:txBody>
      </p:sp>
      <p:sp>
        <p:nvSpPr>
          <p:cNvPr id="13" name="p53b">
            <a:extLst xmlns:a="http://schemas.openxmlformats.org/drawingml/2006/main">
              <a:ext uri="{FF2B5EF4-FFF2-40B4-BE49-F238E27FC236}">
                <a16:creationId xmlns:a16="http://schemas.microsoft.com/office/drawing/2014/main" id="{5139B46C-5E75-43FA-9438-2980B369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333750"/>
            <a:ext cx="904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表图回到证据项、实验 ID 或 workflow trace</a:t>
            </a:r>
          </a:p>
        </p:txBody>
      </p:sp>
      <p:sp>
        <p:nvSpPr>
          <p:cNvPr id="14" name="p54a">
            <a:extLst xmlns:a="http://schemas.openxmlformats.org/drawingml/2006/main">
              <a:ext uri="{FF2B5EF4-FFF2-40B4-BE49-F238E27FC236}">
                <a16:creationId xmlns:a16="http://schemas.microsoft.com/office/drawing/2014/main" id="{F15A3F2B-617E-438B-A71E-CDB99F7BE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6573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伦理</a:t>
            </a:r>
          </a:p>
        </p:txBody>
      </p:sp>
      <p:sp>
        <p:nvSpPr>
          <p:cNvPr id="15" name="p54b">
            <a:extLst xmlns:a="http://schemas.openxmlformats.org/drawingml/2006/main">
              <a:ext uri="{FF2B5EF4-FFF2-40B4-BE49-F238E27FC236}">
                <a16:creationId xmlns:a16="http://schemas.microsoft.com/office/drawing/2014/main" id="{F115C85E-6773-4C71-9B5A-F5CE66360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114800"/>
            <a:ext cx="904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AI、数据许可、隐私、贡献、权限透明</a:t>
            </a:r>
          </a:p>
        </p:txBody>
      </p:sp>
      <p:sp>
        <p:nvSpPr>
          <p:cNvPr id="16" name="p5c">
            <a:extLst xmlns:a="http://schemas.openxmlformats.org/drawingml/2006/main">
              <a:ext uri="{FF2B5EF4-FFF2-40B4-BE49-F238E27FC236}">
                <a16:creationId xmlns:a16="http://schemas.microsoft.com/office/drawing/2014/main" id="{513966B8-AAB4-4D7F-98D0-CD78CF2E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rubric 是 Checkpoint 4 的诊断镜头，不是评分表，也不给排名。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三问必须指向工作中的具体条目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h1">
            <a:extLst xmlns:a="http://schemas.openxmlformats.org/drawingml/2006/main">
              <a:ext uri="{FF2B5EF4-FFF2-40B4-BE49-F238E27FC236}">
                <a16:creationId xmlns:a16="http://schemas.microsoft.com/office/drawing/2014/main" id="{FF6980EC-DA2C-4B67-AB24-085ED0F5D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445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三问</a:t>
            </a:r>
          </a:p>
        </p:txBody>
      </p:sp>
      <p:sp>
        <p:nvSpPr>
          <p:cNvPr id="7" name="p6q0a">
            <a:extLst xmlns:a="http://schemas.openxmlformats.org/drawingml/2006/main">
              <a:ext uri="{FF2B5EF4-FFF2-40B4-BE49-F238E27FC236}">
                <a16:creationId xmlns:a16="http://schemas.microsoft.com/office/drawing/2014/main" id="{2B3678F2-A27F-40CB-BE1B-8CB32D22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533400" cy="5905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p6q0b">
            <a:extLst xmlns:a="http://schemas.openxmlformats.org/drawingml/2006/main">
              <a:ext uri="{FF2B5EF4-FFF2-40B4-BE49-F238E27FC236}">
                <a16:creationId xmlns:a16="http://schemas.microsoft.com/office/drawing/2014/main" id="{5ADCC2DE-B769-4251-B847-ADD200E1D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695450"/>
            <a:ext cx="3810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一项最强处｜落在五维度</a:t>
            </a:r>
          </a:p>
        </p:txBody>
      </p:sp>
      <p:sp>
        <p:nvSpPr>
          <p:cNvPr id="9" name="p6q1a">
            <a:extLst xmlns:a="http://schemas.openxmlformats.org/drawingml/2006/main">
              <a:ext uri="{FF2B5EF4-FFF2-40B4-BE49-F238E27FC236}">
                <a16:creationId xmlns:a16="http://schemas.microsoft.com/office/drawing/2014/main" id="{C679DE03-6DDF-4A79-A7F5-BDCCE3F6A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9850"/>
            <a:ext cx="533400" cy="5905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p6q1b">
            <a:extLst xmlns:a="http://schemas.openxmlformats.org/drawingml/2006/main">
              <a:ext uri="{FF2B5EF4-FFF2-40B4-BE49-F238E27FC236}">
                <a16:creationId xmlns:a16="http://schemas.microsoft.com/office/drawing/2014/main" id="{ADF492D5-9E1A-4A52-9FA2-243E05704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09850"/>
            <a:ext cx="3810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一项最大风险｜可能挡住论证门</a:t>
            </a:r>
          </a:p>
        </p:txBody>
      </p:sp>
      <p:sp>
        <p:nvSpPr>
          <p:cNvPr id="11" name="p6q2a">
            <a:extLst xmlns:a="http://schemas.openxmlformats.org/drawingml/2006/main">
              <a:ext uri="{FF2B5EF4-FFF2-40B4-BE49-F238E27FC236}">
                <a16:creationId xmlns:a16="http://schemas.microsoft.com/office/drawing/2014/main" id="{ECE6CC96-F2E1-4393-8174-D4D33F43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0"/>
            <a:ext cx="533400" cy="5905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2" name="p6q2b">
            <a:extLst xmlns:a="http://schemas.openxmlformats.org/drawingml/2006/main">
              <a:ext uri="{FF2B5EF4-FFF2-40B4-BE49-F238E27FC236}">
                <a16:creationId xmlns:a16="http://schemas.microsoft.com/office/drawing/2014/main" id="{8AC176B4-0923-4508-9592-0412559F8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24250"/>
            <a:ext cx="3810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一条可执行建议｜第16课前最小动作</a:t>
            </a:r>
          </a:p>
        </p:txBody>
      </p:sp>
      <p:sp>
        <p:nvSpPr>
          <p:cNvPr id="13" name="p6mid">
            <a:extLst xmlns:a="http://schemas.openxmlformats.org/drawingml/2006/main">
              <a:ext uri="{FF2B5EF4-FFF2-40B4-BE49-F238E27FC236}">
                <a16:creationId xmlns:a16="http://schemas.microsoft.com/office/drawing/2014/main" id="{785ADA0F-1C69-4851-8621-59E47597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429125" y="2724150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h2">
            <a:extLst xmlns:a="http://schemas.openxmlformats.org/drawingml/2006/main">
              <a:ext uri="{FF2B5EF4-FFF2-40B4-BE49-F238E27FC236}">
                <a16:creationId xmlns:a16="http://schemas.microsoft.com/office/drawing/2014/main" id="{C56DC3B2-C708-4E66-A135-6BD056AA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990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评审者边界</a:t>
            </a:r>
          </a:p>
        </p:txBody>
      </p:sp>
      <p:sp>
        <p:nvSpPr>
          <p:cNvPr id="15" name="p6b0a">
            <a:extLst xmlns:a="http://schemas.openxmlformats.org/drawingml/2006/main">
              <a:ext uri="{FF2B5EF4-FFF2-40B4-BE49-F238E27FC236}">
                <a16:creationId xmlns:a16="http://schemas.microsoft.com/office/drawing/2014/main" id="{A34228B2-7933-409C-882C-FC656BCA7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638300"/>
            <a:ext cx="495300" cy="5143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6" name="p6b0b">
            <a:extLst xmlns:a="http://schemas.openxmlformats.org/drawingml/2006/main">
              <a:ext uri="{FF2B5EF4-FFF2-40B4-BE49-F238E27FC236}">
                <a16:creationId xmlns:a16="http://schemas.microsoft.com/office/drawing/2014/main" id="{DC5A0E69-E698-4D16-BCD3-9371F8B29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638300"/>
            <a:ext cx="3924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指向工作，不指向人</a:t>
            </a:r>
          </a:p>
        </p:txBody>
      </p:sp>
      <p:sp>
        <p:nvSpPr>
          <p:cNvPr id="17" name="p6b1a">
            <a:extLst xmlns:a="http://schemas.openxmlformats.org/drawingml/2006/main">
              <a:ext uri="{FF2B5EF4-FFF2-40B4-BE49-F238E27FC236}">
                <a16:creationId xmlns:a16="http://schemas.microsoft.com/office/drawing/2014/main" id="{62D8A89A-F60E-4BB3-90AD-ED9587BA3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81250"/>
            <a:ext cx="495300" cy="5143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8" name="p6b1b">
            <a:extLst xmlns:a="http://schemas.openxmlformats.org/drawingml/2006/main">
              <a:ext uri="{FF2B5EF4-FFF2-40B4-BE49-F238E27FC236}">
                <a16:creationId xmlns:a16="http://schemas.microsoft.com/office/drawing/2014/main" id="{B94C952A-5419-45EB-AAB2-6DF8BE90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81250"/>
            <a:ext cx="3924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不替作者决定采纳什么</a:t>
            </a:r>
          </a:p>
        </p:txBody>
      </p:sp>
      <p:sp>
        <p:nvSpPr>
          <p:cNvPr id="19" name="p6b2a">
            <a:extLst xmlns:a="http://schemas.openxmlformats.org/drawingml/2006/main">
              <a:ext uri="{FF2B5EF4-FFF2-40B4-BE49-F238E27FC236}">
                <a16:creationId xmlns:a16="http://schemas.microsoft.com/office/drawing/2014/main" id="{AB3AC1AD-48E5-4B97-B5D7-53052B9AC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24200"/>
            <a:ext cx="495300" cy="5143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0" name="p6b2b">
            <a:extLst xmlns:a="http://schemas.openxmlformats.org/drawingml/2006/main">
              <a:ext uri="{FF2B5EF4-FFF2-40B4-BE49-F238E27FC236}">
                <a16:creationId xmlns:a16="http://schemas.microsoft.com/office/drawing/2014/main" id="{AF47485B-311B-45C3-A297-14BD9275D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24200"/>
            <a:ext cx="3924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不给题目时髦度或个人排名</a:t>
            </a:r>
          </a:p>
        </p:txBody>
      </p:sp>
      <p:sp>
        <p:nvSpPr>
          <p:cNvPr id="21" name="p6b3a">
            <a:extLst xmlns:a="http://schemas.openxmlformats.org/drawingml/2006/main">
              <a:ext uri="{FF2B5EF4-FFF2-40B4-BE49-F238E27FC236}">
                <a16:creationId xmlns:a16="http://schemas.microsoft.com/office/drawing/2014/main" id="{4DB87AC5-C148-4112-80B2-60DD1A42A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67150"/>
            <a:ext cx="495300" cy="5143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2" name="p6b3b">
            <a:extLst xmlns:a="http://schemas.openxmlformats.org/drawingml/2006/main">
              <a:ext uri="{FF2B5EF4-FFF2-40B4-BE49-F238E27FC236}">
                <a16:creationId xmlns:a16="http://schemas.microsoft.com/office/drawing/2014/main" id="{9AD3D30D-1BEF-4454-A4A5-BE857DD4C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867150"/>
            <a:ext cx="3924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区分致命 / 重要 / 表达</a:t>
            </a:r>
          </a:p>
        </p:txBody>
      </p:sp>
      <p:sp>
        <p:nvSpPr>
          <p:cNvPr id="23" name="p6c">
            <a:extLst xmlns:a="http://schemas.openxmlformats.org/drawingml/2006/main">
              <a:ext uri="{FF2B5EF4-FFF2-40B4-BE49-F238E27FC236}">
                <a16:creationId xmlns:a16="http://schemas.microsoft.com/office/drawing/2014/main" id="{8E7F05BC-3664-4A42-A48F-0A287EA10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482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“论证不严谨”不是评审；必须指向具体段落、风险与可执行动作。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评审意见要进入四类回应与三级优先级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7a0">
            <a:extLst xmlns:a="http://schemas.openxmlformats.org/drawingml/2006/main">
              <a:ext uri="{FF2B5EF4-FFF2-40B4-BE49-F238E27FC236}">
                <a16:creationId xmlns:a16="http://schemas.microsoft.com/office/drawing/2014/main" id="{8A204E0F-0AB7-44F6-B34B-498AB3F4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238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采纳</a:t>
            </a:r>
          </a:p>
        </p:txBody>
      </p:sp>
      <p:sp>
        <p:nvSpPr>
          <p:cNvPr id="7" name="p7b0">
            <a:extLst xmlns:a="http://schemas.openxmlformats.org/drawingml/2006/main">
              <a:ext uri="{FF2B5EF4-FFF2-40B4-BE49-F238E27FC236}">
                <a16:creationId xmlns:a16="http://schemas.microsoft.com/office/drawing/2014/main" id="{2DDCD5CF-F3E4-410B-B20D-4D2CED65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06680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缺陷成立，做最小修改</a:t>
            </a:r>
          </a:p>
        </p:txBody>
      </p:sp>
      <p:sp>
        <p:nvSpPr>
          <p:cNvPr id="8" name="p7a1">
            <a:extLst xmlns:a="http://schemas.openxmlformats.org/drawingml/2006/main">
              <a:ext uri="{FF2B5EF4-FFF2-40B4-BE49-F238E27FC236}">
                <a16:creationId xmlns:a16="http://schemas.microsoft.com/office/drawing/2014/main" id="{F40B0FDC-6A94-44C4-91A0-78B44B0F6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85950"/>
            <a:ext cx="1238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澄清</a:t>
            </a:r>
          </a:p>
        </p:txBody>
      </p:sp>
      <p:sp>
        <p:nvSpPr>
          <p:cNvPr id="9" name="p7b1">
            <a:extLst xmlns:a="http://schemas.openxmlformats.org/drawingml/2006/main">
              <a:ext uri="{FF2B5EF4-FFF2-40B4-BE49-F238E27FC236}">
                <a16:creationId xmlns:a16="http://schemas.microsoft.com/office/drawing/2014/main" id="{85F1E0AD-12D1-42DE-97C0-90049B8C9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88595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已处理但表达不清</a:t>
            </a:r>
          </a:p>
        </p:txBody>
      </p:sp>
      <p:sp>
        <p:nvSpPr>
          <p:cNvPr id="10" name="p7a2">
            <a:extLst xmlns:a="http://schemas.openxmlformats.org/drawingml/2006/main">
              <a:ext uri="{FF2B5EF4-FFF2-40B4-BE49-F238E27FC236}">
                <a16:creationId xmlns:a16="http://schemas.microsoft.com/office/drawing/2014/main" id="{CB418BBB-867D-4D07-B76C-2095FB1A9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05100"/>
            <a:ext cx="1238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补证</a:t>
            </a:r>
          </a:p>
        </p:txBody>
      </p:sp>
      <p:sp>
        <p:nvSpPr>
          <p:cNvPr id="11" name="p7b2">
            <a:extLst xmlns:a="http://schemas.openxmlformats.org/drawingml/2006/main">
              <a:ext uri="{FF2B5EF4-FFF2-40B4-BE49-F238E27FC236}">
                <a16:creationId xmlns:a16="http://schemas.microsoft.com/office/drawing/2014/main" id="{D590377B-208B-4C80-B8ED-A6CC736E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70510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缺口可能成立，标待验证</a:t>
            </a:r>
          </a:p>
        </p:txBody>
      </p:sp>
      <p:sp>
        <p:nvSpPr>
          <p:cNvPr id="12" name="p7a3">
            <a:extLst xmlns:a="http://schemas.openxmlformats.org/drawingml/2006/main">
              <a:ext uri="{FF2B5EF4-FFF2-40B4-BE49-F238E27FC236}">
                <a16:creationId xmlns:a16="http://schemas.microsoft.com/office/drawing/2014/main" id="{F48A82B5-3A43-40E9-8E29-8F157D3D5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24250"/>
            <a:ext cx="1238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保留异议</a:t>
            </a:r>
          </a:p>
        </p:txBody>
      </p:sp>
      <p:sp>
        <p:nvSpPr>
          <p:cNvPr id="13" name="p7b3">
            <a:extLst xmlns:a="http://schemas.openxmlformats.org/drawingml/2006/main">
              <a:ext uri="{FF2B5EF4-FFF2-40B4-BE49-F238E27FC236}">
                <a16:creationId xmlns:a16="http://schemas.microsoft.com/office/drawing/2014/main" id="{F07EAD36-8D0E-419A-A2EF-B11B6AFD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52425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不采纳；写证据与约束</a:t>
            </a:r>
          </a:p>
        </p:txBody>
      </p:sp>
      <p:sp>
        <p:nvSpPr>
          <p:cNvPr id="14" name="p7arr">
            <a:extLst xmlns:a="http://schemas.openxmlformats.org/drawingml/2006/main">
              <a:ext uri="{FF2B5EF4-FFF2-40B4-BE49-F238E27FC236}">
                <a16:creationId xmlns:a16="http://schemas.microsoft.com/office/drawing/2014/main" id="{5AA0F92A-D3EC-4178-9D2F-71556DA1B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28600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5" name="p7fields">
            <a:extLst xmlns:a="http://schemas.openxmlformats.org/drawingml/2006/main">
              <a:ext uri="{FF2B5EF4-FFF2-40B4-BE49-F238E27FC236}">
                <a16:creationId xmlns:a16="http://schemas.microsoft.com/office/drawing/2014/main" id="{CD0332DC-47C9-4418-88B9-B49C9026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104900"/>
            <a:ext cx="5048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六字段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回应类别｜取舍理由｜适用边界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依据｜待验证状态｜影响工件</a:t>
            </a:r>
          </a:p>
        </p:txBody>
      </p:sp>
      <p:sp>
        <p:nvSpPr>
          <p:cNvPr id="16" name="p7p0">
            <a:extLst xmlns:a="http://schemas.openxmlformats.org/drawingml/2006/main">
              <a:ext uri="{FF2B5EF4-FFF2-40B4-BE49-F238E27FC236}">
                <a16:creationId xmlns:a16="http://schemas.microsoft.com/office/drawing/2014/main" id="{23FF8369-B497-4BD2-8F50-AFBAEB370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95600"/>
            <a:ext cx="11049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致命</a:t>
            </a:r>
          </a:p>
        </p:txBody>
      </p:sp>
      <p:sp>
        <p:nvSpPr>
          <p:cNvPr id="17" name="p7d0">
            <a:extLst xmlns:a="http://schemas.openxmlformats.org/drawingml/2006/main">
              <a:ext uri="{FF2B5EF4-FFF2-40B4-BE49-F238E27FC236}">
                <a16:creationId xmlns:a16="http://schemas.microsoft.com/office/drawing/2014/main" id="{1E8706B9-8683-4A1A-A65F-59B3AE1D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95600"/>
            <a:ext cx="3543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不修复则不过门</a:t>
            </a:r>
          </a:p>
        </p:txBody>
      </p:sp>
      <p:sp>
        <p:nvSpPr>
          <p:cNvPr id="18" name="p7p1">
            <a:extLst xmlns:a="http://schemas.openxmlformats.org/drawingml/2006/main">
              <a:ext uri="{FF2B5EF4-FFF2-40B4-BE49-F238E27FC236}">
                <a16:creationId xmlns:a16="http://schemas.microsoft.com/office/drawing/2014/main" id="{00EB0067-3250-4738-93EF-B8DF7C409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581400"/>
            <a:ext cx="11049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重要</a:t>
            </a:r>
          </a:p>
        </p:txBody>
      </p:sp>
      <p:sp>
        <p:nvSpPr>
          <p:cNvPr id="19" name="p7d1">
            <a:extLst xmlns:a="http://schemas.openxmlformats.org/drawingml/2006/main">
              <a:ext uri="{FF2B5EF4-FFF2-40B4-BE49-F238E27FC236}">
                <a16:creationId xmlns:a16="http://schemas.microsoft.com/office/drawing/2014/main" id="{87C002E6-9E2C-406F-921F-EFB9C8F7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581400"/>
            <a:ext cx="3543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A86C12"/>
                </a:solidFill>
              </a:defRPr>
            </a:pPr>
            <a:r>
              <a:rPr sz="13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尽量修复或标待验证</a:t>
            </a:r>
          </a:p>
        </p:txBody>
      </p:sp>
      <p:sp>
        <p:nvSpPr>
          <p:cNvPr id="20" name="p7p2">
            <a:extLst xmlns:a="http://schemas.openxmlformats.org/drawingml/2006/main">
              <a:ext uri="{FF2B5EF4-FFF2-40B4-BE49-F238E27FC236}">
                <a16:creationId xmlns:a16="http://schemas.microsoft.com/office/drawing/2014/main" id="{64F894AE-8D75-414E-BAD1-DF61D9D0F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67200"/>
            <a:ext cx="11049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表达</a:t>
            </a:r>
          </a:p>
        </p:txBody>
      </p:sp>
      <p:sp>
        <p:nvSpPr>
          <p:cNvPr id="21" name="p7d2">
            <a:extLst xmlns:a="http://schemas.openxmlformats.org/drawingml/2006/main">
              <a:ext uri="{FF2B5EF4-FFF2-40B4-BE49-F238E27FC236}">
                <a16:creationId xmlns:a16="http://schemas.microsoft.com/office/drawing/2014/main" id="{58F007C3-BCAA-49B6-AE5B-151A89F7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67200"/>
            <a:ext cx="3543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展示前打磨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只能生成评审线索，不能替作者决定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8ai">
            <a:extLst xmlns:a="http://schemas.openxmlformats.org/drawingml/2006/main">
              <a:ext uri="{FF2B5EF4-FFF2-40B4-BE49-F238E27FC236}">
                <a16:creationId xmlns:a16="http://schemas.microsoft.com/office/drawing/2014/main" id="{A2956710-BA5C-4F9A-99D4-440CA393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30480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800" b="1">
                <a:solidFill>
                  <a:srgbClr val="2F638A"/>
                </a:solidFill>
              </a:defRPr>
            </a:pPr>
            <a:r>
              <a:rPr sz="180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AI 候选线索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800" b="1">
                <a:solidFill>
                  <a:srgbClr val="2F638A"/>
                </a:solidFill>
              </a:defRPr>
            </a:pPr>
            <a:r>
              <a:rPr sz="180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评审点 / 回应草案 / 一致性检查</a:t>
            </a:r>
          </a:p>
        </p:txBody>
      </p:sp>
      <p:sp>
        <p:nvSpPr>
          <p:cNvPr id="7" name="p8a">
            <a:extLst xmlns:a="http://schemas.openxmlformats.org/drawingml/2006/main">
              <a:ext uri="{FF2B5EF4-FFF2-40B4-BE49-F238E27FC236}">
                <a16:creationId xmlns:a16="http://schemas.microsoft.com/office/drawing/2014/main" id="{8DF637F1-9E8B-460E-B3BD-3DA2BDE4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94310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700" b="1">
                <a:solidFill>
                  <a:srgbClr val="C8161E"/>
                </a:solidFill>
              </a:defRPr>
            </a:pPr>
            <a:r>
              <a:rPr sz="27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p8human">
            <a:extLst xmlns:a="http://schemas.openxmlformats.org/drawingml/2006/main">
              <a:ext uri="{FF2B5EF4-FFF2-40B4-BE49-F238E27FC236}">
                <a16:creationId xmlns:a16="http://schemas.microsoft.com/office/drawing/2014/main" id="{242D3C18-A5B9-42BA-8300-A147F43EA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24000"/>
            <a:ext cx="3238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人工核验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是否对应原文？是否落在 rubric？</a:t>
            </a:r>
          </a:p>
        </p:txBody>
      </p:sp>
      <p:sp>
        <p:nvSpPr>
          <p:cNvPr id="9" name="p8b">
            <a:extLst xmlns:a="http://schemas.openxmlformats.org/drawingml/2006/main">
              <a:ext uri="{FF2B5EF4-FFF2-40B4-BE49-F238E27FC236}">
                <a16:creationId xmlns:a16="http://schemas.microsoft.com/office/drawing/2014/main" id="{F7298AD2-D7B4-48C8-BB96-B9456C348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94310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700" b="1">
                <a:solidFill>
                  <a:srgbClr val="C8161E"/>
                </a:solidFill>
              </a:defRPr>
            </a:pPr>
            <a:r>
              <a:rPr sz="27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p8out">
            <a:extLst xmlns:a="http://schemas.openxmlformats.org/drawingml/2006/main">
              <a:ext uri="{FF2B5EF4-FFF2-40B4-BE49-F238E27FC236}">
                <a16:creationId xmlns:a16="http://schemas.microsoft.com/office/drawing/2014/main" id="{D7D3C0AB-DDD5-4820-A81F-42CCFA348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714500"/>
            <a:ext cx="25908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同伴评审主格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作者回应决定</a:t>
            </a:r>
          </a:p>
        </p:txBody>
      </p:sp>
      <p:sp>
        <p:nvSpPr>
          <p:cNvPr id="11" name="p8no">
            <a:extLst xmlns:a="http://schemas.openxmlformats.org/drawingml/2006/main">
              <a:ext uri="{FF2B5EF4-FFF2-40B4-BE49-F238E27FC236}">
                <a16:creationId xmlns:a16="http://schemas.microsoft.com/office/drawing/2014/main" id="{632769FB-23AD-4851-9F81-CAF628FC5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695700"/>
            <a:ext cx="90297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不判断意见成立｜不决定四类回应｜不替代同伴进入主格</a:t>
            </a:r>
          </a:p>
        </p:txBody>
      </p:sp>
      <p:sp>
        <p:nvSpPr>
          <p:cNvPr id="12" name="p8c">
            <a:extLst xmlns:a="http://schemas.openxmlformats.org/drawingml/2006/main">
              <a:ext uri="{FF2B5EF4-FFF2-40B4-BE49-F238E27FC236}">
                <a16:creationId xmlns:a16="http://schemas.microsoft.com/office/drawing/2014/main" id="{F4EBB2BA-F2F0-459E-8313-57EB06C50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57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未核验前只留在探索线索区。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虚构演示：评审—回应—影响工件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lab">
            <a:extLst xmlns:a="http://schemas.openxmlformats.org/drawingml/2006/main">
              <a:ext uri="{FF2B5EF4-FFF2-40B4-BE49-F238E27FC236}">
                <a16:creationId xmlns:a16="http://schemas.microsoft.com/office/drawing/2014/main" id="{EC0CBB92-6FDD-4F0B-9EFD-CE3394E1B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781050"/>
            <a:ext cx="4610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125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课程虚构案例｜非真实实验</a:t>
            </a:r>
          </a:p>
        </p:txBody>
      </p:sp>
      <p:sp>
        <p:nvSpPr>
          <p:cNvPr id="7" name="p90">
            <a:extLst xmlns:a="http://schemas.openxmlformats.org/drawingml/2006/main">
              <a:ext uri="{FF2B5EF4-FFF2-40B4-BE49-F238E27FC236}">
                <a16:creationId xmlns:a16="http://schemas.microsoft.com/office/drawing/2014/main" id="{EFCF53CC-E1BE-44B0-B860-40F35A54D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2381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初稿结论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stable；20 篇</a:t>
            </a:r>
          </a:p>
        </p:txBody>
      </p:sp>
      <p:sp>
        <p:nvSpPr>
          <p:cNvPr id="8" name="p9a0">
            <a:extLst xmlns:a="http://schemas.openxmlformats.org/drawingml/2006/main">
              <a:ext uri="{FF2B5EF4-FFF2-40B4-BE49-F238E27FC236}">
                <a16:creationId xmlns:a16="http://schemas.microsoft.com/office/drawing/2014/main" id="{223F798D-CF50-472F-900D-D95D78EEF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981200"/>
            <a:ext cx="400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p91">
            <a:extLst xmlns:a="http://schemas.openxmlformats.org/drawingml/2006/main">
              <a:ext uri="{FF2B5EF4-FFF2-40B4-BE49-F238E27FC236}">
                <a16:creationId xmlns:a16="http://schemas.microsoft.com/office/drawing/2014/main" id="{11FEECA7-695E-4701-B3F7-D6DA4D81E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752600"/>
            <a:ext cx="2381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同伴 B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仅一项独立证据</a:t>
            </a:r>
          </a:p>
        </p:txBody>
      </p:sp>
      <p:sp>
        <p:nvSpPr>
          <p:cNvPr id="10" name="p9a1">
            <a:extLst xmlns:a="http://schemas.openxmlformats.org/drawingml/2006/main">
              <a:ext uri="{FF2B5EF4-FFF2-40B4-BE49-F238E27FC236}">
                <a16:creationId xmlns:a16="http://schemas.microsoft.com/office/drawing/2014/main" id="{0737A0C2-2285-4C39-ABE6-A101EEEF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981200"/>
            <a:ext cx="400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p92">
            <a:extLst xmlns:a="http://schemas.openxmlformats.org/drawingml/2006/main">
              <a:ext uri="{FF2B5EF4-FFF2-40B4-BE49-F238E27FC236}">
                <a16:creationId xmlns:a16="http://schemas.microsoft.com/office/drawing/2014/main" id="{A9EF4F26-AE96-4A84-BFA0-D97BC2C0B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2381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作者回应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补证；否则降级 review</a:t>
            </a:r>
          </a:p>
        </p:txBody>
      </p:sp>
      <p:sp>
        <p:nvSpPr>
          <p:cNvPr id="12" name="p9a2">
            <a:extLst xmlns:a="http://schemas.openxmlformats.org/drawingml/2006/main">
              <a:ext uri="{FF2B5EF4-FFF2-40B4-BE49-F238E27FC236}">
                <a16:creationId xmlns:a16="http://schemas.microsoft.com/office/drawing/2014/main" id="{128030AE-85EF-4C6E-80FE-F90A156C1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981200"/>
            <a:ext cx="400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p93">
            <a:extLst xmlns:a="http://schemas.openxmlformats.org/drawingml/2006/main">
              <a:ext uri="{FF2B5EF4-FFF2-40B4-BE49-F238E27FC236}">
                <a16:creationId xmlns:a16="http://schemas.microsoft.com/office/drawing/2014/main" id="{082E27F5-10B4-4328-A6B9-E1E2E1A95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752600"/>
            <a:ext cx="2381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影响工件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证据地图 + 追踪表</a:t>
            </a:r>
          </a:p>
        </p:txBody>
      </p:sp>
      <p:sp>
        <p:nvSpPr>
          <p:cNvPr id="14" name="p9trace">
            <a:extLst xmlns:a="http://schemas.openxmlformats.org/drawingml/2006/main">
              <a:ext uri="{FF2B5EF4-FFF2-40B4-BE49-F238E27FC236}">
                <a16:creationId xmlns:a16="http://schemas.microsoft.com/office/drawing/2014/main" id="{CA30731D-2FDD-45DC-8972-367E3AA2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86150"/>
            <a:ext cx="104394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回应六字段：补证｜理由=stable 原则上两项独立｜边界=当前样本｜依据=同伴 B + 短文 §4｜待验证=复标｜影响=两项工件</a:t>
            </a:r>
          </a:p>
        </p:txBody>
      </p:sp>
      <p:sp>
        <p:nvSpPr>
          <p:cNvPr id="15" name="p9c">
            <a:extLst xmlns:a="http://schemas.openxmlformats.org/drawingml/2006/main">
              <a:ext uri="{FF2B5EF4-FFF2-40B4-BE49-F238E27FC236}">
                <a16:creationId xmlns:a16="http://schemas.microsoft.com/office/drawing/2014/main" id="{92EE24C8-53CB-451D-955D-B2A4144D6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57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演示的是评审 trace，不是实验结果。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同伴交叉评审：15 分钟完成一轮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time">
            <a:extLst xmlns:a="http://schemas.openxmlformats.org/drawingml/2006/main">
              <a:ext uri="{FF2B5EF4-FFF2-40B4-BE49-F238E27FC236}">
                <a16:creationId xmlns:a16="http://schemas.microsoft.com/office/drawing/2014/main" id="{8FC6C70C-4ED0-4912-89A2-13112C78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81100"/>
            <a:ext cx="31432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4800" b="1">
                <a:solidFill>
                  <a:srgbClr val="C8161E"/>
                </a:solidFill>
              </a:defRPr>
            </a:pPr>
            <a:r>
              <a:rPr sz="48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15:00</a:t>
            </a:r>
          </a:p>
        </p:txBody>
      </p:sp>
      <p:sp>
        <p:nvSpPr>
          <p:cNvPr id="7" name="span">
            <a:extLst xmlns:a="http://schemas.openxmlformats.org/drawingml/2006/main">
              <a:ext uri="{FF2B5EF4-FFF2-40B4-BE49-F238E27FC236}">
                <a16:creationId xmlns:a16="http://schemas.microsoft.com/office/drawing/2014/main" id="{78FFB4F1-853C-4AD2-BD0A-27BD72CAC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35:00-50:00｜停留本页</a:t>
            </a:r>
          </a:p>
        </p:txBody>
      </p:sp>
      <p:sp>
        <p:nvSpPr>
          <p:cNvPr id="8" name="p10r0">
            <a:extLst xmlns:a="http://schemas.openxmlformats.org/drawingml/2006/main">
              <a:ext uri="{FF2B5EF4-FFF2-40B4-BE49-F238E27FC236}">
                <a16:creationId xmlns:a16="http://schemas.microsoft.com/office/drawing/2014/main" id="{1CFEB519-F28B-4849-A4CE-77CE086B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257300"/>
            <a:ext cx="22479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 → B</a:t>
            </a:r>
          </a:p>
        </p:txBody>
      </p:sp>
      <p:sp>
        <p:nvSpPr>
          <p:cNvPr id="9" name="p10r1">
            <a:extLst xmlns:a="http://schemas.openxmlformats.org/drawingml/2006/main">
              <a:ext uri="{FF2B5EF4-FFF2-40B4-BE49-F238E27FC236}">
                <a16:creationId xmlns:a16="http://schemas.microsoft.com/office/drawing/2014/main" id="{3B042A0E-60E7-4884-9BC8-2D42DC77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257300"/>
            <a:ext cx="22479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 → C</a:t>
            </a:r>
          </a:p>
        </p:txBody>
      </p:sp>
      <p:sp>
        <p:nvSpPr>
          <p:cNvPr id="10" name="p10r2">
            <a:extLst xmlns:a="http://schemas.openxmlformats.org/drawingml/2006/main">
              <a:ext uri="{FF2B5EF4-FFF2-40B4-BE49-F238E27FC236}">
                <a16:creationId xmlns:a16="http://schemas.microsoft.com/office/drawing/2014/main" id="{8BC70DC8-CDE3-4AA6-A21E-6641422A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09800"/>
            <a:ext cx="22479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 → D</a:t>
            </a:r>
          </a:p>
        </p:txBody>
      </p:sp>
      <p:sp>
        <p:nvSpPr>
          <p:cNvPr id="11" name="p10r3">
            <a:extLst xmlns:a="http://schemas.openxmlformats.org/drawingml/2006/main">
              <a:ext uri="{FF2B5EF4-FFF2-40B4-BE49-F238E27FC236}">
                <a16:creationId xmlns:a16="http://schemas.microsoft.com/office/drawing/2014/main" id="{8D3FC7E7-506F-486F-A792-12B3F177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09800"/>
            <a:ext cx="22479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 → A</a:t>
            </a:r>
          </a:p>
        </p:txBody>
      </p:sp>
      <p:sp>
        <p:nvSpPr>
          <p:cNvPr id="12" name="p10min">
            <a:extLst xmlns:a="http://schemas.openxmlformats.org/drawingml/2006/main">
              <a:ext uri="{FF2B5EF4-FFF2-40B4-BE49-F238E27FC236}">
                <a16:creationId xmlns:a16="http://schemas.microsoft.com/office/drawing/2014/main" id="{06D566D7-1077-46CB-AFD5-39309ADA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7239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每人：评 1 位固定同伴｜收 1 位三问｜只记录，不反驳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第二轮为可选课后补充，不是本课最低要求</a:t>
            </a:r>
          </a:p>
        </p:txBody>
      </p:sp>
      <p:sp>
        <p:nvSpPr>
          <p:cNvPr id="13" name="p10c">
            <a:extLst xmlns:a="http://schemas.openxmlformats.org/drawingml/2006/main">
              <a:ext uri="{FF2B5EF4-FFF2-40B4-BE49-F238E27FC236}">
                <a16:creationId xmlns:a16="http://schemas.microsoft.com/office/drawing/2014/main" id="{0DFA30BC-ACAE-4626-8583-7AEAD41F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5300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无网络：纸面 / Markdown 完成同一三问。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作者回应不是辩论，而是有记录的判断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time">
            <a:extLst xmlns:a="http://schemas.openxmlformats.org/drawingml/2006/main">
              <a:ext uri="{FF2B5EF4-FFF2-40B4-BE49-F238E27FC236}">
                <a16:creationId xmlns:a16="http://schemas.microsoft.com/office/drawing/2014/main" id="{5BB5F99E-0CF9-4C71-A1B2-165D13C33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838200"/>
            <a:ext cx="3371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50:00-65:00｜作者回写</a:t>
            </a:r>
          </a:p>
        </p:txBody>
      </p:sp>
      <p:sp>
        <p:nvSpPr>
          <p:cNvPr id="7" name="p11a0">
            <a:extLst xmlns:a="http://schemas.openxmlformats.org/drawingml/2006/main">
              <a:ext uri="{FF2B5EF4-FFF2-40B4-BE49-F238E27FC236}">
                <a16:creationId xmlns:a16="http://schemas.microsoft.com/office/drawing/2014/main" id="{7AF0407E-66E4-4DB3-9EB5-33A84E03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43050"/>
            <a:ext cx="2381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采纳</a:t>
            </a:r>
          </a:p>
        </p:txBody>
      </p:sp>
      <p:sp>
        <p:nvSpPr>
          <p:cNvPr id="8" name="p11b0">
            <a:extLst xmlns:a="http://schemas.openxmlformats.org/drawingml/2006/main">
              <a:ext uri="{FF2B5EF4-FFF2-40B4-BE49-F238E27FC236}">
                <a16:creationId xmlns:a16="http://schemas.microsoft.com/office/drawing/2014/main" id="{61ED8FF1-7EAA-4297-9552-D8A72437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2381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做最小修改</a:t>
            </a:r>
          </a:p>
        </p:txBody>
      </p:sp>
      <p:sp>
        <p:nvSpPr>
          <p:cNvPr id="9" name="p11a1">
            <a:extLst xmlns:a="http://schemas.openxmlformats.org/drawingml/2006/main">
              <a:ext uri="{FF2B5EF4-FFF2-40B4-BE49-F238E27FC236}">
                <a16:creationId xmlns:a16="http://schemas.microsoft.com/office/drawing/2014/main" id="{2E22C8C0-9B5F-4536-8A6E-42BD38265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543050"/>
            <a:ext cx="2381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澄清</a:t>
            </a:r>
          </a:p>
        </p:txBody>
      </p:sp>
      <p:sp>
        <p:nvSpPr>
          <p:cNvPr id="10" name="p11b1">
            <a:extLst xmlns:a="http://schemas.openxmlformats.org/drawingml/2006/main">
              <a:ext uri="{FF2B5EF4-FFF2-40B4-BE49-F238E27FC236}">
                <a16:creationId xmlns:a16="http://schemas.microsoft.com/office/drawing/2014/main" id="{F9C445A9-0F98-4B2A-88AB-F48FC15F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266950"/>
            <a:ext cx="2381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2F638A"/>
                </a:solidFill>
              </a:defRPr>
            </a:pPr>
            <a:r>
              <a:rPr sz="150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改表达，不改判断</a:t>
            </a:r>
          </a:p>
        </p:txBody>
      </p:sp>
      <p:sp>
        <p:nvSpPr>
          <p:cNvPr id="11" name="p11a2">
            <a:extLst xmlns:a="http://schemas.openxmlformats.org/drawingml/2006/main">
              <a:ext uri="{FF2B5EF4-FFF2-40B4-BE49-F238E27FC236}">
                <a16:creationId xmlns:a16="http://schemas.microsoft.com/office/drawing/2014/main" id="{D441FDCB-AAA7-40EF-BAA2-5DEEE5B03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543050"/>
            <a:ext cx="2381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补证</a:t>
            </a:r>
          </a:p>
        </p:txBody>
      </p:sp>
      <p:sp>
        <p:nvSpPr>
          <p:cNvPr id="12" name="p11b2">
            <a:extLst xmlns:a="http://schemas.openxmlformats.org/drawingml/2006/main">
              <a:ext uri="{FF2B5EF4-FFF2-40B4-BE49-F238E27FC236}">
                <a16:creationId xmlns:a16="http://schemas.microsoft.com/office/drawing/2014/main" id="{CEA21CB4-73B7-4CC9-9157-450E9289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66950"/>
            <a:ext cx="2381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A86C12"/>
                </a:solidFill>
              </a:defRPr>
            </a:pPr>
            <a:r>
              <a:rPr sz="15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标待验证 / 降级</a:t>
            </a:r>
          </a:p>
        </p:txBody>
      </p:sp>
      <p:sp>
        <p:nvSpPr>
          <p:cNvPr id="13" name="p11a3">
            <a:extLst xmlns:a="http://schemas.openxmlformats.org/drawingml/2006/main">
              <a:ext uri="{FF2B5EF4-FFF2-40B4-BE49-F238E27FC236}">
                <a16:creationId xmlns:a16="http://schemas.microsoft.com/office/drawing/2014/main" id="{1D1AF4FA-A8A0-4FFC-8147-3356B8D27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543050"/>
            <a:ext cx="2381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保留异议</a:t>
            </a:r>
          </a:p>
        </p:txBody>
      </p:sp>
      <p:sp>
        <p:nvSpPr>
          <p:cNvPr id="14" name="p11b3">
            <a:extLst xmlns:a="http://schemas.openxmlformats.org/drawingml/2006/main">
              <a:ext uri="{FF2B5EF4-FFF2-40B4-BE49-F238E27FC236}">
                <a16:creationId xmlns:a16="http://schemas.microsoft.com/office/drawing/2014/main" id="{86B0AF73-1487-4D86-80B8-9AC0DF836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266950"/>
            <a:ext cx="2381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写具体条目与理由</a:t>
            </a:r>
          </a:p>
        </p:txBody>
      </p:sp>
      <p:sp>
        <p:nvSpPr>
          <p:cNvPr id="15" name="p11fields">
            <a:extLst xmlns:a="http://schemas.openxmlformats.org/drawingml/2006/main">
              <a:ext uri="{FF2B5EF4-FFF2-40B4-BE49-F238E27FC236}">
                <a16:creationId xmlns:a16="http://schemas.microsoft.com/office/drawing/2014/main" id="{2F53D7CE-23DB-4524-B39B-DE1268ECB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76650"/>
            <a:ext cx="9715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至少 2 条完整六字段：类别｜理由｜边界｜依据｜待验证｜影响工件</a:t>
            </a:r>
          </a:p>
        </p:txBody>
      </p:sp>
      <p:sp>
        <p:nvSpPr>
          <p:cNvPr id="16" name="p11c">
            <a:extLst xmlns:a="http://schemas.openxmlformats.org/drawingml/2006/main">
              <a:ext uri="{FF2B5EF4-FFF2-40B4-BE49-F238E27FC236}">
                <a16:creationId xmlns:a16="http://schemas.microsoft.com/office/drawing/2014/main" id="{1D10DBFA-C660-40B3-8121-2AA46D51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57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同伴只提供输入；作者本人决定采纳、拒绝或如何修改。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Checkpoint 4 十项条件逐项预检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n0">
            <a:extLst xmlns:a="http://schemas.openxmlformats.org/drawingml/2006/main">
              <a:ext uri="{FF2B5EF4-FFF2-40B4-BE49-F238E27FC236}">
                <a16:creationId xmlns:a16="http://schemas.microsoft.com/office/drawing/2014/main" id="{E667E7E1-1433-4285-A9B6-50FE06662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952500"/>
            <a:ext cx="457200" cy="495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12t0">
            <a:extLst xmlns:a="http://schemas.openxmlformats.org/drawingml/2006/main">
              <a:ext uri="{FF2B5EF4-FFF2-40B4-BE49-F238E27FC236}">
                <a16:creationId xmlns:a16="http://schemas.microsoft.com/office/drawing/2014/main" id="{586E048E-BEFF-44E9-9115-63979C43E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952500"/>
            <a:ext cx="5067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短文完整</a:t>
            </a:r>
          </a:p>
        </p:txBody>
      </p:sp>
      <p:sp>
        <p:nvSpPr>
          <p:cNvPr id="9" name="p12n1">
            <a:extLst xmlns:a="http://schemas.openxmlformats.org/drawingml/2006/main">
              <a:ext uri="{FF2B5EF4-FFF2-40B4-BE49-F238E27FC236}">
                <a16:creationId xmlns:a16="http://schemas.microsoft.com/office/drawing/2014/main" id="{42E4EF02-E7C1-4FB1-98F9-9BE4D0FC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33550"/>
            <a:ext cx="457200" cy="495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p12t1">
            <a:extLst xmlns:a="http://schemas.openxmlformats.org/drawingml/2006/main">
              <a:ext uri="{FF2B5EF4-FFF2-40B4-BE49-F238E27FC236}">
                <a16:creationId xmlns:a16="http://schemas.microsoft.com/office/drawing/2014/main" id="{B7CEE97B-8328-48E5-91BC-FD0B47DF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33550"/>
            <a:ext cx="5067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结果可追溯</a:t>
            </a:r>
          </a:p>
        </p:txBody>
      </p:sp>
      <p:sp>
        <p:nvSpPr>
          <p:cNvPr id="12" name="p12n2">
            <a:extLst xmlns:a="http://schemas.openxmlformats.org/drawingml/2006/main">
              <a:ext uri="{FF2B5EF4-FFF2-40B4-BE49-F238E27FC236}">
                <a16:creationId xmlns:a16="http://schemas.microsoft.com/office/drawing/2014/main" id="{25E03CFC-6E72-491D-A302-56EE4D72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14600"/>
            <a:ext cx="457200" cy="495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3" name="p12t2">
            <a:extLst xmlns:a="http://schemas.openxmlformats.org/drawingml/2006/main">
              <a:ext uri="{FF2B5EF4-FFF2-40B4-BE49-F238E27FC236}">
                <a16:creationId xmlns:a16="http://schemas.microsoft.com/office/drawing/2014/main" id="{276975E1-39A9-4285-89F7-D9EDEB79E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14600"/>
            <a:ext cx="5067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有效性 / 威胁分析</a:t>
            </a:r>
          </a:p>
        </p:txBody>
      </p:sp>
      <p:sp>
        <p:nvSpPr>
          <p:cNvPr id="15" name="p12n3">
            <a:extLst xmlns:a="http://schemas.openxmlformats.org/drawingml/2006/main">
              <a:ext uri="{FF2B5EF4-FFF2-40B4-BE49-F238E27FC236}">
                <a16:creationId xmlns:a16="http://schemas.microsoft.com/office/drawing/2014/main" id="{9381173C-045E-422D-AA41-A47FEE4C7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95650"/>
            <a:ext cx="457200" cy="495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6" name="p12t3">
            <a:extLst xmlns:a="http://schemas.openxmlformats.org/drawingml/2006/main">
              <a:ext uri="{FF2B5EF4-FFF2-40B4-BE49-F238E27FC236}">
                <a16:creationId xmlns:a16="http://schemas.microsoft.com/office/drawing/2014/main" id="{13049261-4166-47DC-8965-E100B97C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95650"/>
            <a:ext cx="5067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第15课评审已处理</a:t>
            </a:r>
          </a:p>
        </p:txBody>
      </p:sp>
      <p:sp>
        <p:nvSpPr>
          <p:cNvPr id="18" name="p12n4">
            <a:extLst xmlns:a="http://schemas.openxmlformats.org/drawingml/2006/main">
              <a:ext uri="{FF2B5EF4-FFF2-40B4-BE49-F238E27FC236}">
                <a16:creationId xmlns:a16="http://schemas.microsoft.com/office/drawing/2014/main" id="{519F0B48-05DC-46F0-A132-84EC6CE7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76700"/>
            <a:ext cx="457200" cy="495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9" name="p12t4">
            <a:extLst xmlns:a="http://schemas.openxmlformats.org/drawingml/2006/main">
              <a:ext uri="{FF2B5EF4-FFF2-40B4-BE49-F238E27FC236}">
                <a16:creationId xmlns:a16="http://schemas.microsoft.com/office/drawing/2014/main" id="{881D9503-4FBE-4A04-88EE-CA68C12A5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76700"/>
            <a:ext cx="5067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关键结论绑定证据+判断</a:t>
            </a:r>
          </a:p>
        </p:txBody>
      </p:sp>
      <p:sp>
        <p:nvSpPr>
          <p:cNvPr id="21" name="p12n5">
            <a:extLst xmlns:a="http://schemas.openxmlformats.org/drawingml/2006/main">
              <a:ext uri="{FF2B5EF4-FFF2-40B4-BE49-F238E27FC236}">
                <a16:creationId xmlns:a16="http://schemas.microsoft.com/office/drawing/2014/main" id="{DBFB939A-AE47-424A-8C70-45D5A0F9B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952500"/>
            <a:ext cx="457200" cy="495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2" name="p12t5">
            <a:extLst xmlns:a="http://schemas.openxmlformats.org/drawingml/2006/main">
              <a:ext uri="{FF2B5EF4-FFF2-40B4-BE49-F238E27FC236}">
                <a16:creationId xmlns:a16="http://schemas.microsoft.com/office/drawing/2014/main" id="{37D355BE-B7AF-42F1-A25B-B563950E0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952500"/>
            <a:ext cx="5067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stable 两项独立或降级</a:t>
            </a:r>
          </a:p>
        </p:txBody>
      </p:sp>
      <p:sp>
        <p:nvSpPr>
          <p:cNvPr id="24" name="p12n6">
            <a:extLst xmlns:a="http://schemas.openxmlformats.org/drawingml/2006/main">
              <a:ext uri="{FF2B5EF4-FFF2-40B4-BE49-F238E27FC236}">
                <a16:creationId xmlns:a16="http://schemas.microsoft.com/office/drawing/2014/main" id="{31CC173E-4357-4268-A2B0-231FFF5CD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33550"/>
            <a:ext cx="457200" cy="495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25" name="p12t6">
            <a:extLst xmlns:a="http://schemas.openxmlformats.org/drawingml/2006/main">
              <a:ext uri="{FF2B5EF4-FFF2-40B4-BE49-F238E27FC236}">
                <a16:creationId xmlns:a16="http://schemas.microsoft.com/office/drawing/2014/main" id="{BED1CC33-73D6-4138-9FDB-4EA070FD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733550"/>
            <a:ext cx="5067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Workflow 运行/权限/评价/失败</a:t>
            </a:r>
          </a:p>
        </p:txBody>
      </p:sp>
      <p:sp>
        <p:nvSpPr>
          <p:cNvPr id="27" name="p12n7">
            <a:extLst xmlns:a="http://schemas.openxmlformats.org/drawingml/2006/main">
              <a:ext uri="{FF2B5EF4-FFF2-40B4-BE49-F238E27FC236}">
                <a16:creationId xmlns:a16="http://schemas.microsoft.com/office/drawing/2014/main" id="{00A54249-9322-4C10-846E-5F2887DE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14600"/>
            <a:ext cx="457200" cy="495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28" name="p12t7">
            <a:extLst xmlns:a="http://schemas.openxmlformats.org/drawingml/2006/main">
              <a:ext uri="{FF2B5EF4-FFF2-40B4-BE49-F238E27FC236}">
                <a16:creationId xmlns:a16="http://schemas.microsoft.com/office/drawing/2014/main" id="{F8F91DFE-ABDA-45DC-84DA-77394878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514600"/>
            <a:ext cx="5067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伦理/许可/贡献/AI 披露</a:t>
            </a:r>
          </a:p>
        </p:txBody>
      </p:sp>
      <p:sp>
        <p:nvSpPr>
          <p:cNvPr id="30" name="p12n8">
            <a:extLst xmlns:a="http://schemas.openxmlformats.org/drawingml/2006/main">
              <a:ext uri="{FF2B5EF4-FFF2-40B4-BE49-F238E27FC236}">
                <a16:creationId xmlns:a16="http://schemas.microsoft.com/office/drawing/2014/main" id="{4E564BF7-6C6B-4404-89D7-20DB52BFC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95650"/>
            <a:ext cx="457200" cy="495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31" name="p12t8">
            <a:extLst xmlns:a="http://schemas.openxmlformats.org/drawingml/2006/main">
              <a:ext uri="{FF2B5EF4-FFF2-40B4-BE49-F238E27FC236}">
                <a16:creationId xmlns:a16="http://schemas.microsoft.com/office/drawing/2014/main" id="{BBEF325E-532E-45B9-858A-7ED8AD26B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295650"/>
            <a:ext cx="5067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工件状态一致</a:t>
            </a:r>
          </a:p>
        </p:txBody>
      </p:sp>
      <p:sp>
        <p:nvSpPr>
          <p:cNvPr id="33" name="p12n9">
            <a:extLst xmlns:a="http://schemas.openxmlformats.org/drawingml/2006/main">
              <a:ext uri="{FF2B5EF4-FFF2-40B4-BE49-F238E27FC236}">
                <a16:creationId xmlns:a16="http://schemas.microsoft.com/office/drawing/2014/main" id="{77109952-F156-440F-A697-7957D02A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590550" cy="495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4" name="p12t9">
            <a:extLst xmlns:a="http://schemas.openxmlformats.org/drawingml/2006/main">
              <a:ext uri="{FF2B5EF4-FFF2-40B4-BE49-F238E27FC236}">
                <a16:creationId xmlns:a16="http://schemas.microsoft.com/office/drawing/2014/main" id="{BEA8179D-0CD6-4D24-BD57-E7229908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076700"/>
            <a:ext cx="4933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展示/复现抽查/复盘</a:t>
            </a:r>
          </a:p>
        </p:txBody>
      </p:sp>
      <p:sp>
        <p:nvSpPr>
          <p:cNvPr id="36" name="p12c">
            <a:extLst xmlns:a="http://schemas.openxmlformats.org/drawingml/2006/main">
              <a:ext uri="{FF2B5EF4-FFF2-40B4-BE49-F238E27FC236}">
                <a16:creationId xmlns:a16="http://schemas.microsoft.com/office/drawing/2014/main" id="{6EC65BD0-D900-4770-805A-6A0643ED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2920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在 revision-plan.md 标注：满足 / 部分 / 未覆盖；第 16 课才正式检查。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summary-15-number-0">
            <a:extLst xmlns:a="http://schemas.openxmlformats.org/drawingml/2006/main">
              <a:ext uri="{FF2B5EF4-FFF2-40B4-BE49-F238E27FC236}">
                <a16:creationId xmlns:a16="http://schemas.microsoft.com/office/drawing/2014/main" id="{08BFDED3-6B8F-4F41-BE30-337E13132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summary-15-heading-0">
            <a:extLst xmlns:a="http://schemas.openxmlformats.org/drawingml/2006/main">
              <a:ext uri="{FF2B5EF4-FFF2-40B4-BE49-F238E27FC236}">
                <a16:creationId xmlns:a16="http://schemas.microsoft.com/office/drawing/2014/main" id="{D73B44A1-9F57-4786-B62A-F0543BD2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证据化评审</a:t>
            </a:r>
          </a:p>
        </p:txBody>
      </p:sp>
      <p:sp>
        <p:nvSpPr>
          <p:cNvPr id="8" name="summary-15-detail-0">
            <a:extLst xmlns:a="http://schemas.openxmlformats.org/drawingml/2006/main">
              <a:ext uri="{FF2B5EF4-FFF2-40B4-BE49-F238E27FC236}">
                <a16:creationId xmlns:a16="http://schemas.microsoft.com/office/drawing/2014/main" id="{1B29A45B-CB0A-4BDD-9720-60961932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意见必须指向具体主张、证据、失败或门条件</a:t>
            </a:r>
          </a:p>
        </p:txBody>
      </p:sp>
      <p:sp>
        <p:nvSpPr>
          <p:cNvPr id="9" name="summary-15-number-1">
            <a:extLst xmlns:a="http://schemas.openxmlformats.org/drawingml/2006/main">
              <a:ext uri="{FF2B5EF4-FFF2-40B4-BE49-F238E27FC236}">
                <a16:creationId xmlns:a16="http://schemas.microsoft.com/office/drawing/2014/main" id="{915ECFD3-C86C-484E-877C-C2A29AF57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summary-15-heading-1">
            <a:extLst xmlns:a="http://schemas.openxmlformats.org/drawingml/2006/main">
              <a:ext uri="{FF2B5EF4-FFF2-40B4-BE49-F238E27FC236}">
                <a16:creationId xmlns:a16="http://schemas.microsoft.com/office/drawing/2014/main" id="{FA3ADD24-3B59-41ED-BA1C-3EDAF382D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作者回应</a:t>
            </a:r>
          </a:p>
        </p:txBody>
      </p:sp>
      <p:sp>
        <p:nvSpPr>
          <p:cNvPr id="11" name="summary-15-detail-1">
            <a:extLst xmlns:a="http://schemas.openxmlformats.org/drawingml/2006/main">
              <a:ext uri="{FF2B5EF4-FFF2-40B4-BE49-F238E27FC236}">
                <a16:creationId xmlns:a16="http://schemas.microsoft.com/office/drawing/2014/main" id="{C2C9E6F6-3CFD-46FE-AC9C-D0796117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记录采纳、拒绝或暂缓及理由，不以辩论替代修改</a:t>
            </a:r>
          </a:p>
        </p:txBody>
      </p:sp>
      <p:sp>
        <p:nvSpPr>
          <p:cNvPr id="12" name="summary-15-number-2">
            <a:extLst xmlns:a="http://schemas.openxmlformats.org/drawingml/2006/main">
              <a:ext uri="{FF2B5EF4-FFF2-40B4-BE49-F238E27FC236}">
                <a16:creationId xmlns:a16="http://schemas.microsoft.com/office/drawing/2014/main" id="{D03ED69B-7855-404D-A78A-83E823762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summary-15-heading-2">
            <a:extLst xmlns:a="http://schemas.openxmlformats.org/drawingml/2006/main">
              <a:ext uri="{FF2B5EF4-FFF2-40B4-BE49-F238E27FC236}">
                <a16:creationId xmlns:a16="http://schemas.microsoft.com/office/drawing/2014/main" id="{CCE1042E-FC58-4E12-934A-EE8E53609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致命项优先</a:t>
            </a:r>
          </a:p>
        </p:txBody>
      </p:sp>
      <p:sp>
        <p:nvSpPr>
          <p:cNvPr id="14" name="summary-15-detail-2">
            <a:extLst xmlns:a="http://schemas.openxmlformats.org/drawingml/2006/main">
              <a:ext uri="{FF2B5EF4-FFF2-40B4-BE49-F238E27FC236}">
                <a16:creationId xmlns:a16="http://schemas.microsoft.com/office/drawing/2014/main" id="{F69E8F77-25C2-44F0-B52D-E9DE0F8F1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先修不可追溯、过度主张、失败缺失与权限越界</a:t>
            </a:r>
          </a:p>
        </p:txBody>
      </p:sp>
      <p:sp>
        <p:nvSpPr>
          <p:cNvPr id="15" name="summary-15-number-3">
            <a:extLst xmlns:a="http://schemas.openxmlformats.org/drawingml/2006/main">
              <a:ext uri="{FF2B5EF4-FFF2-40B4-BE49-F238E27FC236}">
                <a16:creationId xmlns:a16="http://schemas.microsoft.com/office/drawing/2014/main" id="{EC77828B-D1B3-445B-B8DF-9BD97578E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summary-15-heading-3">
            <a:extLst xmlns:a="http://schemas.openxmlformats.org/drawingml/2006/main">
              <a:ext uri="{FF2B5EF4-FFF2-40B4-BE49-F238E27FC236}">
                <a16:creationId xmlns:a16="http://schemas.microsoft.com/office/drawing/2014/main" id="{B3241F9F-946F-4A68-A835-BFA220B97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A86C12"/>
                </a:solidFill>
              </a:defRPr>
            </a:pPr>
            <a:r>
              <a:rPr sz="17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论证门预检</a:t>
            </a:r>
          </a:p>
        </p:txBody>
      </p:sp>
      <p:sp>
        <p:nvSpPr>
          <p:cNvPr id="17" name="summary-15-detail-3">
            <a:extLst xmlns:a="http://schemas.openxmlformats.org/drawingml/2006/main">
              <a:ext uri="{FF2B5EF4-FFF2-40B4-BE49-F238E27FC236}">
                <a16:creationId xmlns:a16="http://schemas.microsoft.com/office/drawing/2014/main" id="{78A008C6-5D72-4B39-B273-A20CFB378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按十项条件确认最终提交范围、缺口与回退路径</a:t>
            </a:r>
          </a:p>
        </p:txBody>
      </p:sp>
      <p:sp>
        <p:nvSpPr>
          <p:cNvPr id="18" name="summary-15-boundary">
            <a:extLst xmlns:a="http://schemas.openxmlformats.org/drawingml/2006/main">
              <a:ext uri="{FF2B5EF4-FFF2-40B4-BE49-F238E27FC236}">
                <a16:creationId xmlns:a16="http://schemas.microsoft.com/office/drawing/2014/main" id="{A7847458-82A3-42BE-AE10-2842F840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00550"/>
            <a:ext cx="98679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关键边界：同伴只提供可执行问题与证据，作者保留研究判断和最终提交责任。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先修致命项，再带缺口进入第 16 课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3a0">
            <a:extLst xmlns:a="http://schemas.openxmlformats.org/drawingml/2006/main">
              <a:ext uri="{FF2B5EF4-FFF2-40B4-BE49-F238E27FC236}">
                <a16:creationId xmlns:a16="http://schemas.microsoft.com/office/drawing/2014/main" id="{0ACCED3C-B0D9-46E0-8B5E-AD0991299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352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致命</a:t>
            </a:r>
          </a:p>
        </p:txBody>
      </p:sp>
      <p:sp>
        <p:nvSpPr>
          <p:cNvPr id="7" name="p13b0">
            <a:extLst xmlns:a="http://schemas.openxmlformats.org/drawingml/2006/main">
              <a:ext uri="{FF2B5EF4-FFF2-40B4-BE49-F238E27FC236}">
                <a16:creationId xmlns:a16="http://schemas.microsoft.com/office/drawing/2014/main" id="{911927D7-3D5D-4C8C-9890-6545BC83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200150"/>
            <a:ext cx="4095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论证门不满足；第16课前修复</a:t>
            </a:r>
          </a:p>
        </p:txBody>
      </p:sp>
      <p:sp>
        <p:nvSpPr>
          <p:cNvPr id="8" name="p13a1">
            <a:extLst xmlns:a="http://schemas.openxmlformats.org/drawingml/2006/main">
              <a:ext uri="{FF2B5EF4-FFF2-40B4-BE49-F238E27FC236}">
                <a16:creationId xmlns:a16="http://schemas.microsoft.com/office/drawing/2014/main" id="{9A2F9FF1-AB89-443F-80EC-E86255729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05050"/>
            <a:ext cx="1352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重要</a:t>
            </a:r>
          </a:p>
        </p:txBody>
      </p:sp>
      <p:sp>
        <p:nvSpPr>
          <p:cNvPr id="9" name="p13b1">
            <a:extLst xmlns:a="http://schemas.openxmlformats.org/drawingml/2006/main">
              <a:ext uri="{FF2B5EF4-FFF2-40B4-BE49-F238E27FC236}">
                <a16:creationId xmlns:a16="http://schemas.microsoft.com/office/drawing/2014/main" id="{55A71454-96A0-429A-A3DD-C8CC34E4D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305050"/>
            <a:ext cx="4095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A86C12"/>
                </a:solidFill>
              </a:defRPr>
            </a:pPr>
            <a:r>
              <a:rPr sz="15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有缺口；尽量修复或标待验证</a:t>
            </a:r>
          </a:p>
        </p:txBody>
      </p:sp>
      <p:sp>
        <p:nvSpPr>
          <p:cNvPr id="10" name="p13a2">
            <a:extLst xmlns:a="http://schemas.openxmlformats.org/drawingml/2006/main">
              <a:ext uri="{FF2B5EF4-FFF2-40B4-BE49-F238E27FC236}">
                <a16:creationId xmlns:a16="http://schemas.microsoft.com/office/drawing/2014/main" id="{E5F33EFA-0265-4FE6-83A4-E491F86F5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09950"/>
            <a:ext cx="1352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表达</a:t>
            </a:r>
          </a:p>
        </p:txBody>
      </p:sp>
      <p:sp>
        <p:nvSpPr>
          <p:cNvPr id="11" name="p13b2">
            <a:extLst xmlns:a="http://schemas.openxmlformats.org/drawingml/2006/main">
              <a:ext uri="{FF2B5EF4-FFF2-40B4-BE49-F238E27FC236}">
                <a16:creationId xmlns:a16="http://schemas.microsoft.com/office/drawing/2014/main" id="{FB54A1CB-0794-46DA-A195-975F965B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409950"/>
            <a:ext cx="4095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论证成立；展示前打磨</a:t>
            </a:r>
          </a:p>
        </p:txBody>
      </p:sp>
      <p:sp>
        <p:nvSpPr>
          <p:cNvPr id="12" name="p13mid">
            <a:extLst xmlns:a="http://schemas.openxmlformats.org/drawingml/2006/main">
              <a:ext uri="{FF2B5EF4-FFF2-40B4-BE49-F238E27FC236}">
                <a16:creationId xmlns:a16="http://schemas.microsoft.com/office/drawing/2014/main" id="{C1E6FDC3-F436-4D8D-BF07-9B0F03608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914900" y="2771775"/>
            <a:ext cx="3314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13right">
            <a:extLst xmlns:a="http://schemas.openxmlformats.org/drawingml/2006/main">
              <a:ext uri="{FF2B5EF4-FFF2-40B4-BE49-F238E27FC236}">
                <a16:creationId xmlns:a16="http://schemas.microsoft.com/office/drawing/2014/main" id="{FE29B9BD-9F98-4F85-B8F3-7CDAEDAB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104900"/>
            <a:ext cx="403860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 16 课合并检查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论文式短文定稿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同行评审处理记录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复现与 Workflow 材料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伦理 / AI 披露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个人展示与抽查</a:t>
            </a:r>
          </a:p>
        </p:txBody>
      </p:sp>
      <p:sp>
        <p:nvSpPr>
          <p:cNvPr id="14" name="p13c">
            <a:extLst xmlns:a="http://schemas.openxmlformats.org/drawingml/2006/main">
              <a:ext uri="{FF2B5EF4-FFF2-40B4-BE49-F238E27FC236}">
                <a16:creationId xmlns:a16="http://schemas.microsoft.com/office/drawing/2014/main" id="{803C4B33-759F-4E71-B570-BBAAE43C6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5300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本课不正式提交；保存当前个人项目版本与缺口清单。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备用：实践轮次与工件写回索引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lab">
            <a:extLst xmlns:a="http://schemas.openxmlformats.org/drawingml/2006/main">
              <a:ext uri="{FF2B5EF4-FFF2-40B4-BE49-F238E27FC236}">
                <a16:creationId xmlns:a16="http://schemas.microsoft.com/office/drawing/2014/main" id="{A82CDC4D-8BD0-4EE1-BA66-C5C6042E8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838200"/>
            <a:ext cx="2419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1125" b="1">
                <a:solidFill>
                  <a:srgbClr val="C8161E"/>
                </a:solidFill>
              </a:defRPr>
            </a:pPr>
            <a:r>
              <a:rPr sz="11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备用页｜不计入主节奏</a:t>
            </a:r>
          </a:p>
        </p:txBody>
      </p:sp>
      <p:sp>
        <p:nvSpPr>
          <p:cNvPr id="7" name="p140a">
            <a:extLst xmlns:a="http://schemas.openxmlformats.org/drawingml/2006/main">
              <a:ext uri="{FF2B5EF4-FFF2-40B4-BE49-F238E27FC236}">
                <a16:creationId xmlns:a16="http://schemas.microsoft.com/office/drawing/2014/main" id="{A76B09FB-426D-4FFE-9C57-5739A4050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81100"/>
            <a:ext cx="1428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35-50</a:t>
            </a:r>
          </a:p>
        </p:txBody>
      </p:sp>
      <p:sp>
        <p:nvSpPr>
          <p:cNvPr id="8" name="p140b">
            <a:extLst xmlns:a="http://schemas.openxmlformats.org/drawingml/2006/main">
              <a:ext uri="{FF2B5EF4-FFF2-40B4-BE49-F238E27FC236}">
                <a16:creationId xmlns:a16="http://schemas.microsoft.com/office/drawing/2014/main" id="{D4C99E43-5D93-4EB7-AA41-7DF3D8FB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181100"/>
            <a:ext cx="8572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 1 位同伴 + 三问  →  peer-review.md</a:t>
            </a:r>
          </a:p>
        </p:txBody>
      </p:sp>
      <p:sp>
        <p:nvSpPr>
          <p:cNvPr id="9" name="p141a">
            <a:extLst xmlns:a="http://schemas.openxmlformats.org/drawingml/2006/main">
              <a:ext uri="{FF2B5EF4-FFF2-40B4-BE49-F238E27FC236}">
                <a16:creationId xmlns:a16="http://schemas.microsoft.com/office/drawing/2014/main" id="{DDDA4BEB-8874-4DA4-BA7E-473152CC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1428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50-65</a:t>
            </a:r>
          </a:p>
        </p:txBody>
      </p:sp>
      <p:sp>
        <p:nvSpPr>
          <p:cNvPr id="10" name="p141b">
            <a:extLst xmlns:a="http://schemas.openxmlformats.org/drawingml/2006/main">
              <a:ext uri="{FF2B5EF4-FFF2-40B4-BE49-F238E27FC236}">
                <a16:creationId xmlns:a16="http://schemas.microsoft.com/office/drawing/2014/main" id="{FF86E8E0-5713-4F7B-9553-C4F41ECB6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14550"/>
            <a:ext cx="8572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 ≥2 条作者回应  →  peer-review.md</a:t>
            </a:r>
          </a:p>
        </p:txBody>
      </p:sp>
      <p:sp>
        <p:nvSpPr>
          <p:cNvPr id="11" name="p142a">
            <a:extLst xmlns:a="http://schemas.openxmlformats.org/drawingml/2006/main">
              <a:ext uri="{FF2B5EF4-FFF2-40B4-BE49-F238E27FC236}">
                <a16:creationId xmlns:a16="http://schemas.microsoft.com/office/drawing/2014/main" id="{C939D0F2-7961-4E48-99B6-219755D26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1428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65-82</a:t>
            </a:r>
          </a:p>
        </p:txBody>
      </p:sp>
      <p:sp>
        <p:nvSpPr>
          <p:cNvPr id="12" name="p142b">
            <a:extLst xmlns:a="http://schemas.openxmlformats.org/drawingml/2006/main">
              <a:ext uri="{FF2B5EF4-FFF2-40B4-BE49-F238E27FC236}">
                <a16:creationId xmlns:a16="http://schemas.microsoft.com/office/drawing/2014/main" id="{344CE81C-0C30-4658-93A5-C0BD08C50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048000"/>
            <a:ext cx="8572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十项预检  →  revision-plan.md</a:t>
            </a:r>
          </a:p>
        </p:txBody>
      </p:sp>
      <p:sp>
        <p:nvSpPr>
          <p:cNvPr id="13" name="p143a">
            <a:extLst xmlns:a="http://schemas.openxmlformats.org/drawingml/2006/main">
              <a:ext uri="{FF2B5EF4-FFF2-40B4-BE49-F238E27FC236}">
                <a16:creationId xmlns:a16="http://schemas.microsoft.com/office/drawing/2014/main" id="{EC7D8E39-85C7-438B-AC94-8B1B34B6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81450"/>
            <a:ext cx="1428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82-90</a:t>
            </a:r>
          </a:p>
        </p:txBody>
      </p:sp>
      <p:sp>
        <p:nvSpPr>
          <p:cNvPr id="14" name="p143b">
            <a:extLst xmlns:a="http://schemas.openxmlformats.org/drawingml/2006/main">
              <a:ext uri="{FF2B5EF4-FFF2-40B4-BE49-F238E27FC236}">
                <a16:creationId xmlns:a16="http://schemas.microsoft.com/office/drawing/2014/main" id="{29342215-2872-4C1A-B9A6-84F58373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981450"/>
            <a:ext cx="8572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致命 / 重要 / 表达  →  revision-plan.md</a:t>
            </a:r>
          </a:p>
        </p:txBody>
      </p:sp>
      <p:sp>
        <p:nvSpPr>
          <p:cNvPr id="15" name="p14c">
            <a:extLst xmlns:a="http://schemas.openxmlformats.org/drawingml/2006/main">
              <a:ext uri="{FF2B5EF4-FFF2-40B4-BE49-F238E27FC236}">
                <a16:creationId xmlns:a16="http://schemas.microsoft.com/office/drawing/2014/main" id="{649BB41F-B809-4C74-B52B-89FC9E456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所有工件写回个人项目，不形成共同提交。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备用：把泛化评审改写为可执行意见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lab">
            <a:extLst xmlns:a="http://schemas.openxmlformats.org/drawingml/2006/main">
              <a:ext uri="{FF2B5EF4-FFF2-40B4-BE49-F238E27FC236}">
                <a16:creationId xmlns:a16="http://schemas.microsoft.com/office/drawing/2014/main" id="{B8EEC58D-791B-41F3-9165-DF5D65A39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781050"/>
            <a:ext cx="4610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125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教师构造虚构评审｜非真实意见</a:t>
            </a:r>
          </a:p>
        </p:txBody>
      </p:sp>
      <p:sp>
        <p:nvSpPr>
          <p:cNvPr id="7" name="bad">
            <a:extLst xmlns:a="http://schemas.openxmlformats.org/drawingml/2006/main">
              <a:ext uri="{FF2B5EF4-FFF2-40B4-BE49-F238E27FC236}">
                <a16:creationId xmlns:a16="http://schemas.microsoft.com/office/drawing/2014/main" id="{83626EEC-6836-4BFD-88C0-5085FA7D7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000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“论证不严谨。”</a:t>
            </a:r>
          </a:p>
        </p:txBody>
      </p:sp>
      <p:sp>
        <p:nvSpPr>
          <p:cNvPr id="8" name="arr">
            <a:extLst xmlns:a="http://schemas.openxmlformats.org/drawingml/2006/main">
              <a:ext uri="{FF2B5EF4-FFF2-40B4-BE49-F238E27FC236}">
                <a16:creationId xmlns:a16="http://schemas.microsoft.com/office/drawing/2014/main" id="{4C06E76E-3846-4E23-8D40-0916348B6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09750"/>
            <a:ext cx="857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3000" b="1">
                <a:solidFill>
                  <a:srgbClr val="C8161E"/>
                </a:solidFill>
              </a:defRPr>
            </a:pPr>
            <a:r>
              <a:rPr sz="30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good">
            <a:extLst xmlns:a="http://schemas.openxmlformats.org/drawingml/2006/main">
              <a:ext uri="{FF2B5EF4-FFF2-40B4-BE49-F238E27FC236}">
                <a16:creationId xmlns:a16="http://schemas.microsoft.com/office/drawing/2014/main" id="{F005DB25-C8E9-4C1E-8A89-79E2AF10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390650"/>
            <a:ext cx="51625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“短文 §3 的主结论没有绑定实验 ID；结果不可追溯，可能挡住论证门。建议先补 ID 与结论追踪表链接。”</a:t>
            </a:r>
          </a:p>
        </p:txBody>
      </p:sp>
      <p:sp>
        <p:nvSpPr>
          <p:cNvPr id="10" name="p150">
            <a:extLst xmlns:a="http://schemas.openxmlformats.org/drawingml/2006/main">
              <a:ext uri="{FF2B5EF4-FFF2-40B4-BE49-F238E27FC236}">
                <a16:creationId xmlns:a16="http://schemas.microsoft.com/office/drawing/2014/main" id="{E9C6E02D-4537-4B8E-9D1F-7DFDD1F29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848100"/>
            <a:ext cx="18669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具体条目</a:t>
            </a:r>
          </a:p>
        </p:txBody>
      </p:sp>
      <p:sp>
        <p:nvSpPr>
          <p:cNvPr id="11" name="p151">
            <a:extLst xmlns:a="http://schemas.openxmlformats.org/drawingml/2006/main">
              <a:ext uri="{FF2B5EF4-FFF2-40B4-BE49-F238E27FC236}">
                <a16:creationId xmlns:a16="http://schemas.microsoft.com/office/drawing/2014/main" id="{05673596-56B6-4686-BB69-2A978E4B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848100"/>
            <a:ext cx="18669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rubric 维度</a:t>
            </a:r>
          </a:p>
        </p:txBody>
      </p:sp>
      <p:sp>
        <p:nvSpPr>
          <p:cNvPr id="12" name="p152">
            <a:extLst xmlns:a="http://schemas.openxmlformats.org/drawingml/2006/main">
              <a:ext uri="{FF2B5EF4-FFF2-40B4-BE49-F238E27FC236}">
                <a16:creationId xmlns:a16="http://schemas.microsoft.com/office/drawing/2014/main" id="{F5199848-DF72-4373-9D63-BFF4DD3B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48100"/>
            <a:ext cx="18669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风险等级</a:t>
            </a:r>
          </a:p>
        </p:txBody>
      </p:sp>
      <p:sp>
        <p:nvSpPr>
          <p:cNvPr id="13" name="p153">
            <a:extLst xmlns:a="http://schemas.openxmlformats.org/drawingml/2006/main">
              <a:ext uri="{FF2B5EF4-FFF2-40B4-BE49-F238E27FC236}">
                <a16:creationId xmlns:a16="http://schemas.microsoft.com/office/drawing/2014/main" id="{6B9662F0-F335-4269-8E8E-B92F5CC3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848100"/>
            <a:ext cx="18669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可执行动作</a:t>
            </a:r>
          </a:p>
        </p:txBody>
      </p:sp>
      <p:sp>
        <p:nvSpPr>
          <p:cNvPr id="14" name="p15c">
            <a:extLst xmlns:a="http://schemas.openxmlformats.org/drawingml/2006/main">
              <a:ext uri="{FF2B5EF4-FFF2-40B4-BE49-F238E27FC236}">
                <a16:creationId xmlns:a16="http://schemas.microsoft.com/office/drawing/2014/main" id="{7497CE18-3517-47A7-BB22-9BB76D1B2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57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从评价人，改为描述工作、风险与最小动作。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备用退出卡：作者保留最终决定权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lab">
            <a:extLst xmlns:a="http://schemas.openxmlformats.org/drawingml/2006/main">
              <a:ext uri="{FF2B5EF4-FFF2-40B4-BE49-F238E27FC236}">
                <a16:creationId xmlns:a16="http://schemas.microsoft.com/office/drawing/2014/main" id="{7678D2AF-8507-4E67-AB56-21C2EB894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838200"/>
            <a:ext cx="2038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1125" b="1">
                <a:solidFill>
                  <a:srgbClr val="C8161E"/>
                </a:solidFill>
              </a:defRPr>
            </a:pPr>
            <a:r>
              <a:rPr sz="11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备用页｜退出卡</a:t>
            </a:r>
          </a:p>
        </p:txBody>
      </p:sp>
      <p:sp>
        <p:nvSpPr>
          <p:cNvPr id="7" name="p160a">
            <a:extLst xmlns:a="http://schemas.openxmlformats.org/drawingml/2006/main">
              <a:ext uri="{FF2B5EF4-FFF2-40B4-BE49-F238E27FC236}">
                <a16:creationId xmlns:a16="http://schemas.microsoft.com/office/drawing/2014/main" id="{67987DE8-2BB7-41EA-BF75-15B9A0B80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95400"/>
            <a:ext cx="552450" cy="6286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p160b">
            <a:extLst xmlns:a="http://schemas.openxmlformats.org/drawingml/2006/main">
              <a:ext uri="{FF2B5EF4-FFF2-40B4-BE49-F238E27FC236}">
                <a16:creationId xmlns:a16="http://schemas.microsoft.com/office/drawing/2014/main" id="{1C8503BD-1E45-483A-9CC5-494C856C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95400"/>
            <a:ext cx="8953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哪条反馈最可能挡住论证门？</a:t>
            </a:r>
          </a:p>
        </p:txBody>
      </p:sp>
      <p:sp>
        <p:nvSpPr>
          <p:cNvPr id="9" name="p161a">
            <a:extLst xmlns:a="http://schemas.openxmlformats.org/drawingml/2006/main">
              <a:ext uri="{FF2B5EF4-FFF2-40B4-BE49-F238E27FC236}">
                <a16:creationId xmlns:a16="http://schemas.microsoft.com/office/drawing/2014/main" id="{A4D9BACF-EF6C-4221-9122-1988A56A8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552450" cy="6286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p161b">
            <a:extLst xmlns:a="http://schemas.openxmlformats.org/drawingml/2006/main">
              <a:ext uri="{FF2B5EF4-FFF2-40B4-BE49-F238E27FC236}">
                <a16:creationId xmlns:a16="http://schemas.microsoft.com/office/drawing/2014/main" id="{F822A8AF-3EFF-4E4E-9C51-2C08524AF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86000"/>
            <a:ext cx="8953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你决定采纳、澄清、补证还是保留异议？</a:t>
            </a:r>
          </a:p>
        </p:txBody>
      </p:sp>
      <p:sp>
        <p:nvSpPr>
          <p:cNvPr id="11" name="p162a">
            <a:extLst xmlns:a="http://schemas.openxmlformats.org/drawingml/2006/main">
              <a:ext uri="{FF2B5EF4-FFF2-40B4-BE49-F238E27FC236}">
                <a16:creationId xmlns:a16="http://schemas.microsoft.com/office/drawing/2014/main" id="{FEAE3B61-06BC-4B72-A75B-98BD3349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552450" cy="6286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2" name="p162b">
            <a:extLst xmlns:a="http://schemas.openxmlformats.org/drawingml/2006/main">
              <a:ext uri="{FF2B5EF4-FFF2-40B4-BE49-F238E27FC236}">
                <a16:creationId xmlns:a16="http://schemas.microsoft.com/office/drawing/2014/main" id="{7801144C-6A41-405F-8135-1688D8FF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76600"/>
            <a:ext cx="8953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16 课前先修哪个致命项？</a:t>
            </a:r>
          </a:p>
        </p:txBody>
      </p:sp>
      <p:sp>
        <p:nvSpPr>
          <p:cNvPr id="13" name="p16c">
            <a:extLst xmlns:a="http://schemas.openxmlformats.org/drawingml/2006/main">
              <a:ext uri="{FF2B5EF4-FFF2-40B4-BE49-F238E27FC236}">
                <a16:creationId xmlns:a16="http://schemas.microsoft.com/office/drawing/2014/main" id="{7F395A4B-B09C-4166-8CFF-E322517D7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6250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同伴提供输入；作者记录理由并承担最终决定。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2026-08-20T15:39:12.5950000Z</dcterms:created>
  <dcterms:modified xsi:type="dcterms:W3CDTF">2026-08-20T15:39:12.5950000Z</dcterms:modified>
</coreProperties>
</file>