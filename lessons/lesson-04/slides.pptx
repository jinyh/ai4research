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4beec7e842455c" /><Relationship Type="http://schemas.openxmlformats.org/officeDocument/2006/relationships/extended-properties" Target="/docProps/app.xml" Id="Rfcebbf6b7b2e46ab" /><Relationship Type="http://schemas.openxmlformats.org/officeDocument/2006/relationships/officeDocument" Target="/ppt/presentation.xml" Id="R6f073f6cf29847f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7fdffd97f64cb4"/>
  </p:sldMasterIdLst>
  <p:notesMasterIdLst>
    <p:notesMasterId xmlns:r="http://schemas.openxmlformats.org/officeDocument/2006/relationships" r:id="R4ba6313f2bb3488c"/>
  </p:notesMasterIdLst>
  <p:sldIdLst>
    <p:sldId xmlns:r="http://schemas.openxmlformats.org/officeDocument/2006/relationships" id="256" r:id="R26ff3fdb9c644185"/>
    <p:sldId xmlns:r="http://schemas.openxmlformats.org/officeDocument/2006/relationships" id="257" r:id="Raa107620abf34103"/>
    <p:sldId xmlns:r="http://schemas.openxmlformats.org/officeDocument/2006/relationships" id="258" r:id="R78180b5e03884695"/>
    <p:sldId xmlns:r="http://schemas.openxmlformats.org/officeDocument/2006/relationships" id="259" r:id="R0e8f538d542b417c"/>
    <p:sldId xmlns:r="http://schemas.openxmlformats.org/officeDocument/2006/relationships" id="260" r:id="R61bf3500a54c4551"/>
    <p:sldId xmlns:r="http://schemas.openxmlformats.org/officeDocument/2006/relationships" id="261" r:id="R4e30268e86294d04"/>
    <p:sldId xmlns:r="http://schemas.openxmlformats.org/officeDocument/2006/relationships" id="262" r:id="Re8917790891a491d"/>
    <p:sldId xmlns:r="http://schemas.openxmlformats.org/officeDocument/2006/relationships" id="263" r:id="Rdb3d509f79d44ec7"/>
    <p:sldId xmlns:r="http://schemas.openxmlformats.org/officeDocument/2006/relationships" id="264" r:id="R5a0e552036404292"/>
    <p:sldId xmlns:r="http://schemas.openxmlformats.org/officeDocument/2006/relationships" id="265" r:id="R80d901f783294df4"/>
    <p:sldId xmlns:r="http://schemas.openxmlformats.org/officeDocument/2006/relationships" id="266" r:id="R1467f533974c4a1d"/>
    <p:sldId xmlns:r="http://schemas.openxmlformats.org/officeDocument/2006/relationships" id="267" r:id="R354d584f129d49a3"/>
    <p:sldId xmlns:r="http://schemas.openxmlformats.org/officeDocument/2006/relationships" id="268" r:id="Rb958dc3ff98a499d"/>
    <p:sldId xmlns:r="http://schemas.openxmlformats.org/officeDocument/2006/relationships" id="269" r:id="R3ff00bfc497e4e0a"/>
    <p:sldId xmlns:r="http://schemas.openxmlformats.org/officeDocument/2006/relationships" id="270" r:id="Rd1dce4ebdd53480b"/>
    <p:sldId xmlns:r="http://schemas.openxmlformats.org/officeDocument/2006/relationships" id="271" r:id="R4e16d5abb9d948c9"/>
    <p:sldId xmlns:r="http://schemas.openxmlformats.org/officeDocument/2006/relationships" id="272" r:id="R30c379610f944182"/>
    <p:sldId xmlns:r="http://schemas.openxmlformats.org/officeDocument/2006/relationships" id="273" r:id="R1900676708074e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9837a0c49b4b99" /><Relationship Type="http://schemas.openxmlformats.org/officeDocument/2006/relationships/slideMaster" Target="/ppt/slideMasters/slideMaster1.xml" Id="R817fdffd97f64cb4" /><Relationship Type="http://schemas.openxmlformats.org/officeDocument/2006/relationships/notesMaster" Target="/ppt/notesMasters/notesMaster1.xml" Id="R4ba6313f2bb3488c" /><Relationship Type="http://schemas.openxmlformats.org/officeDocument/2006/relationships/presProps" Target="/ppt/presProps.xml" Id="Ra5b4698af3854023" /><Relationship Type="http://schemas.openxmlformats.org/officeDocument/2006/relationships/viewProps" Target="/ppt/viewProps.xml" Id="Rfebf1b4a0e59409a" /><Relationship Type="http://schemas.openxmlformats.org/officeDocument/2006/relationships/tableStyles" Target="/ppt/tableStyles.xml" Id="Rc1c3259c0b3a43c0" /><Relationship Type="http://schemas.openxmlformats.org/officeDocument/2006/relationships/slide" Target="/ppt/slides/slide1.xml" Id="R26ff3fdb9c644185" /><Relationship Type="http://schemas.openxmlformats.org/officeDocument/2006/relationships/slide" Target="/ppt/slides/slide2.xml" Id="Raa107620abf34103" /><Relationship Type="http://schemas.openxmlformats.org/officeDocument/2006/relationships/slide" Target="/ppt/slides/slide3.xml" Id="R78180b5e03884695" /><Relationship Type="http://schemas.openxmlformats.org/officeDocument/2006/relationships/slide" Target="/ppt/slides/slide4.xml" Id="R0e8f538d542b417c" /><Relationship Type="http://schemas.openxmlformats.org/officeDocument/2006/relationships/slide" Target="/ppt/slides/slide5.xml" Id="R61bf3500a54c4551" /><Relationship Type="http://schemas.openxmlformats.org/officeDocument/2006/relationships/slide" Target="/ppt/slides/slide6.xml" Id="R4e30268e86294d04" /><Relationship Type="http://schemas.openxmlformats.org/officeDocument/2006/relationships/slide" Target="/ppt/slides/slide7.xml" Id="Re8917790891a491d" /><Relationship Type="http://schemas.openxmlformats.org/officeDocument/2006/relationships/slide" Target="/ppt/slides/slide8.xml" Id="Rdb3d509f79d44ec7" /><Relationship Type="http://schemas.openxmlformats.org/officeDocument/2006/relationships/slide" Target="/ppt/slides/slide9.xml" Id="R5a0e552036404292" /><Relationship Type="http://schemas.openxmlformats.org/officeDocument/2006/relationships/slide" Target="/ppt/slides/slide10.xml" Id="R80d901f783294df4" /><Relationship Type="http://schemas.openxmlformats.org/officeDocument/2006/relationships/slide" Target="/ppt/slides/slide11.xml" Id="R1467f533974c4a1d" /><Relationship Type="http://schemas.openxmlformats.org/officeDocument/2006/relationships/slide" Target="/ppt/slides/slide12.xml" Id="R354d584f129d49a3" /><Relationship Type="http://schemas.openxmlformats.org/officeDocument/2006/relationships/slide" Target="/ppt/slides/slide13.xml" Id="Rb958dc3ff98a499d" /><Relationship Type="http://schemas.openxmlformats.org/officeDocument/2006/relationships/slide" Target="/ppt/slides/slide14.xml" Id="R3ff00bfc497e4e0a" /><Relationship Type="http://schemas.openxmlformats.org/officeDocument/2006/relationships/slide" Target="/ppt/slides/slide15.xml" Id="Rd1dce4ebdd53480b" /><Relationship Type="http://schemas.openxmlformats.org/officeDocument/2006/relationships/slide" Target="/ppt/slides/slide16.xml" Id="R4e16d5abb9d948c9" /><Relationship Type="http://schemas.openxmlformats.org/officeDocument/2006/relationships/slide" Target="/ppt/slides/slide17.xml" Id="R30c379610f944182" /><Relationship Type="http://schemas.openxmlformats.org/officeDocument/2006/relationships/slide" Target="/ppt/slides/slide18.xml" Id="R1900676708074e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09518f61ae42d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909959f6834fb3" /><Relationship Type="http://schemas.openxmlformats.org/officeDocument/2006/relationships/notesMaster" Target="/ppt/notesMasters/notesMaster1.xml" Id="Rf2067eb5943e40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2b5e7f206b42a5" /><Relationship Type="http://schemas.openxmlformats.org/officeDocument/2006/relationships/notesMaster" Target="/ppt/notesMasters/notesMaster1.xml" Id="R79411a6033cb46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8bd03e2c3584312" /><Relationship Type="http://schemas.openxmlformats.org/officeDocument/2006/relationships/notesMaster" Target="/ppt/notesMasters/notesMaster1.xml" Id="R71d2064c4ad04d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343e52b339416d" /><Relationship Type="http://schemas.openxmlformats.org/officeDocument/2006/relationships/notesMaster" Target="/ppt/notesMasters/notesMaster1.xml" Id="R293ad4a12f8747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f29e634a1746a2" /><Relationship Type="http://schemas.openxmlformats.org/officeDocument/2006/relationships/notesMaster" Target="/ppt/notesMasters/notesMaster1.xml" Id="R58492a90356c48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4b4282ee5d4e91" /><Relationship Type="http://schemas.openxmlformats.org/officeDocument/2006/relationships/notesMaster" Target="/ppt/notesMasters/notesMaster1.xml" Id="Rb150c696510a4ae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b3111c063ff46fd" /><Relationship Type="http://schemas.openxmlformats.org/officeDocument/2006/relationships/notesMaster" Target="/ppt/notesMasters/notesMaster1.xml" Id="R3f495520e4bb41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f05a1496824026" /><Relationship Type="http://schemas.openxmlformats.org/officeDocument/2006/relationships/notesMaster" Target="/ppt/notesMasters/notesMaster1.xml" Id="R90008daea4f0409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08e28fbba34956" /><Relationship Type="http://schemas.openxmlformats.org/officeDocument/2006/relationships/notesMaster" Target="/ppt/notesMasters/notesMaster1.xml" Id="R8a0b8f1a32554b6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6e5c27394f64af6" /><Relationship Type="http://schemas.openxmlformats.org/officeDocument/2006/relationships/notesMaster" Target="/ppt/notesMasters/notesMaster1.xml" Id="R7cdb229b84704c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56b3d7d959c4efe" /><Relationship Type="http://schemas.openxmlformats.org/officeDocument/2006/relationships/notesMaster" Target="/ppt/notesMasters/notesMaster1.xml" Id="R70de9f9a9ae14d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7e1a27193364c56" /><Relationship Type="http://schemas.openxmlformats.org/officeDocument/2006/relationships/notesMaster" Target="/ppt/notesMasters/notesMaster1.xml" Id="Reba749879fb6472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f4f3eb8b2eb4e7e" /><Relationship Type="http://schemas.openxmlformats.org/officeDocument/2006/relationships/notesMaster" Target="/ppt/notesMasters/notesMaster1.xml" Id="R030689748ff94c6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64cb12e273c4043" /><Relationship Type="http://schemas.openxmlformats.org/officeDocument/2006/relationships/notesMaster" Target="/ppt/notesMasters/notesMaster1.xml" Id="R08334b01b2f548a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3b7dee6ab494062" /><Relationship Type="http://schemas.openxmlformats.org/officeDocument/2006/relationships/notesMaster" Target="/ppt/notesMasters/notesMaster1.xml" Id="R68709e008d9542e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da38c69e47a4dd5" /><Relationship Type="http://schemas.openxmlformats.org/officeDocument/2006/relationships/notesMaster" Target="/ppt/notesMasters/notesMaster1.xml" Id="Rbb19a3af031c4da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c26901f364744aa" /><Relationship Type="http://schemas.openxmlformats.org/officeDocument/2006/relationships/notesMaster" Target="/ppt/notesMasters/notesMaster1.xml" Id="Rfb9f0f90053d45d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66098d3d5194bcf" /><Relationship Type="http://schemas.openxmlformats.org/officeDocument/2006/relationships/notesMaster" Target="/ppt/notesMasters/notesMaster1.xml" Id="Ra8235330d78341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本课不以读完论文为目标，而是建立原文位置、作者主张和人工判断之间可复查的追踪关系。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- lessons/备课规划.md</a:t>
            </a:r>
          </a:p>
          <a:p xmlns:a="http://schemas.openxmlformats.org/drawingml/2006/main">
            <a:r>
              <a:t>- lessons/lesson-04/slides.md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快问：你是否曾把 AI 摘要直接搬进阅读卡？第 3 课的 verified 只说明文献身份，不说明 AI 对贡献和局限的复述已经正确。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lessons/lesson-04/handout.md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课堂只要求跑通一篇论文的完整流程；第 6 课问题门统一检查至少三篇核心材料的完整精读卡。本课不新增逐周正式提交。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lessons/备课规划.md</a:t>
            </a:r>
          </a:p>
          <a:p xmlns:a="http://schemas.openxmlformats.org/drawingml/2006/main">
            <a:r>
              <a:t>- lessons/lesson-04/teaching-plan.md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本页示例是课程构造的失败摘要，不对应真实论文。让学生先识别：无位置、措辞增强、限定遗漏和人工判断缺席。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lessons/lesson-04/handout.md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导航用于决定哪些段落值得重点读。预期证据位置可能出错，因此全部标记未核验，不得直接进入作者主张栏。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lessons/lesson-04/handout.md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让学生用自己的论文先记录一个可复查位置，再从五项中选择最容易忽略的一项。这里是方法检查，不要求读完整篇论文。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lessons/lesson-04/handout.md</a:t>
            </a:r>
          </a:p>
          <a:p xmlns:a="http://schemas.openxmlformats.org/drawingml/2006/main">
            <a:r>
              <a:t>- Keshav, S. How to Read a Paper. ACM SIGCOMM CCR 37(3), 2007. DOI: 10.1145/1273445.1273458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质疑用于暴露研究者盲点，但它仍只是候选问题。不能把模型提出的担忧直接写成原文局限或研究结论。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lessons/lesson-04/handout.md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3 课审计文献是否真实，本课审计 AI 复述是否与原文一致。未发现错误时，如实记录检查过的风险与依据。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lessons/lesson-04/handout.md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人工定稿不是润色，而是把不同来源的内容放回正确栏位。只有能回到原文位置的内容才能写入作者主张。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lessons/lesson-04/handout.md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阅读卡是第 5 课证据地图的输入。核验状态区分 pending、verified、verified-with-caveat 与 rejected。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lessons/lesson-04/handout.md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左侧是实际 PDF 第一页；右侧两句是课程构造的待核验 AI 输出，不是论文结论。让学生直接在原文中查找四个断言。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lessons/lesson-04/reading-card-demo.md</a:t>
            </a:r>
          </a:p>
          <a:p xmlns:a="http://schemas.openxmlformats.org/drawingml/2006/main">
            <a:r>
              <a:t>- https://www.eecs.harvard.edu/~michaelm/postscripts/ReadPaper.pdf</a:t>
            </a:r>
          </a:p>
          <a:p xmlns:a="http://schemas.openxmlformats.org/drawingml/2006/main">
            <a:r>
              <a:t>- Constructed AI outputs; not claims made by Keshav (2007).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用同一研究问题串起三篇真实论文：C02 提供 SAE 对 PCA 的正向 patching 结果；C16 提醒可解释不等于可控制；C31 提醒 patching 成功仍可能来自 dormant pathway。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lessons/lesson-04/mi-reading-card-demo.md</a:t>
            </a:r>
          </a:p>
          <a:p xmlns:a="http://schemas.openxmlformats.org/drawingml/2006/main">
            <a:r>
              <a:t>- lessons/lesson-03/mi-search-trace-demo.md</a:t>
            </a:r>
          </a:p>
          <a:p xmlns:a="http://schemas.openxmlformats.org/drawingml/2006/main">
            <a:r>
              <a:t>- references/notes/mi-case-registry.md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让学生分别说出三篇论文能支持什么、不能支持什么、还缺什么。结论保持 review：正向结果、控制性限制与效度威胁共同决定后续 baseline。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lessons/lesson-04/mi-reading-card-demo.md</a:t>
            </a:r>
          </a:p>
          <a:p xmlns:a="http://schemas.openxmlformats.org/drawingml/2006/main">
            <a:r>
              <a:t>- references/notes/mi-case-registry.md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43-48 分钟说明任务。选择顺序为本人 verified / caveat 论文、导师组公开材料、课程真实 Keshav 演示包。模型不可用时照样完成原文核验与卡片。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lessons/lesson-04/teaching-plan.md</a:t>
            </a:r>
          </a:p>
          <a:p xmlns:a="http://schemas.openxmlformats.org/drawingml/2006/main">
            <a:r>
              <a:t>- lessons/lesson-04/reading-card-demo.md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 27 分钟。教师巡视只处理共同卡点；课堂至少完成一张完整阅读卡、一条偏差审计和一条 AI 使用记录。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lessons/lesson-04/teaching-plan.md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两人互查，每人约三到五分钟。反馈者只提问题，作者记录采纳、暂不采纳或待核验及理由。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lessons/lesson-04/teaching-plan.md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用四步主链回收本讲：AI 先导航，研究者回到原文核验，再审计 AI 偏差，最后保留可追溯位置并人工定稿。本页不引入新任务。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lessons/lesson-04/handout.md</a:t>
            </a:r>
          </a:p>
          <a:p xmlns:a="http://schemas.openxmlformats.org/drawingml/2006/main">
            <a:r>
              <a:t>- lessons/lesson-04/slides.md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5 课把多张阅读卡按研究问题重组为证据地图；第 6 课问题门检查至少三篇核心材料的完整精读卡。本课不新增正式提交。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lessons/备课规划.md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07b676b1c5445a" /><Relationship Type="http://schemas.openxmlformats.org/officeDocument/2006/relationships/image" Target="/ppt/media/image.png" Id="R7093efb09fcb48b6" /><Relationship Type="http://schemas.openxmlformats.org/officeDocument/2006/relationships/image" Target="/ppt/media/image2.png" Id="R1ad96b964f0b4007" /><Relationship Type="http://schemas.openxmlformats.org/officeDocument/2006/relationships/image" Target="/ppt/media/image3.png" Id="Re2ab211312444df7" /><Relationship Type="http://schemas.openxmlformats.org/officeDocument/2006/relationships/image" Target="/ppt/media/image4.png" Id="R7b7a6dce75b64b6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270f6310f8410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1fb09919e34156" /><Relationship Type="http://schemas.openxmlformats.org/officeDocument/2006/relationships/image" Target="/ppt/media/image2.png" Id="R05fd2fc091de4f01" /><Relationship Type="http://schemas.openxmlformats.org/officeDocument/2006/relationships/image" Target="/ppt/media/image5.png" Id="R2b8dc3f7f69a48f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78ff0adabf4169" /><Relationship Type="http://schemas.openxmlformats.org/officeDocument/2006/relationships/image" Target="/ppt/media/image.png" Id="R6a85ee3687fe4402" /><Relationship Type="http://schemas.openxmlformats.org/officeDocument/2006/relationships/image" Target="/ppt/media/image3.png" Id="R39b3b367f99b458e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93efb09fcb48b6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d96b964f0b4007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ab211312444df7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7a6dce75b64b6b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fd2fc091de4f01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8dc3f7f69a48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85ee3687fe4402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b3b367f99b458e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95763393dd14fcf" /><Relationship Type="http://schemas.openxmlformats.org/officeDocument/2006/relationships/slideLayout" Target="/ppt/slideLayouts/slideLayout1.xml" Id="R5a380aad3ec646a6" /><Relationship Type="http://schemas.openxmlformats.org/officeDocument/2006/relationships/slideLayout" Target="/ppt/slideLayouts/slideLayout2.xml" Id="R33fc326efd084b46" /><Relationship Type="http://schemas.openxmlformats.org/officeDocument/2006/relationships/slideLayout" Target="/ppt/slideLayouts/slideLayout3.xml" Id="R78a987f635f840d7" /><Relationship Type="http://schemas.openxmlformats.org/officeDocument/2006/relationships/slideLayout" Target="/ppt/slideLayouts/slideLayout4.xml" Id="Re107d86bdea4432f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380aad3ec646a6"/>
    <p:sldLayoutId xmlns:r="http://schemas.openxmlformats.org/officeDocument/2006/relationships" id="2147483650" r:id="R33fc326efd084b46"/>
    <p:sldLayoutId xmlns:r="http://schemas.openxmlformats.org/officeDocument/2006/relationships" id="2147483651" r:id="R78a987f635f840d7"/>
    <p:sldLayoutId xmlns:r="http://schemas.openxmlformats.org/officeDocument/2006/relationships" id="2147483652" r:id="Re107d86bdea4432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08ed8e192940f1" /><Relationship Type="http://schemas.openxmlformats.org/officeDocument/2006/relationships/notesSlide" Target="/ppt/notesSlides/notesSlide1.xml" Id="Reced36db3d0849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8ffe7615dc74a4e" /><Relationship Type="http://schemas.openxmlformats.org/officeDocument/2006/relationships/notesSlide" Target="/ppt/notesSlides/notesSlide2.xml" Id="R51d9211ea82245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5e184cd93054cdc" /><Relationship Type="http://schemas.openxmlformats.org/officeDocument/2006/relationships/notesSlide" Target="/ppt/notesSlides/notesSlide3.xml" Id="Rb7bef7382d274d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64823350eee4d8b" /><Relationship Type="http://schemas.openxmlformats.org/officeDocument/2006/relationships/notesSlide" Target="/ppt/notesSlides/notesSlide4.xml" Id="R03ae25d83ffc4e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189db3966d7477d" /><Relationship Type="http://schemas.openxmlformats.org/officeDocument/2006/relationships/notesSlide" Target="/ppt/notesSlides/notesSlide5.xml" Id="R64d120622e5741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66ef4363f3a48e5" /><Relationship Type="http://schemas.openxmlformats.org/officeDocument/2006/relationships/notesSlide" Target="/ppt/notesSlides/notesSlide6.xml" Id="Rccf9b851e1a648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33347df891c4d39" /><Relationship Type="http://schemas.openxmlformats.org/officeDocument/2006/relationships/notesSlide" Target="/ppt/notesSlides/notesSlide7.xml" Id="Rfd623743e4504f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af2a2a653844fd3" /><Relationship Type="http://schemas.openxmlformats.org/officeDocument/2006/relationships/notesSlide" Target="/ppt/notesSlides/notesSlide8.xml" Id="Red98a596e81644d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285100a3e4b4a80" /><Relationship Type="http://schemas.openxmlformats.org/officeDocument/2006/relationships/notesSlide" Target="/ppt/notesSlides/notesSlide9.xml" Id="R33a6353074ce4b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964f459d9374a5e" /><Relationship Type="http://schemas.openxmlformats.org/officeDocument/2006/relationships/notesSlide" Target="/ppt/notesSlides/notesSlide10.xml" Id="Rc1f93308a8934f1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5d89e0460f44c67" /><Relationship Type="http://schemas.openxmlformats.org/officeDocument/2006/relationships/image" Target="/ppt/media/image6.png" Id="R29f18ec26525433c" /><Relationship Type="http://schemas.openxmlformats.org/officeDocument/2006/relationships/notesSlide" Target="/ppt/notesSlides/notesSlide11.xml" Id="R6e3d87f22c8d49c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fda9f7e08fa472b" /><Relationship Type="http://schemas.openxmlformats.org/officeDocument/2006/relationships/image" Target="/ppt/media/image7.png" Id="Ra13e890cea2e410c" /><Relationship Type="http://schemas.openxmlformats.org/officeDocument/2006/relationships/notesSlide" Target="/ppt/notesSlides/notesSlide12.xml" Id="R29e2e83eab4844a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9427ff271f44386" /><Relationship Type="http://schemas.openxmlformats.org/officeDocument/2006/relationships/notesSlide" Target="/ppt/notesSlides/notesSlide13.xml" Id="Rdf86f6f4963b460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939657025b24ce2" /><Relationship Type="http://schemas.openxmlformats.org/officeDocument/2006/relationships/notesSlide" Target="/ppt/notesSlides/notesSlide14.xml" Id="R09bee434dbf849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1fc39c6bda34e32" /><Relationship Type="http://schemas.openxmlformats.org/officeDocument/2006/relationships/notesSlide" Target="/ppt/notesSlides/notesSlide15.xml" Id="Re9438eb991924df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fce9f317f144910" /><Relationship Type="http://schemas.openxmlformats.org/officeDocument/2006/relationships/notesSlide" Target="/ppt/notesSlides/notesSlide16.xml" Id="R40cd367190d34b4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a7161919a72443f" /><Relationship Type="http://schemas.openxmlformats.org/officeDocument/2006/relationships/notesSlide" Target="/ppt/notesSlides/notesSlide17.xml" Id="Ree515fd79e5e439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6805f3ac3f048c9" /><Relationship Type="http://schemas.openxmlformats.org/officeDocument/2006/relationships/notesSlide" Target="/ppt/notesSlides/notesSlide18.xml" Id="Rae8d2bcaf7f24fd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3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第4讲 AI 辅助论文精读与深度分析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 课之后，“已读”仍未核验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57B9165E-7429-4A67-9F11-A2E5A2F3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3 课已经建立</a:t>
            </a:r>
          </a:p>
        </p:txBody>
      </p:sp>
      <p:sp>
        <p:nvSpPr>
          <p:cNvPr id="7" name="p02-left">
            <a:extLst xmlns:a="http://schemas.openxmlformats.org/drawingml/2006/main">
              <a:ext uri="{FF2B5EF4-FFF2-40B4-BE49-F238E27FC236}">
                <a16:creationId xmlns:a16="http://schemas.microsoft.com/office/drawing/2014/main" id="{8D5925B0-4CF2-4515-85AF-83A08BDB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2862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候选文献表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证据角色初标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来源审计：题名 / 作者 / DOI</a:t>
            </a:r>
          </a:p>
        </p:txBody>
      </p:sp>
      <p:sp>
        <p:nvSpPr>
          <p:cNvPr id="8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B7BF6DD5-6E0D-44C2-85F8-654A7310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0096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仍然没有回答</a:t>
            </a:r>
          </a:p>
        </p:txBody>
      </p:sp>
      <p:sp>
        <p:nvSpPr>
          <p:cNvPr id="9" name="p02-right">
            <a:extLst xmlns:a="http://schemas.openxmlformats.org/drawingml/2006/main">
              <a:ext uri="{FF2B5EF4-FFF2-40B4-BE49-F238E27FC236}">
                <a16:creationId xmlns:a16="http://schemas.microsoft.com/office/drawing/2014/main" id="{27FDAE17-93BC-457D-ACE1-F6F20994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57350"/>
            <a:ext cx="428625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原文任务与设置是什么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AI 措辞与原文一致吗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图表位置真的对应吗</a:t>
            </a:r>
          </a:p>
        </p:txBody>
      </p:sp>
      <p:sp>
        <p:nvSpPr>
          <p:cNvPr id="10" name="p02-neq">
            <a:extLst xmlns:a="http://schemas.openxmlformats.org/drawingml/2006/main">
              <a:ext uri="{FF2B5EF4-FFF2-40B4-BE49-F238E27FC236}">
                <a16:creationId xmlns:a16="http://schemas.microsoft.com/office/drawing/2014/main" id="{3F6B814C-6736-486A-A329-E43A9014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038350"/>
            <a:ext cx="1428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C8161E"/>
                </a:solidFill>
              </a:defRPr>
            </a:pPr>
            <a:r>
              <a:rPr sz="4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11" name="p02-thesis">
            <a:extLst xmlns:a="http://schemas.openxmlformats.org/drawingml/2006/main">
              <a:ext uri="{FF2B5EF4-FFF2-40B4-BE49-F238E27FC236}">
                <a16:creationId xmlns:a16="http://schemas.microsoft.com/office/drawing/2014/main" id="{53498179-5F5B-457B-BC9A-1888B235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57700"/>
            <a:ext cx="9867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来源核验回答“论文是真的”，不回答“复述是对的”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n-0">
            <a:extLst xmlns:a="http://schemas.openxmlformats.org/drawingml/2006/main">
              <a:ext uri="{FF2B5EF4-FFF2-40B4-BE49-F238E27FC236}">
                <a16:creationId xmlns:a16="http://schemas.microsoft.com/office/drawing/2014/main" id="{40274D9A-CDDC-46E7-8EC1-98E33D7F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77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3-goal-0">
            <a:extLst xmlns:a="http://schemas.openxmlformats.org/drawingml/2006/main">
              <a:ext uri="{FF2B5EF4-FFF2-40B4-BE49-F238E27FC236}">
                <a16:creationId xmlns:a16="http://schemas.microsoft.com/office/drawing/2014/main" id="{BA37791D-8B38-413C-89E5-E7B306AF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906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用五步流程完成一篇论文的结构化精读</a:t>
            </a:r>
          </a:p>
        </p:txBody>
      </p:sp>
      <p:sp>
        <p:nvSpPr>
          <p:cNvPr id="8" name="p03-n-1">
            <a:extLst xmlns:a="http://schemas.openxmlformats.org/drawingml/2006/main">
              <a:ext uri="{FF2B5EF4-FFF2-40B4-BE49-F238E27FC236}">
                <a16:creationId xmlns:a16="http://schemas.microsoft.com/office/drawing/2014/main" id="{3040FFD2-A7E4-4637-8B37-8606E445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03-goal-1">
            <a:extLst xmlns:a="http://schemas.openxmlformats.org/drawingml/2006/main">
              <a:ext uri="{FF2B5EF4-FFF2-40B4-BE49-F238E27FC236}">
                <a16:creationId xmlns:a16="http://schemas.microsoft.com/office/drawing/2014/main" id="{082A66A4-8914-4BA3-925E-73DB3E8B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回到原文检查任务、设置、指标、对照与限定</a:t>
            </a:r>
          </a:p>
        </p:txBody>
      </p:sp>
      <p:sp>
        <p:nvSpPr>
          <p:cNvPr id="10" name="p03-n-2">
            <a:extLst xmlns:a="http://schemas.openxmlformats.org/drawingml/2006/main">
              <a:ext uri="{FF2B5EF4-FFF2-40B4-BE49-F238E27FC236}">
                <a16:creationId xmlns:a16="http://schemas.microsoft.com/office/drawing/2014/main" id="{87643DE3-13AA-4E57-AEE0-528F4154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03-goal-2">
            <a:extLst xmlns:a="http://schemas.openxmlformats.org/drawingml/2006/main">
              <a:ext uri="{FF2B5EF4-FFF2-40B4-BE49-F238E27FC236}">
                <a16:creationId xmlns:a16="http://schemas.microsoft.com/office/drawing/2014/main" id="{E1CE566C-7D43-4D5A-BBDF-B15689F3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 AI 错误/遗漏，或已检查风险与依据</a:t>
            </a:r>
          </a:p>
        </p:txBody>
      </p:sp>
      <p:sp>
        <p:nvSpPr>
          <p:cNvPr id="12" name="p03-n-3">
            <a:extLst xmlns:a="http://schemas.openxmlformats.org/drawingml/2006/main">
              <a:ext uri="{FF2B5EF4-FFF2-40B4-BE49-F238E27FC236}">
                <a16:creationId xmlns:a16="http://schemas.microsoft.com/office/drawing/2014/main" id="{9A3FE85F-E28A-4F23-ACE6-B3BCB98B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03-goal-3">
            <a:extLst xmlns:a="http://schemas.openxmlformats.org/drawingml/2006/main">
              <a:ext uri="{FF2B5EF4-FFF2-40B4-BE49-F238E27FC236}">
                <a16:creationId xmlns:a16="http://schemas.microsoft.com/office/drawing/2014/main" id="{B2C3158B-F599-49E6-B8A0-AD18A84C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195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建立带页码、图表或章节位置的阅读卡</a:t>
            </a:r>
          </a:p>
        </p:txBody>
      </p:sp>
      <p:sp>
        <p:nvSpPr>
          <p:cNvPr id="14" name="p03-output-title">
            <a:extLst xmlns:a="http://schemas.openxmlformats.org/drawingml/2006/main">
              <a:ext uri="{FF2B5EF4-FFF2-40B4-BE49-F238E27FC236}">
                <a16:creationId xmlns:a16="http://schemas.microsoft.com/office/drawing/2014/main" id="{27F11694-419D-4BF5-8B58-DC3D4170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009650"/>
            <a:ext cx="3676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课堂最低产出</a:t>
            </a:r>
          </a:p>
        </p:txBody>
      </p:sp>
      <p:sp>
        <p:nvSpPr>
          <p:cNvPr id="15" name="p03-output">
            <a:extLst xmlns:a="http://schemas.openxmlformats.org/drawingml/2006/main">
              <a:ext uri="{FF2B5EF4-FFF2-40B4-BE49-F238E27FC236}">
                <a16:creationId xmlns:a16="http://schemas.microsoft.com/office/drawing/2014/main" id="{8740BA6A-5081-4BBC-B54A-CC5F96C91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19250"/>
            <a:ext cx="36766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1 张完整阅读卡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+ 1 条偏差审计记录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+ 1 条 AI 使用记录</a:t>
            </a:r>
          </a:p>
        </p:txBody>
      </p:sp>
      <p:sp>
        <p:nvSpPr>
          <p:cNvPr id="16" name="p03-gate">
            <a:extLst xmlns:a="http://schemas.openxmlformats.org/drawingml/2006/main">
              <a:ext uri="{FF2B5EF4-FFF2-40B4-BE49-F238E27FC236}">
                <a16:creationId xmlns:a16="http://schemas.microsoft.com/office/drawing/2014/main" id="{7C6F623D-3A97-4249-AD57-B08EEAB1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00450"/>
            <a:ext cx="36766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6 课问题门前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累计至少 3 张完整精读卡</a:t>
            </a:r>
          </a:p>
        </p:txBody>
      </p:sp>
      <p:sp>
        <p:nvSpPr>
          <p:cNvPr id="17" name="p03-no-submit">
            <a:extLst xmlns:a="http://schemas.openxmlformats.org/drawingml/2006/main">
              <a:ext uri="{FF2B5EF4-FFF2-40B4-BE49-F238E27FC236}">
                <a16:creationId xmlns:a16="http://schemas.microsoft.com/office/drawing/2014/main" id="{7BE29A60-B531-4A94-BA73-C761097D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91100"/>
            <a:ext cx="459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本课不正式提交｜持续回写个人项目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读懂摘要不等于理解贡献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fail-label">
            <a:extLst xmlns:a="http://schemas.openxmlformats.org/drawingml/2006/main">
              <a:ext uri="{FF2B5EF4-FFF2-40B4-BE49-F238E27FC236}">
                <a16:creationId xmlns:a16="http://schemas.microsoft.com/office/drawing/2014/main" id="{4D23AEF0-97ED-4321-B385-7B17C7A6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965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看起来完整</a:t>
            </a:r>
          </a:p>
        </p:txBody>
      </p:sp>
      <p:sp>
        <p:nvSpPr>
          <p:cNvPr id="7" name="p04-fail">
            <a:extLst xmlns:a="http://schemas.openxmlformats.org/drawingml/2006/main">
              <a:ext uri="{FF2B5EF4-FFF2-40B4-BE49-F238E27FC236}">
                <a16:creationId xmlns:a16="http://schemas.microsoft.com/office/drawing/2014/main" id="{C7AC15E0-517E-4334-835C-6F9AF2B5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4000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摘要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“该方法消除了遗漏，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见图 2 的对照实验。”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无原文位置｜无限定｜无人工判断</a:t>
            </a:r>
          </a:p>
        </p:txBody>
      </p:sp>
      <p:sp>
        <p:nvSpPr>
          <p:cNvPr id="8" name="p04-neq">
            <a:extLst xmlns:a="http://schemas.openxmlformats.org/drawingml/2006/main">
              <a:ext uri="{FF2B5EF4-FFF2-40B4-BE49-F238E27FC236}">
                <a16:creationId xmlns:a16="http://schemas.microsoft.com/office/drawing/2014/main" id="{E8FF7183-723F-4E71-922C-17502F395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62200"/>
            <a:ext cx="133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C8161E"/>
                </a:solidFill>
              </a:defRPr>
            </a:pPr>
            <a:r>
              <a:rPr sz="4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9" name="p04-pass-label">
            <a:extLst xmlns:a="http://schemas.openxmlformats.org/drawingml/2006/main">
              <a:ext uri="{FF2B5EF4-FFF2-40B4-BE49-F238E27FC236}">
                <a16:creationId xmlns:a16="http://schemas.microsoft.com/office/drawing/2014/main" id="{43A8F6B4-73DB-49D4-B8C9-3A978974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96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可以复查</a:t>
            </a:r>
          </a:p>
        </p:txBody>
      </p:sp>
      <p:sp>
        <p:nvSpPr>
          <p:cNvPr id="10" name="p04-pass">
            <a:extLst xmlns:a="http://schemas.openxmlformats.org/drawingml/2006/main">
              <a:ext uri="{FF2B5EF4-FFF2-40B4-BE49-F238E27FC236}">
                <a16:creationId xmlns:a16="http://schemas.microsoft.com/office/drawing/2014/main" id="{5E32776F-004A-4519-8209-5747E557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62100"/>
            <a:ext cx="44767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19050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2000"/>
              </a:lnSpc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2000"/>
              </a:lnSpc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作者主张 + 原文位置</a:t>
            </a:r>
          </a:p>
          <a:p xmlns:a="http://schemas.openxmlformats.org/drawingml/2006/main">
            <a:pPr algn="ctr">
              <a:lnSpc>
                <a:spcPct val="122000"/>
              </a:lnSpc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指标 / 对照 / 样本 / 限定</a:t>
            </a:r>
          </a:p>
          <a:p xmlns:a="http://schemas.openxmlformats.org/drawingml/2006/main">
            <a:pPr algn="ctr">
              <a:lnSpc>
                <a:spcPct val="122000"/>
              </a:lnSpc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个人判断 + 偏差审计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2000"/>
              </a:lnSpc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pending → verified-with-caveat</a:t>
            </a:r>
          </a:p>
        </p:txBody>
      </p:sp>
      <p:sp>
        <p:nvSpPr>
          <p:cNvPr id="11" name="p04-thesis">
            <a:extLst xmlns:a="http://schemas.openxmlformats.org/drawingml/2006/main">
              <a:ext uri="{FF2B5EF4-FFF2-40B4-BE49-F238E27FC236}">
                <a16:creationId xmlns:a16="http://schemas.microsoft.com/office/drawing/2014/main" id="{0FABA82B-F226-4C3D-BE94-7AB2B2A3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14900"/>
            <a:ext cx="8115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流畅 ≠ 一致；结构完整 ≠ 贡献清晰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第一步：AI 导航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map-title">
            <a:extLst xmlns:a="http://schemas.openxmlformats.org/drawingml/2006/main">
              <a:ext uri="{FF2B5EF4-FFF2-40B4-BE49-F238E27FC236}">
                <a16:creationId xmlns:a16="http://schemas.microsoft.com/office/drawing/2014/main" id="{DD46648F-0036-4F5C-851B-1C4DC063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先建立阅读地图</a:t>
            </a:r>
          </a:p>
        </p:txBody>
      </p:sp>
      <p:sp>
        <p:nvSpPr>
          <p:cNvPr id="7" name="p05-item-0">
            <a:extLst xmlns:a="http://schemas.openxmlformats.org/drawingml/2006/main">
              <a:ext uri="{FF2B5EF4-FFF2-40B4-BE49-F238E27FC236}">
                <a16:creationId xmlns:a16="http://schemas.microsoft.com/office/drawing/2014/main" id="{173C8FDE-ABB2-42BB-90F3-A77709A0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3524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中心问题</a:t>
            </a:r>
          </a:p>
        </p:txBody>
      </p:sp>
      <p:sp>
        <p:nvSpPr>
          <p:cNvPr id="8" name="p05-item-1">
            <a:extLst xmlns:a="http://schemas.openxmlformats.org/drawingml/2006/main">
              <a:ext uri="{FF2B5EF4-FFF2-40B4-BE49-F238E27FC236}">
                <a16:creationId xmlns:a16="http://schemas.microsoft.com/office/drawing/2014/main" id="{636E2642-73E8-4DCC-8BA4-2F52CFE5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3524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论证结构</a:t>
            </a:r>
          </a:p>
        </p:txBody>
      </p:sp>
      <p:sp>
        <p:nvSpPr>
          <p:cNvPr id="9" name="p05-item-2">
            <a:extLst xmlns:a="http://schemas.openxmlformats.org/drawingml/2006/main">
              <a:ext uri="{FF2B5EF4-FFF2-40B4-BE49-F238E27FC236}">
                <a16:creationId xmlns:a16="http://schemas.microsoft.com/office/drawing/2014/main" id="{E82ADDF4-9571-4E52-9DD6-4B09CB0F3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67050"/>
            <a:ext cx="3524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关键术语</a:t>
            </a:r>
          </a:p>
        </p:txBody>
      </p:sp>
      <p:sp>
        <p:nvSpPr>
          <p:cNvPr id="10" name="p05-item-3">
            <a:extLst xmlns:a="http://schemas.openxmlformats.org/drawingml/2006/main">
              <a:ext uri="{FF2B5EF4-FFF2-40B4-BE49-F238E27FC236}">
                <a16:creationId xmlns:a16="http://schemas.microsoft.com/office/drawing/2014/main" id="{62D3DB32-39B7-4F5C-A8A3-D86C85AC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3524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预期证据位置</a:t>
            </a:r>
          </a:p>
        </p:txBody>
      </p:sp>
      <p:sp>
        <p:nvSpPr>
          <p:cNvPr id="11" name="p05-item-4">
            <a:extLst xmlns:a="http://schemas.openxmlformats.org/drawingml/2006/main">
              <a:ext uri="{FF2B5EF4-FFF2-40B4-BE49-F238E27FC236}">
                <a16:creationId xmlns:a16="http://schemas.microsoft.com/office/drawing/2014/main" id="{6CD69999-DE29-4B99-8359-C456A81C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3524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待追问问题</a:t>
            </a:r>
          </a:p>
        </p:txBody>
      </p:sp>
      <p:sp>
        <p:nvSpPr>
          <p:cNvPr id="12" name="p05-arrow">
            <a:extLst xmlns:a="http://schemas.openxmlformats.org/drawingml/2006/main">
              <a:ext uri="{FF2B5EF4-FFF2-40B4-BE49-F238E27FC236}">
                <a16:creationId xmlns:a16="http://schemas.microsoft.com/office/drawing/2014/main" id="{41123369-9CBF-47DB-AABC-08E0DB50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28900"/>
            <a:ext cx="742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05-output">
            <a:extLst xmlns:a="http://schemas.openxmlformats.org/drawingml/2006/main">
              <a:ext uri="{FF2B5EF4-FFF2-40B4-BE49-F238E27FC236}">
                <a16:creationId xmlns:a16="http://schemas.microsoft.com/office/drawing/2014/main" id="{4FA7AFFB-C21B-4280-A29E-3D9584E8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383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63746"/>
                </a:solidFill>
              </a:defRPr>
            </a:pPr>
            <a:r>
              <a:rPr sz="22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导航输出</a:t>
            </a:r>
          </a:p>
        </p:txBody>
      </p:sp>
      <p:sp>
        <p:nvSpPr>
          <p:cNvPr id="14" name="p05-unverified">
            <a:extLst xmlns:a="http://schemas.openxmlformats.org/drawingml/2006/main">
              <a:ext uri="{FF2B5EF4-FFF2-40B4-BE49-F238E27FC236}">
                <a16:creationId xmlns:a16="http://schemas.microsoft.com/office/drawing/2014/main" id="{C14894CF-7B53-48F3-AAC9-2A536A20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33650"/>
            <a:ext cx="2571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C8161E"/>
                </a:solidFill>
              </a:defRPr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未核验</a:t>
            </a:r>
          </a:p>
        </p:txBody>
      </p:sp>
      <p:sp>
        <p:nvSpPr>
          <p:cNvPr id="15" name="p05-next">
            <a:extLst xmlns:a="http://schemas.openxmlformats.org/drawingml/2006/main">
              <a:ext uri="{FF2B5EF4-FFF2-40B4-BE49-F238E27FC236}">
                <a16:creationId xmlns:a16="http://schemas.microsoft.com/office/drawing/2014/main" id="{C3AE0199-7AF3-4C0C-B5D0-810B8F68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29050"/>
            <a:ext cx="4229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它只决定你先读哪里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下一步必须回到原文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第二步：原文核验与检查五项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locator">
            <a:extLst xmlns:a="http://schemas.openxmlformats.org/drawingml/2006/main">
              <a:ext uri="{FF2B5EF4-FFF2-40B4-BE49-F238E27FC236}">
                <a16:creationId xmlns:a16="http://schemas.microsoft.com/office/drawing/2014/main" id="{5B604996-2F82-4184-B528-088A345D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14400"/>
            <a:ext cx="1078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先留下两个可复查位置：§3.2, p.5 ｜ Fig.2 / Table 1</a:t>
            </a:r>
          </a:p>
        </p:txBody>
      </p:sp>
      <p:sp>
        <p:nvSpPr>
          <p:cNvPr id="7" name="p06-table-h-0">
            <a:extLst xmlns:a="http://schemas.openxmlformats.org/drawingml/2006/main">
              <a:ext uri="{FF2B5EF4-FFF2-40B4-BE49-F238E27FC236}">
                <a16:creationId xmlns:a16="http://schemas.microsoft.com/office/drawing/2014/main" id="{7BB22E2E-4892-47C6-AE68-A96DF0567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维度</a:t>
            </a:r>
          </a:p>
        </p:txBody>
      </p:sp>
      <p:sp>
        <p:nvSpPr>
          <p:cNvPr id="8" name="p06-table-h-1">
            <a:extLst xmlns:a="http://schemas.openxmlformats.org/drawingml/2006/main">
              <a:ext uri="{FF2B5EF4-FFF2-40B4-BE49-F238E27FC236}">
                <a16:creationId xmlns:a16="http://schemas.microsoft.com/office/drawing/2014/main" id="{6893C116-E47C-4BA9-825C-639B97D4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562100"/>
            <a:ext cx="885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检查问题</a:t>
            </a:r>
          </a:p>
        </p:txBody>
      </p:sp>
      <p:sp>
        <p:nvSpPr>
          <p:cNvPr id="9" name="p06-table-r0-0">
            <a:extLst xmlns:a="http://schemas.openxmlformats.org/drawingml/2006/main">
              <a:ext uri="{FF2B5EF4-FFF2-40B4-BE49-F238E27FC236}">
                <a16:creationId xmlns:a16="http://schemas.microsoft.com/office/drawing/2014/main" id="{BEDDE7D1-9919-4771-9834-3FBFDDC9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62150"/>
            <a:ext cx="2000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0" name="p06-table-r0-1">
            <a:extLst xmlns:a="http://schemas.openxmlformats.org/drawingml/2006/main">
              <a:ext uri="{FF2B5EF4-FFF2-40B4-BE49-F238E27FC236}">
                <a16:creationId xmlns:a16="http://schemas.microsoft.com/office/drawing/2014/main" id="{B219A4D0-292B-4EAF-9CE4-57B4043B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62150"/>
            <a:ext cx="8858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原文任务和当前项目一样吗？</a:t>
            </a:r>
          </a:p>
        </p:txBody>
      </p:sp>
      <p:sp>
        <p:nvSpPr>
          <p:cNvPr id="11" name="p06-table-r1-0">
            <a:extLst xmlns:a="http://schemas.openxmlformats.org/drawingml/2006/main">
              <a:ext uri="{FF2B5EF4-FFF2-40B4-BE49-F238E27FC236}">
                <a16:creationId xmlns:a16="http://schemas.microsoft.com/office/drawing/2014/main" id="{13F3F240-AC66-443C-B4B4-703C211F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2000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设置</a:t>
            </a:r>
          </a:p>
        </p:txBody>
      </p:sp>
      <p:sp>
        <p:nvSpPr>
          <p:cNvPr id="12" name="p06-table-r1-1">
            <a:extLst xmlns:a="http://schemas.openxmlformats.org/drawingml/2006/main">
              <a:ext uri="{FF2B5EF4-FFF2-40B4-BE49-F238E27FC236}">
                <a16:creationId xmlns:a16="http://schemas.microsoft.com/office/drawing/2014/main" id="{74EC085B-56AC-4A92-83B5-21A8FD76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05075"/>
            <a:ext cx="8858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输入、规模与条件是什么？</a:t>
            </a:r>
          </a:p>
        </p:txBody>
      </p:sp>
      <p:sp>
        <p:nvSpPr>
          <p:cNvPr id="13" name="p06-table-r2-0">
            <a:extLst xmlns:a="http://schemas.openxmlformats.org/drawingml/2006/main">
              <a:ext uri="{FF2B5EF4-FFF2-40B4-BE49-F238E27FC236}">
                <a16:creationId xmlns:a16="http://schemas.microsoft.com/office/drawing/2014/main" id="{613A2DE8-5D1A-4A14-BBCE-5CFAB23E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2000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指标</a:t>
            </a:r>
          </a:p>
        </p:txBody>
      </p:sp>
      <p:sp>
        <p:nvSpPr>
          <p:cNvPr id="14" name="p06-table-r2-1">
            <a:extLst xmlns:a="http://schemas.openxmlformats.org/drawingml/2006/main">
              <a:ext uri="{FF2B5EF4-FFF2-40B4-BE49-F238E27FC236}">
                <a16:creationId xmlns:a16="http://schemas.microsoft.com/office/drawing/2014/main" id="{79747AAA-B2C2-4DE2-BC65-4E0086F1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48000"/>
            <a:ext cx="8858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度量如何定义？与你的指标一致吗？</a:t>
            </a:r>
          </a:p>
        </p:txBody>
      </p:sp>
      <p:sp>
        <p:nvSpPr>
          <p:cNvPr id="15" name="p06-table-r3-0">
            <a:extLst xmlns:a="http://schemas.openxmlformats.org/drawingml/2006/main">
              <a:ext uri="{FF2B5EF4-FFF2-40B4-BE49-F238E27FC236}">
                <a16:creationId xmlns:a16="http://schemas.microsoft.com/office/drawing/2014/main" id="{EC4221EF-F07B-4CC4-AF38-2ABAD1E1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90925"/>
            <a:ext cx="2000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对照</a:t>
            </a:r>
          </a:p>
        </p:txBody>
      </p:sp>
      <p:sp>
        <p:nvSpPr>
          <p:cNvPr id="16" name="p06-table-r3-1">
            <a:extLst xmlns:a="http://schemas.openxmlformats.org/drawingml/2006/main">
              <a:ext uri="{FF2B5EF4-FFF2-40B4-BE49-F238E27FC236}">
                <a16:creationId xmlns:a16="http://schemas.microsoft.com/office/drawing/2014/main" id="{AFF82208-6D4B-4EA4-871F-24599762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590925"/>
            <a:ext cx="8858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是什么？比较公平吗？</a:t>
            </a:r>
          </a:p>
        </p:txBody>
      </p:sp>
      <p:sp>
        <p:nvSpPr>
          <p:cNvPr id="17" name="p06-table-r4-0">
            <a:extLst xmlns:a="http://schemas.openxmlformats.org/drawingml/2006/main">
              <a:ext uri="{FF2B5EF4-FFF2-40B4-BE49-F238E27FC236}">
                <a16:creationId xmlns:a16="http://schemas.microsoft.com/office/drawing/2014/main" id="{0444ADC3-4E79-462C-8796-0CF1BCA0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000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</a:t>
            </a:r>
          </a:p>
        </p:txBody>
      </p:sp>
      <p:sp>
        <p:nvSpPr>
          <p:cNvPr id="18" name="p06-table-r4-1">
            <a:extLst xmlns:a="http://schemas.openxmlformats.org/drawingml/2006/main">
              <a:ext uri="{FF2B5EF4-FFF2-40B4-BE49-F238E27FC236}">
                <a16:creationId xmlns:a16="http://schemas.microsoft.com/office/drawing/2014/main" id="{84E201DF-A8EC-4228-A567-246D0298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33850"/>
            <a:ext cx="8858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结论只在什么范围内成立？</a:t>
            </a:r>
          </a:p>
        </p:txBody>
      </p:sp>
      <p:sp>
        <p:nvSpPr>
          <p:cNvPr id="19" name="p06-rule">
            <a:extLst xmlns:a="http://schemas.openxmlformats.org/drawingml/2006/main">
              <a:ext uri="{FF2B5EF4-FFF2-40B4-BE49-F238E27FC236}">
                <a16:creationId xmlns:a16="http://schemas.microsoft.com/office/drawing/2014/main" id="{AFDB2D19-37A9-4A8A-9AB9-15BF982B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14900"/>
            <a:ext cx="10058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没有原文位置的主张，不能进入阅读卡的“作者主张”栏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第三步：AI 质疑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question">
            <a:extLst xmlns:a="http://schemas.openxmlformats.org/drawingml/2006/main">
              <a:ext uri="{FF2B5EF4-FFF2-40B4-BE49-F238E27FC236}">
                <a16:creationId xmlns:a16="http://schemas.microsoft.com/office/drawing/2014/main" id="{0780E58B-8A08-4B3A-9604-1F1C1432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让 AI 根据已核验内容提出候选问题</a:t>
            </a:r>
          </a:p>
        </p:txBody>
      </p:sp>
      <p:sp>
        <p:nvSpPr>
          <p:cNvPr id="7" name="p07-q-0">
            <a:extLst xmlns:a="http://schemas.openxmlformats.org/drawingml/2006/main">
              <a:ext uri="{FF2B5EF4-FFF2-40B4-BE49-F238E27FC236}">
                <a16:creationId xmlns:a16="http://schemas.microsoft.com/office/drawing/2014/main" id="{75040465-2E75-4D8F-BC5A-181F44B3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742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什么条件会推翻这个结果？</a:t>
            </a:r>
          </a:p>
        </p:txBody>
      </p:sp>
      <p:sp>
        <p:nvSpPr>
          <p:cNvPr id="8" name="p07-q-1">
            <a:extLst xmlns:a="http://schemas.openxmlformats.org/drawingml/2006/main">
              <a:ext uri="{FF2B5EF4-FFF2-40B4-BE49-F238E27FC236}">
                <a16:creationId xmlns:a16="http://schemas.microsoft.com/office/drawing/2014/main" id="{8A90BAA6-CEAE-4135-8138-6A6D82943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14575"/>
            <a:ext cx="742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对照公平吗，baseline 是否被低估？</a:t>
            </a:r>
          </a:p>
        </p:txBody>
      </p:sp>
      <p:sp>
        <p:nvSpPr>
          <p:cNvPr id="9" name="p07-q-2">
            <a:extLst xmlns:a="http://schemas.openxmlformats.org/drawingml/2006/main">
              <a:ext uri="{FF2B5EF4-FFF2-40B4-BE49-F238E27FC236}">
                <a16:creationId xmlns:a16="http://schemas.microsoft.com/office/drawing/2014/main" id="{6472A917-C389-44EB-B7AB-DAC27891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742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样本规模支撑当前结论强度吗？</a:t>
            </a:r>
          </a:p>
        </p:txBody>
      </p:sp>
      <p:sp>
        <p:nvSpPr>
          <p:cNvPr id="10" name="p07-q-3">
            <a:extLst xmlns:a="http://schemas.openxmlformats.org/drawingml/2006/main">
              <a:ext uri="{FF2B5EF4-FFF2-40B4-BE49-F238E27FC236}">
                <a16:creationId xmlns:a16="http://schemas.microsoft.com/office/drawing/2014/main" id="{8421C244-7BA5-4212-BCA1-A6791A5D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90925"/>
            <a:ext cx="742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笔记是否遗漏原文限定条件？</a:t>
            </a:r>
          </a:p>
        </p:txBody>
      </p:sp>
      <p:sp>
        <p:nvSpPr>
          <p:cNvPr id="11" name="p07-q-4">
            <a:extLst xmlns:a="http://schemas.openxmlformats.org/drawingml/2006/main">
              <a:ext uri="{FF2B5EF4-FFF2-40B4-BE49-F238E27FC236}">
                <a16:creationId xmlns:a16="http://schemas.microsoft.com/office/drawing/2014/main" id="{DFEEB681-F3F4-4C4F-B93E-0C438127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742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是否存在原文未讨论的替代解释？</a:t>
            </a:r>
          </a:p>
        </p:txBody>
      </p:sp>
      <p:sp>
        <p:nvSpPr>
          <p:cNvPr id="12" name="p07-side">
            <a:extLst xmlns:a="http://schemas.openxmlformats.org/drawingml/2006/main">
              <a:ext uri="{FF2B5EF4-FFF2-40B4-BE49-F238E27FC236}">
                <a16:creationId xmlns:a16="http://schemas.microsoft.com/office/drawing/2014/main" id="{83810BB3-F501-4563-9072-67577540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38300"/>
            <a:ext cx="26670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候选问题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13" name="p07-return">
            <a:extLst xmlns:a="http://schemas.openxmlformats.org/drawingml/2006/main">
              <a:ext uri="{FF2B5EF4-FFF2-40B4-BE49-F238E27FC236}">
                <a16:creationId xmlns:a16="http://schemas.microsoft.com/office/drawing/2014/main" id="{DA6C654C-E359-4944-AC53-9E6C839A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05250"/>
            <a:ext cx="3048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每个问题都要回到原文检查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第四步：偏差审计与错读类型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b-0">
            <a:extLst xmlns:a="http://schemas.openxmlformats.org/drawingml/2006/main">
              <a:ext uri="{FF2B5EF4-FFF2-40B4-BE49-F238E27FC236}">
                <a16:creationId xmlns:a16="http://schemas.microsoft.com/office/drawing/2014/main" id="{BE9BF67E-253D-420C-8A1A-5754681B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619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过度概括</a:t>
            </a:r>
          </a:p>
        </p:txBody>
      </p:sp>
      <p:sp>
        <p:nvSpPr>
          <p:cNvPr id="7" name="p08-e-0">
            <a:extLst xmlns:a="http://schemas.openxmlformats.org/drawingml/2006/main">
              <a:ext uri="{FF2B5EF4-FFF2-40B4-BE49-F238E27FC236}">
                <a16:creationId xmlns:a16="http://schemas.microsoft.com/office/drawing/2014/main" id="{23279088-A9EA-4B82-940C-495E0001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00965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降低 → 消除</a:t>
            </a:r>
          </a:p>
        </p:txBody>
      </p:sp>
      <p:sp>
        <p:nvSpPr>
          <p:cNvPr id="8" name="p08-b-1">
            <a:extLst xmlns:a="http://schemas.openxmlformats.org/drawingml/2006/main">
              <a:ext uri="{FF2B5EF4-FFF2-40B4-BE49-F238E27FC236}">
                <a16:creationId xmlns:a16="http://schemas.microsoft.com/office/drawing/2014/main" id="{44C17E96-BEA5-4028-A5E6-1CCB70C7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619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位置错指</a:t>
            </a:r>
          </a:p>
        </p:txBody>
      </p:sp>
      <p:sp>
        <p:nvSpPr>
          <p:cNvPr id="9" name="p08-e-1">
            <a:extLst xmlns:a="http://schemas.openxmlformats.org/drawingml/2006/main">
              <a:ext uri="{FF2B5EF4-FFF2-40B4-BE49-F238E27FC236}">
                <a16:creationId xmlns:a16="http://schemas.microsoft.com/office/drawing/2014/main" id="{2015958B-2AA4-4518-9E6B-3DF6A9E9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24025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Fig.2 → Table 1</a:t>
            </a:r>
          </a:p>
        </p:txBody>
      </p:sp>
      <p:sp>
        <p:nvSpPr>
          <p:cNvPr id="10" name="p08-b-2">
            <a:extLst xmlns:a="http://schemas.openxmlformats.org/drawingml/2006/main">
              <a:ext uri="{FF2B5EF4-FFF2-40B4-BE49-F238E27FC236}">
                <a16:creationId xmlns:a16="http://schemas.microsoft.com/office/drawing/2014/main" id="{430B2FA6-C3C6-4CAC-B082-A7FB4ECD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619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限定遗漏</a:t>
            </a:r>
          </a:p>
        </p:txBody>
      </p:sp>
      <p:sp>
        <p:nvSpPr>
          <p:cNvPr id="11" name="p08-e-2">
            <a:extLst xmlns:a="http://schemas.openxmlformats.org/drawingml/2006/main">
              <a:ext uri="{FF2B5EF4-FFF2-40B4-BE49-F238E27FC236}">
                <a16:creationId xmlns:a16="http://schemas.microsoft.com/office/drawing/2014/main" id="{5E9F5F7B-3219-4836-8E63-5AF33A14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43840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计算机领域 → 全部领域</a:t>
            </a:r>
          </a:p>
        </p:txBody>
      </p:sp>
      <p:sp>
        <p:nvSpPr>
          <p:cNvPr id="12" name="p08-b-3">
            <a:extLst xmlns:a="http://schemas.openxmlformats.org/drawingml/2006/main">
              <a:ext uri="{FF2B5EF4-FFF2-40B4-BE49-F238E27FC236}">
                <a16:creationId xmlns:a16="http://schemas.microsoft.com/office/drawing/2014/main" id="{27417E51-CA4A-4FAE-9B33-C9CE33C21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619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张冠李戴</a:t>
            </a:r>
          </a:p>
        </p:txBody>
      </p:sp>
      <p:sp>
        <p:nvSpPr>
          <p:cNvPr id="13" name="p08-e-3">
            <a:extLst xmlns:a="http://schemas.openxmlformats.org/drawingml/2006/main">
              <a:ext uri="{FF2B5EF4-FFF2-40B4-BE49-F238E27FC236}">
                <a16:creationId xmlns:a16="http://schemas.microsoft.com/office/drawing/2014/main" id="{56F84685-31F0-4C3B-8513-181AD43B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52775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参考文献方法 → 本文方法</a:t>
            </a:r>
          </a:p>
        </p:txBody>
      </p:sp>
      <p:sp>
        <p:nvSpPr>
          <p:cNvPr id="14" name="p08-b-4">
            <a:extLst xmlns:a="http://schemas.openxmlformats.org/drawingml/2006/main">
              <a:ext uri="{FF2B5EF4-FFF2-40B4-BE49-F238E27FC236}">
                <a16:creationId xmlns:a16="http://schemas.microsoft.com/office/drawing/2014/main" id="{29D1A940-C8CF-473D-926E-E3A4E784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619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伪造引用</a:t>
            </a:r>
          </a:p>
        </p:txBody>
      </p:sp>
      <p:sp>
        <p:nvSpPr>
          <p:cNvPr id="15" name="p08-e-4">
            <a:extLst xmlns:a="http://schemas.openxmlformats.org/drawingml/2006/main">
              <a:ext uri="{FF2B5EF4-FFF2-40B4-BE49-F238E27FC236}">
                <a16:creationId xmlns:a16="http://schemas.microsoft.com/office/drawing/2014/main" id="{5C24F910-1AF6-49C3-B14C-99974E26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题名 / 作者 / 页码不符</a:t>
            </a:r>
          </a:p>
        </p:txBody>
      </p:sp>
      <p:sp>
        <p:nvSpPr>
          <p:cNvPr id="16" name="p08-record-title">
            <a:extLst xmlns:a="http://schemas.openxmlformats.org/drawingml/2006/main">
              <a:ext uri="{FF2B5EF4-FFF2-40B4-BE49-F238E27FC236}">
                <a16:creationId xmlns:a16="http://schemas.microsoft.com/office/drawing/2014/main" id="{34A6423E-72C2-46E5-9F55-FFC1D0BC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0096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最小偏差记录</a:t>
            </a:r>
          </a:p>
        </p:txBody>
      </p:sp>
      <p:sp>
        <p:nvSpPr>
          <p:cNvPr id="17" name="p08-record">
            <a:extLst xmlns:a="http://schemas.openxmlformats.org/drawingml/2006/main">
              <a:ext uri="{FF2B5EF4-FFF2-40B4-BE49-F238E27FC236}">
                <a16:creationId xmlns:a16="http://schemas.microsoft.com/office/drawing/2014/main" id="{BBFFAE20-0CBB-4273-A5FC-6CEF40C6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00200"/>
            <a:ext cx="37719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2F638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输出</a:t>
            </a:r>
          </a:p>
          <a:p xmlns:a="http://schemas.openxmlformats.org/drawingml/2006/main">
            <a:pPr algn="ctr">
              <a:lnSpc>
                <a:spcPct val="116000"/>
              </a:lnSpc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lnSpc>
                <a:spcPct val="116000"/>
              </a:lnSpc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原文实际</a:t>
            </a:r>
          </a:p>
          <a:p xmlns:a="http://schemas.openxmlformats.org/drawingml/2006/main">
            <a:pPr algn="ctr">
              <a:lnSpc>
                <a:spcPct val="116000"/>
              </a:lnSpc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lnSpc>
                <a:spcPct val="116000"/>
              </a:lnSpc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核验位置</a:t>
            </a:r>
          </a:p>
          <a:p xmlns:a="http://schemas.openxmlformats.org/drawingml/2006/main">
            <a:pPr algn="ctr">
              <a:lnSpc>
                <a:spcPct val="116000"/>
              </a:lnSpc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lnSpc>
                <a:spcPct val="116000"/>
              </a:lnSpc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处理决定</a:t>
            </a:r>
          </a:p>
        </p:txBody>
      </p:sp>
      <p:sp>
        <p:nvSpPr>
          <p:cNvPr id="18" name="p08-honesty">
            <a:extLst xmlns:a="http://schemas.openxmlformats.org/drawingml/2006/main">
              <a:ext uri="{FF2B5EF4-FFF2-40B4-BE49-F238E27FC236}">
                <a16:creationId xmlns:a16="http://schemas.microsoft.com/office/drawing/2014/main" id="{258B1AFB-E366-4FB9-BB0D-BB7C0FA1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未发现明显错误？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记录已检查风险与核验依据，不虚构错误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第五步：人工定稿与主张区分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source-title">
            <a:extLst xmlns:a="http://schemas.openxmlformats.org/drawingml/2006/main">
              <a:ext uri="{FF2B5EF4-FFF2-40B4-BE49-F238E27FC236}">
                <a16:creationId xmlns:a16="http://schemas.microsoft.com/office/drawing/2014/main" id="{ACFBAC64-EF49-42D5-9907-C797651D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52500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复述可能来自</a:t>
            </a:r>
          </a:p>
        </p:txBody>
      </p:sp>
      <p:sp>
        <p:nvSpPr>
          <p:cNvPr id="7" name="p09-source-0">
            <a:extLst xmlns:a="http://schemas.openxmlformats.org/drawingml/2006/main">
              <a:ext uri="{FF2B5EF4-FFF2-40B4-BE49-F238E27FC236}">
                <a16:creationId xmlns:a16="http://schemas.microsoft.com/office/drawing/2014/main" id="{952C6DA5-4E52-424B-80E4-73572D4A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原文确实写了</a:t>
            </a:r>
          </a:p>
        </p:txBody>
      </p:sp>
      <p:sp>
        <p:nvSpPr>
          <p:cNvPr id="8" name="p09-source-1">
            <a:extLst xmlns:a="http://schemas.openxmlformats.org/drawingml/2006/main">
              <a:ext uri="{FF2B5EF4-FFF2-40B4-BE49-F238E27FC236}">
                <a16:creationId xmlns:a16="http://schemas.microsoft.com/office/drawing/2014/main" id="{B9D4FFF0-A761-41F8-8541-B2D05440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7170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?  AI 推断得更具体</a:t>
            </a:r>
          </a:p>
        </p:txBody>
      </p:sp>
      <p:sp>
        <p:nvSpPr>
          <p:cNvPr id="9" name="p09-source-2">
            <a:extLst xmlns:a="http://schemas.openxmlformats.org/drawingml/2006/main">
              <a:ext uri="{FF2B5EF4-FFF2-40B4-BE49-F238E27FC236}">
                <a16:creationId xmlns:a16="http://schemas.microsoft.com/office/drawing/2014/main" id="{C1D32368-D33F-433F-9C2C-4346A512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0035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?  AI 根据常识新增</a:t>
            </a:r>
          </a:p>
        </p:txBody>
      </p:sp>
      <p:sp>
        <p:nvSpPr>
          <p:cNvPr id="10" name="p09-source-3">
            <a:extLst xmlns:a="http://schemas.openxmlformats.org/drawingml/2006/main">
              <a:ext uri="{FF2B5EF4-FFF2-40B4-BE49-F238E27FC236}">
                <a16:creationId xmlns:a16="http://schemas.microsoft.com/office/drawing/2014/main" id="{9C3C23DC-375F-42EA-9695-27CF66EA8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不同论文内容拼装</a:t>
            </a:r>
          </a:p>
        </p:txBody>
      </p:sp>
      <p:sp>
        <p:nvSpPr>
          <p:cNvPr id="11" name="p09-source-4">
            <a:extLst xmlns:a="http://schemas.openxmlformats.org/drawingml/2006/main">
              <a:ext uri="{FF2B5EF4-FFF2-40B4-BE49-F238E27FC236}">
                <a16:creationId xmlns:a16="http://schemas.microsoft.com/office/drawing/2014/main" id="{CEBC4B5B-6B7F-421F-9D5F-06FC5D8E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5765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措辞强度被改写</a:t>
            </a:r>
          </a:p>
        </p:txBody>
      </p:sp>
      <p:sp>
        <p:nvSpPr>
          <p:cNvPr id="12" name="p09-arrow">
            <a:extLst xmlns:a="http://schemas.openxmlformats.org/drawingml/2006/main">
              <a:ext uri="{FF2B5EF4-FFF2-40B4-BE49-F238E27FC236}">
                <a16:creationId xmlns:a16="http://schemas.microsoft.com/office/drawing/2014/main" id="{B2DA1DAA-32EB-42FE-93B7-5CE451A3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6479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09-only">
            <a:extLst xmlns:a="http://schemas.openxmlformats.org/drawingml/2006/main">
              <a:ext uri="{FF2B5EF4-FFF2-40B4-BE49-F238E27FC236}">
                <a16:creationId xmlns:a16="http://schemas.microsoft.com/office/drawing/2014/main" id="{3E9CC839-A4F6-49BE-80F4-D9D30A29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933450"/>
            <a:ext cx="504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只有第一种</a:t>
            </a:r>
          </a:p>
        </p:txBody>
      </p:sp>
      <p:sp>
        <p:nvSpPr>
          <p:cNvPr id="14" name="p09-d-0">
            <a:extLst xmlns:a="http://schemas.openxmlformats.org/drawingml/2006/main">
              <a:ext uri="{FF2B5EF4-FFF2-40B4-BE49-F238E27FC236}">
                <a16:creationId xmlns:a16="http://schemas.microsoft.com/office/drawing/2014/main" id="{9E429C67-8FC1-4FBA-A12C-BE410D2E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572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作者主张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带原文位置</a:t>
            </a:r>
          </a:p>
        </p:txBody>
      </p:sp>
      <p:sp>
        <p:nvSpPr>
          <p:cNvPr id="15" name="p09-d-1">
            <a:extLst xmlns:a="http://schemas.openxmlformats.org/drawingml/2006/main">
              <a:ext uri="{FF2B5EF4-FFF2-40B4-BE49-F238E27FC236}">
                <a16:creationId xmlns:a16="http://schemas.microsoft.com/office/drawing/2014/main" id="{11676CD6-37AC-48E9-AAB7-7B0D6BAD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3150"/>
            <a:ext cx="4572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原文证据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指标 / 对照 / 样本 / 限定</a:t>
            </a:r>
          </a:p>
        </p:txBody>
      </p:sp>
      <p:sp>
        <p:nvSpPr>
          <p:cNvPr id="16" name="p09-d-2">
            <a:extLst xmlns:a="http://schemas.openxmlformats.org/drawingml/2006/main">
              <a:ext uri="{FF2B5EF4-FFF2-40B4-BE49-F238E27FC236}">
                <a16:creationId xmlns:a16="http://schemas.microsoft.com/office/drawing/2014/main" id="{2631D214-025A-4A92-A25B-7962FC7C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81350"/>
            <a:ext cx="4572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263746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个人判断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适用性 / 待验证 / 项目关系</a:t>
            </a:r>
          </a:p>
        </p:txBody>
      </p:sp>
      <p:sp>
        <p:nvSpPr>
          <p:cNvPr id="17" name="p09-d-3">
            <a:extLst xmlns:a="http://schemas.openxmlformats.org/drawingml/2006/main">
              <a:ext uri="{FF2B5EF4-FFF2-40B4-BE49-F238E27FC236}">
                <a16:creationId xmlns:a16="http://schemas.microsoft.com/office/drawing/2014/main" id="{8070CB12-8E93-41EE-B557-5933283E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4572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A86C1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AI 建议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导航 / 质疑 / 偏差记录</a:t>
            </a:r>
          </a:p>
        </p:txBody>
      </p:sp>
      <p:sp>
        <p:nvSpPr>
          <p:cNvPr id="18" name="p09-responsibility">
            <a:extLst xmlns:a="http://schemas.openxmlformats.org/drawingml/2006/main">
              <a:ext uri="{FF2B5EF4-FFF2-40B4-BE49-F238E27FC236}">
                <a16:creationId xmlns:a16="http://schemas.microsoft.com/office/drawing/2014/main" id="{59CE3CF1-EFE0-4602-A959-5B6B598C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010150"/>
            <a:ext cx="807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判断责任在学生：AI 可以建议，不能定稿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阅读卡字段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card-h-0">
            <a:extLst xmlns:a="http://schemas.openxmlformats.org/drawingml/2006/main">
              <a:ext uri="{FF2B5EF4-FFF2-40B4-BE49-F238E27FC236}">
                <a16:creationId xmlns:a16="http://schemas.microsoft.com/office/drawing/2014/main" id="{673FEC52-D2F2-401C-AD72-4A606320D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阅读卡字段</a:t>
            </a:r>
          </a:p>
        </p:txBody>
      </p:sp>
      <p:sp>
        <p:nvSpPr>
          <p:cNvPr id="7" name="p10-card-h-1">
            <a:extLst xmlns:a="http://schemas.openxmlformats.org/drawingml/2006/main">
              <a:ext uri="{FF2B5EF4-FFF2-40B4-BE49-F238E27FC236}">
                <a16:creationId xmlns:a16="http://schemas.microsoft.com/office/drawing/2014/main" id="{2A88FD16-EBDB-4B08-9C7A-8225D0A5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876300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最低记录</a:t>
            </a:r>
          </a:p>
        </p:txBody>
      </p:sp>
      <p:sp>
        <p:nvSpPr>
          <p:cNvPr id="8" name="p10-card-r0-0">
            <a:extLst xmlns:a="http://schemas.openxmlformats.org/drawingml/2006/main">
              <a:ext uri="{FF2B5EF4-FFF2-40B4-BE49-F238E27FC236}">
                <a16:creationId xmlns:a16="http://schemas.microsoft.com/office/drawing/2014/main" id="{C41FC59D-0709-4287-BCA6-813441A6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论文身份</a:t>
            </a:r>
          </a:p>
        </p:txBody>
      </p:sp>
      <p:sp>
        <p:nvSpPr>
          <p:cNvPr id="9" name="p10-card-r0-1">
            <a:extLst xmlns:a="http://schemas.openxmlformats.org/drawingml/2006/main">
              <a:ext uri="{FF2B5EF4-FFF2-40B4-BE49-F238E27FC236}">
                <a16:creationId xmlns:a16="http://schemas.microsoft.com/office/drawing/2014/main" id="{635FD2A9-0AA5-4D50-80D1-416AE745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257300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题名 / 作者 / 年份 / 正式来源 / DOI</a:t>
            </a:r>
          </a:p>
        </p:txBody>
      </p:sp>
      <p:sp>
        <p:nvSpPr>
          <p:cNvPr id="10" name="p10-card-r1-0">
            <a:extLst xmlns:a="http://schemas.openxmlformats.org/drawingml/2006/main">
              <a:ext uri="{FF2B5EF4-FFF2-40B4-BE49-F238E27FC236}">
                <a16:creationId xmlns:a16="http://schemas.microsoft.com/office/drawing/2014/main" id="{1E973BF8-3559-435C-AF73-335180E3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来源核验 + 证据角色</a:t>
            </a:r>
          </a:p>
        </p:txBody>
      </p:sp>
      <p:sp>
        <p:nvSpPr>
          <p:cNvPr id="11" name="p10-card-r1-1">
            <a:extLst xmlns:a="http://schemas.openxmlformats.org/drawingml/2006/main">
              <a:ext uri="{FF2B5EF4-FFF2-40B4-BE49-F238E27FC236}">
                <a16:creationId xmlns:a16="http://schemas.microsoft.com/office/drawing/2014/main" id="{9BB12DB8-1F72-43E8-BFCA-76FBB317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38300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四态；主 / 补充 / 对比 / 线索</a:t>
            </a:r>
          </a:p>
        </p:txBody>
      </p:sp>
      <p:sp>
        <p:nvSpPr>
          <p:cNvPr id="12" name="p10-card-r2-0">
            <a:extLst xmlns:a="http://schemas.openxmlformats.org/drawingml/2006/main">
              <a:ext uri="{FF2B5EF4-FFF2-40B4-BE49-F238E27FC236}">
                <a16:creationId xmlns:a16="http://schemas.microsoft.com/office/drawing/2014/main" id="{07274B66-C552-4F10-8745-03286705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中心问题</a:t>
            </a:r>
          </a:p>
        </p:txBody>
      </p:sp>
      <p:sp>
        <p:nvSpPr>
          <p:cNvPr id="13" name="p10-card-r2-1">
            <a:extLst xmlns:a="http://schemas.openxmlformats.org/drawingml/2006/main">
              <a:ext uri="{FF2B5EF4-FFF2-40B4-BE49-F238E27FC236}">
                <a16:creationId xmlns:a16="http://schemas.microsoft.com/office/drawing/2014/main" id="{783C8EC7-652F-4E9E-BCC3-03EF4265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19300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本次阅读要回答的一句话</a:t>
            </a:r>
          </a:p>
        </p:txBody>
      </p:sp>
      <p:sp>
        <p:nvSpPr>
          <p:cNvPr id="14" name="p10-card-r3-0">
            <a:extLst xmlns:a="http://schemas.openxmlformats.org/drawingml/2006/main">
              <a:ext uri="{FF2B5EF4-FFF2-40B4-BE49-F238E27FC236}">
                <a16:creationId xmlns:a16="http://schemas.microsoft.com/office/drawing/2014/main" id="{D39D3B06-162D-464F-8F80-1F84F65B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作者主张 + 位置</a:t>
            </a:r>
          </a:p>
        </p:txBody>
      </p:sp>
      <p:sp>
        <p:nvSpPr>
          <p:cNvPr id="15" name="p10-card-r3-1">
            <a:extLst xmlns:a="http://schemas.openxmlformats.org/drawingml/2006/main">
              <a:ext uri="{FF2B5EF4-FFF2-40B4-BE49-F238E27FC236}">
                <a16:creationId xmlns:a16="http://schemas.microsoft.com/office/drawing/2014/main" id="{ABC7E609-64B1-4A6B-BC28-D96DE304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00300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章节 / 页码 / 图表；与个人判断分栏</a:t>
            </a:r>
          </a:p>
        </p:txBody>
      </p:sp>
      <p:sp>
        <p:nvSpPr>
          <p:cNvPr id="16" name="p10-card-r4-0">
            <a:extLst xmlns:a="http://schemas.openxmlformats.org/drawingml/2006/main">
              <a:ext uri="{FF2B5EF4-FFF2-40B4-BE49-F238E27FC236}">
                <a16:creationId xmlns:a16="http://schemas.microsoft.com/office/drawing/2014/main" id="{930B7197-2E9E-41C9-99C7-DB1DC856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原文证据</a:t>
            </a:r>
          </a:p>
        </p:txBody>
      </p:sp>
      <p:sp>
        <p:nvSpPr>
          <p:cNvPr id="17" name="p10-card-r4-1">
            <a:extLst xmlns:a="http://schemas.openxmlformats.org/drawingml/2006/main">
              <a:ext uri="{FF2B5EF4-FFF2-40B4-BE49-F238E27FC236}">
                <a16:creationId xmlns:a16="http://schemas.microsoft.com/office/drawing/2014/main" id="{ECA77C8D-90CD-4259-AF9B-05EAC877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81300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指标 / 对照 / 样本 / 限定；N/A + 理由可接受</a:t>
            </a:r>
          </a:p>
        </p:txBody>
      </p:sp>
      <p:sp>
        <p:nvSpPr>
          <p:cNvPr id="18" name="p10-card-r5-0">
            <a:extLst xmlns:a="http://schemas.openxmlformats.org/drawingml/2006/main">
              <a:ext uri="{FF2B5EF4-FFF2-40B4-BE49-F238E27FC236}">
                <a16:creationId xmlns:a16="http://schemas.microsoft.com/office/drawing/2014/main" id="{8B1176C4-5908-4029-8B83-67EA0CED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局限与边界</a:t>
            </a:r>
          </a:p>
        </p:txBody>
      </p:sp>
      <p:sp>
        <p:nvSpPr>
          <p:cNvPr id="19" name="p10-card-r5-1">
            <a:extLst xmlns:a="http://schemas.openxmlformats.org/drawingml/2006/main">
              <a:ext uri="{FF2B5EF4-FFF2-40B4-BE49-F238E27FC236}">
                <a16:creationId xmlns:a16="http://schemas.microsoft.com/office/drawing/2014/main" id="{224AFD24-D333-4EAE-89DE-DD585D73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62300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作者自述 + 适用条件</a:t>
            </a:r>
          </a:p>
        </p:txBody>
      </p:sp>
      <p:sp>
        <p:nvSpPr>
          <p:cNvPr id="20" name="p10-card-r6-0">
            <a:extLst xmlns:a="http://schemas.openxmlformats.org/drawingml/2006/main">
              <a:ext uri="{FF2B5EF4-FFF2-40B4-BE49-F238E27FC236}">
                <a16:creationId xmlns:a16="http://schemas.microsoft.com/office/drawing/2014/main" id="{E13A6FDD-D327-4E8C-BC7A-733891D4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个人判断</a:t>
            </a:r>
          </a:p>
        </p:txBody>
      </p:sp>
      <p:sp>
        <p:nvSpPr>
          <p:cNvPr id="21" name="p10-card-r6-1">
            <a:extLst xmlns:a="http://schemas.openxmlformats.org/drawingml/2006/main">
              <a:ext uri="{FF2B5EF4-FFF2-40B4-BE49-F238E27FC236}">
                <a16:creationId xmlns:a16="http://schemas.microsoft.com/office/drawing/2014/main" id="{4804B90D-55A3-4A2A-AA70-2BB6CFBF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43300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适用性 / 待验证 / 与项目关系</a:t>
            </a:r>
          </a:p>
        </p:txBody>
      </p:sp>
      <p:sp>
        <p:nvSpPr>
          <p:cNvPr id="22" name="p10-card-r7-0">
            <a:extLst xmlns:a="http://schemas.openxmlformats.org/drawingml/2006/main">
              <a:ext uri="{FF2B5EF4-FFF2-40B4-BE49-F238E27FC236}">
                <a16:creationId xmlns:a16="http://schemas.microsoft.com/office/drawing/2014/main" id="{0ECC1378-EFC9-4CDA-BDAE-606E6AC3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建议（待核验）</a:t>
            </a:r>
          </a:p>
        </p:txBody>
      </p:sp>
      <p:sp>
        <p:nvSpPr>
          <p:cNvPr id="23" name="p10-card-r7-1">
            <a:extLst xmlns:a="http://schemas.openxmlformats.org/drawingml/2006/main">
              <a:ext uri="{FF2B5EF4-FFF2-40B4-BE49-F238E27FC236}">
                <a16:creationId xmlns:a16="http://schemas.microsoft.com/office/drawing/2014/main" id="{185BD11C-EDC3-4282-8789-E80A9306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24300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只作导航、质疑或候选解释</a:t>
            </a:r>
          </a:p>
        </p:txBody>
      </p:sp>
      <p:sp>
        <p:nvSpPr>
          <p:cNvPr id="24" name="p10-card-r8-0">
            <a:extLst xmlns:a="http://schemas.openxmlformats.org/drawingml/2006/main">
              <a:ext uri="{FF2B5EF4-FFF2-40B4-BE49-F238E27FC236}">
                <a16:creationId xmlns:a16="http://schemas.microsoft.com/office/drawing/2014/main" id="{48C51321-94E9-4D9B-85F9-2DA6E820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偏差审计</a:t>
            </a:r>
          </a:p>
        </p:txBody>
      </p:sp>
      <p:sp>
        <p:nvSpPr>
          <p:cNvPr id="25" name="p10-card-r8-1">
            <a:extLst xmlns:a="http://schemas.openxmlformats.org/drawingml/2006/main">
              <a:ext uri="{FF2B5EF4-FFF2-40B4-BE49-F238E27FC236}">
                <a16:creationId xmlns:a16="http://schemas.microsoft.com/office/drawing/2014/main" id="{70D3DFCD-3DF8-4DA6-B0FE-7119FC99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05300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输出 / 原文实际 / 位置 / 处理</a:t>
            </a:r>
          </a:p>
        </p:txBody>
      </p:sp>
      <p:sp>
        <p:nvSpPr>
          <p:cNvPr id="26" name="p10-card-r9-0">
            <a:extLst xmlns:a="http://schemas.openxmlformats.org/drawingml/2006/main">
              <a:ext uri="{FF2B5EF4-FFF2-40B4-BE49-F238E27FC236}">
                <a16:creationId xmlns:a16="http://schemas.microsoft.com/office/drawing/2014/main" id="{C94F1A7E-CCEF-46A3-B3BF-C02FEDC9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内容状态</a:t>
            </a:r>
          </a:p>
        </p:txBody>
      </p:sp>
      <p:sp>
        <p:nvSpPr>
          <p:cNvPr id="27" name="p10-card-r9-1">
            <a:extLst xmlns:a="http://schemas.openxmlformats.org/drawingml/2006/main">
              <a:ext uri="{FF2B5EF4-FFF2-40B4-BE49-F238E27FC236}">
                <a16:creationId xmlns:a16="http://schemas.microsoft.com/office/drawing/2014/main" id="{576A54A9-CDD5-4047-8CA7-9B5A9B9C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86300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pending / verified / verified-with-caveat / rejected</a:t>
            </a:r>
          </a:p>
        </p:txBody>
      </p:sp>
      <p:sp>
        <p:nvSpPr>
          <p:cNvPr id="28" name="p10-save">
            <a:extLst xmlns:a="http://schemas.openxmlformats.org/drawingml/2006/main">
              <a:ext uri="{FF2B5EF4-FFF2-40B4-BE49-F238E27FC236}">
                <a16:creationId xmlns:a16="http://schemas.microsoft.com/office/drawing/2014/main" id="{E5B09135-2C4D-41B4-A840-3F6E5B6D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24450"/>
            <a:ext cx="9944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完整 = 每一字段有内容，或明确 N/A + 理由；verified-with-caveat 进入主格时必须保留限定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演示：真实原文 vs 待核验 AI 输出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real">
            <a:extLst xmlns:a="http://schemas.openxmlformats.org/drawingml/2006/main">
              <a:ext uri="{FF2B5EF4-FFF2-40B4-BE49-F238E27FC236}">
                <a16:creationId xmlns:a16="http://schemas.microsoft.com/office/drawing/2014/main" id="{A9348C80-1045-455A-804C-EDFFC5C1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30480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真实原文｜Keshav 2007</a:t>
            </a:r>
          </a:p>
        </p:txBody>
      </p:sp>
      <p:pic>
        <p:nvPicPr>
          <p:cNvPr id="14" name="p11-pape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f18ec26525433c"/>
          <a:stretch xmlns:a="http://schemas.openxmlformats.org/drawingml/2006/main"/>
        </p:blipFill>
        <p:spPr>
          <a:xfrm xmlns:a="http://schemas.openxmlformats.org/drawingml/2006/main">
            <a:off x="997960" y="12192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8" name="p11-right-title">
            <a:extLst xmlns:a="http://schemas.openxmlformats.org/drawingml/2006/main">
              <a:ext uri="{FF2B5EF4-FFF2-40B4-BE49-F238E27FC236}">
                <a16:creationId xmlns:a16="http://schemas.microsoft.com/office/drawing/2014/main" id="{067F6FAC-F52D-4B98-84D3-A2FE78C7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047750"/>
            <a:ext cx="619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待核验 AI 输出｜课程构造</a:t>
            </a:r>
          </a:p>
        </p:txBody>
      </p:sp>
      <p:sp>
        <p:nvSpPr>
          <p:cNvPr id="9" name="p11-right">
            <a:extLst xmlns:a="http://schemas.openxmlformats.org/drawingml/2006/main">
              <a:ext uri="{FF2B5EF4-FFF2-40B4-BE49-F238E27FC236}">
                <a16:creationId xmlns:a16="http://schemas.microsoft.com/office/drawing/2014/main" id="{57126970-910C-415D-A37D-318DBF89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28800"/>
            <a:ext cx="5905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75" b="0">
                <a:solidFill>
                  <a:srgbClr val="263746"/>
                </a:solidFill>
              </a:defRPr>
            </a:pPr>
            <a:r>
              <a:rPr sz="18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“这篇论文通过受控实验证明三遍阅读法可将阅读时间降低 50%。”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875" b="0">
                <a:solidFill>
                  <a:srgbClr val="263746"/>
                </a:solidFill>
              </a:defRPr>
            </a:pPr>
            <a:r>
              <a:rPr sz="18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“第一遍固定只需 5 分钟，适用于所有学科。”</a:t>
            </a:r>
          </a:p>
        </p:txBody>
      </p:sp>
      <p:sp>
        <p:nvSpPr>
          <p:cNvPr id="10" name="p11-loc">
            <a:extLst xmlns:a="http://schemas.openxmlformats.org/drawingml/2006/main">
              <a:ext uri="{FF2B5EF4-FFF2-40B4-BE49-F238E27FC236}">
                <a16:creationId xmlns:a16="http://schemas.microsoft.com/office/drawing/2014/main" id="{FA6465EC-5D03-4339-8B0C-31C2930D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362450"/>
            <a:ext cx="609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核验任务：在 p.83–84 找实验、50%、固定 5 分钟与“所有学科”是否出现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 演示：三篇论文如何分工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boundary">
            <a:extLst xmlns:a="http://schemas.openxmlformats.org/drawingml/2006/main">
              <a:ext uri="{FF2B5EF4-FFF2-40B4-BE49-F238E27FC236}">
                <a16:creationId xmlns:a16="http://schemas.microsoft.com/office/drawing/2014/main" id="{7B54AA08-921F-4725-9A6C-FA4BEBE6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38200"/>
            <a:ext cx="4381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公开论文主张级核验｜不是实证结果图</a:t>
            </a:r>
          </a:p>
        </p:txBody>
      </p:sp>
      <p:pic>
        <p:nvPicPr>
          <p:cNvPr id="12" name="p12-mi-ladde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3e890cea2e410c"/>
          <a:stretch xmlns:a="http://schemas.openxmlformats.org/drawingml/2006/main"/>
        </p:blipFill>
        <p:spPr>
          <a:xfrm xmlns:a="http://schemas.openxmlformats.org/drawingml/2006/main">
            <a:off x="1987228" y="1200150"/>
            <a:ext cx="8179443" cy="4038600"/>
          </a:xfrm>
          <a:prstGeom xmlns:a="http://schemas.openxmlformats.org/drawingml/2006/main" prst="rect">
            <a:avLst/>
          </a:prstGeom>
        </p:spPr>
      </p:pic>
      <p:sp>
        <p:nvSpPr>
          <p:cNvPr id="8" name="p12-rule">
            <a:extLst xmlns:a="http://schemas.openxmlformats.org/drawingml/2006/main">
              <a:ext uri="{FF2B5EF4-FFF2-40B4-BE49-F238E27FC236}">
                <a16:creationId xmlns:a16="http://schemas.microsoft.com/office/drawing/2014/main" id="{ACCE2A1B-C783-4410-84F6-AE49CB37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38750"/>
            <a:ext cx="8724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阅读卡先固定位置、设置、指标与局限，再决定证据角色。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 演示：从 patching 成功到受限判断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real">
            <a:extLst xmlns:a="http://schemas.openxmlformats.org/drawingml/2006/main">
              <a:ext uri="{FF2B5EF4-FFF2-40B4-BE49-F238E27FC236}">
                <a16:creationId xmlns:a16="http://schemas.microsoft.com/office/drawing/2014/main" id="{906D270C-49F4-4840-8B82-66C2BCE7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57250"/>
            <a:ext cx="41910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真实来源阅读卡｜C02 + C16 + C31</a:t>
            </a:r>
          </a:p>
        </p:txBody>
      </p:sp>
      <p:sp>
        <p:nvSpPr>
          <p:cNvPr id="7" name="p13-head-0">
            <a:extLst xmlns:a="http://schemas.openxmlformats.org/drawingml/2006/main">
              <a:ext uri="{FF2B5EF4-FFF2-40B4-BE49-F238E27FC236}">
                <a16:creationId xmlns:a16="http://schemas.microsoft.com/office/drawing/2014/main" id="{06874554-C250-4F82-B657-D3571BD5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2381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C02｜能支持</a:t>
            </a:r>
          </a:p>
        </p:txBody>
      </p:sp>
      <p:sp>
        <p:nvSpPr>
          <p:cNvPr id="8" name="p13-body-0">
            <a:extLst xmlns:a="http://schemas.openxmlformats.org/drawingml/2006/main">
              <a:ext uri="{FF2B5EF4-FFF2-40B4-BE49-F238E27FC236}">
                <a16:creationId xmlns:a16="http://schemas.microsoft.com/office/drawing/2014/main" id="{2F71542B-5D2E-4079-982A-B961F2BF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381125"/>
            <a:ext cx="8191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Pythia-410M · IOI · layer 11；相同 KL 下，SAE patching 比 PCA 需要更少方向与更小编辑量。</a:t>
            </a:r>
          </a:p>
        </p:txBody>
      </p:sp>
      <p:sp>
        <p:nvSpPr>
          <p:cNvPr id="9" name="p13-head-1">
            <a:extLst xmlns:a="http://schemas.openxmlformats.org/drawingml/2006/main">
              <a:ext uri="{FF2B5EF4-FFF2-40B4-BE49-F238E27FC236}">
                <a16:creationId xmlns:a16="http://schemas.microsoft.com/office/drawing/2014/main" id="{91BB44B7-AB52-4F62-A4AD-883E3897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05075"/>
            <a:ext cx="2381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C16｜限制</a:t>
            </a:r>
          </a:p>
        </p:txBody>
      </p:sp>
      <p:sp>
        <p:nvSpPr>
          <p:cNvPr id="10" name="p13-body-1">
            <a:extLst xmlns:a="http://schemas.openxmlformats.org/drawingml/2006/main">
              <a:ext uri="{FF2B5EF4-FFF2-40B4-BE49-F238E27FC236}">
                <a16:creationId xmlns:a16="http://schemas.microsoft.com/office/drawing/2014/main" id="{56507379-6764-4DB7-990D-DFEAF29B7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05075"/>
            <a:ext cx="8191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在 GPT2-small IOI 上，可解释 SAE 特征的控制性弱于监督字典，并出现 feature occlusion / over-splitting。</a:t>
            </a:r>
          </a:p>
        </p:txBody>
      </p:sp>
      <p:sp>
        <p:nvSpPr>
          <p:cNvPr id="11" name="p13-head-2">
            <a:extLst xmlns:a="http://schemas.openxmlformats.org/drawingml/2006/main">
              <a:ext uri="{FF2B5EF4-FFF2-40B4-BE49-F238E27FC236}">
                <a16:creationId xmlns:a16="http://schemas.microsoft.com/office/drawing/2014/main" id="{E1CB7C13-F00F-4FD5-B73C-58677DAE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2381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C31｜效度威胁</a:t>
            </a:r>
          </a:p>
        </p:txBody>
      </p:sp>
      <p:sp>
        <p:nvSpPr>
          <p:cNvPr id="12" name="p13-body-2">
            <a:extLst xmlns:a="http://schemas.openxmlformats.org/drawingml/2006/main">
              <a:ext uri="{FF2B5EF4-FFF2-40B4-BE49-F238E27FC236}">
                <a16:creationId xmlns:a16="http://schemas.microsoft.com/office/drawing/2014/main" id="{F2492E7B-F386-4D3D-96B9-A44A7229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29025"/>
            <a:ext cx="8191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subspace patching 可能沿 dormant pathway 产生成功效果；行为改变本身不自动证明因果忠实。</a:t>
            </a:r>
          </a:p>
        </p:txBody>
      </p:sp>
      <p:sp>
        <p:nvSpPr>
          <p:cNvPr id="13" name="p13-judgment">
            <a:extLst xmlns:a="http://schemas.openxmlformats.org/drawingml/2006/main">
              <a:ext uri="{FF2B5EF4-FFF2-40B4-BE49-F238E27FC236}">
                <a16:creationId xmlns:a16="http://schemas.microsoft.com/office/drawing/2014/main" id="{18A63F95-61EC-4431-8D0B-90C44E24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10210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人工判断｜review：足以进入 L5 证据矩阵与 L9 baseline 设计；不足以把“SAE 因果忠实”标记为 stable。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个人实践：跑通一次五步精读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n-0">
            <a:extLst xmlns:a="http://schemas.openxmlformats.org/drawingml/2006/main">
              <a:ext uri="{FF2B5EF4-FFF2-40B4-BE49-F238E27FC236}">
                <a16:creationId xmlns:a16="http://schemas.microsoft.com/office/drawing/2014/main" id="{3CAD8579-AB83-4573-9CC5-0F64600C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144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14-label-0">
            <a:extLst xmlns:a="http://schemas.openxmlformats.org/drawingml/2006/main">
              <a:ext uri="{FF2B5EF4-FFF2-40B4-BE49-F238E27FC236}">
                <a16:creationId xmlns:a16="http://schemas.microsoft.com/office/drawing/2014/main" id="{99D7D67C-C7B7-4913-B731-17B53177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9144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选论文</a:t>
            </a:r>
          </a:p>
        </p:txBody>
      </p:sp>
      <p:sp>
        <p:nvSpPr>
          <p:cNvPr id="8" name="p14-detail-0">
            <a:extLst xmlns:a="http://schemas.openxmlformats.org/drawingml/2006/main">
              <a:ext uri="{FF2B5EF4-FFF2-40B4-BE49-F238E27FC236}">
                <a16:creationId xmlns:a16="http://schemas.microsoft.com/office/drawing/2014/main" id="{FC38FCF0-6C36-4052-980E-EC2432B0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914400"/>
            <a:ext cx="8039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本人 verified / caveat 条目；没有者使用真实 Keshav 演示包</a:t>
            </a:r>
          </a:p>
        </p:txBody>
      </p:sp>
      <p:sp>
        <p:nvSpPr>
          <p:cNvPr id="9" name="p14-n-1">
            <a:extLst xmlns:a="http://schemas.openxmlformats.org/drawingml/2006/main">
              <a:ext uri="{FF2B5EF4-FFF2-40B4-BE49-F238E27FC236}">
                <a16:creationId xmlns:a16="http://schemas.microsoft.com/office/drawing/2014/main" id="{146C4E01-53B9-4293-BE93-4736493E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33525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4-label-1">
            <a:extLst xmlns:a="http://schemas.openxmlformats.org/drawingml/2006/main">
              <a:ext uri="{FF2B5EF4-FFF2-40B4-BE49-F238E27FC236}">
                <a16:creationId xmlns:a16="http://schemas.microsoft.com/office/drawing/2014/main" id="{82A272FF-5EAD-4FFB-BD5C-40BC87E4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335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导航</a:t>
            </a:r>
          </a:p>
        </p:txBody>
      </p:sp>
      <p:sp>
        <p:nvSpPr>
          <p:cNvPr id="11" name="p14-detail-1">
            <a:extLst xmlns:a="http://schemas.openxmlformats.org/drawingml/2006/main">
              <a:ext uri="{FF2B5EF4-FFF2-40B4-BE49-F238E27FC236}">
                <a16:creationId xmlns:a16="http://schemas.microsoft.com/office/drawing/2014/main" id="{3C38B714-14C2-4437-96A7-5480A538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33525"/>
            <a:ext cx="8039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中心问题 / 结构 / 术语 / 预期位置 / 待追问</a:t>
            </a:r>
          </a:p>
        </p:txBody>
      </p:sp>
      <p:sp>
        <p:nvSpPr>
          <p:cNvPr id="12" name="p14-n-2">
            <a:extLst xmlns:a="http://schemas.openxmlformats.org/drawingml/2006/main">
              <a:ext uri="{FF2B5EF4-FFF2-40B4-BE49-F238E27FC236}">
                <a16:creationId xmlns:a16="http://schemas.microsoft.com/office/drawing/2014/main" id="{CE0A368D-8B24-4D9C-8BF5-D54A801C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14-label-2">
            <a:extLst xmlns:a="http://schemas.openxmlformats.org/drawingml/2006/main">
              <a:ext uri="{FF2B5EF4-FFF2-40B4-BE49-F238E27FC236}">
                <a16:creationId xmlns:a16="http://schemas.microsoft.com/office/drawing/2014/main" id="{D44B8CCA-761E-4314-BB9A-48BB6C5A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526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原文核验</a:t>
            </a:r>
          </a:p>
        </p:txBody>
      </p:sp>
      <p:sp>
        <p:nvSpPr>
          <p:cNvPr id="14" name="p14-detail-2">
            <a:extLst xmlns:a="http://schemas.openxmlformats.org/drawingml/2006/main">
              <a:ext uri="{FF2B5EF4-FFF2-40B4-BE49-F238E27FC236}">
                <a16:creationId xmlns:a16="http://schemas.microsoft.com/office/drawing/2014/main" id="{9A1C4D44-13C7-4681-BB2D-7DE4649E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52650"/>
            <a:ext cx="8039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至少两个可复查位置</a:t>
            </a:r>
          </a:p>
        </p:txBody>
      </p:sp>
      <p:sp>
        <p:nvSpPr>
          <p:cNvPr id="15" name="p14-n-3">
            <a:extLst xmlns:a="http://schemas.openxmlformats.org/drawingml/2006/main">
              <a:ext uri="{FF2B5EF4-FFF2-40B4-BE49-F238E27FC236}">
                <a16:creationId xmlns:a16="http://schemas.microsoft.com/office/drawing/2014/main" id="{BD90ED40-B1EB-4548-891C-BE8E23C2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71775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14-label-3">
            <a:extLst xmlns:a="http://schemas.openxmlformats.org/drawingml/2006/main">
              <a:ext uri="{FF2B5EF4-FFF2-40B4-BE49-F238E27FC236}">
                <a16:creationId xmlns:a16="http://schemas.microsoft.com/office/drawing/2014/main" id="{32A150B3-CFB4-4ECD-92AF-EF1816D0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7177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质疑</a:t>
            </a:r>
          </a:p>
        </p:txBody>
      </p:sp>
      <p:sp>
        <p:nvSpPr>
          <p:cNvPr id="17" name="p14-detail-3">
            <a:extLst xmlns:a="http://schemas.openxmlformats.org/drawingml/2006/main">
              <a:ext uri="{FF2B5EF4-FFF2-40B4-BE49-F238E27FC236}">
                <a16:creationId xmlns:a16="http://schemas.microsoft.com/office/drawing/2014/main" id="{7E53ADB9-26AD-4609-A885-6318622A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71775"/>
            <a:ext cx="8039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基于已核验内容提出反例</a:t>
            </a:r>
          </a:p>
        </p:txBody>
      </p:sp>
      <p:sp>
        <p:nvSpPr>
          <p:cNvPr id="18" name="p14-n-4">
            <a:extLst xmlns:a="http://schemas.openxmlformats.org/drawingml/2006/main">
              <a:ext uri="{FF2B5EF4-FFF2-40B4-BE49-F238E27FC236}">
                <a16:creationId xmlns:a16="http://schemas.microsoft.com/office/drawing/2014/main" id="{50F9F5CD-B8A9-4044-B048-E4F8E66A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p14-label-4">
            <a:extLst xmlns:a="http://schemas.openxmlformats.org/drawingml/2006/main">
              <a:ext uri="{FF2B5EF4-FFF2-40B4-BE49-F238E27FC236}">
                <a16:creationId xmlns:a16="http://schemas.microsoft.com/office/drawing/2014/main" id="{455A7BCA-23F2-481C-B2D2-72B3A8CB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909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偏差审计</a:t>
            </a:r>
          </a:p>
        </p:txBody>
      </p:sp>
      <p:sp>
        <p:nvSpPr>
          <p:cNvPr id="20" name="p14-detail-4">
            <a:extLst xmlns:a="http://schemas.openxmlformats.org/drawingml/2006/main">
              <a:ext uri="{FF2B5EF4-FFF2-40B4-BE49-F238E27FC236}">
                <a16:creationId xmlns:a16="http://schemas.microsoft.com/office/drawing/2014/main" id="{D9337735-31B0-457D-86BE-47B1D762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390900"/>
            <a:ext cx="8039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错误/遗漏，或已检查风险与依据</a:t>
            </a:r>
          </a:p>
        </p:txBody>
      </p:sp>
      <p:sp>
        <p:nvSpPr>
          <p:cNvPr id="21" name="p14-n-5">
            <a:extLst xmlns:a="http://schemas.openxmlformats.org/drawingml/2006/main">
              <a:ext uri="{FF2B5EF4-FFF2-40B4-BE49-F238E27FC236}">
                <a16:creationId xmlns:a16="http://schemas.microsoft.com/office/drawing/2014/main" id="{B619CAC2-290E-4D51-9D6F-E30254DA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0025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2" name="p14-label-5">
            <a:extLst xmlns:a="http://schemas.openxmlformats.org/drawingml/2006/main">
              <a:ext uri="{FF2B5EF4-FFF2-40B4-BE49-F238E27FC236}">
                <a16:creationId xmlns:a16="http://schemas.microsoft.com/office/drawing/2014/main" id="{3AAA9192-4048-4957-9FCA-7AAA3D3B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100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完整阅读卡</a:t>
            </a:r>
          </a:p>
        </p:txBody>
      </p:sp>
      <p:sp>
        <p:nvSpPr>
          <p:cNvPr id="23" name="p14-detail-5">
            <a:extLst xmlns:a="http://schemas.openxmlformats.org/drawingml/2006/main">
              <a:ext uri="{FF2B5EF4-FFF2-40B4-BE49-F238E27FC236}">
                <a16:creationId xmlns:a16="http://schemas.microsoft.com/office/drawing/2014/main" id="{4F66FB59-2190-4CAF-876C-09126367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010025"/>
            <a:ext cx="8039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带位置主张 + 证据 + 边界 + 判断</a:t>
            </a:r>
          </a:p>
        </p:txBody>
      </p:sp>
      <p:sp>
        <p:nvSpPr>
          <p:cNvPr id="24" name="p14-n-6">
            <a:extLst xmlns:a="http://schemas.openxmlformats.org/drawingml/2006/main">
              <a:ext uri="{FF2B5EF4-FFF2-40B4-BE49-F238E27FC236}">
                <a16:creationId xmlns:a16="http://schemas.microsoft.com/office/drawing/2014/main" id="{4046DB29-F878-421C-AB72-CF85DF81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5" name="p14-label-6">
            <a:extLst xmlns:a="http://schemas.openxmlformats.org/drawingml/2006/main">
              <a:ext uri="{FF2B5EF4-FFF2-40B4-BE49-F238E27FC236}">
                <a16:creationId xmlns:a16="http://schemas.microsoft.com/office/drawing/2014/main" id="{A656CFBD-3935-493C-9E8F-F796BA61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使用记录</a:t>
            </a:r>
          </a:p>
        </p:txBody>
      </p:sp>
      <p:sp>
        <p:nvSpPr>
          <p:cNvPr id="26" name="p14-detail-6">
            <a:extLst xmlns:a="http://schemas.openxmlformats.org/drawingml/2006/main">
              <a:ext uri="{FF2B5EF4-FFF2-40B4-BE49-F238E27FC236}">
                <a16:creationId xmlns:a16="http://schemas.microsoft.com/office/drawing/2014/main" id="{BF290535-EC06-4250-A7C3-A550D013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629150"/>
            <a:ext cx="8039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用途 / Context / 核验方式 / 问题</a:t>
            </a:r>
          </a:p>
        </p:txBody>
      </p:sp>
      <p:sp>
        <p:nvSpPr>
          <p:cNvPr id="27" name="p14-backup">
            <a:extLst xmlns:a="http://schemas.openxmlformats.org/drawingml/2006/main">
              <a:ext uri="{FF2B5EF4-FFF2-40B4-BE49-F238E27FC236}">
                <a16:creationId xmlns:a16="http://schemas.microsoft.com/office/drawing/2014/main" id="{76F5CF62-A7FA-4C40-B894-3B6D3583A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10591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网络/模型不可用：切换预录材料，在 Markdown 或纸面完成；不把课堂时间用于逐台排障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实践停留页：模板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time">
            <a:extLst xmlns:a="http://schemas.openxmlformats.org/drawingml/2006/main">
              <a:ext uri="{FF2B5EF4-FFF2-40B4-BE49-F238E27FC236}">
                <a16:creationId xmlns:a16="http://schemas.microsoft.com/office/drawing/2014/main" id="{4C1B2757-18B3-46A6-857E-965E749A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24193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48–75 min｜个人实践</a:t>
            </a:r>
          </a:p>
        </p:txBody>
      </p:sp>
      <p:sp>
        <p:nvSpPr>
          <p:cNvPr id="7" name="p15-card-title">
            <a:extLst xmlns:a="http://schemas.openxmlformats.org/drawingml/2006/main">
              <a:ext uri="{FF2B5EF4-FFF2-40B4-BE49-F238E27FC236}">
                <a16:creationId xmlns:a16="http://schemas.microsoft.com/office/drawing/2014/main" id="{3AC625CF-DB88-44B6-AAB3-6667D6A3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71600"/>
            <a:ext cx="638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完整阅读卡｜至少 1 张</a:t>
            </a:r>
          </a:p>
        </p:txBody>
      </p:sp>
      <p:sp>
        <p:nvSpPr>
          <p:cNvPr id="8" name="p15-card">
            <a:extLst xmlns:a="http://schemas.openxmlformats.org/drawingml/2006/main">
              <a:ext uri="{FF2B5EF4-FFF2-40B4-BE49-F238E27FC236}">
                <a16:creationId xmlns:a16="http://schemas.microsoft.com/office/drawing/2014/main" id="{9932285B-8A2B-45CC-AFBC-F7B8E332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63817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论文身份 / 正式来源 / DOI：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来源状态 / 证据角色：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中心问题：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作者主张 + 原文位置：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原文证据（指标 / 对照 / 样本 / 限定；N/A + 理由）：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局限与边界：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个人判断：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AI 建议（待核验）：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内容状态：</a:t>
            </a:r>
          </a:p>
        </p:txBody>
      </p:sp>
      <p:sp>
        <p:nvSpPr>
          <p:cNvPr id="9" name="p15-audit-title">
            <a:extLst xmlns:a="http://schemas.openxmlformats.org/drawingml/2006/main">
              <a:ext uri="{FF2B5EF4-FFF2-40B4-BE49-F238E27FC236}">
                <a16:creationId xmlns:a16="http://schemas.microsoft.com/office/drawing/2014/main" id="{61126D9B-89E8-4036-9EBD-A85E2813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3716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偏差审计｜至少 1 条</a:t>
            </a:r>
          </a:p>
        </p:txBody>
      </p:sp>
      <p:sp>
        <p:nvSpPr>
          <p:cNvPr id="10" name="p15-audit">
            <a:extLst xmlns:a="http://schemas.openxmlformats.org/drawingml/2006/main">
              <a:ext uri="{FF2B5EF4-FFF2-40B4-BE49-F238E27FC236}">
                <a16:creationId xmlns:a16="http://schemas.microsoft.com/office/drawing/2014/main" id="{E589A04D-08D5-4BBF-92F7-862E9B97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85950"/>
            <a:ext cx="40005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AI 输出：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偏差 / 已检查风险：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原文实际：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核验位置：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处理决定：</a:t>
            </a:r>
          </a:p>
        </p:txBody>
      </p:sp>
      <p:sp>
        <p:nvSpPr>
          <p:cNvPr id="11" name="p15-min">
            <a:extLst xmlns:a="http://schemas.openxmlformats.org/drawingml/2006/main">
              <a:ext uri="{FF2B5EF4-FFF2-40B4-BE49-F238E27FC236}">
                <a16:creationId xmlns:a16="http://schemas.microsoft.com/office/drawing/2014/main" id="{43794116-19F9-4A9F-8B3E-5B9EC597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57750"/>
            <a:ext cx="4267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最低闭环：阅读卡 + 偏差审计 + AI 使用记录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同伴互查三问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n-0">
            <a:extLst xmlns:a="http://schemas.openxmlformats.org/drawingml/2006/main">
              <a:ext uri="{FF2B5EF4-FFF2-40B4-BE49-F238E27FC236}">
                <a16:creationId xmlns:a16="http://schemas.microsoft.com/office/drawing/2014/main" id="{3F203DE8-B27A-48F8-8504-CE8E9990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16-q-0">
            <a:extLst xmlns:a="http://schemas.openxmlformats.org/drawingml/2006/main">
              <a:ext uri="{FF2B5EF4-FFF2-40B4-BE49-F238E27FC236}">
                <a16:creationId xmlns:a16="http://schemas.microsoft.com/office/drawing/2014/main" id="{95850ADD-9A37-4D5A-8A81-37E31014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9906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主张有位置吗？</a:t>
            </a:r>
          </a:p>
        </p:txBody>
      </p:sp>
      <p:sp>
        <p:nvSpPr>
          <p:cNvPr id="8" name="p16-d-0">
            <a:extLst xmlns:a="http://schemas.openxmlformats.org/drawingml/2006/main">
              <a:ext uri="{FF2B5EF4-FFF2-40B4-BE49-F238E27FC236}">
                <a16:creationId xmlns:a16="http://schemas.microsoft.com/office/drawing/2014/main" id="{45BA6D91-BA73-4317-80F8-8C643CAD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485900"/>
            <a:ext cx="619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每条作者主张能否回到章节 / 页码 / 图表</a:t>
            </a:r>
          </a:p>
        </p:txBody>
      </p:sp>
      <p:sp>
        <p:nvSpPr>
          <p:cNvPr id="9" name="p16-n-1">
            <a:extLst xmlns:a="http://schemas.openxmlformats.org/drawingml/2006/main">
              <a:ext uri="{FF2B5EF4-FFF2-40B4-BE49-F238E27FC236}">
                <a16:creationId xmlns:a16="http://schemas.microsoft.com/office/drawing/2014/main" id="{26FE4DDC-F692-4CC8-9E69-98BF29D7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6-q-1">
            <a:extLst xmlns:a="http://schemas.openxmlformats.org/drawingml/2006/main">
              <a:ext uri="{FF2B5EF4-FFF2-40B4-BE49-F238E27FC236}">
                <a16:creationId xmlns:a16="http://schemas.microsoft.com/office/drawing/2014/main" id="{9DCD49C4-13EF-40F3-AB70-AC014793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9075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与原文分栏了吗？</a:t>
            </a:r>
          </a:p>
        </p:txBody>
      </p:sp>
      <p:sp>
        <p:nvSpPr>
          <p:cNvPr id="11" name="p16-d-1">
            <a:extLst xmlns:a="http://schemas.openxmlformats.org/drawingml/2006/main">
              <a:ext uri="{FF2B5EF4-FFF2-40B4-BE49-F238E27FC236}">
                <a16:creationId xmlns:a16="http://schemas.microsoft.com/office/drawing/2014/main" id="{7E4BF78C-86D0-449F-8F14-27E6F74D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86050"/>
            <a:ext cx="619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作者主张、个人判断和 AI 建议是否混写</a:t>
            </a:r>
          </a:p>
        </p:txBody>
      </p:sp>
      <p:sp>
        <p:nvSpPr>
          <p:cNvPr id="12" name="p16-n-2">
            <a:extLst xmlns:a="http://schemas.openxmlformats.org/drawingml/2006/main">
              <a:ext uri="{FF2B5EF4-FFF2-40B4-BE49-F238E27FC236}">
                <a16:creationId xmlns:a16="http://schemas.microsoft.com/office/drawing/2014/main" id="{96C2EFCB-66E6-4BC6-8F08-2DF4F5C6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16-q-2">
            <a:extLst xmlns:a="http://schemas.openxmlformats.org/drawingml/2006/main">
              <a:ext uri="{FF2B5EF4-FFF2-40B4-BE49-F238E27FC236}">
                <a16:creationId xmlns:a16="http://schemas.microsoft.com/office/drawing/2014/main" id="{EFEE03CF-AD22-4BA0-A1C0-CB372E3E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偏差审计可复查吗？</a:t>
            </a:r>
          </a:p>
        </p:txBody>
      </p:sp>
      <p:sp>
        <p:nvSpPr>
          <p:cNvPr id="14" name="p16-d-2">
            <a:extLst xmlns:a="http://schemas.openxmlformats.org/drawingml/2006/main">
              <a:ext uri="{FF2B5EF4-FFF2-40B4-BE49-F238E27FC236}">
                <a16:creationId xmlns:a16="http://schemas.microsoft.com/office/drawing/2014/main" id="{522B0DAA-B69E-46F5-9785-26E84668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86200"/>
            <a:ext cx="619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有错误/遗漏，或已检查风险与核验依据</a:t>
            </a:r>
          </a:p>
        </p:txBody>
      </p:sp>
      <p:sp>
        <p:nvSpPr>
          <p:cNvPr id="15" name="p16-author">
            <a:extLst xmlns:a="http://schemas.openxmlformats.org/drawingml/2006/main">
              <a:ext uri="{FF2B5EF4-FFF2-40B4-BE49-F238E27FC236}">
                <a16:creationId xmlns:a16="http://schemas.microsoft.com/office/drawing/2014/main" id="{00D5DB1F-53F6-4224-8BAA-C260E9DC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14300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作者记录处理决定</a:t>
            </a:r>
          </a:p>
        </p:txBody>
      </p:sp>
      <p:sp>
        <p:nvSpPr>
          <p:cNvPr id="16" name="p16-state-0">
            <a:extLst xmlns:a="http://schemas.openxmlformats.org/drawingml/2006/main">
              <a:ext uri="{FF2B5EF4-FFF2-40B4-BE49-F238E27FC236}">
                <a16:creationId xmlns:a16="http://schemas.microsoft.com/office/drawing/2014/main" id="{A7F86F63-D45E-47E5-8E2E-917B4667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24050"/>
            <a:ext cx="25336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17" name="p16-state-1">
            <a:extLst xmlns:a="http://schemas.openxmlformats.org/drawingml/2006/main">
              <a:ext uri="{FF2B5EF4-FFF2-40B4-BE49-F238E27FC236}">
                <a16:creationId xmlns:a16="http://schemas.microsoft.com/office/drawing/2014/main" id="{5770206C-CB2D-4DC2-ACF6-22C9E195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05100"/>
            <a:ext cx="25336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18" name="p16-state-2">
            <a:extLst xmlns:a="http://schemas.openxmlformats.org/drawingml/2006/main">
              <a:ext uri="{FF2B5EF4-FFF2-40B4-BE49-F238E27FC236}">
                <a16:creationId xmlns:a16="http://schemas.microsoft.com/office/drawing/2014/main" id="{9901AA6B-8753-454E-9F55-64E2DE8E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86150"/>
            <a:ext cx="25336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19" name="p16-boundary">
            <a:extLst xmlns:a="http://schemas.openxmlformats.org/drawingml/2006/main">
              <a:ext uri="{FF2B5EF4-FFF2-40B4-BE49-F238E27FC236}">
                <a16:creationId xmlns:a16="http://schemas.microsoft.com/office/drawing/2014/main" id="{2F8C4594-436C-4C49-A538-A391FE1E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95850"/>
            <a:ext cx="8991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只提问题｜不替作者决定｜不形成共同提交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n-0">
            <a:extLst xmlns:a="http://schemas.openxmlformats.org/drawingml/2006/main">
              <a:ext uri="{FF2B5EF4-FFF2-40B4-BE49-F238E27FC236}">
                <a16:creationId xmlns:a16="http://schemas.microsoft.com/office/drawing/2014/main" id="{340F7E0C-0B15-40CA-B527-897B468D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001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17-label-0">
            <a:extLst xmlns:a="http://schemas.openxmlformats.org/drawingml/2006/main">
              <a:ext uri="{FF2B5EF4-FFF2-40B4-BE49-F238E27FC236}">
                <a16:creationId xmlns:a16="http://schemas.microsoft.com/office/drawing/2014/main" id="{155D4FF0-B7C9-483D-8EB9-CFFAB1C5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1143000"/>
            <a:ext cx="200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38A"/>
                </a:solidFill>
              </a:defRPr>
            </a:pPr>
            <a:r>
              <a:rPr sz="17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AI 导航</a:t>
            </a:r>
          </a:p>
        </p:txBody>
      </p:sp>
      <p:sp>
        <p:nvSpPr>
          <p:cNvPr id="8" name="p17-detail-0">
            <a:extLst xmlns:a="http://schemas.openxmlformats.org/drawingml/2006/main">
              <a:ext uri="{FF2B5EF4-FFF2-40B4-BE49-F238E27FC236}">
                <a16:creationId xmlns:a16="http://schemas.microsoft.com/office/drawing/2014/main" id="{C0886EFA-B3B5-483E-8F94-21606657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26098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先定位任务、设置与关键位置</a:t>
            </a:r>
          </a:p>
        </p:txBody>
      </p:sp>
      <p:sp>
        <p:nvSpPr>
          <p:cNvPr id="9" name="p17-arrow-0">
            <a:extLst xmlns:a="http://schemas.openxmlformats.org/drawingml/2006/main">
              <a:ext uri="{FF2B5EF4-FFF2-40B4-BE49-F238E27FC236}">
                <a16:creationId xmlns:a16="http://schemas.microsoft.com/office/drawing/2014/main" id="{5E5316A5-4ACE-48B2-8364-61B3A834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4193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7-n-1">
            <a:extLst xmlns:a="http://schemas.openxmlformats.org/drawingml/2006/main">
              <a:ext uri="{FF2B5EF4-FFF2-40B4-BE49-F238E27FC236}">
                <a16:creationId xmlns:a16="http://schemas.microsoft.com/office/drawing/2014/main" id="{F72CEE1C-7E87-40BB-8BE8-E66BD8F2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2001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p17-label-1">
            <a:extLst xmlns:a="http://schemas.openxmlformats.org/drawingml/2006/main">
              <a:ext uri="{FF2B5EF4-FFF2-40B4-BE49-F238E27FC236}">
                <a16:creationId xmlns:a16="http://schemas.microsoft.com/office/drawing/2014/main" id="{F089D3F1-458B-4E0C-9693-A22C686A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143000"/>
            <a:ext cx="200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原文核验</a:t>
            </a:r>
          </a:p>
        </p:txBody>
      </p:sp>
      <p:sp>
        <p:nvSpPr>
          <p:cNvPr id="12" name="p17-detail-1">
            <a:extLst xmlns:a="http://schemas.openxmlformats.org/drawingml/2006/main">
              <a:ext uri="{FF2B5EF4-FFF2-40B4-BE49-F238E27FC236}">
                <a16:creationId xmlns:a16="http://schemas.microsoft.com/office/drawing/2014/main" id="{8D70E620-A828-46DE-B612-54E81A72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52625"/>
            <a:ext cx="26098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逐条检查指标、对照与限定</a:t>
            </a:r>
          </a:p>
        </p:txBody>
      </p:sp>
      <p:sp>
        <p:nvSpPr>
          <p:cNvPr id="13" name="p17-arrow-1">
            <a:extLst xmlns:a="http://schemas.openxmlformats.org/drawingml/2006/main">
              <a:ext uri="{FF2B5EF4-FFF2-40B4-BE49-F238E27FC236}">
                <a16:creationId xmlns:a16="http://schemas.microsoft.com/office/drawing/2014/main" id="{39715AE0-B644-4A1C-8279-2DE4BC2A8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193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17-n-2">
            <a:extLst xmlns:a="http://schemas.openxmlformats.org/drawingml/2006/main">
              <a:ext uri="{FF2B5EF4-FFF2-40B4-BE49-F238E27FC236}">
                <a16:creationId xmlns:a16="http://schemas.microsoft.com/office/drawing/2014/main" id="{7BC7CEA6-B2D3-460E-848F-8760DD3C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001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17-label-2">
            <a:extLst xmlns:a="http://schemas.openxmlformats.org/drawingml/2006/main">
              <a:ext uri="{FF2B5EF4-FFF2-40B4-BE49-F238E27FC236}">
                <a16:creationId xmlns:a16="http://schemas.microsoft.com/office/drawing/2014/main" id="{08ACC5EF-262F-4F78-854D-F06EA2A2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200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偏差审计</a:t>
            </a:r>
          </a:p>
        </p:txBody>
      </p:sp>
      <p:sp>
        <p:nvSpPr>
          <p:cNvPr id="16" name="p17-detail-2">
            <a:extLst xmlns:a="http://schemas.openxmlformats.org/drawingml/2006/main">
              <a:ext uri="{FF2B5EF4-FFF2-40B4-BE49-F238E27FC236}">
                <a16:creationId xmlns:a16="http://schemas.microsoft.com/office/drawing/2014/main" id="{7D2E315F-9AF2-403A-AFBE-86028AF0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52625"/>
            <a:ext cx="26098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记录错读、遗漏或已查风险</a:t>
            </a:r>
          </a:p>
        </p:txBody>
      </p:sp>
      <p:sp>
        <p:nvSpPr>
          <p:cNvPr id="17" name="p17-arrow-2">
            <a:extLst xmlns:a="http://schemas.openxmlformats.org/drawingml/2006/main">
              <a:ext uri="{FF2B5EF4-FFF2-40B4-BE49-F238E27FC236}">
                <a16:creationId xmlns:a16="http://schemas.microsoft.com/office/drawing/2014/main" id="{C23AF6E1-40CA-4B44-849E-84CBC987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4193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p17-n-3">
            <a:extLst xmlns:a="http://schemas.openxmlformats.org/drawingml/2006/main">
              <a:ext uri="{FF2B5EF4-FFF2-40B4-BE49-F238E27FC236}">
                <a16:creationId xmlns:a16="http://schemas.microsoft.com/office/drawing/2014/main" id="{35E4C962-9C22-41BF-BA7F-76418348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001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17-label-3">
            <a:extLst xmlns:a="http://schemas.openxmlformats.org/drawingml/2006/main">
              <a:ext uri="{FF2B5EF4-FFF2-40B4-BE49-F238E27FC236}">
                <a16:creationId xmlns:a16="http://schemas.microsoft.com/office/drawing/2014/main" id="{EE857E78-7D88-4DF9-819A-EB0D0AB8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143000"/>
            <a:ext cx="200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人工定稿</a:t>
            </a:r>
          </a:p>
        </p:txBody>
      </p:sp>
      <p:sp>
        <p:nvSpPr>
          <p:cNvPr id="20" name="p17-detail-3">
            <a:extLst xmlns:a="http://schemas.openxmlformats.org/drawingml/2006/main">
              <a:ext uri="{FF2B5EF4-FFF2-40B4-BE49-F238E27FC236}">
                <a16:creationId xmlns:a16="http://schemas.microsoft.com/office/drawing/2014/main" id="{2060B186-2A58-446D-A2ED-09A77C24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52625"/>
            <a:ext cx="26098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保留原文位置与判断边界</a:t>
            </a:r>
          </a:p>
        </p:txBody>
      </p:sp>
      <p:sp>
        <p:nvSpPr>
          <p:cNvPr id="21" name="p17-boundary">
            <a:extLst xmlns:a="http://schemas.openxmlformats.org/drawingml/2006/main">
              <a:ext uri="{FF2B5EF4-FFF2-40B4-BE49-F238E27FC236}">
                <a16:creationId xmlns:a16="http://schemas.microsoft.com/office/drawing/2014/main" id="{6D4189AE-C7E0-47CA-B863-E6B3F7B7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96202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关键边界：AI 输出只提供阅读线索；关键主张必须绑定原文位置，并由研究者作最终判断。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退出卡与第 5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exit-title">
            <a:extLst xmlns:a="http://schemas.openxmlformats.org/drawingml/2006/main">
              <a:ext uri="{FF2B5EF4-FFF2-40B4-BE49-F238E27FC236}">
                <a16:creationId xmlns:a16="http://schemas.microsoft.com/office/drawing/2014/main" id="{2082A2D8-8ED5-4252-B253-229A1F7E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906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7" name="p18-exit">
            <a:extLst xmlns:a="http://schemas.openxmlformats.org/drawingml/2006/main">
              <a:ext uri="{FF2B5EF4-FFF2-40B4-BE49-F238E27FC236}">
                <a16:creationId xmlns:a16="http://schemas.microsoft.com/office/drawing/2014/main" id="{F8FCB0A1-D95E-458D-A754-468FCEEA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4476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今天最清楚的一点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仍然困惑的一点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阅读卡当前缺失的字段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偏差审计记录了什么</a:t>
            </a:r>
          </a:p>
        </p:txBody>
      </p:sp>
      <p:sp>
        <p:nvSpPr>
          <p:cNvPr id="8" name="p18-next-title">
            <a:extLst xmlns:a="http://schemas.openxmlformats.org/drawingml/2006/main">
              <a:ext uri="{FF2B5EF4-FFF2-40B4-BE49-F238E27FC236}">
                <a16:creationId xmlns:a16="http://schemas.microsoft.com/office/drawing/2014/main" id="{B51853A8-E875-4F2F-BE3B-3A10B084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990600"/>
            <a:ext cx="552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下一步不是继续摘要，而是重组证据</a:t>
            </a:r>
          </a:p>
        </p:txBody>
      </p:sp>
      <p:sp>
        <p:nvSpPr>
          <p:cNvPr id="9" name="p18-a">
            <a:extLst xmlns:a="http://schemas.openxmlformats.org/drawingml/2006/main">
              <a:ext uri="{FF2B5EF4-FFF2-40B4-BE49-F238E27FC236}">
                <a16:creationId xmlns:a16="http://schemas.microsoft.com/office/drawing/2014/main" id="{24C3E873-CCE4-4BBF-9CE2-637B7659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2095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带位置阅读卡</a:t>
            </a:r>
          </a:p>
        </p:txBody>
      </p:sp>
      <p:sp>
        <p:nvSpPr>
          <p:cNvPr id="10" name="p18-a1">
            <a:extLst xmlns:a="http://schemas.openxmlformats.org/drawingml/2006/main">
              <a:ext uri="{FF2B5EF4-FFF2-40B4-BE49-F238E27FC236}">
                <a16:creationId xmlns:a16="http://schemas.microsoft.com/office/drawing/2014/main" id="{16D0E489-C3EA-403A-A02A-A8D16EFE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812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18-b">
            <a:extLst xmlns:a="http://schemas.openxmlformats.org/drawingml/2006/main">
              <a:ext uri="{FF2B5EF4-FFF2-40B4-BE49-F238E27FC236}">
                <a16:creationId xmlns:a16="http://schemas.microsoft.com/office/drawing/2014/main" id="{3DEC9E91-8CCB-49EA-9261-F4822FAE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5260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5 课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证据地图</a:t>
            </a:r>
          </a:p>
        </p:txBody>
      </p:sp>
      <p:sp>
        <p:nvSpPr>
          <p:cNvPr id="12" name="p18-a2">
            <a:extLst xmlns:a="http://schemas.openxmlformats.org/drawingml/2006/main">
              <a:ext uri="{FF2B5EF4-FFF2-40B4-BE49-F238E27FC236}">
                <a16:creationId xmlns:a16="http://schemas.microsoft.com/office/drawing/2014/main" id="{792BF681-7413-46DE-8959-8377CB78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3" name="p18-c">
            <a:extLst xmlns:a="http://schemas.openxmlformats.org/drawingml/2006/main">
              <a:ext uri="{FF2B5EF4-FFF2-40B4-BE49-F238E27FC236}">
                <a16:creationId xmlns:a16="http://schemas.microsoft.com/office/drawing/2014/main" id="{49463324-DA66-4CD4-8C0F-28DED81D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1465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 6 课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问题门</a:t>
            </a:r>
          </a:p>
        </p:txBody>
      </p:sp>
      <p:sp>
        <p:nvSpPr>
          <p:cNvPr id="14" name="p18-three">
            <a:extLst xmlns:a="http://schemas.openxmlformats.org/drawingml/2006/main">
              <a:ext uri="{FF2B5EF4-FFF2-40B4-BE49-F238E27FC236}">
                <a16:creationId xmlns:a16="http://schemas.microsoft.com/office/drawing/2014/main" id="{1A314530-B197-4B00-982B-4E253C17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133850"/>
            <a:ext cx="590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问题门前累计至少 3 张完整精读卡</a:t>
            </a:r>
          </a:p>
        </p:txBody>
      </p:sp>
      <p:sp>
        <p:nvSpPr>
          <p:cNvPr id="15" name="p18-no-weekly">
            <a:extLst xmlns:a="http://schemas.openxmlformats.org/drawingml/2006/main">
              <a:ext uri="{FF2B5EF4-FFF2-40B4-BE49-F238E27FC236}">
                <a16:creationId xmlns:a16="http://schemas.microsoft.com/office/drawing/2014/main" id="{0F5A1551-C4E1-438F-9920-21080E68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14900"/>
            <a:ext cx="586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持续写回个人项目｜不逐周正式提交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2026-08-20T15:07:03.7310000Z</dcterms:created>
  <dcterms:modified xsi:type="dcterms:W3CDTF">2026-08-20T15:07:03.7310000Z</dcterms:modified>
</coreProperties>
</file>