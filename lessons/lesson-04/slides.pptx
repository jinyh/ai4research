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ac98941c664de1" /><Relationship Type="http://schemas.openxmlformats.org/officeDocument/2006/relationships/extended-properties" Target="/docProps/app.xml" Id="Ra9bf652f2a9e4400" /><Relationship Type="http://schemas.openxmlformats.org/officeDocument/2006/relationships/officeDocument" Target="/ppt/presentation.xml" Id="Rb6c6a6f3d5f942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e76e4ff19b4d56"/>
  </p:sldMasterIdLst>
  <p:notesMasterIdLst>
    <p:notesMasterId xmlns:r="http://schemas.openxmlformats.org/officeDocument/2006/relationships" r:id="R4652815f21864d9d"/>
  </p:notesMasterIdLst>
  <p:sldIdLst>
    <p:sldId xmlns:r="http://schemas.openxmlformats.org/officeDocument/2006/relationships" id="256" r:id="R8757889be44544b0"/>
    <p:sldId xmlns:r="http://schemas.openxmlformats.org/officeDocument/2006/relationships" id="257" r:id="R3959d370dfdd4c9f"/>
    <p:sldId xmlns:r="http://schemas.openxmlformats.org/officeDocument/2006/relationships" id="258" r:id="Rcb546209354b42da"/>
    <p:sldId xmlns:r="http://schemas.openxmlformats.org/officeDocument/2006/relationships" id="259" r:id="R678fdf432ea34014"/>
    <p:sldId xmlns:r="http://schemas.openxmlformats.org/officeDocument/2006/relationships" id="260" r:id="R4705564a78784c21"/>
    <p:sldId xmlns:r="http://schemas.openxmlformats.org/officeDocument/2006/relationships" id="261" r:id="R46b5aa4efde54277"/>
    <p:sldId xmlns:r="http://schemas.openxmlformats.org/officeDocument/2006/relationships" id="262" r:id="Ra0f6c5f238d545ab"/>
    <p:sldId xmlns:r="http://schemas.openxmlformats.org/officeDocument/2006/relationships" id="263" r:id="Rf781d29dc44b47ed"/>
    <p:sldId xmlns:r="http://schemas.openxmlformats.org/officeDocument/2006/relationships" id="264" r:id="Radcc4763c27b4b3c"/>
    <p:sldId xmlns:r="http://schemas.openxmlformats.org/officeDocument/2006/relationships" id="265" r:id="R903eff0e7e23481e"/>
    <p:sldId xmlns:r="http://schemas.openxmlformats.org/officeDocument/2006/relationships" id="266" r:id="R372d93d2fc634ae9"/>
    <p:sldId xmlns:r="http://schemas.openxmlformats.org/officeDocument/2006/relationships" id="267" r:id="R7e59665fb1f94d78"/>
    <p:sldId xmlns:r="http://schemas.openxmlformats.org/officeDocument/2006/relationships" id="268" r:id="Rd9da7d700ebe43f3"/>
    <p:sldId xmlns:r="http://schemas.openxmlformats.org/officeDocument/2006/relationships" id="269" r:id="R0823af33fee24711"/>
    <p:sldId xmlns:r="http://schemas.openxmlformats.org/officeDocument/2006/relationships" id="270" r:id="R6c38b44c5aed491d"/>
    <p:sldId xmlns:r="http://schemas.openxmlformats.org/officeDocument/2006/relationships" id="271" r:id="R18a2732fe43e4d32"/>
    <p:sldId xmlns:r="http://schemas.openxmlformats.org/officeDocument/2006/relationships" id="272" r:id="Rc6f8dc6479234ae3"/>
    <p:sldId xmlns:r="http://schemas.openxmlformats.org/officeDocument/2006/relationships" id="273" r:id="R9bd92cee892f4b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94d65abcc74b1d" /><Relationship Type="http://schemas.openxmlformats.org/officeDocument/2006/relationships/slideMaster" Target="/ppt/slideMasters/slideMaster1.xml" Id="R31e76e4ff19b4d56" /><Relationship Type="http://schemas.openxmlformats.org/officeDocument/2006/relationships/notesMaster" Target="/ppt/notesMasters/notesMaster1.xml" Id="R4652815f21864d9d" /><Relationship Type="http://schemas.openxmlformats.org/officeDocument/2006/relationships/presProps" Target="/ppt/presProps.xml" Id="R2766cd6ae21f4557" /><Relationship Type="http://schemas.openxmlformats.org/officeDocument/2006/relationships/viewProps" Target="/ppt/viewProps.xml" Id="Red716271b0db4e7b" /><Relationship Type="http://schemas.openxmlformats.org/officeDocument/2006/relationships/tableStyles" Target="/ppt/tableStyles.xml" Id="R7f5986e5acab4e79" /><Relationship Type="http://schemas.openxmlformats.org/officeDocument/2006/relationships/slide" Target="/ppt/slides/slide1.xml" Id="R8757889be44544b0" /><Relationship Type="http://schemas.openxmlformats.org/officeDocument/2006/relationships/slide" Target="/ppt/slides/slide2.xml" Id="R3959d370dfdd4c9f" /><Relationship Type="http://schemas.openxmlformats.org/officeDocument/2006/relationships/slide" Target="/ppt/slides/slide3.xml" Id="Rcb546209354b42da" /><Relationship Type="http://schemas.openxmlformats.org/officeDocument/2006/relationships/slide" Target="/ppt/slides/slide4.xml" Id="R678fdf432ea34014" /><Relationship Type="http://schemas.openxmlformats.org/officeDocument/2006/relationships/slide" Target="/ppt/slides/slide5.xml" Id="R4705564a78784c21" /><Relationship Type="http://schemas.openxmlformats.org/officeDocument/2006/relationships/slide" Target="/ppt/slides/slide6.xml" Id="R46b5aa4efde54277" /><Relationship Type="http://schemas.openxmlformats.org/officeDocument/2006/relationships/slide" Target="/ppt/slides/slide7.xml" Id="Ra0f6c5f238d545ab" /><Relationship Type="http://schemas.openxmlformats.org/officeDocument/2006/relationships/slide" Target="/ppt/slides/slide8.xml" Id="Rf781d29dc44b47ed" /><Relationship Type="http://schemas.openxmlformats.org/officeDocument/2006/relationships/slide" Target="/ppt/slides/slide9.xml" Id="Radcc4763c27b4b3c" /><Relationship Type="http://schemas.openxmlformats.org/officeDocument/2006/relationships/slide" Target="/ppt/slides/slide10.xml" Id="R903eff0e7e23481e" /><Relationship Type="http://schemas.openxmlformats.org/officeDocument/2006/relationships/slide" Target="/ppt/slides/slide11.xml" Id="R372d93d2fc634ae9" /><Relationship Type="http://schemas.openxmlformats.org/officeDocument/2006/relationships/slide" Target="/ppt/slides/slide12.xml" Id="R7e59665fb1f94d78" /><Relationship Type="http://schemas.openxmlformats.org/officeDocument/2006/relationships/slide" Target="/ppt/slides/slide13.xml" Id="Rd9da7d700ebe43f3" /><Relationship Type="http://schemas.openxmlformats.org/officeDocument/2006/relationships/slide" Target="/ppt/slides/slide14.xml" Id="R0823af33fee24711" /><Relationship Type="http://schemas.openxmlformats.org/officeDocument/2006/relationships/slide" Target="/ppt/slides/slide15.xml" Id="R6c38b44c5aed491d" /><Relationship Type="http://schemas.openxmlformats.org/officeDocument/2006/relationships/slide" Target="/ppt/slides/slide16.xml" Id="R18a2732fe43e4d32" /><Relationship Type="http://schemas.openxmlformats.org/officeDocument/2006/relationships/slide" Target="/ppt/slides/slide17.xml" Id="Rc6f8dc6479234ae3" /><Relationship Type="http://schemas.openxmlformats.org/officeDocument/2006/relationships/slide" Target="/ppt/slides/slide18.xml" Id="R9bd92cee892f4b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f7bef4dffb45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99c5db13e842f1" /><Relationship Type="http://schemas.openxmlformats.org/officeDocument/2006/relationships/notesMaster" Target="/ppt/notesMasters/notesMaster1.xml" Id="R828da790fbbf43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b28cb1c8574647" /><Relationship Type="http://schemas.openxmlformats.org/officeDocument/2006/relationships/notesMaster" Target="/ppt/notesMasters/notesMaster1.xml" Id="Rb2dd40e4ac914b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8bd9c4994b40c4" /><Relationship Type="http://schemas.openxmlformats.org/officeDocument/2006/relationships/notesMaster" Target="/ppt/notesMasters/notesMaster1.xml" Id="Rfd28b8a89f9942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5ab6ca63a14cb6" /><Relationship Type="http://schemas.openxmlformats.org/officeDocument/2006/relationships/notesMaster" Target="/ppt/notesMasters/notesMaster1.xml" Id="R92ba48b91bba45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909ca361d94c4b" /><Relationship Type="http://schemas.openxmlformats.org/officeDocument/2006/relationships/notesMaster" Target="/ppt/notesMasters/notesMaster1.xml" Id="R3cc45e51820f4d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667c6b46b64c01" /><Relationship Type="http://schemas.openxmlformats.org/officeDocument/2006/relationships/notesMaster" Target="/ppt/notesMasters/notesMaster1.xml" Id="R20730b6ed8864b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e3d5364c224879" /><Relationship Type="http://schemas.openxmlformats.org/officeDocument/2006/relationships/notesMaster" Target="/ppt/notesMasters/notesMaster1.xml" Id="R3c43c29ea3ba4a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108a1c34ed4e2b" /><Relationship Type="http://schemas.openxmlformats.org/officeDocument/2006/relationships/notesMaster" Target="/ppt/notesMasters/notesMaster1.xml" Id="R278c0e18137048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2a89cca2774c26" /><Relationship Type="http://schemas.openxmlformats.org/officeDocument/2006/relationships/notesMaster" Target="/ppt/notesMasters/notesMaster1.xml" Id="R34144fffde5d45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c75eee9de24bd8" /><Relationship Type="http://schemas.openxmlformats.org/officeDocument/2006/relationships/notesMaster" Target="/ppt/notesMasters/notesMaster1.xml" Id="Re22b2245fd2846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f0cd4959474a21" /><Relationship Type="http://schemas.openxmlformats.org/officeDocument/2006/relationships/notesMaster" Target="/ppt/notesMasters/notesMaster1.xml" Id="R2e4b08f8a03c40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8356e72d364536" /><Relationship Type="http://schemas.openxmlformats.org/officeDocument/2006/relationships/notesMaster" Target="/ppt/notesMasters/notesMaster1.xml" Id="Rd34ee06eeabd443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f214b8a8ca4c84" /><Relationship Type="http://schemas.openxmlformats.org/officeDocument/2006/relationships/notesMaster" Target="/ppt/notesMasters/notesMaster1.xml" Id="Rd4a3de533473440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23f79dbdd44375" /><Relationship Type="http://schemas.openxmlformats.org/officeDocument/2006/relationships/notesMaster" Target="/ppt/notesMasters/notesMaster1.xml" Id="R130b70600b9b49b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6db19f7d4d444e" /><Relationship Type="http://schemas.openxmlformats.org/officeDocument/2006/relationships/notesMaster" Target="/ppt/notesMasters/notesMaster1.xml" Id="Ra10cb3cb0a8542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2d08d7e0e6e4fee" /><Relationship Type="http://schemas.openxmlformats.org/officeDocument/2006/relationships/notesMaster" Target="/ppt/notesMasters/notesMaster1.xml" Id="Re9cb83226e1441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80dada7c6044432" /><Relationship Type="http://schemas.openxmlformats.org/officeDocument/2006/relationships/notesMaster" Target="/ppt/notesMasters/notesMaster1.xml" Id="Rd45ce37709be44f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11679acbeb4238" /><Relationship Type="http://schemas.openxmlformats.org/officeDocument/2006/relationships/notesMaster" Target="/ppt/notesMasters/notesMaster1.xml" Id="Rf0941a799f0e4a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第4讲 AI 辅助论文精读与深度分析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第4讲 AI 辅助论文精读与深度分析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开场放下论文清单。本课要处理的是：当 AI 已经能生成结构完整的论文摘要时，研究者怎样把精读变成可复查的"原文位置—主张—人工判断"追踪关系。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[syllabus.md](../../course/syllabus.md) 与 [备课规划.md](../备课规划.md) 第 4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第 3 课之后，入口核验还不是完整精读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 3 课建立了：</a:t>
            </a:r>
          </a:p>
          <a:p xmlns:a="http://schemas.openxmlformats.org/drawingml/2006/main">
            <a:r>
              <a:t>- 候选文献表</a:t>
            </a:r>
          </a:p>
          <a:p xmlns:a="http://schemas.openxmlformats.org/drawingml/2006/main">
            <a:r>
              <a:t>- 角色／状态／筛选决定</a:t>
            </a:r>
          </a:p>
          <a:p xmlns:a="http://schemas.openxmlformats.org/drawingml/2006/main">
            <a:r>
              <a:t>- 书目身份 + 一条拟用主张入口核验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仍未解决：</a:t>
            </a:r>
          </a:p>
          <a:p xmlns:a="http://schemas.openxmlformats.org/drawingml/2006/main">
            <a:r>
              <a:t>- 原文研究的任务和设置是什么？</a:t>
            </a:r>
          </a:p>
          <a:p xmlns:a="http://schemas.openxmlformats.org/drawingml/2006/main">
            <a:r>
              <a:t>- AI 复述的措辞与原文一致吗？</a:t>
            </a:r>
          </a:p>
          <a:p xmlns:a="http://schemas.openxmlformats.org/drawingml/2006/main">
            <a:r>
              <a:t>- AI 指向的图表位置真的对应它说的内容吗？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入口核验让一条拟用主张安全进入候选表，不代表整篇论文已完成精读。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3 课：候选文献表里的 `verified` 表示身份和至少一条拟用主张与原文一致，不表示多条主张、证据结构和局限已经读清。本课把论文进一步拆成可追溯的主张—位置—证据—判断。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快问：你最近一次把 AI 摘要直接搬进阅读卡，是什么时候？只听回答，不评价。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**板书主线**：主张原句 → 方法/结果位置 → 限定条件 → 本人判断。</a:t>
            </a:r>
          </a:p>
          <a:p xmlns:a="http://schemas.openxmlformats.org/drawingml/2006/main">
            <a:r>
              <a:t>- **诊断问题**：摘要里的一句结果，能否直接变成本人结论？</a:t>
            </a:r>
          </a:p>
          <a:p xmlns:a="http://schemas.openxmlformats.org/drawingml/2006/main">
            <a:r>
              <a:t>- **预期回答**：须回到方法、结果与范围，区分原文发现和自己推断。</a:t>
            </a:r>
          </a:p>
          <a:p xmlns:a="http://schemas.openxmlformats.org/drawingml/2006/main">
            <a:r>
              <a:t>- **常见误答后的追问**：若只复述摘要，要求指出支持句在正文哪里以及没有回答什么。</a:t>
            </a:r>
          </a:p>
          <a:p xmlns:a="http://schemas.openxmlformats.org/drawingml/2006/main">
            <a:r>
              <a:t>- **过渡串词**：“有了可定位的阅读卡，下一课才能跨论文比较。”</a:t>
            </a:r>
          </a:p>
          <a:p xmlns:a="http://schemas.openxmlformats.org/drawingml/2006/main">
            <a:r>
              <a:t>- **当堂最小产出**：一张含原文位置与边界的阅读卡。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回扣第 3 课 handout §四 来源审计；[AGENTS.md](../../AGENTS.md)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本课目标与课堂产出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用五步流程完成一篇论文的结构化精读；</a:t>
            </a:r>
          </a:p>
          <a:p xmlns:a="http://schemas.openxmlformats.org/drawingml/2006/main">
            <a:r>
              <a:t>2. 区分 AI 主张与原文主张，回到原文检查任务/设置/指标/对照/限定；</a:t>
            </a:r>
          </a:p>
          <a:p xmlns:a="http://schemas.openxmlformats.org/drawingml/2006/main">
            <a:r>
              <a:t>3. 识别 AI 错读、过度概括和伪造引用；记录 AI 错误/遗漏，未发现时记录已检查风险与依据；</a:t>
            </a:r>
          </a:p>
          <a:p xmlns:a="http://schemas.openxmlformats.org/drawingml/2006/main">
            <a:r>
              <a:t>4. 建立阅读卡，记录页码、图表或章节位置。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课堂最低产出：至少 1 张完整阅读卡 + 一条偏差审计记录 + 一条 AI 使用记录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本课不正式提交；第 6 课问题门前累计至少 3 张完整精读卡。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明确边界：本课目标是跑通一次完整精读流程，不是读完一整篇论文。课堂至少完成 1 张字段齐全的阅读卡；项目在第 6 课问题门前累计至少 3 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[备课规划.md](../备课规划.md) 第 4 课目标段；[assignments.md](../../course/assignments.md) 研究门条件。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读懂摘要不等于理解贡献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常见失败：</a:t>
            </a:r>
          </a:p>
          <a:p xmlns:a="http://schemas.openxmlformats.org/drawingml/2006/main">
            <a:r>
              <a:t>- AI 摘要直接进阅读卡</a:t>
            </a:r>
          </a:p>
          <a:p xmlns:a="http://schemas.openxmlformats.org/drawingml/2006/main">
            <a:r>
              <a:t>- 主张无原文位置</a:t>
            </a:r>
          </a:p>
          <a:p xmlns:a="http://schemas.openxmlformats.org/drawingml/2006/main">
            <a:r>
              <a:t>- "降低"被写成"消除"</a:t>
            </a:r>
          </a:p>
          <a:p xmlns:a="http://schemas.openxmlformats.org/drawingml/2006/main">
            <a:r>
              <a:t>- AI 质疑当结论</a:t>
            </a:r>
          </a:p>
          <a:p xmlns:a="http://schemas.openxmlformats.org/drawingml/2006/main">
            <a:r>
              <a:t>- 偏差审计缺位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流畅 ≠ 一致；结构完整 ≠ 贡献清晰。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暴露常见错误。AI 摘要可以快速建立阅读地图，但它的复述可能混入模型推断、措辞被改写、位置错指、限定遗漏。下面几页来看怎样用五步流程把精读变成可复查的追踪关系。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请学生举手：你是否曾经把 AI 摘要直接复制进阅读卡或证据表？只统计，不点名。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[AGENTS.md](../../AGENTS.md) 证据标准；[reading-list.md](../../course/reading-list.md) AI 辅助阅读协议。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第一步：AI 导航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让 AI 给出：</a:t>
            </a:r>
          </a:p>
          <a:p xmlns:a="http://schemas.openxmlformats.org/drawingml/2006/main">
            <a:r>
              <a:t>- 中心问题（一句话）</a:t>
            </a:r>
          </a:p>
          <a:p xmlns:a="http://schemas.openxmlformats.org/drawingml/2006/main">
            <a:r>
              <a:t>- 论证结构（问题→方法→设置→结果→局限）</a:t>
            </a:r>
          </a:p>
          <a:p xmlns:a="http://schemas.openxmlformats.org/drawingml/2006/main">
            <a:r>
              <a:t>- 关键术语</a:t>
            </a:r>
          </a:p>
          <a:p xmlns:a="http://schemas.openxmlformats.org/drawingml/2006/main">
            <a:r>
              <a:t>- 预期证据位置（图表、公式、实验编号）</a:t>
            </a:r>
          </a:p>
          <a:p xmlns:a="http://schemas.openxmlformats.org/drawingml/2006/main">
            <a:r>
              <a:t>- 待追问问题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全部标记"未核验"。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AI 导航帮你快速建立阅读地图，决定哪些段落值得重点读。AI 指向的"图 3"可能是错的——这正是下一步要核验的。AI 导航输出只是路线提示，不是结论。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请学生说出：AI 导航的哪一项最容易被当成结论直接采纳？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§二·1 AI 导航；[reading-list.md](../../course/reading-list.md) 第二节 AI 辅助阅读协议。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第二步：原文核验与检查五项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人工阅读指定段落，至少记录两个可复查位置：</a:t>
            </a:r>
          </a:p>
          <a:p xmlns:a="http://schemas.openxmlformats.org/drawingml/2006/main">
            <a:r>
              <a:t>- 章节、页码、图表、公式或实验编号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维度 | 检查问题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任务 | 原文任务和当前项目一样吗？ |</a:t>
            </a:r>
          </a:p>
          <a:p xmlns:a="http://schemas.openxmlformats.org/drawingml/2006/main">
            <a:r>
              <a:t>| 设置 | 输入、规模、条件是什么？ |</a:t>
            </a:r>
          </a:p>
          <a:p xmlns:a="http://schemas.openxmlformats.org/drawingml/2006/main">
            <a:r>
              <a:t>| 指标 | 用什么度量？定义一致吗？ |</a:t>
            </a:r>
          </a:p>
          <a:p xmlns:a="http://schemas.openxmlformats.org/drawingml/2006/main">
            <a:r>
              <a:t>| 对照 | baseline 是什么？公平吗？ |</a:t>
            </a:r>
          </a:p>
          <a:p xmlns:a="http://schemas.openxmlformats.org/drawingml/2006/main">
            <a:r>
              <a:t>| 限定 | 原文限定的范围是什么？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没有原文位置的主张，不能进入阅读卡的"作者主张"栏。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原文核验不可跳过。核验产物是带位置的主张，例如"作者主张 X → §3.2, p.5, Fig.2"。AI 说"见图 3"但图 3 不是该内容时，要重新定位。这五项对应 Keshav 三遍阅读法第二遍的深度阅读检查点——不是要求读完整篇，而是采纳一条主张前检查它能不能用于当前项目。任务不同、指标定义不同、对照不公平或限定不匹配，都意味着这条主张不能直接迁移。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让学生用自己的论文记录一个可复查位置，并选一条主张检查五项中最容易被忽略的。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§二·2 原文核验；§三·2 回到原文检查什么；Keshav "How to Read a Paper"（[reading-list.md](../../course/reading-list.md) 第 4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第三步：AI 质疑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让 AI 根据已核验内容提出：</a:t>
            </a:r>
          </a:p>
          <a:p xmlns:a="http://schemas.openxmlformats.org/drawingml/2006/main">
            <a:r>
              <a:t>- 这个结果在什么条件下会被推翻？</a:t>
            </a:r>
          </a:p>
          <a:p xmlns:a="http://schemas.openxmlformats.org/drawingml/2006/main">
            <a:r>
              <a:t>- 对照是否公平？baseline 是否被低估？</a:t>
            </a:r>
          </a:p>
          <a:p xmlns:a="http://schemas.openxmlformats.org/drawingml/2006/main">
            <a:r>
              <a:t>- 样本规模是否足以支撑结论强度？</a:t>
            </a:r>
          </a:p>
          <a:p xmlns:a="http://schemas.openxmlformats.org/drawingml/2006/main">
            <a:r>
              <a:t>- 原文限定条件是否被笔记遗漏？</a:t>
            </a:r>
          </a:p>
          <a:p xmlns:a="http://schemas.openxmlformats.org/drawingml/2006/main">
            <a:r>
              <a:t>- 是否存在原文未讨论的替代解释？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AI 质疑是候选问题，不是判断。需要回到原文检查。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AI 质疑暴露你自己的盲点。你可能因为觉得方法"看起来合理"而跳过对照设计或限定条件。AI 质疑的输出仍然只是候选问题，不是判断——你需要回到原文检查每个问题，而不是直接采纳。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请学生说出一个自己最容易跳过的检查项。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§二·3 AI 质疑；[reading-list.md](../../course/reading-list.md) 第二节。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第四步：偏差审计与错读类型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偏差类型：</a:t>
            </a:r>
          </a:p>
          <a:p xmlns:a="http://schemas.openxmlformats.org/drawingml/2006/main">
            <a:r>
              <a:t>- 过度概括：原文"降低"被写成"消除"</a:t>
            </a:r>
          </a:p>
          <a:p xmlns:a="http://schemas.openxmlformats.org/drawingml/2006/main">
            <a:r>
              <a:t>- 位置错指：AI 说"见图 2"但图 2 不是该内容</a:t>
            </a:r>
          </a:p>
          <a:p xmlns:a="http://schemas.openxmlformats.org/drawingml/2006/main">
            <a:r>
              <a:t>- 限定遗漏：原文"计算机领域"被省略</a:t>
            </a:r>
          </a:p>
          <a:p xmlns:a="http://schemas.openxmlformats.org/drawingml/2006/main">
            <a:r>
              <a:t>- 张冠李戴：把参考文献的方法写成本文方法</a:t>
            </a:r>
          </a:p>
          <a:p xmlns:a="http://schemas.openxmlformats.org/drawingml/2006/main">
            <a:r>
              <a:t>- 伪造引用：题名/作者/页码与正式来源不符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最小记录表：</a:t>
            </a:r>
          </a:p>
          <a:p xmlns:a="http://schemas.openxmlformats.org/drawingml/2006/main">
            <a:r>
              <a:t>| AI 输出 | 偏差类型 | 原文实际 | 核验位置 | 处理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至少记录一处 AI 错误或遗漏；未发现时记录已检查风险与核验依据。第 3 课处理"文献是否真实"，本课处理"复述是否一致"。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偏差审计记录的是可复查的偏差，是后续评价 AI 辅助阅读工作流的重要证据。第 3 课的来源审计是入口核验，本课是内容核验——一条论文可以 身份已核验（存在且 DOI 正确，但拟用主张仍须对回原文），但 AI 对它的复述仍可能错读、过度概括或位置错指。偏差审计表记录的就是这种内容层面的偏差。未发现明显错误时，记录检查过的风险点及核验依据，不虚构错误。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无。直接进入下一步。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§二·4 偏差审计；§三·3 错读、过度概括与伪造引用；第 3 课 handout §四 来源审计；[AGENTS.md](../../AGENTS.md) "失败记录是后续评价工作流的重要证据"。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第五步：人工定稿与主张区分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一条 AI 复述的可能来源：</a:t>
            </a:r>
          </a:p>
          <a:p xmlns:a="http://schemas.openxmlformats.org/drawingml/2006/main">
            <a:r>
              <a:t>- 原文确实写了（作者主张）</a:t>
            </a:r>
          </a:p>
          <a:p xmlns:a="http://schemas.openxmlformats.org/drawingml/2006/main">
            <a:r>
              <a:t>- 原文相关，AI 推断出更具体结论（模型推断）</a:t>
            </a:r>
          </a:p>
          <a:p xmlns:a="http://schemas.openxmlformats.org/drawingml/2006/main">
            <a:r>
              <a:t>- 原文没写，AI 根据常识补充（模型新增）</a:t>
            </a:r>
          </a:p>
          <a:p xmlns:a="http://schemas.openxmlformats.org/drawingml/2006/main">
            <a:r>
              <a:t>- 措辞强度被改写（过度概括）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只有第一种能进入"作者主张"栏。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由学生写出最终阅读卡，区分：</a:t>
            </a:r>
          </a:p>
          <a:p xmlns:a="http://schemas.openxmlformats.org/drawingml/2006/main">
            <a:r>
              <a:t>- 作者主张（带原文位置）</a:t>
            </a:r>
          </a:p>
          <a:p xmlns:a="http://schemas.openxmlformats.org/drawingml/2006/main">
            <a:r>
              <a:t>- 原文证据（指标/对照/样本/限定）</a:t>
            </a:r>
          </a:p>
          <a:p xmlns:a="http://schemas.openxmlformats.org/drawingml/2006/main">
            <a:r>
              <a:t>- 个人判断（适用性/待验证/与项目关系）</a:t>
            </a:r>
          </a:p>
          <a:p xmlns:a="http://schemas.openxmlformats.org/drawingml/2006/main">
            <a:r>
              <a:t>- AI 建议（导航/质疑/偏差记录）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判断责任在学生。AI 可以建议，不能定稿。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不区分的话，研究者会把 AI 推断误当成作者主张，再带进证据地图。第 5 课的证据地图质量取决于阅读卡的主张是否真实来自原文。人工定稿的判断责任在学生——阅读卡里"作者主张"必须能回到原文位置，"个人判断"必须写明理由和适用边界。AI 可以建议措辞、补充候选、提出质疑，但四栏必须分清，不能混在一栏。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请学生指出：你之前的阅读卡或笔记里，哪一栏和 AI 建议混在一起了？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§二·5 人工定稿；§三·1 为什么区分 AI 主张与原文主张；[AGENTS.md](../../AGENTS.md) "AI 输出本身不构成证据"；[reading-list.md](../../course/reading-list.md) 第二节第五步。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阅读卡字段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阅读卡最小字段：</a:t>
            </a:r>
          </a:p>
          <a:p xmlns:a="http://schemas.openxmlformats.org/drawingml/2006/main">
            <a:r>
              <a:t>- 论文 / 证据角色（承接第 3 课）</a:t>
            </a:r>
          </a:p>
          <a:p xmlns:a="http://schemas.openxmlformats.org/drawingml/2006/main">
            <a:r>
              <a:t>- 来源核验状态</a:t>
            </a:r>
          </a:p>
          <a:p xmlns:a="http://schemas.openxmlformats.org/drawingml/2006/main">
            <a:r>
              <a:t>- 中心问题（一句话，核验后）</a:t>
            </a:r>
          </a:p>
          <a:p xmlns:a="http://schemas.openxmlformats.org/drawingml/2006/main">
            <a:r>
              <a:t>- 作者主张（每条标注原文位置）</a:t>
            </a:r>
          </a:p>
          <a:p xmlns:a="http://schemas.openxmlformats.org/drawingml/2006/main">
            <a:r>
              <a:t>- 原文证据（指标/对照/样本/限定）</a:t>
            </a:r>
          </a:p>
          <a:p xmlns:a="http://schemas.openxmlformats.org/drawingml/2006/main">
            <a:r>
              <a:t>- 局限与边界（作者自述 + 个人判断）</a:t>
            </a:r>
          </a:p>
          <a:p xmlns:a="http://schemas.openxmlformats.org/drawingml/2006/main">
            <a:r>
              <a:t>- 个人判断（适用性/待验证/与项目关系）</a:t>
            </a:r>
          </a:p>
          <a:p xmlns:a="http://schemas.openxmlformats.org/drawingml/2006/main">
            <a:r>
              <a:t>- AI 建议（待核验）</a:t>
            </a:r>
          </a:p>
          <a:p xmlns:a="http://schemas.openxmlformats.org/drawingml/2006/main">
            <a:r>
              <a:t>- AI 偏差审计（错误/遗漏，或已检查风险与依据）</a:t>
            </a:r>
          </a:p>
          <a:p xmlns:a="http://schemas.openxmlformats.org/drawingml/2006/main">
            <a:r>
              <a:t>- 核验状态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没有原文位置的主张，不能进入"作者主张"栏。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阅读卡是本课产出，也是第 5 课证据地图的输入。每条作者主张必须标注原文位置；所有字段有值或写明不适用理由才算完整。`pending` 只留线索区；`verified-with-caveat` 保留限定且不单独支撑 `stable`；`rejected` 仅留审计。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无。进入演示。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 阅读卡字段；[starter-template.md](../../course/starter-template.md) 工件追踪。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演示：真实原文 vs 待核验 AI 输出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真实论文：Keshav, *How to Read a Paper*, DOI `10.1145/1273445.1273458`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原文定位：p.83 摘要与 §2/§2.1；p.84 §4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课堂构造 AI 输出｜未核验｜非真实模型记录：</a:t>
            </a:r>
          </a:p>
          <a:p xmlns:a="http://schemas.openxmlformats.org/drawingml/2006/main">
            <a:r>
              <a:t>- “对照实验证明阅读时间降低 50%”</a:t>
            </a:r>
          </a:p>
          <a:p xmlns:a="http://schemas.openxmlformats.org/drawingml/2006/main">
            <a:r>
              <a:t>- “第一遍固定需要 5 分钟”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原文核验：三遍阅读法｜第一遍约 5–10 分钟｜未报告该对照实验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论文页是真实来源，AI 输出两句是课堂构造，二者不得混为同一证据对象。先让学生在原文中定位，再给判断。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运行前请学生预测：AI 导航的哪一项最可能出错？运行后让学生指出差异点。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Keshav, S. "How to Read a Paper." DOI: https://doi.org/10.1145/1273445.1273458</a:t>
            </a:r>
          </a:p>
          <a:p xmlns:a="http://schemas.openxmlformats.org/drawingml/2006/main">
            <a:r>
              <a:t>- 公开 PDF：https://cs.uwaterloo.ca/~Brecht/courses/856/readings/how-to-read/keshav-paper-reading.pdf</a:t>
            </a:r>
          </a:p>
          <a:p xmlns:a="http://schemas.openxmlformats.org/drawingml/2006/main">
            <a:r>
              <a:t>- AI 输出为课堂构造，非真实模型记录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MI 演示：三篇论文如何分工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公开论文主张｜不含博士生未发表内容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![MI 精读证据阶梯](assets/mi-reading-evidence-ladder.svg)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C02：同设置正向主证据｜Pythia-410M · IOI · SAE vs PCA</a:t>
            </a:r>
          </a:p>
          <a:p xmlns:a="http://schemas.openxmlformats.org/drawingml/2006/main">
            <a:r>
              <a:t>- C16：控制性限制｜可解释 ≠ 足够可控制</a:t>
            </a:r>
          </a:p>
          <a:p xmlns:a="http://schemas.openxmlformats.org/drawingml/2006/main">
            <a:r>
              <a:t>- C31：效度威胁｜patching 成功 ≠ 自动因果忠实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三条都可进入证据地图，但 caveat 必须一起移动。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从 P11 的方法校准切换到真实研究争议。让学生看到“主证据、限制证据、效度威胁”不是按赞成/反对分组，而是共同约束一条可用主张。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让学生判断：C31 应标“反驳 C02”，还是“限制 C02 可推出的结论”？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[mi-reading-card-demo.md](./mi-reading-card-demo.md)；MI-C02/C16/C31 claim-level 位置与 caveat 见 [MI trace](../lesson-03/mi-search-trace-demo.md) §5；图源见 [assets/README.md](./assets/README.md)。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MI 演示：从 patching 成功到受限判断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初版 AI 归纳｜待核验：</a:t>
            </a:r>
          </a:p>
          <a:p xmlns:a="http://schemas.openxmlformats.org/drawingml/2006/main">
            <a:r>
              <a:t>&gt; C02 Fig.3 证明 SAE 特征对 IOI 具有因果忠实性。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原文与对照材料给出的受限判断：</a:t>
            </a:r>
          </a:p>
          <a:p xmlns:a="http://schemas.openxmlformats.org/drawingml/2006/main">
            <a:r>
              <a:t>- C02 pp.5-6：该设置下 SAE 用更少 patch / 更小 edit 达到目标 KL</a:t>
            </a:r>
          </a:p>
          <a:p xmlns:a="http://schemas.openxmlformats.org/drawingml/2006/main">
            <a:r>
              <a:t>- C02 p.9：重构误差与跨任务泛化仍是限制</a:t>
            </a:r>
          </a:p>
          <a:p xmlns:a="http://schemas.openxmlformats.org/drawingml/2006/main">
            <a:r>
              <a:t>- C16：可解释特征的控制能力可能弱于监督字典</a:t>
            </a:r>
          </a:p>
          <a:p xmlns:a="http://schemas.openxmlformats.org/drawingml/2006/main">
            <a:r>
              <a:t>- C31：子空间 patching 可能激活 dormant pathway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人工定稿：</a:t>
            </a:r>
          </a:p>
          <a:p xmlns:a="http://schemas.openxmlformats.org/drawingml/2006/main">
            <a:r>
              <a:t>&gt; 足以启动 SAE-vs-PCA baseline；不足以标记因果忠实为 stable。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状态：verified-with-caveat → 综合判断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演示同一条主张如何被三篇论文共同收窄。明确 C16/C31 的设置不同，因此承担方法论限制，不冒充同设置反驳。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请学生给出 L9 还需补的一项证据：重构敏感性、随机/监督方向、held-out 或正常路径证据。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[mi-reading-card-demo.md](./mi-reading-card-demo.md)；MI-C02/C16/C31；[mi-case-registry.md](../../references/notes/mi-case-registry.md) MI-04-01–03。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个人实践：跑通一次五步精读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本轮完成：</a:t>
            </a:r>
          </a:p>
          <a:p xmlns:a="http://schemas.openxmlformats.org/drawingml/2006/main">
            <a:r>
              <a:t>1. 选一篇可访问原文的 verified / verified-with-caveat 论文（没有者使用 Keshav 演示包）</a:t>
            </a:r>
          </a:p>
          <a:p xmlns:a="http://schemas.openxmlformats.org/drawingml/2006/main">
            <a:r>
              <a:t>2. AI 导航：中心问题/结构/术语/预期位置/待追问</a:t>
            </a:r>
          </a:p>
          <a:p xmlns:a="http://schemas.openxmlformats.org/drawingml/2006/main">
            <a:r>
              <a:t>3. 原文核验：至少两个可复查位置</a:t>
            </a:r>
          </a:p>
          <a:p xmlns:a="http://schemas.openxmlformats.org/drawingml/2006/main">
            <a:r>
              <a:t>4. AI 质疑：根据已核验内容提反例</a:t>
            </a:r>
          </a:p>
          <a:p xmlns:a="http://schemas.openxmlformats.org/drawingml/2006/main">
            <a:r>
              <a:t>5. 偏差审计：AI 错误/遗漏，或已检查风险与依据</a:t>
            </a:r>
          </a:p>
          <a:p xmlns:a="http://schemas.openxmlformats.org/drawingml/2006/main">
            <a:r>
              <a:t>6. 完整阅读卡：全字段有值；不适用项写理由</a:t>
            </a:r>
          </a:p>
          <a:p xmlns:a="http://schemas.openxmlformats.org/drawingml/2006/main">
            <a:r>
              <a:t>7. 写一条 AI 使用记录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选择顺序：自有已核验论文 → Keshav 真实演示包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没有可访问原文的学生使用 Keshav 演示包，但要自己重新完成一条主张的定位、边界判断和偏差审计，不直接复制示例卡。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验收标准：</a:t>
            </a:r>
          </a:p>
          <a:p xmlns:a="http://schemas.openxmlformats.org/drawingml/2006/main">
            <a:r>
              <a:t>- 至少 1 张完整阅读卡，字段齐全；</a:t>
            </a:r>
          </a:p>
          <a:p xmlns:a="http://schemas.openxmlformats.org/drawingml/2006/main">
            <a:r>
              <a:t>- 每条作者主张标注原文位置；</a:t>
            </a:r>
          </a:p>
          <a:p xmlns:a="http://schemas.openxmlformats.org/drawingml/2006/main">
            <a:r>
              <a:t>- 偏差审计记录 AI 错误/遗漏，或已检查风险与依据；</a:t>
            </a:r>
          </a:p>
          <a:p xmlns:a="http://schemas.openxmlformats.org/drawingml/2006/main">
            <a:r>
              <a:t>- 原文证据写明指标/对照/样本/限定；</a:t>
            </a:r>
          </a:p>
          <a:p xmlns:a="http://schemas.openxmlformats.org/drawingml/2006/main">
            <a:r>
              <a:t>- AI 使用记录完整。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说明任务后切换至 P15 模板停留页。教师巡视只处理共同卡点，不逐台排障。模型不可用者使用纸面或 Markdown 模板完成。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[starter-template.md](../../course/starter-template.md) 最小文件结构；第 3 课候选文献表。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实践停留页：模板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阅读卡模板：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论文：题名 / 作者 / 年份 / DOI</a:t>
            </a:r>
          </a:p>
          <a:p xmlns:a="http://schemas.openxmlformats.org/drawingml/2006/main">
            <a:r>
              <a:t>来源状态：</a:t>
            </a:r>
          </a:p>
          <a:p xmlns:a="http://schemas.openxmlformats.org/drawingml/2006/main">
            <a:r>
              <a:t>证据角色：主证据 / 补充 / 对比 / 探索线索</a:t>
            </a:r>
          </a:p>
          <a:p xmlns:a="http://schemas.openxmlformats.org/drawingml/2006/main">
            <a:r>
              <a:t>中心问题（一句话，核验后）：</a:t>
            </a:r>
          </a:p>
          <a:p xmlns:a="http://schemas.openxmlformats.org/drawingml/2006/main">
            <a:r>
              <a:t>作者主张（带位置）：</a:t>
            </a:r>
          </a:p>
          <a:p xmlns:a="http://schemas.openxmlformats.org/drawingml/2006/main">
            <a:r>
              <a:t>  - 主张 1 → §x.x, p.x, Fig.x</a:t>
            </a:r>
          </a:p>
          <a:p xmlns:a="http://schemas.openxmlformats.org/drawingml/2006/main">
            <a:r>
              <a:t>原文证据：</a:t>
            </a:r>
          </a:p>
          <a:p xmlns:a="http://schemas.openxmlformats.org/drawingml/2006/main">
            <a:r>
              <a:t>  指标：　对照：　样本：　限定：</a:t>
            </a:r>
          </a:p>
          <a:p xmlns:a="http://schemas.openxmlformats.org/drawingml/2006/main">
            <a:r>
              <a:t>局限与边界：</a:t>
            </a:r>
          </a:p>
          <a:p xmlns:a="http://schemas.openxmlformats.org/drawingml/2006/main">
            <a:r>
              <a:t>  作者自述：　个人判断：</a:t>
            </a:r>
          </a:p>
          <a:p xmlns:a="http://schemas.openxmlformats.org/drawingml/2006/main">
            <a:r>
              <a:t>个人判断：</a:t>
            </a:r>
          </a:p>
          <a:p xmlns:a="http://schemas.openxmlformats.org/drawingml/2006/main">
            <a:r>
              <a:t>AI 建议（待核验）：</a:t>
            </a:r>
          </a:p>
          <a:p xmlns:a="http://schemas.openxmlformats.org/drawingml/2006/main">
            <a:r>
              <a:t>AI 偏差审计（错误/遗漏，或已检查风险与依据）：</a:t>
            </a:r>
          </a:p>
          <a:p xmlns:a="http://schemas.openxmlformats.org/drawingml/2006/main">
            <a:r>
              <a:t>内容状态：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偏差审计表模板：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| AI 输出 | 偏差类型 | 原文实际 | 核验位置 | 处理 |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写入位置：reading-cards.md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 = 每个字段有值，或写明“不适用 + 理由”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模板投屏停留。课堂至少完成 1 张围绕 1 条关键主张的全字段阅读卡；本课不正式提交，第 6 课问题门前累计至少 3 张。断网/无模型时使用 `reading-card-demo.md` 的真实原文 trace，并在日志中写明未执行实时模型。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第一段完成主张定位与证据限定；教师插入“作者主张、AI 转述和个人判断”分层点评；第二段补全边界、偏差审计和 AI 使用记录。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 阅读卡字段；§二·4 偏差审计表。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同伴互查三问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两人互查三问：</a:t>
            </a:r>
          </a:p>
          <a:p xmlns:a="http://schemas.openxmlformats.org/drawingml/2006/main">
            <a:r>
              <a:t>1. 主张有位置吗？每条作者主张标注了章节/页码/图表吗？</a:t>
            </a:r>
          </a:p>
          <a:p xmlns:a="http://schemas.openxmlformats.org/drawingml/2006/main">
            <a:r>
              <a:t>2. AI 与原文分栏了吗？作者主张和个人判断没有混在一起吗？</a:t>
            </a:r>
          </a:p>
          <a:p xmlns:a="http://schemas.openxmlformats.org/drawingml/2006/main">
            <a:r>
              <a:t>3. 偏差审计可复查吗？有 AI 错误/遗漏，或已检查风险与核验依据吗？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作者记录：采纳／暂不采纳／待核验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同伴只提问题，不替作者决定。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每人约 3-5 分钟：一人用 45 秒说明论文、一条带位置主张，以及一处 AI 错误/遗漏或已检查风险；同伴按三问反馈；作者记录处理决定。反馈不要求立即改写。反馈者不替代作者修改，不形成共同提交。人数为奇数时组成三人组，每人缩短说明时间。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两人互查。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AI 导航 → 原文核验 → 偏差审计 → 人工定稿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**AI 导航**：先定位任务、设置与关键位置。</a:t>
            </a:r>
          </a:p>
          <a:p xmlns:a="http://schemas.openxmlformats.org/drawingml/2006/main">
            <a:r>
              <a:t>2. **原文核验**：逐条检查指标、对照与限定。</a:t>
            </a:r>
          </a:p>
          <a:p xmlns:a="http://schemas.openxmlformats.org/drawingml/2006/main">
            <a:r>
              <a:t>3. **偏差审计**：记录错读、遗漏，或已检查风险及依据。</a:t>
            </a:r>
          </a:p>
          <a:p xmlns:a="http://schemas.openxmlformats.org/drawingml/2006/main">
            <a:r>
              <a:t>4. **人工定稿**：保留原文位置与判断边界。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关键边界：AI 输出只提供阅读线索；关键主张必须绑定原文位置，并由研究者作最终判断。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用四步主链回收本讲，不逐页复述。强调阅读卡的价值不在“摘要更完整”，而在原文位置、作者主张、AI 偏差和人工判断能够相互追踪。本页不引入新任务。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学生用一句话指出自己阅读卡目前停在哪一步。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 五步流程、§三 主张核验与偏差审计；[AGENTS.md](../../AGENTS.md)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退出卡与第 5 课预告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退出卡：</a:t>
            </a:r>
          </a:p>
          <a:p xmlns:a="http://schemas.openxmlformats.org/drawingml/2006/main">
            <a:r>
              <a:t>- 今天最清楚的一点；</a:t>
            </a:r>
          </a:p>
          <a:p xmlns:a="http://schemas.openxmlformats.org/drawingml/2006/main">
            <a:r>
              <a:t>- 仍然困惑的一点；</a:t>
            </a:r>
          </a:p>
          <a:p xmlns:a="http://schemas.openxmlformats.org/drawingml/2006/main">
            <a:r>
              <a:t>- 阅读卡当前字段是否齐全；</a:t>
            </a:r>
          </a:p>
          <a:p xmlns:a="http://schemas.openxmlformats.org/drawingml/2006/main">
            <a:r>
              <a:t>- 偏差审计记录了什么错误/遗漏或已检查风险；</a:t>
            </a:r>
          </a:p>
          <a:p xmlns:a="http://schemas.openxmlformats.org/drawingml/2006/main">
            <a:r>
              <a:t>- 第 5 课需要补的证据地图或空白案例。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5 课预告：综述结构、证据地图与研究空白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不新增课后正式作业；第 6 课问题门前累计至少 3 张完整精读卡。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回扣本课目标：学生不需要在 90 分钟内读完整篇论文。课堂至少完成 1 张完整阅读卡、一条偏差审计记录和一条 AI 使用记录，就形成可继续检查的起点。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课后引导阅读（采用 AI 导航→原文核验→AI 质疑→偏差审计→人工定稿流程）：</a:t>
            </a:r>
          </a:p>
          <a:p xmlns:a="http://schemas.openxmlformats.org/drawingml/2006/main">
            <a:r>
              <a:t>- Keshav "How to Read a Paper"，约 20 分钟，核心阅读；</a:t>
            </a:r>
          </a:p>
          <a:p xmlns:a="http://schemas.openxmlformats.org/drawingml/2006/main">
            <a:r>
              <a:t>- Booth et al. *The Craft of Research*, 5th ed., Chapter 4，任选，约 25 分钟；</a:t>
            </a:r>
          </a:p>
          <a:p xmlns:a="http://schemas.openxmlformats.org/drawingml/2006/main">
            <a:r>
              <a:t>- 沈向洋、华刚中文检查表，任选，约 15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项目推进：继续完善课堂阅读卡，并在第 6 课问题门前累计至少 3 张与个人项目直接相关的完整精读卡；若课堂已完成 1 张，通常还需补 2 张，每张约 30-45 分钟。持续写入 `reading-cards.md`，第 5 课再重组进证据地图，不逐周正式提交。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学生提交退出卡或保存在个人项目。教师收集共性问题，用于第 5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Keshav, S. *ACM SIGCOMM CCR* 37(3), 83–84 (2007). DOI: [10.1145/1273445.1273458](https://doi.org/10.1145/1273445.1273458)。</a:t>
            </a:r>
          </a:p>
          <a:p xmlns:a="http://schemas.openxmlformats.org/drawingml/2006/main">
            <a:r>
              <a:t>- Booth et al. *The Craft of Research*, 5th ed. [出版社页面](https://press.uchicago.edu/ucp/books/book/chicago/C/bo215874008)。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2338b9fe654884" /><Relationship Type="http://schemas.openxmlformats.org/officeDocument/2006/relationships/image" Target="/ppt/media/image.png" Id="Rc1e148980d954c1a" /><Relationship Type="http://schemas.openxmlformats.org/officeDocument/2006/relationships/image" Target="/ppt/media/image2.png" Id="R2387c45a804947f8" /><Relationship Type="http://schemas.openxmlformats.org/officeDocument/2006/relationships/image" Target="/ppt/media/image3.png" Id="Rc5f68383257f451d" /><Relationship Type="http://schemas.openxmlformats.org/officeDocument/2006/relationships/image" Target="/ppt/media/image4.png" Id="R1020e106d3ad43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fb2bd54b9940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a1097491ad482a" /><Relationship Type="http://schemas.openxmlformats.org/officeDocument/2006/relationships/image" Target="/ppt/media/image2.png" Id="Rda95e281f8224b22" /><Relationship Type="http://schemas.openxmlformats.org/officeDocument/2006/relationships/image" Target="/ppt/media/image5.png" Id="Rb6f835ca00a54b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14e55238e436c" /><Relationship Type="http://schemas.openxmlformats.org/officeDocument/2006/relationships/image" Target="/ppt/media/image.png" Id="R265a951874454a6e" /><Relationship Type="http://schemas.openxmlformats.org/officeDocument/2006/relationships/image" Target="/ppt/media/image3.png" Id="R1246605e959a49ea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148980d954c1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87c45a804947f8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f68383257f451d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0e106d3ad43fa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95e281f8224b22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835ca00a54b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5a951874454a6e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46605e959a49ea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5756c7ad2f4f86" /><Relationship Type="http://schemas.openxmlformats.org/officeDocument/2006/relationships/slideLayout" Target="/ppt/slideLayouts/slideLayout1.xml" Id="Rb0d1ae0e89344b97" /><Relationship Type="http://schemas.openxmlformats.org/officeDocument/2006/relationships/slideLayout" Target="/ppt/slideLayouts/slideLayout2.xml" Id="R04f133eae6e6464a" /><Relationship Type="http://schemas.openxmlformats.org/officeDocument/2006/relationships/slideLayout" Target="/ppt/slideLayouts/slideLayout3.xml" Id="Rb85529b62395403e" /><Relationship Type="http://schemas.openxmlformats.org/officeDocument/2006/relationships/slideLayout" Target="/ppt/slideLayouts/slideLayout4.xml" Id="R22b8ad0f573c465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d1ae0e89344b97"/>
    <p:sldLayoutId xmlns:r="http://schemas.openxmlformats.org/officeDocument/2006/relationships" id="2147483650" r:id="R04f133eae6e6464a"/>
    <p:sldLayoutId xmlns:r="http://schemas.openxmlformats.org/officeDocument/2006/relationships" id="2147483651" r:id="Rb85529b62395403e"/>
    <p:sldLayoutId xmlns:r="http://schemas.openxmlformats.org/officeDocument/2006/relationships" id="2147483652" r:id="R22b8ad0f573c465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443df5e194f8a" /><Relationship Type="http://schemas.openxmlformats.org/officeDocument/2006/relationships/notesSlide" Target="/ppt/notesSlides/notesSlide1.xml" Id="Rf4b18e0278e944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98709f68a704683" /><Relationship Type="http://schemas.openxmlformats.org/officeDocument/2006/relationships/notesSlide" Target="/ppt/notesSlides/notesSlide2.xml" Id="R12d4fa149a5d4a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67a8a8d1f84446" /><Relationship Type="http://schemas.openxmlformats.org/officeDocument/2006/relationships/notesSlide" Target="/ppt/notesSlides/notesSlide3.xml" Id="R4d58acf9c5df45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686862431334425" /><Relationship Type="http://schemas.openxmlformats.org/officeDocument/2006/relationships/notesSlide" Target="/ppt/notesSlides/notesSlide4.xml" Id="Rad8c327f7df74c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1009e40fa64df1" /><Relationship Type="http://schemas.openxmlformats.org/officeDocument/2006/relationships/notesSlide" Target="/ppt/notesSlides/notesSlide5.xml" Id="Ra0b80e703a5a4d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1d0a15e2954efc" /><Relationship Type="http://schemas.openxmlformats.org/officeDocument/2006/relationships/notesSlide" Target="/ppt/notesSlides/notesSlide6.xml" Id="R4447f5b5314340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827483f2dc04d0c" /><Relationship Type="http://schemas.openxmlformats.org/officeDocument/2006/relationships/notesSlide" Target="/ppt/notesSlides/notesSlide7.xml" Id="Re3d88f7dd6a04f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2c9fed8357946bc" /><Relationship Type="http://schemas.openxmlformats.org/officeDocument/2006/relationships/notesSlide" Target="/ppt/notesSlides/notesSlide8.xml" Id="R2d2aaabd3db743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411ee55a314a95" /><Relationship Type="http://schemas.openxmlformats.org/officeDocument/2006/relationships/notesSlide" Target="/ppt/notesSlides/notesSlide9.xml" Id="Rce62e654e51140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ea742414684410f" /><Relationship Type="http://schemas.openxmlformats.org/officeDocument/2006/relationships/notesSlide" Target="/ppt/notesSlides/notesSlide10.xml" Id="R7b3221bc38dd49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8b5081b8d04927" /><Relationship Type="http://schemas.openxmlformats.org/officeDocument/2006/relationships/image" Target="/ppt/media/image6.png" Id="R29dcc187cb654799" /><Relationship Type="http://schemas.openxmlformats.org/officeDocument/2006/relationships/notesSlide" Target="/ppt/notesSlides/notesSlide11.xml" Id="Rb219e4504b994e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2a4fe700b74254" /><Relationship Type="http://schemas.openxmlformats.org/officeDocument/2006/relationships/image" Target="/ppt/media/image7.png" Id="R1ff2e548cda24d1c" /><Relationship Type="http://schemas.openxmlformats.org/officeDocument/2006/relationships/notesSlide" Target="/ppt/notesSlides/notesSlide12.xml" Id="R07ff929b7e1d4b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ea9439d923e4dbe" /><Relationship Type="http://schemas.openxmlformats.org/officeDocument/2006/relationships/notesSlide" Target="/ppt/notesSlides/notesSlide13.xml" Id="Rba43e2be9e804e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75ea08c96d47f5" /><Relationship Type="http://schemas.openxmlformats.org/officeDocument/2006/relationships/notesSlide" Target="/ppt/notesSlides/notesSlide14.xml" Id="Rac857a9c8e0b412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a970f8b498943b1" /><Relationship Type="http://schemas.openxmlformats.org/officeDocument/2006/relationships/notesSlide" Target="/ppt/notesSlides/notesSlide15.xml" Id="R0c1f94f8f32141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6a2b96608c34a2b" /><Relationship Type="http://schemas.openxmlformats.org/officeDocument/2006/relationships/notesSlide" Target="/ppt/notesSlides/notesSlide16.xml" Id="Rfd3d05c66e494e1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ec35bc031e4dcf" /><Relationship Type="http://schemas.openxmlformats.org/officeDocument/2006/relationships/notesSlide" Target="/ppt/notesSlides/notesSlide17.xml" Id="Rddf99098dfd545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52c7dc4c4b458b" /><Relationship Type="http://schemas.openxmlformats.org/officeDocument/2006/relationships/notesSlide" Target="/ppt/notesSlides/notesSlide18.xml" Id="Rc151054d25b7453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第4讲 AI 辅助论文精读与深度分析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3 课之后，“已读”仍未核验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left-title">
            <a:extLst xmlns:a="http://schemas.openxmlformats.org/drawingml/2006/main">
              <a:ext uri="{FF2B5EF4-FFF2-40B4-BE49-F238E27FC236}">
                <a16:creationId xmlns:a16="http://schemas.microsoft.com/office/drawing/2014/main" id="{DA6AC401-E2C4-4B8F-92D1-168E1BA4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9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3 课已经建立</a:t>
            </a:r>
          </a:p>
        </p:txBody>
      </p:sp>
      <p:sp>
        <p:nvSpPr>
          <p:cNvPr id="7" name="visual-2-1-p02-left">
            <a:extLst xmlns:a="http://schemas.openxmlformats.org/drawingml/2006/main">
              <a:ext uri="{FF2B5EF4-FFF2-40B4-BE49-F238E27FC236}">
                <a16:creationId xmlns:a16="http://schemas.microsoft.com/office/drawing/2014/main" id="{E9EA567B-BC0B-4AB0-9F54-6ADEED03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4286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候选文献表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证据角色初标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✓ 来源审计：题名 / 作者 / DOI</a:t>
            </a:r>
          </a:p>
        </p:txBody>
      </p:sp>
      <p:sp>
        <p:nvSpPr>
          <p:cNvPr id="8" name="visual-2-2-p02-right-title">
            <a:extLst xmlns:a="http://schemas.openxmlformats.org/drawingml/2006/main">
              <a:ext uri="{FF2B5EF4-FFF2-40B4-BE49-F238E27FC236}">
                <a16:creationId xmlns:a16="http://schemas.microsoft.com/office/drawing/2014/main" id="{A1082C5F-7697-498A-98D3-BEBA3567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009650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仍然没有回答</a:t>
            </a:r>
          </a:p>
        </p:txBody>
      </p:sp>
      <p:sp>
        <p:nvSpPr>
          <p:cNvPr id="9" name="visual-2-3-p02-right">
            <a:extLst xmlns:a="http://schemas.openxmlformats.org/drawingml/2006/main">
              <a:ext uri="{FF2B5EF4-FFF2-40B4-BE49-F238E27FC236}">
                <a16:creationId xmlns:a16="http://schemas.microsoft.com/office/drawing/2014/main" id="{ECF41524-A6C3-4A65-8094-F7577D07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57350"/>
            <a:ext cx="42862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原文任务与设置是什么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AI 措辞与原文一致吗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图表位置真的对应吗</a:t>
            </a:r>
          </a:p>
        </p:txBody>
      </p:sp>
      <p:sp>
        <p:nvSpPr>
          <p:cNvPr id="10" name="visual-2-4-p02-neq">
            <a:extLst xmlns:a="http://schemas.openxmlformats.org/drawingml/2006/main">
              <a:ext uri="{FF2B5EF4-FFF2-40B4-BE49-F238E27FC236}">
                <a16:creationId xmlns:a16="http://schemas.microsoft.com/office/drawing/2014/main" id="{28116C4F-93B1-4D3A-9DD7-6048CF66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38350"/>
            <a:ext cx="142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11" name="visual-2-5-p02-thesis">
            <a:extLst xmlns:a="http://schemas.openxmlformats.org/drawingml/2006/main">
              <a:ext uri="{FF2B5EF4-FFF2-40B4-BE49-F238E27FC236}">
                <a16:creationId xmlns:a16="http://schemas.microsoft.com/office/drawing/2014/main" id="{5BA43CAD-8F01-421D-A0B2-A95B5804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57700"/>
            <a:ext cx="9867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来源核验回答“论文是真的”，不回答“复述是对的”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p03-n-0">
            <a:extLst xmlns:a="http://schemas.openxmlformats.org/drawingml/2006/main">
              <a:ext uri="{FF2B5EF4-FFF2-40B4-BE49-F238E27FC236}">
                <a16:creationId xmlns:a16="http://schemas.microsoft.com/office/drawing/2014/main" id="{75291C8B-F829-413A-89B3-515027B9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477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3-1-p03-goal-0">
            <a:extLst xmlns:a="http://schemas.openxmlformats.org/drawingml/2006/main">
              <a:ext uri="{FF2B5EF4-FFF2-40B4-BE49-F238E27FC236}">
                <a16:creationId xmlns:a16="http://schemas.microsoft.com/office/drawing/2014/main" id="{7FD035F9-F619-4050-B23A-730B5D4E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906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用五步流程完成一篇论文的结构化精读</a:t>
            </a:r>
          </a:p>
        </p:txBody>
      </p:sp>
      <p:sp>
        <p:nvSpPr>
          <p:cNvPr id="8" name="visual-3-2-p03-n-1">
            <a:extLst xmlns:a="http://schemas.openxmlformats.org/drawingml/2006/main">
              <a:ext uri="{FF2B5EF4-FFF2-40B4-BE49-F238E27FC236}">
                <a16:creationId xmlns:a16="http://schemas.microsoft.com/office/drawing/2014/main" id="{7123FB34-1F43-47BE-848D-207D0D53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3-3-p03-goal-1">
            <a:extLst xmlns:a="http://schemas.openxmlformats.org/drawingml/2006/main">
              <a:ext uri="{FF2B5EF4-FFF2-40B4-BE49-F238E27FC236}">
                <a16:creationId xmlns:a16="http://schemas.microsoft.com/office/drawing/2014/main" id="{465C1BDB-42CB-40F2-855E-644B5F46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回到原文检查任务、设置、指标、对照与限定</a:t>
            </a:r>
          </a:p>
        </p:txBody>
      </p:sp>
      <p:sp>
        <p:nvSpPr>
          <p:cNvPr id="10" name="visual-3-4-p03-n-2">
            <a:extLst xmlns:a="http://schemas.openxmlformats.org/drawingml/2006/main">
              <a:ext uri="{FF2B5EF4-FFF2-40B4-BE49-F238E27FC236}">
                <a16:creationId xmlns:a16="http://schemas.microsoft.com/office/drawing/2014/main" id="{5B24F3CF-74A7-40F8-8F96-A9805A2B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3-5-p03-goal-2">
            <a:extLst xmlns:a="http://schemas.openxmlformats.org/drawingml/2006/main">
              <a:ext uri="{FF2B5EF4-FFF2-40B4-BE49-F238E27FC236}">
                <a16:creationId xmlns:a16="http://schemas.microsoft.com/office/drawing/2014/main" id="{CFBE43E2-4C0E-417F-8DDE-D97206B0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 AI 错误/遗漏，或已检查风险与依据</a:t>
            </a:r>
          </a:p>
        </p:txBody>
      </p:sp>
      <p:sp>
        <p:nvSpPr>
          <p:cNvPr id="12" name="visual-3-6-p03-n-3">
            <a:extLst xmlns:a="http://schemas.openxmlformats.org/drawingml/2006/main">
              <a:ext uri="{FF2B5EF4-FFF2-40B4-BE49-F238E27FC236}">
                <a16:creationId xmlns:a16="http://schemas.microsoft.com/office/drawing/2014/main" id="{6DCA13A7-0089-4AF7-960F-71D6D1F2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3-7-p03-goal-3">
            <a:extLst xmlns:a="http://schemas.openxmlformats.org/drawingml/2006/main">
              <a:ext uri="{FF2B5EF4-FFF2-40B4-BE49-F238E27FC236}">
                <a16:creationId xmlns:a16="http://schemas.microsoft.com/office/drawing/2014/main" id="{923AB69C-ADBD-41A7-8EA8-4A3142BA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19500"/>
            <a:ext cx="600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建立带页码、图表或章节位置的阅读卡</a:t>
            </a:r>
          </a:p>
        </p:txBody>
      </p:sp>
      <p:sp>
        <p:nvSpPr>
          <p:cNvPr id="14" name="visual-3-8-p03-output-title">
            <a:extLst xmlns:a="http://schemas.openxmlformats.org/drawingml/2006/main">
              <a:ext uri="{FF2B5EF4-FFF2-40B4-BE49-F238E27FC236}">
                <a16:creationId xmlns:a16="http://schemas.microsoft.com/office/drawing/2014/main" id="{3D83BFCA-4C38-4DC7-AD9C-DBFBDD18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09650"/>
            <a:ext cx="3676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课堂最低产出</a:t>
            </a:r>
          </a:p>
        </p:txBody>
      </p:sp>
      <p:sp>
        <p:nvSpPr>
          <p:cNvPr id="15" name="visual-3-9-p03-output">
            <a:extLst xmlns:a="http://schemas.openxmlformats.org/drawingml/2006/main">
              <a:ext uri="{FF2B5EF4-FFF2-40B4-BE49-F238E27FC236}">
                <a16:creationId xmlns:a16="http://schemas.microsoft.com/office/drawing/2014/main" id="{895F5685-AA7C-4E06-BEC2-1AB5FC91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36766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张完整阅读卡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+ 1 条偏差审计记录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+ 1 条 AI 使用记录</a:t>
            </a:r>
          </a:p>
        </p:txBody>
      </p:sp>
      <p:sp>
        <p:nvSpPr>
          <p:cNvPr id="16" name="visual-3-10-p03-gate">
            <a:extLst xmlns:a="http://schemas.openxmlformats.org/drawingml/2006/main">
              <a:ext uri="{FF2B5EF4-FFF2-40B4-BE49-F238E27FC236}">
                <a16:creationId xmlns:a16="http://schemas.microsoft.com/office/drawing/2014/main" id="{C0501DC5-CFF6-438C-9CB2-7D49071E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00450"/>
            <a:ext cx="36766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6 课问题门前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累计至少 3 张完整精读卡</a:t>
            </a:r>
          </a:p>
        </p:txBody>
      </p:sp>
      <p:sp>
        <p:nvSpPr>
          <p:cNvPr id="17" name="visual-3-11-p03-no-submit">
            <a:extLst xmlns:a="http://schemas.openxmlformats.org/drawingml/2006/main">
              <a:ext uri="{FF2B5EF4-FFF2-40B4-BE49-F238E27FC236}">
                <a16:creationId xmlns:a16="http://schemas.microsoft.com/office/drawing/2014/main" id="{8DE770F4-6299-44ED-A8BA-B6075873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459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本课不正式提交｜持续回写个人项目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读懂摘要不等于理解贡献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fail-label">
            <a:extLst xmlns:a="http://schemas.openxmlformats.org/drawingml/2006/main">
              <a:ext uri="{FF2B5EF4-FFF2-40B4-BE49-F238E27FC236}">
                <a16:creationId xmlns:a16="http://schemas.microsoft.com/office/drawing/2014/main" id="{1B35B2F4-9A1E-4E48-8FDF-0470D79C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看起来完整</a:t>
            </a:r>
          </a:p>
        </p:txBody>
      </p:sp>
      <p:sp>
        <p:nvSpPr>
          <p:cNvPr id="7" name="visual-4-1-p04-fail">
            <a:extLst xmlns:a="http://schemas.openxmlformats.org/drawingml/2006/main">
              <a:ext uri="{FF2B5EF4-FFF2-40B4-BE49-F238E27FC236}">
                <a16:creationId xmlns:a16="http://schemas.microsoft.com/office/drawing/2014/main" id="{62ED506C-FF5F-4D49-AC12-6E2DC2A8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40005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摘要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“该方法消除了遗漏，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见图 2 的对照实验。”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无原文位置｜无限定｜无人工判断</a:t>
            </a:r>
          </a:p>
        </p:txBody>
      </p:sp>
      <p:sp>
        <p:nvSpPr>
          <p:cNvPr id="8" name="visual-4-2-p04-neq">
            <a:extLst xmlns:a="http://schemas.openxmlformats.org/drawingml/2006/main">
              <a:ext uri="{FF2B5EF4-FFF2-40B4-BE49-F238E27FC236}">
                <a16:creationId xmlns:a16="http://schemas.microsoft.com/office/drawing/2014/main" id="{0757C8AA-924C-4E6C-A27C-6431B298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133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9" name="visual-4-3-p04-pass-label">
            <a:extLst xmlns:a="http://schemas.openxmlformats.org/drawingml/2006/main">
              <a:ext uri="{FF2B5EF4-FFF2-40B4-BE49-F238E27FC236}">
                <a16:creationId xmlns:a16="http://schemas.microsoft.com/office/drawing/2014/main" id="{131F349A-F3EE-4481-A6FF-D795A822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96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可以复查</a:t>
            </a:r>
          </a:p>
        </p:txBody>
      </p:sp>
      <p:sp>
        <p:nvSpPr>
          <p:cNvPr id="10" name="visual-4-4-p04-pass">
            <a:extLst xmlns:a="http://schemas.openxmlformats.org/drawingml/2006/main">
              <a:ext uri="{FF2B5EF4-FFF2-40B4-BE49-F238E27FC236}">
                <a16:creationId xmlns:a16="http://schemas.microsoft.com/office/drawing/2014/main" id="{41CE9E5D-81FF-42A7-9208-E2BD6730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447675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作者主张 + 原文位置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指标 / 对照 / 样本 / 限定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个人判断 + 偏差审计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→ verified-with-caveat</a:t>
            </a:r>
          </a:p>
        </p:txBody>
      </p:sp>
      <p:sp>
        <p:nvSpPr>
          <p:cNvPr id="11" name="visual-4-5-p04-thesis">
            <a:extLst xmlns:a="http://schemas.openxmlformats.org/drawingml/2006/main">
              <a:ext uri="{FF2B5EF4-FFF2-40B4-BE49-F238E27FC236}">
                <a16:creationId xmlns:a16="http://schemas.microsoft.com/office/drawing/2014/main" id="{ED9BDDF9-5F38-4FB9-89C5-135E1923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14900"/>
            <a:ext cx="8115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流畅 ≠ 一致；结构完整 ≠ 贡献清晰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第一步：AI 导航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map-title">
            <a:extLst xmlns:a="http://schemas.openxmlformats.org/drawingml/2006/main">
              <a:ext uri="{FF2B5EF4-FFF2-40B4-BE49-F238E27FC236}">
                <a16:creationId xmlns:a16="http://schemas.microsoft.com/office/drawing/2014/main" id="{99A98892-644F-4785-83C7-AF87CF23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先建立阅读地图</a:t>
            </a:r>
          </a:p>
        </p:txBody>
      </p:sp>
      <p:sp>
        <p:nvSpPr>
          <p:cNvPr id="7" name="visual-5-1-p05-item-0">
            <a:extLst xmlns:a="http://schemas.openxmlformats.org/drawingml/2006/main">
              <a:ext uri="{FF2B5EF4-FFF2-40B4-BE49-F238E27FC236}">
                <a16:creationId xmlns:a16="http://schemas.microsoft.com/office/drawing/2014/main" id="{987D408A-60D5-42C2-B06D-CAE5ED72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</a:t>
            </a:r>
          </a:p>
        </p:txBody>
      </p:sp>
      <p:sp>
        <p:nvSpPr>
          <p:cNvPr id="8" name="visual-5-2-p05-item-1">
            <a:extLst xmlns:a="http://schemas.openxmlformats.org/drawingml/2006/main">
              <a:ext uri="{FF2B5EF4-FFF2-40B4-BE49-F238E27FC236}">
                <a16:creationId xmlns:a16="http://schemas.microsoft.com/office/drawing/2014/main" id="{BF165C1D-16A7-4348-89C5-AD13573E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论证结构</a:t>
            </a:r>
          </a:p>
        </p:txBody>
      </p:sp>
      <p:sp>
        <p:nvSpPr>
          <p:cNvPr id="9" name="visual-5-3-p05-item-2">
            <a:extLst xmlns:a="http://schemas.openxmlformats.org/drawingml/2006/main">
              <a:ext uri="{FF2B5EF4-FFF2-40B4-BE49-F238E27FC236}">
                <a16:creationId xmlns:a16="http://schemas.microsoft.com/office/drawing/2014/main" id="{C9BAC947-CE4E-4458-B425-A01368DB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670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关键术语</a:t>
            </a:r>
          </a:p>
        </p:txBody>
      </p:sp>
      <p:sp>
        <p:nvSpPr>
          <p:cNvPr id="10" name="visual-5-4-p05-item-3">
            <a:extLst xmlns:a="http://schemas.openxmlformats.org/drawingml/2006/main">
              <a:ext uri="{FF2B5EF4-FFF2-40B4-BE49-F238E27FC236}">
                <a16:creationId xmlns:a16="http://schemas.microsoft.com/office/drawing/2014/main" id="{40943E77-61AB-410B-B8F9-60A3EBF0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预期证据位置</a:t>
            </a:r>
          </a:p>
        </p:txBody>
      </p:sp>
      <p:sp>
        <p:nvSpPr>
          <p:cNvPr id="11" name="visual-5-5-p05-item-4">
            <a:extLst xmlns:a="http://schemas.openxmlformats.org/drawingml/2006/main">
              <a:ext uri="{FF2B5EF4-FFF2-40B4-BE49-F238E27FC236}">
                <a16:creationId xmlns:a16="http://schemas.microsoft.com/office/drawing/2014/main" id="{33F9A141-D8E0-4525-9613-E01FFE43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待追问问题</a:t>
            </a:r>
          </a:p>
        </p:txBody>
      </p:sp>
      <p:sp>
        <p:nvSpPr>
          <p:cNvPr id="12" name="visual-5-6-p05-arrow">
            <a:extLst xmlns:a="http://schemas.openxmlformats.org/drawingml/2006/main">
              <a:ext uri="{FF2B5EF4-FFF2-40B4-BE49-F238E27FC236}">
                <a16:creationId xmlns:a16="http://schemas.microsoft.com/office/drawing/2014/main" id="{423D584F-6777-4C12-8243-F2DBD110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28900"/>
            <a:ext cx="742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5-7-p05-output">
            <a:extLst xmlns:a="http://schemas.openxmlformats.org/drawingml/2006/main">
              <a:ext uri="{FF2B5EF4-FFF2-40B4-BE49-F238E27FC236}">
                <a16:creationId xmlns:a16="http://schemas.microsoft.com/office/drawing/2014/main" id="{1EDB1C52-A7F3-4D4E-B496-FC6654D6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383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导航输出</a:t>
            </a:r>
          </a:p>
        </p:txBody>
      </p:sp>
      <p:sp>
        <p:nvSpPr>
          <p:cNvPr id="14" name="visual-5-8-p05-unverified">
            <a:extLst xmlns:a="http://schemas.openxmlformats.org/drawingml/2006/main">
              <a:ext uri="{FF2B5EF4-FFF2-40B4-BE49-F238E27FC236}">
                <a16:creationId xmlns:a16="http://schemas.microsoft.com/office/drawing/2014/main" id="{B16B47AB-3D49-4C2C-B237-9F42D8C1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33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未核验</a:t>
            </a:r>
          </a:p>
        </p:txBody>
      </p:sp>
      <p:sp>
        <p:nvSpPr>
          <p:cNvPr id="15" name="visual-5-9-p05-next">
            <a:extLst xmlns:a="http://schemas.openxmlformats.org/drawingml/2006/main">
              <a:ext uri="{FF2B5EF4-FFF2-40B4-BE49-F238E27FC236}">
                <a16:creationId xmlns:a16="http://schemas.microsoft.com/office/drawing/2014/main" id="{5DF668B7-80F8-4F46-8F1F-F04F6EA7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29050"/>
            <a:ext cx="42291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它只决定你先读哪里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下一步必须回到原文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第二步：原文核验与检查五项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locator">
            <a:extLst xmlns:a="http://schemas.openxmlformats.org/drawingml/2006/main">
              <a:ext uri="{FF2B5EF4-FFF2-40B4-BE49-F238E27FC236}">
                <a16:creationId xmlns:a16="http://schemas.microsoft.com/office/drawing/2014/main" id="{C7909E1D-AF5A-4335-823D-B4805F3A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14400"/>
            <a:ext cx="1078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先留下两个可复查位置：§3.2, p.5 ｜ Fig.2 / Table 1</a:t>
            </a:r>
          </a:p>
        </p:txBody>
      </p:sp>
      <p:sp>
        <p:nvSpPr>
          <p:cNvPr id="7" name="visual-6-1-p06-table-h-0">
            <a:extLst xmlns:a="http://schemas.openxmlformats.org/drawingml/2006/main">
              <a:ext uri="{FF2B5EF4-FFF2-40B4-BE49-F238E27FC236}">
                <a16:creationId xmlns:a16="http://schemas.microsoft.com/office/drawing/2014/main" id="{A24C45F2-C70C-4627-8021-618A4DF2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visual-6-2-p06-table-h-1">
            <a:extLst xmlns:a="http://schemas.openxmlformats.org/drawingml/2006/main">
              <a:ext uri="{FF2B5EF4-FFF2-40B4-BE49-F238E27FC236}">
                <a16:creationId xmlns:a16="http://schemas.microsoft.com/office/drawing/2014/main" id="{46C67A5F-A3D5-4728-821E-F40939C7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62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检查问题</a:t>
            </a:r>
          </a:p>
        </p:txBody>
      </p:sp>
      <p:sp>
        <p:nvSpPr>
          <p:cNvPr id="9" name="visual-6-3-p06-table-r0-0">
            <a:extLst xmlns:a="http://schemas.openxmlformats.org/drawingml/2006/main">
              <a:ext uri="{FF2B5EF4-FFF2-40B4-BE49-F238E27FC236}">
                <a16:creationId xmlns:a16="http://schemas.microsoft.com/office/drawing/2014/main" id="{4E8AB864-7AF6-443E-A7FE-32F96E4A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6215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visual-6-4-p06-table-r0-1">
            <a:extLst xmlns:a="http://schemas.openxmlformats.org/drawingml/2006/main">
              <a:ext uri="{FF2B5EF4-FFF2-40B4-BE49-F238E27FC236}">
                <a16:creationId xmlns:a16="http://schemas.microsoft.com/office/drawing/2014/main" id="{03FAC97A-2523-4F65-A411-C8634BEA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96215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原文任务和当前项目一样吗？</a:t>
            </a:r>
          </a:p>
        </p:txBody>
      </p:sp>
      <p:sp>
        <p:nvSpPr>
          <p:cNvPr id="11" name="visual-6-5-p06-table-r1-0">
            <a:extLst xmlns:a="http://schemas.openxmlformats.org/drawingml/2006/main">
              <a:ext uri="{FF2B5EF4-FFF2-40B4-BE49-F238E27FC236}">
                <a16:creationId xmlns:a16="http://schemas.microsoft.com/office/drawing/2014/main" id="{996AFB0E-179D-4FA7-8934-DE38D671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507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设置</a:t>
            </a:r>
          </a:p>
        </p:txBody>
      </p:sp>
      <p:sp>
        <p:nvSpPr>
          <p:cNvPr id="12" name="visual-6-6-p06-table-r1-1">
            <a:extLst xmlns:a="http://schemas.openxmlformats.org/drawingml/2006/main">
              <a:ext uri="{FF2B5EF4-FFF2-40B4-BE49-F238E27FC236}">
                <a16:creationId xmlns:a16="http://schemas.microsoft.com/office/drawing/2014/main" id="{65A279D9-F3AB-417D-B31B-F3155EEB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05075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输入、规模与条件是什么？</a:t>
            </a:r>
          </a:p>
        </p:txBody>
      </p:sp>
      <p:sp>
        <p:nvSpPr>
          <p:cNvPr id="13" name="visual-6-7-p06-table-r2-0">
            <a:extLst xmlns:a="http://schemas.openxmlformats.org/drawingml/2006/main">
              <a:ext uri="{FF2B5EF4-FFF2-40B4-BE49-F238E27FC236}">
                <a16:creationId xmlns:a16="http://schemas.microsoft.com/office/drawing/2014/main" id="{757A6FF8-4361-46FB-8B5C-2A6484F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4" name="visual-6-8-p06-table-r2-1">
            <a:extLst xmlns:a="http://schemas.openxmlformats.org/drawingml/2006/main">
              <a:ext uri="{FF2B5EF4-FFF2-40B4-BE49-F238E27FC236}">
                <a16:creationId xmlns:a16="http://schemas.microsoft.com/office/drawing/2014/main" id="{BE5D2104-168D-4C52-9513-F6BAD56E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4800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度量如何定义？与你的指标一致吗？</a:t>
            </a:r>
          </a:p>
        </p:txBody>
      </p:sp>
      <p:sp>
        <p:nvSpPr>
          <p:cNvPr id="15" name="visual-6-9-p06-table-r3-0">
            <a:extLst xmlns:a="http://schemas.openxmlformats.org/drawingml/2006/main">
              <a:ext uri="{FF2B5EF4-FFF2-40B4-BE49-F238E27FC236}">
                <a16:creationId xmlns:a16="http://schemas.microsoft.com/office/drawing/2014/main" id="{92E00941-7A91-4341-BA32-CC85AF36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9092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对照</a:t>
            </a:r>
          </a:p>
        </p:txBody>
      </p:sp>
      <p:sp>
        <p:nvSpPr>
          <p:cNvPr id="16" name="visual-6-10-p06-table-r3-1">
            <a:extLst xmlns:a="http://schemas.openxmlformats.org/drawingml/2006/main">
              <a:ext uri="{FF2B5EF4-FFF2-40B4-BE49-F238E27FC236}">
                <a16:creationId xmlns:a16="http://schemas.microsoft.com/office/drawing/2014/main" id="{50641DD3-5461-4CC1-BD97-46F71633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90925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 是什么？比较公平吗？</a:t>
            </a:r>
          </a:p>
        </p:txBody>
      </p:sp>
      <p:sp>
        <p:nvSpPr>
          <p:cNvPr id="17" name="visual-6-11-p06-table-r4-0">
            <a:extLst xmlns:a="http://schemas.openxmlformats.org/drawingml/2006/main">
              <a:ext uri="{FF2B5EF4-FFF2-40B4-BE49-F238E27FC236}">
                <a16:creationId xmlns:a16="http://schemas.microsoft.com/office/drawing/2014/main" id="{D7E96963-9A0F-40D6-B93D-8A05181C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</a:t>
            </a:r>
          </a:p>
        </p:txBody>
      </p:sp>
      <p:sp>
        <p:nvSpPr>
          <p:cNvPr id="18" name="visual-6-12-p06-table-r4-1">
            <a:extLst xmlns:a="http://schemas.openxmlformats.org/drawingml/2006/main">
              <a:ext uri="{FF2B5EF4-FFF2-40B4-BE49-F238E27FC236}">
                <a16:creationId xmlns:a16="http://schemas.microsoft.com/office/drawing/2014/main" id="{A8AD921F-857A-4271-9E59-7359A461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33850"/>
            <a:ext cx="885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结论只在什么范围内成立？</a:t>
            </a:r>
          </a:p>
        </p:txBody>
      </p:sp>
      <p:sp>
        <p:nvSpPr>
          <p:cNvPr id="19" name="visual-6-13-p06-rule">
            <a:extLst xmlns:a="http://schemas.openxmlformats.org/drawingml/2006/main">
              <a:ext uri="{FF2B5EF4-FFF2-40B4-BE49-F238E27FC236}">
                <a16:creationId xmlns:a16="http://schemas.microsoft.com/office/drawing/2014/main" id="{887145EE-5900-4F23-8C7A-75719E78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1490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没有原文位置的主张，不能进入阅读卡的“作者主张”栏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第三步：AI 质疑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question">
            <a:extLst xmlns:a="http://schemas.openxmlformats.org/drawingml/2006/main">
              <a:ext uri="{FF2B5EF4-FFF2-40B4-BE49-F238E27FC236}">
                <a16:creationId xmlns:a16="http://schemas.microsoft.com/office/drawing/2014/main" id="{4B741861-5EE5-4F9A-AEE6-2542191F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让 AI 根据已核验内容提出候选问题</a:t>
            </a:r>
          </a:p>
        </p:txBody>
      </p:sp>
      <p:sp>
        <p:nvSpPr>
          <p:cNvPr id="7" name="visual-7-1-p07-q-0">
            <a:extLst xmlns:a="http://schemas.openxmlformats.org/drawingml/2006/main">
              <a:ext uri="{FF2B5EF4-FFF2-40B4-BE49-F238E27FC236}">
                <a16:creationId xmlns:a16="http://schemas.microsoft.com/office/drawing/2014/main" id="{BE6430DD-FC7E-4B32-946B-3EFC5F9A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什么条件会推翻这个结果？</a:t>
            </a:r>
          </a:p>
        </p:txBody>
      </p:sp>
      <p:sp>
        <p:nvSpPr>
          <p:cNvPr id="8" name="visual-7-2-p07-q-1">
            <a:extLst xmlns:a="http://schemas.openxmlformats.org/drawingml/2006/main">
              <a:ext uri="{FF2B5EF4-FFF2-40B4-BE49-F238E27FC236}">
                <a16:creationId xmlns:a16="http://schemas.microsoft.com/office/drawing/2014/main" id="{DA335E1B-6F6A-4FD8-9A90-57A880A9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1457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对照公平吗，baseline 是否被低估？</a:t>
            </a:r>
          </a:p>
        </p:txBody>
      </p:sp>
      <p:sp>
        <p:nvSpPr>
          <p:cNvPr id="9" name="visual-7-3-p07-q-2">
            <a:extLst xmlns:a="http://schemas.openxmlformats.org/drawingml/2006/main">
              <a:ext uri="{FF2B5EF4-FFF2-40B4-BE49-F238E27FC236}">
                <a16:creationId xmlns:a16="http://schemas.microsoft.com/office/drawing/2014/main" id="{7A7EAF54-732D-443F-A6B2-F6B94316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样本规模支撑当前结论强度吗？</a:t>
            </a:r>
          </a:p>
        </p:txBody>
      </p:sp>
      <p:sp>
        <p:nvSpPr>
          <p:cNvPr id="10" name="visual-7-4-p07-q-3">
            <a:extLst xmlns:a="http://schemas.openxmlformats.org/drawingml/2006/main">
              <a:ext uri="{FF2B5EF4-FFF2-40B4-BE49-F238E27FC236}">
                <a16:creationId xmlns:a16="http://schemas.microsoft.com/office/drawing/2014/main" id="{A449776E-9038-4124-94D7-E56B374D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笔记是否遗漏原文限定条件？</a:t>
            </a:r>
          </a:p>
        </p:txBody>
      </p:sp>
      <p:sp>
        <p:nvSpPr>
          <p:cNvPr id="11" name="visual-7-5-p07-q-4">
            <a:extLst xmlns:a="http://schemas.openxmlformats.org/drawingml/2006/main">
              <a:ext uri="{FF2B5EF4-FFF2-40B4-BE49-F238E27FC236}">
                <a16:creationId xmlns:a16="http://schemas.microsoft.com/office/drawing/2014/main" id="{B49B4703-D81A-4B9B-94A2-F11B817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是否存在原文未讨论的替代解释？</a:t>
            </a:r>
          </a:p>
        </p:txBody>
      </p:sp>
      <p:sp>
        <p:nvSpPr>
          <p:cNvPr id="12" name="visual-7-6-p07-side">
            <a:extLst xmlns:a="http://schemas.openxmlformats.org/drawingml/2006/main">
              <a:ext uri="{FF2B5EF4-FFF2-40B4-BE49-F238E27FC236}">
                <a16:creationId xmlns:a16="http://schemas.microsoft.com/office/drawing/2014/main" id="{63001432-EA50-4389-BAF1-A6038D1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638300"/>
            <a:ext cx="26670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候选问题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3" name="visual-7-7-p07-return">
            <a:extLst xmlns:a="http://schemas.openxmlformats.org/drawingml/2006/main">
              <a:ext uri="{FF2B5EF4-FFF2-40B4-BE49-F238E27FC236}">
                <a16:creationId xmlns:a16="http://schemas.microsoft.com/office/drawing/2014/main" id="{42928F8B-3FAE-4B93-85B5-08E981F4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每个问题都要回到原文检查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第四步：偏差审计与错读类型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b-0">
            <a:extLst xmlns:a="http://schemas.openxmlformats.org/drawingml/2006/main">
              <a:ext uri="{FF2B5EF4-FFF2-40B4-BE49-F238E27FC236}">
                <a16:creationId xmlns:a16="http://schemas.microsoft.com/office/drawing/2014/main" id="{295ABDB8-A0EE-48F2-870B-7DA15F7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过度概括</a:t>
            </a:r>
          </a:p>
        </p:txBody>
      </p:sp>
      <p:sp>
        <p:nvSpPr>
          <p:cNvPr id="7" name="visual-8-1-p08-e-0">
            <a:extLst xmlns:a="http://schemas.openxmlformats.org/drawingml/2006/main">
              <a:ext uri="{FF2B5EF4-FFF2-40B4-BE49-F238E27FC236}">
                <a16:creationId xmlns:a16="http://schemas.microsoft.com/office/drawing/2014/main" id="{A047448A-F53B-4E4C-B8BD-52A52A9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0096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降低 → 消除</a:t>
            </a:r>
          </a:p>
        </p:txBody>
      </p:sp>
      <p:sp>
        <p:nvSpPr>
          <p:cNvPr id="8" name="visual-8-2-p08-b-1">
            <a:extLst xmlns:a="http://schemas.openxmlformats.org/drawingml/2006/main">
              <a:ext uri="{FF2B5EF4-FFF2-40B4-BE49-F238E27FC236}">
                <a16:creationId xmlns:a16="http://schemas.microsoft.com/office/drawing/2014/main" id="{2AE4C211-E54B-4D54-9DA7-773C4EE2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位置错指</a:t>
            </a:r>
          </a:p>
        </p:txBody>
      </p:sp>
      <p:sp>
        <p:nvSpPr>
          <p:cNvPr id="9" name="visual-8-3-p08-e-1">
            <a:extLst xmlns:a="http://schemas.openxmlformats.org/drawingml/2006/main">
              <a:ext uri="{FF2B5EF4-FFF2-40B4-BE49-F238E27FC236}">
                <a16:creationId xmlns:a16="http://schemas.microsoft.com/office/drawing/2014/main" id="{F80C6F1C-D61A-4FD0-93DE-087E7279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Fig.2 → Table 1</a:t>
            </a:r>
          </a:p>
        </p:txBody>
      </p:sp>
      <p:sp>
        <p:nvSpPr>
          <p:cNvPr id="10" name="visual-8-4-p08-b-2">
            <a:extLst xmlns:a="http://schemas.openxmlformats.org/drawingml/2006/main">
              <a:ext uri="{FF2B5EF4-FFF2-40B4-BE49-F238E27FC236}">
                <a16:creationId xmlns:a16="http://schemas.microsoft.com/office/drawing/2014/main" id="{23CF5CFF-29D3-4F68-A7EF-BDF744E3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限定遗漏</a:t>
            </a:r>
          </a:p>
        </p:txBody>
      </p:sp>
      <p:sp>
        <p:nvSpPr>
          <p:cNvPr id="11" name="visual-8-5-p08-e-2">
            <a:extLst xmlns:a="http://schemas.openxmlformats.org/drawingml/2006/main">
              <a:ext uri="{FF2B5EF4-FFF2-40B4-BE49-F238E27FC236}">
                <a16:creationId xmlns:a16="http://schemas.microsoft.com/office/drawing/2014/main" id="{FB28EF87-F67C-49D7-8E6A-CF4BD2B1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3840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计算机领域 → 全部领域</a:t>
            </a:r>
          </a:p>
        </p:txBody>
      </p:sp>
      <p:sp>
        <p:nvSpPr>
          <p:cNvPr id="12" name="visual-8-6-p08-b-3">
            <a:extLst xmlns:a="http://schemas.openxmlformats.org/drawingml/2006/main">
              <a:ext uri="{FF2B5EF4-FFF2-40B4-BE49-F238E27FC236}">
                <a16:creationId xmlns:a16="http://schemas.microsoft.com/office/drawing/2014/main" id="{14EA3A24-C19E-4F32-876A-322BFE3D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张冠李戴</a:t>
            </a:r>
          </a:p>
        </p:txBody>
      </p:sp>
      <p:sp>
        <p:nvSpPr>
          <p:cNvPr id="13" name="visual-8-7-p08-e-3">
            <a:extLst xmlns:a="http://schemas.openxmlformats.org/drawingml/2006/main">
              <a:ext uri="{FF2B5EF4-FFF2-40B4-BE49-F238E27FC236}">
                <a16:creationId xmlns:a16="http://schemas.microsoft.com/office/drawing/2014/main" id="{BA5CC1AF-71FB-4F2C-B480-AC8E8D27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52775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参考文献方法 → 本文方法</a:t>
            </a:r>
          </a:p>
        </p:txBody>
      </p:sp>
      <p:sp>
        <p:nvSpPr>
          <p:cNvPr id="14" name="visual-8-8-p08-b-4">
            <a:extLst xmlns:a="http://schemas.openxmlformats.org/drawingml/2006/main">
              <a:ext uri="{FF2B5EF4-FFF2-40B4-BE49-F238E27FC236}">
                <a16:creationId xmlns:a16="http://schemas.microsoft.com/office/drawing/2014/main" id="{D4006983-BA6F-4B71-A7E2-5B5BF233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61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伪造引用</a:t>
            </a:r>
          </a:p>
        </p:txBody>
      </p:sp>
      <p:sp>
        <p:nvSpPr>
          <p:cNvPr id="15" name="visual-8-9-p08-e-4">
            <a:extLst xmlns:a="http://schemas.openxmlformats.org/drawingml/2006/main">
              <a:ext uri="{FF2B5EF4-FFF2-40B4-BE49-F238E27FC236}">
                <a16:creationId xmlns:a16="http://schemas.microsoft.com/office/drawing/2014/main" id="{98DE0B0B-CB67-403E-9166-0ED0F553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题名 / 作者 / 页码不符</a:t>
            </a:r>
          </a:p>
        </p:txBody>
      </p:sp>
      <p:sp>
        <p:nvSpPr>
          <p:cNvPr id="16" name="visual-8-10-p08-record-title">
            <a:extLst xmlns:a="http://schemas.openxmlformats.org/drawingml/2006/main">
              <a:ext uri="{FF2B5EF4-FFF2-40B4-BE49-F238E27FC236}">
                <a16:creationId xmlns:a16="http://schemas.microsoft.com/office/drawing/2014/main" id="{F559CA89-7322-446E-B0F8-A42557B7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0096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最小偏差记录</a:t>
            </a:r>
          </a:p>
        </p:txBody>
      </p:sp>
      <p:sp>
        <p:nvSpPr>
          <p:cNvPr id="17" name="visual-8-11-p08-record">
            <a:extLst xmlns:a="http://schemas.openxmlformats.org/drawingml/2006/main">
              <a:ext uri="{FF2B5EF4-FFF2-40B4-BE49-F238E27FC236}">
                <a16:creationId xmlns:a16="http://schemas.microsoft.com/office/drawing/2014/main" id="{F6E1A69E-52FA-45C7-896D-E71200C4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00200"/>
            <a:ext cx="37719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输出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原文实际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核验位置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处理决定</a:t>
            </a:r>
          </a:p>
        </p:txBody>
      </p:sp>
      <p:sp>
        <p:nvSpPr>
          <p:cNvPr id="18" name="visual-8-12-p08-honesty">
            <a:extLst xmlns:a="http://schemas.openxmlformats.org/drawingml/2006/main">
              <a:ext uri="{FF2B5EF4-FFF2-40B4-BE49-F238E27FC236}">
                <a16:creationId xmlns:a16="http://schemas.microsoft.com/office/drawing/2014/main" id="{77C78A13-E08A-4F7C-92B3-4146AAFF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9580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未发现明显错误？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记录已检查风险与核验依据，不虚构错误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第五步：人工定稿与主张区分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9-source-title">
            <a:extLst xmlns:a="http://schemas.openxmlformats.org/drawingml/2006/main">
              <a:ext uri="{FF2B5EF4-FFF2-40B4-BE49-F238E27FC236}">
                <a16:creationId xmlns:a16="http://schemas.microsoft.com/office/drawing/2014/main" id="{C46DDDCE-F7B5-477A-8515-67FB040A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52500"/>
            <a:ext cx="466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AI 复述可能来自</a:t>
            </a:r>
          </a:p>
        </p:txBody>
      </p:sp>
      <p:sp>
        <p:nvSpPr>
          <p:cNvPr id="7" name="visual-9-1-p09-source-0">
            <a:extLst xmlns:a="http://schemas.openxmlformats.org/drawingml/2006/main">
              <a:ext uri="{FF2B5EF4-FFF2-40B4-BE49-F238E27FC236}">
                <a16:creationId xmlns:a16="http://schemas.microsoft.com/office/drawing/2014/main" id="{F10AD1C6-B9E0-49CB-AEC7-A6903AD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✓  原文确实写了</a:t>
            </a:r>
          </a:p>
        </p:txBody>
      </p:sp>
      <p:sp>
        <p:nvSpPr>
          <p:cNvPr id="8" name="visual-9-2-p09-source-1">
            <a:extLst xmlns:a="http://schemas.openxmlformats.org/drawingml/2006/main">
              <a:ext uri="{FF2B5EF4-FFF2-40B4-BE49-F238E27FC236}">
                <a16:creationId xmlns:a16="http://schemas.microsoft.com/office/drawing/2014/main" id="{A9E3D2E3-6FA7-43F0-9323-188D03DB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717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?  AI 推断得更具体</a:t>
            </a:r>
          </a:p>
        </p:txBody>
      </p:sp>
      <p:sp>
        <p:nvSpPr>
          <p:cNvPr id="9" name="visual-9-3-p09-source-2">
            <a:extLst xmlns:a="http://schemas.openxmlformats.org/drawingml/2006/main">
              <a:ext uri="{FF2B5EF4-FFF2-40B4-BE49-F238E27FC236}">
                <a16:creationId xmlns:a16="http://schemas.microsoft.com/office/drawing/2014/main" id="{AECB6318-2A1B-4B7B-8224-9279151A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003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?  AI 根据常识新增</a:t>
            </a:r>
          </a:p>
        </p:txBody>
      </p:sp>
      <p:sp>
        <p:nvSpPr>
          <p:cNvPr id="10" name="visual-9-4-p09-source-3">
            <a:extLst xmlns:a="http://schemas.openxmlformats.org/drawingml/2006/main">
              <a:ext uri="{FF2B5EF4-FFF2-40B4-BE49-F238E27FC236}">
                <a16:creationId xmlns:a16="http://schemas.microsoft.com/office/drawing/2014/main" id="{53E14B23-6148-41DC-A18F-8EF4C3F8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×  不同论文内容拼装</a:t>
            </a:r>
          </a:p>
        </p:txBody>
      </p:sp>
      <p:sp>
        <p:nvSpPr>
          <p:cNvPr id="11" name="visual-9-5-p09-source-4">
            <a:extLst xmlns:a="http://schemas.openxmlformats.org/drawingml/2006/main">
              <a:ext uri="{FF2B5EF4-FFF2-40B4-BE49-F238E27FC236}">
                <a16:creationId xmlns:a16="http://schemas.microsoft.com/office/drawing/2014/main" id="{6CF94170-7E97-40AD-BB74-FD1BE903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×  措辞强度被改写</a:t>
            </a:r>
          </a:p>
        </p:txBody>
      </p:sp>
      <p:sp>
        <p:nvSpPr>
          <p:cNvPr id="12" name="visual-9-6-p09-arrow">
            <a:extLst xmlns:a="http://schemas.openxmlformats.org/drawingml/2006/main">
              <a:ext uri="{FF2B5EF4-FFF2-40B4-BE49-F238E27FC236}">
                <a16:creationId xmlns:a16="http://schemas.microsoft.com/office/drawing/2014/main" id="{199337B2-2783-4225-9F11-295C6BF2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47950"/>
            <a:ext cx="552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9-7-p09-only">
            <a:extLst xmlns:a="http://schemas.openxmlformats.org/drawingml/2006/main">
              <a:ext uri="{FF2B5EF4-FFF2-40B4-BE49-F238E27FC236}">
                <a16:creationId xmlns:a16="http://schemas.microsoft.com/office/drawing/2014/main" id="{B278D4D1-903E-4702-9889-774B599A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93345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只有第一种</a:t>
            </a:r>
          </a:p>
        </p:txBody>
      </p:sp>
      <p:sp>
        <p:nvSpPr>
          <p:cNvPr id="14" name="visual-9-8-p09-d-0">
            <a:extLst xmlns:a="http://schemas.openxmlformats.org/drawingml/2006/main">
              <a:ext uri="{FF2B5EF4-FFF2-40B4-BE49-F238E27FC236}">
                <a16:creationId xmlns:a16="http://schemas.microsoft.com/office/drawing/2014/main" id="{F8E79E1C-D00A-4FBE-8286-631548EC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作者主张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带原文位置</a:t>
            </a:r>
          </a:p>
        </p:txBody>
      </p:sp>
      <p:sp>
        <p:nvSpPr>
          <p:cNvPr id="15" name="visual-9-9-p09-d-1">
            <a:extLst xmlns:a="http://schemas.openxmlformats.org/drawingml/2006/main">
              <a:ext uri="{FF2B5EF4-FFF2-40B4-BE49-F238E27FC236}">
                <a16:creationId xmlns:a16="http://schemas.microsoft.com/office/drawing/2014/main" id="{A9BE27D1-4515-4873-AA0A-AFFBD91D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指标 / 对照 / 样本 / 限定</a:t>
            </a:r>
          </a:p>
        </p:txBody>
      </p:sp>
      <p:sp>
        <p:nvSpPr>
          <p:cNvPr id="16" name="visual-9-10-p09-d-2">
            <a:extLst xmlns:a="http://schemas.openxmlformats.org/drawingml/2006/main">
              <a:ext uri="{FF2B5EF4-FFF2-40B4-BE49-F238E27FC236}">
                <a16:creationId xmlns:a16="http://schemas.microsoft.com/office/drawing/2014/main" id="{3FF94701-03EA-4261-8A3F-7EE8CFAA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813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个人判断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适用性 / 待验证 / 项目关系</a:t>
            </a:r>
          </a:p>
        </p:txBody>
      </p:sp>
      <p:sp>
        <p:nvSpPr>
          <p:cNvPr id="17" name="visual-9-11-p09-d-3">
            <a:extLst xmlns:a="http://schemas.openxmlformats.org/drawingml/2006/main">
              <a:ext uri="{FF2B5EF4-FFF2-40B4-BE49-F238E27FC236}">
                <a16:creationId xmlns:a16="http://schemas.microsoft.com/office/drawing/2014/main" id="{6885218A-BFC6-4B9D-8646-4DB88AEB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建议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导航 / 质疑 / 偏差记录</a:t>
            </a:r>
          </a:p>
        </p:txBody>
      </p:sp>
      <p:sp>
        <p:nvSpPr>
          <p:cNvPr id="18" name="visual-9-12-p09-responsibility">
            <a:extLst xmlns:a="http://schemas.openxmlformats.org/drawingml/2006/main">
              <a:ext uri="{FF2B5EF4-FFF2-40B4-BE49-F238E27FC236}">
                <a16:creationId xmlns:a16="http://schemas.microsoft.com/office/drawing/2014/main" id="{F341D1B5-B412-4AE9-AC2D-C32204C4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010150"/>
            <a:ext cx="807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判断责任在学生：AI 可以建议，不能定稿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阅读卡字段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card-h-0">
            <a:extLst xmlns:a="http://schemas.openxmlformats.org/drawingml/2006/main">
              <a:ext uri="{FF2B5EF4-FFF2-40B4-BE49-F238E27FC236}">
                <a16:creationId xmlns:a16="http://schemas.microsoft.com/office/drawing/2014/main" id="{69481ED9-8A69-4BA5-9213-08ACCFBA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阅读卡字段</a:t>
            </a:r>
          </a:p>
        </p:txBody>
      </p:sp>
      <p:sp>
        <p:nvSpPr>
          <p:cNvPr id="7" name="visual-10-1-p10-card-h-1">
            <a:extLst xmlns:a="http://schemas.openxmlformats.org/drawingml/2006/main">
              <a:ext uri="{FF2B5EF4-FFF2-40B4-BE49-F238E27FC236}">
                <a16:creationId xmlns:a16="http://schemas.microsoft.com/office/drawing/2014/main" id="{DCD07424-B550-4781-9D5A-FA4342B2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876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最低记录</a:t>
            </a:r>
          </a:p>
        </p:txBody>
      </p:sp>
      <p:sp>
        <p:nvSpPr>
          <p:cNvPr id="8" name="visual-10-2-p10-card-r0-0">
            <a:extLst xmlns:a="http://schemas.openxmlformats.org/drawingml/2006/main">
              <a:ext uri="{FF2B5EF4-FFF2-40B4-BE49-F238E27FC236}">
                <a16:creationId xmlns:a16="http://schemas.microsoft.com/office/drawing/2014/main" id="{CC78C327-7000-4A4F-98E6-D88BDB22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论文身份</a:t>
            </a:r>
          </a:p>
        </p:txBody>
      </p:sp>
      <p:sp>
        <p:nvSpPr>
          <p:cNvPr id="9" name="visual-10-3-p10-card-r0-1">
            <a:extLst xmlns:a="http://schemas.openxmlformats.org/drawingml/2006/main">
              <a:ext uri="{FF2B5EF4-FFF2-40B4-BE49-F238E27FC236}">
                <a16:creationId xmlns:a16="http://schemas.microsoft.com/office/drawing/2014/main" id="{D95EC17E-676E-46B7-B892-3A11755E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257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 / 作者 / 年份 / 正式来源 / DOI</a:t>
            </a:r>
          </a:p>
        </p:txBody>
      </p:sp>
      <p:sp>
        <p:nvSpPr>
          <p:cNvPr id="10" name="visual-10-4-p10-card-r1-0">
            <a:extLst xmlns:a="http://schemas.openxmlformats.org/drawingml/2006/main">
              <a:ext uri="{FF2B5EF4-FFF2-40B4-BE49-F238E27FC236}">
                <a16:creationId xmlns:a16="http://schemas.microsoft.com/office/drawing/2014/main" id="{476C7E6F-B005-4489-AD26-DFEC8BF9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来源核验 + 证据角色</a:t>
            </a:r>
          </a:p>
        </p:txBody>
      </p:sp>
      <p:sp>
        <p:nvSpPr>
          <p:cNvPr id="11" name="visual-10-5-p10-card-r1-1">
            <a:extLst xmlns:a="http://schemas.openxmlformats.org/drawingml/2006/main">
              <a:ext uri="{FF2B5EF4-FFF2-40B4-BE49-F238E27FC236}">
                <a16:creationId xmlns:a16="http://schemas.microsoft.com/office/drawing/2014/main" id="{40273C86-79CC-4AE4-A537-76139921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38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四态；主 / 补充 / 对比 / 线索</a:t>
            </a:r>
          </a:p>
        </p:txBody>
      </p:sp>
      <p:sp>
        <p:nvSpPr>
          <p:cNvPr id="12" name="visual-10-6-p10-card-r2-0">
            <a:extLst xmlns:a="http://schemas.openxmlformats.org/drawingml/2006/main">
              <a:ext uri="{FF2B5EF4-FFF2-40B4-BE49-F238E27FC236}">
                <a16:creationId xmlns:a16="http://schemas.microsoft.com/office/drawing/2014/main" id="{A33F593C-0705-4FBF-8490-5526BCB6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</a:t>
            </a:r>
          </a:p>
        </p:txBody>
      </p:sp>
      <p:sp>
        <p:nvSpPr>
          <p:cNvPr id="13" name="visual-10-7-p10-card-r2-1">
            <a:extLst xmlns:a="http://schemas.openxmlformats.org/drawingml/2006/main">
              <a:ext uri="{FF2B5EF4-FFF2-40B4-BE49-F238E27FC236}">
                <a16:creationId xmlns:a16="http://schemas.microsoft.com/office/drawing/2014/main" id="{9C85B249-466C-4678-9C3E-4B47F8A1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19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本次阅读要回答的一句话</a:t>
            </a:r>
          </a:p>
        </p:txBody>
      </p:sp>
      <p:sp>
        <p:nvSpPr>
          <p:cNvPr id="14" name="visual-10-8-p10-card-r3-0">
            <a:extLst xmlns:a="http://schemas.openxmlformats.org/drawingml/2006/main">
              <a:ext uri="{FF2B5EF4-FFF2-40B4-BE49-F238E27FC236}">
                <a16:creationId xmlns:a16="http://schemas.microsoft.com/office/drawing/2014/main" id="{E50B2F9D-DFF2-4D5F-9369-60838F00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作者主张 + 位置</a:t>
            </a:r>
          </a:p>
        </p:txBody>
      </p:sp>
      <p:sp>
        <p:nvSpPr>
          <p:cNvPr id="15" name="visual-10-9-p10-card-r3-1">
            <a:extLst xmlns:a="http://schemas.openxmlformats.org/drawingml/2006/main">
              <a:ext uri="{FF2B5EF4-FFF2-40B4-BE49-F238E27FC236}">
                <a16:creationId xmlns:a16="http://schemas.microsoft.com/office/drawing/2014/main" id="{E0D320D3-74C9-432E-99BB-69D74A7F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00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章节 / 页码 / 图表；与个人判断分栏</a:t>
            </a:r>
          </a:p>
        </p:txBody>
      </p:sp>
      <p:sp>
        <p:nvSpPr>
          <p:cNvPr id="16" name="visual-10-10-p10-card-r4-0">
            <a:extLst xmlns:a="http://schemas.openxmlformats.org/drawingml/2006/main">
              <a:ext uri="{FF2B5EF4-FFF2-40B4-BE49-F238E27FC236}">
                <a16:creationId xmlns:a16="http://schemas.microsoft.com/office/drawing/2014/main" id="{A0444D1A-541E-4606-9B00-238FB9C2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原文证据</a:t>
            </a:r>
          </a:p>
        </p:txBody>
      </p:sp>
      <p:sp>
        <p:nvSpPr>
          <p:cNvPr id="17" name="visual-10-11-p10-card-r4-1">
            <a:extLst xmlns:a="http://schemas.openxmlformats.org/drawingml/2006/main">
              <a:ext uri="{FF2B5EF4-FFF2-40B4-BE49-F238E27FC236}">
                <a16:creationId xmlns:a16="http://schemas.microsoft.com/office/drawing/2014/main" id="{E93B3593-27CD-486A-8F51-437D44C2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81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指标 / 对照 / 样本 / 限定；N/A + 理由可接受</a:t>
            </a:r>
          </a:p>
        </p:txBody>
      </p:sp>
      <p:sp>
        <p:nvSpPr>
          <p:cNvPr id="18" name="visual-10-12-p10-card-r5-0">
            <a:extLst xmlns:a="http://schemas.openxmlformats.org/drawingml/2006/main">
              <a:ext uri="{FF2B5EF4-FFF2-40B4-BE49-F238E27FC236}">
                <a16:creationId xmlns:a16="http://schemas.microsoft.com/office/drawing/2014/main" id="{E3772FCE-7F95-4E2A-9BB6-4AB57876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局限与边界</a:t>
            </a:r>
          </a:p>
        </p:txBody>
      </p:sp>
      <p:sp>
        <p:nvSpPr>
          <p:cNvPr id="19" name="visual-10-13-p10-card-r5-1">
            <a:extLst xmlns:a="http://schemas.openxmlformats.org/drawingml/2006/main">
              <a:ext uri="{FF2B5EF4-FFF2-40B4-BE49-F238E27FC236}">
                <a16:creationId xmlns:a16="http://schemas.microsoft.com/office/drawing/2014/main" id="{0307B5BA-97BB-42FB-ADC9-0B8A7C31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作者自述 + 适用条件</a:t>
            </a:r>
          </a:p>
        </p:txBody>
      </p:sp>
      <p:sp>
        <p:nvSpPr>
          <p:cNvPr id="20" name="visual-10-14-p10-card-r6-0">
            <a:extLst xmlns:a="http://schemas.openxmlformats.org/drawingml/2006/main">
              <a:ext uri="{FF2B5EF4-FFF2-40B4-BE49-F238E27FC236}">
                <a16:creationId xmlns:a16="http://schemas.microsoft.com/office/drawing/2014/main" id="{C7B59D71-926B-4A53-95EF-D6D349BA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个人判断</a:t>
            </a:r>
          </a:p>
        </p:txBody>
      </p:sp>
      <p:sp>
        <p:nvSpPr>
          <p:cNvPr id="21" name="visual-10-15-p10-card-r6-1">
            <a:extLst xmlns:a="http://schemas.openxmlformats.org/drawingml/2006/main">
              <a:ext uri="{FF2B5EF4-FFF2-40B4-BE49-F238E27FC236}">
                <a16:creationId xmlns:a16="http://schemas.microsoft.com/office/drawing/2014/main" id="{9F09AC3D-DAE2-4BA5-9909-36FFDEA2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43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适用性 / 待验证 / 与项目关系</a:t>
            </a:r>
          </a:p>
        </p:txBody>
      </p:sp>
      <p:sp>
        <p:nvSpPr>
          <p:cNvPr id="22" name="visual-10-16-p10-card-r7-0">
            <a:extLst xmlns:a="http://schemas.openxmlformats.org/drawingml/2006/main">
              <a:ext uri="{FF2B5EF4-FFF2-40B4-BE49-F238E27FC236}">
                <a16:creationId xmlns:a16="http://schemas.microsoft.com/office/drawing/2014/main" id="{881F3980-3821-405B-9545-B9EC34B3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建议（待核验）</a:t>
            </a:r>
          </a:p>
        </p:txBody>
      </p:sp>
      <p:sp>
        <p:nvSpPr>
          <p:cNvPr id="23" name="visual-10-17-p10-card-r7-1">
            <a:extLst xmlns:a="http://schemas.openxmlformats.org/drawingml/2006/main">
              <a:ext uri="{FF2B5EF4-FFF2-40B4-BE49-F238E27FC236}">
                <a16:creationId xmlns:a16="http://schemas.microsoft.com/office/drawing/2014/main" id="{7D11F462-F3B2-482F-BDF2-49781E0C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24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只作导航、质疑或候选解释</a:t>
            </a:r>
          </a:p>
        </p:txBody>
      </p:sp>
      <p:sp>
        <p:nvSpPr>
          <p:cNvPr id="24" name="visual-10-18-p10-card-r8-0">
            <a:extLst xmlns:a="http://schemas.openxmlformats.org/drawingml/2006/main">
              <a:ext uri="{FF2B5EF4-FFF2-40B4-BE49-F238E27FC236}">
                <a16:creationId xmlns:a16="http://schemas.microsoft.com/office/drawing/2014/main" id="{811CD83A-E3C7-4942-B02E-C4D6BEAE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25" name="visual-10-19-p10-card-r8-1">
            <a:extLst xmlns:a="http://schemas.openxmlformats.org/drawingml/2006/main">
              <a:ext uri="{FF2B5EF4-FFF2-40B4-BE49-F238E27FC236}">
                <a16:creationId xmlns:a16="http://schemas.microsoft.com/office/drawing/2014/main" id="{3A1DE419-D928-49BA-8911-99555F9A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05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输出 / 原文实际 / 位置 / 处理</a:t>
            </a:r>
          </a:p>
        </p:txBody>
      </p:sp>
      <p:sp>
        <p:nvSpPr>
          <p:cNvPr id="26" name="visual-10-20-p10-card-r9-0">
            <a:extLst xmlns:a="http://schemas.openxmlformats.org/drawingml/2006/main">
              <a:ext uri="{FF2B5EF4-FFF2-40B4-BE49-F238E27FC236}">
                <a16:creationId xmlns:a16="http://schemas.microsoft.com/office/drawing/2014/main" id="{CDD08828-19DE-431F-A904-58C952D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内容状态</a:t>
            </a:r>
          </a:p>
        </p:txBody>
      </p:sp>
      <p:sp>
        <p:nvSpPr>
          <p:cNvPr id="27" name="visual-10-21-p10-card-r9-1">
            <a:extLst xmlns:a="http://schemas.openxmlformats.org/drawingml/2006/main">
              <a:ext uri="{FF2B5EF4-FFF2-40B4-BE49-F238E27FC236}">
                <a16:creationId xmlns:a16="http://schemas.microsoft.com/office/drawing/2014/main" id="{6542FF74-FF75-42F1-8C23-B114538B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8630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 / verified / verified-with-caveat / rejected</a:t>
            </a:r>
          </a:p>
        </p:txBody>
      </p:sp>
      <p:sp>
        <p:nvSpPr>
          <p:cNvPr id="28" name="visual-10-22-p10-save">
            <a:extLst xmlns:a="http://schemas.openxmlformats.org/drawingml/2006/main">
              <a:ext uri="{FF2B5EF4-FFF2-40B4-BE49-F238E27FC236}">
                <a16:creationId xmlns:a16="http://schemas.microsoft.com/office/drawing/2014/main" id="{3B34DD55-4AC3-4738-8743-3DD3E10C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994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完整 = 每一字段有内容，或明确 N/A + 理由；verified-with-caveat 进入主格时必须保留限定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演示：真实原文 vs 待核验 AI 输出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cc187cb654799"/>
          <a:stretch xmlns:a="http://schemas.openxmlformats.org/drawingml/2006/main"/>
        </p:blipFill>
        <p:spPr>
          <a:xfrm xmlns:a="http://schemas.openxmlformats.org/drawingml/2006/main">
            <a:off x="609600" y="1603214"/>
            <a:ext cx="7000875" cy="2680022"/>
          </a:xfrm>
          <a:prstGeom xmlns:a="http://schemas.openxmlformats.org/drawingml/2006/main" prst="rect">
            <a:avLst/>
          </a:prstGeom>
        </p:spPr>
      </p:pic>
      <p:sp>
        <p:nvSpPr>
          <p:cNvPr id="7" name="p11-locator">
            <a:extLst xmlns:a="http://schemas.openxmlformats.org/drawingml/2006/main">
              <a:ext uri="{FF2B5EF4-FFF2-40B4-BE49-F238E27FC236}">
                <a16:creationId xmlns:a16="http://schemas.microsoft.com/office/drawing/2014/main" id="{B10650C8-873C-49A7-AB24-5A0FC241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1F4D78"/>
                </a:solidFill>
                <a:latin typeface="Arial"/>
                <a:ea typeface="Arial"/>
                <a:cs typeface="Arial"/>
              </a:rPr>
              <a:t>Keshav · p.83 · §2  The Three-Pass Approach</a:t>
            </a:r>
          </a:p>
        </p:txBody>
      </p:sp>
      <p:sp>
        <p:nvSpPr>
          <p:cNvPr id="8" name="p11-ai-label">
            <a:extLst xmlns:a="http://schemas.openxmlformats.org/drawingml/2006/main">
              <a:ext uri="{FF2B5EF4-FFF2-40B4-BE49-F238E27FC236}">
                <a16:creationId xmlns:a16="http://schemas.microsoft.com/office/drawing/2014/main" id="{9FE99F50-A4C6-4452-8807-C667BF4C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057275"/>
            <a:ext cx="3476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课堂构造 AI 输出｜未核验</a:t>
            </a:r>
          </a:p>
        </p:txBody>
      </p:sp>
      <p:sp>
        <p:nvSpPr>
          <p:cNvPr id="9" name="p11-ai-1">
            <a:extLst xmlns:a="http://schemas.openxmlformats.org/drawingml/2006/main">
              <a:ext uri="{FF2B5EF4-FFF2-40B4-BE49-F238E27FC236}">
                <a16:creationId xmlns:a16="http://schemas.microsoft.com/office/drawing/2014/main" id="{95772372-B4B4-4A41-AF94-0DE8AF13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95450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“对照实验证明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阅读时间降低 50%”</a:t>
            </a:r>
          </a:p>
        </p:txBody>
      </p:sp>
      <p:sp>
        <p:nvSpPr>
          <p:cNvPr id="10" name="p11-sep-1">
            <a:extLst xmlns:a="http://schemas.openxmlformats.org/drawingml/2006/main">
              <a:ext uri="{FF2B5EF4-FFF2-40B4-BE49-F238E27FC236}">
                <a16:creationId xmlns:a16="http://schemas.microsoft.com/office/drawing/2014/main" id="{83425CF0-781F-46A6-A959-E23D8558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476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p11-ai-2">
            <a:extLst xmlns:a="http://schemas.openxmlformats.org/drawingml/2006/main">
              <a:ext uri="{FF2B5EF4-FFF2-40B4-BE49-F238E27FC236}">
                <a16:creationId xmlns:a16="http://schemas.microsoft.com/office/drawing/2014/main" id="{597C6F36-CF40-49A4-9984-F3FAAEF3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81325"/>
            <a:ext cx="3476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“第一遍固定需要 5 分钟”</a:t>
            </a:r>
          </a:p>
        </p:txBody>
      </p:sp>
      <p:sp>
        <p:nvSpPr>
          <p:cNvPr id="12" name="p11-check">
            <a:extLst xmlns:a="http://schemas.openxmlformats.org/drawingml/2006/main">
              <a:ext uri="{FF2B5EF4-FFF2-40B4-BE49-F238E27FC236}">
                <a16:creationId xmlns:a16="http://schemas.microsoft.com/office/drawing/2014/main" id="{E210674A-E9EE-4EC0-961C-810B97E0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67175"/>
            <a:ext cx="347662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原文核验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三遍阅读法；第一遍约 5–10 分钟；未报告该对照实验。</a:t>
            </a:r>
          </a:p>
        </p:txBody>
      </p:sp>
      <p:sp>
        <p:nvSpPr>
          <p:cNvPr id="13" name="p11-task">
            <a:extLst xmlns:a="http://schemas.openxmlformats.org/drawingml/2006/main">
              <a:ext uri="{FF2B5EF4-FFF2-40B4-BE49-F238E27FC236}">
                <a16:creationId xmlns:a16="http://schemas.microsoft.com/office/drawing/2014/main" id="{C16E03D4-D7E9-46CD-89E4-CCE815B9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000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请划出：原文支持了什么，又没有证明什么？</a:t>
            </a:r>
          </a:p>
        </p:txBody>
      </p:sp>
      <p:sp>
        <p:nvSpPr>
          <p:cNvPr id="14" name="source">
            <a:extLst xmlns:a="http://schemas.openxmlformats.org/drawingml/2006/main">
              <a:ext uri="{FF2B5EF4-FFF2-40B4-BE49-F238E27FC236}">
                <a16:creationId xmlns:a16="http://schemas.microsoft.com/office/drawing/2014/main" id="{01CC6F39-E045-47FD-8281-9AF06F46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Keshav (2007), DOI 10.1145/1273445.1273458 · AI 两句为课堂构造，非真实模型记录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演示：三篇论文如何分工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pic>
        <p:nvPicPr>
          <p:cNvPr id="15" name="p12-mi-ladde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2e548cda24d1c"/>
          <a:stretch xmlns:a="http://schemas.openxmlformats.org/drawingml/2006/main"/>
        </p:blipFill>
        <p:spPr>
          <a:xfrm xmlns:a="http://schemas.openxmlformats.org/drawingml/2006/main">
            <a:off x="1987228" y="1200150"/>
            <a:ext cx="8179443" cy="4038600"/>
          </a:xfrm>
          <a:prstGeom xmlns:a="http://schemas.openxmlformats.org/drawingml/2006/main" prst="rect">
            <a:avLst/>
          </a:prstGeom>
        </p:spPr>
      </p:pic>
      <p:sp>
        <p:nvSpPr>
          <p:cNvPr id="10" name="visual-12-0-p12-boundary">
            <a:extLst xmlns:a="http://schemas.openxmlformats.org/drawingml/2006/main">
              <a:ext uri="{FF2B5EF4-FFF2-40B4-BE49-F238E27FC236}">
                <a16:creationId xmlns:a16="http://schemas.microsoft.com/office/drawing/2014/main" id="{23425D64-58A1-4674-9F42-B7F6EC66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382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公开论文主张级核验｜不是实证结果图</a:t>
            </a:r>
          </a:p>
        </p:txBody>
      </p:sp>
      <p:sp>
        <p:nvSpPr>
          <p:cNvPr id="11" name="visual-12-1-p12-rule">
            <a:extLst xmlns:a="http://schemas.openxmlformats.org/drawingml/2006/main">
              <a:ext uri="{FF2B5EF4-FFF2-40B4-BE49-F238E27FC236}">
                <a16:creationId xmlns:a16="http://schemas.microsoft.com/office/drawing/2014/main" id="{5C0CD694-7D39-423F-8E67-870F73E9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38750"/>
            <a:ext cx="872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阅读卡先固定位置、设置、指标与局限，再决定证据角色。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演示：从 patching 成功到受限判断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real">
            <a:extLst xmlns:a="http://schemas.openxmlformats.org/drawingml/2006/main">
              <a:ext uri="{FF2B5EF4-FFF2-40B4-BE49-F238E27FC236}">
                <a16:creationId xmlns:a16="http://schemas.microsoft.com/office/drawing/2014/main" id="{E422D69B-EB97-43EC-9C45-1BEEA488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57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真实来源阅读卡｜C02 + C16 + C31</a:t>
            </a:r>
          </a:p>
        </p:txBody>
      </p:sp>
      <p:sp>
        <p:nvSpPr>
          <p:cNvPr id="7" name="visual-13-1-p13-head-0">
            <a:extLst xmlns:a="http://schemas.openxmlformats.org/drawingml/2006/main">
              <a:ext uri="{FF2B5EF4-FFF2-40B4-BE49-F238E27FC236}">
                <a16:creationId xmlns:a16="http://schemas.microsoft.com/office/drawing/2014/main" id="{278629DE-4F72-4E86-92D6-B6760918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C02｜能支持</a:t>
            </a:r>
          </a:p>
        </p:txBody>
      </p:sp>
      <p:sp>
        <p:nvSpPr>
          <p:cNvPr id="8" name="visual-13-2-p13-body-0">
            <a:extLst xmlns:a="http://schemas.openxmlformats.org/drawingml/2006/main">
              <a:ext uri="{FF2B5EF4-FFF2-40B4-BE49-F238E27FC236}">
                <a16:creationId xmlns:a16="http://schemas.microsoft.com/office/drawing/2014/main" id="{DCF4FF1E-87F6-4F5E-BF46-503EEE9C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38112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Pythia-410M · IOI · layer 11；相同 KL 下，SAE patching 比 PCA 需要更少方向与更小编辑量。</a:t>
            </a:r>
          </a:p>
        </p:txBody>
      </p:sp>
      <p:sp>
        <p:nvSpPr>
          <p:cNvPr id="9" name="visual-13-3-p13-head-1">
            <a:extLst xmlns:a="http://schemas.openxmlformats.org/drawingml/2006/main">
              <a:ext uri="{FF2B5EF4-FFF2-40B4-BE49-F238E27FC236}">
                <a16:creationId xmlns:a16="http://schemas.microsoft.com/office/drawing/2014/main" id="{AD4CBE0D-F964-4A3B-B9CE-96412B2E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0507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C16｜限制</a:t>
            </a:r>
          </a:p>
        </p:txBody>
      </p:sp>
      <p:sp>
        <p:nvSpPr>
          <p:cNvPr id="10" name="visual-13-4-p13-body-1">
            <a:extLst xmlns:a="http://schemas.openxmlformats.org/drawingml/2006/main">
              <a:ext uri="{FF2B5EF4-FFF2-40B4-BE49-F238E27FC236}">
                <a16:creationId xmlns:a16="http://schemas.microsoft.com/office/drawing/2014/main" id="{0F38161C-2EA3-417D-89B2-1AF5AFDA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0507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 GPT2-small IOI 上，可解释 SAE 特征的控制性弱于监督字典，并出现 feature occlusion / over-splitting。</a:t>
            </a:r>
          </a:p>
        </p:txBody>
      </p:sp>
      <p:sp>
        <p:nvSpPr>
          <p:cNvPr id="11" name="visual-13-5-p13-head-2">
            <a:extLst xmlns:a="http://schemas.openxmlformats.org/drawingml/2006/main">
              <a:ext uri="{FF2B5EF4-FFF2-40B4-BE49-F238E27FC236}">
                <a16:creationId xmlns:a16="http://schemas.microsoft.com/office/drawing/2014/main" id="{3B67B086-635C-48FC-93C9-80D1EF9A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238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C31｜效度威胁</a:t>
            </a:r>
          </a:p>
        </p:txBody>
      </p:sp>
      <p:sp>
        <p:nvSpPr>
          <p:cNvPr id="12" name="visual-13-6-p13-body-2">
            <a:extLst xmlns:a="http://schemas.openxmlformats.org/drawingml/2006/main">
              <a:ext uri="{FF2B5EF4-FFF2-40B4-BE49-F238E27FC236}">
                <a16:creationId xmlns:a16="http://schemas.microsoft.com/office/drawing/2014/main" id="{6ADEF638-EEDF-4B53-A460-DEF6CFB0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29025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subspace patching 可能沿 dormant pathway 产生成功效果；行为改变本身不自动证明因果忠实。</a:t>
            </a:r>
          </a:p>
        </p:txBody>
      </p:sp>
      <p:sp>
        <p:nvSpPr>
          <p:cNvPr id="13" name="visual-13-7-p13-judgment">
            <a:extLst xmlns:a="http://schemas.openxmlformats.org/drawingml/2006/main">
              <a:ext uri="{FF2B5EF4-FFF2-40B4-BE49-F238E27FC236}">
                <a16:creationId xmlns:a16="http://schemas.microsoft.com/office/drawing/2014/main" id="{1E3838DA-C072-42F5-82C8-FC4B8BAA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10210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人工判断｜review：足以进入 L5 证据矩阵与 L9 baseline 设计；不足以把“SAE 因果忠实”标记为 stable。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个人实践：跑通一次五步精读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visual-14-0-p14-n-0">
            <a:extLst xmlns:a="http://schemas.openxmlformats.org/drawingml/2006/main">
              <a:ext uri="{FF2B5EF4-FFF2-40B4-BE49-F238E27FC236}">
                <a16:creationId xmlns:a16="http://schemas.microsoft.com/office/drawing/2014/main" id="{BF83D36B-EF85-4104-98ED-B6565475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4-1-p14-label-0">
            <a:extLst xmlns:a="http://schemas.openxmlformats.org/drawingml/2006/main">
              <a:ext uri="{FF2B5EF4-FFF2-40B4-BE49-F238E27FC236}">
                <a16:creationId xmlns:a16="http://schemas.microsoft.com/office/drawing/2014/main" id="{0D4FC8E1-2A83-4D72-8DE1-0D3F928E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选论文</a:t>
            </a:r>
          </a:p>
        </p:txBody>
      </p:sp>
      <p:sp>
        <p:nvSpPr>
          <p:cNvPr id="8" name="visual-14-2-p14-detail-0">
            <a:extLst xmlns:a="http://schemas.openxmlformats.org/drawingml/2006/main">
              <a:ext uri="{FF2B5EF4-FFF2-40B4-BE49-F238E27FC236}">
                <a16:creationId xmlns:a16="http://schemas.microsoft.com/office/drawing/2014/main" id="{5F2936F7-AC10-4585-8533-16097FBC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91440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本人 verified / caveat 条目；没有者使用真实 Keshav 演示包</a:t>
            </a:r>
          </a:p>
        </p:txBody>
      </p:sp>
      <p:sp>
        <p:nvSpPr>
          <p:cNvPr id="9" name="visual-14-3-p14-n-1">
            <a:extLst xmlns:a="http://schemas.openxmlformats.org/drawingml/2006/main">
              <a:ext uri="{FF2B5EF4-FFF2-40B4-BE49-F238E27FC236}">
                <a16:creationId xmlns:a16="http://schemas.microsoft.com/office/drawing/2014/main" id="{FE5DB0AC-A4AE-4004-8A6B-47BBA26A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335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4-4-p14-label-1">
            <a:extLst xmlns:a="http://schemas.openxmlformats.org/drawingml/2006/main">
              <a:ext uri="{FF2B5EF4-FFF2-40B4-BE49-F238E27FC236}">
                <a16:creationId xmlns:a16="http://schemas.microsoft.com/office/drawing/2014/main" id="{E60E1FDC-4313-4490-A569-66193CC7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335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</a:t>
            </a:r>
          </a:p>
        </p:txBody>
      </p:sp>
      <p:sp>
        <p:nvSpPr>
          <p:cNvPr id="11" name="visual-14-5-p14-detail-1">
            <a:extLst xmlns:a="http://schemas.openxmlformats.org/drawingml/2006/main">
              <a:ext uri="{FF2B5EF4-FFF2-40B4-BE49-F238E27FC236}">
                <a16:creationId xmlns:a16="http://schemas.microsoft.com/office/drawing/2014/main" id="{2093EE67-6AAD-4AD3-8B7C-BEF253BF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33525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中心问题 / 结构 / 术语 / 预期位置 / 待追问</a:t>
            </a:r>
          </a:p>
        </p:txBody>
      </p:sp>
      <p:sp>
        <p:nvSpPr>
          <p:cNvPr id="12" name="visual-14-6-p14-n-2">
            <a:extLst xmlns:a="http://schemas.openxmlformats.org/drawingml/2006/main">
              <a:ext uri="{FF2B5EF4-FFF2-40B4-BE49-F238E27FC236}">
                <a16:creationId xmlns:a16="http://schemas.microsoft.com/office/drawing/2014/main" id="{09859AD6-E511-43E1-83D0-BECE5A28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4-7-p14-label-2">
            <a:extLst xmlns:a="http://schemas.openxmlformats.org/drawingml/2006/main">
              <a:ext uri="{FF2B5EF4-FFF2-40B4-BE49-F238E27FC236}">
                <a16:creationId xmlns:a16="http://schemas.microsoft.com/office/drawing/2014/main" id="{60DF2B86-E3B1-4CFD-BEE3-5E4B7BB8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52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原文核验</a:t>
            </a:r>
          </a:p>
        </p:txBody>
      </p:sp>
      <p:sp>
        <p:nvSpPr>
          <p:cNvPr id="14" name="visual-14-8-p14-detail-2">
            <a:extLst xmlns:a="http://schemas.openxmlformats.org/drawingml/2006/main">
              <a:ext uri="{FF2B5EF4-FFF2-40B4-BE49-F238E27FC236}">
                <a16:creationId xmlns:a16="http://schemas.microsoft.com/office/drawing/2014/main" id="{9E5A419B-4647-4AAC-98AD-F70D06A1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5265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至少两个可复查位置</a:t>
            </a:r>
          </a:p>
        </p:txBody>
      </p:sp>
      <p:sp>
        <p:nvSpPr>
          <p:cNvPr id="15" name="visual-14-9-p14-n-3">
            <a:extLst xmlns:a="http://schemas.openxmlformats.org/drawingml/2006/main">
              <a:ext uri="{FF2B5EF4-FFF2-40B4-BE49-F238E27FC236}">
                <a16:creationId xmlns:a16="http://schemas.microsoft.com/office/drawing/2014/main" id="{2E78AC6D-53AC-4924-87E2-B85BEEA7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717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visual-14-10-p14-label-3">
            <a:extLst xmlns:a="http://schemas.openxmlformats.org/drawingml/2006/main">
              <a:ext uri="{FF2B5EF4-FFF2-40B4-BE49-F238E27FC236}">
                <a16:creationId xmlns:a16="http://schemas.microsoft.com/office/drawing/2014/main" id="{5C2289EC-4931-440F-9B5F-B511625A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7177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质疑</a:t>
            </a:r>
          </a:p>
        </p:txBody>
      </p:sp>
      <p:sp>
        <p:nvSpPr>
          <p:cNvPr id="17" name="visual-14-11-p14-detail-3">
            <a:extLst xmlns:a="http://schemas.openxmlformats.org/drawingml/2006/main">
              <a:ext uri="{FF2B5EF4-FFF2-40B4-BE49-F238E27FC236}">
                <a16:creationId xmlns:a16="http://schemas.microsoft.com/office/drawing/2014/main" id="{E614FE90-D511-46F1-BF6D-9DEE3F4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71775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基于已核验内容提出反例</a:t>
            </a:r>
          </a:p>
        </p:txBody>
      </p:sp>
      <p:sp>
        <p:nvSpPr>
          <p:cNvPr id="18" name="visual-14-12-p14-n-4">
            <a:extLst xmlns:a="http://schemas.openxmlformats.org/drawingml/2006/main">
              <a:ext uri="{FF2B5EF4-FFF2-40B4-BE49-F238E27FC236}">
                <a16:creationId xmlns:a16="http://schemas.microsoft.com/office/drawing/2014/main" id="{4D39F02A-BE5D-48C2-8D5D-228166EE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visual-14-13-p14-label-4">
            <a:extLst xmlns:a="http://schemas.openxmlformats.org/drawingml/2006/main">
              <a:ext uri="{FF2B5EF4-FFF2-40B4-BE49-F238E27FC236}">
                <a16:creationId xmlns:a16="http://schemas.microsoft.com/office/drawing/2014/main" id="{F3D25AA1-D10B-4443-B7AD-940A0A65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90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20" name="visual-14-14-p14-detail-4">
            <a:extLst xmlns:a="http://schemas.openxmlformats.org/drawingml/2006/main">
              <a:ext uri="{FF2B5EF4-FFF2-40B4-BE49-F238E27FC236}">
                <a16:creationId xmlns:a16="http://schemas.microsoft.com/office/drawing/2014/main" id="{A196E616-B785-4B5D-A54C-0D84217A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9090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错误/遗漏，或已检查风险与依据</a:t>
            </a:r>
          </a:p>
        </p:txBody>
      </p:sp>
      <p:sp>
        <p:nvSpPr>
          <p:cNvPr id="21" name="visual-14-15-p14-n-5">
            <a:extLst xmlns:a="http://schemas.openxmlformats.org/drawingml/2006/main">
              <a:ext uri="{FF2B5EF4-FFF2-40B4-BE49-F238E27FC236}">
                <a16:creationId xmlns:a16="http://schemas.microsoft.com/office/drawing/2014/main" id="{A28AD021-85EA-476B-8C91-D69A1775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00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2" name="visual-14-16-p14-label-5">
            <a:extLst xmlns:a="http://schemas.openxmlformats.org/drawingml/2006/main">
              <a:ext uri="{FF2B5EF4-FFF2-40B4-BE49-F238E27FC236}">
                <a16:creationId xmlns:a16="http://schemas.microsoft.com/office/drawing/2014/main" id="{9692214B-8190-426C-A5DE-69928C1D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0025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完整阅读卡</a:t>
            </a:r>
          </a:p>
        </p:txBody>
      </p:sp>
      <p:sp>
        <p:nvSpPr>
          <p:cNvPr id="23" name="visual-14-17-p14-detail-5">
            <a:extLst xmlns:a="http://schemas.openxmlformats.org/drawingml/2006/main">
              <a:ext uri="{FF2B5EF4-FFF2-40B4-BE49-F238E27FC236}">
                <a16:creationId xmlns:a16="http://schemas.microsoft.com/office/drawing/2014/main" id="{56CB94D9-5DEE-40D9-8FC1-06E1E6CC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10025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带位置主张 + 证据 + 边界 + 判断</a:t>
            </a:r>
          </a:p>
        </p:txBody>
      </p:sp>
      <p:sp>
        <p:nvSpPr>
          <p:cNvPr id="24" name="visual-14-18-p14-n-6">
            <a:extLst xmlns:a="http://schemas.openxmlformats.org/drawingml/2006/main">
              <a:ext uri="{FF2B5EF4-FFF2-40B4-BE49-F238E27FC236}">
                <a16:creationId xmlns:a16="http://schemas.microsoft.com/office/drawing/2014/main" id="{CDFF23E4-3206-43C1-8393-AFFF3A6F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25" name="visual-14-19-p14-label-6">
            <a:extLst xmlns:a="http://schemas.openxmlformats.org/drawingml/2006/main">
              <a:ext uri="{FF2B5EF4-FFF2-40B4-BE49-F238E27FC236}">
                <a16:creationId xmlns:a16="http://schemas.microsoft.com/office/drawing/2014/main" id="{B77ACAE5-7AC6-4AE9-B59F-699C5E31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使用记录</a:t>
            </a:r>
          </a:p>
        </p:txBody>
      </p:sp>
      <p:sp>
        <p:nvSpPr>
          <p:cNvPr id="26" name="visual-14-20-p14-detail-6">
            <a:extLst xmlns:a="http://schemas.openxmlformats.org/drawingml/2006/main">
              <a:ext uri="{FF2B5EF4-FFF2-40B4-BE49-F238E27FC236}">
                <a16:creationId xmlns:a16="http://schemas.microsoft.com/office/drawing/2014/main" id="{BAC9CEF2-2D95-4C7D-9D8B-E9BD7F82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629150"/>
            <a:ext cx="8039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用途 / Context / 核验方式 / 问题</a:t>
            </a:r>
          </a:p>
        </p:txBody>
      </p:sp>
      <p:sp>
        <p:nvSpPr>
          <p:cNvPr id="27" name="visual-14-21-p14-backup">
            <a:extLst xmlns:a="http://schemas.openxmlformats.org/drawingml/2006/main">
              <a:ext uri="{FF2B5EF4-FFF2-40B4-BE49-F238E27FC236}">
                <a16:creationId xmlns:a16="http://schemas.microsoft.com/office/drawing/2014/main" id="{FBF2E333-50D8-41D0-ACA1-CB125FD6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059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网络/模型不可用：切换预录材料，在 Markdown 或纸面完成；不把课堂时间用于逐台排障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paper">
            <a:extLst xmlns:a="http://schemas.openxmlformats.org/drawingml/2006/main">
              <a:ext uri="{FF2B5EF4-FFF2-40B4-BE49-F238E27FC236}">
                <a16:creationId xmlns:a16="http://schemas.microsoft.com/office/drawing/2014/main" id="{D5C9DD65-FFE8-4D3B-AFFE-82A1BB83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5048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论文｜题名 / 作者 / 年份 / DOI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来源状态｜证据角色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中心问题（一句话，核验后）</a:t>
            </a:r>
          </a:p>
        </p:txBody>
      </p:sp>
      <p:sp>
        <p:nvSpPr>
          <p:cNvPr id="7" name="p15-claim">
            <a:extLst xmlns:a="http://schemas.openxmlformats.org/drawingml/2006/main">
              <a:ext uri="{FF2B5EF4-FFF2-40B4-BE49-F238E27FC236}">
                <a16:creationId xmlns:a16="http://schemas.microsoft.com/office/drawing/2014/main" id="{2E14BBDE-2720-4CE6-99BC-DB5F37BB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048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作者主张（带位置）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主张 1 → §x.x, p.x, Fig.x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原文证据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指标｜对照｜样本｜限定</a:t>
            </a:r>
          </a:p>
        </p:txBody>
      </p:sp>
      <p:sp>
        <p:nvSpPr>
          <p:cNvPr id="8" name="p15-mid">
            <a:extLst xmlns:a="http://schemas.openxmlformats.org/drawingml/2006/main">
              <a:ext uri="{FF2B5EF4-FFF2-40B4-BE49-F238E27FC236}">
                <a16:creationId xmlns:a16="http://schemas.microsoft.com/office/drawing/2014/main" id="{07E03257-01D2-454B-99CB-9A7793F3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047750"/>
            <a:ext cx="190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5-boundary">
            <a:extLst xmlns:a="http://schemas.openxmlformats.org/drawingml/2006/main">
              <a:ext uri="{FF2B5EF4-FFF2-40B4-BE49-F238E27FC236}">
                <a16:creationId xmlns:a16="http://schemas.microsoft.com/office/drawing/2014/main" id="{6AAD3A2D-F772-4534-9C55-8FD71766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047750"/>
            <a:ext cx="490537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局限与边界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作者自述｜个人判断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 建议（待核验）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 偏差审计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错误 / 遗漏，或已检查风险与依据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内容状态</a:t>
            </a:r>
          </a:p>
        </p:txBody>
      </p:sp>
      <p:sp>
        <p:nvSpPr>
          <p:cNvPr id="10" name="p15-check">
            <a:extLst xmlns:a="http://schemas.openxmlformats.org/drawingml/2006/main">
              <a:ext uri="{FF2B5EF4-FFF2-40B4-BE49-F238E27FC236}">
                <a16:creationId xmlns:a16="http://schemas.microsoft.com/office/drawing/2014/main" id="{919E41D6-8362-4ADA-9818-A3B0C374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72000"/>
            <a:ext cx="4905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完整 = 每个字段有值，或写明“不适用 + 理由”</a:t>
            </a:r>
          </a:p>
        </p:txBody>
      </p:sp>
      <p:sp>
        <p:nvSpPr>
          <p:cNvPr id="11" name="source">
            <a:extLst xmlns:a="http://schemas.openxmlformats.org/drawingml/2006/main">
              <a:ext uri="{FF2B5EF4-FFF2-40B4-BE49-F238E27FC236}">
                <a16:creationId xmlns:a16="http://schemas.microsoft.com/office/drawing/2014/main" id="{8A129D93-F4E6-4BC4-B54B-63F79027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写入：reading-cards.md · 当堂聚焦一条关键主张；不屏显课堂分钟数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6-n-0">
            <a:extLst xmlns:a="http://schemas.openxmlformats.org/drawingml/2006/main">
              <a:ext uri="{FF2B5EF4-FFF2-40B4-BE49-F238E27FC236}">
                <a16:creationId xmlns:a16="http://schemas.microsoft.com/office/drawing/2014/main" id="{558602D1-BDF7-4FDF-A531-3AB69687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6-1-p16-q-0">
            <a:extLst xmlns:a="http://schemas.openxmlformats.org/drawingml/2006/main">
              <a:ext uri="{FF2B5EF4-FFF2-40B4-BE49-F238E27FC236}">
                <a16:creationId xmlns:a16="http://schemas.microsoft.com/office/drawing/2014/main" id="{14F7E12D-8BD5-4932-ABF8-1BE9CBC5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9906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主张有位置吗？</a:t>
            </a:r>
          </a:p>
        </p:txBody>
      </p:sp>
      <p:sp>
        <p:nvSpPr>
          <p:cNvPr id="8" name="visual-16-2-p16-d-0">
            <a:extLst xmlns:a="http://schemas.openxmlformats.org/drawingml/2006/main">
              <a:ext uri="{FF2B5EF4-FFF2-40B4-BE49-F238E27FC236}">
                <a16:creationId xmlns:a16="http://schemas.microsoft.com/office/drawing/2014/main" id="{9B94A6BF-117C-4B7C-8F43-1C4E6A29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4859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每条作者主张能否回到章节 / 页码 / 图表</a:t>
            </a:r>
          </a:p>
        </p:txBody>
      </p:sp>
      <p:sp>
        <p:nvSpPr>
          <p:cNvPr id="9" name="visual-16-3-p16-n-1">
            <a:extLst xmlns:a="http://schemas.openxmlformats.org/drawingml/2006/main">
              <a:ext uri="{FF2B5EF4-FFF2-40B4-BE49-F238E27FC236}">
                <a16:creationId xmlns:a16="http://schemas.microsoft.com/office/drawing/2014/main" id="{C96438E0-9A62-45F9-AAD1-2F8C0D5B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6-4-p16-q-1">
            <a:extLst xmlns:a="http://schemas.openxmlformats.org/drawingml/2006/main">
              <a:ext uri="{FF2B5EF4-FFF2-40B4-BE49-F238E27FC236}">
                <a16:creationId xmlns:a16="http://schemas.microsoft.com/office/drawing/2014/main" id="{F4974AE3-8F1F-410F-92C7-5EF9C297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907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与原文分栏了吗？</a:t>
            </a:r>
          </a:p>
        </p:txBody>
      </p:sp>
      <p:sp>
        <p:nvSpPr>
          <p:cNvPr id="11" name="visual-16-5-p16-d-1">
            <a:extLst xmlns:a="http://schemas.openxmlformats.org/drawingml/2006/main">
              <a:ext uri="{FF2B5EF4-FFF2-40B4-BE49-F238E27FC236}">
                <a16:creationId xmlns:a16="http://schemas.microsoft.com/office/drawing/2014/main" id="{8F4C176A-618B-42FB-BA8D-CE4F46B1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860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作者主张、个人判断和 AI 建议是否混写</a:t>
            </a:r>
          </a:p>
        </p:txBody>
      </p:sp>
      <p:sp>
        <p:nvSpPr>
          <p:cNvPr id="12" name="visual-16-6-p16-n-2">
            <a:extLst xmlns:a="http://schemas.openxmlformats.org/drawingml/2006/main">
              <a:ext uri="{FF2B5EF4-FFF2-40B4-BE49-F238E27FC236}">
                <a16:creationId xmlns:a16="http://schemas.microsoft.com/office/drawing/2014/main" id="{B6EE3467-1CC2-48E7-8018-4DDFB25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6-7-p16-q-2">
            <a:extLst xmlns:a="http://schemas.openxmlformats.org/drawingml/2006/main">
              <a:ext uri="{FF2B5EF4-FFF2-40B4-BE49-F238E27FC236}">
                <a16:creationId xmlns:a16="http://schemas.microsoft.com/office/drawing/2014/main" id="{3D9D6EAB-2DED-4932-960B-CFC1224C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偏差审计可复查吗？</a:t>
            </a:r>
          </a:p>
        </p:txBody>
      </p:sp>
      <p:sp>
        <p:nvSpPr>
          <p:cNvPr id="14" name="visual-16-8-p16-d-2">
            <a:extLst xmlns:a="http://schemas.openxmlformats.org/drawingml/2006/main">
              <a:ext uri="{FF2B5EF4-FFF2-40B4-BE49-F238E27FC236}">
                <a16:creationId xmlns:a16="http://schemas.microsoft.com/office/drawing/2014/main" id="{D317D627-B677-42F7-A9CF-E4C1A80E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862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有错误/遗漏，或已检查风险与核验依据</a:t>
            </a:r>
          </a:p>
        </p:txBody>
      </p:sp>
      <p:sp>
        <p:nvSpPr>
          <p:cNvPr id="15" name="visual-16-9-p16-author">
            <a:extLst xmlns:a="http://schemas.openxmlformats.org/drawingml/2006/main">
              <a:ext uri="{FF2B5EF4-FFF2-40B4-BE49-F238E27FC236}">
                <a16:creationId xmlns:a16="http://schemas.microsoft.com/office/drawing/2014/main" id="{E7822D60-77E8-46D8-A441-CD7F9F10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1430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作者记录处理决定</a:t>
            </a:r>
          </a:p>
        </p:txBody>
      </p:sp>
      <p:sp>
        <p:nvSpPr>
          <p:cNvPr id="16" name="visual-16-10-p16-state-0">
            <a:extLst xmlns:a="http://schemas.openxmlformats.org/drawingml/2006/main">
              <a:ext uri="{FF2B5EF4-FFF2-40B4-BE49-F238E27FC236}">
                <a16:creationId xmlns:a16="http://schemas.microsoft.com/office/drawing/2014/main" id="{72DF8AAA-57ED-44F3-9D33-1795805D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2405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7" name="visual-16-11-p16-state-1">
            <a:extLst xmlns:a="http://schemas.openxmlformats.org/drawingml/2006/main">
              <a:ext uri="{FF2B5EF4-FFF2-40B4-BE49-F238E27FC236}">
                <a16:creationId xmlns:a16="http://schemas.microsoft.com/office/drawing/2014/main" id="{C15527C7-5E5A-46EB-B8A4-9E650C57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0510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18" name="visual-16-12-p16-state-2">
            <a:extLst xmlns:a="http://schemas.openxmlformats.org/drawingml/2006/main">
              <a:ext uri="{FF2B5EF4-FFF2-40B4-BE49-F238E27FC236}">
                <a16:creationId xmlns:a16="http://schemas.microsoft.com/office/drawing/2014/main" id="{F059985E-C7FD-47EE-BFCC-6739487D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86150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19" name="visual-16-13-p16-boundary">
            <a:extLst xmlns:a="http://schemas.openxmlformats.org/drawingml/2006/main">
              <a:ext uri="{FF2B5EF4-FFF2-40B4-BE49-F238E27FC236}">
                <a16:creationId xmlns:a16="http://schemas.microsoft.com/office/drawing/2014/main" id="{CF246D96-5D0E-4B88-909C-BCED72DF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95850"/>
            <a:ext cx="899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只提问题｜不替作者决定｜不形成共同提交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p17-n-0">
            <a:extLst xmlns:a="http://schemas.openxmlformats.org/drawingml/2006/main">
              <a:ext uri="{FF2B5EF4-FFF2-40B4-BE49-F238E27FC236}">
                <a16:creationId xmlns:a16="http://schemas.microsoft.com/office/drawing/2014/main" id="{8E3DF5AE-DDCD-43F9-BB98-E37E23C8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7-1-p17-label-0">
            <a:extLst xmlns:a="http://schemas.openxmlformats.org/drawingml/2006/main">
              <a:ext uri="{FF2B5EF4-FFF2-40B4-BE49-F238E27FC236}">
                <a16:creationId xmlns:a16="http://schemas.microsoft.com/office/drawing/2014/main" id="{D8CFA490-05CC-479A-8E57-9D120EB6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导航</a:t>
            </a:r>
          </a:p>
        </p:txBody>
      </p:sp>
      <p:sp>
        <p:nvSpPr>
          <p:cNvPr id="8" name="visual-17-2-p17-detail-0">
            <a:extLst xmlns:a="http://schemas.openxmlformats.org/drawingml/2006/main">
              <a:ext uri="{FF2B5EF4-FFF2-40B4-BE49-F238E27FC236}">
                <a16:creationId xmlns:a16="http://schemas.microsoft.com/office/drawing/2014/main" id="{AE855C12-187B-4DD0-86DB-F81E6C28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先定位任务、设置与关键位置</a:t>
            </a:r>
          </a:p>
        </p:txBody>
      </p:sp>
      <p:sp>
        <p:nvSpPr>
          <p:cNvPr id="9" name="visual-17-3-p17-arrow-0">
            <a:extLst xmlns:a="http://schemas.openxmlformats.org/drawingml/2006/main">
              <a:ext uri="{FF2B5EF4-FFF2-40B4-BE49-F238E27FC236}">
                <a16:creationId xmlns:a16="http://schemas.microsoft.com/office/drawing/2014/main" id="{F3C55370-B1D1-4F12-A732-310A828D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17-4-p17-n-1">
            <a:extLst xmlns:a="http://schemas.openxmlformats.org/drawingml/2006/main">
              <a:ext uri="{FF2B5EF4-FFF2-40B4-BE49-F238E27FC236}">
                <a16:creationId xmlns:a16="http://schemas.microsoft.com/office/drawing/2014/main" id="{50A0E854-2A51-471E-8BB2-940C6150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17-5-p17-label-1">
            <a:extLst xmlns:a="http://schemas.openxmlformats.org/drawingml/2006/main">
              <a:ext uri="{FF2B5EF4-FFF2-40B4-BE49-F238E27FC236}">
                <a16:creationId xmlns:a16="http://schemas.microsoft.com/office/drawing/2014/main" id="{DE364093-3788-4837-AA6C-ED3EEF8E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原文核验</a:t>
            </a:r>
          </a:p>
        </p:txBody>
      </p:sp>
      <p:sp>
        <p:nvSpPr>
          <p:cNvPr id="12" name="visual-17-6-p17-detail-1">
            <a:extLst xmlns:a="http://schemas.openxmlformats.org/drawingml/2006/main">
              <a:ext uri="{FF2B5EF4-FFF2-40B4-BE49-F238E27FC236}">
                <a16:creationId xmlns:a16="http://schemas.microsoft.com/office/drawing/2014/main" id="{7EF46570-DD25-4BE4-94C3-C9F964FD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逐条检查指标、对照与限定</a:t>
            </a:r>
          </a:p>
        </p:txBody>
      </p:sp>
      <p:sp>
        <p:nvSpPr>
          <p:cNvPr id="13" name="visual-17-7-p17-arrow-1">
            <a:extLst xmlns:a="http://schemas.openxmlformats.org/drawingml/2006/main">
              <a:ext uri="{FF2B5EF4-FFF2-40B4-BE49-F238E27FC236}">
                <a16:creationId xmlns:a16="http://schemas.microsoft.com/office/drawing/2014/main" id="{CE949020-CDB8-407F-953B-5555F58D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17-8-p17-n-2">
            <a:extLst xmlns:a="http://schemas.openxmlformats.org/drawingml/2006/main">
              <a:ext uri="{FF2B5EF4-FFF2-40B4-BE49-F238E27FC236}">
                <a16:creationId xmlns:a16="http://schemas.microsoft.com/office/drawing/2014/main" id="{74370A9F-15B1-41B8-B449-26290F70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17-9-p17-label-2">
            <a:extLst xmlns:a="http://schemas.openxmlformats.org/drawingml/2006/main">
              <a:ext uri="{FF2B5EF4-FFF2-40B4-BE49-F238E27FC236}">
                <a16:creationId xmlns:a16="http://schemas.microsoft.com/office/drawing/2014/main" id="{E2C698C7-347E-406B-9C4F-67997A49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偏差审计</a:t>
            </a:r>
          </a:p>
        </p:txBody>
      </p:sp>
      <p:sp>
        <p:nvSpPr>
          <p:cNvPr id="16" name="visual-17-10-p17-detail-2">
            <a:extLst xmlns:a="http://schemas.openxmlformats.org/drawingml/2006/main">
              <a:ext uri="{FF2B5EF4-FFF2-40B4-BE49-F238E27FC236}">
                <a16:creationId xmlns:a16="http://schemas.microsoft.com/office/drawing/2014/main" id="{CFC340DD-9714-4151-BD0D-62892154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记录错读、遗漏或已查风险</a:t>
            </a:r>
          </a:p>
        </p:txBody>
      </p:sp>
      <p:sp>
        <p:nvSpPr>
          <p:cNvPr id="17" name="visual-17-11-p17-arrow-2">
            <a:extLst xmlns:a="http://schemas.openxmlformats.org/drawingml/2006/main">
              <a:ext uri="{FF2B5EF4-FFF2-40B4-BE49-F238E27FC236}">
                <a16:creationId xmlns:a16="http://schemas.microsoft.com/office/drawing/2014/main" id="{C02D3EAA-A65C-4826-89D0-010EBFC6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19350"/>
            <a:ext cx="323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17-12-p17-n-3">
            <a:extLst xmlns:a="http://schemas.openxmlformats.org/drawingml/2006/main">
              <a:ext uri="{FF2B5EF4-FFF2-40B4-BE49-F238E27FC236}">
                <a16:creationId xmlns:a16="http://schemas.microsoft.com/office/drawing/2014/main" id="{6CD0191F-3DD1-4E63-89AB-ED4BCDFD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001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visual-17-13-p17-label-3">
            <a:extLst xmlns:a="http://schemas.openxmlformats.org/drawingml/2006/main">
              <a:ext uri="{FF2B5EF4-FFF2-40B4-BE49-F238E27FC236}">
                <a16:creationId xmlns:a16="http://schemas.microsoft.com/office/drawing/2014/main" id="{17134352-A55D-49A0-B468-E56D4F7F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1430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人工定稿</a:t>
            </a:r>
          </a:p>
        </p:txBody>
      </p:sp>
      <p:sp>
        <p:nvSpPr>
          <p:cNvPr id="20" name="visual-17-14-p17-detail-3">
            <a:extLst xmlns:a="http://schemas.openxmlformats.org/drawingml/2006/main">
              <a:ext uri="{FF2B5EF4-FFF2-40B4-BE49-F238E27FC236}">
                <a16:creationId xmlns:a16="http://schemas.microsoft.com/office/drawing/2014/main" id="{E5E69BE1-B02A-450C-A921-E1789A79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52625"/>
            <a:ext cx="26098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保留原文位置与判断边界</a:t>
            </a:r>
          </a:p>
        </p:txBody>
      </p:sp>
      <p:sp>
        <p:nvSpPr>
          <p:cNvPr id="21" name="visual-17-15-p17-boundary">
            <a:extLst xmlns:a="http://schemas.openxmlformats.org/drawingml/2006/main">
              <a:ext uri="{FF2B5EF4-FFF2-40B4-BE49-F238E27FC236}">
                <a16:creationId xmlns:a16="http://schemas.microsoft.com/office/drawing/2014/main" id="{64708A7D-CE94-4180-93C7-9B035847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9620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关键边界：AI 输出只提供阅读线索；关键主张必须绑定原文位置，并由研究者作最终判断。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5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visual-18-0-p18-exit-title">
            <a:extLst xmlns:a="http://schemas.openxmlformats.org/drawingml/2006/main">
              <a:ext uri="{FF2B5EF4-FFF2-40B4-BE49-F238E27FC236}">
                <a16:creationId xmlns:a16="http://schemas.microsoft.com/office/drawing/2014/main" id="{B036D910-E29E-4C1B-B97B-F2985808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7" name="visual-18-1-p18-exit">
            <a:extLst xmlns:a="http://schemas.openxmlformats.org/drawingml/2006/main">
              <a:ext uri="{FF2B5EF4-FFF2-40B4-BE49-F238E27FC236}">
                <a16:creationId xmlns:a16="http://schemas.microsoft.com/office/drawing/2014/main" id="{0A58C56E-9CCF-460B-A980-73FE90A4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4476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今天最清楚的一点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仍然困惑的一点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阅读卡当前缺失的字段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偏差审计记录了什么</a:t>
            </a:r>
          </a:p>
        </p:txBody>
      </p:sp>
      <p:sp>
        <p:nvSpPr>
          <p:cNvPr id="8" name="visual-18-2-p18-next-title">
            <a:extLst xmlns:a="http://schemas.openxmlformats.org/drawingml/2006/main">
              <a:ext uri="{FF2B5EF4-FFF2-40B4-BE49-F238E27FC236}">
                <a16:creationId xmlns:a16="http://schemas.microsoft.com/office/drawing/2014/main" id="{1E3C9BB0-782C-4C36-92E7-DD08B62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9060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下一步不是继续摘要，而是重组证据</a:t>
            </a:r>
          </a:p>
        </p:txBody>
      </p:sp>
      <p:sp>
        <p:nvSpPr>
          <p:cNvPr id="9" name="visual-18-3-p18-a">
            <a:extLst xmlns:a="http://schemas.openxmlformats.org/drawingml/2006/main">
              <a:ext uri="{FF2B5EF4-FFF2-40B4-BE49-F238E27FC236}">
                <a16:creationId xmlns:a16="http://schemas.microsoft.com/office/drawing/2014/main" id="{245D8937-1587-4468-871A-5277F434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带位置阅读卡</a:t>
            </a:r>
          </a:p>
        </p:txBody>
      </p:sp>
      <p:sp>
        <p:nvSpPr>
          <p:cNvPr id="10" name="visual-18-4-p18-a1">
            <a:extLst xmlns:a="http://schemas.openxmlformats.org/drawingml/2006/main">
              <a:ext uri="{FF2B5EF4-FFF2-40B4-BE49-F238E27FC236}">
                <a16:creationId xmlns:a16="http://schemas.microsoft.com/office/drawing/2014/main" id="{164B3828-82CF-4E65-981C-7932B5A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812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18-5-p18-b">
            <a:extLst xmlns:a="http://schemas.openxmlformats.org/drawingml/2006/main">
              <a:ext uri="{FF2B5EF4-FFF2-40B4-BE49-F238E27FC236}">
                <a16:creationId xmlns:a16="http://schemas.microsoft.com/office/drawing/2014/main" id="{D09C67CE-41E0-4DD2-A746-E9E8C0DC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5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12" name="visual-18-6-p18-a2">
            <a:extLst xmlns:a="http://schemas.openxmlformats.org/drawingml/2006/main">
              <a:ext uri="{FF2B5EF4-FFF2-40B4-BE49-F238E27FC236}">
                <a16:creationId xmlns:a16="http://schemas.microsoft.com/office/drawing/2014/main" id="{D71A610C-879C-4229-BBF5-D3BA2568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3" name="visual-18-7-p18-c">
            <a:extLst xmlns:a="http://schemas.openxmlformats.org/drawingml/2006/main">
              <a:ext uri="{FF2B5EF4-FFF2-40B4-BE49-F238E27FC236}">
                <a16:creationId xmlns:a16="http://schemas.microsoft.com/office/drawing/2014/main" id="{5FE88F9A-00F8-435D-98E3-D8FA2639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146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14" name="visual-18-8-p18-three">
            <a:extLst xmlns:a="http://schemas.openxmlformats.org/drawingml/2006/main">
              <a:ext uri="{FF2B5EF4-FFF2-40B4-BE49-F238E27FC236}">
                <a16:creationId xmlns:a16="http://schemas.microsoft.com/office/drawing/2014/main" id="{C9D2A156-113C-486F-9AC0-10166773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590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问题门前累计至少 3 张完整精读卡</a:t>
            </a:r>
          </a:p>
        </p:txBody>
      </p:sp>
      <p:sp>
        <p:nvSpPr>
          <p:cNvPr id="15" name="visual-18-9-p18-no-weekly">
            <a:extLst xmlns:a="http://schemas.openxmlformats.org/drawingml/2006/main">
              <a:ext uri="{FF2B5EF4-FFF2-40B4-BE49-F238E27FC236}">
                <a16:creationId xmlns:a16="http://schemas.microsoft.com/office/drawing/2014/main" id="{DD9DE4CA-6F20-4EE6-BD9A-88B0F79F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14900"/>
            <a:ext cx="586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持续写回个人项目｜不逐周正式提交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2026-09-16T01:27:01.7120000Z</dcterms:created>
  <dcterms:modified xsi:type="dcterms:W3CDTF">2026-09-16T01:27:01.7120000Z</dcterms:modified>
</coreProperties>
</file>