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ac98941c664de1" /><Relationship Type="http://schemas.openxmlformats.org/officeDocument/2006/relationships/extended-properties" Target="/docProps/app.xml" Id="Ra9bf652f2a9e4400" /><Relationship Type="http://schemas.openxmlformats.org/officeDocument/2006/relationships/officeDocument" Target="/ppt/presentation.xml" Id="Rb6c6a6f3d5f942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e76e4ff19b4d56"/>
  </p:sldMasterIdLst>
  <p:notesMasterIdLst>
    <p:notesMasterId xmlns:r="http://schemas.openxmlformats.org/officeDocument/2006/relationships" r:id="R4652815f21864d9d"/>
  </p:notesMasterIdLst>
  <p:sldIdLst>
    <p:sldId xmlns:r="http://schemas.openxmlformats.org/officeDocument/2006/relationships" id="256" r:id="R8757889be44544b0"/>
    <p:sldId xmlns:r="http://schemas.openxmlformats.org/officeDocument/2006/relationships" id="257" r:id="R3959d370dfdd4c9f"/>
    <p:sldId xmlns:r="http://schemas.openxmlformats.org/officeDocument/2006/relationships" id="258" r:id="Rcb546209354b42da"/>
    <p:sldId xmlns:r="http://schemas.openxmlformats.org/officeDocument/2006/relationships" id="259" r:id="R678fdf432ea34014"/>
    <p:sldId xmlns:r="http://schemas.openxmlformats.org/officeDocument/2006/relationships" id="260" r:id="R4705564a78784c21"/>
    <p:sldId xmlns:r="http://schemas.openxmlformats.org/officeDocument/2006/relationships" id="261" r:id="R46b5aa4efde54277"/>
    <p:sldId xmlns:r="http://schemas.openxmlformats.org/officeDocument/2006/relationships" id="262" r:id="Ra0f6c5f238d545ab"/>
    <p:sldId xmlns:r="http://schemas.openxmlformats.org/officeDocument/2006/relationships" id="263" r:id="Rf781d29dc44b47ed"/>
    <p:sldId xmlns:r="http://schemas.openxmlformats.org/officeDocument/2006/relationships" id="264" r:id="Radcc4763c27b4b3c"/>
    <p:sldId xmlns:r="http://schemas.openxmlformats.org/officeDocument/2006/relationships" id="265" r:id="R903eff0e7e23481e"/>
    <p:sldId xmlns:r="http://schemas.openxmlformats.org/officeDocument/2006/relationships" id="266" r:id="R372d93d2fc634ae9"/>
    <p:sldId xmlns:r="http://schemas.openxmlformats.org/officeDocument/2006/relationships" id="267" r:id="R7e59665fb1f94d78"/>
    <p:sldId xmlns:r="http://schemas.openxmlformats.org/officeDocument/2006/relationships" id="268" r:id="Rd9da7d700ebe43f3"/>
    <p:sldId xmlns:r="http://schemas.openxmlformats.org/officeDocument/2006/relationships" id="269" r:id="R0823af33fee24711"/>
    <p:sldId xmlns:r="http://schemas.openxmlformats.org/officeDocument/2006/relationships" id="270" r:id="R6c38b44c5aed491d"/>
    <p:sldId xmlns:r="http://schemas.openxmlformats.org/officeDocument/2006/relationships" id="271" r:id="R18a2732fe43e4d32"/>
    <p:sldId xmlns:r="http://schemas.openxmlformats.org/officeDocument/2006/relationships" id="272" r:id="Rc6f8dc6479234ae3"/>
    <p:sldId xmlns:r="http://schemas.openxmlformats.org/officeDocument/2006/relationships" id="273" r:id="R9bd92cee892f4b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94d65abcc74b1d" /><Relationship Type="http://schemas.openxmlformats.org/officeDocument/2006/relationships/slideMaster" Target="/ppt/slideMasters/slideMaster1.xml" Id="R31e76e4ff19b4d56" /><Relationship Type="http://schemas.openxmlformats.org/officeDocument/2006/relationships/notesMaster" Target="/ppt/notesMasters/notesMaster1.xml" Id="R4652815f21864d9d" /><Relationship Type="http://schemas.openxmlformats.org/officeDocument/2006/relationships/presProps" Target="/ppt/presProps.xml" Id="R2766cd6ae21f4557" /><Relationship Type="http://schemas.openxmlformats.org/officeDocument/2006/relationships/viewProps" Target="/ppt/viewProps.xml" Id="Red716271b0db4e7b" /><Relationship Type="http://schemas.openxmlformats.org/officeDocument/2006/relationships/tableStyles" Target="/ppt/tableStyles.xml" Id="R7f5986e5acab4e79" /><Relationship Type="http://schemas.openxmlformats.org/officeDocument/2006/relationships/slide" Target="/ppt/slides/slide1.xml" Id="R8757889be44544b0" /><Relationship Type="http://schemas.openxmlformats.org/officeDocument/2006/relationships/slide" Target="/ppt/slides/slide2.xml" Id="R3959d370dfdd4c9f" /><Relationship Type="http://schemas.openxmlformats.org/officeDocument/2006/relationships/slide" Target="/ppt/slides/slide3.xml" Id="Rcb546209354b42da" /><Relationship Type="http://schemas.openxmlformats.org/officeDocument/2006/relationships/slide" Target="/ppt/slides/slide4.xml" Id="R678fdf432ea34014" /><Relationship Type="http://schemas.openxmlformats.org/officeDocument/2006/relationships/slide" Target="/ppt/slides/slide5.xml" Id="R4705564a78784c21" /><Relationship Type="http://schemas.openxmlformats.org/officeDocument/2006/relationships/slide" Target="/ppt/slides/slide6.xml" Id="R46b5aa4efde54277" /><Relationship Type="http://schemas.openxmlformats.org/officeDocument/2006/relationships/slide" Target="/ppt/slides/slide7.xml" Id="Ra0f6c5f238d545ab" /><Relationship Type="http://schemas.openxmlformats.org/officeDocument/2006/relationships/slide" Target="/ppt/slides/slide8.xml" Id="Rf781d29dc44b47ed" /><Relationship Type="http://schemas.openxmlformats.org/officeDocument/2006/relationships/slide" Target="/ppt/slides/slide9.xml" Id="Radcc4763c27b4b3c" /><Relationship Type="http://schemas.openxmlformats.org/officeDocument/2006/relationships/slide" Target="/ppt/slides/slide10.xml" Id="R903eff0e7e23481e" /><Relationship Type="http://schemas.openxmlformats.org/officeDocument/2006/relationships/slide" Target="/ppt/slides/slide11.xml" Id="R372d93d2fc634ae9" /><Relationship Type="http://schemas.openxmlformats.org/officeDocument/2006/relationships/slide" Target="/ppt/slides/slide12.xml" Id="R7e59665fb1f94d78" /><Relationship Type="http://schemas.openxmlformats.org/officeDocument/2006/relationships/slide" Target="/ppt/slides/slide13.xml" Id="Rd9da7d700ebe43f3" /><Relationship Type="http://schemas.openxmlformats.org/officeDocument/2006/relationships/slide" Target="/ppt/slides/slide14.xml" Id="R0823af33fee24711" /><Relationship Type="http://schemas.openxmlformats.org/officeDocument/2006/relationships/slide" Target="/ppt/slides/slide15.xml" Id="R6c38b44c5aed491d" /><Relationship Type="http://schemas.openxmlformats.org/officeDocument/2006/relationships/slide" Target="/ppt/slides/slide16.xml" Id="R18a2732fe43e4d32" /><Relationship Type="http://schemas.openxmlformats.org/officeDocument/2006/relationships/slide" Target="/ppt/slides/slide17.xml" Id="Rc6f8dc6479234ae3" /><Relationship Type="http://schemas.openxmlformats.org/officeDocument/2006/relationships/slide" Target="/ppt/slides/slide18.xml" Id="R9bd92cee892f4b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f7bef4dffb45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99c5db13e842f1" /><Relationship Type="http://schemas.openxmlformats.org/officeDocument/2006/relationships/notesMaster" Target="/ppt/notesMasters/notesMaster1.xml" Id="R828da790fbbf43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b28cb1c8574647" /><Relationship Type="http://schemas.openxmlformats.org/officeDocument/2006/relationships/notesMaster" Target="/ppt/notesMasters/notesMaster1.xml" Id="Rb2dd40e4ac914b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8bd9c4994b40c4" /><Relationship Type="http://schemas.openxmlformats.org/officeDocument/2006/relationships/notesMaster" Target="/ppt/notesMasters/notesMaster1.xml" Id="Rfd28b8a89f9942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5ab6ca63a14cb6" /><Relationship Type="http://schemas.openxmlformats.org/officeDocument/2006/relationships/notesMaster" Target="/ppt/notesMasters/notesMaster1.xml" Id="R92ba48b91bba45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909ca361d94c4b" /><Relationship Type="http://schemas.openxmlformats.org/officeDocument/2006/relationships/notesMaster" Target="/ppt/notesMasters/notesMaster1.xml" Id="R3cc45e51820f4d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667c6b46b64c01" /><Relationship Type="http://schemas.openxmlformats.org/officeDocument/2006/relationships/notesMaster" Target="/ppt/notesMasters/notesMaster1.xml" Id="R20730b6ed8864b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e3d5364c224879" /><Relationship Type="http://schemas.openxmlformats.org/officeDocument/2006/relationships/notesMaster" Target="/ppt/notesMasters/notesMaster1.xml" Id="R3c43c29ea3ba4a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108a1c34ed4e2b" /><Relationship Type="http://schemas.openxmlformats.org/officeDocument/2006/relationships/notesMaster" Target="/ppt/notesMasters/notesMaster1.xml" Id="R278c0e18137048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2a89cca2774c26" /><Relationship Type="http://schemas.openxmlformats.org/officeDocument/2006/relationships/notesMaster" Target="/ppt/notesMasters/notesMaster1.xml" Id="R34144fffde5d45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c75eee9de24bd8" /><Relationship Type="http://schemas.openxmlformats.org/officeDocument/2006/relationships/notesMaster" Target="/ppt/notesMasters/notesMaster1.xml" Id="Re22b2245fd2846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f0cd4959474a21" /><Relationship Type="http://schemas.openxmlformats.org/officeDocument/2006/relationships/notesMaster" Target="/ppt/notesMasters/notesMaster1.xml" Id="R2e4b08f8a03c40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8356e72d364536" /><Relationship Type="http://schemas.openxmlformats.org/officeDocument/2006/relationships/notesMaster" Target="/ppt/notesMasters/notesMaster1.xml" Id="Rd34ee06eeabd44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f214b8a8ca4c84" /><Relationship Type="http://schemas.openxmlformats.org/officeDocument/2006/relationships/notesMaster" Target="/ppt/notesMasters/notesMaster1.xml" Id="Rd4a3de53347344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23f79dbdd44375" /><Relationship Type="http://schemas.openxmlformats.org/officeDocument/2006/relationships/notesMaster" Target="/ppt/notesMasters/notesMaster1.xml" Id="R130b70600b9b49b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6db19f7d4d444e" /><Relationship Type="http://schemas.openxmlformats.org/officeDocument/2006/relationships/notesMaster" Target="/ppt/notesMasters/notesMaster1.xml" Id="Ra10cb3cb0a8542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2d08d7e0e6e4fee" /><Relationship Type="http://schemas.openxmlformats.org/officeDocument/2006/relationships/notesMaster" Target="/ppt/notesMasters/notesMaster1.xml" Id="Re9cb83226e1441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0dada7c6044432" /><Relationship Type="http://schemas.openxmlformats.org/officeDocument/2006/relationships/notesMaster" Target="/ppt/notesMasters/notesMaster1.xml" Id="Rd45ce37709be44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11679acbeb4238" /><Relationship Type="http://schemas.openxmlformats.org/officeDocument/2006/relationships/notesMaster" Target="/ppt/notesMasters/notesMaster1.xml" Id="Rf0941a799f0e4a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第4讲 AI 辅助论文精读与深度分析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开场放下论文清单。本课要处理的是：当 AI 已经能生成结构完整的论文摘要时，研究者怎样把精读变成可复查的"原文位置—主张—人工判断"追踪关系。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课程定位以 [syllabus.md](../../course/syllabus.md) 与 [备课规划.md](../备课规划.md) 第 4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入口核验之后，继续精读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入口已经含一条主张核验，不再说第3课只做身份。五项检查为课程整理。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定位本人的拟用主张及仍缺的精读证据。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回扣第 3 课 handout §四 来源审计；[AGENTS.md](../../AGENTS.md)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原文能支持哪种转述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先独立作答，再同伴比较；以下依据只在校准时揭示。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的方法与时长有原文支持，迁移到阅读卡是个人设计判断，应与作者主张分开。B 的 50%、受控实验和全任务外推无相应依据。全文两页检查而非单张 §2 截图支持“未报告该对照实验”。来源可 verified-with-caveat：仅用于方法设计，不能支持效率或遗漏率效果。无 AI 错误时记录已查风险，不制造错误。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先独立写决定和证据，后同伴比较；校准后再回写。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[备课规划.md](../备课规划.md) 第 4 课目标段；[assignments.md](../../course/assignments.md) 研究门条件。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读懂摘要不等于理解贡献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暴露常见错误。AI 摘要可以快速建立阅读地图，但它的复述可能混入模型推断、措辞被改写、位置错指、限定遗漏。下面几页来看怎样用五步流程把精读变成可复查的追踪关系。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请学生举手：你是否曾经把 AI 摘要直接复制进阅读卡或证据表？只统计，不点名。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[AGENTS.md](../../AGENTS.md) 证据标准；[reading-list.md](../../course/reading-list.md) AI 辅助阅读协议。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第一步：AI 导航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AI 导航帮你快速建立阅读地图，决定哪些段落值得重点读。AI 指向的"图 3"可能是错的——这正是下一步要核验的。AI 导航输出只是路线提示，不是结论。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请学生说出：AI 导航的哪一项最容易被当成结论直接采纳？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§二·1 AI 导航；[reading-list.md](../../course/reading-list.md) 第二节 AI 辅助阅读协议。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第二步：原文核验与检查五项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原文核验不可跳过。核验产物是带位置的主张，例如"作者主张 X → §3.2, p.5, Fig.2"。AI 说"见图 3"但图 3 不是该内容时，要重新定位。这五项对应 Keshav 三遍阅读法第二遍的深度阅读检查点——不是要求读完整篇，而是采纳一条主张前检查它能不能用于当前项目。任务不同、指标定义不同、对照不公平或限定不匹配，都意味着这条主张不能直接迁移。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让学生用自己的论文记录一个可复查位置，并选一条主张检查五项中最容易被忽略的。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§二·2 原文核验；§三·2 回到原文检查什么；Keshav "How to Read a Paper"（[reading-list.md](../../course/reading-list.md) 第 4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第三步：AI 质疑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AI 质疑暴露你自己的盲点。你可能因为觉得方法"看起来合理"而跳过对照设计或限定条件。AI 质疑的输出仍然只是候选问题，不是判断——你需要回到原文检查每个问题，而不是直接采纳。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请学生说出一个自己最容易跳过的检查项。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§二·3 AI 质疑；[reading-list.md](../../course/reading-list.md) 第二节。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第四步：偏差审计与错读类型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偏差审计记录的是可复查的偏差，是后续评价 AI 辅助阅读工作流的重要证据。第 3 课的来源审计是入口核验，本课是内容核验——一条论文可以 身份已核验（存在且 DOI 正确，但拟用主张仍须对回原文），但 AI 对它的复述仍可能错读、过度概括或位置错指。偏差审计表记录的就是这种内容层面的偏差。未发现明显错误时，记录检查过的风险点及核验依据，不虚构错误。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无。直接进入下一步。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§二·4 偏差审计；§三·3 错读、过度概括与伪造引用；第 3 课 handout §四 来源审计；[AGENTS.md](../../AGENTS.md) "失败记录是后续评价工作流的重要证据"。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人工定稿：三种声音分开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原文、个人推断和模型建议分别记录；单列个人判断。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在阅读卡中找到三种不同来源的表述。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§二·5 人工定稿；§三·1 为什么区分 AI 主张与原文主张；[AGENTS.md](../../AGENTS.md) "AI 输出本身不构成证据"；[reading-list.md](../../course/reading-list.md) 第二节第五步。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阅读卡字段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阅读卡是本课产出，也是第 5 课证据地图的输入。每条作者主张必须标注原文位置；所有字段有值或写明不适用理由才算完整。`pending` 只留线索区；`verified-with-caveat` 保留限定且不单独支撑 `stable`；`rejected` 仅留审计。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无。进入演示。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§四 阅读卡字段；[starter-template.md](../../course/starter-template.md) 工件追踪。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Keshav：核对时长与效果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A 的方法与时长有原文支持，迁移到阅读卡是个人设计判断，应与作者主张分开。B 的 50%、受控实验和全任务外推无相应依据。全文两页检查而非单张 §2 截图支持“未报告该对照实验”。来源可 verified-with-caveat：仅用于方法设计，不能支持效率或遗漏率效果。无 AI 错误时记录已查风险，不制造错误。 原句在§2.1后接活动列表；省略部分不改变时长限定。原文公开PDF见[Sources]。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先核§2.1原句，再检查全文是否报告所称对照。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Keshav, S. "How to Read a Paper." DOI: https://doi.org/10.1145/1273445.1273458</a:t>
            </a:r>
          </a:p>
          <a:p xmlns:a="http://schemas.openxmlformats.org/drawingml/2006/main">
            <a:r>
              <a:t>- 公开 PDF：https://cs.uwaterloo.ca/~Brecht/courses/856/readings/how-to-read/keshav-paper-reading.pdf</a:t>
            </a:r>
          </a:p>
          <a:p xmlns:a="http://schemas.openxmlformats.org/drawingml/2006/main">
            <a:r>
              <a:t>- AI 输出为课堂构造，非真实模型记录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Keshav (2007), p.83 §2.1, p.84 §4；https://cs.uwaterloo.ca/~Brecht/courses/856/readings/how-to-read/keshav-paper-reading.pdf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MI 三篇文献的不同证据作用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保留MI原有真实出处和原文位置；见mi-reading-trace-demo材料及原slides来源。本页为分工索引，不以小字截图代替原文精读。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在材料包中定位一条主张并说明证据角色。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[mi-reading-card-demo.md](./mi-reading-card-demo.md)；MI-C02/C16/C31 claim-level 位置与 caveat 见 [MI trace](../lesson-03/mi-search-trace-demo.md) §5；图源见 [assets/README.md](./assets/README.md)。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真实 MI 来源与主张详见本课 mi-reading-card-demo.md。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MI 演示：从 patching 成功到受限判断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演示同一条主张如何被三篇论文共同收窄。明确 C16/C31 的设置不同，因此承担方法论限制，不冒充同设置反驳。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请学生给出 L9 还需补的一项证据：重构敏感性、随机/监督方向、held-out 或正常路径证据。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[mi-reading-card-demo.md](./mi-reading-card-demo.md)；MI-C02/C16/C31；[mi-case-registry.md](../../references/notes/mi-case-registry.md) MI-04-01–03。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本人项目：决定、核验与回写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第一段作决定并查证据；中点处理共性卡点；第二段实际回写并验证。A 的方法与时长有原文支持，迁移到阅读卡是个人设计判断，应与作者主张分开。B 的 50%、受控实验和全任务外推无相应依据。全文两页检查而非单张 §2 截图支持“未报告该对照实验”。来源可 verified-with-caveat：仅用于方法设计，不能支持效率或遗漏率效果。无 AI 错误时记录已查风险，不制造错误。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围绕本人拟用主张完成第一张完整阅读卡：AI 导航→原文核验→AI 质疑→偏差审计→人工定稿；无 AI 时以人工提问替代并标记。单列“支持本人项目什么、仍缺什么”。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[starter-template.md](../../course/starter-template.md) 最小文件结构；第 3 课候选文献表。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阅读卡：主张、依据与本人判断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不把个人判断埋入局限栏。按五步过程核验；课堂迁移完成第一张卡。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同伴从本人转述反查原文并检验允许范围。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§四 阅读卡字段；§二·4 偏差审计表。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同伴互查三问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每人约 3-5 分钟：一人用 45 秒说明论文、一条带位置主张，以及一处 AI 错误/遗漏或已检查风险；同伴按三问反馈；作者记录处理决定。反馈不要求立即改写。反馈者不替代作者修改，不形成共同提交。人数为奇数时组成三人组，每人缩短说明时间。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两人互查。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完整回收五步，第三步不能省略。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指出本次质疑使哪个判断维持或改变。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讲义 §二 五步流程、§三 主张核验与偏差审计；[AGENTS.md](../../AGENTS.md)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保留本课决定，准备下一课输入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讲述与校准：</a:t>
            </a:r>
          </a:p>
          <a:p xmlns:a="http://schemas.openxmlformats.org/drawingml/2006/main">
            <a:r>
              <a:t>完善第一张卡并选第二项来源的关键段落；不另加两篇整文精读。 每课课外最多60分钟；详见讲义。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定位实际工件与下一项动作；按既定预算收口。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课堂安排：按本稿下方 90 分钟教学路由安排；此页不另占独立时段。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Keshav, S. *ACM SIGCOMM CCR* 37(3), 83–84 (2007). DOI: [10.1145/1273445.1273458](https://doi.org/10.1145/1273445.1273458)。</a:t>
            </a:r>
          </a:p>
          <a:p xmlns:a="http://schemas.openxmlformats.org/drawingml/2006/main">
            <a:r>
              <a:t>- Booth et al. *The Craft of Research*, 5th ed. [出版社页面](https://press.uchicago.edu/ucp/books/book/chicago/C/bo215874008)。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 handout.md、judgment-task.md；../../course/judgment-path.md。教学构造仅用于方法判断；本人结果以实际记录为准。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338b9fe654884" /><Relationship Type="http://schemas.openxmlformats.org/officeDocument/2006/relationships/image" Target="/ppt/media/image.png" Id="Rc1e148980d954c1a" /><Relationship Type="http://schemas.openxmlformats.org/officeDocument/2006/relationships/image" Target="/ppt/media/image2.png" Id="R2387c45a804947f8" /><Relationship Type="http://schemas.openxmlformats.org/officeDocument/2006/relationships/image" Target="/ppt/media/image3.png" Id="Rc5f68383257f451d" /><Relationship Type="http://schemas.openxmlformats.org/officeDocument/2006/relationships/image" Target="/ppt/media/image4.png" Id="R1020e106d3ad43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fb2bd54b9940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1097491ad482a" /><Relationship Type="http://schemas.openxmlformats.org/officeDocument/2006/relationships/image" Target="/ppt/media/image2.png" Id="Rda95e281f8224b22" /><Relationship Type="http://schemas.openxmlformats.org/officeDocument/2006/relationships/image" Target="/ppt/media/image5.png" Id="Rb6f835ca00a54b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14e55238e436c" /><Relationship Type="http://schemas.openxmlformats.org/officeDocument/2006/relationships/image" Target="/ppt/media/image.png" Id="R265a951874454a6e" /><Relationship Type="http://schemas.openxmlformats.org/officeDocument/2006/relationships/image" Target="/ppt/media/image3.png" Id="R1246605e959a49e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148980d954c1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87c45a804947f8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f68383257f451d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0e106d3ad43f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95e281f8224b22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835ca00a5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a951874454a6e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46605e959a49e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5756c7ad2f4f86" /><Relationship Type="http://schemas.openxmlformats.org/officeDocument/2006/relationships/slideLayout" Target="/ppt/slideLayouts/slideLayout1.xml" Id="Rb0d1ae0e89344b97" /><Relationship Type="http://schemas.openxmlformats.org/officeDocument/2006/relationships/slideLayout" Target="/ppt/slideLayouts/slideLayout2.xml" Id="R04f133eae6e6464a" /><Relationship Type="http://schemas.openxmlformats.org/officeDocument/2006/relationships/slideLayout" Target="/ppt/slideLayouts/slideLayout3.xml" Id="Rb85529b62395403e" /><Relationship Type="http://schemas.openxmlformats.org/officeDocument/2006/relationships/slideLayout" Target="/ppt/slideLayouts/slideLayout4.xml" Id="R22b8ad0f573c465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d1ae0e89344b97"/>
    <p:sldLayoutId xmlns:r="http://schemas.openxmlformats.org/officeDocument/2006/relationships" id="2147483650" r:id="R04f133eae6e6464a"/>
    <p:sldLayoutId xmlns:r="http://schemas.openxmlformats.org/officeDocument/2006/relationships" id="2147483651" r:id="Rb85529b62395403e"/>
    <p:sldLayoutId xmlns:r="http://schemas.openxmlformats.org/officeDocument/2006/relationships" id="2147483652" r:id="R22b8ad0f573c465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443df5e194f8a" /><Relationship Type="http://schemas.openxmlformats.org/officeDocument/2006/relationships/notesSlide" Target="/ppt/notesSlides/notesSlide1.xml" Id="Rf4b18e0278e944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98709f68a704683" /><Relationship Type="http://schemas.openxmlformats.org/officeDocument/2006/relationships/notesSlide" Target="/ppt/notesSlides/notesSlide2.xml" Id="R12d4fa149a5d4a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67a8a8d1f84446" /><Relationship Type="http://schemas.openxmlformats.org/officeDocument/2006/relationships/notesSlide" Target="/ppt/notesSlides/notesSlide3.xml" Id="R4d58acf9c5df45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686862431334425" /><Relationship Type="http://schemas.openxmlformats.org/officeDocument/2006/relationships/notesSlide" Target="/ppt/notesSlides/notesSlide4.xml" Id="Rad8c327f7df74c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1009e40fa64df1" /><Relationship Type="http://schemas.openxmlformats.org/officeDocument/2006/relationships/notesSlide" Target="/ppt/notesSlides/notesSlide5.xml" Id="Ra0b80e703a5a4d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1d0a15e2954efc" /><Relationship Type="http://schemas.openxmlformats.org/officeDocument/2006/relationships/notesSlide" Target="/ppt/notesSlides/notesSlide6.xml" Id="R4447f5b5314340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27483f2dc04d0c" /><Relationship Type="http://schemas.openxmlformats.org/officeDocument/2006/relationships/notesSlide" Target="/ppt/notesSlides/notesSlide7.xml" Id="Re3d88f7dd6a04f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c9fed8357946bc" /><Relationship Type="http://schemas.openxmlformats.org/officeDocument/2006/relationships/notesSlide" Target="/ppt/notesSlides/notesSlide8.xml" Id="R2d2aaabd3db743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411ee55a314a95" /><Relationship Type="http://schemas.openxmlformats.org/officeDocument/2006/relationships/notesSlide" Target="/ppt/notesSlides/notesSlide9.xml" Id="Rce62e654e51140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a742414684410f" /><Relationship Type="http://schemas.openxmlformats.org/officeDocument/2006/relationships/notesSlide" Target="/ppt/notesSlides/notesSlide10.xml" Id="R7b3221bc38dd49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8b5081b8d04927" /><Relationship Type="http://schemas.openxmlformats.org/officeDocument/2006/relationships/image" Target="/ppt/media/image6.png" Id="R29dcc187cb654799" /><Relationship Type="http://schemas.openxmlformats.org/officeDocument/2006/relationships/notesSlide" Target="/ppt/notesSlides/notesSlide11.xml" Id="Rb219e4504b994e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2a4fe700b74254" /><Relationship Type="http://schemas.openxmlformats.org/officeDocument/2006/relationships/image" Target="/ppt/media/image7.png" Id="R1ff2e548cda24d1c" /><Relationship Type="http://schemas.openxmlformats.org/officeDocument/2006/relationships/notesSlide" Target="/ppt/notesSlides/notesSlide12.xml" Id="R07ff929b7e1d4b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ea9439d923e4dbe" /><Relationship Type="http://schemas.openxmlformats.org/officeDocument/2006/relationships/notesSlide" Target="/ppt/notesSlides/notesSlide13.xml" Id="Rba43e2be9e804e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75ea08c96d47f5" /><Relationship Type="http://schemas.openxmlformats.org/officeDocument/2006/relationships/notesSlide" Target="/ppt/notesSlides/notesSlide14.xml" Id="Rac857a9c8e0b41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970f8b498943b1" /><Relationship Type="http://schemas.openxmlformats.org/officeDocument/2006/relationships/notesSlide" Target="/ppt/notesSlides/notesSlide15.xml" Id="R0c1f94f8f32141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6a2b96608c34a2b" /><Relationship Type="http://schemas.openxmlformats.org/officeDocument/2006/relationships/notesSlide" Target="/ppt/notesSlides/notesSlide16.xml" Id="Rfd3d05c66e494e1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ec35bc031e4dcf" /><Relationship Type="http://schemas.openxmlformats.org/officeDocument/2006/relationships/notesSlide" Target="/ppt/notesSlides/notesSlide17.xml" Id="Rddf99098dfd545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52c7dc4c4b458b" /><Relationship Type="http://schemas.openxmlformats.org/officeDocument/2006/relationships/notesSlide" Target="/ppt/notesSlides/notesSlide18.xml" Id="Rc151054d25b7453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第4讲 AI 辅助论文精读与深度分析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BCE5AE3F-043E-4E95-9260-CBB4B1DC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入口核验之后，继续精读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1AC88F3B-9EDB-4532-B370-F36878EB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L3 已核：文献身份＋一条拟用主张。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303A47C6-32C1-4077-B7F4-8DC02044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L4 继续：核对任务、设置、指标、对照和限定；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区分作者主张、原文依据与本人判断。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94CA6D12-5EDC-44AF-B6FB-C159B13D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 或带完整限定的 verified-with-caveat 都可进入精读。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00B4EFFD-8D37-43C3-8BB2-2B76626D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CEC3DABF-00C5-43FA-A1DA-E7A4211C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14B0FA65-444D-4262-984B-320B215A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原文能支持哪种转述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1370FF76-DC03-478B-ABBA-6966D237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Keshav 2007｜p.83 §2.1；p.84 §2.3、§4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3198BDC6-1180-409E-957E-45DBA247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A｜三遍阅读法；首遍约 5–10 分钟；可供流程设计参考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B｜对照实验证明效率提高 50%；适用于所有科研任务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64B1E67B-C94D-454A-9CE0-63C254E7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分别核对方法、时长和效果；个人迁移判断与作者主张分开。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00A11075-563E-4EC2-9AAC-B1EA8ADB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0AFDA57E-69ED-4B68-BEB0-7CFA1C06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读懂摘要不等于理解贡献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fail-label">
            <a:extLst xmlns:a="http://schemas.openxmlformats.org/drawingml/2006/main">
              <a:ext uri="{FF2B5EF4-FFF2-40B4-BE49-F238E27FC236}">
                <a16:creationId xmlns:a16="http://schemas.microsoft.com/office/drawing/2014/main" id="{1B35B2F4-9A1E-4E48-8FDF-0470D79C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看起来完整</a:t>
            </a:r>
          </a:p>
        </p:txBody>
      </p:sp>
      <p:sp>
        <p:nvSpPr>
          <p:cNvPr id="7" name="visual-4-1-p04-fail">
            <a:extLst xmlns:a="http://schemas.openxmlformats.org/drawingml/2006/main">
              <a:ext uri="{FF2B5EF4-FFF2-40B4-BE49-F238E27FC236}">
                <a16:creationId xmlns:a16="http://schemas.microsoft.com/office/drawing/2014/main" id="{62ED506C-FF5F-4D49-AC12-6E2DC2A8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0005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“该方法消除了遗漏，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见图 2 的对照实验。”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无原文位置｜无限定｜无人工判断</a:t>
            </a:r>
          </a:p>
        </p:txBody>
      </p:sp>
      <p:sp>
        <p:nvSpPr>
          <p:cNvPr id="8" name="visual-4-2-p04-neq">
            <a:extLst xmlns:a="http://schemas.openxmlformats.org/drawingml/2006/main">
              <a:ext uri="{FF2B5EF4-FFF2-40B4-BE49-F238E27FC236}">
                <a16:creationId xmlns:a16="http://schemas.microsoft.com/office/drawing/2014/main" id="{0757C8AA-924C-4E6C-A27C-6431B298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133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9" name="visual-4-3-p04-pass-label">
            <a:extLst xmlns:a="http://schemas.openxmlformats.org/drawingml/2006/main">
              <a:ext uri="{FF2B5EF4-FFF2-40B4-BE49-F238E27FC236}">
                <a16:creationId xmlns:a16="http://schemas.microsoft.com/office/drawing/2014/main" id="{131F349A-F3EE-4481-A6FF-D795A822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96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可以复查</a:t>
            </a:r>
          </a:p>
        </p:txBody>
      </p:sp>
      <p:sp>
        <p:nvSpPr>
          <p:cNvPr id="10" name="visual-4-4-p04-pass">
            <a:extLst xmlns:a="http://schemas.openxmlformats.org/drawingml/2006/main">
              <a:ext uri="{FF2B5EF4-FFF2-40B4-BE49-F238E27FC236}">
                <a16:creationId xmlns:a16="http://schemas.microsoft.com/office/drawing/2014/main" id="{41CE9E5D-81FF-42A7-9208-E2BD6730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44767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 + 原文位置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 / 对照 / 样本 / 限定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个人判断 + 偏差审计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→ verified-with-caveat</a:t>
            </a:r>
          </a:p>
        </p:txBody>
      </p:sp>
      <p:sp>
        <p:nvSpPr>
          <p:cNvPr id="11" name="visual-4-5-p04-thesis">
            <a:extLst xmlns:a="http://schemas.openxmlformats.org/drawingml/2006/main">
              <a:ext uri="{FF2B5EF4-FFF2-40B4-BE49-F238E27FC236}">
                <a16:creationId xmlns:a16="http://schemas.microsoft.com/office/drawing/2014/main" id="{ED9BDDF9-5F38-4FB9-89C5-135E192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14900"/>
            <a:ext cx="8115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流畅 ≠ 一致；结构完整 ≠ 贡献清晰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第一步：AI 导航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map-title">
            <a:extLst xmlns:a="http://schemas.openxmlformats.org/drawingml/2006/main">
              <a:ext uri="{FF2B5EF4-FFF2-40B4-BE49-F238E27FC236}">
                <a16:creationId xmlns:a16="http://schemas.microsoft.com/office/drawing/2014/main" id="{99A98892-644F-4785-83C7-AF87CF23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先建立阅读地图</a:t>
            </a:r>
          </a:p>
        </p:txBody>
      </p:sp>
      <p:sp>
        <p:nvSpPr>
          <p:cNvPr id="7" name="visual-5-1-p05-item-0">
            <a:extLst xmlns:a="http://schemas.openxmlformats.org/drawingml/2006/main">
              <a:ext uri="{FF2B5EF4-FFF2-40B4-BE49-F238E27FC236}">
                <a16:creationId xmlns:a16="http://schemas.microsoft.com/office/drawing/2014/main" id="{987D408A-60D5-42C2-B06D-CAE5ED7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8" name="visual-5-2-p05-item-1">
            <a:extLst xmlns:a="http://schemas.openxmlformats.org/drawingml/2006/main">
              <a:ext uri="{FF2B5EF4-FFF2-40B4-BE49-F238E27FC236}">
                <a16:creationId xmlns:a16="http://schemas.microsoft.com/office/drawing/2014/main" id="{BF165C1D-16A7-4348-89C5-AD13573E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论证结构</a:t>
            </a:r>
          </a:p>
        </p:txBody>
      </p:sp>
      <p:sp>
        <p:nvSpPr>
          <p:cNvPr id="9" name="visual-5-3-p05-item-2">
            <a:extLst xmlns:a="http://schemas.openxmlformats.org/drawingml/2006/main">
              <a:ext uri="{FF2B5EF4-FFF2-40B4-BE49-F238E27FC236}">
                <a16:creationId xmlns:a16="http://schemas.microsoft.com/office/drawing/2014/main" id="{C9BAC947-CE4E-4458-B425-A01368DB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关键术语</a:t>
            </a:r>
          </a:p>
        </p:txBody>
      </p:sp>
      <p:sp>
        <p:nvSpPr>
          <p:cNvPr id="10" name="visual-5-4-p05-item-3">
            <a:extLst xmlns:a="http://schemas.openxmlformats.org/drawingml/2006/main">
              <a:ext uri="{FF2B5EF4-FFF2-40B4-BE49-F238E27FC236}">
                <a16:creationId xmlns:a16="http://schemas.microsoft.com/office/drawing/2014/main" id="{40943E77-61AB-410B-B8F9-60A3EBF0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预期证据位置</a:t>
            </a:r>
          </a:p>
        </p:txBody>
      </p:sp>
      <p:sp>
        <p:nvSpPr>
          <p:cNvPr id="11" name="visual-5-5-p05-item-4">
            <a:extLst xmlns:a="http://schemas.openxmlformats.org/drawingml/2006/main">
              <a:ext uri="{FF2B5EF4-FFF2-40B4-BE49-F238E27FC236}">
                <a16:creationId xmlns:a16="http://schemas.microsoft.com/office/drawing/2014/main" id="{33F9A141-D8E0-4525-9613-E01FFE43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待追问问题</a:t>
            </a:r>
          </a:p>
        </p:txBody>
      </p:sp>
      <p:sp>
        <p:nvSpPr>
          <p:cNvPr id="12" name="visual-5-6-p05-arrow">
            <a:extLst xmlns:a="http://schemas.openxmlformats.org/drawingml/2006/main">
              <a:ext uri="{FF2B5EF4-FFF2-40B4-BE49-F238E27FC236}">
                <a16:creationId xmlns:a16="http://schemas.microsoft.com/office/drawing/2014/main" id="{423D584F-6777-4C12-8243-F2DBD110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28900"/>
            <a:ext cx="742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5-7-p05-output">
            <a:extLst xmlns:a="http://schemas.openxmlformats.org/drawingml/2006/main">
              <a:ext uri="{FF2B5EF4-FFF2-40B4-BE49-F238E27FC236}">
                <a16:creationId xmlns:a16="http://schemas.microsoft.com/office/drawing/2014/main" id="{1EDB1C52-A7F3-4D4E-B496-FC6654D6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38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导航输出</a:t>
            </a:r>
          </a:p>
        </p:txBody>
      </p:sp>
      <p:sp>
        <p:nvSpPr>
          <p:cNvPr id="14" name="visual-5-8-p05-unverified">
            <a:extLst xmlns:a="http://schemas.openxmlformats.org/drawingml/2006/main">
              <a:ext uri="{FF2B5EF4-FFF2-40B4-BE49-F238E27FC236}">
                <a16:creationId xmlns:a16="http://schemas.microsoft.com/office/drawing/2014/main" id="{B16B47AB-3D49-4C2C-B237-9F42D8C1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33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未核验</a:t>
            </a:r>
          </a:p>
        </p:txBody>
      </p:sp>
      <p:sp>
        <p:nvSpPr>
          <p:cNvPr id="15" name="visual-5-9-p05-next">
            <a:extLst xmlns:a="http://schemas.openxmlformats.org/drawingml/2006/main">
              <a:ext uri="{FF2B5EF4-FFF2-40B4-BE49-F238E27FC236}">
                <a16:creationId xmlns:a16="http://schemas.microsoft.com/office/drawing/2014/main" id="{5DF668B7-80F8-4F46-8F1F-F04F6EA7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229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它只决定你先读哪里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下一步必须回到原文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第二步：原文核验与检查五项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locator">
            <a:extLst xmlns:a="http://schemas.openxmlformats.org/drawingml/2006/main">
              <a:ext uri="{FF2B5EF4-FFF2-40B4-BE49-F238E27FC236}">
                <a16:creationId xmlns:a16="http://schemas.microsoft.com/office/drawing/2014/main" id="{C7909E1D-AF5A-4335-823D-B4805F3A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14400"/>
            <a:ext cx="1078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先留下两个可复查位置：§3.2, p.5 ｜ Fig.2 / Table 1</a:t>
            </a:r>
          </a:p>
        </p:txBody>
      </p:sp>
      <p:sp>
        <p:nvSpPr>
          <p:cNvPr id="7" name="visual-6-1-p06-table-h-0">
            <a:extLst xmlns:a="http://schemas.openxmlformats.org/drawingml/2006/main">
              <a:ext uri="{FF2B5EF4-FFF2-40B4-BE49-F238E27FC236}">
                <a16:creationId xmlns:a16="http://schemas.microsoft.com/office/drawing/2014/main" id="{A24C45F2-C70C-4627-8021-618A4DF2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visual-6-2-p06-table-h-1">
            <a:extLst xmlns:a="http://schemas.openxmlformats.org/drawingml/2006/main">
              <a:ext uri="{FF2B5EF4-FFF2-40B4-BE49-F238E27FC236}">
                <a16:creationId xmlns:a16="http://schemas.microsoft.com/office/drawing/2014/main" id="{46C67A5F-A3D5-4728-821E-F40939C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检查问题</a:t>
            </a:r>
          </a:p>
        </p:txBody>
      </p:sp>
      <p:sp>
        <p:nvSpPr>
          <p:cNvPr id="9" name="visual-6-3-p06-table-r0-0">
            <a:extLst xmlns:a="http://schemas.openxmlformats.org/drawingml/2006/main">
              <a:ext uri="{FF2B5EF4-FFF2-40B4-BE49-F238E27FC236}">
                <a16:creationId xmlns:a16="http://schemas.microsoft.com/office/drawing/2014/main" id="{4E8AB864-7AF6-443E-A7FE-32F96E4A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visual-6-4-p06-table-r0-1">
            <a:extLst xmlns:a="http://schemas.openxmlformats.org/drawingml/2006/main">
              <a:ext uri="{FF2B5EF4-FFF2-40B4-BE49-F238E27FC236}">
                <a16:creationId xmlns:a16="http://schemas.microsoft.com/office/drawing/2014/main" id="{03FAC97A-2523-4F65-A411-C8634BEA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原文任务和当前项目一样吗？</a:t>
            </a:r>
          </a:p>
        </p:txBody>
      </p:sp>
      <p:sp>
        <p:nvSpPr>
          <p:cNvPr id="11" name="visual-6-5-p06-table-r1-0">
            <a:extLst xmlns:a="http://schemas.openxmlformats.org/drawingml/2006/main">
              <a:ext uri="{FF2B5EF4-FFF2-40B4-BE49-F238E27FC236}">
                <a16:creationId xmlns:a16="http://schemas.microsoft.com/office/drawing/2014/main" id="{996AFB0E-179D-4FA7-8934-DE38D67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设置</a:t>
            </a:r>
          </a:p>
        </p:txBody>
      </p:sp>
      <p:sp>
        <p:nvSpPr>
          <p:cNvPr id="12" name="visual-6-6-p06-table-r1-1">
            <a:extLst xmlns:a="http://schemas.openxmlformats.org/drawingml/2006/main">
              <a:ext uri="{FF2B5EF4-FFF2-40B4-BE49-F238E27FC236}">
                <a16:creationId xmlns:a16="http://schemas.microsoft.com/office/drawing/2014/main" id="{65A279D9-F3AB-417D-B31B-F3155EE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0507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输入、规模与条件是什么？</a:t>
            </a:r>
          </a:p>
        </p:txBody>
      </p:sp>
      <p:sp>
        <p:nvSpPr>
          <p:cNvPr id="13" name="visual-6-7-p06-table-r2-0">
            <a:extLst xmlns:a="http://schemas.openxmlformats.org/drawingml/2006/main">
              <a:ext uri="{FF2B5EF4-FFF2-40B4-BE49-F238E27FC236}">
                <a16:creationId xmlns:a16="http://schemas.microsoft.com/office/drawing/2014/main" id="{757A6FF8-4361-46FB-8B5C-2A6484F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4" name="visual-6-8-p06-table-r2-1">
            <a:extLst xmlns:a="http://schemas.openxmlformats.org/drawingml/2006/main">
              <a:ext uri="{FF2B5EF4-FFF2-40B4-BE49-F238E27FC236}">
                <a16:creationId xmlns:a16="http://schemas.microsoft.com/office/drawing/2014/main" id="{BE5D2104-168D-4C52-9513-F6BAD56E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4800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度量如何定义？与你的指标一致吗？</a:t>
            </a:r>
          </a:p>
        </p:txBody>
      </p:sp>
      <p:sp>
        <p:nvSpPr>
          <p:cNvPr id="15" name="visual-6-9-p06-table-r3-0">
            <a:extLst xmlns:a="http://schemas.openxmlformats.org/drawingml/2006/main">
              <a:ext uri="{FF2B5EF4-FFF2-40B4-BE49-F238E27FC236}">
                <a16:creationId xmlns:a16="http://schemas.microsoft.com/office/drawing/2014/main" id="{92E00941-7A91-4341-BA32-CC85AF36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16" name="visual-6-10-p06-table-r3-1">
            <a:extLst xmlns:a="http://schemas.openxmlformats.org/drawingml/2006/main">
              <a:ext uri="{FF2B5EF4-FFF2-40B4-BE49-F238E27FC236}">
                <a16:creationId xmlns:a16="http://schemas.microsoft.com/office/drawing/2014/main" id="{50641DD3-5461-4CC1-BD97-46F71633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9092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是什么？比较公平吗？</a:t>
            </a:r>
          </a:p>
        </p:txBody>
      </p:sp>
      <p:sp>
        <p:nvSpPr>
          <p:cNvPr id="17" name="visual-6-11-p06-table-r4-0">
            <a:extLst xmlns:a="http://schemas.openxmlformats.org/drawingml/2006/main">
              <a:ext uri="{FF2B5EF4-FFF2-40B4-BE49-F238E27FC236}">
                <a16:creationId xmlns:a16="http://schemas.microsoft.com/office/drawing/2014/main" id="{D7E96963-9A0F-40D6-B93D-8A05181C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</a:t>
            </a:r>
          </a:p>
        </p:txBody>
      </p:sp>
      <p:sp>
        <p:nvSpPr>
          <p:cNvPr id="18" name="visual-6-12-p06-table-r4-1">
            <a:extLst xmlns:a="http://schemas.openxmlformats.org/drawingml/2006/main">
              <a:ext uri="{FF2B5EF4-FFF2-40B4-BE49-F238E27FC236}">
                <a16:creationId xmlns:a16="http://schemas.microsoft.com/office/drawing/2014/main" id="{A8AD921F-857A-4271-9E59-7359A461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338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结论只在什么范围内成立？</a:t>
            </a:r>
          </a:p>
        </p:txBody>
      </p:sp>
      <p:sp>
        <p:nvSpPr>
          <p:cNvPr id="19" name="visual-6-13-p06-rule">
            <a:extLst xmlns:a="http://schemas.openxmlformats.org/drawingml/2006/main">
              <a:ext uri="{FF2B5EF4-FFF2-40B4-BE49-F238E27FC236}">
                <a16:creationId xmlns:a16="http://schemas.microsoft.com/office/drawing/2014/main" id="{887145EE-5900-4F23-8C7A-75719E7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没有原文位置的主张，不能进入阅读卡的“作者主张”栏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第三步：AI 质疑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question">
            <a:extLst xmlns:a="http://schemas.openxmlformats.org/drawingml/2006/main">
              <a:ext uri="{FF2B5EF4-FFF2-40B4-BE49-F238E27FC236}">
                <a16:creationId xmlns:a16="http://schemas.microsoft.com/office/drawing/2014/main" id="{4B741861-5EE5-4F9A-AEE6-2542191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让 AI 根据已核验内容提出候选问题</a:t>
            </a:r>
          </a:p>
        </p:txBody>
      </p:sp>
      <p:sp>
        <p:nvSpPr>
          <p:cNvPr id="7" name="visual-7-1-p07-q-0">
            <a:extLst xmlns:a="http://schemas.openxmlformats.org/drawingml/2006/main">
              <a:ext uri="{FF2B5EF4-FFF2-40B4-BE49-F238E27FC236}">
                <a16:creationId xmlns:a16="http://schemas.microsoft.com/office/drawing/2014/main" id="{BE6430DD-FC7E-4B32-946B-3EFC5F9A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什么条件会推翻这个结果？</a:t>
            </a:r>
          </a:p>
        </p:txBody>
      </p:sp>
      <p:sp>
        <p:nvSpPr>
          <p:cNvPr id="8" name="visual-7-2-p07-q-1">
            <a:extLst xmlns:a="http://schemas.openxmlformats.org/drawingml/2006/main">
              <a:ext uri="{FF2B5EF4-FFF2-40B4-BE49-F238E27FC236}">
                <a16:creationId xmlns:a16="http://schemas.microsoft.com/office/drawing/2014/main" id="{DA335E1B-6F6A-4FD8-9A90-57A880A9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145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对照公平吗，baseline 是否被低估？</a:t>
            </a:r>
          </a:p>
        </p:txBody>
      </p:sp>
      <p:sp>
        <p:nvSpPr>
          <p:cNvPr id="9" name="visual-7-3-p07-q-2">
            <a:extLst xmlns:a="http://schemas.openxmlformats.org/drawingml/2006/main">
              <a:ext uri="{FF2B5EF4-FFF2-40B4-BE49-F238E27FC236}">
                <a16:creationId xmlns:a16="http://schemas.microsoft.com/office/drawing/2014/main" id="{7A7EAF54-732D-443F-A6B2-F6B94316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样本规模支撑当前结论强度吗？</a:t>
            </a:r>
          </a:p>
        </p:txBody>
      </p:sp>
      <p:sp>
        <p:nvSpPr>
          <p:cNvPr id="10" name="visual-7-4-p07-q-3">
            <a:extLst xmlns:a="http://schemas.openxmlformats.org/drawingml/2006/main">
              <a:ext uri="{FF2B5EF4-FFF2-40B4-BE49-F238E27FC236}">
                <a16:creationId xmlns:a16="http://schemas.microsoft.com/office/drawing/2014/main" id="{A449776E-9038-4124-94D7-E56B374D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笔记是否遗漏原文限定条件？</a:t>
            </a:r>
          </a:p>
        </p:txBody>
      </p:sp>
      <p:sp>
        <p:nvSpPr>
          <p:cNvPr id="11" name="visual-7-5-p07-q-4">
            <a:extLst xmlns:a="http://schemas.openxmlformats.org/drawingml/2006/main">
              <a:ext uri="{FF2B5EF4-FFF2-40B4-BE49-F238E27FC236}">
                <a16:creationId xmlns:a16="http://schemas.microsoft.com/office/drawing/2014/main" id="{B49B4703-D81A-4B9B-94A2-F11B81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是否存在原文未讨论的替代解释？</a:t>
            </a:r>
          </a:p>
        </p:txBody>
      </p:sp>
      <p:sp>
        <p:nvSpPr>
          <p:cNvPr id="12" name="visual-7-6-p07-side">
            <a:extLst xmlns:a="http://schemas.openxmlformats.org/drawingml/2006/main">
              <a:ext uri="{FF2B5EF4-FFF2-40B4-BE49-F238E27FC236}">
                <a16:creationId xmlns:a16="http://schemas.microsoft.com/office/drawing/2014/main" id="{63001432-EA50-4389-BAF1-A6038D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38300"/>
            <a:ext cx="26670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候选问题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3" name="visual-7-7-p07-return">
            <a:extLst xmlns:a="http://schemas.openxmlformats.org/drawingml/2006/main">
              <a:ext uri="{FF2B5EF4-FFF2-40B4-BE49-F238E27FC236}">
                <a16:creationId xmlns:a16="http://schemas.microsoft.com/office/drawing/2014/main" id="{42928F8B-3FAE-4B93-85B5-08E981F4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每个问题都要回到原文检查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第四步：偏差审计与错读类型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b-0">
            <a:extLst xmlns:a="http://schemas.openxmlformats.org/drawingml/2006/main">
              <a:ext uri="{FF2B5EF4-FFF2-40B4-BE49-F238E27FC236}">
                <a16:creationId xmlns:a16="http://schemas.microsoft.com/office/drawing/2014/main" id="{295ABDB8-A0EE-48F2-870B-7DA15F7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过度概括</a:t>
            </a:r>
          </a:p>
        </p:txBody>
      </p:sp>
      <p:sp>
        <p:nvSpPr>
          <p:cNvPr id="7" name="visual-8-1-p08-e-0">
            <a:extLst xmlns:a="http://schemas.openxmlformats.org/drawingml/2006/main">
              <a:ext uri="{FF2B5EF4-FFF2-40B4-BE49-F238E27FC236}">
                <a16:creationId xmlns:a16="http://schemas.microsoft.com/office/drawing/2014/main" id="{A047448A-F53B-4E4C-B8BD-52A52A9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096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降低 → 消除</a:t>
            </a:r>
          </a:p>
        </p:txBody>
      </p:sp>
      <p:sp>
        <p:nvSpPr>
          <p:cNvPr id="8" name="visual-8-2-p08-b-1">
            <a:extLst xmlns:a="http://schemas.openxmlformats.org/drawingml/2006/main">
              <a:ext uri="{FF2B5EF4-FFF2-40B4-BE49-F238E27FC236}">
                <a16:creationId xmlns:a16="http://schemas.microsoft.com/office/drawing/2014/main" id="{2AE4C211-E54B-4D54-9DA7-773C4EE2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位置错指</a:t>
            </a:r>
          </a:p>
        </p:txBody>
      </p:sp>
      <p:sp>
        <p:nvSpPr>
          <p:cNvPr id="9" name="visual-8-3-p08-e-1">
            <a:extLst xmlns:a="http://schemas.openxmlformats.org/drawingml/2006/main">
              <a:ext uri="{FF2B5EF4-FFF2-40B4-BE49-F238E27FC236}">
                <a16:creationId xmlns:a16="http://schemas.microsoft.com/office/drawing/2014/main" id="{F80C6F1C-D61A-4FD0-93DE-087E727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Fig.2 → Table 1</a:t>
            </a:r>
          </a:p>
        </p:txBody>
      </p:sp>
      <p:sp>
        <p:nvSpPr>
          <p:cNvPr id="10" name="visual-8-4-p08-b-2">
            <a:extLst xmlns:a="http://schemas.openxmlformats.org/drawingml/2006/main">
              <a:ext uri="{FF2B5EF4-FFF2-40B4-BE49-F238E27FC236}">
                <a16:creationId xmlns:a16="http://schemas.microsoft.com/office/drawing/2014/main" id="{23CF5CFF-29D3-4F68-A7EF-BDF744E3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限定遗漏</a:t>
            </a:r>
          </a:p>
        </p:txBody>
      </p:sp>
      <p:sp>
        <p:nvSpPr>
          <p:cNvPr id="11" name="visual-8-5-p08-e-2">
            <a:extLst xmlns:a="http://schemas.openxmlformats.org/drawingml/2006/main">
              <a:ext uri="{FF2B5EF4-FFF2-40B4-BE49-F238E27FC236}">
                <a16:creationId xmlns:a16="http://schemas.microsoft.com/office/drawing/2014/main" id="{FB28EF87-F67C-49D7-8E6A-CF4BD2B1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38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计算机领域 → 全部领域</a:t>
            </a:r>
          </a:p>
        </p:txBody>
      </p:sp>
      <p:sp>
        <p:nvSpPr>
          <p:cNvPr id="12" name="visual-8-6-p08-b-3">
            <a:extLst xmlns:a="http://schemas.openxmlformats.org/drawingml/2006/main">
              <a:ext uri="{FF2B5EF4-FFF2-40B4-BE49-F238E27FC236}">
                <a16:creationId xmlns:a16="http://schemas.microsoft.com/office/drawing/2014/main" id="{14EA3A24-C19E-4F32-876A-322BFE3D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张冠李戴</a:t>
            </a:r>
          </a:p>
        </p:txBody>
      </p:sp>
      <p:sp>
        <p:nvSpPr>
          <p:cNvPr id="13" name="visual-8-7-p08-e-3">
            <a:extLst xmlns:a="http://schemas.openxmlformats.org/drawingml/2006/main">
              <a:ext uri="{FF2B5EF4-FFF2-40B4-BE49-F238E27FC236}">
                <a16:creationId xmlns:a16="http://schemas.microsoft.com/office/drawing/2014/main" id="{BA5CC1AF-71FB-4F2C-B480-AC8E8D2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5277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参考文献方法 → 本文方法</a:t>
            </a:r>
          </a:p>
        </p:txBody>
      </p:sp>
      <p:sp>
        <p:nvSpPr>
          <p:cNvPr id="14" name="visual-8-8-p08-b-4">
            <a:extLst xmlns:a="http://schemas.openxmlformats.org/drawingml/2006/main">
              <a:ext uri="{FF2B5EF4-FFF2-40B4-BE49-F238E27FC236}">
                <a16:creationId xmlns:a16="http://schemas.microsoft.com/office/drawing/2014/main" id="{D4006983-BA6F-4B71-A7E2-5B5BF233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伪造引用</a:t>
            </a:r>
          </a:p>
        </p:txBody>
      </p:sp>
      <p:sp>
        <p:nvSpPr>
          <p:cNvPr id="15" name="visual-8-9-p08-e-4">
            <a:extLst xmlns:a="http://schemas.openxmlformats.org/drawingml/2006/main">
              <a:ext uri="{FF2B5EF4-FFF2-40B4-BE49-F238E27FC236}">
                <a16:creationId xmlns:a16="http://schemas.microsoft.com/office/drawing/2014/main" id="{98DE0B0B-CB67-403E-9166-0ED0F553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题名 / 作者 / 页码不符</a:t>
            </a:r>
          </a:p>
        </p:txBody>
      </p:sp>
      <p:sp>
        <p:nvSpPr>
          <p:cNvPr id="16" name="visual-8-10-p08-record-title">
            <a:extLst xmlns:a="http://schemas.openxmlformats.org/drawingml/2006/main">
              <a:ext uri="{FF2B5EF4-FFF2-40B4-BE49-F238E27FC236}">
                <a16:creationId xmlns:a16="http://schemas.microsoft.com/office/drawing/2014/main" id="{F559CA89-7322-446E-B0F8-A42557B7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009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最小偏差记录</a:t>
            </a:r>
          </a:p>
        </p:txBody>
      </p:sp>
      <p:sp>
        <p:nvSpPr>
          <p:cNvPr id="17" name="visual-8-11-p08-record">
            <a:extLst xmlns:a="http://schemas.openxmlformats.org/drawingml/2006/main">
              <a:ext uri="{FF2B5EF4-FFF2-40B4-BE49-F238E27FC236}">
                <a16:creationId xmlns:a16="http://schemas.microsoft.com/office/drawing/2014/main" id="{F6E1A69E-52FA-45C7-896D-E71200C4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00200"/>
            <a:ext cx="37719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输出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原文实际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核验位置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处理决定</a:t>
            </a:r>
          </a:p>
        </p:txBody>
      </p:sp>
      <p:sp>
        <p:nvSpPr>
          <p:cNvPr id="18" name="visual-8-12-p08-honesty">
            <a:extLst xmlns:a="http://schemas.openxmlformats.org/drawingml/2006/main">
              <a:ext uri="{FF2B5EF4-FFF2-40B4-BE49-F238E27FC236}">
                <a16:creationId xmlns:a16="http://schemas.microsoft.com/office/drawing/2014/main" id="{77C78A13-E08A-4F7C-92B3-4146AAFF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未发现明显错误？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记录已检查风险与核验依据，不虚构错误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00109AAD-43CB-4098-BBFB-C77325B2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人工定稿：三种声音分开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4F8CF520-D183-4970-A516-CB703203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作者主张｜作者说了什么，原文在哪里？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E1D4A502-644A-4F7D-9752-1999B82C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原文依据｜任务、设置、结果与限定。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个人判断｜它支持本人项目什么，仍缺什么？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34EDCDAE-92AB-41D0-ADB3-FD4CEF82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建议｜保留为待核验输入；由作者决定采用、限缩或删除。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29322301-76D2-45D7-A0BC-6E1F4774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6E720E28-E6EB-4876-BABC-7128B650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阅读卡字段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card-h-0">
            <a:extLst xmlns:a="http://schemas.openxmlformats.org/drawingml/2006/main">
              <a:ext uri="{FF2B5EF4-FFF2-40B4-BE49-F238E27FC236}">
                <a16:creationId xmlns:a16="http://schemas.microsoft.com/office/drawing/2014/main" id="{69481ED9-8A69-4BA5-9213-08ACCFBA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阅读卡字段</a:t>
            </a:r>
          </a:p>
        </p:txBody>
      </p:sp>
      <p:sp>
        <p:nvSpPr>
          <p:cNvPr id="7" name="visual-10-1-p10-card-h-1">
            <a:extLst xmlns:a="http://schemas.openxmlformats.org/drawingml/2006/main">
              <a:ext uri="{FF2B5EF4-FFF2-40B4-BE49-F238E27FC236}">
                <a16:creationId xmlns:a16="http://schemas.microsoft.com/office/drawing/2014/main" id="{DCD07424-B550-4781-9D5A-FA4342B2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87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最低记录</a:t>
            </a:r>
          </a:p>
        </p:txBody>
      </p:sp>
      <p:sp>
        <p:nvSpPr>
          <p:cNvPr id="8" name="visual-10-2-p10-card-r0-0">
            <a:extLst xmlns:a="http://schemas.openxmlformats.org/drawingml/2006/main">
              <a:ext uri="{FF2B5EF4-FFF2-40B4-BE49-F238E27FC236}">
                <a16:creationId xmlns:a16="http://schemas.microsoft.com/office/drawing/2014/main" id="{CC78C327-7000-4A4F-98E6-D88BDB22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论文身份</a:t>
            </a:r>
          </a:p>
        </p:txBody>
      </p:sp>
      <p:sp>
        <p:nvSpPr>
          <p:cNvPr id="9" name="visual-10-3-p10-card-r0-1">
            <a:extLst xmlns:a="http://schemas.openxmlformats.org/drawingml/2006/main">
              <a:ext uri="{FF2B5EF4-FFF2-40B4-BE49-F238E27FC236}">
                <a16:creationId xmlns:a16="http://schemas.microsoft.com/office/drawing/2014/main" id="{D95EC17E-676E-46B7-B892-3A11755E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257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 / 作者 / 年份 / 正式来源 / DOI</a:t>
            </a:r>
          </a:p>
        </p:txBody>
      </p:sp>
      <p:sp>
        <p:nvSpPr>
          <p:cNvPr id="10" name="visual-10-4-p10-card-r1-0">
            <a:extLst xmlns:a="http://schemas.openxmlformats.org/drawingml/2006/main">
              <a:ext uri="{FF2B5EF4-FFF2-40B4-BE49-F238E27FC236}">
                <a16:creationId xmlns:a16="http://schemas.microsoft.com/office/drawing/2014/main" id="{476C7E6F-B005-4489-AD26-DFEC8BF9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来源核验 + 证据角色</a:t>
            </a:r>
          </a:p>
        </p:txBody>
      </p:sp>
      <p:sp>
        <p:nvSpPr>
          <p:cNvPr id="11" name="visual-10-5-p10-card-r1-1">
            <a:extLst xmlns:a="http://schemas.openxmlformats.org/drawingml/2006/main">
              <a:ext uri="{FF2B5EF4-FFF2-40B4-BE49-F238E27FC236}">
                <a16:creationId xmlns:a16="http://schemas.microsoft.com/office/drawing/2014/main" id="{40273C86-79CC-4AE4-A537-76139921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38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四态；主 / 补充 / 对比 / 线索</a:t>
            </a:r>
          </a:p>
        </p:txBody>
      </p:sp>
      <p:sp>
        <p:nvSpPr>
          <p:cNvPr id="12" name="visual-10-6-p10-card-r2-0">
            <a:extLst xmlns:a="http://schemas.openxmlformats.org/drawingml/2006/main">
              <a:ext uri="{FF2B5EF4-FFF2-40B4-BE49-F238E27FC236}">
                <a16:creationId xmlns:a16="http://schemas.microsoft.com/office/drawing/2014/main" id="{A33F593C-0705-4FBF-8490-5526BCB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13" name="visual-10-7-p10-card-r2-1">
            <a:extLst xmlns:a="http://schemas.openxmlformats.org/drawingml/2006/main">
              <a:ext uri="{FF2B5EF4-FFF2-40B4-BE49-F238E27FC236}">
                <a16:creationId xmlns:a16="http://schemas.microsoft.com/office/drawing/2014/main" id="{9C85B249-466C-4678-9C3E-4B47F8A1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19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本次阅读要回答的一句话</a:t>
            </a:r>
          </a:p>
        </p:txBody>
      </p:sp>
      <p:sp>
        <p:nvSpPr>
          <p:cNvPr id="14" name="visual-10-8-p10-card-r3-0">
            <a:extLst xmlns:a="http://schemas.openxmlformats.org/drawingml/2006/main">
              <a:ext uri="{FF2B5EF4-FFF2-40B4-BE49-F238E27FC236}">
                <a16:creationId xmlns:a16="http://schemas.microsoft.com/office/drawing/2014/main" id="{E50B2F9D-DFF2-4D5F-9369-60838F0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 + 位置</a:t>
            </a:r>
          </a:p>
        </p:txBody>
      </p:sp>
      <p:sp>
        <p:nvSpPr>
          <p:cNvPr id="15" name="visual-10-9-p10-card-r3-1">
            <a:extLst xmlns:a="http://schemas.openxmlformats.org/drawingml/2006/main">
              <a:ext uri="{FF2B5EF4-FFF2-40B4-BE49-F238E27FC236}">
                <a16:creationId xmlns:a16="http://schemas.microsoft.com/office/drawing/2014/main" id="{E0D320D3-74C9-432E-99BB-69D74A7F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00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章节 / 页码 / 图表；与个人判断分栏</a:t>
            </a:r>
          </a:p>
        </p:txBody>
      </p:sp>
      <p:sp>
        <p:nvSpPr>
          <p:cNvPr id="16" name="visual-10-10-p10-card-r4-0">
            <a:extLst xmlns:a="http://schemas.openxmlformats.org/drawingml/2006/main">
              <a:ext uri="{FF2B5EF4-FFF2-40B4-BE49-F238E27FC236}">
                <a16:creationId xmlns:a16="http://schemas.microsoft.com/office/drawing/2014/main" id="{A0444D1A-541E-4606-9B00-238FB9C2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原文证据</a:t>
            </a:r>
          </a:p>
        </p:txBody>
      </p:sp>
      <p:sp>
        <p:nvSpPr>
          <p:cNvPr id="17" name="visual-10-11-p10-card-r4-1">
            <a:extLst xmlns:a="http://schemas.openxmlformats.org/drawingml/2006/main">
              <a:ext uri="{FF2B5EF4-FFF2-40B4-BE49-F238E27FC236}">
                <a16:creationId xmlns:a16="http://schemas.microsoft.com/office/drawing/2014/main" id="{E93B3593-27CD-486A-8F51-437D44C2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 / 对照 / 样本 / 限定；N/A + 理由可接受</a:t>
            </a:r>
          </a:p>
        </p:txBody>
      </p:sp>
      <p:sp>
        <p:nvSpPr>
          <p:cNvPr id="18" name="visual-10-12-p10-card-r5-0">
            <a:extLst xmlns:a="http://schemas.openxmlformats.org/drawingml/2006/main">
              <a:ext uri="{FF2B5EF4-FFF2-40B4-BE49-F238E27FC236}">
                <a16:creationId xmlns:a16="http://schemas.microsoft.com/office/drawing/2014/main" id="{E3772FCE-7F95-4E2A-9BB6-4AB57876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局限与边界</a:t>
            </a:r>
          </a:p>
        </p:txBody>
      </p:sp>
      <p:sp>
        <p:nvSpPr>
          <p:cNvPr id="19" name="visual-10-13-p10-card-r5-1">
            <a:extLst xmlns:a="http://schemas.openxmlformats.org/drawingml/2006/main">
              <a:ext uri="{FF2B5EF4-FFF2-40B4-BE49-F238E27FC236}">
                <a16:creationId xmlns:a16="http://schemas.microsoft.com/office/drawing/2014/main" id="{0307B5BA-97BB-42FB-ADC9-0B8A7C31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作者自述 + 适用条件</a:t>
            </a:r>
          </a:p>
        </p:txBody>
      </p:sp>
      <p:sp>
        <p:nvSpPr>
          <p:cNvPr id="20" name="visual-10-14-p10-card-r6-0">
            <a:extLst xmlns:a="http://schemas.openxmlformats.org/drawingml/2006/main">
              <a:ext uri="{FF2B5EF4-FFF2-40B4-BE49-F238E27FC236}">
                <a16:creationId xmlns:a16="http://schemas.microsoft.com/office/drawing/2014/main" id="{C7B59D71-926B-4A53-95EF-D6D349BA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个人判断</a:t>
            </a:r>
          </a:p>
        </p:txBody>
      </p:sp>
      <p:sp>
        <p:nvSpPr>
          <p:cNvPr id="21" name="visual-10-15-p10-card-r6-1">
            <a:extLst xmlns:a="http://schemas.openxmlformats.org/drawingml/2006/main">
              <a:ext uri="{FF2B5EF4-FFF2-40B4-BE49-F238E27FC236}">
                <a16:creationId xmlns:a16="http://schemas.microsoft.com/office/drawing/2014/main" id="{9F09AC3D-DAE2-4BA5-9909-36FFDEA2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43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适用性 / 待验证 / 与项目关系</a:t>
            </a:r>
          </a:p>
        </p:txBody>
      </p:sp>
      <p:sp>
        <p:nvSpPr>
          <p:cNvPr id="22" name="visual-10-16-p10-card-r7-0">
            <a:extLst xmlns:a="http://schemas.openxmlformats.org/drawingml/2006/main">
              <a:ext uri="{FF2B5EF4-FFF2-40B4-BE49-F238E27FC236}">
                <a16:creationId xmlns:a16="http://schemas.microsoft.com/office/drawing/2014/main" id="{881F3980-3821-405B-9545-B9EC34B3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建议（待核验）</a:t>
            </a:r>
          </a:p>
        </p:txBody>
      </p:sp>
      <p:sp>
        <p:nvSpPr>
          <p:cNvPr id="23" name="visual-10-17-p10-card-r7-1">
            <a:extLst xmlns:a="http://schemas.openxmlformats.org/drawingml/2006/main">
              <a:ext uri="{FF2B5EF4-FFF2-40B4-BE49-F238E27FC236}">
                <a16:creationId xmlns:a16="http://schemas.microsoft.com/office/drawing/2014/main" id="{7D11F462-F3B2-482F-BDF2-49781E0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只作导航、质疑或候选解释</a:t>
            </a:r>
          </a:p>
        </p:txBody>
      </p:sp>
      <p:sp>
        <p:nvSpPr>
          <p:cNvPr id="24" name="visual-10-18-p10-card-r8-0">
            <a:extLst xmlns:a="http://schemas.openxmlformats.org/drawingml/2006/main">
              <a:ext uri="{FF2B5EF4-FFF2-40B4-BE49-F238E27FC236}">
                <a16:creationId xmlns:a16="http://schemas.microsoft.com/office/drawing/2014/main" id="{811CD83A-E3C7-4942-B02E-C4D6BEAE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25" name="visual-10-19-p10-card-r8-1">
            <a:extLst xmlns:a="http://schemas.openxmlformats.org/drawingml/2006/main">
              <a:ext uri="{FF2B5EF4-FFF2-40B4-BE49-F238E27FC236}">
                <a16:creationId xmlns:a16="http://schemas.microsoft.com/office/drawing/2014/main" id="{3A1DE419-D928-49BA-8911-99555F9A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05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输出 / 原文实际 / 位置 / 处理</a:t>
            </a:r>
          </a:p>
        </p:txBody>
      </p:sp>
      <p:sp>
        <p:nvSpPr>
          <p:cNvPr id="26" name="visual-10-20-p10-card-r9-0">
            <a:extLst xmlns:a="http://schemas.openxmlformats.org/drawingml/2006/main">
              <a:ext uri="{FF2B5EF4-FFF2-40B4-BE49-F238E27FC236}">
                <a16:creationId xmlns:a16="http://schemas.microsoft.com/office/drawing/2014/main" id="{CDD08828-19DE-431F-A904-58C952D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内容状态</a:t>
            </a:r>
          </a:p>
        </p:txBody>
      </p:sp>
      <p:sp>
        <p:nvSpPr>
          <p:cNvPr id="27" name="visual-10-21-p10-card-r9-1">
            <a:extLst xmlns:a="http://schemas.openxmlformats.org/drawingml/2006/main">
              <a:ext uri="{FF2B5EF4-FFF2-40B4-BE49-F238E27FC236}">
                <a16:creationId xmlns:a16="http://schemas.microsoft.com/office/drawing/2014/main" id="{6542FF74-FF75-42F1-8C23-B114538B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 / verified / verified-with-caveat / rejected</a:t>
            </a:r>
          </a:p>
        </p:txBody>
      </p:sp>
      <p:sp>
        <p:nvSpPr>
          <p:cNvPr id="28" name="visual-10-22-p10-save">
            <a:extLst xmlns:a="http://schemas.openxmlformats.org/drawingml/2006/main">
              <a:ext uri="{FF2B5EF4-FFF2-40B4-BE49-F238E27FC236}">
                <a16:creationId xmlns:a16="http://schemas.microsoft.com/office/drawing/2014/main" id="{3B34DD55-4AC3-4738-8743-3DD3E10C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94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 = 每一字段有内容，或明确 N/A + 理由；verified-with-caveat 进入主格时必须保留限定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6E1CCDF0-FB23-4C8C-A91F-3DCED087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Keshav：核对时长与效果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B9CF33B4-5609-41F7-AB1F-3A497F33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p.83 §2.1 原文：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“This pass should take about five to ten minutes”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7931221D-E622-493C-ADC8-618244E0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p.84 §4：作者回顾多年使用经验。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全文检查位置：摘要、§2、§4；共两页。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F745A3FF-3098-4EB5-95CB-E54B6156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教学构造转述：“效率提高50%”</a:t>
            </a:r>
          </a:p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请定位相应对照实验；方法建议与效果证据分别判断。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8A076D0F-48EE-430A-8232-50C4D29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7F25BB6D-55FD-40B7-B32A-693E624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41F732AF-4409-4BAD-9DB6-B37B1872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三篇文献的不同证据作用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7F280349-F69A-40E6-B20D-2FE134EB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真实 MI 案例｜C02、C16、C31；完整原文与位置见材料包。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B0B66C2E-ED6D-46C7-BBB0-CE292025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C02｜相关任务中的直接干预结果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C16｜SAE 特征之外仍需 patch 的限制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C31｜patching 可激活 dormant pathway 的效度威胁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AADB5E11-EABF-4F06-8D0F-3AE63509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逐条查原文：它支持哪条主张？</a:t>
            </a:r>
          </a:p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限制、反例和直接反驳如何区分？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3DD81503-9042-424D-9F85-1BEA9D9F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8A160B11-8775-45E7-B905-7A0FA3BF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演示：从 patching 成功到受限判断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real">
            <a:extLst xmlns:a="http://schemas.openxmlformats.org/drawingml/2006/main">
              <a:ext uri="{FF2B5EF4-FFF2-40B4-BE49-F238E27FC236}">
                <a16:creationId xmlns:a16="http://schemas.microsoft.com/office/drawing/2014/main" id="{E422D69B-EB97-43EC-9C45-1BEEA488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57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真实来源阅读卡｜C02 + C16 + C31</a:t>
            </a:r>
          </a:p>
        </p:txBody>
      </p:sp>
      <p:sp>
        <p:nvSpPr>
          <p:cNvPr id="7" name="visual-13-1-p13-head-0">
            <a:extLst xmlns:a="http://schemas.openxmlformats.org/drawingml/2006/main">
              <a:ext uri="{FF2B5EF4-FFF2-40B4-BE49-F238E27FC236}">
                <a16:creationId xmlns:a16="http://schemas.microsoft.com/office/drawing/2014/main" id="{278629DE-4F72-4E86-92D6-B6760918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C02｜能支持</a:t>
            </a:r>
          </a:p>
        </p:txBody>
      </p:sp>
      <p:sp>
        <p:nvSpPr>
          <p:cNvPr id="8" name="visual-13-2-p13-body-0">
            <a:extLst xmlns:a="http://schemas.openxmlformats.org/drawingml/2006/main">
              <a:ext uri="{FF2B5EF4-FFF2-40B4-BE49-F238E27FC236}">
                <a16:creationId xmlns:a16="http://schemas.microsoft.com/office/drawing/2014/main" id="{DCF4FF1E-87F6-4F5E-BF46-503EEE9C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3811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Pythia-410M · IOI · layer 11；相同 KL 下，SAE patching 比 PCA 需要更少方向与更小编辑量。</a:t>
            </a:r>
          </a:p>
        </p:txBody>
      </p:sp>
      <p:sp>
        <p:nvSpPr>
          <p:cNvPr id="9" name="visual-13-3-p13-head-1">
            <a:extLst xmlns:a="http://schemas.openxmlformats.org/drawingml/2006/main">
              <a:ext uri="{FF2B5EF4-FFF2-40B4-BE49-F238E27FC236}">
                <a16:creationId xmlns:a16="http://schemas.microsoft.com/office/drawing/2014/main" id="{AD4CBE0D-F964-4A3B-B9CE-96412B2E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C16｜限制</a:t>
            </a:r>
          </a:p>
        </p:txBody>
      </p:sp>
      <p:sp>
        <p:nvSpPr>
          <p:cNvPr id="10" name="visual-13-4-p13-body-1">
            <a:extLst xmlns:a="http://schemas.openxmlformats.org/drawingml/2006/main">
              <a:ext uri="{FF2B5EF4-FFF2-40B4-BE49-F238E27FC236}">
                <a16:creationId xmlns:a16="http://schemas.microsoft.com/office/drawing/2014/main" id="{0F38161C-2EA3-417D-89B2-1AF5AFDA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GPT2-small IOI 上，可解释 SAE 特征的控制性弱于监督字典，并出现 feature occlusion / over-splitting。</a:t>
            </a:r>
          </a:p>
        </p:txBody>
      </p:sp>
      <p:sp>
        <p:nvSpPr>
          <p:cNvPr id="11" name="visual-13-5-p13-head-2">
            <a:extLst xmlns:a="http://schemas.openxmlformats.org/drawingml/2006/main">
              <a:ext uri="{FF2B5EF4-FFF2-40B4-BE49-F238E27FC236}">
                <a16:creationId xmlns:a16="http://schemas.microsoft.com/office/drawing/2014/main" id="{3B67B086-635C-48FC-93C9-80D1EF9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C31｜效度威胁</a:t>
            </a:r>
          </a:p>
        </p:txBody>
      </p:sp>
      <p:sp>
        <p:nvSpPr>
          <p:cNvPr id="12" name="visual-13-6-p13-body-2">
            <a:extLst xmlns:a="http://schemas.openxmlformats.org/drawingml/2006/main">
              <a:ext uri="{FF2B5EF4-FFF2-40B4-BE49-F238E27FC236}">
                <a16:creationId xmlns:a16="http://schemas.microsoft.com/office/drawing/2014/main" id="{6ADEF638-EEDF-4B53-A460-DEF6CFB0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290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subspace patching 可能沿 dormant pathway 产生成功效果；行为改变本身不自动证明因果忠实。</a:t>
            </a:r>
          </a:p>
        </p:txBody>
      </p:sp>
      <p:sp>
        <p:nvSpPr>
          <p:cNvPr id="13" name="visual-13-7-p13-judgment">
            <a:extLst xmlns:a="http://schemas.openxmlformats.org/drawingml/2006/main">
              <a:ext uri="{FF2B5EF4-FFF2-40B4-BE49-F238E27FC236}">
                <a16:creationId xmlns:a16="http://schemas.microsoft.com/office/drawing/2014/main" id="{1E3838DA-C072-42F5-82C8-FC4B8BAA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1021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人工判断｜review：足以进入 L5 证据矩阵与 L9 baseline 设计；不足以把“SAE 因果忠实”标记为 stable。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908FE167-393D-43D9-A027-CCC6EF93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本人项目：决定、核验与回写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94633E4F-E597-4124-A95C-D9AC7D96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围绕本人拟用主张完成第一张完整阅读卡：AI 导航→原文核验→AI 质疑→偏差审计→人工定稿；无 AI 时以人工提问替代并标记。单列“支持本人项目什么、仍缺什么”。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972F8521-FAE8-4580-9348-948DA11C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同伴由转述反查至少两个位置；把作者自述局限与个人判断分栏；两种准入态 verified / verified-with-caveat 都可用，后者保留限定。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B42F9EE1-E593-4C27-8694-41C1ABE7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858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保存：reading-cards.md 第一张完整卡及个人判断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98AD9F44-8366-4C22-B2E9-DD57149B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55CC6734-6DA0-4029-9222-C2B05FE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6F57A721-5503-46E5-9650-4EE35568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阅读卡：主张、依据与本人判断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D71BEC63-3FFB-45DB-8216-1FF755F3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来源、任务与一条拟用主张；至少两个原文位置。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3FC8BE62-7879-4884-9AE2-16E23A30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作者主张｜原文依据｜作者自述局限</a:t>
            </a:r>
          </a:p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个人判断｜支持本人项目什么？仍缺什么？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611131C8-ED18-4A7A-B621-C7AA0AA6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0858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导航与质疑、偏差审计、人工定稿。</a:t>
            </a:r>
          </a:p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未发现错误时记录已查风险；保留核验状态与限定。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AC4EFF1D-49F2-402F-AC1E-F96B6F1D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41BFE389-1F38-41BE-AFAA-076EE754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n-0">
            <a:extLst xmlns:a="http://schemas.openxmlformats.org/drawingml/2006/main">
              <a:ext uri="{FF2B5EF4-FFF2-40B4-BE49-F238E27FC236}">
                <a16:creationId xmlns:a16="http://schemas.microsoft.com/office/drawing/2014/main" id="{558602D1-BDF7-4FDF-A531-3AB6968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6-1-p16-q-0">
            <a:extLst xmlns:a="http://schemas.openxmlformats.org/drawingml/2006/main">
              <a:ext uri="{FF2B5EF4-FFF2-40B4-BE49-F238E27FC236}">
                <a16:creationId xmlns:a16="http://schemas.microsoft.com/office/drawing/2014/main" id="{14F7E12D-8BD5-4932-ABF8-1BE9CBC5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9906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主张有位置吗？</a:t>
            </a:r>
          </a:p>
        </p:txBody>
      </p:sp>
      <p:sp>
        <p:nvSpPr>
          <p:cNvPr id="8" name="visual-16-2-p16-d-0">
            <a:extLst xmlns:a="http://schemas.openxmlformats.org/drawingml/2006/main">
              <a:ext uri="{FF2B5EF4-FFF2-40B4-BE49-F238E27FC236}">
                <a16:creationId xmlns:a16="http://schemas.microsoft.com/office/drawing/2014/main" id="{9B94A6BF-117C-4B7C-8F43-1C4E6A29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4859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每条作者主张能否回到章节 / 页码 / 图表</a:t>
            </a:r>
          </a:p>
        </p:txBody>
      </p:sp>
      <p:sp>
        <p:nvSpPr>
          <p:cNvPr id="9" name="visual-16-3-p16-n-1">
            <a:extLst xmlns:a="http://schemas.openxmlformats.org/drawingml/2006/main">
              <a:ext uri="{FF2B5EF4-FFF2-40B4-BE49-F238E27FC236}">
                <a16:creationId xmlns:a16="http://schemas.microsoft.com/office/drawing/2014/main" id="{C96438E0-9A62-45F9-AAD1-2F8C0D5B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6-4-p16-q-1">
            <a:extLst xmlns:a="http://schemas.openxmlformats.org/drawingml/2006/main">
              <a:ext uri="{FF2B5EF4-FFF2-40B4-BE49-F238E27FC236}">
                <a16:creationId xmlns:a16="http://schemas.microsoft.com/office/drawing/2014/main" id="{F4974AE3-8F1F-410F-92C7-5EF9C297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与原文分栏了吗？</a:t>
            </a:r>
          </a:p>
        </p:txBody>
      </p:sp>
      <p:sp>
        <p:nvSpPr>
          <p:cNvPr id="11" name="visual-16-5-p16-d-1">
            <a:extLst xmlns:a="http://schemas.openxmlformats.org/drawingml/2006/main">
              <a:ext uri="{FF2B5EF4-FFF2-40B4-BE49-F238E27FC236}">
                <a16:creationId xmlns:a16="http://schemas.microsoft.com/office/drawing/2014/main" id="{8F4C176A-618B-42FB-BA8D-CE4F46B1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860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作者主张、个人判断和 AI 建议是否混写</a:t>
            </a:r>
          </a:p>
        </p:txBody>
      </p:sp>
      <p:sp>
        <p:nvSpPr>
          <p:cNvPr id="12" name="visual-16-6-p16-n-2">
            <a:extLst xmlns:a="http://schemas.openxmlformats.org/drawingml/2006/main">
              <a:ext uri="{FF2B5EF4-FFF2-40B4-BE49-F238E27FC236}">
                <a16:creationId xmlns:a16="http://schemas.microsoft.com/office/drawing/2014/main" id="{B6EE3467-1CC2-48E7-8018-4DDFB25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6-7-p16-q-2">
            <a:extLst xmlns:a="http://schemas.openxmlformats.org/drawingml/2006/main">
              <a:ext uri="{FF2B5EF4-FFF2-40B4-BE49-F238E27FC236}">
                <a16:creationId xmlns:a16="http://schemas.microsoft.com/office/drawing/2014/main" id="{3D9D6EAB-2DED-4932-960B-CFC1224C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偏差审计可复查吗？</a:t>
            </a:r>
          </a:p>
        </p:txBody>
      </p:sp>
      <p:sp>
        <p:nvSpPr>
          <p:cNvPr id="14" name="visual-16-8-p16-d-2">
            <a:extLst xmlns:a="http://schemas.openxmlformats.org/drawingml/2006/main">
              <a:ext uri="{FF2B5EF4-FFF2-40B4-BE49-F238E27FC236}">
                <a16:creationId xmlns:a16="http://schemas.microsoft.com/office/drawing/2014/main" id="{D317D627-B677-42F7-A9CF-E4C1A80E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有错误/遗漏，或已检查风险与核验依据</a:t>
            </a:r>
          </a:p>
        </p:txBody>
      </p:sp>
      <p:sp>
        <p:nvSpPr>
          <p:cNvPr id="15" name="visual-16-9-p16-author">
            <a:extLst xmlns:a="http://schemas.openxmlformats.org/drawingml/2006/main">
              <a:ext uri="{FF2B5EF4-FFF2-40B4-BE49-F238E27FC236}">
                <a16:creationId xmlns:a16="http://schemas.microsoft.com/office/drawing/2014/main" id="{E7822D60-77E8-46D8-A441-CD7F9F10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1430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作者记录处理决定</a:t>
            </a:r>
          </a:p>
        </p:txBody>
      </p:sp>
      <p:sp>
        <p:nvSpPr>
          <p:cNvPr id="16" name="visual-16-10-p16-state-0">
            <a:extLst xmlns:a="http://schemas.openxmlformats.org/drawingml/2006/main">
              <a:ext uri="{FF2B5EF4-FFF2-40B4-BE49-F238E27FC236}">
                <a16:creationId xmlns:a16="http://schemas.microsoft.com/office/drawing/2014/main" id="{72DF8AAA-57ED-44F3-9D33-1795805D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7" name="visual-16-11-p16-state-1">
            <a:extLst xmlns:a="http://schemas.openxmlformats.org/drawingml/2006/main">
              <a:ext uri="{FF2B5EF4-FFF2-40B4-BE49-F238E27FC236}">
                <a16:creationId xmlns:a16="http://schemas.microsoft.com/office/drawing/2014/main" id="{C15527C7-5E5A-46EB-B8A4-9E650C57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0510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18" name="visual-16-12-p16-state-2">
            <a:extLst xmlns:a="http://schemas.openxmlformats.org/drawingml/2006/main">
              <a:ext uri="{FF2B5EF4-FFF2-40B4-BE49-F238E27FC236}">
                <a16:creationId xmlns:a16="http://schemas.microsoft.com/office/drawing/2014/main" id="{F059985E-C7FD-47EE-BFCC-6739487D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19" name="visual-16-13-p16-boundary">
            <a:extLst xmlns:a="http://schemas.openxmlformats.org/drawingml/2006/main">
              <a:ext uri="{FF2B5EF4-FFF2-40B4-BE49-F238E27FC236}">
                <a16:creationId xmlns:a16="http://schemas.microsoft.com/office/drawing/2014/main" id="{CF246D96-5D0E-4B88-909C-BCED72DF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95850"/>
            <a:ext cx="899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只提问题｜不替作者决定｜不形成共同提交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F551E353-FC89-4832-965F-704B099A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2B0C96E0-6C48-412A-8BBA-42548711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AI 导航 → 原文核验 → AI 质疑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2D87728C-918C-4B65-B03A-3C02F581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偏差审计 → 人工定稿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A1169477-10A1-4A81-A4D4-2118BFAE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作者主张、原文依据与个人判断分开；</a:t>
            </a:r>
          </a:p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允许主张与限定共同进入阅读卡。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6341D353-B85E-4D46-BC5F-92668E9A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8D34F1FF-2993-4748-A2A8-6D85CE9E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judgment-title">
            <a:extLst xmlns:a="http://schemas.openxmlformats.org/drawingml/2006/main">
              <a:ext uri="{FF2B5EF4-FFF2-40B4-BE49-F238E27FC236}">
                <a16:creationId xmlns:a16="http://schemas.microsoft.com/office/drawing/2014/main" id="{A4B069D1-3E6D-4EAC-A72D-24CFC2D2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620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保留本课决定，准备下一课输入</a:t>
            </a:r>
          </a:p>
        </p:txBody>
      </p:sp>
      <p:sp>
        <p:nvSpPr>
          <p:cNvPr id="2" name="judgment-body-0">
            <a:extLst xmlns:a="http://schemas.openxmlformats.org/drawingml/2006/main">
              <a:ext uri="{FF2B5EF4-FFF2-40B4-BE49-F238E27FC236}">
                <a16:creationId xmlns:a16="http://schemas.microsoft.com/office/drawing/2014/main" id="{E65792BE-378D-402C-B07F-2739918A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L5 带这张卡和一项条件不同的证据，开始综合并补第二张卡。</a:t>
            </a:r>
          </a:p>
        </p:txBody>
      </p:sp>
      <p:sp>
        <p:nvSpPr>
          <p:cNvPr id="3" name="judgment-body-1">
            <a:extLst xmlns:a="http://schemas.openxmlformats.org/drawingml/2006/main">
              <a:ext uri="{FF2B5EF4-FFF2-40B4-BE49-F238E27FC236}">
                <a16:creationId xmlns:a16="http://schemas.microsoft.com/office/drawing/2014/main" id="{D1F927DB-1A26-418B-B833-9955C6C7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10858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回写已有项目：reading-cards.md 第一张完整卡及个人判断</a:t>
            </a:r>
          </a:p>
        </p:txBody>
      </p:sp>
      <p:sp>
        <p:nvSpPr>
          <p:cNvPr id="4" name="judgment-body-2">
            <a:extLst xmlns:a="http://schemas.openxmlformats.org/drawingml/2006/main">
              <a:ext uri="{FF2B5EF4-FFF2-40B4-BE49-F238E27FC236}">
                <a16:creationId xmlns:a16="http://schemas.microsoft.com/office/drawing/2014/main" id="{29CF7113-FC27-4D36-A80B-B5C8E849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只读指定段落，补课堂留下的真实缺口。安装与排障计入课外总预算。</a:t>
            </a:r>
          </a:p>
        </p:txBody>
      </p:sp>
      <p:sp>
        <p:nvSpPr>
          <p:cNvPr id="5" name="judgment-source">
            <a:extLst xmlns:a="http://schemas.openxmlformats.org/drawingml/2006/main">
              <a:ext uri="{FF2B5EF4-FFF2-40B4-BE49-F238E27FC236}">
                <a16:creationId xmlns:a16="http://schemas.microsoft.com/office/drawing/2014/main" id="{AFF5AD0E-C42A-49D4-9708-B23B3B28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76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来源：本课判断任务与讲义；构造材料及真实来源按材料包标识</a:t>
            </a:r>
          </a:p>
        </p:txBody>
      </p:sp>
      <p:sp>
        <p:nvSpPr>
          <p:cNvPr id="6" name="judgment-page">
            <a:extLst xmlns:a="http://schemas.openxmlformats.org/drawingml/2006/main">
              <a:ext uri="{FF2B5EF4-FFF2-40B4-BE49-F238E27FC236}">
                <a16:creationId xmlns:a16="http://schemas.microsoft.com/office/drawing/2014/main" id="{C1F81E28-8DAD-4E46-9486-DD8FEC97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62725"/>
            <a:ext cx="238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2026-09-16T01:27:01.7120000Z</dcterms:created>
  <dcterms:modified xsi:type="dcterms:W3CDTF">2026-09-16T01:27:01.7120000Z</dcterms:modified>
</coreProperties>
</file>