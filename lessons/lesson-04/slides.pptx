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ac98941c664de1" /><Relationship Type="http://schemas.openxmlformats.org/officeDocument/2006/relationships/extended-properties" Target="/docProps/app.xml" Id="Ra9bf652f2a9e4400" /><Relationship Type="http://schemas.openxmlformats.org/officeDocument/2006/relationships/officeDocument" Target="/ppt/presentation.xml" Id="Rb6c6a6f3d5f942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e76e4ff19b4d56"/>
  </p:sldMasterIdLst>
  <p:notesMasterIdLst>
    <p:notesMasterId xmlns:r="http://schemas.openxmlformats.org/officeDocument/2006/relationships" r:id="R4652815f21864d9d"/>
  </p:notesMasterIdLst>
  <p:sldIdLst>
    <p:sldId xmlns:ns0="http://schemas.openxmlformats.org/officeDocument/2006/relationships" id="256" ns0:id="expSlide1"/>
    <p:sldId xmlns:ns1="http://schemas.openxmlformats.org/officeDocument/2006/relationships" id="257" ns1:id="expSlide2"/>
    <p:sldId xmlns:ns2="http://schemas.openxmlformats.org/officeDocument/2006/relationships" id="258" ns2:id="expSlide3"/>
    <p:sldId xmlns:ns3="http://schemas.openxmlformats.org/officeDocument/2006/relationships" id="259" ns3:id="expSlide4"/>
    <p:sldId xmlns:ns4="http://schemas.openxmlformats.org/officeDocument/2006/relationships" id="260" ns4:id="expSlide5"/>
    <p:sldId xmlns:ns5="http://schemas.openxmlformats.org/officeDocument/2006/relationships" id="261" ns5:id="expSlide6"/>
    <p:sldId xmlns:ns6="http://schemas.openxmlformats.org/officeDocument/2006/relationships" id="262" ns6:id="expSlide7"/>
    <p:sldId xmlns:ns7="http://schemas.openxmlformats.org/officeDocument/2006/relationships" id="263" ns7:id="expSlide8"/>
    <p:sldId xmlns:ns8="http://schemas.openxmlformats.org/officeDocument/2006/relationships" id="264" ns8:id="expSlide9"/>
    <p:sldId xmlns:ns9="http://schemas.openxmlformats.org/officeDocument/2006/relationships" id="265" ns9:id="expSlide10"/>
    <p:sldId xmlns:ns10="http://schemas.openxmlformats.org/officeDocument/2006/relationships" id="266" ns10:id="expSlide11"/>
    <p:sldId xmlns:ns11="http://schemas.openxmlformats.org/officeDocument/2006/relationships" id="267" ns11:id="expSlide12"/>
    <p:sldId xmlns:ns12="http://schemas.openxmlformats.org/officeDocument/2006/relationships" id="268" ns12:id="expSlide13"/>
    <p:sldId xmlns:ns13="http://schemas.openxmlformats.org/officeDocument/2006/relationships" id="269" ns13:id="expSlide14"/>
    <p:sldId xmlns:ns14="http://schemas.openxmlformats.org/officeDocument/2006/relationships" id="270" ns14:id="expSlide15"/>
    <p:sldId xmlns:ns15="http://schemas.openxmlformats.org/officeDocument/2006/relationships" id="271" ns15:id="expSlide16"/>
    <p:sldId xmlns:ns16="http://schemas.openxmlformats.org/officeDocument/2006/relationships" id="272" ns16:id="expSlide17"/>
    <p:sldId xmlns:ns17="http://schemas.openxmlformats.org/officeDocument/2006/relationships" id="273" ns17:id="expSlide18"/>
    <p:sldId xmlns:ns18="http://schemas.openxmlformats.org/officeDocument/2006/relationships" id="274" ns18:id="expSlide19"/>
    <p:sldId xmlns:ns19="http://schemas.openxmlformats.org/officeDocument/2006/relationships" id="275" ns19:id="expSlide20"/>
    <p:sldId xmlns:ns20="http://schemas.openxmlformats.org/officeDocument/2006/relationships" id="276" ns20:id="expSlide21"/>
    <p:sldId xmlns:ns21="http://schemas.openxmlformats.org/officeDocument/2006/relationships" id="277" ns21:id="expSlide22"/>
    <p:sldId xmlns:ns22="http://schemas.openxmlformats.org/officeDocument/2006/relationships" id="278" ns22:id="expSlide23"/>
    <p:sldId xmlns:ns23="http://schemas.openxmlformats.org/officeDocument/2006/relationships" id="279" ns23:id="expSlide24"/>
    <p:sldId xmlns:ns24="http://schemas.openxmlformats.org/officeDocument/2006/relationships" id="280" ns24:id="expSlide25"/>
    <p:sldId xmlns:ns25="http://schemas.openxmlformats.org/officeDocument/2006/relationships" id="281" ns25:id="expSlide26"/>
    <p:sldId xmlns:ns26="http://schemas.openxmlformats.org/officeDocument/2006/relationships" id="282" ns26:id="expSlide27"/>
    <p:sldId xmlns:ns27="http://schemas.openxmlformats.org/officeDocument/2006/relationships" id="283" ns27:id="expSlide28"/>
    <p:sldId xmlns:ns28="http://schemas.openxmlformats.org/officeDocument/2006/relationships" id="284" ns28:id="expSlide29"/>
    <p:sldId xmlns:ns29="http://schemas.openxmlformats.org/officeDocument/2006/relationships" id="285" ns29:id="expSlide30"/>
    <p:sldId xmlns:ns30="http://schemas.openxmlformats.org/officeDocument/2006/relationships" id="286" ns30:id="expSlide31"/>
    <p:sldId xmlns:ns31="http://schemas.openxmlformats.org/officeDocument/2006/relationships" id="287" ns31:id="expSlide3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8294d65abcc74b1d"/><Relationship Type="http://schemas.openxmlformats.org/officeDocument/2006/relationships/slideMaster" Target="/ppt/slideMasters/slideMaster1.xml" Id="R31e76e4ff19b4d56"/><Relationship Type="http://schemas.openxmlformats.org/officeDocument/2006/relationships/notesMaster" Target="/ppt/notesMasters/notesMaster1.xml" Id="R4652815f21864d9d"/><Relationship Type="http://schemas.openxmlformats.org/officeDocument/2006/relationships/presProps" Target="/ppt/presProps.xml" Id="R2766cd6ae21f4557"/><Relationship Type="http://schemas.openxmlformats.org/officeDocument/2006/relationships/viewProps" Target="/ppt/viewProps.xml" Id="Red716271b0db4e7b"/><Relationship Type="http://schemas.openxmlformats.org/officeDocument/2006/relationships/tableStyles" Target="/ppt/tableStyles.xml" Id="R7f5986e5acab4e79"/><Relationship Id="expSlide1" Type="http://schemas.openxmlformats.org/officeDocument/2006/relationships/slide" Target="slides/slide1.xml"/><Relationship Id="expSlide2" Type="http://schemas.openxmlformats.org/officeDocument/2006/relationships/slide" Target="slides/slide2.xml"/><Relationship Id="expSlide3" Type="http://schemas.openxmlformats.org/officeDocument/2006/relationships/slide" Target="slides/slide3.xml"/><Relationship Id="expSlide4" Type="http://schemas.openxmlformats.org/officeDocument/2006/relationships/slide" Target="slides/slide4.xml"/><Relationship Id="expSlide5" Type="http://schemas.openxmlformats.org/officeDocument/2006/relationships/slide" Target="slides/slide5.xml"/><Relationship Id="expSlide6" Type="http://schemas.openxmlformats.org/officeDocument/2006/relationships/slide" Target="slides/slide6.xml"/><Relationship Id="expSlide7" Type="http://schemas.openxmlformats.org/officeDocument/2006/relationships/slide" Target="slides/slide7.xml"/><Relationship Id="expSlide8" Type="http://schemas.openxmlformats.org/officeDocument/2006/relationships/slide" Target="slides/slide8.xml"/><Relationship Id="expSlide9" Type="http://schemas.openxmlformats.org/officeDocument/2006/relationships/slide" Target="slides/slide9.xml"/><Relationship Id="expSlide10" Type="http://schemas.openxmlformats.org/officeDocument/2006/relationships/slide" Target="slides/slide10.xml"/><Relationship Id="expSlide11" Type="http://schemas.openxmlformats.org/officeDocument/2006/relationships/slide" Target="slides/slide11.xml"/><Relationship Id="expSlide12" Type="http://schemas.openxmlformats.org/officeDocument/2006/relationships/slide" Target="slides/slide12.xml"/><Relationship Id="expSlide13" Type="http://schemas.openxmlformats.org/officeDocument/2006/relationships/slide" Target="slides/slide13.xml"/><Relationship Id="expSlide14" Type="http://schemas.openxmlformats.org/officeDocument/2006/relationships/slide" Target="slides/slide14.xml"/><Relationship Id="expSlide15" Type="http://schemas.openxmlformats.org/officeDocument/2006/relationships/slide" Target="slides/slide15.xml"/><Relationship Id="expSlide16" Type="http://schemas.openxmlformats.org/officeDocument/2006/relationships/slide" Target="slides/slide16.xml"/><Relationship Id="expSlide17" Type="http://schemas.openxmlformats.org/officeDocument/2006/relationships/slide" Target="slides/slide17.xml"/><Relationship Id="expSlide18" Type="http://schemas.openxmlformats.org/officeDocument/2006/relationships/slide" Target="slides/slide18.xml"/><Relationship Id="expSlide19" Type="http://schemas.openxmlformats.org/officeDocument/2006/relationships/slide" Target="slides/slide19.xml"/><Relationship Id="expSlide20" Type="http://schemas.openxmlformats.org/officeDocument/2006/relationships/slide" Target="slides/slide20.xml"/><Relationship Id="expSlide21" Type="http://schemas.openxmlformats.org/officeDocument/2006/relationships/slide" Target="slides/slide21.xml"/><Relationship Id="expSlide22" Type="http://schemas.openxmlformats.org/officeDocument/2006/relationships/slide" Target="slides/slide22.xml"/><Relationship Id="expSlide23" Type="http://schemas.openxmlformats.org/officeDocument/2006/relationships/slide" Target="slides/slide23.xml"/><Relationship Id="expSlide24" Type="http://schemas.openxmlformats.org/officeDocument/2006/relationships/slide" Target="slides/slide24.xml"/><Relationship Id="expSlide25" Type="http://schemas.openxmlformats.org/officeDocument/2006/relationships/slide" Target="slides/slide25.xml"/><Relationship Id="expSlide26" Type="http://schemas.openxmlformats.org/officeDocument/2006/relationships/slide" Target="slides/slide26.xml"/><Relationship Id="expSlide27" Type="http://schemas.openxmlformats.org/officeDocument/2006/relationships/slide" Target="slides/slide27.xml"/><Relationship Id="expSlide28" Type="http://schemas.openxmlformats.org/officeDocument/2006/relationships/slide" Target="slides/slide28.xml"/><Relationship Id="expSlide29" Type="http://schemas.openxmlformats.org/officeDocument/2006/relationships/slide" Target="slides/slide29.xml"/><Relationship Id="expSlide30" Type="http://schemas.openxmlformats.org/officeDocument/2006/relationships/slide" Target="slides/slide30.xml"/><Relationship Id="expSlide31" Type="http://schemas.openxmlformats.org/officeDocument/2006/relationships/slide" Target="slides/slide31.xml"/><Relationship Id="expSlide32" Type="http://schemas.openxmlformats.org/officeDocument/2006/relationships/slide" Target="slides/slide32.xml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f7bef4dffb45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页面：P01 第4讲 AI 辅助论文精读与深度分析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本课从上节课已选的关键主张开始。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学生动作：打开第3课候选与原文。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课堂安排：本页属于 P01–P03“入口与交付”，该段合计 5 分钟，本页不重复累加。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handout.md §导读；course/assignments.md 课堂推进与问题门</a:t>
            </a:r>
          </a:p>
          <a:p xmlns:a="http://schemas.openxmlformats.org/drawingml/2006/main">
            <a:r>
              <a:t>内容依据：handout.md §导读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页面：P02 入口核验之后继续精读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不把L3说成仅核身份，也不要求L4扩展为多条主张或读完整篇。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学生动作：指出本人主张中最需要深入核对的一项。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课堂安排：本页属于 P01–P03“入口与交付”，该段合计 5 分钟，本页不重复累加。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handout.md §一、AI 辅助精读在研究链路中的位置；course/assignments.md 课堂推进与问题门</a:t>
            </a:r>
          </a:p>
          <a:p xmlns:a="http://schemas.openxmlformats.org/drawingml/2006/main">
            <a:r>
              <a:t>内容依据：handout.md §一、AI 辅助精读在研究链路中的位置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页面：P03 本课带走第一张完整精读卡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当前页展示卡片样貌，不揭示共同题答案。至少两个位置可以同页不同段，必须支持不同核验动作。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学生动作：定位自己的阅读卡文件并选一条拟用主张。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课堂安排：本页属于 P01–P03“入口与交付”，该段合计 5 分钟，本页不重复累加。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handout.md §四、阅读卡字段；course/assignments.md 课堂推进与问题门</a:t>
            </a:r>
          </a:p>
          <a:p xmlns:a="http://schemas.openxmlformats.org/drawingml/2006/main">
            <a:r>
              <a:t>内容依据：handout.md §四、阅读卡字段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页面：P04 五步阅读各自产生什么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流程是课程整理，不宣称是Keshav提出的AI流程。个人承担最终解释与使用责任。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学生动作：说出哪一步负责最终采纳。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课堂安排：本页属于 P04–P09“方法与相邻示例”，该段合计 10 分钟，本页不重复累加。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handout.md §二、AI 辅助精读五步流程；course/assignments.md 课堂推进与问题门</a:t>
            </a:r>
          </a:p>
          <a:p xmlns:a="http://schemas.openxmlformats.org/drawingml/2006/main">
            <a:r>
              <a:t>内容依据：handout.md §二、AI 辅助精读五步流程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页面：P05 AI 导航的输入与待核输出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使用相邻摘要质量示例，不提前讲共同题三遍法。AI可能错指表号，查不到时应重新定位。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学生动作：从地图中选出一个最先核对的位置并说明理由。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课堂安排：本页属于 P04–P09“方法与相邻示例”，该段合计 10 分钟，本页不重复累加。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handout.md §二、AI 辅助精读五步流程；course/assignments.md 课堂推进与问题门</a:t>
            </a:r>
          </a:p>
          <a:p xmlns:a="http://schemas.openxmlformats.org/drawingml/2006/main">
            <a:r>
              <a:t>内容依据：handout.md §二、AI 辅助精读五步流程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页面：P06 一句转述里可能混着多个断言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此处只是拆解方法，不给共同题答案。主张中出现“因此”时检查是否跨越了证据范围。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学生动作：给自己的拟用主张圈出对象、比较、结果与范围词。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课堂安排：本页属于 P04–P09“方法与相邻示例”，该段合计 10 分钟，本页不重复累加。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handout.md §三、主张核验：区分 AI 主张与原文主张；course/assignments.md 课堂推进与问题门</a:t>
            </a:r>
          </a:p>
          <a:p xmlns:a="http://schemas.openxmlformats.org/drawingml/2006/main">
            <a:r>
              <a:t>内容依据：handout.md §三、主张核验：区分 AI 主张与原文主张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页面：P07 任务与设置决定可比范围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用相邻材料说明，一篇论文多次输出未必是独立论文样本。这里只训练读设置，不新增实验设计任务。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学生动作：在自己论文中定位任务和设置段。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课堂安排：本页属于 P04–P09“方法与相邻示例”，该段合计 10 分钟，本页不重复累加。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handout.md §三、主张核验：区分 AI 主张与原文主张；course/assignments.md 课堂推进与问题门</a:t>
            </a:r>
          </a:p>
          <a:p xmlns:a="http://schemas.openxmlformats.org/drawingml/2006/main">
            <a:r>
              <a:t>内容依据：handout.md §三、主张核验：区分 AI 主张与原文主张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页面：P08 指标与对照决定结果的含义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指标只在构造演示中计算，不冒充论文结果。提示配对材料相同仍需检查评分规则、公平条件和样本独立性。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学生动作：核对分母，说明两种差异表述的区别。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课堂安排：本页属于 P04–P09“方法与相邻示例”，该段合计 10 分钟，本页不重复累加。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handout.md §三、主张核验：区分 AI 主张与原文主张；course/assignments.md 课堂推进与问题门</a:t>
            </a:r>
          </a:p>
          <a:p xmlns:a="http://schemas.openxmlformats.org/drawingml/2006/main">
            <a:r>
              <a:t>内容依据：handout.md §三、主张核验：区分 AI 主张与原文主张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页面：P09 限定条件与允许转述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非实验论文允许指标、对照写不适用，但必须有理由。不能为填满表格编造样本或对照。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学生动作：把本人主张暂写成受限版本，缺项标待查。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课堂安排：本页属于 P04–P09“方法与相邻示例”，该段合计 10 分钟，本页不重复累加。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handout.md §三、主张核验：区分 AI 主张与原文主张；course/assignments.md 课堂推进与问题门</a:t>
            </a:r>
          </a:p>
          <a:p xmlns:a="http://schemas.openxmlformats.org/drawingml/2006/main">
            <a:r>
              <a:t>内容依据：handout.md §三、主张核验：区分 AI 主张与原文主张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页面：P10 同一来源的两种转述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原文时长是研究方法的引用内容，不是本课课堂计时。此时不圈正确选项，不说哪些词已经错。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学生动作：逐句圈出需要核验的断言，独立选择并写理由。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课堂安排：本页属于 P10–P11“独立共同诊断”，该段合计 10 分钟，本页不重复累加。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judgment-task.md；Keshav 2007</a:t>
            </a:r>
          </a:p>
          <a:p xmlns:a="http://schemas.openxmlformats.org/drawingml/2006/main">
            <a:r>
              <a:t>内容依据：handout.md §七、共同诊断与本人迁移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页面：P11 原文定位任务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学生使用完整PDF，定位表只作入口。不能用一张局部截图证明全文不存在实验。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学生动作：打开原文，独立寻找至少两个核验位置。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课堂安排：本页属于 P10–P11“独立共同诊断”，该段合计 10 分钟，本页不重复累加。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judgment-task.md；reading-card-demo.md</a:t>
            </a:r>
          </a:p>
          <a:p xmlns:a="http://schemas.openxmlformats.org/drawingml/2006/main">
            <a:r>
              <a:t>内容依据：handout.md §七、共同诊断与本人迁移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页面：P12 同伴比较：证据支持到哪一步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保持判断开放，不把同伴一致当作证据。也允许有依据的仍不能判断。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学生动作：各自展示一处支持位置和一处待核问题。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课堂安排：本页属于 P12–P13“同伴比较”，该段合计 10 分钟，本页不重复累加。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judgment-task.md</a:t>
            </a:r>
          </a:p>
          <a:p xmlns:a="http://schemas.openxmlformats.org/drawingml/2006/main">
            <a:r>
              <a:t>内容依据：handout.md §七、共同诊断与本人迁移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页面：P13 主张逐项裁决的记录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此页是待填工作表，无预置答案。下一页才揭示教师依据。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学生动作：同伴共同反查，作者独立写下当前裁决。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课堂安排：本页属于 P12–P13“同伴比较”，该段合计 10 分钟，本页不重复累加。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judgment-task.md；judgment-teacher.md</a:t>
            </a:r>
          </a:p>
          <a:p xmlns:a="http://schemas.openxmlformats.org/drawingml/2006/main">
            <a:r>
              <a:t>内容依据：handout.md §七、共同诊断与本人迁移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页面：P14 原文支持的方法描述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校准第一步。课堂计时与原文时长分开，原文中的时长可展示。此页支持方法建议，不支持量化效果。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学生动作：对照原文修订本人初判中的时长与深度描述。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课堂安排：本页属于 P14–P17“教师揭示校准”，该段合计 5 分钟，本页不重复累加。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Keshav 2007 p.83 §2.1；reading-card-demo.md</a:t>
            </a:r>
          </a:p>
          <a:p xmlns:a="http://schemas.openxmlformats.org/drawingml/2006/main">
            <a:r>
              <a:t>内容依据：handout.md §六、真实演示：Keshav 2007 原文到完整阅读卡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页面：P15 效果断言需要怎样的证据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展示§4原文，同时说明已检查全文。避免将“未报告该实验”夸大为“该方法没有效果”。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学生动作：说明为何单有经验叙述不足以支持 B 的量化效果。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课堂安排：本页属于 P14–P17“教师揭示校准”，该段合计 5 分钟，本页不重复累加。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Keshav 2007 pp.83–84 全文，重点 §4；reading-card-demo.md</a:t>
            </a:r>
          </a:p>
          <a:p xmlns:a="http://schemas.openxmlformats.org/drawingml/2006/main">
            <a:r>
              <a:t>内容依据：handout.md §六、真实演示：Keshav 2007 原文到完整阅读卡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页面：P16 作者主张与本人迁移分栏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明确不是整句A都由作者直接提出。学生可以不采用该方法，只要理由和条件比较成立。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学生动作：把自己卡片中作者的话与自己的设计判断分开。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课堂安排：本页属于 P14–P17“教师揭示校准”，该段合计 5 分钟，本页不重复累加。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reading-card-demo.md；judgment-teacher.md</a:t>
            </a:r>
          </a:p>
          <a:p xmlns:a="http://schemas.openxmlformats.org/drawingml/2006/main">
            <a:r>
              <a:t>内容依据：handout.md §三、主张核验：区分 AI 主张与原文主张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页面：P17 核验后的一条合格转述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不把暂未证实写成已证伪；保留有用方法及其支持强度。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学生动作：写出自己的最终转述及一项尚缺证据。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课堂安排：本页属于 P14–P17“教师揭示校准”，该段合计 5 分钟，本页不重复累加。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reading-card-demo.md；Keshav 2007</a:t>
            </a:r>
          </a:p>
          <a:p xmlns:a="http://schemas.openxmlformats.org/drawingml/2006/main">
            <a:r>
              <a:t>内容依据：handout.md §六、真实演示：Keshav 2007 原文到完整阅读卡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页面：P18 本人主张与精读范围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第一段本人实践开始，P18–P20 合用15分钟。时间用于真实定位与记录，不另开讲授段。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学生动作：选定一条主张，写明它与本人项目的联系。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课堂安排：本页属于 P18–P20“本人迁移一”，该段合计 15 分钟，本页不重复累加。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handout.md §七、共同诊断与本人迁移；course/assignments.md 课堂推进与问题门</a:t>
            </a:r>
          </a:p>
          <a:p xmlns:a="http://schemas.openxmlformats.org/drawingml/2006/main">
            <a:r>
              <a:t>内容依据：handout.md §七、共同诊断与本人迁移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页面：P19 本人阅读地图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不上传无授权的材料。导航只是查找帮助，原文不存在的表或段落应更正，而非推测补全。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学生动作：保存一份本人阅读地图，给候选位置标“待核验”。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课堂安排：本页属于 P18–P20“本人迁移一”，该段合计 15 分钟，本页不重复累加。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handout.md §二、AI 辅助精读五步流程；course/assignments.md 课堂推进与问题门</a:t>
            </a:r>
          </a:p>
          <a:p xmlns:a="http://schemas.openxmlformats.org/drawingml/2006/main">
            <a:r>
              <a:t>内容依据：handout.md §二、AI 辅助精读五步流程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页面：P20 第一处证据：主张与研究条件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个人材料优先。对于方法经验文，不应为了填表虚构指标与对照。中点收集三类卡点：无位置、弱证据强措辞、混淆个人推断。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学生动作：完成第一处证据及条件记录，标出仍待查的内容。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课堂安排：本页属于 P18–P20“本人迁移一”，该段合计 15 分钟，本页不重复累加。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handout.md §三、主张核验：区分 AI 主张与原文主张；course/assignments.md 课堂推进与问题门</a:t>
            </a:r>
          </a:p>
          <a:p xmlns:a="http://schemas.openxmlformats.org/drawingml/2006/main">
            <a:r>
              <a:t>内容依据：handout.md §三、主张核验：区分 AI 主张与原文主张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页面：P21 MI 结果：相同 KL 下的干预代价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中点点评用真实图示范如何收窄主张。KL为相对目标输出的差异，不等于因果忠实度本身；原文p.6 §4.2同时讨论重构精度代价。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学生动作：指出结果中的模型、任务、对照和指标。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课堂安排：本页属于 P21–P23“中点点评”，该段合计 5 分钟，本页不重复累加。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mi-reading-card-demo.md 卡1；C02 arXiv:2309.08600v3 pp.5–6 Fig.3 / §4.2</a:t>
            </a:r>
          </a:p>
          <a:p xmlns:a="http://schemas.openxmlformats.org/drawingml/2006/main">
            <a:r>
              <a:t>内容依据：handout.md §六、真实演示：Keshav 2007 原文到完整阅读卡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页面：P22 限制证据是否直接反驳前一篇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保留C16任务特定SAE的冻结随机decoder对照结果和C31的成功案例，避免只选负面结果。二者均非C02同设置复现失败。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学生动作：说明哪一处条件差异使“直接推翻 C02”过强。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课堂安排：本页属于 P21–P23“中点点评”，该段合计 5 分钟，本页不重复累加。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mi-reading-card-demo.md 卡2–3；C16 §5.2；C31 pp.1–5</a:t>
            </a:r>
          </a:p>
          <a:p xmlns:a="http://schemas.openxmlformats.org/drawingml/2006/main">
            <a:r>
              <a:t>内容依据：handout.md §六、真实演示：Keshav 2007 原文到完整阅读卡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页面：P23 MI 主张如何收窄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review是研究工件成熟度，不是来源核验状态；三条来源仍分别保留自己的verified-with-caveat限定。详尽MI卡供参考，不要求学生再完成三张。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学生动作：把本人主张也改写成“已支持范围＋下一项证据”。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课堂安排：本页属于 P21–P23“中点点评”，该段合计 5 分钟，本页不重复累加。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mi-reading-card-demo.md；references/material-contracts.md</a:t>
            </a:r>
          </a:p>
          <a:p xmlns:a="http://schemas.openxmlformats.org/drawingml/2006/main">
            <a:r>
              <a:t>内容依据：handout.md §六、真实演示：Keshav 2007 原文到完整阅读卡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页面：P24 第二处证据：限定与缺证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第二段本人实践开始。至少两个位置可以在同一页，但应分别检查不同内容。本人缺口不要写成作者自述。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学生动作：记录第二处位置，并说明它怎样影响主张。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课堂安排：本页属于 P24–P27“本人迁移二”，该段合计 15 分钟，本页不重复累加。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handout.md §三、主张核验：区分 AI 主张与原文主张；course/assignments.md 课堂推进与问题门</a:t>
            </a:r>
          </a:p>
          <a:p xmlns:a="http://schemas.openxmlformats.org/drawingml/2006/main">
            <a:r>
              <a:t>内容依据：handout.md §三、主张核验：区分 AI 主张与原文主张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页面：P25 AI 质疑与人工验证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避免把AI的问题当成已发现缺陷。无模型时由本人或同伴提出问题，并记录人工替代。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学生动作：提出并实际核查一项质疑，允许维持原判断。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课堂安排：本页属于 P24–P27“本人迁移二”，该段合计 15 分钟，本页不重复累加。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handout.md §二、AI 辅助精读五步流程；course/assignments.md 课堂推进与问题门</a:t>
            </a:r>
          </a:p>
          <a:p xmlns:a="http://schemas.openxmlformats.org/drawingml/2006/main">
            <a:r>
              <a:t>内容依据：handout.md §二、AI 辅助精读五步流程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页面：P26 偏差审计：记录查过什么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偏差审计包括原始输出、原文事实、位置与处理。未发现错误不需制造错误，没有AI时标人工核验。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学生动作：完成一条真实偏差记录，或一条已查风险记录。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课堂安排：本页属于 P24–P27“本人迁移二”，该段合计 15 分钟，本页不重复累加。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reading-card-demo.md；Keshav 2007</a:t>
            </a:r>
          </a:p>
          <a:p xmlns:a="http://schemas.openxmlformats.org/drawingml/2006/main">
            <a:r>
              <a:t>内容依据：handout.md §二、AI 辅助精读五步流程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页面：P27 完整阅读卡的合格样貌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这是完整卡的压缩索引，P14–P17与P26已经展开原文和审计。实际卡仍需写清作者主张、原文依据、本人判断和待核AI建议。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学生动作：确认本人全字段有值或有不适用理由，并完成保存。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课堂安排：本页属于 P24–P27“本人迁移二”，该段合计 15 分钟，本页不重复累加。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reading-card-demo.md</a:t>
            </a:r>
          </a:p>
          <a:p xmlns:a="http://schemas.openxmlformats.org/drawingml/2006/main">
            <a:r>
              <a:t>内容依据：handout.md §四、阅读卡字段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页面：P28 同伴由转述反查原文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互查以作者实际卡片为对象，不互抄模板。暂无法联网使用存档，来源暂不可核项明确留下。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学生动作：同伴打开两个位置，核对转述并记录依据。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课堂安排：本页属于 P28–P30“同伴反查与修订”，该段合计 10 分钟，本页不重复累加。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handout.md §七、共同诊断与本人迁移；course/assignments.md 课堂推进与问题门</a:t>
            </a:r>
          </a:p>
          <a:p xmlns:a="http://schemas.openxmlformats.org/drawingml/2006/main">
            <a:r>
              <a:t>内容依据：handout.md §七、共同诊断与本人迁移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页面：P29 三种声音的归属检查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原文证据不是第四个发言者，而是核验依据。本人判断可以超出作者自述，但必须说明推理和范围。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学生动作：挑一句容易混淆的话，确认归属或修正分栏。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课堂安排：本页属于 P28–P30“同伴反查与修订”，该段合计 10 分钟，本页不重复累加。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handout.md §三、主张核验：区分 AI 主张与原文主张；course/assignments.md 课堂推进与问题门</a:t>
            </a:r>
          </a:p>
          <a:p xmlns:a="http://schemas.openxmlformats.org/drawingml/2006/main">
            <a:r>
              <a:t>内容依据：handout.md §三、主张核验：区分 AI 主张与原文主张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页面：P30 作者修订与未决项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作者独立负责最终判断，不能由同伴直接替写。无修改也可记已查项与维持判断的理由。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学生动作：保存修改并向同伴指出一处决定及依据。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课堂安排：本页属于 P28–P30“同伴反查与修订”，该段合计 10 分钟，本页不重复累加。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handout.md §七、共同诊断与本人迁移；course/assignments.md 课堂推进与问题门</a:t>
            </a:r>
          </a:p>
          <a:p xmlns:a="http://schemas.openxmlformats.org/drawingml/2006/main">
            <a:r>
              <a:t>内容依据：handout.md §七、共同诊断与本人迁移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页面：P31 精读的五步与一条证据链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完整回收五步，不遗漏AI质疑。真实效果未证实与方法本身无效要区分。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学生动作：用自己的卡片说明哪项核验改变或维持了判断。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课堂安排：本页属于 P31–P32“总结与下次输入”，该段合计 5 分钟，本页不重复累加。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handout.md §学习目标；course/assignments.md 课堂推进与问题门</a:t>
            </a:r>
          </a:p>
          <a:p xmlns:a="http://schemas.openxmlformats.org/drawingml/2006/main">
            <a:r>
              <a:t>内容依据：handout.md §学习目标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页面：P32 交付自查与第 5 课输入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课外只补已有缺口：阅读15分钟、准备10分钟、补全35分钟，总预算60分钟。不会另外布置两篇整文精读。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学生动作：圈出下一项来源及其不同条件，保留本课卡片。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课堂安排：本页属于 P31–P32“总结与下次输入”，该段合计 5 分钟，本页不重复累加。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handout.md §课外预算与下次输入；course/assignments.md 课堂推进与问题门</a:t>
            </a:r>
          </a:p>
          <a:p xmlns:a="http://schemas.openxmlformats.org/drawingml/2006/main">
            <a:r>
              <a:t>内容依据：handout.md §课外预算与下次输入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2338b9fe654884" /><Relationship Type="http://schemas.openxmlformats.org/officeDocument/2006/relationships/image" Target="/ppt/media/image.png" Id="Rc1e148980d954c1a" /><Relationship Type="http://schemas.openxmlformats.org/officeDocument/2006/relationships/image" Target="/ppt/media/image2.png" Id="R2387c45a804947f8" /><Relationship Type="http://schemas.openxmlformats.org/officeDocument/2006/relationships/image" Target="/ppt/media/image3.png" Id="Rc5f68383257f451d" /><Relationship Type="http://schemas.openxmlformats.org/officeDocument/2006/relationships/image" Target="/ppt/media/image4.png" Id="R1020e106d3ad43f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fb2bd54b99407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a1097491ad482a" /><Relationship Type="http://schemas.openxmlformats.org/officeDocument/2006/relationships/image" Target="/ppt/media/image2.png" Id="Rda95e281f8224b22" /><Relationship Type="http://schemas.openxmlformats.org/officeDocument/2006/relationships/image" Target="/ppt/media/image5.png" Id="Rb6f835ca00a54b7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814e55238e436c" /><Relationship Type="http://schemas.openxmlformats.org/officeDocument/2006/relationships/image" Target="/ppt/media/image.png" Id="R265a951874454a6e" /><Relationship Type="http://schemas.openxmlformats.org/officeDocument/2006/relationships/image" Target="/ppt/media/image3.png" Id="R1246605e959a49ea" /></Relationships>
</file>

<file path=ppt/slideLayouts/slideLayout1.xml><?xml version="1.0" encoding="utf-8"?>
<p:sldLayout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e148980d954c1a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22" name="标题 1">
            <a:extLst xmlns:a="http://schemas.openxmlformats.org/drawingml/2006/main"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69561" y="2016174"/>
            <a:ext cx="10052879" cy="10608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54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单击此处编辑标题样式</a:t>
            </a:r>
          </a:p>
        </p:txBody>
      </p:sp>
      <p:sp>
        <p:nvSpPr>
          <p:cNvPr id="26" name="内容占位符 25">
            <a:extLst xmlns:a="http://schemas.openxmlformats.org/drawingml/2006/main">
              <a:ext uri="{FF2B5EF4-FFF2-40B4-BE49-F238E27FC236}">
                <a16:creationId xmlns:a16="http://schemas.microsoft.com/office/drawing/2014/main" id="{981273AB-3D30-4A7E-951D-B80D3185213B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4644345" y="5196924"/>
            <a:ext cx="2903311" cy="454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fld id="{DE506FFD-8B27-444A-964F-E64D0BB3DAF0}" type="datetime2">
              <a:t>2019年1月28日</a:t>
            </a:fld>
            <a:endParaRPr/>
          </a:p>
        </p:txBody>
      </p:sp>
      <p:sp>
        <p:nvSpPr>
          <p:cNvPr id="32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4034910" y="4407403"/>
            <a:ext cx="4122181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50" name="图片 3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387c45a804947f8"/>
          <a:srcRect xmlns:a="http://schemas.openxmlformats.org/drawingml/2006/main" l="74359" t="0" r="1346" b="0"/>
          <a:stretch xmlns:a="http://schemas.openxmlformats.org/drawingml/2006/main"/>
        </p:blipFill>
        <p:spPr>
          <a:xfrm xmlns:a="http://schemas.openxmlformats.org/drawingml/2006/main">
            <a:off x="8870172" y="274183"/>
            <a:ext cx="3002280" cy="411617"/>
          </a:xfrm>
          <a:prstGeom xmlns:a="http://schemas.openxmlformats.org/drawingml/2006/main" prst="rect">
            <a:avLst/>
          </a:prstGeom>
        </p:spPr>
      </p:pic>
      <p:pic>
        <p:nvPicPr>
          <p:cNvPr id="51" name="图片 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5f68383257f451d">
            <a:alphaModFix amt="35000"/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 rot="0" flipH="0" flipV="0">
            <a:off x="3352562" y="6244170"/>
            <a:ext cx="5486876" cy="406590"/>
          </a:xfrm>
          <a:prstGeom xmlns:a="http://schemas.openxmlformats.org/drawingml/2006/main" prst="rect">
            <a:avLst/>
          </a:prstGeom>
        </p:spPr>
      </p:pic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53D809C0-A4EF-44AF-AECA-4A85E4BA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51000" y="6430138"/>
            <a:ext cx="90000" cy="9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直接连接符 38">
            <a:extLst xmlns:a="http://schemas.openxmlformats.org/drawingml/2006/main">
              <a:ext uri="{FF2B5EF4-FFF2-40B4-BE49-F238E27FC236}">
                <a16:creationId xmlns:a16="http://schemas.microsoft.com/office/drawing/2014/main" id="{31F7CAE3-0209-4DA4-9A92-731CC272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85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B3FF25BF-0A81-4E7C-A868-79A201F0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833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84931B68-BEBE-4F6A-A7A3-EB2B855A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1712549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26218CD3-8CA7-49E2-A133-F3172441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3428810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57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20e106d3ad43fa"/>
          <a:srcRect xmlns:a="http://schemas.openxmlformats.org/drawingml/2006/main" l="0" t="0" r="54251" b="0"/>
          <a:stretch xmlns:a="http://schemas.openxmlformats.org/drawingml/2006/main"/>
        </p:blipFill>
        <p:spPr>
          <a:xfrm xmlns:a="http://schemas.openxmlformats.org/drawingml/2006/main">
            <a:off x="332010" y="251357"/>
            <a:ext cx="1934780" cy="4825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目录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D1F02EB-A5F5-4A25-8E13-33D76C39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1" y="2455636"/>
            <a:ext cx="2960913" cy="14387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DBDFDE5-938B-46BA-BF04-52626678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736542" y="2389144"/>
            <a:ext cx="97430" cy="29609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E1AFFB6-310A-466D-BAD1-F84A11C9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8991" y="0"/>
            <a:ext cx="9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53781C-E1F6-4315-A39D-61273F2E0596}" type="slidenum">
              <a:t>‹#›</a:t>
            </a:fld>
            <a:endParaRPr/>
          </a:p>
        </p:txBody>
      </p:sp>
      <p:pic>
        <p:nvPicPr>
          <p:cNvPr id="25" name="图片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a95e281f8224b22"/>
          <a:srcRect xmlns:a="http://schemas.openxmlformats.org/drawingml/2006/main" l="0" t="0" r="1346" b="0"/>
          <a:stretch xmlns:a="http://schemas.openxmlformats.org/drawingml/2006/main"/>
        </p:blipFill>
        <p:spPr>
          <a:xfrm xmlns:a="http://schemas.openxmlformats.org/drawingml/2006/main">
            <a:off x="516" y="6041797"/>
            <a:ext cx="12166903" cy="411617"/>
          </a:xfrm>
          <a:prstGeom xmlns:a="http://schemas.openxmlformats.org/drawingml/2006/main" prst="rect">
            <a:avLst/>
          </a:prstGeom>
        </p:spPr>
      </p:pic>
      <p:sp>
        <p:nvSpPr>
          <p:cNvPr id="9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56FC8349-67FC-4E3B-B988-7A27FDAE9D24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19056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85368C87-925C-44AC-B001-5C4EE6F0064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4788940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9" name="平行四边形 18">
            <a:extLst xmlns:a="http://schemas.openxmlformats.org/drawingml/2006/main">
              <a:ext uri="{FF2B5EF4-FFF2-40B4-BE49-F238E27FC236}">
                <a16:creationId xmlns:a16="http://schemas.microsoft.com/office/drawing/2014/main" id="{9AE407FD-1006-4AC4-B10B-CB7686E6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1483" cy="685800"/>
          </a:xfrm>
          <a:prstGeom xmlns:a="http://schemas.openxmlformats.org/drawingml/2006/main" prst="parallelogram">
            <a:avLst>
              <a:gd name="adj" fmla="val 4305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9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f835ca00a54b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9056" y="73482"/>
            <a:ext cx="538838" cy="538838"/>
          </a:xfrm>
          <a:prstGeom xmlns:a="http://schemas.openxmlformats.org/drawingml/2006/main" prst="rect">
            <a:avLst/>
          </a:prstGeom>
        </p:spPr>
      </p:pic>
      <p:sp>
        <p:nvSpPr>
          <p:cNvPr id="21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C2D49473-9331-4572-8AFC-3A905D765CF9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75351" y="43657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封底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5a951874454a6e">
            <a:duotone>
              <a:prstClr val="black"/>
              <a:schemeClr val="accent1">
                <a:tint val="45000"/>
                <a:satMod val="400000"/>
              </a:schemeClr>
            </a:duotone>
            <a:alphaModFix amt="2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F60F5A8-3022-49D5-A1B7-18CDA62C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2989B7D2-D2DE-4D77-870B-585E5185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69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4EB0A957-E3E4-47EE-9713-82509E17FD51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2555162" y="3129756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27" name="图片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246605e959a49ea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>
            <a:off x="3352562" y="6146610"/>
            <a:ext cx="5486876" cy="406590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5756c7ad2f4f86" /><Relationship Type="http://schemas.openxmlformats.org/officeDocument/2006/relationships/slideLayout" Target="/ppt/slideLayouts/slideLayout1.xml" Id="Rb0d1ae0e89344b97" /><Relationship Type="http://schemas.openxmlformats.org/officeDocument/2006/relationships/slideLayout" Target="/ppt/slideLayouts/slideLayout2.xml" Id="R04f133eae6e6464a" /><Relationship Type="http://schemas.openxmlformats.org/officeDocument/2006/relationships/slideLayout" Target="/ppt/slideLayouts/slideLayout3.xml" Id="Rb85529b62395403e" /><Relationship Type="http://schemas.openxmlformats.org/officeDocument/2006/relationships/slideLayout" Target="/ppt/slideLayouts/slideLayout4.xml" Id="R22b8ad0f573c4658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F26411B-55E1-4CE5-B9CA-4734B17AE0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849970" y="6515101"/>
            <a:ext cx="103723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48644C6-89F0-466C-949F-E70AD72679A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d1ae0e89344b97"/>
    <p:sldLayoutId xmlns:r="http://schemas.openxmlformats.org/officeDocument/2006/relationships" id="2147483650" r:id="R04f133eae6e6464a"/>
    <p:sldLayoutId xmlns:r="http://schemas.openxmlformats.org/officeDocument/2006/relationships" id="2147483651" r:id="Rb85529b62395403e"/>
    <p:sldLayoutId xmlns:r="http://schemas.openxmlformats.org/officeDocument/2006/relationships" id="2147483652" r:id="R22b8ad0f573c4658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192">
          <p15:clr>
            <a:srgbClr xmlns:a="http://schemas.openxmlformats.org/drawingml/2006/main" val="F26B43"/>
          </p15:clr>
        </p15:guide>
        <p15:guide id="2" pos="7488">
          <p15:clr>
            <a:srgbClr xmlns:a="http://schemas.openxmlformats.org/drawingml/2006/main" val="F26B43"/>
          </p15:clr>
        </p15:guide>
        <p15:guide id="3" orient="horz" pos="432">
          <p15:clr>
            <a:srgbClr xmlns:a="http://schemas.openxmlformats.org/drawingml/2006/main" val="F26B43"/>
          </p15:clr>
        </p15:guide>
        <p15:guide id="4" orient="horz" pos="472">
          <p15:clr>
            <a:srgbClr xmlns:a="http://schemas.openxmlformats.org/drawingml/2006/main" val="F26B43"/>
          </p15:clr>
        </p15:guide>
        <p15:guide id="5" orient="horz" pos="4104">
          <p15:clr>
            <a:srgbClr xmlns:a="http://schemas.openxmlformats.org/drawingml/2006/main" val="F26B43"/>
          </p15:clr>
        </p15:guide>
        <p15:guide id="6" orient="horz" pos="4056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c00443df5e194f8a"/><Relationship Id="expNotes1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R298709f68a704683"/><Relationship Id="expNotes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R298709f68a704683"/><Relationship Id="expNotes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R298709f68a704683"/><Relationship Id="expNotes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R298709f68a704683"/><Relationship Id="expNotes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R298709f68a704683"/><Relationship Id="expNotes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R298709f68a704683"/><Relationship Id="expNotes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R298709f68a704683"/><Relationship Id="expNotes8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R298709f68a704683"/><Relationship Id="expNotes9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R298709f68a704683"/><Relationship Id="expNotes10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R298709f68a704683"/><Relationship Id="expNotes11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R298709f68a704683"/><Relationship Id="expNotes1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R298709f68a704683"/><Relationship Id="expNotes1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R298709f68a704683"/><Relationship Id="expImage2" Type="http://schemas.openxmlformats.org/officeDocument/2006/relationships/image" Target="../media/expansion-L4-image6.png"/><Relationship Id="expNotes1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R298709f68a704683"/><Relationship Id="expImage2" Type="http://schemas.openxmlformats.org/officeDocument/2006/relationships/image" Target="../media/expansion-L4-image7.png"/><Relationship Id="expNotes1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R298709f68a704683"/><Relationship Id="expNotes16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R298709f68a704683"/><Relationship Id="expNotes17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R298709f68a704683"/><Relationship Id="expNotes18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R298709f68a704683"/><Relationship Id="expNotes19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R298709f68a704683"/><Relationship Id="expNotes20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R298709f68a704683"/><Relationship Id="expImage2" Type="http://schemas.openxmlformats.org/officeDocument/2006/relationships/image" Target="../media/expansion-L4-image8.png"/><Relationship Id="expNotes21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R298709f68a704683"/><Relationship Id="expNotes2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R298709f68a704683"/><Relationship Id="expNotes2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R298709f68a704683"/><Relationship Id="expNotes2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R298709f68a704683"/><Relationship Id="expNotes25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R298709f68a704683"/><Relationship Id="expNotes26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R298709f68a704683"/><Relationship Id="expNotes27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R298709f68a704683"/><Relationship Id="expNotes28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R298709f68a704683"/><Relationship Id="expNotes29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R298709f68a704683"/><Relationship Id="expNotes30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R298709f68a704683"/><Relationship Id="expNotes31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R298709f68a704683"/><Relationship Id="expNotes32" Type="http://schemas.openxmlformats.org/officeDocument/2006/relationships/notesSlide" Target="../notesSlides/notesSlide32.xm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1">
            <a:extLst xmlns:a="http://schemas.openxmlformats.org/drawingml/2006/main">
              <a:ext uri="{FF2B5EF4-FFF2-40B4-BE49-F238E27FC236}">
                <a16:creationId xmlns:a16="http://schemas.microsoft.com/office/drawing/2014/main" id="{27DE90CC-93E2-C662-C202-C5C6993D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9906000" cy="1645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3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第4讲 AI 辅助论文精读与深度分析</a:t>
            </a:r>
            <a:endParaRPr sz="4000" b="1" kern="0" spc="20">
              <a:solidFill>
                <a:srgbClr val="C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500453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EED85065-6BD0-413A-84CC-6E82BE1C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入口核验之后继续精读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4178F11B-D059-47BD-85A5-2DF5E747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第 3 课已核身份和一条拟用主张，本课深入检查它的依据与范围。</a:t>
            </a:r>
          </a:p>
        </p:txBody>
      </p:sp>
      <p:sp>
        <p:nvSpPr>
          <p:cNvPr id="3" name="columns-label">
            <a:extLst xmlns:a="http://schemas.openxmlformats.org/drawingml/2006/main">
              <a:ext uri="{FF2B5EF4-FFF2-40B4-BE49-F238E27FC236}">
                <a16:creationId xmlns:a16="http://schemas.microsoft.com/office/drawing/2014/main" id="{D8F772FD-1D63-4BD6-8ADF-7B33857F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已有材料   /   本课增加的理解</a:t>
            </a:r>
          </a:p>
        </p:txBody>
      </p:sp>
      <p:sp>
        <p:nvSpPr>
          <p:cNvPr id="4" name="row-label-0">
            <a:extLst xmlns:a="http://schemas.openxmlformats.org/drawingml/2006/main">
              <a:ext uri="{FF2B5EF4-FFF2-40B4-BE49-F238E27FC236}">
                <a16:creationId xmlns:a16="http://schemas.microsoft.com/office/drawing/2014/main" id="{E9896F56-FD67-45D1-A6C3-307EA8F3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可用候选与拟用主张</a:t>
            </a:r>
          </a:p>
        </p:txBody>
      </p:sp>
      <p:sp>
        <p:nvSpPr>
          <p:cNvPr id="5" name="row-value-0">
            <a:extLst xmlns:a="http://schemas.openxmlformats.org/drawingml/2006/main">
              <a:ext uri="{FF2B5EF4-FFF2-40B4-BE49-F238E27FC236}">
                <a16:creationId xmlns:a16="http://schemas.microsoft.com/office/drawing/2014/main" id="{2BB801B6-AC8D-433D-BA59-E59B4902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14550"/>
            <a:ext cx="8048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作者究竟研究了什么问题？</a:t>
            </a:r>
          </a:p>
        </p:txBody>
      </p:sp>
      <p:sp>
        <p:nvSpPr>
          <p:cNvPr id="6" name="row-label-1">
            <a:extLst xmlns:a="http://schemas.openxmlformats.org/drawingml/2006/main">
              <a:ext uri="{FF2B5EF4-FFF2-40B4-BE49-F238E27FC236}">
                <a16:creationId xmlns:a16="http://schemas.microsoft.com/office/drawing/2014/main" id="{20AA245C-9532-4433-BAD9-DCAECF79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至少一个原文位置</a:t>
            </a:r>
          </a:p>
        </p:txBody>
      </p:sp>
      <p:sp>
        <p:nvSpPr>
          <p:cNvPr id="7" name="row-value-1">
            <a:extLst xmlns:a="http://schemas.openxmlformats.org/drawingml/2006/main">
              <a:ext uri="{FF2B5EF4-FFF2-40B4-BE49-F238E27FC236}">
                <a16:creationId xmlns:a16="http://schemas.microsoft.com/office/drawing/2014/main" id="{B6741BDA-6C41-4B4D-AF8F-1EF9342D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71800"/>
            <a:ext cx="8048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设置、指标、对照与结果如何相连？</a:t>
            </a:r>
          </a:p>
        </p:txBody>
      </p:sp>
      <p:sp>
        <p:nvSpPr>
          <p:cNvPr id="8" name="row-label-2">
            <a:extLst xmlns:a="http://schemas.openxmlformats.org/drawingml/2006/main">
              <a:ext uri="{FF2B5EF4-FFF2-40B4-BE49-F238E27FC236}">
                <a16:creationId xmlns:a16="http://schemas.microsoft.com/office/drawing/2014/main" id="{91FA506A-494B-4103-A5E8-09676580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2905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预期角色与限定</a:t>
            </a:r>
          </a:p>
        </p:txBody>
      </p:sp>
      <p:sp>
        <p:nvSpPr>
          <p:cNvPr id="9" name="row-value-2">
            <a:extLst xmlns:a="http://schemas.openxmlformats.org/drawingml/2006/main">
              <a:ext uri="{FF2B5EF4-FFF2-40B4-BE49-F238E27FC236}">
                <a16:creationId xmlns:a16="http://schemas.microsoft.com/office/drawing/2014/main" id="{F96F22E3-2AA0-4024-828C-74C1CD44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29050"/>
            <a:ext cx="8048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它支持我的项目什么，仍缺什么？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79628499-5149-4F78-9363-9E0DB9DA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9117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verified 或带完整限定的 verified-with-caveat 都可进入精读。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604A013F-B225-4705-ABB6-9E2B429E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D66376E3-6911-459D-B466-7976D055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本课带走第一张完整精读卡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C7B21E7C-F788-4D42-8C7A-DB03D98D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核心判断：原文支持哪种转述，支持到哪里？</a:t>
            </a:r>
          </a:p>
        </p:txBody>
      </p:sp>
      <p:sp>
        <p:nvSpPr>
          <p:cNvPr id="3" name="columns-label">
            <a:extLst xmlns:a="http://schemas.openxmlformats.org/drawingml/2006/main">
              <a:ext uri="{FF2B5EF4-FFF2-40B4-BE49-F238E27FC236}">
                <a16:creationId xmlns:a16="http://schemas.microsoft.com/office/drawing/2014/main" id="{803BD626-017B-48A4-BC9C-B0493A71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卡片区域   /   可以被同伴检查的内容</a:t>
            </a:r>
          </a:p>
        </p:txBody>
      </p:sp>
      <p:sp>
        <p:nvSpPr>
          <p:cNvPr id="4" name="row-label-0">
            <a:extLst xmlns:a="http://schemas.openxmlformats.org/drawingml/2006/main">
              <a:ext uri="{FF2B5EF4-FFF2-40B4-BE49-F238E27FC236}">
                <a16:creationId xmlns:a16="http://schemas.microsoft.com/office/drawing/2014/main" id="{8F05FBF5-B06A-44BB-8C44-DFD392C9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来源与主张</a:t>
            </a:r>
          </a:p>
        </p:txBody>
      </p:sp>
      <p:sp>
        <p:nvSpPr>
          <p:cNvPr id="5" name="row-value-0">
            <a:extLst xmlns:a="http://schemas.openxmlformats.org/drawingml/2006/main">
              <a:ext uri="{FF2B5EF4-FFF2-40B4-BE49-F238E27FC236}">
                <a16:creationId xmlns:a16="http://schemas.microsoft.com/office/drawing/2014/main" id="{7F8FA199-2ABD-460C-819B-97F81576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14550"/>
            <a:ext cx="8048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书目、拟用主张、至少两个原文位置</a:t>
            </a:r>
          </a:p>
        </p:txBody>
      </p:sp>
      <p:sp>
        <p:nvSpPr>
          <p:cNvPr id="6" name="row-label-1">
            <a:extLst xmlns:a="http://schemas.openxmlformats.org/drawingml/2006/main">
              <a:ext uri="{FF2B5EF4-FFF2-40B4-BE49-F238E27FC236}">
                <a16:creationId xmlns:a16="http://schemas.microsoft.com/office/drawing/2014/main" id="{3A6F5FA4-809B-4788-A629-B1A524F9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依据与条件</a:t>
            </a:r>
          </a:p>
        </p:txBody>
      </p:sp>
      <p:sp>
        <p:nvSpPr>
          <p:cNvPr id="7" name="row-value-1">
            <a:extLst xmlns:a="http://schemas.openxmlformats.org/drawingml/2006/main">
              <a:ext uri="{FF2B5EF4-FFF2-40B4-BE49-F238E27FC236}">
                <a16:creationId xmlns:a16="http://schemas.microsoft.com/office/drawing/2014/main" id="{701ECF1C-683F-4460-90A1-57C06C8A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71800"/>
            <a:ext cx="8048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任务、设置、指标、对照、样本、限定</a:t>
            </a:r>
          </a:p>
        </p:txBody>
      </p:sp>
      <p:sp>
        <p:nvSpPr>
          <p:cNvPr id="8" name="row-label-2">
            <a:extLst xmlns:a="http://schemas.openxmlformats.org/drawingml/2006/main">
              <a:ext uri="{FF2B5EF4-FFF2-40B4-BE49-F238E27FC236}">
                <a16:creationId xmlns:a16="http://schemas.microsoft.com/office/drawing/2014/main" id="{BD5CE68A-FA51-481E-B9C7-B3524C90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2905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审计与判断</a:t>
            </a:r>
          </a:p>
        </p:txBody>
      </p:sp>
      <p:sp>
        <p:nvSpPr>
          <p:cNvPr id="9" name="row-value-2">
            <a:extLst xmlns:a="http://schemas.openxmlformats.org/drawingml/2006/main">
              <a:ext uri="{FF2B5EF4-FFF2-40B4-BE49-F238E27FC236}">
                <a16:creationId xmlns:a16="http://schemas.microsoft.com/office/drawing/2014/main" id="{E420291F-0357-47C9-9A9F-9F04F0D3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29050"/>
            <a:ext cx="8048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AI 核验、作者局限、本人判断、剩余缺证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96811630-B492-4B1C-9759-2159666E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9117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全字段有值；不适用项写理由。保存到 reading-cards.md。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F171D872-544A-47B6-84CC-EC1A5D6A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38E38BC6-2AAA-4392-AF0C-08B3FB89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五步阅读各自产生什么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BC66BC76-2858-464A-A0E4-6ABD2886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围绕同一条主张，逐步把建议变成有依据的判断。</a:t>
            </a:r>
          </a:p>
        </p:txBody>
      </p:sp>
      <p:sp>
        <p:nvSpPr>
          <p:cNvPr id="3" name="columns-label">
            <a:extLst xmlns:a="http://schemas.openxmlformats.org/drawingml/2006/main">
              <a:ext uri="{FF2B5EF4-FFF2-40B4-BE49-F238E27FC236}">
                <a16:creationId xmlns:a16="http://schemas.microsoft.com/office/drawing/2014/main" id="{2396D170-7C41-4385-A478-9D0FF216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步骤   /   留下的记录</a:t>
            </a:r>
          </a:p>
        </p:txBody>
      </p:sp>
      <p:sp>
        <p:nvSpPr>
          <p:cNvPr id="4" name="row-label-0">
            <a:extLst xmlns:a="http://schemas.openxmlformats.org/drawingml/2006/main">
              <a:ext uri="{FF2B5EF4-FFF2-40B4-BE49-F238E27FC236}">
                <a16:creationId xmlns:a16="http://schemas.microsoft.com/office/drawing/2014/main" id="{79FBB4D5-2538-403C-8E1B-B73309E9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2571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AI 导航</a:t>
            </a:r>
          </a:p>
        </p:txBody>
      </p:sp>
      <p:sp>
        <p:nvSpPr>
          <p:cNvPr id="5" name="row-value-0">
            <a:extLst xmlns:a="http://schemas.openxmlformats.org/drawingml/2006/main">
              <a:ext uri="{FF2B5EF4-FFF2-40B4-BE49-F238E27FC236}">
                <a16:creationId xmlns:a16="http://schemas.microsoft.com/office/drawing/2014/main" id="{1FD97763-5DFC-4636-8C0F-24307E49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14550"/>
            <a:ext cx="8048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未核验的阅读地图与候选位置</a:t>
            </a:r>
          </a:p>
        </p:txBody>
      </p:sp>
      <p:sp>
        <p:nvSpPr>
          <p:cNvPr id="6" name="row-label-1">
            <a:extLst xmlns:a="http://schemas.openxmlformats.org/drawingml/2006/main">
              <a:ext uri="{FF2B5EF4-FFF2-40B4-BE49-F238E27FC236}">
                <a16:creationId xmlns:a16="http://schemas.microsoft.com/office/drawing/2014/main" id="{378D2C33-6C73-4A2D-B385-7986F5B4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90825"/>
            <a:ext cx="2571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原文核验</a:t>
            </a:r>
          </a:p>
        </p:txBody>
      </p:sp>
      <p:sp>
        <p:nvSpPr>
          <p:cNvPr id="7" name="row-value-1">
            <a:extLst xmlns:a="http://schemas.openxmlformats.org/drawingml/2006/main">
              <a:ext uri="{FF2B5EF4-FFF2-40B4-BE49-F238E27FC236}">
                <a16:creationId xmlns:a16="http://schemas.microsoft.com/office/drawing/2014/main" id="{3260B497-5D1E-443D-AF2C-17A405E8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90825"/>
            <a:ext cx="8048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带位置的主张、证据和范围</a:t>
            </a:r>
          </a:p>
        </p:txBody>
      </p:sp>
      <p:sp>
        <p:nvSpPr>
          <p:cNvPr id="8" name="row-label-2">
            <a:extLst xmlns:a="http://schemas.openxmlformats.org/drawingml/2006/main">
              <a:ext uri="{FF2B5EF4-FFF2-40B4-BE49-F238E27FC236}">
                <a16:creationId xmlns:a16="http://schemas.microsoft.com/office/drawing/2014/main" id="{DF480193-115A-498D-8A0F-87AC91B2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67100"/>
            <a:ext cx="2571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AI 质疑</a:t>
            </a:r>
          </a:p>
        </p:txBody>
      </p:sp>
      <p:sp>
        <p:nvSpPr>
          <p:cNvPr id="9" name="row-value-2">
            <a:extLst xmlns:a="http://schemas.openxmlformats.org/drawingml/2006/main">
              <a:ext uri="{FF2B5EF4-FFF2-40B4-BE49-F238E27FC236}">
                <a16:creationId xmlns:a16="http://schemas.microsoft.com/office/drawing/2014/main" id="{7FA296F6-96D9-4EE0-8197-485C5BA0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67100"/>
            <a:ext cx="8048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可回原文检查的问题</a:t>
            </a:r>
          </a:p>
        </p:txBody>
      </p:sp>
      <p:sp>
        <p:nvSpPr>
          <p:cNvPr id="10" name="row-label-3">
            <a:extLst xmlns:a="http://schemas.openxmlformats.org/drawingml/2006/main">
              <a:ext uri="{FF2B5EF4-FFF2-40B4-BE49-F238E27FC236}">
                <a16:creationId xmlns:a16="http://schemas.microsoft.com/office/drawing/2014/main" id="{92933C52-C05E-426F-83F8-F8ED69CF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2571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偏差审计</a:t>
            </a:r>
          </a:p>
        </p:txBody>
      </p:sp>
      <p:sp>
        <p:nvSpPr>
          <p:cNvPr id="11" name="row-value-3">
            <a:extLst xmlns:a="http://schemas.openxmlformats.org/drawingml/2006/main">
              <a:ext uri="{FF2B5EF4-FFF2-40B4-BE49-F238E27FC236}">
                <a16:creationId xmlns:a16="http://schemas.microsoft.com/office/drawing/2014/main" id="{C346D0D9-9A6B-4E5E-98D6-E427B9A8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43375"/>
            <a:ext cx="8048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输出与原文的差异，或已查风险</a:t>
            </a:r>
          </a:p>
        </p:txBody>
      </p:sp>
      <p:sp>
        <p:nvSpPr>
          <p:cNvPr id="12" name="row-label-4">
            <a:extLst xmlns:a="http://schemas.openxmlformats.org/drawingml/2006/main">
              <a:ext uri="{FF2B5EF4-FFF2-40B4-BE49-F238E27FC236}">
                <a16:creationId xmlns:a16="http://schemas.microsoft.com/office/drawing/2014/main" id="{11EE2362-CD39-4275-8BEA-C7D7CC30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9650"/>
            <a:ext cx="2571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人工定稿</a:t>
            </a:r>
          </a:p>
        </p:txBody>
      </p:sp>
      <p:sp>
        <p:nvSpPr>
          <p:cNvPr id="13" name="row-value-4">
            <a:extLst xmlns:a="http://schemas.openxmlformats.org/drawingml/2006/main">
              <a:ext uri="{FF2B5EF4-FFF2-40B4-BE49-F238E27FC236}">
                <a16:creationId xmlns:a16="http://schemas.microsoft.com/office/drawing/2014/main" id="{F32045E6-F9CF-4358-9D00-966B3BE7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819650"/>
            <a:ext cx="8048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区分作者、AI 和本人的最终阅读卡</a:t>
            </a:r>
          </a:p>
        </p:txBody>
      </p:sp>
      <p:sp>
        <p:nvSpPr>
          <p:cNvPr id="14" name="takeaway">
            <a:extLst xmlns:a="http://schemas.openxmlformats.org/drawingml/2006/main">
              <a:ext uri="{FF2B5EF4-FFF2-40B4-BE49-F238E27FC236}">
                <a16:creationId xmlns:a16="http://schemas.microsoft.com/office/drawing/2014/main" id="{E948010C-E8D3-4572-9AE3-7BCCD691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9117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无 AI 时以人工提问替代，并如实标记。</a:t>
            </a:r>
          </a:p>
        </p:txBody>
      </p:sp>
      <p:sp>
        <p:nvSpPr>
          <p:cNvPr id="16" name="page">
            <a:extLst xmlns:a="http://schemas.openxmlformats.org/drawingml/2006/main">
              <a:ext uri="{FF2B5EF4-FFF2-40B4-BE49-F238E27FC236}">
                <a16:creationId xmlns:a16="http://schemas.microsoft.com/office/drawing/2014/main" id="{0BF15163-BDD2-4CA1-955D-31404F0A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70AF7A0E-22D5-41A5-A0CD-E6F76111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AI 导航的输入与待核输出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90841E47-E42A-48D1-AF04-6C6E4D04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相邻构造示例，非真实模型运行或真实论文结果。</a:t>
            </a:r>
          </a:p>
        </p:txBody>
      </p:sp>
      <p:sp>
        <p:nvSpPr>
          <p:cNvPr id="3" name="columns-label">
            <a:extLst xmlns:a="http://schemas.openxmlformats.org/drawingml/2006/main">
              <a:ext uri="{FF2B5EF4-FFF2-40B4-BE49-F238E27FC236}">
                <a16:creationId xmlns:a16="http://schemas.microsoft.com/office/drawing/2014/main" id="{53061561-B7F0-44AA-8D84-114317E6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输入材料   /   候选阅读地图</a:t>
            </a:r>
          </a:p>
        </p:txBody>
      </p:sp>
      <p:sp>
        <p:nvSpPr>
          <p:cNvPr id="4" name="row-label-0">
            <a:extLst xmlns:a="http://schemas.openxmlformats.org/drawingml/2006/main">
              <a:ext uri="{FF2B5EF4-FFF2-40B4-BE49-F238E27FC236}">
                <a16:creationId xmlns:a16="http://schemas.microsoft.com/office/drawing/2014/main" id="{B6AE4E19-9F7D-474C-9D0D-4B02E2AE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公开方法段与结果段</a:t>
            </a:r>
          </a:p>
        </p:txBody>
      </p:sp>
      <p:sp>
        <p:nvSpPr>
          <p:cNvPr id="5" name="row-value-0">
            <a:extLst xmlns:a="http://schemas.openxmlformats.org/drawingml/2006/main">
              <a:ext uri="{FF2B5EF4-FFF2-40B4-BE49-F238E27FC236}">
                <a16:creationId xmlns:a16="http://schemas.microsoft.com/office/drawing/2014/main" id="{4FA0462F-CE84-4769-994F-4F2BBDAB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14550"/>
            <a:ext cx="8048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问题：是否保留摘要中的条件？</a:t>
            </a:r>
          </a:p>
        </p:txBody>
      </p:sp>
      <p:sp>
        <p:nvSpPr>
          <p:cNvPr id="6" name="row-label-1">
            <a:extLst xmlns:a="http://schemas.openxmlformats.org/drawingml/2006/main">
              <a:ext uri="{FF2B5EF4-FFF2-40B4-BE49-F238E27FC236}">
                <a16:creationId xmlns:a16="http://schemas.microsoft.com/office/drawing/2014/main" id="{3656013B-3A70-4769-83BC-3590805D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本人拟用主张</a:t>
            </a:r>
          </a:p>
        </p:txBody>
      </p:sp>
      <p:sp>
        <p:nvSpPr>
          <p:cNvPr id="7" name="row-value-1">
            <a:extLst xmlns:a="http://schemas.openxmlformats.org/drawingml/2006/main">
              <a:ext uri="{FF2B5EF4-FFF2-40B4-BE49-F238E27FC236}">
                <a16:creationId xmlns:a16="http://schemas.microsoft.com/office/drawing/2014/main" id="{B830E4FC-8E8C-4D48-BF32-20F9C9B5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71800"/>
            <a:ext cx="8048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建议位置：方法段、结果表、局限段</a:t>
            </a:r>
          </a:p>
        </p:txBody>
      </p:sp>
      <p:sp>
        <p:nvSpPr>
          <p:cNvPr id="8" name="row-label-2">
            <a:extLst xmlns:a="http://schemas.openxmlformats.org/drawingml/2006/main">
              <a:ext uri="{FF2B5EF4-FFF2-40B4-BE49-F238E27FC236}">
                <a16:creationId xmlns:a16="http://schemas.microsoft.com/office/drawing/2014/main" id="{5B1F3F13-2D19-4DD5-8B02-4C5501C1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2905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依据与未知项</a:t>
            </a:r>
          </a:p>
        </p:txBody>
      </p:sp>
      <p:sp>
        <p:nvSpPr>
          <p:cNvPr id="9" name="row-value-2">
            <a:extLst xmlns:a="http://schemas.openxmlformats.org/drawingml/2006/main">
              <a:ext uri="{FF2B5EF4-FFF2-40B4-BE49-F238E27FC236}">
                <a16:creationId xmlns:a16="http://schemas.microsoft.com/office/drawing/2014/main" id="{379E5EFE-F275-4CE7-B99A-2F2BD26A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29050"/>
            <a:ext cx="8048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待查：分母、比较方式、适用语料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689FED55-159F-4142-8D42-728275BE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9117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位置是导航建议；打开原文后才能确认。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4814315A-535A-44D5-91EF-E261C9C0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04CA7048-E133-42C3-AD8A-1F04280C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一句转述里可能混着多个断言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621F9FEA-5C34-4F39-9373-937671D1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构造转述：“模板降低遗漏率，因此适用于所有学科。”</a:t>
            </a:r>
          </a:p>
        </p:txBody>
      </p:sp>
      <p:sp>
        <p:nvSpPr>
          <p:cNvPr id="3" name="columns-label">
            <a:extLst xmlns:a="http://schemas.openxmlformats.org/drawingml/2006/main">
              <a:ext uri="{FF2B5EF4-FFF2-40B4-BE49-F238E27FC236}">
                <a16:creationId xmlns:a16="http://schemas.microsoft.com/office/drawing/2014/main" id="{AA083796-E261-494F-AED1-D3ABFC2A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断言   /   需要什么依据</a:t>
            </a:r>
          </a:p>
        </p:txBody>
      </p:sp>
      <p:sp>
        <p:nvSpPr>
          <p:cNvPr id="4" name="row-label-0">
            <a:extLst xmlns:a="http://schemas.openxmlformats.org/drawingml/2006/main">
              <a:ext uri="{FF2B5EF4-FFF2-40B4-BE49-F238E27FC236}">
                <a16:creationId xmlns:a16="http://schemas.microsoft.com/office/drawing/2014/main" id="{4B3461A7-FD4B-4D2B-9006-2CCE11DA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2571750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采用模板</a:t>
            </a:r>
          </a:p>
        </p:txBody>
      </p:sp>
      <p:sp>
        <p:nvSpPr>
          <p:cNvPr id="5" name="row-value-0">
            <a:extLst xmlns:a="http://schemas.openxmlformats.org/drawingml/2006/main">
              <a:ext uri="{FF2B5EF4-FFF2-40B4-BE49-F238E27FC236}">
                <a16:creationId xmlns:a16="http://schemas.microsoft.com/office/drawing/2014/main" id="{656EFEFE-56E8-4EC1-BC65-6060B752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14550"/>
            <a:ext cx="8048625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方法段中的实际操作</a:t>
            </a:r>
          </a:p>
        </p:txBody>
      </p:sp>
      <p:sp>
        <p:nvSpPr>
          <p:cNvPr id="6" name="row-label-1">
            <a:extLst xmlns:a="http://schemas.openxmlformats.org/drawingml/2006/main">
              <a:ext uri="{FF2B5EF4-FFF2-40B4-BE49-F238E27FC236}">
                <a16:creationId xmlns:a16="http://schemas.microsoft.com/office/drawing/2014/main" id="{28CCEDCA-50CB-4416-AF62-294E0502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9894"/>
            <a:ext cx="2571750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遗漏率降低</a:t>
            </a:r>
          </a:p>
        </p:txBody>
      </p:sp>
      <p:sp>
        <p:nvSpPr>
          <p:cNvPr id="7" name="row-value-1">
            <a:extLst xmlns:a="http://schemas.openxmlformats.org/drawingml/2006/main">
              <a:ext uri="{FF2B5EF4-FFF2-40B4-BE49-F238E27FC236}">
                <a16:creationId xmlns:a16="http://schemas.microsoft.com/office/drawing/2014/main" id="{7E0C4DD6-63F5-497F-BB0D-62C90CE0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59894"/>
            <a:ext cx="8048625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指标定义、对照和结果</a:t>
            </a:r>
          </a:p>
        </p:txBody>
      </p:sp>
      <p:sp>
        <p:nvSpPr>
          <p:cNvPr id="8" name="row-label-2">
            <a:extLst xmlns:a="http://schemas.openxmlformats.org/drawingml/2006/main">
              <a:ext uri="{FF2B5EF4-FFF2-40B4-BE49-F238E27FC236}">
                <a16:creationId xmlns:a16="http://schemas.microsoft.com/office/drawing/2014/main" id="{3B13C56C-C106-464F-94C6-01D14527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5238"/>
            <a:ext cx="2571750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适用于所有学科</a:t>
            </a:r>
          </a:p>
        </p:txBody>
      </p:sp>
      <p:sp>
        <p:nvSpPr>
          <p:cNvPr id="9" name="row-value-2">
            <a:extLst xmlns:a="http://schemas.openxmlformats.org/drawingml/2006/main">
              <a:ext uri="{FF2B5EF4-FFF2-40B4-BE49-F238E27FC236}">
                <a16:creationId xmlns:a16="http://schemas.microsoft.com/office/drawing/2014/main" id="{F22D1D76-2E68-4062-BA19-F020E3D1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05238"/>
            <a:ext cx="8048625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跨学科评价或相应范围证据</a:t>
            </a:r>
          </a:p>
        </p:txBody>
      </p:sp>
      <p:sp>
        <p:nvSpPr>
          <p:cNvPr id="10" name="row-label-3">
            <a:extLst xmlns:a="http://schemas.openxmlformats.org/drawingml/2006/main">
              <a:ext uri="{FF2B5EF4-FFF2-40B4-BE49-F238E27FC236}">
                <a16:creationId xmlns:a16="http://schemas.microsoft.com/office/drawing/2014/main" id="{DAB6D8F1-2557-4B8F-A862-BDC4ECF0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50581"/>
            <a:ext cx="2571750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用于本人项目</a:t>
            </a:r>
          </a:p>
        </p:txBody>
      </p:sp>
      <p:sp>
        <p:nvSpPr>
          <p:cNvPr id="11" name="row-value-3">
            <a:extLst xmlns:a="http://schemas.openxmlformats.org/drawingml/2006/main">
              <a:ext uri="{FF2B5EF4-FFF2-40B4-BE49-F238E27FC236}">
                <a16:creationId xmlns:a16="http://schemas.microsoft.com/office/drawing/2014/main" id="{934EB7A9-22E0-4ED3-B173-F23FA686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650581"/>
            <a:ext cx="8048625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本人任务与原研究的条件比较</a:t>
            </a:r>
          </a:p>
        </p:txBody>
      </p:sp>
      <p:sp>
        <p:nvSpPr>
          <p:cNvPr id="12" name="takeaway">
            <a:extLst xmlns:a="http://schemas.openxmlformats.org/drawingml/2006/main">
              <a:ext uri="{FF2B5EF4-FFF2-40B4-BE49-F238E27FC236}">
                <a16:creationId xmlns:a16="http://schemas.microsoft.com/office/drawing/2014/main" id="{40740850-24C3-42EF-8F3C-F9FEBF57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9117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先拆断言，再选择本课重点核验的一条。</a:t>
            </a:r>
          </a:p>
        </p:txBody>
      </p:sp>
      <p:sp>
        <p:nvSpPr>
          <p:cNvPr id="14" name="page">
            <a:extLst xmlns:a="http://schemas.openxmlformats.org/drawingml/2006/main">
              <a:ext uri="{FF2B5EF4-FFF2-40B4-BE49-F238E27FC236}">
                <a16:creationId xmlns:a16="http://schemas.microsoft.com/office/drawing/2014/main" id="{135C4C6A-6022-408B-ABE1-804D67F5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CEE52BDF-33D2-4D20-AB8D-F74820FA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任务与设置决定可比范围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8E3BF1DE-5E3F-439F-A6BD-F48F4468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研究对象和评价任务需要写到可以比较的程度。</a:t>
            </a:r>
          </a:p>
        </p:txBody>
      </p:sp>
      <p:sp>
        <p:nvSpPr>
          <p:cNvPr id="3" name="columns-label">
            <a:extLst xmlns:a="http://schemas.openxmlformats.org/drawingml/2006/main">
              <a:ext uri="{FF2B5EF4-FFF2-40B4-BE49-F238E27FC236}">
                <a16:creationId xmlns:a16="http://schemas.microsoft.com/office/drawing/2014/main" id="{32D4E81A-5D1F-4DB2-B0F4-BBCF2646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维度   /   要回原文找什么</a:t>
            </a:r>
          </a:p>
        </p:txBody>
      </p:sp>
      <p:sp>
        <p:nvSpPr>
          <p:cNvPr id="4" name="row-label-0">
            <a:extLst xmlns:a="http://schemas.openxmlformats.org/drawingml/2006/main">
              <a:ext uri="{FF2B5EF4-FFF2-40B4-BE49-F238E27FC236}">
                <a16:creationId xmlns:a16="http://schemas.microsoft.com/office/drawing/2014/main" id="{9090DC6C-B5B9-4662-B4EC-A731B834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2571750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5" name="row-value-0">
            <a:extLst xmlns:a="http://schemas.openxmlformats.org/drawingml/2006/main">
              <a:ext uri="{FF2B5EF4-FFF2-40B4-BE49-F238E27FC236}">
                <a16:creationId xmlns:a16="http://schemas.microsoft.com/office/drawing/2014/main" id="{60842452-0988-4FD9-9926-2EED8DC3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14550"/>
            <a:ext cx="8048625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摘要、问答、事实编辑还是其他任务？</a:t>
            </a:r>
          </a:p>
        </p:txBody>
      </p:sp>
      <p:sp>
        <p:nvSpPr>
          <p:cNvPr id="6" name="row-label-1">
            <a:extLst xmlns:a="http://schemas.openxmlformats.org/drawingml/2006/main">
              <a:ext uri="{FF2B5EF4-FFF2-40B4-BE49-F238E27FC236}">
                <a16:creationId xmlns:a16="http://schemas.microsoft.com/office/drawing/2014/main" id="{CB7DE39D-F4E6-404C-892A-403BA06B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9894"/>
            <a:ext cx="2571750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对象与输入</a:t>
            </a:r>
          </a:p>
        </p:txBody>
      </p:sp>
      <p:sp>
        <p:nvSpPr>
          <p:cNvPr id="7" name="row-value-1">
            <a:extLst xmlns:a="http://schemas.openxmlformats.org/drawingml/2006/main">
              <a:ext uri="{FF2B5EF4-FFF2-40B4-BE49-F238E27FC236}">
                <a16:creationId xmlns:a16="http://schemas.microsoft.com/office/drawing/2014/main" id="{4372634C-77D4-4264-A831-7F33678C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59894"/>
            <a:ext cx="8048625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论文片段、完整论文、语言与领域</a:t>
            </a:r>
          </a:p>
        </p:txBody>
      </p:sp>
      <p:sp>
        <p:nvSpPr>
          <p:cNvPr id="8" name="row-label-2">
            <a:extLst xmlns:a="http://schemas.openxmlformats.org/drawingml/2006/main">
              <a:ext uri="{FF2B5EF4-FFF2-40B4-BE49-F238E27FC236}">
                <a16:creationId xmlns:a16="http://schemas.microsoft.com/office/drawing/2014/main" id="{E34BB75C-EF8E-4E1A-979D-8B03EA56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5238"/>
            <a:ext cx="2571750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方法与版本</a:t>
            </a:r>
          </a:p>
        </p:txBody>
      </p:sp>
      <p:sp>
        <p:nvSpPr>
          <p:cNvPr id="9" name="row-value-2">
            <a:extLst xmlns:a="http://schemas.openxmlformats.org/drawingml/2006/main">
              <a:ext uri="{FF2B5EF4-FFF2-40B4-BE49-F238E27FC236}">
                <a16:creationId xmlns:a16="http://schemas.microsoft.com/office/drawing/2014/main" id="{8159F2FA-5B5F-40DD-A5C6-B633E011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05238"/>
            <a:ext cx="8048625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提示、模型、训练或推理设置</a:t>
            </a:r>
          </a:p>
        </p:txBody>
      </p:sp>
      <p:sp>
        <p:nvSpPr>
          <p:cNvPr id="10" name="row-label-3">
            <a:extLst xmlns:a="http://schemas.openxmlformats.org/drawingml/2006/main">
              <a:ext uri="{FF2B5EF4-FFF2-40B4-BE49-F238E27FC236}">
                <a16:creationId xmlns:a16="http://schemas.microsoft.com/office/drawing/2014/main" id="{0245ECC6-323A-4099-B744-6C3A44BA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50581"/>
            <a:ext cx="2571750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样本与单位</a:t>
            </a:r>
          </a:p>
        </p:txBody>
      </p:sp>
      <p:sp>
        <p:nvSpPr>
          <p:cNvPr id="11" name="row-value-3">
            <a:extLst xmlns:a="http://schemas.openxmlformats.org/drawingml/2006/main">
              <a:ext uri="{FF2B5EF4-FFF2-40B4-BE49-F238E27FC236}">
                <a16:creationId xmlns:a16="http://schemas.microsoft.com/office/drawing/2014/main" id="{232839B3-872E-45D7-BA76-353719A1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650581"/>
            <a:ext cx="8048625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论文数、输出数与独立单位</a:t>
            </a:r>
          </a:p>
        </p:txBody>
      </p:sp>
      <p:sp>
        <p:nvSpPr>
          <p:cNvPr id="12" name="takeaway">
            <a:extLst xmlns:a="http://schemas.openxmlformats.org/drawingml/2006/main">
              <a:ext uri="{FF2B5EF4-FFF2-40B4-BE49-F238E27FC236}">
                <a16:creationId xmlns:a16="http://schemas.microsoft.com/office/drawing/2014/main" id="{46777D72-3AC1-418C-9B83-EBF2A469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9117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把范围写进主张，读者才能判断能否用于自己的问题。</a:t>
            </a:r>
          </a:p>
        </p:txBody>
      </p:sp>
      <p:sp>
        <p:nvSpPr>
          <p:cNvPr id="14" name="page">
            <a:extLst xmlns:a="http://schemas.openxmlformats.org/drawingml/2006/main">
              <a:ext uri="{FF2B5EF4-FFF2-40B4-BE49-F238E27FC236}">
                <a16:creationId xmlns:a16="http://schemas.microsoft.com/office/drawing/2014/main" id="{8AE260B5-D05C-4BEE-92F0-3EF62732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6C1C739B-491C-49D7-B329-647A9404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指标与对照决定结果的含义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F6ADD6CC-757E-4339-9B76-696C2DFD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构造计算例，非实证结果：同一组片段共有 10 项应保留条件。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17549D-F623-4BB9-AAE2-EB2180B248FB}"/>
              </a:ext>
            </a:extLst>
          </p:cNvPr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858500" cy="28956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81250"/>
                <a:gridCol w="5334000"/>
                <a:gridCol w="314325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方法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遗漏项 / 应保留项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遗漏率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1F4D78"/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自由摘要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 / 10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40%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模板摘要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 / 10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20%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差异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减少 2 项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下降 20 个百分点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1F9A640C-20CB-4E07-AE75-0527D7C2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9117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相对下降 50% 与下降 20 个百分点不同；这个小例不支持总体效果。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2221C749-A799-49DE-8803-2C9A6F07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BA10F66C-2977-4406-9D76-351FBB87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限定条件与允许转述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33F04E72-822D-4818-8490-DBA329EF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保留会改变解释的条件，形成可以复查的句子。</a:t>
            </a:r>
          </a:p>
        </p:txBody>
      </p:sp>
      <p:sp>
        <p:nvSpPr>
          <p:cNvPr id="3" name="columns-label">
            <a:extLst xmlns:a="http://schemas.openxmlformats.org/drawingml/2006/main">
              <a:ext uri="{FF2B5EF4-FFF2-40B4-BE49-F238E27FC236}">
                <a16:creationId xmlns:a16="http://schemas.microsoft.com/office/drawing/2014/main" id="{BC599F27-8D63-43E4-9F89-FAF51C85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检查项   /   写法</a:t>
            </a:r>
          </a:p>
        </p:txBody>
      </p:sp>
      <p:sp>
        <p:nvSpPr>
          <p:cNvPr id="4" name="row-label-0">
            <a:extLst xmlns:a="http://schemas.openxmlformats.org/drawingml/2006/main">
              <a:ext uri="{FF2B5EF4-FFF2-40B4-BE49-F238E27FC236}">
                <a16:creationId xmlns:a16="http://schemas.microsoft.com/office/drawing/2014/main" id="{A91F709D-4942-45A0-AE07-00A461AA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2571750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对象 / 设置</a:t>
            </a:r>
          </a:p>
        </p:txBody>
      </p:sp>
      <p:sp>
        <p:nvSpPr>
          <p:cNvPr id="5" name="row-value-0">
            <a:extLst xmlns:a="http://schemas.openxmlformats.org/drawingml/2006/main">
              <a:ext uri="{FF2B5EF4-FFF2-40B4-BE49-F238E27FC236}">
                <a16:creationId xmlns:a16="http://schemas.microsoft.com/office/drawing/2014/main" id="{F699A24A-0D60-446A-8EFD-1BE559B0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14550"/>
            <a:ext cx="8048625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在该语料、任务和方法版本下</a:t>
            </a:r>
          </a:p>
        </p:txBody>
      </p:sp>
      <p:sp>
        <p:nvSpPr>
          <p:cNvPr id="6" name="row-label-1">
            <a:extLst xmlns:a="http://schemas.openxmlformats.org/drawingml/2006/main">
              <a:ext uri="{FF2B5EF4-FFF2-40B4-BE49-F238E27FC236}">
                <a16:creationId xmlns:a16="http://schemas.microsoft.com/office/drawing/2014/main" id="{5DF6855C-5AC0-46A5-9B70-0B2CDF15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9894"/>
            <a:ext cx="2571750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指标 / 对照</a:t>
            </a:r>
          </a:p>
        </p:txBody>
      </p:sp>
      <p:sp>
        <p:nvSpPr>
          <p:cNvPr id="7" name="row-value-1">
            <a:extLst xmlns:a="http://schemas.openxmlformats.org/drawingml/2006/main">
              <a:ext uri="{FF2B5EF4-FFF2-40B4-BE49-F238E27FC236}">
                <a16:creationId xmlns:a16="http://schemas.microsoft.com/office/drawing/2014/main" id="{C672171B-C69C-4E62-92BA-C484EB26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59894"/>
            <a:ext cx="8048625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相对具体基线，哪个指标如何变化</a:t>
            </a:r>
          </a:p>
        </p:txBody>
      </p:sp>
      <p:sp>
        <p:nvSpPr>
          <p:cNvPr id="8" name="row-label-2">
            <a:extLst xmlns:a="http://schemas.openxmlformats.org/drawingml/2006/main">
              <a:ext uri="{FF2B5EF4-FFF2-40B4-BE49-F238E27FC236}">
                <a16:creationId xmlns:a16="http://schemas.microsoft.com/office/drawing/2014/main" id="{0FF81295-B236-4273-9F36-D61EB4C5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5238"/>
            <a:ext cx="2571750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支持强度</a:t>
            </a:r>
          </a:p>
        </p:txBody>
      </p:sp>
      <p:sp>
        <p:nvSpPr>
          <p:cNvPr id="9" name="row-value-2">
            <a:extLst xmlns:a="http://schemas.openxmlformats.org/drawingml/2006/main">
              <a:ext uri="{FF2B5EF4-FFF2-40B4-BE49-F238E27FC236}">
                <a16:creationId xmlns:a16="http://schemas.microsoft.com/office/drawing/2014/main" id="{AC2B3706-D3F9-475D-B194-62691017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05238"/>
            <a:ext cx="8048625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实验结果、作者解释或经验建议</a:t>
            </a:r>
          </a:p>
        </p:txBody>
      </p:sp>
      <p:sp>
        <p:nvSpPr>
          <p:cNvPr id="10" name="row-label-3">
            <a:extLst xmlns:a="http://schemas.openxmlformats.org/drawingml/2006/main">
              <a:ext uri="{FF2B5EF4-FFF2-40B4-BE49-F238E27FC236}">
                <a16:creationId xmlns:a16="http://schemas.microsoft.com/office/drawing/2014/main" id="{0A841ACF-4FF9-43E9-A84D-6FE4E4D7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50581"/>
            <a:ext cx="2571750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迁移判断</a:t>
            </a:r>
          </a:p>
        </p:txBody>
      </p:sp>
      <p:sp>
        <p:nvSpPr>
          <p:cNvPr id="11" name="row-value-3">
            <a:extLst xmlns:a="http://schemas.openxmlformats.org/drawingml/2006/main">
              <a:ext uri="{FF2B5EF4-FFF2-40B4-BE49-F238E27FC236}">
                <a16:creationId xmlns:a16="http://schemas.microsoft.com/office/drawing/2014/main" id="{2210B304-18FA-495F-9521-7822F309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650581"/>
            <a:ext cx="8048625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本人采用什么，仍待验证什么</a:t>
            </a:r>
          </a:p>
        </p:txBody>
      </p:sp>
      <p:sp>
        <p:nvSpPr>
          <p:cNvPr id="12" name="takeaway">
            <a:extLst xmlns:a="http://schemas.openxmlformats.org/drawingml/2006/main">
              <a:ext uri="{FF2B5EF4-FFF2-40B4-BE49-F238E27FC236}">
                <a16:creationId xmlns:a16="http://schemas.microsoft.com/office/drawing/2014/main" id="{4DDFF771-E135-4E2C-921B-74231694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9117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通用句型：在〔条件〕下，相对〔对照〕，〔指标〕出现〔结果〕。</a:t>
            </a:r>
          </a:p>
        </p:txBody>
      </p:sp>
      <p:sp>
        <p:nvSpPr>
          <p:cNvPr id="14" name="page">
            <a:extLst xmlns:a="http://schemas.openxmlformats.org/drawingml/2006/main">
              <a:ext uri="{FF2B5EF4-FFF2-40B4-BE49-F238E27FC236}">
                <a16:creationId xmlns:a16="http://schemas.microsoft.com/office/drawing/2014/main" id="{5EC05A13-9D00-48D5-B69A-6F073C04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FF4A032E-DB86-40CC-8F69-6942BEC2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同一来源的两种转述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D78A2E29-8AFE-4949-8FA3-27A9CC82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真实来源：Keshav (2007)。A、B 均为教学构造，非真实模型输出。</a:t>
            </a:r>
          </a:p>
        </p:txBody>
      </p:sp>
      <p:sp>
        <p:nvSpPr>
          <p:cNvPr id="3" name="comparison-label-0">
            <a:extLst xmlns:a="http://schemas.openxmlformats.org/drawingml/2006/main">
              <a:ext uri="{FF2B5EF4-FFF2-40B4-BE49-F238E27FC236}">
                <a16:creationId xmlns:a16="http://schemas.microsoft.com/office/drawing/2014/main" id="{B602F79F-18FA-44C8-882D-3094A202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A</a:t>
            </a:r>
          </a:p>
        </p:txBody>
      </p:sp>
      <p:sp>
        <p:nvSpPr>
          <p:cNvPr id="4" name="comparison-body-0">
            <a:extLst xmlns:a="http://schemas.openxmlformats.org/drawingml/2006/main">
              <a:ext uri="{FF2B5EF4-FFF2-40B4-BE49-F238E27FC236}">
                <a16:creationId xmlns:a16="http://schemas.microsoft.com/office/drawing/2014/main" id="{7087F1E9-763E-4D63-96EF-ACFF8139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5143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作者提出三遍阅读法，第一遍约 5–10 分钟；该方法可作为阅读卡设计的参考。</a:t>
            </a:r>
          </a:p>
        </p:txBody>
      </p:sp>
      <p:sp>
        <p:nvSpPr>
          <p:cNvPr id="5" name="comparison-label-1">
            <a:extLst xmlns:a="http://schemas.openxmlformats.org/drawingml/2006/main">
              <a:ext uri="{FF2B5EF4-FFF2-40B4-BE49-F238E27FC236}">
                <a16:creationId xmlns:a16="http://schemas.microsoft.com/office/drawing/2014/main" id="{5C17B1C5-7F9E-4325-AF07-C753E972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3832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B</a:t>
            </a:r>
          </a:p>
        </p:txBody>
      </p:sp>
      <p:sp>
        <p:nvSpPr>
          <p:cNvPr id="6" name="comparison-body-1">
            <a:extLst xmlns:a="http://schemas.openxmlformats.org/drawingml/2006/main">
              <a:ext uri="{FF2B5EF4-FFF2-40B4-BE49-F238E27FC236}">
                <a16:creationId xmlns:a16="http://schemas.microsoft.com/office/drawing/2014/main" id="{75366AD0-E32F-404A-8924-D5D410F8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76500"/>
            <a:ext cx="5143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论文以对照实验证明三遍法使阅读时间减少 50%，因此阅读卡可以提高所有科研任务的效率。</a:t>
            </a:r>
          </a:p>
        </p:txBody>
      </p:sp>
      <p:sp>
        <p:nvSpPr>
          <p:cNvPr id="7" name="takeaway">
            <a:extLst xmlns:a="http://schemas.openxmlformats.org/drawingml/2006/main">
              <a:ext uri="{FF2B5EF4-FFF2-40B4-BE49-F238E27FC236}">
                <a16:creationId xmlns:a16="http://schemas.microsoft.com/office/drawing/2014/main" id="{3361213C-D55E-460A-8741-F120F49A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9117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可接受部分主张，也可判断仍缺证据；先独立记录依据。</a:t>
            </a:r>
          </a:p>
        </p:txBody>
      </p:sp>
      <p:sp>
        <p:nvSpPr>
          <p:cNvPr id="8" name="source">
            <a:extLst xmlns:a="http://schemas.openxmlformats.org/drawingml/2006/main">
              <a:ext uri="{FF2B5EF4-FFF2-40B4-BE49-F238E27FC236}">
                <a16:creationId xmlns:a16="http://schemas.microsoft.com/office/drawing/2014/main" id="{2A8C850B-046C-45C5-8A11-825B0DA6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91275"/>
            <a:ext cx="1038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Keshav 2007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BBDBB22A-7A5E-4BE4-9DF7-0D74E975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265A5DF0-0F91-4AC5-B3D8-F081D5F0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原文定位任务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D6FE6007-4F18-4A95-BF07-C415F851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论文共两页；用完整原文检查转述依据。</a:t>
            </a:r>
          </a:p>
        </p:txBody>
      </p:sp>
      <p:sp>
        <p:nvSpPr>
          <p:cNvPr id="3" name="columns-label">
            <a:extLst xmlns:a="http://schemas.openxmlformats.org/drawingml/2006/main">
              <a:ext uri="{FF2B5EF4-FFF2-40B4-BE49-F238E27FC236}">
                <a16:creationId xmlns:a16="http://schemas.microsoft.com/office/drawing/2014/main" id="{035DB626-7F33-44D8-89BF-BF40D1B9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位置   /   需要检查的对象</a:t>
            </a:r>
          </a:p>
        </p:txBody>
      </p:sp>
      <p:sp>
        <p:nvSpPr>
          <p:cNvPr id="4" name="row-label-0">
            <a:extLst xmlns:a="http://schemas.openxmlformats.org/drawingml/2006/main">
              <a:ext uri="{FF2B5EF4-FFF2-40B4-BE49-F238E27FC236}">
                <a16:creationId xmlns:a16="http://schemas.microsoft.com/office/drawing/2014/main" id="{1AC63BB3-E065-468B-86B1-79C296F7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2571750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p.83 摘要、§2</a:t>
            </a:r>
          </a:p>
        </p:txBody>
      </p:sp>
      <p:sp>
        <p:nvSpPr>
          <p:cNvPr id="5" name="row-value-0">
            <a:extLst xmlns:a="http://schemas.openxmlformats.org/drawingml/2006/main">
              <a:ext uri="{FF2B5EF4-FFF2-40B4-BE49-F238E27FC236}">
                <a16:creationId xmlns:a16="http://schemas.microsoft.com/office/drawing/2014/main" id="{C342ECED-9B2D-4A44-BEA4-38D2AFDC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14550"/>
            <a:ext cx="8048625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方法目的与结构</a:t>
            </a:r>
          </a:p>
        </p:txBody>
      </p:sp>
      <p:sp>
        <p:nvSpPr>
          <p:cNvPr id="6" name="row-label-1">
            <a:extLst xmlns:a="http://schemas.openxmlformats.org/drawingml/2006/main">
              <a:ext uri="{FF2B5EF4-FFF2-40B4-BE49-F238E27FC236}">
                <a16:creationId xmlns:a16="http://schemas.microsoft.com/office/drawing/2014/main" id="{B303581A-177F-4666-8CDC-799D6EDE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9894"/>
            <a:ext cx="2571750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p.83 §2.1</a:t>
            </a:r>
          </a:p>
        </p:txBody>
      </p:sp>
      <p:sp>
        <p:nvSpPr>
          <p:cNvPr id="7" name="row-value-1">
            <a:extLst xmlns:a="http://schemas.openxmlformats.org/drawingml/2006/main">
              <a:ext uri="{FF2B5EF4-FFF2-40B4-BE49-F238E27FC236}">
                <a16:creationId xmlns:a16="http://schemas.microsoft.com/office/drawing/2014/main" id="{B64D98BA-E7A5-4088-B23F-D4E82581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59894"/>
            <a:ext cx="8048625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第一遍的参考时长与目标</a:t>
            </a:r>
          </a:p>
        </p:txBody>
      </p:sp>
      <p:sp>
        <p:nvSpPr>
          <p:cNvPr id="8" name="row-label-2">
            <a:extLst xmlns:a="http://schemas.openxmlformats.org/drawingml/2006/main">
              <a:ext uri="{FF2B5EF4-FFF2-40B4-BE49-F238E27FC236}">
                <a16:creationId xmlns:a16="http://schemas.microsoft.com/office/drawing/2014/main" id="{019F4B36-F53D-4E33-8A27-F907F841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5238"/>
            <a:ext cx="2571750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p.83 §2.2、p.84 §2.3</a:t>
            </a:r>
          </a:p>
        </p:txBody>
      </p:sp>
      <p:sp>
        <p:nvSpPr>
          <p:cNvPr id="9" name="row-value-2">
            <a:extLst xmlns:a="http://schemas.openxmlformats.org/drawingml/2006/main">
              <a:ext uri="{FF2B5EF4-FFF2-40B4-BE49-F238E27FC236}">
                <a16:creationId xmlns:a16="http://schemas.microsoft.com/office/drawing/2014/main" id="{B104E20E-046F-4755-B529-97EDA7AE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05238"/>
            <a:ext cx="8048625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后续阅读深度</a:t>
            </a:r>
          </a:p>
        </p:txBody>
      </p:sp>
      <p:sp>
        <p:nvSpPr>
          <p:cNvPr id="10" name="row-label-3">
            <a:extLst xmlns:a="http://schemas.openxmlformats.org/drawingml/2006/main">
              <a:ext uri="{FF2B5EF4-FFF2-40B4-BE49-F238E27FC236}">
                <a16:creationId xmlns:a16="http://schemas.microsoft.com/office/drawing/2014/main" id="{545DDC89-3434-440C-94B2-F3D83EE0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50581"/>
            <a:ext cx="2571750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p.84 §4 及全文</a:t>
            </a:r>
          </a:p>
        </p:txBody>
      </p:sp>
      <p:sp>
        <p:nvSpPr>
          <p:cNvPr id="11" name="row-value-3">
            <a:extLst xmlns:a="http://schemas.openxmlformats.org/drawingml/2006/main">
              <a:ext uri="{FF2B5EF4-FFF2-40B4-BE49-F238E27FC236}">
                <a16:creationId xmlns:a16="http://schemas.microsoft.com/office/drawing/2014/main" id="{3FEEBD7B-52F6-43E0-8679-54E85851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650581"/>
            <a:ext cx="8048625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经验依据，有无转述所称实验</a:t>
            </a:r>
          </a:p>
        </p:txBody>
      </p:sp>
      <p:sp>
        <p:nvSpPr>
          <p:cNvPr id="12" name="takeaway">
            <a:extLst xmlns:a="http://schemas.openxmlformats.org/drawingml/2006/main">
              <a:ext uri="{FF2B5EF4-FFF2-40B4-BE49-F238E27FC236}">
                <a16:creationId xmlns:a16="http://schemas.microsoft.com/office/drawing/2014/main" id="{CE57DDD2-ED8D-4D86-8706-9AFF6DA3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9117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写下具体原文位置；“没在截图看到”不足以判断全文没有。</a:t>
            </a:r>
          </a:p>
        </p:txBody>
      </p:sp>
      <p:sp>
        <p:nvSpPr>
          <p:cNvPr id="14" name="page">
            <a:extLst xmlns:a="http://schemas.openxmlformats.org/drawingml/2006/main">
              <a:ext uri="{FF2B5EF4-FFF2-40B4-BE49-F238E27FC236}">
                <a16:creationId xmlns:a16="http://schemas.microsoft.com/office/drawing/2014/main" id="{170DCF05-9864-4EC5-BA24-BE7C919F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FF4C79DF-E333-46D3-9F6C-B9B8D97B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同伴比较：证据支持到哪一步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33B10FE7-46A1-4E58-B838-7DEF5E1E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先核对位置，再比较彼此的转述。</a:t>
            </a:r>
          </a:p>
        </p:txBody>
      </p:sp>
      <p:sp>
        <p:nvSpPr>
          <p:cNvPr id="3" name="columns-label">
            <a:extLst xmlns:a="http://schemas.openxmlformats.org/drawingml/2006/main">
              <a:ext uri="{FF2B5EF4-FFF2-40B4-BE49-F238E27FC236}">
                <a16:creationId xmlns:a16="http://schemas.microsoft.com/office/drawing/2014/main" id="{3071063A-D428-43D9-B162-3491DA6E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双方比较   /   问题</a:t>
            </a:r>
          </a:p>
        </p:txBody>
      </p:sp>
      <p:sp>
        <p:nvSpPr>
          <p:cNvPr id="4" name="row-label-0">
            <a:extLst xmlns:a="http://schemas.openxmlformats.org/drawingml/2006/main">
              <a:ext uri="{FF2B5EF4-FFF2-40B4-BE49-F238E27FC236}">
                <a16:creationId xmlns:a16="http://schemas.microsoft.com/office/drawing/2014/main" id="{039C7D8D-FE73-49C7-9E32-4B36DA68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2571750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方法描述</a:t>
            </a:r>
          </a:p>
        </p:txBody>
      </p:sp>
      <p:sp>
        <p:nvSpPr>
          <p:cNvPr id="5" name="row-value-0">
            <a:extLst xmlns:a="http://schemas.openxmlformats.org/drawingml/2006/main">
              <a:ext uri="{FF2B5EF4-FFF2-40B4-BE49-F238E27FC236}">
                <a16:creationId xmlns:a16="http://schemas.microsoft.com/office/drawing/2014/main" id="{6325B6C9-50D3-49EA-B61A-21A301FB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14550"/>
            <a:ext cx="8048625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它是作者明确提出，还是个人推断？</a:t>
            </a:r>
          </a:p>
        </p:txBody>
      </p:sp>
      <p:sp>
        <p:nvSpPr>
          <p:cNvPr id="6" name="row-label-1">
            <a:extLst xmlns:a="http://schemas.openxmlformats.org/drawingml/2006/main">
              <a:ext uri="{FF2B5EF4-FFF2-40B4-BE49-F238E27FC236}">
                <a16:creationId xmlns:a16="http://schemas.microsoft.com/office/drawing/2014/main" id="{327705DA-7332-4466-BB78-FA164B9D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9894"/>
            <a:ext cx="2571750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效果断言</a:t>
            </a:r>
          </a:p>
        </p:txBody>
      </p:sp>
      <p:sp>
        <p:nvSpPr>
          <p:cNvPr id="7" name="row-value-1">
            <a:extLst xmlns:a="http://schemas.openxmlformats.org/drawingml/2006/main">
              <a:ext uri="{FF2B5EF4-FFF2-40B4-BE49-F238E27FC236}">
                <a16:creationId xmlns:a16="http://schemas.microsoft.com/office/drawing/2014/main" id="{CE32F00F-3F96-45B1-BCF7-017B6CF6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59894"/>
            <a:ext cx="8048625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是否找到相应设置、指标和对照？</a:t>
            </a:r>
          </a:p>
        </p:txBody>
      </p:sp>
      <p:sp>
        <p:nvSpPr>
          <p:cNvPr id="8" name="row-label-2">
            <a:extLst xmlns:a="http://schemas.openxmlformats.org/drawingml/2006/main">
              <a:ext uri="{FF2B5EF4-FFF2-40B4-BE49-F238E27FC236}">
                <a16:creationId xmlns:a16="http://schemas.microsoft.com/office/drawing/2014/main" id="{0B81CE38-8DBA-4C6D-BA28-504170BB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5238"/>
            <a:ext cx="2571750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范围词</a:t>
            </a:r>
          </a:p>
        </p:txBody>
      </p:sp>
      <p:sp>
        <p:nvSpPr>
          <p:cNvPr id="9" name="row-value-2">
            <a:extLst xmlns:a="http://schemas.openxmlformats.org/drawingml/2006/main">
              <a:ext uri="{FF2B5EF4-FFF2-40B4-BE49-F238E27FC236}">
                <a16:creationId xmlns:a16="http://schemas.microsoft.com/office/drawing/2014/main" id="{5EF3E7D0-349C-4B86-8427-72674978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05238"/>
            <a:ext cx="8048625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“所有”“证明”等词是否有依据？</a:t>
            </a:r>
          </a:p>
        </p:txBody>
      </p:sp>
      <p:sp>
        <p:nvSpPr>
          <p:cNvPr id="10" name="row-label-3">
            <a:extLst xmlns:a="http://schemas.openxmlformats.org/drawingml/2006/main">
              <a:ext uri="{FF2B5EF4-FFF2-40B4-BE49-F238E27FC236}">
                <a16:creationId xmlns:a16="http://schemas.microsoft.com/office/drawing/2014/main" id="{563D65B6-1399-42D0-9E01-30492070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50581"/>
            <a:ext cx="2571750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缺证记录</a:t>
            </a:r>
          </a:p>
        </p:txBody>
      </p:sp>
      <p:sp>
        <p:nvSpPr>
          <p:cNvPr id="11" name="row-value-3">
            <a:extLst xmlns:a="http://schemas.openxmlformats.org/drawingml/2006/main">
              <a:ext uri="{FF2B5EF4-FFF2-40B4-BE49-F238E27FC236}">
                <a16:creationId xmlns:a16="http://schemas.microsoft.com/office/drawing/2014/main" id="{2A1C237E-02D7-420D-A04F-A770AD54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650581"/>
            <a:ext cx="8048625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下一项检查会怎样改变判断？</a:t>
            </a:r>
          </a:p>
        </p:txBody>
      </p:sp>
      <p:sp>
        <p:nvSpPr>
          <p:cNvPr id="12" name="takeaway">
            <a:extLst xmlns:a="http://schemas.openxmlformats.org/drawingml/2006/main">
              <a:ext uri="{FF2B5EF4-FFF2-40B4-BE49-F238E27FC236}">
                <a16:creationId xmlns:a16="http://schemas.microsoft.com/office/drawing/2014/main" id="{B7DD5CCC-360A-4B5F-87E3-22EFAB9E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9117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保留初始答案与分歧，教师校准后再修订。</a:t>
            </a:r>
          </a:p>
        </p:txBody>
      </p:sp>
      <p:sp>
        <p:nvSpPr>
          <p:cNvPr id="14" name="page">
            <a:extLst xmlns:a="http://schemas.openxmlformats.org/drawingml/2006/main">
              <a:ext uri="{FF2B5EF4-FFF2-40B4-BE49-F238E27FC236}">
                <a16:creationId xmlns:a16="http://schemas.microsoft.com/office/drawing/2014/main" id="{D3E307EC-C81B-47D4-AB15-8CD27D6A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9185C67B-9BCE-4510-9EDC-3E856796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主张逐项裁决的记录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06158DF9-C4DA-4567-B5D5-2A7F3D16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一句话中的断言可以得到不同处理。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1BD8EF-23AE-4320-BA02-BC8BADA65372}"/>
              </a:ext>
            </a:extLst>
          </p:cNvPr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858500" cy="28956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81250"/>
                <a:gridCol w="5334000"/>
                <a:gridCol w="314325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断言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原文位置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决定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1F4D78"/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方法描述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填写支持段落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 / 修订 / 待核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量化效果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填写实验或缺证依据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 / 删除 / 待核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本人迁移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填写条件比较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采用 / 暂缓及理由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3B212AB6-E5E1-430D-8648-CEF6A162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9117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每项决定都对应具体位置或明确的缺证。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8627A08C-11B3-4C63-AF03-94498BE0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F35649CA-96CA-43EF-ACA3-7CE73747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原文支持的方法描述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52955F65-7FDC-4914-89E1-7AEA911B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Keshav p.83 §2.1，真实原文片段。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4F0566-901F-43CB-9574-B3204BBF62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expImage2"/>
          <a:stretch xmlns:a="http://schemas.openxmlformats.org/drawingml/2006/main"/>
        </p:blipFill>
        <p:spPr>
          <a:xfrm xmlns:a="http://schemas.openxmlformats.org/drawingml/2006/main">
            <a:off x="666750" y="2773862"/>
            <a:ext cx="6762750" cy="1548402"/>
          </a:xfrm>
          <a:prstGeom xmlns:a="http://schemas.openxmlformats.org/drawingml/2006/main" prst="rect">
            <a:avLst/>
          </a:prstGeom>
        </p:spPr>
      </p:pic>
      <p:sp>
        <p:nvSpPr>
          <p:cNvPr id="4" name="evidence-label-0">
            <a:extLst xmlns:a="http://schemas.openxmlformats.org/drawingml/2006/main">
              <a:ext uri="{FF2B5EF4-FFF2-40B4-BE49-F238E27FC236}">
                <a16:creationId xmlns:a16="http://schemas.microsoft.com/office/drawing/2014/main" id="{566A18B2-ABFF-4A54-895C-9D926EB3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383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about five to ten minutes</a:t>
            </a:r>
          </a:p>
        </p:txBody>
      </p:sp>
      <p:sp>
        <p:nvSpPr>
          <p:cNvPr id="5" name="evidence-explanation-0">
            <a:extLst xmlns:a="http://schemas.openxmlformats.org/drawingml/2006/main">
              <a:ext uri="{FF2B5EF4-FFF2-40B4-BE49-F238E27FC236}">
                <a16:creationId xmlns:a16="http://schemas.microsoft.com/office/drawing/2014/main" id="{8033C519-9133-4301-ACB2-28F8964D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62175"/>
            <a:ext cx="37147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约 5–10 分钟</a:t>
            </a:r>
          </a:p>
        </p:txBody>
      </p:sp>
      <p:sp>
        <p:nvSpPr>
          <p:cNvPr id="6" name="evidence-label-1">
            <a:extLst xmlns:a="http://schemas.openxmlformats.org/drawingml/2006/main">
              <a:ext uri="{FF2B5EF4-FFF2-40B4-BE49-F238E27FC236}">
                <a16:creationId xmlns:a16="http://schemas.microsoft.com/office/drawing/2014/main" id="{814FDF6F-990E-47AA-8C57-5FA1FA6E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337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a bird’s-eye view</a:t>
            </a:r>
          </a:p>
        </p:txBody>
      </p:sp>
      <p:sp>
        <p:nvSpPr>
          <p:cNvPr id="7" name="evidence-explanation-1">
            <a:extLst xmlns:a="http://schemas.openxmlformats.org/drawingml/2006/main">
              <a:ext uri="{FF2B5EF4-FFF2-40B4-BE49-F238E27FC236}">
                <a16:creationId xmlns:a16="http://schemas.microsoft.com/office/drawing/2014/main" id="{20F04CDF-459A-47A8-9029-C5B128F5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57550"/>
            <a:ext cx="37147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先建立鸟瞰式理解</a:t>
            </a:r>
          </a:p>
        </p:txBody>
      </p:sp>
      <p:sp>
        <p:nvSpPr>
          <p:cNvPr id="8" name="evidence-label-2">
            <a:extLst xmlns:a="http://schemas.openxmlformats.org/drawingml/2006/main">
              <a:ext uri="{FF2B5EF4-FFF2-40B4-BE49-F238E27FC236}">
                <a16:creationId xmlns:a16="http://schemas.microsoft.com/office/drawing/2014/main" id="{A92E2E60-5090-48FE-BE9E-30FD117A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2907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any more passes</a:t>
            </a:r>
          </a:p>
        </p:txBody>
      </p:sp>
      <p:sp>
        <p:nvSpPr>
          <p:cNvPr id="9" name="evidence-explanation-2">
            <a:extLst xmlns:a="http://schemas.openxmlformats.org/drawingml/2006/main">
              <a:ext uri="{FF2B5EF4-FFF2-40B4-BE49-F238E27FC236}">
                <a16:creationId xmlns:a16="http://schemas.microsoft.com/office/drawing/2014/main" id="{D438B499-51BA-4486-B0B8-A6072D14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52925"/>
            <a:ext cx="37147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判断是否继续深入阅读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A09083F0-3D51-4C77-A70C-1DC7724C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9117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“约 5–10 分钟”保留范围；“固定 5 分钟”改变了原意。</a:t>
            </a:r>
          </a:p>
        </p:txBody>
      </p:sp>
      <p:sp>
        <p:nvSpPr>
          <p:cNvPr id="11" name="source">
            <a:extLst xmlns:a="http://schemas.openxmlformats.org/drawingml/2006/main">
              <a:ext uri="{FF2B5EF4-FFF2-40B4-BE49-F238E27FC236}">
                <a16:creationId xmlns:a16="http://schemas.microsoft.com/office/drawing/2014/main" id="{121B7DBF-F715-4C9C-81E7-E8BBF8A9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91275"/>
            <a:ext cx="1038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Keshav 2007 p.83 §2.1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287680D4-F3EB-418A-A3E4-B502F56D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AEE0AFBB-A580-46F3-AA54-D7F6E3B2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效果断言需要怎样的证据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EED448FD-FF6B-4FDF-BA88-DEE299B2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p.84 §4 陈述作者经验；全文两页未报告转述 B 所称的对照实验。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C8F51D-1498-4628-9C54-84D46AF41E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expImage2"/>
          <a:stretch xmlns:a="http://schemas.openxmlformats.org/drawingml/2006/main"/>
        </p:blipFill>
        <p:spPr>
          <a:xfrm xmlns:a="http://schemas.openxmlformats.org/drawingml/2006/main">
            <a:off x="666750" y="2205519"/>
            <a:ext cx="6762750" cy="2685087"/>
          </a:xfrm>
          <a:prstGeom xmlns:a="http://schemas.openxmlformats.org/drawingml/2006/main" prst="rect">
            <a:avLst/>
          </a:prstGeom>
        </p:spPr>
      </p:pic>
      <p:sp>
        <p:nvSpPr>
          <p:cNvPr id="4" name="evidence-label-0">
            <a:extLst xmlns:a="http://schemas.openxmlformats.org/drawingml/2006/main">
              <a:ext uri="{FF2B5EF4-FFF2-40B4-BE49-F238E27FC236}">
                <a16:creationId xmlns:a16="http://schemas.microsoft.com/office/drawing/2014/main" id="{5007C122-AF03-49D3-B9E8-98364D92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383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作者使用该方法的经验</a:t>
            </a:r>
          </a:p>
        </p:txBody>
      </p:sp>
      <p:sp>
        <p:nvSpPr>
          <p:cNvPr id="5" name="evidence-explanation-0">
            <a:extLst xmlns:a="http://schemas.openxmlformats.org/drawingml/2006/main">
              <a:ext uri="{FF2B5EF4-FFF2-40B4-BE49-F238E27FC236}">
                <a16:creationId xmlns:a16="http://schemas.microsoft.com/office/drawing/2014/main" id="{3C6D8C08-BF25-4974-9C26-3251A5BB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62175"/>
            <a:ext cx="37147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支持方法来源与使用背景</a:t>
            </a:r>
          </a:p>
        </p:txBody>
      </p:sp>
      <p:sp>
        <p:nvSpPr>
          <p:cNvPr id="6" name="evidence-label-1">
            <a:extLst xmlns:a="http://schemas.openxmlformats.org/drawingml/2006/main">
              <a:ext uri="{FF2B5EF4-FFF2-40B4-BE49-F238E27FC236}">
                <a16:creationId xmlns:a16="http://schemas.microsoft.com/office/drawing/2014/main" id="{A89A6BCA-2E23-4F29-B535-C6D0D947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337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“阅读时间减少 50%”</a:t>
            </a:r>
          </a:p>
        </p:txBody>
      </p:sp>
      <p:sp>
        <p:nvSpPr>
          <p:cNvPr id="7" name="evidence-explanation-1">
            <a:extLst xmlns:a="http://schemas.openxmlformats.org/drawingml/2006/main">
              <a:ext uri="{FF2B5EF4-FFF2-40B4-BE49-F238E27FC236}">
                <a16:creationId xmlns:a16="http://schemas.microsoft.com/office/drawing/2014/main" id="{A1B18F2C-9E84-4036-9FF9-0A477218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57550"/>
            <a:ext cx="37147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未找到对应实验与测量</a:t>
            </a:r>
          </a:p>
        </p:txBody>
      </p:sp>
      <p:sp>
        <p:nvSpPr>
          <p:cNvPr id="8" name="evidence-label-2">
            <a:extLst xmlns:a="http://schemas.openxmlformats.org/drawingml/2006/main">
              <a:ext uri="{FF2B5EF4-FFF2-40B4-BE49-F238E27FC236}">
                <a16:creationId xmlns:a16="http://schemas.microsoft.com/office/drawing/2014/main" id="{287865A8-9B1C-410F-B388-FFD9C06D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2907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“所有科研任务”</a:t>
            </a:r>
          </a:p>
        </p:txBody>
      </p:sp>
      <p:sp>
        <p:nvSpPr>
          <p:cNvPr id="9" name="evidence-explanation-2">
            <a:extLst xmlns:a="http://schemas.openxmlformats.org/drawingml/2006/main">
              <a:ext uri="{FF2B5EF4-FFF2-40B4-BE49-F238E27FC236}">
                <a16:creationId xmlns:a16="http://schemas.microsoft.com/office/drawing/2014/main" id="{56E62530-F51B-4D67-892D-D8CF61D1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52925"/>
            <a:ext cx="37147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超出文中方法建议的支持范围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44B81C71-533F-485F-BF9E-C8E2D844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9117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裁决依据来自全文核查；右侧片段展示经验陈述的性质。</a:t>
            </a:r>
          </a:p>
        </p:txBody>
      </p:sp>
      <p:sp>
        <p:nvSpPr>
          <p:cNvPr id="11" name="source">
            <a:extLst xmlns:a="http://schemas.openxmlformats.org/drawingml/2006/main">
              <a:ext uri="{FF2B5EF4-FFF2-40B4-BE49-F238E27FC236}">
                <a16:creationId xmlns:a16="http://schemas.microsoft.com/office/drawing/2014/main" id="{9539D537-DB9A-4981-86D2-BD84F505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91275"/>
            <a:ext cx="1038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Keshav 2007 pp.83–84 全文，重点 §4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2C093305-8AC9-418C-BA89-0508B2AD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D0F31CB6-20A5-42E4-9069-B6F56796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作者主张与本人迁移分栏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4834800F-3BC7-44A0-B030-EE50267B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A 也包含不同来源的内容，需要拆开记录。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52401F-0F53-4EDF-9D56-F7D77FBDEA9E}"/>
              </a:ext>
            </a:extLst>
          </p:cNvPr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858500" cy="28956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81250"/>
                <a:gridCol w="5334000"/>
                <a:gridCol w="314325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内容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归属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处理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1F4D78"/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提出三遍阅读法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作者主张，p.83 §2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保留并定位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第一遍约 5–10 分钟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作者建议，p.83 §2.1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保留约数与范围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用于阅读卡设计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本人迁移判断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说明采用方式与待测效果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4508054C-262E-4C32-80A6-81008602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9117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阅读卡可以采用方法建议；效果改善仍需独立评价。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43F7F789-70C0-4D02-92FE-3EF0F708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6F84EA23-AC90-4D95-81BB-4685536E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核验后的一条合格转述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D4A3C096-7ADA-43BB-8B5C-A32E5772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作者提出分层加深理解的三遍阅读法。</a:t>
            </a:r>
          </a:p>
        </p:txBody>
      </p:sp>
      <p:sp>
        <p:nvSpPr>
          <p:cNvPr id="3" name="comparison-label-0">
            <a:extLst xmlns:a="http://schemas.openxmlformats.org/drawingml/2006/main">
              <a:ext uri="{FF2B5EF4-FFF2-40B4-BE49-F238E27FC236}">
                <a16:creationId xmlns:a16="http://schemas.microsoft.com/office/drawing/2014/main" id="{9D7626C5-0256-4F6F-B6FD-29592DB0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作者主张</a:t>
            </a:r>
          </a:p>
        </p:txBody>
      </p:sp>
      <p:sp>
        <p:nvSpPr>
          <p:cNvPr id="4" name="comparison-body-0">
            <a:extLst xmlns:a="http://schemas.openxmlformats.org/drawingml/2006/main">
              <a:ext uri="{FF2B5EF4-FFF2-40B4-BE49-F238E27FC236}">
                <a16:creationId xmlns:a16="http://schemas.microsoft.com/office/drawing/2014/main" id="{A58EA27A-0D59-46FD-9482-0DF8CA14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5143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该方法用于逐步加深论文理解。依据：p.83 §2 与 p.84 §2.3。</a:t>
            </a:r>
          </a:p>
        </p:txBody>
      </p:sp>
      <p:sp>
        <p:nvSpPr>
          <p:cNvPr id="5" name="comparison-label-1">
            <a:extLst xmlns:a="http://schemas.openxmlformats.org/drawingml/2006/main">
              <a:ext uri="{FF2B5EF4-FFF2-40B4-BE49-F238E27FC236}">
                <a16:creationId xmlns:a16="http://schemas.microsoft.com/office/drawing/2014/main" id="{185BCE00-A03D-41F7-8A36-BDA1DCA6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3832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本人判断</a:t>
            </a:r>
          </a:p>
        </p:txBody>
      </p:sp>
      <p:sp>
        <p:nvSpPr>
          <p:cNvPr id="6" name="comparison-body-1">
            <a:extLst xmlns:a="http://schemas.openxmlformats.org/drawingml/2006/main">
              <a:ext uri="{FF2B5EF4-FFF2-40B4-BE49-F238E27FC236}">
                <a16:creationId xmlns:a16="http://schemas.microsoft.com/office/drawing/2014/main" id="{C7C8BCCE-99F0-4FE1-89CB-135BB509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76500"/>
            <a:ext cx="5143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将其用作阅读卡设计线索。本文提供方法建议和作者经验，阅读效率及遗漏率效果仍待验证。</a:t>
            </a:r>
          </a:p>
        </p:txBody>
      </p:sp>
      <p:sp>
        <p:nvSpPr>
          <p:cNvPr id="7" name="takeaway">
            <a:extLst xmlns:a="http://schemas.openxmlformats.org/drawingml/2006/main">
              <a:ext uri="{FF2B5EF4-FFF2-40B4-BE49-F238E27FC236}">
                <a16:creationId xmlns:a16="http://schemas.microsoft.com/office/drawing/2014/main" id="{1FB9B11C-AB9F-444B-8C41-07571A3B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9117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verified-with-caveat：保留方法建议的证据性质与迁移边界。</a:t>
            </a:r>
          </a:p>
        </p:txBody>
      </p:sp>
      <p:sp>
        <p:nvSpPr>
          <p:cNvPr id="8" name="source">
            <a:extLst xmlns:a="http://schemas.openxmlformats.org/drawingml/2006/main">
              <a:ext uri="{FF2B5EF4-FFF2-40B4-BE49-F238E27FC236}">
                <a16:creationId xmlns:a16="http://schemas.microsoft.com/office/drawing/2014/main" id="{67C2C355-A53F-4CF0-8EFC-74A88FBF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91275"/>
            <a:ext cx="1038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Keshav 2007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B14477B9-EFF4-48E5-B2DF-FADF4718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5628EFE1-FC39-477E-B036-08FA3262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本人主张与精读范围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87217362-6A03-4D0C-8F93-4E97C390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从第 3 课候选中选一条关键主张。</a:t>
            </a:r>
          </a:p>
        </p:txBody>
      </p:sp>
      <p:sp>
        <p:nvSpPr>
          <p:cNvPr id="3" name="columns-label">
            <a:extLst xmlns:a="http://schemas.openxmlformats.org/drawingml/2006/main">
              <a:ext uri="{FF2B5EF4-FFF2-40B4-BE49-F238E27FC236}">
                <a16:creationId xmlns:a16="http://schemas.microsoft.com/office/drawing/2014/main" id="{2880CC8D-A412-4273-B08E-EB2B8B6C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选择   /   写入阅读卡</a:t>
            </a:r>
          </a:p>
        </p:txBody>
      </p:sp>
      <p:sp>
        <p:nvSpPr>
          <p:cNvPr id="4" name="row-label-0">
            <a:extLst xmlns:a="http://schemas.openxmlformats.org/drawingml/2006/main">
              <a:ext uri="{FF2B5EF4-FFF2-40B4-BE49-F238E27FC236}">
                <a16:creationId xmlns:a16="http://schemas.microsoft.com/office/drawing/2014/main" id="{192DC235-3974-44C1-934C-B22ED38B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2571750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来源</a:t>
            </a:r>
          </a:p>
        </p:txBody>
      </p:sp>
      <p:sp>
        <p:nvSpPr>
          <p:cNvPr id="5" name="row-value-0">
            <a:extLst xmlns:a="http://schemas.openxmlformats.org/drawingml/2006/main">
              <a:ext uri="{FF2B5EF4-FFF2-40B4-BE49-F238E27FC236}">
                <a16:creationId xmlns:a16="http://schemas.microsoft.com/office/drawing/2014/main" id="{8504A662-3DA9-4F49-9B76-62A73BB9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14550"/>
            <a:ext cx="8048625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正式书目、版本、核验状态</a:t>
            </a:r>
          </a:p>
        </p:txBody>
      </p:sp>
      <p:sp>
        <p:nvSpPr>
          <p:cNvPr id="6" name="row-label-1">
            <a:extLst xmlns:a="http://schemas.openxmlformats.org/drawingml/2006/main">
              <a:ext uri="{FF2B5EF4-FFF2-40B4-BE49-F238E27FC236}">
                <a16:creationId xmlns:a16="http://schemas.microsoft.com/office/drawing/2014/main" id="{F715E5D3-E3D8-49A4-A825-C8EEBE76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9894"/>
            <a:ext cx="2571750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本人问题</a:t>
            </a:r>
          </a:p>
        </p:txBody>
      </p:sp>
      <p:sp>
        <p:nvSpPr>
          <p:cNvPr id="7" name="row-value-1">
            <a:extLst xmlns:a="http://schemas.openxmlformats.org/drawingml/2006/main">
              <a:ext uri="{FF2B5EF4-FFF2-40B4-BE49-F238E27FC236}">
                <a16:creationId xmlns:a16="http://schemas.microsoft.com/office/drawing/2014/main" id="{5C498CC0-8897-4B62-8DF8-95EB17CF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59894"/>
            <a:ext cx="8048625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希望这项材料支持或检验什么？</a:t>
            </a:r>
          </a:p>
        </p:txBody>
      </p:sp>
      <p:sp>
        <p:nvSpPr>
          <p:cNvPr id="8" name="row-label-2">
            <a:extLst xmlns:a="http://schemas.openxmlformats.org/drawingml/2006/main">
              <a:ext uri="{FF2B5EF4-FFF2-40B4-BE49-F238E27FC236}">
                <a16:creationId xmlns:a16="http://schemas.microsoft.com/office/drawing/2014/main" id="{3F73BEDE-2002-46EF-B1A1-EB4CF413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5238"/>
            <a:ext cx="2571750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拟用主张</a:t>
            </a:r>
          </a:p>
        </p:txBody>
      </p:sp>
      <p:sp>
        <p:nvSpPr>
          <p:cNvPr id="9" name="row-value-2">
            <a:extLst xmlns:a="http://schemas.openxmlformats.org/drawingml/2006/main">
              <a:ext uri="{FF2B5EF4-FFF2-40B4-BE49-F238E27FC236}">
                <a16:creationId xmlns:a16="http://schemas.microsoft.com/office/drawing/2014/main" id="{91F5B6E3-BD75-4027-9E56-37CABF9C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05238"/>
            <a:ext cx="8048625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一句可核验的转述</a:t>
            </a:r>
          </a:p>
        </p:txBody>
      </p:sp>
      <p:sp>
        <p:nvSpPr>
          <p:cNvPr id="10" name="row-label-3">
            <a:extLst xmlns:a="http://schemas.openxmlformats.org/drawingml/2006/main">
              <a:ext uri="{FF2B5EF4-FFF2-40B4-BE49-F238E27FC236}">
                <a16:creationId xmlns:a16="http://schemas.microsoft.com/office/drawing/2014/main" id="{09759D70-D4BB-4D24-B5C4-9683D902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50581"/>
            <a:ext cx="2571750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范围</a:t>
            </a:r>
          </a:p>
        </p:txBody>
      </p:sp>
      <p:sp>
        <p:nvSpPr>
          <p:cNvPr id="11" name="row-value-3">
            <a:extLst xmlns:a="http://schemas.openxmlformats.org/drawingml/2006/main">
              <a:ext uri="{FF2B5EF4-FFF2-40B4-BE49-F238E27FC236}">
                <a16:creationId xmlns:a16="http://schemas.microsoft.com/office/drawing/2014/main" id="{C3167CAC-84E4-43D0-BAA7-A4B8101B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650581"/>
            <a:ext cx="8048625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准备核对的任务、指标或限定</a:t>
            </a:r>
          </a:p>
        </p:txBody>
      </p:sp>
      <p:sp>
        <p:nvSpPr>
          <p:cNvPr id="12" name="takeaway">
            <a:extLst xmlns:a="http://schemas.openxmlformats.org/drawingml/2006/main">
              <a:ext uri="{FF2B5EF4-FFF2-40B4-BE49-F238E27FC236}">
                <a16:creationId xmlns:a16="http://schemas.microsoft.com/office/drawing/2014/main" id="{E6529A63-3796-4C1E-B415-3891B88B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9117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本课完成一张完整卡；其他论文留作后续课堂输入。</a:t>
            </a:r>
          </a:p>
        </p:txBody>
      </p:sp>
      <p:sp>
        <p:nvSpPr>
          <p:cNvPr id="14" name="page">
            <a:extLst xmlns:a="http://schemas.openxmlformats.org/drawingml/2006/main">
              <a:ext uri="{FF2B5EF4-FFF2-40B4-BE49-F238E27FC236}">
                <a16:creationId xmlns:a16="http://schemas.microsoft.com/office/drawing/2014/main" id="{5888A8DF-66DE-4C71-A7ED-830549B4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C3454802-F149-4EE4-98E4-F0CE82C7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本人阅读地图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A84DB115-75FC-4CFF-B71A-69748509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让导航服务于当前主张，保留待核验身份。</a:t>
            </a:r>
          </a:p>
        </p:txBody>
      </p:sp>
      <p:sp>
        <p:nvSpPr>
          <p:cNvPr id="3" name="columns-label">
            <a:extLst xmlns:a="http://schemas.openxmlformats.org/drawingml/2006/main">
              <a:ext uri="{FF2B5EF4-FFF2-40B4-BE49-F238E27FC236}">
                <a16:creationId xmlns:a16="http://schemas.microsoft.com/office/drawing/2014/main" id="{A3846C6A-B7D3-49BA-8804-4D2D6384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导航输入   /   需要的输出</a:t>
            </a:r>
          </a:p>
        </p:txBody>
      </p:sp>
      <p:sp>
        <p:nvSpPr>
          <p:cNvPr id="4" name="row-label-0">
            <a:extLst xmlns:a="http://schemas.openxmlformats.org/drawingml/2006/main">
              <a:ext uri="{FF2B5EF4-FFF2-40B4-BE49-F238E27FC236}">
                <a16:creationId xmlns:a16="http://schemas.microsoft.com/office/drawing/2014/main" id="{D7335DB1-EB48-43BA-946F-672A5947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公开论文与拟用主张</a:t>
            </a:r>
          </a:p>
        </p:txBody>
      </p:sp>
      <p:sp>
        <p:nvSpPr>
          <p:cNvPr id="5" name="row-value-0">
            <a:extLst xmlns:a="http://schemas.openxmlformats.org/drawingml/2006/main">
              <a:ext uri="{FF2B5EF4-FFF2-40B4-BE49-F238E27FC236}">
                <a16:creationId xmlns:a16="http://schemas.microsoft.com/office/drawing/2014/main" id="{2D4A6A94-F534-4688-B6CB-1E779EFC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14550"/>
            <a:ext cx="8048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可能支持主张的位置</a:t>
            </a:r>
          </a:p>
        </p:txBody>
      </p:sp>
      <p:sp>
        <p:nvSpPr>
          <p:cNvPr id="6" name="row-label-1">
            <a:extLst xmlns:a="http://schemas.openxmlformats.org/drawingml/2006/main">
              <a:ext uri="{FF2B5EF4-FFF2-40B4-BE49-F238E27FC236}">
                <a16:creationId xmlns:a16="http://schemas.microsoft.com/office/drawing/2014/main" id="{A86D1239-B111-4712-9E8A-0AC137BF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本人问题与关注条件</a:t>
            </a:r>
          </a:p>
        </p:txBody>
      </p:sp>
      <p:sp>
        <p:nvSpPr>
          <p:cNvPr id="7" name="row-value-1">
            <a:extLst xmlns:a="http://schemas.openxmlformats.org/drawingml/2006/main">
              <a:ext uri="{FF2B5EF4-FFF2-40B4-BE49-F238E27FC236}">
                <a16:creationId xmlns:a16="http://schemas.microsoft.com/office/drawing/2014/main" id="{25CF5234-A9E5-4EDD-AD55-84050A99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71800"/>
            <a:ext cx="8048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设置、结果、局限的位置</a:t>
            </a:r>
          </a:p>
        </p:txBody>
      </p:sp>
      <p:sp>
        <p:nvSpPr>
          <p:cNvPr id="8" name="row-label-2">
            <a:extLst xmlns:a="http://schemas.openxmlformats.org/drawingml/2006/main">
              <a:ext uri="{FF2B5EF4-FFF2-40B4-BE49-F238E27FC236}">
                <a16:creationId xmlns:a16="http://schemas.microsoft.com/office/drawing/2014/main" id="{90E4CEC2-7FA1-4EFC-AF81-9C83842F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2905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已有不确定项</a:t>
            </a:r>
          </a:p>
        </p:txBody>
      </p:sp>
      <p:sp>
        <p:nvSpPr>
          <p:cNvPr id="9" name="row-value-2">
            <a:extLst xmlns:a="http://schemas.openxmlformats.org/drawingml/2006/main">
              <a:ext uri="{FF2B5EF4-FFF2-40B4-BE49-F238E27FC236}">
                <a16:creationId xmlns:a16="http://schemas.microsoft.com/office/drawing/2014/main" id="{CE51B2A7-62B3-4EB6-9EC9-B93779D8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29050"/>
            <a:ext cx="8048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需要核对的术语和候选问题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A270DF49-0265-4DA3-BD55-6F9F6924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9117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记录 AI 输入与用途；无 AI 时手工列同样的阅读问题。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C354D0B5-4364-492C-96B4-3B5FDD99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063E487F-2014-469D-BD42-20FCFCEB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第一处证据：主张与研究条件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F3742EE6-0352-4CEA-B103-61087C24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定位方法或结果段，保留可反查的细节。</a:t>
            </a:r>
          </a:p>
        </p:txBody>
      </p:sp>
      <p:sp>
        <p:nvSpPr>
          <p:cNvPr id="3" name="columns-label">
            <a:extLst xmlns:a="http://schemas.openxmlformats.org/drawingml/2006/main">
              <a:ext uri="{FF2B5EF4-FFF2-40B4-BE49-F238E27FC236}">
                <a16:creationId xmlns:a16="http://schemas.microsoft.com/office/drawing/2014/main" id="{4A877B04-9C5C-47FD-B38E-13F0E08C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记录项   /   本人填写</a:t>
            </a:r>
          </a:p>
        </p:txBody>
      </p:sp>
      <p:sp>
        <p:nvSpPr>
          <p:cNvPr id="4" name="row-label-0">
            <a:extLst xmlns:a="http://schemas.openxmlformats.org/drawingml/2006/main">
              <a:ext uri="{FF2B5EF4-FFF2-40B4-BE49-F238E27FC236}">
                <a16:creationId xmlns:a16="http://schemas.microsoft.com/office/drawing/2014/main" id="{2EDA9C16-A57A-421B-B01F-6C6659EB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2571750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原文位置</a:t>
            </a:r>
          </a:p>
        </p:txBody>
      </p:sp>
      <p:sp>
        <p:nvSpPr>
          <p:cNvPr id="5" name="row-value-0">
            <a:extLst xmlns:a="http://schemas.openxmlformats.org/drawingml/2006/main">
              <a:ext uri="{FF2B5EF4-FFF2-40B4-BE49-F238E27FC236}">
                <a16:creationId xmlns:a16="http://schemas.microsoft.com/office/drawing/2014/main" id="{F15C91BA-9F31-43C8-B58D-9A0767DC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14550"/>
            <a:ext cx="8048625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章节、页码、图表或实验编号</a:t>
            </a:r>
          </a:p>
        </p:txBody>
      </p:sp>
      <p:sp>
        <p:nvSpPr>
          <p:cNvPr id="6" name="row-label-1">
            <a:extLst xmlns:a="http://schemas.openxmlformats.org/drawingml/2006/main">
              <a:ext uri="{FF2B5EF4-FFF2-40B4-BE49-F238E27FC236}">
                <a16:creationId xmlns:a16="http://schemas.microsoft.com/office/drawing/2014/main" id="{D7BDC8F8-3C9E-42DF-B415-A608C2EB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9894"/>
            <a:ext cx="2571750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主张与依据</a:t>
            </a:r>
          </a:p>
        </p:txBody>
      </p:sp>
      <p:sp>
        <p:nvSpPr>
          <p:cNvPr id="7" name="row-value-1">
            <a:extLst xmlns:a="http://schemas.openxmlformats.org/drawingml/2006/main">
              <a:ext uri="{FF2B5EF4-FFF2-40B4-BE49-F238E27FC236}">
                <a16:creationId xmlns:a16="http://schemas.microsoft.com/office/drawing/2014/main" id="{B2704473-97C2-4FBA-AA4C-C8BB893C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59894"/>
            <a:ext cx="8048625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作者究竟报告了什么？</a:t>
            </a:r>
          </a:p>
        </p:txBody>
      </p:sp>
      <p:sp>
        <p:nvSpPr>
          <p:cNvPr id="8" name="row-label-2">
            <a:extLst xmlns:a="http://schemas.openxmlformats.org/drawingml/2006/main">
              <a:ext uri="{FF2B5EF4-FFF2-40B4-BE49-F238E27FC236}">
                <a16:creationId xmlns:a16="http://schemas.microsoft.com/office/drawing/2014/main" id="{2F205D34-F28B-445A-955A-436F760C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5238"/>
            <a:ext cx="2571750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任务与设置</a:t>
            </a:r>
          </a:p>
        </p:txBody>
      </p:sp>
      <p:sp>
        <p:nvSpPr>
          <p:cNvPr id="9" name="row-value-2">
            <a:extLst xmlns:a="http://schemas.openxmlformats.org/drawingml/2006/main">
              <a:ext uri="{FF2B5EF4-FFF2-40B4-BE49-F238E27FC236}">
                <a16:creationId xmlns:a16="http://schemas.microsoft.com/office/drawing/2014/main" id="{AD98EFBF-5D70-4F84-AF30-FD12F22A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05238"/>
            <a:ext cx="8048625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对象、输入、方法版本</a:t>
            </a:r>
          </a:p>
        </p:txBody>
      </p:sp>
      <p:sp>
        <p:nvSpPr>
          <p:cNvPr id="10" name="row-label-3">
            <a:extLst xmlns:a="http://schemas.openxmlformats.org/drawingml/2006/main">
              <a:ext uri="{FF2B5EF4-FFF2-40B4-BE49-F238E27FC236}">
                <a16:creationId xmlns:a16="http://schemas.microsoft.com/office/drawing/2014/main" id="{5DB9815F-D7F5-46F8-A3DD-DF8DC2FB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50581"/>
            <a:ext cx="2571750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指标与对照</a:t>
            </a:r>
          </a:p>
        </p:txBody>
      </p:sp>
      <p:sp>
        <p:nvSpPr>
          <p:cNvPr id="11" name="row-value-3">
            <a:extLst xmlns:a="http://schemas.openxmlformats.org/drawingml/2006/main">
              <a:ext uri="{FF2B5EF4-FFF2-40B4-BE49-F238E27FC236}">
                <a16:creationId xmlns:a16="http://schemas.microsoft.com/office/drawing/2014/main" id="{D2D1AD57-12CC-4014-BD98-2A403F66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650581"/>
            <a:ext cx="8048625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定义、分母、比较条件；不适用写理由</a:t>
            </a:r>
          </a:p>
        </p:txBody>
      </p:sp>
      <p:sp>
        <p:nvSpPr>
          <p:cNvPr id="12" name="takeaway">
            <a:extLst xmlns:a="http://schemas.openxmlformats.org/drawingml/2006/main">
              <a:ext uri="{FF2B5EF4-FFF2-40B4-BE49-F238E27FC236}">
                <a16:creationId xmlns:a16="http://schemas.microsoft.com/office/drawing/2014/main" id="{ABEBC982-70E4-4DD3-B246-DA2D3217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9117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把作者主张与 AI 转述并排核对。</a:t>
            </a:r>
          </a:p>
        </p:txBody>
      </p:sp>
      <p:sp>
        <p:nvSpPr>
          <p:cNvPr id="14" name="page">
            <a:extLst xmlns:a="http://schemas.openxmlformats.org/drawingml/2006/main">
              <a:ext uri="{FF2B5EF4-FFF2-40B4-BE49-F238E27FC236}">
                <a16:creationId xmlns:a16="http://schemas.microsoft.com/office/drawing/2014/main" id="{A27FAAB0-4766-4B07-A536-AB188152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17970521-8AEC-4D13-A8FC-0B22A171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MI 结果：相同 KL 下的干预代价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37FBE2D8-A47F-4CE1-AE5B-57845FAA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C02，Pythia-410M layer 11，IOI；原文 Fig.3。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AE7D03-3E3A-4D78-8740-4C5D9A8884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expImage2"/>
          <a:stretch xmlns:a="http://schemas.openxmlformats.org/drawingml/2006/main"/>
        </p:blipFill>
        <p:spPr>
          <a:xfrm xmlns:a="http://schemas.openxmlformats.org/drawingml/2006/main">
            <a:off x="666750" y="2086608"/>
            <a:ext cx="7191375" cy="2922909"/>
          </a:xfrm>
          <a:prstGeom xmlns:a="http://schemas.openxmlformats.org/drawingml/2006/main" prst="rect">
            <a:avLst/>
          </a:prstGeom>
        </p:spPr>
      </p:pic>
      <p:sp>
        <p:nvSpPr>
          <p:cNvPr id="4" name="evidence-label-0">
            <a:extLst xmlns:a="http://schemas.openxmlformats.org/drawingml/2006/main">
              <a:ext uri="{FF2B5EF4-FFF2-40B4-BE49-F238E27FC236}">
                <a16:creationId xmlns:a16="http://schemas.microsoft.com/office/drawing/2014/main" id="{95BC9F01-F7B2-47D5-A63A-BA04D077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838325"/>
            <a:ext cx="3381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SAE 与 PCA / 非稀疏字典</a:t>
            </a:r>
          </a:p>
        </p:txBody>
      </p:sp>
      <p:sp>
        <p:nvSpPr>
          <p:cNvPr id="5" name="evidence-explanation-0">
            <a:extLst xmlns:a="http://schemas.openxmlformats.org/drawingml/2006/main">
              <a:ext uri="{FF2B5EF4-FFF2-40B4-BE49-F238E27FC236}">
                <a16:creationId xmlns:a16="http://schemas.microsoft.com/office/drawing/2014/main" id="{67D3C2AB-E0D6-4926-B610-7CC123E9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162175"/>
            <a:ext cx="33813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相同目标 KL 下比较</a:t>
            </a:r>
          </a:p>
        </p:txBody>
      </p:sp>
      <p:sp>
        <p:nvSpPr>
          <p:cNvPr id="6" name="evidence-label-1">
            <a:extLst xmlns:a="http://schemas.openxmlformats.org/drawingml/2006/main">
              <a:ext uri="{FF2B5EF4-FFF2-40B4-BE49-F238E27FC236}">
                <a16:creationId xmlns:a16="http://schemas.microsoft.com/office/drawing/2014/main" id="{01C16841-EBB2-4412-B815-9E4626FC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933700"/>
            <a:ext cx="3381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左图：patch 数量</a:t>
            </a:r>
          </a:p>
        </p:txBody>
      </p:sp>
      <p:sp>
        <p:nvSpPr>
          <p:cNvPr id="7" name="evidence-explanation-1">
            <a:extLst xmlns:a="http://schemas.openxmlformats.org/drawingml/2006/main">
              <a:ext uri="{FF2B5EF4-FFF2-40B4-BE49-F238E27FC236}">
                <a16:creationId xmlns:a16="http://schemas.microsoft.com/office/drawing/2014/main" id="{0F289242-D872-44AD-AD0C-B3E407A9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57550"/>
            <a:ext cx="33813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稀疏字典需要更少 patch</a:t>
            </a:r>
          </a:p>
        </p:txBody>
      </p:sp>
      <p:sp>
        <p:nvSpPr>
          <p:cNvPr id="8" name="evidence-label-2">
            <a:extLst xmlns:a="http://schemas.openxmlformats.org/drawingml/2006/main">
              <a:ext uri="{FF2B5EF4-FFF2-40B4-BE49-F238E27FC236}">
                <a16:creationId xmlns:a16="http://schemas.microsoft.com/office/drawing/2014/main" id="{B550E18D-D609-4D50-9974-1BF78245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029075"/>
            <a:ext cx="3381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右图：编辑量</a:t>
            </a:r>
          </a:p>
        </p:txBody>
      </p:sp>
      <p:sp>
        <p:nvSpPr>
          <p:cNvPr id="9" name="evidence-explanation-2">
            <a:extLst xmlns:a="http://schemas.openxmlformats.org/drawingml/2006/main">
              <a:ext uri="{FF2B5EF4-FFF2-40B4-BE49-F238E27FC236}">
                <a16:creationId xmlns:a16="http://schemas.microsoft.com/office/drawing/2014/main" id="{C77F4B41-357D-4AA6-9F1C-4A4AAFFC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52925"/>
            <a:ext cx="33813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稀疏字典需要更小编辑量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72A8205E-7B1F-41F6-ABE0-31194084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9117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结果支持该设置下的干预效率；重构误差也影响最低 KL。</a:t>
            </a:r>
          </a:p>
        </p:txBody>
      </p:sp>
      <p:sp>
        <p:nvSpPr>
          <p:cNvPr id="11" name="source">
            <a:extLst xmlns:a="http://schemas.openxmlformats.org/drawingml/2006/main">
              <a:ext uri="{FF2B5EF4-FFF2-40B4-BE49-F238E27FC236}">
                <a16:creationId xmlns:a16="http://schemas.microsoft.com/office/drawing/2014/main" id="{53B48BE7-D084-445D-AFF3-1324AA31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91275"/>
            <a:ext cx="1038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C02 arXiv:2309.08600v3 pp.5–6 Fig.3 / §4.2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DB1CC8A7-B2EA-4EDF-A0AD-05155004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D315FD6E-0FC8-438A-B108-E75B9252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限制证据是否直接反驳前一篇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62CDF048-6267-4D26-933F-3B9D97DB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C16 与 C31 提供不同类型的限制。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EBD7C4-7B13-4EA3-B13D-92613C2C8354}"/>
              </a:ext>
            </a:extLst>
          </p:cNvPr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858500" cy="21717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143000"/>
                <a:gridCol w="5715000"/>
                <a:gridCol w="40005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来源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提供什么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比较边界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1F4D78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C16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SAE 控制性弱于监督字典；任务特定 SAE 优于冻结随机 decoder 对照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GPT-2 Small IOI，设置不同于 C02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C31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子空间 patching 可经 dormant pathway 改变输出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同时给出成功案例，需要额外机制证据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BE981093-28C1-4B84-A28B-2697A81C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9117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限制、效度威胁与同设置反驳应分别表述。</a:t>
            </a:r>
          </a:p>
        </p:txBody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B182A7E4-FEAB-4801-8E7B-DA474210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91275"/>
            <a:ext cx="1038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C16 §5.2 · C31 pp.1–5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3D298BC1-0BAA-433C-9EBC-63553A31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56712E29-1616-419D-888F-5A4E7BF3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MI 主张如何收窄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8816E753-5031-4BB7-AB78-A2D5D1D7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判断对象：一次 patching 成功，能否证明正常计算机制？</a:t>
            </a:r>
          </a:p>
        </p:txBody>
      </p:sp>
      <p:sp>
        <p:nvSpPr>
          <p:cNvPr id="3" name="columns-label">
            <a:extLst xmlns:a="http://schemas.openxmlformats.org/drawingml/2006/main">
              <a:ext uri="{FF2B5EF4-FFF2-40B4-BE49-F238E27FC236}">
                <a16:creationId xmlns:a16="http://schemas.microsoft.com/office/drawing/2014/main" id="{4705D5AB-757D-4CB9-A874-BA1990D8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层次   /   允许判断</a:t>
            </a:r>
          </a:p>
        </p:txBody>
      </p:sp>
      <p:sp>
        <p:nvSpPr>
          <p:cNvPr id="4" name="row-label-0">
            <a:extLst xmlns:a="http://schemas.openxmlformats.org/drawingml/2006/main">
              <a:ext uri="{FF2B5EF4-FFF2-40B4-BE49-F238E27FC236}">
                <a16:creationId xmlns:a16="http://schemas.microsoft.com/office/drawing/2014/main" id="{67D1DF85-771B-4731-80F3-6B597F9D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已观察结果</a:t>
            </a:r>
          </a:p>
        </p:txBody>
      </p:sp>
      <p:sp>
        <p:nvSpPr>
          <p:cNvPr id="5" name="row-value-0">
            <a:extLst xmlns:a="http://schemas.openxmlformats.org/drawingml/2006/main">
              <a:ext uri="{FF2B5EF4-FFF2-40B4-BE49-F238E27FC236}">
                <a16:creationId xmlns:a16="http://schemas.microsoft.com/office/drawing/2014/main" id="{5388020D-00E7-422D-AB06-93551F42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14550"/>
            <a:ext cx="8048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C02 的特定设置下，SAE 干预更稀疏有效</a:t>
            </a:r>
          </a:p>
        </p:txBody>
      </p:sp>
      <p:sp>
        <p:nvSpPr>
          <p:cNvPr id="6" name="row-label-1">
            <a:extLst xmlns:a="http://schemas.openxmlformats.org/drawingml/2006/main">
              <a:ext uri="{FF2B5EF4-FFF2-40B4-BE49-F238E27FC236}">
                <a16:creationId xmlns:a16="http://schemas.microsoft.com/office/drawing/2014/main" id="{C841ABA7-0F77-4915-9322-7209C576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替代解释与限制</a:t>
            </a:r>
          </a:p>
        </p:txBody>
      </p:sp>
      <p:sp>
        <p:nvSpPr>
          <p:cNvPr id="7" name="row-value-1">
            <a:extLst xmlns:a="http://schemas.openxmlformats.org/drawingml/2006/main">
              <a:ext uri="{FF2B5EF4-FFF2-40B4-BE49-F238E27FC236}">
                <a16:creationId xmlns:a16="http://schemas.microsoft.com/office/drawing/2014/main" id="{106E5E22-74C8-485C-9ACD-E0FF1629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71800"/>
            <a:ext cx="8048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控制性受对照影响，干预可能激活替代路径</a:t>
            </a:r>
          </a:p>
        </p:txBody>
      </p:sp>
      <p:sp>
        <p:nvSpPr>
          <p:cNvPr id="8" name="row-label-2">
            <a:extLst xmlns:a="http://schemas.openxmlformats.org/drawingml/2006/main">
              <a:ext uri="{FF2B5EF4-FFF2-40B4-BE49-F238E27FC236}">
                <a16:creationId xmlns:a16="http://schemas.microsoft.com/office/drawing/2014/main" id="{A06778C9-5375-4273-BFA9-EA9B3D5C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2905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下一步证据</a:t>
            </a:r>
          </a:p>
        </p:txBody>
      </p:sp>
      <p:sp>
        <p:nvSpPr>
          <p:cNvPr id="9" name="row-value-2">
            <a:extLst xmlns:a="http://schemas.openxmlformats.org/drawingml/2006/main">
              <a:ext uri="{FF2B5EF4-FFF2-40B4-BE49-F238E27FC236}">
                <a16:creationId xmlns:a16="http://schemas.microsoft.com/office/drawing/2014/main" id="{424000E8-3441-4394-9C3E-43F7832F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29050"/>
            <a:ext cx="8048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更匹配的对照、机制检查与跨条件验证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9BF677ED-6264-40B4-BB53-72FBF9BE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9117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保留受限结果；“SAE 因果忠实”仍需进一步证据，记为 review。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258D5AA1-0BDF-4767-9324-3DCDA999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F6CC843B-D106-4E0F-A2BB-1A488C31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第二处证据：限定与缺证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7796DDBA-3B35-4BA8-B08A-0134D99A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选择能补充、限制或检验第一处主张的位置。</a:t>
            </a:r>
          </a:p>
        </p:txBody>
      </p:sp>
      <p:sp>
        <p:nvSpPr>
          <p:cNvPr id="3" name="columns-label">
            <a:extLst xmlns:a="http://schemas.openxmlformats.org/drawingml/2006/main">
              <a:ext uri="{FF2B5EF4-FFF2-40B4-BE49-F238E27FC236}">
                <a16:creationId xmlns:a16="http://schemas.microsoft.com/office/drawing/2014/main" id="{8E76A949-AFB5-47D3-A2C8-21215414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检查对象   /   需要记录的区别</a:t>
            </a:r>
          </a:p>
        </p:txBody>
      </p:sp>
      <p:sp>
        <p:nvSpPr>
          <p:cNvPr id="4" name="row-label-0">
            <a:extLst xmlns:a="http://schemas.openxmlformats.org/drawingml/2006/main">
              <a:ext uri="{FF2B5EF4-FFF2-40B4-BE49-F238E27FC236}">
                <a16:creationId xmlns:a16="http://schemas.microsoft.com/office/drawing/2014/main" id="{0CA76D2B-CB66-4DA1-AF9C-DC289AFE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2571750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作者自述局限</a:t>
            </a:r>
          </a:p>
        </p:txBody>
      </p:sp>
      <p:sp>
        <p:nvSpPr>
          <p:cNvPr id="5" name="row-value-0">
            <a:extLst xmlns:a="http://schemas.openxmlformats.org/drawingml/2006/main">
              <a:ext uri="{FF2B5EF4-FFF2-40B4-BE49-F238E27FC236}">
                <a16:creationId xmlns:a16="http://schemas.microsoft.com/office/drawing/2014/main" id="{49C19126-704E-41E4-A133-807B617A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14550"/>
            <a:ext cx="8048625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作者明确说了什么，位置在哪里？</a:t>
            </a:r>
          </a:p>
        </p:txBody>
      </p:sp>
      <p:sp>
        <p:nvSpPr>
          <p:cNvPr id="6" name="row-label-1">
            <a:extLst xmlns:a="http://schemas.openxmlformats.org/drawingml/2006/main">
              <a:ext uri="{FF2B5EF4-FFF2-40B4-BE49-F238E27FC236}">
                <a16:creationId xmlns:a16="http://schemas.microsoft.com/office/drawing/2014/main" id="{74E46DA3-CCB9-4694-A374-1FE36685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9894"/>
            <a:ext cx="2571750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结果中的范围</a:t>
            </a:r>
          </a:p>
        </p:txBody>
      </p:sp>
      <p:sp>
        <p:nvSpPr>
          <p:cNvPr id="7" name="row-value-1">
            <a:extLst xmlns:a="http://schemas.openxmlformats.org/drawingml/2006/main">
              <a:ext uri="{FF2B5EF4-FFF2-40B4-BE49-F238E27FC236}">
                <a16:creationId xmlns:a16="http://schemas.microsoft.com/office/drawing/2014/main" id="{FA701C51-479C-4B4F-89C5-7105547B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59894"/>
            <a:ext cx="8048625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哪些任务、样本或模型实际被评价？</a:t>
            </a:r>
          </a:p>
        </p:txBody>
      </p:sp>
      <p:sp>
        <p:nvSpPr>
          <p:cNvPr id="8" name="row-label-2">
            <a:extLst xmlns:a="http://schemas.openxmlformats.org/drawingml/2006/main">
              <a:ext uri="{FF2B5EF4-FFF2-40B4-BE49-F238E27FC236}">
                <a16:creationId xmlns:a16="http://schemas.microsoft.com/office/drawing/2014/main" id="{2C8E28BB-A976-450C-B9C4-60D2F5CD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5238"/>
            <a:ext cx="2571750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本人识别的缺口</a:t>
            </a:r>
          </a:p>
        </p:txBody>
      </p:sp>
      <p:sp>
        <p:nvSpPr>
          <p:cNvPr id="9" name="row-value-2">
            <a:extLst xmlns:a="http://schemas.openxmlformats.org/drawingml/2006/main">
              <a:ext uri="{FF2B5EF4-FFF2-40B4-BE49-F238E27FC236}">
                <a16:creationId xmlns:a16="http://schemas.microsoft.com/office/drawing/2014/main" id="{40D578D9-18C0-4855-BB75-854EF93B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05238"/>
            <a:ext cx="8048625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我的推断，依据是什么？</a:t>
            </a:r>
          </a:p>
        </p:txBody>
      </p:sp>
      <p:sp>
        <p:nvSpPr>
          <p:cNvPr id="10" name="row-label-3">
            <a:extLst xmlns:a="http://schemas.openxmlformats.org/drawingml/2006/main">
              <a:ext uri="{FF2B5EF4-FFF2-40B4-BE49-F238E27FC236}">
                <a16:creationId xmlns:a16="http://schemas.microsoft.com/office/drawing/2014/main" id="{56D39E7A-96DD-4511-9F1B-2DF40EAA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50581"/>
            <a:ext cx="2571750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相互关系</a:t>
            </a:r>
          </a:p>
        </p:txBody>
      </p:sp>
      <p:sp>
        <p:nvSpPr>
          <p:cNvPr id="11" name="row-value-3">
            <a:extLst xmlns:a="http://schemas.openxmlformats.org/drawingml/2006/main">
              <a:ext uri="{FF2B5EF4-FFF2-40B4-BE49-F238E27FC236}">
                <a16:creationId xmlns:a16="http://schemas.microsoft.com/office/drawing/2014/main" id="{1965D756-3927-4611-8369-E6D0A515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650581"/>
            <a:ext cx="8048625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支持、限制、冲突或仍不能判断</a:t>
            </a:r>
          </a:p>
        </p:txBody>
      </p:sp>
      <p:sp>
        <p:nvSpPr>
          <p:cNvPr id="12" name="takeaway">
            <a:extLst xmlns:a="http://schemas.openxmlformats.org/drawingml/2006/main">
              <a:ext uri="{FF2B5EF4-FFF2-40B4-BE49-F238E27FC236}">
                <a16:creationId xmlns:a16="http://schemas.microsoft.com/office/drawing/2014/main" id="{9B81A029-496A-4AE8-AB54-FD817B15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9117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两个位置应完成不同核验动作；重复抄同一句不能增加证据。</a:t>
            </a:r>
          </a:p>
        </p:txBody>
      </p:sp>
      <p:sp>
        <p:nvSpPr>
          <p:cNvPr id="14" name="page">
            <a:extLst xmlns:a="http://schemas.openxmlformats.org/drawingml/2006/main">
              <a:ext uri="{FF2B5EF4-FFF2-40B4-BE49-F238E27FC236}">
                <a16:creationId xmlns:a16="http://schemas.microsoft.com/office/drawing/2014/main" id="{01B384A7-AA5A-47F2-85D7-B93F53C2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65235AFA-226D-488C-BB5F-2003B3E5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AI 质疑与人工验证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2C48F553-FD69-44B6-B201-63C4129F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只给已经核对的内容，让 AI 提出可查问题。</a:t>
            </a:r>
          </a:p>
        </p:txBody>
      </p:sp>
      <p:sp>
        <p:nvSpPr>
          <p:cNvPr id="3" name="columns-label">
            <a:extLst xmlns:a="http://schemas.openxmlformats.org/drawingml/2006/main">
              <a:ext uri="{FF2B5EF4-FFF2-40B4-BE49-F238E27FC236}">
                <a16:creationId xmlns:a16="http://schemas.microsoft.com/office/drawing/2014/main" id="{B39F05CD-9E35-471B-8AF1-E53BAE2D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候选质疑   /   人工回查</a:t>
            </a:r>
          </a:p>
        </p:txBody>
      </p:sp>
      <p:sp>
        <p:nvSpPr>
          <p:cNvPr id="4" name="row-label-0">
            <a:extLst xmlns:a="http://schemas.openxmlformats.org/drawingml/2006/main">
              <a:ext uri="{FF2B5EF4-FFF2-40B4-BE49-F238E27FC236}">
                <a16:creationId xmlns:a16="http://schemas.microsoft.com/office/drawing/2014/main" id="{0A2A5526-B327-4164-B2FD-933B8E8B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2571750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对照是否公平？</a:t>
            </a:r>
          </a:p>
        </p:txBody>
      </p:sp>
      <p:sp>
        <p:nvSpPr>
          <p:cNvPr id="5" name="row-value-0">
            <a:extLst xmlns:a="http://schemas.openxmlformats.org/drawingml/2006/main">
              <a:ext uri="{FF2B5EF4-FFF2-40B4-BE49-F238E27FC236}">
                <a16:creationId xmlns:a16="http://schemas.microsoft.com/office/drawing/2014/main" id="{F58F8891-5292-4DAA-81D3-C7984CCE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14550"/>
            <a:ext cx="8048625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原文是否保持相同条件？</a:t>
            </a:r>
          </a:p>
        </p:txBody>
      </p:sp>
      <p:sp>
        <p:nvSpPr>
          <p:cNvPr id="6" name="row-label-1">
            <a:extLst xmlns:a="http://schemas.openxmlformats.org/drawingml/2006/main">
              <a:ext uri="{FF2B5EF4-FFF2-40B4-BE49-F238E27FC236}">
                <a16:creationId xmlns:a16="http://schemas.microsoft.com/office/drawing/2014/main" id="{1A70DC87-24A2-4145-9E3A-8D92867A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9894"/>
            <a:ext cx="2571750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范围是否被放大？</a:t>
            </a:r>
          </a:p>
        </p:txBody>
      </p:sp>
      <p:sp>
        <p:nvSpPr>
          <p:cNvPr id="7" name="row-value-1">
            <a:extLst xmlns:a="http://schemas.openxmlformats.org/drawingml/2006/main">
              <a:ext uri="{FF2B5EF4-FFF2-40B4-BE49-F238E27FC236}">
                <a16:creationId xmlns:a16="http://schemas.microsoft.com/office/drawing/2014/main" id="{015BE8B6-ABA1-47A0-A7A2-D1908029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59894"/>
            <a:ext cx="8048625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结果覆盖了哪些任务或人群？</a:t>
            </a:r>
          </a:p>
        </p:txBody>
      </p:sp>
      <p:sp>
        <p:nvSpPr>
          <p:cNvPr id="8" name="row-label-2">
            <a:extLst xmlns:a="http://schemas.openxmlformats.org/drawingml/2006/main">
              <a:ext uri="{FF2B5EF4-FFF2-40B4-BE49-F238E27FC236}">
                <a16:creationId xmlns:a16="http://schemas.microsoft.com/office/drawing/2014/main" id="{123A1EF8-8F93-43D9-BE6B-44E5B4CC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5238"/>
            <a:ext cx="2571750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是否存在替代解释？</a:t>
            </a:r>
          </a:p>
        </p:txBody>
      </p:sp>
      <p:sp>
        <p:nvSpPr>
          <p:cNvPr id="9" name="row-value-2">
            <a:extLst xmlns:a="http://schemas.openxmlformats.org/drawingml/2006/main">
              <a:ext uri="{FF2B5EF4-FFF2-40B4-BE49-F238E27FC236}">
                <a16:creationId xmlns:a16="http://schemas.microsoft.com/office/drawing/2014/main" id="{C90A4E49-FAAC-4F29-8372-1D75D61F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05238"/>
            <a:ext cx="8048625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原文是否有区分它的检查？</a:t>
            </a:r>
          </a:p>
        </p:txBody>
      </p:sp>
      <p:sp>
        <p:nvSpPr>
          <p:cNvPr id="10" name="row-label-3">
            <a:extLst xmlns:a="http://schemas.openxmlformats.org/drawingml/2006/main">
              <a:ext uri="{FF2B5EF4-FFF2-40B4-BE49-F238E27FC236}">
                <a16:creationId xmlns:a16="http://schemas.microsoft.com/office/drawing/2014/main" id="{BC724BF6-9247-42DC-BF41-2F861DAB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50581"/>
            <a:ext cx="2571750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找不到相关依据？</a:t>
            </a:r>
          </a:p>
        </p:txBody>
      </p:sp>
      <p:sp>
        <p:nvSpPr>
          <p:cNvPr id="11" name="row-value-3">
            <a:extLst xmlns:a="http://schemas.openxmlformats.org/drawingml/2006/main">
              <a:ext uri="{FF2B5EF4-FFF2-40B4-BE49-F238E27FC236}">
                <a16:creationId xmlns:a16="http://schemas.microsoft.com/office/drawing/2014/main" id="{20E8523D-C26C-4B5D-8294-465F6308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650581"/>
            <a:ext cx="8048625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记录未决项与下一步证据</a:t>
            </a:r>
          </a:p>
        </p:txBody>
      </p:sp>
      <p:sp>
        <p:nvSpPr>
          <p:cNvPr id="12" name="takeaway">
            <a:extLst xmlns:a="http://schemas.openxmlformats.org/drawingml/2006/main">
              <a:ext uri="{FF2B5EF4-FFF2-40B4-BE49-F238E27FC236}">
                <a16:creationId xmlns:a16="http://schemas.microsoft.com/office/drawing/2014/main" id="{5C44AB7D-3250-4E63-A00D-44534AFE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9117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AI 的质疑也可能不成立；采纳与否都写依据。</a:t>
            </a:r>
          </a:p>
        </p:txBody>
      </p:sp>
      <p:sp>
        <p:nvSpPr>
          <p:cNvPr id="14" name="page">
            <a:extLst xmlns:a="http://schemas.openxmlformats.org/drawingml/2006/main">
              <a:ext uri="{FF2B5EF4-FFF2-40B4-BE49-F238E27FC236}">
                <a16:creationId xmlns:a16="http://schemas.microsoft.com/office/drawing/2014/main" id="{08FBACC2-4CAD-4345-B65E-81209E18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F4FF8C2A-A235-4229-A6E6-D572EE7C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偏差审计：记录查过什么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762E16B8-234C-4441-A427-62F525AD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下面是已讲共同题的构造输出审计示例。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24EC3-4F13-4C1A-A061-507AF27FCE76}"/>
              </a:ext>
            </a:extLst>
          </p:cNvPr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858500" cy="28956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81250"/>
                <a:gridCol w="5334000"/>
                <a:gridCol w="314325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待核输出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核验依据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处理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1F4D78"/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“固定 5 分钟”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p.83 §2.1 为约 5–10 分钟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保留约数与范围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“对照实验减少 50%”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全文未报告对应实验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删除量化效果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本人未发现错误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记录已查风险和具体位置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保留转述与核验依据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79BC5B65-AED4-4120-8D2D-0D393821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9117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构造输出非真实模型日志；本人记录按实际核验结果填写。</a:t>
            </a:r>
          </a:p>
        </p:txBody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411B6FFC-BE4D-415C-B056-93B76A66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91275"/>
            <a:ext cx="1038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Keshav 2007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E438FC18-2658-4BD6-9ADA-27332433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BB08D841-69BC-4476-8FB3-416173BF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完整阅读卡的合格样貌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1451A9C1-0D1F-44A8-94DB-A7D66001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Keshav 示例；完整展开见阅读卡演示包。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66DC4E-650A-4BF0-9604-1A9C853376E8}"/>
              </a:ext>
            </a:extLst>
          </p:cNvPr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858500" cy="34861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80010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字段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核验后的记录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1F4D78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身份 / 状态 / 角色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Keshav 2007，DOI 10.1145/1273445.1273458；verified-with-caveat；方法线索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问题 / 主张 / 位置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如何分层阅读；三遍法；p.83 §2、p.84 §4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依据 / 设置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方法建议、使用经验；指标 / 对照 / 样本不适用：未报告效果实验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作者局限 / 本人判断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§2.2 二遍后仍可能不理解；用于流程设计，效果待测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AI / 审计 / 下一步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保留导航与质疑记录；删除构造的 50% 效果；寻找独立评价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3480CF8F-E716-4582-8424-2A601B4B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9117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保存到 reading-cards.md；AI 使用记录可链接已有记录。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94ED9B5E-08AF-4158-B524-1E6C63C0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F7FACEDD-6A00-477E-B95D-6182F198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同伴由转述反查原文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FD6DA251-3227-4280-9DBB-C8118B96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先读最终转述，再去找原文依据。</a:t>
            </a:r>
          </a:p>
        </p:txBody>
      </p:sp>
      <p:sp>
        <p:nvSpPr>
          <p:cNvPr id="3" name="columns-label">
            <a:extLst xmlns:a="http://schemas.openxmlformats.org/drawingml/2006/main">
              <a:ext uri="{FF2B5EF4-FFF2-40B4-BE49-F238E27FC236}">
                <a16:creationId xmlns:a16="http://schemas.microsoft.com/office/drawing/2014/main" id="{05B64A62-C3D3-482E-8909-1060FE7A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反查步骤   /   完成标志</a:t>
            </a:r>
          </a:p>
        </p:txBody>
      </p:sp>
      <p:sp>
        <p:nvSpPr>
          <p:cNvPr id="4" name="row-label-0">
            <a:extLst xmlns:a="http://schemas.openxmlformats.org/drawingml/2006/main">
              <a:ext uri="{FF2B5EF4-FFF2-40B4-BE49-F238E27FC236}">
                <a16:creationId xmlns:a16="http://schemas.microsoft.com/office/drawing/2014/main" id="{2BF3BD5C-F0A3-47AC-9D95-891068D2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2571750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第一处位置</a:t>
            </a:r>
          </a:p>
        </p:txBody>
      </p:sp>
      <p:sp>
        <p:nvSpPr>
          <p:cNvPr id="5" name="row-value-0">
            <a:extLst xmlns:a="http://schemas.openxmlformats.org/drawingml/2006/main">
              <a:ext uri="{FF2B5EF4-FFF2-40B4-BE49-F238E27FC236}">
                <a16:creationId xmlns:a16="http://schemas.microsoft.com/office/drawing/2014/main" id="{62AE9382-C691-428F-B61B-30132E6D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14550"/>
            <a:ext cx="8048625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找到主张、设置或结果</a:t>
            </a:r>
          </a:p>
        </p:txBody>
      </p:sp>
      <p:sp>
        <p:nvSpPr>
          <p:cNvPr id="6" name="row-label-1">
            <a:extLst xmlns:a="http://schemas.openxmlformats.org/drawingml/2006/main">
              <a:ext uri="{FF2B5EF4-FFF2-40B4-BE49-F238E27FC236}">
                <a16:creationId xmlns:a16="http://schemas.microsoft.com/office/drawing/2014/main" id="{7824AD82-82DE-4427-8956-7A1524BB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9894"/>
            <a:ext cx="2571750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第二处位置</a:t>
            </a:r>
          </a:p>
        </p:txBody>
      </p:sp>
      <p:sp>
        <p:nvSpPr>
          <p:cNvPr id="7" name="row-value-1">
            <a:extLst xmlns:a="http://schemas.openxmlformats.org/drawingml/2006/main">
              <a:ext uri="{FF2B5EF4-FFF2-40B4-BE49-F238E27FC236}">
                <a16:creationId xmlns:a16="http://schemas.microsoft.com/office/drawing/2014/main" id="{082AF317-8170-4DC6-987F-35F82B25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59894"/>
            <a:ext cx="8048625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找到限定、补充或冲突</a:t>
            </a:r>
          </a:p>
        </p:txBody>
      </p:sp>
      <p:sp>
        <p:nvSpPr>
          <p:cNvPr id="8" name="row-label-2">
            <a:extLst xmlns:a="http://schemas.openxmlformats.org/drawingml/2006/main">
              <a:ext uri="{FF2B5EF4-FFF2-40B4-BE49-F238E27FC236}">
                <a16:creationId xmlns:a16="http://schemas.microsoft.com/office/drawing/2014/main" id="{3CCDDEAF-CA9E-4948-AC9D-D2AAD7F7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5238"/>
            <a:ext cx="2571750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范围与语气</a:t>
            </a:r>
          </a:p>
        </p:txBody>
      </p:sp>
      <p:sp>
        <p:nvSpPr>
          <p:cNvPr id="9" name="row-value-2">
            <a:extLst xmlns:a="http://schemas.openxmlformats.org/drawingml/2006/main">
              <a:ext uri="{FF2B5EF4-FFF2-40B4-BE49-F238E27FC236}">
                <a16:creationId xmlns:a16="http://schemas.microsoft.com/office/drawing/2014/main" id="{7B2B9905-B633-492F-AFEB-04672810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05238"/>
            <a:ext cx="8048625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转述强度与证据一致</a:t>
            </a:r>
          </a:p>
        </p:txBody>
      </p:sp>
      <p:sp>
        <p:nvSpPr>
          <p:cNvPr id="10" name="row-label-3">
            <a:extLst xmlns:a="http://schemas.openxmlformats.org/drawingml/2006/main">
              <a:ext uri="{FF2B5EF4-FFF2-40B4-BE49-F238E27FC236}">
                <a16:creationId xmlns:a16="http://schemas.microsoft.com/office/drawing/2014/main" id="{FADE8B93-50DE-4D39-A702-61E6D62C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50581"/>
            <a:ext cx="2571750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缺证</a:t>
            </a:r>
          </a:p>
        </p:txBody>
      </p:sp>
      <p:sp>
        <p:nvSpPr>
          <p:cNvPr id="11" name="row-value-3">
            <a:extLst xmlns:a="http://schemas.openxmlformats.org/drawingml/2006/main">
              <a:ext uri="{FF2B5EF4-FFF2-40B4-BE49-F238E27FC236}">
                <a16:creationId xmlns:a16="http://schemas.microsoft.com/office/drawing/2014/main" id="{B6A6C6B0-A676-4732-9598-0A122077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650581"/>
            <a:ext cx="8048625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下一项检查具体可执行</a:t>
            </a:r>
          </a:p>
        </p:txBody>
      </p:sp>
      <p:sp>
        <p:nvSpPr>
          <p:cNvPr id="12" name="takeaway">
            <a:extLst xmlns:a="http://schemas.openxmlformats.org/drawingml/2006/main">
              <a:ext uri="{FF2B5EF4-FFF2-40B4-BE49-F238E27FC236}">
                <a16:creationId xmlns:a16="http://schemas.microsoft.com/office/drawing/2014/main" id="{14C6A9F0-4443-47AD-9DB4-A7BE1CE9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9117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同伴能定位，作者能解释为何这样使用。</a:t>
            </a:r>
          </a:p>
        </p:txBody>
      </p:sp>
      <p:sp>
        <p:nvSpPr>
          <p:cNvPr id="14" name="page">
            <a:extLst xmlns:a="http://schemas.openxmlformats.org/drawingml/2006/main">
              <a:ext uri="{FF2B5EF4-FFF2-40B4-BE49-F238E27FC236}">
                <a16:creationId xmlns:a16="http://schemas.microsoft.com/office/drawing/2014/main" id="{D18130E6-4809-426A-96DC-C6E30E06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147F6D16-361A-4A4D-817B-86249085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三种声音的归属检查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A427196A-DFDA-4BC8-9FDE-A44C37FB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原文证据支撑判断，各种声音分别注明。</a:t>
            </a:r>
          </a:p>
        </p:txBody>
      </p:sp>
      <p:sp>
        <p:nvSpPr>
          <p:cNvPr id="3" name="columns-label">
            <a:extLst xmlns:a="http://schemas.openxmlformats.org/drawingml/2006/main">
              <a:ext uri="{FF2B5EF4-FFF2-40B4-BE49-F238E27FC236}">
                <a16:creationId xmlns:a16="http://schemas.microsoft.com/office/drawing/2014/main" id="{2FF838C5-51D0-455D-B22C-7798F7CF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声音   /   应放在哪里</a:t>
            </a:r>
          </a:p>
        </p:txBody>
      </p:sp>
      <p:sp>
        <p:nvSpPr>
          <p:cNvPr id="4" name="row-label-0">
            <a:extLst xmlns:a="http://schemas.openxmlformats.org/drawingml/2006/main">
              <a:ext uri="{FF2B5EF4-FFF2-40B4-BE49-F238E27FC236}">
                <a16:creationId xmlns:a16="http://schemas.microsoft.com/office/drawing/2014/main" id="{400B265D-208D-4D29-B7DA-A35345E5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2571750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作者主张与自述局限</a:t>
            </a:r>
          </a:p>
        </p:txBody>
      </p:sp>
      <p:sp>
        <p:nvSpPr>
          <p:cNvPr id="5" name="row-value-0">
            <a:extLst xmlns:a="http://schemas.openxmlformats.org/drawingml/2006/main">
              <a:ext uri="{FF2B5EF4-FFF2-40B4-BE49-F238E27FC236}">
                <a16:creationId xmlns:a16="http://schemas.microsoft.com/office/drawing/2014/main" id="{98F78C05-1812-4BD4-9404-1341B98D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14550"/>
            <a:ext cx="8048625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带位置的作者栏</a:t>
            </a:r>
          </a:p>
        </p:txBody>
      </p:sp>
      <p:sp>
        <p:nvSpPr>
          <p:cNvPr id="6" name="row-label-1">
            <a:extLst xmlns:a="http://schemas.openxmlformats.org/drawingml/2006/main">
              <a:ext uri="{FF2B5EF4-FFF2-40B4-BE49-F238E27FC236}">
                <a16:creationId xmlns:a16="http://schemas.microsoft.com/office/drawing/2014/main" id="{855A5AB9-4285-4F80-AF34-FF354505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9894"/>
            <a:ext cx="2571750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AI 的导航与质疑</a:t>
            </a:r>
          </a:p>
        </p:txBody>
      </p:sp>
      <p:sp>
        <p:nvSpPr>
          <p:cNvPr id="7" name="row-value-1">
            <a:extLst xmlns:a="http://schemas.openxmlformats.org/drawingml/2006/main">
              <a:ext uri="{FF2B5EF4-FFF2-40B4-BE49-F238E27FC236}">
                <a16:creationId xmlns:a16="http://schemas.microsoft.com/office/drawing/2014/main" id="{CAA57F73-6D90-4129-B8B7-0E89640E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59894"/>
            <a:ext cx="8048625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待核建议与审计记录</a:t>
            </a:r>
          </a:p>
        </p:txBody>
      </p:sp>
      <p:sp>
        <p:nvSpPr>
          <p:cNvPr id="8" name="row-label-2">
            <a:extLst xmlns:a="http://schemas.openxmlformats.org/drawingml/2006/main">
              <a:ext uri="{FF2B5EF4-FFF2-40B4-BE49-F238E27FC236}">
                <a16:creationId xmlns:a16="http://schemas.microsoft.com/office/drawing/2014/main" id="{F854509D-39C7-49D4-A423-E67426C4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5238"/>
            <a:ext cx="2571750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本人迁移与局限判断</a:t>
            </a:r>
          </a:p>
        </p:txBody>
      </p:sp>
      <p:sp>
        <p:nvSpPr>
          <p:cNvPr id="9" name="row-value-2">
            <a:extLst xmlns:a="http://schemas.openxmlformats.org/drawingml/2006/main">
              <a:ext uri="{FF2B5EF4-FFF2-40B4-BE49-F238E27FC236}">
                <a16:creationId xmlns:a16="http://schemas.microsoft.com/office/drawing/2014/main" id="{9654EF3B-1737-4C2D-9C1A-A7C7647A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05238"/>
            <a:ext cx="8048625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本人判断及其依据</a:t>
            </a:r>
          </a:p>
        </p:txBody>
      </p:sp>
      <p:sp>
        <p:nvSpPr>
          <p:cNvPr id="10" name="row-label-3">
            <a:extLst xmlns:a="http://schemas.openxmlformats.org/drawingml/2006/main">
              <a:ext uri="{FF2B5EF4-FFF2-40B4-BE49-F238E27FC236}">
                <a16:creationId xmlns:a16="http://schemas.microsoft.com/office/drawing/2014/main" id="{C5808DD7-15EF-4F90-B6C0-015E55CB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50581"/>
            <a:ext cx="2571750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原文事实</a:t>
            </a:r>
          </a:p>
        </p:txBody>
      </p:sp>
      <p:sp>
        <p:nvSpPr>
          <p:cNvPr id="11" name="row-value-3">
            <a:extLst xmlns:a="http://schemas.openxmlformats.org/drawingml/2006/main">
              <a:ext uri="{FF2B5EF4-FFF2-40B4-BE49-F238E27FC236}">
                <a16:creationId xmlns:a16="http://schemas.microsoft.com/office/drawing/2014/main" id="{68FC2372-79B2-4B2D-B6AE-8D441B00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650581"/>
            <a:ext cx="8048625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作为各项判断的可定位支撑</a:t>
            </a:r>
          </a:p>
        </p:txBody>
      </p:sp>
      <p:sp>
        <p:nvSpPr>
          <p:cNvPr id="12" name="takeaway">
            <a:extLst xmlns:a="http://schemas.openxmlformats.org/drawingml/2006/main">
              <a:ext uri="{FF2B5EF4-FFF2-40B4-BE49-F238E27FC236}">
                <a16:creationId xmlns:a16="http://schemas.microsoft.com/office/drawing/2014/main" id="{86E6747E-82A9-404C-9E4E-7B018241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9117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“作者没说”与“我认为还有缺口”分别记录。</a:t>
            </a:r>
          </a:p>
        </p:txBody>
      </p:sp>
      <p:sp>
        <p:nvSpPr>
          <p:cNvPr id="14" name="page">
            <a:extLst xmlns:a="http://schemas.openxmlformats.org/drawingml/2006/main">
              <a:ext uri="{FF2B5EF4-FFF2-40B4-BE49-F238E27FC236}">
                <a16:creationId xmlns:a16="http://schemas.microsoft.com/office/drawing/2014/main" id="{312742F6-707C-42D6-814C-FA823CAB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2636023C-4F9D-41B9-A47A-DC3BBA31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作者修订与未决项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8266B008-270B-4ACA-AA1E-9D545EE8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反馈最终落实为本人阅读卡中的可见变化。</a:t>
            </a:r>
          </a:p>
        </p:txBody>
      </p:sp>
      <p:sp>
        <p:nvSpPr>
          <p:cNvPr id="3" name="columns-label">
            <a:extLst xmlns:a="http://schemas.openxmlformats.org/drawingml/2006/main">
              <a:ext uri="{FF2B5EF4-FFF2-40B4-BE49-F238E27FC236}">
                <a16:creationId xmlns:a16="http://schemas.microsoft.com/office/drawing/2014/main" id="{D518BCAC-53D6-4699-B611-8DDA1EFC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检查结果   /   回写动作</a:t>
            </a:r>
          </a:p>
        </p:txBody>
      </p:sp>
      <p:sp>
        <p:nvSpPr>
          <p:cNvPr id="4" name="row-label-0">
            <a:extLst xmlns:a="http://schemas.openxmlformats.org/drawingml/2006/main">
              <a:ext uri="{FF2B5EF4-FFF2-40B4-BE49-F238E27FC236}">
                <a16:creationId xmlns:a16="http://schemas.microsoft.com/office/drawing/2014/main" id="{20424414-28A3-4D66-8D6A-41E82234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2571750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转述过强</a:t>
            </a:r>
          </a:p>
        </p:txBody>
      </p:sp>
      <p:sp>
        <p:nvSpPr>
          <p:cNvPr id="5" name="row-value-0">
            <a:extLst xmlns:a="http://schemas.openxmlformats.org/drawingml/2006/main">
              <a:ext uri="{FF2B5EF4-FFF2-40B4-BE49-F238E27FC236}">
                <a16:creationId xmlns:a16="http://schemas.microsoft.com/office/drawing/2014/main" id="{4C30AB2A-E5C8-4B77-A095-04BCCA04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14550"/>
            <a:ext cx="8048625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收窄范围与措辞</a:t>
            </a:r>
          </a:p>
        </p:txBody>
      </p:sp>
      <p:sp>
        <p:nvSpPr>
          <p:cNvPr id="6" name="row-label-1">
            <a:extLst xmlns:a="http://schemas.openxmlformats.org/drawingml/2006/main">
              <a:ext uri="{FF2B5EF4-FFF2-40B4-BE49-F238E27FC236}">
                <a16:creationId xmlns:a16="http://schemas.microsoft.com/office/drawing/2014/main" id="{98ACCFA4-7A36-402C-92CC-CF4F22E0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9894"/>
            <a:ext cx="2571750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位置有误</a:t>
            </a:r>
          </a:p>
        </p:txBody>
      </p:sp>
      <p:sp>
        <p:nvSpPr>
          <p:cNvPr id="7" name="row-value-1">
            <a:extLst xmlns:a="http://schemas.openxmlformats.org/drawingml/2006/main">
              <a:ext uri="{FF2B5EF4-FFF2-40B4-BE49-F238E27FC236}">
                <a16:creationId xmlns:a16="http://schemas.microsoft.com/office/drawing/2014/main" id="{29D44C55-BE05-4B83-B215-C4777356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59894"/>
            <a:ext cx="8048625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替换为真实支持位置</a:t>
            </a:r>
          </a:p>
        </p:txBody>
      </p:sp>
      <p:sp>
        <p:nvSpPr>
          <p:cNvPr id="8" name="row-label-2">
            <a:extLst xmlns:a="http://schemas.openxmlformats.org/drawingml/2006/main">
              <a:ext uri="{FF2B5EF4-FFF2-40B4-BE49-F238E27FC236}">
                <a16:creationId xmlns:a16="http://schemas.microsoft.com/office/drawing/2014/main" id="{F200C32E-904C-4B5D-BD71-95B5A21D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5238"/>
            <a:ext cx="2571750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AI 质疑不成立</a:t>
            </a:r>
          </a:p>
        </p:txBody>
      </p:sp>
      <p:sp>
        <p:nvSpPr>
          <p:cNvPr id="9" name="row-value-2">
            <a:extLst xmlns:a="http://schemas.openxmlformats.org/drawingml/2006/main">
              <a:ext uri="{FF2B5EF4-FFF2-40B4-BE49-F238E27FC236}">
                <a16:creationId xmlns:a16="http://schemas.microsoft.com/office/drawing/2014/main" id="{6228C45A-5C51-45C0-BBA8-13F21BDD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05238"/>
            <a:ext cx="8048625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保留核验理由，维持判断</a:t>
            </a:r>
          </a:p>
        </p:txBody>
      </p:sp>
      <p:sp>
        <p:nvSpPr>
          <p:cNvPr id="10" name="row-label-3">
            <a:extLst xmlns:a="http://schemas.openxmlformats.org/drawingml/2006/main">
              <a:ext uri="{FF2B5EF4-FFF2-40B4-BE49-F238E27FC236}">
                <a16:creationId xmlns:a16="http://schemas.microsoft.com/office/drawing/2014/main" id="{354C6295-A2F5-41C0-B9AA-F160E834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50581"/>
            <a:ext cx="2571750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仍缺关键证据</a:t>
            </a:r>
          </a:p>
        </p:txBody>
      </p:sp>
      <p:sp>
        <p:nvSpPr>
          <p:cNvPr id="11" name="row-value-3">
            <a:extLst xmlns:a="http://schemas.openxmlformats.org/drawingml/2006/main">
              <a:ext uri="{FF2B5EF4-FFF2-40B4-BE49-F238E27FC236}">
                <a16:creationId xmlns:a16="http://schemas.microsoft.com/office/drawing/2014/main" id="{9ECBA827-7586-4319-AA12-3CA61E44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650581"/>
            <a:ext cx="8048625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列出待查项与改变判断的条件</a:t>
            </a:r>
          </a:p>
        </p:txBody>
      </p:sp>
      <p:sp>
        <p:nvSpPr>
          <p:cNvPr id="12" name="takeaway">
            <a:extLst xmlns:a="http://schemas.openxmlformats.org/drawingml/2006/main">
              <a:ext uri="{FF2B5EF4-FFF2-40B4-BE49-F238E27FC236}">
                <a16:creationId xmlns:a16="http://schemas.microsoft.com/office/drawing/2014/main" id="{606B134A-76A0-43FA-97D0-E2CA2E28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9117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记录采纳、暂不采纳或待核验，以及实际回写位置。</a:t>
            </a:r>
          </a:p>
        </p:txBody>
      </p:sp>
      <p:sp>
        <p:nvSpPr>
          <p:cNvPr id="14" name="page">
            <a:extLst xmlns:a="http://schemas.openxmlformats.org/drawingml/2006/main">
              <a:ext uri="{FF2B5EF4-FFF2-40B4-BE49-F238E27FC236}">
                <a16:creationId xmlns:a16="http://schemas.microsoft.com/office/drawing/2014/main" id="{0DA5CC1F-BEEC-4268-8F06-39B392D7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2536E49E-B03E-4EA2-B747-763687AC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精读的五步与一条证据链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FF7033DC-654E-477D-8260-6B7E7DCB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围绕关键主张完成核验，再决定如何用于研究。</a:t>
            </a:r>
          </a:p>
        </p:txBody>
      </p:sp>
      <p:sp>
        <p:nvSpPr>
          <p:cNvPr id="3" name="columns-label">
            <a:extLst xmlns:a="http://schemas.openxmlformats.org/drawingml/2006/main">
              <a:ext uri="{FF2B5EF4-FFF2-40B4-BE49-F238E27FC236}">
                <a16:creationId xmlns:a16="http://schemas.microsoft.com/office/drawing/2014/main" id="{18A27EB0-1632-46FD-B53E-D8590820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阅读步骤   /   完成证据</a:t>
            </a:r>
          </a:p>
        </p:txBody>
      </p:sp>
      <p:sp>
        <p:nvSpPr>
          <p:cNvPr id="4" name="row-label-0">
            <a:extLst xmlns:a="http://schemas.openxmlformats.org/drawingml/2006/main">
              <a:ext uri="{FF2B5EF4-FFF2-40B4-BE49-F238E27FC236}">
                <a16:creationId xmlns:a16="http://schemas.microsoft.com/office/drawing/2014/main" id="{E718036C-A1D7-4ADA-B68C-37F8061A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AI 导航、原文核验</a:t>
            </a:r>
          </a:p>
        </p:txBody>
      </p:sp>
      <p:sp>
        <p:nvSpPr>
          <p:cNvPr id="5" name="row-value-0">
            <a:extLst xmlns:a="http://schemas.openxmlformats.org/drawingml/2006/main">
              <a:ext uri="{FF2B5EF4-FFF2-40B4-BE49-F238E27FC236}">
                <a16:creationId xmlns:a16="http://schemas.microsoft.com/office/drawing/2014/main" id="{A1A90FE7-4AEC-41E7-9B74-DD90EB6A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14550"/>
            <a:ext cx="8048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地图与至少两个位置</a:t>
            </a:r>
          </a:p>
        </p:txBody>
      </p:sp>
      <p:sp>
        <p:nvSpPr>
          <p:cNvPr id="6" name="row-label-1">
            <a:extLst xmlns:a="http://schemas.openxmlformats.org/drawingml/2006/main">
              <a:ext uri="{FF2B5EF4-FFF2-40B4-BE49-F238E27FC236}">
                <a16:creationId xmlns:a16="http://schemas.microsoft.com/office/drawing/2014/main" id="{C90875BC-4C40-4D76-8530-E70171FA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AI 质疑、偏差审计</a:t>
            </a:r>
          </a:p>
        </p:txBody>
      </p:sp>
      <p:sp>
        <p:nvSpPr>
          <p:cNvPr id="7" name="row-value-1">
            <a:extLst xmlns:a="http://schemas.openxmlformats.org/drawingml/2006/main">
              <a:ext uri="{FF2B5EF4-FFF2-40B4-BE49-F238E27FC236}">
                <a16:creationId xmlns:a16="http://schemas.microsoft.com/office/drawing/2014/main" id="{4424B570-0D84-4EC4-AA91-24F29D3E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71800"/>
            <a:ext cx="8048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候选问题与实际核验记录</a:t>
            </a:r>
          </a:p>
        </p:txBody>
      </p:sp>
      <p:sp>
        <p:nvSpPr>
          <p:cNvPr id="8" name="row-label-2">
            <a:extLst xmlns:a="http://schemas.openxmlformats.org/drawingml/2006/main">
              <a:ext uri="{FF2B5EF4-FFF2-40B4-BE49-F238E27FC236}">
                <a16:creationId xmlns:a16="http://schemas.microsoft.com/office/drawing/2014/main" id="{A2FB10BA-5B37-46E7-A0BE-8E189F29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2905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人工定稿</a:t>
            </a:r>
          </a:p>
        </p:txBody>
      </p:sp>
      <p:sp>
        <p:nvSpPr>
          <p:cNvPr id="9" name="row-value-2">
            <a:extLst xmlns:a="http://schemas.openxmlformats.org/drawingml/2006/main">
              <a:ext uri="{FF2B5EF4-FFF2-40B4-BE49-F238E27FC236}">
                <a16:creationId xmlns:a16="http://schemas.microsoft.com/office/drawing/2014/main" id="{EA46BEA8-60E0-4D8B-BD07-07073A69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29050"/>
            <a:ext cx="8048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作者主张、原文依据和本人判断分开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6B657327-26B5-42FB-875C-00742E62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9117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一条受限且可反查的主张，才能继续进入证据综合。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EF2E05CD-9E3E-4707-BB22-60994510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F847F3DE-79CC-4399-A922-92E0C42F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交付自查与第 5 课输入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9D7323FF-1E90-4C4D-BAE8-A5FC8557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带第一张完整卡和一项条件不同的证据进入综合。</a:t>
            </a:r>
          </a:p>
        </p:txBody>
      </p:sp>
      <p:sp>
        <p:nvSpPr>
          <p:cNvPr id="3" name="columns-label">
            <a:extLst xmlns:a="http://schemas.openxmlformats.org/drawingml/2006/main">
              <a:ext uri="{FF2B5EF4-FFF2-40B4-BE49-F238E27FC236}">
                <a16:creationId xmlns:a16="http://schemas.microsoft.com/office/drawing/2014/main" id="{3D6FD276-5655-4030-A180-85E9ED9B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本课自查   /   下一课接力</a:t>
            </a:r>
          </a:p>
        </p:txBody>
      </p:sp>
      <p:sp>
        <p:nvSpPr>
          <p:cNvPr id="4" name="row-label-0">
            <a:extLst xmlns:a="http://schemas.openxmlformats.org/drawingml/2006/main">
              <a:ext uri="{FF2B5EF4-FFF2-40B4-BE49-F238E27FC236}">
                <a16:creationId xmlns:a16="http://schemas.microsoft.com/office/drawing/2014/main" id="{B4A6ED82-5D48-45CE-B171-37A210AE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关键主张与两个位置</a:t>
            </a:r>
          </a:p>
        </p:txBody>
      </p:sp>
      <p:sp>
        <p:nvSpPr>
          <p:cNvPr id="5" name="row-value-0">
            <a:extLst xmlns:a="http://schemas.openxmlformats.org/drawingml/2006/main">
              <a:ext uri="{FF2B5EF4-FFF2-40B4-BE49-F238E27FC236}">
                <a16:creationId xmlns:a16="http://schemas.microsoft.com/office/drawing/2014/main" id="{E6E909AF-77F2-43F0-BFE5-F5A7CC89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14550"/>
            <a:ext cx="8048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比较支持、限制与冲突</a:t>
            </a:r>
          </a:p>
        </p:txBody>
      </p:sp>
      <p:sp>
        <p:nvSpPr>
          <p:cNvPr id="6" name="row-label-1">
            <a:extLst xmlns:a="http://schemas.openxmlformats.org/drawingml/2006/main">
              <a:ext uri="{FF2B5EF4-FFF2-40B4-BE49-F238E27FC236}">
                <a16:creationId xmlns:a16="http://schemas.microsoft.com/office/drawing/2014/main" id="{D8183C53-839B-477C-9334-0F6DE8C2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条件、局限与判断</a:t>
            </a:r>
          </a:p>
        </p:txBody>
      </p:sp>
      <p:sp>
        <p:nvSpPr>
          <p:cNvPr id="7" name="row-value-1">
            <a:extLst xmlns:a="http://schemas.openxmlformats.org/drawingml/2006/main">
              <a:ext uri="{FF2B5EF4-FFF2-40B4-BE49-F238E27FC236}">
                <a16:creationId xmlns:a16="http://schemas.microsoft.com/office/drawing/2014/main" id="{3D1172AD-68DE-4014-9F58-8216303E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71800"/>
            <a:ext cx="8048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形成证据矩阵 / 地图</a:t>
            </a:r>
          </a:p>
        </p:txBody>
      </p:sp>
      <p:sp>
        <p:nvSpPr>
          <p:cNvPr id="8" name="row-label-2">
            <a:extLst xmlns:a="http://schemas.openxmlformats.org/drawingml/2006/main">
              <a:ext uri="{FF2B5EF4-FFF2-40B4-BE49-F238E27FC236}">
                <a16:creationId xmlns:a16="http://schemas.microsoft.com/office/drawing/2014/main" id="{6A4B858E-1914-4AFB-95B2-2CBFD622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2905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AI 核验与实际回写</a:t>
            </a:r>
          </a:p>
        </p:txBody>
      </p:sp>
      <p:sp>
        <p:nvSpPr>
          <p:cNvPr id="9" name="row-value-2">
            <a:extLst xmlns:a="http://schemas.openxmlformats.org/drawingml/2006/main">
              <a:ext uri="{FF2B5EF4-FFF2-40B4-BE49-F238E27FC236}">
                <a16:creationId xmlns:a16="http://schemas.microsoft.com/office/drawing/2014/main" id="{AE175504-F644-4E77-9635-D4811869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29050"/>
            <a:ext cx="8048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课堂补第二张完整卡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CC0A5E5B-5B43-4073-87F4-701F9B49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9117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第 4–6 课逐课形成三张卡；第 6 课问题门统一检查。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B4035F94-892E-48ED-9AD6-66674C1A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32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2026-09-16T01:27:01.7120000Z</dcterms:created>
  <dcterms:modified xsi:type="dcterms:W3CDTF">2026-09-16T01:27:01.7120000Z</dcterms:modified>
</coreProperties>
</file>