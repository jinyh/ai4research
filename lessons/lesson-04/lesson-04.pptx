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58fd09804f4a11" /><Relationship Type="http://schemas.openxmlformats.org/officeDocument/2006/relationships/extended-properties" Target="/docProps/app.xml" Id="Rfc86fee57dad4196" /><Relationship Type="http://schemas.openxmlformats.org/officeDocument/2006/relationships/officeDocument" Target="/ppt/presentation.xml" Id="R2250f102312242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c7eca84e9744d9"/>
  </p:sldMasterIdLst>
  <p:notesMasterIdLst>
    <p:notesMasterId xmlns:r="http://schemas.openxmlformats.org/officeDocument/2006/relationships" r:id="R1c4e83dcdcbb4465"/>
  </p:notesMasterIdLst>
  <p:sldIdLst>
    <p:sldId xmlns:r="http://schemas.openxmlformats.org/officeDocument/2006/relationships" id="256" r:id="R6346afe865b1432c"/>
    <p:sldId xmlns:r="http://schemas.openxmlformats.org/officeDocument/2006/relationships" id="257" r:id="Rd31b003b6a0a4792"/>
    <p:sldId xmlns:r="http://schemas.openxmlformats.org/officeDocument/2006/relationships" id="258" r:id="R5b50538b949c4112"/>
    <p:sldId xmlns:r="http://schemas.openxmlformats.org/officeDocument/2006/relationships" id="259" r:id="Rdd7e410c745f43db"/>
    <p:sldId xmlns:r="http://schemas.openxmlformats.org/officeDocument/2006/relationships" id="260" r:id="R861d780f9f0541e1"/>
    <p:sldId xmlns:r="http://schemas.openxmlformats.org/officeDocument/2006/relationships" id="261" r:id="R51c53d8923724b20"/>
    <p:sldId xmlns:r="http://schemas.openxmlformats.org/officeDocument/2006/relationships" id="262" r:id="R5fd3f65f93ea419e"/>
    <p:sldId xmlns:r="http://schemas.openxmlformats.org/officeDocument/2006/relationships" id="263" r:id="R7f89c6a8f4344c25"/>
    <p:sldId xmlns:r="http://schemas.openxmlformats.org/officeDocument/2006/relationships" id="264" r:id="R3bca0cfe6a9a416f"/>
    <p:sldId xmlns:r="http://schemas.openxmlformats.org/officeDocument/2006/relationships" id="265" r:id="Rb8ecbf4fa2f44331"/>
    <p:sldId xmlns:r="http://schemas.openxmlformats.org/officeDocument/2006/relationships" id="266" r:id="R5ec133f5da9e4098"/>
    <p:sldId xmlns:r="http://schemas.openxmlformats.org/officeDocument/2006/relationships" id="267" r:id="R57a8f611a8fa4de2"/>
    <p:sldId xmlns:r="http://schemas.openxmlformats.org/officeDocument/2006/relationships" id="268" r:id="R5db88ea3dd4c4c3b"/>
    <p:sldId xmlns:r="http://schemas.openxmlformats.org/officeDocument/2006/relationships" id="269" r:id="R9882d676c3ae4a93"/>
    <p:sldId xmlns:r="http://schemas.openxmlformats.org/officeDocument/2006/relationships" id="270" r:id="R7564a413b09a451b"/>
    <p:sldId xmlns:r="http://schemas.openxmlformats.org/officeDocument/2006/relationships" id="271" r:id="Rfc90aea2c52f4ace"/>
    <p:sldId xmlns:r="http://schemas.openxmlformats.org/officeDocument/2006/relationships" id="272" r:id="R27cc6f5731f44758"/>
    <p:sldId xmlns:r="http://schemas.openxmlformats.org/officeDocument/2006/relationships" id="273" r:id="R716e12d21d464626"/>
    <p:sldId xmlns:r="http://schemas.openxmlformats.org/officeDocument/2006/relationships" id="274" r:id="R351bb06bac4e44e5"/>
    <p:sldId xmlns:r="http://schemas.openxmlformats.org/officeDocument/2006/relationships" id="275" r:id="R1ff1c6f959094336"/>
    <p:sldId xmlns:r="http://schemas.openxmlformats.org/officeDocument/2006/relationships" id="276" r:id="R755846b448744490"/>
    <p:sldId xmlns:r="http://schemas.openxmlformats.org/officeDocument/2006/relationships" id="277" r:id="R18c7c908b84c42dc"/>
    <p:sldId xmlns:r="http://schemas.openxmlformats.org/officeDocument/2006/relationships" id="278" r:id="R0df1a0d331cd4687"/>
    <p:sldId xmlns:r="http://schemas.openxmlformats.org/officeDocument/2006/relationships" id="279" r:id="R10522ee4b951446d"/>
    <p:sldId xmlns:r="http://schemas.openxmlformats.org/officeDocument/2006/relationships" id="280" r:id="R08202d652625414e"/>
    <p:sldId xmlns:r="http://schemas.openxmlformats.org/officeDocument/2006/relationships" id="281" r:id="Rf3526baf1c84406d"/>
    <p:sldId xmlns:r="http://schemas.openxmlformats.org/officeDocument/2006/relationships" id="282" r:id="R5996259fb50c4420"/>
    <p:sldId xmlns:r="http://schemas.openxmlformats.org/officeDocument/2006/relationships" id="283" r:id="R6906421b3bb040b8"/>
    <p:sldId xmlns:r="http://schemas.openxmlformats.org/officeDocument/2006/relationships" id="284" r:id="R73bd4bb3445b45cc"/>
    <p:sldId xmlns:r="http://schemas.openxmlformats.org/officeDocument/2006/relationships" id="285" r:id="R73d317dd5344432c"/>
    <p:sldId xmlns:r="http://schemas.openxmlformats.org/officeDocument/2006/relationships" id="286" r:id="Rc6903596b4f442cc"/>
    <p:sldId xmlns:r="http://schemas.openxmlformats.org/officeDocument/2006/relationships" id="287" r:id="Ra72f5609176540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1ce07d435e4dc9" /><Relationship Type="http://schemas.openxmlformats.org/officeDocument/2006/relationships/slideMaster" Target="/ppt/slideMasters/slideMaster1.xml" Id="R8bc7eca84e9744d9" /><Relationship Type="http://schemas.openxmlformats.org/officeDocument/2006/relationships/notesMaster" Target="/ppt/notesMasters/notesMaster1.xml" Id="R1c4e83dcdcbb4465" /><Relationship Type="http://schemas.openxmlformats.org/officeDocument/2006/relationships/presProps" Target="/ppt/presProps.xml" Id="R3dbfe0c528704f67" /><Relationship Type="http://schemas.openxmlformats.org/officeDocument/2006/relationships/viewProps" Target="/ppt/viewProps.xml" Id="R38189e0f6a5e4ed7" /><Relationship Type="http://schemas.openxmlformats.org/officeDocument/2006/relationships/tableStyles" Target="/ppt/tableStyles.xml" Id="R5a70b2ae3dd64659" /><Relationship Type="http://schemas.openxmlformats.org/officeDocument/2006/relationships/slide" Target="/ppt/slides/slide1.xml" Id="R6346afe865b1432c" /><Relationship Type="http://schemas.openxmlformats.org/officeDocument/2006/relationships/slide" Target="/ppt/slides/slide2.xml" Id="Rd31b003b6a0a4792" /><Relationship Type="http://schemas.openxmlformats.org/officeDocument/2006/relationships/slide" Target="/ppt/slides/slide3.xml" Id="R5b50538b949c4112" /><Relationship Type="http://schemas.openxmlformats.org/officeDocument/2006/relationships/slide" Target="/ppt/slides/slide4.xml" Id="Rdd7e410c745f43db" /><Relationship Type="http://schemas.openxmlformats.org/officeDocument/2006/relationships/slide" Target="/ppt/slides/slide5.xml" Id="R861d780f9f0541e1" /><Relationship Type="http://schemas.openxmlformats.org/officeDocument/2006/relationships/slide" Target="/ppt/slides/slide6.xml" Id="R51c53d8923724b20" /><Relationship Type="http://schemas.openxmlformats.org/officeDocument/2006/relationships/slide" Target="/ppt/slides/slide7.xml" Id="R5fd3f65f93ea419e" /><Relationship Type="http://schemas.openxmlformats.org/officeDocument/2006/relationships/slide" Target="/ppt/slides/slide8.xml" Id="R7f89c6a8f4344c25" /><Relationship Type="http://schemas.openxmlformats.org/officeDocument/2006/relationships/slide" Target="/ppt/slides/slide9.xml" Id="R3bca0cfe6a9a416f" /><Relationship Type="http://schemas.openxmlformats.org/officeDocument/2006/relationships/slide" Target="/ppt/slides/slide10.xml" Id="Rb8ecbf4fa2f44331" /><Relationship Type="http://schemas.openxmlformats.org/officeDocument/2006/relationships/slide" Target="/ppt/slides/slide11.xml" Id="R5ec133f5da9e4098" /><Relationship Type="http://schemas.openxmlformats.org/officeDocument/2006/relationships/slide" Target="/ppt/slides/slide12.xml" Id="R57a8f611a8fa4de2" /><Relationship Type="http://schemas.openxmlformats.org/officeDocument/2006/relationships/slide" Target="/ppt/slides/slide13.xml" Id="R5db88ea3dd4c4c3b" /><Relationship Type="http://schemas.openxmlformats.org/officeDocument/2006/relationships/slide" Target="/ppt/slides/slide14.xml" Id="R9882d676c3ae4a93" /><Relationship Type="http://schemas.openxmlformats.org/officeDocument/2006/relationships/slide" Target="/ppt/slides/slide15.xml" Id="R7564a413b09a451b" /><Relationship Type="http://schemas.openxmlformats.org/officeDocument/2006/relationships/slide" Target="/ppt/slides/slide16.xml" Id="Rfc90aea2c52f4ace" /><Relationship Type="http://schemas.openxmlformats.org/officeDocument/2006/relationships/slide" Target="/ppt/slides/slide17.xml" Id="R27cc6f5731f44758" /><Relationship Type="http://schemas.openxmlformats.org/officeDocument/2006/relationships/slide" Target="/ppt/slides/slide18.xml" Id="R716e12d21d464626" /><Relationship Type="http://schemas.openxmlformats.org/officeDocument/2006/relationships/slide" Target="/ppt/slides/slide19.xml" Id="R351bb06bac4e44e5" /><Relationship Type="http://schemas.openxmlformats.org/officeDocument/2006/relationships/slide" Target="/ppt/slides/slide20.xml" Id="R1ff1c6f959094336" /><Relationship Type="http://schemas.openxmlformats.org/officeDocument/2006/relationships/slide" Target="/ppt/slides/slide21.xml" Id="R755846b448744490" /><Relationship Type="http://schemas.openxmlformats.org/officeDocument/2006/relationships/slide" Target="/ppt/slides/slide22.xml" Id="R18c7c908b84c42dc" /><Relationship Type="http://schemas.openxmlformats.org/officeDocument/2006/relationships/slide" Target="/ppt/slides/slide23.xml" Id="R0df1a0d331cd4687" /><Relationship Type="http://schemas.openxmlformats.org/officeDocument/2006/relationships/slide" Target="/ppt/slides/slide24.xml" Id="R10522ee4b951446d" /><Relationship Type="http://schemas.openxmlformats.org/officeDocument/2006/relationships/slide" Target="/ppt/slides/slide25.xml" Id="R08202d652625414e" /><Relationship Type="http://schemas.openxmlformats.org/officeDocument/2006/relationships/slide" Target="/ppt/slides/slide26.xml" Id="Rf3526baf1c84406d" /><Relationship Type="http://schemas.openxmlformats.org/officeDocument/2006/relationships/slide" Target="/ppt/slides/slide27.xml" Id="R5996259fb50c4420" /><Relationship Type="http://schemas.openxmlformats.org/officeDocument/2006/relationships/slide" Target="/ppt/slides/slide28.xml" Id="R6906421b3bb040b8" /><Relationship Type="http://schemas.openxmlformats.org/officeDocument/2006/relationships/slide" Target="/ppt/slides/slide29.xml" Id="R73bd4bb3445b45cc" /><Relationship Type="http://schemas.openxmlformats.org/officeDocument/2006/relationships/slide" Target="/ppt/slides/slide30.xml" Id="R73d317dd5344432c" /><Relationship Type="http://schemas.openxmlformats.org/officeDocument/2006/relationships/slide" Target="/ppt/slides/slide31.xml" Id="Rc6903596b4f442cc" /><Relationship Type="http://schemas.openxmlformats.org/officeDocument/2006/relationships/slide" Target="/ppt/slides/slide32.xml" Id="Ra72f5609176540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e8b8f49c5b47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0b7e0d165845f8" /><Relationship Type="http://schemas.openxmlformats.org/officeDocument/2006/relationships/notesMaster" Target="/ppt/notesMasters/notesMaster1.xml" Id="R06608cd0ab124d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4ceaea85054390" /><Relationship Type="http://schemas.openxmlformats.org/officeDocument/2006/relationships/notesMaster" Target="/ppt/notesMasters/notesMaster1.xml" Id="Rf4778b15bd404a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1e57a4abdd45bc" /><Relationship Type="http://schemas.openxmlformats.org/officeDocument/2006/relationships/notesMaster" Target="/ppt/notesMasters/notesMaster1.xml" Id="Rdde173c9063343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695cbe36c54bd1" /><Relationship Type="http://schemas.openxmlformats.org/officeDocument/2006/relationships/notesMaster" Target="/ppt/notesMasters/notesMaster1.xml" Id="R67618683854147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d055c08d7a49ed" /><Relationship Type="http://schemas.openxmlformats.org/officeDocument/2006/relationships/notesMaster" Target="/ppt/notesMasters/notesMaster1.xml" Id="R60979a92a00d4b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daccc40e084c05" /><Relationship Type="http://schemas.openxmlformats.org/officeDocument/2006/relationships/notesMaster" Target="/ppt/notesMasters/notesMaster1.xml" Id="Raa8dde8ea06445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87ec4c1f814fb2" /><Relationship Type="http://schemas.openxmlformats.org/officeDocument/2006/relationships/notesMaster" Target="/ppt/notesMasters/notesMaster1.xml" Id="R1e27d8d41b8643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555ef417c24fef" /><Relationship Type="http://schemas.openxmlformats.org/officeDocument/2006/relationships/notesMaster" Target="/ppt/notesMasters/notesMaster1.xml" Id="R1493424e23eb4e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dbbcd362f6414d" /><Relationship Type="http://schemas.openxmlformats.org/officeDocument/2006/relationships/notesMaster" Target="/ppt/notesMasters/notesMaster1.xml" Id="R1dbc169c288042b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685f20ee7f4834" /><Relationship Type="http://schemas.openxmlformats.org/officeDocument/2006/relationships/notesMaster" Target="/ppt/notesMasters/notesMaster1.xml" Id="Rd4e38c19dc554e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3994ae79b534433" /><Relationship Type="http://schemas.openxmlformats.org/officeDocument/2006/relationships/notesMaster" Target="/ppt/notesMasters/notesMaster1.xml" Id="R3ab97749c9bd493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c7fd2fc27f24b55" /><Relationship Type="http://schemas.openxmlformats.org/officeDocument/2006/relationships/notesMaster" Target="/ppt/notesMasters/notesMaster1.xml" Id="R4a123c3046fc40e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1e545c72434037" /><Relationship Type="http://schemas.openxmlformats.org/officeDocument/2006/relationships/notesMaster" Target="/ppt/notesMasters/notesMaster1.xml" Id="Re6ba3d6f30a14e3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0572ae2e85e4442" /><Relationship Type="http://schemas.openxmlformats.org/officeDocument/2006/relationships/notesMaster" Target="/ppt/notesMasters/notesMaster1.xml" Id="R7d40c927cc814c1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8f299c34d364d63" /><Relationship Type="http://schemas.openxmlformats.org/officeDocument/2006/relationships/notesMaster" Target="/ppt/notesMasters/notesMaster1.xml" Id="Re4bc5b7c33a5490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5831f2d34484b2b" /><Relationship Type="http://schemas.openxmlformats.org/officeDocument/2006/relationships/notesMaster" Target="/ppt/notesMasters/notesMaster1.xml" Id="R0a73c768dfe2469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aefd88a13d345bf" /><Relationship Type="http://schemas.openxmlformats.org/officeDocument/2006/relationships/notesMaster" Target="/ppt/notesMasters/notesMaster1.xml" Id="Ra97ad5e7b9da4a8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441f8ff763b4a5b" /><Relationship Type="http://schemas.openxmlformats.org/officeDocument/2006/relationships/notesMaster" Target="/ppt/notesMasters/notesMaster1.xml" Id="R1053d71abd684fb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9883fe757334a08" /><Relationship Type="http://schemas.openxmlformats.org/officeDocument/2006/relationships/notesMaster" Target="/ppt/notesMasters/notesMaster1.xml" Id="Rd0932e69cf6740f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1ec51d1cc054d14" /><Relationship Type="http://schemas.openxmlformats.org/officeDocument/2006/relationships/notesMaster" Target="/ppt/notesMasters/notesMaster1.xml" Id="R720f923b93884a1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29c098b71c240b9" /><Relationship Type="http://schemas.openxmlformats.org/officeDocument/2006/relationships/notesMaster" Target="/ppt/notesMasters/notesMaster1.xml" Id="R6e63239096a54c0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df4c0f59d9c4006" /><Relationship Type="http://schemas.openxmlformats.org/officeDocument/2006/relationships/notesMaster" Target="/ppt/notesMasters/notesMaster1.xml" Id="Rb5659aa276eb40b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c2122dd09c8428d" /><Relationship Type="http://schemas.openxmlformats.org/officeDocument/2006/relationships/notesMaster" Target="/ppt/notesMasters/notesMaster1.xml" Id="R79cfbb6065ec4db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9cfe4c54a6b49b8" /><Relationship Type="http://schemas.openxmlformats.org/officeDocument/2006/relationships/notesMaster" Target="/ppt/notesMasters/notesMaster1.xml" Id="R271680488a144dc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79d64df6f9d493e" /><Relationship Type="http://schemas.openxmlformats.org/officeDocument/2006/relationships/notesMaster" Target="/ppt/notesMasters/notesMaster1.xml" Id="Ra4a4310fb416427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1b098b9917d43c2" /><Relationship Type="http://schemas.openxmlformats.org/officeDocument/2006/relationships/notesMaster" Target="/ppt/notesMasters/notesMaster1.xml" Id="Ra2be2ce30f774a1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9cfb92077424f10" /><Relationship Type="http://schemas.openxmlformats.org/officeDocument/2006/relationships/notesMaster" Target="/ppt/notesMasters/notesMaster1.xml" Id="R269b155d39d049d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18af2ee8a71490e" /><Relationship Type="http://schemas.openxmlformats.org/officeDocument/2006/relationships/notesMaster" Target="/ppt/notesMasters/notesMaster1.xml" Id="Rabbb0c9348b14e8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c0e96a22086441c" /><Relationship Type="http://schemas.openxmlformats.org/officeDocument/2006/relationships/notesMaster" Target="/ppt/notesMasters/notesMaster1.xml" Id="Rd1a9fa38296849d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9ffc28eb77d4180" /><Relationship Type="http://schemas.openxmlformats.org/officeDocument/2006/relationships/notesMaster" Target="/ppt/notesMasters/notesMaster1.xml" Id="R6ee991c81c164cc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866eae0bb2942b0" /><Relationship Type="http://schemas.openxmlformats.org/officeDocument/2006/relationships/notesMaster" Target="/ppt/notesMasters/notesMaster1.xml" Id="Rae65fff04585487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64ff5f9994947ce" /><Relationship Type="http://schemas.openxmlformats.org/officeDocument/2006/relationships/notesMaster" Target="/ppt/notesMasters/notesMaster1.xml" Id="R2d855eddf93540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P01 第4讲 AI 辅助论文精读与深度分析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今天围绕一条主张完成精读。保留你已有的判断，观察哪项原文证据会使它改变。 教师MI示例不替代学生个人项目；允许非MI材料及有依据的维持判断。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学生动作：打开本人关键论文和研究问题；MI 用于教师共同诊断。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建议时间：1 分钟，含学生操作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course/micro-project.md；本课 handout.md、judgment-task.md 与 ioi-reading-guide.md。</a:t>
            </a:r>
          </a:p>
          <a:p xmlns:a="http://schemas.openxmlformats.org/drawingml/2006/main">
            <a:r>
              <a:t>讲义映射：handout.md §导读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P02 本课要回答的研究问题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上课先让每个人写出本人阅读问题与初始判断。教师共同诊断关注：同组组件被移除后，候选电路与完整模型为何可能表现不同。先保存观察，不预给原因。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学生动作：写下初判及最想核对的一项证据。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建议时间：2 分钟，含学生操作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course/micro-project.md；本课 handout.md、judgment-task.md 与 ioi-reading-guide.md。</a:t>
            </a:r>
          </a:p>
          <a:p xmlns:a="http://schemas.openxmlformats.org/drawingml/2006/main">
            <a:r>
              <a:t>讲义映射：handout.md §本课研究主线：问题导向的原文、图表与代码阅读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P03 L3 的来源怎样进入第一张精读卡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来源通过入口核验，只说明已核对的部分可以使用。精读继续追问该主张怎样成立、怎样用于你的项目。 教师MI示例不替代学生个人项目；允许非MI材料及有依据的维持判断。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学生动作：选定本人论文中一条会影响下一步的主张。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建议时间：2 分钟，含学生操作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course/micro-project.md；本课 handout.md、judgment-task.md 与 ioi-reading-guide.md。</a:t>
            </a:r>
          </a:p>
          <a:p xmlns:a="http://schemas.openxmlformats.org/drawingml/2006/main">
            <a:r>
              <a:t>讲义映射：handout.md §四、阅读卡字段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P04 五步阅读与判断责任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阅读地图允许错误，核验负责检查。AI 的质疑也可能不成立，学生应根据证据采用或拒绝，不能把质疑数量当作阅读质量。 教师MI示例不替代学生个人项目；允许非MI材料及有依据的维持判断。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学生动作：指出当前卡片还缺哪一步产物。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建议时间：2 分钟，含学生操作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course/micro-project.md；本课 handout.md、judgment-task.md 与 ioi-reading-guide.md。</a:t>
            </a:r>
          </a:p>
          <a:p xmlns:a="http://schemas.openxmlformats.org/drawingml/2006/main">
            <a:r>
              <a:t>讲义映射：handout.md §二、AI 辅助精读五步流程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P05 AI 导航的实际输入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请使用当前公开版本，避免模型凭记忆补页码。让 AI 先帮助缩小阅读范围，再由学生打开对应位置；本页是操作输入，不是已发生的模型输出。 教师MI示例不替代学生个人项目；允许非MI材料及有依据的维持判断。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学生动作：运行本人导航；无模型时先列人工阅读问题并注明。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建议时间：1 分钟，含学生操作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course/micro-project.md；本课 handout.md、judgment-task.md 与 ioi-reading-guide.md。</a:t>
            </a:r>
          </a:p>
          <a:p xmlns:a="http://schemas.openxmlformats.org/drawingml/2006/main">
            <a:r>
              <a:t>讲义映射：handout.md §二、AI 辅助精读五步流程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P06 观察、解释与区分检查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第一句是构造观察；后两句尚待验证。 学生动作：圈出观察结果与机制解释的分界。；依据实际材料讨论，不预设唯一结论。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学生动作：圈出观察结果与机制解释的分界。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建议时间：2 分钟，含学生操作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课程构造的系统延迟算例，非论文或模型运行结果；handout.md §三。</a:t>
            </a:r>
          </a:p>
          <a:p xmlns:a="http://schemas.openxmlformats.org/drawingml/2006/main">
            <a:r>
              <a:t>讲义映射：handout.md §三、主张核验：区分 AI 主张与原文主张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P07 IOI 输入中的名字角色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原句目标由任务定义给出。扰动后指标仍比较原句的两个名字，所以不要把所有运行的正值都称为扰动句答对了。 教师MI示例不替代学生个人项目；允许非MI材料及有依据的维持判断。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学生动作：在自己的输入中标出 IO、S 和最后位置。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建议时间：1 分钟，含学生操作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course/micro-project.md；本课 handout.md、judgment-task.md 与 ioi-reading-guide.md。 课程代码 lessons/lesson-09/assets/mi-ioi/run.py 的 capture、hook、forward 与 row；protocol.json；policy-baseline.json。静态代码检查，不代表真实模型已运行。</a:t>
            </a:r>
          </a:p>
          <a:p xmlns:a="http://schemas.openxmlformats.org/drawingml/2006/main">
            <a:r>
              <a:t>讲义映射：handout.md §三、主张核验：区分 AI 主张与原文主张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P08 logit 差与恢复比例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公式是 (patch−corrupt)/(clean−corrupt)。课程运行器默认保存原始分数和差值，不默认使用恢复比例；分母接近零或为负时尤其要检查意义。 教师MI示例不替代学生个人项目；允许非MI材料及有依据的维持判断。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学生动作：算出差值，说明为什么 1/2 不是准确率。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建议时间：2 分钟，含学生操作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课程代码 lessons/lesson-09/assets/mi-ioi/run.py 的 capture、hook、forward 与 row；protocol.json；policy-baseline.json。静态代码检查，不代表真实模型已运行。 本页数值为虚构算例。</a:t>
            </a:r>
          </a:p>
          <a:p xmlns:a="http://schemas.openxmlformats.org/drawingml/2006/main">
            <a:r>
              <a:t>讲义映射：handout.md §三、主张核验：区分 AI 主张与原文主张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P09 论文方法与课程干预的比较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只介绍核对维度与入口，不填写比较答案。学生先保存初判和实际证据；P14–P17及讲义§六再解释对象、操作与指标的差异。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学生动作：记录对象与目的两项待核问题。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建议时间：2 分钟，含学生操作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Wang et al., arXiv:2211.00593v1, §2 / §3.1 / §4–4.2 / Fig.6(a); https://arxiv.org/html/2211.00593v1；核验 2026-10-20。 课程代码 lessons/lesson-09/assets/mi-ioi/run.py 的 capture、hook、forward 与 row；protocol.json；policy-baseline.json。静态代码检查，不代表真实模型已运行。</a:t>
            </a:r>
          </a:p>
          <a:p xmlns:a="http://schemas.openxmlformats.org/drawingml/2006/main">
            <a:r>
              <a:t>讲义映射：handout.md §三、主张核验：区分 AI 主张与原文主张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P10 从原图形成解释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先写本人解释，再比较证据。 学生动作：独立读原图与方法，保存观察、解释和未决问题。；依据实际材料讨论，不预设唯一结论。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学生动作：独立读原图与方法，保存观察、解释和未决问题。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建议时间：2 分钟，含学生操作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course/micro-project.md；本课 handout.md、judgment-task.md 与 ioi-reading-guide.md。</a:t>
            </a:r>
          </a:p>
          <a:p xmlns:a="http://schemas.openxmlformats.org/drawingml/2006/main">
            <a:r>
              <a:t>讲义映射：handout.md §七、共同诊断与本人迁移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P11 两处原文位置的阅读任务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提供原论文全文或课前下载的公开版本。学生自己找位置，教师只协助访问与定位，不预先圈出正确答案。 教师MI示例不替代学生个人项目；允许非MI材料及有依据的维持判断。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学生动作：记录两个实际位置及其作用。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建议时间：8 分钟，含学生操作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course/micro-project.md；本课 handout.md、judgment-task.md 与 ioi-reading-guide.md。</a:t>
            </a:r>
          </a:p>
          <a:p xmlns:a="http://schemas.openxmlformats.org/drawingml/2006/main">
            <a:r>
              <a:t>讲义映射：handout.md §七、共同诊断与本人迁移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P12 比较证据，保留不同判断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允许有依据地维持判断，不要求人人改答案。把分歧归到原文、代码或迁移推断，避免仅比较措辞是否更谨慎。 教师MI示例不替代学生个人项目；允许非MI材料及有依据的维持判断。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学生动作：核对一个不同判断的依据，记录自己的处理。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建议时间：6 分钟，含学生操作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course/micro-project.md；本课 handout.md、judgment-task.md 与 ioi-reading-guide.md。</a:t>
            </a:r>
          </a:p>
          <a:p xmlns:a="http://schemas.openxmlformats.org/drawingml/2006/main">
            <a:r>
              <a:t>讲义映射：handout.md §七、共同诊断与本人迁移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P13 观察如何约束解释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记录证据与推断的分界。 学生动作：保存初判和依据；随后与教师揭示比较。；依据实际材料讨论，不预设唯一结论。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学生动作：保存初判和依据；随后与教师揭示比较。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建议时间：4 分钟，含学生操作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course/micro-project.md；本课 handout.md、judgment-task.md 与 ioi-reading-guide.md。</a:t>
            </a:r>
          </a:p>
          <a:p xmlns:a="http://schemas.openxmlformats.org/drawingml/2006/main">
            <a:r>
              <a:t>讲义映射：handout.md §七、共同诊断与本人迁移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P14 原论文的电路对象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本页只讨论§3.3分析的Previous Token→Induction→S-Inhibition局部路径：作者通过key composition分析前一连接，并检查位置相关信号。原图保留完整概览与Query、Key/Value、Output图例。此处不判定Duplicate Token与Induction之间是否有直接作用；不要把概览箭头单独当作已验证因果连接，也不要从本页未讨论它推断连接不存在。学生对该关系有疑问时，记录待核，返回对应干预而非凭布局裁决。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学生动作：指出图中一种组件关系，比较课程干预对象。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建议时间：1 分钟，含学生操作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Wang et al., arXiv:2211.00593v1, Fig.2与§3.3；https://arxiv.org/html/2211.00593v1；核验2026-10-20。</a:t>
            </a:r>
          </a:p>
          <a:p xmlns:a="http://schemas.openxmlformats.org/drawingml/2006/main">
            <a:r>
              <a:t>讲义映射：handout.md §六、IOI 精读：原文、图表与代码怎样共同约束主张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P15 Fig.6(a)：坐标轴与比较单位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读图，不先背结论。图点不是独立的输入句子；这张图比较同样移除条件下电路与完整模型的表现。对照§2.1：M完整模型，C候选电路，K被移除节点。F是平均logit差；C外节点已移除，均值替换取p_ABC同模板样本。与§3.1路径patching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学生动作：解释轴、点和对角线各代表什么。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建议时间：1 分钟，含学生操作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Wang et al., arXiv:2211.00593v1, §2 / §3.1 / §4–4.2 / Fig.6(a); https://arxiv.org/html/2211.00593v1；核验 2026-10-20。</a:t>
            </a:r>
          </a:p>
          <a:p xmlns:a="http://schemas.openxmlformats.org/drawingml/2006/main">
            <a:r>
              <a:t>讲义映射：handout.md §六、IOI 精读：原文、图表与代码怎样共同约束主张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P16 支持结果与困难反例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 Fig.6(a) 的位置与尺度，突出新增的读图动作。不能因为有反例就说整个研究无效，也不能只引用支持部分声称解释已完整。 教师MI示例不替代学生个人项目；允许非MI材料及有依据的维持判断。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学生动作：据原图修订自己的初判，或说明维持的理由。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建议时间：2 分钟，含学生操作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Wang et al., arXiv:2211.00593v1, §2 / §3.1 / §4–4.2 / Fig.6(a); https://arxiv.org/html/2211.00593v1；核验 2026-10-20。</a:t>
            </a:r>
          </a:p>
          <a:p xmlns:a="http://schemas.openxmlformats.org/drawingml/2006/main">
            <a:r>
              <a:t>讲义映射：handout.md §六、IOI 精读：原文、图表与代码怎样共同约束主张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P17 教师精读卡：从证据到下一步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两项检查的结果仍需共同解释，单项结果不唯一归因。 学生动作：写一句允许使用的转述和一项未决证据。；依据实际材料讨论，不预设唯一结论。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学生动作：写一句允许使用的转述和一项未决证据。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建议时间：1 分钟，含学生操作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course/micro-project.md；本课 handout.md、judgment-task.md 与 ioi-reading-guide.md。</a:t>
            </a:r>
          </a:p>
          <a:p xmlns:a="http://schemas.openxmlformats.org/drawingml/2006/main">
            <a:r>
              <a:t>讲义映射：handout.md §六、IOI 精读：原文、图表与代码怎样共同约束主张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P18 本人精读的范围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本页用于本人项目。备用：Keshav §2.1–2.3，核对阅读步骤与适用理由。 可讨论ML对照、系统负载、数据处理或理论前提，不要求额外完成MI项目。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学生动作：围绕本人论文或项目完成本页检查；非 MI 项目采用自己的验证形式。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建议时间：2 分钟，含学生操作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handout.md §七；personal-reading-inputs.md；Keshav, How to Read a Paper, https://web.stanford.edu/class/ee384m/Handouts/HowtoReadPaper.pdf</a:t>
            </a:r>
          </a:p>
          <a:p xmlns:a="http://schemas.openxmlformats.org/drawingml/2006/main">
            <a:r>
              <a:t>讲义映射：handout.md §七、共同诊断与本人迁移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P19 阅读地图落到原文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本页用于本人项目。位置核验和内容核验分别留下依据。 可讨论ML对照、系统负载、数据处理或理论前提，不要求额外完成MI项目。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学生动作：围绕本人论文或项目完成本页检查；非 MI 项目采用自己的验证形式。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建议时间：5 分钟，含学生操作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course/micro-project.md；本课 handout.md、judgment-task.md 与 ioi-reading-guide.md。</a:t>
            </a:r>
          </a:p>
          <a:p xmlns:a="http://schemas.openxmlformats.org/drawingml/2006/main">
            <a:r>
              <a:t>讲义映射：handout.md §二、AI 辅助精读五步流程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P20 第一处证据的记录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本页用于本人项目。写入 reading-cards.md，保留待核字段。 可讨论ML对照、系统负载、数据处理或理论前提，不要求额外完成MI项目。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学生动作：围绕本人论文或项目完成本页检查；非 MI 项目采用自己的验证形式。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建议时间：8 分钟，含学生操作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course/micro-project.md；本课 handout.md、judgment-task.md 与 ioi-reading-guide.md。</a:t>
            </a:r>
          </a:p>
          <a:p xmlns:a="http://schemas.openxmlformats.org/drawingml/2006/main">
            <a:r>
              <a:t>讲义映射：handout.md §四、阅读卡字段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P21 不同项目的方法核验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本页用于本人项目。没有代码时，核对推导、数据或研究设计。 可讨论ML对照、系统负载、数据处理或理论前提，不要求额外完成MI项目。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学生动作：围绕本人论文或项目完成本页检查；非 MI 项目采用自己的验证形式。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建议时间：2 分钟，含学生操作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course/micro-project.md；handout.md §三及§七的跨项目验证说明。</a:t>
            </a:r>
          </a:p>
          <a:p xmlns:a="http://schemas.openxmlformats.org/drawingml/2006/main">
            <a:r>
              <a:t>讲义映射：handout.md §三、主张核验：区分 AI 主张与原文主张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P22 相同论文，不同阅读目标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本页用于本人项目。按本人证据缺口选动作；作者经验不等于效率对照实验。 可讨论ML对照、系统负载、数据处理或理论前提，不要求额外完成MI项目。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学生动作：围绕本人论文或项目完成本页检查；非 MI 项目采用自己的验证形式。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建议时间：2 分钟，含学生操作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Keshav, How to Read a Paper (2007), §2.1–2.3；https://web.stanford.edu/class/ee384m/Handouts/HowtoReadPaper.pdf；判断边界为课堂分析。</a:t>
            </a:r>
          </a:p>
          <a:p xmlns:a="http://schemas.openxmlformats.org/drawingml/2006/main">
            <a:r>
              <a:t>讲义映射：handout.md §三、主张核验：区分 AI 主张与原文主张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P23 下一项证据由主张决定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本页用于本人项目。选择一项最可能改变当前判断的检查，并说明理由。 可讨论ML对照、系统负载、数据处理或理论前提，不要求额外完成MI项目。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学生动作：围绕本人论文或项目完成本页检查；非 MI 项目采用自己的验证形式。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建议时间：1 分钟，含学生操作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course/micro-project.md；本课 handout.md、judgment-task.md 与 ioi-reading-guide.md。</a:t>
            </a:r>
          </a:p>
          <a:p xmlns:a="http://schemas.openxmlformats.org/drawingml/2006/main">
            <a:r>
              <a:t>讲义映射：handout.md §六、IOI 精读：原文、图表与代码怎样共同约束主张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P24 第二处位置：限定或缺口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本页用于本人项目。两处证据不必一正一反；说明各自作用。 可讨论ML对照、系统负载、数据处理或理论前提，不要求额外完成MI项目。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学生动作：围绕本人论文或项目完成本页检查；非 MI 项目采用自己的验证形式。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建议时间：4 分钟，含学生操作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course/micro-project.md；本课 handout.md、judgment-task.md 与 ioi-reading-guide.md。</a:t>
            </a:r>
          </a:p>
          <a:p xmlns:a="http://schemas.openxmlformats.org/drawingml/2006/main">
            <a:r>
              <a:t>讲义映射：handout.md §三、主张核验：区分 AI 主张与原文主张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P25 AI 质疑也需要核验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本页用于本人项目。质疑不成立时，保留原判断并写依据。 可讨论ML对照、系统负载、数据处理或理论前提，不要求额外完成MI项目。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学生动作：围绕本人论文或项目完成本页检查；非 MI 项目采用自己的验证形式。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建议时间：4 分钟，含学生操作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course/micro-project.md；本课 handout.md、judgment-task.md 与 ioi-reading-guide.md。</a:t>
            </a:r>
          </a:p>
          <a:p xmlns:a="http://schemas.openxmlformats.org/drawingml/2006/main">
            <a:r>
              <a:t>讲义映射：handout.md §二、AI 辅助精读五步流程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P26 偏差审计记录实际检查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本页用于本人项目。课堂构造句和真实模型输出分别标明。 可讨论ML对照、系统负载、数据处理或理论前提，不要求额外完成MI项目。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学生动作：围绕本人论文或项目完成本页检查；非 MI 项目采用自己的验证形式。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建议时间：3 分钟，含学生操作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course/micro-project.md；本课 handout.md、judgment-task.md 与 ioi-reading-guide.md。</a:t>
            </a:r>
          </a:p>
          <a:p xmlns:a="http://schemas.openxmlformats.org/drawingml/2006/main">
            <a:r>
              <a:t>讲义映射：handout.md §二、AI 辅助精读五步流程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P27 一张卡与研究决定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本页用于本人项目。同时保留来源身份、AI 使用与实际核验记录。 可讨论ML对照、系统负载、数据处理或理论前提，不要求额外完成MI项目。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学生动作：围绕本人论文或项目完成本页检查；非 MI 项目采用自己的验证形式。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建议时间：4 分钟，含学生操作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course/micro-project.md；本课 handout.md、judgment-task.md 与 ioi-reading-guide.md。</a:t>
            </a:r>
          </a:p>
          <a:p xmlns:a="http://schemas.openxmlformats.org/drawingml/2006/main">
            <a:r>
              <a:t>讲义映射：handout.md §四、阅读卡字段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P28 教师示范：从转述反查证据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教师主导4分钟反查示范，学生暂停个人操作，围绕构造系统例反馈。随后P29–30个人修订6分钟。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学生动作：暂停个人操作，反馈负载、资源与转述是否对应。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建议时间：4 分钟，含学生操作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课程构造系统例，非论文结果；handout.md §三的迁移反查示范。</a:t>
            </a:r>
          </a:p>
          <a:p xmlns:a="http://schemas.openxmlformats.org/drawingml/2006/main">
            <a:r>
              <a:t>讲义映射：handout.md §七、共同诊断与本人迁移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P29 反查本人卡片中的依据归属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本页用于本人项目。每个标签都指向实际依据，不能只给观点换名字。 可讨论ML对照、系统负载、数据处理或理论前提，不要求额外完成MI项目。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学生动作：围绕本人论文或项目完成本页检查；非 MI 项目采用自己的验证形式。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建议时间：3 分钟，含学生操作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handout.md §三、§四与§七。</a:t>
            </a:r>
          </a:p>
          <a:p xmlns:a="http://schemas.openxmlformats.org/drawingml/2006/main">
            <a:r>
              <a:t>讲义映射：handout.md §三、主张核验：区分 AI 主张与原文主张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P30 保存卡片与未决问题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本页用于本人项目。已有依据可维持判断；未核实项保留待核。 可讨论ML对照、系统负载、数据处理或理论前提，不要求额外完成MI项目。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学生动作：围绕本人论文或项目完成本页检查；非 MI 项目采用自己的验证形式。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建议时间：3 分钟，含学生操作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handout.md §四、§七及课外预算与下次输入。</a:t>
            </a:r>
          </a:p>
          <a:p xmlns:a="http://schemas.openxmlformats.org/drawingml/2006/main">
            <a:r>
              <a:t>讲义映射：handout.md §七、共同诊断与本人迁移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P31 本讲知识点总结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本页用于本人项目。用自己的卡说明：哪项核验改变或维持了判断？ 可讨论ML对照、系统负载、数据处理或理论前提，不要求额外完成MI项目。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学生动作：围绕本人论文或项目完成本页检查；非 MI 项目采用自己的验证形式。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建议时间：3 分钟，含学生操作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course/micro-project.md；本课 handout.md、judgment-task.md 与 ioi-reading-guide.md。</a:t>
            </a:r>
          </a:p>
          <a:p xmlns:a="http://schemas.openxmlformats.org/drawingml/2006/main">
            <a:r>
              <a:t>讲义映射：handout.md §学习目标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P32 第一张卡与 L5 输入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本页用于本人项目。带第一张卡与一项补足缺口的来源。 可讨论ML对照、系统负载、数据处理或理论前提，不要求额外完成MI项目。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学生动作：围绕本人论文或项目完成本页检查；非 MI 项目采用自己的验证形式。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建议时间：2 分钟，含学生操作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course/micro-project.md；本课 handout.md、judgment-task.md 与 ioi-reading-guide.md。</a:t>
            </a:r>
          </a:p>
          <a:p xmlns:a="http://schemas.openxmlformats.org/drawingml/2006/main">
            <a:r>
              <a:t>讲义映射：handout.md §课外预算与下次输入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ce1ebdef804b79" /><Relationship Type="http://schemas.openxmlformats.org/officeDocument/2006/relationships/image" Target="/ppt/media/image.png" Id="Rc014f2a0df534062" /><Relationship Type="http://schemas.openxmlformats.org/officeDocument/2006/relationships/image" Target="/ppt/media/image2.png" Id="R34031a281e2c4f8b" /><Relationship Type="http://schemas.openxmlformats.org/officeDocument/2006/relationships/image" Target="/ppt/media/image3.png" Id="Rfcabd2a1da034d48" /><Relationship Type="http://schemas.openxmlformats.org/officeDocument/2006/relationships/image" Target="/ppt/media/image4.png" Id="R8ad65e47b774422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5699fe8316455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bf1e91c11c46f8" /><Relationship Type="http://schemas.openxmlformats.org/officeDocument/2006/relationships/image" Target="/ppt/media/image2.png" Id="Rcf4468f18065493e" /><Relationship Type="http://schemas.openxmlformats.org/officeDocument/2006/relationships/image" Target="/ppt/media/image5.png" Id="Rb04bc3888cab4b3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bda6cac89244d3" /><Relationship Type="http://schemas.openxmlformats.org/officeDocument/2006/relationships/image" Target="/ppt/media/image.png" Id="R4e69fbcba4394d6f" /><Relationship Type="http://schemas.openxmlformats.org/officeDocument/2006/relationships/image" Target="/ppt/media/image3.png" Id="R1c68a23de0364ed4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>
            <a:extLst xmlns:a="http://schemas.openxmlformats.org/drawingml/2006/main">
              <a:ext uri="{FF2B5EF4-FFF2-40B4-BE49-F238E27FC236}">
                <a16:creationId xmlns:a16="http://schemas.microsoft.com/office/drawing/2014/main" id="{DB9FFEC0-ABAA-4DB5-9204-54C9A2143B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14f2a0df534062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50" name="图片 34">
            <a:extLst xmlns:a="http://schemas.openxmlformats.org/drawingml/2006/main">
              <a:ext uri="{FF2B5EF4-FFF2-40B4-BE49-F238E27FC236}">
                <a16:creationId xmlns:a16="http://schemas.microsoft.com/office/drawing/2014/main" id="{E2AFF8AA-55BA-49E8-8DAA-D8B352B56F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4031a281e2c4f8b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>
            <a:extLst xmlns:a="http://schemas.openxmlformats.org/drawingml/2006/main">
              <a:ext uri="{FF2B5EF4-FFF2-40B4-BE49-F238E27FC236}">
                <a16:creationId xmlns:a16="http://schemas.microsoft.com/office/drawing/2014/main" id="{DC1A742C-0419-4184-A2C8-CC70AC3983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cabd2a1da034d48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 rot="0" flipH="0" flipV="0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31F7CAE3-0209-4DA4-9A92-731CC27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B3FF25BF-0A81-4E7C-A868-79A201F0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84931B68-BEBE-4F6A-A7A3-EB2B855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26218CD3-8CA7-49E2-A133-F317244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>
            <a:extLst xmlns:a="http://schemas.openxmlformats.org/drawingml/2006/main">
              <a:ext uri="{FF2B5EF4-FFF2-40B4-BE49-F238E27FC236}">
                <a16:creationId xmlns:a16="http://schemas.microsoft.com/office/drawing/2014/main" id="{E4515A6A-69F3-4626-98E3-6BBF054079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d65e47b7744226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>
            <a:extLst xmlns:a="http://schemas.openxmlformats.org/drawingml/2006/main">
              <a:ext uri="{FF2B5EF4-FFF2-40B4-BE49-F238E27FC236}">
                <a16:creationId xmlns:a16="http://schemas.microsoft.com/office/drawing/2014/main" id="{54BF2015-E07A-4881-B191-21302AB652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f4468f18065493e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19">
            <a:extLst xmlns:a="http://schemas.openxmlformats.org/drawingml/2006/main">
              <a:ext uri="{FF2B5EF4-FFF2-40B4-BE49-F238E27FC236}">
                <a16:creationId xmlns:a16="http://schemas.microsoft.com/office/drawing/2014/main" id="{024206D8-9F7E-422D-9DAE-871E61D9AC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bc3888cab4b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>
            <a:extLst xmlns:a="http://schemas.openxmlformats.org/drawingml/2006/main">
              <a:ext uri="{FF2B5EF4-FFF2-40B4-BE49-F238E27FC236}">
                <a16:creationId xmlns:a16="http://schemas.microsoft.com/office/drawing/2014/main" id="{3EF5B4C4-7ED6-4AE7-81BD-42AD5853B7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69fbcba4394d6f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F60F5A8-3022-49D5-A1B7-18CDA62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2989B7D2-D2DE-4D77-870B-585E518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27" name="图片 6">
            <a:extLst xmlns:a="http://schemas.openxmlformats.org/drawingml/2006/main">
              <a:ext uri="{FF2B5EF4-FFF2-40B4-BE49-F238E27FC236}">
                <a16:creationId xmlns:a16="http://schemas.microsoft.com/office/drawing/2014/main" id="{4C492E59-A2D4-4518-9444-5BC7CF84CB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c68a23de0364ed4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74d08c8a7241d9" /><Relationship Type="http://schemas.openxmlformats.org/officeDocument/2006/relationships/slideLayout" Target="/ppt/slideLayouts/slideLayout1.xml" Id="Rd96df566fdd74bde" /><Relationship Type="http://schemas.openxmlformats.org/officeDocument/2006/relationships/slideLayout" Target="/ppt/slideLayouts/slideLayout2.xml" Id="Ra788ae6bcf1b437b" /><Relationship Type="http://schemas.openxmlformats.org/officeDocument/2006/relationships/slideLayout" Target="/ppt/slideLayouts/slideLayout3.xml" Id="Rb1ab8fdb9d82478a" /><Relationship Type="http://schemas.openxmlformats.org/officeDocument/2006/relationships/slideLayout" Target="/ppt/slideLayouts/slideLayout4.xml" Id="R1453397a50b341b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6df566fdd74bde"/>
    <p:sldLayoutId xmlns:r="http://schemas.openxmlformats.org/officeDocument/2006/relationships" id="2147483650" r:id="Ra788ae6bcf1b437b"/>
    <p:sldLayoutId xmlns:r="http://schemas.openxmlformats.org/officeDocument/2006/relationships" id="2147483651" r:id="Rb1ab8fdb9d82478a"/>
    <p:sldLayoutId xmlns:r="http://schemas.openxmlformats.org/officeDocument/2006/relationships" id="2147483652" r:id="R1453397a50b341b3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084545d934a4c" /><Relationship Type="http://schemas.openxmlformats.org/officeDocument/2006/relationships/notesSlide" Target="/ppt/notesSlides/notesSlide1.xml" Id="R0b09d6b27a7d4f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012c334ac364092" /><Relationship Type="http://schemas.openxmlformats.org/officeDocument/2006/relationships/notesSlide" Target="/ppt/notesSlides/notesSlide2.xml" Id="R081415c6b70a47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52527058c734c4f" /><Relationship Type="http://schemas.openxmlformats.org/officeDocument/2006/relationships/notesSlide" Target="/ppt/notesSlides/notesSlide3.xml" Id="R2ad3612208954e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31dc474f0b647f1" /><Relationship Type="http://schemas.openxmlformats.org/officeDocument/2006/relationships/notesSlide" Target="/ppt/notesSlides/notesSlide4.xml" Id="Ree58f25ab61c47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1b4c2b426d64a5c" /><Relationship Type="http://schemas.openxmlformats.org/officeDocument/2006/relationships/notesSlide" Target="/ppt/notesSlides/notesSlide5.xml" Id="Ra85d3ae13f8045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7345df3a635409f" /><Relationship Type="http://schemas.openxmlformats.org/officeDocument/2006/relationships/notesSlide" Target="/ppt/notesSlides/notesSlide6.xml" Id="R071ebe318ec74f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2a3881f7104403f" /><Relationship Type="http://schemas.openxmlformats.org/officeDocument/2006/relationships/notesSlide" Target="/ppt/notesSlides/notesSlide7.xml" Id="Rb4c27dff913548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bc6a77a077243f5" /><Relationship Type="http://schemas.openxmlformats.org/officeDocument/2006/relationships/chart" Target="/ppt/slides/charts/chart1.xml" Id="R37cd9309c71545fa" /><Relationship Type="http://schemas.openxmlformats.org/officeDocument/2006/relationships/notesSlide" Target="/ppt/notesSlides/notesSlide8.xml" Id="R66293a6d94ee494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14700c791e347dc" /><Relationship Type="http://schemas.openxmlformats.org/officeDocument/2006/relationships/notesSlide" Target="/ppt/notesSlides/notesSlide9.xml" Id="R672fd25e57c946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a2cbc544c054934" /><Relationship Type="http://schemas.openxmlformats.org/officeDocument/2006/relationships/notesSlide" Target="/ppt/notesSlides/notesSlide10.xml" Id="R41ac8e3c641149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8fe7bf04cea49cd" /><Relationship Type="http://schemas.openxmlformats.org/officeDocument/2006/relationships/notesSlide" Target="/ppt/notesSlides/notesSlide11.xml" Id="R9191c7cd4bfb453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f9e582721314e96" /><Relationship Type="http://schemas.openxmlformats.org/officeDocument/2006/relationships/notesSlide" Target="/ppt/notesSlides/notesSlide12.xml" Id="R79fa1ae8ec104ad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0bee8e3fb2348dd" /><Relationship Type="http://schemas.openxmlformats.org/officeDocument/2006/relationships/notesSlide" Target="/ppt/notesSlides/notesSlide13.xml" Id="Rb88aa87f6c8341b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27341d9a5c148e3" /><Relationship Type="http://schemas.openxmlformats.org/officeDocument/2006/relationships/image" Target="/ppt/media/image6.png" Id="R47bc835ab5d84e6d" /><Relationship Type="http://schemas.openxmlformats.org/officeDocument/2006/relationships/notesSlide" Target="/ppt/notesSlides/notesSlide14.xml" Id="R808454c65fe94e2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cd411d9212e47e8" /><Relationship Type="http://schemas.openxmlformats.org/officeDocument/2006/relationships/image" Target="/ppt/media/image7.png" Id="R76be242c8c934943" /><Relationship Type="http://schemas.openxmlformats.org/officeDocument/2006/relationships/notesSlide" Target="/ppt/notesSlides/notesSlide15.xml" Id="R44c00be30e1647f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90d3d9be26848d0" /><Relationship Type="http://schemas.openxmlformats.org/officeDocument/2006/relationships/image" Target="/ppt/media/image8.png" Id="R0eae8f9a338e4a22" /><Relationship Type="http://schemas.openxmlformats.org/officeDocument/2006/relationships/notesSlide" Target="/ppt/notesSlides/notesSlide16.xml" Id="Rcd68553852cd432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677f90862434556" /><Relationship Type="http://schemas.openxmlformats.org/officeDocument/2006/relationships/notesSlide" Target="/ppt/notesSlides/notesSlide17.xml" Id="Rc4abc72c9afb448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903b89cc1c44cfa" /><Relationship Type="http://schemas.openxmlformats.org/officeDocument/2006/relationships/notesSlide" Target="/ppt/notesSlides/notesSlide18.xml" Id="R375f8994a6544a6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1aef2b3d9ce4adf" /><Relationship Type="http://schemas.openxmlformats.org/officeDocument/2006/relationships/notesSlide" Target="/ppt/notesSlides/notesSlide19.xml" Id="R4c5a8ea4d1e447c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326257664dc45db" /><Relationship Type="http://schemas.openxmlformats.org/officeDocument/2006/relationships/notesSlide" Target="/ppt/notesSlides/notesSlide20.xml" Id="Rafcb0ba554d3434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95f9daceb044d04" /><Relationship Type="http://schemas.openxmlformats.org/officeDocument/2006/relationships/notesSlide" Target="/ppt/notesSlides/notesSlide21.xml" Id="Rc313db794c524ee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293b07df19f4b5d" /><Relationship Type="http://schemas.openxmlformats.org/officeDocument/2006/relationships/notesSlide" Target="/ppt/notesSlides/notesSlide22.xml" Id="Rf8666dab3f96474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5e5a96e09ac4d65" /><Relationship Type="http://schemas.openxmlformats.org/officeDocument/2006/relationships/notesSlide" Target="/ppt/notesSlides/notesSlide23.xml" Id="Red6f89ff82bf4bf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129f082ae2245b1" /><Relationship Type="http://schemas.openxmlformats.org/officeDocument/2006/relationships/notesSlide" Target="/ppt/notesSlides/notesSlide24.xml" Id="R926c5297a06646e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3b294c7181d4a59" /><Relationship Type="http://schemas.openxmlformats.org/officeDocument/2006/relationships/notesSlide" Target="/ppt/notesSlides/notesSlide25.xml" Id="Re83f1cfaebc349b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c6aeb5063084738" /><Relationship Type="http://schemas.openxmlformats.org/officeDocument/2006/relationships/notesSlide" Target="/ppt/notesSlides/notesSlide26.xml" Id="Rf046b61cf9234af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5b7c327aabe4c45" /><Relationship Type="http://schemas.openxmlformats.org/officeDocument/2006/relationships/notesSlide" Target="/ppt/notesSlides/notesSlide27.xml" Id="Rfcc9fd2e91704c1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fd5fecc3bed49ee" /><Relationship Type="http://schemas.openxmlformats.org/officeDocument/2006/relationships/notesSlide" Target="/ppt/notesSlides/notesSlide28.xml" Id="R3776e2571c5e4ce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a7f1f5305754fcd" /><Relationship Type="http://schemas.openxmlformats.org/officeDocument/2006/relationships/notesSlide" Target="/ppt/notesSlides/notesSlide29.xml" Id="R86a7d80f6d384a9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bcd32ce2c4b42c1" /><Relationship Type="http://schemas.openxmlformats.org/officeDocument/2006/relationships/notesSlide" Target="/ppt/notesSlides/notesSlide30.xml" Id="R6ec85856ce76426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26f45c6508e437e" /><Relationship Type="http://schemas.openxmlformats.org/officeDocument/2006/relationships/notesSlide" Target="/ppt/notesSlides/notesSlide31.xml" Id="R3479e6efc06f4e4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846b9beba0f466d" /><Relationship Type="http://schemas.openxmlformats.org/officeDocument/2006/relationships/notesSlide" Target="/ppt/notesSlides/notesSlide32.xml" Id="R884bb614f6f941c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logit 差</c:v>
          </c:tx>
          <c:spPr>
            <a:solidFill xmlns:a="http://schemas.openxmlformats.org/drawingml/2006/main">
              <a:srgbClr val="1F4D78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clean</c:v>
                </c:pt>
                <c:pt idx="1">
                  <c:v>corrupt</c:v>
                </c:pt>
                <c:pt idx="2">
                  <c:v>patch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4</c:v>
                </c:pt>
                <c:pt idx="1">
                  <c:v>-2</c:v>
                </c:pt>
                <c:pt idx="2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00">
                  <a:solidFill>
                    <a:srgbClr val="263746"/>
                  </a:solidFill>
                  <a:latin typeface="微软雅黑"/>
                  <a:ea typeface="微软雅黑"/>
                  <a:cs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5715">
              <a:solidFill>
                <a:srgbClr val="D8DFE5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27DE90CC-93E2-C662-C202-C5C6993D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9906000" cy="1645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3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第4讲 AI 辅助论文精读与深度分析</a:t>
            </a:r>
            <a:endParaRPr sz="4000" b="1" kern="0" spc="2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D1EA3301-BDD8-41E0-B6BA-69CA99A5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本课要回答的研究问题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C723EF56-ADBE-48C3-9A37-42FA55F1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同组组件移除后，两个系统为何表现不同？</a:t>
            </a:r>
          </a:p>
        </p:txBody>
      </p:sp>
      <p:sp>
        <p:nvSpPr>
          <p:cNvPr id="3" name="question-index-0">
            <a:extLst xmlns:a="http://schemas.openxmlformats.org/drawingml/2006/main">
              <a:ext uri="{FF2B5EF4-FFF2-40B4-BE49-F238E27FC236}">
                <a16:creationId xmlns:a16="http://schemas.microsoft.com/office/drawing/2014/main" id="{3CD3D374-8757-40D1-8024-5D8B29A6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4" name="question-text-0">
            <a:extLst xmlns:a="http://schemas.openxmlformats.org/drawingml/2006/main">
              <a:ext uri="{FF2B5EF4-FFF2-40B4-BE49-F238E27FC236}">
                <a16:creationId xmlns:a16="http://schemas.microsoft.com/office/drawing/2014/main" id="{B0D91398-7156-47D6-9F3E-FE8F4258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候选电路与完整模型的比较</a:t>
            </a:r>
          </a:p>
        </p:txBody>
      </p:sp>
      <p:sp>
        <p:nvSpPr>
          <p:cNvPr id="5" name="question-index-1">
            <a:extLst xmlns:a="http://schemas.openxmlformats.org/drawingml/2006/main">
              <a:ext uri="{FF2B5EF4-FFF2-40B4-BE49-F238E27FC236}">
                <a16:creationId xmlns:a16="http://schemas.microsoft.com/office/drawing/2014/main" id="{77102E69-B1D0-4F17-9154-2A0294EB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question-text-1">
            <a:extLst xmlns:a="http://schemas.openxmlformats.org/drawingml/2006/main">
              <a:ext uri="{FF2B5EF4-FFF2-40B4-BE49-F238E27FC236}">
                <a16:creationId xmlns:a16="http://schemas.microsoft.com/office/drawing/2014/main" id="{38BD2418-6D0E-4A74-9F1C-48FC3AEA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71875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原图、方法与下一项区分检查</a:t>
            </a:r>
          </a:p>
        </p:txBody>
      </p:sp>
      <p:sp>
        <p:nvSpPr>
          <p:cNvPr id="7" name="takeaway">
            <a:extLst xmlns:a="http://schemas.openxmlformats.org/drawingml/2006/main">
              <a:ext uri="{FF2B5EF4-FFF2-40B4-BE49-F238E27FC236}">
                <a16:creationId xmlns:a16="http://schemas.microsoft.com/office/drawing/2014/main" id="{557DBBC1-E4C6-4FDA-AFD1-1503868B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先记录观察和待查条件，再提出解释。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76B64BEC-2782-4753-8B44-0C10481C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5722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5E2CF45F-1D3F-4DFA-B147-CBD0D129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L3 的来源怎样进入第一张精读卡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65ABDD7A-C500-49CF-9922-4E2EA127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教师用 MI 演示；精读卡服务本人研究</a:t>
            </a:r>
          </a:p>
        </p:txBody>
      </p:sp>
      <p:sp>
        <p:nvSpPr>
          <p:cNvPr id="3" name="entry-label-0">
            <a:extLst xmlns:a="http://schemas.openxmlformats.org/drawingml/2006/main">
              <a:ext uri="{FF2B5EF4-FFF2-40B4-BE49-F238E27FC236}">
                <a16:creationId xmlns:a16="http://schemas.microsoft.com/office/drawing/2014/main" id="{56CE558C-A9C0-4E58-9762-F926576A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428875" cy="99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L3 输入</a:t>
            </a:r>
          </a:p>
        </p:txBody>
      </p:sp>
      <p:sp>
        <p:nvSpPr>
          <p:cNvPr id="4" name="entry-content-0">
            <a:extLst xmlns:a="http://schemas.openxmlformats.org/drawingml/2006/main">
              <a:ext uri="{FF2B5EF4-FFF2-40B4-BE49-F238E27FC236}">
                <a16:creationId xmlns:a16="http://schemas.microsoft.com/office/drawing/2014/main" id="{BE30100F-B857-4953-ACD3-BEF53D6F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8096250" cy="99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论文身份、版本、拟用主张</a:t>
            </a:r>
          </a:p>
        </p:txBody>
      </p:sp>
      <p:sp>
        <p:nvSpPr>
          <p:cNvPr id="5" name="entry-rule-0">
            <a:extLst xmlns:a="http://schemas.openxmlformats.org/drawingml/2006/main">
              <a:ext uri="{FF2B5EF4-FFF2-40B4-BE49-F238E27FC236}">
                <a16:creationId xmlns:a16="http://schemas.microsoft.com/office/drawing/2014/main" id="{AABD01B4-EC75-466F-9914-1B877DA1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625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8DFE5"/>
            </a:solidFill>
          </a:ln>
        </p:spPr>
      </p:sp>
      <p:sp>
        <p:nvSpPr>
          <p:cNvPr id="6" name="entry-label-1">
            <a:extLst xmlns:a="http://schemas.openxmlformats.org/drawingml/2006/main">
              <a:ext uri="{FF2B5EF4-FFF2-40B4-BE49-F238E27FC236}">
                <a16:creationId xmlns:a16="http://schemas.microsoft.com/office/drawing/2014/main" id="{C39470F0-915C-4C59-8684-0748CA66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1500"/>
            <a:ext cx="2428875" cy="99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L4 补全</a:t>
            </a:r>
          </a:p>
        </p:txBody>
      </p:sp>
      <p:sp>
        <p:nvSpPr>
          <p:cNvPr id="7" name="entry-content-1">
            <a:extLst xmlns:a="http://schemas.openxmlformats.org/drawingml/2006/main">
              <a:ext uri="{FF2B5EF4-FFF2-40B4-BE49-F238E27FC236}">
                <a16:creationId xmlns:a16="http://schemas.microsoft.com/office/drawing/2014/main" id="{5A7E846C-0A6B-442F-84C6-C3660EE3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11500"/>
            <a:ext cx="8096250" cy="99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两个原文位置、条件、本人判断</a:t>
            </a:r>
          </a:p>
        </p:txBody>
      </p:sp>
      <p:sp>
        <p:nvSpPr>
          <p:cNvPr id="8" name="entry-rule-1">
            <a:extLst xmlns:a="http://schemas.openxmlformats.org/drawingml/2006/main">
              <a:ext uri="{FF2B5EF4-FFF2-40B4-BE49-F238E27FC236}">
                <a16:creationId xmlns:a16="http://schemas.microsoft.com/office/drawing/2014/main" id="{7D1D4315-B63C-44C2-BE5C-0896285B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750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8DFE5"/>
            </a:solidFill>
          </a:ln>
        </p:spPr>
      </p:sp>
      <p:sp>
        <p:nvSpPr>
          <p:cNvPr id="9" name="entry-label-2">
            <a:extLst xmlns:a="http://schemas.openxmlformats.org/drawingml/2006/main">
              <a:ext uri="{FF2B5EF4-FFF2-40B4-BE49-F238E27FC236}">
                <a16:creationId xmlns:a16="http://schemas.microsoft.com/office/drawing/2014/main" id="{092788C2-A052-4BD7-8796-1FBBFE09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2750"/>
            <a:ext cx="2428875" cy="99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L5 接续</a:t>
            </a:r>
          </a:p>
        </p:txBody>
      </p:sp>
      <p:sp>
        <p:nvSpPr>
          <p:cNvPr id="10" name="entry-content-2">
            <a:extLst xmlns:a="http://schemas.openxmlformats.org/drawingml/2006/main">
              <a:ext uri="{FF2B5EF4-FFF2-40B4-BE49-F238E27FC236}">
                <a16:creationId xmlns:a16="http://schemas.microsoft.com/office/drawing/2014/main" id="{CB45D079-FAF7-43EA-BF17-6ABAA9B5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22750"/>
            <a:ext cx="8096250" cy="99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第二项条件不同或有冲突的来源</a:t>
            </a:r>
          </a:p>
        </p:txBody>
      </p:sp>
      <p:sp>
        <p:nvSpPr>
          <p:cNvPr id="11" name="takeaway">
            <a:extLst xmlns:a="http://schemas.openxmlformats.org/drawingml/2006/main">
              <a:ext uri="{FF2B5EF4-FFF2-40B4-BE49-F238E27FC236}">
                <a16:creationId xmlns:a16="http://schemas.microsoft.com/office/drawing/2014/main" id="{A4A8EF3D-DDEA-4BB3-BDE5-64D8D1C7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本课保存 reading-cards.md 中的一张完整卡。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C823C74D-D194-4266-9805-BC5C0322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5722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F00D3464-393A-4DDB-91FE-36010D16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五步阅读与判断责任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7F2C4C97-29B0-4CF5-835B-F90213AE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每一步都有可检查的产物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7FF3D5BE-F323-462D-B876-6E6A6A85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4" name="step-name-0">
            <a:extLst xmlns:a="http://schemas.openxmlformats.org/drawingml/2006/main">
              <a:ext uri="{FF2B5EF4-FFF2-40B4-BE49-F238E27FC236}">
                <a16:creationId xmlns:a16="http://schemas.microsoft.com/office/drawing/2014/main" id="{11365564-FE07-4BD0-A46D-20DC09EC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1952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AI 导航</a:t>
            </a:r>
          </a:p>
        </p:txBody>
      </p:sp>
      <p:sp>
        <p:nvSpPr>
          <p:cNvPr id="5" name="step-output-0">
            <a:extLst xmlns:a="http://schemas.openxmlformats.org/drawingml/2006/main">
              <a:ext uri="{FF2B5EF4-FFF2-40B4-BE49-F238E27FC236}">
                <a16:creationId xmlns:a16="http://schemas.microsoft.com/office/drawing/2014/main" id="{DD80484F-A85E-457C-85F5-4201C612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1952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候选位置</a:t>
            </a:r>
          </a:p>
        </p:txBody>
      </p:sp>
      <p:sp>
        <p:nvSpPr>
          <p:cNvPr id="6" name="step-link-0">
            <a:extLst xmlns:a="http://schemas.openxmlformats.org/drawingml/2006/main">
              <a:ext uri="{FF2B5EF4-FFF2-40B4-BE49-F238E27FC236}">
                <a16:creationId xmlns:a16="http://schemas.microsoft.com/office/drawing/2014/main" id="{10304D56-AE30-4C21-B3E0-6D45F88F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571750"/>
            <a:ext cx="5715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1F4D78"/>
            </a:solidFill>
          </a:ln>
        </p:spPr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E4000AE0-AD6C-407E-ABF5-D2E5E631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4312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8" name="step-name-1">
            <a:extLst xmlns:a="http://schemas.openxmlformats.org/drawingml/2006/main">
              <a:ext uri="{FF2B5EF4-FFF2-40B4-BE49-F238E27FC236}">
                <a16:creationId xmlns:a16="http://schemas.microsoft.com/office/drawing/2014/main" id="{DB1ACB4A-3B75-4D9B-A6C2-7A449909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00375"/>
            <a:ext cx="1952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原文核验</a:t>
            </a:r>
          </a:p>
        </p:txBody>
      </p:sp>
      <p:sp>
        <p:nvSpPr>
          <p:cNvPr id="9" name="step-output-1">
            <a:extLst xmlns:a="http://schemas.openxmlformats.org/drawingml/2006/main">
              <a:ext uri="{FF2B5EF4-FFF2-40B4-BE49-F238E27FC236}">
                <a16:creationId xmlns:a16="http://schemas.microsoft.com/office/drawing/2014/main" id="{DBE35D00-8CE1-407A-B1C3-0CA6D798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05250"/>
            <a:ext cx="1952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实际依据</a:t>
            </a:r>
          </a:p>
        </p:txBody>
      </p:sp>
      <p:sp>
        <p:nvSpPr>
          <p:cNvPr id="10" name="step-link-1">
            <a:extLst xmlns:a="http://schemas.openxmlformats.org/drawingml/2006/main">
              <a:ext uri="{FF2B5EF4-FFF2-40B4-BE49-F238E27FC236}">
                <a16:creationId xmlns:a16="http://schemas.microsoft.com/office/drawing/2014/main" id="{F329F2F9-8F1B-4E9B-A234-DAC8D716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71750"/>
            <a:ext cx="5715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1F4D78"/>
            </a:solidFill>
          </a:ln>
        </p:spPr>
      </p:sp>
      <p:sp>
        <p:nvSpPr>
          <p:cNvPr id="11" name="step-2">
            <a:extLst xmlns:a="http://schemas.openxmlformats.org/drawingml/2006/main">
              <a:ext uri="{FF2B5EF4-FFF2-40B4-BE49-F238E27FC236}">
                <a16:creationId xmlns:a16="http://schemas.microsoft.com/office/drawing/2014/main" id="{365CB892-E565-4DF8-A9A4-D24335A2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4312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2" name="step-name-2">
            <a:extLst xmlns:a="http://schemas.openxmlformats.org/drawingml/2006/main">
              <a:ext uri="{FF2B5EF4-FFF2-40B4-BE49-F238E27FC236}">
                <a16:creationId xmlns:a16="http://schemas.microsoft.com/office/drawing/2014/main" id="{DFE32957-ECDE-4BBA-A554-60C12BE5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00375"/>
            <a:ext cx="1952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AI 质疑</a:t>
            </a:r>
          </a:p>
        </p:txBody>
      </p:sp>
      <p:sp>
        <p:nvSpPr>
          <p:cNvPr id="13" name="step-output-2">
            <a:extLst xmlns:a="http://schemas.openxmlformats.org/drawingml/2006/main">
              <a:ext uri="{FF2B5EF4-FFF2-40B4-BE49-F238E27FC236}">
                <a16:creationId xmlns:a16="http://schemas.microsoft.com/office/drawing/2014/main" id="{FAB1438E-BD82-4B42-B149-3C564598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05250"/>
            <a:ext cx="1952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可查问题</a:t>
            </a:r>
          </a:p>
        </p:txBody>
      </p:sp>
      <p:sp>
        <p:nvSpPr>
          <p:cNvPr id="14" name="step-link-2">
            <a:extLst xmlns:a="http://schemas.openxmlformats.org/drawingml/2006/main">
              <a:ext uri="{FF2B5EF4-FFF2-40B4-BE49-F238E27FC236}">
                <a16:creationId xmlns:a16="http://schemas.microsoft.com/office/drawing/2014/main" id="{DB8CF69B-EC14-49F7-9105-00C6AB62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71750"/>
            <a:ext cx="5715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1F4D78"/>
            </a:solidFill>
          </a:ln>
        </p:spPr>
      </p:sp>
      <p:sp>
        <p:nvSpPr>
          <p:cNvPr id="15" name="step-3">
            <a:extLst xmlns:a="http://schemas.openxmlformats.org/drawingml/2006/main">
              <a:ext uri="{FF2B5EF4-FFF2-40B4-BE49-F238E27FC236}">
                <a16:creationId xmlns:a16="http://schemas.microsoft.com/office/drawing/2014/main" id="{DB595ADB-E99E-4833-B46A-42D971BD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4312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" name="step-name-3">
            <a:extLst xmlns:a="http://schemas.openxmlformats.org/drawingml/2006/main">
              <a:ext uri="{FF2B5EF4-FFF2-40B4-BE49-F238E27FC236}">
                <a16:creationId xmlns:a16="http://schemas.microsoft.com/office/drawing/2014/main" id="{52A5B13A-4C43-4552-AC35-FFEB196F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0375"/>
            <a:ext cx="1952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偏差审计</a:t>
            </a:r>
          </a:p>
        </p:txBody>
      </p:sp>
      <p:sp>
        <p:nvSpPr>
          <p:cNvPr id="17" name="step-output-3">
            <a:extLst xmlns:a="http://schemas.openxmlformats.org/drawingml/2006/main">
              <a:ext uri="{FF2B5EF4-FFF2-40B4-BE49-F238E27FC236}">
                <a16:creationId xmlns:a16="http://schemas.microsoft.com/office/drawing/2014/main" id="{40EA3F98-6838-40C2-927E-F0C39CD0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1952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处理记录</a:t>
            </a:r>
          </a:p>
        </p:txBody>
      </p:sp>
      <p:sp>
        <p:nvSpPr>
          <p:cNvPr id="18" name="step-link-3">
            <a:extLst xmlns:a="http://schemas.openxmlformats.org/drawingml/2006/main">
              <a:ext uri="{FF2B5EF4-FFF2-40B4-BE49-F238E27FC236}">
                <a16:creationId xmlns:a16="http://schemas.microsoft.com/office/drawing/2014/main" id="{08DD864A-5D78-4DCC-B806-EBC98E29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71750"/>
            <a:ext cx="5715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1F4D78"/>
            </a:solidFill>
          </a:ln>
        </p:spPr>
      </p:sp>
      <p:sp>
        <p:nvSpPr>
          <p:cNvPr id="19" name="step-4">
            <a:extLst xmlns:a="http://schemas.openxmlformats.org/drawingml/2006/main">
              <a:ext uri="{FF2B5EF4-FFF2-40B4-BE49-F238E27FC236}">
                <a16:creationId xmlns:a16="http://schemas.microsoft.com/office/drawing/2014/main" id="{7078C8D4-29CC-4C5C-8179-CC6EA901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4312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0" name="step-name-4">
            <a:extLst xmlns:a="http://schemas.openxmlformats.org/drawingml/2006/main">
              <a:ext uri="{FF2B5EF4-FFF2-40B4-BE49-F238E27FC236}">
                <a16:creationId xmlns:a16="http://schemas.microsoft.com/office/drawing/2014/main" id="{22EB5BB9-78F7-40E8-B7A6-4C015C35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00375"/>
            <a:ext cx="1952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人工定稿</a:t>
            </a:r>
          </a:p>
        </p:txBody>
      </p:sp>
      <p:sp>
        <p:nvSpPr>
          <p:cNvPr id="21" name="step-output-4">
            <a:extLst xmlns:a="http://schemas.openxmlformats.org/drawingml/2006/main">
              <a:ext uri="{FF2B5EF4-FFF2-40B4-BE49-F238E27FC236}">
                <a16:creationId xmlns:a16="http://schemas.microsoft.com/office/drawing/2014/main" id="{C27BC28E-8B24-4856-84D8-FC9B57C8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05250"/>
            <a:ext cx="1952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允许主张</a:t>
            </a:r>
          </a:p>
        </p:txBody>
      </p:sp>
      <p:sp>
        <p:nvSpPr>
          <p:cNvPr id="22" name="takeaway">
            <a:extLst xmlns:a="http://schemas.openxmlformats.org/drawingml/2006/main">
              <a:ext uri="{FF2B5EF4-FFF2-40B4-BE49-F238E27FC236}">
                <a16:creationId xmlns:a16="http://schemas.microsoft.com/office/drawing/2014/main" id="{67F16F25-2C4F-4A40-AA9F-6A526722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AI 可以参与每一步；本人解释依据并作出最终处理。</a:t>
            </a:r>
          </a:p>
        </p:txBody>
      </p:sp>
      <p:sp>
        <p:nvSpPr>
          <p:cNvPr id="23" name="page">
            <a:extLst xmlns:a="http://schemas.openxmlformats.org/drawingml/2006/main">
              <a:ext uri="{FF2B5EF4-FFF2-40B4-BE49-F238E27FC236}">
                <a16:creationId xmlns:a16="http://schemas.microsoft.com/office/drawing/2014/main" id="{E31B3FBA-B288-4F7C-8E1F-25B7E357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5722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273FCB67-4F6C-4D49-B658-EE6CF1BE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导航的实际输入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230A340A-B7DF-4034-AACD-1E72C9EB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复制任务，填入本人问题和公开原文</a:t>
            </a:r>
          </a:p>
        </p:txBody>
      </p:sp>
      <p:sp>
        <p:nvSpPr>
          <p:cNvPr id="3" name="prompt-0">
            <a:extLst xmlns:a="http://schemas.openxmlformats.org/drawingml/2006/main">
              <a:ext uri="{FF2B5EF4-FFF2-40B4-BE49-F238E27FC236}">
                <a16:creationId xmlns:a16="http://schemas.microsoft.com/office/drawing/2014/main" id="{3B422DF9-8706-45FC-AB2E-233895A1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输入：我的问题、待核主张与论文原文</a:t>
            </a:r>
          </a:p>
        </p:txBody>
      </p:sp>
      <p:sp>
        <p:nvSpPr>
          <p:cNvPr id="4" name="prompt-1">
            <a:extLst xmlns:a="http://schemas.openxmlformats.org/drawingml/2006/main">
              <a:ext uri="{FF2B5EF4-FFF2-40B4-BE49-F238E27FC236}">
                <a16:creationId xmlns:a16="http://schemas.microsoft.com/office/drawing/2014/main" id="{BDE5ACAF-DF7D-42CC-9386-DDFB58A2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任务：找两处候选位置，给出原句与定位理由</a:t>
            </a:r>
          </a:p>
        </p:txBody>
      </p:sp>
      <p:sp>
        <p:nvSpPr>
          <p:cNvPr id="5" name="prompt-2">
            <a:extLst xmlns:a="http://schemas.openxmlformats.org/drawingml/2006/main">
              <a:ext uri="{FF2B5EF4-FFF2-40B4-BE49-F238E27FC236}">
                <a16:creationId xmlns:a16="http://schemas.microsoft.com/office/drawing/2014/main" id="{1D686842-1E88-4E56-A375-BE5B795C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43375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约束：找不到标待核；作者原话与AI推断分开</a:t>
            </a:r>
          </a:p>
        </p:txBody>
      </p:sp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9D338B0A-8896-40E9-AF59-29EA8370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模型的定位建议须回到原文核验。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F51B66E6-2617-4D0A-8D28-748FD0FC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5722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55E7382D-2A99-495F-9BE0-498BB2CB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观察、解释与区分检查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88AC528E-118D-41E4-B0BD-F4650A1F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构造系统例：拆分观察、解释与预测</a:t>
            </a:r>
          </a:p>
        </p:txBody>
      </p:sp>
      <p:sp>
        <p:nvSpPr>
          <p:cNvPr id="3" name="question-index-0">
            <a:extLst xmlns:a="http://schemas.openxmlformats.org/drawingml/2006/main">
              <a:ext uri="{FF2B5EF4-FFF2-40B4-BE49-F238E27FC236}">
                <a16:creationId xmlns:a16="http://schemas.microsoft.com/office/drawing/2014/main" id="{6E1224F2-52B1-457B-8802-6D036C27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4" name="question-text-0">
            <a:extLst xmlns:a="http://schemas.openxmlformats.org/drawingml/2006/main">
              <a:ext uri="{FF2B5EF4-FFF2-40B4-BE49-F238E27FC236}">
                <a16:creationId xmlns:a16="http://schemas.microsoft.com/office/drawing/2014/main" id="{F26978AB-7963-44FA-8E06-9BA1F399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990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同负载、同机器：P95由100降到80ms</a:t>
            </a:r>
          </a:p>
        </p:txBody>
      </p:sp>
      <p:sp>
        <p:nvSpPr>
          <p:cNvPr id="5" name="question-index-1">
            <a:extLst xmlns:a="http://schemas.openxmlformats.org/drawingml/2006/main">
              <a:ext uri="{FF2B5EF4-FFF2-40B4-BE49-F238E27FC236}">
                <a16:creationId xmlns:a16="http://schemas.microsoft.com/office/drawing/2014/main" id="{569B7D39-C8CE-4EE8-8E42-13348151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question-text-1">
            <a:extLst xmlns:a="http://schemas.openxmlformats.org/drawingml/2006/main">
              <a:ext uri="{FF2B5EF4-FFF2-40B4-BE49-F238E27FC236}">
                <a16:creationId xmlns:a16="http://schemas.microsoft.com/office/drawing/2014/main" id="{00C61B24-42EB-4865-B5F5-E4637850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48000"/>
            <a:ext cx="990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一种解释：缓存命中变化带来改善</a:t>
            </a:r>
          </a:p>
        </p:txBody>
      </p:sp>
      <p:sp>
        <p:nvSpPr>
          <p:cNvPr id="7" name="question-index-2">
            <a:extLst xmlns:a="http://schemas.openxmlformats.org/drawingml/2006/main">
              <a:ext uri="{FF2B5EF4-FFF2-40B4-BE49-F238E27FC236}">
                <a16:creationId xmlns:a16="http://schemas.microsoft.com/office/drawing/2014/main" id="{844D2786-1E12-4066-A579-D7852B03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8" name="question-text-2">
            <a:extLst xmlns:a="http://schemas.openxmlformats.org/drawingml/2006/main">
              <a:ext uri="{FF2B5EF4-FFF2-40B4-BE49-F238E27FC236}">
                <a16:creationId xmlns:a16="http://schemas.microsoft.com/office/drawing/2014/main" id="{FB1D123D-FE22-4726-B0FA-E0B07481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990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待检验预测：禁用缓存后差距缩小</a:t>
            </a:r>
          </a:p>
        </p:txBody>
      </p:sp>
      <p:sp>
        <p:nvSpPr>
          <p:cNvPr id="9" name="takeaway">
            <a:extLst xmlns:a="http://schemas.openxmlformats.org/drawingml/2006/main">
              <a:ext uri="{FF2B5EF4-FFF2-40B4-BE49-F238E27FC236}">
                <a16:creationId xmlns:a16="http://schemas.microsoft.com/office/drawing/2014/main" id="{3C4751B3-7F41-4B54-A459-A2A5289A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第一句是构造观察；后两句尚待验证。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C52B428A-0E90-470E-B2BA-B5E10B12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5722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2050EB88-8C55-4F83-BCA8-A574E298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IOI 输入中的名字角色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8F330BFC-DEAB-4CDF-8D94-2DA878BD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教师构造的 IOI 输入，用于说明任务</a:t>
            </a:r>
          </a:p>
        </p:txBody>
      </p:sp>
      <p:sp>
        <p:nvSpPr>
          <p:cNvPr id="3" name="input-1">
            <a:extLst xmlns:a="http://schemas.openxmlformats.org/drawingml/2006/main">
              <a:ext uri="{FF2B5EF4-FFF2-40B4-BE49-F238E27FC236}">
                <a16:creationId xmlns:a16="http://schemas.microsoft.com/office/drawing/2014/main" id="{D41AD6F2-A705-4620-8087-43097216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7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7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7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7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7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7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7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7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7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7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When John and Mary went to the store,</a:t>
            </a:r>
          </a:p>
        </p:txBody>
      </p:sp>
      <p:sp>
        <p:nvSpPr>
          <p:cNvPr id="4" name="input-2">
            <a:extLst xmlns:a="http://schemas.openxmlformats.org/drawingml/2006/main">
              <a:ext uri="{FF2B5EF4-FFF2-40B4-BE49-F238E27FC236}">
                <a16:creationId xmlns:a16="http://schemas.microsoft.com/office/drawing/2014/main" id="{165BFEA8-0141-47A9-9ACA-5F2B1697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7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7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7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7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7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7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7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7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7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7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John gave a bag to …</a:t>
            </a:r>
          </a:p>
        </p:txBody>
      </p:sp>
      <p:sp>
        <p:nvSpPr>
          <p:cNvPr id="5" name="roles">
            <a:extLst xmlns:a="http://schemas.openxmlformats.org/drawingml/2006/main">
              <a:ext uri="{FF2B5EF4-FFF2-40B4-BE49-F238E27FC236}">
                <a16:creationId xmlns:a16="http://schemas.microsoft.com/office/drawing/2014/main" id="{455784CE-1F3D-4F90-8204-34AEA964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候选：Mary（原句 IO）与 John（原句 S）</a:t>
            </a:r>
          </a:p>
        </p:txBody>
      </p:sp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033D06E7-0073-4105-986B-517F3091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定位重复名字、答案位置和被比较的两个词。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A6AFEEC2-1C85-4DF3-8D44-E71BB681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5722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88E996AA-12A3-4E4C-B813-9A6D49C3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logit 差与恢复比例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C93CC6CF-8597-42F3-9285-2F2A51F4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虚构教学算例：logit(IO) − logit(S)，非模型运行结果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052DF370-3EC0-4409-89FB-B65A2869ABC6}"/>
              </a:ext>
            </a:extLst>
          </p:cNvPr>
          <p:cNvGraphicFramePr/>
          <p:nvPr/>
        </p:nvGraphicFramePr>
        <p:xfrm>
          <a:off xmlns:a="http://schemas.openxmlformats.org/drawingml/2006/main" x="714375" y="1952625"/>
          <a:ext xmlns:a="http://schemas.openxmlformats.org/drawingml/2006/main" cx="633412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cd9309c71545fa"/>
          </a:graphicData>
        </a:graphic>
      </p:graphicFrame>
      <p:sp>
        <p:nvSpPr>
          <p:cNvPr id="4" name="metric-formula">
            <a:extLst xmlns:a="http://schemas.openxmlformats.org/drawingml/2006/main">
              <a:ext uri="{FF2B5EF4-FFF2-40B4-BE49-F238E27FC236}">
                <a16:creationId xmlns:a16="http://schemas.microsoft.com/office/drawing/2014/main" id="{A73A26D7-5256-48B2-855F-DCBD56B9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3336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(patch − corrupt)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÷ (clean − corrupt)</a:t>
            </a:r>
          </a:p>
        </p:txBody>
      </p:sp>
      <p:sp>
        <p:nvSpPr>
          <p:cNvPr id="5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8C0AB76C-7910-45B8-9D2A-632D3F5D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714750"/>
            <a:ext cx="3905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(1 − (−2)) ÷ (4 − (−2))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= 1/2</a:t>
            </a:r>
          </a:p>
        </p:txBody>
      </p:sp>
      <p:sp>
        <p:nvSpPr>
          <p:cNvPr id="6" name="metric-data">
            <a:extLst xmlns:a="http://schemas.openxmlformats.org/drawingml/2006/main">
              <a:ext uri="{FF2B5EF4-FFF2-40B4-BE49-F238E27FC236}">
                <a16:creationId xmlns:a16="http://schemas.microsoft.com/office/drawing/2014/main" id="{F33FAF08-DC28-48E0-8B19-D8A5B773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86375"/>
            <a:ext cx="633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clean 4    corrupt −2    patch 1</a:t>
            </a:r>
          </a:p>
        </p:txBody>
      </p:sp>
      <p:sp>
        <p:nvSpPr>
          <p:cNvPr id="7" name="takeaway">
            <a:extLst xmlns:a="http://schemas.openxmlformats.org/drawingml/2006/main">
              <a:ext uri="{FF2B5EF4-FFF2-40B4-BE49-F238E27FC236}">
                <a16:creationId xmlns:a16="http://schemas.microsoft.com/office/drawing/2014/main" id="{8CB4BEF4-F4E4-49CF-A76B-37C7F6B8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改善 3 个 logit 单位；按示例公式算恢复比例为 1/2。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D41D6D57-08C2-4FAA-9347-3896DEE1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5722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E1D35EEA-9AAD-40F5-85F5-D2930785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论文方法与课程干预的比较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926B9B8E-4DE5-4128-8508-AC1BDD2A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读同一种任务，也要核对干预粒度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5A0F3-A24B-4C66-98D7-3AB77546356B}"/>
              </a:ext>
            </a:extLst>
          </p:cNvPr>
          <p:cNvGraphicFramePr/>
          <p:nvPr/>
        </p:nvGraphicFramePr>
        <p:xfrm>
          <a:off xmlns:a="http://schemas.openxmlformats.org/drawingml/2006/main" x="666750" y="1905000"/>
          <a:ext xmlns:a="http://schemas.openxmlformats.org/drawingml/2006/main" cx="108585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38375"/>
                <a:gridCol w="4286250"/>
                <a:gridCol w="4333875"/>
              </a:tblGrid>
              <a:tr h="833438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比较项</a:t>
                      </a:r>
                    </a:p>
                  </a:txBody>
                  <a:tcPr marL="123825" marR="123825" marT="95250" marB="9525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IOI 论文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课程代码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对象</a:t>
                      </a:r>
                    </a:p>
                  </a:txBody>
                  <a:tcPr marL="123825" marR="123825" marT="95250" marB="9525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具体干预了什么？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实际替换了什么？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目的</a:t>
                      </a:r>
                    </a:p>
                  </a:txBody>
                  <a:tcPr marL="123825" marR="123825" marT="95250" marB="9525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论文要解释什么？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这段代码能检查什么？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核对入口</a:t>
                      </a:r>
                    </a:p>
                  </a:txBody>
                  <a:tcPr marL="123825" marR="123825" marT="95250" marB="9525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§3.1 / Appendix B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capture / hook / forward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B2DD46E7-9D4F-4F0F-8DA8-9B7BBA91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先记录待核问题，用原文和代码填写比较。</a:t>
            </a:r>
          </a:p>
        </p:txBody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6254BFEB-4CEF-488A-8000-7B37CEBA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Wang et al. · arXiv:2211.00593v1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A44F000D-A1EF-4924-BE57-427F7D47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5722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052E66E0-B676-430A-A2BF-B17804CB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从原图形成解释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26D0F2CE-06D9-4964-B93B-D0EE805F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先保存观察与初始判断</a:t>
            </a:r>
          </a:p>
        </p:txBody>
      </p:sp>
      <p:sp>
        <p:nvSpPr>
          <p:cNvPr id="3" name="question-index-0">
            <a:extLst xmlns:a="http://schemas.openxmlformats.org/drawingml/2006/main">
              <a:ext uri="{FF2B5EF4-FFF2-40B4-BE49-F238E27FC236}">
                <a16:creationId xmlns:a16="http://schemas.microsoft.com/office/drawing/2014/main" id="{5B1D3124-53C8-4F0A-A032-2FF44BBD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4" name="question-text-0">
            <a:extLst xmlns:a="http://schemas.openxmlformats.org/drawingml/2006/main">
              <a:ext uri="{FF2B5EF4-FFF2-40B4-BE49-F238E27FC236}">
                <a16:creationId xmlns:a16="http://schemas.microsoft.com/office/drawing/2014/main" id="{6937387A-A78C-4B97-8724-CDD11063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990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Fig.6(a) 的轴、点和选择方式是什么？</a:t>
            </a:r>
          </a:p>
        </p:txBody>
      </p:sp>
      <p:sp>
        <p:nvSpPr>
          <p:cNvPr id="5" name="question-index-1">
            <a:extLst xmlns:a="http://schemas.openxmlformats.org/drawingml/2006/main">
              <a:ext uri="{FF2B5EF4-FFF2-40B4-BE49-F238E27FC236}">
                <a16:creationId xmlns:a16="http://schemas.microsoft.com/office/drawing/2014/main" id="{E351B373-37CF-4BF2-B004-12638A22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question-text-1">
            <a:extLst xmlns:a="http://schemas.openxmlformats.org/drawingml/2006/main">
              <a:ext uri="{FF2B5EF4-FFF2-40B4-BE49-F238E27FC236}">
                <a16:creationId xmlns:a16="http://schemas.microsoft.com/office/drawing/2014/main" id="{87F15869-2FBD-400D-8BEB-B2BF41DD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48000"/>
            <a:ext cx="990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§2.1 与 §4.1 中，“移除”具体怎样执行？</a:t>
            </a:r>
          </a:p>
        </p:txBody>
      </p:sp>
      <p:sp>
        <p:nvSpPr>
          <p:cNvPr id="7" name="question-index-2">
            <a:extLst xmlns:a="http://schemas.openxmlformats.org/drawingml/2006/main">
              <a:ext uri="{FF2B5EF4-FFF2-40B4-BE49-F238E27FC236}">
                <a16:creationId xmlns:a16="http://schemas.microsoft.com/office/drawing/2014/main" id="{76AE7ADC-4B89-4F2D-8A55-65557C70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8" name="question-text-2">
            <a:extLst xmlns:a="http://schemas.openxmlformats.org/drawingml/2006/main">
              <a:ext uri="{FF2B5EF4-FFF2-40B4-BE49-F238E27FC236}">
                <a16:creationId xmlns:a16="http://schemas.microsoft.com/office/drawing/2014/main" id="{FBFC355D-CE63-41AD-9820-9AE5F0C2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990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哪些解释有依据？下一检查是什么？</a:t>
            </a:r>
          </a:p>
        </p:txBody>
      </p:sp>
      <p:sp>
        <p:nvSpPr>
          <p:cNvPr id="9" name="takeaway">
            <a:extLst xmlns:a="http://schemas.openxmlformats.org/drawingml/2006/main">
              <a:ext uri="{FF2B5EF4-FFF2-40B4-BE49-F238E27FC236}">
                <a16:creationId xmlns:a16="http://schemas.microsoft.com/office/drawing/2014/main" id="{DD66217B-8689-412C-B745-9421179B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先写本人解释，再比较证据。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BF233B03-5714-4B7A-9AAF-7ACB55C7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5722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BC9A0D89-11F6-4663-A66D-DBA90D14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两处原文位置的阅读任务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600322BA-1D2E-4554-B5BE-525371FC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同一条主张，需要不同作用的依据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30893B-A839-4ED5-9DB4-CC970BBA4B3D}"/>
              </a:ext>
            </a:extLst>
          </p:cNvPr>
          <p:cNvGraphicFramePr/>
          <p:nvPr/>
        </p:nvGraphicFramePr>
        <p:xfrm>
          <a:off xmlns:a="http://schemas.openxmlformats.org/drawingml/2006/main" x="666750" y="1905000"/>
          <a:ext xmlns:a="http://schemas.openxmlformats.org/drawingml/2006/main" cx="108585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38375"/>
                <a:gridCol w="4286250"/>
                <a:gridCol w="4333875"/>
              </a:tblGrid>
              <a:tr h="111125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位置一</a:t>
                      </a:r>
                    </a:p>
                  </a:txBody>
                  <a:tcPr marL="123825" marR="123825" marT="95250" marB="9525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图号与对象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观察是什么？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1125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位置二</a:t>
                      </a:r>
                    </a:p>
                  </a:txBody>
                  <a:tcPr marL="123825" marR="123825" marT="95250" marB="9525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方法与条件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排除了什么？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111125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下一检查</a:t>
                      </a:r>
                    </a:p>
                  </a:txBody>
                  <a:tcPr marL="123825" marR="123825" marT="95250" marB="9525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操作与预测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什么结果仍不能区分？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58B0C37E-F69A-4FA5-823F-C3FCA706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用两处实际证据约束解释。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249D6EB-5CDD-461B-A915-4CBC3054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5722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EE1D1DBE-CB0D-4DD5-A89B-1BB0D630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比较证据，保留不同判断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11C7E9ED-2D45-4B89-B9D7-0EA12DE5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自愿分享一处依据，其他人反查</a:t>
            </a:r>
          </a:p>
        </p:txBody>
      </p:sp>
      <p:sp>
        <p:nvSpPr>
          <p:cNvPr id="3" name="question-index-0">
            <a:extLst xmlns:a="http://schemas.openxmlformats.org/drawingml/2006/main">
              <a:ext uri="{FF2B5EF4-FFF2-40B4-BE49-F238E27FC236}">
                <a16:creationId xmlns:a16="http://schemas.microsoft.com/office/drawing/2014/main" id="{22488E80-B959-49B9-AF3A-AB24ABF3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4" name="question-text-0">
            <a:extLst xmlns:a="http://schemas.openxmlformats.org/drawingml/2006/main">
              <a:ext uri="{FF2B5EF4-FFF2-40B4-BE49-F238E27FC236}">
                <a16:creationId xmlns:a16="http://schemas.microsoft.com/office/drawing/2014/main" id="{AD125BC0-0489-4FF0-829A-590A7A14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990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你读到了什么？</a:t>
            </a:r>
          </a:p>
        </p:txBody>
      </p:sp>
      <p:sp>
        <p:nvSpPr>
          <p:cNvPr id="5" name="question-index-1">
            <a:extLst xmlns:a="http://schemas.openxmlformats.org/drawingml/2006/main">
              <a:ext uri="{FF2B5EF4-FFF2-40B4-BE49-F238E27FC236}">
                <a16:creationId xmlns:a16="http://schemas.microsoft.com/office/drawing/2014/main" id="{8E88F0ED-6170-4DEF-B659-2867C7E8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question-text-1">
            <a:extLst xmlns:a="http://schemas.openxmlformats.org/drawingml/2006/main">
              <a:ext uri="{FF2B5EF4-FFF2-40B4-BE49-F238E27FC236}">
                <a16:creationId xmlns:a16="http://schemas.microsoft.com/office/drawing/2014/main" id="{1890B65A-4E71-48D5-A608-1D800B91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48000"/>
            <a:ext cx="990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这个位置怎样支持你的转述？</a:t>
            </a:r>
          </a:p>
        </p:txBody>
      </p:sp>
      <p:sp>
        <p:nvSpPr>
          <p:cNvPr id="7" name="question-index-2">
            <a:extLst xmlns:a="http://schemas.openxmlformats.org/drawingml/2006/main">
              <a:ext uri="{FF2B5EF4-FFF2-40B4-BE49-F238E27FC236}">
                <a16:creationId xmlns:a16="http://schemas.microsoft.com/office/drawing/2014/main" id="{8F5FEA84-FB9A-499B-B0CB-3D98A14B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8" name="question-text-2">
            <a:extLst xmlns:a="http://schemas.openxmlformats.org/drawingml/2006/main">
              <a:ext uri="{FF2B5EF4-FFF2-40B4-BE49-F238E27FC236}">
                <a16:creationId xmlns:a16="http://schemas.microsoft.com/office/drawing/2014/main" id="{575818FE-E6BD-4F12-B541-271BDF92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990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还缺什么会改变你的判断？</a:t>
            </a:r>
          </a:p>
        </p:txBody>
      </p:sp>
      <p:sp>
        <p:nvSpPr>
          <p:cNvPr id="9" name="takeaway">
            <a:extLst xmlns:a="http://schemas.openxmlformats.org/drawingml/2006/main">
              <a:ext uri="{FF2B5EF4-FFF2-40B4-BE49-F238E27FC236}">
                <a16:creationId xmlns:a16="http://schemas.microsoft.com/office/drawing/2014/main" id="{55305D03-2FB7-4895-993D-C6C1F90B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讨论提供信息，处理决定仍由本人记录。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EB868B24-0002-41B9-A272-7EA37F66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5722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72CE081E-BF97-4819-9FA5-DD87A3B0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观察如何约束解释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901B146A-B7B3-47AA-B758-01A7E07E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原文找到之后，再处理转述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1D644D-23F7-4F23-8A21-F4350E0CE27D}"/>
              </a:ext>
            </a:extLst>
          </p:cNvPr>
          <p:cNvGraphicFramePr/>
          <p:nvPr/>
        </p:nvGraphicFramePr>
        <p:xfrm>
          <a:off xmlns:a="http://schemas.openxmlformats.org/drawingml/2006/main" x="666750" y="1905000"/>
          <a:ext xmlns:a="http://schemas.openxmlformats.org/drawingml/2006/main" cx="108585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38375"/>
                <a:gridCol w="4286250"/>
                <a:gridCol w="4333875"/>
              </a:tblGrid>
              <a:tr h="833438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记录项</a:t>
                      </a:r>
                    </a:p>
                  </a:txBody>
                  <a:tcPr marL="123825" marR="123825" marT="95250" marB="9525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实际依据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未决问题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表现差异</a:t>
                      </a:r>
                    </a:p>
                  </a:txBody>
                  <a:tcPr marL="123825" marR="123825" marT="95250" marB="9525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图中坐标和选择方式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比较条件是否一致？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路径解释</a:t>
                      </a:r>
                    </a:p>
                  </a:txBody>
                  <a:tcPr marL="123825" marR="123825" marT="95250" marB="9525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相关方法或干预证据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哪些路径尚未检验？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下一检查</a:t>
                      </a:r>
                    </a:p>
                  </a:txBody>
                  <a:tcPr marL="123825" marR="123825" marT="95250" marB="9525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操作与不同预测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什么结果仍无法区分？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336E9E09-DD85-4976-916D-5D609810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记录证据与推断的分界。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EB40E29-695F-43CF-AFAC-DF31DE6B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5722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3F21CE0D-7FE9-42F3-B338-2F46ACBC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原论文的电路对象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AE3BD911-BD14-4AFA-833D-7763880D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Wang 等 v1 Fig.2：本页只定位一条局部路径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968CB-4CA8-4B13-8A82-9249468DEB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bc835ab5d84e6d"/>
          <a:stretch xmlns:a="http://schemas.openxmlformats.org/drawingml/2006/main"/>
        </p:blipFill>
        <p:spPr>
          <a:xfrm xmlns:a="http://schemas.openxmlformats.org/drawingml/2006/main">
            <a:off x="1565817" y="1571625"/>
            <a:ext cx="9060366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circuit-reading-0">
            <a:extLst xmlns:a="http://schemas.openxmlformats.org/drawingml/2006/main">
              <a:ext uri="{FF2B5EF4-FFF2-40B4-BE49-F238E27FC236}">
                <a16:creationId xmlns:a16="http://schemas.microsoft.com/office/drawing/2014/main" id="{311CA26E-0108-44D5-BDD8-2670393F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Previous Token → Induction → S-Inhibition</a:t>
            </a:r>
          </a:p>
        </p:txBody>
      </p:sp>
      <p:sp>
        <p:nvSpPr>
          <p:cNvPr id="5" name="takeaway">
            <a:extLst xmlns:a="http://schemas.openxmlformats.org/drawingml/2006/main">
              <a:ext uri="{FF2B5EF4-FFF2-40B4-BE49-F238E27FC236}">
                <a16:creationId xmlns:a16="http://schemas.microsoft.com/office/drawing/2014/main" id="{4A291A6E-5F69-4B51-ABF7-3F74FFD3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将这条局部路径与课程整向量干预比较。</a:t>
            </a:r>
          </a:p>
        </p:txBody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27E163C9-2DE2-4DCE-AB39-E8586F60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Wang et al. · arXiv:2211.00593v1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7668574A-F208-457E-A20F-31CA10D6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5722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98C6F795-C005-4818-9AFD-3CB329A9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Fig.6(a)：坐标轴与比较单位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C67C480C-091D-4997-88CA-EF9D7646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Wang 等 v1 §4.1：F 为 IOI 平均 logit 差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1DD94E-6E2F-4E6B-B566-A338B924E3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be242c8c934943"/>
          <a:stretch xmlns:a="http://schemas.openxmlformats.org/drawingml/2006/main"/>
        </p:blipFill>
        <p:spPr>
          <a:xfrm xmlns:a="http://schemas.openxmlformats.org/drawingml/2006/main">
            <a:off x="1491191" y="1524000"/>
            <a:ext cx="5018618" cy="4095750"/>
          </a:xfrm>
          <a:prstGeom xmlns:a="http://schemas.openxmlformats.org/drawingml/2006/main" prst="rect">
            <a:avLst/>
          </a:prstGeom>
        </p:spPr>
      </p:pic>
      <p:sp>
        <p:nvSpPr>
          <p:cNvPr id="4" name="figure-reading-0">
            <a:extLst xmlns:a="http://schemas.openxmlformats.org/drawingml/2006/main">
              <a:ext uri="{FF2B5EF4-FFF2-40B4-BE49-F238E27FC236}">
                <a16:creationId xmlns:a16="http://schemas.microsoft.com/office/drawing/2014/main" id="{E802C22F-FDCA-4C2B-8F98-39C80155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52625"/>
            <a:ext cx="361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横轴：F(C∖K)</a:t>
            </a:r>
          </a:p>
        </p:txBody>
      </p:sp>
      <p:sp>
        <p:nvSpPr>
          <p:cNvPr id="5" name="figure-reading-1">
            <a:extLst xmlns:a="http://schemas.openxmlformats.org/drawingml/2006/main">
              <a:ext uri="{FF2B5EF4-FFF2-40B4-BE49-F238E27FC236}">
                <a16:creationId xmlns:a16="http://schemas.microsoft.com/office/drawing/2014/main" id="{647507DA-247F-4294-943C-73A794F9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09875"/>
            <a:ext cx="361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纵轴：F(M∖K)</a:t>
            </a:r>
          </a:p>
        </p:txBody>
      </p:sp>
      <p:sp>
        <p:nvSpPr>
          <p:cNvPr id="6" name="figure-reading-2">
            <a:extLst xmlns:a="http://schemas.openxmlformats.org/drawingml/2006/main">
              <a:ext uri="{FF2B5EF4-FFF2-40B4-BE49-F238E27FC236}">
                <a16:creationId xmlns:a16="http://schemas.microsoft.com/office/drawing/2014/main" id="{43AC4DC9-9FFE-432E-BE61-F955CA0C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67125"/>
            <a:ext cx="361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每个点对应一组 K</a:t>
            </a:r>
          </a:p>
        </p:txBody>
      </p:sp>
      <p:sp>
        <p:nvSpPr>
          <p:cNvPr id="7" name="takeaway">
            <a:extLst xmlns:a="http://schemas.openxmlformats.org/drawingml/2006/main">
              <a:ext uri="{FF2B5EF4-FFF2-40B4-BE49-F238E27FC236}">
                <a16:creationId xmlns:a16="http://schemas.microsoft.com/office/drawing/2014/main" id="{022E7778-94A3-459F-B2DF-F95A4D45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同组 K，在候选电路与完整模型中比较。</a:t>
            </a:r>
          </a:p>
        </p:txBody>
      </p:sp>
      <p:sp>
        <p:nvSpPr>
          <p:cNvPr id="8" name="source">
            <a:extLst xmlns:a="http://schemas.openxmlformats.org/drawingml/2006/main">
              <a:ext uri="{FF2B5EF4-FFF2-40B4-BE49-F238E27FC236}">
                <a16:creationId xmlns:a16="http://schemas.microsoft.com/office/drawing/2014/main" id="{C69977E9-6D2C-4A14-940D-EBE83B6B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Wang et al. · arXiv:2211.00593v1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5A0ADEBA-82A1-42BF-9782-35094EFB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5722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085CC151-588B-408B-8CBB-4DF26CEE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支持结果与困难反例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6DC758ED-4E16-4003-8346-F8BEF39A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图例已对照原论文 Fig.6 的共用图例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D39BF2-63E7-4051-BD7A-656EE8D8EB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ae8f9a338e4a22"/>
          <a:stretch xmlns:a="http://schemas.openxmlformats.org/drawingml/2006/main"/>
        </p:blipFill>
        <p:spPr>
          <a:xfrm xmlns:a="http://schemas.openxmlformats.org/drawingml/2006/main">
            <a:off x="1491191" y="1524000"/>
            <a:ext cx="5018618" cy="4095750"/>
          </a:xfrm>
          <a:prstGeom xmlns:a="http://schemas.openxmlformats.org/drawingml/2006/main" prst="rect">
            <a:avLst/>
          </a:prstGeom>
        </p:spPr>
      </p:pic>
      <p:sp>
        <p:nvSpPr>
          <p:cNvPr id="4" name="figure-reading-0">
            <a:extLst xmlns:a="http://schemas.openxmlformats.org/drawingml/2006/main">
              <a:ext uri="{FF2B5EF4-FFF2-40B4-BE49-F238E27FC236}">
                <a16:creationId xmlns:a16="http://schemas.microsoft.com/office/drawing/2014/main" id="{CDE18C50-4ABD-4C3A-8B14-4D9D959F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52625"/>
            <a:ext cx="361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绿色三角：随机 K</a:t>
            </a:r>
          </a:p>
        </p:txBody>
      </p:sp>
      <p:sp>
        <p:nvSpPr>
          <p:cNvPr id="5" name="figure-reading-1">
            <a:extLst xmlns:a="http://schemas.openxmlformats.org/drawingml/2006/main">
              <a:ext uri="{FF2B5EF4-FFF2-40B4-BE49-F238E27FC236}">
                <a16:creationId xmlns:a16="http://schemas.microsoft.com/office/drawing/2014/main" id="{A738C0B8-3E13-4F0B-94A8-D4243571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09875"/>
            <a:ext cx="361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彩色圆点：按类别 K</a:t>
            </a:r>
          </a:p>
        </p:txBody>
      </p:sp>
      <p:sp>
        <p:nvSpPr>
          <p:cNvPr id="6" name="figure-reading-2">
            <a:extLst xmlns:a="http://schemas.openxmlformats.org/drawingml/2006/main">
              <a:ext uri="{FF2B5EF4-FFF2-40B4-BE49-F238E27FC236}">
                <a16:creationId xmlns:a16="http://schemas.microsoft.com/office/drawing/2014/main" id="{C831DBFD-8554-41F2-A90C-D1EC38DF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67125"/>
            <a:ext cx="361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蓝色方块：贪心 K</a:t>
            </a:r>
          </a:p>
        </p:txBody>
      </p:sp>
      <p:sp>
        <p:nvSpPr>
          <p:cNvPr id="7" name="figure-reading-3">
            <a:extLst xmlns:a="http://schemas.openxmlformats.org/drawingml/2006/main">
              <a:ext uri="{FF2B5EF4-FFF2-40B4-BE49-F238E27FC236}">
                <a16:creationId xmlns:a16="http://schemas.microsoft.com/office/drawing/2014/main" id="{25F99FB1-CBFB-47F0-B970-D04D688E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24375"/>
            <a:ext cx="361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灰色圆点：空集合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80BD6334-65C2-4348-9046-C5033BCD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随机与按类偏差较小；贪心检验暴露缺口。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D9452079-3268-4C67-B759-DD6451E3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Wang et al. · arXiv:2211.00593v1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DFF70C55-EDED-46AF-9B59-227D0E34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5722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42A4A5A3-596F-4F9C-8F49-1B68FBED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教师精读卡：从证据到下一步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18DC4AAD-E13D-464B-9EB4-3343757B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IOI示例；下一实验尚未执行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CDDB7-0378-41A1-8C6E-C53F9DD36D79}"/>
              </a:ext>
            </a:extLst>
          </p:cNvPr>
          <p:cNvGraphicFramePr/>
          <p:nvPr/>
        </p:nvGraphicFramePr>
        <p:xfrm>
          <a:off xmlns:a="http://schemas.openxmlformats.org/drawingml/2006/main" x="666750" y="1905000"/>
          <a:ext xmlns:a="http://schemas.openxmlformats.org/drawingml/2006/main" cx="10858500" cy="3571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8191500"/>
              </a:tblGrid>
              <a:tr h="51026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我的问题</a:t>
                      </a:r>
                    </a:p>
                  </a:txBody>
                  <a:tcPr marL="123825" marR="123825" marT="95250" marB="9525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差异来自遗漏，还是依赖均值替换？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位置一</a:t>
                      </a:r>
                    </a:p>
                  </a:txBody>
                  <a:tcPr marL="123825" marR="123825" marT="95250" marB="9525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Fig.6(a)：贪心K偏离对角线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位置二</a:t>
                      </a:r>
                    </a:p>
                  </a:txBody>
                  <a:tcPr marL="123825" marR="123825" marT="95250" marB="9525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§2.1：p_ABC同模板均值替换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两种解释</a:t>
                      </a:r>
                    </a:p>
                  </a:txBody>
                  <a:tcPr marL="123825" marR="123825" marT="95250" marB="9525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遗漏路径；均值替换的设置依赖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检查一</a:t>
                      </a:r>
                    </a:p>
                  </a:txBody>
                  <a:tcPr marL="123825" marR="123825" marT="95250" marB="9525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固定替换补路径：遗漏解释预期偏差缩小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检查二</a:t>
                      </a:r>
                    </a:p>
                  </a:txBody>
                  <a:tcPr marL="123825" marR="123825" marT="95250" marB="9525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固定电路换参考：设置依赖预期结论变化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当前决定</a:t>
                      </a:r>
                    </a:p>
                  </a:txBody>
                  <a:tcPr marL="123825" marR="123825" marT="95250" marB="9525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暂缓归因；两项检查尚未执行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DAE86D55-502B-4EEF-B8EE-61EDC91C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两项检查的结果仍需共同解释，单项结果不唯一归因。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194E1B6-EE56-4A7C-988D-A3FB5867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5722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89D509E8-9487-4615-8854-EC11754E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本人精读的范围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3B38DDFB-C30C-48CD-977D-752D1064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先选本人论文；缺材料时使用公开备用输入</a:t>
            </a:r>
          </a:p>
        </p:txBody>
      </p:sp>
      <p:sp>
        <p:nvSpPr>
          <p:cNvPr id="3" name="entry-label-0">
            <a:extLst xmlns:a="http://schemas.openxmlformats.org/drawingml/2006/main">
              <a:ext uri="{FF2B5EF4-FFF2-40B4-BE49-F238E27FC236}">
                <a16:creationId xmlns:a16="http://schemas.microsoft.com/office/drawing/2014/main" id="{5DB1CB21-6219-45C2-B964-DC4C4DFD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428875" cy="99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我的问题</a:t>
            </a:r>
          </a:p>
        </p:txBody>
      </p:sp>
      <p:sp>
        <p:nvSpPr>
          <p:cNvPr id="4" name="entry-content-0">
            <a:extLst xmlns:a="http://schemas.openxmlformats.org/drawingml/2006/main">
              <a:ext uri="{FF2B5EF4-FFF2-40B4-BE49-F238E27FC236}">
                <a16:creationId xmlns:a16="http://schemas.microsoft.com/office/drawing/2014/main" id="{87AA062E-4FB9-43DE-95FF-18FD327B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8096250" cy="99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需要这篇论文解决什么？</a:t>
            </a:r>
          </a:p>
        </p:txBody>
      </p:sp>
      <p:sp>
        <p:nvSpPr>
          <p:cNvPr id="5" name="entry-rule-0">
            <a:extLst xmlns:a="http://schemas.openxmlformats.org/drawingml/2006/main">
              <a:ext uri="{FF2B5EF4-FFF2-40B4-BE49-F238E27FC236}">
                <a16:creationId xmlns:a16="http://schemas.microsoft.com/office/drawing/2014/main" id="{9323AAB1-7984-4A64-895B-60ADE554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625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8DFE5"/>
            </a:solidFill>
          </a:ln>
        </p:spPr>
      </p:sp>
      <p:sp>
        <p:nvSpPr>
          <p:cNvPr id="6" name="entry-label-1">
            <a:extLst xmlns:a="http://schemas.openxmlformats.org/drawingml/2006/main">
              <a:ext uri="{FF2B5EF4-FFF2-40B4-BE49-F238E27FC236}">
                <a16:creationId xmlns:a16="http://schemas.microsoft.com/office/drawing/2014/main" id="{7AE7C984-1EB3-4CF0-B5B8-C466E213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1500"/>
            <a:ext cx="2428875" cy="99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选定主张</a:t>
            </a:r>
          </a:p>
        </p:txBody>
      </p:sp>
      <p:sp>
        <p:nvSpPr>
          <p:cNvPr id="7" name="entry-content-1">
            <a:extLst xmlns:a="http://schemas.openxmlformats.org/drawingml/2006/main">
              <a:ext uri="{FF2B5EF4-FFF2-40B4-BE49-F238E27FC236}">
                <a16:creationId xmlns:a16="http://schemas.microsoft.com/office/drawing/2014/main" id="{C45E404A-3C30-45FE-961A-67AFA776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11500"/>
            <a:ext cx="8096250" cy="99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一句可以核验的转述</a:t>
            </a:r>
          </a:p>
        </p:txBody>
      </p:sp>
      <p:sp>
        <p:nvSpPr>
          <p:cNvPr id="8" name="entry-rule-1">
            <a:extLst xmlns:a="http://schemas.openxmlformats.org/drawingml/2006/main">
              <a:ext uri="{FF2B5EF4-FFF2-40B4-BE49-F238E27FC236}">
                <a16:creationId xmlns:a16="http://schemas.microsoft.com/office/drawing/2014/main" id="{1611C4C3-1D7E-461C-96DE-8293B6F7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750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8DFE5"/>
            </a:solidFill>
          </a:ln>
        </p:spPr>
      </p:sp>
      <p:sp>
        <p:nvSpPr>
          <p:cNvPr id="9" name="entry-label-2">
            <a:extLst xmlns:a="http://schemas.openxmlformats.org/drawingml/2006/main">
              <a:ext uri="{FF2B5EF4-FFF2-40B4-BE49-F238E27FC236}">
                <a16:creationId xmlns:a16="http://schemas.microsoft.com/office/drawing/2014/main" id="{98939B63-9CD3-4D68-A7A0-9B3279E2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2750"/>
            <a:ext cx="2428875" cy="99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结束条件</a:t>
            </a:r>
          </a:p>
        </p:txBody>
      </p:sp>
      <p:sp>
        <p:nvSpPr>
          <p:cNvPr id="10" name="entry-content-2">
            <a:extLst xmlns:a="http://schemas.openxmlformats.org/drawingml/2006/main">
              <a:ext uri="{FF2B5EF4-FFF2-40B4-BE49-F238E27FC236}">
                <a16:creationId xmlns:a16="http://schemas.microsoft.com/office/drawing/2014/main" id="{953C71E5-7FE4-48E1-8928-5745273A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22750"/>
            <a:ext cx="8096250" cy="99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两处位置＋适用条件＋本人决定</a:t>
            </a:r>
          </a:p>
        </p:txBody>
      </p:sp>
      <p:sp>
        <p:nvSpPr>
          <p:cNvPr id="11" name="takeaway">
            <a:extLst xmlns:a="http://schemas.openxmlformats.org/drawingml/2006/main">
              <a:ext uri="{FF2B5EF4-FFF2-40B4-BE49-F238E27FC236}">
                <a16:creationId xmlns:a16="http://schemas.microsoft.com/office/drawing/2014/main" id="{45739AC0-338E-417B-8B5A-B1F703C1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备用：Keshav §2.1–2.3，核对阅读步骤与适用理由。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2D5BCDD2-241B-4095-BFE8-A4561E20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5722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A227868C-4E8D-494A-B071-CE4334ED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阅读地图落到原文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01DD1D9C-FDEF-469C-BDF4-442238F5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使用本人实际 AI 输出或标明人工替代</a:t>
            </a:r>
          </a:p>
        </p:txBody>
      </p:sp>
      <p:sp>
        <p:nvSpPr>
          <p:cNvPr id="3" name="prompt-0">
            <a:extLst xmlns:a="http://schemas.openxmlformats.org/drawingml/2006/main">
              <a:ext uri="{FF2B5EF4-FFF2-40B4-BE49-F238E27FC236}">
                <a16:creationId xmlns:a16="http://schemas.microsoft.com/office/drawing/2014/main" id="{B42F79C1-86A2-47A1-929A-DEDCFEC8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候选位置：保留模型原始建议</a:t>
            </a:r>
          </a:p>
        </p:txBody>
      </p:sp>
      <p:sp>
        <p:nvSpPr>
          <p:cNvPr id="4" name="prompt-1">
            <a:extLst xmlns:a="http://schemas.openxmlformats.org/drawingml/2006/main">
              <a:ext uri="{FF2B5EF4-FFF2-40B4-BE49-F238E27FC236}">
                <a16:creationId xmlns:a16="http://schemas.microsoft.com/office/drawing/2014/main" id="{0BCD026E-477B-453C-A1B5-651BB285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实际位置：逐项打开核对</a:t>
            </a:r>
          </a:p>
        </p:txBody>
      </p:sp>
      <p:sp>
        <p:nvSpPr>
          <p:cNvPr id="5" name="prompt-2">
            <a:extLst xmlns:a="http://schemas.openxmlformats.org/drawingml/2006/main">
              <a:ext uri="{FF2B5EF4-FFF2-40B4-BE49-F238E27FC236}">
                <a16:creationId xmlns:a16="http://schemas.microsoft.com/office/drawing/2014/main" id="{4F81C791-82DD-4685-99BE-CCA0CC0B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43375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处理：采用、纠正或继续查找</a:t>
            </a:r>
          </a:p>
        </p:txBody>
      </p:sp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9D21439A-BF49-43AE-9754-95C0CC34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位置核验和内容核验分别留下依据。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F78742F2-9796-4E63-BAFA-AD4DF44E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5722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DD8C16F5-53F1-40BE-93DD-D8EDEE8F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第一处证据的记录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128D504D-BFBA-40DE-9C54-2B3E6566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把原文观察与自己的解释分开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BAC51-C0C2-4926-A578-F05C1F0EBBBA}"/>
              </a:ext>
            </a:extLst>
          </p:cNvPr>
          <p:cNvGraphicFramePr/>
          <p:nvPr/>
        </p:nvGraphicFramePr>
        <p:xfrm>
          <a:off xmlns:a="http://schemas.openxmlformats.org/drawingml/2006/main" x="666750" y="1905000"/>
          <a:ext xmlns:a="http://schemas.openxmlformats.org/drawingml/2006/main" cx="108585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8191500"/>
              </a:tblGrid>
              <a:tr h="111125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原文位置</a:t>
                      </a:r>
                    </a:p>
                  </a:txBody>
                  <a:tcPr marL="123825" marR="123825" marT="95250" marB="9525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章节／图号／段落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1125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实际观察</a:t>
                      </a:r>
                    </a:p>
                  </a:txBody>
                  <a:tcPr marL="123825" marR="123825" marT="95250" marB="9525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任务、对象、指标与比较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111125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对主张的作用</a:t>
                      </a:r>
                    </a:p>
                  </a:txBody>
                  <a:tcPr marL="123825" marR="123825" marT="95250" marB="9525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支持什么，尚未回答什么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0C9D0B9B-CACD-4DAE-9D92-AD404D38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写入 reading-cards.md，保留待核字段。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9093322-DAA8-4DC9-8DC0-99773C26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5722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740C4B86-E485-4750-96F1-C9C77656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不同项目的方法核验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1C117926-A7D5-4BAC-B4A9-89239EE3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核对会改变判断的条件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061071-86C0-4C41-9EA4-97671C27DDF2}"/>
              </a:ext>
            </a:extLst>
          </p:cNvPr>
          <p:cNvGraphicFramePr/>
          <p:nvPr/>
        </p:nvGraphicFramePr>
        <p:xfrm>
          <a:off xmlns:a="http://schemas.openxmlformats.org/drawingml/2006/main" x="666750" y="1905000"/>
          <a:ext xmlns:a="http://schemas.openxmlformats.org/drawingml/2006/main" cx="108585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38375"/>
                <a:gridCol w="4286250"/>
                <a:gridCol w="4333875"/>
              </a:tblGrid>
              <a:tr h="833438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</a:t>
                      </a:r>
                    </a:p>
                  </a:txBody>
                  <a:tcPr marL="123825" marR="123825" marT="95250" marB="9525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核对对象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下一步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ML／算法</a:t>
                      </a:r>
                    </a:p>
                  </a:txBody>
                  <a:tcPr marL="123825" marR="123825" marT="95250" marB="9525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对照与数据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检查效应来源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系统／软件</a:t>
                      </a:r>
                    </a:p>
                  </a:txBody>
                  <a:tcPr marL="123825" marR="123825" marT="95250" marB="9525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负载与资源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检查边界条件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理论／文献</a:t>
                      </a:r>
                    </a:p>
                  </a:txBody>
                  <a:tcPr marL="123825" marR="123825" marT="95250" marB="9525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前提与反例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检查推理成立范围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9352F7FC-6B5F-478A-952C-FD69E166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没有代码时，核对推导、数据或研究设计。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94B956E-A49C-4479-811B-D8881ABB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5722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7B3A0D9B-01D0-4EA1-862C-16FB6FF3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相同论文，不同阅读目标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05F9152F-D145-463D-A61B-CFB1A4C9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Keshav §2.1–2.3：核对实际动作与判断边界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BD5DE-B17D-4A2B-93CA-4619688DA6E7}"/>
              </a:ext>
            </a:extLst>
          </p:cNvPr>
          <p:cNvGraphicFramePr/>
          <p:nvPr/>
        </p:nvGraphicFramePr>
        <p:xfrm>
          <a:off xmlns:a="http://schemas.openxmlformats.org/drawingml/2006/main" x="666750" y="1905000"/>
          <a:ext xmlns:a="http://schemas.openxmlformats.org/drawingml/2006/main" cx="108585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38375"/>
                <a:gridCol w="4286250"/>
                <a:gridCol w="4333875"/>
              </a:tblGrid>
              <a:tr h="833438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原文位置</a:t>
                      </a:r>
                    </a:p>
                  </a:txBody>
                  <a:tcPr marL="123825" marR="123825" marT="95250" marB="9525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原文片段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对判断的影响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1F4D78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§2.1 第一遍</a:t>
                      </a:r>
                    </a:p>
                  </a:txBody>
                  <a:tcPr marL="123825" marR="123825" marT="95250" marB="9525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Read the conclusions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初筛是否继续读；未核证明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§2.2 第二遍</a:t>
                      </a:r>
                    </a:p>
                  </a:txBody>
                  <a:tcPr marL="123825" marR="123825" marT="95250" marB="9525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ignore details such as proofs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概括主线与证据；略过证明细节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§2.3 第三遍</a:t>
                      </a:r>
                    </a:p>
                  </a:txBody>
                  <a:tcPr marL="123825" marR="123825" marT="95250" marB="9525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virtually re-implement the paper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重建假设与推理；非运行复现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0EA82B50-F28D-4730-9F2B-05497903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按本人证据缺口选动作；作者经验不等于效率对照实验。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5C47179-3426-45E3-BBA7-50DB1819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5722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7856708D-D113-4DCF-B6B4-F606DF60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下一项证据由主张决定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37747BCB-B621-4E30-BDE6-E0EFA796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如果要把主张写得更强，还需检查什么？</a:t>
            </a:r>
          </a:p>
        </p:txBody>
      </p:sp>
      <p:sp>
        <p:nvSpPr>
          <p:cNvPr id="3" name="question-index-0">
            <a:extLst xmlns:a="http://schemas.openxmlformats.org/drawingml/2006/main">
              <a:ext uri="{FF2B5EF4-FFF2-40B4-BE49-F238E27FC236}">
                <a16:creationId xmlns:a16="http://schemas.microsoft.com/office/drawing/2014/main" id="{459E005F-24E7-4F64-8F16-0200798C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4" name="question-text-0">
            <a:extLst xmlns:a="http://schemas.openxmlformats.org/drawingml/2006/main">
              <a:ext uri="{FF2B5EF4-FFF2-40B4-BE49-F238E27FC236}">
                <a16:creationId xmlns:a16="http://schemas.microsoft.com/office/drawing/2014/main" id="{C00C452D-B2D6-4389-8C84-453777C9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990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哪项对照能改变当前解释？</a:t>
            </a:r>
          </a:p>
        </p:txBody>
      </p:sp>
      <p:sp>
        <p:nvSpPr>
          <p:cNvPr id="5" name="question-index-1">
            <a:extLst xmlns:a="http://schemas.openxmlformats.org/drawingml/2006/main">
              <a:ext uri="{FF2B5EF4-FFF2-40B4-BE49-F238E27FC236}">
                <a16:creationId xmlns:a16="http://schemas.microsoft.com/office/drawing/2014/main" id="{AA897B77-E269-4BB3-8104-A884C4AA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question-text-1">
            <a:extLst xmlns:a="http://schemas.openxmlformats.org/drawingml/2006/main">
              <a:ext uri="{FF2B5EF4-FFF2-40B4-BE49-F238E27FC236}">
                <a16:creationId xmlns:a16="http://schemas.microsoft.com/office/drawing/2014/main" id="{9D937D34-EB11-4E56-B1F3-8D3D6DF5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48000"/>
            <a:ext cx="990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换一种输入或前提，预测是否改变？</a:t>
            </a:r>
          </a:p>
        </p:txBody>
      </p:sp>
      <p:sp>
        <p:nvSpPr>
          <p:cNvPr id="7" name="question-index-2">
            <a:extLst xmlns:a="http://schemas.openxmlformats.org/drawingml/2006/main">
              <a:ext uri="{FF2B5EF4-FFF2-40B4-BE49-F238E27FC236}">
                <a16:creationId xmlns:a16="http://schemas.microsoft.com/office/drawing/2014/main" id="{1344039F-2F02-4BC4-8071-4064DD8C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8" name="question-text-2">
            <a:extLst xmlns:a="http://schemas.openxmlformats.org/drawingml/2006/main">
              <a:ext uri="{FF2B5EF4-FFF2-40B4-BE49-F238E27FC236}">
                <a16:creationId xmlns:a16="http://schemas.microsoft.com/office/drawing/2014/main" id="{B7CEB50F-92FB-43E7-93AC-3D133FA7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990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什么结果对两种解释都成立？</a:t>
            </a:r>
          </a:p>
        </p:txBody>
      </p:sp>
      <p:sp>
        <p:nvSpPr>
          <p:cNvPr id="9" name="takeaway">
            <a:extLst xmlns:a="http://schemas.openxmlformats.org/drawingml/2006/main">
              <a:ext uri="{FF2B5EF4-FFF2-40B4-BE49-F238E27FC236}">
                <a16:creationId xmlns:a16="http://schemas.microsoft.com/office/drawing/2014/main" id="{67AAB877-4ED4-4455-9CC8-64A39782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选择一项最可能改变当前判断的检查，并说明理由。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58EEDDCC-5205-4FF8-959F-4E78A01A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5722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AC3C7526-1470-4B81-B0C5-313A8902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第二处位置：限定或缺口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143EE101-9A53-4730-B08E-2F732FF7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第二处证据服务同一主张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1E74C-6637-4479-9C80-55ACBD4FD147}"/>
              </a:ext>
            </a:extLst>
          </p:cNvPr>
          <p:cNvGraphicFramePr/>
          <p:nvPr/>
        </p:nvGraphicFramePr>
        <p:xfrm>
          <a:off xmlns:a="http://schemas.openxmlformats.org/drawingml/2006/main" x="666750" y="1905000"/>
          <a:ext xmlns:a="http://schemas.openxmlformats.org/drawingml/2006/main" cx="108585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8191500"/>
              </a:tblGrid>
              <a:tr h="111125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原文位置</a:t>
                      </a:r>
                    </a:p>
                  </a:txBody>
                  <a:tcPr marL="123825" marR="123825" marT="95250" marB="9525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实际章节／图号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1125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新增信息</a:t>
                      </a:r>
                    </a:p>
                  </a:txBody>
                  <a:tcPr marL="123825" marR="123825" marT="95250" marB="9525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条件、限制或另一项检验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111125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判断变化</a:t>
                      </a:r>
                    </a:p>
                  </a:txBody>
                  <a:tcPr marL="123825" marR="123825" marT="95250" marB="9525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收窄、维持或暂缓及理由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7A735D3B-2196-4D25-B7C4-EFC93006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两处证据不必一正一反；说明各自作用。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FA132E1-E14F-4589-8032-E1EFD6C3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5722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6C570207-994D-44AD-B1D7-E1899FDA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质疑也需要核验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45D7DCD4-113D-460F-A235-7BA2FC7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将已核对的原文和当前转述提供给 AI</a:t>
            </a:r>
          </a:p>
        </p:txBody>
      </p:sp>
      <p:sp>
        <p:nvSpPr>
          <p:cNvPr id="3" name="prompt-0">
            <a:extLst xmlns:a="http://schemas.openxmlformats.org/drawingml/2006/main">
              <a:ext uri="{FF2B5EF4-FFF2-40B4-BE49-F238E27FC236}">
                <a16:creationId xmlns:a16="http://schemas.microsoft.com/office/drawing/2014/main" id="{D89C1A88-DCC9-4A04-AF66-2185E4E0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请提出一个可能改变判断的问题</a:t>
            </a:r>
          </a:p>
        </p:txBody>
      </p:sp>
      <p:sp>
        <p:nvSpPr>
          <p:cNvPr id="4" name="prompt-1">
            <a:extLst xmlns:a="http://schemas.openxmlformats.org/drawingml/2006/main">
              <a:ext uri="{FF2B5EF4-FFF2-40B4-BE49-F238E27FC236}">
                <a16:creationId xmlns:a16="http://schemas.microsoft.com/office/drawing/2014/main" id="{912B2E60-BCB1-4ED3-A055-34F9F6BC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指出它需要核对的材料或条件</a:t>
            </a:r>
          </a:p>
        </p:txBody>
      </p:sp>
      <p:sp>
        <p:nvSpPr>
          <p:cNvPr id="5" name="prompt-2">
            <a:extLst xmlns:a="http://schemas.openxmlformats.org/drawingml/2006/main">
              <a:ext uri="{FF2B5EF4-FFF2-40B4-BE49-F238E27FC236}">
                <a16:creationId xmlns:a16="http://schemas.microsoft.com/office/drawing/2014/main" id="{C5D39631-771D-4A74-8B97-A8785C54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43375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本人检查后采用、拒绝或暂缓</a:t>
            </a:r>
          </a:p>
        </p:txBody>
      </p:sp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61235EB3-BEB1-4D73-AF9A-7B6DCBE7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质疑不成立时，保留原判断并写依据。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27692A04-08AC-4BC3-ADC3-5F92E5B8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5722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F89D6BA2-3B07-45C0-973F-DBB11854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偏差审计记录实际检查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8955A5CB-8E9A-4C37-A557-6EAA4BFE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允许发现错误，也允许核验后维持原解释</a:t>
            </a:r>
          </a:p>
        </p:txBody>
      </p:sp>
      <p:sp>
        <p:nvSpPr>
          <p:cNvPr id="3" name="entry-label-0">
            <a:extLst xmlns:a="http://schemas.openxmlformats.org/drawingml/2006/main">
              <a:ext uri="{FF2B5EF4-FFF2-40B4-BE49-F238E27FC236}">
                <a16:creationId xmlns:a16="http://schemas.microsoft.com/office/drawing/2014/main" id="{BDAED36F-FEFE-48DB-8AC8-5C96FCB9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428875" cy="99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原始解释</a:t>
            </a:r>
          </a:p>
        </p:txBody>
      </p:sp>
      <p:sp>
        <p:nvSpPr>
          <p:cNvPr id="4" name="entry-content-0">
            <a:extLst xmlns:a="http://schemas.openxmlformats.org/drawingml/2006/main">
              <a:ext uri="{FF2B5EF4-FFF2-40B4-BE49-F238E27FC236}">
                <a16:creationId xmlns:a16="http://schemas.microsoft.com/office/drawing/2014/main" id="{E6B0D6D5-9489-42C4-9E5F-A2EBDDEF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8096250" cy="99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保留本人真实 AI 输出</a:t>
            </a:r>
          </a:p>
        </p:txBody>
      </p:sp>
      <p:sp>
        <p:nvSpPr>
          <p:cNvPr id="5" name="entry-rule-0">
            <a:extLst xmlns:a="http://schemas.openxmlformats.org/drawingml/2006/main">
              <a:ext uri="{FF2B5EF4-FFF2-40B4-BE49-F238E27FC236}">
                <a16:creationId xmlns:a16="http://schemas.microsoft.com/office/drawing/2014/main" id="{7D3F5F53-54C3-44F2-A42D-AF8DC562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625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8DFE5"/>
            </a:solidFill>
          </a:ln>
        </p:spPr>
      </p:sp>
      <p:sp>
        <p:nvSpPr>
          <p:cNvPr id="6" name="entry-label-1">
            <a:extLst xmlns:a="http://schemas.openxmlformats.org/drawingml/2006/main">
              <a:ext uri="{FF2B5EF4-FFF2-40B4-BE49-F238E27FC236}">
                <a16:creationId xmlns:a16="http://schemas.microsoft.com/office/drawing/2014/main" id="{41A8F1BF-2EE5-4657-98ED-246E27F5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1500"/>
            <a:ext cx="2428875" cy="99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核验依据</a:t>
            </a:r>
          </a:p>
        </p:txBody>
      </p:sp>
      <p:sp>
        <p:nvSpPr>
          <p:cNvPr id="7" name="entry-content-1">
            <a:extLst xmlns:a="http://schemas.openxmlformats.org/drawingml/2006/main">
              <a:ext uri="{FF2B5EF4-FFF2-40B4-BE49-F238E27FC236}">
                <a16:creationId xmlns:a16="http://schemas.microsoft.com/office/drawing/2014/main" id="{071B8C5D-E352-4BFE-92C3-DEB08069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11500"/>
            <a:ext cx="8096250" cy="99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原文位置与实际观察</a:t>
            </a:r>
          </a:p>
        </p:txBody>
      </p:sp>
      <p:sp>
        <p:nvSpPr>
          <p:cNvPr id="8" name="entry-rule-1">
            <a:extLst xmlns:a="http://schemas.openxmlformats.org/drawingml/2006/main">
              <a:ext uri="{FF2B5EF4-FFF2-40B4-BE49-F238E27FC236}">
                <a16:creationId xmlns:a16="http://schemas.microsoft.com/office/drawing/2014/main" id="{B76500C0-15E7-4D51-9D8F-0E9CCA79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750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8DFE5"/>
            </a:solidFill>
          </a:ln>
        </p:spPr>
      </p:sp>
      <p:sp>
        <p:nvSpPr>
          <p:cNvPr id="9" name="entry-label-2">
            <a:extLst xmlns:a="http://schemas.openxmlformats.org/drawingml/2006/main">
              <a:ext uri="{FF2B5EF4-FFF2-40B4-BE49-F238E27FC236}">
                <a16:creationId xmlns:a16="http://schemas.microsoft.com/office/drawing/2014/main" id="{D793C6C9-58BC-4E74-938B-4DB23B59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2750"/>
            <a:ext cx="2428875" cy="99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处理结果</a:t>
            </a:r>
          </a:p>
        </p:txBody>
      </p:sp>
      <p:sp>
        <p:nvSpPr>
          <p:cNvPr id="10" name="entry-content-2">
            <a:extLst xmlns:a="http://schemas.openxmlformats.org/drawingml/2006/main">
              <a:ext uri="{FF2B5EF4-FFF2-40B4-BE49-F238E27FC236}">
                <a16:creationId xmlns:a16="http://schemas.microsoft.com/office/drawing/2014/main" id="{757A75A7-9AB1-47E9-83FB-83A0513F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22750"/>
            <a:ext cx="8096250" cy="99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修订／维持／暂缓＋理由</a:t>
            </a:r>
          </a:p>
        </p:txBody>
      </p:sp>
      <p:sp>
        <p:nvSpPr>
          <p:cNvPr id="11" name="takeaway">
            <a:extLst xmlns:a="http://schemas.openxmlformats.org/drawingml/2006/main">
              <a:ext uri="{FF2B5EF4-FFF2-40B4-BE49-F238E27FC236}">
                <a16:creationId xmlns:a16="http://schemas.microsoft.com/office/drawing/2014/main" id="{B9036E0B-0BCD-46DE-BB11-4F6DD8BF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课堂构造句和真实模型输出分别标明。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62F8EE82-255B-41F2-B12D-8D715EFC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5722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4753A8FD-0C5E-425F-9796-7C9BD831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一张卡与研究决定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C659BDB2-6E77-4A69-A5A6-05F3F8F3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填入本人研究，不复制教师答案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B0809D-8545-4377-B6D9-E0395D605CE0}"/>
              </a:ext>
            </a:extLst>
          </p:cNvPr>
          <p:cNvGraphicFramePr/>
          <p:nvPr/>
        </p:nvGraphicFramePr>
        <p:xfrm>
          <a:off xmlns:a="http://schemas.openxmlformats.org/drawingml/2006/main" x="666750" y="1905000"/>
          <a:ext xmlns:a="http://schemas.openxmlformats.org/drawingml/2006/main" cx="108585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8191500"/>
              </a:tblGrid>
              <a:tr h="83343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本人问题</a:t>
                      </a:r>
                    </a:p>
                  </a:txBody>
                  <a:tcPr marL="123825" marR="123825" marT="95250" marB="9525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哪项决定需要这篇论文？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关键证据</a:t>
                      </a:r>
                    </a:p>
                  </a:txBody>
                  <a:tcPr marL="123825" marR="123825" marT="95250" marB="9525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两处原文及其作用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适用条件</a:t>
                      </a:r>
                    </a:p>
                  </a:txBody>
                  <a:tcPr marL="123825" marR="123825" marT="95250" marB="9525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方法、比较或论证前提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最终处理</a:t>
                      </a:r>
                    </a:p>
                  </a:txBody>
                  <a:tcPr marL="123825" marR="123825" marT="95250" marB="9525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采用／修订／暂缓＋下一步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8F3C7208-6B23-4274-92DC-D9AC3863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同时保留来源身份、AI 使用与实际核验记录。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B2A7D5E-EDD2-4EE5-8E02-1B07D00F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5722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717B5F95-2A93-45B2-8C28-CCA1DA94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教师示范：从转述反查证据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2D514622-0058-4BE1-B3E5-0BCCC00A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构造系统例，用于演示核验；非论文结果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2034FA-5743-4171-A8AB-85D71FEBF65F}"/>
              </a:ext>
            </a:extLst>
          </p:cNvPr>
          <p:cNvGraphicFramePr/>
          <p:nvPr/>
        </p:nvGraphicFramePr>
        <p:xfrm>
          <a:off xmlns:a="http://schemas.openxmlformats.org/drawingml/2006/main" x="666750" y="1905000"/>
          <a:ext xmlns:a="http://schemas.openxmlformats.org/drawingml/2006/main" cx="108585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8191500"/>
              </a:tblGrid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构造原文</a:t>
                      </a:r>
                    </a:p>
                  </a:txBody>
                  <a:tcPr marL="123825" marR="123825" marT="95250" marB="9525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同16核、并发64：A 8k，B 10k req/s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T w="6668">
                      <a:solidFill>
                        <a:srgbClr val="D8DFE5"/>
                      </a:solidFill>
                      <a:prstDash val="solid"/>
                    </a:lnT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比较条件</a:t>
                      </a:r>
                    </a:p>
                  </a:txBody>
                  <a:tcPr marL="123825" marR="123825" marT="95250" marB="9525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固定请求集；未测突发流量与尾延迟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待核转述</a:t>
                      </a:r>
                    </a:p>
                  </a:txBody>
                  <a:tcPr marL="123825" marR="123825" marT="95250" marB="9525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B能提升我项目的突发负载表现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教师反查</a:t>
                      </a:r>
                    </a:p>
                  </a:txBody>
                  <a:tcPr marL="123825" marR="123825" marT="95250" marB="9525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原文只测稳定并发，迁移条件未验证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处理与下一步</a:t>
                      </a:r>
                    </a:p>
                  </a:txBody>
                  <a:tcPr marL="123825" marR="123825" marT="95250" marB="95250" anchor="ctr">
                    <a:lnL w="6668">
                      <a:solidFill>
                        <a:srgbClr val="D8DFE5"/>
                      </a:solidFill>
                      <a:prstDash val="solid"/>
                    </a:lnL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6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收窄主张；补突发负载与P95检查</a:t>
                      </a:r>
                    </a:p>
                  </a:txBody>
                  <a:tcPr marL="123825" marR="123825" marT="95250" marB="95250" anchor="ctr">
                    <a:lnR w="6668">
                      <a:solidFill>
                        <a:srgbClr val="D8DFE5"/>
                      </a:solidFill>
                      <a:prstDash val="solid"/>
                    </a:lnR>
                    <a:lnB w="6668">
                      <a:solidFill>
                        <a:srgbClr val="D8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19706A48-D5B7-434E-BFD6-A1AB8021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构造原文支持25%吞吐提升，尚不支持突发场景结论。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A30FD06-D122-4733-9C7B-B953A0BE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5722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3455E4CD-AE08-4E61-8E5F-D4254BD1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反查本人卡片中的依据归属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BAA5CAAB-95E2-406A-97A2-B827170C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现在反查自己的完整卡片</a:t>
            </a:r>
          </a:p>
        </p:txBody>
      </p:sp>
      <p:sp>
        <p:nvSpPr>
          <p:cNvPr id="3" name="entry-label-0">
            <a:extLst xmlns:a="http://schemas.openxmlformats.org/drawingml/2006/main">
              <a:ext uri="{FF2B5EF4-FFF2-40B4-BE49-F238E27FC236}">
                <a16:creationId xmlns:a16="http://schemas.microsoft.com/office/drawing/2014/main" id="{1AA6A706-283F-448D-BDBE-881C0FE4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428875" cy="99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选一句</a:t>
            </a:r>
          </a:p>
        </p:txBody>
      </p:sp>
      <p:sp>
        <p:nvSpPr>
          <p:cNvPr id="4" name="entry-content-0">
            <a:extLst xmlns:a="http://schemas.openxmlformats.org/drawingml/2006/main">
              <a:ext uri="{FF2B5EF4-FFF2-40B4-BE49-F238E27FC236}">
                <a16:creationId xmlns:a16="http://schemas.microsoft.com/office/drawing/2014/main" id="{6C3E7461-EF34-4102-9EB7-0FF04CAA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8096250" cy="99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从本人卡片选影响下一步的关键转述</a:t>
            </a:r>
          </a:p>
        </p:txBody>
      </p:sp>
      <p:sp>
        <p:nvSpPr>
          <p:cNvPr id="5" name="entry-rule-0">
            <a:extLst xmlns:a="http://schemas.openxmlformats.org/drawingml/2006/main">
              <a:ext uri="{FF2B5EF4-FFF2-40B4-BE49-F238E27FC236}">
                <a16:creationId xmlns:a16="http://schemas.microsoft.com/office/drawing/2014/main" id="{583DB6A6-02F1-4D7B-9438-1BF3485B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625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8DFE5"/>
            </a:solidFill>
          </a:ln>
        </p:spPr>
      </p:sp>
      <p:sp>
        <p:nvSpPr>
          <p:cNvPr id="6" name="entry-label-1">
            <a:extLst xmlns:a="http://schemas.openxmlformats.org/drawingml/2006/main">
              <a:ext uri="{FF2B5EF4-FFF2-40B4-BE49-F238E27FC236}">
                <a16:creationId xmlns:a16="http://schemas.microsoft.com/office/drawing/2014/main" id="{13094A03-634F-40E8-8877-C42A51C5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1500"/>
            <a:ext cx="2428875" cy="99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逐段标注</a:t>
            </a:r>
          </a:p>
        </p:txBody>
      </p:sp>
      <p:sp>
        <p:nvSpPr>
          <p:cNvPr id="7" name="entry-content-1">
            <a:extLst xmlns:a="http://schemas.openxmlformats.org/drawingml/2006/main">
              <a:ext uri="{FF2B5EF4-FFF2-40B4-BE49-F238E27FC236}">
                <a16:creationId xmlns:a16="http://schemas.microsoft.com/office/drawing/2014/main" id="{17D3C19B-B8BB-4677-8358-0636B9B4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11500"/>
            <a:ext cx="8096250" cy="99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作者原话／AI建议／本人推断</a:t>
            </a:r>
          </a:p>
        </p:txBody>
      </p:sp>
      <p:sp>
        <p:nvSpPr>
          <p:cNvPr id="8" name="entry-rule-1">
            <a:extLst xmlns:a="http://schemas.openxmlformats.org/drawingml/2006/main">
              <a:ext uri="{FF2B5EF4-FFF2-40B4-BE49-F238E27FC236}">
                <a16:creationId xmlns:a16="http://schemas.microsoft.com/office/drawing/2014/main" id="{4F6996FB-69A6-4828-BC34-831BF535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750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8DFE5"/>
            </a:solidFill>
          </a:ln>
        </p:spPr>
      </p:sp>
      <p:sp>
        <p:nvSpPr>
          <p:cNvPr id="9" name="entry-label-2">
            <a:extLst xmlns:a="http://schemas.openxmlformats.org/drawingml/2006/main">
              <a:ext uri="{FF2B5EF4-FFF2-40B4-BE49-F238E27FC236}">
                <a16:creationId xmlns:a16="http://schemas.microsoft.com/office/drawing/2014/main" id="{4B06BF56-E250-4996-8DDB-9AD74426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2750"/>
            <a:ext cx="2428875" cy="99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反查位置</a:t>
            </a:r>
          </a:p>
        </p:txBody>
      </p:sp>
      <p:sp>
        <p:nvSpPr>
          <p:cNvPr id="10" name="entry-content-2">
            <a:extLst xmlns:a="http://schemas.openxmlformats.org/drawingml/2006/main">
              <a:ext uri="{FF2B5EF4-FFF2-40B4-BE49-F238E27FC236}">
                <a16:creationId xmlns:a16="http://schemas.microsoft.com/office/drawing/2014/main" id="{7A56C4D7-7A5D-4815-8405-D8A5132D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22750"/>
            <a:ext cx="8096250" cy="99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对照实际原文；缺依据处回写待核</a:t>
            </a:r>
          </a:p>
        </p:txBody>
      </p:sp>
      <p:sp>
        <p:nvSpPr>
          <p:cNvPr id="11" name="takeaway">
            <a:extLst xmlns:a="http://schemas.openxmlformats.org/drawingml/2006/main">
              <a:ext uri="{FF2B5EF4-FFF2-40B4-BE49-F238E27FC236}">
                <a16:creationId xmlns:a16="http://schemas.microsoft.com/office/drawing/2014/main" id="{A016AAF2-B0E6-4C1B-B500-D0BD3AB7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每个标签都指向实际依据，不能只给观点换名字。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0A9FC6D8-E77A-4B63-B774-4847AC26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5722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9601299C-27FC-4E8A-8596-1C02D482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保存卡片与未决问题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20D21986-E166-4228-8368-711D57DB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修订结束前，检查自己的实际记录</a:t>
            </a:r>
          </a:p>
        </p:txBody>
      </p:sp>
      <p:sp>
        <p:nvSpPr>
          <p:cNvPr id="3" name="prompt-0">
            <a:extLst xmlns:a="http://schemas.openxmlformats.org/drawingml/2006/main">
              <a:ext uri="{FF2B5EF4-FFF2-40B4-BE49-F238E27FC236}">
                <a16:creationId xmlns:a16="http://schemas.microsoft.com/office/drawing/2014/main" id="{0898EE13-CC78-4CB9-B707-9E47A75C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反查两处原文位置及其对判断的作用</a:t>
            </a:r>
          </a:p>
        </p:txBody>
      </p:sp>
      <p:sp>
        <p:nvSpPr>
          <p:cNvPr id="4" name="prompt-1">
            <a:extLst xmlns:a="http://schemas.openxmlformats.org/drawingml/2006/main">
              <a:ext uri="{FF2B5EF4-FFF2-40B4-BE49-F238E27FC236}">
                <a16:creationId xmlns:a16="http://schemas.microsoft.com/office/drawing/2014/main" id="{60DF48AA-5812-4A5B-A4C7-120AA5C4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标明采用／修订／暂缓及具体理由</a:t>
            </a:r>
          </a:p>
        </p:txBody>
      </p:sp>
      <p:sp>
        <p:nvSpPr>
          <p:cNvPr id="5" name="prompt-2">
            <a:extLst xmlns:a="http://schemas.openxmlformats.org/drawingml/2006/main">
              <a:ext uri="{FF2B5EF4-FFF2-40B4-BE49-F238E27FC236}">
                <a16:creationId xmlns:a16="http://schemas.microsoft.com/office/drawing/2014/main" id="{19E14204-1C52-47D7-B88B-34BEAB7C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43375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保存AI记录，写下L5要补的证据</a:t>
            </a:r>
          </a:p>
        </p:txBody>
      </p:sp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CC62F70A-41F2-420C-BD97-56CAEEC6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已有依据可维持判断；未核实项保留待核。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100F7379-4E1D-4621-9435-78B8A754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5722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B217B159-F690-4623-9027-097570A0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本讲知识点总结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296F9C87-5DC6-4C88-A933-F6C7BAF7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一条主张的精读路径</a:t>
            </a:r>
          </a:p>
        </p:txBody>
      </p:sp>
      <p:sp>
        <p:nvSpPr>
          <p:cNvPr id="3" name="entry-label-0">
            <a:extLst xmlns:a="http://schemas.openxmlformats.org/drawingml/2006/main">
              <a:ext uri="{FF2B5EF4-FFF2-40B4-BE49-F238E27FC236}">
                <a16:creationId xmlns:a16="http://schemas.microsoft.com/office/drawing/2014/main" id="{4EC1EA91-9EFF-456B-8A35-06223B9E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428875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定位</a:t>
            </a:r>
          </a:p>
        </p:txBody>
      </p:sp>
      <p:sp>
        <p:nvSpPr>
          <p:cNvPr id="4" name="entry-content-0">
            <a:extLst xmlns:a="http://schemas.openxmlformats.org/drawingml/2006/main">
              <a:ext uri="{FF2B5EF4-FFF2-40B4-BE49-F238E27FC236}">
                <a16:creationId xmlns:a16="http://schemas.microsoft.com/office/drawing/2014/main" id="{2C6E5804-040D-42BC-8C4E-756B2AE6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8096250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AI 地图与实际原文分开</a:t>
            </a:r>
          </a:p>
        </p:txBody>
      </p:sp>
      <p:sp>
        <p:nvSpPr>
          <p:cNvPr id="5" name="entry-rule-0">
            <a:extLst xmlns:a="http://schemas.openxmlformats.org/drawingml/2006/main">
              <a:ext uri="{FF2B5EF4-FFF2-40B4-BE49-F238E27FC236}">
                <a16:creationId xmlns:a16="http://schemas.microsoft.com/office/drawing/2014/main" id="{76B49ADD-CCC3-4DE4-9937-F8E67B04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8438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8DFE5"/>
            </a:solidFill>
          </a:ln>
        </p:spPr>
      </p:sp>
      <p:sp>
        <p:nvSpPr>
          <p:cNvPr id="6" name="entry-label-1">
            <a:extLst xmlns:a="http://schemas.openxmlformats.org/drawingml/2006/main">
              <a:ext uri="{FF2B5EF4-FFF2-40B4-BE49-F238E27FC236}">
                <a16:creationId xmlns:a16="http://schemas.microsoft.com/office/drawing/2014/main" id="{B6713F80-F55C-477A-A0ED-F474CAAA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3688"/>
            <a:ext cx="2428875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理解</a:t>
            </a:r>
          </a:p>
        </p:txBody>
      </p:sp>
      <p:sp>
        <p:nvSpPr>
          <p:cNvPr id="7" name="entry-content-1">
            <a:extLst xmlns:a="http://schemas.openxmlformats.org/drawingml/2006/main">
              <a:ext uri="{FF2B5EF4-FFF2-40B4-BE49-F238E27FC236}">
                <a16:creationId xmlns:a16="http://schemas.microsoft.com/office/drawing/2014/main" id="{779641D1-D4E7-4233-B3B3-ED99A6F4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33688"/>
            <a:ext cx="8096250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任务、干预、指标和条件对应</a:t>
            </a:r>
          </a:p>
        </p:txBody>
      </p:sp>
      <p:sp>
        <p:nvSpPr>
          <p:cNvPr id="8" name="entry-rule-1">
            <a:extLst xmlns:a="http://schemas.openxmlformats.org/drawingml/2006/main">
              <a:ext uri="{FF2B5EF4-FFF2-40B4-BE49-F238E27FC236}">
                <a16:creationId xmlns:a16="http://schemas.microsoft.com/office/drawing/2014/main" id="{553E582D-79AF-4B2D-A4A6-E5C94B26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8DFE5"/>
            </a:solidFill>
          </a:ln>
        </p:spPr>
      </p:sp>
      <p:sp>
        <p:nvSpPr>
          <p:cNvPr id="9" name="entry-label-2">
            <a:extLst xmlns:a="http://schemas.openxmlformats.org/drawingml/2006/main">
              <a:ext uri="{FF2B5EF4-FFF2-40B4-BE49-F238E27FC236}">
                <a16:creationId xmlns:a16="http://schemas.microsoft.com/office/drawing/2014/main" id="{B9A5C717-B518-40EF-848B-220A4FAE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2428875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判断</a:t>
            </a:r>
          </a:p>
        </p:txBody>
      </p:sp>
      <p:sp>
        <p:nvSpPr>
          <p:cNvPr id="10" name="entry-content-2">
            <a:extLst xmlns:a="http://schemas.openxmlformats.org/drawingml/2006/main">
              <a:ext uri="{FF2B5EF4-FFF2-40B4-BE49-F238E27FC236}">
                <a16:creationId xmlns:a16="http://schemas.microsoft.com/office/drawing/2014/main" id="{9D58BB89-6A93-422D-8E20-204ED791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67125"/>
            <a:ext cx="8096250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局部作用与机制解释分层</a:t>
            </a:r>
          </a:p>
        </p:txBody>
      </p:sp>
      <p:sp>
        <p:nvSpPr>
          <p:cNvPr id="11" name="entry-rule-2">
            <a:extLst xmlns:a="http://schemas.openxmlformats.org/drawingml/2006/main">
              <a:ext uri="{FF2B5EF4-FFF2-40B4-BE49-F238E27FC236}">
                <a16:creationId xmlns:a16="http://schemas.microsoft.com/office/drawing/2014/main" id="{65F9D24F-303D-4541-B73F-563ACFA0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5313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8DFE5"/>
            </a:solidFill>
          </a:ln>
        </p:spPr>
      </p:sp>
      <p:sp>
        <p:nvSpPr>
          <p:cNvPr id="12" name="entry-label-3">
            <a:extLst xmlns:a="http://schemas.openxmlformats.org/drawingml/2006/main">
              <a:ext uri="{FF2B5EF4-FFF2-40B4-BE49-F238E27FC236}">
                <a16:creationId xmlns:a16="http://schemas.microsoft.com/office/drawing/2014/main" id="{FEA1303C-B541-46A8-8CF8-12D5E996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00563"/>
            <a:ext cx="2428875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回写</a:t>
            </a:r>
          </a:p>
        </p:txBody>
      </p:sp>
      <p:sp>
        <p:nvSpPr>
          <p:cNvPr id="13" name="entry-content-3">
            <a:extLst xmlns:a="http://schemas.openxmlformats.org/drawingml/2006/main">
              <a:ext uri="{FF2B5EF4-FFF2-40B4-BE49-F238E27FC236}">
                <a16:creationId xmlns:a16="http://schemas.microsoft.com/office/drawing/2014/main" id="{F3822AC9-F78F-421A-9765-679416B8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00563"/>
            <a:ext cx="8096250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作者、代码、本人推断可追溯</a:t>
            </a:r>
          </a:p>
        </p:txBody>
      </p:sp>
      <p:sp>
        <p:nvSpPr>
          <p:cNvPr id="14" name="takeaway">
            <a:extLst xmlns:a="http://schemas.openxmlformats.org/drawingml/2006/main">
              <a:ext uri="{FF2B5EF4-FFF2-40B4-BE49-F238E27FC236}">
                <a16:creationId xmlns:a16="http://schemas.microsoft.com/office/drawing/2014/main" id="{F3F715EC-EE97-45D8-8770-1632AAAA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用自己的卡说明：哪项核验改变或维持了判断？</a:t>
            </a:r>
          </a:p>
        </p:txBody>
      </p:sp>
      <p:sp>
        <p:nvSpPr>
          <p:cNvPr id="15" name="page">
            <a:extLst xmlns:a="http://schemas.openxmlformats.org/drawingml/2006/main">
              <a:ext uri="{FF2B5EF4-FFF2-40B4-BE49-F238E27FC236}">
                <a16:creationId xmlns:a16="http://schemas.microsoft.com/office/drawing/2014/main" id="{97BACADE-720B-4644-B673-89062F3F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5722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16CD19E5-14E5-4F1D-A3F5-11061325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第一张卡与 L5 输入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DE3EFED9-6619-4F62-8143-C00C618C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L5：围绕本人问题综合证据</a:t>
            </a:r>
          </a:p>
        </p:txBody>
      </p:sp>
      <p:sp>
        <p:nvSpPr>
          <p:cNvPr id="3" name="entry-label-0">
            <a:extLst xmlns:a="http://schemas.openxmlformats.org/drawingml/2006/main">
              <a:ext uri="{FF2B5EF4-FFF2-40B4-BE49-F238E27FC236}">
                <a16:creationId xmlns:a16="http://schemas.microsoft.com/office/drawing/2014/main" id="{BBD487FB-BFE4-4A5F-A0BF-CCAA46C4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428875" cy="99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现在保存</a:t>
            </a:r>
          </a:p>
        </p:txBody>
      </p:sp>
      <p:sp>
        <p:nvSpPr>
          <p:cNvPr id="4" name="entry-content-0">
            <a:extLst xmlns:a="http://schemas.openxmlformats.org/drawingml/2006/main">
              <a:ext uri="{FF2B5EF4-FFF2-40B4-BE49-F238E27FC236}">
                <a16:creationId xmlns:a16="http://schemas.microsoft.com/office/drawing/2014/main" id="{407DC44D-1AAD-41B7-A69C-2CA69136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8096250" cy="99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一张完整卡＋两处位置＋本人判断</a:t>
            </a:r>
          </a:p>
        </p:txBody>
      </p:sp>
      <p:sp>
        <p:nvSpPr>
          <p:cNvPr id="5" name="entry-rule-0">
            <a:extLst xmlns:a="http://schemas.openxmlformats.org/drawingml/2006/main">
              <a:ext uri="{FF2B5EF4-FFF2-40B4-BE49-F238E27FC236}">
                <a16:creationId xmlns:a16="http://schemas.microsoft.com/office/drawing/2014/main" id="{ADBF8AD6-72ED-405D-B4AD-71BD3994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625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8DFE5"/>
            </a:solidFill>
          </a:ln>
        </p:spPr>
      </p:sp>
      <p:sp>
        <p:nvSpPr>
          <p:cNvPr id="6" name="entry-label-1">
            <a:extLst xmlns:a="http://schemas.openxmlformats.org/drawingml/2006/main">
              <a:ext uri="{FF2B5EF4-FFF2-40B4-BE49-F238E27FC236}">
                <a16:creationId xmlns:a16="http://schemas.microsoft.com/office/drawing/2014/main" id="{852750C0-4A0F-4468-A17E-9440A166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1500"/>
            <a:ext cx="2428875" cy="99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已有缺口</a:t>
            </a:r>
          </a:p>
        </p:txBody>
      </p:sp>
      <p:sp>
        <p:nvSpPr>
          <p:cNvPr id="7" name="entry-content-1">
            <a:extLst xmlns:a="http://schemas.openxmlformats.org/drawingml/2006/main">
              <a:ext uri="{FF2B5EF4-FFF2-40B4-BE49-F238E27FC236}">
                <a16:creationId xmlns:a16="http://schemas.microsoft.com/office/drawing/2014/main" id="{8B782066-7540-432B-8100-882CC580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11500"/>
            <a:ext cx="8096250" cy="99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课外补关键核验与真实 AI 记录</a:t>
            </a:r>
          </a:p>
        </p:txBody>
      </p:sp>
      <p:sp>
        <p:nvSpPr>
          <p:cNvPr id="8" name="entry-rule-1">
            <a:extLst xmlns:a="http://schemas.openxmlformats.org/drawingml/2006/main">
              <a:ext uri="{FF2B5EF4-FFF2-40B4-BE49-F238E27FC236}">
                <a16:creationId xmlns:a16="http://schemas.microsoft.com/office/drawing/2014/main" id="{9FC0C938-065A-471F-98CE-C3050183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750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8DFE5"/>
            </a:solidFill>
          </a:ln>
        </p:spPr>
      </p:sp>
      <p:sp>
        <p:nvSpPr>
          <p:cNvPr id="9" name="entry-label-2">
            <a:extLst xmlns:a="http://schemas.openxmlformats.org/drawingml/2006/main">
              <a:ext uri="{FF2B5EF4-FFF2-40B4-BE49-F238E27FC236}">
                <a16:creationId xmlns:a16="http://schemas.microsoft.com/office/drawing/2014/main" id="{61481D6A-6FB7-4848-BDFE-ECE974CD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2750"/>
            <a:ext cx="2428875" cy="99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下课衔接</a:t>
            </a:r>
          </a:p>
        </p:txBody>
      </p:sp>
      <p:sp>
        <p:nvSpPr>
          <p:cNvPr id="10" name="entry-content-2">
            <a:extLst xmlns:a="http://schemas.openxmlformats.org/drawingml/2006/main">
              <a:ext uri="{FF2B5EF4-FFF2-40B4-BE49-F238E27FC236}">
                <a16:creationId xmlns:a16="http://schemas.microsoft.com/office/drawing/2014/main" id="{DA9B56A6-0117-46D6-87F1-F3EC56D9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22750"/>
            <a:ext cx="8096250" cy="99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第二项条件不同或有冲突的来源</a:t>
            </a:r>
          </a:p>
        </p:txBody>
      </p:sp>
      <p:sp>
        <p:nvSpPr>
          <p:cNvPr id="11" name="takeaway">
            <a:extLst xmlns:a="http://schemas.openxmlformats.org/drawingml/2006/main">
              <a:ext uri="{FF2B5EF4-FFF2-40B4-BE49-F238E27FC236}">
                <a16:creationId xmlns:a16="http://schemas.microsoft.com/office/drawing/2014/main" id="{9DBAB27F-D32F-440E-8E2C-181F2B8A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带第一张卡与一项补足缺口的来源。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56AB8C45-43E2-4358-BDA4-04B8A62A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5722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2026-10-20T14:39:07.6140000Z</dcterms:created>
  <dcterms:modified xsi:type="dcterms:W3CDTF">2026-10-20T14:39:07.6140000Z</dcterms:modified>
</coreProperties>
</file>