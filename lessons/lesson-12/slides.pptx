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23c7ee06224d20" /><Relationship Type="http://schemas.openxmlformats.org/officeDocument/2006/relationships/extended-properties" Target="/docProps/app.xml" Id="Rce3302c4ddb843db" /><Relationship Type="http://schemas.openxmlformats.org/officeDocument/2006/relationships/officeDocument" Target="/ppt/presentation.xml" Id="Rd434ff21eca541e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46433200ef4fec"/>
  </p:sldMasterIdLst>
  <p:notesMasterIdLst>
    <p:notesMasterId xmlns:r="http://schemas.openxmlformats.org/officeDocument/2006/relationships" r:id="R7db7585302d149b6"/>
  </p:notesMasterIdLst>
  <p:sldIdLst>
    <p:sldId xmlns:r="http://schemas.openxmlformats.org/officeDocument/2006/relationships" id="256" r:id="R71ff44f29d40494d"/>
    <p:sldId xmlns:r="http://schemas.openxmlformats.org/officeDocument/2006/relationships" id="257" r:id="R2f5823493b3442cb"/>
    <p:sldId xmlns:r="http://schemas.openxmlformats.org/officeDocument/2006/relationships" id="258" r:id="Rc01188d1e5524e1b"/>
    <p:sldId xmlns:r="http://schemas.openxmlformats.org/officeDocument/2006/relationships" id="259" r:id="R036f4b22f6ef43ec"/>
    <p:sldId xmlns:r="http://schemas.openxmlformats.org/officeDocument/2006/relationships" id="260" r:id="R6ed508816cdd443a"/>
    <p:sldId xmlns:r="http://schemas.openxmlformats.org/officeDocument/2006/relationships" id="261" r:id="Rcd93e8f319c04677"/>
    <p:sldId xmlns:r="http://schemas.openxmlformats.org/officeDocument/2006/relationships" id="262" r:id="R388b57c3061d4225"/>
    <p:sldId xmlns:r="http://schemas.openxmlformats.org/officeDocument/2006/relationships" id="263" r:id="Rccf2a411741c4747"/>
    <p:sldId xmlns:r="http://schemas.openxmlformats.org/officeDocument/2006/relationships" id="264" r:id="Rb2c4947c48b44b17"/>
    <p:sldId xmlns:r="http://schemas.openxmlformats.org/officeDocument/2006/relationships" id="265" r:id="Ra1897e409b5646e7"/>
    <p:sldId xmlns:r="http://schemas.openxmlformats.org/officeDocument/2006/relationships" id="266" r:id="R4f8f40060156492c"/>
    <p:sldId xmlns:r="http://schemas.openxmlformats.org/officeDocument/2006/relationships" id="267" r:id="Ra9710fbd59c84c53"/>
    <p:sldId xmlns:r="http://schemas.openxmlformats.org/officeDocument/2006/relationships" id="268" r:id="R60e8ff90fa3742ed"/>
    <p:sldId xmlns:r="http://schemas.openxmlformats.org/officeDocument/2006/relationships" id="269" r:id="R604c7be4617a41c2"/>
    <p:sldId xmlns:r="http://schemas.openxmlformats.org/officeDocument/2006/relationships" id="270" r:id="Ra4ca8eb32c3d405f"/>
    <p:sldId xmlns:r="http://schemas.openxmlformats.org/officeDocument/2006/relationships" id="271" r:id="R1c9ff5b3f4ac432f"/>
    <p:sldId xmlns:r="http://schemas.openxmlformats.org/officeDocument/2006/relationships" id="272" r:id="Rbd36ca720d8449a4"/>
    <p:sldId xmlns:r="http://schemas.openxmlformats.org/officeDocument/2006/relationships" id="273" r:id="R717fe18d6bf843a7"/>
    <p:sldId xmlns:r="http://schemas.openxmlformats.org/officeDocument/2006/relationships" id="274" r:id="Ra5de2e762e2e4746"/>
    <p:sldId xmlns:r="http://schemas.openxmlformats.org/officeDocument/2006/relationships" id="275" r:id="R6a4b720591734639"/>
    <p:sldId xmlns:r="http://schemas.openxmlformats.org/officeDocument/2006/relationships" id="276" r:id="R6483a7a13cdf414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c6fd1a3daaa41e7" /><Relationship Type="http://schemas.openxmlformats.org/officeDocument/2006/relationships/slideMaster" Target="/ppt/slideMasters/slideMaster1.xml" Id="Rcb46433200ef4fec" /><Relationship Type="http://schemas.openxmlformats.org/officeDocument/2006/relationships/notesMaster" Target="/ppt/notesMasters/notesMaster1.xml" Id="R7db7585302d149b6" /><Relationship Type="http://schemas.openxmlformats.org/officeDocument/2006/relationships/presProps" Target="/ppt/presProps.xml" Id="Rf98594c2e1fd4fec" /><Relationship Type="http://schemas.openxmlformats.org/officeDocument/2006/relationships/viewProps" Target="/ppt/viewProps.xml" Id="R147ee637f7ed423b" /><Relationship Type="http://schemas.openxmlformats.org/officeDocument/2006/relationships/tableStyles" Target="/ppt/tableStyles.xml" Id="Ra59044f33c02426c" /><Relationship Type="http://schemas.openxmlformats.org/officeDocument/2006/relationships/slide" Target="/ppt/slides/slide1.xml" Id="R71ff44f29d40494d" /><Relationship Type="http://schemas.openxmlformats.org/officeDocument/2006/relationships/slide" Target="/ppt/slides/slide2.xml" Id="R2f5823493b3442cb" /><Relationship Type="http://schemas.openxmlformats.org/officeDocument/2006/relationships/slide" Target="/ppt/slides/slide3.xml" Id="Rc01188d1e5524e1b" /><Relationship Type="http://schemas.openxmlformats.org/officeDocument/2006/relationships/slide" Target="/ppt/slides/slide4.xml" Id="R036f4b22f6ef43ec" /><Relationship Type="http://schemas.openxmlformats.org/officeDocument/2006/relationships/slide" Target="/ppt/slides/slide5.xml" Id="R6ed508816cdd443a" /><Relationship Type="http://schemas.openxmlformats.org/officeDocument/2006/relationships/slide" Target="/ppt/slides/slide6.xml" Id="Rcd93e8f319c04677" /><Relationship Type="http://schemas.openxmlformats.org/officeDocument/2006/relationships/slide" Target="/ppt/slides/slide7.xml" Id="R388b57c3061d4225" /><Relationship Type="http://schemas.openxmlformats.org/officeDocument/2006/relationships/slide" Target="/ppt/slides/slide8.xml" Id="Rccf2a411741c4747" /><Relationship Type="http://schemas.openxmlformats.org/officeDocument/2006/relationships/slide" Target="/ppt/slides/slide9.xml" Id="Rb2c4947c48b44b17" /><Relationship Type="http://schemas.openxmlformats.org/officeDocument/2006/relationships/slide" Target="/ppt/slides/slide10.xml" Id="Ra1897e409b5646e7" /><Relationship Type="http://schemas.openxmlformats.org/officeDocument/2006/relationships/slide" Target="/ppt/slides/slide11.xml" Id="R4f8f40060156492c" /><Relationship Type="http://schemas.openxmlformats.org/officeDocument/2006/relationships/slide" Target="/ppt/slides/slide12.xml" Id="Ra9710fbd59c84c53" /><Relationship Type="http://schemas.openxmlformats.org/officeDocument/2006/relationships/slide" Target="/ppt/slides/slide13.xml" Id="R60e8ff90fa3742ed" /><Relationship Type="http://schemas.openxmlformats.org/officeDocument/2006/relationships/slide" Target="/ppt/slides/slide14.xml" Id="R604c7be4617a41c2" /><Relationship Type="http://schemas.openxmlformats.org/officeDocument/2006/relationships/slide" Target="/ppt/slides/slide15.xml" Id="Ra4ca8eb32c3d405f" /><Relationship Type="http://schemas.openxmlformats.org/officeDocument/2006/relationships/slide" Target="/ppt/slides/slide16.xml" Id="R1c9ff5b3f4ac432f" /><Relationship Type="http://schemas.openxmlformats.org/officeDocument/2006/relationships/slide" Target="/ppt/slides/slide17.xml" Id="Rbd36ca720d8449a4" /><Relationship Type="http://schemas.openxmlformats.org/officeDocument/2006/relationships/slide" Target="/ppt/slides/slide18.xml" Id="R717fe18d6bf843a7" /><Relationship Type="http://schemas.openxmlformats.org/officeDocument/2006/relationships/slide" Target="/ppt/slides/slide19.xml" Id="Ra5de2e762e2e4746" /><Relationship Type="http://schemas.openxmlformats.org/officeDocument/2006/relationships/slide" Target="/ppt/slides/slide20.xml" Id="R6a4b720591734639" /><Relationship Type="http://schemas.openxmlformats.org/officeDocument/2006/relationships/slide" Target="/ppt/slides/slide21.xml" Id="R6483a7a13cdf41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2231a76a0a347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d4364d71a14617" /><Relationship Type="http://schemas.openxmlformats.org/officeDocument/2006/relationships/notesMaster" Target="/ppt/notesMasters/notesMaster1.xml" Id="R0518256fd25f4c3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359759b12645d9" /><Relationship Type="http://schemas.openxmlformats.org/officeDocument/2006/relationships/notesMaster" Target="/ppt/notesMasters/notesMaster1.xml" Id="R3ffb8235cbce40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9c225069fb4b4a" /><Relationship Type="http://schemas.openxmlformats.org/officeDocument/2006/relationships/notesMaster" Target="/ppt/notesMasters/notesMaster1.xml" Id="R05b05088593e4cb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40d296bc48f4466" /><Relationship Type="http://schemas.openxmlformats.org/officeDocument/2006/relationships/notesMaster" Target="/ppt/notesMasters/notesMaster1.xml" Id="Rab0250e8e0cd478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b464639ea94a0e" /><Relationship Type="http://schemas.openxmlformats.org/officeDocument/2006/relationships/notesMaster" Target="/ppt/notesMasters/notesMaster1.xml" Id="R8f77ccb6fefb4d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6e895d6b8d4e56" /><Relationship Type="http://schemas.openxmlformats.org/officeDocument/2006/relationships/notesMaster" Target="/ppt/notesMasters/notesMaster1.xml" Id="R352aefefc9de49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2dbc0dcf2464560" /><Relationship Type="http://schemas.openxmlformats.org/officeDocument/2006/relationships/notesMaster" Target="/ppt/notesMasters/notesMaster1.xml" Id="R103dba3f798a447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abde211bbf4f5b" /><Relationship Type="http://schemas.openxmlformats.org/officeDocument/2006/relationships/notesMaster" Target="/ppt/notesMasters/notesMaster1.xml" Id="Re50749ff85ca43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309bdc66e44679" /><Relationship Type="http://schemas.openxmlformats.org/officeDocument/2006/relationships/notesMaster" Target="/ppt/notesMasters/notesMaster1.xml" Id="Rc21217968f2b4d0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b445805485c464d" /><Relationship Type="http://schemas.openxmlformats.org/officeDocument/2006/relationships/notesMaster" Target="/ppt/notesMasters/notesMaster1.xml" Id="R63556a3abc634da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410b26436447b3" /><Relationship Type="http://schemas.openxmlformats.org/officeDocument/2006/relationships/notesMaster" Target="/ppt/notesMasters/notesMaster1.xml" Id="R331a63039b3744a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ffa1afd05c54c4a" /><Relationship Type="http://schemas.openxmlformats.org/officeDocument/2006/relationships/notesMaster" Target="/ppt/notesMasters/notesMaster1.xml" Id="Ra635476b698e4fc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c8f8f8821bf419d" /><Relationship Type="http://schemas.openxmlformats.org/officeDocument/2006/relationships/notesMaster" Target="/ppt/notesMasters/notesMaster1.xml" Id="Rfc9b282cd4224f0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cf4e91205fa4056" /><Relationship Type="http://schemas.openxmlformats.org/officeDocument/2006/relationships/notesMaster" Target="/ppt/notesMasters/notesMaster1.xml" Id="R1bd8f4c56985455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568d35db6584336" /><Relationship Type="http://schemas.openxmlformats.org/officeDocument/2006/relationships/notesMaster" Target="/ppt/notesMasters/notesMaster1.xml" Id="Rfecee0aeaac445e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041c27bc2c04a77" /><Relationship Type="http://schemas.openxmlformats.org/officeDocument/2006/relationships/notesMaster" Target="/ppt/notesMasters/notesMaster1.xml" Id="Rf592e1fd4b54447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52bb07608db4643" /><Relationship Type="http://schemas.openxmlformats.org/officeDocument/2006/relationships/notesMaster" Target="/ppt/notesMasters/notesMaster1.xml" Id="R984bdfa915ae4f3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7b31b7901e640c1" /><Relationship Type="http://schemas.openxmlformats.org/officeDocument/2006/relationships/notesMaster" Target="/ppt/notesMasters/notesMaster1.xml" Id="Rc071a2d15a2d488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5845c25ce6e432e" /><Relationship Type="http://schemas.openxmlformats.org/officeDocument/2006/relationships/notesMaster" Target="/ppt/notesMasters/notesMaster1.xml" Id="Rb9d1aeeb7315400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1c7d3af36b74b3f" /><Relationship Type="http://schemas.openxmlformats.org/officeDocument/2006/relationships/notesMaster" Target="/ppt/notesMasters/notesMaster1.xml" Id="Rf8e6843461bd455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015c103303942d9" /><Relationship Type="http://schemas.openxmlformats.org/officeDocument/2006/relationships/notesMaster" Target="/ppt/notesMasters/notesMaster1.xml" Id="R551f834830c443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本课把第 10 课单次任务契约和第 11 课冻结执行队列升级为完整可审计工作流，第 13 课评价与复盘。封面仅呈现正式课名。开场请学生标出已有任务中一项尚未封装的状态。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学生动作：请学生举手：最近一次用 Agent 时，是否看过它的权限声明或停止条件？只听回答，不评价。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课程定位以 [curriculum.md](../../course/curriculum.md) 第 4-5 条为准；[assignments.md](../../course/assignments.md) 验证门条件；[syllabus.md](../../course/syllabus.md) 第 12 课。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先以 AutoResearch commit 228791f 拆解真实 program.md，再回到同一阅读卡任务设计个人工作流。八要素是课程分析框架，不能声称原项目已完整实现课程权限或审核制度。P03–P08 只补前两课尚未显式化的设计决定。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学生动作：让学生预测：现成 Skill 通常在哪几项上最不透明？请学生打开或领取拆解卡模板。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[AutoResearch `program.md`（固定 commit `228791f`）](https://github.com/karpathy/autoresearch/blob/228791fb499afffb54b46200aca536f79142f117/program.md)；[handout.md §二](./handout.md)。2026-09-13 回源核验；工程案例字段摘述，课程迁移要求另行标明，不作为通用自主科研能力证据。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这是固定 commit 的真实契约字段摘述。单次训练预算为 300 秒，不含启动与编译；原项目优化 val_bpb，只允许改训练代码，不许改 prepare.py、评价函数或增依赖。日志是允许生成的工件，因此“仅修改 train.py”特指实验代码范围。右侧是课程阅读卡的迁移要求，属于不同任务。请学生从左侧指出两条禁止项。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学生动作：请学生指出 AutoResearch 契约里的两个禁止项，并说出自己工作流的输入和成功标准各一句。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[AutoResearch `program.md`（固定 commit `228791f`）](https://github.com/karpathy/autoresearch/blob/228791fb499afffb54b46200aca536f79142f117/program.md)；[handout.md §二](./handout.md)。2026-09-13 回源核验；工程案例字段摘述，课程迁移要求另行标明，不作为通用自主科研能力证据。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README.md、prepare.py、train.py 是原文规定的上下文。Git、run.log 和 results.tsv 承担不同状态角色，不能用聊天记忆替代。原项目每次重写 run.log；跨实验追踪依赖账本。课程阅读卡要补每个 run ID 的输入快照与独立日志，不能只留下最后一次日志。请学生列出自己的最小 Context。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学生动作：请学生判断：你最近一次用 Agent 时，状态主要存在哪？并列出自己工作流应给 Agent 的最小材料清单。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[AutoResearch `program.md`（固定 commit `228791f`）](https://github.com/karpathy/autoresearch/blob/228791fb499afffb54b46200aca536f79142f117/program.md)；[handout.md §二](./handout.md)。2026-09-13 回源核验；工程案例字段摘述，课程迁移要求另行标明，不作为通用自主科研能力证据。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左侧来自 program.md 的文字约束，不是已验证的操作系统沙箱或默认工具权限。命令要求包含 shell 执行，实际权限由宿主 Agent 配置决定。启动前有人确认设置；循环内并非逐次请求人工确认。右侧是课程另行要求的权限门，禁止把它归为 AutoResearch 原生能力。删除失败记录不属于可确认放行的普通动作。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学生动作：请学生指出自己工作流的"需确认"动作至少一项。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[AutoResearch `program.md`（固定 commit `228791f`）](https://github.com/karpathy/autoresearch/blob/228791fb499afffb54b46200aca536f79142f117/program.md)；[handout.md §二](./handout.md)。2026-09-13 回源核验；工程案例字段摘述，课程迁移要求另行标明，不作为通用自主科研能力证据。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AutoResearch 的方法优化循环会改变 train.py，按 val_bpb 决定保留或回退；原文同时要求权衡改进幅度与复杂度。单次训练预算固定不等于总预算固定：外层持续循环直到人工中断。课程冻结队列则不根据输出优劣改方法或删运行，处理预定 120 份后结束。采用原项目设计时须另定总轮次、总预算和人工审核点。请学生说出两种循环停止条件的差别。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学生动作：请学生判断自己的科研动作需要固定链还是自主循环，并把自己的工作流对号入座。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[AutoResearch `program.md`（固定 commit `228791f`）](https://github.com/karpathy/autoresearch/blob/228791fb499afffb54b46200aca536f79142f117/program.md)；[handout.md §二](./handout.md)。2026-09-13 回源核验；工程案例字段摘述，课程迁移要求另行标明，不作为通用自主科研能力证据。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这里展示真实字段定义，没有填写实验数值，不是系统运行截图。results.tsv 保留 keep、discard、crash 及代码身份；代码回退不等于删除失败账本。原项目将 results.tsv 留在 Git 跟踪之外，课程记录策略应显式安排存放与备份，不照搬为统一规范。阅读卡任务为每次输出绑定 run ID，保留失败和后续人工处置。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学生动作：请学生检查自己工作流的一次运行会留下哪些工件。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[AutoResearch `program.md`（固定 commit `228791f`）](https://github.com/karpathy/autoresearch/blob/228791fb499afffb54b46200aca536f79142f117/program.md)；[handout.md §二](./handout.md)。2026-09-13 回源核验；工程案例字段摘述，课程迁移要求另行标明，不作为通用自主科研能力证据。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 AutoResearch 将 evaluate_bpb 固定在只读 prepare.py，限制 Agent 修改评价规则。只读评价函数并不等于评价数据对执行端不可读。课程阅读卡还要求 gold 不进入生成 Context，并由独立评价端在输出完成后评分；人工审核决定方法、结论及后续修订。失败回写保留 trace，禁止选择性删除。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学生动作：请学生说出自己工作流的 baseline 是什么。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[AutoResearch `program.md`（固定 commit `228791f`）](https://github.com/karpathy/autoresearch/blob/228791fb499afffb54b46200aca536f79142f117/program.md)；[handout.md §二](./handout.md)。2026-09-13 回源核验；工程案例字段摘述，课程迁移要求另行标明，不作为通用自主科研能力证据。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用同一阅读卡任务提问：重复解析由脚本承担，预定生成与状态记录适合固定链，涉及研究判断时设置人工确认。坐标用于比较重复性与判断风险，不把 Agent 视为能力等级。让学生先判断并给出一个理由。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学生动作：请学生举手判断每个动作适合哪一类。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[handout.md §三](./handout.md)。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脚本适合固定输入输出，固定工作流显式管理状态与恢复，Agent 适合需要动态决策的动作，复杂系统需要额外治理成本。阅读卡冻结任务优先选能完成任务的最低复杂度，选用动态决策时同时指定独立评价与停止条件。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[handout.md §三](./handout.md)。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沿用第 10–11 课同一真实科研动作。本人课题、导师组任务和课堂原型是同一动作的收窄层级，不另开项目。请学生写出输入与一个可检查输出。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学生动作：请学生 30 秒内确定自己要封装的科研动作。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[handout.md §四·1](./handout.md)。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agent-workflow.md 是个人说明的入口，可链接 contract.md 等实现文件。八要素在屏显中按紧邻角色合并呈现，Context 与状态、Evals 与人工审核仍须各有明确字段。先补契约，再运行或演示最小路径。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学生动作：学生开始填写模板。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[handout.md §四·2](./handout.md)。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 W 指开发阶段允许修改执行代码和写运行目录；进入冻结批次后配置与方法锁定。右侧 gold.json 的 R 仅属于独立评价端，执行端禁止读取或复制 gold，不能将右侧 R 当作全项目权限。输出生成后才交评价端，协议变更由人工审核并另开版本，不回改当前冻结批次。请学生标明角色与拒绝点。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学生动作：学生在自己的权限栏分别标出执行端不可读 gold 与独立评价端可读 gold。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[assignments.md](../../course/assignments.md) 验证门条件；[handout.md §四·3](./handout.md)；[第 11 课讲义](../lesson-11/handout.md)。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这是课程虚构案例，只演示工作流契约，不预设真实效果。重点是它直接封装第 10–11 课已有任务，没有重开一个证据地图项目。人工基准不进入生成 Context，评价流程与执行流程隔离。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学生动作：请学生对照自己的模板，看契约字段是否填得同样具体。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[handout.md §五](./handout.md)。案例为虚构教学情境，须在页面和讲述中标明。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屏显是课程虚构演示项目的最小目录，不代表已运行的软件或真实结果。教师用预置输入和正常、失败 trace 演示可复现路径。课堂最低产出仍是一条 trace 和失败恢复位置；右侧正常与失败路径是教师演示检查点，不给学生增加两个实际运行的硬门。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学生动作：现场确认演示项目无敏感材料。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[handout.md §四·4、§五](./handout.md)；课程虚构目录与 trace，用于教师演示，不代表真实执行结果。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这是课程虚构失败 trace。执行端尝试读取 gold 后遭拒绝，记录越权、收窄输入并用新 run ID 重试，最后由人核验。与 P15 正常路径形成对照。请学生指出拒绝发生在哪个角色边界，说明如何保留失败。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学生动作：请学生指出失败 trace 中最值得保留的一条信息，并现场给出一个限制条件，教师加入改写后的契约。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[handout.md §四·3 §六](./handout.md)；[第 1 课讲义 §五·第四步](../lesson-01/handout.md)。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第一段先定契约、权限与模式。课堂环境可用时直接运行最小路径；环境受限时使用教师预置输入和 trace 做可复现演示，不把环境故障变成纸面设计豁免。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学生动作：本页停留在屏幕上。教师巡视只处理共同卡点。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[handout.md §四·4 §七](./handout.md)。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教师先用共性样例做中点点评，再让学生继续完成最小原型或可复现演示，抽查 Context / Memory、权限栏、trace、评价计划与失败恢复。第 13 课基于课前已有运行结果完成评价、影响报告、证据回写与合规更新。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学生动作：教师中点点评后，学生对照清单继续实现或演示，生成 trace 并补失败恢复规则。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[assignments.md](../../course/assignments.md) 验证门条件；[handout.md §四·3](./handout.md)。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每人约 3 分钟：一人 45 秒说明动作和契约；同伴按三问反馈；作者记录处理决定。反馈不要求立即改写。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学生动作：两人互查；人数为奇数时组成三人组，每人缩短说明时间。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同伴反馈为形成性活动，不单独计分，不共同提交。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回收八要素契约、权限、Evals 与失败恢复的关系。本页不新增任务。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学生动作：学生指出第 13 课验证前最需要补齐的一项。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[handout.md](./handout.md) §二-§六；[teaching-plan.md](./teaching-plan.md) 第四至六节。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回扣本课目标：学生已形成一份可审计的工作流说明、可运行或可复现演示的最小原型、trace 和评价计划。课后补齐批量运行结果与失败记录；第 13 课直接用已有结果完成评价和失败复盘，不从零重跑完整研究。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学生动作：学生提交退出卡或保存在个人项目 `notes/`。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[assignments.md](../../course/assignments.md) 验证门条件；[reading-list.md](../../course/reading-list.md) 第 12-13 课。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8a22e7746a4260" /><Relationship Type="http://schemas.openxmlformats.org/officeDocument/2006/relationships/image" Target="/ppt/media/image.png" Id="R4a6b975746c5434c" /><Relationship Type="http://schemas.openxmlformats.org/officeDocument/2006/relationships/image" Target="/ppt/media/image2.png" Id="Rd9c6bf3402a04e07" /><Relationship Type="http://schemas.openxmlformats.org/officeDocument/2006/relationships/image" Target="/ppt/media/image3.png" Id="R5b8eca3b2bd9466c" /><Relationship Type="http://schemas.openxmlformats.org/officeDocument/2006/relationships/image" Target="/ppt/media/image4.png" Id="R716ceb19997e4f8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e9de2084634ec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e293f3442b4793" /><Relationship Type="http://schemas.openxmlformats.org/officeDocument/2006/relationships/image" Target="/ppt/media/image2.png" Id="R410f6f8e29944f7c" /><Relationship Type="http://schemas.openxmlformats.org/officeDocument/2006/relationships/image" Target="/ppt/media/image5.png" Id="Rdfb6332ad45e449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443cbc1f104619" /><Relationship Type="http://schemas.openxmlformats.org/officeDocument/2006/relationships/image" Target="/ppt/media/image.png" Id="R1fcf83cafadb4051" /><Relationship Type="http://schemas.openxmlformats.org/officeDocument/2006/relationships/image" Target="/ppt/media/image3.png" Id="R42a7bc79cfe94d5d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6b975746c5434c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9c6bf3402a04e07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b8eca3b2bd9466c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6ceb19997e4f8f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10f6f8e29944f7c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b6332ad45e44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cf83cafadb4051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a7bc79cfe94d5d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689b4fc80441c2" /><Relationship Type="http://schemas.openxmlformats.org/officeDocument/2006/relationships/slideLayout" Target="/ppt/slideLayouts/slideLayout1.xml" Id="R80d0cb15b7144838" /><Relationship Type="http://schemas.openxmlformats.org/officeDocument/2006/relationships/slideLayout" Target="/ppt/slideLayouts/slideLayout2.xml" Id="R98a70c8556334b47" /><Relationship Type="http://schemas.openxmlformats.org/officeDocument/2006/relationships/slideLayout" Target="/ppt/slideLayouts/slideLayout3.xml" Id="Rb2f165273d284805" /><Relationship Type="http://schemas.openxmlformats.org/officeDocument/2006/relationships/slideLayout" Target="/ppt/slideLayouts/slideLayout4.xml" Id="Rf96ba87d36b841c9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d0cb15b7144838"/>
    <p:sldLayoutId xmlns:r="http://schemas.openxmlformats.org/officeDocument/2006/relationships" id="2147483650" r:id="R98a70c8556334b47"/>
    <p:sldLayoutId xmlns:r="http://schemas.openxmlformats.org/officeDocument/2006/relationships" id="2147483651" r:id="Rb2f165273d284805"/>
    <p:sldLayoutId xmlns:r="http://schemas.openxmlformats.org/officeDocument/2006/relationships" id="2147483652" r:id="Rf96ba87d36b841c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460264481a4488" /><Relationship Type="http://schemas.openxmlformats.org/officeDocument/2006/relationships/notesSlide" Target="/ppt/notesSlides/notesSlide1.xml" Id="R08ab5c3073c144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4338c431cc043d2" /><Relationship Type="http://schemas.openxmlformats.org/officeDocument/2006/relationships/image" Target="/ppt/media/image6.png" Id="R1409537be4184854" /><Relationship Type="http://schemas.openxmlformats.org/officeDocument/2006/relationships/notesSlide" Target="/ppt/notesSlides/notesSlide2.xml" Id="R30f345bd4e38442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373e5c7a4c34c35" /><Relationship Type="http://schemas.openxmlformats.org/officeDocument/2006/relationships/image" Target="/ppt/media/image7.png" Id="Ra48d2836e151400a" /><Relationship Type="http://schemas.openxmlformats.org/officeDocument/2006/relationships/notesSlide" Target="/ppt/notesSlides/notesSlide3.xml" Id="R0fe209779a4b410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56a8905bb624a22" /><Relationship Type="http://schemas.openxmlformats.org/officeDocument/2006/relationships/image" Target="/ppt/media/image8.png" Id="R1369680a133d457f" /><Relationship Type="http://schemas.openxmlformats.org/officeDocument/2006/relationships/notesSlide" Target="/ppt/notesSlides/notesSlide4.xml" Id="R880bfb67683143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d8ab755daf54a92" /><Relationship Type="http://schemas.openxmlformats.org/officeDocument/2006/relationships/image" Target="/ppt/media/image9.png" Id="R2135a7a1a0374068" /><Relationship Type="http://schemas.openxmlformats.org/officeDocument/2006/relationships/notesSlide" Target="/ppt/notesSlides/notesSlide5.xml" Id="Rb289f177b48048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b65b680569b47bd" /><Relationship Type="http://schemas.openxmlformats.org/officeDocument/2006/relationships/image" Target="/ppt/media/image10.png" Id="R6e5c219a23734c65" /><Relationship Type="http://schemas.openxmlformats.org/officeDocument/2006/relationships/notesSlide" Target="/ppt/notesSlides/notesSlide6.xml" Id="R726981af5436496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f2264f8c7ca4196" /><Relationship Type="http://schemas.openxmlformats.org/officeDocument/2006/relationships/image" Target="/ppt/media/image11.png" Id="R7c3003461f3d4580" /><Relationship Type="http://schemas.openxmlformats.org/officeDocument/2006/relationships/notesSlide" Target="/ppt/notesSlides/notesSlide7.xml" Id="R2579d751916c470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2fd6f417692450b" /><Relationship Type="http://schemas.openxmlformats.org/officeDocument/2006/relationships/image" Target="/ppt/media/image12.png" Id="R4ae6e9ea8d8343bf" /><Relationship Type="http://schemas.openxmlformats.org/officeDocument/2006/relationships/notesSlide" Target="/ppt/notesSlides/notesSlide8.xml" Id="R83aa3c0cf9444d3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5b2180b1ea540d3" /><Relationship Type="http://schemas.openxmlformats.org/officeDocument/2006/relationships/image" Target="/ppt/media/image13.png" Id="R115fdea9531b488c" /><Relationship Type="http://schemas.openxmlformats.org/officeDocument/2006/relationships/notesSlide" Target="/ppt/notesSlides/notesSlide9.xml" Id="R99e2acbb85964e0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204b33ab07d4566" /><Relationship Type="http://schemas.openxmlformats.org/officeDocument/2006/relationships/image" Target="/ppt/media/image14.png" Id="R2e75cfb9a8b844b3" /><Relationship Type="http://schemas.openxmlformats.org/officeDocument/2006/relationships/notesSlide" Target="/ppt/notesSlides/notesSlide10.xml" Id="Rf0ed43dbcdfa4cc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dcc9008943c4320" /><Relationship Type="http://schemas.openxmlformats.org/officeDocument/2006/relationships/image" Target="/ppt/media/image15.png" Id="Rad7f48fe644b40c0" /><Relationship Type="http://schemas.openxmlformats.org/officeDocument/2006/relationships/notesSlide" Target="/ppt/notesSlides/notesSlide11.xml" Id="Re9bcc18d0af74a5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7fd56208da54713" /><Relationship Type="http://schemas.openxmlformats.org/officeDocument/2006/relationships/image" Target="/ppt/media/image16.png" Id="Rceb2a8372abb4a83" /><Relationship Type="http://schemas.openxmlformats.org/officeDocument/2006/relationships/notesSlide" Target="/ppt/notesSlides/notesSlide12.xml" Id="R21a9a319cc8149d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9f32eddbfb040fe" /><Relationship Type="http://schemas.openxmlformats.org/officeDocument/2006/relationships/image" Target="/ppt/media/image17.png" Id="R03f68ea1b99542c9" /><Relationship Type="http://schemas.openxmlformats.org/officeDocument/2006/relationships/notesSlide" Target="/ppt/notesSlides/notesSlide13.xml" Id="R3cb873b01f4f4d1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ee6e3ad9fc04d25" /><Relationship Type="http://schemas.openxmlformats.org/officeDocument/2006/relationships/image" Target="/ppt/media/image18.png" Id="Rc1f7a37d70fc4b10" /><Relationship Type="http://schemas.openxmlformats.org/officeDocument/2006/relationships/notesSlide" Target="/ppt/notesSlides/notesSlide14.xml" Id="R4906beca071647e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807b74a677849b0" /><Relationship Type="http://schemas.openxmlformats.org/officeDocument/2006/relationships/image" Target="/ppt/media/image19.png" Id="R719532e5428349c7" /><Relationship Type="http://schemas.openxmlformats.org/officeDocument/2006/relationships/notesSlide" Target="/ppt/notesSlides/notesSlide15.xml" Id="Rba908192c7874bd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7c50a6fe92a4af6" /><Relationship Type="http://schemas.openxmlformats.org/officeDocument/2006/relationships/image" Target="/ppt/media/image20.png" Id="R6af4d36198c143c8" /><Relationship Type="http://schemas.openxmlformats.org/officeDocument/2006/relationships/notesSlide" Target="/ppt/notesSlides/notesSlide16.xml" Id="R60220012b0ee47a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5935a26f1684cb6" /><Relationship Type="http://schemas.openxmlformats.org/officeDocument/2006/relationships/image" Target="/ppt/media/image21.png" Id="R84643859cf0d48c9" /><Relationship Type="http://schemas.openxmlformats.org/officeDocument/2006/relationships/notesSlide" Target="/ppt/notesSlides/notesSlide17.xml" Id="Rf21a6780542c431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6017e91c3b84719" /><Relationship Type="http://schemas.openxmlformats.org/officeDocument/2006/relationships/image" Target="/ppt/media/image22.png" Id="Rfc1c8b273c9849e7" /><Relationship Type="http://schemas.openxmlformats.org/officeDocument/2006/relationships/notesSlide" Target="/ppt/notesSlides/notesSlide18.xml" Id="R99f4da1218a5432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701f997294e49b2" /><Relationship Type="http://schemas.openxmlformats.org/officeDocument/2006/relationships/image" Target="/ppt/media/image23.png" Id="R56cac36951584cda" /><Relationship Type="http://schemas.openxmlformats.org/officeDocument/2006/relationships/notesSlide" Target="/ppt/notesSlides/notesSlide19.xml" Id="R033641f6b73045f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d367e0006a34a52" /><Relationship Type="http://schemas.openxmlformats.org/officeDocument/2006/relationships/image" Target="/ppt/media/image24.png" Id="R09e5d4544aed4ba7" /><Relationship Type="http://schemas.openxmlformats.org/officeDocument/2006/relationships/notesSlide" Target="/ppt/notesSlides/notesSlide20.xml" Id="R6886202868b7424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5619369eb914753" /><Relationship Type="http://schemas.openxmlformats.org/officeDocument/2006/relationships/image" Target="/ppt/media/image25.png" Id="R066c7fededb44dcc" /><Relationship Type="http://schemas.openxmlformats.org/officeDocument/2006/relationships/notesSlide" Target="/ppt/notesSlides/notesSlide21.xml" Id="R3839bcb111f24f7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FD4937E-9B10-4B33-AB2F-C3472EA2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第12讲 Agent/Skill 逻辑与自主 Research Workflow 设计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八个设计决定围绕同一工作流展开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1AD45271-749D-4061-803D-BECC4EDC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09537be4184854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6EE8992D-2CA2-4366-8FF2-17719BCD9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八个设计决定围绕同一工作流展开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78F352A8-CEDE-4C12-B57B-DBC23362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43A3AC0C-F55D-4E85-B03D-8644E07D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DDCEEB0B-6E1B-4956-BED9-FAEF5972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任务契约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4C8E86B3-94A5-4DFB-9554-596B687E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79070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F4AEF127-FBD7-4A13-A26F-71E36615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输入输出与边界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245325A5-D821-4AC6-B21C-083FD2158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23431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F87B7F69-FC28-4BB1-AB0F-68639D75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16192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Context / 状态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670A1C3B-6B8E-444E-9205-976B3167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6250" y="179070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A907D2ED-BAB6-4F9D-B894-8DCE3628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2495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可审计工件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B986281B-3FEA-4BDF-BBAF-97579652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23431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33C569A4-8A4D-4CAF-AAE7-F910241D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6192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工具权限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F81D905A-12B9-417C-BD9C-B215341C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179070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88FADD33-7548-4D33-81D1-4A2C4050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2495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五档与确认点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96CF3FB4-1735-40D8-BF46-6CBD06C7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E7EE6A5F-E82C-4F8F-B501-43B77A32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6192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执行循环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03DB9384-8D8A-4097-8F8F-0A54BD27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95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继承 L11 冻结循环</a:t>
            </a:r>
          </a:p>
        </p:txBody>
      </p:sp>
      <p:sp>
        <p:nvSpPr>
          <p:cNvPr id="25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23717D3B-D3FF-4F01-9222-45B4C4E5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6" name="chain-0">
            <a:extLst xmlns:a="http://schemas.openxmlformats.org/drawingml/2006/main">
              <a:ext uri="{FF2B5EF4-FFF2-40B4-BE49-F238E27FC236}">
                <a16:creationId xmlns:a16="http://schemas.microsoft.com/office/drawing/2014/main" id="{22D023A9-75DE-4DE3-BAF8-2C9757FF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工件追踪</a:t>
            </a:r>
          </a:p>
        </p:txBody>
      </p:sp>
      <p:sp>
        <p:nvSpPr>
          <p:cNvPr id="27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F8B7E982-0377-45C6-901A-73072E5E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88620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8" name="chain-sub-0">
            <a:extLst xmlns:a="http://schemas.openxmlformats.org/drawingml/2006/main">
              <a:ext uri="{FF2B5EF4-FFF2-40B4-BE49-F238E27FC236}">
                <a16:creationId xmlns:a16="http://schemas.microsoft.com/office/drawing/2014/main" id="{4A32309A-916A-485A-BAD6-07488E3B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910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run ID</a:t>
            </a:r>
          </a:p>
        </p:txBody>
      </p:sp>
      <p:sp>
        <p:nvSpPr>
          <p:cNvPr id="29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36862E82-E219-49DB-B943-E82A27EA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44386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30" name="chain-1">
            <a:extLst xmlns:a="http://schemas.openxmlformats.org/drawingml/2006/main">
              <a:ext uri="{FF2B5EF4-FFF2-40B4-BE49-F238E27FC236}">
                <a16:creationId xmlns:a16="http://schemas.microsoft.com/office/drawing/2014/main" id="{D91616C8-4294-4C80-9DC8-46EB626D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37147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Evals</a:t>
            </a:r>
          </a:p>
        </p:txBody>
      </p:sp>
      <p:sp>
        <p:nvSpPr>
          <p:cNvPr id="31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A2FAF685-A630-4330-9B98-C4C2B58F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6250" y="388620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2" name="chain-sub-1">
            <a:extLst xmlns:a="http://schemas.openxmlformats.org/drawingml/2006/main">
              <a:ext uri="{FF2B5EF4-FFF2-40B4-BE49-F238E27FC236}">
                <a16:creationId xmlns:a16="http://schemas.microsoft.com/office/drawing/2014/main" id="{9524ECA7-EBC8-407A-9260-FDE422D7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45910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独立评价</a:t>
            </a:r>
          </a:p>
        </p:txBody>
      </p:sp>
      <p:sp>
        <p:nvSpPr>
          <p:cNvPr id="33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9DC9AEE1-14A6-4A31-816E-F685C675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44386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34" name="chain-2">
            <a:extLst xmlns:a="http://schemas.openxmlformats.org/drawingml/2006/main">
              <a:ext uri="{FF2B5EF4-FFF2-40B4-BE49-F238E27FC236}">
                <a16:creationId xmlns:a16="http://schemas.microsoft.com/office/drawing/2014/main" id="{93F48441-4F6A-4C98-8B4F-17825978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37147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人工审核</a:t>
            </a:r>
          </a:p>
        </p:txBody>
      </p:sp>
      <p:sp>
        <p:nvSpPr>
          <p:cNvPr id="35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F18E038B-9DE5-49F1-95C3-937E06AEC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88620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6" name="chain-sub-2">
            <a:extLst xmlns:a="http://schemas.openxmlformats.org/drawingml/2006/main">
              <a:ext uri="{FF2B5EF4-FFF2-40B4-BE49-F238E27FC236}">
                <a16:creationId xmlns:a16="http://schemas.microsoft.com/office/drawing/2014/main" id="{09541EA7-8E49-426F-A1ED-205E8A132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45910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研究决定</a:t>
            </a:r>
          </a:p>
        </p:txBody>
      </p:sp>
      <p:sp>
        <p:nvSpPr>
          <p:cNvPr id="37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51F29B22-0723-4644-9052-39E1D932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4386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38" name="chain-3">
            <a:extLst xmlns:a="http://schemas.openxmlformats.org/drawingml/2006/main">
              <a:ext uri="{FF2B5EF4-FFF2-40B4-BE49-F238E27FC236}">
                <a16:creationId xmlns:a16="http://schemas.microsoft.com/office/drawing/2014/main" id="{94085A36-67AB-4509-B3FD-CD2F0B17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147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失败恢复</a:t>
            </a:r>
          </a:p>
        </p:txBody>
      </p:sp>
      <p:sp>
        <p:nvSpPr>
          <p:cNvPr id="39" name="chain-sub-3">
            <a:extLst xmlns:a="http://schemas.openxmlformats.org/drawingml/2006/main">
              <a:ext uri="{FF2B5EF4-FFF2-40B4-BE49-F238E27FC236}">
                <a16:creationId xmlns:a16="http://schemas.microsoft.com/office/drawing/2014/main" id="{9A0DCE3E-2C99-4609-93A5-BCFE9CF8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5910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保留 trace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AutoResearch 任务契约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5E555795-7F2A-4ED1-9171-22F04926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8d2836e151400a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33C546E0-1CDC-447B-BAE4-FE9FACA3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AutoResearch 任务契约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FDE7C0B6-11AA-435C-9431-FCB1DB70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来源：karpathy/autoresearch · program.md · commit 228791f；2026-09-13 核验</a:t>
            </a:r>
          </a:p>
        </p:txBody>
      </p:sp>
      <p:sp>
        <p:nvSpPr>
          <p:cNvPr id="10" name="doc-12-bg">
            <a:extLst xmlns:a="http://schemas.openxmlformats.org/drawingml/2006/main">
              <a:ext uri="{FF2B5EF4-FFF2-40B4-BE49-F238E27FC236}">
                <a16:creationId xmlns:a16="http://schemas.microsoft.com/office/drawing/2014/main" id="{C53B6E48-E72C-4BC1-8D2F-34215092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6858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2-title-bg">
            <a:extLst xmlns:a="http://schemas.openxmlformats.org/drawingml/2006/main">
              <a:ext uri="{FF2B5EF4-FFF2-40B4-BE49-F238E27FC236}">
                <a16:creationId xmlns:a16="http://schemas.microsoft.com/office/drawing/2014/main" id="{3EF58B2F-442D-4F53-9F79-AA58F554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2-title">
            <a:extLst xmlns:a="http://schemas.openxmlformats.org/drawingml/2006/main">
              <a:ext uri="{FF2B5EF4-FFF2-40B4-BE49-F238E27FC236}">
                <a16:creationId xmlns:a16="http://schemas.microsoft.com/office/drawing/2014/main" id="{CFCEA75B-3F54-411F-95A8-CCCC2EA3E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program.md · 228791f</a:t>
            </a:r>
          </a:p>
        </p:txBody>
      </p:sp>
      <p:sp>
        <p:nvSpPr>
          <p:cNvPr id="13" name="doc-12-line-0">
            <a:extLst xmlns:a="http://schemas.openxmlformats.org/drawingml/2006/main">
              <a:ext uri="{FF2B5EF4-FFF2-40B4-BE49-F238E27FC236}">
                <a16:creationId xmlns:a16="http://schemas.microsoft.com/office/drawing/2014/main" id="{6BE8C4DC-A010-4914-B580-114F892E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7642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目标：降低验证集 val_bpb</a:t>
            </a:r>
          </a:p>
        </p:txBody>
      </p:sp>
      <p:sp>
        <p:nvSpPr>
          <p:cNvPr id="14" name="doc-12-line-1">
            <a:extLst xmlns:a="http://schemas.openxmlformats.org/drawingml/2006/main">
              <a:ext uri="{FF2B5EF4-FFF2-40B4-BE49-F238E27FC236}">
                <a16:creationId xmlns:a16="http://schemas.microsoft.com/office/drawing/2014/main" id="{14DF0D62-1574-4A50-866D-5F018820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841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读取：README.md 与 prepare.py</a:t>
            </a:r>
          </a:p>
        </p:txBody>
      </p:sp>
      <p:sp>
        <p:nvSpPr>
          <p:cNvPr id="15" name="doc-12-line-2">
            <a:extLst xmlns:a="http://schemas.openxmlformats.org/drawingml/2006/main">
              <a:ext uri="{FF2B5EF4-FFF2-40B4-BE49-F238E27FC236}">
                <a16:creationId xmlns:a16="http://schemas.microsoft.com/office/drawing/2014/main" id="{5923F125-2570-46D5-8F4F-C616ECC3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4040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代码改动：仅 train.py</a:t>
            </a:r>
          </a:p>
        </p:txBody>
      </p:sp>
      <p:sp>
        <p:nvSpPr>
          <p:cNvPr id="16" name="doc-12-line-3">
            <a:extLst xmlns:a="http://schemas.openxmlformats.org/drawingml/2006/main">
              <a:ext uri="{FF2B5EF4-FFF2-40B4-BE49-F238E27FC236}">
                <a16:creationId xmlns:a16="http://schemas.microsoft.com/office/drawing/2014/main" id="{5D8E698C-AB43-4074-B034-5A5601DF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2239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禁止：改评价函数、添加依赖</a:t>
            </a:r>
          </a:p>
        </p:txBody>
      </p:sp>
      <p:sp>
        <p:nvSpPr>
          <p:cNvPr id="17" name="doc-12-line-4">
            <a:extLst xmlns:a="http://schemas.openxmlformats.org/drawingml/2006/main">
              <a:ext uri="{FF2B5EF4-FFF2-40B4-BE49-F238E27FC236}">
                <a16:creationId xmlns:a16="http://schemas.microsoft.com/office/drawing/2014/main" id="{C0C7A31D-4188-4DF3-A6CD-50A06EB7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0438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产出：run.log、results.tsv 与 commit</a:t>
            </a:r>
          </a:p>
        </p:txBody>
      </p:sp>
      <p:sp>
        <p:nvSpPr>
          <p:cNvPr id="18" name="contrast">
            <a:extLst xmlns:a="http://schemas.openxmlformats.org/drawingml/2006/main">
              <a:ext uri="{FF2B5EF4-FFF2-40B4-BE49-F238E27FC236}">
                <a16:creationId xmlns:a16="http://schemas.microsoft.com/office/drawing/2014/main" id="{5867FBB4-CE1C-4116-B798-C318866D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28575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课程阅读卡任务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固定论文与配置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保留全部输出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独立人工基准评价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AutoResearch 的输入与持久状态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2EEA8E12-5A9C-4472-9A16-B3D944BA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9680a133d457f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0366F577-C8E5-4888-89C4-31D7F353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AutoResearch 的输入与持久状态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1A1E148E-2172-43B7-BC67-0EE39B11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来源：karpathy/autoresearch · program.md · commit 228791f；2026-09-13 核验</a:t>
            </a:r>
          </a:p>
        </p:txBody>
      </p:sp>
      <p:sp>
        <p:nvSpPr>
          <p:cNvPr id="10" name="left-h">
            <a:extLst xmlns:a="http://schemas.openxmlformats.org/drawingml/2006/main">
              <a:ext uri="{FF2B5EF4-FFF2-40B4-BE49-F238E27FC236}">
                <a16:creationId xmlns:a16="http://schemas.microsoft.com/office/drawing/2014/main" id="{323EB052-CD76-457C-B55B-2EA465E8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Context：读取的文件</a:t>
            </a:r>
          </a:p>
        </p:txBody>
      </p:sp>
      <p:sp>
        <p:nvSpPr>
          <p:cNvPr id="11" name="right-h">
            <a:extLst xmlns:a="http://schemas.openxmlformats.org/drawingml/2006/main">
              <a:ext uri="{FF2B5EF4-FFF2-40B4-BE49-F238E27FC236}">
                <a16:creationId xmlns:a16="http://schemas.microsoft.com/office/drawing/2014/main" id="{10FDC450-5264-4EA2-9266-644F497C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状态：实验后留下什么</a:t>
            </a:r>
          </a:p>
        </p:txBody>
      </p:sp>
      <p:sp>
        <p:nvSpPr>
          <p:cNvPr id="12" name="split">
            <a:extLst xmlns:a="http://schemas.openxmlformats.org/drawingml/2006/main">
              <a:ext uri="{FF2B5EF4-FFF2-40B4-BE49-F238E27FC236}">
                <a16:creationId xmlns:a16="http://schemas.microsoft.com/office/drawing/2014/main" id="{6F0CA159-BE99-4CA7-A4DE-3E451DF5F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76375"/>
            <a:ext cx="95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list-64-217-0">
            <a:extLst xmlns:a="http://schemas.openxmlformats.org/drawingml/2006/main">
              <a:ext uri="{FF2B5EF4-FFF2-40B4-BE49-F238E27FC236}">
                <a16:creationId xmlns:a16="http://schemas.microsoft.com/office/drawing/2014/main" id="{E5C547C2-E21D-41C8-9E00-68C1C7A0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README.md：仓库说明</a:t>
            </a:r>
          </a:p>
        </p:txBody>
      </p:sp>
      <p:sp>
        <p:nvSpPr>
          <p:cNvPr id="14" name="list-64-217-1">
            <a:extLst xmlns:a="http://schemas.openxmlformats.org/drawingml/2006/main">
              <a:ext uri="{FF2B5EF4-FFF2-40B4-BE49-F238E27FC236}">
                <a16:creationId xmlns:a16="http://schemas.microsoft.com/office/drawing/2014/main" id="{F52E91DA-C664-4DAE-A831-53857E08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prepare.py：数据与评价</a:t>
            </a:r>
          </a:p>
        </p:txBody>
      </p:sp>
      <p:sp>
        <p:nvSpPr>
          <p:cNvPr id="15" name="list-64-217-2">
            <a:extLst xmlns:a="http://schemas.openxmlformats.org/drawingml/2006/main">
              <a:ext uri="{FF2B5EF4-FFF2-40B4-BE49-F238E27FC236}">
                <a16:creationId xmlns:a16="http://schemas.microsoft.com/office/drawing/2014/main" id="{89840A2F-E9CA-4E38-89AE-CB5A5E43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train.py：训练实现</a:t>
            </a:r>
          </a:p>
        </p:txBody>
      </p:sp>
      <p:sp>
        <p:nvSpPr>
          <p:cNvPr id="16" name="list-696-217-0">
            <a:extLst xmlns:a="http://schemas.openxmlformats.org/drawingml/2006/main">
              <a:ext uri="{FF2B5EF4-FFF2-40B4-BE49-F238E27FC236}">
                <a16:creationId xmlns:a16="http://schemas.microsoft.com/office/drawing/2014/main" id="{400BA13B-C939-4DAB-A1B5-1EE80B1C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Git commit：代码版本</a:t>
            </a:r>
          </a:p>
        </p:txBody>
      </p:sp>
      <p:sp>
        <p:nvSpPr>
          <p:cNvPr id="17" name="list-696-217-1">
            <a:extLst xmlns:a="http://schemas.openxmlformats.org/drawingml/2006/main">
              <a:ext uri="{FF2B5EF4-FFF2-40B4-BE49-F238E27FC236}">
                <a16:creationId xmlns:a16="http://schemas.microsoft.com/office/drawing/2014/main" id="{00428938-2B21-40A0-8E33-C6B71596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run.log：本次运行输出</a:t>
            </a:r>
          </a:p>
        </p:txBody>
      </p:sp>
      <p:sp>
        <p:nvSpPr>
          <p:cNvPr id="18" name="list-696-217-2">
            <a:extLst xmlns:a="http://schemas.openxmlformats.org/drawingml/2006/main">
              <a:ext uri="{FF2B5EF4-FFF2-40B4-BE49-F238E27FC236}">
                <a16:creationId xmlns:a16="http://schemas.microsoft.com/office/drawing/2014/main" id="{E0E0AA16-5A33-4DBB-AA9A-00C11D77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results.tsv：跨实验账本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AutoResearch 的约束与课程权限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5F69F584-E588-4A29-9922-6A56095F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5a7a1a0374068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361070DC-20FD-4072-99E5-98CDEAAA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AutoResearch 的约束与课程权限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2CFE50B2-79B9-4834-B579-1BD4C7CE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来源：karpathy/autoresearch · program.md · commit 228791f；2026-09-13 核验</a:t>
            </a:r>
          </a:p>
        </p:txBody>
      </p:sp>
      <p:sp>
        <p:nvSpPr>
          <p:cNvPr id="10" name="doc-13-bg">
            <a:extLst xmlns:a="http://schemas.openxmlformats.org/drawingml/2006/main">
              <a:ext uri="{FF2B5EF4-FFF2-40B4-BE49-F238E27FC236}">
                <a16:creationId xmlns:a16="http://schemas.microsoft.com/office/drawing/2014/main" id="{D4C0CDFF-7FBA-4E9F-ABA1-DDB2A491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6191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3-title-bg">
            <a:extLst xmlns:a="http://schemas.openxmlformats.org/drawingml/2006/main">
              <a:ext uri="{FF2B5EF4-FFF2-40B4-BE49-F238E27FC236}">
                <a16:creationId xmlns:a16="http://schemas.microsoft.com/office/drawing/2014/main" id="{47C21362-A306-4719-AD91-42EBC410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3-title">
            <a:extLst xmlns:a="http://schemas.openxmlformats.org/drawingml/2006/main">
              <a:ext uri="{FF2B5EF4-FFF2-40B4-BE49-F238E27FC236}">
                <a16:creationId xmlns:a16="http://schemas.microsoft.com/office/drawing/2014/main" id="{0A979DE5-288A-4A03-BEA8-8B75339A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program.md 约束摘要</a:t>
            </a:r>
          </a:p>
        </p:txBody>
      </p:sp>
      <p:sp>
        <p:nvSpPr>
          <p:cNvPr id="13" name="doc-13-line-0">
            <a:extLst xmlns:a="http://schemas.openxmlformats.org/drawingml/2006/main">
              <a:ext uri="{FF2B5EF4-FFF2-40B4-BE49-F238E27FC236}">
                <a16:creationId xmlns:a16="http://schemas.microsoft.com/office/drawing/2014/main" id="{E4344546-A644-47A3-B407-393FD38A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76425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  prepare.py</a:t>
            </a:r>
          </a:p>
        </p:txBody>
      </p:sp>
      <p:sp>
        <p:nvSpPr>
          <p:cNvPr id="14" name="doc-13-line-1">
            <a:extLst xmlns:a="http://schemas.openxmlformats.org/drawingml/2006/main">
              <a:ext uri="{FF2B5EF4-FFF2-40B4-BE49-F238E27FC236}">
                <a16:creationId xmlns:a16="http://schemas.microsoft.com/office/drawing/2014/main" id="{2424C555-C9B2-4572-B0C6-C397227F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44750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W  train.py（代码范围）</a:t>
            </a:r>
          </a:p>
        </p:txBody>
      </p:sp>
      <p:sp>
        <p:nvSpPr>
          <p:cNvPr id="15" name="doc-13-line-2">
            <a:extLst xmlns:a="http://schemas.openxmlformats.org/drawingml/2006/main">
              <a:ext uri="{FF2B5EF4-FFF2-40B4-BE49-F238E27FC236}">
                <a16:creationId xmlns:a16="http://schemas.microsoft.com/office/drawing/2014/main" id="{5DC38AB1-90A0-43E1-8BBF-1DE21612F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13075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X  uv run train.py</a:t>
            </a:r>
          </a:p>
        </p:txBody>
      </p:sp>
      <p:sp>
        <p:nvSpPr>
          <p:cNvPr id="16" name="doc-13-line-3">
            <a:extLst xmlns:a="http://schemas.openxmlformats.org/drawingml/2006/main">
              <a:ext uri="{FF2B5EF4-FFF2-40B4-BE49-F238E27FC236}">
                <a16:creationId xmlns:a16="http://schemas.microsoft.com/office/drawing/2014/main" id="{2FDC35D1-158D-470F-8917-70F20B40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81400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W  run.log / results.tsv（日志）</a:t>
            </a:r>
          </a:p>
        </p:txBody>
      </p:sp>
      <p:sp>
        <p:nvSpPr>
          <p:cNvPr id="17" name="doc-13-line-4">
            <a:extLst xmlns:a="http://schemas.openxmlformats.org/drawingml/2006/main">
              <a:ext uri="{FF2B5EF4-FFF2-40B4-BE49-F238E27FC236}">
                <a16:creationId xmlns:a16="http://schemas.microsoft.com/office/drawing/2014/main" id="{D57BBD0F-580B-45A6-9355-078A21FC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49725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!  改评价函数 / 添加依赖</a:t>
            </a:r>
          </a:p>
        </p:txBody>
      </p:sp>
      <p:sp>
        <p:nvSpPr>
          <p:cNvPr id="18" name="doc-13-line-5">
            <a:extLst xmlns:a="http://schemas.openxmlformats.org/drawingml/2006/main">
              <a:ext uri="{FF2B5EF4-FFF2-40B4-BE49-F238E27FC236}">
                <a16:creationId xmlns:a16="http://schemas.microsoft.com/office/drawing/2014/main" id="{505A0663-206C-4C60-A0E6-409E61A9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18050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?  启动前由人确认设置</a:t>
            </a:r>
          </a:p>
        </p:txBody>
      </p:sp>
      <p:sp>
        <p:nvSpPr>
          <p:cNvPr id="19" name="gate">
            <a:extLst xmlns:a="http://schemas.openxmlformats.org/drawingml/2006/main">
              <a:ext uri="{FF2B5EF4-FFF2-40B4-BE49-F238E27FC236}">
                <a16:creationId xmlns:a16="http://schemas.microsoft.com/office/drawing/2014/main" id="{6358201C-5D6C-46B8-AF35-B32478B2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71450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课程另加的权限门</a:t>
            </a:r>
          </a:p>
        </p:txBody>
      </p:sp>
      <p:sp>
        <p:nvSpPr>
          <p:cNvPr id="20" name="list-830-270-0">
            <a:extLst xmlns:a="http://schemas.openxmlformats.org/drawingml/2006/main">
              <a:ext uri="{FF2B5EF4-FFF2-40B4-BE49-F238E27FC236}">
                <a16:creationId xmlns:a16="http://schemas.microsoft.com/office/drawing/2014/main" id="{ED0215C6-CAEC-430F-A895-E7098E96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717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外部写入先确认</a:t>
            </a:r>
          </a:p>
        </p:txBody>
      </p:sp>
      <p:sp>
        <p:nvSpPr>
          <p:cNvPr id="21" name="list-830-270-1">
            <a:extLst xmlns:a="http://schemas.openxmlformats.org/drawingml/2006/main">
              <a:ext uri="{FF2B5EF4-FFF2-40B4-BE49-F238E27FC236}">
                <a16:creationId xmlns:a16="http://schemas.microsoft.com/office/drawing/2014/main" id="{ED28CD9F-0116-415D-9A3A-564E43AB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289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禁止读取 gold</a:t>
            </a:r>
          </a:p>
        </p:txBody>
      </p:sp>
      <p:sp>
        <p:nvSpPr>
          <p:cNvPr id="22" name="list-830-270-2">
            <a:extLst xmlns:a="http://schemas.openxmlformats.org/drawingml/2006/main">
              <a:ext uri="{FF2B5EF4-FFF2-40B4-BE49-F238E27FC236}">
                <a16:creationId xmlns:a16="http://schemas.microsoft.com/office/drawing/2014/main" id="{D1F5E959-A1EE-4A33-9868-EA54100E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861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配置变更先确认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方法优化循环与冻结执行队列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75FE2AE4-82E1-44B6-BB97-AA986C9A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5c219a23734c65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A1BDD0C0-982F-4D7C-A644-F845DBFF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方法优化循环与冻结执行队列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F0B7D47B-D68E-4DF8-9992-11CAE395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来源：karpathy/autoresearch · program.md · commit 228791f；2026-09-13 核验</a:t>
            </a:r>
          </a:p>
        </p:txBody>
      </p:sp>
      <p:sp>
        <p:nvSpPr>
          <p:cNvPr id="23" name="left-h">
            <a:extLst xmlns:a="http://schemas.openxmlformats.org/drawingml/2006/main">
              <a:ext uri="{FF2B5EF4-FFF2-40B4-BE49-F238E27FC236}">
                <a16:creationId xmlns:a16="http://schemas.microsoft.com/office/drawing/2014/main" id="{43BAC395-97E1-4455-A596-D81105D7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5257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AutoResearch · 228791f</a:t>
            </a:r>
          </a:p>
        </p:txBody>
      </p:sp>
      <p:sp>
        <p:nvSpPr>
          <p:cNvPr id="24" name="right-h">
            <a:extLst xmlns:a="http://schemas.openxmlformats.org/drawingml/2006/main">
              <a:ext uri="{FF2B5EF4-FFF2-40B4-BE49-F238E27FC236}">
                <a16:creationId xmlns:a16="http://schemas.microsoft.com/office/drawing/2014/main" id="{C5937824-FA7F-4182-B5D8-23C962AE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33500"/>
            <a:ext cx="5010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课程阅读卡冻结队列</a:t>
            </a:r>
          </a:p>
        </p:txBody>
      </p:sp>
      <p:sp>
        <p:nvSpPr>
          <p:cNvPr id="25" name="l1">
            <a:extLst xmlns:a="http://schemas.openxmlformats.org/drawingml/2006/main">
              <a:ext uri="{FF2B5EF4-FFF2-40B4-BE49-F238E27FC236}">
                <a16:creationId xmlns:a16="http://schemas.microsoft.com/office/drawing/2014/main" id="{26485A7F-3281-4A06-906F-F44471C30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525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改 train.py，运行并评价</a:t>
            </a:r>
          </a:p>
        </p:txBody>
      </p:sp>
      <p:sp>
        <p:nvSpPr>
          <p:cNvPr id="26" name="r1">
            <a:extLst xmlns:a="http://schemas.openxmlformats.org/drawingml/2006/main">
              <a:ext uri="{FF2B5EF4-FFF2-40B4-BE49-F238E27FC236}">
                <a16:creationId xmlns:a16="http://schemas.microsoft.com/office/drawing/2014/main" id="{0A86C754-7A58-4754-943A-C8CCD054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01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固定输入、方法与配置</a:t>
            </a:r>
          </a:p>
        </p:txBody>
      </p:sp>
      <p:sp>
        <p:nvSpPr>
          <p:cNvPr id="27" name="l2">
            <a:extLst xmlns:a="http://schemas.openxmlformats.org/drawingml/2006/main">
              <a:ext uri="{FF2B5EF4-FFF2-40B4-BE49-F238E27FC236}">
                <a16:creationId xmlns:a16="http://schemas.microsoft.com/office/drawing/2014/main" id="{ED92F01A-4ED3-47B1-87FA-859692FD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25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按 val_bpb 保留或回退</a:t>
            </a:r>
          </a:p>
        </p:txBody>
      </p:sp>
      <p:sp>
        <p:nvSpPr>
          <p:cNvPr id="28" name="r2">
            <a:extLst xmlns:a="http://schemas.openxmlformats.org/drawingml/2006/main">
              <a:ext uri="{FF2B5EF4-FFF2-40B4-BE49-F238E27FC236}">
                <a16:creationId xmlns:a16="http://schemas.microsoft.com/office/drawing/2014/main" id="{4B6008FB-5885-414C-B4CD-FE8B0E6A0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14625"/>
            <a:ext cx="501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逐项生成，保留全部输出</a:t>
            </a:r>
          </a:p>
        </p:txBody>
      </p:sp>
      <p:sp>
        <p:nvSpPr>
          <p:cNvPr id="29" name="l3">
            <a:extLst xmlns:a="http://schemas.openxmlformats.org/drawingml/2006/main">
              <a:ext uri="{FF2B5EF4-FFF2-40B4-BE49-F238E27FC236}">
                <a16:creationId xmlns:a16="http://schemas.microsoft.com/office/drawing/2014/main" id="{341094CF-33FD-4F30-A68E-DD31A4EB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25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账本记录 keep / discard / crash</a:t>
            </a:r>
          </a:p>
        </p:txBody>
      </p:sp>
      <p:sp>
        <p:nvSpPr>
          <p:cNvPr id="30" name="r3">
            <a:extLst xmlns:a="http://schemas.openxmlformats.org/drawingml/2006/main">
              <a:ext uri="{FF2B5EF4-FFF2-40B4-BE49-F238E27FC236}">
                <a16:creationId xmlns:a16="http://schemas.microsoft.com/office/drawing/2014/main" id="{3B600B73-0677-4AB1-93ED-D6727B82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501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失败留账，恢复仅补未完成项</a:t>
            </a:r>
          </a:p>
        </p:txBody>
      </p:sp>
      <p:sp>
        <p:nvSpPr>
          <p:cNvPr id="31" name="l4">
            <a:extLst xmlns:a="http://schemas.openxmlformats.org/drawingml/2006/main">
              <a:ext uri="{FF2B5EF4-FFF2-40B4-BE49-F238E27FC236}">
                <a16:creationId xmlns:a16="http://schemas.microsoft.com/office/drawing/2014/main" id="{E7E83DA1-3900-465C-8F53-75CB617B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525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外层持续循环，人工中断</a:t>
            </a:r>
          </a:p>
        </p:txBody>
      </p:sp>
      <p:sp>
        <p:nvSpPr>
          <p:cNvPr id="32" name="r4">
            <a:extLst xmlns:a="http://schemas.openxmlformats.org/drawingml/2006/main">
              <a:ext uri="{FF2B5EF4-FFF2-40B4-BE49-F238E27FC236}">
                <a16:creationId xmlns:a16="http://schemas.microsoft.com/office/drawing/2014/main" id="{FFE915D0-1A17-47EF-B840-EC53A3A9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52875"/>
            <a:ext cx="501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预定 120 份处理完即停</a:t>
            </a:r>
          </a:p>
        </p:txBody>
      </p:sp>
      <p:sp>
        <p:nvSpPr>
          <p:cNvPr id="33" name="guard">
            <a:extLst xmlns:a="http://schemas.openxmlformats.org/drawingml/2006/main">
              <a:ext uri="{FF2B5EF4-FFF2-40B4-BE49-F238E27FC236}">
                <a16:creationId xmlns:a16="http://schemas.microsoft.com/office/drawing/2014/main" id="{002AD89B-8019-484C-AB22-22871B10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990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单次训练预算固定 ≠ 外层总预算固定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实验账本连接代码、指标与处置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75E66B0A-4D10-401E-99B7-031AB53A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3003461f3d4580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B626113F-D3E7-4EBA-891C-33C2DE6A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实验账本连接代码、指标与处置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DCB9878C-58B5-44AD-87E5-0985C0B6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来源：karpathy/autoresearch · program.md · commit 228791f；2026-09-13 核验</a:t>
            </a:r>
          </a:p>
        </p:txBody>
      </p:sp>
      <p:sp>
        <p:nvSpPr>
          <p:cNvPr id="10" name="doc-14-bg">
            <a:extLst xmlns:a="http://schemas.openxmlformats.org/drawingml/2006/main">
              <a:ext uri="{FF2B5EF4-FFF2-40B4-BE49-F238E27FC236}">
                <a16:creationId xmlns:a16="http://schemas.microsoft.com/office/drawing/2014/main" id="{4886ACFB-780A-4EEC-8B31-D3B0D6F9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6858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4-title-bg">
            <a:extLst xmlns:a="http://schemas.openxmlformats.org/drawingml/2006/main">
              <a:ext uri="{FF2B5EF4-FFF2-40B4-BE49-F238E27FC236}">
                <a16:creationId xmlns:a16="http://schemas.microsoft.com/office/drawing/2014/main" id="{04BDB855-D125-455D-BB43-0266F65B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4-title">
            <a:extLst xmlns:a="http://schemas.openxmlformats.org/drawingml/2006/main">
              <a:ext uri="{FF2B5EF4-FFF2-40B4-BE49-F238E27FC236}">
                <a16:creationId xmlns:a16="http://schemas.microsoft.com/office/drawing/2014/main" id="{FE411B2C-3EE5-4BB9-8F81-C61EAF9E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results.tsv 字段 · 228791f</a:t>
            </a:r>
          </a:p>
        </p:txBody>
      </p:sp>
      <p:sp>
        <p:nvSpPr>
          <p:cNvPr id="13" name="doc-14-line-0">
            <a:extLst xmlns:a="http://schemas.openxmlformats.org/drawingml/2006/main">
              <a:ext uri="{FF2B5EF4-FFF2-40B4-BE49-F238E27FC236}">
                <a16:creationId xmlns:a16="http://schemas.microsoft.com/office/drawing/2014/main" id="{EDEEE79A-CF76-4F4B-A7CB-E385FC62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76425"/>
            <a:ext cx="640080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commit      代码版本</a:t>
            </a:r>
          </a:p>
        </p:txBody>
      </p:sp>
      <p:sp>
        <p:nvSpPr>
          <p:cNvPr id="14" name="doc-14-line-1">
            <a:extLst xmlns:a="http://schemas.openxmlformats.org/drawingml/2006/main">
              <a:ext uri="{FF2B5EF4-FFF2-40B4-BE49-F238E27FC236}">
                <a16:creationId xmlns:a16="http://schemas.microsoft.com/office/drawing/2014/main" id="{B6BD4AE5-9ECD-4694-B0FA-B71B296B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3561"/>
            <a:ext cx="640080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val_bpb     评价值</a:t>
            </a:r>
          </a:p>
        </p:txBody>
      </p:sp>
      <p:sp>
        <p:nvSpPr>
          <p:cNvPr id="15" name="doc-14-line-2">
            <a:extLst xmlns:a="http://schemas.openxmlformats.org/drawingml/2006/main">
              <a:ext uri="{FF2B5EF4-FFF2-40B4-BE49-F238E27FC236}">
                <a16:creationId xmlns:a16="http://schemas.microsoft.com/office/drawing/2014/main" id="{52A79B2C-A8C2-4CF7-9A60-E1F6FFF69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50696"/>
            <a:ext cx="640080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memory_gb   峰值显存</a:t>
            </a:r>
          </a:p>
        </p:txBody>
      </p:sp>
      <p:sp>
        <p:nvSpPr>
          <p:cNvPr id="16" name="doc-14-line-3">
            <a:extLst xmlns:a="http://schemas.openxmlformats.org/drawingml/2006/main">
              <a:ext uri="{FF2B5EF4-FFF2-40B4-BE49-F238E27FC236}">
                <a16:creationId xmlns:a16="http://schemas.microsoft.com/office/drawing/2014/main" id="{A95CAA51-A8FB-44D4-B574-41438A0B0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37832"/>
            <a:ext cx="640080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status      keep / discard / crash</a:t>
            </a:r>
          </a:p>
        </p:txBody>
      </p:sp>
      <p:sp>
        <p:nvSpPr>
          <p:cNvPr id="17" name="doc-14-line-4">
            <a:extLst xmlns:a="http://schemas.openxmlformats.org/drawingml/2006/main">
              <a:ext uri="{FF2B5EF4-FFF2-40B4-BE49-F238E27FC236}">
                <a16:creationId xmlns:a16="http://schemas.microsoft.com/office/drawing/2014/main" id="{5E1F8D10-D661-42D1-8176-623A2356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24968"/>
            <a:ext cx="640080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description 本次尝试</a:t>
            </a:r>
          </a:p>
        </p:txBody>
      </p:sp>
      <p:sp>
        <p:nvSpPr>
          <p:cNvPr id="18" name="doc-14-line-5">
            <a:extLst xmlns:a="http://schemas.openxmlformats.org/drawingml/2006/main">
              <a:ext uri="{FF2B5EF4-FFF2-40B4-BE49-F238E27FC236}">
                <a16:creationId xmlns:a16="http://schemas.microsoft.com/office/drawing/2014/main" id="{D18AC0DB-8D77-46CF-AF59-3B50ED77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12104"/>
            <a:ext cx="640080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run.log     本次运行详情</a:t>
            </a:r>
          </a:p>
        </p:txBody>
      </p:sp>
      <p:sp>
        <p:nvSpPr>
          <p:cNvPr id="19" name="doc-14-line-6">
            <a:extLst xmlns:a="http://schemas.openxmlformats.org/drawingml/2006/main">
              <a:ext uri="{FF2B5EF4-FFF2-40B4-BE49-F238E27FC236}">
                <a16:creationId xmlns:a16="http://schemas.microsoft.com/office/drawing/2014/main" id="{5F7070C3-0F00-40EF-88E0-33CF2FEB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99239"/>
            <a:ext cx="640080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课程迁移：日志绑定各自 run ID</a:t>
            </a:r>
          </a:p>
        </p:txBody>
      </p:sp>
      <p:sp>
        <p:nvSpPr>
          <p:cNvPr id="20" name="four">
            <a:extLst xmlns:a="http://schemas.openxmlformats.org/drawingml/2006/main">
              <a:ext uri="{FF2B5EF4-FFF2-40B4-BE49-F238E27FC236}">
                <a16:creationId xmlns:a16="http://schemas.microsoft.com/office/drawing/2014/main" id="{2654FD6A-3E3D-4D0F-A11E-5AD3EF69A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09750"/>
            <a:ext cx="2095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回退代码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保留账本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保留失败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人工判断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固定评价函数与独立评价端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AC474180-6EB6-4CE7-9FCE-1C4CFF5D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e6e9ea8d8343bf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C3E2CF78-481D-4FEA-8D44-3120AA7F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固定评价函数与独立评价端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088BF0BC-4B5B-4D5B-8F54-F72A537E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来源：karpathy/autoresearch · program.md · commit 228791f；2026-09-13 核验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0281F173-B4DC-446D-950A-4360BDD8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670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94C4D205-ABC9-47C6-9B7A-9F29667B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执行器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B795C6AA-989B-4DBB-B9CC-039B3BFD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314575"/>
            <a:ext cx="8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F614085B-7F8B-4A22-967D-2859AD37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194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生成候选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740695F6-3B1C-4C22-8988-9E6B4B57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625" y="28670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57DF6B5C-C954-4D7F-BD07-129277C7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625" y="21431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独立 Evals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01793264-9D29-4460-BA32-101024D0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3250" y="2314575"/>
            <a:ext cx="8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ECC99E60-E747-4BB8-A124-6A405138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625" y="30194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baseline / rubric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10282BA2-6A59-4A27-82CA-99B84551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8750" y="28670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30A06E5B-7F24-47D6-9C0C-2B1DDD5A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8750" y="21431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人工审核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78F15C22-9FE8-4F68-946F-EE1F5DC2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375" y="2314575"/>
            <a:ext cx="8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A0DED77E-2C54-49BB-938A-8265D6BD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8750" y="30194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方法与结论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F17A06F9-6804-49E0-9219-45C372C3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8670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80890666-073B-481D-B813-449B0480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431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失败恢复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348BD56F-5378-4359-8DB7-C9CDB177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194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记录后收窄</a:t>
            </a:r>
          </a:p>
        </p:txBody>
      </p:sp>
      <p:sp>
        <p:nvSpPr>
          <p:cNvPr id="25" name="guard">
            <a:extLst xmlns:a="http://schemas.openxmlformats.org/drawingml/2006/main">
              <a:ext uri="{FF2B5EF4-FFF2-40B4-BE49-F238E27FC236}">
                <a16:creationId xmlns:a16="http://schemas.microsoft.com/office/drawing/2014/main" id="{F8CEB52F-2225-4320-B097-FE4E8191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阅读卡执行器禁止读 gold；独立评价端在生成后评分。</a:t>
            </a:r>
          </a:p>
        </p:txBody>
      </p:sp>
      <p:sp>
        <p:nvSpPr>
          <p:cNvPr id="27" name="case-boundary">
            <a:extLst xmlns:a="http://schemas.openxmlformats.org/drawingml/2006/main">
              <a:ext uri="{FF2B5EF4-FFF2-40B4-BE49-F238E27FC236}">
                <a16:creationId xmlns:a16="http://schemas.microsoft.com/office/drawing/2014/main" id="{8641FB0D-FA35-40C9-A039-9F5E6424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858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AutoResearch：只读 prepare.py 固定评价函数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科研动作是否值得交给 Agent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C24CCF91-8CCC-4A5E-9A9B-1C1B66B5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5fdea9531b488c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B1E49258-F059-4F7B-A87D-0110E758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科研动作是否值得交给 Agent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01458A4C-2348-483B-ACAD-5A4D306B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x-axis">
            <a:extLst xmlns:a="http://schemas.openxmlformats.org/drawingml/2006/main">
              <a:ext uri="{FF2B5EF4-FFF2-40B4-BE49-F238E27FC236}">
                <a16:creationId xmlns:a16="http://schemas.microsoft.com/office/drawing/2014/main" id="{A88A16D0-757A-492F-9C08-85D190AA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57750"/>
            <a:ext cx="8572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y-axis">
            <a:extLst xmlns:a="http://schemas.openxmlformats.org/drawingml/2006/main">
              <a:ext uri="{FF2B5EF4-FFF2-40B4-BE49-F238E27FC236}">
                <a16:creationId xmlns:a16="http://schemas.microsoft.com/office/drawing/2014/main" id="{AA5EEA65-3BF5-4AC0-A805-9BA32170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14288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xlab">
            <a:extLst xmlns:a="http://schemas.openxmlformats.org/drawingml/2006/main">
              <a:ext uri="{FF2B5EF4-FFF2-40B4-BE49-F238E27FC236}">
                <a16:creationId xmlns:a16="http://schemas.microsoft.com/office/drawing/2014/main" id="{61E259B8-EBBF-4190-B14F-A2993B06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095875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重复性高 →</a:t>
            </a:r>
          </a:p>
        </p:txBody>
      </p:sp>
      <p:sp>
        <p:nvSpPr>
          <p:cNvPr id="13" name="ylab">
            <a:extLst xmlns:a="http://schemas.openxmlformats.org/drawingml/2006/main">
              <a:ext uri="{FF2B5EF4-FFF2-40B4-BE49-F238E27FC236}">
                <a16:creationId xmlns:a16="http://schemas.microsoft.com/office/drawing/2014/main" id="{DB6D0FD7-7076-4A25-A4F0-D5859BB7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143000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判断风险 ↑</a:t>
            </a:r>
          </a:p>
        </p:txBody>
      </p:sp>
      <p:sp>
        <p:nvSpPr>
          <p:cNvPr id="14" name="q1">
            <a:extLst xmlns:a="http://schemas.openxmlformats.org/drawingml/2006/main">
              <a:ext uri="{FF2B5EF4-FFF2-40B4-BE49-F238E27FC236}">
                <a16:creationId xmlns:a16="http://schemas.microsoft.com/office/drawing/2014/main" id="{84E17E92-8AC4-4DD0-A961-83B45342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Agent + 人工确认</a:t>
            </a:r>
          </a:p>
        </p:txBody>
      </p:sp>
      <p:sp>
        <p:nvSpPr>
          <p:cNvPr id="15" name="q2">
            <a:extLst xmlns:a="http://schemas.openxmlformats.org/drawingml/2006/main">
              <a:ext uri="{FF2B5EF4-FFF2-40B4-BE49-F238E27FC236}">
                <a16:creationId xmlns:a16="http://schemas.microsoft.com/office/drawing/2014/main" id="{FD0AC1E0-FAE0-4563-941A-7B85D2AC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固定工作流 / 脚本</a:t>
            </a:r>
          </a:p>
        </p:txBody>
      </p:sp>
      <p:sp>
        <p:nvSpPr>
          <p:cNvPr id="16" name="q3">
            <a:extLst xmlns:a="http://schemas.openxmlformats.org/drawingml/2006/main">
              <a:ext uri="{FF2B5EF4-FFF2-40B4-BE49-F238E27FC236}">
                <a16:creationId xmlns:a16="http://schemas.microsoft.com/office/drawing/2014/main" id="{000EF783-44FB-4146-9CB4-A096D39A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9550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人工主导</a:t>
            </a:r>
          </a:p>
        </p:txBody>
      </p:sp>
      <p:sp>
        <p:nvSpPr>
          <p:cNvPr id="17" name="q4">
            <a:extLst xmlns:a="http://schemas.openxmlformats.org/drawingml/2006/main">
              <a:ext uri="{FF2B5EF4-FFF2-40B4-BE49-F238E27FC236}">
                <a16:creationId xmlns:a16="http://schemas.microsoft.com/office/drawing/2014/main" id="{4D1C12CB-54C9-460C-8318-B2FAFBE0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052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不值得自动化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脚本、工作流、Agent 与复杂系统的边界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8E74F63D-8DA9-425F-8754-B1BBDAE2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75cfb9a8b844b3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87EFD735-B00F-401D-87E9-94BED54D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脚本、工作流、Agent 与复杂系统的边界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4E62BAFA-6D47-464A-A969-7D77413FD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63B52CBC-D534-4CBC-BA2D-E1E317348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146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E35639A3-E7E5-4926-8293-F830033E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907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脚本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C077B685-14BE-4281-8729-FD218CB7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62200"/>
            <a:ext cx="6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F8D7961D-66A0-4708-8674-29F3A3595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固定输入输出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A7FC189B-E7C0-4544-90E3-927B7874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8250" y="29146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B0F6EF1C-55F6-47A4-A54B-03477443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8250" y="21907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固定工作流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24CF70B0-D6AB-4AC6-9ACE-F2C6D537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00" y="2362200"/>
            <a:ext cx="6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4D8986BE-7C26-481E-B6AA-8C06FE3F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8250" y="30670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状态与回退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24ED6F1A-1EE4-4804-9F36-DB931873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29146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6595699F-CA84-44A5-888F-68783028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21907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B5D9DDB6-D130-40B0-AE3B-8E29751D1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3750" y="2362200"/>
            <a:ext cx="6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6BF8E88D-9287-437A-810E-A6ADBE94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30670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动态决策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FCAF2CD9-8350-44C9-80F3-AA7329C1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146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C985910D-0C5A-4AD3-9875-E76DB98F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907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复杂系统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36B89872-764E-4939-A01A-AF9C60F1A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670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多组件治理</a:t>
            </a:r>
          </a:p>
        </p:txBody>
      </p:sp>
      <p:sp>
        <p:nvSpPr>
          <p:cNvPr id="25" name="boundary">
            <a:extLst xmlns:a="http://schemas.openxmlformats.org/drawingml/2006/main">
              <a:ext uri="{FF2B5EF4-FFF2-40B4-BE49-F238E27FC236}">
                <a16:creationId xmlns:a16="http://schemas.microsoft.com/office/drawing/2014/main" id="{8669E3BE-7AF2-48DC-A7AA-DBC672A2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767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先用能完成任务的最低复杂度；自治增加必须带来独立评价与停止。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个人工作流从一个真实科研动作开始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F3CBC397-9C0C-49CD-8C6E-A84112830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7f48fe644b40c0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B6C2BC63-6EF3-4EBF-807B-5EBCF38A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个人工作流从一个真实科研动作开始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D4BBE188-0580-4C33-A8F7-EC754CE7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funnel1">
            <a:extLst xmlns:a="http://schemas.openxmlformats.org/drawingml/2006/main">
              <a:ext uri="{FF2B5EF4-FFF2-40B4-BE49-F238E27FC236}">
                <a16:creationId xmlns:a16="http://schemas.microsoft.com/office/drawing/2014/main" id="{8AB8E4B7-4BCB-4E38-9213-A42A93BD2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524000"/>
            <a:ext cx="8953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本人真实课题中的重复动作</a:t>
            </a:r>
          </a:p>
        </p:txBody>
      </p:sp>
      <p:sp>
        <p:nvSpPr>
          <p:cNvPr id="11" name="funnel2">
            <a:extLst xmlns:a="http://schemas.openxmlformats.org/drawingml/2006/main">
              <a:ext uri="{FF2B5EF4-FFF2-40B4-BE49-F238E27FC236}">
                <a16:creationId xmlns:a16="http://schemas.microsoft.com/office/drawing/2014/main" id="{437F17CD-91AC-4F67-A2F7-EB4064A4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6225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导师组已有任务</a:t>
            </a:r>
          </a:p>
        </p:txBody>
      </p:sp>
      <p:sp>
        <p:nvSpPr>
          <p:cNvPr id="12" name="funnel3">
            <a:extLst xmlns:a="http://schemas.openxmlformats.org/drawingml/2006/main">
              <a:ext uri="{FF2B5EF4-FFF2-40B4-BE49-F238E27FC236}">
                <a16:creationId xmlns:a16="http://schemas.microsoft.com/office/drawing/2014/main" id="{FF93B437-C2C6-49A7-A1BE-0118C4C0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00500"/>
            <a:ext cx="5143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课堂最小原型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八要素契约是一张可填写工件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2EAC9927-F911-4BBA-8E71-D88899F4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b2a8372abb4a83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A98D7626-FB47-4012-BE40-098F0091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八要素契约是一张可填写工件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B1506599-1298-4C55-A10A-A1A19F77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doc-15-bg">
            <a:extLst xmlns:a="http://schemas.openxmlformats.org/drawingml/2006/main">
              <a:ext uri="{FF2B5EF4-FFF2-40B4-BE49-F238E27FC236}">
                <a16:creationId xmlns:a16="http://schemas.microsoft.com/office/drawing/2014/main" id="{239D1BAE-A0A3-4622-A095-7FCF239A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668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5-title-bg">
            <a:extLst xmlns:a="http://schemas.openxmlformats.org/drawingml/2006/main">
              <a:ext uri="{FF2B5EF4-FFF2-40B4-BE49-F238E27FC236}">
                <a16:creationId xmlns:a16="http://schemas.microsoft.com/office/drawing/2014/main" id="{B26F8871-A9BC-4AF6-BEFC-52A25C88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5-title">
            <a:extLst xmlns:a="http://schemas.openxmlformats.org/drawingml/2006/main">
              <a:ext uri="{FF2B5EF4-FFF2-40B4-BE49-F238E27FC236}">
                <a16:creationId xmlns:a16="http://schemas.microsoft.com/office/drawing/2014/main" id="{EFDB88E0-AAEB-4282-AB24-D475AFD00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525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agent-workflow.md</a:t>
            </a:r>
          </a:p>
        </p:txBody>
      </p:sp>
      <p:sp>
        <p:nvSpPr>
          <p:cNvPr id="13" name="doc-15-line-0">
            <a:extLst xmlns:a="http://schemas.openxmlformats.org/drawingml/2006/main">
              <a:ext uri="{FF2B5EF4-FFF2-40B4-BE49-F238E27FC236}">
                <a16:creationId xmlns:a16="http://schemas.microsoft.com/office/drawing/2014/main" id="{59E042E6-3CA6-44AB-A37E-F15E59FD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28800"/>
            <a:ext cx="1021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任务契约｜输入、输出、成功标准、不适用范围</a:t>
            </a:r>
          </a:p>
        </p:txBody>
      </p:sp>
      <p:sp>
        <p:nvSpPr>
          <p:cNvPr id="14" name="doc-15-line-1">
            <a:extLst xmlns:a="http://schemas.openxmlformats.org/drawingml/2006/main">
              <a:ext uri="{FF2B5EF4-FFF2-40B4-BE49-F238E27FC236}">
                <a16:creationId xmlns:a16="http://schemas.microsoft.com/office/drawing/2014/main" id="{1355A07D-A539-45DA-8389-3FDAC783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28875"/>
            <a:ext cx="1021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Context / 状态｜最小输入、持久工件、checkpoint</a:t>
            </a:r>
          </a:p>
        </p:txBody>
      </p:sp>
      <p:sp>
        <p:nvSpPr>
          <p:cNvPr id="15" name="doc-15-line-2">
            <a:extLst xmlns:a="http://schemas.openxmlformats.org/drawingml/2006/main">
              <a:ext uri="{FF2B5EF4-FFF2-40B4-BE49-F238E27FC236}">
                <a16:creationId xmlns:a16="http://schemas.microsoft.com/office/drawing/2014/main" id="{A1E3A56A-A0E2-4368-AA6F-E5ACF457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28950"/>
            <a:ext cx="1021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工具权限｜只读、可写、可执行、需确认、禁止</a:t>
            </a:r>
          </a:p>
        </p:txBody>
      </p:sp>
      <p:sp>
        <p:nvSpPr>
          <p:cNvPr id="16" name="doc-15-line-3">
            <a:extLst xmlns:a="http://schemas.openxmlformats.org/drawingml/2006/main">
              <a:ext uri="{FF2B5EF4-FFF2-40B4-BE49-F238E27FC236}">
                <a16:creationId xmlns:a16="http://schemas.microsoft.com/office/drawing/2014/main" id="{1DE7958B-12C6-4B97-A2E9-C3AD7256A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29025"/>
            <a:ext cx="1021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执行循环｜固定指标、预算、停止、回退</a:t>
            </a:r>
          </a:p>
        </p:txBody>
      </p:sp>
      <p:sp>
        <p:nvSpPr>
          <p:cNvPr id="17" name="doc-15-line-4">
            <a:extLst xmlns:a="http://schemas.openxmlformats.org/drawingml/2006/main">
              <a:ext uri="{FF2B5EF4-FFF2-40B4-BE49-F238E27FC236}">
                <a16:creationId xmlns:a16="http://schemas.microsoft.com/office/drawing/2014/main" id="{4A514E4C-3466-44EA-B804-38E8CC3E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29100"/>
            <a:ext cx="1021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工件与追踪｜run ID、trace、失败记录</a:t>
            </a:r>
          </a:p>
        </p:txBody>
      </p:sp>
      <p:sp>
        <p:nvSpPr>
          <p:cNvPr id="18" name="doc-15-line-5">
            <a:extLst xmlns:a="http://schemas.openxmlformats.org/drawingml/2006/main">
              <a:ext uri="{FF2B5EF4-FFF2-40B4-BE49-F238E27FC236}">
                <a16:creationId xmlns:a16="http://schemas.microsoft.com/office/drawing/2014/main" id="{F802F740-AB9D-4604-9626-4237D6DB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29175"/>
            <a:ext cx="1021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Evals / 人工审核｜baseline、rubric、决定权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评价代码与执行代码必须隔离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535BA9EA-D921-43CD-9C7B-F8FE70E0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f68ea1b99542c9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400E8BE9-4810-4E19-B577-FE6DBB0A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评价代码与执行代码必须隔离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8C40E0DB-792B-4CDD-9183-7748A65D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doc-16-bg">
            <a:extLst xmlns:a="http://schemas.openxmlformats.org/drawingml/2006/main">
              <a:ext uri="{FF2B5EF4-FFF2-40B4-BE49-F238E27FC236}">
                <a16:creationId xmlns:a16="http://schemas.microsoft.com/office/drawing/2014/main" id="{DAF352C7-83DB-41EF-BE39-B08A8319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45720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6-title-bg">
            <a:extLst xmlns:a="http://schemas.openxmlformats.org/drawingml/2006/main">
              <a:ext uri="{FF2B5EF4-FFF2-40B4-BE49-F238E27FC236}">
                <a16:creationId xmlns:a16="http://schemas.microsoft.com/office/drawing/2014/main" id="{43D78F44-A63D-4DC2-93E1-5EBAB12D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</a:ln>
        </p:spPr>
      </p:sp>
      <p:sp>
        <p:nvSpPr>
          <p:cNvPr id="12" name="doc-16-title">
            <a:extLst xmlns:a="http://schemas.openxmlformats.org/drawingml/2006/main">
              <a:ext uri="{FF2B5EF4-FFF2-40B4-BE49-F238E27FC236}">
                <a16:creationId xmlns:a16="http://schemas.microsoft.com/office/drawing/2014/main" id="{F0F3211A-5A2B-4A41-845D-F6ECB97F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4780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runner/ 执行端</a:t>
            </a:r>
          </a:p>
        </p:txBody>
      </p:sp>
      <p:sp>
        <p:nvSpPr>
          <p:cNvPr id="13" name="doc-16-line-0">
            <a:extLst xmlns:a="http://schemas.openxmlformats.org/drawingml/2006/main">
              <a:ext uri="{FF2B5EF4-FFF2-40B4-BE49-F238E27FC236}">
                <a16:creationId xmlns:a16="http://schemas.microsoft.com/office/drawing/2014/main" id="{5F23AD74-C35D-4216-81ED-1F37F4129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24050"/>
            <a:ext cx="4114800" cy="1022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generate.py   W</a:t>
            </a:r>
          </a:p>
        </p:txBody>
      </p:sp>
      <p:sp>
        <p:nvSpPr>
          <p:cNvPr id="14" name="doc-16-line-1">
            <a:extLst xmlns:a="http://schemas.openxmlformats.org/drawingml/2006/main">
              <a:ext uri="{FF2B5EF4-FFF2-40B4-BE49-F238E27FC236}">
                <a16:creationId xmlns:a16="http://schemas.microsoft.com/office/drawing/2014/main" id="{86BAF8CE-7131-4B8C-90B9-BB55FD560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65450"/>
            <a:ext cx="4114800" cy="1022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tools.py      W</a:t>
            </a:r>
          </a:p>
        </p:txBody>
      </p:sp>
      <p:sp>
        <p:nvSpPr>
          <p:cNvPr id="15" name="doc-16-line-2">
            <a:extLst xmlns:a="http://schemas.openxmlformats.org/drawingml/2006/main">
              <a:ext uri="{FF2B5EF4-FFF2-40B4-BE49-F238E27FC236}">
                <a16:creationId xmlns:a16="http://schemas.microsoft.com/office/drawing/2014/main" id="{7926E8EE-AFDC-41F9-9B44-0376C617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06850"/>
            <a:ext cx="4114800" cy="1022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runs/         W</a:t>
            </a:r>
          </a:p>
        </p:txBody>
      </p:sp>
      <p:sp>
        <p:nvSpPr>
          <p:cNvPr id="16" name="doc-17-bg">
            <a:extLst xmlns:a="http://schemas.openxmlformats.org/drawingml/2006/main">
              <a:ext uri="{FF2B5EF4-FFF2-40B4-BE49-F238E27FC236}">
                <a16:creationId xmlns:a16="http://schemas.microsoft.com/office/drawing/2014/main" id="{B5A79C13-E072-48D2-8596-60C2C32F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428750"/>
            <a:ext cx="45720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7" name="doc-17-title-bg">
            <a:extLst xmlns:a="http://schemas.openxmlformats.org/drawingml/2006/main">
              <a:ext uri="{FF2B5EF4-FFF2-40B4-BE49-F238E27FC236}">
                <a16:creationId xmlns:a16="http://schemas.microsoft.com/office/drawing/2014/main" id="{6534E4A4-4115-4354-A6AF-B08ECBE1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428750"/>
            <a:ext cx="457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8" name="doc-17-title">
            <a:extLst xmlns:a="http://schemas.openxmlformats.org/drawingml/2006/main">
              <a:ext uri="{FF2B5EF4-FFF2-40B4-BE49-F238E27FC236}">
                <a16:creationId xmlns:a16="http://schemas.microsoft.com/office/drawing/2014/main" id="{E91928A5-12CB-4DA5-BE29-2E4A9DC5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447800"/>
            <a:ext cx="432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evaluator/ 独立评价端</a:t>
            </a:r>
          </a:p>
        </p:txBody>
      </p:sp>
      <p:sp>
        <p:nvSpPr>
          <p:cNvPr id="19" name="doc-17-line-0">
            <a:extLst xmlns:a="http://schemas.openxmlformats.org/drawingml/2006/main">
              <a:ext uri="{FF2B5EF4-FFF2-40B4-BE49-F238E27FC236}">
                <a16:creationId xmlns:a16="http://schemas.microsoft.com/office/drawing/2014/main" id="{B3D059A1-FA6F-4CAF-9050-3476A9051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924050"/>
            <a:ext cx="4114800" cy="766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gold.json  仅评价端 R</a:t>
            </a:r>
          </a:p>
        </p:txBody>
      </p:sp>
      <p:sp>
        <p:nvSpPr>
          <p:cNvPr id="20" name="doc-17-line-1">
            <a:extLst xmlns:a="http://schemas.openxmlformats.org/drawingml/2006/main">
              <a:ext uri="{FF2B5EF4-FFF2-40B4-BE49-F238E27FC236}">
                <a16:creationId xmlns:a16="http://schemas.microsoft.com/office/drawing/2014/main" id="{BC6F0F40-A26C-40DB-BFFF-A83E0C000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705100"/>
            <a:ext cx="4114800" cy="766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rubric.yaml  冻结规则</a:t>
            </a:r>
          </a:p>
        </p:txBody>
      </p:sp>
      <p:sp>
        <p:nvSpPr>
          <p:cNvPr id="21" name="doc-17-line-2">
            <a:extLst xmlns:a="http://schemas.openxmlformats.org/drawingml/2006/main">
              <a:ext uri="{FF2B5EF4-FFF2-40B4-BE49-F238E27FC236}">
                <a16:creationId xmlns:a16="http://schemas.microsoft.com/office/drawing/2014/main" id="{019077B5-F080-4604-B8A8-3C7FD63A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486150"/>
            <a:ext cx="4114800" cy="766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score.py  独立执行</a:t>
            </a:r>
          </a:p>
        </p:txBody>
      </p:sp>
      <p:sp>
        <p:nvSpPr>
          <p:cNvPr id="22" name="doc-17-line-3">
            <a:extLst xmlns:a="http://schemas.openxmlformats.org/drawingml/2006/main">
              <a:ext uri="{FF2B5EF4-FFF2-40B4-BE49-F238E27FC236}">
                <a16:creationId xmlns:a16="http://schemas.microsoft.com/office/drawing/2014/main" id="{2470B6D1-5522-42EE-999B-DC58FE9C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267200"/>
            <a:ext cx="4114800" cy="766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协议变更须人工确认</a:t>
            </a:r>
          </a:p>
        </p:txBody>
      </p:sp>
      <p:sp>
        <p:nvSpPr>
          <p:cNvPr id="23" name="sep-arrow">
            <a:extLst xmlns:a="http://schemas.openxmlformats.org/drawingml/2006/main">
              <a:ext uri="{FF2B5EF4-FFF2-40B4-BE49-F238E27FC236}">
                <a16:creationId xmlns:a16="http://schemas.microsoft.com/office/drawing/2014/main" id="{61117915-10FD-4DD7-9AD8-8D26EA2F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9527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5" name="role-boundary">
            <a:extLst xmlns:a="http://schemas.openxmlformats.org/drawingml/2006/main">
              <a:ext uri="{FF2B5EF4-FFF2-40B4-BE49-F238E27FC236}">
                <a16:creationId xmlns:a16="http://schemas.microsoft.com/office/drawing/2014/main" id="{7EAAE0D7-4745-4AEB-A3A6-5E346AB72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8162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执行端禁止读取 gold.json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同一阅读卡任务升级为可审计工作流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88EDFD4F-ED8E-4280-A9B4-FD2B9A77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f7a37d70fc4b10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53D1D6C1-B528-44D1-91C2-094E60A8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同一阅读卡任务升级为可审计工作流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BF43DA5E-7E26-4E2B-886D-352D8BC0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fiction">
            <a:extLst xmlns:a="http://schemas.openxmlformats.org/drawingml/2006/main">
              <a:ext uri="{FF2B5EF4-FFF2-40B4-BE49-F238E27FC236}">
                <a16:creationId xmlns:a16="http://schemas.microsoft.com/office/drawing/2014/main" id="{889283E5-8866-41DD-BF07-BD790748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sp>
        <p:nvSpPr>
          <p:cNvPr id="11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A6800770-7DE2-475A-86BA-986502FF9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chain-0">
            <a:extLst xmlns:a="http://schemas.openxmlformats.org/drawingml/2006/main">
              <a:ext uri="{FF2B5EF4-FFF2-40B4-BE49-F238E27FC236}">
                <a16:creationId xmlns:a16="http://schemas.microsoft.com/office/drawing/2014/main" id="{50CF4000-1191-4155-AD78-E38EDECA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20 篇论文</a:t>
            </a:r>
          </a:p>
        </p:txBody>
      </p:sp>
      <p:sp>
        <p:nvSpPr>
          <p:cNvPr id="13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6ADE1618-BDC1-48FD-9BE0-AF393E92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33575"/>
            <a:ext cx="600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chain-sub-0">
            <a:extLst xmlns:a="http://schemas.openxmlformats.org/drawingml/2006/main">
              <a:ext uri="{FF2B5EF4-FFF2-40B4-BE49-F238E27FC236}">
                <a16:creationId xmlns:a16="http://schemas.microsoft.com/office/drawing/2014/main" id="{6F44AE8C-7B44-4465-90F9-0B148EB7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固定输入</a:t>
            </a:r>
          </a:p>
        </p:txBody>
      </p:sp>
      <p:sp>
        <p:nvSpPr>
          <p:cNvPr id="15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5CA7A75A-F1F6-4122-8455-6DAFB825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486025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6" name="chain-1">
            <a:extLst xmlns:a="http://schemas.openxmlformats.org/drawingml/2006/main">
              <a:ext uri="{FF2B5EF4-FFF2-40B4-BE49-F238E27FC236}">
                <a16:creationId xmlns:a16="http://schemas.microsoft.com/office/drawing/2014/main" id="{A47E4A55-55BE-4D49-AC23-5C272509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762125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两条件生成</a:t>
            </a:r>
          </a:p>
        </p:txBody>
      </p:sp>
      <p:sp>
        <p:nvSpPr>
          <p:cNvPr id="17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4DC649AF-AF23-47BB-88FC-6E5AE3F2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933575"/>
            <a:ext cx="600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chain-sub-1">
            <a:extLst xmlns:a="http://schemas.openxmlformats.org/drawingml/2006/main">
              <a:ext uri="{FF2B5EF4-FFF2-40B4-BE49-F238E27FC236}">
                <a16:creationId xmlns:a16="http://schemas.microsoft.com/office/drawing/2014/main" id="{91D1A8D4-2532-48E0-9C45-C808C1D3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638425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阅读卡 / 自由摘要</a:t>
            </a:r>
          </a:p>
        </p:txBody>
      </p:sp>
      <p:sp>
        <p:nvSpPr>
          <p:cNvPr id="19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155D9E96-DB96-4CA6-B490-86393603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486025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0" name="chain-2">
            <a:extLst xmlns:a="http://schemas.openxmlformats.org/drawingml/2006/main">
              <a:ext uri="{FF2B5EF4-FFF2-40B4-BE49-F238E27FC236}">
                <a16:creationId xmlns:a16="http://schemas.microsoft.com/office/drawing/2014/main" id="{F0DC681D-344C-42F5-9B81-869B515F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762125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各 3 次运行</a:t>
            </a:r>
          </a:p>
        </p:txBody>
      </p:sp>
      <p:sp>
        <p:nvSpPr>
          <p:cNvPr id="21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E5A13596-5E17-406F-85FF-431902A5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33575"/>
            <a:ext cx="600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2" name="chain-sub-2">
            <a:extLst xmlns:a="http://schemas.openxmlformats.org/drawingml/2006/main">
              <a:ext uri="{FF2B5EF4-FFF2-40B4-BE49-F238E27FC236}">
                <a16:creationId xmlns:a16="http://schemas.microsoft.com/office/drawing/2014/main" id="{601D2A90-9A1F-4D95-9298-89F0DA25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38425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冻结配置</a:t>
            </a:r>
          </a:p>
        </p:txBody>
      </p:sp>
      <p:sp>
        <p:nvSpPr>
          <p:cNvPr id="23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8F02F0C2-3291-49D2-A712-79CB5B51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486025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4" name="chain-3">
            <a:extLst xmlns:a="http://schemas.openxmlformats.org/drawingml/2006/main">
              <a:ext uri="{FF2B5EF4-FFF2-40B4-BE49-F238E27FC236}">
                <a16:creationId xmlns:a16="http://schemas.microsoft.com/office/drawing/2014/main" id="{EBC78AF9-6A26-42A9-804E-D51C5DCD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62125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120 份输出</a:t>
            </a:r>
          </a:p>
        </p:txBody>
      </p:sp>
      <p:sp>
        <p:nvSpPr>
          <p:cNvPr id="25" name="chain-arrow-3">
            <a:extLst xmlns:a="http://schemas.openxmlformats.org/drawingml/2006/main">
              <a:ext uri="{FF2B5EF4-FFF2-40B4-BE49-F238E27FC236}">
                <a16:creationId xmlns:a16="http://schemas.microsoft.com/office/drawing/2014/main" id="{8E0F8D12-7838-4A53-B19A-8328AE64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933575"/>
            <a:ext cx="600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6" name="chain-sub-3">
            <a:extLst xmlns:a="http://schemas.openxmlformats.org/drawingml/2006/main">
              <a:ext uri="{FF2B5EF4-FFF2-40B4-BE49-F238E27FC236}">
                <a16:creationId xmlns:a16="http://schemas.microsoft.com/office/drawing/2014/main" id="{0BA81DFF-D4FF-4F1E-941F-9905A5DB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38425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绑定 run ID</a:t>
            </a:r>
          </a:p>
        </p:txBody>
      </p:sp>
      <p:sp>
        <p:nvSpPr>
          <p:cNvPr id="27" name="chain-line-4">
            <a:extLst xmlns:a="http://schemas.openxmlformats.org/drawingml/2006/main">
              <a:ext uri="{FF2B5EF4-FFF2-40B4-BE49-F238E27FC236}">
                <a16:creationId xmlns:a16="http://schemas.microsoft.com/office/drawing/2014/main" id="{CE087C13-FA04-4A47-BCBF-47308CE1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486025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8" name="chain-4">
            <a:extLst xmlns:a="http://schemas.openxmlformats.org/drawingml/2006/main">
              <a:ext uri="{FF2B5EF4-FFF2-40B4-BE49-F238E27FC236}">
                <a16:creationId xmlns:a16="http://schemas.microsoft.com/office/drawing/2014/main" id="{EF27C582-C0BC-498E-8E15-003D7B25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762125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人工基准评价</a:t>
            </a:r>
          </a:p>
        </p:txBody>
      </p:sp>
      <p:sp>
        <p:nvSpPr>
          <p:cNvPr id="29" name="chain-sub-4">
            <a:extLst xmlns:a="http://schemas.openxmlformats.org/drawingml/2006/main">
              <a:ext uri="{FF2B5EF4-FFF2-40B4-BE49-F238E27FC236}">
                <a16:creationId xmlns:a16="http://schemas.microsoft.com/office/drawing/2014/main" id="{4813AA21-3FA8-4708-A7A9-86155FFD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638425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执行器不可读</a:t>
            </a:r>
          </a:p>
        </p:txBody>
      </p:sp>
      <p:sp>
        <p:nvSpPr>
          <p:cNvPr id="30" name="hyp">
            <a:extLst xmlns:a="http://schemas.openxmlformats.org/drawingml/2006/main">
              <a:ext uri="{FF2B5EF4-FFF2-40B4-BE49-F238E27FC236}">
                <a16:creationId xmlns:a16="http://schemas.microsoft.com/office/drawing/2014/main" id="{FCFCDD9B-1778-4D30-A055-4E4773D1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33875"/>
            <a:ext cx="933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H1 结构字段｜A1 任务转移｜A2 标注提示｜A3 文档结构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最小原型先证明路径可运行或可演示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3A73FAEC-E1E4-422A-A9D8-44FF7FCA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532e5428349c7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13B9612C-A8C8-4A40-8831-285330CE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最小原型先证明路径可运行或可演示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B2B2F0E1-92AC-45B6-9C43-A48D90E8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doc-18-bg">
            <a:extLst xmlns:a="http://schemas.openxmlformats.org/drawingml/2006/main">
              <a:ext uri="{FF2B5EF4-FFF2-40B4-BE49-F238E27FC236}">
                <a16:creationId xmlns:a16="http://schemas.microsoft.com/office/drawing/2014/main" id="{98E38A78-BDC6-49D9-A788-B1D2AAEF8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7048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8-title-bg">
            <a:extLst xmlns:a="http://schemas.openxmlformats.org/drawingml/2006/main">
              <a:ext uri="{FF2B5EF4-FFF2-40B4-BE49-F238E27FC236}">
                <a16:creationId xmlns:a16="http://schemas.microsoft.com/office/drawing/2014/main" id="{A144220E-66E9-4886-B62E-A40D3A38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8-title">
            <a:extLst xmlns:a="http://schemas.openxmlformats.org/drawingml/2006/main">
              <a:ext uri="{FF2B5EF4-FFF2-40B4-BE49-F238E27FC236}">
                <a16:creationId xmlns:a16="http://schemas.microsoft.com/office/drawing/2014/main" id="{820578CA-BA98-4524-A487-B301FFB6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agent-workflow/</a:t>
            </a:r>
          </a:p>
        </p:txBody>
      </p:sp>
      <p:sp>
        <p:nvSpPr>
          <p:cNvPr id="13" name="doc-18-line-0">
            <a:extLst xmlns:a="http://schemas.openxmlformats.org/drawingml/2006/main">
              <a:ext uri="{FF2B5EF4-FFF2-40B4-BE49-F238E27FC236}">
                <a16:creationId xmlns:a16="http://schemas.microsoft.com/office/drawing/2014/main" id="{D386DC31-CA81-4F32-8872-2733BC92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76425"/>
            <a:ext cx="65913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contract.md</a:t>
            </a:r>
          </a:p>
        </p:txBody>
      </p:sp>
      <p:sp>
        <p:nvSpPr>
          <p:cNvPr id="14" name="doc-18-line-1">
            <a:extLst xmlns:a="http://schemas.openxmlformats.org/drawingml/2006/main">
              <a:ext uri="{FF2B5EF4-FFF2-40B4-BE49-F238E27FC236}">
                <a16:creationId xmlns:a16="http://schemas.microsoft.com/office/drawing/2014/main" id="{3FE232B9-FFC8-4668-86F5-0E43E224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44750"/>
            <a:ext cx="65913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runner/</a:t>
            </a:r>
          </a:p>
        </p:txBody>
      </p:sp>
      <p:sp>
        <p:nvSpPr>
          <p:cNvPr id="15" name="doc-18-line-2">
            <a:extLst xmlns:a="http://schemas.openxmlformats.org/drawingml/2006/main">
              <a:ext uri="{FF2B5EF4-FFF2-40B4-BE49-F238E27FC236}">
                <a16:creationId xmlns:a16="http://schemas.microsoft.com/office/drawing/2014/main" id="{6263B70F-E99D-4480-A225-EEADB35C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13075"/>
            <a:ext cx="65913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evaluator/</a:t>
            </a:r>
          </a:p>
        </p:txBody>
      </p:sp>
      <p:sp>
        <p:nvSpPr>
          <p:cNvPr id="16" name="doc-18-line-3">
            <a:extLst xmlns:a="http://schemas.openxmlformats.org/drawingml/2006/main">
              <a:ext uri="{FF2B5EF4-FFF2-40B4-BE49-F238E27FC236}">
                <a16:creationId xmlns:a16="http://schemas.microsoft.com/office/drawing/2014/main" id="{7FA95B49-7159-4B57-996C-45E3620BD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81400"/>
            <a:ext cx="65913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runs/001/</a:t>
            </a:r>
          </a:p>
        </p:txBody>
      </p:sp>
      <p:sp>
        <p:nvSpPr>
          <p:cNvPr id="17" name="doc-18-line-4">
            <a:extLst xmlns:a="http://schemas.openxmlformats.org/drawingml/2006/main">
              <a:ext uri="{FF2B5EF4-FFF2-40B4-BE49-F238E27FC236}">
                <a16:creationId xmlns:a16="http://schemas.microsoft.com/office/drawing/2014/main" id="{E95E6EFD-7A4D-4DBC-82B6-CB7B6F40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49725"/>
            <a:ext cx="65913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runs/001-failure/</a:t>
            </a:r>
          </a:p>
        </p:txBody>
      </p:sp>
      <p:sp>
        <p:nvSpPr>
          <p:cNvPr id="18" name="doc-18-line-5">
            <a:extLst xmlns:a="http://schemas.openxmlformats.org/drawingml/2006/main">
              <a:ext uri="{FF2B5EF4-FFF2-40B4-BE49-F238E27FC236}">
                <a16:creationId xmlns:a16="http://schemas.microsoft.com/office/drawing/2014/main" id="{764EA38D-8FE3-4757-B3CC-187CB9C4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18050"/>
            <a:ext cx="65913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review.md</a:t>
            </a:r>
          </a:p>
        </p:txBody>
      </p:sp>
      <p:sp>
        <p:nvSpPr>
          <p:cNvPr id="19" name="proof">
            <a:extLst xmlns:a="http://schemas.openxmlformats.org/drawingml/2006/main">
              <a:ext uri="{FF2B5EF4-FFF2-40B4-BE49-F238E27FC236}">
                <a16:creationId xmlns:a16="http://schemas.microsoft.com/office/drawing/2014/main" id="{544A187A-D9A4-4FB1-ADF5-D8B21A37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95500"/>
            <a:ext cx="2667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教师演示检查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一条正常 trace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一条失败 trace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一个人工决定</a:t>
            </a:r>
          </a:p>
        </p:txBody>
      </p:sp>
      <p:sp>
        <p:nvSpPr>
          <p:cNvPr id="21" name="fiction">
            <a:extLst xmlns:a="http://schemas.openxmlformats.org/drawingml/2006/main">
              <a:ext uri="{FF2B5EF4-FFF2-40B4-BE49-F238E27FC236}">
                <a16:creationId xmlns:a16="http://schemas.microsoft.com/office/drawing/2014/main" id="{1938CABF-5436-4361-B20B-59E19467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课程虚构教学工件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失败 trace 保留越权、处置与恢复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3F440A46-3362-4E84-9BE6-5D0B53509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f4d36198c143c8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4A42ADF4-DE66-413C-96DD-3DCA99A2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失败 trace 保留越权、处置与恢复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A032A660-922A-4D95-B3F9-17B189DD8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94971607-BE89-47FF-8B18-E0EEC3B8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8900"/>
            <a:ext cx="1428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882946C2-DAFE-4D01-B465-2DB068362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越权请求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EFA9DAEF-A4A3-4D09-BD1E-49344869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0764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1E104196-1CE2-4859-8DB8-C4A4E7D20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142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read gold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DEAF0116-E0C1-49A4-B36F-99619DFE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628900"/>
            <a:ext cx="1428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78B8E4ED-0479-4C4D-B8B3-96B35C28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905000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08AB23BE-A459-45A6-BDED-F34AC0B8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764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EF507A5D-5827-44DE-B136-4BC02108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781300"/>
            <a:ext cx="142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permission denied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50E2B674-97E4-449A-9A45-D98201DC0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28900"/>
            <a:ext cx="1428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D3D3194D-034E-45F4-B35A-A87EDFCB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05000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48357446-E4FE-4ECF-8760-7765930C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0764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44D9ABD4-CD17-442B-9471-916FF2F1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142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trace.jsonl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5F0C06DB-12B1-4E22-AFB6-3CBE2512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28900"/>
            <a:ext cx="1428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A0AB99D7-0D63-40E6-A3CC-E2D71A9E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05000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收窄</a:t>
            </a:r>
          </a:p>
        </p:txBody>
      </p:sp>
      <p:sp>
        <p:nvSpPr>
          <p:cNvPr id="24" name="chain-arrow-3">
            <a:extLst xmlns:a="http://schemas.openxmlformats.org/drawingml/2006/main">
              <a:ext uri="{FF2B5EF4-FFF2-40B4-BE49-F238E27FC236}">
                <a16:creationId xmlns:a16="http://schemas.microsoft.com/office/drawing/2014/main" id="{9542A458-1BBE-43FC-A519-58DDB7B2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764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chain-sub-3">
            <a:extLst xmlns:a="http://schemas.openxmlformats.org/drawingml/2006/main">
              <a:ext uri="{FF2B5EF4-FFF2-40B4-BE49-F238E27FC236}">
                <a16:creationId xmlns:a16="http://schemas.microsoft.com/office/drawing/2014/main" id="{82D662D6-8C68-4B18-8647-766EEFCF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81300"/>
            <a:ext cx="142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冻结输入</a:t>
            </a:r>
          </a:p>
        </p:txBody>
      </p:sp>
      <p:sp>
        <p:nvSpPr>
          <p:cNvPr id="26" name="chain-line-4">
            <a:extLst xmlns:a="http://schemas.openxmlformats.org/drawingml/2006/main">
              <a:ext uri="{FF2B5EF4-FFF2-40B4-BE49-F238E27FC236}">
                <a16:creationId xmlns:a16="http://schemas.microsoft.com/office/drawing/2014/main" id="{7AFD8F76-2E53-43D8-BE12-9F063D9C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28900"/>
            <a:ext cx="1428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7" name="chain-4">
            <a:extLst xmlns:a="http://schemas.openxmlformats.org/drawingml/2006/main">
              <a:ext uri="{FF2B5EF4-FFF2-40B4-BE49-F238E27FC236}">
                <a16:creationId xmlns:a16="http://schemas.microsoft.com/office/drawing/2014/main" id="{DF102652-DADE-4571-A4EC-0674623FF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905000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重试</a:t>
            </a:r>
          </a:p>
        </p:txBody>
      </p:sp>
      <p:sp>
        <p:nvSpPr>
          <p:cNvPr id="28" name="chain-arrow-4">
            <a:extLst xmlns:a="http://schemas.openxmlformats.org/drawingml/2006/main">
              <a:ext uri="{FF2B5EF4-FFF2-40B4-BE49-F238E27FC236}">
                <a16:creationId xmlns:a16="http://schemas.microsoft.com/office/drawing/2014/main" id="{B0397E4A-A5EB-46D6-8014-A4B236C5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764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9" name="chain-sub-4">
            <a:extLst xmlns:a="http://schemas.openxmlformats.org/drawingml/2006/main">
              <a:ext uri="{FF2B5EF4-FFF2-40B4-BE49-F238E27FC236}">
                <a16:creationId xmlns:a16="http://schemas.microsoft.com/office/drawing/2014/main" id="{B9C8CF57-A0E0-448D-BE0D-4004D12F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81300"/>
            <a:ext cx="142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新 run ID</a:t>
            </a:r>
          </a:p>
        </p:txBody>
      </p:sp>
      <p:sp>
        <p:nvSpPr>
          <p:cNvPr id="30" name="chain-line-5">
            <a:extLst xmlns:a="http://schemas.openxmlformats.org/drawingml/2006/main">
              <a:ext uri="{FF2B5EF4-FFF2-40B4-BE49-F238E27FC236}">
                <a16:creationId xmlns:a16="http://schemas.microsoft.com/office/drawing/2014/main" id="{8089531F-8D46-4B82-A1F6-A62FF5FF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28900"/>
            <a:ext cx="1428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</a:ln>
        </p:spPr>
      </p:sp>
      <p:sp>
        <p:nvSpPr>
          <p:cNvPr id="31" name="chain-5">
            <a:extLst xmlns:a="http://schemas.openxmlformats.org/drawingml/2006/main">
              <a:ext uri="{FF2B5EF4-FFF2-40B4-BE49-F238E27FC236}">
                <a16:creationId xmlns:a16="http://schemas.microsoft.com/office/drawing/2014/main" id="{4D49DA07-9FF9-4F39-B1CF-1F8D3FD1E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905000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人工核验</a:t>
            </a:r>
          </a:p>
        </p:txBody>
      </p:sp>
      <p:sp>
        <p:nvSpPr>
          <p:cNvPr id="32" name="chain-sub-5">
            <a:extLst xmlns:a="http://schemas.openxmlformats.org/drawingml/2006/main">
              <a:ext uri="{FF2B5EF4-FFF2-40B4-BE49-F238E27FC236}">
                <a16:creationId xmlns:a16="http://schemas.microsoft.com/office/drawing/2014/main" id="{4B35AF69-741F-44C6-B307-EFD0E3E6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781300"/>
            <a:ext cx="142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审核写回</a:t>
            </a:r>
          </a:p>
        </p:txBody>
      </p:sp>
      <p:sp>
        <p:nvSpPr>
          <p:cNvPr id="33" name="doc-19-bg">
            <a:extLst xmlns:a="http://schemas.openxmlformats.org/drawingml/2006/main">
              <a:ext uri="{FF2B5EF4-FFF2-40B4-BE49-F238E27FC236}">
                <a16:creationId xmlns:a16="http://schemas.microsoft.com/office/drawing/2014/main" id="{74A81401-7369-4C92-BBA2-B2D4E4C5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05250"/>
            <a:ext cx="8763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34" name="doc-19-title-bg">
            <a:extLst xmlns:a="http://schemas.openxmlformats.org/drawingml/2006/main">
              <a:ext uri="{FF2B5EF4-FFF2-40B4-BE49-F238E27FC236}">
                <a16:creationId xmlns:a16="http://schemas.microsoft.com/office/drawing/2014/main" id="{C57E423A-0269-48B9-ADDD-939340A4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052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35" name="doc-19-title">
            <a:extLst xmlns:a="http://schemas.openxmlformats.org/drawingml/2006/main">
              <a:ext uri="{FF2B5EF4-FFF2-40B4-BE49-F238E27FC236}">
                <a16:creationId xmlns:a16="http://schemas.microsoft.com/office/drawing/2014/main" id="{78475229-7444-493D-8662-451C862F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92430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trace.jsonl｜课程虚构工件</a:t>
            </a:r>
          </a:p>
        </p:txBody>
      </p:sp>
      <p:sp>
        <p:nvSpPr>
          <p:cNvPr id="36" name="doc-19-line-0">
            <a:extLst xmlns:a="http://schemas.openxmlformats.org/drawingml/2006/main">
              <a:ext uri="{FF2B5EF4-FFF2-40B4-BE49-F238E27FC236}">
                <a16:creationId xmlns:a16="http://schemas.microsoft.com/office/drawing/2014/main" id="{E7ECFCE8-46FF-46BB-90DC-B55DD5FA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400550"/>
            <a:ext cx="830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action=read_gold  permission=denied  recovery=narrow_scope  reviewer=human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个人实践：先定契约，再走通一条 trace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68F4EEDE-69F0-4C83-B3CB-73172C60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643859cf0d48c9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B5B15441-4932-4698-8DA6-3824C0D8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个人实践：先定契约，再走通一条 trace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7B66670D-A8CC-4310-AB36-EE933021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num-0">
            <a:extLst xmlns:a="http://schemas.openxmlformats.org/drawingml/2006/main">
              <a:ext uri="{FF2B5EF4-FFF2-40B4-BE49-F238E27FC236}">
                <a16:creationId xmlns:a16="http://schemas.microsoft.com/office/drawing/2014/main" id="{889E6745-6AC4-4531-86AA-E54F83A4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row-0">
            <a:extLst xmlns:a="http://schemas.openxmlformats.org/drawingml/2006/main">
              <a:ext uri="{FF2B5EF4-FFF2-40B4-BE49-F238E27FC236}">
                <a16:creationId xmlns:a16="http://schemas.microsoft.com/office/drawing/2014/main" id="{C469546A-FB6A-4828-8DB1-814ADA70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选第 10–11 课同一科研动作</a:t>
            </a:r>
          </a:p>
        </p:txBody>
      </p:sp>
      <p:sp>
        <p:nvSpPr>
          <p:cNvPr id="12" name="row-rule-0">
            <a:extLst xmlns:a="http://schemas.openxmlformats.org/drawingml/2006/main">
              <a:ext uri="{FF2B5EF4-FFF2-40B4-BE49-F238E27FC236}">
                <a16:creationId xmlns:a16="http://schemas.microsoft.com/office/drawing/2014/main" id="{B85BEF1D-8CB5-40C7-BF89-D9B3A40E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00288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num-1">
            <a:extLst xmlns:a="http://schemas.openxmlformats.org/drawingml/2006/main">
              <a:ext uri="{FF2B5EF4-FFF2-40B4-BE49-F238E27FC236}">
                <a16:creationId xmlns:a16="http://schemas.microsoft.com/office/drawing/2014/main" id="{1C21F831-7A78-4B5B-815D-D06F16BD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57438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row-1">
            <a:extLst xmlns:a="http://schemas.openxmlformats.org/drawingml/2006/main">
              <a:ext uri="{FF2B5EF4-FFF2-40B4-BE49-F238E27FC236}">
                <a16:creationId xmlns:a16="http://schemas.microsoft.com/office/drawing/2014/main" id="{8D803240-6DA1-4472-BB58-2C13E55B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57438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补齐八要素契约</a:t>
            </a:r>
          </a:p>
        </p:txBody>
      </p:sp>
      <p:sp>
        <p:nvSpPr>
          <p:cNvPr id="15" name="row-rule-1">
            <a:extLst xmlns:a="http://schemas.openxmlformats.org/drawingml/2006/main">
              <a:ext uri="{FF2B5EF4-FFF2-40B4-BE49-F238E27FC236}">
                <a16:creationId xmlns:a16="http://schemas.microsoft.com/office/drawing/2014/main" id="{5F92E528-8E22-4E4F-A9CC-218EAB16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33725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num-2">
            <a:extLst xmlns:a="http://schemas.openxmlformats.org/drawingml/2006/main">
              <a:ext uri="{FF2B5EF4-FFF2-40B4-BE49-F238E27FC236}">
                <a16:creationId xmlns:a16="http://schemas.microsoft.com/office/drawing/2014/main" id="{CC05C34B-2F87-4166-AD20-8B14004C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90875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ow-2">
            <a:extLst xmlns:a="http://schemas.openxmlformats.org/drawingml/2006/main">
              <a:ext uri="{FF2B5EF4-FFF2-40B4-BE49-F238E27FC236}">
                <a16:creationId xmlns:a16="http://schemas.microsoft.com/office/drawing/2014/main" id="{1709FAEC-98D9-48AC-9428-C429985E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90875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建立最小目录与运行路径</a:t>
            </a:r>
          </a:p>
        </p:txBody>
      </p:sp>
      <p:sp>
        <p:nvSpPr>
          <p:cNvPr id="18" name="row-rule-2">
            <a:extLst xmlns:a="http://schemas.openxmlformats.org/drawingml/2006/main">
              <a:ext uri="{FF2B5EF4-FFF2-40B4-BE49-F238E27FC236}">
                <a16:creationId xmlns:a16="http://schemas.microsoft.com/office/drawing/2014/main" id="{8D665E54-29BA-46B9-ACAD-7AB46C31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67163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num-3">
            <a:extLst xmlns:a="http://schemas.openxmlformats.org/drawingml/2006/main">
              <a:ext uri="{FF2B5EF4-FFF2-40B4-BE49-F238E27FC236}">
                <a16:creationId xmlns:a16="http://schemas.microsoft.com/office/drawing/2014/main" id="{421D16FC-C4B3-42F5-A977-CA512C14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24313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row-3">
            <a:extLst xmlns:a="http://schemas.openxmlformats.org/drawingml/2006/main">
              <a:ext uri="{FF2B5EF4-FFF2-40B4-BE49-F238E27FC236}">
                <a16:creationId xmlns:a16="http://schemas.microsoft.com/office/drawing/2014/main" id="{A8135100-7A53-4CA7-822E-86B37EA1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24313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保留一条 trace 与失败恢复</a:t>
            </a:r>
          </a:p>
        </p:txBody>
      </p:sp>
      <p:sp>
        <p:nvSpPr>
          <p:cNvPr id="21" name="practice-side">
            <a:extLst xmlns:a="http://schemas.openxmlformats.org/drawingml/2006/main">
              <a:ext uri="{FF2B5EF4-FFF2-40B4-BE49-F238E27FC236}">
                <a16:creationId xmlns:a16="http://schemas.microsoft.com/office/drawing/2014/main" id="{08E09762-0060-4A39-ACA6-4A0CA841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66875"/>
            <a:ext cx="34290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2" name="practice-h">
            <a:extLst xmlns:a="http://schemas.openxmlformats.org/drawingml/2006/main">
              <a:ext uri="{FF2B5EF4-FFF2-40B4-BE49-F238E27FC236}">
                <a16:creationId xmlns:a16="http://schemas.microsoft.com/office/drawing/2014/main" id="{6E584B81-92EB-429D-A107-0E8EEF17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52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课堂完成标志</a:t>
            </a:r>
          </a:p>
        </p:txBody>
      </p:sp>
      <p:sp>
        <p:nvSpPr>
          <p:cNvPr id="23" name="practice-note">
            <a:extLst xmlns:a="http://schemas.openxmlformats.org/drawingml/2006/main">
              <a:ext uri="{FF2B5EF4-FFF2-40B4-BE49-F238E27FC236}">
                <a16:creationId xmlns:a16="http://schemas.microsoft.com/office/drawing/2014/main" id="{2A4F1657-2D58-4A2B-B4A7-239E122A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19375"/>
            <a:ext cx="276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可运行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可复现演示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不要求课堂跑完 120 输出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八要素自检贴在同一工作流上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014ABB80-2EA8-4BE3-BE55-6DE715D1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c8b273c9849e7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7715B77A-3133-454A-BD6B-4BA44BA3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八要素自检贴在同一工作流上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FFBC2688-B9F3-49CC-8D68-94D4480A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m-label-0">
            <a:extLst xmlns:a="http://schemas.openxmlformats.org/drawingml/2006/main">
              <a:ext uri="{FF2B5EF4-FFF2-40B4-BE49-F238E27FC236}">
                <a16:creationId xmlns:a16="http://schemas.microsoft.com/office/drawing/2014/main" id="{D343D29D-87A5-4485-AD60-2ECE4A5F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285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契约 / Context</a:t>
            </a:r>
          </a:p>
        </p:txBody>
      </p:sp>
      <p:sp>
        <p:nvSpPr>
          <p:cNvPr id="11" name="m-value-0">
            <a:extLst xmlns:a="http://schemas.openxmlformats.org/drawingml/2006/main">
              <a:ext uri="{FF2B5EF4-FFF2-40B4-BE49-F238E27FC236}">
                <a16:creationId xmlns:a16="http://schemas.microsoft.com/office/drawing/2014/main" id="{7EE4F96D-CE44-4F75-B23E-8544B095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14500"/>
            <a:ext cx="79438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输入输出与状态能否反查？</a:t>
            </a:r>
          </a:p>
        </p:txBody>
      </p:sp>
      <p:sp>
        <p:nvSpPr>
          <p:cNvPr id="12" name="m-rule-0">
            <a:extLst xmlns:a="http://schemas.openxmlformats.org/drawingml/2006/main">
              <a:ext uri="{FF2B5EF4-FFF2-40B4-BE49-F238E27FC236}">
                <a16:creationId xmlns:a16="http://schemas.microsoft.com/office/drawing/2014/main" id="{61298518-4914-4D6F-B9C5-B81CDDC1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127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m-label-1">
            <a:extLst xmlns:a="http://schemas.openxmlformats.org/drawingml/2006/main">
              <a:ext uri="{FF2B5EF4-FFF2-40B4-BE49-F238E27FC236}">
                <a16:creationId xmlns:a16="http://schemas.microsoft.com/office/drawing/2014/main" id="{3ADF0E6F-1756-4AEB-8436-E2463563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285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 / 循环</a:t>
            </a:r>
          </a:p>
        </p:txBody>
      </p:sp>
      <p:sp>
        <p:nvSpPr>
          <p:cNvPr id="14" name="m-value-1">
            <a:extLst xmlns:a="http://schemas.openxmlformats.org/drawingml/2006/main">
              <a:ext uri="{FF2B5EF4-FFF2-40B4-BE49-F238E27FC236}">
                <a16:creationId xmlns:a16="http://schemas.microsoft.com/office/drawing/2014/main" id="{5A56412F-C424-425F-8252-C98FB962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19375"/>
            <a:ext cx="79438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外部动作何时停？</a:t>
            </a:r>
          </a:p>
        </p:txBody>
      </p:sp>
      <p:sp>
        <p:nvSpPr>
          <p:cNvPr id="15" name="m-rule-1">
            <a:extLst xmlns:a="http://schemas.openxmlformats.org/drawingml/2006/main">
              <a:ext uri="{FF2B5EF4-FFF2-40B4-BE49-F238E27FC236}">
                <a16:creationId xmlns:a16="http://schemas.microsoft.com/office/drawing/2014/main" id="{73ECAD51-868F-4FE9-A632-2B478EEE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m-label-2">
            <a:extLst xmlns:a="http://schemas.openxmlformats.org/drawingml/2006/main">
              <a:ext uri="{FF2B5EF4-FFF2-40B4-BE49-F238E27FC236}">
                <a16:creationId xmlns:a16="http://schemas.microsoft.com/office/drawing/2014/main" id="{EE7EC34C-A256-40AB-BC12-8432014A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285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工件 / Evals</a:t>
            </a:r>
          </a:p>
        </p:txBody>
      </p:sp>
      <p:sp>
        <p:nvSpPr>
          <p:cNvPr id="17" name="m-value-2">
            <a:extLst xmlns:a="http://schemas.openxmlformats.org/drawingml/2006/main">
              <a:ext uri="{FF2B5EF4-FFF2-40B4-BE49-F238E27FC236}">
                <a16:creationId xmlns:a16="http://schemas.microsoft.com/office/drawing/2014/main" id="{3AD6CA78-F423-4E73-A596-9E47AE31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24250"/>
            <a:ext cx="79438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运行与评价是否隔离？</a:t>
            </a:r>
          </a:p>
        </p:txBody>
      </p:sp>
      <p:sp>
        <p:nvSpPr>
          <p:cNvPr id="18" name="m-rule-2">
            <a:extLst xmlns:a="http://schemas.openxmlformats.org/drawingml/2006/main">
              <a:ext uri="{FF2B5EF4-FFF2-40B4-BE49-F238E27FC236}">
                <a16:creationId xmlns:a16="http://schemas.microsoft.com/office/drawing/2014/main" id="{D1902DDA-6BE1-4695-A847-C9008425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m-label-3">
            <a:extLst xmlns:a="http://schemas.openxmlformats.org/drawingml/2006/main">
              <a:ext uri="{FF2B5EF4-FFF2-40B4-BE49-F238E27FC236}">
                <a16:creationId xmlns:a16="http://schemas.microsoft.com/office/drawing/2014/main" id="{B634F107-5A91-40CC-9101-D37B97D7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285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人工审核 / 恢复</a:t>
            </a:r>
          </a:p>
        </p:txBody>
      </p:sp>
      <p:sp>
        <p:nvSpPr>
          <p:cNvPr id="20" name="m-value-3">
            <a:extLst xmlns:a="http://schemas.openxmlformats.org/drawingml/2006/main">
              <a:ext uri="{FF2B5EF4-FFF2-40B4-BE49-F238E27FC236}">
                <a16:creationId xmlns:a16="http://schemas.microsoft.com/office/drawing/2014/main" id="{62E61000-4300-413F-9825-46106877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429125"/>
            <a:ext cx="79438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失败是否保留并改变下一步？</a:t>
            </a:r>
          </a:p>
        </p:txBody>
      </p:sp>
      <p:sp>
        <p:nvSpPr>
          <p:cNvPr id="21" name="m-rule-3">
            <a:extLst xmlns:a="http://schemas.openxmlformats.org/drawingml/2006/main">
              <a:ext uri="{FF2B5EF4-FFF2-40B4-BE49-F238E27FC236}">
                <a16:creationId xmlns:a16="http://schemas.microsoft.com/office/drawing/2014/main" id="{1CFCDBC1-7F3E-4F66-B998-1D02EE9F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同伴只问边界、越权与 baseline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AE713C75-38E8-415F-BD3C-3D944D8F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cac36951584cda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F1EFC51D-DDE6-4A94-910F-1E0635C7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同伴只问边界、越权与 baseline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9C2A6E8A-C3AB-4009-8D96-32C003E57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doc-20-bg">
            <a:extLst xmlns:a="http://schemas.openxmlformats.org/drawingml/2006/main">
              <a:ext uri="{FF2B5EF4-FFF2-40B4-BE49-F238E27FC236}">
                <a16:creationId xmlns:a16="http://schemas.microsoft.com/office/drawing/2014/main" id="{1D51A5CA-2D83-487E-8DB2-38C3AFB2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24000"/>
            <a:ext cx="53340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20-title-bg">
            <a:extLst xmlns:a="http://schemas.openxmlformats.org/drawingml/2006/main">
              <a:ext uri="{FF2B5EF4-FFF2-40B4-BE49-F238E27FC236}">
                <a16:creationId xmlns:a16="http://schemas.microsoft.com/office/drawing/2014/main" id="{0C9B676B-7573-43A2-A700-C2F18286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2400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20-title">
            <a:extLst xmlns:a="http://schemas.openxmlformats.org/drawingml/2006/main">
              <a:ext uri="{FF2B5EF4-FFF2-40B4-BE49-F238E27FC236}">
                <a16:creationId xmlns:a16="http://schemas.microsoft.com/office/drawing/2014/main" id="{583CCD8B-3F43-4385-9A7A-9F2C9B25F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5430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作者的最小工作流</a:t>
            </a:r>
          </a:p>
        </p:txBody>
      </p:sp>
      <p:sp>
        <p:nvSpPr>
          <p:cNvPr id="13" name="doc-20-line-0">
            <a:extLst xmlns:a="http://schemas.openxmlformats.org/drawingml/2006/main">
              <a:ext uri="{FF2B5EF4-FFF2-40B4-BE49-F238E27FC236}">
                <a16:creationId xmlns:a16="http://schemas.microsoft.com/office/drawing/2014/main" id="{61B695C0-C4AC-40E7-8FB2-F547BBEC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019300"/>
            <a:ext cx="4876800" cy="95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边界｜哪些动作不交给 Agent</a:t>
            </a:r>
          </a:p>
        </p:txBody>
      </p:sp>
      <p:sp>
        <p:nvSpPr>
          <p:cNvPr id="14" name="doc-20-line-1">
            <a:extLst xmlns:a="http://schemas.openxmlformats.org/drawingml/2006/main">
              <a:ext uri="{FF2B5EF4-FFF2-40B4-BE49-F238E27FC236}">
                <a16:creationId xmlns:a16="http://schemas.microsoft.com/office/drawing/2014/main" id="{061DE8DF-A2A3-4F32-B9FF-19B2A55B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97200"/>
            <a:ext cx="4876800" cy="95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越权｜哪个节点必须停</a:t>
            </a:r>
          </a:p>
        </p:txBody>
      </p:sp>
      <p:sp>
        <p:nvSpPr>
          <p:cNvPr id="15" name="doc-20-line-2">
            <a:extLst xmlns:a="http://schemas.openxmlformats.org/drawingml/2006/main">
              <a:ext uri="{FF2B5EF4-FFF2-40B4-BE49-F238E27FC236}">
                <a16:creationId xmlns:a16="http://schemas.microsoft.com/office/drawing/2014/main" id="{C0E4BAC2-ED60-4478-86F7-9203FF29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75100"/>
            <a:ext cx="4876800" cy="95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baseline｜与什么比较，如何评分</a:t>
            </a:r>
          </a:p>
        </p:txBody>
      </p:sp>
      <p:sp>
        <p:nvSpPr>
          <p:cNvPr id="16" name="peer">
            <a:extLst xmlns:a="http://schemas.openxmlformats.org/drawingml/2006/main">
              <a:ext uri="{FF2B5EF4-FFF2-40B4-BE49-F238E27FC236}">
                <a16:creationId xmlns:a16="http://schemas.microsoft.com/office/drawing/2014/main" id="{59ACEA3D-B83C-441E-B0ED-6AC142852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2190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同伴只提问题</a:t>
            </a:r>
          </a:p>
        </p:txBody>
      </p:sp>
      <p:sp>
        <p:nvSpPr>
          <p:cNvPr id="17" name="author">
            <a:extLst xmlns:a="http://schemas.openxmlformats.org/drawingml/2006/main">
              <a:ext uri="{FF2B5EF4-FFF2-40B4-BE49-F238E27FC236}">
                <a16:creationId xmlns:a16="http://schemas.microsoft.com/office/drawing/2014/main" id="{5A5C0149-BD2B-4D62-8ABC-F1B4FF36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33625"/>
            <a:ext cx="2286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作者记录处理方式与真实理由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9A22A1E9-629E-480D-AFB4-6C5D2C9F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e5d4544aed4ba7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3E429823-7371-4009-8F6D-7021313F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25CCAFC6-8F68-42CC-962C-B1754691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61149F67-8EDD-42CF-BAA9-D64E88666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3164F39E-49EA-465D-B8BE-BE72D564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八要素契约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E2B540EE-0D8E-45CA-A145-4B835E61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2A002F95-AD6C-4087-B313-F095D1EB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本讲输入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B99B367C-2B25-417F-B39B-9E92FE8B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F89D5002-D3CE-46EE-BF59-3DC6002F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权限与循环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19C54A65-2CF6-4486-81F6-B0B5DC6D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850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030D6674-E189-480E-A137-F9240933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本讲执行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CAFBC6C8-34B0-4F07-AF13-BAC65F8B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B38C2562-5922-45A2-ADDB-155616F8F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独立评价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3309FEA6-4C03-43AE-9EBF-B2BDEC14B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225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0038D08D-2D0B-4EBB-9219-328591AB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本讲证据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3CEFD9E3-52FC-41F8-B848-8B93074E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C2762E86-BF48-443E-9144-F6904FC11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 trace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3549F9C4-718A-442B-80FE-2495271C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把真实运行结果带到第 13 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99A50343-548A-4659-951C-90416B62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c7fededb44dcc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59E0283A-3F6F-460C-AF8C-82F46478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把真实运行结果带到第 13 课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9964D0D1-BB8C-4B6D-93FC-1D73C9C5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0FD2712F-97B8-4F37-9E13-4D881897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74280057-49C0-4392-AC52-B5CA7DE0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L10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1DD96755-277F-4D86-B2CE-346A9D45E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C9A9A366-C848-4339-8BAD-BBF16CAE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4" name="chain-1">
            <a:extLst xmlns:a="http://schemas.openxmlformats.org/drawingml/2006/main">
              <a:ext uri="{FF2B5EF4-FFF2-40B4-BE49-F238E27FC236}">
                <a16:creationId xmlns:a16="http://schemas.microsoft.com/office/drawing/2014/main" id="{1B3726FF-E838-4B1C-BBD5-D8EB071FA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L11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冻结循环</a:t>
            </a:r>
          </a:p>
        </p:txBody>
      </p:sp>
      <p:sp>
        <p:nvSpPr>
          <p:cNvPr id="15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2AA0FD19-A84C-4FA0-AC78-B0AD0F54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314B92B6-864E-4E59-BE73-8FD405D2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7" name="chain-2">
            <a:extLst xmlns:a="http://schemas.openxmlformats.org/drawingml/2006/main">
              <a:ext uri="{FF2B5EF4-FFF2-40B4-BE49-F238E27FC236}">
                <a16:creationId xmlns:a16="http://schemas.microsoft.com/office/drawing/2014/main" id="{EA5F6CB8-E021-4610-AEEF-6F4B5819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L12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最小工作流</a:t>
            </a:r>
          </a:p>
        </p:txBody>
      </p:sp>
      <p:sp>
        <p:nvSpPr>
          <p:cNvPr id="18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0AC20634-5755-445B-9BCE-DE3430874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9" name="chain-sub-2">
            <a:extLst xmlns:a="http://schemas.openxmlformats.org/drawingml/2006/main">
              <a:ext uri="{FF2B5EF4-FFF2-40B4-BE49-F238E27FC236}">
                <a16:creationId xmlns:a16="http://schemas.microsoft.com/office/drawing/2014/main" id="{5ED94A4F-8705-4B4F-A31B-07772479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575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当前位置 / 输出</a:t>
            </a:r>
          </a:p>
        </p:txBody>
      </p:sp>
      <p:sp>
        <p:nvSpPr>
          <p:cNvPr id="20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F6FC4554-066F-4963-A90E-3CA0C525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1" name="chain-3">
            <a:extLst xmlns:a="http://schemas.openxmlformats.org/drawingml/2006/main">
              <a:ext uri="{FF2B5EF4-FFF2-40B4-BE49-F238E27FC236}">
                <a16:creationId xmlns:a16="http://schemas.microsoft.com/office/drawing/2014/main" id="{E9A49E85-4ECD-4599-877F-E14D7841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L13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评价</a:t>
            </a:r>
          </a:p>
        </p:txBody>
      </p:sp>
      <p:sp>
        <p:nvSpPr>
          <p:cNvPr id="22" name="bring">
            <a:extLst xmlns:a="http://schemas.openxmlformats.org/drawingml/2006/main">
              <a:ext uri="{FF2B5EF4-FFF2-40B4-BE49-F238E27FC236}">
                <a16:creationId xmlns:a16="http://schemas.microsoft.com/office/drawing/2014/main" id="{3CCD444F-BE0D-43FF-9356-2BDBFD5E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76750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课前带来：结果对照｜失败 trace｜人工审核记录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2026-09-13T14:42:11.0150000Z</dcterms:created>
  <dcterms:modified xsi:type="dcterms:W3CDTF">2026-09-13T14:42:11.0150000Z</dcterms:modified>
</coreProperties>
</file>