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d44f4b44bf4f12" /><Relationship Type="http://schemas.openxmlformats.org/officeDocument/2006/relationships/extended-properties" Target="/docProps/app.xml" Id="Rebfa2be35be047b0" /><Relationship Type="http://schemas.openxmlformats.org/officeDocument/2006/relationships/officeDocument" Target="/ppt/presentation.xml" Id="R26fac4b6951448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44832fd32c4338"/>
  </p:sldMasterIdLst>
  <p:notesMasterIdLst>
    <p:notesMasterId xmlns:r="http://schemas.openxmlformats.org/officeDocument/2006/relationships" r:id="R3df13123ec034bf0"/>
  </p:notesMasterIdLst>
  <p:sldIdLst>
    <p:sldId xmlns:r="http://schemas.openxmlformats.org/officeDocument/2006/relationships" id="256" r:id="R6c1058ca65314493"/>
    <p:sldId xmlns:r="http://schemas.openxmlformats.org/officeDocument/2006/relationships" id="257" r:id="R17c0727db6ed47de"/>
    <p:sldId xmlns:r="http://schemas.openxmlformats.org/officeDocument/2006/relationships" id="258" r:id="R29d3bb0678264eb4"/>
    <p:sldId xmlns:r="http://schemas.openxmlformats.org/officeDocument/2006/relationships" id="259" r:id="R2a9cda008d0f4e29"/>
    <p:sldId xmlns:r="http://schemas.openxmlformats.org/officeDocument/2006/relationships" id="260" r:id="R987f2c9cf9eb4432"/>
    <p:sldId xmlns:r="http://schemas.openxmlformats.org/officeDocument/2006/relationships" id="261" r:id="R213253aa9b0e4453"/>
    <p:sldId xmlns:r="http://schemas.openxmlformats.org/officeDocument/2006/relationships" id="262" r:id="Ra563d764d58446fc"/>
    <p:sldId xmlns:r="http://schemas.openxmlformats.org/officeDocument/2006/relationships" id="263" r:id="R098ec588b1e54499"/>
    <p:sldId xmlns:r="http://schemas.openxmlformats.org/officeDocument/2006/relationships" id="264" r:id="Rfd39fee11bdb44ea"/>
    <p:sldId xmlns:r="http://schemas.openxmlformats.org/officeDocument/2006/relationships" id="265" r:id="Rbd29d085acdd49d5"/>
    <p:sldId xmlns:r="http://schemas.openxmlformats.org/officeDocument/2006/relationships" id="266" r:id="R9e222d2cc8464397"/>
    <p:sldId xmlns:r="http://schemas.openxmlformats.org/officeDocument/2006/relationships" id="267" r:id="R99f26dfe6aee4c9e"/>
    <p:sldId xmlns:r="http://schemas.openxmlformats.org/officeDocument/2006/relationships" id="268" r:id="R6961ac5762d548ad"/>
    <p:sldId xmlns:r="http://schemas.openxmlformats.org/officeDocument/2006/relationships" id="269" r:id="Re2e3ccb59d9c41cd"/>
    <p:sldId xmlns:r="http://schemas.openxmlformats.org/officeDocument/2006/relationships" id="270" r:id="R0a9cddc54aca4587"/>
    <p:sldId xmlns:r="http://schemas.openxmlformats.org/officeDocument/2006/relationships" id="271" r:id="Rbb185ef4dcda4df8"/>
    <p:sldId xmlns:r="http://schemas.openxmlformats.org/officeDocument/2006/relationships" id="272" r:id="Re53bf1434b1b437d"/>
    <p:sldId xmlns:r="http://schemas.openxmlformats.org/officeDocument/2006/relationships" id="273" r:id="Rc06d3814418949be"/>
    <p:sldId xmlns:r="http://schemas.openxmlformats.org/officeDocument/2006/relationships" id="274" r:id="R2e25fdbb8d614e8d"/>
    <p:sldId xmlns:r="http://schemas.openxmlformats.org/officeDocument/2006/relationships" id="275" r:id="Rb0a9fcdb950e4447"/>
    <p:sldId xmlns:r="http://schemas.openxmlformats.org/officeDocument/2006/relationships" id="276" r:id="Rbbd5d7580bc645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3430f532054245" /><Relationship Type="http://schemas.openxmlformats.org/officeDocument/2006/relationships/slideMaster" Target="/ppt/slideMasters/slideMaster1.xml" Id="Rc044832fd32c4338" /><Relationship Type="http://schemas.openxmlformats.org/officeDocument/2006/relationships/notesMaster" Target="/ppt/notesMasters/notesMaster1.xml" Id="R3df13123ec034bf0" /><Relationship Type="http://schemas.openxmlformats.org/officeDocument/2006/relationships/presProps" Target="/ppt/presProps.xml" Id="R575e2bb4f9b64a5d" /><Relationship Type="http://schemas.openxmlformats.org/officeDocument/2006/relationships/viewProps" Target="/ppt/viewProps.xml" Id="R251de9cd633c4adc" /><Relationship Type="http://schemas.openxmlformats.org/officeDocument/2006/relationships/tableStyles" Target="/ppt/tableStyles.xml" Id="Rcde8545ea75c4831" /><Relationship Type="http://schemas.openxmlformats.org/officeDocument/2006/relationships/slide" Target="/ppt/slides/slide1.xml" Id="R6c1058ca65314493" /><Relationship Type="http://schemas.openxmlformats.org/officeDocument/2006/relationships/slide" Target="/ppt/slides/slide2.xml" Id="R17c0727db6ed47de" /><Relationship Type="http://schemas.openxmlformats.org/officeDocument/2006/relationships/slide" Target="/ppt/slides/slide3.xml" Id="R29d3bb0678264eb4" /><Relationship Type="http://schemas.openxmlformats.org/officeDocument/2006/relationships/slide" Target="/ppt/slides/slide4.xml" Id="R2a9cda008d0f4e29" /><Relationship Type="http://schemas.openxmlformats.org/officeDocument/2006/relationships/slide" Target="/ppt/slides/slide5.xml" Id="R987f2c9cf9eb4432" /><Relationship Type="http://schemas.openxmlformats.org/officeDocument/2006/relationships/slide" Target="/ppt/slides/slide6.xml" Id="R213253aa9b0e4453" /><Relationship Type="http://schemas.openxmlformats.org/officeDocument/2006/relationships/slide" Target="/ppt/slides/slide7.xml" Id="Ra563d764d58446fc" /><Relationship Type="http://schemas.openxmlformats.org/officeDocument/2006/relationships/slide" Target="/ppt/slides/slide8.xml" Id="R098ec588b1e54499" /><Relationship Type="http://schemas.openxmlformats.org/officeDocument/2006/relationships/slide" Target="/ppt/slides/slide9.xml" Id="Rfd39fee11bdb44ea" /><Relationship Type="http://schemas.openxmlformats.org/officeDocument/2006/relationships/slide" Target="/ppt/slides/slide10.xml" Id="Rbd29d085acdd49d5" /><Relationship Type="http://schemas.openxmlformats.org/officeDocument/2006/relationships/slide" Target="/ppt/slides/slide11.xml" Id="R9e222d2cc8464397" /><Relationship Type="http://schemas.openxmlformats.org/officeDocument/2006/relationships/slide" Target="/ppt/slides/slide12.xml" Id="R99f26dfe6aee4c9e" /><Relationship Type="http://schemas.openxmlformats.org/officeDocument/2006/relationships/slide" Target="/ppt/slides/slide13.xml" Id="R6961ac5762d548ad" /><Relationship Type="http://schemas.openxmlformats.org/officeDocument/2006/relationships/slide" Target="/ppt/slides/slide14.xml" Id="Re2e3ccb59d9c41cd" /><Relationship Type="http://schemas.openxmlformats.org/officeDocument/2006/relationships/slide" Target="/ppt/slides/slide15.xml" Id="R0a9cddc54aca4587" /><Relationship Type="http://schemas.openxmlformats.org/officeDocument/2006/relationships/slide" Target="/ppt/slides/slide16.xml" Id="Rbb185ef4dcda4df8" /><Relationship Type="http://schemas.openxmlformats.org/officeDocument/2006/relationships/slide" Target="/ppt/slides/slide17.xml" Id="Re53bf1434b1b437d" /><Relationship Type="http://schemas.openxmlformats.org/officeDocument/2006/relationships/slide" Target="/ppt/slides/slide18.xml" Id="Rc06d3814418949be" /><Relationship Type="http://schemas.openxmlformats.org/officeDocument/2006/relationships/slide" Target="/ppt/slides/slide19.xml" Id="R2e25fdbb8d614e8d" /><Relationship Type="http://schemas.openxmlformats.org/officeDocument/2006/relationships/slide" Target="/ppt/slides/slide20.xml" Id="Rb0a9fcdb950e4447" /><Relationship Type="http://schemas.openxmlformats.org/officeDocument/2006/relationships/slide" Target="/ppt/slides/slide21.xml" Id="Rbbd5d7580bc645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8dfda97a4f48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b33f5cc6374364" /><Relationship Type="http://schemas.openxmlformats.org/officeDocument/2006/relationships/notesMaster" Target="/ppt/notesMasters/notesMaster1.xml" Id="R9c0bef4f74a84d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78384056904e4e" /><Relationship Type="http://schemas.openxmlformats.org/officeDocument/2006/relationships/notesMaster" Target="/ppt/notesMasters/notesMaster1.xml" Id="Rc4ab920266644f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090f58f1894ccf" /><Relationship Type="http://schemas.openxmlformats.org/officeDocument/2006/relationships/notesMaster" Target="/ppt/notesMasters/notesMaster1.xml" Id="R216f3eb8ff0a43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7bf42b414d4ca9" /><Relationship Type="http://schemas.openxmlformats.org/officeDocument/2006/relationships/notesMaster" Target="/ppt/notesMasters/notesMaster1.xml" Id="Rafb020a085b34e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274474250549f2" /><Relationship Type="http://schemas.openxmlformats.org/officeDocument/2006/relationships/notesMaster" Target="/ppt/notesMasters/notesMaster1.xml" Id="R0159b6272d7245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c91061748e4739" /><Relationship Type="http://schemas.openxmlformats.org/officeDocument/2006/relationships/notesMaster" Target="/ppt/notesMasters/notesMaster1.xml" Id="R0848daa464be42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bde124546a46ca" /><Relationship Type="http://schemas.openxmlformats.org/officeDocument/2006/relationships/notesMaster" Target="/ppt/notesMasters/notesMaster1.xml" Id="R2f7d827eb68e4e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13616f581e49cf" /><Relationship Type="http://schemas.openxmlformats.org/officeDocument/2006/relationships/notesMaster" Target="/ppt/notesMasters/notesMaster1.xml" Id="R47693c76865c45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3c6902ac414ec6" /><Relationship Type="http://schemas.openxmlformats.org/officeDocument/2006/relationships/notesMaster" Target="/ppt/notesMasters/notesMaster1.xml" Id="R57aa232f367a4a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55d94123c04098" /><Relationship Type="http://schemas.openxmlformats.org/officeDocument/2006/relationships/notesMaster" Target="/ppt/notesMasters/notesMaster1.xml" Id="Refca6d8dfa2440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7eed70381c4485" /><Relationship Type="http://schemas.openxmlformats.org/officeDocument/2006/relationships/notesMaster" Target="/ppt/notesMasters/notesMaster1.xml" Id="R67c3e5f03abe42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85f3b768664b46" /><Relationship Type="http://schemas.openxmlformats.org/officeDocument/2006/relationships/notesMaster" Target="/ppt/notesMasters/notesMaster1.xml" Id="R7184748c490a45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266f55699b4e7c" /><Relationship Type="http://schemas.openxmlformats.org/officeDocument/2006/relationships/notesMaster" Target="/ppt/notesMasters/notesMaster1.xml" Id="Rca40d636f2fd48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418eaa4a8d49b8" /><Relationship Type="http://schemas.openxmlformats.org/officeDocument/2006/relationships/notesMaster" Target="/ppt/notesMasters/notesMaster1.xml" Id="R3d2d6c4fa87f40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66e6d8df014808" /><Relationship Type="http://schemas.openxmlformats.org/officeDocument/2006/relationships/notesMaster" Target="/ppt/notesMasters/notesMaster1.xml" Id="Rc5cf3864a39649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39300863ed8484b" /><Relationship Type="http://schemas.openxmlformats.org/officeDocument/2006/relationships/notesMaster" Target="/ppt/notesMasters/notesMaster1.xml" Id="R6933db00095e42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1fcdbc758b4c4d" /><Relationship Type="http://schemas.openxmlformats.org/officeDocument/2006/relationships/notesMaster" Target="/ppt/notesMasters/notesMaster1.xml" Id="R8dc2d712522f4ee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1ed639ce1ff4fec" /><Relationship Type="http://schemas.openxmlformats.org/officeDocument/2006/relationships/notesMaster" Target="/ppt/notesMasters/notesMaster1.xml" Id="R6c4c24dc7ace4ef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2376fb3a49b4631" /><Relationship Type="http://schemas.openxmlformats.org/officeDocument/2006/relationships/notesMaster" Target="/ppt/notesMasters/notesMaster1.xml" Id="R108b61e6e0484b2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893f21f5654405" /><Relationship Type="http://schemas.openxmlformats.org/officeDocument/2006/relationships/notesMaster" Target="/ppt/notesMasters/notesMaster1.xml" Id="R09e191193d364b2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08cff3b5d0b40a2" /><Relationship Type="http://schemas.openxmlformats.org/officeDocument/2006/relationships/notesMaster" Target="/ppt/notesMasters/notesMaster1.xml" Id="R7e663db319a346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页面：P01 第12讲 Agent/Skill 逻辑与自主 Research Workflow 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本课把第 10 课单次任务契约和第 11 课冻结执行队列升级为完整可审计工作流，第 13 课评价与复盘。封面仅呈现正式课名。开场请学生标出已有任务中一项尚未封装的状态。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请学生举手：最近一次用 Agent 时，是否看过它的权限声明或停止条件？只听回答，不评价。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课程定位以 [curriculum.md](../../course/curriculum.md) 第 4-5 条为准；[assignments.md](../../course/assignments.md) 验证门条件；[syllabus.md](../../course/syllabus.md) 第 12 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页面：P02 这个任务需要多少自主性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先独立作答，再同伴比较；以下依据只在校准时揭示。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可以满足当前确定性动作并达标；B 适合确需语义生成时但需人工核验；C 存在选择与评价混用，不能因“更智能”优先。允许自主检索等不同设计，但要证明该决策确需动态信息。课程 Agent Workflow 可由脚本与人工检查点实现，不强制 agent 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先独立写决定和证据，后同伴比较；校准后再回写。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[AutoResearch `program.md`（固定 commit `228791f`）](https://github.com/karpathy/autoresearch/blob/228791fb499afffb54b46200aca536f79142f117/program.md)；[handout.md §二](./handout.md)。2026-09-13 回源核验；工程案例字段摘述，课程迁移要求另行标明，不作为通用自主科研能力证据。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页面：P03 AutoResearch 任务契约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这是固定 commit 的真实契约字段摘述。单次训练预算为 300 秒，不含启动与编译；原项目优化 val_bpb，只允许改训练代码，不许改 prepare.py、评价函数或增依赖。日志是允许生成的工件，因此“仅修改 train.py”特指实验代码范围。右侧是课程阅读卡的迁移要求，属于不同任务。请学生从左侧指出两条禁止项。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请学生指出 AutoResearch 契约里的两个禁止项，并说出自己工作流的输入和成功标准各一句。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[AutoResearch `program.md`（固定 commit `228791f`）](https://github.com/karpathy/autoresearch/blob/228791fb499afffb54b46200aca536f79142f117/program.md)；[handout.md §二](./handout.md)。2026-09-13 回源核验；工程案例字段摘述，课程迁移要求另行标明，不作为通用自主科研能力证据。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页面：P04 AutoResearch 的输入与持久状态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README.md、prepare.py、train.py 是原文规定的上下文。Git、run.log 和 results.tsv 承担不同状态角色，不能用聊天记忆替代。原项目每次重写 run.log；跨实验追踪依赖账本。课程阅读卡要补每个 run ID 的输入快照与独立日志，不能只留下最后一次日志。请学生列出自己的最小 Context。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请学生判断：你最近一次用 Agent 时，状态主要存在哪？并列出自己工作流应给 Agent 的最小材料清单。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[AutoResearch `program.md`（固定 commit `228791f`）](https://github.com/karpathy/autoresearch/blob/228791fb499afffb54b46200aca536f79142f117/program.md)；[handout.md §二](./handout.md)。2026-09-13 回源核验；工程案例字段摘述，课程迁移要求另行标明，不作为通用自主科研能力证据。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页面：P05 AutoResearch 的约束与课程权限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左侧来自 program.md 的文字约束，不是已验证的操作系统沙箱或默认工具权限。命令要求包含 shell 执行，实际权限由宿主 Agent 配置决定。启动前有人确认设置；循环内并非逐次请求人工确认。右侧是课程另行要求的权限门，禁止把它归为 AutoResearch 原生能力。删除失败记录不属于可确认放行的普通动作。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请学生指出自己工作流的"需确认"动作至少一项。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[AutoResearch `program.md`（固定 commit `228791f`）](https://github.com/karpathy/autoresearch/blob/228791fb499afffb54b46200aca536f79142f117/program.md)；[handout.md §二](./handout.md)。2026-09-13 回源核验；工程案例字段摘述，课程迁移要求另行标明，不作为通用自主科研能力证据。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页面：P06 方法优化循环与冻结执行队列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AutoResearch 的方法优化循环会改变 train.py，按 val_bpb 决定保留或回退；原文同时要求权衡改进幅度与复杂度。单次训练预算固定不等于总预算固定：外层持续循环直到人工中断。课程冻结队列则不根据输出优劣改方法或删运行，处理预定 6 份后结束。采用原项目设计时须另定总轮次、总预算和人工审核点。请学生说出两种循环停止条件的差别。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请学生判断自己的科研动作需要固定链还是自主循环，并把自己的工作流对号入座。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[AutoResearch `program.md`（固定 commit `228791f`）](https://github.com/karpathy/autoresearch/blob/228791fb499afffb54b46200aca536f79142f117/program.md)；[handout.md §二](./handout.md)。2026-09-13 回源核验；工程案例字段摘述，课程迁移要求另行标明，不作为通用自主科研能力证据。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页面：P07 实验账本连接代码、指标与处置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这里展示真实字段定义，没有填写实验数值，不是系统运行截图。results.tsv 保留 keep、discard、crash 及代码身份；代码回退不等于删除失败账本。原项目将 results.tsv 留在 Git 跟踪之外，课程记录策略应显式安排存放与备份，不照搬为统一规范。阅读卡任务为每次输出绑定 run ID，保留失败和后续人工处置。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请学生检查自己工作流的一次运行会留下哪些工件。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[AutoResearch `program.md`（固定 commit `228791f`）](https://github.com/karpathy/autoresearch/blob/228791fb499afffb54b46200aca536f79142f117/program.md)；[handout.md §二](./handout.md)。2026-09-13 回源核验；工程案例字段摘述，课程迁移要求另行标明，不作为通用自主科研能力证据。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页面：P08 固定评价函数与独立评价端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原 AutoResearch 将 evaluate_bpb 固定在只读 prepare.py，限制 Agent 修改评价规则。只读评价函数并不等于评价数据对执行端不可读。课程阅读卡还要求 gold 不进入生成 Context，并由独立评价端在输出完成后评分；人工审核决定方法、结论及后续修订。失败回写保留 trace，禁止选择性删除。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请学生说出自己工作流的 baseline 是什么。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[AutoResearch `program.md`（固定 commit `228791f`）](https://github.com/karpathy/autoresearch/blob/228791fb499afffb54b46200aca536f79142f117/program.md)；[handout.md §二](./handout.md)。2026-09-13 回源核验；工程案例字段摘述，课程迁移要求另行标明，不作为通用自主科研能力证据。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页面：P09 科研动作是否值得交给 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用同一阅读卡任务提问：重复解析由脚本承担，预定生成与状态记录适合固定链，涉及研究判断时设置人工确认。坐标用于比较重复性与判断风险，不把 Agent 视为能力等级。让学生先判断并给出一个理由。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请学生举手判断每个动作适合哪一类。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[handout.md §三](./handout.md)。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页面：P10 脚本、工作流、Agent 与复杂系统的边界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脚本适合固定输入输出，固定工作流显式管理状态与恢复，Agent 适合需要动态决策的动作，复杂系统需要额外治理成本。阅读卡冻结任务优先选能完成任务的最低复杂度，选用动态决策时同时指定独立评价与停止条件。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[handout.md §三](./handout.md)。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页面：P11 个人工作流从一个真实科研动作开始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沿用第 10–11 课同一真实科研动作。本人课题、导师组任务和课堂原型是同一动作的收窄层级，不另开项目。请学生写出输入与一个可检查输出。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请学生 30 秒内确定自己要封装的科研动作。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[handout.md §四·1](./handout.md)。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页面：P12 八要素契约是一张可填写工件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agent-workflow.md 是个人说明的入口，可链接 contract.md 等实现文件。八要素在屏显中按紧邻角色合并呈现，Context 与状态、Evals 与人工审核仍须各有明确字段。先补契约，再运行或演示最小路径。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学生开始填写模板。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[handout.md §四·2](./handout.md)。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页面：P13 评价代码与执行代码必须隔离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左侧 W 指开发阶段允许修改执行代码和写运行目录；进入冻结批次后配置与方法锁定。右侧 gold.json 的 R 仅属于独立评价端，执行端禁止读取或复制 gold，不能将右侧 R 当作全项目权限。输出生成后才交评价端，协议变更由人工审核并另开版本，不回改当前冻结批次。请学生标明角色与拒绝点。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学生在自己的权限栏分别标出执行端不可读 gold 与独立评价端可读 gold。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[assignments.md](../../course/assignments.md) 验证门条件；[handout.md §四·3](./handout.md)；[第 11 课讲义](../lesson-11/handout.md)。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页面：P14 把原型组织成可反查的工作流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这条工作流服务一个科研动作。学生应选自己项目中的一个动作，不另起一个与原问题脱节的“研究AI是否有效”项目。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用一句话写本人工作流帮助原研究的哪个动作。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页面：P15 打开这些文件，走一次完整路径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使用lesson-11/assets/reading-card-workflow真实目录。固定输出不冒充Agent现场生成；离线仍可执行。人工参考标注只作为教学校准答案，需先隐藏再发答案。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同伴选择T03，复原一次反向追踪。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页面：P16 接口拒绝能证明什么？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运行access-check --role executor --resource gold，检查返回码和日志。直接文件访问不受这个接口保护，所以不要写“模型绝不可能看到gold”。真实项目需按环境配置隔离并验证。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标记权限声明、执行控制和观察证据各在哪里。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页面：P17 本人项目：决定、核验与回写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第一段作决定并查证据；中点处理共性卡点；第二段实际回写并验证。A 可以满足当前确定性动作并达标；B 适合确需语义生成时但需人工核验；C 存在选择与评价混用，不能因“更智能”优先。允许自主检索等不同设计，但要证明该决策确需动态信息。课程 Agent Workflow 可由脚本与人工检查点实现，不强制 agent 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在个人副本接入 L10 校验，或增加分组盲化/任务状态持久化等一个实质环节。对真实输入走通输入→处理→人工检查→评价 trace；输出标明 accepted/rejected 与理由，正常项守恒。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[handout.md §四·4 §七](./handout.md)。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页面：P18 八要素自检贴在同一工作流上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教师先用共性样例做中点点评，再让学生继续完成最小原型或可复现演示，抽查 Context / Memory、权限栏、trace、评价计划与失败恢复。第 13 课基于课前已有运行结果完成评价、影响报告、证据回写与合规更新。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教师中点点评后，学生对照清单继续实现或演示，生成 trace 并补失败恢复规则。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[assignments.md](../../course/assignments.md) 验证门条件；[handout.md §四·3](./handout.md)。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页面：P19 同伴只问边界、越权与 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每人约 3 分钟：一人 45 秒说明动作和契约；同伴按三问反馈；作者记录处理决定。反馈不要求立即改写。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两人互查；人数为奇数时组成三人组，每人缩短说明时间。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同伴反馈为形成性活动，不单独计分，不共同提交。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页面：P20 本讲知识点总结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回收八要素契约、权限、Evals 与失败恢复的关系。本页不新增任务。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学生指出第 13 课验证前最需要补齐的一项。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[handout.md](./handout.md) §二-§六；[teaching-plan.md](./teaching-plan.md) 第四至六节。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页面：P21 保留本课决定，准备下一课输入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仅修未走通的一个环节并补运行说明；不要求接入 MCP 或付费模型。 每课课外最多60分钟；详见讲义。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定位实际工件与下一项动作；按既定预算收口。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[assignments.md](../../course/assignments.md) 验证门条件；[reading-list.md](../../course/reading-list.md) 第 12-13 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c9ab57d55c4a2a" /><Relationship Type="http://schemas.openxmlformats.org/officeDocument/2006/relationships/image" Target="/ppt/media/image.png" Id="Rd2c24374cef7437a" /><Relationship Type="http://schemas.openxmlformats.org/officeDocument/2006/relationships/image" Target="/ppt/media/image2.png" Id="R1d35a310b851473c" /><Relationship Type="http://schemas.openxmlformats.org/officeDocument/2006/relationships/image" Target="/ppt/media/image3.png" Id="R04c1f6c2f05f4131" /><Relationship Type="http://schemas.openxmlformats.org/officeDocument/2006/relationships/image" Target="/ppt/media/image4.png" Id="R6003d01192e841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68cedfe6c143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eefcd7fccd4e01" /><Relationship Type="http://schemas.openxmlformats.org/officeDocument/2006/relationships/image" Target="/ppt/media/image2.png" Id="R8ea20d37198e48bc" /><Relationship Type="http://schemas.openxmlformats.org/officeDocument/2006/relationships/image" Target="/ppt/media/image5.png" Id="R5ea1e8b5b83440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4a56ab3144f66" /><Relationship Type="http://schemas.openxmlformats.org/officeDocument/2006/relationships/image" Target="/ppt/media/image.png" Id="R14198cf94d4d4e48" /><Relationship Type="http://schemas.openxmlformats.org/officeDocument/2006/relationships/image" Target="/ppt/media/image3.png" Id="R5b1ae77a68e546ec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24374cef7437a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d35a310b851473c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c1f6c2f05f4131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3d01192e84107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a20d37198e48bc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1e8b5b83440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98cf94d4d4e48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1ae77a68e546ec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e4a4bbaf4047ae" /><Relationship Type="http://schemas.openxmlformats.org/officeDocument/2006/relationships/slideLayout" Target="/ppt/slideLayouts/slideLayout1.xml" Id="Ra30ee99294664287" /><Relationship Type="http://schemas.openxmlformats.org/officeDocument/2006/relationships/slideLayout" Target="/ppt/slideLayouts/slideLayout2.xml" Id="Rad4a1ee89f5049f2" /><Relationship Type="http://schemas.openxmlformats.org/officeDocument/2006/relationships/slideLayout" Target="/ppt/slideLayouts/slideLayout3.xml" Id="Rd3aa2fdf35ec4733" /><Relationship Type="http://schemas.openxmlformats.org/officeDocument/2006/relationships/slideLayout" Target="/ppt/slideLayouts/slideLayout4.xml" Id="R4de0007e2e1c477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0ee99294664287"/>
    <p:sldLayoutId xmlns:r="http://schemas.openxmlformats.org/officeDocument/2006/relationships" id="2147483650" r:id="Rad4a1ee89f5049f2"/>
    <p:sldLayoutId xmlns:r="http://schemas.openxmlformats.org/officeDocument/2006/relationships" id="2147483651" r:id="Rd3aa2fdf35ec4733"/>
    <p:sldLayoutId xmlns:r="http://schemas.openxmlformats.org/officeDocument/2006/relationships" id="2147483652" r:id="R4de0007e2e1c477e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4b5f8ce3d40b1" /><Relationship Type="http://schemas.openxmlformats.org/officeDocument/2006/relationships/notesSlide" Target="/ppt/notesSlides/notesSlide1.xml" Id="R0dec4e670a554f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b4c93f870854bb6" /><Relationship Type="http://schemas.openxmlformats.org/officeDocument/2006/relationships/image" Target="/ppt/media/image6.png" Id="R9b23b49ec5594cb5" /><Relationship Type="http://schemas.openxmlformats.org/officeDocument/2006/relationships/notesSlide" Target="/ppt/notesSlides/notesSlide2.xml" Id="Rfbaba2fe539742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209b85ac51c40af" /><Relationship Type="http://schemas.openxmlformats.org/officeDocument/2006/relationships/image" Target="/ppt/media/image7.png" Id="Rc841f731bc2f4791" /><Relationship Type="http://schemas.openxmlformats.org/officeDocument/2006/relationships/notesSlide" Target="/ppt/notesSlides/notesSlide3.xml" Id="Re8b01a36140a44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bf9c03d0792428a" /><Relationship Type="http://schemas.openxmlformats.org/officeDocument/2006/relationships/image" Target="/ppt/media/image8.png" Id="Rae60577d97fd4a73" /><Relationship Type="http://schemas.openxmlformats.org/officeDocument/2006/relationships/notesSlide" Target="/ppt/notesSlides/notesSlide4.xml" Id="R3f0af9087f5446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9402588887b4d20" /><Relationship Type="http://schemas.openxmlformats.org/officeDocument/2006/relationships/image" Target="/ppt/media/image9.png" Id="R4ddf5c403bca49c5" /><Relationship Type="http://schemas.openxmlformats.org/officeDocument/2006/relationships/notesSlide" Target="/ppt/notesSlides/notesSlide5.xml" Id="R868c466feff748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5cc978b9dbc4f9e" /><Relationship Type="http://schemas.openxmlformats.org/officeDocument/2006/relationships/notesSlide" Target="/ppt/notesSlides/notesSlide6.xml" Id="Raa53617352534d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8b62b235a44daf" /><Relationship Type="http://schemas.openxmlformats.org/officeDocument/2006/relationships/image" Target="/ppt/media/image10.png" Id="Rdbd4178444a441b9" /><Relationship Type="http://schemas.openxmlformats.org/officeDocument/2006/relationships/notesSlide" Target="/ppt/notesSlides/notesSlide7.xml" Id="R66b9d528b8a349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b5bcdcb2e38430a" /><Relationship Type="http://schemas.openxmlformats.org/officeDocument/2006/relationships/image" Target="/ppt/media/image11.png" Id="Rb16d194ddcdc4745" /><Relationship Type="http://schemas.openxmlformats.org/officeDocument/2006/relationships/notesSlide" Target="/ppt/notesSlides/notesSlide8.xml" Id="R51c32a985dcc40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439b7b9a4a4bfa" /><Relationship Type="http://schemas.openxmlformats.org/officeDocument/2006/relationships/image" Target="/ppt/media/image12.png" Id="Rd4a82294e1ad4849" /><Relationship Type="http://schemas.openxmlformats.org/officeDocument/2006/relationships/notesSlide" Target="/ppt/notesSlides/notesSlide9.xml" Id="Rf29cd0dec95c46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dd1909fbd64409d" /><Relationship Type="http://schemas.openxmlformats.org/officeDocument/2006/relationships/image" Target="/ppt/media/image13.png" Id="R8b7083d3786f432e" /><Relationship Type="http://schemas.openxmlformats.org/officeDocument/2006/relationships/notesSlide" Target="/ppt/notesSlides/notesSlide10.xml" Id="Rd88e3ae23c7b4e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b91a57aca16431c" /><Relationship Type="http://schemas.openxmlformats.org/officeDocument/2006/relationships/image" Target="/ppt/media/image14.png" Id="R62264e110b7a4d5f" /><Relationship Type="http://schemas.openxmlformats.org/officeDocument/2006/relationships/notesSlide" Target="/ppt/notesSlides/notesSlide11.xml" Id="R0a76e8a7347442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65135fbc90411d" /><Relationship Type="http://schemas.openxmlformats.org/officeDocument/2006/relationships/image" Target="/ppt/media/image15.png" Id="R90a3bba4248c47b0" /><Relationship Type="http://schemas.openxmlformats.org/officeDocument/2006/relationships/notesSlide" Target="/ppt/notesSlides/notesSlide12.xml" Id="R6c4f55d53b4947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4a0baddb57140e9" /><Relationship Type="http://schemas.openxmlformats.org/officeDocument/2006/relationships/image" Target="/ppt/media/image16.png" Id="R68b41d77470e47db" /><Relationship Type="http://schemas.openxmlformats.org/officeDocument/2006/relationships/notesSlide" Target="/ppt/notesSlides/notesSlide13.xml" Id="R249fb79f6c4b4e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48c2070a76b4a45" /><Relationship Type="http://schemas.openxmlformats.org/officeDocument/2006/relationships/notesSlide" Target="/ppt/notesSlides/notesSlide14.xml" Id="R414363d3613a46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30cc9100a604cbf" /><Relationship Type="http://schemas.openxmlformats.org/officeDocument/2006/relationships/notesSlide" Target="/ppt/notesSlides/notesSlide15.xml" Id="Rb998f58c69b147a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58da5878214671" /><Relationship Type="http://schemas.openxmlformats.org/officeDocument/2006/relationships/notesSlide" Target="/ppt/notesSlides/notesSlide16.xml" Id="R046529a608d5496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c88b0b6a924190" /><Relationship Type="http://schemas.openxmlformats.org/officeDocument/2006/relationships/notesSlide" Target="/ppt/notesSlides/notesSlide17.xml" Id="R7a7af9e01200443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d68a14ea3549f4" /><Relationship Type="http://schemas.openxmlformats.org/officeDocument/2006/relationships/image" Target="/ppt/media/image17.png" Id="Rd61cc8d372ae405c" /><Relationship Type="http://schemas.openxmlformats.org/officeDocument/2006/relationships/notesSlide" Target="/ppt/notesSlides/notesSlide18.xml" Id="Rfd57d722d8af44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794369ab6a64d90" /><Relationship Type="http://schemas.openxmlformats.org/officeDocument/2006/relationships/image" Target="/ppt/media/image18.png" Id="Rfa04184528d449fa" /><Relationship Type="http://schemas.openxmlformats.org/officeDocument/2006/relationships/notesSlide" Target="/ppt/notesSlides/notesSlide19.xml" Id="R6b045810c8314e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d46a0ee87cc4db2" /><Relationship Type="http://schemas.openxmlformats.org/officeDocument/2006/relationships/image" Target="/ppt/media/image19.png" Id="Rdb6cd8db1ba14071" /><Relationship Type="http://schemas.openxmlformats.org/officeDocument/2006/relationships/notesSlide" Target="/ppt/notesSlides/notesSlide20.xml" Id="R3a6ca13d714e4c3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cbcabfd1cf342cd" /><Relationship Type="http://schemas.openxmlformats.org/officeDocument/2006/relationships/image" Target="/ppt/media/image20.png" Id="R9e926a3581d54d46" /><Relationship Type="http://schemas.openxmlformats.org/officeDocument/2006/relationships/notesSlide" Target="/ppt/notesSlides/notesSlide21.xml" Id="Reb914d1a82af4b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FD4937E-9B10-4B33-AB2F-C3472EA2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第12讲 Agent/Skill 逻辑与自主 Research Workflow 设计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8A1E6837-82DE-421A-9AAD-252CBC28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这个任务需要多少自主性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DC9DBBDC-83A5-4EC9-A416-7C6C5E4D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固定输入校验、人工判语义、汇总、失败恢复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2B1AD598-0CF5-4A35-AB87-A028F3C8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A｜确定性脚本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B｜固定生成链＋人工审核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C｜Agent 自选输入、可读 gold、得分上升即采用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74E5C2FA-1189-41FC-B05F-245957C5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选最小合适设计；实际修改一个环节，并保留输入到评价的 trace。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6902EB42-FE1E-4051-96DC-99416836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5035C6F1-CE09-4FE6-9408-105E3FA7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AutoResearch 任务契约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5E555795-7F2A-4ED1-9171-22F04926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1f731bc2f4791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33C546E0-1CDC-447B-BAE4-FE9FACA3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AutoResearch 任务契约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FDE7C0B6-11AA-435C-9431-FCB1DB70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来源：karpathy/autoresearch · program.md · commit 228791f；2026-09-13 核验</a:t>
            </a:r>
          </a:p>
        </p:txBody>
      </p:sp>
      <p:sp>
        <p:nvSpPr>
          <p:cNvPr id="10" name="doc-12-bg">
            <a:extLst xmlns:a="http://schemas.openxmlformats.org/drawingml/2006/main">
              <a:ext uri="{FF2B5EF4-FFF2-40B4-BE49-F238E27FC236}">
                <a16:creationId xmlns:a16="http://schemas.microsoft.com/office/drawing/2014/main" id="{C53B6E48-E72C-4BC1-8D2F-34215092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685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12-title-bg">
            <a:extLst xmlns:a="http://schemas.openxmlformats.org/drawingml/2006/main">
              <a:ext uri="{FF2B5EF4-FFF2-40B4-BE49-F238E27FC236}">
                <a16:creationId xmlns:a16="http://schemas.microsoft.com/office/drawing/2014/main" id="{3EF58B2F-442D-4F53-9F79-AA58F554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12-title">
            <a:extLst xmlns:a="http://schemas.openxmlformats.org/drawingml/2006/main">
              <a:ext uri="{FF2B5EF4-FFF2-40B4-BE49-F238E27FC236}">
                <a16:creationId xmlns:a16="http://schemas.microsoft.com/office/drawing/2014/main" id="{CFCEA75B-3F54-411F-95A8-CCCC2EA3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program.md · 228791f</a:t>
            </a:r>
          </a:p>
        </p:txBody>
      </p:sp>
      <p:sp>
        <p:nvSpPr>
          <p:cNvPr id="13" name="doc-12-line-0">
            <a:extLst xmlns:a="http://schemas.openxmlformats.org/drawingml/2006/main">
              <a:ext uri="{FF2B5EF4-FFF2-40B4-BE49-F238E27FC236}">
                <a16:creationId xmlns:a16="http://schemas.microsoft.com/office/drawing/2014/main" id="{6BE8C4DC-A010-4914-B580-114F892E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目标：降低验证集 val_bpb</a:t>
            </a:r>
          </a:p>
        </p:txBody>
      </p:sp>
      <p:sp>
        <p:nvSpPr>
          <p:cNvPr id="14" name="doc-12-line-1">
            <a:extLst xmlns:a="http://schemas.openxmlformats.org/drawingml/2006/main">
              <a:ext uri="{FF2B5EF4-FFF2-40B4-BE49-F238E27FC236}">
                <a16:creationId xmlns:a16="http://schemas.microsoft.com/office/drawing/2014/main" id="{14DF0D62-1574-4A50-866D-5F018820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841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读取：README.md 与 prepare.py</a:t>
            </a:r>
          </a:p>
        </p:txBody>
      </p:sp>
      <p:sp>
        <p:nvSpPr>
          <p:cNvPr id="15" name="doc-12-line-2">
            <a:extLst xmlns:a="http://schemas.openxmlformats.org/drawingml/2006/main">
              <a:ext uri="{FF2B5EF4-FFF2-40B4-BE49-F238E27FC236}">
                <a16:creationId xmlns:a16="http://schemas.microsoft.com/office/drawing/2014/main" id="{5923F125-2570-46D5-8F4F-C616ECC3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040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代码改动：仅 train.py</a:t>
            </a:r>
          </a:p>
        </p:txBody>
      </p:sp>
      <p:sp>
        <p:nvSpPr>
          <p:cNvPr id="16" name="doc-12-line-3">
            <a:extLst xmlns:a="http://schemas.openxmlformats.org/drawingml/2006/main">
              <a:ext uri="{FF2B5EF4-FFF2-40B4-BE49-F238E27FC236}">
                <a16:creationId xmlns:a16="http://schemas.microsoft.com/office/drawing/2014/main" id="{5D8E698C-AB43-4074-B034-5A5601DF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239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禁止：改评价函数、添加依赖</a:t>
            </a:r>
          </a:p>
        </p:txBody>
      </p:sp>
      <p:sp>
        <p:nvSpPr>
          <p:cNvPr id="17" name="doc-12-line-4">
            <a:extLst xmlns:a="http://schemas.openxmlformats.org/drawingml/2006/main">
              <a:ext uri="{FF2B5EF4-FFF2-40B4-BE49-F238E27FC236}">
                <a16:creationId xmlns:a16="http://schemas.microsoft.com/office/drawing/2014/main" id="{C0C7A31D-4188-4DF3-A6CD-50A06EB7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0438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产出：run.log、results.tsv 与 commit</a:t>
            </a:r>
          </a:p>
        </p:txBody>
      </p:sp>
      <p:sp>
        <p:nvSpPr>
          <p:cNvPr id="18" name="contrast">
            <a:extLst xmlns:a="http://schemas.openxmlformats.org/drawingml/2006/main">
              <a:ext uri="{FF2B5EF4-FFF2-40B4-BE49-F238E27FC236}">
                <a16:creationId xmlns:a16="http://schemas.microsoft.com/office/drawing/2014/main" id="{5867FBB4-CE1C-4116-B798-C318866D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857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课程阅读卡任务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固定论文与配置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保留全部输出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独立人工基准评价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AutoResearch 的输入与持久状态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2EEA8E12-5A9C-4472-9A16-B3D944BA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0577d97fd4a73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0366F577-C8E5-4888-89C4-31D7F353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AutoResearch 的输入与持久状态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1A1E148E-2172-43B7-BC67-0EE39B11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来源：karpathy/autoresearch · program.md · commit 228791f；2026-09-13 核验</a:t>
            </a:r>
          </a:p>
        </p:txBody>
      </p:sp>
      <p:sp>
        <p:nvSpPr>
          <p:cNvPr id="10" name="left-h">
            <a:extLst xmlns:a="http://schemas.openxmlformats.org/drawingml/2006/main">
              <a:ext uri="{FF2B5EF4-FFF2-40B4-BE49-F238E27FC236}">
                <a16:creationId xmlns:a16="http://schemas.microsoft.com/office/drawing/2014/main" id="{323EB052-CD76-457C-B55B-2EA465E8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Context：读取的文件</a:t>
            </a:r>
          </a:p>
        </p:txBody>
      </p:sp>
      <p:sp>
        <p:nvSpPr>
          <p:cNvPr id="11" name="right-h">
            <a:extLst xmlns:a="http://schemas.openxmlformats.org/drawingml/2006/main">
              <a:ext uri="{FF2B5EF4-FFF2-40B4-BE49-F238E27FC236}">
                <a16:creationId xmlns:a16="http://schemas.microsoft.com/office/drawing/2014/main" id="{10FDC450-5264-4EA2-9266-644F497C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76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状态：实验后留下什么</a:t>
            </a:r>
          </a:p>
        </p:txBody>
      </p:sp>
      <p:sp>
        <p:nvSpPr>
          <p:cNvPr id="12" name="split">
            <a:extLst xmlns:a="http://schemas.openxmlformats.org/drawingml/2006/main">
              <a:ext uri="{FF2B5EF4-FFF2-40B4-BE49-F238E27FC236}">
                <a16:creationId xmlns:a16="http://schemas.microsoft.com/office/drawing/2014/main" id="{6F0CA159-BE99-4CA7-A4DE-3E451DF5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9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list-64-217-0">
            <a:extLst xmlns:a="http://schemas.openxmlformats.org/drawingml/2006/main">
              <a:ext uri="{FF2B5EF4-FFF2-40B4-BE49-F238E27FC236}">
                <a16:creationId xmlns:a16="http://schemas.microsoft.com/office/drawing/2014/main" id="{E5C547C2-E21D-41C8-9E00-68C1C7A0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README.md：仓库说明</a:t>
            </a:r>
          </a:p>
        </p:txBody>
      </p:sp>
      <p:sp>
        <p:nvSpPr>
          <p:cNvPr id="14" name="list-64-217-1">
            <a:extLst xmlns:a="http://schemas.openxmlformats.org/drawingml/2006/main">
              <a:ext uri="{FF2B5EF4-FFF2-40B4-BE49-F238E27FC236}">
                <a16:creationId xmlns:a16="http://schemas.microsoft.com/office/drawing/2014/main" id="{F52E91DA-C664-4DAE-A831-53857E08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prepare.py：数据与评价</a:t>
            </a:r>
          </a:p>
        </p:txBody>
      </p:sp>
      <p:sp>
        <p:nvSpPr>
          <p:cNvPr id="15" name="list-64-217-2">
            <a:extLst xmlns:a="http://schemas.openxmlformats.org/drawingml/2006/main">
              <a:ext uri="{FF2B5EF4-FFF2-40B4-BE49-F238E27FC236}">
                <a16:creationId xmlns:a16="http://schemas.microsoft.com/office/drawing/2014/main" id="{89840A2F-E9CA-4E38-89AE-CB5A5E43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train.py：训练实现</a:t>
            </a:r>
          </a:p>
        </p:txBody>
      </p:sp>
      <p:sp>
        <p:nvSpPr>
          <p:cNvPr id="16" name="list-696-217-0">
            <a:extLst xmlns:a="http://schemas.openxmlformats.org/drawingml/2006/main">
              <a:ext uri="{FF2B5EF4-FFF2-40B4-BE49-F238E27FC236}">
                <a16:creationId xmlns:a16="http://schemas.microsoft.com/office/drawing/2014/main" id="{400BA13B-C939-4DAB-A1B5-1EE80B1C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669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Git commit：代码版本</a:t>
            </a:r>
          </a:p>
        </p:txBody>
      </p:sp>
      <p:sp>
        <p:nvSpPr>
          <p:cNvPr id="17" name="list-696-217-1">
            <a:extLst xmlns:a="http://schemas.openxmlformats.org/drawingml/2006/main">
              <a:ext uri="{FF2B5EF4-FFF2-40B4-BE49-F238E27FC236}">
                <a16:creationId xmlns:a16="http://schemas.microsoft.com/office/drawing/2014/main" id="{00428938-2B21-40A0-8E33-C6B71596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24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run.log：本次运行输出</a:t>
            </a:r>
          </a:p>
        </p:txBody>
      </p:sp>
      <p:sp>
        <p:nvSpPr>
          <p:cNvPr id="18" name="list-696-217-2">
            <a:extLst xmlns:a="http://schemas.openxmlformats.org/drawingml/2006/main">
              <a:ext uri="{FF2B5EF4-FFF2-40B4-BE49-F238E27FC236}">
                <a16:creationId xmlns:a16="http://schemas.microsoft.com/office/drawing/2014/main" id="{E0E0AA16-5A33-4DBB-AA9A-00C11D77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813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results.tsv：跨实验账本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AutoResearch 的约束与课程权限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5F69F584-E588-4A29-9922-6A56095F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f5c403bca49c5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361070DC-20FD-4072-99E5-98CDEAAA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AutoResearch 的约束与课程权限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2CFE50B2-79B9-4834-B579-1BD4C7CE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来源：karpathy/autoresearch · program.md · commit 228791f；2026-09-13 核验</a:t>
            </a:r>
          </a:p>
        </p:txBody>
      </p:sp>
      <p:sp>
        <p:nvSpPr>
          <p:cNvPr id="10" name="doc-13-bg">
            <a:extLst xmlns:a="http://schemas.openxmlformats.org/drawingml/2006/main">
              <a:ext uri="{FF2B5EF4-FFF2-40B4-BE49-F238E27FC236}">
                <a16:creationId xmlns:a16="http://schemas.microsoft.com/office/drawing/2014/main" id="{D4C0CDFF-7FBA-4E9F-ABA1-DDB2A491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619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13-title-bg">
            <a:extLst xmlns:a="http://schemas.openxmlformats.org/drawingml/2006/main">
              <a:ext uri="{FF2B5EF4-FFF2-40B4-BE49-F238E27FC236}">
                <a16:creationId xmlns:a16="http://schemas.microsoft.com/office/drawing/2014/main" id="{47C21362-A306-4719-AD91-42EBC410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13-title">
            <a:extLst xmlns:a="http://schemas.openxmlformats.org/drawingml/2006/main">
              <a:ext uri="{FF2B5EF4-FFF2-40B4-BE49-F238E27FC236}">
                <a16:creationId xmlns:a16="http://schemas.microsoft.com/office/drawing/2014/main" id="{0A979DE5-288A-4A03-BEA8-8B75339A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program.md 约束摘要</a:t>
            </a:r>
          </a:p>
        </p:txBody>
      </p:sp>
      <p:sp>
        <p:nvSpPr>
          <p:cNvPr id="13" name="doc-13-line-0">
            <a:extLst xmlns:a="http://schemas.openxmlformats.org/drawingml/2006/main">
              <a:ext uri="{FF2B5EF4-FFF2-40B4-BE49-F238E27FC236}">
                <a16:creationId xmlns:a16="http://schemas.microsoft.com/office/drawing/2014/main" id="{E4344546-A644-47A3-B407-393FD38A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573405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R  prepare.py</a:t>
            </a:r>
          </a:p>
        </p:txBody>
      </p:sp>
      <p:sp>
        <p:nvSpPr>
          <p:cNvPr id="14" name="doc-13-line-1">
            <a:extLst xmlns:a="http://schemas.openxmlformats.org/drawingml/2006/main">
              <a:ext uri="{FF2B5EF4-FFF2-40B4-BE49-F238E27FC236}">
                <a16:creationId xmlns:a16="http://schemas.microsoft.com/office/drawing/2014/main" id="{2424C555-C9B2-4572-B0C6-C397227F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4750"/>
            <a:ext cx="573405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W  train.py（代码范围）</a:t>
            </a:r>
          </a:p>
        </p:txBody>
      </p:sp>
      <p:sp>
        <p:nvSpPr>
          <p:cNvPr id="15" name="doc-13-line-2">
            <a:extLst xmlns:a="http://schemas.openxmlformats.org/drawingml/2006/main">
              <a:ext uri="{FF2B5EF4-FFF2-40B4-BE49-F238E27FC236}">
                <a16:creationId xmlns:a16="http://schemas.microsoft.com/office/drawing/2014/main" id="{5DC38AB1-90A0-43E1-8BBF-1DE21612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3075"/>
            <a:ext cx="573405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X  uv run train.py</a:t>
            </a:r>
          </a:p>
        </p:txBody>
      </p:sp>
      <p:sp>
        <p:nvSpPr>
          <p:cNvPr id="16" name="doc-13-line-3">
            <a:extLst xmlns:a="http://schemas.openxmlformats.org/drawingml/2006/main">
              <a:ext uri="{FF2B5EF4-FFF2-40B4-BE49-F238E27FC236}">
                <a16:creationId xmlns:a16="http://schemas.microsoft.com/office/drawing/2014/main" id="{2FDC35D1-158D-470F-8917-70F20B40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573405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W  run.log / results.tsv（日志）</a:t>
            </a:r>
          </a:p>
        </p:txBody>
      </p:sp>
      <p:sp>
        <p:nvSpPr>
          <p:cNvPr id="17" name="doc-13-line-4">
            <a:extLst xmlns:a="http://schemas.openxmlformats.org/drawingml/2006/main">
              <a:ext uri="{FF2B5EF4-FFF2-40B4-BE49-F238E27FC236}">
                <a16:creationId xmlns:a16="http://schemas.microsoft.com/office/drawing/2014/main" id="{D57BBD0F-580B-45A6-9355-078A21FC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9725"/>
            <a:ext cx="573405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!  改评价函数 / 添加依赖</a:t>
            </a:r>
          </a:p>
        </p:txBody>
      </p:sp>
      <p:sp>
        <p:nvSpPr>
          <p:cNvPr id="18" name="doc-13-line-5">
            <a:extLst xmlns:a="http://schemas.openxmlformats.org/drawingml/2006/main">
              <a:ext uri="{FF2B5EF4-FFF2-40B4-BE49-F238E27FC236}">
                <a16:creationId xmlns:a16="http://schemas.microsoft.com/office/drawing/2014/main" id="{505A0663-206C-4C60-A0E6-409E61A9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8050"/>
            <a:ext cx="573405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?  启动前由人确认设置</a:t>
            </a:r>
          </a:p>
        </p:txBody>
      </p:sp>
      <p:sp>
        <p:nvSpPr>
          <p:cNvPr id="19" name="gate">
            <a:extLst xmlns:a="http://schemas.openxmlformats.org/drawingml/2006/main">
              <a:ext uri="{FF2B5EF4-FFF2-40B4-BE49-F238E27FC236}">
                <a16:creationId xmlns:a16="http://schemas.microsoft.com/office/drawing/2014/main" id="{6358201C-5D6C-46B8-AF35-B32478B2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714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课程另加的权限门</a:t>
            </a:r>
          </a:p>
        </p:txBody>
      </p:sp>
      <p:sp>
        <p:nvSpPr>
          <p:cNvPr id="20" name="list-830-270-0">
            <a:extLst xmlns:a="http://schemas.openxmlformats.org/drawingml/2006/main">
              <a:ext uri="{FF2B5EF4-FFF2-40B4-BE49-F238E27FC236}">
                <a16:creationId xmlns:a16="http://schemas.microsoft.com/office/drawing/2014/main" id="{ED0215C6-CAEC-430F-A895-E7098E96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□ 外部写入先确认</a:t>
            </a:r>
          </a:p>
        </p:txBody>
      </p:sp>
      <p:sp>
        <p:nvSpPr>
          <p:cNvPr id="21" name="list-830-270-1">
            <a:extLst xmlns:a="http://schemas.openxmlformats.org/drawingml/2006/main">
              <a:ext uri="{FF2B5EF4-FFF2-40B4-BE49-F238E27FC236}">
                <a16:creationId xmlns:a16="http://schemas.microsoft.com/office/drawing/2014/main" id="{ED28CD9F-0116-415D-9A3A-564E43AB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□ 禁止读取 gold</a:t>
            </a:r>
          </a:p>
        </p:txBody>
      </p:sp>
      <p:sp>
        <p:nvSpPr>
          <p:cNvPr id="22" name="list-830-270-2">
            <a:extLst xmlns:a="http://schemas.openxmlformats.org/drawingml/2006/main">
              <a:ext uri="{FF2B5EF4-FFF2-40B4-BE49-F238E27FC236}">
                <a16:creationId xmlns:a16="http://schemas.microsoft.com/office/drawing/2014/main" id="{D1F5E959-A1EE-4A33-9868-EA54100E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□ 配置变更先确认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方法优化循环与冻结执行队列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graphicFrame>
        <p:nvGraphicFramePr>
          <p:cNvPr id="10" name="native-table-320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81200"/>
                <a:gridCol w="4495800"/>
                <a:gridCol w="4495800"/>
              </a:tblGrid>
              <a:tr h="54292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比较轴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AutoResearch · 228791f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课程冻结队列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修改 train.py 并评价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输入、方法与配置固定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结果处理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val_bpb 保留或回退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回放并保留全部输出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账本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keep / discard / crash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失败留账，只补未完成项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停止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外层持续循环，人工中断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个任务完成即停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321">
            <a:extLst xmlns:a="http://schemas.openxmlformats.org/drawingml/2006/main">
              <a:ext uri="{FF2B5EF4-FFF2-40B4-BE49-F238E27FC236}">
                <a16:creationId xmlns:a16="http://schemas.microsoft.com/office/drawing/2014/main" id="{62279B09-95B5-47F6-BF83-B5262C1A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单次训练预算固定，不等于外层总预算固定。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实验账本连接代码、指标与处置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75E66B0A-4D10-401E-99B7-031AB53A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4178444a441b9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B626113F-D3E7-4EBA-891C-33C2DE6A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实验账本连接代码、指标与处置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DCB9878C-58B5-44AD-87E5-0985C0B6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来源：karpathy/autoresearch · program.md · commit 228791f；2026-09-13 核验</a:t>
            </a:r>
          </a:p>
        </p:txBody>
      </p:sp>
      <p:sp>
        <p:nvSpPr>
          <p:cNvPr id="10" name="doc-14-bg">
            <a:extLst xmlns:a="http://schemas.openxmlformats.org/drawingml/2006/main">
              <a:ext uri="{FF2B5EF4-FFF2-40B4-BE49-F238E27FC236}">
                <a16:creationId xmlns:a16="http://schemas.microsoft.com/office/drawing/2014/main" id="{4886ACFB-780A-4EEC-8B31-D3B0D6F9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685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14-title-bg">
            <a:extLst xmlns:a="http://schemas.openxmlformats.org/drawingml/2006/main">
              <a:ext uri="{FF2B5EF4-FFF2-40B4-BE49-F238E27FC236}">
                <a16:creationId xmlns:a16="http://schemas.microsoft.com/office/drawing/2014/main" id="{04BDB855-D125-455D-BB43-0266F65B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14-title">
            <a:extLst xmlns:a="http://schemas.openxmlformats.org/drawingml/2006/main">
              <a:ext uri="{FF2B5EF4-FFF2-40B4-BE49-F238E27FC236}">
                <a16:creationId xmlns:a16="http://schemas.microsoft.com/office/drawing/2014/main" id="{FE411B2C-3EE5-4BB9-8F81-C61EAF9E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0017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results.tsv 字段 · 228791f</a:t>
            </a:r>
          </a:p>
        </p:txBody>
      </p:sp>
      <p:sp>
        <p:nvSpPr>
          <p:cNvPr id="13" name="doc-14-line-0">
            <a:extLst xmlns:a="http://schemas.openxmlformats.org/drawingml/2006/main">
              <a:ext uri="{FF2B5EF4-FFF2-40B4-BE49-F238E27FC236}">
                <a16:creationId xmlns:a16="http://schemas.microsoft.com/office/drawing/2014/main" id="{EDEEE79A-CF76-4F4B-A7CB-E385FC62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76425"/>
            <a:ext cx="640080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commit      代码版本</a:t>
            </a:r>
          </a:p>
        </p:txBody>
      </p:sp>
      <p:sp>
        <p:nvSpPr>
          <p:cNvPr id="14" name="doc-14-line-1">
            <a:extLst xmlns:a="http://schemas.openxmlformats.org/drawingml/2006/main">
              <a:ext uri="{FF2B5EF4-FFF2-40B4-BE49-F238E27FC236}">
                <a16:creationId xmlns:a16="http://schemas.microsoft.com/office/drawing/2014/main" id="{B6BD4AE5-9ECD-4694-B0FA-B71B296B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3561"/>
            <a:ext cx="640080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val_bpb     评价值</a:t>
            </a:r>
          </a:p>
        </p:txBody>
      </p:sp>
      <p:sp>
        <p:nvSpPr>
          <p:cNvPr id="15" name="doc-14-line-2">
            <a:extLst xmlns:a="http://schemas.openxmlformats.org/drawingml/2006/main">
              <a:ext uri="{FF2B5EF4-FFF2-40B4-BE49-F238E27FC236}">
                <a16:creationId xmlns:a16="http://schemas.microsoft.com/office/drawing/2014/main" id="{52A79B2C-A8C2-4CF7-9A60-E1F6FFF6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0696"/>
            <a:ext cx="640080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memory_gb   峰值显存</a:t>
            </a:r>
          </a:p>
        </p:txBody>
      </p:sp>
      <p:sp>
        <p:nvSpPr>
          <p:cNvPr id="16" name="doc-14-line-3">
            <a:extLst xmlns:a="http://schemas.openxmlformats.org/drawingml/2006/main">
              <a:ext uri="{FF2B5EF4-FFF2-40B4-BE49-F238E27FC236}">
                <a16:creationId xmlns:a16="http://schemas.microsoft.com/office/drawing/2014/main" id="{A95CAA51-A8FB-44D4-B574-41438A0B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7832"/>
            <a:ext cx="640080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status      keep / discard / crash</a:t>
            </a:r>
          </a:p>
        </p:txBody>
      </p:sp>
      <p:sp>
        <p:nvSpPr>
          <p:cNvPr id="17" name="doc-14-line-4">
            <a:extLst xmlns:a="http://schemas.openxmlformats.org/drawingml/2006/main">
              <a:ext uri="{FF2B5EF4-FFF2-40B4-BE49-F238E27FC236}">
                <a16:creationId xmlns:a16="http://schemas.microsoft.com/office/drawing/2014/main" id="{5E1F8D10-D661-42D1-8176-623A2356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4968"/>
            <a:ext cx="640080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description 本次尝试</a:t>
            </a:r>
          </a:p>
        </p:txBody>
      </p:sp>
      <p:sp>
        <p:nvSpPr>
          <p:cNvPr id="18" name="doc-14-line-5">
            <a:extLst xmlns:a="http://schemas.openxmlformats.org/drawingml/2006/main">
              <a:ext uri="{FF2B5EF4-FFF2-40B4-BE49-F238E27FC236}">
                <a16:creationId xmlns:a16="http://schemas.microsoft.com/office/drawing/2014/main" id="{D18AC0DB-8D77-46CF-AF59-3B50ED77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12104"/>
            <a:ext cx="640080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run.log     本次运行详情</a:t>
            </a:r>
          </a:p>
        </p:txBody>
      </p:sp>
      <p:sp>
        <p:nvSpPr>
          <p:cNvPr id="19" name="doc-14-line-6">
            <a:extLst xmlns:a="http://schemas.openxmlformats.org/drawingml/2006/main">
              <a:ext uri="{FF2B5EF4-FFF2-40B4-BE49-F238E27FC236}">
                <a16:creationId xmlns:a16="http://schemas.microsoft.com/office/drawing/2014/main" id="{5F7070C3-0F00-40EF-88E0-33CF2FEB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99239"/>
            <a:ext cx="640080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课程迁移：日志绑定各自 run ID</a:t>
            </a:r>
          </a:p>
        </p:txBody>
      </p:sp>
      <p:sp>
        <p:nvSpPr>
          <p:cNvPr id="20" name="four">
            <a:extLst xmlns:a="http://schemas.openxmlformats.org/drawingml/2006/main">
              <a:ext uri="{FF2B5EF4-FFF2-40B4-BE49-F238E27FC236}">
                <a16:creationId xmlns:a16="http://schemas.microsoft.com/office/drawing/2014/main" id="{2654FD6A-3E3D-4D0F-A11E-5AD3EF69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09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回退代码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保留账本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保留失败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人工判断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固定评价函数与独立评价端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AC474180-6EB6-4CE7-9FCE-1C4CFF5D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d194ddcdc4745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C3E2CF78-481D-4FEA-8D44-3120AA7F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固定评价函数与独立评价端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088BF0BC-4B5B-4D5B-8F54-F72A537E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来源：karpathy/autoresearch · program.md · commit 228791f；2026-09-13 核验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0281F173-B4DC-446D-950A-4360BDD8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70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94C4D205-ABC9-47C6-9B7A-9F29667B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执行器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B795C6AA-989B-4DBB-B9CC-039B3BFD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14575"/>
            <a:ext cx="82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F614085B-7F8B-4A22-967D-2859AD37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194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生成候选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740695F6-3B1C-4C22-8988-9E6B4B57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625" y="28670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57DF6B5C-C954-4D7F-BD07-129277C7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625" y="2143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独立 Evals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01793264-9D29-4460-BA32-101024D0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250" y="2314575"/>
            <a:ext cx="82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ECC99E60-E747-4BB8-A124-6A405138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625" y="30194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baseline / rubric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10282BA2-6A59-4A27-82CA-99B84551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750" y="28670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30A06E5B-7F24-47D6-9C0C-2B1DDD5A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750" y="2143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人工审核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78F15C22-9FE8-4F68-946F-EE1F5DC2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1375" y="2314575"/>
            <a:ext cx="82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A0DED77E-2C54-49BB-938A-8265D6BD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750" y="30194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方法与结论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F17A06F9-6804-49E0-9219-45C372C3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670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80890666-073B-481D-B813-449B0480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43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失败恢复</a:t>
            </a:r>
          </a:p>
        </p:txBody>
      </p:sp>
      <p:sp>
        <p:nvSpPr>
          <p:cNvPr id="24" name="chain-sub-3">
            <a:extLst xmlns:a="http://schemas.openxmlformats.org/drawingml/2006/main">
              <a:ext uri="{FF2B5EF4-FFF2-40B4-BE49-F238E27FC236}">
                <a16:creationId xmlns:a16="http://schemas.microsoft.com/office/drawing/2014/main" id="{348BD56F-5378-4359-8DB7-C9CDB177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194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记录后收窄</a:t>
            </a:r>
          </a:p>
        </p:txBody>
      </p:sp>
      <p:sp>
        <p:nvSpPr>
          <p:cNvPr id="25" name="guard">
            <a:extLst xmlns:a="http://schemas.openxmlformats.org/drawingml/2006/main">
              <a:ext uri="{FF2B5EF4-FFF2-40B4-BE49-F238E27FC236}">
                <a16:creationId xmlns:a16="http://schemas.microsoft.com/office/drawing/2014/main" id="{F8CEB52F-2225-4320-B097-FE4E8191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阅读卡执行器禁止读 gold；独立评价端在生成后评分。</a:t>
            </a:r>
          </a:p>
        </p:txBody>
      </p:sp>
      <p:sp>
        <p:nvSpPr>
          <p:cNvPr id="27" name="case-boundary">
            <a:extLst xmlns:a="http://schemas.openxmlformats.org/drawingml/2006/main">
              <a:ext uri="{FF2B5EF4-FFF2-40B4-BE49-F238E27FC236}">
                <a16:creationId xmlns:a16="http://schemas.microsoft.com/office/drawing/2014/main" id="{8641FB0D-FA35-40C9-A039-9F5E6424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AutoResearch：只读 prepare.py 固定评价函数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科研动作是否值得交给 Agent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C24CCF91-8CCC-4A5E-9A9B-1C1B66B5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82294e1ad4849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B1E49258-F059-4F7B-A87D-0110E758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科研动作是否值得交给 Agent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01458A4C-2348-483B-ACAD-5A4D306B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x-axis">
            <a:extLst xmlns:a="http://schemas.openxmlformats.org/drawingml/2006/main">
              <a:ext uri="{FF2B5EF4-FFF2-40B4-BE49-F238E27FC236}">
                <a16:creationId xmlns:a16="http://schemas.microsoft.com/office/drawing/2014/main" id="{A88A16D0-757A-492F-9C08-85D190AA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8572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y-axis">
            <a:extLst xmlns:a="http://schemas.openxmlformats.org/drawingml/2006/main">
              <a:ext uri="{FF2B5EF4-FFF2-40B4-BE49-F238E27FC236}">
                <a16:creationId xmlns:a16="http://schemas.microsoft.com/office/drawing/2014/main" id="{AA5EEA65-3BF5-4AC0-A805-9BA32170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1450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xlab">
            <a:extLst xmlns:a="http://schemas.openxmlformats.org/drawingml/2006/main">
              <a:ext uri="{FF2B5EF4-FFF2-40B4-BE49-F238E27FC236}">
                <a16:creationId xmlns:a16="http://schemas.microsoft.com/office/drawing/2014/main" id="{61E259B8-EBBF-4190-B14F-A2993B06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958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重复性高 →</a:t>
            </a:r>
          </a:p>
        </p:txBody>
      </p:sp>
      <p:sp>
        <p:nvSpPr>
          <p:cNvPr id="13" name="ylab">
            <a:extLst xmlns:a="http://schemas.openxmlformats.org/drawingml/2006/main">
              <a:ext uri="{FF2B5EF4-FFF2-40B4-BE49-F238E27FC236}">
                <a16:creationId xmlns:a16="http://schemas.microsoft.com/office/drawing/2014/main" id="{DB6D0FD7-7076-4A25-A4F0-D5859BB7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430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判断风险 ↑</a:t>
            </a:r>
          </a:p>
        </p:txBody>
      </p:sp>
      <p:sp>
        <p:nvSpPr>
          <p:cNvPr id="14" name="q1">
            <a:extLst xmlns:a="http://schemas.openxmlformats.org/drawingml/2006/main">
              <a:ext uri="{FF2B5EF4-FFF2-40B4-BE49-F238E27FC236}">
                <a16:creationId xmlns:a16="http://schemas.microsoft.com/office/drawing/2014/main" id="{84E17E92-8AC4-4DD0-A961-83B45342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Agent + 人工确认</a:t>
            </a:r>
          </a:p>
        </p:txBody>
      </p:sp>
      <p:sp>
        <p:nvSpPr>
          <p:cNvPr id="15" name="q2">
            <a:extLst xmlns:a="http://schemas.openxmlformats.org/drawingml/2006/main">
              <a:ext uri="{FF2B5EF4-FFF2-40B4-BE49-F238E27FC236}">
                <a16:creationId xmlns:a16="http://schemas.microsoft.com/office/drawing/2014/main" id="{FD0AC1E0-FAE0-4563-941A-7B85D2AC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固定工作流 / 脚本</a:t>
            </a:r>
          </a:p>
        </p:txBody>
      </p:sp>
      <p:sp>
        <p:nvSpPr>
          <p:cNvPr id="16" name="q3">
            <a:extLst xmlns:a="http://schemas.openxmlformats.org/drawingml/2006/main">
              <a:ext uri="{FF2B5EF4-FFF2-40B4-BE49-F238E27FC236}">
                <a16:creationId xmlns:a16="http://schemas.microsoft.com/office/drawing/2014/main" id="{000EF783-44FB-4146-9CB4-A096D39A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人工主导</a:t>
            </a:r>
          </a:p>
        </p:txBody>
      </p:sp>
      <p:sp>
        <p:nvSpPr>
          <p:cNvPr id="17" name="q4">
            <a:extLst xmlns:a="http://schemas.openxmlformats.org/drawingml/2006/main">
              <a:ext uri="{FF2B5EF4-FFF2-40B4-BE49-F238E27FC236}">
                <a16:creationId xmlns:a16="http://schemas.microsoft.com/office/drawing/2014/main" id="{4D1C12CB-54C9-460C-8318-B2FAFBE0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不值得自动化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脚本、工作流、Agent 与复杂系统的边界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8E74F63D-8DA9-425F-8754-B1BBDAE2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083d3786f432e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87EFD735-B00F-401D-87E9-94BED54D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脚本、工作流、Agent 与复杂系统的边界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4E62BAFA-6D47-464A-A969-7D77413F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63B52CBC-D534-4CBC-BA2D-E1E31734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E35639A3-E7E5-4926-8293-F830033E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脚本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C077B685-14BE-4281-8729-FD218CB7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6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F8D7961D-66A0-4708-8674-29F3A359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固定输入输出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A7FC189B-E7C0-4544-90E3-927B7874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250" y="29146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B0F6EF1C-55F6-47A4-A54B-03477443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250" y="21907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固定工作流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24CF70B0-D6AB-4AC6-9ACE-F2C6D537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2362200"/>
            <a:ext cx="6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4D8986BE-7C26-481E-B6AA-8C06FE3F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250" y="30670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状态与回退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24ED6F1A-1EE4-4804-9F36-DB931873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9146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6595699F-CA84-44A5-888F-68783028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907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B5D9DDB6-D130-40B0-AE3B-8E29751D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750" y="2362200"/>
            <a:ext cx="6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6BF8E88D-9287-437A-810E-A6ADBE94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30670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动态决策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FCAF2CD9-8350-44C9-80F3-AA7329C1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C985910D-0C5A-4AD3-9875-E76DB98F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复杂系统</a:t>
            </a:r>
          </a:p>
        </p:txBody>
      </p:sp>
      <p:sp>
        <p:nvSpPr>
          <p:cNvPr id="24" name="chain-sub-3">
            <a:extLst xmlns:a="http://schemas.openxmlformats.org/drawingml/2006/main">
              <a:ext uri="{FF2B5EF4-FFF2-40B4-BE49-F238E27FC236}">
                <a16:creationId xmlns:a16="http://schemas.microsoft.com/office/drawing/2014/main" id="{36B89872-764E-4939-A01A-AF9C60F1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多组件治理</a:t>
            </a:r>
          </a:p>
        </p:txBody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8669E3BE-7AF2-48DC-A7AA-DBC672A2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先用能完成任务的最低复杂度；自治增加必须带来独立评价与停止。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个人工作流从一个真实科研动作开始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F3CBC397-9C0C-49CD-8C6E-A8411283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64e110b7a4d5f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B6C2BC63-6EF3-4EBF-807B-5EBCF38A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个人工作流从一个真实科研动作开始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D4BBE188-0580-4C33-A8F7-EC754CE7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funnel1">
            <a:extLst xmlns:a="http://schemas.openxmlformats.org/drawingml/2006/main">
              <a:ext uri="{FF2B5EF4-FFF2-40B4-BE49-F238E27FC236}">
                <a16:creationId xmlns:a16="http://schemas.microsoft.com/office/drawing/2014/main" id="{8AB8E4B7-4BCB-4E38-9213-A42A93BD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2400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本人真实课题中的重复动作</a:t>
            </a:r>
          </a:p>
        </p:txBody>
      </p:sp>
      <p:sp>
        <p:nvSpPr>
          <p:cNvPr id="11" name="funnel2">
            <a:extLst xmlns:a="http://schemas.openxmlformats.org/drawingml/2006/main">
              <a:ext uri="{FF2B5EF4-FFF2-40B4-BE49-F238E27FC236}">
                <a16:creationId xmlns:a16="http://schemas.microsoft.com/office/drawing/2014/main" id="{437F17CD-91AC-4F67-A2F7-EB4064A4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622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导师组已有任务</a:t>
            </a:r>
          </a:p>
        </p:txBody>
      </p:sp>
      <p:sp>
        <p:nvSpPr>
          <p:cNvPr id="12" name="funnel3">
            <a:extLst xmlns:a="http://schemas.openxmlformats.org/drawingml/2006/main">
              <a:ext uri="{FF2B5EF4-FFF2-40B4-BE49-F238E27FC236}">
                <a16:creationId xmlns:a16="http://schemas.microsoft.com/office/drawing/2014/main" id="{FF93B437-C2C6-49A7-A1BE-0118C4C0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课堂最小原型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八要素契约是一张可填写工件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2EAC9927-F911-4BBA-8E71-D88899F4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3bba4248c47b0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A98D7626-FB47-4012-BE40-098F0091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八要素契约是一张可填写工件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B1506599-1298-4C55-A10A-A1A19F77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doc-15-bg">
            <a:extLst xmlns:a="http://schemas.openxmlformats.org/drawingml/2006/main">
              <a:ext uri="{FF2B5EF4-FFF2-40B4-BE49-F238E27FC236}">
                <a16:creationId xmlns:a16="http://schemas.microsoft.com/office/drawing/2014/main" id="{239D1BAE-A0A3-4622-A095-7FCF239A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15-title-bg">
            <a:extLst xmlns:a="http://schemas.openxmlformats.org/drawingml/2006/main">
              <a:ext uri="{FF2B5EF4-FFF2-40B4-BE49-F238E27FC236}">
                <a16:creationId xmlns:a16="http://schemas.microsoft.com/office/drawing/2014/main" id="{B26F8871-A9BC-4AF6-BEFC-52A25C88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15-title">
            <a:extLst xmlns:a="http://schemas.openxmlformats.org/drawingml/2006/main">
              <a:ext uri="{FF2B5EF4-FFF2-40B4-BE49-F238E27FC236}">
                <a16:creationId xmlns:a16="http://schemas.microsoft.com/office/drawing/2014/main" id="{EFDB88E0-AAEB-4282-AB24-D475AFD0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agent-workflow.md</a:t>
            </a:r>
          </a:p>
        </p:txBody>
      </p:sp>
      <p:sp>
        <p:nvSpPr>
          <p:cNvPr id="13" name="doc-15-line-0">
            <a:extLst xmlns:a="http://schemas.openxmlformats.org/drawingml/2006/main">
              <a:ext uri="{FF2B5EF4-FFF2-40B4-BE49-F238E27FC236}">
                <a16:creationId xmlns:a16="http://schemas.microsoft.com/office/drawing/2014/main" id="{59E042E6-3CA6-44AB-A37E-F15E59FD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28800"/>
            <a:ext cx="1021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任务契约｜输入、输出、成功标准、不适用范围</a:t>
            </a:r>
          </a:p>
        </p:txBody>
      </p:sp>
      <p:sp>
        <p:nvSpPr>
          <p:cNvPr id="14" name="doc-15-line-1">
            <a:extLst xmlns:a="http://schemas.openxmlformats.org/drawingml/2006/main">
              <a:ext uri="{FF2B5EF4-FFF2-40B4-BE49-F238E27FC236}">
                <a16:creationId xmlns:a16="http://schemas.microsoft.com/office/drawing/2014/main" id="{1355A07D-A539-45DA-8389-3FDAC783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1021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Context / 状态｜最小输入、持久工件、checkpoint</a:t>
            </a:r>
          </a:p>
        </p:txBody>
      </p:sp>
      <p:sp>
        <p:nvSpPr>
          <p:cNvPr id="15" name="doc-15-line-2">
            <a:extLst xmlns:a="http://schemas.openxmlformats.org/drawingml/2006/main">
              <a:ext uri="{FF2B5EF4-FFF2-40B4-BE49-F238E27FC236}">
                <a16:creationId xmlns:a16="http://schemas.microsoft.com/office/drawing/2014/main" id="{A1E3A56A-A0E2-4368-AA6F-E5ACF457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1021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工具权限｜只读、可写、可执行、需确认、禁止</a:t>
            </a:r>
          </a:p>
        </p:txBody>
      </p:sp>
      <p:sp>
        <p:nvSpPr>
          <p:cNvPr id="16" name="doc-15-line-3">
            <a:extLst xmlns:a="http://schemas.openxmlformats.org/drawingml/2006/main">
              <a:ext uri="{FF2B5EF4-FFF2-40B4-BE49-F238E27FC236}">
                <a16:creationId xmlns:a16="http://schemas.microsoft.com/office/drawing/2014/main" id="{1DE7958B-12C6-4B97-A2E9-C3AD7256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1021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执行循环｜固定指标、预算、停止、回退</a:t>
            </a:r>
          </a:p>
        </p:txBody>
      </p:sp>
      <p:sp>
        <p:nvSpPr>
          <p:cNvPr id="17" name="doc-15-line-4">
            <a:extLst xmlns:a="http://schemas.openxmlformats.org/drawingml/2006/main">
              <a:ext uri="{FF2B5EF4-FFF2-40B4-BE49-F238E27FC236}">
                <a16:creationId xmlns:a16="http://schemas.microsoft.com/office/drawing/2014/main" id="{4A514E4C-3466-44EA-B804-38E8CC3E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1021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工件与追踪｜run ID、trace、失败记录</a:t>
            </a:r>
          </a:p>
        </p:txBody>
      </p:sp>
      <p:sp>
        <p:nvSpPr>
          <p:cNvPr id="18" name="doc-15-line-5">
            <a:extLst xmlns:a="http://schemas.openxmlformats.org/drawingml/2006/main">
              <a:ext uri="{FF2B5EF4-FFF2-40B4-BE49-F238E27FC236}">
                <a16:creationId xmlns:a16="http://schemas.microsoft.com/office/drawing/2014/main" id="{F802F740-AB9D-4604-9626-4237D6DB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29175"/>
            <a:ext cx="1021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Evals / 人工审核｜baseline、rubric、决定权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评价代码与执行代码必须隔离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535BA9EA-D921-43CD-9C7B-F8FE70E0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41d77470e47db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400E8BE9-4810-4E19-B577-FE6DBB0A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评价代码与执行代码必须隔离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8C40E0DB-792B-4CDD-9183-7748A65D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doc-16-bg">
            <a:extLst xmlns:a="http://schemas.openxmlformats.org/drawingml/2006/main">
              <a:ext uri="{FF2B5EF4-FFF2-40B4-BE49-F238E27FC236}">
                <a16:creationId xmlns:a16="http://schemas.microsoft.com/office/drawing/2014/main" id="{DAF352C7-83DB-41EF-BE39-B08A8319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572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16-title-bg">
            <a:extLst xmlns:a="http://schemas.openxmlformats.org/drawingml/2006/main">
              <a:ext uri="{FF2B5EF4-FFF2-40B4-BE49-F238E27FC236}">
                <a16:creationId xmlns:a16="http://schemas.microsoft.com/office/drawing/2014/main" id="{43D78F44-A63D-4DC2-93E1-5EBAB12D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</a:ln>
        </p:spPr>
      </p:sp>
      <p:sp>
        <p:nvSpPr>
          <p:cNvPr id="12" name="doc-16-title">
            <a:extLst xmlns:a="http://schemas.openxmlformats.org/drawingml/2006/main">
              <a:ext uri="{FF2B5EF4-FFF2-40B4-BE49-F238E27FC236}">
                <a16:creationId xmlns:a16="http://schemas.microsoft.com/office/drawing/2014/main" id="{F0F3211A-5A2B-4A41-845D-F6ECB97F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4780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runner/ 执行端</a:t>
            </a:r>
          </a:p>
        </p:txBody>
      </p:sp>
      <p:sp>
        <p:nvSpPr>
          <p:cNvPr id="13" name="doc-16-line-0">
            <a:extLst xmlns:a="http://schemas.openxmlformats.org/drawingml/2006/main">
              <a:ext uri="{FF2B5EF4-FFF2-40B4-BE49-F238E27FC236}">
                <a16:creationId xmlns:a16="http://schemas.microsoft.com/office/drawing/2014/main" id="{5F23AD74-C35D-4216-81ED-1F37F412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114800" cy="102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generate.py   W</a:t>
            </a:r>
          </a:p>
        </p:txBody>
      </p:sp>
      <p:sp>
        <p:nvSpPr>
          <p:cNvPr id="14" name="doc-16-line-1">
            <a:extLst xmlns:a="http://schemas.openxmlformats.org/drawingml/2006/main">
              <a:ext uri="{FF2B5EF4-FFF2-40B4-BE49-F238E27FC236}">
                <a16:creationId xmlns:a16="http://schemas.microsoft.com/office/drawing/2014/main" id="{86BAF8CE-7131-4B8C-90B9-BB55FD56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5450"/>
            <a:ext cx="4114800" cy="102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tools.py      W</a:t>
            </a:r>
          </a:p>
        </p:txBody>
      </p:sp>
      <p:sp>
        <p:nvSpPr>
          <p:cNvPr id="15" name="doc-16-line-2">
            <a:extLst xmlns:a="http://schemas.openxmlformats.org/drawingml/2006/main">
              <a:ext uri="{FF2B5EF4-FFF2-40B4-BE49-F238E27FC236}">
                <a16:creationId xmlns:a16="http://schemas.microsoft.com/office/drawing/2014/main" id="{7926E8EE-AFDC-41F9-9B44-0376C617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6850"/>
            <a:ext cx="4114800" cy="102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runs/         W</a:t>
            </a:r>
          </a:p>
        </p:txBody>
      </p:sp>
      <p:sp>
        <p:nvSpPr>
          <p:cNvPr id="16" name="doc-17-bg">
            <a:extLst xmlns:a="http://schemas.openxmlformats.org/drawingml/2006/main">
              <a:ext uri="{FF2B5EF4-FFF2-40B4-BE49-F238E27FC236}">
                <a16:creationId xmlns:a16="http://schemas.microsoft.com/office/drawing/2014/main" id="{B5A79C13-E072-48D2-8596-60C2C32F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28750"/>
            <a:ext cx="4572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7" name="doc-17-title-bg">
            <a:extLst xmlns:a="http://schemas.openxmlformats.org/drawingml/2006/main">
              <a:ext uri="{FF2B5EF4-FFF2-40B4-BE49-F238E27FC236}">
                <a16:creationId xmlns:a16="http://schemas.microsoft.com/office/drawing/2014/main" id="{6534E4A4-4115-4354-A6AF-B08ECBE1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287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8" name="doc-17-title">
            <a:extLst xmlns:a="http://schemas.openxmlformats.org/drawingml/2006/main">
              <a:ext uri="{FF2B5EF4-FFF2-40B4-BE49-F238E27FC236}">
                <a16:creationId xmlns:a16="http://schemas.microsoft.com/office/drawing/2014/main" id="{E91928A5-12CB-4DA5-BE29-2E4A9DC5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47800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evaluator/ 独立评价端</a:t>
            </a:r>
          </a:p>
        </p:txBody>
      </p:sp>
      <p:sp>
        <p:nvSpPr>
          <p:cNvPr id="19" name="doc-17-line-0">
            <a:extLst xmlns:a="http://schemas.openxmlformats.org/drawingml/2006/main">
              <a:ext uri="{FF2B5EF4-FFF2-40B4-BE49-F238E27FC236}">
                <a16:creationId xmlns:a16="http://schemas.microsoft.com/office/drawing/2014/main" id="{B3D059A1-FA6F-4CAF-9050-3476A905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24050"/>
            <a:ext cx="4114800" cy="766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gold.json  仅评价端 R</a:t>
            </a:r>
          </a:p>
        </p:txBody>
      </p:sp>
      <p:sp>
        <p:nvSpPr>
          <p:cNvPr id="20" name="doc-17-line-1">
            <a:extLst xmlns:a="http://schemas.openxmlformats.org/drawingml/2006/main">
              <a:ext uri="{FF2B5EF4-FFF2-40B4-BE49-F238E27FC236}">
                <a16:creationId xmlns:a16="http://schemas.microsoft.com/office/drawing/2014/main" id="{BC6F0F40-A26C-40DB-BFFF-A83E0C00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05100"/>
            <a:ext cx="4114800" cy="766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rubric.yaml  冻结规则</a:t>
            </a:r>
          </a:p>
        </p:txBody>
      </p:sp>
      <p:sp>
        <p:nvSpPr>
          <p:cNvPr id="21" name="doc-17-line-2">
            <a:extLst xmlns:a="http://schemas.openxmlformats.org/drawingml/2006/main">
              <a:ext uri="{FF2B5EF4-FFF2-40B4-BE49-F238E27FC236}">
                <a16:creationId xmlns:a16="http://schemas.microsoft.com/office/drawing/2014/main" id="{019077B5-F080-4604-B8A8-3C7FD63A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86150"/>
            <a:ext cx="4114800" cy="766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score.py  独立执行</a:t>
            </a:r>
          </a:p>
        </p:txBody>
      </p:sp>
      <p:sp>
        <p:nvSpPr>
          <p:cNvPr id="22" name="doc-17-line-3">
            <a:extLst xmlns:a="http://schemas.openxmlformats.org/drawingml/2006/main">
              <a:ext uri="{FF2B5EF4-FFF2-40B4-BE49-F238E27FC236}">
                <a16:creationId xmlns:a16="http://schemas.microsoft.com/office/drawing/2014/main" id="{2470B6D1-5522-42EE-999B-DC58FE9C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67200"/>
            <a:ext cx="4114800" cy="766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协议变更须人工确认</a:t>
            </a:r>
          </a:p>
        </p:txBody>
      </p:sp>
      <p:sp>
        <p:nvSpPr>
          <p:cNvPr id="23" name="sep-arrow">
            <a:extLst xmlns:a="http://schemas.openxmlformats.org/drawingml/2006/main">
              <a:ext uri="{FF2B5EF4-FFF2-40B4-BE49-F238E27FC236}">
                <a16:creationId xmlns:a16="http://schemas.microsoft.com/office/drawing/2014/main" id="{61117915-10FD-4DD7-9AD8-8D26EA2F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52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5" name="role-boundary">
            <a:extLst xmlns:a="http://schemas.openxmlformats.org/drawingml/2006/main">
              <a:ext uri="{FF2B5EF4-FFF2-40B4-BE49-F238E27FC236}">
                <a16:creationId xmlns:a16="http://schemas.microsoft.com/office/drawing/2014/main" id="{7EAAE0D7-4745-4AEB-A3A6-5E346AB7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执行端禁止读取 gold.json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把原型组织成可反查的工作流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content-322">
            <a:extLst xmlns:a="http://schemas.openxmlformats.org/drawingml/2006/main">
              <a:ext uri="{FF2B5EF4-FFF2-40B4-BE49-F238E27FC236}">
                <a16:creationId xmlns:a16="http://schemas.microsoft.com/office/drawing/2014/main" id="{0B8D5072-BDEF-4E59-A92C-7B11A7A9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任务｜限定条件保留的检查流程</a:t>
            </a:r>
          </a:p>
        </p:txBody>
      </p:sp>
      <p:sp>
        <p:nvSpPr>
          <p:cNvPr id="7" name="content-323">
            <a:extLst xmlns:a="http://schemas.openxmlformats.org/drawingml/2006/main">
              <a:ext uri="{FF2B5EF4-FFF2-40B4-BE49-F238E27FC236}">
                <a16:creationId xmlns:a16="http://schemas.microsoft.com/office/drawing/2014/main" id="{C9D36877-FC78-4FB4-87CD-C8258EE6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输入｜3 份教学构造源文本与 6 份预置输出</a:t>
            </a:r>
          </a:p>
        </p:txBody>
      </p:sp>
      <p:sp>
        <p:nvSpPr>
          <p:cNvPr id="8" name="content-324">
            <a:extLst xmlns:a="http://schemas.openxmlformats.org/drawingml/2006/main">
              <a:ext uri="{FF2B5EF4-FFF2-40B4-BE49-F238E27FC236}">
                <a16:creationId xmlns:a16="http://schemas.microsoft.com/office/drawing/2014/main" id="{06394105-2111-472F-AC72-A8566649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过程｜回放、标注核验、汇总</a:t>
            </a:r>
          </a:p>
        </p:txBody>
      </p:sp>
      <p:sp>
        <p:nvSpPr>
          <p:cNvPr id="9" name="content-325">
            <a:extLst xmlns:a="http://schemas.openxmlformats.org/drawingml/2006/main">
              <a:ext uri="{FF2B5EF4-FFF2-40B4-BE49-F238E27FC236}">
                <a16:creationId xmlns:a16="http://schemas.microsoft.com/office/drawing/2014/main" id="{021C0BF4-E162-4E7D-A1E6-73CF8B0C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边界｜固定链；无模型调用；参考标注需人审</a:t>
            </a:r>
          </a:p>
        </p:txBody>
      </p:sp>
      <p:sp>
        <p:nvSpPr>
          <p:cNvPr id="10" name="content-326">
            <a:extLst xmlns:a="http://schemas.openxmlformats.org/drawingml/2006/main">
              <a:ext uri="{FF2B5EF4-FFF2-40B4-BE49-F238E27FC236}">
                <a16:creationId xmlns:a16="http://schemas.microsoft.com/office/drawing/2014/main" id="{3F1FF797-936E-429B-9D0E-647D435F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输出｜原始记录、结果、失败与局限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打开这些文件，走一次完整路径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content-327">
            <a:extLst xmlns:a="http://schemas.openxmlformats.org/drawingml/2006/main">
              <a:ext uri="{FF2B5EF4-FFF2-40B4-BE49-F238E27FC236}">
                <a16:creationId xmlns:a16="http://schemas.microsoft.com/office/drawing/2014/main" id="{75761DBD-2018-4452-967C-3EEC8F10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sources / outputs → replay</a:t>
            </a:r>
          </a:p>
        </p:txBody>
      </p:sp>
      <p:sp>
        <p:nvSpPr>
          <p:cNvPr id="7" name="content-328">
            <a:extLst xmlns:a="http://schemas.openxmlformats.org/drawingml/2006/main">
              <a:ext uri="{FF2B5EF4-FFF2-40B4-BE49-F238E27FC236}">
                <a16:creationId xmlns:a16="http://schemas.microsoft.com/office/drawing/2014/main" id="{02F14233-2B28-481B-90E5-6B616029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events / state → 检查执行与恢复</a:t>
            </a:r>
          </a:p>
        </p:txBody>
      </p:sp>
      <p:sp>
        <p:nvSpPr>
          <p:cNvPr id="8" name="content-329">
            <a:extLst xmlns:a="http://schemas.openxmlformats.org/drawingml/2006/main">
              <a:ext uri="{FF2B5EF4-FFF2-40B4-BE49-F238E27FC236}">
                <a16:creationId xmlns:a16="http://schemas.microsoft.com/office/drawing/2014/main" id="{E010E2C9-AC51-4FF0-AC61-56C20BE6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gold / annotations → 人工核验依据</a:t>
            </a:r>
          </a:p>
        </p:txBody>
      </p:sp>
      <p:sp>
        <p:nvSpPr>
          <p:cNvPr id="9" name="content-330">
            <a:extLst xmlns:a="http://schemas.openxmlformats.org/drawingml/2006/main">
              <a:ext uri="{FF2B5EF4-FFF2-40B4-BE49-F238E27FC236}">
                <a16:creationId xmlns:a16="http://schemas.microsoft.com/office/drawing/2014/main" id="{37F81DEA-E93F-4AF6-A1A4-DA0B39D9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evaluate → evaluation.json</a:t>
            </a:r>
          </a:p>
        </p:txBody>
      </p:sp>
      <p:sp>
        <p:nvSpPr>
          <p:cNvPr id="10" name="content-331">
            <a:extLst xmlns:a="http://schemas.openxmlformats.org/drawingml/2006/main">
              <a:ext uri="{FF2B5EF4-FFF2-40B4-BE49-F238E27FC236}">
                <a16:creationId xmlns:a16="http://schemas.microsoft.com/office/drawing/2014/main" id="{D541FC49-77C8-4106-A043-1FEDDDE5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同伴从一个数字反查到输出原句。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接口拒绝能证明什么？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content-332">
            <a:extLst xmlns:a="http://schemas.openxmlformats.org/drawingml/2006/main">
              <a:ext uri="{FF2B5EF4-FFF2-40B4-BE49-F238E27FC236}">
                <a16:creationId xmlns:a16="http://schemas.microsoft.com/office/drawing/2014/main" id="{1F2CA69F-25EC-4E24-86DF-C3B1AD73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executor 请求 gold → 接口拒绝并记日志</a:t>
            </a:r>
          </a:p>
        </p:txBody>
      </p:sp>
      <p:sp>
        <p:nvSpPr>
          <p:cNvPr id="7" name="content-333">
            <a:extLst xmlns:a="http://schemas.openxmlformats.org/drawingml/2006/main">
              <a:ext uri="{FF2B5EF4-FFF2-40B4-BE49-F238E27FC236}">
                <a16:creationId xmlns:a16="http://schemas.microsoft.com/office/drawing/2014/main" id="{1176A590-C756-442B-8D39-820D4E1D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evaluator 按角色读取 → 进入评价</a:t>
            </a:r>
          </a:p>
        </p:txBody>
      </p:sp>
      <p:sp>
        <p:nvSpPr>
          <p:cNvPr id="8" name="content-334">
            <a:extLst xmlns:a="http://schemas.openxmlformats.org/drawingml/2006/main">
              <a:ext uri="{FF2B5EF4-FFF2-40B4-BE49-F238E27FC236}">
                <a16:creationId xmlns:a16="http://schemas.microsoft.com/office/drawing/2014/main" id="{768E2698-41BF-46DB-B4B3-9C2A1B40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已展示：通过此入口的角色检查。</a:t>
            </a:r>
          </a:p>
        </p:txBody>
      </p:sp>
      <p:sp>
        <p:nvSpPr>
          <p:cNvPr id="9" name="content-335">
            <a:extLst xmlns:a="http://schemas.openxmlformats.org/drawingml/2006/main">
              <a:ext uri="{FF2B5EF4-FFF2-40B4-BE49-F238E27FC236}">
                <a16:creationId xmlns:a16="http://schemas.microsoft.com/office/drawing/2014/main" id="{68D65F9D-1275-48FC-8081-350C97DD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尚未展示：操作系统或容器级隔离。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0D3F1BCA-0F0D-4FC5-B336-650A679B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本人项目：决定、核验与回写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963155FB-3B96-46FA-A442-2C86547B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在个人副本接入 L10 校验，或增加分组盲化/任务状态持久化等一个实质环节。对真实输入走通输入→处理→人工检查→评价 trace；输出标明 accepted/rejected 与理由，正常项守恒。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2DE06640-81E0-4B7C-91CF-F2B28A6E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同一输入运行 baseline 与改动版；检查拒绝记录仍在账本中，gold 不参与执行端选择。只换提示词措辞、改标题或画流程图不能替代实际实现。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2EFA7E2B-7B9C-4067-A031-BB4A2792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保存：本人可运行工作流、实质 diff、任务契约与端到端 trace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F015A99F-16B5-4A14-B8EC-0DBF7DF7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DF638766-D257-4BF3-B074-D6176102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八要素自检贴在同一工作流上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014ABB80-2EA8-4BE3-BE55-6DE715D1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cc8d372ae405c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7715B77A-3133-454A-BD6B-4BA44BA3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八要素自检贴在同一工作流上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FFBC2688-B9F3-49CC-8D68-94D4480A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m-label-0">
            <a:extLst xmlns:a="http://schemas.openxmlformats.org/drawingml/2006/main">
              <a:ext uri="{FF2B5EF4-FFF2-40B4-BE49-F238E27FC236}">
                <a16:creationId xmlns:a16="http://schemas.microsoft.com/office/drawing/2014/main" id="{D343D29D-87A5-4485-AD60-2ECE4A5F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85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契约 / Context</a:t>
            </a:r>
          </a:p>
        </p:txBody>
      </p:sp>
      <p:sp>
        <p:nvSpPr>
          <p:cNvPr id="11" name="m-value-0">
            <a:extLst xmlns:a="http://schemas.openxmlformats.org/drawingml/2006/main">
              <a:ext uri="{FF2B5EF4-FFF2-40B4-BE49-F238E27FC236}">
                <a16:creationId xmlns:a16="http://schemas.microsoft.com/office/drawing/2014/main" id="{7EE4F96D-CE44-4F75-B23E-8544B095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14500"/>
            <a:ext cx="79438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输入输出与状态能否反查？</a:t>
            </a:r>
          </a:p>
        </p:txBody>
      </p:sp>
      <p:sp>
        <p:nvSpPr>
          <p:cNvPr id="12" name="m-rule-0">
            <a:extLst xmlns:a="http://schemas.openxmlformats.org/drawingml/2006/main">
              <a:ext uri="{FF2B5EF4-FFF2-40B4-BE49-F238E27FC236}">
                <a16:creationId xmlns:a16="http://schemas.microsoft.com/office/drawing/2014/main" id="{61298518-4914-4D6F-B9C5-B81CDDC1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m-label-1">
            <a:extLst xmlns:a="http://schemas.openxmlformats.org/drawingml/2006/main">
              <a:ext uri="{FF2B5EF4-FFF2-40B4-BE49-F238E27FC236}">
                <a16:creationId xmlns:a16="http://schemas.microsoft.com/office/drawing/2014/main" id="{3ADF0E6F-1756-4AEB-8436-E2463563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85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权限 / 循环</a:t>
            </a:r>
          </a:p>
        </p:txBody>
      </p:sp>
      <p:sp>
        <p:nvSpPr>
          <p:cNvPr id="14" name="m-value-1">
            <a:extLst xmlns:a="http://schemas.openxmlformats.org/drawingml/2006/main">
              <a:ext uri="{FF2B5EF4-FFF2-40B4-BE49-F238E27FC236}">
                <a16:creationId xmlns:a16="http://schemas.microsoft.com/office/drawing/2014/main" id="{5A56412F-C424-425F-8252-C98FB962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19375"/>
            <a:ext cx="79438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外部动作何时停？</a:t>
            </a:r>
          </a:p>
        </p:txBody>
      </p:sp>
      <p:sp>
        <p:nvSpPr>
          <p:cNvPr id="15" name="m-rule-1">
            <a:extLst xmlns:a="http://schemas.openxmlformats.org/drawingml/2006/main">
              <a:ext uri="{FF2B5EF4-FFF2-40B4-BE49-F238E27FC236}">
                <a16:creationId xmlns:a16="http://schemas.microsoft.com/office/drawing/2014/main" id="{73ECAD51-868F-4FE9-A632-2B478EEE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6" name="m-label-2">
            <a:extLst xmlns:a="http://schemas.openxmlformats.org/drawingml/2006/main">
              <a:ext uri="{FF2B5EF4-FFF2-40B4-BE49-F238E27FC236}">
                <a16:creationId xmlns:a16="http://schemas.microsoft.com/office/drawing/2014/main" id="{EE7EC34C-A256-40AB-BC12-8432014A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85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工件 / Evals</a:t>
            </a:r>
          </a:p>
        </p:txBody>
      </p:sp>
      <p:sp>
        <p:nvSpPr>
          <p:cNvPr id="17" name="m-value-2">
            <a:extLst xmlns:a="http://schemas.openxmlformats.org/drawingml/2006/main">
              <a:ext uri="{FF2B5EF4-FFF2-40B4-BE49-F238E27FC236}">
                <a16:creationId xmlns:a16="http://schemas.microsoft.com/office/drawing/2014/main" id="{3AD6CA78-F423-4E73-A596-9E47AE31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79438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运行与评价是否隔离？</a:t>
            </a:r>
          </a:p>
        </p:txBody>
      </p:sp>
      <p:sp>
        <p:nvSpPr>
          <p:cNvPr id="18" name="m-rule-2">
            <a:extLst xmlns:a="http://schemas.openxmlformats.org/drawingml/2006/main">
              <a:ext uri="{FF2B5EF4-FFF2-40B4-BE49-F238E27FC236}">
                <a16:creationId xmlns:a16="http://schemas.microsoft.com/office/drawing/2014/main" id="{D1902DDA-6BE1-4695-A847-C9008425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9" name="m-label-3">
            <a:extLst xmlns:a="http://schemas.openxmlformats.org/drawingml/2006/main">
              <a:ext uri="{FF2B5EF4-FFF2-40B4-BE49-F238E27FC236}">
                <a16:creationId xmlns:a16="http://schemas.microsoft.com/office/drawing/2014/main" id="{B634F107-5A91-40CC-9101-D37B97D7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85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人工审核 / 恢复</a:t>
            </a:r>
          </a:p>
        </p:txBody>
      </p:sp>
      <p:sp>
        <p:nvSpPr>
          <p:cNvPr id="20" name="m-value-3">
            <a:extLst xmlns:a="http://schemas.openxmlformats.org/drawingml/2006/main">
              <a:ext uri="{FF2B5EF4-FFF2-40B4-BE49-F238E27FC236}">
                <a16:creationId xmlns:a16="http://schemas.microsoft.com/office/drawing/2014/main" id="{62E61000-4300-413F-9825-46106877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29125"/>
            <a:ext cx="79438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失败是否保留并改变下一步？</a:t>
            </a:r>
          </a:p>
        </p:txBody>
      </p:sp>
      <p:sp>
        <p:nvSpPr>
          <p:cNvPr id="21" name="m-rule-3">
            <a:extLst xmlns:a="http://schemas.openxmlformats.org/drawingml/2006/main">
              <a:ext uri="{FF2B5EF4-FFF2-40B4-BE49-F238E27FC236}">
                <a16:creationId xmlns:a16="http://schemas.microsoft.com/office/drawing/2014/main" id="{1CFCDBC1-7F3E-4F66-B998-1D02EE9F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同伴只问边界、越权与 baseline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AE713C75-38E8-415F-BD3C-3D944D8F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4184528d449fa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F1EFC51D-DDE6-4A94-910F-1E0635C7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同伴只问边界、越权与 baseline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9C2A6E8A-C3AB-4009-8D96-32C003E5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doc-20-bg">
            <a:extLst xmlns:a="http://schemas.openxmlformats.org/drawingml/2006/main">
              <a:ext uri="{FF2B5EF4-FFF2-40B4-BE49-F238E27FC236}">
                <a16:creationId xmlns:a16="http://schemas.microsoft.com/office/drawing/2014/main" id="{1D51A5CA-2D83-487E-8DB2-38C3AFB2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5334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20-title-bg">
            <a:extLst xmlns:a="http://schemas.openxmlformats.org/drawingml/2006/main">
              <a:ext uri="{FF2B5EF4-FFF2-40B4-BE49-F238E27FC236}">
                <a16:creationId xmlns:a16="http://schemas.microsoft.com/office/drawing/2014/main" id="{0C9B676B-7573-43A2-A700-C2F18286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20-title">
            <a:extLst xmlns:a="http://schemas.openxmlformats.org/drawingml/2006/main">
              <a:ext uri="{FF2B5EF4-FFF2-40B4-BE49-F238E27FC236}">
                <a16:creationId xmlns:a16="http://schemas.microsoft.com/office/drawing/2014/main" id="{583CCD8B-3F43-4385-9A7A-9F2C9B25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430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作者的最小工作流</a:t>
            </a:r>
          </a:p>
        </p:txBody>
      </p:sp>
      <p:sp>
        <p:nvSpPr>
          <p:cNvPr id="13" name="doc-20-line-0">
            <a:extLst xmlns:a="http://schemas.openxmlformats.org/drawingml/2006/main">
              <a:ext uri="{FF2B5EF4-FFF2-40B4-BE49-F238E27FC236}">
                <a16:creationId xmlns:a16="http://schemas.microsoft.com/office/drawing/2014/main" id="{61B695C0-C4AC-40E7-8FB2-F547BBEC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19300"/>
            <a:ext cx="4876800" cy="95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边界｜哪些动作不交给 Agent</a:t>
            </a:r>
          </a:p>
        </p:txBody>
      </p:sp>
      <p:sp>
        <p:nvSpPr>
          <p:cNvPr id="14" name="doc-20-line-1">
            <a:extLst xmlns:a="http://schemas.openxmlformats.org/drawingml/2006/main">
              <a:ext uri="{FF2B5EF4-FFF2-40B4-BE49-F238E27FC236}">
                <a16:creationId xmlns:a16="http://schemas.microsoft.com/office/drawing/2014/main" id="{061DE8DF-A2A3-4F32-B9FF-19B2A55B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97200"/>
            <a:ext cx="4876800" cy="95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越权｜哪个节点必须停</a:t>
            </a:r>
          </a:p>
        </p:txBody>
      </p:sp>
      <p:sp>
        <p:nvSpPr>
          <p:cNvPr id="15" name="doc-20-line-2">
            <a:extLst xmlns:a="http://schemas.openxmlformats.org/drawingml/2006/main">
              <a:ext uri="{FF2B5EF4-FFF2-40B4-BE49-F238E27FC236}">
                <a16:creationId xmlns:a16="http://schemas.microsoft.com/office/drawing/2014/main" id="{C0E4BAC2-ED60-4478-86F7-9203FF29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75100"/>
            <a:ext cx="4876800" cy="95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baseline｜与什么比较，如何评分</a:t>
            </a:r>
          </a:p>
        </p:txBody>
      </p:sp>
      <p:sp>
        <p:nvSpPr>
          <p:cNvPr id="16" name="peer">
            <a:extLst xmlns:a="http://schemas.openxmlformats.org/drawingml/2006/main">
              <a:ext uri="{FF2B5EF4-FFF2-40B4-BE49-F238E27FC236}">
                <a16:creationId xmlns:a16="http://schemas.microsoft.com/office/drawing/2014/main" id="{59ACEA3D-B83C-441E-B0ED-6AC14285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同伴只提问题</a:t>
            </a:r>
          </a:p>
        </p:txBody>
      </p:sp>
      <p:sp>
        <p:nvSpPr>
          <p:cNvPr id="17" name="author">
            <a:extLst xmlns:a="http://schemas.openxmlformats.org/drawingml/2006/main">
              <a:ext uri="{FF2B5EF4-FFF2-40B4-BE49-F238E27FC236}">
                <a16:creationId xmlns:a16="http://schemas.microsoft.com/office/drawing/2014/main" id="{5A5C0149-BD2B-4D62-8ABC-F1B4FF36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作者记录处理方式与真实理由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9A22A1E9-629E-480D-AFB4-6C5D2C9F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cd8db1ba14071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3E429823-7371-4009-8F6D-7021313F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25CCAFC6-8F68-42CC-962C-B1754691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61149F67-8EDD-42CF-BAA9-D64E8866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3164F39E-49EA-465D-B8BE-BE72D564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八要素契约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E2B540EE-0D8E-45CA-A145-4B835E61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05075"/>
            <a:ext cx="92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2A002F95-AD6C-4087-B313-F095D1E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本讲输入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B99B367C-2B25-417F-B39B-9E92FE8B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F89D5002-D3CE-46EE-BF59-3DC6002F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权限与循环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19C54A65-2CF6-4486-81F6-B0B5DC6D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850" y="2505075"/>
            <a:ext cx="92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030D6674-E189-480E-A137-F9240933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本讲执行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CAFBC6C8-34B0-4F07-AF13-BAC65F8B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B38C2562-5922-45A2-ADDB-155616F8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独立评价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3309FEA6-4C03-43AE-9EBF-B2BDEC14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25" y="2505075"/>
            <a:ext cx="92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0038D08D-2D0B-4EBB-9219-328591AB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本讲证据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3CEFD9E3-52FC-41F8-B848-8B93074E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C2762E86-BF48-443E-9144-F6904FC1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失败 trace</a:t>
            </a:r>
          </a:p>
        </p:txBody>
      </p:sp>
      <p:sp>
        <p:nvSpPr>
          <p:cNvPr id="24" name="chain-sub-3">
            <a:extLst xmlns:a="http://schemas.openxmlformats.org/drawingml/2006/main">
              <a:ext uri="{FF2B5EF4-FFF2-40B4-BE49-F238E27FC236}">
                <a16:creationId xmlns:a16="http://schemas.microsoft.com/office/drawing/2014/main" id="{3549F9C4-718A-442B-80FE-2495271C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314B2AC0-7D22-43DF-88A6-A51241C8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保留本课决定，准备下一课输入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D29E3433-7574-4D0B-9E18-8CF35B0D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L13 按冻结协议评价 baseline 和改动版。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C866D2A1-C2BE-4A24-BB82-8869B4B1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回写已有项目：本人可运行工作流、实质 diff、任务契约与端到端 trace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DD479662-25C3-4D15-AE1F-20818AD5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只读指定段落，补课堂留下的真实缺口。安装与排障计入课外总预算。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7B31831D-B40B-40CD-86E6-1E6A77B3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FF8F120D-9888-40DF-9CBA-72D7EEA4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2026-09-16T01:27:24.6800000Z</dcterms:created>
  <dcterms:modified xsi:type="dcterms:W3CDTF">2026-09-16T01:27:24.6800000Z</dcterms:modified>
</coreProperties>
</file>