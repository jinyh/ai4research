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ddd47bd6bb143ac" /><Relationship Type="http://schemas.openxmlformats.org/officeDocument/2006/relationships/extended-properties" Target="/docProps/app.xml" Id="Rfcf22d70e2a849a6" /><Relationship Type="http://schemas.openxmlformats.org/officeDocument/2006/relationships/officeDocument" Target="/ppt/presentation.xml" Id="R6ceb8b8161354a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de51f6750b4847"/>
  </p:sldMasterIdLst>
  <p:notesMasterIdLst>
    <p:notesMasterId xmlns:r="http://schemas.openxmlformats.org/officeDocument/2006/relationships" r:id="Red44b009cb844b50"/>
  </p:notesMasterIdLst>
  <p:sldIdLst>
    <p:sldId xmlns:r="http://schemas.openxmlformats.org/officeDocument/2006/relationships" id="256" r:id="R34f8b0393f3845da"/>
    <p:sldId xmlns:r="http://schemas.openxmlformats.org/officeDocument/2006/relationships" id="257" r:id="Rb4dff49ae8e64c38"/>
    <p:sldId xmlns:r="http://schemas.openxmlformats.org/officeDocument/2006/relationships" id="258" r:id="Rff9265e550d44282"/>
    <p:sldId xmlns:r="http://schemas.openxmlformats.org/officeDocument/2006/relationships" id="259" r:id="R6a07794305724a10"/>
    <p:sldId xmlns:r="http://schemas.openxmlformats.org/officeDocument/2006/relationships" id="260" r:id="R04e001a9a17048a2"/>
    <p:sldId xmlns:r="http://schemas.openxmlformats.org/officeDocument/2006/relationships" id="261" r:id="R4f0dd53dbd7f495e"/>
    <p:sldId xmlns:r="http://schemas.openxmlformats.org/officeDocument/2006/relationships" id="262" r:id="Rdd486aa6db5a4c29"/>
    <p:sldId xmlns:r="http://schemas.openxmlformats.org/officeDocument/2006/relationships" id="263" r:id="R92a40c9f4bb642d7"/>
    <p:sldId xmlns:r="http://schemas.openxmlformats.org/officeDocument/2006/relationships" id="264" r:id="R82c35a52e7904bf7"/>
    <p:sldId xmlns:r="http://schemas.openxmlformats.org/officeDocument/2006/relationships" id="265" r:id="Ra5a3358c620d4a06"/>
    <p:sldId xmlns:r="http://schemas.openxmlformats.org/officeDocument/2006/relationships" id="266" r:id="Rcc4eb6b37c804e53"/>
    <p:sldId xmlns:r="http://schemas.openxmlformats.org/officeDocument/2006/relationships" id="267" r:id="R6112714bf3aa49e5"/>
    <p:sldId xmlns:r="http://schemas.openxmlformats.org/officeDocument/2006/relationships" id="268" r:id="R516dcfa565244a4c"/>
    <p:sldId xmlns:r="http://schemas.openxmlformats.org/officeDocument/2006/relationships" id="269" r:id="R5b4b8f7045b94dcb"/>
    <p:sldId xmlns:r="http://schemas.openxmlformats.org/officeDocument/2006/relationships" id="270" r:id="Rd5da21ebb28d4bf5"/>
    <p:sldId xmlns:r="http://schemas.openxmlformats.org/officeDocument/2006/relationships" id="271" r:id="R2f98ffc080014025"/>
    <p:sldId xmlns:r="http://schemas.openxmlformats.org/officeDocument/2006/relationships" id="272" r:id="R2bf21575b65c4465"/>
    <p:sldId xmlns:r="http://schemas.openxmlformats.org/officeDocument/2006/relationships" id="273" r:id="Rcb739f040c7a4d2f"/>
    <p:sldId xmlns:r="http://schemas.openxmlformats.org/officeDocument/2006/relationships" id="274" r:id="Rb1ba30d9ef4c4c65"/>
    <p:sldId xmlns:r="http://schemas.openxmlformats.org/officeDocument/2006/relationships" id="275" r:id="R83f1721680e14774"/>
    <p:sldId xmlns:r="http://schemas.openxmlformats.org/officeDocument/2006/relationships" id="276" r:id="Rf9a83844fd2a41b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87fe405fd14a3f" /><Relationship Type="http://schemas.openxmlformats.org/officeDocument/2006/relationships/slideMaster" Target="/ppt/slideMasters/slideMaster1.xml" Id="Rc9de51f6750b4847" /><Relationship Type="http://schemas.openxmlformats.org/officeDocument/2006/relationships/notesMaster" Target="/ppt/notesMasters/notesMaster1.xml" Id="Red44b009cb844b50" /><Relationship Type="http://schemas.openxmlformats.org/officeDocument/2006/relationships/presProps" Target="/ppt/presProps.xml" Id="R350f65856acb494b" /><Relationship Type="http://schemas.openxmlformats.org/officeDocument/2006/relationships/viewProps" Target="/ppt/viewProps.xml" Id="R89f12eb21b7e497a" /><Relationship Type="http://schemas.openxmlformats.org/officeDocument/2006/relationships/tableStyles" Target="/ppt/tableStyles.xml" Id="R2ba51cf0eeeb4bad" /><Relationship Type="http://schemas.openxmlformats.org/officeDocument/2006/relationships/slide" Target="/ppt/slides/slide1.xml" Id="R34f8b0393f3845da" /><Relationship Type="http://schemas.openxmlformats.org/officeDocument/2006/relationships/slide" Target="/ppt/slides/slide2.xml" Id="Rb4dff49ae8e64c38" /><Relationship Type="http://schemas.openxmlformats.org/officeDocument/2006/relationships/slide" Target="/ppt/slides/slide3.xml" Id="Rff9265e550d44282" /><Relationship Type="http://schemas.openxmlformats.org/officeDocument/2006/relationships/slide" Target="/ppt/slides/slide4.xml" Id="R6a07794305724a10" /><Relationship Type="http://schemas.openxmlformats.org/officeDocument/2006/relationships/slide" Target="/ppt/slides/slide5.xml" Id="R04e001a9a17048a2" /><Relationship Type="http://schemas.openxmlformats.org/officeDocument/2006/relationships/slide" Target="/ppt/slides/slide6.xml" Id="R4f0dd53dbd7f495e" /><Relationship Type="http://schemas.openxmlformats.org/officeDocument/2006/relationships/slide" Target="/ppt/slides/slide7.xml" Id="Rdd486aa6db5a4c29" /><Relationship Type="http://schemas.openxmlformats.org/officeDocument/2006/relationships/slide" Target="/ppt/slides/slide8.xml" Id="R92a40c9f4bb642d7" /><Relationship Type="http://schemas.openxmlformats.org/officeDocument/2006/relationships/slide" Target="/ppt/slides/slide9.xml" Id="R82c35a52e7904bf7" /><Relationship Type="http://schemas.openxmlformats.org/officeDocument/2006/relationships/slide" Target="/ppt/slides/slide10.xml" Id="Ra5a3358c620d4a06" /><Relationship Type="http://schemas.openxmlformats.org/officeDocument/2006/relationships/slide" Target="/ppt/slides/slide11.xml" Id="Rcc4eb6b37c804e53" /><Relationship Type="http://schemas.openxmlformats.org/officeDocument/2006/relationships/slide" Target="/ppt/slides/slide12.xml" Id="R6112714bf3aa49e5" /><Relationship Type="http://schemas.openxmlformats.org/officeDocument/2006/relationships/slide" Target="/ppt/slides/slide13.xml" Id="R516dcfa565244a4c" /><Relationship Type="http://schemas.openxmlformats.org/officeDocument/2006/relationships/slide" Target="/ppt/slides/slide14.xml" Id="R5b4b8f7045b94dcb" /><Relationship Type="http://schemas.openxmlformats.org/officeDocument/2006/relationships/slide" Target="/ppt/slides/slide15.xml" Id="Rd5da21ebb28d4bf5" /><Relationship Type="http://schemas.openxmlformats.org/officeDocument/2006/relationships/slide" Target="/ppt/slides/slide16.xml" Id="R2f98ffc080014025" /><Relationship Type="http://schemas.openxmlformats.org/officeDocument/2006/relationships/slide" Target="/ppt/slides/slide17.xml" Id="R2bf21575b65c4465" /><Relationship Type="http://schemas.openxmlformats.org/officeDocument/2006/relationships/slide" Target="/ppt/slides/slide18.xml" Id="Rcb739f040c7a4d2f" /><Relationship Type="http://schemas.openxmlformats.org/officeDocument/2006/relationships/slide" Target="/ppt/slides/slide19.xml" Id="Rb1ba30d9ef4c4c65" /><Relationship Type="http://schemas.openxmlformats.org/officeDocument/2006/relationships/slide" Target="/ppt/slides/slide20.xml" Id="R83f1721680e14774" /><Relationship Type="http://schemas.openxmlformats.org/officeDocument/2006/relationships/slide" Target="/ppt/slides/slide21.xml" Id="Rf9a83844fd2a41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92574f796744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dcde5ca1ce453d" /><Relationship Type="http://schemas.openxmlformats.org/officeDocument/2006/relationships/notesMaster" Target="/ppt/notesMasters/notesMaster1.xml" Id="R2ff9137b5ce846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d1e884de7e4ef4" /><Relationship Type="http://schemas.openxmlformats.org/officeDocument/2006/relationships/notesMaster" Target="/ppt/notesMasters/notesMaster1.xml" Id="R02d1c3c36e504f8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63d05d288345e1" /><Relationship Type="http://schemas.openxmlformats.org/officeDocument/2006/relationships/notesMaster" Target="/ppt/notesMasters/notesMaster1.xml" Id="R46599101e59e46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0285791a2bd4860" /><Relationship Type="http://schemas.openxmlformats.org/officeDocument/2006/relationships/notesMaster" Target="/ppt/notesMasters/notesMaster1.xml" Id="Ra2646021ad5e46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55b62ab1784e00" /><Relationship Type="http://schemas.openxmlformats.org/officeDocument/2006/relationships/notesMaster" Target="/ppt/notesMasters/notesMaster1.xml" Id="R4bd8d0a2dcfb4e0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a3de4ae9780415a" /><Relationship Type="http://schemas.openxmlformats.org/officeDocument/2006/relationships/notesMaster" Target="/ppt/notesMasters/notesMaster1.xml" Id="R6c0485a698684ee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303260ca804e25" /><Relationship Type="http://schemas.openxmlformats.org/officeDocument/2006/relationships/notesMaster" Target="/ppt/notesMasters/notesMaster1.xml" Id="Rf137e33236844d3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9d2510a38c4325" /><Relationship Type="http://schemas.openxmlformats.org/officeDocument/2006/relationships/notesMaster" Target="/ppt/notesMasters/notesMaster1.xml" Id="R93b576c2054f444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710a9a39e9f4ffe" /><Relationship Type="http://schemas.openxmlformats.org/officeDocument/2006/relationships/notesMaster" Target="/ppt/notesMasters/notesMaster1.xml" Id="R614a30fe807e4e1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8e497b7b0e841a8" /><Relationship Type="http://schemas.openxmlformats.org/officeDocument/2006/relationships/notesMaster" Target="/ppt/notesMasters/notesMaster1.xml" Id="R405dcd2c841b40d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857b48eeebf4119" /><Relationship Type="http://schemas.openxmlformats.org/officeDocument/2006/relationships/notesMaster" Target="/ppt/notesMasters/notesMaster1.xml" Id="Rb31ed4ba12b748c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fbc6468c5544d91" /><Relationship Type="http://schemas.openxmlformats.org/officeDocument/2006/relationships/notesMaster" Target="/ppt/notesMasters/notesMaster1.xml" Id="Rbf3cd1905127466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5866983a8824f51" /><Relationship Type="http://schemas.openxmlformats.org/officeDocument/2006/relationships/notesMaster" Target="/ppt/notesMasters/notesMaster1.xml" Id="Rdcefed7bf83e4fb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e6b4ab9ded54776" /><Relationship Type="http://schemas.openxmlformats.org/officeDocument/2006/relationships/notesMaster" Target="/ppt/notesMasters/notesMaster1.xml" Id="R5540cecb8ced480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95ff1f5b5f04a5f" /><Relationship Type="http://schemas.openxmlformats.org/officeDocument/2006/relationships/notesMaster" Target="/ppt/notesMasters/notesMaster1.xml" Id="Rbc41ee26707a4c5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0a80af384b14bb4" /><Relationship Type="http://schemas.openxmlformats.org/officeDocument/2006/relationships/notesMaster" Target="/ppt/notesMasters/notesMaster1.xml" Id="R36bcafa0ac7345f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f2a60cde75b4f33" /><Relationship Type="http://schemas.openxmlformats.org/officeDocument/2006/relationships/notesMaster" Target="/ppt/notesMasters/notesMaster1.xml" Id="R0e27b2efba28432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6a3fcd0b9024ac3" /><Relationship Type="http://schemas.openxmlformats.org/officeDocument/2006/relationships/notesMaster" Target="/ppt/notesMasters/notesMaster1.xml" Id="R87b82e78382a45d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864946f007142a7" /><Relationship Type="http://schemas.openxmlformats.org/officeDocument/2006/relationships/notesMaster" Target="/ppt/notesMasters/notesMaster1.xml" Id="R577384351b1742c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8cbb6bfe0c64950" /><Relationship Type="http://schemas.openxmlformats.org/officeDocument/2006/relationships/notesMaster" Target="/ppt/notesMasters/notesMaster1.xml" Id="Rf595945340c147f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633efe29f564694" /><Relationship Type="http://schemas.openxmlformats.org/officeDocument/2006/relationships/notesMaster" Target="/ppt/notesMasters/notesMaster1.xml" Id="R3393f9bf6b4147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页面标题：第5讲 综述、证据地图与研究空白识别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页面标题：第 4 课之后，阅读卡为什么仍不算综述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页面标题：本课目标与课堂产出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页面标题：摘要堆叠为什么不算综述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页面标题：叙事性综述与系统性综述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页面标题：相关工作矩阵：从按论文排列到按问题排列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页面标题：证据地图：从文献角色到问题门四视图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页面标题：研究空白三类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页面标题：问题生成路径与候选题池：不要停在文献空白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页面标题：三步检验：从证据空白到可检验问题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页面标题：不是空白的情况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页面标题：AI 综述草稿核验清单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页面标题：MI 演示：5 条主张 → 相关工作矩阵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页面标题：MI 演示：支持、限制、冲突与空白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页面标题：MI 演示：四句受限 mini review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页面标题：真实失败：把 efficiency 写成 faithfulness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页面标题：个人实践：跑通一次综述结构重组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页面标题：实践停留页：模板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页面标题：同伴互查四问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页面标题：本讲知识点总结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页面标题：退出卡与第 6 课预告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4d573ccd4741dc" /><Relationship Type="http://schemas.openxmlformats.org/officeDocument/2006/relationships/image" Target="/ppt/media/image.png" Id="R8eb22636d7a6438d" /><Relationship Type="http://schemas.openxmlformats.org/officeDocument/2006/relationships/image" Target="/ppt/media/image2.png" Id="Rdf241d9603484c5b" /><Relationship Type="http://schemas.openxmlformats.org/officeDocument/2006/relationships/image" Target="/ppt/media/image3.png" Id="R250d7a3589f54851" /><Relationship Type="http://schemas.openxmlformats.org/officeDocument/2006/relationships/image" Target="/ppt/media/image4.png" Id="Rf985f96ed3c14b8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7376d09a214b2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b4b77bcc0d44e8" /><Relationship Type="http://schemas.openxmlformats.org/officeDocument/2006/relationships/image" Target="/ppt/media/image2.png" Id="R97fc952d3c4a4bc7" /><Relationship Type="http://schemas.openxmlformats.org/officeDocument/2006/relationships/image" Target="/ppt/media/image5.png" Id="R114927c4343f4eb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0ebf5b0d5a4a25" /><Relationship Type="http://schemas.openxmlformats.org/officeDocument/2006/relationships/image" Target="/ppt/media/image.png" Id="Rffd6ac68172c4da6" /><Relationship Type="http://schemas.openxmlformats.org/officeDocument/2006/relationships/image" Target="/ppt/media/image3.png" Id="Rbccb60dca4db41a9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b22636d7a6438d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f241d9603484c5b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0d7a3589f54851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85f96ed3c14b8d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fc952d3c4a4bc7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4927c4343f4e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d6ac68172c4da6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ccb60dca4db41a9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618a61c82a4f77" /><Relationship Type="http://schemas.openxmlformats.org/officeDocument/2006/relationships/slideLayout" Target="/ppt/slideLayouts/slideLayout1.xml" Id="Re59a8a74ae0c4501" /><Relationship Type="http://schemas.openxmlformats.org/officeDocument/2006/relationships/slideLayout" Target="/ppt/slideLayouts/slideLayout2.xml" Id="R23794260edcb416a" /><Relationship Type="http://schemas.openxmlformats.org/officeDocument/2006/relationships/slideLayout" Target="/ppt/slideLayouts/slideLayout3.xml" Id="R22b61f63b30844e6" /><Relationship Type="http://schemas.openxmlformats.org/officeDocument/2006/relationships/slideLayout" Target="/ppt/slideLayouts/slideLayout4.xml" Id="R352c51c21148437e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9a8a74ae0c4501"/>
    <p:sldLayoutId xmlns:r="http://schemas.openxmlformats.org/officeDocument/2006/relationships" id="2147483650" r:id="R23794260edcb416a"/>
    <p:sldLayoutId xmlns:r="http://schemas.openxmlformats.org/officeDocument/2006/relationships" id="2147483651" r:id="R22b61f63b30844e6"/>
    <p:sldLayoutId xmlns:r="http://schemas.openxmlformats.org/officeDocument/2006/relationships" id="2147483652" r:id="R352c51c21148437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2ac87142454658" /><Relationship Type="http://schemas.openxmlformats.org/officeDocument/2006/relationships/notesSlide" Target="/ppt/notesSlides/notesSlide1.xml" Id="Rb272d409d0f142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6462a52bdf64a8d" /><Relationship Type="http://schemas.openxmlformats.org/officeDocument/2006/relationships/notesSlide" Target="/ppt/notesSlides/notesSlide2.xml" Id="Rf9c34fcf59784d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e672e87a4c44592" /><Relationship Type="http://schemas.openxmlformats.org/officeDocument/2006/relationships/notesSlide" Target="/ppt/notesSlides/notesSlide3.xml" Id="Ra72dff64adf94b3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ae271f8360c44ba" /><Relationship Type="http://schemas.openxmlformats.org/officeDocument/2006/relationships/notesSlide" Target="/ppt/notesSlides/notesSlide4.xml" Id="R72b338d59ec54d8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63cca95a41a48fa" /><Relationship Type="http://schemas.openxmlformats.org/officeDocument/2006/relationships/notesSlide" Target="/ppt/notesSlides/notesSlide5.xml" Id="R8ddf8b296d604b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edf630abd1244b3" /><Relationship Type="http://schemas.openxmlformats.org/officeDocument/2006/relationships/notesSlide" Target="/ppt/notesSlides/notesSlide6.xml" Id="R69be94d5f3694e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771be2ef71d4e81" /><Relationship Type="http://schemas.openxmlformats.org/officeDocument/2006/relationships/notesSlide" Target="/ppt/notesSlides/notesSlide7.xml" Id="Rb3f6d9ef2303475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3a3de62ba634e94" /><Relationship Type="http://schemas.openxmlformats.org/officeDocument/2006/relationships/notesSlide" Target="/ppt/notesSlides/notesSlide8.xml" Id="Rf849e521b8f249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643cf42529f405e" /><Relationship Type="http://schemas.openxmlformats.org/officeDocument/2006/relationships/notesSlide" Target="/ppt/notesSlides/notesSlide9.xml" Id="Rd34e72bc52cd45f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8261ded542c442c" /><Relationship Type="http://schemas.openxmlformats.org/officeDocument/2006/relationships/notesSlide" Target="/ppt/notesSlides/notesSlide10.xml" Id="Ra464737df9c04e4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df09907bb024878" /><Relationship Type="http://schemas.openxmlformats.org/officeDocument/2006/relationships/notesSlide" Target="/ppt/notesSlides/notesSlide11.xml" Id="Rb9cce6ca34fe46b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783eddd36c84b1c" /><Relationship Type="http://schemas.openxmlformats.org/officeDocument/2006/relationships/notesSlide" Target="/ppt/notesSlides/notesSlide12.xml" Id="Rad4085c3511f427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4cefaf4295b4e38" /><Relationship Type="http://schemas.openxmlformats.org/officeDocument/2006/relationships/notesSlide" Target="/ppt/notesSlides/notesSlide13.xml" Id="R10fec836292745e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3625095f1044449" /><Relationship Type="http://schemas.openxmlformats.org/officeDocument/2006/relationships/image" Target="/ppt/media/image6.png" Id="R5262f418bd344490" /><Relationship Type="http://schemas.openxmlformats.org/officeDocument/2006/relationships/notesSlide" Target="/ppt/notesSlides/notesSlide14.xml" Id="R132e35442ae6491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5f2bc68f19e4b5b" /><Relationship Type="http://schemas.openxmlformats.org/officeDocument/2006/relationships/notesSlide" Target="/ppt/notesSlides/notesSlide15.xml" Id="R4e08547512af427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126c07e4ef74ed0" /><Relationship Type="http://schemas.openxmlformats.org/officeDocument/2006/relationships/notesSlide" Target="/ppt/notesSlides/notesSlide16.xml" Id="Rc27cd2935c73445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0baf0ca2a5a49f8" /><Relationship Type="http://schemas.openxmlformats.org/officeDocument/2006/relationships/notesSlide" Target="/ppt/notesSlides/notesSlide17.xml" Id="Ra7b8064299b94f2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438787cd7d148e5" /><Relationship Type="http://schemas.openxmlformats.org/officeDocument/2006/relationships/notesSlide" Target="/ppt/notesSlides/notesSlide18.xml" Id="Rd6990031c70a4d1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0c7cf77b63f4e56" /><Relationship Type="http://schemas.openxmlformats.org/officeDocument/2006/relationships/notesSlide" Target="/ppt/notesSlides/notesSlide19.xml" Id="R093be6b378b74a9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565264e03a84162" /><Relationship Type="http://schemas.openxmlformats.org/officeDocument/2006/relationships/notesSlide" Target="/ppt/notesSlides/notesSlide20.xml" Id="R70faaa556ca64dc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ed365cae0a04e6e" /><Relationship Type="http://schemas.openxmlformats.org/officeDocument/2006/relationships/notesSlide" Target="/ppt/notesSlides/notesSlide21.xml" Id="R2eb6cbd1e9104f8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第5讲 综述、证据地图与研究空白识别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4 课之后，阅读卡为什么仍不算综述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visual-2-0-p02-left-h">
            <a:extLst xmlns:a="http://schemas.openxmlformats.org/drawingml/2006/main">
              <a:ext uri="{FF2B5EF4-FFF2-40B4-BE49-F238E27FC236}">
                <a16:creationId xmlns:a16="http://schemas.microsoft.com/office/drawing/2014/main" id="{5934278B-7F56-4774-98AE-5569CDC4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0125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已经有</a:t>
            </a:r>
          </a:p>
        </p:txBody>
      </p:sp>
      <p:sp>
        <p:nvSpPr>
          <p:cNvPr id="7" name="visual-2-1-p02-left-0">
            <a:extLst xmlns:a="http://schemas.openxmlformats.org/drawingml/2006/main">
              <a:ext uri="{FF2B5EF4-FFF2-40B4-BE49-F238E27FC236}">
                <a16:creationId xmlns:a16="http://schemas.microsoft.com/office/drawing/2014/main" id="{CB2D62F3-A56F-4308-8947-9D867095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28775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带原文位置的阅读卡</a:t>
            </a:r>
          </a:p>
        </p:txBody>
      </p:sp>
      <p:sp>
        <p:nvSpPr>
          <p:cNvPr id="8" name="visual-2-2-p02-left-1">
            <a:extLst xmlns:a="http://schemas.openxmlformats.org/drawingml/2006/main">
              <a:ext uri="{FF2B5EF4-FFF2-40B4-BE49-F238E27FC236}">
                <a16:creationId xmlns:a16="http://schemas.microsoft.com/office/drawing/2014/main" id="{4A1BA1A5-8CD6-4A39-8AB0-32A0C78E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作者主张与人工判断分栏</a:t>
            </a:r>
          </a:p>
        </p:txBody>
      </p:sp>
      <p:sp>
        <p:nvSpPr>
          <p:cNvPr id="9" name="visual-2-3-p02-left-2">
            <a:extLst xmlns:a="http://schemas.openxmlformats.org/drawingml/2006/main">
              <a:ext uri="{FF2B5EF4-FFF2-40B4-BE49-F238E27FC236}">
                <a16:creationId xmlns:a16="http://schemas.microsoft.com/office/drawing/2014/main" id="{2B8A2EE8-6F41-474A-9D34-DEF41B0B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AI 偏差审计记录</a:t>
            </a:r>
          </a:p>
        </p:txBody>
      </p:sp>
      <p:sp>
        <p:nvSpPr>
          <p:cNvPr id="10" name="visual-2-4-p02-arrow">
            <a:extLst xmlns:a="http://schemas.openxmlformats.org/drawingml/2006/main">
              <a:ext uri="{FF2B5EF4-FFF2-40B4-BE49-F238E27FC236}">
                <a16:creationId xmlns:a16="http://schemas.microsoft.com/office/drawing/2014/main" id="{4022F0F4-BBB7-4AF8-B76F-94A3A234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67000"/>
            <a:ext cx="552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visual-2-5-p02-right-h">
            <a:extLst xmlns:a="http://schemas.openxmlformats.org/drawingml/2006/main">
              <a:ext uri="{FF2B5EF4-FFF2-40B4-BE49-F238E27FC236}">
                <a16:creationId xmlns:a16="http://schemas.microsoft.com/office/drawing/2014/main" id="{7C782578-6C11-4460-9313-93338CEE9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00125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仍看不见</a:t>
            </a:r>
          </a:p>
        </p:txBody>
      </p:sp>
      <p:sp>
        <p:nvSpPr>
          <p:cNvPr id="12" name="visual-2-6-p02-right-0">
            <a:extLst xmlns:a="http://schemas.openxmlformats.org/drawingml/2006/main">
              <a:ext uri="{FF2B5EF4-FFF2-40B4-BE49-F238E27FC236}">
                <a16:creationId xmlns:a16="http://schemas.microsoft.com/office/drawing/2014/main" id="{7AA1ECBF-FF3C-4B13-AC4D-1628B755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28775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文献之间支持、冲突还是不可比？</a:t>
            </a:r>
          </a:p>
        </p:txBody>
      </p:sp>
      <p:sp>
        <p:nvSpPr>
          <p:cNvPr id="13" name="visual-2-7-p02-right-1">
            <a:extLst xmlns:a="http://schemas.openxmlformats.org/drawingml/2006/main">
              <a:ext uri="{FF2B5EF4-FFF2-40B4-BE49-F238E27FC236}">
                <a16:creationId xmlns:a16="http://schemas.microsoft.com/office/drawing/2014/main" id="{9E62BD4D-B0F6-413D-9B17-8C359DA2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19350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?  哪个子问题整列空白？</a:t>
            </a:r>
          </a:p>
        </p:txBody>
      </p:sp>
      <p:sp>
        <p:nvSpPr>
          <p:cNvPr id="14" name="visual-2-8-p02-right-2">
            <a:extLst xmlns:a="http://schemas.openxmlformats.org/drawingml/2006/main">
              <a:ext uri="{FF2B5EF4-FFF2-40B4-BE49-F238E27FC236}">
                <a16:creationId xmlns:a16="http://schemas.microsoft.com/office/drawing/2014/main" id="{444733A8-8B5F-47B1-AB19-B6274F075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09925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哪些句子能进入最小综述？</a:t>
            </a:r>
          </a:p>
        </p:txBody>
      </p:sp>
      <p:sp>
        <p:nvSpPr>
          <p:cNvPr id="15" name="visual-2-9-p02-bottom">
            <a:extLst xmlns:a="http://schemas.openxmlformats.org/drawingml/2006/main">
              <a:ext uri="{FF2B5EF4-FFF2-40B4-BE49-F238E27FC236}">
                <a16:creationId xmlns:a16="http://schemas.microsoft.com/office/drawing/2014/main" id="{0CAC0267-1AFE-456F-A9F3-45410EE84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762500"/>
            <a:ext cx="704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来源已核验  ≠  证据关系已组织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visual-3-0-minimum">
            <a:extLst xmlns:a="http://schemas.openxmlformats.org/drawingml/2006/main">
              <a:ext uri="{FF2B5EF4-FFF2-40B4-BE49-F238E27FC236}">
                <a16:creationId xmlns:a16="http://schemas.microsoft.com/office/drawing/2014/main" id="{4E1C664D-559A-499F-95C6-9A8EA875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8763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课堂最低闭环｜共享记录，只输入一次</a:t>
            </a:r>
          </a:p>
        </p:txBody>
      </p:sp>
      <p:sp>
        <p:nvSpPr>
          <p:cNvPr id="7" name="visual-3-1-step-0">
            <a:extLst xmlns:a="http://schemas.openxmlformats.org/drawingml/2006/main">
              <a:ext uri="{FF2B5EF4-FFF2-40B4-BE49-F238E27FC236}">
                <a16:creationId xmlns:a16="http://schemas.microsoft.com/office/drawing/2014/main" id="{AE8B5736-55D8-48DF-A1E2-D58F44E3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14500"/>
            <a:ext cx="3524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01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可比性判断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2 张卡 × 1 个子问题</a:t>
            </a:r>
          </a:p>
        </p:txBody>
      </p:sp>
      <p:sp>
        <p:nvSpPr>
          <p:cNvPr id="8" name="visual-3-2-step-1">
            <a:extLst xmlns:a="http://schemas.openxmlformats.org/drawingml/2006/main">
              <a:ext uri="{FF2B5EF4-FFF2-40B4-BE49-F238E27FC236}">
                <a16:creationId xmlns:a16="http://schemas.microsoft.com/office/drawing/2014/main" id="{B087F7C1-79EC-4895-A01F-C2A85DF4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14500"/>
            <a:ext cx="3524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02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共享记录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矩阵与证据地图复用同一组字段</a:t>
            </a:r>
          </a:p>
        </p:txBody>
      </p:sp>
      <p:sp>
        <p:nvSpPr>
          <p:cNvPr id="9" name="visual-3-3-step-2">
            <a:extLst xmlns:a="http://schemas.openxmlformats.org/drawingml/2006/main">
              <a:ext uri="{FF2B5EF4-FFF2-40B4-BE49-F238E27FC236}">
                <a16:creationId xmlns:a16="http://schemas.microsoft.com/office/drawing/2014/main" id="{C6856251-8C0B-4A99-93C4-51C93A50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714500"/>
            <a:ext cx="3524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03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四句受限综合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只写已核验条目并保留限定</a:t>
            </a:r>
          </a:p>
        </p:txBody>
      </p:sp>
      <p:sp>
        <p:nvSpPr>
          <p:cNvPr id="10" name="visual-3-4-step-3">
            <a:extLst xmlns:a="http://schemas.openxmlformats.org/drawingml/2006/main">
              <a:ext uri="{FF2B5EF4-FFF2-40B4-BE49-F238E27FC236}">
                <a16:creationId xmlns:a16="http://schemas.microsoft.com/office/drawing/2014/main" id="{71F509A5-B77B-44FC-84E4-954B231E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76625"/>
            <a:ext cx="3524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04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空白诚实记录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类型 + pending + 下一步窄检索</a:t>
            </a:r>
          </a:p>
        </p:txBody>
      </p:sp>
      <p:sp>
        <p:nvSpPr>
          <p:cNvPr id="11" name="visual-3-5-step-4">
            <a:extLst xmlns:a="http://schemas.openxmlformats.org/drawingml/2006/main">
              <a:ext uri="{FF2B5EF4-FFF2-40B4-BE49-F238E27FC236}">
                <a16:creationId xmlns:a16="http://schemas.microsoft.com/office/drawing/2014/main" id="{D5284DCF-B69D-41C4-B29F-9929B1CB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76625"/>
            <a:ext cx="3524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05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一条 AI 核验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处理决定 + 使用记录</a:t>
            </a:r>
          </a:p>
        </p:txBody>
      </p:sp>
      <p:sp>
        <p:nvSpPr>
          <p:cNvPr id="12" name="visual-3-6-boundary">
            <a:extLst xmlns:a="http://schemas.openxmlformats.org/drawingml/2006/main">
              <a:ext uri="{FF2B5EF4-FFF2-40B4-BE49-F238E27FC236}">
                <a16:creationId xmlns:a16="http://schemas.microsoft.com/office/drawing/2014/main" id="{2EA0EDE4-1C61-4491-B870-746D12DA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91125"/>
            <a:ext cx="971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本课不正式提交｜空白完整检验与候选题池课后补全｜第 6 课问题门统一检查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摘要堆叠为什么不算综述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visual-4-0-p04-left-h">
            <a:extLst xmlns:a="http://schemas.openxmlformats.org/drawingml/2006/main">
              <a:ext uri="{FF2B5EF4-FFF2-40B4-BE49-F238E27FC236}">
                <a16:creationId xmlns:a16="http://schemas.microsoft.com/office/drawing/2014/main" id="{8AF23081-F209-43F0-96B7-1CF1C561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按论文排列</a:t>
            </a:r>
          </a:p>
        </p:txBody>
      </p:sp>
      <p:sp>
        <p:nvSpPr>
          <p:cNvPr id="7" name="visual-4-1-p04-a0">
            <a:extLst xmlns:a="http://schemas.openxmlformats.org/drawingml/2006/main">
              <a:ext uri="{FF2B5EF4-FFF2-40B4-BE49-F238E27FC236}">
                <a16:creationId xmlns:a16="http://schemas.microsoft.com/office/drawing/2014/main" id="{9C45094B-B22D-4847-9F4F-993B8AC4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62125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论文 A 摘要</a:t>
            </a:r>
          </a:p>
        </p:txBody>
      </p:sp>
      <p:sp>
        <p:nvSpPr>
          <p:cNvPr id="8" name="visual-4-2-p04-a1">
            <a:extLst xmlns:a="http://schemas.openxmlformats.org/drawingml/2006/main">
              <a:ext uri="{FF2B5EF4-FFF2-40B4-BE49-F238E27FC236}">
                <a16:creationId xmlns:a16="http://schemas.microsoft.com/office/drawing/2014/main" id="{E23C060C-707C-46DF-A672-B07A6F98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38425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论文 B 摘要</a:t>
            </a:r>
          </a:p>
        </p:txBody>
      </p:sp>
      <p:sp>
        <p:nvSpPr>
          <p:cNvPr id="9" name="visual-4-3-p04-a2">
            <a:extLst xmlns:a="http://schemas.openxmlformats.org/drawingml/2006/main">
              <a:ext uri="{FF2B5EF4-FFF2-40B4-BE49-F238E27FC236}">
                <a16:creationId xmlns:a16="http://schemas.microsoft.com/office/drawing/2014/main" id="{5348119A-9D7D-4A7D-92E6-1F54F511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4725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论文 C 摘要</a:t>
            </a:r>
          </a:p>
        </p:txBody>
      </p:sp>
      <p:sp>
        <p:nvSpPr>
          <p:cNvPr id="10" name="visual-4-4-p04-neq">
            <a:extLst xmlns:a="http://schemas.openxmlformats.org/drawingml/2006/main">
              <a:ext uri="{FF2B5EF4-FFF2-40B4-BE49-F238E27FC236}">
                <a16:creationId xmlns:a16="http://schemas.microsoft.com/office/drawing/2014/main" id="{ABDE37AC-CDC3-4815-9230-A1EB405E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619375"/>
            <a:ext cx="1104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≠</a:t>
            </a:r>
          </a:p>
        </p:txBody>
      </p:sp>
      <p:sp>
        <p:nvSpPr>
          <p:cNvPr id="11" name="visual-4-5-p04-right-h">
            <a:extLst xmlns:a="http://schemas.openxmlformats.org/drawingml/2006/main">
              <a:ext uri="{FF2B5EF4-FFF2-40B4-BE49-F238E27FC236}">
                <a16:creationId xmlns:a16="http://schemas.microsoft.com/office/drawing/2014/main" id="{3853A4A3-C8C8-4CF0-9056-7E5CDD14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28700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按问题组织</a:t>
            </a:r>
          </a:p>
        </p:txBody>
      </p:sp>
      <p:sp>
        <p:nvSpPr>
          <p:cNvPr id="12" name="visual-4-6-p04-q0">
            <a:extLst xmlns:a="http://schemas.openxmlformats.org/drawingml/2006/main">
              <a:ext uri="{FF2B5EF4-FFF2-40B4-BE49-F238E27FC236}">
                <a16:creationId xmlns:a16="http://schemas.microsoft.com/office/drawing/2014/main" id="{CC4F5962-9D7E-4F89-995A-A7307B59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62125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共同回答什么？</a:t>
            </a:r>
          </a:p>
        </p:txBody>
      </p:sp>
      <p:sp>
        <p:nvSpPr>
          <p:cNvPr id="13" name="visual-4-7-p04-q1">
            <a:extLst xmlns:a="http://schemas.openxmlformats.org/drawingml/2006/main">
              <a:ext uri="{FF2B5EF4-FFF2-40B4-BE49-F238E27FC236}">
                <a16:creationId xmlns:a16="http://schemas.microsoft.com/office/drawing/2014/main" id="{C3A6E9D6-5858-4121-AD0C-062EAE36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38425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哪里冲突或不可比？</a:t>
            </a:r>
          </a:p>
        </p:txBody>
      </p:sp>
      <p:sp>
        <p:nvSpPr>
          <p:cNvPr id="14" name="visual-4-8-p04-q2">
            <a:extLst xmlns:a="http://schemas.openxmlformats.org/drawingml/2006/main">
              <a:ext uri="{FF2B5EF4-FFF2-40B4-BE49-F238E27FC236}">
                <a16:creationId xmlns:a16="http://schemas.microsoft.com/office/drawing/2014/main" id="{0D3840B4-3C11-4540-A34B-4DB3FCC0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14725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什么仍是空白？</a:t>
            </a:r>
          </a:p>
        </p:txBody>
      </p:sp>
      <p:sp>
        <p:nvSpPr>
          <p:cNvPr id="15" name="visual-4-9-p04-bottom">
            <a:extLst xmlns:a="http://schemas.openxmlformats.org/drawingml/2006/main">
              <a:ext uri="{FF2B5EF4-FFF2-40B4-BE49-F238E27FC236}">
                <a16:creationId xmlns:a16="http://schemas.microsoft.com/office/drawing/2014/main" id="{041FB060-1728-49E9-9B14-C2CF44A3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762500"/>
            <a:ext cx="790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摘要堆叠保留了顺序，却丢失了证据关系。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叙事性综述与系统性综述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visual-5-0-p05-h-0">
            <a:extLst xmlns:a="http://schemas.openxmlformats.org/drawingml/2006/main">
              <a:ext uri="{FF2B5EF4-FFF2-40B4-BE49-F238E27FC236}">
                <a16:creationId xmlns:a16="http://schemas.microsoft.com/office/drawing/2014/main" id="{7DAFAC8C-2D3B-4D3F-9F03-E2DE0FF6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1430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7" name="visual-5-1-p05-h-1">
            <a:extLst xmlns:a="http://schemas.openxmlformats.org/drawingml/2006/main">
              <a:ext uri="{FF2B5EF4-FFF2-40B4-BE49-F238E27FC236}">
                <a16:creationId xmlns:a16="http://schemas.microsoft.com/office/drawing/2014/main" id="{597650C3-C55A-40F1-8501-BBC4484D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430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叙事性综述</a:t>
            </a:r>
          </a:p>
        </p:txBody>
      </p:sp>
      <p:sp>
        <p:nvSpPr>
          <p:cNvPr id="8" name="visual-5-2-p05-h-2">
            <a:extLst xmlns:a="http://schemas.openxmlformats.org/drawingml/2006/main">
              <a:ext uri="{FF2B5EF4-FFF2-40B4-BE49-F238E27FC236}">
                <a16:creationId xmlns:a16="http://schemas.microsoft.com/office/drawing/2014/main" id="{879C4EDD-AAE0-4DCF-A321-129AFEB0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1430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系统性综述</a:t>
            </a:r>
          </a:p>
        </p:txBody>
      </p:sp>
      <p:sp>
        <p:nvSpPr>
          <p:cNvPr id="9" name="visual-5-3-p05-r0-0">
            <a:extLst xmlns:a="http://schemas.openxmlformats.org/drawingml/2006/main">
              <a:ext uri="{FF2B5EF4-FFF2-40B4-BE49-F238E27FC236}">
                <a16:creationId xmlns:a16="http://schemas.microsoft.com/office/drawing/2014/main" id="{8093BA9D-E580-47B2-86E7-9A3AB5B4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54305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10" name="visual-5-4-p05-r0-1">
            <a:extLst xmlns:a="http://schemas.openxmlformats.org/drawingml/2006/main">
              <a:ext uri="{FF2B5EF4-FFF2-40B4-BE49-F238E27FC236}">
                <a16:creationId xmlns:a16="http://schemas.microsoft.com/office/drawing/2014/main" id="{8AD7DECF-D3B6-4E41-A90C-40A7EB8E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5430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解释主题、机制或冲突</a:t>
            </a:r>
          </a:p>
        </p:txBody>
      </p:sp>
      <p:sp>
        <p:nvSpPr>
          <p:cNvPr id="11" name="visual-5-5-p05-r0-2">
            <a:extLst xmlns:a="http://schemas.openxmlformats.org/drawingml/2006/main">
              <a:ext uri="{FF2B5EF4-FFF2-40B4-BE49-F238E27FC236}">
                <a16:creationId xmlns:a16="http://schemas.microsoft.com/office/drawing/2014/main" id="{966E0817-5DCA-43B8-AC50-CF1DA87A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5430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按预设协议回答明确问题</a:t>
            </a:r>
          </a:p>
        </p:txBody>
      </p:sp>
      <p:sp>
        <p:nvSpPr>
          <p:cNvPr id="12" name="visual-5-6-p05-r1-0">
            <a:extLst xmlns:a="http://schemas.openxmlformats.org/drawingml/2006/main">
              <a:ext uri="{FF2B5EF4-FFF2-40B4-BE49-F238E27FC236}">
                <a16:creationId xmlns:a16="http://schemas.microsoft.com/office/drawing/2014/main" id="{35B918BA-6492-4AD6-822D-3B7FF838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2860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</a:t>
            </a:r>
          </a:p>
        </p:txBody>
      </p:sp>
      <p:sp>
        <p:nvSpPr>
          <p:cNvPr id="13" name="visual-5-7-p05-r1-1">
            <a:extLst xmlns:a="http://schemas.openxmlformats.org/drawingml/2006/main">
              <a:ext uri="{FF2B5EF4-FFF2-40B4-BE49-F238E27FC236}">
                <a16:creationId xmlns:a16="http://schemas.microsoft.com/office/drawing/2014/main" id="{6D0C3C88-6936-49E6-81E5-F1455BD7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28600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范围由研究者说明</a:t>
            </a:r>
          </a:p>
        </p:txBody>
      </p:sp>
      <p:sp>
        <p:nvSpPr>
          <p:cNvPr id="14" name="visual-5-8-p05-r1-2">
            <a:extLst xmlns:a="http://schemas.openxmlformats.org/drawingml/2006/main">
              <a:ext uri="{FF2B5EF4-FFF2-40B4-BE49-F238E27FC236}">
                <a16:creationId xmlns:a16="http://schemas.microsoft.com/office/drawing/2014/main" id="{09A95CFC-37C7-49FF-BA0A-333881CC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28600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检索与纳入排除规则预先定义</a:t>
            </a:r>
          </a:p>
        </p:txBody>
      </p:sp>
      <p:sp>
        <p:nvSpPr>
          <p:cNvPr id="15" name="visual-5-9-p05-r2-0">
            <a:extLst xmlns:a="http://schemas.openxmlformats.org/drawingml/2006/main">
              <a:ext uri="{FF2B5EF4-FFF2-40B4-BE49-F238E27FC236}">
                <a16:creationId xmlns:a16="http://schemas.microsoft.com/office/drawing/2014/main" id="{9D500CBE-123F-4708-B522-FD3AADA4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2895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综合</a:t>
            </a:r>
          </a:p>
        </p:txBody>
      </p:sp>
      <p:sp>
        <p:nvSpPr>
          <p:cNvPr id="16" name="visual-5-10-p05-r2-1">
            <a:extLst xmlns:a="http://schemas.openxmlformats.org/drawingml/2006/main">
              <a:ext uri="{FF2B5EF4-FFF2-40B4-BE49-F238E27FC236}">
                <a16:creationId xmlns:a16="http://schemas.microsoft.com/office/drawing/2014/main" id="{61C25C68-6F4B-40F4-89D8-7E24EDCB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0289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按主题或机制组织</a:t>
            </a:r>
          </a:p>
        </p:txBody>
      </p:sp>
      <p:sp>
        <p:nvSpPr>
          <p:cNvPr id="17" name="visual-5-11-p05-r2-2">
            <a:extLst xmlns:a="http://schemas.openxmlformats.org/drawingml/2006/main">
              <a:ext uri="{FF2B5EF4-FFF2-40B4-BE49-F238E27FC236}">
                <a16:creationId xmlns:a16="http://schemas.microsoft.com/office/drawing/2014/main" id="{A9AACE06-DF0E-4EA0-A8E6-21144C33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289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按固定字段提取并合成</a:t>
            </a:r>
          </a:p>
        </p:txBody>
      </p:sp>
      <p:sp>
        <p:nvSpPr>
          <p:cNvPr id="18" name="visual-5-12-p05-r3-0">
            <a:extLst xmlns:a="http://schemas.openxmlformats.org/drawingml/2006/main">
              <a:ext uri="{FF2B5EF4-FFF2-40B4-BE49-F238E27FC236}">
                <a16:creationId xmlns:a16="http://schemas.microsoft.com/office/drawing/2014/main" id="{1EBEC780-E8CF-42FC-9F91-4F6F8A0A8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7719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</a:t>
            </a:r>
          </a:p>
        </p:txBody>
      </p:sp>
      <p:sp>
        <p:nvSpPr>
          <p:cNvPr id="19" name="visual-5-13-p05-r3-1">
            <a:extLst xmlns:a="http://schemas.openxmlformats.org/drawingml/2006/main">
              <a:ext uri="{FF2B5EF4-FFF2-40B4-BE49-F238E27FC236}">
                <a16:creationId xmlns:a16="http://schemas.microsoft.com/office/drawing/2014/main" id="{DA140F83-09B2-42C7-970E-FA74694C8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77190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选择性引用、忽视冲突</a:t>
            </a:r>
          </a:p>
        </p:txBody>
      </p:sp>
      <p:sp>
        <p:nvSpPr>
          <p:cNvPr id="20" name="visual-5-14-p05-r3-2">
            <a:extLst xmlns:a="http://schemas.openxmlformats.org/drawingml/2006/main">
              <a:ext uri="{FF2B5EF4-FFF2-40B4-BE49-F238E27FC236}">
                <a16:creationId xmlns:a16="http://schemas.microsoft.com/office/drawing/2014/main" id="{4EB18550-401D-456A-8BFA-101EEE4E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77190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机械套用、强合并不可比研究</a:t>
            </a:r>
          </a:p>
        </p:txBody>
      </p:sp>
      <p:sp>
        <p:nvSpPr>
          <p:cNvPr id="21" name="visual-5-15-p05-bottom">
            <a:extLst xmlns:a="http://schemas.openxmlformats.org/drawingml/2006/main">
              <a:ext uri="{FF2B5EF4-FFF2-40B4-BE49-F238E27FC236}">
                <a16:creationId xmlns:a16="http://schemas.microsoft.com/office/drawing/2014/main" id="{BE247990-5E5B-4131-BD4F-09F2BF95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62500"/>
            <a:ext cx="923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本课不要求完整系统综述，但要求过程可复盘、证据可定位。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相关工作矩阵：从按论文排列到按问题排列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visual-6-0-p06-rule">
            <a:extLst xmlns:a="http://schemas.openxmlformats.org/drawingml/2006/main">
              <a:ext uri="{FF2B5EF4-FFF2-40B4-BE49-F238E27FC236}">
                <a16:creationId xmlns:a16="http://schemas.microsoft.com/office/drawing/2014/main" id="{8BAE3B67-2DE1-4785-A395-524D482F9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971550"/>
            <a:ext cx="1019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行 = 已核验材料　｜　列 = 从研究问题拆出的子问题</a:t>
            </a:r>
          </a:p>
        </p:txBody>
      </p:sp>
      <p:sp>
        <p:nvSpPr>
          <p:cNvPr id="7" name="visual-6-1-p06-h-0">
            <a:extLst xmlns:a="http://schemas.openxmlformats.org/drawingml/2006/main">
              <a:ext uri="{FF2B5EF4-FFF2-40B4-BE49-F238E27FC236}">
                <a16:creationId xmlns:a16="http://schemas.microsoft.com/office/drawing/2014/main" id="{FACC11BC-31EA-43B8-B909-E11D48CE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</a:t>
            </a:r>
          </a:p>
        </p:txBody>
      </p:sp>
      <p:sp>
        <p:nvSpPr>
          <p:cNvPr id="8" name="visual-6-2-p06-h-1">
            <a:extLst xmlns:a="http://schemas.openxmlformats.org/drawingml/2006/main">
              <a:ext uri="{FF2B5EF4-FFF2-40B4-BE49-F238E27FC236}">
                <a16:creationId xmlns:a16="http://schemas.microsoft.com/office/drawing/2014/main" id="{F952525D-39B9-48B3-BFA9-F5511FF7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7145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 定位原文</a:t>
            </a:r>
          </a:p>
        </p:txBody>
      </p:sp>
      <p:sp>
        <p:nvSpPr>
          <p:cNvPr id="9" name="visual-6-3-p06-h-2">
            <a:extLst xmlns:a="http://schemas.openxmlformats.org/drawingml/2006/main">
              <a:ext uri="{FF2B5EF4-FFF2-40B4-BE49-F238E27FC236}">
                <a16:creationId xmlns:a16="http://schemas.microsoft.com/office/drawing/2014/main" id="{F881DEDF-CCB0-49FB-866F-815A78D01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145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b 定义遗漏</a:t>
            </a:r>
          </a:p>
        </p:txBody>
      </p:sp>
      <p:sp>
        <p:nvSpPr>
          <p:cNvPr id="10" name="visual-6-4-p06-h-3">
            <a:extLst xmlns:a="http://schemas.openxmlformats.org/drawingml/2006/main">
              <a:ext uri="{FF2B5EF4-FFF2-40B4-BE49-F238E27FC236}">
                <a16:creationId xmlns:a16="http://schemas.microsoft.com/office/drawing/2014/main" id="{6C9778DD-9B56-4CDD-9BD1-A9D7C129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 设置对照</a:t>
            </a:r>
          </a:p>
        </p:txBody>
      </p:sp>
      <p:sp>
        <p:nvSpPr>
          <p:cNvPr id="11" name="visual-6-5-p06-h-4">
            <a:extLst xmlns:a="http://schemas.openxmlformats.org/drawingml/2006/main">
              <a:ext uri="{FF2B5EF4-FFF2-40B4-BE49-F238E27FC236}">
                <a16:creationId xmlns:a16="http://schemas.microsoft.com/office/drawing/2014/main" id="{54A0CCD9-DBF6-428D-B87D-8A649E9E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候选角色</a:t>
            </a:r>
          </a:p>
        </p:txBody>
      </p:sp>
      <p:sp>
        <p:nvSpPr>
          <p:cNvPr id="12" name="visual-6-6-p06-r0-0">
            <a:extLst xmlns:a="http://schemas.openxmlformats.org/drawingml/2006/main">
              <a:ext uri="{FF2B5EF4-FFF2-40B4-BE49-F238E27FC236}">
                <a16:creationId xmlns:a16="http://schemas.microsoft.com/office/drawing/2014/main" id="{C4F19579-FB5E-424B-9431-0B3E78F1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14550"/>
            <a:ext cx="114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</a:t>
            </a:r>
          </a:p>
        </p:txBody>
      </p:sp>
      <p:sp>
        <p:nvSpPr>
          <p:cNvPr id="13" name="visual-6-7-p06-r0-1">
            <a:extLst xmlns:a="http://schemas.openxmlformats.org/drawingml/2006/main">
              <a:ext uri="{FF2B5EF4-FFF2-40B4-BE49-F238E27FC236}">
                <a16:creationId xmlns:a16="http://schemas.microsoft.com/office/drawing/2014/main" id="{2573AA16-709B-43B8-B94E-6C6F7B9D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1145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是</a:t>
            </a:r>
          </a:p>
        </p:txBody>
      </p:sp>
      <p:sp>
        <p:nvSpPr>
          <p:cNvPr id="14" name="visual-6-8-p06-r0-2">
            <a:extLst xmlns:a="http://schemas.openxmlformats.org/drawingml/2006/main">
              <a:ext uri="{FF2B5EF4-FFF2-40B4-BE49-F238E27FC236}">
                <a16:creationId xmlns:a16="http://schemas.microsoft.com/office/drawing/2014/main" id="{FC228DA6-0FF5-4114-B7DC-9B215A49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145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是</a:t>
            </a:r>
          </a:p>
        </p:txBody>
      </p:sp>
      <p:sp>
        <p:nvSpPr>
          <p:cNvPr id="15" name="visual-6-9-p06-r0-3">
            <a:extLst xmlns:a="http://schemas.openxmlformats.org/drawingml/2006/main">
              <a:ext uri="{FF2B5EF4-FFF2-40B4-BE49-F238E27FC236}">
                <a16:creationId xmlns:a16="http://schemas.microsoft.com/office/drawing/2014/main" id="{6B93E7C9-1BAD-4C7A-8A60-8CC61281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145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是</a:t>
            </a:r>
          </a:p>
        </p:txBody>
      </p:sp>
      <p:sp>
        <p:nvSpPr>
          <p:cNvPr id="16" name="visual-6-10-p06-r0-4">
            <a:extLst xmlns:a="http://schemas.openxmlformats.org/drawingml/2006/main">
              <a:ext uri="{FF2B5EF4-FFF2-40B4-BE49-F238E27FC236}">
                <a16:creationId xmlns:a16="http://schemas.microsoft.com/office/drawing/2014/main" id="{E8F9B5B4-BD85-4D44-81BB-05989AA8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主证据</a:t>
            </a:r>
          </a:p>
        </p:txBody>
      </p:sp>
      <p:sp>
        <p:nvSpPr>
          <p:cNvPr id="17" name="visual-6-11-p06-r1-0">
            <a:extLst xmlns:a="http://schemas.openxmlformats.org/drawingml/2006/main">
              <a:ext uri="{FF2B5EF4-FFF2-40B4-BE49-F238E27FC236}">
                <a16:creationId xmlns:a16="http://schemas.microsoft.com/office/drawing/2014/main" id="{150652F0-FF33-4D99-BFCD-6E641FF4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114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B</a:t>
            </a:r>
          </a:p>
        </p:txBody>
      </p:sp>
      <p:sp>
        <p:nvSpPr>
          <p:cNvPr id="18" name="visual-6-12-p06-r1-1">
            <a:extLst xmlns:a="http://schemas.openxmlformats.org/drawingml/2006/main">
              <a:ext uri="{FF2B5EF4-FFF2-40B4-BE49-F238E27FC236}">
                <a16:creationId xmlns:a16="http://schemas.microsoft.com/office/drawing/2014/main" id="{C9B1807A-29E8-48FA-8ED2-EC2A668A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6860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部分</a:t>
            </a:r>
          </a:p>
        </p:txBody>
      </p:sp>
      <p:sp>
        <p:nvSpPr>
          <p:cNvPr id="19" name="visual-6-13-p06-r1-2">
            <a:extLst xmlns:a="http://schemas.openxmlformats.org/drawingml/2006/main">
              <a:ext uri="{FF2B5EF4-FFF2-40B4-BE49-F238E27FC236}">
                <a16:creationId xmlns:a16="http://schemas.microsoft.com/office/drawing/2014/main" id="{DA914407-E116-4BCC-AABE-7375272E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860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20" name="visual-6-14-p06-r1-3">
            <a:extLst xmlns:a="http://schemas.openxmlformats.org/drawingml/2006/main">
              <a:ext uri="{FF2B5EF4-FFF2-40B4-BE49-F238E27FC236}">
                <a16:creationId xmlns:a16="http://schemas.microsoft.com/office/drawing/2014/main" id="{67CDB90B-5F9B-473F-BF69-0A107A2A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否</a:t>
            </a:r>
          </a:p>
        </p:txBody>
      </p:sp>
      <p:sp>
        <p:nvSpPr>
          <p:cNvPr id="21" name="visual-6-15-p06-r1-4">
            <a:extLst xmlns:a="http://schemas.openxmlformats.org/drawingml/2006/main">
              <a:ext uri="{FF2B5EF4-FFF2-40B4-BE49-F238E27FC236}">
                <a16:creationId xmlns:a16="http://schemas.microsoft.com/office/drawing/2014/main" id="{E5AB8D25-F758-4881-8743-3FF9DBD81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860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补充</a:t>
            </a:r>
          </a:p>
        </p:txBody>
      </p:sp>
      <p:sp>
        <p:nvSpPr>
          <p:cNvPr id="22" name="visual-6-16-p06-r2-0">
            <a:extLst xmlns:a="http://schemas.openxmlformats.org/drawingml/2006/main">
              <a:ext uri="{FF2B5EF4-FFF2-40B4-BE49-F238E27FC236}">
                <a16:creationId xmlns:a16="http://schemas.microsoft.com/office/drawing/2014/main" id="{3F15284E-D091-47BB-A902-EDC71038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57550"/>
            <a:ext cx="114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</a:t>
            </a:r>
          </a:p>
        </p:txBody>
      </p:sp>
      <p:sp>
        <p:nvSpPr>
          <p:cNvPr id="23" name="visual-6-17-p06-r2-1">
            <a:extLst xmlns:a="http://schemas.openxmlformats.org/drawingml/2006/main">
              <a:ext uri="{FF2B5EF4-FFF2-40B4-BE49-F238E27FC236}">
                <a16:creationId xmlns:a16="http://schemas.microsoft.com/office/drawing/2014/main" id="{15586A61-EA3B-41AB-B412-7FAC01CA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575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否</a:t>
            </a:r>
          </a:p>
        </p:txBody>
      </p:sp>
      <p:sp>
        <p:nvSpPr>
          <p:cNvPr id="24" name="visual-6-18-p06-r2-2">
            <a:extLst xmlns:a="http://schemas.openxmlformats.org/drawingml/2006/main">
              <a:ext uri="{FF2B5EF4-FFF2-40B4-BE49-F238E27FC236}">
                <a16:creationId xmlns:a16="http://schemas.microsoft.com/office/drawing/2014/main" id="{2C6D0EFF-BAF2-4EE0-82E8-4F93A46D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575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检索任务</a:t>
            </a:r>
          </a:p>
        </p:txBody>
      </p:sp>
      <p:sp>
        <p:nvSpPr>
          <p:cNvPr id="25" name="visual-6-19-p06-r2-3">
            <a:extLst xmlns:a="http://schemas.openxmlformats.org/drawingml/2006/main">
              <a:ext uri="{FF2B5EF4-FFF2-40B4-BE49-F238E27FC236}">
                <a16:creationId xmlns:a16="http://schemas.microsoft.com/office/drawing/2014/main" id="{580B5A5A-4C13-47D4-8630-5F960FE5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有</a:t>
            </a:r>
          </a:p>
        </p:txBody>
      </p:sp>
      <p:sp>
        <p:nvSpPr>
          <p:cNvPr id="26" name="visual-6-20-p06-r2-4">
            <a:extLst xmlns:a="http://schemas.openxmlformats.org/drawingml/2006/main">
              <a:ext uri="{FF2B5EF4-FFF2-40B4-BE49-F238E27FC236}">
                <a16:creationId xmlns:a16="http://schemas.microsoft.com/office/drawing/2014/main" id="{F3385B59-5A8B-49F7-89D9-937C1341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575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对比</a:t>
            </a:r>
          </a:p>
        </p:txBody>
      </p:sp>
      <p:sp>
        <p:nvSpPr>
          <p:cNvPr id="27" name="visual-6-21-p06-r3-0">
            <a:extLst xmlns:a="http://schemas.openxmlformats.org/drawingml/2006/main">
              <a:ext uri="{FF2B5EF4-FFF2-40B4-BE49-F238E27FC236}">
                <a16:creationId xmlns:a16="http://schemas.microsoft.com/office/drawing/2014/main" id="{F075C457-DE28-48BE-8FAB-3828C5712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29050"/>
            <a:ext cx="114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</a:t>
            </a:r>
          </a:p>
        </p:txBody>
      </p:sp>
      <p:sp>
        <p:nvSpPr>
          <p:cNvPr id="28" name="visual-6-22-p06-r3-1">
            <a:extLst xmlns:a="http://schemas.openxmlformats.org/drawingml/2006/main">
              <a:ext uri="{FF2B5EF4-FFF2-40B4-BE49-F238E27FC236}">
                <a16:creationId xmlns:a16="http://schemas.microsoft.com/office/drawing/2014/main" id="{E92351E7-9303-41A0-9D35-F90CB4DB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8290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相反结论</a:t>
            </a:r>
          </a:p>
        </p:txBody>
      </p:sp>
      <p:sp>
        <p:nvSpPr>
          <p:cNvPr id="29" name="visual-6-23-p06-r3-2">
            <a:extLst xmlns:a="http://schemas.openxmlformats.org/drawingml/2006/main">
              <a:ext uri="{FF2B5EF4-FFF2-40B4-BE49-F238E27FC236}">
                <a16:creationId xmlns:a16="http://schemas.microsoft.com/office/drawing/2014/main" id="{D1F7FD6D-8AF3-4846-A732-B061F618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290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是</a:t>
            </a:r>
          </a:p>
        </p:txBody>
      </p:sp>
      <p:sp>
        <p:nvSpPr>
          <p:cNvPr id="30" name="visual-6-24-p06-r3-3">
            <a:extLst xmlns:a="http://schemas.openxmlformats.org/drawingml/2006/main">
              <a:ext uri="{FF2B5EF4-FFF2-40B4-BE49-F238E27FC236}">
                <a16:creationId xmlns:a16="http://schemas.microsoft.com/office/drawing/2014/main" id="{1DA168AE-D910-497B-8B37-E9E1D43B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290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是</a:t>
            </a:r>
          </a:p>
        </p:txBody>
      </p:sp>
      <p:sp>
        <p:nvSpPr>
          <p:cNvPr id="31" name="visual-6-25-p06-r3-4">
            <a:extLst xmlns:a="http://schemas.openxmlformats.org/drawingml/2006/main">
              <a:ext uri="{FF2B5EF4-FFF2-40B4-BE49-F238E27FC236}">
                <a16:creationId xmlns:a16="http://schemas.microsoft.com/office/drawing/2014/main" id="{72CB3489-BCE0-40A9-B44A-B662E35B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290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待核验</a:t>
            </a:r>
          </a:p>
        </p:txBody>
      </p:sp>
      <p:sp>
        <p:nvSpPr>
          <p:cNvPr id="32" name="visual-6-26-p06-r4-0">
            <a:extLst xmlns:a="http://schemas.openxmlformats.org/drawingml/2006/main">
              <a:ext uri="{FF2B5EF4-FFF2-40B4-BE49-F238E27FC236}">
                <a16:creationId xmlns:a16="http://schemas.microsoft.com/office/drawing/2014/main" id="{800291AA-21A2-4E90-912E-740FD285D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00550"/>
            <a:ext cx="114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E</a:t>
            </a:r>
          </a:p>
        </p:txBody>
      </p:sp>
      <p:sp>
        <p:nvSpPr>
          <p:cNvPr id="33" name="visual-6-27-p06-r4-1">
            <a:extLst xmlns:a="http://schemas.openxmlformats.org/drawingml/2006/main">
              <a:ext uri="{FF2B5EF4-FFF2-40B4-BE49-F238E27FC236}">
                <a16:creationId xmlns:a16="http://schemas.microsoft.com/office/drawing/2014/main" id="{DF0E71FD-601F-482A-BB92-1B5288AC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005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34" name="visual-6-28-p06-r4-2">
            <a:extLst xmlns:a="http://schemas.openxmlformats.org/drawingml/2006/main">
              <a:ext uri="{FF2B5EF4-FFF2-40B4-BE49-F238E27FC236}">
                <a16:creationId xmlns:a16="http://schemas.microsoft.com/office/drawing/2014/main" id="{AFF4FBF2-2AEB-477C-9FBC-3C29E7C6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4005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35" name="visual-6-29-p06-r4-3">
            <a:extLst xmlns:a="http://schemas.openxmlformats.org/drawingml/2006/main">
              <a:ext uri="{FF2B5EF4-FFF2-40B4-BE49-F238E27FC236}">
                <a16:creationId xmlns:a16="http://schemas.microsoft.com/office/drawing/2014/main" id="{7B174E9D-0B58-4B84-897A-0F96B7AD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005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36" name="visual-6-30-p06-r4-4">
            <a:extLst xmlns:a="http://schemas.openxmlformats.org/drawingml/2006/main">
              <a:ext uri="{FF2B5EF4-FFF2-40B4-BE49-F238E27FC236}">
                <a16:creationId xmlns:a16="http://schemas.microsoft.com/office/drawing/2014/main" id="{E419E693-1DF1-4A6C-8ED5-C449A1AA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005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空白候选</a:t>
            </a:r>
          </a:p>
        </p:txBody>
      </p:sp>
      <p:sp>
        <p:nvSpPr>
          <p:cNvPr id="37" name="visual-6-31-p06-bottom">
            <a:extLst xmlns:a="http://schemas.openxmlformats.org/drawingml/2006/main">
              <a:ext uri="{FF2B5EF4-FFF2-40B4-BE49-F238E27FC236}">
                <a16:creationId xmlns:a16="http://schemas.microsoft.com/office/drawing/2014/main" id="{256823DA-456B-49DF-8DE4-5DB30278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6730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空格只说明“当前地图未回答”，不自动证明领域没人做过。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证据地图：从文献角色到问题门四视图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visual-7-0-p07-left-h">
            <a:extLst xmlns:a="http://schemas.openxmlformats.org/drawingml/2006/main">
              <a:ext uri="{FF2B5EF4-FFF2-40B4-BE49-F238E27FC236}">
                <a16:creationId xmlns:a16="http://schemas.microsoft.com/office/drawing/2014/main" id="{7748FAE7-EE62-4048-A09A-B281E589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7155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3 课：候选文献角色</a:t>
            </a:r>
          </a:p>
        </p:txBody>
      </p:sp>
      <p:sp>
        <p:nvSpPr>
          <p:cNvPr id="7" name="visual-7-1-p07-l0">
            <a:extLst xmlns:a="http://schemas.openxmlformats.org/drawingml/2006/main">
              <a:ext uri="{FF2B5EF4-FFF2-40B4-BE49-F238E27FC236}">
                <a16:creationId xmlns:a16="http://schemas.microsoft.com/office/drawing/2014/main" id="{6ACECEEE-9749-4032-B203-9D8A6F60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主证据</a:t>
            </a:r>
          </a:p>
        </p:txBody>
      </p:sp>
      <p:sp>
        <p:nvSpPr>
          <p:cNvPr id="8" name="visual-7-2-p07-l1">
            <a:extLst xmlns:a="http://schemas.openxmlformats.org/drawingml/2006/main">
              <a:ext uri="{FF2B5EF4-FFF2-40B4-BE49-F238E27FC236}">
                <a16:creationId xmlns:a16="http://schemas.microsoft.com/office/drawing/2014/main" id="{C62F8563-723B-40CB-973E-74903775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补充证据</a:t>
            </a:r>
          </a:p>
        </p:txBody>
      </p:sp>
      <p:sp>
        <p:nvSpPr>
          <p:cNvPr id="9" name="visual-7-3-p07-l2">
            <a:extLst xmlns:a="http://schemas.openxmlformats.org/drawingml/2006/main">
              <a:ext uri="{FF2B5EF4-FFF2-40B4-BE49-F238E27FC236}">
                <a16:creationId xmlns:a16="http://schemas.microsoft.com/office/drawing/2014/main" id="{F4C6882D-095F-4350-8DB0-5957CA17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对比证据</a:t>
            </a:r>
          </a:p>
        </p:txBody>
      </p:sp>
      <p:sp>
        <p:nvSpPr>
          <p:cNvPr id="10" name="visual-7-4-p07-l3">
            <a:extLst xmlns:a="http://schemas.openxmlformats.org/drawingml/2006/main">
              <a:ext uri="{FF2B5EF4-FFF2-40B4-BE49-F238E27FC236}">
                <a16:creationId xmlns:a16="http://schemas.microsoft.com/office/drawing/2014/main" id="{28DE10FE-852D-4425-B3B4-CFA0F839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探索线索</a:t>
            </a:r>
          </a:p>
        </p:txBody>
      </p:sp>
      <p:sp>
        <p:nvSpPr>
          <p:cNvPr id="11" name="visual-7-5-p07-a1">
            <a:extLst xmlns:a="http://schemas.openxmlformats.org/drawingml/2006/main">
              <a:ext uri="{FF2B5EF4-FFF2-40B4-BE49-F238E27FC236}">
                <a16:creationId xmlns:a16="http://schemas.microsoft.com/office/drawing/2014/main" id="{9C801771-F4CE-496D-8511-6296703C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002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visual-7-6-p07-a2">
            <a:extLst xmlns:a="http://schemas.openxmlformats.org/drawingml/2006/main">
              <a:ext uri="{FF2B5EF4-FFF2-40B4-BE49-F238E27FC236}">
                <a16:creationId xmlns:a16="http://schemas.microsoft.com/office/drawing/2014/main" id="{B350893C-DEF5-43F6-BF3F-403731A7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194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visual-7-7-p07-a3">
            <a:extLst xmlns:a="http://schemas.openxmlformats.org/drawingml/2006/main">
              <a:ext uri="{FF2B5EF4-FFF2-40B4-BE49-F238E27FC236}">
                <a16:creationId xmlns:a16="http://schemas.microsoft.com/office/drawing/2014/main" id="{A825AC3C-DCF7-462F-B252-C4101287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385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visual-7-8-p07-a4">
            <a:extLst xmlns:a="http://schemas.openxmlformats.org/drawingml/2006/main">
              <a:ext uri="{FF2B5EF4-FFF2-40B4-BE49-F238E27FC236}">
                <a16:creationId xmlns:a16="http://schemas.microsoft.com/office/drawing/2014/main" id="{52B84518-089A-437A-9DEE-CBFA39F12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57700"/>
            <a:ext cx="781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不进入</a:t>
            </a:r>
          </a:p>
        </p:txBody>
      </p:sp>
      <p:sp>
        <p:nvSpPr>
          <p:cNvPr id="15" name="visual-7-9-p07-right-h">
            <a:extLst xmlns:a="http://schemas.openxmlformats.org/drawingml/2006/main">
              <a:ext uri="{FF2B5EF4-FFF2-40B4-BE49-F238E27FC236}">
                <a16:creationId xmlns:a16="http://schemas.microsoft.com/office/drawing/2014/main" id="{A0771F37-5EA2-43AF-B722-A5A321F7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97155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问题门：证据地图四视图</a:t>
            </a:r>
          </a:p>
        </p:txBody>
      </p:sp>
      <p:sp>
        <p:nvSpPr>
          <p:cNvPr id="16" name="visual-7-10-p07-rh0">
            <a:extLst xmlns:a="http://schemas.openxmlformats.org/drawingml/2006/main">
              <a:ext uri="{FF2B5EF4-FFF2-40B4-BE49-F238E27FC236}">
                <a16:creationId xmlns:a16="http://schemas.microsoft.com/office/drawing/2014/main" id="{BAE39691-1D41-49C0-A67B-57C8A349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58115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直接证据</a:t>
            </a:r>
          </a:p>
        </p:txBody>
      </p:sp>
      <p:sp>
        <p:nvSpPr>
          <p:cNvPr id="17" name="visual-7-11-p07-rd0">
            <a:extLst xmlns:a="http://schemas.openxmlformats.org/drawingml/2006/main">
              <a:ext uri="{FF2B5EF4-FFF2-40B4-BE49-F238E27FC236}">
                <a16:creationId xmlns:a16="http://schemas.microsoft.com/office/drawing/2014/main" id="{DA477DA6-FD44-4D04-8474-BB25FF75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5811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主证据且直接回答当前子问题</a:t>
            </a:r>
          </a:p>
        </p:txBody>
      </p:sp>
      <p:sp>
        <p:nvSpPr>
          <p:cNvPr id="18" name="visual-7-12-p07-rh1">
            <a:extLst xmlns:a="http://schemas.openxmlformats.org/drawingml/2006/main">
              <a:ext uri="{FF2B5EF4-FFF2-40B4-BE49-F238E27FC236}">
                <a16:creationId xmlns:a16="http://schemas.microsoft.com/office/drawing/2014/main" id="{650DA877-908F-4DFF-8753-5C01AD52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45745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补充证据</a:t>
            </a:r>
          </a:p>
        </p:txBody>
      </p:sp>
      <p:sp>
        <p:nvSpPr>
          <p:cNvPr id="19" name="visual-7-13-p07-rd1">
            <a:extLst xmlns:a="http://schemas.openxmlformats.org/drawingml/2006/main">
              <a:ext uri="{FF2B5EF4-FFF2-40B4-BE49-F238E27FC236}">
                <a16:creationId xmlns:a16="http://schemas.microsoft.com/office/drawing/2014/main" id="{B703D334-D912-4BF4-9DF2-92ED32185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574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提供不同来源、测量或路径</a:t>
            </a:r>
          </a:p>
        </p:txBody>
      </p:sp>
      <p:sp>
        <p:nvSpPr>
          <p:cNvPr id="20" name="visual-7-14-p07-rh2">
            <a:extLst xmlns:a="http://schemas.openxmlformats.org/drawingml/2006/main">
              <a:ext uri="{FF2B5EF4-FFF2-40B4-BE49-F238E27FC236}">
                <a16:creationId xmlns:a16="http://schemas.microsoft.com/office/drawing/2014/main" id="{C41949E9-6C79-4EAD-A9C8-9EBC003D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33375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冲突</a:t>
            </a:r>
          </a:p>
        </p:txBody>
      </p:sp>
      <p:sp>
        <p:nvSpPr>
          <p:cNvPr id="21" name="visual-7-15-p07-rd2">
            <a:extLst xmlns:a="http://schemas.openxmlformats.org/drawingml/2006/main">
              <a:ext uri="{FF2B5EF4-FFF2-40B4-BE49-F238E27FC236}">
                <a16:creationId xmlns:a16="http://schemas.microsoft.com/office/drawing/2014/main" id="{495A8026-E67E-4B09-8909-08062BF3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3337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条件可比且结论相反</a:t>
            </a:r>
          </a:p>
        </p:txBody>
      </p:sp>
      <p:sp>
        <p:nvSpPr>
          <p:cNvPr id="22" name="visual-7-16-p07-rh3">
            <a:extLst xmlns:a="http://schemas.openxmlformats.org/drawingml/2006/main">
              <a:ext uri="{FF2B5EF4-FFF2-40B4-BE49-F238E27FC236}">
                <a16:creationId xmlns:a16="http://schemas.microsoft.com/office/drawing/2014/main" id="{1F744163-8543-485F-8098-CB1D79A6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1005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空白</a:t>
            </a:r>
          </a:p>
        </p:txBody>
      </p:sp>
      <p:sp>
        <p:nvSpPr>
          <p:cNvPr id="23" name="visual-7-17-p07-rd3">
            <a:extLst xmlns:a="http://schemas.openxmlformats.org/drawingml/2006/main">
              <a:ext uri="{FF2B5EF4-FFF2-40B4-BE49-F238E27FC236}">
                <a16:creationId xmlns:a16="http://schemas.microsoft.com/office/drawing/2014/main" id="{561121E0-8ED3-43A1-BE31-4B920BC9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2100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当前地图没有直接回答材料</a:t>
            </a:r>
          </a:p>
        </p:txBody>
      </p:sp>
      <p:sp>
        <p:nvSpPr>
          <p:cNvPr id="24" name="visual-7-18-p07-bottom">
            <a:extLst xmlns:a="http://schemas.openxmlformats.org/drawingml/2006/main">
              <a:ext uri="{FF2B5EF4-FFF2-40B4-BE49-F238E27FC236}">
                <a16:creationId xmlns:a16="http://schemas.microsoft.com/office/drawing/2014/main" id="{10EA7433-C058-4AF1-A63B-9DE92CE8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95875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对比证据不自动等于冲突；探索线索不进入主格。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研究空白三类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visual-8-0-p08-n0">
            <a:extLst xmlns:a="http://schemas.openxmlformats.org/drawingml/2006/main">
              <a:ext uri="{FF2B5EF4-FFF2-40B4-BE49-F238E27FC236}">
                <a16:creationId xmlns:a16="http://schemas.microsoft.com/office/drawing/2014/main" id="{A5FAB509-45F5-4A19-A50B-101C720E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90625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8-1-p08-h0">
            <a:extLst xmlns:a="http://schemas.openxmlformats.org/drawingml/2006/main">
              <a:ext uri="{FF2B5EF4-FFF2-40B4-BE49-F238E27FC236}">
                <a16:creationId xmlns:a16="http://schemas.microsoft.com/office/drawing/2014/main" id="{F87E9DF1-1B35-4D50-8C0D-7BBAE075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095375"/>
            <a:ext cx="2333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冲突空白</a:t>
            </a:r>
          </a:p>
        </p:txBody>
      </p:sp>
      <p:sp>
        <p:nvSpPr>
          <p:cNvPr id="8" name="visual-8-2-p08-d0">
            <a:extLst xmlns:a="http://schemas.openxmlformats.org/drawingml/2006/main">
              <a:ext uri="{FF2B5EF4-FFF2-40B4-BE49-F238E27FC236}">
                <a16:creationId xmlns:a16="http://schemas.microsoft.com/office/drawing/2014/main" id="{8E8B45D4-E129-4C52-BACA-02EC83F9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095375"/>
            <a:ext cx="476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可比条件下结论相反，差异未解释</a:t>
            </a:r>
          </a:p>
        </p:txBody>
      </p:sp>
      <p:sp>
        <p:nvSpPr>
          <p:cNvPr id="9" name="visual-8-3-p08-c0">
            <a:extLst xmlns:a="http://schemas.openxmlformats.org/drawingml/2006/main">
              <a:ext uri="{FF2B5EF4-FFF2-40B4-BE49-F238E27FC236}">
                <a16:creationId xmlns:a16="http://schemas.microsoft.com/office/drawing/2014/main" id="{02963560-3AF3-4D03-981A-E159D14D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095375"/>
            <a:ext cx="2619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先核对任务、指标、样本</a:t>
            </a:r>
          </a:p>
        </p:txBody>
      </p:sp>
      <p:sp>
        <p:nvSpPr>
          <p:cNvPr id="10" name="visual-8-4-p08-n1">
            <a:extLst xmlns:a="http://schemas.openxmlformats.org/drawingml/2006/main">
              <a:ext uri="{FF2B5EF4-FFF2-40B4-BE49-F238E27FC236}">
                <a16:creationId xmlns:a16="http://schemas.microsoft.com/office/drawing/2014/main" id="{CA76AAC3-F971-413F-B591-46D075C3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955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visual-8-5-p08-h1">
            <a:extLst xmlns:a="http://schemas.openxmlformats.org/drawingml/2006/main">
              <a:ext uri="{FF2B5EF4-FFF2-40B4-BE49-F238E27FC236}">
                <a16:creationId xmlns:a16="http://schemas.microsoft.com/office/drawing/2014/main" id="{9A18D74C-1374-412A-9351-1B90D60E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400300"/>
            <a:ext cx="2333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缺角空白</a:t>
            </a:r>
          </a:p>
        </p:txBody>
      </p:sp>
      <p:sp>
        <p:nvSpPr>
          <p:cNvPr id="12" name="visual-8-6-p08-d1">
            <a:extLst xmlns:a="http://schemas.openxmlformats.org/drawingml/2006/main">
              <a:ext uri="{FF2B5EF4-FFF2-40B4-BE49-F238E27FC236}">
                <a16:creationId xmlns:a16="http://schemas.microsoft.com/office/drawing/2014/main" id="{664A857A-0980-40D3-8AC7-86490116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00300"/>
            <a:ext cx="476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某子问题整列空白，邻近条件已有材料</a:t>
            </a:r>
          </a:p>
        </p:txBody>
      </p:sp>
      <p:sp>
        <p:nvSpPr>
          <p:cNvPr id="13" name="visual-8-7-p08-c1">
            <a:extLst xmlns:a="http://schemas.openxmlformats.org/drawingml/2006/main">
              <a:ext uri="{FF2B5EF4-FFF2-40B4-BE49-F238E27FC236}">
                <a16:creationId xmlns:a16="http://schemas.microsoft.com/office/drawing/2014/main" id="{5B6BC125-8C55-4661-BFFA-A5B27EDB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00300"/>
            <a:ext cx="2619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先做窄检索</a:t>
            </a:r>
          </a:p>
        </p:txBody>
      </p:sp>
      <p:sp>
        <p:nvSpPr>
          <p:cNvPr id="14" name="visual-8-8-p08-n2">
            <a:extLst xmlns:a="http://schemas.openxmlformats.org/drawingml/2006/main">
              <a:ext uri="{FF2B5EF4-FFF2-40B4-BE49-F238E27FC236}">
                <a16:creationId xmlns:a16="http://schemas.microsoft.com/office/drawing/2014/main" id="{F2709077-199B-42D2-8C22-C78391FA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00475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visual-8-9-p08-h2">
            <a:extLst xmlns:a="http://schemas.openxmlformats.org/drawingml/2006/main">
              <a:ext uri="{FF2B5EF4-FFF2-40B4-BE49-F238E27FC236}">
                <a16:creationId xmlns:a16="http://schemas.microsoft.com/office/drawing/2014/main" id="{9B485CFB-F836-4D3A-9D6D-B952B906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05225"/>
            <a:ext cx="2333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新问题空白</a:t>
            </a:r>
          </a:p>
        </p:txBody>
      </p:sp>
      <p:sp>
        <p:nvSpPr>
          <p:cNvPr id="16" name="visual-8-10-p08-d2">
            <a:extLst xmlns:a="http://schemas.openxmlformats.org/drawingml/2006/main">
              <a:ext uri="{FF2B5EF4-FFF2-40B4-BE49-F238E27FC236}">
                <a16:creationId xmlns:a16="http://schemas.microsoft.com/office/drawing/2014/main" id="{F8B80FEE-D26A-4B68-B6ED-64FE461F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05225"/>
            <a:ext cx="476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新场景、条件或机制衍生的问题</a:t>
            </a:r>
          </a:p>
        </p:txBody>
      </p:sp>
      <p:sp>
        <p:nvSpPr>
          <p:cNvPr id="17" name="visual-8-11-p08-c2">
            <a:extLst xmlns:a="http://schemas.openxmlformats.org/drawingml/2006/main">
              <a:ext uri="{FF2B5EF4-FFF2-40B4-BE49-F238E27FC236}">
                <a16:creationId xmlns:a16="http://schemas.microsoft.com/office/drawing/2014/main" id="{10A40020-4DF2-468F-9B24-E72545C0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05225"/>
            <a:ext cx="2619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仍需可证伪</a:t>
            </a:r>
          </a:p>
        </p:txBody>
      </p:sp>
      <p:sp>
        <p:nvSpPr>
          <p:cNvPr id="18" name="visual-8-12-p08-bottom">
            <a:extLst xmlns:a="http://schemas.openxmlformats.org/drawingml/2006/main">
              <a:ext uri="{FF2B5EF4-FFF2-40B4-BE49-F238E27FC236}">
                <a16:creationId xmlns:a16="http://schemas.microsoft.com/office/drawing/2014/main" id="{4C076917-EF37-4A2E-AB2C-4AE0B265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48250"/>
            <a:ext cx="895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“还没有论文写过”不是空白证明，只是待核验的候选表述。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问题生成路径与候选题池：不要停在文献空白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visual-9-0-p09-lead">
            <a:extLst xmlns:a="http://schemas.openxmlformats.org/drawingml/2006/main">
              <a:ext uri="{FF2B5EF4-FFF2-40B4-BE49-F238E27FC236}">
                <a16:creationId xmlns:a16="http://schemas.microsoft.com/office/drawing/2014/main" id="{6F2F32C9-CB1F-4F48-BF16-CEA2B13E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876300"/>
            <a:ext cx="1019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三类空白都是文献路径的产物；问题还可以来自文献之外。</a:t>
            </a:r>
          </a:p>
        </p:txBody>
      </p:sp>
      <p:sp>
        <p:nvSpPr>
          <p:cNvPr id="7" name="visual-9-1-p09-paths-h-0">
            <a:extLst xmlns:a="http://schemas.openxmlformats.org/drawingml/2006/main">
              <a:ext uri="{FF2B5EF4-FFF2-40B4-BE49-F238E27FC236}">
                <a16:creationId xmlns:a16="http://schemas.microsoft.com/office/drawing/2014/main" id="{701D7220-9514-4002-8A18-87CEF397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28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生成路径</a:t>
            </a:r>
          </a:p>
        </p:txBody>
      </p:sp>
      <p:sp>
        <p:nvSpPr>
          <p:cNvPr id="8" name="visual-9-2-p09-paths-h-1">
            <a:extLst xmlns:a="http://schemas.openxmlformats.org/drawingml/2006/main">
              <a:ext uri="{FF2B5EF4-FFF2-40B4-BE49-F238E27FC236}">
                <a16:creationId xmlns:a16="http://schemas.microsoft.com/office/drawing/2014/main" id="{DCDAB2A5-7E82-453D-8A18-CE2C90EB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428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典型形态</a:t>
            </a:r>
          </a:p>
        </p:txBody>
      </p:sp>
      <p:sp>
        <p:nvSpPr>
          <p:cNvPr id="9" name="visual-9-3-p09-paths-h-2">
            <a:extLst xmlns:a="http://schemas.openxmlformats.org/drawingml/2006/main">
              <a:ext uri="{FF2B5EF4-FFF2-40B4-BE49-F238E27FC236}">
                <a16:creationId xmlns:a16="http://schemas.microsoft.com/office/drawing/2014/main" id="{A2F11E80-9392-4349-B288-DEAA0145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4287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检索的角色</a:t>
            </a:r>
          </a:p>
        </p:txBody>
      </p:sp>
      <p:sp>
        <p:nvSpPr>
          <p:cNvPr id="10" name="visual-9-4-p09-paths-r0-0">
            <a:extLst xmlns:a="http://schemas.openxmlformats.org/drawingml/2006/main">
              <a:ext uri="{FF2B5EF4-FFF2-40B4-BE49-F238E27FC236}">
                <a16:creationId xmlns:a16="http://schemas.microsoft.com/office/drawing/2014/main" id="{AA19A71D-2BE8-4EB8-8A65-527F8FDA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288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文献冲突 / 缺口</a:t>
            </a:r>
          </a:p>
        </p:txBody>
      </p:sp>
      <p:sp>
        <p:nvSpPr>
          <p:cNvPr id="11" name="visual-9-5-p09-paths-r0-1">
            <a:extLst xmlns:a="http://schemas.openxmlformats.org/drawingml/2006/main">
              <a:ext uri="{FF2B5EF4-FFF2-40B4-BE49-F238E27FC236}">
                <a16:creationId xmlns:a16="http://schemas.microsoft.com/office/drawing/2014/main" id="{747CBECC-E090-47A7-B3FF-D38A21F00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82880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证据矛盾或无回答（上页三类空白）</a:t>
            </a:r>
          </a:p>
        </p:txBody>
      </p:sp>
      <p:sp>
        <p:nvSpPr>
          <p:cNvPr id="12" name="visual-9-6-p09-paths-r0-2">
            <a:extLst xmlns:a="http://schemas.openxmlformats.org/drawingml/2006/main">
              <a:ext uri="{FF2B5EF4-FFF2-40B4-BE49-F238E27FC236}">
                <a16:creationId xmlns:a16="http://schemas.microsoft.com/office/drawing/2014/main" id="{C39A6E40-A796-44A1-A8A8-7EB3058A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8288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确认空白真实</a:t>
            </a:r>
          </a:p>
        </p:txBody>
      </p:sp>
      <p:sp>
        <p:nvSpPr>
          <p:cNvPr id="13" name="visual-9-7-p09-paths-r1-0">
            <a:extLst xmlns:a="http://schemas.openxmlformats.org/drawingml/2006/main">
              <a:ext uri="{FF2B5EF4-FFF2-40B4-BE49-F238E27FC236}">
                <a16:creationId xmlns:a16="http://schemas.microsoft.com/office/drawing/2014/main" id="{498C9288-1CD7-41B4-82B4-AA51502B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669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异常观察</a:t>
            </a:r>
          </a:p>
        </p:txBody>
      </p:sp>
      <p:sp>
        <p:nvSpPr>
          <p:cNvPr id="14" name="visual-9-8-p09-paths-r1-1">
            <a:extLst xmlns:a="http://schemas.openxmlformats.org/drawingml/2006/main">
              <a:ext uri="{FF2B5EF4-FFF2-40B4-BE49-F238E27FC236}">
                <a16:creationId xmlns:a16="http://schemas.microsoft.com/office/drawing/2014/main" id="{31B6DE68-56C2-4DE7-BC02-57D5768D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26695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观察与预期不符，现有解释覆盖不了</a:t>
            </a:r>
          </a:p>
        </p:txBody>
      </p:sp>
      <p:sp>
        <p:nvSpPr>
          <p:cNvPr id="15" name="visual-9-9-p09-paths-r1-2">
            <a:extLst xmlns:a="http://schemas.openxmlformats.org/drawingml/2006/main">
              <a:ext uri="{FF2B5EF4-FFF2-40B4-BE49-F238E27FC236}">
                <a16:creationId xmlns:a16="http://schemas.microsoft.com/office/drawing/2014/main" id="{C2654210-D85E-4274-A8C9-5E1C4E9D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26695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检验是否已被解释</a:t>
            </a:r>
          </a:p>
        </p:txBody>
      </p:sp>
      <p:sp>
        <p:nvSpPr>
          <p:cNvPr id="16" name="visual-9-10-p09-paths-r2-0">
            <a:extLst xmlns:a="http://schemas.openxmlformats.org/drawingml/2006/main">
              <a:ext uri="{FF2B5EF4-FFF2-40B4-BE49-F238E27FC236}">
                <a16:creationId xmlns:a16="http://schemas.microsoft.com/office/drawing/2014/main" id="{7DE622A6-95B1-427E-BE45-5E061C9F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051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实践痛点</a:t>
            </a:r>
          </a:p>
        </p:txBody>
      </p:sp>
      <p:sp>
        <p:nvSpPr>
          <p:cNvPr id="17" name="visual-9-11-p09-paths-r2-1">
            <a:extLst xmlns:a="http://schemas.openxmlformats.org/drawingml/2006/main">
              <a:ext uri="{FF2B5EF4-FFF2-40B4-BE49-F238E27FC236}">
                <a16:creationId xmlns:a16="http://schemas.microsoft.com/office/drawing/2014/main" id="{C4B52717-AD76-4379-8461-559D9384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70510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自己科研或工程的一手问题</a:t>
            </a:r>
          </a:p>
        </p:txBody>
      </p:sp>
      <p:sp>
        <p:nvSpPr>
          <p:cNvPr id="18" name="visual-9-12-p09-paths-r2-2">
            <a:extLst xmlns:a="http://schemas.openxmlformats.org/drawingml/2006/main">
              <a:ext uri="{FF2B5EF4-FFF2-40B4-BE49-F238E27FC236}">
                <a16:creationId xmlns:a16="http://schemas.microsoft.com/office/drawing/2014/main" id="{8F9FA693-2DA8-4AC0-BC31-5B37B8DD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7051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检验是否已有解法</a:t>
            </a:r>
          </a:p>
        </p:txBody>
      </p:sp>
      <p:sp>
        <p:nvSpPr>
          <p:cNvPr id="19" name="visual-9-13-p09-paths-r3-0">
            <a:extLst xmlns:a="http://schemas.openxmlformats.org/drawingml/2006/main">
              <a:ext uri="{FF2B5EF4-FFF2-40B4-BE49-F238E27FC236}">
                <a16:creationId xmlns:a16="http://schemas.microsoft.com/office/drawing/2014/main" id="{FB426442-C21D-4D76-936B-1A2D8BC5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1432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新条件失效</a:t>
            </a:r>
          </a:p>
        </p:txBody>
      </p:sp>
      <p:sp>
        <p:nvSpPr>
          <p:cNvPr id="20" name="visual-9-14-p09-paths-r3-1">
            <a:extLst xmlns:a="http://schemas.openxmlformats.org/drawingml/2006/main">
              <a:ext uri="{FF2B5EF4-FFF2-40B4-BE49-F238E27FC236}">
                <a16:creationId xmlns:a16="http://schemas.microsoft.com/office/drawing/2014/main" id="{BAAB3AC4-61E8-4C42-87ED-80B41D30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4325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新能力 / 数据使旧假设失效</a:t>
            </a:r>
          </a:p>
        </p:txBody>
      </p:sp>
      <p:sp>
        <p:nvSpPr>
          <p:cNvPr id="21" name="visual-9-15-p09-paths-r3-2">
            <a:extLst xmlns:a="http://schemas.openxmlformats.org/drawingml/2006/main">
              <a:ext uri="{FF2B5EF4-FFF2-40B4-BE49-F238E27FC236}">
                <a16:creationId xmlns:a16="http://schemas.microsoft.com/office/drawing/2014/main" id="{E3707D63-508F-4D91-B492-0CEC190D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14325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检验旧结论的假设</a:t>
            </a:r>
          </a:p>
        </p:txBody>
      </p:sp>
      <p:sp>
        <p:nvSpPr>
          <p:cNvPr id="22" name="visual-9-16-p09-paths-r4-0">
            <a:extLst xmlns:a="http://schemas.openxmlformats.org/drawingml/2006/main">
              <a:ext uri="{FF2B5EF4-FFF2-40B4-BE49-F238E27FC236}">
                <a16:creationId xmlns:a16="http://schemas.microsoft.com/office/drawing/2014/main" id="{15484976-3322-46B2-998C-5091FDEB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814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第一性原理反推</a:t>
            </a:r>
          </a:p>
        </p:txBody>
      </p:sp>
      <p:sp>
        <p:nvSpPr>
          <p:cNvPr id="23" name="visual-9-17-p09-paths-r4-1">
            <a:extLst xmlns:a="http://schemas.openxmlformats.org/drawingml/2006/main">
              <a:ext uri="{FF2B5EF4-FFF2-40B4-BE49-F238E27FC236}">
                <a16:creationId xmlns:a16="http://schemas.microsoft.com/office/drawing/2014/main" id="{E66177BF-CF6E-4A3B-BF25-339DC6E6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58140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必要条件与现状对照</a:t>
            </a:r>
          </a:p>
        </p:txBody>
      </p:sp>
      <p:sp>
        <p:nvSpPr>
          <p:cNvPr id="24" name="visual-9-18-p09-paths-r4-2">
            <a:extLst xmlns:a="http://schemas.openxmlformats.org/drawingml/2006/main">
              <a:ext uri="{FF2B5EF4-FFF2-40B4-BE49-F238E27FC236}">
                <a16:creationId xmlns:a16="http://schemas.microsoft.com/office/drawing/2014/main" id="{B16E3C58-BCE5-49D8-8335-907CED41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814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检验推导前提</a:t>
            </a:r>
          </a:p>
        </p:txBody>
      </p:sp>
      <p:sp>
        <p:nvSpPr>
          <p:cNvPr id="25" name="visual-9-19-p09-paths-r5-0">
            <a:extLst xmlns:a="http://schemas.openxmlformats.org/drawingml/2006/main">
              <a:ext uri="{FF2B5EF4-FFF2-40B4-BE49-F238E27FC236}">
                <a16:creationId xmlns:a16="http://schemas.microsoft.com/office/drawing/2014/main" id="{B855E9AF-443C-4C30-850E-3F6BF5D9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195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重构 / 迁移</a:t>
            </a:r>
          </a:p>
        </p:txBody>
      </p:sp>
      <p:sp>
        <p:nvSpPr>
          <p:cNvPr id="26" name="visual-9-20-p09-paths-r5-1">
            <a:extLst xmlns:a="http://schemas.openxmlformats.org/drawingml/2006/main">
              <a:ext uri="{FF2B5EF4-FFF2-40B4-BE49-F238E27FC236}">
                <a16:creationId xmlns:a16="http://schemas.microsoft.com/office/drawing/2014/main" id="{1EFCA582-D9F0-4B12-957F-6E4DF350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01955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换问法、换视角、移植机制</a:t>
            </a:r>
          </a:p>
        </p:txBody>
      </p:sp>
      <p:sp>
        <p:nvSpPr>
          <p:cNvPr id="27" name="visual-9-21-p09-paths-r5-2">
            <a:extLst xmlns:a="http://schemas.openxmlformats.org/drawingml/2006/main">
              <a:ext uri="{FF2B5EF4-FFF2-40B4-BE49-F238E27FC236}">
                <a16:creationId xmlns:a16="http://schemas.microsoft.com/office/drawing/2014/main" id="{C1E3B24F-5150-443B-AD02-2A3C8283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01955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检验新提法是否真新</a:t>
            </a:r>
          </a:p>
        </p:txBody>
      </p:sp>
      <p:sp>
        <p:nvSpPr>
          <p:cNvPr id="28" name="visual-9-22-p09-pool">
            <a:extLst xmlns:a="http://schemas.openxmlformats.org/drawingml/2006/main">
              <a:ext uri="{FF2B5EF4-FFF2-40B4-BE49-F238E27FC236}">
                <a16:creationId xmlns:a16="http://schemas.microsoft.com/office/drawing/2014/main" id="{903C8EFF-B9B9-464C-9F1B-974833E9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候选题池（第 6 课前补齐）：≥3 候选题｜覆盖 ≥2 条路径｜≥1 个非文献空白路径；当堂先记 1 个候选题的表述与路径标签</a:t>
            </a:r>
          </a:p>
        </p:txBody>
      </p:sp>
      <p:sp>
        <p:nvSpPr>
          <p:cNvPr id="29" name="visual-9-23-p09-bottom">
            <a:extLst xmlns:a="http://schemas.openxmlformats.org/drawingml/2006/main">
              <a:ext uri="{FF2B5EF4-FFF2-40B4-BE49-F238E27FC236}">
                <a16:creationId xmlns:a16="http://schemas.microsoft.com/office/drawing/2014/main" id="{8F575369-3E40-45A9-98D4-ADD09928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387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检索用来检验问题，不是生成问题。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三步检验：从证据空白到可检验问题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visual-10-0-p10-n0">
            <a:extLst xmlns:a="http://schemas.openxmlformats.org/drawingml/2006/main">
              <a:ext uri="{FF2B5EF4-FFF2-40B4-BE49-F238E27FC236}">
                <a16:creationId xmlns:a16="http://schemas.microsoft.com/office/drawing/2014/main" id="{2E206FA2-4699-4AA9-B5A3-B0A99C7E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0-1-p10-h0">
            <a:extLst xmlns:a="http://schemas.openxmlformats.org/drawingml/2006/main">
              <a:ext uri="{FF2B5EF4-FFF2-40B4-BE49-F238E27FC236}">
                <a16:creationId xmlns:a16="http://schemas.microsoft.com/office/drawing/2014/main" id="{D9C51283-40DD-4ACF-B51C-F08E7C2F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25730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真实性</a:t>
            </a:r>
          </a:p>
        </p:txBody>
      </p:sp>
      <p:sp>
        <p:nvSpPr>
          <p:cNvPr id="8" name="visual-10-2-p10-d0">
            <a:extLst xmlns:a="http://schemas.openxmlformats.org/drawingml/2006/main">
              <a:ext uri="{FF2B5EF4-FFF2-40B4-BE49-F238E27FC236}">
                <a16:creationId xmlns:a16="http://schemas.microsoft.com/office/drawing/2014/main" id="{A866DB4B-0806-44A9-8B37-6FE4380A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43125"/>
            <a:ext cx="333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窄检索：式 / 库 / 日期 / 命中 / 筛选</a:t>
            </a:r>
          </a:p>
        </p:txBody>
      </p:sp>
      <p:sp>
        <p:nvSpPr>
          <p:cNvPr id="9" name="visual-10-3-p10-a0">
            <a:extLst xmlns:a="http://schemas.openxmlformats.org/drawingml/2006/main">
              <a:ext uri="{FF2B5EF4-FFF2-40B4-BE49-F238E27FC236}">
                <a16:creationId xmlns:a16="http://schemas.microsoft.com/office/drawing/2014/main" id="{BB4B320E-6575-4D88-814C-3A847D6B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619375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10-4-p10-n1">
            <a:extLst xmlns:a="http://schemas.openxmlformats.org/drawingml/2006/main">
              <a:ext uri="{FF2B5EF4-FFF2-40B4-BE49-F238E27FC236}">
                <a16:creationId xmlns:a16="http://schemas.microsoft.com/office/drawing/2014/main" id="{D29FA904-F43E-4A88-BD09-6A78D5E8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3525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visual-10-5-p10-h1">
            <a:extLst xmlns:a="http://schemas.openxmlformats.org/drawingml/2006/main">
              <a:ext uri="{FF2B5EF4-FFF2-40B4-BE49-F238E27FC236}">
                <a16:creationId xmlns:a16="http://schemas.microsoft.com/office/drawing/2014/main" id="{5EF40788-585A-40BD-9C57-B50AF889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25730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重要性</a:t>
            </a:r>
          </a:p>
        </p:txBody>
      </p:sp>
      <p:sp>
        <p:nvSpPr>
          <p:cNvPr id="12" name="visual-10-6-p10-d1">
            <a:extLst xmlns:a="http://schemas.openxmlformats.org/drawingml/2006/main">
              <a:ext uri="{FF2B5EF4-FFF2-40B4-BE49-F238E27FC236}">
                <a16:creationId xmlns:a16="http://schemas.microsoft.com/office/drawing/2014/main" id="{BDE81968-56C9-4149-915E-A516FA6F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143125"/>
            <a:ext cx="333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若不回答，哪条主张或机制无法成立？</a:t>
            </a:r>
          </a:p>
        </p:txBody>
      </p:sp>
      <p:sp>
        <p:nvSpPr>
          <p:cNvPr id="13" name="visual-10-7-p10-a1">
            <a:extLst xmlns:a="http://schemas.openxmlformats.org/drawingml/2006/main">
              <a:ext uri="{FF2B5EF4-FFF2-40B4-BE49-F238E27FC236}">
                <a16:creationId xmlns:a16="http://schemas.microsoft.com/office/drawing/2014/main" id="{CD3BEE00-5975-42D2-8427-C6DD7A93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19375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visual-10-8-p10-n2">
            <a:extLst xmlns:a="http://schemas.openxmlformats.org/drawingml/2006/main">
              <a:ext uri="{FF2B5EF4-FFF2-40B4-BE49-F238E27FC236}">
                <a16:creationId xmlns:a16="http://schemas.microsoft.com/office/drawing/2014/main" id="{0C7BFC05-B8C6-4B95-AFB5-BF3DA131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3525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visual-10-9-p10-h2">
            <a:extLst xmlns:a="http://schemas.openxmlformats.org/drawingml/2006/main">
              <a:ext uri="{FF2B5EF4-FFF2-40B4-BE49-F238E27FC236}">
                <a16:creationId xmlns:a16="http://schemas.microsoft.com/office/drawing/2014/main" id="{2BB288CA-A010-4259-A4B6-A6CC867E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25730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可行性</a:t>
            </a:r>
          </a:p>
        </p:txBody>
      </p:sp>
      <p:sp>
        <p:nvSpPr>
          <p:cNvPr id="16" name="visual-10-10-p10-d2">
            <a:extLst xmlns:a="http://schemas.openxmlformats.org/drawingml/2006/main">
              <a:ext uri="{FF2B5EF4-FFF2-40B4-BE49-F238E27FC236}">
                <a16:creationId xmlns:a16="http://schemas.microsoft.com/office/drawing/2014/main" id="{C8D0C412-806B-4EC2-936D-10BE18A6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43125"/>
            <a:ext cx="333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课程周期内能否做最小实验、对照或分析？</a:t>
            </a:r>
          </a:p>
        </p:txBody>
      </p:sp>
      <p:sp>
        <p:nvSpPr>
          <p:cNvPr id="17" name="visual-10-11-p10-pass">
            <a:extLst xmlns:a="http://schemas.openxmlformats.org/drawingml/2006/main">
              <a:ext uri="{FF2B5EF4-FFF2-40B4-BE49-F238E27FC236}">
                <a16:creationId xmlns:a16="http://schemas.microsoft.com/office/drawing/2014/main" id="{141C6BAE-689D-4AAD-ABF8-8B9C4A28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955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三步均有记录 → 进入候选题池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→ 第 6 课比较收敛</a:t>
            </a:r>
          </a:p>
        </p:txBody>
      </p:sp>
      <p:sp>
        <p:nvSpPr>
          <p:cNvPr id="18" name="visual-10-12-p10-back">
            <a:extLst xmlns:a="http://schemas.openxmlformats.org/drawingml/2006/main">
              <a:ext uri="{FF2B5EF4-FFF2-40B4-BE49-F238E27FC236}">
                <a16:creationId xmlns:a16="http://schemas.microsoft.com/office/drawing/2014/main" id="{149145EC-77A3-47E1-BBC1-22AEA9E9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19550"/>
            <a:ext cx="4857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任一步不足 → 回到检索、证据或范围</a:t>
            </a:r>
          </a:p>
        </p:txBody>
      </p:sp>
      <p:sp>
        <p:nvSpPr>
          <p:cNvPr id="19" name="visual-10-13-p10-bottom">
            <a:extLst xmlns:a="http://schemas.openxmlformats.org/drawingml/2006/main">
              <a:ext uri="{FF2B5EF4-FFF2-40B4-BE49-F238E27FC236}">
                <a16:creationId xmlns:a16="http://schemas.microsoft.com/office/drawing/2014/main" id="{12AA7168-D702-472B-BACE-A690E4E6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095875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不要把“我没找到”升级为“领域没人做过”。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不是空白的情况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visual-11-0-p11-a0">
            <a:extLst xmlns:a="http://schemas.openxmlformats.org/drawingml/2006/main">
              <a:ext uri="{FF2B5EF4-FFF2-40B4-BE49-F238E27FC236}">
                <a16:creationId xmlns:a16="http://schemas.microsoft.com/office/drawing/2014/main" id="{E2519CC5-3C32-48BD-92BC-CA59F7E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2395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表述差异</a:t>
            </a:r>
          </a:p>
        </p:txBody>
      </p:sp>
      <p:sp>
        <p:nvSpPr>
          <p:cNvPr id="7" name="visual-11-1-p11-arr0">
            <a:extLst xmlns:a="http://schemas.openxmlformats.org/drawingml/2006/main">
              <a:ext uri="{FF2B5EF4-FFF2-40B4-BE49-F238E27FC236}">
                <a16:creationId xmlns:a16="http://schemas.microsoft.com/office/drawing/2014/main" id="{6EDCAF91-2FBA-4C8D-B080-A358F7A7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382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visual-11-2-p11-b0">
            <a:extLst xmlns:a="http://schemas.openxmlformats.org/drawingml/2006/main">
              <a:ext uri="{FF2B5EF4-FFF2-40B4-BE49-F238E27FC236}">
                <a16:creationId xmlns:a16="http://schemas.microsoft.com/office/drawing/2014/main" id="{7BE9C575-DC0B-430D-BCEA-3AAF66DE6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123950"/>
            <a:ext cx="666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术语不同，但操作定义相同</a:t>
            </a:r>
          </a:p>
        </p:txBody>
      </p:sp>
      <p:sp>
        <p:nvSpPr>
          <p:cNvPr id="9" name="visual-11-3-p11-a1">
            <a:extLst xmlns:a="http://schemas.openxmlformats.org/drawingml/2006/main">
              <a:ext uri="{FF2B5EF4-FFF2-40B4-BE49-F238E27FC236}">
                <a16:creationId xmlns:a16="http://schemas.microsoft.com/office/drawing/2014/main" id="{CCA08401-9A9D-4FAB-8098-5E9B87FC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05025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范围差异</a:t>
            </a:r>
          </a:p>
        </p:txBody>
      </p:sp>
      <p:sp>
        <p:nvSpPr>
          <p:cNvPr id="10" name="visual-11-4-p11-arr1">
            <a:extLst xmlns:a="http://schemas.openxmlformats.org/drawingml/2006/main">
              <a:ext uri="{FF2B5EF4-FFF2-40B4-BE49-F238E27FC236}">
                <a16:creationId xmlns:a16="http://schemas.microsoft.com/office/drawing/2014/main" id="{DCA96852-23C5-482C-B676-9E5AB48F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219325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visual-11-5-p11-b1">
            <a:extLst xmlns:a="http://schemas.openxmlformats.org/drawingml/2006/main">
              <a:ext uri="{FF2B5EF4-FFF2-40B4-BE49-F238E27FC236}">
                <a16:creationId xmlns:a16="http://schemas.microsoft.com/office/drawing/2014/main" id="{0DF31188-9097-4A14-A826-D8AF117A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05025"/>
            <a:ext cx="666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数据集或任务不同，结论不可比</a:t>
            </a:r>
          </a:p>
        </p:txBody>
      </p:sp>
      <p:sp>
        <p:nvSpPr>
          <p:cNvPr id="12" name="visual-11-6-p11-a2">
            <a:extLst xmlns:a="http://schemas.openxmlformats.org/drawingml/2006/main">
              <a:ext uri="{FF2B5EF4-FFF2-40B4-BE49-F238E27FC236}">
                <a16:creationId xmlns:a16="http://schemas.microsoft.com/office/drawing/2014/main" id="{1D8F28B0-FFCE-4868-A0E3-F6139388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工程未做</a:t>
            </a:r>
          </a:p>
        </p:txBody>
      </p:sp>
      <p:sp>
        <p:nvSpPr>
          <p:cNvPr id="13" name="visual-11-7-p11-arr2">
            <a:extLst xmlns:a="http://schemas.openxmlformats.org/drawingml/2006/main">
              <a:ext uri="{FF2B5EF4-FFF2-40B4-BE49-F238E27FC236}">
                <a16:creationId xmlns:a16="http://schemas.microsoft.com/office/drawing/2014/main" id="{AB00B616-F178-4FFC-B6D9-5436D2F7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004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visual-11-8-p11-b2">
            <a:extLst xmlns:a="http://schemas.openxmlformats.org/drawingml/2006/main">
              <a:ext uri="{FF2B5EF4-FFF2-40B4-BE49-F238E27FC236}">
                <a16:creationId xmlns:a16="http://schemas.microsoft.com/office/drawing/2014/main" id="{91C862CB-F2F2-43F4-AB4A-73CD5660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86100"/>
            <a:ext cx="666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尚未评测某产品，不一定是机制问题</a:t>
            </a:r>
          </a:p>
        </p:txBody>
      </p:sp>
      <p:sp>
        <p:nvSpPr>
          <p:cNvPr id="15" name="visual-11-9-p11-a3">
            <a:extLst xmlns:a="http://schemas.openxmlformats.org/drawingml/2006/main">
              <a:ext uri="{FF2B5EF4-FFF2-40B4-BE49-F238E27FC236}">
                <a16:creationId xmlns:a16="http://schemas.microsoft.com/office/drawing/2014/main" id="{C2EC68A3-20F4-4576-B372-43283C7EF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67175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新但不重要</a:t>
            </a:r>
          </a:p>
        </p:txBody>
      </p:sp>
      <p:sp>
        <p:nvSpPr>
          <p:cNvPr id="16" name="visual-11-10-p11-arr3">
            <a:extLst xmlns:a="http://schemas.openxmlformats.org/drawingml/2006/main">
              <a:ext uri="{FF2B5EF4-FFF2-40B4-BE49-F238E27FC236}">
                <a16:creationId xmlns:a16="http://schemas.microsoft.com/office/drawing/2014/main" id="{DC8C49D7-A7D7-4B84-8D24-89EA98DB2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181475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visual-11-11-p11-b3">
            <a:extLst xmlns:a="http://schemas.openxmlformats.org/drawingml/2006/main">
              <a:ext uri="{FF2B5EF4-FFF2-40B4-BE49-F238E27FC236}">
                <a16:creationId xmlns:a16="http://schemas.microsoft.com/office/drawing/2014/main" id="{689475AF-2147-4B2D-B376-8620B653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67175"/>
            <a:ext cx="666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换模型再跑一遍，判断没有改变</a:t>
            </a:r>
          </a:p>
        </p:txBody>
      </p:sp>
      <p:sp>
        <p:nvSpPr>
          <p:cNvPr id="18" name="visual-11-12-p11-bottom">
            <a:extLst xmlns:a="http://schemas.openxmlformats.org/drawingml/2006/main">
              <a:ext uri="{FF2B5EF4-FFF2-40B4-BE49-F238E27FC236}">
                <a16:creationId xmlns:a16="http://schemas.microsoft.com/office/drawing/2014/main" id="{0621A3A1-FA74-40E5-B079-A601A5E2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95875"/>
            <a:ext cx="800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真实空白必须是已有证据不能回答的具体问题。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综述草稿核验清单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visual-12-0-p12-n0">
            <a:extLst xmlns:a="http://schemas.openxmlformats.org/drawingml/2006/main">
              <a:ext uri="{FF2B5EF4-FFF2-40B4-BE49-F238E27FC236}">
                <a16:creationId xmlns:a16="http://schemas.microsoft.com/office/drawing/2014/main" id="{EAF4B19C-F70D-4843-A4EA-E4624EC6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2-1-p12-t0">
            <a:extLst xmlns:a="http://schemas.openxmlformats.org/drawingml/2006/main">
              <a:ext uri="{FF2B5EF4-FFF2-40B4-BE49-F238E27FC236}">
                <a16:creationId xmlns:a16="http://schemas.microsoft.com/office/drawing/2014/main" id="{EDA65796-827E-46B2-ABD3-EFB81DEE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97155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引文真实存在，题名 / 作者 / 年份 / DOI 与原文一致？</a:t>
            </a:r>
          </a:p>
        </p:txBody>
      </p:sp>
      <p:sp>
        <p:nvSpPr>
          <p:cNvPr id="8" name="visual-12-2-p12-n1">
            <a:extLst xmlns:a="http://schemas.openxmlformats.org/drawingml/2006/main">
              <a:ext uri="{FF2B5EF4-FFF2-40B4-BE49-F238E27FC236}">
                <a16:creationId xmlns:a16="http://schemas.microsoft.com/office/drawing/2014/main" id="{15A8B288-0C3C-446D-9E2C-3D70B6039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478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visual-12-3-p12-t1">
            <a:extLst xmlns:a="http://schemas.openxmlformats.org/drawingml/2006/main">
              <a:ext uri="{FF2B5EF4-FFF2-40B4-BE49-F238E27FC236}">
                <a16:creationId xmlns:a16="http://schemas.microsoft.com/office/drawing/2014/main" id="{D94DB6D4-2F88-4D02-8A70-3D918F10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907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“共同主张”真的出现在每条引用原文中？</a:t>
            </a:r>
          </a:p>
        </p:txBody>
      </p:sp>
      <p:sp>
        <p:nvSpPr>
          <p:cNvPr id="10" name="visual-12-4-p12-n2">
            <a:extLst xmlns:a="http://schemas.openxmlformats.org/drawingml/2006/main">
              <a:ext uri="{FF2B5EF4-FFF2-40B4-BE49-F238E27FC236}">
                <a16:creationId xmlns:a16="http://schemas.microsoft.com/office/drawing/2014/main" id="{45A64DB3-399C-49C3-A43A-09F3848D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12-5-p12-t2">
            <a:extLst xmlns:a="http://schemas.openxmlformats.org/drawingml/2006/main">
              <a:ext uri="{FF2B5EF4-FFF2-40B4-BE49-F238E27FC236}">
                <a16:creationId xmlns:a16="http://schemas.microsoft.com/office/drawing/2014/main" id="{DDB7B710-A89F-49FF-A88A-2177CEB2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0985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“冲突”来自可比结论，还是任务设置不同？</a:t>
            </a:r>
          </a:p>
        </p:txBody>
      </p:sp>
      <p:sp>
        <p:nvSpPr>
          <p:cNvPr id="12" name="visual-12-6-p12-n3">
            <a:extLst xmlns:a="http://schemas.openxmlformats.org/drawingml/2006/main">
              <a:ext uri="{FF2B5EF4-FFF2-40B4-BE49-F238E27FC236}">
                <a16:creationId xmlns:a16="http://schemas.microsoft.com/office/drawing/2014/main" id="{5B8C5C5A-A7A6-48C5-BCDC-1E386D70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861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3" name="visual-12-7-p12-t3">
            <a:extLst xmlns:a="http://schemas.openxmlformats.org/drawingml/2006/main">
              <a:ext uri="{FF2B5EF4-FFF2-40B4-BE49-F238E27FC236}">
                <a16:creationId xmlns:a16="http://schemas.microsoft.com/office/drawing/2014/main" id="{C51CDB0F-72D6-4F5D-92F3-95D74D35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“缺角”经过窄检索确认，还是只凭当前列表？</a:t>
            </a:r>
          </a:p>
        </p:txBody>
      </p:sp>
      <p:sp>
        <p:nvSpPr>
          <p:cNvPr id="14" name="visual-12-8-p12-n4">
            <a:extLst xmlns:a="http://schemas.openxmlformats.org/drawingml/2006/main">
              <a:ext uri="{FF2B5EF4-FFF2-40B4-BE49-F238E27FC236}">
                <a16:creationId xmlns:a16="http://schemas.microsoft.com/office/drawing/2014/main" id="{AE31C3EF-C243-4CC5-9B84-DFEA1BE9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053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" name="visual-12-9-p12-t4">
            <a:extLst xmlns:a="http://schemas.openxmlformats.org/drawingml/2006/main">
              <a:ext uri="{FF2B5EF4-FFF2-40B4-BE49-F238E27FC236}">
                <a16:creationId xmlns:a16="http://schemas.microsoft.com/office/drawing/2014/main" id="{3553EAEE-CEEB-4C45-B685-FA14B414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综述段落是否把模型推断写成原文结论？</a:t>
            </a:r>
          </a:p>
        </p:txBody>
      </p:sp>
      <p:sp>
        <p:nvSpPr>
          <p:cNvPr id="16" name="visual-12-10-p12-status-h">
            <a:extLst xmlns:a="http://schemas.openxmlformats.org/drawingml/2006/main">
              <a:ext uri="{FF2B5EF4-FFF2-40B4-BE49-F238E27FC236}">
                <a16:creationId xmlns:a16="http://schemas.microsoft.com/office/drawing/2014/main" id="{44B0B3FC-C43F-4FC7-81F8-FF12DBAD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0668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核验状态</a:t>
            </a:r>
          </a:p>
        </p:txBody>
      </p:sp>
      <p:sp>
        <p:nvSpPr>
          <p:cNvPr id="17" name="visual-12-11-p12-s0">
            <a:extLst xmlns:a="http://schemas.openxmlformats.org/drawingml/2006/main">
              <a:ext uri="{FF2B5EF4-FFF2-40B4-BE49-F238E27FC236}">
                <a16:creationId xmlns:a16="http://schemas.microsoft.com/office/drawing/2014/main" id="{46E55589-7035-4B27-9B81-9FBD66F0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pending</a:t>
            </a:r>
          </a:p>
        </p:txBody>
      </p:sp>
      <p:sp>
        <p:nvSpPr>
          <p:cNvPr id="18" name="visual-12-12-p12-s1">
            <a:extLst xmlns:a="http://schemas.openxmlformats.org/drawingml/2006/main">
              <a:ext uri="{FF2B5EF4-FFF2-40B4-BE49-F238E27FC236}">
                <a16:creationId xmlns:a16="http://schemas.microsoft.com/office/drawing/2014/main" id="{90BA5355-132B-4F12-AAA7-6F0C4562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717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verified</a:t>
            </a:r>
          </a:p>
        </p:txBody>
      </p:sp>
      <p:sp>
        <p:nvSpPr>
          <p:cNvPr id="19" name="visual-12-13-p12-s2">
            <a:extLst xmlns:a="http://schemas.openxmlformats.org/drawingml/2006/main">
              <a:ext uri="{FF2B5EF4-FFF2-40B4-BE49-F238E27FC236}">
                <a16:creationId xmlns:a16="http://schemas.microsoft.com/office/drawing/2014/main" id="{21FB585A-7E7A-47F4-8CE8-F8235C98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528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verified-with-caveat</a:t>
            </a:r>
          </a:p>
        </p:txBody>
      </p:sp>
      <p:sp>
        <p:nvSpPr>
          <p:cNvPr id="20" name="visual-12-14-p12-s3">
            <a:extLst xmlns:a="http://schemas.openxmlformats.org/drawingml/2006/main">
              <a:ext uri="{FF2B5EF4-FFF2-40B4-BE49-F238E27FC236}">
                <a16:creationId xmlns:a16="http://schemas.microsoft.com/office/drawing/2014/main" id="{6EA752A8-49AC-4960-8F20-92262A3D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338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rejected</a:t>
            </a:r>
          </a:p>
        </p:txBody>
      </p:sp>
      <p:sp>
        <p:nvSpPr>
          <p:cNvPr id="21" name="visual-12-15-p12-bottom">
            <a:extLst xmlns:a="http://schemas.openxmlformats.org/drawingml/2006/main">
              <a:ext uri="{FF2B5EF4-FFF2-40B4-BE49-F238E27FC236}">
                <a16:creationId xmlns:a16="http://schemas.microsoft.com/office/drawing/2014/main" id="{1D2824C9-81C5-4F82-8AA4-34D5340E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105400"/>
            <a:ext cx="899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pending 仅线索区｜caveat 必须保留限定且不可单独支撑 stable｜rejected 仅审计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MI 演示：阅读卡 → 因果证据矩阵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visual-13-0-p13-real">
            <a:extLst xmlns:a="http://schemas.openxmlformats.org/drawingml/2006/main">
              <a:ext uri="{FF2B5EF4-FFF2-40B4-BE49-F238E27FC236}">
                <a16:creationId xmlns:a16="http://schemas.microsoft.com/office/drawing/2014/main" id="{152C6227-1AE8-4001-B0B2-836BBE0E7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57250"/>
            <a:ext cx="742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真实论文证据｜位置已在 L4 阅读卡核验</a:t>
            </a:r>
          </a:p>
        </p:txBody>
      </p:sp>
      <p:sp>
        <p:nvSpPr>
          <p:cNvPr id="7" name="visual-13-1-p13-question">
            <a:extLst xmlns:a="http://schemas.openxmlformats.org/drawingml/2006/main">
              <a:ext uri="{FF2B5EF4-FFF2-40B4-BE49-F238E27FC236}">
                <a16:creationId xmlns:a16="http://schemas.microsoft.com/office/drawing/2014/main" id="{C124F79B-CC1D-4C08-9C63-B49F15EB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SAE 特征能否更稀疏地定位并干预 IOI 行为；patching 成功还缺什么证据？</a:t>
            </a:r>
          </a:p>
        </p:txBody>
      </p:sp>
      <p:sp>
        <p:nvSpPr>
          <p:cNvPr id="8" name="visual-13-2-p13-matrix-h-0">
            <a:extLst xmlns:a="http://schemas.openxmlformats.org/drawingml/2006/main">
              <a:ext uri="{FF2B5EF4-FFF2-40B4-BE49-F238E27FC236}">
                <a16:creationId xmlns:a16="http://schemas.microsoft.com/office/drawing/2014/main" id="{7E16FAEB-CE37-4DF1-BAF3-54D2706E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9" name="visual-13-3-p13-matrix-h-1">
            <a:extLst xmlns:a="http://schemas.openxmlformats.org/drawingml/2006/main">
              <a:ext uri="{FF2B5EF4-FFF2-40B4-BE49-F238E27FC236}">
                <a16:creationId xmlns:a16="http://schemas.microsoft.com/office/drawing/2014/main" id="{8FA8DBEB-832E-43C5-BF44-8A292F33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4787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 / 对照</a:t>
            </a:r>
          </a:p>
        </p:txBody>
      </p:sp>
      <p:sp>
        <p:nvSpPr>
          <p:cNvPr id="10" name="visual-13-4-p13-matrix-h-2">
            <a:extLst xmlns:a="http://schemas.openxmlformats.org/drawingml/2006/main">
              <a:ext uri="{FF2B5EF4-FFF2-40B4-BE49-F238E27FC236}">
                <a16:creationId xmlns:a16="http://schemas.microsoft.com/office/drawing/2014/main" id="{EFE54F6F-08E7-4435-9B10-2B1D5C46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4787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结果角色</a:t>
            </a:r>
          </a:p>
        </p:txBody>
      </p:sp>
      <p:sp>
        <p:nvSpPr>
          <p:cNvPr id="11" name="visual-13-5-p13-matrix-h-3">
            <a:extLst xmlns:a="http://schemas.openxmlformats.org/drawingml/2006/main">
              <a:ext uri="{FF2B5EF4-FFF2-40B4-BE49-F238E27FC236}">
                <a16:creationId xmlns:a16="http://schemas.microsoft.com/office/drawing/2014/main" id="{9C027430-F1E2-4AD5-B11A-1355F5B9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478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不能直接推出</a:t>
            </a:r>
          </a:p>
        </p:txBody>
      </p:sp>
      <p:sp>
        <p:nvSpPr>
          <p:cNvPr id="12" name="visual-13-6-p13-matrix-r0-0">
            <a:extLst xmlns:a="http://schemas.openxmlformats.org/drawingml/2006/main">
              <a:ext uri="{FF2B5EF4-FFF2-40B4-BE49-F238E27FC236}">
                <a16:creationId xmlns:a16="http://schemas.microsoft.com/office/drawing/2014/main" id="{29FFEC74-7D9C-41C2-B6F3-43EB64F5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95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C02</a:t>
            </a:r>
          </a:p>
        </p:txBody>
      </p:sp>
      <p:sp>
        <p:nvSpPr>
          <p:cNvPr id="13" name="visual-13-7-p13-matrix-r0-1">
            <a:extLst xmlns:a="http://schemas.openxmlformats.org/drawingml/2006/main">
              <a:ext uri="{FF2B5EF4-FFF2-40B4-BE49-F238E27FC236}">
                <a16:creationId xmlns:a16="http://schemas.microsoft.com/office/drawing/2014/main" id="{5C577A1E-5201-43AE-B128-0A3EE2C0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4792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Pythia-410M IOI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SAE vs PCA</a:t>
            </a:r>
          </a:p>
        </p:txBody>
      </p:sp>
      <p:sp>
        <p:nvSpPr>
          <p:cNvPr id="14" name="visual-13-8-p13-matrix-r0-2">
            <a:extLst xmlns:a="http://schemas.openxmlformats.org/drawingml/2006/main">
              <a:ext uri="{FF2B5EF4-FFF2-40B4-BE49-F238E27FC236}">
                <a16:creationId xmlns:a16="http://schemas.microsoft.com/office/drawing/2014/main" id="{790CC39F-02C5-4C1E-9B46-9D38D533D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47925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正向：更少 patch、较小编辑量</a:t>
            </a:r>
          </a:p>
        </p:txBody>
      </p:sp>
      <p:sp>
        <p:nvSpPr>
          <p:cNvPr id="15" name="visual-13-9-p13-matrix-r0-3">
            <a:extLst xmlns:a="http://schemas.openxmlformats.org/drawingml/2006/main">
              <a:ext uri="{FF2B5EF4-FFF2-40B4-BE49-F238E27FC236}">
                <a16:creationId xmlns:a16="http://schemas.microsoft.com/office/drawing/2014/main" id="{1A88CF4D-05D0-41BB-B032-B81E6FA8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47925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跨任务、因果忠实</a:t>
            </a:r>
          </a:p>
        </p:txBody>
      </p:sp>
      <p:sp>
        <p:nvSpPr>
          <p:cNvPr id="16" name="visual-13-10-p13-matrix-r1-0">
            <a:extLst xmlns:a="http://schemas.openxmlformats.org/drawingml/2006/main">
              <a:ext uri="{FF2B5EF4-FFF2-40B4-BE49-F238E27FC236}">
                <a16:creationId xmlns:a16="http://schemas.microsoft.com/office/drawing/2014/main" id="{1A816FCD-BCB9-44C9-AA13-4B19FD10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38475"/>
            <a:ext cx="95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C16</a:t>
            </a:r>
          </a:p>
        </p:txBody>
      </p:sp>
      <p:sp>
        <p:nvSpPr>
          <p:cNvPr id="17" name="visual-13-11-p13-matrix-r1-1">
            <a:extLst xmlns:a="http://schemas.openxmlformats.org/drawingml/2006/main">
              <a:ext uri="{FF2B5EF4-FFF2-40B4-BE49-F238E27FC236}">
                <a16:creationId xmlns:a16="http://schemas.microsoft.com/office/drawing/2014/main" id="{676E6FDD-490B-4A9D-AA50-C10B594E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3847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GPT2-small IOI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SAE vs 监督字典</a:t>
            </a:r>
          </a:p>
        </p:txBody>
      </p:sp>
      <p:sp>
        <p:nvSpPr>
          <p:cNvPr id="18" name="visual-13-12-p13-matrix-r1-2">
            <a:extLst xmlns:a="http://schemas.openxmlformats.org/drawingml/2006/main">
              <a:ext uri="{FF2B5EF4-FFF2-40B4-BE49-F238E27FC236}">
                <a16:creationId xmlns:a16="http://schemas.microsoft.com/office/drawing/2014/main" id="{DADC5F43-8913-4C43-97AA-956F968B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38475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限制：解释性与控制性分离</a:t>
            </a:r>
          </a:p>
        </p:txBody>
      </p:sp>
      <p:sp>
        <p:nvSpPr>
          <p:cNvPr id="19" name="visual-13-13-p13-matrix-r1-3">
            <a:extLst xmlns:a="http://schemas.openxmlformats.org/drawingml/2006/main">
              <a:ext uri="{FF2B5EF4-FFF2-40B4-BE49-F238E27FC236}">
                <a16:creationId xmlns:a16="http://schemas.microsoft.com/office/drawing/2014/main" id="{B2C60510-9391-4020-AC51-7E85F6AE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38475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SAE 普遍无效</a:t>
            </a:r>
          </a:p>
        </p:txBody>
      </p:sp>
      <p:sp>
        <p:nvSpPr>
          <p:cNvPr id="20" name="visual-13-14-p13-matrix-r2-0">
            <a:extLst xmlns:a="http://schemas.openxmlformats.org/drawingml/2006/main">
              <a:ext uri="{FF2B5EF4-FFF2-40B4-BE49-F238E27FC236}">
                <a16:creationId xmlns:a16="http://schemas.microsoft.com/office/drawing/2014/main" id="{301D4D52-9343-4933-ADE9-A4A61CD7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29025"/>
            <a:ext cx="95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C31</a:t>
            </a:r>
          </a:p>
        </p:txBody>
      </p:sp>
      <p:sp>
        <p:nvSpPr>
          <p:cNvPr id="21" name="visual-13-15-p13-matrix-r2-1">
            <a:extLst xmlns:a="http://schemas.openxmlformats.org/drawingml/2006/main">
              <a:ext uri="{FF2B5EF4-FFF2-40B4-BE49-F238E27FC236}">
                <a16:creationId xmlns:a16="http://schemas.microsoft.com/office/drawing/2014/main" id="{37837501-C260-40D3-99CF-FC635A86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2902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IOI / fact editing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subspace patching</a:t>
            </a:r>
          </a:p>
        </p:txBody>
      </p:sp>
      <p:sp>
        <p:nvSpPr>
          <p:cNvPr id="22" name="visual-13-16-p13-matrix-r2-2">
            <a:extLst xmlns:a="http://schemas.openxmlformats.org/drawingml/2006/main">
              <a:ext uri="{FF2B5EF4-FFF2-40B4-BE49-F238E27FC236}">
                <a16:creationId xmlns:a16="http://schemas.microsoft.com/office/drawing/2014/main" id="{CD61147B-0B48-4812-86A3-0C67D3D5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29025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威胁：dormant pathway</a:t>
            </a:r>
          </a:p>
        </p:txBody>
      </p:sp>
      <p:sp>
        <p:nvSpPr>
          <p:cNvPr id="23" name="visual-13-17-p13-matrix-r2-3">
            <a:extLst xmlns:a="http://schemas.openxmlformats.org/drawingml/2006/main">
              <a:ext uri="{FF2B5EF4-FFF2-40B4-BE49-F238E27FC236}">
                <a16:creationId xmlns:a16="http://schemas.microsoft.com/office/drawing/2014/main" id="{AFB165AD-12A0-4955-A4C9-1F2F0D3A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29025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所有 patching 都是幻象</a:t>
            </a:r>
          </a:p>
        </p:txBody>
      </p:sp>
      <p:sp>
        <p:nvSpPr>
          <p:cNvPr id="24" name="visual-13-18-p13-matrix-r3-0">
            <a:extLst xmlns:a="http://schemas.openxmlformats.org/drawingml/2006/main">
              <a:ext uri="{FF2B5EF4-FFF2-40B4-BE49-F238E27FC236}">
                <a16:creationId xmlns:a16="http://schemas.microsoft.com/office/drawing/2014/main" id="{C3F338AD-BCE8-4ED0-8AC6-B165BE43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9575"/>
            <a:ext cx="95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C18</a:t>
            </a:r>
          </a:p>
        </p:txBody>
      </p:sp>
      <p:sp>
        <p:nvSpPr>
          <p:cNvPr id="25" name="visual-13-19-p13-matrix-r3-1">
            <a:extLst xmlns:a="http://schemas.openxmlformats.org/drawingml/2006/main">
              <a:ext uri="{FF2B5EF4-FFF2-40B4-BE49-F238E27FC236}">
                <a16:creationId xmlns:a16="http://schemas.microsoft.com/office/drawing/2014/main" id="{9A153D5D-16E6-45E3-B32C-CD7CC21B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1957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SAE 评估框架</a:t>
            </a:r>
          </a:p>
        </p:txBody>
      </p:sp>
      <p:sp>
        <p:nvSpPr>
          <p:cNvPr id="26" name="visual-13-20-p13-matrix-r3-2">
            <a:extLst xmlns:a="http://schemas.openxmlformats.org/drawingml/2006/main">
              <a:ext uri="{FF2B5EF4-FFF2-40B4-BE49-F238E27FC236}">
                <a16:creationId xmlns:a16="http://schemas.microsoft.com/office/drawing/2014/main" id="{FB3C8BA9-3F9D-41DE-96D8-BE25CE7A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19575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评价维度：下游效应稀疏性</a:t>
            </a:r>
          </a:p>
        </p:txBody>
      </p:sp>
      <p:sp>
        <p:nvSpPr>
          <p:cNvPr id="27" name="visual-13-21-p13-matrix-r3-3">
            <a:extLst xmlns:a="http://schemas.openxmlformats.org/drawingml/2006/main">
              <a:ext uri="{FF2B5EF4-FFF2-40B4-BE49-F238E27FC236}">
                <a16:creationId xmlns:a16="http://schemas.microsoft.com/office/drawing/2014/main" id="{E8D171A4-BB01-4ACD-9F60-01BECD8B2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19575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本案例已完成验证</a:t>
            </a:r>
          </a:p>
        </p:txBody>
      </p:sp>
      <p:sp>
        <p:nvSpPr>
          <p:cNvPr id="28" name="visual-13-22-p13-matrix-r4-0">
            <a:extLst xmlns:a="http://schemas.openxmlformats.org/drawingml/2006/main">
              <a:ext uri="{FF2B5EF4-FFF2-40B4-BE49-F238E27FC236}">
                <a16:creationId xmlns:a16="http://schemas.microsoft.com/office/drawing/2014/main" id="{F997B702-B6A7-4199-A82E-B15A81DB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95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C05</a:t>
            </a:r>
          </a:p>
        </p:txBody>
      </p:sp>
      <p:sp>
        <p:nvSpPr>
          <p:cNvPr id="29" name="visual-13-23-p13-matrix-r4-1">
            <a:extLst xmlns:a="http://schemas.openxmlformats.org/drawingml/2006/main">
              <a:ext uri="{FF2B5EF4-FFF2-40B4-BE49-F238E27FC236}">
                <a16:creationId xmlns:a16="http://schemas.microsoft.com/office/drawing/2014/main" id="{53C2E42C-AA17-4CA5-ACD2-FDA3D32A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1012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sparse feature circuits</a:t>
            </a:r>
          </a:p>
        </p:txBody>
      </p:sp>
      <p:sp>
        <p:nvSpPr>
          <p:cNvPr id="30" name="visual-13-24-p13-matrix-r4-2">
            <a:extLst xmlns:a="http://schemas.openxmlformats.org/drawingml/2006/main">
              <a:ext uri="{FF2B5EF4-FFF2-40B4-BE49-F238E27FC236}">
                <a16:creationId xmlns:a16="http://schemas.microsoft.com/office/drawing/2014/main" id="{A969E06F-DDD8-43B3-8EBF-067B584C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10125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补充：faithfulness / completeness</a:t>
            </a:r>
          </a:p>
        </p:txBody>
      </p:sp>
      <p:sp>
        <p:nvSpPr>
          <p:cNvPr id="31" name="visual-13-25-p13-matrix-r4-3">
            <a:extLst xmlns:a="http://schemas.openxmlformats.org/drawingml/2006/main">
              <a:ext uri="{FF2B5EF4-FFF2-40B4-BE49-F238E27FC236}">
                <a16:creationId xmlns:a16="http://schemas.microsoft.com/office/drawing/2014/main" id="{C1EFA8E4-BBF0-49F5-B596-EE382D23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10125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与 C02 同设置复现</a:t>
            </a:r>
          </a:p>
        </p:txBody>
      </p:sp>
      <p:sp>
        <p:nvSpPr>
          <p:cNvPr id="32" name="visual-13-26-p13-bottom">
            <a:extLst xmlns:a="http://schemas.openxmlformats.org/drawingml/2006/main">
              <a:ext uri="{FF2B5EF4-FFF2-40B4-BE49-F238E27FC236}">
                <a16:creationId xmlns:a16="http://schemas.microsoft.com/office/drawing/2014/main" id="{251E4B82-0BFF-4583-B181-47FFEED5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638800"/>
            <a:ext cx="828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矩阵按主张与证据角色组织，不按论文顺序堆摘要。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MI 演示：支持、限制、冲突与空白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pic>
        <p:nvPicPr>
          <p:cNvPr id="25" name="p14-mi-map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2f418bd344490"/>
          <a:stretch xmlns:a="http://schemas.openxmlformats.org/drawingml/2006/main"/>
        </p:blipFill>
        <p:spPr>
          <a:xfrm xmlns:a="http://schemas.openxmlformats.org/drawingml/2006/main">
            <a:off x="381000" y="1000125"/>
            <a:ext cx="7239000" cy="4629150"/>
          </a:xfrm>
          <a:prstGeom xmlns:a="http://schemas.openxmlformats.org/drawingml/2006/main" prst="rect">
            <a:avLst/>
          </a:prstGeom>
        </p:spPr>
      </p:pic>
      <p:sp>
        <p:nvSpPr>
          <p:cNvPr id="10" name="p14-status">
            <a:extLst xmlns:a="http://schemas.openxmlformats.org/drawingml/2006/main">
              <a:ext uri="{FF2B5EF4-FFF2-40B4-BE49-F238E27FC236}">
                <a16:creationId xmlns:a16="http://schemas.microsoft.com/office/drawing/2014/main" id="{56279C2A-09F1-475B-B8AE-76D75AE3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057275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当前综合状态 · review</a:t>
            </a:r>
          </a:p>
        </p:txBody>
      </p:sp>
      <p:sp>
        <p:nvSpPr>
          <p:cNvPr id="11" name="p14-label-0">
            <a:extLst xmlns:a="http://schemas.openxmlformats.org/drawingml/2006/main">
              <a:ext uri="{FF2B5EF4-FFF2-40B4-BE49-F238E27FC236}">
                <a16:creationId xmlns:a16="http://schemas.microsoft.com/office/drawing/2014/main" id="{0CC9A57F-FA00-41B7-BF3D-2B0ADCA2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24025"/>
            <a:ext cx="1000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支持</a:t>
            </a:r>
          </a:p>
        </p:txBody>
      </p:sp>
      <p:sp>
        <p:nvSpPr>
          <p:cNvPr id="12" name="p14-value-0">
            <a:extLst xmlns:a="http://schemas.openxmlformats.org/drawingml/2006/main">
              <a:ext uri="{FF2B5EF4-FFF2-40B4-BE49-F238E27FC236}">
                <a16:creationId xmlns:a16="http://schemas.microsoft.com/office/drawing/2014/main" id="{FAD6E9B1-A346-4025-B2EA-EE497370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724025"/>
            <a:ext cx="2619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C02：足以启动同设置最小复现</a:t>
            </a:r>
          </a:p>
        </p:txBody>
      </p:sp>
      <p:sp>
        <p:nvSpPr>
          <p:cNvPr id="13" name="p14-sep-0">
            <a:extLst xmlns:a="http://schemas.openxmlformats.org/drawingml/2006/main">
              <a:ext uri="{FF2B5EF4-FFF2-40B4-BE49-F238E27FC236}">
                <a16:creationId xmlns:a16="http://schemas.microsoft.com/office/drawing/2014/main" id="{604E6435-8E81-4453-827D-A3B86B91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05075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4" name="p14-label-1">
            <a:extLst xmlns:a="http://schemas.openxmlformats.org/drawingml/2006/main">
              <a:ext uri="{FF2B5EF4-FFF2-40B4-BE49-F238E27FC236}">
                <a16:creationId xmlns:a16="http://schemas.microsoft.com/office/drawing/2014/main" id="{C66F5A58-262A-4189-8A06-1328AE0D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28900"/>
            <a:ext cx="1000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限制</a:t>
            </a:r>
          </a:p>
        </p:txBody>
      </p:sp>
      <p:sp>
        <p:nvSpPr>
          <p:cNvPr id="15" name="p14-value-1">
            <a:extLst xmlns:a="http://schemas.openxmlformats.org/drawingml/2006/main">
              <a:ext uri="{FF2B5EF4-FFF2-40B4-BE49-F238E27FC236}">
                <a16:creationId xmlns:a16="http://schemas.microsoft.com/office/drawing/2014/main" id="{6E35A442-BDB2-4951-869E-D66D3747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628900"/>
            <a:ext cx="2619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C16：可解释 ≠ 可控制</a:t>
            </a:r>
          </a:p>
        </p:txBody>
      </p:sp>
      <p:sp>
        <p:nvSpPr>
          <p:cNvPr id="16" name="p14-sep-1">
            <a:extLst xmlns:a="http://schemas.openxmlformats.org/drawingml/2006/main">
              <a:ext uri="{FF2B5EF4-FFF2-40B4-BE49-F238E27FC236}">
                <a16:creationId xmlns:a16="http://schemas.microsoft.com/office/drawing/2014/main" id="{76071FD2-BF97-4408-9363-09667258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0995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7" name="p14-label-2">
            <a:extLst xmlns:a="http://schemas.openxmlformats.org/drawingml/2006/main">
              <a:ext uri="{FF2B5EF4-FFF2-40B4-BE49-F238E27FC236}">
                <a16:creationId xmlns:a16="http://schemas.microsoft.com/office/drawing/2014/main" id="{5B0CA1B4-55B8-411E-97A7-CF07F591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33775"/>
            <a:ext cx="1000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效度威胁</a:t>
            </a:r>
          </a:p>
        </p:txBody>
      </p:sp>
      <p:sp>
        <p:nvSpPr>
          <p:cNvPr id="18" name="p14-value-2">
            <a:extLst xmlns:a="http://schemas.openxmlformats.org/drawingml/2006/main">
              <a:ext uri="{FF2B5EF4-FFF2-40B4-BE49-F238E27FC236}">
                <a16:creationId xmlns:a16="http://schemas.microsoft.com/office/drawing/2014/main" id="{6B8C7465-28BC-4DA6-90AA-D035BAF4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533775"/>
            <a:ext cx="2619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C31：patching success ≠ causal faithfulness</a:t>
            </a:r>
          </a:p>
        </p:txBody>
      </p:sp>
      <p:sp>
        <p:nvSpPr>
          <p:cNvPr id="19" name="p14-sep-2">
            <a:extLst xmlns:a="http://schemas.openxmlformats.org/drawingml/2006/main">
              <a:ext uri="{FF2B5EF4-FFF2-40B4-BE49-F238E27FC236}">
                <a16:creationId xmlns:a16="http://schemas.microsoft.com/office/drawing/2014/main" id="{612DEF05-1267-4161-9385-41867E21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14825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0" name="p14-label-3">
            <a:extLst xmlns:a="http://schemas.openxmlformats.org/drawingml/2006/main">
              <a:ext uri="{FF2B5EF4-FFF2-40B4-BE49-F238E27FC236}">
                <a16:creationId xmlns:a16="http://schemas.microsoft.com/office/drawing/2014/main" id="{DAEB58F2-1449-4EE9-B250-B6CA9225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38650"/>
            <a:ext cx="1000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空白</a:t>
            </a:r>
          </a:p>
        </p:txBody>
      </p:sp>
      <p:sp>
        <p:nvSpPr>
          <p:cNvPr id="21" name="p14-value-3">
            <a:extLst xmlns:a="http://schemas.openxmlformats.org/drawingml/2006/main">
              <a:ext uri="{FF2B5EF4-FFF2-40B4-BE49-F238E27FC236}">
                <a16:creationId xmlns:a16="http://schemas.microsoft.com/office/drawing/2014/main" id="{99937989-1AB8-4CB3-812D-717FCA24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438650"/>
            <a:ext cx="2619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同设置重构敏感性、held-out、正常路径证据</a:t>
            </a:r>
          </a:p>
        </p:txBody>
      </p:sp>
      <p:sp>
        <p:nvSpPr>
          <p:cNvPr id="22" name="source">
            <a:extLst xmlns:a="http://schemas.openxmlformats.org/drawingml/2006/main">
              <a:ext uri="{FF2B5EF4-FFF2-40B4-BE49-F238E27FC236}">
                <a16:creationId xmlns:a16="http://schemas.microsoft.com/office/drawing/2014/main" id="{6B7ACF67-BEDB-4B0F-9609-D55567D2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课程证据地图：C02 / C05 / C16 / C18 / C31 · 关系为课程综合，不表示可合并效应量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MI 演示：四句受限 mini review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visual-15-0-p15-h0">
            <a:extLst xmlns:a="http://schemas.openxmlformats.org/drawingml/2006/main">
              <a:ext uri="{FF2B5EF4-FFF2-40B4-BE49-F238E27FC236}">
                <a16:creationId xmlns:a16="http://schemas.microsoft.com/office/drawing/2014/main" id="{FEA2CA58-8D8A-461B-AE4F-26EB4787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1 范围</a:t>
            </a:r>
          </a:p>
        </p:txBody>
      </p:sp>
      <p:sp>
        <p:nvSpPr>
          <p:cNvPr id="7" name="visual-15-1-p15-s0">
            <a:extLst xmlns:a="http://schemas.openxmlformats.org/drawingml/2006/main">
              <a:ext uri="{FF2B5EF4-FFF2-40B4-BE49-F238E27FC236}">
                <a16:creationId xmlns:a16="http://schemas.microsoft.com/office/drawing/2014/main" id="{FAC87764-5A6C-4BFA-8BB3-F4422249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990600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在 Pythia-410M 的 IOI 设置中，考察 SAE 特征相对 PCA 的稀疏定位与行为干预。</a:t>
            </a:r>
          </a:p>
        </p:txBody>
      </p:sp>
      <p:sp>
        <p:nvSpPr>
          <p:cNvPr id="8" name="visual-15-2-p15-h1">
            <a:extLst xmlns:a="http://schemas.openxmlformats.org/drawingml/2006/main">
              <a:ext uri="{FF2B5EF4-FFF2-40B4-BE49-F238E27FC236}">
                <a16:creationId xmlns:a16="http://schemas.microsoft.com/office/drawing/2014/main" id="{3E1429BD-ABC1-47C8-AC6F-A7A9A249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 直接证据</a:t>
            </a:r>
          </a:p>
        </p:txBody>
      </p:sp>
      <p:sp>
        <p:nvSpPr>
          <p:cNvPr id="9" name="visual-15-3-p15-s1">
            <a:extLst xmlns:a="http://schemas.openxmlformats.org/drawingml/2006/main">
              <a:ext uri="{FF2B5EF4-FFF2-40B4-BE49-F238E27FC236}">
                <a16:creationId xmlns:a16="http://schemas.microsoft.com/office/drawing/2014/main" id="{AD3ED9C6-6254-45E0-9006-5418B980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95500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C02 报告：相同 KL 下 SAE 需要更少 patch 与更小 edit magnitude。</a:t>
            </a:r>
          </a:p>
        </p:txBody>
      </p:sp>
      <p:sp>
        <p:nvSpPr>
          <p:cNvPr id="10" name="visual-15-4-p15-h2">
            <a:extLst xmlns:a="http://schemas.openxmlformats.org/drawingml/2006/main">
              <a:ext uri="{FF2B5EF4-FFF2-40B4-BE49-F238E27FC236}">
                <a16:creationId xmlns:a16="http://schemas.microsoft.com/office/drawing/2014/main" id="{E8BFAD60-49CB-4C0F-B5EB-AE6BE188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3 限制 / 威胁</a:t>
            </a:r>
          </a:p>
        </p:txBody>
      </p:sp>
      <p:sp>
        <p:nvSpPr>
          <p:cNvPr id="11" name="visual-15-5-p15-s2">
            <a:extLst xmlns:a="http://schemas.openxmlformats.org/drawingml/2006/main">
              <a:ext uri="{FF2B5EF4-FFF2-40B4-BE49-F238E27FC236}">
                <a16:creationId xmlns:a16="http://schemas.microsoft.com/office/drawing/2014/main" id="{C8781942-CD9A-4D93-8466-93D174F8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00400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C16 显示解释性与控制性可分离；C31 显示 patching 可能借道 dormant pathway。</a:t>
            </a:r>
          </a:p>
        </p:txBody>
      </p:sp>
      <p:sp>
        <p:nvSpPr>
          <p:cNvPr id="12" name="visual-15-6-p15-h3">
            <a:extLst xmlns:a="http://schemas.openxmlformats.org/drawingml/2006/main">
              <a:ext uri="{FF2B5EF4-FFF2-40B4-BE49-F238E27FC236}">
                <a16:creationId xmlns:a16="http://schemas.microsoft.com/office/drawing/2014/main" id="{7304EEC2-F489-4C44-90E1-5A888BD2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4 缺口 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</p:txBody>
      </p:sp>
      <p:sp>
        <p:nvSpPr>
          <p:cNvPr id="13" name="visual-15-7-p15-s3">
            <a:extLst xmlns:a="http://schemas.openxmlformats.org/drawingml/2006/main">
              <a:ext uri="{FF2B5EF4-FFF2-40B4-BE49-F238E27FC236}">
                <a16:creationId xmlns:a16="http://schemas.microsoft.com/office/drawing/2014/main" id="{AFA1F934-DFDB-45F9-BB02-0E4ADC0DF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305300"/>
            <a:ext cx="876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因此仍需同设置 baseline、重构误差与控制性检查，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才能评价因果忠实。</a:t>
            </a:r>
          </a:p>
        </p:txBody>
      </p:sp>
      <p:sp>
        <p:nvSpPr>
          <p:cNvPr id="14" name="visual-15-8-p15-bottom">
            <a:extLst xmlns:a="http://schemas.openxmlformats.org/drawingml/2006/main">
              <a:ext uri="{FF2B5EF4-FFF2-40B4-BE49-F238E27FC236}">
                <a16:creationId xmlns:a16="http://schemas.microsoft.com/office/drawing/2014/main" id="{9EC85EE3-D33D-4356-B8D5-806D7FE7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状态：review｜可驱动问题与 baseline；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不可写成“SAE 已被证明因果忠实”。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MI 演示：把失败写回证据地图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visual-16-0-p16-h0">
            <a:extLst xmlns:a="http://schemas.openxmlformats.org/drawingml/2006/main">
              <a:ext uri="{FF2B5EF4-FFF2-40B4-BE49-F238E27FC236}">
                <a16:creationId xmlns:a16="http://schemas.microsoft.com/office/drawing/2014/main" id="{78432763-7B0F-44EC-8BC3-6CF2F357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9537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 / 死路</a:t>
            </a:r>
          </a:p>
        </p:txBody>
      </p:sp>
      <p:sp>
        <p:nvSpPr>
          <p:cNvPr id="7" name="visual-16-1-p16-b0">
            <a:extLst xmlns:a="http://schemas.openxmlformats.org/drawingml/2006/main">
              <a:ext uri="{FF2B5EF4-FFF2-40B4-BE49-F238E27FC236}">
                <a16:creationId xmlns:a16="http://schemas.microsoft.com/office/drawing/2014/main" id="{FD4B8253-978E-4BCF-BE7E-18264B7F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1095375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把 patching 成功直接写成因果忠实</a:t>
            </a:r>
          </a:p>
        </p:txBody>
      </p:sp>
      <p:sp>
        <p:nvSpPr>
          <p:cNvPr id="8" name="visual-16-2-p16-h1">
            <a:extLst xmlns:a="http://schemas.openxmlformats.org/drawingml/2006/main">
              <a:ext uri="{FF2B5EF4-FFF2-40B4-BE49-F238E27FC236}">
                <a16:creationId xmlns:a16="http://schemas.microsoft.com/office/drawing/2014/main" id="{47F421DF-02C4-4FBC-BDAF-1A9F6F5F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9" name="visual-16-3-p16-b1">
            <a:extLst xmlns:a="http://schemas.openxmlformats.org/drawingml/2006/main">
              <a:ext uri="{FF2B5EF4-FFF2-40B4-BE49-F238E27FC236}">
                <a16:creationId xmlns:a16="http://schemas.microsoft.com/office/drawing/2014/main" id="{3F59C0CE-5D88-4A17-B0F0-A37BCE4C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076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行为差异可能来自重构误差、控制性不足或 dormant pathway</a:t>
            </a:r>
          </a:p>
        </p:txBody>
      </p:sp>
      <p:sp>
        <p:nvSpPr>
          <p:cNvPr id="10" name="visual-16-4-p16-h2">
            <a:extLst xmlns:a="http://schemas.openxmlformats.org/drawingml/2006/main">
              <a:ext uri="{FF2B5EF4-FFF2-40B4-BE49-F238E27FC236}">
                <a16:creationId xmlns:a16="http://schemas.microsoft.com/office/drawing/2014/main" id="{3D66532F-EE8B-4000-80B0-720DF6EE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5752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处理</a:t>
            </a:r>
          </a:p>
        </p:txBody>
      </p:sp>
      <p:sp>
        <p:nvSpPr>
          <p:cNvPr id="11" name="visual-16-5-p16-b2">
            <a:extLst xmlns:a="http://schemas.openxmlformats.org/drawingml/2006/main">
              <a:ext uri="{FF2B5EF4-FFF2-40B4-BE49-F238E27FC236}">
                <a16:creationId xmlns:a16="http://schemas.microsoft.com/office/drawing/2014/main" id="{A41A3BF3-3721-4ABD-A5B1-0C7FB1CD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057525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结论降级为 review；增加 PCA / 监督字典 / random feature 与 reconstruction checks</a:t>
            </a:r>
          </a:p>
        </p:txBody>
      </p:sp>
      <p:sp>
        <p:nvSpPr>
          <p:cNvPr id="12" name="visual-16-6-p16-h3">
            <a:extLst xmlns:a="http://schemas.openxmlformats.org/drawingml/2006/main">
              <a:ext uri="{FF2B5EF4-FFF2-40B4-BE49-F238E27FC236}">
                <a16:creationId xmlns:a16="http://schemas.microsoft.com/office/drawing/2014/main" id="{62AC1E0C-A219-4981-A91B-8FD705489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回写</a:t>
            </a:r>
          </a:p>
        </p:txBody>
      </p:sp>
      <p:sp>
        <p:nvSpPr>
          <p:cNvPr id="13" name="visual-16-7-p16-b3">
            <a:extLst xmlns:a="http://schemas.openxmlformats.org/drawingml/2006/main">
              <a:ext uri="{FF2B5EF4-FFF2-40B4-BE49-F238E27FC236}">
                <a16:creationId xmlns:a16="http://schemas.microsoft.com/office/drawing/2014/main" id="{FABEA243-952E-4AE5-AB1D-6EEB3D64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0386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evidence-map.md + failure-log.md + problem-definition.md</a:t>
            </a:r>
          </a:p>
        </p:txBody>
      </p:sp>
      <p:sp>
        <p:nvSpPr>
          <p:cNvPr id="14" name="visual-16-8-p16-bottom">
            <a:extLst xmlns:a="http://schemas.openxmlformats.org/drawingml/2006/main">
              <a:ext uri="{FF2B5EF4-FFF2-40B4-BE49-F238E27FC236}">
                <a16:creationId xmlns:a16="http://schemas.microsoft.com/office/drawing/2014/main" id="{AFC23E25-85EA-47E0-B018-EC504C57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981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CP1 要求真实发生的失败或被放弃方向；前瞻性的“如果失败就重试”不能替代。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个人实践：跑通一次综述结构重组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visual-17-0-minimum">
            <a:extLst xmlns:a="http://schemas.openxmlformats.org/drawingml/2006/main">
              <a:ext uri="{FF2B5EF4-FFF2-40B4-BE49-F238E27FC236}">
                <a16:creationId xmlns:a16="http://schemas.microsoft.com/office/drawing/2014/main" id="{F408980B-B894-4887-BCB9-AC12DFB0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763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课堂最低闭环</a:t>
            </a:r>
          </a:p>
        </p:txBody>
      </p:sp>
      <p:sp>
        <p:nvSpPr>
          <p:cNvPr id="7" name="visual-17-1-task-n-0">
            <a:extLst xmlns:a="http://schemas.openxmlformats.org/drawingml/2006/main">
              <a:ext uri="{FF2B5EF4-FFF2-40B4-BE49-F238E27FC236}">
                <a16:creationId xmlns:a16="http://schemas.microsoft.com/office/drawing/2014/main" id="{C3A14BC8-F04A-4DFE-90CE-0E762A3DA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visual-17-2-task-0">
            <a:extLst xmlns:a="http://schemas.openxmlformats.org/drawingml/2006/main">
              <a:ext uri="{FF2B5EF4-FFF2-40B4-BE49-F238E27FC236}">
                <a16:creationId xmlns:a16="http://schemas.microsoft.com/office/drawing/2014/main" id="{0C492F05-05F9-45EA-BB76-E2FCA25A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2875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只选 1 个子问题</a:t>
            </a:r>
          </a:p>
        </p:txBody>
      </p:sp>
      <p:sp>
        <p:nvSpPr>
          <p:cNvPr id="9" name="visual-17-3-task-n-1">
            <a:extLst xmlns:a="http://schemas.openxmlformats.org/drawingml/2006/main">
              <a:ext uri="{FF2B5EF4-FFF2-40B4-BE49-F238E27FC236}">
                <a16:creationId xmlns:a16="http://schemas.microsoft.com/office/drawing/2014/main" id="{755C75C8-03FD-4AEA-9AA4-99178FFF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524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visual-17-4-task-1">
            <a:extLst xmlns:a="http://schemas.openxmlformats.org/drawingml/2006/main">
              <a:ext uri="{FF2B5EF4-FFF2-40B4-BE49-F238E27FC236}">
                <a16:creationId xmlns:a16="http://schemas.microsoft.com/office/drawing/2014/main" id="{59FA76E9-98F9-4796-B0D8-506016B1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42875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选 2 张 verified / caveat 阅读卡</a:t>
            </a:r>
          </a:p>
        </p:txBody>
      </p:sp>
      <p:sp>
        <p:nvSpPr>
          <p:cNvPr id="11" name="visual-17-5-task-n-2">
            <a:extLst xmlns:a="http://schemas.openxmlformats.org/drawingml/2006/main">
              <a:ext uri="{FF2B5EF4-FFF2-40B4-BE49-F238E27FC236}">
                <a16:creationId xmlns:a16="http://schemas.microsoft.com/office/drawing/2014/main" id="{47AD9CAF-7625-4841-9DBD-4EB993E8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95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visual-17-6-task-2">
            <a:extLst xmlns:a="http://schemas.openxmlformats.org/drawingml/2006/main">
              <a:ext uri="{FF2B5EF4-FFF2-40B4-BE49-F238E27FC236}">
                <a16:creationId xmlns:a16="http://schemas.microsoft.com/office/drawing/2014/main" id="{78C5D20A-7D65-4CDE-A30A-4C274607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填 1 个窄矩阵，抽取 2 条证据主格</a:t>
            </a:r>
          </a:p>
        </p:txBody>
      </p:sp>
      <p:sp>
        <p:nvSpPr>
          <p:cNvPr id="13" name="visual-17-7-task-n-3">
            <a:extLst xmlns:a="http://schemas.openxmlformats.org/drawingml/2006/main">
              <a:ext uri="{FF2B5EF4-FFF2-40B4-BE49-F238E27FC236}">
                <a16:creationId xmlns:a16="http://schemas.microsoft.com/office/drawing/2014/main" id="{1A4E2125-0DE0-43CD-B307-0E5A54BA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95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17-8-task-3">
            <a:extLst xmlns:a="http://schemas.openxmlformats.org/drawingml/2006/main">
              <a:ext uri="{FF2B5EF4-FFF2-40B4-BE49-F238E27FC236}">
                <a16:creationId xmlns:a16="http://schemas.microsoft.com/office/drawing/2014/main" id="{E074D6E2-4063-46E4-AE45-8BC8232D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40030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 4 句 mini literature review</a:t>
            </a:r>
          </a:p>
        </p:txBody>
      </p:sp>
      <p:sp>
        <p:nvSpPr>
          <p:cNvPr id="15" name="visual-17-9-task-n-4">
            <a:extLst xmlns:a="http://schemas.openxmlformats.org/drawingml/2006/main">
              <a:ext uri="{FF2B5EF4-FFF2-40B4-BE49-F238E27FC236}">
                <a16:creationId xmlns:a16="http://schemas.microsoft.com/office/drawing/2014/main" id="{7C1DD1F7-1427-4E0E-B07B-D37B8EB8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671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6" name="visual-17-10-task-4">
            <a:extLst xmlns:a="http://schemas.openxmlformats.org/drawingml/2006/main">
              <a:ext uri="{FF2B5EF4-FFF2-40B4-BE49-F238E27FC236}">
                <a16:creationId xmlns:a16="http://schemas.microsoft.com/office/drawing/2014/main" id="{6D55DCE9-943A-411A-A233-B442C42A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7185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核验 1 条 AI 归纳并记日志</a:t>
            </a:r>
          </a:p>
        </p:txBody>
      </p:sp>
      <p:sp>
        <p:nvSpPr>
          <p:cNvPr id="17" name="visual-17-11-task-n-5">
            <a:extLst xmlns:a="http://schemas.openxmlformats.org/drawingml/2006/main">
              <a:ext uri="{FF2B5EF4-FFF2-40B4-BE49-F238E27FC236}">
                <a16:creationId xmlns:a16="http://schemas.microsoft.com/office/drawing/2014/main" id="{05D2CEAB-5466-48D4-8B77-E96A4B75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4671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8" name="visual-17-12-task-5">
            <a:extLst xmlns:a="http://schemas.openxmlformats.org/drawingml/2006/main">
              <a:ext uri="{FF2B5EF4-FFF2-40B4-BE49-F238E27FC236}">
                <a16:creationId xmlns:a16="http://schemas.microsoft.com/office/drawing/2014/main" id="{7AFC7F86-96D4-4D81-A6FC-E23050C1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7185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如出现空白：类型 + pending + 下一步窄检索 + 1 个候选题</a:t>
            </a:r>
          </a:p>
        </p:txBody>
      </p:sp>
      <p:sp>
        <p:nvSpPr>
          <p:cNvPr id="19" name="visual-17-13-choice">
            <a:extLst xmlns:a="http://schemas.openxmlformats.org/drawingml/2006/main">
              <a:ext uri="{FF2B5EF4-FFF2-40B4-BE49-F238E27FC236}">
                <a16:creationId xmlns:a16="http://schemas.microsoft.com/office/drawing/2014/main" id="{BB796D24-7669-4ECF-B86F-16F1B1A4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76750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选择顺序：本人真实问题 → 导师组公开问题 → 课程贯穿案例</a:t>
            </a:r>
          </a:p>
        </p:txBody>
      </p:sp>
      <p:sp>
        <p:nvSpPr>
          <p:cNvPr id="20" name="visual-17-14-boundary">
            <a:extLst xmlns:a="http://schemas.openxmlformats.org/drawingml/2006/main">
              <a:ext uri="{FF2B5EF4-FFF2-40B4-BE49-F238E27FC236}">
                <a16:creationId xmlns:a16="http://schemas.microsoft.com/office/drawing/2014/main" id="{F166CAD5-61FC-4DF1-9F71-6872C6C4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91125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先判断可比性；再复用同一组记录生成地图与四句综合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实践停留页：模板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left-label">
            <a:extLst xmlns:a="http://schemas.openxmlformats.org/drawingml/2006/main">
              <a:ext uri="{FF2B5EF4-FFF2-40B4-BE49-F238E27FC236}">
                <a16:creationId xmlns:a16="http://schemas.microsoft.com/office/drawing/2014/main" id="{262873AD-D1CC-476C-B186-2CC1A3D43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共享记录｜只输入一次</a:t>
            </a:r>
          </a:p>
        </p:txBody>
      </p:sp>
      <p:sp>
        <p:nvSpPr>
          <p:cNvPr id="7" name="p18-left">
            <a:extLst xmlns:a="http://schemas.openxmlformats.org/drawingml/2006/main">
              <a:ext uri="{FF2B5EF4-FFF2-40B4-BE49-F238E27FC236}">
                <a16:creationId xmlns:a16="http://schemas.microsoft.com/office/drawing/2014/main" id="{44B5DA64-D356-40F1-91A5-D4EBB157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4953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窄矩阵</a:t>
            </a:r>
          </a:p>
          <a:p xmlns:a="http://schemas.openxmlformats.org/drawingml/2006/main">
            <a:pPr algn="l">
              <a:lnSpc>
                <a:spcPct val="117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文献（核验后）｜子问题 a｜证据角色｜核验状态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7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证据地图 · 当堂 2 条主格</a:t>
            </a:r>
          </a:p>
          <a:p xmlns:a="http://schemas.openxmlformats.org/drawingml/2006/main">
            <a:pPr algn="l">
              <a:lnSpc>
                <a:spcPct val="117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编号｜子问题｜文献｜原文位置｜主张</a:t>
            </a:r>
          </a:p>
          <a:p xmlns:a="http://schemas.openxmlformats.org/drawingml/2006/main">
            <a:pPr algn="l">
              <a:lnSpc>
                <a:spcPct val="117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证据角色｜冲突/局限｜核验状态</a:t>
            </a:r>
          </a:p>
        </p:txBody>
      </p:sp>
      <p:sp>
        <p:nvSpPr>
          <p:cNvPr id="8" name="p18-mid">
            <a:extLst xmlns:a="http://schemas.openxmlformats.org/drawingml/2006/main">
              <a:ext uri="{FF2B5EF4-FFF2-40B4-BE49-F238E27FC236}">
                <a16:creationId xmlns:a16="http://schemas.microsoft.com/office/drawing/2014/main" id="{19B8BC3D-3AD0-4B7A-AF97-7875B378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028700"/>
            <a:ext cx="19050" cy="3762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9" name="p18-right-label">
            <a:extLst xmlns:a="http://schemas.openxmlformats.org/drawingml/2006/main">
              <a:ext uri="{FF2B5EF4-FFF2-40B4-BE49-F238E27FC236}">
                <a16:creationId xmlns:a16="http://schemas.microsoft.com/office/drawing/2014/main" id="{67F9F710-7B90-43AA-8836-C82AB4DA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0001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四句受限综合</a:t>
            </a:r>
          </a:p>
        </p:txBody>
      </p:sp>
      <p:sp>
        <p:nvSpPr>
          <p:cNvPr id="10" name="p18-right">
            <a:extLst xmlns:a="http://schemas.openxmlformats.org/drawingml/2006/main">
              <a:ext uri="{FF2B5EF4-FFF2-40B4-BE49-F238E27FC236}">
                <a16:creationId xmlns:a16="http://schemas.microsoft.com/office/drawing/2014/main" id="{9A7718BE-BED6-4E94-82B9-9B425AD1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4953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1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1  范围与子问题</a:t>
            </a:r>
          </a:p>
          <a:p xmlns:a="http://schemas.openxmlformats.org/drawingml/2006/main">
            <a:pPr algn="l">
              <a:lnSpc>
                <a:spcPct val="121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2  直接证据</a:t>
            </a:r>
          </a:p>
          <a:p xmlns:a="http://schemas.openxmlformats.org/drawingml/2006/main">
            <a:pPr algn="l">
              <a:lnSpc>
                <a:spcPct val="121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3  补充 / 对比 / 冲突</a:t>
            </a:r>
          </a:p>
          <a:p xmlns:a="http://schemas.openxmlformats.org/drawingml/2006/main">
            <a:pPr algn="l">
              <a:lnSpc>
                <a:spcPct val="121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4  空白与下一步核验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1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AI 记录：工具/模型｜用途｜Context</a:t>
            </a:r>
          </a:p>
          <a:p xmlns:a="http://schemas.openxmlformats.org/drawingml/2006/main">
            <a:pPr algn="l">
              <a:lnSpc>
                <a:spcPct val="121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输出用途｜人工核验｜问题</a:t>
            </a:r>
          </a:p>
        </p:txBody>
      </p:sp>
      <p:sp>
        <p:nvSpPr>
          <p:cNvPr id="11" name="p18-minimum">
            <a:extLst xmlns:a="http://schemas.openxmlformats.org/drawingml/2006/main">
              <a:ext uri="{FF2B5EF4-FFF2-40B4-BE49-F238E27FC236}">
                <a16:creationId xmlns:a16="http://schemas.microsoft.com/office/drawing/2014/main" id="{274AD3FB-67D2-425D-BDA0-BFB3F916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最低完成｜窄矩阵 + 2 条主格 + 四句草稿 + 1 条 AI 记录</a:t>
            </a:r>
          </a:p>
        </p:txBody>
      </p:sp>
      <p:sp>
        <p:nvSpPr>
          <p:cNvPr id="12" name="source">
            <a:extLst xmlns:a="http://schemas.openxmlformats.org/drawingml/2006/main">
              <a:ext uri="{FF2B5EF4-FFF2-40B4-BE49-F238E27FC236}">
                <a16:creationId xmlns:a16="http://schemas.microsoft.com/office/drawing/2014/main" id="{795EDDD2-894E-4DB5-87AF-B7E90B97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写入：evidence-map.md 或 notes/ · 空白与候选题完整检验课后补全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同伴互查四问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visual-19-0-p19-n0">
            <a:extLst xmlns:a="http://schemas.openxmlformats.org/drawingml/2006/main">
              <a:ext uri="{FF2B5EF4-FFF2-40B4-BE49-F238E27FC236}">
                <a16:creationId xmlns:a16="http://schemas.microsoft.com/office/drawing/2014/main" id="{FBEBA2A1-0A49-4C94-B179-1C587DD1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049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9-1-p19-h0">
            <a:extLst xmlns:a="http://schemas.openxmlformats.org/drawingml/2006/main">
              <a:ext uri="{FF2B5EF4-FFF2-40B4-BE49-F238E27FC236}">
                <a16:creationId xmlns:a16="http://schemas.microsoft.com/office/drawing/2014/main" id="{8D8AFB29-2369-44AC-A6A6-A876A70FF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02870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问题组织</a:t>
            </a:r>
          </a:p>
        </p:txBody>
      </p:sp>
      <p:sp>
        <p:nvSpPr>
          <p:cNvPr id="8" name="visual-19-2-p19-d0">
            <a:extLst xmlns:a="http://schemas.openxmlformats.org/drawingml/2006/main">
              <a:ext uri="{FF2B5EF4-FFF2-40B4-BE49-F238E27FC236}">
                <a16:creationId xmlns:a16="http://schemas.microsoft.com/office/drawing/2014/main" id="{8661FA91-665B-4B6D-A2CD-A7B64332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028700"/>
            <a:ext cx="571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矩阵列来自问题分解，还是论文关键词？</a:t>
            </a:r>
          </a:p>
        </p:txBody>
      </p:sp>
      <p:sp>
        <p:nvSpPr>
          <p:cNvPr id="9" name="visual-19-3-p19-n1">
            <a:extLst xmlns:a="http://schemas.openxmlformats.org/drawingml/2006/main">
              <a:ext uri="{FF2B5EF4-FFF2-40B4-BE49-F238E27FC236}">
                <a16:creationId xmlns:a16="http://schemas.microsoft.com/office/drawing/2014/main" id="{C63D6DFC-F263-40A5-A284-AD366F68F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764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visual-19-4-p19-h1">
            <a:extLst xmlns:a="http://schemas.openxmlformats.org/drawingml/2006/main">
              <a:ext uri="{FF2B5EF4-FFF2-40B4-BE49-F238E27FC236}">
                <a16:creationId xmlns:a16="http://schemas.microsoft.com/office/drawing/2014/main" id="{40AA44FA-2A93-4560-9DD9-AAE8C09A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冲突边界</a:t>
            </a:r>
          </a:p>
        </p:txBody>
      </p:sp>
      <p:sp>
        <p:nvSpPr>
          <p:cNvPr id="11" name="visual-19-5-p19-d1">
            <a:extLst xmlns:a="http://schemas.openxmlformats.org/drawingml/2006/main">
              <a:ext uri="{FF2B5EF4-FFF2-40B4-BE49-F238E27FC236}">
                <a16:creationId xmlns:a16="http://schemas.microsoft.com/office/drawing/2014/main" id="{32E6C3BF-42F1-4D9C-B4B5-5376B0318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571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任务不可比是否被误写成相反结论？</a:t>
            </a:r>
          </a:p>
        </p:txBody>
      </p:sp>
      <p:sp>
        <p:nvSpPr>
          <p:cNvPr id="12" name="visual-19-6-p19-n2">
            <a:extLst xmlns:a="http://schemas.openxmlformats.org/drawingml/2006/main">
              <a:ext uri="{FF2B5EF4-FFF2-40B4-BE49-F238E27FC236}">
                <a16:creationId xmlns:a16="http://schemas.microsoft.com/office/drawing/2014/main" id="{1B1A5D42-4D8D-46F4-95F7-3AE01C02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visual-19-7-p19-h2">
            <a:extLst xmlns:a="http://schemas.openxmlformats.org/drawingml/2006/main">
              <a:ext uri="{FF2B5EF4-FFF2-40B4-BE49-F238E27FC236}">
                <a16:creationId xmlns:a16="http://schemas.microsoft.com/office/drawing/2014/main" id="{037FBF8D-C86D-4351-88E1-602869B6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7180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空白与候选题</a:t>
            </a:r>
          </a:p>
        </p:txBody>
      </p:sp>
      <p:sp>
        <p:nvSpPr>
          <p:cNvPr id="14" name="visual-19-8-p19-d2">
            <a:extLst xmlns:a="http://schemas.openxmlformats.org/drawingml/2006/main">
              <a:ext uri="{FF2B5EF4-FFF2-40B4-BE49-F238E27FC236}">
                <a16:creationId xmlns:a16="http://schemas.microsoft.com/office/drawing/2014/main" id="{2966510A-1EA4-4991-A0AD-B88824666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71800"/>
            <a:ext cx="571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记录诚实吗？真实检索还是待核验？候选题标了生成路径吗？</a:t>
            </a:r>
          </a:p>
        </p:txBody>
      </p:sp>
      <p:sp>
        <p:nvSpPr>
          <p:cNvPr id="15" name="visual-19-9-p19-n3">
            <a:extLst xmlns:a="http://schemas.openxmlformats.org/drawingml/2006/main">
              <a:ext uri="{FF2B5EF4-FFF2-40B4-BE49-F238E27FC236}">
                <a16:creationId xmlns:a16="http://schemas.microsoft.com/office/drawing/2014/main" id="{8661BC24-1703-4751-A720-5E16F896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19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visual-19-10-p19-h3">
            <a:extLst xmlns:a="http://schemas.openxmlformats.org/drawingml/2006/main">
              <a:ext uri="{FF2B5EF4-FFF2-40B4-BE49-F238E27FC236}">
                <a16:creationId xmlns:a16="http://schemas.microsoft.com/office/drawing/2014/main" id="{BBD1B119-99BA-4EFF-B815-B042C276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四句追溯</a:t>
            </a:r>
          </a:p>
        </p:txBody>
      </p:sp>
      <p:sp>
        <p:nvSpPr>
          <p:cNvPr id="17" name="visual-19-11-p19-d3">
            <a:extLst xmlns:a="http://schemas.openxmlformats.org/drawingml/2006/main">
              <a:ext uri="{FF2B5EF4-FFF2-40B4-BE49-F238E27FC236}">
                <a16:creationId xmlns:a16="http://schemas.microsoft.com/office/drawing/2014/main" id="{05120F7E-751D-414B-87C4-F4299870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43350"/>
            <a:ext cx="571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每句话能回指 verified 条目吗？</a:t>
            </a:r>
          </a:p>
        </p:txBody>
      </p:sp>
      <p:sp>
        <p:nvSpPr>
          <p:cNvPr id="18" name="visual-19-12-p19-author-h">
            <a:extLst xmlns:a="http://schemas.openxmlformats.org/drawingml/2006/main">
              <a:ext uri="{FF2B5EF4-FFF2-40B4-BE49-F238E27FC236}">
                <a16:creationId xmlns:a16="http://schemas.microsoft.com/office/drawing/2014/main" id="{4CC48686-F25D-4F60-B66E-D2D7D7E8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09537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作者记录</a:t>
            </a:r>
          </a:p>
        </p:txBody>
      </p:sp>
      <p:sp>
        <p:nvSpPr>
          <p:cNvPr id="19" name="visual-19-13-p19-s0">
            <a:extLst xmlns:a="http://schemas.openxmlformats.org/drawingml/2006/main">
              <a:ext uri="{FF2B5EF4-FFF2-40B4-BE49-F238E27FC236}">
                <a16:creationId xmlns:a16="http://schemas.microsoft.com/office/drawing/2014/main" id="{9F0CA8BB-18E5-417B-885A-62205B6A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52625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采纳</a:t>
            </a:r>
          </a:p>
        </p:txBody>
      </p:sp>
      <p:sp>
        <p:nvSpPr>
          <p:cNvPr id="20" name="visual-19-14-p19-s1">
            <a:extLst xmlns:a="http://schemas.openxmlformats.org/drawingml/2006/main">
              <a:ext uri="{FF2B5EF4-FFF2-40B4-BE49-F238E27FC236}">
                <a16:creationId xmlns:a16="http://schemas.microsoft.com/office/drawing/2014/main" id="{6C6AA963-AE3C-424E-9220-4E7422A6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86075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暂不采纳</a:t>
            </a:r>
          </a:p>
        </p:txBody>
      </p:sp>
      <p:sp>
        <p:nvSpPr>
          <p:cNvPr id="21" name="visual-19-15-p19-s2">
            <a:extLst xmlns:a="http://schemas.openxmlformats.org/drawingml/2006/main">
              <a:ext uri="{FF2B5EF4-FFF2-40B4-BE49-F238E27FC236}">
                <a16:creationId xmlns:a16="http://schemas.microsoft.com/office/drawing/2014/main" id="{F4721291-FEA1-45A5-B7B4-1D03EC73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819525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待核验</a:t>
            </a:r>
          </a:p>
        </p:txBody>
      </p:sp>
      <p:sp>
        <p:nvSpPr>
          <p:cNvPr id="22" name="visual-19-16-p19-bottom">
            <a:extLst xmlns:a="http://schemas.openxmlformats.org/drawingml/2006/main">
              <a:ext uri="{FF2B5EF4-FFF2-40B4-BE49-F238E27FC236}">
                <a16:creationId xmlns:a16="http://schemas.microsoft.com/office/drawing/2014/main" id="{67905850-C844-4B37-AD21-93D7F31F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095875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同伴只提问题；作者保留最终决定，不形成共同提交。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visual-20-0-p20-n0">
            <a:extLst xmlns:a="http://schemas.openxmlformats.org/drawingml/2006/main">
              <a:ext uri="{FF2B5EF4-FFF2-40B4-BE49-F238E27FC236}">
                <a16:creationId xmlns:a16="http://schemas.microsoft.com/office/drawing/2014/main" id="{71C09BA0-B757-4BAD-8910-805D719B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20-1-p20-h0">
            <a:extLst xmlns:a="http://schemas.openxmlformats.org/drawingml/2006/main">
              <a:ext uri="{FF2B5EF4-FFF2-40B4-BE49-F238E27FC236}">
                <a16:creationId xmlns:a16="http://schemas.microsoft.com/office/drawing/2014/main" id="{147C3A10-FB2B-4F3B-BC3E-26E34734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047750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按问题组织</a:t>
            </a:r>
          </a:p>
        </p:txBody>
      </p:sp>
      <p:sp>
        <p:nvSpPr>
          <p:cNvPr id="8" name="visual-20-2-p20-d0">
            <a:extLst xmlns:a="http://schemas.openxmlformats.org/drawingml/2006/main">
              <a:ext uri="{FF2B5EF4-FFF2-40B4-BE49-F238E27FC236}">
                <a16:creationId xmlns:a16="http://schemas.microsoft.com/office/drawing/2014/main" id="{D4650C30-BBFA-4FE9-86FE-D8AA2D81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0"/>
            <a:ext cx="2638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矩阵列来自问题分解，不按论文逐篇堆叠</a:t>
            </a:r>
          </a:p>
        </p:txBody>
      </p:sp>
      <p:sp>
        <p:nvSpPr>
          <p:cNvPr id="9" name="visual-20-3-p20-arrow0">
            <a:extLst xmlns:a="http://schemas.openxmlformats.org/drawingml/2006/main">
              <a:ext uri="{FF2B5EF4-FFF2-40B4-BE49-F238E27FC236}">
                <a16:creationId xmlns:a16="http://schemas.microsoft.com/office/drawing/2014/main" id="{E6EAE8E6-5416-47B1-8DCA-3B695D45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20-4-p20-n1">
            <a:extLst xmlns:a="http://schemas.openxmlformats.org/drawingml/2006/main">
              <a:ext uri="{FF2B5EF4-FFF2-40B4-BE49-F238E27FC236}">
                <a16:creationId xmlns:a16="http://schemas.microsoft.com/office/drawing/2014/main" id="{B551AA67-3B5E-4145-BB2E-E4E33F7C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1049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visual-20-5-p20-h1">
            <a:extLst xmlns:a="http://schemas.openxmlformats.org/drawingml/2006/main">
              <a:ext uri="{FF2B5EF4-FFF2-40B4-BE49-F238E27FC236}">
                <a16:creationId xmlns:a16="http://schemas.microsoft.com/office/drawing/2014/main" id="{B7DA9572-C1FA-4EF5-AF35-C65805EB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047750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证据地图</a:t>
            </a:r>
          </a:p>
        </p:txBody>
      </p:sp>
      <p:sp>
        <p:nvSpPr>
          <p:cNvPr id="12" name="visual-20-6-p20-d1">
            <a:extLst xmlns:a="http://schemas.openxmlformats.org/drawingml/2006/main">
              <a:ext uri="{FF2B5EF4-FFF2-40B4-BE49-F238E27FC236}">
                <a16:creationId xmlns:a16="http://schemas.microsoft.com/office/drawing/2014/main" id="{83371D76-5B00-4627-928C-FF9945FD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905000"/>
            <a:ext cx="2638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保留直接、补充、冲突与空白四种视图</a:t>
            </a:r>
          </a:p>
        </p:txBody>
      </p:sp>
      <p:sp>
        <p:nvSpPr>
          <p:cNvPr id="13" name="visual-20-7-p20-arrow1">
            <a:extLst xmlns:a="http://schemas.openxmlformats.org/drawingml/2006/main">
              <a:ext uri="{FF2B5EF4-FFF2-40B4-BE49-F238E27FC236}">
                <a16:creationId xmlns:a16="http://schemas.microsoft.com/office/drawing/2014/main" id="{8774E562-5D90-43D9-B81E-2CB92577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visual-20-8-p20-n2">
            <a:extLst xmlns:a="http://schemas.openxmlformats.org/drawingml/2006/main">
              <a:ext uri="{FF2B5EF4-FFF2-40B4-BE49-F238E27FC236}">
                <a16:creationId xmlns:a16="http://schemas.microsoft.com/office/drawing/2014/main" id="{19B12043-8B0B-4B84-B4F7-BA8AF12D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1049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visual-20-9-p20-h2">
            <a:extLst xmlns:a="http://schemas.openxmlformats.org/drawingml/2006/main">
              <a:ext uri="{FF2B5EF4-FFF2-40B4-BE49-F238E27FC236}">
                <a16:creationId xmlns:a16="http://schemas.microsoft.com/office/drawing/2014/main" id="{52288A02-BCDF-4A2E-B1FF-488AFB68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047750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受限综合</a:t>
            </a:r>
          </a:p>
        </p:txBody>
      </p:sp>
      <p:sp>
        <p:nvSpPr>
          <p:cNvPr id="16" name="visual-20-10-p20-d2">
            <a:extLst xmlns:a="http://schemas.openxmlformats.org/drawingml/2006/main">
              <a:ext uri="{FF2B5EF4-FFF2-40B4-BE49-F238E27FC236}">
                <a16:creationId xmlns:a16="http://schemas.microsoft.com/office/drawing/2014/main" id="{E4469F55-2786-4AAE-9B96-3A02585A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05000"/>
            <a:ext cx="2638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mini review 只使用已核验条目并保留限定</a:t>
            </a:r>
          </a:p>
        </p:txBody>
      </p:sp>
      <p:sp>
        <p:nvSpPr>
          <p:cNvPr id="17" name="visual-20-11-p20-arrow2">
            <a:extLst xmlns:a="http://schemas.openxmlformats.org/drawingml/2006/main">
              <a:ext uri="{FF2B5EF4-FFF2-40B4-BE49-F238E27FC236}">
                <a16:creationId xmlns:a16="http://schemas.microsoft.com/office/drawing/2014/main" id="{0B9BC222-CD3A-4D3C-A134-541214E1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visual-20-12-p20-n3">
            <a:extLst xmlns:a="http://schemas.openxmlformats.org/drawingml/2006/main">
              <a:ext uri="{FF2B5EF4-FFF2-40B4-BE49-F238E27FC236}">
                <a16:creationId xmlns:a16="http://schemas.microsoft.com/office/drawing/2014/main" id="{C5A5E99E-1370-441E-8818-C1F9D53A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1049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visual-20-13-p20-h3">
            <a:extLst xmlns:a="http://schemas.openxmlformats.org/drawingml/2006/main">
              <a:ext uri="{FF2B5EF4-FFF2-40B4-BE49-F238E27FC236}">
                <a16:creationId xmlns:a16="http://schemas.microsoft.com/office/drawing/2014/main" id="{1E85F89B-2808-451D-9583-2E706DCE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047750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生成候选题</a:t>
            </a:r>
          </a:p>
        </p:txBody>
      </p:sp>
      <p:sp>
        <p:nvSpPr>
          <p:cNvPr id="20" name="visual-20-14-p20-d3">
            <a:extLst xmlns:a="http://schemas.openxmlformats.org/drawingml/2006/main">
              <a:ext uri="{FF2B5EF4-FFF2-40B4-BE49-F238E27FC236}">
                <a16:creationId xmlns:a16="http://schemas.microsoft.com/office/drawing/2014/main" id="{578DBF01-DB2D-44D7-BA93-D41FEAAF0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905000"/>
            <a:ext cx="2638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空白先检验，再进入候选题池与问题门</a:t>
            </a:r>
          </a:p>
        </p:txBody>
      </p:sp>
      <p:sp>
        <p:nvSpPr>
          <p:cNvPr id="21" name="visual-20-15-p20-boundary">
            <a:extLst xmlns:a="http://schemas.openxmlformats.org/drawingml/2006/main">
              <a:ext uri="{FF2B5EF4-FFF2-40B4-BE49-F238E27FC236}">
                <a16:creationId xmlns:a16="http://schemas.microsoft.com/office/drawing/2014/main" id="{10B72392-8785-4D96-AD49-FE2E03FE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143375"/>
            <a:ext cx="981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关键边界：“我没找到”不等于领域空白；对比证据不自动等于冲突，AI 归纳也不能替代原文核验。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退出卡与第 6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visual-21-0-p21-in0">
            <a:extLst xmlns:a="http://schemas.openxmlformats.org/drawingml/2006/main">
              <a:ext uri="{FF2B5EF4-FFF2-40B4-BE49-F238E27FC236}">
                <a16:creationId xmlns:a16="http://schemas.microsoft.com/office/drawing/2014/main" id="{2512F1E3-A5E8-468A-AC55-3E4410E8A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62050"/>
            <a:ext cx="342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四句 mini review</a:t>
            </a:r>
          </a:p>
        </p:txBody>
      </p:sp>
      <p:sp>
        <p:nvSpPr>
          <p:cNvPr id="7" name="visual-21-1-p21-a0">
            <a:extLst xmlns:a="http://schemas.openxmlformats.org/drawingml/2006/main">
              <a:ext uri="{FF2B5EF4-FFF2-40B4-BE49-F238E27FC236}">
                <a16:creationId xmlns:a16="http://schemas.microsoft.com/office/drawing/2014/main" id="{3ECC81BB-A823-47DE-AB9A-EFB4AA03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2763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visual-21-2-p21-in1">
            <a:extLst xmlns:a="http://schemas.openxmlformats.org/drawingml/2006/main">
              <a:ext uri="{FF2B5EF4-FFF2-40B4-BE49-F238E27FC236}">
                <a16:creationId xmlns:a16="http://schemas.microsoft.com/office/drawing/2014/main" id="{8444DA65-D8EC-4C57-B2AA-FC18224A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76450"/>
            <a:ext cx="342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四视图证据地图</a:t>
            </a:r>
          </a:p>
        </p:txBody>
      </p:sp>
      <p:sp>
        <p:nvSpPr>
          <p:cNvPr id="9" name="visual-21-3-p21-a1">
            <a:extLst xmlns:a="http://schemas.openxmlformats.org/drawingml/2006/main">
              <a:ext uri="{FF2B5EF4-FFF2-40B4-BE49-F238E27FC236}">
                <a16:creationId xmlns:a16="http://schemas.microsoft.com/office/drawing/2014/main" id="{A6E8F722-2F4D-454A-ABBC-3DA16537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90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21-4-p21-in2">
            <a:extLst xmlns:a="http://schemas.openxmlformats.org/drawingml/2006/main">
              <a:ext uri="{FF2B5EF4-FFF2-40B4-BE49-F238E27FC236}">
                <a16:creationId xmlns:a16="http://schemas.microsoft.com/office/drawing/2014/main" id="{0D46D94B-5F59-4722-9B70-7D5BE9F5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90850"/>
            <a:ext cx="342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空白候选 + 候选题记录</a:t>
            </a:r>
          </a:p>
        </p:txBody>
      </p:sp>
      <p:sp>
        <p:nvSpPr>
          <p:cNvPr id="11" name="visual-21-5-p21-a2">
            <a:extLst xmlns:a="http://schemas.openxmlformats.org/drawingml/2006/main">
              <a:ext uri="{FF2B5EF4-FFF2-40B4-BE49-F238E27FC236}">
                <a16:creationId xmlns:a16="http://schemas.microsoft.com/office/drawing/2014/main" id="{F8E2E30F-6C01-45BD-BE3D-94BC80A0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1051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visual-21-6-p21-gate">
            <a:extLst xmlns:a="http://schemas.openxmlformats.org/drawingml/2006/main">
              <a:ext uri="{FF2B5EF4-FFF2-40B4-BE49-F238E27FC236}">
                <a16:creationId xmlns:a16="http://schemas.microsoft.com/office/drawing/2014/main" id="{7FC41357-A244-4B73-9DBC-646D9D8C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714500"/>
            <a:ext cx="4000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 6 课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问题定义 + 第一性原理 + 问题门</a:t>
            </a:r>
          </a:p>
        </p:txBody>
      </p:sp>
      <p:sp>
        <p:nvSpPr>
          <p:cNvPr id="13" name="visual-21-7-p21-check-h">
            <a:extLst xmlns:a="http://schemas.openxmlformats.org/drawingml/2006/main">
              <a:ext uri="{FF2B5EF4-FFF2-40B4-BE49-F238E27FC236}">
                <a16:creationId xmlns:a16="http://schemas.microsoft.com/office/drawing/2014/main" id="{0B1D8B60-F881-4C73-997E-E74F1481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0668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退出卡</a:t>
            </a:r>
          </a:p>
        </p:txBody>
      </p:sp>
      <p:sp>
        <p:nvSpPr>
          <p:cNvPr id="14" name="visual-21-8-p21-c0">
            <a:extLst xmlns:a="http://schemas.openxmlformats.org/drawingml/2006/main">
              <a:ext uri="{FF2B5EF4-FFF2-40B4-BE49-F238E27FC236}">
                <a16:creationId xmlns:a16="http://schemas.microsoft.com/office/drawing/2014/main" id="{9651B044-F3A1-42FF-B211-2EFFCD91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80975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哪一句仍缺直接证据？</a:t>
            </a:r>
          </a:p>
        </p:txBody>
      </p:sp>
      <p:sp>
        <p:nvSpPr>
          <p:cNvPr id="15" name="visual-21-9-p21-c1">
            <a:extLst xmlns:a="http://schemas.openxmlformats.org/drawingml/2006/main">
              <a:ext uri="{FF2B5EF4-FFF2-40B4-BE49-F238E27FC236}">
                <a16:creationId xmlns:a16="http://schemas.microsoft.com/office/drawing/2014/main" id="{2A09515F-500E-4131-8391-A11D2347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68605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候选题的生成路径是什么？</a:t>
            </a:r>
          </a:p>
        </p:txBody>
      </p:sp>
      <p:sp>
        <p:nvSpPr>
          <p:cNvPr id="16" name="visual-21-10-p21-c2">
            <a:extLst xmlns:a="http://schemas.openxmlformats.org/drawingml/2006/main">
              <a:ext uri="{FF2B5EF4-FFF2-40B4-BE49-F238E27FC236}">
                <a16:creationId xmlns:a16="http://schemas.microsoft.com/office/drawing/2014/main" id="{B73F6CC5-29A5-43AF-AF9B-0CC089BF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56235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问题门还需补哪一项？</a:t>
            </a:r>
          </a:p>
        </p:txBody>
      </p:sp>
      <p:sp>
        <p:nvSpPr>
          <p:cNvPr id="17" name="visual-21-11-p21-path">
            <a:extLst xmlns:a="http://schemas.openxmlformats.org/drawingml/2006/main">
              <a:ext uri="{FF2B5EF4-FFF2-40B4-BE49-F238E27FC236}">
                <a16:creationId xmlns:a16="http://schemas.microsoft.com/office/drawing/2014/main" id="{F7FD6D50-CC51-4540-A6E3-C946B902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1009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 → mini review / 证据地图 → 候选题池 → 研究问题 → 可证伪命题</a:t>
            </a:r>
          </a:p>
        </p:txBody>
      </p:sp>
      <p:sp>
        <p:nvSpPr>
          <p:cNvPr id="18" name="visual-21-12-p21-bottom">
            <a:extLst xmlns:a="http://schemas.openxmlformats.org/drawingml/2006/main">
              <a:ext uri="{FF2B5EF4-FFF2-40B4-BE49-F238E27FC236}">
                <a16:creationId xmlns:a16="http://schemas.microsoft.com/office/drawing/2014/main" id="{83EED24D-BFBA-4C2F-826C-A2EFA220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95875"/>
            <a:ext cx="790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本课不新增正式作业；继续回写同一个人项目。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2026-09-12T11:57:13.5380000Z</dcterms:created>
  <dcterms:modified xsi:type="dcterms:W3CDTF">2026-09-12T11:57:13.5380000Z</dcterms:modified>
</coreProperties>
</file>