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986793374945a6" /><Relationship Type="http://schemas.openxmlformats.org/officeDocument/2006/relationships/extended-properties" Target="/docProps/app.xml" Id="Rd6237cd502de4f64" /><Relationship Type="http://schemas.openxmlformats.org/officeDocument/2006/relationships/officeDocument" Target="/ppt/presentation.xml" Id="Rb4800bd9b0194d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132da2859f4c98"/>
  </p:sldMasterIdLst>
  <p:notesMasterIdLst>
    <p:notesMasterId xmlns:r="http://schemas.openxmlformats.org/officeDocument/2006/relationships" r:id="R3f2e0929cc4a4b43"/>
  </p:notesMasterIdLst>
  <p:sldIdLst>
    <p:sldId xmlns:r="http://schemas.openxmlformats.org/officeDocument/2006/relationships" id="256" r:id="R0ebaaae8cee147a7"/>
    <p:sldId xmlns:r="http://schemas.openxmlformats.org/officeDocument/2006/relationships" id="257" r:id="R1af125cfd9594dbd"/>
    <p:sldId xmlns:r="http://schemas.openxmlformats.org/officeDocument/2006/relationships" id="258" r:id="R4c5deeeb8a184373"/>
    <p:sldId xmlns:r="http://schemas.openxmlformats.org/officeDocument/2006/relationships" id="259" r:id="Rb2779ee1534d48e9"/>
    <p:sldId xmlns:r="http://schemas.openxmlformats.org/officeDocument/2006/relationships" id="260" r:id="R27ad446075fb4af5"/>
    <p:sldId xmlns:r="http://schemas.openxmlformats.org/officeDocument/2006/relationships" id="261" r:id="R81d9ff543cac4e7a"/>
    <p:sldId xmlns:r="http://schemas.openxmlformats.org/officeDocument/2006/relationships" id="262" r:id="Rd3eb6902bce84a4a"/>
    <p:sldId xmlns:r="http://schemas.openxmlformats.org/officeDocument/2006/relationships" id="263" r:id="R87272b7e59f14ee0"/>
    <p:sldId xmlns:r="http://schemas.openxmlformats.org/officeDocument/2006/relationships" id="264" r:id="R0d526e44374042b8"/>
    <p:sldId xmlns:r="http://schemas.openxmlformats.org/officeDocument/2006/relationships" id="265" r:id="Rdd65de6315d14135"/>
    <p:sldId xmlns:r="http://schemas.openxmlformats.org/officeDocument/2006/relationships" id="266" r:id="R2805b18264414369"/>
    <p:sldId xmlns:r="http://schemas.openxmlformats.org/officeDocument/2006/relationships" id="267" r:id="Ra4f531d6f5eb46e2"/>
    <p:sldId xmlns:r="http://schemas.openxmlformats.org/officeDocument/2006/relationships" id="268" r:id="R119a6a6fa63b4c47"/>
    <p:sldId xmlns:r="http://schemas.openxmlformats.org/officeDocument/2006/relationships" id="269" r:id="Ra94cb417d83f43f5"/>
    <p:sldId xmlns:r="http://schemas.openxmlformats.org/officeDocument/2006/relationships" id="270" r:id="R33f61e46556845c5"/>
    <p:sldId xmlns:r="http://schemas.openxmlformats.org/officeDocument/2006/relationships" id="271" r:id="R053d57e702b24df2"/>
    <p:sldId xmlns:r="http://schemas.openxmlformats.org/officeDocument/2006/relationships" id="272" r:id="Re10f37dce2b64040"/>
    <p:sldId xmlns:r="http://schemas.openxmlformats.org/officeDocument/2006/relationships" id="273" r:id="R2c9ec4271cf149a2"/>
    <p:sldId xmlns:r="http://schemas.openxmlformats.org/officeDocument/2006/relationships" id="274" r:id="R18fa3360687a4f68"/>
    <p:sldId xmlns:r="http://schemas.openxmlformats.org/officeDocument/2006/relationships" id="275" r:id="R49fe1901e49d4213"/>
    <p:sldId xmlns:r="http://schemas.openxmlformats.org/officeDocument/2006/relationships" id="276" r:id="R4c8081f8881244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0dad6cbfb344f1" /><Relationship Type="http://schemas.openxmlformats.org/officeDocument/2006/relationships/slideMaster" Target="/ppt/slideMasters/slideMaster1.xml" Id="R59132da2859f4c98" /><Relationship Type="http://schemas.openxmlformats.org/officeDocument/2006/relationships/notesMaster" Target="/ppt/notesMasters/notesMaster1.xml" Id="R3f2e0929cc4a4b43" /><Relationship Type="http://schemas.openxmlformats.org/officeDocument/2006/relationships/presProps" Target="/ppt/presProps.xml" Id="R7e66f53e86dd4d73" /><Relationship Type="http://schemas.openxmlformats.org/officeDocument/2006/relationships/viewProps" Target="/ppt/viewProps.xml" Id="Rf76ee59b98a542db" /><Relationship Type="http://schemas.openxmlformats.org/officeDocument/2006/relationships/tableStyles" Target="/ppt/tableStyles.xml" Id="R44f9c22aa4344f38" /><Relationship Type="http://schemas.openxmlformats.org/officeDocument/2006/relationships/slide" Target="/ppt/slides/slide1.xml" Id="R0ebaaae8cee147a7" /><Relationship Type="http://schemas.openxmlformats.org/officeDocument/2006/relationships/slide" Target="/ppt/slides/slide2.xml" Id="R1af125cfd9594dbd" /><Relationship Type="http://schemas.openxmlformats.org/officeDocument/2006/relationships/slide" Target="/ppt/slides/slide3.xml" Id="R4c5deeeb8a184373" /><Relationship Type="http://schemas.openxmlformats.org/officeDocument/2006/relationships/slide" Target="/ppt/slides/slide4.xml" Id="Rb2779ee1534d48e9" /><Relationship Type="http://schemas.openxmlformats.org/officeDocument/2006/relationships/slide" Target="/ppt/slides/slide5.xml" Id="R27ad446075fb4af5" /><Relationship Type="http://schemas.openxmlformats.org/officeDocument/2006/relationships/slide" Target="/ppt/slides/slide6.xml" Id="R81d9ff543cac4e7a" /><Relationship Type="http://schemas.openxmlformats.org/officeDocument/2006/relationships/slide" Target="/ppt/slides/slide7.xml" Id="Rd3eb6902bce84a4a" /><Relationship Type="http://schemas.openxmlformats.org/officeDocument/2006/relationships/slide" Target="/ppt/slides/slide8.xml" Id="R87272b7e59f14ee0" /><Relationship Type="http://schemas.openxmlformats.org/officeDocument/2006/relationships/slide" Target="/ppt/slides/slide9.xml" Id="R0d526e44374042b8" /><Relationship Type="http://schemas.openxmlformats.org/officeDocument/2006/relationships/slide" Target="/ppt/slides/slide10.xml" Id="Rdd65de6315d14135" /><Relationship Type="http://schemas.openxmlformats.org/officeDocument/2006/relationships/slide" Target="/ppt/slides/slide11.xml" Id="R2805b18264414369" /><Relationship Type="http://schemas.openxmlformats.org/officeDocument/2006/relationships/slide" Target="/ppt/slides/slide12.xml" Id="Ra4f531d6f5eb46e2" /><Relationship Type="http://schemas.openxmlformats.org/officeDocument/2006/relationships/slide" Target="/ppt/slides/slide13.xml" Id="R119a6a6fa63b4c47" /><Relationship Type="http://schemas.openxmlformats.org/officeDocument/2006/relationships/slide" Target="/ppt/slides/slide14.xml" Id="Ra94cb417d83f43f5" /><Relationship Type="http://schemas.openxmlformats.org/officeDocument/2006/relationships/slide" Target="/ppt/slides/slide15.xml" Id="R33f61e46556845c5" /><Relationship Type="http://schemas.openxmlformats.org/officeDocument/2006/relationships/slide" Target="/ppt/slides/slide16.xml" Id="R053d57e702b24df2" /><Relationship Type="http://schemas.openxmlformats.org/officeDocument/2006/relationships/slide" Target="/ppt/slides/slide17.xml" Id="Re10f37dce2b64040" /><Relationship Type="http://schemas.openxmlformats.org/officeDocument/2006/relationships/slide" Target="/ppt/slides/slide18.xml" Id="R2c9ec4271cf149a2" /><Relationship Type="http://schemas.openxmlformats.org/officeDocument/2006/relationships/slide" Target="/ppt/slides/slide19.xml" Id="R18fa3360687a4f68" /><Relationship Type="http://schemas.openxmlformats.org/officeDocument/2006/relationships/slide" Target="/ppt/slides/slide20.xml" Id="R49fe1901e49d4213" /><Relationship Type="http://schemas.openxmlformats.org/officeDocument/2006/relationships/slide" Target="/ppt/slides/slide21.xml" Id="R4c8081f8881244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9e87f55d4742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ccca4de2b340c1" /><Relationship Type="http://schemas.openxmlformats.org/officeDocument/2006/relationships/notesMaster" Target="/ppt/notesMasters/notesMaster1.xml" Id="R584f92c31e3147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f61137c8594c93" /><Relationship Type="http://schemas.openxmlformats.org/officeDocument/2006/relationships/notesMaster" Target="/ppt/notesMasters/notesMaster1.xml" Id="R61cb67a3644641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d9dc68bea84d63" /><Relationship Type="http://schemas.openxmlformats.org/officeDocument/2006/relationships/notesMaster" Target="/ppt/notesMasters/notesMaster1.xml" Id="R2c0c291d89eb42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da7673db9c4f29" /><Relationship Type="http://schemas.openxmlformats.org/officeDocument/2006/relationships/notesMaster" Target="/ppt/notesMasters/notesMaster1.xml" Id="Red31fac683fe41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ffeecb56ed4fd6" /><Relationship Type="http://schemas.openxmlformats.org/officeDocument/2006/relationships/notesMaster" Target="/ppt/notesMasters/notesMaster1.xml" Id="R72a22ab9c8974c8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a4697a73f84359" /><Relationship Type="http://schemas.openxmlformats.org/officeDocument/2006/relationships/notesMaster" Target="/ppt/notesMasters/notesMaster1.xml" Id="R9c38ee64a0be48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33163dca7f4e13" /><Relationship Type="http://schemas.openxmlformats.org/officeDocument/2006/relationships/notesMaster" Target="/ppt/notesMasters/notesMaster1.xml" Id="Re6092897b3c848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aa1217e58748de" /><Relationship Type="http://schemas.openxmlformats.org/officeDocument/2006/relationships/notesMaster" Target="/ppt/notesMasters/notesMaster1.xml" Id="R0454beb3b7cc47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475e053ddb48f2" /><Relationship Type="http://schemas.openxmlformats.org/officeDocument/2006/relationships/notesMaster" Target="/ppt/notesMasters/notesMaster1.xml" Id="R00d391bf832c476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d1cbc005194b77" /><Relationship Type="http://schemas.openxmlformats.org/officeDocument/2006/relationships/notesMaster" Target="/ppt/notesMasters/notesMaster1.xml" Id="R4bdd7858b1dc40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1f23d9ae25a4e45" /><Relationship Type="http://schemas.openxmlformats.org/officeDocument/2006/relationships/notesMaster" Target="/ppt/notesMasters/notesMaster1.xml" Id="Reb6d7606702044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4ea0de81ba54e39" /><Relationship Type="http://schemas.openxmlformats.org/officeDocument/2006/relationships/notesMaster" Target="/ppt/notesMasters/notesMaster1.xml" Id="Re3302ab3359a4f0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c90988ffafe4bdb" /><Relationship Type="http://schemas.openxmlformats.org/officeDocument/2006/relationships/notesMaster" Target="/ppt/notesMasters/notesMaster1.xml" Id="R81fc9965da744e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9e952ed87494674" /><Relationship Type="http://schemas.openxmlformats.org/officeDocument/2006/relationships/notesMaster" Target="/ppt/notesMasters/notesMaster1.xml" Id="R6d22a8a9e6dc49a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bb7ff7860b4d11" /><Relationship Type="http://schemas.openxmlformats.org/officeDocument/2006/relationships/notesMaster" Target="/ppt/notesMasters/notesMaster1.xml" Id="R5ddade783be4465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151541f5c5424c" /><Relationship Type="http://schemas.openxmlformats.org/officeDocument/2006/relationships/notesMaster" Target="/ppt/notesMasters/notesMaster1.xml" Id="R356f09a0eb954f4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54ea9925a944023" /><Relationship Type="http://schemas.openxmlformats.org/officeDocument/2006/relationships/notesMaster" Target="/ppt/notesMasters/notesMaster1.xml" Id="R5b93f5a098ee430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ce3d5e4fecc447a" /><Relationship Type="http://schemas.openxmlformats.org/officeDocument/2006/relationships/notesMaster" Target="/ppt/notesMasters/notesMaster1.xml" Id="Re749a20bd10b477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994114a209446c7" /><Relationship Type="http://schemas.openxmlformats.org/officeDocument/2006/relationships/notesMaster" Target="/ppt/notesMasters/notesMaster1.xml" Id="R35ad87eb7969461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eb0ea392e144150" /><Relationship Type="http://schemas.openxmlformats.org/officeDocument/2006/relationships/notesMaster" Target="/ppt/notesMasters/notesMaster1.xml" Id="Ra4eb100236214d3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0239be875094c38" /><Relationship Type="http://schemas.openxmlformats.org/officeDocument/2006/relationships/notesMaster" Target="/ppt/notesMasters/notesMaster1.xml" Id="R5e85d0e7a37f45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本课把第 4 课阅读卡重组为按问题排列的证据结构，并形成问题门可检查的最小综合。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lessons/备课规划.md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2:30 进行第一次短互动：请学生判断自己的阅读笔记目前是按论文排列，还是已经按问题组织。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lessons/lesson-04/slides.md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明确课堂最低产出与边界。mini literature review 是四句最小综合，不是最终 related work。空白候选如出现，当堂补记候选题表述与生成路径标签。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让学生指出：一段逐篇摘要为何无法支持研究空白判断。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两类综述不是高低之分。学生需按研究任务选择结构，并保留检索、提取与取舍记录。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Kitchenham &amp; Charters, Guidelines for Performing Systematic Literature Reviews in Software Engineering, EBSE-2007-01 (2007)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矩阵示例为课程构造。列必须来自问题分解，不得从论文关键词反推。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这是本课最容易混淆的概念页：候选文献角色与问题门四视图是两层口径。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三类空白的识别动作不同。重点是让学生先标候选类型，不急于宣告领域结论。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本页防止“关键词 → 论文 → 空白”单线选题。Qian 六种构思模式（填空 / 扩展 / 造锤找钉 / 小处泛化 / 复现前作 / 外部来源）里，表格空位只是其中一种。候选题池要求 ≥3 候选、≥2 条路径、≥1 个非文献空白路径；当堂最低只记 1 个候选题的表述与路径标签，完整题池第 6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Qian, Z. How to Look for Ideas in Computer Science Research（第 5 课课堂案例，本地转载副本）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让学生用自己的一个空白候选口头判断哪一步最薄弱。通过三步的候选进入候选题池，与其他生成路径的候选题一起在第 6 课比较筛选。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本页用非例保护研究空白概念，避免把表述换新或工程未做误判为空白。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核验清单逐项讲。AI 可帮助聚类与草拟，但不能自动判定证据角色、冲突或领域空白。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- lessons/lesson-03/handout.md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用五条真实材料把阅读卡重组为证据矩阵。C02 是当前正向主证据，C16 与 C31 分别提供控制性限制和效度威胁；C18/C05 给出后续评价维度。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lessons/lesson-05/mi-evidence-map-demo.md</a:t>
            </a:r>
          </a:p>
          <a:p xmlns:a="http://schemas.openxmlformats.org/drawingml/2006/main">
            <a:r>
              <a:t>- references/notes/mi-case-registry.md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四类证据角色同时保留：正向、补充、冲突/威胁、缺口。缺口限定为同一任务与设置下的因果忠实验证，不做领域无人研究的泛化声明。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lessons/lesson-05/mi-evidence-map-demo.md</a:t>
            </a:r>
          </a:p>
          <a:p xmlns:a="http://schemas.openxmlformats.org/drawingml/2006/main">
            <a:r>
              <a:t>- lessons/lesson-05/assets/mi-causal-evidence-map.svg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四句 mini review 明确区分研究范围、直接证据、限制/威胁和下一步。所有结论均保留任务与模型限定。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lessons/lesson-05/mi-evidence-map-demo.md</a:t>
            </a:r>
          </a:p>
          <a:p xmlns:a="http://schemas.openxmlformats.org/drawingml/2006/main">
            <a:r>
              <a:t>- lessons/lesson-03/mi-search-trace-demo.md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本页把证据综合中的过度结论作为可审计失败：记录原因、处理和回写位置。实际 CP1 必须来自学生本人真实执行过程。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lessons/lesson-05/mi-evidence-map-demo.md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43:00-48:00 说明任务，48:00 切到 P18。教师巡视只处理共同卡点，不逐台排障。候选题池 ≥3 个（≥2 条路径、≥1 个非文献空白路径）在第 6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48:00-75:00 停留。本页只支持最小闭环，不要求补齐整份综述或问题门数量。候选题只记表述与路径标签，完整 ≥3 候选题池（≥2 条路径、≥1 个非文献空白路径）第 6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75:00-85:00 两人互查。每人用 45 秒说明问题、矩阵和四句草稿，同伴按四问反馈。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lessons/lesson-05/teaching-plan.md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回收本讲主链：从按问题组织材料开始，经证据地图显式保留支持、限制和空白，再写受限综合并形成待检验候选题。本页不引入新任务。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lessons/lesson-05/handout.md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收束开场：本课不要求完成完整综述，只把已核验材料重组为可进入问题门的证据结构，并带着候选题池进入第 6 课比较筛选。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lessons/lesson-05/slides.md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c53d362d5c4778" /><Relationship Type="http://schemas.openxmlformats.org/officeDocument/2006/relationships/image" Target="/ppt/media/image.png" Id="Rd1441fd67b344b23" /><Relationship Type="http://schemas.openxmlformats.org/officeDocument/2006/relationships/image" Target="/ppt/media/image2.png" Id="R390cf21aae3d4151" /><Relationship Type="http://schemas.openxmlformats.org/officeDocument/2006/relationships/image" Target="/ppt/media/image3.png" Id="R1e52cfce696c4fd6" /><Relationship Type="http://schemas.openxmlformats.org/officeDocument/2006/relationships/image" Target="/ppt/media/image4.png" Id="Rb9a5d8ea5bf2438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52b845225d48b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9cde0b11e0424e" /><Relationship Type="http://schemas.openxmlformats.org/officeDocument/2006/relationships/image" Target="/ppt/media/image2.png" Id="Rff995c3b38074e91" /><Relationship Type="http://schemas.openxmlformats.org/officeDocument/2006/relationships/image" Target="/ppt/media/image5.png" Id="Rf6cf5cb13dd247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833df68c44468f" /><Relationship Type="http://schemas.openxmlformats.org/officeDocument/2006/relationships/image" Target="/ppt/media/image.png" Id="Rff4da844e1804cc0" /><Relationship Type="http://schemas.openxmlformats.org/officeDocument/2006/relationships/image" Target="/ppt/media/image3.png" Id="R335b06ffb24c4afb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41fd67b344b23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0cf21aae3d4151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52cfce696c4fd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5d8ea5bf2438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995c3b38074e91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cf5cb13dd247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4da844e1804cc0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5b06ffb24c4afb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e60219e8ce4217" /><Relationship Type="http://schemas.openxmlformats.org/officeDocument/2006/relationships/slideLayout" Target="/ppt/slideLayouts/slideLayout1.xml" Id="Rb559e7f5f04e4c3e" /><Relationship Type="http://schemas.openxmlformats.org/officeDocument/2006/relationships/slideLayout" Target="/ppt/slideLayouts/slideLayout2.xml" Id="Rb041b73848d84b31" /><Relationship Type="http://schemas.openxmlformats.org/officeDocument/2006/relationships/slideLayout" Target="/ppt/slideLayouts/slideLayout3.xml" Id="R69e0ccdf4c9f4910" /><Relationship Type="http://schemas.openxmlformats.org/officeDocument/2006/relationships/slideLayout" Target="/ppt/slideLayouts/slideLayout4.xml" Id="Rde98359338e74d1c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59e7f5f04e4c3e"/>
    <p:sldLayoutId xmlns:r="http://schemas.openxmlformats.org/officeDocument/2006/relationships" id="2147483650" r:id="Rb041b73848d84b31"/>
    <p:sldLayoutId xmlns:r="http://schemas.openxmlformats.org/officeDocument/2006/relationships" id="2147483651" r:id="R69e0ccdf4c9f4910"/>
    <p:sldLayoutId xmlns:r="http://schemas.openxmlformats.org/officeDocument/2006/relationships" id="2147483652" r:id="Rde98359338e74d1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b0c090db3e4146" /><Relationship Type="http://schemas.openxmlformats.org/officeDocument/2006/relationships/notesSlide" Target="/ppt/notesSlides/notesSlide1.xml" Id="R5edd66a48e7a43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e9b922aa06442fa" /><Relationship Type="http://schemas.openxmlformats.org/officeDocument/2006/relationships/notesSlide" Target="/ppt/notesSlides/notesSlide2.xml" Id="R8ef20062fa6649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2ab3f460be420b" /><Relationship Type="http://schemas.openxmlformats.org/officeDocument/2006/relationships/notesSlide" Target="/ppt/notesSlides/notesSlide3.xml" Id="R2c409eac960740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21d8a8a15844b3a" /><Relationship Type="http://schemas.openxmlformats.org/officeDocument/2006/relationships/notesSlide" Target="/ppt/notesSlides/notesSlide4.xml" Id="Ra241765e9dfd43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100aab11ff24ae3" /><Relationship Type="http://schemas.openxmlformats.org/officeDocument/2006/relationships/notesSlide" Target="/ppt/notesSlides/notesSlide5.xml" Id="R411f74b542124c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8dfc1002ce4407a" /><Relationship Type="http://schemas.openxmlformats.org/officeDocument/2006/relationships/notesSlide" Target="/ppt/notesSlides/notesSlide6.xml" Id="R2ac458e9c33449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8a7dd1806804d35" /><Relationship Type="http://schemas.openxmlformats.org/officeDocument/2006/relationships/notesSlide" Target="/ppt/notesSlides/notesSlide7.xml" Id="R85f529b6bce644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dd2ff7c70504fa3" /><Relationship Type="http://schemas.openxmlformats.org/officeDocument/2006/relationships/notesSlide" Target="/ppt/notesSlides/notesSlide8.xml" Id="R31fd62f11f0143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8bd1e03309749d3" /><Relationship Type="http://schemas.openxmlformats.org/officeDocument/2006/relationships/notesSlide" Target="/ppt/notesSlides/notesSlide9.xml" Id="Re5087667438c42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62ea0df53a34e7a" /><Relationship Type="http://schemas.openxmlformats.org/officeDocument/2006/relationships/notesSlide" Target="/ppt/notesSlides/notesSlide10.xml" Id="R35f7225c9d2947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d373fdb0a26400f" /><Relationship Type="http://schemas.openxmlformats.org/officeDocument/2006/relationships/notesSlide" Target="/ppt/notesSlides/notesSlide11.xml" Id="R5cf398f2943a41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50f3e2846f4dd3" /><Relationship Type="http://schemas.openxmlformats.org/officeDocument/2006/relationships/notesSlide" Target="/ppt/notesSlides/notesSlide12.xml" Id="R5eba38367e37425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93f27af29324cd1" /><Relationship Type="http://schemas.openxmlformats.org/officeDocument/2006/relationships/notesSlide" Target="/ppt/notesSlides/notesSlide13.xml" Id="Ra9f37c201f3549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07be8a7d3b471f" /><Relationship Type="http://schemas.openxmlformats.org/officeDocument/2006/relationships/image" Target="/ppt/media/image6.png" Id="R8e45765239fa40b1" /><Relationship Type="http://schemas.openxmlformats.org/officeDocument/2006/relationships/notesSlide" Target="/ppt/notesSlides/notesSlide14.xml" Id="Rd19be677dc634fa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cd0d0af6c5849f2" /><Relationship Type="http://schemas.openxmlformats.org/officeDocument/2006/relationships/notesSlide" Target="/ppt/notesSlides/notesSlide15.xml" Id="R10e84c5378ab40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a46eba653854af5" /><Relationship Type="http://schemas.openxmlformats.org/officeDocument/2006/relationships/notesSlide" Target="/ppt/notesSlides/notesSlide16.xml" Id="R7d513ce5e63842c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b430dc5fa6b41f1" /><Relationship Type="http://schemas.openxmlformats.org/officeDocument/2006/relationships/notesSlide" Target="/ppt/notesSlides/notesSlide17.xml" Id="Refd303b04c5a494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8b3e986af214f65" /><Relationship Type="http://schemas.openxmlformats.org/officeDocument/2006/relationships/notesSlide" Target="/ppt/notesSlides/notesSlide18.xml" Id="R4593cf39c3b64b3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76c92ac00324054" /><Relationship Type="http://schemas.openxmlformats.org/officeDocument/2006/relationships/notesSlide" Target="/ppt/notesSlides/notesSlide19.xml" Id="R30ea34ca6d8f4c4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739654d032b4e38" /><Relationship Type="http://schemas.openxmlformats.org/officeDocument/2006/relationships/notesSlide" Target="/ppt/notesSlides/notesSlide20.xml" Id="R79263d9d2c964cf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0628ec044f047f1" /><Relationship Type="http://schemas.openxmlformats.org/officeDocument/2006/relationships/notesSlide" Target="/ppt/notesSlides/notesSlide21.xml" Id="Rb0e9ba396c0a403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第5讲 综述、证据地图与研究空白识别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4 课之后，阅读卡为什么仍不算综述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h">
            <a:extLst xmlns:a="http://schemas.openxmlformats.org/drawingml/2006/main">
              <a:ext uri="{FF2B5EF4-FFF2-40B4-BE49-F238E27FC236}">
                <a16:creationId xmlns:a16="http://schemas.microsoft.com/office/drawing/2014/main" id="{91BEED16-3449-4FC7-9135-A966BF16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0125"/>
            <a:ext cx="447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已经有</a:t>
            </a:r>
          </a:p>
        </p:txBody>
      </p:sp>
      <p:sp>
        <p:nvSpPr>
          <p:cNvPr id="7" name="p02-left-0">
            <a:extLst xmlns:a="http://schemas.openxmlformats.org/drawingml/2006/main">
              <a:ext uri="{FF2B5EF4-FFF2-40B4-BE49-F238E27FC236}">
                <a16:creationId xmlns:a16="http://schemas.microsoft.com/office/drawing/2014/main" id="{1C02F864-02E3-48E2-AF26-C3D438EA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带原文位置的阅读卡</a:t>
            </a:r>
          </a:p>
        </p:txBody>
      </p:sp>
      <p:sp>
        <p:nvSpPr>
          <p:cNvPr id="8" name="p02-left-1">
            <a:extLst xmlns:a="http://schemas.openxmlformats.org/drawingml/2006/main">
              <a:ext uri="{FF2B5EF4-FFF2-40B4-BE49-F238E27FC236}">
                <a16:creationId xmlns:a16="http://schemas.microsoft.com/office/drawing/2014/main" id="{DA89A97E-F0B1-4CDE-9F40-FC5C4A62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作者主张与人工判断分栏</a:t>
            </a:r>
          </a:p>
        </p:txBody>
      </p:sp>
      <p:sp>
        <p:nvSpPr>
          <p:cNvPr id="9" name="p02-left-2">
            <a:extLst xmlns:a="http://schemas.openxmlformats.org/drawingml/2006/main">
              <a:ext uri="{FF2B5EF4-FFF2-40B4-BE49-F238E27FC236}">
                <a16:creationId xmlns:a16="http://schemas.microsoft.com/office/drawing/2014/main" id="{144EEB0A-E34F-40A8-88EC-C2ECAEE4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✓  AI 偏差审计记录</a:t>
            </a:r>
          </a:p>
        </p:txBody>
      </p:sp>
      <p:sp>
        <p:nvSpPr>
          <p:cNvPr id="10" name="p02-arrow">
            <a:extLst xmlns:a="http://schemas.openxmlformats.org/drawingml/2006/main">
              <a:ext uri="{FF2B5EF4-FFF2-40B4-BE49-F238E27FC236}">
                <a16:creationId xmlns:a16="http://schemas.microsoft.com/office/drawing/2014/main" id="{44E8E62E-68F4-42CC-8FE6-306490D3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67000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02-right-h">
            <a:extLst xmlns:a="http://schemas.openxmlformats.org/drawingml/2006/main">
              <a:ext uri="{FF2B5EF4-FFF2-40B4-BE49-F238E27FC236}">
                <a16:creationId xmlns:a16="http://schemas.microsoft.com/office/drawing/2014/main" id="{E7EECEFE-7F5F-4678-8C6D-E2172914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00125"/>
            <a:ext cx="447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仍看不见</a:t>
            </a:r>
          </a:p>
        </p:txBody>
      </p:sp>
      <p:sp>
        <p:nvSpPr>
          <p:cNvPr id="12" name="p02-right-0">
            <a:extLst xmlns:a="http://schemas.openxmlformats.org/drawingml/2006/main">
              <a:ext uri="{FF2B5EF4-FFF2-40B4-BE49-F238E27FC236}">
                <a16:creationId xmlns:a16="http://schemas.microsoft.com/office/drawing/2014/main" id="{C3015D72-34D0-4E05-85E9-544063BF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2877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文献之间支持、冲突还是不可比？</a:t>
            </a:r>
          </a:p>
        </p:txBody>
      </p:sp>
      <p:sp>
        <p:nvSpPr>
          <p:cNvPr id="13" name="p02-right-1">
            <a:extLst xmlns:a="http://schemas.openxmlformats.org/drawingml/2006/main">
              <a:ext uri="{FF2B5EF4-FFF2-40B4-BE49-F238E27FC236}">
                <a16:creationId xmlns:a16="http://schemas.microsoft.com/office/drawing/2014/main" id="{0C9B89E1-472B-46D6-8332-D42BE112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哪个子问题整列空白？</a:t>
            </a:r>
          </a:p>
        </p:txBody>
      </p:sp>
      <p:sp>
        <p:nvSpPr>
          <p:cNvPr id="14" name="p02-right-2">
            <a:extLst xmlns:a="http://schemas.openxmlformats.org/drawingml/2006/main">
              <a:ext uri="{FF2B5EF4-FFF2-40B4-BE49-F238E27FC236}">
                <a16:creationId xmlns:a16="http://schemas.microsoft.com/office/drawing/2014/main" id="{B5D72E64-8881-4436-9E9C-F656FB1D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09925"/>
            <a:ext cx="4191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?  哪些句子能进入最小综述？</a:t>
            </a:r>
          </a:p>
        </p:txBody>
      </p:sp>
      <p:sp>
        <p:nvSpPr>
          <p:cNvPr id="15" name="p02-bottom">
            <a:extLst xmlns:a="http://schemas.openxmlformats.org/drawingml/2006/main">
              <a:ext uri="{FF2B5EF4-FFF2-40B4-BE49-F238E27FC236}">
                <a16:creationId xmlns:a16="http://schemas.microsoft.com/office/drawing/2014/main" id="{84B51BF3-F226-462B-BEF9-BC3017B8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来源已核验  ≠  证据关系已组织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thesis">
            <a:extLst xmlns:a="http://schemas.openxmlformats.org/drawingml/2006/main">
              <a:ext uri="{FF2B5EF4-FFF2-40B4-BE49-F238E27FC236}">
                <a16:creationId xmlns:a16="http://schemas.microsoft.com/office/drawing/2014/main" id="{66851218-E4BE-4A27-AC0D-25347291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1550"/>
            <a:ext cx="10858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354E"/>
                </a:solidFill>
              </a:defRPr>
            </a:pPr>
            <a:r>
              <a:rPr sz="21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27 分钟只跑通一个可复查的最小闭环</a:t>
            </a:r>
          </a:p>
        </p:txBody>
      </p:sp>
      <p:sp>
        <p:nvSpPr>
          <p:cNvPr id="7" name="p03-n0">
            <a:extLst xmlns:a="http://schemas.openxmlformats.org/drawingml/2006/main">
              <a:ext uri="{FF2B5EF4-FFF2-40B4-BE49-F238E27FC236}">
                <a16:creationId xmlns:a16="http://schemas.microsoft.com/office/drawing/2014/main" id="{8057E965-5051-43D4-80F0-B7FC9373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03-h0">
            <a:extLst xmlns:a="http://schemas.openxmlformats.org/drawingml/2006/main">
              <a:ext uri="{FF2B5EF4-FFF2-40B4-BE49-F238E27FC236}">
                <a16:creationId xmlns:a16="http://schemas.microsoft.com/office/drawing/2014/main" id="{0179A012-1357-4BF4-8726-16868C99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窄矩阵</a:t>
            </a:r>
          </a:p>
        </p:txBody>
      </p:sp>
      <p:sp>
        <p:nvSpPr>
          <p:cNvPr id="9" name="p03-d0">
            <a:extLst xmlns:a="http://schemas.openxmlformats.org/drawingml/2006/main">
              <a:ext uri="{FF2B5EF4-FFF2-40B4-BE49-F238E27FC236}">
                <a16:creationId xmlns:a16="http://schemas.microsoft.com/office/drawing/2014/main" id="{0C883D02-14BB-4396-B7F8-D4C70205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2-3 张卡 × 2-3 个子问题</a:t>
            </a:r>
          </a:p>
        </p:txBody>
      </p:sp>
      <p:sp>
        <p:nvSpPr>
          <p:cNvPr id="10" name="p03-n1">
            <a:extLst xmlns:a="http://schemas.openxmlformats.org/drawingml/2006/main">
              <a:ext uri="{FF2B5EF4-FFF2-40B4-BE49-F238E27FC236}">
                <a16:creationId xmlns:a16="http://schemas.microsoft.com/office/drawing/2014/main" id="{CDDAFC39-FA44-4DC7-BC0C-C664F3B4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03-h1">
            <a:extLst xmlns:a="http://schemas.openxmlformats.org/drawingml/2006/main">
              <a:ext uri="{FF2B5EF4-FFF2-40B4-BE49-F238E27FC236}">
                <a16:creationId xmlns:a16="http://schemas.microsoft.com/office/drawing/2014/main" id="{1C04B8D3-0A1E-40D2-AD8A-2DB6633A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四视图地图</a:t>
            </a:r>
          </a:p>
        </p:txBody>
      </p:sp>
      <p:sp>
        <p:nvSpPr>
          <p:cNvPr id="12" name="p03-d1">
            <a:extLst xmlns:a="http://schemas.openxmlformats.org/drawingml/2006/main">
              <a:ext uri="{FF2B5EF4-FFF2-40B4-BE49-F238E27FC236}">
                <a16:creationId xmlns:a16="http://schemas.microsoft.com/office/drawing/2014/main" id="{C0BF5D07-0210-4417-8079-C01FF02E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直接 / 补充 / 冲突 / 空白</a:t>
            </a:r>
          </a:p>
        </p:txBody>
      </p:sp>
      <p:sp>
        <p:nvSpPr>
          <p:cNvPr id="13" name="p03-n2">
            <a:extLst xmlns:a="http://schemas.openxmlformats.org/drawingml/2006/main">
              <a:ext uri="{FF2B5EF4-FFF2-40B4-BE49-F238E27FC236}">
                <a16:creationId xmlns:a16="http://schemas.microsoft.com/office/drawing/2014/main" id="{BBCC6134-367E-4440-B4F7-E74F7164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47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4" name="p03-h2">
            <a:extLst xmlns:a="http://schemas.openxmlformats.org/drawingml/2006/main">
              <a:ext uri="{FF2B5EF4-FFF2-40B4-BE49-F238E27FC236}">
                <a16:creationId xmlns:a16="http://schemas.microsoft.com/office/drawing/2014/main" id="{62AE1450-4DBD-48C3-A95E-13DC636E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478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空白首轮检验</a:t>
            </a:r>
          </a:p>
        </p:txBody>
      </p:sp>
      <p:sp>
        <p:nvSpPr>
          <p:cNvPr id="15" name="p03-d2">
            <a:extLst xmlns:a="http://schemas.openxmlformats.org/drawingml/2006/main">
              <a:ext uri="{FF2B5EF4-FFF2-40B4-BE49-F238E27FC236}">
                <a16:creationId xmlns:a16="http://schemas.microsoft.com/office/drawing/2014/main" id="{8E34143C-CF79-44D7-8D3F-8ADFFA71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764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三步检验 + 候选题表述与路径标签</a:t>
            </a:r>
          </a:p>
        </p:txBody>
      </p:sp>
      <p:sp>
        <p:nvSpPr>
          <p:cNvPr id="16" name="p03-n3">
            <a:extLst xmlns:a="http://schemas.openxmlformats.org/drawingml/2006/main">
              <a:ext uri="{FF2B5EF4-FFF2-40B4-BE49-F238E27FC236}">
                <a16:creationId xmlns:a16="http://schemas.microsoft.com/office/drawing/2014/main" id="{6D17B055-7645-44B1-A100-BDFF9F36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95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7" name="p03-h3">
            <a:extLst xmlns:a="http://schemas.openxmlformats.org/drawingml/2006/main">
              <a:ext uri="{FF2B5EF4-FFF2-40B4-BE49-F238E27FC236}">
                <a16:creationId xmlns:a16="http://schemas.microsoft.com/office/drawing/2014/main" id="{0C82DC8D-A8F3-438F-9441-00143604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95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四句 mini review</a:t>
            </a:r>
          </a:p>
        </p:txBody>
      </p:sp>
      <p:sp>
        <p:nvSpPr>
          <p:cNvPr id="18" name="p03-d3">
            <a:extLst xmlns:a="http://schemas.openxmlformats.org/drawingml/2006/main">
              <a:ext uri="{FF2B5EF4-FFF2-40B4-BE49-F238E27FC236}">
                <a16:creationId xmlns:a16="http://schemas.microsoft.com/office/drawing/2014/main" id="{BAD2C141-6CE1-4506-A14B-AFEA6749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 / 证据 / 分歧 / 空白</a:t>
            </a:r>
          </a:p>
        </p:txBody>
      </p:sp>
      <p:sp>
        <p:nvSpPr>
          <p:cNvPr id="19" name="p03-n4">
            <a:extLst xmlns:a="http://schemas.openxmlformats.org/drawingml/2006/main">
              <a:ext uri="{FF2B5EF4-FFF2-40B4-BE49-F238E27FC236}">
                <a16:creationId xmlns:a16="http://schemas.microsoft.com/office/drawing/2014/main" id="{FFB7F9EC-A32D-49F1-B41B-BC0F59AD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56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0" name="p03-h4">
            <a:extLst xmlns:a="http://schemas.openxmlformats.org/drawingml/2006/main">
              <a:ext uri="{FF2B5EF4-FFF2-40B4-BE49-F238E27FC236}">
                <a16:creationId xmlns:a16="http://schemas.microsoft.com/office/drawing/2014/main" id="{0A2EE61C-2E40-4BFA-A8F1-BDA68BA4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95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一条 AI 核验</a:t>
            </a:r>
          </a:p>
        </p:txBody>
      </p:sp>
      <p:sp>
        <p:nvSpPr>
          <p:cNvPr id="21" name="p03-d4">
            <a:extLst xmlns:a="http://schemas.openxmlformats.org/drawingml/2006/main">
              <a:ext uri="{FF2B5EF4-FFF2-40B4-BE49-F238E27FC236}">
                <a16:creationId xmlns:a16="http://schemas.microsoft.com/office/drawing/2014/main" id="{B19E9CF0-C481-473A-8979-8B6940CF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2427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处理决定 + 使用记录</a:t>
            </a:r>
          </a:p>
        </p:txBody>
      </p:sp>
      <p:sp>
        <p:nvSpPr>
          <p:cNvPr id="22" name="p03-boundary">
            <a:extLst xmlns:a="http://schemas.openxmlformats.org/drawingml/2006/main">
              <a:ext uri="{FF2B5EF4-FFF2-40B4-BE49-F238E27FC236}">
                <a16:creationId xmlns:a16="http://schemas.microsoft.com/office/drawing/2014/main" id="{9787ADFF-2CAE-4589-9928-0FCA4A08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10125"/>
            <a:ext cx="971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本课不正式提交；以上工件进入第 6 课问题门，不等于完整 related work。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摘要堆叠为什么不算综述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left-h">
            <a:extLst xmlns:a="http://schemas.openxmlformats.org/drawingml/2006/main">
              <a:ext uri="{FF2B5EF4-FFF2-40B4-BE49-F238E27FC236}">
                <a16:creationId xmlns:a16="http://schemas.microsoft.com/office/drawing/2014/main" id="{1930694A-72B0-4AE2-BF08-5CBC63DB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438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按论文排列</a:t>
            </a:r>
          </a:p>
        </p:txBody>
      </p:sp>
      <p:sp>
        <p:nvSpPr>
          <p:cNvPr id="7" name="p04-a0">
            <a:extLst xmlns:a="http://schemas.openxmlformats.org/drawingml/2006/main">
              <a:ext uri="{FF2B5EF4-FFF2-40B4-BE49-F238E27FC236}">
                <a16:creationId xmlns:a16="http://schemas.microsoft.com/office/drawing/2014/main" id="{365334D0-6737-431F-BA1B-DA0B5713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621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A 摘要</a:t>
            </a:r>
          </a:p>
        </p:txBody>
      </p:sp>
      <p:sp>
        <p:nvSpPr>
          <p:cNvPr id="8" name="p04-a1">
            <a:extLst xmlns:a="http://schemas.openxmlformats.org/drawingml/2006/main">
              <a:ext uri="{FF2B5EF4-FFF2-40B4-BE49-F238E27FC236}">
                <a16:creationId xmlns:a16="http://schemas.microsoft.com/office/drawing/2014/main" id="{14D8796A-3DBD-4EDB-8A25-46109B23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B 摘要</a:t>
            </a:r>
          </a:p>
        </p:txBody>
      </p:sp>
      <p:sp>
        <p:nvSpPr>
          <p:cNvPr id="9" name="p04-a2">
            <a:extLst xmlns:a="http://schemas.openxmlformats.org/drawingml/2006/main">
              <a:ext uri="{FF2B5EF4-FFF2-40B4-BE49-F238E27FC236}">
                <a16:creationId xmlns:a16="http://schemas.microsoft.com/office/drawing/2014/main" id="{84661D64-C96A-41E8-9D7F-FA2B7BE0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论文 C 摘要</a:t>
            </a:r>
          </a:p>
        </p:txBody>
      </p:sp>
      <p:sp>
        <p:nvSpPr>
          <p:cNvPr id="10" name="p04-neq">
            <a:extLst xmlns:a="http://schemas.openxmlformats.org/drawingml/2006/main">
              <a:ext uri="{FF2B5EF4-FFF2-40B4-BE49-F238E27FC236}">
                <a16:creationId xmlns:a16="http://schemas.microsoft.com/office/drawing/2014/main" id="{D412A293-57BD-4D3A-B939-6A85AA19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19375"/>
            <a:ext cx="1104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4500" b="1">
                <a:solidFill>
                  <a:srgbClr val="C8161E"/>
                </a:solidFill>
              </a:defRPr>
            </a:pPr>
            <a:r>
              <a:rPr sz="4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1" name="p04-right-h">
            <a:extLst xmlns:a="http://schemas.openxmlformats.org/drawingml/2006/main">
              <a:ext uri="{FF2B5EF4-FFF2-40B4-BE49-F238E27FC236}">
                <a16:creationId xmlns:a16="http://schemas.microsoft.com/office/drawing/2014/main" id="{009B1E5C-F0AF-4641-88CF-90D958F7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28700"/>
            <a:ext cx="438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按问题组织</a:t>
            </a:r>
          </a:p>
        </p:txBody>
      </p:sp>
      <p:sp>
        <p:nvSpPr>
          <p:cNvPr id="12" name="p04-q0">
            <a:extLst xmlns:a="http://schemas.openxmlformats.org/drawingml/2006/main">
              <a:ext uri="{FF2B5EF4-FFF2-40B4-BE49-F238E27FC236}">
                <a16:creationId xmlns:a16="http://schemas.microsoft.com/office/drawing/2014/main" id="{E309EC77-E29F-4EA9-A3A2-98D9A744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621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共同回答什么？</a:t>
            </a:r>
          </a:p>
        </p:txBody>
      </p:sp>
      <p:sp>
        <p:nvSpPr>
          <p:cNvPr id="13" name="p04-q1">
            <a:extLst xmlns:a="http://schemas.openxmlformats.org/drawingml/2006/main">
              <a:ext uri="{FF2B5EF4-FFF2-40B4-BE49-F238E27FC236}">
                <a16:creationId xmlns:a16="http://schemas.microsoft.com/office/drawing/2014/main" id="{06815AD4-9732-46B3-83BD-87B12A20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384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哪里冲突或不可比？</a:t>
            </a:r>
          </a:p>
        </p:txBody>
      </p:sp>
      <p:sp>
        <p:nvSpPr>
          <p:cNvPr id="14" name="p04-q2">
            <a:extLst xmlns:a="http://schemas.openxmlformats.org/drawingml/2006/main">
              <a:ext uri="{FF2B5EF4-FFF2-40B4-BE49-F238E27FC236}">
                <a16:creationId xmlns:a16="http://schemas.microsoft.com/office/drawing/2014/main" id="{9BABD5D8-7C24-4574-9ABF-B66B4A98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14725"/>
            <a:ext cx="3714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什么仍是空白？</a:t>
            </a:r>
          </a:p>
        </p:txBody>
      </p:sp>
      <p:sp>
        <p:nvSpPr>
          <p:cNvPr id="15" name="p04-bottom">
            <a:extLst xmlns:a="http://schemas.openxmlformats.org/drawingml/2006/main">
              <a:ext uri="{FF2B5EF4-FFF2-40B4-BE49-F238E27FC236}">
                <a16:creationId xmlns:a16="http://schemas.microsoft.com/office/drawing/2014/main" id="{9C013FF7-4B0D-44BD-887B-25888000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62500"/>
            <a:ext cx="790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摘要堆叠保留了顺序，却丢失了证据关系。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叙事性综述与系统性综述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h-0">
            <a:extLst xmlns:a="http://schemas.openxmlformats.org/drawingml/2006/main">
              <a:ext uri="{FF2B5EF4-FFF2-40B4-BE49-F238E27FC236}">
                <a16:creationId xmlns:a16="http://schemas.microsoft.com/office/drawing/2014/main" id="{5AD97529-B7D1-48B0-8F12-EBDC65BC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维度</a:t>
            </a:r>
          </a:p>
        </p:txBody>
      </p:sp>
      <p:sp>
        <p:nvSpPr>
          <p:cNvPr id="7" name="p05-h-1">
            <a:extLst xmlns:a="http://schemas.openxmlformats.org/drawingml/2006/main">
              <a:ext uri="{FF2B5EF4-FFF2-40B4-BE49-F238E27FC236}">
                <a16:creationId xmlns:a16="http://schemas.microsoft.com/office/drawing/2014/main" id="{0CCA0509-46F0-47CF-A272-100570CB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43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叙事性综述</a:t>
            </a:r>
          </a:p>
        </p:txBody>
      </p:sp>
      <p:sp>
        <p:nvSpPr>
          <p:cNvPr id="8" name="p05-h-2">
            <a:extLst xmlns:a="http://schemas.openxmlformats.org/drawingml/2006/main">
              <a:ext uri="{FF2B5EF4-FFF2-40B4-BE49-F238E27FC236}">
                <a16:creationId xmlns:a16="http://schemas.microsoft.com/office/drawing/2014/main" id="{D48759C7-DB36-4140-988F-B08F9BBB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143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系统性综述</a:t>
            </a:r>
          </a:p>
        </p:txBody>
      </p:sp>
      <p:sp>
        <p:nvSpPr>
          <p:cNvPr id="9" name="p05-r0-0">
            <a:extLst xmlns:a="http://schemas.openxmlformats.org/drawingml/2006/main">
              <a:ext uri="{FF2B5EF4-FFF2-40B4-BE49-F238E27FC236}">
                <a16:creationId xmlns:a16="http://schemas.microsoft.com/office/drawing/2014/main" id="{EC86B65E-971A-4D8F-98F1-DFD6D230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430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10" name="p05-r0-1">
            <a:extLst xmlns:a="http://schemas.openxmlformats.org/drawingml/2006/main">
              <a:ext uri="{FF2B5EF4-FFF2-40B4-BE49-F238E27FC236}">
                <a16:creationId xmlns:a16="http://schemas.microsoft.com/office/drawing/2014/main" id="{B91E2ACB-32EE-4FBF-AA84-AB1B12B3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5430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解释主题、机制或冲突</a:t>
            </a:r>
          </a:p>
        </p:txBody>
      </p:sp>
      <p:sp>
        <p:nvSpPr>
          <p:cNvPr id="11" name="p05-r0-2">
            <a:extLst xmlns:a="http://schemas.openxmlformats.org/drawingml/2006/main">
              <a:ext uri="{FF2B5EF4-FFF2-40B4-BE49-F238E27FC236}">
                <a16:creationId xmlns:a16="http://schemas.microsoft.com/office/drawing/2014/main" id="{7C973DC2-A4D8-4D9D-AEF4-2FD5953B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430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按预设协议回答明确问题</a:t>
            </a:r>
          </a:p>
        </p:txBody>
      </p:sp>
      <p:sp>
        <p:nvSpPr>
          <p:cNvPr id="12" name="p05-r1-0">
            <a:extLst xmlns:a="http://schemas.openxmlformats.org/drawingml/2006/main">
              <a:ext uri="{FF2B5EF4-FFF2-40B4-BE49-F238E27FC236}">
                <a16:creationId xmlns:a16="http://schemas.microsoft.com/office/drawing/2014/main" id="{0AC96FBB-382D-4777-80CE-5E5E6FDC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860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13" name="p05-r1-1">
            <a:extLst xmlns:a="http://schemas.openxmlformats.org/drawingml/2006/main">
              <a:ext uri="{FF2B5EF4-FFF2-40B4-BE49-F238E27FC236}">
                <a16:creationId xmlns:a16="http://schemas.microsoft.com/office/drawing/2014/main" id="{685CF23A-009F-492C-9339-D991A6C4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286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范围由研究者说明</a:t>
            </a:r>
          </a:p>
        </p:txBody>
      </p:sp>
      <p:sp>
        <p:nvSpPr>
          <p:cNvPr id="14" name="p05-r1-2">
            <a:extLst xmlns:a="http://schemas.openxmlformats.org/drawingml/2006/main">
              <a:ext uri="{FF2B5EF4-FFF2-40B4-BE49-F238E27FC236}">
                <a16:creationId xmlns:a16="http://schemas.microsoft.com/office/drawing/2014/main" id="{F6B4CFFE-3445-4FCB-95AA-62D9B6E4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860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检索与纳入排除规则预先定义</a:t>
            </a:r>
          </a:p>
        </p:txBody>
      </p:sp>
      <p:sp>
        <p:nvSpPr>
          <p:cNvPr id="15" name="p05-r2-0">
            <a:extLst xmlns:a="http://schemas.openxmlformats.org/drawingml/2006/main">
              <a:ext uri="{FF2B5EF4-FFF2-40B4-BE49-F238E27FC236}">
                <a16:creationId xmlns:a16="http://schemas.microsoft.com/office/drawing/2014/main" id="{AFFA7FEA-983A-4712-9450-AAC7CDBF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2895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综合</a:t>
            </a:r>
          </a:p>
        </p:txBody>
      </p:sp>
      <p:sp>
        <p:nvSpPr>
          <p:cNvPr id="16" name="p05-r2-1">
            <a:extLst xmlns:a="http://schemas.openxmlformats.org/drawingml/2006/main">
              <a:ext uri="{FF2B5EF4-FFF2-40B4-BE49-F238E27FC236}">
                <a16:creationId xmlns:a16="http://schemas.microsoft.com/office/drawing/2014/main" id="{E57EDC48-D9B9-4894-B8F9-6B247C9F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289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按主题或机制组织</a:t>
            </a:r>
          </a:p>
        </p:txBody>
      </p:sp>
      <p:sp>
        <p:nvSpPr>
          <p:cNvPr id="17" name="p05-r2-2">
            <a:extLst xmlns:a="http://schemas.openxmlformats.org/drawingml/2006/main">
              <a:ext uri="{FF2B5EF4-FFF2-40B4-BE49-F238E27FC236}">
                <a16:creationId xmlns:a16="http://schemas.microsoft.com/office/drawing/2014/main" id="{1F50CA3D-E307-4F8A-842B-C379BD4E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按固定字段提取并合成</a:t>
            </a:r>
          </a:p>
        </p:txBody>
      </p:sp>
      <p:sp>
        <p:nvSpPr>
          <p:cNvPr id="18" name="p05-r3-0">
            <a:extLst xmlns:a="http://schemas.openxmlformats.org/drawingml/2006/main">
              <a:ext uri="{FF2B5EF4-FFF2-40B4-BE49-F238E27FC236}">
                <a16:creationId xmlns:a16="http://schemas.microsoft.com/office/drawing/2014/main" id="{1CF0C2BC-C012-4A10-91CE-69A3B6D5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7719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</a:t>
            </a:r>
          </a:p>
        </p:txBody>
      </p:sp>
      <p:sp>
        <p:nvSpPr>
          <p:cNvPr id="19" name="p05-r3-1">
            <a:extLst xmlns:a="http://schemas.openxmlformats.org/drawingml/2006/main">
              <a:ext uri="{FF2B5EF4-FFF2-40B4-BE49-F238E27FC236}">
                <a16:creationId xmlns:a16="http://schemas.microsoft.com/office/drawing/2014/main" id="{3D38BFC0-BBD4-4F48-BF08-2315534F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7719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选择性引用、忽视冲突</a:t>
            </a:r>
          </a:p>
        </p:txBody>
      </p:sp>
      <p:sp>
        <p:nvSpPr>
          <p:cNvPr id="20" name="p05-r3-2">
            <a:extLst xmlns:a="http://schemas.openxmlformats.org/drawingml/2006/main">
              <a:ext uri="{FF2B5EF4-FFF2-40B4-BE49-F238E27FC236}">
                <a16:creationId xmlns:a16="http://schemas.microsoft.com/office/drawing/2014/main" id="{7B197DB2-61FB-45B3-8CEB-E881D5CD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71900"/>
            <a:ext cx="476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机械套用、强合并不可比研究</a:t>
            </a:r>
          </a:p>
        </p:txBody>
      </p:sp>
      <p:sp>
        <p:nvSpPr>
          <p:cNvPr id="21" name="p05-bottom">
            <a:extLst xmlns:a="http://schemas.openxmlformats.org/drawingml/2006/main">
              <a:ext uri="{FF2B5EF4-FFF2-40B4-BE49-F238E27FC236}">
                <a16:creationId xmlns:a16="http://schemas.microsoft.com/office/drawing/2014/main" id="{3D271180-E046-4CF8-9C05-7D78DC0E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62500"/>
            <a:ext cx="9239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本课不要求完整系统综述，但要求过程可复盘、证据可定位。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相关工作矩阵：从按论文排列到按问题排列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rule">
            <a:extLst xmlns:a="http://schemas.openxmlformats.org/drawingml/2006/main">
              <a:ext uri="{FF2B5EF4-FFF2-40B4-BE49-F238E27FC236}">
                <a16:creationId xmlns:a16="http://schemas.microsoft.com/office/drawing/2014/main" id="{1C12A3E9-E271-4682-8FB5-0F0F2A10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97155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行 = 已核验材料　｜　列 = 从研究问题拆出的子问题</a:t>
            </a:r>
          </a:p>
        </p:txBody>
      </p:sp>
      <p:sp>
        <p:nvSpPr>
          <p:cNvPr id="7" name="p06-h-0">
            <a:extLst xmlns:a="http://schemas.openxmlformats.org/drawingml/2006/main">
              <a:ext uri="{FF2B5EF4-FFF2-40B4-BE49-F238E27FC236}">
                <a16:creationId xmlns:a16="http://schemas.microsoft.com/office/drawing/2014/main" id="{CAC58662-3FC6-4253-8F66-6D9039A3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材料</a:t>
            </a:r>
          </a:p>
        </p:txBody>
      </p:sp>
      <p:sp>
        <p:nvSpPr>
          <p:cNvPr id="8" name="p06-h-1">
            <a:extLst xmlns:a="http://schemas.openxmlformats.org/drawingml/2006/main">
              <a:ext uri="{FF2B5EF4-FFF2-40B4-BE49-F238E27FC236}">
                <a16:creationId xmlns:a16="http://schemas.microsoft.com/office/drawing/2014/main" id="{BC105E96-C417-412F-8ABB-049B78C7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 定位原文</a:t>
            </a:r>
          </a:p>
        </p:txBody>
      </p:sp>
      <p:sp>
        <p:nvSpPr>
          <p:cNvPr id="9" name="p06-h-2">
            <a:extLst xmlns:a="http://schemas.openxmlformats.org/drawingml/2006/main">
              <a:ext uri="{FF2B5EF4-FFF2-40B4-BE49-F238E27FC236}">
                <a16:creationId xmlns:a16="http://schemas.microsoft.com/office/drawing/2014/main" id="{8AAC1790-6337-4174-B1B3-A218C8EF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 定义遗漏</a:t>
            </a:r>
          </a:p>
        </p:txBody>
      </p:sp>
      <p:sp>
        <p:nvSpPr>
          <p:cNvPr id="10" name="p06-h-3">
            <a:extLst xmlns:a="http://schemas.openxmlformats.org/drawingml/2006/main">
              <a:ext uri="{FF2B5EF4-FFF2-40B4-BE49-F238E27FC236}">
                <a16:creationId xmlns:a16="http://schemas.microsoft.com/office/drawing/2014/main" id="{68465E21-A2B8-418D-9B61-B3D66856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 设置对照</a:t>
            </a:r>
          </a:p>
        </p:txBody>
      </p:sp>
      <p:sp>
        <p:nvSpPr>
          <p:cNvPr id="11" name="p06-h-4">
            <a:extLst xmlns:a="http://schemas.openxmlformats.org/drawingml/2006/main">
              <a:ext uri="{FF2B5EF4-FFF2-40B4-BE49-F238E27FC236}">
                <a16:creationId xmlns:a16="http://schemas.microsoft.com/office/drawing/2014/main" id="{11EF9FE4-9455-410A-B644-0BA770C3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候选角色</a:t>
            </a:r>
          </a:p>
        </p:txBody>
      </p:sp>
      <p:sp>
        <p:nvSpPr>
          <p:cNvPr id="12" name="p06-r0-0">
            <a:extLst xmlns:a="http://schemas.openxmlformats.org/drawingml/2006/main">
              <a:ext uri="{FF2B5EF4-FFF2-40B4-BE49-F238E27FC236}">
                <a16:creationId xmlns:a16="http://schemas.microsoft.com/office/drawing/2014/main" id="{D1F8AAE3-6954-43E8-B4F2-0E9CF27B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14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13" name="p06-r0-1">
            <a:extLst xmlns:a="http://schemas.openxmlformats.org/drawingml/2006/main">
              <a:ext uri="{FF2B5EF4-FFF2-40B4-BE49-F238E27FC236}">
                <a16:creationId xmlns:a16="http://schemas.microsoft.com/office/drawing/2014/main" id="{373BECF7-9CC3-4B51-97D3-1512EA05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4" name="p06-r0-2">
            <a:extLst xmlns:a="http://schemas.openxmlformats.org/drawingml/2006/main">
              <a:ext uri="{FF2B5EF4-FFF2-40B4-BE49-F238E27FC236}">
                <a16:creationId xmlns:a16="http://schemas.microsoft.com/office/drawing/2014/main" id="{7022EA1F-78F1-4E84-8FC6-F9CFEF86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5" name="p06-r0-3">
            <a:extLst xmlns:a="http://schemas.openxmlformats.org/drawingml/2006/main">
              <a:ext uri="{FF2B5EF4-FFF2-40B4-BE49-F238E27FC236}">
                <a16:creationId xmlns:a16="http://schemas.microsoft.com/office/drawing/2014/main" id="{C4E2647F-1E46-4A18-9C7D-451678D3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6" name="p06-r0-4">
            <a:extLst xmlns:a="http://schemas.openxmlformats.org/drawingml/2006/main">
              <a:ext uri="{FF2B5EF4-FFF2-40B4-BE49-F238E27FC236}">
                <a16:creationId xmlns:a16="http://schemas.microsoft.com/office/drawing/2014/main" id="{1314CCB3-17D4-48CC-B894-ACDD1AF0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</a:t>
            </a:r>
          </a:p>
        </p:txBody>
      </p:sp>
      <p:sp>
        <p:nvSpPr>
          <p:cNvPr id="17" name="p06-r1-0">
            <a:extLst xmlns:a="http://schemas.openxmlformats.org/drawingml/2006/main">
              <a:ext uri="{FF2B5EF4-FFF2-40B4-BE49-F238E27FC236}">
                <a16:creationId xmlns:a16="http://schemas.microsoft.com/office/drawing/2014/main" id="{E2EBEF9E-D9E6-4329-AA1B-57F8AECF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18" name="p06-r1-1">
            <a:extLst xmlns:a="http://schemas.openxmlformats.org/drawingml/2006/main">
              <a:ext uri="{FF2B5EF4-FFF2-40B4-BE49-F238E27FC236}">
                <a16:creationId xmlns:a16="http://schemas.microsoft.com/office/drawing/2014/main" id="{9D7CB1B0-1E16-4DBD-AE94-AB7C7860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19" name="p06-r1-2">
            <a:extLst xmlns:a="http://schemas.openxmlformats.org/drawingml/2006/main">
              <a:ext uri="{FF2B5EF4-FFF2-40B4-BE49-F238E27FC236}">
                <a16:creationId xmlns:a16="http://schemas.microsoft.com/office/drawing/2014/main" id="{C85281B9-E69E-4085-9F89-C8B055B2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0" name="p06-r1-3">
            <a:extLst xmlns:a="http://schemas.openxmlformats.org/drawingml/2006/main">
              <a:ext uri="{FF2B5EF4-FFF2-40B4-BE49-F238E27FC236}">
                <a16:creationId xmlns:a16="http://schemas.microsoft.com/office/drawing/2014/main" id="{2A03D9B7-C1E9-4E6C-9A63-AE9E7993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21" name="p06-r1-4">
            <a:extLst xmlns:a="http://schemas.openxmlformats.org/drawingml/2006/main">
              <a:ext uri="{FF2B5EF4-FFF2-40B4-BE49-F238E27FC236}">
                <a16:creationId xmlns:a16="http://schemas.microsoft.com/office/drawing/2014/main" id="{75F4D4FC-E196-475F-9078-AC55E200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860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</a:t>
            </a:r>
          </a:p>
        </p:txBody>
      </p:sp>
      <p:sp>
        <p:nvSpPr>
          <p:cNvPr id="22" name="p06-r2-0">
            <a:extLst xmlns:a="http://schemas.openxmlformats.org/drawingml/2006/main">
              <a:ext uri="{FF2B5EF4-FFF2-40B4-BE49-F238E27FC236}">
                <a16:creationId xmlns:a16="http://schemas.microsoft.com/office/drawing/2014/main" id="{883EC35B-81D9-4D5E-B8FB-6D16CFE6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23" name="p06-r2-1">
            <a:extLst xmlns:a="http://schemas.openxmlformats.org/drawingml/2006/main">
              <a:ext uri="{FF2B5EF4-FFF2-40B4-BE49-F238E27FC236}">
                <a16:creationId xmlns:a16="http://schemas.microsoft.com/office/drawing/2014/main" id="{32377FA1-F62E-482E-8640-D42FEC5D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否</a:t>
            </a:r>
          </a:p>
        </p:txBody>
      </p:sp>
      <p:sp>
        <p:nvSpPr>
          <p:cNvPr id="24" name="p06-r2-2">
            <a:extLst xmlns:a="http://schemas.openxmlformats.org/drawingml/2006/main">
              <a:ext uri="{FF2B5EF4-FFF2-40B4-BE49-F238E27FC236}">
                <a16:creationId xmlns:a16="http://schemas.microsoft.com/office/drawing/2014/main" id="{AB9A25A7-23FD-46B2-A39E-85537D96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检索任务</a:t>
            </a:r>
          </a:p>
        </p:txBody>
      </p:sp>
      <p:sp>
        <p:nvSpPr>
          <p:cNvPr id="25" name="p06-r2-3">
            <a:extLst xmlns:a="http://schemas.openxmlformats.org/drawingml/2006/main">
              <a:ext uri="{FF2B5EF4-FFF2-40B4-BE49-F238E27FC236}">
                <a16:creationId xmlns:a16="http://schemas.microsoft.com/office/drawing/2014/main" id="{685BF5A8-ADA2-4E1D-8594-3EF5B53E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</a:t>
            </a:r>
          </a:p>
        </p:txBody>
      </p:sp>
      <p:sp>
        <p:nvSpPr>
          <p:cNvPr id="26" name="p06-r2-4">
            <a:extLst xmlns:a="http://schemas.openxmlformats.org/drawingml/2006/main">
              <a:ext uri="{FF2B5EF4-FFF2-40B4-BE49-F238E27FC236}">
                <a16:creationId xmlns:a16="http://schemas.microsoft.com/office/drawing/2014/main" id="{70B5529A-04D1-45F8-8B9B-2FD5897B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</a:t>
            </a:r>
          </a:p>
        </p:txBody>
      </p:sp>
      <p:sp>
        <p:nvSpPr>
          <p:cNvPr id="27" name="p06-r3-0">
            <a:extLst xmlns:a="http://schemas.openxmlformats.org/drawingml/2006/main">
              <a:ext uri="{FF2B5EF4-FFF2-40B4-BE49-F238E27FC236}">
                <a16:creationId xmlns:a16="http://schemas.microsoft.com/office/drawing/2014/main" id="{F13A349F-0B6F-4409-98F6-48AD19B7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28" name="p06-r3-1">
            <a:extLst xmlns:a="http://schemas.openxmlformats.org/drawingml/2006/main">
              <a:ext uri="{FF2B5EF4-FFF2-40B4-BE49-F238E27FC236}">
                <a16:creationId xmlns:a16="http://schemas.microsoft.com/office/drawing/2014/main" id="{A242FCBE-5682-49EF-B30F-9111F2CE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相反结论</a:t>
            </a:r>
          </a:p>
        </p:txBody>
      </p:sp>
      <p:sp>
        <p:nvSpPr>
          <p:cNvPr id="29" name="p06-r3-2">
            <a:extLst xmlns:a="http://schemas.openxmlformats.org/drawingml/2006/main">
              <a:ext uri="{FF2B5EF4-FFF2-40B4-BE49-F238E27FC236}">
                <a16:creationId xmlns:a16="http://schemas.microsoft.com/office/drawing/2014/main" id="{A15CFE5C-8710-4D24-87F6-C67E5D59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0" name="p06-r3-3">
            <a:extLst xmlns:a="http://schemas.openxmlformats.org/drawingml/2006/main">
              <a:ext uri="{FF2B5EF4-FFF2-40B4-BE49-F238E27FC236}">
                <a16:creationId xmlns:a16="http://schemas.microsoft.com/office/drawing/2014/main" id="{26A5D9F7-AAE0-4A53-9355-E1FFC512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1" name="p06-r3-4">
            <a:extLst xmlns:a="http://schemas.openxmlformats.org/drawingml/2006/main">
              <a:ext uri="{FF2B5EF4-FFF2-40B4-BE49-F238E27FC236}">
                <a16:creationId xmlns:a16="http://schemas.microsoft.com/office/drawing/2014/main" id="{190DB426-1D53-4C72-B41B-C68DE69B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290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32" name="p06-r4-0">
            <a:extLst xmlns:a="http://schemas.openxmlformats.org/drawingml/2006/main">
              <a:ext uri="{FF2B5EF4-FFF2-40B4-BE49-F238E27FC236}">
                <a16:creationId xmlns:a16="http://schemas.microsoft.com/office/drawing/2014/main" id="{56CDF7E2-01A1-458A-ABFF-11C76E42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1143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E</a:t>
            </a:r>
          </a:p>
        </p:txBody>
      </p:sp>
      <p:sp>
        <p:nvSpPr>
          <p:cNvPr id="33" name="p06-r4-1">
            <a:extLst xmlns:a="http://schemas.openxmlformats.org/drawingml/2006/main">
              <a:ext uri="{FF2B5EF4-FFF2-40B4-BE49-F238E27FC236}">
                <a16:creationId xmlns:a16="http://schemas.microsoft.com/office/drawing/2014/main" id="{9FA66BCD-F771-41F6-88D3-1D541348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4" name="p06-r4-2">
            <a:extLst xmlns:a="http://schemas.openxmlformats.org/drawingml/2006/main">
              <a:ext uri="{FF2B5EF4-FFF2-40B4-BE49-F238E27FC236}">
                <a16:creationId xmlns:a16="http://schemas.microsoft.com/office/drawing/2014/main" id="{7BDF822D-D5EA-4B5B-95DA-EAD32AD2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5" name="p06-r4-3">
            <a:extLst xmlns:a="http://schemas.openxmlformats.org/drawingml/2006/main">
              <a:ext uri="{FF2B5EF4-FFF2-40B4-BE49-F238E27FC236}">
                <a16:creationId xmlns:a16="http://schemas.microsoft.com/office/drawing/2014/main" id="{42988A12-254F-43A9-A3E4-DD48A4EC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00550"/>
            <a:ext cx="228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6" name="p06-r4-4">
            <a:extLst xmlns:a="http://schemas.openxmlformats.org/drawingml/2006/main">
              <a:ext uri="{FF2B5EF4-FFF2-40B4-BE49-F238E27FC236}">
                <a16:creationId xmlns:a16="http://schemas.microsoft.com/office/drawing/2014/main" id="{1BF0733D-B30F-48CD-8AD5-7D22CB7A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005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空白候选</a:t>
            </a:r>
          </a:p>
        </p:txBody>
      </p:sp>
      <p:sp>
        <p:nvSpPr>
          <p:cNvPr id="37" name="p06-bottom">
            <a:extLst xmlns:a="http://schemas.openxmlformats.org/drawingml/2006/main">
              <a:ext uri="{FF2B5EF4-FFF2-40B4-BE49-F238E27FC236}">
                <a16:creationId xmlns:a16="http://schemas.microsoft.com/office/drawing/2014/main" id="{BCA06208-AA1F-43DE-8397-99D74C7E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673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空格只说明“当前地图未回答”，不自动证明领域没人做过。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证据地图：从文献角色到问题门四视图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left-h">
            <a:extLst xmlns:a="http://schemas.openxmlformats.org/drawingml/2006/main">
              <a:ext uri="{FF2B5EF4-FFF2-40B4-BE49-F238E27FC236}">
                <a16:creationId xmlns:a16="http://schemas.microsoft.com/office/drawing/2014/main" id="{3D606E0A-615E-4E84-B4FE-90CDB142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1550"/>
            <a:ext cx="419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第 3 课：候选文献角色</a:t>
            </a:r>
          </a:p>
        </p:txBody>
      </p:sp>
      <p:sp>
        <p:nvSpPr>
          <p:cNvPr id="7" name="p07-l0">
            <a:extLst xmlns:a="http://schemas.openxmlformats.org/drawingml/2006/main">
              <a:ext uri="{FF2B5EF4-FFF2-40B4-BE49-F238E27FC236}">
                <a16:creationId xmlns:a16="http://schemas.microsoft.com/office/drawing/2014/main" id="{C5DBFDB1-D94E-47A6-A608-15214BCC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</a:t>
            </a:r>
          </a:p>
        </p:txBody>
      </p:sp>
      <p:sp>
        <p:nvSpPr>
          <p:cNvPr id="8" name="p07-l1">
            <a:extLst xmlns:a="http://schemas.openxmlformats.org/drawingml/2006/main">
              <a:ext uri="{FF2B5EF4-FFF2-40B4-BE49-F238E27FC236}">
                <a16:creationId xmlns:a16="http://schemas.microsoft.com/office/drawing/2014/main" id="{A0E9FD5E-8EDA-4AC3-8179-0D3FFFD8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9" name="p07-l2">
            <a:extLst xmlns:a="http://schemas.openxmlformats.org/drawingml/2006/main">
              <a:ext uri="{FF2B5EF4-FFF2-40B4-BE49-F238E27FC236}">
                <a16:creationId xmlns:a16="http://schemas.microsoft.com/office/drawing/2014/main" id="{B77EA6EF-A639-46CC-A2FC-64E0C7D4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对比证据</a:t>
            </a:r>
          </a:p>
        </p:txBody>
      </p:sp>
      <p:sp>
        <p:nvSpPr>
          <p:cNvPr id="10" name="p07-l3">
            <a:extLst xmlns:a="http://schemas.openxmlformats.org/drawingml/2006/main">
              <a:ext uri="{FF2B5EF4-FFF2-40B4-BE49-F238E27FC236}">
                <a16:creationId xmlns:a16="http://schemas.microsoft.com/office/drawing/2014/main" id="{EAA4F6F8-720E-49D6-85BE-540A1DDD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3429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684"/>
                </a:solidFill>
              </a:defRPr>
            </a:pPr>
            <a:r>
              <a:rPr sz="157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探索线索</a:t>
            </a:r>
          </a:p>
        </p:txBody>
      </p:sp>
      <p:sp>
        <p:nvSpPr>
          <p:cNvPr id="11" name="p07-a1">
            <a:extLst xmlns:a="http://schemas.openxmlformats.org/drawingml/2006/main">
              <a:ext uri="{FF2B5EF4-FFF2-40B4-BE49-F238E27FC236}">
                <a16:creationId xmlns:a16="http://schemas.microsoft.com/office/drawing/2014/main" id="{8BC07AE2-C064-4A50-9DCC-3794DC06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002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07-a2">
            <a:extLst xmlns:a="http://schemas.openxmlformats.org/drawingml/2006/main">
              <a:ext uri="{FF2B5EF4-FFF2-40B4-BE49-F238E27FC236}">
                <a16:creationId xmlns:a16="http://schemas.microsoft.com/office/drawing/2014/main" id="{279713AB-8FBA-4F70-9B39-F983B3FD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19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07-a3">
            <a:extLst xmlns:a="http://schemas.openxmlformats.org/drawingml/2006/main">
              <a:ext uri="{FF2B5EF4-FFF2-40B4-BE49-F238E27FC236}">
                <a16:creationId xmlns:a16="http://schemas.microsoft.com/office/drawing/2014/main" id="{94CBC907-01E1-46D2-A247-9E3CD060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385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07-a4">
            <a:extLst xmlns:a="http://schemas.openxmlformats.org/drawingml/2006/main">
              <a:ext uri="{FF2B5EF4-FFF2-40B4-BE49-F238E27FC236}">
                <a16:creationId xmlns:a16="http://schemas.microsoft.com/office/drawing/2014/main" id="{2CB02DEB-368D-47E9-8F24-5AB5482B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781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不进入</a:t>
            </a:r>
          </a:p>
        </p:txBody>
      </p:sp>
      <p:sp>
        <p:nvSpPr>
          <p:cNvPr id="15" name="p07-right-h">
            <a:extLst xmlns:a="http://schemas.openxmlformats.org/drawingml/2006/main">
              <a:ext uri="{FF2B5EF4-FFF2-40B4-BE49-F238E27FC236}">
                <a16:creationId xmlns:a16="http://schemas.microsoft.com/office/drawing/2014/main" id="{39E784FB-0146-4B36-9B0D-AED1B3BE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971550"/>
            <a:ext cx="542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问题门：证据地图四视图</a:t>
            </a:r>
          </a:p>
        </p:txBody>
      </p:sp>
      <p:sp>
        <p:nvSpPr>
          <p:cNvPr id="16" name="p07-rh0">
            <a:extLst xmlns:a="http://schemas.openxmlformats.org/drawingml/2006/main">
              <a:ext uri="{FF2B5EF4-FFF2-40B4-BE49-F238E27FC236}">
                <a16:creationId xmlns:a16="http://schemas.microsoft.com/office/drawing/2014/main" id="{824AF0BE-17A8-4095-AB36-349494E0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直接证据</a:t>
            </a:r>
          </a:p>
        </p:txBody>
      </p:sp>
      <p:sp>
        <p:nvSpPr>
          <p:cNvPr id="17" name="p07-rd0">
            <a:extLst xmlns:a="http://schemas.openxmlformats.org/drawingml/2006/main">
              <a:ext uri="{FF2B5EF4-FFF2-40B4-BE49-F238E27FC236}">
                <a16:creationId xmlns:a16="http://schemas.microsoft.com/office/drawing/2014/main" id="{2458FEB0-1BE8-4EC0-891B-26C63A15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811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主证据且直接回答当前子问题</a:t>
            </a:r>
          </a:p>
        </p:txBody>
      </p:sp>
      <p:sp>
        <p:nvSpPr>
          <p:cNvPr id="18" name="p07-rh1">
            <a:extLst xmlns:a="http://schemas.openxmlformats.org/drawingml/2006/main">
              <a:ext uri="{FF2B5EF4-FFF2-40B4-BE49-F238E27FC236}">
                <a16:creationId xmlns:a16="http://schemas.microsoft.com/office/drawing/2014/main" id="{658C7C83-563F-40C7-9E37-957C8D1E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574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补充证据</a:t>
            </a:r>
          </a:p>
        </p:txBody>
      </p:sp>
      <p:sp>
        <p:nvSpPr>
          <p:cNvPr id="19" name="p07-rd1">
            <a:extLst xmlns:a="http://schemas.openxmlformats.org/drawingml/2006/main">
              <a:ext uri="{FF2B5EF4-FFF2-40B4-BE49-F238E27FC236}">
                <a16:creationId xmlns:a16="http://schemas.microsoft.com/office/drawing/2014/main" id="{1B853B02-6C20-41C9-A846-58F6BB07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574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提供不同来源、测量或路径</a:t>
            </a:r>
          </a:p>
        </p:txBody>
      </p:sp>
      <p:sp>
        <p:nvSpPr>
          <p:cNvPr id="20" name="p07-rh2">
            <a:extLst xmlns:a="http://schemas.openxmlformats.org/drawingml/2006/main">
              <a:ext uri="{FF2B5EF4-FFF2-40B4-BE49-F238E27FC236}">
                <a16:creationId xmlns:a16="http://schemas.microsoft.com/office/drawing/2014/main" id="{7BF81041-F8E9-4F56-B3E7-E47D0DF4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337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</a:t>
            </a:r>
          </a:p>
        </p:txBody>
      </p:sp>
      <p:sp>
        <p:nvSpPr>
          <p:cNvPr id="21" name="p07-rd2">
            <a:extLst xmlns:a="http://schemas.openxmlformats.org/drawingml/2006/main">
              <a:ext uri="{FF2B5EF4-FFF2-40B4-BE49-F238E27FC236}">
                <a16:creationId xmlns:a16="http://schemas.microsoft.com/office/drawing/2014/main" id="{767D23C1-7416-4FCD-849D-1FAD9CD9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337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条件可比且结论相反</a:t>
            </a:r>
          </a:p>
        </p:txBody>
      </p:sp>
      <p:sp>
        <p:nvSpPr>
          <p:cNvPr id="22" name="p07-rh3">
            <a:extLst xmlns:a="http://schemas.openxmlformats.org/drawingml/2006/main">
              <a:ext uri="{FF2B5EF4-FFF2-40B4-BE49-F238E27FC236}">
                <a16:creationId xmlns:a16="http://schemas.microsoft.com/office/drawing/2014/main" id="{6479271D-7D03-4E6F-B7CC-92E81F27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10050"/>
            <a:ext cx="1714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</a:t>
            </a:r>
          </a:p>
        </p:txBody>
      </p:sp>
      <p:sp>
        <p:nvSpPr>
          <p:cNvPr id="23" name="p07-rd3">
            <a:extLst xmlns:a="http://schemas.openxmlformats.org/drawingml/2006/main">
              <a:ext uri="{FF2B5EF4-FFF2-40B4-BE49-F238E27FC236}">
                <a16:creationId xmlns:a16="http://schemas.microsoft.com/office/drawing/2014/main" id="{DE782079-8DE1-4898-B53D-387CBCBB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100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当前地图没有直接回答材料</a:t>
            </a:r>
          </a:p>
        </p:txBody>
      </p:sp>
      <p:sp>
        <p:nvSpPr>
          <p:cNvPr id="24" name="p07-bottom">
            <a:extLst xmlns:a="http://schemas.openxmlformats.org/drawingml/2006/main">
              <a:ext uri="{FF2B5EF4-FFF2-40B4-BE49-F238E27FC236}">
                <a16:creationId xmlns:a16="http://schemas.microsoft.com/office/drawing/2014/main" id="{424F4E44-B4D2-44DC-B427-5D12521B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95875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对比证据不自动等于冲突；探索线索不进入主格。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研究空白三类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n0">
            <a:extLst xmlns:a="http://schemas.openxmlformats.org/drawingml/2006/main">
              <a:ext uri="{FF2B5EF4-FFF2-40B4-BE49-F238E27FC236}">
                <a16:creationId xmlns:a16="http://schemas.microsoft.com/office/drawing/2014/main" id="{B8D7663E-A95B-4AF3-994A-28545D19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90625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08-h0">
            <a:extLst xmlns:a="http://schemas.openxmlformats.org/drawingml/2006/main">
              <a:ext uri="{FF2B5EF4-FFF2-40B4-BE49-F238E27FC236}">
                <a16:creationId xmlns:a16="http://schemas.microsoft.com/office/drawing/2014/main" id="{01DA08A8-E2FD-4AC5-A143-B12C04E2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95375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冲突空白</a:t>
            </a:r>
          </a:p>
        </p:txBody>
      </p:sp>
      <p:sp>
        <p:nvSpPr>
          <p:cNvPr id="8" name="p08-d0">
            <a:extLst xmlns:a="http://schemas.openxmlformats.org/drawingml/2006/main">
              <a:ext uri="{FF2B5EF4-FFF2-40B4-BE49-F238E27FC236}">
                <a16:creationId xmlns:a16="http://schemas.microsoft.com/office/drawing/2014/main" id="{35D481C6-B003-4343-BC0D-D1A44F3A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095375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可比条件下结论相反，差异未解释</a:t>
            </a:r>
          </a:p>
        </p:txBody>
      </p:sp>
      <p:sp>
        <p:nvSpPr>
          <p:cNvPr id="9" name="p08-c0">
            <a:extLst xmlns:a="http://schemas.openxmlformats.org/drawingml/2006/main">
              <a:ext uri="{FF2B5EF4-FFF2-40B4-BE49-F238E27FC236}">
                <a16:creationId xmlns:a16="http://schemas.microsoft.com/office/drawing/2014/main" id="{BC0DD707-B072-4EBD-9EE2-E4EF250E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095375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先核对任务、指标、样本</a:t>
            </a:r>
          </a:p>
        </p:txBody>
      </p:sp>
      <p:sp>
        <p:nvSpPr>
          <p:cNvPr id="10" name="p08-n1">
            <a:extLst xmlns:a="http://schemas.openxmlformats.org/drawingml/2006/main">
              <a:ext uri="{FF2B5EF4-FFF2-40B4-BE49-F238E27FC236}">
                <a16:creationId xmlns:a16="http://schemas.microsoft.com/office/drawing/2014/main" id="{55B557D6-8CA1-4D7B-ADF3-B5D5B8D7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95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08-h1">
            <a:extLst xmlns:a="http://schemas.openxmlformats.org/drawingml/2006/main">
              <a:ext uri="{FF2B5EF4-FFF2-40B4-BE49-F238E27FC236}">
                <a16:creationId xmlns:a16="http://schemas.microsoft.com/office/drawing/2014/main" id="{D8C1ADDC-0A96-45FC-A170-31BA2C59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0300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缺角空白</a:t>
            </a:r>
          </a:p>
        </p:txBody>
      </p:sp>
      <p:sp>
        <p:nvSpPr>
          <p:cNvPr id="12" name="p08-d1">
            <a:extLst xmlns:a="http://schemas.openxmlformats.org/drawingml/2006/main">
              <a:ext uri="{FF2B5EF4-FFF2-40B4-BE49-F238E27FC236}">
                <a16:creationId xmlns:a16="http://schemas.microsoft.com/office/drawing/2014/main" id="{E1EF3865-2BC3-49D4-B505-5438863F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00300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某子问题整列空白，邻近条件已有材料</a:t>
            </a:r>
          </a:p>
        </p:txBody>
      </p:sp>
      <p:sp>
        <p:nvSpPr>
          <p:cNvPr id="13" name="p08-c1">
            <a:extLst xmlns:a="http://schemas.openxmlformats.org/drawingml/2006/main">
              <a:ext uri="{FF2B5EF4-FFF2-40B4-BE49-F238E27FC236}">
                <a16:creationId xmlns:a16="http://schemas.microsoft.com/office/drawing/2014/main" id="{A935E594-2C48-4307-995D-9AFB2E83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00300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先做窄检索</a:t>
            </a:r>
          </a:p>
        </p:txBody>
      </p:sp>
      <p:sp>
        <p:nvSpPr>
          <p:cNvPr id="14" name="p08-n2">
            <a:extLst xmlns:a="http://schemas.openxmlformats.org/drawingml/2006/main">
              <a:ext uri="{FF2B5EF4-FFF2-40B4-BE49-F238E27FC236}">
                <a16:creationId xmlns:a16="http://schemas.microsoft.com/office/drawing/2014/main" id="{64977426-7D34-4A91-8B1D-59D16F18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00475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08-h2">
            <a:extLst xmlns:a="http://schemas.openxmlformats.org/drawingml/2006/main">
              <a:ext uri="{FF2B5EF4-FFF2-40B4-BE49-F238E27FC236}">
                <a16:creationId xmlns:a16="http://schemas.microsoft.com/office/drawing/2014/main" id="{E8325641-4E99-4844-8C14-40E7A045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05225"/>
            <a:ext cx="233362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新问题空白</a:t>
            </a:r>
          </a:p>
        </p:txBody>
      </p:sp>
      <p:sp>
        <p:nvSpPr>
          <p:cNvPr id="16" name="p08-d2">
            <a:extLst xmlns:a="http://schemas.openxmlformats.org/drawingml/2006/main">
              <a:ext uri="{FF2B5EF4-FFF2-40B4-BE49-F238E27FC236}">
                <a16:creationId xmlns:a16="http://schemas.microsoft.com/office/drawing/2014/main" id="{1B613052-5A2F-4C28-A845-23414762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05225"/>
            <a:ext cx="4762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新场景、条件或机制衍生的问题</a:t>
            </a:r>
          </a:p>
        </p:txBody>
      </p:sp>
      <p:sp>
        <p:nvSpPr>
          <p:cNvPr id="17" name="p08-c2">
            <a:extLst xmlns:a="http://schemas.openxmlformats.org/drawingml/2006/main">
              <a:ext uri="{FF2B5EF4-FFF2-40B4-BE49-F238E27FC236}">
                <a16:creationId xmlns:a16="http://schemas.microsoft.com/office/drawing/2014/main" id="{6B49E4EE-7BA9-40BE-8C27-9F665233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05225"/>
            <a:ext cx="26193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仍需可证伪</a:t>
            </a:r>
          </a:p>
        </p:txBody>
      </p:sp>
      <p:sp>
        <p:nvSpPr>
          <p:cNvPr id="18" name="p08-bottom">
            <a:extLst xmlns:a="http://schemas.openxmlformats.org/drawingml/2006/main">
              <a:ext uri="{FF2B5EF4-FFF2-40B4-BE49-F238E27FC236}">
                <a16:creationId xmlns:a16="http://schemas.microsoft.com/office/drawing/2014/main" id="{FDBFE9C1-E9B7-40A1-B11F-2446DC33A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“还没有论文写过”不是空白证明，只是待核验的候选表述。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问题生成路径与候选题池：不要停在文献空白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lead">
            <a:extLst xmlns:a="http://schemas.openxmlformats.org/drawingml/2006/main">
              <a:ext uri="{FF2B5EF4-FFF2-40B4-BE49-F238E27FC236}">
                <a16:creationId xmlns:a16="http://schemas.microsoft.com/office/drawing/2014/main" id="{F82CC1D8-9704-4956-918D-E1F37896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876300"/>
            <a:ext cx="1019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三类空白都是文献路径的产物；问题还可以来自文献之外。</a:t>
            </a:r>
          </a:p>
        </p:txBody>
      </p:sp>
      <p:sp>
        <p:nvSpPr>
          <p:cNvPr id="7" name="p09-paths-h-0">
            <a:extLst xmlns:a="http://schemas.openxmlformats.org/drawingml/2006/main">
              <a:ext uri="{FF2B5EF4-FFF2-40B4-BE49-F238E27FC236}">
                <a16:creationId xmlns:a16="http://schemas.microsoft.com/office/drawing/2014/main" id="{C5657FAE-4D10-428F-80B8-AAFEB78C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生成路径</a:t>
            </a:r>
          </a:p>
        </p:txBody>
      </p:sp>
      <p:sp>
        <p:nvSpPr>
          <p:cNvPr id="8" name="p09-paths-h-1">
            <a:extLst xmlns:a="http://schemas.openxmlformats.org/drawingml/2006/main">
              <a:ext uri="{FF2B5EF4-FFF2-40B4-BE49-F238E27FC236}">
                <a16:creationId xmlns:a16="http://schemas.microsoft.com/office/drawing/2014/main" id="{07064295-8818-4E5A-BF6B-8DC66C1A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428750"/>
            <a:ext cx="457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典型形态</a:t>
            </a:r>
          </a:p>
        </p:txBody>
      </p:sp>
      <p:sp>
        <p:nvSpPr>
          <p:cNvPr id="9" name="p09-paths-h-2">
            <a:extLst xmlns:a="http://schemas.openxmlformats.org/drawingml/2006/main">
              <a:ext uri="{FF2B5EF4-FFF2-40B4-BE49-F238E27FC236}">
                <a16:creationId xmlns:a16="http://schemas.microsoft.com/office/drawing/2014/main" id="{5740BBC6-87AA-4EA3-A814-F285AE8F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428750"/>
            <a:ext cx="3429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检索的角色</a:t>
            </a:r>
          </a:p>
        </p:txBody>
      </p:sp>
      <p:sp>
        <p:nvSpPr>
          <p:cNvPr id="10" name="p09-paths-r0-0">
            <a:extLst xmlns:a="http://schemas.openxmlformats.org/drawingml/2006/main">
              <a:ext uri="{FF2B5EF4-FFF2-40B4-BE49-F238E27FC236}">
                <a16:creationId xmlns:a16="http://schemas.microsoft.com/office/drawing/2014/main" id="{7451476C-ADCD-446F-A6D7-7F32E941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288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文献冲突 / 缺口</a:t>
            </a:r>
          </a:p>
        </p:txBody>
      </p:sp>
      <p:sp>
        <p:nvSpPr>
          <p:cNvPr id="11" name="p09-paths-r0-1">
            <a:extLst xmlns:a="http://schemas.openxmlformats.org/drawingml/2006/main">
              <a:ext uri="{FF2B5EF4-FFF2-40B4-BE49-F238E27FC236}">
                <a16:creationId xmlns:a16="http://schemas.microsoft.com/office/drawing/2014/main" id="{C4F04782-03D5-44DA-9CB0-DBDCA24D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82880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证据矛盾或无回答（上页三类空白）</a:t>
            </a:r>
          </a:p>
        </p:txBody>
      </p:sp>
      <p:sp>
        <p:nvSpPr>
          <p:cNvPr id="12" name="p09-paths-r0-2">
            <a:extLst xmlns:a="http://schemas.openxmlformats.org/drawingml/2006/main">
              <a:ext uri="{FF2B5EF4-FFF2-40B4-BE49-F238E27FC236}">
                <a16:creationId xmlns:a16="http://schemas.microsoft.com/office/drawing/2014/main" id="{8083377B-3AEC-4196-83BC-D800ED81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288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确认空白真实</a:t>
            </a:r>
          </a:p>
        </p:txBody>
      </p:sp>
      <p:sp>
        <p:nvSpPr>
          <p:cNvPr id="13" name="p09-paths-r1-0">
            <a:extLst xmlns:a="http://schemas.openxmlformats.org/drawingml/2006/main">
              <a:ext uri="{FF2B5EF4-FFF2-40B4-BE49-F238E27FC236}">
                <a16:creationId xmlns:a16="http://schemas.microsoft.com/office/drawing/2014/main" id="{8DDEBB42-5807-408E-9087-C666C06F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669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异常观察</a:t>
            </a:r>
          </a:p>
        </p:txBody>
      </p:sp>
      <p:sp>
        <p:nvSpPr>
          <p:cNvPr id="14" name="p09-paths-r1-1">
            <a:extLst xmlns:a="http://schemas.openxmlformats.org/drawingml/2006/main">
              <a:ext uri="{FF2B5EF4-FFF2-40B4-BE49-F238E27FC236}">
                <a16:creationId xmlns:a16="http://schemas.microsoft.com/office/drawing/2014/main" id="{987DFA6D-5FB7-4C31-85C7-78D71DF8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6695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观察与预期不符，现有解释覆盖不了</a:t>
            </a:r>
          </a:p>
        </p:txBody>
      </p:sp>
      <p:sp>
        <p:nvSpPr>
          <p:cNvPr id="15" name="p09-paths-r1-2">
            <a:extLst xmlns:a="http://schemas.openxmlformats.org/drawingml/2006/main">
              <a:ext uri="{FF2B5EF4-FFF2-40B4-BE49-F238E27FC236}">
                <a16:creationId xmlns:a16="http://schemas.microsoft.com/office/drawing/2014/main" id="{3EA8B58F-5377-4B6B-A2D4-6404B3C3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669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检验是否已被解释</a:t>
            </a:r>
          </a:p>
        </p:txBody>
      </p:sp>
      <p:sp>
        <p:nvSpPr>
          <p:cNvPr id="16" name="p09-paths-r2-0">
            <a:extLst xmlns:a="http://schemas.openxmlformats.org/drawingml/2006/main">
              <a:ext uri="{FF2B5EF4-FFF2-40B4-BE49-F238E27FC236}">
                <a16:creationId xmlns:a16="http://schemas.microsoft.com/office/drawing/2014/main" id="{C1B418AA-0948-4A49-A220-7A6F09CB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实践痛点</a:t>
            </a:r>
          </a:p>
        </p:txBody>
      </p:sp>
      <p:sp>
        <p:nvSpPr>
          <p:cNvPr id="17" name="p09-paths-r2-1">
            <a:extLst xmlns:a="http://schemas.openxmlformats.org/drawingml/2006/main">
              <a:ext uri="{FF2B5EF4-FFF2-40B4-BE49-F238E27FC236}">
                <a16:creationId xmlns:a16="http://schemas.microsoft.com/office/drawing/2014/main" id="{AE71D915-4A33-424B-A695-F601FF12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0510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自己科研或工程的一手问题</a:t>
            </a:r>
          </a:p>
        </p:txBody>
      </p:sp>
      <p:sp>
        <p:nvSpPr>
          <p:cNvPr id="18" name="p09-paths-r2-2">
            <a:extLst xmlns:a="http://schemas.openxmlformats.org/drawingml/2006/main">
              <a:ext uri="{FF2B5EF4-FFF2-40B4-BE49-F238E27FC236}">
                <a16:creationId xmlns:a16="http://schemas.microsoft.com/office/drawing/2014/main" id="{44E64922-4D4F-4364-8EA2-1A31FB98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051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检验是否已有解法</a:t>
            </a:r>
          </a:p>
        </p:txBody>
      </p:sp>
      <p:sp>
        <p:nvSpPr>
          <p:cNvPr id="19" name="p09-paths-r3-0">
            <a:extLst xmlns:a="http://schemas.openxmlformats.org/drawingml/2006/main">
              <a:ext uri="{FF2B5EF4-FFF2-40B4-BE49-F238E27FC236}">
                <a16:creationId xmlns:a16="http://schemas.microsoft.com/office/drawing/2014/main" id="{610181C0-47DD-458E-B192-2371138C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432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新条件失效</a:t>
            </a:r>
          </a:p>
        </p:txBody>
      </p:sp>
      <p:sp>
        <p:nvSpPr>
          <p:cNvPr id="20" name="p09-paths-r3-1">
            <a:extLst xmlns:a="http://schemas.openxmlformats.org/drawingml/2006/main">
              <a:ext uri="{FF2B5EF4-FFF2-40B4-BE49-F238E27FC236}">
                <a16:creationId xmlns:a16="http://schemas.microsoft.com/office/drawing/2014/main" id="{A43B8902-2503-407D-B7DC-72FD6DA3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4325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新能力 / 数据使旧假设失效</a:t>
            </a:r>
          </a:p>
        </p:txBody>
      </p:sp>
      <p:sp>
        <p:nvSpPr>
          <p:cNvPr id="21" name="p09-paths-r3-2">
            <a:extLst xmlns:a="http://schemas.openxmlformats.org/drawingml/2006/main">
              <a:ext uri="{FF2B5EF4-FFF2-40B4-BE49-F238E27FC236}">
                <a16:creationId xmlns:a16="http://schemas.microsoft.com/office/drawing/2014/main" id="{A3DC55EC-C6C0-4E72-96D9-3C986ED1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1432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检验旧结论的假设</a:t>
            </a:r>
          </a:p>
        </p:txBody>
      </p:sp>
      <p:sp>
        <p:nvSpPr>
          <p:cNvPr id="22" name="p09-paths-r4-0">
            <a:extLst xmlns:a="http://schemas.openxmlformats.org/drawingml/2006/main">
              <a:ext uri="{FF2B5EF4-FFF2-40B4-BE49-F238E27FC236}">
                <a16:creationId xmlns:a16="http://schemas.microsoft.com/office/drawing/2014/main" id="{C1B8A848-CE44-4035-9A2D-E61FD714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8140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第一性原理反推</a:t>
            </a:r>
          </a:p>
        </p:txBody>
      </p:sp>
      <p:sp>
        <p:nvSpPr>
          <p:cNvPr id="23" name="p09-paths-r4-1">
            <a:extLst xmlns:a="http://schemas.openxmlformats.org/drawingml/2006/main">
              <a:ext uri="{FF2B5EF4-FFF2-40B4-BE49-F238E27FC236}">
                <a16:creationId xmlns:a16="http://schemas.microsoft.com/office/drawing/2014/main" id="{6785356A-B2AF-4844-BCCD-20810229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58140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必要条件与现状对照</a:t>
            </a:r>
          </a:p>
        </p:txBody>
      </p:sp>
      <p:sp>
        <p:nvSpPr>
          <p:cNvPr id="24" name="p09-paths-r4-2">
            <a:extLst xmlns:a="http://schemas.openxmlformats.org/drawingml/2006/main">
              <a:ext uri="{FF2B5EF4-FFF2-40B4-BE49-F238E27FC236}">
                <a16:creationId xmlns:a16="http://schemas.microsoft.com/office/drawing/2014/main" id="{D24AB119-78FE-456A-B3D4-513008F9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8140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检验推导前提</a:t>
            </a:r>
          </a:p>
        </p:txBody>
      </p:sp>
      <p:sp>
        <p:nvSpPr>
          <p:cNvPr id="25" name="p09-paths-r5-0">
            <a:extLst xmlns:a="http://schemas.openxmlformats.org/drawingml/2006/main">
              <a:ext uri="{FF2B5EF4-FFF2-40B4-BE49-F238E27FC236}">
                <a16:creationId xmlns:a16="http://schemas.microsoft.com/office/drawing/2014/main" id="{0DB1A36B-1B49-4D2F-B73A-BFA5C124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19550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重构 / 迁移</a:t>
            </a:r>
          </a:p>
        </p:txBody>
      </p:sp>
      <p:sp>
        <p:nvSpPr>
          <p:cNvPr id="26" name="p09-paths-r5-1">
            <a:extLst xmlns:a="http://schemas.openxmlformats.org/drawingml/2006/main">
              <a:ext uri="{FF2B5EF4-FFF2-40B4-BE49-F238E27FC236}">
                <a16:creationId xmlns:a16="http://schemas.microsoft.com/office/drawing/2014/main" id="{2336DD20-9502-4A1E-8513-9E6E82BA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9550"/>
            <a:ext cx="457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换问法、换视角、移植机制</a:t>
            </a:r>
          </a:p>
        </p:txBody>
      </p:sp>
      <p:sp>
        <p:nvSpPr>
          <p:cNvPr id="27" name="p09-paths-r5-2">
            <a:extLst xmlns:a="http://schemas.openxmlformats.org/drawingml/2006/main">
              <a:ext uri="{FF2B5EF4-FFF2-40B4-BE49-F238E27FC236}">
                <a16:creationId xmlns:a16="http://schemas.microsoft.com/office/drawing/2014/main" id="{E017BC34-03D4-4BDC-A957-2B771B62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019550"/>
            <a:ext cx="342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检验新提法是否真新</a:t>
            </a:r>
          </a:p>
        </p:txBody>
      </p:sp>
      <p:sp>
        <p:nvSpPr>
          <p:cNvPr id="28" name="p09-pool">
            <a:extLst xmlns:a="http://schemas.openxmlformats.org/drawingml/2006/main">
              <a:ext uri="{FF2B5EF4-FFF2-40B4-BE49-F238E27FC236}">
                <a16:creationId xmlns:a16="http://schemas.microsoft.com/office/drawing/2014/main" id="{3F05E55E-600B-44AC-ACAC-F4E7A704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10858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候选题池（第 6 课前补齐）：≥3 候选题｜覆盖 ≥2 条路径｜≥1 个非文献空白路径；当堂先记 1 个候选题的表述与路径标签</a:t>
            </a:r>
          </a:p>
        </p:txBody>
      </p:sp>
      <p:sp>
        <p:nvSpPr>
          <p:cNvPr id="29" name="p09-bottom">
            <a:extLst xmlns:a="http://schemas.openxmlformats.org/drawingml/2006/main">
              <a:ext uri="{FF2B5EF4-FFF2-40B4-BE49-F238E27FC236}">
                <a16:creationId xmlns:a16="http://schemas.microsoft.com/office/drawing/2014/main" id="{6923EBB0-E976-4468-940E-8938ED0A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38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检索用来检验问题，不是生成问题。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三步检验：从证据空白到可检验问题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n0">
            <a:extLst xmlns:a="http://schemas.openxmlformats.org/drawingml/2006/main">
              <a:ext uri="{FF2B5EF4-FFF2-40B4-BE49-F238E27FC236}">
                <a16:creationId xmlns:a16="http://schemas.microsoft.com/office/drawing/2014/main" id="{5F652281-BAE2-45C4-B0A4-9C9F5BBD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0-h0">
            <a:extLst xmlns:a="http://schemas.openxmlformats.org/drawingml/2006/main">
              <a:ext uri="{FF2B5EF4-FFF2-40B4-BE49-F238E27FC236}">
                <a16:creationId xmlns:a16="http://schemas.microsoft.com/office/drawing/2014/main" id="{C2CD60F8-A982-422C-A3F6-9C5DDD8A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F638A"/>
                </a:solidFill>
              </a:defRPr>
            </a:pPr>
            <a:r>
              <a:rPr sz="19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真实性</a:t>
            </a:r>
          </a:p>
        </p:txBody>
      </p:sp>
      <p:sp>
        <p:nvSpPr>
          <p:cNvPr id="8" name="p10-d0">
            <a:extLst xmlns:a="http://schemas.openxmlformats.org/drawingml/2006/main">
              <a:ext uri="{FF2B5EF4-FFF2-40B4-BE49-F238E27FC236}">
                <a16:creationId xmlns:a16="http://schemas.microsoft.com/office/drawing/2014/main" id="{518A604D-A24E-492C-8AAD-9712614E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窄检索：式 / 库 / 日期 / 命中 / 筛选</a:t>
            </a:r>
          </a:p>
        </p:txBody>
      </p:sp>
      <p:sp>
        <p:nvSpPr>
          <p:cNvPr id="9" name="p10-a0">
            <a:extLst xmlns:a="http://schemas.openxmlformats.org/drawingml/2006/main">
              <a:ext uri="{FF2B5EF4-FFF2-40B4-BE49-F238E27FC236}">
                <a16:creationId xmlns:a16="http://schemas.microsoft.com/office/drawing/2014/main" id="{35F8E3AD-2E7C-4244-9404-B8E2C53B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10-n1">
            <a:extLst xmlns:a="http://schemas.openxmlformats.org/drawingml/2006/main">
              <a:ext uri="{FF2B5EF4-FFF2-40B4-BE49-F238E27FC236}">
                <a16:creationId xmlns:a16="http://schemas.microsoft.com/office/drawing/2014/main" id="{05DFC193-4AAD-472B-AC4F-5E5E133B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10-h1">
            <a:extLst xmlns:a="http://schemas.openxmlformats.org/drawingml/2006/main">
              <a:ext uri="{FF2B5EF4-FFF2-40B4-BE49-F238E27FC236}">
                <a16:creationId xmlns:a16="http://schemas.microsoft.com/office/drawing/2014/main" id="{3FBBA97B-7AC3-4176-A022-0872E9F5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86C12"/>
                </a:solidFill>
              </a:defRPr>
            </a:pPr>
            <a:r>
              <a:rPr sz="19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重要性</a:t>
            </a:r>
          </a:p>
        </p:txBody>
      </p:sp>
      <p:sp>
        <p:nvSpPr>
          <p:cNvPr id="12" name="p10-d1">
            <a:extLst xmlns:a="http://schemas.openxmlformats.org/drawingml/2006/main">
              <a:ext uri="{FF2B5EF4-FFF2-40B4-BE49-F238E27FC236}">
                <a16:creationId xmlns:a16="http://schemas.microsoft.com/office/drawing/2014/main" id="{0C884362-8299-4A31-9D5F-3E38E30D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若不回答，哪条主张或机制无法成立？</a:t>
            </a:r>
          </a:p>
        </p:txBody>
      </p:sp>
      <p:sp>
        <p:nvSpPr>
          <p:cNvPr id="13" name="p10-a1">
            <a:extLst xmlns:a="http://schemas.openxmlformats.org/drawingml/2006/main">
              <a:ext uri="{FF2B5EF4-FFF2-40B4-BE49-F238E27FC236}">
                <a16:creationId xmlns:a16="http://schemas.microsoft.com/office/drawing/2014/main" id="{494CE482-3837-4237-B4DE-71038176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0-n2">
            <a:extLst xmlns:a="http://schemas.openxmlformats.org/drawingml/2006/main">
              <a:ext uri="{FF2B5EF4-FFF2-40B4-BE49-F238E27FC236}">
                <a16:creationId xmlns:a16="http://schemas.microsoft.com/office/drawing/2014/main" id="{B2F90329-5357-4690-8B9A-25861C54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3525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10-h2">
            <a:extLst xmlns:a="http://schemas.openxmlformats.org/drawingml/2006/main">
              <a:ext uri="{FF2B5EF4-FFF2-40B4-BE49-F238E27FC236}">
                <a16:creationId xmlns:a16="http://schemas.microsoft.com/office/drawing/2014/main" id="{46A6B91A-3363-4DBB-AA28-9597831A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57300"/>
            <a:ext cx="2667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8745A"/>
                </a:solidFill>
              </a:defRPr>
            </a:pPr>
            <a:r>
              <a:rPr sz="19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可行性</a:t>
            </a:r>
          </a:p>
        </p:txBody>
      </p:sp>
      <p:sp>
        <p:nvSpPr>
          <p:cNvPr id="16" name="p10-d2">
            <a:extLst xmlns:a="http://schemas.openxmlformats.org/drawingml/2006/main">
              <a:ext uri="{FF2B5EF4-FFF2-40B4-BE49-F238E27FC236}">
                <a16:creationId xmlns:a16="http://schemas.microsoft.com/office/drawing/2014/main" id="{00F0BB69-F2D2-41E0-B474-60E1A642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4312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课程周期内能否做最小实验、对照或分析？</a:t>
            </a:r>
          </a:p>
        </p:txBody>
      </p:sp>
      <p:sp>
        <p:nvSpPr>
          <p:cNvPr id="17" name="p10-pass">
            <a:extLst xmlns:a="http://schemas.openxmlformats.org/drawingml/2006/main">
              <a:ext uri="{FF2B5EF4-FFF2-40B4-BE49-F238E27FC236}">
                <a16:creationId xmlns:a16="http://schemas.microsoft.com/office/drawing/2014/main" id="{84F4B0B8-783E-4A85-90EF-3AB2656F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5238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三步均有记录 → 进入候选题池 → 第 6 课比较收敛</a:t>
            </a:r>
          </a:p>
        </p:txBody>
      </p:sp>
      <p:sp>
        <p:nvSpPr>
          <p:cNvPr id="18" name="p10-back">
            <a:extLst xmlns:a="http://schemas.openxmlformats.org/drawingml/2006/main">
              <a:ext uri="{FF2B5EF4-FFF2-40B4-BE49-F238E27FC236}">
                <a16:creationId xmlns:a16="http://schemas.microsoft.com/office/drawing/2014/main" id="{098BF980-2A95-403C-828E-E8FD1882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4572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任一步不足 → 回到检索、证据或范围</a:t>
            </a:r>
          </a:p>
        </p:txBody>
      </p:sp>
      <p:sp>
        <p:nvSpPr>
          <p:cNvPr id="19" name="p10-bottom">
            <a:extLst xmlns:a="http://schemas.openxmlformats.org/drawingml/2006/main">
              <a:ext uri="{FF2B5EF4-FFF2-40B4-BE49-F238E27FC236}">
                <a16:creationId xmlns:a16="http://schemas.microsoft.com/office/drawing/2014/main" id="{A2D35CDA-B907-4687-BAD4-B591E71A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9587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不要把“我没找到”升级为“领域没人做过”。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不是空白的情况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a0">
            <a:extLst xmlns:a="http://schemas.openxmlformats.org/drawingml/2006/main">
              <a:ext uri="{FF2B5EF4-FFF2-40B4-BE49-F238E27FC236}">
                <a16:creationId xmlns:a16="http://schemas.microsoft.com/office/drawing/2014/main" id="{90FFE74F-A80B-4C7A-A680-27407E99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表述差异</a:t>
            </a:r>
          </a:p>
        </p:txBody>
      </p:sp>
      <p:sp>
        <p:nvSpPr>
          <p:cNvPr id="7" name="p11-arr0">
            <a:extLst xmlns:a="http://schemas.openxmlformats.org/drawingml/2006/main">
              <a:ext uri="{FF2B5EF4-FFF2-40B4-BE49-F238E27FC236}">
                <a16:creationId xmlns:a16="http://schemas.microsoft.com/office/drawing/2014/main" id="{C4B4A552-A7AF-4135-8B29-550747A8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382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11-b0">
            <a:extLst xmlns:a="http://schemas.openxmlformats.org/drawingml/2006/main">
              <a:ext uri="{FF2B5EF4-FFF2-40B4-BE49-F238E27FC236}">
                <a16:creationId xmlns:a16="http://schemas.microsoft.com/office/drawing/2014/main" id="{C6789BCB-8AD8-41DC-83F1-3BEE458C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123950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术语不同，但操作定义相同</a:t>
            </a:r>
          </a:p>
        </p:txBody>
      </p:sp>
      <p:sp>
        <p:nvSpPr>
          <p:cNvPr id="9" name="p11-a1">
            <a:extLst xmlns:a="http://schemas.openxmlformats.org/drawingml/2006/main">
              <a:ext uri="{FF2B5EF4-FFF2-40B4-BE49-F238E27FC236}">
                <a16:creationId xmlns:a16="http://schemas.microsoft.com/office/drawing/2014/main" id="{DF6369FF-733E-4FFD-B459-AD4432A3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5025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范围差异</a:t>
            </a:r>
          </a:p>
        </p:txBody>
      </p:sp>
      <p:sp>
        <p:nvSpPr>
          <p:cNvPr id="10" name="p11-arr1">
            <a:extLst xmlns:a="http://schemas.openxmlformats.org/drawingml/2006/main">
              <a:ext uri="{FF2B5EF4-FFF2-40B4-BE49-F238E27FC236}">
                <a16:creationId xmlns:a16="http://schemas.microsoft.com/office/drawing/2014/main" id="{7E2552A0-FBEE-48C7-8E52-C3716237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21932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p11-b1">
            <a:extLst xmlns:a="http://schemas.openxmlformats.org/drawingml/2006/main">
              <a:ext uri="{FF2B5EF4-FFF2-40B4-BE49-F238E27FC236}">
                <a16:creationId xmlns:a16="http://schemas.microsoft.com/office/drawing/2014/main" id="{E5A61286-82D4-4779-A530-208B26920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05025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数据集或任务不同，结论不可比</a:t>
            </a:r>
          </a:p>
        </p:txBody>
      </p:sp>
      <p:sp>
        <p:nvSpPr>
          <p:cNvPr id="12" name="p11-a2">
            <a:extLst xmlns:a="http://schemas.openxmlformats.org/drawingml/2006/main">
              <a:ext uri="{FF2B5EF4-FFF2-40B4-BE49-F238E27FC236}">
                <a16:creationId xmlns:a16="http://schemas.microsoft.com/office/drawing/2014/main" id="{561F22C9-EADD-4BD0-9A47-8ECACA97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工程未做</a:t>
            </a:r>
          </a:p>
        </p:txBody>
      </p:sp>
      <p:sp>
        <p:nvSpPr>
          <p:cNvPr id="13" name="p11-arr2">
            <a:extLst xmlns:a="http://schemas.openxmlformats.org/drawingml/2006/main">
              <a:ext uri="{FF2B5EF4-FFF2-40B4-BE49-F238E27FC236}">
                <a16:creationId xmlns:a16="http://schemas.microsoft.com/office/drawing/2014/main" id="{B02E2A06-DCA3-45D8-949E-93A5157D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004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11-b2">
            <a:extLst xmlns:a="http://schemas.openxmlformats.org/drawingml/2006/main">
              <a:ext uri="{FF2B5EF4-FFF2-40B4-BE49-F238E27FC236}">
                <a16:creationId xmlns:a16="http://schemas.microsoft.com/office/drawing/2014/main" id="{83B60A65-8FE6-4F4C-BFCC-0E592962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尚未评测某产品，不一定是机制问题</a:t>
            </a:r>
          </a:p>
        </p:txBody>
      </p:sp>
      <p:sp>
        <p:nvSpPr>
          <p:cNvPr id="15" name="p11-a3">
            <a:extLst xmlns:a="http://schemas.openxmlformats.org/drawingml/2006/main">
              <a:ext uri="{FF2B5EF4-FFF2-40B4-BE49-F238E27FC236}">
                <a16:creationId xmlns:a16="http://schemas.microsoft.com/office/drawing/2014/main" id="{5F3880EE-EE86-4553-8B9C-C6E12EE5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67175"/>
            <a:ext cx="285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新但不重要</a:t>
            </a:r>
          </a:p>
        </p:txBody>
      </p:sp>
      <p:sp>
        <p:nvSpPr>
          <p:cNvPr id="16" name="p11-arr3">
            <a:extLst xmlns:a="http://schemas.openxmlformats.org/drawingml/2006/main">
              <a:ext uri="{FF2B5EF4-FFF2-40B4-BE49-F238E27FC236}">
                <a16:creationId xmlns:a16="http://schemas.microsoft.com/office/drawing/2014/main" id="{4BDE027A-A8D8-476F-BB0B-DFE1A1325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8147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7" name="p11-b3">
            <a:extLst xmlns:a="http://schemas.openxmlformats.org/drawingml/2006/main">
              <a:ext uri="{FF2B5EF4-FFF2-40B4-BE49-F238E27FC236}">
                <a16:creationId xmlns:a16="http://schemas.microsoft.com/office/drawing/2014/main" id="{2B8E4A00-BEBF-4DC2-AA60-07F324BB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67175"/>
            <a:ext cx="6667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换模型再跑一遍，判断没有改变</a:t>
            </a:r>
          </a:p>
        </p:txBody>
      </p:sp>
      <p:sp>
        <p:nvSpPr>
          <p:cNvPr id="18" name="p11-bottom">
            <a:extLst xmlns:a="http://schemas.openxmlformats.org/drawingml/2006/main">
              <a:ext uri="{FF2B5EF4-FFF2-40B4-BE49-F238E27FC236}">
                <a16:creationId xmlns:a16="http://schemas.microsoft.com/office/drawing/2014/main" id="{CA833DFB-D80C-445B-A195-DCE39D10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95875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真实空白必须是已有证据不能回答的具体问题。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综述草稿核验清单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n0">
            <a:extLst xmlns:a="http://schemas.openxmlformats.org/drawingml/2006/main">
              <a:ext uri="{FF2B5EF4-FFF2-40B4-BE49-F238E27FC236}">
                <a16:creationId xmlns:a16="http://schemas.microsoft.com/office/drawing/2014/main" id="{779E3BAE-47ED-4974-8E24-9AB0838E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2-t0">
            <a:extLst xmlns:a="http://schemas.openxmlformats.org/drawingml/2006/main">
              <a:ext uri="{FF2B5EF4-FFF2-40B4-BE49-F238E27FC236}">
                <a16:creationId xmlns:a16="http://schemas.microsoft.com/office/drawing/2014/main" id="{D06950AF-EC4F-41AD-ABB5-4CDF47CF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715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引文真实存在，题名 / 作者 / 年份 / DOI 与原文一致？</a:t>
            </a:r>
          </a:p>
        </p:txBody>
      </p:sp>
      <p:sp>
        <p:nvSpPr>
          <p:cNvPr id="8" name="p12-n1">
            <a:extLst xmlns:a="http://schemas.openxmlformats.org/drawingml/2006/main">
              <a:ext uri="{FF2B5EF4-FFF2-40B4-BE49-F238E27FC236}">
                <a16:creationId xmlns:a16="http://schemas.microsoft.com/office/drawing/2014/main" id="{5B8A0273-A04B-4173-9A72-4CFD8CB2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9" name="p12-t1">
            <a:extLst xmlns:a="http://schemas.openxmlformats.org/drawingml/2006/main">
              <a:ext uri="{FF2B5EF4-FFF2-40B4-BE49-F238E27FC236}">
                <a16:creationId xmlns:a16="http://schemas.microsoft.com/office/drawing/2014/main" id="{A9299143-D14E-4F54-ACDD-57241C39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“共同主张”真的出现在每条引用原文中？</a:t>
            </a:r>
          </a:p>
        </p:txBody>
      </p:sp>
      <p:sp>
        <p:nvSpPr>
          <p:cNvPr id="10" name="p12-n2">
            <a:extLst xmlns:a="http://schemas.openxmlformats.org/drawingml/2006/main">
              <a:ext uri="{FF2B5EF4-FFF2-40B4-BE49-F238E27FC236}">
                <a16:creationId xmlns:a16="http://schemas.microsoft.com/office/drawing/2014/main" id="{350A8FA7-E255-419D-8D2C-1867D47F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p12-t2">
            <a:extLst xmlns:a="http://schemas.openxmlformats.org/drawingml/2006/main">
              <a:ext uri="{FF2B5EF4-FFF2-40B4-BE49-F238E27FC236}">
                <a16:creationId xmlns:a16="http://schemas.microsoft.com/office/drawing/2014/main" id="{97100AE6-7DC6-4BC7-ABF7-C2607869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98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“冲突”来自可比结论，还是任务设置不同？</a:t>
            </a:r>
          </a:p>
        </p:txBody>
      </p:sp>
      <p:sp>
        <p:nvSpPr>
          <p:cNvPr id="12" name="p12-n3">
            <a:extLst xmlns:a="http://schemas.openxmlformats.org/drawingml/2006/main">
              <a:ext uri="{FF2B5EF4-FFF2-40B4-BE49-F238E27FC236}">
                <a16:creationId xmlns:a16="http://schemas.microsoft.com/office/drawing/2014/main" id="{636BFCC8-428E-442C-AFBD-ECA074EA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615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3" name="p12-t3">
            <a:extLst xmlns:a="http://schemas.openxmlformats.org/drawingml/2006/main">
              <a:ext uri="{FF2B5EF4-FFF2-40B4-BE49-F238E27FC236}">
                <a16:creationId xmlns:a16="http://schemas.microsoft.com/office/drawing/2014/main" id="{6F46E95F-6F61-4898-8111-E3AF6CAA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“缺角”经过窄检索确认，还是只凭当前列表？</a:t>
            </a:r>
          </a:p>
        </p:txBody>
      </p:sp>
      <p:sp>
        <p:nvSpPr>
          <p:cNvPr id="14" name="p12-n4">
            <a:extLst xmlns:a="http://schemas.openxmlformats.org/drawingml/2006/main">
              <a:ext uri="{FF2B5EF4-FFF2-40B4-BE49-F238E27FC236}">
                <a16:creationId xmlns:a16="http://schemas.microsoft.com/office/drawing/2014/main" id="{4BBCE4AA-F202-4DDA-93C1-D3A68320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p12-t4">
            <a:extLst xmlns:a="http://schemas.openxmlformats.org/drawingml/2006/main">
              <a:ext uri="{FF2B5EF4-FFF2-40B4-BE49-F238E27FC236}">
                <a16:creationId xmlns:a16="http://schemas.microsoft.com/office/drawing/2014/main" id="{79D8B4A9-C0AD-4E79-9DA1-BD181C02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7810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综述段落是否把模型推断写成原文结论？</a:t>
            </a:r>
          </a:p>
        </p:txBody>
      </p:sp>
      <p:sp>
        <p:nvSpPr>
          <p:cNvPr id="16" name="p12-status-h">
            <a:extLst xmlns:a="http://schemas.openxmlformats.org/drawingml/2006/main">
              <a:ext uri="{FF2B5EF4-FFF2-40B4-BE49-F238E27FC236}">
                <a16:creationId xmlns:a16="http://schemas.microsoft.com/office/drawing/2014/main" id="{32C4CB18-E4C6-4D44-8C5B-3174ADE9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0668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核验状态</a:t>
            </a:r>
          </a:p>
        </p:txBody>
      </p:sp>
      <p:sp>
        <p:nvSpPr>
          <p:cNvPr id="17" name="p12-s0">
            <a:extLst xmlns:a="http://schemas.openxmlformats.org/drawingml/2006/main">
              <a:ext uri="{FF2B5EF4-FFF2-40B4-BE49-F238E27FC236}">
                <a16:creationId xmlns:a16="http://schemas.microsoft.com/office/drawing/2014/main" id="{F016B050-72D5-4F34-ACF8-EA0E71C2B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86C12"/>
                </a:solidFill>
              </a:defRPr>
            </a:pPr>
            <a:r>
              <a:rPr sz="12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18" name="p12-s1">
            <a:extLst xmlns:a="http://schemas.openxmlformats.org/drawingml/2006/main">
              <a:ext uri="{FF2B5EF4-FFF2-40B4-BE49-F238E27FC236}">
                <a16:creationId xmlns:a16="http://schemas.microsoft.com/office/drawing/2014/main" id="{8A5F995F-0634-43C2-82AC-43F020A7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8745A"/>
                </a:solidFill>
              </a:defRPr>
            </a:pPr>
            <a:r>
              <a:rPr sz="12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verified</a:t>
            </a:r>
          </a:p>
        </p:txBody>
      </p:sp>
      <p:sp>
        <p:nvSpPr>
          <p:cNvPr id="19" name="p12-s2">
            <a:extLst xmlns:a="http://schemas.openxmlformats.org/drawingml/2006/main">
              <a:ext uri="{FF2B5EF4-FFF2-40B4-BE49-F238E27FC236}">
                <a16:creationId xmlns:a16="http://schemas.microsoft.com/office/drawing/2014/main" id="{0CACBEE2-6ABA-46A7-A967-23048B64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280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638A"/>
                </a:solidFill>
              </a:defRPr>
            </a:pPr>
            <a:r>
              <a:rPr sz="12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verified-with-caveat</a:t>
            </a:r>
          </a:p>
        </p:txBody>
      </p:sp>
      <p:sp>
        <p:nvSpPr>
          <p:cNvPr id="20" name="p12-s3">
            <a:extLst xmlns:a="http://schemas.openxmlformats.org/drawingml/2006/main">
              <a:ext uri="{FF2B5EF4-FFF2-40B4-BE49-F238E27FC236}">
                <a16:creationId xmlns:a16="http://schemas.microsoft.com/office/drawing/2014/main" id="{6873DC1F-5F05-4ACC-A2E2-B733CB82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3850"/>
            <a:ext cx="2476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rejected</a:t>
            </a:r>
          </a:p>
        </p:txBody>
      </p:sp>
      <p:sp>
        <p:nvSpPr>
          <p:cNvPr id="21" name="p12-bottom">
            <a:extLst xmlns:a="http://schemas.openxmlformats.org/drawingml/2006/main">
              <a:ext uri="{FF2B5EF4-FFF2-40B4-BE49-F238E27FC236}">
                <a16:creationId xmlns:a16="http://schemas.microsoft.com/office/drawing/2014/main" id="{110C3C51-DE0F-43EE-9413-3EE3E000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05400"/>
            <a:ext cx="8991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pending 仅线索区｜caveat 必须保留限定且不可单独支撑 stable｜rejected 仅审计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 演示：阅读卡 → 因果证据矩阵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real">
            <a:extLst xmlns:a="http://schemas.openxmlformats.org/drawingml/2006/main">
              <a:ext uri="{FF2B5EF4-FFF2-40B4-BE49-F238E27FC236}">
                <a16:creationId xmlns:a16="http://schemas.microsoft.com/office/drawing/2014/main" id="{C0CA052C-A534-42D5-A4C6-630CF140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57250"/>
            <a:ext cx="74295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真实论文证据｜位置已在 L4 阅读卡核验</a:t>
            </a:r>
          </a:p>
        </p:txBody>
      </p:sp>
      <p:sp>
        <p:nvSpPr>
          <p:cNvPr id="7" name="p13-question">
            <a:extLst xmlns:a="http://schemas.openxmlformats.org/drawingml/2006/main">
              <a:ext uri="{FF2B5EF4-FFF2-40B4-BE49-F238E27FC236}">
                <a16:creationId xmlns:a16="http://schemas.microsoft.com/office/drawing/2014/main" id="{55258033-7024-4575-BB44-AC910CA6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SAE 特征能否更稀疏地定位并干预 IOI 行为；patching 成功还缺什么证据？</a:t>
            </a:r>
          </a:p>
        </p:txBody>
      </p:sp>
      <p:sp>
        <p:nvSpPr>
          <p:cNvPr id="8" name="p13-matrix-h-0">
            <a:extLst xmlns:a="http://schemas.openxmlformats.org/drawingml/2006/main">
              <a:ext uri="{FF2B5EF4-FFF2-40B4-BE49-F238E27FC236}">
                <a16:creationId xmlns:a16="http://schemas.microsoft.com/office/drawing/2014/main" id="{512D6341-03B8-4842-87DD-2E251085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9" name="p13-matrix-h-1">
            <a:extLst xmlns:a="http://schemas.openxmlformats.org/drawingml/2006/main">
              <a:ext uri="{FF2B5EF4-FFF2-40B4-BE49-F238E27FC236}">
                <a16:creationId xmlns:a16="http://schemas.microsoft.com/office/drawing/2014/main" id="{4D55723E-E6AA-476C-B82C-D82E9AAF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47875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 / 对照</a:t>
            </a:r>
          </a:p>
        </p:txBody>
      </p:sp>
      <p:sp>
        <p:nvSpPr>
          <p:cNvPr id="10" name="p13-matrix-h-2">
            <a:extLst xmlns:a="http://schemas.openxmlformats.org/drawingml/2006/main">
              <a:ext uri="{FF2B5EF4-FFF2-40B4-BE49-F238E27FC236}">
                <a16:creationId xmlns:a16="http://schemas.microsoft.com/office/drawing/2014/main" id="{0C2A8A08-1731-433D-8532-6D2AEF68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47875"/>
            <a:ext cx="400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结果角色</a:t>
            </a:r>
          </a:p>
        </p:txBody>
      </p:sp>
      <p:sp>
        <p:nvSpPr>
          <p:cNvPr id="11" name="p13-matrix-h-3">
            <a:extLst xmlns:a="http://schemas.openxmlformats.org/drawingml/2006/main">
              <a:ext uri="{FF2B5EF4-FFF2-40B4-BE49-F238E27FC236}">
                <a16:creationId xmlns:a16="http://schemas.microsoft.com/office/drawing/2014/main" id="{7CBABC97-ACF8-4D9F-91F4-AD70A39C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47875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不能直接推出</a:t>
            </a:r>
          </a:p>
        </p:txBody>
      </p:sp>
      <p:sp>
        <p:nvSpPr>
          <p:cNvPr id="12" name="p13-matrix-r0-0">
            <a:extLst xmlns:a="http://schemas.openxmlformats.org/drawingml/2006/main">
              <a:ext uri="{FF2B5EF4-FFF2-40B4-BE49-F238E27FC236}">
                <a16:creationId xmlns:a16="http://schemas.microsoft.com/office/drawing/2014/main" id="{933C8252-4538-4AD3-813C-68A534FF1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95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C02</a:t>
            </a:r>
          </a:p>
        </p:txBody>
      </p:sp>
      <p:sp>
        <p:nvSpPr>
          <p:cNvPr id="13" name="p13-matrix-r0-1">
            <a:extLst xmlns:a="http://schemas.openxmlformats.org/drawingml/2006/main">
              <a:ext uri="{FF2B5EF4-FFF2-40B4-BE49-F238E27FC236}">
                <a16:creationId xmlns:a16="http://schemas.microsoft.com/office/drawing/2014/main" id="{43957D19-4430-4605-B94A-FC768BC4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47925"/>
            <a:ext cx="2667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Pythia-410M IOI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SAE vs PCA</a:t>
            </a:r>
          </a:p>
        </p:txBody>
      </p:sp>
      <p:sp>
        <p:nvSpPr>
          <p:cNvPr id="14" name="p13-matrix-r0-2">
            <a:extLst xmlns:a="http://schemas.openxmlformats.org/drawingml/2006/main">
              <a:ext uri="{FF2B5EF4-FFF2-40B4-BE49-F238E27FC236}">
                <a16:creationId xmlns:a16="http://schemas.microsoft.com/office/drawing/2014/main" id="{AB81EDDF-3164-4B4E-846C-2B12E043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47925"/>
            <a:ext cx="400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正向：更少 patch、较小编辑量</a:t>
            </a:r>
          </a:p>
        </p:txBody>
      </p:sp>
      <p:sp>
        <p:nvSpPr>
          <p:cNvPr id="15" name="p13-matrix-r0-3">
            <a:extLst xmlns:a="http://schemas.openxmlformats.org/drawingml/2006/main">
              <a:ext uri="{FF2B5EF4-FFF2-40B4-BE49-F238E27FC236}">
                <a16:creationId xmlns:a16="http://schemas.microsoft.com/office/drawing/2014/main" id="{F6234A13-E551-45AB-A5F4-921C9757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47925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跨任务、因果忠实</a:t>
            </a:r>
          </a:p>
        </p:txBody>
      </p:sp>
      <p:sp>
        <p:nvSpPr>
          <p:cNvPr id="16" name="p13-matrix-r1-0">
            <a:extLst xmlns:a="http://schemas.openxmlformats.org/drawingml/2006/main">
              <a:ext uri="{FF2B5EF4-FFF2-40B4-BE49-F238E27FC236}">
                <a16:creationId xmlns:a16="http://schemas.microsoft.com/office/drawing/2014/main" id="{27FBB0F5-CF00-46AC-A3C5-1511957E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38475"/>
            <a:ext cx="95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C16</a:t>
            </a:r>
          </a:p>
        </p:txBody>
      </p:sp>
      <p:sp>
        <p:nvSpPr>
          <p:cNvPr id="17" name="p13-matrix-r1-1">
            <a:extLst xmlns:a="http://schemas.openxmlformats.org/drawingml/2006/main">
              <a:ext uri="{FF2B5EF4-FFF2-40B4-BE49-F238E27FC236}">
                <a16:creationId xmlns:a16="http://schemas.microsoft.com/office/drawing/2014/main" id="{A24E1484-D808-4585-9E47-87F21161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667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GPT2-small IOI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SAE vs 监督字典</a:t>
            </a:r>
          </a:p>
        </p:txBody>
      </p:sp>
      <p:sp>
        <p:nvSpPr>
          <p:cNvPr id="18" name="p13-matrix-r1-2">
            <a:extLst xmlns:a="http://schemas.openxmlformats.org/drawingml/2006/main">
              <a:ext uri="{FF2B5EF4-FFF2-40B4-BE49-F238E27FC236}">
                <a16:creationId xmlns:a16="http://schemas.microsoft.com/office/drawing/2014/main" id="{C07FB737-F1CC-4DAD-83DB-D5F1EDD7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38475"/>
            <a:ext cx="400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限制：解释性与控制性分离</a:t>
            </a:r>
          </a:p>
        </p:txBody>
      </p:sp>
      <p:sp>
        <p:nvSpPr>
          <p:cNvPr id="19" name="p13-matrix-r1-3">
            <a:extLst xmlns:a="http://schemas.openxmlformats.org/drawingml/2006/main">
              <a:ext uri="{FF2B5EF4-FFF2-40B4-BE49-F238E27FC236}">
                <a16:creationId xmlns:a16="http://schemas.microsoft.com/office/drawing/2014/main" id="{243E5B79-7F22-4ED6-A9B9-AEA01057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38475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SAE 普遍无效</a:t>
            </a:r>
          </a:p>
        </p:txBody>
      </p:sp>
      <p:sp>
        <p:nvSpPr>
          <p:cNvPr id="20" name="p13-matrix-r2-0">
            <a:extLst xmlns:a="http://schemas.openxmlformats.org/drawingml/2006/main">
              <a:ext uri="{FF2B5EF4-FFF2-40B4-BE49-F238E27FC236}">
                <a16:creationId xmlns:a16="http://schemas.microsoft.com/office/drawing/2014/main" id="{E1B69574-09E2-47F6-81A3-E74FA2DA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29025"/>
            <a:ext cx="95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C31</a:t>
            </a:r>
          </a:p>
        </p:txBody>
      </p:sp>
      <p:sp>
        <p:nvSpPr>
          <p:cNvPr id="21" name="p13-matrix-r2-1">
            <a:extLst xmlns:a="http://schemas.openxmlformats.org/drawingml/2006/main">
              <a:ext uri="{FF2B5EF4-FFF2-40B4-BE49-F238E27FC236}">
                <a16:creationId xmlns:a16="http://schemas.microsoft.com/office/drawing/2014/main" id="{9184094C-C9C3-4793-8596-CC2FCA49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29025"/>
            <a:ext cx="2667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IOI / fact editing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subspace patching</a:t>
            </a:r>
          </a:p>
        </p:txBody>
      </p:sp>
      <p:sp>
        <p:nvSpPr>
          <p:cNvPr id="22" name="p13-matrix-r2-2">
            <a:extLst xmlns:a="http://schemas.openxmlformats.org/drawingml/2006/main">
              <a:ext uri="{FF2B5EF4-FFF2-40B4-BE49-F238E27FC236}">
                <a16:creationId xmlns:a16="http://schemas.microsoft.com/office/drawing/2014/main" id="{058EE060-B1E7-4F64-96F9-E635CC7C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29025"/>
            <a:ext cx="400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威胁：dormant pathway</a:t>
            </a:r>
          </a:p>
        </p:txBody>
      </p:sp>
      <p:sp>
        <p:nvSpPr>
          <p:cNvPr id="23" name="p13-matrix-r2-3">
            <a:extLst xmlns:a="http://schemas.openxmlformats.org/drawingml/2006/main">
              <a:ext uri="{FF2B5EF4-FFF2-40B4-BE49-F238E27FC236}">
                <a16:creationId xmlns:a16="http://schemas.microsoft.com/office/drawing/2014/main" id="{ADCB26E5-9AAC-4B29-8FFE-500C9B42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所有 patching 都是幻象</a:t>
            </a:r>
          </a:p>
        </p:txBody>
      </p:sp>
      <p:sp>
        <p:nvSpPr>
          <p:cNvPr id="24" name="p13-matrix-r3-0">
            <a:extLst xmlns:a="http://schemas.openxmlformats.org/drawingml/2006/main">
              <a:ext uri="{FF2B5EF4-FFF2-40B4-BE49-F238E27FC236}">
                <a16:creationId xmlns:a16="http://schemas.microsoft.com/office/drawing/2014/main" id="{D44693F2-6785-4164-AC68-D8626325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9575"/>
            <a:ext cx="95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C18</a:t>
            </a:r>
          </a:p>
        </p:txBody>
      </p:sp>
      <p:sp>
        <p:nvSpPr>
          <p:cNvPr id="25" name="p13-matrix-r3-1">
            <a:extLst xmlns:a="http://schemas.openxmlformats.org/drawingml/2006/main">
              <a:ext uri="{FF2B5EF4-FFF2-40B4-BE49-F238E27FC236}">
                <a16:creationId xmlns:a16="http://schemas.microsoft.com/office/drawing/2014/main" id="{A2FD69D0-3DCA-41CA-BA0C-E57A78CC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19575"/>
            <a:ext cx="2667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SAE 评估框架</a:t>
            </a:r>
          </a:p>
        </p:txBody>
      </p:sp>
      <p:sp>
        <p:nvSpPr>
          <p:cNvPr id="26" name="p13-matrix-r3-2">
            <a:extLst xmlns:a="http://schemas.openxmlformats.org/drawingml/2006/main">
              <a:ext uri="{FF2B5EF4-FFF2-40B4-BE49-F238E27FC236}">
                <a16:creationId xmlns:a16="http://schemas.microsoft.com/office/drawing/2014/main" id="{3FD8A77C-71F3-417F-9F54-9AEA1576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19575"/>
            <a:ext cx="400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评价维度：下游效应稀疏性</a:t>
            </a:r>
          </a:p>
        </p:txBody>
      </p:sp>
      <p:sp>
        <p:nvSpPr>
          <p:cNvPr id="27" name="p13-matrix-r3-3">
            <a:extLst xmlns:a="http://schemas.openxmlformats.org/drawingml/2006/main">
              <a:ext uri="{FF2B5EF4-FFF2-40B4-BE49-F238E27FC236}">
                <a16:creationId xmlns:a16="http://schemas.microsoft.com/office/drawing/2014/main" id="{36440901-2F9F-48FC-804E-43E5B2DC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19575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本案例已完成验证</a:t>
            </a:r>
          </a:p>
        </p:txBody>
      </p:sp>
      <p:sp>
        <p:nvSpPr>
          <p:cNvPr id="28" name="p13-matrix-r4-0">
            <a:extLst xmlns:a="http://schemas.openxmlformats.org/drawingml/2006/main">
              <a:ext uri="{FF2B5EF4-FFF2-40B4-BE49-F238E27FC236}">
                <a16:creationId xmlns:a16="http://schemas.microsoft.com/office/drawing/2014/main" id="{A646A93D-0CCF-4863-8180-A9BAFDED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95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C05</a:t>
            </a:r>
          </a:p>
        </p:txBody>
      </p:sp>
      <p:sp>
        <p:nvSpPr>
          <p:cNvPr id="29" name="p13-matrix-r4-1">
            <a:extLst xmlns:a="http://schemas.openxmlformats.org/drawingml/2006/main">
              <a:ext uri="{FF2B5EF4-FFF2-40B4-BE49-F238E27FC236}">
                <a16:creationId xmlns:a16="http://schemas.microsoft.com/office/drawing/2014/main" id="{2818568F-1621-4B44-92D8-4DF3B703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0125"/>
            <a:ext cx="2667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sparse feature circuits</a:t>
            </a:r>
          </a:p>
        </p:txBody>
      </p:sp>
      <p:sp>
        <p:nvSpPr>
          <p:cNvPr id="30" name="p13-matrix-r4-2">
            <a:extLst xmlns:a="http://schemas.openxmlformats.org/drawingml/2006/main">
              <a:ext uri="{FF2B5EF4-FFF2-40B4-BE49-F238E27FC236}">
                <a16:creationId xmlns:a16="http://schemas.microsoft.com/office/drawing/2014/main" id="{8F63AE0D-A8CC-4D12-A971-3FCEA43B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0125"/>
            <a:ext cx="400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补充：faithfulness / completeness</a:t>
            </a:r>
          </a:p>
        </p:txBody>
      </p:sp>
      <p:sp>
        <p:nvSpPr>
          <p:cNvPr id="31" name="p13-matrix-r4-3">
            <a:extLst xmlns:a="http://schemas.openxmlformats.org/drawingml/2006/main">
              <a:ext uri="{FF2B5EF4-FFF2-40B4-BE49-F238E27FC236}">
                <a16:creationId xmlns:a16="http://schemas.microsoft.com/office/drawing/2014/main" id="{99794222-02D5-4E57-A9AE-EF83BAB0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10125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与 C02 同设置复现</a:t>
            </a:r>
          </a:p>
        </p:txBody>
      </p:sp>
      <p:sp>
        <p:nvSpPr>
          <p:cNvPr id="32" name="p13-bottom">
            <a:extLst xmlns:a="http://schemas.openxmlformats.org/drawingml/2006/main">
              <a:ext uri="{FF2B5EF4-FFF2-40B4-BE49-F238E27FC236}">
                <a16:creationId xmlns:a16="http://schemas.microsoft.com/office/drawing/2014/main" id="{682AF80C-F440-4FBC-A188-1CA1ACA8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25780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矩阵按主张与证据角色组织，不按论文顺序堆摘要。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 演示：四类证据角色与缺口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real">
            <a:extLst xmlns:a="http://schemas.openxmlformats.org/drawingml/2006/main">
              <a:ext uri="{FF2B5EF4-FFF2-40B4-BE49-F238E27FC236}">
                <a16:creationId xmlns:a16="http://schemas.microsoft.com/office/drawing/2014/main" id="{2C32340A-0023-47D2-9027-35413378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838200"/>
            <a:ext cx="5905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主张级综合｜当前判断 review</a:t>
            </a:r>
          </a:p>
        </p:txBody>
      </p:sp>
      <p:pic>
        <p:nvPicPr>
          <p:cNvPr id="12" name="p14-mi-map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5765239fa40b1"/>
          <a:stretch xmlns:a="http://schemas.openxmlformats.org/drawingml/2006/main"/>
        </p:blipFill>
        <p:spPr>
          <a:xfrm xmlns:a="http://schemas.openxmlformats.org/drawingml/2006/main">
            <a:off x="1727200" y="1238250"/>
            <a:ext cx="8737600" cy="4095750"/>
          </a:xfrm>
          <a:prstGeom xmlns:a="http://schemas.openxmlformats.org/drawingml/2006/main" prst="rect">
            <a:avLst/>
          </a:prstGeom>
        </p:spPr>
      </p:pic>
      <p:sp>
        <p:nvSpPr>
          <p:cNvPr id="8" name="p14-bottom">
            <a:extLst xmlns:a="http://schemas.openxmlformats.org/drawingml/2006/main">
              <a:ext uri="{FF2B5EF4-FFF2-40B4-BE49-F238E27FC236}">
                <a16:creationId xmlns:a16="http://schemas.microsoft.com/office/drawing/2014/main" id="{B7A2F29A-3D7F-4FEB-BDE7-F955E682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14950"/>
            <a:ext cx="914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缺口不是“没人做 SAE”，而是同一设置下因果忠实证据尚未闭合。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 演示：四句受限 mini review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h0">
            <a:extLst xmlns:a="http://schemas.openxmlformats.org/drawingml/2006/main">
              <a:ext uri="{FF2B5EF4-FFF2-40B4-BE49-F238E27FC236}">
                <a16:creationId xmlns:a16="http://schemas.microsoft.com/office/drawing/2014/main" id="{C60F32B2-1E6C-4635-BE15-6035A242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范围</a:t>
            </a:r>
          </a:p>
        </p:txBody>
      </p:sp>
      <p:sp>
        <p:nvSpPr>
          <p:cNvPr id="7" name="p15-s0">
            <a:extLst xmlns:a="http://schemas.openxmlformats.org/drawingml/2006/main">
              <a:ext uri="{FF2B5EF4-FFF2-40B4-BE49-F238E27FC236}">
                <a16:creationId xmlns:a16="http://schemas.microsoft.com/office/drawing/2014/main" id="{355BE3FF-E206-4A02-9CDF-42DFA0E5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990600"/>
            <a:ext cx="876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在 Pythia-410M 的 IOI 设置中，考察 SAE 特征相对 PCA 的稀疏定位与行为干预。</a:t>
            </a:r>
          </a:p>
        </p:txBody>
      </p:sp>
      <p:sp>
        <p:nvSpPr>
          <p:cNvPr id="8" name="p15-h1">
            <a:extLst xmlns:a="http://schemas.openxmlformats.org/drawingml/2006/main">
              <a:ext uri="{FF2B5EF4-FFF2-40B4-BE49-F238E27FC236}">
                <a16:creationId xmlns:a16="http://schemas.microsoft.com/office/drawing/2014/main" id="{CEDDFA36-1C7F-4CF1-87D0-1E34824E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直接证据</a:t>
            </a:r>
          </a:p>
        </p:txBody>
      </p:sp>
      <p:sp>
        <p:nvSpPr>
          <p:cNvPr id="9" name="p15-s1">
            <a:extLst xmlns:a="http://schemas.openxmlformats.org/drawingml/2006/main">
              <a:ext uri="{FF2B5EF4-FFF2-40B4-BE49-F238E27FC236}">
                <a16:creationId xmlns:a16="http://schemas.microsoft.com/office/drawing/2014/main" id="{7534A71F-6E72-4527-8285-C8A4D781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95500"/>
            <a:ext cx="876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C02 报告：相同 KL 下 SAE 需要更少 patch 与更小 edit magnitude。</a:t>
            </a:r>
          </a:p>
        </p:txBody>
      </p:sp>
      <p:sp>
        <p:nvSpPr>
          <p:cNvPr id="10" name="p15-h2">
            <a:extLst xmlns:a="http://schemas.openxmlformats.org/drawingml/2006/main">
              <a:ext uri="{FF2B5EF4-FFF2-40B4-BE49-F238E27FC236}">
                <a16:creationId xmlns:a16="http://schemas.microsoft.com/office/drawing/2014/main" id="{4196C6C9-1887-4434-AC2E-846C8918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限制 / 威胁</a:t>
            </a:r>
          </a:p>
        </p:txBody>
      </p:sp>
      <p:sp>
        <p:nvSpPr>
          <p:cNvPr id="11" name="p15-s2">
            <a:extLst xmlns:a="http://schemas.openxmlformats.org/drawingml/2006/main">
              <a:ext uri="{FF2B5EF4-FFF2-40B4-BE49-F238E27FC236}">
                <a16:creationId xmlns:a16="http://schemas.microsoft.com/office/drawing/2014/main" id="{9570FC4C-15B8-47B5-B6C8-D09D8510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00400"/>
            <a:ext cx="876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C16 显示解释性与控制性可分离；C31 显示 patching 可能借道 dormant pathway。</a:t>
            </a:r>
          </a:p>
        </p:txBody>
      </p:sp>
      <p:sp>
        <p:nvSpPr>
          <p:cNvPr id="12" name="p15-h3">
            <a:extLst xmlns:a="http://schemas.openxmlformats.org/drawingml/2006/main">
              <a:ext uri="{FF2B5EF4-FFF2-40B4-BE49-F238E27FC236}">
                <a16:creationId xmlns:a16="http://schemas.microsoft.com/office/drawing/2014/main" id="{25B2802B-CDE4-4525-9229-AF99999A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缺口 / 下一步</a:t>
            </a:r>
          </a:p>
        </p:txBody>
      </p:sp>
      <p:sp>
        <p:nvSpPr>
          <p:cNvPr id="13" name="p15-s3">
            <a:extLst xmlns:a="http://schemas.openxmlformats.org/drawingml/2006/main">
              <a:ext uri="{FF2B5EF4-FFF2-40B4-BE49-F238E27FC236}">
                <a16:creationId xmlns:a16="http://schemas.microsoft.com/office/drawing/2014/main" id="{B5C4AF22-A437-4928-801C-E5D2E24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05300"/>
            <a:ext cx="876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因此仍需同设置 baseline、重构误差与控制性检查，才能评价因果忠实。</a:t>
            </a:r>
          </a:p>
        </p:txBody>
      </p:sp>
      <p:sp>
        <p:nvSpPr>
          <p:cNvPr id="14" name="p15-bottom">
            <a:extLst xmlns:a="http://schemas.openxmlformats.org/drawingml/2006/main">
              <a:ext uri="{FF2B5EF4-FFF2-40B4-BE49-F238E27FC236}">
                <a16:creationId xmlns:a16="http://schemas.microsoft.com/office/drawing/2014/main" id="{E9016AC6-334C-455C-A371-8304EC86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314950"/>
            <a:ext cx="923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状态：review｜可驱动问题与 baseline；不可写成“SAE 已被证明因果忠实”。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MI 演示：把失败写回证据地图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h0">
            <a:extLst xmlns:a="http://schemas.openxmlformats.org/drawingml/2006/main">
              <a:ext uri="{FF2B5EF4-FFF2-40B4-BE49-F238E27FC236}">
                <a16:creationId xmlns:a16="http://schemas.microsoft.com/office/drawing/2014/main" id="{81F0212B-E00C-4469-B72A-8168C18E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1905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 / 死路</a:t>
            </a:r>
          </a:p>
        </p:txBody>
      </p:sp>
      <p:sp>
        <p:nvSpPr>
          <p:cNvPr id="7" name="p16-b0">
            <a:extLst xmlns:a="http://schemas.openxmlformats.org/drawingml/2006/main">
              <a:ext uri="{FF2B5EF4-FFF2-40B4-BE49-F238E27FC236}">
                <a16:creationId xmlns:a16="http://schemas.microsoft.com/office/drawing/2014/main" id="{1F90C47E-B0EF-4A0E-8BD8-C789EC5A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095375"/>
            <a:ext cx="857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 patching 成功直接写成因果忠实</a:t>
            </a:r>
          </a:p>
        </p:txBody>
      </p:sp>
      <p:sp>
        <p:nvSpPr>
          <p:cNvPr id="8" name="p16-h1">
            <a:extLst xmlns:a="http://schemas.openxmlformats.org/drawingml/2006/main">
              <a:ext uri="{FF2B5EF4-FFF2-40B4-BE49-F238E27FC236}">
                <a16:creationId xmlns:a16="http://schemas.microsoft.com/office/drawing/2014/main" id="{30DFDEDA-0F19-4A4D-B0A5-D6DA93B8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905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原因</a:t>
            </a:r>
          </a:p>
        </p:txBody>
      </p:sp>
      <p:sp>
        <p:nvSpPr>
          <p:cNvPr id="9" name="p16-b1">
            <a:extLst xmlns:a="http://schemas.openxmlformats.org/drawingml/2006/main">
              <a:ext uri="{FF2B5EF4-FFF2-40B4-BE49-F238E27FC236}">
                <a16:creationId xmlns:a16="http://schemas.microsoft.com/office/drawing/2014/main" id="{022D1799-4EA0-4D98-B223-70BD6F50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076450"/>
            <a:ext cx="857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行为差异可能来自重构误差、控制性不足或 dormant pathway</a:t>
            </a:r>
          </a:p>
        </p:txBody>
      </p:sp>
      <p:sp>
        <p:nvSpPr>
          <p:cNvPr id="10" name="p16-h2">
            <a:extLst xmlns:a="http://schemas.openxmlformats.org/drawingml/2006/main">
              <a:ext uri="{FF2B5EF4-FFF2-40B4-BE49-F238E27FC236}">
                <a16:creationId xmlns:a16="http://schemas.microsoft.com/office/drawing/2014/main" id="{9D713810-906C-4F5C-9541-4E4CC16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1905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11" name="p16-b2">
            <a:extLst xmlns:a="http://schemas.openxmlformats.org/drawingml/2006/main">
              <a:ext uri="{FF2B5EF4-FFF2-40B4-BE49-F238E27FC236}">
                <a16:creationId xmlns:a16="http://schemas.microsoft.com/office/drawing/2014/main" id="{0C47B696-0ECF-4FB5-B48B-BCD28C27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057525"/>
            <a:ext cx="857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结论降级为 review；增加 PCA / 监督字典 / random feature 与 reconstruction checks</a:t>
            </a:r>
          </a:p>
        </p:txBody>
      </p:sp>
      <p:sp>
        <p:nvSpPr>
          <p:cNvPr id="12" name="p16-h3">
            <a:extLst xmlns:a="http://schemas.openxmlformats.org/drawingml/2006/main">
              <a:ext uri="{FF2B5EF4-FFF2-40B4-BE49-F238E27FC236}">
                <a16:creationId xmlns:a16="http://schemas.microsoft.com/office/drawing/2014/main" id="{7E25A19E-A187-4E8D-8E03-95E679CB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905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回写</a:t>
            </a:r>
          </a:p>
        </p:txBody>
      </p:sp>
      <p:sp>
        <p:nvSpPr>
          <p:cNvPr id="13" name="p16-b3">
            <a:extLst xmlns:a="http://schemas.openxmlformats.org/drawingml/2006/main">
              <a:ext uri="{FF2B5EF4-FFF2-40B4-BE49-F238E27FC236}">
                <a16:creationId xmlns:a16="http://schemas.microsoft.com/office/drawing/2014/main" id="{554AAC75-E790-467B-BE85-57A0EE43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038600"/>
            <a:ext cx="857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evidence-map.md + failure-log.md + problem-definition.md</a:t>
            </a:r>
          </a:p>
        </p:txBody>
      </p:sp>
      <p:sp>
        <p:nvSpPr>
          <p:cNvPr id="14" name="p16-bottom">
            <a:extLst xmlns:a="http://schemas.openxmlformats.org/drawingml/2006/main">
              <a:ext uri="{FF2B5EF4-FFF2-40B4-BE49-F238E27FC236}">
                <a16:creationId xmlns:a16="http://schemas.microsoft.com/office/drawing/2014/main" id="{83FEEEA3-402F-44DF-947A-66E3921F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57800"/>
            <a:ext cx="981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CP1 要求真实发生的失败或被放弃方向；前瞻性的“如果失败就重试”不能替代。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个人实践：跑通一次综述结构重组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goal">
            <a:extLst xmlns:a="http://schemas.openxmlformats.org/drawingml/2006/main">
              <a:ext uri="{FF2B5EF4-FFF2-40B4-BE49-F238E27FC236}">
                <a16:creationId xmlns:a16="http://schemas.microsoft.com/office/drawing/2014/main" id="{4AEDD9B8-6623-4B6F-BEC5-8756CFB5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10820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本人真实问题优先；没有者使用课程虚构样例，但须改换子问题分解。</a:t>
            </a:r>
          </a:p>
        </p:txBody>
      </p:sp>
      <p:sp>
        <p:nvSpPr>
          <p:cNvPr id="7" name="p17-n0">
            <a:extLst xmlns:a="http://schemas.openxmlformats.org/drawingml/2006/main">
              <a:ext uri="{FF2B5EF4-FFF2-40B4-BE49-F238E27FC236}">
                <a16:creationId xmlns:a16="http://schemas.microsoft.com/office/drawing/2014/main" id="{C98794C3-5920-4573-BE79-75B5B602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p17-t0">
            <a:extLst xmlns:a="http://schemas.openxmlformats.org/drawingml/2006/main">
              <a:ext uri="{FF2B5EF4-FFF2-40B4-BE49-F238E27FC236}">
                <a16:creationId xmlns:a16="http://schemas.microsoft.com/office/drawing/2014/main" id="{0589C96D-083E-47ED-BCE7-00B59EC6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002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 1 个子问题</a:t>
            </a:r>
          </a:p>
        </p:txBody>
      </p:sp>
      <p:sp>
        <p:nvSpPr>
          <p:cNvPr id="9" name="p17-n1">
            <a:extLst xmlns:a="http://schemas.openxmlformats.org/drawingml/2006/main">
              <a:ext uri="{FF2B5EF4-FFF2-40B4-BE49-F238E27FC236}">
                <a16:creationId xmlns:a16="http://schemas.microsoft.com/office/drawing/2014/main" id="{4FCE8CD2-5D02-40D1-82ED-307BCE80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479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7-t1">
            <a:extLst xmlns:a="http://schemas.openxmlformats.org/drawingml/2006/main">
              <a:ext uri="{FF2B5EF4-FFF2-40B4-BE49-F238E27FC236}">
                <a16:creationId xmlns:a16="http://schemas.microsoft.com/office/drawing/2014/main" id="{FEDF3A21-36FC-4654-8D6C-3730F5BD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812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取 2 张 verified / caveat 卡</a:t>
            </a:r>
          </a:p>
        </p:txBody>
      </p:sp>
      <p:sp>
        <p:nvSpPr>
          <p:cNvPr id="11" name="p17-n2">
            <a:extLst xmlns:a="http://schemas.openxmlformats.org/drawingml/2006/main">
              <a:ext uri="{FF2B5EF4-FFF2-40B4-BE49-F238E27FC236}">
                <a16:creationId xmlns:a16="http://schemas.microsoft.com/office/drawing/2014/main" id="{618BAED5-613B-4FBC-8CC2-B6CFB167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p17-t2">
            <a:extLst xmlns:a="http://schemas.openxmlformats.org/drawingml/2006/main">
              <a:ext uri="{FF2B5EF4-FFF2-40B4-BE49-F238E27FC236}">
                <a16:creationId xmlns:a16="http://schemas.microsoft.com/office/drawing/2014/main" id="{94ECB16B-D04D-4E37-A104-238C49BB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623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填窄矩阵</a:t>
            </a:r>
          </a:p>
        </p:txBody>
      </p:sp>
      <p:sp>
        <p:nvSpPr>
          <p:cNvPr id="13" name="p17-n3">
            <a:extLst xmlns:a="http://schemas.openxmlformats.org/drawingml/2006/main">
              <a:ext uri="{FF2B5EF4-FFF2-40B4-BE49-F238E27FC236}">
                <a16:creationId xmlns:a16="http://schemas.microsoft.com/office/drawing/2014/main" id="{6F1BF8AF-BF73-46BC-9DB2-625EF51B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p17-t3">
            <a:extLst xmlns:a="http://schemas.openxmlformats.org/drawingml/2006/main">
              <a:ext uri="{FF2B5EF4-FFF2-40B4-BE49-F238E27FC236}">
                <a16:creationId xmlns:a16="http://schemas.microsoft.com/office/drawing/2014/main" id="{17629628-CEE1-4754-AA1D-4E453D4B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2 行证据地图</a:t>
            </a:r>
          </a:p>
        </p:txBody>
      </p:sp>
      <p:sp>
        <p:nvSpPr>
          <p:cNvPr id="15" name="p17-n4">
            <a:extLst xmlns:a="http://schemas.openxmlformats.org/drawingml/2006/main">
              <a:ext uri="{FF2B5EF4-FFF2-40B4-BE49-F238E27FC236}">
                <a16:creationId xmlns:a16="http://schemas.microsoft.com/office/drawing/2014/main" id="{10AA39D5-5512-426B-A299-95929D2D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668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p17-t4">
            <a:extLst xmlns:a="http://schemas.openxmlformats.org/drawingml/2006/main">
              <a:ext uri="{FF2B5EF4-FFF2-40B4-BE49-F238E27FC236}">
                <a16:creationId xmlns:a16="http://schemas.microsoft.com/office/drawing/2014/main" id="{1974ADD3-DFBF-4EA7-8382-5D9D5FF9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002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写四句 mini review</a:t>
            </a:r>
          </a:p>
        </p:txBody>
      </p:sp>
      <p:sp>
        <p:nvSpPr>
          <p:cNvPr id="17" name="p17-n5">
            <a:extLst xmlns:a="http://schemas.openxmlformats.org/drawingml/2006/main">
              <a:ext uri="{FF2B5EF4-FFF2-40B4-BE49-F238E27FC236}">
                <a16:creationId xmlns:a16="http://schemas.microsoft.com/office/drawing/2014/main" id="{C7ED9121-F17D-4841-9F5B-D446DAD0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4792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18" name="p17-t5">
            <a:extLst xmlns:a="http://schemas.openxmlformats.org/drawingml/2006/main">
              <a:ext uri="{FF2B5EF4-FFF2-40B4-BE49-F238E27FC236}">
                <a16:creationId xmlns:a16="http://schemas.microsoft.com/office/drawing/2014/main" id="{5EB77541-5A05-4A7C-9E32-EA84FDE5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8125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留空白候选 + 候选题表述与路径标签</a:t>
            </a:r>
          </a:p>
        </p:txBody>
      </p:sp>
      <p:sp>
        <p:nvSpPr>
          <p:cNvPr id="19" name="p17-n6">
            <a:extLst xmlns:a="http://schemas.openxmlformats.org/drawingml/2006/main">
              <a:ext uri="{FF2B5EF4-FFF2-40B4-BE49-F238E27FC236}">
                <a16:creationId xmlns:a16="http://schemas.microsoft.com/office/drawing/2014/main" id="{226B1B13-5957-4B08-9908-47CCDCA4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28975"/>
            <a:ext cx="4191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0" name="p17-t6">
            <a:extLst xmlns:a="http://schemas.openxmlformats.org/drawingml/2006/main">
              <a:ext uri="{FF2B5EF4-FFF2-40B4-BE49-F238E27FC236}">
                <a16:creationId xmlns:a16="http://schemas.microsoft.com/office/drawing/2014/main" id="{F0116F0D-8259-4284-9DAA-5B32EA6A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162300"/>
            <a:ext cx="442912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保存并记录 AI 使用</a:t>
            </a:r>
          </a:p>
        </p:txBody>
      </p:sp>
      <p:sp>
        <p:nvSpPr>
          <p:cNvPr id="21" name="p17-time">
            <a:extLst xmlns:a="http://schemas.openxmlformats.org/drawingml/2006/main">
              <a:ext uri="{FF2B5EF4-FFF2-40B4-BE49-F238E27FC236}">
                <a16:creationId xmlns:a16="http://schemas.microsoft.com/office/drawing/2014/main" id="{083EB1E1-679B-4126-BCA2-0DCE5217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53000"/>
            <a:ext cx="10477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 分窄矩阵 → 7 分 2 行地图 → 8 分四句 → 6 分 AI 审计与保存；候选题记录并入空白处理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zone1-h">
            <a:extLst xmlns:a="http://schemas.openxmlformats.org/drawingml/2006/main">
              <a:ext uri="{FF2B5EF4-FFF2-40B4-BE49-F238E27FC236}">
                <a16:creationId xmlns:a16="http://schemas.microsoft.com/office/drawing/2014/main" id="{EE10DA06-8587-4DF6-9B6D-26E02A9F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144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1｜窄矩阵</a:t>
            </a:r>
          </a:p>
        </p:txBody>
      </p:sp>
      <p:sp>
        <p:nvSpPr>
          <p:cNvPr id="7" name="p18-zone1">
            <a:extLst xmlns:a="http://schemas.openxmlformats.org/drawingml/2006/main">
              <a:ext uri="{FF2B5EF4-FFF2-40B4-BE49-F238E27FC236}">
                <a16:creationId xmlns:a16="http://schemas.microsoft.com/office/drawing/2014/main" id="{13E904E9-768E-4D47-B1E0-AC9F8858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91440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 个子问题｜2 张 verified / caveat 阅读卡｜材料 × 子问题 × 角色</a:t>
            </a:r>
          </a:p>
        </p:txBody>
      </p:sp>
      <p:sp>
        <p:nvSpPr>
          <p:cNvPr id="8" name="p18-zone2-h">
            <a:extLst xmlns:a="http://schemas.openxmlformats.org/drawingml/2006/main">
              <a:ext uri="{FF2B5EF4-FFF2-40B4-BE49-F238E27FC236}">
                <a16:creationId xmlns:a16="http://schemas.microsoft.com/office/drawing/2014/main" id="{CCDB7160-6904-489E-ACC0-6ABEAABE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81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2｜证据地图</a:t>
            </a:r>
          </a:p>
        </p:txBody>
      </p:sp>
      <p:sp>
        <p:nvSpPr>
          <p:cNvPr id="9" name="p18-zone2">
            <a:extLst xmlns:a="http://schemas.openxmlformats.org/drawingml/2006/main">
              <a:ext uri="{FF2B5EF4-FFF2-40B4-BE49-F238E27FC236}">
                <a16:creationId xmlns:a16="http://schemas.microsoft.com/office/drawing/2014/main" id="{6BE66E62-5C5F-4BD7-890F-351D164B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58115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只写 2 行：编号｜子问题｜材料｜原文位置｜主张｜角色｜局限｜四态</a:t>
            </a:r>
          </a:p>
        </p:txBody>
      </p:sp>
      <p:sp>
        <p:nvSpPr>
          <p:cNvPr id="10" name="p18-zone3-h">
            <a:extLst xmlns:a="http://schemas.openxmlformats.org/drawingml/2006/main">
              <a:ext uri="{FF2B5EF4-FFF2-40B4-BE49-F238E27FC236}">
                <a16:creationId xmlns:a16="http://schemas.microsoft.com/office/drawing/2014/main" id="{170C305D-DF8B-4B22-B947-AF77E1DD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47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3｜空白与候选题</a:t>
            </a:r>
          </a:p>
        </p:txBody>
      </p:sp>
      <p:sp>
        <p:nvSpPr>
          <p:cNvPr id="11" name="p18-zone3">
            <a:extLst xmlns:a="http://schemas.openxmlformats.org/drawingml/2006/main">
              <a:ext uri="{FF2B5EF4-FFF2-40B4-BE49-F238E27FC236}">
                <a16:creationId xmlns:a16="http://schemas.microsoft.com/office/drawing/2014/main" id="{C48DA1B0-823F-41DA-B7CC-FFF897A1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24790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63746"/>
                </a:solidFill>
              </a:defRPr>
            </a:pPr>
            <a:r>
              <a:rPr sz="12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空白只留 1 条 pending + 下一次窄检索；候选题记表述 + 生成路径标签；题池与三步检验第 6 课前补齐</a:t>
            </a:r>
          </a:p>
        </p:txBody>
      </p:sp>
      <p:sp>
        <p:nvSpPr>
          <p:cNvPr id="12" name="p18-zone4-h">
            <a:extLst xmlns:a="http://schemas.openxmlformats.org/drawingml/2006/main">
              <a:ext uri="{FF2B5EF4-FFF2-40B4-BE49-F238E27FC236}">
                <a16:creationId xmlns:a16="http://schemas.microsoft.com/office/drawing/2014/main" id="{2FC82A96-CC7F-4391-946D-0FDBD0A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146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4｜四句草稿</a:t>
            </a:r>
          </a:p>
        </p:txBody>
      </p:sp>
      <p:sp>
        <p:nvSpPr>
          <p:cNvPr id="13" name="p18-four0">
            <a:extLst xmlns:a="http://schemas.openxmlformats.org/drawingml/2006/main">
              <a:ext uri="{FF2B5EF4-FFF2-40B4-BE49-F238E27FC236}">
                <a16:creationId xmlns:a16="http://schemas.microsoft.com/office/drawing/2014/main" id="{13E77A16-DC3B-4F9A-B072-6F04E963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① 范围与子问题</a:t>
            </a:r>
          </a:p>
        </p:txBody>
      </p:sp>
      <p:sp>
        <p:nvSpPr>
          <p:cNvPr id="14" name="p18-four1">
            <a:extLst xmlns:a="http://schemas.openxmlformats.org/drawingml/2006/main">
              <a:ext uri="{FF2B5EF4-FFF2-40B4-BE49-F238E27FC236}">
                <a16:creationId xmlns:a16="http://schemas.microsoft.com/office/drawing/2014/main" id="{C613A919-67BC-4C7E-A33B-BB04758A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② 直接证据</a:t>
            </a:r>
          </a:p>
        </p:txBody>
      </p:sp>
      <p:sp>
        <p:nvSpPr>
          <p:cNvPr id="15" name="p18-four2">
            <a:extLst xmlns:a="http://schemas.openxmlformats.org/drawingml/2006/main">
              <a:ext uri="{FF2B5EF4-FFF2-40B4-BE49-F238E27FC236}">
                <a16:creationId xmlns:a16="http://schemas.microsoft.com/office/drawing/2014/main" id="{9624732C-0B04-466A-AE37-E0C2718E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③ 补充/对比/冲突</a:t>
            </a:r>
          </a:p>
        </p:txBody>
      </p:sp>
      <p:sp>
        <p:nvSpPr>
          <p:cNvPr id="16" name="p18-four3">
            <a:extLst xmlns:a="http://schemas.openxmlformats.org/drawingml/2006/main">
              <a:ext uri="{FF2B5EF4-FFF2-40B4-BE49-F238E27FC236}">
                <a16:creationId xmlns:a16="http://schemas.microsoft.com/office/drawing/2014/main" id="{0EDAA2D3-90CE-4583-805F-D1F10953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914650"/>
            <a:ext cx="21717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④ 空白与下一步核验</a:t>
            </a:r>
          </a:p>
        </p:txBody>
      </p:sp>
      <p:sp>
        <p:nvSpPr>
          <p:cNvPr id="17" name="p18-work-h">
            <a:extLst xmlns:a="http://schemas.openxmlformats.org/drawingml/2006/main">
              <a:ext uri="{FF2B5EF4-FFF2-40B4-BE49-F238E27FC236}">
                <a16:creationId xmlns:a16="http://schemas.microsoft.com/office/drawing/2014/main" id="{CEF30257-9A38-4F0C-873C-DEFA4886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1475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27 分钟顺序</a:t>
            </a:r>
          </a:p>
        </p:txBody>
      </p:sp>
      <p:sp>
        <p:nvSpPr>
          <p:cNvPr id="18" name="p18-m0">
            <a:extLst xmlns:a="http://schemas.openxmlformats.org/drawingml/2006/main">
              <a:ext uri="{FF2B5EF4-FFF2-40B4-BE49-F238E27FC236}">
                <a16:creationId xmlns:a16="http://schemas.microsoft.com/office/drawing/2014/main" id="{3D26472A-C545-4CB3-A82D-A615C5C0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6′</a:t>
            </a:r>
          </a:p>
        </p:txBody>
      </p:sp>
      <p:sp>
        <p:nvSpPr>
          <p:cNvPr id="19" name="p18-p0">
            <a:extLst xmlns:a="http://schemas.openxmlformats.org/drawingml/2006/main">
              <a:ext uri="{FF2B5EF4-FFF2-40B4-BE49-F238E27FC236}">
                <a16:creationId xmlns:a16="http://schemas.microsoft.com/office/drawing/2014/main" id="{632EC08F-49A0-4094-B7EE-BAB663C2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矩阵</a:t>
            </a:r>
          </a:p>
        </p:txBody>
      </p:sp>
      <p:sp>
        <p:nvSpPr>
          <p:cNvPr id="20" name="p18-m1">
            <a:extLst xmlns:a="http://schemas.openxmlformats.org/drawingml/2006/main">
              <a:ext uri="{FF2B5EF4-FFF2-40B4-BE49-F238E27FC236}">
                <a16:creationId xmlns:a16="http://schemas.microsoft.com/office/drawing/2014/main" id="{1863E8AC-517D-4BC8-9BF8-BC8536F3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7′</a:t>
            </a:r>
          </a:p>
        </p:txBody>
      </p:sp>
      <p:sp>
        <p:nvSpPr>
          <p:cNvPr id="21" name="p18-p1">
            <a:extLst xmlns:a="http://schemas.openxmlformats.org/drawingml/2006/main">
              <a:ext uri="{FF2B5EF4-FFF2-40B4-BE49-F238E27FC236}">
                <a16:creationId xmlns:a16="http://schemas.microsoft.com/office/drawing/2014/main" id="{5900EA00-50DB-4340-B8D7-FB9ADEC9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38A"/>
                </a:solidFill>
              </a:defRPr>
            </a:pPr>
            <a:r>
              <a:rPr sz="14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地图</a:t>
            </a:r>
          </a:p>
        </p:txBody>
      </p:sp>
      <p:sp>
        <p:nvSpPr>
          <p:cNvPr id="22" name="p18-m2">
            <a:extLst xmlns:a="http://schemas.openxmlformats.org/drawingml/2006/main">
              <a:ext uri="{FF2B5EF4-FFF2-40B4-BE49-F238E27FC236}">
                <a16:creationId xmlns:a16="http://schemas.microsoft.com/office/drawing/2014/main" id="{44A83EBD-BA61-428B-9211-162139CF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8′</a:t>
            </a:r>
          </a:p>
        </p:txBody>
      </p:sp>
      <p:sp>
        <p:nvSpPr>
          <p:cNvPr id="23" name="p18-p2">
            <a:extLst xmlns:a="http://schemas.openxmlformats.org/drawingml/2006/main">
              <a:ext uri="{FF2B5EF4-FFF2-40B4-BE49-F238E27FC236}">
                <a16:creationId xmlns:a16="http://schemas.microsoft.com/office/drawing/2014/main" id="{DB233BB1-BBDD-4363-B25B-73CBDA37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四句</a:t>
            </a:r>
          </a:p>
        </p:txBody>
      </p:sp>
      <p:sp>
        <p:nvSpPr>
          <p:cNvPr id="24" name="p18-m3">
            <a:extLst xmlns:a="http://schemas.openxmlformats.org/drawingml/2006/main">
              <a:ext uri="{FF2B5EF4-FFF2-40B4-BE49-F238E27FC236}">
                <a16:creationId xmlns:a16="http://schemas.microsoft.com/office/drawing/2014/main" id="{62B77678-CACA-4594-BE9F-25CE3FC3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95700"/>
            <a:ext cx="609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6′</a:t>
            </a:r>
          </a:p>
        </p:txBody>
      </p:sp>
      <p:sp>
        <p:nvSpPr>
          <p:cNvPr id="25" name="p18-p3">
            <a:extLst xmlns:a="http://schemas.openxmlformats.org/drawingml/2006/main">
              <a:ext uri="{FF2B5EF4-FFF2-40B4-BE49-F238E27FC236}">
                <a16:creationId xmlns:a16="http://schemas.microsoft.com/office/drawing/2014/main" id="{732D1E39-C9AF-4930-8331-70615EC37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95700"/>
            <a:ext cx="114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审计/保存</a:t>
            </a:r>
          </a:p>
        </p:txBody>
      </p:sp>
      <p:sp>
        <p:nvSpPr>
          <p:cNvPr id="26" name="p18-log">
            <a:extLst xmlns:a="http://schemas.openxmlformats.org/drawingml/2006/main">
              <a:ext uri="{FF2B5EF4-FFF2-40B4-BE49-F238E27FC236}">
                <a16:creationId xmlns:a16="http://schemas.microsoft.com/office/drawing/2014/main" id="{9383F963-7070-4A96-8ECF-E1E4B066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57700"/>
            <a:ext cx="10287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AI 使用记录：工具/模型｜用途｜Context｜输出用途｜人工核验方式｜问题</a:t>
            </a:r>
          </a:p>
        </p:txBody>
      </p:sp>
      <p:sp>
        <p:nvSpPr>
          <p:cNvPr id="27" name="p18-save">
            <a:extLst xmlns:a="http://schemas.openxmlformats.org/drawingml/2006/main">
              <a:ext uri="{FF2B5EF4-FFF2-40B4-BE49-F238E27FC236}">
                <a16:creationId xmlns:a16="http://schemas.microsoft.com/office/drawing/2014/main" id="{6C6D8B21-CCAE-4885-9ABD-08D7948C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1066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课堂最低产出完成即可｜网络失败：用预录样例或纸面模板继续｜第 6 课前补齐三步空白检验与 ≥3 候选题池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同伴互查四问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n0">
            <a:extLst xmlns:a="http://schemas.openxmlformats.org/drawingml/2006/main">
              <a:ext uri="{FF2B5EF4-FFF2-40B4-BE49-F238E27FC236}">
                <a16:creationId xmlns:a16="http://schemas.microsoft.com/office/drawing/2014/main" id="{1EBF47B5-5269-4B75-8D5B-F05CB359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049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19-h0">
            <a:extLst xmlns:a="http://schemas.openxmlformats.org/drawingml/2006/main">
              <a:ext uri="{FF2B5EF4-FFF2-40B4-BE49-F238E27FC236}">
                <a16:creationId xmlns:a16="http://schemas.microsoft.com/office/drawing/2014/main" id="{DA1DFDCA-9C0B-490E-B105-E9FB5DED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0287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问题组织</a:t>
            </a:r>
          </a:p>
        </p:txBody>
      </p:sp>
      <p:sp>
        <p:nvSpPr>
          <p:cNvPr id="8" name="p19-d0">
            <a:extLst xmlns:a="http://schemas.openxmlformats.org/drawingml/2006/main">
              <a:ext uri="{FF2B5EF4-FFF2-40B4-BE49-F238E27FC236}">
                <a16:creationId xmlns:a16="http://schemas.microsoft.com/office/drawing/2014/main" id="{DAC9B555-A89E-4E27-AA2D-1229DD74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02870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矩阵列来自问题分解，还是论文关键词？</a:t>
            </a:r>
          </a:p>
        </p:txBody>
      </p:sp>
      <p:sp>
        <p:nvSpPr>
          <p:cNvPr id="9" name="p19-n1">
            <a:extLst xmlns:a="http://schemas.openxmlformats.org/drawingml/2006/main">
              <a:ext uri="{FF2B5EF4-FFF2-40B4-BE49-F238E27FC236}">
                <a16:creationId xmlns:a16="http://schemas.microsoft.com/office/drawing/2014/main" id="{65349FE0-5B41-4CB0-A38B-B0BB260E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p19-h1">
            <a:extLst xmlns:a="http://schemas.openxmlformats.org/drawingml/2006/main">
              <a:ext uri="{FF2B5EF4-FFF2-40B4-BE49-F238E27FC236}">
                <a16:creationId xmlns:a16="http://schemas.microsoft.com/office/drawing/2014/main" id="{D0C68A15-06C9-4F9C-AE76-5692D6B5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冲突边界</a:t>
            </a:r>
          </a:p>
        </p:txBody>
      </p:sp>
      <p:sp>
        <p:nvSpPr>
          <p:cNvPr id="11" name="p19-d1">
            <a:extLst xmlns:a="http://schemas.openxmlformats.org/drawingml/2006/main">
              <a:ext uri="{FF2B5EF4-FFF2-40B4-BE49-F238E27FC236}">
                <a16:creationId xmlns:a16="http://schemas.microsoft.com/office/drawing/2014/main" id="{3B618939-4823-449C-8FF1-27716DCE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任务不可比是否被误写成相反结论？</a:t>
            </a:r>
          </a:p>
        </p:txBody>
      </p:sp>
      <p:sp>
        <p:nvSpPr>
          <p:cNvPr id="12" name="p19-n2">
            <a:extLst xmlns:a="http://schemas.openxmlformats.org/drawingml/2006/main">
              <a:ext uri="{FF2B5EF4-FFF2-40B4-BE49-F238E27FC236}">
                <a16:creationId xmlns:a16="http://schemas.microsoft.com/office/drawing/2014/main" id="{1677BD93-F41B-474E-AB4A-42887479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p19-h2">
            <a:extLst xmlns:a="http://schemas.openxmlformats.org/drawingml/2006/main">
              <a:ext uri="{FF2B5EF4-FFF2-40B4-BE49-F238E27FC236}">
                <a16:creationId xmlns:a16="http://schemas.microsoft.com/office/drawing/2014/main" id="{449B3D99-FDAC-4DC3-A0F2-2B45B77C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空白与候选题</a:t>
            </a:r>
          </a:p>
        </p:txBody>
      </p:sp>
      <p:sp>
        <p:nvSpPr>
          <p:cNvPr id="14" name="p19-d2">
            <a:extLst xmlns:a="http://schemas.openxmlformats.org/drawingml/2006/main">
              <a:ext uri="{FF2B5EF4-FFF2-40B4-BE49-F238E27FC236}">
                <a16:creationId xmlns:a16="http://schemas.microsoft.com/office/drawing/2014/main" id="{5F1E8479-3BF4-4AB7-971A-6FF0047E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7180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记录诚实吗？真实检索还是待核验？候选题标了生成路径吗？</a:t>
            </a:r>
          </a:p>
        </p:txBody>
      </p:sp>
      <p:sp>
        <p:nvSpPr>
          <p:cNvPr id="15" name="p19-n3">
            <a:extLst xmlns:a="http://schemas.openxmlformats.org/drawingml/2006/main">
              <a:ext uri="{FF2B5EF4-FFF2-40B4-BE49-F238E27FC236}">
                <a16:creationId xmlns:a16="http://schemas.microsoft.com/office/drawing/2014/main" id="{9E8FE172-F10B-4818-8C99-4D16792B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19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p19-h3">
            <a:extLst xmlns:a="http://schemas.openxmlformats.org/drawingml/2006/main">
              <a:ext uri="{FF2B5EF4-FFF2-40B4-BE49-F238E27FC236}">
                <a16:creationId xmlns:a16="http://schemas.microsoft.com/office/drawing/2014/main" id="{540FF981-320B-4652-B760-029ED448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四句追溯</a:t>
            </a:r>
          </a:p>
        </p:txBody>
      </p:sp>
      <p:sp>
        <p:nvSpPr>
          <p:cNvPr id="17" name="p19-d3">
            <a:extLst xmlns:a="http://schemas.openxmlformats.org/drawingml/2006/main">
              <a:ext uri="{FF2B5EF4-FFF2-40B4-BE49-F238E27FC236}">
                <a16:creationId xmlns:a16="http://schemas.microsoft.com/office/drawing/2014/main" id="{0CAF04C7-F531-4EA4-8FFD-BEFB8A46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43350"/>
            <a:ext cx="571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每句话能回指 verified 条目吗？</a:t>
            </a:r>
          </a:p>
        </p:txBody>
      </p:sp>
      <p:sp>
        <p:nvSpPr>
          <p:cNvPr id="18" name="p19-author-h">
            <a:extLst xmlns:a="http://schemas.openxmlformats.org/drawingml/2006/main">
              <a:ext uri="{FF2B5EF4-FFF2-40B4-BE49-F238E27FC236}">
                <a16:creationId xmlns:a16="http://schemas.microsoft.com/office/drawing/2014/main" id="{584AD3D1-0462-46C0-9832-BBF89483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095375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</a:t>
            </a:r>
          </a:p>
        </p:txBody>
      </p:sp>
      <p:sp>
        <p:nvSpPr>
          <p:cNvPr id="19" name="p19-s0">
            <a:extLst xmlns:a="http://schemas.openxmlformats.org/drawingml/2006/main">
              <a:ext uri="{FF2B5EF4-FFF2-40B4-BE49-F238E27FC236}">
                <a16:creationId xmlns:a16="http://schemas.microsoft.com/office/drawing/2014/main" id="{287038F5-D5AC-4D19-9A21-FAF0855C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5262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</a:t>
            </a:r>
          </a:p>
        </p:txBody>
      </p:sp>
      <p:sp>
        <p:nvSpPr>
          <p:cNvPr id="20" name="p19-s1">
            <a:extLst xmlns:a="http://schemas.openxmlformats.org/drawingml/2006/main">
              <a:ext uri="{FF2B5EF4-FFF2-40B4-BE49-F238E27FC236}">
                <a16:creationId xmlns:a16="http://schemas.microsoft.com/office/drawing/2014/main" id="{0A9619C1-AD28-4EEA-982D-E232CD87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8607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A86C12"/>
                </a:solidFill>
              </a:defRPr>
            </a:pPr>
            <a:r>
              <a:rPr sz="14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暂不采纳</a:t>
            </a:r>
          </a:p>
        </p:txBody>
      </p:sp>
      <p:sp>
        <p:nvSpPr>
          <p:cNvPr id="21" name="p19-s2">
            <a:extLst xmlns:a="http://schemas.openxmlformats.org/drawingml/2006/main">
              <a:ext uri="{FF2B5EF4-FFF2-40B4-BE49-F238E27FC236}">
                <a16:creationId xmlns:a16="http://schemas.microsoft.com/office/drawing/2014/main" id="{59470E57-F3EB-4F61-A3F7-F70470ED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19525"/>
            <a:ext cx="161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待核验</a:t>
            </a:r>
          </a:p>
        </p:txBody>
      </p:sp>
      <p:sp>
        <p:nvSpPr>
          <p:cNvPr id="22" name="p19-bottom">
            <a:extLst xmlns:a="http://schemas.openxmlformats.org/drawingml/2006/main">
              <a:ext uri="{FF2B5EF4-FFF2-40B4-BE49-F238E27FC236}">
                <a16:creationId xmlns:a16="http://schemas.microsoft.com/office/drawing/2014/main" id="{44464C59-5D72-4A1C-AB46-88F7D136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095875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n0">
            <a:extLst xmlns:a="http://schemas.openxmlformats.org/drawingml/2006/main">
              <a:ext uri="{FF2B5EF4-FFF2-40B4-BE49-F238E27FC236}">
                <a16:creationId xmlns:a16="http://schemas.microsoft.com/office/drawing/2014/main" id="{AF89F75E-1F05-4A71-8675-DAE56AD4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p20-h0">
            <a:extLst xmlns:a="http://schemas.openxmlformats.org/drawingml/2006/main">
              <a:ext uri="{FF2B5EF4-FFF2-40B4-BE49-F238E27FC236}">
                <a16:creationId xmlns:a16="http://schemas.microsoft.com/office/drawing/2014/main" id="{889E5FF9-6FB3-48DF-A705-46379258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47750"/>
            <a:ext cx="20478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按问题组织</a:t>
            </a:r>
          </a:p>
        </p:txBody>
      </p:sp>
      <p:sp>
        <p:nvSpPr>
          <p:cNvPr id="8" name="p20-d0">
            <a:extLst xmlns:a="http://schemas.openxmlformats.org/drawingml/2006/main">
              <a:ext uri="{FF2B5EF4-FFF2-40B4-BE49-F238E27FC236}">
                <a16:creationId xmlns:a16="http://schemas.microsoft.com/office/drawing/2014/main" id="{56D0E15F-87F7-4800-8801-0BF72893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矩阵列来自问题分解，不按论文逐篇堆叠</a:t>
            </a:r>
          </a:p>
        </p:txBody>
      </p:sp>
      <p:sp>
        <p:nvSpPr>
          <p:cNvPr id="9" name="p20-arrow0">
            <a:extLst xmlns:a="http://schemas.openxmlformats.org/drawingml/2006/main">
              <a:ext uri="{FF2B5EF4-FFF2-40B4-BE49-F238E27FC236}">
                <a16:creationId xmlns:a16="http://schemas.microsoft.com/office/drawing/2014/main" id="{9FA58DD7-1403-49AF-881C-35A5CDBB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n1">
            <a:extLst xmlns:a="http://schemas.openxmlformats.org/drawingml/2006/main">
              <a:ext uri="{FF2B5EF4-FFF2-40B4-BE49-F238E27FC236}">
                <a16:creationId xmlns:a16="http://schemas.microsoft.com/office/drawing/2014/main" id="{8E01B2A5-EE16-4263-92C9-EF7156F2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04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p20-h1">
            <a:extLst xmlns:a="http://schemas.openxmlformats.org/drawingml/2006/main">
              <a:ext uri="{FF2B5EF4-FFF2-40B4-BE49-F238E27FC236}">
                <a16:creationId xmlns:a16="http://schemas.microsoft.com/office/drawing/2014/main" id="{D5A6E429-EEC0-4CD8-B253-03F426F2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47750"/>
            <a:ext cx="20478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证据地图</a:t>
            </a:r>
          </a:p>
        </p:txBody>
      </p:sp>
      <p:sp>
        <p:nvSpPr>
          <p:cNvPr id="12" name="p20-d1">
            <a:extLst xmlns:a="http://schemas.openxmlformats.org/drawingml/2006/main">
              <a:ext uri="{FF2B5EF4-FFF2-40B4-BE49-F238E27FC236}">
                <a16:creationId xmlns:a16="http://schemas.microsoft.com/office/drawing/2014/main" id="{5A9126D8-8697-4EC3-ADA9-6931A106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05000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保留直接、补充、冲突与空白四种视图</a:t>
            </a:r>
          </a:p>
        </p:txBody>
      </p:sp>
      <p:sp>
        <p:nvSpPr>
          <p:cNvPr id="13" name="p20-arrow1">
            <a:extLst xmlns:a="http://schemas.openxmlformats.org/drawingml/2006/main">
              <a:ext uri="{FF2B5EF4-FFF2-40B4-BE49-F238E27FC236}">
                <a16:creationId xmlns:a16="http://schemas.microsoft.com/office/drawing/2014/main" id="{84E66CFE-3E61-4196-8C38-1C9A6C5B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p20-n2">
            <a:extLst xmlns:a="http://schemas.openxmlformats.org/drawingml/2006/main">
              <a:ext uri="{FF2B5EF4-FFF2-40B4-BE49-F238E27FC236}">
                <a16:creationId xmlns:a16="http://schemas.microsoft.com/office/drawing/2014/main" id="{774D91A6-39D2-40DC-8B01-34D2AB8A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04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p20-h2">
            <a:extLst xmlns:a="http://schemas.openxmlformats.org/drawingml/2006/main">
              <a:ext uri="{FF2B5EF4-FFF2-40B4-BE49-F238E27FC236}">
                <a16:creationId xmlns:a16="http://schemas.microsoft.com/office/drawing/2014/main" id="{80C6241C-1099-438D-899A-549C3B31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47750"/>
            <a:ext cx="20478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受限综合</a:t>
            </a:r>
          </a:p>
        </p:txBody>
      </p:sp>
      <p:sp>
        <p:nvSpPr>
          <p:cNvPr id="16" name="p20-d2">
            <a:extLst xmlns:a="http://schemas.openxmlformats.org/drawingml/2006/main">
              <a:ext uri="{FF2B5EF4-FFF2-40B4-BE49-F238E27FC236}">
                <a16:creationId xmlns:a16="http://schemas.microsoft.com/office/drawing/2014/main" id="{7F223EDD-0964-4AF6-B6B6-126FDEEF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mini review 只使用已核验条目并保留限定</a:t>
            </a:r>
          </a:p>
        </p:txBody>
      </p:sp>
      <p:sp>
        <p:nvSpPr>
          <p:cNvPr id="17" name="p20-arrow2">
            <a:extLst xmlns:a="http://schemas.openxmlformats.org/drawingml/2006/main">
              <a:ext uri="{FF2B5EF4-FFF2-40B4-BE49-F238E27FC236}">
                <a16:creationId xmlns:a16="http://schemas.microsoft.com/office/drawing/2014/main" id="{F27C3985-6406-4BFF-A30B-10FE9E34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p20-n3">
            <a:extLst xmlns:a="http://schemas.openxmlformats.org/drawingml/2006/main">
              <a:ext uri="{FF2B5EF4-FFF2-40B4-BE49-F238E27FC236}">
                <a16:creationId xmlns:a16="http://schemas.microsoft.com/office/drawing/2014/main" id="{83F8EC0A-DC3C-4561-B665-22CBFBA4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04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p20-h3">
            <a:extLst xmlns:a="http://schemas.openxmlformats.org/drawingml/2006/main">
              <a:ext uri="{FF2B5EF4-FFF2-40B4-BE49-F238E27FC236}">
                <a16:creationId xmlns:a16="http://schemas.microsoft.com/office/drawing/2014/main" id="{60AA3D70-DEE2-4EC0-8CAE-1896F82C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47750"/>
            <a:ext cx="20478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生成候选题</a:t>
            </a:r>
          </a:p>
        </p:txBody>
      </p:sp>
      <p:sp>
        <p:nvSpPr>
          <p:cNvPr id="20" name="p20-d3">
            <a:extLst xmlns:a="http://schemas.openxmlformats.org/drawingml/2006/main">
              <a:ext uri="{FF2B5EF4-FFF2-40B4-BE49-F238E27FC236}">
                <a16:creationId xmlns:a16="http://schemas.microsoft.com/office/drawing/2014/main" id="{589DE780-D245-4BAC-ABA0-FE7731A7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05000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空白先检验，再进入候选题池与问题门</a:t>
            </a:r>
          </a:p>
        </p:txBody>
      </p:sp>
      <p:sp>
        <p:nvSpPr>
          <p:cNvPr id="21" name="p20-boundary">
            <a:extLst xmlns:a="http://schemas.openxmlformats.org/drawingml/2006/main">
              <a:ext uri="{FF2B5EF4-FFF2-40B4-BE49-F238E27FC236}">
                <a16:creationId xmlns:a16="http://schemas.microsoft.com/office/drawing/2014/main" id="{BA954292-FEA9-4143-AB04-8C32E5EB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43375"/>
            <a:ext cx="981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关键边界：“我没找到”不等于领域空白；对比证据不自动等于冲突，AI 归纳也不能替代原文核验。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/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退出卡与第 6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1-in0">
            <a:extLst xmlns:a="http://schemas.openxmlformats.org/drawingml/2006/main">
              <a:ext uri="{FF2B5EF4-FFF2-40B4-BE49-F238E27FC236}">
                <a16:creationId xmlns:a16="http://schemas.microsoft.com/office/drawing/2014/main" id="{76541429-C163-4EB0-A3F2-6A902999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620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四句 mini review</a:t>
            </a:r>
          </a:p>
        </p:txBody>
      </p:sp>
      <p:sp>
        <p:nvSpPr>
          <p:cNvPr id="7" name="p21-a0">
            <a:extLst xmlns:a="http://schemas.openxmlformats.org/drawingml/2006/main">
              <a:ext uri="{FF2B5EF4-FFF2-40B4-BE49-F238E27FC236}">
                <a16:creationId xmlns:a16="http://schemas.microsoft.com/office/drawing/2014/main" id="{44976B1D-A113-4417-AE00-A5634DF3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763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p21-in1">
            <a:extLst xmlns:a="http://schemas.openxmlformats.org/drawingml/2006/main">
              <a:ext uri="{FF2B5EF4-FFF2-40B4-BE49-F238E27FC236}">
                <a16:creationId xmlns:a16="http://schemas.microsoft.com/office/drawing/2014/main" id="{78448498-149D-4382-B98D-24C9DA60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2F638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四视图证据地图</a:t>
            </a:r>
          </a:p>
        </p:txBody>
      </p:sp>
      <p:sp>
        <p:nvSpPr>
          <p:cNvPr id="9" name="p21-a1">
            <a:extLst xmlns:a="http://schemas.openxmlformats.org/drawingml/2006/main">
              <a:ext uri="{FF2B5EF4-FFF2-40B4-BE49-F238E27FC236}">
                <a16:creationId xmlns:a16="http://schemas.microsoft.com/office/drawing/2014/main" id="{6473EFF3-FF17-47B8-834A-173E8746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1-in2">
            <a:extLst xmlns:a="http://schemas.openxmlformats.org/drawingml/2006/main">
              <a:ext uri="{FF2B5EF4-FFF2-40B4-BE49-F238E27FC236}">
                <a16:creationId xmlns:a16="http://schemas.microsoft.com/office/drawing/2014/main" id="{FD420BBF-03AE-4E4D-909D-813906E2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90850"/>
            <a:ext cx="3429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9525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空白候选 + 候选题记录</a:t>
            </a:r>
          </a:p>
        </p:txBody>
      </p:sp>
      <p:sp>
        <p:nvSpPr>
          <p:cNvPr id="11" name="p21-a2">
            <a:extLst xmlns:a="http://schemas.openxmlformats.org/drawingml/2006/main">
              <a:ext uri="{FF2B5EF4-FFF2-40B4-BE49-F238E27FC236}">
                <a16:creationId xmlns:a16="http://schemas.microsoft.com/office/drawing/2014/main" id="{E5B98658-5F41-4679-8C20-92A00ABA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05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67684"/>
                </a:solidFill>
              </a:defRPr>
            </a:pPr>
            <a:r>
              <a:rPr sz="21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p21-gate">
            <a:extLst xmlns:a="http://schemas.openxmlformats.org/drawingml/2006/main">
              <a:ext uri="{FF2B5EF4-FFF2-40B4-BE49-F238E27FC236}">
                <a16:creationId xmlns:a16="http://schemas.microsoft.com/office/drawing/2014/main" id="{4B763F43-6AEE-42C1-8175-161008EE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714500"/>
            <a:ext cx="4000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6 课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问题定义 + 第一性原理 + 问题门</a:t>
            </a:r>
          </a:p>
        </p:txBody>
      </p:sp>
      <p:sp>
        <p:nvSpPr>
          <p:cNvPr id="13" name="p21-check-h">
            <a:extLst xmlns:a="http://schemas.openxmlformats.org/drawingml/2006/main">
              <a:ext uri="{FF2B5EF4-FFF2-40B4-BE49-F238E27FC236}">
                <a16:creationId xmlns:a16="http://schemas.microsoft.com/office/drawing/2014/main" id="{143F19F6-5206-45C5-BEF8-88BFA4D8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066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退出卡</a:t>
            </a:r>
          </a:p>
        </p:txBody>
      </p:sp>
      <p:sp>
        <p:nvSpPr>
          <p:cNvPr id="14" name="p21-c0">
            <a:extLst xmlns:a="http://schemas.openxmlformats.org/drawingml/2006/main">
              <a:ext uri="{FF2B5EF4-FFF2-40B4-BE49-F238E27FC236}">
                <a16:creationId xmlns:a16="http://schemas.microsoft.com/office/drawing/2014/main" id="{DEED3704-C740-42C5-BC8D-A02B1107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8097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哪一句仍缺直接证据？</a:t>
            </a:r>
          </a:p>
        </p:txBody>
      </p:sp>
      <p:sp>
        <p:nvSpPr>
          <p:cNvPr id="15" name="p21-c1">
            <a:extLst xmlns:a="http://schemas.openxmlformats.org/drawingml/2006/main">
              <a:ext uri="{FF2B5EF4-FFF2-40B4-BE49-F238E27FC236}">
                <a16:creationId xmlns:a16="http://schemas.microsoft.com/office/drawing/2014/main" id="{B5711217-5556-4479-AEAC-D96E9977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860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候选题的生成路径是什么？</a:t>
            </a:r>
          </a:p>
        </p:txBody>
      </p:sp>
      <p:sp>
        <p:nvSpPr>
          <p:cNvPr id="16" name="p21-c2">
            <a:extLst xmlns:a="http://schemas.openxmlformats.org/drawingml/2006/main">
              <a:ext uri="{FF2B5EF4-FFF2-40B4-BE49-F238E27FC236}">
                <a16:creationId xmlns:a16="http://schemas.microsoft.com/office/drawing/2014/main" id="{37CD70B7-DAFB-45D2-A623-4D92EA25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562350"/>
            <a:ext cx="20955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问题门还需补哪一项？</a:t>
            </a:r>
          </a:p>
        </p:txBody>
      </p:sp>
      <p:sp>
        <p:nvSpPr>
          <p:cNvPr id="17" name="p21-path">
            <a:extLst xmlns:a="http://schemas.openxmlformats.org/drawingml/2006/main">
              <a:ext uri="{FF2B5EF4-FFF2-40B4-BE49-F238E27FC236}">
                <a16:creationId xmlns:a16="http://schemas.microsoft.com/office/drawing/2014/main" id="{94C57FEF-65AC-40AE-AC86-C495FE0E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0096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阅读卡 → mini review / 证据地图 → 候选题池 → 研究问题 → 可证伪命题</a:t>
            </a:r>
          </a:p>
        </p:txBody>
      </p:sp>
      <p:sp>
        <p:nvSpPr>
          <p:cNvPr id="18" name="p21-bottom">
            <a:extLst xmlns:a="http://schemas.openxmlformats.org/drawingml/2006/main">
              <a:ext uri="{FF2B5EF4-FFF2-40B4-BE49-F238E27FC236}">
                <a16:creationId xmlns:a16="http://schemas.microsoft.com/office/drawing/2014/main" id="{7219AADD-44B8-4263-ACB8-26F2308B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95875"/>
            <a:ext cx="790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本课不新增正式作业；继续回写同一个人项目。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2026-08-20T15:05:10.5810000Z</dcterms:created>
  <dcterms:modified xsi:type="dcterms:W3CDTF">2026-08-20T15:05:10.5810000Z</dcterms:modified>
</coreProperties>
</file>