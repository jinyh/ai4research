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726e124cf441b7" /><Relationship Type="http://schemas.openxmlformats.org/officeDocument/2006/relationships/extended-properties" Target="/docProps/app.xml" Id="R4d4a6e860cee4ca8" /><Relationship Type="http://schemas.openxmlformats.org/officeDocument/2006/relationships/officeDocument" Target="/ppt/presentation.xml" Id="R2f167211a8ec4e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4b91b324d84b05"/>
  </p:sldMasterIdLst>
  <p:notesMasterIdLst>
    <p:notesMasterId xmlns:r="http://schemas.openxmlformats.org/officeDocument/2006/relationships" r:id="Rce1979e21c6b48f6"/>
  </p:notesMasterIdLst>
  <p:sldIdLst>
    <p:sldId xmlns:r="http://schemas.openxmlformats.org/officeDocument/2006/relationships" id="256" r:id="Rd9d93def5ea64480"/>
    <p:sldId xmlns:r="http://schemas.openxmlformats.org/officeDocument/2006/relationships" id="257" r:id="Re47464f9eeec425e"/>
    <p:sldId xmlns:r="http://schemas.openxmlformats.org/officeDocument/2006/relationships" id="258" r:id="Rf9a95f70ff2f4d5a"/>
    <p:sldId xmlns:r="http://schemas.openxmlformats.org/officeDocument/2006/relationships" id="259" r:id="Rbd53283660124111"/>
    <p:sldId xmlns:r="http://schemas.openxmlformats.org/officeDocument/2006/relationships" id="260" r:id="Rd4ea2ff7fea74338"/>
    <p:sldId xmlns:r="http://schemas.openxmlformats.org/officeDocument/2006/relationships" id="261" r:id="Ra640d7487d8e4d10"/>
    <p:sldId xmlns:r="http://schemas.openxmlformats.org/officeDocument/2006/relationships" id="262" r:id="Rf49e97d9b3824237"/>
    <p:sldId xmlns:r="http://schemas.openxmlformats.org/officeDocument/2006/relationships" id="263" r:id="R27abe59f291046be"/>
    <p:sldId xmlns:r="http://schemas.openxmlformats.org/officeDocument/2006/relationships" id="264" r:id="Ra364233b4a3a4cc1"/>
    <p:sldId xmlns:r="http://schemas.openxmlformats.org/officeDocument/2006/relationships" id="265" r:id="R98a74f7105d94a1d"/>
    <p:sldId xmlns:r="http://schemas.openxmlformats.org/officeDocument/2006/relationships" id="266" r:id="R92942f6e538e4ee7"/>
    <p:sldId xmlns:r="http://schemas.openxmlformats.org/officeDocument/2006/relationships" id="267" r:id="Rcd6cf9c68ca84116"/>
    <p:sldId xmlns:r="http://schemas.openxmlformats.org/officeDocument/2006/relationships" id="268" r:id="R0bd63fd224b2418b"/>
    <p:sldId xmlns:r="http://schemas.openxmlformats.org/officeDocument/2006/relationships" id="269" r:id="R2f0afd234b514c88"/>
    <p:sldId xmlns:r="http://schemas.openxmlformats.org/officeDocument/2006/relationships" id="270" r:id="Re2ac729b612e46f4"/>
    <p:sldId xmlns:r="http://schemas.openxmlformats.org/officeDocument/2006/relationships" id="271" r:id="R944c7e14b72d4da3"/>
    <p:sldId xmlns:r="http://schemas.openxmlformats.org/officeDocument/2006/relationships" id="272" r:id="Rec170b9ea7c44b0f"/>
    <p:sldId xmlns:r="http://schemas.openxmlformats.org/officeDocument/2006/relationships" id="273" r:id="R5a2e830d70dd42f3"/>
    <p:sldId xmlns:r="http://schemas.openxmlformats.org/officeDocument/2006/relationships" id="274" r:id="R05d97e4316044057"/>
    <p:sldId xmlns:r="http://schemas.openxmlformats.org/officeDocument/2006/relationships" id="275" r:id="R7a779ae90018419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73b4edabbe4cfb" /><Relationship Type="http://schemas.openxmlformats.org/officeDocument/2006/relationships/slideMaster" Target="/ppt/slideMasters/slideMaster1.xml" Id="R264b91b324d84b05" /><Relationship Type="http://schemas.openxmlformats.org/officeDocument/2006/relationships/notesMaster" Target="/ppt/notesMasters/notesMaster1.xml" Id="Rce1979e21c6b48f6" /><Relationship Type="http://schemas.openxmlformats.org/officeDocument/2006/relationships/presProps" Target="/ppt/presProps.xml" Id="R6662576a92214e74" /><Relationship Type="http://schemas.openxmlformats.org/officeDocument/2006/relationships/viewProps" Target="/ppt/viewProps.xml" Id="Rf2109cdaaf1f4e79" /><Relationship Type="http://schemas.openxmlformats.org/officeDocument/2006/relationships/tableStyles" Target="/ppt/tableStyles.xml" Id="Rd3cd2cc63aa64715" /><Relationship Type="http://schemas.openxmlformats.org/officeDocument/2006/relationships/slide" Target="/ppt/slides/slide1.xml" Id="Rd9d93def5ea64480" /><Relationship Type="http://schemas.openxmlformats.org/officeDocument/2006/relationships/slide" Target="/ppt/slides/slide2.xml" Id="Re47464f9eeec425e" /><Relationship Type="http://schemas.openxmlformats.org/officeDocument/2006/relationships/slide" Target="/ppt/slides/slide3.xml" Id="Rf9a95f70ff2f4d5a" /><Relationship Type="http://schemas.openxmlformats.org/officeDocument/2006/relationships/slide" Target="/ppt/slides/slide4.xml" Id="Rbd53283660124111" /><Relationship Type="http://schemas.openxmlformats.org/officeDocument/2006/relationships/slide" Target="/ppt/slides/slide5.xml" Id="Rd4ea2ff7fea74338" /><Relationship Type="http://schemas.openxmlformats.org/officeDocument/2006/relationships/slide" Target="/ppt/slides/slide6.xml" Id="Ra640d7487d8e4d10" /><Relationship Type="http://schemas.openxmlformats.org/officeDocument/2006/relationships/slide" Target="/ppt/slides/slide7.xml" Id="Rf49e97d9b3824237" /><Relationship Type="http://schemas.openxmlformats.org/officeDocument/2006/relationships/slide" Target="/ppt/slides/slide8.xml" Id="R27abe59f291046be" /><Relationship Type="http://schemas.openxmlformats.org/officeDocument/2006/relationships/slide" Target="/ppt/slides/slide9.xml" Id="Ra364233b4a3a4cc1" /><Relationship Type="http://schemas.openxmlformats.org/officeDocument/2006/relationships/slide" Target="/ppt/slides/slide10.xml" Id="R98a74f7105d94a1d" /><Relationship Type="http://schemas.openxmlformats.org/officeDocument/2006/relationships/slide" Target="/ppt/slides/slide11.xml" Id="R92942f6e538e4ee7" /><Relationship Type="http://schemas.openxmlformats.org/officeDocument/2006/relationships/slide" Target="/ppt/slides/slide12.xml" Id="Rcd6cf9c68ca84116" /><Relationship Type="http://schemas.openxmlformats.org/officeDocument/2006/relationships/slide" Target="/ppt/slides/slide13.xml" Id="R0bd63fd224b2418b" /><Relationship Type="http://schemas.openxmlformats.org/officeDocument/2006/relationships/slide" Target="/ppt/slides/slide14.xml" Id="R2f0afd234b514c88" /><Relationship Type="http://schemas.openxmlformats.org/officeDocument/2006/relationships/slide" Target="/ppt/slides/slide15.xml" Id="Re2ac729b612e46f4" /><Relationship Type="http://schemas.openxmlformats.org/officeDocument/2006/relationships/slide" Target="/ppt/slides/slide16.xml" Id="R944c7e14b72d4da3" /><Relationship Type="http://schemas.openxmlformats.org/officeDocument/2006/relationships/slide" Target="/ppt/slides/slide17.xml" Id="Rec170b9ea7c44b0f" /><Relationship Type="http://schemas.openxmlformats.org/officeDocument/2006/relationships/slide" Target="/ppt/slides/slide18.xml" Id="R5a2e830d70dd42f3" /><Relationship Type="http://schemas.openxmlformats.org/officeDocument/2006/relationships/slide" Target="/ppt/slides/slide19.xml" Id="R05d97e4316044057" /><Relationship Type="http://schemas.openxmlformats.org/officeDocument/2006/relationships/slide" Target="/ppt/slides/slide20.xml" Id="R7a779ae9001841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79914c3d184b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0147bfe1fb48ac" /><Relationship Type="http://schemas.openxmlformats.org/officeDocument/2006/relationships/notesMaster" Target="/ppt/notesMasters/notesMaster1.xml" Id="R0b46dd767e3b43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6ad76f5db54627" /><Relationship Type="http://schemas.openxmlformats.org/officeDocument/2006/relationships/notesMaster" Target="/ppt/notesMasters/notesMaster1.xml" Id="R854b86a215484d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8d67777455450e" /><Relationship Type="http://schemas.openxmlformats.org/officeDocument/2006/relationships/notesMaster" Target="/ppt/notesMasters/notesMaster1.xml" Id="Rd2d91b0054ae40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b0595214c34485" /><Relationship Type="http://schemas.openxmlformats.org/officeDocument/2006/relationships/notesMaster" Target="/ppt/notesMasters/notesMaster1.xml" Id="R17a4cc0a2a1540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b5e617322046d0" /><Relationship Type="http://schemas.openxmlformats.org/officeDocument/2006/relationships/notesMaster" Target="/ppt/notesMasters/notesMaster1.xml" Id="Rf61ec0fbfda442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cec224528a4fe2" /><Relationship Type="http://schemas.openxmlformats.org/officeDocument/2006/relationships/notesMaster" Target="/ppt/notesMasters/notesMaster1.xml" Id="R2cdca986caad45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ba4e9f5ff947af" /><Relationship Type="http://schemas.openxmlformats.org/officeDocument/2006/relationships/notesMaster" Target="/ppt/notesMasters/notesMaster1.xml" Id="R4021ee1e3b0d4f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28d9c9ef4e4cfa" /><Relationship Type="http://schemas.openxmlformats.org/officeDocument/2006/relationships/notesMaster" Target="/ppt/notesMasters/notesMaster1.xml" Id="R6e883c0251d243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85b8d6eadf4757" /><Relationship Type="http://schemas.openxmlformats.org/officeDocument/2006/relationships/notesMaster" Target="/ppt/notesMasters/notesMaster1.xml" Id="R614c5d16f9c84a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61ca7066b24016" /><Relationship Type="http://schemas.openxmlformats.org/officeDocument/2006/relationships/notesMaster" Target="/ppt/notesMasters/notesMaster1.xml" Id="R821548f3719546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72654b4f80499f" /><Relationship Type="http://schemas.openxmlformats.org/officeDocument/2006/relationships/notesMaster" Target="/ppt/notesMasters/notesMaster1.xml" Id="R4baff42eac5948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e7880fd61544211" /><Relationship Type="http://schemas.openxmlformats.org/officeDocument/2006/relationships/notesMaster" Target="/ppt/notesMasters/notesMaster1.xml" Id="R7b26b33e8ce24b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6b7bfd94164fe8" /><Relationship Type="http://schemas.openxmlformats.org/officeDocument/2006/relationships/notesMaster" Target="/ppt/notesMasters/notesMaster1.xml" Id="R2b74ba6040cb4e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df0c47e758e48d1" /><Relationship Type="http://schemas.openxmlformats.org/officeDocument/2006/relationships/notesMaster" Target="/ppt/notesMasters/notesMaster1.xml" Id="R3d1280e47c1641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99eed6f50ba4d92" /><Relationship Type="http://schemas.openxmlformats.org/officeDocument/2006/relationships/notesMaster" Target="/ppt/notesMasters/notesMaster1.xml" Id="Rab27a7c3102d48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5578d1e005f4b6d" /><Relationship Type="http://schemas.openxmlformats.org/officeDocument/2006/relationships/notesMaster" Target="/ppt/notesMasters/notesMaster1.xml" Id="Rb04b7b0a45504b1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e8b4b3976e5458c" /><Relationship Type="http://schemas.openxmlformats.org/officeDocument/2006/relationships/notesMaster" Target="/ppt/notesMasters/notesMaster1.xml" Id="Rdaba96722e72483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5fe3dfebe944c9e" /><Relationship Type="http://schemas.openxmlformats.org/officeDocument/2006/relationships/notesMaster" Target="/ppt/notesMasters/notesMaster1.xml" Id="Rbc5952ee26f7401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061f65dcbe64fbd" /><Relationship Type="http://schemas.openxmlformats.org/officeDocument/2006/relationships/notesMaster" Target="/ppt/notesMasters/notesMaster1.xml" Id="R82e95a0cd8bd4cc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338413226264946" /><Relationship Type="http://schemas.openxmlformats.org/officeDocument/2006/relationships/notesMaster" Target="/ppt/notesMasters/notesMaster1.xml" Id="Re3619de7e48942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本课把第 4 课阅读卡重组为按问题排列的证据结构，并形成问题门可检查的最小综合。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 进行第一次短互动：请学生判断自己的阅读笔记目前是按论文排列，还是已经按问题组织。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lessons/lesson-04/slides.md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明确课堂最低产出与边界。mini literature review 是四句最小综合，不是最终 related work。空白候选如出现，当堂补记候选题表述与生成路径标签。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让学生指出：一段逐篇摘要为何无法支持研究空白判断。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两类综述不是高低之分。学生需按研究任务选择结构，并保留检索、提取与取舍记录。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Kitchenham &amp; Charters, Guidelines for Performing Systematic Literature Reviews in Software Engineering, EBSE-2007-01 (2007)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矩阵示例为课程构造。列必须来自问题分解，不得从论文关键词反推。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这是本课最容易混淆的概念页：候选文献角色与问题门四视图是两层口径。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三类空白的识别动作不同。重点是让学生先标候选类型，不急于宣告领域结论。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本页防止“关键词 → 论文 → 空白”单线选题。Qian 六种构思模式（填空 / 扩展 / 造锤找钉 / 小处泛化 / 复现前作 / 外部来源）里，表格空位只是其中一种。候选题池要求 ≥3 候选、≥2 条路径、≥1 个非文献空白路径；当堂最低只记 1 个候选题的表述与路径标签，完整题池第 6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Qian, Z. How to Look for Ideas in Computer Science Research（第 5 课课堂案例，本地转载副本）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让学生用自己的一个空白候选口头判断哪一步最薄弱。通过三步的候选进入候选题池，与其他生成路径的候选题一起在第 6 课比较筛选。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本页用非例保护研究空白概念，避免把表述换新或工程未做误判为空白。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核验清单逐项讲。AI 可帮助聚类与草拟，但不能自动判定证据角色、冲突或领域空白。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虚构教学样例｜非真实论文、检索或实证证据。演示只训练阅读卡进入矩阵的动作，不提供论文事实。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虚构教学样例｜非真实论文、检索或实证证据。E3 是不可比的对比条目，不与 E1 自动形成冲突；G1 只展示应记录的检索字段；通过三步检验后把候选题表述与路径标签记入候选题池。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虚构教学样例｜非真实论文、检索或实证证据。四句骨架练习最小综合，不伪装成完整 related work。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虚构教学样例｜非真实论文、检索或实证证据。让学生给出一条缺失的核验步骤，教师现场补入受限任务契约。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- lessons/lesson-05/teaching-plan.md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43:00-48:00 说明任务，48:00 切到 P18。教师巡视只处理共同卡点，不逐台排障。候选题池 ≥3 个（≥2 条路径、≥1 个非文献空白路径）在第 6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48:00-75:00 停留。本页只支持最小闭环，不要求补齐整份综述或问题门数量。候选题只记表述与路径标签，完整 ≥3 候选题池（≥2 条路径、≥1 个非文献空白路径）第 6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75:00-85:00 两人互查。每人用 45 秒说明问题、矩阵和四句草稿，同伴按四问反馈。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收束开场：本课不要求完成完整综述，只把已核验材料重组为可进入问题门的证据结构，并带着候选题池进入第 6 课比较筛选。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e0ffb61f8f43a5" /><Relationship Type="http://schemas.openxmlformats.org/officeDocument/2006/relationships/image" Target="/ppt/media/image.png" Id="R983568d835ad4970" /><Relationship Type="http://schemas.openxmlformats.org/officeDocument/2006/relationships/image" Target="/ppt/media/image2.png" Id="Rea650a7e2bfe4e2e" /><Relationship Type="http://schemas.openxmlformats.org/officeDocument/2006/relationships/image" Target="/ppt/media/image3.png" Id="R866d5660827c4a0f" /><Relationship Type="http://schemas.openxmlformats.org/officeDocument/2006/relationships/image" Target="/ppt/media/image4.png" Id="Rfb3b801c97a1433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0c832c88149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3fc06fc6df4b37" /><Relationship Type="http://schemas.openxmlformats.org/officeDocument/2006/relationships/image" Target="/ppt/media/image2.png" Id="Rd90666aa0c9d4c38" /><Relationship Type="http://schemas.openxmlformats.org/officeDocument/2006/relationships/image" Target="/ppt/media/image5.png" Id="R918ea02b900946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9a794021b54701" /><Relationship Type="http://schemas.openxmlformats.org/officeDocument/2006/relationships/image" Target="/ppt/media/image.png" Id="R5cf052011e8c49c6" /><Relationship Type="http://schemas.openxmlformats.org/officeDocument/2006/relationships/image" Target="/ppt/media/image3.png" Id="R2258275c712240d6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568d835ad4970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650a7e2bfe4e2e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6d5660827c4a0f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b801c97a14333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0666aa0c9d4c38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ea02b900946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052011e8c49c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58275c712240d6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ee08f8abcb46d9" /><Relationship Type="http://schemas.openxmlformats.org/officeDocument/2006/relationships/slideLayout" Target="/ppt/slideLayouts/slideLayout1.xml" Id="Rcf334a37c9164e65" /><Relationship Type="http://schemas.openxmlformats.org/officeDocument/2006/relationships/slideLayout" Target="/ppt/slideLayouts/slideLayout2.xml" Id="R25c5e796b05e421d" /><Relationship Type="http://schemas.openxmlformats.org/officeDocument/2006/relationships/slideLayout" Target="/ppt/slideLayouts/slideLayout3.xml" Id="Rf4c09ca2e37e4d92" /><Relationship Type="http://schemas.openxmlformats.org/officeDocument/2006/relationships/slideLayout" Target="/ppt/slideLayouts/slideLayout4.xml" Id="R9fd8b7ef86c145b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334a37c9164e65"/>
    <p:sldLayoutId xmlns:r="http://schemas.openxmlformats.org/officeDocument/2006/relationships" id="2147483650" r:id="R25c5e796b05e421d"/>
    <p:sldLayoutId xmlns:r="http://schemas.openxmlformats.org/officeDocument/2006/relationships" id="2147483651" r:id="Rf4c09ca2e37e4d92"/>
    <p:sldLayoutId xmlns:r="http://schemas.openxmlformats.org/officeDocument/2006/relationships" id="2147483652" r:id="R9fd8b7ef86c145b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6d721cc9f4f9a" /><Relationship Type="http://schemas.openxmlformats.org/officeDocument/2006/relationships/notesSlide" Target="/ppt/notesSlides/notesSlide1.xml" Id="Rd8bca785db6b45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282295678643da" /><Relationship Type="http://schemas.openxmlformats.org/officeDocument/2006/relationships/notesSlide" Target="/ppt/notesSlides/notesSlide2.xml" Id="R5123e7a5418e4a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81a805625c848e2" /><Relationship Type="http://schemas.openxmlformats.org/officeDocument/2006/relationships/notesSlide" Target="/ppt/notesSlides/notesSlide3.xml" Id="Rbaddff439bd646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ff98072a4d49f2" /><Relationship Type="http://schemas.openxmlformats.org/officeDocument/2006/relationships/notesSlide" Target="/ppt/notesSlides/notesSlide4.xml" Id="R6f9610ca1bce48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fc788b1c8b4141" /><Relationship Type="http://schemas.openxmlformats.org/officeDocument/2006/relationships/notesSlide" Target="/ppt/notesSlides/notesSlide5.xml" Id="Ra0335051e70047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0879e8e3f2b4a88" /><Relationship Type="http://schemas.openxmlformats.org/officeDocument/2006/relationships/notesSlide" Target="/ppt/notesSlides/notesSlide6.xml" Id="Reed4352a2f4243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e3d676329f4945" /><Relationship Type="http://schemas.openxmlformats.org/officeDocument/2006/relationships/notesSlide" Target="/ppt/notesSlides/notesSlide7.xml" Id="Rf9fb823cfdcb49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8adf725aeb48eb" /><Relationship Type="http://schemas.openxmlformats.org/officeDocument/2006/relationships/notesSlide" Target="/ppt/notesSlides/notesSlide8.xml" Id="R86ee6de4f1e348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27b50e61cec4cd5" /><Relationship Type="http://schemas.openxmlformats.org/officeDocument/2006/relationships/notesSlide" Target="/ppt/notesSlides/notesSlide9.xml" Id="R39e5f636634143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7abf0e871094bfa" /><Relationship Type="http://schemas.openxmlformats.org/officeDocument/2006/relationships/notesSlide" Target="/ppt/notesSlides/notesSlide10.xml" Id="R5ed0591ba6dc4f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df148375b7c4cd1" /><Relationship Type="http://schemas.openxmlformats.org/officeDocument/2006/relationships/notesSlide" Target="/ppt/notesSlides/notesSlide11.xml" Id="Rf1231bde19fc41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0a109d74c944e4" /><Relationship Type="http://schemas.openxmlformats.org/officeDocument/2006/relationships/notesSlide" Target="/ppt/notesSlides/notesSlide12.xml" Id="R37149122c21540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9715c133634faa" /><Relationship Type="http://schemas.openxmlformats.org/officeDocument/2006/relationships/notesSlide" Target="/ppt/notesSlides/notesSlide13.xml" Id="Rf3406be0e2b744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fae71f8a98e4c6f" /><Relationship Type="http://schemas.openxmlformats.org/officeDocument/2006/relationships/notesSlide" Target="/ppt/notesSlides/notesSlide14.xml" Id="Rf1904ba918384a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818f22cfb0438a" /><Relationship Type="http://schemas.openxmlformats.org/officeDocument/2006/relationships/notesSlide" Target="/ppt/notesSlides/notesSlide15.xml" Id="Rdbf5d2ff11a4435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c309cd0db5e4e72" /><Relationship Type="http://schemas.openxmlformats.org/officeDocument/2006/relationships/notesSlide" Target="/ppt/notesSlides/notesSlide16.xml" Id="Rda8457fdc286483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37efd032f9d4335" /><Relationship Type="http://schemas.openxmlformats.org/officeDocument/2006/relationships/notesSlide" Target="/ppt/notesSlides/notesSlide17.xml" Id="R859ce41867ba40b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deaeb6d4dd743fa" /><Relationship Type="http://schemas.openxmlformats.org/officeDocument/2006/relationships/notesSlide" Target="/ppt/notesSlides/notesSlide18.xml" Id="Rca8f4bdb3f56417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79ba8f03b542ea" /><Relationship Type="http://schemas.openxmlformats.org/officeDocument/2006/relationships/notesSlide" Target="/ppt/notesSlides/notesSlide19.xml" Id="Ra34349a4fdf6472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2f90b46d424104" /><Relationship Type="http://schemas.openxmlformats.org/officeDocument/2006/relationships/notesSlide" Target="/ppt/notesSlides/notesSlide20.xml" Id="R40573f43ad034de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066800" y="3009900"/>
            <a:ext cx="10058400" cy="22860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 → 按问题组织 → 证据地图 → 四句 mini review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综述不是摘要堆叠，是按问题组织的证据结构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第五讲｜阶段五：证据整理 → 第 6 课问题门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00150"/>
            <a:ext cx="97536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综述结构、证据地图与研究空白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4 课之后，阅读卡为什么仍不算综述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h">
            <a:extLst xmlns:a="http://schemas.openxmlformats.org/drawingml/2006/main">
              <a:ext uri="{FF2B5EF4-FFF2-40B4-BE49-F238E27FC236}">
                <a16:creationId xmlns:a16="http://schemas.microsoft.com/office/drawing/2014/main" id="{D57A76A9-8EF7-42F0-87FA-4C129536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0125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已经有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E0EB1A13-310F-426E-8989-19AB69A0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带原文位置的阅读卡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35BD1777-B22E-4D55-8117-247D574E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作者主张与人工判断分栏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B3F0CB31-E591-41F5-8EE9-25343D54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AI 偏差审计记录</a:t>
            </a:r>
          </a:p>
        </p:txBody>
      </p:sp>
      <p:sp>
        <p:nvSpPr>
          <p:cNvPr id="10" name="p02-arrow">
            <a:extLst xmlns:a="http://schemas.openxmlformats.org/drawingml/2006/main">
              <a:ext uri="{FF2B5EF4-FFF2-40B4-BE49-F238E27FC236}">
                <a16:creationId xmlns:a16="http://schemas.microsoft.com/office/drawing/2014/main" id="{D3D96978-2E92-4891-9800-C78AB443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670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2-right-h">
            <a:extLst xmlns:a="http://schemas.openxmlformats.org/drawingml/2006/main">
              <a:ext uri="{FF2B5EF4-FFF2-40B4-BE49-F238E27FC236}">
                <a16:creationId xmlns:a16="http://schemas.microsoft.com/office/drawing/2014/main" id="{34B64062-1950-4611-9139-E7BDBA51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00125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仍看不见</a:t>
            </a:r>
          </a:p>
        </p:txBody>
      </p:sp>
      <p:sp>
        <p:nvSpPr>
          <p:cNvPr id="12" name="p02-right-0">
            <a:extLst xmlns:a="http://schemas.openxmlformats.org/drawingml/2006/main">
              <a:ext uri="{FF2B5EF4-FFF2-40B4-BE49-F238E27FC236}">
                <a16:creationId xmlns:a16="http://schemas.microsoft.com/office/drawing/2014/main" id="{731398C3-643D-4320-B326-25833991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2877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文献之间支持、冲突还是不可比？</a:t>
            </a:r>
          </a:p>
        </p:txBody>
      </p:sp>
      <p:sp>
        <p:nvSpPr>
          <p:cNvPr id="13" name="p02-right-1">
            <a:extLst xmlns:a="http://schemas.openxmlformats.org/drawingml/2006/main">
              <a:ext uri="{FF2B5EF4-FFF2-40B4-BE49-F238E27FC236}">
                <a16:creationId xmlns:a16="http://schemas.microsoft.com/office/drawing/2014/main" id="{B3A07F54-2D8D-4503-B5D2-D7F13743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哪个子问题整列空白？</a:t>
            </a:r>
          </a:p>
        </p:txBody>
      </p:sp>
      <p:sp>
        <p:nvSpPr>
          <p:cNvPr id="14" name="p02-right-2">
            <a:extLst xmlns:a="http://schemas.openxmlformats.org/drawingml/2006/main">
              <a:ext uri="{FF2B5EF4-FFF2-40B4-BE49-F238E27FC236}">
                <a16:creationId xmlns:a16="http://schemas.microsoft.com/office/drawing/2014/main" id="{92B48972-61BD-4D52-BF6A-0A29157D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0992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哪些句子能进入最小综述？</a:t>
            </a:r>
          </a:p>
        </p:txBody>
      </p:sp>
      <p:sp>
        <p:nvSpPr>
          <p:cNvPr id="15" name="p02-bottom">
            <a:extLst xmlns:a="http://schemas.openxmlformats.org/drawingml/2006/main">
              <a:ext uri="{FF2B5EF4-FFF2-40B4-BE49-F238E27FC236}">
                <a16:creationId xmlns:a16="http://schemas.microsoft.com/office/drawing/2014/main" id="{14B5CD3C-1BE7-47C3-85A7-29EEFA8B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来源已核验  ≠  证据关系已组织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thesis">
            <a:extLst xmlns:a="http://schemas.openxmlformats.org/drawingml/2006/main">
              <a:ext uri="{FF2B5EF4-FFF2-40B4-BE49-F238E27FC236}">
                <a16:creationId xmlns:a16="http://schemas.microsoft.com/office/drawing/2014/main" id="{7247A96C-A862-4639-B46F-F5CE3417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10858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27 分钟只跑通一个可复查的最小闭环</a:t>
            </a:r>
          </a:p>
        </p:txBody>
      </p:sp>
      <p:sp>
        <p:nvSpPr>
          <p:cNvPr id="7" name="p03-n0">
            <a:extLst xmlns:a="http://schemas.openxmlformats.org/drawingml/2006/main">
              <a:ext uri="{FF2B5EF4-FFF2-40B4-BE49-F238E27FC236}">
                <a16:creationId xmlns:a16="http://schemas.microsoft.com/office/drawing/2014/main" id="{295CD9B5-4D22-42D7-B659-80D0E98F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03-h0">
            <a:extLst xmlns:a="http://schemas.openxmlformats.org/drawingml/2006/main">
              <a:ext uri="{FF2B5EF4-FFF2-40B4-BE49-F238E27FC236}">
                <a16:creationId xmlns:a16="http://schemas.microsoft.com/office/drawing/2014/main" id="{9EA8EF1B-4108-4E5F-8D7B-5B1CCCDD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窄矩阵</a:t>
            </a:r>
          </a:p>
        </p:txBody>
      </p:sp>
      <p:sp>
        <p:nvSpPr>
          <p:cNvPr id="9" name="p03-d0">
            <a:extLst xmlns:a="http://schemas.openxmlformats.org/drawingml/2006/main">
              <a:ext uri="{FF2B5EF4-FFF2-40B4-BE49-F238E27FC236}">
                <a16:creationId xmlns:a16="http://schemas.microsoft.com/office/drawing/2014/main" id="{EDB262AC-018C-43F2-ADB4-0951BE53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2-3 张卡 × 2-3 个子问题</a:t>
            </a:r>
          </a:p>
        </p:txBody>
      </p:sp>
      <p:sp>
        <p:nvSpPr>
          <p:cNvPr id="10" name="p03-n1">
            <a:extLst xmlns:a="http://schemas.openxmlformats.org/drawingml/2006/main">
              <a:ext uri="{FF2B5EF4-FFF2-40B4-BE49-F238E27FC236}">
                <a16:creationId xmlns:a16="http://schemas.microsoft.com/office/drawing/2014/main" id="{DD593FBA-B625-4D57-80AE-A6F4DAAE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03-h1">
            <a:extLst xmlns:a="http://schemas.openxmlformats.org/drawingml/2006/main">
              <a:ext uri="{FF2B5EF4-FFF2-40B4-BE49-F238E27FC236}">
                <a16:creationId xmlns:a16="http://schemas.microsoft.com/office/drawing/2014/main" id="{8C7D1D36-6BB2-477B-B0FC-088FA44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四视图地图</a:t>
            </a:r>
          </a:p>
        </p:txBody>
      </p:sp>
      <p:sp>
        <p:nvSpPr>
          <p:cNvPr id="12" name="p03-d1">
            <a:extLst xmlns:a="http://schemas.openxmlformats.org/drawingml/2006/main">
              <a:ext uri="{FF2B5EF4-FFF2-40B4-BE49-F238E27FC236}">
                <a16:creationId xmlns:a16="http://schemas.microsoft.com/office/drawing/2014/main" id="{A7AE94FE-A300-4892-A424-29620310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 / 补充 / 冲突 / 空白</a:t>
            </a:r>
          </a:p>
        </p:txBody>
      </p:sp>
      <p:sp>
        <p:nvSpPr>
          <p:cNvPr id="13" name="p03-n2">
            <a:extLst xmlns:a="http://schemas.openxmlformats.org/drawingml/2006/main">
              <a:ext uri="{FF2B5EF4-FFF2-40B4-BE49-F238E27FC236}">
                <a16:creationId xmlns:a16="http://schemas.microsoft.com/office/drawing/2014/main" id="{28399098-2693-42C0-B1D7-A25D17D6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p03-h2">
            <a:extLst xmlns:a="http://schemas.openxmlformats.org/drawingml/2006/main">
              <a:ext uri="{FF2B5EF4-FFF2-40B4-BE49-F238E27FC236}">
                <a16:creationId xmlns:a16="http://schemas.microsoft.com/office/drawing/2014/main" id="{63547AB3-8ADB-4ACE-A129-5A7BC2D4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空白首轮检验</a:t>
            </a:r>
          </a:p>
        </p:txBody>
      </p:sp>
      <p:sp>
        <p:nvSpPr>
          <p:cNvPr id="15" name="p03-d2">
            <a:extLst xmlns:a="http://schemas.openxmlformats.org/drawingml/2006/main">
              <a:ext uri="{FF2B5EF4-FFF2-40B4-BE49-F238E27FC236}">
                <a16:creationId xmlns:a16="http://schemas.microsoft.com/office/drawing/2014/main" id="{8BEAEC97-80CC-4116-B567-15BF4DA1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三步检验 + 候选题表述与路径标签</a:t>
            </a:r>
          </a:p>
        </p:txBody>
      </p:sp>
      <p:sp>
        <p:nvSpPr>
          <p:cNvPr id="16" name="p03-n3">
            <a:extLst xmlns:a="http://schemas.openxmlformats.org/drawingml/2006/main">
              <a:ext uri="{FF2B5EF4-FFF2-40B4-BE49-F238E27FC236}">
                <a16:creationId xmlns:a16="http://schemas.microsoft.com/office/drawing/2014/main" id="{7C4B6F13-36A0-4FEF-A877-E44F5919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95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7" name="p03-h3">
            <a:extLst xmlns:a="http://schemas.openxmlformats.org/drawingml/2006/main">
              <a:ext uri="{FF2B5EF4-FFF2-40B4-BE49-F238E27FC236}">
                <a16:creationId xmlns:a16="http://schemas.microsoft.com/office/drawing/2014/main" id="{C8950B9A-EA97-4C70-BE81-D2BE05E8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95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四句 mini review</a:t>
            </a:r>
          </a:p>
        </p:txBody>
      </p:sp>
      <p:sp>
        <p:nvSpPr>
          <p:cNvPr id="18" name="p03-d3">
            <a:extLst xmlns:a="http://schemas.openxmlformats.org/drawingml/2006/main">
              <a:ext uri="{FF2B5EF4-FFF2-40B4-BE49-F238E27FC236}">
                <a16:creationId xmlns:a16="http://schemas.microsoft.com/office/drawing/2014/main" id="{C558A5A9-19BC-4F9F-9F1E-4C0AF333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 / 证据 / 分歧 / 空白</a:t>
            </a:r>
          </a:p>
        </p:txBody>
      </p:sp>
      <p:sp>
        <p:nvSpPr>
          <p:cNvPr id="19" name="p03-n4">
            <a:extLst xmlns:a="http://schemas.openxmlformats.org/drawingml/2006/main">
              <a:ext uri="{FF2B5EF4-FFF2-40B4-BE49-F238E27FC236}">
                <a16:creationId xmlns:a16="http://schemas.microsoft.com/office/drawing/2014/main" id="{02BE2E30-E684-40F3-9EFB-C72BF9C6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0" name="p03-h4">
            <a:extLst xmlns:a="http://schemas.openxmlformats.org/drawingml/2006/main">
              <a:ext uri="{FF2B5EF4-FFF2-40B4-BE49-F238E27FC236}">
                <a16:creationId xmlns:a16="http://schemas.microsoft.com/office/drawing/2014/main" id="{6BA4CCFB-1AE3-4E0B-B2E1-178106E7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95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一条 AI 核验</a:t>
            </a:r>
          </a:p>
        </p:txBody>
      </p:sp>
      <p:sp>
        <p:nvSpPr>
          <p:cNvPr id="21" name="p03-d4">
            <a:extLst xmlns:a="http://schemas.openxmlformats.org/drawingml/2006/main">
              <a:ext uri="{FF2B5EF4-FFF2-40B4-BE49-F238E27FC236}">
                <a16:creationId xmlns:a16="http://schemas.microsoft.com/office/drawing/2014/main" id="{EB5324D1-DEA9-40E0-B49B-1F6D778F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242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处理决定 + 使用记录</a:t>
            </a:r>
          </a:p>
        </p:txBody>
      </p:sp>
      <p:sp>
        <p:nvSpPr>
          <p:cNvPr id="22" name="p03-boundary">
            <a:extLst xmlns:a="http://schemas.openxmlformats.org/drawingml/2006/main">
              <a:ext uri="{FF2B5EF4-FFF2-40B4-BE49-F238E27FC236}">
                <a16:creationId xmlns:a16="http://schemas.microsoft.com/office/drawing/2014/main" id="{DB4D3877-F9EA-4C8C-AD5C-782ACE12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本课不正式提交；以上工件进入第 6 课问题门，不等于完整 related work。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摘要堆叠为什么不算综述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left-h">
            <a:extLst xmlns:a="http://schemas.openxmlformats.org/drawingml/2006/main">
              <a:ext uri="{FF2B5EF4-FFF2-40B4-BE49-F238E27FC236}">
                <a16:creationId xmlns:a16="http://schemas.microsoft.com/office/drawing/2014/main" id="{86483FE6-9B44-4728-8460-AA4598A5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按论文排列</a:t>
            </a:r>
          </a:p>
        </p:txBody>
      </p:sp>
      <p:sp>
        <p:nvSpPr>
          <p:cNvPr id="7" name="p04-a0">
            <a:extLst xmlns:a="http://schemas.openxmlformats.org/drawingml/2006/main">
              <a:ext uri="{FF2B5EF4-FFF2-40B4-BE49-F238E27FC236}">
                <a16:creationId xmlns:a16="http://schemas.microsoft.com/office/drawing/2014/main" id="{822182C1-D890-40A3-A787-26D6FDD1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621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A 摘要</a:t>
            </a:r>
          </a:p>
        </p:txBody>
      </p:sp>
      <p:sp>
        <p:nvSpPr>
          <p:cNvPr id="8" name="p04-a1">
            <a:extLst xmlns:a="http://schemas.openxmlformats.org/drawingml/2006/main">
              <a:ext uri="{FF2B5EF4-FFF2-40B4-BE49-F238E27FC236}">
                <a16:creationId xmlns:a16="http://schemas.microsoft.com/office/drawing/2014/main" id="{1A5C7E03-864A-472B-B07B-3E58FDE1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B 摘要</a:t>
            </a:r>
          </a:p>
        </p:txBody>
      </p:sp>
      <p:sp>
        <p:nvSpPr>
          <p:cNvPr id="9" name="p04-a2">
            <a:extLst xmlns:a="http://schemas.openxmlformats.org/drawingml/2006/main">
              <a:ext uri="{FF2B5EF4-FFF2-40B4-BE49-F238E27FC236}">
                <a16:creationId xmlns:a16="http://schemas.microsoft.com/office/drawing/2014/main" id="{B510FE91-C167-4758-ADE9-41F346F1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C 摘要</a:t>
            </a:r>
          </a:p>
        </p:txBody>
      </p:sp>
      <p:sp>
        <p:nvSpPr>
          <p:cNvPr id="10" name="p04-neq">
            <a:extLst xmlns:a="http://schemas.openxmlformats.org/drawingml/2006/main">
              <a:ext uri="{FF2B5EF4-FFF2-40B4-BE49-F238E27FC236}">
                <a16:creationId xmlns:a16="http://schemas.microsoft.com/office/drawing/2014/main" id="{40DDDBB3-732B-4199-A49B-1B9BD5EF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1104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C8161E"/>
                </a:solidFill>
              </a:defRPr>
            </a:pPr>
            <a:r>
              <a:rPr sz="4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4-right-h">
            <a:extLst xmlns:a="http://schemas.openxmlformats.org/drawingml/2006/main">
              <a:ext uri="{FF2B5EF4-FFF2-40B4-BE49-F238E27FC236}">
                <a16:creationId xmlns:a16="http://schemas.microsoft.com/office/drawing/2014/main" id="{09B8A387-D454-4D6B-A69F-57AAA053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2870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按问题组织</a:t>
            </a:r>
          </a:p>
        </p:txBody>
      </p:sp>
      <p:sp>
        <p:nvSpPr>
          <p:cNvPr id="12" name="p04-q0">
            <a:extLst xmlns:a="http://schemas.openxmlformats.org/drawingml/2006/main">
              <a:ext uri="{FF2B5EF4-FFF2-40B4-BE49-F238E27FC236}">
                <a16:creationId xmlns:a16="http://schemas.microsoft.com/office/drawing/2014/main" id="{54353CAD-269C-4437-B68C-E1EBD04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621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共同回答什么？</a:t>
            </a:r>
          </a:p>
        </p:txBody>
      </p:sp>
      <p:sp>
        <p:nvSpPr>
          <p:cNvPr id="13" name="p04-q1">
            <a:extLst xmlns:a="http://schemas.openxmlformats.org/drawingml/2006/main">
              <a:ext uri="{FF2B5EF4-FFF2-40B4-BE49-F238E27FC236}">
                <a16:creationId xmlns:a16="http://schemas.microsoft.com/office/drawing/2014/main" id="{CAA6CF6B-6BA5-430B-9AC5-B4E99A53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384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哪里冲突或不可比？</a:t>
            </a:r>
          </a:p>
        </p:txBody>
      </p:sp>
      <p:sp>
        <p:nvSpPr>
          <p:cNvPr id="14" name="p04-q2">
            <a:extLst xmlns:a="http://schemas.openxmlformats.org/drawingml/2006/main">
              <a:ext uri="{FF2B5EF4-FFF2-40B4-BE49-F238E27FC236}">
                <a16:creationId xmlns:a16="http://schemas.microsoft.com/office/drawing/2014/main" id="{60A69629-79C6-4D6C-AAA0-4ECF1811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147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什么仍是空白？</a:t>
            </a:r>
          </a:p>
        </p:txBody>
      </p:sp>
      <p:sp>
        <p:nvSpPr>
          <p:cNvPr id="15" name="p04-bottom">
            <a:extLst xmlns:a="http://schemas.openxmlformats.org/drawingml/2006/main">
              <a:ext uri="{FF2B5EF4-FFF2-40B4-BE49-F238E27FC236}">
                <a16:creationId xmlns:a16="http://schemas.microsoft.com/office/drawing/2014/main" id="{DEB138F9-AF14-45B7-8F6A-86BD783B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62500"/>
            <a:ext cx="790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摘要堆叠保留了顺序，却丢失了证据关系。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叙事性综述与系统性综述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h-0">
            <a:extLst xmlns:a="http://schemas.openxmlformats.org/drawingml/2006/main">
              <a:ext uri="{FF2B5EF4-FFF2-40B4-BE49-F238E27FC236}">
                <a16:creationId xmlns:a16="http://schemas.microsoft.com/office/drawing/2014/main" id="{D5B4D794-7619-4C6B-8927-167A8BAA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7" name="p05-h-1">
            <a:extLst xmlns:a="http://schemas.openxmlformats.org/drawingml/2006/main">
              <a:ext uri="{FF2B5EF4-FFF2-40B4-BE49-F238E27FC236}">
                <a16:creationId xmlns:a16="http://schemas.microsoft.com/office/drawing/2014/main" id="{8A0D858C-3880-4898-819F-838843D0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43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叙事性综述</a:t>
            </a:r>
          </a:p>
        </p:txBody>
      </p:sp>
      <p:sp>
        <p:nvSpPr>
          <p:cNvPr id="8" name="p05-h-2">
            <a:extLst xmlns:a="http://schemas.openxmlformats.org/drawingml/2006/main">
              <a:ext uri="{FF2B5EF4-FFF2-40B4-BE49-F238E27FC236}">
                <a16:creationId xmlns:a16="http://schemas.microsoft.com/office/drawing/2014/main" id="{878AEB55-B2D5-4B1D-A8EB-A30797BE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143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系统性综述</a:t>
            </a:r>
          </a:p>
        </p:txBody>
      </p:sp>
      <p:sp>
        <p:nvSpPr>
          <p:cNvPr id="9" name="p05-r0-0">
            <a:extLst xmlns:a="http://schemas.openxmlformats.org/drawingml/2006/main">
              <a:ext uri="{FF2B5EF4-FFF2-40B4-BE49-F238E27FC236}">
                <a16:creationId xmlns:a16="http://schemas.microsoft.com/office/drawing/2014/main" id="{11CBF658-8200-4734-962C-B3D444A2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430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10" name="p05-r0-1">
            <a:extLst xmlns:a="http://schemas.openxmlformats.org/drawingml/2006/main">
              <a:ext uri="{FF2B5EF4-FFF2-40B4-BE49-F238E27FC236}">
                <a16:creationId xmlns:a16="http://schemas.microsoft.com/office/drawing/2014/main" id="{9FFA457C-EDB9-46E2-82A7-665BFBAF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5430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解释主题、机制或冲突</a:t>
            </a:r>
          </a:p>
        </p:txBody>
      </p:sp>
      <p:sp>
        <p:nvSpPr>
          <p:cNvPr id="11" name="p05-r0-2">
            <a:extLst xmlns:a="http://schemas.openxmlformats.org/drawingml/2006/main">
              <a:ext uri="{FF2B5EF4-FFF2-40B4-BE49-F238E27FC236}">
                <a16:creationId xmlns:a16="http://schemas.microsoft.com/office/drawing/2014/main" id="{47D28F02-F0D5-4D1C-8D80-3034936F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430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按预设协议回答明确问题</a:t>
            </a:r>
          </a:p>
        </p:txBody>
      </p:sp>
      <p:sp>
        <p:nvSpPr>
          <p:cNvPr id="12" name="p05-r1-0">
            <a:extLst xmlns:a="http://schemas.openxmlformats.org/drawingml/2006/main">
              <a:ext uri="{FF2B5EF4-FFF2-40B4-BE49-F238E27FC236}">
                <a16:creationId xmlns:a16="http://schemas.microsoft.com/office/drawing/2014/main" id="{29049F73-59DB-4104-A140-164F129B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860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13" name="p05-r1-1">
            <a:extLst xmlns:a="http://schemas.openxmlformats.org/drawingml/2006/main">
              <a:ext uri="{FF2B5EF4-FFF2-40B4-BE49-F238E27FC236}">
                <a16:creationId xmlns:a16="http://schemas.microsoft.com/office/drawing/2014/main" id="{023C524A-165B-49A5-B487-FD282166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286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范围由研究者说明</a:t>
            </a:r>
          </a:p>
        </p:txBody>
      </p:sp>
      <p:sp>
        <p:nvSpPr>
          <p:cNvPr id="14" name="p05-r1-2">
            <a:extLst xmlns:a="http://schemas.openxmlformats.org/drawingml/2006/main">
              <a:ext uri="{FF2B5EF4-FFF2-40B4-BE49-F238E27FC236}">
                <a16:creationId xmlns:a16="http://schemas.microsoft.com/office/drawing/2014/main" id="{906BB3AC-27EF-4886-9DED-982242E7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86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检索与纳入排除规则预先定义</a:t>
            </a:r>
          </a:p>
        </p:txBody>
      </p:sp>
      <p:sp>
        <p:nvSpPr>
          <p:cNvPr id="15" name="p05-r2-0">
            <a:extLst xmlns:a="http://schemas.openxmlformats.org/drawingml/2006/main">
              <a:ext uri="{FF2B5EF4-FFF2-40B4-BE49-F238E27FC236}">
                <a16:creationId xmlns:a16="http://schemas.microsoft.com/office/drawing/2014/main" id="{A342B7E3-9BC1-40D2-BF6B-4EAE20D0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289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综合</a:t>
            </a:r>
          </a:p>
        </p:txBody>
      </p:sp>
      <p:sp>
        <p:nvSpPr>
          <p:cNvPr id="16" name="p05-r2-1">
            <a:extLst xmlns:a="http://schemas.openxmlformats.org/drawingml/2006/main">
              <a:ext uri="{FF2B5EF4-FFF2-40B4-BE49-F238E27FC236}">
                <a16:creationId xmlns:a16="http://schemas.microsoft.com/office/drawing/2014/main" id="{148B051F-EBC7-4812-B753-C4DD95A0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289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按主题或机制组织</a:t>
            </a:r>
          </a:p>
        </p:txBody>
      </p:sp>
      <p:sp>
        <p:nvSpPr>
          <p:cNvPr id="17" name="p05-r2-2">
            <a:extLst xmlns:a="http://schemas.openxmlformats.org/drawingml/2006/main">
              <a:ext uri="{FF2B5EF4-FFF2-40B4-BE49-F238E27FC236}">
                <a16:creationId xmlns:a16="http://schemas.microsoft.com/office/drawing/2014/main" id="{8C0F5763-05C3-416E-B27E-1FCD8F23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按固定字段提取并合成</a:t>
            </a:r>
          </a:p>
        </p:txBody>
      </p:sp>
      <p:sp>
        <p:nvSpPr>
          <p:cNvPr id="18" name="p05-r3-0">
            <a:extLst xmlns:a="http://schemas.openxmlformats.org/drawingml/2006/main">
              <a:ext uri="{FF2B5EF4-FFF2-40B4-BE49-F238E27FC236}">
                <a16:creationId xmlns:a16="http://schemas.microsoft.com/office/drawing/2014/main" id="{24220FDD-3A7A-47A4-82DC-3EA5974F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7719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</a:t>
            </a:r>
          </a:p>
        </p:txBody>
      </p:sp>
      <p:sp>
        <p:nvSpPr>
          <p:cNvPr id="19" name="p05-r3-1">
            <a:extLst xmlns:a="http://schemas.openxmlformats.org/drawingml/2006/main">
              <a:ext uri="{FF2B5EF4-FFF2-40B4-BE49-F238E27FC236}">
                <a16:creationId xmlns:a16="http://schemas.microsoft.com/office/drawing/2014/main" id="{FB737E44-BFEA-4D19-83E8-D6EB2490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7719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选择性引用、忽视冲突</a:t>
            </a:r>
          </a:p>
        </p:txBody>
      </p:sp>
      <p:sp>
        <p:nvSpPr>
          <p:cNvPr id="20" name="p05-r3-2">
            <a:extLst xmlns:a="http://schemas.openxmlformats.org/drawingml/2006/main">
              <a:ext uri="{FF2B5EF4-FFF2-40B4-BE49-F238E27FC236}">
                <a16:creationId xmlns:a16="http://schemas.microsoft.com/office/drawing/2014/main" id="{BA3A439D-890B-4802-BB95-B406430F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719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机械套用、强合并不可比研究</a:t>
            </a:r>
          </a:p>
        </p:txBody>
      </p:sp>
      <p:sp>
        <p:nvSpPr>
          <p:cNvPr id="21" name="p05-bottom">
            <a:extLst xmlns:a="http://schemas.openxmlformats.org/drawingml/2006/main">
              <a:ext uri="{FF2B5EF4-FFF2-40B4-BE49-F238E27FC236}">
                <a16:creationId xmlns:a16="http://schemas.microsoft.com/office/drawing/2014/main" id="{29E8C04B-03DE-488E-B985-9D89DEE7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62500"/>
            <a:ext cx="9239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本课不要求完整系统综述，但要求过程可复盘、证据可定位。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相关工作矩阵：从按论文排列到按问题排列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rule">
            <a:extLst xmlns:a="http://schemas.openxmlformats.org/drawingml/2006/main">
              <a:ext uri="{FF2B5EF4-FFF2-40B4-BE49-F238E27FC236}">
                <a16:creationId xmlns:a16="http://schemas.microsoft.com/office/drawing/2014/main" id="{475A8EA5-A85C-4881-909E-FE3DAD8D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971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 = 已核验材料　｜　列 = 从研究问题拆出的子问题</a:t>
            </a:r>
          </a:p>
        </p:txBody>
      </p:sp>
      <p:sp>
        <p:nvSpPr>
          <p:cNvPr id="7" name="p06-h-0">
            <a:extLst xmlns:a="http://schemas.openxmlformats.org/drawingml/2006/main">
              <a:ext uri="{FF2B5EF4-FFF2-40B4-BE49-F238E27FC236}">
                <a16:creationId xmlns:a16="http://schemas.microsoft.com/office/drawing/2014/main" id="{34AA1E69-14F1-4E67-A316-61611CCC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8" name="p06-h-1">
            <a:extLst xmlns:a="http://schemas.openxmlformats.org/drawingml/2006/main">
              <a:ext uri="{FF2B5EF4-FFF2-40B4-BE49-F238E27FC236}">
                <a16:creationId xmlns:a16="http://schemas.microsoft.com/office/drawing/2014/main" id="{3E4073B6-FBDF-4A3E-83AF-C41877E7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定位原文</a:t>
            </a:r>
          </a:p>
        </p:txBody>
      </p:sp>
      <p:sp>
        <p:nvSpPr>
          <p:cNvPr id="9" name="p06-h-2">
            <a:extLst xmlns:a="http://schemas.openxmlformats.org/drawingml/2006/main">
              <a:ext uri="{FF2B5EF4-FFF2-40B4-BE49-F238E27FC236}">
                <a16:creationId xmlns:a16="http://schemas.microsoft.com/office/drawing/2014/main" id="{0A16CEA6-8B26-4F94-BD3A-D3EC8BAA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定义遗漏</a:t>
            </a:r>
          </a:p>
        </p:txBody>
      </p:sp>
      <p:sp>
        <p:nvSpPr>
          <p:cNvPr id="10" name="p06-h-3">
            <a:extLst xmlns:a="http://schemas.openxmlformats.org/drawingml/2006/main">
              <a:ext uri="{FF2B5EF4-FFF2-40B4-BE49-F238E27FC236}">
                <a16:creationId xmlns:a16="http://schemas.microsoft.com/office/drawing/2014/main" id="{CBE8BE88-2B4A-43AF-95C4-0CCDB2F1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设置对照</a:t>
            </a:r>
          </a:p>
        </p:txBody>
      </p:sp>
      <p:sp>
        <p:nvSpPr>
          <p:cNvPr id="11" name="p06-h-4">
            <a:extLst xmlns:a="http://schemas.openxmlformats.org/drawingml/2006/main">
              <a:ext uri="{FF2B5EF4-FFF2-40B4-BE49-F238E27FC236}">
                <a16:creationId xmlns:a16="http://schemas.microsoft.com/office/drawing/2014/main" id="{E22540FA-B699-4594-924C-7309745F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候选角色</a:t>
            </a:r>
          </a:p>
        </p:txBody>
      </p:sp>
      <p:sp>
        <p:nvSpPr>
          <p:cNvPr id="12" name="p06-r0-0">
            <a:extLst xmlns:a="http://schemas.openxmlformats.org/drawingml/2006/main">
              <a:ext uri="{FF2B5EF4-FFF2-40B4-BE49-F238E27FC236}">
                <a16:creationId xmlns:a16="http://schemas.microsoft.com/office/drawing/2014/main" id="{663A2BF8-67F6-401B-882A-A1B98381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3" name="p06-r0-1">
            <a:extLst xmlns:a="http://schemas.openxmlformats.org/drawingml/2006/main">
              <a:ext uri="{FF2B5EF4-FFF2-40B4-BE49-F238E27FC236}">
                <a16:creationId xmlns:a16="http://schemas.microsoft.com/office/drawing/2014/main" id="{FBD85F2C-A0C8-4BEF-8821-99DB080D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4" name="p06-r0-2">
            <a:extLst xmlns:a="http://schemas.openxmlformats.org/drawingml/2006/main">
              <a:ext uri="{FF2B5EF4-FFF2-40B4-BE49-F238E27FC236}">
                <a16:creationId xmlns:a16="http://schemas.microsoft.com/office/drawing/2014/main" id="{E22C41DD-26BC-471D-8207-EF51BE0D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5" name="p06-r0-3">
            <a:extLst xmlns:a="http://schemas.openxmlformats.org/drawingml/2006/main">
              <a:ext uri="{FF2B5EF4-FFF2-40B4-BE49-F238E27FC236}">
                <a16:creationId xmlns:a16="http://schemas.microsoft.com/office/drawing/2014/main" id="{3A2E9409-EFAB-4460-B84D-AD5E569D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6" name="p06-r0-4">
            <a:extLst xmlns:a="http://schemas.openxmlformats.org/drawingml/2006/main">
              <a:ext uri="{FF2B5EF4-FFF2-40B4-BE49-F238E27FC236}">
                <a16:creationId xmlns:a16="http://schemas.microsoft.com/office/drawing/2014/main" id="{3BB686D5-62B6-42D1-801F-7033C339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</a:t>
            </a:r>
          </a:p>
        </p:txBody>
      </p:sp>
      <p:sp>
        <p:nvSpPr>
          <p:cNvPr id="17" name="p06-r1-0">
            <a:extLst xmlns:a="http://schemas.openxmlformats.org/drawingml/2006/main">
              <a:ext uri="{FF2B5EF4-FFF2-40B4-BE49-F238E27FC236}">
                <a16:creationId xmlns:a16="http://schemas.microsoft.com/office/drawing/2014/main" id="{C3CDCE87-6A7D-4E7A-AF2F-CCAF82B9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8" name="p06-r1-1">
            <a:extLst xmlns:a="http://schemas.openxmlformats.org/drawingml/2006/main">
              <a:ext uri="{FF2B5EF4-FFF2-40B4-BE49-F238E27FC236}">
                <a16:creationId xmlns:a16="http://schemas.microsoft.com/office/drawing/2014/main" id="{D5919BFD-A871-4429-B0C6-F23029AB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9" name="p06-r1-2">
            <a:extLst xmlns:a="http://schemas.openxmlformats.org/drawingml/2006/main">
              <a:ext uri="{FF2B5EF4-FFF2-40B4-BE49-F238E27FC236}">
                <a16:creationId xmlns:a16="http://schemas.microsoft.com/office/drawing/2014/main" id="{21A06A40-E102-4792-BAE4-B810D97B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0" name="p06-r1-3">
            <a:extLst xmlns:a="http://schemas.openxmlformats.org/drawingml/2006/main">
              <a:ext uri="{FF2B5EF4-FFF2-40B4-BE49-F238E27FC236}">
                <a16:creationId xmlns:a16="http://schemas.microsoft.com/office/drawing/2014/main" id="{807DF296-42B3-4ED5-99CE-137F84E5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21" name="p06-r1-4">
            <a:extLst xmlns:a="http://schemas.openxmlformats.org/drawingml/2006/main">
              <a:ext uri="{FF2B5EF4-FFF2-40B4-BE49-F238E27FC236}">
                <a16:creationId xmlns:a16="http://schemas.microsoft.com/office/drawing/2014/main" id="{B982F0CF-3DF0-4676-A059-678ECD8B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</a:t>
            </a:r>
          </a:p>
        </p:txBody>
      </p:sp>
      <p:sp>
        <p:nvSpPr>
          <p:cNvPr id="22" name="p06-r2-0">
            <a:extLst xmlns:a="http://schemas.openxmlformats.org/drawingml/2006/main">
              <a:ext uri="{FF2B5EF4-FFF2-40B4-BE49-F238E27FC236}">
                <a16:creationId xmlns:a16="http://schemas.microsoft.com/office/drawing/2014/main" id="{A91AB6DF-3DBD-4AD5-8D07-7BEE6671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3" name="p06-r2-1">
            <a:extLst xmlns:a="http://schemas.openxmlformats.org/drawingml/2006/main">
              <a:ext uri="{FF2B5EF4-FFF2-40B4-BE49-F238E27FC236}">
                <a16:creationId xmlns:a16="http://schemas.microsoft.com/office/drawing/2014/main" id="{7505F3BA-BB8D-4118-AA53-C4E10CC5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24" name="p06-r2-2">
            <a:extLst xmlns:a="http://schemas.openxmlformats.org/drawingml/2006/main">
              <a:ext uri="{FF2B5EF4-FFF2-40B4-BE49-F238E27FC236}">
                <a16:creationId xmlns:a16="http://schemas.microsoft.com/office/drawing/2014/main" id="{48558FA0-2173-4991-A38D-1EDACB58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检索任务</a:t>
            </a:r>
          </a:p>
        </p:txBody>
      </p:sp>
      <p:sp>
        <p:nvSpPr>
          <p:cNvPr id="25" name="p06-r2-3">
            <a:extLst xmlns:a="http://schemas.openxmlformats.org/drawingml/2006/main">
              <a:ext uri="{FF2B5EF4-FFF2-40B4-BE49-F238E27FC236}">
                <a16:creationId xmlns:a16="http://schemas.microsoft.com/office/drawing/2014/main" id="{B6C7FD6E-ECAE-4F14-BFD9-5F0DD61E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</a:t>
            </a:r>
          </a:p>
        </p:txBody>
      </p:sp>
      <p:sp>
        <p:nvSpPr>
          <p:cNvPr id="26" name="p06-r2-4">
            <a:extLst xmlns:a="http://schemas.openxmlformats.org/drawingml/2006/main">
              <a:ext uri="{FF2B5EF4-FFF2-40B4-BE49-F238E27FC236}">
                <a16:creationId xmlns:a16="http://schemas.microsoft.com/office/drawing/2014/main" id="{ECC47C7F-4941-49BA-972F-89161211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</a:t>
            </a:r>
          </a:p>
        </p:txBody>
      </p:sp>
      <p:sp>
        <p:nvSpPr>
          <p:cNvPr id="27" name="p06-r3-0">
            <a:extLst xmlns:a="http://schemas.openxmlformats.org/drawingml/2006/main">
              <a:ext uri="{FF2B5EF4-FFF2-40B4-BE49-F238E27FC236}">
                <a16:creationId xmlns:a16="http://schemas.microsoft.com/office/drawing/2014/main" id="{B219DE38-B191-485F-A063-08FB552F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28" name="p06-r3-1">
            <a:extLst xmlns:a="http://schemas.openxmlformats.org/drawingml/2006/main">
              <a:ext uri="{FF2B5EF4-FFF2-40B4-BE49-F238E27FC236}">
                <a16:creationId xmlns:a16="http://schemas.microsoft.com/office/drawing/2014/main" id="{2F4E1725-EC7E-4FBB-B322-A11C2156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相反结论</a:t>
            </a:r>
          </a:p>
        </p:txBody>
      </p:sp>
      <p:sp>
        <p:nvSpPr>
          <p:cNvPr id="29" name="p06-r3-2">
            <a:extLst xmlns:a="http://schemas.openxmlformats.org/drawingml/2006/main">
              <a:ext uri="{FF2B5EF4-FFF2-40B4-BE49-F238E27FC236}">
                <a16:creationId xmlns:a16="http://schemas.microsoft.com/office/drawing/2014/main" id="{9CB7DFDC-D9BB-4603-A8EC-57BED4C8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0" name="p06-r3-3">
            <a:extLst xmlns:a="http://schemas.openxmlformats.org/drawingml/2006/main">
              <a:ext uri="{FF2B5EF4-FFF2-40B4-BE49-F238E27FC236}">
                <a16:creationId xmlns:a16="http://schemas.microsoft.com/office/drawing/2014/main" id="{63A9C9DD-0E36-445A-A193-4080A93C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1" name="p06-r3-4">
            <a:extLst xmlns:a="http://schemas.openxmlformats.org/drawingml/2006/main">
              <a:ext uri="{FF2B5EF4-FFF2-40B4-BE49-F238E27FC236}">
                <a16:creationId xmlns:a16="http://schemas.microsoft.com/office/drawing/2014/main" id="{6CBC8FF5-E3E3-4D67-9FE2-FD4A5032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290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32" name="p06-r4-0">
            <a:extLst xmlns:a="http://schemas.openxmlformats.org/drawingml/2006/main">
              <a:ext uri="{FF2B5EF4-FFF2-40B4-BE49-F238E27FC236}">
                <a16:creationId xmlns:a16="http://schemas.microsoft.com/office/drawing/2014/main" id="{F805E2FE-9244-442B-B789-9564F012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</a:t>
            </a:r>
          </a:p>
        </p:txBody>
      </p:sp>
      <p:sp>
        <p:nvSpPr>
          <p:cNvPr id="33" name="p06-r4-1">
            <a:extLst xmlns:a="http://schemas.openxmlformats.org/drawingml/2006/main">
              <a:ext uri="{FF2B5EF4-FFF2-40B4-BE49-F238E27FC236}">
                <a16:creationId xmlns:a16="http://schemas.microsoft.com/office/drawing/2014/main" id="{86052562-6DF2-40A0-B192-A1246DDC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4" name="p06-r4-2">
            <a:extLst xmlns:a="http://schemas.openxmlformats.org/drawingml/2006/main">
              <a:ext uri="{FF2B5EF4-FFF2-40B4-BE49-F238E27FC236}">
                <a16:creationId xmlns:a16="http://schemas.microsoft.com/office/drawing/2014/main" id="{D8FF92E8-03ED-4642-8C13-FBA91A8F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5" name="p06-r4-3">
            <a:extLst xmlns:a="http://schemas.openxmlformats.org/drawingml/2006/main">
              <a:ext uri="{FF2B5EF4-FFF2-40B4-BE49-F238E27FC236}">
                <a16:creationId xmlns:a16="http://schemas.microsoft.com/office/drawing/2014/main" id="{805BCAE8-D9FB-4340-9A8B-2B2B6782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6" name="p06-r4-4">
            <a:extLst xmlns:a="http://schemas.openxmlformats.org/drawingml/2006/main">
              <a:ext uri="{FF2B5EF4-FFF2-40B4-BE49-F238E27FC236}">
                <a16:creationId xmlns:a16="http://schemas.microsoft.com/office/drawing/2014/main" id="{04465340-3A4A-495E-B40A-F7803A25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00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空白候选</a:t>
            </a:r>
          </a:p>
        </p:txBody>
      </p:sp>
      <p:sp>
        <p:nvSpPr>
          <p:cNvPr id="37" name="p06-bottom">
            <a:extLst xmlns:a="http://schemas.openxmlformats.org/drawingml/2006/main">
              <a:ext uri="{FF2B5EF4-FFF2-40B4-BE49-F238E27FC236}">
                <a16:creationId xmlns:a16="http://schemas.microsoft.com/office/drawing/2014/main" id="{44453634-F208-41C0-8D27-A6C09C42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673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空格只说明“当前地图未回答”，不自动证明领域没人做过。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证据地图：从文献角色到问题门四视图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left-h">
            <a:extLst xmlns:a="http://schemas.openxmlformats.org/drawingml/2006/main">
              <a:ext uri="{FF2B5EF4-FFF2-40B4-BE49-F238E27FC236}">
                <a16:creationId xmlns:a16="http://schemas.microsoft.com/office/drawing/2014/main" id="{A456B1F7-39C5-4437-BD84-A023F04A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1550"/>
            <a:ext cx="419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3 课：候选文献角色</a:t>
            </a:r>
          </a:p>
        </p:txBody>
      </p:sp>
      <p:sp>
        <p:nvSpPr>
          <p:cNvPr id="7" name="p07-l0">
            <a:extLst xmlns:a="http://schemas.openxmlformats.org/drawingml/2006/main">
              <a:ext uri="{FF2B5EF4-FFF2-40B4-BE49-F238E27FC236}">
                <a16:creationId xmlns:a16="http://schemas.microsoft.com/office/drawing/2014/main" id="{6758C054-1E8C-4226-BEA1-88C7E253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</a:t>
            </a:r>
          </a:p>
        </p:txBody>
      </p:sp>
      <p:sp>
        <p:nvSpPr>
          <p:cNvPr id="8" name="p07-l1">
            <a:extLst xmlns:a="http://schemas.openxmlformats.org/drawingml/2006/main">
              <a:ext uri="{FF2B5EF4-FFF2-40B4-BE49-F238E27FC236}">
                <a16:creationId xmlns:a16="http://schemas.microsoft.com/office/drawing/2014/main" id="{13949D7B-272A-418C-9CEA-64225D81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9" name="p07-l2">
            <a:extLst xmlns:a="http://schemas.openxmlformats.org/drawingml/2006/main">
              <a:ext uri="{FF2B5EF4-FFF2-40B4-BE49-F238E27FC236}">
                <a16:creationId xmlns:a16="http://schemas.microsoft.com/office/drawing/2014/main" id="{8C60431A-E3C4-439F-88FD-55FB4104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对比证据</a:t>
            </a:r>
          </a:p>
        </p:txBody>
      </p:sp>
      <p:sp>
        <p:nvSpPr>
          <p:cNvPr id="10" name="p07-l3">
            <a:extLst xmlns:a="http://schemas.openxmlformats.org/drawingml/2006/main">
              <a:ext uri="{FF2B5EF4-FFF2-40B4-BE49-F238E27FC236}">
                <a16:creationId xmlns:a16="http://schemas.microsoft.com/office/drawing/2014/main" id="{B7E1DCDA-15C6-43A1-955C-FE0DB45F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684"/>
                </a:solidFill>
              </a:defRPr>
            </a:pPr>
            <a:r>
              <a:rPr sz="15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探索线索</a:t>
            </a:r>
          </a:p>
        </p:txBody>
      </p:sp>
      <p:sp>
        <p:nvSpPr>
          <p:cNvPr id="11" name="p07-a1">
            <a:extLst xmlns:a="http://schemas.openxmlformats.org/drawingml/2006/main">
              <a:ext uri="{FF2B5EF4-FFF2-40B4-BE49-F238E27FC236}">
                <a16:creationId xmlns:a16="http://schemas.microsoft.com/office/drawing/2014/main" id="{CF8133EB-55DE-4C3B-81DA-D6A9696B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a2">
            <a:extLst xmlns:a="http://schemas.openxmlformats.org/drawingml/2006/main">
              <a:ext uri="{FF2B5EF4-FFF2-40B4-BE49-F238E27FC236}">
                <a16:creationId xmlns:a16="http://schemas.microsoft.com/office/drawing/2014/main" id="{16E8BD11-61C6-4287-A15E-59DF3100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19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7-a3">
            <a:extLst xmlns:a="http://schemas.openxmlformats.org/drawingml/2006/main">
              <a:ext uri="{FF2B5EF4-FFF2-40B4-BE49-F238E27FC236}">
                <a16:creationId xmlns:a16="http://schemas.microsoft.com/office/drawing/2014/main" id="{228AB1FF-734B-41D3-ADE4-8FDE5CB8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385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07-a4">
            <a:extLst xmlns:a="http://schemas.openxmlformats.org/drawingml/2006/main">
              <a:ext uri="{FF2B5EF4-FFF2-40B4-BE49-F238E27FC236}">
                <a16:creationId xmlns:a16="http://schemas.microsoft.com/office/drawing/2014/main" id="{47FAACDD-A49C-4404-810F-C7B03F50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781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不进入</a:t>
            </a:r>
          </a:p>
        </p:txBody>
      </p:sp>
      <p:sp>
        <p:nvSpPr>
          <p:cNvPr id="15" name="p07-right-h">
            <a:extLst xmlns:a="http://schemas.openxmlformats.org/drawingml/2006/main">
              <a:ext uri="{FF2B5EF4-FFF2-40B4-BE49-F238E27FC236}">
                <a16:creationId xmlns:a16="http://schemas.microsoft.com/office/drawing/2014/main" id="{C538D47C-43B2-4944-8DEA-E8AACD23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71550"/>
            <a:ext cx="542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问题门：证据地图四视图</a:t>
            </a:r>
          </a:p>
        </p:txBody>
      </p:sp>
      <p:sp>
        <p:nvSpPr>
          <p:cNvPr id="16" name="p07-rh0">
            <a:extLst xmlns:a="http://schemas.openxmlformats.org/drawingml/2006/main">
              <a:ext uri="{FF2B5EF4-FFF2-40B4-BE49-F238E27FC236}">
                <a16:creationId xmlns:a16="http://schemas.microsoft.com/office/drawing/2014/main" id="{5F7DECB4-3F94-4F2A-8F3A-344E651C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7" name="p07-rd0">
            <a:extLst xmlns:a="http://schemas.openxmlformats.org/drawingml/2006/main">
              <a:ext uri="{FF2B5EF4-FFF2-40B4-BE49-F238E27FC236}">
                <a16:creationId xmlns:a16="http://schemas.microsoft.com/office/drawing/2014/main" id="{476602BA-65D6-48DF-85D6-ADFC0C0E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811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主证据且直接回答当前子问题</a:t>
            </a:r>
          </a:p>
        </p:txBody>
      </p:sp>
      <p:sp>
        <p:nvSpPr>
          <p:cNvPr id="18" name="p07-rh1">
            <a:extLst xmlns:a="http://schemas.openxmlformats.org/drawingml/2006/main">
              <a:ext uri="{FF2B5EF4-FFF2-40B4-BE49-F238E27FC236}">
                <a16:creationId xmlns:a16="http://schemas.microsoft.com/office/drawing/2014/main" id="{74512117-48D5-4E90-97FB-B66B5DC0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574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19" name="p07-rd1">
            <a:extLst xmlns:a="http://schemas.openxmlformats.org/drawingml/2006/main">
              <a:ext uri="{FF2B5EF4-FFF2-40B4-BE49-F238E27FC236}">
                <a16:creationId xmlns:a16="http://schemas.microsoft.com/office/drawing/2014/main" id="{7A49AAAB-B893-4E21-AE1A-419C94A3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574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提供不同来源、测量或路径</a:t>
            </a:r>
          </a:p>
        </p:txBody>
      </p:sp>
      <p:sp>
        <p:nvSpPr>
          <p:cNvPr id="20" name="p07-rh2">
            <a:extLst xmlns:a="http://schemas.openxmlformats.org/drawingml/2006/main">
              <a:ext uri="{FF2B5EF4-FFF2-40B4-BE49-F238E27FC236}">
                <a16:creationId xmlns:a16="http://schemas.microsoft.com/office/drawing/2014/main" id="{AEC99D2A-1B10-4587-9847-41AC87AC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337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1" name="p07-rd2">
            <a:extLst xmlns:a="http://schemas.openxmlformats.org/drawingml/2006/main">
              <a:ext uri="{FF2B5EF4-FFF2-40B4-BE49-F238E27FC236}">
                <a16:creationId xmlns:a16="http://schemas.microsoft.com/office/drawing/2014/main" id="{DC4CA713-AEFC-4297-A3D9-89B5B31A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条件可比且结论相反</a:t>
            </a:r>
          </a:p>
        </p:txBody>
      </p:sp>
      <p:sp>
        <p:nvSpPr>
          <p:cNvPr id="22" name="p07-rh3">
            <a:extLst xmlns:a="http://schemas.openxmlformats.org/drawingml/2006/main">
              <a:ext uri="{FF2B5EF4-FFF2-40B4-BE49-F238E27FC236}">
                <a16:creationId xmlns:a16="http://schemas.microsoft.com/office/drawing/2014/main" id="{71EF66AA-56B7-43C5-B3A9-FDE7C028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100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3" name="p07-rd3">
            <a:extLst xmlns:a="http://schemas.openxmlformats.org/drawingml/2006/main">
              <a:ext uri="{FF2B5EF4-FFF2-40B4-BE49-F238E27FC236}">
                <a16:creationId xmlns:a16="http://schemas.microsoft.com/office/drawing/2014/main" id="{12728427-FCB5-40A2-A444-7C8FACB3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100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当前地图没有直接回答材料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AE35E952-AC19-4D15-949C-A73087CB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95875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对比证据不自动等于冲突；探索线索不进入主格。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研究空白三类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n0">
            <a:extLst xmlns:a="http://schemas.openxmlformats.org/drawingml/2006/main">
              <a:ext uri="{FF2B5EF4-FFF2-40B4-BE49-F238E27FC236}">
                <a16:creationId xmlns:a16="http://schemas.microsoft.com/office/drawing/2014/main" id="{B8AFBD3C-5309-408F-8CFF-B28144F8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90625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08-h0">
            <a:extLst xmlns:a="http://schemas.openxmlformats.org/drawingml/2006/main">
              <a:ext uri="{FF2B5EF4-FFF2-40B4-BE49-F238E27FC236}">
                <a16:creationId xmlns:a16="http://schemas.microsoft.com/office/drawing/2014/main" id="{468CB444-9754-44CD-BAEA-EDC5D35F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95375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冲突空白</a:t>
            </a:r>
          </a:p>
        </p:txBody>
      </p:sp>
      <p:sp>
        <p:nvSpPr>
          <p:cNvPr id="8" name="p08-d0">
            <a:extLst xmlns:a="http://schemas.openxmlformats.org/drawingml/2006/main">
              <a:ext uri="{FF2B5EF4-FFF2-40B4-BE49-F238E27FC236}">
                <a16:creationId xmlns:a16="http://schemas.microsoft.com/office/drawing/2014/main" id="{80B7E381-4F0B-4F91-AB10-A8F4B656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095375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可比条件下结论相反，差异未解释</a:t>
            </a:r>
          </a:p>
        </p:txBody>
      </p:sp>
      <p:sp>
        <p:nvSpPr>
          <p:cNvPr id="9" name="p08-c0">
            <a:extLst xmlns:a="http://schemas.openxmlformats.org/drawingml/2006/main">
              <a:ext uri="{FF2B5EF4-FFF2-40B4-BE49-F238E27FC236}">
                <a16:creationId xmlns:a16="http://schemas.microsoft.com/office/drawing/2014/main" id="{F5857E96-4A9F-4C5E-8ED9-44C00794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095375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先核对任务、指标、样本</a:t>
            </a:r>
          </a:p>
        </p:txBody>
      </p:sp>
      <p:sp>
        <p:nvSpPr>
          <p:cNvPr id="10" name="p08-n1">
            <a:extLst xmlns:a="http://schemas.openxmlformats.org/drawingml/2006/main">
              <a:ext uri="{FF2B5EF4-FFF2-40B4-BE49-F238E27FC236}">
                <a16:creationId xmlns:a16="http://schemas.microsoft.com/office/drawing/2014/main" id="{F4BCCE8E-AE75-4063-B8D6-B528770D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95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08-h1">
            <a:extLst xmlns:a="http://schemas.openxmlformats.org/drawingml/2006/main">
              <a:ext uri="{FF2B5EF4-FFF2-40B4-BE49-F238E27FC236}">
                <a16:creationId xmlns:a16="http://schemas.microsoft.com/office/drawing/2014/main" id="{ED094C89-82CC-4C1F-A177-620AAA10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0300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缺角空白</a:t>
            </a:r>
          </a:p>
        </p:txBody>
      </p:sp>
      <p:sp>
        <p:nvSpPr>
          <p:cNvPr id="12" name="p08-d1">
            <a:extLst xmlns:a="http://schemas.openxmlformats.org/drawingml/2006/main">
              <a:ext uri="{FF2B5EF4-FFF2-40B4-BE49-F238E27FC236}">
                <a16:creationId xmlns:a16="http://schemas.microsoft.com/office/drawing/2014/main" id="{8E1728F8-D6A9-4909-9AB6-9AFA0B9E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00300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某子问题整列空白，邻近条件已有材料</a:t>
            </a:r>
          </a:p>
        </p:txBody>
      </p:sp>
      <p:sp>
        <p:nvSpPr>
          <p:cNvPr id="13" name="p08-c1">
            <a:extLst xmlns:a="http://schemas.openxmlformats.org/drawingml/2006/main">
              <a:ext uri="{FF2B5EF4-FFF2-40B4-BE49-F238E27FC236}">
                <a16:creationId xmlns:a16="http://schemas.microsoft.com/office/drawing/2014/main" id="{DD97BFDD-0CDC-4431-9D2D-CCAC6662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00300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先做窄检索</a:t>
            </a:r>
          </a:p>
        </p:txBody>
      </p:sp>
      <p:sp>
        <p:nvSpPr>
          <p:cNvPr id="14" name="p08-n2">
            <a:extLst xmlns:a="http://schemas.openxmlformats.org/drawingml/2006/main">
              <a:ext uri="{FF2B5EF4-FFF2-40B4-BE49-F238E27FC236}">
                <a16:creationId xmlns:a16="http://schemas.microsoft.com/office/drawing/2014/main" id="{AC6D71FC-D775-4EDF-867B-BE35CCFD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08-h2">
            <a:extLst xmlns:a="http://schemas.openxmlformats.org/drawingml/2006/main">
              <a:ext uri="{FF2B5EF4-FFF2-40B4-BE49-F238E27FC236}">
                <a16:creationId xmlns:a16="http://schemas.microsoft.com/office/drawing/2014/main" id="{032EDA4C-5F1B-4F2F-A4D6-C020CB64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05225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新问题空白</a:t>
            </a:r>
          </a:p>
        </p:txBody>
      </p:sp>
      <p:sp>
        <p:nvSpPr>
          <p:cNvPr id="16" name="p08-d2">
            <a:extLst xmlns:a="http://schemas.openxmlformats.org/drawingml/2006/main">
              <a:ext uri="{FF2B5EF4-FFF2-40B4-BE49-F238E27FC236}">
                <a16:creationId xmlns:a16="http://schemas.microsoft.com/office/drawing/2014/main" id="{2FEEF5E7-AE45-4143-ABCC-7ECBC0E6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05225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新场景、条件或机制衍生的问题</a:t>
            </a:r>
          </a:p>
        </p:txBody>
      </p:sp>
      <p:sp>
        <p:nvSpPr>
          <p:cNvPr id="17" name="p08-c2">
            <a:extLst xmlns:a="http://schemas.openxmlformats.org/drawingml/2006/main">
              <a:ext uri="{FF2B5EF4-FFF2-40B4-BE49-F238E27FC236}">
                <a16:creationId xmlns:a16="http://schemas.microsoft.com/office/drawing/2014/main" id="{B4BDEBC9-2ABB-4F96-B070-E6D9C8DD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05225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仍需可证伪</a:t>
            </a:r>
          </a:p>
        </p:txBody>
      </p:sp>
      <p:sp>
        <p:nvSpPr>
          <p:cNvPr id="18" name="p08-bottom">
            <a:extLst xmlns:a="http://schemas.openxmlformats.org/drawingml/2006/main">
              <a:ext uri="{FF2B5EF4-FFF2-40B4-BE49-F238E27FC236}">
                <a16:creationId xmlns:a16="http://schemas.microsoft.com/office/drawing/2014/main" id="{759D8C52-37BA-4C5F-AF7E-1289FFBD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“还没有论文写过”不是空白证明，只是待核验的候选表述。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问题生成路径与候选题池：不要停在文献空白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lead">
            <a:extLst xmlns:a="http://schemas.openxmlformats.org/drawingml/2006/main">
              <a:ext uri="{FF2B5EF4-FFF2-40B4-BE49-F238E27FC236}">
                <a16:creationId xmlns:a16="http://schemas.microsoft.com/office/drawing/2014/main" id="{37D5B81D-0811-4B84-A5BF-A95EE77F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876300"/>
            <a:ext cx="1019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三类空白都是文献路径的产物；问题还可以来自文献之外。</a:t>
            </a:r>
          </a:p>
        </p:txBody>
      </p:sp>
      <p:sp>
        <p:nvSpPr>
          <p:cNvPr id="7" name="p09-paths-h-0">
            <a:extLst xmlns:a="http://schemas.openxmlformats.org/drawingml/2006/main">
              <a:ext uri="{FF2B5EF4-FFF2-40B4-BE49-F238E27FC236}">
                <a16:creationId xmlns:a16="http://schemas.microsoft.com/office/drawing/2014/main" id="{64B31E10-EFEA-404E-B65D-124F9765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生成路径</a:t>
            </a:r>
          </a:p>
        </p:txBody>
      </p:sp>
      <p:sp>
        <p:nvSpPr>
          <p:cNvPr id="8" name="p09-paths-h-1">
            <a:extLst xmlns:a="http://schemas.openxmlformats.org/drawingml/2006/main">
              <a:ext uri="{FF2B5EF4-FFF2-40B4-BE49-F238E27FC236}">
                <a16:creationId xmlns:a16="http://schemas.microsoft.com/office/drawing/2014/main" id="{96228298-B08A-4936-BBF6-E21C3052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42875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典型形态</a:t>
            </a:r>
          </a:p>
        </p:txBody>
      </p:sp>
      <p:sp>
        <p:nvSpPr>
          <p:cNvPr id="9" name="p09-paths-h-2">
            <a:extLst xmlns:a="http://schemas.openxmlformats.org/drawingml/2006/main">
              <a:ext uri="{FF2B5EF4-FFF2-40B4-BE49-F238E27FC236}">
                <a16:creationId xmlns:a16="http://schemas.microsoft.com/office/drawing/2014/main" id="{0154BAD3-5FDB-4AAC-AA83-947D5A89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4287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检索的角色</a:t>
            </a:r>
          </a:p>
        </p:txBody>
      </p:sp>
      <p:sp>
        <p:nvSpPr>
          <p:cNvPr id="10" name="p09-paths-r0-0">
            <a:extLst xmlns:a="http://schemas.openxmlformats.org/drawingml/2006/main">
              <a:ext uri="{FF2B5EF4-FFF2-40B4-BE49-F238E27FC236}">
                <a16:creationId xmlns:a16="http://schemas.microsoft.com/office/drawing/2014/main" id="{CFA62DC8-9629-4B04-856D-48A1BCF9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288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文献冲突 / 缺口</a:t>
            </a:r>
          </a:p>
        </p:txBody>
      </p:sp>
      <p:sp>
        <p:nvSpPr>
          <p:cNvPr id="11" name="p09-paths-r0-1">
            <a:extLst xmlns:a="http://schemas.openxmlformats.org/drawingml/2006/main">
              <a:ext uri="{FF2B5EF4-FFF2-40B4-BE49-F238E27FC236}">
                <a16:creationId xmlns:a16="http://schemas.microsoft.com/office/drawing/2014/main" id="{660D4FC2-986C-4FA7-8A83-5852C683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82880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证据矛盾或无回答（上页三类空白）</a:t>
            </a:r>
          </a:p>
        </p:txBody>
      </p:sp>
      <p:sp>
        <p:nvSpPr>
          <p:cNvPr id="12" name="p09-paths-r0-2">
            <a:extLst xmlns:a="http://schemas.openxmlformats.org/drawingml/2006/main">
              <a:ext uri="{FF2B5EF4-FFF2-40B4-BE49-F238E27FC236}">
                <a16:creationId xmlns:a16="http://schemas.microsoft.com/office/drawing/2014/main" id="{557D36D1-A218-48BC-B7E1-6AD0ED84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288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确认空白真实</a:t>
            </a:r>
          </a:p>
        </p:txBody>
      </p:sp>
      <p:sp>
        <p:nvSpPr>
          <p:cNvPr id="13" name="p09-paths-r1-0">
            <a:extLst xmlns:a="http://schemas.openxmlformats.org/drawingml/2006/main">
              <a:ext uri="{FF2B5EF4-FFF2-40B4-BE49-F238E27FC236}">
                <a16:creationId xmlns:a16="http://schemas.microsoft.com/office/drawing/2014/main" id="{3263B194-2D64-4FA9-AF1C-646640B3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669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异常观察</a:t>
            </a:r>
          </a:p>
        </p:txBody>
      </p:sp>
      <p:sp>
        <p:nvSpPr>
          <p:cNvPr id="14" name="p09-paths-r1-1">
            <a:extLst xmlns:a="http://schemas.openxmlformats.org/drawingml/2006/main">
              <a:ext uri="{FF2B5EF4-FFF2-40B4-BE49-F238E27FC236}">
                <a16:creationId xmlns:a16="http://schemas.microsoft.com/office/drawing/2014/main" id="{CCF25C92-99E5-4B6B-A270-BAF29DC5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观察与预期不符，现有解释覆盖不了</a:t>
            </a:r>
          </a:p>
        </p:txBody>
      </p:sp>
      <p:sp>
        <p:nvSpPr>
          <p:cNvPr id="15" name="p09-paths-r1-2">
            <a:extLst xmlns:a="http://schemas.openxmlformats.org/drawingml/2006/main">
              <a:ext uri="{FF2B5EF4-FFF2-40B4-BE49-F238E27FC236}">
                <a16:creationId xmlns:a16="http://schemas.microsoft.com/office/drawing/2014/main" id="{434E73A7-D935-46C5-A4AE-C6A4B85F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669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检验是否已被解释</a:t>
            </a:r>
          </a:p>
        </p:txBody>
      </p:sp>
      <p:sp>
        <p:nvSpPr>
          <p:cNvPr id="16" name="p09-paths-r2-0">
            <a:extLst xmlns:a="http://schemas.openxmlformats.org/drawingml/2006/main">
              <a:ext uri="{FF2B5EF4-FFF2-40B4-BE49-F238E27FC236}">
                <a16:creationId xmlns:a16="http://schemas.microsoft.com/office/drawing/2014/main" id="{8599C13B-47EA-4F8E-91CF-B3B14B3C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实践痛点</a:t>
            </a:r>
          </a:p>
        </p:txBody>
      </p:sp>
      <p:sp>
        <p:nvSpPr>
          <p:cNvPr id="17" name="p09-paths-r2-1">
            <a:extLst xmlns:a="http://schemas.openxmlformats.org/drawingml/2006/main">
              <a:ext uri="{FF2B5EF4-FFF2-40B4-BE49-F238E27FC236}">
                <a16:creationId xmlns:a16="http://schemas.microsoft.com/office/drawing/2014/main" id="{3C300412-94C3-4F8D-AED7-62984EDE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自己科研或工程的一手问题</a:t>
            </a:r>
          </a:p>
        </p:txBody>
      </p:sp>
      <p:sp>
        <p:nvSpPr>
          <p:cNvPr id="18" name="p09-paths-r2-2">
            <a:extLst xmlns:a="http://schemas.openxmlformats.org/drawingml/2006/main">
              <a:ext uri="{FF2B5EF4-FFF2-40B4-BE49-F238E27FC236}">
                <a16:creationId xmlns:a16="http://schemas.microsoft.com/office/drawing/2014/main" id="{2972C1A7-7A8F-4662-B875-4D0F58C8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051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检验是否已有解法</a:t>
            </a:r>
          </a:p>
        </p:txBody>
      </p:sp>
      <p:sp>
        <p:nvSpPr>
          <p:cNvPr id="19" name="p09-paths-r3-0">
            <a:extLst xmlns:a="http://schemas.openxmlformats.org/drawingml/2006/main">
              <a:ext uri="{FF2B5EF4-FFF2-40B4-BE49-F238E27FC236}">
                <a16:creationId xmlns:a16="http://schemas.microsoft.com/office/drawing/2014/main" id="{4E12A870-4DCD-412C-9EEA-076D7E8E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432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新条件失效</a:t>
            </a:r>
          </a:p>
        </p:txBody>
      </p:sp>
      <p:sp>
        <p:nvSpPr>
          <p:cNvPr id="20" name="p09-paths-r3-1">
            <a:extLst xmlns:a="http://schemas.openxmlformats.org/drawingml/2006/main">
              <a:ext uri="{FF2B5EF4-FFF2-40B4-BE49-F238E27FC236}">
                <a16:creationId xmlns:a16="http://schemas.microsoft.com/office/drawing/2014/main" id="{6BD8728D-2861-4FCA-8AC1-52AC3F6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4325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新能力 / 数据使旧假设失效</a:t>
            </a:r>
          </a:p>
        </p:txBody>
      </p:sp>
      <p:sp>
        <p:nvSpPr>
          <p:cNvPr id="21" name="p09-paths-r3-2">
            <a:extLst xmlns:a="http://schemas.openxmlformats.org/drawingml/2006/main">
              <a:ext uri="{FF2B5EF4-FFF2-40B4-BE49-F238E27FC236}">
                <a16:creationId xmlns:a16="http://schemas.microsoft.com/office/drawing/2014/main" id="{C9A89BA2-53C7-4A9D-A5E3-19C42E65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1432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检验旧结论的假设</a:t>
            </a:r>
          </a:p>
        </p:txBody>
      </p:sp>
      <p:sp>
        <p:nvSpPr>
          <p:cNvPr id="22" name="p09-paths-r4-0">
            <a:extLst xmlns:a="http://schemas.openxmlformats.org/drawingml/2006/main">
              <a:ext uri="{FF2B5EF4-FFF2-40B4-BE49-F238E27FC236}">
                <a16:creationId xmlns:a16="http://schemas.microsoft.com/office/drawing/2014/main" id="{12EBCFF4-2B02-44DC-81BC-859FDFC4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第一性原理反推</a:t>
            </a:r>
          </a:p>
        </p:txBody>
      </p:sp>
      <p:sp>
        <p:nvSpPr>
          <p:cNvPr id="23" name="p09-paths-r4-1">
            <a:extLst xmlns:a="http://schemas.openxmlformats.org/drawingml/2006/main">
              <a:ext uri="{FF2B5EF4-FFF2-40B4-BE49-F238E27FC236}">
                <a16:creationId xmlns:a16="http://schemas.microsoft.com/office/drawing/2014/main" id="{023B6ED6-2AF2-43AE-9B76-7E948C98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58140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必要条件与现状对照</a:t>
            </a:r>
          </a:p>
        </p:txBody>
      </p:sp>
      <p:sp>
        <p:nvSpPr>
          <p:cNvPr id="24" name="p09-paths-r4-2">
            <a:extLst xmlns:a="http://schemas.openxmlformats.org/drawingml/2006/main">
              <a:ext uri="{FF2B5EF4-FFF2-40B4-BE49-F238E27FC236}">
                <a16:creationId xmlns:a16="http://schemas.microsoft.com/office/drawing/2014/main" id="{58B0903F-8019-493C-A09D-197507E3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814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检验推导前提</a:t>
            </a:r>
          </a:p>
        </p:txBody>
      </p:sp>
      <p:sp>
        <p:nvSpPr>
          <p:cNvPr id="25" name="p09-paths-r5-0">
            <a:extLst xmlns:a="http://schemas.openxmlformats.org/drawingml/2006/main">
              <a:ext uri="{FF2B5EF4-FFF2-40B4-BE49-F238E27FC236}">
                <a16:creationId xmlns:a16="http://schemas.microsoft.com/office/drawing/2014/main" id="{3542DD55-37BE-4D62-8E7B-E0942B32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195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重构 / 迁移</a:t>
            </a:r>
          </a:p>
        </p:txBody>
      </p:sp>
      <p:sp>
        <p:nvSpPr>
          <p:cNvPr id="26" name="p09-paths-r5-1">
            <a:extLst xmlns:a="http://schemas.openxmlformats.org/drawingml/2006/main">
              <a:ext uri="{FF2B5EF4-FFF2-40B4-BE49-F238E27FC236}">
                <a16:creationId xmlns:a16="http://schemas.microsoft.com/office/drawing/2014/main" id="{CD864E0B-A981-4BCA-BA07-C9C2EF40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955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换问法、换视角、移植机制</a:t>
            </a:r>
          </a:p>
        </p:txBody>
      </p:sp>
      <p:sp>
        <p:nvSpPr>
          <p:cNvPr id="27" name="p09-paths-r5-2">
            <a:extLst xmlns:a="http://schemas.openxmlformats.org/drawingml/2006/main">
              <a:ext uri="{FF2B5EF4-FFF2-40B4-BE49-F238E27FC236}">
                <a16:creationId xmlns:a16="http://schemas.microsoft.com/office/drawing/2014/main" id="{8DAC53F6-0CC2-4D3C-9C26-2772EA49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0195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检验新提法是否真新</a:t>
            </a:r>
          </a:p>
        </p:txBody>
      </p:sp>
      <p:sp>
        <p:nvSpPr>
          <p:cNvPr id="28" name="p09-pool">
            <a:extLst xmlns:a="http://schemas.openxmlformats.org/drawingml/2006/main">
              <a:ext uri="{FF2B5EF4-FFF2-40B4-BE49-F238E27FC236}">
                <a16:creationId xmlns:a16="http://schemas.microsoft.com/office/drawing/2014/main" id="{B4BC609C-A779-4953-9E6A-E87C62DD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10858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候选题池（第 6 课前补齐）：≥3 候选题｜覆盖 ≥2 条路径｜≥1 个非文献空白路径；当堂先记 1 个候选题的表述与路径标签</a:t>
            </a:r>
          </a:p>
        </p:txBody>
      </p:sp>
      <p:sp>
        <p:nvSpPr>
          <p:cNvPr id="29" name="p09-bottom">
            <a:extLst xmlns:a="http://schemas.openxmlformats.org/drawingml/2006/main">
              <a:ext uri="{FF2B5EF4-FFF2-40B4-BE49-F238E27FC236}">
                <a16:creationId xmlns:a16="http://schemas.microsoft.com/office/drawing/2014/main" id="{F99F24A6-9389-4D41-8C07-C0695A0B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检索用来检验问题，不是生成问题。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三步检验：从证据空白到可检验问题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n0">
            <a:extLst xmlns:a="http://schemas.openxmlformats.org/drawingml/2006/main">
              <a:ext uri="{FF2B5EF4-FFF2-40B4-BE49-F238E27FC236}">
                <a16:creationId xmlns:a16="http://schemas.microsoft.com/office/drawing/2014/main" id="{B40484B1-99AB-44D8-8CF7-11DC4000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0-h0">
            <a:extLst xmlns:a="http://schemas.openxmlformats.org/drawingml/2006/main">
              <a:ext uri="{FF2B5EF4-FFF2-40B4-BE49-F238E27FC236}">
                <a16:creationId xmlns:a16="http://schemas.microsoft.com/office/drawing/2014/main" id="{EBBF45A3-8813-4CC1-AF31-36F01B76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F638A"/>
                </a:solidFill>
              </a:defRPr>
            </a:pPr>
            <a:r>
              <a:rPr sz="19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真实性</a:t>
            </a:r>
          </a:p>
        </p:txBody>
      </p:sp>
      <p:sp>
        <p:nvSpPr>
          <p:cNvPr id="8" name="p10-d0">
            <a:extLst xmlns:a="http://schemas.openxmlformats.org/drawingml/2006/main">
              <a:ext uri="{FF2B5EF4-FFF2-40B4-BE49-F238E27FC236}">
                <a16:creationId xmlns:a16="http://schemas.microsoft.com/office/drawing/2014/main" id="{F203434F-AB84-4C73-B0AD-ABCEDB3B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窄检索：式 / 库 / 日期 / 命中 / 筛选</a:t>
            </a:r>
          </a:p>
        </p:txBody>
      </p:sp>
      <p:sp>
        <p:nvSpPr>
          <p:cNvPr id="9" name="p10-a0">
            <a:extLst xmlns:a="http://schemas.openxmlformats.org/drawingml/2006/main">
              <a:ext uri="{FF2B5EF4-FFF2-40B4-BE49-F238E27FC236}">
                <a16:creationId xmlns:a16="http://schemas.microsoft.com/office/drawing/2014/main" id="{EF70F7F9-226C-4F63-9A1D-AB4A572E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0-n1">
            <a:extLst xmlns:a="http://schemas.openxmlformats.org/drawingml/2006/main">
              <a:ext uri="{FF2B5EF4-FFF2-40B4-BE49-F238E27FC236}">
                <a16:creationId xmlns:a16="http://schemas.microsoft.com/office/drawing/2014/main" id="{48643F46-5FF5-4E6F-926E-EE5C19FB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10-h1">
            <a:extLst xmlns:a="http://schemas.openxmlformats.org/drawingml/2006/main">
              <a:ext uri="{FF2B5EF4-FFF2-40B4-BE49-F238E27FC236}">
                <a16:creationId xmlns:a16="http://schemas.microsoft.com/office/drawing/2014/main" id="{576F8427-3E45-4B54-9A38-E95D583A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86C12"/>
                </a:solidFill>
              </a:defRPr>
            </a:pPr>
            <a:r>
              <a:rPr sz="19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重要性</a:t>
            </a:r>
          </a:p>
        </p:txBody>
      </p:sp>
      <p:sp>
        <p:nvSpPr>
          <p:cNvPr id="12" name="p10-d1">
            <a:extLst xmlns:a="http://schemas.openxmlformats.org/drawingml/2006/main">
              <a:ext uri="{FF2B5EF4-FFF2-40B4-BE49-F238E27FC236}">
                <a16:creationId xmlns:a16="http://schemas.microsoft.com/office/drawing/2014/main" id="{AD43654D-AC7A-46A6-8748-9894A34D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若不回答，哪条主张或机制无法成立？</a:t>
            </a:r>
          </a:p>
        </p:txBody>
      </p:sp>
      <p:sp>
        <p:nvSpPr>
          <p:cNvPr id="13" name="p10-a1">
            <a:extLst xmlns:a="http://schemas.openxmlformats.org/drawingml/2006/main">
              <a:ext uri="{FF2B5EF4-FFF2-40B4-BE49-F238E27FC236}">
                <a16:creationId xmlns:a16="http://schemas.microsoft.com/office/drawing/2014/main" id="{B2A13C63-5EC7-4619-9D43-24AE7982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0-n2">
            <a:extLst xmlns:a="http://schemas.openxmlformats.org/drawingml/2006/main">
              <a:ext uri="{FF2B5EF4-FFF2-40B4-BE49-F238E27FC236}">
                <a16:creationId xmlns:a16="http://schemas.microsoft.com/office/drawing/2014/main" id="{D89EA434-0B25-4F5C-A841-884777D9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10-h2">
            <a:extLst xmlns:a="http://schemas.openxmlformats.org/drawingml/2006/main">
              <a:ext uri="{FF2B5EF4-FFF2-40B4-BE49-F238E27FC236}">
                <a16:creationId xmlns:a16="http://schemas.microsoft.com/office/drawing/2014/main" id="{A3FA175E-8824-44C2-A5EC-8C44DF93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8745A"/>
                </a:solidFill>
              </a:defRPr>
            </a:pPr>
            <a:r>
              <a:rPr sz="19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可行性</a:t>
            </a:r>
          </a:p>
        </p:txBody>
      </p:sp>
      <p:sp>
        <p:nvSpPr>
          <p:cNvPr id="16" name="p10-d2">
            <a:extLst xmlns:a="http://schemas.openxmlformats.org/drawingml/2006/main">
              <a:ext uri="{FF2B5EF4-FFF2-40B4-BE49-F238E27FC236}">
                <a16:creationId xmlns:a16="http://schemas.microsoft.com/office/drawing/2014/main" id="{77508C05-F42D-4F55-91F6-1F99BCBD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课程周期内能否做最小实验、对照或分析？</a:t>
            </a:r>
          </a:p>
        </p:txBody>
      </p:sp>
      <p:sp>
        <p:nvSpPr>
          <p:cNvPr id="17" name="p10-pass">
            <a:extLst xmlns:a="http://schemas.openxmlformats.org/drawingml/2006/main">
              <a:ext uri="{FF2B5EF4-FFF2-40B4-BE49-F238E27FC236}">
                <a16:creationId xmlns:a16="http://schemas.microsoft.com/office/drawing/2014/main" id="{8CB97C3A-8E9E-4962-8DFD-1B5658B7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523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三步均有记录 → 进入候选题池 → 第 6 课比较收敛</a:t>
            </a:r>
          </a:p>
        </p:txBody>
      </p:sp>
      <p:sp>
        <p:nvSpPr>
          <p:cNvPr id="18" name="p10-back">
            <a:extLst xmlns:a="http://schemas.openxmlformats.org/drawingml/2006/main">
              <a:ext uri="{FF2B5EF4-FFF2-40B4-BE49-F238E27FC236}">
                <a16:creationId xmlns:a16="http://schemas.microsoft.com/office/drawing/2014/main" id="{C1E2B91B-3BB5-4CBA-AB5E-B5DFF101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4572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任一步不足 → 回到检索、证据或范围</a:t>
            </a:r>
          </a:p>
        </p:txBody>
      </p:sp>
      <p:sp>
        <p:nvSpPr>
          <p:cNvPr id="19" name="p10-bottom">
            <a:extLst xmlns:a="http://schemas.openxmlformats.org/drawingml/2006/main">
              <a:ext uri="{FF2B5EF4-FFF2-40B4-BE49-F238E27FC236}">
                <a16:creationId xmlns:a16="http://schemas.microsoft.com/office/drawing/2014/main" id="{1DF4E930-DE16-4E0B-848E-21D3665E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9587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不要把“我没找到”升级为“领域没人做过”。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不是空白的情况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a0">
            <a:extLst xmlns:a="http://schemas.openxmlformats.org/drawingml/2006/main">
              <a:ext uri="{FF2B5EF4-FFF2-40B4-BE49-F238E27FC236}">
                <a16:creationId xmlns:a16="http://schemas.microsoft.com/office/drawing/2014/main" id="{BBB2F4FA-C6FA-4F8E-80E8-D80D56FA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表述差异</a:t>
            </a:r>
          </a:p>
        </p:txBody>
      </p:sp>
      <p:sp>
        <p:nvSpPr>
          <p:cNvPr id="7" name="p11-arr0">
            <a:extLst xmlns:a="http://schemas.openxmlformats.org/drawingml/2006/main">
              <a:ext uri="{FF2B5EF4-FFF2-40B4-BE49-F238E27FC236}">
                <a16:creationId xmlns:a16="http://schemas.microsoft.com/office/drawing/2014/main" id="{0F0A7126-C700-43C4-8505-4209A2CD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382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11-b0">
            <a:extLst xmlns:a="http://schemas.openxmlformats.org/drawingml/2006/main">
              <a:ext uri="{FF2B5EF4-FFF2-40B4-BE49-F238E27FC236}">
                <a16:creationId xmlns:a16="http://schemas.microsoft.com/office/drawing/2014/main" id="{2ECF4E0E-075C-4AA9-9C59-7DECC9DE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123950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术语不同，但操作定义相同</a:t>
            </a:r>
          </a:p>
        </p:txBody>
      </p:sp>
      <p:sp>
        <p:nvSpPr>
          <p:cNvPr id="9" name="p11-a1">
            <a:extLst xmlns:a="http://schemas.openxmlformats.org/drawingml/2006/main">
              <a:ext uri="{FF2B5EF4-FFF2-40B4-BE49-F238E27FC236}">
                <a16:creationId xmlns:a16="http://schemas.microsoft.com/office/drawing/2014/main" id="{10B31FE5-86AB-45A0-B399-F4C72CE3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范围差异</a:t>
            </a:r>
          </a:p>
        </p:txBody>
      </p:sp>
      <p:sp>
        <p:nvSpPr>
          <p:cNvPr id="10" name="p11-arr1">
            <a:extLst xmlns:a="http://schemas.openxmlformats.org/drawingml/2006/main">
              <a:ext uri="{FF2B5EF4-FFF2-40B4-BE49-F238E27FC236}">
                <a16:creationId xmlns:a16="http://schemas.microsoft.com/office/drawing/2014/main" id="{635EA3D1-78A7-4095-AA4A-E448EAB8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1932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1-b1">
            <a:extLst xmlns:a="http://schemas.openxmlformats.org/drawingml/2006/main">
              <a:ext uri="{FF2B5EF4-FFF2-40B4-BE49-F238E27FC236}">
                <a16:creationId xmlns:a16="http://schemas.microsoft.com/office/drawing/2014/main" id="{8C5771B2-1996-4157-8EBC-DC512BD3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05025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数据集或任务不同，结论不可比</a:t>
            </a:r>
          </a:p>
        </p:txBody>
      </p:sp>
      <p:sp>
        <p:nvSpPr>
          <p:cNvPr id="12" name="p11-a2">
            <a:extLst xmlns:a="http://schemas.openxmlformats.org/drawingml/2006/main">
              <a:ext uri="{FF2B5EF4-FFF2-40B4-BE49-F238E27FC236}">
                <a16:creationId xmlns:a16="http://schemas.microsoft.com/office/drawing/2014/main" id="{B9D47A85-E202-4E21-98D9-F0B45084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工程未做</a:t>
            </a:r>
          </a:p>
        </p:txBody>
      </p:sp>
      <p:sp>
        <p:nvSpPr>
          <p:cNvPr id="13" name="p11-arr2">
            <a:extLst xmlns:a="http://schemas.openxmlformats.org/drawingml/2006/main">
              <a:ext uri="{FF2B5EF4-FFF2-40B4-BE49-F238E27FC236}">
                <a16:creationId xmlns:a16="http://schemas.microsoft.com/office/drawing/2014/main" id="{1DFE2DBA-2333-41AB-9CE0-E142B3C5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004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1-b2">
            <a:extLst xmlns:a="http://schemas.openxmlformats.org/drawingml/2006/main">
              <a:ext uri="{FF2B5EF4-FFF2-40B4-BE49-F238E27FC236}">
                <a16:creationId xmlns:a16="http://schemas.microsoft.com/office/drawing/2014/main" id="{28599C53-D883-4BC5-9808-2DE66896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尚未评测某产品，不一定是机制问题</a:t>
            </a:r>
          </a:p>
        </p:txBody>
      </p:sp>
      <p:sp>
        <p:nvSpPr>
          <p:cNvPr id="15" name="p11-a3">
            <a:extLst xmlns:a="http://schemas.openxmlformats.org/drawingml/2006/main">
              <a:ext uri="{FF2B5EF4-FFF2-40B4-BE49-F238E27FC236}">
                <a16:creationId xmlns:a16="http://schemas.microsoft.com/office/drawing/2014/main" id="{2AFBE803-D2BD-4E2F-A144-B6FB29CD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67175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新但不重要</a:t>
            </a:r>
          </a:p>
        </p:txBody>
      </p:sp>
      <p:sp>
        <p:nvSpPr>
          <p:cNvPr id="16" name="p11-arr3">
            <a:extLst xmlns:a="http://schemas.openxmlformats.org/drawingml/2006/main">
              <a:ext uri="{FF2B5EF4-FFF2-40B4-BE49-F238E27FC236}">
                <a16:creationId xmlns:a16="http://schemas.microsoft.com/office/drawing/2014/main" id="{1A34487A-613D-4FD5-86F4-77E64A07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8147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1-b3">
            <a:extLst xmlns:a="http://schemas.openxmlformats.org/drawingml/2006/main">
              <a:ext uri="{FF2B5EF4-FFF2-40B4-BE49-F238E27FC236}">
                <a16:creationId xmlns:a16="http://schemas.microsoft.com/office/drawing/2014/main" id="{BF290CE5-8058-46BE-A8FC-0C8502E2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67175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换模型再跑一遍，判断没有改变</a:t>
            </a:r>
          </a:p>
        </p:txBody>
      </p:sp>
      <p:sp>
        <p:nvSpPr>
          <p:cNvPr id="18" name="p11-bottom">
            <a:extLst xmlns:a="http://schemas.openxmlformats.org/drawingml/2006/main">
              <a:ext uri="{FF2B5EF4-FFF2-40B4-BE49-F238E27FC236}">
                <a16:creationId xmlns:a16="http://schemas.microsoft.com/office/drawing/2014/main" id="{E3FAABFD-D657-4F8C-B6DE-1AAED956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真实空白必须是已有证据不能回答的具体问题。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综述草稿核验清单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n0">
            <a:extLst xmlns:a="http://schemas.openxmlformats.org/drawingml/2006/main">
              <a:ext uri="{FF2B5EF4-FFF2-40B4-BE49-F238E27FC236}">
                <a16:creationId xmlns:a16="http://schemas.microsoft.com/office/drawing/2014/main" id="{D8AD93ED-40E5-4854-84E2-197427E1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2-t0">
            <a:extLst xmlns:a="http://schemas.openxmlformats.org/drawingml/2006/main">
              <a:ext uri="{FF2B5EF4-FFF2-40B4-BE49-F238E27FC236}">
                <a16:creationId xmlns:a16="http://schemas.microsoft.com/office/drawing/2014/main" id="{D0BE7569-B949-4B90-BD23-FE6C772C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715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引文真实存在，题名 / 作者 / 年份 / DOI 与原文一致？</a:t>
            </a:r>
          </a:p>
        </p:txBody>
      </p:sp>
      <p:sp>
        <p:nvSpPr>
          <p:cNvPr id="8" name="p12-n1">
            <a:extLst xmlns:a="http://schemas.openxmlformats.org/drawingml/2006/main">
              <a:ext uri="{FF2B5EF4-FFF2-40B4-BE49-F238E27FC236}">
                <a16:creationId xmlns:a16="http://schemas.microsoft.com/office/drawing/2014/main" id="{0E6976F1-7BF3-4589-8DCE-4900F81E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2-t1">
            <a:extLst xmlns:a="http://schemas.openxmlformats.org/drawingml/2006/main">
              <a:ext uri="{FF2B5EF4-FFF2-40B4-BE49-F238E27FC236}">
                <a16:creationId xmlns:a16="http://schemas.microsoft.com/office/drawing/2014/main" id="{9299F88E-63AD-43BB-B85F-97CDA893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“共同主张”真的出现在每条引用原文中？</a:t>
            </a:r>
          </a:p>
        </p:txBody>
      </p:sp>
      <p:sp>
        <p:nvSpPr>
          <p:cNvPr id="10" name="p12-n2">
            <a:extLst xmlns:a="http://schemas.openxmlformats.org/drawingml/2006/main">
              <a:ext uri="{FF2B5EF4-FFF2-40B4-BE49-F238E27FC236}">
                <a16:creationId xmlns:a16="http://schemas.microsoft.com/office/drawing/2014/main" id="{6EA027EF-63FD-4656-97F5-7A5544CA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2-t2">
            <a:extLst xmlns:a="http://schemas.openxmlformats.org/drawingml/2006/main">
              <a:ext uri="{FF2B5EF4-FFF2-40B4-BE49-F238E27FC236}">
                <a16:creationId xmlns:a16="http://schemas.microsoft.com/office/drawing/2014/main" id="{9139B81A-4939-4DBB-B948-ECAF9268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“冲突”来自可比结论，还是任务设置不同？</a:t>
            </a:r>
          </a:p>
        </p:txBody>
      </p:sp>
      <p:sp>
        <p:nvSpPr>
          <p:cNvPr id="12" name="p12-n3">
            <a:extLst xmlns:a="http://schemas.openxmlformats.org/drawingml/2006/main">
              <a:ext uri="{FF2B5EF4-FFF2-40B4-BE49-F238E27FC236}">
                <a16:creationId xmlns:a16="http://schemas.microsoft.com/office/drawing/2014/main" id="{A3E51130-D13B-4BD9-8BE8-122E9193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2-t3">
            <a:extLst xmlns:a="http://schemas.openxmlformats.org/drawingml/2006/main">
              <a:ext uri="{FF2B5EF4-FFF2-40B4-BE49-F238E27FC236}">
                <a16:creationId xmlns:a16="http://schemas.microsoft.com/office/drawing/2014/main" id="{99629692-C463-44BF-85F9-31745EB2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“缺角”经过窄检索确认，还是只凭当前列表？</a:t>
            </a:r>
          </a:p>
        </p:txBody>
      </p:sp>
      <p:sp>
        <p:nvSpPr>
          <p:cNvPr id="14" name="p12-n4">
            <a:extLst xmlns:a="http://schemas.openxmlformats.org/drawingml/2006/main">
              <a:ext uri="{FF2B5EF4-FFF2-40B4-BE49-F238E27FC236}">
                <a16:creationId xmlns:a16="http://schemas.microsoft.com/office/drawing/2014/main" id="{9CB40033-6A0C-4A04-AAAA-074A7685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2-t4">
            <a:extLst xmlns:a="http://schemas.openxmlformats.org/drawingml/2006/main">
              <a:ext uri="{FF2B5EF4-FFF2-40B4-BE49-F238E27FC236}">
                <a16:creationId xmlns:a16="http://schemas.microsoft.com/office/drawing/2014/main" id="{9C0093BA-678B-4072-B946-98B7577C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综述段落是否把模型推断写成原文结论？</a:t>
            </a:r>
          </a:p>
        </p:txBody>
      </p:sp>
      <p:sp>
        <p:nvSpPr>
          <p:cNvPr id="16" name="p12-status-h">
            <a:extLst xmlns:a="http://schemas.openxmlformats.org/drawingml/2006/main">
              <a:ext uri="{FF2B5EF4-FFF2-40B4-BE49-F238E27FC236}">
                <a16:creationId xmlns:a16="http://schemas.microsoft.com/office/drawing/2014/main" id="{020FF719-46E9-4DFC-90E2-22CBAEB8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0668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核验状态</a:t>
            </a:r>
          </a:p>
        </p:txBody>
      </p:sp>
      <p:sp>
        <p:nvSpPr>
          <p:cNvPr id="17" name="p12-s0">
            <a:extLst xmlns:a="http://schemas.openxmlformats.org/drawingml/2006/main">
              <a:ext uri="{FF2B5EF4-FFF2-40B4-BE49-F238E27FC236}">
                <a16:creationId xmlns:a16="http://schemas.microsoft.com/office/drawing/2014/main" id="{11933EC9-8AC3-41BB-9CF1-C83B962D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18" name="p12-s1">
            <a:extLst xmlns:a="http://schemas.openxmlformats.org/drawingml/2006/main">
              <a:ext uri="{FF2B5EF4-FFF2-40B4-BE49-F238E27FC236}">
                <a16:creationId xmlns:a16="http://schemas.microsoft.com/office/drawing/2014/main" id="{B984936B-46E7-4A1B-9F25-F5412C69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verified</a:t>
            </a:r>
          </a:p>
        </p:txBody>
      </p:sp>
      <p:sp>
        <p:nvSpPr>
          <p:cNvPr id="19" name="p12-s2">
            <a:extLst xmlns:a="http://schemas.openxmlformats.org/drawingml/2006/main">
              <a:ext uri="{FF2B5EF4-FFF2-40B4-BE49-F238E27FC236}">
                <a16:creationId xmlns:a16="http://schemas.microsoft.com/office/drawing/2014/main" id="{F53E212C-4024-483E-A0D7-CB528726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28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verified-with-caveat</a:t>
            </a:r>
          </a:p>
        </p:txBody>
      </p:sp>
      <p:sp>
        <p:nvSpPr>
          <p:cNvPr id="20" name="p12-s3">
            <a:extLst xmlns:a="http://schemas.openxmlformats.org/drawingml/2006/main">
              <a:ext uri="{FF2B5EF4-FFF2-40B4-BE49-F238E27FC236}">
                <a16:creationId xmlns:a16="http://schemas.microsoft.com/office/drawing/2014/main" id="{FA8A635D-4652-453B-B55B-1534951E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3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rejected</a:t>
            </a:r>
          </a:p>
        </p:txBody>
      </p:sp>
      <p:sp>
        <p:nvSpPr>
          <p:cNvPr id="21" name="p12-bottom">
            <a:extLst xmlns:a="http://schemas.openxmlformats.org/drawingml/2006/main">
              <a:ext uri="{FF2B5EF4-FFF2-40B4-BE49-F238E27FC236}">
                <a16:creationId xmlns:a16="http://schemas.microsoft.com/office/drawing/2014/main" id="{D08E1347-834C-4EA2-818A-D62B132F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8991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pending 仅线索区｜caveat 必须保留限定且不可单独支撑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演示：5 张阅读卡 → 相关工作矩阵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virtual">
            <a:extLst xmlns:a="http://schemas.openxmlformats.org/drawingml/2006/main">
              <a:ext uri="{FF2B5EF4-FFF2-40B4-BE49-F238E27FC236}">
                <a16:creationId xmlns:a16="http://schemas.microsoft.com/office/drawing/2014/main" id="{D7FE2DFA-701B-4948-A326-25AD5EE2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3-question">
            <a:extLst xmlns:a="http://schemas.openxmlformats.org/drawingml/2006/main">
              <a:ext uri="{FF2B5EF4-FFF2-40B4-BE49-F238E27FC236}">
                <a16:creationId xmlns:a16="http://schemas.microsoft.com/office/drawing/2014/main" id="{74563FE2-8A38-4155-AF94-10CF4AA8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问题：结构化阅读卡是否降低 AI 摘要的限定条件遗漏？</a:t>
            </a:r>
          </a:p>
        </p:txBody>
      </p:sp>
      <p:sp>
        <p:nvSpPr>
          <p:cNvPr id="8" name="p13-c0">
            <a:extLst xmlns:a="http://schemas.openxmlformats.org/drawingml/2006/main">
              <a:ext uri="{FF2B5EF4-FFF2-40B4-BE49-F238E27FC236}">
                <a16:creationId xmlns:a16="http://schemas.microsoft.com/office/drawing/2014/main" id="{BFD3FBE2-5B7D-489C-A0A8-45939C76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9" name="p13-ct0">
            <a:extLst xmlns:a="http://schemas.openxmlformats.org/drawingml/2006/main">
              <a:ext uri="{FF2B5EF4-FFF2-40B4-BE49-F238E27FC236}">
                <a16:creationId xmlns:a16="http://schemas.microsoft.com/office/drawing/2014/main" id="{0A9E50C2-9589-40CB-B59A-C82374A4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383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直接回答 a、b</a:t>
            </a:r>
          </a:p>
        </p:txBody>
      </p:sp>
      <p:sp>
        <p:nvSpPr>
          <p:cNvPr id="10" name="p13-c1">
            <a:extLst xmlns:a="http://schemas.openxmlformats.org/drawingml/2006/main">
              <a:ext uri="{FF2B5EF4-FFF2-40B4-BE49-F238E27FC236}">
                <a16:creationId xmlns:a16="http://schemas.microsoft.com/office/drawing/2014/main" id="{F3F8C1F2-4E18-473A-85AA-B32875ED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1" name="p13-ct1">
            <a:extLst xmlns:a="http://schemas.openxmlformats.org/drawingml/2006/main">
              <a:ext uri="{FF2B5EF4-FFF2-40B4-BE49-F238E27FC236}">
                <a16:creationId xmlns:a16="http://schemas.microsoft.com/office/drawing/2014/main" id="{57018A70-11FB-4089-B428-D2A5401D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860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部分回答 a</a:t>
            </a:r>
          </a:p>
        </p:txBody>
      </p:sp>
      <p:sp>
        <p:nvSpPr>
          <p:cNvPr id="12" name="p13-c2">
            <a:extLst xmlns:a="http://schemas.openxmlformats.org/drawingml/2006/main">
              <a:ext uri="{FF2B5EF4-FFF2-40B4-BE49-F238E27FC236}">
                <a16:creationId xmlns:a16="http://schemas.microsoft.com/office/drawing/2014/main" id="{8B1440D2-9159-4BC4-A1BD-F50103F4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3" name="p13-ct2">
            <a:extLst xmlns:a="http://schemas.openxmlformats.org/drawingml/2006/main">
              <a:ext uri="{FF2B5EF4-FFF2-40B4-BE49-F238E27FC236}">
                <a16:creationId xmlns:a16="http://schemas.microsoft.com/office/drawing/2014/main" id="{F7E2A154-4BFE-4F32-9360-2FEBEBA9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EBF4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任务不同，不可比</a:t>
            </a:r>
          </a:p>
        </p:txBody>
      </p:sp>
      <p:sp>
        <p:nvSpPr>
          <p:cNvPr id="14" name="p13-c3">
            <a:extLst xmlns:a="http://schemas.openxmlformats.org/drawingml/2006/main">
              <a:ext uri="{FF2B5EF4-FFF2-40B4-BE49-F238E27FC236}">
                <a16:creationId xmlns:a16="http://schemas.microsoft.com/office/drawing/2014/main" id="{882BAB47-8460-477B-8483-FF56851B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386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15" name="p13-ct3">
            <a:extLst xmlns:a="http://schemas.openxmlformats.org/drawingml/2006/main">
              <a:ext uri="{FF2B5EF4-FFF2-40B4-BE49-F238E27FC236}">
                <a16:creationId xmlns:a16="http://schemas.microsoft.com/office/drawing/2014/main" id="{858E1343-9432-415A-8A5F-A14325B2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可比条件下相反</a:t>
            </a:r>
          </a:p>
        </p:txBody>
      </p:sp>
      <p:sp>
        <p:nvSpPr>
          <p:cNvPr id="16" name="p13-c4">
            <a:extLst xmlns:a="http://schemas.openxmlformats.org/drawingml/2006/main">
              <a:ext uri="{FF2B5EF4-FFF2-40B4-BE49-F238E27FC236}">
                <a16:creationId xmlns:a16="http://schemas.microsoft.com/office/drawing/2014/main" id="{94290E0B-F4FA-4C9C-9392-55D09EC1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</a:t>
            </a:r>
          </a:p>
        </p:txBody>
      </p:sp>
      <p:sp>
        <p:nvSpPr>
          <p:cNvPr id="17" name="p13-ct4">
            <a:extLst xmlns:a="http://schemas.openxmlformats.org/drawingml/2006/main">
              <a:ext uri="{FF2B5EF4-FFF2-40B4-BE49-F238E27FC236}">
                <a16:creationId xmlns:a16="http://schemas.microsoft.com/office/drawing/2014/main" id="{5D926468-51F0-49B8-81C7-23326482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291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子问题 c 无材料</a:t>
            </a:r>
          </a:p>
        </p:txBody>
      </p:sp>
      <p:sp>
        <p:nvSpPr>
          <p:cNvPr id="18" name="p13-main-arrow">
            <a:extLst xmlns:a="http://schemas.openxmlformats.org/drawingml/2006/main">
              <a:ext uri="{FF2B5EF4-FFF2-40B4-BE49-F238E27FC236}">
                <a16:creationId xmlns:a16="http://schemas.microsoft.com/office/drawing/2014/main" id="{6818D1E4-3E1C-46FC-B47D-BED227FD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13-matrix-h-0">
            <a:extLst xmlns:a="http://schemas.openxmlformats.org/drawingml/2006/main">
              <a:ext uri="{FF2B5EF4-FFF2-40B4-BE49-F238E27FC236}">
                <a16:creationId xmlns:a16="http://schemas.microsoft.com/office/drawing/2014/main" id="{D75FE990-0248-4A6C-9B1F-486E0231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764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20" name="p13-matrix-h-1">
            <a:extLst xmlns:a="http://schemas.openxmlformats.org/drawingml/2006/main">
              <a:ext uri="{FF2B5EF4-FFF2-40B4-BE49-F238E27FC236}">
                <a16:creationId xmlns:a16="http://schemas.microsoft.com/office/drawing/2014/main" id="{9FD907A3-6650-473E-867E-CB75769B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定位</a:t>
            </a:r>
          </a:p>
        </p:txBody>
      </p:sp>
      <p:sp>
        <p:nvSpPr>
          <p:cNvPr id="21" name="p13-matrix-h-2">
            <a:extLst xmlns:a="http://schemas.openxmlformats.org/drawingml/2006/main">
              <a:ext uri="{FF2B5EF4-FFF2-40B4-BE49-F238E27FC236}">
                <a16:creationId xmlns:a16="http://schemas.microsoft.com/office/drawing/2014/main" id="{D1DD43FD-931A-42F2-9456-6930BBCE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定义</a:t>
            </a:r>
          </a:p>
        </p:txBody>
      </p:sp>
      <p:sp>
        <p:nvSpPr>
          <p:cNvPr id="22" name="p13-matrix-h-3">
            <a:extLst xmlns:a="http://schemas.openxmlformats.org/drawingml/2006/main">
              <a:ext uri="{FF2B5EF4-FFF2-40B4-BE49-F238E27FC236}">
                <a16:creationId xmlns:a16="http://schemas.microsoft.com/office/drawing/2014/main" id="{1F60CF6B-EDD6-4917-BA6D-AC814057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对照</a:t>
            </a:r>
          </a:p>
        </p:txBody>
      </p:sp>
      <p:sp>
        <p:nvSpPr>
          <p:cNvPr id="23" name="p13-matrix-r0-0">
            <a:extLst xmlns:a="http://schemas.openxmlformats.org/drawingml/2006/main">
              <a:ext uri="{FF2B5EF4-FFF2-40B4-BE49-F238E27FC236}">
                <a16:creationId xmlns:a16="http://schemas.microsoft.com/office/drawing/2014/main" id="{80B56602-F03C-46C6-8682-D68AF7F8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4" name="p13-matrix-r0-1">
            <a:extLst xmlns:a="http://schemas.openxmlformats.org/drawingml/2006/main">
              <a:ext uri="{FF2B5EF4-FFF2-40B4-BE49-F238E27FC236}">
                <a16:creationId xmlns:a16="http://schemas.microsoft.com/office/drawing/2014/main" id="{77CCB79C-C61A-49FF-B483-F7927990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5" name="p13-matrix-r0-2">
            <a:extLst xmlns:a="http://schemas.openxmlformats.org/drawingml/2006/main">
              <a:ext uri="{FF2B5EF4-FFF2-40B4-BE49-F238E27FC236}">
                <a16:creationId xmlns:a16="http://schemas.microsoft.com/office/drawing/2014/main" id="{751F0DCC-CB2D-4468-ABC5-1ED116C6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765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6" name="p13-matrix-r0-3">
            <a:extLst xmlns:a="http://schemas.openxmlformats.org/drawingml/2006/main">
              <a:ext uri="{FF2B5EF4-FFF2-40B4-BE49-F238E27FC236}">
                <a16:creationId xmlns:a16="http://schemas.microsoft.com/office/drawing/2014/main" id="{9269E6B3-DA6B-484B-82CD-71058048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765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7" name="p13-matrix-r1-0">
            <a:extLst xmlns:a="http://schemas.openxmlformats.org/drawingml/2006/main">
              <a:ext uri="{FF2B5EF4-FFF2-40B4-BE49-F238E27FC236}">
                <a16:creationId xmlns:a16="http://schemas.microsoft.com/office/drawing/2014/main" id="{BC9ACFC2-0FC4-4E89-9424-C5B45424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19425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p13-matrix-r1-1">
            <a:extLst xmlns:a="http://schemas.openxmlformats.org/drawingml/2006/main">
              <a:ext uri="{FF2B5EF4-FFF2-40B4-BE49-F238E27FC236}">
                <a16:creationId xmlns:a16="http://schemas.microsoft.com/office/drawing/2014/main" id="{D802715A-C884-498F-9297-36484CC0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942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29" name="p13-matrix-r1-2">
            <a:extLst xmlns:a="http://schemas.openxmlformats.org/drawingml/2006/main">
              <a:ext uri="{FF2B5EF4-FFF2-40B4-BE49-F238E27FC236}">
                <a16:creationId xmlns:a16="http://schemas.microsoft.com/office/drawing/2014/main" id="{37561CC7-C54C-43DC-97D9-F55BA25F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1942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0" name="p13-matrix-r1-3">
            <a:extLst xmlns:a="http://schemas.openxmlformats.org/drawingml/2006/main">
              <a:ext uri="{FF2B5EF4-FFF2-40B4-BE49-F238E27FC236}">
                <a16:creationId xmlns:a16="http://schemas.microsoft.com/office/drawing/2014/main" id="{B845E069-6A8F-44CF-99AD-DD1A2B24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1942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31" name="p13-matrix-r2-0">
            <a:extLst xmlns:a="http://schemas.openxmlformats.org/drawingml/2006/main">
              <a:ext uri="{FF2B5EF4-FFF2-40B4-BE49-F238E27FC236}">
                <a16:creationId xmlns:a16="http://schemas.microsoft.com/office/drawing/2014/main" id="{F6E5C2E8-DF62-423C-B92A-82447C9A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62350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2" name="p13-matrix-r2-1">
            <a:extLst xmlns:a="http://schemas.openxmlformats.org/drawingml/2006/main">
              <a:ext uri="{FF2B5EF4-FFF2-40B4-BE49-F238E27FC236}">
                <a16:creationId xmlns:a16="http://schemas.microsoft.com/office/drawing/2014/main" id="{13E8D16A-7FC7-44D9-80B8-D41C31E0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6235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33" name="p13-matrix-r2-2">
            <a:extLst xmlns:a="http://schemas.openxmlformats.org/drawingml/2006/main">
              <a:ext uri="{FF2B5EF4-FFF2-40B4-BE49-F238E27FC236}">
                <a16:creationId xmlns:a16="http://schemas.microsoft.com/office/drawing/2014/main" id="{4335DC54-3616-4998-958C-50B528C9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34" name="p13-matrix-r2-3">
            <a:extLst xmlns:a="http://schemas.openxmlformats.org/drawingml/2006/main">
              <a:ext uri="{FF2B5EF4-FFF2-40B4-BE49-F238E27FC236}">
                <a16:creationId xmlns:a16="http://schemas.microsoft.com/office/drawing/2014/main" id="{0F7134AD-0D06-4579-938E-7B937A34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56235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</a:t>
            </a:r>
          </a:p>
        </p:txBody>
      </p:sp>
      <p:sp>
        <p:nvSpPr>
          <p:cNvPr id="35" name="p13-matrix-r3-0">
            <a:extLst xmlns:a="http://schemas.openxmlformats.org/drawingml/2006/main">
              <a:ext uri="{FF2B5EF4-FFF2-40B4-BE49-F238E27FC236}">
                <a16:creationId xmlns:a16="http://schemas.microsoft.com/office/drawing/2014/main" id="{297A7291-0F62-4E1A-A8A9-13C23177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05275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6" name="p13-matrix-r3-1">
            <a:extLst xmlns:a="http://schemas.openxmlformats.org/drawingml/2006/main">
              <a:ext uri="{FF2B5EF4-FFF2-40B4-BE49-F238E27FC236}">
                <a16:creationId xmlns:a16="http://schemas.microsoft.com/office/drawing/2014/main" id="{233006DD-5D71-4FC4-B6B3-564028FB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0527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相反</a:t>
            </a:r>
          </a:p>
        </p:txBody>
      </p:sp>
      <p:sp>
        <p:nvSpPr>
          <p:cNvPr id="37" name="p13-matrix-r3-2">
            <a:extLst xmlns:a="http://schemas.openxmlformats.org/drawingml/2006/main">
              <a:ext uri="{FF2B5EF4-FFF2-40B4-BE49-F238E27FC236}">
                <a16:creationId xmlns:a16="http://schemas.microsoft.com/office/drawing/2014/main" id="{52F28295-4409-467F-98C8-75082078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0527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8" name="p13-matrix-r3-3">
            <a:extLst xmlns:a="http://schemas.openxmlformats.org/drawingml/2006/main">
              <a:ext uri="{FF2B5EF4-FFF2-40B4-BE49-F238E27FC236}">
                <a16:creationId xmlns:a16="http://schemas.microsoft.com/office/drawing/2014/main" id="{5582AE9A-0E51-408E-8E58-7EA1519C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10527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9" name="p13-matrix-r4-0">
            <a:extLst xmlns:a="http://schemas.openxmlformats.org/drawingml/2006/main">
              <a:ext uri="{FF2B5EF4-FFF2-40B4-BE49-F238E27FC236}">
                <a16:creationId xmlns:a16="http://schemas.microsoft.com/office/drawing/2014/main" id="{EB8D0223-0F55-4502-9170-A96FDDE5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48200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</a:t>
            </a:r>
          </a:p>
        </p:txBody>
      </p:sp>
      <p:sp>
        <p:nvSpPr>
          <p:cNvPr id="40" name="p13-matrix-r4-1">
            <a:extLst xmlns:a="http://schemas.openxmlformats.org/drawingml/2006/main">
              <a:ext uri="{FF2B5EF4-FFF2-40B4-BE49-F238E27FC236}">
                <a16:creationId xmlns:a16="http://schemas.microsoft.com/office/drawing/2014/main" id="{9CDE8987-E762-409A-BE5F-5B7B8178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482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1" name="p13-matrix-r4-2">
            <a:extLst xmlns:a="http://schemas.openxmlformats.org/drawingml/2006/main">
              <a:ext uri="{FF2B5EF4-FFF2-40B4-BE49-F238E27FC236}">
                <a16:creationId xmlns:a16="http://schemas.microsoft.com/office/drawing/2014/main" id="{AB34F35C-76E9-44ED-BCE4-19D3E90C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482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2" name="p13-matrix-r4-3">
            <a:extLst xmlns:a="http://schemas.openxmlformats.org/drawingml/2006/main">
              <a:ext uri="{FF2B5EF4-FFF2-40B4-BE49-F238E27FC236}">
                <a16:creationId xmlns:a16="http://schemas.microsoft.com/office/drawing/2014/main" id="{7FC0E1F9-AC3F-48D6-9E32-1C48940D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6482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演示：矩阵 → 证据地图 → 空白候选 → 三步检验 → 候选题记录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virtual">
            <a:extLst xmlns:a="http://schemas.openxmlformats.org/drawingml/2006/main">
              <a:ext uri="{FF2B5EF4-FFF2-40B4-BE49-F238E27FC236}">
                <a16:creationId xmlns:a16="http://schemas.microsoft.com/office/drawing/2014/main" id="{159DF543-356D-45B1-A09A-0624520C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4-map-h-0">
            <a:extLst xmlns:a="http://schemas.openxmlformats.org/drawingml/2006/main">
              <a:ext uri="{FF2B5EF4-FFF2-40B4-BE49-F238E27FC236}">
                <a16:creationId xmlns:a16="http://schemas.microsoft.com/office/drawing/2014/main" id="{5294F8C1-81C5-4875-AEE9-0DEDC488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编号</a:t>
            </a:r>
          </a:p>
        </p:txBody>
      </p:sp>
      <p:sp>
        <p:nvSpPr>
          <p:cNvPr id="8" name="p14-map-h-1">
            <a:extLst xmlns:a="http://schemas.openxmlformats.org/drawingml/2006/main">
              <a:ext uri="{FF2B5EF4-FFF2-40B4-BE49-F238E27FC236}">
                <a16:creationId xmlns:a16="http://schemas.microsoft.com/office/drawing/2014/main" id="{800CD41B-687B-4B69-947E-CA513490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4287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9" name="p14-map-h-2">
            <a:extLst xmlns:a="http://schemas.openxmlformats.org/drawingml/2006/main">
              <a:ext uri="{FF2B5EF4-FFF2-40B4-BE49-F238E27FC236}">
                <a16:creationId xmlns:a16="http://schemas.microsoft.com/office/drawing/2014/main" id="{CEE2A100-7B28-466E-8247-B3CD2C5E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地图视图 / 角色</a:t>
            </a:r>
          </a:p>
        </p:txBody>
      </p:sp>
      <p:sp>
        <p:nvSpPr>
          <p:cNvPr id="10" name="p14-map-h-3">
            <a:extLst xmlns:a="http://schemas.openxmlformats.org/drawingml/2006/main">
              <a:ext uri="{FF2B5EF4-FFF2-40B4-BE49-F238E27FC236}">
                <a16:creationId xmlns:a16="http://schemas.microsoft.com/office/drawing/2014/main" id="{914B69E7-8EBB-4397-971E-1BA97B22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边界或状态</a:t>
            </a:r>
          </a:p>
        </p:txBody>
      </p:sp>
      <p:sp>
        <p:nvSpPr>
          <p:cNvPr id="11" name="p14-map-r0-0">
            <a:extLst xmlns:a="http://schemas.openxmlformats.org/drawingml/2006/main">
              <a:ext uri="{FF2B5EF4-FFF2-40B4-BE49-F238E27FC236}">
                <a16:creationId xmlns:a16="http://schemas.microsoft.com/office/drawing/2014/main" id="{8BAA94CA-7546-4929-B4FF-CF1673EC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E1</a:t>
            </a:r>
          </a:p>
        </p:txBody>
      </p:sp>
      <p:sp>
        <p:nvSpPr>
          <p:cNvPr id="12" name="p14-map-r0-1">
            <a:extLst xmlns:a="http://schemas.openxmlformats.org/drawingml/2006/main">
              <a:ext uri="{FF2B5EF4-FFF2-40B4-BE49-F238E27FC236}">
                <a16:creationId xmlns:a16="http://schemas.microsoft.com/office/drawing/2014/main" id="{39B9B29F-D626-4FD1-A4A3-2DB7DC1A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288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3" name="p14-map-r0-2">
            <a:extLst xmlns:a="http://schemas.openxmlformats.org/drawingml/2006/main">
              <a:ext uri="{FF2B5EF4-FFF2-40B4-BE49-F238E27FC236}">
                <a16:creationId xmlns:a16="http://schemas.microsoft.com/office/drawing/2014/main" id="{0A29D69E-F312-460C-B220-056ABD8B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4" name="p14-map-r0-3">
            <a:extLst xmlns:a="http://schemas.openxmlformats.org/drawingml/2006/main">
              <a:ext uri="{FF2B5EF4-FFF2-40B4-BE49-F238E27FC236}">
                <a16:creationId xmlns:a16="http://schemas.microsoft.com/office/drawing/2014/main" id="{3C05CE0F-5134-4C45-9101-7C0F11E8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回答 a、b</a:t>
            </a:r>
          </a:p>
        </p:txBody>
      </p:sp>
      <p:sp>
        <p:nvSpPr>
          <p:cNvPr id="15" name="p14-map-r1-0">
            <a:extLst xmlns:a="http://schemas.openxmlformats.org/drawingml/2006/main">
              <a:ext uri="{FF2B5EF4-FFF2-40B4-BE49-F238E27FC236}">
                <a16:creationId xmlns:a16="http://schemas.microsoft.com/office/drawing/2014/main" id="{D74D5C4B-6151-42E4-A223-8426C655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E2</a:t>
            </a:r>
          </a:p>
        </p:txBody>
      </p:sp>
      <p:sp>
        <p:nvSpPr>
          <p:cNvPr id="16" name="p14-map-r1-1">
            <a:extLst xmlns:a="http://schemas.openxmlformats.org/drawingml/2006/main">
              <a:ext uri="{FF2B5EF4-FFF2-40B4-BE49-F238E27FC236}">
                <a16:creationId xmlns:a16="http://schemas.microsoft.com/office/drawing/2014/main" id="{4AC6163C-EBA8-40B6-A17F-E06EA4BD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431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7" name="p14-map-r1-2">
            <a:extLst xmlns:a="http://schemas.openxmlformats.org/drawingml/2006/main">
              <a:ext uri="{FF2B5EF4-FFF2-40B4-BE49-F238E27FC236}">
                <a16:creationId xmlns:a16="http://schemas.microsoft.com/office/drawing/2014/main" id="{657C2B41-8704-4BE2-BDD9-34BB7DBF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431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18" name="p14-map-r1-3">
            <a:extLst xmlns:a="http://schemas.openxmlformats.org/drawingml/2006/main">
              <a:ext uri="{FF2B5EF4-FFF2-40B4-BE49-F238E27FC236}">
                <a16:creationId xmlns:a16="http://schemas.microsoft.com/office/drawing/2014/main" id="{5E728963-5C07-4DE0-A4C7-FFECB909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定义不一致</a:t>
            </a:r>
          </a:p>
        </p:txBody>
      </p:sp>
      <p:sp>
        <p:nvSpPr>
          <p:cNvPr id="19" name="p14-map-r2-0">
            <a:extLst xmlns:a="http://schemas.openxmlformats.org/drawingml/2006/main">
              <a:ext uri="{FF2B5EF4-FFF2-40B4-BE49-F238E27FC236}">
                <a16:creationId xmlns:a16="http://schemas.microsoft.com/office/drawing/2014/main" id="{932176A0-0064-4A57-8F09-75181EEF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E3</a:t>
            </a:r>
          </a:p>
        </p:txBody>
      </p:sp>
      <p:sp>
        <p:nvSpPr>
          <p:cNvPr id="20" name="p14-map-r2-1">
            <a:extLst xmlns:a="http://schemas.openxmlformats.org/drawingml/2006/main">
              <a:ext uri="{FF2B5EF4-FFF2-40B4-BE49-F238E27FC236}">
                <a16:creationId xmlns:a16="http://schemas.microsoft.com/office/drawing/2014/main" id="{DFC0FEF7-574B-4722-BD73-8391B71C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575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1" name="p14-map-r2-2">
            <a:extLst xmlns:a="http://schemas.openxmlformats.org/drawingml/2006/main">
              <a:ext uri="{FF2B5EF4-FFF2-40B4-BE49-F238E27FC236}">
                <a16:creationId xmlns:a16="http://schemas.microsoft.com/office/drawing/2014/main" id="{74BA769D-2666-4308-B852-1F019331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575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对比证据</a:t>
            </a:r>
          </a:p>
        </p:txBody>
      </p:sp>
      <p:sp>
        <p:nvSpPr>
          <p:cNvPr id="22" name="p14-map-r2-3">
            <a:extLst xmlns:a="http://schemas.openxmlformats.org/drawingml/2006/main">
              <a:ext uri="{FF2B5EF4-FFF2-40B4-BE49-F238E27FC236}">
                <a16:creationId xmlns:a16="http://schemas.microsoft.com/office/drawing/2014/main" id="{876FDEA2-E653-465D-BF14-7413CB31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750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任务不同，不可比</a:t>
            </a:r>
          </a:p>
        </p:txBody>
      </p:sp>
      <p:sp>
        <p:nvSpPr>
          <p:cNvPr id="23" name="p14-map-r3-0">
            <a:extLst xmlns:a="http://schemas.openxmlformats.org/drawingml/2006/main">
              <a:ext uri="{FF2B5EF4-FFF2-40B4-BE49-F238E27FC236}">
                <a16:creationId xmlns:a16="http://schemas.microsoft.com/office/drawing/2014/main" id="{372F352B-B534-4671-AB64-A6D05892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E4</a:t>
            </a:r>
          </a:p>
        </p:txBody>
      </p:sp>
      <p:sp>
        <p:nvSpPr>
          <p:cNvPr id="24" name="p14-map-r3-1">
            <a:extLst xmlns:a="http://schemas.openxmlformats.org/drawingml/2006/main">
              <a:ext uri="{FF2B5EF4-FFF2-40B4-BE49-F238E27FC236}">
                <a16:creationId xmlns:a16="http://schemas.microsoft.com/office/drawing/2014/main" id="{C20E146C-0237-428E-88EE-A6C4F36E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718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25" name="p14-map-r3-2">
            <a:extLst xmlns:a="http://schemas.openxmlformats.org/drawingml/2006/main">
              <a:ext uri="{FF2B5EF4-FFF2-40B4-BE49-F238E27FC236}">
                <a16:creationId xmlns:a16="http://schemas.microsoft.com/office/drawing/2014/main" id="{0CA05EEA-5062-4ADA-9B14-47ECD897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718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14-map-r3-3">
            <a:extLst xmlns:a="http://schemas.openxmlformats.org/drawingml/2006/main">
              <a:ext uri="{FF2B5EF4-FFF2-40B4-BE49-F238E27FC236}">
                <a16:creationId xmlns:a16="http://schemas.microsoft.com/office/drawing/2014/main" id="{F2A5B2CC-8538-4D4F-BCD2-89AE2571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7185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 A 相反，待核条件</a:t>
            </a:r>
          </a:p>
        </p:txBody>
      </p:sp>
      <p:sp>
        <p:nvSpPr>
          <p:cNvPr id="27" name="p14-map-r4-0">
            <a:extLst xmlns:a="http://schemas.openxmlformats.org/drawingml/2006/main">
              <a:ext uri="{FF2B5EF4-FFF2-40B4-BE49-F238E27FC236}">
                <a16:creationId xmlns:a16="http://schemas.microsoft.com/office/drawing/2014/main" id="{4E7C3544-6FD8-4BDD-9584-EB5F9C4B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28" name="p14-map-r4-1">
            <a:extLst xmlns:a="http://schemas.openxmlformats.org/drawingml/2006/main">
              <a:ext uri="{FF2B5EF4-FFF2-40B4-BE49-F238E27FC236}">
                <a16:creationId xmlns:a16="http://schemas.microsoft.com/office/drawing/2014/main" id="{A58BDF6E-3AD3-450E-8601-916E4926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862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整列空白</a:t>
            </a:r>
          </a:p>
        </p:txBody>
      </p:sp>
      <p:sp>
        <p:nvSpPr>
          <p:cNvPr id="29" name="p14-map-r4-2">
            <a:extLst xmlns:a="http://schemas.openxmlformats.org/drawingml/2006/main">
              <a:ext uri="{FF2B5EF4-FFF2-40B4-BE49-F238E27FC236}">
                <a16:creationId xmlns:a16="http://schemas.microsoft.com/office/drawing/2014/main" id="{EA5FCAAF-B325-45A9-B3EE-08E02C45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862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空白候选</a:t>
            </a:r>
          </a:p>
        </p:txBody>
      </p:sp>
      <p:sp>
        <p:nvSpPr>
          <p:cNvPr id="30" name="p14-map-r4-3">
            <a:extLst xmlns:a="http://schemas.openxmlformats.org/drawingml/2006/main">
              <a:ext uri="{FF2B5EF4-FFF2-40B4-BE49-F238E27FC236}">
                <a16:creationId xmlns:a16="http://schemas.microsoft.com/office/drawing/2014/main" id="{F11FEB06-1088-4A54-A568-2B4681D3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待真实窄检索</a:t>
            </a:r>
          </a:p>
        </p:txBody>
      </p:sp>
      <p:sp>
        <p:nvSpPr>
          <p:cNvPr id="31" name="p14-th0">
            <a:extLst xmlns:a="http://schemas.openxmlformats.org/drawingml/2006/main">
              <a:ext uri="{FF2B5EF4-FFF2-40B4-BE49-F238E27FC236}">
                <a16:creationId xmlns:a16="http://schemas.microsoft.com/office/drawing/2014/main" id="{6D35ADB9-FFF6-4B1E-8797-51001B9E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真实性</a:t>
            </a:r>
          </a:p>
        </p:txBody>
      </p:sp>
      <p:sp>
        <p:nvSpPr>
          <p:cNvPr id="32" name="p14-td0">
            <a:extLst xmlns:a="http://schemas.openxmlformats.org/drawingml/2006/main">
              <a:ext uri="{FF2B5EF4-FFF2-40B4-BE49-F238E27FC236}">
                <a16:creationId xmlns:a16="http://schemas.microsoft.com/office/drawing/2014/main" id="{DBE9B36F-E7B1-4720-94CD-D47940C6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76750"/>
            <a:ext cx="209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式 / 库 / 日期 / 命中 / 筛选</a:t>
            </a:r>
          </a:p>
        </p:txBody>
      </p:sp>
      <p:sp>
        <p:nvSpPr>
          <p:cNvPr id="33" name="p14-th1">
            <a:extLst xmlns:a="http://schemas.openxmlformats.org/drawingml/2006/main">
              <a:ext uri="{FF2B5EF4-FFF2-40B4-BE49-F238E27FC236}">
                <a16:creationId xmlns:a16="http://schemas.microsoft.com/office/drawing/2014/main" id="{9887BDFF-D525-4F6E-B27C-2F177E71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重要性</a:t>
            </a:r>
          </a:p>
        </p:txBody>
      </p:sp>
      <p:sp>
        <p:nvSpPr>
          <p:cNvPr id="34" name="p14-td1">
            <a:extLst xmlns:a="http://schemas.openxmlformats.org/drawingml/2006/main">
              <a:ext uri="{FF2B5EF4-FFF2-40B4-BE49-F238E27FC236}">
                <a16:creationId xmlns:a16="http://schemas.microsoft.com/office/drawing/2014/main" id="{9815D76C-4480-4759-8BBC-0709C384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76750"/>
            <a:ext cx="209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缺它，哪条机制无法检验？</a:t>
            </a:r>
          </a:p>
        </p:txBody>
      </p:sp>
      <p:sp>
        <p:nvSpPr>
          <p:cNvPr id="35" name="p14-th2">
            <a:extLst xmlns:a="http://schemas.openxmlformats.org/drawingml/2006/main">
              <a:ext uri="{FF2B5EF4-FFF2-40B4-BE49-F238E27FC236}">
                <a16:creationId xmlns:a16="http://schemas.microsoft.com/office/drawing/2014/main" id="{03400F7D-9719-465D-BCE7-C58B5D3F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7675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可行性</a:t>
            </a:r>
          </a:p>
        </p:txBody>
      </p:sp>
      <p:sp>
        <p:nvSpPr>
          <p:cNvPr id="36" name="p14-td2">
            <a:extLst xmlns:a="http://schemas.openxmlformats.org/drawingml/2006/main">
              <a:ext uri="{FF2B5EF4-FFF2-40B4-BE49-F238E27FC236}">
                <a16:creationId xmlns:a16="http://schemas.microsoft.com/office/drawing/2014/main" id="{A36DFDDD-523A-450D-B892-088BFE88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76750"/>
            <a:ext cx="209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能否做最小实验或分析？</a:t>
            </a:r>
          </a:p>
        </p:txBody>
      </p:sp>
      <p:sp>
        <p:nvSpPr>
          <p:cNvPr id="37" name="p14-pool">
            <a:extLst xmlns:a="http://schemas.openxmlformats.org/drawingml/2006/main">
              <a:ext uri="{FF2B5EF4-FFF2-40B4-BE49-F238E27FC236}">
                <a16:creationId xmlns:a16="http://schemas.microsoft.com/office/drawing/2014/main" id="{FCF9E87E-132F-4A4E-9AC7-CAB9C871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86350"/>
            <a:ext cx="1028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通过后记入候选题池：G1 表述 + 路径标签（文献缺角）；非文献路径候选题由学生项目补齐</a:t>
            </a:r>
          </a:p>
        </p:txBody>
      </p:sp>
      <p:sp>
        <p:nvSpPr>
          <p:cNvPr id="38" name="p14-warning">
            <a:extLst xmlns:a="http://schemas.openxmlformats.org/drawingml/2006/main">
              <a:ext uri="{FF2B5EF4-FFF2-40B4-BE49-F238E27FC236}">
                <a16:creationId xmlns:a16="http://schemas.microsoft.com/office/drawing/2014/main" id="{04C8A460-11F1-406E-922A-CAA387E8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4673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本样例不预设“命中 0”；真实项目必须填实际检索记录。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演示：AI 核验后写四句 mini review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virtual">
            <a:extLst xmlns:a="http://schemas.openxmlformats.org/drawingml/2006/main">
              <a:ext uri="{FF2B5EF4-FFF2-40B4-BE49-F238E27FC236}">
                <a16:creationId xmlns:a16="http://schemas.microsoft.com/office/drawing/2014/main" id="{440F3245-A3AF-4342-AE6D-9A4D67B9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5-bad">
            <a:extLst xmlns:a="http://schemas.openxmlformats.org/drawingml/2006/main">
              <a:ext uri="{FF2B5EF4-FFF2-40B4-BE49-F238E27FC236}">
                <a16:creationId xmlns:a16="http://schemas.microsoft.com/office/drawing/2014/main" id="{9EDF0040-3F8D-4861-8BE6-9356676C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09700"/>
            <a:ext cx="10572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草稿：“5 篇文献共同支持结构化阅读卡降低遗漏率。”</a:t>
            </a:r>
          </a:p>
        </p:txBody>
      </p:sp>
      <p:sp>
        <p:nvSpPr>
          <p:cNvPr id="8" name="p15-ah0">
            <a:extLst xmlns:a="http://schemas.openxmlformats.org/drawingml/2006/main">
              <a:ext uri="{FF2B5EF4-FFF2-40B4-BE49-F238E27FC236}">
                <a16:creationId xmlns:a16="http://schemas.microsoft.com/office/drawing/2014/main" id="{3246D08F-97FD-4313-9030-16E0DF9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rejected</a:t>
            </a:r>
          </a:p>
        </p:txBody>
      </p:sp>
      <p:sp>
        <p:nvSpPr>
          <p:cNvPr id="9" name="p15-ad0">
            <a:extLst xmlns:a="http://schemas.openxmlformats.org/drawingml/2006/main">
              <a:ext uri="{FF2B5EF4-FFF2-40B4-BE49-F238E27FC236}">
                <a16:creationId xmlns:a16="http://schemas.microsoft.com/office/drawing/2014/main" id="{442ED513-FAD2-477F-B26F-3788A9AB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条引文无法回源</a:t>
            </a:r>
          </a:p>
        </p:txBody>
      </p:sp>
      <p:sp>
        <p:nvSpPr>
          <p:cNvPr id="10" name="p15-ah1">
            <a:extLst xmlns:a="http://schemas.openxmlformats.org/drawingml/2006/main">
              <a:ext uri="{FF2B5EF4-FFF2-40B4-BE49-F238E27FC236}">
                <a16:creationId xmlns:a16="http://schemas.microsoft.com/office/drawing/2014/main" id="{D9D950BE-3D70-4718-8CBE-B05EAF13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不可比</a:t>
            </a:r>
          </a:p>
        </p:txBody>
      </p:sp>
      <p:sp>
        <p:nvSpPr>
          <p:cNvPr id="11" name="p15-ad1">
            <a:extLst xmlns:a="http://schemas.openxmlformats.org/drawingml/2006/main">
              <a:ext uri="{FF2B5EF4-FFF2-40B4-BE49-F238E27FC236}">
                <a16:creationId xmlns:a16="http://schemas.microsoft.com/office/drawing/2014/main" id="{E08B16AB-49EA-4470-A2AE-7805AE4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条来自不同任务</a:t>
            </a:r>
          </a:p>
        </p:txBody>
      </p:sp>
      <p:sp>
        <p:nvSpPr>
          <p:cNvPr id="12" name="p15-ah2">
            <a:extLst xmlns:a="http://schemas.openxmlformats.org/drawingml/2006/main">
              <a:ext uri="{FF2B5EF4-FFF2-40B4-BE49-F238E27FC236}">
                <a16:creationId xmlns:a16="http://schemas.microsoft.com/office/drawing/2014/main" id="{873E6C9F-790E-4C72-BB8C-0B7B21D9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13" name="p15-ad2">
            <a:extLst xmlns:a="http://schemas.openxmlformats.org/drawingml/2006/main">
              <a:ext uri="{FF2B5EF4-FFF2-40B4-BE49-F238E27FC236}">
                <a16:creationId xmlns:a16="http://schemas.microsoft.com/office/drawing/2014/main" id="{80E18614-CEE9-492C-9C5A-FA2A5A32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条相反结论待核条件</a:t>
            </a:r>
          </a:p>
        </p:txBody>
      </p:sp>
      <p:sp>
        <p:nvSpPr>
          <p:cNvPr id="14" name="p15-ah3">
            <a:extLst xmlns:a="http://schemas.openxmlformats.org/drawingml/2006/main">
              <a:ext uri="{FF2B5EF4-FFF2-40B4-BE49-F238E27FC236}">
                <a16:creationId xmlns:a16="http://schemas.microsoft.com/office/drawing/2014/main" id="{FFE0C528-BFDB-4494-868B-5310F64D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15" name="p15-ad3">
            <a:extLst xmlns:a="http://schemas.openxmlformats.org/drawingml/2006/main">
              <a:ext uri="{FF2B5EF4-FFF2-40B4-BE49-F238E27FC236}">
                <a16:creationId xmlns:a16="http://schemas.microsoft.com/office/drawing/2014/main" id="{8238F96F-29E0-45F7-ADDC-8CC87554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2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个子问题仍待窄检索</a:t>
            </a:r>
          </a:p>
        </p:txBody>
      </p:sp>
      <p:sp>
        <p:nvSpPr>
          <p:cNvPr id="16" name="p15-label">
            <a:extLst xmlns:a="http://schemas.openxmlformats.org/drawingml/2006/main">
              <a:ext uri="{FF2B5EF4-FFF2-40B4-BE49-F238E27FC236}">
                <a16:creationId xmlns:a16="http://schemas.microsoft.com/office/drawing/2014/main" id="{82E02512-4FA0-4770-A2F0-34A0E490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 mini literature review</a:t>
            </a:r>
          </a:p>
        </p:txBody>
      </p:sp>
      <p:sp>
        <p:nvSpPr>
          <p:cNvPr id="17" name="p15-s0">
            <a:extLst xmlns:a="http://schemas.openxmlformats.org/drawingml/2006/main">
              <a:ext uri="{FF2B5EF4-FFF2-40B4-BE49-F238E27FC236}">
                <a16:creationId xmlns:a16="http://schemas.microsoft.com/office/drawing/2014/main" id="{2C6D26BC-53AD-4F73-90C0-BCC7C591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1945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 范围与子问题</a:t>
            </a:r>
          </a:p>
        </p:txBody>
      </p:sp>
      <p:sp>
        <p:nvSpPr>
          <p:cNvPr id="18" name="p15-s1">
            <a:extLst xmlns:a="http://schemas.openxmlformats.org/drawingml/2006/main">
              <a:ext uri="{FF2B5EF4-FFF2-40B4-BE49-F238E27FC236}">
                <a16:creationId xmlns:a16="http://schemas.microsoft.com/office/drawing/2014/main" id="{C8C3F0FD-3D7D-4E7B-AA44-5EB09699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 直接证据</a:t>
            </a:r>
          </a:p>
        </p:txBody>
      </p:sp>
      <p:sp>
        <p:nvSpPr>
          <p:cNvPr id="19" name="p15-s2">
            <a:extLst xmlns:a="http://schemas.openxmlformats.org/drawingml/2006/main">
              <a:ext uri="{FF2B5EF4-FFF2-40B4-BE49-F238E27FC236}">
                <a16:creationId xmlns:a16="http://schemas.microsoft.com/office/drawing/2014/main" id="{482C44B8-8C67-4BB7-B3BE-3D069089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0050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  补充 / 对比 / 冲突</a:t>
            </a:r>
          </a:p>
        </p:txBody>
      </p:sp>
      <p:sp>
        <p:nvSpPr>
          <p:cNvPr id="20" name="p15-s3">
            <a:extLst xmlns:a="http://schemas.openxmlformats.org/drawingml/2006/main">
              <a:ext uri="{FF2B5EF4-FFF2-40B4-BE49-F238E27FC236}">
                <a16:creationId xmlns:a16="http://schemas.microsoft.com/office/drawing/2014/main" id="{F5E9A9FD-902D-4B40-9F42-B27A7ECD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  空白与下一步核验</a:t>
            </a:r>
          </a:p>
        </p:txBody>
      </p:sp>
      <p:sp>
        <p:nvSpPr>
          <p:cNvPr id="21" name="p15-bottom">
            <a:extLst xmlns:a="http://schemas.openxmlformats.org/drawingml/2006/main">
              <a:ext uri="{FF2B5EF4-FFF2-40B4-BE49-F238E27FC236}">
                <a16:creationId xmlns:a16="http://schemas.microsoft.com/office/drawing/2014/main" id="{333DD267-92C9-47F5-9694-2DFAB135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verified 与保留限定的 caveat 可进入四句草稿；pending 仅线索，rejected 仅审计。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演示判断点与失败演示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virtual">
            <a:extLst xmlns:a="http://schemas.openxmlformats.org/drawingml/2006/main">
              <a:ext uri="{FF2B5EF4-FFF2-40B4-BE49-F238E27FC236}">
                <a16:creationId xmlns:a16="http://schemas.microsoft.com/office/drawing/2014/main" id="{CEBB9ED0-0DAC-4C5C-9E5A-E8E13814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6-q0">
            <a:extLst xmlns:a="http://schemas.openxmlformats.org/drawingml/2006/main">
              <a:ext uri="{FF2B5EF4-FFF2-40B4-BE49-F238E27FC236}">
                <a16:creationId xmlns:a16="http://schemas.microsoft.com/office/drawing/2014/main" id="{A40E71E2-8186-425B-B141-15E77E80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1. 为什么按论文排列不算综述？</a:t>
            </a:r>
          </a:p>
        </p:txBody>
      </p:sp>
      <p:sp>
        <p:nvSpPr>
          <p:cNvPr id="8" name="p16-q1">
            <a:extLst xmlns:a="http://schemas.openxmlformats.org/drawingml/2006/main">
              <a:ext uri="{FF2B5EF4-FFF2-40B4-BE49-F238E27FC236}">
                <a16:creationId xmlns:a16="http://schemas.microsoft.com/office/drawing/2014/main" id="{D4AB4269-ACAE-4485-A3D2-A1ACA7BE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8122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2. 对比何时才构成冲突？</a:t>
            </a:r>
          </a:p>
        </p:txBody>
      </p:sp>
      <p:sp>
        <p:nvSpPr>
          <p:cNvPr id="9" name="p16-q2">
            <a:extLst xmlns:a="http://schemas.openxmlformats.org/drawingml/2006/main">
              <a:ext uri="{FF2B5EF4-FFF2-40B4-BE49-F238E27FC236}">
                <a16:creationId xmlns:a16="http://schemas.microsoft.com/office/drawing/2014/main" id="{E9B5CB3B-6FE9-4428-A4C9-85CCA86E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3. “我没找到”之后还要做什么？</a:t>
            </a:r>
          </a:p>
        </p:txBody>
      </p:sp>
      <p:sp>
        <p:nvSpPr>
          <p:cNvPr id="10" name="p16-q3">
            <a:extLst xmlns:a="http://schemas.openxmlformats.org/drawingml/2006/main">
              <a:ext uri="{FF2B5EF4-FFF2-40B4-BE49-F238E27FC236}">
                <a16:creationId xmlns:a16="http://schemas.microsoft.com/office/drawing/2014/main" id="{B000FE8A-7B78-42BD-A4DA-806E8408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4. AI 草稿何时只能算探索线索？</a:t>
            </a:r>
          </a:p>
        </p:txBody>
      </p:sp>
      <p:sp>
        <p:nvSpPr>
          <p:cNvPr id="11" name="p16-fail-h">
            <a:extLst xmlns:a="http://schemas.openxmlformats.org/drawingml/2006/main">
              <a:ext uri="{FF2B5EF4-FFF2-40B4-BE49-F238E27FC236}">
                <a16:creationId xmlns:a16="http://schemas.microsoft.com/office/drawing/2014/main" id="{3007672B-139A-4D2B-9993-F4266310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763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失败路径</a:t>
            </a:r>
          </a:p>
        </p:txBody>
      </p:sp>
      <p:sp>
        <p:nvSpPr>
          <p:cNvPr id="12" name="p16-f0">
            <a:extLst xmlns:a="http://schemas.openxmlformats.org/drawingml/2006/main">
              <a:ext uri="{FF2B5EF4-FFF2-40B4-BE49-F238E27FC236}">
                <a16:creationId xmlns:a16="http://schemas.microsoft.com/office/drawing/2014/main" id="{C41A62F9-DF40-4152-A035-DACB67A0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张卡交给 AI</a:t>
            </a:r>
          </a:p>
        </p:txBody>
      </p:sp>
      <p:sp>
        <p:nvSpPr>
          <p:cNvPr id="13" name="p16-fa0">
            <a:extLst xmlns:a="http://schemas.openxmlformats.org/drawingml/2006/main">
              <a:ext uri="{FF2B5EF4-FFF2-40B4-BE49-F238E27FC236}">
                <a16:creationId xmlns:a16="http://schemas.microsoft.com/office/drawing/2014/main" id="{A67FAAA8-67CA-4E64-BC16-950BB887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574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4" name="p16-f1">
            <a:extLst xmlns:a="http://schemas.openxmlformats.org/drawingml/2006/main">
              <a:ext uri="{FF2B5EF4-FFF2-40B4-BE49-F238E27FC236}">
                <a16:creationId xmlns:a16="http://schemas.microsoft.com/office/drawing/2014/main" id="{81E202E1-615D-44DE-BBA5-A83F0027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765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“共同支持”</a:t>
            </a:r>
          </a:p>
        </p:txBody>
      </p:sp>
      <p:sp>
        <p:nvSpPr>
          <p:cNvPr id="15" name="p16-fa1">
            <a:extLst xmlns:a="http://schemas.openxmlformats.org/drawingml/2006/main">
              <a:ext uri="{FF2B5EF4-FFF2-40B4-BE49-F238E27FC236}">
                <a16:creationId xmlns:a16="http://schemas.microsoft.com/office/drawing/2014/main" id="{F9C9E9A0-D648-4FC9-9954-F389D7F8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432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6" name="p16-f2">
            <a:extLst xmlns:a="http://schemas.openxmlformats.org/drawingml/2006/main">
              <a:ext uri="{FF2B5EF4-FFF2-40B4-BE49-F238E27FC236}">
                <a16:creationId xmlns:a16="http://schemas.microsoft.com/office/drawing/2014/main" id="{4F65E7B2-7AE8-4E53-8C9C-5A85B485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直接写入地图</a:t>
            </a:r>
          </a:p>
        </p:txBody>
      </p:sp>
      <p:sp>
        <p:nvSpPr>
          <p:cNvPr id="17" name="p16-fa2">
            <a:extLst xmlns:a="http://schemas.openxmlformats.org/drawingml/2006/main">
              <a:ext uri="{FF2B5EF4-FFF2-40B4-BE49-F238E27FC236}">
                <a16:creationId xmlns:a16="http://schemas.microsoft.com/office/drawing/2014/main" id="{5302034C-3195-4C7C-9344-E353EED1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29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8" name="p16-f3">
            <a:extLst xmlns:a="http://schemas.openxmlformats.org/drawingml/2006/main">
              <a:ext uri="{FF2B5EF4-FFF2-40B4-BE49-F238E27FC236}">
                <a16:creationId xmlns:a16="http://schemas.microsoft.com/office/drawing/2014/main" id="{E0283DFE-3E7B-4253-81A6-334E8FE7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481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 / 限定 / 来源消失</a:t>
            </a:r>
          </a:p>
        </p:txBody>
      </p:sp>
      <p:sp>
        <p:nvSpPr>
          <p:cNvPr id="19" name="p16-bottom">
            <a:extLst xmlns:a="http://schemas.openxmlformats.org/drawingml/2006/main">
              <a:ext uri="{FF2B5EF4-FFF2-40B4-BE49-F238E27FC236}">
                <a16:creationId xmlns:a16="http://schemas.microsoft.com/office/drawing/2014/main" id="{7AE20C0F-353E-4385-B449-3DB5DEEF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43500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失败不重跑到成功：保留原始输出，补上核验步骤。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个人实践：跑通一次综述结构重组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goal">
            <a:extLst xmlns:a="http://schemas.openxmlformats.org/drawingml/2006/main">
              <a:ext uri="{FF2B5EF4-FFF2-40B4-BE49-F238E27FC236}">
                <a16:creationId xmlns:a16="http://schemas.microsoft.com/office/drawing/2014/main" id="{BB379356-546F-44AF-AEE5-57AA32C7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本人真实问题优先；没有者使用课程虚构样例，但须改换子问题分解。</a:t>
            </a:r>
          </a:p>
        </p:txBody>
      </p:sp>
      <p:sp>
        <p:nvSpPr>
          <p:cNvPr id="7" name="p17-n0">
            <a:extLst xmlns:a="http://schemas.openxmlformats.org/drawingml/2006/main">
              <a:ext uri="{FF2B5EF4-FFF2-40B4-BE49-F238E27FC236}">
                <a16:creationId xmlns:a16="http://schemas.microsoft.com/office/drawing/2014/main" id="{08040C31-5717-48C6-96D9-9719EB7B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7-t0">
            <a:extLst xmlns:a="http://schemas.openxmlformats.org/drawingml/2006/main">
              <a:ext uri="{FF2B5EF4-FFF2-40B4-BE49-F238E27FC236}">
                <a16:creationId xmlns:a16="http://schemas.microsoft.com/office/drawing/2014/main" id="{10B84B73-57B5-4277-8700-304F6F54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 1 个子问题</a:t>
            </a:r>
          </a:p>
        </p:txBody>
      </p:sp>
      <p:sp>
        <p:nvSpPr>
          <p:cNvPr id="9" name="p17-n1">
            <a:extLst xmlns:a="http://schemas.openxmlformats.org/drawingml/2006/main">
              <a:ext uri="{FF2B5EF4-FFF2-40B4-BE49-F238E27FC236}">
                <a16:creationId xmlns:a16="http://schemas.microsoft.com/office/drawing/2014/main" id="{311AB97B-4260-45AF-8B9D-29D023C7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7-t1">
            <a:extLst xmlns:a="http://schemas.openxmlformats.org/drawingml/2006/main">
              <a:ext uri="{FF2B5EF4-FFF2-40B4-BE49-F238E27FC236}">
                <a16:creationId xmlns:a16="http://schemas.microsoft.com/office/drawing/2014/main" id="{610354E4-EE1E-4D17-A8F8-F9B79A10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取 2 张 verified / caveat 卡</a:t>
            </a:r>
          </a:p>
        </p:txBody>
      </p:sp>
      <p:sp>
        <p:nvSpPr>
          <p:cNvPr id="11" name="p17-n2">
            <a:extLst xmlns:a="http://schemas.openxmlformats.org/drawingml/2006/main">
              <a:ext uri="{FF2B5EF4-FFF2-40B4-BE49-F238E27FC236}">
                <a16:creationId xmlns:a16="http://schemas.microsoft.com/office/drawing/2014/main" id="{4F659AB6-191D-430E-A4E7-542503BE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7-t2">
            <a:extLst xmlns:a="http://schemas.openxmlformats.org/drawingml/2006/main">
              <a:ext uri="{FF2B5EF4-FFF2-40B4-BE49-F238E27FC236}">
                <a16:creationId xmlns:a16="http://schemas.microsoft.com/office/drawing/2014/main" id="{923F7FA5-962D-46B6-86E7-4A414F0B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填窄矩阵</a:t>
            </a:r>
          </a:p>
        </p:txBody>
      </p:sp>
      <p:sp>
        <p:nvSpPr>
          <p:cNvPr id="13" name="p17-n3">
            <a:extLst xmlns:a="http://schemas.openxmlformats.org/drawingml/2006/main">
              <a:ext uri="{FF2B5EF4-FFF2-40B4-BE49-F238E27FC236}">
                <a16:creationId xmlns:a16="http://schemas.microsoft.com/office/drawing/2014/main" id="{31A3CAE1-AF0E-4DAF-BDB0-EE000C91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7-t3">
            <a:extLst xmlns:a="http://schemas.openxmlformats.org/drawingml/2006/main">
              <a:ext uri="{FF2B5EF4-FFF2-40B4-BE49-F238E27FC236}">
                <a16:creationId xmlns:a16="http://schemas.microsoft.com/office/drawing/2014/main" id="{DE968F60-8282-4B1B-BEEF-EF7117D7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2 行证据地图</a:t>
            </a:r>
          </a:p>
        </p:txBody>
      </p:sp>
      <p:sp>
        <p:nvSpPr>
          <p:cNvPr id="15" name="p17-n4">
            <a:extLst xmlns:a="http://schemas.openxmlformats.org/drawingml/2006/main">
              <a:ext uri="{FF2B5EF4-FFF2-40B4-BE49-F238E27FC236}">
                <a16:creationId xmlns:a16="http://schemas.microsoft.com/office/drawing/2014/main" id="{5E359025-EF4A-44FC-8CFE-170C86BD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7-t4">
            <a:extLst xmlns:a="http://schemas.openxmlformats.org/drawingml/2006/main">
              <a:ext uri="{FF2B5EF4-FFF2-40B4-BE49-F238E27FC236}">
                <a16:creationId xmlns:a16="http://schemas.microsoft.com/office/drawing/2014/main" id="{CCF9A5C7-642F-4C8F-84FD-99CB5CE6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002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写四句 mini review</a:t>
            </a:r>
          </a:p>
        </p:txBody>
      </p:sp>
      <p:sp>
        <p:nvSpPr>
          <p:cNvPr id="17" name="p17-n5">
            <a:extLst xmlns:a="http://schemas.openxmlformats.org/drawingml/2006/main">
              <a:ext uri="{FF2B5EF4-FFF2-40B4-BE49-F238E27FC236}">
                <a16:creationId xmlns:a16="http://schemas.microsoft.com/office/drawing/2014/main" id="{2FB5BEA7-20BE-4C54-A667-27AE6063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479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p17-t5">
            <a:extLst xmlns:a="http://schemas.openxmlformats.org/drawingml/2006/main">
              <a:ext uri="{FF2B5EF4-FFF2-40B4-BE49-F238E27FC236}">
                <a16:creationId xmlns:a16="http://schemas.microsoft.com/office/drawing/2014/main" id="{41001266-D197-4392-B907-D7A3432E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812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留空白候选 + 候选题表述与路径标签</a:t>
            </a:r>
          </a:p>
        </p:txBody>
      </p:sp>
      <p:sp>
        <p:nvSpPr>
          <p:cNvPr id="19" name="p17-n6">
            <a:extLst xmlns:a="http://schemas.openxmlformats.org/drawingml/2006/main">
              <a:ext uri="{FF2B5EF4-FFF2-40B4-BE49-F238E27FC236}">
                <a16:creationId xmlns:a16="http://schemas.microsoft.com/office/drawing/2014/main" id="{7AEFD72F-5106-48FE-B616-014A744C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289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0" name="p17-t6">
            <a:extLst xmlns:a="http://schemas.openxmlformats.org/drawingml/2006/main">
              <a:ext uri="{FF2B5EF4-FFF2-40B4-BE49-F238E27FC236}">
                <a16:creationId xmlns:a16="http://schemas.microsoft.com/office/drawing/2014/main" id="{697B4E73-CEB5-4DD6-AD5A-A2E60525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623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保存并记录 AI 使用</a:t>
            </a:r>
          </a:p>
        </p:txBody>
      </p:sp>
      <p:sp>
        <p:nvSpPr>
          <p:cNvPr id="21" name="p17-time">
            <a:extLst xmlns:a="http://schemas.openxmlformats.org/drawingml/2006/main">
              <a:ext uri="{FF2B5EF4-FFF2-40B4-BE49-F238E27FC236}">
                <a16:creationId xmlns:a16="http://schemas.microsoft.com/office/drawing/2014/main" id="{E4071A9F-DD72-4BA5-AE7F-D3C4B8E4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1047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 分窄矩阵 → 7 分 2 行地图 → 8 分四句 → 6 分 AI 审计与保存；候选题记录并入空白处理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zone1-h">
            <a:extLst xmlns:a="http://schemas.openxmlformats.org/drawingml/2006/main">
              <a:ext uri="{FF2B5EF4-FFF2-40B4-BE49-F238E27FC236}">
                <a16:creationId xmlns:a16="http://schemas.microsoft.com/office/drawing/2014/main" id="{3E005B7B-70D7-4DAB-BF1E-4C5F87E8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144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1｜窄矩阵</a:t>
            </a:r>
          </a:p>
        </p:txBody>
      </p:sp>
      <p:sp>
        <p:nvSpPr>
          <p:cNvPr id="7" name="p18-zone1">
            <a:extLst xmlns:a="http://schemas.openxmlformats.org/drawingml/2006/main">
              <a:ext uri="{FF2B5EF4-FFF2-40B4-BE49-F238E27FC236}">
                <a16:creationId xmlns:a16="http://schemas.microsoft.com/office/drawing/2014/main" id="{74FB2184-E542-4FE6-92D1-FED62497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91440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 个子问题｜2 张 verified / caveat 阅读卡｜材料 × 子问题 × 角色</a:t>
            </a:r>
          </a:p>
        </p:txBody>
      </p:sp>
      <p:sp>
        <p:nvSpPr>
          <p:cNvPr id="8" name="p18-zone2-h">
            <a:extLst xmlns:a="http://schemas.openxmlformats.org/drawingml/2006/main">
              <a:ext uri="{FF2B5EF4-FFF2-40B4-BE49-F238E27FC236}">
                <a16:creationId xmlns:a16="http://schemas.microsoft.com/office/drawing/2014/main" id="{834908BF-F423-4BAA-B215-A1E9BC67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81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2｜证据地图</a:t>
            </a:r>
          </a:p>
        </p:txBody>
      </p:sp>
      <p:sp>
        <p:nvSpPr>
          <p:cNvPr id="9" name="p18-zone2">
            <a:extLst xmlns:a="http://schemas.openxmlformats.org/drawingml/2006/main">
              <a:ext uri="{FF2B5EF4-FFF2-40B4-BE49-F238E27FC236}">
                <a16:creationId xmlns:a16="http://schemas.microsoft.com/office/drawing/2014/main" id="{CE148717-8BD1-4FC0-B63F-43153E37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58115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只写 2 行：编号｜子问题｜材料｜原文位置｜主张｜角色｜局限｜四态</a:t>
            </a:r>
          </a:p>
        </p:txBody>
      </p:sp>
      <p:sp>
        <p:nvSpPr>
          <p:cNvPr id="10" name="p18-zone3-h">
            <a:extLst xmlns:a="http://schemas.openxmlformats.org/drawingml/2006/main">
              <a:ext uri="{FF2B5EF4-FFF2-40B4-BE49-F238E27FC236}">
                <a16:creationId xmlns:a16="http://schemas.microsoft.com/office/drawing/2014/main" id="{6BFBB51B-FB37-4FBC-BEE7-A466A367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47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3｜空白与候选题</a:t>
            </a:r>
          </a:p>
        </p:txBody>
      </p:sp>
      <p:sp>
        <p:nvSpPr>
          <p:cNvPr id="11" name="p18-zone3">
            <a:extLst xmlns:a="http://schemas.openxmlformats.org/drawingml/2006/main">
              <a:ext uri="{FF2B5EF4-FFF2-40B4-BE49-F238E27FC236}">
                <a16:creationId xmlns:a16="http://schemas.microsoft.com/office/drawing/2014/main" id="{BCF8B462-5864-45DD-BDD6-F1773CFA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4790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空白只留 1 条 pending + 下一次窄检索；候选题记表述 + 生成路径标签；题池与三步检验第 6 课前补齐</a:t>
            </a:r>
          </a:p>
        </p:txBody>
      </p:sp>
      <p:sp>
        <p:nvSpPr>
          <p:cNvPr id="12" name="p18-zone4-h">
            <a:extLst xmlns:a="http://schemas.openxmlformats.org/drawingml/2006/main">
              <a:ext uri="{FF2B5EF4-FFF2-40B4-BE49-F238E27FC236}">
                <a16:creationId xmlns:a16="http://schemas.microsoft.com/office/drawing/2014/main" id="{7CFEB303-4B33-4FB7-A742-DEA4D22E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146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4｜四句草稿</a:t>
            </a:r>
          </a:p>
        </p:txBody>
      </p:sp>
      <p:sp>
        <p:nvSpPr>
          <p:cNvPr id="13" name="p18-four0">
            <a:extLst xmlns:a="http://schemas.openxmlformats.org/drawingml/2006/main">
              <a:ext uri="{FF2B5EF4-FFF2-40B4-BE49-F238E27FC236}">
                <a16:creationId xmlns:a16="http://schemas.microsoft.com/office/drawing/2014/main" id="{9EDF69D6-5BFA-4864-B17B-1F97EBA9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① 范围与子问题</a:t>
            </a:r>
          </a:p>
        </p:txBody>
      </p:sp>
      <p:sp>
        <p:nvSpPr>
          <p:cNvPr id="14" name="p18-four1">
            <a:extLst xmlns:a="http://schemas.openxmlformats.org/drawingml/2006/main">
              <a:ext uri="{FF2B5EF4-FFF2-40B4-BE49-F238E27FC236}">
                <a16:creationId xmlns:a16="http://schemas.microsoft.com/office/drawing/2014/main" id="{674B87BD-2C9E-4E41-93B8-61C20489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② 直接证据</a:t>
            </a:r>
          </a:p>
        </p:txBody>
      </p:sp>
      <p:sp>
        <p:nvSpPr>
          <p:cNvPr id="15" name="p18-four2">
            <a:extLst xmlns:a="http://schemas.openxmlformats.org/drawingml/2006/main">
              <a:ext uri="{FF2B5EF4-FFF2-40B4-BE49-F238E27FC236}">
                <a16:creationId xmlns:a16="http://schemas.microsoft.com/office/drawing/2014/main" id="{5FF4AB65-B52F-4319-AA3F-3C0BCC43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③ 补充/对比/冲突</a:t>
            </a:r>
          </a:p>
        </p:txBody>
      </p:sp>
      <p:sp>
        <p:nvSpPr>
          <p:cNvPr id="16" name="p18-four3">
            <a:extLst xmlns:a="http://schemas.openxmlformats.org/drawingml/2006/main">
              <a:ext uri="{FF2B5EF4-FFF2-40B4-BE49-F238E27FC236}">
                <a16:creationId xmlns:a16="http://schemas.microsoft.com/office/drawing/2014/main" id="{BC2891B0-2D16-4178-911B-0E124FDA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④ 空白与下一步核验</a:t>
            </a:r>
          </a:p>
        </p:txBody>
      </p:sp>
      <p:sp>
        <p:nvSpPr>
          <p:cNvPr id="17" name="p18-work-h">
            <a:extLst xmlns:a="http://schemas.openxmlformats.org/drawingml/2006/main">
              <a:ext uri="{FF2B5EF4-FFF2-40B4-BE49-F238E27FC236}">
                <a16:creationId xmlns:a16="http://schemas.microsoft.com/office/drawing/2014/main" id="{52FF06A5-04D1-4B44-909C-103CCD02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27 分钟顺序</a:t>
            </a:r>
          </a:p>
        </p:txBody>
      </p:sp>
      <p:sp>
        <p:nvSpPr>
          <p:cNvPr id="18" name="p18-m0">
            <a:extLst xmlns:a="http://schemas.openxmlformats.org/drawingml/2006/main">
              <a:ext uri="{FF2B5EF4-FFF2-40B4-BE49-F238E27FC236}">
                <a16:creationId xmlns:a16="http://schemas.microsoft.com/office/drawing/2014/main" id="{661DD032-B81D-4755-94CC-BE610F3D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6′</a:t>
            </a:r>
          </a:p>
        </p:txBody>
      </p:sp>
      <p:sp>
        <p:nvSpPr>
          <p:cNvPr id="19" name="p18-p0">
            <a:extLst xmlns:a="http://schemas.openxmlformats.org/drawingml/2006/main">
              <a:ext uri="{FF2B5EF4-FFF2-40B4-BE49-F238E27FC236}">
                <a16:creationId xmlns:a16="http://schemas.microsoft.com/office/drawing/2014/main" id="{930BA31A-0DA5-48F4-AFDA-B5F670AB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矩阵</a:t>
            </a:r>
          </a:p>
        </p:txBody>
      </p:sp>
      <p:sp>
        <p:nvSpPr>
          <p:cNvPr id="20" name="p18-m1">
            <a:extLst xmlns:a="http://schemas.openxmlformats.org/drawingml/2006/main">
              <a:ext uri="{FF2B5EF4-FFF2-40B4-BE49-F238E27FC236}">
                <a16:creationId xmlns:a16="http://schemas.microsoft.com/office/drawing/2014/main" id="{63B2DEF3-6B1C-49F1-96B5-E927EFCE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7′</a:t>
            </a:r>
          </a:p>
        </p:txBody>
      </p:sp>
      <p:sp>
        <p:nvSpPr>
          <p:cNvPr id="21" name="p18-p1">
            <a:extLst xmlns:a="http://schemas.openxmlformats.org/drawingml/2006/main">
              <a:ext uri="{FF2B5EF4-FFF2-40B4-BE49-F238E27FC236}">
                <a16:creationId xmlns:a16="http://schemas.microsoft.com/office/drawing/2014/main" id="{3A39D139-32E9-45B2-BEA3-D78B4F1E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地图</a:t>
            </a:r>
          </a:p>
        </p:txBody>
      </p:sp>
      <p:sp>
        <p:nvSpPr>
          <p:cNvPr id="22" name="p18-m2">
            <a:extLst xmlns:a="http://schemas.openxmlformats.org/drawingml/2006/main">
              <a:ext uri="{FF2B5EF4-FFF2-40B4-BE49-F238E27FC236}">
                <a16:creationId xmlns:a16="http://schemas.microsoft.com/office/drawing/2014/main" id="{7DF102CD-64CF-4DAA-88E6-6F87BE30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8′</a:t>
            </a:r>
          </a:p>
        </p:txBody>
      </p:sp>
      <p:sp>
        <p:nvSpPr>
          <p:cNvPr id="23" name="p18-p2">
            <a:extLst xmlns:a="http://schemas.openxmlformats.org/drawingml/2006/main">
              <a:ext uri="{FF2B5EF4-FFF2-40B4-BE49-F238E27FC236}">
                <a16:creationId xmlns:a16="http://schemas.microsoft.com/office/drawing/2014/main" id="{C742B15E-D7BF-40DA-814D-4436FF9F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</a:t>
            </a:r>
          </a:p>
        </p:txBody>
      </p:sp>
      <p:sp>
        <p:nvSpPr>
          <p:cNvPr id="24" name="p18-m3">
            <a:extLst xmlns:a="http://schemas.openxmlformats.org/drawingml/2006/main">
              <a:ext uri="{FF2B5EF4-FFF2-40B4-BE49-F238E27FC236}">
                <a16:creationId xmlns:a16="http://schemas.microsoft.com/office/drawing/2014/main" id="{EE8EB258-8605-40EC-B36F-CD2F963F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6′</a:t>
            </a:r>
          </a:p>
        </p:txBody>
      </p:sp>
      <p:sp>
        <p:nvSpPr>
          <p:cNvPr id="25" name="p18-p3">
            <a:extLst xmlns:a="http://schemas.openxmlformats.org/drawingml/2006/main">
              <a:ext uri="{FF2B5EF4-FFF2-40B4-BE49-F238E27FC236}">
                <a16:creationId xmlns:a16="http://schemas.microsoft.com/office/drawing/2014/main" id="{34D09034-3378-40E4-881D-1A326FE3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审计/保存</a:t>
            </a:r>
          </a:p>
        </p:txBody>
      </p:sp>
      <p:sp>
        <p:nvSpPr>
          <p:cNvPr id="26" name="p18-log">
            <a:extLst xmlns:a="http://schemas.openxmlformats.org/drawingml/2006/main">
              <a:ext uri="{FF2B5EF4-FFF2-40B4-BE49-F238E27FC236}">
                <a16:creationId xmlns:a16="http://schemas.microsoft.com/office/drawing/2014/main" id="{3565A080-3FB2-4257-9557-570FF598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5770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 使用记录：工具/模型｜用途｜Context｜输出用途｜人工核验方式｜问题</a:t>
            </a:r>
          </a:p>
        </p:txBody>
      </p:sp>
      <p:sp>
        <p:nvSpPr>
          <p:cNvPr id="27" name="p18-save">
            <a:extLst xmlns:a="http://schemas.openxmlformats.org/drawingml/2006/main">
              <a:ext uri="{FF2B5EF4-FFF2-40B4-BE49-F238E27FC236}">
                <a16:creationId xmlns:a16="http://schemas.microsoft.com/office/drawing/2014/main" id="{ADF4E1AB-46D3-4151-ADD6-360AA125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课堂最低产出完成即可｜网络失败：用预录样例或纸面模板继续｜第 6 课前补齐三步空白检验与 ≥3 候选题池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同伴互查四问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n0">
            <a:extLst xmlns:a="http://schemas.openxmlformats.org/drawingml/2006/main">
              <a:ext uri="{FF2B5EF4-FFF2-40B4-BE49-F238E27FC236}">
                <a16:creationId xmlns:a16="http://schemas.microsoft.com/office/drawing/2014/main" id="{5E490602-6D45-4894-8F36-32705A6D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04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9-h0">
            <a:extLst xmlns:a="http://schemas.openxmlformats.org/drawingml/2006/main">
              <a:ext uri="{FF2B5EF4-FFF2-40B4-BE49-F238E27FC236}">
                <a16:creationId xmlns:a16="http://schemas.microsoft.com/office/drawing/2014/main" id="{40EEA8C9-34B4-4406-8382-EE0396FC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0287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问题组织</a:t>
            </a:r>
          </a:p>
        </p:txBody>
      </p:sp>
      <p:sp>
        <p:nvSpPr>
          <p:cNvPr id="8" name="p19-d0">
            <a:extLst xmlns:a="http://schemas.openxmlformats.org/drawingml/2006/main">
              <a:ext uri="{FF2B5EF4-FFF2-40B4-BE49-F238E27FC236}">
                <a16:creationId xmlns:a16="http://schemas.microsoft.com/office/drawing/2014/main" id="{CE954C1C-1D2F-4AE7-9CE7-B5CA999D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2870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矩阵列来自问题分解，还是论文关键词？</a:t>
            </a:r>
          </a:p>
        </p:txBody>
      </p:sp>
      <p:sp>
        <p:nvSpPr>
          <p:cNvPr id="9" name="p19-n1">
            <a:extLst xmlns:a="http://schemas.openxmlformats.org/drawingml/2006/main">
              <a:ext uri="{FF2B5EF4-FFF2-40B4-BE49-F238E27FC236}">
                <a16:creationId xmlns:a16="http://schemas.microsoft.com/office/drawing/2014/main" id="{803C3494-907D-4362-B230-2FB8F644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9-h1">
            <a:extLst xmlns:a="http://schemas.openxmlformats.org/drawingml/2006/main">
              <a:ext uri="{FF2B5EF4-FFF2-40B4-BE49-F238E27FC236}">
                <a16:creationId xmlns:a16="http://schemas.microsoft.com/office/drawing/2014/main" id="{90F44944-14D5-41AD-9BFD-266BD345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冲突边界</a:t>
            </a:r>
          </a:p>
        </p:txBody>
      </p:sp>
      <p:sp>
        <p:nvSpPr>
          <p:cNvPr id="11" name="p19-d1">
            <a:extLst xmlns:a="http://schemas.openxmlformats.org/drawingml/2006/main">
              <a:ext uri="{FF2B5EF4-FFF2-40B4-BE49-F238E27FC236}">
                <a16:creationId xmlns:a16="http://schemas.microsoft.com/office/drawing/2014/main" id="{2F9334BA-4505-4F88-A5F1-4D163222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任务不可比是否被误写成相反结论？</a:t>
            </a:r>
          </a:p>
        </p:txBody>
      </p:sp>
      <p:sp>
        <p:nvSpPr>
          <p:cNvPr id="12" name="p19-n2">
            <a:extLst xmlns:a="http://schemas.openxmlformats.org/drawingml/2006/main">
              <a:ext uri="{FF2B5EF4-FFF2-40B4-BE49-F238E27FC236}">
                <a16:creationId xmlns:a16="http://schemas.microsoft.com/office/drawing/2014/main" id="{A10B3ED1-62BE-4AFC-BB2A-C30E596C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9-h2">
            <a:extLst xmlns:a="http://schemas.openxmlformats.org/drawingml/2006/main">
              <a:ext uri="{FF2B5EF4-FFF2-40B4-BE49-F238E27FC236}">
                <a16:creationId xmlns:a16="http://schemas.microsoft.com/office/drawing/2014/main" id="{E64C5025-6BF1-4452-89C4-D4ECB261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空白与候选题</a:t>
            </a:r>
          </a:p>
        </p:txBody>
      </p:sp>
      <p:sp>
        <p:nvSpPr>
          <p:cNvPr id="14" name="p19-d2">
            <a:extLst xmlns:a="http://schemas.openxmlformats.org/drawingml/2006/main">
              <a:ext uri="{FF2B5EF4-FFF2-40B4-BE49-F238E27FC236}">
                <a16:creationId xmlns:a16="http://schemas.microsoft.com/office/drawing/2014/main" id="{BEE84EDA-5A10-49DF-BE16-C0E62AFC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7180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记录诚实吗？真实检索还是待核验？候选题标了生成路径吗？</a:t>
            </a:r>
          </a:p>
        </p:txBody>
      </p:sp>
      <p:sp>
        <p:nvSpPr>
          <p:cNvPr id="15" name="p19-n3">
            <a:extLst xmlns:a="http://schemas.openxmlformats.org/drawingml/2006/main">
              <a:ext uri="{FF2B5EF4-FFF2-40B4-BE49-F238E27FC236}">
                <a16:creationId xmlns:a16="http://schemas.microsoft.com/office/drawing/2014/main" id="{9506D6D2-3FD6-4649-B5AD-6DF38714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19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9-h3">
            <a:extLst xmlns:a="http://schemas.openxmlformats.org/drawingml/2006/main">
              <a:ext uri="{FF2B5EF4-FFF2-40B4-BE49-F238E27FC236}">
                <a16:creationId xmlns:a16="http://schemas.microsoft.com/office/drawing/2014/main" id="{7B740F7F-7730-493B-8D71-D6994AC9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四句追溯</a:t>
            </a:r>
          </a:p>
        </p:txBody>
      </p:sp>
      <p:sp>
        <p:nvSpPr>
          <p:cNvPr id="17" name="p19-d3">
            <a:extLst xmlns:a="http://schemas.openxmlformats.org/drawingml/2006/main">
              <a:ext uri="{FF2B5EF4-FFF2-40B4-BE49-F238E27FC236}">
                <a16:creationId xmlns:a16="http://schemas.microsoft.com/office/drawing/2014/main" id="{EF790F74-4BE8-4792-B393-640F25C8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每句话能回指 verified 条目吗？</a:t>
            </a:r>
          </a:p>
        </p:txBody>
      </p:sp>
      <p:sp>
        <p:nvSpPr>
          <p:cNvPr id="18" name="p19-author-h">
            <a:extLst xmlns:a="http://schemas.openxmlformats.org/drawingml/2006/main">
              <a:ext uri="{FF2B5EF4-FFF2-40B4-BE49-F238E27FC236}">
                <a16:creationId xmlns:a16="http://schemas.microsoft.com/office/drawing/2014/main" id="{B07763AA-1579-4137-A932-053583FE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095375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9" name="p19-s0">
            <a:extLst xmlns:a="http://schemas.openxmlformats.org/drawingml/2006/main">
              <a:ext uri="{FF2B5EF4-FFF2-40B4-BE49-F238E27FC236}">
                <a16:creationId xmlns:a16="http://schemas.microsoft.com/office/drawing/2014/main" id="{B435B581-30CD-4CDB-A929-17A7A928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5262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20" name="p19-s1">
            <a:extLst xmlns:a="http://schemas.openxmlformats.org/drawingml/2006/main">
              <a:ext uri="{FF2B5EF4-FFF2-40B4-BE49-F238E27FC236}">
                <a16:creationId xmlns:a16="http://schemas.microsoft.com/office/drawing/2014/main" id="{8026FA2E-BAD9-42BE-98EA-E7EB25CC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8607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21" name="p19-s2">
            <a:extLst xmlns:a="http://schemas.openxmlformats.org/drawingml/2006/main">
              <a:ext uri="{FF2B5EF4-FFF2-40B4-BE49-F238E27FC236}">
                <a16:creationId xmlns:a16="http://schemas.microsoft.com/office/drawing/2014/main" id="{FB7CE06F-4416-4BC0-983D-77CA26C0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1952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2" name="p19-bottom">
            <a:extLst xmlns:a="http://schemas.openxmlformats.org/drawingml/2006/main">
              <a:ext uri="{FF2B5EF4-FFF2-40B4-BE49-F238E27FC236}">
                <a16:creationId xmlns:a16="http://schemas.microsoft.com/office/drawing/2014/main" id="{92524481-E27C-413F-AA6B-5721E5CD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095875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6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in0">
            <a:extLst xmlns:a="http://schemas.openxmlformats.org/drawingml/2006/main">
              <a:ext uri="{FF2B5EF4-FFF2-40B4-BE49-F238E27FC236}">
                <a16:creationId xmlns:a16="http://schemas.microsoft.com/office/drawing/2014/main" id="{6A0DCDCD-03B3-43D9-AF99-28A71485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620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 mini review</a:t>
            </a:r>
          </a:p>
        </p:txBody>
      </p:sp>
      <p:sp>
        <p:nvSpPr>
          <p:cNvPr id="7" name="p20-a0">
            <a:extLst xmlns:a="http://schemas.openxmlformats.org/drawingml/2006/main">
              <a:ext uri="{FF2B5EF4-FFF2-40B4-BE49-F238E27FC236}">
                <a16:creationId xmlns:a16="http://schemas.microsoft.com/office/drawing/2014/main" id="{6C0FFE26-DDA5-4F93-926D-BCF9EA79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763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20-in1">
            <a:extLst xmlns:a="http://schemas.openxmlformats.org/drawingml/2006/main">
              <a:ext uri="{FF2B5EF4-FFF2-40B4-BE49-F238E27FC236}">
                <a16:creationId xmlns:a16="http://schemas.microsoft.com/office/drawing/2014/main" id="{32DBFB37-8FF1-4A8C-89EC-4251AB07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四视图证据地图</a:t>
            </a:r>
          </a:p>
        </p:txBody>
      </p:sp>
      <p:sp>
        <p:nvSpPr>
          <p:cNvPr id="9" name="p20-a1">
            <a:extLst xmlns:a="http://schemas.openxmlformats.org/drawingml/2006/main">
              <a:ext uri="{FF2B5EF4-FFF2-40B4-BE49-F238E27FC236}">
                <a16:creationId xmlns:a16="http://schemas.microsoft.com/office/drawing/2014/main" id="{62C2E18C-FA75-4F5A-B588-DCD1F391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in2">
            <a:extLst xmlns:a="http://schemas.openxmlformats.org/drawingml/2006/main">
              <a:ext uri="{FF2B5EF4-FFF2-40B4-BE49-F238E27FC236}">
                <a16:creationId xmlns:a16="http://schemas.microsoft.com/office/drawing/2014/main" id="{A23CB0DF-599C-4579-A52E-255C66D1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908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空白候选 + 候选题记录</a:t>
            </a:r>
          </a:p>
        </p:txBody>
      </p:sp>
      <p:sp>
        <p:nvSpPr>
          <p:cNvPr id="11" name="p20-a2">
            <a:extLst xmlns:a="http://schemas.openxmlformats.org/drawingml/2006/main">
              <a:ext uri="{FF2B5EF4-FFF2-40B4-BE49-F238E27FC236}">
                <a16:creationId xmlns:a16="http://schemas.microsoft.com/office/drawing/2014/main" id="{94740EC6-44A5-484C-B071-F3E51CD1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05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20-gate">
            <a:extLst xmlns:a="http://schemas.openxmlformats.org/drawingml/2006/main">
              <a:ext uri="{FF2B5EF4-FFF2-40B4-BE49-F238E27FC236}">
                <a16:creationId xmlns:a16="http://schemas.microsoft.com/office/drawing/2014/main" id="{FD8F51CA-48EF-4F86-BABE-8378405F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714500"/>
            <a:ext cx="4000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6 课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问题定义 + 第一性原理 + 问题门</a:t>
            </a:r>
          </a:p>
        </p:txBody>
      </p:sp>
      <p:sp>
        <p:nvSpPr>
          <p:cNvPr id="13" name="p20-check-h">
            <a:extLst xmlns:a="http://schemas.openxmlformats.org/drawingml/2006/main">
              <a:ext uri="{FF2B5EF4-FFF2-40B4-BE49-F238E27FC236}">
                <a16:creationId xmlns:a16="http://schemas.microsoft.com/office/drawing/2014/main" id="{6EE38912-F0BD-4520-860F-0AA71C34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066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14" name="p20-c0">
            <a:extLst xmlns:a="http://schemas.openxmlformats.org/drawingml/2006/main">
              <a:ext uri="{FF2B5EF4-FFF2-40B4-BE49-F238E27FC236}">
                <a16:creationId xmlns:a16="http://schemas.microsoft.com/office/drawing/2014/main" id="{1868F36D-DD80-438E-9F02-D3FC42C9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8097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哪一句仍缺直接证据？</a:t>
            </a:r>
          </a:p>
        </p:txBody>
      </p:sp>
      <p:sp>
        <p:nvSpPr>
          <p:cNvPr id="15" name="p20-c1">
            <a:extLst xmlns:a="http://schemas.openxmlformats.org/drawingml/2006/main">
              <a:ext uri="{FF2B5EF4-FFF2-40B4-BE49-F238E27FC236}">
                <a16:creationId xmlns:a16="http://schemas.microsoft.com/office/drawing/2014/main" id="{BC66C05C-312F-485D-809E-42C4C5EC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860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候选题的生成路径是什么？</a:t>
            </a:r>
          </a:p>
        </p:txBody>
      </p:sp>
      <p:sp>
        <p:nvSpPr>
          <p:cNvPr id="16" name="p20-c2">
            <a:extLst xmlns:a="http://schemas.openxmlformats.org/drawingml/2006/main">
              <a:ext uri="{FF2B5EF4-FFF2-40B4-BE49-F238E27FC236}">
                <a16:creationId xmlns:a16="http://schemas.microsoft.com/office/drawing/2014/main" id="{69DFE22F-2B37-49B1-B9AA-14F40FB1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5623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问题门还需补哪一项？</a:t>
            </a:r>
          </a:p>
        </p:txBody>
      </p:sp>
      <p:sp>
        <p:nvSpPr>
          <p:cNvPr id="17" name="p20-path">
            <a:extLst xmlns:a="http://schemas.openxmlformats.org/drawingml/2006/main">
              <a:ext uri="{FF2B5EF4-FFF2-40B4-BE49-F238E27FC236}">
                <a16:creationId xmlns:a16="http://schemas.microsoft.com/office/drawing/2014/main" id="{B3BCC540-0EC4-461E-91E2-701EAE00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009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 → mini review / 证据地图 → 候选题池 → 研究问题 → 可证伪命题</a:t>
            </a:r>
          </a:p>
        </p:txBody>
      </p:sp>
      <p:sp>
        <p:nvSpPr>
          <p:cNvPr id="18" name="p20-bottom">
            <a:extLst xmlns:a="http://schemas.openxmlformats.org/drawingml/2006/main">
              <a:ext uri="{FF2B5EF4-FFF2-40B4-BE49-F238E27FC236}">
                <a16:creationId xmlns:a16="http://schemas.microsoft.com/office/drawing/2014/main" id="{C6C282AA-5C2D-4A85-8343-D229D037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95875"/>
            <a:ext cx="790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本课不新增正式作业；继续回写同一个人项目。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2026-08-10T13:00:22.4310000Z</dcterms:created>
  <dcterms:modified xsi:type="dcterms:W3CDTF">2026-08-10T13:00:22.4310000Z</dcterms:modified>
</coreProperties>
</file>