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b642ab27424091" /><Relationship Type="http://schemas.openxmlformats.org/officeDocument/2006/relationships/extended-properties" Target="/docProps/app.xml" Id="R5e659db387d64561" /><Relationship Type="http://schemas.openxmlformats.org/officeDocument/2006/relationships/officeDocument" Target="/ppt/presentation.xml" Id="Recae00de54174c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a63d3fe350409e"/>
  </p:sldMasterIdLst>
  <p:notesMasterIdLst>
    <p:notesMasterId xmlns:r="http://schemas.openxmlformats.org/officeDocument/2006/relationships" r:id="R612c19c686934159"/>
  </p:notesMasterIdLst>
  <p:sldIdLst>
    <p:sldId xmlns:r="http://schemas.openxmlformats.org/officeDocument/2006/relationships" id="256" r:id="R9649f99960e342b6"/>
    <p:sldId xmlns:r="http://schemas.openxmlformats.org/officeDocument/2006/relationships" id="257" r:id="R7ab09648dcae4e2c"/>
    <p:sldId xmlns:r="http://schemas.openxmlformats.org/officeDocument/2006/relationships" id="258" r:id="R35d158310f9341ea"/>
    <p:sldId xmlns:r="http://schemas.openxmlformats.org/officeDocument/2006/relationships" id="259" r:id="R25143a4fe8f443f1"/>
    <p:sldId xmlns:r="http://schemas.openxmlformats.org/officeDocument/2006/relationships" id="260" r:id="Rc142dc4e023a48ac"/>
    <p:sldId xmlns:r="http://schemas.openxmlformats.org/officeDocument/2006/relationships" id="261" r:id="R71880d2e4c9646a6"/>
    <p:sldId xmlns:r="http://schemas.openxmlformats.org/officeDocument/2006/relationships" id="262" r:id="Rcab6dcab731b4f2f"/>
    <p:sldId xmlns:r="http://schemas.openxmlformats.org/officeDocument/2006/relationships" id="263" r:id="R53ede4fb4bd443bc"/>
    <p:sldId xmlns:r="http://schemas.openxmlformats.org/officeDocument/2006/relationships" id="264" r:id="R7d1c3f40b9df40d5"/>
    <p:sldId xmlns:r="http://schemas.openxmlformats.org/officeDocument/2006/relationships" id="265" r:id="R1637aae0e1e14b0e"/>
    <p:sldId xmlns:r="http://schemas.openxmlformats.org/officeDocument/2006/relationships" id="266" r:id="R84bb2a8b08f84f22"/>
    <p:sldId xmlns:r="http://schemas.openxmlformats.org/officeDocument/2006/relationships" id="267" r:id="Rfa01518a3d8f47bd"/>
    <p:sldId xmlns:r="http://schemas.openxmlformats.org/officeDocument/2006/relationships" id="268" r:id="Ra15aba55139344a3"/>
    <p:sldId xmlns:r="http://schemas.openxmlformats.org/officeDocument/2006/relationships" id="269" r:id="R91d3dba2af974f86"/>
    <p:sldId xmlns:r="http://schemas.openxmlformats.org/officeDocument/2006/relationships" id="270" r:id="R349e12c8bd4047c4"/>
    <p:sldId xmlns:r="http://schemas.openxmlformats.org/officeDocument/2006/relationships" id="271" r:id="Rd1c03b2e38e34342"/>
    <p:sldId xmlns:r="http://schemas.openxmlformats.org/officeDocument/2006/relationships" id="272" r:id="R85dbad84e8b04cb4"/>
    <p:sldId xmlns:r="http://schemas.openxmlformats.org/officeDocument/2006/relationships" id="273" r:id="R9e083a1a0d8c48fe"/>
    <p:sldId xmlns:r="http://schemas.openxmlformats.org/officeDocument/2006/relationships" id="274" r:id="R18d168bbd7db4dd4"/>
    <p:sldId xmlns:r="http://schemas.openxmlformats.org/officeDocument/2006/relationships" id="275" r:id="R8b92ca54731049af"/>
    <p:sldId xmlns:r="http://schemas.openxmlformats.org/officeDocument/2006/relationships" id="276" r:id="R3dcd0e37bed646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5820851f594511" /><Relationship Type="http://schemas.openxmlformats.org/officeDocument/2006/relationships/slideMaster" Target="/ppt/slideMasters/slideMaster1.xml" Id="R06a63d3fe350409e" /><Relationship Type="http://schemas.openxmlformats.org/officeDocument/2006/relationships/notesMaster" Target="/ppt/notesMasters/notesMaster1.xml" Id="R612c19c686934159" /><Relationship Type="http://schemas.openxmlformats.org/officeDocument/2006/relationships/presProps" Target="/ppt/presProps.xml" Id="Rf81c7c583d754586" /><Relationship Type="http://schemas.openxmlformats.org/officeDocument/2006/relationships/viewProps" Target="/ppt/viewProps.xml" Id="Ra058dc182b274b32" /><Relationship Type="http://schemas.openxmlformats.org/officeDocument/2006/relationships/tableStyles" Target="/ppt/tableStyles.xml" Id="Ra0dbe7c0c522489e" /><Relationship Type="http://schemas.openxmlformats.org/officeDocument/2006/relationships/slide" Target="/ppt/slides/slide1.xml" Id="R9649f99960e342b6" /><Relationship Type="http://schemas.openxmlformats.org/officeDocument/2006/relationships/slide" Target="/ppt/slides/slide2.xml" Id="R7ab09648dcae4e2c" /><Relationship Type="http://schemas.openxmlformats.org/officeDocument/2006/relationships/slide" Target="/ppt/slides/slide3.xml" Id="R35d158310f9341ea" /><Relationship Type="http://schemas.openxmlformats.org/officeDocument/2006/relationships/slide" Target="/ppt/slides/slide4.xml" Id="R25143a4fe8f443f1" /><Relationship Type="http://schemas.openxmlformats.org/officeDocument/2006/relationships/slide" Target="/ppt/slides/slide5.xml" Id="Rc142dc4e023a48ac" /><Relationship Type="http://schemas.openxmlformats.org/officeDocument/2006/relationships/slide" Target="/ppt/slides/slide6.xml" Id="R71880d2e4c9646a6" /><Relationship Type="http://schemas.openxmlformats.org/officeDocument/2006/relationships/slide" Target="/ppt/slides/slide7.xml" Id="Rcab6dcab731b4f2f" /><Relationship Type="http://schemas.openxmlformats.org/officeDocument/2006/relationships/slide" Target="/ppt/slides/slide8.xml" Id="R53ede4fb4bd443bc" /><Relationship Type="http://schemas.openxmlformats.org/officeDocument/2006/relationships/slide" Target="/ppt/slides/slide9.xml" Id="R7d1c3f40b9df40d5" /><Relationship Type="http://schemas.openxmlformats.org/officeDocument/2006/relationships/slide" Target="/ppt/slides/slide10.xml" Id="R1637aae0e1e14b0e" /><Relationship Type="http://schemas.openxmlformats.org/officeDocument/2006/relationships/slide" Target="/ppt/slides/slide11.xml" Id="R84bb2a8b08f84f22" /><Relationship Type="http://schemas.openxmlformats.org/officeDocument/2006/relationships/slide" Target="/ppt/slides/slide12.xml" Id="Rfa01518a3d8f47bd" /><Relationship Type="http://schemas.openxmlformats.org/officeDocument/2006/relationships/slide" Target="/ppt/slides/slide13.xml" Id="Ra15aba55139344a3" /><Relationship Type="http://schemas.openxmlformats.org/officeDocument/2006/relationships/slide" Target="/ppt/slides/slide14.xml" Id="R91d3dba2af974f86" /><Relationship Type="http://schemas.openxmlformats.org/officeDocument/2006/relationships/slide" Target="/ppt/slides/slide15.xml" Id="R349e12c8bd4047c4" /><Relationship Type="http://schemas.openxmlformats.org/officeDocument/2006/relationships/slide" Target="/ppt/slides/slide16.xml" Id="Rd1c03b2e38e34342" /><Relationship Type="http://schemas.openxmlformats.org/officeDocument/2006/relationships/slide" Target="/ppt/slides/slide17.xml" Id="R85dbad84e8b04cb4" /><Relationship Type="http://schemas.openxmlformats.org/officeDocument/2006/relationships/slide" Target="/ppt/slides/slide18.xml" Id="R9e083a1a0d8c48fe" /><Relationship Type="http://schemas.openxmlformats.org/officeDocument/2006/relationships/slide" Target="/ppt/slides/slide19.xml" Id="R18d168bbd7db4dd4" /><Relationship Type="http://schemas.openxmlformats.org/officeDocument/2006/relationships/slide" Target="/ppt/slides/slide20.xml" Id="R8b92ca54731049af" /><Relationship Type="http://schemas.openxmlformats.org/officeDocument/2006/relationships/slide" Target="/ppt/slides/slide21.xml" Id="R3dcd0e37bed646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ba4a44204449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41c26fcc924e75" /><Relationship Type="http://schemas.openxmlformats.org/officeDocument/2006/relationships/notesMaster" Target="/ppt/notesMasters/notesMaster1.xml" Id="Rdb13a75804ed45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d183ba8ae445b5" /><Relationship Type="http://schemas.openxmlformats.org/officeDocument/2006/relationships/notesMaster" Target="/ppt/notesMasters/notesMaster1.xml" Id="Rb04b8f649d114c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f3889a8ccc4087" /><Relationship Type="http://schemas.openxmlformats.org/officeDocument/2006/relationships/notesMaster" Target="/ppt/notesMasters/notesMaster1.xml" Id="R5b48e83bcd544a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539986bde64dec" /><Relationship Type="http://schemas.openxmlformats.org/officeDocument/2006/relationships/notesMaster" Target="/ppt/notesMasters/notesMaster1.xml" Id="R2f9834ef80a646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0c4a3aa4ee452c" /><Relationship Type="http://schemas.openxmlformats.org/officeDocument/2006/relationships/notesMaster" Target="/ppt/notesMasters/notesMaster1.xml" Id="R7efef190bd1a48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92f88a823d4dcf" /><Relationship Type="http://schemas.openxmlformats.org/officeDocument/2006/relationships/notesMaster" Target="/ppt/notesMasters/notesMaster1.xml" Id="Re6ee27e1d4a443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d151cdbe66462f" /><Relationship Type="http://schemas.openxmlformats.org/officeDocument/2006/relationships/notesMaster" Target="/ppt/notesMasters/notesMaster1.xml" Id="R4207ee0874f643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ac05729b184e5c" /><Relationship Type="http://schemas.openxmlformats.org/officeDocument/2006/relationships/notesMaster" Target="/ppt/notesMasters/notesMaster1.xml" Id="R1af7e6f3e7274a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62c30c2a044eca" /><Relationship Type="http://schemas.openxmlformats.org/officeDocument/2006/relationships/notesMaster" Target="/ppt/notesMasters/notesMaster1.xml" Id="R2e7b0fa70d0344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b22d6148a54495" /><Relationship Type="http://schemas.openxmlformats.org/officeDocument/2006/relationships/notesMaster" Target="/ppt/notesMasters/notesMaster1.xml" Id="R1c7415653bcc46a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7c779fd81a94814" /><Relationship Type="http://schemas.openxmlformats.org/officeDocument/2006/relationships/notesMaster" Target="/ppt/notesMasters/notesMaster1.xml" Id="Rca4ff7fae63346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843b6b9240e4d21" /><Relationship Type="http://schemas.openxmlformats.org/officeDocument/2006/relationships/notesMaster" Target="/ppt/notesMasters/notesMaster1.xml" Id="Rf05e3bfd334240e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c303b1ff1794c8e" /><Relationship Type="http://schemas.openxmlformats.org/officeDocument/2006/relationships/notesMaster" Target="/ppt/notesMasters/notesMaster1.xml" Id="R41dd8895cdc141b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da3d61c620a4984" /><Relationship Type="http://schemas.openxmlformats.org/officeDocument/2006/relationships/notesMaster" Target="/ppt/notesMasters/notesMaster1.xml" Id="Re7267ab8169f479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54db7d05a994a99" /><Relationship Type="http://schemas.openxmlformats.org/officeDocument/2006/relationships/notesMaster" Target="/ppt/notesMasters/notesMaster1.xml" Id="R65194b6dc46742a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0ffc591080e4132" /><Relationship Type="http://schemas.openxmlformats.org/officeDocument/2006/relationships/notesMaster" Target="/ppt/notesMasters/notesMaster1.xml" Id="Rb8284ddc810e4a7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2c13953bbaf4ba9" /><Relationship Type="http://schemas.openxmlformats.org/officeDocument/2006/relationships/notesMaster" Target="/ppt/notesMasters/notesMaster1.xml" Id="Rbb99f543f5264a1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2b90237e7034d1a" /><Relationship Type="http://schemas.openxmlformats.org/officeDocument/2006/relationships/notesMaster" Target="/ppt/notesMasters/notesMaster1.xml" Id="Rb4a3760bf6824a7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a723ce505ed46e0" /><Relationship Type="http://schemas.openxmlformats.org/officeDocument/2006/relationships/notesMaster" Target="/ppt/notesMasters/notesMaster1.xml" Id="R8693b8fa1dea454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f6aef35a98d49ed" /><Relationship Type="http://schemas.openxmlformats.org/officeDocument/2006/relationships/notesMaster" Target="/ppt/notesMasters/notesMaster1.xml" Id="Rf977faf992e9493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5f5e00a88e84a72" /><Relationship Type="http://schemas.openxmlformats.org/officeDocument/2006/relationships/notesMaster" Target="/ppt/notesMasters/notesMaster1.xml" Id="Rd676a149558b40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页面：P01 第5讲 综述、证据地图与研究空白识别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开场放下论文清单。本课要处理的是：当第 4 课已经完成了结构化阅读卡、每条主张都能定位到原文之后，把多篇阅读卡摆在一起时，研究者常犯的错误是按论文顺序拼接摘要，得到一份"读书报告"而不是综述。本课把阅读卡重组为按研究问题排列的证据地图，并向第 6 课问题门输出研究空白候选。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不展开课程行政信息，直接进入下一页回扣。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课程定位以 [syllabus.md](../../course/syllabus.md) 与 [备课规划.md](../备课规划.md) 第 5 课段为准。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页面：P02 第 4 课之后，阅读卡为什么仍不算综述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回扣第 4 课：阅读卡让每条主张可定位、可核验，但没有解决多篇文献之间的关系问题。本课进入阶段五，处理"材料一起说明了什么、缺了什么"。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快问：你目前有几张完整阅读卡？把它们按论文顺序排列时，能否一眼看出冲突和缺口？只听回答，不评价。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回扣第 3-4 课讲义与 [AGENTS.md](../../AGENTS.md) 证据标准。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页面：P03 结果相反，是否构成冲突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先独立作答，再同伴比较；以下依据只在校准时揭示。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A/B 方向不同但对象与评分条件不同，不能直接断言同条件冲突；可能是结构效应、测量偏差或二者共同作用。C 只证明一次窄检索无结果。好答案同时指出已见差异与未排除解释，给出能改变结论的最小证据，而不是一律回答证据不足。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先独立写决定和证据，后同伴比较；校准后再回写。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[备课规划.md](../备课规划.md) 第 5 课目标段；[assignments.md](../../course/assignments.md) 第 6 课问题门条件。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handout.md、judgment-task.md；../../course/judgment-path.md。教学构造仅用于方法判断；本人结果以实际记录为准。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页面：P04 摘要堆叠为什么不算综述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暴露常见错误。摘要堆叠的根本原因是没有把综述组织在一个研究问题周围。没有问题，就无法判断哪条证据支持什么、反驳什么、缺失什么。下面几页来看怎样从研究问题出发重组阅读卡。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请学生举手：你是否曾经把多篇阅读卡摘要按顺序拼接成"综述"？只统计，不点名。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§二·1 与 §六 常见错误；[AGENTS.md](../../AGENTS.md) 证据标准。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页面：P05 叙事性综述与系统性综述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计算机与 AI 研究中叙事性综述更常见，但系统性综述的方法约束（预先写检索式、记录命中数、显式纳入排除）可以显著降低选择性偏倚。本课不要求做完整 SLR，但要求借鉴其可复盘逻辑：综述的纳入、排除和组织方式必须能让同伴复盘你为什么这样组织。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让学生指出：你之前写的综述更接近哪一种？它过程可复盘吗？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Kitchenham &amp; Charters, *SLR Guidelines*, EBSE-2007-01, 2007. 选读 study quality assessment、data extraction 和 synthesis（[reading-list.md](../../course/reading-list.md) 第 5 课）。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页面：P06 空白单元格还不是研究空白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先让学生判断“空格能否证明没人做”。预期回答是不能，需要检索范围与筛选依据。若答“直接生成选题”，让其指出支持不存在的证据。转入候选问题前，先补一条可复盘的检索动作。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在一个空格旁写：已查什么、还缺什么。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./handout.md；本页课堂判断示例不作实证结论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页面：P07 证据地图：从文献角色到问题门四视图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第 3 课给了候选文献角色（主证据/补充/对比/探索线索）；问题门检查的是证据地图能否区分直接证据、补充证据、冲突和空白。主证据只有直接回答当前子问题时才进入直接证据视图。对比证据先记录替代解释、反例或不可比边界；只有问题、条件和指标可比且结论相反时才形成冲突。探索线索（含 AI 综述草稿、博客、issue）不进入主格。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字段说明（压备注，不上屏显）：原文位置沿用第 4 课阅读卡的定位要求；`pending` 只留线索区；`verified` 可进主格；`verified-with-caveat` 可进主格，但必须保留限定且不得单独支撑 `stable`；`rejected` 仅留审计记录。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让学生指出：你目前的材料里，哪条是主证据？哪条是对比证据？有没有冲突被你悄悄取舍过？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§三·1 证据地图四视图、§三·2 最小字段、§三·3；[assignments.md](../../course/assignments.md) Checkpoint 1；[AGENTS.md](../../AGENTS.md) 证据标准；第 4 课阅读卡定位要求。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页面：P08 研究空白三类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研究空白必须能被表述为：在某个具体条件、对照或机制下，已有证据不能回答的问题，并且这个问题值得回答、能在课程周期内做出最小验证。三类空白的识别方法不同：冲突空白看地图里同一子问题是否有相反回答；缺角空白看矩阵是否有整列空白；新问题空白从对比证据的局限或第一性原理反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让学生指出：你目前的矩阵里，哪一列最可能是空白候选？属于哪一类？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§四·2 三类研究空白。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页面：P09 问题生成路径与候选题池：不要停在文献空白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上一页的三类空白都是文献驱动路径的产物。如果问题只从"关键词 → 找论文 → 找空白"产生，项目容易在文献既有框架里打转。Qian 总结的六种构思模式（填空、扩展、造锤找钉、小处泛化、复现前作、外部来源）里，"表格空位"只是其中一种。本课结束前把空白候选与非文献路径候选集中为候选题池：≥3 个候选、覆盖 ≥2 条路径、≥1 个来自异常观察或实践痛点；当堂最低只记 1 个候选题的表述与路径标签，完整题池与三步检验一样第 6 课前补齐，第 6 课用四维选题标准卡比较筛选。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请学生回答：除文献空白外，你见过的问题来自哪条生成路径？只听回答，不评价。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§四·1、§四·4；Qian, Z. *How to Look for Ideas in Computer Science Research*（第 5 课课堂案例，六种构思模式）。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页面：P10 三步检验：从证据空白到可检验问题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研究空白候选不直接进入问题门，要先经过三步检验。真实性检验用窄检索（沿用第 3 课检索式构造方法），记录检索式、库、日期和命中数。重要性来自空白在论证链上的位置，不是因为它"新"。可行性判断课程周期内能否最小验证——如果不能，它可能是真实空白但不是本课项目可做的空白。通过三步检验的候选，进入问题门材料的"研究空白候选"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让学生用自己的一个空白候选，口头尝试三步检验。哪一步它最可能不通过？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§四·3 三步检验；Qian, *How to Look for Ideas in CS Research*（课堂案例，"表格空位"不自动证明问题重要或真实）。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页面：P11 不是空白的情况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不是所有"还没人做过"都算研究空白。表述差异要回到操作定义判断；范围差异不是冲突而是不可比；工程未做要回到机制层面判断是否只是工程任务；新但不重要要有机制假设更新，否则只是增量。这一页防止学生把表述换新或工程未做误判为研究空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让学生举一个"看似空白但实际不是"的例子。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§四·5 不是空白的情况。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页面：P12 AI 综述草稿核验清单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核验清单逐条讲，不留作"课后自学"。AI 可以在综述阶段抽取共同主张、聚类子问题、提示冲突或缺角、草拟段落，但所有产出只能作为草稿或线索。AI 不能替代研究者判断哪条主张属于主证据，不能自动判定冲突是否实质，不能把"我没找到"升级为"领域空白"，不能给出未经核验的引文和页码。状态标签是证据地图的字段，不是课后才学。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无。直接进入演示。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§五 AI 辅助归纳的核验；AI 输出不构成证据（[AGENTS.md](../../AGENTS.md)）；沿用第 3 课来源审计清单。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页面：P13 MI 演示：5 条主张 → 相关工作矩阵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五条均已完成 claim-level 核验，但来自不同设置。演示重点是按子问题分配角色，并携带 caveat，不把跨论文结果合成效应量。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请学生判断：C16 是 C02 的直接冲突，还是对“可解释→可控制”推断的限制？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[mi-evidence-map-demo.md](./mi-evidence-map-demo.md)；MI-C02/C05/C16/C18/C31 原文位置见 [MI trace](../lesson-03/mi-search-trace-demo.md) §5。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页面：P14 MI 演示：支持、限制、冲突与空白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强调支持、限制和效度威胁可同时成立。C16/C31 不抹掉 C02 的观察结果，而是限制它能推出的结论。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让学生指出：哪一项缺失证据最直接对应 C31 的替代解释？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[mi-evidence-map-demo.md](./mi-evidence-map-demo.md)；图源与许可见 [assets/README.md](./assets/README.md)。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页面：P15 MI 演示：四句受限 mini review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逐句检查范围是否随主张移动。尤其不能把 C16/C31 的方法论限制改写成“C02 失败”，也不能把 C05 的外部支持写成同任务复现。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让学生指出：哪一句若删掉模型/任务限定，会发生最大程度的过度概括？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[mi-evidence-map-demo.md](./mi-evidence-map-demo.md)；状态判定见 [material-contracts.md](../../references/material-contracts.md)。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页面：P16 局限不等于论文之间发生冲突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不要把自己的误读包装成文献冲突。用本课现有原文定位逐句对照，分开原文结果、未测量项和我们的越界推断。若学生认为“没有验证就是反驳”，追问原文是否真的观察到了相反结果。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把原误写句移到局限或待验证栏，保留原文位置。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./handout.md；本页课堂判断示例不作实证结论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页面：P17 本人项目：决定、核验与回写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第一段作决定并查证据；中点处理共性卡点；第二段实际回写并验证。A/B 方向不同但对象与评分条件不同，不能直接断言同条件冲突；可能是结构效应、测量偏差或二者共同作用。C 只证明一次窄检索无结果。好答案同时指出已见差异与未排除解释，给出能改变结论的最小证据，而不是一律回答证据不足。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把已有卡与第二项来源按相同主张对齐，完成第二张精读卡；在同一矩阵标条件差异、支持/冲突和缺证，写一段受限综合与候选问题。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[starter-template.md](../../course/starter-template.md) 最小文件结构；第 3-4 课项目工件。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handout.md、judgment-task.md；../../course/judgment-path.md。教学构造仅用于方法判断；本人结果以实际记录为准。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页面：P18 实践停留页：模板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模板投屏停留。学生当堂完成窄矩阵、2 条主格、4 句草稿和 1 条 AI 记录。空白候选只记类型、pending 和下一步；候选题只记表述与路径标签，三步完整检验与 ≥3 候选题池课后补齐。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完成两段个人实践与中点点评；学生只输入一次共享记录，矩阵和地图不重复搬写。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§二·3 矩阵；§三·2 证据地图；§四·3 三步检验；§四·4 候选题池；§五·3 AI 使用记录字段。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页面：P19 同伴互查四问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每人约 3-5 分钟：一人用 45 秒说明问题、矩阵和四句草稿；同伴按四问反馈；作者记录处理决定。反馈者不替代作者修改，不形成共同提交。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两人互查。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同伴反馈为形成性活动，不单独计分，不共同提交（[assignments.md](../../course/assignments.md)）。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页面：P20 本讲知识点总结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文献地图不能替代数据可用性检查。RSI 的 DASH 五轮 CSV 与工作表各 320 行，README 报告 258 次实验，映射未决；不要把行数当独立样本数。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回收本讲主链：从按问题组织材料开始，经证据地图显式保留支持、限制和空白，再写受限综合并形成待检验候选题。本页不重复作业说明，也不引入新内容。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学生用一句话指出自己的材料目前停在矩阵、证据地图、mini review 还是候选题。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§二-§五；[AGENTS.md](../../AGENTS.md) 证据标准。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页面：P21 保留本课决定，准备下一课输入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完善第二张卡、给第三项来源标两个原文位置；候选列表按同一筛选理由累计。 每课课外最多60分钟；详见讲义。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定位实际工件与下一项动作；按既定预算收口。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Kitchenham, B., &amp; Charters, S. EBSE-2007-01, 2007. [机构索引](https://ebse.webspace.durham.ac.uk/ebse-bibliography/guidelines-for-performing-systematic-literature-reviews-in-software-engineering/)。</a:t>
            </a:r>
          </a:p>
          <a:p xmlns:a="http://schemas.openxmlformats.org/drawingml/2006/main">
            <a:r>
              <a:t>- Booth, W. C. et al. *The Craft of Research*, 5th ed. [出版社页面](https://press.uchicago.edu/ucp/books/book/chicago/C/bo215874008)。</a:t>
            </a:r>
          </a:p>
          <a:p xmlns:a="http://schemas.openxmlformats.org/drawingml/2006/main">
            <a:r>
              <a:t>- Pautasso, M. *PLOS Comput Biol* 9(7):e1003149 (2013). DOI: [10.1371/journal.pcbi.1003149](https://journals.plos.org/ploscompbiol/article?id=10.1371/journal.pcbi.1003149)。</a:t>
            </a:r>
          </a:p>
          <a:p xmlns:a="http://schemas.openxmlformats.org/drawingml/2006/main">
            <a:r>
              <a:t>- 阅读规则见 [reading-list.md](../../course/reading-list.md)。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handout.md、judgment-task.md；../../course/judgment-path.md。教学构造仅用于方法判断；本人结果以实际记录为准。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757a7eec724faa" /><Relationship Type="http://schemas.openxmlformats.org/officeDocument/2006/relationships/image" Target="/ppt/media/image.png" Id="R69d4c682c8da404a" /><Relationship Type="http://schemas.openxmlformats.org/officeDocument/2006/relationships/image" Target="/ppt/media/image2.png" Id="R265d9c6200d445fc" /><Relationship Type="http://schemas.openxmlformats.org/officeDocument/2006/relationships/image" Target="/ppt/media/image3.png" Id="Raa7c2c4409a544e5" /><Relationship Type="http://schemas.openxmlformats.org/officeDocument/2006/relationships/image" Target="/ppt/media/image4.png" Id="R856949d433d649c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c4cdef676f44f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ab2909147e464f" /><Relationship Type="http://schemas.openxmlformats.org/officeDocument/2006/relationships/image" Target="/ppt/media/image2.png" Id="R2a2cf430bb6d4a5f" /><Relationship Type="http://schemas.openxmlformats.org/officeDocument/2006/relationships/image" Target="/ppt/media/image5.png" Id="R2d29836b858f445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6e5da4de5a491f" /><Relationship Type="http://schemas.openxmlformats.org/officeDocument/2006/relationships/image" Target="/ppt/media/image.png" Id="R633f70afbc4a490c" /><Relationship Type="http://schemas.openxmlformats.org/officeDocument/2006/relationships/image" Target="/ppt/media/image3.png" Id="Rf7736d28d4bb45ea" /></Relationships>
</file>

<file path=ppt/slideLayouts/slideLayout1.xml><?xml version="1.0" encoding="utf-8"?>
<p:sldLayout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4c682c8da404a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22" name="标题 1">
            <a:extLst xmlns:a="http://schemas.openxmlformats.org/drawingml/2006/main"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69561" y="2016174"/>
            <a:ext cx="10052879" cy="1060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54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单击此处编辑标题样式</a:t>
            </a:r>
          </a:p>
        </p:txBody>
      </p:sp>
      <p:sp>
        <p:nvSpPr>
          <p:cNvPr id="26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4644345" y="5196924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fld id="{DE506FFD-8B27-444A-964F-E64D0BB3DAF0}" type="datetime2">
              <a:t>2019年1月28日</a:t>
            </a:fld>
            <a:endParaRPr/>
          </a:p>
        </p:txBody>
      </p:sp>
      <p:sp>
        <p:nvSpPr>
          <p:cNvPr id="32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034910" y="4407403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50" name="图片 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65d9c6200d445fc"/>
          <a:srcRect xmlns:a="http://schemas.openxmlformats.org/drawingml/2006/main" l="74359" t="0" r="1346" b="0"/>
          <a:stretch xmlns:a="http://schemas.openxmlformats.org/drawingml/2006/main"/>
        </p:blipFill>
        <p:spPr>
          <a:xfrm xmlns:a="http://schemas.openxmlformats.org/drawingml/2006/main">
            <a:off x="8870172" y="274183"/>
            <a:ext cx="3002280" cy="411617"/>
          </a:xfrm>
          <a:prstGeom xmlns:a="http://schemas.openxmlformats.org/drawingml/2006/main" prst="rect">
            <a:avLst/>
          </a:prstGeom>
        </p:spPr>
      </p:pic>
      <p:pic>
        <p:nvPicPr>
          <p:cNvPr id="51" name="图片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a7c2c4409a544e5">
            <a:alphaModFix amt="35000"/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 rot="0" flipH="0" flipV="0">
            <a:off x="3352562" y="6244170"/>
            <a:ext cx="5486876" cy="406590"/>
          </a:xfrm>
          <a:prstGeom xmlns:a="http://schemas.openxmlformats.org/drawingml/2006/main" prst="rect">
            <a:avLst/>
          </a:prstGeom>
        </p:spPr>
      </p:pic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53D809C0-A4EF-44AF-AECA-4A85E4BA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51000" y="6430138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31F7CAE3-0209-4DA4-9A92-731CC272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85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B3FF25BF-0A81-4E7C-A868-79A201F0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33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84931B68-BEBE-4F6A-A7A3-EB2B855A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1712549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26218CD3-8CA7-49E2-A133-F3172441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3428810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6949d433d649c9"/>
          <a:srcRect xmlns:a="http://schemas.openxmlformats.org/drawingml/2006/main" l="0" t="0" r="54251" b="0"/>
          <a:stretch xmlns:a="http://schemas.openxmlformats.org/drawingml/2006/main"/>
        </p:blipFill>
        <p:spPr>
          <a:xfrm xmlns:a="http://schemas.openxmlformats.org/drawingml/2006/main">
            <a:off x="332010" y="251357"/>
            <a:ext cx="1934780" cy="4825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1" y="2455636"/>
            <a:ext cx="2960913" cy="1438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736542" y="2389144"/>
            <a:ext cx="97430" cy="29609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8991" y="0"/>
            <a:ext cx="9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53781C-E1F6-4315-A39D-61273F2E0596}" type="slidenum">
              <a:t>‹#›</a:t>
            </a:fld>
            <a:endParaRPr/>
          </a:p>
        </p:txBody>
      </p:sp>
      <p:pic>
        <p:nvPicPr>
          <p:cNvPr id="25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a2cf430bb6d4a5f"/>
          <a:srcRect xmlns:a="http://schemas.openxmlformats.org/drawingml/2006/main" l="0" t="0" r="1346" b="0"/>
          <a:stretch xmlns:a="http://schemas.openxmlformats.org/drawingml/2006/main"/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19056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788940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9" name="平行四边形 18">
            <a:extLst xmlns:a="http://schemas.openxmlformats.org/drawingml/2006/main"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1483" cy="685800"/>
          </a:xfrm>
          <a:prstGeom xmlns:a="http://schemas.openxmlformats.org/drawingml/2006/main" prst="parallelogram">
            <a:avLst>
              <a:gd name="adj" fmla="val 4305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29836b858f44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9056" y="73482"/>
            <a:ext cx="538838" cy="538838"/>
          </a:xfrm>
          <a:prstGeom xmlns:a="http://schemas.openxmlformats.org/drawingml/2006/main" prst="rect">
            <a:avLst/>
          </a:prstGeom>
        </p:spPr>
      </p:pic>
      <p:sp>
        <p:nvSpPr>
          <p:cNvPr id="21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75351" y="43657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封底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3f70afbc4a490c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F60F5A8-3022-49D5-A1B7-18CDA62C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2989B7D2-D2DE-4D77-870B-585E5185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69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555162" y="3129756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27" name="图片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7736d28d4bb45ea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>
            <a:off x="3352562" y="6146610"/>
            <a:ext cx="5486876" cy="40659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8c0ca058504a9d" /><Relationship Type="http://schemas.openxmlformats.org/officeDocument/2006/relationships/slideLayout" Target="/ppt/slideLayouts/slideLayout1.xml" Id="R567bd35a258449af" /><Relationship Type="http://schemas.openxmlformats.org/officeDocument/2006/relationships/slideLayout" Target="/ppt/slideLayouts/slideLayout2.xml" Id="R3f906c55c3de48ce" /><Relationship Type="http://schemas.openxmlformats.org/officeDocument/2006/relationships/slideLayout" Target="/ppt/slideLayouts/slideLayout3.xml" Id="Recd79a9cad694fcb" /><Relationship Type="http://schemas.openxmlformats.org/officeDocument/2006/relationships/slideLayout" Target="/ppt/slideLayouts/slideLayout4.xml" Id="Rfc01da84f7c649f2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49970" y="6515101"/>
            <a:ext cx="103723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48644C6-89F0-466C-949F-E70AD72679A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7bd35a258449af"/>
    <p:sldLayoutId xmlns:r="http://schemas.openxmlformats.org/officeDocument/2006/relationships" id="2147483650" r:id="R3f906c55c3de48ce"/>
    <p:sldLayoutId xmlns:r="http://schemas.openxmlformats.org/officeDocument/2006/relationships" id="2147483651" r:id="Recd79a9cad694fcb"/>
    <p:sldLayoutId xmlns:r="http://schemas.openxmlformats.org/officeDocument/2006/relationships" id="2147483652" r:id="Rfc01da84f7c649f2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xmlns:a="http://schemas.openxmlformats.org/drawingml/2006/main" val="F26B43"/>
          </p15:clr>
        </p15:guide>
        <p15:guide id="2" pos="7488">
          <p15:clr>
            <a:srgbClr xmlns:a="http://schemas.openxmlformats.org/drawingml/2006/main" val="F26B43"/>
          </p15:clr>
        </p15:guide>
        <p15:guide id="3" orient="horz" pos="432">
          <p15:clr>
            <a:srgbClr xmlns:a="http://schemas.openxmlformats.org/drawingml/2006/main" val="F26B43"/>
          </p15:clr>
        </p15:guide>
        <p15:guide id="4" orient="horz" pos="472">
          <p15:clr>
            <a:srgbClr xmlns:a="http://schemas.openxmlformats.org/drawingml/2006/main" val="F26B43"/>
          </p15:clr>
        </p15:guide>
        <p15:guide id="5" orient="horz" pos="4104">
          <p15:clr>
            <a:srgbClr xmlns:a="http://schemas.openxmlformats.org/drawingml/2006/main" val="F26B43"/>
          </p15:clr>
        </p15:guide>
        <p15:guide id="6" orient="horz" pos="4056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e48f5deb6464c" /><Relationship Type="http://schemas.openxmlformats.org/officeDocument/2006/relationships/notesSlide" Target="/ppt/notesSlides/notesSlide1.xml" Id="R73af75bf13f042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a996d17312747a8" /><Relationship Type="http://schemas.openxmlformats.org/officeDocument/2006/relationships/notesSlide" Target="/ppt/notesSlides/notesSlide2.xml" Id="R8d5a1188d0484e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e56a69e03b64ef6" /><Relationship Type="http://schemas.openxmlformats.org/officeDocument/2006/relationships/notesSlide" Target="/ppt/notesSlides/notesSlide3.xml" Id="R27ac004a953449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7286e5529dc4525" /><Relationship Type="http://schemas.openxmlformats.org/officeDocument/2006/relationships/notesSlide" Target="/ppt/notesSlides/notesSlide4.xml" Id="Rf96069b90c8e49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899ff4aa7264e33" /><Relationship Type="http://schemas.openxmlformats.org/officeDocument/2006/relationships/notesSlide" Target="/ppt/notesSlides/notesSlide5.xml" Id="R50715b7bc1df44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943fb7b07a742ef" /><Relationship Type="http://schemas.openxmlformats.org/officeDocument/2006/relationships/notesSlide" Target="/ppt/notesSlides/notesSlide6.xml" Id="R5c7afc1c7a554b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a9d44298409436d" /><Relationship Type="http://schemas.openxmlformats.org/officeDocument/2006/relationships/notesSlide" Target="/ppt/notesSlides/notesSlide7.xml" Id="Ra0a35073fa524f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ce76d1bdbeb4d83" /><Relationship Type="http://schemas.openxmlformats.org/officeDocument/2006/relationships/notesSlide" Target="/ppt/notesSlides/notesSlide8.xml" Id="R74df815a021344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e5f86162ffe4af5" /><Relationship Type="http://schemas.openxmlformats.org/officeDocument/2006/relationships/notesSlide" Target="/ppt/notesSlides/notesSlide9.xml" Id="R02bea79e3a654b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d8a06e74a614e1f" /><Relationship Type="http://schemas.openxmlformats.org/officeDocument/2006/relationships/notesSlide" Target="/ppt/notesSlides/notesSlide10.xml" Id="R1965cf90b918453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b3bb5802e6947aa" /><Relationship Type="http://schemas.openxmlformats.org/officeDocument/2006/relationships/notesSlide" Target="/ppt/notesSlides/notesSlide11.xml" Id="Re8564c88236c4f7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195e4a454634d4b" /><Relationship Type="http://schemas.openxmlformats.org/officeDocument/2006/relationships/notesSlide" Target="/ppt/notesSlides/notesSlide12.xml" Id="R9bbb88af272d43a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e2e5829db8a4b42" /><Relationship Type="http://schemas.openxmlformats.org/officeDocument/2006/relationships/notesSlide" Target="/ppt/notesSlides/notesSlide13.xml" Id="Rab8b30bbfe324bb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b851194b44d4383" /><Relationship Type="http://schemas.openxmlformats.org/officeDocument/2006/relationships/image" Target="/ppt/media/image6.png" Id="R58535f58afec485d" /><Relationship Type="http://schemas.openxmlformats.org/officeDocument/2006/relationships/notesSlide" Target="/ppt/notesSlides/notesSlide14.xml" Id="Rb5ab726cc5bc46f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e1052a33f1e4517" /><Relationship Type="http://schemas.openxmlformats.org/officeDocument/2006/relationships/notesSlide" Target="/ppt/notesSlides/notesSlide15.xml" Id="R143fc8a4837d44f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9204ad85d724577" /><Relationship Type="http://schemas.openxmlformats.org/officeDocument/2006/relationships/notesSlide" Target="/ppt/notesSlides/notesSlide16.xml" Id="R7aa27a9118484cd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0aa28d1435c4e9b" /><Relationship Type="http://schemas.openxmlformats.org/officeDocument/2006/relationships/notesSlide" Target="/ppt/notesSlides/notesSlide17.xml" Id="R8198157e3d01459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fd1d2b542544cf0" /><Relationship Type="http://schemas.openxmlformats.org/officeDocument/2006/relationships/notesSlide" Target="/ppt/notesSlides/notesSlide18.xml" Id="Rcd360e49bd3d4d4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64d1b2d983e4235" /><Relationship Type="http://schemas.openxmlformats.org/officeDocument/2006/relationships/notesSlide" Target="/ppt/notesSlides/notesSlide19.xml" Id="Rc3105ef51b8b46c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0e454fcd7664377" /><Relationship Type="http://schemas.openxmlformats.org/officeDocument/2006/relationships/notesSlide" Target="/ppt/notesSlides/notesSlide20.xml" Id="Rc5d17bfd57ea454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344c44e14594b9b" /><Relationship Type="http://schemas.openxmlformats.org/officeDocument/2006/relationships/notesSlide" Target="/ppt/notesSlides/notesSlide21.xml" Id="R1e242c40cb28402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27DE90CC-93E2-C662-C202-C5C6993D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9906000" cy="1645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3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第5讲 综述、证据地图与研究空白识别</a:t>
            </a:r>
            <a:endParaRPr sz="4000" b="1" kern="0" spc="2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4 课之后，阅读卡为什么仍不算综述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6" name="visual-2-0-p02-left-h">
            <a:extLst xmlns:a="http://schemas.openxmlformats.org/drawingml/2006/main">
              <a:ext uri="{FF2B5EF4-FFF2-40B4-BE49-F238E27FC236}">
                <a16:creationId xmlns:a16="http://schemas.microsoft.com/office/drawing/2014/main" id="{5934278B-7F56-4774-98AE-5569CDC4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已经有</a:t>
            </a:r>
          </a:p>
        </p:txBody>
      </p:sp>
      <p:sp>
        <p:nvSpPr>
          <p:cNvPr id="7" name="visual-2-1-p02-left-0">
            <a:extLst xmlns:a="http://schemas.openxmlformats.org/drawingml/2006/main">
              <a:ext uri="{FF2B5EF4-FFF2-40B4-BE49-F238E27FC236}">
                <a16:creationId xmlns:a16="http://schemas.microsoft.com/office/drawing/2014/main" id="{CB2D62F3-A56F-4308-8947-9D867095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2877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✓  带原文位置的阅读卡</a:t>
            </a:r>
          </a:p>
        </p:txBody>
      </p:sp>
      <p:sp>
        <p:nvSpPr>
          <p:cNvPr id="8" name="visual-2-2-p02-left-1">
            <a:extLst xmlns:a="http://schemas.openxmlformats.org/drawingml/2006/main">
              <a:ext uri="{FF2B5EF4-FFF2-40B4-BE49-F238E27FC236}">
                <a16:creationId xmlns:a16="http://schemas.microsoft.com/office/drawing/2014/main" id="{4A1BA1A5-8CD6-4A39-8AB0-32A0C78E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✓  作者主张与人工判断分栏</a:t>
            </a:r>
          </a:p>
        </p:txBody>
      </p:sp>
      <p:sp>
        <p:nvSpPr>
          <p:cNvPr id="9" name="visual-2-3-p02-left-2">
            <a:extLst xmlns:a="http://schemas.openxmlformats.org/drawingml/2006/main">
              <a:ext uri="{FF2B5EF4-FFF2-40B4-BE49-F238E27FC236}">
                <a16:creationId xmlns:a16="http://schemas.microsoft.com/office/drawing/2014/main" id="{2B8A2EE8-6F41-474A-9D34-DEF41B0B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992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✓  AI 偏差审计记录</a:t>
            </a:r>
          </a:p>
        </p:txBody>
      </p:sp>
      <p:sp>
        <p:nvSpPr>
          <p:cNvPr id="10" name="visual-2-4-p02-arrow">
            <a:extLst xmlns:a="http://schemas.openxmlformats.org/drawingml/2006/main">
              <a:ext uri="{FF2B5EF4-FFF2-40B4-BE49-F238E27FC236}">
                <a16:creationId xmlns:a16="http://schemas.microsoft.com/office/drawing/2014/main" id="{4022F0F4-BBB7-4AF8-B76F-94A3A234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6670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" name="visual-2-5-p02-right-h">
            <a:extLst xmlns:a="http://schemas.openxmlformats.org/drawingml/2006/main">
              <a:ext uri="{FF2B5EF4-FFF2-40B4-BE49-F238E27FC236}">
                <a16:creationId xmlns:a16="http://schemas.microsoft.com/office/drawing/2014/main" id="{7C782578-6C11-4460-9313-93338CEE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00012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仍看不见</a:t>
            </a:r>
          </a:p>
        </p:txBody>
      </p:sp>
      <p:sp>
        <p:nvSpPr>
          <p:cNvPr id="12" name="visual-2-6-p02-right-0">
            <a:extLst xmlns:a="http://schemas.openxmlformats.org/drawingml/2006/main">
              <a:ext uri="{FF2B5EF4-FFF2-40B4-BE49-F238E27FC236}">
                <a16:creationId xmlns:a16="http://schemas.microsoft.com/office/drawing/2014/main" id="{7AA1ECBF-FF3C-4B13-AC4D-1628B755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62877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?  文献之间支持、冲突还是不可比？</a:t>
            </a:r>
          </a:p>
        </p:txBody>
      </p:sp>
      <p:sp>
        <p:nvSpPr>
          <p:cNvPr id="13" name="visual-2-7-p02-right-1">
            <a:extLst xmlns:a="http://schemas.openxmlformats.org/drawingml/2006/main">
              <a:ext uri="{FF2B5EF4-FFF2-40B4-BE49-F238E27FC236}">
                <a16:creationId xmlns:a16="http://schemas.microsoft.com/office/drawing/2014/main" id="{9E62BD4D-B0F6-413D-9B17-8C359DA2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193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?  哪个子问题整列空白？</a:t>
            </a:r>
          </a:p>
        </p:txBody>
      </p:sp>
      <p:sp>
        <p:nvSpPr>
          <p:cNvPr id="14" name="visual-2-8-p02-right-2">
            <a:extLst xmlns:a="http://schemas.openxmlformats.org/drawingml/2006/main">
              <a:ext uri="{FF2B5EF4-FFF2-40B4-BE49-F238E27FC236}">
                <a16:creationId xmlns:a16="http://schemas.microsoft.com/office/drawing/2014/main" id="{444733A8-8B5F-47B1-AB19-B6274F07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0992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?  哪些句子能进入最小综述？</a:t>
            </a:r>
          </a:p>
        </p:txBody>
      </p:sp>
      <p:sp>
        <p:nvSpPr>
          <p:cNvPr id="15" name="visual-2-9-p02-bottom">
            <a:extLst xmlns:a="http://schemas.openxmlformats.org/drawingml/2006/main">
              <a:ext uri="{FF2B5EF4-FFF2-40B4-BE49-F238E27FC236}">
                <a16:creationId xmlns:a16="http://schemas.microsoft.com/office/drawing/2014/main" id="{0CAC0267-1AFE-456F-A9F3-45410EE8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62500"/>
            <a:ext cx="704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来源已核验  ≠  证据关系已组织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judgment-title">
            <a:extLst xmlns:a="http://schemas.openxmlformats.org/drawingml/2006/main">
              <a:ext uri="{FF2B5EF4-FFF2-40B4-BE49-F238E27FC236}">
                <a16:creationId xmlns:a16="http://schemas.microsoft.com/office/drawing/2014/main" id="{88117127-184F-4F69-87E1-F3A979C0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结果相反，是否构成冲突</a:t>
            </a:r>
          </a:p>
        </p:txBody>
      </p:sp>
      <p:sp>
        <p:nvSpPr>
          <p:cNvPr id="2" name="judgment-body-0">
            <a:extLst xmlns:a="http://schemas.openxmlformats.org/drawingml/2006/main">
              <a:ext uri="{FF2B5EF4-FFF2-40B4-BE49-F238E27FC236}">
                <a16:creationId xmlns:a16="http://schemas.microsoft.com/office/drawing/2014/main" id="{9E5DC4D6-545C-4A2C-820E-1B0E874F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教学构造：每项 10 段英文文本</a:t>
            </a:r>
          </a:p>
        </p:txBody>
      </p:sp>
      <p:sp>
        <p:nvSpPr>
          <p:cNvPr id="3" name="judgment-body-1">
            <a:extLst xmlns:a="http://schemas.openxmlformats.org/drawingml/2006/main">
              <a:ext uri="{FF2B5EF4-FFF2-40B4-BE49-F238E27FC236}">
                <a16:creationId xmlns:a16="http://schemas.microsoft.com/office/drawing/2014/main" id="{91FF0A45-351D-4077-A979-4223DBA0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A｜显式条件句；评分可见组别；遗漏 2/30 vs 8/30</a:t>
            </a:r>
          </a:p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B｜图注条件；评分不见组别；遗漏 9/20 vs 5/20</a:t>
            </a:r>
          </a:p>
        </p:txBody>
      </p:sp>
      <p:sp>
        <p:nvSpPr>
          <p:cNvPr id="4" name="judgment-body-2">
            <a:extLst xmlns:a="http://schemas.openxmlformats.org/drawingml/2006/main">
              <a:ext uri="{FF2B5EF4-FFF2-40B4-BE49-F238E27FC236}">
                <a16:creationId xmlns:a16="http://schemas.microsoft.com/office/drawing/2014/main" id="{30103CA3-6A72-40A1-BD83-9C51DEA7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085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对象和测量同时变化：哪项解释尚未排除？零命中能证明研究空白吗？</a:t>
            </a:r>
          </a:p>
        </p:txBody>
      </p:sp>
      <p:sp>
        <p:nvSpPr>
          <p:cNvPr id="5" name="judgment-source">
            <a:extLst xmlns:a="http://schemas.openxmlformats.org/drawingml/2006/main">
              <a:ext uri="{FF2B5EF4-FFF2-40B4-BE49-F238E27FC236}">
                <a16:creationId xmlns:a16="http://schemas.microsoft.com/office/drawing/2014/main" id="{4E7F07E6-1C9D-4CD4-B63C-3EB980F1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69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 xmlns:a="http://schemas.openxmlformats.org/drawingml/2006/main">
              <a:ext uri="{FF2B5EF4-FFF2-40B4-BE49-F238E27FC236}">
                <a16:creationId xmlns:a16="http://schemas.microsoft.com/office/drawing/2014/main" id="{B3CE095D-A894-4993-9579-5AA0DCB2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627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摘要堆叠为什么不算综述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6" name="visual-4-0-p04-left-h">
            <a:extLst xmlns:a="http://schemas.openxmlformats.org/drawingml/2006/main">
              <a:ext uri="{FF2B5EF4-FFF2-40B4-BE49-F238E27FC236}">
                <a16:creationId xmlns:a16="http://schemas.microsoft.com/office/drawing/2014/main" id="{8AF23081-F209-43F0-96B7-1CF1C561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按论文排列</a:t>
            </a:r>
          </a:p>
        </p:txBody>
      </p:sp>
      <p:sp>
        <p:nvSpPr>
          <p:cNvPr id="7" name="visual-4-1-p04-a0">
            <a:extLst xmlns:a="http://schemas.openxmlformats.org/drawingml/2006/main">
              <a:ext uri="{FF2B5EF4-FFF2-40B4-BE49-F238E27FC236}">
                <a16:creationId xmlns:a16="http://schemas.microsoft.com/office/drawing/2014/main" id="{9C45094B-B22D-4847-9F4F-993B8AC4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62125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论文 A 摘要</a:t>
            </a:r>
          </a:p>
        </p:txBody>
      </p:sp>
      <p:sp>
        <p:nvSpPr>
          <p:cNvPr id="8" name="visual-4-2-p04-a1">
            <a:extLst xmlns:a="http://schemas.openxmlformats.org/drawingml/2006/main">
              <a:ext uri="{FF2B5EF4-FFF2-40B4-BE49-F238E27FC236}">
                <a16:creationId xmlns:a16="http://schemas.microsoft.com/office/drawing/2014/main" id="{E23C060C-707C-46DF-A672-B07A6F98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38425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论文 B 摘要</a:t>
            </a:r>
          </a:p>
        </p:txBody>
      </p:sp>
      <p:sp>
        <p:nvSpPr>
          <p:cNvPr id="9" name="visual-4-3-p04-a2">
            <a:extLst xmlns:a="http://schemas.openxmlformats.org/drawingml/2006/main">
              <a:ext uri="{FF2B5EF4-FFF2-40B4-BE49-F238E27FC236}">
                <a16:creationId xmlns:a16="http://schemas.microsoft.com/office/drawing/2014/main" id="{5348119A-9D7D-4A7D-92E6-1F54F511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4725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论文 C 摘要</a:t>
            </a:r>
          </a:p>
        </p:txBody>
      </p:sp>
      <p:sp>
        <p:nvSpPr>
          <p:cNvPr id="10" name="visual-4-4-p04-neq">
            <a:extLst xmlns:a="http://schemas.openxmlformats.org/drawingml/2006/main">
              <a:ext uri="{FF2B5EF4-FFF2-40B4-BE49-F238E27FC236}">
                <a16:creationId xmlns:a16="http://schemas.microsoft.com/office/drawing/2014/main" id="{ABDE37AC-CDC3-4815-9230-A1EB405E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619375"/>
            <a:ext cx="1104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≠</a:t>
            </a:r>
          </a:p>
        </p:txBody>
      </p:sp>
      <p:sp>
        <p:nvSpPr>
          <p:cNvPr id="11" name="visual-4-5-p04-right-h">
            <a:extLst xmlns:a="http://schemas.openxmlformats.org/drawingml/2006/main">
              <a:ext uri="{FF2B5EF4-FFF2-40B4-BE49-F238E27FC236}">
                <a16:creationId xmlns:a16="http://schemas.microsoft.com/office/drawing/2014/main" id="{3853A4A3-C8C8-4CF0-9056-7E5CDD14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028700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按问题组织</a:t>
            </a:r>
          </a:p>
        </p:txBody>
      </p:sp>
      <p:sp>
        <p:nvSpPr>
          <p:cNvPr id="12" name="visual-4-6-p04-q0">
            <a:extLst xmlns:a="http://schemas.openxmlformats.org/drawingml/2006/main">
              <a:ext uri="{FF2B5EF4-FFF2-40B4-BE49-F238E27FC236}">
                <a16:creationId xmlns:a16="http://schemas.microsoft.com/office/drawing/2014/main" id="{CC4F5962-9D7E-4F89-995A-A7307B59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762125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共同回答什么？</a:t>
            </a:r>
          </a:p>
        </p:txBody>
      </p:sp>
      <p:sp>
        <p:nvSpPr>
          <p:cNvPr id="13" name="visual-4-7-p04-q1">
            <a:extLst xmlns:a="http://schemas.openxmlformats.org/drawingml/2006/main">
              <a:ext uri="{FF2B5EF4-FFF2-40B4-BE49-F238E27FC236}">
                <a16:creationId xmlns:a16="http://schemas.microsoft.com/office/drawing/2014/main" id="{C3A6E9D6-5858-4121-AD0C-062EAE36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38425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哪里冲突或不可比？</a:t>
            </a:r>
          </a:p>
        </p:txBody>
      </p:sp>
      <p:sp>
        <p:nvSpPr>
          <p:cNvPr id="14" name="visual-4-8-p04-q2">
            <a:extLst xmlns:a="http://schemas.openxmlformats.org/drawingml/2006/main">
              <a:ext uri="{FF2B5EF4-FFF2-40B4-BE49-F238E27FC236}">
                <a16:creationId xmlns:a16="http://schemas.microsoft.com/office/drawing/2014/main" id="{0D3840B4-3C11-4540-A34B-4DB3FCC0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514725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什么仍是空白？</a:t>
            </a:r>
          </a:p>
        </p:txBody>
      </p:sp>
      <p:sp>
        <p:nvSpPr>
          <p:cNvPr id="15" name="visual-4-9-p04-bottom">
            <a:extLst xmlns:a="http://schemas.openxmlformats.org/drawingml/2006/main">
              <a:ext uri="{FF2B5EF4-FFF2-40B4-BE49-F238E27FC236}">
                <a16:creationId xmlns:a16="http://schemas.microsoft.com/office/drawing/2014/main" id="{041FB060-1728-49E9-9B14-C2CF44A3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762500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摘要堆叠保留了顺序，却丢失了证据关系。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叙事性综述与系统性综述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6" name="visual-5-0-p05-h-0">
            <a:extLst xmlns:a="http://schemas.openxmlformats.org/drawingml/2006/main">
              <a:ext uri="{FF2B5EF4-FFF2-40B4-BE49-F238E27FC236}">
                <a16:creationId xmlns:a16="http://schemas.microsoft.com/office/drawing/2014/main" id="{7DAFAC8C-2D3B-4D3F-9F03-E2DE0FF6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430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7" name="visual-5-1-p05-h-1">
            <a:extLst xmlns:a="http://schemas.openxmlformats.org/drawingml/2006/main">
              <a:ext uri="{FF2B5EF4-FFF2-40B4-BE49-F238E27FC236}">
                <a16:creationId xmlns:a16="http://schemas.microsoft.com/office/drawing/2014/main" id="{597650C3-C55A-40F1-8501-BBC4484D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1430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叙事性综述</a:t>
            </a:r>
          </a:p>
        </p:txBody>
      </p:sp>
      <p:sp>
        <p:nvSpPr>
          <p:cNvPr id="8" name="visual-5-2-p05-h-2">
            <a:extLst xmlns:a="http://schemas.openxmlformats.org/drawingml/2006/main">
              <a:ext uri="{FF2B5EF4-FFF2-40B4-BE49-F238E27FC236}">
                <a16:creationId xmlns:a16="http://schemas.microsoft.com/office/drawing/2014/main" id="{879C4EDD-AAE0-4DCF-A321-129AFEB0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1430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系统性综述</a:t>
            </a:r>
          </a:p>
        </p:txBody>
      </p:sp>
      <p:sp>
        <p:nvSpPr>
          <p:cNvPr id="9" name="visual-5-3-p05-r0-0">
            <a:extLst xmlns:a="http://schemas.openxmlformats.org/drawingml/2006/main">
              <a:ext uri="{FF2B5EF4-FFF2-40B4-BE49-F238E27FC236}">
                <a16:creationId xmlns:a16="http://schemas.microsoft.com/office/drawing/2014/main" id="{8093BA9D-E580-47B2-86E7-9A3AB5B4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54305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问题</a:t>
            </a:r>
          </a:p>
        </p:txBody>
      </p:sp>
      <p:sp>
        <p:nvSpPr>
          <p:cNvPr id="10" name="visual-5-4-p05-r0-1">
            <a:extLst xmlns:a="http://schemas.openxmlformats.org/drawingml/2006/main">
              <a:ext uri="{FF2B5EF4-FFF2-40B4-BE49-F238E27FC236}">
                <a16:creationId xmlns:a16="http://schemas.microsoft.com/office/drawing/2014/main" id="{8AD7DECF-D3B6-4E41-A90C-40A7EB8E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4305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解释主题、机制或冲突</a:t>
            </a:r>
          </a:p>
        </p:txBody>
      </p:sp>
      <p:sp>
        <p:nvSpPr>
          <p:cNvPr id="11" name="visual-5-5-p05-r0-2">
            <a:extLst xmlns:a="http://schemas.openxmlformats.org/drawingml/2006/main">
              <a:ext uri="{FF2B5EF4-FFF2-40B4-BE49-F238E27FC236}">
                <a16:creationId xmlns:a16="http://schemas.microsoft.com/office/drawing/2014/main" id="{966E0817-5DCA-43B8-AC50-CF1DA87A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54305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按预设协议回答明确问题</a:t>
            </a:r>
          </a:p>
        </p:txBody>
      </p:sp>
      <p:sp>
        <p:nvSpPr>
          <p:cNvPr id="12" name="visual-5-6-p05-r1-0">
            <a:extLst xmlns:a="http://schemas.openxmlformats.org/drawingml/2006/main">
              <a:ext uri="{FF2B5EF4-FFF2-40B4-BE49-F238E27FC236}">
                <a16:creationId xmlns:a16="http://schemas.microsoft.com/office/drawing/2014/main" id="{35B918BA-6492-4AD6-822D-3B7FF838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2860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材料</a:t>
            </a:r>
          </a:p>
        </p:txBody>
      </p:sp>
      <p:sp>
        <p:nvSpPr>
          <p:cNvPr id="13" name="visual-5-7-p05-r1-1">
            <a:extLst xmlns:a="http://schemas.openxmlformats.org/drawingml/2006/main">
              <a:ext uri="{FF2B5EF4-FFF2-40B4-BE49-F238E27FC236}">
                <a16:creationId xmlns:a16="http://schemas.microsoft.com/office/drawing/2014/main" id="{6D0C3C88-6936-49E6-81E5-F1455BD7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28600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范围由研究者说明</a:t>
            </a:r>
          </a:p>
        </p:txBody>
      </p:sp>
      <p:sp>
        <p:nvSpPr>
          <p:cNvPr id="14" name="visual-5-8-p05-r1-2">
            <a:extLst xmlns:a="http://schemas.openxmlformats.org/drawingml/2006/main">
              <a:ext uri="{FF2B5EF4-FFF2-40B4-BE49-F238E27FC236}">
                <a16:creationId xmlns:a16="http://schemas.microsoft.com/office/drawing/2014/main" id="{09A95CFC-37C7-49FF-BA0A-333881CC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8600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检索与纳入排除规则预先定义</a:t>
            </a:r>
          </a:p>
        </p:txBody>
      </p:sp>
      <p:sp>
        <p:nvSpPr>
          <p:cNvPr id="15" name="visual-5-9-p05-r2-0">
            <a:extLst xmlns:a="http://schemas.openxmlformats.org/drawingml/2006/main">
              <a:ext uri="{FF2B5EF4-FFF2-40B4-BE49-F238E27FC236}">
                <a16:creationId xmlns:a16="http://schemas.microsoft.com/office/drawing/2014/main" id="{9D500CBE-123F-4708-B522-FD3AADA4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02895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综合</a:t>
            </a:r>
          </a:p>
        </p:txBody>
      </p:sp>
      <p:sp>
        <p:nvSpPr>
          <p:cNvPr id="16" name="visual-5-10-p05-r2-1">
            <a:extLst xmlns:a="http://schemas.openxmlformats.org/drawingml/2006/main">
              <a:ext uri="{FF2B5EF4-FFF2-40B4-BE49-F238E27FC236}">
                <a16:creationId xmlns:a16="http://schemas.microsoft.com/office/drawing/2014/main" id="{61C25C68-6F4B-40F4-89D8-7E24EDCB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2895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按主题或机制组织</a:t>
            </a:r>
          </a:p>
        </p:txBody>
      </p:sp>
      <p:sp>
        <p:nvSpPr>
          <p:cNvPr id="17" name="visual-5-11-p05-r2-2">
            <a:extLst xmlns:a="http://schemas.openxmlformats.org/drawingml/2006/main">
              <a:ext uri="{FF2B5EF4-FFF2-40B4-BE49-F238E27FC236}">
                <a16:creationId xmlns:a16="http://schemas.microsoft.com/office/drawing/2014/main" id="{A9AACE06-DF0E-4EA0-A8E6-21144C33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2895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按固定字段提取并合成</a:t>
            </a:r>
          </a:p>
        </p:txBody>
      </p:sp>
      <p:sp>
        <p:nvSpPr>
          <p:cNvPr id="18" name="visual-5-12-p05-r3-0">
            <a:extLst xmlns:a="http://schemas.openxmlformats.org/drawingml/2006/main">
              <a:ext uri="{FF2B5EF4-FFF2-40B4-BE49-F238E27FC236}">
                <a16:creationId xmlns:a16="http://schemas.microsoft.com/office/drawing/2014/main" id="{1EBEC780-E8CF-42FC-9F91-4F6F8A0A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7719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风险</a:t>
            </a:r>
          </a:p>
        </p:txBody>
      </p:sp>
      <p:sp>
        <p:nvSpPr>
          <p:cNvPr id="19" name="visual-5-13-p05-r3-1">
            <a:extLst xmlns:a="http://schemas.openxmlformats.org/drawingml/2006/main">
              <a:ext uri="{FF2B5EF4-FFF2-40B4-BE49-F238E27FC236}">
                <a16:creationId xmlns:a16="http://schemas.microsoft.com/office/drawing/2014/main" id="{DA140F83-09B2-42C7-970E-FA74694C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77190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选择性引用、忽视冲突</a:t>
            </a:r>
          </a:p>
        </p:txBody>
      </p:sp>
      <p:sp>
        <p:nvSpPr>
          <p:cNvPr id="20" name="visual-5-14-p05-r3-2">
            <a:extLst xmlns:a="http://schemas.openxmlformats.org/drawingml/2006/main">
              <a:ext uri="{FF2B5EF4-FFF2-40B4-BE49-F238E27FC236}">
                <a16:creationId xmlns:a16="http://schemas.microsoft.com/office/drawing/2014/main" id="{4EB18550-401D-456A-8BFA-101EEE4E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7190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机械套用、强合并不可比研究</a:t>
            </a:r>
          </a:p>
        </p:txBody>
      </p:sp>
      <p:sp>
        <p:nvSpPr>
          <p:cNvPr id="21" name="visual-5-15-p05-bottom">
            <a:extLst xmlns:a="http://schemas.openxmlformats.org/drawingml/2006/main">
              <a:ext uri="{FF2B5EF4-FFF2-40B4-BE49-F238E27FC236}">
                <a16:creationId xmlns:a16="http://schemas.microsoft.com/office/drawing/2014/main" id="{BE247990-5E5B-4131-BD4F-09F2BF95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762500"/>
            <a:ext cx="923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本课不要求完整系统综述，但要求过程可复盘、证据可定位。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空白单元格还不是研究空白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6" name="content-179">
            <a:extLst xmlns:a="http://schemas.openxmlformats.org/drawingml/2006/main">
              <a:ext uri="{FF2B5EF4-FFF2-40B4-BE49-F238E27FC236}">
                <a16:creationId xmlns:a16="http://schemas.microsoft.com/office/drawing/2014/main" id="{2C1663CC-B046-42EF-B456-599DF672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矩阵单元格为空，至少有三种可能：</a:t>
            </a:r>
          </a:p>
        </p:txBody>
      </p:sp>
      <p:sp>
        <p:nvSpPr>
          <p:cNvPr id="7" name="content-180">
            <a:extLst xmlns:a="http://schemas.openxmlformats.org/drawingml/2006/main">
              <a:ext uri="{FF2B5EF4-FFF2-40B4-BE49-F238E27FC236}">
                <a16:creationId xmlns:a16="http://schemas.microsoft.com/office/drawing/2014/main" id="{078BFE9A-3D67-4273-B9D6-2BCB4093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尚未检索到；</a:t>
            </a:r>
          </a:p>
        </p:txBody>
      </p:sp>
      <p:sp>
        <p:nvSpPr>
          <p:cNvPr id="8" name="content-181">
            <a:extLst xmlns:a="http://schemas.openxmlformats.org/drawingml/2006/main">
              <a:ext uri="{FF2B5EF4-FFF2-40B4-BE49-F238E27FC236}">
                <a16:creationId xmlns:a16="http://schemas.microsoft.com/office/drawing/2014/main" id="{5460DFCC-2200-4666-A332-7517DBDD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已检索但材料不适用；</a:t>
            </a:r>
          </a:p>
        </p:txBody>
      </p:sp>
      <p:sp>
        <p:nvSpPr>
          <p:cNvPr id="9" name="content-182">
            <a:extLst xmlns:a="http://schemas.openxmlformats.org/drawingml/2006/main">
              <a:ext uri="{FF2B5EF4-FFF2-40B4-BE49-F238E27FC236}">
                <a16:creationId xmlns:a16="http://schemas.microsoft.com/office/drawing/2014/main" id="{C796BE2E-BA9E-4AFF-B7C1-A9B0F6DA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045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有覆盖证据，确实缺少这一比较。</a:t>
            </a:r>
          </a:p>
        </p:txBody>
      </p:sp>
      <p:sp>
        <p:nvSpPr>
          <p:cNvPr id="10" name="content-183">
            <a:extLst xmlns:a="http://schemas.openxmlformats.org/drawingml/2006/main">
              <a:ext uri="{FF2B5EF4-FFF2-40B4-BE49-F238E27FC236}">
                <a16:creationId xmlns:a16="http://schemas.microsoft.com/office/drawing/2014/main" id="{BF9CA012-DA5E-4D8B-8CE8-1A636D46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006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先写覆盖范围和来源，再提出空白候选。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证据地图：从文献角色到问题门四视图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6" name="visual-7-0-p07-left-h">
            <a:extLst xmlns:a="http://schemas.openxmlformats.org/drawingml/2006/main">
              <a:ext uri="{FF2B5EF4-FFF2-40B4-BE49-F238E27FC236}">
                <a16:creationId xmlns:a16="http://schemas.microsoft.com/office/drawing/2014/main" id="{7748FAE7-EE62-4048-A09A-B281E589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715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第 3 课：候选文献角色</a:t>
            </a:r>
          </a:p>
        </p:txBody>
      </p:sp>
      <p:sp>
        <p:nvSpPr>
          <p:cNvPr id="7" name="visual-7-1-p07-l0">
            <a:extLst xmlns:a="http://schemas.openxmlformats.org/drawingml/2006/main">
              <a:ext uri="{FF2B5EF4-FFF2-40B4-BE49-F238E27FC236}">
                <a16:creationId xmlns:a16="http://schemas.microsoft.com/office/drawing/2014/main" id="{6ACECEEE-9749-4032-B203-9D8A6F60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主证据</a:t>
            </a:r>
          </a:p>
        </p:txBody>
      </p:sp>
      <p:sp>
        <p:nvSpPr>
          <p:cNvPr id="8" name="visual-7-2-p07-l1">
            <a:extLst xmlns:a="http://schemas.openxmlformats.org/drawingml/2006/main">
              <a:ext uri="{FF2B5EF4-FFF2-40B4-BE49-F238E27FC236}">
                <a16:creationId xmlns:a16="http://schemas.microsoft.com/office/drawing/2014/main" id="{C62F8563-723B-40CB-973E-74903775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补充证据</a:t>
            </a:r>
          </a:p>
        </p:txBody>
      </p:sp>
      <p:sp>
        <p:nvSpPr>
          <p:cNvPr id="9" name="visual-7-3-p07-l2">
            <a:extLst xmlns:a="http://schemas.openxmlformats.org/drawingml/2006/main">
              <a:ext uri="{FF2B5EF4-FFF2-40B4-BE49-F238E27FC236}">
                <a16:creationId xmlns:a16="http://schemas.microsoft.com/office/drawing/2014/main" id="{F4C6882D-095F-4350-8DB0-5957CA17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对比证据</a:t>
            </a:r>
          </a:p>
        </p:txBody>
      </p:sp>
      <p:sp>
        <p:nvSpPr>
          <p:cNvPr id="10" name="visual-7-4-p07-l3">
            <a:extLst xmlns:a="http://schemas.openxmlformats.org/drawingml/2006/main">
              <a:ext uri="{FF2B5EF4-FFF2-40B4-BE49-F238E27FC236}">
                <a16:creationId xmlns:a16="http://schemas.microsoft.com/office/drawing/2014/main" id="{28DE10FE-852D-4425-B3B4-CFA0F839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探索线索</a:t>
            </a:r>
          </a:p>
        </p:txBody>
      </p:sp>
      <p:sp>
        <p:nvSpPr>
          <p:cNvPr id="11" name="visual-7-5-p07-a1">
            <a:extLst xmlns:a="http://schemas.openxmlformats.org/drawingml/2006/main">
              <a:ext uri="{FF2B5EF4-FFF2-40B4-BE49-F238E27FC236}">
                <a16:creationId xmlns:a16="http://schemas.microsoft.com/office/drawing/2014/main" id="{9C801771-F4CE-496D-8511-6296703C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" name="visual-7-6-p07-a2">
            <a:extLst xmlns:a="http://schemas.openxmlformats.org/drawingml/2006/main">
              <a:ext uri="{FF2B5EF4-FFF2-40B4-BE49-F238E27FC236}">
                <a16:creationId xmlns:a16="http://schemas.microsoft.com/office/drawing/2014/main" id="{B350893C-DEF5-43F6-BF3F-403731A7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194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visual-7-7-p07-a3">
            <a:extLst xmlns:a="http://schemas.openxmlformats.org/drawingml/2006/main">
              <a:ext uri="{FF2B5EF4-FFF2-40B4-BE49-F238E27FC236}">
                <a16:creationId xmlns:a16="http://schemas.microsoft.com/office/drawing/2014/main" id="{A825AC3C-DCF7-462F-B252-C4101287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3855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4" name="visual-7-8-p07-a4">
            <a:extLst xmlns:a="http://schemas.openxmlformats.org/drawingml/2006/main">
              <a:ext uri="{FF2B5EF4-FFF2-40B4-BE49-F238E27FC236}">
                <a16:creationId xmlns:a16="http://schemas.microsoft.com/office/drawing/2014/main" id="{52B84518-089A-437A-9DEE-CBFA39F1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5770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不进入</a:t>
            </a:r>
          </a:p>
        </p:txBody>
      </p:sp>
      <p:sp>
        <p:nvSpPr>
          <p:cNvPr id="15" name="visual-7-9-p07-right-h">
            <a:extLst xmlns:a="http://schemas.openxmlformats.org/drawingml/2006/main">
              <a:ext uri="{FF2B5EF4-FFF2-40B4-BE49-F238E27FC236}">
                <a16:creationId xmlns:a16="http://schemas.microsoft.com/office/drawing/2014/main" id="{A0771F37-5EA2-43AF-B722-A5A321F7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97155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问题门：证据地图四视图</a:t>
            </a:r>
          </a:p>
        </p:txBody>
      </p:sp>
      <p:sp>
        <p:nvSpPr>
          <p:cNvPr id="16" name="visual-7-10-p07-rh0">
            <a:extLst xmlns:a="http://schemas.openxmlformats.org/drawingml/2006/main">
              <a:ext uri="{FF2B5EF4-FFF2-40B4-BE49-F238E27FC236}">
                <a16:creationId xmlns:a16="http://schemas.microsoft.com/office/drawing/2014/main" id="{BAE39691-1D41-49C0-A67B-57C8A349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811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直接证据</a:t>
            </a:r>
          </a:p>
        </p:txBody>
      </p:sp>
      <p:sp>
        <p:nvSpPr>
          <p:cNvPr id="17" name="visual-7-11-p07-rd0">
            <a:extLst xmlns:a="http://schemas.openxmlformats.org/drawingml/2006/main">
              <a:ext uri="{FF2B5EF4-FFF2-40B4-BE49-F238E27FC236}">
                <a16:creationId xmlns:a16="http://schemas.microsoft.com/office/drawing/2014/main" id="{DA477DA6-FD44-4D04-8474-BB25FF75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58115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主证据且直接回答当前子问题</a:t>
            </a:r>
          </a:p>
        </p:txBody>
      </p:sp>
      <p:sp>
        <p:nvSpPr>
          <p:cNvPr id="18" name="visual-7-12-p07-rh1">
            <a:extLst xmlns:a="http://schemas.openxmlformats.org/drawingml/2006/main">
              <a:ext uri="{FF2B5EF4-FFF2-40B4-BE49-F238E27FC236}">
                <a16:creationId xmlns:a16="http://schemas.microsoft.com/office/drawing/2014/main" id="{650DA877-908F-4DFF-8753-5C01AD52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574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补充证据</a:t>
            </a:r>
          </a:p>
        </p:txBody>
      </p:sp>
      <p:sp>
        <p:nvSpPr>
          <p:cNvPr id="19" name="visual-7-13-p07-rd1">
            <a:extLst xmlns:a="http://schemas.openxmlformats.org/drawingml/2006/main">
              <a:ext uri="{FF2B5EF4-FFF2-40B4-BE49-F238E27FC236}">
                <a16:creationId xmlns:a16="http://schemas.microsoft.com/office/drawing/2014/main" id="{B703D334-D912-4BF4-9DF2-92ED3218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5745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提供不同来源、测量或路径</a:t>
            </a:r>
          </a:p>
        </p:txBody>
      </p:sp>
      <p:sp>
        <p:nvSpPr>
          <p:cNvPr id="20" name="visual-7-14-p07-rh2">
            <a:extLst xmlns:a="http://schemas.openxmlformats.org/drawingml/2006/main">
              <a:ext uri="{FF2B5EF4-FFF2-40B4-BE49-F238E27FC236}">
                <a16:creationId xmlns:a16="http://schemas.microsoft.com/office/drawing/2014/main" id="{C41949E9-6C79-4EAD-A9C8-9EBC003D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337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冲突</a:t>
            </a:r>
          </a:p>
        </p:txBody>
      </p:sp>
      <p:sp>
        <p:nvSpPr>
          <p:cNvPr id="21" name="visual-7-15-p07-rd2">
            <a:extLst xmlns:a="http://schemas.openxmlformats.org/drawingml/2006/main">
              <a:ext uri="{FF2B5EF4-FFF2-40B4-BE49-F238E27FC236}">
                <a16:creationId xmlns:a16="http://schemas.microsoft.com/office/drawing/2014/main" id="{495A8026-E67E-4B09-8909-08062BF3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33375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条件可比且结论相反</a:t>
            </a:r>
          </a:p>
        </p:txBody>
      </p:sp>
      <p:sp>
        <p:nvSpPr>
          <p:cNvPr id="22" name="visual-7-16-p07-rh3">
            <a:extLst xmlns:a="http://schemas.openxmlformats.org/drawingml/2006/main">
              <a:ext uri="{FF2B5EF4-FFF2-40B4-BE49-F238E27FC236}">
                <a16:creationId xmlns:a16="http://schemas.microsoft.com/office/drawing/2014/main" id="{1F744163-8543-485F-8098-CB1D79A6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100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空白</a:t>
            </a:r>
          </a:p>
        </p:txBody>
      </p:sp>
      <p:sp>
        <p:nvSpPr>
          <p:cNvPr id="23" name="visual-7-17-p07-rd3">
            <a:extLst xmlns:a="http://schemas.openxmlformats.org/drawingml/2006/main">
              <a:ext uri="{FF2B5EF4-FFF2-40B4-BE49-F238E27FC236}">
                <a16:creationId xmlns:a16="http://schemas.microsoft.com/office/drawing/2014/main" id="{561121E0-8ED3-43A1-BE31-4B920BC9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21005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当前地图没有直接回答材料</a:t>
            </a:r>
          </a:p>
        </p:txBody>
      </p:sp>
      <p:sp>
        <p:nvSpPr>
          <p:cNvPr id="24" name="visual-7-18-p07-bottom">
            <a:extLst xmlns:a="http://schemas.openxmlformats.org/drawingml/2006/main">
              <a:ext uri="{FF2B5EF4-FFF2-40B4-BE49-F238E27FC236}">
                <a16:creationId xmlns:a16="http://schemas.microsoft.com/office/drawing/2014/main" id="{10EA7433-C058-4AF1-A63B-9DE92CE8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95875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对比证据不自动等于冲突；探索线索不进入主格。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研究空白三类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6" name="visual-8-0-p08-n0">
            <a:extLst xmlns:a="http://schemas.openxmlformats.org/drawingml/2006/main">
              <a:ext uri="{FF2B5EF4-FFF2-40B4-BE49-F238E27FC236}">
                <a16:creationId xmlns:a16="http://schemas.microsoft.com/office/drawing/2014/main" id="{A5FAB509-45F5-4A19-A50B-101C720E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906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7" name="visual-8-1-p08-h0">
            <a:extLst xmlns:a="http://schemas.openxmlformats.org/drawingml/2006/main">
              <a:ext uri="{FF2B5EF4-FFF2-40B4-BE49-F238E27FC236}">
                <a16:creationId xmlns:a16="http://schemas.microsoft.com/office/drawing/2014/main" id="{F87E9DF1-1B35-4D50-8C0D-7BBAE075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095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冲突空白</a:t>
            </a:r>
          </a:p>
        </p:txBody>
      </p:sp>
      <p:sp>
        <p:nvSpPr>
          <p:cNvPr id="8" name="visual-8-2-p08-d0">
            <a:extLst xmlns:a="http://schemas.openxmlformats.org/drawingml/2006/main">
              <a:ext uri="{FF2B5EF4-FFF2-40B4-BE49-F238E27FC236}">
                <a16:creationId xmlns:a16="http://schemas.microsoft.com/office/drawing/2014/main" id="{8E8B45D4-E129-4C52-BACA-02EC83F9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095375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可比条件下结论相反，差异未解释</a:t>
            </a:r>
          </a:p>
        </p:txBody>
      </p:sp>
      <p:sp>
        <p:nvSpPr>
          <p:cNvPr id="9" name="visual-8-3-p08-c0">
            <a:extLst xmlns:a="http://schemas.openxmlformats.org/drawingml/2006/main">
              <a:ext uri="{FF2B5EF4-FFF2-40B4-BE49-F238E27FC236}">
                <a16:creationId xmlns:a16="http://schemas.microsoft.com/office/drawing/2014/main" id="{02963560-3AF3-4D03-981A-E159D14D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095375"/>
            <a:ext cx="2619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先核对任务、指标、样本</a:t>
            </a:r>
          </a:p>
        </p:txBody>
      </p:sp>
      <p:sp>
        <p:nvSpPr>
          <p:cNvPr id="10" name="visual-8-4-p08-n1">
            <a:extLst xmlns:a="http://schemas.openxmlformats.org/drawingml/2006/main">
              <a:ext uri="{FF2B5EF4-FFF2-40B4-BE49-F238E27FC236}">
                <a16:creationId xmlns:a16="http://schemas.microsoft.com/office/drawing/2014/main" id="{CA76AAC3-F971-413F-B591-46D075C3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955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1" name="visual-8-5-p08-h1">
            <a:extLst xmlns:a="http://schemas.openxmlformats.org/drawingml/2006/main">
              <a:ext uri="{FF2B5EF4-FFF2-40B4-BE49-F238E27FC236}">
                <a16:creationId xmlns:a16="http://schemas.microsoft.com/office/drawing/2014/main" id="{9A18D74C-1374-412A-9351-1B90D60E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0300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缺角空白</a:t>
            </a:r>
          </a:p>
        </p:txBody>
      </p:sp>
      <p:sp>
        <p:nvSpPr>
          <p:cNvPr id="12" name="visual-8-6-p08-d1">
            <a:extLst xmlns:a="http://schemas.openxmlformats.org/drawingml/2006/main">
              <a:ext uri="{FF2B5EF4-FFF2-40B4-BE49-F238E27FC236}">
                <a16:creationId xmlns:a16="http://schemas.microsoft.com/office/drawing/2014/main" id="{664A857A-0980-40D3-8AC7-86490116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003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某子问题整列空白，邻近条件已有材料</a:t>
            </a:r>
          </a:p>
        </p:txBody>
      </p:sp>
      <p:sp>
        <p:nvSpPr>
          <p:cNvPr id="13" name="visual-8-7-p08-c1">
            <a:extLst xmlns:a="http://schemas.openxmlformats.org/drawingml/2006/main">
              <a:ext uri="{FF2B5EF4-FFF2-40B4-BE49-F238E27FC236}">
                <a16:creationId xmlns:a16="http://schemas.microsoft.com/office/drawing/2014/main" id="{5B6BC125-8C55-4661-BFFA-A5B27EDB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00300"/>
            <a:ext cx="2619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先做窄检索</a:t>
            </a:r>
          </a:p>
        </p:txBody>
      </p:sp>
      <p:sp>
        <p:nvSpPr>
          <p:cNvPr id="14" name="visual-8-8-p08-n2">
            <a:extLst xmlns:a="http://schemas.openxmlformats.org/drawingml/2006/main">
              <a:ext uri="{FF2B5EF4-FFF2-40B4-BE49-F238E27FC236}">
                <a16:creationId xmlns:a16="http://schemas.microsoft.com/office/drawing/2014/main" id="{F2709077-199B-42D2-8C22-C78391FA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004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5" name="visual-8-9-p08-h2">
            <a:extLst xmlns:a="http://schemas.openxmlformats.org/drawingml/2006/main">
              <a:ext uri="{FF2B5EF4-FFF2-40B4-BE49-F238E27FC236}">
                <a16:creationId xmlns:a16="http://schemas.microsoft.com/office/drawing/2014/main" id="{9B485CFB-F836-4D3A-9D6D-B952B906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70522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新问题空白</a:t>
            </a:r>
          </a:p>
        </p:txBody>
      </p:sp>
      <p:sp>
        <p:nvSpPr>
          <p:cNvPr id="16" name="visual-8-10-p08-d2">
            <a:extLst xmlns:a="http://schemas.openxmlformats.org/drawingml/2006/main">
              <a:ext uri="{FF2B5EF4-FFF2-40B4-BE49-F238E27FC236}">
                <a16:creationId xmlns:a16="http://schemas.microsoft.com/office/drawing/2014/main" id="{F8B80FEE-D26A-4B68-B6ED-64FE461F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05225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新场景、条件或机制衍生的问题</a:t>
            </a:r>
          </a:p>
        </p:txBody>
      </p:sp>
      <p:sp>
        <p:nvSpPr>
          <p:cNvPr id="17" name="visual-8-11-p08-c2">
            <a:extLst xmlns:a="http://schemas.openxmlformats.org/drawingml/2006/main">
              <a:ext uri="{FF2B5EF4-FFF2-40B4-BE49-F238E27FC236}">
                <a16:creationId xmlns:a16="http://schemas.microsoft.com/office/drawing/2014/main" id="{10A40020-4DF2-468F-9B24-E72545C0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05225"/>
            <a:ext cx="2619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仍需可证伪</a:t>
            </a:r>
          </a:p>
        </p:txBody>
      </p:sp>
      <p:sp>
        <p:nvSpPr>
          <p:cNvPr id="18" name="visual-8-12-p08-bottom">
            <a:extLst xmlns:a="http://schemas.openxmlformats.org/drawingml/2006/main">
              <a:ext uri="{FF2B5EF4-FFF2-40B4-BE49-F238E27FC236}">
                <a16:creationId xmlns:a16="http://schemas.microsoft.com/office/drawing/2014/main" id="{4C076917-EF37-4A2E-AB2C-4AE0B265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4825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“还没有论文写过”不是空白证明，只是待核验的候选表述。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问题生成路径与候选题池：不要停在文献空白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6" name="visual-9-0-p09-lead">
            <a:extLst xmlns:a="http://schemas.openxmlformats.org/drawingml/2006/main">
              <a:ext uri="{FF2B5EF4-FFF2-40B4-BE49-F238E27FC236}">
                <a16:creationId xmlns:a16="http://schemas.microsoft.com/office/drawing/2014/main" id="{6F2F32C9-CB1F-4F48-BF16-CEA2B13E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76300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三类空白都是文献路径的产物；问题还可以来自文献之外。</a:t>
            </a:r>
          </a:p>
        </p:txBody>
      </p:sp>
      <p:sp>
        <p:nvSpPr>
          <p:cNvPr id="7" name="visual-9-1-p09-paths-h-0">
            <a:extLst xmlns:a="http://schemas.openxmlformats.org/drawingml/2006/main">
              <a:ext uri="{FF2B5EF4-FFF2-40B4-BE49-F238E27FC236}">
                <a16:creationId xmlns:a16="http://schemas.microsoft.com/office/drawing/2014/main" id="{701D7220-9514-4002-8A18-87CEF397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生成路径</a:t>
            </a:r>
          </a:p>
        </p:txBody>
      </p:sp>
      <p:sp>
        <p:nvSpPr>
          <p:cNvPr id="8" name="visual-9-2-p09-paths-h-1">
            <a:extLst xmlns:a="http://schemas.openxmlformats.org/drawingml/2006/main">
              <a:ext uri="{FF2B5EF4-FFF2-40B4-BE49-F238E27FC236}">
                <a16:creationId xmlns:a16="http://schemas.microsoft.com/office/drawing/2014/main" id="{DCDAB2A5-7E82-453D-8A18-CE2C90EB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4287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典型形态</a:t>
            </a:r>
          </a:p>
        </p:txBody>
      </p:sp>
      <p:sp>
        <p:nvSpPr>
          <p:cNvPr id="9" name="visual-9-3-p09-paths-h-2">
            <a:extLst xmlns:a="http://schemas.openxmlformats.org/drawingml/2006/main">
              <a:ext uri="{FF2B5EF4-FFF2-40B4-BE49-F238E27FC236}">
                <a16:creationId xmlns:a16="http://schemas.microsoft.com/office/drawing/2014/main" id="{A2F11E80-9392-4349-B288-DEAA0145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4287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检索的角色</a:t>
            </a:r>
          </a:p>
        </p:txBody>
      </p:sp>
      <p:sp>
        <p:nvSpPr>
          <p:cNvPr id="10" name="visual-9-4-p09-paths-r0-0">
            <a:extLst xmlns:a="http://schemas.openxmlformats.org/drawingml/2006/main">
              <a:ext uri="{FF2B5EF4-FFF2-40B4-BE49-F238E27FC236}">
                <a16:creationId xmlns:a16="http://schemas.microsoft.com/office/drawing/2014/main" id="{AA19A71D-2BE8-4EB8-8A65-527F8FDA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288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文献冲突 / 缺口</a:t>
            </a:r>
          </a:p>
        </p:txBody>
      </p:sp>
      <p:sp>
        <p:nvSpPr>
          <p:cNvPr id="11" name="visual-9-5-p09-paths-r0-1">
            <a:extLst xmlns:a="http://schemas.openxmlformats.org/drawingml/2006/main">
              <a:ext uri="{FF2B5EF4-FFF2-40B4-BE49-F238E27FC236}">
                <a16:creationId xmlns:a16="http://schemas.microsoft.com/office/drawing/2014/main" id="{747CBECC-E090-47A7-B3FF-D38A21F0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82880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证据矛盾或无回答（上页三类空白）</a:t>
            </a:r>
          </a:p>
        </p:txBody>
      </p:sp>
      <p:sp>
        <p:nvSpPr>
          <p:cNvPr id="12" name="visual-9-6-p09-paths-r0-2">
            <a:extLst xmlns:a="http://schemas.openxmlformats.org/drawingml/2006/main">
              <a:ext uri="{FF2B5EF4-FFF2-40B4-BE49-F238E27FC236}">
                <a16:creationId xmlns:a16="http://schemas.microsoft.com/office/drawing/2014/main" id="{C39A6E40-A796-44A1-A8A8-7EB3058A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8288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确认空白真实</a:t>
            </a:r>
          </a:p>
        </p:txBody>
      </p:sp>
      <p:sp>
        <p:nvSpPr>
          <p:cNvPr id="13" name="visual-9-7-p09-paths-r1-0">
            <a:extLst xmlns:a="http://schemas.openxmlformats.org/drawingml/2006/main">
              <a:ext uri="{FF2B5EF4-FFF2-40B4-BE49-F238E27FC236}">
                <a16:creationId xmlns:a16="http://schemas.microsoft.com/office/drawing/2014/main" id="{498C9288-1CD7-41B4-82B4-AA51502B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669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异常观察</a:t>
            </a:r>
          </a:p>
        </p:txBody>
      </p:sp>
      <p:sp>
        <p:nvSpPr>
          <p:cNvPr id="14" name="visual-9-8-p09-paths-r1-1">
            <a:extLst xmlns:a="http://schemas.openxmlformats.org/drawingml/2006/main">
              <a:ext uri="{FF2B5EF4-FFF2-40B4-BE49-F238E27FC236}">
                <a16:creationId xmlns:a16="http://schemas.microsoft.com/office/drawing/2014/main" id="{31B6DE68-56C2-4DE7-BC02-57D5768D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26695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观察与预期不符，现有解释覆盖不了</a:t>
            </a:r>
          </a:p>
        </p:txBody>
      </p:sp>
      <p:sp>
        <p:nvSpPr>
          <p:cNvPr id="15" name="visual-9-9-p09-paths-r1-2">
            <a:extLst xmlns:a="http://schemas.openxmlformats.org/drawingml/2006/main">
              <a:ext uri="{FF2B5EF4-FFF2-40B4-BE49-F238E27FC236}">
                <a16:creationId xmlns:a16="http://schemas.microsoft.com/office/drawing/2014/main" id="{C2654210-D85E-4274-A8C9-5E1C4E9D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2669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检验是否已被解释</a:t>
            </a:r>
          </a:p>
        </p:txBody>
      </p:sp>
      <p:sp>
        <p:nvSpPr>
          <p:cNvPr id="16" name="visual-9-10-p09-paths-r2-0">
            <a:extLst xmlns:a="http://schemas.openxmlformats.org/drawingml/2006/main">
              <a:ext uri="{FF2B5EF4-FFF2-40B4-BE49-F238E27FC236}">
                <a16:creationId xmlns:a16="http://schemas.microsoft.com/office/drawing/2014/main" id="{7DE622A6-95B1-427E-BE45-5E061C9F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051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实践痛点</a:t>
            </a:r>
          </a:p>
        </p:txBody>
      </p:sp>
      <p:sp>
        <p:nvSpPr>
          <p:cNvPr id="17" name="visual-9-11-p09-paths-r2-1">
            <a:extLst xmlns:a="http://schemas.openxmlformats.org/drawingml/2006/main">
              <a:ext uri="{FF2B5EF4-FFF2-40B4-BE49-F238E27FC236}">
                <a16:creationId xmlns:a16="http://schemas.microsoft.com/office/drawing/2014/main" id="{C4B52717-AD76-4379-8461-559D9384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70510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自己科研或工程的一手问题</a:t>
            </a:r>
          </a:p>
        </p:txBody>
      </p:sp>
      <p:sp>
        <p:nvSpPr>
          <p:cNvPr id="18" name="visual-9-12-p09-paths-r2-2">
            <a:extLst xmlns:a="http://schemas.openxmlformats.org/drawingml/2006/main">
              <a:ext uri="{FF2B5EF4-FFF2-40B4-BE49-F238E27FC236}">
                <a16:creationId xmlns:a16="http://schemas.microsoft.com/office/drawing/2014/main" id="{8F9FA693-2DA8-4AC0-BC31-5B37B8DD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7051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检验是否已有解法</a:t>
            </a:r>
          </a:p>
        </p:txBody>
      </p:sp>
      <p:sp>
        <p:nvSpPr>
          <p:cNvPr id="19" name="visual-9-13-p09-paths-r3-0">
            <a:extLst xmlns:a="http://schemas.openxmlformats.org/drawingml/2006/main">
              <a:ext uri="{FF2B5EF4-FFF2-40B4-BE49-F238E27FC236}">
                <a16:creationId xmlns:a16="http://schemas.microsoft.com/office/drawing/2014/main" id="{FB426442-C21D-4D76-936B-1A2D8BC5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新条件失效</a:t>
            </a:r>
          </a:p>
        </p:txBody>
      </p:sp>
      <p:sp>
        <p:nvSpPr>
          <p:cNvPr id="20" name="visual-9-14-p09-paths-r3-1">
            <a:extLst xmlns:a="http://schemas.openxmlformats.org/drawingml/2006/main">
              <a:ext uri="{FF2B5EF4-FFF2-40B4-BE49-F238E27FC236}">
                <a16:creationId xmlns:a16="http://schemas.microsoft.com/office/drawing/2014/main" id="{BAAB3AC4-61E8-4C42-87ED-80B41D30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14325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新能力 / 数据使旧假设失效</a:t>
            </a:r>
          </a:p>
        </p:txBody>
      </p:sp>
      <p:sp>
        <p:nvSpPr>
          <p:cNvPr id="21" name="visual-9-15-p09-paths-r3-2">
            <a:extLst xmlns:a="http://schemas.openxmlformats.org/drawingml/2006/main">
              <a:ext uri="{FF2B5EF4-FFF2-40B4-BE49-F238E27FC236}">
                <a16:creationId xmlns:a16="http://schemas.microsoft.com/office/drawing/2014/main" id="{E3707D63-508F-4D91-B492-0CEC190D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1432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检验旧结论的假设</a:t>
            </a:r>
          </a:p>
        </p:txBody>
      </p:sp>
      <p:sp>
        <p:nvSpPr>
          <p:cNvPr id="22" name="visual-9-16-p09-paths-r4-0">
            <a:extLst xmlns:a="http://schemas.openxmlformats.org/drawingml/2006/main">
              <a:ext uri="{FF2B5EF4-FFF2-40B4-BE49-F238E27FC236}">
                <a16:creationId xmlns:a16="http://schemas.microsoft.com/office/drawing/2014/main" id="{15484976-3322-46B2-998C-5091FDEB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814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第一性原理反推</a:t>
            </a:r>
          </a:p>
        </p:txBody>
      </p:sp>
      <p:sp>
        <p:nvSpPr>
          <p:cNvPr id="23" name="visual-9-17-p09-paths-r4-1">
            <a:extLst xmlns:a="http://schemas.openxmlformats.org/drawingml/2006/main">
              <a:ext uri="{FF2B5EF4-FFF2-40B4-BE49-F238E27FC236}">
                <a16:creationId xmlns:a16="http://schemas.microsoft.com/office/drawing/2014/main" id="{E66177BF-CF6E-4A3B-BF25-339DC6E6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58140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必要条件与现状对照</a:t>
            </a:r>
          </a:p>
        </p:txBody>
      </p:sp>
      <p:sp>
        <p:nvSpPr>
          <p:cNvPr id="24" name="visual-9-18-p09-paths-r4-2">
            <a:extLst xmlns:a="http://schemas.openxmlformats.org/drawingml/2006/main">
              <a:ext uri="{FF2B5EF4-FFF2-40B4-BE49-F238E27FC236}">
                <a16:creationId xmlns:a16="http://schemas.microsoft.com/office/drawing/2014/main" id="{B16E3C58-BCE5-49D8-8335-907CED41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814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检验推导前提</a:t>
            </a:r>
          </a:p>
        </p:txBody>
      </p:sp>
      <p:sp>
        <p:nvSpPr>
          <p:cNvPr id="25" name="visual-9-19-p09-paths-r5-0">
            <a:extLst xmlns:a="http://schemas.openxmlformats.org/drawingml/2006/main">
              <a:ext uri="{FF2B5EF4-FFF2-40B4-BE49-F238E27FC236}">
                <a16:creationId xmlns:a16="http://schemas.microsoft.com/office/drawing/2014/main" id="{B855E9AF-443C-4C30-850E-3F6BF5D9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195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重构 / 迁移</a:t>
            </a:r>
          </a:p>
        </p:txBody>
      </p:sp>
      <p:sp>
        <p:nvSpPr>
          <p:cNvPr id="26" name="visual-9-20-p09-paths-r5-1">
            <a:extLst xmlns:a="http://schemas.openxmlformats.org/drawingml/2006/main">
              <a:ext uri="{FF2B5EF4-FFF2-40B4-BE49-F238E27FC236}">
                <a16:creationId xmlns:a16="http://schemas.microsoft.com/office/drawing/2014/main" id="{1EFCA582-D9F0-4B12-957F-6E4DF350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1955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换问法、换视角、移植机制</a:t>
            </a:r>
          </a:p>
        </p:txBody>
      </p:sp>
      <p:sp>
        <p:nvSpPr>
          <p:cNvPr id="27" name="visual-9-21-p09-paths-r5-2">
            <a:extLst xmlns:a="http://schemas.openxmlformats.org/drawingml/2006/main">
              <a:ext uri="{FF2B5EF4-FFF2-40B4-BE49-F238E27FC236}">
                <a16:creationId xmlns:a16="http://schemas.microsoft.com/office/drawing/2014/main" id="{C1E3B24F-5150-443B-AD02-2A3C8283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0195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检验新提法是否真新</a:t>
            </a:r>
          </a:p>
        </p:txBody>
      </p:sp>
      <p:sp>
        <p:nvSpPr>
          <p:cNvPr id="28" name="visual-9-22-p09-pool">
            <a:extLst xmlns:a="http://schemas.openxmlformats.org/drawingml/2006/main">
              <a:ext uri="{FF2B5EF4-FFF2-40B4-BE49-F238E27FC236}">
                <a16:creationId xmlns:a16="http://schemas.microsoft.com/office/drawing/2014/main" id="{903C8EFF-B9B9-464C-9F1B-974833E9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候选题池（第 6 课前补齐）：≥3 候选题｜覆盖 ≥2 条路径｜≥1 个非文献空白路径；当堂先记 1 个候选题的表述与路径标签</a:t>
            </a:r>
          </a:p>
        </p:txBody>
      </p:sp>
      <p:sp>
        <p:nvSpPr>
          <p:cNvPr id="29" name="visual-9-23-p09-bottom">
            <a:extLst xmlns:a="http://schemas.openxmlformats.org/drawingml/2006/main">
              <a:ext uri="{FF2B5EF4-FFF2-40B4-BE49-F238E27FC236}">
                <a16:creationId xmlns:a16="http://schemas.microsoft.com/office/drawing/2014/main" id="{8F575369-3E40-45A9-98D4-ADD09928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387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检索用来检验问题，不是生成问题。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三步检验：从证据空白到可检验问题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6" name="visual-10-0-p10-n0">
            <a:extLst xmlns:a="http://schemas.openxmlformats.org/drawingml/2006/main">
              <a:ext uri="{FF2B5EF4-FFF2-40B4-BE49-F238E27FC236}">
                <a16:creationId xmlns:a16="http://schemas.microsoft.com/office/drawing/2014/main" id="{2E206FA2-4699-4AA9-B5A3-B0A99C7E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7" name="visual-10-1-p10-h0">
            <a:extLst xmlns:a="http://schemas.openxmlformats.org/drawingml/2006/main">
              <a:ext uri="{FF2B5EF4-FFF2-40B4-BE49-F238E27FC236}">
                <a16:creationId xmlns:a16="http://schemas.microsoft.com/office/drawing/2014/main" id="{D9C51283-40DD-4ACF-B51C-F08E7C2F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2573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真实性</a:t>
            </a:r>
          </a:p>
        </p:txBody>
      </p:sp>
      <p:sp>
        <p:nvSpPr>
          <p:cNvPr id="8" name="visual-10-2-p10-d0">
            <a:extLst xmlns:a="http://schemas.openxmlformats.org/drawingml/2006/main">
              <a:ext uri="{FF2B5EF4-FFF2-40B4-BE49-F238E27FC236}">
                <a16:creationId xmlns:a16="http://schemas.microsoft.com/office/drawing/2014/main" id="{A866DB4B-0806-44A9-8B37-6FE4380A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43125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窄检索：式 / 库 / 日期 / 命中 / 筛选</a:t>
            </a:r>
          </a:p>
        </p:txBody>
      </p:sp>
      <p:sp>
        <p:nvSpPr>
          <p:cNvPr id="9" name="visual-10-3-p10-a0">
            <a:extLst xmlns:a="http://schemas.openxmlformats.org/drawingml/2006/main">
              <a:ext uri="{FF2B5EF4-FFF2-40B4-BE49-F238E27FC236}">
                <a16:creationId xmlns:a16="http://schemas.microsoft.com/office/drawing/2014/main" id="{BB4B320E-6575-4D88-814C-3A847D6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61937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" name="visual-10-4-p10-n1">
            <a:extLst xmlns:a="http://schemas.openxmlformats.org/drawingml/2006/main">
              <a:ext uri="{FF2B5EF4-FFF2-40B4-BE49-F238E27FC236}">
                <a16:creationId xmlns:a16="http://schemas.microsoft.com/office/drawing/2014/main" id="{D29FA904-F43E-4A88-BD09-6A78D5E8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3525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1" name="visual-10-5-p10-h1">
            <a:extLst xmlns:a="http://schemas.openxmlformats.org/drawingml/2006/main">
              <a:ext uri="{FF2B5EF4-FFF2-40B4-BE49-F238E27FC236}">
                <a16:creationId xmlns:a16="http://schemas.microsoft.com/office/drawing/2014/main" id="{5EF40788-585A-40BD-9C57-B50AF889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2573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重要性</a:t>
            </a:r>
          </a:p>
        </p:txBody>
      </p:sp>
      <p:sp>
        <p:nvSpPr>
          <p:cNvPr id="12" name="visual-10-6-p10-d1">
            <a:extLst xmlns:a="http://schemas.openxmlformats.org/drawingml/2006/main">
              <a:ext uri="{FF2B5EF4-FFF2-40B4-BE49-F238E27FC236}">
                <a16:creationId xmlns:a16="http://schemas.microsoft.com/office/drawing/2014/main" id="{BDE81968-56C9-4149-915E-A516FA6F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143125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若不回答，哪条主张或机制无法成立？</a:t>
            </a:r>
          </a:p>
        </p:txBody>
      </p:sp>
      <p:sp>
        <p:nvSpPr>
          <p:cNvPr id="13" name="visual-10-7-p10-a1">
            <a:extLst xmlns:a="http://schemas.openxmlformats.org/drawingml/2006/main">
              <a:ext uri="{FF2B5EF4-FFF2-40B4-BE49-F238E27FC236}">
                <a16:creationId xmlns:a16="http://schemas.microsoft.com/office/drawing/2014/main" id="{CD3BEE00-5975-42D2-8427-C6DD7A93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1937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4" name="visual-10-8-p10-n2">
            <a:extLst xmlns:a="http://schemas.openxmlformats.org/drawingml/2006/main">
              <a:ext uri="{FF2B5EF4-FFF2-40B4-BE49-F238E27FC236}">
                <a16:creationId xmlns:a16="http://schemas.microsoft.com/office/drawing/2014/main" id="{0C7BFC05-B8C6-4B95-AFB5-BF3DA131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3525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5" name="visual-10-9-p10-h2">
            <a:extLst xmlns:a="http://schemas.openxmlformats.org/drawingml/2006/main">
              <a:ext uri="{FF2B5EF4-FFF2-40B4-BE49-F238E27FC236}">
                <a16:creationId xmlns:a16="http://schemas.microsoft.com/office/drawing/2014/main" id="{2BB288CA-A010-4259-A4B6-A6CC867E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2573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可行性</a:t>
            </a:r>
          </a:p>
        </p:txBody>
      </p:sp>
      <p:sp>
        <p:nvSpPr>
          <p:cNvPr id="16" name="visual-10-10-p10-d2">
            <a:extLst xmlns:a="http://schemas.openxmlformats.org/drawingml/2006/main">
              <a:ext uri="{FF2B5EF4-FFF2-40B4-BE49-F238E27FC236}">
                <a16:creationId xmlns:a16="http://schemas.microsoft.com/office/drawing/2014/main" id="{C8D0C412-806B-4EC2-936D-10BE18A6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43125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课程周期内能否做最小实验、对照或分析？</a:t>
            </a:r>
          </a:p>
        </p:txBody>
      </p:sp>
      <p:sp>
        <p:nvSpPr>
          <p:cNvPr id="17" name="visual-10-11-p10-pass">
            <a:extLst xmlns:a="http://schemas.openxmlformats.org/drawingml/2006/main">
              <a:ext uri="{FF2B5EF4-FFF2-40B4-BE49-F238E27FC236}">
                <a16:creationId xmlns:a16="http://schemas.microsoft.com/office/drawing/2014/main" id="{141C6BAE-689D-4AAD-ABF8-8B9C4A28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三步均有记录 → 进入候选题池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→ 第 6 课比较收敛</a:t>
            </a:r>
          </a:p>
        </p:txBody>
      </p:sp>
      <p:sp>
        <p:nvSpPr>
          <p:cNvPr id="18" name="visual-10-12-p10-back">
            <a:extLst xmlns:a="http://schemas.openxmlformats.org/drawingml/2006/main">
              <a:ext uri="{FF2B5EF4-FFF2-40B4-BE49-F238E27FC236}">
                <a16:creationId xmlns:a16="http://schemas.microsoft.com/office/drawing/2014/main" id="{149145EC-77A3-47E1-BBC1-22AEA9E9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任一步不足 → 回到检索、证据或范围</a:t>
            </a:r>
          </a:p>
        </p:txBody>
      </p:sp>
      <p:sp>
        <p:nvSpPr>
          <p:cNvPr id="19" name="visual-10-13-p10-bottom">
            <a:extLst xmlns:a="http://schemas.openxmlformats.org/drawingml/2006/main">
              <a:ext uri="{FF2B5EF4-FFF2-40B4-BE49-F238E27FC236}">
                <a16:creationId xmlns:a16="http://schemas.microsoft.com/office/drawing/2014/main" id="{12AA7168-D702-472B-BACE-A690E4E6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95875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不要把“我没找到”升级为“领域没人做过”。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不是空白的情况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6" name="visual-11-0-p11-a0">
            <a:extLst xmlns:a="http://schemas.openxmlformats.org/drawingml/2006/main">
              <a:ext uri="{FF2B5EF4-FFF2-40B4-BE49-F238E27FC236}">
                <a16:creationId xmlns:a16="http://schemas.microsoft.com/office/drawing/2014/main" id="{E2519CC5-3C32-48BD-92BC-CA59F7E3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表述差异</a:t>
            </a:r>
          </a:p>
        </p:txBody>
      </p:sp>
      <p:sp>
        <p:nvSpPr>
          <p:cNvPr id="7" name="visual-11-1-p11-arr0">
            <a:extLst xmlns:a="http://schemas.openxmlformats.org/drawingml/2006/main">
              <a:ext uri="{FF2B5EF4-FFF2-40B4-BE49-F238E27FC236}">
                <a16:creationId xmlns:a16="http://schemas.microsoft.com/office/drawing/2014/main" id="{6EDCAF91-2FBA-4C8D-B080-A358F7A7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2382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8" name="visual-11-2-p11-b0">
            <a:extLst xmlns:a="http://schemas.openxmlformats.org/drawingml/2006/main">
              <a:ext uri="{FF2B5EF4-FFF2-40B4-BE49-F238E27FC236}">
                <a16:creationId xmlns:a16="http://schemas.microsoft.com/office/drawing/2014/main" id="{7BE9C575-DC0B-430D-BCEA-3AAF66DE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123950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术语不同，但操作定义相同</a:t>
            </a:r>
          </a:p>
        </p:txBody>
      </p:sp>
      <p:sp>
        <p:nvSpPr>
          <p:cNvPr id="9" name="visual-11-3-p11-a1">
            <a:extLst xmlns:a="http://schemas.openxmlformats.org/drawingml/2006/main">
              <a:ext uri="{FF2B5EF4-FFF2-40B4-BE49-F238E27FC236}">
                <a16:creationId xmlns:a16="http://schemas.microsoft.com/office/drawing/2014/main" id="{CCA08401-9A9D-4FAB-8098-5E9B87FC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05025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范围差异</a:t>
            </a:r>
          </a:p>
        </p:txBody>
      </p:sp>
      <p:sp>
        <p:nvSpPr>
          <p:cNvPr id="10" name="visual-11-4-p11-arr1">
            <a:extLst xmlns:a="http://schemas.openxmlformats.org/drawingml/2006/main">
              <a:ext uri="{FF2B5EF4-FFF2-40B4-BE49-F238E27FC236}">
                <a16:creationId xmlns:a16="http://schemas.microsoft.com/office/drawing/2014/main" id="{DCA96852-23C5-482C-B676-9E5AB48F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193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" name="visual-11-5-p11-b1">
            <a:extLst xmlns:a="http://schemas.openxmlformats.org/drawingml/2006/main">
              <a:ext uri="{FF2B5EF4-FFF2-40B4-BE49-F238E27FC236}">
                <a16:creationId xmlns:a16="http://schemas.microsoft.com/office/drawing/2014/main" id="{0DF31188-9097-4A14-A826-D8AF117A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0502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数据集或任务不同，结论不可比</a:t>
            </a:r>
          </a:p>
        </p:txBody>
      </p:sp>
      <p:sp>
        <p:nvSpPr>
          <p:cNvPr id="12" name="visual-11-6-p11-a2">
            <a:extLst xmlns:a="http://schemas.openxmlformats.org/drawingml/2006/main">
              <a:ext uri="{FF2B5EF4-FFF2-40B4-BE49-F238E27FC236}">
                <a16:creationId xmlns:a16="http://schemas.microsoft.com/office/drawing/2014/main" id="{1D8F28B0-FFCE-4868-A0E3-F6139388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工程未做</a:t>
            </a:r>
          </a:p>
        </p:txBody>
      </p:sp>
      <p:sp>
        <p:nvSpPr>
          <p:cNvPr id="13" name="visual-11-7-p11-arr2">
            <a:extLst xmlns:a="http://schemas.openxmlformats.org/drawingml/2006/main">
              <a:ext uri="{FF2B5EF4-FFF2-40B4-BE49-F238E27FC236}">
                <a16:creationId xmlns:a16="http://schemas.microsoft.com/office/drawing/2014/main" id="{AB00B616-F178-4FFC-B6D9-5436D2F7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004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4" name="visual-11-8-p11-b2">
            <a:extLst xmlns:a="http://schemas.openxmlformats.org/drawingml/2006/main">
              <a:ext uri="{FF2B5EF4-FFF2-40B4-BE49-F238E27FC236}">
                <a16:creationId xmlns:a16="http://schemas.microsoft.com/office/drawing/2014/main" id="{91C862CB-F2F2-43F4-AB4A-73CD5660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86100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尚未评测某产品，不一定是机制问题</a:t>
            </a:r>
          </a:p>
        </p:txBody>
      </p:sp>
      <p:sp>
        <p:nvSpPr>
          <p:cNvPr id="15" name="visual-11-9-p11-a3">
            <a:extLst xmlns:a="http://schemas.openxmlformats.org/drawingml/2006/main">
              <a:ext uri="{FF2B5EF4-FFF2-40B4-BE49-F238E27FC236}">
                <a16:creationId xmlns:a16="http://schemas.microsoft.com/office/drawing/2014/main" id="{C2EC68A3-20F4-4576-B372-43283C7E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67175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新但不重要</a:t>
            </a:r>
          </a:p>
        </p:txBody>
      </p:sp>
      <p:sp>
        <p:nvSpPr>
          <p:cNvPr id="16" name="visual-11-10-p11-arr3">
            <a:extLst xmlns:a="http://schemas.openxmlformats.org/drawingml/2006/main">
              <a:ext uri="{FF2B5EF4-FFF2-40B4-BE49-F238E27FC236}">
                <a16:creationId xmlns:a16="http://schemas.microsoft.com/office/drawing/2014/main" id="{DC8C49D7-A7D7-4B84-8D24-89EA98DB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814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visual-11-11-p11-b3">
            <a:extLst xmlns:a="http://schemas.openxmlformats.org/drawingml/2006/main">
              <a:ext uri="{FF2B5EF4-FFF2-40B4-BE49-F238E27FC236}">
                <a16:creationId xmlns:a16="http://schemas.microsoft.com/office/drawing/2014/main" id="{689475AF-2147-4B2D-B376-8620B653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6717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换模型再跑一遍，判断没有改变</a:t>
            </a:r>
          </a:p>
        </p:txBody>
      </p:sp>
      <p:sp>
        <p:nvSpPr>
          <p:cNvPr id="18" name="visual-11-12-p11-bottom">
            <a:extLst xmlns:a="http://schemas.openxmlformats.org/drawingml/2006/main">
              <a:ext uri="{FF2B5EF4-FFF2-40B4-BE49-F238E27FC236}">
                <a16:creationId xmlns:a16="http://schemas.microsoft.com/office/drawing/2014/main" id="{0621A3A1-FA74-40E5-B079-A601A5E2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9587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真实空白必须是已有证据不能回答的具体问题。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综述草稿核验清单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6" name="visual-12-0-p12-n0">
            <a:extLst xmlns:a="http://schemas.openxmlformats.org/drawingml/2006/main">
              <a:ext uri="{FF2B5EF4-FFF2-40B4-BE49-F238E27FC236}">
                <a16:creationId xmlns:a16="http://schemas.microsoft.com/office/drawing/2014/main" id="{EAF4B19C-F70D-4843-A4EA-E4624EC6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7" name="visual-12-1-p12-t0">
            <a:extLst xmlns:a="http://schemas.openxmlformats.org/drawingml/2006/main">
              <a:ext uri="{FF2B5EF4-FFF2-40B4-BE49-F238E27FC236}">
                <a16:creationId xmlns:a16="http://schemas.microsoft.com/office/drawing/2014/main" id="{EDA65796-827E-46B2-ABD3-EFB81DEE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715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引文真实存在，题名 / 作者 / 年份 / DOI 与原文一致？</a:t>
            </a:r>
          </a:p>
        </p:txBody>
      </p:sp>
      <p:sp>
        <p:nvSpPr>
          <p:cNvPr id="8" name="visual-12-2-p12-n1">
            <a:extLst xmlns:a="http://schemas.openxmlformats.org/drawingml/2006/main">
              <a:ext uri="{FF2B5EF4-FFF2-40B4-BE49-F238E27FC236}">
                <a16:creationId xmlns:a16="http://schemas.microsoft.com/office/drawing/2014/main" id="{15A8B288-0C3C-446D-9E2C-3D70B603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9" name="visual-12-3-p12-t1">
            <a:extLst xmlns:a="http://schemas.openxmlformats.org/drawingml/2006/main">
              <a:ext uri="{FF2B5EF4-FFF2-40B4-BE49-F238E27FC236}">
                <a16:creationId xmlns:a16="http://schemas.microsoft.com/office/drawing/2014/main" id="{D94DB6D4-2F88-4D02-8A70-3D918F10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907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“共同主张”真的出现在每条引用原文中？</a:t>
            </a:r>
          </a:p>
        </p:txBody>
      </p:sp>
      <p:sp>
        <p:nvSpPr>
          <p:cNvPr id="10" name="visual-12-4-p12-n2">
            <a:extLst xmlns:a="http://schemas.openxmlformats.org/drawingml/2006/main">
              <a:ext uri="{FF2B5EF4-FFF2-40B4-BE49-F238E27FC236}">
                <a16:creationId xmlns:a16="http://schemas.microsoft.com/office/drawing/2014/main" id="{45A64DB3-399C-49C3-A43A-09F3848D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" name="visual-12-5-p12-t2">
            <a:extLst xmlns:a="http://schemas.openxmlformats.org/drawingml/2006/main">
              <a:ext uri="{FF2B5EF4-FFF2-40B4-BE49-F238E27FC236}">
                <a16:creationId xmlns:a16="http://schemas.microsoft.com/office/drawing/2014/main" id="{DDB7B710-A89F-49FF-A88A-2177CEB2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“冲突”来自可比结论，还是任务设置不同？</a:t>
            </a:r>
          </a:p>
        </p:txBody>
      </p:sp>
      <p:sp>
        <p:nvSpPr>
          <p:cNvPr id="12" name="visual-12-6-p12-n3">
            <a:extLst xmlns:a="http://schemas.openxmlformats.org/drawingml/2006/main">
              <a:ext uri="{FF2B5EF4-FFF2-40B4-BE49-F238E27FC236}">
                <a16:creationId xmlns:a16="http://schemas.microsoft.com/office/drawing/2014/main" id="{5B8C5C5A-A7A6-48C5-BCDC-1E386D70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861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3" name="visual-12-7-p12-t3">
            <a:extLst xmlns:a="http://schemas.openxmlformats.org/drawingml/2006/main">
              <a:ext uri="{FF2B5EF4-FFF2-40B4-BE49-F238E27FC236}">
                <a16:creationId xmlns:a16="http://schemas.microsoft.com/office/drawing/2014/main" id="{C51CDB0F-72D6-4F5D-92F3-95D74D35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290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“缺角”经过窄检索确认，还是只凭当前列表？</a:t>
            </a:r>
          </a:p>
        </p:txBody>
      </p:sp>
      <p:sp>
        <p:nvSpPr>
          <p:cNvPr id="14" name="visual-12-8-p12-n4">
            <a:extLst xmlns:a="http://schemas.openxmlformats.org/drawingml/2006/main">
              <a:ext uri="{FF2B5EF4-FFF2-40B4-BE49-F238E27FC236}">
                <a16:creationId xmlns:a16="http://schemas.microsoft.com/office/drawing/2014/main" id="{AE31C3EF-C243-4CC5-9B84-DFEA1BE9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053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5" name="visual-12-9-p12-t4">
            <a:extLst xmlns:a="http://schemas.openxmlformats.org/drawingml/2006/main">
              <a:ext uri="{FF2B5EF4-FFF2-40B4-BE49-F238E27FC236}">
                <a16:creationId xmlns:a16="http://schemas.microsoft.com/office/drawing/2014/main" id="{3553EAEE-CEEB-4C45-B685-FA14B414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481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综述段落是否把模型推断写成原文结论？</a:t>
            </a:r>
          </a:p>
        </p:txBody>
      </p:sp>
      <p:sp>
        <p:nvSpPr>
          <p:cNvPr id="16" name="visual-12-10-p12-status-h">
            <a:extLst xmlns:a="http://schemas.openxmlformats.org/drawingml/2006/main">
              <a:ext uri="{FF2B5EF4-FFF2-40B4-BE49-F238E27FC236}">
                <a16:creationId xmlns:a16="http://schemas.microsoft.com/office/drawing/2014/main" id="{44B0B3FC-C43F-4FC7-81F8-FF12DBAD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0668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核验状态</a:t>
            </a:r>
          </a:p>
        </p:txBody>
      </p:sp>
      <p:sp>
        <p:nvSpPr>
          <p:cNvPr id="17" name="visual-12-11-p12-s0">
            <a:extLst xmlns:a="http://schemas.openxmlformats.org/drawingml/2006/main">
              <a:ext uri="{FF2B5EF4-FFF2-40B4-BE49-F238E27FC236}">
                <a16:creationId xmlns:a16="http://schemas.microsoft.com/office/drawing/2014/main" id="{46E55589-7035-4B27-9B81-9FBD66F0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907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pending</a:t>
            </a:r>
          </a:p>
        </p:txBody>
      </p:sp>
      <p:sp>
        <p:nvSpPr>
          <p:cNvPr id="18" name="visual-12-12-p12-s1">
            <a:extLst xmlns:a="http://schemas.openxmlformats.org/drawingml/2006/main">
              <a:ext uri="{FF2B5EF4-FFF2-40B4-BE49-F238E27FC236}">
                <a16:creationId xmlns:a16="http://schemas.microsoft.com/office/drawing/2014/main" id="{90BA5355-132B-4F12-AAA7-6F0C4562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717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verified</a:t>
            </a:r>
          </a:p>
        </p:txBody>
      </p:sp>
      <p:sp>
        <p:nvSpPr>
          <p:cNvPr id="19" name="visual-12-13-p12-s2">
            <a:extLst xmlns:a="http://schemas.openxmlformats.org/drawingml/2006/main">
              <a:ext uri="{FF2B5EF4-FFF2-40B4-BE49-F238E27FC236}">
                <a16:creationId xmlns:a16="http://schemas.microsoft.com/office/drawing/2014/main" id="{21FB585A-7E7A-47F4-8CE8-F8235C98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528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verified-with-caveat</a:t>
            </a:r>
          </a:p>
        </p:txBody>
      </p:sp>
      <p:sp>
        <p:nvSpPr>
          <p:cNvPr id="20" name="visual-12-14-p12-s3">
            <a:extLst xmlns:a="http://schemas.openxmlformats.org/drawingml/2006/main">
              <a:ext uri="{FF2B5EF4-FFF2-40B4-BE49-F238E27FC236}">
                <a16:creationId xmlns:a16="http://schemas.microsoft.com/office/drawing/2014/main" id="{6EA752A8-49AC-4960-8F20-92262A3D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338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rejected</a:t>
            </a:r>
          </a:p>
        </p:txBody>
      </p:sp>
      <p:sp>
        <p:nvSpPr>
          <p:cNvPr id="21" name="visual-12-15-p12-bottom">
            <a:extLst xmlns:a="http://schemas.openxmlformats.org/drawingml/2006/main">
              <a:ext uri="{FF2B5EF4-FFF2-40B4-BE49-F238E27FC236}">
                <a16:creationId xmlns:a16="http://schemas.microsoft.com/office/drawing/2014/main" id="{1D2824C9-81C5-4F82-8AA4-34D5340E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05400"/>
            <a:ext cx="8991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pending 仅线索区｜caveat 必须保留限定且不可单独支撑 stable｜rejected 仅审计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MI 演示：阅读卡 → 因果证据矩阵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6" name="visual-13-0-p13-real">
            <a:extLst xmlns:a="http://schemas.openxmlformats.org/drawingml/2006/main">
              <a:ext uri="{FF2B5EF4-FFF2-40B4-BE49-F238E27FC236}">
                <a16:creationId xmlns:a16="http://schemas.microsoft.com/office/drawing/2014/main" id="{152C6227-1AE8-4001-B0B2-836BBE0E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5725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真实论文证据｜位置已在 L4 阅读卡核验</a:t>
            </a:r>
          </a:p>
        </p:txBody>
      </p:sp>
      <p:sp>
        <p:nvSpPr>
          <p:cNvPr id="7" name="visual-13-1-p13-question">
            <a:extLst xmlns:a="http://schemas.openxmlformats.org/drawingml/2006/main">
              <a:ext uri="{FF2B5EF4-FFF2-40B4-BE49-F238E27FC236}">
                <a16:creationId xmlns:a16="http://schemas.microsoft.com/office/drawing/2014/main" id="{C124F79B-CC1D-4C08-9C63-B49F15EB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SAE 特征能否更稀疏地定位并干预 IOI 行为；patching 成功还缺什么证据？</a:t>
            </a:r>
          </a:p>
        </p:txBody>
      </p:sp>
      <p:sp>
        <p:nvSpPr>
          <p:cNvPr id="8" name="visual-13-2-p13-matrix-h-0">
            <a:extLst xmlns:a="http://schemas.openxmlformats.org/drawingml/2006/main">
              <a:ext uri="{FF2B5EF4-FFF2-40B4-BE49-F238E27FC236}">
                <a16:creationId xmlns:a16="http://schemas.microsoft.com/office/drawing/2014/main" id="{7E16FAEB-CE37-4DF1-BAF3-54D2706E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证据</a:t>
            </a:r>
          </a:p>
        </p:txBody>
      </p:sp>
      <p:sp>
        <p:nvSpPr>
          <p:cNvPr id="9" name="visual-13-3-p13-matrix-h-1">
            <a:extLst xmlns:a="http://schemas.openxmlformats.org/drawingml/2006/main">
              <a:ext uri="{FF2B5EF4-FFF2-40B4-BE49-F238E27FC236}">
                <a16:creationId xmlns:a16="http://schemas.microsoft.com/office/drawing/2014/main" id="{8FA8DBEB-832E-43C5-BF44-8A292F33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478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任务 / 对照</a:t>
            </a:r>
          </a:p>
        </p:txBody>
      </p:sp>
      <p:sp>
        <p:nvSpPr>
          <p:cNvPr id="10" name="visual-13-4-p13-matrix-h-2">
            <a:extLst xmlns:a="http://schemas.openxmlformats.org/drawingml/2006/main">
              <a:ext uri="{FF2B5EF4-FFF2-40B4-BE49-F238E27FC236}">
                <a16:creationId xmlns:a16="http://schemas.microsoft.com/office/drawing/2014/main" id="{EFE54F6F-08E7-4435-9B10-2B1D5C46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478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结果角色</a:t>
            </a:r>
          </a:p>
        </p:txBody>
      </p:sp>
      <p:sp>
        <p:nvSpPr>
          <p:cNvPr id="11" name="visual-13-5-p13-matrix-h-3">
            <a:extLst xmlns:a="http://schemas.openxmlformats.org/drawingml/2006/main">
              <a:ext uri="{FF2B5EF4-FFF2-40B4-BE49-F238E27FC236}">
                <a16:creationId xmlns:a16="http://schemas.microsoft.com/office/drawing/2014/main" id="{9C027430-F1E2-4AD5-B11A-1355F5B9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478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不能直接推出</a:t>
            </a:r>
          </a:p>
        </p:txBody>
      </p:sp>
      <p:sp>
        <p:nvSpPr>
          <p:cNvPr id="12" name="visual-13-6-p13-matrix-r0-0">
            <a:extLst xmlns:a="http://schemas.openxmlformats.org/drawingml/2006/main">
              <a:ext uri="{FF2B5EF4-FFF2-40B4-BE49-F238E27FC236}">
                <a16:creationId xmlns:a16="http://schemas.microsoft.com/office/drawing/2014/main" id="{29FFEC74-7D9C-41C2-B6F3-43EB64F5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4792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C02</a:t>
            </a:r>
          </a:p>
        </p:txBody>
      </p:sp>
      <p:sp>
        <p:nvSpPr>
          <p:cNvPr id="13" name="visual-13-7-p13-matrix-r0-1">
            <a:extLst xmlns:a="http://schemas.openxmlformats.org/drawingml/2006/main">
              <a:ext uri="{FF2B5EF4-FFF2-40B4-BE49-F238E27FC236}">
                <a16:creationId xmlns:a16="http://schemas.microsoft.com/office/drawing/2014/main" id="{5C577A1E-5201-43AE-B128-0A3EE2C0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47925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Pythia-410M IOI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SAE vs PCA</a:t>
            </a:r>
          </a:p>
        </p:txBody>
      </p:sp>
      <p:sp>
        <p:nvSpPr>
          <p:cNvPr id="14" name="visual-13-8-p13-matrix-r0-2">
            <a:extLst xmlns:a="http://schemas.openxmlformats.org/drawingml/2006/main">
              <a:ext uri="{FF2B5EF4-FFF2-40B4-BE49-F238E27FC236}">
                <a16:creationId xmlns:a16="http://schemas.microsoft.com/office/drawing/2014/main" id="{790CC39F-02C5-4C1E-9B46-9D38D533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479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正向：更少 patch、较小编辑量</a:t>
            </a:r>
          </a:p>
        </p:txBody>
      </p:sp>
      <p:sp>
        <p:nvSpPr>
          <p:cNvPr id="15" name="visual-13-9-p13-matrix-r0-3">
            <a:extLst xmlns:a="http://schemas.openxmlformats.org/drawingml/2006/main">
              <a:ext uri="{FF2B5EF4-FFF2-40B4-BE49-F238E27FC236}">
                <a16:creationId xmlns:a16="http://schemas.microsoft.com/office/drawing/2014/main" id="{1A88CF4D-05D0-41BB-B032-B81E6FA8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47925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跨任务、因果忠实</a:t>
            </a:r>
          </a:p>
        </p:txBody>
      </p:sp>
      <p:sp>
        <p:nvSpPr>
          <p:cNvPr id="16" name="visual-13-10-p13-matrix-r1-0">
            <a:extLst xmlns:a="http://schemas.openxmlformats.org/drawingml/2006/main">
              <a:ext uri="{FF2B5EF4-FFF2-40B4-BE49-F238E27FC236}">
                <a16:creationId xmlns:a16="http://schemas.microsoft.com/office/drawing/2014/main" id="{1A816FCD-BCB9-44C9-AA13-4B19FD10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3847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C16</a:t>
            </a:r>
          </a:p>
        </p:txBody>
      </p:sp>
      <p:sp>
        <p:nvSpPr>
          <p:cNvPr id="17" name="visual-13-11-p13-matrix-r1-1">
            <a:extLst xmlns:a="http://schemas.openxmlformats.org/drawingml/2006/main">
              <a:ext uri="{FF2B5EF4-FFF2-40B4-BE49-F238E27FC236}">
                <a16:creationId xmlns:a16="http://schemas.microsoft.com/office/drawing/2014/main" id="{676E6FDD-490B-4A9D-AA50-C10B594E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38475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GPT2-small IOI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SAE vs 监督字典</a:t>
            </a:r>
          </a:p>
        </p:txBody>
      </p:sp>
      <p:sp>
        <p:nvSpPr>
          <p:cNvPr id="18" name="visual-13-12-p13-matrix-r1-2">
            <a:extLst xmlns:a="http://schemas.openxmlformats.org/drawingml/2006/main">
              <a:ext uri="{FF2B5EF4-FFF2-40B4-BE49-F238E27FC236}">
                <a16:creationId xmlns:a16="http://schemas.microsoft.com/office/drawing/2014/main" id="{DADC5F43-8913-4C43-97AA-956F968B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384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限制：解释性与控制性分离</a:t>
            </a:r>
          </a:p>
        </p:txBody>
      </p:sp>
      <p:sp>
        <p:nvSpPr>
          <p:cNvPr id="19" name="visual-13-13-p13-matrix-r1-3">
            <a:extLst xmlns:a="http://schemas.openxmlformats.org/drawingml/2006/main">
              <a:ext uri="{FF2B5EF4-FFF2-40B4-BE49-F238E27FC236}">
                <a16:creationId xmlns:a16="http://schemas.microsoft.com/office/drawing/2014/main" id="{B2C60510-9391-4020-AC51-7E85F6AE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38475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SAE 普遍无效</a:t>
            </a:r>
          </a:p>
        </p:txBody>
      </p:sp>
      <p:sp>
        <p:nvSpPr>
          <p:cNvPr id="20" name="visual-13-14-p13-matrix-r2-0">
            <a:extLst xmlns:a="http://schemas.openxmlformats.org/drawingml/2006/main">
              <a:ext uri="{FF2B5EF4-FFF2-40B4-BE49-F238E27FC236}">
                <a16:creationId xmlns:a16="http://schemas.microsoft.com/office/drawing/2014/main" id="{301D4D52-9343-4933-ADE9-A4A61CD7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2902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C31</a:t>
            </a:r>
          </a:p>
        </p:txBody>
      </p:sp>
      <p:sp>
        <p:nvSpPr>
          <p:cNvPr id="21" name="visual-13-15-p13-matrix-r2-1">
            <a:extLst xmlns:a="http://schemas.openxmlformats.org/drawingml/2006/main">
              <a:ext uri="{FF2B5EF4-FFF2-40B4-BE49-F238E27FC236}">
                <a16:creationId xmlns:a16="http://schemas.microsoft.com/office/drawing/2014/main" id="{37837501-C260-40D3-99CF-FC635A86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29025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IOI / fact editing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subspace patching</a:t>
            </a:r>
          </a:p>
        </p:txBody>
      </p:sp>
      <p:sp>
        <p:nvSpPr>
          <p:cNvPr id="22" name="visual-13-16-p13-matrix-r2-2">
            <a:extLst xmlns:a="http://schemas.openxmlformats.org/drawingml/2006/main">
              <a:ext uri="{FF2B5EF4-FFF2-40B4-BE49-F238E27FC236}">
                <a16:creationId xmlns:a16="http://schemas.microsoft.com/office/drawing/2014/main" id="{CD61147B-0B48-4812-86A3-0C67D3D5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290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威胁：dormant pathway</a:t>
            </a:r>
          </a:p>
        </p:txBody>
      </p:sp>
      <p:sp>
        <p:nvSpPr>
          <p:cNvPr id="23" name="visual-13-17-p13-matrix-r2-3">
            <a:extLst xmlns:a="http://schemas.openxmlformats.org/drawingml/2006/main">
              <a:ext uri="{FF2B5EF4-FFF2-40B4-BE49-F238E27FC236}">
                <a16:creationId xmlns:a16="http://schemas.microsoft.com/office/drawing/2014/main" id="{AFB165AD-12A0-4955-A4C9-1F2F0D3A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29025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所有 patching 都是幻象</a:t>
            </a:r>
          </a:p>
        </p:txBody>
      </p:sp>
      <p:sp>
        <p:nvSpPr>
          <p:cNvPr id="24" name="visual-13-18-p13-matrix-r3-0">
            <a:extLst xmlns:a="http://schemas.openxmlformats.org/drawingml/2006/main">
              <a:ext uri="{FF2B5EF4-FFF2-40B4-BE49-F238E27FC236}">
                <a16:creationId xmlns:a16="http://schemas.microsoft.com/office/drawing/2014/main" id="{C3F338AD-BCE8-4ED0-8AC6-B165BE43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957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C18</a:t>
            </a:r>
          </a:p>
        </p:txBody>
      </p:sp>
      <p:sp>
        <p:nvSpPr>
          <p:cNvPr id="25" name="visual-13-19-p13-matrix-r3-1">
            <a:extLst xmlns:a="http://schemas.openxmlformats.org/drawingml/2006/main">
              <a:ext uri="{FF2B5EF4-FFF2-40B4-BE49-F238E27FC236}">
                <a16:creationId xmlns:a16="http://schemas.microsoft.com/office/drawing/2014/main" id="{9A153D5D-16E6-45E3-B32C-CD7CC21B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19575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SAE 评估框架</a:t>
            </a:r>
          </a:p>
        </p:txBody>
      </p:sp>
      <p:sp>
        <p:nvSpPr>
          <p:cNvPr id="26" name="visual-13-20-p13-matrix-r3-2">
            <a:extLst xmlns:a="http://schemas.openxmlformats.org/drawingml/2006/main">
              <a:ext uri="{FF2B5EF4-FFF2-40B4-BE49-F238E27FC236}">
                <a16:creationId xmlns:a16="http://schemas.microsoft.com/office/drawing/2014/main" id="{FB3C8BA9-3F9D-41DE-96D8-BE25CE7A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195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评价维度：下游效应稀疏性</a:t>
            </a:r>
          </a:p>
        </p:txBody>
      </p:sp>
      <p:sp>
        <p:nvSpPr>
          <p:cNvPr id="27" name="visual-13-21-p13-matrix-r3-3">
            <a:extLst xmlns:a="http://schemas.openxmlformats.org/drawingml/2006/main">
              <a:ext uri="{FF2B5EF4-FFF2-40B4-BE49-F238E27FC236}">
                <a16:creationId xmlns:a16="http://schemas.microsoft.com/office/drawing/2014/main" id="{E8D171A4-BB01-4ACD-9F60-01BECD8B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19575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本案例已完成验证</a:t>
            </a:r>
          </a:p>
        </p:txBody>
      </p:sp>
      <p:sp>
        <p:nvSpPr>
          <p:cNvPr id="28" name="visual-13-22-p13-matrix-r4-0">
            <a:extLst xmlns:a="http://schemas.openxmlformats.org/drawingml/2006/main">
              <a:ext uri="{FF2B5EF4-FFF2-40B4-BE49-F238E27FC236}">
                <a16:creationId xmlns:a16="http://schemas.microsoft.com/office/drawing/2014/main" id="{F997B702-B6A7-4199-A82E-B15A81DB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C05</a:t>
            </a:r>
          </a:p>
        </p:txBody>
      </p:sp>
      <p:sp>
        <p:nvSpPr>
          <p:cNvPr id="29" name="visual-13-23-p13-matrix-r4-1">
            <a:extLst xmlns:a="http://schemas.openxmlformats.org/drawingml/2006/main">
              <a:ext uri="{FF2B5EF4-FFF2-40B4-BE49-F238E27FC236}">
                <a16:creationId xmlns:a16="http://schemas.microsoft.com/office/drawing/2014/main" id="{53C2E42C-AA17-4CA5-ACD2-FDA3D32A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10125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sparse feature circuits</a:t>
            </a:r>
          </a:p>
        </p:txBody>
      </p:sp>
      <p:sp>
        <p:nvSpPr>
          <p:cNvPr id="30" name="visual-13-24-p13-matrix-r4-2">
            <a:extLst xmlns:a="http://schemas.openxmlformats.org/drawingml/2006/main">
              <a:ext uri="{FF2B5EF4-FFF2-40B4-BE49-F238E27FC236}">
                <a16:creationId xmlns:a16="http://schemas.microsoft.com/office/drawing/2014/main" id="{A969E06F-DDD8-43B3-8EBF-067B584C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01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补充：faithfulness / completeness</a:t>
            </a:r>
          </a:p>
        </p:txBody>
      </p:sp>
      <p:sp>
        <p:nvSpPr>
          <p:cNvPr id="31" name="visual-13-25-p13-matrix-r4-3">
            <a:extLst xmlns:a="http://schemas.openxmlformats.org/drawingml/2006/main">
              <a:ext uri="{FF2B5EF4-FFF2-40B4-BE49-F238E27FC236}">
                <a16:creationId xmlns:a16="http://schemas.microsoft.com/office/drawing/2014/main" id="{C1EFA8E4-BBF0-49F5-B596-EE382D23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10125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与 C02 同设置复现</a:t>
            </a:r>
          </a:p>
        </p:txBody>
      </p:sp>
      <p:sp>
        <p:nvSpPr>
          <p:cNvPr id="32" name="visual-13-26-p13-bottom">
            <a:extLst xmlns:a="http://schemas.openxmlformats.org/drawingml/2006/main">
              <a:ext uri="{FF2B5EF4-FFF2-40B4-BE49-F238E27FC236}">
                <a16:creationId xmlns:a16="http://schemas.microsoft.com/office/drawing/2014/main" id="{251E4B82-0BFF-4583-B181-47FFEED5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638800"/>
            <a:ext cx="828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矩阵按主张与证据角色组织，不按论文顺序堆摘要。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MI 演示：支持、限制、冲突与空白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/>
          </a:p>
        </p:txBody>
      </p:sp>
      <p:pic>
        <p:nvPicPr>
          <p:cNvPr id="26" name="p14-mi-map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535f58afec485d"/>
          <a:stretch xmlns:a="http://schemas.openxmlformats.org/drawingml/2006/main"/>
        </p:blipFill>
        <p:spPr>
          <a:xfrm xmlns:a="http://schemas.openxmlformats.org/drawingml/2006/main">
            <a:off x="381000" y="1000125"/>
            <a:ext cx="7239000" cy="4629150"/>
          </a:xfrm>
          <a:prstGeom xmlns:a="http://schemas.openxmlformats.org/drawingml/2006/main" prst="rect">
            <a:avLst/>
          </a:prstGeom>
        </p:spPr>
      </p:pic>
      <p:sp>
        <p:nvSpPr>
          <p:cNvPr id="10" name="p14-status">
            <a:extLst xmlns:a="http://schemas.openxmlformats.org/drawingml/2006/main">
              <a:ext uri="{FF2B5EF4-FFF2-40B4-BE49-F238E27FC236}">
                <a16:creationId xmlns:a16="http://schemas.microsoft.com/office/drawing/2014/main" id="{56279C2A-09F1-475B-B8AE-76D75AE3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05727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当前综合状态 · review</a:t>
            </a:r>
          </a:p>
        </p:txBody>
      </p:sp>
      <p:sp>
        <p:nvSpPr>
          <p:cNvPr id="11" name="p14-label-0">
            <a:extLst xmlns:a="http://schemas.openxmlformats.org/drawingml/2006/main">
              <a:ext uri="{FF2B5EF4-FFF2-40B4-BE49-F238E27FC236}">
                <a16:creationId xmlns:a16="http://schemas.microsoft.com/office/drawing/2014/main" id="{0CC9A57F-FA00-41B7-BF3D-2B0ADCA2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24025"/>
            <a:ext cx="1000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支持</a:t>
            </a:r>
          </a:p>
        </p:txBody>
      </p:sp>
      <p:sp>
        <p:nvSpPr>
          <p:cNvPr id="12" name="p14-value-0">
            <a:extLst xmlns:a="http://schemas.openxmlformats.org/drawingml/2006/main">
              <a:ext uri="{FF2B5EF4-FFF2-40B4-BE49-F238E27FC236}">
                <a16:creationId xmlns:a16="http://schemas.microsoft.com/office/drawing/2014/main" id="{FAD6E9B1-A346-4025-B2EA-EE497370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724025"/>
            <a:ext cx="2619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C02：足以启动同设置最小复现</a:t>
            </a:r>
          </a:p>
        </p:txBody>
      </p:sp>
      <p:sp>
        <p:nvSpPr>
          <p:cNvPr id="13" name="p14-sep-0">
            <a:extLst xmlns:a="http://schemas.openxmlformats.org/drawingml/2006/main">
              <a:ext uri="{FF2B5EF4-FFF2-40B4-BE49-F238E27FC236}">
                <a16:creationId xmlns:a16="http://schemas.microsoft.com/office/drawing/2014/main" id="{604E6435-8E81-4453-827D-A3B86B91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05075"/>
            <a:ext cx="3714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4" name="p14-label-1">
            <a:extLst xmlns:a="http://schemas.openxmlformats.org/drawingml/2006/main">
              <a:ext uri="{FF2B5EF4-FFF2-40B4-BE49-F238E27FC236}">
                <a16:creationId xmlns:a16="http://schemas.microsoft.com/office/drawing/2014/main" id="{C66F5A58-262A-4189-8A06-1328AE0D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28900"/>
            <a:ext cx="1000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限制</a:t>
            </a:r>
          </a:p>
        </p:txBody>
      </p:sp>
      <p:sp>
        <p:nvSpPr>
          <p:cNvPr id="15" name="p14-value-1">
            <a:extLst xmlns:a="http://schemas.openxmlformats.org/drawingml/2006/main">
              <a:ext uri="{FF2B5EF4-FFF2-40B4-BE49-F238E27FC236}">
                <a16:creationId xmlns:a16="http://schemas.microsoft.com/office/drawing/2014/main" id="{6E35A442-BDB2-4951-869E-D66D3747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28900"/>
            <a:ext cx="2619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C16：可解释 ≠ 可控制</a:t>
            </a:r>
          </a:p>
        </p:txBody>
      </p:sp>
      <p:sp>
        <p:nvSpPr>
          <p:cNvPr id="16" name="p14-sep-1">
            <a:extLst xmlns:a="http://schemas.openxmlformats.org/drawingml/2006/main">
              <a:ext uri="{FF2B5EF4-FFF2-40B4-BE49-F238E27FC236}">
                <a16:creationId xmlns:a16="http://schemas.microsoft.com/office/drawing/2014/main" id="{76071FD2-BF97-4408-9363-09667258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09950"/>
            <a:ext cx="3714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7" name="p14-label-2">
            <a:extLst xmlns:a="http://schemas.openxmlformats.org/drawingml/2006/main">
              <a:ext uri="{FF2B5EF4-FFF2-40B4-BE49-F238E27FC236}">
                <a16:creationId xmlns:a16="http://schemas.microsoft.com/office/drawing/2014/main" id="{5B0CA1B4-55B8-411E-97A7-CF07F591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33775"/>
            <a:ext cx="1000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效度威胁</a:t>
            </a:r>
          </a:p>
        </p:txBody>
      </p:sp>
      <p:sp>
        <p:nvSpPr>
          <p:cNvPr id="18" name="p14-value-2">
            <a:extLst xmlns:a="http://schemas.openxmlformats.org/drawingml/2006/main">
              <a:ext uri="{FF2B5EF4-FFF2-40B4-BE49-F238E27FC236}">
                <a16:creationId xmlns:a16="http://schemas.microsoft.com/office/drawing/2014/main" id="{6B8C7465-28BC-4DA6-90AA-D035BAF4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533775"/>
            <a:ext cx="2619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C31：patching success ≠ causal faithfulness</a:t>
            </a:r>
          </a:p>
        </p:txBody>
      </p:sp>
      <p:sp>
        <p:nvSpPr>
          <p:cNvPr id="19" name="p14-sep-2">
            <a:extLst xmlns:a="http://schemas.openxmlformats.org/drawingml/2006/main">
              <a:ext uri="{FF2B5EF4-FFF2-40B4-BE49-F238E27FC236}">
                <a16:creationId xmlns:a16="http://schemas.microsoft.com/office/drawing/2014/main" id="{612DEF05-1267-4161-9385-41867E21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14825"/>
            <a:ext cx="3714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20" name="p14-label-3">
            <a:extLst xmlns:a="http://schemas.openxmlformats.org/drawingml/2006/main">
              <a:ext uri="{FF2B5EF4-FFF2-40B4-BE49-F238E27FC236}">
                <a16:creationId xmlns:a16="http://schemas.microsoft.com/office/drawing/2014/main" id="{DAEB58F2-1449-4EE9-B250-B6CA9225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38650"/>
            <a:ext cx="1000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空白</a:t>
            </a:r>
          </a:p>
        </p:txBody>
      </p:sp>
      <p:sp>
        <p:nvSpPr>
          <p:cNvPr id="21" name="p14-value-3">
            <a:extLst xmlns:a="http://schemas.openxmlformats.org/drawingml/2006/main">
              <a:ext uri="{FF2B5EF4-FFF2-40B4-BE49-F238E27FC236}">
                <a16:creationId xmlns:a16="http://schemas.microsoft.com/office/drawing/2014/main" id="{99937989-1AB8-4CB3-812D-717FCA24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438650"/>
            <a:ext cx="2619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同设置重构敏感性、held-out、正常路径证据</a:t>
            </a:r>
          </a:p>
        </p:txBody>
      </p:sp>
      <p:sp>
        <p:nvSpPr>
          <p:cNvPr id="22" name="source">
            <a:extLst xmlns:a="http://schemas.openxmlformats.org/drawingml/2006/main">
              <a:ext uri="{FF2B5EF4-FFF2-40B4-BE49-F238E27FC236}">
                <a16:creationId xmlns:a16="http://schemas.microsoft.com/office/drawing/2014/main" id="{6B7ACF67-BEDB-4B0F-9609-D55567D2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课程证据地图：C02 / C05 / C16 / C18 / C31 · 关系为课程综合，不表示可合并效应量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MI 演示：四句受限 mini review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  <a:endParaRPr/>
          </a:p>
        </p:txBody>
      </p:sp>
      <p:sp>
        <p:nvSpPr>
          <p:cNvPr id="6" name="visual-15-0-p15-h0">
            <a:extLst xmlns:a="http://schemas.openxmlformats.org/drawingml/2006/main">
              <a:ext uri="{FF2B5EF4-FFF2-40B4-BE49-F238E27FC236}">
                <a16:creationId xmlns:a16="http://schemas.microsoft.com/office/drawing/2014/main" id="{FEA2CA58-8D8A-461B-AE4F-26EB4787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1 范围</a:t>
            </a:r>
          </a:p>
        </p:txBody>
      </p:sp>
      <p:sp>
        <p:nvSpPr>
          <p:cNvPr id="7" name="visual-15-1-p15-s0">
            <a:extLst xmlns:a="http://schemas.openxmlformats.org/drawingml/2006/main">
              <a:ext uri="{FF2B5EF4-FFF2-40B4-BE49-F238E27FC236}">
                <a16:creationId xmlns:a16="http://schemas.microsoft.com/office/drawing/2014/main" id="{FAC87764-5A6C-4BFA-8BB3-F4422249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906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在 Pythia-410M 的 IOI 设置中，考察 SAE 特征相对 PCA 的稀疏定位与行为干预。</a:t>
            </a:r>
          </a:p>
        </p:txBody>
      </p:sp>
      <p:sp>
        <p:nvSpPr>
          <p:cNvPr id="8" name="visual-15-2-p15-h1">
            <a:extLst xmlns:a="http://schemas.openxmlformats.org/drawingml/2006/main">
              <a:ext uri="{FF2B5EF4-FFF2-40B4-BE49-F238E27FC236}">
                <a16:creationId xmlns:a16="http://schemas.microsoft.com/office/drawing/2014/main" id="{3E1429BD-ABC1-47C8-AC6F-A7A9A249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2 直接证据</a:t>
            </a:r>
          </a:p>
        </p:txBody>
      </p:sp>
      <p:sp>
        <p:nvSpPr>
          <p:cNvPr id="9" name="visual-15-3-p15-s1">
            <a:extLst xmlns:a="http://schemas.openxmlformats.org/drawingml/2006/main">
              <a:ext uri="{FF2B5EF4-FFF2-40B4-BE49-F238E27FC236}">
                <a16:creationId xmlns:a16="http://schemas.microsoft.com/office/drawing/2014/main" id="{AD3ED9C6-6254-45E0-9006-5418B980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955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C02 报告：相同 KL 下 SAE 需要更少 patch 与更小 edit magnitude。</a:t>
            </a:r>
          </a:p>
        </p:txBody>
      </p:sp>
      <p:sp>
        <p:nvSpPr>
          <p:cNvPr id="10" name="visual-15-4-p15-h2">
            <a:extLst xmlns:a="http://schemas.openxmlformats.org/drawingml/2006/main">
              <a:ext uri="{FF2B5EF4-FFF2-40B4-BE49-F238E27FC236}">
                <a16:creationId xmlns:a16="http://schemas.microsoft.com/office/drawing/2014/main" id="{E8BFAD60-49CB-4C0F-B5EB-AE6BE188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3 限制 / 威胁</a:t>
            </a:r>
          </a:p>
        </p:txBody>
      </p:sp>
      <p:sp>
        <p:nvSpPr>
          <p:cNvPr id="11" name="visual-15-5-p15-s2">
            <a:extLst xmlns:a="http://schemas.openxmlformats.org/drawingml/2006/main">
              <a:ext uri="{FF2B5EF4-FFF2-40B4-BE49-F238E27FC236}">
                <a16:creationId xmlns:a16="http://schemas.microsoft.com/office/drawing/2014/main" id="{C8781942-CD9A-4D93-8466-93D174F8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004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C16 显示解释性与控制性可分离；C31 显示 patching 可能借道 dormant pathway。</a:t>
            </a:r>
          </a:p>
        </p:txBody>
      </p:sp>
      <p:sp>
        <p:nvSpPr>
          <p:cNvPr id="12" name="visual-15-6-p15-h3">
            <a:extLst xmlns:a="http://schemas.openxmlformats.org/drawingml/2006/main">
              <a:ext uri="{FF2B5EF4-FFF2-40B4-BE49-F238E27FC236}">
                <a16:creationId xmlns:a16="http://schemas.microsoft.com/office/drawing/2014/main" id="{7304EEC2-F489-4C44-90E1-5A888BD2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4 缺口 /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下一步</a:t>
            </a:r>
          </a:p>
        </p:txBody>
      </p:sp>
      <p:sp>
        <p:nvSpPr>
          <p:cNvPr id="13" name="visual-15-7-p15-s3">
            <a:extLst xmlns:a="http://schemas.openxmlformats.org/drawingml/2006/main">
              <a:ext uri="{FF2B5EF4-FFF2-40B4-BE49-F238E27FC236}">
                <a16:creationId xmlns:a16="http://schemas.microsoft.com/office/drawing/2014/main" id="{AFA1F934-DFDB-45F9-BB02-0E4ADC0D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05300"/>
            <a:ext cx="876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因此仍需同设置 baseline、重构误差与控制性检查，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才能评价因果忠实。</a:t>
            </a:r>
          </a:p>
        </p:txBody>
      </p:sp>
      <p:sp>
        <p:nvSpPr>
          <p:cNvPr id="14" name="visual-15-8-p15-bottom">
            <a:extLst xmlns:a="http://schemas.openxmlformats.org/drawingml/2006/main">
              <a:ext uri="{FF2B5EF4-FFF2-40B4-BE49-F238E27FC236}">
                <a16:creationId xmlns:a16="http://schemas.microsoft.com/office/drawing/2014/main" id="{9EC85EE3-D33D-4356-B8D5-806D7FE7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状态：review｜可驱动问题与 baseline；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不可写成“SAE 已被证明因果忠实”。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局限不等于论文之间发生冲突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9C7607-4BA3-B4DC-A00F-2E67A9FCFF7E}" type="slidenum">
              <a:t>16</a:t>
            </a:fld>
            <a:endParaRPr/>
          </a:p>
        </p:txBody>
      </p:sp>
      <p:sp>
        <p:nvSpPr>
          <p:cNvPr id="6" name="content-184">
            <a:extLst xmlns:a="http://schemas.openxmlformats.org/drawingml/2006/main">
              <a:ext uri="{FF2B5EF4-FFF2-40B4-BE49-F238E27FC236}">
                <a16:creationId xmlns:a16="http://schemas.microsoft.com/office/drawing/2014/main" id="{60305358-9ACC-4FF5-9DB1-03824D6E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原文讨论效率 → 可以支持效率判断</a:t>
            </a:r>
          </a:p>
        </p:txBody>
      </p:sp>
      <p:sp>
        <p:nvSpPr>
          <p:cNvPr id="7" name="content-185">
            <a:extLst xmlns:a="http://schemas.openxmlformats.org/drawingml/2006/main">
              <a:ext uri="{FF2B5EF4-FFF2-40B4-BE49-F238E27FC236}">
                <a16:creationId xmlns:a16="http://schemas.microsoft.com/office/drawing/2014/main" id="{E85E93A0-B768-4889-B01D-AD1D0760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原文未检验 faithfulness → 这项结论仍未获得检验</a:t>
            </a:r>
          </a:p>
        </p:txBody>
      </p:sp>
      <p:sp>
        <p:nvSpPr>
          <p:cNvPr id="8" name="content-186">
            <a:extLst xmlns:a="http://schemas.openxmlformats.org/drawingml/2006/main">
              <a:ext uri="{FF2B5EF4-FFF2-40B4-BE49-F238E27FC236}">
                <a16:creationId xmlns:a16="http://schemas.microsoft.com/office/drawing/2014/main" id="{FDAB3778-89A7-4E47-9026-281576C1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把效率写成 faithfulness → 我们的推断越界</a:t>
            </a:r>
          </a:p>
        </p:txBody>
      </p:sp>
      <p:sp>
        <p:nvSpPr>
          <p:cNvPr id="9" name="content-187">
            <a:extLst xmlns:a="http://schemas.openxmlformats.org/drawingml/2006/main">
              <a:ext uri="{FF2B5EF4-FFF2-40B4-BE49-F238E27FC236}">
                <a16:creationId xmlns:a16="http://schemas.microsoft.com/office/drawing/2014/main" id="{DD0417B9-F884-43CB-888E-1509278E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045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只有针对可比命题的相反证据，才进入冲突格。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judgment-title">
            <a:extLst xmlns:a="http://schemas.openxmlformats.org/drawingml/2006/main">
              <a:ext uri="{FF2B5EF4-FFF2-40B4-BE49-F238E27FC236}">
                <a16:creationId xmlns:a16="http://schemas.microsoft.com/office/drawing/2014/main" id="{67CE4EBC-2EA8-48E5-9325-2393E526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本人项目：决定、核验与回写</a:t>
            </a:r>
          </a:p>
        </p:txBody>
      </p:sp>
      <p:sp>
        <p:nvSpPr>
          <p:cNvPr id="2" name="judgment-body-0">
            <a:extLst xmlns:a="http://schemas.openxmlformats.org/drawingml/2006/main">
              <a:ext uri="{FF2B5EF4-FFF2-40B4-BE49-F238E27FC236}">
                <a16:creationId xmlns:a16="http://schemas.microsoft.com/office/drawing/2014/main" id="{6B603CE4-7483-4327-A6A2-8D1658D4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把已有卡与第二项来源按相同主张对齐，完成第二张精读卡；在同一矩阵标条件差异、支持/冲突和缺证，写一段受限综合与候选问题。</a:t>
            </a:r>
          </a:p>
        </p:txBody>
      </p:sp>
      <p:sp>
        <p:nvSpPr>
          <p:cNvPr id="3" name="judgment-body-1">
            <a:extLst xmlns:a="http://schemas.openxmlformats.org/drawingml/2006/main">
              <a:ext uri="{FF2B5EF4-FFF2-40B4-BE49-F238E27FC236}">
                <a16:creationId xmlns:a16="http://schemas.microsoft.com/office/drawing/2014/main" id="{FD32002D-2DD8-42B9-A36D-21968E48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085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同伴逐句标出综述中数据、推理和个人判断；把“没人研究”改成有检索范围的待核验空白。</a:t>
            </a:r>
          </a:p>
        </p:txBody>
      </p:sp>
      <p:sp>
        <p:nvSpPr>
          <p:cNvPr id="4" name="judgment-body-2">
            <a:extLst xmlns:a="http://schemas.openxmlformats.org/drawingml/2006/main">
              <a:ext uri="{FF2B5EF4-FFF2-40B4-BE49-F238E27FC236}">
                <a16:creationId xmlns:a16="http://schemas.microsoft.com/office/drawing/2014/main" id="{8C540C79-683F-4EC1-9547-2C121051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0858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保存：同一阅读卡文件的第二张卡＋证据矩阵/地图及候选问题</a:t>
            </a:r>
          </a:p>
        </p:txBody>
      </p:sp>
      <p:sp>
        <p:nvSpPr>
          <p:cNvPr id="5" name="judgment-source">
            <a:extLst xmlns:a="http://schemas.openxmlformats.org/drawingml/2006/main">
              <a:ext uri="{FF2B5EF4-FFF2-40B4-BE49-F238E27FC236}">
                <a16:creationId xmlns:a16="http://schemas.microsoft.com/office/drawing/2014/main" id="{E7835AC9-FFAD-486F-916F-DA615C72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69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 xmlns:a="http://schemas.openxmlformats.org/drawingml/2006/main">
              <a:ext uri="{FF2B5EF4-FFF2-40B4-BE49-F238E27FC236}">
                <a16:creationId xmlns:a16="http://schemas.microsoft.com/office/drawing/2014/main" id="{56EA705E-8003-467B-999A-7C755A08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627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实践停留页：模板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C6C81E-38B9-7560-621D-5A151A79DF9B}" type="slidenum">
              <a:t>18</a:t>
            </a:fld>
            <a:endParaRPr/>
          </a:p>
        </p:txBody>
      </p:sp>
      <p:sp>
        <p:nvSpPr>
          <p:cNvPr id="6" name="p18-left-label">
            <a:extLst xmlns:a="http://schemas.openxmlformats.org/drawingml/2006/main">
              <a:ext uri="{FF2B5EF4-FFF2-40B4-BE49-F238E27FC236}">
                <a16:creationId xmlns:a16="http://schemas.microsoft.com/office/drawing/2014/main" id="{262873AD-D1CC-476C-B186-2CC1A3D4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共享记录｜只输入一次</a:t>
            </a:r>
          </a:p>
        </p:txBody>
      </p:sp>
      <p:sp>
        <p:nvSpPr>
          <p:cNvPr id="7" name="p18-left">
            <a:extLst xmlns:a="http://schemas.openxmlformats.org/drawingml/2006/main">
              <a:ext uri="{FF2B5EF4-FFF2-40B4-BE49-F238E27FC236}">
                <a16:creationId xmlns:a16="http://schemas.microsoft.com/office/drawing/2014/main" id="{44B5DA64-D356-40F1-91A5-D4EBB157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4953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窄矩阵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文献（核验后）｜子问题 a｜证据角色｜核验状态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证据地图 · 当堂 2 条主格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编号｜子问题｜文献｜原文位置｜主张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证据角色｜冲突/局限｜核验状态</a:t>
            </a:r>
          </a:p>
        </p:txBody>
      </p:sp>
      <p:sp>
        <p:nvSpPr>
          <p:cNvPr id="8" name="p18-mid">
            <a:extLst xmlns:a="http://schemas.openxmlformats.org/drawingml/2006/main">
              <a:ext uri="{FF2B5EF4-FFF2-40B4-BE49-F238E27FC236}">
                <a16:creationId xmlns:a16="http://schemas.microsoft.com/office/drawing/2014/main" id="{19B8BC3D-3AD0-4B7A-AF97-7875B378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028700"/>
            <a:ext cx="19050" cy="376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sp>
        <p:nvSpPr>
          <p:cNvPr id="9" name="p18-right-label">
            <a:extLst xmlns:a="http://schemas.openxmlformats.org/drawingml/2006/main">
              <a:ext uri="{FF2B5EF4-FFF2-40B4-BE49-F238E27FC236}">
                <a16:creationId xmlns:a16="http://schemas.microsoft.com/office/drawing/2014/main" id="{67F9F710-7B90-43AA-8836-C82AB4DA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00012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四句受限综合</a:t>
            </a:r>
          </a:p>
        </p:txBody>
      </p:sp>
      <p:sp>
        <p:nvSpPr>
          <p:cNvPr id="10" name="p18-right">
            <a:extLst xmlns:a="http://schemas.openxmlformats.org/drawingml/2006/main">
              <a:ext uri="{FF2B5EF4-FFF2-40B4-BE49-F238E27FC236}">
                <a16:creationId xmlns:a16="http://schemas.microsoft.com/office/drawing/2014/main" id="{9A7718BE-BED6-4E94-82B9-9B425AD1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71625"/>
            <a:ext cx="4953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1000"/>
              </a:lnSpc>
              <a:buNone/>
              <a:defRPr sz="20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1  范围与子问题</a:t>
            </a:r>
          </a:p>
          <a:p xmlns:a="http://schemas.openxmlformats.org/drawingml/2006/main">
            <a:pPr algn="l">
              <a:lnSpc>
                <a:spcPct val="121000"/>
              </a:lnSpc>
              <a:buNone/>
              <a:defRPr sz="20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2  直接证据</a:t>
            </a:r>
          </a:p>
          <a:p xmlns:a="http://schemas.openxmlformats.org/drawingml/2006/main">
            <a:pPr algn="l">
              <a:lnSpc>
                <a:spcPct val="121000"/>
              </a:lnSpc>
              <a:buNone/>
              <a:defRPr sz="20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3  补充 / 对比 / 冲突</a:t>
            </a:r>
          </a:p>
          <a:p xmlns:a="http://schemas.openxmlformats.org/drawingml/2006/main">
            <a:pPr algn="l">
              <a:lnSpc>
                <a:spcPct val="121000"/>
              </a:lnSpc>
              <a:buNone/>
              <a:defRPr sz="20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4  空白与下一步核验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1000"/>
              </a:lnSpc>
              <a:buNone/>
              <a:defRPr sz="20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AI 记录：工具/模型｜用途｜Context</a:t>
            </a:r>
          </a:p>
          <a:p xmlns:a="http://schemas.openxmlformats.org/drawingml/2006/main">
            <a:pPr algn="l">
              <a:lnSpc>
                <a:spcPct val="121000"/>
              </a:lnSpc>
              <a:buNone/>
              <a:defRPr sz="20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输出用途｜人工核验｜问题</a:t>
            </a:r>
          </a:p>
        </p:txBody>
      </p:sp>
      <p:sp>
        <p:nvSpPr>
          <p:cNvPr id="11" name="p18-minimum">
            <a:extLst xmlns:a="http://schemas.openxmlformats.org/drawingml/2006/main">
              <a:ext uri="{FF2B5EF4-FFF2-40B4-BE49-F238E27FC236}">
                <a16:creationId xmlns:a16="http://schemas.microsoft.com/office/drawing/2014/main" id="{274AD3FB-67D2-425D-BDA0-BFB3F916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最低完成｜窄矩阵 + 2 条主格 + 四句草稿 + 1 条 AI 记录</a:t>
            </a:r>
          </a:p>
        </p:txBody>
      </p:sp>
      <p:sp>
        <p:nvSpPr>
          <p:cNvPr id="12" name="source">
            <a:extLst xmlns:a="http://schemas.openxmlformats.org/drawingml/2006/main">
              <a:ext uri="{FF2B5EF4-FFF2-40B4-BE49-F238E27FC236}">
                <a16:creationId xmlns:a16="http://schemas.microsoft.com/office/drawing/2014/main" id="{795EDDD2-894E-4DB5-87AF-B7E90B97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写入：evidence-map.md 或 notes/ · 空白与候选题完整检验课后补全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同伴互查四问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F91274-D221-1BB4-3BF9-836E3AD31EBE}" type="slidenum">
              <a:t>19</a:t>
            </a:fld>
            <a:endParaRPr/>
          </a:p>
        </p:txBody>
      </p:sp>
      <p:sp>
        <p:nvSpPr>
          <p:cNvPr id="6" name="visual-19-0-p19-n0">
            <a:extLst xmlns:a="http://schemas.openxmlformats.org/drawingml/2006/main">
              <a:ext uri="{FF2B5EF4-FFF2-40B4-BE49-F238E27FC236}">
                <a16:creationId xmlns:a16="http://schemas.microsoft.com/office/drawing/2014/main" id="{FBEBA2A1-0A49-4C94-B179-1C587DD1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049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7" name="visual-19-1-p19-h0">
            <a:extLst xmlns:a="http://schemas.openxmlformats.org/drawingml/2006/main">
              <a:ext uri="{FF2B5EF4-FFF2-40B4-BE49-F238E27FC236}">
                <a16:creationId xmlns:a16="http://schemas.microsoft.com/office/drawing/2014/main" id="{8D8AFB29-2369-44AC-A6A6-A876A70F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02870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问题组织</a:t>
            </a:r>
          </a:p>
        </p:txBody>
      </p:sp>
      <p:sp>
        <p:nvSpPr>
          <p:cNvPr id="8" name="visual-19-2-p19-d0">
            <a:extLst xmlns:a="http://schemas.openxmlformats.org/drawingml/2006/main">
              <a:ext uri="{FF2B5EF4-FFF2-40B4-BE49-F238E27FC236}">
                <a16:creationId xmlns:a16="http://schemas.microsoft.com/office/drawing/2014/main" id="{8661FA91-665B-4B6D-A2CD-A7B64332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028700"/>
            <a:ext cx="571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矩阵列来自问题分解，还是论文关键词？</a:t>
            </a:r>
          </a:p>
        </p:txBody>
      </p:sp>
      <p:sp>
        <p:nvSpPr>
          <p:cNvPr id="9" name="visual-19-3-p19-n1">
            <a:extLst xmlns:a="http://schemas.openxmlformats.org/drawingml/2006/main">
              <a:ext uri="{FF2B5EF4-FFF2-40B4-BE49-F238E27FC236}">
                <a16:creationId xmlns:a16="http://schemas.microsoft.com/office/drawing/2014/main" id="{C63D6DFC-F263-40A5-A284-AD366F68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" name="visual-19-4-p19-h1">
            <a:extLst xmlns:a="http://schemas.openxmlformats.org/drawingml/2006/main">
              <a:ext uri="{FF2B5EF4-FFF2-40B4-BE49-F238E27FC236}">
                <a16:creationId xmlns:a16="http://schemas.microsoft.com/office/drawing/2014/main" id="{40AA44FA-2A93-4560-9DD9-AAE8C09A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冲突边界</a:t>
            </a:r>
          </a:p>
        </p:txBody>
      </p:sp>
      <p:sp>
        <p:nvSpPr>
          <p:cNvPr id="11" name="visual-19-5-p19-d1">
            <a:extLst xmlns:a="http://schemas.openxmlformats.org/drawingml/2006/main">
              <a:ext uri="{FF2B5EF4-FFF2-40B4-BE49-F238E27FC236}">
                <a16:creationId xmlns:a16="http://schemas.microsoft.com/office/drawing/2014/main" id="{32E6C3BF-42F1-4D9C-B4B5-5376B031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571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任务不可比是否被误写成相反结论？</a:t>
            </a:r>
          </a:p>
        </p:txBody>
      </p:sp>
      <p:sp>
        <p:nvSpPr>
          <p:cNvPr id="12" name="visual-19-6-p19-n2">
            <a:extLst xmlns:a="http://schemas.openxmlformats.org/drawingml/2006/main">
              <a:ext uri="{FF2B5EF4-FFF2-40B4-BE49-F238E27FC236}">
                <a16:creationId xmlns:a16="http://schemas.microsoft.com/office/drawing/2014/main" id="{1B1A5D42-4D8D-46F4-95F7-3AE01C02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3" name="visual-19-7-p19-h2">
            <a:extLst xmlns:a="http://schemas.openxmlformats.org/drawingml/2006/main">
              <a:ext uri="{FF2B5EF4-FFF2-40B4-BE49-F238E27FC236}">
                <a16:creationId xmlns:a16="http://schemas.microsoft.com/office/drawing/2014/main" id="{037FBF8D-C86D-4351-88E1-602869B6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7180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空白与候选题</a:t>
            </a:r>
          </a:p>
        </p:txBody>
      </p:sp>
      <p:sp>
        <p:nvSpPr>
          <p:cNvPr id="14" name="visual-19-8-p19-d2">
            <a:extLst xmlns:a="http://schemas.openxmlformats.org/drawingml/2006/main">
              <a:ext uri="{FF2B5EF4-FFF2-40B4-BE49-F238E27FC236}">
                <a16:creationId xmlns:a16="http://schemas.microsoft.com/office/drawing/2014/main" id="{2966510A-1EA4-4991-A0AD-B8882466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71800"/>
            <a:ext cx="571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记录诚实吗？真实检索还是待核验？候选题标了生成路径吗？</a:t>
            </a:r>
          </a:p>
        </p:txBody>
      </p:sp>
      <p:sp>
        <p:nvSpPr>
          <p:cNvPr id="15" name="visual-19-9-p19-n3">
            <a:extLst xmlns:a="http://schemas.openxmlformats.org/drawingml/2006/main">
              <a:ext uri="{FF2B5EF4-FFF2-40B4-BE49-F238E27FC236}">
                <a16:creationId xmlns:a16="http://schemas.microsoft.com/office/drawing/2014/main" id="{8661BC24-1703-4751-A720-5E16F896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195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6" name="visual-19-10-p19-h3">
            <a:extLst xmlns:a="http://schemas.openxmlformats.org/drawingml/2006/main">
              <a:ext uri="{FF2B5EF4-FFF2-40B4-BE49-F238E27FC236}">
                <a16:creationId xmlns:a16="http://schemas.microsoft.com/office/drawing/2014/main" id="{BBD1B119-99BA-4EFF-B815-B042C276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4335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四句追溯</a:t>
            </a:r>
          </a:p>
        </p:txBody>
      </p:sp>
      <p:sp>
        <p:nvSpPr>
          <p:cNvPr id="17" name="visual-19-11-p19-d3">
            <a:extLst xmlns:a="http://schemas.openxmlformats.org/drawingml/2006/main">
              <a:ext uri="{FF2B5EF4-FFF2-40B4-BE49-F238E27FC236}">
                <a16:creationId xmlns:a16="http://schemas.microsoft.com/office/drawing/2014/main" id="{05120F7E-751D-414B-87C4-F4299870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43350"/>
            <a:ext cx="571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每句话能回指 verified 条目吗？</a:t>
            </a:r>
          </a:p>
        </p:txBody>
      </p:sp>
      <p:sp>
        <p:nvSpPr>
          <p:cNvPr id="18" name="visual-19-12-p19-author-h">
            <a:extLst xmlns:a="http://schemas.openxmlformats.org/drawingml/2006/main">
              <a:ext uri="{FF2B5EF4-FFF2-40B4-BE49-F238E27FC236}">
                <a16:creationId xmlns:a16="http://schemas.microsoft.com/office/drawing/2014/main" id="{4CC48686-F25D-4F60-B66E-D2D7D7E8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09537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作者记录</a:t>
            </a:r>
          </a:p>
        </p:txBody>
      </p:sp>
      <p:sp>
        <p:nvSpPr>
          <p:cNvPr id="19" name="visual-19-13-p19-s0">
            <a:extLst xmlns:a="http://schemas.openxmlformats.org/drawingml/2006/main">
              <a:ext uri="{FF2B5EF4-FFF2-40B4-BE49-F238E27FC236}">
                <a16:creationId xmlns:a16="http://schemas.microsoft.com/office/drawing/2014/main" id="{9F0CA8BB-18E5-417B-885A-62205B6A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526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采纳</a:t>
            </a:r>
          </a:p>
        </p:txBody>
      </p:sp>
      <p:sp>
        <p:nvSpPr>
          <p:cNvPr id="20" name="visual-19-14-p19-s1">
            <a:extLst xmlns:a="http://schemas.openxmlformats.org/drawingml/2006/main">
              <a:ext uri="{FF2B5EF4-FFF2-40B4-BE49-F238E27FC236}">
                <a16:creationId xmlns:a16="http://schemas.microsoft.com/office/drawing/2014/main" id="{6C6AA963-AE3C-424E-9220-4E7422A6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8607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暂不采纳</a:t>
            </a:r>
          </a:p>
        </p:txBody>
      </p:sp>
      <p:sp>
        <p:nvSpPr>
          <p:cNvPr id="21" name="visual-19-15-p19-s2">
            <a:extLst xmlns:a="http://schemas.openxmlformats.org/drawingml/2006/main">
              <a:ext uri="{FF2B5EF4-FFF2-40B4-BE49-F238E27FC236}">
                <a16:creationId xmlns:a16="http://schemas.microsoft.com/office/drawing/2014/main" id="{F4721291-FEA1-45A5-B7B4-1D03EC73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195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待核验</a:t>
            </a:r>
          </a:p>
        </p:txBody>
      </p:sp>
      <p:sp>
        <p:nvSpPr>
          <p:cNvPr id="22" name="visual-19-16-p19-bottom">
            <a:extLst xmlns:a="http://schemas.openxmlformats.org/drawingml/2006/main">
              <a:ext uri="{FF2B5EF4-FFF2-40B4-BE49-F238E27FC236}">
                <a16:creationId xmlns:a16="http://schemas.microsoft.com/office/drawing/2014/main" id="{67905850-C844-4B37-AD21-93D7F31F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095875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同伴只提问题；作者保留最终决定，不形成共同提交。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本讲知识点总结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4E025A-983C-6D44-79C6-4612AACD43FC}" type="slidenum">
              <a:t>20</a:t>
            </a:fld>
            <a:endParaRPr/>
          </a:p>
        </p:txBody>
      </p:sp>
      <p:sp>
        <p:nvSpPr>
          <p:cNvPr id="6" name="visual-20-0-p20-n0">
            <a:extLst xmlns:a="http://schemas.openxmlformats.org/drawingml/2006/main">
              <a:ext uri="{FF2B5EF4-FFF2-40B4-BE49-F238E27FC236}">
                <a16:creationId xmlns:a16="http://schemas.microsoft.com/office/drawing/2014/main" id="{71C09BA0-B757-4BAD-8910-805D719B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7" name="visual-20-1-p20-h0">
            <a:extLst xmlns:a="http://schemas.openxmlformats.org/drawingml/2006/main">
              <a:ext uri="{FF2B5EF4-FFF2-40B4-BE49-F238E27FC236}">
                <a16:creationId xmlns:a16="http://schemas.microsoft.com/office/drawing/2014/main" id="{147C3A10-FB2B-4F3B-BC3E-26E34734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047750"/>
            <a:ext cx="204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按问题组织</a:t>
            </a:r>
          </a:p>
        </p:txBody>
      </p:sp>
      <p:sp>
        <p:nvSpPr>
          <p:cNvPr id="8" name="visual-20-2-p20-d0">
            <a:extLst xmlns:a="http://schemas.openxmlformats.org/drawingml/2006/main">
              <a:ext uri="{FF2B5EF4-FFF2-40B4-BE49-F238E27FC236}">
                <a16:creationId xmlns:a16="http://schemas.microsoft.com/office/drawing/2014/main" id="{D4650C30-BBFA-4FE9-86FE-D8AA2D81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2638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矩阵列来自问题分解，不按论文逐篇堆叠</a:t>
            </a:r>
          </a:p>
        </p:txBody>
      </p:sp>
      <p:sp>
        <p:nvSpPr>
          <p:cNvPr id="9" name="visual-20-3-p20-arrow0">
            <a:extLst xmlns:a="http://schemas.openxmlformats.org/drawingml/2006/main">
              <a:ext uri="{FF2B5EF4-FFF2-40B4-BE49-F238E27FC236}">
                <a16:creationId xmlns:a16="http://schemas.microsoft.com/office/drawing/2014/main" id="{E6EAE8E6-5416-47B1-8DCA-3B695D45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384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" name="visual-20-4-p20-n1">
            <a:extLst xmlns:a="http://schemas.openxmlformats.org/drawingml/2006/main">
              <a:ext uri="{FF2B5EF4-FFF2-40B4-BE49-F238E27FC236}">
                <a16:creationId xmlns:a16="http://schemas.microsoft.com/office/drawing/2014/main" id="{B551AA67-3B5E-4145-BB2E-E4E33F7C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104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1" name="visual-20-5-p20-h1">
            <a:extLst xmlns:a="http://schemas.openxmlformats.org/drawingml/2006/main">
              <a:ext uri="{FF2B5EF4-FFF2-40B4-BE49-F238E27FC236}">
                <a16:creationId xmlns:a16="http://schemas.microsoft.com/office/drawing/2014/main" id="{B7DA9572-C1FA-4EF5-AF35-C65805EB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1047750"/>
            <a:ext cx="204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证据地图</a:t>
            </a:r>
          </a:p>
        </p:txBody>
      </p:sp>
      <p:sp>
        <p:nvSpPr>
          <p:cNvPr id="12" name="visual-20-6-p20-d1">
            <a:extLst xmlns:a="http://schemas.openxmlformats.org/drawingml/2006/main">
              <a:ext uri="{FF2B5EF4-FFF2-40B4-BE49-F238E27FC236}">
                <a16:creationId xmlns:a16="http://schemas.microsoft.com/office/drawing/2014/main" id="{83371D76-5B00-4627-928C-FF9945FD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905000"/>
            <a:ext cx="2638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保留直接、补充、冲突与空白四种视图</a:t>
            </a:r>
          </a:p>
        </p:txBody>
      </p:sp>
      <p:sp>
        <p:nvSpPr>
          <p:cNvPr id="13" name="visual-20-7-p20-arrow1">
            <a:extLst xmlns:a="http://schemas.openxmlformats.org/drawingml/2006/main">
              <a:ext uri="{FF2B5EF4-FFF2-40B4-BE49-F238E27FC236}">
                <a16:creationId xmlns:a16="http://schemas.microsoft.com/office/drawing/2014/main" id="{8774E562-5D90-43D9-B81E-2CB92577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4384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4" name="visual-20-8-p20-n2">
            <a:extLst xmlns:a="http://schemas.openxmlformats.org/drawingml/2006/main">
              <a:ext uri="{FF2B5EF4-FFF2-40B4-BE49-F238E27FC236}">
                <a16:creationId xmlns:a16="http://schemas.microsoft.com/office/drawing/2014/main" id="{19B12043-8B0B-4B84-B4F7-BA8AF12D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104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5" name="visual-20-9-p20-h2">
            <a:extLst xmlns:a="http://schemas.openxmlformats.org/drawingml/2006/main">
              <a:ext uri="{FF2B5EF4-FFF2-40B4-BE49-F238E27FC236}">
                <a16:creationId xmlns:a16="http://schemas.microsoft.com/office/drawing/2014/main" id="{52288A02-BCDF-4A2E-B1FF-488AFB68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047750"/>
            <a:ext cx="204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受限综合</a:t>
            </a:r>
          </a:p>
        </p:txBody>
      </p:sp>
      <p:sp>
        <p:nvSpPr>
          <p:cNvPr id="16" name="visual-20-10-p20-d2">
            <a:extLst xmlns:a="http://schemas.openxmlformats.org/drawingml/2006/main">
              <a:ext uri="{FF2B5EF4-FFF2-40B4-BE49-F238E27FC236}">
                <a16:creationId xmlns:a16="http://schemas.microsoft.com/office/drawing/2014/main" id="{E4469F55-2786-4AAE-9B96-3A02585A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05000"/>
            <a:ext cx="2638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mini review 只使用已核验条目并保留限定</a:t>
            </a:r>
          </a:p>
        </p:txBody>
      </p:sp>
      <p:sp>
        <p:nvSpPr>
          <p:cNvPr id="17" name="visual-20-11-p20-arrow2">
            <a:extLst xmlns:a="http://schemas.openxmlformats.org/drawingml/2006/main">
              <a:ext uri="{FF2B5EF4-FFF2-40B4-BE49-F238E27FC236}">
                <a16:creationId xmlns:a16="http://schemas.microsoft.com/office/drawing/2014/main" id="{0B9BC222-CD3A-4D3C-A134-541214E1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384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8" name="visual-20-12-p20-n3">
            <a:extLst xmlns:a="http://schemas.openxmlformats.org/drawingml/2006/main">
              <a:ext uri="{FF2B5EF4-FFF2-40B4-BE49-F238E27FC236}">
                <a16:creationId xmlns:a16="http://schemas.microsoft.com/office/drawing/2014/main" id="{C5A5E99E-1370-441E-8818-C1F9D53A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104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9" name="visual-20-13-p20-h3">
            <a:extLst xmlns:a="http://schemas.openxmlformats.org/drawingml/2006/main">
              <a:ext uri="{FF2B5EF4-FFF2-40B4-BE49-F238E27FC236}">
                <a16:creationId xmlns:a16="http://schemas.microsoft.com/office/drawing/2014/main" id="{1E85F89B-2808-451D-9583-2E706DCE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047750"/>
            <a:ext cx="204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生成候选题</a:t>
            </a:r>
          </a:p>
        </p:txBody>
      </p:sp>
      <p:sp>
        <p:nvSpPr>
          <p:cNvPr id="20" name="visual-20-14-p20-d3">
            <a:extLst xmlns:a="http://schemas.openxmlformats.org/drawingml/2006/main">
              <a:ext uri="{FF2B5EF4-FFF2-40B4-BE49-F238E27FC236}">
                <a16:creationId xmlns:a16="http://schemas.microsoft.com/office/drawing/2014/main" id="{578DBF01-DB2D-44D7-BA93-D41FEAAF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905000"/>
            <a:ext cx="2638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空白先检验，再进入候选题池与问题门</a:t>
            </a:r>
          </a:p>
        </p:txBody>
      </p:sp>
      <p:sp>
        <p:nvSpPr>
          <p:cNvPr id="21" name="visual-20-15-p20-boundary">
            <a:extLst xmlns:a="http://schemas.openxmlformats.org/drawingml/2006/main">
              <a:ext uri="{FF2B5EF4-FFF2-40B4-BE49-F238E27FC236}">
                <a16:creationId xmlns:a16="http://schemas.microsoft.com/office/drawing/2014/main" id="{10B72392-8785-4D96-AD49-FE2E03FE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43375"/>
            <a:ext cx="981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关键边界：“我没找到”不等于领域空白；对比证据不自动等于冲突，AI 归纳也不能替代原文核验。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judgment-title">
            <a:extLst xmlns:a="http://schemas.openxmlformats.org/drawingml/2006/main">
              <a:ext uri="{FF2B5EF4-FFF2-40B4-BE49-F238E27FC236}">
                <a16:creationId xmlns:a16="http://schemas.microsoft.com/office/drawing/2014/main" id="{44984EF2-0AEE-474A-9EFF-83069355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保留本课决定，准备下一课输入</a:t>
            </a:r>
          </a:p>
        </p:txBody>
      </p:sp>
      <p:sp>
        <p:nvSpPr>
          <p:cNvPr id="2" name="judgment-body-0">
            <a:extLst xmlns:a="http://schemas.openxmlformats.org/drawingml/2006/main">
              <a:ext uri="{FF2B5EF4-FFF2-40B4-BE49-F238E27FC236}">
                <a16:creationId xmlns:a16="http://schemas.microsoft.com/office/drawing/2014/main" id="{D21BC202-B65A-4A5E-9EA0-67337F4E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L6 用候选问题、前两张卡和第三项关键来源作问题门选择。</a:t>
            </a:r>
          </a:p>
        </p:txBody>
      </p:sp>
      <p:sp>
        <p:nvSpPr>
          <p:cNvPr id="3" name="judgment-body-1">
            <a:extLst xmlns:a="http://schemas.openxmlformats.org/drawingml/2006/main">
              <a:ext uri="{FF2B5EF4-FFF2-40B4-BE49-F238E27FC236}">
                <a16:creationId xmlns:a16="http://schemas.microsoft.com/office/drawing/2014/main" id="{7D4DF7A4-AEF1-41AC-93E0-5C944209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回写已有项目：同一阅读卡文件的第二张卡＋证据矩阵/地图及候选问题</a:t>
            </a:r>
          </a:p>
        </p:txBody>
      </p:sp>
      <p:sp>
        <p:nvSpPr>
          <p:cNvPr id="4" name="judgment-body-2">
            <a:extLst xmlns:a="http://schemas.openxmlformats.org/drawingml/2006/main">
              <a:ext uri="{FF2B5EF4-FFF2-40B4-BE49-F238E27FC236}">
                <a16:creationId xmlns:a16="http://schemas.microsoft.com/office/drawing/2014/main" id="{E3C91B17-A061-4A57-93CF-38371199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085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只读指定段落，补课堂留下的真实缺口。安装与排障计入课外总预算。</a:t>
            </a:r>
          </a:p>
        </p:txBody>
      </p:sp>
      <p:sp>
        <p:nvSpPr>
          <p:cNvPr id="5" name="judgment-source">
            <a:extLst xmlns:a="http://schemas.openxmlformats.org/drawingml/2006/main">
              <a:ext uri="{FF2B5EF4-FFF2-40B4-BE49-F238E27FC236}">
                <a16:creationId xmlns:a16="http://schemas.microsoft.com/office/drawing/2014/main" id="{59B78CAE-9B11-46AD-AFBF-677944D0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69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 xmlns:a="http://schemas.openxmlformats.org/drawingml/2006/main">
              <a:ext uri="{FF2B5EF4-FFF2-40B4-BE49-F238E27FC236}">
                <a16:creationId xmlns:a16="http://schemas.microsoft.com/office/drawing/2014/main" id="{2CDB3024-2C81-4B51-9CBC-311C3D86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627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2026-09-16T01:27:04.7880000Z</dcterms:created>
  <dcterms:modified xsi:type="dcterms:W3CDTF">2026-09-16T01:27:04.7880000Z</dcterms:modified>
</coreProperties>
</file>