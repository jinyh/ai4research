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e3391aaf264577" /><Relationship Type="http://schemas.openxmlformats.org/officeDocument/2006/relationships/extended-properties" Target="/docProps/app.xml" Id="Rdc0b077a5a854c56" /><Relationship Type="http://schemas.openxmlformats.org/officeDocument/2006/relationships/officeDocument" Target="/ppt/presentation.xml" Id="Rcecca4e79441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adf4dc21754202"/>
  </p:sldMasterIdLst>
  <p:notesMasterIdLst>
    <p:notesMasterId xmlns:r="http://schemas.openxmlformats.org/officeDocument/2006/relationships" r:id="Re0865ce3ca11461b"/>
  </p:notesMasterIdLst>
  <p:sldIdLst>
    <p:sldId xmlns:r="http://schemas.openxmlformats.org/officeDocument/2006/relationships" id="256" r:id="R5e157b9aa0dd4f9e"/>
    <p:sldId xmlns:r="http://schemas.openxmlformats.org/officeDocument/2006/relationships" id="257" r:id="R01b2d8f39da04e4d"/>
    <p:sldId xmlns:r="http://schemas.openxmlformats.org/officeDocument/2006/relationships" id="258" r:id="Red6e028faa0e4a95"/>
    <p:sldId xmlns:r="http://schemas.openxmlformats.org/officeDocument/2006/relationships" id="259" r:id="R89e31d5c759d465d"/>
    <p:sldId xmlns:r="http://schemas.openxmlformats.org/officeDocument/2006/relationships" id="260" r:id="R3ee3e69b012e4f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274b1548d145c1" /><Relationship Type="http://schemas.openxmlformats.org/officeDocument/2006/relationships/slideMaster" Target="/ppt/slideMasters/slideMaster1.xml" Id="Rfeadf4dc21754202" /><Relationship Type="http://schemas.openxmlformats.org/officeDocument/2006/relationships/notesMaster" Target="/ppt/notesMasters/notesMaster1.xml" Id="Re0865ce3ca11461b" /><Relationship Type="http://schemas.openxmlformats.org/officeDocument/2006/relationships/presProps" Target="/ppt/presProps.xml" Id="Rf67522b83cff4004" /><Relationship Type="http://schemas.openxmlformats.org/officeDocument/2006/relationships/viewProps" Target="/ppt/viewProps.xml" Id="Rf24b280440a449b0" /><Relationship Type="http://schemas.openxmlformats.org/officeDocument/2006/relationships/tableStyles" Target="/ppt/tableStyles.xml" Id="Ra15611528ab54746" /><Relationship Type="http://schemas.openxmlformats.org/officeDocument/2006/relationships/slide" Target="/ppt/slides/slide1.xml" Id="R5e157b9aa0dd4f9e" /><Relationship Type="http://schemas.openxmlformats.org/officeDocument/2006/relationships/slide" Target="/ppt/slides/slide2.xml" Id="R01b2d8f39da04e4d" /><Relationship Type="http://schemas.openxmlformats.org/officeDocument/2006/relationships/slide" Target="/ppt/slides/slide3.xml" Id="Red6e028faa0e4a95" /><Relationship Type="http://schemas.openxmlformats.org/officeDocument/2006/relationships/slide" Target="/ppt/slides/slide4.xml" Id="R89e31d5c759d465d" /><Relationship Type="http://schemas.openxmlformats.org/officeDocument/2006/relationships/slide" Target="/ppt/slides/slide5.xml" Id="R3ee3e69b012e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49be9bd59f4c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2f1f532df49ef" /><Relationship Type="http://schemas.openxmlformats.org/officeDocument/2006/relationships/notesMaster" Target="/ppt/notesMasters/notesMaster1.xml" Id="Rbd2b0e88975248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4d3c5c18b34677" /><Relationship Type="http://schemas.openxmlformats.org/officeDocument/2006/relationships/notesMaster" Target="/ppt/notesMasters/notesMaster1.xml" Id="Re0fa227d63c4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03d840e314f56" /><Relationship Type="http://schemas.openxmlformats.org/officeDocument/2006/relationships/notesMaster" Target="/ppt/notesMasters/notesMaster1.xml" Id="Rb0a8f4d0d85f4a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3532c17f7e4afc" /><Relationship Type="http://schemas.openxmlformats.org/officeDocument/2006/relationships/notesMaster" Target="/ppt/notesMasters/notesMaster1.xml" Id="Ra049318484884c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19b2cc16254066" /><Relationship Type="http://schemas.openxmlformats.org/officeDocument/2006/relationships/notesMaster" Target="/ppt/notesMasters/notesMaster1.xml" Id="R2df21d7c58b64d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先让学生读右侧三项结果，说明哪一项改变判断。左图用于定位自动化覆盖的科研步骤，不要求逐个阅读英文节点。1/3 指人工筛选的三篇投稿中一篇超过 workshop 平均接收阈值；6.33 是该篇评审均分（6、7、6）；0/3 是论文作者团队的内部复核，不能写成主会正式评审结果。投稿在评审后按预设协议撤回，不等于正式发表。系统研究范围为计算机上的机器学习实验。核验日期：2026-09-15。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https://www.nature.com/articles/s41586-026-10265-5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Human evaluation results；Limitations；Figure 1a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lessons/lesson-01/handout.md §一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lessons/lesson-01/assets/README.md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权重保持课程现行考核方案。横条共用零点，长度按实际比例绘制。右侧列出评分证据的归纳，不作为新增评分项目。用一个维度说明达标所需证据，详细四级锚点参考讲义与考核方案；课程不承诺论文发表。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course/assessment.md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lessons/lesson-01/handout.md §三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lessons/lesson-01/slides.md P11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研究 harness 的声明、检查、执行、例外处理与 trace 组成同一个边界机制。该图为课程教学结构示意，不声称现成产品会自动理解科研规范。执行环境需将声明配置为可落实的检查；无法自动判断的研究决定必须由人确认。每一步重新核对范围，人工批准不自动绕过其他条件。未获批准则停止。协议与权限声明在图顶部，循环及分支均为可编辑原生连接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lessons/lesson-02/handout.md §四 研究 harness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lessons/lesson-02/handout.md §五 权限矩阵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lessons/lesson-02/slides.md P13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这是同一未公开合作稿案例的第二轮权限：原稿保留在本地且不向 Agent 开放，研究者人工抽象问题或选择获准公开摘要。第一轮仅只读审查；人工确认后才允许写回 agent-permissions.md 一行、ethics-and-compliance.md 一张风险卡、ai-usage-log.md 一条记录。表格为课堂构造填写示例，不代表对真实材料的上传授权。实际任务按更窄授权执行。让学生指出确认点是否可操作。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course/starter-template.md §8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lessons/lesson-02/handout.md 同一合作稿案例的一行权限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lessons/lesson-02/classroom-pack.md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lessons/lesson-02/slides.md P15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长时间停留页。学生用自己的低风险动作替换右侧虚构示例；第一段先确定权限一行，中点点评后补风险卡、只读边界审查与使用记录。权限六字段、风险卡五字段与日志全部字段以课堂材料包为准，右侧是关键内容摘要，不是删减后的提交模板。无模型时手工审查，AI 使用记录如实写未执行；当堂不新增工件追踪表。完成后临时结对检查三件工件是否对应同一输入与动作。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lessons/lesson-02/classroom-pack.md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lessons/lesson-02/handout.md §九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course/starter-template.md §6、§8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- lessons/lesson-02/slides.md P23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7e218cca84aad" /><Relationship Type="http://schemas.openxmlformats.org/officeDocument/2006/relationships/image" Target="/ppt/media/image.png" Id="R80db01380af64982" /><Relationship Type="http://schemas.openxmlformats.org/officeDocument/2006/relationships/image" Target="/ppt/media/image2.png" Id="R117267072ebc4ce2" /><Relationship Type="http://schemas.openxmlformats.org/officeDocument/2006/relationships/image" Target="/ppt/media/image3.png" Id="Rcf2c7d9908a84edf" /><Relationship Type="http://schemas.openxmlformats.org/officeDocument/2006/relationships/image" Target="/ppt/media/image4.png" Id="R4b9533d0ec8940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9b82e0ce440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d64d5c509427e" /><Relationship Type="http://schemas.openxmlformats.org/officeDocument/2006/relationships/image" Target="/ppt/media/image2.png" Id="Rca776aa8df6349f4" /><Relationship Type="http://schemas.openxmlformats.org/officeDocument/2006/relationships/image" Target="/ppt/media/image5.png" Id="R24722c15fa4542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2c51088cb47c5" /><Relationship Type="http://schemas.openxmlformats.org/officeDocument/2006/relationships/image" Target="/ppt/media/image.png" Id="R228af590f7a94be1" /><Relationship Type="http://schemas.openxmlformats.org/officeDocument/2006/relationships/image" Target="/ppt/media/image3.png" Id="R568fd84c247840e0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b01380af6498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7267072ebc4ce2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2c7d9908a84edf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D8986E70-AA20-4B48-8392-1E625C9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E6E69411-B05C-4E95-9FEF-89AAD19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9C41B9F3-F9D4-4EDD-84BE-E44BAA5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7D9406B-EC01-450C-8B26-61842E9F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533d0ec89404d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776aa8df6349f4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22c15fa454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af590f7a94be1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F67471EE-CBFD-4BA6-A818-9AE9DE51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1843F813-85B6-4A0C-BF78-B8226782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8fd84c247840e0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a1991d0ee24238" /><Relationship Type="http://schemas.openxmlformats.org/officeDocument/2006/relationships/slideLayout" Target="/ppt/slideLayouts/slideLayout1.xml" Id="R1d438f4a968d467a" /><Relationship Type="http://schemas.openxmlformats.org/officeDocument/2006/relationships/slideLayout" Target="/ppt/slideLayouts/slideLayout2.xml" Id="Rff38e57347c94fe4" /><Relationship Type="http://schemas.openxmlformats.org/officeDocument/2006/relationships/slideLayout" Target="/ppt/slideLayouts/slideLayout3.xml" Id="R14e2ebe505a44c3b" /><Relationship Type="http://schemas.openxmlformats.org/officeDocument/2006/relationships/slideLayout" Target="/ppt/slideLayouts/slideLayout4.xml" Id="R95962b96132041e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38f4a968d467a"/>
    <p:sldLayoutId xmlns:r="http://schemas.openxmlformats.org/officeDocument/2006/relationships" id="2147483650" r:id="Rff38e57347c94fe4"/>
    <p:sldLayoutId xmlns:r="http://schemas.openxmlformats.org/officeDocument/2006/relationships" id="2147483651" r:id="R14e2ebe505a44c3b"/>
    <p:sldLayoutId xmlns:r="http://schemas.openxmlformats.org/officeDocument/2006/relationships" id="2147483652" r:id="R95962b96132041e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642b8a60504445" /><Relationship Type="http://schemas.openxmlformats.org/officeDocument/2006/relationships/image" Target="/ppt/media/image6.png" Id="R0d43d13275554131" /><Relationship Type="http://schemas.openxmlformats.org/officeDocument/2006/relationships/notesSlide" Target="/ppt/notesSlides/notesSlide1.xml" Id="R3b4bf92f289c44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f1681df31f438a" /><Relationship Type="http://schemas.openxmlformats.org/officeDocument/2006/relationships/chart" Target="/ppt/slides/charts/chart1.xml" Id="R2fe4da0d63dd491c" /><Relationship Type="http://schemas.openxmlformats.org/officeDocument/2006/relationships/notesSlide" Target="/ppt/notesSlides/notesSlide2.xml" Id="Rb9b624a8261e46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cd98e428634ebe" /><Relationship Type="http://schemas.openxmlformats.org/officeDocument/2006/relationships/notesSlide" Target="/ppt/notesSlides/notesSlide3.xml" Id="Rc8a0e967196044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0abc6ae471422d" /><Relationship Type="http://schemas.openxmlformats.org/officeDocument/2006/relationships/notesSlide" Target="/ppt/notesSlides/notesSlide4.xml" Id="Ra3927321163a48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522e35d17143e5" /><Relationship Type="http://schemas.openxmlformats.org/officeDocument/2006/relationships/notesSlide" Target="/ppt/notesSlides/notesSlide5.xml" Id="Rbbade0c71a01492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评分权重</c:v>
          </c:tx>
          <c:spPr>
            <a:solidFill xmlns:a="http://schemas.openxmlformats.org/drawingml/2006/main">
              <a:srgbClr val="1F4D78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1F4D7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27C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27CA0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809BB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表达、伦理与复盘</c:v>
                </c:pt>
                <c:pt idx="1">
                  <c:v>原型与 Agent Workflow 实践</c:v>
                </c:pt>
                <c:pt idx="2">
                  <c:v>实验设计与可复现性</c:v>
                </c:pt>
                <c:pt idx="3">
                  <c:v>文献与问题定位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</c:v>
                </c:pt>
                <c:pt idx="1">
                  <c:v>0.25</c:v>
                </c:pt>
                <c:pt idx="2">
                  <c:v>0.3</c:v>
                </c:pt>
                <c:pt idx="3">
                  <c:v>0.25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 b="1">
                  <a:solidFill>
                    <a:srgbClr val="1F4D7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01A5FC8-1C33-4E88-81A6-760F4FEF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完整论文出现了，研究质量如何？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E50056-CD19-46FC-9B0B-42BEC17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paper-name">
            <a:extLst xmlns:a="http://schemas.openxmlformats.org/drawingml/2006/main">
              <a:ext uri="{FF2B5EF4-FFF2-40B4-BE49-F238E27FC236}">
                <a16:creationId xmlns:a16="http://schemas.microsoft.com/office/drawing/2014/main" id="{26BD904F-A9D4-462C-9C59-2DE8A75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00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The AI Scientist</a:t>
            </a:r>
          </a:p>
        </p:txBody>
      </p:sp>
      <p:sp>
        <p:nvSpPr>
          <p:cNvPr id="5" name="paper-identity">
            <a:extLst xmlns:a="http://schemas.openxmlformats.org/drawingml/2006/main">
              <a:ext uri="{FF2B5EF4-FFF2-40B4-BE49-F238E27FC236}">
                <a16:creationId xmlns:a16="http://schemas.microsoft.com/office/drawing/2014/main" id="{6C435A33-6FB9-4B72-A3A3-E060A3D4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238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Lu et al. · Nature 651 (2026) · Figure 1a</a:t>
            </a:r>
          </a:p>
        </p:txBody>
      </p:sp>
      <p:sp>
        <p:nvSpPr>
          <p:cNvPr id="6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FAE8685A-7030-4768-B4E7-6557F7CE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F4D78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3d13275554131"/>
          <a:stretch xmlns:a="http://schemas.openxmlformats.org/drawingml/2006/main"/>
        </p:blipFill>
        <p:spPr>
          <a:xfrm xmlns:a="http://schemas.openxmlformats.org/drawingml/2006/main">
            <a:off x="1242154" y="2114550"/>
            <a:ext cx="4126043" cy="3495675"/>
          </a:xfrm>
          <a:prstGeom xmlns:a="http://schemas.openxmlformats.org/drawingml/2006/main" prst="rect">
            <a:avLst/>
          </a:prstGeom>
        </p:spPr>
      </p:pic>
      <p:sp>
        <p:nvSpPr>
          <p:cNvPr id="8" name="figure-reading">
            <a:extLst xmlns:a="http://schemas.openxmlformats.org/drawingml/2006/main">
              <a:ext uri="{FF2B5EF4-FFF2-40B4-BE49-F238E27FC236}">
                <a16:creationId xmlns:a16="http://schemas.microsoft.com/office/drawing/2014/main" id="{8720F04A-09FC-45C5-9872-63C2FC84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959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构思   /   实验   /   成文与评审</a:t>
            </a:r>
          </a:p>
        </p:txBody>
      </p:sp>
      <p:sp>
        <p:nvSpPr>
          <p:cNvPr id="9" name="metric-0">
            <a:extLst xmlns:a="http://schemas.openxmlformats.org/drawingml/2006/main">
              <a:ext uri="{FF2B5EF4-FFF2-40B4-BE49-F238E27FC236}">
                <a16:creationId xmlns:a16="http://schemas.microsoft.com/office/drawing/2014/main" id="{9D8951A4-63C9-4F9E-A954-E06DDA7B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762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1/3</a:t>
            </a:r>
          </a:p>
        </p:txBody>
      </p:sp>
      <p:sp>
        <p:nvSpPr>
          <p:cNvPr id="10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BB90BD76-77B5-4B28-8A11-17594D20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4312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超过 workshop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平均接收阈值</a:t>
            </a:r>
          </a:p>
        </p:txBody>
      </p:sp>
      <p:sp>
        <p:nvSpPr>
          <p:cNvPr id="11" name="metric-separator-0">
            <a:extLst xmlns:a="http://schemas.openxmlformats.org/drawingml/2006/main">
              <a:ext uri="{FF2B5EF4-FFF2-40B4-BE49-F238E27FC236}">
                <a16:creationId xmlns:a16="http://schemas.microsoft.com/office/drawing/2014/main" id="{DF422708-0CA6-419A-A772-43BDFE30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52750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D94C4226-E560-45A3-B37A-42AF3D47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1762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6.33</a:t>
            </a:r>
          </a:p>
        </p:txBody>
      </p:sp>
      <p:sp>
        <p:nvSpPr>
          <p:cNvPr id="13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CFF7595F-C953-4358-9354-47CB56C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1467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其中一篇的评审均分</a:t>
            </a:r>
          </a:p>
        </p:txBody>
      </p:sp>
      <p:sp>
        <p:nvSpPr>
          <p:cNvPr id="14" name="metric-separator-1">
            <a:extLst xmlns:a="http://schemas.openxmlformats.org/drawingml/2006/main">
              <a:ext uri="{FF2B5EF4-FFF2-40B4-BE49-F238E27FC236}">
                <a16:creationId xmlns:a16="http://schemas.microsoft.com/office/drawing/2014/main" id="{8008BC41-044B-4725-87E6-8C977935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5" name="metric-2">
            <a:extLst xmlns:a="http://schemas.openxmlformats.org/drawingml/2006/main">
              <a:ext uri="{FF2B5EF4-FFF2-40B4-BE49-F238E27FC236}">
                <a16:creationId xmlns:a16="http://schemas.microsoft.com/office/drawing/2014/main" id="{25A8CFB7-87B7-4D01-BDF4-43D354F5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1762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C8161E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0/3</a:t>
            </a:r>
          </a:p>
        </p:txBody>
      </p:sp>
      <p:sp>
        <p:nvSpPr>
          <p:cNvPr id="16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36B5A53B-E01B-47DA-9B2A-FF9590AD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8622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团队内部复核：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达到主会标准的投稿</a:t>
            </a:r>
          </a:p>
        </p:txBody>
      </p:sp>
      <p:sp>
        <p:nvSpPr>
          <p:cNvPr id="17" name="sampling-context">
            <a:extLst xmlns:a="http://schemas.openxmlformats.org/drawingml/2006/main">
              <a:ext uri="{FF2B5EF4-FFF2-40B4-BE49-F238E27FC236}">
                <a16:creationId xmlns:a16="http://schemas.microsoft.com/office/drawing/2014/main" id="{F4D75F07-CFC2-4205-86FA-DF04BE89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339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研究团队人工筛选三篇投稿</a:t>
            </a:r>
          </a:p>
        </p:txBody>
      </p:sp>
      <p:sp>
        <p:nvSpPr>
          <p:cNvPr id="18" name="withdrawal-context">
            <a:extLst xmlns:a="http://schemas.openxmlformats.org/drawingml/2006/main">
              <a:ext uri="{FF2B5EF4-FFF2-40B4-BE49-F238E27FC236}">
                <a16:creationId xmlns:a16="http://schemas.microsoft.com/office/drawing/2014/main" id="{C2519272-2751-4F09-BF7E-5DEBDF7C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054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评审后按预设协议撤回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2DD353DB-494A-48D7-980C-301757F7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Lu et al. (2026) · DOI: 10.1038/s41586-026-10265-5 · Figure 1a · CC BY 4.0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6B52F96-BA5A-488E-9048-9EA98DFB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四项能力如何计入课程评分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F7364B-14C5-420D-A546-09B09B0B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score-subject">
            <a:extLst xmlns:a="http://schemas.openxmlformats.org/drawingml/2006/main">
              <a:ext uri="{FF2B5EF4-FFF2-40B4-BE49-F238E27FC236}">
                <a16:creationId xmlns:a16="http://schemas.microsoft.com/office/drawing/2014/main" id="{71980566-AA23-4ADF-AE16-2EFFA6F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个人项目与 Agent Workflow 的评分构成</a:t>
            </a:r>
          </a:p>
        </p:txBody>
      </p:sp>
      <p:sp>
        <p:nvSpPr>
          <p:cNvPr id="5" name="score-rule">
            <a:extLst xmlns:a="http://schemas.openxmlformats.org/drawingml/2006/main">
              <a:ext uri="{FF2B5EF4-FFF2-40B4-BE49-F238E27FC236}">
                <a16:creationId xmlns:a16="http://schemas.microsoft.com/office/drawing/2014/main" id="{C859589B-E330-43C7-A0B2-F48B480D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F4D78"/>
            </a:solidFill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52450" y="2505075"/>
          <a:ext xmlns:a="http://schemas.openxmlformats.org/drawingml/2006/main" cx="7753350" cy="2895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e4da0d63dd491c"/>
          </a:graphicData>
        </a:graphic>
      </p:graphicFrame>
      <p:sp>
        <p:nvSpPr>
          <p:cNvPr id="7" name="score-evidence-title">
            <a:extLst xmlns:a="http://schemas.openxmlformats.org/drawingml/2006/main">
              <a:ext uri="{FF2B5EF4-FFF2-40B4-BE49-F238E27FC236}">
                <a16:creationId xmlns:a16="http://schemas.microsoft.com/office/drawing/2014/main" id="{7A570DC1-61A4-4B76-8397-274E91E9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0002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评分证据</a:t>
            </a:r>
          </a:p>
        </p:txBody>
      </p:sp>
      <p:sp>
        <p:nvSpPr>
          <p:cNvPr id="8" name="score-dimension-title">
            <a:extLst xmlns:a="http://schemas.openxmlformats.org/drawingml/2006/main">
              <a:ext uri="{FF2B5EF4-FFF2-40B4-BE49-F238E27FC236}">
                <a16:creationId xmlns:a16="http://schemas.microsoft.com/office/drawing/2014/main" id="{95A1D95D-E689-4DB2-BB22-3B736A3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评分维度与权重</a:t>
            </a:r>
          </a:p>
        </p:txBody>
      </p:sp>
      <p:sp>
        <p:nvSpPr>
          <p:cNvPr id="9" name="evidence-0">
            <a:extLst xmlns:a="http://schemas.openxmlformats.org/drawingml/2006/main">
              <a:ext uri="{FF2B5EF4-FFF2-40B4-BE49-F238E27FC236}">
                <a16:creationId xmlns:a16="http://schemas.microsoft.com/office/drawing/2014/main" id="{73A64565-B051-44A6-9C52-77117066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860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问题与来源</a:t>
            </a:r>
          </a:p>
        </p:txBody>
      </p:sp>
      <p:sp>
        <p:nvSpPr>
          <p:cNvPr id="10" name="evidence-1">
            <a:extLst xmlns:a="http://schemas.openxmlformats.org/drawingml/2006/main">
              <a:ext uri="{FF2B5EF4-FFF2-40B4-BE49-F238E27FC236}">
                <a16:creationId xmlns:a16="http://schemas.microsoft.com/office/drawing/2014/main" id="{FCD0C0D1-6980-490C-9AFD-A2FFE3B3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242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协议与结果</a:t>
            </a:r>
          </a:p>
        </p:txBody>
      </p:sp>
      <p:sp>
        <p:nvSpPr>
          <p:cNvPr id="11" name="evidence-2">
            <a:extLst xmlns:a="http://schemas.openxmlformats.org/drawingml/2006/main">
              <a:ext uri="{FF2B5EF4-FFF2-40B4-BE49-F238E27FC236}">
                <a16:creationId xmlns:a16="http://schemas.microsoft.com/office/drawing/2014/main" id="{BFBB561C-2340-410B-B3DC-75F9C23A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624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工作流评价</a:t>
            </a:r>
          </a:p>
        </p:txBody>
      </p:sp>
      <p:sp>
        <p:nvSpPr>
          <p:cNvPr id="12" name="evidence-3">
            <a:extLst xmlns:a="http://schemas.openxmlformats.org/drawingml/2006/main">
              <a:ext uri="{FF2B5EF4-FFF2-40B4-BE49-F238E27FC236}">
                <a16:creationId xmlns:a16="http://schemas.microsoft.com/office/drawing/2014/main" id="{3B8CAB8E-074E-4A9E-B4A6-FB8CC6E9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60057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论证与披露</a:t>
            </a:r>
          </a:p>
        </p:txBody>
      </p:sp>
      <p:sp>
        <p:nvSpPr>
          <p:cNvPr id="13" name="score-anchor">
            <a:extLst xmlns:a="http://schemas.openxmlformats.org/drawingml/2006/main">
              <a:ext uri="{FF2B5EF4-FFF2-40B4-BE49-F238E27FC236}">
                <a16:creationId xmlns:a16="http://schemas.microsoft.com/office/drawing/2014/main" id="{9D5B7039-1914-4328-999B-B4DE733C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四级表现锚点</a:t>
            </a:r>
          </a:p>
        </p:txBody>
      </p:sp>
      <p:sp>
        <p:nvSpPr>
          <p:cNvPr id="14" name="score-levels">
            <a:extLst xmlns:a="http://schemas.openxmlformats.org/drawingml/2006/main">
              <a:ext uri="{FF2B5EF4-FFF2-40B4-BE49-F238E27FC236}">
                <a16:creationId xmlns:a16="http://schemas.microsoft.com/office/drawing/2014/main" id="{41D434A5-1A90-41A5-8CCD-294AE34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00700"/>
            <a:ext cx="824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卓越   /   达标   /   待改   /   不达标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A744BD99-A1D5-4427-9FB5-FD01232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课程考核方案 · 四项比例合计 100% · 完整评分锚点见 course/assessment.md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E71A2-36A9-487C-8DFD-83122D94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 harness：声明、检查与执行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ADA1A63-5CB1-4AB2-A400-9BE398E3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protocol-title">
            <a:extLst xmlns:a="http://schemas.openxmlformats.org/drawingml/2006/main">
              <a:ext uri="{FF2B5EF4-FFF2-40B4-BE49-F238E27FC236}">
                <a16:creationId xmlns:a16="http://schemas.microsoft.com/office/drawing/2014/main" id="{6F5F264C-BC1D-4F81-B3BD-14A3E4AC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研究协议</a:t>
            </a:r>
          </a:p>
        </p:txBody>
      </p:sp>
      <p:sp>
        <p:nvSpPr>
          <p:cNvPr id="5" name="protocol-text">
            <a:extLst xmlns:a="http://schemas.openxmlformats.org/drawingml/2006/main">
              <a:ext uri="{FF2B5EF4-FFF2-40B4-BE49-F238E27FC236}">
                <a16:creationId xmlns:a16="http://schemas.microsoft.com/office/drawing/2014/main" id="{C93581B8-F66F-457E-A4C8-4A7B4CBD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19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目标、指标、停止条件</a:t>
            </a:r>
          </a:p>
        </p:txBody>
      </p:sp>
      <p:sp>
        <p:nvSpPr>
          <p:cNvPr id="6" name="permission-title">
            <a:extLst xmlns:a="http://schemas.openxmlformats.org/drawingml/2006/main">
              <a:ext uri="{FF2B5EF4-FFF2-40B4-BE49-F238E27FC236}">
                <a16:creationId xmlns:a16="http://schemas.microsoft.com/office/drawing/2014/main" id="{68E7809D-3966-4A7F-9FC2-B4E220BA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028700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任务权限</a:t>
            </a:r>
          </a:p>
        </p:txBody>
      </p:sp>
      <p:sp>
        <p:nvSpPr>
          <p:cNvPr id="7" name="permission-text">
            <a:extLst xmlns:a="http://schemas.openxmlformats.org/drawingml/2006/main">
              <a:ext uri="{FF2B5EF4-FFF2-40B4-BE49-F238E27FC236}">
                <a16:creationId xmlns:a16="http://schemas.microsoft.com/office/drawing/2014/main" id="{44FF02E3-0BEA-4CE1-A845-0FEF860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57325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可读、可写、可执行</a:t>
            </a:r>
          </a:p>
        </p:txBody>
      </p:sp>
      <p:sp>
        <p:nvSpPr>
          <p:cNvPr id="8" name="declaration-rule">
            <a:extLst xmlns:a="http://schemas.openxmlformats.org/drawingml/2006/main">
              <a:ext uri="{FF2B5EF4-FFF2-40B4-BE49-F238E27FC236}">
                <a16:creationId xmlns:a16="http://schemas.microsoft.com/office/drawing/2014/main" id="{E4BE01A5-3607-4DAC-93F1-3B5DBB28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F4D78"/>
            </a:solidFill>
          </a:ln>
        </p:spPr>
      </p:sp>
      <p:sp>
        <p:nvSpPr>
          <p:cNvPr id="9" name="declaration-role">
            <a:extLst xmlns:a="http://schemas.openxmlformats.org/drawingml/2006/main">
              <a:ext uri="{FF2B5EF4-FFF2-40B4-BE49-F238E27FC236}">
                <a16:creationId xmlns:a16="http://schemas.microsoft.com/office/drawing/2014/main" id="{DABCF400-055C-4956-8E10-74F655FC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85975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研究者声明边界</a:t>
            </a:r>
          </a:p>
        </p:txBody>
      </p:sp>
      <p:sp>
        <p:nvSpPr>
          <p:cNvPr id="10" name="proposed-action">
            <a:extLst xmlns:a="http://schemas.openxmlformats.org/drawingml/2006/main">
              <a:ext uri="{FF2B5EF4-FFF2-40B4-BE49-F238E27FC236}">
                <a16:creationId xmlns:a16="http://schemas.microsoft.com/office/drawing/2014/main" id="{81012126-101E-41C2-8507-447B7003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动作提议</a:t>
            </a:r>
          </a:p>
        </p:txBody>
      </p:sp>
      <p:sp>
        <p:nvSpPr>
          <p:cNvPr id="11" name="boundary-check">
            <a:extLst xmlns:a="http://schemas.openxmlformats.org/drawingml/2006/main">
              <a:ext uri="{FF2B5EF4-FFF2-40B4-BE49-F238E27FC236}">
                <a16:creationId xmlns:a16="http://schemas.microsoft.com/office/drawing/2014/main" id="{E73FE08D-B2FB-4C95-93C3-6A6589B9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14650"/>
            <a:ext cx="2019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边界检查</a:t>
            </a:r>
          </a:p>
        </p:txBody>
      </p:sp>
      <p:sp>
        <p:nvSpPr>
          <p:cNvPr id="12" name="bounded-execution">
            <a:extLst xmlns:a="http://schemas.openxmlformats.org/drawingml/2006/main">
              <a:ext uri="{FF2B5EF4-FFF2-40B4-BE49-F238E27FC236}">
                <a16:creationId xmlns:a16="http://schemas.microsoft.com/office/drawing/2014/main" id="{00F85F2C-D0A1-4E2B-9CA3-58F9F1E6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990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</p:txBody>
      </p:sp>
      <p:sp>
        <p:nvSpPr>
          <p:cNvPr id="13" name="actual-trace">
            <a:extLst xmlns:a="http://schemas.openxmlformats.org/drawingml/2006/main">
              <a:ext uri="{FF2B5EF4-FFF2-40B4-BE49-F238E27FC236}">
                <a16:creationId xmlns:a16="http://schemas.microsoft.com/office/drawing/2014/main" id="{7A2EE7F1-8E18-4215-9FD7-730D226D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实际 trace</a:t>
            </a:r>
          </a:p>
        </p:txBody>
      </p:sp>
      <p:cxnSp>
        <p:nvCxnSpPr>
          <p:cNvPr id="51" name="proposal-to-check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57450" y="34004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52" name="check-to-execution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400425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D5B"/>
            </a:solidFill>
            <a:prstDash val="solid"/>
            <a:tailEnd type="triangle" w="sm" len="sm"/>
          </a:ln>
        </p:spPr>
      </p:cxnSp>
      <p:sp>
        <p:nvSpPr>
          <p:cNvPr id="16" name="passed">
            <a:extLst xmlns:a="http://schemas.openxmlformats.org/drawingml/2006/main">
              <a:ext uri="{FF2B5EF4-FFF2-40B4-BE49-F238E27FC236}">
                <a16:creationId xmlns:a16="http://schemas.microsoft.com/office/drawing/2014/main" id="{B24B76EA-CDE2-4365-97BA-83370053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满足条件</a:t>
            </a:r>
          </a:p>
        </p:txBody>
      </p:sp>
      <p:cxnSp>
        <p:nvCxnSpPr>
          <p:cNvPr id="54" name="execution-to-trace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144000" y="3400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8" name="execute-detail">
            <a:extLst xmlns:a="http://schemas.openxmlformats.org/drawingml/2006/main">
              <a:ext uri="{FF2B5EF4-FFF2-40B4-BE49-F238E27FC236}">
                <a16:creationId xmlns:a16="http://schemas.microsoft.com/office/drawing/2014/main" id="{3C97FF32-409F-4D42-B0D2-0A40C76E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4335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按获批范围行动</a:t>
            </a:r>
          </a:p>
        </p:txBody>
      </p:sp>
      <p:sp>
        <p:nvSpPr>
          <p:cNvPr id="19" name="trace-detail">
            <a:extLst xmlns:a="http://schemas.openxmlformats.org/drawingml/2006/main">
              <a:ext uri="{FF2B5EF4-FFF2-40B4-BE49-F238E27FC236}">
                <a16:creationId xmlns:a16="http://schemas.microsoft.com/office/drawing/2014/main" id="{64AFE3F8-D8A3-4816-B931-877C6D7A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43350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diff、日志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与外部状态</a:t>
            </a:r>
          </a:p>
        </p:txBody>
      </p:sp>
      <p:sp>
        <p:nvSpPr>
          <p:cNvPr id="20" name="human-confirmation">
            <a:extLst xmlns:a="http://schemas.openxmlformats.org/drawingml/2006/main">
              <a:ext uri="{FF2B5EF4-FFF2-40B4-BE49-F238E27FC236}">
                <a16:creationId xmlns:a16="http://schemas.microsoft.com/office/drawing/2014/main" id="{D5E5C76F-6CFA-495A-82C1-57F4598F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006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14288">
            <a:solidFill>
              <a:srgbClr val="A96510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人工确认例外</a:t>
            </a:r>
          </a:p>
        </p:txBody>
      </p:sp>
      <p:cxnSp>
        <p:nvCxnSpPr>
          <p:cNvPr id="58" name="exception-to-human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4933950" y="38862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6510"/>
            </a:solidFill>
            <a:prstDash val="solid"/>
            <a:tailEnd type="triangle" w="sm" len="sm"/>
          </a:ln>
        </p:spPr>
      </p:cxnSp>
      <p:sp>
        <p:nvSpPr>
          <p:cNvPr id="22" name="exception-label">
            <a:extLst xmlns:a="http://schemas.openxmlformats.org/drawingml/2006/main">
              <a:ext uri="{FF2B5EF4-FFF2-40B4-BE49-F238E27FC236}">
                <a16:creationId xmlns:a16="http://schemas.microsoft.com/office/drawing/2014/main" id="{48B1FBB6-BF13-435A-A864-5AC1DEEE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148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超出当前边界</a:t>
            </a:r>
          </a:p>
        </p:txBody>
      </p:sp>
      <p:sp>
        <p:nvSpPr>
          <p:cNvPr id="23" name="approved-low-anchor">
            <a:extLst xmlns:a="http://schemas.openxmlformats.org/drawingml/2006/main">
              <a:ext uri="{FF2B5EF4-FFF2-40B4-BE49-F238E27FC236}">
                <a16:creationId xmlns:a16="http://schemas.microsoft.com/office/drawing/2014/main" id="{7C4659A6-2E20-412B-9951-FAFF73EA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33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approved-high-anchor">
            <a:extLst xmlns:a="http://schemas.openxmlformats.org/drawingml/2006/main">
              <a:ext uri="{FF2B5EF4-FFF2-40B4-BE49-F238E27FC236}">
                <a16:creationId xmlns:a16="http://schemas.microsoft.com/office/drawing/2014/main" id="{ED71AE1E-598E-42F3-B032-67B1E796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0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human-to-update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057525" y="5133975"/>
            <a:ext cx="7334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6510"/>
            </a:solidFill>
            <a:prstDash val="solid"/>
            <a:tailEnd type="none" w="sm" len="sm"/>
          </a:ln>
        </p:spPr>
      </p:cxnSp>
      <p:cxnSp>
        <p:nvCxnSpPr>
          <p:cNvPr id="63" name="updated-boundary-up"/>
          <p:cNvCxnSpPr>
            <a:stCxn xmlns:a="http://schemas.openxmlformats.org/drawingml/2006/main" id="23" idx="0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3052763" y="3409950"/>
            <a:ext cx="0" cy="1724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6510"/>
            </a:solidFill>
            <a:prstDash val="solid"/>
            <a:tailEnd type="none" w="sm" len="sm"/>
          </a:ln>
        </p:spPr>
      </p:cxnSp>
      <p:cxnSp>
        <p:nvCxnSpPr>
          <p:cNvPr id="64" name="updated-boundary-to-check"/>
          <p:cNvCxnSpPr>
            <a:stCxn xmlns:a="http://schemas.openxmlformats.org/drawingml/2006/main" id="2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057525" y="3400425"/>
            <a:ext cx="8667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6510"/>
            </a:solidFill>
            <a:prstDash val="solid"/>
            <a:tailEnd type="triangle" w="sm" len="sm"/>
          </a:ln>
        </p:spPr>
      </p:cxnSp>
      <p:sp>
        <p:nvSpPr>
          <p:cNvPr id="28" name="updated-label">
            <a:extLst xmlns:a="http://schemas.openxmlformats.org/drawingml/2006/main">
              <a:ext uri="{FF2B5EF4-FFF2-40B4-BE49-F238E27FC236}">
                <a16:creationId xmlns:a16="http://schemas.microsoft.com/office/drawing/2014/main" id="{E48D0100-9243-4D75-9FF4-2691E9F8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190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获批：更新边界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并重新检查</a:t>
            </a:r>
          </a:p>
        </p:txBody>
      </p:sp>
      <p:sp>
        <p:nvSpPr>
          <p:cNvPr id="29" name="not-approved-stop">
            <a:extLst xmlns:a="http://schemas.openxmlformats.org/drawingml/2006/main">
              <a:ext uri="{FF2B5EF4-FFF2-40B4-BE49-F238E27FC236}">
                <a16:creationId xmlns:a16="http://schemas.microsoft.com/office/drawing/2014/main" id="{3BAE7C03-E399-48B4-B4ED-14A490F8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161E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</p:txBody>
      </p:sp>
      <p:cxnSp>
        <p:nvCxnSpPr>
          <p:cNvPr id="67" name="human-denied-to-stop"/>
          <p:cNvCxnSpPr>
            <a:stCxn xmlns:a="http://schemas.openxmlformats.org/drawingml/2006/main" id="20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076950" y="5133975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161E"/>
            </a:solidFill>
            <a:prstDash val="solid"/>
            <a:tailEnd type="triangle" w="sm" len="sm"/>
          </a:ln>
        </p:spPr>
      </p:cxnSp>
      <p:sp>
        <p:nvSpPr>
          <p:cNvPr id="31" name="not-approved">
            <a:extLst xmlns:a="http://schemas.openxmlformats.org/drawingml/2006/main">
              <a:ext uri="{FF2B5EF4-FFF2-40B4-BE49-F238E27FC236}">
                <a16:creationId xmlns:a16="http://schemas.microsoft.com/office/drawing/2014/main" id="{A531E0F5-D778-4FCE-B540-2652D5A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33925"/>
            <a:ext cx="1485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未获批准</a:t>
            </a:r>
          </a:p>
        </p:txBody>
      </p:sp>
      <p:sp>
        <p:nvSpPr>
          <p:cNvPr id="32" name="next-state-anchor">
            <a:extLst xmlns:a="http://schemas.openxmlformats.org/drawingml/2006/main">
              <a:ext uri="{FF2B5EF4-FFF2-40B4-BE49-F238E27FC236}">
                <a16:creationId xmlns:a16="http://schemas.microsoft.com/office/drawing/2014/main" id="{7A8261B6-86CE-4728-9C50-5569FD66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647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next-proposal-anchor">
            <a:extLst xmlns:a="http://schemas.openxmlformats.org/drawingml/2006/main">
              <a:ext uri="{FF2B5EF4-FFF2-40B4-BE49-F238E27FC236}">
                <a16:creationId xmlns:a16="http://schemas.microsoft.com/office/drawing/2014/main" id="{B00FFFF5-4895-4164-8DBF-C796A506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47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trace-to-next-state"/>
          <p:cNvCxnSpPr>
            <a:stCxn xmlns:a="http://schemas.openxmlformats.org/drawingml/2006/main" id="13" idx="0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10734675" y="2657475"/>
            <a:ext cx="4763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80"/>
            </a:solidFill>
            <a:prstDash val="dash"/>
            <a:tailEnd type="none" w="sm" len="sm"/>
          </a:ln>
        </p:spPr>
      </p:cxnSp>
      <p:cxnSp>
        <p:nvCxnSpPr>
          <p:cNvPr id="72" name="next-state-to-new-action"/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1543050" y="2652713"/>
            <a:ext cx="919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80"/>
            </a:solidFill>
            <a:prstDash val="dash"/>
            <a:tailEnd type="none" w="sm" len="sm"/>
          </a:ln>
        </p:spPr>
      </p:cxnSp>
      <p:cxnSp>
        <p:nvCxnSpPr>
          <p:cNvPr id="73" name="new-action-to-proposal"/>
          <p:cNvCxnSpPr>
            <a:stCxn xmlns:a="http://schemas.openxmlformats.org/drawingml/2006/main" id="3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533525" y="2657475"/>
            <a:ext cx="4763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80"/>
            </a:solidFill>
            <a:prstDash val="dash"/>
            <a:tailEnd type="triangle" w="sm" len="sm"/>
          </a:ln>
        </p:spPr>
      </p:cxnSp>
      <p:sp>
        <p:nvSpPr>
          <p:cNvPr id="37" name="cycle-label">
            <a:extLst xmlns:a="http://schemas.openxmlformats.org/drawingml/2006/main">
              <a:ext uri="{FF2B5EF4-FFF2-40B4-BE49-F238E27FC236}">
                <a16:creationId xmlns:a16="http://schemas.microsoft.com/office/drawing/2014/main" id="{63D42DD8-9C87-427D-B165-3476A86C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38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下一动作仍经检查</a:t>
            </a:r>
          </a:p>
        </p:txBody>
      </p:sp>
      <p:sp>
        <p:nvSpPr>
          <p:cNvPr id="38" name="source">
            <a:extLst xmlns:a="http://schemas.openxmlformats.org/drawingml/2006/main">
              <a:ext uri="{FF2B5EF4-FFF2-40B4-BE49-F238E27FC236}">
                <a16:creationId xmlns:a16="http://schemas.microsoft.com/office/drawing/2014/main" id="{67B38572-C95F-448C-AD46-D9543FCE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课程教学结构示意 · 研究者声明边界，执行环境落实检查 · OpenCode 是执行实例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EB11E34-26CE-44F0-B28F-0F09D82D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一次任务的权限边界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4ACF26-6AA2-44C1-83DF-B1E2A5F2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fiction-mark">
            <a:extLst xmlns:a="http://schemas.openxmlformats.org/drawingml/2006/main">
              <a:ext uri="{FF2B5EF4-FFF2-40B4-BE49-F238E27FC236}">
                <a16:creationId xmlns:a16="http://schemas.microsoft.com/office/drawing/2014/main" id="{F4FEBF01-DD24-40B1-87B7-522662D0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课堂构造案例</a:t>
            </a:r>
          </a:p>
        </p:txBody>
      </p:sp>
      <p:sp>
        <p:nvSpPr>
          <p:cNvPr id="5" name="case-action">
            <a:extLst xmlns:a="http://schemas.openxmlformats.org/drawingml/2006/main">
              <a:ext uri="{FF2B5EF4-FFF2-40B4-BE49-F238E27FC236}">
                <a16:creationId xmlns:a16="http://schemas.microsoft.com/office/drawing/2014/main" id="{B7B162DA-DDE2-4B4A-8A8A-2DBE4E30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82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为未公开合作稿选择可授权的替代输入</a:t>
            </a:r>
          </a:p>
        </p:txBody>
      </p:sp>
      <p:graphicFrame>
        <p:nvGraphicFramePr>
          <p:cNvPr id="14" name="one-task-six-field-permission"/>
          <p:cNvGraphicFramePr/>
          <p:nvPr/>
        </p:nvGraphicFramePr>
        <p:xfrm>
          <a:off xmlns:a="http://schemas.openxmlformats.org/drawingml/2006/main" x="609600" y="2390775"/>
          <a:ext xmlns:a="http://schemas.openxmlformats.org/drawingml/2006/main" cx="109728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885950"/>
                <a:gridCol w="1543050"/>
                <a:gridCol w="1847850"/>
                <a:gridCol w="2095500"/>
                <a:gridCol w="1962150"/>
              </a:tblGrid>
              <a:tr h="5810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对象或能力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只读范围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可写范围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是否允许执行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人工确认点</a:t>
                      </a:r>
                    </a:p>
                  </a:txBody>
                  <a:tcPr marL="114300" marR="76200" marT="114300" marB="95250"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禁止事项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</a:tr>
              <a:tr h="14573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合作稿的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替代输入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人工抽象问题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与已批准的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公开摘要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权限一行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风险卡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使用记录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本次不运行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命令、不联网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写回前确认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文件、段落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与修改范围</a:t>
                      </a:r>
                    </a:p>
                  </a:txBody>
                  <a:tcPr marL="114300" marR="95250" marT="123825" marB="95250"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161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读取或外发</a:t>
                      </a:r>
                    </a:p>
                    <a:p>
                      <a:r>
                        <a:rPr sz="2000">
                          <a:solidFill>
                            <a:srgbClr val="C8161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未公开原稿；</a:t>
                      </a:r>
                    </a:p>
                    <a:p>
                      <a:r>
                        <a:rPr sz="2000">
                          <a:solidFill>
                            <a:srgbClr val="C8161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改问题或指标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ermission-question">
            <a:extLst xmlns:a="http://schemas.openxmlformats.org/drawingml/2006/main">
              <a:ext uri="{FF2B5EF4-FFF2-40B4-BE49-F238E27FC236}">
                <a16:creationId xmlns:a16="http://schemas.microsoft.com/office/drawing/2014/main" id="{A0E3E512-1E0F-4C3C-8791-16825AF9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写回前，具体要确认什么？</a:t>
            </a:r>
          </a:p>
        </p:txBody>
      </p:sp>
      <p:sp>
        <p:nvSpPr>
          <p:cNvPr id="8" name="permission-answer">
            <a:extLst xmlns:a="http://schemas.openxmlformats.org/drawingml/2006/main">
              <a:ext uri="{FF2B5EF4-FFF2-40B4-BE49-F238E27FC236}">
                <a16:creationId xmlns:a16="http://schemas.microsoft.com/office/drawing/2014/main" id="{A7ECDDDA-916B-4A42-9F82-3B789C60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目标文件、目标段落与修改范围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E0AF6679-3E10-460B-BDB7-E48B546E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课内示例的一次任务授权 · 六字段与 course/starter-template.md §8 保持一致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441EA80-7647-4C45-80DC-5ACB1CB6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完成一次有边界的科研动作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92989BE-76EE-48C2-BAB9-F0F6F3C0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your-action">
            <a:extLst xmlns:a="http://schemas.openxmlformats.org/drawingml/2006/main">
              <a:ext uri="{FF2B5EF4-FFF2-40B4-BE49-F238E27FC236}">
                <a16:creationId xmlns:a16="http://schemas.microsoft.com/office/drawing/2014/main" id="{FFBF507D-B636-413A-A669-A7E1870E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选一个低风险科研动作</a:t>
            </a:r>
          </a:p>
        </p:txBody>
      </p:sp>
      <p:sp>
        <p:nvSpPr>
          <p:cNvPr id="5" name="action-explanation">
            <a:extLst xmlns:a="http://schemas.openxmlformats.org/drawingml/2006/main">
              <a:ext uri="{FF2B5EF4-FFF2-40B4-BE49-F238E27FC236}">
                <a16:creationId xmlns:a16="http://schemas.microsoft.com/office/drawing/2014/main" id="{481D2FA6-2B93-417C-8BDF-0AF510B2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44481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写清材料边界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与写回范围。</a:t>
            </a:r>
          </a:p>
        </p:txBody>
      </p:sp>
      <p:sp>
        <p:nvSpPr>
          <p:cNvPr id="6" name="first-part">
            <a:extLst xmlns:a="http://schemas.openxmlformats.org/drawingml/2006/main">
              <a:ext uri="{FF2B5EF4-FFF2-40B4-BE49-F238E27FC236}">
                <a16:creationId xmlns:a16="http://schemas.microsoft.com/office/drawing/2014/main" id="{963DEF30-10F0-42DF-B793-28F49C0D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4371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第一段：权限一行</a:t>
            </a:r>
          </a:p>
        </p:txBody>
      </p:sp>
      <p:sp>
        <p:nvSpPr>
          <p:cNvPr id="7" name="second-part">
            <a:extLst xmlns:a="http://schemas.openxmlformats.org/drawingml/2006/main">
              <a:ext uri="{FF2B5EF4-FFF2-40B4-BE49-F238E27FC236}">
                <a16:creationId xmlns:a16="http://schemas.microsoft.com/office/drawing/2014/main" id="{EB3E170B-C652-4CB1-909C-99F4EF86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43719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中点点评后：风险卡、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只读审查与使用记录</a:t>
            </a:r>
          </a:p>
        </p:txBody>
      </p:sp>
      <p:sp>
        <p:nvSpPr>
          <p:cNvPr id="8" name="save-label">
            <a:extLst xmlns:a="http://schemas.openxmlformats.org/drawingml/2006/main">
              <a:ext uri="{FF2B5EF4-FFF2-40B4-BE49-F238E27FC236}">
                <a16:creationId xmlns:a16="http://schemas.microsoft.com/office/drawing/2014/main" id="{E060E9E2-399B-456B-9E98-9A1D9638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保存到个人项目</a:t>
            </a:r>
          </a:p>
        </p:txBody>
      </p:sp>
      <p:sp>
        <p:nvSpPr>
          <p:cNvPr id="9" name="save-files">
            <a:extLst xmlns:a="http://schemas.openxmlformats.org/drawingml/2006/main">
              <a:ext uri="{FF2B5EF4-FFF2-40B4-BE49-F238E27FC236}">
                <a16:creationId xmlns:a16="http://schemas.microsoft.com/office/drawing/2014/main" id="{76A2A9F9-8EB1-4B56-9C19-E864FBB4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4543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agent-permissions.md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ethics-and-compliance.md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ai-usage-log.md</a:t>
            </a:r>
          </a:p>
        </p:txBody>
      </p:sp>
      <p:sp>
        <p:nvSpPr>
          <p:cNvPr id="10" name="example-start">
            <a:extLst xmlns:a="http://schemas.openxmlformats.org/drawingml/2006/main">
              <a:ext uri="{FF2B5EF4-FFF2-40B4-BE49-F238E27FC236}">
                <a16:creationId xmlns:a16="http://schemas.microsoft.com/office/drawing/2014/main" id="{62CBC7B0-FB8F-4304-96B3-72964B1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438275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F4D78"/>
            </a:solidFill>
          </a:ln>
        </p:spPr>
      </p:sp>
      <p:sp>
        <p:nvSpPr>
          <p:cNvPr id="11" name="example-mark">
            <a:extLst xmlns:a="http://schemas.openxmlformats.org/drawingml/2006/main">
              <a:ext uri="{FF2B5EF4-FFF2-40B4-BE49-F238E27FC236}">
                <a16:creationId xmlns:a16="http://schemas.microsoft.com/office/drawing/2014/main" id="{10CAA05E-705A-44ED-A0A8-6B40BC2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00012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课堂构造完成示例</a:t>
            </a:r>
          </a:p>
        </p:txBody>
      </p:sp>
      <p:sp>
        <p:nvSpPr>
          <p:cNvPr id="12" name="example-label-0">
            <a:extLst xmlns:a="http://schemas.openxmlformats.org/drawingml/2006/main">
              <a:ext uri="{FF2B5EF4-FFF2-40B4-BE49-F238E27FC236}">
                <a16:creationId xmlns:a16="http://schemas.microsoft.com/office/drawing/2014/main" id="{CD95F3BC-2C51-43DE-863F-8F85129E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695450"/>
            <a:ext cx="594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权限行</a:t>
            </a:r>
          </a:p>
        </p:txBody>
      </p:sp>
      <p:sp>
        <p:nvSpPr>
          <p:cNvPr id="13" name="example-body-0">
            <a:extLst xmlns:a="http://schemas.openxmlformats.org/drawingml/2006/main">
              <a:ext uri="{FF2B5EF4-FFF2-40B4-BE49-F238E27FC236}">
                <a16:creationId xmlns:a16="http://schemas.microsoft.com/office/drawing/2014/main" id="{B37202D6-9362-454A-96A2-26F3FC03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124075"/>
            <a:ext cx="5953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只读人工抽象问题与获准公开摘要；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写回三份文件前，确认具体段落。</a:t>
            </a:r>
          </a:p>
        </p:txBody>
      </p:sp>
      <p:sp>
        <p:nvSpPr>
          <p:cNvPr id="14" name="example-line-0">
            <a:extLst xmlns:a="http://schemas.openxmlformats.org/drawingml/2006/main">
              <a:ext uri="{FF2B5EF4-FFF2-40B4-BE49-F238E27FC236}">
                <a16:creationId xmlns:a16="http://schemas.microsoft.com/office/drawing/2014/main" id="{2F7B7ADD-7EAE-4751-B672-AD1C1BE4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962275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5" name="example-label-1">
            <a:extLst xmlns:a="http://schemas.openxmlformats.org/drawingml/2006/main">
              <a:ext uri="{FF2B5EF4-FFF2-40B4-BE49-F238E27FC236}">
                <a16:creationId xmlns:a16="http://schemas.microsoft.com/office/drawing/2014/main" id="{712671E5-403C-4CA3-886B-BA59340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76575"/>
            <a:ext cx="594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风险卡</a:t>
            </a:r>
          </a:p>
        </p:txBody>
      </p:sp>
      <p:sp>
        <p:nvSpPr>
          <p:cNvPr id="16" name="example-body-1">
            <a:extLst xmlns:a="http://schemas.openxmlformats.org/drawingml/2006/main">
              <a:ext uri="{FF2B5EF4-FFF2-40B4-BE49-F238E27FC236}">
                <a16:creationId xmlns:a16="http://schemas.microsoft.com/office/drawing/2014/main" id="{182D0285-AD47-4A7F-B99E-9080A0A9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505200"/>
            <a:ext cx="5953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原稿外发会暴露合作内容。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改用抽象问题，由作者核查边界。</a:t>
            </a:r>
          </a:p>
        </p:txBody>
      </p:sp>
      <p:sp>
        <p:nvSpPr>
          <p:cNvPr id="17" name="example-line-1">
            <a:extLst xmlns:a="http://schemas.openxmlformats.org/drawingml/2006/main">
              <a:ext uri="{FF2B5EF4-FFF2-40B4-BE49-F238E27FC236}">
                <a16:creationId xmlns:a16="http://schemas.microsoft.com/office/drawing/2014/main" id="{FCBF1F83-6198-46CA-BF21-8D972E1E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343400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8" name="example-label-2">
            <a:extLst xmlns:a="http://schemas.openxmlformats.org/drawingml/2006/main">
              <a:ext uri="{FF2B5EF4-FFF2-40B4-BE49-F238E27FC236}">
                <a16:creationId xmlns:a16="http://schemas.microsoft.com/office/drawing/2014/main" id="{31BA8C9B-A13A-430A-ABDE-0BE27538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457700"/>
            <a:ext cx="594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使用记录</a:t>
            </a:r>
          </a:p>
        </p:txBody>
      </p:sp>
      <p:sp>
        <p:nvSpPr>
          <p:cNvPr id="19" name="example-body-2">
            <a:extLst xmlns:a="http://schemas.openxmlformats.org/drawingml/2006/main">
              <a:ext uri="{FF2B5EF4-FFF2-40B4-BE49-F238E27FC236}">
                <a16:creationId xmlns:a16="http://schemas.microsoft.com/office/drawing/2014/main" id="{53989433-265F-411D-B78D-85A33C9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86325"/>
            <a:ext cx="5953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写明实际输入、采用理由与核验方法。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未调用模型时如实记录“未执行”。</a:t>
            </a:r>
          </a:p>
        </p:txBody>
      </p:sp>
      <p:sp>
        <p:nvSpPr>
          <p:cNvPr id="20" name="finish-line">
            <a:extLst xmlns:a="http://schemas.openxmlformats.org/drawingml/2006/main">
              <a:ext uri="{FF2B5EF4-FFF2-40B4-BE49-F238E27FC236}">
                <a16:creationId xmlns:a16="http://schemas.microsoft.com/office/drawing/2014/main" id="{DF2ECF89-B191-4C46-BE8D-54A8D1F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完成标志：三件工件相互一致，能解释一次具体动作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2026-09-15T06:20:58.9240000Z</dcterms:created>
  <dcterms:modified xsi:type="dcterms:W3CDTF">2026-09-15T06:20:58.9240000Z</dcterms:modified>
</coreProperties>
</file>