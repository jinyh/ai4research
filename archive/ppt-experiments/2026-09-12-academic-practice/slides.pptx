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cf5941832e491d" /><Relationship Type="http://schemas.openxmlformats.org/officeDocument/2006/relationships/extended-properties" Target="/docProps/app.xml" Id="R0a2750291d684cb7" /><Relationship Type="http://schemas.openxmlformats.org/officeDocument/2006/relationships/officeDocument" Target="/ppt/presentation.xml" Id="R927f37cc44dc45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d0fd3a0e304257"/>
  </p:sldMasterIdLst>
  <p:notesMasterIdLst>
    <p:notesMasterId xmlns:r="http://schemas.openxmlformats.org/officeDocument/2006/relationships" r:id="Ra1f96a7152e647d7"/>
  </p:notesMasterIdLst>
  <p:sldIdLst>
    <p:sldId xmlns:r="http://schemas.openxmlformats.org/officeDocument/2006/relationships" id="256" r:id="Rd7e4206b56894a61"/>
    <p:sldId xmlns:r="http://schemas.openxmlformats.org/officeDocument/2006/relationships" id="257" r:id="R4b5a56fd51e24797"/>
    <p:sldId xmlns:r="http://schemas.openxmlformats.org/officeDocument/2006/relationships" id="258" r:id="R84338a6ed5fc46bd"/>
    <p:sldId xmlns:r="http://schemas.openxmlformats.org/officeDocument/2006/relationships" id="259" r:id="Rb24ec4e000cf44ce"/>
    <p:sldId xmlns:r="http://schemas.openxmlformats.org/officeDocument/2006/relationships" id="260" r:id="Raf0779949c5d46f6"/>
    <p:sldId xmlns:r="http://schemas.openxmlformats.org/officeDocument/2006/relationships" id="261" r:id="Re8f762011caf47de"/>
    <p:sldId xmlns:r="http://schemas.openxmlformats.org/officeDocument/2006/relationships" id="262" r:id="R5630d637744b46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1ddbd594014fe0" /><Relationship Type="http://schemas.openxmlformats.org/officeDocument/2006/relationships/slideMaster" Target="/ppt/slideMasters/slideMaster1.xml" Id="R4ed0fd3a0e304257" /><Relationship Type="http://schemas.openxmlformats.org/officeDocument/2006/relationships/notesMaster" Target="/ppt/notesMasters/notesMaster1.xml" Id="Ra1f96a7152e647d7" /><Relationship Type="http://schemas.openxmlformats.org/officeDocument/2006/relationships/presProps" Target="/ppt/presProps.xml" Id="Rf520efae244d4c6d" /><Relationship Type="http://schemas.openxmlformats.org/officeDocument/2006/relationships/viewProps" Target="/ppt/viewProps.xml" Id="R2218428e28834434" /><Relationship Type="http://schemas.openxmlformats.org/officeDocument/2006/relationships/tableStyles" Target="/ppt/tableStyles.xml" Id="R29d2afae5d6b4aa1" /><Relationship Type="http://schemas.openxmlformats.org/officeDocument/2006/relationships/slide" Target="/ppt/slides/slide1.xml" Id="Rd7e4206b56894a61" /><Relationship Type="http://schemas.openxmlformats.org/officeDocument/2006/relationships/slide" Target="/ppt/slides/slide2.xml" Id="R4b5a56fd51e24797" /><Relationship Type="http://schemas.openxmlformats.org/officeDocument/2006/relationships/slide" Target="/ppt/slides/slide3.xml" Id="R84338a6ed5fc46bd" /><Relationship Type="http://schemas.openxmlformats.org/officeDocument/2006/relationships/slide" Target="/ppt/slides/slide4.xml" Id="Rb24ec4e000cf44ce" /><Relationship Type="http://schemas.openxmlformats.org/officeDocument/2006/relationships/slide" Target="/ppt/slides/slide5.xml" Id="Raf0779949c5d46f6" /><Relationship Type="http://schemas.openxmlformats.org/officeDocument/2006/relationships/slide" Target="/ppt/slides/slide6.xml" Id="Re8f762011caf47de" /><Relationship Type="http://schemas.openxmlformats.org/officeDocument/2006/relationships/slide" Target="/ppt/slides/slide7.xml" Id="R5630d637744b46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6009a55b4d4b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1334f0a7744068" /><Relationship Type="http://schemas.openxmlformats.org/officeDocument/2006/relationships/notesMaster" Target="/ppt/notesMasters/notesMaster1.xml" Id="Ra909ae21c12041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b388caed5e4238" /><Relationship Type="http://schemas.openxmlformats.org/officeDocument/2006/relationships/notesMaster" Target="/ppt/notesMasters/notesMaster1.xml" Id="R68f99436a9e54e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8adf8da7a8422c" /><Relationship Type="http://schemas.openxmlformats.org/officeDocument/2006/relationships/notesMaster" Target="/ppt/notesMasters/notesMaster1.xml" Id="R41132e77961a4d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aa87d6f50c48e5" /><Relationship Type="http://schemas.openxmlformats.org/officeDocument/2006/relationships/notesMaster" Target="/ppt/notesMasters/notesMaster1.xml" Id="R47251a7f7e4248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107c67e19e486a" /><Relationship Type="http://schemas.openxmlformats.org/officeDocument/2006/relationships/notesMaster" Target="/ppt/notesMasters/notesMaster1.xml" Id="R958348a068fd40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dcfc93816a47d9" /><Relationship Type="http://schemas.openxmlformats.org/officeDocument/2006/relationships/notesMaster" Target="/ppt/notesMasters/notesMaster1.xml" Id="R2a6eb423902d45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ad99d4d88a4770" /><Relationship Type="http://schemas.openxmlformats.org/officeDocument/2006/relationships/notesMaster" Target="/ppt/notesMasters/notesMaster1.xml" Id="Rca03c7545cae47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真实来源记录的排版重呈现，非产品界面。50% 是课程构造的无依据主张，非论文结果。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lessons/lesson-03/source-audit-demo.md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原文图片保留完整段落；批注属于课程解读，不是原论文标记。绿色线定位方法主张；不将经验建议写成因果证据。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lessons/lesson-04/reading-card-demo.md</a:t>
            </a:r>
          </a:p>
          <a:p xmlns:a="http://schemas.openxmlformats.org/drawingml/2006/main">
            <a:r>
              <a:t>- https://cs.uwaterloo.ca/~Brecht/courses/856/readings/how-to-read/keshav-paper-reading.pdf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证据角色据现有已核验地图；C05为外推线索，C18为评价缺口。必须连回候选文献表查完整来源。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lessons/lesson-05/assets/mi-causal-evidence-map.svg</a:t>
            </a:r>
          </a:p>
          <a:p xmlns:a="http://schemas.openxmlformats.org/drawingml/2006/main">
            <a:r>
              <a:t>- lessons/lesson-05/assets/README.md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演示一个可能观察，非已执行实验结果。完整结果映射仍须包含支持、反驳和仍不能判断。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lessons/lesson-07/handout.md</a:t>
            </a:r>
          </a:p>
          <a:p xmlns:a="http://schemas.openxmlformats.org/drawingml/2006/main">
            <a:r>
              <a:t>- lessons/备课规划.md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对应真实课程资产，显示改行与测试，不仿造真实项目执行。为投影重新换行，raise完整消息见源文件。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lessons/lesson-10/assets/agent-task-example/generate.diff</a:t>
            </a:r>
          </a:p>
          <a:p xmlns:a="http://schemas.openxmlformats.org/drawingml/2006/main">
            <a:r>
              <a:t>- lessons/lesson-10/assets/agent-task-example/test-output.txt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原生可编辑柱图，数值只取现有虚构汇总的中心值0.18和0.31。不推定±为SD/SE/CI，不伪造逐次数据。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- lessons/备课规划.md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长时间停留实践页：一个动作、两项输入、可比对的完成样例；不屏显计时。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lessons/lesson-14/handout.md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11c397eb64d7b" /><Relationship Type="http://schemas.openxmlformats.org/officeDocument/2006/relationships/image" Target="/ppt/media/image.png" Id="R8b78f3e61ae94e7f" /><Relationship Type="http://schemas.openxmlformats.org/officeDocument/2006/relationships/image" Target="/ppt/media/image2.png" Id="R8534ace44da14e34" /><Relationship Type="http://schemas.openxmlformats.org/officeDocument/2006/relationships/image" Target="/ppt/media/image3.png" Id="R20b74b9dc5b24367" /><Relationship Type="http://schemas.openxmlformats.org/officeDocument/2006/relationships/image" Target="/ppt/media/image4.png" Id="Rbf60ddf4d8a14f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c5b810bc547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988c64f6504466" /><Relationship Type="http://schemas.openxmlformats.org/officeDocument/2006/relationships/image" Target="/ppt/media/image2.png" Id="R21ce0a00a5e74a0f" /><Relationship Type="http://schemas.openxmlformats.org/officeDocument/2006/relationships/image" Target="/ppt/media/image5.png" Id="Ra6827d7841eb41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0a65f631b4ed1" /><Relationship Type="http://schemas.openxmlformats.org/officeDocument/2006/relationships/image" Target="/ppt/media/image.png" Id="Rdad4e70bbf7a495c" /><Relationship Type="http://schemas.openxmlformats.org/officeDocument/2006/relationships/image" Target="/ppt/media/image3.png" Id="Rfe81e0ca133c4d5a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8f3e61ae94e7f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34ace44da14e34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b74b9dc5b24367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0ddf4d8a14fc2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ce0a00a5e74a0f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27d7841eb41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4e70bbf7a495c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81e0ca133c4d5a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546152d95c4042" /><Relationship Type="http://schemas.openxmlformats.org/officeDocument/2006/relationships/slideLayout" Target="/ppt/slideLayouts/slideLayout1.xml" Id="R185d008969344104" /><Relationship Type="http://schemas.openxmlformats.org/officeDocument/2006/relationships/slideLayout" Target="/ppt/slideLayouts/slideLayout2.xml" Id="R8008f2220d0e41f3" /><Relationship Type="http://schemas.openxmlformats.org/officeDocument/2006/relationships/slideLayout" Target="/ppt/slideLayouts/slideLayout3.xml" Id="Rf99910d8a2f74780" /><Relationship Type="http://schemas.openxmlformats.org/officeDocument/2006/relationships/slideLayout" Target="/ppt/slideLayouts/slideLayout4.xml" Id="R3987cde244c3433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5d008969344104"/>
    <p:sldLayoutId xmlns:r="http://schemas.openxmlformats.org/officeDocument/2006/relationships" id="2147483650" r:id="R8008f2220d0e41f3"/>
    <p:sldLayoutId xmlns:r="http://schemas.openxmlformats.org/officeDocument/2006/relationships" id="2147483651" r:id="Rf99910d8a2f74780"/>
    <p:sldLayoutId xmlns:r="http://schemas.openxmlformats.org/officeDocument/2006/relationships" id="2147483652" r:id="R3987cde244c34335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d8de7fbd6e458c" /><Relationship Type="http://schemas.openxmlformats.org/officeDocument/2006/relationships/notesSlide" Target="/ppt/notesSlides/notesSlide1.xml" Id="R8ff4ccb6afd344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67abc8525c40fd" /><Relationship Type="http://schemas.openxmlformats.org/officeDocument/2006/relationships/image" Target="/ppt/media/image6.png" Id="Re209a39ec8244b4c" /><Relationship Type="http://schemas.openxmlformats.org/officeDocument/2006/relationships/notesSlide" Target="/ppt/notesSlides/notesSlide2.xml" Id="Re50e37909fe842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6638fd77d60419d" /><Relationship Type="http://schemas.openxmlformats.org/officeDocument/2006/relationships/notesSlide" Target="/ppt/notesSlides/notesSlide3.xml" Id="R8ad2f5135bec46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95e58852b745d6" /><Relationship Type="http://schemas.openxmlformats.org/officeDocument/2006/relationships/notesSlide" Target="/ppt/notesSlides/notesSlide4.xml" Id="R5813e94167df4d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53a8c1c00d4bc4" /><Relationship Type="http://schemas.openxmlformats.org/officeDocument/2006/relationships/notesSlide" Target="/ppt/notesSlides/notesSlide5.xml" Id="R45f024a5fd0340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fae992c49c54659" /><Relationship Type="http://schemas.openxmlformats.org/officeDocument/2006/relationships/chart" Target="/ppt/slides/charts/chart1.xml" Id="Rebc808499be14f81" /><Relationship Type="http://schemas.openxmlformats.org/officeDocument/2006/relationships/notesSlide" Target="/ppt/notesSlides/notesSlide6.xml" Id="R2eac1dbaa9f24a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ae97a86f0a44f9" /><Relationship Type="http://schemas.openxmlformats.org/officeDocument/2006/relationships/notesSlide" Target="/ppt/notesSlides/notesSlide7.xml" Id="R37e4ac7737e944e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限定条件遗漏率</c:v>
          </c:tx>
          <c:spPr>
            <a:solidFill xmlns:a="http://schemas.openxmlformats.org/drawingml/2006/main">
              <a:srgbClr val="1F4D7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F4D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C9AA6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阅读卡</c:v>
                </c:pt>
                <c:pt idx="1">
                  <c:v>自由摘要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0.18</c:v>
                </c:pt>
                <c:pt idx="1">
                  <c:v>0.31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00">
                  <a:solidFill>
                    <a:srgbClr val="2733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这条来源能支持什么？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  <a:endParaRPr/>
          </a:p>
        </p:txBody>
      </p:sp>
      <p:sp>
        <p:nvSpPr>
          <p:cNvPr id="6" name="record-label">
            <a:extLst xmlns:a="http://schemas.openxmlformats.org/drawingml/2006/main">
              <a:ext uri="{FF2B5EF4-FFF2-40B4-BE49-F238E27FC236}">
                <a16:creationId xmlns:a16="http://schemas.microsoft.com/office/drawing/2014/main" id="{99501B51-A694-4A06-BE56-A8F09A5C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Crossref 检索记录 · 已核验身份</a:t>
            </a:r>
          </a:p>
        </p:txBody>
      </p:sp>
      <p:sp>
        <p:nvSpPr>
          <p:cNvPr id="7" name="record-top">
            <a:extLst xmlns:a="http://schemas.openxmlformats.org/drawingml/2006/main">
              <a:ext uri="{FF2B5EF4-FFF2-40B4-BE49-F238E27FC236}">
                <a16:creationId xmlns:a16="http://schemas.microsoft.com/office/drawing/2014/main" id="{EB21D094-DBFB-410C-B589-BE2C39C6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762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901E939-76D0-479A-B245-51A14FE1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7333D"/>
                </a:solidFill>
                <a:latin typeface="Arial"/>
                <a:ea typeface="Arial"/>
                <a:cs typeface="Arial"/>
              </a:rPr>
              <a:t>How to Read a Paper</a:t>
            </a:r>
          </a:p>
        </p:txBody>
      </p:sp>
      <p:sp>
        <p:nvSpPr>
          <p:cNvPr id="9" name="identity">
            <a:extLst xmlns:a="http://schemas.openxmlformats.org/drawingml/2006/main">
              <a:ext uri="{FF2B5EF4-FFF2-40B4-BE49-F238E27FC236}">
                <a16:creationId xmlns:a16="http://schemas.microsoft.com/office/drawing/2014/main" id="{A5210BE6-2830-4DD8-BE3D-9395157F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76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S. Keshav · 2007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ACM SIGCOMM Computer Communication Review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37(3), 83–84</a:t>
            </a:r>
          </a:p>
        </p:txBody>
      </p:sp>
      <p:sp>
        <p:nvSpPr>
          <p:cNvPr id="10" name="doi">
            <a:extLst xmlns:a="http://schemas.openxmlformats.org/drawingml/2006/main">
              <a:ext uri="{FF2B5EF4-FFF2-40B4-BE49-F238E27FC236}">
                <a16:creationId xmlns:a16="http://schemas.microsoft.com/office/drawing/2014/main" id="{4A4FFC72-86A3-42BF-BE0D-31BB4700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7333D"/>
                </a:solidFill>
                <a:latin typeface="Arial"/>
                <a:ea typeface="Arial"/>
                <a:cs typeface="Arial"/>
              </a:rPr>
              <a:t>DOI  10.1145/1273445.1273458</a:t>
            </a:r>
          </a:p>
        </p:txBody>
      </p:sp>
      <p:sp>
        <p:nvSpPr>
          <p:cNvPr id="11" name="record-bottom">
            <a:extLst xmlns:a="http://schemas.openxmlformats.org/drawingml/2006/main">
              <a:ext uri="{FF2B5EF4-FFF2-40B4-BE49-F238E27FC236}">
                <a16:creationId xmlns:a16="http://schemas.microsoft.com/office/drawing/2014/main" id="{5F3561DC-78DD-449E-A9D6-3818FA9E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6762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claim">
            <a:extLst xmlns:a="http://schemas.openxmlformats.org/drawingml/2006/main">
              <a:ext uri="{FF2B5EF4-FFF2-40B4-BE49-F238E27FC236}">
                <a16:creationId xmlns:a16="http://schemas.microsoft.com/office/drawing/2014/main" id="{FDF016D4-5877-4F10-A3D5-1B6CF114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621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拟用主张</a:t>
            </a:r>
          </a:p>
        </p:txBody>
      </p:sp>
      <p:sp>
        <p:nvSpPr>
          <p:cNvPr id="13" name="claim-value">
            <a:extLst xmlns:a="http://schemas.openxmlformats.org/drawingml/2006/main">
              <a:ext uri="{FF2B5EF4-FFF2-40B4-BE49-F238E27FC236}">
                <a16:creationId xmlns:a16="http://schemas.microsoft.com/office/drawing/2014/main" id="{488C13BA-4A38-4BBE-9687-6424385A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97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作者提出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三遍阅读方法。</a:t>
            </a:r>
          </a:p>
        </p:txBody>
      </p:sp>
      <p:sp>
        <p:nvSpPr>
          <p:cNvPr id="14" name="decision">
            <a:extLst xmlns:a="http://schemas.openxmlformats.org/drawingml/2006/main">
              <a:ext uri="{FF2B5EF4-FFF2-40B4-BE49-F238E27FC236}">
                <a16:creationId xmlns:a16="http://schemas.microsoft.com/office/drawing/2014/main" id="{B3A95A0D-AE4A-4816-8483-4E7888AD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可用于方法描述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不能据此声称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效率提升 50%</a:t>
            </a:r>
          </a:p>
        </p:txBody>
      </p:sp>
      <p:sp>
        <p:nvSpPr>
          <p:cNvPr id="15" name="task">
            <a:extLst xmlns:a="http://schemas.openxmlformats.org/drawingml/2006/main">
              <a:ext uri="{FF2B5EF4-FFF2-40B4-BE49-F238E27FC236}">
                <a16:creationId xmlns:a16="http://schemas.microsoft.com/office/drawing/2014/main" id="{1D8EBECE-1BD4-4C08-B76B-7AFC89E4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请决定：保留这条来源，还是修改拟用主张？</a:t>
            </a:r>
          </a:p>
        </p:txBody>
      </p:sp>
      <p:sp>
        <p:nvSpPr>
          <p:cNvPr id="16" name="source">
            <a:extLst xmlns:a="http://schemas.openxmlformats.org/drawingml/2006/main">
              <a:ext uri="{FF2B5EF4-FFF2-40B4-BE49-F238E27FC236}">
                <a16:creationId xmlns:a16="http://schemas.microsoft.com/office/drawing/2014/main" id="{E5499EF3-CCFF-4B96-93FF-6622CE92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Keshav (2007), DOI: 10.1145/1273445.1273458 · 本地来源审计记录（2026-08-09），非本次实时检索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从原文划出方法主张的边界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locator">
            <a:extLst xmlns:a="http://schemas.openxmlformats.org/drawingml/2006/main">
              <a:ext uri="{FF2B5EF4-FFF2-40B4-BE49-F238E27FC236}">
                <a16:creationId xmlns:a16="http://schemas.microsoft.com/office/drawing/2014/main" id="{86C1B323-B0D4-4E27-A332-515B4428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1F4D78"/>
                </a:solidFill>
                <a:latin typeface="Arial"/>
                <a:ea typeface="Arial"/>
                <a:cs typeface="Arial"/>
              </a:rPr>
              <a:t>Keshav · p.83 · §2  The Three-Pass Approach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9a39ec8244b4c"/>
          <a:stretch xmlns:a="http://schemas.openxmlformats.org/drawingml/2006/main"/>
        </p:blipFill>
        <p:spPr>
          <a:xfrm xmlns:a="http://schemas.openxmlformats.org/drawingml/2006/main">
            <a:off x="609600" y="1825154"/>
            <a:ext cx="7334250" cy="2807643"/>
          </a:xfrm>
          <a:prstGeom xmlns:a="http://schemas.openxmlformats.org/drawingml/2006/main" prst="rect">
            <a:avLst/>
          </a:prstGeom>
        </p:spPr>
      </p:pic>
      <p:sp>
        <p:nvSpPr>
          <p:cNvPr id="8" name="mark">
            <a:extLst xmlns:a="http://schemas.openxmlformats.org/drawingml/2006/main">
              <a:ext uri="{FF2B5EF4-FFF2-40B4-BE49-F238E27FC236}">
                <a16:creationId xmlns:a16="http://schemas.microsoft.com/office/drawing/2014/main" id="{A6A09FBB-13EB-4A23-B946-5777746E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6572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</a:ln>
        </p:spPr>
      </p:sp>
      <p:sp>
        <p:nvSpPr>
          <p:cNvPr id="9" name="annotation1">
            <a:extLst xmlns:a="http://schemas.openxmlformats.org/drawingml/2006/main">
              <a:ext uri="{FF2B5EF4-FFF2-40B4-BE49-F238E27FC236}">
                <a16:creationId xmlns:a16="http://schemas.microsoft.com/office/drawing/2014/main" id="{35B5B904-F087-4500-9E6B-0A06A88A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33550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主张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最多三遍；每遍目标不同</a:t>
            </a:r>
          </a:p>
        </p:txBody>
      </p:sp>
      <p:sp>
        <p:nvSpPr>
          <p:cNvPr id="10" name="annotation2">
            <a:extLst xmlns:a="http://schemas.openxmlformats.org/drawingml/2006/main">
              <a:ext uri="{FF2B5EF4-FFF2-40B4-BE49-F238E27FC236}">
                <a16:creationId xmlns:a16="http://schemas.microsoft.com/office/drawing/2014/main" id="{9639CA3E-19F1-4EF9-8A9C-F6EFF7E4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67050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证据角色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方法说明，不是效果实验</a:t>
            </a:r>
          </a:p>
        </p:txBody>
      </p:sp>
      <p:sp>
        <p:nvSpPr>
          <p:cNvPr id="11" name="task">
            <a:extLst xmlns:a="http://schemas.openxmlformats.org/drawingml/2006/main">
              <a:ext uri="{FF2B5EF4-FFF2-40B4-BE49-F238E27FC236}">
                <a16:creationId xmlns:a16="http://schemas.microsoft.com/office/drawing/2014/main" id="{2C35D2E6-4237-4F0F-90B0-21C94181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请给阅读卡补一句：这段原文没有证明什么？</a:t>
            </a:r>
          </a:p>
        </p:txBody>
      </p:sp>
      <p:sp>
        <p:nvSpPr>
          <p:cNvPr id="12" name="source">
            <a:extLst xmlns:a="http://schemas.openxmlformats.org/drawingml/2006/main">
              <a:ext uri="{FF2B5EF4-FFF2-40B4-BE49-F238E27FC236}">
                <a16:creationId xmlns:a16="http://schemas.microsoft.com/office/drawing/2014/main" id="{33D67B88-1DD5-46C6-A033-6F716651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Keshav (2007), How to Read a Paper, p.83 §2 · DOI: 10.1145/1273445.1273458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证据地图：支持不等于解释完毕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question">
            <a:extLst xmlns:a="http://schemas.openxmlformats.org/drawingml/2006/main">
              <a:ext uri="{FF2B5EF4-FFF2-40B4-BE49-F238E27FC236}">
                <a16:creationId xmlns:a16="http://schemas.microsoft.com/office/drawing/2014/main" id="{C9F651D6-E840-44E2-A914-A49440C7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SAE 特征能比 PCA 更稀疏地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定位并干预 IOI 行为吗？</a:t>
            </a:r>
          </a:p>
        </p:txBody>
      </p:sp>
      <p:sp>
        <p:nvSpPr>
          <p:cNvPr id="7" name="q-under">
            <a:extLst xmlns:a="http://schemas.openxmlformats.org/drawingml/2006/main">
              <a:ext uri="{FF2B5EF4-FFF2-40B4-BE49-F238E27FC236}">
                <a16:creationId xmlns:a16="http://schemas.microsoft.com/office/drawing/2014/main" id="{C12A7831-6F09-40C7-8070-924A4852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8" name="direct">
            <a:extLst xmlns:a="http://schemas.openxmlformats.org/drawingml/2006/main">
              <a:ext uri="{FF2B5EF4-FFF2-40B4-BE49-F238E27FC236}">
                <a16:creationId xmlns:a16="http://schemas.microsoft.com/office/drawing/2014/main" id="{5F4E9922-97FA-4503-87F2-4DEC8ED0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4905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直接比较 · C02</a:t>
            </a:r>
          </a:p>
        </p:txBody>
      </p:sp>
      <p:sp>
        <p:nvSpPr>
          <p:cNvPr id="9" name="direct-details">
            <a:extLst xmlns:a="http://schemas.openxmlformats.org/drawingml/2006/main">
              <a:ext uri="{FF2B5EF4-FFF2-40B4-BE49-F238E27FC236}">
                <a16:creationId xmlns:a16="http://schemas.microsoft.com/office/drawing/2014/main" id="{6CA750F6-3D48-4871-BAE6-F9EA73D5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4905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同模型、同任务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SAE / PCA 的 patching 比较</a:t>
            </a:r>
          </a:p>
        </p:txBody>
      </p:sp>
      <p:sp>
        <p:nvSpPr>
          <p:cNvPr id="10" name="constraint">
            <a:extLst xmlns:a="http://schemas.openxmlformats.org/drawingml/2006/main">
              <a:ext uri="{FF2B5EF4-FFF2-40B4-BE49-F238E27FC236}">
                <a16:creationId xmlns:a16="http://schemas.microsoft.com/office/drawing/2014/main" id="{E38E5C68-BAB6-4822-95EF-0425A6C0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5267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约束与冲突 · C16 / C31</a:t>
            </a:r>
          </a:p>
        </p:txBody>
      </p:sp>
      <p:sp>
        <p:nvSpPr>
          <p:cNvPr id="11" name="constraint-details">
            <a:extLst xmlns:a="http://schemas.openxmlformats.org/drawingml/2006/main">
              <a:ext uri="{FF2B5EF4-FFF2-40B4-BE49-F238E27FC236}">
                <a16:creationId xmlns:a16="http://schemas.microsoft.com/office/drawing/2014/main" id="{64886597-247B-496B-A7CA-58B7A661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90512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可解释 ≠ 可控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干预成功 ≠ 机制忠实</a:t>
            </a:r>
          </a:p>
        </p:txBody>
      </p:sp>
      <p:sp>
        <p:nvSpPr>
          <p:cNvPr id="12" name="relation">
            <a:extLst xmlns:a="http://schemas.openxmlformats.org/drawingml/2006/main">
              <a:ext uri="{FF2B5EF4-FFF2-40B4-BE49-F238E27FC236}">
                <a16:creationId xmlns:a16="http://schemas.microsoft.com/office/drawing/2014/main" id="{50A087A1-5080-4C7C-B466-CB5674B8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支持当前任务判断  →  还需排除替代路径</a:t>
            </a:r>
          </a:p>
        </p:txBody>
      </p:sp>
      <p:sp>
        <p:nvSpPr>
          <p:cNvPr id="13" name="missing-line">
            <a:extLst xmlns:a="http://schemas.openxmlformats.org/drawingml/2006/main">
              <a:ext uri="{FF2B5EF4-FFF2-40B4-BE49-F238E27FC236}">
                <a16:creationId xmlns:a16="http://schemas.microsoft.com/office/drawing/2014/main" id="{2BC5C79C-AADC-4E63-A8B3-29699D6B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763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4" name="gap">
            <a:extLst xmlns:a="http://schemas.openxmlformats.org/drawingml/2006/main">
              <a:ext uri="{FF2B5EF4-FFF2-40B4-BE49-F238E27FC236}">
                <a16:creationId xmlns:a16="http://schemas.microsoft.com/office/drawing/2014/main" id="{4ECBA7AD-C446-4907-B3F6-829CF4E0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缺口 · C05 / C18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跨任务验证与多指标评价：哪些还不能直接合并？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F6843C41-43AF-4B58-A69D-09C848F5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课程证据地图：C02 / C05 / C16 / C18 / C31 · 关系为课程综合，不表示可合并的效应量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观察变化后，判断怎样变化？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fiction">
            <a:extLst xmlns:a="http://schemas.openxmlformats.org/drawingml/2006/main">
              <a:ext uri="{FF2B5EF4-FFF2-40B4-BE49-F238E27FC236}">
                <a16:creationId xmlns:a16="http://schemas.microsoft.com/office/drawing/2014/main" id="{D5E948B2-5A8B-499E-BA66-53ADC3FF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课程虚构教学案例</a:t>
            </a:r>
          </a:p>
        </p:txBody>
      </p:sp>
      <p:sp>
        <p:nvSpPr>
          <p:cNvPr id="7" name="observation">
            <a:extLst xmlns:a="http://schemas.openxmlformats.org/drawingml/2006/main">
              <a:ext uri="{FF2B5EF4-FFF2-40B4-BE49-F238E27FC236}">
                <a16:creationId xmlns:a16="http://schemas.microsoft.com/office/drawing/2014/main" id="{6CFEFBE1-BA31-45C4-B15C-789BFA1E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600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观察：限定条件遗漏减少，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但其他错误增加。</a:t>
            </a:r>
          </a:p>
        </p:txBody>
      </p:sp>
      <p:sp>
        <p:nvSpPr>
          <p:cNvPr id="8" name="interpret">
            <a:extLst xmlns:a="http://schemas.openxmlformats.org/drawingml/2006/main">
              <a:ext uri="{FF2B5EF4-FFF2-40B4-BE49-F238E27FC236}">
                <a16:creationId xmlns:a16="http://schemas.microsoft.com/office/drawing/2014/main" id="{991F1408-050D-4E68-9E6E-2EB7AC1B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这不等于整体质量提高。</a:t>
            </a:r>
          </a:p>
        </p:txBody>
      </p:sp>
      <p:sp>
        <p:nvSpPr>
          <p:cNvPr id="9" name="task">
            <a:extLst xmlns:a="http://schemas.openxmlformats.org/drawingml/2006/main">
              <a:ext uri="{FF2B5EF4-FFF2-40B4-BE49-F238E27FC236}">
                <a16:creationId xmlns:a16="http://schemas.microsoft.com/office/drawing/2014/main" id="{D9ED8D21-0C7E-4B34-8F70-B0D588A7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0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请说明：哪一个替代解释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因此更值得追查？</a:t>
            </a:r>
          </a:p>
        </p:txBody>
      </p:sp>
      <p:sp>
        <p:nvSpPr>
          <p:cNvPr id="10" name="h0">
            <a:extLst xmlns:a="http://schemas.openxmlformats.org/drawingml/2006/main">
              <a:ext uri="{FF2B5EF4-FFF2-40B4-BE49-F238E27FC236}">
                <a16:creationId xmlns:a16="http://schemas.microsoft.com/office/drawing/2014/main" id="{9B38C4FC-B62F-4694-B191-7226E90F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4305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H1</a:t>
            </a:r>
          </a:p>
        </p:txBody>
      </p:sp>
      <p:sp>
        <p:nvSpPr>
          <p:cNvPr id="11" name="r0">
            <a:extLst xmlns:a="http://schemas.openxmlformats.org/drawingml/2006/main">
              <a:ext uri="{FF2B5EF4-FFF2-40B4-BE49-F238E27FC236}">
                <a16:creationId xmlns:a16="http://schemas.microsoft.com/office/drawing/2014/main" id="{1E909AF0-06BE-4165-B26D-26B93E1B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621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方向支持，机制尚未区分</a:t>
            </a:r>
          </a:p>
        </p:txBody>
      </p:sp>
      <p:sp>
        <p:nvSpPr>
          <p:cNvPr id="12" name="sep0">
            <a:extLst xmlns:a="http://schemas.openxmlformats.org/drawingml/2006/main">
              <a:ext uri="{FF2B5EF4-FFF2-40B4-BE49-F238E27FC236}">
                <a16:creationId xmlns:a16="http://schemas.microsoft.com/office/drawing/2014/main" id="{D5DB1759-BA66-4739-8625-412F80AA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4333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h1">
            <a:extLst xmlns:a="http://schemas.openxmlformats.org/drawingml/2006/main">
              <a:ext uri="{FF2B5EF4-FFF2-40B4-BE49-F238E27FC236}">
                <a16:creationId xmlns:a16="http://schemas.microsoft.com/office/drawing/2014/main" id="{C6EED6BB-1481-40D8-AAC0-415D0DF6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81275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A1 任务转移</a:t>
            </a:r>
          </a:p>
        </p:txBody>
      </p:sp>
      <p:sp>
        <p:nvSpPr>
          <p:cNvPr id="14" name="r1">
            <a:extLst xmlns:a="http://schemas.openxmlformats.org/drawingml/2006/main">
              <a:ext uri="{FF2B5EF4-FFF2-40B4-BE49-F238E27FC236}">
                <a16:creationId xmlns:a16="http://schemas.microsoft.com/office/drawing/2014/main" id="{63C7A893-7BF7-4FCA-AA0C-67B833BB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00375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支持该替代解释</a:t>
            </a:r>
          </a:p>
        </p:txBody>
      </p:sp>
      <p:sp>
        <p:nvSpPr>
          <p:cNvPr id="15" name="sep1">
            <a:extLst xmlns:a="http://schemas.openxmlformats.org/drawingml/2006/main">
              <a:ext uri="{FF2B5EF4-FFF2-40B4-BE49-F238E27FC236}">
                <a16:creationId xmlns:a16="http://schemas.microsoft.com/office/drawing/2014/main" id="{1BF4EB14-E590-4487-8E04-AE2B1C3F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95675"/>
            <a:ext cx="4333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6" name="h2">
            <a:extLst xmlns:a="http://schemas.openxmlformats.org/drawingml/2006/main">
              <a:ext uri="{FF2B5EF4-FFF2-40B4-BE49-F238E27FC236}">
                <a16:creationId xmlns:a16="http://schemas.microsoft.com/office/drawing/2014/main" id="{2B623F92-45FD-4B99-B939-885F441D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19500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A2 标注提示</a:t>
            </a:r>
          </a:p>
        </p:txBody>
      </p:sp>
      <p:sp>
        <p:nvSpPr>
          <p:cNvPr id="17" name="r2">
            <a:extLst xmlns:a="http://schemas.openxmlformats.org/drawingml/2006/main">
              <a:ext uri="{FF2B5EF4-FFF2-40B4-BE49-F238E27FC236}">
                <a16:creationId xmlns:a16="http://schemas.microsoft.com/office/drawing/2014/main" id="{7F93F0F4-CF54-4646-88FB-215391D5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3860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仍不能判断</a:t>
            </a:r>
          </a:p>
        </p:txBody>
      </p:sp>
      <p:sp>
        <p:nvSpPr>
          <p:cNvPr id="18" name="sep2">
            <a:extLst xmlns:a="http://schemas.openxmlformats.org/drawingml/2006/main">
              <a:ext uri="{FF2B5EF4-FFF2-40B4-BE49-F238E27FC236}">
                <a16:creationId xmlns:a16="http://schemas.microsoft.com/office/drawing/2014/main" id="{BCEA76BF-2CBC-4778-B722-3A1E6CAC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33900"/>
            <a:ext cx="4333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9" name="h3">
            <a:extLst xmlns:a="http://schemas.openxmlformats.org/drawingml/2006/main">
              <a:ext uri="{FF2B5EF4-FFF2-40B4-BE49-F238E27FC236}">
                <a16:creationId xmlns:a16="http://schemas.microsoft.com/office/drawing/2014/main" id="{B4AA4F9D-265C-4CE0-B55D-48358119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57725"/>
            <a:ext cx="433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A3 文档结构</a:t>
            </a:r>
          </a:p>
        </p:txBody>
      </p:sp>
      <p:sp>
        <p:nvSpPr>
          <p:cNvPr id="20" name="r3">
            <a:extLst xmlns:a="http://schemas.openxmlformats.org/drawingml/2006/main">
              <a:ext uri="{FF2B5EF4-FFF2-40B4-BE49-F238E27FC236}">
                <a16:creationId xmlns:a16="http://schemas.microsoft.com/office/drawing/2014/main" id="{89FC67DB-8804-430E-A008-67E683C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76825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仍不能判断</a:t>
            </a:r>
          </a:p>
        </p:txBody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3E9EA832-1CAD-497D-8679-45BF9CD3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课程虚构观察 · 固定 H1 / A1 / A2 / A3 定义；“不显著”不能直接证明机制不存在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读这次修改，而不只看“测试通过”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path">
            <a:extLst xmlns:a="http://schemas.openxmlformats.org/drawingml/2006/main">
              <a:ext uri="{FF2B5EF4-FFF2-40B4-BE49-F238E27FC236}">
                <a16:creationId xmlns:a16="http://schemas.microsoft.com/office/drawing/2014/main" id="{9A75CB1D-8420-4F06-A75C-2B851FB8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91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generate.py · 真实课程代码修改节选</a:t>
            </a:r>
          </a:p>
        </p:txBody>
      </p:sp>
      <p:sp>
        <p:nvSpPr>
          <p:cNvPr id="7" name="code-bg">
            <a:extLst xmlns:a="http://schemas.openxmlformats.org/drawingml/2006/main">
              <a:ext uri="{FF2B5EF4-FFF2-40B4-BE49-F238E27FC236}">
                <a16:creationId xmlns:a16="http://schemas.microsoft.com/office/drawing/2014/main" id="{A52E5776-2B58-4B40-AEE9-A209EFB8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524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8" name="code0">
            <a:extLst xmlns:a="http://schemas.openxmlformats.org/drawingml/2006/main">
              <a:ext uri="{FF2B5EF4-FFF2-40B4-BE49-F238E27FC236}">
                <a16:creationId xmlns:a16="http://schemas.microsoft.com/office/drawing/2014/main" id="{48ECA3CE-08D7-4FC2-8C96-9F843B19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47850"/>
            <a:ext cx="716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REQUIRED_FIELDS = ("paper_id", "summary")</a:t>
            </a:r>
          </a:p>
        </p:txBody>
      </p:sp>
      <p:sp>
        <p:nvSpPr>
          <p:cNvPr id="9" name="code1">
            <a:extLst xmlns:a="http://schemas.openxmlformats.org/drawingml/2006/main">
              <a:ext uri="{FF2B5EF4-FFF2-40B4-BE49-F238E27FC236}">
                <a16:creationId xmlns:a16="http://schemas.microsoft.com/office/drawing/2014/main" id="{929EF0BB-6BEF-4251-9077-5C8828F0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14575"/>
            <a:ext cx="716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  def normalize_record(record):</a:t>
            </a:r>
          </a:p>
        </p:txBody>
      </p:sp>
      <p:sp>
        <p:nvSpPr>
          <p:cNvPr id="10" name="code2">
            <a:extLst xmlns:a="http://schemas.openxmlformats.org/drawingml/2006/main">
              <a:ext uri="{FF2B5EF4-FFF2-40B4-BE49-F238E27FC236}">
                <a16:creationId xmlns:a16="http://schemas.microsoft.com/office/drawing/2014/main" id="{6E438DAF-0B0B-48A4-8584-A598AE37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81300"/>
            <a:ext cx="716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    missing = [field for field in REQUIRED_FIELDS</a:t>
            </a:r>
          </a:p>
        </p:txBody>
      </p:sp>
      <p:sp>
        <p:nvSpPr>
          <p:cNvPr id="11" name="code3">
            <a:extLst xmlns:a="http://schemas.openxmlformats.org/drawingml/2006/main">
              <a:ext uri="{FF2B5EF4-FFF2-40B4-BE49-F238E27FC236}">
                <a16:creationId xmlns:a16="http://schemas.microsoft.com/office/drawing/2014/main" id="{8473CC57-2E83-4BDB-84E7-FBAF2D0E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48025"/>
            <a:ext cx="716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               if field not in record]</a:t>
            </a:r>
          </a:p>
        </p:txBody>
      </p:sp>
      <p:sp>
        <p:nvSpPr>
          <p:cNvPr id="12" name="code4">
            <a:extLst xmlns:a="http://schemas.openxmlformats.org/drawingml/2006/main">
              <a:ext uri="{FF2B5EF4-FFF2-40B4-BE49-F238E27FC236}">
                <a16:creationId xmlns:a16="http://schemas.microsoft.com/office/drawing/2014/main" id="{8C0CC2A9-9BF3-42C1-B645-1D7C1078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14750"/>
            <a:ext cx="716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    if missing:</a:t>
            </a:r>
          </a:p>
        </p:txBody>
      </p:sp>
      <p:sp>
        <p:nvSpPr>
          <p:cNvPr id="13" name="code5">
            <a:extLst xmlns:a="http://schemas.openxmlformats.org/drawingml/2006/main">
              <a:ext uri="{FF2B5EF4-FFF2-40B4-BE49-F238E27FC236}">
                <a16:creationId xmlns:a16="http://schemas.microsoft.com/office/drawing/2014/main" id="{938F0B76-2374-43DA-A021-EBF2679E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81475"/>
            <a:ext cx="716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+         raise ValueError(...)</a:t>
            </a:r>
          </a:p>
        </p:txBody>
      </p:sp>
      <p:sp>
        <p:nvSpPr>
          <p:cNvPr id="14" name="tests">
            <a:extLst xmlns:a="http://schemas.openxmlformats.org/drawingml/2006/main">
              <a:ext uri="{FF2B5EF4-FFF2-40B4-BE49-F238E27FC236}">
                <a16:creationId xmlns:a16="http://schemas.microsoft.com/office/drawing/2014/main" id="{040928BC-4640-4C03-BAF7-CED9F7B3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22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验证记录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22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Ran 2 tests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E7D5B"/>
                </a:solidFill>
                <a:latin typeface="Consolas"/>
                <a:ea typeface="Consolas"/>
                <a:cs typeface="Consolas"/>
              </a:defRPr>
            </a:pPr>
            <a:r>
              <a:rPr sz="2200" b="0">
                <a:solidFill>
                  <a:srgbClr val="2E7D5B"/>
                </a:solidFill>
                <a:latin typeface="Consolas"/>
                <a:ea typeface="Consolas"/>
                <a:cs typeface="Consolas"/>
              </a:rPr>
              <a:t>OK</a:t>
            </a:r>
          </a:p>
        </p:txBody>
      </p:sp>
      <p:sp>
        <p:nvSpPr>
          <p:cNvPr id="15" name="review">
            <a:extLst xmlns:a="http://schemas.openxmlformats.org/drawingml/2006/main">
              <a:ext uri="{FF2B5EF4-FFF2-40B4-BE49-F238E27FC236}">
                <a16:creationId xmlns:a16="http://schemas.microsoft.com/office/drawing/2014/main" id="{6C3FAFA3-4653-4DA8-85D9-8FB0D60B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57575"/>
            <a:ext cx="304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审核点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缺少必需字段时，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能否明确失败？</a:t>
            </a:r>
          </a:p>
        </p:txBody>
      </p:sp>
      <p:sp>
        <p:nvSpPr>
          <p:cNvPr id="16" name="action">
            <a:extLst xmlns:a="http://schemas.openxmlformats.org/drawingml/2006/main">
              <a:ext uri="{FF2B5EF4-FFF2-40B4-BE49-F238E27FC236}">
                <a16:creationId xmlns:a16="http://schemas.microsoft.com/office/drawing/2014/main" id="{8D33845A-A1E3-4B62-9883-D04E921B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请检查 diff：本次修改有没有扩大任务范围？</a:t>
            </a:r>
          </a:p>
        </p:txBody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A3BA289D-2B1C-4D47-A41C-D5E32F19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lesson-10/assets/agent-task-example/generate.diff 与 test-output.txt · 代码为可编辑文字；省略处以 … 标识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遗漏率较低，机制仍待区分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fiction">
            <a:extLst xmlns:a="http://schemas.openxmlformats.org/drawingml/2006/main">
              <a:ext uri="{FF2B5EF4-FFF2-40B4-BE49-F238E27FC236}">
                <a16:creationId xmlns:a16="http://schemas.microsoft.com/office/drawing/2014/main" id="{AD22B3E1-23B5-4F82-8406-C4C1FFD7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课程虚构教学案例</a:t>
            </a:r>
          </a:p>
        </p:txBody>
      </p:sp>
      <p:sp>
        <p:nvSpPr>
          <p:cNvPr id="7" name="metric">
            <a:extLst xmlns:a="http://schemas.openxmlformats.org/drawingml/2006/main">
              <a:ext uri="{FF2B5EF4-FFF2-40B4-BE49-F238E27FC236}">
                <a16:creationId xmlns:a16="http://schemas.microsoft.com/office/drawing/2014/main" id="{8BFD02F7-F2CF-42F5-8A60-C2058F05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604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限定条件遗漏率 ↓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61912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c808499be14f81"/>
          </a:graphicData>
        </a:graphic>
      </p:graphicFrame>
      <p:sp>
        <p:nvSpPr>
          <p:cNvPr id="9" name="supported">
            <a:extLst xmlns:a="http://schemas.openxmlformats.org/drawingml/2006/main">
              <a:ext uri="{FF2B5EF4-FFF2-40B4-BE49-F238E27FC236}">
                <a16:creationId xmlns:a16="http://schemas.microsoft.com/office/drawing/2014/main" id="{63BB8615-3801-432C-983D-573D804C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14475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可写</a:t>
            </a:r>
          </a:p>
        </p:txBody>
      </p:sp>
      <p:sp>
        <p:nvSpPr>
          <p:cNvPr id="10" name="claim">
            <a:extLst xmlns:a="http://schemas.openxmlformats.org/drawingml/2006/main">
              <a:ext uri="{FF2B5EF4-FFF2-40B4-BE49-F238E27FC236}">
                <a16:creationId xmlns:a16="http://schemas.microsoft.com/office/drawing/2014/main" id="{67BD8833-7592-4422-AA5F-52FECFE5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3943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在这批论文中，阅读卡组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遗漏率较低，方向支持 H1。</a:t>
            </a:r>
          </a:p>
        </p:txBody>
      </p:sp>
      <p:sp>
        <p:nvSpPr>
          <p:cNvPr id="11" name="unknown">
            <a:extLst xmlns:a="http://schemas.openxmlformats.org/drawingml/2006/main">
              <a:ext uri="{FF2B5EF4-FFF2-40B4-BE49-F238E27FC236}">
                <a16:creationId xmlns:a16="http://schemas.microsoft.com/office/drawing/2014/main" id="{7D49BCFC-A989-4FE4-925D-561BC7D8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未决解释</a:t>
            </a:r>
          </a:p>
        </p:txBody>
      </p:sp>
      <p:sp>
        <p:nvSpPr>
          <p:cNvPr id="12" name="limits">
            <a:extLst xmlns:a="http://schemas.openxmlformats.org/drawingml/2006/main">
              <a:ext uri="{FF2B5EF4-FFF2-40B4-BE49-F238E27FC236}">
                <a16:creationId xmlns:a16="http://schemas.microsoft.com/office/drawing/2014/main" id="{453DE71C-33ED-490C-B165-EF13BCD0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39433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A1 任务转移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A2 标注提示效应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A3 文档结构效应</a:t>
            </a:r>
          </a:p>
        </p:txBody>
      </p:sp>
      <p:sp>
        <p:nvSpPr>
          <p:cNvPr id="13" name="denominator">
            <a:extLst xmlns:a="http://schemas.openxmlformats.org/drawingml/2006/main">
              <a:ext uri="{FF2B5EF4-FFF2-40B4-BE49-F238E27FC236}">
                <a16:creationId xmlns:a16="http://schemas.microsoft.com/office/drawing/2014/main" id="{D733C9ED-6AA0-43BF-AEB4-08CFA0EF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同一批 20 篇 × 2 条件 × 3 次运行 = 120 次输出</a:t>
            </a:r>
          </a:p>
        </p:txBody>
      </p:sp>
      <p:sp>
        <p:nvSpPr>
          <p:cNvPr id="14" name="stat-boundary">
            <a:extLst xmlns:a="http://schemas.openxmlformats.org/drawingml/2006/main">
              <a:ext uri="{FF2B5EF4-FFF2-40B4-BE49-F238E27FC236}">
                <a16:creationId xmlns:a16="http://schemas.microsoft.com/office/drawing/2014/main" id="{CD143998-BF5E-4F23-BD98-05E49E50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± 含义尚未定义：暂不绘制误差线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80DDE6DC-BB05-4E4F-9483-4C75F45D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课程虚构汇总：0.18±0.03 / 0.31±0.04 · 指标依据人工基准标注的限定条件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写一段能反查证据的论证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fiction">
            <a:extLst xmlns:a="http://schemas.openxmlformats.org/drawingml/2006/main">
              <a:ext uri="{FF2B5EF4-FFF2-40B4-BE49-F238E27FC236}">
                <a16:creationId xmlns:a16="http://schemas.microsoft.com/office/drawing/2014/main" id="{0BB877F3-7314-4368-BE44-75D2A8F0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完成样例为课程虚构教学案例</a:t>
            </a:r>
          </a:p>
        </p:txBody>
      </p:sp>
      <p:sp>
        <p:nvSpPr>
          <p:cNvPr id="7" name="action">
            <a:extLst xmlns:a="http://schemas.openxmlformats.org/drawingml/2006/main">
              <a:ext uri="{FF2B5EF4-FFF2-40B4-BE49-F238E27FC236}">
                <a16:creationId xmlns:a16="http://schemas.microsoft.com/office/drawing/2014/main" id="{C4B70B4E-7AA4-4078-B1EF-CF8F8E20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810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把你的一个结果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写成四句话。</a:t>
            </a:r>
          </a:p>
        </p:txBody>
      </p:sp>
      <p:sp>
        <p:nvSpPr>
          <p:cNvPr id="8" name="input">
            <a:extLst xmlns:a="http://schemas.openxmlformats.org/drawingml/2006/main">
              <a:ext uri="{FF2B5EF4-FFF2-40B4-BE49-F238E27FC236}">
                <a16:creationId xmlns:a16="http://schemas.microsoft.com/office/drawing/2014/main" id="{7C16C2DB-8A39-4D01-A972-178985F7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810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打开：结果记录 + 证据项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保存：report.md 的一个段落</a:t>
            </a:r>
          </a:p>
        </p:txBody>
      </p:sp>
      <p:sp>
        <p:nvSpPr>
          <p:cNvPr id="9" name="finish">
            <a:extLst xmlns:a="http://schemas.openxmlformats.org/drawingml/2006/main">
              <a:ext uri="{FF2B5EF4-FFF2-40B4-BE49-F238E27FC236}">
                <a16:creationId xmlns:a16="http://schemas.microsoft.com/office/drawing/2014/main" id="{392936FB-0359-437B-9869-32D1B989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完成标志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同伴能定位记录与未决项</a:t>
            </a:r>
          </a:p>
        </p:txBody>
      </p:sp>
      <p:sp>
        <p:nvSpPr>
          <p:cNvPr id="10" name="label0">
            <a:extLst xmlns:a="http://schemas.openxmlformats.org/drawingml/2006/main">
              <a:ext uri="{FF2B5EF4-FFF2-40B4-BE49-F238E27FC236}">
                <a16:creationId xmlns:a16="http://schemas.microsoft.com/office/drawing/2014/main" id="{3333A187-3152-4E7A-8173-49BDB0E1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609725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主张</a:t>
            </a:r>
          </a:p>
        </p:txBody>
      </p:sp>
      <p:sp>
        <p:nvSpPr>
          <p:cNvPr id="11" name="sentence0">
            <a:extLst xmlns:a="http://schemas.openxmlformats.org/drawingml/2006/main">
              <a:ext uri="{FF2B5EF4-FFF2-40B4-BE49-F238E27FC236}">
                <a16:creationId xmlns:a16="http://schemas.microsoft.com/office/drawing/2014/main" id="{843DA90F-22CA-49D6-9868-55FF6865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9725"/>
            <a:ext cx="4819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本批论文中，阅读卡组遗漏率较低。</a:t>
            </a:r>
          </a:p>
        </p:txBody>
      </p:sp>
      <p:sp>
        <p:nvSpPr>
          <p:cNvPr id="12" name="rule0">
            <a:extLst xmlns:a="http://schemas.openxmlformats.org/drawingml/2006/main">
              <a:ext uri="{FF2B5EF4-FFF2-40B4-BE49-F238E27FC236}">
                <a16:creationId xmlns:a16="http://schemas.microsoft.com/office/drawing/2014/main" id="{1C7A91B1-A92A-47C2-8D82-018914B0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05075"/>
            <a:ext cx="6105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label1">
            <a:extLst xmlns:a="http://schemas.openxmlformats.org/drawingml/2006/main">
              <a:ext uri="{FF2B5EF4-FFF2-40B4-BE49-F238E27FC236}">
                <a16:creationId xmlns:a16="http://schemas.microsoft.com/office/drawing/2014/main" id="{2066331A-CE0C-480C-B13E-F735FFEB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76525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14" name="sentence1">
            <a:extLst xmlns:a="http://schemas.openxmlformats.org/drawingml/2006/main">
              <a:ext uri="{FF2B5EF4-FFF2-40B4-BE49-F238E27FC236}">
                <a16:creationId xmlns:a16="http://schemas.microsoft.com/office/drawing/2014/main" id="{F613F622-804D-44BA-836D-07DEEBEA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76525"/>
            <a:ext cx="4819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两条件汇总为 0.18 与 0.31。</a:t>
            </a:r>
          </a:p>
        </p:txBody>
      </p:sp>
      <p:sp>
        <p:nvSpPr>
          <p:cNvPr id="15" name="rule1">
            <a:extLst xmlns:a="http://schemas.openxmlformats.org/drawingml/2006/main">
              <a:ext uri="{FF2B5EF4-FFF2-40B4-BE49-F238E27FC236}">
                <a16:creationId xmlns:a16="http://schemas.microsoft.com/office/drawing/2014/main" id="{2287AB2A-101F-4A5E-BE4E-7A7EA3FB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71875"/>
            <a:ext cx="6105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6" name="label2">
            <a:extLst xmlns:a="http://schemas.openxmlformats.org/drawingml/2006/main">
              <a:ext uri="{FF2B5EF4-FFF2-40B4-BE49-F238E27FC236}">
                <a16:creationId xmlns:a16="http://schemas.microsoft.com/office/drawing/2014/main" id="{215890E1-957A-4147-9C29-AA13A5AB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43325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推理</a:t>
            </a:r>
          </a:p>
        </p:txBody>
      </p:sp>
      <p:sp>
        <p:nvSpPr>
          <p:cNvPr id="17" name="sentence2">
            <a:extLst xmlns:a="http://schemas.openxmlformats.org/drawingml/2006/main">
              <a:ext uri="{FF2B5EF4-FFF2-40B4-BE49-F238E27FC236}">
                <a16:creationId xmlns:a16="http://schemas.microsoft.com/office/drawing/2014/main" id="{62802FC9-9CD0-476B-8E12-39B7FD65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43325"/>
            <a:ext cx="4819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方向与 H1 的预测一致。</a:t>
            </a:r>
          </a:p>
        </p:txBody>
      </p:sp>
      <p:sp>
        <p:nvSpPr>
          <p:cNvPr id="18" name="rule2">
            <a:extLst xmlns:a="http://schemas.openxmlformats.org/drawingml/2006/main">
              <a:ext uri="{FF2B5EF4-FFF2-40B4-BE49-F238E27FC236}">
                <a16:creationId xmlns:a16="http://schemas.microsoft.com/office/drawing/2014/main" id="{73373330-BE95-45D4-9EE9-A96053DE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38675"/>
            <a:ext cx="6105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9" name="label3">
            <a:extLst xmlns:a="http://schemas.openxmlformats.org/drawingml/2006/main">
              <a:ext uri="{FF2B5EF4-FFF2-40B4-BE49-F238E27FC236}">
                <a16:creationId xmlns:a16="http://schemas.microsoft.com/office/drawing/2014/main" id="{A7AC044D-5C3E-451B-93C0-16F540DA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10125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边界</a:t>
            </a:r>
          </a:p>
        </p:txBody>
      </p:sp>
      <p:sp>
        <p:nvSpPr>
          <p:cNvPr id="20" name="sentence3">
            <a:extLst xmlns:a="http://schemas.openxmlformats.org/drawingml/2006/main">
              <a:ext uri="{FF2B5EF4-FFF2-40B4-BE49-F238E27FC236}">
                <a16:creationId xmlns:a16="http://schemas.microsoft.com/office/drawing/2014/main" id="{57BCC84D-4BC8-4B56-A9D0-254632D4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0125"/>
            <a:ext cx="48196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A1 / A2 / A3 尚未充分区分。</a:t>
            </a:r>
          </a:p>
        </p:txBody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7AF5DA1E-63F5-488E-8FC3-C3609A1E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来源：第 14 课讲义与第 13 课虚构评价报告 · 请把示例数值替换为自己可定位的真实记录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2026-09-12T10:58:39.2830000Z</dcterms:created>
  <dcterms:modified xsi:type="dcterms:W3CDTF">2026-09-12T10:58:39.2830000Z</dcterms:modified>
</coreProperties>
</file>