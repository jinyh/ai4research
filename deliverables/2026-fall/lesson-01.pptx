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377aed16044dd9" /><Relationship Type="http://schemas.openxmlformats.org/officeDocument/2006/relationships/extended-properties" Target="/docProps/app.xml" Id="R2acb899fb65e4eb4" /><Relationship Type="http://schemas.openxmlformats.org/officeDocument/2006/relationships/officeDocument" Target="/ppt/presentation.xml" Id="Rc4c501042bb6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d1dfb0bbf4607"/>
  </p:sldMasterIdLst>
  <p:notesMasterIdLst>
    <p:notesMasterId xmlns:r="http://schemas.openxmlformats.org/officeDocument/2006/relationships" r:id="R855ce92bb6c844ae"/>
  </p:notesMasterIdLst>
  <p:sldIdLst>
    <p:sldId xmlns:r="http://schemas.openxmlformats.org/officeDocument/2006/relationships" id="256" r:id="R100f42c34a744e65"/>
    <p:sldId xmlns:r="http://schemas.openxmlformats.org/officeDocument/2006/relationships" id="257" r:id="R9d292c2576214a51"/>
    <p:sldId xmlns:r="http://schemas.openxmlformats.org/officeDocument/2006/relationships" id="258" r:id="R8d21339e989d4cde"/>
    <p:sldId xmlns:r="http://schemas.openxmlformats.org/officeDocument/2006/relationships" id="259" r:id="R255b45ead15b4124"/>
    <p:sldId xmlns:r="http://schemas.openxmlformats.org/officeDocument/2006/relationships" id="260" r:id="R79010c3dcc92473c"/>
    <p:sldId xmlns:r="http://schemas.openxmlformats.org/officeDocument/2006/relationships" id="261" r:id="R0ec3904db9654b78"/>
    <p:sldId xmlns:r="http://schemas.openxmlformats.org/officeDocument/2006/relationships" id="262" r:id="R896d4064e000410f"/>
    <p:sldId xmlns:r="http://schemas.openxmlformats.org/officeDocument/2006/relationships" id="263" r:id="R5e1e1e109aa64548"/>
    <p:sldId xmlns:r="http://schemas.openxmlformats.org/officeDocument/2006/relationships" id="264" r:id="R2c0a9006b9a64762"/>
    <p:sldId xmlns:r="http://schemas.openxmlformats.org/officeDocument/2006/relationships" id="265" r:id="R935f0e9115a84c7d"/>
    <p:sldId xmlns:r="http://schemas.openxmlformats.org/officeDocument/2006/relationships" id="266" r:id="Rba781cbd425447ad"/>
    <p:sldId xmlns:r="http://schemas.openxmlformats.org/officeDocument/2006/relationships" id="267" r:id="R44912968fcb84bbb"/>
    <p:sldId xmlns:r="http://schemas.openxmlformats.org/officeDocument/2006/relationships" id="268" r:id="R752d6aa80d104697"/>
    <p:sldId xmlns:r="http://schemas.openxmlformats.org/officeDocument/2006/relationships" id="269" r:id="R0225b19416534005"/>
    <p:sldId xmlns:r="http://schemas.openxmlformats.org/officeDocument/2006/relationships" id="270" r:id="R8862472a076d4113"/>
    <p:sldId xmlns:r="http://schemas.openxmlformats.org/officeDocument/2006/relationships" id="271" r:id="Rc044cac212bd4345"/>
    <p:sldId xmlns:r="http://schemas.openxmlformats.org/officeDocument/2006/relationships" id="272" r:id="Rac0513827abb4d00"/>
    <p:sldId xmlns:r="http://schemas.openxmlformats.org/officeDocument/2006/relationships" id="273" r:id="Rc267d45722d04083"/>
    <p:sldId xmlns:r="http://schemas.openxmlformats.org/officeDocument/2006/relationships" id="274" r:id="R91cfeef6e96d44e9"/>
    <p:sldId xmlns:r="http://schemas.openxmlformats.org/officeDocument/2006/relationships" id="275" r:id="R2111039877ad45ff"/>
    <p:sldId xmlns:r="http://schemas.openxmlformats.org/officeDocument/2006/relationships" id="276" r:id="Rc5ff0704f7034c82"/>
    <p:sldId xmlns:r="http://schemas.openxmlformats.org/officeDocument/2006/relationships" id="277" r:id="R9fa36dc01e9847d3"/>
    <p:sldId xmlns:r="http://schemas.openxmlformats.org/officeDocument/2006/relationships" id="278" r:id="R1aaae8780e9140c2"/>
    <p:sldId xmlns:r="http://schemas.openxmlformats.org/officeDocument/2006/relationships" id="279" r:id="R9b3e35ac144045bb"/>
    <p:sldId xmlns:r="http://schemas.openxmlformats.org/officeDocument/2006/relationships" id="280" r:id="R24fb5bfa21dd407e"/>
    <p:sldId xmlns:r="http://schemas.openxmlformats.org/officeDocument/2006/relationships" id="281" r:id="R8691455b9f8f4ea4"/>
    <p:sldId xmlns:r="http://schemas.openxmlformats.org/officeDocument/2006/relationships" id="282" r:id="R67cab8d38060466e"/>
    <p:sldId xmlns:r="http://schemas.openxmlformats.org/officeDocument/2006/relationships" id="283" r:id="R0aa5ac0401034fa2"/>
    <p:sldId xmlns:r="http://schemas.openxmlformats.org/officeDocument/2006/relationships" id="284" r:id="R760edba75e3f4a81"/>
    <p:sldId xmlns:r="http://schemas.openxmlformats.org/officeDocument/2006/relationships" id="285" r:id="R8f153ac33d154e28"/>
    <p:sldId xmlns:r="http://schemas.openxmlformats.org/officeDocument/2006/relationships" id="286" r:id="R02789df308e34600"/>
    <p:sldId xmlns:r="http://schemas.openxmlformats.org/officeDocument/2006/relationships" id="287" r:id="Rfc3b5e22104040e3"/>
    <p:sldId xmlns:r="http://schemas.openxmlformats.org/officeDocument/2006/relationships" id="288" r:id="R54d0f5b05aff4051"/>
    <p:sldId xmlns:r="http://schemas.openxmlformats.org/officeDocument/2006/relationships" id="289" r:id="Rd6ee9837c2c64489"/>
    <p:sldId xmlns:r="http://schemas.openxmlformats.org/officeDocument/2006/relationships" id="290" r:id="R2bbbda3f67f14ccf"/>
    <p:sldId xmlns:r="http://schemas.openxmlformats.org/officeDocument/2006/relationships" id="291" r:id="Rf27903d1527e4f1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b59e8c4fb4025" /><Relationship Type="http://schemas.openxmlformats.org/officeDocument/2006/relationships/slideMaster" Target="/ppt/slideMasters/slideMaster1.xml" Id="Rb43d1dfb0bbf4607" /><Relationship Type="http://schemas.openxmlformats.org/officeDocument/2006/relationships/notesMaster" Target="/ppt/notesMasters/notesMaster1.xml" Id="R855ce92bb6c844ae" /><Relationship Type="http://schemas.openxmlformats.org/officeDocument/2006/relationships/presProps" Target="/ppt/presProps.xml" Id="Rbd0ebfcb5cda4083" /><Relationship Type="http://schemas.openxmlformats.org/officeDocument/2006/relationships/viewProps" Target="/ppt/viewProps.xml" Id="R9e212883e12648d5" /><Relationship Type="http://schemas.openxmlformats.org/officeDocument/2006/relationships/tableStyles" Target="/ppt/tableStyles.xml" Id="Rb8c5fa3c0f584540" /><Relationship Type="http://schemas.openxmlformats.org/officeDocument/2006/relationships/slide" Target="/ppt/slides/slide1.xml" Id="R100f42c34a744e65" /><Relationship Type="http://schemas.openxmlformats.org/officeDocument/2006/relationships/slide" Target="/ppt/slides/slide2.xml" Id="R9d292c2576214a51" /><Relationship Type="http://schemas.openxmlformats.org/officeDocument/2006/relationships/slide" Target="/ppt/slides/slide3.xml" Id="R8d21339e989d4cde" /><Relationship Type="http://schemas.openxmlformats.org/officeDocument/2006/relationships/slide" Target="/ppt/slides/slide4.xml" Id="R255b45ead15b4124" /><Relationship Type="http://schemas.openxmlformats.org/officeDocument/2006/relationships/slide" Target="/ppt/slides/slide5.xml" Id="R79010c3dcc92473c" /><Relationship Type="http://schemas.openxmlformats.org/officeDocument/2006/relationships/slide" Target="/ppt/slides/slide6.xml" Id="R0ec3904db9654b78" /><Relationship Type="http://schemas.openxmlformats.org/officeDocument/2006/relationships/slide" Target="/ppt/slides/slide7.xml" Id="R896d4064e000410f" /><Relationship Type="http://schemas.openxmlformats.org/officeDocument/2006/relationships/slide" Target="/ppt/slides/slide8.xml" Id="R5e1e1e109aa64548" /><Relationship Type="http://schemas.openxmlformats.org/officeDocument/2006/relationships/slide" Target="/ppt/slides/slide9.xml" Id="R2c0a9006b9a64762" /><Relationship Type="http://schemas.openxmlformats.org/officeDocument/2006/relationships/slide" Target="/ppt/slides/slide10.xml" Id="R935f0e9115a84c7d" /><Relationship Type="http://schemas.openxmlformats.org/officeDocument/2006/relationships/slide" Target="/ppt/slides/slide11.xml" Id="Rba781cbd425447ad" /><Relationship Type="http://schemas.openxmlformats.org/officeDocument/2006/relationships/slide" Target="/ppt/slides/slide12.xml" Id="R44912968fcb84bbb" /><Relationship Type="http://schemas.openxmlformats.org/officeDocument/2006/relationships/slide" Target="/ppt/slides/slide13.xml" Id="R752d6aa80d104697" /><Relationship Type="http://schemas.openxmlformats.org/officeDocument/2006/relationships/slide" Target="/ppt/slides/slide14.xml" Id="R0225b19416534005" /><Relationship Type="http://schemas.openxmlformats.org/officeDocument/2006/relationships/slide" Target="/ppt/slides/slide15.xml" Id="R8862472a076d4113" /><Relationship Type="http://schemas.openxmlformats.org/officeDocument/2006/relationships/slide" Target="/ppt/slides/slide16.xml" Id="Rc044cac212bd4345" /><Relationship Type="http://schemas.openxmlformats.org/officeDocument/2006/relationships/slide" Target="/ppt/slides/slide17.xml" Id="Rac0513827abb4d00" /><Relationship Type="http://schemas.openxmlformats.org/officeDocument/2006/relationships/slide" Target="/ppt/slides/slide18.xml" Id="Rc267d45722d04083" /><Relationship Type="http://schemas.openxmlformats.org/officeDocument/2006/relationships/slide" Target="/ppt/slides/slide19.xml" Id="R91cfeef6e96d44e9" /><Relationship Type="http://schemas.openxmlformats.org/officeDocument/2006/relationships/slide" Target="/ppt/slides/slide20.xml" Id="R2111039877ad45ff" /><Relationship Type="http://schemas.openxmlformats.org/officeDocument/2006/relationships/slide" Target="/ppt/slides/slide21.xml" Id="Rc5ff0704f7034c82" /><Relationship Type="http://schemas.openxmlformats.org/officeDocument/2006/relationships/slide" Target="/ppt/slides/slide22.xml" Id="R9fa36dc01e9847d3" /><Relationship Type="http://schemas.openxmlformats.org/officeDocument/2006/relationships/slide" Target="/ppt/slides/slide23.xml" Id="R1aaae8780e9140c2" /><Relationship Type="http://schemas.openxmlformats.org/officeDocument/2006/relationships/slide" Target="/ppt/slides/slide24.xml" Id="R9b3e35ac144045bb" /><Relationship Type="http://schemas.openxmlformats.org/officeDocument/2006/relationships/slide" Target="/ppt/slides/slide25.xml" Id="R24fb5bfa21dd407e" /><Relationship Type="http://schemas.openxmlformats.org/officeDocument/2006/relationships/slide" Target="/ppt/slides/slide26.xml" Id="R8691455b9f8f4ea4" /><Relationship Type="http://schemas.openxmlformats.org/officeDocument/2006/relationships/slide" Target="/ppt/slides/slide27.xml" Id="R67cab8d38060466e" /><Relationship Type="http://schemas.openxmlformats.org/officeDocument/2006/relationships/slide" Target="/ppt/slides/slide28.xml" Id="R0aa5ac0401034fa2" /><Relationship Type="http://schemas.openxmlformats.org/officeDocument/2006/relationships/slide" Target="/ppt/slides/slide29.xml" Id="R760edba75e3f4a81" /><Relationship Type="http://schemas.openxmlformats.org/officeDocument/2006/relationships/slide" Target="/ppt/slides/slide30.xml" Id="R8f153ac33d154e28" /><Relationship Type="http://schemas.openxmlformats.org/officeDocument/2006/relationships/slide" Target="/ppt/slides/slide31.xml" Id="R02789df308e34600" /><Relationship Type="http://schemas.openxmlformats.org/officeDocument/2006/relationships/slide" Target="/ppt/slides/slide32.xml" Id="Rfc3b5e22104040e3" /><Relationship Type="http://schemas.openxmlformats.org/officeDocument/2006/relationships/slide" Target="/ppt/slides/slide33.xml" Id="R54d0f5b05aff4051" /><Relationship Type="http://schemas.openxmlformats.org/officeDocument/2006/relationships/slide" Target="/ppt/slides/slide34.xml" Id="Rd6ee9837c2c64489" /><Relationship Type="http://schemas.openxmlformats.org/officeDocument/2006/relationships/slide" Target="/ppt/slides/slide35.xml" Id="R2bbbda3f67f14ccf" /><Relationship Type="http://schemas.openxmlformats.org/officeDocument/2006/relationships/slide" Target="/ppt/slides/slide36.xml" Id="Rf27903d1527e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dd08f7e4a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bb58aa8fcb4753" /><Relationship Type="http://schemas.openxmlformats.org/officeDocument/2006/relationships/notesMaster" Target="/ppt/notesMasters/notesMaster1.xml" Id="R88217443515049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fe7e35213046d9" /><Relationship Type="http://schemas.openxmlformats.org/officeDocument/2006/relationships/notesMaster" Target="/ppt/notesMasters/notesMaster1.xml" Id="Rb1ece70430ff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25fc3060f4075" /><Relationship Type="http://schemas.openxmlformats.org/officeDocument/2006/relationships/notesMaster" Target="/ppt/notesMasters/notesMaster1.xml" Id="Ra82c5bf8975741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355e7c6445498f" /><Relationship Type="http://schemas.openxmlformats.org/officeDocument/2006/relationships/notesMaster" Target="/ppt/notesMasters/notesMaster1.xml" Id="R1c19fdbc4df4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b7129add9432b" /><Relationship Type="http://schemas.openxmlformats.org/officeDocument/2006/relationships/notesMaster" Target="/ppt/notesMasters/notesMaster1.xml" Id="Rc8246e4d4ba645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dea25aa4b8432c" /><Relationship Type="http://schemas.openxmlformats.org/officeDocument/2006/relationships/notesMaster" Target="/ppt/notesMasters/notesMaster1.xml" Id="Rd3b1141ef2a9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30484752bd4468" /><Relationship Type="http://schemas.openxmlformats.org/officeDocument/2006/relationships/notesMaster" Target="/ppt/notesMasters/notesMaster1.xml" Id="R2fd01dfbb8294d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2032992134505" /><Relationship Type="http://schemas.openxmlformats.org/officeDocument/2006/relationships/notesMaster" Target="/ppt/notesMasters/notesMaster1.xml" Id="R596d247e3e734f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3e16d9efb4548" /><Relationship Type="http://schemas.openxmlformats.org/officeDocument/2006/relationships/notesMaster" Target="/ppt/notesMasters/notesMaster1.xml" Id="R705ffcfa36c748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0b03d881a4527" /><Relationship Type="http://schemas.openxmlformats.org/officeDocument/2006/relationships/notesMaster" Target="/ppt/notesMasters/notesMaster1.xml" Id="Ra8c10f6728c541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ac08f517324658" /><Relationship Type="http://schemas.openxmlformats.org/officeDocument/2006/relationships/notesMaster" Target="/ppt/notesMasters/notesMaster1.xml" Id="R072f3c5cf4314f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a9229878941ef" /><Relationship Type="http://schemas.openxmlformats.org/officeDocument/2006/relationships/notesMaster" Target="/ppt/notesMasters/notesMaster1.xml" Id="R2acc586a86ca4a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a7d60423264b61" /><Relationship Type="http://schemas.openxmlformats.org/officeDocument/2006/relationships/notesMaster" Target="/ppt/notesMasters/notesMaster1.xml" Id="R5cb9d571709e47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e1016b69a6462d" /><Relationship Type="http://schemas.openxmlformats.org/officeDocument/2006/relationships/notesMaster" Target="/ppt/notesMasters/notesMaster1.xml" Id="R7ad5de4ffafe48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a55b20292f484e" /><Relationship Type="http://schemas.openxmlformats.org/officeDocument/2006/relationships/notesMaster" Target="/ppt/notesMasters/notesMaster1.xml" Id="Rf3ab504764c447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9061b3df1d40f3" /><Relationship Type="http://schemas.openxmlformats.org/officeDocument/2006/relationships/notesMaster" Target="/ppt/notesMasters/notesMaster1.xml" Id="R9c308891c7db45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c65da12b884afc" /><Relationship Type="http://schemas.openxmlformats.org/officeDocument/2006/relationships/notesMaster" Target="/ppt/notesMasters/notesMaster1.xml" Id="R60e1a6a68a154a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8fd95068274e60" /><Relationship Type="http://schemas.openxmlformats.org/officeDocument/2006/relationships/notesMaster" Target="/ppt/notesMasters/notesMaster1.xml" Id="Rde689f4e03b547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3f4753b03a41f6" /><Relationship Type="http://schemas.openxmlformats.org/officeDocument/2006/relationships/notesMaster" Target="/ppt/notesMasters/notesMaster1.xml" Id="R00f2a3f3177b4c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3175a9464f4f68" /><Relationship Type="http://schemas.openxmlformats.org/officeDocument/2006/relationships/notesMaster" Target="/ppt/notesMasters/notesMaster1.xml" Id="Rb1ca56cf9e7e49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e1dea9cc7546c8" /><Relationship Type="http://schemas.openxmlformats.org/officeDocument/2006/relationships/notesMaster" Target="/ppt/notesMasters/notesMaster1.xml" Id="Rde7792569e3242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340052d8184192" /><Relationship Type="http://schemas.openxmlformats.org/officeDocument/2006/relationships/notesMaster" Target="/ppt/notesMasters/notesMaster1.xml" Id="R8dd154121ffc4d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ebe035b2b74245" /><Relationship Type="http://schemas.openxmlformats.org/officeDocument/2006/relationships/notesMaster" Target="/ppt/notesMasters/notesMaster1.xml" Id="Ra874d3e213614d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af1af9516948ae" /><Relationship Type="http://schemas.openxmlformats.org/officeDocument/2006/relationships/notesMaster" Target="/ppt/notesMasters/notesMaster1.xml" Id="R693a5ce24c0f48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bb4d80fa994dfe" /><Relationship Type="http://schemas.openxmlformats.org/officeDocument/2006/relationships/notesMaster" Target="/ppt/notesMasters/notesMaster1.xml" Id="R256c6ef5654043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5ed6a433664c09" /><Relationship Type="http://schemas.openxmlformats.org/officeDocument/2006/relationships/notesMaster" Target="/ppt/notesMasters/notesMaster1.xml" Id="R533beedef5fc48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b69933276e44601" /><Relationship Type="http://schemas.openxmlformats.org/officeDocument/2006/relationships/notesMaster" Target="/ppt/notesMasters/notesMaster1.xml" Id="R85d7f3cb7f8a431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84d9b79f404ec0" /><Relationship Type="http://schemas.openxmlformats.org/officeDocument/2006/relationships/notesMaster" Target="/ppt/notesMasters/notesMaster1.xml" Id="R2c6c7bca01844aa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956001003c147ec" /><Relationship Type="http://schemas.openxmlformats.org/officeDocument/2006/relationships/notesMaster" Target="/ppt/notesMasters/notesMaster1.xml" Id="R931d9d2b7fc74d7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ee14e42a4f4fc4" /><Relationship Type="http://schemas.openxmlformats.org/officeDocument/2006/relationships/notesMaster" Target="/ppt/notesMasters/notesMaster1.xml" Id="R52bd8d8514cf41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cd0d9ebbc947ee" /><Relationship Type="http://schemas.openxmlformats.org/officeDocument/2006/relationships/notesMaster" Target="/ppt/notesMasters/notesMaster1.xml" Id="Re62f4bc36b464c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3f8ec1f39643e5" /><Relationship Type="http://schemas.openxmlformats.org/officeDocument/2006/relationships/notesMaster" Target="/ppt/notesMasters/notesMaster1.xml" Id="Rf5ab3463c9b34a5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0e4288ec85b4c96" /><Relationship Type="http://schemas.openxmlformats.org/officeDocument/2006/relationships/notesMaster" Target="/ppt/notesMasters/notesMaster1.xml" Id="R184c2d89d5fb45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56a697ea9b74321" /><Relationship Type="http://schemas.openxmlformats.org/officeDocument/2006/relationships/notesMaster" Target="/ppt/notesMasters/notesMaster1.xml" Id="Rb24e958ed09841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da751c56bcb47f6" /><Relationship Type="http://schemas.openxmlformats.org/officeDocument/2006/relationships/notesMaster" Target="/ppt/notesMasters/notesMaster1.xml" Id="R7c3ba9d5524a4c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d011002a9af4200" /><Relationship Type="http://schemas.openxmlformats.org/officeDocument/2006/relationships/notesMaster" Target="/ppt/notesMasters/notesMaster1.xml" Id="Raba0852dfbf0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 智能科研方法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§导读与学习目标；原有证据范围保留。结合本课讲义核对该页范围；本页按需参考。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课程资源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§八；原有证据范围保留。课程主页与代码仓库入口，按需展示。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学生动作：打开课程入口。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课程内部入口。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 AI 辅助科研导论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§导读与学习目标；原有证据范围保留。结合本课讲义核对该页范围；本页按需参考。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 教师示例与本人研究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讲述：MI是用内部计算解释行为的研究方向。共同题用于方法诊断，个人题可为ML、系统或文献理论。记录已有AI用法，后续基线不故意减弱。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学生动作：写下本人问题与真实已有AI用法。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§导读与学习目标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 AI 可以参与哪些科研动作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§三；原有证据范围保留。结合本课讲义核对该页范围；本页按需参考。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P06 IOI：模型在补谁的名字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讲述：完整句在讲义及资产节选。logit差为原句间接宾语减主语，正值只表示这两个候选间的偏好，不是所有词的准确率。此页不揭示后续建议取舍或替代解释答案。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学生动作：核对两条输入人物角色、记录ID和数值；写出目前能问什么。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 比较两项问题收敛建议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讲述：先记录再讨论。可选择A、B或阶段关系，理由须联系输入与资源；校准内容在学生初判后用教师依据揭示。不可从clean值直接认定内部机制。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学生动作：独立写选择、记录位置、范围损失和下一项证据。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 候选建议为教学构造。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 完整论文出现了，研究质量如何？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§三；原有证据范围保留。结合本课讲义核对该页范围；本页按需参考。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 AI 科研的治理与生态争论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§三；原有证据范围保留。结合本课讲义核对该页范围；本页按需参考。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 AI 科研：个人影响与集体探索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§三；原有证据范围保留。结合本课讲义核对该页范围；本页按需参考。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P11 AI 辅助科研中的研究者判断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§三；原有证据范围保留。结合本课讲义核对该页范围；本页按需参考。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 期末个人项目的四类工件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讲述：课程按个人项目及四个研究门评价，详见现行handout.md §五。既有两层反馈图只说明教师反馈与自愿讨论，不设固定配对、签名或小组提交。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 个人项目与反馈关系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讲述：保留教师反馈与同学讨论关系，移除固定配对、固定组及人数要求；无组签名条件。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学生动作：说明一项自己需要的反馈。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course/syllabus.md；course/assessment.md；课程教学设计。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P14 评分看什么，怎样算达标？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讲述：课程按个人项目及四个研究门评价，详见现行handout.md §五。既有两层反馈图只说明教师反馈与自愿讨论，不设固定配对、签名或小组提交。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 研究任务、执行环境与模型后端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§六；原有证据范围保留。结合本课讲义核对该页范围；本页按需参考。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P16 观察、解释与研究动作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讲述：本页只在共同判断与讨论之后按需展示。两条输入中间接宾语都为第二个首现名字，因此角色与取第二个名字尚不可区分。不要把该规律当模型已经采用的机制。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学生动作：对照自己的初判，说明新观察怎样改变或加强选择。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P17 八阶段定位图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讲述：全链路是导航，不要求首课完成八阶段工件。L1只实际完成问题定义的一次修订或保留决定。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学生动作：标出本人当前动作与一项不确定性。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P18 阶段 1–2：问题与检验前提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讲述：从同一IOI对象说明问题与必要条件。可观察的行为、评价定义是检验前提，不能证明某种机制。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学生动作：在本人问题中区分对象与检验前提。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P19 阶段 3–4：假设与外部输入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讲述：行为层假设要有可区分输入；内部机制候选还需指定组件和干预。检索文献与内部验证是不同动作。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学生动作：为本人问题写一个候选解释或待查前提。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P20 阶段 5–6：证据与行动判断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讲述：证据整理连接材料和主张；研究判断选择下一步，不预填实验结果。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学生动作：给本人的下一项动作写理由及缺口。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P21 阶段 7–8：执行与回写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讲述：文件写回不等于科学效果验证；当前记录实际做到的问题变化，未来结果再改变假设和判断。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学生动作：标明本人哪些已执行、哪些仍是计划。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P22 四个研究门与回退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讲述：本页为按需参考。对应现行讲义 §五；原有证据范围保留。结合本课讲义核对该页范围；本页按需参考。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P23 同一问题，下一步补什么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讲述：教师在学生完成初判和讨论后结合judgment-teacher说明角色与顺序未区分。允许B作为查原文并设计规格，不能要求所有人选A。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学生动作：核对本人的选择是否有具体依据。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https://arxiv.org/html/2211.00593v1 §2；assets/ioi-intro/observations.json；教师实际运行节选，课程构造输入，2026-10-20。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P24 一次建议怎样变成修改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讲述：这是教师沿MI继续的演示路线，展示前先完成共同题判断，不把它作为个人项目的标准答案。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学生动作：预测本次允许读取和修改的范围。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P25 第一轮：只读获得建议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讲述：只读提示仍要实际配置工具。未验证路径限制时由人提供公开文本，不开放无关目录。实际模型输出按实际内容审核。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学生动作：先保存自己的原有AI用法，再获取本人建议。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course/pi-setup.md；构造任务契约。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P26 研究者如何处理建议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讲述：在学生共同判断后展示教师处理。AI可协助分析；最终处理须能反查材料。没有变化或没有AI错误也可成立。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学生动作：说明本人决定，引用实际依据。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P27 第二轮：应用批准的文本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讲述：写入只在明确批准范围内；不自动将权限扩大为全项目。此处写回问题，不执行效果实验。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学生动作：应用自己的决定并核对全部文件状态。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P28 核对实际变化与记录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讲述：屏显是为投影压缩的构造diff。完整问题见classroom-pack；实际模型输出不必相同。教师沿B查原文与制定对照，未完成干预测量。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学生动作：从实际变化反查批准文本和理由。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P29 出现意外修改时怎样处理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讲述：失败不要求预先制造，构造失败回放须标明身份；不得覆盖学生其他改动。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学生动作：写明异常时的停止点和恢复范围。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P30 从本人方向确定一个小问题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讲述：三方向验证可不同。备用题是临时选择，不是全班必做工程题。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学生动作：写一句本人问题及当前不确定性。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P31 本人实践：建议、决定与核验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讲述：两段个人实践各15分钟，中点处理共性卡点。本人项目不从教师A/B直接选题；无题者可用阅读卡备用，须自己定范围。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学生动作：完成本人实际交互及相称核对。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P32 记录一次真实 AI 参与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讲述：沿用starter-template日志字段，不新增独立表单；模型不可用如实写人工路径、实际AI动作待补。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学生动作：给自己的交互补完整记录。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P33 个人反查一项决定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讲述：不要求固定配对、同伴签名或一致答案。允许零修改并有保留理由。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学生动作：选择一处变化或保留，反查实际依据。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P34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讲述：回收已讲知识，不新增行政任务。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学生动作：用本人刚才动作定位八阶段。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P35 离场前核对本人的完成证据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讲述：缺实际调用者登记待补，纸面diff标预期非实际；不把构造回放当完成运行。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学生动作：逐项定位自己保存的记录。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P36 带着本次动作进入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本轮本地审阅预览，2026-10-21；教师与现场确认单列。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讲述：课外最多60分钟，阅读15、准备10、补全35，包含安装排障；教师材料内保留计时。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学生动作：打开下一课将检查的本人记录。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讲义映射：handout.md §八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课程教学设计；本课judgment-task.md；classroom-pack.md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fe20c14b64543" /><Relationship Type="http://schemas.openxmlformats.org/officeDocument/2006/relationships/image" Target="/ppt/media/image.png" Id="Rb196a3c13b544d12" /><Relationship Type="http://schemas.openxmlformats.org/officeDocument/2006/relationships/image" Target="/ppt/media/image2.png" Id="Refed76ad2b1e46ec" /><Relationship Type="http://schemas.openxmlformats.org/officeDocument/2006/relationships/image" Target="/ppt/media/image3.png" Id="R6fbfd1b1dd2e49ec" /><Relationship Type="http://schemas.openxmlformats.org/officeDocument/2006/relationships/image" Target="/ppt/media/image4.png" Id="R3decee15df7a4f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a9dc09e074b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dde0b5f8e4282" /><Relationship Type="http://schemas.openxmlformats.org/officeDocument/2006/relationships/image" Target="/ppt/media/image2.png" Id="R26035d361d234de7" /><Relationship Type="http://schemas.openxmlformats.org/officeDocument/2006/relationships/image" Target="/ppt/media/image5.png" Id="Rffa42b6cd43242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e117064e44965" /><Relationship Type="http://schemas.openxmlformats.org/officeDocument/2006/relationships/image" Target="/ppt/media/image.png" Id="R8833df53c58245cc" /><Relationship Type="http://schemas.openxmlformats.org/officeDocument/2006/relationships/image" Target="/ppt/media/image3.png" Id="R5733fbb9a30a48f3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>
            <a:extLst xmlns:a="http://schemas.openxmlformats.org/drawingml/2006/main">
              <a:ext uri="{FF2B5EF4-FFF2-40B4-BE49-F238E27FC236}">
                <a16:creationId xmlns:a16="http://schemas.microsoft.com/office/drawing/2014/main" id="{90D5A323-7C1C-4002-BB21-2DDD62707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6a3c13b544d1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>
            <a:extLst xmlns:a="http://schemas.openxmlformats.org/drawingml/2006/main">
              <a:ext uri="{FF2B5EF4-FFF2-40B4-BE49-F238E27FC236}">
                <a16:creationId xmlns:a16="http://schemas.microsoft.com/office/drawing/2014/main" id="{224C7A43-F6A1-4EC2-93BA-3EAC08A5A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ed76ad2b1e46e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>
            <a:extLst xmlns:a="http://schemas.openxmlformats.org/drawingml/2006/main">
              <a:ext uri="{FF2B5EF4-FFF2-40B4-BE49-F238E27FC236}">
                <a16:creationId xmlns:a16="http://schemas.microsoft.com/office/drawing/2014/main" id="{7F946D43-2A42-4C11-8092-B8B60E7CF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bfd1b1dd2e49ec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D8986E70-AA20-4B48-8392-1E625C9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E6E69411-B05C-4E95-9FEF-89AAD19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9C41B9F3-F9D4-4EDD-84BE-E44BAA5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7D9406B-EC01-450C-8B26-61842E9F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>
            <a:extLst xmlns:a="http://schemas.openxmlformats.org/drawingml/2006/main">
              <a:ext uri="{FF2B5EF4-FFF2-40B4-BE49-F238E27FC236}">
                <a16:creationId xmlns:a16="http://schemas.microsoft.com/office/drawing/2014/main" id="{BCCA7EFC-FECD-4278-87D1-0DCBB4E4F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cee15df7a4fd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>
            <a:extLst xmlns:a="http://schemas.openxmlformats.org/drawingml/2006/main">
              <a:ext uri="{FF2B5EF4-FFF2-40B4-BE49-F238E27FC236}">
                <a16:creationId xmlns:a16="http://schemas.microsoft.com/office/drawing/2014/main" id="{D38F7A99-D9B6-4EA2-BC50-973BB6A06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035d361d234de7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>
            <a:extLst xmlns:a="http://schemas.openxmlformats.org/drawingml/2006/main">
              <a:ext uri="{FF2B5EF4-FFF2-40B4-BE49-F238E27FC236}">
                <a16:creationId xmlns:a16="http://schemas.microsoft.com/office/drawing/2014/main" id="{EBEE085A-56FD-40B7-8EC7-B7DD12CE1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42b6cd432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>
            <a:extLst xmlns:a="http://schemas.openxmlformats.org/drawingml/2006/main">
              <a:ext uri="{FF2B5EF4-FFF2-40B4-BE49-F238E27FC236}">
                <a16:creationId xmlns:a16="http://schemas.microsoft.com/office/drawing/2014/main" id="{6E5EA3E3-8F5B-4223-8E09-797A665C3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3df53c58245c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F67471EE-CBFD-4BA6-A818-9AE9DE51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1843F813-85B6-4A0C-BF78-B8226782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>
            <a:extLst xmlns:a="http://schemas.openxmlformats.org/drawingml/2006/main">
              <a:ext uri="{FF2B5EF4-FFF2-40B4-BE49-F238E27FC236}">
                <a16:creationId xmlns:a16="http://schemas.microsoft.com/office/drawing/2014/main" id="{FE760983-99EA-43D3-AE86-978C8AE71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33fbb9a30a48f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83ee0cffd4b90" /><Relationship Type="http://schemas.openxmlformats.org/officeDocument/2006/relationships/slideLayout" Target="/ppt/slideLayouts/slideLayout1.xml" Id="Rb9d470d36b3a4764" /><Relationship Type="http://schemas.openxmlformats.org/officeDocument/2006/relationships/slideLayout" Target="/ppt/slideLayouts/slideLayout2.xml" Id="R5f44e3f77e05429b" /><Relationship Type="http://schemas.openxmlformats.org/officeDocument/2006/relationships/slideLayout" Target="/ppt/slideLayouts/slideLayout3.xml" Id="R5059625ea2d44932" /><Relationship Type="http://schemas.openxmlformats.org/officeDocument/2006/relationships/slideLayout" Target="/ppt/slideLayouts/slideLayout4.xml" Id="Rd420796b1aff46c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470d36b3a4764"/>
    <p:sldLayoutId xmlns:r="http://schemas.openxmlformats.org/officeDocument/2006/relationships" id="2147483650" r:id="R5f44e3f77e05429b"/>
    <p:sldLayoutId xmlns:r="http://schemas.openxmlformats.org/officeDocument/2006/relationships" id="2147483651" r:id="R5059625ea2d44932"/>
    <p:sldLayoutId xmlns:r="http://schemas.openxmlformats.org/officeDocument/2006/relationships" id="2147483652" r:id="Rd420796b1aff46c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620d058364822" /><Relationship Type="http://schemas.openxmlformats.org/officeDocument/2006/relationships/notesSlide" Target="/ppt/notesSlides/notesSlide1.xml" Id="R16bf6dfd3b3e44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4aee818623452d" /><Relationship Type="http://schemas.openxmlformats.org/officeDocument/2006/relationships/hyperlink" Target="https://jinyh.github.io/ai4research/&#12289;" TargetMode="External" Id="R05771b3fd296480f" /><Relationship Type="http://schemas.openxmlformats.org/officeDocument/2006/relationships/hyperlink" Target="https://github.com/jinyh/ai4research" TargetMode="External" Id="Rcdf174132f8544d9" /><Relationship Type="http://schemas.openxmlformats.org/officeDocument/2006/relationships/notesSlide" Target="/ppt/notesSlides/notesSlide2.xml" Id="Ra627a830aa474a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f8e6c60004732" /><Relationship Type="http://schemas.openxmlformats.org/officeDocument/2006/relationships/notesSlide" Target="/ppt/notesSlides/notesSlide3.xml" Id="Re4f90424a156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1bea1d06ac4bc2" /><Relationship Type="http://schemas.openxmlformats.org/officeDocument/2006/relationships/notesSlide" Target="/ppt/notesSlides/notesSlide4.xml" Id="Rb5bc914422ec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fcae55797c47b9" /><Relationship Type="http://schemas.openxmlformats.org/officeDocument/2006/relationships/notesSlide" Target="/ppt/notesSlides/notesSlide5.xml" Id="Rf436e7152c08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749408607243ec" /><Relationship Type="http://schemas.openxmlformats.org/officeDocument/2006/relationships/notesSlide" Target="/ppt/notesSlides/notesSlide6.xml" Id="R51f46d5b5844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1c21de24a54d78" /><Relationship Type="http://schemas.openxmlformats.org/officeDocument/2006/relationships/notesSlide" Target="/ppt/notesSlides/notesSlide7.xml" Id="Rd9dd0eec20174f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f74dd734004a84" /><Relationship Type="http://schemas.openxmlformats.org/officeDocument/2006/relationships/image" Target="/ppt/media/image6.png" Id="R6a0ac14ce73d45d8" /><Relationship Type="http://schemas.openxmlformats.org/officeDocument/2006/relationships/notesSlide" Target="/ppt/notesSlides/notesSlide8.xml" Id="Rcb32609c44a141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7a00a4a83147a6" /><Relationship Type="http://schemas.openxmlformats.org/officeDocument/2006/relationships/notesSlide" Target="/ppt/notesSlides/notesSlide9.xml" Id="R2d9984372de64e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bb0432bb4b423a" /><Relationship Type="http://schemas.openxmlformats.org/officeDocument/2006/relationships/image" Target="/ppt/media/image7.png" Id="R70e608392f9a4355" /><Relationship Type="http://schemas.openxmlformats.org/officeDocument/2006/relationships/notesSlide" Target="/ppt/notesSlides/notesSlide10.xml" Id="R6eee01d3af4a4a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17680a6e364bc6" /><Relationship Type="http://schemas.openxmlformats.org/officeDocument/2006/relationships/notesSlide" Target="/ppt/notesSlides/notesSlide11.xml" Id="R70fed373def24b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d1487a2e5c47f2" /><Relationship Type="http://schemas.openxmlformats.org/officeDocument/2006/relationships/notesSlide" Target="/ppt/notesSlides/notesSlide12.xml" Id="R59c5b5b8797147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e8b0e076414c1d" /><Relationship Type="http://schemas.openxmlformats.org/officeDocument/2006/relationships/notesSlide" Target="/ppt/notesSlides/notesSlide13.xml" Id="R276780faaa5f4e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740d3e73644c1f" /><Relationship Type="http://schemas.openxmlformats.org/officeDocument/2006/relationships/chart" Target="/ppt/slides/charts/chart1.xml" Id="Rfbdc6480da044c6e" /><Relationship Type="http://schemas.openxmlformats.org/officeDocument/2006/relationships/notesSlide" Target="/ppt/notesSlides/notesSlide14.xml" Id="R77d6a95e11d84a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721183ed6b4836" /><Relationship Type="http://schemas.openxmlformats.org/officeDocument/2006/relationships/notesSlide" Target="/ppt/notesSlides/notesSlide15.xml" Id="R805627711e814a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1da5a0db404d54" /><Relationship Type="http://schemas.openxmlformats.org/officeDocument/2006/relationships/notesSlide" Target="/ppt/notesSlides/notesSlide16.xml" Id="R10823c356bed4e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5392c7a92e4ff9" /><Relationship Type="http://schemas.openxmlformats.org/officeDocument/2006/relationships/notesSlide" Target="/ppt/notesSlides/notesSlide17.xml" Id="R6333371b155c49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2cf136b54f4253" /><Relationship Type="http://schemas.openxmlformats.org/officeDocument/2006/relationships/notesSlide" Target="/ppt/notesSlides/notesSlide18.xml" Id="R04f1b91c1e9548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d2cd8a217f435e" /><Relationship Type="http://schemas.openxmlformats.org/officeDocument/2006/relationships/notesSlide" Target="/ppt/notesSlides/notesSlide19.xml" Id="R001e6eeddea242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2006a9ab584b7b" /><Relationship Type="http://schemas.openxmlformats.org/officeDocument/2006/relationships/notesSlide" Target="/ppt/notesSlides/notesSlide20.xml" Id="R36af92dfc6f94a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eeccf536954a9a" /><Relationship Type="http://schemas.openxmlformats.org/officeDocument/2006/relationships/notesSlide" Target="/ppt/notesSlides/notesSlide21.xml" Id="R9aa47fe2396046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9980f3807940fa" /><Relationship Type="http://schemas.openxmlformats.org/officeDocument/2006/relationships/notesSlide" Target="/ppt/notesSlides/notesSlide22.xml" Id="R3c14f5808bfc46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d16fb7eca24b37" /><Relationship Type="http://schemas.openxmlformats.org/officeDocument/2006/relationships/notesSlide" Target="/ppt/notesSlides/notesSlide23.xml" Id="Ra6cfedd9347848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ff1b69bcb3470e" /><Relationship Type="http://schemas.openxmlformats.org/officeDocument/2006/relationships/notesSlide" Target="/ppt/notesSlides/notesSlide24.xml" Id="R37aeafd8276142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799ebe103645bb" /><Relationship Type="http://schemas.openxmlformats.org/officeDocument/2006/relationships/notesSlide" Target="/ppt/notesSlides/notesSlide25.xml" Id="R2d52575f769f4a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fea50a3f5248d6" /><Relationship Type="http://schemas.openxmlformats.org/officeDocument/2006/relationships/notesSlide" Target="/ppt/notesSlides/notesSlide26.xml" Id="Ra7fe51c6ec5349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e832e0baaf4c10" /><Relationship Type="http://schemas.openxmlformats.org/officeDocument/2006/relationships/notesSlide" Target="/ppt/notesSlides/notesSlide27.xml" Id="R52a0a8d66acb4b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8277b342de4aa2" /><Relationship Type="http://schemas.openxmlformats.org/officeDocument/2006/relationships/notesSlide" Target="/ppt/notesSlides/notesSlide28.xml" Id="R9be944e5c40649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edd9e4417d4531" /><Relationship Type="http://schemas.openxmlformats.org/officeDocument/2006/relationships/notesSlide" Target="/ppt/notesSlides/notesSlide29.xml" Id="Rfc5454e794a2456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509fdee0644483" /><Relationship Type="http://schemas.openxmlformats.org/officeDocument/2006/relationships/notesSlide" Target="/ppt/notesSlides/notesSlide30.xml" Id="Rb72b13cb600f48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2f07d33dca491b" /><Relationship Type="http://schemas.openxmlformats.org/officeDocument/2006/relationships/notesSlide" Target="/ppt/notesSlides/notesSlide31.xml" Id="R4fd3da4d1f56421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467474297841f8" /><Relationship Type="http://schemas.openxmlformats.org/officeDocument/2006/relationships/notesSlide" Target="/ppt/notesSlides/notesSlide32.xml" Id="R44c83d448cf443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9bcb33228a43ad" /><Relationship Type="http://schemas.openxmlformats.org/officeDocument/2006/relationships/notesSlide" Target="/ppt/notesSlides/notesSlide33.xml" Id="R9fc76aebb7804ba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3689602cc44414" /><Relationship Type="http://schemas.openxmlformats.org/officeDocument/2006/relationships/notesSlide" Target="/ppt/notesSlides/notesSlide34.xml" Id="R696eafa731b149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05890838444d6d" /><Relationship Type="http://schemas.openxmlformats.org/officeDocument/2006/relationships/notesSlide" Target="/ppt/notesSlides/notesSlide35.xml" Id="Rbb8058a6d449436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4c5eae32fc43d2" /><Relationship Type="http://schemas.openxmlformats.org/officeDocument/2006/relationships/notesSlide" Target="/ppt/notesSlides/notesSlide36.xml" Id="R276e89753a2b43a5" /></Relationships>
</file>

<file path=ppt/slides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评分权重</c:v>
          </c:tx>
          <c:spPr>
            <a:solidFill>
              <a:srgbClr val="1F4D7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09BB1"/>
              </a:solidFill>
            </c:spPr>
            <c:extLst>
              <c:ext xmlns:c16="http://schemas.microsoft.com/office/drawing/2014/chart" uri="{C3380CC4-5D6E-409C-BE32-E72D297353CC}">
                <c16:uniqueId val="{00000007-F1A0-E84B-A0EC-254A5AB90B9D}"/>
              </c:ext>
            </c:extLst>
          </c:dPt>
          <c:dPt>
            <c:idx val="1"/>
            <c:invertIfNegative val="0"/>
            <c:bubble3D val="0"/>
            <c:spPr>
              <a:solidFill>
                <a:srgbClr val="527CA0"/>
              </a:solidFill>
            </c:spPr>
            <c:extLst>
              <c:ext xmlns:c16="http://schemas.microsoft.com/office/drawing/2014/chart" uri="{C3380CC4-5D6E-409C-BE32-E72D297353CC}">
                <c16:uniqueId val="{00000005-F1A0-E84B-A0EC-254A5AB90B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A0-E84B-A0EC-254A5AB90B9D}"/>
              </c:ext>
            </c:extLst>
          </c:dPt>
          <c:dPt>
            <c:idx val="3"/>
            <c:invertIfNegative val="0"/>
            <c:bubble3D val="0"/>
            <c:spPr>
              <a:solidFill>
                <a:srgbClr val="527CA0"/>
              </a:solidFill>
            </c:spPr>
            <c:extLst>
              <c:ext xmlns:c16="http://schemas.microsoft.com/office/drawing/2014/chart" uri="{C3380CC4-5D6E-409C-BE32-E72D297353CC}">
                <c16:uniqueId val="{00000003-F1A0-E84B-A0EC-254A5AB90B9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400" b="1">
                    <a:solidFill>
                      <a:srgbClr val="1F4D78"/>
                    </a:solidFill>
                    <a:latin typeface="Arial"/>
                    <a:ea typeface="Arial"/>
                    <a:cs typeface="Arial"/>
                  </a:defRPr>
                </a:pPr>
                <a:endParaRPr lang="en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表达、伦理与复盘</c:v>
                </c:pt>
                <c:pt idx="1">
                  <c:v>原型与 Agent Workflow 实践</c:v>
                </c:pt>
                <c:pt idx="2">
                  <c:v>实验设计与可复现性</c:v>
                </c:pt>
                <c:pt idx="3">
                  <c:v>文献与问题定位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</c:v>
                </c:pt>
                <c:pt idx="1">
                  <c:v>0.25</c:v>
                </c:pt>
                <c:pt idx="2">
                  <c:v>0.3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1A0-E84B-A0EC-254A5AB90B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200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endParaRPr lang="en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 sz="200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endParaRPr lang="en-TW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5C33D1-F795-2B48-8B6F-3B74189BA99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2026.</a:t>
            </a:r>
            <a:r>
              <a:t>9.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F49449E-BE24-3B99-62E8-EDE829994CE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主讲： 金耀辉</a:t>
            </a:r>
            <a:r>
              <a:t> 教授</a:t>
            </a: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5A75C7-65B7-5D90-65F9-B5E2DF88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0" y="1818000"/>
            <a:ext cx="9036000" cy="1322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12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353D58-FBE4-81EF-27E9-E7D74F3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000" y="1998000"/>
            <a:ext cx="8496000" cy="413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28800" rIns="288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3D4E43-615D-2E9A-786D-A4ABBED2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000" y="2603032"/>
            <a:ext cx="8496000" cy="25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28800" rIns="288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</p:spTree>
    <p:extLst>
      <p:ext uri="{BB962C8B-B14F-4D97-AF65-F5344CB8AC3E}">
        <p14:creationId xmlns:p14="http://schemas.microsoft.com/office/powerpoint/2010/main" val="983862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E3F4EA3B-FAF3-E903-E5A8-E35A91FA2E3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3E330F-3371-FCA6-7AB7-03E353546F3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A430CD2-0E4A-F50A-633D-CED68906BEA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2F508C-A70A-8A61-FDBD-68E193A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83" y="2222938"/>
            <a:ext cx="6619120" cy="1134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课程主页</a:t>
            </a:r>
            <a:r>
              <a:rPr sz="2400"/>
              <a:t>：</a:t>
            </a:r>
            <a:r>
              <a:rPr sz="2400">
                <a:hlinkClick xmlns:r="http://schemas.openxmlformats.org/officeDocument/2006/relationships" r:id="R05771b3fd296480f"/>
              </a:rPr>
              <a:t>https://jinyh.github.io/ai4research/</a:t>
            </a:r>
            <a:endParaRPr sz="24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/>
              <a:t>代码</a:t>
            </a:r>
            <a:r>
              <a:rPr sz="2400"/>
              <a:t>链接：</a:t>
            </a:r>
            <a:r>
              <a:rPr sz="2400">
                <a:hlinkClick xmlns:r="http://schemas.openxmlformats.org/officeDocument/2006/relationships" r:id="Rcdf174132f8544d9"/>
              </a:rPr>
              <a:t>https://github.com/jinyh/ai4research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020163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576C01-EB9B-4156-9FF8-2A846B32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2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第1讲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C6FE2-1DD7-45B7-A3FC-33150FF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24328"/>
            <a:ext cx="92354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36576" tIns="36576" rIns="36576" bIns="36576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AI 辅助科研导论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D8323E2-0045-40D8-A8EE-3C5C647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教师示例与本人研究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05D2B8F2-E619-4C39-B523-E210E23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教师以 MI 展示研究方法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E45702B6-6035-43CF-9847-1468085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GPT-2 是被研究对象；Agent 协助研究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1E1D2E94-62A3-412F-91F0-A2F8709E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学生持续维护自己的一个个人项目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5A7A5C0D-592F-416D-ABCE-C1F4B82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先独立判断，再将方法用于本人问题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BC3A3B8-3BE3-49CB-9AF6-E513215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BE0D8D-B349-4930-A9C8-CC3104A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可以参与哪些科研动作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B26436-8EC1-4076-A7D2-A720B4FD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action-label-0">
            <a:extLst xmlns:a="http://schemas.openxmlformats.org/drawingml/2006/main">
              <a:ext uri="{FF2B5EF4-FFF2-40B4-BE49-F238E27FC236}">
                <a16:creationId xmlns:a16="http://schemas.microsoft.com/office/drawing/2014/main" id="{BD19678F-42BB-4C56-8E52-3B8EAB8D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5" name="action-help-0">
            <a:extLst xmlns:a="http://schemas.openxmlformats.org/drawingml/2006/main">
              <a:ext uri="{FF2B5EF4-FFF2-40B4-BE49-F238E27FC236}">
                <a16:creationId xmlns:a16="http://schemas.microsoft.com/office/drawing/2014/main" id="{9151B6B7-2A90-4ADE-A89E-21343876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扩展关键词、生成检索式</a:t>
            </a:r>
          </a:p>
        </p:txBody>
      </p:sp>
      <p:sp>
        <p:nvSpPr>
          <p:cNvPr id="6" name="action-label-1">
            <a:extLst xmlns:a="http://schemas.openxmlformats.org/drawingml/2006/main">
              <a:ext uri="{FF2B5EF4-FFF2-40B4-BE49-F238E27FC236}">
                <a16:creationId xmlns:a16="http://schemas.microsoft.com/office/drawing/2014/main" id="{51907B47-07B8-48D3-A315-A49AFF26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7" name="action-help-1">
            <a:extLst xmlns:a="http://schemas.openxmlformats.org/drawingml/2006/main">
              <a:ext uri="{FF2B5EF4-FFF2-40B4-BE49-F238E27FC236}">
                <a16:creationId xmlns:a16="http://schemas.microsoft.com/office/drawing/2014/main" id="{7A517C2F-25DA-47F8-A0D1-8BB24BF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解释术语、提取方法与结果</a:t>
            </a:r>
          </a:p>
        </p:txBody>
      </p:sp>
      <p:sp>
        <p:nvSpPr>
          <p:cNvPr id="8" name="action-label-2">
            <a:extLst xmlns:a="http://schemas.openxmlformats.org/drawingml/2006/main">
              <a:ext uri="{FF2B5EF4-FFF2-40B4-BE49-F238E27FC236}">
                <a16:creationId xmlns:a16="http://schemas.microsoft.com/office/drawing/2014/main" id="{EB1ECA38-6854-4FF1-8765-60159F08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问题形成</a:t>
            </a:r>
          </a:p>
        </p:txBody>
      </p:sp>
      <p:sp>
        <p:nvSpPr>
          <p:cNvPr id="9" name="action-help-2">
            <a:extLst xmlns:a="http://schemas.openxmlformats.org/drawingml/2006/main">
              <a:ext uri="{FF2B5EF4-FFF2-40B4-BE49-F238E27FC236}">
                <a16:creationId xmlns:a16="http://schemas.microsoft.com/office/drawing/2014/main" id="{637019BA-829F-4463-B1A0-0469849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提出候选问题与反例</a:t>
            </a:r>
          </a:p>
        </p:txBody>
      </p:sp>
      <p:sp>
        <p:nvSpPr>
          <p:cNvPr id="10" name="action-label-3">
            <a:extLst xmlns:a="http://schemas.openxmlformats.org/drawingml/2006/main">
              <a:ext uri="{FF2B5EF4-FFF2-40B4-BE49-F238E27FC236}">
                <a16:creationId xmlns:a16="http://schemas.microsoft.com/office/drawing/2014/main" id="{66E4A081-C19D-40D0-B7AA-AFA4011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代码与调试</a:t>
            </a:r>
          </a:p>
        </p:txBody>
      </p:sp>
      <p:sp>
        <p:nvSpPr>
          <p:cNvPr id="11" name="action-help-3">
            <a:extLst xmlns:a="http://schemas.openxmlformats.org/drawingml/2006/main">
              <a:ext uri="{FF2B5EF4-FFF2-40B4-BE49-F238E27FC236}">
                <a16:creationId xmlns:a16="http://schemas.microsoft.com/office/drawing/2014/main" id="{1BE56260-37D3-45DE-8556-81102E94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生成脚本、定位错误</a:t>
            </a:r>
          </a:p>
        </p:txBody>
      </p:sp>
      <p:sp>
        <p:nvSpPr>
          <p:cNvPr id="12" name="action-label-4">
            <a:extLst xmlns:a="http://schemas.openxmlformats.org/drawingml/2006/main">
              <a:ext uri="{FF2B5EF4-FFF2-40B4-BE49-F238E27FC236}">
                <a16:creationId xmlns:a16="http://schemas.microsoft.com/office/drawing/2014/main" id="{97841C9B-6FA0-4160-9574-71CA5F72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实验迭代</a:t>
            </a:r>
          </a:p>
        </p:txBody>
      </p:sp>
      <p:sp>
        <p:nvSpPr>
          <p:cNvPr id="13" name="action-help-4">
            <a:extLst xmlns:a="http://schemas.openxmlformats.org/drawingml/2006/main">
              <a:ext uri="{FF2B5EF4-FFF2-40B4-BE49-F238E27FC236}">
                <a16:creationId xmlns:a16="http://schemas.microsoft.com/office/drawing/2014/main" id="{305F4E6E-E5C5-4CBA-9206-156556F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生成配置、汇总运行结果</a:t>
            </a:r>
          </a:p>
        </p:txBody>
      </p:sp>
      <p:sp>
        <p:nvSpPr>
          <p:cNvPr id="14" name="action-label-5">
            <a:extLst xmlns:a="http://schemas.openxmlformats.org/drawingml/2006/main">
              <a:ext uri="{FF2B5EF4-FFF2-40B4-BE49-F238E27FC236}">
                <a16:creationId xmlns:a16="http://schemas.microsoft.com/office/drawing/2014/main" id="{18D3749D-727E-468B-8762-B965360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结果分析</a:t>
            </a:r>
          </a:p>
        </p:txBody>
      </p:sp>
      <p:sp>
        <p:nvSpPr>
          <p:cNvPr id="15" name="action-help-5">
            <a:extLst xmlns:a="http://schemas.openxmlformats.org/drawingml/2006/main">
              <a:ext uri="{FF2B5EF4-FFF2-40B4-BE49-F238E27FC236}">
                <a16:creationId xmlns:a16="http://schemas.microsoft.com/office/drawing/2014/main" id="{584B60AE-9124-4C62-A042-A38EF15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整理表格、发现异常</a:t>
            </a:r>
          </a:p>
        </p:txBody>
      </p:sp>
      <p:sp>
        <p:nvSpPr>
          <p:cNvPr id="16" name="action-label-6">
            <a:extLst xmlns:a="http://schemas.openxmlformats.org/drawingml/2006/main">
              <a:ext uri="{FF2B5EF4-FFF2-40B4-BE49-F238E27FC236}">
                <a16:creationId xmlns:a16="http://schemas.microsoft.com/office/drawing/2014/main" id="{A30C6D62-74AE-401C-A912-5667472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论文写作</a:t>
            </a:r>
          </a:p>
        </p:txBody>
      </p:sp>
      <p:sp>
        <p:nvSpPr>
          <p:cNvPr id="17" name="action-help-6">
            <a:extLst xmlns:a="http://schemas.openxmlformats.org/drawingml/2006/main">
              <a:ext uri="{FF2B5EF4-FFF2-40B4-BE49-F238E27FC236}">
                <a16:creationId xmlns:a16="http://schemas.microsoft.com/office/drawing/2014/main" id="{3A64FBC4-2557-41B0-B89C-F53D9C8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组织结构、检查一致性</a:t>
            </a:r>
          </a:p>
        </p:txBody>
      </p:sp>
      <p:sp>
        <p:nvSpPr>
          <p:cNvPr id="18" name="action-label-7">
            <a:extLst xmlns:a="http://schemas.openxmlformats.org/drawingml/2006/main">
              <a:ext uri="{FF2B5EF4-FFF2-40B4-BE49-F238E27FC236}">
                <a16:creationId xmlns:a16="http://schemas.microsoft.com/office/drawing/2014/main" id="{3D90078C-E105-4F9C-B876-F99B3D9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审稿模拟</a:t>
            </a:r>
          </a:p>
        </p:txBody>
      </p:sp>
      <p:sp>
        <p:nvSpPr>
          <p:cNvPr id="19" name="action-help-7">
            <a:extLst xmlns:a="http://schemas.openxmlformats.org/drawingml/2006/main">
              <a:ext uri="{FF2B5EF4-FFF2-40B4-BE49-F238E27FC236}">
                <a16:creationId xmlns:a16="http://schemas.microsoft.com/office/drawing/2014/main" id="{6EEF86E0-559D-41B2-A3A2-5900BA8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依据评价标准提出检查意见</a:t>
            </a:r>
          </a:p>
        </p:txBody>
      </p:sp>
      <p:sp>
        <p:nvSpPr>
          <p:cNvPr id="20" name="transition">
            <a:extLst xmlns:a="http://schemas.openxmlformats.org/drawingml/2006/main">
              <a:ext uri="{FF2B5EF4-FFF2-40B4-BE49-F238E27FC236}">
                <a16:creationId xmlns:a16="http://schemas.microsoft.com/office/drawing/2014/main" id="{DFECEB68-A7B1-456A-A257-3801F22F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今天先看一个论文阅读中的问题。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EC060A6-3A6B-441E-82F2-C187055F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IOI：模型在补谁的名字</a:t>
            </a:r>
          </a:p>
        </p:txBody>
      </p:sp>
      <p:sp>
        <p:nvSpPr>
          <p:cNvPr id="2" name="identity">
            <a:extLst xmlns:a="http://schemas.openxmlformats.org/drawingml/2006/main">
              <a:ext uri="{FF2B5EF4-FFF2-40B4-BE49-F238E27FC236}">
                <a16:creationId xmlns:a16="http://schemas.microsoft.com/office/drawing/2014/main" id="{52417391-FBB1-4137-9DAF-429FA16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课程自拟输入｜教师已有运行</a:t>
            </a:r>
          </a:p>
        </p:txBody>
      </p:sp>
      <p:sp>
        <p:nvSpPr>
          <p:cNvPr id="3" name="case1">
            <a:extLst xmlns:a="http://schemas.openxmlformats.org/drawingml/2006/main">
              <a:ext uri="{FF2B5EF4-FFF2-40B4-BE49-F238E27FC236}">
                <a16:creationId xmlns:a16="http://schemas.microsoft.com/office/drawing/2014/main" id="{2EC75122-F3F8-44FD-A8B5-7D6E2918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D78"/>
                </a:solidFill>
                <a:latin typeface="Arial"/>
                <a:ea typeface="Arial"/>
                <a:cs typeface="Arial"/>
              </a:rPr>
              <a:t>store-01  John and Mary … John gave a bag to …</a:t>
            </a:r>
          </a:p>
        </p:txBody>
      </p:sp>
      <p:sp>
        <p:nvSpPr>
          <p:cNvPr id="4" name="case2">
            <a:extLst xmlns:a="http://schemas.openxmlformats.org/drawingml/2006/main">
              <a:ext uri="{FF2B5EF4-FFF2-40B4-BE49-F238E27FC236}">
                <a16:creationId xmlns:a16="http://schemas.microsoft.com/office/drawing/2014/main" id="{2681A233-609B-445B-8623-5AD9930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4D78"/>
                </a:solidFill>
                <a:latin typeface="Arial"/>
                <a:ea typeface="Arial"/>
                <a:cs typeface="Arial"/>
              </a:rPr>
              <a:t>store-02  Mary and John … Mary gave a bag to …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289994CB-EBEE-49C5-BAFE-E1A39ED3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预期：Mary／John；实际两名字偏好差：+2.904404／+2.144226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E8965070-936C-4A71-884C-EFB9C35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两个输入同属 store 句式，证据范围在哪里？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81D65CEA-D95F-4387-B735-7CC74DA0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CE9192D-D2C4-4B7C-A377-C0864F8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34DDEEC-73C3-4400-9DEB-6BF56E0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比较两项问题收敛建议</a:t>
            </a:r>
          </a:p>
        </p:txBody>
      </p:sp>
      <p:sp>
        <p:nvSpPr>
          <p:cNvPr id="2" name="identity">
            <a:extLst xmlns:a="http://schemas.openxmlformats.org/drawingml/2006/main">
              <a:ext uri="{FF2B5EF4-FFF2-40B4-BE49-F238E27FC236}">
                <a16:creationId xmlns:a16="http://schemas.microsoft.com/office/drawing/2014/main" id="{426BD4CC-E313-40AB-ACD5-F003FDF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教学构造建议｜共同诊断只读保存记录</a:t>
            </a:r>
          </a:p>
        </p:txBody>
      </p:sp>
      <p:sp>
        <p:nvSpPr>
          <p:cNvPr id="3" name="option-a">
            <a:extLst xmlns:a="http://schemas.openxmlformats.org/drawingml/2006/main">
              <a:ext uri="{FF2B5EF4-FFF2-40B4-BE49-F238E27FC236}">
                <a16:creationId xmlns:a16="http://schemas.microsoft.com/office/drawing/2014/main" id="{74AC07C2-272B-42B2-A96C-9402B6E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A｜姓名、角色变化下，名字偏好是否一致？</a:t>
            </a:r>
          </a:p>
        </p:txBody>
      </p:sp>
      <p:sp>
        <p:nvSpPr>
          <p:cNvPr id="4" name="option-b">
            <a:extLst xmlns:a="http://schemas.openxmlformats.org/drawingml/2006/main">
              <a:ext uri="{FF2B5EF4-FFF2-40B4-BE49-F238E27FC236}">
                <a16:creationId xmlns:a16="http://schemas.microsoft.com/office/drawing/2014/main" id="{80647AC1-F26A-4A99-8E98-0D5B9CA1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B｜内部某个计算环节是否影响名字偏好？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CDC485B1-D25E-4D12-9FEE-6FAA2FE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引用一条输入与数值：选哪项或怎样修订？</a:t>
            </a:r>
          </a:p>
        </p:txBody>
      </p:sp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4FD2EA13-9DF4-4E9E-9016-62A2467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说明范围取舍、缺失证据及下一项检查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3427066B-5B5E-4A7E-BBF8-0F09555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CC9DF344-0729-4220-BA58-6BFC4D6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1A5FC8-1C33-4E88-81A6-760F4FE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完整论文出现了，研究质量如何？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50056-CD19-46FC-9B0B-42BEC17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paper-name">
            <a:extLst xmlns:a="http://schemas.openxmlformats.org/drawingml/2006/main">
              <a:ext uri="{FF2B5EF4-FFF2-40B4-BE49-F238E27FC236}">
                <a16:creationId xmlns:a16="http://schemas.microsoft.com/office/drawing/2014/main" id="{C6C4AB97-41D8-4301-9BBC-DEC1943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00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The AI Scientist</a:t>
            </a:r>
          </a:p>
        </p:txBody>
      </p:sp>
      <p:sp>
        <p:nvSpPr>
          <p:cNvPr id="5" name="paper-identity">
            <a:extLst xmlns:a="http://schemas.openxmlformats.org/drawingml/2006/main">
              <a:ext uri="{FF2B5EF4-FFF2-40B4-BE49-F238E27FC236}">
                <a16:creationId xmlns:a16="http://schemas.microsoft.com/office/drawing/2014/main" id="{307B63C6-6B6F-409E-A3EE-C99418CF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238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Lu et al. · Nature 651 (2026) · Figure 1a</a:t>
            </a:r>
          </a:p>
        </p:txBody>
      </p:sp>
      <p:sp>
        <p:nvSpPr>
          <p:cNvPr id="6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4C754E4C-F2B0-44B0-801F-A437FA44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ED23AA12-CE02-4F09-9EF2-65645DE77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c14ce73d45d8"/>
          <a:stretch xmlns:a="http://schemas.openxmlformats.org/drawingml/2006/main"/>
        </p:blipFill>
        <p:spPr>
          <a:xfrm xmlns:a="http://schemas.openxmlformats.org/drawingml/2006/main">
            <a:off x="1242154" y="2114550"/>
            <a:ext cx="4126043" cy="3495675"/>
          </a:xfrm>
          <a:prstGeom xmlns:a="http://schemas.openxmlformats.org/drawingml/2006/main" prst="rect">
            <a:avLst/>
          </a:prstGeom>
        </p:spPr>
      </p:pic>
      <p:sp>
        <p:nvSpPr>
          <p:cNvPr id="8" name="figure-reading">
            <a:extLst xmlns:a="http://schemas.openxmlformats.org/drawingml/2006/main">
              <a:ext uri="{FF2B5EF4-FFF2-40B4-BE49-F238E27FC236}">
                <a16:creationId xmlns:a16="http://schemas.microsoft.com/office/drawing/2014/main" id="{6B6C9C32-8A0F-4867-AF75-B07DDAC0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959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构思   /   实验   /   成文与评审</a:t>
            </a:r>
          </a:p>
        </p:txBody>
      </p:sp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A568C01F-E3FB-45AB-9102-13D3464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10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D8D0D39-0775-4CA2-8FCC-E4C0607C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431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超过 workshop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平均接收阈值</a:t>
            </a:r>
          </a:p>
        </p:txBody>
      </p:sp>
      <p:sp>
        <p:nvSpPr>
          <p:cNvPr id="11" name="metric-separator-0">
            <a:extLst xmlns:a="http://schemas.openxmlformats.org/drawingml/2006/main">
              <a:ext uri="{FF2B5EF4-FFF2-40B4-BE49-F238E27FC236}">
                <a16:creationId xmlns:a16="http://schemas.microsoft.com/office/drawing/2014/main" id="{42061E86-53BC-482F-BD09-D1931BA0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0ABDA48B-0035-4B85-83E5-475E67E3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6.33</a:t>
            </a:r>
          </a:p>
        </p:txBody>
      </p:sp>
      <p:sp>
        <p:nvSpPr>
          <p:cNvPr id="13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DEB5DA3-C3FF-4261-900E-49C527A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1467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其中一篇的评审均分</a:t>
            </a:r>
          </a:p>
        </p:txBody>
      </p:sp>
      <p:sp>
        <p:nvSpPr>
          <p:cNvPr id="14" name="metric-separator-1">
            <a:extLst xmlns:a="http://schemas.openxmlformats.org/drawingml/2006/main">
              <a:ext uri="{FF2B5EF4-FFF2-40B4-BE49-F238E27FC236}">
                <a16:creationId xmlns:a16="http://schemas.microsoft.com/office/drawing/2014/main" id="{37ACB116-32EF-4DD4-84F7-28C6EF3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5" name="metric-2">
            <a:extLst xmlns:a="http://schemas.openxmlformats.org/drawingml/2006/main">
              <a:ext uri="{FF2B5EF4-FFF2-40B4-BE49-F238E27FC236}">
                <a16:creationId xmlns:a16="http://schemas.microsoft.com/office/drawing/2014/main" id="{BF8C73D9-CFED-4298-88C9-15E50F7A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1762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8161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0/3</a:t>
            </a:r>
          </a:p>
        </p:txBody>
      </p:sp>
      <p:sp>
        <p:nvSpPr>
          <p:cNvPr id="16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E2EC6A94-E972-4583-AA07-22DF5A75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862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团队内部复核：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达到主会标准的投稿</a:t>
            </a:r>
          </a:p>
        </p:txBody>
      </p:sp>
      <p:sp>
        <p:nvSpPr>
          <p:cNvPr id="17" name="sampling-context">
            <a:extLst xmlns:a="http://schemas.openxmlformats.org/drawingml/2006/main">
              <a:ext uri="{FF2B5EF4-FFF2-40B4-BE49-F238E27FC236}">
                <a16:creationId xmlns:a16="http://schemas.microsoft.com/office/drawing/2014/main" id="{A407AF4D-157F-415C-BD16-1674287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339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研究团队人工筛选三篇投稿</a:t>
            </a:r>
          </a:p>
        </p:txBody>
      </p:sp>
      <p:sp>
        <p:nvSpPr>
          <p:cNvPr id="18" name="withdrawal-context">
            <a:extLst xmlns:a="http://schemas.openxmlformats.org/drawingml/2006/main">
              <a:ext uri="{FF2B5EF4-FFF2-40B4-BE49-F238E27FC236}">
                <a16:creationId xmlns:a16="http://schemas.microsoft.com/office/drawing/2014/main" id="{96F3F8ED-4883-4392-A494-E01026E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054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评审后按预设协议撤回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C1AF42A-0DE3-41C4-97E6-F5EE5C1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科研的治理与生态争论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A22DBA0-CB42-40E6-8B7F-E849395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body-28">
            <a:extLst xmlns:a="http://schemas.openxmlformats.org/drawingml/2006/main">
              <a:ext uri="{FF2B5EF4-FFF2-40B4-BE49-F238E27FC236}">
                <a16:creationId xmlns:a16="http://schemas.microsoft.com/office/drawing/2014/main" id="{A04A98B8-DC2D-464F-AD9D-72517FA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2390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治理</a:t>
            </a:r>
          </a:p>
        </p:txBody>
      </p:sp>
      <p:sp>
        <p:nvSpPr>
          <p:cNvPr id="5" name="body-29">
            <a:extLst xmlns:a="http://schemas.openxmlformats.org/drawingml/2006/main">
              <a:ext uri="{FF2B5EF4-FFF2-40B4-BE49-F238E27FC236}">
                <a16:creationId xmlns:a16="http://schemas.microsoft.com/office/drawing/2014/main" id="{D9A098D4-74C6-4A9A-B387-0377EFB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社论 · 2026.03.25</a:t>
            </a:r>
          </a:p>
        </p:txBody>
      </p:sp>
      <p:sp>
        <p:nvSpPr>
          <p:cNvPr id="6" name="body-30">
            <a:extLst xmlns:a="http://schemas.openxmlformats.org/drawingml/2006/main">
              <a:ext uri="{FF2B5EF4-FFF2-40B4-BE49-F238E27FC236}">
                <a16:creationId xmlns:a16="http://schemas.microsoft.com/office/drawing/2014/main" id="{BAB4E07B-CA52-4B2D-922C-74C6E00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28775"/>
            <a:ext cx="82581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机构、资助方与出版方需要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回应科研自动化带来的治理问题。</a:t>
            </a:r>
          </a:p>
        </p:txBody>
      </p:sp>
      <p:sp>
        <p:nvSpPr>
          <p:cNvPr id="7" name="rule-31">
            <a:extLst xmlns:a="http://schemas.openxmlformats.org/drawingml/2006/main">
              <a:ext uri="{FF2B5EF4-FFF2-40B4-BE49-F238E27FC236}">
                <a16:creationId xmlns:a16="http://schemas.microsoft.com/office/drawing/2014/main" id="{E0A727E5-9DA5-4841-96A7-2BABE0A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8" name="body-32">
            <a:extLst xmlns:a="http://schemas.openxmlformats.org/drawingml/2006/main">
              <a:ext uri="{FF2B5EF4-FFF2-40B4-BE49-F238E27FC236}">
                <a16:creationId xmlns:a16="http://schemas.microsoft.com/office/drawing/2014/main" id="{C7E5A001-3D49-4E44-8AD4-C0112F81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390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人的作用</a:t>
            </a:r>
          </a:p>
        </p:txBody>
      </p:sp>
      <p:sp>
        <p:nvSpPr>
          <p:cNvPr id="9" name="body-33">
            <a:extLst xmlns:a="http://schemas.openxmlformats.org/drawingml/2006/main">
              <a:ext uri="{FF2B5EF4-FFF2-40B4-BE49-F238E27FC236}">
                <a16:creationId xmlns:a16="http://schemas.microsoft.com/office/drawing/2014/main" id="{F2FBAD29-5B6E-4567-AA50-0826147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7475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社论 · 2026.05.19</a:t>
            </a:r>
          </a:p>
        </p:txBody>
      </p:sp>
      <p:sp>
        <p:nvSpPr>
          <p:cNvPr id="10" name="body-34">
            <a:extLst xmlns:a="http://schemas.openxmlformats.org/drawingml/2006/main">
              <a:ext uri="{FF2B5EF4-FFF2-40B4-BE49-F238E27FC236}">
                <a16:creationId xmlns:a16="http://schemas.microsoft.com/office/drawing/2014/main" id="{07059818-221B-46FA-985D-E303BD1A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2581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问题框定、实验、指导与检查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仍需要研究者参与。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65AE6A7C-49E2-4B2D-A857-8AAF8FDB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2" name="body-36">
            <a:extLst xmlns:a="http://schemas.openxmlformats.org/drawingml/2006/main">
              <a:ext uri="{FF2B5EF4-FFF2-40B4-BE49-F238E27FC236}">
                <a16:creationId xmlns:a16="http://schemas.microsoft.com/office/drawing/2014/main" id="{5BF1E4D4-6763-471A-B8AA-1630865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390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研究生态</a:t>
            </a:r>
          </a:p>
        </p:txBody>
      </p:sp>
      <p:sp>
        <p:nvSpPr>
          <p:cNvPr id="13" name="body-37">
            <a:extLst xmlns:a="http://schemas.openxmlformats.org/drawingml/2006/main">
              <a:ext uri="{FF2B5EF4-FFF2-40B4-BE49-F238E27FC236}">
                <a16:creationId xmlns:a16="http://schemas.microsoft.com/office/drawing/2014/main" id="{B98D492B-BE17-4A33-B0BE-D2289A4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824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观点 · 2026.06.22</a:t>
            </a:r>
          </a:p>
        </p:txBody>
      </p:sp>
      <p:sp>
        <p:nvSpPr>
          <p:cNvPr id="14" name="body-38">
            <a:extLst xmlns:a="http://schemas.openxmlformats.org/drawingml/2006/main">
              <a:ext uri="{FF2B5EF4-FFF2-40B4-BE49-F238E27FC236}">
                <a16:creationId xmlns:a16="http://schemas.microsoft.com/office/drawing/2014/main" id="{E4F2E99E-9626-4008-AF8F-6FE3AB9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62475"/>
            <a:ext cx="82581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激励原创探索，还是只奖励速度？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研究方向趋同值得警惕。</a:t>
            </a:r>
          </a:p>
        </p:txBody>
      </p:sp>
      <p:sp>
        <p:nvSpPr>
          <p:cNvPr id="15" name="body-39">
            <a:extLst xmlns:a="http://schemas.openxmlformats.org/drawingml/2006/main">
              <a:ext uri="{FF2B5EF4-FFF2-40B4-BE49-F238E27FC236}">
                <a16:creationId xmlns:a16="http://schemas.microsoft.com/office/drawing/2014/main" id="{37C083D3-D8D7-47C2-A7CC-5ACBA1F1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这些评论提出问题，实证研究提供检验。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1F6F610-F5A2-40A9-9B23-2428659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科研：个人影响与集体探索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473A40-D43D-44D4-BBBF-348948C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hao-source">
            <a:extLst xmlns:a="http://schemas.openxmlformats.org/drawingml/2006/main">
              <a:ext uri="{FF2B5EF4-FFF2-40B4-BE49-F238E27FC236}">
                <a16:creationId xmlns:a16="http://schemas.microsoft.com/office/drawing/2014/main" id="{5942D3EB-5345-4D91-B567-A1FEE37C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Hao et al. · Nature 649 (2026) · Figure 3b</a:t>
            </a:r>
          </a:p>
        </p:txBody>
      </p:sp>
      <p:sp>
        <p:nvSpPr>
          <p:cNvPr id="13" name="hao-person">
            <a:extLst xmlns:a="http://schemas.openxmlformats.org/drawingml/2006/main">
              <a:ext uri="{FF2B5EF4-FFF2-40B4-BE49-F238E27FC236}">
                <a16:creationId xmlns:a16="http://schemas.microsoft.com/office/drawing/2014/main" id="{B377379A-C40D-4915-B7B6-00CF90E7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90675"/>
            <a:ext cx="521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个人产出与影响</a:t>
            </a:r>
          </a:p>
        </p:txBody>
      </p:sp>
      <p:sp>
        <p:nvSpPr>
          <p:cNvPr id="14" name="hao-papers-number">
            <a:extLst xmlns:a="http://schemas.openxmlformats.org/drawingml/2006/main">
              <a:ext uri="{FF2B5EF4-FFF2-40B4-BE49-F238E27FC236}">
                <a16:creationId xmlns:a16="http://schemas.microsoft.com/office/drawing/2014/main" id="{D1BA9ABB-5061-4B73-9B01-2B46E57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3.02 倍</a:t>
            </a:r>
          </a:p>
        </p:txBody>
      </p:sp>
      <p:sp>
        <p:nvSpPr>
          <p:cNvPr id="15" name="hao-cites-number">
            <a:extLst xmlns:a="http://schemas.openxmlformats.org/drawingml/2006/main">
              <a:ext uri="{FF2B5EF4-FFF2-40B4-BE49-F238E27FC236}">
                <a16:creationId xmlns:a16="http://schemas.microsoft.com/office/drawing/2014/main" id="{A665733C-2261-457E-9F63-23008111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4312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4.84 倍</a:t>
            </a:r>
          </a:p>
        </p:txBody>
      </p:sp>
      <p:sp>
        <p:nvSpPr>
          <p:cNvPr id="16" name="hao-papers-label">
            <a:extLst xmlns:a="http://schemas.openxmlformats.org/drawingml/2006/main">
              <a:ext uri="{FF2B5EF4-FFF2-40B4-BE49-F238E27FC236}">
                <a16:creationId xmlns:a16="http://schemas.microsoft.com/office/drawing/2014/main" id="{8275D904-0384-43FF-BB36-8A657B40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2505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研究者年均论文数</a:t>
            </a:r>
          </a:p>
        </p:txBody>
      </p:sp>
      <p:sp>
        <p:nvSpPr>
          <p:cNvPr id="17" name="hao-cites-label">
            <a:extLst xmlns:a="http://schemas.openxmlformats.org/drawingml/2006/main">
              <a:ext uri="{FF2B5EF4-FFF2-40B4-BE49-F238E27FC236}">
                <a16:creationId xmlns:a16="http://schemas.microsoft.com/office/drawing/2014/main" id="{31F532CD-E43F-4D67-9092-9799B4D8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384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研究者被引量</a:t>
            </a:r>
          </a:p>
        </p:txBody>
      </p:sp>
      <p:sp>
        <p:nvSpPr>
          <p:cNvPr id="18" name="hao-comparator">
            <a:extLst xmlns:a="http://schemas.openxmlformats.org/drawingml/2006/main">
              <a:ext uri="{FF2B5EF4-FFF2-40B4-BE49-F238E27FC236}">
                <a16:creationId xmlns:a16="http://schemas.microsoft.com/office/drawing/2014/main" id="{1CB637DD-26FF-4794-8E82-2FB67EA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21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9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相对未采用 AI 的研究者</a:t>
            </a:r>
          </a:p>
        </p:txBody>
      </p:sp>
      <p:sp>
        <p:nvSpPr>
          <p:cNvPr id="19" name="hao-collective">
            <a:extLst xmlns:a="http://schemas.openxmlformats.org/drawingml/2006/main">
              <a:ext uri="{FF2B5EF4-FFF2-40B4-BE49-F238E27FC236}">
                <a16:creationId xmlns:a16="http://schemas.microsoft.com/office/drawing/2014/main" id="{B24D8650-1D2B-4661-B4D6-A5CD58E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集体探索范围</a:t>
            </a:r>
          </a:p>
        </p:txBody>
      </p:sp>
      <p:sp>
        <p:nvSpPr>
          <p:cNvPr id="20" name="hao-extent">
            <a:extLst xmlns:a="http://schemas.openxmlformats.org/drawingml/2006/main">
              <a:ext uri="{FF2B5EF4-FFF2-40B4-BE49-F238E27FC236}">
                <a16:creationId xmlns:a16="http://schemas.microsoft.com/office/drawing/2014/main" id="{89527F27-CA3E-4A60-94CC-BBBD3CBA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5219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论文在该知识空间中更集中</a:t>
            </a:r>
          </a:p>
        </p:txBody>
      </p:sp>
      <p:sp>
        <p:nvSpPr>
          <p:cNvPr id="21" name="hao-legend">
            <a:extLst xmlns:a="http://schemas.openxmlformats.org/drawingml/2006/main">
              <a:ext uri="{FF2B5EF4-FFF2-40B4-BE49-F238E27FC236}">
                <a16:creationId xmlns:a16="http://schemas.microsoft.com/office/drawing/2014/main" id="{F5CD524D-5FCD-4E5D-98EF-588F3C1C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863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红：AI 论文　蓝：非 AI 论文</a:t>
            </a:r>
          </a:p>
        </p:txBody>
      </p:sp>
      <p:sp>
        <p:nvSpPr>
          <p:cNvPr id="22" name="hao-result">
            <a:extLst xmlns:a="http://schemas.openxmlformats.org/drawingml/2006/main">
              <a:ext uri="{FF2B5EF4-FFF2-40B4-BE49-F238E27FC236}">
                <a16:creationId xmlns:a16="http://schemas.microsoft.com/office/drawing/2014/main" id="{B9F84EA1-8DC9-4579-B727-DC439F3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个人影响扩大，集体探索更集中</a:t>
            </a:r>
          </a:p>
        </p:txBody>
      </p:sp>
      <p:sp>
        <p:nvSpPr>
          <p:cNvPr id="23" name="hao-boundary">
            <a:extLst xmlns:a="http://schemas.openxmlformats.org/drawingml/2006/main">
              <a:ext uri="{FF2B5EF4-FFF2-40B4-BE49-F238E27FC236}">
                <a16:creationId xmlns:a16="http://schemas.microsoft.com/office/drawing/2014/main" id="{B074C645-AE12-4D5F-B0EF-86E514F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约 4,130 万篇论文，六个自然科学学科；观察性关联，非因果结论</a:t>
            </a:r>
          </a:p>
        </p:txBody>
      </p:sp>
      <p:pic>
        <p:nvPicPr>
          <p:cNvPr id="24" name="Picture 14">
            <a:extLst xmlns:a="http://schemas.openxmlformats.org/drawingml/2006/main">
              <a:ext uri="{FF2B5EF4-FFF2-40B4-BE49-F238E27FC236}">
                <a16:creationId xmlns:a16="http://schemas.microsoft.com/office/drawing/2014/main" id="{0C4F25D6-155F-4E69-924D-F9BE6DD894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08392f9a4355"/>
          <a:srcRect xmlns:a="http://schemas.openxmlformats.org/drawingml/2006/main" l="0" t="20000" r="47000" b="13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533525"/>
            <a:ext cx="4429125" cy="40741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A7EE5AE-AFFD-4C98-9507-FDF44256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辅助科研中的研究者判断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E0F29DE-7D1C-442F-BC07-C7F2C4F4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object-0">
            <a:extLst xmlns:a="http://schemas.openxmlformats.org/drawingml/2006/main">
              <a:ext uri="{FF2B5EF4-FFF2-40B4-BE49-F238E27FC236}">
                <a16:creationId xmlns:a16="http://schemas.microsoft.com/office/drawing/2014/main" id="{956C7D70-D86C-4489-8D9E-F389A65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5" name="judgment-0">
            <a:extLst xmlns:a="http://schemas.openxmlformats.org/drawingml/2006/main">
              <a:ext uri="{FF2B5EF4-FFF2-40B4-BE49-F238E27FC236}">
                <a16:creationId xmlns:a16="http://schemas.microsoft.com/office/drawing/2014/main" id="{3CECF662-BB12-4431-8BF7-8164C0A9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04925"/>
            <a:ext cx="8372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值得研究、新在哪里？范围与非例是什么？</a:t>
            </a:r>
          </a:p>
        </p:txBody>
      </p:sp>
      <p:sp>
        <p:nvSpPr>
          <p:cNvPr id="6" name="object-1">
            <a:extLst xmlns:a="http://schemas.openxmlformats.org/drawingml/2006/main">
              <a:ext uri="{FF2B5EF4-FFF2-40B4-BE49-F238E27FC236}">
                <a16:creationId xmlns:a16="http://schemas.microsoft.com/office/drawing/2014/main" id="{FB9DDAFC-234C-4A87-AF1A-92F101FB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7" name="judgment-1">
            <a:extLst xmlns:a="http://schemas.openxmlformats.org/drawingml/2006/main">
              <a:ext uri="{FF2B5EF4-FFF2-40B4-BE49-F238E27FC236}">
                <a16:creationId xmlns:a16="http://schemas.microsoft.com/office/drawing/2014/main" id="{356CC54E-200E-4464-973D-477CD28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57400"/>
            <a:ext cx="8372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材料支持哪条主张，原文能否核对？</a:t>
            </a:r>
          </a:p>
        </p:txBody>
      </p:sp>
      <p:sp>
        <p:nvSpPr>
          <p:cNvPr id="8" name="object-2">
            <a:extLst xmlns:a="http://schemas.openxmlformats.org/drawingml/2006/main">
              <a:ext uri="{FF2B5EF4-FFF2-40B4-BE49-F238E27FC236}">
                <a16:creationId xmlns:a16="http://schemas.microsoft.com/office/drawing/2014/main" id="{17D53388-6BEF-4A5F-8FB8-3174C787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假设与实验</a:t>
            </a:r>
          </a:p>
        </p:txBody>
      </p:sp>
      <p:sp>
        <p:nvSpPr>
          <p:cNvPr id="9" name="judgment-2">
            <a:extLst xmlns:a="http://schemas.openxmlformats.org/drawingml/2006/main">
              <a:ext uri="{FF2B5EF4-FFF2-40B4-BE49-F238E27FC236}">
                <a16:creationId xmlns:a16="http://schemas.microsoft.com/office/drawing/2014/main" id="{EA8BC3BB-F351-49AD-90CB-D0495CF3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09875"/>
            <a:ext cx="8372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假设符合约束、可以推翻吗？</a:t>
            </a:r>
          </a:p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基线、数据、指标和对照公平吗？</a:t>
            </a:r>
          </a:p>
        </p:txBody>
      </p:sp>
      <p:sp>
        <p:nvSpPr>
          <p:cNvPr id="10" name="object-3">
            <a:extLst xmlns:a="http://schemas.openxmlformats.org/drawingml/2006/main">
              <a:ext uri="{FF2B5EF4-FFF2-40B4-BE49-F238E27FC236}">
                <a16:creationId xmlns:a16="http://schemas.microsoft.com/office/drawing/2014/main" id="{56CA62A0-2744-452D-9895-FC3C7225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1" name="judgment-3">
            <a:extLst xmlns:a="http://schemas.openxmlformats.org/drawingml/2006/main">
              <a:ext uri="{FF2B5EF4-FFF2-40B4-BE49-F238E27FC236}">
                <a16:creationId xmlns:a16="http://schemas.microsoft.com/office/drawing/2014/main" id="{C5D57A40-A06D-4FE9-9737-CAB5955A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38575"/>
            <a:ext cx="8372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观察足以支持结论及其适用范围吗？</a:t>
            </a:r>
          </a:p>
        </p:txBody>
      </p:sp>
      <p:sp>
        <p:nvSpPr>
          <p:cNvPr id="12" name="object-4">
            <a:extLst xmlns:a="http://schemas.openxmlformats.org/drawingml/2006/main">
              <a:ext uri="{FF2B5EF4-FFF2-40B4-BE49-F238E27FC236}">
                <a16:creationId xmlns:a16="http://schemas.microsoft.com/office/drawing/2014/main" id="{B3249B05-6007-457A-9B61-1DB2AD7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执行责任</a:t>
            </a:r>
          </a:p>
        </p:txBody>
      </p:sp>
      <p:sp>
        <p:nvSpPr>
          <p:cNvPr id="13" name="judgment-4">
            <a:extLst xmlns:a="http://schemas.openxmlformats.org/drawingml/2006/main">
              <a:ext uri="{FF2B5EF4-FFF2-40B4-BE49-F238E27FC236}">
                <a16:creationId xmlns:a16="http://schemas.microsoft.com/office/drawing/2014/main" id="{DC3B746B-30D5-4CDF-90FE-49F8D11E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91050"/>
            <a:ext cx="8372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是否越权、泄露数据或改变评价标准？</a:t>
            </a:r>
          </a:p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失败是否保留，AI 参与是否如实披露？</a:t>
            </a:r>
          </a:p>
        </p:txBody>
      </p:sp>
      <p:sp>
        <p:nvSpPr>
          <p:cNvPr id="14" name="responsibility">
            <a:extLst xmlns:a="http://schemas.openxmlformats.org/drawingml/2006/main">
              <a:ext uri="{FF2B5EF4-FFF2-40B4-BE49-F238E27FC236}">
                <a16:creationId xmlns:a16="http://schemas.microsoft.com/office/drawing/2014/main" id="{ED44042A-AD94-4B43-AFD2-F4B8C66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可以提供建议；研究者作出取舍并解释理由。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1D2C54-7AF2-41C7-A250-7DF98D0A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期末个人项目的四类工件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64233C-1915-429D-9F88-A677DB6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ody-88">
            <a:extLst xmlns:a="http://schemas.openxmlformats.org/drawingml/2006/main">
              <a:ext uri="{FF2B5EF4-FFF2-40B4-BE49-F238E27FC236}">
                <a16:creationId xmlns:a16="http://schemas.microsoft.com/office/drawing/2014/main" id="{87F651F0-B066-4925-803F-145BCA6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围绕同一个研究问题，保存四类证据</a:t>
            </a:r>
          </a:p>
        </p:txBody>
      </p:sp>
      <p:sp>
        <p:nvSpPr>
          <p:cNvPr id="5" name="body-89">
            <a:extLst xmlns:a="http://schemas.openxmlformats.org/drawingml/2006/main">
              <a:ext uri="{FF2B5EF4-FFF2-40B4-BE49-F238E27FC236}">
                <a16:creationId xmlns:a16="http://schemas.microsoft.com/office/drawing/2014/main" id="{2CE04823-C6A0-4427-8599-E766C2C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问题与证据</a:t>
            </a:r>
          </a:p>
        </p:txBody>
      </p:sp>
      <p:sp>
        <p:nvSpPr>
          <p:cNvPr id="6" name="body-90">
            <a:extLst xmlns:a="http://schemas.openxmlformats.org/drawingml/2006/main">
              <a:ext uri="{FF2B5EF4-FFF2-40B4-BE49-F238E27FC236}">
                <a16:creationId xmlns:a16="http://schemas.microsoft.com/office/drawing/2014/main" id="{B9D38CE9-DBD7-407E-A62E-65083453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790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为什么值得做，依据在哪里？</a:t>
            </a:r>
          </a:p>
        </p:txBody>
      </p:sp>
      <p:sp>
        <p:nvSpPr>
          <p:cNvPr id="7" name="rule-91">
            <a:extLst xmlns:a="http://schemas.openxmlformats.org/drawingml/2006/main">
              <a:ext uri="{FF2B5EF4-FFF2-40B4-BE49-F238E27FC236}">
                <a16:creationId xmlns:a16="http://schemas.microsoft.com/office/drawing/2014/main" id="{9B966EB7-8328-458E-A823-BF6CCFE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8" name="body-92">
            <a:extLst xmlns:a="http://schemas.openxmlformats.org/drawingml/2006/main">
              <a:ext uri="{FF2B5EF4-FFF2-40B4-BE49-F238E27FC236}">
                <a16:creationId xmlns:a16="http://schemas.microsoft.com/office/drawing/2014/main" id="{E63A79EF-35F7-401E-AC74-AD26CBF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判断与实验</a:t>
            </a:r>
          </a:p>
        </p:txBody>
      </p:sp>
      <p:sp>
        <p:nvSpPr>
          <p:cNvPr id="9" name="body-93">
            <a:extLst xmlns:a="http://schemas.openxmlformats.org/drawingml/2006/main">
              <a:ext uri="{FF2B5EF4-FFF2-40B4-BE49-F238E27FC236}">
                <a16:creationId xmlns:a16="http://schemas.microsoft.com/office/drawing/2014/main" id="{D45DF88B-7DA6-4D76-89DC-B1E68B64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790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什么结果会改变当前判断？</a:t>
            </a:r>
          </a:p>
        </p:txBody>
      </p:sp>
      <p:sp>
        <p:nvSpPr>
          <p:cNvPr id="10" name="rule-94">
            <a:extLst xmlns:a="http://schemas.openxmlformats.org/drawingml/2006/main">
              <a:ext uri="{FF2B5EF4-FFF2-40B4-BE49-F238E27FC236}">
                <a16:creationId xmlns:a16="http://schemas.microsoft.com/office/drawing/2014/main" id="{ECE999E9-706E-4D8C-9846-33AD8ACB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1" name="body-95">
            <a:extLst xmlns:a="http://schemas.openxmlformats.org/drawingml/2006/main">
              <a:ext uri="{FF2B5EF4-FFF2-40B4-BE49-F238E27FC236}">
                <a16:creationId xmlns:a16="http://schemas.microsoft.com/office/drawing/2014/main" id="{CC69C31F-ED4B-4C9B-B833-98F668E4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工作流与评价</a:t>
            </a:r>
          </a:p>
        </p:txBody>
      </p:sp>
      <p:sp>
        <p:nvSpPr>
          <p:cNvPr id="12" name="body-96">
            <a:extLst xmlns:a="http://schemas.openxmlformats.org/drawingml/2006/main">
              <a:ext uri="{FF2B5EF4-FFF2-40B4-BE49-F238E27FC236}">
                <a16:creationId xmlns:a16="http://schemas.microsoft.com/office/drawing/2014/main" id="{45FCA947-F36C-4B8D-8B5E-34DCF05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790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Agent 如何执行，怎样评价？</a:t>
            </a:r>
          </a:p>
        </p:txBody>
      </p:sp>
      <p:sp>
        <p:nvSpPr>
          <p:cNvPr id="13" name="rule-97">
            <a:extLst xmlns:a="http://schemas.openxmlformats.org/drawingml/2006/main">
              <a:ext uri="{FF2B5EF4-FFF2-40B4-BE49-F238E27FC236}">
                <a16:creationId xmlns:a16="http://schemas.microsoft.com/office/drawing/2014/main" id="{91225996-D14F-4C4B-9E0F-ABA9797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4" name="body-98">
            <a:extLst xmlns:a="http://schemas.openxmlformats.org/drawingml/2006/main">
              <a:ext uri="{FF2B5EF4-FFF2-40B4-BE49-F238E27FC236}">
                <a16:creationId xmlns:a16="http://schemas.microsoft.com/office/drawing/2014/main" id="{20AD5765-F67F-4615-8FFF-E76F536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论证与披露</a:t>
            </a:r>
          </a:p>
        </p:txBody>
      </p:sp>
      <p:sp>
        <p:nvSpPr>
          <p:cNvPr id="15" name="body-99">
            <a:extLst xmlns:a="http://schemas.openxmlformats.org/drawingml/2006/main">
              <a:ext uri="{FF2B5EF4-FFF2-40B4-BE49-F238E27FC236}">
                <a16:creationId xmlns:a16="http://schemas.microsoft.com/office/drawing/2014/main" id="{5271EA30-2EF8-402E-8AF8-6FE13C1A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52950"/>
            <a:ext cx="790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结论如何追溯，哪些责任由人承担？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72C34D8-2B75-4ABE-9720-979E41A6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个人项目与反馈关系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BFF284EF-8CBF-4219-B439-4AD792B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本人维护一个研究项目，独立说明决定</a:t>
            </a:r>
          </a:p>
        </p:txBody>
      </p:sp>
      <p:sp>
        <p:nvSpPr>
          <p:cNvPr id="3" name="row-label-1">
            <a:extLst xmlns:a="http://schemas.openxmlformats.org/drawingml/2006/main">
              <a:ext uri="{FF2B5EF4-FFF2-40B4-BE49-F238E27FC236}">
                <a16:creationId xmlns:a16="http://schemas.microsoft.com/office/drawing/2014/main" id="{07C2C37E-B881-4B32-92E3-7399DD7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教师与助教</a:t>
            </a:r>
          </a:p>
        </p:txBody>
      </p:sp>
      <p:sp>
        <p:nvSpPr>
          <p:cNvPr id="4" name="row-value-1">
            <a:extLst xmlns:a="http://schemas.openxmlformats.org/drawingml/2006/main">
              <a:ext uri="{FF2B5EF4-FFF2-40B4-BE49-F238E27FC236}">
                <a16:creationId xmlns:a16="http://schemas.microsoft.com/office/drawing/2014/main" id="{771B3417-7D91-4C81-96E7-8D81E84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提供研究方法和个别反馈</a:t>
            </a:r>
          </a:p>
        </p:txBody>
      </p:sp>
      <p:sp>
        <p:nvSpPr>
          <p:cNvPr id="5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BA4BF8C-0E1A-401B-AFD6-5BE5F02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同学之间</a:t>
            </a:r>
          </a:p>
        </p:txBody>
      </p:sp>
      <p:sp>
        <p:nvSpPr>
          <p:cNvPr id="6" name="row-value-2">
            <a:extLst xmlns:a="http://schemas.openxmlformats.org/drawingml/2006/main">
              <a:ext uri="{FF2B5EF4-FFF2-40B4-BE49-F238E27FC236}">
                <a16:creationId xmlns:a16="http://schemas.microsoft.com/office/drawing/2014/main" id="{62685898-CBC1-46F5-AA81-F159775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自愿讨论、交换意见</a:t>
            </a:r>
          </a:p>
        </p:txBody>
      </p:sp>
      <p:sp>
        <p:nvSpPr>
          <p:cNvPr id="7" name="row-3">
            <a:extLst xmlns:a="http://schemas.openxmlformats.org/drawingml/2006/main">
              <a:ext uri="{FF2B5EF4-FFF2-40B4-BE49-F238E27FC236}">
                <a16:creationId xmlns:a16="http://schemas.microsoft.com/office/drawing/2014/main" id="{FB566DC1-E82F-484E-8975-3FA09402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评分依据个人实际工件与研究判断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6F0DB5B4-D0B2-45E6-AD62-7F7CE94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6B52F96-BA5A-488E-9048-9EA98DF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评分看什么，怎样算达标？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F7364B-14C5-420D-A546-09B09B0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score-subject">
            <a:extLst xmlns:a="http://schemas.openxmlformats.org/drawingml/2006/main">
              <a:ext uri="{FF2B5EF4-FFF2-40B4-BE49-F238E27FC236}">
                <a16:creationId xmlns:a16="http://schemas.microsoft.com/office/drawing/2014/main" id="{A1CC014C-D05D-4DF1-9BD9-764BB9FA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个人项目与 Agent Workflow 的评分构成</a:t>
            </a:r>
          </a:p>
        </p:txBody>
      </p:sp>
      <p:sp>
        <p:nvSpPr>
          <p:cNvPr id="5" name="score-rule">
            <a:extLst xmlns:a="http://schemas.openxmlformats.org/drawingml/2006/main">
              <a:ext uri="{FF2B5EF4-FFF2-40B4-BE49-F238E27FC236}">
                <a16:creationId xmlns:a16="http://schemas.microsoft.com/office/drawing/2014/main" id="{1F77E756-3177-494E-9C86-6B8CB3E2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F4D78"/>
            </a:solidFill>
          </a:ln>
        </p:spPr>
      </p:sp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AE37D823-35B6-4EA8-98A1-D682106BD03D}"/>
              </a:ext>
            </a:extLst>
          </p:cNvPr>
          <p:cNvGraphicFramePr/>
          <p:nvPr/>
        </p:nvGraphicFramePr>
        <p:xfrm>
          <a:off xmlns:a="http://schemas.openxmlformats.org/drawingml/2006/main" x="552450" y="2505075"/>
          <a:ext xmlns:a="http://schemas.openxmlformats.org/drawingml/2006/main" cx="775335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dc6480da044c6e"/>
          </a:graphicData>
        </a:graphic>
      </p:graphicFrame>
      <p:sp>
        <p:nvSpPr>
          <p:cNvPr id="7" name="score-evidence-title">
            <a:extLst xmlns:a="http://schemas.openxmlformats.org/drawingml/2006/main">
              <a:ext uri="{FF2B5EF4-FFF2-40B4-BE49-F238E27FC236}">
                <a16:creationId xmlns:a16="http://schemas.microsoft.com/office/drawing/2014/main" id="{FCDC82FC-0FC6-403E-8921-67C1884B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002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评分证据</a:t>
            </a:r>
          </a:p>
        </p:txBody>
      </p:sp>
      <p:sp>
        <p:nvSpPr>
          <p:cNvPr id="8" name="score-dimension-title">
            <a:extLst xmlns:a="http://schemas.openxmlformats.org/drawingml/2006/main">
              <a:ext uri="{FF2B5EF4-FFF2-40B4-BE49-F238E27FC236}">
                <a16:creationId xmlns:a16="http://schemas.microsoft.com/office/drawing/2014/main" id="{A5A5D826-2924-465A-B0BF-ED455362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评分维度与权重</a:t>
            </a:r>
          </a:p>
        </p:txBody>
      </p:sp>
      <p:sp>
        <p:nvSpPr>
          <p:cNvPr id="9" name="evidence-0">
            <a:extLst xmlns:a="http://schemas.openxmlformats.org/drawingml/2006/main">
              <a:ext uri="{FF2B5EF4-FFF2-40B4-BE49-F238E27FC236}">
                <a16:creationId xmlns:a16="http://schemas.microsoft.com/office/drawing/2014/main" id="{27C4F8C6-E1A7-4707-AF86-720159C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860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问题与来源</a:t>
            </a:r>
          </a:p>
        </p:txBody>
      </p:sp>
      <p:sp>
        <p:nvSpPr>
          <p:cNvPr id="10" name="evidence-1">
            <a:extLst xmlns:a="http://schemas.openxmlformats.org/drawingml/2006/main">
              <a:ext uri="{FF2B5EF4-FFF2-40B4-BE49-F238E27FC236}">
                <a16:creationId xmlns:a16="http://schemas.microsoft.com/office/drawing/2014/main" id="{CD7C39A3-59BB-4CB4-A45F-E75C3508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242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协议与结果</a:t>
            </a:r>
          </a:p>
        </p:txBody>
      </p:sp>
      <p:sp>
        <p:nvSpPr>
          <p:cNvPr id="11" name="evidence-2">
            <a:extLst xmlns:a="http://schemas.openxmlformats.org/drawingml/2006/main">
              <a:ext uri="{FF2B5EF4-FFF2-40B4-BE49-F238E27FC236}">
                <a16:creationId xmlns:a16="http://schemas.microsoft.com/office/drawing/2014/main" id="{5747D3B4-A867-425C-8420-66C3A073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624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工作流评价</a:t>
            </a:r>
          </a:p>
        </p:txBody>
      </p:sp>
      <p:sp>
        <p:nvSpPr>
          <p:cNvPr id="12" name="evidence-3">
            <a:extLst xmlns:a="http://schemas.openxmlformats.org/drawingml/2006/main">
              <a:ext uri="{FF2B5EF4-FFF2-40B4-BE49-F238E27FC236}">
                <a16:creationId xmlns:a16="http://schemas.microsoft.com/office/drawing/2014/main" id="{BE19722E-345E-4787-80CE-F74C038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60057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论证与披露</a:t>
            </a:r>
          </a:p>
        </p:txBody>
      </p:sp>
      <p:sp>
        <p:nvSpPr>
          <p:cNvPr id="13" name="score-anchor">
            <a:extLst xmlns:a="http://schemas.openxmlformats.org/drawingml/2006/main">
              <a:ext uri="{FF2B5EF4-FFF2-40B4-BE49-F238E27FC236}">
                <a16:creationId xmlns:a16="http://schemas.microsoft.com/office/drawing/2014/main" id="{35CCE1DF-112E-4844-AC47-1F18141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四级表现锚点</a:t>
            </a:r>
          </a:p>
        </p:txBody>
      </p:sp>
      <p:sp>
        <p:nvSpPr>
          <p:cNvPr id="14" name="score-levels">
            <a:extLst xmlns:a="http://schemas.openxmlformats.org/drawingml/2006/main">
              <a:ext uri="{FF2B5EF4-FFF2-40B4-BE49-F238E27FC236}">
                <a16:creationId xmlns:a16="http://schemas.microsoft.com/office/drawing/2014/main" id="{F53A3140-2C37-4127-A2F8-27BF5FD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00700"/>
            <a:ext cx="824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卓越   /   达标   /   待改   /   不达标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8F8F92-B339-4783-A1F4-965A2DD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研究任务、执行环境与模型后端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E634FB-EF66-4FFA-91A8-839BF6F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body-108">
            <a:extLst xmlns:a="http://schemas.openxmlformats.org/drawingml/2006/main">
              <a:ext uri="{FF2B5EF4-FFF2-40B4-BE49-F238E27FC236}">
                <a16:creationId xmlns:a16="http://schemas.microsoft.com/office/drawing/2014/main" id="{11F4C777-17BE-4D54-A7D1-347FC7F6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590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研究任务与边界</a:t>
            </a:r>
          </a:p>
        </p:txBody>
      </p:sp>
      <p:sp>
        <p:nvSpPr>
          <p:cNvPr id="5" name="body-109">
            <a:extLst xmlns:a="http://schemas.openxmlformats.org/drawingml/2006/main">
              <a:ext uri="{FF2B5EF4-FFF2-40B4-BE49-F238E27FC236}">
                <a16:creationId xmlns:a16="http://schemas.microsoft.com/office/drawing/2014/main" id="{E74EEA9C-86D3-4B0E-A5A4-71B063D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81125"/>
            <a:ext cx="728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问题、输入材料、可执行动作、停止条件</a:t>
            </a:r>
          </a:p>
        </p:txBody>
      </p:sp>
      <p:sp>
        <p:nvSpPr>
          <p:cNvPr id="6" name="rule-110">
            <a:extLst xmlns:a="http://schemas.openxmlformats.org/drawingml/2006/main">
              <a:ext uri="{FF2B5EF4-FFF2-40B4-BE49-F238E27FC236}">
                <a16:creationId xmlns:a16="http://schemas.microsoft.com/office/drawing/2014/main" id="{DB755943-6911-48F0-A3FD-395E8B1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7" name="body-111">
            <a:extLst xmlns:a="http://schemas.openxmlformats.org/drawingml/2006/main">
              <a:ext uri="{FF2B5EF4-FFF2-40B4-BE49-F238E27FC236}">
                <a16:creationId xmlns:a16="http://schemas.microsoft.com/office/drawing/2014/main" id="{827738B0-9318-4CCA-9927-6527804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590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执行环境</a:t>
            </a:r>
          </a:p>
        </p:txBody>
      </p:sp>
      <p:sp>
        <p:nvSpPr>
          <p:cNvPr id="8" name="body-112">
            <a:extLst xmlns:a="http://schemas.openxmlformats.org/drawingml/2006/main">
              <a:ext uri="{FF2B5EF4-FFF2-40B4-BE49-F238E27FC236}">
                <a16:creationId xmlns:a16="http://schemas.microsoft.com/office/drawing/2014/main" id="{8D40337A-A0ED-4510-AAEE-61FA220A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62250"/>
            <a:ext cx="728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主平台：Pi 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备选：OpenCode 等</a:t>
            </a:r>
          </a:p>
        </p:txBody>
      </p:sp>
      <p:sp>
        <p:nvSpPr>
          <p:cNvPr id="9" name="rule-113">
            <a:extLst xmlns:a="http://schemas.openxmlformats.org/drawingml/2006/main">
              <a:ext uri="{FF2B5EF4-FFF2-40B4-BE49-F238E27FC236}">
                <a16:creationId xmlns:a16="http://schemas.microsoft.com/office/drawing/2014/main" id="{77A3C26C-8596-4015-8E0C-FEE2822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0" name="body-114">
            <a:extLst xmlns:a="http://schemas.openxmlformats.org/drawingml/2006/main">
              <a:ext uri="{FF2B5EF4-FFF2-40B4-BE49-F238E27FC236}">
                <a16:creationId xmlns:a16="http://schemas.microsoft.com/office/drawing/2014/main" id="{4A44E485-6095-4073-B163-3B76C5A6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590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模型后端</a:t>
            </a:r>
          </a:p>
        </p:txBody>
      </p:sp>
      <p:sp>
        <p:nvSpPr>
          <p:cNvPr id="11" name="body-115">
            <a:extLst xmlns:a="http://schemas.openxmlformats.org/drawingml/2006/main">
              <a:ext uri="{FF2B5EF4-FFF2-40B4-BE49-F238E27FC236}">
                <a16:creationId xmlns:a16="http://schemas.microsoft.com/office/drawing/2014/main" id="{5448DB4F-80B9-472C-B0E4-5273134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43375"/>
            <a:ext cx="728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DeepSeek / Qwen / 其他合规模型</a:t>
            </a:r>
          </a:p>
        </p:txBody>
      </p:sp>
      <p:sp>
        <p:nvSpPr>
          <p:cNvPr id="12" name="rule-116">
            <a:extLst xmlns:a="http://schemas.openxmlformats.org/drawingml/2006/main">
              <a:ext uri="{FF2B5EF4-FFF2-40B4-BE49-F238E27FC236}">
                <a16:creationId xmlns:a16="http://schemas.microsoft.com/office/drawing/2014/main" id="{CB9D4056-C5D4-4421-9ACD-EAF00B81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3DC"/>
            </a:solidFill>
          </a:ln>
        </p:spPr>
      </p:sp>
      <p:sp>
        <p:nvSpPr>
          <p:cNvPr id="13" name="body-117">
            <a:extLst xmlns:a="http://schemas.openxmlformats.org/drawingml/2006/main">
              <a:ext uri="{FF2B5EF4-FFF2-40B4-BE49-F238E27FC236}">
                <a16:creationId xmlns:a16="http://schemas.microsoft.com/office/drawing/2014/main" id="{FFF3572F-85D6-4AC5-80A0-28C2147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今天从公开或课堂构造材料开始。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08BCDBAD-5224-402C-8E32-77257CD6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观察、解释与研究动作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5E978620-6911-4102-B6A0-59D23A58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已有观察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A85B9248-D5CF-4782-ABAF-8C8014ED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两条 clean 名字偏好为正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E4B619C-E4CF-4191-A782-BC772833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候选解释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0699100B-8CD5-4C22-A35B-3EB38EA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依据角色，还是输入顺序？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DF46892D-D684-4006-BE22-09BA2AF2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研究动作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76AB40A9-2D04-40A3-8CA2-18C50E5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取得能区分解释的下一项证据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096E03E2-2173-4950-A194-5157D2E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记录决定及范围，再安排实际验证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6765132A-2198-4909-9DBF-D388274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3C77C0CD-D995-4C6E-8A02-8950F20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E10BC57-0CA8-43E3-8DF2-AFCD56A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八阶段定位图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6681488D-8436-464B-A38B-5E39BAB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问题定义 → 第一性原理分析 → 机制假设 → 外部输入摄取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749DA7C8-A5F6-4A2B-BE82-0F3D9812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证据整理 → 研究判断 → 原型验证 → 回写与表达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2AED38C7-79B0-40D6-8749-F667876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当前实际动作：问题收敛及记录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D365B241-1A3C-4647-9999-7A2A565C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新证据出现时，回到需要修改的阶段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BFD422D-DA96-4614-A4EC-45BA4BE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30B7AA7-4DBB-4C33-936E-0D7A82F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1–2：问题与检验前提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8B2394A-7371-4920-A652-46FA70E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A6CC9989-7825-4DC5-BF44-EAB087EC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给定输入中的名字偏好，还是内部原因？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31A48B2-664F-4222-8383-BFFABB3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前提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B4DB17D7-7372-4089-ABA8-EF6BDF0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人物角色、候选名字、比较条件须明确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5BF20739-F7FF-4EBD-8D05-A83B6132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工件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F3E02154-A58D-4C4F-8D3E-E3181CA5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问题范围＋必要条件清单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D2DA818C-CB94-404E-9C60-5BF66231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拟做的实验先保持计划身份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2266E6A-D39C-4079-A549-0093CE1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40A405E-E574-4BB1-9437-699FCF07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8AA0F91-1734-43F5-BF63-B352B686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3–4：假设与外部输入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FC490F5-1798-4375-9871-2A261D13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假设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9CD2948B-4B88-4B8F-B473-30A5BE64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依据句中角色，或依据名字位置？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BA63658-9FC6-49B9-AFDF-31CD269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外部输入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47B720A3-76CC-4811-A7C6-B1470A3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IOI 原文的任务、方法和验证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3719A5B-C679-461C-B3C9-CD8DD1FE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来源记录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D07742FE-9F89-42AA-B44D-A620A33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版本、位置、拟用主张与限定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D2177D8D-1E79-4CBD-9BDB-23096004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观察到名字偏好，内部解释仍待检验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C6C03CF5-539B-4693-B289-ED359C02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42891727-6834-45CA-8F55-B11BC8C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7FD8B2A-70C7-49BC-AF07-B039948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5–6：证据与行动判断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9CAFD18-07DB-45AD-8F9D-ADBACE0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3A6F0094-173D-4803-85E6-57699A37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两个 clean 观察来自同一句式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8D395C1-4024-4586-9D05-5D0AA9D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缺口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EC646073-DE91-4682-81DB-D3DB5521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新输入与内部原因尚未获得支持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B834FFF4-D291-459B-AAC3-964F5480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60077238-2374-49C2-80FE-FA0FBDB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下一步补行为检查，或先设计干预？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749F219-8C01-4CAF-AF8D-DF15477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B6100732-0DF3-4838-8520-5B559FB7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依据、代价、停止与改变判断的条件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5302577A-F572-41AE-84F8-0F615131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05879DA-CEA8-4C1C-A431-17BEC5B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7DAD5979-F207-4E5D-9965-7DAB706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7–8：执行与回写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ECC9CDA1-90C8-4FA1-B5CC-C606D81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原型验证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0BE5A54F-A262-47EC-9FFB-C3CACB5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按确定规格实际运行、保留失败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383364F-C7FA-4353-ABC5-B26B582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回写表达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0C6545C6-7F9A-40F3-BF62-9498517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用实际结果更新问题与解释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6BE1A00D-E047-48F7-9560-67E201F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本课已有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9FF4C23C-6B14-48FF-A36F-EA1EA9A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问题收敛与未决项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C2697CD5-EE12-4AB4-95C6-29DBAE7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后续才有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65F193E6-0659-4198-B5F4-1E2DAFF5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新增行为或机制验证结果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F60FD972-4AC9-4FA0-9A8F-5194FEE2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4E38FB5-F1FD-4534-8794-6D178ED5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"/>
            <a:ext cx="1062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四个研究门与回退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16F66B-8100-4939-B45B-91512A99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6473952"/>
            <a:ext cx="566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node-191">
            <a:extLst xmlns:a="http://schemas.openxmlformats.org/drawingml/2006/main">
              <a:ext uri="{FF2B5EF4-FFF2-40B4-BE49-F238E27FC236}">
                <a16:creationId xmlns:a16="http://schemas.microsoft.com/office/drawing/2014/main" id="{3FA1C6C2-2987-4854-BAF6-EB17F96B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问题门</a:t>
            </a:r>
          </a:p>
        </p:txBody>
      </p:sp>
      <p:sp>
        <p:nvSpPr>
          <p:cNvPr id="5" name="node-192">
            <a:extLst xmlns:a="http://schemas.openxmlformats.org/drawingml/2006/main">
              <a:ext uri="{FF2B5EF4-FFF2-40B4-BE49-F238E27FC236}">
                <a16:creationId xmlns:a16="http://schemas.microsoft.com/office/drawing/2014/main" id="{547A1BB1-780F-4752-A927-D0F34A6B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</a:t>
            </a:r>
          </a:p>
        </p:txBody>
      </p:sp>
      <p:sp>
        <p:nvSpPr>
          <p:cNvPr id="6" name="node-193">
            <a:extLst xmlns:a="http://schemas.openxmlformats.org/drawingml/2006/main">
              <a:ext uri="{FF2B5EF4-FFF2-40B4-BE49-F238E27FC236}">
                <a16:creationId xmlns:a16="http://schemas.microsoft.com/office/drawing/2014/main" id="{CCAD185E-429E-40BC-9252-2CA5D2BF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验证门</a:t>
            </a:r>
          </a:p>
        </p:txBody>
      </p:sp>
      <p:sp>
        <p:nvSpPr>
          <p:cNvPr id="7" name="node-194">
            <a:extLst xmlns:a="http://schemas.openxmlformats.org/drawingml/2006/main">
              <a:ext uri="{FF2B5EF4-FFF2-40B4-BE49-F238E27FC236}">
                <a16:creationId xmlns:a16="http://schemas.microsoft.com/office/drawing/2014/main" id="{2A75330F-E9E0-4E4B-95E8-65445A5B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0275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1F4D78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论证门</a:t>
            </a:r>
          </a:p>
        </p:txBody>
      </p:sp>
      <p:cxnSp>
        <p:nvCxnSpPr>
          <p:cNvPr id="49" name="edge-195">
            <a:extLst xmlns:a="http://schemas.openxmlformats.org/drawingml/2006/main">
              <a:ext uri="{FF2B5EF4-FFF2-40B4-BE49-F238E27FC236}">
                <a16:creationId xmlns:a16="http://schemas.microsoft.com/office/drawing/2014/main" id="{1E592FD2-6D7D-468C-BAF1-0C25B9D0225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33700" y="25622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0" name="edge-196">
            <a:extLst xmlns:a="http://schemas.openxmlformats.org/drawingml/2006/main">
              <a:ext uri="{FF2B5EF4-FFF2-40B4-BE49-F238E27FC236}">
                <a16:creationId xmlns:a16="http://schemas.microsoft.com/office/drawing/2014/main" id="{509500A7-5B3C-40FC-9E39-211CE4A7AA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25622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1" name="edge-197">
            <a:extLst xmlns:a="http://schemas.openxmlformats.org/drawingml/2006/main">
              <a:ext uri="{FF2B5EF4-FFF2-40B4-BE49-F238E27FC236}">
                <a16:creationId xmlns:a16="http://schemas.microsoft.com/office/drawing/2014/main" id="{6430B1C2-43DC-4D45-A391-9F433C95B18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25622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1" name="body-198">
            <a:extLst xmlns:a="http://schemas.openxmlformats.org/drawingml/2006/main">
              <a:ext uri="{FF2B5EF4-FFF2-40B4-BE49-F238E27FC236}">
                <a16:creationId xmlns:a16="http://schemas.microsoft.com/office/drawing/2014/main" id="{1333D61F-249C-422F-BAE8-5E420E57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6 课</a:t>
            </a:r>
          </a:p>
        </p:txBody>
      </p:sp>
      <p:sp>
        <p:nvSpPr>
          <p:cNvPr id="12" name="body-199">
            <a:extLst xmlns:a="http://schemas.openxmlformats.org/drawingml/2006/main">
              <a:ext uri="{FF2B5EF4-FFF2-40B4-BE49-F238E27FC236}">
                <a16:creationId xmlns:a16="http://schemas.microsoft.com/office/drawing/2014/main" id="{31348FBE-358A-404B-A836-EF39CE9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335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</a:t>
            </a:r>
          </a:p>
        </p:txBody>
      </p:sp>
      <p:sp>
        <p:nvSpPr>
          <p:cNvPr id="13" name="body-200">
            <a:extLst xmlns:a="http://schemas.openxmlformats.org/drawingml/2006/main">
              <a:ext uri="{FF2B5EF4-FFF2-40B4-BE49-F238E27FC236}">
                <a16:creationId xmlns:a16="http://schemas.microsoft.com/office/drawing/2014/main" id="{23E45CCF-D733-4D2B-844B-BD7DA7E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13 课</a:t>
            </a:r>
          </a:p>
        </p:txBody>
      </p:sp>
      <p:sp>
        <p:nvSpPr>
          <p:cNvPr id="14" name="body-201">
            <a:extLst xmlns:a="http://schemas.openxmlformats.org/drawingml/2006/main">
              <a:ext uri="{FF2B5EF4-FFF2-40B4-BE49-F238E27FC236}">
                <a16:creationId xmlns:a16="http://schemas.microsoft.com/office/drawing/2014/main" id="{2B0147D3-DEC2-408B-A45C-CE7CAA7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335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16 课</a:t>
            </a:r>
          </a:p>
        </p:txBody>
      </p:sp>
      <p:sp>
        <p:nvSpPr>
          <p:cNvPr id="15" name="body-202">
            <a:extLst xmlns:a="http://schemas.openxmlformats.org/drawingml/2006/main">
              <a:ext uri="{FF2B5EF4-FFF2-40B4-BE49-F238E27FC236}">
                <a16:creationId xmlns:a16="http://schemas.microsoft.com/office/drawing/2014/main" id="{F4FE98D9-5F3B-48DB-8722-2E914CF5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3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值得做，且可完成</a:t>
            </a:r>
          </a:p>
        </p:txBody>
      </p:sp>
      <p:sp>
        <p:nvSpPr>
          <p:cNvPr id="16" name="body-203">
            <a:extLst xmlns:a="http://schemas.openxmlformats.org/drawingml/2006/main">
              <a:ext uri="{FF2B5EF4-FFF2-40B4-BE49-F238E27FC236}">
                <a16:creationId xmlns:a16="http://schemas.microsoft.com/office/drawing/2014/main" id="{471C3079-FE46-4113-A625-3F7E4B4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43275"/>
            <a:ext cx="23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方案能改变判断</a:t>
            </a:r>
          </a:p>
        </p:txBody>
      </p:sp>
      <p:sp>
        <p:nvSpPr>
          <p:cNvPr id="17" name="body-204">
            <a:extLst xmlns:a="http://schemas.openxmlformats.org/drawingml/2006/main">
              <a:ext uri="{FF2B5EF4-FFF2-40B4-BE49-F238E27FC236}">
                <a16:creationId xmlns:a16="http://schemas.microsoft.com/office/drawing/2014/main" id="{1F70AAFC-4EF7-414C-91CC-0AD125FE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43275"/>
            <a:ext cx="23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结果与工作流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经过评价</a:t>
            </a:r>
          </a:p>
        </p:txBody>
      </p:sp>
      <p:sp>
        <p:nvSpPr>
          <p:cNvPr id="18" name="body-205">
            <a:extLst xmlns:a="http://schemas.openxmlformats.org/drawingml/2006/main">
              <a:ext uri="{FF2B5EF4-FFF2-40B4-BE49-F238E27FC236}">
                <a16:creationId xmlns:a16="http://schemas.microsoft.com/office/drawing/2014/main" id="{4AACA089-6C2A-41D9-9996-845CFDFE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43275"/>
            <a:ext cx="23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结论能够追溯</a:t>
            </a:r>
          </a:p>
        </p:txBody>
      </p:sp>
      <p:sp>
        <p:nvSpPr>
          <p:cNvPr id="19" name="node-206">
            <a:extLst xmlns:a="http://schemas.openxmlformats.org/drawingml/2006/main">
              <a:ext uri="{FF2B5EF4-FFF2-40B4-BE49-F238E27FC236}">
                <a16:creationId xmlns:a16="http://schemas.microsoft.com/office/drawing/2014/main" id="{B82D19C5-FB77-4436-8470-343092A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86325"/>
            <a:ext cx="2400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未通过</a:t>
            </a:r>
          </a:p>
        </p:txBody>
      </p:sp>
      <p:sp>
        <p:nvSpPr>
          <p:cNvPr id="20" name="node-207">
            <a:extLst xmlns:a="http://schemas.openxmlformats.org/drawingml/2006/main">
              <a:ext uri="{FF2B5EF4-FFF2-40B4-BE49-F238E27FC236}">
                <a16:creationId xmlns:a16="http://schemas.microsoft.com/office/drawing/2014/main" id="{AB43E68C-02D2-439C-833E-6D9ACAD3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3867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161E"/>
            </a:solidFill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回到相关阶段补证据</a:t>
            </a:r>
          </a:p>
        </p:txBody>
      </p:sp>
      <p:cxnSp>
        <p:nvCxnSpPr>
          <p:cNvPr id="62" name="edge-208">
            <a:extLst xmlns:a="http://schemas.openxmlformats.org/drawingml/2006/main">
              <a:ext uri="{FF2B5EF4-FFF2-40B4-BE49-F238E27FC236}">
                <a16:creationId xmlns:a16="http://schemas.microsoft.com/office/drawing/2014/main" id="{B4BBF143-7969-4FC1-B03D-2A352D447411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686300" y="5186363"/>
            <a:ext cx="421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22" name="body-209">
            <a:extLst xmlns:a="http://schemas.openxmlformats.org/drawingml/2006/main">
              <a:ext uri="{FF2B5EF4-FFF2-40B4-BE49-F238E27FC236}">
                <a16:creationId xmlns:a16="http://schemas.microsoft.com/office/drawing/2014/main" id="{558C4E5C-D224-4DF8-A5CF-083C388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410075"/>
            <a:ext cx="3676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同一个人项目逐次推进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11F9A50C-76AC-4D6E-BB9F-FFF0932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同一问题，下一步补什么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E9EB23F8-F459-4128-9595-1B73F7D0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教学构造｜共同判断后的校准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869A045B-20BB-4CA3-A0B7-11E808B9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两条正差值回答了什么？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4F6F8965-4F4A-41BA-8FDF-56C10AF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新句式与内部计算，需要不同证据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4C8C767D-4C51-46A7-9DAF-5158EDE0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下一项检查须对应一个会改变决定的缺口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1732145-90E2-4733-832F-A7BF5439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arXiv:2211.00593v1；教师开发观察，2026-10-20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761356B-71A9-4037-958F-71C32D5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197A9C5-03DD-48F5-9753-ADE8530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一次建议怎样变成修改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B3BF966B-A5DA-4624-8BF9-6F1BB2F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当前问题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2F19EA5B-4D21-4A9C-BFA7-2F4225F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我想理解模型为什么补出某个人名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72813A0A-F2B9-4340-96DF-AAA6579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95F13B96-FFAD-4EC1-8548-7BA39D8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提出两项范围收敛建议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2C93684-D327-4D13-A1AA-48EAD9F2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465DDF87-82C2-4B39-8B07-36AA54C8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说明采用、修订或保留的理由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5E3AA603-0C3B-4043-81B8-AE3A8027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应用批准文本，再核对实际变化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D5C5ED1A-422B-4813-821F-B18940B0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287285B-88E0-48B3-9373-EEAFED3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第一轮：只读获得建议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6477C314-A1C1-4E91-B730-C355103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READ｜提供的 AGENTS.md 与当前问题</a:t>
            </a:r>
          </a:p>
        </p:txBody>
      </p:sp>
      <p:sp>
        <p:nvSpPr>
          <p:cNvPr id="3" name="code-1">
            <a:extLst xmlns:a="http://schemas.openxmlformats.org/drawingml/2006/main">
              <a:ext uri="{FF2B5EF4-FFF2-40B4-BE49-F238E27FC236}">
                <a16:creationId xmlns:a16="http://schemas.microsoft.com/office/drawing/2014/main" id="{FA84D2DF-9AB2-42B8-A6CD-FE52663C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OUTPUT｜两项建议：范围、依据、损失、待查</a:t>
            </a:r>
          </a:p>
        </p:txBody>
      </p:sp>
      <p:sp>
        <p:nvSpPr>
          <p:cNvPr id="4" name="code-2">
            <a:extLst xmlns:a="http://schemas.openxmlformats.org/drawingml/2006/main">
              <a:ext uri="{FF2B5EF4-FFF2-40B4-BE49-F238E27FC236}">
                <a16:creationId xmlns:a16="http://schemas.microsoft.com/office/drawing/2014/main" id="{5EC702B9-3E6D-445E-B565-BC8503A0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WRITE｜无</a:t>
            </a:r>
          </a:p>
        </p:txBody>
      </p:sp>
      <p:sp>
        <p:nvSpPr>
          <p:cNvPr id="5" name="code-3">
            <a:extLst xmlns:a="http://schemas.openxmlformats.org/drawingml/2006/main">
              <a:ext uri="{FF2B5EF4-FFF2-40B4-BE49-F238E27FC236}">
                <a16:creationId xmlns:a16="http://schemas.microsoft.com/office/drawing/2014/main" id="{EE3132FE-05A8-4732-BA6F-0629859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NETWORK｜不作额外检索；模型传输另按授权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CBB0AA-BEA4-431A-BACD-2819C5EC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698CC2F-E615-4E8D-9199-9BC037D7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研究者如何处理建议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97E215D1-5AD2-4973-BA70-AC0EB971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6075BA39-B357-459A-8CE6-50E03BD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依据与范围相符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C4291988-A1C2-41CE-AC05-ADDBDA8A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修订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6398A26B-9612-468C-94F4-5E41309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保留有用分支，改正条件或成本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01FC6429-A5D5-4699-9E79-06D69DF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拒绝或保留原问题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DD7DAD9C-2857-450D-B7EE-E2E3BC46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写清理由与下一项证据</a:t>
            </a:r>
          </a:p>
        </p:txBody>
      </p:sp>
      <p:sp>
        <p:nvSpPr>
          <p:cNvPr id="8" name="row-3">
            <a:extLst xmlns:a="http://schemas.openxmlformats.org/drawingml/2006/main">
              <a:ext uri="{FF2B5EF4-FFF2-40B4-BE49-F238E27FC236}">
                <a16:creationId xmlns:a16="http://schemas.microsoft.com/office/drawing/2014/main" id="{514A9D4A-2C24-4876-8E01-114CE19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本次决定由实际材料支持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E2AF567B-DFEE-4498-89F2-6353DFC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CC0881A5-3155-4E50-A233-450F7D84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第二轮：应用批准的文本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68E17B08-661F-42F5-9B79-0F843E6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只改 problem-definition.md 的当前问题段</a:t>
            </a:r>
          </a:p>
        </p:txBody>
      </p:sp>
      <p:sp>
        <p:nvSpPr>
          <p:cNvPr id="3" name="code-1">
            <a:extLst xmlns:a="http://schemas.openxmlformats.org/drawingml/2006/main">
              <a:ext uri="{FF2B5EF4-FFF2-40B4-BE49-F238E27FC236}">
                <a16:creationId xmlns:a16="http://schemas.microsoft.com/office/drawing/2014/main" id="{3A4F8A03-3E8B-44E0-B096-DA5976D7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限制未验证时：人应用文本，注明操作者</a:t>
            </a:r>
          </a:p>
        </p:txBody>
      </p:sp>
      <p:sp>
        <p:nvSpPr>
          <p:cNvPr id="4" name="code-2">
            <a:extLst xmlns:a="http://schemas.openxmlformats.org/drawingml/2006/main">
              <a:ext uri="{FF2B5EF4-FFF2-40B4-BE49-F238E27FC236}">
                <a16:creationId xmlns:a16="http://schemas.microsoft.com/office/drawing/2014/main" id="{D2A80A62-426A-479B-8197-64B25BD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修改记录与使用日志由人核验后补充</a:t>
            </a:r>
          </a:p>
        </p:txBody>
      </p:sp>
      <p:sp>
        <p:nvSpPr>
          <p:cNvPr id="5" name="code-3">
            <a:extLst xmlns:a="http://schemas.openxmlformats.org/drawingml/2006/main">
              <a:ext uri="{FF2B5EF4-FFF2-40B4-BE49-F238E27FC236}">
                <a16:creationId xmlns:a16="http://schemas.microsoft.com/office/drawing/2014/main" id="{A7CC2970-87BF-48CE-AD8D-4F34A3F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保留原问题时，记录零内容变化及理由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0EA933C-0CA2-4FF6-AB16-EA69B63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9B8F9FC-FE31-40BA-B8A4-04DDFD5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核对实际变化与记录</a:t>
            </a:r>
          </a:p>
        </p:txBody>
      </p:sp>
      <p:sp>
        <p:nvSpPr>
          <p:cNvPr id="2" name="code-0">
            <a:extLst xmlns:a="http://schemas.openxmlformats.org/drawingml/2006/main">
              <a:ext uri="{FF2B5EF4-FFF2-40B4-BE49-F238E27FC236}">
                <a16:creationId xmlns:a16="http://schemas.microsoft.com/office/drawing/2014/main" id="{0DDC5BFE-109F-45A6-BF93-2DF550A9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教学构造｜预期 diff，非实际执行</a:t>
            </a:r>
          </a:p>
        </p:txBody>
      </p:sp>
      <p:sp>
        <p:nvSpPr>
          <p:cNvPr id="3" name="code-1">
            <a:extLst xmlns:a="http://schemas.openxmlformats.org/drawingml/2006/main">
              <a:ext uri="{FF2B5EF4-FFF2-40B4-BE49-F238E27FC236}">
                <a16:creationId xmlns:a16="http://schemas.microsoft.com/office/drawing/2014/main" id="{4A71F6EE-9966-4AE9-BD4E-A90A4A8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− 我想理解模型为什么补出某个人名。</a:t>
            </a:r>
          </a:p>
        </p:txBody>
      </p:sp>
      <p:sp>
        <p:nvSpPr>
          <p:cNvPr id="4" name="code-2">
            <a:extLst xmlns:a="http://schemas.openxmlformats.org/drawingml/2006/main">
              <a:ext uri="{FF2B5EF4-FFF2-40B4-BE49-F238E27FC236}">
                <a16:creationId xmlns:a16="http://schemas.microsoft.com/office/drawing/2014/main" id="{21B04816-6261-4E1C-869F-03F86C7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+ 固定模型与输入下，指定干预怎样影响名字偏好？</a:t>
            </a:r>
          </a:p>
        </p:txBody>
      </p:sp>
      <p:sp>
        <p:nvSpPr>
          <p:cNvPr id="5" name="code-3">
            <a:extLst xmlns:a="http://schemas.openxmlformats.org/drawingml/2006/main">
              <a:ext uri="{FF2B5EF4-FFF2-40B4-BE49-F238E27FC236}">
                <a16:creationId xmlns:a16="http://schemas.microsoft.com/office/drawing/2014/main" id="{0EAB8917-BCB9-4702-B17B-77E448E1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现场核对实际 diff、记录与操作者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80F0741-C0A7-49A7-8647-766A31F0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B24C0926-26BC-4BD9-A657-5D980D32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出现意外修改时怎样处理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1B156706-F964-46AB-AD7F-C975EEA8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停止本次写入，保留输入与差异</a:t>
            </a:r>
          </a:p>
        </p:txBody>
      </p:sp>
      <p:sp>
        <p:nvSpPr>
          <p:cNvPr id="3" name="row-1">
            <a:extLst xmlns:a="http://schemas.openxmlformats.org/drawingml/2006/main">
              <a:ext uri="{FF2B5EF4-FFF2-40B4-BE49-F238E27FC236}">
                <a16:creationId xmlns:a16="http://schemas.microsoft.com/office/drawing/2014/main" id="{2A723EAC-C782-4C91-B5B6-B565D6A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核对越界位置，只恢复本次意外变化</a:t>
            </a:r>
          </a:p>
        </p:txBody>
      </p:sp>
      <p:sp>
        <p:nvSpPr>
          <p:cNvPr id="4" name="row-2">
            <a:extLst xmlns:a="http://schemas.openxmlformats.org/drawingml/2006/main">
              <a:ext uri="{FF2B5EF4-FFF2-40B4-BE49-F238E27FC236}">
                <a16:creationId xmlns:a16="http://schemas.microsoft.com/office/drawing/2014/main" id="{96BF5A16-20A7-42AF-81C7-A71C2CA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收窄任务或工具范围，再检查结果</a:t>
            </a:r>
          </a:p>
        </p:txBody>
      </p:sp>
      <p:sp>
        <p:nvSpPr>
          <p:cNvPr id="5" name="row-3">
            <a:extLst xmlns:a="http://schemas.openxmlformats.org/drawingml/2006/main">
              <a:ext uri="{FF2B5EF4-FFF2-40B4-BE49-F238E27FC236}">
                <a16:creationId xmlns:a16="http://schemas.microsoft.com/office/drawing/2014/main" id="{1D37756D-93F4-4AFE-B870-541DC4AC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日志记录真实操作者与失败处理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F9B72A0-7F65-4585-BDE9-DC67D43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F18B7C7-026A-42CE-8414-3CCB98C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从本人方向确定一个小问题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6EEF1E52-08BA-42CF-A3A7-5F658E0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ML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C55B89C9-7563-47AE-A7A3-E9625B94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缩小任务、数据或比较条件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D9EE79B-6339-4CDB-8F53-9CD371C6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系统／软件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28005DE0-0C6A-4DB6-BF3E-9B1B3EC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限定负载、接口或故障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6A20879-9BF7-454B-A5B8-4B0EC9E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文献／理论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1F09BC56-0612-4BD2-87F1-6F24C14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限定命题、前提或材料范围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169424F0-E2C9-4D79-BB39-122F029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暂无选题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824D1AA4-51C5-4468-A555-06C76EB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阅读卡遗漏问题，独立选择一处范围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61EB645-3C33-48D6-AAC5-D0276AA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61017BF-41CF-4855-BAC4-FA8304FF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本人实践：建议、决定与核验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B7AF5D3-A11E-4F56-AFC6-9B707D4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用本人问题获取两项收敛建议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F1089AEB-EFD2-4322-B75D-FE0DA29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比较依据、范围、资源与一个可能反例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35CA3C25-CCCC-4402-B69B-3091B0F2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只应用批准的当前问题段，或记录保留理由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C3E23323-7458-4B75-BF7D-5C4A9CF6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保存实际输入输出、决定、diff与未决项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987DDFB-B3D9-42A1-8BA7-4B73FB0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0478E96-BAD8-4E08-BF16-318F2B13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记录一次真实 AI 参与</a:t>
            </a:r>
          </a:p>
        </p:txBody>
      </p:sp>
      <p:sp>
        <p:nvSpPr>
          <p:cNvPr id="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6674181E-3E0A-44F8-A093-DFD28AFB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已有用法</a:t>
            </a:r>
          </a:p>
        </p:txBody>
      </p:sp>
      <p:sp>
        <p:nvSpPr>
          <p:cNvPr id="3" name="row-value-0">
            <a:extLst xmlns:a="http://schemas.openxmlformats.org/drawingml/2006/main">
              <a:ext uri="{FF2B5EF4-FFF2-40B4-BE49-F238E27FC236}">
                <a16:creationId xmlns:a16="http://schemas.microsoft.com/office/drawing/2014/main" id="{13BCF6C6-DA87-4D92-902B-85FCA5F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9062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真实基线，不故意减弱</a:t>
            </a:r>
          </a:p>
        </p:txBody>
      </p:sp>
      <p:sp>
        <p:nvSpPr>
          <p:cNvPr id="4" name="row-label-1">
            <a:extLst xmlns:a="http://schemas.openxmlformats.org/drawingml/2006/main">
              <a:ext uri="{FF2B5EF4-FFF2-40B4-BE49-F238E27FC236}">
                <a16:creationId xmlns:a16="http://schemas.microsoft.com/office/drawing/2014/main" id="{688CB286-A27A-4B21-8162-0998D754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本次交互</a:t>
            </a:r>
          </a:p>
        </p:txBody>
      </p:sp>
      <p:sp>
        <p:nvSpPr>
          <p:cNvPr id="5" name="row-value-1">
            <a:extLst xmlns:a="http://schemas.openxmlformats.org/drawingml/2006/main">
              <a:ext uri="{FF2B5EF4-FFF2-40B4-BE49-F238E27FC236}">
                <a16:creationId xmlns:a16="http://schemas.microsoft.com/office/drawing/2014/main" id="{8B6AAECA-BD6B-4B02-8204-5E59045A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模型、输入、输出与来源</a:t>
            </a:r>
          </a:p>
        </p:txBody>
      </p:sp>
      <p:sp>
        <p:nvSpPr>
          <p:cNvPr id="6" name="row-label-2">
            <a:extLst xmlns:a="http://schemas.openxmlformats.org/drawingml/2006/main">
              <a:ext uri="{FF2B5EF4-FFF2-40B4-BE49-F238E27FC236}">
                <a16:creationId xmlns:a16="http://schemas.microsoft.com/office/drawing/2014/main" id="{57927B40-35AC-499A-ABBE-52C16397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本人决定</a:t>
            </a:r>
          </a:p>
        </p:txBody>
      </p:sp>
      <p:sp>
        <p:nvSpPr>
          <p:cNvPr id="7" name="row-value-2">
            <a:extLst xmlns:a="http://schemas.openxmlformats.org/drawingml/2006/main">
              <a:ext uri="{FF2B5EF4-FFF2-40B4-BE49-F238E27FC236}">
                <a16:creationId xmlns:a16="http://schemas.microsoft.com/office/drawing/2014/main" id="{A0BD00D4-9EC5-4207-B3E4-4D1BFDB0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采用、修订、拒绝或保留</a:t>
            </a:r>
          </a:p>
        </p:txBody>
      </p:sp>
      <p:sp>
        <p:nvSpPr>
          <p:cNvPr id="8" name="row-label-3">
            <a:extLst xmlns:a="http://schemas.openxmlformats.org/drawingml/2006/main">
              <a:ext uri="{FF2B5EF4-FFF2-40B4-BE49-F238E27FC236}">
                <a16:creationId xmlns:a16="http://schemas.microsoft.com/office/drawing/2014/main" id="{9B6B576C-0362-4E05-A48C-3FFCACEE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9" name="row-value-3">
            <a:extLst xmlns:a="http://schemas.openxmlformats.org/drawingml/2006/main">
              <a:ext uri="{FF2B5EF4-FFF2-40B4-BE49-F238E27FC236}">
                <a16:creationId xmlns:a16="http://schemas.microsoft.com/office/drawing/2014/main" id="{E405F69C-E9EE-4BF7-BD42-7AE4282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实际变化、操作者与未决项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26B62B5-1863-4DBC-AFF8-8049316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E3B8B2E-97C6-41F4-B788-D9D2C2D3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个人反查一项决定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E7919F60-2A88-4CD4-A116-3EA9BB5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从当前问题反查实际建议与材料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6405E09A-2C4E-4509-8933-25C182D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核对范围有没有被悄悄改变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BEB55A2F-CBE2-4F13-B97E-23E1AFC0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依据不足：补查、修订或说明暂缓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EEFCFCD8-34EF-417C-8980-8CACEF0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讨论可自愿，最终理由由本人解释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B349B42-4911-44F1-9B9F-A41A25B2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A850697F-EEA7-4D97-9C7D-907FC11D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59E212D8-07D6-4455-83F5-AC615FD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研究问题由具体对象、范围与比较构成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83708750-1FDB-4621-9249-1D8D37E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AI建议需要对应证据、资源和未决条件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E6659598-3643-4502-BB92-F3398E9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八阶段帮助定位动作与回退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8FE0E965-BBD5-424D-B9D5-2D543ABC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实际交互留下决定、变化与核验记录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66FDCC1-CB64-487A-9E28-5B193A2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8C9008B-56C2-4A9E-AE49-180F609E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离场前核对本人的完成证据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3FDFCA9-E346-46C2-96E7-5C695203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问题版本与真实已有 AI 用法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F0315475-FA7D-41FB-A1B3-7F59496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一次实际建议＋本人理由与证据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BD4F4790-80CA-4CCF-AD85-61618C9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 diff 或保留原问题的理由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FAD1AC7F-A836-4EF0-870D-D9FF247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使用记录＋一项当前未决问题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CF9F6A4-BBC3-4D33-A5F4-8BABD62C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DF80F000-27BD-4B0E-A948-A3E19B1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带着本次动作进入 L2</a:t>
            </a:r>
          </a:p>
        </p:txBody>
      </p:sp>
      <p:sp>
        <p:nvSpPr>
          <p:cNvPr id="2" name="focus-0">
            <a:extLst xmlns:a="http://schemas.openxmlformats.org/drawingml/2006/main">
              <a:ext uri="{FF2B5EF4-FFF2-40B4-BE49-F238E27FC236}">
                <a16:creationId xmlns:a16="http://schemas.microsoft.com/office/drawing/2014/main" id="{23254223-0ED3-4A72-9FC7-8A1A7472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问题当前版本、AI输入输出与本人决定</a:t>
            </a:r>
          </a:p>
        </p:txBody>
      </p:sp>
      <p:sp>
        <p:nvSpPr>
          <p:cNvPr id="3" name="focus-1">
            <a:extLst xmlns:a="http://schemas.openxmlformats.org/drawingml/2006/main">
              <a:ext uri="{FF2B5EF4-FFF2-40B4-BE49-F238E27FC236}">
                <a16:creationId xmlns:a16="http://schemas.microsoft.com/office/drawing/2014/main" id="{E9FBA261-6E5D-43C5-A3F3-8744385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实际读取、写入、操作者与diff／保留理由</a:t>
            </a:r>
          </a:p>
        </p:txBody>
      </p:sp>
      <p:sp>
        <p:nvSpPr>
          <p:cNvPr id="4" name="focus-2">
            <a:extLst xmlns:a="http://schemas.openxmlformats.org/drawingml/2006/main">
              <a:ext uri="{FF2B5EF4-FFF2-40B4-BE49-F238E27FC236}">
                <a16:creationId xmlns:a16="http://schemas.microsoft.com/office/drawing/2014/main" id="{320970DA-94DB-464C-85FA-65AD728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下一项拟开展动作</a:t>
            </a:r>
          </a:p>
        </p:txBody>
      </p:sp>
      <p:sp>
        <p:nvSpPr>
          <p:cNvPr id="5" name="focus-3">
            <a:extLst xmlns:a="http://schemas.openxmlformats.org/drawingml/2006/main">
              <a:ext uri="{FF2B5EF4-FFF2-40B4-BE49-F238E27FC236}">
                <a16:creationId xmlns:a16="http://schemas.microsoft.com/office/drawing/2014/main" id="{77550B51-3663-483C-81B5-885EA12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L2：选择必要上下文，设定并检查边界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DFE6DBD-CECC-40BE-9FB5-0F6BAD8F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00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423916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2026-10-21T03:12:16.3720000Z</dcterms:created>
  <dcterms:modified xsi:type="dcterms:W3CDTF">2026-10-21T03:12:16.3720000Z</dcterms:modified>
</coreProperties>
</file>